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89"/>
  </p:notesMasterIdLst>
  <p:handoutMasterIdLst>
    <p:handoutMasterId r:id="rId190"/>
  </p:handoutMasterIdLst>
  <p:sldIdLst>
    <p:sldId id="256" r:id="rId2"/>
    <p:sldId id="257" r:id="rId3"/>
    <p:sldId id="271" r:id="rId4"/>
    <p:sldId id="259" r:id="rId5"/>
    <p:sldId id="260" r:id="rId6"/>
    <p:sldId id="262" r:id="rId7"/>
    <p:sldId id="272" r:id="rId8"/>
    <p:sldId id="273" r:id="rId9"/>
    <p:sldId id="274" r:id="rId10"/>
    <p:sldId id="368" r:id="rId11"/>
    <p:sldId id="369" r:id="rId12"/>
    <p:sldId id="370" r:id="rId13"/>
    <p:sldId id="371" r:id="rId14"/>
    <p:sldId id="263" r:id="rId15"/>
    <p:sldId id="279" r:id="rId16"/>
    <p:sldId id="372" r:id="rId17"/>
    <p:sldId id="373" r:id="rId18"/>
    <p:sldId id="374" r:id="rId19"/>
    <p:sldId id="375" r:id="rId20"/>
    <p:sldId id="280" r:id="rId21"/>
    <p:sldId id="281" r:id="rId22"/>
    <p:sldId id="282" r:id="rId23"/>
    <p:sldId id="283" r:id="rId24"/>
    <p:sldId id="284" r:id="rId25"/>
    <p:sldId id="264" r:id="rId26"/>
    <p:sldId id="376" r:id="rId27"/>
    <p:sldId id="377" r:id="rId28"/>
    <p:sldId id="378" r:id="rId29"/>
    <p:sldId id="379" r:id="rId30"/>
    <p:sldId id="380" r:id="rId31"/>
    <p:sldId id="287" r:id="rId32"/>
    <p:sldId id="288" r:id="rId33"/>
    <p:sldId id="289" r:id="rId34"/>
    <p:sldId id="290" r:id="rId35"/>
    <p:sldId id="291" r:id="rId36"/>
    <p:sldId id="292" r:id="rId37"/>
    <p:sldId id="293" r:id="rId38"/>
    <p:sldId id="294" r:id="rId39"/>
    <p:sldId id="381" r:id="rId40"/>
    <p:sldId id="389" r:id="rId41"/>
    <p:sldId id="297" r:id="rId42"/>
    <p:sldId id="298" r:id="rId43"/>
    <p:sldId id="390" r:id="rId44"/>
    <p:sldId id="391" r:id="rId45"/>
    <p:sldId id="392" r:id="rId46"/>
    <p:sldId id="393" r:id="rId47"/>
    <p:sldId id="394" r:id="rId48"/>
    <p:sldId id="395" r:id="rId49"/>
    <p:sldId id="396" r:id="rId50"/>
    <p:sldId id="397" r:id="rId51"/>
    <p:sldId id="299" r:id="rId52"/>
    <p:sldId id="300" r:id="rId53"/>
    <p:sldId id="266" r:id="rId54"/>
    <p:sldId id="301" r:id="rId55"/>
    <p:sldId id="302" r:id="rId56"/>
    <p:sldId id="303" r:id="rId57"/>
    <p:sldId id="267" r:id="rId58"/>
    <p:sldId id="398" r:id="rId59"/>
    <p:sldId id="404" r:id="rId60"/>
    <p:sldId id="405" r:id="rId61"/>
    <p:sldId id="406" r:id="rId62"/>
    <p:sldId id="407" r:id="rId63"/>
    <p:sldId id="408" r:id="rId64"/>
    <p:sldId id="399" r:id="rId65"/>
    <p:sldId id="400" r:id="rId66"/>
    <p:sldId id="401" r:id="rId67"/>
    <p:sldId id="417" r:id="rId68"/>
    <p:sldId id="418" r:id="rId69"/>
    <p:sldId id="419" r:id="rId70"/>
    <p:sldId id="420" r:id="rId71"/>
    <p:sldId id="421" r:id="rId72"/>
    <p:sldId id="416" r:id="rId73"/>
    <p:sldId id="422" r:id="rId74"/>
    <p:sldId id="423" r:id="rId75"/>
    <p:sldId id="424" r:id="rId76"/>
    <p:sldId id="425" r:id="rId77"/>
    <p:sldId id="409" r:id="rId78"/>
    <p:sldId id="426" r:id="rId79"/>
    <p:sldId id="427" r:id="rId80"/>
    <p:sldId id="428" r:id="rId81"/>
    <p:sldId id="410" r:id="rId82"/>
    <p:sldId id="411" r:id="rId83"/>
    <p:sldId id="412" r:id="rId84"/>
    <p:sldId id="413" r:id="rId85"/>
    <p:sldId id="414" r:id="rId86"/>
    <p:sldId id="415" r:id="rId87"/>
    <p:sldId id="402" r:id="rId88"/>
    <p:sldId id="403" r:id="rId89"/>
    <p:sldId id="307" r:id="rId90"/>
    <p:sldId id="308" r:id="rId91"/>
    <p:sldId id="268" r:id="rId92"/>
    <p:sldId id="319" r:id="rId93"/>
    <p:sldId id="320" r:id="rId94"/>
    <p:sldId id="321" r:id="rId95"/>
    <p:sldId id="429" r:id="rId96"/>
    <p:sldId id="430" r:id="rId97"/>
    <p:sldId id="431" r:id="rId98"/>
    <p:sldId id="269" r:id="rId99"/>
    <p:sldId id="261" r:id="rId100"/>
    <p:sldId id="432" r:id="rId101"/>
    <p:sldId id="433" r:id="rId102"/>
    <p:sldId id="434" r:id="rId103"/>
    <p:sldId id="435" r:id="rId104"/>
    <p:sldId id="436" r:id="rId105"/>
    <p:sldId id="324" r:id="rId106"/>
    <p:sldId id="325" r:id="rId107"/>
    <p:sldId id="326" r:id="rId108"/>
    <p:sldId id="327" r:id="rId109"/>
    <p:sldId id="328" r:id="rId110"/>
    <p:sldId id="329" r:id="rId111"/>
    <p:sldId id="313" r:id="rId112"/>
    <p:sldId id="442" r:id="rId113"/>
    <p:sldId id="443" r:id="rId114"/>
    <p:sldId id="444" r:id="rId115"/>
    <p:sldId id="445" r:id="rId116"/>
    <p:sldId id="446" r:id="rId117"/>
    <p:sldId id="330" r:id="rId118"/>
    <p:sldId id="437" r:id="rId119"/>
    <p:sldId id="438" r:id="rId120"/>
    <p:sldId id="439" r:id="rId121"/>
    <p:sldId id="440" r:id="rId122"/>
    <p:sldId id="441" r:id="rId123"/>
    <p:sldId id="331" r:id="rId124"/>
    <p:sldId id="332" r:id="rId125"/>
    <p:sldId id="447" r:id="rId126"/>
    <p:sldId id="448" r:id="rId127"/>
    <p:sldId id="449" r:id="rId128"/>
    <p:sldId id="450" r:id="rId129"/>
    <p:sldId id="451" r:id="rId130"/>
    <p:sldId id="452" r:id="rId131"/>
    <p:sldId id="453" r:id="rId132"/>
    <p:sldId id="454" r:id="rId133"/>
    <p:sldId id="455" r:id="rId134"/>
    <p:sldId id="456" r:id="rId135"/>
    <p:sldId id="457" r:id="rId136"/>
    <p:sldId id="458" r:id="rId137"/>
    <p:sldId id="459" r:id="rId138"/>
    <p:sldId id="460" r:id="rId139"/>
    <p:sldId id="461" r:id="rId140"/>
    <p:sldId id="462" r:id="rId141"/>
    <p:sldId id="463" r:id="rId142"/>
    <p:sldId id="464" r:id="rId143"/>
    <p:sldId id="465" r:id="rId144"/>
    <p:sldId id="466" r:id="rId145"/>
    <p:sldId id="333" r:id="rId146"/>
    <p:sldId id="334" r:id="rId147"/>
    <p:sldId id="314" r:id="rId148"/>
    <p:sldId id="335" r:id="rId149"/>
    <p:sldId id="467" r:id="rId150"/>
    <p:sldId id="468" r:id="rId151"/>
    <p:sldId id="469" r:id="rId152"/>
    <p:sldId id="470" r:id="rId153"/>
    <p:sldId id="336" r:id="rId154"/>
    <p:sldId id="337" r:id="rId155"/>
    <p:sldId id="315" r:id="rId156"/>
    <p:sldId id="346" r:id="rId157"/>
    <p:sldId id="471" r:id="rId158"/>
    <p:sldId id="472" r:id="rId159"/>
    <p:sldId id="473" r:id="rId160"/>
    <p:sldId id="316" r:id="rId161"/>
    <p:sldId id="317" r:id="rId162"/>
    <p:sldId id="318" r:id="rId163"/>
    <p:sldId id="357" r:id="rId164"/>
    <p:sldId id="474" r:id="rId165"/>
    <p:sldId id="475" r:id="rId166"/>
    <p:sldId id="476" r:id="rId167"/>
    <p:sldId id="477" r:id="rId168"/>
    <p:sldId id="478" r:id="rId169"/>
    <p:sldId id="479" r:id="rId170"/>
    <p:sldId id="480" r:id="rId171"/>
    <p:sldId id="481" r:id="rId172"/>
    <p:sldId id="482" r:id="rId173"/>
    <p:sldId id="358" r:id="rId174"/>
    <p:sldId id="359" r:id="rId175"/>
    <p:sldId id="360" r:id="rId176"/>
    <p:sldId id="361" r:id="rId177"/>
    <p:sldId id="362" r:id="rId178"/>
    <p:sldId id="483" r:id="rId179"/>
    <p:sldId id="484" r:id="rId180"/>
    <p:sldId id="485" r:id="rId181"/>
    <p:sldId id="490" r:id="rId182"/>
    <p:sldId id="487" r:id="rId183"/>
    <p:sldId id="491" r:id="rId184"/>
    <p:sldId id="492" r:id="rId185"/>
    <p:sldId id="366" r:id="rId186"/>
    <p:sldId id="367" r:id="rId187"/>
    <p:sldId id="344" r:id="rId188"/>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335" autoAdjust="0"/>
    <p:restoredTop sz="71953" autoAdjust="0"/>
  </p:normalViewPr>
  <p:slideViewPr>
    <p:cSldViewPr>
      <p:cViewPr varScale="1">
        <p:scale>
          <a:sx n="66" d="100"/>
          <a:sy n="66" d="100"/>
        </p:scale>
        <p:origin x="1920"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5" Type="http://schemas.openxmlformats.org/officeDocument/2006/relationships/slide" Target="slides/slide174.xml"/><Relationship Id="rId170" Type="http://schemas.openxmlformats.org/officeDocument/2006/relationships/slide" Target="slides/slide169.xml"/><Relationship Id="rId191"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slide" Target="slides/slide180.xml"/><Relationship Id="rId186" Type="http://schemas.openxmlformats.org/officeDocument/2006/relationships/slide" Target="slides/slide185.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92" Type="http://schemas.openxmlformats.org/officeDocument/2006/relationships/viewProps" Target="view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72" Type="http://schemas.openxmlformats.org/officeDocument/2006/relationships/slide" Target="slides/slide171.xml"/><Relationship Id="rId193"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0" Type="http://schemas.openxmlformats.org/officeDocument/2006/relationships/handoutMaster" Target="handoutMasters/handout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pPr/>
              <a:t>3/12/2015</a:t>
            </a:fld>
            <a:endParaRPr lang="en-GB" dirty="0"/>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pPr/>
              <a:t>‹#›</a:t>
            </a:fld>
            <a:endParaRPr lang="en-GB" dirty="0"/>
          </a:p>
        </p:txBody>
      </p:sp>
    </p:spTree>
    <p:extLst>
      <p:ext uri="{BB962C8B-B14F-4D97-AF65-F5344CB8AC3E}">
        <p14:creationId xmlns:p14="http://schemas.microsoft.com/office/powerpoint/2010/main" val="17865854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vl1pPr>
          </a:lstStyle>
          <a:p>
            <a:fld id="{BC34F173-2430-41D6-9CA5-C9CD3BDF7E96}" type="datetimeFigureOut">
              <a:rPr lang="en-US" smtClean="0"/>
              <a:pPr/>
              <a:t>3/12/2015</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16620684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3" Type="http://schemas.openxmlformats.org/officeDocument/2006/relationships/hyperlink" Target="http://www.foodstars.com.au/Handwashingkit.htm" TargetMode="External"/><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Trainer welcomes trainees to class.</a:t>
            </a: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18509193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latin typeface="+mn-lt"/>
                <a:ea typeface="+mn-ea"/>
                <a:cs typeface="+mn-cs"/>
              </a:rPr>
              <a:t>Trainer advises trainees this Unit comprises five Elements, as listed on the slide explaining:</a:t>
            </a:r>
          </a:p>
          <a:p>
            <a:r>
              <a:rPr lang="en-AU" sz="1200" kern="1200" baseline="0" dirty="0" smtClean="0">
                <a:solidFill>
                  <a:schemeClr val="tx1"/>
                </a:solidFill>
                <a:latin typeface="+mn-lt"/>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latin typeface="+mn-lt"/>
                <a:ea typeface="+mn-ea"/>
                <a:cs typeface="+mn-cs"/>
              </a:rPr>
              <a:t>• Trainees can obtain more detail from their Trainee Manual</a:t>
            </a:r>
          </a:p>
          <a:p>
            <a:r>
              <a:rPr lang="en-AU" sz="1200" kern="1200" baseline="0" dirty="0" smtClean="0">
                <a:solidFill>
                  <a:schemeClr val="tx1"/>
                </a:solidFill>
                <a:latin typeface="+mn-lt"/>
                <a:ea typeface="+mn-ea"/>
                <a:cs typeface="+mn-cs"/>
              </a:rPr>
              <a:t>• 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11608724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latin typeface="+mn-lt"/>
                <a:ea typeface="+mn-ea"/>
                <a:cs typeface="+mn-cs"/>
              </a:rPr>
              <a:t>Trainer advises trainees that assessment for this Unit may take several forms all of which are aimed at verifying they have achieved competency for the Unit as required.</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Trainer indicates to trainees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35339091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for trainees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3067803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continues to identify for trainees the Performance Criteria for this Element, as listed on the slide.</a:t>
            </a:r>
          </a:p>
          <a:p>
            <a:pPr>
              <a:buFont typeface="Arial" pitchFamily="34" charset="0"/>
              <a:buNone/>
            </a:pPr>
            <a:endParaRPr lang="en-US" dirty="0" smtClean="0"/>
          </a:p>
          <a:p>
            <a:r>
              <a:rPr lang="en-AU" sz="1200" b="1" kern="1200" baseline="0" dirty="0" smtClean="0">
                <a:solidFill>
                  <a:schemeClr val="tx1"/>
                </a:solidFill>
                <a:latin typeface="+mn-lt"/>
                <a:ea typeface="+mn-ea"/>
                <a:cs typeface="+mn-cs"/>
              </a:rPr>
              <a:t>Class Activity – General Discussion</a:t>
            </a:r>
          </a:p>
          <a:p>
            <a:r>
              <a:rPr lang="en-AU" sz="1200" kern="1200" baseline="0" dirty="0" smtClean="0">
                <a:solidFill>
                  <a:schemeClr val="tx1"/>
                </a:solidFill>
                <a:latin typeface="+mn-lt"/>
                <a:ea typeface="+mn-ea"/>
                <a:cs typeface="+mn-cs"/>
              </a:rPr>
              <a:t>Trainer leads a general class discussion on food safety by asking questions such as:</a:t>
            </a:r>
          </a:p>
          <a:p>
            <a:pPr>
              <a:buFont typeface="Arial" pitchFamily="34" charset="0"/>
              <a:buChar char="•"/>
            </a:pPr>
            <a:r>
              <a:rPr lang="en-AU" sz="1200" kern="1200" baseline="0" dirty="0" smtClean="0">
                <a:solidFill>
                  <a:schemeClr val="tx1"/>
                </a:solidFill>
                <a:latin typeface="+mn-lt"/>
                <a:ea typeface="+mn-ea"/>
                <a:cs typeface="+mn-cs"/>
              </a:rPr>
              <a:t> Why is food safety so important?</a:t>
            </a:r>
          </a:p>
          <a:p>
            <a:pPr>
              <a:buFont typeface="Arial" pitchFamily="34" charset="0"/>
              <a:buChar char="•"/>
            </a:pPr>
            <a:r>
              <a:rPr lang="en-AU" sz="1200" kern="1200" baseline="0" dirty="0" smtClean="0">
                <a:solidFill>
                  <a:schemeClr val="tx1"/>
                </a:solidFill>
                <a:latin typeface="+mn-lt"/>
                <a:ea typeface="+mn-ea"/>
                <a:cs typeface="+mn-cs"/>
              </a:rPr>
              <a:t> What can be the results of not having safe food handling procedures in place in a workplace?</a:t>
            </a:r>
          </a:p>
          <a:p>
            <a:pPr>
              <a:buFont typeface="Arial" pitchFamily="34" charset="0"/>
              <a:buChar char="•"/>
            </a:pPr>
            <a:r>
              <a:rPr lang="en-AU" sz="1200" kern="1200" baseline="0" dirty="0" smtClean="0">
                <a:solidFill>
                  <a:schemeClr val="tx1"/>
                </a:solidFill>
                <a:latin typeface="+mn-lt"/>
                <a:ea typeface="+mn-ea"/>
                <a:cs typeface="+mn-cs"/>
              </a:rPr>
              <a:t> What do you do in your everyday work to optimise food safety?</a:t>
            </a:r>
          </a:p>
          <a:p>
            <a:pPr>
              <a:buFont typeface="Arial" pitchFamily="34" charset="0"/>
              <a:buChar char="•"/>
            </a:pPr>
            <a:r>
              <a:rPr lang="en-AU" sz="1200" kern="1200" baseline="0" dirty="0" smtClean="0">
                <a:solidFill>
                  <a:schemeClr val="tx1"/>
                </a:solidFill>
                <a:latin typeface="+mn-lt"/>
                <a:ea typeface="+mn-ea"/>
                <a:cs typeface="+mn-cs"/>
              </a:rPr>
              <a:t> What do you think are the legal requirements in your workplace applying to food safety?</a:t>
            </a:r>
          </a:p>
          <a:p>
            <a:pPr>
              <a:buFont typeface="Arial" pitchFamily="34" charset="0"/>
              <a:buChar char="•"/>
            </a:pPr>
            <a:r>
              <a:rPr lang="en-AU" sz="1200" kern="1200" baseline="0" dirty="0" smtClean="0">
                <a:solidFill>
                  <a:schemeClr val="tx1"/>
                </a:solidFill>
                <a:latin typeface="+mn-lt"/>
                <a:ea typeface="+mn-ea"/>
                <a:cs typeface="+mn-cs"/>
              </a:rPr>
              <a:t> What legislation are you required to comply with?</a:t>
            </a:r>
          </a:p>
          <a:p>
            <a:pPr>
              <a:buFont typeface="Arial" pitchFamily="34" charset="0"/>
              <a:buChar char="•"/>
            </a:pPr>
            <a:r>
              <a:rPr lang="en-AU" sz="1200" kern="1200" baseline="0" dirty="0" smtClean="0">
                <a:solidFill>
                  <a:schemeClr val="tx1"/>
                </a:solidFill>
                <a:latin typeface="+mn-lt"/>
                <a:ea typeface="+mn-ea"/>
                <a:cs typeface="+mn-cs"/>
              </a:rPr>
              <a:t> What enterprise-specific safe food handling protocols are you required to comply with?</a:t>
            </a:r>
          </a:p>
          <a:p>
            <a:pPr>
              <a:buFont typeface="Arial" pitchFamily="34" charset="0"/>
              <a:buChar char="•"/>
            </a:pPr>
            <a:r>
              <a:rPr lang="en-AU" sz="1200" kern="1200" baseline="0" dirty="0" smtClean="0">
                <a:solidFill>
                  <a:schemeClr val="tx1"/>
                </a:solidFill>
                <a:latin typeface="+mn-lt"/>
                <a:ea typeface="+mn-ea"/>
                <a:cs typeface="+mn-cs"/>
              </a:rPr>
              <a:t> What legal obligations are food handlers under in relation to ensuring the safety of food they handle?</a:t>
            </a:r>
          </a:p>
          <a:p>
            <a:pPr>
              <a:buFont typeface="Arial" pitchFamily="34" charset="0"/>
              <a:buChar char="•"/>
            </a:pPr>
            <a:r>
              <a:rPr lang="en-AU" sz="1200" kern="1200" baseline="0" dirty="0" smtClean="0">
                <a:solidFill>
                  <a:schemeClr val="tx1"/>
                </a:solidFill>
                <a:latin typeface="+mn-lt"/>
                <a:ea typeface="+mn-ea"/>
                <a:cs typeface="+mn-cs"/>
              </a:rPr>
              <a:t> What safe food handling protocols apply in your workplace regarding the receiving of food into the premises?</a:t>
            </a:r>
          </a:p>
          <a:p>
            <a:pPr>
              <a:buFont typeface="Arial" pitchFamily="34" charset="0"/>
              <a:buChar char="•"/>
            </a:pPr>
            <a:r>
              <a:rPr lang="en-AU" sz="1200" kern="1200" baseline="0" dirty="0" smtClean="0">
                <a:solidFill>
                  <a:schemeClr val="tx1"/>
                </a:solidFill>
                <a:latin typeface="+mn-lt"/>
                <a:ea typeface="+mn-ea"/>
                <a:cs typeface="+mn-cs"/>
              </a:rPr>
              <a:t> What sorts of storage facilities for food exist in your workplace, how do they differ and what are the safe food handling protocols that apply for them?</a:t>
            </a:r>
          </a:p>
          <a:p>
            <a:pPr>
              <a:buFont typeface="Arial" pitchFamily="34" charset="0"/>
              <a:buChar char="•"/>
            </a:pPr>
            <a:r>
              <a:rPr lang="en-AU" sz="1200" kern="1200" baseline="0" dirty="0" smtClean="0">
                <a:solidFill>
                  <a:schemeClr val="tx1"/>
                </a:solidFill>
                <a:latin typeface="+mn-lt"/>
                <a:ea typeface="+mn-ea"/>
                <a:cs typeface="+mn-cs"/>
              </a:rPr>
              <a:t> What safe food handling practices do you observe when preparing food for human consumption?</a:t>
            </a:r>
          </a:p>
          <a:p>
            <a:pPr>
              <a:buFont typeface="Arial" pitchFamily="34" charset="0"/>
              <a:buChar char="•"/>
            </a:pPr>
            <a:r>
              <a:rPr lang="en-AU" sz="1200" kern="1200" baseline="0" dirty="0" smtClean="0">
                <a:solidFill>
                  <a:schemeClr val="tx1"/>
                </a:solidFill>
                <a:latin typeface="+mn-lt"/>
                <a:ea typeface="+mn-ea"/>
                <a:cs typeface="+mn-cs"/>
              </a:rPr>
              <a:t> How do you ensure the food you serve to customers is safe?</a:t>
            </a:r>
          </a:p>
          <a:p>
            <a:pPr>
              <a:buFont typeface="Arial" pitchFamily="34" charset="0"/>
              <a:buChar char="•"/>
            </a:pPr>
            <a:r>
              <a:rPr lang="en-AU" sz="1200" kern="1200" baseline="0" dirty="0" smtClean="0">
                <a:solidFill>
                  <a:schemeClr val="tx1"/>
                </a:solidFill>
                <a:latin typeface="+mn-lt"/>
                <a:ea typeface="+mn-ea"/>
                <a:cs typeface="+mn-cs"/>
              </a:rPr>
              <a:t> What protocols apply to the display of food for sale and service where you work?</a:t>
            </a:r>
          </a:p>
          <a:p>
            <a:pPr>
              <a:buFont typeface="Arial" pitchFamily="34" charset="0"/>
              <a:buChar char="•"/>
            </a:pPr>
            <a:r>
              <a:rPr lang="en-AU" sz="1200" kern="1200" baseline="0" dirty="0" smtClean="0">
                <a:solidFill>
                  <a:schemeClr val="tx1"/>
                </a:solidFill>
                <a:latin typeface="+mn-lt"/>
                <a:ea typeface="+mn-ea"/>
                <a:cs typeface="+mn-cs"/>
              </a:rPr>
              <a:t> What is involved in cleaning cutlery and crockery, pots and pans, food preparation equipment and food areas in your workplace? </a:t>
            </a:r>
          </a:p>
          <a:p>
            <a:pPr>
              <a:buFont typeface="Arial" pitchFamily="34" charset="0"/>
              <a:buChar char="•"/>
            </a:pPr>
            <a:endParaRPr lang="en-AU" sz="1200" kern="1200" baseline="0" dirty="0" smtClean="0">
              <a:solidFill>
                <a:schemeClr val="tx1"/>
              </a:solidFill>
              <a:latin typeface="+mn-lt"/>
              <a:ea typeface="+mn-ea"/>
              <a:cs typeface="+mn-cs"/>
            </a:endParaRPr>
          </a:p>
          <a:p>
            <a:pPr>
              <a:buFont typeface="Arial" pitchFamily="34" charset="0"/>
              <a:buChar char="•"/>
            </a:pPr>
            <a:endParaRPr lang="en-AU" sz="1200" kern="1200" baseline="0" dirty="0" smtClean="0">
              <a:solidFill>
                <a:schemeClr val="tx1"/>
              </a:solidFill>
              <a:latin typeface="+mn-lt"/>
              <a:ea typeface="+mn-ea"/>
              <a:cs typeface="+mn-cs"/>
            </a:endParaRPr>
          </a:p>
          <a:p>
            <a:pPr>
              <a:buFont typeface="Arial" pitchFamily="34" charset="0"/>
              <a:buChar char="•"/>
            </a:pPr>
            <a:endParaRPr lang="en-AU" sz="1200" kern="1200" baseline="0" dirty="0" smtClean="0">
              <a:solidFill>
                <a:schemeClr val="tx1"/>
              </a:solidFill>
              <a:latin typeface="+mn-lt"/>
              <a:ea typeface="+mn-ea"/>
              <a:cs typeface="+mn-cs"/>
            </a:endParaRPr>
          </a:p>
          <a:p>
            <a:pPr>
              <a:buFont typeface="Arial" pitchFamily="34" charset="0"/>
              <a:buChar char="•"/>
            </a:pPr>
            <a:endParaRPr lang="en-AU" sz="120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18050861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informs trainees </a:t>
            </a:r>
            <a:r>
              <a:rPr lang="en-AU" sz="1200" kern="1200" dirty="0" smtClean="0">
                <a:solidFill>
                  <a:schemeClr val="tx1"/>
                </a:solidFill>
                <a:latin typeface="+mn-lt"/>
                <a:ea typeface="+mn-ea"/>
                <a:cs typeface="+mn-cs"/>
              </a:rPr>
              <a:t>food</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handlers are required to comply with workplace and legislated requirements to ensure the safety of food prepared and served for human consumption noting in their workplace they will be expected to comply with safe food handling practices as indicated by:</a:t>
            </a:r>
          </a:p>
          <a:p>
            <a:pPr lvl="0">
              <a:buFont typeface="Arial" pitchFamily="34" charset="0"/>
              <a:buChar char="•"/>
            </a:pPr>
            <a:r>
              <a:rPr lang="en-AU" sz="1200" kern="1200" dirty="0" smtClean="0">
                <a:solidFill>
                  <a:schemeClr val="tx1"/>
                </a:solidFill>
                <a:latin typeface="+mn-lt"/>
                <a:ea typeface="+mn-ea"/>
                <a:cs typeface="+mn-cs"/>
              </a:rPr>
              <a:t> Legislation – which can include national legislation, regional legislation or local legislation. </a:t>
            </a:r>
          </a:p>
          <a:p>
            <a:pPr lvl="0">
              <a:buFont typeface="Arial" pitchFamily="34" charset="0"/>
              <a:buChar char="•"/>
            </a:pPr>
            <a:r>
              <a:rPr lang="en-AU" sz="1200" kern="1200" dirty="0" smtClean="0">
                <a:solidFill>
                  <a:schemeClr val="tx1"/>
                </a:solidFill>
                <a:latin typeface="+mn-lt"/>
                <a:ea typeface="+mn-ea"/>
                <a:cs typeface="+mn-cs"/>
              </a:rPr>
              <a:t> Enterprise policies and procedures – as determined by the individual employer</a:t>
            </a:r>
          </a:p>
          <a:p>
            <a:pPr lvl="0">
              <a:buFont typeface="Arial" pitchFamily="34" charset="0"/>
              <a:buChar char="•"/>
            </a:pPr>
            <a:r>
              <a:rPr lang="en-AU" sz="1200" kern="1200" dirty="0" smtClean="0">
                <a:solidFill>
                  <a:schemeClr val="tx1"/>
                </a:solidFill>
                <a:latin typeface="+mn-lt"/>
                <a:ea typeface="+mn-ea"/>
                <a:cs typeface="+mn-cs"/>
              </a:rPr>
              <a:t> The requirements of any internal safe food handling system implemented by the business – these may be a legal requirement or they may be in addition to other legislated obligations imposed by law on a food premises.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dirty="0" smtClean="0">
                <a:solidFill>
                  <a:schemeClr val="tx1"/>
                </a:solidFill>
                <a:latin typeface="+mn-lt"/>
                <a:ea typeface="+mn-ea"/>
                <a:cs typeface="+mn-cs"/>
              </a:rPr>
              <a:t>Class Activity – Handout and Discussion</a:t>
            </a:r>
          </a:p>
          <a:p>
            <a:pPr>
              <a:buFont typeface="Arial" pitchFamily="34" charset="0"/>
              <a:buNone/>
            </a:pPr>
            <a:r>
              <a:rPr lang="en-AU" sz="1200" kern="1200" dirty="0" smtClean="0">
                <a:solidFill>
                  <a:schemeClr val="tx1"/>
                </a:solidFill>
                <a:latin typeface="+mn-lt"/>
                <a:ea typeface="+mn-ea"/>
                <a:cs typeface="+mn-cs"/>
              </a:rPr>
              <a:t>Trainer names the local relevant food safety legislation  for trainees advising them how to obtain a copy of same, and:</a:t>
            </a:r>
          </a:p>
          <a:p>
            <a:pPr>
              <a:buFont typeface="Arial" pitchFamily="34" charset="0"/>
              <a:buChar char="•"/>
            </a:pPr>
            <a:r>
              <a:rPr lang="en-AU" sz="1200" kern="1200" dirty="0" smtClean="0">
                <a:solidFill>
                  <a:schemeClr val="tx1"/>
                </a:solidFill>
                <a:latin typeface="+mn-lt"/>
                <a:ea typeface="+mn-ea"/>
                <a:cs typeface="+mn-cs"/>
              </a:rPr>
              <a:t> Distributes sample copies</a:t>
            </a:r>
          </a:p>
          <a:p>
            <a:pPr>
              <a:buFont typeface="Arial" pitchFamily="34" charset="0"/>
              <a:buChar char="•"/>
            </a:pPr>
            <a:r>
              <a:rPr lang="en-AU" sz="1200" kern="1200" dirty="0" smtClean="0">
                <a:solidFill>
                  <a:schemeClr val="tx1"/>
                </a:solidFill>
                <a:latin typeface="+mn-lt"/>
                <a:ea typeface="+mn-ea"/>
                <a:cs typeface="+mn-cs"/>
              </a:rPr>
              <a:t> Explains the requirements of same.</a:t>
            </a: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27906074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advises trainees they should use the following strategies to determine what their local food safety legislation requires them to do:</a:t>
            </a:r>
          </a:p>
          <a:p>
            <a:pPr lvl="0">
              <a:buFont typeface="Arial" pitchFamily="34" charset="0"/>
              <a:buChar char="•"/>
            </a:pPr>
            <a:r>
              <a:rPr lang="en-AU" sz="1200" kern="1200" dirty="0" smtClean="0">
                <a:solidFill>
                  <a:schemeClr val="tx1"/>
                </a:solidFill>
                <a:latin typeface="+mn-lt"/>
                <a:ea typeface="+mn-ea"/>
                <a:cs typeface="+mn-cs"/>
              </a:rPr>
              <a:t> Speak with management, the owner, supervisor and more senior staff and enquire about what applies in the workplace</a:t>
            </a:r>
          </a:p>
          <a:p>
            <a:pPr lvl="0">
              <a:buFont typeface="Arial" pitchFamily="34" charset="0"/>
              <a:buChar char="•"/>
            </a:pPr>
            <a:r>
              <a:rPr lang="en-AU" sz="1200" kern="1200" dirty="0" smtClean="0">
                <a:solidFill>
                  <a:schemeClr val="tx1"/>
                </a:solidFill>
                <a:latin typeface="+mn-lt"/>
                <a:ea typeface="+mn-ea"/>
                <a:cs typeface="+mn-cs"/>
              </a:rPr>
              <a:t> Visit local health authority and ask what applies and what obligations apply</a:t>
            </a:r>
          </a:p>
          <a:p>
            <a:pPr>
              <a:buFont typeface="Arial" pitchFamily="34" charset="0"/>
              <a:buChar char="•"/>
            </a:pPr>
            <a:r>
              <a:rPr lang="en-AU" sz="1200" kern="1200" dirty="0" smtClean="0">
                <a:solidFill>
                  <a:schemeClr val="tx1"/>
                </a:solidFill>
                <a:latin typeface="+mn-lt"/>
                <a:ea typeface="+mn-ea"/>
                <a:cs typeface="+mn-cs"/>
              </a:rPr>
              <a:t> Research the requirements on the internet.</a:t>
            </a:r>
          </a:p>
          <a:p>
            <a:pPr>
              <a:buFont typeface="Arial" pitchFamily="34" charset="0"/>
              <a:buNone/>
            </a:pPr>
            <a:endParaRPr lang="en-US" dirty="0" smtClean="0"/>
          </a:p>
          <a:p>
            <a:pPr>
              <a:buFont typeface="Arial" pitchFamily="34" charset="0"/>
              <a:buNone/>
            </a:pPr>
            <a:r>
              <a:rPr lang="en-AU" sz="1200" b="1" kern="1200" dirty="0" smtClean="0">
                <a:solidFill>
                  <a:schemeClr val="tx1"/>
                </a:solidFill>
                <a:latin typeface="+mn-lt"/>
                <a:ea typeface="+mn-ea"/>
                <a:cs typeface="+mn-cs"/>
              </a:rPr>
              <a:t>Class Activity – Guest Speaker</a:t>
            </a:r>
          </a:p>
          <a:p>
            <a:pPr>
              <a:buFont typeface="Arial" pitchFamily="34" charset="0"/>
              <a:buNone/>
            </a:pPr>
            <a:r>
              <a:rPr lang="en-AU" sz="1200" b="0" kern="1200" dirty="0" smtClean="0">
                <a:solidFill>
                  <a:schemeClr val="tx1"/>
                </a:solidFill>
                <a:latin typeface="+mn-lt"/>
                <a:ea typeface="+mn-ea"/>
                <a:cs typeface="+mn-cs"/>
              </a:rPr>
              <a:t>Trainer arranges for local health authority to visit trainees and:</a:t>
            </a:r>
          </a:p>
          <a:p>
            <a:pPr>
              <a:buFont typeface="Arial" pitchFamily="34" charset="0"/>
              <a:buChar char="•"/>
            </a:pPr>
            <a:r>
              <a:rPr lang="en-AU" sz="1200" b="0" kern="1200" dirty="0" smtClean="0">
                <a:solidFill>
                  <a:schemeClr val="tx1"/>
                </a:solidFill>
                <a:latin typeface="+mn-lt"/>
                <a:ea typeface="+mn-ea"/>
                <a:cs typeface="+mn-cs"/>
              </a:rPr>
              <a:t> Explain role of food safety legislation</a:t>
            </a:r>
          </a:p>
          <a:p>
            <a:pPr>
              <a:buFont typeface="Arial" pitchFamily="34" charset="0"/>
              <a:buChar char="•"/>
            </a:pPr>
            <a:r>
              <a:rPr lang="en-AU" sz="1200" b="0" kern="1200" dirty="0" smtClean="0">
                <a:solidFill>
                  <a:schemeClr val="tx1"/>
                </a:solidFill>
                <a:latin typeface="+mn-lt"/>
                <a:ea typeface="+mn-ea"/>
                <a:cs typeface="+mn-cs"/>
              </a:rPr>
              <a:t> Describe the safe food practices required under the legislation</a:t>
            </a:r>
          </a:p>
          <a:p>
            <a:pPr>
              <a:buFont typeface="Arial" pitchFamily="34" charset="0"/>
              <a:buChar char="•"/>
            </a:pPr>
            <a:r>
              <a:rPr lang="en-AU" sz="1200" b="0" kern="1200" dirty="0" smtClean="0">
                <a:solidFill>
                  <a:schemeClr val="tx1"/>
                </a:solidFill>
                <a:latin typeface="+mn-lt"/>
                <a:ea typeface="+mn-ea"/>
                <a:cs typeface="+mn-cs"/>
              </a:rPr>
              <a:t> Identify assistance available from authorities to optimise food safety</a:t>
            </a:r>
          </a:p>
          <a:p>
            <a:pPr>
              <a:buFont typeface="Arial" pitchFamily="34" charset="0"/>
              <a:buChar char="•"/>
            </a:pPr>
            <a:r>
              <a:rPr lang="en-AU" sz="1200" b="0" kern="1200" dirty="0" smtClean="0">
                <a:solidFill>
                  <a:schemeClr val="tx1"/>
                </a:solidFill>
                <a:latin typeface="+mn-lt"/>
                <a:ea typeface="+mn-ea"/>
                <a:cs typeface="+mn-cs"/>
              </a:rPr>
              <a:t> Describe the inspection and monitoring role of health authorities</a:t>
            </a:r>
          </a:p>
          <a:p>
            <a:pPr>
              <a:buFont typeface="Arial" pitchFamily="34" charset="0"/>
              <a:buChar char="•"/>
            </a:pPr>
            <a:r>
              <a:rPr lang="en-AU" sz="1200" b="0" kern="1200" dirty="0" smtClean="0">
                <a:solidFill>
                  <a:schemeClr val="tx1"/>
                </a:solidFill>
                <a:latin typeface="+mn-lt"/>
                <a:ea typeface="+mn-ea"/>
                <a:cs typeface="+mn-cs"/>
              </a:rPr>
              <a:t> Identify the penalties for failing to meet food safety obligations.</a:t>
            </a: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42806708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tells trainees many workplaces will have individual policies and procedures relating to food safety requirements informing them these support legal requirements, may require more than the law requires, and must be followed by</a:t>
            </a:r>
            <a:r>
              <a:rPr lang="en-US" baseline="0" dirty="0" smtClean="0"/>
              <a:t> all staff.</a:t>
            </a:r>
          </a:p>
          <a:p>
            <a:pPr>
              <a:buFont typeface="Arial" pitchFamily="34" charset="0"/>
              <a:buNone/>
            </a:pPr>
            <a:endParaRPr lang="en-US" baseline="0" dirty="0" smtClean="0"/>
          </a:p>
          <a:p>
            <a:pPr>
              <a:buFont typeface="Arial" pitchFamily="34" charset="0"/>
              <a:buNone/>
            </a:pPr>
            <a:r>
              <a:rPr lang="en-US" dirty="0" smtClean="0"/>
              <a:t>Trainer advises house policies and procedures will vary between food premises and can be expected to address all stages of food handling:</a:t>
            </a:r>
          </a:p>
          <a:p>
            <a:pPr lvl="0">
              <a:buFont typeface="Arial" pitchFamily="34" charset="0"/>
              <a:buChar char="•"/>
            </a:pPr>
            <a:r>
              <a:rPr lang="en-AU" sz="1200" kern="1200" dirty="0" smtClean="0">
                <a:solidFill>
                  <a:schemeClr val="tx1"/>
                </a:solidFill>
                <a:latin typeface="+mn-lt"/>
                <a:ea typeface="+mn-ea"/>
                <a:cs typeface="+mn-cs"/>
              </a:rPr>
              <a:t> Purchasing food from suppliers for use in the food premises</a:t>
            </a:r>
          </a:p>
          <a:p>
            <a:pPr lvl="0">
              <a:buFont typeface="Arial" pitchFamily="34" charset="0"/>
              <a:buChar char="•"/>
            </a:pPr>
            <a:r>
              <a:rPr lang="en-AU" sz="1200" kern="1200" dirty="0" smtClean="0">
                <a:solidFill>
                  <a:schemeClr val="tx1"/>
                </a:solidFill>
                <a:latin typeface="+mn-lt"/>
                <a:ea typeface="+mn-ea"/>
                <a:cs typeface="+mn-cs"/>
              </a:rPr>
              <a:t> From suppliers into the premises</a:t>
            </a:r>
          </a:p>
          <a:p>
            <a:pPr lvl="0">
              <a:buFont typeface="Arial" pitchFamily="34" charset="0"/>
              <a:buChar char="•"/>
            </a:pPr>
            <a:r>
              <a:rPr lang="en-AU" sz="1200" kern="1200" dirty="0" smtClean="0">
                <a:solidFill>
                  <a:schemeClr val="tx1"/>
                </a:solidFill>
                <a:latin typeface="+mn-lt"/>
                <a:ea typeface="+mn-ea"/>
                <a:cs typeface="+mn-cs"/>
              </a:rPr>
              <a:t> Food storage prior to preparation and/or service</a:t>
            </a:r>
          </a:p>
          <a:p>
            <a:pPr lvl="0">
              <a:buFont typeface="Arial" pitchFamily="34" charset="0"/>
              <a:buChar char="•"/>
            </a:pPr>
            <a:r>
              <a:rPr lang="en-AU" sz="1200" kern="1200" dirty="0" smtClean="0">
                <a:solidFill>
                  <a:schemeClr val="tx1"/>
                </a:solidFill>
                <a:latin typeface="+mn-lt"/>
                <a:ea typeface="+mn-ea"/>
                <a:cs typeface="+mn-cs"/>
              </a:rPr>
              <a:t> De-frosting</a:t>
            </a:r>
            <a:r>
              <a:rPr lang="en-AU" sz="1200" kern="1200" baseline="0" dirty="0" smtClean="0">
                <a:solidFill>
                  <a:schemeClr val="tx1"/>
                </a:solidFill>
                <a:latin typeface="+mn-lt"/>
                <a:ea typeface="+mn-ea"/>
                <a:cs typeface="+mn-cs"/>
              </a:rPr>
              <a:t> or t</a:t>
            </a:r>
            <a:r>
              <a:rPr lang="en-AU" sz="1200" kern="1200" dirty="0" smtClean="0">
                <a:solidFill>
                  <a:schemeClr val="tx1"/>
                </a:solidFill>
                <a:latin typeface="+mn-lt"/>
                <a:ea typeface="+mn-ea"/>
                <a:cs typeface="+mn-cs"/>
              </a:rPr>
              <a:t>hawing frozen food.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21251731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present stages of food handling about which most venues can be expected to have food safety policies and procedures:</a:t>
            </a:r>
          </a:p>
          <a:p>
            <a:pPr lvl="0">
              <a:buFont typeface="Arial" pitchFamily="34" charset="0"/>
              <a:buChar char="•"/>
            </a:pPr>
            <a:r>
              <a:rPr lang="en-AU" sz="1200" kern="1200" dirty="0" smtClean="0">
                <a:solidFill>
                  <a:schemeClr val="tx1"/>
                </a:solidFill>
                <a:latin typeface="+mn-lt"/>
                <a:ea typeface="+mn-ea"/>
                <a:cs typeface="+mn-cs"/>
              </a:rPr>
              <a:t> Preparing of raw materials for sale</a:t>
            </a:r>
            <a:r>
              <a:rPr lang="en-AU" sz="1200" kern="1200" baseline="0" dirty="0" smtClean="0">
                <a:solidFill>
                  <a:schemeClr val="tx1"/>
                </a:solidFill>
                <a:latin typeface="+mn-lt"/>
                <a:ea typeface="+mn-ea"/>
                <a:cs typeface="+mn-cs"/>
              </a:rPr>
              <a:t> and </a:t>
            </a:r>
            <a:r>
              <a:rPr lang="en-AU" sz="1200" kern="1200" dirty="0" smtClean="0">
                <a:solidFill>
                  <a:schemeClr val="tx1"/>
                </a:solidFill>
                <a:latin typeface="+mn-lt"/>
                <a:ea typeface="+mn-ea"/>
                <a:cs typeface="+mn-cs"/>
              </a:rPr>
              <a:t>service and the cooking food (including the cooling hot food for storage after it has been cooked)</a:t>
            </a:r>
          </a:p>
          <a:p>
            <a:pPr lvl="0">
              <a:buFont typeface="Arial" pitchFamily="34" charset="0"/>
              <a:buChar char="•"/>
            </a:pPr>
            <a:r>
              <a:rPr lang="en-AU" sz="1200" kern="1200" dirty="0" smtClean="0">
                <a:solidFill>
                  <a:schemeClr val="tx1"/>
                </a:solidFill>
                <a:latin typeface="+mn-lt"/>
                <a:ea typeface="+mn-ea"/>
                <a:cs typeface="+mn-cs"/>
              </a:rPr>
              <a:t> Cold holding and hot holding and display of prepared food for sale</a:t>
            </a:r>
            <a:r>
              <a:rPr lang="en-AU" sz="1200" kern="1200" baseline="0" dirty="0" smtClean="0">
                <a:solidFill>
                  <a:schemeClr val="tx1"/>
                </a:solidFill>
                <a:latin typeface="+mn-lt"/>
                <a:ea typeface="+mn-ea"/>
                <a:cs typeface="+mn-cs"/>
              </a:rPr>
              <a:t> and </a:t>
            </a:r>
            <a:r>
              <a:rPr lang="en-AU" sz="1200" kern="1200" dirty="0" smtClean="0">
                <a:solidFill>
                  <a:schemeClr val="tx1"/>
                </a:solidFill>
                <a:latin typeface="+mn-lt"/>
                <a:ea typeface="+mn-ea"/>
                <a:cs typeface="+mn-cs"/>
              </a:rPr>
              <a:t>service</a:t>
            </a:r>
          </a:p>
          <a:p>
            <a:pPr lvl="0">
              <a:buFont typeface="Arial" pitchFamily="34" charset="0"/>
              <a:buChar char="•"/>
            </a:pPr>
            <a:r>
              <a:rPr lang="en-AU" sz="1200" kern="1200" dirty="0" smtClean="0">
                <a:solidFill>
                  <a:schemeClr val="tx1"/>
                </a:solidFill>
                <a:latin typeface="+mn-lt"/>
                <a:ea typeface="+mn-ea"/>
                <a:cs typeface="+mn-cs"/>
              </a:rPr>
              <a:t> Re-heating of prepared food</a:t>
            </a:r>
          </a:p>
          <a:p>
            <a:pPr lvl="0">
              <a:buFont typeface="Arial" pitchFamily="34" charset="0"/>
              <a:buChar char="•"/>
            </a:pPr>
            <a:r>
              <a:rPr lang="en-AU" sz="1200" kern="1200" dirty="0" smtClean="0">
                <a:solidFill>
                  <a:schemeClr val="tx1"/>
                </a:solidFill>
                <a:latin typeface="+mn-lt"/>
                <a:ea typeface="+mn-ea"/>
                <a:cs typeface="+mn-cs"/>
              </a:rPr>
              <a:t> Serving food to customers for consumption on the premises or as take away food</a:t>
            </a:r>
          </a:p>
          <a:p>
            <a:pPr lvl="0">
              <a:buFont typeface="Arial" pitchFamily="34" charset="0"/>
              <a:buChar char="•"/>
            </a:pPr>
            <a:r>
              <a:rPr lang="en-AU" sz="1200" kern="1200" dirty="0" smtClean="0">
                <a:solidFill>
                  <a:schemeClr val="tx1"/>
                </a:solidFill>
                <a:latin typeface="+mn-lt"/>
                <a:ea typeface="+mn-ea"/>
                <a:cs typeface="+mn-cs"/>
              </a:rPr>
              <a:t> Self-service of food by customers to themselves.</a:t>
            </a:r>
          </a:p>
          <a:p>
            <a:pPr>
              <a:buFont typeface="Arial" pitchFamily="34" charset="0"/>
              <a:buNone/>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20037812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highlights to trainees enterprises may also have policies and procedures relating to food safety-related topics such as:</a:t>
            </a:r>
          </a:p>
          <a:p>
            <a:pPr lvl="0">
              <a:buFont typeface="Arial" pitchFamily="34" charset="0"/>
              <a:buChar char="•"/>
            </a:pPr>
            <a:r>
              <a:rPr lang="en-AU" sz="1200" kern="1200" dirty="0" smtClean="0">
                <a:solidFill>
                  <a:schemeClr val="tx1"/>
                </a:solidFill>
                <a:latin typeface="+mn-lt"/>
                <a:ea typeface="+mn-ea"/>
                <a:cs typeface="+mn-cs"/>
              </a:rPr>
              <a:t> Cleaning and sanitising of food utensils, equipment, areas and food contact and preparation surfaces</a:t>
            </a:r>
          </a:p>
          <a:p>
            <a:pPr lvl="0">
              <a:buFont typeface="Arial" pitchFamily="34" charset="0"/>
              <a:buChar char="•"/>
            </a:pPr>
            <a:r>
              <a:rPr lang="en-AU" sz="1200" kern="1200" dirty="0" smtClean="0">
                <a:solidFill>
                  <a:schemeClr val="tx1"/>
                </a:solidFill>
                <a:latin typeface="+mn-lt"/>
                <a:ea typeface="+mn-ea"/>
                <a:cs typeface="+mn-cs"/>
              </a:rPr>
              <a:t> Specific food handling techniques required by the workplace to optimise food safety – as applicable to the equipment they use, the food they prepare and other factors applying in the premises</a:t>
            </a:r>
          </a:p>
          <a:p>
            <a:pPr lvl="0">
              <a:buFont typeface="Arial" pitchFamily="34" charset="0"/>
              <a:buChar char="•"/>
            </a:pPr>
            <a:r>
              <a:rPr lang="en-AU" sz="1200" kern="1200" dirty="0" smtClean="0">
                <a:solidFill>
                  <a:schemeClr val="tx1"/>
                </a:solidFill>
                <a:latin typeface="+mn-lt"/>
                <a:ea typeface="+mn-ea"/>
                <a:cs typeface="+mn-cs"/>
              </a:rPr>
              <a:t> Personal hygiene – and requirements applying to ensure staff do not contaminate food by their actions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14293322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identifying for trainees associated food safety topics</a:t>
            </a:r>
            <a:r>
              <a:rPr lang="en-US" baseline="0" dirty="0" smtClean="0"/>
              <a:t> about which workplaces may have policies and procedures:</a:t>
            </a:r>
          </a:p>
          <a:p>
            <a:pPr lvl="0">
              <a:buFont typeface="Arial" pitchFamily="34" charset="0"/>
              <a:buChar char="•"/>
            </a:pPr>
            <a:r>
              <a:rPr lang="en-AU" sz="1200" kern="1200" dirty="0" smtClean="0">
                <a:solidFill>
                  <a:schemeClr val="tx1"/>
                </a:solidFill>
                <a:latin typeface="+mn-lt"/>
                <a:ea typeface="+mn-ea"/>
                <a:cs typeface="+mn-cs"/>
              </a:rPr>
              <a:t> Equipment maintenance – and the need to keep food equipment, utensils (including food thermometers) and areas properly maintained to ensure they operate as required (for example, it is important for refrigerators, freezers and hot and cold holding units to reach the temperatures they are supposed to reach)</a:t>
            </a:r>
          </a:p>
          <a:p>
            <a:pPr lvl="0">
              <a:buFont typeface="Arial" pitchFamily="34" charset="0"/>
              <a:buChar char="•"/>
            </a:pPr>
            <a:r>
              <a:rPr lang="en-AU" sz="1200" kern="1200" dirty="0" smtClean="0">
                <a:solidFill>
                  <a:schemeClr val="tx1"/>
                </a:solidFill>
                <a:latin typeface="+mn-lt"/>
                <a:ea typeface="+mn-ea"/>
                <a:cs typeface="+mn-cs"/>
              </a:rPr>
              <a:t> Use of food thermometers – to check food and equipment temperatures </a:t>
            </a:r>
          </a:p>
          <a:p>
            <a:pPr lvl="0">
              <a:buFont typeface="Arial" pitchFamily="34" charset="0"/>
              <a:buChar char="•"/>
            </a:pPr>
            <a:r>
              <a:rPr lang="en-AU" sz="1200" kern="1200" dirty="0" smtClean="0">
                <a:solidFill>
                  <a:schemeClr val="tx1"/>
                </a:solidFill>
                <a:latin typeface="+mn-lt"/>
                <a:ea typeface="+mn-ea"/>
                <a:cs typeface="+mn-cs"/>
              </a:rPr>
              <a:t> Pest control – to control vermin</a:t>
            </a:r>
          </a:p>
          <a:p>
            <a:pPr lvl="0">
              <a:buFont typeface="Arial" pitchFamily="34" charset="0"/>
              <a:buChar char="•"/>
            </a:pPr>
            <a:r>
              <a:rPr lang="en-AU" sz="1200" kern="1200" dirty="0" smtClean="0">
                <a:solidFill>
                  <a:schemeClr val="tx1"/>
                </a:solidFill>
                <a:latin typeface="+mn-lt"/>
                <a:ea typeface="+mn-ea"/>
                <a:cs typeface="+mn-cs"/>
              </a:rPr>
              <a:t> Waste disposal – to enable the proper removal of waste from kitchens and from the garbage storage area</a:t>
            </a:r>
          </a:p>
          <a:p>
            <a:pPr lvl="0">
              <a:buFont typeface="Arial" pitchFamily="34" charset="0"/>
              <a:buChar char="•"/>
            </a:pPr>
            <a:r>
              <a:rPr lang="en-AU" sz="1200" kern="1200" dirty="0" smtClean="0">
                <a:solidFill>
                  <a:schemeClr val="tx1"/>
                </a:solidFill>
                <a:latin typeface="+mn-lt"/>
                <a:ea typeface="+mn-ea"/>
                <a:cs typeface="+mn-cs"/>
              </a:rPr>
              <a:t> Food recalls – to allow unsafe food to be recalled and safely disposed of.</a:t>
            </a:r>
          </a:p>
          <a:p>
            <a:pPr>
              <a:buFont typeface="Arial" pitchFamily="34" charset="0"/>
              <a:buNone/>
            </a:pPr>
            <a:endParaRPr lang="en-US"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31519404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to trainees some venues will also require them to comply with requirements of a food safety plan (or program) explaining these will:</a:t>
            </a:r>
          </a:p>
          <a:p>
            <a:pPr lvl="0">
              <a:buFont typeface="Arial" pitchFamily="34" charset="0"/>
              <a:buChar char="•"/>
            </a:pPr>
            <a:r>
              <a:rPr lang="en-AU" sz="1200" kern="1200" dirty="0" smtClean="0">
                <a:solidFill>
                  <a:schemeClr val="tx1"/>
                </a:solidFill>
                <a:latin typeface="+mn-lt"/>
                <a:ea typeface="+mn-ea"/>
                <a:cs typeface="+mn-cs"/>
              </a:rPr>
              <a:t> Identify the workplace food safety hazards – at each stage of the food handling process and in all areas where food is handled</a:t>
            </a:r>
          </a:p>
          <a:p>
            <a:pPr lvl="0">
              <a:buFont typeface="Arial" pitchFamily="34" charset="0"/>
              <a:buChar char="•"/>
            </a:pPr>
            <a:r>
              <a:rPr lang="en-AU" sz="1200" kern="1200" dirty="0" smtClean="0">
                <a:solidFill>
                  <a:schemeClr val="tx1"/>
                </a:solidFill>
                <a:latin typeface="+mn-lt"/>
                <a:ea typeface="+mn-ea"/>
                <a:cs typeface="+mn-cs"/>
              </a:rPr>
              <a:t> Describe specific action to take to keep food safe at the premises – these are known as ‘safe food handling practices and procedures’ designed to keep food ‘under control’ (meaning the food is always handled and stored within parameters</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of time and temperature to ensure it remains ‘under control’ and hence safe to eat)</a:t>
            </a:r>
          </a:p>
          <a:p>
            <a:pPr lvl="0">
              <a:buFont typeface="Arial" pitchFamily="34" charset="0"/>
              <a:buChar char="•"/>
            </a:pPr>
            <a:r>
              <a:rPr lang="en-AU" sz="1200" kern="1200" dirty="0" smtClean="0">
                <a:solidFill>
                  <a:schemeClr val="tx1"/>
                </a:solidFill>
                <a:latin typeface="+mn-lt"/>
                <a:ea typeface="+mn-ea"/>
                <a:cs typeface="+mn-cs"/>
              </a:rPr>
              <a:t> Describe specific action to take if the food becomes unsafe – such as recalling the food from sale/consumption, disposing of it and investigating the cause of the ‘out of control’ situation so remedial action can be taken to prevent a recurrence of the problem</a:t>
            </a:r>
          </a:p>
          <a:p>
            <a:pPr lvl="0">
              <a:buFont typeface="Arial" pitchFamily="34" charset="0"/>
              <a:buChar char="•"/>
            </a:pPr>
            <a:r>
              <a:rPr lang="en-AU" sz="1200" kern="1200" dirty="0" smtClean="0">
                <a:solidFill>
                  <a:schemeClr val="tx1"/>
                </a:solidFill>
                <a:latin typeface="+mn-lt"/>
                <a:ea typeface="+mn-ea"/>
                <a:cs typeface="+mn-cs"/>
              </a:rPr>
              <a:t> Identify food safety records to be completed to prove compliance with safe food protocols, to identify out of control situations and the action taken to address these situations.</a:t>
            </a:r>
          </a:p>
          <a:p>
            <a:pPr lvl="0">
              <a:buFont typeface="Arial" pitchFamily="34" charset="0"/>
              <a:buChar char="•"/>
            </a:pPr>
            <a:endParaRPr lang="en-AU" sz="1200" kern="1200" dirty="0" smtClean="0">
              <a:solidFill>
                <a:schemeClr val="tx1"/>
              </a:solidFill>
              <a:latin typeface="+mn-lt"/>
              <a:ea typeface="+mn-ea"/>
              <a:cs typeface="+mn-cs"/>
            </a:endParaRPr>
          </a:p>
          <a:p>
            <a:pPr lvl="0">
              <a:buFont typeface="Arial" pitchFamily="34" charset="0"/>
              <a:buNone/>
            </a:pPr>
            <a:r>
              <a:rPr lang="en-AU" sz="1200" b="1" kern="1200" dirty="0" smtClean="0">
                <a:solidFill>
                  <a:schemeClr val="tx1"/>
                </a:solidFill>
                <a:latin typeface="+mn-lt"/>
                <a:ea typeface="+mn-ea"/>
                <a:cs typeface="+mn-cs"/>
              </a:rPr>
              <a:t>Class Activity – Handouts</a:t>
            </a:r>
          </a:p>
          <a:p>
            <a:pPr lvl="0">
              <a:buFont typeface="Arial" pitchFamily="34" charset="0"/>
              <a:buNone/>
            </a:pPr>
            <a:r>
              <a:rPr lang="en-AU" sz="1200" b="0" kern="1200" dirty="0" smtClean="0">
                <a:solidFill>
                  <a:schemeClr val="tx1"/>
                </a:solidFill>
                <a:latin typeface="+mn-lt"/>
                <a:ea typeface="+mn-ea"/>
                <a:cs typeface="+mn-cs"/>
              </a:rPr>
              <a:t>Trainer obtains a range of food safety records used in food safety plans and programs, and:</a:t>
            </a:r>
          </a:p>
          <a:p>
            <a:pPr lvl="0">
              <a:buFont typeface="Arial" pitchFamily="34" charset="0"/>
              <a:buChar char="•"/>
            </a:pPr>
            <a:r>
              <a:rPr lang="en-AU" sz="1200" b="0" kern="1200" dirty="0" smtClean="0">
                <a:solidFill>
                  <a:schemeClr val="tx1"/>
                </a:solidFill>
                <a:latin typeface="+mn-lt"/>
                <a:ea typeface="+mn-ea"/>
                <a:cs typeface="+mn-cs"/>
              </a:rPr>
              <a:t> Distributes same to trainees</a:t>
            </a:r>
          </a:p>
          <a:p>
            <a:pPr lvl="0">
              <a:buFont typeface="Arial" pitchFamily="34" charset="0"/>
              <a:buChar char="•"/>
            </a:pPr>
            <a:r>
              <a:rPr lang="en-AU" sz="1200" b="0" kern="1200" dirty="0" smtClean="0">
                <a:solidFill>
                  <a:schemeClr val="tx1"/>
                </a:solidFill>
                <a:latin typeface="+mn-lt"/>
                <a:ea typeface="+mn-ea"/>
                <a:cs typeface="+mn-cs"/>
              </a:rPr>
              <a:t> Explains how to complete them.</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19042089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highlights to trainees it is vital they ask questions in their workplace to ensure they are adhering to all necessary safe food handling protocols stating:</a:t>
            </a:r>
          </a:p>
          <a:p>
            <a:pPr lvl="0">
              <a:buFont typeface="Arial" pitchFamily="34" charset="0"/>
              <a:buChar char="•"/>
            </a:pPr>
            <a:r>
              <a:rPr lang="en-AU" sz="1200" kern="1200" dirty="0" smtClean="0">
                <a:solidFill>
                  <a:schemeClr val="tx1"/>
                </a:solidFill>
                <a:latin typeface="+mn-lt"/>
                <a:ea typeface="+mn-ea"/>
                <a:cs typeface="+mn-cs"/>
              </a:rPr>
              <a:t> They </a:t>
            </a:r>
            <a:r>
              <a:rPr lang="en-AU" sz="1200" b="1" i="1" kern="1200" dirty="0" smtClean="0">
                <a:solidFill>
                  <a:schemeClr val="tx1"/>
                </a:solidFill>
                <a:latin typeface="+mn-lt"/>
                <a:ea typeface="+mn-ea"/>
                <a:cs typeface="+mn-cs"/>
              </a:rPr>
              <a:t>must always</a:t>
            </a:r>
            <a:r>
              <a:rPr lang="en-AU" sz="1200" kern="1200" dirty="0" smtClean="0">
                <a:solidFill>
                  <a:schemeClr val="tx1"/>
                </a:solidFill>
                <a:latin typeface="+mn-lt"/>
                <a:ea typeface="+mn-ea"/>
                <a:cs typeface="+mn-cs"/>
              </a:rPr>
              <a:t> ask questions or seek clarification about any issue they are unsure about</a:t>
            </a:r>
          </a:p>
          <a:p>
            <a:pPr lvl="0">
              <a:buFont typeface="Arial" pitchFamily="34" charset="0"/>
              <a:buChar char="•"/>
            </a:pPr>
            <a:r>
              <a:rPr lang="en-AU" sz="1200" kern="1200" dirty="0" smtClean="0">
                <a:solidFill>
                  <a:schemeClr val="tx1"/>
                </a:solidFill>
                <a:latin typeface="+mn-lt"/>
                <a:ea typeface="+mn-ea"/>
                <a:cs typeface="+mn-cs"/>
              </a:rPr>
              <a:t> They  </a:t>
            </a:r>
            <a:r>
              <a:rPr lang="en-AU" sz="1200" b="1" i="1" kern="1200" dirty="0" smtClean="0">
                <a:solidFill>
                  <a:schemeClr val="tx1"/>
                </a:solidFill>
                <a:latin typeface="+mn-lt"/>
                <a:ea typeface="+mn-ea"/>
                <a:cs typeface="+mn-cs"/>
              </a:rPr>
              <a:t>must never</a:t>
            </a:r>
            <a:r>
              <a:rPr lang="en-AU" sz="1200" kern="1200" dirty="0" smtClean="0">
                <a:solidFill>
                  <a:schemeClr val="tx1"/>
                </a:solidFill>
                <a:latin typeface="+mn-lt"/>
                <a:ea typeface="+mn-ea"/>
                <a:cs typeface="+mn-cs"/>
              </a:rPr>
              <a:t> be afraid to ask questions – do not let the fear of looking foolish stop them asking a question</a:t>
            </a:r>
          </a:p>
          <a:p>
            <a:pPr>
              <a:buFont typeface="Arial" pitchFamily="34" charset="0"/>
              <a:buChar char="•"/>
            </a:pPr>
            <a:r>
              <a:rPr lang="en-AU" sz="1200" kern="1200" dirty="0" smtClean="0">
                <a:solidFill>
                  <a:schemeClr val="tx1"/>
                </a:solidFill>
                <a:latin typeface="+mn-lt"/>
                <a:ea typeface="+mn-ea"/>
                <a:cs typeface="+mn-cs"/>
              </a:rPr>
              <a:t> When in doubt – ask.</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27298640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sz="1200" kern="1200" dirty="0" smtClean="0">
                <a:solidFill>
                  <a:schemeClr val="tx1"/>
                </a:solidFill>
                <a:latin typeface="+mn-lt"/>
                <a:ea typeface="+mn-ea"/>
                <a:cs typeface="+mn-cs"/>
              </a:rPr>
              <a:t>Trainer advises trainees workplace hygiene procedures are practices used to control the safety of food making it fit for human consumption and safe to eat explaining they must:</a:t>
            </a:r>
          </a:p>
          <a:p>
            <a:pPr>
              <a:buFont typeface="Arial" pitchFamily="34" charset="0"/>
              <a:buChar char="•"/>
            </a:pPr>
            <a:r>
              <a:rPr lang="en-US" dirty="0" smtClean="0"/>
              <a:t> Always comply with legislated requirements – or</a:t>
            </a:r>
            <a:r>
              <a:rPr lang="en-US" baseline="0" dirty="0" smtClean="0"/>
              <a:t> they could be penalised and or fined</a:t>
            </a:r>
          </a:p>
          <a:p>
            <a:pPr>
              <a:buFont typeface="Arial" pitchFamily="34" charset="0"/>
              <a:buChar char="•"/>
            </a:pPr>
            <a:r>
              <a:rPr lang="en-US" baseline="0" dirty="0" smtClean="0"/>
              <a:t> Always follow house policies or procedures – or they could lose their job</a:t>
            </a:r>
          </a:p>
          <a:p>
            <a:pPr>
              <a:buFont typeface="Arial" pitchFamily="34" charset="0"/>
              <a:buChar char="•"/>
            </a:pPr>
            <a:r>
              <a:rPr lang="en-US" baseline="0" dirty="0" smtClean="0"/>
              <a:t> Always follow house policies where they differ from the notes – because the requirements of the employer must always take priority.</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13125884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trainees to the concept of ‘potentially hazardous foods’ stating:</a:t>
            </a:r>
          </a:p>
          <a:p>
            <a:pPr>
              <a:buFont typeface="Arial" pitchFamily="34" charset="0"/>
              <a:buChar char="•"/>
            </a:pPr>
            <a:r>
              <a:rPr lang="en-AU" sz="1200" kern="1200" dirty="0" smtClean="0">
                <a:solidFill>
                  <a:schemeClr val="tx1"/>
                </a:solidFill>
                <a:latin typeface="+mn-lt"/>
                <a:ea typeface="+mn-ea"/>
                <a:cs typeface="+mn-cs"/>
              </a:rPr>
              <a:t> Potentially hazardous food is food that must be stored under special temperature conditions – to prevent the growth of food poisoning bacteria, or to prevent the formation of toxins in the food.</a:t>
            </a:r>
          </a:p>
          <a:p>
            <a:pPr>
              <a:buFont typeface="Arial" pitchFamily="34" charset="0"/>
              <a:buChar char="•"/>
            </a:pPr>
            <a:r>
              <a:rPr lang="en-AU" sz="1200" kern="1200" dirty="0" smtClean="0">
                <a:solidFill>
                  <a:schemeClr val="tx1"/>
                </a:solidFill>
                <a:latin typeface="+mn-lt"/>
                <a:ea typeface="+mn-ea"/>
                <a:cs typeface="+mn-cs"/>
              </a:rPr>
              <a:t> Potentially hazardous food focuses on high protein, high moisture, low acid foods – examples to follow on next slides  </a:t>
            </a:r>
          </a:p>
          <a:p>
            <a:pPr>
              <a:buFont typeface="Arial" pitchFamily="34" charset="0"/>
              <a:buChar char="•"/>
            </a:pPr>
            <a:r>
              <a:rPr lang="en-AU" sz="1200" kern="1200" dirty="0" smtClean="0">
                <a:solidFill>
                  <a:schemeClr val="tx1"/>
                </a:solidFill>
                <a:latin typeface="+mn-lt"/>
                <a:ea typeface="+mn-ea"/>
                <a:cs typeface="+mn-cs"/>
              </a:rPr>
              <a:t> Special attention must be paid to ‘potentially hazardous foods’ to make sure they are stored correctly at the right temperature (that is, out of the Temperature Danger Zone [5°C - 60°C])</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38052810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examples of ‘potentially hazardous food’:</a:t>
            </a:r>
          </a:p>
          <a:p>
            <a:pPr lvl="0">
              <a:buFont typeface="Arial" pitchFamily="34" charset="0"/>
              <a:buChar char="•"/>
            </a:pPr>
            <a:r>
              <a:rPr lang="en-AU" sz="1200" kern="1200" dirty="0" smtClean="0">
                <a:solidFill>
                  <a:schemeClr val="tx1"/>
                </a:solidFill>
                <a:latin typeface="+mn-lt"/>
                <a:ea typeface="+mn-ea"/>
                <a:cs typeface="+mn-cs"/>
              </a:rPr>
              <a:t> Milk and milk products, soft cheeses – butter, yoghurt, custards, cream cakes, cheese, baked custard tarts and dips</a:t>
            </a:r>
          </a:p>
          <a:p>
            <a:pPr lvl="0">
              <a:buFont typeface="Arial" pitchFamily="34" charset="0"/>
              <a:buChar char="•"/>
            </a:pPr>
            <a:r>
              <a:rPr lang="en-AU" sz="1200" kern="1200" dirty="0" smtClean="0">
                <a:solidFill>
                  <a:schemeClr val="tx1"/>
                </a:solidFill>
                <a:latin typeface="+mn-lt"/>
                <a:ea typeface="+mn-ea"/>
                <a:cs typeface="+mn-cs"/>
              </a:rPr>
              <a:t> Egg products – quiche, fresh pasta, duck and game bird eggs, all eggs, mayonnaise (whole egg) </a:t>
            </a:r>
          </a:p>
          <a:p>
            <a:pPr lvl="0">
              <a:buFont typeface="Arial" pitchFamily="34" charset="0"/>
              <a:buChar char="•"/>
            </a:pPr>
            <a:r>
              <a:rPr lang="en-AU" sz="1200" kern="1200" dirty="0" smtClean="0">
                <a:solidFill>
                  <a:schemeClr val="tx1"/>
                </a:solidFill>
                <a:latin typeface="+mn-lt"/>
                <a:ea typeface="+mn-ea"/>
                <a:cs typeface="+mn-cs"/>
              </a:rPr>
              <a:t> Meat and poultry – all cuts and types. Includes beef, ham, veal, pork, chicken, turkey – includes legs, mince, steaks, chops, cutlets, breast, wings</a:t>
            </a:r>
          </a:p>
          <a:p>
            <a:pPr>
              <a:buFont typeface="Arial" pitchFamily="34" charset="0"/>
              <a:buNone/>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11842086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present to trainees examples of high risk foods:</a:t>
            </a:r>
          </a:p>
          <a:p>
            <a:pPr lvl="0">
              <a:buFont typeface="Arial" pitchFamily="34" charset="0"/>
              <a:buChar char="•"/>
            </a:pPr>
            <a:r>
              <a:rPr lang="en-AU" sz="1200" kern="1200" dirty="0" smtClean="0">
                <a:solidFill>
                  <a:schemeClr val="tx1"/>
                </a:solidFill>
                <a:latin typeface="+mn-lt"/>
                <a:ea typeface="+mn-ea"/>
                <a:cs typeface="+mn-cs"/>
              </a:rPr>
              <a:t> Smallgoods products – ham, pressed chicken, but note most salami is </a:t>
            </a:r>
            <a:r>
              <a:rPr lang="en-AU" sz="1200" b="1" kern="1200" dirty="0" smtClean="0">
                <a:solidFill>
                  <a:schemeClr val="tx1"/>
                </a:solidFill>
                <a:latin typeface="+mn-lt"/>
                <a:ea typeface="+mn-ea"/>
                <a:cs typeface="+mn-cs"/>
              </a:rPr>
              <a:t>not</a:t>
            </a:r>
            <a:r>
              <a:rPr lang="en-AU" sz="1200" kern="1200" dirty="0" smtClean="0">
                <a:solidFill>
                  <a:schemeClr val="tx1"/>
                </a:solidFill>
                <a:latin typeface="+mn-lt"/>
                <a:ea typeface="+mn-ea"/>
                <a:cs typeface="+mn-cs"/>
              </a:rPr>
              <a:t> a high risk food due to its high salt and low moisture content</a:t>
            </a:r>
          </a:p>
          <a:p>
            <a:pPr lvl="0">
              <a:buFont typeface="Arial" pitchFamily="34" charset="0"/>
              <a:buChar char="•"/>
            </a:pPr>
            <a:r>
              <a:rPr lang="en-AU" sz="1200" kern="1200" dirty="0" smtClean="0">
                <a:solidFill>
                  <a:schemeClr val="tx1"/>
                </a:solidFill>
                <a:latin typeface="+mn-lt"/>
                <a:ea typeface="+mn-ea"/>
                <a:cs typeface="+mn-cs"/>
              </a:rPr>
              <a:t> Processed meat products including chicken – paté, meat pies, sausages, sausage rolls, coagulated blood (in, for example, black pudding), rissoles, meat balls</a:t>
            </a:r>
          </a:p>
          <a:p>
            <a:pPr lvl="0">
              <a:buFont typeface="Arial" pitchFamily="34" charset="0"/>
              <a:buChar char="•"/>
            </a:pPr>
            <a:r>
              <a:rPr lang="en-AU" sz="1200" kern="1200" dirty="0" smtClean="0">
                <a:solidFill>
                  <a:schemeClr val="tx1"/>
                </a:solidFill>
                <a:latin typeface="+mn-lt"/>
                <a:ea typeface="+mn-ea"/>
                <a:cs typeface="+mn-cs"/>
              </a:rPr>
              <a:t> Fish, shellfish, fish products, fish soups and fish stocks – caviar, fish balls, patties, salads, sauces and stews </a:t>
            </a:r>
          </a:p>
          <a:p>
            <a:pPr lvl="0">
              <a:buFont typeface="Arial" pitchFamily="34" charset="0"/>
              <a:buChar char="•"/>
            </a:pPr>
            <a:r>
              <a:rPr lang="en-AU" sz="1200" kern="1200" dirty="0" smtClean="0">
                <a:solidFill>
                  <a:schemeClr val="tx1"/>
                </a:solidFill>
                <a:latin typeface="+mn-lt"/>
                <a:ea typeface="+mn-ea"/>
                <a:cs typeface="+mn-cs"/>
              </a:rPr>
              <a:t> Other prepared food dishes containing high risk food products – pizza, prepared meals, pre-made sandwiches and rolls, salads and cooked rice and cooked pasta.</a:t>
            </a:r>
          </a:p>
          <a:p>
            <a:pPr>
              <a:buFont typeface="Arial" pitchFamily="34" charset="0"/>
              <a:buNone/>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14768300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 to trainees the importance of the Temperature Danger Zone to food safety stating:</a:t>
            </a:r>
          </a:p>
          <a:p>
            <a:pPr>
              <a:buFont typeface="Arial" pitchFamily="34" charset="0"/>
              <a:buChar char="•"/>
            </a:pPr>
            <a:r>
              <a:rPr lang="en-AU" sz="1200" kern="1200" dirty="0" smtClean="0">
                <a:solidFill>
                  <a:schemeClr val="tx1"/>
                </a:solidFill>
                <a:latin typeface="+mn-lt"/>
                <a:ea typeface="+mn-ea"/>
                <a:cs typeface="+mn-cs"/>
              </a:rPr>
              <a:t> The Temperature Danger Zone is the temperature range in which bacteria multiply most rapidly</a:t>
            </a:r>
          </a:p>
          <a:p>
            <a:pPr>
              <a:buFont typeface="Arial" pitchFamily="34" charset="0"/>
              <a:buChar char="•"/>
            </a:pPr>
            <a:r>
              <a:rPr lang="en-AU" sz="1200" kern="1200" dirty="0" smtClean="0">
                <a:solidFill>
                  <a:schemeClr val="tx1"/>
                </a:solidFill>
                <a:latin typeface="+mn-lt"/>
                <a:ea typeface="+mn-ea"/>
                <a:cs typeface="+mn-cs"/>
              </a:rPr>
              <a:t> The range is 5°C to 60°C</a:t>
            </a:r>
          </a:p>
          <a:p>
            <a:pPr>
              <a:buFont typeface="Arial" pitchFamily="34" charset="0"/>
              <a:buChar char="•"/>
            </a:pPr>
            <a:r>
              <a:rPr lang="en-AU" sz="1200" kern="1200" dirty="0" smtClean="0">
                <a:solidFill>
                  <a:schemeClr val="tx1"/>
                </a:solidFill>
                <a:latin typeface="+mn-lt"/>
                <a:ea typeface="+mn-ea"/>
                <a:cs typeface="+mn-cs"/>
              </a:rPr>
              <a:t> Every effort must be made to keep potentially hazardous food out of this temperature range.</a:t>
            </a:r>
          </a:p>
          <a:p>
            <a:pPr>
              <a:buFont typeface="Arial" pitchFamily="34" charset="0"/>
              <a:buChar char="•"/>
            </a:pPr>
            <a:r>
              <a:rPr lang="en-AU" sz="1200" kern="1200" dirty="0" smtClean="0">
                <a:solidFill>
                  <a:schemeClr val="tx1"/>
                </a:solidFill>
                <a:latin typeface="+mn-lt"/>
                <a:ea typeface="+mn-ea"/>
                <a:cs typeface="+mn-cs"/>
              </a:rPr>
              <a:t> Where food must to be in this range (such as when it is being prepared), the amount of time the food spends in this zone must be minimised.</a:t>
            </a:r>
          </a:p>
          <a:p>
            <a:pPr>
              <a:buFont typeface="Arial" pitchFamily="34" charset="0"/>
              <a:buChar char="•"/>
            </a:pPr>
            <a:r>
              <a:rPr lang="en-AU" sz="1200" kern="1200" dirty="0" smtClean="0">
                <a:solidFill>
                  <a:schemeClr val="tx1"/>
                </a:solidFill>
                <a:latin typeface="+mn-lt"/>
                <a:ea typeface="+mn-ea"/>
                <a:cs typeface="+mn-cs"/>
              </a:rPr>
              <a:t> It is important to note all time food spends in the Temperature Danger Zone is cumulative. For example, if a piece of meat is left out on the bench for one hour, refrigerated and then brought back out into the kitchen, the time it then spends in the Temperature Danger Zone is added to the previous time – the clock (and the bacteria count) does not get reset to zero when the food was put in the fridge again.</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24473409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introduces trainees to the 2/4 Rule stating </a:t>
            </a:r>
            <a:r>
              <a:rPr lang="en-AU" sz="1200" kern="1200" dirty="0" smtClean="0">
                <a:solidFill>
                  <a:schemeClr val="tx1"/>
                </a:solidFill>
                <a:latin typeface="+mn-lt"/>
                <a:ea typeface="+mn-ea"/>
                <a:cs typeface="+mn-cs"/>
              </a:rPr>
              <a:t>awareness of the 2/4 rule is critical in applying safe food handling procedures, explaining the 2/4 rule states:</a:t>
            </a:r>
          </a:p>
          <a:p>
            <a:pPr lvl="0">
              <a:buFont typeface="Arial" pitchFamily="34" charset="0"/>
              <a:buChar char="•"/>
            </a:pPr>
            <a:r>
              <a:rPr lang="en-AU" sz="1200" kern="1200" dirty="0" smtClean="0">
                <a:solidFill>
                  <a:schemeClr val="tx1"/>
                </a:solidFill>
                <a:latin typeface="+mn-lt"/>
                <a:ea typeface="+mn-ea"/>
                <a:cs typeface="+mn-cs"/>
              </a:rPr>
              <a:t> Potentially hazardous foods that have been in the Temperature Danger Zone for 4 hours (or more) must be discarded/thrown out </a:t>
            </a:r>
          </a:p>
          <a:p>
            <a:pPr lvl="0">
              <a:buFont typeface="Arial" pitchFamily="34" charset="0"/>
              <a:buChar char="•"/>
            </a:pPr>
            <a:r>
              <a:rPr lang="en-AU" sz="1200" kern="1200" dirty="0" smtClean="0">
                <a:solidFill>
                  <a:schemeClr val="tx1"/>
                </a:solidFill>
                <a:latin typeface="+mn-lt"/>
                <a:ea typeface="+mn-ea"/>
                <a:cs typeface="+mn-cs"/>
              </a:rPr>
              <a:t> Potentially hazardous foods that have been in the Temperature Danger Zone for 2 hours can be refrigerated and then returned to the Temperature Danger Zone for another 2 hours, maximum</a:t>
            </a:r>
          </a:p>
          <a:p>
            <a:pPr lvl="0">
              <a:buFont typeface="Arial" pitchFamily="34" charset="0"/>
              <a:buChar char="•"/>
            </a:pPr>
            <a:r>
              <a:rPr lang="en-AU" sz="1200" kern="1200" dirty="0" smtClean="0">
                <a:solidFill>
                  <a:schemeClr val="tx1"/>
                </a:solidFill>
                <a:latin typeface="+mn-lt"/>
                <a:ea typeface="+mn-ea"/>
                <a:cs typeface="+mn-cs"/>
              </a:rPr>
              <a:t> When high risk food has been in the Temperature Danger Zone for 2 hours it must be cooked or eaten within the next 2 hours or thrown out.</a:t>
            </a:r>
          </a:p>
          <a:p>
            <a:pPr>
              <a:buFont typeface="Arial" pitchFamily="34" charset="0"/>
              <a:buChar char="•"/>
            </a:pPr>
            <a:r>
              <a:rPr lang="en-AU" sz="1200" kern="1200" dirty="0" smtClean="0">
                <a:solidFill>
                  <a:schemeClr val="tx1"/>
                </a:solidFill>
                <a:latin typeface="+mn-lt"/>
                <a:ea typeface="+mn-ea"/>
                <a:cs typeface="+mn-cs"/>
              </a:rPr>
              <a:t> There are no exceptions to this rule. </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7680612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tells trainees all </a:t>
            </a:r>
            <a:r>
              <a:rPr lang="en-AU" sz="1200" kern="1200" dirty="0" smtClean="0">
                <a:solidFill>
                  <a:schemeClr val="tx1"/>
                </a:solidFill>
                <a:latin typeface="+mn-lt"/>
                <a:ea typeface="+mn-ea"/>
                <a:cs typeface="+mn-cs"/>
              </a:rPr>
              <a:t>food premises should have at least one independent, calibrated food thermometer available to check the temperature of food (on delivery, during processing, while on display), and food equipment (such as fridges, coolrooms, freezers, bain-maries, food warmers). Trainer advises ‘calibration’ refers to testing the thermometer to prove it is giving accurate readings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Trainer advises a probe thermometer is best (not an infra-red</a:t>
            </a:r>
            <a:r>
              <a:rPr lang="en-AU" sz="1200" kern="1200" baseline="0" dirty="0" smtClean="0">
                <a:solidFill>
                  <a:schemeClr val="tx1"/>
                </a:solidFill>
                <a:latin typeface="+mn-lt"/>
                <a:ea typeface="+mn-ea"/>
                <a:cs typeface="+mn-cs"/>
              </a:rPr>
              <a:t> one as they provide only surface temperature readings, as opposed to internal readings), stating the </a:t>
            </a:r>
            <a:r>
              <a:rPr lang="en-AU" sz="1200" kern="1200" dirty="0" smtClean="0">
                <a:solidFill>
                  <a:schemeClr val="tx1"/>
                </a:solidFill>
                <a:latin typeface="+mn-lt"/>
                <a:ea typeface="+mn-ea"/>
                <a:cs typeface="+mn-cs"/>
              </a:rPr>
              <a:t>thermometer must be:</a:t>
            </a:r>
          </a:p>
          <a:p>
            <a:pPr lvl="0">
              <a:buFont typeface="Arial" pitchFamily="34" charset="0"/>
              <a:buChar char="•"/>
            </a:pPr>
            <a:r>
              <a:rPr lang="en-AU" sz="1200" kern="1200" dirty="0" smtClean="0">
                <a:solidFill>
                  <a:schemeClr val="tx1"/>
                </a:solidFill>
                <a:latin typeface="+mn-lt"/>
                <a:ea typeface="+mn-ea"/>
                <a:cs typeface="+mn-cs"/>
              </a:rPr>
              <a:t> Readily available for food handling staff to use as required – it should not be locked away in an office where it cannot be easily accessed</a:t>
            </a:r>
          </a:p>
          <a:p>
            <a:pPr lvl="0">
              <a:buFont typeface="Arial" pitchFamily="34" charset="0"/>
              <a:buChar char="•"/>
            </a:pPr>
            <a:r>
              <a:rPr lang="en-AU" sz="1200" kern="1200" dirty="0" smtClean="0">
                <a:solidFill>
                  <a:schemeClr val="tx1"/>
                </a:solidFill>
                <a:latin typeface="+mn-lt"/>
                <a:ea typeface="+mn-ea"/>
                <a:cs typeface="+mn-cs"/>
              </a:rPr>
              <a:t> Checked/calibrated very six months (minimum) to ensure it is giving an accurate reading. Instructions on how to do a hot and cold calibration to check the accuracy of the thermometer are sometimes included in the instructions accompanying the thermometer</a:t>
            </a:r>
          </a:p>
          <a:p>
            <a:pPr lvl="0">
              <a:buFont typeface="Arial" pitchFamily="34" charset="0"/>
              <a:buChar char="•"/>
            </a:pPr>
            <a:r>
              <a:rPr lang="en-AU" sz="1200" kern="1200" dirty="0" smtClean="0">
                <a:solidFill>
                  <a:schemeClr val="tx1"/>
                </a:solidFill>
                <a:latin typeface="+mn-lt"/>
                <a:ea typeface="+mn-ea"/>
                <a:cs typeface="+mn-cs"/>
              </a:rPr>
              <a:t> Thermometers must be accurate to plus or minus 1°C or they must be repaired or replaced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26382308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presenting to trainees requirements regarding probe food thermometers advising they must be:</a:t>
            </a:r>
          </a:p>
          <a:p>
            <a:pPr lvl="0">
              <a:buFont typeface="Arial" pitchFamily="34" charset="0"/>
              <a:buChar char="•"/>
            </a:pPr>
            <a:r>
              <a:rPr lang="en-AU" sz="1200" kern="1200" dirty="0" smtClean="0">
                <a:solidFill>
                  <a:schemeClr val="tx1"/>
                </a:solidFill>
                <a:latin typeface="+mn-lt"/>
                <a:ea typeface="+mn-ea"/>
                <a:cs typeface="+mn-cs"/>
              </a:rPr>
              <a:t> Cleaned and sanitised between uses when it is being used to check the temperature of food – the use of a sanitising wipe to clean and sanitise the probe is common</a:t>
            </a:r>
          </a:p>
          <a:p>
            <a:pPr lvl="0">
              <a:buFont typeface="Arial" pitchFamily="34" charset="0"/>
              <a:buChar char="•"/>
            </a:pPr>
            <a:r>
              <a:rPr lang="en-AU" sz="1200" kern="1200" dirty="0" smtClean="0">
                <a:solidFill>
                  <a:schemeClr val="tx1"/>
                </a:solidFill>
                <a:latin typeface="+mn-lt"/>
                <a:ea typeface="+mn-ea"/>
                <a:cs typeface="+mn-cs"/>
              </a:rPr>
              <a:t> Allowed to reach room temperature when being alternated between use on hot and cold food or </a:t>
            </a:r>
            <a:r>
              <a:rPr lang="en-AU" sz="1200" i="1" kern="1200" dirty="0" smtClean="0">
                <a:solidFill>
                  <a:schemeClr val="tx1"/>
                </a:solidFill>
                <a:latin typeface="+mn-lt"/>
                <a:ea typeface="+mn-ea"/>
                <a:cs typeface="+mn-cs"/>
              </a:rPr>
              <a:t>vice versa</a:t>
            </a:r>
            <a:r>
              <a:rPr lang="en-AU" sz="1200" kern="1200" dirty="0" smtClean="0">
                <a:solidFill>
                  <a:schemeClr val="tx1"/>
                </a:solidFill>
                <a:latin typeface="+mn-lt"/>
                <a:ea typeface="+mn-ea"/>
                <a:cs typeface="+mn-cs"/>
              </a:rPr>
              <a:t> – to allow the thermometer to reach ambient temperature before being used</a:t>
            </a:r>
          </a:p>
          <a:p>
            <a:pPr lvl="0">
              <a:buFont typeface="Arial" pitchFamily="34" charset="0"/>
              <a:buChar char="•"/>
            </a:pPr>
            <a:r>
              <a:rPr lang="en-AU" sz="1200" kern="1200" dirty="0" smtClean="0">
                <a:solidFill>
                  <a:schemeClr val="tx1"/>
                </a:solidFill>
                <a:latin typeface="+mn-lt"/>
                <a:ea typeface="+mn-ea"/>
                <a:cs typeface="+mn-cs"/>
              </a:rPr>
              <a:t> Treated with care – do not knock, drop or damage it: if it is knocked, dropped or damaged, it should be immediately checked for accuracy.</a:t>
            </a:r>
          </a:p>
          <a:p>
            <a:pPr>
              <a:buFont typeface="Arial" pitchFamily="34" charset="0"/>
              <a:buNone/>
            </a:pPr>
            <a:endParaRPr lang="en-US" dirty="0" smtClean="0"/>
          </a:p>
          <a:p>
            <a:pPr>
              <a:buFont typeface="Arial" pitchFamily="34" charset="0"/>
              <a:buNone/>
            </a:pPr>
            <a:r>
              <a:rPr lang="en-US" b="1" dirty="0" smtClean="0"/>
              <a:t>Class Activity – Demonstration</a:t>
            </a:r>
          </a:p>
          <a:p>
            <a:pPr>
              <a:buFont typeface="Arial" pitchFamily="34" charset="0"/>
              <a:buNone/>
            </a:pPr>
            <a:r>
              <a:rPr lang="en-US" b="0" dirty="0" smtClean="0"/>
              <a:t>Trainer shows a probe thermometer to trainees and shows them how to:</a:t>
            </a:r>
          </a:p>
          <a:p>
            <a:pPr>
              <a:buFont typeface="Arial" pitchFamily="34" charset="0"/>
              <a:buChar char="•"/>
            </a:pPr>
            <a:r>
              <a:rPr lang="en-US" b="0" dirty="0" smtClean="0"/>
              <a:t> Use the thermometer to take the temperature of food and food equipment (refrigerators, bain maries)</a:t>
            </a:r>
          </a:p>
          <a:p>
            <a:pPr>
              <a:buFont typeface="Arial" pitchFamily="34" charset="0"/>
              <a:buChar char="•"/>
            </a:pPr>
            <a:r>
              <a:rPr lang="en-US" b="0" dirty="0" smtClean="0"/>
              <a:t> Clean &amp; sanitise the probe with a sanitising wipe</a:t>
            </a:r>
          </a:p>
          <a:p>
            <a:pPr>
              <a:buFont typeface="Arial" pitchFamily="34" charset="0"/>
              <a:buChar char="•"/>
            </a:pPr>
            <a:r>
              <a:rPr lang="en-US" b="0" dirty="0" smtClean="0"/>
              <a:t> Undertake a hot and cold calibration of the thermometer to verify its accuracy.</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10653199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trainees with requirements for food handlers working in a bar area advising ‘beverages’ are regarded as food, and the following practices apply when</a:t>
            </a:r>
            <a:r>
              <a:rPr lang="en-US" baseline="0" dirty="0" smtClean="0"/>
              <a:t> working in a bar environment with ‘food’ and ‘drinks’</a:t>
            </a:r>
            <a:r>
              <a:rPr lang="en-US" dirty="0" smtClean="0"/>
              <a:t>:</a:t>
            </a:r>
          </a:p>
          <a:p>
            <a:pPr lvl="0">
              <a:buFont typeface="Arial" pitchFamily="34" charset="0"/>
              <a:buChar char="•"/>
            </a:pPr>
            <a:r>
              <a:rPr lang="en-AU" sz="1200" kern="1200" dirty="0" smtClean="0">
                <a:solidFill>
                  <a:schemeClr val="tx1"/>
                </a:solidFill>
                <a:latin typeface="+mn-lt"/>
                <a:ea typeface="+mn-ea"/>
                <a:cs typeface="+mn-cs"/>
              </a:rPr>
              <a:t> Use a fork or tongs when putting fruit or ice in a glass – do not use fingers</a:t>
            </a:r>
          </a:p>
          <a:p>
            <a:pPr lvl="0">
              <a:buFont typeface="Arial" pitchFamily="34" charset="0"/>
              <a:buChar char="•"/>
            </a:pPr>
            <a:r>
              <a:rPr lang="en-AU" sz="1200" kern="1200" dirty="0" smtClean="0">
                <a:solidFill>
                  <a:schemeClr val="tx1"/>
                </a:solidFill>
                <a:latin typeface="+mn-lt"/>
                <a:ea typeface="+mn-ea"/>
                <a:cs typeface="+mn-cs"/>
              </a:rPr>
              <a:t> Do not re-use any fruit, straws, beverage, food, garnish left by a customer, or which comes back from the tables – all plate waste must be thrown out</a:t>
            </a:r>
          </a:p>
          <a:p>
            <a:pPr lvl="0">
              <a:buFont typeface="Arial" pitchFamily="34" charset="0"/>
              <a:buChar char="•"/>
            </a:pPr>
            <a:r>
              <a:rPr lang="en-AU" sz="1200" kern="1200" dirty="0" smtClean="0">
                <a:solidFill>
                  <a:schemeClr val="tx1"/>
                </a:solidFill>
                <a:latin typeface="+mn-lt"/>
                <a:ea typeface="+mn-ea"/>
                <a:cs typeface="+mn-cs"/>
              </a:rPr>
              <a:t> Ensure drinking straws are correctly stored – they must be stored so they are kept free from flies, dust and contamination. They must be able to be obtained one at a time without other straws being touched meaning it is not acceptable to store straws in a glass or other container on the bar</a:t>
            </a:r>
          </a:p>
          <a:p>
            <a:pPr>
              <a:buFont typeface="Arial" pitchFamily="34" charset="0"/>
              <a:buNone/>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34570543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continues to present food handling requirements for bar staff:</a:t>
            </a:r>
          </a:p>
          <a:p>
            <a:pPr lvl="0">
              <a:buFont typeface="Arial" pitchFamily="34" charset="0"/>
              <a:buChar char="•"/>
            </a:pPr>
            <a:r>
              <a:rPr lang="en-AU" sz="1200" kern="1200" dirty="0" smtClean="0">
                <a:solidFill>
                  <a:schemeClr val="tx1"/>
                </a:solidFill>
                <a:latin typeface="+mn-lt"/>
                <a:ea typeface="+mn-ea"/>
                <a:cs typeface="+mn-cs"/>
              </a:rPr>
              <a:t> Check glass washing machine has detergent, and is operating at the prescribed temperature which is 70°C</a:t>
            </a:r>
          </a:p>
          <a:p>
            <a:pPr lvl="0">
              <a:buFont typeface="Arial" pitchFamily="34" charset="0"/>
              <a:buChar char="•"/>
            </a:pPr>
            <a:r>
              <a:rPr lang="en-AU" sz="1200" kern="1200" dirty="0" smtClean="0">
                <a:solidFill>
                  <a:schemeClr val="tx1"/>
                </a:solidFill>
                <a:latin typeface="+mn-lt"/>
                <a:ea typeface="+mn-ea"/>
                <a:cs typeface="+mn-cs"/>
              </a:rPr>
              <a:t> Put de-naturing agent in drip trays (drip trays are trays which are placed under beer drawing taps to catch the drips/overflow from glasses) – there must be sufficient de-naturing agent to actually de-nature the waste beer and stop the premises pouring this waste beer back into the beer keg or otherwise re-using it.</a:t>
            </a:r>
          </a:p>
          <a:p>
            <a:pPr lvl="0">
              <a:buFont typeface="Arial" pitchFamily="34" charset="0"/>
              <a:buChar char="•"/>
            </a:pPr>
            <a:r>
              <a:rPr lang="en-AU" sz="1200" kern="1200" dirty="0" smtClean="0">
                <a:solidFill>
                  <a:schemeClr val="tx1"/>
                </a:solidFill>
                <a:latin typeface="+mn-lt"/>
                <a:ea typeface="+mn-ea"/>
                <a:cs typeface="+mn-cs"/>
              </a:rPr>
              <a:t> No smoking or spitting behind the bar </a:t>
            </a:r>
          </a:p>
          <a:p>
            <a:pPr lvl="0">
              <a:buFont typeface="Arial" pitchFamily="34" charset="0"/>
              <a:buChar char="•"/>
            </a:pPr>
            <a:r>
              <a:rPr lang="en-AU" sz="1200" kern="1200" dirty="0" smtClean="0">
                <a:solidFill>
                  <a:schemeClr val="tx1"/>
                </a:solidFill>
                <a:latin typeface="+mn-lt"/>
                <a:ea typeface="+mn-ea"/>
                <a:cs typeface="+mn-cs"/>
              </a:rPr>
              <a:t> Wash hands at all times that kitchen-based food handlers are required to wash their hands – see later slides for full details on effective hand washing for food handlers (examples include: before starting work; whenever they become contaminated’ after using the toilet;</a:t>
            </a:r>
            <a:r>
              <a:rPr lang="en-AU" sz="1200" kern="1200" baseline="0" dirty="0" smtClean="0">
                <a:solidFill>
                  <a:schemeClr val="tx1"/>
                </a:solidFill>
                <a:latin typeface="+mn-lt"/>
                <a:ea typeface="+mn-ea"/>
                <a:cs typeface="+mn-cs"/>
              </a:rPr>
              <a:t> after handling a handkerchief or nasal tissue; after handling chemicals and or waste)</a:t>
            </a:r>
            <a:endParaRPr lang="en-AU" sz="1200" kern="120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15920995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a:t>
            </a:r>
            <a:r>
              <a:rPr lang="en-US" baseline="0" dirty="0" smtClean="0"/>
              <a:t> continues to present food handling requirements for bar staff:</a:t>
            </a:r>
          </a:p>
          <a:p>
            <a:pPr lvl="0">
              <a:buFont typeface="Arial" pitchFamily="34" charset="0"/>
              <a:buChar char="•"/>
            </a:pPr>
            <a:r>
              <a:rPr lang="en-AU" sz="1200" kern="1200" dirty="0" smtClean="0">
                <a:solidFill>
                  <a:schemeClr val="tx1"/>
                </a:solidFill>
                <a:latin typeface="+mn-lt"/>
                <a:ea typeface="+mn-ea"/>
                <a:cs typeface="+mn-cs"/>
              </a:rPr>
              <a:t> Ensure clean clothes, hands and fingernails whenever working in a bar – the same standards apply to bar staff as to kitchen workers and other food handlers</a:t>
            </a:r>
          </a:p>
          <a:p>
            <a:pPr lvl="0">
              <a:buFont typeface="Arial" pitchFamily="34" charset="0"/>
              <a:buChar char="•"/>
            </a:pPr>
            <a:r>
              <a:rPr lang="en-AU" sz="1200" kern="1200" dirty="0" smtClean="0">
                <a:solidFill>
                  <a:schemeClr val="tx1"/>
                </a:solidFill>
                <a:latin typeface="+mn-lt"/>
                <a:ea typeface="+mn-ea"/>
                <a:cs typeface="+mn-cs"/>
              </a:rPr>
              <a:t> Stay away from work if ill or suffering from an infected cut. Notify doctor of status as a food handler so they can ensure fitness to return to work, free from disease, after an illness. Many employers require food handlers to provide a medical clearance</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certificate after an absence from work due to illness declaring their fitness for work on return</a:t>
            </a:r>
          </a:p>
          <a:p>
            <a:pPr lvl="0">
              <a:buFont typeface="Arial" pitchFamily="34" charset="0"/>
              <a:buChar char="•"/>
            </a:pPr>
            <a:r>
              <a:rPr lang="en-AU" sz="1200" kern="1200" dirty="0" smtClean="0">
                <a:solidFill>
                  <a:schemeClr val="tx1"/>
                </a:solidFill>
                <a:latin typeface="+mn-lt"/>
                <a:ea typeface="+mn-ea"/>
                <a:cs typeface="+mn-cs"/>
              </a:rPr>
              <a:t> Ensure all glassware and utensils are clean – plates and glasses must also be free of chips and cracks: chips and cracks can harbour food poisoning bacteria.</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163224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stresses to trainees </a:t>
            </a:r>
            <a:r>
              <a:rPr lang="en-AU" sz="1200" kern="1200" dirty="0" smtClean="0">
                <a:solidFill>
                  <a:schemeClr val="tx1"/>
                </a:solidFill>
                <a:latin typeface="+mn-lt"/>
                <a:ea typeface="+mn-ea"/>
                <a:cs typeface="+mn-cs"/>
              </a:rPr>
              <a:t>it is vital all workplace hygiene procedures are complied with at all times, without exception, presenting ‘personal hygiene’ as one important aspect with the following requirements:</a:t>
            </a:r>
          </a:p>
          <a:p>
            <a:pPr lvl="0">
              <a:buFont typeface="Arial" pitchFamily="34" charset="0"/>
              <a:buChar char="•"/>
            </a:pPr>
            <a:r>
              <a:rPr lang="en-AU" sz="1200" kern="1200" dirty="0" smtClean="0">
                <a:solidFill>
                  <a:schemeClr val="tx1"/>
                </a:solidFill>
                <a:latin typeface="+mn-lt"/>
                <a:ea typeface="+mn-ea"/>
                <a:cs typeface="+mn-cs"/>
              </a:rPr>
              <a:t> Avoid touching food with the bare hands – use tongs, a spatula, fork, serving spoon or gloves when touching food especially food that will not be further cooked or processed </a:t>
            </a:r>
          </a:p>
          <a:p>
            <a:pPr lvl="0">
              <a:buFont typeface="Arial" pitchFamily="34" charset="0"/>
              <a:buChar char="•"/>
            </a:pPr>
            <a:r>
              <a:rPr lang="en-AU" sz="1200" kern="1200" dirty="0" smtClean="0">
                <a:solidFill>
                  <a:schemeClr val="tx1"/>
                </a:solidFill>
                <a:latin typeface="+mn-lt"/>
                <a:ea typeface="+mn-ea"/>
                <a:cs typeface="+mn-cs"/>
              </a:rPr>
              <a:t> Avoid touching food surfaces with the bare hands – this means avoiding touching preparation benches, preparation equipment and the food contact surfaces of serving items such as plates, bowls and cups with the bare hands</a:t>
            </a:r>
          </a:p>
          <a:p>
            <a:pPr lvl="0">
              <a:buFont typeface="Arial" pitchFamily="34" charset="0"/>
              <a:buChar char="•"/>
            </a:pPr>
            <a:r>
              <a:rPr lang="en-AU" sz="1200" kern="1200" dirty="0" smtClean="0">
                <a:solidFill>
                  <a:schemeClr val="tx1"/>
                </a:solidFill>
                <a:latin typeface="+mn-lt"/>
                <a:ea typeface="+mn-ea"/>
                <a:cs typeface="+mn-cs"/>
              </a:rPr>
              <a:t> No jewellery to be worn on hands and wrists – food can lodge in the jewellery, deteriorate and then fall back into food. There is also a chance stones or gems may fall out from rings and jewellery into the food providing a physical contaminant.  If a ring must be worn, cover it using a coloured band-aid and disposable glove</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21358614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presenting personal hygiene requirements for food handlers reminding them they must realise their health and actions have a major impact on food safety:</a:t>
            </a:r>
          </a:p>
          <a:p>
            <a:pPr lvl="0">
              <a:buFont typeface="Arial" pitchFamily="34" charset="0"/>
              <a:buChar char="•"/>
            </a:pPr>
            <a:r>
              <a:rPr lang="en-AU" sz="1200" kern="1200" dirty="0" smtClean="0">
                <a:solidFill>
                  <a:schemeClr val="tx1"/>
                </a:solidFill>
                <a:latin typeface="+mn-lt"/>
                <a:ea typeface="+mn-ea"/>
                <a:cs typeface="+mn-cs"/>
              </a:rPr>
              <a:t> Facial hair must be kept neat and controlled – hair should either be covered or sprayed to keep it controlled in such a way that hairs do not fall into food. Long hair must be tied back, and beards should also be covered. In kitchens and food areas, hair nets or hats should be worn </a:t>
            </a:r>
          </a:p>
          <a:p>
            <a:pPr lvl="0">
              <a:buFont typeface="Arial" pitchFamily="34" charset="0"/>
              <a:buChar char="•"/>
            </a:pPr>
            <a:r>
              <a:rPr lang="en-AU" sz="1200" kern="1200" dirty="0" smtClean="0">
                <a:solidFill>
                  <a:schemeClr val="tx1"/>
                </a:solidFill>
                <a:latin typeface="+mn-lt"/>
                <a:ea typeface="+mn-ea"/>
                <a:cs typeface="+mn-cs"/>
              </a:rPr>
              <a:t> Fingernails must be short, clean and free of polish (including clear nail polish) –cracked fingernails and chipped nail polish can harbour bacteria and may also flake off into food. Fingernail decorations and artificial nails are also prohibited</a:t>
            </a:r>
          </a:p>
          <a:p>
            <a:pPr lvl="0">
              <a:buFont typeface="Arial" pitchFamily="34" charset="0"/>
              <a:buChar char="•"/>
            </a:pPr>
            <a:r>
              <a:rPr lang="en-AU" sz="1200" kern="1200" dirty="0" smtClean="0">
                <a:solidFill>
                  <a:schemeClr val="tx1"/>
                </a:solidFill>
                <a:latin typeface="+mn-lt"/>
                <a:ea typeface="+mn-ea"/>
                <a:cs typeface="+mn-cs"/>
              </a:rPr>
              <a:t> Clothing must be clean – a minimum requirement is for clean clothes for each shift with further changes as spillages and 'working dirt' dictate. </a:t>
            </a:r>
          </a:p>
          <a:p>
            <a:pPr lvl="0">
              <a:buFont typeface="Arial" pitchFamily="34" charset="0"/>
              <a:buChar char="•"/>
            </a:pPr>
            <a:r>
              <a:rPr lang="en-AU" sz="1200" kern="1200" dirty="0" smtClean="0">
                <a:solidFill>
                  <a:schemeClr val="tx1"/>
                </a:solidFill>
                <a:latin typeface="+mn-lt"/>
                <a:ea typeface="+mn-ea"/>
                <a:cs typeface="+mn-cs"/>
              </a:rPr>
              <a:t> Do not wear ‘food handling’ clothes to and from work – they can come into contact with dirt</a:t>
            </a:r>
            <a:r>
              <a:rPr lang="en-AU" sz="1200" kern="1200" baseline="0" dirty="0" smtClean="0">
                <a:solidFill>
                  <a:schemeClr val="tx1"/>
                </a:solidFill>
                <a:latin typeface="+mn-lt"/>
                <a:ea typeface="+mn-ea"/>
                <a:cs typeface="+mn-cs"/>
              </a:rPr>
              <a:t> and </a:t>
            </a:r>
            <a:r>
              <a:rPr lang="en-AU" sz="1200" kern="1200" dirty="0" smtClean="0">
                <a:solidFill>
                  <a:schemeClr val="tx1"/>
                </a:solidFill>
                <a:latin typeface="+mn-lt"/>
                <a:ea typeface="+mn-ea"/>
                <a:cs typeface="+mn-cs"/>
              </a:rPr>
              <a:t>bacteria which may then be transferred to the work area and or food.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38062098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presenting personal hygiene requirements for food handlers urging them to take personal hygiene seriously:</a:t>
            </a:r>
          </a:p>
          <a:p>
            <a:pPr lvl="0">
              <a:buFont typeface="Arial" pitchFamily="34" charset="0"/>
              <a:buChar char="•"/>
            </a:pPr>
            <a:r>
              <a:rPr lang="en-AU" sz="1200" kern="1200" dirty="0" smtClean="0">
                <a:solidFill>
                  <a:schemeClr val="tx1"/>
                </a:solidFill>
                <a:latin typeface="+mn-lt"/>
                <a:ea typeface="+mn-ea"/>
                <a:cs typeface="+mn-cs"/>
              </a:rPr>
              <a:t> Cuts and sores must always be covered – a coloured, water-proof dressing must be applied and a finger stall also used where necessary. A disposable glove can also be worn where the cut or sore is on the hands</a:t>
            </a:r>
          </a:p>
          <a:p>
            <a:pPr lvl="0">
              <a:buFont typeface="Arial" pitchFamily="34" charset="0"/>
              <a:buChar char="•"/>
            </a:pPr>
            <a:r>
              <a:rPr lang="en-AU" sz="1200" kern="1200" dirty="0" smtClean="0">
                <a:solidFill>
                  <a:schemeClr val="tx1"/>
                </a:solidFill>
                <a:latin typeface="+mn-lt"/>
                <a:ea typeface="+mn-ea"/>
                <a:cs typeface="+mn-cs"/>
              </a:rPr>
              <a:t> Food handlers in the acute state of a common cold must not handle uncovered food – but they may, for example, work where food is in sealed containers, such as in a bottle shop or a retail shop where all food sold is in tins or sealed packets.</a:t>
            </a:r>
          </a:p>
          <a:p>
            <a:pPr lvl="0">
              <a:buFont typeface="Arial" pitchFamily="34" charset="0"/>
              <a:buChar char="•"/>
            </a:pPr>
            <a:r>
              <a:rPr lang="en-AU" sz="1200" kern="1200" dirty="0" smtClean="0">
                <a:solidFill>
                  <a:schemeClr val="tx1"/>
                </a:solidFill>
                <a:latin typeface="+mn-lt"/>
                <a:ea typeface="+mn-ea"/>
                <a:cs typeface="+mn-cs"/>
              </a:rPr>
              <a:t> Food handlers with any communicable disease must not deal with food until they receive a certificate from a doctor stating as a food handler they are cleared to work with food – see later notes for more detail.</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34626011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tells trainees the use of protective, disposable gloves in food handling is an excellent safe food handling practice but gloves do not fix all food hygiene problems, advising when wearing disposable gloves:</a:t>
            </a:r>
          </a:p>
          <a:p>
            <a:pPr lvl="0">
              <a:buFont typeface="Arial" pitchFamily="34" charset="0"/>
              <a:buChar char="•"/>
            </a:pPr>
            <a:r>
              <a:rPr lang="en-AU" sz="1200" kern="1200" dirty="0" smtClean="0">
                <a:solidFill>
                  <a:schemeClr val="tx1"/>
                </a:solidFill>
                <a:latin typeface="+mn-lt"/>
                <a:ea typeface="+mn-ea"/>
                <a:cs typeface="+mn-cs"/>
              </a:rPr>
              <a:t> Change gloves immediately they are ripped</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torn – do not continue working while wearing torn gloves</a:t>
            </a:r>
          </a:p>
          <a:p>
            <a:pPr lvl="0">
              <a:buFont typeface="Arial" pitchFamily="34" charset="0"/>
              <a:buChar char="•"/>
            </a:pPr>
            <a:r>
              <a:rPr lang="en-AU" sz="1200" kern="1200" dirty="0" smtClean="0">
                <a:solidFill>
                  <a:schemeClr val="tx1"/>
                </a:solidFill>
                <a:latin typeface="+mn-lt"/>
                <a:ea typeface="+mn-ea"/>
                <a:cs typeface="+mn-cs"/>
              </a:rPr>
              <a:t> Change gloves between handling raw and cooked, ready-to-eat foods – to avoid cross contamination (such as the transfer of bacteria from raw food to cooked, ready-to-eat foods)</a:t>
            </a:r>
          </a:p>
          <a:p>
            <a:pPr lvl="0">
              <a:buFont typeface="Arial" pitchFamily="34" charset="0"/>
              <a:buChar char="•"/>
            </a:pPr>
            <a:r>
              <a:rPr lang="en-AU" sz="1200" kern="1200" dirty="0" smtClean="0">
                <a:solidFill>
                  <a:schemeClr val="tx1"/>
                </a:solidFill>
                <a:latin typeface="+mn-lt"/>
                <a:ea typeface="+mn-ea"/>
                <a:cs typeface="+mn-cs"/>
              </a:rPr>
              <a:t> Change gloves every hour regardless – the same pair of gloves cannot be worn for longer than this, or worn for an entire shift</a:t>
            </a:r>
          </a:p>
          <a:p>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1491756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present trainees with requirements relating to the use of disposable gloves:</a:t>
            </a:r>
          </a:p>
          <a:p>
            <a:pPr lvl="0">
              <a:buFont typeface="Arial" pitchFamily="34" charset="0"/>
              <a:buChar char="•"/>
            </a:pPr>
            <a:r>
              <a:rPr lang="en-AU" sz="1200" kern="1200" dirty="0" smtClean="0">
                <a:solidFill>
                  <a:schemeClr val="tx1"/>
                </a:solidFill>
                <a:latin typeface="+mn-lt"/>
                <a:ea typeface="+mn-ea"/>
                <a:cs typeface="+mn-cs"/>
              </a:rPr>
              <a:t> If handling money do not use the same gloved hand to handle food – take one glove off, handle the money with that hand (without the glove on), and then put on a new clean glove before returning to food handling duties</a:t>
            </a:r>
          </a:p>
          <a:p>
            <a:pPr lvl="0">
              <a:buFont typeface="Arial" pitchFamily="34" charset="0"/>
              <a:buChar char="•"/>
            </a:pPr>
            <a:r>
              <a:rPr lang="en-AU" sz="1200" kern="1200" dirty="0" smtClean="0">
                <a:solidFill>
                  <a:schemeClr val="tx1"/>
                </a:solidFill>
                <a:latin typeface="+mn-lt"/>
                <a:ea typeface="+mn-ea"/>
                <a:cs typeface="+mn-cs"/>
              </a:rPr>
              <a:t> If changing gloves during service, ensure they are not taken off over food or food surfaces – if the gloves contain powder, this may fall out onto food or food preparation surfaces and provide a source of contamination</a:t>
            </a:r>
          </a:p>
          <a:p>
            <a:pPr lvl="0">
              <a:buFont typeface="Arial" pitchFamily="34" charset="0"/>
              <a:buChar char="•"/>
            </a:pPr>
            <a:r>
              <a:rPr lang="en-AU" sz="1200" kern="1200" dirty="0" smtClean="0">
                <a:solidFill>
                  <a:schemeClr val="tx1"/>
                </a:solidFill>
                <a:latin typeface="+mn-lt"/>
                <a:ea typeface="+mn-ea"/>
                <a:cs typeface="+mn-cs"/>
              </a:rPr>
              <a:t> Do not try to put on gloves that have already been used – disposable gloves must be disposed of out as soon as they are taken off</a:t>
            </a:r>
          </a:p>
          <a:p>
            <a:pPr lvl="0">
              <a:buFont typeface="Arial" pitchFamily="34" charset="0"/>
              <a:buChar char="•"/>
            </a:pPr>
            <a:r>
              <a:rPr lang="en-AU" sz="1200" kern="1200" dirty="0" smtClean="0">
                <a:solidFill>
                  <a:schemeClr val="tx1"/>
                </a:solidFill>
                <a:latin typeface="+mn-lt"/>
                <a:ea typeface="+mn-ea"/>
                <a:cs typeface="+mn-cs"/>
              </a:rPr>
              <a:t> Do not turn gloves inside out and try to wear them again – see above</a:t>
            </a:r>
          </a:p>
          <a:p>
            <a:pPr lvl="0">
              <a:buFont typeface="Arial" pitchFamily="34" charset="0"/>
              <a:buChar char="•"/>
            </a:pPr>
            <a:r>
              <a:rPr lang="en-AU" sz="1200" kern="1200" dirty="0" smtClean="0">
                <a:solidFill>
                  <a:schemeClr val="tx1"/>
                </a:solidFill>
                <a:latin typeface="+mn-lt"/>
                <a:ea typeface="+mn-ea"/>
                <a:cs typeface="+mn-cs"/>
              </a:rPr>
              <a:t> Change gloves whenever they become contaminated from whatever source – raw food, blood, sneezing, chemicals, scratching the face, handling rubbish: whenever there is a need to wash hands, change gloves.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9071099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explains to trainees clothing worn by food handlers has the potential to pose a food risk, so they must:</a:t>
            </a:r>
          </a:p>
          <a:p>
            <a:pPr lvl="0">
              <a:buFont typeface="Arial" pitchFamily="34" charset="0"/>
              <a:buChar char="•"/>
            </a:pPr>
            <a:r>
              <a:rPr lang="en-AU" sz="1200" kern="1200" dirty="0" smtClean="0">
                <a:solidFill>
                  <a:schemeClr val="tx1"/>
                </a:solidFill>
                <a:latin typeface="+mn-lt"/>
                <a:ea typeface="+mn-ea"/>
                <a:cs typeface="+mn-cs"/>
              </a:rPr>
              <a:t> Ensure anything from their body or anything they wear does not contaminate food or food surfaces highlighting practical measures in this regard include:</a:t>
            </a:r>
          </a:p>
          <a:p>
            <a:pPr lvl="1">
              <a:buFont typeface="Arial" pitchFamily="34" charset="0"/>
              <a:buChar char="•"/>
            </a:pPr>
            <a:r>
              <a:rPr lang="en-AU" sz="1200" kern="1200" dirty="0" smtClean="0">
                <a:solidFill>
                  <a:schemeClr val="tx1"/>
                </a:solidFill>
                <a:latin typeface="+mn-lt"/>
                <a:ea typeface="+mn-ea"/>
                <a:cs typeface="+mn-cs"/>
              </a:rPr>
              <a:t> Avoid loose-fitting clothes – sleeves can hang</a:t>
            </a:r>
            <a:r>
              <a:rPr lang="en-AU" sz="1200" kern="1200" baseline="0" dirty="0" smtClean="0">
                <a:solidFill>
                  <a:schemeClr val="tx1"/>
                </a:solidFill>
                <a:latin typeface="+mn-lt"/>
                <a:ea typeface="+mn-ea"/>
                <a:cs typeface="+mn-cs"/>
              </a:rPr>
              <a:t> down into food</a:t>
            </a:r>
            <a:endParaRPr lang="en-AU" sz="1200" kern="1200" dirty="0" smtClean="0">
              <a:solidFill>
                <a:schemeClr val="tx1"/>
              </a:solidFill>
              <a:latin typeface="+mn-lt"/>
              <a:ea typeface="+mn-ea"/>
              <a:cs typeface="+mn-cs"/>
            </a:endParaRPr>
          </a:p>
          <a:p>
            <a:pPr lvl="1">
              <a:buFont typeface="Arial" pitchFamily="34" charset="0"/>
              <a:buChar char="•"/>
            </a:pPr>
            <a:r>
              <a:rPr lang="en-AU" sz="1200" kern="1200" dirty="0" smtClean="0">
                <a:solidFill>
                  <a:schemeClr val="tx1"/>
                </a:solidFill>
                <a:latin typeface="+mn-lt"/>
                <a:ea typeface="+mn-ea"/>
                <a:cs typeface="+mn-cs"/>
              </a:rPr>
              <a:t> Do not cough or sneeze over food – or food surfaces, equipment, utensils</a:t>
            </a:r>
          </a:p>
          <a:p>
            <a:pPr lvl="1">
              <a:buFont typeface="Arial" pitchFamily="34" charset="0"/>
              <a:buChar char="•"/>
            </a:pPr>
            <a:r>
              <a:rPr lang="en-AU" sz="1200" kern="1200" dirty="0" smtClean="0">
                <a:solidFill>
                  <a:schemeClr val="tx1"/>
                </a:solidFill>
                <a:latin typeface="+mn-lt"/>
                <a:ea typeface="+mn-ea"/>
                <a:cs typeface="+mn-cs"/>
              </a:rPr>
              <a:t> Avoid items of facial jewellery that hang down – they are likely to fall into food</a:t>
            </a:r>
          </a:p>
          <a:p>
            <a:pPr lvl="1">
              <a:buFont typeface="Arial" pitchFamily="34" charset="0"/>
              <a:buChar char="•"/>
            </a:pPr>
            <a:r>
              <a:rPr lang="en-AU" sz="1200" kern="1200" dirty="0" smtClean="0">
                <a:solidFill>
                  <a:schemeClr val="tx1"/>
                </a:solidFill>
                <a:latin typeface="+mn-lt"/>
                <a:ea typeface="+mn-ea"/>
                <a:cs typeface="+mn-cs"/>
              </a:rPr>
              <a:t> Avoid wearing rings when working with food – especially avoid (or appropriately cover) rings with stones in them</a:t>
            </a:r>
          </a:p>
          <a:p>
            <a:pPr lvl="1">
              <a:buFont typeface="Arial" pitchFamily="34" charset="0"/>
              <a:buChar char="•"/>
            </a:pPr>
            <a:r>
              <a:rPr lang="en-AU" sz="1200" kern="1200" dirty="0" smtClean="0">
                <a:solidFill>
                  <a:schemeClr val="tx1"/>
                </a:solidFill>
                <a:latin typeface="+mn-lt"/>
                <a:ea typeface="+mn-ea"/>
                <a:cs typeface="+mn-cs"/>
              </a:rPr>
              <a:t> Do not wear food handling clothes to and from work</a:t>
            </a:r>
          </a:p>
          <a:p>
            <a:pPr lvl="1">
              <a:buFont typeface="Arial" pitchFamily="34" charset="0"/>
              <a:buChar char="•"/>
            </a:pPr>
            <a:r>
              <a:rPr lang="en-AU" sz="1200" kern="1200" dirty="0" smtClean="0">
                <a:solidFill>
                  <a:schemeClr val="tx1"/>
                </a:solidFill>
                <a:latin typeface="+mn-lt"/>
                <a:ea typeface="+mn-ea"/>
                <a:cs typeface="+mn-cs"/>
              </a:rPr>
              <a:t> Remove protective clothing (aprons) when using the toilet – to guard against cross contamination.</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39011145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US" dirty="0" smtClean="0"/>
              <a:t>Trainer advises trainees they must </a:t>
            </a:r>
            <a:r>
              <a:rPr lang="en-AU" sz="1200" kern="1200" dirty="0" smtClean="0">
                <a:solidFill>
                  <a:schemeClr val="tx1"/>
                </a:solidFill>
                <a:latin typeface="+mn-lt"/>
                <a:ea typeface="+mn-ea"/>
                <a:cs typeface="+mn-cs"/>
              </a:rPr>
              <a:t>take appropriate measures to minimise contact with ready-to-eat food explaining practical measures in this regard include:</a:t>
            </a:r>
          </a:p>
          <a:p>
            <a:pPr lvl="0">
              <a:buFont typeface="Arial" pitchFamily="34" charset="0"/>
              <a:buChar char="•"/>
            </a:pPr>
            <a:r>
              <a:rPr lang="en-AU" sz="1200" kern="1200" dirty="0" smtClean="0">
                <a:solidFill>
                  <a:schemeClr val="tx1"/>
                </a:solidFill>
                <a:latin typeface="+mn-lt"/>
                <a:ea typeface="+mn-ea"/>
                <a:cs typeface="+mn-cs"/>
              </a:rPr>
              <a:t> Not handling cooked, and or ready-to-eat food with the bare hands – use tongs</a:t>
            </a:r>
          </a:p>
          <a:p>
            <a:pPr lvl="0">
              <a:buFont typeface="Arial" pitchFamily="34" charset="0"/>
              <a:buChar char="•"/>
            </a:pPr>
            <a:r>
              <a:rPr lang="en-AU" sz="1200" kern="1200" dirty="0" smtClean="0">
                <a:solidFill>
                  <a:schemeClr val="tx1"/>
                </a:solidFill>
                <a:latin typeface="+mn-lt"/>
                <a:ea typeface="+mn-ea"/>
                <a:cs typeface="+mn-cs"/>
              </a:rPr>
              <a:t> Handling glasses and cups by their base – and not by the rim</a:t>
            </a:r>
          </a:p>
          <a:p>
            <a:pPr lvl="0">
              <a:buFont typeface="Arial" pitchFamily="34" charset="0"/>
              <a:buChar char="•"/>
            </a:pPr>
            <a:r>
              <a:rPr lang="en-AU" sz="1200" kern="1200" dirty="0" smtClean="0">
                <a:solidFill>
                  <a:schemeClr val="tx1"/>
                </a:solidFill>
                <a:latin typeface="+mn-lt"/>
                <a:ea typeface="+mn-ea"/>
                <a:cs typeface="+mn-cs"/>
              </a:rPr>
              <a:t> Handling cutlery by the handles – not by the part customers put in their mouth</a:t>
            </a:r>
          </a:p>
          <a:p>
            <a:pPr lvl="0">
              <a:buFont typeface="Arial" pitchFamily="34" charset="0"/>
              <a:buChar char="•"/>
            </a:pPr>
            <a:r>
              <a:rPr lang="en-AU" sz="1200" kern="1200" dirty="0" smtClean="0">
                <a:solidFill>
                  <a:schemeClr val="tx1"/>
                </a:solidFill>
                <a:latin typeface="+mn-lt"/>
                <a:ea typeface="+mn-ea"/>
                <a:cs typeface="+mn-cs"/>
              </a:rPr>
              <a:t> Avoiding unnecessary skin contact with food contact surfaces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22271010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to identify practices to minimise personal contact with food:</a:t>
            </a:r>
          </a:p>
          <a:p>
            <a:pPr lvl="0">
              <a:buFont typeface="Arial" pitchFamily="34" charset="0"/>
              <a:buChar char="•"/>
            </a:pPr>
            <a:r>
              <a:rPr lang="en-AU" sz="1200" kern="1200" dirty="0" smtClean="0">
                <a:solidFill>
                  <a:schemeClr val="tx1"/>
                </a:solidFill>
                <a:latin typeface="+mn-lt"/>
                <a:ea typeface="+mn-ea"/>
                <a:cs typeface="+mn-cs"/>
              </a:rPr>
              <a:t> Keep hair tied back – wearing hats or beard nets helps ensure hair does not fall into food</a:t>
            </a:r>
          </a:p>
          <a:p>
            <a:pPr lvl="0">
              <a:buFont typeface="Arial" pitchFamily="34" charset="0"/>
              <a:buChar char="•"/>
            </a:pPr>
            <a:r>
              <a:rPr lang="en-AU" sz="1200" kern="1200" dirty="0" smtClean="0">
                <a:solidFill>
                  <a:schemeClr val="tx1"/>
                </a:solidFill>
                <a:latin typeface="+mn-lt"/>
                <a:ea typeface="+mn-ea"/>
                <a:cs typeface="+mn-cs"/>
              </a:rPr>
              <a:t> Avoid touching hair while working with food – as this can transfer bacteria</a:t>
            </a:r>
          </a:p>
          <a:p>
            <a:pPr lvl="0">
              <a:buFont typeface="Arial" pitchFamily="34" charset="0"/>
              <a:buChar char="•"/>
            </a:pPr>
            <a:r>
              <a:rPr lang="en-AU" sz="1200" kern="1200" dirty="0" smtClean="0">
                <a:solidFill>
                  <a:schemeClr val="tx1"/>
                </a:solidFill>
                <a:latin typeface="+mn-lt"/>
                <a:ea typeface="+mn-ea"/>
                <a:cs typeface="+mn-cs"/>
              </a:rPr>
              <a:t> Keep fingernails short – to avoid physical contamination from the nail (and to make them easier to clean)</a:t>
            </a:r>
          </a:p>
          <a:p>
            <a:pPr lvl="0">
              <a:buFont typeface="Arial" pitchFamily="34" charset="0"/>
              <a:buChar char="•"/>
            </a:pPr>
            <a:r>
              <a:rPr lang="en-AU" sz="1200" kern="1200" dirty="0" smtClean="0">
                <a:solidFill>
                  <a:schemeClr val="tx1"/>
                </a:solidFill>
                <a:latin typeface="+mn-lt"/>
                <a:ea typeface="+mn-ea"/>
                <a:cs typeface="+mn-cs"/>
              </a:rPr>
              <a:t> Wear disposable gloves when handling food – and changing them regularly as required </a:t>
            </a:r>
          </a:p>
          <a:p>
            <a:pPr lvl="0">
              <a:buFont typeface="Arial" pitchFamily="34" charset="0"/>
              <a:buChar char="•"/>
            </a:pPr>
            <a:r>
              <a:rPr lang="en-AU" sz="1200" kern="1200" dirty="0" smtClean="0">
                <a:solidFill>
                  <a:schemeClr val="tx1"/>
                </a:solidFill>
                <a:latin typeface="+mn-lt"/>
                <a:ea typeface="+mn-ea"/>
                <a:cs typeface="+mn-cs"/>
              </a:rPr>
              <a:t> Avoid nail polish, fingernail decorations and artificial fingernails.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289468132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kern="1200" dirty="0" smtClean="0">
                <a:solidFill>
                  <a:schemeClr val="tx1"/>
                </a:solidFill>
                <a:latin typeface="+mn-lt"/>
                <a:ea typeface="+mn-ea"/>
                <a:cs typeface="+mn-cs"/>
              </a:rPr>
              <a:t>Trainer indicates to trainees they must wear clean clothing when handling food stating practical measures in this regard include:</a:t>
            </a:r>
          </a:p>
          <a:p>
            <a:pPr lvl="0">
              <a:buFont typeface="Arial" pitchFamily="34" charset="0"/>
              <a:buChar char="•"/>
            </a:pPr>
            <a:r>
              <a:rPr lang="en-AU" sz="1200" kern="1200" dirty="0" smtClean="0">
                <a:solidFill>
                  <a:schemeClr val="tx1"/>
                </a:solidFill>
                <a:latin typeface="+mn-lt"/>
                <a:ea typeface="+mn-ea"/>
                <a:cs typeface="+mn-cs"/>
              </a:rPr>
              <a:t> Wear clean clothes – to work daily</a:t>
            </a:r>
          </a:p>
          <a:p>
            <a:pPr lvl="0">
              <a:buFont typeface="Arial" pitchFamily="34" charset="0"/>
              <a:buChar char="•"/>
            </a:pPr>
            <a:r>
              <a:rPr lang="en-AU" sz="1200" kern="1200" dirty="0" smtClean="0">
                <a:solidFill>
                  <a:schemeClr val="tx1"/>
                </a:solidFill>
                <a:latin typeface="+mn-lt"/>
                <a:ea typeface="+mn-ea"/>
                <a:cs typeface="+mn-cs"/>
              </a:rPr>
              <a:t> Have a change of clothes available at work – to change into if one set of clothes becomes dirty or contaminated</a:t>
            </a:r>
          </a:p>
          <a:p>
            <a:pPr lvl="0">
              <a:buFont typeface="Arial" pitchFamily="34" charset="0"/>
              <a:buChar char="•"/>
            </a:pPr>
            <a:r>
              <a:rPr lang="en-AU" sz="1200" kern="1200" dirty="0" smtClean="0">
                <a:solidFill>
                  <a:schemeClr val="tx1"/>
                </a:solidFill>
                <a:latin typeface="+mn-lt"/>
                <a:ea typeface="+mn-ea"/>
                <a:cs typeface="+mn-cs"/>
              </a:rPr>
              <a:t> Wear protective clothing – such as aprons.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63213860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kern="1200" dirty="0" smtClean="0">
                <a:solidFill>
                  <a:schemeClr val="tx1"/>
                </a:solidFill>
                <a:latin typeface="+mn-lt"/>
                <a:ea typeface="+mn-ea"/>
                <a:cs typeface="+mn-cs"/>
              </a:rPr>
              <a:t>Trainer states to trainees they must use</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waterproof bandages and dressing on exposed parts of the body where there are cuts or sores when handling food stressing practical measures in this regard include:</a:t>
            </a:r>
          </a:p>
          <a:p>
            <a:pPr lvl="0">
              <a:buFont typeface="Arial" pitchFamily="34" charset="0"/>
              <a:buChar char="•"/>
            </a:pPr>
            <a:r>
              <a:rPr lang="en-AU" sz="1200" kern="1200" dirty="0" smtClean="0">
                <a:solidFill>
                  <a:schemeClr val="tx1"/>
                </a:solidFill>
                <a:latin typeface="+mn-lt"/>
                <a:ea typeface="+mn-ea"/>
                <a:cs typeface="+mn-cs"/>
              </a:rPr>
              <a:t> Wear only </a:t>
            </a:r>
            <a:r>
              <a:rPr lang="en-AU" sz="1200" i="1" kern="1200" dirty="0" smtClean="0">
                <a:solidFill>
                  <a:schemeClr val="tx1"/>
                </a:solidFill>
                <a:latin typeface="+mn-lt"/>
                <a:ea typeface="+mn-ea"/>
                <a:cs typeface="+mn-cs"/>
              </a:rPr>
              <a:t>coloured</a:t>
            </a:r>
            <a:r>
              <a:rPr lang="en-AU" sz="1200" kern="1200" dirty="0" smtClean="0">
                <a:solidFill>
                  <a:schemeClr val="tx1"/>
                </a:solidFill>
                <a:latin typeface="+mn-lt"/>
                <a:ea typeface="+mn-ea"/>
                <a:cs typeface="+mn-cs"/>
              </a:rPr>
              <a:t> band-aids when handling food – they are easier to identify if they fall into food</a:t>
            </a:r>
          </a:p>
          <a:p>
            <a:pPr lvl="0">
              <a:buFont typeface="Arial" pitchFamily="34" charset="0"/>
              <a:buChar char="•"/>
            </a:pPr>
            <a:r>
              <a:rPr lang="en-AU" sz="1200" kern="1200" dirty="0" smtClean="0">
                <a:solidFill>
                  <a:schemeClr val="tx1"/>
                </a:solidFill>
                <a:latin typeface="+mn-lt"/>
                <a:ea typeface="+mn-ea"/>
                <a:cs typeface="+mn-cs"/>
              </a:rPr>
              <a:t> Wear a finger stall over a bandage or dressing on a finger – to give extra protection and security</a:t>
            </a:r>
          </a:p>
          <a:p>
            <a:pPr lvl="0">
              <a:buFont typeface="Arial" pitchFamily="34" charset="0"/>
              <a:buChar char="•"/>
            </a:pPr>
            <a:r>
              <a:rPr lang="en-AU" sz="1200" kern="1200" dirty="0" smtClean="0">
                <a:solidFill>
                  <a:schemeClr val="tx1"/>
                </a:solidFill>
                <a:latin typeface="+mn-lt"/>
                <a:ea typeface="+mn-ea"/>
                <a:cs typeface="+mn-cs"/>
              </a:rPr>
              <a:t> Wear a disposable glove over a bandaid, dressing or bandage that is on the hand.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30116213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informs trainees they are obliged to be constantly alert to the possibility of unsafe food handling practices occurring in the workplace so they can report them in order that appropriate corrective action can be taken indicating the three main ways to identify problems in relation to food safety are:</a:t>
            </a:r>
          </a:p>
          <a:p>
            <a:pPr lvl="0">
              <a:buFont typeface="Arial" pitchFamily="34" charset="0"/>
              <a:buChar char="•"/>
            </a:pPr>
            <a:r>
              <a:rPr lang="en-AU" sz="1200" kern="1200" dirty="0" smtClean="0">
                <a:solidFill>
                  <a:schemeClr val="tx1"/>
                </a:solidFill>
                <a:latin typeface="+mn-lt"/>
                <a:ea typeface="+mn-ea"/>
                <a:cs typeface="+mn-cs"/>
              </a:rPr>
              <a:t> Personal observation of conditions and staff practice</a:t>
            </a:r>
          </a:p>
          <a:p>
            <a:pPr lvl="0">
              <a:buFont typeface="Arial" pitchFamily="34" charset="0"/>
              <a:buChar char="•"/>
            </a:pPr>
            <a:r>
              <a:rPr lang="en-AU" sz="1200" kern="1200" dirty="0" smtClean="0">
                <a:solidFill>
                  <a:schemeClr val="tx1"/>
                </a:solidFill>
                <a:latin typeface="+mn-lt"/>
                <a:ea typeface="+mn-ea"/>
                <a:cs typeface="+mn-cs"/>
              </a:rPr>
              <a:t> Inspection of raw materials, premises, equipment and final products</a:t>
            </a:r>
          </a:p>
          <a:p>
            <a:pPr lvl="0">
              <a:buFont typeface="Arial" pitchFamily="34" charset="0"/>
              <a:buChar char="•"/>
            </a:pPr>
            <a:r>
              <a:rPr lang="en-AU" sz="1200" kern="1200" dirty="0" smtClean="0">
                <a:solidFill>
                  <a:schemeClr val="tx1"/>
                </a:solidFill>
                <a:latin typeface="+mn-lt"/>
                <a:ea typeface="+mn-ea"/>
                <a:cs typeface="+mn-cs"/>
              </a:rPr>
              <a:t> Review of food safety records – to identify out-of-control situations.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21205773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advises trainees when unsafe food handling practices</a:t>
            </a:r>
            <a:r>
              <a:rPr lang="en-AU" sz="1200" kern="1200" baseline="0" dirty="0" smtClean="0">
                <a:solidFill>
                  <a:schemeClr val="tx1"/>
                </a:solidFill>
                <a:latin typeface="+mn-lt"/>
                <a:ea typeface="+mn-ea"/>
                <a:cs typeface="+mn-cs"/>
              </a:rPr>
              <a:t> are identified in the workplace they must be reported highlighting s</a:t>
            </a:r>
            <a:r>
              <a:rPr lang="en-AU" sz="1200" kern="1200" dirty="0" smtClean="0">
                <a:solidFill>
                  <a:schemeClr val="tx1"/>
                </a:solidFill>
                <a:latin typeface="+mn-lt"/>
                <a:ea typeface="+mn-ea"/>
                <a:cs typeface="+mn-cs"/>
              </a:rPr>
              <a:t>peed is important in responding to and reporting inconsistencies and ‘out of control’ situations so the recommended methods of reporting are:</a:t>
            </a:r>
          </a:p>
          <a:p>
            <a:pPr lvl="0">
              <a:buFont typeface="Arial" pitchFamily="34" charset="0"/>
              <a:buChar char="•"/>
            </a:pPr>
            <a:r>
              <a:rPr lang="en-AU" sz="1200" kern="1200" dirty="0" smtClean="0">
                <a:solidFill>
                  <a:schemeClr val="tx1"/>
                </a:solidFill>
                <a:latin typeface="+mn-lt"/>
                <a:ea typeface="+mn-ea"/>
                <a:cs typeface="+mn-cs"/>
              </a:rPr>
              <a:t> Face-to-face</a:t>
            </a:r>
          </a:p>
          <a:p>
            <a:pPr lvl="0">
              <a:buFont typeface="Arial" pitchFamily="34" charset="0"/>
              <a:buChar char="•"/>
            </a:pPr>
            <a:r>
              <a:rPr lang="en-AU" sz="1200" kern="1200" dirty="0" smtClean="0">
                <a:solidFill>
                  <a:schemeClr val="tx1"/>
                </a:solidFill>
                <a:latin typeface="+mn-lt"/>
                <a:ea typeface="+mn-ea"/>
                <a:cs typeface="+mn-cs"/>
              </a:rPr>
              <a:t> Verbally, over the phone.</a:t>
            </a:r>
          </a:p>
          <a:p>
            <a:pPr lvl="0">
              <a:buFont typeface="Arial" pitchFamily="34" charset="0"/>
              <a:buNone/>
            </a:pPr>
            <a:r>
              <a:rPr lang="en-AU" sz="1200" kern="1200" dirty="0" smtClean="0">
                <a:solidFill>
                  <a:schemeClr val="tx1"/>
                </a:solidFill>
                <a:latin typeface="+mn-lt"/>
                <a:ea typeface="+mn-ea"/>
                <a:cs typeface="+mn-cs"/>
              </a:rPr>
              <a:t>Both of these methods allows the person being reported to,</a:t>
            </a:r>
            <a:r>
              <a:rPr lang="en-AU" sz="1200" kern="1200" baseline="0" dirty="0" smtClean="0">
                <a:solidFill>
                  <a:schemeClr val="tx1"/>
                </a:solidFill>
                <a:latin typeface="+mn-lt"/>
                <a:ea typeface="+mn-ea"/>
                <a:cs typeface="+mn-cs"/>
              </a:rPr>
              <a:t> to ask questions and fully understand the situation</a:t>
            </a: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187425448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recommends to trainees reports about unsafe food handling practices should be made to:</a:t>
            </a:r>
          </a:p>
          <a:p>
            <a:pPr lvl="0">
              <a:buFont typeface="Arial" pitchFamily="34" charset="0"/>
              <a:buChar char="•"/>
            </a:pPr>
            <a:r>
              <a:rPr lang="en-AU" sz="1200" kern="1200" dirty="0" smtClean="0">
                <a:solidFill>
                  <a:schemeClr val="tx1"/>
                </a:solidFill>
                <a:latin typeface="+mn-lt"/>
                <a:ea typeface="+mn-ea"/>
                <a:cs typeface="+mn-cs"/>
              </a:rPr>
              <a:t> Management – senior management; the owner; a food safety supervisor (where available)</a:t>
            </a:r>
          </a:p>
          <a:p>
            <a:pPr lvl="0">
              <a:buFont typeface="Arial" pitchFamily="34" charset="0"/>
              <a:buChar char="•"/>
            </a:pPr>
            <a:r>
              <a:rPr lang="en-AU" sz="1200" kern="1200" dirty="0" smtClean="0">
                <a:solidFill>
                  <a:schemeClr val="tx1"/>
                </a:solidFill>
                <a:latin typeface="+mn-lt"/>
                <a:ea typeface="+mn-ea"/>
                <a:cs typeface="+mn-cs"/>
              </a:rPr>
              <a:t> Relevant staff – who are involved in the problem, or will be involved in fixing the problem</a:t>
            </a:r>
          </a:p>
          <a:p>
            <a:pPr lvl="0">
              <a:buFont typeface="Arial" pitchFamily="34" charset="0"/>
              <a:buChar char="•"/>
            </a:pPr>
            <a:r>
              <a:rPr lang="en-AU" sz="1200" kern="1200" dirty="0" smtClean="0">
                <a:solidFill>
                  <a:schemeClr val="tx1"/>
                </a:solidFill>
                <a:latin typeface="+mn-lt"/>
                <a:ea typeface="+mn-ea"/>
                <a:cs typeface="+mn-cs"/>
              </a:rPr>
              <a:t> Customers – </a:t>
            </a:r>
            <a:r>
              <a:rPr lang="en-AU" sz="1200" b="1" kern="1200" dirty="0" smtClean="0">
                <a:solidFill>
                  <a:schemeClr val="tx1"/>
                </a:solidFill>
                <a:latin typeface="+mn-lt"/>
                <a:ea typeface="+mn-ea"/>
                <a:cs typeface="+mn-cs"/>
              </a:rPr>
              <a:t>only </a:t>
            </a:r>
            <a:r>
              <a:rPr lang="en-AU" sz="1200" kern="1200" dirty="0" smtClean="0">
                <a:solidFill>
                  <a:schemeClr val="tx1"/>
                </a:solidFill>
                <a:latin typeface="+mn-lt"/>
                <a:ea typeface="+mn-ea"/>
                <a:cs typeface="+mn-cs"/>
              </a:rPr>
              <a:t>where a recall of food has been decided as being necessary</a:t>
            </a:r>
          </a:p>
          <a:p>
            <a:pPr lvl="0">
              <a:buFont typeface="Arial" pitchFamily="34" charset="0"/>
              <a:buChar char="•"/>
            </a:pPr>
            <a:r>
              <a:rPr lang="en-AU" sz="1200" kern="1200" dirty="0" smtClean="0">
                <a:solidFill>
                  <a:schemeClr val="tx1"/>
                </a:solidFill>
                <a:latin typeface="+mn-lt"/>
                <a:ea typeface="+mn-ea"/>
                <a:cs typeface="+mn-cs"/>
              </a:rPr>
              <a:t> Local health authorities – </a:t>
            </a:r>
            <a:r>
              <a:rPr lang="en-AU" sz="1200" b="1" kern="1200" dirty="0" smtClean="0">
                <a:solidFill>
                  <a:schemeClr val="tx1"/>
                </a:solidFill>
                <a:latin typeface="+mn-lt"/>
                <a:ea typeface="+mn-ea"/>
                <a:cs typeface="+mn-cs"/>
              </a:rPr>
              <a:t>only </a:t>
            </a:r>
            <a:r>
              <a:rPr lang="en-AU" sz="1200" kern="1200" dirty="0" smtClean="0">
                <a:solidFill>
                  <a:schemeClr val="tx1"/>
                </a:solidFill>
                <a:latin typeface="+mn-lt"/>
                <a:ea typeface="+mn-ea"/>
                <a:cs typeface="+mn-cs"/>
              </a:rPr>
              <a:t>where a food recall has been implemented.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201861089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suggests to trainees when</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reports about unsafe food handling practices are made, consideration should be given to covering the following:</a:t>
            </a:r>
          </a:p>
          <a:p>
            <a:pPr lvl="0">
              <a:buFont typeface="Arial" pitchFamily="34" charset="0"/>
              <a:buChar char="•"/>
            </a:pPr>
            <a:r>
              <a:rPr lang="en-AU" sz="1200" kern="1200" dirty="0" smtClean="0">
                <a:solidFill>
                  <a:schemeClr val="tx1"/>
                </a:solidFill>
                <a:latin typeface="+mn-lt"/>
                <a:ea typeface="+mn-ea"/>
                <a:cs typeface="+mn-cs"/>
              </a:rPr>
              <a:t> Identifying the food involved – by type, location, amount, stage of processing it had reached</a:t>
            </a:r>
          </a:p>
          <a:p>
            <a:pPr lvl="0">
              <a:buFont typeface="Arial" pitchFamily="34" charset="0"/>
              <a:buChar char="•"/>
            </a:pPr>
            <a:r>
              <a:rPr lang="en-AU" sz="1200" kern="1200" dirty="0" smtClean="0">
                <a:solidFill>
                  <a:schemeClr val="tx1"/>
                </a:solidFill>
                <a:latin typeface="+mn-lt"/>
                <a:ea typeface="+mn-ea"/>
                <a:cs typeface="+mn-cs"/>
              </a:rPr>
              <a:t> Naming the people involved – staff and customers (where appropriate)</a:t>
            </a:r>
          </a:p>
          <a:p>
            <a:pPr lvl="0">
              <a:buFont typeface="Arial" pitchFamily="34" charset="0"/>
              <a:buChar char="•"/>
            </a:pPr>
            <a:r>
              <a:rPr lang="en-AU" sz="1200" kern="1200" dirty="0" smtClean="0">
                <a:solidFill>
                  <a:schemeClr val="tx1"/>
                </a:solidFill>
                <a:latin typeface="+mn-lt"/>
                <a:ea typeface="+mn-ea"/>
                <a:cs typeface="+mn-cs"/>
              </a:rPr>
              <a:t> Reporting any action already taken – to limit the potential negative impacts.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p14="http://schemas.microsoft.com/office/powerpoint/2010/main" val="391922706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advise trainees of information to convey when reporting an unsafe</a:t>
            </a:r>
            <a:r>
              <a:rPr lang="en-US" baseline="0" dirty="0" smtClean="0"/>
              <a:t> food handling practice in the workplace:</a:t>
            </a:r>
          </a:p>
          <a:p>
            <a:pPr lvl="0">
              <a:buFont typeface="Arial" pitchFamily="34" charset="0"/>
              <a:buChar char="•"/>
            </a:pPr>
            <a:r>
              <a:rPr lang="en-AU" sz="1200" kern="1200" dirty="0" smtClean="0">
                <a:solidFill>
                  <a:schemeClr val="tx1"/>
                </a:solidFill>
                <a:latin typeface="+mn-lt"/>
                <a:ea typeface="+mn-ea"/>
                <a:cs typeface="+mn-cs"/>
              </a:rPr>
              <a:t> Recommending action for limiting the future potential negative impacts – in relation to the impact of the unsafe practice that has been identified</a:t>
            </a:r>
          </a:p>
          <a:p>
            <a:pPr lvl="0">
              <a:buFont typeface="Arial" pitchFamily="34" charset="0"/>
              <a:buChar char="•"/>
            </a:pPr>
            <a:r>
              <a:rPr lang="en-AU" sz="1200" kern="1200" dirty="0" smtClean="0">
                <a:solidFill>
                  <a:schemeClr val="tx1"/>
                </a:solidFill>
                <a:latin typeface="+mn-lt"/>
                <a:ea typeface="+mn-ea"/>
                <a:cs typeface="+mn-cs"/>
              </a:rPr>
              <a:t> Identifying (if known) what caused the out of control situation – so appropriate remedial action can be taken, or a focus for investigation is provided</a:t>
            </a:r>
          </a:p>
          <a:p>
            <a:pPr lvl="0">
              <a:buFont typeface="Arial" pitchFamily="34" charset="0"/>
              <a:buChar char="•"/>
            </a:pPr>
            <a:r>
              <a:rPr lang="en-AU" sz="1200" kern="1200" dirty="0" smtClean="0">
                <a:solidFill>
                  <a:schemeClr val="tx1"/>
                </a:solidFill>
                <a:latin typeface="+mn-lt"/>
                <a:ea typeface="+mn-ea"/>
                <a:cs typeface="+mn-cs"/>
              </a:rPr>
              <a:t> Describing thoughts about what should be done – to prevent a recurrence of the problem.</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43586991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advises trainees regarding </a:t>
            </a:r>
            <a:r>
              <a:rPr lang="en-AU" sz="1200" kern="1200" dirty="0" smtClean="0">
                <a:solidFill>
                  <a:schemeClr val="tx1"/>
                </a:solidFill>
                <a:latin typeface="+mn-lt"/>
                <a:ea typeface="+mn-ea"/>
                <a:cs typeface="+mn-cs"/>
              </a:rPr>
              <a:t>safe food handling requirements in relation to accepting food (‘food receipt’) deliveries from suppliers into the premises are:</a:t>
            </a:r>
          </a:p>
          <a:p>
            <a:pPr lvl="0">
              <a:buFont typeface="Arial" pitchFamily="34" charset="0"/>
              <a:buChar char="•"/>
            </a:pPr>
            <a:r>
              <a:rPr lang="en-AU" sz="1200" kern="1200" dirty="0" smtClean="0">
                <a:solidFill>
                  <a:schemeClr val="tx1"/>
                </a:solidFill>
                <a:latin typeface="+mn-lt"/>
                <a:ea typeface="+mn-ea"/>
                <a:cs typeface="+mn-cs"/>
              </a:rPr>
              <a:t> Inspect the deliveries – conduct a visual inspection of deliveries to make sure:</a:t>
            </a:r>
          </a:p>
          <a:p>
            <a:pPr lvl="1">
              <a:buFont typeface="Arial" pitchFamily="34" charset="0"/>
              <a:buChar char="•"/>
            </a:pPr>
            <a:r>
              <a:rPr lang="en-AU" sz="1200" kern="1200" dirty="0" smtClean="0">
                <a:solidFill>
                  <a:schemeClr val="tx1"/>
                </a:solidFill>
                <a:latin typeface="+mn-lt"/>
                <a:ea typeface="+mn-ea"/>
                <a:cs typeface="+mn-cs"/>
              </a:rPr>
              <a:t> The food is free from visible contamination – for example, frozen food must be hard frozen; packaging and wrapping must not be torn; the integrity of tins and packets has not been compromised and they are not leaking; the food was not delivered amongst chemicals; the food does not smell ‘off’; cans are not ‘blown’</a:t>
            </a:r>
          </a:p>
          <a:p>
            <a:pPr lvl="1">
              <a:buFont typeface="Arial" pitchFamily="34" charset="0"/>
              <a:buChar char="•"/>
            </a:pPr>
            <a:r>
              <a:rPr lang="en-AU" sz="1200" kern="1200" dirty="0" smtClean="0">
                <a:solidFill>
                  <a:schemeClr val="tx1"/>
                </a:solidFill>
                <a:latin typeface="+mn-lt"/>
                <a:ea typeface="+mn-ea"/>
                <a:cs typeface="+mn-cs"/>
              </a:rPr>
              <a:t> The delivery does not bring in pests or rodents – spiders, cockroaches, mice</a:t>
            </a:r>
          </a:p>
          <a:p>
            <a:pPr lvl="1">
              <a:buFont typeface="Arial" pitchFamily="34" charset="0"/>
              <a:buChar char="•"/>
            </a:pPr>
            <a:r>
              <a:rPr lang="en-AU" sz="1200" kern="1200" dirty="0" smtClean="0">
                <a:solidFill>
                  <a:schemeClr val="tx1"/>
                </a:solidFill>
                <a:latin typeface="+mn-lt"/>
                <a:ea typeface="+mn-ea"/>
                <a:cs typeface="+mn-cs"/>
              </a:rPr>
              <a:t> The use-by dates of the food are acceptable – reject any food delivered beyond its use-by date or where it is believed the premises will not be able to use the food delivered before it reaches its use-by date</a:t>
            </a:r>
          </a:p>
          <a:p>
            <a:pPr lvl="0">
              <a:buFont typeface="Arial" pitchFamily="34" charset="0"/>
              <a:buChar char="•"/>
            </a:pPr>
            <a:r>
              <a:rPr lang="en-AU" sz="1200" kern="1200" dirty="0" smtClean="0">
                <a:solidFill>
                  <a:schemeClr val="tx1"/>
                </a:solidFill>
                <a:latin typeface="+mn-lt"/>
                <a:ea typeface="+mn-ea"/>
                <a:cs typeface="+mn-cs"/>
              </a:rPr>
              <a:t> Compare the food delivered to any product specifications set for food items – not all establishments will have these specifications in place but where they are being used, they should be checked. If the food delivered does not meet specifications it must be rejected.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4321049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tell trainees about checks to be made when receiving food from suppliers in to the premises:</a:t>
            </a:r>
          </a:p>
          <a:p>
            <a:pPr lvl="0">
              <a:buFont typeface="Arial" pitchFamily="34" charset="0"/>
              <a:buChar char="•"/>
            </a:pPr>
            <a:r>
              <a:rPr lang="en-AU" sz="1200" kern="1200" dirty="0" smtClean="0">
                <a:solidFill>
                  <a:schemeClr val="tx1"/>
                </a:solidFill>
                <a:latin typeface="+mn-lt"/>
                <a:ea typeface="+mn-ea"/>
                <a:cs typeface="+mn-cs"/>
              </a:rPr>
              <a:t> Inspect the food delivery vehicle – check it is clean (see definition below) and is a dedicated food delivery vehicle. Food should not be delivered to food premises in private vehicles – dedicated food transport vehicles should be used</a:t>
            </a:r>
          </a:p>
          <a:p>
            <a:pPr lvl="0">
              <a:buFont typeface="Arial" pitchFamily="34" charset="0"/>
              <a:buChar char="•"/>
            </a:pPr>
            <a:r>
              <a:rPr lang="en-AU" sz="1200" kern="1200" dirty="0" smtClean="0">
                <a:solidFill>
                  <a:schemeClr val="tx1"/>
                </a:solidFill>
                <a:latin typeface="+mn-lt"/>
                <a:ea typeface="+mn-ea"/>
                <a:cs typeface="+mn-cs"/>
              </a:rPr>
              <a:t> Check the practices of the delivery driver – check things such as:</a:t>
            </a:r>
          </a:p>
          <a:p>
            <a:pPr lvl="1">
              <a:buFont typeface="Arial" pitchFamily="34" charset="0"/>
              <a:buChar char="•"/>
            </a:pPr>
            <a:r>
              <a:rPr lang="en-AU" sz="1200" kern="1200" dirty="0" smtClean="0">
                <a:solidFill>
                  <a:schemeClr val="tx1"/>
                </a:solidFill>
                <a:latin typeface="+mn-lt"/>
                <a:ea typeface="+mn-ea"/>
                <a:cs typeface="+mn-cs"/>
              </a:rPr>
              <a:t> Whether or not food is protected during the delivery process – is the delivery vehicle left unlocked during deliveries? Is food placed on the footpath? Are there chemicals mixed in amongst the food items?</a:t>
            </a:r>
          </a:p>
          <a:p>
            <a:pPr lvl="1">
              <a:buFont typeface="Arial" pitchFamily="34" charset="0"/>
              <a:buChar char="•"/>
            </a:pPr>
            <a:r>
              <a:rPr lang="en-AU" sz="1200" kern="1200" dirty="0" smtClean="0">
                <a:solidFill>
                  <a:schemeClr val="tx1"/>
                </a:solidFill>
                <a:latin typeface="+mn-lt"/>
                <a:ea typeface="+mn-ea"/>
                <a:cs typeface="+mn-cs"/>
              </a:rPr>
              <a:t> Personal hygiene of the delivery driver</a:t>
            </a:r>
          </a:p>
          <a:p>
            <a:pPr lvl="0">
              <a:buFont typeface="Arial" pitchFamily="34" charset="0"/>
              <a:buChar char="•"/>
            </a:pPr>
            <a:r>
              <a:rPr lang="en-AU" sz="1200" kern="1200" dirty="0" smtClean="0">
                <a:solidFill>
                  <a:schemeClr val="tx1"/>
                </a:solidFill>
                <a:latin typeface="+mn-lt"/>
                <a:ea typeface="+mn-ea"/>
                <a:cs typeface="+mn-cs"/>
              </a:rPr>
              <a:t> Check the temperature of the food is in accordance with the following using a properly calibrated thermometer: </a:t>
            </a:r>
          </a:p>
          <a:p>
            <a:pPr lvl="1">
              <a:buFont typeface="Arial" pitchFamily="34" charset="0"/>
              <a:buChar char="•"/>
            </a:pPr>
            <a:r>
              <a:rPr lang="en-AU" sz="1200" kern="1200" dirty="0" smtClean="0">
                <a:solidFill>
                  <a:schemeClr val="tx1"/>
                </a:solidFill>
                <a:latin typeface="+mn-lt"/>
                <a:ea typeface="+mn-ea"/>
                <a:cs typeface="+mn-cs"/>
              </a:rPr>
              <a:t> Frozen food should be hard frozen with no evidence of defrosting: - 15°C is the recommended temperature </a:t>
            </a:r>
          </a:p>
          <a:p>
            <a:pPr lvl="1">
              <a:buFont typeface="Arial" pitchFamily="34" charset="0"/>
              <a:buChar char="•"/>
            </a:pPr>
            <a:r>
              <a:rPr lang="en-AU" sz="1200" kern="1200" dirty="0" smtClean="0">
                <a:solidFill>
                  <a:schemeClr val="tx1"/>
                </a:solidFill>
                <a:latin typeface="+mn-lt"/>
                <a:ea typeface="+mn-ea"/>
                <a:cs typeface="+mn-cs"/>
              </a:rPr>
              <a:t> Hot food that is ‘potentially hazardous’ must be at 60°C or above</a:t>
            </a:r>
          </a:p>
          <a:p>
            <a:pPr lvl="1">
              <a:buFont typeface="Arial" pitchFamily="34" charset="0"/>
              <a:buChar char="•"/>
            </a:pPr>
            <a:r>
              <a:rPr lang="en-AU" sz="1200" kern="1200" dirty="0" smtClean="0">
                <a:solidFill>
                  <a:schemeClr val="tx1"/>
                </a:solidFill>
                <a:latin typeface="+mn-lt"/>
                <a:ea typeface="+mn-ea"/>
                <a:cs typeface="+mn-cs"/>
              </a:rPr>
              <a:t> Potentially hazardous refrigerated food must be at 5°C or below</a:t>
            </a:r>
          </a:p>
          <a:p>
            <a:pPr lvl="1">
              <a:buFont typeface="Arial" pitchFamily="34" charset="0"/>
              <a:buNone/>
            </a:pPr>
            <a:r>
              <a:rPr lang="en-AU" sz="1200" kern="1200" dirty="0" smtClean="0">
                <a:solidFill>
                  <a:schemeClr val="tx1"/>
                </a:solidFill>
                <a:latin typeface="+mn-lt"/>
                <a:ea typeface="+mn-ea"/>
                <a:cs typeface="+mn-cs"/>
              </a:rPr>
              <a:t>Note: potentially hazardous food may be accepted where the delivery driver can prove the combination of time </a:t>
            </a:r>
            <a:r>
              <a:rPr lang="en-AU" sz="1200" i="1" kern="1200" dirty="0" smtClean="0">
                <a:solidFill>
                  <a:schemeClr val="tx1"/>
                </a:solidFill>
                <a:latin typeface="+mn-lt"/>
                <a:ea typeface="+mn-ea"/>
                <a:cs typeface="+mn-cs"/>
              </a:rPr>
              <a:t>and</a:t>
            </a:r>
            <a:r>
              <a:rPr lang="en-AU" sz="1200" kern="1200" dirty="0" smtClean="0">
                <a:solidFill>
                  <a:schemeClr val="tx1"/>
                </a:solidFill>
                <a:latin typeface="+mn-lt"/>
                <a:ea typeface="+mn-ea"/>
                <a:cs typeface="+mn-cs"/>
              </a:rPr>
              <a:t> temperature have not adversely impacted on food safety. In general terms, if the food has been in the Temperature Danger Zone for 2 hours or longer the food should be rejected. When accepting a delivery of potentially hazardous food </a:t>
            </a:r>
            <a:r>
              <a:rPr lang="en-AU" sz="1200" b="1" kern="1200" dirty="0" smtClean="0">
                <a:solidFill>
                  <a:schemeClr val="tx1"/>
                </a:solidFill>
                <a:latin typeface="+mn-lt"/>
                <a:ea typeface="+mn-ea"/>
                <a:cs typeface="+mn-cs"/>
              </a:rPr>
              <a:t>in </a:t>
            </a:r>
            <a:r>
              <a:rPr lang="en-AU" sz="1200" kern="1200" dirty="0" smtClean="0">
                <a:solidFill>
                  <a:schemeClr val="tx1"/>
                </a:solidFill>
                <a:latin typeface="+mn-lt"/>
                <a:ea typeface="+mn-ea"/>
                <a:cs typeface="+mn-cs"/>
              </a:rPr>
              <a:t>the Temperature Danger Zone, it should be used immediately and not be subject to the standard stock rotation principle of First In, First Out.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p14="http://schemas.microsoft.com/office/powerpoint/2010/main" val="386680764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to tell trainees about checks to be made when receiving food from suppliers in to the premises:</a:t>
            </a:r>
          </a:p>
          <a:p>
            <a:pPr lvl="0">
              <a:buFont typeface="Arial" pitchFamily="34" charset="0"/>
              <a:buChar char="•"/>
            </a:pPr>
            <a:r>
              <a:rPr lang="en-AU" sz="1200" kern="1200" dirty="0" smtClean="0">
                <a:solidFill>
                  <a:schemeClr val="tx1"/>
                </a:solidFill>
                <a:latin typeface="+mn-lt"/>
                <a:ea typeface="+mn-ea"/>
                <a:cs typeface="+mn-cs"/>
              </a:rPr>
              <a:t> Check all packaged food is properly labelled with the name of the supplier, manufacturer or vendor – all food delivered into a food premises must be able to be identified to assist with food recalls and to help identify the source of problems or contamination where an outbreak of food poisoning occurs</a:t>
            </a:r>
          </a:p>
          <a:p>
            <a:pPr lvl="0">
              <a:buFont typeface="Arial" pitchFamily="34" charset="0"/>
              <a:buChar char="•"/>
            </a:pPr>
            <a:r>
              <a:rPr lang="en-AU" sz="1200" kern="1200" dirty="0" smtClean="0">
                <a:solidFill>
                  <a:schemeClr val="tx1"/>
                </a:solidFill>
                <a:latin typeface="+mn-lt"/>
                <a:ea typeface="+mn-ea"/>
                <a:cs typeface="+mn-cs"/>
              </a:rPr>
              <a:t> Store all deliveries as soon as possible after they have been delivered and checked – never leave refrigerated or frozen food lying around in the receival area as their temperature will quickly rise.</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extLst>
      <p:ext uri="{BB962C8B-B14F-4D97-AF65-F5344CB8AC3E}">
        <p14:creationId xmlns:p14="http://schemas.microsoft.com/office/powerpoint/2010/main" val="359755003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Trainer explains to trainees ‘food handling’ is any activity that involves the handling of food (including preparing, cooking, thawing, serving, displaying food), highlighting it is important these notes are read in conjunction with other food safety information provided throughout the course. </a:t>
            </a:r>
          </a:p>
          <a:p>
            <a:pPr lvl="0">
              <a:buFont typeface="Arial" pitchFamily="34" charset="0"/>
              <a:buChar char="•"/>
            </a:pPr>
            <a:r>
              <a:rPr lang="en-AU" sz="1200" kern="1200" dirty="0" smtClean="0">
                <a:solidFill>
                  <a:schemeClr val="tx1"/>
                </a:solidFill>
                <a:latin typeface="+mn-lt"/>
                <a:ea typeface="+mn-ea"/>
                <a:cs typeface="+mn-cs"/>
              </a:rPr>
              <a:t> Ensuring only safe and suitable food is processed – food unfit for consumption must not be processed. This includes foods that:</a:t>
            </a:r>
          </a:p>
          <a:p>
            <a:pPr lvl="1">
              <a:buFont typeface="Arial" pitchFamily="34" charset="0"/>
              <a:buChar char="•"/>
            </a:pPr>
            <a:r>
              <a:rPr lang="en-AU" sz="1200" kern="1200" dirty="0" smtClean="0">
                <a:solidFill>
                  <a:schemeClr val="tx1"/>
                </a:solidFill>
                <a:latin typeface="+mn-lt"/>
                <a:ea typeface="+mn-ea"/>
                <a:cs typeface="+mn-cs"/>
              </a:rPr>
              <a:t> Looks or smells ‘off’ </a:t>
            </a:r>
          </a:p>
          <a:p>
            <a:pPr lvl="1">
              <a:buFont typeface="Arial" pitchFamily="34" charset="0"/>
              <a:buChar char="•"/>
            </a:pPr>
            <a:r>
              <a:rPr lang="en-AU" sz="1200" kern="1200" dirty="0" smtClean="0">
                <a:solidFill>
                  <a:schemeClr val="tx1"/>
                </a:solidFill>
                <a:latin typeface="+mn-lt"/>
                <a:ea typeface="+mn-ea"/>
                <a:cs typeface="+mn-cs"/>
              </a:rPr>
              <a:t> Shows other signs of contamination</a:t>
            </a:r>
          </a:p>
          <a:p>
            <a:pPr lvl="1">
              <a:buFont typeface="Arial" pitchFamily="34" charset="0"/>
              <a:buChar char="•"/>
            </a:pPr>
            <a:r>
              <a:rPr lang="en-AU" sz="1200" kern="1200" dirty="0" smtClean="0">
                <a:solidFill>
                  <a:schemeClr val="tx1"/>
                </a:solidFill>
                <a:latin typeface="+mn-lt"/>
                <a:ea typeface="+mn-ea"/>
                <a:cs typeface="+mn-cs"/>
              </a:rPr>
              <a:t> Exceeds its use-by date, or food taken from a source where the integrity of the packaging has been compromised</a:t>
            </a:r>
          </a:p>
          <a:p>
            <a:pPr lvl="0">
              <a:buFont typeface="Arial" pitchFamily="34" charset="0"/>
              <a:buChar char="•"/>
            </a:pPr>
            <a:r>
              <a:rPr lang="en-AU" sz="1200" kern="1200" dirty="0" smtClean="0">
                <a:solidFill>
                  <a:schemeClr val="tx1"/>
                </a:solidFill>
                <a:latin typeface="+mn-lt"/>
                <a:ea typeface="+mn-ea"/>
                <a:cs typeface="+mn-cs"/>
              </a:rPr>
              <a:t> Protecting food being prepared from contamination – this includes preventing contamination from:</a:t>
            </a:r>
          </a:p>
          <a:p>
            <a:pPr lvl="1">
              <a:buFont typeface="Arial" pitchFamily="34" charset="0"/>
              <a:buChar char="•"/>
            </a:pPr>
            <a:r>
              <a:rPr lang="en-AU" sz="1200" kern="1200" dirty="0" smtClean="0">
                <a:solidFill>
                  <a:schemeClr val="tx1"/>
                </a:solidFill>
                <a:latin typeface="+mn-lt"/>
                <a:ea typeface="+mn-ea"/>
                <a:cs typeface="+mn-cs"/>
              </a:rPr>
              <a:t> Physical sources – such as hairs, broken glass, dead flies, dirt, dust, airborne contamination </a:t>
            </a:r>
          </a:p>
          <a:p>
            <a:pPr lvl="1">
              <a:buFont typeface="Arial" pitchFamily="34" charset="0"/>
              <a:buChar char="•"/>
            </a:pPr>
            <a:r>
              <a:rPr lang="en-AU" sz="1200" kern="1200" dirty="0" smtClean="0">
                <a:solidFill>
                  <a:schemeClr val="tx1"/>
                </a:solidFill>
                <a:latin typeface="+mn-lt"/>
                <a:ea typeface="+mn-ea"/>
                <a:cs typeface="+mn-cs"/>
              </a:rPr>
              <a:t> Chemicals – such as fly spray or the introduction of cleaning chemicals into the food</a:t>
            </a:r>
          </a:p>
          <a:p>
            <a:pPr lvl="1">
              <a:buFont typeface="Arial" pitchFamily="34" charset="0"/>
              <a:buChar char="•"/>
            </a:pPr>
            <a:r>
              <a:rPr lang="en-AU" sz="1200" kern="1200" dirty="0" smtClean="0">
                <a:solidFill>
                  <a:schemeClr val="tx1"/>
                </a:solidFill>
                <a:latin typeface="+mn-lt"/>
                <a:ea typeface="+mn-ea"/>
                <a:cs typeface="+mn-cs"/>
              </a:rPr>
              <a:t> Microbiological contamination – which may be caused by leaving potentially hazardous food in the Temperature Danger Zone for too long while it is being processed, or failing to cook food at the correct temperature. </a:t>
            </a:r>
          </a:p>
          <a:p>
            <a:pPr lvl="1">
              <a:buFont typeface="Arial" pitchFamily="34" charset="0"/>
              <a:buNone/>
            </a:pPr>
            <a:r>
              <a:rPr lang="en-AU" sz="1200" kern="1200" dirty="0" smtClean="0">
                <a:solidFill>
                  <a:schemeClr val="tx1"/>
                </a:solidFill>
                <a:latin typeface="+mn-lt"/>
                <a:ea typeface="+mn-ea"/>
                <a:cs typeface="+mn-cs"/>
              </a:rPr>
              <a:t> High risk food should reach an internal temperature of 75°C which should be verified with a thermometer</a:t>
            </a:r>
          </a:p>
          <a:p>
            <a:pPr lvl="0">
              <a:buFont typeface="Arial" pitchFamily="34" charset="0"/>
              <a:buChar char="•"/>
            </a:pPr>
            <a:r>
              <a:rPr lang="en-AU" sz="1200" kern="1200" dirty="0" smtClean="0">
                <a:solidFill>
                  <a:schemeClr val="tx1"/>
                </a:solidFill>
                <a:latin typeface="+mn-lt"/>
                <a:ea typeface="+mn-ea"/>
                <a:cs typeface="+mn-cs"/>
              </a:rPr>
              <a:t> Ensuring all fruit and vegetables are washed in a sanitising solution before being prepared</a:t>
            </a:r>
          </a:p>
          <a:p>
            <a:pPr lvl="0">
              <a:buFont typeface="Arial" pitchFamily="34" charset="0"/>
              <a:buChar char="•"/>
            </a:pPr>
            <a:r>
              <a:rPr lang="en-AU" sz="1200" kern="1200" dirty="0" smtClean="0">
                <a:solidFill>
                  <a:schemeClr val="tx1"/>
                </a:solidFill>
                <a:latin typeface="+mn-lt"/>
                <a:ea typeface="+mn-ea"/>
                <a:cs typeface="+mn-cs"/>
              </a:rPr>
              <a:t> Excluding unhealthy people from food handling and processing activities </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extLst>
      <p:ext uri="{BB962C8B-B14F-4D97-AF65-F5344CB8AC3E}">
        <p14:creationId xmlns:p14="http://schemas.microsoft.com/office/powerpoint/2010/main" val="290403768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provide trainees with examples of safe food handling practices:</a:t>
            </a:r>
          </a:p>
          <a:p>
            <a:pPr lvl="0">
              <a:buFont typeface="Arial" pitchFamily="34" charset="0"/>
              <a:buChar char="•"/>
            </a:pPr>
            <a:r>
              <a:rPr lang="en-AU" sz="1200" kern="1200" dirty="0" smtClean="0">
                <a:solidFill>
                  <a:schemeClr val="tx1"/>
                </a:solidFill>
                <a:latin typeface="+mn-lt"/>
                <a:ea typeface="+mn-ea"/>
                <a:cs typeface="+mn-cs"/>
              </a:rPr>
              <a:t> Using clean equipment and utensils that have been sanitised and are in proper working order – any piece of food equipment not working properly either raises OHS risks for staff or presents the possibility the food processing job it was intended to do (such as to cook food to a certain temperature, or store or display food at a certain temperature) may not be achieved thereby introducing the potential for food poisoning</a:t>
            </a:r>
          </a:p>
          <a:p>
            <a:pPr lvl="0">
              <a:buFont typeface="Arial" pitchFamily="34" charset="0"/>
              <a:buChar char="•"/>
            </a:pPr>
            <a:r>
              <a:rPr lang="en-AU" sz="1200" kern="1200" dirty="0" smtClean="0">
                <a:solidFill>
                  <a:schemeClr val="tx1"/>
                </a:solidFill>
                <a:latin typeface="+mn-lt"/>
                <a:ea typeface="+mn-ea"/>
                <a:cs typeface="+mn-cs"/>
              </a:rPr>
              <a:t> Ensuring chemicals are kept separated from food and food utensils and equipment during processing – it is a requirement that all chemicals are stored separately from food</a:t>
            </a:r>
          </a:p>
          <a:p>
            <a:pPr lvl="0">
              <a:buFont typeface="Arial" pitchFamily="34" charset="0"/>
              <a:buChar char="•"/>
            </a:pPr>
            <a:r>
              <a:rPr lang="en-AU" sz="1200" kern="1200" dirty="0" smtClean="0">
                <a:solidFill>
                  <a:schemeClr val="tx1"/>
                </a:solidFill>
                <a:latin typeface="+mn-lt"/>
                <a:ea typeface="+mn-ea"/>
                <a:cs typeface="+mn-cs"/>
              </a:rPr>
              <a:t> Keeping individual batches of processed food separate – batches of prepared food should never be mixed together (e.g. in a bain marie) as this can give rise to situations where food may remain able to be served even though it has passed its safe food date/time. Mixing batches of food also causes problems if an internal food recall is needed</a:t>
            </a:r>
          </a:p>
          <a:p>
            <a:pPr lvl="0">
              <a:buFont typeface="Arial" pitchFamily="34" charset="0"/>
              <a:buChar char="•"/>
            </a:pPr>
            <a:r>
              <a:rPr lang="en-AU" sz="1200" kern="1200" dirty="0" smtClean="0">
                <a:solidFill>
                  <a:schemeClr val="tx1"/>
                </a:solidFill>
                <a:latin typeface="+mn-lt"/>
                <a:ea typeface="+mn-ea"/>
                <a:cs typeface="+mn-cs"/>
              </a:rPr>
              <a:t> Avoiding touching food with the bare hands where that food will not be subsequently cooked – it is best practice to wear disposable gloves or to use utensils to handle all food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extLst>
      <p:ext uri="{BB962C8B-B14F-4D97-AF65-F5344CB8AC3E}">
        <p14:creationId xmlns:p14="http://schemas.microsoft.com/office/powerpoint/2010/main" val="383885418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to provide trainees with examples of safe food handling practices:</a:t>
            </a:r>
          </a:p>
          <a:p>
            <a:pPr lvl="0">
              <a:buFont typeface="Arial" pitchFamily="34" charset="0"/>
              <a:buChar char="•"/>
            </a:pPr>
            <a:r>
              <a:rPr lang="en-AU" sz="1200" kern="1200" dirty="0" smtClean="0">
                <a:solidFill>
                  <a:schemeClr val="tx1"/>
                </a:solidFill>
                <a:latin typeface="+mn-lt"/>
                <a:ea typeface="+mn-ea"/>
                <a:cs typeface="+mn-cs"/>
              </a:rPr>
              <a:t> Using colour-coded chopping boards to reduce the likelihood of cross contamination. For examples the following colours for boards could be used as follows:</a:t>
            </a:r>
          </a:p>
          <a:p>
            <a:pPr lvl="1">
              <a:buFont typeface="Arial" pitchFamily="34" charset="0"/>
              <a:buChar char="•"/>
            </a:pPr>
            <a:r>
              <a:rPr lang="en-AU" sz="1200" kern="1200" dirty="0" smtClean="0">
                <a:solidFill>
                  <a:schemeClr val="tx1"/>
                </a:solidFill>
                <a:latin typeface="+mn-lt"/>
                <a:ea typeface="+mn-ea"/>
                <a:cs typeface="+mn-cs"/>
              </a:rPr>
              <a:t> White – for dairy products only</a:t>
            </a:r>
          </a:p>
          <a:p>
            <a:pPr lvl="1">
              <a:buFont typeface="Arial" pitchFamily="34" charset="0"/>
              <a:buChar char="•"/>
            </a:pPr>
            <a:r>
              <a:rPr lang="en-AU" sz="1200" kern="1200" dirty="0" smtClean="0">
                <a:solidFill>
                  <a:schemeClr val="tx1"/>
                </a:solidFill>
                <a:latin typeface="+mn-lt"/>
                <a:ea typeface="+mn-ea"/>
                <a:cs typeface="+mn-cs"/>
              </a:rPr>
              <a:t> Red – for raw meat only</a:t>
            </a:r>
          </a:p>
          <a:p>
            <a:pPr lvl="1">
              <a:buFont typeface="Arial" pitchFamily="34" charset="0"/>
              <a:buChar char="•"/>
            </a:pPr>
            <a:r>
              <a:rPr lang="en-AU" sz="1200" kern="1200" dirty="0" smtClean="0">
                <a:solidFill>
                  <a:schemeClr val="tx1"/>
                </a:solidFill>
                <a:latin typeface="+mn-lt"/>
                <a:ea typeface="+mn-ea"/>
                <a:cs typeface="+mn-cs"/>
              </a:rPr>
              <a:t> Blue – for seafood only</a:t>
            </a:r>
          </a:p>
          <a:p>
            <a:pPr lvl="1">
              <a:buFont typeface="Arial" pitchFamily="34" charset="0"/>
              <a:buChar char="•"/>
            </a:pPr>
            <a:r>
              <a:rPr lang="en-AU" sz="1200" kern="1200" dirty="0" smtClean="0">
                <a:solidFill>
                  <a:schemeClr val="tx1"/>
                </a:solidFill>
                <a:latin typeface="+mn-lt"/>
                <a:ea typeface="+mn-ea"/>
                <a:cs typeface="+mn-cs"/>
              </a:rPr>
              <a:t> Yellow – for poultry only</a:t>
            </a:r>
          </a:p>
          <a:p>
            <a:pPr lvl="1">
              <a:buFont typeface="Arial" pitchFamily="34" charset="0"/>
              <a:buChar char="•"/>
            </a:pPr>
            <a:r>
              <a:rPr lang="en-AU" sz="1200" kern="1200" dirty="0" smtClean="0">
                <a:solidFill>
                  <a:schemeClr val="tx1"/>
                </a:solidFill>
                <a:latin typeface="+mn-lt"/>
                <a:ea typeface="+mn-ea"/>
                <a:cs typeface="+mn-cs"/>
              </a:rPr>
              <a:t> Brown – for cooked meat only</a:t>
            </a:r>
          </a:p>
          <a:p>
            <a:pPr lvl="1">
              <a:buFont typeface="Arial" pitchFamily="34" charset="0"/>
              <a:buChar char="•"/>
            </a:pPr>
            <a:r>
              <a:rPr lang="en-AU" sz="1200" kern="1200" dirty="0" smtClean="0">
                <a:solidFill>
                  <a:schemeClr val="tx1"/>
                </a:solidFill>
                <a:latin typeface="+mn-lt"/>
                <a:ea typeface="+mn-ea"/>
                <a:cs typeface="+mn-cs"/>
              </a:rPr>
              <a:t> Green – for fruit and vegetables only</a:t>
            </a:r>
          </a:p>
          <a:p>
            <a:pPr>
              <a:buFont typeface="Arial" pitchFamily="34" charset="0"/>
              <a:buChar char="•"/>
            </a:pPr>
            <a:r>
              <a:rPr lang="en-AU" sz="1200" kern="1200" dirty="0" smtClean="0">
                <a:solidFill>
                  <a:schemeClr val="tx1"/>
                </a:solidFill>
                <a:latin typeface="+mn-lt"/>
                <a:ea typeface="+mn-ea"/>
                <a:cs typeface="+mn-cs"/>
              </a:rPr>
              <a:t> After use all boards should be scraped with a flat metal scraper and washed. Note: Polyboards can be put through the dishwasher and sanitised.</a:t>
            </a:r>
          </a:p>
          <a:p>
            <a:pPr>
              <a:buFont typeface="Arial" pitchFamily="34" charset="0"/>
              <a:buChar char="•"/>
            </a:pPr>
            <a:r>
              <a:rPr lang="en-AU" sz="1200" kern="1200" dirty="0" smtClean="0">
                <a:solidFill>
                  <a:schemeClr val="tx1"/>
                </a:solidFill>
                <a:latin typeface="+mn-lt"/>
                <a:ea typeface="+mn-ea"/>
                <a:cs typeface="+mn-cs"/>
              </a:rPr>
              <a:t> Wooden boards are not the preferred option but if they are used, they should be washed with hot soapy water, rinsed and sanitised.</a:t>
            </a:r>
          </a:p>
          <a:p>
            <a:pPr>
              <a:buFont typeface="Arial" pitchFamily="34" charset="0"/>
              <a:buChar char="•"/>
            </a:pPr>
            <a:r>
              <a:rPr lang="en-AU" sz="1200" kern="1200" dirty="0" smtClean="0">
                <a:solidFill>
                  <a:schemeClr val="tx1"/>
                </a:solidFill>
                <a:latin typeface="+mn-lt"/>
                <a:ea typeface="+mn-ea"/>
                <a:cs typeface="+mn-cs"/>
              </a:rPr>
              <a:t> All chopping boards must be replaced regularly to guard against the problems associated with cross contamination. </a:t>
            </a:r>
          </a:p>
          <a:p>
            <a:pPr>
              <a:buFont typeface="Arial" pitchFamily="34" charset="0"/>
              <a:buNone/>
            </a:pPr>
            <a:endParaRPr lang="en-US" dirty="0" smtClean="0"/>
          </a:p>
          <a:p>
            <a:pPr>
              <a:buFont typeface="Arial" pitchFamily="34" charset="0"/>
              <a:buNone/>
            </a:pPr>
            <a:r>
              <a:rPr lang="en-US" b="1" dirty="0" smtClean="0"/>
              <a:t>Class Activity – Demonstration</a:t>
            </a:r>
          </a:p>
          <a:p>
            <a:pPr>
              <a:buFont typeface="Arial" pitchFamily="34" charset="0"/>
              <a:buNone/>
            </a:pPr>
            <a:r>
              <a:rPr lang="en-US" b="0" dirty="0" smtClean="0"/>
              <a:t>Trainer shows trainees colour-coded</a:t>
            </a:r>
            <a:r>
              <a:rPr lang="en-US" b="0" baseline="0" dirty="0" smtClean="0"/>
              <a:t> chopping boards explaining how and why they are used to prevent cross contamination, and:</a:t>
            </a:r>
          </a:p>
          <a:p>
            <a:pPr>
              <a:buFont typeface="Arial" pitchFamily="34" charset="0"/>
              <a:buChar char="•"/>
            </a:pPr>
            <a:r>
              <a:rPr lang="en-US" b="0" baseline="0" dirty="0" smtClean="0"/>
              <a:t> Demonstrates how to clean and sanitise a chopping board.</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extLst>
      <p:ext uri="{BB962C8B-B14F-4D97-AF65-F5344CB8AC3E}">
        <p14:creationId xmlns:p14="http://schemas.microsoft.com/office/powerpoint/2010/main" val="140256510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to provide trainees with examples of safe food handling practices:</a:t>
            </a:r>
          </a:p>
          <a:p>
            <a:pPr lvl="0">
              <a:buFont typeface="Arial" pitchFamily="34" charset="0"/>
              <a:buChar char="•"/>
            </a:pPr>
            <a:r>
              <a:rPr lang="en-AU" sz="1200" kern="1200" dirty="0" smtClean="0">
                <a:solidFill>
                  <a:schemeClr val="tx1"/>
                </a:solidFill>
                <a:latin typeface="+mn-lt"/>
                <a:ea typeface="+mn-ea"/>
                <a:cs typeface="+mn-cs"/>
              </a:rPr>
              <a:t> Discarding any food dropped on the floor – never use any food after it has been dropped on the floor</a:t>
            </a:r>
          </a:p>
          <a:p>
            <a:pPr lvl="0">
              <a:buFont typeface="Arial" pitchFamily="34" charset="0"/>
              <a:buChar char="•"/>
            </a:pPr>
            <a:r>
              <a:rPr lang="en-AU" sz="1200" kern="1200" dirty="0" smtClean="0">
                <a:solidFill>
                  <a:schemeClr val="tx1"/>
                </a:solidFill>
                <a:latin typeface="+mn-lt"/>
                <a:ea typeface="+mn-ea"/>
                <a:cs typeface="+mn-cs"/>
              </a:rPr>
              <a:t> Washing and sanitising any food handling tool, implement or utensil that has been dropped on the floor before re-using it</a:t>
            </a:r>
          </a:p>
          <a:p>
            <a:pPr lvl="0">
              <a:buFont typeface="Arial" pitchFamily="34" charset="0"/>
              <a:buChar char="•"/>
            </a:pPr>
            <a:r>
              <a:rPr lang="en-AU" sz="1200" kern="1200" dirty="0" smtClean="0">
                <a:solidFill>
                  <a:schemeClr val="tx1"/>
                </a:solidFill>
                <a:latin typeface="+mn-lt"/>
                <a:ea typeface="+mn-ea"/>
                <a:cs typeface="+mn-cs"/>
              </a:rPr>
              <a:t> Avoiding coughing or sneezing over food or food preparation utensils, equipment or surfaces</a:t>
            </a:r>
          </a:p>
          <a:p>
            <a:pPr lvl="0">
              <a:buFont typeface="Arial" pitchFamily="34" charset="0"/>
              <a:buChar char="•"/>
            </a:pPr>
            <a:r>
              <a:rPr lang="en-AU" sz="1200" kern="1200" dirty="0" smtClean="0">
                <a:solidFill>
                  <a:schemeClr val="tx1"/>
                </a:solidFill>
                <a:latin typeface="+mn-lt"/>
                <a:ea typeface="+mn-ea"/>
                <a:cs typeface="+mn-cs"/>
              </a:rPr>
              <a:t> Using a tasting spoon to taste dishes – never use any utensil to taste food and then replace it in the dish/pot, or use it for stirring. </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extLst>
      <p:ext uri="{BB962C8B-B14F-4D97-AF65-F5344CB8AC3E}">
        <p14:creationId xmlns:p14="http://schemas.microsoft.com/office/powerpoint/2010/main" val="12046494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to provide trainees with examples of safe food handling practices with reference to de-frosting (‘thawing’) stating </a:t>
            </a:r>
            <a:r>
              <a:rPr lang="en-AU" dirty="0" smtClean="0"/>
              <a:t>frozen</a:t>
            </a:r>
            <a:r>
              <a:rPr lang="en-AU" sz="1200" kern="1200" dirty="0" smtClean="0">
                <a:solidFill>
                  <a:schemeClr val="tx1"/>
                </a:solidFill>
                <a:latin typeface="+mn-lt"/>
                <a:ea typeface="+mn-ea"/>
                <a:cs typeface="+mn-cs"/>
              </a:rPr>
              <a:t> food must be thawed before use indicating there are only three acceptable ways to thaw food:</a:t>
            </a:r>
          </a:p>
          <a:p>
            <a:pPr lvl="0">
              <a:buFont typeface="Arial" pitchFamily="34" charset="0"/>
              <a:buChar char="•"/>
            </a:pPr>
            <a:r>
              <a:rPr lang="en-AU" sz="1200" kern="1200" dirty="0" smtClean="0">
                <a:solidFill>
                  <a:schemeClr val="tx1"/>
                </a:solidFill>
                <a:latin typeface="+mn-lt"/>
                <a:ea typeface="+mn-ea"/>
                <a:cs typeface="+mn-cs"/>
              </a:rPr>
              <a:t> In a refrigerator</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coolroom – large pieces of meat may take two to three days to defrost so planning ahead is vital: this is the preferred method of thawing as the food is always out of Temperature Danger Zone</a:t>
            </a:r>
          </a:p>
          <a:p>
            <a:pPr lvl="0">
              <a:buFont typeface="Arial" pitchFamily="34" charset="0"/>
              <a:buChar char="•"/>
            </a:pPr>
            <a:r>
              <a:rPr lang="en-AU" sz="1200" kern="1200" dirty="0" smtClean="0">
                <a:solidFill>
                  <a:schemeClr val="tx1"/>
                </a:solidFill>
                <a:latin typeface="+mn-lt"/>
                <a:ea typeface="+mn-ea"/>
                <a:cs typeface="+mn-cs"/>
              </a:rPr>
              <a:t> If pressed for time, use a microwave to defrost, moving pieces of food during the procedure – food should be immediately cooked once taken from the microwave after defrosting</a:t>
            </a:r>
          </a:p>
          <a:p>
            <a:pPr lvl="0">
              <a:buFont typeface="Arial" pitchFamily="34" charset="0"/>
              <a:buChar char="•"/>
            </a:pPr>
            <a:r>
              <a:rPr lang="en-AU" sz="1200" kern="1200" dirty="0" smtClean="0">
                <a:solidFill>
                  <a:schemeClr val="tx1"/>
                </a:solidFill>
                <a:latin typeface="+mn-lt"/>
                <a:ea typeface="+mn-ea"/>
                <a:cs typeface="+mn-cs"/>
              </a:rPr>
              <a:t> Run the item under cold water (less than 20°C) – only suitable for small portions or small items. </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AU" sz="1200" kern="1200" dirty="0" smtClean="0">
                <a:solidFill>
                  <a:schemeClr val="tx1"/>
                </a:solidFill>
                <a:latin typeface="+mn-lt"/>
                <a:ea typeface="+mn-ea"/>
                <a:cs typeface="+mn-cs"/>
              </a:rPr>
              <a:t>Trainer further notes:</a:t>
            </a:r>
          </a:p>
          <a:p>
            <a:pPr>
              <a:buFont typeface="Arial" pitchFamily="34" charset="0"/>
              <a:buChar char="•"/>
            </a:pPr>
            <a:r>
              <a:rPr lang="en-AU" sz="1200" kern="1200" dirty="0" smtClean="0">
                <a:solidFill>
                  <a:schemeClr val="tx1"/>
                </a:solidFill>
                <a:latin typeface="+mn-lt"/>
                <a:ea typeface="+mn-ea"/>
                <a:cs typeface="+mn-cs"/>
              </a:rPr>
              <a:t> All meats should be cooked immediately after thawing </a:t>
            </a:r>
          </a:p>
          <a:p>
            <a:pPr>
              <a:buFont typeface="Arial" pitchFamily="34" charset="0"/>
              <a:buChar char="•"/>
            </a:pPr>
            <a:r>
              <a:rPr lang="en-AU" sz="1200" kern="1200" dirty="0" smtClean="0">
                <a:solidFill>
                  <a:schemeClr val="tx1"/>
                </a:solidFill>
                <a:latin typeface="+mn-lt"/>
                <a:ea typeface="+mn-ea"/>
                <a:cs typeface="+mn-cs"/>
              </a:rPr>
              <a:t> It is </a:t>
            </a:r>
            <a:r>
              <a:rPr lang="en-AU" sz="1200" b="1" kern="1200" dirty="0" smtClean="0">
                <a:solidFill>
                  <a:schemeClr val="tx1"/>
                </a:solidFill>
                <a:latin typeface="+mn-lt"/>
                <a:ea typeface="+mn-ea"/>
                <a:cs typeface="+mn-cs"/>
              </a:rPr>
              <a:t>not acceptable</a:t>
            </a:r>
            <a:r>
              <a:rPr lang="en-AU" sz="1200" kern="1200" dirty="0" smtClean="0">
                <a:solidFill>
                  <a:schemeClr val="tx1"/>
                </a:solidFill>
                <a:latin typeface="+mn-lt"/>
                <a:ea typeface="+mn-ea"/>
                <a:cs typeface="+mn-cs"/>
              </a:rPr>
              <a:t> to thaw items out by placing them in a bowl or sink of water</a:t>
            </a:r>
          </a:p>
          <a:p>
            <a:pPr>
              <a:buFont typeface="Arial" pitchFamily="34" charset="0"/>
              <a:buChar char="•"/>
            </a:pPr>
            <a:r>
              <a:rPr lang="en-AU" sz="1200" kern="1200" dirty="0" smtClean="0">
                <a:solidFill>
                  <a:schemeClr val="tx1"/>
                </a:solidFill>
                <a:latin typeface="+mn-lt"/>
                <a:ea typeface="+mn-ea"/>
                <a:cs typeface="+mn-cs"/>
              </a:rPr>
              <a:t> De-frosted foods must not be frozen again..</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extLst>
      <p:ext uri="{BB962C8B-B14F-4D97-AF65-F5344CB8AC3E}">
        <p14:creationId xmlns:p14="http://schemas.microsoft.com/office/powerpoint/2010/main" val="394788471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introduces ‘storing of food’ to trainees explaining this refers to the storage of food in the premises after it has been delivered, and before it is processed or cooked.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identifies the three food storage options: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dirty="0" smtClean="0"/>
              <a:t> Dry goods store – the </a:t>
            </a:r>
            <a:r>
              <a:rPr lang="en-AU" sz="1200" kern="1200" dirty="0" smtClean="0">
                <a:solidFill>
                  <a:schemeClr val="tx1"/>
                </a:solidFill>
                <a:latin typeface="+mn-lt"/>
                <a:ea typeface="+mn-ea"/>
                <a:cs typeface="+mn-cs"/>
              </a:rPr>
              <a:t>dry goods store is a non-refrigerated store where canned and dried food is kept. It may be room-size, a variety of cupboards and</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or a pantry. Shelves are commonly used to store dry food goods</a:t>
            </a:r>
            <a:endParaRPr lang="en-US" dirty="0" smtClean="0"/>
          </a:p>
          <a:p>
            <a:pPr>
              <a:buFont typeface="Arial" pitchFamily="34" charset="0"/>
              <a:buChar char="•"/>
            </a:pPr>
            <a:r>
              <a:rPr lang="en-US" dirty="0" smtClean="0"/>
              <a:t> Refrigerated storage – </a:t>
            </a:r>
            <a:r>
              <a:rPr lang="en-AU" sz="1200" kern="1200" dirty="0" smtClean="0">
                <a:solidFill>
                  <a:schemeClr val="tx1"/>
                </a:solidFill>
                <a:latin typeface="+mn-lt"/>
                <a:ea typeface="+mn-ea"/>
                <a:cs typeface="+mn-cs"/>
              </a:rPr>
              <a:t>is used for fruit and vegetables, dairy products, meat and all other potentially hazardous foods. Refrigerated storage may occur using coolrooms, under-counter refrigeration units or domestic refrigerators</a:t>
            </a:r>
          </a:p>
          <a:p>
            <a:pPr>
              <a:buFont typeface="Arial" pitchFamily="34" charset="0"/>
              <a:buChar char="•"/>
            </a:pPr>
            <a:r>
              <a:rPr lang="en-US" dirty="0" smtClean="0"/>
              <a:t> Frozen storage – freezers </a:t>
            </a:r>
            <a:r>
              <a:rPr lang="en-AU" sz="1200" kern="1200" dirty="0" smtClean="0">
                <a:solidFill>
                  <a:schemeClr val="tx1"/>
                </a:solidFill>
                <a:latin typeface="+mn-lt"/>
                <a:ea typeface="+mn-ea"/>
                <a:cs typeface="+mn-cs"/>
              </a:rPr>
              <a:t>are used to store frozen produce. Freezers may be chest type, up-right, or walk-in, but they must be maintained such that the food remains hard frozen (recommended temperature is -15°C). Every time the freezer is used, it should be standard practice to visually check the temperature gauge and notify management where there is a problem – do not overload freezers as it takes too long for the middle of products to freeze.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dirty="0" smtClean="0"/>
              <a:t>Class Activity – excursion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dirty="0" smtClean="0"/>
              <a:t>Trainer arranges for trainees to visit a food premises and: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dirty="0" smtClean="0"/>
              <a:t> Talk to management and staff about their safe food handling practices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dirty="0" smtClean="0"/>
              <a:t> View the food storage, preparation and service areas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dirty="0" smtClean="0"/>
              <a:t> Observe staff practices relating to food handling</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dirty="0" smtClean="0"/>
              <a:t> Look at workplace food safety records maintained by the business.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extLst>
      <p:ext uri="{BB962C8B-B14F-4D97-AF65-F5344CB8AC3E}">
        <p14:creationId xmlns:p14="http://schemas.microsoft.com/office/powerpoint/2010/main" val="296644451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provides trainees with basic storage requirements:</a:t>
            </a:r>
          </a:p>
          <a:p>
            <a:pPr lvl="0">
              <a:buFont typeface="Arial" pitchFamily="34" charset="0"/>
              <a:buChar char="•"/>
            </a:pPr>
            <a:r>
              <a:rPr lang="en-AU" sz="1200" kern="1200" dirty="0" smtClean="0">
                <a:solidFill>
                  <a:schemeClr val="tx1"/>
                </a:solidFill>
                <a:latin typeface="+mn-lt"/>
                <a:ea typeface="+mn-ea"/>
                <a:cs typeface="+mn-cs"/>
              </a:rPr>
              <a:t> Use food grade materials to store food susceptible to contamination – such as stainless steel</a:t>
            </a:r>
          </a:p>
          <a:p>
            <a:pPr lvl="0">
              <a:buFont typeface="Arial" pitchFamily="34" charset="0"/>
              <a:buChar char="•"/>
            </a:pPr>
            <a:r>
              <a:rPr lang="en-AU" sz="1200" kern="1200" dirty="0" smtClean="0">
                <a:solidFill>
                  <a:schemeClr val="tx1"/>
                </a:solidFill>
                <a:latin typeface="+mn-lt"/>
                <a:ea typeface="+mn-ea"/>
                <a:cs typeface="+mn-cs"/>
              </a:rPr>
              <a:t> Cover food in storage – to protect it from contamination</a:t>
            </a:r>
          </a:p>
          <a:p>
            <a:pPr lvl="0">
              <a:buFont typeface="Arial" pitchFamily="34" charset="0"/>
              <a:buChar char="•"/>
            </a:pPr>
            <a:r>
              <a:rPr lang="en-AU" sz="1200" kern="1200" dirty="0" smtClean="0">
                <a:solidFill>
                  <a:schemeClr val="tx1"/>
                </a:solidFill>
                <a:latin typeface="+mn-lt"/>
                <a:ea typeface="+mn-ea"/>
                <a:cs typeface="+mn-cs"/>
              </a:rPr>
              <a:t> Rotate stock to ensure it is used in the correct sequence – the method used for most food is called ‘First In, First Out’ (see later slide): any food exceeding its use-by date must be thrown out</a:t>
            </a:r>
          </a:p>
          <a:p>
            <a:pPr lvl="0">
              <a:buFont typeface="Arial" pitchFamily="34" charset="0"/>
              <a:buChar char="•"/>
            </a:pPr>
            <a:r>
              <a:rPr lang="en-AU" sz="1200" kern="1200" dirty="0" smtClean="0">
                <a:solidFill>
                  <a:schemeClr val="tx1"/>
                </a:solidFill>
                <a:latin typeface="+mn-lt"/>
                <a:ea typeface="+mn-ea"/>
                <a:cs typeface="+mn-cs"/>
              </a:rPr>
              <a:t> Keep all storage areas and equipment clean</a:t>
            </a:r>
          </a:p>
          <a:p>
            <a:pPr lvl="0">
              <a:buFont typeface="Arial" pitchFamily="34" charset="0"/>
              <a:buChar char="•"/>
            </a:pPr>
            <a:r>
              <a:rPr lang="en-AU" sz="1200" kern="1200" dirty="0" smtClean="0">
                <a:solidFill>
                  <a:schemeClr val="tx1"/>
                </a:solidFill>
                <a:latin typeface="+mn-lt"/>
                <a:ea typeface="+mn-ea"/>
                <a:cs typeface="+mn-cs"/>
              </a:rPr>
              <a:t> Never store food (including packaged food) directly on the floor – use shelves</a:t>
            </a:r>
          </a:p>
          <a:p>
            <a:pPr lvl="0">
              <a:buFont typeface="Arial" pitchFamily="34" charset="0"/>
              <a:buChar char="•"/>
            </a:pPr>
            <a:r>
              <a:rPr lang="en-AU" sz="1200" kern="1200" dirty="0" smtClean="0">
                <a:solidFill>
                  <a:schemeClr val="tx1"/>
                </a:solidFill>
                <a:latin typeface="+mn-lt"/>
                <a:ea typeface="+mn-ea"/>
                <a:cs typeface="+mn-cs"/>
              </a:rPr>
              <a:t> Ensure pests and rodents are excluded from food storage areas – conduct a regular (at least weekly inspection to check this, and take appropriate action when evidence of pests or rodents is discovered).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extLst>
      <p:ext uri="{BB962C8B-B14F-4D97-AF65-F5344CB8AC3E}">
        <p14:creationId xmlns:p14="http://schemas.microsoft.com/office/powerpoint/2010/main" val="384434544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advises trainees regarding storage requirements for dry goods store stating they should ensure:</a:t>
            </a:r>
          </a:p>
          <a:p>
            <a:pPr lvl="0">
              <a:buFont typeface="Arial" pitchFamily="34" charset="0"/>
              <a:buChar char="•"/>
            </a:pPr>
            <a:r>
              <a:rPr lang="en-AU" sz="1200" kern="1200" dirty="0" smtClean="0">
                <a:solidFill>
                  <a:schemeClr val="tx1"/>
                </a:solidFill>
                <a:latin typeface="+mn-lt"/>
                <a:ea typeface="+mn-ea"/>
                <a:cs typeface="+mn-cs"/>
              </a:rPr>
              <a:t> The area is fly- and vermin-proof – to minimise contamination by pests</a:t>
            </a:r>
          </a:p>
          <a:p>
            <a:pPr lvl="0">
              <a:buFont typeface="Arial" pitchFamily="34" charset="0"/>
              <a:buChar char="•"/>
            </a:pPr>
            <a:r>
              <a:rPr lang="en-AU" sz="1200" kern="1200" dirty="0" smtClean="0">
                <a:solidFill>
                  <a:schemeClr val="tx1"/>
                </a:solidFill>
                <a:latin typeface="+mn-lt"/>
                <a:ea typeface="+mn-ea"/>
                <a:cs typeface="+mn-cs"/>
              </a:rPr>
              <a:t> It is well ventilated and lit – to deter pests and to allow staff to see what they are doing and identify and remedy spillages and vermin</a:t>
            </a:r>
          </a:p>
          <a:p>
            <a:pPr lvl="0">
              <a:buFont typeface="Arial" pitchFamily="34" charset="0"/>
              <a:buChar char="•"/>
            </a:pPr>
            <a:r>
              <a:rPr lang="en-AU" sz="1200" kern="1200" dirty="0" smtClean="0">
                <a:solidFill>
                  <a:schemeClr val="tx1"/>
                </a:solidFill>
                <a:latin typeface="+mn-lt"/>
                <a:ea typeface="+mn-ea"/>
                <a:cs typeface="+mn-cs"/>
              </a:rPr>
              <a:t> It is never overstocked – excess stock costs money, clutters things up, and increases the chance of out-of-date stock </a:t>
            </a:r>
          </a:p>
          <a:p>
            <a:pPr lvl="0">
              <a:buFont typeface="Arial" pitchFamily="34" charset="0"/>
              <a:buChar char="•"/>
            </a:pPr>
            <a:r>
              <a:rPr lang="en-AU" sz="1200" kern="1200" dirty="0" smtClean="0">
                <a:solidFill>
                  <a:schemeClr val="tx1"/>
                </a:solidFill>
                <a:latin typeface="+mn-lt"/>
                <a:ea typeface="+mn-ea"/>
                <a:cs typeface="+mn-cs"/>
              </a:rPr>
              <a:t> It is fitted with doors making a proper fit when fully closed – to help exclude pests.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extLst>
      <p:ext uri="{BB962C8B-B14F-4D97-AF65-F5344CB8AC3E}">
        <p14:creationId xmlns:p14="http://schemas.microsoft.com/office/powerpoint/2010/main" val="388446514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provide advice to trainees regarding dry goods storage:</a:t>
            </a:r>
          </a:p>
          <a:p>
            <a:pPr lvl="0">
              <a:buFont typeface="Arial" pitchFamily="34" charset="0"/>
              <a:buChar char="•"/>
            </a:pPr>
            <a:r>
              <a:rPr lang="en-AU" sz="1200" kern="1200" dirty="0" smtClean="0">
                <a:solidFill>
                  <a:schemeClr val="tx1"/>
                </a:solidFill>
                <a:latin typeface="+mn-lt"/>
                <a:ea typeface="+mn-ea"/>
                <a:cs typeface="+mn-cs"/>
              </a:rPr>
              <a:t> The lowest shelf is sufficiently far enough above floor level to enable air circulation around goods, and allow mops and brooms to get under the shelves when cleaning is required</a:t>
            </a:r>
          </a:p>
          <a:p>
            <a:pPr lvl="0">
              <a:buFont typeface="Arial" pitchFamily="34" charset="0"/>
              <a:buChar char="•"/>
            </a:pPr>
            <a:r>
              <a:rPr lang="en-AU" sz="1200" kern="1200" dirty="0" smtClean="0">
                <a:solidFill>
                  <a:schemeClr val="tx1"/>
                </a:solidFill>
                <a:latin typeface="+mn-lt"/>
                <a:ea typeface="+mn-ea"/>
                <a:cs typeface="+mn-cs"/>
              </a:rPr>
              <a:t> Bulk food containers are made from food grade materials and have tight-fitting lids – plastic garbage bins are not permitted to be used for food storage as they are liable to splitting, do not have a smooth internal surface to facilitate cleaning and do not protect sufficiently against mice and rats</a:t>
            </a:r>
          </a:p>
          <a:p>
            <a:pPr lvl="0">
              <a:buFont typeface="Arial" pitchFamily="34" charset="0"/>
              <a:buChar char="•"/>
            </a:pPr>
            <a:r>
              <a:rPr lang="en-AU" sz="1200" kern="1200" dirty="0" smtClean="0">
                <a:solidFill>
                  <a:schemeClr val="tx1"/>
                </a:solidFill>
                <a:latin typeface="+mn-lt"/>
                <a:ea typeface="+mn-ea"/>
                <a:cs typeface="+mn-cs"/>
              </a:rPr>
              <a:t> Food storage containers are cleaned and sanitised before being re-used or re-filled – to guard against batch-mixing</a:t>
            </a:r>
          </a:p>
          <a:p>
            <a:pPr lvl="0">
              <a:buFont typeface="Arial" pitchFamily="34" charset="0"/>
              <a:buChar char="•"/>
            </a:pPr>
            <a:r>
              <a:rPr lang="en-AU" sz="1200" kern="1200" dirty="0" smtClean="0">
                <a:solidFill>
                  <a:schemeClr val="tx1"/>
                </a:solidFill>
                <a:latin typeface="+mn-lt"/>
                <a:ea typeface="+mn-ea"/>
                <a:cs typeface="+mn-cs"/>
              </a:rPr>
              <a:t> Any canned, tinned or bottled food must be transferred to an appropriate container and refrigerated once the container has been opened – it is not acceptable (for example) to open a can, use half the contents and then return the open can to dry storage. The food must be transferred to a plastic or stainless steel (or other appropriate) container and then placed in the refrigerator. </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extLst>
      <p:ext uri="{BB962C8B-B14F-4D97-AF65-F5344CB8AC3E}">
        <p14:creationId xmlns:p14="http://schemas.microsoft.com/office/powerpoint/2010/main" val="384842670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provides direction to trainees regarding use of refrigerated food storage units stating they must ensure:</a:t>
            </a:r>
          </a:p>
          <a:p>
            <a:pPr lvl="0">
              <a:buFont typeface="Arial" pitchFamily="34" charset="0"/>
              <a:buChar char="•"/>
            </a:pPr>
            <a:r>
              <a:rPr lang="en-AU" sz="1200" kern="1200" dirty="0" smtClean="0">
                <a:solidFill>
                  <a:schemeClr val="tx1"/>
                </a:solidFill>
                <a:latin typeface="+mn-lt"/>
                <a:ea typeface="+mn-ea"/>
                <a:cs typeface="+mn-cs"/>
              </a:rPr>
              <a:t> The temperature is kept at 5°C or below and is checked with an independent calibrated thermometer – checks must be done at least once per day.  The maximum time high risk foods should be stored at 5°C or below is 7 days. Foods should be eaten within this time or discarded. Where the temperature is 3°C or less, this time could extend beyond 7 days</a:t>
            </a:r>
          </a:p>
          <a:p>
            <a:pPr lvl="0">
              <a:buFont typeface="Arial" pitchFamily="34" charset="0"/>
              <a:buChar char="•"/>
            </a:pPr>
            <a:r>
              <a:rPr lang="en-AU" sz="1200" kern="1200" dirty="0" smtClean="0">
                <a:solidFill>
                  <a:schemeClr val="tx1"/>
                </a:solidFill>
                <a:latin typeface="+mn-lt"/>
                <a:ea typeface="+mn-ea"/>
                <a:cs typeface="+mn-cs"/>
              </a:rPr>
              <a:t> The coolroom</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refrigerator door is closed between uses and an effort made to minimise opening times by planning openings – an open door raises the temperature and makes the unit more expensive to operate</a:t>
            </a:r>
          </a:p>
          <a:p>
            <a:pPr lvl="0">
              <a:buFont typeface="Arial" pitchFamily="34" charset="0"/>
              <a:buChar char="•"/>
            </a:pPr>
            <a:r>
              <a:rPr lang="en-AU" sz="1200" kern="1200" dirty="0" smtClean="0">
                <a:solidFill>
                  <a:schemeClr val="tx1"/>
                </a:solidFill>
                <a:latin typeface="+mn-lt"/>
                <a:ea typeface="+mn-ea"/>
                <a:cs typeface="+mn-cs"/>
              </a:rPr>
              <a:t> The cool room is not overcrowded – to enable air to circulate freely around food items.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extLst>
      <p:ext uri="{BB962C8B-B14F-4D97-AF65-F5344CB8AC3E}">
        <p14:creationId xmlns:p14="http://schemas.microsoft.com/office/powerpoint/2010/main" val="55140536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providing advice to</a:t>
            </a:r>
            <a:r>
              <a:rPr lang="en-US" baseline="0" dirty="0" smtClean="0"/>
              <a:t> trainees in relation to use of refrigerated storage:</a:t>
            </a:r>
          </a:p>
          <a:p>
            <a:pPr lvl="0">
              <a:buFont typeface="Arial" pitchFamily="34" charset="0"/>
              <a:buChar char="•"/>
            </a:pPr>
            <a:r>
              <a:rPr lang="en-AU" sz="1200" kern="1200" dirty="0" smtClean="0">
                <a:solidFill>
                  <a:schemeClr val="tx1"/>
                </a:solidFill>
                <a:latin typeface="+mn-lt"/>
                <a:ea typeface="+mn-ea"/>
                <a:cs typeface="+mn-cs"/>
              </a:rPr>
              <a:t> Food loads put into the coolroom</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refrigerator are broken down into smaller units to enable faster cooling – where large units of food are placed in the refrigerator it takes a lot longer for the core of the food to move out of the Temperature Danger Zone.</a:t>
            </a:r>
          </a:p>
          <a:p>
            <a:pPr>
              <a:buFont typeface="Arial" pitchFamily="34" charset="0"/>
              <a:buChar char="•"/>
            </a:pPr>
            <a:r>
              <a:rPr lang="en-AU" sz="1200" kern="1200" dirty="0" smtClean="0">
                <a:solidFill>
                  <a:schemeClr val="tx1"/>
                </a:solidFill>
                <a:latin typeface="+mn-lt"/>
                <a:ea typeface="+mn-ea"/>
                <a:cs typeface="+mn-cs"/>
              </a:rPr>
              <a:t> Hot foods should be allowed to cool (for example, by placing the food in pots and then into tubs full of a water-ice mixture) before being placed in the cool room. Frequent stirring of the food will help it to cool quicker. The ‘Two-step rule’ for cooling hot foods must be complied with – see later slide.</a:t>
            </a:r>
          </a:p>
          <a:p>
            <a:pPr lvl="0">
              <a:buFont typeface="Arial" pitchFamily="34" charset="0"/>
              <a:buChar char="•"/>
            </a:pPr>
            <a:r>
              <a:rPr lang="en-AU" sz="1200" kern="1200" dirty="0" smtClean="0">
                <a:solidFill>
                  <a:schemeClr val="tx1"/>
                </a:solidFill>
                <a:latin typeface="+mn-lt"/>
                <a:ea typeface="+mn-ea"/>
                <a:cs typeface="+mn-cs"/>
              </a:rPr>
              <a:t> All food is covered and protected from contamination – plastic film with a label attached to identify the food and date it was placed under refrigeration should be used</a:t>
            </a:r>
          </a:p>
          <a:p>
            <a:pPr lvl="0">
              <a:buFont typeface="Arial" pitchFamily="34" charset="0"/>
              <a:buChar char="•"/>
            </a:pPr>
            <a:r>
              <a:rPr lang="en-AU" sz="1200" kern="1200" dirty="0" smtClean="0">
                <a:solidFill>
                  <a:schemeClr val="tx1"/>
                </a:solidFill>
                <a:latin typeface="+mn-lt"/>
                <a:ea typeface="+mn-ea"/>
                <a:cs typeface="+mn-cs"/>
              </a:rPr>
              <a:t> Potentially hazardous raw food is separated from cooked or ready-to-eat foods – this is to prevent cross contamination.  Never store potentially hazardous raw food above cooked or ready-to-eat foods as there is the potential for raw blood or juice to drip down onto the food below.</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extLst>
      <p:ext uri="{BB962C8B-B14F-4D97-AF65-F5344CB8AC3E}">
        <p14:creationId xmlns:p14="http://schemas.microsoft.com/office/powerpoint/2010/main" val="28100719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provides direction to trainees regarding use of frozen food storage units (freezers) stating they must ensure:</a:t>
            </a:r>
          </a:p>
          <a:p>
            <a:pPr lvl="0">
              <a:buFont typeface="Arial" pitchFamily="34" charset="0"/>
              <a:buChar char="•"/>
            </a:pPr>
            <a:r>
              <a:rPr lang="en-AU" sz="1200" kern="1200" dirty="0" smtClean="0">
                <a:solidFill>
                  <a:schemeClr val="tx1"/>
                </a:solidFill>
                <a:latin typeface="+mn-lt"/>
                <a:ea typeface="+mn-ea"/>
                <a:cs typeface="+mn-cs"/>
              </a:rPr>
              <a:t> Hot food is never frozen – cool it first following the two-step rule for cooling hot food (see Section 1.5)</a:t>
            </a:r>
          </a:p>
          <a:p>
            <a:pPr lvl="0">
              <a:buFont typeface="Arial" pitchFamily="34" charset="0"/>
              <a:buChar char="•"/>
            </a:pPr>
            <a:r>
              <a:rPr lang="en-AU" sz="1200" kern="1200" dirty="0" smtClean="0">
                <a:solidFill>
                  <a:schemeClr val="tx1"/>
                </a:solidFill>
                <a:latin typeface="+mn-lt"/>
                <a:ea typeface="+mn-ea"/>
                <a:cs typeface="+mn-cs"/>
              </a:rPr>
              <a:t> Thawed items must never be refrozen – once de-frosted, food should be used or thrown out</a:t>
            </a:r>
          </a:p>
          <a:p>
            <a:pPr lvl="0">
              <a:buFont typeface="Arial" pitchFamily="34" charset="0"/>
              <a:buChar char="•"/>
            </a:pPr>
            <a:r>
              <a:rPr lang="en-AU" sz="1200" kern="1200" dirty="0" smtClean="0">
                <a:solidFill>
                  <a:schemeClr val="tx1"/>
                </a:solidFill>
                <a:latin typeface="+mn-lt"/>
                <a:ea typeface="+mn-ea"/>
                <a:cs typeface="+mn-cs"/>
              </a:rPr>
              <a:t> Freezers are defrosted regularly – to maintain operating effectiveness and encourage turnover of items </a:t>
            </a:r>
          </a:p>
          <a:p>
            <a:pPr lvl="0">
              <a:buFont typeface="Arial" pitchFamily="34" charset="0"/>
              <a:buChar char="•"/>
            </a:pPr>
            <a:r>
              <a:rPr lang="en-AU" sz="1200" kern="1200" dirty="0" smtClean="0">
                <a:solidFill>
                  <a:schemeClr val="tx1"/>
                </a:solidFill>
                <a:latin typeface="+mn-lt"/>
                <a:ea typeface="+mn-ea"/>
                <a:cs typeface="+mn-cs"/>
              </a:rPr>
              <a:t> Freezer doors are kept closed when the freezer is not in use – to keep cold air in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extLst>
      <p:ext uri="{BB962C8B-B14F-4D97-AF65-F5344CB8AC3E}">
        <p14:creationId xmlns:p14="http://schemas.microsoft.com/office/powerpoint/2010/main" val="194856331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provide advice to trainees regarding use of freezers to store food:</a:t>
            </a:r>
          </a:p>
          <a:p>
            <a:pPr lvl="0">
              <a:buFont typeface="Arial" pitchFamily="34" charset="0"/>
              <a:buChar char="•"/>
            </a:pPr>
            <a:r>
              <a:rPr lang="en-AU" sz="1200" kern="1200" dirty="0" smtClean="0">
                <a:solidFill>
                  <a:schemeClr val="tx1"/>
                </a:solidFill>
                <a:latin typeface="+mn-lt"/>
                <a:ea typeface="+mn-ea"/>
                <a:cs typeface="+mn-cs"/>
              </a:rPr>
              <a:t> Freezer temperature is be checked at least daily – to ensure correct operating temperature</a:t>
            </a:r>
          </a:p>
          <a:p>
            <a:pPr lvl="0">
              <a:buFont typeface="Arial" pitchFamily="34" charset="0"/>
              <a:buChar char="•"/>
            </a:pPr>
            <a:r>
              <a:rPr lang="en-AU" sz="1200" kern="1200" dirty="0" smtClean="0">
                <a:solidFill>
                  <a:schemeClr val="tx1"/>
                </a:solidFill>
                <a:latin typeface="+mn-lt"/>
                <a:ea typeface="+mn-ea"/>
                <a:cs typeface="+mn-cs"/>
              </a:rPr>
              <a:t> Large pieces or amounts of food are not frozen as this encourages others to defrost the item and then re-freeze it – in practice this means freezing slices of meat rather than  slabs of meat, and using shallow storage containers rather than deep ones to freeze food</a:t>
            </a:r>
          </a:p>
          <a:p>
            <a:pPr lvl="0">
              <a:buFont typeface="Arial" pitchFamily="34" charset="0"/>
              <a:buChar char="•"/>
            </a:pPr>
            <a:r>
              <a:rPr lang="en-AU" sz="1200" kern="1200" dirty="0" smtClean="0">
                <a:solidFill>
                  <a:schemeClr val="tx1"/>
                </a:solidFill>
                <a:latin typeface="+mn-lt"/>
                <a:ea typeface="+mn-ea"/>
                <a:cs typeface="+mn-cs"/>
              </a:rPr>
              <a:t> Manufacturer’s instructions regarding the storage of frozen food products are followed – these may relate to storage temperatures and the length of time the product can be stored (for quality and</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or safety reasons).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extLst>
      <p:ext uri="{BB962C8B-B14F-4D97-AF65-F5344CB8AC3E}">
        <p14:creationId xmlns:p14="http://schemas.microsoft.com/office/powerpoint/2010/main" val="103642639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instructs trainees proper stock rotation is also an important element of safe food handling indicating:</a:t>
            </a:r>
          </a:p>
          <a:p>
            <a:pPr>
              <a:buFont typeface="Arial" pitchFamily="34" charset="0"/>
              <a:buChar char="•"/>
            </a:pPr>
            <a:r>
              <a:rPr lang="en-AU" sz="1200" kern="1200" dirty="0" smtClean="0">
                <a:solidFill>
                  <a:schemeClr val="tx1"/>
                </a:solidFill>
                <a:latin typeface="+mn-lt"/>
                <a:ea typeface="+mn-ea"/>
                <a:cs typeface="+mn-cs"/>
              </a:rPr>
              <a:t> Effective stock rotation for foods means using the FIFO approach to stock rotation – First In, First Out. This method requires food to be used/served in the order it was delivered meaning the foods in stock the longest are used first. In practice this means when storing food:</a:t>
            </a:r>
          </a:p>
          <a:p>
            <a:pPr lvl="1">
              <a:buFont typeface="Arial" pitchFamily="34" charset="0"/>
              <a:buChar char="•"/>
            </a:pPr>
            <a:r>
              <a:rPr lang="en-AU" sz="1200" kern="1200" dirty="0" smtClean="0">
                <a:solidFill>
                  <a:schemeClr val="tx1"/>
                </a:solidFill>
                <a:latin typeface="+mn-lt"/>
                <a:ea typeface="+mn-ea"/>
                <a:cs typeface="+mn-cs"/>
              </a:rPr>
              <a:t> Old</a:t>
            </a:r>
            <a:r>
              <a:rPr lang="en-AU" sz="1200" kern="1200" baseline="0" dirty="0" smtClean="0">
                <a:solidFill>
                  <a:schemeClr val="tx1"/>
                </a:solidFill>
                <a:latin typeface="+mn-lt"/>
                <a:ea typeface="+mn-ea"/>
                <a:cs typeface="+mn-cs"/>
              </a:rPr>
              <a:t> and </a:t>
            </a:r>
            <a:r>
              <a:rPr lang="en-AU" sz="1200" kern="1200" dirty="0" smtClean="0">
                <a:solidFill>
                  <a:schemeClr val="tx1"/>
                </a:solidFill>
                <a:latin typeface="+mn-lt"/>
                <a:ea typeface="+mn-ea"/>
                <a:cs typeface="+mn-cs"/>
              </a:rPr>
              <a:t>existing stock must be moved forward on the shelf and the newly delivered stock must be placed behind it – this allows the stock at the front (the oldest stock) to be used before the newer stock</a:t>
            </a:r>
          </a:p>
          <a:p>
            <a:pPr lvl="1">
              <a:buFont typeface="Arial" pitchFamily="34" charset="0"/>
              <a:buChar char="•"/>
            </a:pPr>
            <a:r>
              <a:rPr lang="en-AU" sz="1200" kern="1200" dirty="0" smtClean="0">
                <a:solidFill>
                  <a:schemeClr val="tx1"/>
                </a:solidFill>
                <a:latin typeface="+mn-lt"/>
                <a:ea typeface="+mn-ea"/>
                <a:cs typeface="+mn-cs"/>
              </a:rPr>
              <a:t> Existing product in a chest freezer should be removed and the new stock placed at the bottom of the freezer – the existing/old stock is then replaced in the freezer on top of the newer stock</a:t>
            </a:r>
          </a:p>
          <a:p>
            <a:pPr lvl="1">
              <a:buFont typeface="Arial" pitchFamily="34" charset="0"/>
              <a:buChar char="•"/>
            </a:pPr>
            <a:r>
              <a:rPr lang="en-AU" sz="1200" kern="1200" dirty="0" smtClean="0">
                <a:solidFill>
                  <a:schemeClr val="tx1"/>
                </a:solidFill>
                <a:latin typeface="+mn-lt"/>
                <a:ea typeface="+mn-ea"/>
                <a:cs typeface="+mn-cs"/>
              </a:rPr>
              <a:t> Check use-by dates of products – and store them so the nearest date is at the front so it will be used first. </a:t>
            </a:r>
          </a:p>
          <a:p>
            <a:pPr>
              <a:buFont typeface="Arial" pitchFamily="34" charset="0"/>
              <a:buNone/>
            </a:pPr>
            <a:endParaRPr lang="en-US" dirty="0" smtClean="0"/>
          </a:p>
          <a:p>
            <a:pPr>
              <a:buFont typeface="Arial" pitchFamily="34" charset="0"/>
              <a:buNone/>
            </a:pPr>
            <a:r>
              <a:rPr lang="en-US" b="1" dirty="0" smtClean="0"/>
              <a:t>Class Activity – Demonstration </a:t>
            </a:r>
          </a:p>
          <a:p>
            <a:pPr>
              <a:buFont typeface="Arial" pitchFamily="34" charset="0"/>
              <a:buNone/>
            </a:pPr>
            <a:r>
              <a:rPr lang="en-US" b="0" dirty="0" smtClean="0"/>
              <a:t>Trainer shows trainees how to rotate stock in accordance with FIFO method of stock rotation, using:</a:t>
            </a:r>
          </a:p>
          <a:p>
            <a:pPr>
              <a:buFont typeface="Arial" pitchFamily="34" charset="0"/>
              <a:buChar char="•"/>
            </a:pPr>
            <a:r>
              <a:rPr lang="en-US" b="0" dirty="0" smtClean="0"/>
              <a:t> Food on shelves</a:t>
            </a:r>
          </a:p>
          <a:p>
            <a:pPr>
              <a:buFont typeface="Arial" pitchFamily="34" charset="0"/>
              <a:buChar char="•"/>
            </a:pPr>
            <a:r>
              <a:rPr lang="en-US" b="0" dirty="0" smtClean="0"/>
              <a:t> Food in coolroom</a:t>
            </a:r>
          </a:p>
          <a:p>
            <a:pPr>
              <a:buFont typeface="Arial" pitchFamily="34" charset="0"/>
              <a:buChar char="•"/>
            </a:pPr>
            <a:r>
              <a:rPr lang="en-US" b="0" dirty="0" smtClean="0"/>
              <a:t> Food</a:t>
            </a:r>
            <a:r>
              <a:rPr lang="en-US" b="0" baseline="0" dirty="0" smtClean="0"/>
              <a:t> in freezers.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extLst>
      <p:ext uri="{BB962C8B-B14F-4D97-AF65-F5344CB8AC3E}">
        <p14:creationId xmlns:p14="http://schemas.microsoft.com/office/powerpoint/2010/main" val="155380096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advises trainees regarding application of the ‘Two-step rule’ for cooling hot food stating:</a:t>
            </a:r>
          </a:p>
          <a:p>
            <a:pPr>
              <a:buFont typeface="Arial" pitchFamily="34" charset="0"/>
              <a:buChar char="•"/>
            </a:pPr>
            <a:r>
              <a:rPr lang="en-AU" sz="1200" b="1" i="1" kern="1200" dirty="0" smtClean="0">
                <a:solidFill>
                  <a:schemeClr val="tx1"/>
                </a:solidFill>
                <a:latin typeface="+mn-lt"/>
                <a:ea typeface="+mn-ea"/>
                <a:cs typeface="+mn-cs"/>
              </a:rPr>
              <a:t> </a:t>
            </a:r>
            <a:r>
              <a:rPr lang="en-AU" sz="1200" b="0" i="0" kern="1200" dirty="0" smtClean="0">
                <a:solidFill>
                  <a:schemeClr val="tx1"/>
                </a:solidFill>
                <a:latin typeface="+mn-lt"/>
                <a:ea typeface="+mn-ea"/>
                <a:cs typeface="+mn-cs"/>
              </a:rPr>
              <a:t>Step 1: </a:t>
            </a:r>
            <a:r>
              <a:rPr lang="en-AU" sz="1200" b="1" i="1" kern="1200" dirty="0" smtClean="0">
                <a:solidFill>
                  <a:schemeClr val="tx1"/>
                </a:solidFill>
                <a:latin typeface="+mn-lt"/>
                <a:ea typeface="+mn-ea"/>
                <a:cs typeface="+mn-cs"/>
              </a:rPr>
              <a:t> </a:t>
            </a:r>
            <a:r>
              <a:rPr lang="en-AU" sz="1200" kern="1200" dirty="0" smtClean="0">
                <a:solidFill>
                  <a:schemeClr val="tx1"/>
                </a:solidFill>
                <a:latin typeface="+mn-lt"/>
                <a:ea typeface="+mn-ea"/>
                <a:cs typeface="+mn-cs"/>
              </a:rPr>
              <a:t>Cool hot food down from 60°C to 21°C within 2 hours of removing the food from the stove, oven or other cooking unit.</a:t>
            </a:r>
          </a:p>
          <a:p>
            <a:pPr>
              <a:buFont typeface="Arial" pitchFamily="34" charset="0"/>
              <a:buChar char="•"/>
            </a:pPr>
            <a:r>
              <a:rPr lang="en-AU" sz="1200" b="1" i="1" kern="1200" dirty="0" smtClean="0">
                <a:solidFill>
                  <a:schemeClr val="tx1"/>
                </a:solidFill>
                <a:latin typeface="+mn-lt"/>
                <a:ea typeface="+mn-ea"/>
                <a:cs typeface="+mn-cs"/>
              </a:rPr>
              <a:t> </a:t>
            </a:r>
            <a:r>
              <a:rPr lang="en-AU" sz="1200" b="0" i="0" kern="1200" dirty="0" smtClean="0">
                <a:solidFill>
                  <a:schemeClr val="tx1"/>
                </a:solidFill>
                <a:latin typeface="+mn-lt"/>
                <a:ea typeface="+mn-ea"/>
                <a:cs typeface="+mn-cs"/>
              </a:rPr>
              <a:t>Step 2:  </a:t>
            </a:r>
            <a:r>
              <a:rPr lang="en-AU" sz="1200" kern="1200" dirty="0" smtClean="0">
                <a:solidFill>
                  <a:schemeClr val="tx1"/>
                </a:solidFill>
                <a:latin typeface="+mn-lt"/>
                <a:ea typeface="+mn-ea"/>
                <a:cs typeface="+mn-cs"/>
              </a:rPr>
              <a:t>Once the food has reached 21°C it should be placed into a refrigerator</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coolroom, and then cooled to 5°C (or below) within a further 4 hours.</a:t>
            </a:r>
          </a:p>
          <a:p>
            <a:pPr>
              <a:buFont typeface="Arial" pitchFamily="34" charset="0"/>
              <a:buChar char="•"/>
            </a:pPr>
            <a:r>
              <a:rPr lang="en-AU" sz="1200" kern="1200" dirty="0" smtClean="0">
                <a:solidFill>
                  <a:schemeClr val="tx1"/>
                </a:solidFill>
                <a:latin typeface="+mn-lt"/>
                <a:ea typeface="+mn-ea"/>
                <a:cs typeface="+mn-cs"/>
              </a:rPr>
              <a:t> If the cooling of high risk food does not meet these criteria, the food must be thrown out to optimise food safety.</a:t>
            </a:r>
          </a:p>
          <a:p>
            <a:pPr>
              <a:buFont typeface="Arial" pitchFamily="34" charset="0"/>
              <a:buChar char="•"/>
            </a:pPr>
            <a:r>
              <a:rPr lang="en-AU" sz="1200" kern="1200" dirty="0" smtClean="0">
                <a:solidFill>
                  <a:schemeClr val="tx1"/>
                </a:solidFill>
                <a:latin typeface="+mn-lt"/>
                <a:ea typeface="+mn-ea"/>
                <a:cs typeface="+mn-cs"/>
              </a:rPr>
              <a:t> Once the food has reached 5°C, it can safely be put in the freezer.</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extLst>
      <p:ext uri="{BB962C8B-B14F-4D97-AF65-F5344CB8AC3E}">
        <p14:creationId xmlns:p14="http://schemas.microsoft.com/office/powerpoint/2010/main" val="312814111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 ‘cross contamination’ to trainees indicating:</a:t>
            </a:r>
          </a:p>
          <a:p>
            <a:pPr>
              <a:buFont typeface="Arial" pitchFamily="34" charset="0"/>
              <a:buChar char="•"/>
            </a:pPr>
            <a:r>
              <a:rPr lang="en-AU" sz="1200" kern="1200" dirty="0" smtClean="0">
                <a:solidFill>
                  <a:schemeClr val="tx1"/>
                </a:solidFill>
                <a:latin typeface="+mn-lt"/>
                <a:ea typeface="+mn-ea"/>
                <a:cs typeface="+mn-cs"/>
              </a:rPr>
              <a:t> Cross contamination is the contamination of food (or food preparation surfaces, equipment, utensils) with bacteria, chemicals or allergens as a result of contact with a contaminated source. Bacteria cannot fly, jump or hop so they depend on people to move them around from place to place via direct contact or through indirect contact</a:t>
            </a:r>
          </a:p>
          <a:p>
            <a:pPr>
              <a:buFont typeface="Arial" pitchFamily="34" charset="0"/>
              <a:buChar char="•"/>
            </a:pPr>
            <a:r>
              <a:rPr lang="en-AU" sz="1200" kern="1200" dirty="0" smtClean="0">
                <a:solidFill>
                  <a:schemeClr val="tx1"/>
                </a:solidFill>
                <a:latin typeface="+mn-lt"/>
                <a:ea typeface="+mn-ea"/>
                <a:cs typeface="+mn-cs"/>
              </a:rPr>
              <a:t> Examples of direct contact are:</a:t>
            </a:r>
          </a:p>
          <a:p>
            <a:pPr lvl="1">
              <a:buFont typeface="Arial" pitchFamily="34" charset="0"/>
              <a:buChar char="•"/>
            </a:pPr>
            <a:r>
              <a:rPr lang="en-AU" sz="1200" kern="1200" dirty="0" smtClean="0">
                <a:solidFill>
                  <a:schemeClr val="tx1"/>
                </a:solidFill>
                <a:latin typeface="+mn-lt"/>
                <a:ea typeface="+mn-ea"/>
                <a:cs typeface="+mn-cs"/>
              </a:rPr>
              <a:t> Using a knife to cut raw meat and then using the same knife to cut cooked, ready-to-eat meat without cleaning and sanitising the knife in between tasks – the blood and residual meat on the knife will carry bacteria and this will be transferred by the knife to the previously safe cooked, ready-to-eat meat</a:t>
            </a:r>
          </a:p>
          <a:p>
            <a:pPr lvl="1">
              <a:buFont typeface="Arial" pitchFamily="34" charset="0"/>
              <a:buChar char="•"/>
            </a:pPr>
            <a:r>
              <a:rPr lang="en-AU" sz="1200" kern="1200" dirty="0" smtClean="0">
                <a:solidFill>
                  <a:schemeClr val="tx1"/>
                </a:solidFill>
                <a:latin typeface="+mn-lt"/>
                <a:ea typeface="+mn-ea"/>
                <a:cs typeface="+mn-cs"/>
              </a:rPr>
              <a:t> Using a chopping board to cut raw chicken and then using the same chopping board to cut cooked meat for salads without cleaning and sanitising the board in between tasks – the chopping board will carry bacteria from the uncooked chicken (the cooking process should destroy the bacteria) which will then be transferred to the previously safe to eat cooked meat</a:t>
            </a:r>
          </a:p>
          <a:p>
            <a:pPr>
              <a:buFont typeface="Arial" pitchFamily="34" charset="0"/>
              <a:buChar char="•"/>
            </a:pPr>
            <a:r>
              <a:rPr lang="en-AU" sz="1200" kern="1200" dirty="0" smtClean="0">
                <a:solidFill>
                  <a:schemeClr val="tx1"/>
                </a:solidFill>
                <a:latin typeface="+mn-lt"/>
                <a:ea typeface="+mn-ea"/>
                <a:cs typeface="+mn-cs"/>
              </a:rPr>
              <a:t> Examples of indirect contact are:</a:t>
            </a:r>
          </a:p>
          <a:p>
            <a:pPr lvl="1">
              <a:buFont typeface="Arial" pitchFamily="34" charset="0"/>
              <a:buChar char="•"/>
            </a:pPr>
            <a:r>
              <a:rPr lang="en-AU" sz="1200" kern="1200" dirty="0" smtClean="0">
                <a:solidFill>
                  <a:schemeClr val="tx1"/>
                </a:solidFill>
                <a:latin typeface="+mn-lt"/>
                <a:ea typeface="+mn-ea"/>
                <a:cs typeface="+mn-cs"/>
              </a:rPr>
              <a:t> Coughing or sneezing into the hand, and then using the hand to prepare or touch food or to touch a food preparation surface without first washing it to remove the contaminants.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extLst>
      <p:ext uri="{BB962C8B-B14F-4D97-AF65-F5344CB8AC3E}">
        <p14:creationId xmlns:p14="http://schemas.microsoft.com/office/powerpoint/2010/main" val="196174693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 to trainees the </a:t>
            </a:r>
            <a:r>
              <a:rPr lang="en-AU" sz="1200" kern="1200" dirty="0" smtClean="0">
                <a:solidFill>
                  <a:schemeClr val="tx1"/>
                </a:solidFill>
                <a:latin typeface="+mn-lt"/>
                <a:ea typeface="+mn-ea"/>
                <a:cs typeface="+mn-cs"/>
              </a:rPr>
              <a:t>primary causes of cross contamination are:</a:t>
            </a:r>
          </a:p>
          <a:p>
            <a:pPr lvl="0">
              <a:buFont typeface="Arial" pitchFamily="34" charset="0"/>
              <a:buChar char="•"/>
            </a:pPr>
            <a:r>
              <a:rPr lang="en-AU" sz="1200" kern="1200" dirty="0" smtClean="0">
                <a:solidFill>
                  <a:schemeClr val="tx1"/>
                </a:solidFill>
                <a:latin typeface="+mn-lt"/>
                <a:ea typeface="+mn-ea"/>
                <a:cs typeface="+mn-cs"/>
              </a:rPr>
              <a:t> Linen items (uniforms, tea towels, towels, swabs, handkerchiefs, cloths) that are contaminated with human waste such as blood and secretions, and food  residue (such as food that has been wiped up after a spillage or in order to clean a plate for presentation purposes)</a:t>
            </a:r>
          </a:p>
          <a:p>
            <a:pPr lvl="0">
              <a:buFont typeface="Arial" pitchFamily="34" charset="0"/>
              <a:buChar char="•"/>
            </a:pPr>
            <a:r>
              <a:rPr lang="en-AU" sz="1200" kern="1200" dirty="0" smtClean="0">
                <a:solidFill>
                  <a:schemeClr val="tx1"/>
                </a:solidFill>
                <a:latin typeface="+mn-lt"/>
                <a:ea typeface="+mn-ea"/>
                <a:cs typeface="+mn-cs"/>
              </a:rPr>
              <a:t> Dirty equipment – which is used to process, hold or serve food</a:t>
            </a:r>
          </a:p>
          <a:p>
            <a:pPr lvl="0">
              <a:buFont typeface="Arial" pitchFamily="34" charset="0"/>
              <a:buChar char="•"/>
            </a:pPr>
            <a:r>
              <a:rPr lang="en-AU" sz="1200" kern="1200" dirty="0" smtClean="0">
                <a:solidFill>
                  <a:schemeClr val="tx1"/>
                </a:solidFill>
                <a:latin typeface="+mn-lt"/>
                <a:ea typeface="+mn-ea"/>
                <a:cs typeface="+mn-cs"/>
              </a:rPr>
              <a:t> Dirty utensils – which is used to serve or eat food</a:t>
            </a:r>
          </a:p>
          <a:p>
            <a:pPr lvl="0">
              <a:buFont typeface="Arial" pitchFamily="34" charset="0"/>
              <a:buChar char="•"/>
            </a:pPr>
            <a:r>
              <a:rPr lang="en-AU" sz="1200" kern="1200" dirty="0" smtClean="0">
                <a:solidFill>
                  <a:schemeClr val="tx1"/>
                </a:solidFill>
                <a:latin typeface="+mn-lt"/>
                <a:ea typeface="+mn-ea"/>
                <a:cs typeface="+mn-cs"/>
              </a:rPr>
              <a:t> Raw food making contact with cooked</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ready-to-eat food – or surfaces that will be used to prepare or serve cooked</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ready-to-eat food</a:t>
            </a:r>
          </a:p>
          <a:p>
            <a:pPr lvl="0">
              <a:buFont typeface="Arial" pitchFamily="34" charset="0"/>
              <a:buChar char="•"/>
            </a:pPr>
            <a:r>
              <a:rPr lang="en-AU" sz="1200" b="1" i="1" kern="1200" dirty="0" smtClean="0">
                <a:solidFill>
                  <a:schemeClr val="tx1"/>
                </a:solidFill>
                <a:latin typeface="+mn-lt"/>
                <a:ea typeface="+mn-ea"/>
                <a:cs typeface="+mn-cs"/>
              </a:rPr>
              <a:t> </a:t>
            </a:r>
            <a:r>
              <a:rPr lang="en-AU" sz="1200" b="0" i="0" kern="1200" dirty="0" smtClean="0">
                <a:solidFill>
                  <a:schemeClr val="tx1"/>
                </a:solidFill>
                <a:latin typeface="+mn-lt"/>
                <a:ea typeface="+mn-ea"/>
                <a:cs typeface="+mn-cs"/>
              </a:rPr>
              <a:t>Failure of food handlers to wash their hands when and as required.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extLst>
      <p:ext uri="{BB962C8B-B14F-4D97-AF65-F5344CB8AC3E}">
        <p14:creationId xmlns:p14="http://schemas.microsoft.com/office/powerpoint/2010/main" val="143780867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explains to trainees the following techniques will help reduce the likelihood of cross contamination:</a:t>
            </a:r>
          </a:p>
          <a:p>
            <a:pPr lvl="0">
              <a:buFont typeface="Arial" pitchFamily="34" charset="0"/>
              <a:buChar char="•"/>
            </a:pPr>
            <a:r>
              <a:rPr lang="en-AU" sz="1200" kern="1200" dirty="0" smtClean="0">
                <a:solidFill>
                  <a:schemeClr val="tx1"/>
                </a:solidFill>
                <a:latin typeface="+mn-lt"/>
                <a:ea typeface="+mn-ea"/>
                <a:cs typeface="+mn-cs"/>
              </a:rPr>
              <a:t> Wearing clean clothes and clean protective clothing for each shift</a:t>
            </a:r>
          </a:p>
          <a:p>
            <a:pPr lvl="0">
              <a:buFont typeface="Arial" pitchFamily="34" charset="0"/>
              <a:buChar char="•"/>
            </a:pPr>
            <a:r>
              <a:rPr lang="en-AU" sz="1200" kern="1200" dirty="0" smtClean="0">
                <a:solidFill>
                  <a:schemeClr val="tx1"/>
                </a:solidFill>
                <a:latin typeface="+mn-lt"/>
                <a:ea typeface="+mn-ea"/>
                <a:cs typeface="+mn-cs"/>
              </a:rPr>
              <a:t> Cleaning and sanitising food equipment, utensils and preparation areas in accordance with the cleaning schedule for the premises – including cleaning and sanitising of preparation benches in between preparing raw high risk food and other foods</a:t>
            </a:r>
          </a:p>
          <a:p>
            <a:pPr lvl="0">
              <a:buFont typeface="Arial" pitchFamily="34" charset="0"/>
              <a:buChar char="•"/>
            </a:pPr>
            <a:r>
              <a:rPr lang="en-AU" sz="1200" kern="1200" dirty="0" smtClean="0">
                <a:solidFill>
                  <a:schemeClr val="tx1"/>
                </a:solidFill>
                <a:latin typeface="+mn-lt"/>
                <a:ea typeface="+mn-ea"/>
                <a:cs typeface="+mn-cs"/>
              </a:rPr>
              <a:t> Using waterproof bandages and dressings on cuts and sores</a:t>
            </a:r>
          </a:p>
          <a:p>
            <a:pPr lvl="0">
              <a:buFont typeface="Arial" pitchFamily="34" charset="0"/>
              <a:buChar char="•"/>
            </a:pPr>
            <a:r>
              <a:rPr lang="en-AU" sz="1200" b="1" i="1" kern="1200" dirty="0" smtClean="0">
                <a:solidFill>
                  <a:schemeClr val="tx1"/>
                </a:solidFill>
                <a:latin typeface="+mn-lt"/>
                <a:ea typeface="+mn-ea"/>
                <a:cs typeface="+mn-cs"/>
              </a:rPr>
              <a:t> </a:t>
            </a:r>
            <a:r>
              <a:rPr lang="en-AU" sz="1200" b="0" i="0" kern="1200" dirty="0" smtClean="0">
                <a:solidFill>
                  <a:schemeClr val="tx1"/>
                </a:solidFill>
                <a:latin typeface="+mn-lt"/>
                <a:ea typeface="+mn-ea"/>
                <a:cs typeface="+mn-cs"/>
              </a:rPr>
              <a:t>Washing – and properly drying – hands when and as required </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extLst>
      <p:ext uri="{BB962C8B-B14F-4D97-AF65-F5344CB8AC3E}">
        <p14:creationId xmlns:p14="http://schemas.microsoft.com/office/powerpoint/2010/main" val="280548913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sz="1200" kern="1200" dirty="0" smtClean="0">
                <a:solidFill>
                  <a:schemeClr val="tx1"/>
                </a:solidFill>
                <a:latin typeface="+mn-lt"/>
                <a:ea typeface="+mn-ea"/>
                <a:cs typeface="+mn-cs"/>
              </a:rPr>
              <a:t>Trainer continues to explain to trainees techniques to help reduce the likelihood of cross contamination:</a:t>
            </a:r>
          </a:p>
          <a:p>
            <a:pPr lvl="0">
              <a:buFont typeface="Arial" pitchFamily="34" charset="0"/>
              <a:buChar char="•"/>
            </a:pPr>
            <a:r>
              <a:rPr lang="en-AU" sz="1200" kern="1200" dirty="0" smtClean="0">
                <a:solidFill>
                  <a:schemeClr val="tx1"/>
                </a:solidFill>
                <a:latin typeface="+mn-lt"/>
                <a:ea typeface="+mn-ea"/>
                <a:cs typeface="+mn-cs"/>
              </a:rPr>
              <a:t> Storing cooked, ready-to-eat food above raw high risk foods – to prevent dripping of blood</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juices onto food that will not be cooked again before being eaten</a:t>
            </a:r>
          </a:p>
          <a:p>
            <a:pPr lvl="0">
              <a:buFont typeface="Arial" pitchFamily="34" charset="0"/>
              <a:buChar char="•"/>
            </a:pPr>
            <a:r>
              <a:rPr lang="en-AU" sz="1200" kern="1200" dirty="0" smtClean="0">
                <a:solidFill>
                  <a:schemeClr val="tx1"/>
                </a:solidFill>
                <a:latin typeface="+mn-lt"/>
                <a:ea typeface="+mn-ea"/>
                <a:cs typeface="+mn-cs"/>
              </a:rPr>
              <a:t> Separating the storage of raw and cooked</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ready-to-eat foods – to prevent touching of foods causing transfer of bacteria from raw to cooked items</a:t>
            </a:r>
          </a:p>
          <a:p>
            <a:pPr lvl="0">
              <a:buFont typeface="Arial" pitchFamily="34" charset="0"/>
              <a:buChar char="•"/>
            </a:pPr>
            <a:r>
              <a:rPr lang="en-AU" sz="1200" kern="1200" dirty="0" smtClean="0">
                <a:solidFill>
                  <a:schemeClr val="tx1"/>
                </a:solidFill>
                <a:latin typeface="+mn-lt"/>
                <a:ea typeface="+mn-ea"/>
                <a:cs typeface="+mn-cs"/>
              </a:rPr>
              <a:t> Keeping foods covered as much as possible when in storage, while being processed and displayed</a:t>
            </a:r>
          </a:p>
          <a:p>
            <a:pPr lvl="0">
              <a:buFont typeface="Arial" pitchFamily="34" charset="0"/>
              <a:buChar char="•"/>
            </a:pPr>
            <a:r>
              <a:rPr lang="en-AU" sz="1200" kern="1200" dirty="0" smtClean="0">
                <a:solidFill>
                  <a:schemeClr val="tx1"/>
                </a:solidFill>
                <a:latin typeface="+mn-lt"/>
                <a:ea typeface="+mn-ea"/>
                <a:cs typeface="+mn-cs"/>
              </a:rPr>
              <a:t> Using separate sinks for washing ready-to-eat salad items and vegetables and other high risk foods – this includes a requirement a sink used for thawing high risk foods by running it under cold water should take place in a different sink to the one used for washing salad items and vegetables</a:t>
            </a:r>
          </a:p>
          <a:p>
            <a:pPr lvl="0">
              <a:buFont typeface="Arial" pitchFamily="34" charset="0"/>
              <a:buChar char="•"/>
            </a:pPr>
            <a:r>
              <a:rPr lang="en-AU" sz="1200" kern="1200" dirty="0" smtClean="0">
                <a:solidFill>
                  <a:schemeClr val="tx1"/>
                </a:solidFill>
                <a:latin typeface="+mn-lt"/>
                <a:ea typeface="+mn-ea"/>
                <a:cs typeface="+mn-cs"/>
              </a:rPr>
              <a:t> Allocating different food handlers to raw foods and cooked or ready-to-eat foods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extLst>
      <p:ext uri="{BB962C8B-B14F-4D97-AF65-F5344CB8AC3E}">
        <p14:creationId xmlns:p14="http://schemas.microsoft.com/office/powerpoint/2010/main" val="100524225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Trainer continues to explain to trainees techniques to help reduce the likelihood of cross contamination:</a:t>
            </a:r>
          </a:p>
          <a:p>
            <a:pPr lvl="0">
              <a:buFont typeface="Arial" pitchFamily="34" charset="0"/>
              <a:buChar char="•"/>
            </a:pPr>
            <a:r>
              <a:rPr lang="en-AU" sz="1200" kern="1200" dirty="0" smtClean="0">
                <a:solidFill>
                  <a:schemeClr val="tx1"/>
                </a:solidFill>
                <a:latin typeface="+mn-lt"/>
                <a:ea typeface="+mn-ea"/>
                <a:cs typeface="+mn-cs"/>
              </a:rPr>
              <a:t> Storing chemicals separately – away from food items</a:t>
            </a:r>
          </a:p>
          <a:p>
            <a:pPr lvl="0">
              <a:buFont typeface="Arial" pitchFamily="34" charset="0"/>
              <a:buChar char="•"/>
            </a:pPr>
            <a:r>
              <a:rPr lang="en-AU" sz="1200" kern="1200" dirty="0" smtClean="0">
                <a:solidFill>
                  <a:schemeClr val="tx1"/>
                </a:solidFill>
                <a:latin typeface="+mn-lt"/>
                <a:ea typeface="+mn-ea"/>
                <a:cs typeface="+mn-cs"/>
              </a:rPr>
              <a:t> Not wearing food handling clothes to and from work</a:t>
            </a:r>
          </a:p>
          <a:p>
            <a:pPr lvl="0">
              <a:buFont typeface="Arial" pitchFamily="34" charset="0"/>
              <a:buChar char="•"/>
            </a:pPr>
            <a:r>
              <a:rPr lang="en-AU" sz="1200" kern="1200" dirty="0" smtClean="0">
                <a:solidFill>
                  <a:schemeClr val="tx1"/>
                </a:solidFill>
                <a:latin typeface="+mn-lt"/>
                <a:ea typeface="+mn-ea"/>
                <a:cs typeface="+mn-cs"/>
              </a:rPr>
              <a:t> Using disposable towels – instead of cloth towels </a:t>
            </a:r>
          </a:p>
          <a:p>
            <a:pPr lvl="0">
              <a:buFont typeface="Arial" pitchFamily="34" charset="0"/>
              <a:buChar char="•"/>
            </a:pPr>
            <a:r>
              <a:rPr lang="en-AU" sz="1200" kern="1200" dirty="0" smtClean="0">
                <a:solidFill>
                  <a:schemeClr val="tx1"/>
                </a:solidFill>
                <a:latin typeface="+mn-lt"/>
                <a:ea typeface="+mn-ea"/>
                <a:cs typeface="+mn-cs"/>
              </a:rPr>
              <a:t> Changing disposable gloves whenever there would be a need to wash hands – such as in between handling raw high risk food and cooked</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ready-to-eat food: gloves should be changed every hour regardless</a:t>
            </a:r>
          </a:p>
          <a:p>
            <a:pPr lvl="0">
              <a:buFont typeface="Arial" pitchFamily="34" charset="0"/>
              <a:buChar char="•"/>
            </a:pPr>
            <a:r>
              <a:rPr lang="en-AU" sz="1200" kern="1200" dirty="0" smtClean="0">
                <a:solidFill>
                  <a:schemeClr val="tx1"/>
                </a:solidFill>
                <a:latin typeface="+mn-lt"/>
                <a:ea typeface="+mn-ea"/>
                <a:cs typeface="+mn-cs"/>
              </a:rPr>
              <a:t> Using colour-coded chopping boards – instead of the same board for all foods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extLst>
      <p:ext uri="{BB962C8B-B14F-4D97-AF65-F5344CB8AC3E}">
        <p14:creationId xmlns:p14="http://schemas.microsoft.com/office/powerpoint/2010/main" val="282736159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Trainer continues to explain to trainees techniques to help reduce the likelihood of cross contamination:</a:t>
            </a:r>
          </a:p>
          <a:p>
            <a:pPr lvl="0">
              <a:buFont typeface="Arial" pitchFamily="34" charset="0"/>
              <a:buChar char="•"/>
            </a:pPr>
            <a:r>
              <a:rPr lang="en-AU" sz="1200" kern="1200" dirty="0" smtClean="0">
                <a:solidFill>
                  <a:schemeClr val="tx1"/>
                </a:solidFill>
                <a:latin typeface="+mn-lt"/>
                <a:ea typeface="+mn-ea"/>
                <a:cs typeface="+mn-cs"/>
              </a:rPr>
              <a:t> Not mixing batches of food – use all of one batch and replace with new batch in cleaned and</a:t>
            </a:r>
            <a:r>
              <a:rPr lang="en-AU" sz="1200" kern="1200" baseline="0" dirty="0" smtClean="0">
                <a:solidFill>
                  <a:schemeClr val="tx1"/>
                </a:solidFill>
                <a:latin typeface="+mn-lt"/>
                <a:ea typeface="+mn-ea"/>
                <a:cs typeface="+mn-cs"/>
              </a:rPr>
              <a:t> sanitised containers</a:t>
            </a:r>
            <a:endParaRPr lang="en-AU" sz="1200" kern="1200" dirty="0" smtClean="0">
              <a:solidFill>
                <a:schemeClr val="tx1"/>
              </a:solidFill>
              <a:latin typeface="+mn-lt"/>
              <a:ea typeface="+mn-ea"/>
              <a:cs typeface="+mn-cs"/>
            </a:endParaRPr>
          </a:p>
          <a:p>
            <a:pPr lvl="0">
              <a:buFont typeface="Arial" pitchFamily="34" charset="0"/>
              <a:buChar char="•"/>
            </a:pPr>
            <a:r>
              <a:rPr lang="en-AU" sz="1200" kern="1200" dirty="0" smtClean="0">
                <a:solidFill>
                  <a:schemeClr val="tx1"/>
                </a:solidFill>
                <a:latin typeface="+mn-lt"/>
                <a:ea typeface="+mn-ea"/>
                <a:cs typeface="+mn-cs"/>
              </a:rPr>
              <a:t> Refraining from tasting food and replacing the spoon back in the pot, tray </a:t>
            </a:r>
          </a:p>
          <a:p>
            <a:pPr lvl="0">
              <a:buFont typeface="Arial" pitchFamily="34" charset="0"/>
              <a:buChar char="•"/>
            </a:pPr>
            <a:r>
              <a:rPr lang="en-AU" sz="1200" kern="1200" dirty="0" smtClean="0">
                <a:solidFill>
                  <a:schemeClr val="tx1"/>
                </a:solidFill>
                <a:latin typeface="+mn-lt"/>
                <a:ea typeface="+mn-ea"/>
                <a:cs typeface="+mn-cs"/>
              </a:rPr>
              <a:t> Not coughing or sneezing over food or food preparation equipment, utensils or surfaces</a:t>
            </a:r>
          </a:p>
          <a:p>
            <a:pPr lvl="0">
              <a:buFont typeface="Arial" pitchFamily="34" charset="0"/>
              <a:buChar char="•"/>
            </a:pPr>
            <a:r>
              <a:rPr lang="en-AU" sz="1200" kern="1200" dirty="0" smtClean="0">
                <a:solidFill>
                  <a:schemeClr val="tx1"/>
                </a:solidFill>
                <a:latin typeface="+mn-lt"/>
                <a:ea typeface="+mn-ea"/>
                <a:cs typeface="+mn-cs"/>
              </a:rPr>
              <a:t> Cleaning and sanitising knives in between cutting raw high risk foods and cooked</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ready-to-eat foods</a:t>
            </a:r>
          </a:p>
          <a:p>
            <a:pPr lvl="0">
              <a:buFont typeface="Arial" pitchFamily="34" charset="0"/>
              <a:buChar char="•"/>
            </a:pPr>
            <a:r>
              <a:rPr lang="en-AU" sz="1200" kern="1200" dirty="0" smtClean="0">
                <a:solidFill>
                  <a:schemeClr val="tx1"/>
                </a:solidFill>
                <a:latin typeface="+mn-lt"/>
                <a:ea typeface="+mn-ea"/>
                <a:cs typeface="+mn-cs"/>
              </a:rPr>
              <a:t> Cleaning and sanitising food preparation benches and equipment that are in constant use at least every four hours</a:t>
            </a:r>
          </a:p>
          <a:p>
            <a:pPr lvl="0">
              <a:buFont typeface="Arial" pitchFamily="34" charset="0"/>
              <a:buChar char="•"/>
            </a:pPr>
            <a:r>
              <a:rPr lang="en-AU" sz="1200" kern="1200" dirty="0" smtClean="0">
                <a:solidFill>
                  <a:schemeClr val="tx1"/>
                </a:solidFill>
                <a:latin typeface="+mn-lt"/>
                <a:ea typeface="+mn-ea"/>
                <a:cs typeface="+mn-cs"/>
              </a:rPr>
              <a:t> Avoiding the use of equipment and materials - including cleaning materials - between other areas of the premises (such as bathrooms and bedrooms) and the kitchen</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extLst>
      <p:ext uri="{BB962C8B-B14F-4D97-AF65-F5344CB8AC3E}">
        <p14:creationId xmlns:p14="http://schemas.microsoft.com/office/powerpoint/2010/main" val="340386725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Trainer continues to explain to trainees techniques to help reduce the likelihood of cross contamination:</a:t>
            </a:r>
          </a:p>
          <a:p>
            <a:pPr lvl="0">
              <a:buFont typeface="Arial" pitchFamily="34" charset="0"/>
              <a:buChar char="•"/>
            </a:pPr>
            <a:r>
              <a:rPr lang="en-AU" sz="1200" kern="1200" dirty="0" smtClean="0">
                <a:solidFill>
                  <a:schemeClr val="tx1"/>
                </a:solidFill>
                <a:latin typeface="+mn-lt"/>
                <a:ea typeface="+mn-ea"/>
                <a:cs typeface="+mn-cs"/>
              </a:rPr>
              <a:t> Repairing cracked surfaces in the food preparation area – cracks can harbour food waste and bacteria</a:t>
            </a:r>
          </a:p>
          <a:p>
            <a:pPr lvl="0">
              <a:buFont typeface="Arial" pitchFamily="34" charset="0"/>
              <a:buChar char="•"/>
            </a:pPr>
            <a:r>
              <a:rPr lang="en-AU" sz="1200" kern="1200" dirty="0" smtClean="0">
                <a:solidFill>
                  <a:schemeClr val="tx1"/>
                </a:solidFill>
                <a:latin typeface="+mn-lt"/>
                <a:ea typeface="+mn-ea"/>
                <a:cs typeface="+mn-cs"/>
              </a:rPr>
              <a:t> Excluding pests and implementing an effective pest control program – which may necessitate the use of a qualified professional external pest control company</a:t>
            </a:r>
          </a:p>
          <a:p>
            <a:pPr lvl="0">
              <a:buFont typeface="Arial" pitchFamily="34" charset="0"/>
              <a:buChar char="•"/>
            </a:pPr>
            <a:r>
              <a:rPr lang="en-AU" sz="1200" kern="1200" dirty="0" smtClean="0">
                <a:solidFill>
                  <a:schemeClr val="tx1"/>
                </a:solidFill>
                <a:latin typeface="+mn-lt"/>
                <a:ea typeface="+mn-ea"/>
                <a:cs typeface="+mn-cs"/>
              </a:rPr>
              <a:t> Discarding all food known to be contaminated – or suspected of being contaminated</a:t>
            </a:r>
          </a:p>
          <a:p>
            <a:pPr lvl="0">
              <a:buFont typeface="Arial" pitchFamily="34" charset="0"/>
              <a:buChar char="•"/>
            </a:pPr>
            <a:r>
              <a:rPr lang="en-AU" sz="1200" kern="1200" dirty="0" smtClean="0">
                <a:solidFill>
                  <a:schemeClr val="tx1"/>
                </a:solidFill>
                <a:latin typeface="+mn-lt"/>
                <a:ea typeface="+mn-ea"/>
                <a:cs typeface="+mn-cs"/>
              </a:rPr>
              <a:t> Excluding food handlers who are ill from food handling and food-related activities</a:t>
            </a:r>
          </a:p>
          <a:p>
            <a:pPr lvl="0">
              <a:buFont typeface="Arial" pitchFamily="34" charset="0"/>
              <a:buChar char="•"/>
            </a:pPr>
            <a:r>
              <a:rPr lang="en-AU" sz="1200" kern="1200" dirty="0" smtClean="0">
                <a:solidFill>
                  <a:schemeClr val="tx1"/>
                </a:solidFill>
                <a:latin typeface="+mn-lt"/>
                <a:ea typeface="+mn-ea"/>
                <a:cs typeface="+mn-cs"/>
              </a:rPr>
              <a:t> Displaying food in such a way it is protected from contamination by customers, especially children – including the use of sneeze guards, monitoring patron actions where self-service food is available and taking appropriate action when the potential for cross contamination is identified</a:t>
            </a:r>
          </a:p>
          <a:p>
            <a:pPr lvl="0">
              <a:buFont typeface="Arial" pitchFamily="34" charset="0"/>
              <a:buChar char="•"/>
            </a:pPr>
            <a:r>
              <a:rPr lang="en-AU" sz="1200" kern="1200" dirty="0" smtClean="0">
                <a:solidFill>
                  <a:schemeClr val="tx1"/>
                </a:solidFill>
                <a:latin typeface="+mn-lt"/>
                <a:ea typeface="+mn-ea"/>
                <a:cs typeface="+mn-cs"/>
              </a:rPr>
              <a:t> Disposing of any food dropped on the floor – food is unfit for use, sale or consumption as soon as it has been dropped on a floor of any kind.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extLst>
      <p:ext uri="{BB962C8B-B14F-4D97-AF65-F5344CB8AC3E}">
        <p14:creationId xmlns:p14="http://schemas.microsoft.com/office/powerpoint/2010/main" val="253674076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Trainer continues to explain to trainees techniques to help reduce the likelihood of cross contamination:</a:t>
            </a:r>
          </a:p>
          <a:p>
            <a:pPr lvl="0">
              <a:buFont typeface="Arial" pitchFamily="34" charset="0"/>
              <a:buChar char="•"/>
            </a:pPr>
            <a:r>
              <a:rPr lang="en-AU" sz="1200" kern="1200" dirty="0" smtClean="0">
                <a:solidFill>
                  <a:schemeClr val="tx1"/>
                </a:solidFill>
                <a:latin typeface="+mn-lt"/>
                <a:ea typeface="+mn-ea"/>
                <a:cs typeface="+mn-cs"/>
              </a:rPr>
              <a:t> Disposing of any food returned from a patron (known as ‘plate waste’) – this includes food and beverage items</a:t>
            </a:r>
          </a:p>
          <a:p>
            <a:pPr lvl="0">
              <a:buFont typeface="Arial" pitchFamily="34" charset="0"/>
              <a:buChar char="•"/>
            </a:pPr>
            <a:r>
              <a:rPr lang="en-AU" sz="1200" kern="1200" dirty="0" smtClean="0">
                <a:solidFill>
                  <a:schemeClr val="tx1"/>
                </a:solidFill>
                <a:latin typeface="+mn-lt"/>
                <a:ea typeface="+mn-ea"/>
                <a:cs typeface="+mn-cs"/>
              </a:rPr>
              <a:t> Disposing of any single-use item used once or which has become contaminated (or is suspected of being contaminated) for any reason</a:t>
            </a:r>
          </a:p>
          <a:p>
            <a:pPr lvl="0">
              <a:buFont typeface="Arial" pitchFamily="34" charset="0"/>
              <a:buChar char="•"/>
            </a:pPr>
            <a:r>
              <a:rPr lang="en-AU" sz="1200" kern="1200" dirty="0" smtClean="0">
                <a:solidFill>
                  <a:schemeClr val="tx1"/>
                </a:solidFill>
                <a:latin typeface="+mn-lt"/>
                <a:ea typeface="+mn-ea"/>
                <a:cs typeface="+mn-cs"/>
              </a:rPr>
              <a:t> Using only food grade equipment to store foodstuffs</a:t>
            </a:r>
          </a:p>
          <a:p>
            <a:pPr lvl="0">
              <a:buFont typeface="Arial" pitchFamily="34" charset="0"/>
              <a:buChar char="•"/>
            </a:pPr>
            <a:r>
              <a:rPr lang="en-AU" sz="1200" kern="1200" dirty="0" smtClean="0">
                <a:solidFill>
                  <a:schemeClr val="tx1"/>
                </a:solidFill>
                <a:latin typeface="+mn-lt"/>
                <a:ea typeface="+mn-ea"/>
                <a:cs typeface="+mn-cs"/>
              </a:rPr>
              <a:t> Putting up signs</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posters in the workplace to remind food handlers about cross contamination</a:t>
            </a:r>
          </a:p>
          <a:p>
            <a:pPr lvl="0">
              <a:buFont typeface="Arial" pitchFamily="34" charset="0"/>
              <a:buChar char="•"/>
            </a:pPr>
            <a:r>
              <a:rPr lang="en-AU" sz="1200" kern="1200" dirty="0" smtClean="0">
                <a:solidFill>
                  <a:schemeClr val="tx1"/>
                </a:solidFill>
                <a:latin typeface="+mn-lt"/>
                <a:ea typeface="+mn-ea"/>
                <a:cs typeface="+mn-cs"/>
              </a:rPr>
              <a:t> Inspecting food deliveries into the premises to ensure they are not contaminated by any visible sources.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extLst>
      <p:ext uri="{BB962C8B-B14F-4D97-AF65-F5344CB8AC3E}">
        <p14:creationId xmlns:p14="http://schemas.microsoft.com/office/powerpoint/2010/main" val="164772866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advises trainees regarding the re-heating of previously cooked foods stating:</a:t>
            </a:r>
          </a:p>
          <a:p>
            <a:pPr>
              <a:buFont typeface="Arial" pitchFamily="34" charset="0"/>
              <a:buChar char="•"/>
            </a:pPr>
            <a:r>
              <a:rPr lang="en-AU" sz="1200" kern="1200" dirty="0" smtClean="0">
                <a:solidFill>
                  <a:schemeClr val="tx1"/>
                </a:solidFill>
                <a:latin typeface="+mn-lt"/>
                <a:ea typeface="+mn-ea"/>
                <a:cs typeface="+mn-cs"/>
              </a:rPr>
              <a:t> It is quite legal to use or to reheat leftovers but there are several safe food hygiene practices to follow in order to do it safely</a:t>
            </a:r>
          </a:p>
          <a:p>
            <a:pPr>
              <a:buFont typeface="Arial" pitchFamily="34" charset="0"/>
              <a:buChar char="•"/>
            </a:pPr>
            <a:r>
              <a:rPr lang="en-AU" sz="1200" kern="1200" dirty="0" smtClean="0">
                <a:solidFill>
                  <a:schemeClr val="tx1"/>
                </a:solidFill>
                <a:latin typeface="+mn-lt"/>
                <a:ea typeface="+mn-ea"/>
                <a:cs typeface="+mn-cs"/>
              </a:rPr>
              <a:t> Food can only be re-heated once – if not used, it must then be thrown out</a:t>
            </a:r>
          </a:p>
          <a:p>
            <a:pPr>
              <a:buFont typeface="Arial" pitchFamily="34" charset="0"/>
              <a:buChar char="•"/>
            </a:pPr>
            <a:r>
              <a:rPr lang="en-AU" sz="1200" kern="1200" dirty="0" smtClean="0">
                <a:solidFill>
                  <a:schemeClr val="tx1"/>
                </a:solidFill>
                <a:latin typeface="+mn-lt"/>
                <a:ea typeface="+mn-ea"/>
                <a:cs typeface="+mn-cs"/>
              </a:rPr>
              <a:t> Leftovers, or food intentionally cooked beforehand and refrigerated or frozen for later use, are known as ‘previously cooked food’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extLst>
      <p:ext uri="{BB962C8B-B14F-4D97-AF65-F5344CB8AC3E}">
        <p14:creationId xmlns:p14="http://schemas.microsoft.com/office/powerpoint/2010/main" val="319848897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instructs trainees regarding safe re-heating practices:</a:t>
            </a:r>
          </a:p>
          <a:p>
            <a:pPr lvl="0">
              <a:buFont typeface="Arial" pitchFamily="34" charset="0"/>
              <a:buChar char="•"/>
            </a:pPr>
            <a:r>
              <a:rPr lang="en-AU" sz="1200" kern="1200" dirty="0" smtClean="0">
                <a:solidFill>
                  <a:schemeClr val="tx1"/>
                </a:solidFill>
                <a:latin typeface="+mn-lt"/>
                <a:ea typeface="+mn-ea"/>
                <a:cs typeface="+mn-cs"/>
              </a:rPr>
              <a:t> Reheat previously cooked food in small quantities, not large – this reduces the time food spends in the Temperature Danger Zone (5°C to 60°C) and helps retain food quality while optimising food safety</a:t>
            </a:r>
          </a:p>
          <a:p>
            <a:pPr lvl="0">
              <a:buFont typeface="Arial" pitchFamily="34" charset="0"/>
              <a:buChar char="•"/>
            </a:pPr>
            <a:r>
              <a:rPr lang="en-AU" sz="1200" kern="1200" dirty="0" smtClean="0">
                <a:solidFill>
                  <a:schemeClr val="tx1"/>
                </a:solidFill>
                <a:latin typeface="+mn-lt"/>
                <a:ea typeface="+mn-ea"/>
                <a:cs typeface="+mn-cs"/>
              </a:rPr>
              <a:t> Do not use a bain-marie for reheating; they are only hot </a:t>
            </a:r>
            <a:r>
              <a:rPr lang="en-AU" sz="1200" i="1" kern="1200" dirty="0" smtClean="0">
                <a:solidFill>
                  <a:schemeClr val="tx1"/>
                </a:solidFill>
                <a:latin typeface="+mn-lt"/>
                <a:ea typeface="+mn-ea"/>
                <a:cs typeface="+mn-cs"/>
              </a:rPr>
              <a:t>holding</a:t>
            </a:r>
            <a:r>
              <a:rPr lang="en-AU" sz="1200" kern="1200" dirty="0" smtClean="0">
                <a:solidFill>
                  <a:schemeClr val="tx1"/>
                </a:solidFill>
                <a:latin typeface="+mn-lt"/>
                <a:ea typeface="+mn-ea"/>
                <a:cs typeface="+mn-cs"/>
              </a:rPr>
              <a:t> devices and not designed as </a:t>
            </a:r>
            <a:r>
              <a:rPr lang="en-AU" sz="1200" i="1" kern="1200" dirty="0" smtClean="0">
                <a:solidFill>
                  <a:schemeClr val="tx1"/>
                </a:solidFill>
                <a:latin typeface="+mn-lt"/>
                <a:ea typeface="+mn-ea"/>
                <a:cs typeface="+mn-cs"/>
              </a:rPr>
              <a:t>heating </a:t>
            </a:r>
            <a:r>
              <a:rPr lang="en-AU" sz="1200" kern="1200" dirty="0" smtClean="0">
                <a:solidFill>
                  <a:schemeClr val="tx1"/>
                </a:solidFill>
                <a:latin typeface="+mn-lt"/>
                <a:ea typeface="+mn-ea"/>
                <a:cs typeface="+mn-cs"/>
              </a:rPr>
              <a:t>units</a:t>
            </a:r>
          </a:p>
          <a:p>
            <a:pPr lvl="0">
              <a:buFont typeface="Arial" pitchFamily="34" charset="0"/>
              <a:buChar char="•"/>
            </a:pPr>
            <a:r>
              <a:rPr lang="en-AU" sz="1200" kern="1200" dirty="0" smtClean="0">
                <a:solidFill>
                  <a:schemeClr val="tx1"/>
                </a:solidFill>
                <a:latin typeface="+mn-lt"/>
                <a:ea typeface="+mn-ea"/>
                <a:cs typeface="+mn-cs"/>
              </a:rPr>
              <a:t> Food must be protected from contamination while it is being re-heated</a:t>
            </a:r>
          </a:p>
          <a:p>
            <a:pPr lvl="0">
              <a:buFont typeface="Arial" pitchFamily="34" charset="0"/>
              <a:buChar char="•"/>
            </a:pPr>
            <a:r>
              <a:rPr lang="en-AU" sz="1200" kern="1200" dirty="0" smtClean="0">
                <a:solidFill>
                  <a:schemeClr val="tx1"/>
                </a:solidFill>
                <a:latin typeface="+mn-lt"/>
                <a:ea typeface="+mn-ea"/>
                <a:cs typeface="+mn-cs"/>
              </a:rPr>
              <a:t> The bain-marie must hold the heated high risk food at a minimum 60°C  so as to be above the Temperature Danger Zone (or The 2/4 Rule must be applied)</a:t>
            </a:r>
          </a:p>
          <a:p>
            <a:pPr>
              <a:buFont typeface="Arial" pitchFamily="34" charset="0"/>
              <a:buNone/>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extLst>
      <p:ext uri="{BB962C8B-B14F-4D97-AF65-F5344CB8AC3E}">
        <p14:creationId xmlns:p14="http://schemas.microsoft.com/office/powerpoint/2010/main" val="38710020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to instruct trainees regarding safe re-heating practices:</a:t>
            </a:r>
          </a:p>
          <a:p>
            <a:pPr lvl="0">
              <a:buFont typeface="Arial" pitchFamily="34" charset="0"/>
              <a:buChar char="•"/>
            </a:pPr>
            <a:r>
              <a:rPr lang="en-AU" sz="1200" kern="1200" dirty="0" smtClean="0">
                <a:solidFill>
                  <a:schemeClr val="tx1"/>
                </a:solidFill>
                <a:latin typeface="+mn-lt"/>
                <a:ea typeface="+mn-ea"/>
                <a:cs typeface="+mn-cs"/>
              </a:rPr>
              <a:t> It is preferable for food to be reheated immediately before service rather than to reheat in bulk and held; this optimises food safety and helps maintain the highest food quality</a:t>
            </a:r>
          </a:p>
          <a:p>
            <a:pPr lvl="0">
              <a:buFont typeface="Arial" pitchFamily="34" charset="0"/>
              <a:buChar char="•"/>
            </a:pPr>
            <a:r>
              <a:rPr lang="en-AU" sz="1200" kern="1200" dirty="0" smtClean="0">
                <a:solidFill>
                  <a:schemeClr val="tx1"/>
                </a:solidFill>
                <a:latin typeface="+mn-lt"/>
                <a:ea typeface="+mn-ea"/>
                <a:cs typeface="+mn-cs"/>
              </a:rPr>
              <a:t> Stir wet dishes held in the bain-marie regularly to make sure the food does not cool down to below 60°C; this applies even where the units have overhead heating lights</a:t>
            </a:r>
          </a:p>
          <a:p>
            <a:pPr lvl="0">
              <a:buFont typeface="Arial" pitchFamily="34" charset="0"/>
              <a:buChar char="•"/>
            </a:pPr>
            <a:r>
              <a:rPr lang="en-AU" sz="1200" kern="1200" dirty="0" smtClean="0">
                <a:solidFill>
                  <a:schemeClr val="tx1"/>
                </a:solidFill>
                <a:latin typeface="+mn-lt"/>
                <a:ea typeface="+mn-ea"/>
                <a:cs typeface="+mn-cs"/>
              </a:rPr>
              <a:t> Previously cooked food, coming from the cool room or a refrigerator to be reheated should be raised to 70°C (for 2 minutes) as soon as possible and then kept at a minimum of 60°C ; never leave previously cooked food sitting around in the kitchen on a preparation bench in the Temperature Danger Zone</a:t>
            </a:r>
          </a:p>
          <a:p>
            <a:pPr lvl="0">
              <a:buFont typeface="Arial" pitchFamily="34" charset="0"/>
              <a:buChar char="•"/>
            </a:pPr>
            <a:r>
              <a:rPr lang="en-AU" sz="1200" kern="1200" dirty="0" smtClean="0">
                <a:solidFill>
                  <a:schemeClr val="tx1"/>
                </a:solidFill>
                <a:latin typeface="+mn-lt"/>
                <a:ea typeface="+mn-ea"/>
                <a:cs typeface="+mn-cs"/>
              </a:rPr>
              <a:t> A temperature monitoring probe should be used to check the internal temperatures of food that is re-heated; never rely on guesswork, or the visual appearance of the food. </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extLst>
      <p:ext uri="{BB962C8B-B14F-4D97-AF65-F5344CB8AC3E}">
        <p14:creationId xmlns:p14="http://schemas.microsoft.com/office/powerpoint/2010/main" val="341402475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information to trainees about the service of food to customers noting there are two options in this regard:</a:t>
            </a:r>
          </a:p>
          <a:p>
            <a:pPr>
              <a:buFont typeface="Arial" pitchFamily="34" charset="0"/>
              <a:buChar char="•"/>
            </a:pPr>
            <a:r>
              <a:rPr lang="en-US" dirty="0" smtClean="0"/>
              <a:t> Staff serve customers –for in-house dining or take away: this is where staff plate the food or put it into take away</a:t>
            </a:r>
            <a:r>
              <a:rPr lang="en-US" baseline="0" dirty="0" smtClean="0"/>
              <a:t> </a:t>
            </a:r>
            <a:r>
              <a:rPr lang="en-US" dirty="0" smtClean="0"/>
              <a:t>single use containers</a:t>
            </a:r>
          </a:p>
          <a:p>
            <a:pPr>
              <a:buFont typeface="Arial" pitchFamily="34" charset="0"/>
              <a:buChar char="•"/>
            </a:pPr>
            <a:r>
              <a:rPr lang="en-US" dirty="0" smtClean="0"/>
              <a:t> Customers serve themselves – this is where food is presented at buffets and customers select the food they want and plate it themselves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extLst>
      <p:ext uri="{BB962C8B-B14F-4D97-AF65-F5344CB8AC3E}">
        <p14:creationId xmlns:p14="http://schemas.microsoft.com/office/powerpoint/2010/main" val="31057317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provides trainees with requirements regarding service of food to customers by staff:</a:t>
            </a:r>
          </a:p>
          <a:p>
            <a:pPr lvl="0">
              <a:buFont typeface="Arial" pitchFamily="34" charset="0"/>
              <a:buChar char="•"/>
            </a:pPr>
            <a:r>
              <a:rPr lang="en-AU" sz="1200" kern="1200" dirty="0" smtClean="0">
                <a:solidFill>
                  <a:schemeClr val="tx1"/>
                </a:solidFill>
                <a:latin typeface="+mn-lt"/>
                <a:ea typeface="+mn-ea"/>
                <a:cs typeface="+mn-cs"/>
              </a:rPr>
              <a:t> Potentially hazardous food must be kept out of the Temperature Danger Zone. The temperature of any display units must be taken regularly (at least once per service session) to verify the temperature is correct. Remember: keep hot food, hot at 60˚C or above and keep cold food, cold at 5˚C or below. </a:t>
            </a:r>
          </a:p>
          <a:p>
            <a:pPr lvl="0">
              <a:buFont typeface="Arial" pitchFamily="34" charset="0"/>
              <a:buChar char="•"/>
            </a:pPr>
            <a:r>
              <a:rPr lang="en-AU" sz="1200" kern="1200" dirty="0" smtClean="0">
                <a:solidFill>
                  <a:schemeClr val="tx1"/>
                </a:solidFill>
                <a:latin typeface="+mn-lt"/>
                <a:ea typeface="+mn-ea"/>
                <a:cs typeface="+mn-cs"/>
              </a:rPr>
              <a:t> Clean serving utensils must be used – change hourly</a:t>
            </a:r>
          </a:p>
          <a:p>
            <a:pPr lvl="0">
              <a:buFont typeface="Arial" pitchFamily="34" charset="0"/>
              <a:buChar char="•"/>
            </a:pPr>
            <a:r>
              <a:rPr lang="en-AU" sz="1200" kern="1200" dirty="0" smtClean="0">
                <a:solidFill>
                  <a:schemeClr val="tx1"/>
                </a:solidFill>
                <a:latin typeface="+mn-lt"/>
                <a:ea typeface="+mn-ea"/>
                <a:cs typeface="+mn-cs"/>
              </a:rPr>
              <a:t> Never touch food with bare hands – always use disposable gloves, tongs or some other item (greaseproof paper, a fork, a spatula) to create a barrier between the hands and the food in order to prevent cross contamination</a:t>
            </a:r>
          </a:p>
          <a:p>
            <a:pPr lvl="0">
              <a:buFont typeface="Arial" pitchFamily="34" charset="0"/>
              <a:buChar char="•"/>
            </a:pPr>
            <a:r>
              <a:rPr lang="en-AU" sz="1200" kern="1200" dirty="0" smtClean="0">
                <a:solidFill>
                  <a:schemeClr val="tx1"/>
                </a:solidFill>
                <a:latin typeface="+mn-lt"/>
                <a:ea typeface="+mn-ea"/>
                <a:cs typeface="+mn-cs"/>
              </a:rPr>
              <a:t> Food must be served into</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onto clean plates, bowls or other items (such as single use containers – see following slide)</a:t>
            </a:r>
          </a:p>
          <a:p>
            <a:pPr>
              <a:buFont typeface="Arial" pitchFamily="34" charset="0"/>
              <a:buNone/>
            </a:pPr>
            <a:r>
              <a:rPr lang="en-US" dirty="0" smtClean="0"/>
              <a: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extLst>
      <p:ext uri="{BB962C8B-B14F-4D97-AF65-F5344CB8AC3E}">
        <p14:creationId xmlns:p14="http://schemas.microsoft.com/office/powerpoint/2010/main" val="352201608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to provide trainees with requirements regarding service of food to customers by staff:</a:t>
            </a:r>
          </a:p>
          <a:p>
            <a:pPr lvl="0">
              <a:buFont typeface="Arial" pitchFamily="34" charset="0"/>
              <a:buChar char="•"/>
            </a:pPr>
            <a:r>
              <a:rPr lang="en-AU" sz="1200" kern="1200" dirty="0" smtClean="0">
                <a:solidFill>
                  <a:schemeClr val="tx1"/>
                </a:solidFill>
                <a:latin typeface="+mn-lt"/>
                <a:ea typeface="+mn-ea"/>
                <a:cs typeface="+mn-cs"/>
              </a:rPr>
              <a:t> Plates and similar must be stored at the service point in such a way to protect them from contamination, including contamination by flies, dust, customers. Where food is served into single-use containers (see later slide), these containers must be only used once</a:t>
            </a:r>
          </a:p>
          <a:p>
            <a:pPr lvl="0">
              <a:buFont typeface="Arial" pitchFamily="34" charset="0"/>
              <a:buChar char="•"/>
            </a:pPr>
            <a:r>
              <a:rPr lang="en-AU" sz="1200" kern="1200" dirty="0" smtClean="0">
                <a:solidFill>
                  <a:schemeClr val="tx1"/>
                </a:solidFill>
                <a:latin typeface="+mn-lt"/>
                <a:ea typeface="+mn-ea"/>
                <a:cs typeface="+mn-cs"/>
              </a:rPr>
              <a:t> All single-use items (food and drink containers, straws, lids) must be stored to protect them against contamination</a:t>
            </a:r>
          </a:p>
          <a:p>
            <a:pPr lvl="0">
              <a:buFont typeface="Arial" pitchFamily="34" charset="0"/>
              <a:buChar char="•"/>
            </a:pPr>
            <a:r>
              <a:rPr lang="en-AU" sz="1200" kern="1200" dirty="0" smtClean="0">
                <a:solidFill>
                  <a:schemeClr val="tx1"/>
                </a:solidFill>
                <a:latin typeface="+mn-lt"/>
                <a:ea typeface="+mn-ea"/>
                <a:cs typeface="+mn-cs"/>
              </a:rPr>
              <a:t> Food must be kept protected from contamination; keep doors on display units closed, and use lids where provided on storage units</a:t>
            </a:r>
          </a:p>
          <a:p>
            <a:pPr lvl="0">
              <a:buFont typeface="Arial" pitchFamily="34" charset="0"/>
              <a:buChar char="•"/>
            </a:pPr>
            <a:r>
              <a:rPr lang="en-AU" sz="1200" kern="1200" dirty="0" smtClean="0">
                <a:solidFill>
                  <a:schemeClr val="tx1"/>
                </a:solidFill>
                <a:latin typeface="+mn-lt"/>
                <a:ea typeface="+mn-ea"/>
                <a:cs typeface="+mn-cs"/>
              </a:rPr>
              <a:t> Staff must apply safe food handling and personal hygiene practices such as:</a:t>
            </a:r>
          </a:p>
          <a:p>
            <a:pPr lvl="1">
              <a:buFont typeface="Arial" pitchFamily="34" charset="0"/>
              <a:buChar char="•"/>
            </a:pPr>
            <a:r>
              <a:rPr lang="en-AU" sz="1200" kern="1200" dirty="0" smtClean="0">
                <a:solidFill>
                  <a:schemeClr val="tx1"/>
                </a:solidFill>
                <a:latin typeface="+mn-lt"/>
                <a:ea typeface="+mn-ea"/>
                <a:cs typeface="+mn-cs"/>
              </a:rPr>
              <a:t> Not coughing, sneezing onto food</a:t>
            </a:r>
          </a:p>
          <a:p>
            <a:pPr lvl="1">
              <a:buFont typeface="Arial" pitchFamily="34" charset="0"/>
              <a:buChar char="•"/>
            </a:pPr>
            <a:r>
              <a:rPr lang="en-AU" sz="1200" kern="1200" dirty="0" smtClean="0">
                <a:solidFill>
                  <a:schemeClr val="tx1"/>
                </a:solidFill>
                <a:latin typeface="+mn-lt"/>
                <a:ea typeface="+mn-ea"/>
                <a:cs typeface="+mn-cs"/>
              </a:rPr>
              <a:t> Washing hands as required – see later notes</a:t>
            </a:r>
          </a:p>
          <a:p>
            <a:pPr lvl="1">
              <a:buFont typeface="Arial" pitchFamily="34" charset="0"/>
              <a:buChar char="•"/>
            </a:pPr>
            <a:r>
              <a:rPr lang="en-AU" sz="1200" kern="1200" dirty="0" smtClean="0">
                <a:solidFill>
                  <a:schemeClr val="tx1"/>
                </a:solidFill>
                <a:latin typeface="+mn-lt"/>
                <a:ea typeface="+mn-ea"/>
                <a:cs typeface="+mn-cs"/>
              </a:rPr>
              <a:t> Using disposable gloves, as required, and changing when required</a:t>
            </a:r>
          </a:p>
          <a:p>
            <a:pPr lvl="1">
              <a:buFont typeface="Arial" pitchFamily="34" charset="0"/>
              <a:buChar char="•"/>
            </a:pPr>
            <a:r>
              <a:rPr lang="en-AU" sz="1200" kern="1200" dirty="0" smtClean="0">
                <a:solidFill>
                  <a:schemeClr val="tx1"/>
                </a:solidFill>
                <a:latin typeface="+mn-lt"/>
                <a:ea typeface="+mn-ea"/>
                <a:cs typeface="+mn-cs"/>
              </a:rPr>
              <a:t> Never using food dropped on the floor</a:t>
            </a:r>
          </a:p>
          <a:p>
            <a:pPr lvl="1">
              <a:buFont typeface="Arial" pitchFamily="34" charset="0"/>
              <a:buChar char="•"/>
            </a:pPr>
            <a:r>
              <a:rPr lang="en-AU" sz="1200" kern="1200" dirty="0" smtClean="0">
                <a:solidFill>
                  <a:schemeClr val="tx1"/>
                </a:solidFill>
                <a:latin typeface="+mn-lt"/>
                <a:ea typeface="+mn-ea"/>
                <a:cs typeface="+mn-cs"/>
              </a:rPr>
              <a:t> Never using food that has been contaminated in any way</a:t>
            </a:r>
          </a:p>
          <a:p>
            <a:pPr lvl="0">
              <a:buFont typeface="Arial" pitchFamily="34" charset="0"/>
              <a:buChar char="•"/>
            </a:pPr>
            <a:r>
              <a:rPr lang="en-AU" sz="1200" kern="1200" dirty="0" smtClean="0">
                <a:solidFill>
                  <a:schemeClr val="tx1"/>
                </a:solidFill>
                <a:latin typeface="+mn-lt"/>
                <a:ea typeface="+mn-ea"/>
                <a:cs typeface="+mn-cs"/>
              </a:rPr>
              <a:t> Use different utensils to serve different food items – to avoid cross contamination (and also to eliminate different foods [or colours] being mixed in with other foods, which is often not wanted by the customer).</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extLst>
      <p:ext uri="{BB962C8B-B14F-4D97-AF65-F5344CB8AC3E}">
        <p14:creationId xmlns:p14="http://schemas.microsoft.com/office/powerpoint/2010/main" val="317575387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provides trainees with instruction regarding requirements for self-service of food by customers:</a:t>
            </a:r>
          </a:p>
          <a:p>
            <a:pPr>
              <a:buFont typeface="Arial" pitchFamily="34" charset="0"/>
              <a:buChar char="•"/>
            </a:pPr>
            <a:r>
              <a:rPr lang="en-AU" sz="1200" kern="1200" dirty="0" smtClean="0">
                <a:solidFill>
                  <a:schemeClr val="tx1"/>
                </a:solidFill>
                <a:latin typeface="+mn-lt"/>
                <a:ea typeface="+mn-ea"/>
                <a:cs typeface="+mn-cs"/>
              </a:rPr>
              <a:t> Providing this option for customers will present a higher level of risk from contamination because many elements of control have been given over to the customer. It remains a legal responsibility on the venue</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to ensure the integrity of food offered in this style of service: if food safety cannot be </a:t>
            </a:r>
            <a:r>
              <a:rPr lang="en-AU" sz="1200" i="1" kern="1200" dirty="0" smtClean="0">
                <a:solidFill>
                  <a:schemeClr val="tx1"/>
                </a:solidFill>
                <a:latin typeface="+mn-lt"/>
                <a:ea typeface="+mn-ea"/>
                <a:cs typeface="+mn-cs"/>
              </a:rPr>
              <a:t>fully </a:t>
            </a:r>
            <a:r>
              <a:rPr lang="en-AU" sz="1200" kern="1200" dirty="0" smtClean="0">
                <a:solidFill>
                  <a:schemeClr val="tx1"/>
                </a:solidFill>
                <a:latin typeface="+mn-lt"/>
                <a:ea typeface="+mn-ea"/>
                <a:cs typeface="+mn-cs"/>
              </a:rPr>
              <a:t>guaranteed by allowing the service of food in this manner it should not be offered in this way. Re-consider the service style and use another service or presentation method</a:t>
            </a:r>
          </a:p>
          <a:p>
            <a:pPr lvl="0">
              <a:buFont typeface="Arial" pitchFamily="34" charset="0"/>
              <a:buChar char="•"/>
            </a:pPr>
            <a:r>
              <a:rPr lang="en-AU" sz="1200" kern="1200" dirty="0" smtClean="0">
                <a:solidFill>
                  <a:schemeClr val="tx1"/>
                </a:solidFill>
                <a:latin typeface="+mn-lt"/>
                <a:ea typeface="+mn-ea"/>
                <a:cs typeface="+mn-cs"/>
              </a:rPr>
              <a:t> Customer activities are regularly monitored so unsafe practices can be identified and remedial action taken. This means a staff member must be appointed to watch customers in order to prevent them from doing anything to  compromise the safety of the food, and to remove food when it has been contaminated</a:t>
            </a:r>
          </a:p>
          <a:p>
            <a:pPr lvl="0">
              <a:buFont typeface="Arial" pitchFamily="34" charset="0"/>
              <a:buChar char="•"/>
            </a:pPr>
            <a:r>
              <a:rPr lang="en-AU" sz="1200" kern="1200" dirty="0" smtClean="0">
                <a:solidFill>
                  <a:schemeClr val="tx1"/>
                </a:solidFill>
                <a:latin typeface="+mn-lt"/>
                <a:ea typeface="+mn-ea"/>
                <a:cs typeface="+mn-cs"/>
              </a:rPr>
              <a:t> Special attention is paid to children at self-serve areas as they are prone to handling food with their hands as well as taking food and then putting it back</a:t>
            </a:r>
          </a:p>
          <a:p>
            <a:pPr lvl="0">
              <a:buFont typeface="Arial" pitchFamily="34" charset="0"/>
              <a:buChar char="•"/>
            </a:pPr>
            <a:r>
              <a:rPr lang="en-AU" sz="1200" kern="1200" dirty="0" smtClean="0">
                <a:solidFill>
                  <a:schemeClr val="tx1"/>
                </a:solidFill>
                <a:latin typeface="+mn-lt"/>
                <a:ea typeface="+mn-ea"/>
                <a:cs typeface="+mn-cs"/>
              </a:rPr>
              <a:t> Hot food is kept hot (60°C and above), and cold food is kept cold (5°C and below)</a:t>
            </a:r>
          </a:p>
          <a:p>
            <a:pPr lvl="0">
              <a:buFont typeface="Arial" pitchFamily="34" charset="0"/>
              <a:buChar char="•"/>
            </a:pPr>
            <a:r>
              <a:rPr lang="en-AU" sz="1200" kern="1200" dirty="0" smtClean="0">
                <a:solidFill>
                  <a:schemeClr val="tx1"/>
                </a:solidFill>
                <a:latin typeface="+mn-lt"/>
                <a:ea typeface="+mn-ea"/>
                <a:cs typeface="+mn-cs"/>
              </a:rPr>
              <a:t> Any utensils dropped by customers are immediately replaced with clean and sanitised ones</a:t>
            </a:r>
          </a:p>
          <a:p>
            <a:pPr lvl="0">
              <a:buFont typeface="Arial" pitchFamily="34" charset="0"/>
              <a:buChar char="•"/>
            </a:pPr>
            <a:r>
              <a:rPr lang="en-AU" sz="1200" kern="1200" dirty="0" smtClean="0">
                <a:solidFill>
                  <a:schemeClr val="tx1"/>
                </a:solidFill>
                <a:latin typeface="+mn-lt"/>
                <a:ea typeface="+mn-ea"/>
                <a:cs typeface="+mn-cs"/>
              </a:rPr>
              <a:t> Spills are cleaned up immediately</a:t>
            </a:r>
          </a:p>
          <a:p>
            <a:pPr>
              <a:buFont typeface="Arial" pitchFamily="34" charset="0"/>
              <a:buChar char="•"/>
            </a:pP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extLst>
      <p:ext uri="{BB962C8B-B14F-4D97-AF65-F5344CB8AC3E}">
        <p14:creationId xmlns:p14="http://schemas.microsoft.com/office/powerpoint/2010/main" val="281164719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to provide trainees with instruction regarding requirements for self-service of food by customers:</a:t>
            </a:r>
          </a:p>
          <a:p>
            <a:pPr lvl="0">
              <a:buFont typeface="Arial" pitchFamily="34" charset="0"/>
              <a:buChar char="•"/>
            </a:pPr>
            <a:r>
              <a:rPr lang="en-AU" sz="1200" kern="1200" dirty="0" smtClean="0">
                <a:solidFill>
                  <a:schemeClr val="tx1"/>
                </a:solidFill>
                <a:latin typeface="+mn-lt"/>
                <a:ea typeface="+mn-ea"/>
                <a:cs typeface="+mn-cs"/>
              </a:rPr>
              <a:t> Any contaminated food is thrown out – this includes contamination caused by customers coughing or sneezing over the food</a:t>
            </a:r>
          </a:p>
          <a:p>
            <a:pPr lvl="0">
              <a:buFont typeface="Arial" pitchFamily="34" charset="0"/>
              <a:buChar char="•"/>
            </a:pPr>
            <a:r>
              <a:rPr lang="en-AU" sz="1200" kern="1200" dirty="0" smtClean="0">
                <a:solidFill>
                  <a:schemeClr val="tx1"/>
                </a:solidFill>
                <a:latin typeface="+mn-lt"/>
                <a:ea typeface="+mn-ea"/>
                <a:cs typeface="+mn-cs"/>
              </a:rPr>
              <a:t> Signs are posted advising customers of safe food handling practices – such as asking them:</a:t>
            </a:r>
          </a:p>
          <a:p>
            <a:pPr lvl="1">
              <a:buFont typeface="Arial" pitchFamily="34" charset="0"/>
              <a:buChar char="•"/>
            </a:pPr>
            <a:r>
              <a:rPr lang="en-AU" sz="1200" kern="1200" dirty="0" smtClean="0">
                <a:solidFill>
                  <a:schemeClr val="tx1"/>
                </a:solidFill>
                <a:latin typeface="+mn-lt"/>
                <a:ea typeface="+mn-ea"/>
                <a:cs typeface="+mn-cs"/>
              </a:rPr>
              <a:t> Not to use utensils in other foods </a:t>
            </a:r>
          </a:p>
          <a:p>
            <a:pPr lvl="1">
              <a:buFont typeface="Arial" pitchFamily="34" charset="0"/>
              <a:buChar char="•"/>
            </a:pPr>
            <a:r>
              <a:rPr lang="en-AU" sz="1200" kern="1200" dirty="0" smtClean="0">
                <a:solidFill>
                  <a:schemeClr val="tx1"/>
                </a:solidFill>
                <a:latin typeface="+mn-lt"/>
                <a:ea typeface="+mn-ea"/>
                <a:cs typeface="+mn-cs"/>
              </a:rPr>
              <a:t> To refrain from coughing and sneezing over the food </a:t>
            </a:r>
          </a:p>
          <a:p>
            <a:pPr lvl="1">
              <a:buFont typeface="Arial" pitchFamily="34" charset="0"/>
              <a:buChar char="•"/>
            </a:pPr>
            <a:r>
              <a:rPr lang="en-AU" sz="1200" kern="1200" dirty="0" smtClean="0">
                <a:solidFill>
                  <a:schemeClr val="tx1"/>
                </a:solidFill>
                <a:latin typeface="+mn-lt"/>
                <a:ea typeface="+mn-ea"/>
                <a:cs typeface="+mn-cs"/>
              </a:rPr>
              <a:t> To refrain from handling any of the food with their bare hands</a:t>
            </a:r>
          </a:p>
          <a:p>
            <a:pPr lvl="1">
              <a:buFont typeface="Arial" pitchFamily="34" charset="0"/>
              <a:buChar char="•"/>
            </a:pPr>
            <a:r>
              <a:rPr lang="en-AU" sz="1200" kern="1200" dirty="0" smtClean="0">
                <a:solidFill>
                  <a:schemeClr val="tx1"/>
                </a:solidFill>
                <a:latin typeface="+mn-lt"/>
                <a:ea typeface="+mn-ea"/>
                <a:cs typeface="+mn-cs"/>
              </a:rPr>
              <a:t> To supervise children</a:t>
            </a:r>
          </a:p>
          <a:p>
            <a:pPr lvl="0">
              <a:buFont typeface="Arial" pitchFamily="34" charset="0"/>
              <a:buChar char="•"/>
            </a:pPr>
            <a:r>
              <a:rPr lang="en-AU" sz="1200" kern="1200" dirty="0" smtClean="0">
                <a:solidFill>
                  <a:schemeClr val="tx1"/>
                </a:solidFill>
                <a:latin typeface="+mn-lt"/>
                <a:ea typeface="+mn-ea"/>
                <a:cs typeface="+mn-cs"/>
              </a:rPr>
              <a:t> Foods are covered and protected – from contamination when not actually being used </a:t>
            </a:r>
          </a:p>
          <a:p>
            <a:pPr lvl="0">
              <a:buFont typeface="Arial" pitchFamily="34" charset="0"/>
              <a:buChar char="•"/>
            </a:pPr>
            <a:r>
              <a:rPr lang="en-AU" sz="1200" kern="1200" dirty="0" smtClean="0">
                <a:solidFill>
                  <a:schemeClr val="tx1"/>
                </a:solidFill>
                <a:latin typeface="+mn-lt"/>
                <a:ea typeface="+mn-ea"/>
                <a:cs typeface="+mn-cs"/>
              </a:rPr>
              <a:t> Separate utensils are provided – for each food item</a:t>
            </a:r>
          </a:p>
          <a:p>
            <a:pPr lvl="0">
              <a:buFont typeface="Arial" pitchFamily="34" charset="0"/>
              <a:buChar char="•"/>
            </a:pPr>
            <a:r>
              <a:rPr lang="en-AU" sz="1200" kern="1200" dirty="0" smtClean="0">
                <a:solidFill>
                  <a:schemeClr val="tx1"/>
                </a:solidFill>
                <a:latin typeface="+mn-lt"/>
                <a:ea typeface="+mn-ea"/>
                <a:cs typeface="+mn-cs"/>
              </a:rPr>
              <a:t> Sneeze-guards are in place – to protect food</a:t>
            </a:r>
          </a:p>
          <a:p>
            <a:pPr lvl="0">
              <a:buFont typeface="Arial" pitchFamily="34" charset="0"/>
              <a:buChar char="•"/>
            </a:pPr>
            <a:r>
              <a:rPr lang="en-AU" sz="1200" kern="1200" dirty="0" smtClean="0">
                <a:solidFill>
                  <a:schemeClr val="tx1"/>
                </a:solidFill>
                <a:latin typeface="+mn-lt"/>
                <a:ea typeface="+mn-ea"/>
                <a:cs typeface="+mn-cs"/>
              </a:rPr>
              <a:t> Batches and</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or trays of food items are not mixed – stock rotation is important but so is the need to keep batches separate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extLst>
      <p:ext uri="{BB962C8B-B14F-4D97-AF65-F5344CB8AC3E}">
        <p14:creationId xmlns:p14="http://schemas.microsoft.com/office/powerpoint/2010/main" val="30717029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to provide trainees with instruction regarding requirements for self-service of food by customers:</a:t>
            </a:r>
          </a:p>
          <a:p>
            <a:pPr lvl="0">
              <a:buFont typeface="Arial" pitchFamily="34" charset="0"/>
              <a:buChar char="•"/>
            </a:pPr>
            <a:r>
              <a:rPr lang="en-AU" sz="1200" kern="1200" dirty="0" smtClean="0">
                <a:solidFill>
                  <a:schemeClr val="tx1"/>
                </a:solidFill>
                <a:latin typeface="+mn-lt"/>
                <a:ea typeface="+mn-ea"/>
                <a:cs typeface="+mn-cs"/>
              </a:rPr>
              <a:t> Throw out any plate waste</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returned food – it must never be re-served</a:t>
            </a:r>
          </a:p>
          <a:p>
            <a:pPr lvl="0">
              <a:buFont typeface="Arial" pitchFamily="34" charset="0"/>
              <a:buChar char="•"/>
            </a:pPr>
            <a:r>
              <a:rPr lang="en-AU" sz="1200" kern="1200" dirty="0" smtClean="0">
                <a:solidFill>
                  <a:schemeClr val="tx1"/>
                </a:solidFill>
                <a:latin typeface="+mn-lt"/>
                <a:ea typeface="+mn-ea"/>
                <a:cs typeface="+mn-cs"/>
              </a:rPr>
              <a:t> Small batches of food are put on the buffet – and replaced frequently, rather than putting out large trays or large amounts of food to begin with</a:t>
            </a:r>
          </a:p>
          <a:p>
            <a:pPr lvl="0">
              <a:buFont typeface="Arial" pitchFamily="34" charset="0"/>
              <a:buChar char="•"/>
            </a:pPr>
            <a:r>
              <a:rPr lang="en-AU" sz="1200" kern="1200" dirty="0" smtClean="0">
                <a:solidFill>
                  <a:schemeClr val="tx1"/>
                </a:solidFill>
                <a:latin typeface="+mn-lt"/>
                <a:ea typeface="+mn-ea"/>
                <a:cs typeface="+mn-cs"/>
              </a:rPr>
              <a:t> Extra utensils are provided – there always seems to be a need for more service spoons and forks</a:t>
            </a:r>
          </a:p>
          <a:p>
            <a:pPr lvl="0">
              <a:buFont typeface="Arial" pitchFamily="34" charset="0"/>
              <a:buChar char="•"/>
            </a:pPr>
            <a:r>
              <a:rPr lang="en-AU" sz="1200" kern="1200" dirty="0" smtClean="0">
                <a:solidFill>
                  <a:schemeClr val="tx1"/>
                </a:solidFill>
                <a:latin typeface="+mn-lt"/>
                <a:ea typeface="+mn-ea"/>
                <a:cs typeface="+mn-cs"/>
              </a:rPr>
              <a:t> Clean ‘rests’ for utensils (service spoons and forks) are provided and changed regularly to prevent cross-contamination</a:t>
            </a:r>
          </a:p>
          <a:p>
            <a:pPr lvl="0">
              <a:buFont typeface="Arial" pitchFamily="34" charset="0"/>
              <a:buChar char="•"/>
            </a:pPr>
            <a:r>
              <a:rPr lang="en-AU" sz="1200" kern="1200" dirty="0" smtClean="0">
                <a:solidFill>
                  <a:schemeClr val="tx1"/>
                </a:solidFill>
                <a:latin typeface="+mn-lt"/>
                <a:ea typeface="+mn-ea"/>
                <a:cs typeface="+mn-cs"/>
              </a:rPr>
              <a:t> The 2/4 rule is being complied with.</a:t>
            </a:r>
          </a:p>
          <a:p>
            <a:pPr>
              <a:buFont typeface="Arial" pitchFamily="34" charset="0"/>
              <a:buNone/>
            </a:pPr>
            <a:endParaRPr lang="en-US" dirty="0" smtClean="0"/>
          </a:p>
          <a:p>
            <a:pPr>
              <a:buFont typeface="Arial" pitchFamily="34" charset="0"/>
              <a:buNone/>
            </a:pPr>
            <a:r>
              <a:rPr lang="en-US" b="1" dirty="0" smtClean="0"/>
              <a:t>Class Activity – Excursion</a:t>
            </a:r>
          </a:p>
          <a:p>
            <a:pPr>
              <a:buFont typeface="Arial" pitchFamily="34" charset="0"/>
              <a:buNone/>
            </a:pPr>
            <a:r>
              <a:rPr lang="en-US" b="0" dirty="0" smtClean="0"/>
              <a:t>Trainer arranges for visit to a venue so trainees can:</a:t>
            </a:r>
          </a:p>
          <a:p>
            <a:pPr>
              <a:buFont typeface="Arial" pitchFamily="34" charset="0"/>
              <a:buChar char="•"/>
            </a:pPr>
            <a:r>
              <a:rPr lang="en-US" b="0" dirty="0" smtClean="0"/>
              <a:t> View staff serving food to dine-in customers</a:t>
            </a:r>
          </a:p>
          <a:p>
            <a:pPr>
              <a:buFont typeface="Arial" pitchFamily="34" charset="0"/>
              <a:buChar char="•"/>
            </a:pPr>
            <a:r>
              <a:rPr lang="en-US" b="0" dirty="0" smtClean="0"/>
              <a:t> View staff serving take away foods to customers</a:t>
            </a:r>
          </a:p>
          <a:p>
            <a:pPr>
              <a:buFont typeface="Arial" pitchFamily="34" charset="0"/>
              <a:buChar char="•"/>
            </a:pPr>
            <a:r>
              <a:rPr lang="en-US" b="0" dirty="0" smtClean="0"/>
              <a:t> View customer self-service of food</a:t>
            </a:r>
          </a:p>
          <a:p>
            <a:pPr>
              <a:buFont typeface="Arial" pitchFamily="34" charset="0"/>
              <a:buChar char="•"/>
            </a:pPr>
            <a:r>
              <a:rPr lang="en-US" b="0" dirty="0" smtClean="0"/>
              <a:t> Talk to management and staff</a:t>
            </a:r>
          </a:p>
          <a:p>
            <a:pPr>
              <a:buFont typeface="Arial" pitchFamily="34" charset="0"/>
              <a:buChar char="•"/>
            </a:pPr>
            <a:r>
              <a:rPr lang="en-US" b="0" dirty="0" smtClean="0"/>
              <a:t> Observe and note good and unacceptable food safety practices</a:t>
            </a:r>
          </a:p>
          <a:p>
            <a:pPr>
              <a:buFont typeface="Arial" pitchFamily="34" charset="0"/>
              <a:buChar char="•"/>
            </a:pPr>
            <a:r>
              <a:rPr lang="en-US" b="0" dirty="0" smtClean="0"/>
              <a:t> Observe</a:t>
            </a:r>
            <a:r>
              <a:rPr lang="en-US" b="0" baseline="0" dirty="0" smtClean="0"/>
              <a:t> </a:t>
            </a:r>
            <a:r>
              <a:rPr lang="en-US" b="0" dirty="0" smtClean="0"/>
              <a:t>storage and use of single use items.</a:t>
            </a:r>
          </a:p>
          <a:p>
            <a:pPr>
              <a:buFont typeface="Arial" pitchFamily="34" charset="0"/>
              <a:buNone/>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extLst>
      <p:ext uri="{BB962C8B-B14F-4D97-AF65-F5344CB8AC3E}">
        <p14:creationId xmlns:p14="http://schemas.microsoft.com/office/powerpoint/2010/main" val="4118764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introduces concept of single use items to trainees explaining a single-use item is something intended to be used once in relation to food and then disposed of, noting: </a:t>
            </a:r>
          </a:p>
          <a:p>
            <a:pPr lvl="0">
              <a:buFont typeface="Arial" pitchFamily="34" charset="0"/>
              <a:buChar char="•"/>
            </a:pPr>
            <a:r>
              <a:rPr lang="en-AU" sz="1200" kern="1200" dirty="0" smtClean="0">
                <a:solidFill>
                  <a:schemeClr val="tx1"/>
                </a:solidFill>
                <a:latin typeface="+mn-lt"/>
                <a:ea typeface="+mn-ea"/>
                <a:cs typeface="+mn-cs"/>
              </a:rPr>
              <a:t> Single-use items must not be re-used even if they are cleaned in between uses – customers are free to re-use them at home as they see fit: customers may also re-fill single-use cups themselves from drink dispensing machines. Note: single-use containers may, however, be used by the business for non-food activities – such as collecting or storing dirty cutlery. </a:t>
            </a:r>
          </a:p>
          <a:p>
            <a:pPr lvl="0">
              <a:buFont typeface="Arial" pitchFamily="34" charset="0"/>
              <a:buChar char="•"/>
            </a:pPr>
            <a:r>
              <a:rPr lang="en-AU" sz="1200" kern="1200" dirty="0" smtClean="0">
                <a:solidFill>
                  <a:schemeClr val="tx1"/>
                </a:solidFill>
                <a:latin typeface="+mn-lt"/>
                <a:ea typeface="+mn-ea"/>
                <a:cs typeface="+mn-cs"/>
              </a:rPr>
              <a:t> Must be stored and</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or displayed so as to be protected from contamination – this contamination may be via:</a:t>
            </a:r>
          </a:p>
          <a:p>
            <a:pPr lvl="1">
              <a:buFont typeface="Arial" pitchFamily="34" charset="0"/>
              <a:buChar char="•"/>
            </a:pPr>
            <a:r>
              <a:rPr lang="en-AU" sz="1200" kern="1200" dirty="0" smtClean="0">
                <a:solidFill>
                  <a:schemeClr val="tx1"/>
                </a:solidFill>
                <a:latin typeface="+mn-lt"/>
                <a:ea typeface="+mn-ea"/>
                <a:cs typeface="+mn-cs"/>
              </a:rPr>
              <a:t> Flies, pests and vermin</a:t>
            </a:r>
          </a:p>
          <a:p>
            <a:pPr lvl="1">
              <a:buFont typeface="Arial" pitchFamily="34" charset="0"/>
              <a:buChar char="•"/>
            </a:pPr>
            <a:r>
              <a:rPr lang="en-AU" sz="1200" kern="1200" dirty="0" smtClean="0">
                <a:solidFill>
                  <a:schemeClr val="tx1"/>
                </a:solidFill>
                <a:latin typeface="+mn-lt"/>
                <a:ea typeface="+mn-ea"/>
                <a:cs typeface="+mn-cs"/>
              </a:rPr>
              <a:t> An infected food handler</a:t>
            </a:r>
          </a:p>
          <a:p>
            <a:pPr lvl="1">
              <a:buFont typeface="Arial" pitchFamily="34" charset="0"/>
              <a:buChar char="•"/>
            </a:pPr>
            <a:r>
              <a:rPr lang="en-AU" sz="1200" kern="1200" dirty="0" smtClean="0">
                <a:solidFill>
                  <a:schemeClr val="tx1"/>
                </a:solidFill>
                <a:latin typeface="+mn-lt"/>
                <a:ea typeface="+mn-ea"/>
                <a:cs typeface="+mn-cs"/>
              </a:rPr>
              <a:t> Airborne contamination</a:t>
            </a:r>
          </a:p>
          <a:p>
            <a:pPr lvl="1">
              <a:buFont typeface="Arial" pitchFamily="34" charset="0"/>
              <a:buChar char="•"/>
            </a:pPr>
            <a:r>
              <a:rPr lang="en-AU" sz="1200" kern="1200" dirty="0" smtClean="0">
                <a:solidFill>
                  <a:schemeClr val="tx1"/>
                </a:solidFill>
                <a:latin typeface="+mn-lt"/>
                <a:ea typeface="+mn-ea"/>
                <a:cs typeface="+mn-cs"/>
              </a:rPr>
              <a:t> Physical contamination</a:t>
            </a:r>
          </a:p>
          <a:p>
            <a:pPr lvl="1">
              <a:buFont typeface="Arial" pitchFamily="34" charset="0"/>
              <a:buChar char="•"/>
            </a:pPr>
            <a:r>
              <a:rPr lang="en-AU" sz="1200" kern="1200" dirty="0" smtClean="0">
                <a:solidFill>
                  <a:schemeClr val="tx1"/>
                </a:solidFill>
                <a:latin typeface="+mn-lt"/>
                <a:ea typeface="+mn-ea"/>
                <a:cs typeface="+mn-cs"/>
              </a:rPr>
              <a:t> Customers</a:t>
            </a:r>
          </a:p>
          <a:p>
            <a:pPr lvl="0">
              <a:buFont typeface="Arial" pitchFamily="34" charset="0"/>
              <a:buChar char="•"/>
            </a:pPr>
            <a:r>
              <a:rPr lang="en-AU" sz="1200" kern="1200" dirty="0" smtClean="0">
                <a:solidFill>
                  <a:schemeClr val="tx1"/>
                </a:solidFill>
                <a:latin typeface="+mn-lt"/>
                <a:ea typeface="+mn-ea"/>
                <a:cs typeface="+mn-cs"/>
              </a:rPr>
              <a:t> Must not be used if they have been contaminated – or there is </a:t>
            </a:r>
            <a:r>
              <a:rPr lang="en-AU" sz="1200" i="1" kern="1200" dirty="0" smtClean="0">
                <a:solidFill>
                  <a:schemeClr val="tx1"/>
                </a:solidFill>
                <a:latin typeface="+mn-lt"/>
                <a:ea typeface="+mn-ea"/>
                <a:cs typeface="+mn-cs"/>
              </a:rPr>
              <a:t>suspicion</a:t>
            </a:r>
            <a:r>
              <a:rPr lang="en-AU" sz="1200" kern="1200" dirty="0" smtClean="0">
                <a:solidFill>
                  <a:schemeClr val="tx1"/>
                </a:solidFill>
                <a:latin typeface="+mn-lt"/>
                <a:ea typeface="+mn-ea"/>
                <a:cs typeface="+mn-cs"/>
              </a:rPr>
              <a:t> they may have been contaminated: this can include:</a:t>
            </a:r>
          </a:p>
          <a:p>
            <a:pPr lvl="1">
              <a:buFont typeface="Arial" pitchFamily="34" charset="0"/>
              <a:buChar char="•"/>
            </a:pPr>
            <a:r>
              <a:rPr lang="en-AU" sz="1200" kern="1200" dirty="0" smtClean="0">
                <a:solidFill>
                  <a:schemeClr val="tx1"/>
                </a:solidFill>
                <a:latin typeface="+mn-lt"/>
                <a:ea typeface="+mn-ea"/>
                <a:cs typeface="+mn-cs"/>
              </a:rPr>
              <a:t> Disposing of any single-use items handled by customers</a:t>
            </a:r>
          </a:p>
          <a:p>
            <a:pPr lvl="1">
              <a:buFont typeface="Arial" pitchFamily="34" charset="0"/>
              <a:buChar char="•"/>
            </a:pPr>
            <a:r>
              <a:rPr lang="en-AU" sz="1200" kern="1200" dirty="0" smtClean="0">
                <a:solidFill>
                  <a:schemeClr val="tx1"/>
                </a:solidFill>
                <a:latin typeface="+mn-lt"/>
                <a:ea typeface="+mn-ea"/>
                <a:cs typeface="+mn-cs"/>
              </a:rPr>
              <a:t> Disposing of any single-use items dropped on the floor</a:t>
            </a:r>
          </a:p>
          <a:p>
            <a:pPr lvl="1">
              <a:buFont typeface="Arial" pitchFamily="34" charset="0"/>
              <a:buChar char="•"/>
            </a:pPr>
            <a:r>
              <a:rPr lang="en-AU" sz="1200" kern="1200" dirty="0" smtClean="0">
                <a:solidFill>
                  <a:schemeClr val="tx1"/>
                </a:solidFill>
                <a:latin typeface="+mn-lt"/>
                <a:ea typeface="+mn-ea"/>
                <a:cs typeface="+mn-cs"/>
              </a:rPr>
              <a:t> Disposing of any single-use items where the protective packaging they were delivered in has been compromised</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AU" sz="1200" b="1" kern="1200" dirty="0" smtClean="0">
                <a:solidFill>
                  <a:schemeClr val="tx1"/>
                </a:solidFill>
                <a:latin typeface="+mn-lt"/>
                <a:ea typeface="+mn-ea"/>
                <a:cs typeface="+mn-cs"/>
              </a:rPr>
              <a:t>Class Activity – Presentation of examples </a:t>
            </a:r>
            <a:r>
              <a:rPr lang="en-AU" sz="1200" kern="1200" dirty="0" smtClean="0">
                <a:solidFill>
                  <a:schemeClr val="tx1"/>
                </a:solidFill>
                <a:latin typeface="+mn-lt"/>
                <a:ea typeface="+mn-ea"/>
                <a:cs typeface="+mn-cs"/>
              </a:rPr>
              <a:t> </a:t>
            </a:r>
          </a:p>
          <a:p>
            <a:pPr>
              <a:buFont typeface="Arial" pitchFamily="34" charset="0"/>
              <a:buNone/>
            </a:pPr>
            <a:r>
              <a:rPr lang="en-AU" sz="1200" kern="1200" dirty="0" smtClean="0">
                <a:solidFill>
                  <a:schemeClr val="tx1"/>
                </a:solidFill>
                <a:latin typeface="+mn-lt"/>
                <a:ea typeface="+mn-ea"/>
                <a:cs typeface="+mn-cs"/>
              </a:rPr>
              <a:t>Trainer presents sample single use items to trainees so they understand what they are:</a:t>
            </a:r>
          </a:p>
          <a:p>
            <a:pPr>
              <a:buFont typeface="Arial" pitchFamily="34" charset="0"/>
              <a:buChar char="•"/>
            </a:pPr>
            <a:r>
              <a:rPr lang="en-AU" sz="1200" kern="1200" dirty="0" smtClean="0">
                <a:solidFill>
                  <a:schemeClr val="tx1"/>
                </a:solidFill>
                <a:latin typeface="+mn-lt"/>
                <a:ea typeface="+mn-ea"/>
                <a:cs typeface="+mn-cs"/>
              </a:rPr>
              <a:t> Examples of single-use items include:</a:t>
            </a:r>
          </a:p>
          <a:p>
            <a:pPr lvl="1">
              <a:buFont typeface="Arial" pitchFamily="34" charset="0"/>
              <a:buChar char="•"/>
            </a:pPr>
            <a:r>
              <a:rPr lang="en-AU" sz="1200" kern="1200" dirty="0" smtClean="0">
                <a:solidFill>
                  <a:schemeClr val="tx1"/>
                </a:solidFill>
                <a:latin typeface="+mn-lt"/>
                <a:ea typeface="+mn-ea"/>
                <a:cs typeface="+mn-cs"/>
              </a:rPr>
              <a:t> Take away food and drink containers – including pizza boxes, coffee cups, boxes for hamburgers, packaging for rolls and sandwiches</a:t>
            </a:r>
          </a:p>
          <a:p>
            <a:pPr lvl="1">
              <a:buFont typeface="Arial" pitchFamily="34" charset="0"/>
              <a:buChar char="•"/>
            </a:pPr>
            <a:r>
              <a:rPr lang="en-AU" sz="1200" kern="1200" dirty="0" smtClean="0">
                <a:solidFill>
                  <a:schemeClr val="tx1"/>
                </a:solidFill>
                <a:latin typeface="+mn-lt"/>
                <a:ea typeface="+mn-ea"/>
                <a:cs typeface="+mn-cs"/>
              </a:rPr>
              <a:t> Drinking straws</a:t>
            </a:r>
          </a:p>
          <a:p>
            <a:pPr lvl="1">
              <a:buFont typeface="Arial" pitchFamily="34" charset="0"/>
              <a:buChar char="•"/>
            </a:pPr>
            <a:r>
              <a:rPr lang="en-AU" sz="1200" kern="1200" dirty="0" smtClean="0">
                <a:solidFill>
                  <a:schemeClr val="tx1"/>
                </a:solidFill>
                <a:latin typeface="+mn-lt"/>
                <a:ea typeface="+mn-ea"/>
                <a:cs typeface="+mn-cs"/>
              </a:rPr>
              <a:t> Disposable gloves</a:t>
            </a:r>
          </a:p>
          <a:p>
            <a:pPr lvl="1">
              <a:buFont typeface="Arial" pitchFamily="34" charset="0"/>
              <a:buChar char="•"/>
            </a:pPr>
            <a:r>
              <a:rPr lang="en-AU" sz="1200" kern="1200" dirty="0" smtClean="0">
                <a:solidFill>
                  <a:schemeClr val="tx1"/>
                </a:solidFill>
                <a:latin typeface="+mn-lt"/>
                <a:ea typeface="+mn-ea"/>
                <a:cs typeface="+mn-cs"/>
              </a:rPr>
              <a:t> Plastic cutlery</a:t>
            </a:r>
          </a:p>
          <a:p>
            <a:pPr lvl="1">
              <a:buFont typeface="Arial" pitchFamily="34" charset="0"/>
              <a:buChar char="•"/>
            </a:pPr>
            <a:r>
              <a:rPr lang="en-AU" sz="1200" kern="1200" dirty="0" smtClean="0">
                <a:solidFill>
                  <a:schemeClr val="tx1"/>
                </a:solidFill>
                <a:latin typeface="+mn-lt"/>
                <a:ea typeface="+mn-ea"/>
                <a:cs typeface="+mn-cs"/>
              </a:rPr>
              <a:t> Tooth picks</a:t>
            </a:r>
          </a:p>
          <a:p>
            <a:pPr lvl="1">
              <a:buFont typeface="Arial" pitchFamily="34" charset="0"/>
              <a:buChar char="•"/>
            </a:pPr>
            <a:r>
              <a:rPr lang="en-AU" sz="1200" kern="1200" dirty="0" smtClean="0">
                <a:solidFill>
                  <a:schemeClr val="tx1"/>
                </a:solidFill>
                <a:latin typeface="+mn-lt"/>
                <a:ea typeface="+mn-ea"/>
                <a:cs typeface="+mn-cs"/>
              </a:rPr>
              <a:t> Food wrappers – around items such as hamburgers and other take away menu items.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extLst>
      <p:ext uri="{BB962C8B-B14F-4D97-AF65-F5344CB8AC3E}">
        <p14:creationId xmlns:p14="http://schemas.microsoft.com/office/powerpoint/2010/main" val="252902625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presents to trainees practical measures to optimise safety when using single use items:</a:t>
            </a:r>
          </a:p>
          <a:p>
            <a:pPr lvl="0">
              <a:buFont typeface="Arial" pitchFamily="34" charset="0"/>
              <a:buChar char="•"/>
            </a:pPr>
            <a:r>
              <a:rPr lang="en-AU" sz="1200" kern="1200" dirty="0" smtClean="0">
                <a:solidFill>
                  <a:schemeClr val="tx1"/>
                </a:solidFill>
                <a:latin typeface="+mn-lt"/>
                <a:ea typeface="+mn-ea"/>
                <a:cs typeface="+mn-cs"/>
              </a:rPr>
              <a:t> Not preparing pizza boxes in advance and leaving them ‘open’ – this allows airborne and other contamination to settle inside the boxes on the food contact area: pizza boxes should be constructed ‘to order’, when required</a:t>
            </a:r>
          </a:p>
          <a:p>
            <a:pPr lvl="0">
              <a:buFont typeface="Arial" pitchFamily="34" charset="0"/>
              <a:buChar char="•"/>
            </a:pPr>
            <a:r>
              <a:rPr lang="en-AU" sz="1200" kern="1200" dirty="0" smtClean="0">
                <a:solidFill>
                  <a:schemeClr val="tx1"/>
                </a:solidFill>
                <a:latin typeface="+mn-lt"/>
                <a:ea typeface="+mn-ea"/>
                <a:cs typeface="+mn-cs"/>
              </a:rPr>
              <a:t> Providing drinking straws in containers allowing only one straw at a time to be dispensed without others in the container being touched: an alternative is to only use individually wrapped drinking straws</a:t>
            </a:r>
          </a:p>
          <a:p>
            <a:pPr lvl="0">
              <a:buFont typeface="Arial" pitchFamily="34" charset="0"/>
              <a:buChar char="•"/>
            </a:pPr>
            <a:r>
              <a:rPr lang="en-AU" sz="1200" kern="1200" dirty="0" smtClean="0">
                <a:solidFill>
                  <a:schemeClr val="tx1"/>
                </a:solidFill>
                <a:latin typeface="+mn-lt"/>
                <a:ea typeface="+mn-ea"/>
                <a:cs typeface="+mn-cs"/>
              </a:rPr>
              <a:t> Storing take away food containers (for food and beverages) upside down – so the food contact surface of the container is not exposed</a:t>
            </a:r>
          </a:p>
          <a:p>
            <a:pPr lvl="0">
              <a:buFont typeface="Arial" pitchFamily="34" charset="0"/>
              <a:buChar char="•"/>
            </a:pPr>
            <a:r>
              <a:rPr lang="en-AU" sz="1200" kern="1200" dirty="0" smtClean="0">
                <a:solidFill>
                  <a:schemeClr val="tx1"/>
                </a:solidFill>
                <a:latin typeface="+mn-lt"/>
                <a:ea typeface="+mn-ea"/>
                <a:cs typeface="+mn-cs"/>
              </a:rPr>
              <a:t> Storing the lids to take away containers safely – so the side making contact with the drink</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food is protected</a:t>
            </a:r>
          </a:p>
          <a:p>
            <a:pPr lvl="0">
              <a:buFont typeface="Arial" pitchFamily="34" charset="0"/>
              <a:buChar char="•"/>
            </a:pPr>
            <a:r>
              <a:rPr lang="en-AU" sz="1200" kern="1200" dirty="0" smtClean="0">
                <a:solidFill>
                  <a:schemeClr val="tx1"/>
                </a:solidFill>
                <a:latin typeface="+mn-lt"/>
                <a:ea typeface="+mn-ea"/>
                <a:cs typeface="+mn-cs"/>
              </a:rPr>
              <a:t> Disposable cutlery should be kept covered or individually wrapped</a:t>
            </a:r>
          </a:p>
          <a:p>
            <a:pPr lvl="0">
              <a:buFont typeface="Arial" pitchFamily="34" charset="0"/>
              <a:buChar char="•"/>
            </a:pPr>
            <a:r>
              <a:rPr lang="en-AU" sz="1200" kern="1200" dirty="0" smtClean="0">
                <a:solidFill>
                  <a:schemeClr val="tx1"/>
                </a:solidFill>
                <a:latin typeface="+mn-lt"/>
                <a:ea typeface="+mn-ea"/>
                <a:cs typeface="+mn-cs"/>
              </a:rPr>
              <a:t> Toothpicks should be individually wrapped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extLst>
      <p:ext uri="{BB962C8B-B14F-4D97-AF65-F5344CB8AC3E}">
        <p14:creationId xmlns:p14="http://schemas.microsoft.com/office/powerpoint/2010/main" val="236973598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the display of food for service or sale highlighting:</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Any food displayed on a service counter must be wrapped – to protect it from contamination (this does not apply to fresh fruit). Where pre-prepared sandwiches and pre-filled rolls are stored on a service counter (that is, not under refrigeration), some system must apply (such as the use of colour-coded stick-on labels, or written times on the wrapping/container) to provide control over the length of time the food spends in the Temperature Danger Zone.</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Pre-prepared sandwiches and/or filled rolls </a:t>
            </a:r>
            <a:r>
              <a:rPr lang="en-AU" sz="1200" b="1" kern="1200" dirty="0" smtClean="0">
                <a:solidFill>
                  <a:schemeClr val="tx1"/>
                </a:solidFill>
                <a:latin typeface="+mn-lt"/>
                <a:ea typeface="+mn-ea"/>
                <a:cs typeface="+mn-cs"/>
              </a:rPr>
              <a:t>must not be sold/eaten when they have spent four hours or more in the Temperature Danger Zone</a:t>
            </a:r>
            <a:r>
              <a:rPr lang="en-AU" sz="1200" kern="1200" dirty="0" smtClean="0">
                <a:solidFill>
                  <a:schemeClr val="tx1"/>
                </a:solidFill>
                <a:latin typeface="+mn-lt"/>
                <a:ea typeface="+mn-ea"/>
                <a:cs typeface="+mn-cs"/>
              </a:rPr>
              <a:t>.</a:t>
            </a:r>
          </a:p>
          <a:p>
            <a:pPr>
              <a:buFont typeface="Arial" pitchFamily="34" charset="0"/>
              <a:buChar char="•"/>
            </a:pPr>
            <a:r>
              <a:rPr lang="en-AU" sz="1200" kern="1200" dirty="0" smtClean="0">
                <a:solidFill>
                  <a:schemeClr val="tx1"/>
                </a:solidFill>
                <a:latin typeface="+mn-lt"/>
                <a:ea typeface="+mn-ea"/>
                <a:cs typeface="+mn-cs"/>
              </a:rPr>
              <a:t> It is best to use display cabinets to display food for sale</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service. </a:t>
            </a:r>
          </a:p>
          <a:p>
            <a:pPr>
              <a:buFont typeface="Arial" pitchFamily="34" charset="0"/>
              <a:buChar char="•"/>
            </a:pPr>
            <a:r>
              <a:rPr lang="en-AU" sz="1200" kern="1200" dirty="0" smtClean="0">
                <a:solidFill>
                  <a:schemeClr val="tx1"/>
                </a:solidFill>
                <a:latin typeface="+mn-lt"/>
                <a:ea typeface="+mn-ea"/>
                <a:cs typeface="+mn-cs"/>
              </a:rPr>
              <a:t> Display cabinets can be either hot or cold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extLst>
      <p:ext uri="{BB962C8B-B14F-4D97-AF65-F5344CB8AC3E}">
        <p14:creationId xmlns:p14="http://schemas.microsoft.com/office/powerpoint/2010/main" val="417678318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advises trainees when using cold food display cabinets:</a:t>
            </a:r>
          </a:p>
          <a:p>
            <a:pPr lvl="0">
              <a:buFont typeface="Arial" pitchFamily="34" charset="0"/>
              <a:buChar char="•"/>
            </a:pPr>
            <a:r>
              <a:rPr lang="en-AU" sz="1200" kern="1200" dirty="0" smtClean="0">
                <a:solidFill>
                  <a:schemeClr val="tx1"/>
                </a:solidFill>
                <a:latin typeface="+mn-lt"/>
                <a:ea typeface="+mn-ea"/>
                <a:cs typeface="+mn-cs"/>
              </a:rPr>
              <a:t> Potentially hazardous food should be at or below 5°C</a:t>
            </a:r>
          </a:p>
          <a:p>
            <a:pPr lvl="0">
              <a:buFont typeface="Arial" pitchFamily="34" charset="0"/>
              <a:buChar char="•"/>
            </a:pPr>
            <a:r>
              <a:rPr lang="en-AU" sz="1200" kern="1200" dirty="0" smtClean="0">
                <a:solidFill>
                  <a:schemeClr val="tx1"/>
                </a:solidFill>
                <a:latin typeface="+mn-lt"/>
                <a:ea typeface="+mn-ea"/>
                <a:cs typeface="+mn-cs"/>
              </a:rPr>
              <a:t> Food should be covered</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wrapped to prevent contamination</a:t>
            </a:r>
          </a:p>
          <a:p>
            <a:pPr lvl="0">
              <a:buFont typeface="Arial" pitchFamily="34" charset="0"/>
              <a:buChar char="•"/>
            </a:pPr>
            <a:r>
              <a:rPr lang="en-AU" sz="1200" kern="1200" dirty="0" smtClean="0">
                <a:solidFill>
                  <a:schemeClr val="tx1"/>
                </a:solidFill>
                <a:latin typeface="+mn-lt"/>
                <a:ea typeface="+mn-ea"/>
                <a:cs typeface="+mn-cs"/>
              </a:rPr>
              <a:t> Temperatures must be regularly checked (at least daily – once every session, or every four hours is preferable) using an independent, properly calibrated thermometer </a:t>
            </a:r>
          </a:p>
          <a:p>
            <a:pPr lvl="0">
              <a:buFont typeface="Arial" pitchFamily="34" charset="0"/>
              <a:buChar char="•"/>
            </a:pPr>
            <a:r>
              <a:rPr lang="en-AU" sz="1200" kern="1200" dirty="0" smtClean="0">
                <a:solidFill>
                  <a:schemeClr val="tx1"/>
                </a:solidFill>
                <a:latin typeface="+mn-lt"/>
                <a:ea typeface="+mn-ea"/>
                <a:cs typeface="+mn-cs"/>
              </a:rPr>
              <a:t> Protective guards (‘sneeze guards’) must be provided (where appropriate) to prevent customers breathing, sneezing or coughing over the food.</a:t>
            </a:r>
          </a:p>
          <a:p>
            <a:pPr lvl="0">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extLst>
      <p:ext uri="{BB962C8B-B14F-4D97-AF65-F5344CB8AC3E}">
        <p14:creationId xmlns:p14="http://schemas.microsoft.com/office/powerpoint/2010/main" val="403462779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Trainer advises trainees when using hot food display cabinets (bain marties and pie warmers):</a:t>
            </a:r>
          </a:p>
          <a:p>
            <a:pPr lvl="0">
              <a:buFont typeface="Arial" pitchFamily="34" charset="0"/>
              <a:buChar char="•"/>
            </a:pPr>
            <a:r>
              <a:rPr lang="en-AU" sz="1200" kern="1200" dirty="0" smtClean="0">
                <a:solidFill>
                  <a:schemeClr val="tx1"/>
                </a:solidFill>
                <a:latin typeface="+mn-lt"/>
                <a:ea typeface="+mn-ea"/>
                <a:cs typeface="+mn-cs"/>
              </a:rPr>
              <a:t> The temperature of potentially hazardous food must be over 60°C (or the ‘2/4 Rule’ must be applied)</a:t>
            </a:r>
          </a:p>
          <a:p>
            <a:pPr lvl="0">
              <a:buFont typeface="Arial" pitchFamily="34" charset="0"/>
              <a:buChar char="•"/>
            </a:pPr>
            <a:r>
              <a:rPr lang="en-AU" sz="1200" kern="1200" dirty="0" smtClean="0">
                <a:solidFill>
                  <a:schemeClr val="tx1"/>
                </a:solidFill>
                <a:latin typeface="+mn-lt"/>
                <a:ea typeface="+mn-ea"/>
                <a:cs typeface="+mn-cs"/>
              </a:rPr>
              <a:t> Food to be put in hot food cabinets must be preheated rapidly before being placed in the cabinet – do not use the hot holding unit to heat the food to service temperature. Pre-heat the food and place it into a pre-heated display unit</a:t>
            </a:r>
          </a:p>
          <a:p>
            <a:pPr lvl="0">
              <a:buFont typeface="Arial" pitchFamily="34" charset="0"/>
              <a:buChar char="•"/>
            </a:pPr>
            <a:r>
              <a:rPr lang="en-AU" sz="1200" kern="1200" dirty="0" smtClean="0">
                <a:solidFill>
                  <a:schemeClr val="tx1"/>
                </a:solidFill>
                <a:latin typeface="+mn-lt"/>
                <a:ea typeface="+mn-ea"/>
                <a:cs typeface="+mn-cs"/>
              </a:rPr>
              <a:t> Food should be served in the order it was placed in the cabinet to minimise risk of contamination, as well as guard against loss of taste, appearance and quality</a:t>
            </a:r>
          </a:p>
          <a:p>
            <a:pPr lvl="0">
              <a:buFont typeface="Arial" pitchFamily="34" charset="0"/>
              <a:buChar char="•"/>
            </a:pPr>
            <a:r>
              <a:rPr lang="en-AU" sz="1200" kern="1200" dirty="0" smtClean="0">
                <a:solidFill>
                  <a:schemeClr val="tx1"/>
                </a:solidFill>
                <a:latin typeface="+mn-lt"/>
                <a:ea typeface="+mn-ea"/>
                <a:cs typeface="+mn-cs"/>
              </a:rPr>
              <a:t> Hot foods left from the day before should be served first, following the guidelines set out in ‘Re-heating previously cooked food’ – foods can only be re-heated once. Note: some premises have an SOP of discarding all left-over food</a:t>
            </a:r>
          </a:p>
          <a:p>
            <a:pPr lvl="0">
              <a:buFont typeface="Arial" pitchFamily="34" charset="0"/>
              <a:buChar char="•"/>
            </a:pPr>
            <a:r>
              <a:rPr lang="en-AU" sz="1200" kern="1200" dirty="0" smtClean="0">
                <a:solidFill>
                  <a:schemeClr val="tx1"/>
                </a:solidFill>
                <a:latin typeface="+mn-lt"/>
                <a:ea typeface="+mn-ea"/>
                <a:cs typeface="+mn-cs"/>
              </a:rPr>
              <a:t> Temperatures of food must be regularly checked (at least daily, preferable each session or every four hours) using an independent thermometer </a:t>
            </a:r>
          </a:p>
          <a:p>
            <a:pPr lvl="0">
              <a:buFont typeface="Arial" pitchFamily="34" charset="0"/>
              <a:buChar char="•"/>
            </a:pPr>
            <a:r>
              <a:rPr lang="en-AU" sz="1200" kern="1200" dirty="0" smtClean="0">
                <a:solidFill>
                  <a:schemeClr val="tx1"/>
                </a:solidFill>
                <a:latin typeface="+mn-lt"/>
                <a:ea typeface="+mn-ea"/>
                <a:cs typeface="+mn-cs"/>
              </a:rPr>
              <a:t> Food must not be topped-up but rotated to keep it fresh and avoid mixing batches.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extLst>
      <p:ext uri="{BB962C8B-B14F-4D97-AF65-F5344CB8AC3E}">
        <p14:creationId xmlns:p14="http://schemas.microsoft.com/office/powerpoint/2010/main" val="234323452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Trainer advises trainees when using frozen food display cabinets:</a:t>
            </a:r>
          </a:p>
          <a:p>
            <a:pPr>
              <a:buFont typeface="Arial" pitchFamily="34" charset="0"/>
              <a:buChar char="•"/>
            </a:pPr>
            <a:r>
              <a:rPr lang="en-AU" sz="1200" kern="1200" dirty="0" smtClean="0">
                <a:solidFill>
                  <a:schemeClr val="tx1"/>
                </a:solidFill>
                <a:latin typeface="+mn-lt"/>
                <a:ea typeface="+mn-ea"/>
                <a:cs typeface="+mn-cs"/>
              </a:rPr>
              <a:t> The food must remain ‘hard frozen’ while on display, meaning there must be no visible sign the product has started to thaw</a:t>
            </a:r>
          </a:p>
          <a:p>
            <a:pPr>
              <a:buFont typeface="Arial" pitchFamily="34" charset="0"/>
              <a:buChar char="•"/>
            </a:pPr>
            <a:r>
              <a:rPr lang="en-AU" sz="1200" kern="1200" dirty="0" smtClean="0">
                <a:solidFill>
                  <a:schemeClr val="tx1"/>
                </a:solidFill>
                <a:latin typeface="+mn-lt"/>
                <a:ea typeface="+mn-ea"/>
                <a:cs typeface="+mn-cs"/>
              </a:rPr>
              <a:t> When using freezers with ‘load lines’, never fill above the load lines as this food will quickly thaw because the required low temperature does not exist above this line.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extLst>
      <p:ext uri="{BB962C8B-B14F-4D97-AF65-F5344CB8AC3E}">
        <p14:creationId xmlns:p14="http://schemas.microsoft.com/office/powerpoint/2010/main" val="175060436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highlights to trainees it is important for venues to be clean:</a:t>
            </a:r>
          </a:p>
          <a:p>
            <a:pPr>
              <a:buFont typeface="Arial" pitchFamily="34" charset="0"/>
              <a:buChar char="•"/>
            </a:pPr>
            <a:r>
              <a:rPr lang="en-US" dirty="0" smtClean="0"/>
              <a:t> From a food safety perspective – cleaning and sanitising are basic</a:t>
            </a:r>
            <a:r>
              <a:rPr lang="en-US" baseline="0" dirty="0" smtClean="0"/>
              <a:t> requirements for all floor areas, equipment, utensils and food surfaces</a:t>
            </a:r>
            <a:endParaRPr lang="en-US" dirty="0" smtClean="0"/>
          </a:p>
          <a:p>
            <a:pPr>
              <a:buFont typeface="Arial" pitchFamily="34" charset="0"/>
              <a:buChar char="•"/>
            </a:pPr>
            <a:r>
              <a:rPr lang="en-US" dirty="0" smtClean="0"/>
              <a:t> To inspire customer confidence in the venue – and the food it serves: if a venue looks clean, customers will infer safe food and will tend to return to the premises to keep buying.</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extLst>
      <p:ext uri="{BB962C8B-B14F-4D97-AF65-F5344CB8AC3E}">
        <p14:creationId xmlns:p14="http://schemas.microsoft.com/office/powerpoint/2010/main" val="328159317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advises trainees about chemicals used in cleaning include:</a:t>
            </a:r>
          </a:p>
          <a:p>
            <a:pPr lvl="0">
              <a:buFont typeface="Arial" pitchFamily="34" charset="0"/>
              <a:buChar char="•"/>
            </a:pPr>
            <a:r>
              <a:rPr lang="en-AU" sz="1200" kern="1200" dirty="0" smtClean="0">
                <a:solidFill>
                  <a:schemeClr val="tx1"/>
                </a:solidFill>
                <a:latin typeface="+mn-lt"/>
                <a:ea typeface="+mn-ea"/>
                <a:cs typeface="+mn-cs"/>
              </a:rPr>
              <a:t> Detergents – used to remove dirt and grime from a variety of surfaces and items (cutlery and crockery, pots and pans, kitchen utensils and equipment, floors, walls and ceilings, food preparation surfaces and benches. Available in different concentrations to meet different cleaning demands, and available to suit different water conditions (hard water and soft water). Dilute according to manufacturer’s instructions for the cleaning job being undertaken.</a:t>
            </a:r>
          </a:p>
          <a:p>
            <a:pPr lvl="0">
              <a:buFont typeface="Arial" pitchFamily="34" charset="0"/>
              <a:buChar char="•"/>
            </a:pPr>
            <a:r>
              <a:rPr lang="en-AU" sz="1200" kern="1200" dirty="0" smtClean="0">
                <a:solidFill>
                  <a:schemeClr val="tx1"/>
                </a:solidFill>
                <a:latin typeface="+mn-lt"/>
                <a:ea typeface="+mn-ea"/>
                <a:cs typeface="+mn-cs"/>
              </a:rPr>
              <a:t> Sanitisers – used to sanitise items (food preparation surfaces, utensils, food equipment and food areas) by eliminating bacteria or reducing the number of bacteria to safe levels. Make sure nominated ‘contact time’ are adhered to for the product being used – always use according to manufacturer’s instructions.</a:t>
            </a:r>
          </a:p>
          <a:p>
            <a:pPr lvl="0">
              <a:buFont typeface="Arial" pitchFamily="34" charset="0"/>
              <a:buChar char="•"/>
            </a:pPr>
            <a:r>
              <a:rPr lang="en-AU" sz="1200" kern="1200" dirty="0" smtClean="0">
                <a:solidFill>
                  <a:schemeClr val="tx1"/>
                </a:solidFill>
                <a:latin typeface="+mn-lt"/>
                <a:ea typeface="+mn-ea"/>
                <a:cs typeface="+mn-cs"/>
              </a:rPr>
              <a:t> Deodorants – used to control smells and bad odours in waste bins. The use of deodorants is not a substitute for proper cleaning but can be used in the short-term to mask objectionable smells while the cause of the problem is being otherwise addressed.</a:t>
            </a:r>
          </a:p>
          <a:p>
            <a:pPr lvl="0">
              <a:buFont typeface="Arial" pitchFamily="34" charset="0"/>
              <a:buChar char="•"/>
            </a:pPr>
            <a:r>
              <a:rPr lang="en-AU" sz="1200" kern="1200" dirty="0" smtClean="0">
                <a:solidFill>
                  <a:schemeClr val="tx1"/>
                </a:solidFill>
                <a:latin typeface="+mn-lt"/>
                <a:ea typeface="+mn-ea"/>
                <a:cs typeface="+mn-cs"/>
              </a:rPr>
              <a:t>De-greasers – a chemical designed to cut through grease and fatty deposits. Commonly used in rubbish bins and waste bins to help remove the build-ups present in these containers. </a:t>
            </a:r>
          </a:p>
          <a:p>
            <a:pPr>
              <a:buFont typeface="Arial" pitchFamily="34" charset="0"/>
              <a:buNone/>
            </a:pPr>
            <a:endParaRPr lang="en-US" dirty="0" smtClean="0"/>
          </a:p>
          <a:p>
            <a:pPr>
              <a:buFont typeface="Arial" pitchFamily="34" charset="0"/>
              <a:buNone/>
            </a:pPr>
            <a:r>
              <a:rPr lang="en-US" b="1" dirty="0" smtClean="0"/>
              <a:t>Class Activity – Guest Speaker</a:t>
            </a:r>
          </a:p>
          <a:p>
            <a:pPr>
              <a:buFont typeface="Arial" pitchFamily="34" charset="0"/>
              <a:buNone/>
            </a:pPr>
            <a:r>
              <a:rPr lang="en-US" b="0" dirty="0" smtClean="0"/>
              <a:t>Trainer arranges for a representative from a chemical supply company to visit trainees and:</a:t>
            </a:r>
          </a:p>
          <a:p>
            <a:pPr>
              <a:buFont typeface="Arial" pitchFamily="34" charset="0"/>
              <a:buChar char="•"/>
            </a:pPr>
            <a:r>
              <a:rPr lang="en-US" b="0" dirty="0" smtClean="0"/>
              <a:t> Present samples of cleaning chemicals</a:t>
            </a:r>
          </a:p>
          <a:p>
            <a:pPr>
              <a:buFont typeface="Arial" pitchFamily="34" charset="0"/>
              <a:buChar char="•"/>
            </a:pPr>
            <a:r>
              <a:rPr lang="en-US" b="0" dirty="0" smtClean="0"/>
              <a:t> Describes their use for cleaning in a food premises</a:t>
            </a:r>
          </a:p>
          <a:p>
            <a:pPr>
              <a:buFont typeface="Arial" pitchFamily="34" charset="0"/>
              <a:buChar char="•"/>
            </a:pPr>
            <a:r>
              <a:rPr lang="en-US" b="0" dirty="0" smtClean="0"/>
              <a:t> Demonstrates their use</a:t>
            </a:r>
          </a:p>
          <a:p>
            <a:pPr>
              <a:buFont typeface="Arial" pitchFamily="34" charset="0"/>
              <a:buChar char="•"/>
            </a:pPr>
            <a:r>
              <a:rPr lang="en-US" b="0" dirty="0" smtClean="0"/>
              <a:t> Provides manufacturer’s instructions for each chemical</a:t>
            </a:r>
          </a:p>
          <a:p>
            <a:pPr>
              <a:buFont typeface="Arial" pitchFamily="34" charset="0"/>
              <a:buChar char="•"/>
            </a:pPr>
            <a:r>
              <a:rPr lang="en-US" b="0" dirty="0" smtClean="0"/>
              <a:t> provides Material Safety</a:t>
            </a:r>
            <a:r>
              <a:rPr lang="en-US" b="0" baseline="0" dirty="0" smtClean="0"/>
              <a:t> Data Sheets for each chemical</a:t>
            </a:r>
          </a:p>
          <a:p>
            <a:pPr>
              <a:buFont typeface="Arial" pitchFamily="34" charset="0"/>
              <a:buChar char="•"/>
            </a:pPr>
            <a:r>
              <a:rPr lang="en-US" b="0" baseline="0" dirty="0" smtClean="0"/>
              <a:t> Identify safety operating requirements when using chemicals. </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extLst>
      <p:ext uri="{BB962C8B-B14F-4D97-AF65-F5344CB8AC3E}">
        <p14:creationId xmlns:p14="http://schemas.microsoft.com/office/powerpoint/2010/main" val="2747079714"/>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provides trainees with relevant definitions regarding ‘cleaning’:</a:t>
            </a:r>
          </a:p>
          <a:p>
            <a:pPr>
              <a:buFont typeface="Arial" pitchFamily="34" charset="0"/>
              <a:buChar char="•"/>
            </a:pPr>
            <a:r>
              <a:rPr lang="en-AU" sz="1200" kern="1200" dirty="0" smtClean="0">
                <a:solidFill>
                  <a:schemeClr val="tx1"/>
                </a:solidFill>
                <a:latin typeface="+mn-lt"/>
                <a:ea typeface="+mn-ea"/>
                <a:cs typeface="+mn-cs"/>
              </a:rPr>
              <a:t> By definition, clean means free from visible debris (dirt, food, grime) and free from objectionable odour. The reference to ‘odour’ is only relevant when the definition is applied to rubbish bins </a:t>
            </a:r>
          </a:p>
          <a:p>
            <a:pPr>
              <a:buFont typeface="Arial" pitchFamily="34" charset="0"/>
              <a:buChar char="•"/>
            </a:pPr>
            <a:r>
              <a:rPr lang="en-AU" sz="1200" kern="1200" dirty="0" smtClean="0">
                <a:solidFill>
                  <a:schemeClr val="tx1"/>
                </a:solidFill>
                <a:latin typeface="+mn-lt"/>
                <a:ea typeface="+mn-ea"/>
                <a:cs typeface="+mn-cs"/>
              </a:rPr>
              <a:t> All food preparation equipment and surfaces must be kept in a clean and sanitary condition. </a:t>
            </a:r>
          </a:p>
          <a:p>
            <a:pPr>
              <a:buFont typeface="Arial" pitchFamily="34" charset="0"/>
              <a:buChar char="•"/>
            </a:pPr>
            <a:r>
              <a:rPr lang="en-AU" sz="1200" kern="1200" dirty="0" smtClean="0">
                <a:solidFill>
                  <a:schemeClr val="tx1"/>
                </a:solidFill>
                <a:latin typeface="+mn-lt"/>
                <a:ea typeface="+mn-ea"/>
                <a:cs typeface="+mn-cs"/>
              </a:rPr>
              <a:t> ‘Cleaning’ is the removal of visible dirt and debris (including objectionable odour) either from crockery, cutlery, glasses, equipment or fixtures and fittings.</a:t>
            </a:r>
          </a:p>
          <a:p>
            <a:pPr>
              <a:buFont typeface="Arial" pitchFamily="34" charset="0"/>
              <a:buChar char="•"/>
            </a:pPr>
            <a:r>
              <a:rPr lang="en-AU" sz="1200" kern="1200" dirty="0" smtClean="0">
                <a:solidFill>
                  <a:schemeClr val="tx1"/>
                </a:solidFill>
                <a:latin typeface="+mn-lt"/>
                <a:ea typeface="+mn-ea"/>
                <a:cs typeface="+mn-cs"/>
              </a:rPr>
              <a:t> ‘Sanitation’ (or ‘sanitising’) is the destruction of microbes using either hot water and</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or chemicals.</a:t>
            </a:r>
          </a:p>
          <a:p>
            <a:pPr>
              <a:buFont typeface="Arial" pitchFamily="34" charset="0"/>
              <a:buChar char="•"/>
            </a:pPr>
            <a:r>
              <a:rPr lang="en-AU" sz="1200" kern="1200" dirty="0" smtClean="0">
                <a:solidFill>
                  <a:schemeClr val="tx1"/>
                </a:solidFill>
                <a:latin typeface="+mn-lt"/>
                <a:ea typeface="+mn-ea"/>
                <a:cs typeface="+mn-cs"/>
              </a:rPr>
              <a:t> Cleaning is performed before sanitation. </a:t>
            </a:r>
          </a:p>
          <a:p>
            <a:pPr>
              <a:buFont typeface="Arial" pitchFamily="34" charset="0"/>
              <a:buChar char="•"/>
            </a:pPr>
            <a:r>
              <a:rPr lang="en-AU" sz="1200" kern="1200" dirty="0" smtClean="0">
                <a:solidFill>
                  <a:schemeClr val="tx1"/>
                </a:solidFill>
                <a:latin typeface="+mn-lt"/>
                <a:ea typeface="+mn-ea"/>
                <a:cs typeface="+mn-cs"/>
              </a:rPr>
              <a:t> This requirement for items to be clean and sanitary applies to chopping boards, bowls, food storage containers, food display equipment, preparation benches, walls and ceilings and anything in the food preparation, or food service area used to prepare, handle, process, serve, display or otherwise come into contact with food</a:t>
            </a:r>
          </a:p>
          <a:p>
            <a:pPr>
              <a:buFont typeface="Arial" pitchFamily="34" charset="0"/>
              <a:buChar char="•"/>
            </a:pPr>
            <a:r>
              <a:rPr lang="en-AU" sz="1200" kern="1200" dirty="0" smtClean="0">
                <a:solidFill>
                  <a:schemeClr val="tx1"/>
                </a:solidFill>
                <a:latin typeface="+mn-lt"/>
                <a:ea typeface="+mn-ea"/>
                <a:cs typeface="+mn-cs"/>
              </a:rPr>
              <a:t> Cleaning (using detergent and sanitiser) must occur at least ‘after each session’ – it is not acceptable to use an item</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surface all day and only clean it once at the end of the day. It must be cleaned for example after breakfast, after lunch and then again after dinner. Some premises may require cleaning every 4 hours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extLst>
      <p:ext uri="{BB962C8B-B14F-4D97-AF65-F5344CB8AC3E}">
        <p14:creationId xmlns:p14="http://schemas.microsoft.com/office/powerpoint/2010/main" val="157576071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provides trainees with safety advice regarding use of chemicals:</a:t>
            </a:r>
          </a:p>
          <a:p>
            <a:pPr lvl="0">
              <a:buFont typeface="Arial" pitchFamily="34" charset="0"/>
              <a:buChar char="•"/>
            </a:pPr>
            <a:r>
              <a:rPr lang="en-AU" sz="1200" kern="1200" dirty="0" smtClean="0">
                <a:solidFill>
                  <a:schemeClr val="tx1"/>
                </a:solidFill>
                <a:latin typeface="+mn-lt"/>
                <a:ea typeface="+mn-ea"/>
                <a:cs typeface="+mn-cs"/>
              </a:rPr>
              <a:t> Always follow manufacturer’s instructions – in relation to dilution rates, contact time, water temperature and how the chemical is to be applied/used (for example, some chemicals are applied un-diluted; some are mixed with water in a bucket; some are applied using a trigger spray bottle)</a:t>
            </a:r>
          </a:p>
          <a:p>
            <a:pPr lvl="0">
              <a:buFont typeface="Arial" pitchFamily="34" charset="0"/>
              <a:buChar char="•"/>
            </a:pPr>
            <a:r>
              <a:rPr lang="en-AU" sz="1200" kern="1200" dirty="0" smtClean="0">
                <a:solidFill>
                  <a:schemeClr val="tx1"/>
                </a:solidFill>
                <a:latin typeface="+mn-lt"/>
                <a:ea typeface="+mn-ea"/>
                <a:cs typeface="+mn-cs"/>
              </a:rPr>
              <a:t> Know where the MSDS are for the chemicals in use at the premises – in case there is an accident with the chemical. These sheets will provide immediate first aid information and other safety information in the case of (for example) a spill, ingesting of the chemical, getting the chemical in eyes.</a:t>
            </a:r>
          </a:p>
          <a:p>
            <a:pPr lvl="0">
              <a:buFont typeface="Arial" pitchFamily="34" charset="0"/>
              <a:buChar char="•"/>
            </a:pPr>
            <a:r>
              <a:rPr lang="en-AU" sz="1200" kern="1200" dirty="0" smtClean="0">
                <a:solidFill>
                  <a:schemeClr val="tx1"/>
                </a:solidFill>
                <a:latin typeface="+mn-lt"/>
                <a:ea typeface="+mn-ea"/>
                <a:cs typeface="+mn-cs"/>
              </a:rPr>
              <a:t> Always</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use the designated safety equipment and</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or clothing for the job being undertaken – known as ‘personal protective equipment and clothing’: this may include the use of gauntlets, respirators, face masks, leather aprons and steel-capped boots.</a:t>
            </a:r>
          </a:p>
          <a:p>
            <a:pPr lvl="0">
              <a:buFont typeface="Arial" pitchFamily="34" charset="0"/>
              <a:buChar char="•"/>
            </a:pPr>
            <a:r>
              <a:rPr lang="en-AU" sz="1200" kern="1200" dirty="0" smtClean="0">
                <a:solidFill>
                  <a:schemeClr val="tx1"/>
                </a:solidFill>
                <a:latin typeface="+mn-lt"/>
                <a:ea typeface="+mn-ea"/>
                <a:cs typeface="+mn-cs"/>
              </a:rPr>
              <a:t> Always wash hands after using cleaning equipment and</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or chemicals.</a:t>
            </a:r>
          </a:p>
          <a:p>
            <a:pPr lvl="0">
              <a:buFont typeface="Arial" pitchFamily="34" charset="0"/>
              <a:buNone/>
            </a:pPr>
            <a:endParaRPr lang="en-AU" sz="1200" kern="1200" dirty="0" smtClean="0">
              <a:solidFill>
                <a:schemeClr val="tx1"/>
              </a:solidFill>
              <a:latin typeface="+mn-lt"/>
              <a:ea typeface="+mn-ea"/>
              <a:cs typeface="+mn-cs"/>
            </a:endParaRPr>
          </a:p>
          <a:p>
            <a:pPr lvl="0">
              <a:buFont typeface="Arial" pitchFamily="34" charset="0"/>
              <a:buNone/>
            </a:pPr>
            <a:r>
              <a:rPr lang="en-AU" sz="1200" b="1" kern="1200" dirty="0" smtClean="0">
                <a:solidFill>
                  <a:schemeClr val="tx1"/>
                </a:solidFill>
                <a:latin typeface="+mn-lt"/>
                <a:ea typeface="+mn-ea"/>
                <a:cs typeface="+mn-cs"/>
              </a:rPr>
              <a:t>Class Activity – Handouts/Observation</a:t>
            </a:r>
          </a:p>
          <a:p>
            <a:pPr lvl="0">
              <a:buFont typeface="Arial" pitchFamily="34" charset="0"/>
              <a:buNone/>
            </a:pPr>
            <a:r>
              <a:rPr lang="en-AU" sz="1200" b="0" kern="1200" dirty="0" smtClean="0">
                <a:solidFill>
                  <a:schemeClr val="tx1"/>
                </a:solidFill>
                <a:latin typeface="+mn-lt"/>
                <a:ea typeface="+mn-ea"/>
                <a:cs typeface="+mn-cs"/>
              </a:rPr>
              <a:t>Trainer provides:</a:t>
            </a:r>
          </a:p>
          <a:p>
            <a:pPr lvl="0">
              <a:buFont typeface="Arial" pitchFamily="34" charset="0"/>
              <a:buChar char="•"/>
            </a:pPr>
            <a:r>
              <a:rPr lang="en-AU" sz="1200" b="0" kern="1200" dirty="0" smtClean="0">
                <a:solidFill>
                  <a:schemeClr val="tx1"/>
                </a:solidFill>
                <a:latin typeface="+mn-lt"/>
                <a:ea typeface="+mn-ea"/>
                <a:cs typeface="+mn-cs"/>
              </a:rPr>
              <a:t> Sample MSDS for trainees to read – so they become familiar with contents of these sheets</a:t>
            </a:r>
          </a:p>
          <a:p>
            <a:pPr lvl="0">
              <a:buFont typeface="Arial" pitchFamily="34" charset="0"/>
              <a:buChar char="•"/>
            </a:pPr>
            <a:r>
              <a:rPr lang="en-AU" sz="1200" b="0" kern="1200" dirty="0" smtClean="0">
                <a:solidFill>
                  <a:schemeClr val="tx1"/>
                </a:solidFill>
                <a:latin typeface="+mn-lt"/>
                <a:ea typeface="+mn-ea"/>
                <a:cs typeface="+mn-cs"/>
              </a:rPr>
              <a:t> Drums/containers of chemicals drawing trainee attention to labels,</a:t>
            </a:r>
            <a:r>
              <a:rPr lang="en-AU" sz="1200" b="0" kern="1200" baseline="0" dirty="0" smtClean="0">
                <a:solidFill>
                  <a:schemeClr val="tx1"/>
                </a:solidFill>
                <a:latin typeface="+mn-lt"/>
                <a:ea typeface="+mn-ea"/>
                <a:cs typeface="+mn-cs"/>
              </a:rPr>
              <a:t> directions for use,</a:t>
            </a:r>
            <a:r>
              <a:rPr lang="en-AU" sz="1200" b="0" kern="1200" dirty="0" smtClean="0">
                <a:solidFill>
                  <a:schemeClr val="tx1"/>
                </a:solidFill>
                <a:latin typeface="+mn-lt"/>
                <a:ea typeface="+mn-ea"/>
                <a:cs typeface="+mn-cs"/>
              </a:rPr>
              <a:t> safety requirements.</a:t>
            </a:r>
          </a:p>
          <a:p>
            <a:pPr lvl="0">
              <a:buFont typeface="Arial" pitchFamily="34" charset="0"/>
              <a:buNone/>
            </a:pPr>
            <a:endParaRPr lang="en-AU" sz="1200" b="1"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extLst>
      <p:ext uri="{BB962C8B-B14F-4D97-AF65-F5344CB8AC3E}">
        <p14:creationId xmlns:p14="http://schemas.microsoft.com/office/powerpoint/2010/main" val="146895040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provides trainees with directions regarding the storage of cleaning chemicals and cleaning equipment:</a:t>
            </a:r>
          </a:p>
          <a:p>
            <a:pPr lvl="0">
              <a:buFont typeface="Arial" pitchFamily="34" charset="0"/>
              <a:buChar char="•"/>
            </a:pPr>
            <a:r>
              <a:rPr lang="en-AU" sz="1200" kern="1200" dirty="0" smtClean="0">
                <a:solidFill>
                  <a:schemeClr val="tx1"/>
                </a:solidFill>
                <a:latin typeface="+mn-lt"/>
                <a:ea typeface="+mn-ea"/>
                <a:cs typeface="+mn-cs"/>
              </a:rPr>
              <a:t> Always store chemicals in a designated chemical storage area</a:t>
            </a:r>
          </a:p>
          <a:p>
            <a:pPr lvl="0">
              <a:buFont typeface="Arial" pitchFamily="34" charset="0"/>
              <a:buChar char="•"/>
            </a:pPr>
            <a:r>
              <a:rPr lang="en-AU" sz="1200" kern="1200" dirty="0" smtClean="0">
                <a:solidFill>
                  <a:schemeClr val="tx1"/>
                </a:solidFill>
                <a:latin typeface="+mn-lt"/>
                <a:ea typeface="+mn-ea"/>
                <a:cs typeface="+mn-cs"/>
              </a:rPr>
              <a:t> Never store chemicals alongside</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near food</a:t>
            </a:r>
          </a:p>
          <a:p>
            <a:pPr lvl="0">
              <a:buFont typeface="Arial" pitchFamily="34" charset="0"/>
              <a:buChar char="•"/>
            </a:pPr>
            <a:r>
              <a:rPr lang="en-AU" sz="1200" kern="1200" dirty="0" smtClean="0">
                <a:solidFill>
                  <a:schemeClr val="tx1"/>
                </a:solidFill>
                <a:latin typeface="+mn-lt"/>
                <a:ea typeface="+mn-ea"/>
                <a:cs typeface="+mn-cs"/>
              </a:rPr>
              <a:t> Never store chemicals in food or beverage containers</a:t>
            </a:r>
          </a:p>
          <a:p>
            <a:pPr lvl="0">
              <a:buFont typeface="Arial" pitchFamily="34" charset="0"/>
              <a:buChar char="•"/>
            </a:pPr>
            <a:r>
              <a:rPr lang="en-AU" sz="1200" kern="1200" dirty="0" smtClean="0">
                <a:solidFill>
                  <a:schemeClr val="tx1"/>
                </a:solidFill>
                <a:latin typeface="+mn-lt"/>
                <a:ea typeface="+mn-ea"/>
                <a:cs typeface="+mn-cs"/>
              </a:rPr>
              <a:t> Always clean and (where necessary) sanitise cleaning equipment before storing it.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extLst>
      <p:ext uri="{BB962C8B-B14F-4D97-AF65-F5344CB8AC3E}">
        <p14:creationId xmlns:p14="http://schemas.microsoft.com/office/powerpoint/2010/main" val="422561744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a:t>
            </a:r>
            <a:r>
              <a:rPr lang="en-US" baseline="0" dirty="0" smtClean="0"/>
              <a:t> identifies for trainees all venues should use ‘cleaning </a:t>
            </a:r>
            <a:r>
              <a:rPr lang="en-AU" sz="1200" kern="1200" dirty="0" smtClean="0">
                <a:solidFill>
                  <a:schemeClr val="tx1"/>
                </a:solidFill>
                <a:latin typeface="+mn-lt"/>
                <a:ea typeface="+mn-ea"/>
                <a:cs typeface="+mn-cs"/>
              </a:rPr>
              <a:t>schedules’ identifying:</a:t>
            </a:r>
          </a:p>
          <a:p>
            <a:pPr lvl="0">
              <a:buFont typeface="Arial" pitchFamily="34" charset="0"/>
              <a:buChar char="•"/>
            </a:pPr>
            <a:r>
              <a:rPr lang="en-AU" sz="1200" kern="1200" dirty="0" smtClean="0">
                <a:solidFill>
                  <a:schemeClr val="tx1"/>
                </a:solidFill>
                <a:latin typeface="+mn-lt"/>
                <a:ea typeface="+mn-ea"/>
                <a:cs typeface="+mn-cs"/>
              </a:rPr>
              <a:t> The food-related items and areas that need to be cleaned – by name, or other description of item/area</a:t>
            </a:r>
          </a:p>
          <a:p>
            <a:pPr lvl="0">
              <a:buFont typeface="Arial" pitchFamily="34" charset="0"/>
              <a:buChar char="•"/>
            </a:pPr>
            <a:r>
              <a:rPr lang="en-AU" sz="1200" kern="1200" dirty="0" smtClean="0">
                <a:solidFill>
                  <a:schemeClr val="tx1"/>
                </a:solidFill>
                <a:latin typeface="+mn-lt"/>
                <a:ea typeface="+mn-ea"/>
                <a:cs typeface="+mn-cs"/>
              </a:rPr>
              <a:t> When they need to cleaned – giving a time by hour (for example, 10:00AM, 2:00PM and 6:00PM) or general time of day (such as ‘after lunch’)</a:t>
            </a:r>
          </a:p>
          <a:p>
            <a:pPr lvl="0">
              <a:buFont typeface="Arial" pitchFamily="34" charset="0"/>
              <a:buChar char="•"/>
            </a:pPr>
            <a:r>
              <a:rPr lang="en-AU" sz="1200" kern="1200" dirty="0" smtClean="0">
                <a:solidFill>
                  <a:schemeClr val="tx1"/>
                </a:solidFill>
                <a:latin typeface="+mn-lt"/>
                <a:ea typeface="+mn-ea"/>
                <a:cs typeface="+mn-cs"/>
              </a:rPr>
              <a:t> By whom they must be cleaned – indicating either a staff member by name, or by job position or job title</a:t>
            </a:r>
          </a:p>
          <a:p>
            <a:pPr lvl="0">
              <a:buFont typeface="Arial" pitchFamily="34" charset="0"/>
              <a:buChar char="•"/>
            </a:pPr>
            <a:r>
              <a:rPr lang="en-AU" sz="1200" kern="1200" dirty="0" smtClean="0">
                <a:solidFill>
                  <a:schemeClr val="tx1"/>
                </a:solidFill>
                <a:latin typeface="+mn-lt"/>
                <a:ea typeface="+mn-ea"/>
                <a:cs typeface="+mn-cs"/>
              </a:rPr>
              <a:t> What is to be used in the cleaning process – identifying chemicals and cleaning equipment that have to be used</a:t>
            </a:r>
          </a:p>
          <a:p>
            <a:pPr lvl="0">
              <a:buFont typeface="Arial" pitchFamily="34" charset="0"/>
              <a:buChar char="•"/>
            </a:pPr>
            <a:r>
              <a:rPr lang="en-AU" sz="1200" kern="1200" dirty="0" smtClean="0">
                <a:solidFill>
                  <a:schemeClr val="tx1"/>
                </a:solidFill>
                <a:latin typeface="+mn-lt"/>
                <a:ea typeface="+mn-ea"/>
                <a:cs typeface="+mn-cs"/>
              </a:rPr>
              <a:t> Detailed cleaning instructions – to explain how each item is to be cleaned: this may include advice on how to dis-assemble an item and re-assemble it after cleaning.</a:t>
            </a:r>
          </a:p>
          <a:p>
            <a:pPr>
              <a:buFont typeface="Arial" pitchFamily="34" charset="0"/>
              <a:buNone/>
            </a:pPr>
            <a:endParaRPr lang="en-US" dirty="0" smtClean="0"/>
          </a:p>
          <a:p>
            <a:pPr>
              <a:buFont typeface="Arial" pitchFamily="34" charset="0"/>
              <a:buNone/>
            </a:pPr>
            <a:r>
              <a:rPr lang="en-US" b="1" dirty="0" smtClean="0"/>
              <a:t>Class Activity (1) – Handouts </a:t>
            </a:r>
          </a:p>
          <a:p>
            <a:pPr>
              <a:buFont typeface="Arial" pitchFamily="34" charset="0"/>
              <a:buNone/>
            </a:pPr>
            <a:r>
              <a:rPr lang="en-US" b="0" dirty="0" smtClean="0"/>
              <a:t>Trainer provides trainees with sample cleaning schedule and cleaning instructions (see Trainee Manual – ‘Sample cleaning instructions’) and reads through these with trainees</a:t>
            </a:r>
            <a:r>
              <a:rPr lang="en-US" b="0" baseline="0" dirty="0" smtClean="0"/>
              <a:t> explaining them and ensuring trainees understand their use.</a:t>
            </a:r>
          </a:p>
          <a:p>
            <a:pPr>
              <a:buFont typeface="Arial" pitchFamily="34" charset="0"/>
              <a:buNone/>
            </a:pPr>
            <a:endParaRPr lang="en-US" b="0" baseline="0" dirty="0" smtClean="0"/>
          </a:p>
          <a:p>
            <a:pPr>
              <a:buFont typeface="Arial" pitchFamily="34" charset="0"/>
              <a:buNone/>
            </a:pPr>
            <a:r>
              <a:rPr lang="en-US" b="1" baseline="0" dirty="0" smtClean="0"/>
              <a:t>Class Activity (2) – Individual Exercise</a:t>
            </a:r>
          </a:p>
          <a:p>
            <a:pPr>
              <a:buFont typeface="Arial" pitchFamily="34" charset="0"/>
              <a:buNone/>
            </a:pPr>
            <a:r>
              <a:rPr lang="en-US" b="0" baseline="0" dirty="0" smtClean="0"/>
              <a:t>Trainer asks trainees to identify one food item/area and asks them to produce an effective set of cleaning instructions for the item/area.</a:t>
            </a:r>
          </a:p>
          <a:p>
            <a:pPr>
              <a:buFont typeface="Arial" pitchFamily="34" charset="0"/>
              <a:buNone/>
            </a:pPr>
            <a:r>
              <a:rPr lang="en-US" b="0" baseline="0" dirty="0" smtClean="0"/>
              <a:t>Trainer analyses instructions and provides constructive feedback, as required.</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extLst>
      <p:ext uri="{BB962C8B-B14F-4D97-AF65-F5344CB8AC3E}">
        <p14:creationId xmlns:p14="http://schemas.microsoft.com/office/powerpoint/2010/main" val="377456796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provides</a:t>
            </a:r>
            <a:r>
              <a:rPr lang="en-US" baseline="0" dirty="0" smtClean="0"/>
              <a:t> trainees with directions for washing eating utensils (crockery and cutlery) by hand:</a:t>
            </a:r>
          </a:p>
          <a:p>
            <a:pPr lvl="0">
              <a:buFont typeface="Arial" pitchFamily="34" charset="0"/>
              <a:buChar char="•"/>
            </a:pPr>
            <a:r>
              <a:rPr lang="en-AU" sz="1200" kern="1200" dirty="0" smtClean="0">
                <a:solidFill>
                  <a:schemeClr val="tx1"/>
                </a:solidFill>
                <a:latin typeface="+mn-lt"/>
                <a:ea typeface="+mn-ea"/>
                <a:cs typeface="+mn-cs"/>
              </a:rPr>
              <a:t> Remove visible food debris – for example, scrape the plates</a:t>
            </a:r>
          </a:p>
          <a:p>
            <a:pPr lvl="0">
              <a:buFont typeface="Arial" pitchFamily="34" charset="0"/>
              <a:buChar char="•"/>
            </a:pPr>
            <a:r>
              <a:rPr lang="en-AU" sz="1200" kern="1200" dirty="0" smtClean="0">
                <a:solidFill>
                  <a:schemeClr val="tx1"/>
                </a:solidFill>
                <a:latin typeface="+mn-lt"/>
                <a:ea typeface="+mn-ea"/>
                <a:cs typeface="+mn-cs"/>
              </a:rPr>
              <a:t> Rinse with warm water – to remove loose dirt and loosen other debris</a:t>
            </a:r>
          </a:p>
          <a:p>
            <a:pPr lvl="0">
              <a:buFont typeface="Arial" pitchFamily="34" charset="0"/>
              <a:buChar char="•"/>
            </a:pPr>
            <a:r>
              <a:rPr lang="en-AU" sz="1200" kern="1200" dirty="0" smtClean="0">
                <a:solidFill>
                  <a:schemeClr val="tx1"/>
                </a:solidFill>
                <a:latin typeface="+mn-lt"/>
                <a:ea typeface="+mn-ea"/>
                <a:cs typeface="+mn-cs"/>
              </a:rPr>
              <a:t> Wash with a detergent – to remove remaining dirt</a:t>
            </a:r>
            <a:r>
              <a:rPr lang="en-AU" sz="1200" kern="1200" baseline="0" dirty="0" smtClean="0">
                <a:solidFill>
                  <a:schemeClr val="tx1"/>
                </a:solidFill>
                <a:latin typeface="+mn-lt"/>
                <a:ea typeface="+mn-ea"/>
                <a:cs typeface="+mn-cs"/>
              </a:rPr>
              <a:t> and </a:t>
            </a:r>
            <a:r>
              <a:rPr lang="en-AU" sz="1200" kern="1200" dirty="0" smtClean="0">
                <a:solidFill>
                  <a:schemeClr val="tx1"/>
                </a:solidFill>
                <a:latin typeface="+mn-lt"/>
                <a:ea typeface="+mn-ea"/>
                <a:cs typeface="+mn-cs"/>
              </a:rPr>
              <a:t>food debris</a:t>
            </a:r>
          </a:p>
          <a:p>
            <a:pPr lvl="0">
              <a:buFont typeface="Arial" pitchFamily="34" charset="0"/>
              <a:buChar char="•"/>
            </a:pPr>
            <a:r>
              <a:rPr lang="en-AU" sz="1200" kern="1200" dirty="0" smtClean="0">
                <a:solidFill>
                  <a:schemeClr val="tx1"/>
                </a:solidFill>
                <a:latin typeface="+mn-lt"/>
                <a:ea typeface="+mn-ea"/>
                <a:cs typeface="+mn-cs"/>
              </a:rPr>
              <a:t> Rinse again – to remove the detergent and debris</a:t>
            </a:r>
          </a:p>
          <a:p>
            <a:pPr lvl="0">
              <a:buFont typeface="Arial" pitchFamily="34" charset="0"/>
              <a:buChar char="•"/>
            </a:pPr>
            <a:r>
              <a:rPr lang="en-AU" sz="1200" kern="1200" dirty="0" smtClean="0">
                <a:solidFill>
                  <a:schemeClr val="tx1"/>
                </a:solidFill>
                <a:latin typeface="+mn-lt"/>
                <a:ea typeface="+mn-ea"/>
                <a:cs typeface="+mn-cs"/>
              </a:rPr>
              <a:t> Apply a sanitiser – to kill bacteria: very hot water may also achieve the same result</a:t>
            </a:r>
          </a:p>
          <a:p>
            <a:pPr lvl="0">
              <a:buFont typeface="Arial" pitchFamily="34" charset="0"/>
              <a:buChar char="•"/>
            </a:pPr>
            <a:r>
              <a:rPr lang="en-AU" sz="1200" kern="1200" dirty="0" smtClean="0">
                <a:solidFill>
                  <a:schemeClr val="tx1"/>
                </a:solidFill>
                <a:latin typeface="+mn-lt"/>
                <a:ea typeface="+mn-ea"/>
                <a:cs typeface="+mn-cs"/>
              </a:rPr>
              <a:t> Rinse – to remove the sanitiser (if recommended by manufacturer of the sanitiser)</a:t>
            </a:r>
          </a:p>
          <a:p>
            <a:pPr lvl="0">
              <a:buFont typeface="Arial" pitchFamily="34" charset="0"/>
              <a:buChar char="•"/>
            </a:pPr>
            <a:r>
              <a:rPr lang="en-AU" sz="1200" kern="1200" dirty="0" smtClean="0">
                <a:solidFill>
                  <a:schemeClr val="tx1"/>
                </a:solidFill>
                <a:latin typeface="+mn-lt"/>
                <a:ea typeface="+mn-ea"/>
                <a:cs typeface="+mn-cs"/>
              </a:rPr>
              <a:t> Allow to air dry – do not dry with tea towels as this may introduce contamination to surfaces that have</a:t>
            </a:r>
            <a:r>
              <a:rPr lang="en-AU" sz="1200" kern="1200" baseline="0" dirty="0" smtClean="0">
                <a:solidFill>
                  <a:schemeClr val="tx1"/>
                </a:solidFill>
                <a:latin typeface="+mn-lt"/>
                <a:ea typeface="+mn-ea"/>
                <a:cs typeface="+mn-cs"/>
              </a:rPr>
              <a:t> just been cleaned and sanitised.</a:t>
            </a:r>
            <a:endParaRPr lang="en-AU" sz="1200" kern="1200" dirty="0" smtClean="0">
              <a:solidFill>
                <a:schemeClr val="tx1"/>
              </a:solidFill>
              <a:latin typeface="+mn-lt"/>
              <a:ea typeface="+mn-ea"/>
              <a:cs typeface="+mn-cs"/>
            </a:endParaRPr>
          </a:p>
          <a:p>
            <a:pPr>
              <a:buFont typeface="Arial" pitchFamily="34" charset="0"/>
              <a:buNone/>
            </a:pPr>
            <a:endParaRPr lang="en-US" dirty="0" smtClean="0"/>
          </a:p>
          <a:p>
            <a:pPr>
              <a:buFont typeface="Arial" pitchFamily="34" charset="0"/>
              <a:buNone/>
            </a:pPr>
            <a:r>
              <a:rPr lang="en-US" b="1" dirty="0" smtClean="0"/>
              <a:t>Class Activity – Demonstration and Practical Exercise</a:t>
            </a:r>
          </a:p>
          <a:p>
            <a:pPr>
              <a:buFont typeface="Arial" pitchFamily="34" charset="0"/>
              <a:buNone/>
            </a:pPr>
            <a:r>
              <a:rPr lang="en-US" b="0" dirty="0" smtClean="0"/>
              <a:t>Trainer demonstrates how to wash crockery and cutlery by hand and provides opportunity</a:t>
            </a:r>
            <a:r>
              <a:rPr lang="en-US" b="0" baseline="0" dirty="0" smtClean="0"/>
              <a:t> for trainees to practice same.</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extLst>
      <p:ext uri="{BB962C8B-B14F-4D97-AF65-F5344CB8AC3E}">
        <p14:creationId xmlns:p14="http://schemas.microsoft.com/office/powerpoint/2010/main" val="3797876615"/>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gives trainees guidelines for washing eating utensils and dishes by machine:</a:t>
            </a:r>
          </a:p>
          <a:p>
            <a:pPr lvl="0">
              <a:buFont typeface="Arial" pitchFamily="34" charset="0"/>
              <a:buChar char="•"/>
            </a:pPr>
            <a:r>
              <a:rPr lang="en-AU" sz="1200" kern="1200" dirty="0" smtClean="0">
                <a:solidFill>
                  <a:schemeClr val="tx1"/>
                </a:solidFill>
                <a:latin typeface="+mn-lt"/>
                <a:ea typeface="+mn-ea"/>
                <a:cs typeface="+mn-cs"/>
              </a:rPr>
              <a:t> Scrape and rinse items prior to stacking in trays – use the right trays/racks for the right items. There are different trays</a:t>
            </a:r>
            <a:r>
              <a:rPr lang="en-AU" sz="1200" kern="1200" baseline="0" dirty="0" smtClean="0">
                <a:solidFill>
                  <a:schemeClr val="tx1"/>
                </a:solidFill>
                <a:latin typeface="+mn-lt"/>
                <a:ea typeface="+mn-ea"/>
                <a:cs typeface="+mn-cs"/>
              </a:rPr>
              <a:t> and </a:t>
            </a:r>
            <a:r>
              <a:rPr lang="en-AU" sz="1200" kern="1200" dirty="0" smtClean="0">
                <a:solidFill>
                  <a:schemeClr val="tx1"/>
                </a:solidFill>
                <a:latin typeface="+mn-lt"/>
                <a:ea typeface="+mn-ea"/>
                <a:cs typeface="+mn-cs"/>
              </a:rPr>
              <a:t>racks for plates, cups, cutlery.</a:t>
            </a:r>
          </a:p>
          <a:p>
            <a:pPr lvl="0">
              <a:buFont typeface="Arial" pitchFamily="34" charset="0"/>
              <a:buChar char="•"/>
            </a:pPr>
            <a:r>
              <a:rPr lang="en-AU" sz="1200" kern="1200" dirty="0" smtClean="0">
                <a:solidFill>
                  <a:schemeClr val="tx1"/>
                </a:solidFill>
                <a:latin typeface="+mn-lt"/>
                <a:ea typeface="+mn-ea"/>
                <a:cs typeface="+mn-cs"/>
              </a:rPr>
              <a:t> Wash for a minimum of 60 seconds at a temperature between 66°C and 71°C </a:t>
            </a:r>
          </a:p>
          <a:p>
            <a:pPr lvl="0">
              <a:buFont typeface="Arial" pitchFamily="34" charset="0"/>
              <a:buChar char="•"/>
            </a:pPr>
            <a:r>
              <a:rPr lang="en-AU" sz="1200" kern="1200" dirty="0" smtClean="0">
                <a:solidFill>
                  <a:schemeClr val="tx1"/>
                </a:solidFill>
                <a:latin typeface="+mn-lt"/>
                <a:ea typeface="+mn-ea"/>
                <a:cs typeface="+mn-cs"/>
              </a:rPr>
              <a:t> Rinse for a minimum of 10 seconds at a temperature of at least 77°C</a:t>
            </a:r>
          </a:p>
          <a:p>
            <a:pPr lvl="0">
              <a:buFont typeface="Arial" pitchFamily="34" charset="0"/>
              <a:buChar char="•"/>
            </a:pPr>
            <a:r>
              <a:rPr lang="en-AU" sz="1200" kern="1200" dirty="0" smtClean="0">
                <a:solidFill>
                  <a:schemeClr val="tx1"/>
                </a:solidFill>
                <a:latin typeface="+mn-lt"/>
                <a:ea typeface="+mn-ea"/>
                <a:cs typeface="+mn-cs"/>
              </a:rPr>
              <a:t> Allow to air dry.</a:t>
            </a:r>
          </a:p>
          <a:p>
            <a:pPr>
              <a:buFont typeface="Arial" pitchFamily="34" charset="0"/>
              <a:buNone/>
            </a:pPr>
            <a:endParaRPr lang="en-US" dirty="0" smtClean="0"/>
          </a:p>
          <a:p>
            <a:pPr>
              <a:buFont typeface="Arial" pitchFamily="34" charset="0"/>
              <a:buNone/>
            </a:pPr>
            <a:r>
              <a:rPr lang="en-US" b="1" dirty="0" smtClean="0"/>
              <a:t>Class Activity – Demonstration and Practical Exercise</a:t>
            </a:r>
          </a:p>
          <a:p>
            <a:pPr>
              <a:buFont typeface="Arial" pitchFamily="34" charset="0"/>
              <a:buNone/>
            </a:pPr>
            <a:r>
              <a:rPr lang="en-US" b="0" dirty="0" smtClean="0"/>
              <a:t>Trainer shows trainees how to load and wash crockery and cutlery into a dish washing</a:t>
            </a:r>
            <a:r>
              <a:rPr lang="en-US" b="0" baseline="0" dirty="0" smtClean="0"/>
              <a:t> machine and provides opportunity for trainees to practice same.</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extLst>
      <p:ext uri="{BB962C8B-B14F-4D97-AF65-F5344CB8AC3E}">
        <p14:creationId xmlns:p14="http://schemas.microsoft.com/office/powerpoint/2010/main" val="371148770"/>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advises trainees regarding use of a double-bowl sink to wash crockery and cutlery:</a:t>
            </a:r>
          </a:p>
          <a:p>
            <a:pPr lvl="0">
              <a:buFont typeface="Arial" pitchFamily="34" charset="0"/>
              <a:buChar char="•"/>
            </a:pPr>
            <a:r>
              <a:rPr lang="en-AU" sz="1200" kern="1200" dirty="0" smtClean="0">
                <a:solidFill>
                  <a:schemeClr val="tx1"/>
                </a:solidFill>
                <a:latin typeface="+mn-lt"/>
                <a:ea typeface="+mn-ea"/>
                <a:cs typeface="+mn-cs"/>
              </a:rPr>
              <a:t> One bowl must contain water at 45°C and detergent – for washing </a:t>
            </a:r>
          </a:p>
          <a:p>
            <a:pPr lvl="0">
              <a:buFont typeface="Arial" pitchFamily="34" charset="0"/>
              <a:buChar char="•"/>
            </a:pPr>
            <a:r>
              <a:rPr lang="en-AU" sz="1200" kern="1200" dirty="0" smtClean="0">
                <a:solidFill>
                  <a:schemeClr val="tx1"/>
                </a:solidFill>
                <a:latin typeface="+mn-lt"/>
                <a:ea typeface="+mn-ea"/>
                <a:cs typeface="+mn-cs"/>
              </a:rPr>
              <a:t> One bowl must contain clean water at a minimum of 77°C – for sanitising</a:t>
            </a:r>
          </a:p>
          <a:p>
            <a:pPr lvl="0">
              <a:buFont typeface="Arial" pitchFamily="34" charset="0"/>
              <a:buChar char="•"/>
            </a:pPr>
            <a:r>
              <a:rPr lang="en-AU" sz="1200" kern="1200" dirty="0" smtClean="0">
                <a:solidFill>
                  <a:schemeClr val="tx1"/>
                </a:solidFill>
                <a:latin typeface="+mn-lt"/>
                <a:ea typeface="+mn-ea"/>
                <a:cs typeface="+mn-cs"/>
              </a:rPr>
              <a:t> Sanitising must involve soaking the items for a minimum of 30 seconds – it is not acceptable to just run hot water over items to remove the suds</a:t>
            </a:r>
          </a:p>
          <a:p>
            <a:pPr lvl="0">
              <a:buFont typeface="Arial" pitchFamily="34" charset="0"/>
              <a:buChar char="•"/>
            </a:pPr>
            <a:r>
              <a:rPr lang="en-AU" sz="1200" kern="1200" dirty="0" smtClean="0">
                <a:solidFill>
                  <a:schemeClr val="tx1"/>
                </a:solidFill>
                <a:latin typeface="+mn-lt"/>
                <a:ea typeface="+mn-ea"/>
                <a:cs typeface="+mn-cs"/>
              </a:rPr>
              <a:t> Allow to air dry</a:t>
            </a:r>
          </a:p>
          <a:p>
            <a:pPr lvl="0">
              <a:buFont typeface="Arial" pitchFamily="34" charset="0"/>
              <a:buChar char="•"/>
            </a:pPr>
            <a:r>
              <a:rPr lang="en-AU" sz="1200" kern="1200" dirty="0" smtClean="0">
                <a:solidFill>
                  <a:schemeClr val="tx1"/>
                </a:solidFill>
                <a:latin typeface="+mn-lt"/>
                <a:ea typeface="+mn-ea"/>
                <a:cs typeface="+mn-cs"/>
              </a:rPr>
              <a:t> A thermometer must be on hand to check water achieves the required temperatures as identified.</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extLst>
      <p:ext uri="{BB962C8B-B14F-4D97-AF65-F5344CB8AC3E}">
        <p14:creationId xmlns:p14="http://schemas.microsoft.com/office/powerpoint/2010/main" val="1028390768"/>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states to trainees when working in a bar serving alcoholic and</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or non-alcoholic drinks they need to pay attention to safe food handling practices, including cleaning, in the same way other food handling staff do highlighting working behind a bar can involve:</a:t>
            </a:r>
          </a:p>
          <a:p>
            <a:pPr lvl="0">
              <a:buFont typeface="Arial" pitchFamily="34" charset="0"/>
              <a:buChar char="•"/>
            </a:pPr>
            <a:r>
              <a:rPr lang="en-AU" sz="1200" kern="1200" dirty="0" smtClean="0">
                <a:solidFill>
                  <a:schemeClr val="tx1"/>
                </a:solidFill>
                <a:latin typeface="+mn-lt"/>
                <a:ea typeface="+mn-ea"/>
                <a:cs typeface="+mn-cs"/>
              </a:rPr>
              <a:t> Cleaning of small equipment such as drip trays (including those provided under beer taps, under post mix nozzles, and those inside refrigerated equipment), chopping boards, knives, spoons, glassware, cocktail shakers and measures</a:t>
            </a:r>
          </a:p>
          <a:p>
            <a:pPr lvl="0">
              <a:buFont typeface="Arial" pitchFamily="34" charset="0"/>
              <a:buChar char="•"/>
            </a:pPr>
            <a:r>
              <a:rPr lang="en-AU" sz="1200" kern="1200" dirty="0" smtClean="0">
                <a:solidFill>
                  <a:schemeClr val="tx1"/>
                </a:solidFill>
                <a:latin typeface="+mn-lt"/>
                <a:ea typeface="+mn-ea"/>
                <a:cs typeface="+mn-cs"/>
              </a:rPr>
              <a:t> Cleaning of large equipment such as refrigerators – with special attention to the seals around doors which can become sticky due to dripping drinks being passed over them. Large bar equipment also includes ice machines and glass chillers</a:t>
            </a:r>
          </a:p>
          <a:p>
            <a:pPr lvl="0">
              <a:buFont typeface="Arial" pitchFamily="34" charset="0"/>
              <a:buChar char="•"/>
            </a:pPr>
            <a:r>
              <a:rPr lang="en-AU" sz="1200" kern="1200" dirty="0" smtClean="0">
                <a:solidFill>
                  <a:schemeClr val="tx1"/>
                </a:solidFill>
                <a:latin typeface="+mn-lt"/>
                <a:ea typeface="+mn-ea"/>
                <a:cs typeface="+mn-cs"/>
              </a:rPr>
              <a:t> Cleaning of beer lines – where beer is dispensed from kegs using beverage dispense lines, these should be cleaned at least weekly according to brewery instructions using only chemicals approved by the brewery: in hot weather beer delivery lines should be cleaned twice a week </a:t>
            </a:r>
          </a:p>
          <a:p>
            <a:pPr lvl="0">
              <a:buFont typeface="Arial" pitchFamily="34" charset="0"/>
              <a:buChar char="•"/>
            </a:pPr>
            <a:r>
              <a:rPr lang="en-AU" sz="1200" kern="1200" dirty="0" smtClean="0">
                <a:solidFill>
                  <a:schemeClr val="tx1"/>
                </a:solidFill>
                <a:latin typeface="+mn-lt"/>
                <a:ea typeface="+mn-ea"/>
                <a:cs typeface="+mn-cs"/>
              </a:rPr>
              <a:t> Cleaning of fixed items – such as the bar counter, cash registers and mirrors: these are not really related to ‘food safety’ as such but they help give the bar the appropriate ‘clean’ look customers want.</a:t>
            </a:r>
          </a:p>
          <a:p>
            <a:pPr>
              <a:buFont typeface="Arial" pitchFamily="34" charset="0"/>
              <a:buNone/>
            </a:pPr>
            <a:endParaRPr lang="en-US" dirty="0" smtClean="0"/>
          </a:p>
          <a:p>
            <a:pPr>
              <a:buFont typeface="Arial" pitchFamily="34" charset="0"/>
              <a:buNone/>
            </a:pPr>
            <a:r>
              <a:rPr lang="en-US" b="1" dirty="0" smtClean="0"/>
              <a:t>Class Activity – Excursion</a:t>
            </a:r>
          </a:p>
          <a:p>
            <a:pPr>
              <a:buFont typeface="Arial" pitchFamily="34" charset="0"/>
              <a:buNone/>
            </a:pPr>
            <a:r>
              <a:rPr lang="en-US" b="0" dirty="0" smtClean="0"/>
              <a:t>Trainer arranges for trainees to visit a licensed venue and:</a:t>
            </a:r>
          </a:p>
          <a:p>
            <a:pPr>
              <a:buFont typeface="Arial" pitchFamily="34" charset="0"/>
              <a:buChar char="•"/>
            </a:pPr>
            <a:r>
              <a:rPr lang="en-US" b="0" dirty="0" smtClean="0"/>
              <a:t> Talk to cleaning staff</a:t>
            </a:r>
          </a:p>
          <a:p>
            <a:pPr>
              <a:buFont typeface="Arial" pitchFamily="34" charset="0"/>
              <a:buChar char="•"/>
            </a:pPr>
            <a:r>
              <a:rPr lang="en-US" b="0" dirty="0" smtClean="0"/>
              <a:t> View facilities</a:t>
            </a:r>
          </a:p>
          <a:p>
            <a:pPr>
              <a:buFont typeface="Arial" pitchFamily="34" charset="0"/>
              <a:buChar char="•"/>
            </a:pPr>
            <a:r>
              <a:rPr lang="en-US" b="0" dirty="0" smtClean="0"/>
              <a:t> Observe cleaning practices for:</a:t>
            </a:r>
          </a:p>
          <a:p>
            <a:pPr lvl="1">
              <a:buFont typeface="Arial" pitchFamily="34" charset="0"/>
              <a:buChar char="•"/>
            </a:pPr>
            <a:r>
              <a:rPr lang="en-US" b="0" dirty="0" smtClean="0"/>
              <a:t> Small equipment</a:t>
            </a:r>
          </a:p>
          <a:p>
            <a:pPr lvl="1">
              <a:buFont typeface="Arial" pitchFamily="34" charset="0"/>
              <a:buChar char="•"/>
            </a:pPr>
            <a:r>
              <a:rPr lang="en-US" b="0" dirty="0" smtClean="0"/>
              <a:t> Large equipment</a:t>
            </a:r>
          </a:p>
          <a:p>
            <a:pPr lvl="1">
              <a:buFont typeface="Arial" pitchFamily="34" charset="0"/>
              <a:buChar char="•"/>
            </a:pPr>
            <a:r>
              <a:rPr lang="en-US" b="0" dirty="0" smtClean="0"/>
              <a:t> Beer lines</a:t>
            </a:r>
          </a:p>
          <a:p>
            <a:pPr lvl="1">
              <a:buFont typeface="Arial" pitchFamily="34" charset="0"/>
              <a:buChar char="•"/>
            </a:pPr>
            <a:r>
              <a:rPr lang="en-US" b="1" dirty="0" smtClean="0"/>
              <a:t> </a:t>
            </a:r>
            <a:r>
              <a:rPr lang="en-US" b="0" dirty="0" smtClean="0"/>
              <a:t>Fixed items.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extLst>
      <p:ext uri="{BB962C8B-B14F-4D97-AF65-F5344CB8AC3E}">
        <p14:creationId xmlns:p14="http://schemas.microsoft.com/office/powerpoint/2010/main" val="156688188"/>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extLst>
      <p:ext uri="{BB962C8B-B14F-4D97-AF65-F5344CB8AC3E}">
        <p14:creationId xmlns:p14="http://schemas.microsoft.com/office/powerpoint/2010/main" val="3140670395"/>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extLst>
      <p:ext uri="{BB962C8B-B14F-4D97-AF65-F5344CB8AC3E}">
        <p14:creationId xmlns:p14="http://schemas.microsoft.com/office/powerpoint/2010/main" val="2000351459"/>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extLst>
      <p:ext uri="{BB962C8B-B14F-4D97-AF65-F5344CB8AC3E}">
        <p14:creationId xmlns:p14="http://schemas.microsoft.com/office/powerpoint/2010/main" val="327080933"/>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extLst>
      <p:ext uri="{BB962C8B-B14F-4D97-AF65-F5344CB8AC3E}">
        <p14:creationId xmlns:p14="http://schemas.microsoft.com/office/powerpoint/2010/main" val="3439337232"/>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extLst>
      <p:ext uri="{BB962C8B-B14F-4D97-AF65-F5344CB8AC3E}">
        <p14:creationId xmlns:p14="http://schemas.microsoft.com/office/powerpoint/2010/main" val="3012764710"/>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extLst>
      <p:ext uri="{BB962C8B-B14F-4D97-AF65-F5344CB8AC3E}">
        <p14:creationId xmlns:p14="http://schemas.microsoft.com/office/powerpoint/2010/main" val="491931663"/>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extLst>
      <p:ext uri="{BB962C8B-B14F-4D97-AF65-F5344CB8AC3E}">
        <p14:creationId xmlns:p14="http://schemas.microsoft.com/office/powerpoint/2010/main" val="2480556125"/>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identifies for </a:t>
            </a:r>
            <a:r>
              <a:rPr lang="en-AU" sz="1200" kern="1200" baseline="0" dirty="0" smtClean="0">
                <a:solidFill>
                  <a:schemeClr val="tx1"/>
                </a:solidFill>
                <a:latin typeface="+mn-lt"/>
                <a:ea typeface="+mn-ea"/>
                <a:cs typeface="+mn-cs"/>
              </a:rPr>
              <a:t>trainee</a:t>
            </a:r>
            <a:r>
              <a:rPr lang="en-US" dirty="0" smtClean="0"/>
              <a:t>s the Performance Criteria for this Element, as listed on the slide.</a:t>
            </a:r>
          </a:p>
          <a:p>
            <a:pPr>
              <a:buFont typeface="Arial" pitchFamily="34" charset="0"/>
              <a:buNone/>
            </a:pPr>
            <a:endParaRPr lang="en-US" dirty="0" smtClean="0"/>
          </a:p>
          <a:p>
            <a:pPr>
              <a:buFont typeface="Arial" pitchFamily="34" charset="0"/>
              <a:buNone/>
            </a:pPr>
            <a:r>
              <a:rPr lang="en-US" b="1" dirty="0" smtClean="0"/>
              <a:t>Class Activity – Discussion</a:t>
            </a:r>
          </a:p>
          <a:p>
            <a:pPr>
              <a:buFont typeface="Arial" pitchFamily="34" charset="0"/>
              <a:buNone/>
            </a:pPr>
            <a:r>
              <a:rPr lang="en-US" b="0" dirty="0" smtClean="0"/>
              <a:t>Trainer asks </a:t>
            </a:r>
            <a:r>
              <a:rPr lang="en-AU" sz="1200" kern="1200" baseline="0" dirty="0" smtClean="0">
                <a:solidFill>
                  <a:schemeClr val="tx1"/>
                </a:solidFill>
                <a:latin typeface="+mn-lt"/>
                <a:ea typeface="+mn-ea"/>
                <a:cs typeface="+mn-cs"/>
              </a:rPr>
              <a:t>trainee</a:t>
            </a:r>
            <a:r>
              <a:rPr lang="en-US" b="0" dirty="0" smtClean="0"/>
              <a:t>s questions regarding workplace food safety risks by asking questions such as:</a:t>
            </a:r>
          </a:p>
          <a:p>
            <a:pPr>
              <a:buFont typeface="Arial" pitchFamily="34" charset="0"/>
              <a:buChar char="•"/>
            </a:pPr>
            <a:r>
              <a:rPr lang="en-US" b="0" baseline="0" dirty="0" smtClean="0"/>
              <a:t> What possible food risks exist in your workplace and how are they addressed? Are they addressed effectively?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 What possible personal risks exist in your workplace in relation to food safety and how are they addressed? Are they addressed effectively?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 What possible environmental risks exist in your workplace in relation to food safety and how are they addressed? Are they addressed effectively?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 What action would you take if you identified an unsafe work practice in your workplace? Why?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 What action would you take if you identified unsafe food in your workplace? Why?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 What protocols exist in your workplace for removing food waste from the kitchen and food areas?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 What protocols apply to the storage of waste on the premises (externally) and the removal of waste (including food waste) from the premises?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extLst>
      <p:ext uri="{BB962C8B-B14F-4D97-AF65-F5344CB8AC3E}">
        <p14:creationId xmlns:p14="http://schemas.microsoft.com/office/powerpoint/2010/main" val="771392849"/>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Trainer notes for trainees all food handling staff must always be alert to the possibility of any risks posed by hygiene hazards in the workplace creating a threat to the safety of food, identifying:</a:t>
            </a:r>
          </a:p>
          <a:p>
            <a:pPr>
              <a:buFont typeface="Arial" pitchFamily="34" charset="0"/>
              <a:buChar char="•"/>
            </a:pPr>
            <a:r>
              <a:rPr lang="en-AU" sz="1200" kern="1200" dirty="0" smtClean="0">
                <a:solidFill>
                  <a:schemeClr val="tx1"/>
                </a:solidFill>
                <a:latin typeface="+mn-lt"/>
                <a:ea typeface="+mn-ea"/>
                <a:cs typeface="+mn-cs"/>
              </a:rPr>
              <a:t> A food hazard may be seen as any microbiological, chemical or physical contaminant in food.</a:t>
            </a:r>
          </a:p>
          <a:p>
            <a:pPr>
              <a:buFont typeface="Arial" pitchFamily="34" charset="0"/>
              <a:buChar char="•"/>
            </a:pPr>
            <a:r>
              <a:rPr lang="en-AU" sz="1200" kern="1200" dirty="0" smtClean="0">
                <a:solidFill>
                  <a:schemeClr val="tx1"/>
                </a:solidFill>
                <a:latin typeface="+mn-lt"/>
                <a:ea typeface="+mn-ea"/>
                <a:cs typeface="+mn-cs"/>
              </a:rPr>
              <a:t> Keys in responding to these threats are:</a:t>
            </a:r>
          </a:p>
          <a:p>
            <a:pPr lvl="1">
              <a:buFont typeface="Arial" pitchFamily="34" charset="0"/>
              <a:buChar char="•"/>
            </a:pPr>
            <a:r>
              <a:rPr lang="en-AU" sz="1200" kern="1200" dirty="0" smtClean="0">
                <a:solidFill>
                  <a:schemeClr val="tx1"/>
                </a:solidFill>
                <a:latin typeface="+mn-lt"/>
                <a:ea typeface="+mn-ea"/>
                <a:cs typeface="+mn-cs"/>
              </a:rPr>
              <a:t> Awareness</a:t>
            </a:r>
          </a:p>
          <a:p>
            <a:pPr lvl="1">
              <a:buFont typeface="Arial" pitchFamily="34" charset="0"/>
              <a:buChar char="•"/>
            </a:pPr>
            <a:r>
              <a:rPr lang="en-AU" sz="1200" kern="1200" dirty="0" smtClean="0">
                <a:solidFill>
                  <a:schemeClr val="tx1"/>
                </a:solidFill>
                <a:latin typeface="+mn-lt"/>
                <a:ea typeface="+mn-ea"/>
                <a:cs typeface="+mn-cs"/>
              </a:rPr>
              <a:t> Constant vigilance</a:t>
            </a:r>
          </a:p>
          <a:p>
            <a:pPr lvl="1">
              <a:buFont typeface="Arial" pitchFamily="34" charset="0"/>
              <a:buChar char="•"/>
            </a:pPr>
            <a:r>
              <a:rPr lang="en-AU" sz="1200" kern="1200" dirty="0" smtClean="0">
                <a:solidFill>
                  <a:schemeClr val="tx1"/>
                </a:solidFill>
                <a:latin typeface="+mn-lt"/>
                <a:ea typeface="+mn-ea"/>
                <a:cs typeface="+mn-cs"/>
              </a:rPr>
              <a:t> Immediate reporting </a:t>
            </a:r>
          </a:p>
          <a:p>
            <a:pPr lvl="1">
              <a:buFont typeface="Arial" pitchFamily="34" charset="0"/>
              <a:buChar char="•"/>
            </a:pPr>
            <a:r>
              <a:rPr lang="en-AU" sz="1200" kern="1200" dirty="0" smtClean="0">
                <a:solidFill>
                  <a:schemeClr val="tx1"/>
                </a:solidFill>
                <a:latin typeface="+mn-lt"/>
                <a:ea typeface="+mn-ea"/>
                <a:cs typeface="+mn-cs"/>
              </a:rPr>
              <a:t> Quick and effective responses.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extLst>
      <p:ext uri="{BB962C8B-B14F-4D97-AF65-F5344CB8AC3E}">
        <p14:creationId xmlns:p14="http://schemas.microsoft.com/office/powerpoint/2010/main" val="4067643202"/>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explains to trainees microbiological contamination is caused by bacteria, moulds, and viruses via intoxication or infection, covering bacteria by stating:</a:t>
            </a:r>
          </a:p>
          <a:p>
            <a:pPr>
              <a:buFont typeface="Arial" pitchFamily="34" charset="0"/>
              <a:buChar char="•"/>
            </a:pPr>
            <a:r>
              <a:rPr lang="en-AU" sz="1200" kern="1200" dirty="0" smtClean="0">
                <a:solidFill>
                  <a:schemeClr val="tx1"/>
                </a:solidFill>
                <a:latin typeface="+mn-lt"/>
                <a:ea typeface="+mn-ea"/>
                <a:cs typeface="+mn-cs"/>
              </a:rPr>
              <a:t> These are single-celled life forms and are found everywhere. They are found in the air, soil, on our hands, equipment and utensils. Bacteria live in both humans and animals, growing and multiplying rapidly, aided by warmth, moisture, time, food and oxygen. They are so small that several million can fit onto a pinhead.</a:t>
            </a:r>
          </a:p>
          <a:p>
            <a:pPr>
              <a:buFont typeface="Arial" pitchFamily="34" charset="0"/>
              <a:buChar char="•"/>
            </a:pPr>
            <a:r>
              <a:rPr lang="en-AU" sz="1200" kern="1200" dirty="0" smtClean="0">
                <a:solidFill>
                  <a:schemeClr val="tx1"/>
                </a:solidFill>
                <a:latin typeface="+mn-lt"/>
                <a:ea typeface="+mn-ea"/>
                <a:cs typeface="+mn-cs"/>
              </a:rPr>
              <a:t> Bacteria reproduce rapidly and the average bacteria take about 10 to 20 minutes to reproduce. If the environment is favourable, bacteria can grow from 1 to over 2 million bacteria in the space of 7 hours. </a:t>
            </a:r>
          </a:p>
          <a:p>
            <a:pPr>
              <a:buFont typeface="Arial" pitchFamily="34" charset="0"/>
              <a:buChar char="•"/>
            </a:pPr>
            <a:r>
              <a:rPr lang="en-AU" sz="1200" kern="1200" dirty="0" smtClean="0">
                <a:solidFill>
                  <a:schemeClr val="tx1"/>
                </a:solidFill>
                <a:latin typeface="+mn-lt"/>
                <a:ea typeface="+mn-ea"/>
                <a:cs typeface="+mn-cs"/>
              </a:rPr>
              <a:t> Bacteria favour high temperatures, and multiply rapidly when the temperature is high. The Temperature Danger Zone in which bacteria will multiply rapidly is between 5ºC to 60ºC.</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extLst>
      <p:ext uri="{BB962C8B-B14F-4D97-AF65-F5344CB8AC3E}">
        <p14:creationId xmlns:p14="http://schemas.microsoft.com/office/powerpoint/2010/main" val="220860081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highlights the rapid growth of bacteria (via ‘binary fision’) explaining the above table starts with just one bacterium and, in real life, there is never just one bacterium contaminating food or a surface.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extLst>
      <p:ext uri="{BB962C8B-B14F-4D97-AF65-F5344CB8AC3E}">
        <p14:creationId xmlns:p14="http://schemas.microsoft.com/office/powerpoint/2010/main" val="3671746728"/>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introduces several problem bacteria to trainees explaining there are many more than the following:</a:t>
            </a:r>
          </a:p>
          <a:p>
            <a:pPr lvl="0">
              <a:buFont typeface="Arial" pitchFamily="34" charset="0"/>
              <a:buChar char="•"/>
            </a:pPr>
            <a:r>
              <a:rPr lang="en-AU" sz="1200" kern="1200" dirty="0" smtClean="0">
                <a:solidFill>
                  <a:schemeClr val="tx1"/>
                </a:solidFill>
                <a:latin typeface="+mn-lt"/>
                <a:ea typeface="+mn-ea"/>
                <a:cs typeface="+mn-cs"/>
              </a:rPr>
              <a:t> Clostridium perfringens – usually caused when food is cooked, chilled overnight and re-heated, or found in foods that are cooked 'rare'. The initial source of the contamination is faeces (man, birds, animal or insects) which is introduced somewhere along the food chain or production line (failure of staff to wash their hands after the toilet; flies carrying it onto food; contamination at the abattoir)</a:t>
            </a:r>
          </a:p>
          <a:p>
            <a:pPr lvl="0">
              <a:buFont typeface="Arial" pitchFamily="34" charset="0"/>
              <a:buChar char="•"/>
            </a:pPr>
            <a:r>
              <a:rPr lang="en-AU" sz="1200" kern="1200" dirty="0" smtClean="0">
                <a:solidFill>
                  <a:schemeClr val="tx1"/>
                </a:solidFill>
                <a:latin typeface="+mn-lt"/>
                <a:ea typeface="+mn-ea"/>
                <a:cs typeface="+mn-cs"/>
              </a:rPr>
              <a:t> Salmonella – a very common contaminant. Faecal contamination is a prime source (failure of staff to wash hands after the toilet; flies carrying it onto foods; leaky plumbing; fish harvested from waters polluted by sewage).  </a:t>
            </a:r>
          </a:p>
          <a:p>
            <a:pPr lvl="0">
              <a:buFont typeface="Arial" pitchFamily="34" charset="0"/>
              <a:buChar char="•"/>
            </a:pPr>
            <a:r>
              <a:rPr lang="en-AU" sz="1200" kern="1200" dirty="0" smtClean="0">
                <a:solidFill>
                  <a:schemeClr val="tx1"/>
                </a:solidFill>
                <a:latin typeface="+mn-lt"/>
                <a:ea typeface="+mn-ea"/>
                <a:cs typeface="+mn-cs"/>
              </a:rPr>
              <a:t> Streptococci – caused by nasal or oral discharges into food (coughing, sneezing), either directly or via hands that have been so contaminated.</a:t>
            </a:r>
          </a:p>
          <a:p>
            <a:pPr lvl="0">
              <a:buFont typeface="Arial" pitchFamily="34" charset="0"/>
              <a:buChar char="•"/>
            </a:pPr>
            <a:r>
              <a:rPr lang="en-AU" sz="1200" kern="1200" dirty="0" smtClean="0">
                <a:solidFill>
                  <a:schemeClr val="tx1"/>
                </a:solidFill>
                <a:latin typeface="+mn-lt"/>
                <a:ea typeface="+mn-ea"/>
                <a:cs typeface="+mn-cs"/>
              </a:rPr>
              <a:t> Staphylococcus aureus – a rapidly acting bacteria where the main source is the food handler: nose, throat, mouth, skin, pimples and cuts, either via direct or indirect contamination.</a:t>
            </a:r>
          </a:p>
          <a:p>
            <a:pPr lvl="0">
              <a:buFont typeface="Arial" pitchFamily="34" charset="0"/>
              <a:buChar char="•"/>
            </a:pPr>
            <a:r>
              <a:rPr lang="en-AU" sz="1200" kern="1200" dirty="0" smtClean="0">
                <a:solidFill>
                  <a:schemeClr val="tx1"/>
                </a:solidFill>
                <a:latin typeface="+mn-lt"/>
                <a:ea typeface="+mn-ea"/>
                <a:cs typeface="+mn-cs"/>
              </a:rPr>
              <a:t> Clostridium botulinum – a rare bacteria but a very lethal contaminant (with a 65% mortality rate). Can occur when heat processing of tins and jars is incomplete allowing hardy spores (see below) to survive and cause the problem. Any tin that 'spurts' when opened, is leaky or is 'blown', or jars with broken seals must be discarded as this is a sign of botulism contamination: there is no adverse smell and food must not be tasted to test it as the small amount ingested during tasting can kill.</a:t>
            </a:r>
          </a:p>
          <a:p>
            <a:pPr>
              <a:buFont typeface="Arial" pitchFamily="34" charset="0"/>
              <a:buChar char="•"/>
            </a:pPr>
            <a:r>
              <a:rPr lang="en-AU" sz="1200" kern="1200" dirty="0" smtClean="0">
                <a:solidFill>
                  <a:schemeClr val="tx1"/>
                </a:solidFill>
                <a:latin typeface="+mn-lt"/>
                <a:ea typeface="+mn-ea"/>
                <a:cs typeface="+mn-cs"/>
              </a:rPr>
              <a:t> There is usually no sign food has been infected by bacteria. It will not always look, smell or taste different to food that is not contaminated by bacteria</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extLst>
      <p:ext uri="{BB962C8B-B14F-4D97-AF65-F5344CB8AC3E}">
        <p14:creationId xmlns:p14="http://schemas.microsoft.com/office/powerpoint/2010/main" val="1589487517"/>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explains to trainees some bacteria can survive in harsh environments by changing into spores stating spores have a thick coat which makes them very tough and difficult to kill:</a:t>
            </a:r>
          </a:p>
          <a:p>
            <a:pPr>
              <a:buFont typeface="Arial" pitchFamily="34" charset="0"/>
              <a:buChar char="•"/>
            </a:pPr>
            <a:r>
              <a:rPr lang="en-AU" sz="1200" kern="1200" dirty="0" smtClean="0">
                <a:solidFill>
                  <a:schemeClr val="tx1"/>
                </a:solidFill>
                <a:latin typeface="+mn-lt"/>
                <a:ea typeface="+mn-ea"/>
                <a:cs typeface="+mn-cs"/>
              </a:rPr>
              <a:t> When bacteria form into spores, they can re-form back into bacteria when conditions return to being favourable: the spores are resting, not growing – they are simply waiting for ideal growth conditions (warmth,</a:t>
            </a:r>
            <a:r>
              <a:rPr lang="en-AU" sz="1200" kern="1200" baseline="0" dirty="0" smtClean="0">
                <a:solidFill>
                  <a:schemeClr val="tx1"/>
                </a:solidFill>
                <a:latin typeface="+mn-lt"/>
                <a:ea typeface="+mn-ea"/>
                <a:cs typeface="+mn-cs"/>
              </a:rPr>
              <a:t> moisture) </a:t>
            </a:r>
            <a:r>
              <a:rPr lang="en-AU" sz="1200" kern="1200" dirty="0" smtClean="0">
                <a:solidFill>
                  <a:schemeClr val="tx1"/>
                </a:solidFill>
                <a:latin typeface="+mn-lt"/>
                <a:ea typeface="+mn-ea"/>
                <a:cs typeface="+mn-cs"/>
              </a:rPr>
              <a:t>to return and they begin multiplying again.</a:t>
            </a:r>
          </a:p>
          <a:p>
            <a:pPr>
              <a:buFont typeface="Arial" pitchFamily="34" charset="0"/>
              <a:buChar char="•"/>
            </a:pPr>
            <a:r>
              <a:rPr lang="en-AU" sz="1200" kern="1200" dirty="0" smtClean="0">
                <a:solidFill>
                  <a:schemeClr val="tx1"/>
                </a:solidFill>
                <a:latin typeface="+mn-lt"/>
                <a:ea typeface="+mn-ea"/>
                <a:cs typeface="+mn-cs"/>
              </a:rPr>
              <a:t> Not all bacteria form spores because spores may not be killed by normal cooking.</a:t>
            </a:r>
          </a:p>
          <a:p>
            <a:pPr>
              <a:buFont typeface="Arial" pitchFamily="34" charset="0"/>
              <a:buChar char="•"/>
            </a:pPr>
            <a:r>
              <a:rPr lang="en-AU" sz="1200" kern="1200" dirty="0" smtClean="0">
                <a:solidFill>
                  <a:schemeClr val="tx1"/>
                </a:solidFill>
                <a:latin typeface="+mn-lt"/>
                <a:ea typeface="+mn-ea"/>
                <a:cs typeface="+mn-cs"/>
              </a:rPr>
              <a:t> Spores can be stopped from becoming active bacteria by:</a:t>
            </a:r>
          </a:p>
          <a:p>
            <a:pPr lvl="1">
              <a:buFont typeface="Arial" pitchFamily="34" charset="0"/>
              <a:buChar char="•"/>
            </a:pPr>
            <a:r>
              <a:rPr lang="en-AU" sz="1200" kern="1200" dirty="0" smtClean="0">
                <a:solidFill>
                  <a:schemeClr val="tx1"/>
                </a:solidFill>
                <a:latin typeface="+mn-lt"/>
                <a:ea typeface="+mn-ea"/>
                <a:cs typeface="+mn-cs"/>
              </a:rPr>
              <a:t> Keeping food above 60ºC</a:t>
            </a:r>
          </a:p>
          <a:p>
            <a:pPr lvl="1">
              <a:buFont typeface="Arial" pitchFamily="34" charset="0"/>
              <a:buChar char="•"/>
            </a:pPr>
            <a:r>
              <a:rPr lang="en-AU" sz="1200" kern="1200" dirty="0" smtClean="0">
                <a:solidFill>
                  <a:schemeClr val="tx1"/>
                </a:solidFill>
                <a:latin typeface="+mn-lt"/>
                <a:ea typeface="+mn-ea"/>
                <a:cs typeface="+mn-cs"/>
              </a:rPr>
              <a:t> Keeping food below 5ºC</a:t>
            </a:r>
          </a:p>
          <a:p>
            <a:pPr lvl="1">
              <a:buFont typeface="Arial" pitchFamily="34" charset="0"/>
              <a:buChar char="•"/>
            </a:pPr>
            <a:r>
              <a:rPr lang="en-AU" sz="1200" kern="1200" dirty="0" smtClean="0">
                <a:solidFill>
                  <a:schemeClr val="tx1"/>
                </a:solidFill>
                <a:latin typeface="+mn-lt"/>
                <a:ea typeface="+mn-ea"/>
                <a:cs typeface="+mn-cs"/>
              </a:rPr>
              <a:t> Keeping dry food, dry</a:t>
            </a:r>
          </a:p>
          <a:p>
            <a:pPr lvl="1">
              <a:buFont typeface="Arial" pitchFamily="34" charset="0"/>
              <a:buChar char="•"/>
            </a:pPr>
            <a:r>
              <a:rPr lang="en-AU" sz="1200" kern="1200" dirty="0" smtClean="0">
                <a:solidFill>
                  <a:schemeClr val="tx1"/>
                </a:solidFill>
                <a:latin typeface="+mn-lt"/>
                <a:ea typeface="+mn-ea"/>
                <a:cs typeface="+mn-cs"/>
              </a:rPr>
              <a:t> Cooling hot foods quickly through the Temperature Danger Zone, rather than just allowing them to cool for long periods at kitchen temperatures.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extLst>
      <p:ext uri="{BB962C8B-B14F-4D97-AF65-F5344CB8AC3E}">
        <p14:creationId xmlns:p14="http://schemas.microsoft.com/office/powerpoint/2010/main" val="204116510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introduces ‘moulds’ to trainees as another example of microbiological contamination stating they can be harmful or useful to food, adding certain moulds damage the food on which they grow and (in some cases) moulds can be very dangerous if they are eaten by humans while other moulds are used to enhance food, for example those used in cheese making – the blue vein in ‘blue vein’ cheese is a cultivated mould: </a:t>
            </a:r>
          </a:p>
          <a:p>
            <a:pPr>
              <a:buFont typeface="Arial" pitchFamily="34" charset="0"/>
              <a:buChar char="•"/>
            </a:pPr>
            <a:r>
              <a:rPr lang="en-AU" sz="1200" kern="1200" dirty="0" smtClean="0">
                <a:solidFill>
                  <a:schemeClr val="tx1"/>
                </a:solidFill>
                <a:latin typeface="+mn-lt"/>
                <a:ea typeface="+mn-ea"/>
                <a:cs typeface="+mn-cs"/>
              </a:rPr>
              <a:t> Most moulds cause spoilage in food – moulds usually take the form of unsightly growths, off colours and off flavours. These moulds are recognised as being fuzzy or having furry growths and are generally found on bakery products, vegetables, overripe fruit and semi-dried meat.</a:t>
            </a:r>
          </a:p>
          <a:p>
            <a:pPr>
              <a:buFont typeface="Arial" pitchFamily="34" charset="0"/>
              <a:buChar char="•"/>
            </a:pPr>
            <a:r>
              <a:rPr lang="en-AU" sz="1200" kern="1200" dirty="0" smtClean="0">
                <a:solidFill>
                  <a:schemeClr val="tx1"/>
                </a:solidFill>
                <a:latin typeface="+mn-lt"/>
                <a:ea typeface="+mn-ea"/>
                <a:cs typeface="+mn-cs"/>
              </a:rPr>
              <a:t> One very dangerous mould is the aspergillus mould, which grows on peanut plants. Aspergillus thrives in warm, moist conditions and produces a toxin called aflatoxin. A tiny amount of aflatoxin can cause liver cancer. </a:t>
            </a:r>
          </a:p>
          <a:p>
            <a:pPr>
              <a:buFont typeface="Arial" pitchFamily="34" charset="0"/>
              <a:buChar char="•"/>
            </a:pPr>
            <a:r>
              <a:rPr lang="en-AU" sz="1200" kern="1200" dirty="0" smtClean="0">
                <a:solidFill>
                  <a:schemeClr val="tx1"/>
                </a:solidFill>
                <a:latin typeface="+mn-lt"/>
                <a:ea typeface="+mn-ea"/>
                <a:cs typeface="+mn-cs"/>
              </a:rPr>
              <a:t> Moulds reproduce by forming spores containing the genetic material for the mould. Unlike bacteria, moulds do not need to die to release their spores. The spores are ‘set free’ and spread through the air in the wind or carried by animals or water. The spore settles on a food source puts down roots and grows a trunk and branches just like a tree grows from a seed in good soil. Each spore can reproduce rapidly in a favourable environment.</a:t>
            </a:r>
          </a:p>
          <a:p>
            <a:pPr>
              <a:buFont typeface="Arial" pitchFamily="34" charset="0"/>
              <a:buChar char="•"/>
            </a:pPr>
            <a:r>
              <a:rPr lang="en-AU" sz="1200" kern="1200" dirty="0" smtClean="0">
                <a:solidFill>
                  <a:schemeClr val="tx1"/>
                </a:solidFill>
                <a:latin typeface="+mn-lt"/>
                <a:ea typeface="+mn-ea"/>
                <a:cs typeface="+mn-cs"/>
              </a:rPr>
              <a:t> Discard all mould-affected food – do not just scrape off the affected area and use the rest of the item</a:t>
            </a:r>
          </a:p>
          <a:p>
            <a:pPr>
              <a:buFont typeface="Arial" pitchFamily="34" charset="0"/>
              <a:buChar char="•"/>
            </a:pPr>
            <a:r>
              <a:rPr lang="en-AU" sz="1200" kern="1200" dirty="0" smtClean="0">
                <a:solidFill>
                  <a:schemeClr val="tx1"/>
                </a:solidFill>
                <a:latin typeface="+mn-lt"/>
                <a:ea typeface="+mn-ea"/>
                <a:cs typeface="+mn-cs"/>
              </a:rPr>
              <a:t> Undertake a full clean of the area – such as a cool room where mould has been detected.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extLst>
      <p:ext uri="{BB962C8B-B14F-4D97-AF65-F5344CB8AC3E}">
        <p14:creationId xmlns:p14="http://schemas.microsoft.com/office/powerpoint/2010/main" val="3684245634"/>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advises trainees about viruses and food safety:</a:t>
            </a:r>
          </a:p>
          <a:p>
            <a:pPr>
              <a:buFont typeface="Arial" pitchFamily="34" charset="0"/>
              <a:buChar char="•"/>
            </a:pPr>
            <a:r>
              <a:rPr lang="en-US" dirty="0" smtClean="0"/>
              <a:t> Viruses invade a living host cell – such as a person (food handler), seafood, fruit and vegetables</a:t>
            </a:r>
          </a:p>
          <a:p>
            <a:pPr>
              <a:buFont typeface="Arial" pitchFamily="34" charset="0"/>
              <a:buChar char="•"/>
            </a:pPr>
            <a:r>
              <a:rPr lang="en-US" dirty="0" smtClean="0"/>
              <a:t> Can be passed on by ingesting infected food or as a result of unsafe personal food handling practices</a:t>
            </a:r>
          </a:p>
          <a:p>
            <a:pPr>
              <a:buFont typeface="Arial" pitchFamily="34" charset="0"/>
              <a:buChar char="•"/>
            </a:pPr>
            <a:r>
              <a:rPr lang="en-US" dirty="0" smtClean="0"/>
              <a:t> Examples are gastro-enteritis and Hepatitis A</a:t>
            </a:r>
          </a:p>
          <a:p>
            <a:pPr>
              <a:buFont typeface="Arial" pitchFamily="34" charset="0"/>
              <a:buNone/>
            </a:pPr>
            <a:endParaRPr lang="en-US" dirty="0" smtClean="0"/>
          </a:p>
          <a:p>
            <a:pPr>
              <a:buFont typeface="Arial" pitchFamily="34" charset="0"/>
              <a:buNone/>
            </a:pPr>
            <a:r>
              <a:rPr lang="en-US" b="1" dirty="0" smtClean="0"/>
              <a:t>Class Activity – Guest Speaker</a:t>
            </a:r>
          </a:p>
          <a:p>
            <a:pPr>
              <a:buFont typeface="Arial" pitchFamily="34" charset="0"/>
              <a:buNone/>
            </a:pPr>
            <a:r>
              <a:rPr lang="en-US" b="0" dirty="0" smtClean="0"/>
              <a:t>Trainer arranges for Health Official to attend and talk to trainees about:</a:t>
            </a:r>
          </a:p>
          <a:p>
            <a:pPr>
              <a:buFont typeface="Arial" pitchFamily="34" charset="0"/>
              <a:buChar char="•"/>
            </a:pPr>
            <a:r>
              <a:rPr lang="en-US" b="0" dirty="0" smtClean="0"/>
              <a:t> Microbiological contamination of food</a:t>
            </a:r>
          </a:p>
          <a:p>
            <a:pPr>
              <a:buFont typeface="Arial" pitchFamily="34" charset="0"/>
              <a:buChar char="•"/>
            </a:pPr>
            <a:r>
              <a:rPr lang="en-US" b="0" dirty="0" smtClean="0"/>
              <a:t> Examples of food poisoning bacteria, viruses and moulds</a:t>
            </a:r>
          </a:p>
          <a:p>
            <a:pPr>
              <a:buFont typeface="Arial" pitchFamily="34" charset="0"/>
              <a:buChar char="•"/>
            </a:pPr>
            <a:r>
              <a:rPr lang="en-US" b="0" dirty="0" smtClean="0"/>
              <a:t> How microbiological contaminants affect food and impact food safety</a:t>
            </a:r>
          </a:p>
          <a:p>
            <a:pPr>
              <a:buFont typeface="Arial" pitchFamily="34" charset="0"/>
              <a:buChar char="•"/>
            </a:pPr>
            <a:r>
              <a:rPr lang="en-US" b="0" dirty="0" smtClean="0"/>
              <a:t> Ways food handlers can prevent microbiological contamination</a:t>
            </a:r>
            <a:r>
              <a:rPr lang="en-US" b="0" baseline="0" dirty="0" smtClean="0"/>
              <a:t> of food</a:t>
            </a:r>
          </a:p>
          <a:p>
            <a:pPr>
              <a:buFont typeface="Arial" pitchFamily="34" charset="0"/>
              <a:buChar char="•"/>
            </a:pPr>
            <a:r>
              <a:rPr lang="en-US" b="0" baseline="0" dirty="0" smtClean="0"/>
              <a:t> Stories of the effects of </a:t>
            </a:r>
            <a:r>
              <a:rPr lang="en-US" b="0" dirty="0" smtClean="0"/>
              <a:t>microbiological contamination</a:t>
            </a:r>
            <a:r>
              <a:rPr lang="en-US" b="0" baseline="0" dirty="0" smtClean="0"/>
              <a:t> of food</a:t>
            </a:r>
          </a:p>
          <a:p>
            <a:pPr>
              <a:buFont typeface="Arial" pitchFamily="34" charset="0"/>
              <a:buChar char="•"/>
            </a:pPr>
            <a:r>
              <a:rPr lang="en-US" b="0" baseline="0" dirty="0" smtClean="0"/>
              <a:t> Naturally occurring poisonous foods.</a:t>
            </a:r>
            <a:endParaRPr lang="en-US" b="0" dirty="0" smtClean="0"/>
          </a:p>
          <a:p>
            <a:pPr>
              <a:buFont typeface="Arial" pitchFamily="34" charset="0"/>
              <a:buChar char="•"/>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extLst>
      <p:ext uri="{BB962C8B-B14F-4D97-AF65-F5344CB8AC3E}">
        <p14:creationId xmlns:p14="http://schemas.microsoft.com/office/powerpoint/2010/main" val="944178726"/>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describes for trainees examples of high risk food handling situations that may include microbiological contamination include:</a:t>
            </a:r>
          </a:p>
          <a:p>
            <a:pPr lvl="0">
              <a:buFont typeface="Arial" pitchFamily="34" charset="0"/>
              <a:buChar char="•"/>
            </a:pPr>
            <a:r>
              <a:rPr lang="en-AU" sz="1200" kern="1200" dirty="0" smtClean="0">
                <a:solidFill>
                  <a:schemeClr val="tx1"/>
                </a:solidFill>
                <a:latin typeface="+mn-lt"/>
                <a:ea typeface="+mn-ea"/>
                <a:cs typeface="+mn-cs"/>
              </a:rPr>
              <a:t> Working with any high risk and potentially hazardous foods</a:t>
            </a:r>
          </a:p>
          <a:p>
            <a:pPr lvl="0">
              <a:buFont typeface="Arial" pitchFamily="34" charset="0"/>
              <a:buChar char="•"/>
            </a:pPr>
            <a:r>
              <a:rPr lang="en-AU" sz="1200" kern="1200" dirty="0" smtClean="0">
                <a:solidFill>
                  <a:schemeClr val="tx1"/>
                </a:solidFill>
                <a:latin typeface="+mn-lt"/>
                <a:ea typeface="+mn-ea"/>
                <a:cs typeface="+mn-cs"/>
              </a:rPr>
              <a:t> Working in temperatures that promote rapid bacterial growth – that is, in the Temperature Danger Zone (5°C to 60°C). This may occur when raw foods are being processed, prepared for cooking at normal kitchen temperatures. The amount of time high risk food spends in the Temperature Danger Zone must always be minimised.</a:t>
            </a:r>
          </a:p>
          <a:p>
            <a:pPr lvl="0">
              <a:buFont typeface="Arial" pitchFamily="34" charset="0"/>
              <a:buChar char="•"/>
            </a:pPr>
            <a:r>
              <a:rPr lang="en-AU" sz="1200" kern="1200" dirty="0" smtClean="0">
                <a:solidFill>
                  <a:schemeClr val="tx1"/>
                </a:solidFill>
                <a:latin typeface="+mn-lt"/>
                <a:ea typeface="+mn-ea"/>
                <a:cs typeface="+mn-cs"/>
              </a:rPr>
              <a:t> Displays of food and buffets – where the temperature may be compromised (hot food may fall below 60°C, cold food may rise above 5°C), plus there is always the danger members of the public (untrained in correct food handling procedures) may contaminate the food</a:t>
            </a:r>
          </a:p>
          <a:p>
            <a:pPr lvl="0">
              <a:buFont typeface="Arial" pitchFamily="34" charset="0"/>
              <a:buChar char="•"/>
            </a:pPr>
            <a:r>
              <a:rPr lang="en-AU" sz="1200" kern="1200" dirty="0" smtClean="0">
                <a:solidFill>
                  <a:schemeClr val="tx1"/>
                </a:solidFill>
                <a:latin typeface="+mn-lt"/>
                <a:ea typeface="+mn-ea"/>
                <a:cs typeface="+mn-cs"/>
              </a:rPr>
              <a:t> Processing of food where it is touched by the bare hand and then not subsequently cooked  </a:t>
            </a:r>
          </a:p>
          <a:p>
            <a:pPr lvl="0">
              <a:buFont typeface="Arial" pitchFamily="34" charset="0"/>
              <a:buChar char="•"/>
            </a:pPr>
            <a:r>
              <a:rPr lang="en-AU" sz="1200" kern="1200" dirty="0" smtClean="0">
                <a:solidFill>
                  <a:schemeClr val="tx1"/>
                </a:solidFill>
                <a:latin typeface="+mn-lt"/>
                <a:ea typeface="+mn-ea"/>
                <a:cs typeface="+mn-cs"/>
              </a:rPr>
              <a:t> Any situation requiring thawing and re-heating always poses a risk because the food may stay in the Temperature Danger Zone too long.</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extLst>
      <p:ext uri="{BB962C8B-B14F-4D97-AF65-F5344CB8AC3E}">
        <p14:creationId xmlns:p14="http://schemas.microsoft.com/office/powerpoint/2010/main" val="1564866702"/>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tells trainees chemical contamination of food can occur:</a:t>
            </a:r>
          </a:p>
          <a:p>
            <a:pPr lvl="0">
              <a:buFont typeface="Arial" pitchFamily="34" charset="0"/>
              <a:buChar char="•"/>
            </a:pPr>
            <a:r>
              <a:rPr lang="en-AU" sz="1200" kern="1200" dirty="0" smtClean="0">
                <a:solidFill>
                  <a:schemeClr val="tx1"/>
                </a:solidFill>
                <a:latin typeface="+mn-lt"/>
                <a:ea typeface="+mn-ea"/>
                <a:cs typeface="+mn-cs"/>
              </a:rPr>
              <a:t> As a result of chemicals used on the food when it is grown – meaning items are contaminated when they arrive in the premises</a:t>
            </a:r>
          </a:p>
          <a:p>
            <a:pPr lvl="0">
              <a:buFont typeface="Arial" pitchFamily="34" charset="0"/>
              <a:buChar char="•"/>
            </a:pPr>
            <a:r>
              <a:rPr lang="en-AU" sz="1200" kern="1200" dirty="0" smtClean="0">
                <a:solidFill>
                  <a:schemeClr val="tx1"/>
                </a:solidFill>
                <a:latin typeface="+mn-lt"/>
                <a:ea typeface="+mn-ea"/>
                <a:cs typeface="+mn-cs"/>
              </a:rPr>
              <a:t> When chemicals find their way inadvertently into the food on the premises – due (for example) to careless practices in food areas and improper handling of food and chemicals.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extLst>
      <p:ext uri="{BB962C8B-B14F-4D97-AF65-F5344CB8AC3E}">
        <p14:creationId xmlns:p14="http://schemas.microsoft.com/office/powerpoint/2010/main" val="493888547"/>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informs trainees the following practices will help prevent chemical food poisoning:</a:t>
            </a:r>
          </a:p>
          <a:p>
            <a:pPr lvl="0">
              <a:buFont typeface="Arial" pitchFamily="34" charset="0"/>
              <a:buChar char="•"/>
            </a:pPr>
            <a:r>
              <a:rPr lang="en-AU" sz="1200" kern="1200" dirty="0" smtClean="0">
                <a:solidFill>
                  <a:schemeClr val="tx1"/>
                </a:solidFill>
                <a:latin typeface="+mn-lt"/>
                <a:ea typeface="+mn-ea"/>
                <a:cs typeface="+mn-cs"/>
              </a:rPr>
              <a:t> Specific measuring vessels should always be allocated for chemicals – never use food service items (jugs, glasses, cups, bowls, measuring spoons) to obtain, measure or pour any chemical</a:t>
            </a:r>
          </a:p>
          <a:p>
            <a:pPr lvl="0">
              <a:buFont typeface="Arial" pitchFamily="34" charset="0"/>
              <a:buChar char="•"/>
            </a:pPr>
            <a:r>
              <a:rPr lang="en-AU" sz="1200" kern="1200" dirty="0" smtClean="0">
                <a:solidFill>
                  <a:schemeClr val="tx1"/>
                </a:solidFill>
                <a:latin typeface="+mn-lt"/>
                <a:ea typeface="+mn-ea"/>
                <a:cs typeface="+mn-cs"/>
              </a:rPr>
              <a:t> All chemicals must be stored away from food areas at all times – chemicals must never be stored in the kitchen or with food</a:t>
            </a:r>
          </a:p>
          <a:p>
            <a:pPr lvl="0">
              <a:buFont typeface="Arial" pitchFamily="34" charset="0"/>
              <a:buChar char="•"/>
            </a:pPr>
            <a:r>
              <a:rPr lang="en-AU" sz="1200" kern="1200" dirty="0" smtClean="0">
                <a:solidFill>
                  <a:schemeClr val="tx1"/>
                </a:solidFill>
                <a:latin typeface="+mn-lt"/>
                <a:ea typeface="+mn-ea"/>
                <a:cs typeface="+mn-cs"/>
              </a:rPr>
              <a:t> Always wash hands after using chemicals and before handling food or food items, utensils or preparation surfaces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extLst>
      <p:ext uri="{BB962C8B-B14F-4D97-AF65-F5344CB8AC3E}">
        <p14:creationId xmlns:p14="http://schemas.microsoft.com/office/powerpoint/2010/main" val="978952566"/>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Trainer continues to inform trainees about practices to help prevent chemical food poisoning:</a:t>
            </a:r>
          </a:p>
          <a:p>
            <a:pPr lvl="0">
              <a:buFont typeface="Arial" pitchFamily="34" charset="0"/>
              <a:buChar char="•"/>
            </a:pPr>
            <a:r>
              <a:rPr lang="en-AU" sz="1200" kern="1200" dirty="0" smtClean="0">
                <a:solidFill>
                  <a:schemeClr val="tx1"/>
                </a:solidFill>
                <a:latin typeface="+mn-lt"/>
                <a:ea typeface="+mn-ea"/>
                <a:cs typeface="+mn-cs"/>
              </a:rPr>
              <a:t> Only buy food from reputable suppliers who can guarantee their produce is chemical-free</a:t>
            </a:r>
          </a:p>
          <a:p>
            <a:pPr lvl="0">
              <a:buFont typeface="Arial" pitchFamily="34" charset="0"/>
              <a:buChar char="•"/>
            </a:pPr>
            <a:r>
              <a:rPr lang="en-AU" sz="1200" kern="1200" dirty="0" smtClean="0">
                <a:solidFill>
                  <a:schemeClr val="tx1"/>
                </a:solidFill>
                <a:latin typeface="+mn-lt"/>
                <a:ea typeface="+mn-ea"/>
                <a:cs typeface="+mn-cs"/>
              </a:rPr>
              <a:t> Be aware of alerts advising about contaminated food from a certain location, country or source</a:t>
            </a:r>
          </a:p>
          <a:p>
            <a:pPr lvl="0">
              <a:buFont typeface="Arial" pitchFamily="34" charset="0"/>
              <a:buChar char="•"/>
            </a:pPr>
            <a:r>
              <a:rPr lang="en-AU" sz="1200" kern="1200" dirty="0" smtClean="0">
                <a:solidFill>
                  <a:schemeClr val="tx1"/>
                </a:solidFill>
                <a:latin typeface="+mn-lt"/>
                <a:ea typeface="+mn-ea"/>
                <a:cs typeface="+mn-cs"/>
              </a:rPr>
              <a:t> Always wash fruit and vegetables before using them in a sanitising solution</a:t>
            </a:r>
          </a:p>
          <a:p>
            <a:pPr lvl="0">
              <a:buFont typeface="Arial" pitchFamily="34" charset="0"/>
              <a:buChar char="•"/>
            </a:pPr>
            <a:r>
              <a:rPr lang="en-AU" sz="1200" kern="1200" dirty="0" smtClean="0">
                <a:solidFill>
                  <a:schemeClr val="tx1"/>
                </a:solidFill>
                <a:latin typeface="+mn-lt"/>
                <a:ea typeface="+mn-ea"/>
                <a:cs typeface="+mn-cs"/>
              </a:rPr>
              <a:t> Cover food whenever it is not being processed</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prepared – to protect from contamination by fly sprays and similar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extLst>
      <p:ext uri="{BB962C8B-B14F-4D97-AF65-F5344CB8AC3E}">
        <p14:creationId xmlns:p14="http://schemas.microsoft.com/office/powerpoint/2010/main" val="2582377419"/>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states to trainees ‘Naturally occurring poisonous foods’ are also classified as part of the ‘chemical contamination’ threat:</a:t>
            </a:r>
          </a:p>
          <a:p>
            <a:pPr lvl="0">
              <a:buFont typeface="Arial" pitchFamily="34" charset="0"/>
              <a:buChar char="•"/>
            </a:pPr>
            <a:r>
              <a:rPr lang="en-AU" sz="1200" kern="1200" dirty="0" smtClean="0">
                <a:solidFill>
                  <a:schemeClr val="tx1"/>
                </a:solidFill>
                <a:latin typeface="+mn-lt"/>
                <a:ea typeface="+mn-ea"/>
                <a:cs typeface="+mn-cs"/>
              </a:rPr>
              <a:t> Mushrooms – certain fungi can be poisonous but those purchased from reputable suppliers should be safe. Do not buy mushrooms from people calling  door-to-door, and do not use in a commercial setting mushrooms picked by private individuals.</a:t>
            </a:r>
          </a:p>
          <a:p>
            <a:pPr lvl="0">
              <a:buFont typeface="Arial" pitchFamily="34" charset="0"/>
              <a:buChar char="•"/>
            </a:pPr>
            <a:r>
              <a:rPr lang="en-AU" sz="1200" kern="1200" dirty="0" smtClean="0">
                <a:solidFill>
                  <a:schemeClr val="tx1"/>
                </a:solidFill>
                <a:latin typeface="+mn-lt"/>
                <a:ea typeface="+mn-ea"/>
                <a:cs typeface="+mn-cs"/>
              </a:rPr>
              <a:t> Rhubarb leaves are poisonous so great care should be given when stemming them. The stem of the rhubarb is safe to eat.</a:t>
            </a:r>
          </a:p>
          <a:p>
            <a:pPr lvl="0">
              <a:buFont typeface="Arial" pitchFamily="34" charset="0"/>
              <a:buChar char="•"/>
            </a:pPr>
            <a:r>
              <a:rPr lang="en-AU" sz="1200" kern="1200" dirty="0" smtClean="0">
                <a:solidFill>
                  <a:schemeClr val="tx1"/>
                </a:solidFill>
                <a:latin typeface="+mn-lt"/>
                <a:ea typeface="+mn-ea"/>
                <a:cs typeface="+mn-cs"/>
              </a:rPr>
              <a:t> Green and sprouting potatoes contain a substance called 'solanine' which has been linked with food poisoning outbreaks so green potatoes should be discarded, returned to the supplier or rejected on delivery.</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extLst>
      <p:ext uri="{BB962C8B-B14F-4D97-AF65-F5344CB8AC3E}">
        <p14:creationId xmlns:p14="http://schemas.microsoft.com/office/powerpoint/2010/main" val="463357369"/>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stresses to trainees they must always be on their guard to ensure foreign objects do not find their way into food for human consumption highlighting the foreign object may have found its way into the food </a:t>
            </a:r>
            <a:r>
              <a:rPr lang="en-AU" sz="1200" i="1" kern="1200" dirty="0" smtClean="0">
                <a:solidFill>
                  <a:schemeClr val="tx1"/>
                </a:solidFill>
                <a:latin typeface="+mn-lt"/>
                <a:ea typeface="+mn-ea"/>
                <a:cs typeface="+mn-cs"/>
              </a:rPr>
              <a:t>before</a:t>
            </a:r>
            <a:r>
              <a:rPr lang="en-AU" sz="1200" kern="1200" dirty="0" smtClean="0">
                <a:solidFill>
                  <a:schemeClr val="tx1"/>
                </a:solidFill>
                <a:latin typeface="+mn-lt"/>
                <a:ea typeface="+mn-ea"/>
                <a:cs typeface="+mn-cs"/>
              </a:rPr>
              <a:t> the product</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item arrived at the premises so constant vigilance is required, all the time.</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Trainer presents examples of physical contaminants:</a:t>
            </a:r>
          </a:p>
          <a:p>
            <a:pPr lvl="0">
              <a:buFont typeface="Arial" pitchFamily="34" charset="0"/>
              <a:buChar char="•"/>
            </a:pPr>
            <a:r>
              <a:rPr lang="en-AU" sz="1200" kern="1200" dirty="0" smtClean="0">
                <a:solidFill>
                  <a:schemeClr val="tx1"/>
                </a:solidFill>
                <a:latin typeface="+mn-lt"/>
                <a:ea typeface="+mn-ea"/>
                <a:cs typeface="+mn-cs"/>
              </a:rPr>
              <a:t> Hair from the head or beard</a:t>
            </a:r>
          </a:p>
          <a:p>
            <a:pPr lvl="0">
              <a:buFont typeface="Arial" pitchFamily="34" charset="0"/>
              <a:buChar char="•"/>
            </a:pPr>
            <a:r>
              <a:rPr lang="en-AU" sz="1200" kern="1200" dirty="0" smtClean="0">
                <a:solidFill>
                  <a:schemeClr val="tx1"/>
                </a:solidFill>
                <a:latin typeface="+mn-lt"/>
                <a:ea typeface="+mn-ea"/>
                <a:cs typeface="+mn-cs"/>
              </a:rPr>
              <a:t> Metal filings left by can openers</a:t>
            </a:r>
          </a:p>
          <a:p>
            <a:pPr lvl="0">
              <a:buFont typeface="Arial" pitchFamily="34" charset="0"/>
              <a:buChar char="•"/>
            </a:pPr>
            <a:r>
              <a:rPr lang="en-AU" sz="1200" kern="1200" dirty="0" smtClean="0">
                <a:solidFill>
                  <a:schemeClr val="tx1"/>
                </a:solidFill>
                <a:latin typeface="+mn-lt"/>
                <a:ea typeface="+mn-ea"/>
                <a:cs typeface="+mn-cs"/>
              </a:rPr>
              <a:t> Flies and insects – and their droppings</a:t>
            </a:r>
          </a:p>
          <a:p>
            <a:pPr lvl="0">
              <a:buFont typeface="Arial" pitchFamily="34" charset="0"/>
              <a:buChar char="•"/>
            </a:pPr>
            <a:r>
              <a:rPr lang="en-AU" sz="1200" kern="1200" dirty="0" smtClean="0">
                <a:solidFill>
                  <a:schemeClr val="tx1"/>
                </a:solidFill>
                <a:latin typeface="+mn-lt"/>
                <a:ea typeface="+mn-ea"/>
                <a:cs typeface="+mn-cs"/>
              </a:rPr>
              <a:t> Band-aids</a:t>
            </a:r>
          </a:p>
          <a:p>
            <a:pPr lvl="0">
              <a:buFont typeface="Arial" pitchFamily="34" charset="0"/>
              <a:buChar char="•"/>
            </a:pPr>
            <a:r>
              <a:rPr lang="en-AU" sz="1200" kern="1200" dirty="0" smtClean="0">
                <a:solidFill>
                  <a:schemeClr val="tx1"/>
                </a:solidFill>
                <a:latin typeface="+mn-lt"/>
                <a:ea typeface="+mn-ea"/>
                <a:cs typeface="+mn-cs"/>
              </a:rPr>
              <a:t> Bits of glass.</a:t>
            </a:r>
          </a:p>
          <a:p>
            <a:pPr>
              <a:buFont typeface="Arial" pitchFamily="34" charset="0"/>
              <a:buChar char="•"/>
            </a:pPr>
            <a:r>
              <a:rPr lang="en-AU" sz="1200" kern="1200" dirty="0" smtClean="0">
                <a:solidFill>
                  <a:schemeClr val="tx1"/>
                </a:solidFill>
                <a:latin typeface="+mn-lt"/>
                <a:ea typeface="+mn-ea"/>
                <a:cs typeface="+mn-cs"/>
              </a:rPr>
              <a:t> These are only a small sample of possible physical contaminants. The list is endless.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extLst>
      <p:ext uri="{BB962C8B-B14F-4D97-AF65-F5344CB8AC3E}">
        <p14:creationId xmlns:p14="http://schemas.microsoft.com/office/powerpoint/2010/main" val="2718293357"/>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provides trainees with examples</a:t>
            </a:r>
            <a:r>
              <a:rPr lang="en-AU" sz="1200" kern="1200" baseline="0" dirty="0" smtClean="0">
                <a:solidFill>
                  <a:schemeClr val="tx1"/>
                </a:solidFill>
                <a:latin typeface="+mn-lt"/>
                <a:ea typeface="+mn-ea"/>
                <a:cs typeface="+mn-cs"/>
              </a:rPr>
              <a:t> of ‘other hazards’ in relation to food safety highlighting a</a:t>
            </a:r>
            <a:r>
              <a:rPr lang="en-AU" sz="1200" kern="1200" dirty="0" smtClean="0">
                <a:solidFill>
                  <a:schemeClr val="tx1"/>
                </a:solidFill>
                <a:latin typeface="+mn-lt"/>
                <a:ea typeface="+mn-ea"/>
                <a:cs typeface="+mn-cs"/>
              </a:rPr>
              <a:t>ll the following are examples of food hazards they need to be aware of and constantly searching for:</a:t>
            </a:r>
          </a:p>
          <a:p>
            <a:pPr lvl="0">
              <a:buFont typeface="Arial" pitchFamily="34" charset="0"/>
              <a:buChar char="•"/>
            </a:pPr>
            <a:r>
              <a:rPr lang="en-AU" sz="1200" kern="1200" dirty="0" smtClean="0">
                <a:solidFill>
                  <a:schemeClr val="tx1"/>
                </a:solidFill>
                <a:latin typeface="+mn-lt"/>
                <a:ea typeface="+mn-ea"/>
                <a:cs typeface="+mn-cs"/>
              </a:rPr>
              <a:t> Contaminated food – either from the supplier or food that becomes contaminated on-site</a:t>
            </a:r>
          </a:p>
          <a:p>
            <a:pPr lvl="0">
              <a:buFont typeface="Arial" pitchFamily="34" charset="0"/>
              <a:buChar char="•"/>
            </a:pPr>
            <a:r>
              <a:rPr lang="en-AU" sz="1200" kern="1200" dirty="0" smtClean="0">
                <a:solidFill>
                  <a:schemeClr val="tx1"/>
                </a:solidFill>
                <a:latin typeface="+mn-lt"/>
                <a:ea typeface="+mn-ea"/>
                <a:cs typeface="+mn-cs"/>
              </a:rPr>
              <a:t> Vermin – including sighting of vermin and evidence of their presence (droppings, webs, holes in the wall, eggs)</a:t>
            </a:r>
          </a:p>
          <a:p>
            <a:pPr lvl="0">
              <a:buFont typeface="Arial" pitchFamily="34" charset="0"/>
              <a:buChar char="•"/>
            </a:pPr>
            <a:r>
              <a:rPr lang="en-AU" sz="1200" kern="1200" dirty="0" smtClean="0">
                <a:solidFill>
                  <a:schemeClr val="tx1"/>
                </a:solidFill>
                <a:latin typeface="+mn-lt"/>
                <a:ea typeface="+mn-ea"/>
                <a:cs typeface="+mn-cs"/>
              </a:rPr>
              <a:t> Airborne contamination – either due to natural causes (sand/dust storms, weather) or due to internal causes (dust, renovations)</a:t>
            </a:r>
          </a:p>
          <a:p>
            <a:pPr lvl="0">
              <a:buFont typeface="Arial" pitchFamily="34" charset="0"/>
              <a:buChar char="•"/>
            </a:pPr>
            <a:r>
              <a:rPr lang="en-AU" sz="1200" kern="1200" dirty="0" smtClean="0">
                <a:solidFill>
                  <a:schemeClr val="tx1"/>
                </a:solidFill>
                <a:latin typeface="+mn-lt"/>
                <a:ea typeface="+mn-ea"/>
                <a:cs typeface="+mn-cs"/>
              </a:rPr>
              <a:t> Contaminated items – such as linen, tea towels and kitchen swabs that may be contaminated with human waste (blood and secretions) and</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or food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extLst>
      <p:ext uri="{BB962C8B-B14F-4D97-AF65-F5344CB8AC3E}">
        <p14:creationId xmlns:p14="http://schemas.microsoft.com/office/powerpoint/2010/main" val="2714477726"/>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presenting examples of ‘other’ food hazards:</a:t>
            </a:r>
          </a:p>
          <a:p>
            <a:pPr lvl="0">
              <a:buFont typeface="Arial" pitchFamily="34" charset="0"/>
              <a:buChar char="•"/>
            </a:pPr>
            <a:r>
              <a:rPr lang="en-AU" sz="1200" kern="1200" dirty="0" smtClean="0">
                <a:solidFill>
                  <a:schemeClr val="tx1"/>
                </a:solidFill>
                <a:latin typeface="+mn-lt"/>
                <a:ea typeface="+mn-ea"/>
                <a:cs typeface="+mn-cs"/>
              </a:rPr>
              <a:t> Dirty equipment and utensils – including items not properly cleaned and or sanitised after use, items dropped on the floor and items contaminated by clothing, coughing/sneezing, or cross contamination of any sort</a:t>
            </a:r>
          </a:p>
          <a:p>
            <a:pPr lvl="0">
              <a:buFont typeface="Arial" pitchFamily="34" charset="0"/>
              <a:buChar char="•"/>
            </a:pPr>
            <a:r>
              <a:rPr lang="en-AU" sz="1200" kern="1200" dirty="0" smtClean="0">
                <a:solidFill>
                  <a:schemeClr val="tx1"/>
                </a:solidFill>
                <a:latin typeface="+mn-lt"/>
                <a:ea typeface="+mn-ea"/>
                <a:cs typeface="+mn-cs"/>
              </a:rPr>
              <a:t> Garbage – all rubbish</a:t>
            </a:r>
            <a:r>
              <a:rPr lang="en-AU" sz="1200" kern="1200" baseline="0" dirty="0" smtClean="0">
                <a:solidFill>
                  <a:schemeClr val="tx1"/>
                </a:solidFill>
                <a:latin typeface="+mn-lt"/>
                <a:ea typeface="+mn-ea"/>
                <a:cs typeface="+mn-cs"/>
              </a:rPr>
              <a:t> and </a:t>
            </a:r>
            <a:r>
              <a:rPr lang="en-AU" sz="1200" kern="1200" dirty="0" smtClean="0">
                <a:solidFill>
                  <a:schemeClr val="tx1"/>
                </a:solidFill>
                <a:latin typeface="+mn-lt"/>
                <a:ea typeface="+mn-ea"/>
                <a:cs typeface="+mn-cs"/>
              </a:rPr>
              <a:t>waste presents a potential hazard whether it is stored in bins inside the premises or in containers outside the premises: remember hands must be washed after handing garbage and all garbage containers must be kept clean</a:t>
            </a:r>
          </a:p>
          <a:p>
            <a:pPr lvl="0">
              <a:buFont typeface="Arial" pitchFamily="34" charset="0"/>
              <a:buChar char="•"/>
            </a:pPr>
            <a:r>
              <a:rPr lang="en-AU" sz="1200" kern="1200" dirty="0" smtClean="0">
                <a:solidFill>
                  <a:schemeClr val="tx1"/>
                </a:solidFill>
                <a:latin typeface="+mn-lt"/>
                <a:ea typeface="+mn-ea"/>
                <a:cs typeface="+mn-cs"/>
              </a:rPr>
              <a:t> Out-of-date food handling practices – hazards can occur where:</a:t>
            </a:r>
          </a:p>
          <a:p>
            <a:pPr lvl="1">
              <a:buFont typeface="Arial" pitchFamily="34" charset="0"/>
              <a:buChar char="•"/>
            </a:pPr>
            <a:r>
              <a:rPr lang="en-AU" sz="1200" kern="1200" dirty="0" smtClean="0">
                <a:solidFill>
                  <a:schemeClr val="tx1"/>
                </a:solidFill>
                <a:latin typeface="+mn-lt"/>
                <a:ea typeface="+mn-ea"/>
                <a:cs typeface="+mn-cs"/>
              </a:rPr>
              <a:t> The nature of the food operations being undertaken have changed – the venue may have changed its service style or undergone some significant change</a:t>
            </a:r>
          </a:p>
          <a:p>
            <a:pPr lvl="1">
              <a:buFont typeface="Arial" pitchFamily="34" charset="0"/>
              <a:buChar char="•"/>
            </a:pPr>
            <a:r>
              <a:rPr lang="en-AU" sz="1200" kern="1200" dirty="0" smtClean="0">
                <a:solidFill>
                  <a:schemeClr val="tx1"/>
                </a:solidFill>
                <a:latin typeface="+mn-lt"/>
                <a:ea typeface="+mn-ea"/>
                <a:cs typeface="+mn-cs"/>
              </a:rPr>
              <a:t> The food equipment being used has altered – a new/different oven, fryer or cooking range has been installed</a:t>
            </a:r>
          </a:p>
          <a:p>
            <a:pPr lvl="1">
              <a:buFont typeface="Arial" pitchFamily="34" charset="0"/>
              <a:buChar char="•"/>
            </a:pPr>
            <a:r>
              <a:rPr lang="en-AU" sz="1200" kern="1200" dirty="0" smtClean="0">
                <a:solidFill>
                  <a:schemeClr val="tx1"/>
                </a:solidFill>
                <a:latin typeface="+mn-lt"/>
                <a:ea typeface="+mn-ea"/>
                <a:cs typeface="+mn-cs"/>
              </a:rPr>
              <a:t> The food items being processed have changed – new menu items have been introduced </a:t>
            </a:r>
          </a:p>
          <a:p>
            <a:pPr lvl="1">
              <a:buFont typeface="Arial" pitchFamily="34" charset="0"/>
              <a:buNone/>
            </a:pPr>
            <a:r>
              <a:rPr lang="en-AU" sz="1200" kern="1200" dirty="0" smtClean="0">
                <a:solidFill>
                  <a:schemeClr val="tx1"/>
                </a:solidFill>
                <a:latin typeface="+mn-lt"/>
                <a:ea typeface="+mn-ea"/>
                <a:cs typeface="+mn-cs"/>
              </a:rPr>
              <a:t>and there has been no appropriate alteration to the previous food handling protocols to accommodate the risks</a:t>
            </a:r>
            <a:r>
              <a:rPr lang="en-AU" sz="1200" kern="1200" baseline="0" dirty="0" smtClean="0">
                <a:solidFill>
                  <a:schemeClr val="tx1"/>
                </a:solidFill>
                <a:latin typeface="+mn-lt"/>
                <a:ea typeface="+mn-ea"/>
                <a:cs typeface="+mn-cs"/>
              </a:rPr>
              <a:t> and </a:t>
            </a:r>
            <a:r>
              <a:rPr lang="en-AU" sz="1200" kern="1200" dirty="0" smtClean="0">
                <a:solidFill>
                  <a:schemeClr val="tx1"/>
                </a:solidFill>
                <a:latin typeface="+mn-lt"/>
                <a:ea typeface="+mn-ea"/>
                <a:cs typeface="+mn-cs"/>
              </a:rPr>
              <a:t>hazards introduced by these changes: all food handling practices must be appropriate for the current situation applying in the workplace</a:t>
            </a:r>
          </a:p>
          <a:p>
            <a:pPr lvl="0">
              <a:buFont typeface="Arial" pitchFamily="34" charset="0"/>
              <a:buChar char="•"/>
            </a:pPr>
            <a:r>
              <a:rPr lang="en-AU" sz="1200" kern="1200" dirty="0" smtClean="0">
                <a:solidFill>
                  <a:schemeClr val="tx1"/>
                </a:solidFill>
                <a:latin typeface="+mn-lt"/>
                <a:ea typeface="+mn-ea"/>
                <a:cs typeface="+mn-cs"/>
              </a:rPr>
              <a:t> Colleagues with inappropriate training – even where staff have undertaken a food safety course there is no guarantee the lessons they have learned. Where workers are using incorrect food service practices and</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or failing to observe other safe food handling principles (especially in relation to personal hygiene, hand washing) there is a need for re-training</a:t>
            </a:r>
          </a:p>
          <a:p>
            <a:pPr lvl="0">
              <a:buFont typeface="Arial" pitchFamily="34" charset="0"/>
              <a:buChar char="•"/>
            </a:pPr>
            <a:r>
              <a:rPr lang="en-AU" sz="1200" kern="1200" dirty="0" smtClean="0">
                <a:solidFill>
                  <a:schemeClr val="tx1"/>
                </a:solidFill>
                <a:latin typeface="+mn-lt"/>
                <a:ea typeface="+mn-ea"/>
                <a:cs typeface="+mn-cs"/>
              </a:rPr>
              <a:t> Equipment not operating as intended by the manufacturers – this typically includes all food processing and holding equipment (especially fridges, freezers, pie warmers and bain maries) as well as thermometers.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extLst>
      <p:ext uri="{BB962C8B-B14F-4D97-AF65-F5344CB8AC3E}">
        <p14:creationId xmlns:p14="http://schemas.microsoft.com/office/powerpoint/2010/main" val="1127106515"/>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instructs trainees the standard ways to identify food safety hazards in the workplace are:</a:t>
            </a:r>
          </a:p>
          <a:p>
            <a:pPr lvl="0">
              <a:buFont typeface="Arial" pitchFamily="34" charset="0"/>
              <a:buChar char="•"/>
            </a:pPr>
            <a:r>
              <a:rPr lang="en-AU" sz="1200" kern="1200" dirty="0" smtClean="0">
                <a:solidFill>
                  <a:schemeClr val="tx1"/>
                </a:solidFill>
                <a:latin typeface="+mn-lt"/>
                <a:ea typeface="+mn-ea"/>
                <a:cs typeface="+mn-cs"/>
              </a:rPr>
              <a:t> Personal observation – watching what happens in the workplace and being alert to the potential for hazards to arise at any time, any day </a:t>
            </a:r>
          </a:p>
          <a:p>
            <a:pPr lvl="0">
              <a:buFont typeface="Arial" pitchFamily="34" charset="0"/>
              <a:buChar char="•"/>
            </a:pPr>
            <a:r>
              <a:rPr lang="en-AU" sz="1200" kern="1200" dirty="0" smtClean="0">
                <a:solidFill>
                  <a:schemeClr val="tx1"/>
                </a:solidFill>
                <a:latin typeface="+mn-lt"/>
                <a:ea typeface="+mn-ea"/>
                <a:cs typeface="+mn-cs"/>
              </a:rPr>
              <a:t> Personal experience with items – a growing body of knowledge with food, procedures, equipment and the workplace will be an invaluable resource in helping identifying problems out-of-control situations and other circumstances posing a risk to food safety </a:t>
            </a:r>
          </a:p>
          <a:p>
            <a:pPr lvl="0">
              <a:buFont typeface="Arial" pitchFamily="34" charset="0"/>
              <a:buChar char="•"/>
            </a:pPr>
            <a:r>
              <a:rPr lang="en-AU" sz="1200" kern="1200" dirty="0" smtClean="0">
                <a:solidFill>
                  <a:schemeClr val="tx1"/>
                </a:solidFill>
                <a:latin typeface="+mn-lt"/>
                <a:ea typeface="+mn-ea"/>
                <a:cs typeface="+mn-cs"/>
              </a:rPr>
              <a:t> Analysis of food safety records, documents and logs – where the workplace maintains records of its food activities (temperature record logs; food production sheets; maintenance reports) a regular review of these can reveal issues such as incorrect temperatures (meaning the need for repairs/service to refrigeration units), staff that should be excluded from food handling (on the basis of illness records, injury registers), malfunctioning equipment (via corrective action reports), and food that needs to be disposed of (as indicated by a range of inspection checklists)</a:t>
            </a:r>
          </a:p>
          <a:p>
            <a:pPr lvl="0">
              <a:buFont typeface="Arial" pitchFamily="34" charset="0"/>
              <a:buChar char="•"/>
            </a:pPr>
            <a:r>
              <a:rPr lang="en-AU" sz="1200" kern="1200" dirty="0" smtClean="0">
                <a:solidFill>
                  <a:schemeClr val="tx1"/>
                </a:solidFill>
                <a:latin typeface="+mn-lt"/>
                <a:ea typeface="+mn-ea"/>
                <a:cs typeface="+mn-cs"/>
              </a:rPr>
              <a:t> Regular and scheduled workplace inspections (also known as ‘audits’) – designed to verify safe food handling protocols and identify unsafe operations, equipment, areas or protocols.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114</a:t>
            </a:fld>
            <a:endParaRPr lang="en-US" dirty="0"/>
          </a:p>
        </p:txBody>
      </p:sp>
    </p:spTree>
    <p:extLst>
      <p:ext uri="{BB962C8B-B14F-4D97-AF65-F5344CB8AC3E}">
        <p14:creationId xmlns:p14="http://schemas.microsoft.com/office/powerpoint/2010/main" val="3527460568"/>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stresses to trainees when an unsafe or unsatisfactory food safety situation has been identified there is a need to:</a:t>
            </a:r>
          </a:p>
          <a:p>
            <a:pPr lvl="0">
              <a:buFont typeface="Arial" pitchFamily="34" charset="0"/>
              <a:buChar char="•"/>
            </a:pPr>
            <a:r>
              <a:rPr lang="en-AU" sz="1200" kern="1200" dirty="0" smtClean="0">
                <a:solidFill>
                  <a:schemeClr val="tx1"/>
                </a:solidFill>
                <a:latin typeface="+mn-lt"/>
                <a:ea typeface="+mn-ea"/>
                <a:cs typeface="+mn-cs"/>
              </a:rPr>
              <a:t> Address the cause and take action on unsafe food and contaminated equipment, utensils and food contact surfaces</a:t>
            </a:r>
          </a:p>
          <a:p>
            <a:pPr lvl="0">
              <a:buFont typeface="Arial" pitchFamily="34" charset="0"/>
              <a:buChar char="•"/>
            </a:pPr>
            <a:r>
              <a:rPr lang="en-AU" sz="1200" kern="1200" dirty="0" smtClean="0">
                <a:solidFill>
                  <a:schemeClr val="tx1"/>
                </a:solidFill>
                <a:latin typeface="+mn-lt"/>
                <a:ea typeface="+mn-ea"/>
                <a:cs typeface="+mn-cs"/>
              </a:rPr>
              <a:t> Discard and affected (unsafe) food – or food where a suspicion exists that it could be unsafe</a:t>
            </a:r>
          </a:p>
          <a:p>
            <a:pPr lvl="0">
              <a:buFont typeface="Arial" pitchFamily="34" charset="0"/>
              <a:buChar char="•"/>
            </a:pPr>
            <a:r>
              <a:rPr lang="en-AU" sz="1200" kern="1200" dirty="0" smtClean="0">
                <a:solidFill>
                  <a:schemeClr val="tx1"/>
                </a:solidFill>
                <a:latin typeface="+mn-lt"/>
                <a:ea typeface="+mn-ea"/>
                <a:cs typeface="+mn-cs"/>
              </a:rPr>
              <a:t> Revise existing operational practices – to prevent a recurrence of the problem and or address new situations that have arisen </a:t>
            </a:r>
          </a:p>
          <a:p>
            <a:pPr lvl="0">
              <a:buFont typeface="Arial" pitchFamily="34" charset="0"/>
              <a:buChar char="•"/>
            </a:pPr>
            <a:r>
              <a:rPr lang="en-AU" sz="1200" kern="1200" dirty="0" smtClean="0">
                <a:solidFill>
                  <a:schemeClr val="tx1"/>
                </a:solidFill>
                <a:latin typeface="+mn-lt"/>
                <a:ea typeface="+mn-ea"/>
                <a:cs typeface="+mn-cs"/>
              </a:rPr>
              <a:t> Clean and sanitise all contaminated utensils, surfaces and equipment involved in the incident – it is not sufficient to dispose of the affected food: the surfaces, equipment or utensils it has made contact with must be cleaned and sanitised </a:t>
            </a:r>
          </a:p>
          <a:p>
            <a:pPr lvl="0">
              <a:buFont typeface="Arial" pitchFamily="34" charset="0"/>
              <a:buChar char="•"/>
            </a:pPr>
            <a:r>
              <a:rPr lang="en-AU" sz="1200" kern="1200" dirty="0" smtClean="0">
                <a:solidFill>
                  <a:schemeClr val="tx1"/>
                </a:solidFill>
                <a:latin typeface="+mn-lt"/>
                <a:ea typeface="+mn-ea"/>
                <a:cs typeface="+mn-cs"/>
              </a:rPr>
              <a:t> Implement revised staff training – so new protocols are passed on to food handling staff.</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115</a:t>
            </a:fld>
            <a:endParaRPr lang="en-US" dirty="0"/>
          </a:p>
        </p:txBody>
      </p:sp>
    </p:spTree>
    <p:extLst>
      <p:ext uri="{BB962C8B-B14F-4D97-AF65-F5344CB8AC3E}">
        <p14:creationId xmlns:p14="http://schemas.microsoft.com/office/powerpoint/2010/main" val="3538814115"/>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advises trainees about need for effective pest (vermin) control stating a three-party approach is required:</a:t>
            </a:r>
          </a:p>
          <a:p>
            <a:pPr lvl="0">
              <a:buFont typeface="Arial" pitchFamily="34" charset="0"/>
              <a:buChar char="•"/>
            </a:pPr>
            <a:r>
              <a:rPr lang="en-AU" sz="1200" kern="1200" dirty="0" smtClean="0">
                <a:solidFill>
                  <a:schemeClr val="tx1"/>
                </a:solidFill>
                <a:latin typeface="+mn-lt"/>
                <a:ea typeface="+mn-ea"/>
                <a:cs typeface="+mn-cs"/>
              </a:rPr>
              <a:t> Physical exclusion of pests – also known as ‘Build them out’ </a:t>
            </a:r>
          </a:p>
          <a:p>
            <a:pPr lvl="0">
              <a:buFont typeface="Arial" pitchFamily="34" charset="0"/>
              <a:buChar char="•"/>
            </a:pPr>
            <a:r>
              <a:rPr lang="en-AU" sz="1200" kern="1200" dirty="0" smtClean="0">
                <a:solidFill>
                  <a:schemeClr val="tx1"/>
                </a:solidFill>
                <a:latin typeface="+mn-lt"/>
                <a:ea typeface="+mn-ea"/>
                <a:cs typeface="+mn-cs"/>
              </a:rPr>
              <a:t> Chemical and mechanical control – also known as ‘Chase them out’ </a:t>
            </a:r>
          </a:p>
          <a:p>
            <a:pPr lvl="0">
              <a:buFont typeface="Arial" pitchFamily="34" charset="0"/>
              <a:buChar char="•"/>
            </a:pPr>
            <a:r>
              <a:rPr lang="en-AU" sz="1200" kern="1200" dirty="0" smtClean="0">
                <a:solidFill>
                  <a:schemeClr val="tx1"/>
                </a:solidFill>
                <a:latin typeface="+mn-lt"/>
                <a:ea typeface="+mn-ea"/>
                <a:cs typeface="+mn-cs"/>
              </a:rPr>
              <a:t> Sound housekeeping practices – also known as ‘Starve them out’.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116</a:t>
            </a:fld>
            <a:endParaRPr lang="en-US" dirty="0"/>
          </a:p>
        </p:txBody>
      </p:sp>
    </p:spTree>
    <p:extLst>
      <p:ext uri="{BB962C8B-B14F-4D97-AF65-F5344CB8AC3E}">
        <p14:creationId xmlns:p14="http://schemas.microsoft.com/office/powerpoint/2010/main" val="2637719176"/>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advises trainees physical exclusion of vermin involves:</a:t>
            </a:r>
          </a:p>
          <a:p>
            <a:pPr lvl="0">
              <a:buFont typeface="Arial" pitchFamily="34" charset="0"/>
              <a:buChar char="•"/>
            </a:pPr>
            <a:r>
              <a:rPr lang="en-AU" sz="1200" kern="1200" dirty="0" smtClean="0">
                <a:solidFill>
                  <a:schemeClr val="tx1"/>
                </a:solidFill>
                <a:latin typeface="+mn-lt"/>
                <a:ea typeface="+mn-ea"/>
                <a:cs typeface="+mn-cs"/>
              </a:rPr>
              <a:t> Checking all deliveries to eliminate pests coming in with foodstuffs</a:t>
            </a:r>
          </a:p>
          <a:p>
            <a:pPr lvl="0">
              <a:buFont typeface="Arial" pitchFamily="34" charset="0"/>
              <a:buChar char="•"/>
            </a:pPr>
            <a:r>
              <a:rPr lang="en-AU" sz="1200" kern="1200" dirty="0" smtClean="0">
                <a:solidFill>
                  <a:schemeClr val="tx1"/>
                </a:solidFill>
                <a:latin typeface="+mn-lt"/>
                <a:ea typeface="+mn-ea"/>
                <a:cs typeface="+mn-cs"/>
              </a:rPr>
              <a:t> Correct fitting of fly wire to doors and windows </a:t>
            </a:r>
          </a:p>
          <a:p>
            <a:pPr lvl="0">
              <a:buFont typeface="Arial" pitchFamily="34" charset="0"/>
              <a:buChar char="•"/>
            </a:pPr>
            <a:r>
              <a:rPr lang="en-AU" sz="1200" kern="1200" dirty="0" smtClean="0">
                <a:solidFill>
                  <a:schemeClr val="tx1"/>
                </a:solidFill>
                <a:latin typeface="+mn-lt"/>
                <a:ea typeface="+mn-ea"/>
                <a:cs typeface="+mn-cs"/>
              </a:rPr>
              <a:t> Sealing of holes around pipes and other fittings allowing pests entry to the premises – paths taken by mice are referred to as ‘runways’</a:t>
            </a:r>
          </a:p>
          <a:p>
            <a:pPr lvl="0">
              <a:buFont typeface="Arial" pitchFamily="34" charset="0"/>
              <a:buChar char="•"/>
            </a:pPr>
            <a:r>
              <a:rPr lang="en-AU" sz="1200" kern="1200" dirty="0" smtClean="0">
                <a:solidFill>
                  <a:schemeClr val="tx1"/>
                </a:solidFill>
                <a:latin typeface="+mn-lt"/>
                <a:ea typeface="+mn-ea"/>
                <a:cs typeface="+mn-cs"/>
              </a:rPr>
              <a:t> Exclusion of animals from food areas – including pets but note there may be a legal requirement to allow ‘assistance dogs’ into customer</a:t>
            </a:r>
            <a:r>
              <a:rPr lang="en-AU" sz="1200" kern="1200" baseline="0" dirty="0" smtClean="0">
                <a:solidFill>
                  <a:schemeClr val="tx1"/>
                </a:solidFill>
                <a:latin typeface="+mn-lt"/>
                <a:ea typeface="+mn-ea"/>
                <a:cs typeface="+mn-cs"/>
              </a:rPr>
              <a:t> food areas</a:t>
            </a:r>
            <a:r>
              <a:rPr lang="en-AU" sz="1200" kern="1200" dirty="0" smtClean="0">
                <a:solidFill>
                  <a:schemeClr val="tx1"/>
                </a:solidFill>
                <a:latin typeface="+mn-lt"/>
                <a:ea typeface="+mn-ea"/>
                <a:cs typeface="+mn-cs"/>
              </a:rPr>
              <a: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117</a:t>
            </a:fld>
            <a:endParaRPr lang="en-US" dirty="0"/>
          </a:p>
        </p:txBody>
      </p:sp>
    </p:spTree>
    <p:extLst>
      <p:ext uri="{BB962C8B-B14F-4D97-AF65-F5344CB8AC3E}">
        <p14:creationId xmlns:p14="http://schemas.microsoft.com/office/powerpoint/2010/main" val="4059201862"/>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Trainer advises trainees control of vermin involves killing vermin that has entered the premises and includes the use of:</a:t>
            </a:r>
          </a:p>
          <a:p>
            <a:pPr>
              <a:buFont typeface="Arial" pitchFamily="34" charset="0"/>
              <a:buChar char="•"/>
            </a:pPr>
            <a:r>
              <a:rPr lang="en-AU" sz="1200" kern="1200" dirty="0" smtClean="0">
                <a:solidFill>
                  <a:schemeClr val="tx1"/>
                </a:solidFill>
                <a:latin typeface="+mn-lt"/>
                <a:ea typeface="+mn-ea"/>
                <a:cs typeface="+mn-cs"/>
              </a:rPr>
              <a:t> Chemical products – such as:</a:t>
            </a:r>
          </a:p>
          <a:p>
            <a:pPr lvl="1">
              <a:buFont typeface="Arial" pitchFamily="34" charset="0"/>
              <a:buChar char="•"/>
            </a:pPr>
            <a:r>
              <a:rPr lang="en-AU" sz="1200" kern="1200" dirty="0" smtClean="0">
                <a:solidFill>
                  <a:schemeClr val="tx1"/>
                </a:solidFill>
                <a:latin typeface="+mn-lt"/>
                <a:ea typeface="+mn-ea"/>
                <a:cs typeface="+mn-cs"/>
              </a:rPr>
              <a:t> Fly sprays</a:t>
            </a:r>
          </a:p>
          <a:p>
            <a:pPr lvl="1">
              <a:buFont typeface="Arial" pitchFamily="34" charset="0"/>
              <a:buChar char="•"/>
            </a:pPr>
            <a:r>
              <a:rPr lang="en-AU" sz="1200" kern="1200" dirty="0" smtClean="0">
                <a:solidFill>
                  <a:schemeClr val="tx1"/>
                </a:solidFill>
                <a:latin typeface="+mn-lt"/>
                <a:ea typeface="+mn-ea"/>
                <a:cs typeface="+mn-cs"/>
              </a:rPr>
              <a:t> Baits</a:t>
            </a:r>
          </a:p>
          <a:p>
            <a:pPr lvl="1">
              <a:buFont typeface="Arial" pitchFamily="34" charset="0"/>
              <a:buChar char="•"/>
            </a:pPr>
            <a:r>
              <a:rPr lang="en-AU" sz="1200" kern="1200" dirty="0" smtClean="0">
                <a:solidFill>
                  <a:schemeClr val="tx1"/>
                </a:solidFill>
                <a:latin typeface="+mn-lt"/>
                <a:ea typeface="+mn-ea"/>
                <a:cs typeface="+mn-cs"/>
              </a:rPr>
              <a:t> Fogging</a:t>
            </a:r>
          </a:p>
          <a:p>
            <a:pPr>
              <a:buFont typeface="Arial" pitchFamily="34" charset="0"/>
              <a:buChar char="•"/>
            </a:pPr>
            <a:r>
              <a:rPr lang="en-AU" sz="1200" kern="1200" dirty="0" smtClean="0">
                <a:solidFill>
                  <a:schemeClr val="tx1"/>
                </a:solidFill>
                <a:latin typeface="+mn-lt"/>
                <a:ea typeface="+mn-ea"/>
                <a:cs typeface="+mn-cs"/>
              </a:rPr>
              <a:t> Mechanical control:</a:t>
            </a:r>
          </a:p>
          <a:p>
            <a:pPr lvl="1">
              <a:buFont typeface="Arial" pitchFamily="34" charset="0"/>
              <a:buChar char="•"/>
            </a:pPr>
            <a:r>
              <a:rPr lang="en-AU" sz="1200" kern="1200" dirty="0" smtClean="0">
                <a:solidFill>
                  <a:schemeClr val="tx1"/>
                </a:solidFill>
                <a:latin typeface="+mn-lt"/>
                <a:ea typeface="+mn-ea"/>
                <a:cs typeface="+mn-cs"/>
              </a:rPr>
              <a:t> Electronic fly zappers </a:t>
            </a:r>
          </a:p>
          <a:p>
            <a:pPr lvl="1">
              <a:buFont typeface="Arial" pitchFamily="34" charset="0"/>
              <a:buChar char="•"/>
            </a:pPr>
            <a:r>
              <a:rPr lang="en-AU" sz="1200" kern="1200" dirty="0" smtClean="0">
                <a:solidFill>
                  <a:schemeClr val="tx1"/>
                </a:solidFill>
                <a:latin typeface="+mn-lt"/>
                <a:ea typeface="+mn-ea"/>
                <a:cs typeface="+mn-cs"/>
              </a:rPr>
              <a:t> Air curtains </a:t>
            </a:r>
          </a:p>
          <a:p>
            <a:pPr lvl="1">
              <a:buFont typeface="Arial" pitchFamily="34" charset="0"/>
              <a:buChar char="•"/>
            </a:pPr>
            <a:r>
              <a:rPr lang="en-AU" sz="1200" kern="1200" dirty="0" smtClean="0">
                <a:solidFill>
                  <a:schemeClr val="tx1"/>
                </a:solidFill>
                <a:latin typeface="+mn-lt"/>
                <a:ea typeface="+mn-ea"/>
                <a:cs typeface="+mn-cs"/>
              </a:rPr>
              <a:t> Traps.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118</a:t>
            </a:fld>
            <a:endParaRPr lang="en-US" dirty="0"/>
          </a:p>
        </p:txBody>
      </p:sp>
    </p:spTree>
    <p:extLst>
      <p:ext uri="{BB962C8B-B14F-4D97-AF65-F5344CB8AC3E}">
        <p14:creationId xmlns:p14="http://schemas.microsoft.com/office/powerpoint/2010/main" val="2801262300"/>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advises trainees sound housekeeping practices to help control vermin include:</a:t>
            </a:r>
          </a:p>
          <a:p>
            <a:pPr>
              <a:buFont typeface="Arial" pitchFamily="34" charset="0"/>
              <a:buChar char="•"/>
            </a:pPr>
            <a:r>
              <a:rPr lang="en-US" dirty="0" smtClean="0"/>
              <a:t> Properly storing food waste – in bins with lids; keeping lids closed when bins</a:t>
            </a:r>
            <a:r>
              <a:rPr lang="en-US" baseline="0" dirty="0" smtClean="0"/>
              <a:t> are not being used</a:t>
            </a:r>
          </a:p>
          <a:p>
            <a:pPr>
              <a:buFont typeface="Arial" pitchFamily="34" charset="0"/>
              <a:buChar char="•"/>
            </a:pPr>
            <a:r>
              <a:rPr lang="en-US" baseline="0" dirty="0" smtClean="0"/>
              <a:t> Ensuring no food is left lying around – after service sessions and cleaning have finished</a:t>
            </a:r>
          </a:p>
          <a:p>
            <a:pPr>
              <a:buFont typeface="Arial" pitchFamily="34" charset="0"/>
              <a:buChar char="•"/>
            </a:pPr>
            <a:r>
              <a:rPr lang="en-US" baseline="0" dirty="0" smtClean="0"/>
              <a:t> Drying food areas – after cleaning to remove sources of water</a:t>
            </a:r>
          </a:p>
          <a:p>
            <a:pPr>
              <a:buFont typeface="Arial" pitchFamily="34" charset="0"/>
              <a:buChar char="•"/>
            </a:pPr>
            <a:r>
              <a:rPr lang="en-US" baseline="0" dirty="0" smtClean="0"/>
              <a:t> Regular inspections – to detect infestation so appropriate action can be taken</a:t>
            </a:r>
          </a:p>
          <a:p>
            <a:pPr>
              <a:buFont typeface="Arial" pitchFamily="34" charset="0"/>
              <a:buChar char="•"/>
            </a:pPr>
            <a:r>
              <a:rPr lang="en-US" baseline="0" dirty="0" smtClean="0"/>
              <a:t> Removing harbourage – by getting rid of (or properly storing) cartons or boxes that could provide a home for vermin.</a:t>
            </a:r>
          </a:p>
          <a:p>
            <a:pPr>
              <a:buFont typeface="Arial" pitchFamily="34" charset="0"/>
              <a:buNone/>
            </a:pPr>
            <a:endParaRPr lang="en-US" baseline="0" dirty="0" smtClean="0"/>
          </a:p>
          <a:p>
            <a:pPr>
              <a:buFont typeface="Arial" pitchFamily="34" charset="0"/>
              <a:buNone/>
            </a:pPr>
            <a:r>
              <a:rPr lang="en-US" b="1" baseline="0" dirty="0" smtClean="0"/>
              <a:t>Class Activity – Guest Speaker</a:t>
            </a:r>
          </a:p>
          <a:p>
            <a:pPr>
              <a:buFont typeface="Arial" pitchFamily="34" charset="0"/>
              <a:buNone/>
            </a:pPr>
            <a:r>
              <a:rPr lang="en-US" b="0" baseline="0" dirty="0" smtClean="0"/>
              <a:t>Trainer arranges for a representative from a pest control company to attend and:</a:t>
            </a:r>
          </a:p>
          <a:p>
            <a:pPr>
              <a:buFont typeface="Arial" pitchFamily="34" charset="0"/>
              <a:buChar char="•"/>
            </a:pPr>
            <a:r>
              <a:rPr lang="en-US" b="0" baseline="0" dirty="0" smtClean="0"/>
              <a:t> Talk to trainees about pest control</a:t>
            </a:r>
          </a:p>
          <a:p>
            <a:pPr>
              <a:buFont typeface="Arial" pitchFamily="34" charset="0"/>
              <a:buChar char="•"/>
            </a:pPr>
            <a:r>
              <a:rPr lang="en-US" b="0" baseline="0" dirty="0" smtClean="0"/>
              <a:t> Provide tips and advice on vermin control</a:t>
            </a:r>
          </a:p>
          <a:p>
            <a:pPr>
              <a:buFont typeface="Arial" pitchFamily="34" charset="0"/>
              <a:buChar char="•"/>
            </a:pPr>
            <a:r>
              <a:rPr lang="en-US" b="0" baseline="0" dirty="0" smtClean="0"/>
              <a:t> Explain how professional companies undertake vermin control in food premises</a:t>
            </a:r>
          </a:p>
          <a:p>
            <a:pPr>
              <a:buFont typeface="Arial" pitchFamily="34" charset="0"/>
              <a:buChar char="•"/>
            </a:pPr>
            <a:r>
              <a:rPr lang="en-US" b="0" baseline="0" dirty="0" smtClean="0"/>
              <a:t> Identify frequency of service and costs involved</a:t>
            </a:r>
          </a:p>
          <a:p>
            <a:pPr>
              <a:buFont typeface="Arial" pitchFamily="34" charset="0"/>
              <a:buChar char="•"/>
            </a:pPr>
            <a:r>
              <a:rPr lang="en-US" b="0" baseline="0" dirty="0" smtClean="0"/>
              <a:t> Provide stories of examples of vermin infestation in food premises</a:t>
            </a:r>
          </a:p>
          <a:p>
            <a:pPr>
              <a:buFont typeface="Arial" pitchFamily="34" charset="0"/>
              <a:buChar char="•"/>
            </a:pPr>
            <a:r>
              <a:rPr lang="en-US" b="0" baseline="0" dirty="0" smtClean="0"/>
              <a:t> Describe action venues must take in addition to professional external pest control services to ensure venue remains free from vermin infestation. </a:t>
            </a:r>
          </a:p>
          <a:p>
            <a:pPr>
              <a:buFont typeface="Arial" pitchFamily="34" charset="0"/>
              <a:buNone/>
            </a:pP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119</a:t>
            </a:fld>
            <a:endParaRPr lang="en-US" dirty="0"/>
          </a:p>
        </p:txBody>
      </p:sp>
    </p:spTree>
    <p:extLst>
      <p:ext uri="{BB962C8B-B14F-4D97-AF65-F5344CB8AC3E}">
        <p14:creationId xmlns:p14="http://schemas.microsoft.com/office/powerpoint/2010/main" val="24436661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explains to trainees a food recall may be initiated by:</a:t>
            </a:r>
          </a:p>
          <a:p>
            <a:pPr lvl="0">
              <a:buFont typeface="Arial" pitchFamily="34" charset="0"/>
              <a:buChar char="•"/>
            </a:pPr>
            <a:r>
              <a:rPr lang="en-AU" sz="1200" kern="1200" dirty="0" smtClean="0">
                <a:solidFill>
                  <a:schemeClr val="tx1"/>
                </a:solidFill>
                <a:latin typeface="+mn-lt"/>
                <a:ea typeface="+mn-ea"/>
                <a:cs typeface="+mn-cs"/>
              </a:rPr>
              <a:t> Health or food authorities – usually as a result of advice, for example, from a food manufacturer recommending the recall, or as a result of authority investigations</a:t>
            </a:r>
          </a:p>
          <a:p>
            <a:pPr lvl="0">
              <a:buFont typeface="Arial" pitchFamily="34" charset="0"/>
              <a:buChar char="•"/>
            </a:pPr>
            <a:r>
              <a:rPr lang="en-AU" sz="1200" kern="1200" dirty="0" smtClean="0">
                <a:solidFill>
                  <a:schemeClr val="tx1"/>
                </a:solidFill>
                <a:latin typeface="+mn-lt"/>
                <a:ea typeface="+mn-ea"/>
                <a:cs typeface="+mn-cs"/>
              </a:rPr>
              <a:t> The workplace – if it becomes aware it has prepared and sold food with the potential to cause food poisoning or a risk to public health.</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120</a:t>
            </a:fld>
            <a:endParaRPr lang="en-US" dirty="0"/>
          </a:p>
        </p:txBody>
      </p:sp>
    </p:spTree>
    <p:extLst>
      <p:ext uri="{BB962C8B-B14F-4D97-AF65-F5344CB8AC3E}">
        <p14:creationId xmlns:p14="http://schemas.microsoft.com/office/powerpoint/2010/main" val="3356132895"/>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 to trainees venues should prepare a plan (in advance) to handle recalls when they become necessary highlighting </a:t>
            </a:r>
            <a:r>
              <a:rPr lang="en-AU" sz="1200" kern="1200" dirty="0" smtClean="0">
                <a:solidFill>
                  <a:schemeClr val="tx1"/>
                </a:solidFill>
                <a:latin typeface="+mn-lt"/>
                <a:ea typeface="+mn-ea"/>
                <a:cs typeface="+mn-cs"/>
              </a:rPr>
              <a:t>the immediate aims when a recall is needed are to:</a:t>
            </a:r>
          </a:p>
          <a:p>
            <a:pPr lvl="0">
              <a:buFont typeface="Arial" pitchFamily="34" charset="0"/>
              <a:buChar char="•"/>
            </a:pPr>
            <a:r>
              <a:rPr lang="en-AU" sz="1200" kern="1200" dirty="0" smtClean="0">
                <a:solidFill>
                  <a:schemeClr val="tx1"/>
                </a:solidFill>
                <a:latin typeface="+mn-lt"/>
                <a:ea typeface="+mn-ea"/>
                <a:cs typeface="+mn-cs"/>
              </a:rPr>
              <a:t> Stop distribution and sale – of affected or suspect products</a:t>
            </a:r>
          </a:p>
          <a:p>
            <a:pPr lvl="0">
              <a:buFont typeface="Arial" pitchFamily="34" charset="0"/>
              <a:buChar char="•"/>
            </a:pPr>
            <a:r>
              <a:rPr lang="en-AU" sz="1200" kern="1200" dirty="0" smtClean="0">
                <a:solidFill>
                  <a:schemeClr val="tx1"/>
                </a:solidFill>
                <a:latin typeface="+mn-lt"/>
                <a:ea typeface="+mn-ea"/>
                <a:cs typeface="+mn-cs"/>
              </a:rPr>
              <a:t> Remove the affected product from sale – to contain the potential problem </a:t>
            </a:r>
          </a:p>
          <a:p>
            <a:pPr lvl="0">
              <a:buFont typeface="Arial" pitchFamily="34" charset="0"/>
              <a:buChar char="•"/>
            </a:pPr>
            <a:r>
              <a:rPr lang="en-AU" sz="1200" kern="1200" dirty="0" smtClean="0">
                <a:solidFill>
                  <a:schemeClr val="tx1"/>
                </a:solidFill>
                <a:latin typeface="+mn-lt"/>
                <a:ea typeface="+mn-ea"/>
                <a:cs typeface="+mn-cs"/>
              </a:rPr>
              <a:t> Notify the customers who are known</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believed to have received the affected goods – so they do not eat the items and so they can return them</a:t>
            </a:r>
          </a:p>
          <a:p>
            <a:pPr lvl="0">
              <a:buFont typeface="Arial" pitchFamily="34" charset="0"/>
              <a:buChar char="•"/>
            </a:pPr>
            <a:r>
              <a:rPr lang="en-AU" sz="1200" kern="1200" dirty="0" smtClean="0">
                <a:solidFill>
                  <a:schemeClr val="tx1"/>
                </a:solidFill>
                <a:latin typeface="+mn-lt"/>
                <a:ea typeface="+mn-ea"/>
                <a:cs typeface="+mn-cs"/>
              </a:rPr>
              <a:t> Warn the public of the danger – to discharge common law ‘duty of care’ requirements and provide advice on the appropriate action to take.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121</a:t>
            </a:fld>
            <a:endParaRPr lang="en-US" dirty="0"/>
          </a:p>
        </p:txBody>
      </p:sp>
    </p:spTree>
    <p:extLst>
      <p:ext uri="{BB962C8B-B14F-4D97-AF65-F5344CB8AC3E}">
        <p14:creationId xmlns:p14="http://schemas.microsoft.com/office/powerpoint/2010/main" val="696117695"/>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 to trainees when deciding whether or not to recall food produced by the venue the following factors should be taken into account:</a:t>
            </a:r>
          </a:p>
          <a:p>
            <a:pPr lvl="0">
              <a:buFont typeface="Arial" pitchFamily="34" charset="0"/>
              <a:buChar char="•"/>
            </a:pPr>
            <a:r>
              <a:rPr lang="en-AU" sz="1200" kern="1200" dirty="0" smtClean="0">
                <a:solidFill>
                  <a:schemeClr val="tx1"/>
                </a:solidFill>
                <a:latin typeface="+mn-lt"/>
                <a:ea typeface="+mn-ea"/>
                <a:cs typeface="+mn-cs"/>
              </a:rPr>
              <a:t> The gravity of the complaint</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defect and the safety implications it poses, basing deliberations on the understanding where there is a risk of death, illness or injury to anyone then a Food Recall is necessary</a:t>
            </a:r>
          </a:p>
          <a:p>
            <a:pPr lvl="0">
              <a:buFont typeface="Arial" pitchFamily="34" charset="0"/>
              <a:buChar char="•"/>
            </a:pPr>
            <a:r>
              <a:rPr lang="en-AU" sz="1200" kern="1200" dirty="0" smtClean="0">
                <a:solidFill>
                  <a:schemeClr val="tx1"/>
                </a:solidFill>
                <a:latin typeface="+mn-lt"/>
                <a:ea typeface="+mn-ea"/>
                <a:cs typeface="+mn-cs"/>
              </a:rPr>
              <a:t> The number of complaints</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reports received by the premises – regarding ill health, symptoms of food poisoning, the presence of a physical contaminant in the food</a:t>
            </a:r>
          </a:p>
          <a:p>
            <a:pPr lvl="0">
              <a:buFont typeface="Arial" pitchFamily="34" charset="0"/>
              <a:buChar char="•"/>
            </a:pPr>
            <a:r>
              <a:rPr lang="en-AU" sz="1200" kern="1200" dirty="0" smtClean="0">
                <a:solidFill>
                  <a:schemeClr val="tx1"/>
                </a:solidFill>
                <a:latin typeface="+mn-lt"/>
                <a:ea typeface="+mn-ea"/>
                <a:cs typeface="+mn-cs"/>
              </a:rPr>
              <a:t> The probability of contamination having occurred during the manufacturing process</a:t>
            </a:r>
          </a:p>
          <a:p>
            <a:pPr lvl="0">
              <a:buFont typeface="Arial" pitchFamily="34" charset="0"/>
              <a:buChar char="•"/>
            </a:pPr>
            <a:r>
              <a:rPr lang="en-AU" sz="1200" kern="1200" dirty="0" smtClean="0">
                <a:solidFill>
                  <a:schemeClr val="tx1"/>
                </a:solidFill>
                <a:latin typeface="+mn-lt"/>
                <a:ea typeface="+mn-ea"/>
                <a:cs typeface="+mn-cs"/>
              </a:rPr>
              <a:t> The size and dispersion of the food items in question</a:t>
            </a:r>
          </a:p>
          <a:p>
            <a:pPr lvl="0">
              <a:buFont typeface="Arial" pitchFamily="34" charset="0"/>
              <a:buChar char="•"/>
            </a:pPr>
            <a:r>
              <a:rPr lang="en-AU" sz="1200" kern="1200" dirty="0" smtClean="0">
                <a:solidFill>
                  <a:schemeClr val="tx1"/>
                </a:solidFill>
                <a:latin typeface="+mn-lt"/>
                <a:ea typeface="+mn-ea"/>
                <a:cs typeface="+mn-cs"/>
              </a:rPr>
              <a:t> If health officials and</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or the media have already been notified.</a:t>
            </a:r>
          </a:p>
          <a:p>
            <a:pPr>
              <a:buFont typeface="Arial" pitchFamily="34" charset="0"/>
              <a:buNone/>
            </a:pPr>
            <a:endParaRPr lang="en-US" dirty="0" smtClean="0"/>
          </a:p>
          <a:p>
            <a:pPr>
              <a:buFont typeface="Arial" pitchFamily="34" charset="0"/>
              <a:buNone/>
            </a:pPr>
            <a:r>
              <a:rPr lang="en-US" b="1" dirty="0" smtClean="0"/>
              <a:t>Class Activity – Guest Speaker</a:t>
            </a:r>
          </a:p>
          <a:p>
            <a:pPr>
              <a:buFont typeface="Arial" pitchFamily="34" charset="0"/>
              <a:buNone/>
            </a:pPr>
            <a:r>
              <a:rPr lang="en-US" b="0" dirty="0" smtClean="0"/>
              <a:t>Trainer</a:t>
            </a:r>
            <a:r>
              <a:rPr lang="en-US" b="0" baseline="0" dirty="0" smtClean="0"/>
              <a:t> arranges for a health official and talk to trainees about:</a:t>
            </a:r>
          </a:p>
          <a:p>
            <a:pPr>
              <a:buFont typeface="Arial" pitchFamily="34" charset="0"/>
              <a:buChar char="•"/>
            </a:pPr>
            <a:r>
              <a:rPr lang="en-US" b="0" baseline="0" dirty="0" smtClean="0"/>
              <a:t> Requirements for venues to plan for food recalls</a:t>
            </a:r>
          </a:p>
          <a:p>
            <a:pPr>
              <a:buFont typeface="Arial" pitchFamily="34" charset="0"/>
              <a:buChar char="•"/>
            </a:pPr>
            <a:r>
              <a:rPr lang="en-US" b="0" baseline="0" dirty="0" smtClean="0"/>
              <a:t> Details that should be included in a food recall plan</a:t>
            </a:r>
          </a:p>
          <a:p>
            <a:pPr>
              <a:buFont typeface="Arial" pitchFamily="34" charset="0"/>
              <a:buChar char="•"/>
            </a:pPr>
            <a:r>
              <a:rPr lang="en-US" b="0" baseline="0" dirty="0" smtClean="0"/>
              <a:t> Sample food recall documents and models for trainees to follow or use as a basis for their own recall plans</a:t>
            </a:r>
          </a:p>
          <a:p>
            <a:pPr>
              <a:buFont typeface="Arial" pitchFamily="34" charset="0"/>
              <a:buChar char="•"/>
            </a:pPr>
            <a:r>
              <a:rPr lang="en-US" b="0" baseline="0" dirty="0" smtClean="0"/>
              <a:t> How authorities will notify venues there is need for a food recall</a:t>
            </a:r>
          </a:p>
          <a:p>
            <a:pPr>
              <a:buFont typeface="Arial" pitchFamily="34" charset="0"/>
              <a:buChar char="•"/>
            </a:pPr>
            <a:r>
              <a:rPr lang="en-US" b="0" baseline="0" dirty="0" smtClean="0"/>
              <a:t> Their experiences dealing with food recalls.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122</a:t>
            </a:fld>
            <a:endParaRPr lang="en-US" dirty="0"/>
          </a:p>
        </p:txBody>
      </p:sp>
    </p:spTree>
    <p:extLst>
      <p:ext uri="{BB962C8B-B14F-4D97-AF65-F5344CB8AC3E}">
        <p14:creationId xmlns:p14="http://schemas.microsoft.com/office/powerpoint/2010/main" val="2156627813"/>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generic steps to follow when preparing a food recall plan or responding to the need to recall food:</a:t>
            </a:r>
          </a:p>
          <a:p>
            <a:pPr lvl="0">
              <a:buFont typeface="Arial" pitchFamily="34" charset="0"/>
              <a:buChar char="•"/>
            </a:pPr>
            <a:r>
              <a:rPr lang="en-AU" sz="1200" kern="1200" dirty="0" smtClean="0">
                <a:solidFill>
                  <a:schemeClr val="tx1"/>
                </a:solidFill>
                <a:latin typeface="+mn-lt"/>
                <a:ea typeface="+mn-ea"/>
                <a:cs typeface="+mn-cs"/>
              </a:rPr>
              <a:t> Establish the facts of the situation – to serve as the basis for the recall and the action to be taken</a:t>
            </a:r>
          </a:p>
          <a:p>
            <a:pPr lvl="0">
              <a:buFont typeface="Arial" pitchFamily="34" charset="0"/>
              <a:buChar char="•"/>
            </a:pPr>
            <a:r>
              <a:rPr lang="en-AU" sz="1200" kern="1200" dirty="0" smtClean="0">
                <a:solidFill>
                  <a:schemeClr val="tx1"/>
                </a:solidFill>
                <a:latin typeface="+mn-lt"/>
                <a:ea typeface="+mn-ea"/>
                <a:cs typeface="+mn-cs"/>
              </a:rPr>
              <a:t> Take action – such as:</a:t>
            </a:r>
          </a:p>
          <a:p>
            <a:pPr lvl="1">
              <a:buFont typeface="Arial" pitchFamily="34" charset="0"/>
              <a:buChar char="•"/>
            </a:pPr>
            <a:r>
              <a:rPr lang="en-AU" sz="1200" kern="1200" dirty="0" smtClean="0">
                <a:solidFill>
                  <a:schemeClr val="tx1"/>
                </a:solidFill>
                <a:latin typeface="+mn-lt"/>
                <a:ea typeface="+mn-ea"/>
                <a:cs typeface="+mn-cs"/>
              </a:rPr>
              <a:t> Take no action – where no action is needed </a:t>
            </a:r>
            <a:r>
              <a:rPr lang="en-AU" sz="1200" b="1" kern="1200" dirty="0" smtClean="0">
                <a:solidFill>
                  <a:schemeClr val="tx1"/>
                </a:solidFill>
                <a:latin typeface="+mn-lt"/>
                <a:ea typeface="+mn-ea"/>
                <a:cs typeface="+mn-cs"/>
              </a:rPr>
              <a:t>based on the facts</a:t>
            </a:r>
            <a:r>
              <a:rPr lang="en-AU" sz="1200" b="0" kern="1200" dirty="0" smtClean="0">
                <a:solidFill>
                  <a:schemeClr val="tx1"/>
                </a:solidFill>
                <a:latin typeface="+mn-lt"/>
                <a:ea typeface="+mn-ea"/>
                <a:cs typeface="+mn-cs"/>
              </a:rPr>
              <a:t> as opposed to just ‘hoping for the best’</a:t>
            </a:r>
            <a:endParaRPr lang="en-AU" sz="1200" b="1" kern="1200" dirty="0" smtClean="0">
              <a:solidFill>
                <a:schemeClr val="tx1"/>
              </a:solidFill>
              <a:latin typeface="+mn-lt"/>
              <a:ea typeface="+mn-ea"/>
              <a:cs typeface="+mn-cs"/>
            </a:endParaRPr>
          </a:p>
          <a:p>
            <a:pPr lvl="1">
              <a:buFont typeface="Arial" pitchFamily="34" charset="0"/>
              <a:buChar char="•"/>
            </a:pPr>
            <a:r>
              <a:rPr lang="en-AU" sz="1200" kern="1200" dirty="0" smtClean="0">
                <a:solidFill>
                  <a:schemeClr val="tx1"/>
                </a:solidFill>
                <a:latin typeface="+mn-lt"/>
                <a:ea typeface="+mn-ea"/>
                <a:cs typeface="+mn-cs"/>
              </a:rPr>
              <a:t> Withdraw the product – from sale, distribution or display</a:t>
            </a:r>
          </a:p>
          <a:p>
            <a:pPr lvl="1">
              <a:buFont typeface="Arial" pitchFamily="34" charset="0"/>
              <a:buChar char="•"/>
            </a:pPr>
            <a:r>
              <a:rPr lang="en-AU" sz="1200" kern="1200" dirty="0" smtClean="0">
                <a:solidFill>
                  <a:schemeClr val="tx1"/>
                </a:solidFill>
                <a:latin typeface="+mn-lt"/>
                <a:ea typeface="+mn-ea"/>
                <a:cs typeface="+mn-cs"/>
              </a:rPr>
              <a:t> Initiate a food recall – if the product has been sold</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distributed outside the premises. </a:t>
            </a:r>
          </a:p>
          <a:p>
            <a:pPr lvl="0">
              <a:buFont typeface="Arial" pitchFamily="34" charset="0"/>
              <a:buChar char="•"/>
            </a:pPr>
            <a:r>
              <a:rPr lang="en-AU" sz="1200" kern="1200" dirty="0" smtClean="0">
                <a:solidFill>
                  <a:schemeClr val="tx1"/>
                </a:solidFill>
                <a:latin typeface="+mn-lt"/>
                <a:ea typeface="+mn-ea"/>
                <a:cs typeface="+mn-cs"/>
              </a:rPr>
              <a:t> Work out the quantity</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volume of food involved and how staff, officials or customers could identify it</a:t>
            </a:r>
          </a:p>
          <a:p>
            <a:pPr lvl="0">
              <a:buFont typeface="Arial" pitchFamily="34" charset="0"/>
              <a:buChar char="•"/>
            </a:pPr>
            <a:r>
              <a:rPr lang="en-AU" sz="1200" kern="1200" dirty="0" smtClean="0">
                <a:solidFill>
                  <a:schemeClr val="tx1"/>
                </a:solidFill>
                <a:latin typeface="+mn-lt"/>
                <a:ea typeface="+mn-ea"/>
                <a:cs typeface="+mn-cs"/>
              </a:rPr>
              <a:t> Identify where the product was sold, supplied or distributed from</a:t>
            </a:r>
          </a:p>
          <a:p>
            <a:pPr lvl="0">
              <a:buFont typeface="Arial" pitchFamily="34" charset="0"/>
              <a:buChar char="•"/>
            </a:pPr>
            <a:r>
              <a:rPr lang="en-AU" sz="1200" kern="1200" dirty="0" smtClean="0">
                <a:solidFill>
                  <a:schemeClr val="tx1"/>
                </a:solidFill>
                <a:latin typeface="+mn-lt"/>
                <a:ea typeface="+mn-ea"/>
                <a:cs typeface="+mn-cs"/>
              </a:rPr>
              <a:t> Inform customers as soon as possible not to eat the affected product – and ask them to return the food. This can include:</a:t>
            </a:r>
            <a:endParaRPr lang="en-AU" sz="1100" kern="1200" dirty="0" smtClean="0">
              <a:solidFill>
                <a:schemeClr val="tx1"/>
              </a:solidFill>
              <a:latin typeface="+mn-lt"/>
              <a:ea typeface="+mn-ea"/>
              <a:cs typeface="+mn-cs"/>
            </a:endParaRPr>
          </a:p>
          <a:p>
            <a:pPr lvl="1">
              <a:buFont typeface="Arial" pitchFamily="34" charset="0"/>
              <a:buChar char="•"/>
            </a:pPr>
            <a:r>
              <a:rPr lang="en-AU" sz="1200" kern="1200" dirty="0" smtClean="0">
                <a:solidFill>
                  <a:schemeClr val="tx1"/>
                </a:solidFill>
                <a:latin typeface="+mn-lt"/>
                <a:ea typeface="+mn-ea"/>
                <a:cs typeface="+mn-cs"/>
              </a:rPr>
              <a:t> Notifying anyone sitting down/ and eating that they should stop eating the product</a:t>
            </a:r>
          </a:p>
          <a:p>
            <a:pPr lvl="1">
              <a:buFont typeface="Arial" pitchFamily="34" charset="0"/>
              <a:buChar char="•"/>
            </a:pPr>
            <a:r>
              <a:rPr lang="en-AU" sz="1200" kern="1200" dirty="0" smtClean="0">
                <a:solidFill>
                  <a:schemeClr val="tx1"/>
                </a:solidFill>
                <a:latin typeface="+mn-lt"/>
                <a:ea typeface="+mn-ea"/>
                <a:cs typeface="+mn-cs"/>
              </a:rPr>
              <a:t> Notify any individual</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group who is known to have purchased the food as a takeaway item not to consume the product: there may be no identifiable individuals or groups, as trade is comprised of the general public (passing trade, local businesses, shoppers, locals and tourists), but in other instances there may be local businesses, tradespeople, schools, who regularly buy from you – the Food Recall plan would require preparation of a list of these customers in terms of their telephone numbers, fax numbers, street addresses, contact persons in order to facilitate quick contact with them if the need arises</a:t>
            </a:r>
          </a:p>
          <a:p>
            <a:pPr lvl="1">
              <a:buFont typeface="Arial" pitchFamily="34" charset="0"/>
              <a:buChar char="•"/>
            </a:pPr>
            <a:r>
              <a:rPr lang="en-AU" sz="1200" kern="1200" dirty="0" smtClean="0">
                <a:solidFill>
                  <a:schemeClr val="tx1"/>
                </a:solidFill>
                <a:latin typeface="+mn-lt"/>
                <a:ea typeface="+mn-ea"/>
                <a:cs typeface="+mn-cs"/>
              </a:rPr>
              <a:t> A full list of in-house patrons (where the premises is a hotel</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motel style) should be available from the Front Office reservation computer system </a:t>
            </a:r>
          </a:p>
          <a:p>
            <a:pPr lvl="1">
              <a:buFont typeface="Arial" pitchFamily="34" charset="0"/>
              <a:buChar char="•"/>
            </a:pPr>
            <a:r>
              <a:rPr lang="en-AU" sz="1200" kern="1200" dirty="0" smtClean="0">
                <a:solidFill>
                  <a:schemeClr val="tx1"/>
                </a:solidFill>
                <a:latin typeface="+mn-lt"/>
                <a:ea typeface="+mn-ea"/>
                <a:cs typeface="+mn-cs"/>
              </a:rPr>
              <a:t> Patrons who have dined in food outlets may be partially identifiable via the Bookings Book</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Sheet in such outlets if this record exists.</a:t>
            </a:r>
          </a:p>
          <a:p>
            <a:pPr lvl="0">
              <a:buFont typeface="Arial" pitchFamily="34" charset="0"/>
              <a:buChar char="•"/>
            </a:pPr>
            <a:r>
              <a:rPr lang="en-AU" sz="1200" kern="1200" dirty="0" smtClean="0">
                <a:solidFill>
                  <a:schemeClr val="tx1"/>
                </a:solidFill>
                <a:latin typeface="+mn-lt"/>
                <a:ea typeface="+mn-ea"/>
                <a:cs typeface="+mn-cs"/>
              </a:rPr>
              <a:t> Inform local Health authority – so they can assist with the recall</a:t>
            </a:r>
          </a:p>
          <a:p>
            <a:pPr lvl="0">
              <a:buFont typeface="Arial" pitchFamily="34" charset="0"/>
              <a:buChar char="•"/>
            </a:pPr>
            <a:r>
              <a:rPr lang="en-AU" sz="1200" kern="1200" dirty="0" smtClean="0">
                <a:solidFill>
                  <a:schemeClr val="tx1"/>
                </a:solidFill>
                <a:latin typeface="+mn-lt"/>
                <a:ea typeface="+mn-ea"/>
                <a:cs typeface="+mn-cs"/>
              </a:rPr>
              <a:t> Tell the public by (for example) placing warning signs in the venue, placing a food recall notice in local newspapers</a:t>
            </a:r>
          </a:p>
          <a:p>
            <a:pPr lvl="0">
              <a:buFont typeface="Arial" pitchFamily="34" charset="0"/>
              <a:buChar char="•"/>
            </a:pPr>
            <a:r>
              <a:rPr lang="en-AU" sz="1200" kern="1200" dirty="0" smtClean="0">
                <a:solidFill>
                  <a:schemeClr val="tx1"/>
                </a:solidFill>
                <a:latin typeface="+mn-lt"/>
                <a:ea typeface="+mn-ea"/>
                <a:cs typeface="+mn-cs"/>
              </a:rPr>
              <a:t> Collect and safely store affected food (labelled as unsafe food and separated from other food) to assist, where needed, with investigations.</a:t>
            </a:r>
          </a:p>
          <a:p>
            <a:pPr lvl="0">
              <a:buFont typeface="Arial" pitchFamily="34" charset="0"/>
              <a:buNone/>
            </a:pPr>
            <a:endParaRPr lang="en-AU" sz="1200" kern="1200" dirty="0" smtClean="0">
              <a:solidFill>
                <a:schemeClr val="tx1"/>
              </a:solidFill>
              <a:latin typeface="+mn-lt"/>
              <a:ea typeface="+mn-ea"/>
              <a:cs typeface="+mn-cs"/>
            </a:endParaRPr>
          </a:p>
          <a:p>
            <a:pPr lvl="0">
              <a:buFont typeface="Arial" pitchFamily="34" charset="0"/>
              <a:buNone/>
            </a:pPr>
            <a:r>
              <a:rPr lang="en-AU" sz="1200" b="1" kern="1200" dirty="0" smtClean="0">
                <a:solidFill>
                  <a:schemeClr val="tx1"/>
                </a:solidFill>
                <a:latin typeface="+mn-lt"/>
                <a:ea typeface="+mn-ea"/>
                <a:cs typeface="+mn-cs"/>
              </a:rPr>
              <a:t>Class Activity – Small Group Activity</a:t>
            </a:r>
          </a:p>
          <a:p>
            <a:pPr lvl="0">
              <a:buFont typeface="Arial" pitchFamily="34" charset="0"/>
              <a:buNone/>
            </a:pPr>
            <a:r>
              <a:rPr lang="en-AU" sz="1200" b="0" kern="1200" dirty="0" smtClean="0">
                <a:solidFill>
                  <a:schemeClr val="tx1"/>
                </a:solidFill>
                <a:latin typeface="+mn-lt"/>
                <a:ea typeface="+mn-ea"/>
                <a:cs typeface="+mn-cs"/>
              </a:rPr>
              <a:t>Trainer provides trainees with Internet access and asks them to:</a:t>
            </a:r>
          </a:p>
          <a:p>
            <a:pPr lvl="0">
              <a:buFont typeface="Arial" pitchFamily="34" charset="0"/>
              <a:buChar char="•"/>
            </a:pPr>
            <a:r>
              <a:rPr lang="en-AU" sz="1200" b="0" kern="1200" dirty="0" smtClean="0">
                <a:solidFill>
                  <a:schemeClr val="tx1"/>
                </a:solidFill>
                <a:latin typeface="+mn-lt"/>
                <a:ea typeface="+mn-ea"/>
                <a:cs typeface="+mn-cs"/>
              </a:rPr>
              <a:t> Visit http://www.foodstandards.gov.au/consumerinformation/foodrecalls/ </a:t>
            </a:r>
          </a:p>
          <a:p>
            <a:pPr lvl="0">
              <a:buFont typeface="Arial" pitchFamily="34" charset="0"/>
              <a:buChar char="•"/>
            </a:pPr>
            <a:r>
              <a:rPr lang="en-AU" sz="1200" b="0" kern="1200" dirty="0" smtClean="0">
                <a:solidFill>
                  <a:schemeClr val="tx1"/>
                </a:solidFill>
                <a:latin typeface="+mn-lt"/>
                <a:ea typeface="+mn-ea"/>
                <a:cs typeface="+mn-cs"/>
              </a:rPr>
              <a:t> Read this site and relevant links</a:t>
            </a:r>
          </a:p>
          <a:p>
            <a:pPr lvl="0">
              <a:buFont typeface="Arial" pitchFamily="34" charset="0"/>
              <a:buChar char="•"/>
            </a:pPr>
            <a:r>
              <a:rPr lang="en-AU" sz="1200" b="0" kern="1200" dirty="0" smtClean="0">
                <a:solidFill>
                  <a:schemeClr val="tx1"/>
                </a:solidFill>
                <a:latin typeface="+mn-lt"/>
                <a:ea typeface="+mn-ea"/>
                <a:cs typeface="+mn-cs"/>
              </a:rPr>
              <a:t> Take notes on food recall protocols recommended</a:t>
            </a:r>
          </a:p>
          <a:p>
            <a:pPr lvl="0">
              <a:buFont typeface="Arial" pitchFamily="34" charset="0"/>
              <a:buChar char="•"/>
            </a:pPr>
            <a:r>
              <a:rPr lang="en-AU" sz="1200" b="0" kern="1200" dirty="0" smtClean="0">
                <a:solidFill>
                  <a:schemeClr val="tx1"/>
                </a:solidFill>
                <a:latin typeface="+mn-lt"/>
                <a:ea typeface="+mn-ea"/>
                <a:cs typeface="+mn-cs"/>
              </a:rPr>
              <a:t> Report back to the class on their findings.</a:t>
            </a:r>
          </a:p>
          <a:p>
            <a:pPr lvl="0">
              <a:buFont typeface="Arial" pitchFamily="34" charset="0"/>
              <a:buChar char="•"/>
            </a:pPr>
            <a:endParaRPr lang="en-AU" sz="1200" b="0" kern="1200" dirty="0" smtClean="0">
              <a:solidFill>
                <a:schemeClr val="tx1"/>
              </a:solidFill>
              <a:latin typeface="+mn-lt"/>
              <a:ea typeface="+mn-ea"/>
              <a:cs typeface="+mn-cs"/>
            </a:endParaRPr>
          </a:p>
          <a:p>
            <a:pPr lvl="0">
              <a:buFont typeface="Arial" pitchFamily="34" charset="0"/>
              <a:buNone/>
            </a:pPr>
            <a:r>
              <a:rPr lang="en-AU" sz="1200" b="0" kern="1200" dirty="0" smtClean="0">
                <a:solidFill>
                  <a:schemeClr val="tx1"/>
                </a:solidFill>
                <a:latin typeface="+mn-lt"/>
                <a:ea typeface="+mn-ea"/>
                <a:cs typeface="+mn-cs"/>
              </a:rPr>
              <a:t>  </a:t>
            </a:r>
          </a:p>
          <a:p>
            <a:pPr lvl="0">
              <a:buFont typeface="Arial" pitchFamily="34" charset="0"/>
              <a:buNone/>
            </a:pPr>
            <a:endParaRPr lang="en-AU" sz="1200" b="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123</a:t>
            </a:fld>
            <a:endParaRPr lang="en-US" dirty="0"/>
          </a:p>
        </p:txBody>
      </p:sp>
    </p:spTree>
    <p:extLst>
      <p:ext uri="{BB962C8B-B14F-4D97-AF65-F5344CB8AC3E}">
        <p14:creationId xmlns:p14="http://schemas.microsoft.com/office/powerpoint/2010/main" val="2539650782"/>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informs trainees whenever a risk of food contamination has been identified, it must be addressed explaining when taking action :</a:t>
            </a:r>
          </a:p>
          <a:p>
            <a:pPr lvl="0">
              <a:buFont typeface="Arial" pitchFamily="34" charset="0"/>
              <a:buChar char="•"/>
            </a:pPr>
            <a:r>
              <a:rPr lang="en-AU" sz="1200" kern="1200" dirty="0" smtClean="0">
                <a:solidFill>
                  <a:schemeClr val="tx1"/>
                </a:solidFill>
                <a:latin typeface="+mn-lt"/>
                <a:ea typeface="+mn-ea"/>
                <a:cs typeface="+mn-cs"/>
              </a:rPr>
              <a:t> Action must be taken quickly – act immediately as opposed to waiting until the shift</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session has finished</a:t>
            </a:r>
          </a:p>
          <a:p>
            <a:pPr lvl="0">
              <a:buFont typeface="Arial" pitchFamily="34" charset="0"/>
              <a:buChar char="•"/>
            </a:pPr>
            <a:r>
              <a:rPr lang="en-AU" sz="1200" kern="1200" dirty="0" smtClean="0">
                <a:solidFill>
                  <a:schemeClr val="tx1"/>
                </a:solidFill>
                <a:latin typeface="+mn-lt"/>
                <a:ea typeface="+mn-ea"/>
                <a:cs typeface="+mn-cs"/>
              </a:rPr>
              <a:t> Report things unable to be fixed – if the problem cannot be readily</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immediately fixed, report it to management</a:t>
            </a:r>
          </a:p>
          <a:p>
            <a:pPr lvl="0">
              <a:buFont typeface="Arial" pitchFamily="34" charset="0"/>
              <a:buChar char="•"/>
            </a:pPr>
            <a:r>
              <a:rPr lang="en-AU" sz="1200" kern="1200" dirty="0" smtClean="0">
                <a:solidFill>
                  <a:schemeClr val="tx1"/>
                </a:solidFill>
                <a:latin typeface="+mn-lt"/>
                <a:ea typeface="+mn-ea"/>
                <a:cs typeface="+mn-cs"/>
              </a:rPr>
              <a:t> Only take action if the action falls within designated ‘scope of authority’ – report all other problems:</a:t>
            </a:r>
            <a:r>
              <a:rPr lang="en-AU" sz="1200" kern="1200" baseline="0" dirty="0" smtClean="0">
                <a:solidFill>
                  <a:schemeClr val="tx1"/>
                </a:solidFill>
                <a:latin typeface="+mn-lt"/>
                <a:ea typeface="+mn-ea"/>
                <a:cs typeface="+mn-cs"/>
              </a:rPr>
              <a:t> special training may be required to undertake certain action; certain tasks may be restricted to nominated staff.</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124</a:t>
            </a:fld>
            <a:endParaRPr lang="en-US" dirty="0"/>
          </a:p>
        </p:txBody>
      </p:sp>
    </p:spTree>
    <p:extLst>
      <p:ext uri="{BB962C8B-B14F-4D97-AF65-F5344CB8AC3E}">
        <p14:creationId xmlns:p14="http://schemas.microsoft.com/office/powerpoint/2010/main" val="1509214669"/>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present trainees with responses to identified food safety risks and hazards:</a:t>
            </a:r>
          </a:p>
          <a:p>
            <a:pPr lvl="0">
              <a:buFont typeface="Arial" pitchFamily="34" charset="0"/>
              <a:buChar char="•"/>
            </a:pPr>
            <a:r>
              <a:rPr lang="en-AU" sz="1200" kern="1200" dirty="0" smtClean="0">
                <a:solidFill>
                  <a:schemeClr val="tx1"/>
                </a:solidFill>
                <a:latin typeface="+mn-lt"/>
                <a:ea typeface="+mn-ea"/>
                <a:cs typeface="+mn-cs"/>
              </a:rPr>
              <a:t> Audit the safe food handling skills of staff – many food-related problems can be traced to a failure by staff to adhere to required practices and protocols</a:t>
            </a:r>
          </a:p>
          <a:p>
            <a:pPr lvl="0">
              <a:buFont typeface="Arial" pitchFamily="34" charset="0"/>
              <a:buChar char="•"/>
            </a:pPr>
            <a:r>
              <a:rPr lang="en-AU" sz="1200" kern="1200" dirty="0" smtClean="0">
                <a:solidFill>
                  <a:schemeClr val="tx1"/>
                </a:solidFill>
                <a:latin typeface="+mn-lt"/>
                <a:ea typeface="+mn-ea"/>
                <a:cs typeface="+mn-cs"/>
              </a:rPr>
              <a:t> Ensure training is appropriate, effective and being implemented to all staff, when and as required</a:t>
            </a:r>
          </a:p>
          <a:p>
            <a:pPr lvl="0">
              <a:buFont typeface="Arial" pitchFamily="34" charset="0"/>
              <a:buChar char="•"/>
            </a:pPr>
            <a:r>
              <a:rPr lang="en-AU" sz="1200" kern="1200" dirty="0" smtClean="0">
                <a:solidFill>
                  <a:schemeClr val="tx1"/>
                </a:solidFill>
                <a:latin typeface="+mn-lt"/>
                <a:ea typeface="+mn-ea"/>
                <a:cs typeface="+mn-cs"/>
              </a:rPr>
              <a:t> Check to determine if standard house policies and procedures are being implemented – again, the cause of many problems is a failure to follow house policies and procedures</a:t>
            </a:r>
          </a:p>
          <a:p>
            <a:pPr lvl="0">
              <a:buFont typeface="Arial" pitchFamily="34" charset="0"/>
              <a:buChar char="•"/>
            </a:pPr>
            <a:r>
              <a:rPr lang="en-AU" sz="1200" kern="1200" dirty="0" smtClean="0">
                <a:solidFill>
                  <a:schemeClr val="tx1"/>
                </a:solidFill>
                <a:latin typeface="+mn-lt"/>
                <a:ea typeface="+mn-ea"/>
                <a:cs typeface="+mn-cs"/>
              </a:rPr>
              <a:t> Consider involving external experts – to provide objective and professional input regarding the issues</a:t>
            </a:r>
          </a:p>
          <a:p>
            <a:pPr lvl="0">
              <a:buFont typeface="Arial" pitchFamily="34" charset="0"/>
              <a:buChar char="•"/>
            </a:pPr>
            <a:r>
              <a:rPr lang="en-AU" sz="1200" kern="1200" dirty="0" smtClean="0">
                <a:solidFill>
                  <a:schemeClr val="tx1"/>
                </a:solidFill>
                <a:latin typeface="+mn-lt"/>
                <a:ea typeface="+mn-ea"/>
                <a:cs typeface="+mn-cs"/>
              </a:rPr>
              <a:t> Refer to previous internal and</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or external food safety audits – to identify previous similar instances, and to determine any earlier action taken in this regard.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125</a:t>
            </a:fld>
            <a:endParaRPr lang="en-US" dirty="0"/>
          </a:p>
        </p:txBody>
      </p:sp>
    </p:spTree>
    <p:extLst>
      <p:ext uri="{BB962C8B-B14F-4D97-AF65-F5344CB8AC3E}">
        <p14:creationId xmlns:p14="http://schemas.microsoft.com/office/powerpoint/2010/main" val="1037717603"/>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highlights the action taken to address identified food safety risks</a:t>
            </a:r>
            <a:r>
              <a:rPr lang="en-US" baseline="0" dirty="0" smtClean="0"/>
              <a:t> and </a:t>
            </a:r>
            <a:r>
              <a:rPr lang="en-US" dirty="0" smtClean="0"/>
              <a:t>hazards must reflect and address the individual problem.</a:t>
            </a:r>
          </a:p>
          <a:p>
            <a:pPr>
              <a:buFont typeface="Arial" pitchFamily="34" charset="0"/>
              <a:buNone/>
            </a:pPr>
            <a:endParaRPr lang="en-US" dirty="0" smtClean="0"/>
          </a:p>
          <a:p>
            <a:r>
              <a:rPr lang="en-US" dirty="0" smtClean="0"/>
              <a:t>Trainer advises trainees they will be provided with examples of possible (common) at each stage of food handling</a:t>
            </a:r>
            <a:r>
              <a:rPr lang="en-US" baseline="0" dirty="0" smtClean="0"/>
              <a:t> or </a:t>
            </a:r>
            <a:r>
              <a:rPr lang="en-US" dirty="0" smtClean="0"/>
              <a:t>processing, as identified earlier in the course, beginning by explaining corrective action </a:t>
            </a:r>
            <a:r>
              <a:rPr lang="en-AU" sz="1200" kern="1200" dirty="0" smtClean="0">
                <a:solidFill>
                  <a:schemeClr val="tx1"/>
                </a:solidFill>
                <a:latin typeface="+mn-lt"/>
                <a:ea typeface="+mn-ea"/>
                <a:cs typeface="+mn-cs"/>
              </a:rPr>
              <a:t>relating to the ‘Purchasing of Food’ can include:</a:t>
            </a:r>
          </a:p>
          <a:p>
            <a:pPr lvl="0">
              <a:buFont typeface="Arial" pitchFamily="34" charset="0"/>
              <a:buChar char="•"/>
            </a:pPr>
            <a:r>
              <a:rPr lang="en-AU" sz="1200" kern="1200" dirty="0" smtClean="0">
                <a:solidFill>
                  <a:schemeClr val="tx1"/>
                </a:solidFill>
                <a:latin typeface="+mn-lt"/>
                <a:ea typeface="+mn-ea"/>
                <a:cs typeface="+mn-cs"/>
              </a:rPr>
              <a:t> Obtaining proof from suppliers they are registered as a food supplier and have safe food handling protocols in place </a:t>
            </a:r>
          </a:p>
          <a:p>
            <a:pPr lvl="0">
              <a:buFont typeface="Arial" pitchFamily="34" charset="0"/>
              <a:buChar char="•"/>
            </a:pPr>
            <a:r>
              <a:rPr lang="en-AU" sz="1200" kern="1200" dirty="0" smtClean="0">
                <a:solidFill>
                  <a:schemeClr val="tx1"/>
                </a:solidFill>
                <a:latin typeface="+mn-lt"/>
                <a:ea typeface="+mn-ea"/>
                <a:cs typeface="+mn-cs"/>
              </a:rPr>
              <a:t> Adding new suppliers to Approved Suppliers List, where necessary</a:t>
            </a:r>
          </a:p>
          <a:p>
            <a:pPr lvl="0">
              <a:buFont typeface="Arial" pitchFamily="34" charset="0"/>
              <a:buChar char="•"/>
            </a:pPr>
            <a:r>
              <a:rPr lang="en-AU" sz="1200" kern="1200" dirty="0" smtClean="0">
                <a:solidFill>
                  <a:schemeClr val="tx1"/>
                </a:solidFill>
                <a:latin typeface="+mn-lt"/>
                <a:ea typeface="+mn-ea"/>
                <a:cs typeface="+mn-cs"/>
              </a:rPr>
              <a:t> Setting purchase specifications for suppliers to comply with</a:t>
            </a:r>
          </a:p>
          <a:p>
            <a:pPr lvl="0">
              <a:buFont typeface="Arial" pitchFamily="34" charset="0"/>
              <a:buChar char="•"/>
            </a:pPr>
            <a:r>
              <a:rPr lang="en-AU" sz="1200" kern="1200" dirty="0" smtClean="0">
                <a:solidFill>
                  <a:schemeClr val="tx1"/>
                </a:solidFill>
                <a:latin typeface="+mn-lt"/>
                <a:ea typeface="+mn-ea"/>
                <a:cs typeface="+mn-cs"/>
              </a:rPr>
              <a:t> Ensuring food is only bought from businesses listed on the Approved Suppliers List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126</a:t>
            </a:fld>
            <a:endParaRPr lang="en-US" dirty="0"/>
          </a:p>
        </p:txBody>
      </p:sp>
    </p:spTree>
    <p:extLst>
      <p:ext uri="{BB962C8B-B14F-4D97-AF65-F5344CB8AC3E}">
        <p14:creationId xmlns:p14="http://schemas.microsoft.com/office/powerpoint/2010/main" val="190506630"/>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Trainer explains to trainees in relation to hazards relating to the ‘Accepting deliveries into the premises’ process, corrective action may include:</a:t>
            </a:r>
          </a:p>
          <a:p>
            <a:pPr lvl="0">
              <a:buFont typeface="Arial" pitchFamily="34" charset="0"/>
              <a:buChar char="•"/>
            </a:pPr>
            <a:r>
              <a:rPr lang="en-AU" sz="1200" kern="1200" dirty="0" smtClean="0">
                <a:solidFill>
                  <a:schemeClr val="tx1"/>
                </a:solidFill>
                <a:latin typeface="+mn-lt"/>
                <a:ea typeface="+mn-ea"/>
                <a:cs typeface="+mn-cs"/>
              </a:rPr>
              <a:t> Refusing</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rejecting refrigerated high risk foods that are delivered at more than 5°C , unless satisfied it has been outside that temperature for less than 2 hours</a:t>
            </a:r>
          </a:p>
          <a:p>
            <a:pPr lvl="0">
              <a:buFont typeface="Arial" pitchFamily="34" charset="0"/>
              <a:buChar char="•"/>
            </a:pPr>
            <a:r>
              <a:rPr lang="en-AU" sz="1200" kern="1200" dirty="0" smtClean="0">
                <a:solidFill>
                  <a:schemeClr val="tx1"/>
                </a:solidFill>
                <a:latin typeface="+mn-lt"/>
                <a:ea typeface="+mn-ea"/>
                <a:cs typeface="+mn-cs"/>
              </a:rPr>
              <a:t> Refusing or rejecting frozen produce not hard frozen, that is, where the product has started to thaw, or has become ‘soft’</a:t>
            </a:r>
          </a:p>
          <a:p>
            <a:pPr lvl="0">
              <a:buFont typeface="Arial" pitchFamily="34" charset="0"/>
              <a:buChar char="•"/>
            </a:pPr>
            <a:r>
              <a:rPr lang="en-AU" sz="1200" kern="1200" dirty="0" smtClean="0">
                <a:solidFill>
                  <a:schemeClr val="tx1"/>
                </a:solidFill>
                <a:latin typeface="+mn-lt"/>
                <a:ea typeface="+mn-ea"/>
                <a:cs typeface="+mn-cs"/>
              </a:rPr>
              <a:t> Refusing</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rejecting hot food delivered at less than 60°C , unless convinced it has been at this temperature for less than 2 hours</a:t>
            </a:r>
          </a:p>
          <a:p>
            <a:pPr lvl="0">
              <a:buFont typeface="Arial" pitchFamily="34" charset="0"/>
              <a:buChar char="•"/>
            </a:pPr>
            <a:r>
              <a:rPr lang="en-AU" sz="1200" kern="1200" dirty="0" smtClean="0">
                <a:solidFill>
                  <a:schemeClr val="tx1"/>
                </a:solidFill>
                <a:latin typeface="+mn-lt"/>
                <a:ea typeface="+mn-ea"/>
                <a:cs typeface="+mn-cs"/>
              </a:rPr>
              <a:t> Refusing</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rejecting products which are not adequately marked with manufacturer’s details </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127</a:t>
            </a:fld>
            <a:endParaRPr lang="en-US" dirty="0"/>
          </a:p>
        </p:txBody>
      </p:sp>
    </p:spTree>
    <p:extLst>
      <p:ext uri="{BB962C8B-B14F-4D97-AF65-F5344CB8AC3E}">
        <p14:creationId xmlns:p14="http://schemas.microsoft.com/office/powerpoint/2010/main" val="2186575546"/>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continues to advise trainees about possible corrective action to take when addressing problems associated with receiving food into the premises:</a:t>
            </a:r>
          </a:p>
          <a:p>
            <a:pPr lvl="0">
              <a:buFont typeface="Arial" pitchFamily="34" charset="0"/>
              <a:buChar char="•"/>
            </a:pPr>
            <a:r>
              <a:rPr lang="en-AU" sz="1200" kern="1200" dirty="0" smtClean="0">
                <a:solidFill>
                  <a:schemeClr val="tx1"/>
                </a:solidFill>
                <a:latin typeface="+mn-lt"/>
                <a:ea typeface="+mn-ea"/>
                <a:cs typeface="+mn-cs"/>
              </a:rPr>
              <a:t> Refusing</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rejecting food delivered in an unclean vehicle, or which is being delivered in an inappropriate vehicle such as a private car</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vehicle</a:t>
            </a:r>
          </a:p>
          <a:p>
            <a:pPr lvl="0">
              <a:buFont typeface="Arial" pitchFamily="34" charset="0"/>
              <a:buChar char="•"/>
            </a:pPr>
            <a:r>
              <a:rPr lang="en-AU" sz="1200" kern="1200" dirty="0" smtClean="0">
                <a:solidFill>
                  <a:schemeClr val="tx1"/>
                </a:solidFill>
                <a:latin typeface="+mn-lt"/>
                <a:ea typeface="+mn-ea"/>
                <a:cs typeface="+mn-cs"/>
              </a:rPr>
              <a:t> Refusing or rejecting foods delivered mixed in with chemicals</a:t>
            </a:r>
          </a:p>
          <a:p>
            <a:pPr lvl="0">
              <a:buFont typeface="Arial" pitchFamily="34" charset="0"/>
              <a:buChar char="•"/>
            </a:pPr>
            <a:r>
              <a:rPr lang="en-AU" sz="1200" kern="1200" dirty="0" smtClean="0">
                <a:solidFill>
                  <a:schemeClr val="tx1"/>
                </a:solidFill>
                <a:latin typeface="+mn-lt"/>
                <a:ea typeface="+mn-ea"/>
                <a:cs typeface="+mn-cs"/>
              </a:rPr>
              <a:t> Refusing or rejecting out-of-date foodstuffs </a:t>
            </a:r>
          </a:p>
          <a:p>
            <a:pPr lvl="0">
              <a:buFont typeface="Arial" pitchFamily="34" charset="0"/>
              <a:buChar char="•"/>
            </a:pPr>
            <a:r>
              <a:rPr lang="en-AU" sz="1200" kern="1200" dirty="0" smtClean="0">
                <a:solidFill>
                  <a:schemeClr val="tx1"/>
                </a:solidFill>
                <a:latin typeface="+mn-lt"/>
                <a:ea typeface="+mn-ea"/>
                <a:cs typeface="+mn-cs"/>
              </a:rPr>
              <a:t> Refusing</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rejecting food items delivered in damaged packages where the integrity of the food may have been compromised</a:t>
            </a:r>
          </a:p>
          <a:p>
            <a:pPr lvl="0">
              <a:buFont typeface="Arial" pitchFamily="34" charset="0"/>
              <a:buChar char="•"/>
            </a:pPr>
            <a:r>
              <a:rPr lang="en-AU" sz="1200" kern="1200" dirty="0" smtClean="0">
                <a:solidFill>
                  <a:schemeClr val="tx1"/>
                </a:solidFill>
                <a:latin typeface="+mn-lt"/>
                <a:ea typeface="+mn-ea"/>
                <a:cs typeface="+mn-cs"/>
              </a:rPr>
              <a:t> Refusing</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rejecting food items where there is evidence of vermin </a:t>
            </a:r>
          </a:p>
          <a:p>
            <a:pPr lvl="0">
              <a:buFont typeface="Arial" pitchFamily="34" charset="0"/>
              <a:buChar char="•"/>
            </a:pPr>
            <a:r>
              <a:rPr lang="en-AU" sz="1200" kern="1200" dirty="0" smtClean="0">
                <a:solidFill>
                  <a:schemeClr val="tx1"/>
                </a:solidFill>
                <a:latin typeface="+mn-lt"/>
                <a:ea typeface="+mn-ea"/>
                <a:cs typeface="+mn-cs"/>
              </a:rPr>
              <a:t> Refusing</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rejecting food items that look or smell unacceptable</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128</a:t>
            </a:fld>
            <a:endParaRPr lang="en-US" dirty="0"/>
          </a:p>
        </p:txBody>
      </p:sp>
    </p:spTree>
    <p:extLst>
      <p:ext uri="{BB962C8B-B14F-4D97-AF65-F5344CB8AC3E}">
        <p14:creationId xmlns:p14="http://schemas.microsoft.com/office/powerpoint/2010/main" val="4223250717"/>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Trainer explains to trainees in relation to hazards relating to ‘Dry goods storage’, corrective action may include:</a:t>
            </a:r>
          </a:p>
          <a:p>
            <a:pPr lvl="0">
              <a:buFont typeface="Arial" pitchFamily="34" charset="0"/>
              <a:buChar char="•"/>
            </a:pPr>
            <a:r>
              <a:rPr lang="en-AU" sz="1200" kern="1200" dirty="0" smtClean="0">
                <a:solidFill>
                  <a:schemeClr val="tx1"/>
                </a:solidFill>
                <a:latin typeface="+mn-lt"/>
                <a:ea typeface="+mn-ea"/>
                <a:cs typeface="+mn-cs"/>
              </a:rPr>
              <a:t> Where there is evidence of pest or rodent infestation:</a:t>
            </a:r>
          </a:p>
          <a:p>
            <a:pPr lvl="1">
              <a:buFont typeface="Arial" pitchFamily="34" charset="0"/>
              <a:buChar char="•"/>
            </a:pPr>
            <a:r>
              <a:rPr lang="en-AU" sz="1200" kern="1200" dirty="0" smtClean="0">
                <a:solidFill>
                  <a:schemeClr val="tx1"/>
                </a:solidFill>
                <a:latin typeface="+mn-lt"/>
                <a:ea typeface="+mn-ea"/>
                <a:cs typeface="+mn-cs"/>
              </a:rPr>
              <a:t> Laying baits</a:t>
            </a:r>
          </a:p>
          <a:p>
            <a:pPr lvl="1">
              <a:buFont typeface="Arial" pitchFamily="34" charset="0"/>
              <a:buChar char="•"/>
            </a:pPr>
            <a:r>
              <a:rPr lang="en-AU" sz="1200" kern="1200" dirty="0" smtClean="0">
                <a:solidFill>
                  <a:schemeClr val="tx1"/>
                </a:solidFill>
                <a:latin typeface="+mn-lt"/>
                <a:ea typeface="+mn-ea"/>
                <a:cs typeface="+mn-cs"/>
              </a:rPr>
              <a:t> Engaging the services of a licensed pest control company</a:t>
            </a:r>
          </a:p>
          <a:p>
            <a:pPr lvl="1">
              <a:buFont typeface="Arial" pitchFamily="34" charset="0"/>
              <a:buChar char="•"/>
            </a:pPr>
            <a:r>
              <a:rPr lang="en-AU" sz="1200" kern="1200" dirty="0" smtClean="0">
                <a:solidFill>
                  <a:schemeClr val="tx1"/>
                </a:solidFill>
                <a:latin typeface="+mn-lt"/>
                <a:ea typeface="+mn-ea"/>
                <a:cs typeface="+mn-cs"/>
              </a:rPr>
              <a:t> Investigating where they are getting in and making repairs – fitting fly wire, filling in holes</a:t>
            </a:r>
          </a:p>
          <a:p>
            <a:pPr lvl="0">
              <a:buFont typeface="Arial" pitchFamily="34" charset="0"/>
              <a:buChar char="•"/>
            </a:pPr>
            <a:r>
              <a:rPr lang="en-AU" sz="1200" kern="1200" dirty="0" smtClean="0">
                <a:solidFill>
                  <a:schemeClr val="tx1"/>
                </a:solidFill>
                <a:latin typeface="+mn-lt"/>
                <a:ea typeface="+mn-ea"/>
                <a:cs typeface="+mn-cs"/>
              </a:rPr>
              <a:t> Throwing away all infested or contaminated food</a:t>
            </a:r>
          </a:p>
          <a:p>
            <a:pPr lvl="0">
              <a:buFont typeface="Arial" pitchFamily="34" charset="0"/>
              <a:buChar char="•"/>
            </a:pPr>
            <a:r>
              <a:rPr lang="en-AU" sz="1200" kern="1200" dirty="0" smtClean="0">
                <a:solidFill>
                  <a:schemeClr val="tx1"/>
                </a:solidFill>
                <a:latin typeface="+mn-lt"/>
                <a:ea typeface="+mn-ea"/>
                <a:cs typeface="+mn-cs"/>
              </a:rPr>
              <a:t> Up-dating and or repairing lighting, globes, fluorescent tubes that have blown – to help identify evidence of vermin, and better identify problems that may be present</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Revamping stock control measures – if there is out-of-date stock</a:t>
            </a:r>
          </a:p>
          <a:p>
            <a:pPr lvl="0">
              <a:buFont typeface="Arial" pitchFamily="34" charset="0"/>
              <a:buChar cha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129</a:t>
            </a:fld>
            <a:endParaRPr lang="en-US" dirty="0"/>
          </a:p>
        </p:txBody>
      </p:sp>
    </p:spTree>
    <p:extLst>
      <p:ext uri="{BB962C8B-B14F-4D97-AF65-F5344CB8AC3E}">
        <p14:creationId xmlns:p14="http://schemas.microsoft.com/office/powerpoint/2010/main" val="3944319756"/>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continues to advise trainees about possible corrective action for problems associated with food in dry goods storage:</a:t>
            </a:r>
          </a:p>
          <a:p>
            <a:pPr lvl="0">
              <a:buFont typeface="Arial" pitchFamily="34" charset="0"/>
              <a:buChar char="•"/>
            </a:pPr>
            <a:r>
              <a:rPr lang="en-AU" sz="1200" kern="1200" dirty="0" smtClean="0">
                <a:solidFill>
                  <a:schemeClr val="tx1"/>
                </a:solidFill>
                <a:latin typeface="+mn-lt"/>
                <a:ea typeface="+mn-ea"/>
                <a:cs typeface="+mn-cs"/>
              </a:rPr>
              <a:t> Throwing away out-of-date food – do not use it</a:t>
            </a:r>
          </a:p>
          <a:p>
            <a:pPr lvl="0">
              <a:buFont typeface="Arial" pitchFamily="34" charset="0"/>
              <a:buChar char="•"/>
            </a:pPr>
            <a:r>
              <a:rPr lang="en-AU" sz="1200" kern="1200" dirty="0" smtClean="0">
                <a:solidFill>
                  <a:schemeClr val="tx1"/>
                </a:solidFill>
                <a:latin typeface="+mn-lt"/>
                <a:ea typeface="+mn-ea"/>
                <a:cs typeface="+mn-cs"/>
              </a:rPr>
              <a:t> Allocating more space for dry storage of food where conditions are too crowded or cramped</a:t>
            </a:r>
          </a:p>
          <a:p>
            <a:pPr lvl="0">
              <a:buFont typeface="Arial" pitchFamily="34" charset="0"/>
              <a:buChar char="•"/>
            </a:pPr>
            <a:r>
              <a:rPr lang="en-AU" sz="1200" kern="1200" dirty="0" smtClean="0">
                <a:solidFill>
                  <a:schemeClr val="tx1"/>
                </a:solidFill>
                <a:latin typeface="+mn-lt"/>
                <a:ea typeface="+mn-ea"/>
                <a:cs typeface="+mn-cs"/>
              </a:rPr>
              <a:t> Training staff in stock control and or rotation procedures – if these are not being properly implemented </a:t>
            </a:r>
          </a:p>
          <a:p>
            <a:pPr lvl="0">
              <a:buFont typeface="Arial" pitchFamily="34" charset="0"/>
              <a:buChar char="•"/>
            </a:pPr>
            <a:r>
              <a:rPr lang="en-AU" sz="1200" kern="1200" dirty="0" smtClean="0">
                <a:solidFill>
                  <a:schemeClr val="tx1"/>
                </a:solidFill>
                <a:latin typeface="+mn-lt"/>
                <a:ea typeface="+mn-ea"/>
                <a:cs typeface="+mn-cs"/>
              </a:rPr>
              <a:t> Discarding products with damaged packaging</a:t>
            </a:r>
          </a:p>
          <a:p>
            <a:pPr lvl="0">
              <a:buFont typeface="Arial" pitchFamily="34" charset="0"/>
              <a:buChar char="•"/>
            </a:pPr>
            <a:r>
              <a:rPr lang="en-AU" sz="1200" kern="1200" dirty="0" smtClean="0">
                <a:solidFill>
                  <a:schemeClr val="tx1"/>
                </a:solidFill>
                <a:latin typeface="+mn-lt"/>
                <a:ea typeface="+mn-ea"/>
                <a:cs typeface="+mn-cs"/>
              </a:rPr>
              <a:t> Revising cleaning protocols – allocating more time, obtaining more or better equipment and or chemicals, providing training in cleaning, cleaning the area more frequently</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130</a:t>
            </a:fld>
            <a:endParaRPr lang="en-US" dirty="0"/>
          </a:p>
        </p:txBody>
      </p:sp>
    </p:spTree>
    <p:extLst>
      <p:ext uri="{BB962C8B-B14F-4D97-AF65-F5344CB8AC3E}">
        <p14:creationId xmlns:p14="http://schemas.microsoft.com/office/powerpoint/2010/main" val="115055906"/>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Trainer explains to trainees in relation to hazards relating to ‘Refrigerated food storage’, corrective action may include:</a:t>
            </a:r>
          </a:p>
          <a:p>
            <a:pPr lvl="0">
              <a:buFont typeface="Arial" pitchFamily="34" charset="0"/>
              <a:buChar char="•"/>
            </a:pPr>
            <a:r>
              <a:rPr lang="en-AU" sz="1200" kern="1200" dirty="0" smtClean="0">
                <a:solidFill>
                  <a:schemeClr val="tx1"/>
                </a:solidFill>
                <a:latin typeface="+mn-lt"/>
                <a:ea typeface="+mn-ea"/>
                <a:cs typeface="+mn-cs"/>
              </a:rPr>
              <a:t> Discarding all food:</a:t>
            </a:r>
          </a:p>
          <a:p>
            <a:pPr lvl="1">
              <a:buFont typeface="Arial" pitchFamily="34" charset="0"/>
              <a:buChar char="•"/>
            </a:pPr>
            <a:r>
              <a:rPr lang="en-AU" sz="1200" kern="1200" dirty="0" smtClean="0">
                <a:solidFill>
                  <a:schemeClr val="tx1"/>
                </a:solidFill>
                <a:latin typeface="+mn-lt"/>
                <a:ea typeface="+mn-ea"/>
                <a:cs typeface="+mn-cs"/>
              </a:rPr>
              <a:t> Exceeding the 2/4 rule </a:t>
            </a:r>
          </a:p>
          <a:p>
            <a:pPr lvl="1">
              <a:buFont typeface="Arial" pitchFamily="34" charset="0"/>
              <a:buChar char="•"/>
            </a:pPr>
            <a:r>
              <a:rPr lang="en-AU" sz="1200" kern="1200" dirty="0" smtClean="0">
                <a:solidFill>
                  <a:schemeClr val="tx1"/>
                </a:solidFill>
                <a:latin typeface="+mn-lt"/>
                <a:ea typeface="+mn-ea"/>
                <a:cs typeface="+mn-cs"/>
              </a:rPr>
              <a:t> Beyond its use-by date, or similar</a:t>
            </a:r>
          </a:p>
          <a:p>
            <a:pPr marL="45720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Where there is evidence – or even just a belief –cross contamination has occurred</a:t>
            </a:r>
          </a:p>
          <a:p>
            <a:pPr lvl="0">
              <a:buFont typeface="Arial" pitchFamily="34" charset="0"/>
              <a:buChar char="•"/>
            </a:pPr>
            <a:r>
              <a:rPr lang="en-AU" sz="1200" kern="1200" dirty="0" smtClean="0">
                <a:solidFill>
                  <a:schemeClr val="tx1"/>
                </a:solidFill>
                <a:latin typeface="+mn-lt"/>
                <a:ea typeface="+mn-ea"/>
                <a:cs typeface="+mn-cs"/>
              </a:rPr>
              <a:t> Training staff – in correct</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better cleaning techniques and practices</a:t>
            </a:r>
          </a:p>
          <a:p>
            <a:pPr lvl="0">
              <a:buFont typeface="Arial" pitchFamily="34" charset="0"/>
              <a:buChar char="•"/>
            </a:pPr>
            <a:r>
              <a:rPr lang="en-AU" sz="1200" kern="1200" dirty="0" smtClean="0">
                <a:solidFill>
                  <a:schemeClr val="tx1"/>
                </a:solidFill>
                <a:latin typeface="+mn-lt"/>
                <a:ea typeface="+mn-ea"/>
                <a:cs typeface="+mn-cs"/>
              </a:rPr>
              <a:t> Calling in a refrigeration mechanic where the refrigeration units are reading above 5°C: consider implementing a preventative maintenance schedule through a reputable refrigeration company to help ensure all refrigeration remains in proper working order all the time</a:t>
            </a:r>
          </a:p>
          <a:p>
            <a:pPr lvl="0">
              <a:buFont typeface="Arial" pitchFamily="34" charset="0"/>
              <a:buChar char="•"/>
            </a:pPr>
            <a:r>
              <a:rPr lang="en-AU" sz="1200" kern="1200" dirty="0" smtClean="0">
                <a:solidFill>
                  <a:schemeClr val="tx1"/>
                </a:solidFill>
                <a:latin typeface="+mn-lt"/>
                <a:ea typeface="+mn-ea"/>
                <a:cs typeface="+mn-cs"/>
              </a:rPr>
              <a:t> Revamping stock control and rotation procedures, as required</a:t>
            </a:r>
          </a:p>
          <a:p>
            <a:pPr lvl="0">
              <a:buFont typeface="Arial" pitchFamily="34" charset="0"/>
              <a:buChar char="•"/>
            </a:pPr>
            <a:r>
              <a:rPr lang="en-AU" sz="1200" kern="1200" dirty="0" smtClean="0">
                <a:solidFill>
                  <a:schemeClr val="tx1"/>
                </a:solidFill>
                <a:latin typeface="+mn-lt"/>
                <a:ea typeface="+mn-ea"/>
                <a:cs typeface="+mn-cs"/>
              </a:rPr>
              <a:t> Revamping cleaning procedures, as</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necessary.</a:t>
            </a:r>
          </a:p>
          <a:p>
            <a:pPr>
              <a:buFont typeface="Arial" pitchFamily="34" charset="0"/>
              <a:buNone/>
            </a:pPr>
            <a:endParaRPr lang="en-US" dirty="0" smtClean="0"/>
          </a:p>
          <a:p>
            <a:pPr>
              <a:buFont typeface="Arial" pitchFamily="34" charset="0"/>
              <a:buNone/>
            </a:pPr>
            <a:r>
              <a:rPr lang="en-US" b="1" dirty="0" smtClean="0"/>
              <a:t>Class Activity – Group Questions</a:t>
            </a:r>
          </a:p>
          <a:p>
            <a:pPr>
              <a:buFont typeface="Arial" pitchFamily="34" charset="0"/>
              <a:buNone/>
            </a:pPr>
            <a:r>
              <a:rPr lang="en-US" b="0" dirty="0" smtClean="0"/>
              <a:t>Trainer asks trainees to give examples of when</a:t>
            </a:r>
            <a:r>
              <a:rPr lang="en-US" b="0" baseline="0" dirty="0" smtClean="0"/>
              <a:t> and </a:t>
            </a:r>
            <a:r>
              <a:rPr lang="en-US" b="0" dirty="0" smtClean="0"/>
              <a:t>under which conditions each of the identified possible ‘corrective actions’ may need to be implemented to respond to unsafe food-related practices or hazards or threats.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131</a:t>
            </a:fld>
            <a:endParaRPr lang="en-US" dirty="0"/>
          </a:p>
        </p:txBody>
      </p:sp>
    </p:spTree>
    <p:extLst>
      <p:ext uri="{BB962C8B-B14F-4D97-AF65-F5344CB8AC3E}">
        <p14:creationId xmlns:p14="http://schemas.microsoft.com/office/powerpoint/2010/main" val="192657156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Trainer explains to trainees in relation to hazards relating to ‘Frozen food storage’, corrective action may include:</a:t>
            </a:r>
          </a:p>
          <a:p>
            <a:pPr lvl="0">
              <a:buFont typeface="Arial" pitchFamily="34" charset="0"/>
              <a:buChar char="•"/>
            </a:pPr>
            <a:r>
              <a:rPr lang="en-AU" sz="1200" kern="1200" dirty="0" smtClean="0">
                <a:solidFill>
                  <a:schemeClr val="tx1"/>
                </a:solidFill>
                <a:latin typeface="+mn-lt"/>
                <a:ea typeface="+mn-ea"/>
                <a:cs typeface="+mn-cs"/>
              </a:rPr>
              <a:t> Where frozen food has thawed out but is still below 5°C, staff are allowed to refrigerate it and then treat it as refrigerated food </a:t>
            </a:r>
          </a:p>
          <a:p>
            <a:pPr lvl="0">
              <a:buFont typeface="Arial" pitchFamily="34" charset="0"/>
              <a:buChar char="•"/>
            </a:pPr>
            <a:r>
              <a:rPr lang="en-AU" sz="1200" kern="1200" dirty="0" smtClean="0">
                <a:solidFill>
                  <a:schemeClr val="tx1"/>
                </a:solidFill>
                <a:latin typeface="+mn-lt"/>
                <a:ea typeface="+mn-ea"/>
                <a:cs typeface="+mn-cs"/>
              </a:rPr>
              <a:t> Where frozen food has been allowed to reach 5°C or higher (perhaps the freezer has broken down or there has been an extended power failure) for less than 4 hours – it may be used within 4 hours</a:t>
            </a:r>
          </a:p>
          <a:p>
            <a:pPr lvl="0">
              <a:buFont typeface="Arial" pitchFamily="34" charset="0"/>
              <a:buChar char="•"/>
            </a:pPr>
            <a:r>
              <a:rPr lang="en-AU" sz="1200" kern="1200" dirty="0" smtClean="0">
                <a:solidFill>
                  <a:schemeClr val="tx1"/>
                </a:solidFill>
                <a:latin typeface="+mn-lt"/>
                <a:ea typeface="+mn-ea"/>
                <a:cs typeface="+mn-cs"/>
              </a:rPr>
              <a:t> If the frozen food has been at 5°C or more for more than 4 hours – throwing it out</a:t>
            </a:r>
          </a:p>
          <a:p>
            <a:pPr lvl="0">
              <a:buFont typeface="Arial" pitchFamily="34" charset="0"/>
              <a:buChar char="•"/>
            </a:pPr>
            <a:r>
              <a:rPr lang="en-AU" sz="1200" kern="1200" dirty="0" smtClean="0">
                <a:solidFill>
                  <a:schemeClr val="tx1"/>
                </a:solidFill>
                <a:latin typeface="+mn-lt"/>
                <a:ea typeface="+mn-ea"/>
                <a:cs typeface="+mn-cs"/>
              </a:rPr>
              <a:t> If the frozen food has been at 5°C or more for an indefinite amount of time – that is, there is uncertainty about how long it has been at 5°C or above – discard it all.</a:t>
            </a:r>
          </a:p>
          <a:p>
            <a:pPr lvl="0">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132</a:t>
            </a:fld>
            <a:endParaRPr lang="en-US" dirty="0"/>
          </a:p>
        </p:txBody>
      </p:sp>
    </p:spTree>
    <p:extLst>
      <p:ext uri="{BB962C8B-B14F-4D97-AF65-F5344CB8AC3E}">
        <p14:creationId xmlns:p14="http://schemas.microsoft.com/office/powerpoint/2010/main" val="1029601316"/>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Trainer continues to explain to trainees corrective action that may be taken to address frozen food storage hazards</a:t>
            </a:r>
            <a:r>
              <a:rPr lang="en-AU" sz="1200" kern="1200" baseline="0" dirty="0" smtClean="0">
                <a:solidFill>
                  <a:schemeClr val="tx1"/>
                </a:solidFill>
                <a:latin typeface="+mn-lt"/>
                <a:ea typeface="+mn-ea"/>
                <a:cs typeface="+mn-cs"/>
              </a:rPr>
              <a:t> and </a:t>
            </a:r>
            <a:r>
              <a:rPr lang="en-AU" sz="1200" kern="1200" dirty="0" smtClean="0">
                <a:solidFill>
                  <a:schemeClr val="tx1"/>
                </a:solidFill>
                <a:latin typeface="+mn-lt"/>
                <a:ea typeface="+mn-ea"/>
                <a:cs typeface="+mn-cs"/>
              </a:rPr>
              <a:t>risks:</a:t>
            </a:r>
          </a:p>
          <a:p>
            <a:pPr lvl="0">
              <a:buFont typeface="Arial" pitchFamily="34" charset="0"/>
              <a:buChar char="•"/>
            </a:pPr>
            <a:r>
              <a:rPr lang="en-AU" sz="1200" kern="1200" dirty="0" smtClean="0">
                <a:solidFill>
                  <a:schemeClr val="tx1"/>
                </a:solidFill>
                <a:latin typeface="+mn-lt"/>
                <a:ea typeface="+mn-ea"/>
                <a:cs typeface="+mn-cs"/>
              </a:rPr>
              <a:t> Discarding all unsafe food:</a:t>
            </a:r>
          </a:p>
          <a:p>
            <a:pPr lvl="1">
              <a:buFont typeface="Arial" pitchFamily="34" charset="0"/>
              <a:buChar char="•"/>
            </a:pPr>
            <a:r>
              <a:rPr lang="en-AU" sz="1200" kern="1200" dirty="0" smtClean="0">
                <a:solidFill>
                  <a:schemeClr val="tx1"/>
                </a:solidFill>
                <a:latin typeface="+mn-lt"/>
                <a:ea typeface="+mn-ea"/>
                <a:cs typeface="+mn-cs"/>
              </a:rPr>
              <a:t> Food exceeding the 2/4 rule</a:t>
            </a:r>
          </a:p>
          <a:p>
            <a:pPr lvl="1">
              <a:buFont typeface="Arial" pitchFamily="34" charset="0"/>
              <a:buChar char="•"/>
            </a:pPr>
            <a:r>
              <a:rPr lang="en-AU" sz="1200" kern="1200" dirty="0" smtClean="0">
                <a:solidFill>
                  <a:schemeClr val="tx1"/>
                </a:solidFill>
                <a:latin typeface="+mn-lt"/>
                <a:ea typeface="+mn-ea"/>
                <a:cs typeface="+mn-cs"/>
              </a:rPr>
              <a:t> Food beyond its use-by date, or similar (‘best before’ date)</a:t>
            </a:r>
          </a:p>
          <a:p>
            <a:pPr marL="45720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Food where there is evidence – or a belief –cross contamination has occurred</a:t>
            </a:r>
          </a:p>
          <a:p>
            <a:pPr lvl="0">
              <a:buFont typeface="Arial" pitchFamily="34" charset="0"/>
              <a:buChar char="•"/>
            </a:pPr>
            <a:r>
              <a:rPr lang="en-AU" sz="1200" kern="1200" dirty="0" smtClean="0">
                <a:solidFill>
                  <a:schemeClr val="tx1"/>
                </a:solidFill>
                <a:latin typeface="+mn-lt"/>
                <a:ea typeface="+mn-ea"/>
                <a:cs typeface="+mn-cs"/>
              </a:rPr>
              <a:t> Training staff in cleaning techniques and practices</a:t>
            </a:r>
          </a:p>
          <a:p>
            <a:pPr lvl="0">
              <a:buFont typeface="Arial" pitchFamily="34" charset="0"/>
              <a:buChar char="•"/>
            </a:pPr>
            <a:r>
              <a:rPr lang="en-AU" sz="1200" kern="1200" dirty="0" smtClean="0">
                <a:solidFill>
                  <a:schemeClr val="tx1"/>
                </a:solidFill>
                <a:latin typeface="+mn-lt"/>
                <a:ea typeface="+mn-ea"/>
                <a:cs typeface="+mn-cs"/>
              </a:rPr>
              <a:t> Calling in refrigeration mechanic where the freezer units are reading above -15°C, </a:t>
            </a:r>
          </a:p>
          <a:p>
            <a:pPr lvl="0">
              <a:buFont typeface="Arial" pitchFamily="34" charset="0"/>
              <a:buChar char="•"/>
            </a:pPr>
            <a:r>
              <a:rPr lang="en-AU" sz="1200" kern="1200" dirty="0" smtClean="0">
                <a:solidFill>
                  <a:schemeClr val="tx1"/>
                </a:solidFill>
                <a:latin typeface="+mn-lt"/>
                <a:ea typeface="+mn-ea"/>
                <a:cs typeface="+mn-cs"/>
              </a:rPr>
              <a:t> Considering implementing a preventative maintenance schedule through a reputable refrigeration company </a:t>
            </a:r>
          </a:p>
          <a:p>
            <a:pPr lvl="0">
              <a:buFont typeface="Arial" pitchFamily="34" charset="0"/>
              <a:buChar char="•"/>
            </a:pPr>
            <a:r>
              <a:rPr lang="en-AU" sz="1200" kern="1200" dirty="0" smtClean="0">
                <a:solidFill>
                  <a:schemeClr val="tx1"/>
                </a:solidFill>
                <a:latin typeface="+mn-lt"/>
                <a:ea typeface="+mn-ea"/>
                <a:cs typeface="+mn-cs"/>
              </a:rPr>
              <a:t> Revamping stock control and rotation procedures, as required</a:t>
            </a:r>
          </a:p>
          <a:p>
            <a:pPr lvl="0">
              <a:buFont typeface="Arial" pitchFamily="34" charset="0"/>
              <a:buChar char="•"/>
            </a:pPr>
            <a:r>
              <a:rPr lang="en-AU" sz="1200" kern="1200" dirty="0" smtClean="0">
                <a:solidFill>
                  <a:schemeClr val="tx1"/>
                </a:solidFill>
                <a:latin typeface="+mn-lt"/>
                <a:ea typeface="+mn-ea"/>
                <a:cs typeface="+mn-cs"/>
              </a:rPr>
              <a:t> Revamping cleaning procedures, as necessary.</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133</a:t>
            </a:fld>
            <a:endParaRPr lang="en-US" dirty="0"/>
          </a:p>
        </p:txBody>
      </p:sp>
    </p:spTree>
    <p:extLst>
      <p:ext uri="{BB962C8B-B14F-4D97-AF65-F5344CB8AC3E}">
        <p14:creationId xmlns:p14="http://schemas.microsoft.com/office/powerpoint/2010/main" val="934098184"/>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informs trainees in relation to hazards relating to the ‘Thawing of frozen food’, corrective action may include:</a:t>
            </a:r>
          </a:p>
          <a:p>
            <a:pPr lvl="0">
              <a:buFont typeface="Arial" pitchFamily="34" charset="0"/>
              <a:buChar char="•"/>
            </a:pPr>
            <a:r>
              <a:rPr lang="en-AU" sz="1200" kern="1200" dirty="0" smtClean="0">
                <a:solidFill>
                  <a:schemeClr val="tx1"/>
                </a:solidFill>
                <a:latin typeface="+mn-lt"/>
                <a:ea typeface="+mn-ea"/>
                <a:cs typeface="+mn-cs"/>
              </a:rPr>
              <a:t> Training staff to wait until food is fully thawed before cooking – food remaining frozen or partially frozen must not be cooked until it has fully thawed</a:t>
            </a:r>
          </a:p>
          <a:p>
            <a:pPr lvl="0">
              <a:buFont typeface="Arial" pitchFamily="34" charset="0"/>
              <a:buChar char="•"/>
            </a:pPr>
            <a:r>
              <a:rPr lang="en-AU" sz="1200" kern="1200" dirty="0" smtClean="0">
                <a:solidFill>
                  <a:schemeClr val="tx1"/>
                </a:solidFill>
                <a:latin typeface="+mn-lt"/>
                <a:ea typeface="+mn-ea"/>
                <a:cs typeface="+mn-cs"/>
              </a:rPr>
              <a:t> Training staff in proper thawing practices, including the need to plan defrosting needs</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Training staff not to freeze thawed product</a:t>
            </a:r>
          </a:p>
          <a:p>
            <a:pPr lvl="0">
              <a:buFont typeface="Arial" pitchFamily="34" charset="0"/>
              <a:buChar char="•"/>
            </a:pPr>
            <a:r>
              <a:rPr lang="en-AU" sz="1200" kern="1200" dirty="0" smtClean="0">
                <a:solidFill>
                  <a:schemeClr val="tx1"/>
                </a:solidFill>
                <a:latin typeface="+mn-lt"/>
                <a:ea typeface="+mn-ea"/>
                <a:cs typeface="+mn-cs"/>
              </a:rPr>
              <a:t> Discarding all food exceeding the 2/4 rule</a:t>
            </a:r>
          </a:p>
          <a:p>
            <a:pPr lvl="0">
              <a:buFont typeface="Arial" pitchFamily="34" charset="0"/>
              <a:buChar char="•"/>
            </a:pPr>
            <a:r>
              <a:rPr lang="en-AU" sz="1200" kern="1200" dirty="0" smtClean="0">
                <a:solidFill>
                  <a:schemeClr val="tx1"/>
                </a:solidFill>
                <a:latin typeface="+mn-lt"/>
                <a:ea typeface="+mn-ea"/>
                <a:cs typeface="+mn-cs"/>
              </a:rPr>
              <a:t> Throwing out all food that is defrosted in an uncovered state, or which has defrosted in damaged packaging</a:t>
            </a:r>
          </a:p>
          <a:p>
            <a:pPr lvl="0">
              <a:buFont typeface="Arial" pitchFamily="34" charset="0"/>
              <a:buChar char="•"/>
            </a:pPr>
            <a:r>
              <a:rPr lang="en-AU" sz="1200" kern="1200" dirty="0" smtClean="0">
                <a:solidFill>
                  <a:schemeClr val="tx1"/>
                </a:solidFill>
                <a:latin typeface="+mn-lt"/>
                <a:ea typeface="+mn-ea"/>
                <a:cs typeface="+mn-cs"/>
              </a:rPr>
              <a:t> Discarding all food that has been thawed and re-frozen</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134</a:t>
            </a:fld>
            <a:endParaRPr lang="en-US" dirty="0"/>
          </a:p>
        </p:txBody>
      </p:sp>
    </p:spTree>
    <p:extLst>
      <p:ext uri="{BB962C8B-B14F-4D97-AF65-F5344CB8AC3E}">
        <p14:creationId xmlns:p14="http://schemas.microsoft.com/office/powerpoint/2010/main" val="42220870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Trainer states to trainees corrective action in relation to ‘food preparation’ hazards or risks or identified problems may include:</a:t>
            </a:r>
          </a:p>
          <a:p>
            <a:pPr lvl="0">
              <a:buFont typeface="Arial" pitchFamily="34" charset="0"/>
              <a:buChar char="•"/>
            </a:pPr>
            <a:r>
              <a:rPr lang="en-AU" sz="1200" kern="1200" dirty="0" smtClean="0">
                <a:solidFill>
                  <a:schemeClr val="tx1"/>
                </a:solidFill>
                <a:latin typeface="+mn-lt"/>
                <a:ea typeface="+mn-ea"/>
                <a:cs typeface="+mn-cs"/>
              </a:rPr>
              <a:t> Ensuing sufficient time and resources to facilitate compliance with correct food handling practices – this may be providing gloves, extra utensils (knives, chopping boards, bowls), and</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or providing more time (for hand washing, for doing things properly, for cleaning)</a:t>
            </a:r>
          </a:p>
          <a:p>
            <a:pPr lvl="0">
              <a:buFont typeface="Arial" pitchFamily="34" charset="0"/>
              <a:buChar char="•"/>
            </a:pPr>
            <a:r>
              <a:rPr lang="en-AU" sz="1200" kern="1200" dirty="0" smtClean="0">
                <a:solidFill>
                  <a:schemeClr val="tx1"/>
                </a:solidFill>
                <a:latin typeface="+mn-lt"/>
                <a:ea typeface="+mn-ea"/>
                <a:cs typeface="+mn-cs"/>
              </a:rPr>
              <a:t> Placing signage in the workplace to prompt</a:t>
            </a:r>
            <a:r>
              <a:rPr lang="en-AU" sz="1200" kern="1200" baseline="0" dirty="0" smtClean="0">
                <a:solidFill>
                  <a:schemeClr val="tx1"/>
                </a:solidFill>
                <a:latin typeface="+mn-lt"/>
                <a:ea typeface="+mn-ea"/>
                <a:cs typeface="+mn-cs"/>
              </a:rPr>
              <a:t> and </a:t>
            </a:r>
            <a:r>
              <a:rPr lang="en-AU" sz="1200" kern="1200" dirty="0" smtClean="0">
                <a:solidFill>
                  <a:schemeClr val="tx1"/>
                </a:solidFill>
                <a:latin typeface="+mn-lt"/>
                <a:ea typeface="+mn-ea"/>
                <a:cs typeface="+mn-cs"/>
              </a:rPr>
              <a:t>remind staff of correct</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safe food handling practices</a:t>
            </a:r>
          </a:p>
          <a:p>
            <a:pPr lvl="0">
              <a:buFont typeface="Arial" pitchFamily="34" charset="0"/>
              <a:buChar char="•"/>
            </a:pPr>
            <a:r>
              <a:rPr lang="en-AU" sz="1200" kern="1200" dirty="0" smtClean="0">
                <a:solidFill>
                  <a:schemeClr val="tx1"/>
                </a:solidFill>
                <a:latin typeface="+mn-lt"/>
                <a:ea typeface="+mn-ea"/>
                <a:cs typeface="+mn-cs"/>
              </a:rPr>
              <a:t> Revamping preparation procedures and practices so as to minimise time food spends in the Temperature Danger Zone – this may include spending time planning food preparation activities on a daily basis, or food item by food item basis</a:t>
            </a:r>
          </a:p>
          <a:p>
            <a:pPr lvl="0">
              <a:buFont typeface="Arial" pitchFamily="34" charset="0"/>
              <a:buChar char="•"/>
            </a:pPr>
            <a:r>
              <a:rPr lang="en-AU" sz="1200" kern="1200" dirty="0" smtClean="0">
                <a:solidFill>
                  <a:schemeClr val="tx1"/>
                </a:solidFill>
                <a:latin typeface="+mn-lt"/>
                <a:ea typeface="+mn-ea"/>
                <a:cs typeface="+mn-cs"/>
              </a:rPr>
              <a:t> Improving stock control and rotation procedures – if out-of-date items are being identified during this phase</a:t>
            </a:r>
          </a:p>
          <a:p>
            <a:pPr lvl="0">
              <a:buFont typeface="Arial" pitchFamily="34" charset="0"/>
              <a:buChar char="•"/>
            </a:pPr>
            <a:r>
              <a:rPr lang="en-AU" sz="1200" kern="1200" dirty="0" smtClean="0">
                <a:solidFill>
                  <a:schemeClr val="tx1"/>
                </a:solidFill>
                <a:latin typeface="+mn-lt"/>
                <a:ea typeface="+mn-ea"/>
                <a:cs typeface="+mn-cs"/>
              </a:rPr>
              <a:t> Applying the 2/4 rule – to all potentially hazardous foods</a:t>
            </a:r>
          </a:p>
          <a:p>
            <a:pPr lvl="0">
              <a:buFont typeface="Arial" pitchFamily="34" charset="0"/>
              <a:buChar char="•"/>
            </a:pPr>
            <a:r>
              <a:rPr lang="en-AU" sz="1200" kern="1200" dirty="0" smtClean="0">
                <a:solidFill>
                  <a:schemeClr val="tx1"/>
                </a:solidFill>
                <a:latin typeface="+mn-lt"/>
                <a:ea typeface="+mn-ea"/>
                <a:cs typeface="+mn-cs"/>
              </a:rPr>
              <a:t> Changing cleaning cloths regularly – at least hourly; consider using disposable paper towels instead of cloths </a:t>
            </a:r>
          </a:p>
          <a:p>
            <a:pPr lvl="0">
              <a:buFont typeface="Arial" pitchFamily="34" charset="0"/>
              <a:buChar char="•"/>
            </a:pPr>
            <a:r>
              <a:rPr lang="en-AU" sz="1200" kern="1200" dirty="0" smtClean="0">
                <a:solidFill>
                  <a:schemeClr val="tx1"/>
                </a:solidFill>
                <a:latin typeface="+mn-lt"/>
                <a:ea typeface="+mn-ea"/>
                <a:cs typeface="+mn-cs"/>
              </a:rPr>
              <a:t> Monitoring the performance of individual staff members in relation to food preparation and food safety issues, and suggesting improvements to practice where this is deemed necessary; train</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re-train staff as required.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135</a:t>
            </a:fld>
            <a:endParaRPr lang="en-US" dirty="0"/>
          </a:p>
        </p:txBody>
      </p:sp>
    </p:spTree>
    <p:extLst>
      <p:ext uri="{BB962C8B-B14F-4D97-AF65-F5344CB8AC3E}">
        <p14:creationId xmlns:p14="http://schemas.microsoft.com/office/powerpoint/2010/main" val="337505162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tells trainees about possible corrective action in relation to hazards relating to ‘Cooking food’:</a:t>
            </a:r>
          </a:p>
          <a:p>
            <a:pPr lvl="0">
              <a:buFont typeface="Arial" pitchFamily="34" charset="0"/>
              <a:buChar char="•"/>
            </a:pPr>
            <a:r>
              <a:rPr lang="en-AU" sz="1200" kern="1200" dirty="0" smtClean="0">
                <a:solidFill>
                  <a:schemeClr val="tx1"/>
                </a:solidFill>
                <a:latin typeface="+mn-lt"/>
                <a:ea typeface="+mn-ea"/>
                <a:cs typeface="+mn-cs"/>
              </a:rPr>
              <a:t> Ensuring food reaches 75°C or above – check the temperature in the thickest part of the meat, or in the middle of the pot</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container; use a probe thermometer (not guesswork or an infra-red thermometer) to read the temperature</a:t>
            </a:r>
          </a:p>
          <a:p>
            <a:pPr lvl="0">
              <a:buFont typeface="Arial" pitchFamily="34" charset="0"/>
              <a:buChar char="•"/>
            </a:pPr>
            <a:r>
              <a:rPr lang="en-AU" sz="1200" kern="1200" dirty="0" smtClean="0">
                <a:solidFill>
                  <a:schemeClr val="tx1"/>
                </a:solidFill>
                <a:latin typeface="+mn-lt"/>
                <a:ea typeface="+mn-ea"/>
                <a:cs typeface="+mn-cs"/>
              </a:rPr>
              <a:t> Ensuring all soups, stews and sauces reach 75ºC</a:t>
            </a:r>
          </a:p>
          <a:p>
            <a:pPr lvl="0">
              <a:buFont typeface="Arial" pitchFamily="34" charset="0"/>
              <a:buChar char="•"/>
            </a:pPr>
            <a:r>
              <a:rPr lang="en-AU" sz="1200" kern="1200" dirty="0" smtClean="0">
                <a:solidFill>
                  <a:schemeClr val="tx1"/>
                </a:solidFill>
                <a:latin typeface="+mn-lt"/>
                <a:ea typeface="+mn-ea"/>
                <a:cs typeface="+mn-cs"/>
              </a:rPr>
              <a:t> Placing signs in the workplace to remind staff of correct</a:t>
            </a:r>
            <a:r>
              <a:rPr lang="en-AU" sz="1200" kern="1200" baseline="0" dirty="0" smtClean="0">
                <a:solidFill>
                  <a:schemeClr val="tx1"/>
                </a:solidFill>
                <a:latin typeface="+mn-lt"/>
                <a:ea typeface="+mn-ea"/>
                <a:cs typeface="+mn-cs"/>
              </a:rPr>
              <a:t> s</a:t>
            </a:r>
            <a:r>
              <a:rPr lang="en-AU" sz="1200" kern="1200" dirty="0" smtClean="0">
                <a:solidFill>
                  <a:schemeClr val="tx1"/>
                </a:solidFill>
                <a:latin typeface="+mn-lt"/>
                <a:ea typeface="+mn-ea"/>
                <a:cs typeface="+mn-cs"/>
              </a:rPr>
              <a:t>afe cooking practices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136</a:t>
            </a:fld>
            <a:endParaRPr lang="en-US" dirty="0"/>
          </a:p>
        </p:txBody>
      </p:sp>
    </p:spTree>
    <p:extLst>
      <p:ext uri="{BB962C8B-B14F-4D97-AF65-F5344CB8AC3E}">
        <p14:creationId xmlns:p14="http://schemas.microsoft.com/office/powerpoint/2010/main" val="1116348574"/>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Trainer continues to tell trainees about possible corrective action in relation to hazards relating to ‘Cooking food’:</a:t>
            </a:r>
          </a:p>
          <a:p>
            <a:pPr lvl="0">
              <a:buFont typeface="Arial" pitchFamily="34" charset="0"/>
              <a:buChar char="•"/>
            </a:pPr>
            <a:r>
              <a:rPr lang="en-AU" sz="1200" kern="1200" dirty="0" smtClean="0">
                <a:solidFill>
                  <a:schemeClr val="tx1"/>
                </a:solidFill>
                <a:latin typeface="+mn-lt"/>
                <a:ea typeface="+mn-ea"/>
                <a:cs typeface="+mn-cs"/>
              </a:rPr>
              <a:t> Recording the times, temperatures and processes associated with the production of two high risk foods once a month on an ‘Internal Review – Process Temperature’ log or similar to verify correct practices are being adhered to</a:t>
            </a:r>
          </a:p>
          <a:p>
            <a:pPr lvl="0">
              <a:buFont typeface="Arial" pitchFamily="34" charset="0"/>
              <a:buChar char="•"/>
            </a:pPr>
            <a:r>
              <a:rPr lang="en-AU" sz="1200" kern="1200" dirty="0" smtClean="0">
                <a:solidFill>
                  <a:schemeClr val="tx1"/>
                </a:solidFill>
                <a:latin typeface="+mn-lt"/>
                <a:ea typeface="+mn-ea"/>
                <a:cs typeface="+mn-cs"/>
              </a:rPr>
              <a:t> Ensuring tasting of food is done with spoons not then used to stir the dish – to avoid cross contamination</a:t>
            </a:r>
          </a:p>
          <a:p>
            <a:pPr lvl="0">
              <a:buFont typeface="Arial" pitchFamily="34" charset="0"/>
              <a:buChar char="•"/>
            </a:pPr>
            <a:r>
              <a:rPr lang="en-AU" sz="1200" kern="1200" dirty="0" smtClean="0">
                <a:solidFill>
                  <a:schemeClr val="tx1"/>
                </a:solidFill>
                <a:latin typeface="+mn-lt"/>
                <a:ea typeface="+mn-ea"/>
                <a:cs typeface="+mn-cs"/>
              </a:rPr>
              <a:t> Covering food during the cooking process as far as is practicable – to protect from airborne contamination, flies</a:t>
            </a:r>
          </a:p>
          <a:p>
            <a:pPr lvl="0">
              <a:buFont typeface="Arial" pitchFamily="34" charset="0"/>
              <a:buChar char="•"/>
            </a:pPr>
            <a:r>
              <a:rPr lang="en-AU" sz="1200" kern="1200" dirty="0" smtClean="0">
                <a:solidFill>
                  <a:schemeClr val="tx1"/>
                </a:solidFill>
                <a:latin typeface="+mn-lt"/>
                <a:ea typeface="+mn-ea"/>
                <a:cs typeface="+mn-cs"/>
              </a:rPr>
              <a:t> Cleaning and sanitising pots and all items used for cooking – and storing them under clean conditions when they have been cleaned and sanitised</a:t>
            </a:r>
          </a:p>
          <a:p>
            <a:pPr lvl="0">
              <a:buFont typeface="Arial" pitchFamily="34" charset="0"/>
              <a:buChar char="•"/>
            </a:pPr>
            <a:r>
              <a:rPr lang="en-AU" sz="1200" kern="1200" dirty="0" smtClean="0">
                <a:solidFill>
                  <a:schemeClr val="tx1"/>
                </a:solidFill>
                <a:latin typeface="+mn-lt"/>
                <a:ea typeface="+mn-ea"/>
                <a:cs typeface="+mn-cs"/>
              </a:rPr>
              <a:t> Minimising the time food spends in the Temperature Danger Zone – this requires the cooking procedure to quickly attain a temperature above 60°; this may mean food produced using a low temperature</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long slow cooking process cannot use in a commercial setting.</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137</a:t>
            </a:fld>
            <a:endParaRPr lang="en-US" dirty="0"/>
          </a:p>
        </p:txBody>
      </p:sp>
    </p:spTree>
    <p:extLst>
      <p:ext uri="{BB962C8B-B14F-4D97-AF65-F5344CB8AC3E}">
        <p14:creationId xmlns:p14="http://schemas.microsoft.com/office/powerpoint/2010/main" val="3750707700"/>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Trainer informs trainees about possible corrective action in relation to hazards relating to ‘Cooling of hot food’:</a:t>
            </a:r>
          </a:p>
          <a:p>
            <a:pPr lvl="0">
              <a:buFont typeface="Arial" pitchFamily="34" charset="0"/>
              <a:buChar char="•"/>
            </a:pPr>
            <a:r>
              <a:rPr lang="en-AU" sz="1200" kern="1200" dirty="0" smtClean="0">
                <a:solidFill>
                  <a:schemeClr val="tx1"/>
                </a:solidFill>
                <a:latin typeface="+mn-lt"/>
                <a:ea typeface="+mn-ea"/>
                <a:cs typeface="+mn-cs"/>
              </a:rPr>
              <a:t> Ensuring the Two-Step rule for the cooling of potentially hazardous hot foods is being applied</a:t>
            </a:r>
          </a:p>
          <a:p>
            <a:pPr lvl="0">
              <a:buFont typeface="Arial" pitchFamily="34" charset="0"/>
              <a:buChar char="•"/>
            </a:pPr>
            <a:r>
              <a:rPr lang="en-AU" sz="1200" kern="1200" dirty="0" smtClean="0">
                <a:solidFill>
                  <a:schemeClr val="tx1"/>
                </a:solidFill>
                <a:latin typeface="+mn-lt"/>
                <a:ea typeface="+mn-ea"/>
                <a:cs typeface="+mn-cs"/>
              </a:rPr>
              <a:t> Helping hot foods to cool down by placing hot pots</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containers into iced water baths – to speed up the cooling process</a:t>
            </a:r>
          </a:p>
          <a:p>
            <a:pPr lvl="0">
              <a:buFont typeface="Arial" pitchFamily="34" charset="0"/>
              <a:buChar char="•"/>
            </a:pPr>
            <a:r>
              <a:rPr lang="en-AU" sz="1200" kern="1200" dirty="0" smtClean="0">
                <a:solidFill>
                  <a:schemeClr val="tx1"/>
                </a:solidFill>
                <a:latin typeface="+mn-lt"/>
                <a:ea typeface="+mn-ea"/>
                <a:cs typeface="+mn-cs"/>
              </a:rPr>
              <a:t> Stirring wet dishes – to help release heat</a:t>
            </a:r>
          </a:p>
          <a:p>
            <a:pPr lvl="0">
              <a:buFont typeface="Arial" pitchFamily="34" charset="0"/>
              <a:buChar char="•"/>
            </a:pPr>
            <a:r>
              <a:rPr lang="en-AU" sz="1200" kern="1200" dirty="0" smtClean="0">
                <a:solidFill>
                  <a:schemeClr val="tx1"/>
                </a:solidFill>
                <a:latin typeface="+mn-lt"/>
                <a:ea typeface="+mn-ea"/>
                <a:cs typeface="+mn-cs"/>
              </a:rPr>
              <a:t> Covering cooling dishes – to protect against contamination.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138</a:t>
            </a:fld>
            <a:endParaRPr lang="en-US" dirty="0"/>
          </a:p>
        </p:txBody>
      </p:sp>
    </p:spTree>
    <p:extLst>
      <p:ext uri="{BB962C8B-B14F-4D97-AF65-F5344CB8AC3E}">
        <p14:creationId xmlns:p14="http://schemas.microsoft.com/office/powerpoint/2010/main" val="3552968969"/>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Trainer continues to inform trainees about possible corrective action in relation to hazards relating to ‘Cooling of hot food’:</a:t>
            </a:r>
          </a:p>
          <a:p>
            <a:pPr lvl="0">
              <a:buFont typeface="Arial" pitchFamily="34" charset="0"/>
              <a:buChar char="•"/>
            </a:pPr>
            <a:r>
              <a:rPr lang="en-AU" sz="1200" kern="1200" dirty="0" smtClean="0">
                <a:solidFill>
                  <a:schemeClr val="tx1"/>
                </a:solidFill>
                <a:latin typeface="+mn-lt"/>
                <a:ea typeface="+mn-ea"/>
                <a:cs typeface="+mn-cs"/>
              </a:rPr>
              <a:t> Setting clocks, watches or alarms to notify of required timeframes – so cooling foods are not forgotten and left ‘too long’ at room</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emperatures for cooling</a:t>
            </a:r>
          </a:p>
          <a:p>
            <a:pPr lvl="0">
              <a:buFont typeface="Arial" pitchFamily="34" charset="0"/>
              <a:buChar char="•"/>
            </a:pPr>
            <a:r>
              <a:rPr lang="en-AU" sz="1200" kern="1200" dirty="0" smtClean="0">
                <a:solidFill>
                  <a:schemeClr val="tx1"/>
                </a:solidFill>
                <a:latin typeface="+mn-lt"/>
                <a:ea typeface="+mn-ea"/>
                <a:cs typeface="+mn-cs"/>
              </a:rPr>
              <a:t> Making sure new staff at any change of shift are notified in relation to any food that is cooling – so they can take over management of the cooling food</a:t>
            </a:r>
          </a:p>
          <a:p>
            <a:pPr lvl="0">
              <a:buFont typeface="Arial" pitchFamily="34" charset="0"/>
              <a:buChar char="•"/>
            </a:pPr>
            <a:r>
              <a:rPr lang="en-AU" sz="1200" kern="1200" dirty="0" smtClean="0">
                <a:solidFill>
                  <a:schemeClr val="tx1"/>
                </a:solidFill>
                <a:latin typeface="+mn-lt"/>
                <a:ea typeface="+mn-ea"/>
                <a:cs typeface="+mn-cs"/>
              </a:rPr>
              <a:t> Verifying thermometer readings – by calibrating food thermometers at least every six months</a:t>
            </a:r>
          </a:p>
          <a:p>
            <a:pPr lvl="0">
              <a:buFont typeface="Arial" pitchFamily="34" charset="0"/>
              <a:buChar char="•"/>
            </a:pPr>
            <a:r>
              <a:rPr lang="en-AU" sz="1200" kern="1200" dirty="0" smtClean="0">
                <a:solidFill>
                  <a:schemeClr val="tx1"/>
                </a:solidFill>
                <a:latin typeface="+mn-lt"/>
                <a:ea typeface="+mn-ea"/>
                <a:cs typeface="+mn-cs"/>
              </a:rPr>
              <a:t> Training staff as required in cooling procedures</a:t>
            </a:r>
          </a:p>
          <a:p>
            <a:pPr lvl="0">
              <a:buFont typeface="Arial" pitchFamily="34" charset="0"/>
              <a:buChar char="•"/>
            </a:pPr>
            <a:r>
              <a:rPr lang="en-AU" sz="1200" kern="1200" dirty="0" smtClean="0">
                <a:solidFill>
                  <a:schemeClr val="tx1"/>
                </a:solidFill>
                <a:latin typeface="+mn-lt"/>
                <a:ea typeface="+mn-ea"/>
                <a:cs typeface="+mn-cs"/>
              </a:rPr>
              <a:t> Placing signs around the workplace to remind staff of what is required in relation to the cooling of food.</a:t>
            </a:r>
          </a:p>
          <a:p>
            <a:pPr lvl="0">
              <a:buFont typeface="Arial" pitchFamily="34" charset="0"/>
              <a:buNone/>
            </a:pPr>
            <a:endParaRPr lang="en-AU" sz="1200" kern="1200" dirty="0" smtClean="0">
              <a:solidFill>
                <a:schemeClr val="tx1"/>
              </a:solidFill>
              <a:latin typeface="+mn-lt"/>
              <a:ea typeface="+mn-ea"/>
              <a:cs typeface="+mn-cs"/>
            </a:endParaRPr>
          </a:p>
          <a:p>
            <a:pPr lvl="0">
              <a:buFont typeface="Arial" pitchFamily="34" charset="0"/>
              <a:buNone/>
            </a:pPr>
            <a:r>
              <a:rPr lang="en-AU" sz="1200" b="1" kern="1200" dirty="0" smtClean="0">
                <a:solidFill>
                  <a:schemeClr val="tx1"/>
                </a:solidFill>
                <a:latin typeface="+mn-lt"/>
                <a:ea typeface="+mn-ea"/>
                <a:cs typeface="+mn-cs"/>
              </a:rPr>
              <a:t>Class Activity – General Discussion</a:t>
            </a:r>
          </a:p>
          <a:p>
            <a:pPr lvl="0">
              <a:buFont typeface="Arial" pitchFamily="34" charset="0"/>
              <a:buNone/>
            </a:pPr>
            <a:r>
              <a:rPr lang="en-AU" sz="1200" b="0" kern="1200" dirty="0" smtClean="0">
                <a:solidFill>
                  <a:schemeClr val="tx1"/>
                </a:solidFill>
                <a:latin typeface="+mn-lt"/>
                <a:ea typeface="+mn-ea"/>
                <a:cs typeface="+mn-cs"/>
              </a:rPr>
              <a:t>Trainer asks trainees</a:t>
            </a:r>
            <a:r>
              <a:rPr lang="en-AU" sz="1200" b="0" kern="1200" baseline="0" dirty="0" smtClean="0">
                <a:solidFill>
                  <a:schemeClr val="tx1"/>
                </a:solidFill>
                <a:latin typeface="+mn-lt"/>
                <a:ea typeface="+mn-ea"/>
                <a:cs typeface="+mn-cs"/>
              </a:rPr>
              <a:t> to identify circumstances under which the above corrective action may need to be implemented.</a:t>
            </a:r>
            <a:endParaRPr lang="en-AU" sz="1200" b="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139</a:t>
            </a:fld>
            <a:endParaRPr lang="en-US" dirty="0"/>
          </a:p>
        </p:txBody>
      </p:sp>
    </p:spTree>
    <p:extLst>
      <p:ext uri="{BB962C8B-B14F-4D97-AF65-F5344CB8AC3E}">
        <p14:creationId xmlns:p14="http://schemas.microsoft.com/office/powerpoint/2010/main" val="3996927534"/>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Trainer instructs trainees about possible corrective action that may need to be taken in relation to hazards relating to ‘Storing and holding of hot food’:</a:t>
            </a:r>
          </a:p>
          <a:p>
            <a:pPr lvl="0">
              <a:buFont typeface="Arial" pitchFamily="34" charset="0"/>
              <a:buChar char="•"/>
            </a:pPr>
            <a:r>
              <a:rPr lang="en-AU" sz="1200" kern="1200" dirty="0" smtClean="0">
                <a:solidFill>
                  <a:schemeClr val="tx1"/>
                </a:solidFill>
                <a:latin typeface="+mn-lt"/>
                <a:ea typeface="+mn-ea"/>
                <a:cs typeface="+mn-cs"/>
              </a:rPr>
              <a:t> Training staff as required – in relation to practices such as food handling, heating of food, food display, stock rotation and cleaning protocols</a:t>
            </a:r>
          </a:p>
          <a:p>
            <a:pPr lvl="0">
              <a:buFont typeface="Arial" pitchFamily="34" charset="0"/>
              <a:buChar char="•"/>
            </a:pPr>
            <a:r>
              <a:rPr lang="en-AU" sz="1200" kern="1200" dirty="0" smtClean="0">
                <a:solidFill>
                  <a:schemeClr val="tx1"/>
                </a:solidFill>
                <a:latin typeface="+mn-lt"/>
                <a:ea typeface="+mn-ea"/>
                <a:cs typeface="+mn-cs"/>
              </a:rPr>
              <a:t> Revamping hot holding procedures – to ensure food stays at or above 60°C</a:t>
            </a:r>
          </a:p>
          <a:p>
            <a:pPr lvl="0">
              <a:buFont typeface="Arial" pitchFamily="34" charset="0"/>
              <a:buChar char="•"/>
            </a:pPr>
            <a:r>
              <a:rPr lang="en-AU" sz="1200" kern="1200" dirty="0" smtClean="0">
                <a:solidFill>
                  <a:schemeClr val="tx1"/>
                </a:solidFill>
                <a:latin typeface="+mn-lt"/>
                <a:ea typeface="+mn-ea"/>
                <a:cs typeface="+mn-cs"/>
              </a:rPr>
              <a:t> Checking operational efficiency and accuracy of all hot holding equipment – and providing professional service and maintenance to units as required</a:t>
            </a:r>
          </a:p>
          <a:p>
            <a:pPr lvl="0">
              <a:buFont typeface="Arial" pitchFamily="34" charset="0"/>
              <a:buChar char="•"/>
            </a:pPr>
            <a:r>
              <a:rPr lang="en-AU" sz="1200" kern="1200" dirty="0" smtClean="0">
                <a:solidFill>
                  <a:schemeClr val="tx1"/>
                </a:solidFill>
                <a:latin typeface="+mn-lt"/>
                <a:ea typeface="+mn-ea"/>
                <a:cs typeface="+mn-cs"/>
              </a:rPr>
              <a:t> Pre-heating all food properly (to 75°C) prior to placing it into hot holding devices – pre-heated food must be placed into pre-heated units.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140</a:t>
            </a:fld>
            <a:endParaRPr lang="en-US" dirty="0"/>
          </a:p>
        </p:txBody>
      </p:sp>
    </p:spTree>
    <p:extLst>
      <p:ext uri="{BB962C8B-B14F-4D97-AF65-F5344CB8AC3E}">
        <p14:creationId xmlns:p14="http://schemas.microsoft.com/office/powerpoint/2010/main" val="3402899638"/>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Trainer continues to instruct trainees about possible corrective action that may need to be taken in relation to hazards relating to ‘Storing and holding of hot food’:</a:t>
            </a:r>
          </a:p>
          <a:p>
            <a:pPr lvl="0">
              <a:buFont typeface="Arial" pitchFamily="34" charset="0"/>
              <a:buChar char="•"/>
            </a:pPr>
            <a:r>
              <a:rPr lang="en-AU" sz="1200" kern="1200" dirty="0" smtClean="0">
                <a:solidFill>
                  <a:schemeClr val="tx1"/>
                </a:solidFill>
                <a:latin typeface="+mn-lt"/>
                <a:ea typeface="+mn-ea"/>
                <a:cs typeface="+mn-cs"/>
              </a:rPr>
              <a:t> Ensuring temperatures of all hot held food are being taken as required using a properly calibrated thermometer – to verify correct holding temperatures are being achieved</a:t>
            </a:r>
          </a:p>
          <a:p>
            <a:pPr lvl="0">
              <a:buFont typeface="Arial" pitchFamily="34" charset="0"/>
              <a:buChar char="•"/>
            </a:pPr>
            <a:r>
              <a:rPr lang="en-AU" sz="1200" kern="1200" dirty="0" smtClean="0">
                <a:solidFill>
                  <a:schemeClr val="tx1"/>
                </a:solidFill>
                <a:latin typeface="+mn-lt"/>
                <a:ea typeface="+mn-ea"/>
                <a:cs typeface="+mn-cs"/>
              </a:rPr>
              <a:t> Revising display protocols if tags, price signs, product descriptions are actually touching food</a:t>
            </a:r>
          </a:p>
          <a:p>
            <a:pPr lvl="0">
              <a:buFont typeface="Arial" pitchFamily="34" charset="0"/>
              <a:buChar char="•"/>
            </a:pPr>
            <a:r>
              <a:rPr lang="en-AU" sz="1200" kern="1200" dirty="0" smtClean="0">
                <a:solidFill>
                  <a:schemeClr val="tx1"/>
                </a:solidFill>
                <a:latin typeface="+mn-lt"/>
                <a:ea typeface="+mn-ea"/>
                <a:cs typeface="+mn-cs"/>
              </a:rPr>
              <a:t> Revamping times when bain maries and pie warmers are turned on – turning them on earlier to allow sufficient time for them to get to 60°C or above</a:t>
            </a:r>
          </a:p>
          <a:p>
            <a:pPr lvl="0">
              <a:buFont typeface="Arial" pitchFamily="34" charset="0"/>
              <a:buChar char="•"/>
            </a:pPr>
            <a:r>
              <a:rPr lang="en-AU" sz="1200" kern="1200" dirty="0" smtClean="0">
                <a:solidFill>
                  <a:schemeClr val="tx1"/>
                </a:solidFill>
                <a:latin typeface="+mn-lt"/>
                <a:ea typeface="+mn-ea"/>
                <a:cs typeface="+mn-cs"/>
              </a:rPr>
              <a:t> Operating bain maries and</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or pie warmers at higher settings so as temperature of </a:t>
            </a:r>
            <a:r>
              <a:rPr lang="en-AU" sz="1200" i="1" kern="1200" dirty="0" smtClean="0">
                <a:solidFill>
                  <a:schemeClr val="tx1"/>
                </a:solidFill>
                <a:latin typeface="+mn-lt"/>
                <a:ea typeface="+mn-ea"/>
                <a:cs typeface="+mn-cs"/>
              </a:rPr>
              <a:t>food</a:t>
            </a:r>
            <a:r>
              <a:rPr lang="en-AU" sz="1200" kern="1200" dirty="0" smtClean="0">
                <a:solidFill>
                  <a:schemeClr val="tx1"/>
                </a:solidFill>
                <a:latin typeface="+mn-lt"/>
                <a:ea typeface="+mn-ea"/>
                <a:cs typeface="+mn-cs"/>
              </a:rPr>
              <a:t> reaches 60°C.</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141</a:t>
            </a:fld>
            <a:endParaRPr lang="en-US" dirty="0"/>
          </a:p>
        </p:txBody>
      </p:sp>
    </p:spTree>
    <p:extLst>
      <p:ext uri="{BB962C8B-B14F-4D97-AF65-F5344CB8AC3E}">
        <p14:creationId xmlns:p14="http://schemas.microsoft.com/office/powerpoint/2010/main" val="2951158936"/>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Trainer informs trainees about possible corrective action that may need to be taken in relation to hazards relating to ‘Storing and holding of cold food’:</a:t>
            </a:r>
          </a:p>
          <a:p>
            <a:pPr lvl="0">
              <a:buFont typeface="Arial" pitchFamily="34" charset="0"/>
              <a:buChar char="•"/>
            </a:pPr>
            <a:r>
              <a:rPr lang="en-AU" sz="1200" kern="1200" dirty="0" smtClean="0">
                <a:solidFill>
                  <a:schemeClr val="tx1"/>
                </a:solidFill>
                <a:latin typeface="+mn-lt"/>
                <a:ea typeface="+mn-ea"/>
                <a:cs typeface="+mn-cs"/>
              </a:rPr>
              <a:t> Training staff as required – in (as appropriate) food handling, cooling of hot food, display of food, stock rotation and cleaning protocols</a:t>
            </a:r>
          </a:p>
          <a:p>
            <a:pPr lvl="0">
              <a:buFont typeface="Arial" pitchFamily="34" charset="0"/>
              <a:buChar char="•"/>
            </a:pPr>
            <a:r>
              <a:rPr lang="en-AU" sz="1200" kern="1200" dirty="0" smtClean="0">
                <a:solidFill>
                  <a:schemeClr val="tx1"/>
                </a:solidFill>
                <a:latin typeface="+mn-lt"/>
                <a:ea typeface="+mn-ea"/>
                <a:cs typeface="+mn-cs"/>
              </a:rPr>
              <a:t> Revamping cold holding procedures – to ensure food stays at or below 5°C</a:t>
            </a:r>
          </a:p>
          <a:p>
            <a:pPr lvl="0">
              <a:buFont typeface="Arial" pitchFamily="34" charset="0"/>
              <a:buChar char="•"/>
            </a:pPr>
            <a:r>
              <a:rPr lang="en-AU" sz="1200" kern="1200" dirty="0" smtClean="0">
                <a:solidFill>
                  <a:schemeClr val="tx1"/>
                </a:solidFill>
                <a:latin typeface="+mn-lt"/>
                <a:ea typeface="+mn-ea"/>
                <a:cs typeface="+mn-cs"/>
              </a:rPr>
              <a:t> Checking operational efficiency and accuracy of all cold holding equipment and providing required regular service and maintenance</a:t>
            </a:r>
          </a:p>
          <a:p>
            <a:pPr lvl="0">
              <a:buFont typeface="Arial" pitchFamily="34" charset="0"/>
              <a:buChar char="•"/>
            </a:pPr>
            <a:r>
              <a:rPr lang="en-AU" sz="1200" kern="1200" dirty="0" smtClean="0">
                <a:solidFill>
                  <a:schemeClr val="tx1"/>
                </a:solidFill>
                <a:latin typeface="+mn-lt"/>
                <a:ea typeface="+mn-ea"/>
                <a:cs typeface="+mn-cs"/>
              </a:rPr>
              <a:t> Ensuring all food going into cold display units is already at or below 5°C – pre-chill units before loading them with cold food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142</a:t>
            </a:fld>
            <a:endParaRPr lang="en-US" dirty="0"/>
          </a:p>
        </p:txBody>
      </p:sp>
    </p:spTree>
    <p:extLst>
      <p:ext uri="{BB962C8B-B14F-4D97-AF65-F5344CB8AC3E}">
        <p14:creationId xmlns:p14="http://schemas.microsoft.com/office/powerpoint/2010/main" val="381291962"/>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Trainer continues to inform trainees about possible corrective action that may need to be taken in relation to hazards relating to ‘Storing and holding of cold  food’:</a:t>
            </a:r>
          </a:p>
          <a:p>
            <a:pPr lvl="0">
              <a:buFont typeface="Arial" pitchFamily="34" charset="0"/>
              <a:buChar char="•"/>
            </a:pPr>
            <a:r>
              <a:rPr lang="en-AU" sz="1200" kern="1200" dirty="0" smtClean="0">
                <a:solidFill>
                  <a:schemeClr val="tx1"/>
                </a:solidFill>
                <a:latin typeface="+mn-lt"/>
                <a:ea typeface="+mn-ea"/>
                <a:cs typeface="+mn-cs"/>
              </a:rPr>
              <a:t> Ensuring temperatures of all cold held food are being taken as required using a properly calibrated thermometer</a:t>
            </a:r>
          </a:p>
          <a:p>
            <a:pPr lvl="0">
              <a:buFont typeface="Arial" pitchFamily="34" charset="0"/>
              <a:buChar char="•"/>
            </a:pPr>
            <a:r>
              <a:rPr lang="en-AU" sz="1200" kern="1200" dirty="0" smtClean="0">
                <a:solidFill>
                  <a:schemeClr val="tx1"/>
                </a:solidFill>
                <a:latin typeface="+mn-lt"/>
                <a:ea typeface="+mn-ea"/>
                <a:cs typeface="+mn-cs"/>
              </a:rPr>
              <a:t> Revising display protocols if tags, price signs, product descriptions are actually touching food</a:t>
            </a:r>
          </a:p>
          <a:p>
            <a:pPr lvl="0">
              <a:buFont typeface="Arial" pitchFamily="34" charset="0"/>
              <a:buChar char="•"/>
            </a:pPr>
            <a:r>
              <a:rPr lang="en-AU" sz="1200" kern="1200" dirty="0" smtClean="0">
                <a:solidFill>
                  <a:schemeClr val="tx1"/>
                </a:solidFill>
                <a:latin typeface="+mn-lt"/>
                <a:ea typeface="+mn-ea"/>
                <a:cs typeface="+mn-cs"/>
              </a:rPr>
              <a:t> Revamping times when cold display are turned on – turning them on earlier to allow sufficient time for them to get to 5°C or below </a:t>
            </a:r>
          </a:p>
          <a:p>
            <a:pPr lvl="0">
              <a:buFont typeface="Arial" pitchFamily="34" charset="0"/>
              <a:buChar char="•"/>
            </a:pPr>
            <a:r>
              <a:rPr lang="en-AU" sz="1200" kern="1200" dirty="0" smtClean="0">
                <a:solidFill>
                  <a:schemeClr val="tx1"/>
                </a:solidFill>
                <a:latin typeface="+mn-lt"/>
                <a:ea typeface="+mn-ea"/>
                <a:cs typeface="+mn-cs"/>
              </a:rPr>
              <a:t> Operating units at lower settings so as </a:t>
            </a:r>
            <a:r>
              <a:rPr lang="en-AU" sz="1200" i="1" kern="1200" dirty="0" smtClean="0">
                <a:solidFill>
                  <a:schemeClr val="tx1"/>
                </a:solidFill>
                <a:latin typeface="+mn-lt"/>
                <a:ea typeface="+mn-ea"/>
                <a:cs typeface="+mn-cs"/>
              </a:rPr>
              <a:t>food</a:t>
            </a:r>
            <a:r>
              <a:rPr lang="en-AU" sz="1200" kern="1200" dirty="0" smtClean="0">
                <a:solidFill>
                  <a:schemeClr val="tx1"/>
                </a:solidFill>
                <a:latin typeface="+mn-lt"/>
                <a:ea typeface="+mn-ea"/>
                <a:cs typeface="+mn-cs"/>
              </a:rPr>
              <a:t> reaches 5°C or less.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lvl="0">
              <a:buFont typeface="Arial" pitchFamily="34" charset="0"/>
              <a:buNone/>
            </a:pPr>
            <a:r>
              <a:rPr lang="en-AU" sz="1200" b="1" kern="1200" dirty="0" smtClean="0">
                <a:solidFill>
                  <a:schemeClr val="tx1"/>
                </a:solidFill>
                <a:latin typeface="+mn-lt"/>
                <a:ea typeface="+mn-ea"/>
                <a:cs typeface="+mn-cs"/>
              </a:rPr>
              <a:t>Class Activity – General Discussion</a:t>
            </a:r>
          </a:p>
          <a:p>
            <a:pPr lvl="0">
              <a:buFont typeface="Arial" pitchFamily="34" charset="0"/>
              <a:buNone/>
            </a:pPr>
            <a:r>
              <a:rPr lang="en-AU" sz="1200" b="0" kern="1200" dirty="0" smtClean="0">
                <a:solidFill>
                  <a:schemeClr val="tx1"/>
                </a:solidFill>
                <a:latin typeface="+mn-lt"/>
                <a:ea typeface="+mn-ea"/>
                <a:cs typeface="+mn-cs"/>
              </a:rPr>
              <a:t>Trainer asks trainees</a:t>
            </a:r>
            <a:r>
              <a:rPr lang="en-AU" sz="1200" b="0" kern="1200" baseline="0" dirty="0" smtClean="0">
                <a:solidFill>
                  <a:schemeClr val="tx1"/>
                </a:solidFill>
                <a:latin typeface="+mn-lt"/>
                <a:ea typeface="+mn-ea"/>
                <a:cs typeface="+mn-cs"/>
              </a:rPr>
              <a:t> to identify circumstances under which the above corrective action may need to be implemented.</a:t>
            </a:r>
            <a:endParaRPr lang="en-AU" sz="1200" b="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143</a:t>
            </a:fld>
            <a:endParaRPr lang="en-US" dirty="0"/>
          </a:p>
        </p:txBody>
      </p:sp>
    </p:spTree>
    <p:extLst>
      <p:ext uri="{BB962C8B-B14F-4D97-AF65-F5344CB8AC3E}">
        <p14:creationId xmlns:p14="http://schemas.microsoft.com/office/powerpoint/2010/main" val="181014563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provides advice to trainees regarding possible</a:t>
            </a:r>
            <a:r>
              <a:rPr lang="en-AU" sz="1200" kern="1200" baseline="0" dirty="0" smtClean="0">
                <a:solidFill>
                  <a:schemeClr val="tx1"/>
                </a:solidFill>
                <a:latin typeface="+mn-lt"/>
                <a:ea typeface="+mn-ea"/>
                <a:cs typeface="+mn-cs"/>
              </a:rPr>
              <a:t> corrective action to address hazards and risks </a:t>
            </a:r>
            <a:r>
              <a:rPr lang="en-AU" sz="1200" kern="1200" dirty="0" smtClean="0">
                <a:solidFill>
                  <a:schemeClr val="tx1"/>
                </a:solidFill>
                <a:latin typeface="+mn-lt"/>
                <a:ea typeface="+mn-ea"/>
                <a:cs typeface="+mn-cs"/>
              </a:rPr>
              <a:t>relating to ‘Re-heating of food’:</a:t>
            </a:r>
          </a:p>
          <a:p>
            <a:pPr lvl="0">
              <a:buFont typeface="Arial" pitchFamily="34" charset="0"/>
              <a:buChar char="•"/>
            </a:pPr>
            <a:r>
              <a:rPr lang="en-AU" sz="1200" kern="1200" dirty="0" smtClean="0">
                <a:solidFill>
                  <a:schemeClr val="tx1"/>
                </a:solidFill>
                <a:latin typeface="+mn-lt"/>
                <a:ea typeface="+mn-ea"/>
                <a:cs typeface="+mn-cs"/>
              </a:rPr>
              <a:t> Revamping re-heating procedures and practices: </a:t>
            </a:r>
          </a:p>
          <a:p>
            <a:pPr lvl="1">
              <a:buFont typeface="Arial" pitchFamily="34" charset="0"/>
              <a:buChar char="•"/>
            </a:pPr>
            <a:r>
              <a:rPr lang="en-AU" sz="1200" kern="1200" dirty="0" smtClean="0">
                <a:solidFill>
                  <a:schemeClr val="tx1"/>
                </a:solidFill>
                <a:latin typeface="+mn-lt"/>
                <a:ea typeface="+mn-ea"/>
                <a:cs typeface="+mn-cs"/>
              </a:rPr>
              <a:t> To ensure 75°C or higher for at least 2 minutes is attained, and that the food display holding protocols ensure 60°C or higher is maintained</a:t>
            </a:r>
          </a:p>
          <a:p>
            <a:pPr lvl="1">
              <a:buFont typeface="Arial" pitchFamily="34" charset="0"/>
              <a:buChar char="•"/>
            </a:pPr>
            <a:r>
              <a:rPr lang="en-AU" sz="1200" kern="1200" dirty="0" smtClean="0">
                <a:solidFill>
                  <a:schemeClr val="tx1"/>
                </a:solidFill>
                <a:latin typeface="+mn-lt"/>
                <a:ea typeface="+mn-ea"/>
                <a:cs typeface="+mn-cs"/>
              </a:rPr>
              <a:t> To re-heat quicker and</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or in smaller quantities</a:t>
            </a:r>
          </a:p>
          <a:p>
            <a:pPr lvl="0">
              <a:buFont typeface="Arial" pitchFamily="34" charset="0"/>
              <a:buChar char="•"/>
            </a:pPr>
            <a:r>
              <a:rPr lang="en-AU" sz="1200" kern="1200" dirty="0" smtClean="0">
                <a:solidFill>
                  <a:schemeClr val="tx1"/>
                </a:solidFill>
                <a:latin typeface="+mn-lt"/>
                <a:ea typeface="+mn-ea"/>
                <a:cs typeface="+mn-cs"/>
              </a:rPr>
              <a:t> Throwing out re-heated food failing to reach a core temperature of 75°C or higher</a:t>
            </a:r>
          </a:p>
          <a:p>
            <a:pPr lvl="0">
              <a:buFont typeface="Arial" pitchFamily="34" charset="0"/>
              <a:buChar char="•"/>
            </a:pPr>
            <a:r>
              <a:rPr lang="en-AU" sz="1200" kern="1200" dirty="0" smtClean="0">
                <a:solidFill>
                  <a:schemeClr val="tx1"/>
                </a:solidFill>
                <a:latin typeface="+mn-lt"/>
                <a:ea typeface="+mn-ea"/>
                <a:cs typeface="+mn-cs"/>
              </a:rPr>
              <a:t> Training staff – as required.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144</a:t>
            </a:fld>
            <a:endParaRPr lang="en-US" dirty="0"/>
          </a:p>
        </p:txBody>
      </p:sp>
    </p:spTree>
    <p:extLst>
      <p:ext uri="{BB962C8B-B14F-4D97-AF65-F5344CB8AC3E}">
        <p14:creationId xmlns:p14="http://schemas.microsoft.com/office/powerpoint/2010/main" val="2345674325"/>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advises trainees about possible corrective action required in relation to hazards relating to the ‘Service of food’:</a:t>
            </a:r>
          </a:p>
          <a:p>
            <a:pPr lvl="0">
              <a:buFont typeface="Arial" pitchFamily="34" charset="0"/>
              <a:buChar char="•"/>
            </a:pPr>
            <a:r>
              <a:rPr lang="en-AU" sz="1200" kern="1200" dirty="0" smtClean="0">
                <a:solidFill>
                  <a:schemeClr val="tx1"/>
                </a:solidFill>
                <a:latin typeface="+mn-lt"/>
                <a:ea typeface="+mn-ea"/>
                <a:cs typeface="+mn-cs"/>
              </a:rPr>
              <a:t> Discarding all food exceeding the 2/4 rule</a:t>
            </a:r>
          </a:p>
          <a:p>
            <a:pPr lvl="0">
              <a:buFont typeface="Arial" pitchFamily="34" charset="0"/>
              <a:buChar char="•"/>
            </a:pPr>
            <a:r>
              <a:rPr lang="en-AU" sz="1200" kern="1200" dirty="0" smtClean="0">
                <a:solidFill>
                  <a:schemeClr val="tx1"/>
                </a:solidFill>
                <a:latin typeface="+mn-lt"/>
                <a:ea typeface="+mn-ea"/>
                <a:cs typeface="+mn-cs"/>
              </a:rPr>
              <a:t> Training staff in correct food handling and serving practices</a:t>
            </a:r>
          </a:p>
          <a:p>
            <a:pPr lvl="0">
              <a:buFont typeface="Arial" pitchFamily="34" charset="0"/>
              <a:buChar char="•"/>
            </a:pPr>
            <a:r>
              <a:rPr lang="en-AU" sz="1200" kern="1200" dirty="0" smtClean="0">
                <a:solidFill>
                  <a:schemeClr val="tx1"/>
                </a:solidFill>
                <a:latin typeface="+mn-lt"/>
                <a:ea typeface="+mn-ea"/>
                <a:cs typeface="+mn-cs"/>
              </a:rPr>
              <a:t> Providing sufficient equipment and utensils to enable separate (and multiple) utensils for each food item</a:t>
            </a:r>
          </a:p>
          <a:p>
            <a:pPr lvl="0">
              <a:buFont typeface="Arial" pitchFamily="34" charset="0"/>
              <a:buChar char="•"/>
            </a:pPr>
            <a:r>
              <a:rPr lang="en-AU" sz="1200" kern="1200" dirty="0" smtClean="0">
                <a:solidFill>
                  <a:schemeClr val="tx1"/>
                </a:solidFill>
                <a:latin typeface="+mn-lt"/>
                <a:ea typeface="+mn-ea"/>
                <a:cs typeface="+mn-cs"/>
              </a:rPr>
              <a:t> Maintaining food holding equipment so the required holding temperatures for hot and cold food can be obtained</a:t>
            </a:r>
          </a:p>
          <a:p>
            <a:pPr lvl="0">
              <a:buFont typeface="Arial" pitchFamily="34" charset="0"/>
              <a:buChar char="•"/>
            </a:pPr>
            <a:r>
              <a:rPr lang="en-AU" sz="1200" kern="1200" dirty="0" smtClean="0">
                <a:solidFill>
                  <a:schemeClr val="tx1"/>
                </a:solidFill>
                <a:latin typeface="+mn-lt"/>
                <a:ea typeface="+mn-ea"/>
                <a:cs typeface="+mn-cs"/>
              </a:rPr>
              <a:t> Altering the settings on units so required display or holding temperatures can be achieved.</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145</a:t>
            </a:fld>
            <a:endParaRPr lang="en-US" dirty="0"/>
          </a:p>
        </p:txBody>
      </p:sp>
    </p:spTree>
    <p:extLst>
      <p:ext uri="{BB962C8B-B14F-4D97-AF65-F5344CB8AC3E}">
        <p14:creationId xmlns:p14="http://schemas.microsoft.com/office/powerpoint/2010/main" val="759515738"/>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gives</a:t>
            </a:r>
            <a:r>
              <a:rPr lang="en-AU" sz="1200" kern="1200" baseline="0" dirty="0" smtClean="0">
                <a:solidFill>
                  <a:schemeClr val="tx1"/>
                </a:solidFill>
                <a:latin typeface="+mn-lt"/>
                <a:ea typeface="+mn-ea"/>
                <a:cs typeface="+mn-cs"/>
              </a:rPr>
              <a:t> trainees direction regarding possible corrective action that may need to be taken regarding </a:t>
            </a:r>
            <a:r>
              <a:rPr lang="en-AU" sz="1200" kern="1200" dirty="0" smtClean="0">
                <a:solidFill>
                  <a:schemeClr val="tx1"/>
                </a:solidFill>
                <a:latin typeface="+mn-lt"/>
                <a:ea typeface="+mn-ea"/>
                <a:cs typeface="+mn-cs"/>
              </a:rPr>
              <a:t>the ‘Self-Service of food’ by customers:</a:t>
            </a:r>
          </a:p>
          <a:p>
            <a:pPr lvl="0">
              <a:buFont typeface="Arial" pitchFamily="34" charset="0"/>
              <a:buChar char="•"/>
            </a:pPr>
            <a:r>
              <a:rPr lang="en-AU" sz="1200" kern="1200" dirty="0" smtClean="0">
                <a:solidFill>
                  <a:schemeClr val="tx1"/>
                </a:solidFill>
                <a:latin typeface="+mn-lt"/>
                <a:ea typeface="+mn-ea"/>
                <a:cs typeface="+mn-cs"/>
              </a:rPr>
              <a:t> Preparing and placing food handling signage and advice near the food – advising customers of what to do, and what not to do in order to enhance food safety</a:t>
            </a:r>
          </a:p>
          <a:p>
            <a:pPr lvl="0">
              <a:buFont typeface="Arial" pitchFamily="34" charset="0"/>
              <a:buChar char="•"/>
            </a:pPr>
            <a:r>
              <a:rPr lang="en-AU" sz="1200" kern="1200" dirty="0" smtClean="0">
                <a:solidFill>
                  <a:schemeClr val="tx1"/>
                </a:solidFill>
                <a:latin typeface="+mn-lt"/>
                <a:ea typeface="+mn-ea"/>
                <a:cs typeface="+mn-cs"/>
              </a:rPr>
              <a:t> Considering alternative serving options – if the safety or integrity of food cannot be guaranteed where self-service is used</a:t>
            </a:r>
          </a:p>
          <a:p>
            <a:pPr lvl="0">
              <a:buFont typeface="Arial" pitchFamily="34" charset="0"/>
              <a:buChar char="•"/>
            </a:pPr>
            <a:r>
              <a:rPr lang="en-AU" sz="1200" kern="1200" dirty="0" smtClean="0">
                <a:solidFill>
                  <a:schemeClr val="tx1"/>
                </a:solidFill>
                <a:latin typeface="+mn-lt"/>
                <a:ea typeface="+mn-ea"/>
                <a:cs typeface="+mn-cs"/>
              </a:rPr>
              <a:t> Allocating additional staff to observe customer food handling practices – and help</a:t>
            </a:r>
            <a:r>
              <a:rPr lang="en-AU" sz="1200" kern="1200" baseline="0" dirty="0" smtClean="0">
                <a:solidFill>
                  <a:schemeClr val="tx1"/>
                </a:solidFill>
                <a:latin typeface="+mn-lt"/>
                <a:ea typeface="+mn-ea"/>
                <a:cs typeface="+mn-cs"/>
              </a:rPr>
              <a:t> and </a:t>
            </a:r>
            <a:r>
              <a:rPr lang="en-AU" sz="1200" kern="1200" dirty="0" smtClean="0">
                <a:solidFill>
                  <a:schemeClr val="tx1"/>
                </a:solidFill>
                <a:latin typeface="+mn-lt"/>
                <a:ea typeface="+mn-ea"/>
                <a:cs typeface="+mn-cs"/>
              </a:rPr>
              <a:t>take action where required</a:t>
            </a:r>
          </a:p>
          <a:p>
            <a:pPr lvl="0">
              <a:buFont typeface="Arial" pitchFamily="34" charset="0"/>
              <a:buChar char="•"/>
            </a:pPr>
            <a:r>
              <a:rPr lang="en-AU" sz="1200" kern="1200" dirty="0" smtClean="0">
                <a:solidFill>
                  <a:schemeClr val="tx1"/>
                </a:solidFill>
                <a:latin typeface="+mn-lt"/>
                <a:ea typeface="+mn-ea"/>
                <a:cs typeface="+mn-cs"/>
              </a:rPr>
              <a:t> Discarding all food exceeding the 2/4 rule</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146</a:t>
            </a:fld>
            <a:endParaRPr lang="en-US" dirty="0"/>
          </a:p>
        </p:txBody>
      </p:sp>
    </p:spTree>
    <p:extLst>
      <p:ext uri="{BB962C8B-B14F-4D97-AF65-F5344CB8AC3E}">
        <p14:creationId xmlns:p14="http://schemas.microsoft.com/office/powerpoint/2010/main" val="645250178"/>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provide possible corrective action advice regarding self-service of food by customers to themselves:</a:t>
            </a:r>
          </a:p>
          <a:p>
            <a:pPr lvl="0">
              <a:buFont typeface="Arial" pitchFamily="34" charset="0"/>
              <a:buChar char="•"/>
            </a:pPr>
            <a:r>
              <a:rPr lang="en-AU" sz="1200" kern="1200" dirty="0" smtClean="0">
                <a:solidFill>
                  <a:schemeClr val="tx1"/>
                </a:solidFill>
                <a:latin typeface="+mn-lt"/>
                <a:ea typeface="+mn-ea"/>
                <a:cs typeface="+mn-cs"/>
              </a:rPr>
              <a:t> Training staff in correct monitoring procedures – and in appropriate customer relations skills to facilitate compliance with requirements</a:t>
            </a:r>
          </a:p>
          <a:p>
            <a:pPr lvl="0">
              <a:buFont typeface="Arial" pitchFamily="34" charset="0"/>
              <a:buChar char="•"/>
            </a:pPr>
            <a:r>
              <a:rPr lang="en-AU" sz="1200" kern="1200" dirty="0" smtClean="0">
                <a:solidFill>
                  <a:schemeClr val="tx1"/>
                </a:solidFill>
                <a:latin typeface="+mn-lt"/>
                <a:ea typeface="+mn-ea"/>
                <a:cs typeface="+mn-cs"/>
              </a:rPr>
              <a:t> Providing sufficient equipment and utensils to enable separate (and multiple) utensils for each food item</a:t>
            </a:r>
          </a:p>
          <a:p>
            <a:pPr lvl="0">
              <a:buFont typeface="Arial" pitchFamily="34" charset="0"/>
              <a:buChar char="•"/>
            </a:pPr>
            <a:r>
              <a:rPr lang="en-AU" sz="1200" kern="1200" dirty="0" smtClean="0">
                <a:solidFill>
                  <a:schemeClr val="tx1"/>
                </a:solidFill>
                <a:latin typeface="+mn-lt"/>
                <a:ea typeface="+mn-ea"/>
                <a:cs typeface="+mn-cs"/>
              </a:rPr>
              <a:t> Maintaining food holding equipment so the required holding temperatures for hot and cold food can be obtained</a:t>
            </a:r>
          </a:p>
          <a:p>
            <a:pPr lvl="0">
              <a:buFont typeface="Arial" pitchFamily="34" charset="0"/>
              <a:buChar char="•"/>
            </a:pPr>
            <a:r>
              <a:rPr lang="en-AU" sz="1200" kern="1200" dirty="0" smtClean="0">
                <a:solidFill>
                  <a:schemeClr val="tx1"/>
                </a:solidFill>
                <a:latin typeface="+mn-lt"/>
                <a:ea typeface="+mn-ea"/>
                <a:cs typeface="+mn-cs"/>
              </a:rPr>
              <a:t> Altering the settings on units so the required display or holding temperatures can be achieved.</a:t>
            </a:r>
          </a:p>
          <a:p>
            <a:pPr>
              <a:buFont typeface="Arial" pitchFamily="34" charset="0"/>
              <a:buNone/>
            </a:pPr>
            <a:endParaRPr lang="en-US" dirty="0" smtClean="0"/>
          </a:p>
          <a:p>
            <a:pPr>
              <a:buFont typeface="Arial" pitchFamily="34" charset="0"/>
              <a:buNone/>
            </a:pPr>
            <a:r>
              <a:rPr lang="en-US" b="1" dirty="0" smtClean="0"/>
              <a:t>Class Activity – Handout </a:t>
            </a:r>
          </a:p>
          <a:p>
            <a:pPr>
              <a:buFont typeface="Arial" pitchFamily="34" charset="0"/>
              <a:buNone/>
            </a:pPr>
            <a:r>
              <a:rPr lang="en-US" b="0" dirty="0" smtClean="0"/>
              <a:t>Trainer provides sample CAR (Corrective Action Report) record) to trainees and:</a:t>
            </a:r>
          </a:p>
          <a:p>
            <a:pPr>
              <a:buFont typeface="Arial" pitchFamily="34" charset="0"/>
              <a:buChar char="•"/>
            </a:pPr>
            <a:r>
              <a:rPr lang="en-US" b="0" dirty="0" smtClean="0"/>
              <a:t> Explains why this</a:t>
            </a:r>
            <a:r>
              <a:rPr lang="en-US" b="0" baseline="0" dirty="0" smtClean="0"/>
              <a:t> document is used (to prove and record corrective action taken by venues or individuals to address identified workplace food safety issues)</a:t>
            </a:r>
          </a:p>
          <a:p>
            <a:pPr>
              <a:buFont typeface="Arial" pitchFamily="34" charset="0"/>
              <a:buChar char="•"/>
            </a:pPr>
            <a:r>
              <a:rPr lang="en-US" b="0" baseline="0" dirty="0" smtClean="0"/>
              <a:t> Describes how to complete the record identifying examples of what might be included in the CAR</a:t>
            </a:r>
          </a:p>
          <a:p>
            <a:pPr>
              <a:buFont typeface="Arial" pitchFamily="34" charset="0"/>
              <a:buChar char="•"/>
            </a:pPr>
            <a:r>
              <a:rPr lang="en-US" b="0" baseline="0" dirty="0" smtClean="0"/>
              <a:t> Identifies who completes the record (the person undertaking the corrective action, or management, or a designated other person).</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147</a:t>
            </a:fld>
            <a:endParaRPr lang="en-US" dirty="0"/>
          </a:p>
        </p:txBody>
      </p:sp>
    </p:spTree>
    <p:extLst>
      <p:ext uri="{BB962C8B-B14F-4D97-AF65-F5344CB8AC3E}">
        <p14:creationId xmlns:p14="http://schemas.microsoft.com/office/powerpoint/2010/main" val="1058289986"/>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dirty="0" smtClean="0">
                <a:solidFill>
                  <a:schemeClr val="tx1"/>
                </a:solidFill>
                <a:latin typeface="+mn-lt"/>
                <a:ea typeface="+mn-ea"/>
                <a:cs typeface="+mn-cs"/>
              </a:rPr>
              <a:t>Trainer tells trainees correct handling and disposal of food waste and other rubbish is an important food safety consideration as waste is a major source of contamination, presenting the following requirements:</a:t>
            </a:r>
          </a:p>
          <a:p>
            <a:pPr>
              <a:buFont typeface="Arial" pitchFamily="34" charset="0"/>
              <a:buChar char="•"/>
            </a:pPr>
            <a:r>
              <a:rPr lang="en-AU" sz="1200" kern="1200" dirty="0" smtClean="0">
                <a:solidFill>
                  <a:schemeClr val="tx1"/>
                </a:solidFill>
                <a:latin typeface="+mn-lt"/>
                <a:ea typeface="+mn-ea"/>
                <a:cs typeface="+mn-cs"/>
              </a:rPr>
              <a:t> All bins – internal and external – should be maintained in a sound condition (that is working properly, no leaks) and kept clean.</a:t>
            </a:r>
          </a:p>
          <a:p>
            <a:pPr>
              <a:buFont typeface="Arial" pitchFamily="34" charset="0"/>
              <a:buChar char="•"/>
            </a:pPr>
            <a:r>
              <a:rPr lang="en-AU" sz="1200" kern="1200" dirty="0" smtClean="0">
                <a:solidFill>
                  <a:schemeClr val="tx1"/>
                </a:solidFill>
                <a:latin typeface="+mn-lt"/>
                <a:ea typeface="+mn-ea"/>
                <a:cs typeface="+mn-cs"/>
              </a:rPr>
              <a:t> There is no requirement to sanitise bins but this may be a house rule in some food premises:</a:t>
            </a:r>
          </a:p>
          <a:p>
            <a:pPr lvl="1">
              <a:buFont typeface="Arial" pitchFamily="34" charset="0"/>
              <a:buChar char="•"/>
            </a:pPr>
            <a:r>
              <a:rPr lang="en-AU" sz="1200" kern="1200" dirty="0" smtClean="0">
                <a:solidFill>
                  <a:schemeClr val="tx1"/>
                </a:solidFill>
                <a:latin typeface="+mn-lt"/>
                <a:ea typeface="+mn-ea"/>
                <a:cs typeface="+mn-cs"/>
              </a:rPr>
              <a:t> Cleaning an internal bin may require a simple wipe with a cloth dipped in hot water and detergent.</a:t>
            </a:r>
          </a:p>
          <a:p>
            <a:pPr lvl="1">
              <a:buFont typeface="Arial" pitchFamily="34" charset="0"/>
              <a:buChar char="•"/>
            </a:pPr>
            <a:r>
              <a:rPr lang="en-AU" sz="1200" kern="1200" dirty="0" smtClean="0">
                <a:solidFill>
                  <a:schemeClr val="tx1"/>
                </a:solidFill>
                <a:latin typeface="+mn-lt"/>
                <a:ea typeface="+mn-ea"/>
                <a:cs typeface="+mn-cs"/>
              </a:rPr>
              <a:t> Cleaning an external bin may require the use of a gong brush, high pressure hose, detergent, degreaser and deodoriser.</a:t>
            </a:r>
          </a:p>
          <a:p>
            <a:pPr>
              <a:buFont typeface="Arial" pitchFamily="34" charset="0"/>
              <a:buChar char="•"/>
            </a:pPr>
            <a:r>
              <a:rPr lang="en-AU" sz="1200" kern="1200" dirty="0" smtClean="0">
                <a:solidFill>
                  <a:schemeClr val="tx1"/>
                </a:solidFill>
                <a:latin typeface="+mn-lt"/>
                <a:ea typeface="+mn-ea"/>
                <a:cs typeface="+mn-cs"/>
              </a:rPr>
              <a:t> The external waste area must also be kept clean to avoid attracting pests and to help control smells. A yard broom can be used to sweep the area and a high pressure hose used with detergent and a deodoriser.</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148</a:t>
            </a:fld>
            <a:endParaRPr lang="en-US" dirty="0"/>
          </a:p>
        </p:txBody>
      </p:sp>
    </p:spTree>
    <p:extLst>
      <p:ext uri="{BB962C8B-B14F-4D97-AF65-F5344CB8AC3E}">
        <p14:creationId xmlns:p14="http://schemas.microsoft.com/office/powerpoint/2010/main" val="1219909349"/>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information to trainees regarding the internal disposal of food waste and rubbish:</a:t>
            </a:r>
          </a:p>
          <a:p>
            <a:pPr>
              <a:buFont typeface="Arial" pitchFamily="34" charset="0"/>
              <a:buChar char="•"/>
            </a:pPr>
            <a:r>
              <a:rPr lang="en-US" dirty="0" smtClean="0"/>
              <a:t> This relates to removing </a:t>
            </a:r>
            <a:r>
              <a:rPr lang="en-AU" sz="1200" kern="1200" dirty="0" smtClean="0">
                <a:solidFill>
                  <a:schemeClr val="tx1"/>
                </a:solidFill>
                <a:latin typeface="+mn-lt"/>
                <a:ea typeface="+mn-ea"/>
                <a:cs typeface="+mn-cs"/>
              </a:rPr>
              <a:t>rubbish and waste food from inside the premises.</a:t>
            </a:r>
          </a:p>
          <a:p>
            <a:pPr>
              <a:buFont typeface="Arial" pitchFamily="34" charset="0"/>
              <a:buChar char="•"/>
            </a:pPr>
            <a:r>
              <a:rPr lang="en-AU" sz="1200" kern="1200" dirty="0" smtClean="0">
                <a:solidFill>
                  <a:schemeClr val="tx1"/>
                </a:solidFill>
                <a:latin typeface="+mn-lt"/>
                <a:ea typeface="+mn-ea"/>
                <a:cs typeface="+mn-cs"/>
              </a:rPr>
              <a:t> In practice this means emptying bins located in the:</a:t>
            </a:r>
          </a:p>
          <a:p>
            <a:pPr lvl="1">
              <a:buFont typeface="Arial" pitchFamily="34" charset="0"/>
              <a:buChar char="•"/>
            </a:pPr>
            <a:r>
              <a:rPr lang="en-AU" sz="1200" kern="1200" dirty="0" smtClean="0">
                <a:solidFill>
                  <a:schemeClr val="tx1"/>
                </a:solidFill>
                <a:latin typeface="+mn-lt"/>
                <a:ea typeface="+mn-ea"/>
                <a:cs typeface="+mn-cs"/>
              </a:rPr>
              <a:t> Kitchen </a:t>
            </a:r>
          </a:p>
          <a:p>
            <a:pPr lvl="1">
              <a:buFont typeface="Arial" pitchFamily="34" charset="0"/>
              <a:buChar char="•"/>
            </a:pPr>
            <a:r>
              <a:rPr lang="en-AU" sz="1200" kern="1200" dirty="0" smtClean="0">
                <a:solidFill>
                  <a:schemeClr val="tx1"/>
                </a:solidFill>
                <a:latin typeface="+mn-lt"/>
                <a:ea typeface="+mn-ea"/>
                <a:cs typeface="+mn-cs"/>
              </a:rPr>
              <a:t> Food preparation areas</a:t>
            </a:r>
          </a:p>
          <a:p>
            <a:pPr lvl="1">
              <a:buFont typeface="Arial" pitchFamily="34" charset="0"/>
              <a:buChar char="•"/>
            </a:pPr>
            <a:r>
              <a:rPr lang="en-AU" sz="1200" kern="1200" dirty="0" smtClean="0">
                <a:solidFill>
                  <a:schemeClr val="tx1"/>
                </a:solidFill>
                <a:latin typeface="+mn-lt"/>
                <a:ea typeface="+mn-ea"/>
                <a:cs typeface="+mn-cs"/>
              </a:rPr>
              <a:t> Dish washing areas</a:t>
            </a:r>
          </a:p>
          <a:p>
            <a:pPr lvl="1">
              <a:buFont typeface="Arial" pitchFamily="34" charset="0"/>
              <a:buChar char="•"/>
            </a:pPr>
            <a:r>
              <a:rPr lang="en-AU" sz="1200" kern="1200" dirty="0" smtClean="0">
                <a:solidFill>
                  <a:schemeClr val="tx1"/>
                </a:solidFill>
                <a:latin typeface="+mn-lt"/>
                <a:ea typeface="+mn-ea"/>
                <a:cs typeface="+mn-cs"/>
              </a:rPr>
              <a:t> Back-of-house food areas.</a:t>
            </a:r>
          </a:p>
          <a:p>
            <a:pPr>
              <a:buFont typeface="Arial" pitchFamily="34" charset="0"/>
              <a:buChar char="•"/>
            </a:pPr>
            <a:r>
              <a:rPr lang="en-AU" sz="1200" kern="1200" dirty="0" smtClean="0">
                <a:solidFill>
                  <a:schemeClr val="tx1"/>
                </a:solidFill>
                <a:latin typeface="+mn-lt"/>
                <a:ea typeface="+mn-ea"/>
                <a:cs typeface="+mn-cs"/>
              </a:rPr>
              <a:t> It is a standard requirement waste never be allowed to accumulate</a:t>
            </a:r>
          </a:p>
          <a:p>
            <a:pPr>
              <a:buFont typeface="Arial" pitchFamily="34" charset="0"/>
              <a:buChar char="•"/>
            </a:pPr>
            <a:r>
              <a:rPr lang="en-AU" sz="1200" kern="1200" dirty="0" smtClean="0">
                <a:solidFill>
                  <a:schemeClr val="tx1"/>
                </a:solidFill>
                <a:latin typeface="+mn-lt"/>
                <a:ea typeface="+mn-ea"/>
                <a:cs typeface="+mn-cs"/>
              </a:rPr>
              <a:t> Common times for emptying bins include:</a:t>
            </a:r>
          </a:p>
          <a:p>
            <a:pPr lvl="1">
              <a:buFont typeface="Arial" pitchFamily="34" charset="0"/>
              <a:buChar char="•"/>
            </a:pPr>
            <a:r>
              <a:rPr lang="en-AU" sz="1200" kern="1200" dirty="0" smtClean="0">
                <a:solidFill>
                  <a:schemeClr val="tx1"/>
                </a:solidFill>
                <a:latin typeface="+mn-lt"/>
                <a:ea typeface="+mn-ea"/>
                <a:cs typeface="+mn-cs"/>
              </a:rPr>
              <a:t> When they are </a:t>
            </a:r>
            <a:r>
              <a:rPr lang="en-AU" sz="1200" i="1" kern="1200" dirty="0" smtClean="0">
                <a:solidFill>
                  <a:schemeClr val="tx1"/>
                </a:solidFill>
                <a:latin typeface="+mn-lt"/>
                <a:ea typeface="+mn-ea"/>
                <a:cs typeface="+mn-cs"/>
              </a:rPr>
              <a:t>nearly</a:t>
            </a:r>
            <a:r>
              <a:rPr lang="en-AU" sz="1200" kern="1200" dirty="0" smtClean="0">
                <a:solidFill>
                  <a:schemeClr val="tx1"/>
                </a:solidFill>
                <a:latin typeface="+mn-lt"/>
                <a:ea typeface="+mn-ea"/>
                <a:cs typeface="+mn-cs"/>
              </a:rPr>
              <a:t> full – never wait until they </a:t>
            </a:r>
            <a:r>
              <a:rPr lang="en-AU" sz="1200" i="1" kern="1200" dirty="0" smtClean="0">
                <a:solidFill>
                  <a:schemeClr val="tx1"/>
                </a:solidFill>
                <a:latin typeface="+mn-lt"/>
                <a:ea typeface="+mn-ea"/>
                <a:cs typeface="+mn-cs"/>
              </a:rPr>
              <a:t>are</a:t>
            </a:r>
            <a:r>
              <a:rPr lang="en-AU" sz="1200" kern="1200" dirty="0" smtClean="0">
                <a:solidFill>
                  <a:schemeClr val="tx1"/>
                </a:solidFill>
                <a:latin typeface="+mn-lt"/>
                <a:ea typeface="+mn-ea"/>
                <a:cs typeface="+mn-cs"/>
              </a:rPr>
              <a:t> full as this encourages over-filling which results in waste falling out of the bins and onto the floor</a:t>
            </a:r>
          </a:p>
          <a:p>
            <a:pPr lvl="1">
              <a:buFont typeface="Arial" pitchFamily="34" charset="0"/>
              <a:buChar char="•"/>
            </a:pPr>
            <a:r>
              <a:rPr lang="en-AU" sz="1200" kern="1200" dirty="0" smtClean="0">
                <a:solidFill>
                  <a:schemeClr val="tx1"/>
                </a:solidFill>
                <a:latin typeface="+mn-lt"/>
                <a:ea typeface="+mn-ea"/>
                <a:cs typeface="+mn-cs"/>
              </a:rPr>
              <a:t> At the end of a service session – such as ‘after lunch’, ‘after dinner’</a:t>
            </a:r>
          </a:p>
          <a:p>
            <a:pPr lvl="1">
              <a:buFont typeface="Arial" pitchFamily="34" charset="0"/>
              <a:buChar char="•"/>
            </a:pPr>
            <a:r>
              <a:rPr lang="en-AU" sz="1200" kern="1200" dirty="0" smtClean="0">
                <a:solidFill>
                  <a:schemeClr val="tx1"/>
                </a:solidFill>
                <a:latin typeface="+mn-lt"/>
                <a:ea typeface="+mn-ea"/>
                <a:cs typeface="+mn-cs"/>
              </a:rPr>
              <a:t> At a specific time of the day – ‘at 2:00PM’, ‘at 10:00PM’</a:t>
            </a:r>
          </a:p>
          <a:p>
            <a:pPr lvl="1">
              <a:buFont typeface="Arial" pitchFamily="34" charset="0"/>
              <a:buChar char="•"/>
            </a:pPr>
            <a:r>
              <a:rPr lang="en-AU" sz="1200" kern="1200" dirty="0" smtClean="0">
                <a:solidFill>
                  <a:schemeClr val="tx1"/>
                </a:solidFill>
                <a:latin typeface="+mn-lt"/>
                <a:ea typeface="+mn-ea"/>
                <a:cs typeface="+mn-cs"/>
              </a:rPr>
              <a:t> After a nominated time has elapsed – ‘every 30 minutes’, ‘every hour’.</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149</a:t>
            </a:fld>
            <a:endParaRPr lang="en-US" dirty="0"/>
          </a:p>
        </p:txBody>
      </p:sp>
    </p:spTree>
    <p:extLst>
      <p:ext uri="{BB962C8B-B14F-4D97-AF65-F5344CB8AC3E}">
        <p14:creationId xmlns:p14="http://schemas.microsoft.com/office/powerpoint/2010/main" val="2868847372"/>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suggests to trainees emptying internal bins could involve the following steps:</a:t>
            </a:r>
          </a:p>
          <a:p>
            <a:pPr lvl="0">
              <a:buFont typeface="Arial" pitchFamily="34" charset="0"/>
              <a:buChar char="•"/>
            </a:pPr>
            <a:r>
              <a:rPr lang="en-AU" sz="1200" kern="1200" dirty="0" smtClean="0">
                <a:solidFill>
                  <a:schemeClr val="tx1"/>
                </a:solidFill>
                <a:latin typeface="+mn-lt"/>
                <a:ea typeface="+mn-ea"/>
                <a:cs typeface="+mn-cs"/>
              </a:rPr>
              <a:t> Putting on protective gloves – depending on the nature of the waste in the bin these may disposable gloves or gauntlets</a:t>
            </a:r>
          </a:p>
          <a:p>
            <a:pPr lvl="0">
              <a:buFont typeface="Arial" pitchFamily="34" charset="0"/>
              <a:buChar char="•"/>
            </a:pPr>
            <a:r>
              <a:rPr lang="en-AU" sz="1200" kern="1200" dirty="0" smtClean="0">
                <a:solidFill>
                  <a:schemeClr val="tx1"/>
                </a:solidFill>
                <a:latin typeface="+mn-lt"/>
                <a:ea typeface="+mn-ea"/>
                <a:cs typeface="+mn-cs"/>
              </a:rPr>
              <a:t> Picking up anything lying around</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near the bin – to remove it from the floor and put it in the bin</a:t>
            </a:r>
          </a:p>
          <a:p>
            <a:pPr lvl="0">
              <a:buFont typeface="Arial" pitchFamily="34" charset="0"/>
              <a:buChar char="•"/>
            </a:pPr>
            <a:r>
              <a:rPr lang="en-AU" sz="1200" kern="1200" dirty="0" smtClean="0">
                <a:solidFill>
                  <a:schemeClr val="tx1"/>
                </a:solidFill>
                <a:latin typeface="+mn-lt"/>
                <a:ea typeface="+mn-ea"/>
                <a:cs typeface="+mn-cs"/>
              </a:rPr>
              <a:t> Tying a knot in the plastic bin liner – to prevent waste falling from the bag</a:t>
            </a:r>
          </a:p>
          <a:p>
            <a:pPr lvl="0">
              <a:buFont typeface="Arial" pitchFamily="34" charset="0"/>
              <a:buChar char="•"/>
            </a:pPr>
            <a:r>
              <a:rPr lang="en-AU" sz="1200" kern="1200" dirty="0" smtClean="0">
                <a:solidFill>
                  <a:schemeClr val="tx1"/>
                </a:solidFill>
                <a:latin typeface="+mn-lt"/>
                <a:ea typeface="+mn-ea"/>
                <a:cs typeface="+mn-cs"/>
              </a:rPr>
              <a:t> Removing the plastic bin liner – carefully looking for signs of breakage and or leaking</a:t>
            </a:r>
          </a:p>
          <a:p>
            <a:pPr lvl="0">
              <a:buFont typeface="Arial" pitchFamily="34" charset="0"/>
              <a:buChar char="•"/>
            </a:pPr>
            <a:r>
              <a:rPr lang="en-AU" sz="1200" kern="1200" dirty="0" smtClean="0">
                <a:solidFill>
                  <a:schemeClr val="tx1"/>
                </a:solidFill>
                <a:latin typeface="+mn-lt"/>
                <a:ea typeface="+mn-ea"/>
                <a:cs typeface="+mn-cs"/>
              </a:rPr>
              <a:t> Placing a new bin liner into the bin – and securing it in place according to the type of bin liner and</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or bin</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150</a:t>
            </a:fld>
            <a:endParaRPr lang="en-US" dirty="0"/>
          </a:p>
        </p:txBody>
      </p:sp>
    </p:spTree>
    <p:extLst>
      <p:ext uri="{BB962C8B-B14F-4D97-AF65-F5344CB8AC3E}">
        <p14:creationId xmlns:p14="http://schemas.microsoft.com/office/powerpoint/2010/main" val="3864634270"/>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finalises the steps in emptying an internal bin:</a:t>
            </a:r>
          </a:p>
          <a:p>
            <a:pPr lvl="0">
              <a:buFont typeface="Arial" pitchFamily="34" charset="0"/>
              <a:buChar char="•"/>
            </a:pPr>
            <a:r>
              <a:rPr lang="en-AU" sz="1200" kern="1200" dirty="0" smtClean="0">
                <a:solidFill>
                  <a:schemeClr val="tx1"/>
                </a:solidFill>
                <a:latin typeface="+mn-lt"/>
                <a:ea typeface="+mn-ea"/>
                <a:cs typeface="+mn-cs"/>
              </a:rPr>
              <a:t> Taking the bin liner</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rubbish bag to the designated external rubbish area – which may be a rubbish bin or dumper </a:t>
            </a:r>
          </a:p>
          <a:p>
            <a:pPr lvl="0">
              <a:buFont typeface="Arial" pitchFamily="34" charset="0"/>
              <a:buChar char="•"/>
            </a:pPr>
            <a:r>
              <a:rPr lang="en-AU" sz="1200" kern="1200" dirty="0" smtClean="0">
                <a:solidFill>
                  <a:schemeClr val="tx1"/>
                </a:solidFill>
                <a:latin typeface="+mn-lt"/>
                <a:ea typeface="+mn-ea"/>
                <a:cs typeface="+mn-cs"/>
              </a:rPr>
              <a:t> Opening the required bin and place the bin liner or bag into it – making sure all the contents go into the bin or dumper</a:t>
            </a:r>
          </a:p>
          <a:p>
            <a:pPr lvl="0">
              <a:buFont typeface="Arial" pitchFamily="34" charset="0"/>
              <a:buChar char="•"/>
            </a:pPr>
            <a:r>
              <a:rPr lang="en-AU" sz="1200" kern="1200" dirty="0" smtClean="0">
                <a:solidFill>
                  <a:schemeClr val="tx1"/>
                </a:solidFill>
                <a:latin typeface="+mn-lt"/>
                <a:ea typeface="+mn-ea"/>
                <a:cs typeface="+mn-cs"/>
              </a:rPr>
              <a:t> Closing the lid on the bin or dumper – to help prevent access to food waste by pests and vermin</a:t>
            </a:r>
          </a:p>
          <a:p>
            <a:pPr lvl="0">
              <a:buFont typeface="Arial" pitchFamily="34" charset="0"/>
              <a:buChar char="•"/>
            </a:pPr>
            <a:r>
              <a:rPr lang="en-AU" sz="1200" kern="1200" dirty="0" smtClean="0">
                <a:solidFill>
                  <a:schemeClr val="tx1"/>
                </a:solidFill>
                <a:latin typeface="+mn-lt"/>
                <a:ea typeface="+mn-ea"/>
                <a:cs typeface="+mn-cs"/>
              </a:rPr>
              <a:t> Washing hands – making sure not to wash them in a sink used for food preparation.</a:t>
            </a:r>
          </a:p>
          <a:p>
            <a:pPr>
              <a:buFont typeface="Arial" pitchFamily="34" charset="0"/>
              <a:buNone/>
            </a:pPr>
            <a:endParaRPr lang="en-US" baseline="0"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151</a:t>
            </a:fld>
            <a:endParaRPr lang="en-US" dirty="0"/>
          </a:p>
        </p:txBody>
      </p:sp>
    </p:spTree>
    <p:extLst>
      <p:ext uri="{BB962C8B-B14F-4D97-AF65-F5344CB8AC3E}">
        <p14:creationId xmlns:p14="http://schemas.microsoft.com/office/powerpoint/2010/main" val="59274008"/>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mentions to trainees the following needs may also be involved in emptying internal bins:</a:t>
            </a:r>
          </a:p>
          <a:p>
            <a:pPr lvl="0">
              <a:buFont typeface="Arial" pitchFamily="34" charset="0"/>
              <a:buChar char="•"/>
            </a:pPr>
            <a:r>
              <a:rPr lang="en-AU" sz="1200" kern="1200" dirty="0" smtClean="0">
                <a:solidFill>
                  <a:schemeClr val="tx1"/>
                </a:solidFill>
                <a:latin typeface="+mn-lt"/>
                <a:ea typeface="+mn-ea"/>
                <a:cs typeface="+mn-cs"/>
              </a:rPr>
              <a:t> Obtain help from another person to lift or move the bin</a:t>
            </a:r>
          </a:p>
          <a:p>
            <a:pPr lvl="0">
              <a:buFont typeface="Arial" pitchFamily="34" charset="0"/>
              <a:buChar char="•"/>
            </a:pPr>
            <a:r>
              <a:rPr lang="en-AU" sz="1200" kern="1200" dirty="0" smtClean="0">
                <a:solidFill>
                  <a:schemeClr val="tx1"/>
                </a:solidFill>
                <a:latin typeface="+mn-lt"/>
                <a:ea typeface="+mn-ea"/>
                <a:cs typeface="+mn-cs"/>
              </a:rPr>
              <a:t> Clean the floor area under and around the bin that has been emptied – with detergent and sanitiser, drying the area to help avoid slips</a:t>
            </a:r>
          </a:p>
          <a:p>
            <a:pPr lvl="0">
              <a:buFont typeface="Arial" pitchFamily="34" charset="0"/>
              <a:buChar char="•"/>
            </a:pPr>
            <a:r>
              <a:rPr lang="en-AU" sz="1200" kern="1200" dirty="0" smtClean="0">
                <a:solidFill>
                  <a:schemeClr val="tx1"/>
                </a:solidFill>
                <a:latin typeface="+mn-lt"/>
                <a:ea typeface="+mn-ea"/>
                <a:cs typeface="+mn-cs"/>
              </a:rPr>
              <a:t> Clean the inside and outside of internal bins at least daily – many food premises clean their internal bins after each service session, using detergent and (where necessary) a de-greasing agent.</a:t>
            </a:r>
          </a:p>
          <a:p>
            <a:pPr>
              <a:buFont typeface="Arial" pitchFamily="34" charset="0"/>
              <a:buNone/>
            </a:pPr>
            <a:endParaRPr lang="en-US" dirty="0" smtClean="0"/>
          </a:p>
          <a:p>
            <a:pPr>
              <a:buFont typeface="Arial" pitchFamily="34" charset="0"/>
              <a:buNone/>
            </a:pPr>
            <a:r>
              <a:rPr lang="en-US" b="1" dirty="0" smtClean="0"/>
              <a:t>Class Activity – Demonstration and Practice</a:t>
            </a:r>
          </a:p>
          <a:p>
            <a:pPr>
              <a:buFont typeface="Arial" pitchFamily="34" charset="0"/>
              <a:buNone/>
            </a:pPr>
            <a:r>
              <a:rPr lang="en-US" b="0" dirty="0" smtClean="0"/>
              <a:t>Trainer:</a:t>
            </a:r>
          </a:p>
          <a:p>
            <a:pPr>
              <a:buFont typeface="Arial" pitchFamily="34" charset="0"/>
              <a:buChar char="•"/>
            </a:pPr>
            <a:r>
              <a:rPr lang="en-US" b="0" dirty="0" smtClean="0"/>
              <a:t> Demonstrates how to empty an internal bin including replacement of bin liner, cleaning around the bin,</a:t>
            </a:r>
            <a:r>
              <a:rPr lang="en-US" b="0" baseline="0" dirty="0" smtClean="0"/>
              <a:t> and cleaning inside and outside the bin</a:t>
            </a:r>
          </a:p>
          <a:p>
            <a:pPr>
              <a:buFont typeface="Arial" pitchFamily="34" charset="0"/>
              <a:buChar char="•"/>
            </a:pPr>
            <a:r>
              <a:rPr lang="en-US" b="0" baseline="0" dirty="0" smtClean="0"/>
              <a:t> Provides chemicals, equipment and opportunity for trainees to practice same.</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152</a:t>
            </a:fld>
            <a:endParaRPr lang="en-US" dirty="0"/>
          </a:p>
        </p:txBody>
      </p:sp>
    </p:spTree>
    <p:extLst>
      <p:ext uri="{BB962C8B-B14F-4D97-AF65-F5344CB8AC3E}">
        <p14:creationId xmlns:p14="http://schemas.microsoft.com/office/powerpoint/2010/main" val="3097386439"/>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provides direction to trainees regarding the removal of external rubbish from venues:</a:t>
            </a:r>
          </a:p>
          <a:p>
            <a:pPr>
              <a:buFont typeface="Arial" pitchFamily="34" charset="0"/>
              <a:buChar char="•"/>
            </a:pPr>
            <a:r>
              <a:rPr lang="en-AU" sz="1200" kern="1200" dirty="0" smtClean="0">
                <a:solidFill>
                  <a:schemeClr val="tx1"/>
                </a:solidFill>
                <a:latin typeface="+mn-lt"/>
                <a:ea typeface="+mn-ea"/>
                <a:cs typeface="+mn-cs"/>
              </a:rPr>
              <a:t> Waste in external areas must also never be allowed to accumulate.</a:t>
            </a:r>
          </a:p>
          <a:p>
            <a:pPr>
              <a:buFont typeface="Arial" pitchFamily="34" charset="0"/>
              <a:buChar char="•"/>
            </a:pPr>
            <a:r>
              <a:rPr lang="en-AU" sz="1200" kern="1200" dirty="0" smtClean="0">
                <a:solidFill>
                  <a:schemeClr val="tx1"/>
                </a:solidFill>
                <a:latin typeface="+mn-lt"/>
                <a:ea typeface="+mn-ea"/>
                <a:cs typeface="+mn-cs"/>
              </a:rPr>
              <a:t> Rubbish is commonly removed by the local council or a private company on a fee-for-service basis.</a:t>
            </a:r>
          </a:p>
          <a:p>
            <a:pPr>
              <a:buFont typeface="Arial" pitchFamily="34" charset="0"/>
              <a:buChar char="•"/>
            </a:pPr>
            <a:r>
              <a:rPr lang="en-AU" sz="1200" kern="1200" dirty="0" smtClean="0">
                <a:solidFill>
                  <a:schemeClr val="tx1"/>
                </a:solidFill>
                <a:latin typeface="+mn-lt"/>
                <a:ea typeface="+mn-ea"/>
                <a:cs typeface="+mn-cs"/>
              </a:rPr>
              <a:t> Food premises should supply sufficient bins or receptacles to cater for whatever waste is produced. If rubbish is scattered all around the existing bins, and it is flowing over the tops of bins, more bins need to be provided.  </a:t>
            </a:r>
          </a:p>
          <a:p>
            <a:pPr>
              <a:buFont typeface="Arial" pitchFamily="34" charset="0"/>
              <a:buChar char="•"/>
            </a:pPr>
            <a:r>
              <a:rPr lang="en-AU" sz="1200" kern="1200" dirty="0" smtClean="0">
                <a:solidFill>
                  <a:schemeClr val="tx1"/>
                </a:solidFill>
                <a:latin typeface="+mn-lt"/>
                <a:ea typeface="+mn-ea"/>
                <a:cs typeface="+mn-cs"/>
              </a:rPr>
              <a:t> The rubbish area must be also be kept in a clean and tidy condition – in general rubbish must be stored in such a way as to minimise contamination and avoid providing harbourage for cats, vermin and birds.</a:t>
            </a:r>
          </a:p>
          <a:p>
            <a:pPr>
              <a:buFont typeface="Arial" pitchFamily="34" charset="0"/>
              <a:buChar char="•"/>
            </a:pPr>
            <a:r>
              <a:rPr lang="en-AU" sz="1200" kern="1200" dirty="0" smtClean="0">
                <a:solidFill>
                  <a:schemeClr val="tx1"/>
                </a:solidFill>
                <a:latin typeface="+mn-lt"/>
                <a:ea typeface="+mn-ea"/>
                <a:cs typeface="+mn-cs"/>
              </a:rPr>
              <a:t> Frequency of disposal of the external rubbish must reflect the amount and type of waste generated. The use of commercial companies to clear this rubbish may be required: attention should be paid to increasing garbage pick-ups during peak trading periods (due to increased amount of waste created) and hot weather (due to the potential for objectionable smells to be created).</a:t>
            </a:r>
          </a:p>
          <a:p>
            <a:pPr>
              <a:buFont typeface="Arial" pitchFamily="34" charset="0"/>
              <a:buChar char="•"/>
            </a:pPr>
            <a:r>
              <a:rPr lang="en-AU" sz="1200" kern="1200" dirty="0" smtClean="0">
                <a:solidFill>
                  <a:schemeClr val="tx1"/>
                </a:solidFill>
                <a:latin typeface="+mn-lt"/>
                <a:ea typeface="+mn-ea"/>
                <a:cs typeface="+mn-cs"/>
              </a:rPr>
              <a:t> All garbage bins must be in good condition and must exclude pests which usually means they will have to be fitted with tight-fitting lids which must be kept in position so as to provide protection against vermin gaining access to the rubbish.</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153</a:t>
            </a:fld>
            <a:endParaRPr lang="en-US" dirty="0"/>
          </a:p>
        </p:txBody>
      </p:sp>
    </p:spTree>
    <p:extLst>
      <p:ext uri="{BB962C8B-B14F-4D97-AF65-F5344CB8AC3E}">
        <p14:creationId xmlns:p14="http://schemas.microsoft.com/office/powerpoint/2010/main" val="824909334"/>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explains to trainees it is standard practice for all venues to re-cycle their waste wherever possible:</a:t>
            </a:r>
          </a:p>
          <a:p>
            <a:pPr>
              <a:buFont typeface="Arial" pitchFamily="34" charset="0"/>
              <a:buChar char="•"/>
            </a:pPr>
            <a:r>
              <a:rPr lang="en-AU" sz="1200" kern="1200" dirty="0" smtClean="0">
                <a:solidFill>
                  <a:schemeClr val="tx1"/>
                </a:solidFill>
                <a:latin typeface="+mn-lt"/>
                <a:ea typeface="+mn-ea"/>
                <a:cs typeface="+mn-cs"/>
              </a:rPr>
              <a:t> This may require sorting waste into separate bins or containers as follows:</a:t>
            </a:r>
          </a:p>
          <a:p>
            <a:pPr lvl="1">
              <a:buFont typeface="Arial" pitchFamily="34" charset="0"/>
              <a:buChar char="•"/>
            </a:pPr>
            <a:r>
              <a:rPr lang="en-AU" sz="1200" kern="1200" dirty="0" smtClean="0">
                <a:solidFill>
                  <a:schemeClr val="tx1"/>
                </a:solidFill>
                <a:latin typeface="+mn-lt"/>
                <a:ea typeface="+mn-ea"/>
                <a:cs typeface="+mn-cs"/>
              </a:rPr>
              <a:t> Plastics</a:t>
            </a:r>
          </a:p>
          <a:p>
            <a:pPr lvl="1">
              <a:buFont typeface="Arial" pitchFamily="34" charset="0"/>
              <a:buChar char="•"/>
            </a:pPr>
            <a:r>
              <a:rPr lang="en-AU" sz="1200" kern="1200" dirty="0" smtClean="0">
                <a:solidFill>
                  <a:schemeClr val="tx1"/>
                </a:solidFill>
                <a:latin typeface="+mn-lt"/>
                <a:ea typeface="+mn-ea"/>
                <a:cs typeface="+mn-cs"/>
              </a:rPr>
              <a:t> Cardboard and paper</a:t>
            </a:r>
          </a:p>
          <a:p>
            <a:pPr lvl="1">
              <a:buFont typeface="Arial" pitchFamily="34" charset="0"/>
              <a:buChar char="•"/>
            </a:pPr>
            <a:r>
              <a:rPr lang="en-AU" sz="1200" kern="1200" dirty="0" smtClean="0">
                <a:solidFill>
                  <a:schemeClr val="tx1"/>
                </a:solidFill>
                <a:latin typeface="+mn-lt"/>
                <a:ea typeface="+mn-ea"/>
                <a:cs typeface="+mn-cs"/>
              </a:rPr>
              <a:t> Glass – jars and bottles</a:t>
            </a:r>
          </a:p>
          <a:p>
            <a:pPr lvl="1">
              <a:buFont typeface="Arial" pitchFamily="34" charset="0"/>
              <a:buChar char="•"/>
            </a:pPr>
            <a:r>
              <a:rPr lang="en-AU" sz="1200" kern="1200" dirty="0" smtClean="0">
                <a:solidFill>
                  <a:schemeClr val="tx1"/>
                </a:solidFill>
                <a:latin typeface="+mn-lt"/>
                <a:ea typeface="+mn-ea"/>
                <a:cs typeface="+mn-cs"/>
              </a:rPr>
              <a:t> Cans, tins and metal products.</a:t>
            </a:r>
          </a:p>
          <a:p>
            <a:pPr>
              <a:buFont typeface="Arial" pitchFamily="34" charset="0"/>
              <a:buChar char="•"/>
            </a:pPr>
            <a:r>
              <a:rPr lang="en-AU" sz="1200" kern="1200" dirty="0" smtClean="0">
                <a:solidFill>
                  <a:schemeClr val="tx1"/>
                </a:solidFill>
                <a:latin typeface="+mn-lt"/>
                <a:ea typeface="+mn-ea"/>
                <a:cs typeface="+mn-cs"/>
              </a:rPr>
              <a:t> Actual food waste is not sorted or re-cycled but simply thrown out in general waste.</a:t>
            </a:r>
          </a:p>
          <a:p>
            <a:pPr>
              <a:buFont typeface="Arial" pitchFamily="34" charset="0"/>
              <a:buNone/>
            </a:pPr>
            <a:endParaRPr lang="en-US" dirty="0" smtClean="0"/>
          </a:p>
          <a:p>
            <a:pPr>
              <a:buFont typeface="Arial" pitchFamily="34" charset="0"/>
              <a:buNone/>
            </a:pPr>
            <a:r>
              <a:rPr lang="en-US" b="1" dirty="0" smtClean="0"/>
              <a:t>Class Activity – Guest Speaker</a:t>
            </a:r>
          </a:p>
          <a:p>
            <a:pPr>
              <a:buFont typeface="Arial" pitchFamily="34" charset="0"/>
              <a:buNone/>
            </a:pPr>
            <a:r>
              <a:rPr lang="en-US" b="0" dirty="0" smtClean="0"/>
              <a:t>Trainer arranges for a representative from a waste collection company to attend and:</a:t>
            </a:r>
          </a:p>
          <a:p>
            <a:pPr>
              <a:buFont typeface="Arial" pitchFamily="34" charset="0"/>
              <a:buChar char="•"/>
            </a:pPr>
            <a:r>
              <a:rPr lang="en-US" b="0" dirty="0" smtClean="0"/>
              <a:t> Discuss rubbish removal options</a:t>
            </a:r>
          </a:p>
          <a:p>
            <a:pPr>
              <a:buFont typeface="Arial" pitchFamily="34" charset="0"/>
              <a:buChar char="•"/>
            </a:pPr>
            <a:r>
              <a:rPr lang="en-US" b="0" dirty="0" smtClean="0"/>
              <a:t> Costs associated with using contractor to collect rubbish</a:t>
            </a:r>
          </a:p>
          <a:p>
            <a:pPr>
              <a:buFont typeface="Arial" pitchFamily="34" charset="0"/>
              <a:buChar char="•"/>
            </a:pPr>
            <a:r>
              <a:rPr lang="en-US" b="0" dirty="0" smtClean="0"/>
              <a:t> Re-cycling options and categories</a:t>
            </a:r>
          </a:p>
          <a:p>
            <a:pPr>
              <a:buFont typeface="Arial" pitchFamily="34" charset="0"/>
              <a:buChar char="•"/>
            </a:pPr>
            <a:r>
              <a:rPr lang="en-US" b="0" dirty="0" smtClean="0"/>
              <a:t> Tips for minimising waste.</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154</a:t>
            </a:fld>
            <a:endParaRPr lang="en-US" dirty="0"/>
          </a:p>
        </p:txBody>
      </p:sp>
    </p:spTree>
    <p:extLst>
      <p:ext uri="{BB962C8B-B14F-4D97-AF65-F5344CB8AC3E}">
        <p14:creationId xmlns:p14="http://schemas.microsoft.com/office/powerpoint/2010/main" val="1048937402"/>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155</a:t>
            </a:fld>
            <a:endParaRPr lang="en-US" dirty="0"/>
          </a:p>
        </p:txBody>
      </p:sp>
    </p:spTree>
    <p:extLst>
      <p:ext uri="{BB962C8B-B14F-4D97-AF65-F5344CB8AC3E}">
        <p14:creationId xmlns:p14="http://schemas.microsoft.com/office/powerpoint/2010/main" val="1366785227"/>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156</a:t>
            </a:fld>
            <a:endParaRPr lang="en-US" dirty="0"/>
          </a:p>
        </p:txBody>
      </p:sp>
    </p:spTree>
    <p:extLst>
      <p:ext uri="{BB962C8B-B14F-4D97-AF65-F5344CB8AC3E}">
        <p14:creationId xmlns:p14="http://schemas.microsoft.com/office/powerpoint/2010/main" val="1205732276"/>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157</a:t>
            </a:fld>
            <a:endParaRPr lang="en-US" dirty="0"/>
          </a:p>
        </p:txBody>
      </p:sp>
    </p:spTree>
    <p:extLst>
      <p:ext uri="{BB962C8B-B14F-4D97-AF65-F5344CB8AC3E}">
        <p14:creationId xmlns:p14="http://schemas.microsoft.com/office/powerpoint/2010/main" val="3216018502"/>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158</a:t>
            </a:fld>
            <a:endParaRPr lang="en-US" dirty="0"/>
          </a:p>
        </p:txBody>
      </p:sp>
    </p:spTree>
    <p:extLst>
      <p:ext uri="{BB962C8B-B14F-4D97-AF65-F5344CB8AC3E}">
        <p14:creationId xmlns:p14="http://schemas.microsoft.com/office/powerpoint/2010/main" val="457530918"/>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159</a:t>
            </a:fld>
            <a:endParaRPr lang="en-US" dirty="0"/>
          </a:p>
        </p:txBody>
      </p:sp>
    </p:spTree>
    <p:extLst>
      <p:ext uri="{BB962C8B-B14F-4D97-AF65-F5344CB8AC3E}">
        <p14:creationId xmlns:p14="http://schemas.microsoft.com/office/powerpoint/2010/main" val="2954646167"/>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identifies for </a:t>
            </a:r>
            <a:r>
              <a:rPr lang="en-AU" sz="1200" kern="1200" baseline="0" dirty="0" smtClean="0">
                <a:solidFill>
                  <a:schemeClr val="tx1"/>
                </a:solidFill>
                <a:latin typeface="+mn-lt"/>
                <a:ea typeface="+mn-ea"/>
                <a:cs typeface="+mn-cs"/>
              </a:rPr>
              <a:t>trainee</a:t>
            </a:r>
            <a:r>
              <a:rPr lang="en-US" dirty="0" smtClean="0"/>
              <a:t>s the Performance Criteria for this Element, as listed on the slide.</a:t>
            </a:r>
          </a:p>
          <a:p>
            <a:pPr>
              <a:buFont typeface="Arial" pitchFamily="34" charset="0"/>
              <a:buNone/>
            </a:pPr>
            <a:endParaRPr lang="en-US" dirty="0" smtClean="0"/>
          </a:p>
          <a:p>
            <a:pPr>
              <a:buFont typeface="Arial" pitchFamily="34" charset="0"/>
              <a:buNone/>
            </a:pPr>
            <a:r>
              <a:rPr lang="en-US" b="1" dirty="0" smtClean="0"/>
              <a:t>Class Activity –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dirty="0" smtClean="0"/>
              <a:t>Trainer asks </a:t>
            </a:r>
            <a:r>
              <a:rPr lang="en-AU" sz="1200" kern="1200" baseline="0" dirty="0" smtClean="0">
                <a:solidFill>
                  <a:schemeClr val="tx1"/>
                </a:solidFill>
                <a:latin typeface="+mn-lt"/>
                <a:ea typeface="+mn-ea"/>
                <a:cs typeface="+mn-cs"/>
              </a:rPr>
              <a:t>trainee</a:t>
            </a:r>
            <a:r>
              <a:rPr lang="en-US" b="0" dirty="0" smtClean="0"/>
              <a:t>s questions regarding personal hygiene and personal presentation requirements asking questions such as: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dirty="0" smtClean="0"/>
              <a:t> What personal presentation standards apply to food handlers in your workplace?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dirty="0" smtClean="0"/>
              <a:t> What are the legislated requirements for personal; hygiene, personal practices and personal standards in your workplace for food handlers?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dirty="0" smtClean="0"/>
              <a:t> When should food handlers refuse to attend for work if they are ill/not feeling well?</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dirty="0" smtClean="0"/>
              <a:t> Why might an employer require a food handler to provide a medical certificate, on their return to work after an absence caused by illness, stating as a food handler they are fit to return to work?</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dirty="0" smtClean="0"/>
              <a:t> Why should food handlers wear hair nets or hats? </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dirty="0" smtClean="0"/>
              <a:t> When should food handlers wash their hands?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dirty="0" smtClean="0"/>
              <a:t> Describe how food handlers should wash and dry their hands to ensure they are safe to handle food.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160</a:t>
            </a:fld>
            <a:endParaRPr lang="en-US" dirty="0"/>
          </a:p>
        </p:txBody>
      </p:sp>
    </p:spTree>
    <p:extLst>
      <p:ext uri="{BB962C8B-B14F-4D97-AF65-F5344CB8AC3E}">
        <p14:creationId xmlns:p14="http://schemas.microsoft.com/office/powerpoint/2010/main" val="1433344918"/>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Trainer explains to trainees that in addition to safe food handling practices and protocols, enterprise standards and legislated requirements can also apply to the personal practices and presentation of food handling staff, stating these requirements can be identified by:</a:t>
            </a:r>
          </a:p>
          <a:p>
            <a:pPr lvl="0">
              <a:buFont typeface="Arial" pitchFamily="34" charset="0"/>
              <a:buChar char="•"/>
            </a:pPr>
            <a:r>
              <a:rPr lang="en-AU" sz="1200" kern="1200" dirty="0" smtClean="0">
                <a:solidFill>
                  <a:schemeClr val="tx1"/>
                </a:solidFill>
                <a:latin typeface="+mn-lt"/>
                <a:ea typeface="+mn-ea"/>
                <a:cs typeface="+mn-cs"/>
              </a:rPr>
              <a:t> Speaking with management, supervisor and more experienced staff to ask them what requirements apply</a:t>
            </a:r>
          </a:p>
          <a:p>
            <a:pPr lvl="0">
              <a:buFont typeface="Arial" pitchFamily="34" charset="0"/>
              <a:buChar char="•"/>
            </a:pPr>
            <a:r>
              <a:rPr lang="en-AU" sz="1200" kern="1200" dirty="0" smtClean="0">
                <a:solidFill>
                  <a:schemeClr val="tx1"/>
                </a:solidFill>
                <a:latin typeface="+mn-lt"/>
                <a:ea typeface="+mn-ea"/>
                <a:cs typeface="+mn-cs"/>
              </a:rPr>
              <a:t> Reading company policies and procedures applying to food – including those relating to safe food handling, staff work practices, personal hygiene, personal presentation and staff sickness. These policies and procedures may be available:</a:t>
            </a:r>
          </a:p>
          <a:p>
            <a:pPr lvl="1">
              <a:buFont typeface="Arial" pitchFamily="34" charset="0"/>
              <a:buChar char="•"/>
            </a:pPr>
            <a:r>
              <a:rPr lang="en-AU" sz="1200" kern="1200" dirty="0" smtClean="0">
                <a:solidFill>
                  <a:schemeClr val="tx1"/>
                </a:solidFill>
                <a:latin typeface="+mn-lt"/>
                <a:ea typeface="+mn-ea"/>
                <a:cs typeface="+mn-cs"/>
              </a:rPr>
              <a:t> In a staff handbook</a:t>
            </a:r>
          </a:p>
          <a:p>
            <a:pPr lvl="1">
              <a:buFont typeface="Arial" pitchFamily="34" charset="0"/>
              <a:buChar char="•"/>
            </a:pPr>
            <a:r>
              <a:rPr lang="en-AU" sz="1200" kern="1200" dirty="0" smtClean="0">
                <a:solidFill>
                  <a:schemeClr val="tx1"/>
                </a:solidFill>
                <a:latin typeface="+mn-lt"/>
                <a:ea typeface="+mn-ea"/>
                <a:cs typeface="+mn-cs"/>
              </a:rPr>
              <a:t> In a ‘Policies and procedures manual’ available for inspection by staff in staff rooms, meal rooms and change rooms</a:t>
            </a:r>
          </a:p>
          <a:p>
            <a:pPr lvl="1">
              <a:buFont typeface="Arial" pitchFamily="34" charset="0"/>
              <a:buChar char="•"/>
            </a:pPr>
            <a:r>
              <a:rPr lang="en-AU" sz="1200" kern="1200" dirty="0" smtClean="0">
                <a:solidFill>
                  <a:schemeClr val="tx1"/>
                </a:solidFill>
                <a:latin typeface="+mn-lt"/>
                <a:ea typeface="+mn-ea"/>
                <a:cs typeface="+mn-cs"/>
              </a:rPr>
              <a:t> Through an in internal intranet system</a:t>
            </a:r>
          </a:p>
          <a:p>
            <a:pPr lvl="1">
              <a:buFont typeface="Arial" pitchFamily="34" charset="0"/>
              <a:buChar char="•"/>
            </a:pPr>
            <a:r>
              <a:rPr lang="en-AU" sz="1200" kern="1200" dirty="0" smtClean="0">
                <a:solidFill>
                  <a:schemeClr val="tx1"/>
                </a:solidFill>
                <a:latin typeface="+mn-lt"/>
                <a:ea typeface="+mn-ea"/>
                <a:cs typeface="+mn-cs"/>
              </a:rPr>
              <a:t> As checklists and posters in the workplace – strategically located to provide staff with on-the-spot directions to help create and maintain a  safe food environment.</a:t>
            </a:r>
          </a:p>
          <a:p>
            <a:pPr lvl="0">
              <a:buFont typeface="Arial" pitchFamily="34" charset="0"/>
              <a:buChar char="•"/>
            </a:pPr>
            <a:r>
              <a:rPr lang="en-AU" sz="1200" kern="1200" dirty="0" smtClean="0">
                <a:solidFill>
                  <a:schemeClr val="tx1"/>
                </a:solidFill>
                <a:latin typeface="+mn-lt"/>
                <a:ea typeface="+mn-ea"/>
                <a:cs typeface="+mn-cs"/>
              </a:rPr>
              <a:t> Attending all mandatory in-house training – many employers require all food handlers to attend and successfully complete a ‘basic food hygiene’ course (or similar) before they are allowed to handle food in any way. Some employers require all food handlers to have completed an externally conducted, and</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approved food safety course in addition to internal training (or as an alternative to it).</a:t>
            </a:r>
          </a:p>
          <a:p>
            <a:pPr lvl="0">
              <a:buFont typeface="Arial" pitchFamily="34" charset="0"/>
              <a:buChar char="•"/>
            </a:pPr>
            <a:r>
              <a:rPr lang="en-AU" sz="1200" kern="1200" dirty="0" smtClean="0">
                <a:solidFill>
                  <a:schemeClr val="tx1"/>
                </a:solidFill>
                <a:latin typeface="+mn-lt"/>
                <a:ea typeface="+mn-ea"/>
                <a:cs typeface="+mn-cs"/>
              </a:rPr>
              <a:t> Observing practices of other staff</a:t>
            </a:r>
            <a:r>
              <a:rPr lang="en-AU" sz="1200" kern="1200" baseline="0" dirty="0" smtClean="0">
                <a:solidFill>
                  <a:schemeClr val="tx1"/>
                </a:solidFill>
                <a:latin typeface="+mn-lt"/>
                <a:ea typeface="+mn-ea"/>
                <a:cs typeface="+mn-cs"/>
              </a:rPr>
              <a:t> and </a:t>
            </a:r>
            <a:r>
              <a:rPr lang="en-AU" sz="1200" kern="1200" dirty="0" smtClean="0">
                <a:solidFill>
                  <a:schemeClr val="tx1"/>
                </a:solidFill>
                <a:latin typeface="+mn-lt"/>
                <a:ea typeface="+mn-ea"/>
                <a:cs typeface="+mn-cs"/>
              </a:rPr>
              <a:t>food handlers – and following their lead</a:t>
            </a:r>
          </a:p>
          <a:p>
            <a:pPr lvl="0">
              <a:buFont typeface="Arial" pitchFamily="34" charset="0"/>
              <a:buChar char="•"/>
            </a:pPr>
            <a:r>
              <a:rPr lang="en-AU" sz="1200" kern="1200" dirty="0" smtClean="0">
                <a:solidFill>
                  <a:schemeClr val="tx1"/>
                </a:solidFill>
                <a:latin typeface="+mn-lt"/>
                <a:ea typeface="+mn-ea"/>
                <a:cs typeface="+mn-cs"/>
              </a:rPr>
              <a:t> Asking questions – of trainers, supervisors, other staff, co-workers</a:t>
            </a:r>
          </a:p>
          <a:p>
            <a:pPr lvl="0">
              <a:buFont typeface="Arial" pitchFamily="34" charset="0"/>
              <a:buChar char="•"/>
            </a:pPr>
            <a:r>
              <a:rPr lang="en-AU" sz="1200" kern="1200" dirty="0" smtClean="0">
                <a:solidFill>
                  <a:schemeClr val="tx1"/>
                </a:solidFill>
                <a:latin typeface="+mn-lt"/>
                <a:ea typeface="+mn-ea"/>
                <a:cs typeface="+mn-cs"/>
              </a:rPr>
              <a:t> Talking to health authorities – and asking them what applies and what has to be complied with.</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dirty="0" smtClean="0">
                <a:solidFill>
                  <a:schemeClr val="tx1"/>
                </a:solidFill>
                <a:latin typeface="+mn-lt"/>
                <a:ea typeface="+mn-ea"/>
                <a:cs typeface="+mn-cs"/>
              </a:rPr>
              <a:t>Class Activity – Guest Speaker</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dirty="0" smtClean="0">
                <a:solidFill>
                  <a:schemeClr val="tx1"/>
                </a:solidFill>
                <a:latin typeface="+mn-lt"/>
                <a:ea typeface="+mn-ea"/>
                <a:cs typeface="+mn-cs"/>
              </a:rPr>
              <a:t>Trainer arranges for a senior manager</a:t>
            </a:r>
            <a:r>
              <a:rPr lang="en-AU" sz="1200" b="0" kern="1200" baseline="0" dirty="0" smtClean="0">
                <a:solidFill>
                  <a:schemeClr val="tx1"/>
                </a:solidFill>
                <a:latin typeface="+mn-lt"/>
                <a:ea typeface="+mn-ea"/>
                <a:cs typeface="+mn-cs"/>
              </a:rPr>
              <a:t> or </a:t>
            </a:r>
            <a:r>
              <a:rPr lang="en-AU" sz="1200" b="0" kern="1200" dirty="0" smtClean="0">
                <a:solidFill>
                  <a:schemeClr val="tx1"/>
                </a:solidFill>
                <a:latin typeface="+mn-lt"/>
                <a:ea typeface="+mn-ea"/>
                <a:cs typeface="+mn-cs"/>
              </a:rPr>
              <a:t>owner of a food premises to attend and talk to trainees about: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latin typeface="+mn-lt"/>
                <a:ea typeface="+mn-ea"/>
                <a:cs typeface="+mn-cs"/>
              </a:rPr>
              <a:t> Potential negative impacts of not complying</a:t>
            </a:r>
            <a:r>
              <a:rPr lang="en-AU" sz="1200" b="0" kern="1200" baseline="0" dirty="0" smtClean="0">
                <a:solidFill>
                  <a:schemeClr val="tx1"/>
                </a:solidFill>
                <a:latin typeface="+mn-lt"/>
                <a:ea typeface="+mn-ea"/>
                <a:cs typeface="+mn-cs"/>
              </a:rPr>
              <a:t> with appropriate personal practice, health and presentation requirements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 The requirements they have for staff personal practice, health and presentation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 How they address staff failing to comply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 Training available to communicate these requirements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 How staff become aware of these requirements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 Why each requirement was put in place.</a:t>
            </a:r>
            <a:endParaRPr lang="en-AU" sz="1200" b="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161</a:t>
            </a:fld>
            <a:endParaRPr lang="en-US" dirty="0"/>
          </a:p>
        </p:txBody>
      </p:sp>
    </p:spTree>
    <p:extLst>
      <p:ext uri="{BB962C8B-B14F-4D97-AF65-F5344CB8AC3E}">
        <p14:creationId xmlns:p14="http://schemas.microsoft.com/office/powerpoint/2010/main" val="75153440"/>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Trainer reminds trainees all the enterprise standards and legislated requirements identified by investigation, research,</a:t>
            </a:r>
            <a:r>
              <a:rPr lang="en-AU" sz="1200" kern="1200" baseline="0" dirty="0" smtClean="0">
                <a:solidFill>
                  <a:schemeClr val="tx1"/>
                </a:solidFill>
                <a:latin typeface="+mn-lt"/>
                <a:ea typeface="+mn-ea"/>
                <a:cs typeface="+mn-cs"/>
              </a:rPr>
              <a:t> training, talking to management and reading internal policies and procedures </a:t>
            </a:r>
            <a:r>
              <a:rPr lang="en-AU" sz="1200" kern="1200" dirty="0" smtClean="0">
                <a:solidFill>
                  <a:schemeClr val="tx1"/>
                </a:solidFill>
                <a:latin typeface="+mn-lt"/>
                <a:ea typeface="+mn-ea"/>
                <a:cs typeface="+mn-cs"/>
              </a:rPr>
              <a:t>must be adhered to at all times by food handlers.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Trainer identifies requirements relating to staff uniforms as being common throughout the industry highlighting for food handlers:</a:t>
            </a:r>
          </a:p>
          <a:p>
            <a:pPr>
              <a:buFont typeface="Arial" pitchFamily="34" charset="0"/>
              <a:buChar char="•"/>
            </a:pPr>
            <a:r>
              <a:rPr lang="en-AU" sz="1200" kern="1200" dirty="0" smtClean="0">
                <a:solidFill>
                  <a:schemeClr val="tx1"/>
                </a:solidFill>
                <a:latin typeface="+mn-lt"/>
                <a:ea typeface="+mn-ea"/>
                <a:cs typeface="+mn-cs"/>
              </a:rPr>
              <a:t> Most food establishments require a nominated uniform or other personal protective clothing to be worn when working</a:t>
            </a:r>
          </a:p>
          <a:p>
            <a:pPr>
              <a:buFont typeface="Arial" pitchFamily="34" charset="0"/>
              <a:buChar char="•"/>
            </a:pPr>
            <a:r>
              <a:rPr lang="en-AU" sz="1200" kern="1200" dirty="0" smtClean="0">
                <a:solidFill>
                  <a:schemeClr val="tx1"/>
                </a:solidFill>
                <a:latin typeface="+mn-lt"/>
                <a:ea typeface="+mn-ea"/>
                <a:cs typeface="+mn-cs"/>
              </a:rPr>
              <a:t> Protective clothing (apron, hat, coat, trousers) worn by food handlers must be clean – dirty clothing may directly or indirectly contaminate food and/or food preparation equipment or surfaces. All food handlers are obliged to ensure their clothing does not contaminate food or food-related equipment, utensils or surfaces </a:t>
            </a:r>
          </a:p>
          <a:p>
            <a:pPr>
              <a:buFont typeface="Arial" pitchFamily="34" charset="0"/>
              <a:buChar char="•"/>
            </a:pPr>
            <a:r>
              <a:rPr lang="en-AU" sz="1200" kern="1200" dirty="0" smtClean="0">
                <a:solidFill>
                  <a:schemeClr val="tx1"/>
                </a:solidFill>
                <a:latin typeface="+mn-lt"/>
                <a:ea typeface="+mn-ea"/>
                <a:cs typeface="+mn-cs"/>
              </a:rPr>
              <a:t> Clothing that becomes dirty and a risk to food must be changed – to avoid cross contamination. Outer clothing needs to be changed when it has become soiled as a result of handling exposed (that is, not packaged) high risk raw food and there is then a need to handle exposed ready-to-eat food</a:t>
            </a:r>
          </a:p>
          <a:p>
            <a:pPr>
              <a:buFont typeface="Arial" pitchFamily="34" charset="0"/>
              <a:buChar char="•"/>
            </a:pPr>
            <a:r>
              <a:rPr lang="en-AU" sz="1200" kern="1200" dirty="0" smtClean="0">
                <a:solidFill>
                  <a:schemeClr val="tx1"/>
                </a:solidFill>
                <a:latin typeface="+mn-lt"/>
                <a:ea typeface="+mn-ea"/>
                <a:cs typeface="+mn-cs"/>
              </a:rPr>
              <a:t> Protective clothing such as aprons, overalls, hats, gloves and other outer protective clothing</a:t>
            </a:r>
            <a:r>
              <a:rPr lang="en-AU" sz="1200" kern="1200" baseline="0" dirty="0" smtClean="0">
                <a:solidFill>
                  <a:schemeClr val="tx1"/>
                </a:solidFill>
                <a:latin typeface="+mn-lt"/>
                <a:ea typeface="+mn-ea"/>
                <a:cs typeface="+mn-cs"/>
              </a:rPr>
              <a:t> and </a:t>
            </a:r>
            <a:r>
              <a:rPr lang="en-AU" sz="1200" kern="1200" dirty="0" smtClean="0">
                <a:solidFill>
                  <a:schemeClr val="tx1"/>
                </a:solidFill>
                <a:latin typeface="+mn-lt"/>
                <a:ea typeface="+mn-ea"/>
                <a:cs typeface="+mn-cs"/>
              </a:rPr>
              <a:t>equipment should be removed before visiting the toilet</a:t>
            </a:r>
          </a:p>
          <a:p>
            <a:pPr>
              <a:buFont typeface="Arial" pitchFamily="34" charset="0"/>
              <a:buChar char="•"/>
            </a:pPr>
            <a:endParaRPr lang="en-AU" sz="1200" kern="120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162</a:t>
            </a:fld>
            <a:endParaRPr lang="en-US" dirty="0"/>
          </a:p>
        </p:txBody>
      </p:sp>
    </p:spTree>
    <p:extLst>
      <p:ext uri="{BB962C8B-B14F-4D97-AF65-F5344CB8AC3E}">
        <p14:creationId xmlns:p14="http://schemas.microsoft.com/office/powerpoint/2010/main" val="4014525037"/>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advises trainees they must take care to ensure none of their clothing </a:t>
            </a:r>
            <a:r>
              <a:rPr lang="en-AU" sz="1200" b="1" kern="1200" dirty="0" smtClean="0">
                <a:solidFill>
                  <a:schemeClr val="tx1"/>
                </a:solidFill>
                <a:latin typeface="+mn-lt"/>
                <a:ea typeface="+mn-ea"/>
                <a:cs typeface="+mn-cs"/>
              </a:rPr>
              <a:t>or other items </a:t>
            </a:r>
            <a:r>
              <a:rPr lang="en-AU" sz="1200" kern="1200" dirty="0" smtClean="0">
                <a:solidFill>
                  <a:schemeClr val="tx1"/>
                </a:solidFill>
                <a:latin typeface="+mn-lt"/>
                <a:ea typeface="+mn-ea"/>
                <a:cs typeface="+mn-cs"/>
              </a:rPr>
              <a:t>they wear will contaminate the food they handle explaining the biggest cause of concern in this regard is items falling into the food and present a physical contamination problem, and clothing making contact with food or food contact surfaces and providing a source of cross contamination.</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Trainer presents practical measures to help guard against contamination from clothes:</a:t>
            </a:r>
          </a:p>
          <a:p>
            <a:pPr lvl="0">
              <a:buFont typeface="Arial" pitchFamily="34" charset="0"/>
              <a:buChar char="•"/>
            </a:pPr>
            <a:r>
              <a:rPr lang="en-AU" sz="1200" kern="1200" dirty="0" smtClean="0">
                <a:solidFill>
                  <a:schemeClr val="tx1"/>
                </a:solidFill>
                <a:latin typeface="+mn-lt"/>
                <a:ea typeface="+mn-ea"/>
                <a:cs typeface="+mn-cs"/>
              </a:rPr>
              <a:t> Ensure uniform</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food handling clothes are not loose – or sleeves can dangle into food, and present an OHS danger</a:t>
            </a:r>
          </a:p>
          <a:p>
            <a:pPr lvl="0">
              <a:buFont typeface="Arial" pitchFamily="34" charset="0"/>
              <a:buChar char="•"/>
            </a:pPr>
            <a:r>
              <a:rPr lang="en-AU" sz="1200" kern="1200" dirty="0" smtClean="0">
                <a:solidFill>
                  <a:schemeClr val="tx1"/>
                </a:solidFill>
                <a:latin typeface="+mn-lt"/>
                <a:ea typeface="+mn-ea"/>
                <a:cs typeface="+mn-cs"/>
              </a:rPr>
              <a:t> Ensure buttons on food handling clothes are not loose – to prevent them falling into food and presenting a physical contaminant</a:t>
            </a:r>
          </a:p>
          <a:p>
            <a:pPr lvl="0">
              <a:buFont typeface="Arial" pitchFamily="34" charset="0"/>
              <a:buChar char="•"/>
            </a:pPr>
            <a:r>
              <a:rPr lang="en-AU" sz="1200" kern="1200" dirty="0" smtClean="0">
                <a:solidFill>
                  <a:schemeClr val="tx1"/>
                </a:solidFill>
                <a:latin typeface="+mn-lt"/>
                <a:ea typeface="+mn-ea"/>
                <a:cs typeface="+mn-cs"/>
              </a:rPr>
              <a:t> Avoid adding brooches, name tags, clips, pins to clothes – unless they are securely fastened and unable to fall off</a:t>
            </a:r>
          </a:p>
          <a:p>
            <a:pPr lvl="0">
              <a:buFont typeface="Arial" pitchFamily="34" charset="0"/>
              <a:buChar char="•"/>
            </a:pPr>
            <a:r>
              <a:rPr lang="en-AU" sz="1200" kern="1200" dirty="0" smtClean="0">
                <a:solidFill>
                  <a:schemeClr val="tx1"/>
                </a:solidFill>
                <a:latin typeface="+mn-lt"/>
                <a:ea typeface="+mn-ea"/>
                <a:cs typeface="+mn-cs"/>
              </a:rPr>
              <a:t> Do not wear food handling clothes to and from work – as they can pick up dirt and present a cross contamination hazard.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163</a:t>
            </a:fld>
            <a:endParaRPr lang="en-US" dirty="0"/>
          </a:p>
        </p:txBody>
      </p:sp>
    </p:spTree>
    <p:extLst>
      <p:ext uri="{BB962C8B-B14F-4D97-AF65-F5344CB8AC3E}">
        <p14:creationId xmlns:p14="http://schemas.microsoft.com/office/powerpoint/2010/main" val="3634701856"/>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presents trainees with practical measures to avoid food safety problems from jewellery:</a:t>
            </a:r>
          </a:p>
          <a:p>
            <a:pPr lvl="0">
              <a:buFont typeface="Arial" pitchFamily="34" charset="0"/>
              <a:buChar char="•"/>
            </a:pPr>
            <a:r>
              <a:rPr lang="en-AU" sz="1200" kern="1200" dirty="0" smtClean="0">
                <a:solidFill>
                  <a:schemeClr val="tx1"/>
                </a:solidFill>
                <a:latin typeface="+mn-lt"/>
                <a:ea typeface="+mn-ea"/>
                <a:cs typeface="+mn-cs"/>
              </a:rPr>
              <a:t> As a food handler avoid all jewellery – and watches – on hands and wrists. Even plain, banded rings can cause a potential food poisoning source.</a:t>
            </a:r>
          </a:p>
          <a:p>
            <a:pPr>
              <a:buFont typeface="Arial" pitchFamily="34" charset="0"/>
              <a:buChar char="•"/>
            </a:pPr>
            <a:r>
              <a:rPr lang="en-AU" sz="1200" kern="1200" dirty="0" smtClean="0">
                <a:solidFill>
                  <a:schemeClr val="tx1"/>
                </a:solidFill>
                <a:latin typeface="+mn-lt"/>
                <a:ea typeface="+mn-ea"/>
                <a:cs typeface="+mn-cs"/>
              </a:rPr>
              <a:t> Disposable gloves should be when handling food if these are worn. Some house rules ban the wearing of all jewellery by food handlers </a:t>
            </a:r>
          </a:p>
          <a:p>
            <a:pPr lvl="0">
              <a:buFont typeface="Arial" pitchFamily="34" charset="0"/>
              <a:buChar char="•"/>
            </a:pPr>
            <a:r>
              <a:rPr lang="en-AU" sz="1200" kern="1200" dirty="0" smtClean="0">
                <a:solidFill>
                  <a:schemeClr val="tx1"/>
                </a:solidFill>
                <a:latin typeface="+mn-lt"/>
                <a:ea typeface="+mn-ea"/>
                <a:cs typeface="+mn-cs"/>
              </a:rPr>
              <a:t> Do not wear ear-rings – ear-rings that dangle are the worst but not wearing them at all is preferable. Sleepers may be acceptable but check house rules first</a:t>
            </a:r>
          </a:p>
          <a:p>
            <a:pPr lvl="0">
              <a:buFont typeface="Arial" pitchFamily="34" charset="0"/>
              <a:buChar char="•"/>
            </a:pPr>
            <a:r>
              <a:rPr lang="en-AU" sz="1200" kern="1200" dirty="0" smtClean="0">
                <a:solidFill>
                  <a:schemeClr val="tx1"/>
                </a:solidFill>
                <a:latin typeface="+mn-lt"/>
                <a:ea typeface="+mn-ea"/>
                <a:cs typeface="+mn-cs"/>
              </a:rPr>
              <a:t> Avoid fiddling with jewellery – especially ear-rings in pierced ears. This can cause cross contamination and also loosen items making them more likely to fall off.</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164</a:t>
            </a:fld>
            <a:endParaRPr lang="en-US" dirty="0"/>
          </a:p>
        </p:txBody>
      </p:sp>
    </p:spTree>
    <p:extLst>
      <p:ext uri="{BB962C8B-B14F-4D97-AF65-F5344CB8AC3E}">
        <p14:creationId xmlns:p14="http://schemas.microsoft.com/office/powerpoint/2010/main" val="1841885119"/>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highlights practical measures to trainees relating to the wearing of hair ornaments for food handlers:</a:t>
            </a:r>
          </a:p>
          <a:p>
            <a:pPr lvl="0">
              <a:buFont typeface="Arial" pitchFamily="34" charset="0"/>
              <a:buChar char="•"/>
            </a:pPr>
            <a:r>
              <a:rPr lang="en-AU" sz="1200" kern="1200" dirty="0" smtClean="0">
                <a:solidFill>
                  <a:schemeClr val="tx1"/>
                </a:solidFill>
                <a:latin typeface="+mn-lt"/>
                <a:ea typeface="+mn-ea"/>
                <a:cs typeface="+mn-cs"/>
              </a:rPr>
              <a:t> Do not wear hair clips or hair pins</a:t>
            </a:r>
          </a:p>
          <a:p>
            <a:pPr lvl="0">
              <a:buFont typeface="Arial" pitchFamily="34" charset="0"/>
              <a:buChar char="•"/>
            </a:pPr>
            <a:r>
              <a:rPr lang="en-AU" sz="1200" kern="1200" dirty="0" smtClean="0">
                <a:solidFill>
                  <a:schemeClr val="tx1"/>
                </a:solidFill>
                <a:latin typeface="+mn-lt"/>
                <a:ea typeface="+mn-ea"/>
                <a:cs typeface="+mn-cs"/>
              </a:rPr>
              <a:t> As a food handler it is preferable to wear no hair ornaments at all </a:t>
            </a:r>
          </a:p>
          <a:p>
            <a:pPr lvl="0">
              <a:buFont typeface="Arial" pitchFamily="34" charset="0"/>
              <a:buChar char="•"/>
            </a:pPr>
            <a:r>
              <a:rPr lang="en-AU" sz="1200" kern="1200" dirty="0" smtClean="0">
                <a:solidFill>
                  <a:schemeClr val="tx1"/>
                </a:solidFill>
                <a:latin typeface="+mn-lt"/>
                <a:ea typeface="+mn-ea"/>
                <a:cs typeface="+mn-cs"/>
              </a:rPr>
              <a:t> If something is worn in the hair, double-check to ensure it is securely fastened in place</a:t>
            </a:r>
          </a:p>
          <a:p>
            <a:pPr lvl="0">
              <a:buFont typeface="Arial" pitchFamily="34" charset="0"/>
              <a:buChar char="•"/>
            </a:pPr>
            <a:r>
              <a:rPr lang="en-AU" sz="1200" kern="1200" dirty="0" smtClean="0">
                <a:solidFill>
                  <a:schemeClr val="tx1"/>
                </a:solidFill>
                <a:latin typeface="+mn-lt"/>
                <a:ea typeface="+mn-ea"/>
                <a:cs typeface="+mn-cs"/>
              </a:rPr>
              <a:t> Wear a hair net or hat to guard against items falling out of the hair and into food or into food preparation equipment or onto food preparation surfaces</a:t>
            </a:r>
          </a:p>
          <a:p>
            <a:pPr lvl="0">
              <a:buFont typeface="Arial" pitchFamily="34" charset="0"/>
              <a:buChar char="•"/>
            </a:pPr>
            <a:r>
              <a:rPr lang="en-AU" sz="1200" kern="1200" dirty="0" smtClean="0">
                <a:solidFill>
                  <a:schemeClr val="tx1"/>
                </a:solidFill>
                <a:latin typeface="+mn-lt"/>
                <a:ea typeface="+mn-ea"/>
                <a:cs typeface="+mn-cs"/>
              </a:rPr>
              <a:t> Men may be required to wear a beard snood – to stop facial hair</a:t>
            </a:r>
            <a:r>
              <a:rPr lang="en-AU" sz="1200" kern="1200" baseline="0" dirty="0" smtClean="0">
                <a:solidFill>
                  <a:schemeClr val="tx1"/>
                </a:solidFill>
                <a:latin typeface="+mn-lt"/>
                <a:ea typeface="+mn-ea"/>
                <a:cs typeface="+mn-cs"/>
              </a:rPr>
              <a:t> falling into food</a:t>
            </a:r>
            <a:r>
              <a:rPr lang="en-AU" sz="1200" kern="1200" dirty="0" smtClean="0">
                <a:solidFill>
                  <a:schemeClr val="tx1"/>
                </a:solidFill>
                <a:latin typeface="+mn-lt"/>
                <a:ea typeface="+mn-ea"/>
                <a:cs typeface="+mn-cs"/>
              </a:rPr>
              <a: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165</a:t>
            </a:fld>
            <a:endParaRPr lang="en-US" dirty="0"/>
          </a:p>
        </p:txBody>
      </p:sp>
    </p:spTree>
    <p:extLst>
      <p:ext uri="{BB962C8B-B14F-4D97-AF65-F5344CB8AC3E}">
        <p14:creationId xmlns:p14="http://schemas.microsoft.com/office/powerpoint/2010/main" val="3821472567"/>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sz="1200" kern="1200" dirty="0" smtClean="0">
                <a:solidFill>
                  <a:schemeClr val="tx1"/>
                </a:solidFill>
                <a:latin typeface="+mn-lt"/>
                <a:ea typeface="+mn-ea"/>
                <a:cs typeface="+mn-cs"/>
              </a:rPr>
              <a:t>Trainer introduces the topic of hand washing to trainees </a:t>
            </a:r>
            <a:r>
              <a:rPr lang="en-AU" sz="1200" b="1" kern="1200" dirty="0" smtClean="0">
                <a:solidFill>
                  <a:schemeClr val="tx1"/>
                </a:solidFill>
                <a:latin typeface="+mn-lt"/>
                <a:ea typeface="+mn-ea"/>
                <a:cs typeface="+mn-cs"/>
              </a:rPr>
              <a:t>emphasising this is an extremely important section </a:t>
            </a:r>
            <a:r>
              <a:rPr lang="en-AU" sz="1200" kern="1200" dirty="0" smtClean="0">
                <a:solidFill>
                  <a:schemeClr val="tx1"/>
                </a:solidFill>
                <a:latin typeface="+mn-lt"/>
                <a:ea typeface="+mn-ea"/>
                <a:cs typeface="+mn-cs"/>
              </a:rPr>
              <a:t>and stressing health authorities believe the single most important aspect in preventing food poisoning outbreaks is for food handlers to wash their hands properly and to wash them ‘when required’.</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AU" sz="1200" kern="1200" dirty="0" smtClean="0">
                <a:solidFill>
                  <a:schemeClr val="tx1"/>
                </a:solidFill>
                <a:latin typeface="+mn-lt"/>
                <a:ea typeface="+mn-ea"/>
                <a:cs typeface="+mn-cs"/>
              </a:rPr>
              <a:t>Trainer stresses hands need to be washed in order to remove potential food poisoning sources from the hands so the possibility of cross contamination is reduced.</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166</a:t>
            </a:fld>
            <a:endParaRPr lang="en-US" dirty="0"/>
          </a:p>
        </p:txBody>
      </p:sp>
    </p:spTree>
    <p:extLst>
      <p:ext uri="{BB962C8B-B14F-4D97-AF65-F5344CB8AC3E}">
        <p14:creationId xmlns:p14="http://schemas.microsoft.com/office/powerpoint/2010/main" val="247258235"/>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identifies to trainees the times when food handlers must wash their hands:</a:t>
            </a:r>
          </a:p>
          <a:p>
            <a:pPr lvl="0">
              <a:buFont typeface="Arial" pitchFamily="34" charset="0"/>
              <a:buChar char="•"/>
            </a:pPr>
            <a:r>
              <a:rPr lang="en-AU" sz="1200" kern="1200" dirty="0" smtClean="0">
                <a:solidFill>
                  <a:schemeClr val="tx1"/>
                </a:solidFill>
                <a:latin typeface="+mn-lt"/>
                <a:ea typeface="+mn-ea"/>
                <a:cs typeface="+mn-cs"/>
              </a:rPr>
              <a:t> Any time the hands are likely to be a source of contamination – this can cover a wide range of possible circumstances and it is impossible to identify them all but the following is a representative list:</a:t>
            </a:r>
          </a:p>
          <a:p>
            <a:pPr lvl="1">
              <a:buFont typeface="Arial" pitchFamily="34" charset="0"/>
              <a:buChar char="•"/>
            </a:pPr>
            <a:r>
              <a:rPr lang="en-AU" sz="1200" kern="1200" dirty="0" smtClean="0">
                <a:solidFill>
                  <a:schemeClr val="tx1"/>
                </a:solidFill>
                <a:latin typeface="+mn-lt"/>
                <a:ea typeface="+mn-ea"/>
                <a:cs typeface="+mn-cs"/>
              </a:rPr>
              <a:t> After handling rubbish and before handling food or food contact surfaces</a:t>
            </a:r>
          </a:p>
          <a:p>
            <a:pPr lvl="1">
              <a:buFont typeface="Arial" pitchFamily="34" charset="0"/>
              <a:buChar char="•"/>
            </a:pPr>
            <a:r>
              <a:rPr lang="en-AU" sz="1200" kern="1200" dirty="0" smtClean="0">
                <a:solidFill>
                  <a:schemeClr val="tx1"/>
                </a:solidFill>
                <a:latin typeface="+mn-lt"/>
                <a:ea typeface="+mn-ea"/>
                <a:cs typeface="+mn-cs"/>
              </a:rPr>
              <a:t> After undertaking cleaning duties and before handling food or food contact surfaces</a:t>
            </a:r>
          </a:p>
          <a:p>
            <a:pPr lvl="1">
              <a:buFont typeface="Arial" pitchFamily="34" charset="0"/>
              <a:buChar char="•"/>
            </a:pPr>
            <a:r>
              <a:rPr lang="en-AU" sz="1200" kern="1200" dirty="0" smtClean="0">
                <a:solidFill>
                  <a:schemeClr val="tx1"/>
                </a:solidFill>
                <a:latin typeface="+mn-lt"/>
                <a:ea typeface="+mn-ea"/>
                <a:cs typeface="+mn-cs"/>
              </a:rPr>
              <a:t> After handling animals and before handling food or food contact surfaces</a:t>
            </a:r>
          </a:p>
          <a:p>
            <a:pPr lvl="1">
              <a:buFont typeface="Arial" pitchFamily="34" charset="0"/>
              <a:buChar char="•"/>
            </a:pPr>
            <a:r>
              <a:rPr lang="en-AU" sz="1200" kern="1200" dirty="0" smtClean="0">
                <a:solidFill>
                  <a:schemeClr val="tx1"/>
                </a:solidFill>
                <a:latin typeface="+mn-lt"/>
                <a:ea typeface="+mn-ea"/>
                <a:cs typeface="+mn-cs"/>
              </a:rPr>
              <a:t> After changing a baby’s nappy and before handling food or food contact surfaces</a:t>
            </a:r>
          </a:p>
          <a:p>
            <a:pPr lvl="1">
              <a:buFont typeface="Arial" pitchFamily="34" charset="0"/>
              <a:buChar char="•"/>
            </a:pPr>
            <a:r>
              <a:rPr lang="en-AU" sz="1200" kern="1200" dirty="0" smtClean="0">
                <a:solidFill>
                  <a:schemeClr val="tx1"/>
                </a:solidFill>
                <a:latin typeface="+mn-lt"/>
                <a:ea typeface="+mn-ea"/>
                <a:cs typeface="+mn-cs"/>
              </a:rPr>
              <a:t> After handling money and before handling food or food contact surfaces</a:t>
            </a:r>
          </a:p>
          <a:p>
            <a:pPr lvl="1">
              <a:buFont typeface="Arial" pitchFamily="34" charset="0"/>
              <a:buChar char="•"/>
            </a:pPr>
            <a:r>
              <a:rPr lang="en-AU" sz="1200" kern="1200" dirty="0" smtClean="0">
                <a:solidFill>
                  <a:schemeClr val="tx1"/>
                </a:solidFill>
                <a:latin typeface="+mn-lt"/>
                <a:ea typeface="+mn-ea"/>
                <a:cs typeface="+mn-cs"/>
              </a:rPr>
              <a:t> In between handling raw food (meat, fish or chicken) and handling other foods such as cooked and/or ready-to-eat food</a:t>
            </a:r>
          </a:p>
          <a:p>
            <a:pPr>
              <a:buFont typeface="Arial" pitchFamily="34" charset="0"/>
              <a:buNone/>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167</a:t>
            </a:fld>
            <a:endParaRPr lang="en-US" dirty="0"/>
          </a:p>
        </p:txBody>
      </p:sp>
    </p:spTree>
    <p:extLst>
      <p:ext uri="{BB962C8B-B14F-4D97-AF65-F5344CB8AC3E}">
        <p14:creationId xmlns:p14="http://schemas.microsoft.com/office/powerpoint/2010/main" val="1746205603"/>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to identify to trainees the times when food handlers must wash their hands:</a:t>
            </a:r>
          </a:p>
          <a:p>
            <a:pPr lvl="0">
              <a:buFont typeface="Arial" pitchFamily="34" charset="0"/>
              <a:buChar char="•"/>
            </a:pPr>
            <a:r>
              <a:rPr lang="en-AU" sz="1200" kern="1200" dirty="0" smtClean="0">
                <a:solidFill>
                  <a:schemeClr val="tx1"/>
                </a:solidFill>
                <a:latin typeface="+mn-lt"/>
                <a:ea typeface="+mn-ea"/>
                <a:cs typeface="+mn-cs"/>
              </a:rPr>
              <a:t> Before starting food handling duties – this means food handling staff must wash their hands when they arrive at work even though they may have showered, bathed or washed their hands at home before coming to work</a:t>
            </a:r>
          </a:p>
          <a:p>
            <a:pPr lvl="0">
              <a:buFont typeface="Arial" pitchFamily="34" charset="0"/>
              <a:buChar char="•"/>
            </a:pPr>
            <a:r>
              <a:rPr lang="en-AU" sz="1200" kern="1200" dirty="0" smtClean="0">
                <a:solidFill>
                  <a:schemeClr val="tx1"/>
                </a:solidFill>
                <a:latin typeface="+mn-lt"/>
                <a:ea typeface="+mn-ea"/>
                <a:cs typeface="+mn-cs"/>
              </a:rPr>
              <a:t> Immediately after engaging in nominated activities proven to be associated with bacterial transfer or cross contamination. The nominated activities include:</a:t>
            </a:r>
          </a:p>
          <a:p>
            <a:pPr lvl="1">
              <a:buFont typeface="Arial" pitchFamily="34" charset="0"/>
              <a:buChar char="•"/>
            </a:pPr>
            <a:r>
              <a:rPr lang="en-AU" sz="1200" kern="1200" dirty="0" smtClean="0">
                <a:solidFill>
                  <a:schemeClr val="tx1"/>
                </a:solidFill>
                <a:latin typeface="+mn-lt"/>
                <a:ea typeface="+mn-ea"/>
                <a:cs typeface="+mn-cs"/>
              </a:rPr>
              <a:t> Smoking – including using tobacco products</a:t>
            </a:r>
          </a:p>
          <a:p>
            <a:pPr lvl="1">
              <a:buFont typeface="Arial" pitchFamily="34" charset="0"/>
              <a:buChar char="•"/>
            </a:pPr>
            <a:r>
              <a:rPr lang="en-AU" sz="1200" kern="1200" dirty="0" smtClean="0">
                <a:solidFill>
                  <a:schemeClr val="tx1"/>
                </a:solidFill>
                <a:latin typeface="+mn-lt"/>
                <a:ea typeface="+mn-ea"/>
                <a:cs typeface="+mn-cs"/>
              </a:rPr>
              <a:t> Coughing or sneezing</a:t>
            </a:r>
          </a:p>
          <a:p>
            <a:pPr lvl="1">
              <a:buFont typeface="Arial" pitchFamily="34" charset="0"/>
              <a:buChar char="•"/>
            </a:pPr>
            <a:r>
              <a:rPr lang="en-AU" sz="1200" kern="1200" dirty="0" smtClean="0">
                <a:solidFill>
                  <a:schemeClr val="tx1"/>
                </a:solidFill>
                <a:latin typeface="+mn-lt"/>
                <a:ea typeface="+mn-ea"/>
                <a:cs typeface="+mn-cs"/>
              </a:rPr>
              <a:t> Using a handkerchief or nasal tissue – which includes blowing the nose</a:t>
            </a:r>
          </a:p>
          <a:p>
            <a:pPr lvl="1">
              <a:buFont typeface="Arial" pitchFamily="34" charset="0"/>
              <a:buChar char="•"/>
            </a:pPr>
            <a:r>
              <a:rPr lang="en-AU" sz="1200" kern="1200" dirty="0" smtClean="0">
                <a:solidFill>
                  <a:schemeClr val="tx1"/>
                </a:solidFill>
                <a:latin typeface="+mn-lt"/>
                <a:ea typeface="+mn-ea"/>
                <a:cs typeface="+mn-cs"/>
              </a:rPr>
              <a:t> Eating or drinking</a:t>
            </a:r>
          </a:p>
          <a:p>
            <a:pPr lvl="1">
              <a:buFont typeface="Arial" pitchFamily="34" charset="0"/>
              <a:buChar char="•"/>
            </a:pPr>
            <a:r>
              <a:rPr lang="en-AU" sz="1200" kern="1200" dirty="0" smtClean="0">
                <a:solidFill>
                  <a:schemeClr val="tx1"/>
                </a:solidFill>
                <a:latin typeface="+mn-lt"/>
                <a:ea typeface="+mn-ea"/>
                <a:cs typeface="+mn-cs"/>
              </a:rPr>
              <a:t> Touching hair, scalp, mouth, nose, ears, any body opening or any wound.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168</a:t>
            </a:fld>
            <a:endParaRPr lang="en-US" dirty="0"/>
          </a:p>
        </p:txBody>
      </p:sp>
    </p:spTree>
    <p:extLst>
      <p:ext uri="{BB962C8B-B14F-4D97-AF65-F5344CB8AC3E}">
        <p14:creationId xmlns:p14="http://schemas.microsoft.com/office/powerpoint/2010/main" val="32732952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to identify to trainees the times when food handlers must wash their hands:</a:t>
            </a:r>
          </a:p>
          <a:p>
            <a:pPr lvl="0">
              <a:buFont typeface="Arial" pitchFamily="34" charset="0"/>
              <a:buChar char="•"/>
            </a:pPr>
            <a:r>
              <a:rPr lang="en-AU" sz="1200" kern="1200" dirty="0" smtClean="0">
                <a:solidFill>
                  <a:schemeClr val="tx1"/>
                </a:solidFill>
                <a:latin typeface="+mn-lt"/>
                <a:ea typeface="+mn-ea"/>
                <a:cs typeface="+mn-cs"/>
              </a:rPr>
              <a:t> After any absence from the work station – this means every time a food handler leaves the kitchen (or other place where they are handling food), they must wash their hands on their return to work and before they handle food. These absences from the work station may involve or be caused by:</a:t>
            </a:r>
          </a:p>
          <a:p>
            <a:pPr lvl="1">
              <a:buFont typeface="Arial" pitchFamily="34" charset="0"/>
              <a:buChar char="•"/>
            </a:pPr>
            <a:r>
              <a:rPr lang="en-AU" sz="1200" kern="1200" dirty="0" smtClean="0">
                <a:solidFill>
                  <a:schemeClr val="tx1"/>
                </a:solidFill>
                <a:latin typeface="+mn-lt"/>
                <a:ea typeface="+mn-ea"/>
                <a:cs typeface="+mn-cs"/>
              </a:rPr>
              <a:t> Leaving the kitchen to accept a delivery of food into the premises from a supplier</a:t>
            </a:r>
          </a:p>
          <a:p>
            <a:pPr lvl="1">
              <a:buFont typeface="Arial" pitchFamily="34" charset="0"/>
              <a:buChar char="•"/>
            </a:pPr>
            <a:r>
              <a:rPr lang="en-AU" sz="1200" kern="1200" dirty="0" smtClean="0">
                <a:solidFill>
                  <a:schemeClr val="tx1"/>
                </a:solidFill>
                <a:latin typeface="+mn-lt"/>
                <a:ea typeface="+mn-ea"/>
                <a:cs typeface="+mn-cs"/>
              </a:rPr>
              <a:t> Taking a phone call</a:t>
            </a:r>
          </a:p>
          <a:p>
            <a:pPr lvl="1">
              <a:buFont typeface="Arial" pitchFamily="34" charset="0"/>
              <a:buChar char="•"/>
            </a:pPr>
            <a:r>
              <a:rPr lang="en-AU" sz="1200" kern="1200" dirty="0" smtClean="0">
                <a:solidFill>
                  <a:schemeClr val="tx1"/>
                </a:solidFill>
                <a:latin typeface="+mn-lt"/>
                <a:ea typeface="+mn-ea"/>
                <a:cs typeface="+mn-cs"/>
              </a:rPr>
              <a:t> Doing another job that is not a food-related task</a:t>
            </a:r>
          </a:p>
          <a:p>
            <a:pPr lvl="0">
              <a:buFont typeface="Arial" pitchFamily="34" charset="0"/>
              <a:buChar char="•"/>
            </a:pPr>
            <a:r>
              <a:rPr lang="en-AU" sz="1200" kern="1200" dirty="0" smtClean="0">
                <a:solidFill>
                  <a:schemeClr val="tx1"/>
                </a:solidFill>
                <a:latin typeface="+mn-lt"/>
                <a:ea typeface="+mn-ea"/>
                <a:cs typeface="+mn-cs"/>
              </a:rPr>
              <a:t> Immediately after using the toilet and before handling food or food contact surfaces – this applies to all instances where the toilet was used and includes a requirement to wash hands after urination as well as after defecation.</a:t>
            </a:r>
          </a:p>
          <a:p>
            <a:pPr lvl="0">
              <a:buFont typeface="Arial" pitchFamily="34" charset="0"/>
              <a:buNone/>
            </a:pPr>
            <a:endParaRPr lang="en-AU" sz="1200" kern="1200" dirty="0" smtClean="0">
              <a:solidFill>
                <a:schemeClr val="tx1"/>
              </a:solidFill>
              <a:latin typeface="+mn-lt"/>
              <a:ea typeface="+mn-ea"/>
              <a:cs typeface="+mn-cs"/>
            </a:endParaRPr>
          </a:p>
          <a:p>
            <a:pPr lvl="0">
              <a:buFont typeface="Arial" pitchFamily="34" charset="0"/>
              <a:buNone/>
            </a:pPr>
            <a:endParaRPr lang="en-AU" sz="1200" kern="120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169</a:t>
            </a:fld>
            <a:endParaRPr lang="en-US" dirty="0"/>
          </a:p>
        </p:txBody>
      </p:sp>
    </p:spTree>
    <p:extLst>
      <p:ext uri="{BB962C8B-B14F-4D97-AF65-F5344CB8AC3E}">
        <p14:creationId xmlns:p14="http://schemas.microsoft.com/office/powerpoint/2010/main" val="717151555"/>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tells trainees management in food premises must provide staff with hand washing facilities which are:</a:t>
            </a:r>
          </a:p>
          <a:p>
            <a:pPr lvl="0">
              <a:buFont typeface="Arial" pitchFamily="34" charset="0"/>
              <a:buChar char="•"/>
            </a:pPr>
            <a:r>
              <a:rPr lang="en-AU" sz="1200" kern="1200" dirty="0" smtClean="0">
                <a:solidFill>
                  <a:schemeClr val="tx1"/>
                </a:solidFill>
                <a:latin typeface="+mn-lt"/>
                <a:ea typeface="+mn-ea"/>
                <a:cs typeface="+mn-cs"/>
              </a:rPr>
              <a:t> Be supplied with a continuous supply of warm running, potable water – the accepted temperature of this water to be 40ºC</a:t>
            </a:r>
          </a:p>
          <a:p>
            <a:pPr lvl="0">
              <a:buFont typeface="Arial" pitchFamily="34" charset="0"/>
              <a:buChar char="•"/>
            </a:pPr>
            <a:r>
              <a:rPr lang="en-AU" sz="1200" kern="1200" dirty="0" smtClean="0">
                <a:solidFill>
                  <a:schemeClr val="tx1"/>
                </a:solidFill>
                <a:latin typeface="+mn-lt"/>
                <a:ea typeface="+mn-ea"/>
                <a:cs typeface="+mn-cs"/>
              </a:rPr>
              <a:t> Be supplied with soap – most food premises use bulk soap dispensers dispensing liquid anti-bacterial soap: the use of bars of soap is to be avoided as the soap can transfer bacteria</a:t>
            </a:r>
          </a:p>
          <a:p>
            <a:pPr lvl="0">
              <a:buFont typeface="Arial" pitchFamily="34" charset="0"/>
              <a:buChar char="•"/>
            </a:pPr>
            <a:r>
              <a:rPr lang="en-AU" sz="1200" kern="1200" dirty="0" smtClean="0">
                <a:solidFill>
                  <a:schemeClr val="tx1"/>
                </a:solidFill>
                <a:latin typeface="+mn-lt"/>
                <a:ea typeface="+mn-ea"/>
                <a:cs typeface="+mn-cs"/>
              </a:rPr>
              <a:t> Only be used for washing hands, arms and face – the wash hand basins must not be used for other purposes such as a food preparation sink. Sinks in the kitchen</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food preparation area used for other purposes (washing vegetables, preparing food) must not be used for hand washing.</a:t>
            </a:r>
          </a:p>
          <a:p>
            <a:pPr lvl="0">
              <a:buFont typeface="Arial" pitchFamily="34" charset="0"/>
              <a:buChar char="•"/>
            </a:pPr>
            <a:r>
              <a:rPr lang="en-AU" sz="1200" kern="1200" dirty="0" smtClean="0">
                <a:solidFill>
                  <a:schemeClr val="tx1"/>
                </a:solidFill>
                <a:latin typeface="+mn-lt"/>
                <a:ea typeface="+mn-ea"/>
                <a:cs typeface="+mn-cs"/>
              </a:rPr>
              <a:t> Be of an appropriate size enabling the effective washing of hands</a:t>
            </a:r>
          </a:p>
          <a:p>
            <a:pPr lvl="0">
              <a:buFont typeface="Arial" pitchFamily="34" charset="0"/>
              <a:buChar char="•"/>
            </a:pPr>
            <a:r>
              <a:rPr lang="en-AU" sz="1200" kern="1200" dirty="0" smtClean="0">
                <a:solidFill>
                  <a:schemeClr val="tx1"/>
                </a:solidFill>
                <a:latin typeface="+mn-lt"/>
                <a:ea typeface="+mn-ea"/>
                <a:cs typeface="+mn-cs"/>
              </a:rPr>
              <a:t> Be supplied with appropriate means of drying the hands – this can be single-use (paper) towels and hot air dryers. It is not acceptable for a business to provide </a:t>
            </a:r>
            <a:r>
              <a:rPr lang="en-AU" sz="1200" i="1" kern="1200" dirty="0" smtClean="0">
                <a:solidFill>
                  <a:schemeClr val="tx1"/>
                </a:solidFill>
                <a:latin typeface="+mn-lt"/>
                <a:ea typeface="+mn-ea"/>
                <a:cs typeface="+mn-cs"/>
              </a:rPr>
              <a:t>only</a:t>
            </a:r>
            <a:r>
              <a:rPr lang="en-AU" sz="1200" kern="1200" dirty="0" smtClean="0">
                <a:solidFill>
                  <a:schemeClr val="tx1"/>
                </a:solidFill>
                <a:latin typeface="+mn-lt"/>
                <a:ea typeface="+mn-ea"/>
                <a:cs typeface="+mn-cs"/>
              </a:rPr>
              <a:t> a hot air dryer.  Re-usable towels can be used provided they are washed and dried after every use – this is extremely unlikely to happen in most businesses so the preferred option is to use paper</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disposable towel.</a:t>
            </a:r>
          </a:p>
          <a:p>
            <a:pPr lvl="0">
              <a:buFont typeface="Arial" pitchFamily="34" charset="0"/>
              <a:buChar char="•"/>
            </a:pPr>
            <a:r>
              <a:rPr lang="en-AU" sz="1200" kern="1200" dirty="0" smtClean="0">
                <a:solidFill>
                  <a:schemeClr val="tx1"/>
                </a:solidFill>
                <a:latin typeface="+mn-lt"/>
                <a:ea typeface="+mn-ea"/>
                <a:cs typeface="+mn-cs"/>
              </a:rPr>
              <a:t> Be supplied with a bin – for disposing of used disposable towels.</a:t>
            </a:r>
          </a:p>
          <a:p>
            <a:pPr>
              <a:buFont typeface="Arial" pitchFamily="34" charset="0"/>
              <a:buChar char="•"/>
            </a:pPr>
            <a:r>
              <a:rPr lang="en-AU" sz="1200" kern="1200" dirty="0" smtClean="0">
                <a:solidFill>
                  <a:schemeClr val="tx1"/>
                </a:solidFill>
                <a:latin typeface="+mn-lt"/>
                <a:ea typeface="+mn-ea"/>
                <a:cs typeface="+mn-cs"/>
              </a:rPr>
              <a:t> Consideration should also be given to providing a nail brush so proper hand washing (including cleaning under the fingernails) can occur</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170</a:t>
            </a:fld>
            <a:endParaRPr lang="en-US" dirty="0"/>
          </a:p>
        </p:txBody>
      </p:sp>
    </p:spTree>
    <p:extLst>
      <p:ext uri="{BB962C8B-B14F-4D97-AF65-F5344CB8AC3E}">
        <p14:creationId xmlns:p14="http://schemas.microsoft.com/office/powerpoint/2010/main" val="1846044645"/>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 to</a:t>
            </a:r>
            <a:r>
              <a:rPr lang="en-US" baseline="0" dirty="0" smtClean="0"/>
              <a:t> trainees how they should wash their hands as food handlers:</a:t>
            </a:r>
          </a:p>
          <a:p>
            <a:pPr lvl="0">
              <a:buFont typeface="Arial" pitchFamily="34" charset="0"/>
              <a:buChar char="•"/>
            </a:pPr>
            <a:r>
              <a:rPr lang="en-AU" sz="1200" kern="1200" dirty="0" smtClean="0">
                <a:solidFill>
                  <a:schemeClr val="tx1"/>
                </a:solidFill>
                <a:latin typeface="+mn-lt"/>
                <a:ea typeface="+mn-ea"/>
                <a:cs typeface="+mn-cs"/>
              </a:rPr>
              <a:t> Rinse off visible and easy to remove dirt</a:t>
            </a:r>
          </a:p>
          <a:p>
            <a:pPr lvl="0">
              <a:buFont typeface="Arial" pitchFamily="34" charset="0"/>
              <a:buChar char="•"/>
            </a:pPr>
            <a:r>
              <a:rPr lang="en-AU" sz="1200" kern="1200" dirty="0" smtClean="0">
                <a:solidFill>
                  <a:schemeClr val="tx1"/>
                </a:solidFill>
                <a:latin typeface="+mn-lt"/>
                <a:ea typeface="+mn-ea"/>
                <a:cs typeface="+mn-cs"/>
              </a:rPr>
              <a:t> Wash their hands for at least 20 seconds</a:t>
            </a:r>
          </a:p>
          <a:p>
            <a:pPr lvl="0">
              <a:buFont typeface="Arial" pitchFamily="34" charset="0"/>
              <a:buChar char="•"/>
            </a:pPr>
            <a:r>
              <a:rPr lang="en-AU" sz="1200" kern="1200" dirty="0" smtClean="0">
                <a:solidFill>
                  <a:schemeClr val="tx1"/>
                </a:solidFill>
                <a:latin typeface="+mn-lt"/>
                <a:ea typeface="+mn-ea"/>
                <a:cs typeface="+mn-cs"/>
              </a:rPr>
              <a:t> Thoroughly and vigorously massage the soap into the folds and creases of the hands and wrists</a:t>
            </a:r>
          </a:p>
          <a:p>
            <a:pPr lvl="0">
              <a:buFont typeface="Arial" pitchFamily="34" charset="0"/>
              <a:buChar char="•"/>
            </a:pPr>
            <a:r>
              <a:rPr lang="en-AU" sz="1200" kern="1200" dirty="0" smtClean="0">
                <a:solidFill>
                  <a:schemeClr val="tx1"/>
                </a:solidFill>
                <a:latin typeface="+mn-lt"/>
                <a:ea typeface="+mn-ea"/>
                <a:cs typeface="+mn-cs"/>
              </a:rPr>
              <a:t> Clean under the fingernails</a:t>
            </a:r>
          </a:p>
          <a:p>
            <a:pPr lvl="0">
              <a:buFont typeface="Arial" pitchFamily="34" charset="0"/>
              <a:buChar char="•"/>
            </a:pPr>
            <a:r>
              <a:rPr lang="en-AU" sz="1200" kern="1200" dirty="0" smtClean="0">
                <a:solidFill>
                  <a:schemeClr val="tx1"/>
                </a:solidFill>
                <a:latin typeface="+mn-lt"/>
                <a:ea typeface="+mn-ea"/>
                <a:cs typeface="+mn-cs"/>
              </a:rPr>
              <a:t> Rinse the soap from the hands</a:t>
            </a:r>
          </a:p>
          <a:p>
            <a:pPr lvl="0">
              <a:buFont typeface="Arial" pitchFamily="34" charset="0"/>
              <a:buChar char="•"/>
            </a:pPr>
            <a:r>
              <a:rPr lang="en-AU" sz="1200" kern="1200" dirty="0" smtClean="0">
                <a:solidFill>
                  <a:schemeClr val="tx1"/>
                </a:solidFill>
                <a:latin typeface="+mn-lt"/>
                <a:ea typeface="+mn-ea"/>
                <a:cs typeface="+mn-cs"/>
              </a:rPr>
              <a:t> Thoroughly dry the hands – the preferred method of drying hands is to:</a:t>
            </a:r>
          </a:p>
          <a:p>
            <a:pPr lvl="1">
              <a:buFont typeface="Arial" pitchFamily="34" charset="0"/>
              <a:buChar char="•"/>
            </a:pPr>
            <a:r>
              <a:rPr lang="en-AU" sz="1200" kern="1200" dirty="0" smtClean="0">
                <a:solidFill>
                  <a:schemeClr val="tx1"/>
                </a:solidFill>
                <a:latin typeface="+mn-lt"/>
                <a:ea typeface="+mn-ea"/>
                <a:cs typeface="+mn-cs"/>
              </a:rPr>
              <a:t> Shake off excess water</a:t>
            </a:r>
          </a:p>
          <a:p>
            <a:pPr lvl="1">
              <a:buFont typeface="Arial" pitchFamily="34" charset="0"/>
              <a:buChar char="•"/>
            </a:pPr>
            <a:r>
              <a:rPr lang="en-AU" sz="1200" kern="1200" dirty="0" smtClean="0">
                <a:solidFill>
                  <a:schemeClr val="tx1"/>
                </a:solidFill>
                <a:latin typeface="+mn-lt"/>
                <a:ea typeface="+mn-ea"/>
                <a:cs typeface="+mn-cs"/>
              </a:rPr>
              <a:t> Dry with paper towel</a:t>
            </a:r>
          </a:p>
          <a:p>
            <a:pPr lvl="1">
              <a:buFont typeface="Arial" pitchFamily="34" charset="0"/>
              <a:buChar char="•"/>
            </a:pPr>
            <a:r>
              <a:rPr lang="en-AU" sz="1200" kern="1200" dirty="0" smtClean="0">
                <a:solidFill>
                  <a:schemeClr val="tx1"/>
                </a:solidFill>
                <a:latin typeface="+mn-lt"/>
                <a:ea typeface="+mn-ea"/>
                <a:cs typeface="+mn-cs"/>
              </a:rPr>
              <a:t> Finish with hot air dryer.</a:t>
            </a:r>
          </a:p>
          <a:p>
            <a:pPr>
              <a:buFont typeface="Arial" pitchFamily="34" charset="0"/>
              <a:buNone/>
            </a:pPr>
            <a:endParaRPr lang="en-US" dirty="0" smtClean="0"/>
          </a:p>
          <a:p>
            <a:pPr>
              <a:buFont typeface="Arial" pitchFamily="34" charset="0"/>
              <a:buNone/>
            </a:pPr>
            <a:r>
              <a:rPr lang="en-US" b="1" dirty="0" smtClean="0"/>
              <a:t>Class Activity 1) – Demonstration </a:t>
            </a:r>
          </a:p>
          <a:p>
            <a:pPr>
              <a:buFont typeface="Arial" pitchFamily="34" charset="0"/>
              <a:buNone/>
            </a:pPr>
            <a:r>
              <a:rPr lang="en-US" b="0" dirty="0" smtClean="0"/>
              <a:t>Trainer shows trainees how to correctly wash hands.</a:t>
            </a:r>
          </a:p>
          <a:p>
            <a:pPr>
              <a:buFont typeface="Arial" pitchFamily="34" charset="0"/>
              <a:buNone/>
            </a:pPr>
            <a:endParaRPr lang="en-US" b="0" dirty="0" smtClean="0"/>
          </a:p>
          <a:p>
            <a:pPr>
              <a:buFont typeface="Arial" pitchFamily="34" charset="0"/>
              <a:buNone/>
            </a:pPr>
            <a:r>
              <a:rPr lang="en-US" b="1" dirty="0" smtClean="0"/>
              <a:t>Class Activity (2) – Exercise</a:t>
            </a:r>
          </a:p>
          <a:p>
            <a:pPr>
              <a:buFont typeface="Arial" pitchFamily="34" charset="0"/>
              <a:buNone/>
            </a:pPr>
            <a:r>
              <a:rPr lang="en-US" b="0" dirty="0" smtClean="0"/>
              <a:t>Trainer uses commercially available hand washing demonstration kit (</a:t>
            </a:r>
            <a:r>
              <a:rPr lang="en-AU" sz="1200" kern="1200" dirty="0" smtClean="0">
                <a:solidFill>
                  <a:schemeClr val="tx1"/>
                </a:solidFill>
                <a:latin typeface="+mn-lt"/>
                <a:ea typeface="+mn-ea"/>
                <a:cs typeface="+mn-cs"/>
              </a:rPr>
              <a:t>see </a:t>
            </a:r>
            <a:r>
              <a:rPr lang="en-AU" sz="1200" u="sng" kern="1200" dirty="0" smtClean="0">
                <a:solidFill>
                  <a:schemeClr val="tx1"/>
                </a:solidFill>
                <a:latin typeface="+mn-lt"/>
                <a:ea typeface="+mn-ea"/>
                <a:cs typeface="+mn-cs"/>
                <a:hlinkClick r:id="rId3"/>
              </a:rPr>
              <a:t>http://www.foodstars.com.au/Handwashingkit.htm</a:t>
            </a:r>
            <a:r>
              <a:rPr lang="en-AU" sz="1200" u="sng" kern="1200" dirty="0" smtClean="0">
                <a:solidFill>
                  <a:schemeClr val="tx1"/>
                </a:solidFill>
                <a:latin typeface="+mn-lt"/>
                <a:ea typeface="+mn-ea"/>
                <a:cs typeface="+mn-cs"/>
              </a:rPr>
              <a:t>) </a:t>
            </a:r>
            <a:r>
              <a:rPr lang="en-US" b="0" dirty="0" smtClean="0"/>
              <a:t>to demonstrate importance of proper</a:t>
            </a:r>
            <a:r>
              <a:rPr lang="en-US" b="0" baseline="0" dirty="0" smtClean="0"/>
              <a:t> hand washing.</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171</a:t>
            </a:fld>
            <a:endParaRPr lang="en-US" dirty="0"/>
          </a:p>
        </p:txBody>
      </p:sp>
    </p:spTree>
    <p:extLst>
      <p:ext uri="{BB962C8B-B14F-4D97-AF65-F5344CB8AC3E}">
        <p14:creationId xmlns:p14="http://schemas.microsoft.com/office/powerpoint/2010/main" val="2554481713"/>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states to trainees it is important for food handlers to protect food and food-contact surfaces from ‘body fluids’ which can be seen to include:</a:t>
            </a:r>
          </a:p>
          <a:p>
            <a:pPr>
              <a:buFont typeface="Arial" pitchFamily="34" charset="0"/>
              <a:buChar char="•"/>
            </a:pPr>
            <a:r>
              <a:rPr lang="en-US" dirty="0" smtClean="0"/>
              <a:t> Saliva</a:t>
            </a:r>
          </a:p>
          <a:p>
            <a:pPr>
              <a:buFont typeface="Arial" pitchFamily="34" charset="0"/>
              <a:buChar char="•"/>
            </a:pPr>
            <a:r>
              <a:rPr lang="en-US" dirty="0" smtClean="0"/>
              <a:t> Mucus</a:t>
            </a:r>
          </a:p>
          <a:p>
            <a:pPr>
              <a:buFont typeface="Arial" pitchFamily="34" charset="0"/>
              <a:buChar char="•"/>
            </a:pPr>
            <a:r>
              <a:rPr lang="en-US" dirty="0" smtClean="0"/>
              <a:t> Sweat (perspiration)</a:t>
            </a:r>
          </a:p>
          <a:p>
            <a:pPr>
              <a:buFont typeface="Arial" pitchFamily="34" charset="0"/>
              <a:buChar char="•"/>
            </a:pPr>
            <a:r>
              <a:rPr lang="en-US" dirty="0" smtClean="0"/>
              <a:t> Blood</a:t>
            </a:r>
          </a:p>
          <a:p>
            <a:pPr>
              <a:buFont typeface="Arial" pitchFamily="34" charset="0"/>
              <a:buChar char="•"/>
            </a:pPr>
            <a:r>
              <a:rPr lang="en-US" dirty="0" smtClean="0"/>
              <a:t> Urine</a:t>
            </a:r>
          </a:p>
          <a:p>
            <a:pPr>
              <a:buFont typeface="Arial" pitchFamily="34" charset="0"/>
              <a:buChar char="•"/>
            </a:pPr>
            <a:r>
              <a:rPr lang="en-US" dirty="0" smtClean="0"/>
              <a:t> Faecal matter.</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172</a:t>
            </a:fld>
            <a:endParaRPr lang="en-US" dirty="0"/>
          </a:p>
        </p:txBody>
      </p:sp>
    </p:spTree>
    <p:extLst>
      <p:ext uri="{BB962C8B-B14F-4D97-AF65-F5344CB8AC3E}">
        <p14:creationId xmlns:p14="http://schemas.microsoft.com/office/powerpoint/2010/main" val="1120556845"/>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trainees with practical ways food handlers can protect food and food-contact surfaces from body fluids:</a:t>
            </a:r>
          </a:p>
          <a:p>
            <a:pPr lvl="0">
              <a:buFont typeface="Arial" pitchFamily="34" charset="0"/>
              <a:buChar char="•"/>
            </a:pPr>
            <a:r>
              <a:rPr lang="en-AU" sz="1200" kern="1200" dirty="0" smtClean="0">
                <a:solidFill>
                  <a:schemeClr val="tx1"/>
                </a:solidFill>
                <a:latin typeface="+mn-lt"/>
                <a:ea typeface="+mn-ea"/>
                <a:cs typeface="+mn-cs"/>
              </a:rPr>
              <a:t> Washing hands thoroughly after using the toilet</a:t>
            </a:r>
          </a:p>
          <a:p>
            <a:pPr lvl="0">
              <a:buFont typeface="Arial" pitchFamily="34" charset="0"/>
              <a:buChar char="•"/>
            </a:pPr>
            <a:r>
              <a:rPr lang="en-AU" sz="1200" kern="1200" dirty="0" smtClean="0">
                <a:solidFill>
                  <a:schemeClr val="tx1"/>
                </a:solidFill>
                <a:latin typeface="+mn-lt"/>
                <a:ea typeface="+mn-ea"/>
                <a:cs typeface="+mn-cs"/>
              </a:rPr>
              <a:t> Washing hands thoroughly after handling a handkerchief or nasal tissue to cough or sneeze into, and</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or using it to blow the nose</a:t>
            </a:r>
          </a:p>
          <a:p>
            <a:pPr lvl="0">
              <a:buFont typeface="Arial" pitchFamily="34" charset="0"/>
              <a:buChar char="•"/>
            </a:pPr>
            <a:r>
              <a:rPr lang="en-AU" sz="1200" kern="1200" dirty="0" smtClean="0">
                <a:solidFill>
                  <a:schemeClr val="tx1"/>
                </a:solidFill>
                <a:latin typeface="+mn-lt"/>
                <a:ea typeface="+mn-ea"/>
                <a:cs typeface="+mn-cs"/>
              </a:rPr>
              <a:t> Refraining from spitting in any food area</a:t>
            </a:r>
          </a:p>
          <a:p>
            <a:pPr lvl="0">
              <a:buFont typeface="Arial" pitchFamily="34" charset="0"/>
              <a:buChar char="•"/>
            </a:pPr>
            <a:r>
              <a:rPr lang="en-AU" sz="1200" kern="1200" dirty="0" smtClean="0">
                <a:solidFill>
                  <a:schemeClr val="tx1"/>
                </a:solidFill>
                <a:latin typeface="+mn-lt"/>
                <a:ea typeface="+mn-ea"/>
                <a:cs typeface="+mn-cs"/>
              </a:rPr>
              <a:t> Refraining from smoking or chewing tobacco in any food area </a:t>
            </a:r>
          </a:p>
          <a:p>
            <a:pPr lvl="0">
              <a:buFont typeface="Arial" pitchFamily="34" charset="0"/>
              <a:buChar char="•"/>
            </a:pPr>
            <a:r>
              <a:rPr lang="en-AU" sz="1200" kern="1200" dirty="0" smtClean="0">
                <a:solidFill>
                  <a:schemeClr val="tx1"/>
                </a:solidFill>
                <a:latin typeface="+mn-lt"/>
                <a:ea typeface="+mn-ea"/>
                <a:cs typeface="+mn-cs"/>
              </a:rPr>
              <a:t> Staying away from work when suffering cold or flu symptoms – and obtaining a doctor’s certificate stating as a food handler it is safe to return to work</a:t>
            </a:r>
          </a:p>
          <a:p>
            <a:pPr lvl="0">
              <a:buFont typeface="Arial" pitchFamily="34" charset="0"/>
              <a:buChar char="•"/>
            </a:pPr>
            <a:r>
              <a:rPr lang="en-AU" sz="1200" kern="1200" dirty="0" smtClean="0">
                <a:solidFill>
                  <a:schemeClr val="tx1"/>
                </a:solidFill>
                <a:latin typeface="+mn-lt"/>
                <a:ea typeface="+mn-ea"/>
                <a:cs typeface="+mn-cs"/>
              </a:rPr>
              <a:t> Observing all personal hygiene rules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173</a:t>
            </a:fld>
            <a:endParaRPr lang="en-US" dirty="0"/>
          </a:p>
        </p:txBody>
      </p:sp>
    </p:spTree>
    <p:extLst>
      <p:ext uri="{BB962C8B-B14F-4D97-AF65-F5344CB8AC3E}">
        <p14:creationId xmlns:p14="http://schemas.microsoft.com/office/powerpoint/2010/main" val="185604168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advising trainees of action to take to prevent contamination of food</a:t>
            </a:r>
            <a:r>
              <a:rPr lang="en-US" baseline="0" dirty="0" smtClean="0"/>
              <a:t> and food preparation </a:t>
            </a:r>
            <a:r>
              <a:rPr lang="en-US" dirty="0" smtClean="0"/>
              <a:t>surfaces by body fluids:</a:t>
            </a:r>
          </a:p>
          <a:p>
            <a:pPr lvl="0">
              <a:buFont typeface="Arial" pitchFamily="34" charset="0"/>
              <a:buChar char="•"/>
            </a:pPr>
            <a:r>
              <a:rPr lang="en-AU" sz="1200" kern="1200" dirty="0" smtClean="0">
                <a:solidFill>
                  <a:schemeClr val="tx1"/>
                </a:solidFill>
                <a:latin typeface="+mn-lt"/>
                <a:ea typeface="+mn-ea"/>
                <a:cs typeface="+mn-cs"/>
              </a:rPr>
              <a:t> Avoiding the tasting of food with a spoon and then returning the utensil to the food</a:t>
            </a:r>
          </a:p>
          <a:p>
            <a:pPr lvl="0">
              <a:buFont typeface="Arial" pitchFamily="34" charset="0"/>
              <a:buChar char="•"/>
            </a:pPr>
            <a:r>
              <a:rPr lang="en-AU" sz="1200" kern="1200" dirty="0" smtClean="0">
                <a:solidFill>
                  <a:schemeClr val="tx1"/>
                </a:solidFill>
                <a:latin typeface="+mn-lt"/>
                <a:ea typeface="+mn-ea"/>
                <a:cs typeface="+mn-cs"/>
              </a:rPr>
              <a:t> Wearing a sweat band – or mopping areas that sweat and then thoroughly washing hands: consider wearing anti-perspirant</a:t>
            </a:r>
          </a:p>
          <a:p>
            <a:pPr lvl="0">
              <a:buFont typeface="Arial" pitchFamily="34" charset="0"/>
              <a:buChar char="•"/>
            </a:pPr>
            <a:r>
              <a:rPr lang="en-AU" sz="1200" kern="1200" dirty="0" smtClean="0">
                <a:solidFill>
                  <a:schemeClr val="tx1"/>
                </a:solidFill>
                <a:latin typeface="+mn-lt"/>
                <a:ea typeface="+mn-ea"/>
                <a:cs typeface="+mn-cs"/>
              </a:rPr>
              <a:t> Covering all cuts and sores with approved waterproof dressings and bandages – and adding a finger stall and</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or disposable glove, as appropriate</a:t>
            </a:r>
          </a:p>
          <a:p>
            <a:pPr lvl="0">
              <a:buFont typeface="Arial" pitchFamily="34" charset="0"/>
              <a:buChar char="•"/>
            </a:pPr>
            <a:r>
              <a:rPr lang="en-AU" sz="1200" kern="1200" dirty="0" smtClean="0">
                <a:solidFill>
                  <a:schemeClr val="tx1"/>
                </a:solidFill>
                <a:latin typeface="+mn-lt"/>
                <a:ea typeface="+mn-ea"/>
                <a:cs typeface="+mn-cs"/>
              </a:rPr>
              <a:t> Not blowing with the breath into a bag to be used to wrap food – such as take away foods</a:t>
            </a:r>
          </a:p>
          <a:p>
            <a:pPr lvl="0">
              <a:buFont typeface="Arial" pitchFamily="34" charset="0"/>
              <a:buChar char="•"/>
            </a:pPr>
            <a:r>
              <a:rPr lang="en-AU" sz="1200" kern="1200" dirty="0" smtClean="0">
                <a:solidFill>
                  <a:schemeClr val="tx1"/>
                </a:solidFill>
                <a:latin typeface="+mn-lt"/>
                <a:ea typeface="+mn-ea"/>
                <a:cs typeface="+mn-cs"/>
              </a:rPr>
              <a:t> Not wetting fingers to assist with separating sheets of wrapping paper when packaging take away foods</a:t>
            </a:r>
          </a:p>
          <a:p>
            <a:pPr lvl="0">
              <a:buFont typeface="Arial" pitchFamily="34" charset="0"/>
              <a:buChar char="•"/>
            </a:pPr>
            <a:r>
              <a:rPr lang="en-AU" sz="1200" kern="1200" dirty="0" smtClean="0">
                <a:solidFill>
                  <a:schemeClr val="tx1"/>
                </a:solidFill>
                <a:latin typeface="+mn-lt"/>
                <a:ea typeface="+mn-ea"/>
                <a:cs typeface="+mn-cs"/>
              </a:rPr>
              <a:t> Not touching any body opening – such as ears, eyes, nose; thorough hand washing must occur if this happens.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174</a:t>
            </a:fld>
            <a:endParaRPr lang="en-US" dirty="0"/>
          </a:p>
        </p:txBody>
      </p:sp>
    </p:spTree>
    <p:extLst>
      <p:ext uri="{BB962C8B-B14F-4D97-AF65-F5344CB8AC3E}">
        <p14:creationId xmlns:p14="http://schemas.microsoft.com/office/powerpoint/2010/main" val="150143947"/>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 to trainees they have obligations on</a:t>
            </a:r>
            <a:r>
              <a:rPr lang="en-US" baseline="0" dirty="0" smtClean="0"/>
              <a:t> them if they have – or have symptoms of – a food borne disease highlighting:</a:t>
            </a:r>
          </a:p>
          <a:p>
            <a:pPr>
              <a:buFont typeface="Arial" pitchFamily="34" charset="0"/>
              <a:buChar char="•"/>
            </a:pPr>
            <a:r>
              <a:rPr lang="en-US" baseline="0" dirty="0" smtClean="0"/>
              <a:t> They can only know they have a foodborne disease or if they are a carrier of a foodborne disease if they have been to a doctor and had tests to identify the illness</a:t>
            </a:r>
          </a:p>
          <a:p>
            <a:pPr>
              <a:buFont typeface="Arial" pitchFamily="34" charset="0"/>
              <a:buChar char="•"/>
            </a:pPr>
            <a:r>
              <a:rPr lang="en-US" baseline="0" dirty="0" smtClean="0"/>
              <a:t> Common sense must be used when determining if they have symptoms of a foodborne disease – see next slide for examples of symptoms</a:t>
            </a:r>
          </a:p>
          <a:p>
            <a:pPr>
              <a:buFont typeface="Arial" pitchFamily="34" charset="0"/>
              <a:buChar char="•"/>
            </a:pPr>
            <a:r>
              <a:rPr lang="en-US" baseline="0" dirty="0" smtClean="0"/>
              <a:t> Food borne diseases are serious and potentially life threatening and include (but are not limited to) Hepatitis A, typhoid and cholera.</a:t>
            </a:r>
          </a:p>
          <a:p>
            <a:pPr>
              <a:buFont typeface="Arial" pitchFamily="34" charset="0"/>
              <a:buChar char="•"/>
            </a:pPr>
            <a:endParaRPr lang="en-US" dirty="0" smtClean="0"/>
          </a:p>
          <a:p>
            <a:pPr>
              <a:buFont typeface="Arial" pitchFamily="34" charset="0"/>
              <a:buNone/>
            </a:pPr>
            <a:r>
              <a:rPr lang="en-US" b="1" dirty="0" smtClean="0"/>
              <a:t>Class Activity – Handout</a:t>
            </a:r>
          </a:p>
          <a:p>
            <a:pPr>
              <a:buFont typeface="Arial" pitchFamily="34" charset="0"/>
              <a:buNone/>
            </a:pPr>
            <a:r>
              <a:rPr lang="en-US" b="0" dirty="0" smtClean="0"/>
              <a:t>Trainer distributes copies of ‘</a:t>
            </a:r>
            <a:r>
              <a:rPr lang="en-AU" sz="1200" b="0" kern="1200" dirty="0" smtClean="0">
                <a:solidFill>
                  <a:schemeClr val="tx1"/>
                </a:solidFill>
                <a:latin typeface="+mn-lt"/>
                <a:ea typeface="+mn-ea"/>
                <a:cs typeface="+mn-cs"/>
              </a:rPr>
              <a:t>Tables of pathogens transmitted by food contaminated by infected food handlers’ (see Trainee manual) to trainees and discusses the diseases listed with the intention of raising awareness about foodborne diseases.</a:t>
            </a:r>
            <a:endParaRPr lang="en-US" b="0" dirty="0" smtClean="0"/>
          </a:p>
          <a:p>
            <a:pPr>
              <a:buFont typeface="Arial" pitchFamily="34" charset="0"/>
              <a:buNone/>
            </a:pPr>
            <a:endParaRPr lang="en-US" b="1"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175</a:t>
            </a:fld>
            <a:endParaRPr lang="en-US" dirty="0"/>
          </a:p>
        </p:txBody>
      </p:sp>
    </p:spTree>
    <p:extLst>
      <p:ext uri="{BB962C8B-B14F-4D97-AF65-F5344CB8AC3E}">
        <p14:creationId xmlns:p14="http://schemas.microsoft.com/office/powerpoint/2010/main" val="485885560"/>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provides trainees with examples of symptoms of a foodborne disease:</a:t>
            </a:r>
          </a:p>
          <a:p>
            <a:pPr lvl="0">
              <a:buFont typeface="Arial" pitchFamily="34" charset="0"/>
              <a:buChar char="•"/>
            </a:pPr>
            <a:r>
              <a:rPr lang="en-AU" sz="1200" kern="1200" dirty="0" smtClean="0">
                <a:solidFill>
                  <a:schemeClr val="tx1"/>
                </a:solidFill>
                <a:latin typeface="+mn-lt"/>
                <a:ea typeface="+mn-ea"/>
                <a:cs typeface="+mn-cs"/>
              </a:rPr>
              <a:t> Diarrhoea</a:t>
            </a:r>
          </a:p>
          <a:p>
            <a:pPr lvl="0">
              <a:buFont typeface="Arial" pitchFamily="34" charset="0"/>
              <a:buChar char="•"/>
            </a:pPr>
            <a:r>
              <a:rPr lang="en-AU" sz="1200" kern="1200" dirty="0" smtClean="0">
                <a:solidFill>
                  <a:schemeClr val="tx1"/>
                </a:solidFill>
                <a:latin typeface="+mn-lt"/>
                <a:ea typeface="+mn-ea"/>
                <a:cs typeface="+mn-cs"/>
              </a:rPr>
              <a:t> Vomiting</a:t>
            </a:r>
          </a:p>
          <a:p>
            <a:pPr lvl="0">
              <a:buFont typeface="Arial" pitchFamily="34" charset="0"/>
              <a:buChar char="•"/>
            </a:pPr>
            <a:r>
              <a:rPr lang="en-AU" sz="1200" kern="1200" dirty="0" smtClean="0">
                <a:solidFill>
                  <a:schemeClr val="tx1"/>
                </a:solidFill>
                <a:latin typeface="+mn-lt"/>
                <a:ea typeface="+mn-ea"/>
                <a:cs typeface="+mn-cs"/>
              </a:rPr>
              <a:t> Sore throat with fever</a:t>
            </a:r>
          </a:p>
          <a:p>
            <a:pPr lvl="0">
              <a:buFont typeface="Arial" pitchFamily="34" charset="0"/>
              <a:buChar char="•"/>
            </a:pPr>
            <a:r>
              <a:rPr lang="en-AU" sz="1200" kern="1200" dirty="0" smtClean="0">
                <a:solidFill>
                  <a:schemeClr val="tx1"/>
                </a:solidFill>
                <a:latin typeface="+mn-lt"/>
                <a:ea typeface="+mn-ea"/>
                <a:cs typeface="+mn-cs"/>
              </a:rPr>
              <a:t> Fever</a:t>
            </a:r>
          </a:p>
          <a:p>
            <a:pPr lvl="0">
              <a:buFont typeface="Arial" pitchFamily="34" charset="0"/>
              <a:buChar char="•"/>
            </a:pPr>
            <a:r>
              <a:rPr lang="en-AU" sz="1200" kern="1200" dirty="0" smtClean="0">
                <a:solidFill>
                  <a:schemeClr val="tx1"/>
                </a:solidFill>
                <a:latin typeface="+mn-lt"/>
                <a:ea typeface="+mn-ea"/>
                <a:cs typeface="+mn-cs"/>
              </a:rPr>
              <a:t> Jaundice.</a:t>
            </a:r>
          </a:p>
          <a:p>
            <a:pPr lvl="0">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176</a:t>
            </a:fld>
            <a:endParaRPr lang="en-US" dirty="0"/>
          </a:p>
        </p:txBody>
      </p:sp>
    </p:spTree>
    <p:extLst>
      <p:ext uri="{BB962C8B-B14F-4D97-AF65-F5344CB8AC3E}">
        <p14:creationId xmlns:p14="http://schemas.microsoft.com/office/powerpoint/2010/main" val="2347160524"/>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identifies for trainees the obligations they are under as food handlers if ill:</a:t>
            </a:r>
          </a:p>
          <a:p>
            <a:pPr>
              <a:buFont typeface="Arial" pitchFamily="34" charset="0"/>
              <a:buChar char="•"/>
            </a:pPr>
            <a:r>
              <a:rPr lang="en-US" dirty="0" smtClean="0"/>
              <a:t> If affected by symptoms</a:t>
            </a:r>
            <a:r>
              <a:rPr lang="en-US" baseline="0" dirty="0" smtClean="0"/>
              <a:t> of a foodborne disease:</a:t>
            </a:r>
          </a:p>
          <a:p>
            <a:pPr lvl="1">
              <a:buFont typeface="Arial" pitchFamily="34" charset="0"/>
              <a:buChar char="•"/>
            </a:pPr>
            <a:r>
              <a:rPr lang="en-US" baseline="0" dirty="0" smtClean="0"/>
              <a:t> Notify supervisor</a:t>
            </a:r>
          </a:p>
          <a:p>
            <a:pPr lvl="1">
              <a:buFont typeface="Arial" pitchFamily="34" charset="0"/>
              <a:buChar char="•"/>
            </a:pPr>
            <a:r>
              <a:rPr lang="en-US" baseline="0" dirty="0" smtClean="0"/>
              <a:t> Seek medical advice</a:t>
            </a:r>
          </a:p>
          <a:p>
            <a:pPr lvl="1">
              <a:buFont typeface="Arial" pitchFamily="34" charset="0"/>
              <a:buChar char="•"/>
            </a:pPr>
            <a:r>
              <a:rPr lang="en-US" baseline="0" dirty="0" smtClean="0"/>
              <a:t> Stay away from work for 48 hours after symptoms disappear</a:t>
            </a:r>
          </a:p>
          <a:p>
            <a:pPr lvl="1">
              <a:buFont typeface="Arial" pitchFamily="34" charset="0"/>
              <a:buChar char="•"/>
            </a:pPr>
            <a:r>
              <a:rPr lang="en-US" baseline="0" dirty="0" smtClean="0"/>
              <a:t> Do not return to work until stools are ‘formed’ (solid)</a:t>
            </a:r>
          </a:p>
          <a:p>
            <a:pPr>
              <a:buFont typeface="Arial" pitchFamily="34" charset="0"/>
              <a:buChar char="•"/>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177</a:t>
            </a:fld>
            <a:endParaRPr lang="en-US" dirty="0"/>
          </a:p>
        </p:txBody>
      </p:sp>
    </p:spTree>
    <p:extLst>
      <p:ext uri="{BB962C8B-B14F-4D97-AF65-F5344CB8AC3E}">
        <p14:creationId xmlns:p14="http://schemas.microsoft.com/office/powerpoint/2010/main" val="1974757064"/>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tells trainees if they are diagnosed by a doctor as having a foodborne disease, or as being a carrier of a foodborne disease, they must:</a:t>
            </a:r>
          </a:p>
          <a:p>
            <a:pPr>
              <a:buFont typeface="Arial" pitchFamily="34" charset="0"/>
              <a:buChar char="•"/>
            </a:pPr>
            <a:r>
              <a:rPr lang="en-US" dirty="0" smtClean="0"/>
              <a:t> Tell supervisor – so they can make suitable</a:t>
            </a:r>
            <a:r>
              <a:rPr lang="en-US" baseline="0" dirty="0" smtClean="0"/>
              <a:t> arrangements (such as obtain replacement staff, or transfer person to other non-food handling duties)</a:t>
            </a:r>
          </a:p>
          <a:p>
            <a:pPr>
              <a:buFont typeface="Arial" pitchFamily="34" charset="0"/>
              <a:buChar char="•"/>
            </a:pPr>
            <a:r>
              <a:rPr lang="en-US" baseline="0" dirty="0" smtClean="0"/>
              <a:t> Follow medical advice and direction – about what work can be safely undertaken; how long to refrain from food handling duties; medication to take</a:t>
            </a:r>
          </a:p>
          <a:p>
            <a:pPr>
              <a:buFont typeface="Arial" pitchFamily="34" charset="0"/>
              <a:buChar char="•"/>
            </a:pPr>
            <a:r>
              <a:rPr lang="en-US" baseline="0" dirty="0" smtClean="0"/>
              <a:t> Take necessary action to protect food from contamination – including protection of actual food; protection of food contact equipment, utensils and surfaces; discarding food thought or known to have been contaminated when the food handler was handling the food before the foodborne disease was diagnosed.</a:t>
            </a:r>
          </a:p>
          <a:p>
            <a:pPr>
              <a:buFont typeface="Arial" pitchFamily="34" charset="0"/>
              <a:buNone/>
            </a:pPr>
            <a:endParaRPr lang="en-US" baseline="0" dirty="0" smtClean="0"/>
          </a:p>
          <a:p>
            <a:pPr>
              <a:buFont typeface="Arial" pitchFamily="34" charset="0"/>
              <a:buNone/>
            </a:pPr>
            <a:r>
              <a:rPr lang="en-US" b="1" baseline="0" dirty="0" smtClean="0"/>
              <a:t>Class Activity – Guest Speaker</a:t>
            </a:r>
          </a:p>
          <a:p>
            <a:pPr>
              <a:buFont typeface="Arial" pitchFamily="34" charset="0"/>
              <a:buNone/>
            </a:pPr>
            <a:r>
              <a:rPr lang="en-US" b="0" baseline="0" dirty="0" smtClean="0"/>
              <a:t>Trainer arranges for a Health department representative to attend and talk to trainees about:</a:t>
            </a:r>
          </a:p>
          <a:p>
            <a:pPr>
              <a:buFont typeface="Arial" pitchFamily="34" charset="0"/>
              <a:buChar char="•"/>
            </a:pPr>
            <a:r>
              <a:rPr lang="en-US" b="0" baseline="0" dirty="0" smtClean="0"/>
              <a:t> Local laws regarding sickness and food handlers</a:t>
            </a:r>
          </a:p>
          <a:p>
            <a:pPr>
              <a:buFont typeface="Arial" pitchFamily="34" charset="0"/>
              <a:buChar char="•"/>
            </a:pPr>
            <a:r>
              <a:rPr lang="en-US" b="0" baseline="0" dirty="0" smtClean="0"/>
              <a:t> Symptoms of illness and foodborne diseases</a:t>
            </a:r>
          </a:p>
          <a:p>
            <a:pPr>
              <a:buFont typeface="Arial" pitchFamily="34" charset="0"/>
              <a:buChar char="•"/>
            </a:pPr>
            <a:r>
              <a:rPr lang="en-US" b="0" baseline="0" dirty="0" smtClean="0"/>
              <a:t> Role of doctors and the health department in dealing with sick food handlers</a:t>
            </a:r>
          </a:p>
          <a:p>
            <a:pPr>
              <a:buFont typeface="Arial" pitchFamily="34" charset="0"/>
              <a:buChar char="•"/>
            </a:pPr>
            <a:r>
              <a:rPr lang="en-US" b="0" baseline="0" dirty="0" smtClean="0"/>
              <a:t> Consequences and penalties for food handlers who do not comply with legislated requirements</a:t>
            </a:r>
          </a:p>
          <a:p>
            <a:pPr>
              <a:buFont typeface="Arial" pitchFamily="34" charset="0"/>
              <a:buChar char="•"/>
            </a:pPr>
            <a:r>
              <a:rPr lang="en-US" b="0" baseline="0" dirty="0" smtClean="0"/>
              <a:t> Action food handlers should take if they think/know they are ill</a:t>
            </a:r>
          </a:p>
          <a:p>
            <a:pPr>
              <a:buFont typeface="Arial" pitchFamily="34" charset="0"/>
              <a:buChar char="•"/>
            </a:pPr>
            <a:r>
              <a:rPr lang="en-US" b="0" baseline="0" dirty="0" smtClean="0"/>
              <a:t> Requirements applying when food handlers have ‘a condition’.</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178</a:t>
            </a:fld>
            <a:endParaRPr lang="en-US" dirty="0"/>
          </a:p>
        </p:txBody>
      </p:sp>
    </p:spTree>
    <p:extLst>
      <p:ext uri="{BB962C8B-B14F-4D97-AF65-F5344CB8AC3E}">
        <p14:creationId xmlns:p14="http://schemas.microsoft.com/office/powerpoint/2010/main" val="679784583"/>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informs trainees that food handlers are also under certain obligations when suffering from ‘a condition’, explaining:</a:t>
            </a:r>
          </a:p>
          <a:p>
            <a:pPr>
              <a:buFont typeface="Arial" pitchFamily="34" charset="0"/>
              <a:buChar char="•"/>
            </a:pPr>
            <a:r>
              <a:rPr lang="en-AU" sz="1200" kern="1200" dirty="0" smtClean="0">
                <a:solidFill>
                  <a:schemeClr val="tx1"/>
                </a:solidFill>
                <a:latin typeface="+mn-lt"/>
                <a:ea typeface="+mn-ea"/>
                <a:cs typeface="+mn-cs"/>
              </a:rPr>
              <a:t> A condition is an infected sore, cut, boil, acne or abrasion or a situation where the food handler experiences discharges from their ears, nose or eyes.</a:t>
            </a:r>
          </a:p>
          <a:p>
            <a:pPr>
              <a:buFont typeface="Arial" pitchFamily="34" charset="0"/>
              <a:buChar char="•"/>
            </a:pPr>
            <a:r>
              <a:rPr lang="en-AU" sz="1200" kern="1200" dirty="0" smtClean="0">
                <a:solidFill>
                  <a:schemeClr val="tx1"/>
                </a:solidFill>
                <a:latin typeface="+mn-lt"/>
                <a:ea typeface="+mn-ea"/>
                <a:cs typeface="+mn-cs"/>
              </a:rPr>
              <a:t> Where a food handler is suffering from such a condition they must notify their supervisor unless they:</a:t>
            </a:r>
          </a:p>
          <a:p>
            <a:pPr lvl="1">
              <a:buFont typeface="Arial" pitchFamily="34" charset="0"/>
              <a:buChar char="•"/>
            </a:pPr>
            <a:r>
              <a:rPr lang="en-AU" sz="1200" kern="1200" dirty="0" smtClean="0">
                <a:solidFill>
                  <a:schemeClr val="tx1"/>
                </a:solidFill>
                <a:latin typeface="+mn-lt"/>
                <a:ea typeface="+mn-ea"/>
                <a:cs typeface="+mn-cs"/>
              </a:rPr>
              <a:t> Do not have direct contact with food, food contact surfaces, crockery, cutlery or glassware</a:t>
            </a:r>
          </a:p>
          <a:p>
            <a:pPr lvl="1">
              <a:buFont typeface="Arial" pitchFamily="34" charset="0"/>
              <a:buChar char="•"/>
            </a:pPr>
            <a:r>
              <a:rPr lang="en-AU" sz="1200" kern="1200" dirty="0" smtClean="0">
                <a:solidFill>
                  <a:schemeClr val="tx1"/>
                </a:solidFill>
                <a:latin typeface="+mn-lt"/>
                <a:ea typeface="+mn-ea"/>
                <a:cs typeface="+mn-cs"/>
              </a:rPr>
              <a:t> The skin lesion is on a covered part of the body so he sufferer cannot touch it while handling food.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179</a:t>
            </a:fld>
            <a:endParaRPr lang="en-US" dirty="0"/>
          </a:p>
        </p:txBody>
      </p:sp>
    </p:spTree>
    <p:extLst>
      <p:ext uri="{BB962C8B-B14F-4D97-AF65-F5344CB8AC3E}">
        <p14:creationId xmlns:p14="http://schemas.microsoft.com/office/powerpoint/2010/main" val="1093065784"/>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tells trainees </a:t>
            </a:r>
            <a:r>
              <a:rPr lang="en-AU" sz="1200" kern="1200" dirty="0" smtClean="0">
                <a:solidFill>
                  <a:schemeClr val="tx1"/>
                </a:solidFill>
                <a:latin typeface="+mn-lt"/>
                <a:ea typeface="+mn-ea"/>
                <a:cs typeface="+mn-cs"/>
              </a:rPr>
              <a:t>if a food handler with ‘a condition’ does continue working (whether food handling or other work activities) they must ensure measures are taken to avoid contaminating food – these measures may include:</a:t>
            </a:r>
          </a:p>
          <a:p>
            <a:pPr lvl="0">
              <a:buFont typeface="Arial" pitchFamily="34" charset="0"/>
              <a:buChar char="•"/>
            </a:pPr>
            <a:r>
              <a:rPr lang="en-AU" sz="1200" kern="1200" dirty="0" smtClean="0">
                <a:solidFill>
                  <a:schemeClr val="tx1"/>
                </a:solidFill>
                <a:latin typeface="+mn-lt"/>
                <a:ea typeface="+mn-ea"/>
                <a:cs typeface="+mn-cs"/>
              </a:rPr>
              <a:t> Covering the lesion completely with a waterproof bandage or dressing – to prevent it making contact with food</a:t>
            </a:r>
            <a:r>
              <a:rPr lang="en-AU" sz="1200" kern="1200" baseline="0" dirty="0" smtClean="0">
                <a:solidFill>
                  <a:schemeClr val="tx1"/>
                </a:solidFill>
                <a:latin typeface="+mn-lt"/>
                <a:ea typeface="+mn-ea"/>
                <a:cs typeface="+mn-cs"/>
              </a:rPr>
              <a:t> and </a:t>
            </a:r>
            <a:r>
              <a:rPr lang="en-AU" sz="1200" kern="1200" dirty="0" smtClean="0">
                <a:solidFill>
                  <a:schemeClr val="tx1"/>
                </a:solidFill>
                <a:latin typeface="+mn-lt"/>
                <a:ea typeface="+mn-ea"/>
                <a:cs typeface="+mn-cs"/>
              </a:rPr>
              <a:t>food contact surfaces</a:t>
            </a:r>
          </a:p>
          <a:p>
            <a:pPr lvl="0">
              <a:buFont typeface="Arial" pitchFamily="34" charset="0"/>
              <a:buChar char="•"/>
            </a:pPr>
            <a:r>
              <a:rPr lang="en-AU" sz="1200" kern="1200" dirty="0" smtClean="0">
                <a:solidFill>
                  <a:schemeClr val="tx1"/>
                </a:solidFill>
                <a:latin typeface="+mn-lt"/>
                <a:ea typeface="+mn-ea"/>
                <a:cs typeface="+mn-cs"/>
              </a:rPr>
              <a:t> Not touching the lesion or discharge while working – to avoid</a:t>
            </a:r>
            <a:r>
              <a:rPr lang="en-AU" sz="1200" kern="1200" baseline="0" dirty="0" smtClean="0">
                <a:solidFill>
                  <a:schemeClr val="tx1"/>
                </a:solidFill>
                <a:latin typeface="+mn-lt"/>
                <a:ea typeface="+mn-ea"/>
                <a:cs typeface="+mn-cs"/>
              </a:rPr>
              <a:t> potential from cross contamination</a:t>
            </a:r>
            <a:endParaRPr lang="en-AU" sz="1200" kern="1200" dirty="0" smtClean="0">
              <a:solidFill>
                <a:schemeClr val="tx1"/>
              </a:solidFill>
              <a:latin typeface="+mn-lt"/>
              <a:ea typeface="+mn-ea"/>
              <a:cs typeface="+mn-cs"/>
            </a:endParaRPr>
          </a:p>
          <a:p>
            <a:pPr lvl="0">
              <a:buFont typeface="Arial" pitchFamily="34" charset="0"/>
              <a:buChar char="•"/>
            </a:pPr>
            <a:r>
              <a:rPr lang="en-AU" sz="1200" kern="1200" dirty="0" smtClean="0">
                <a:solidFill>
                  <a:schemeClr val="tx1"/>
                </a:solidFill>
                <a:latin typeface="+mn-lt"/>
                <a:ea typeface="+mn-ea"/>
                <a:cs typeface="+mn-cs"/>
              </a:rPr>
              <a:t> Washing hands thoroughly if the lesion or discharge is touched – to guard against cross contamination</a:t>
            </a:r>
          </a:p>
          <a:p>
            <a:pPr lvl="0">
              <a:buFont typeface="Arial" pitchFamily="34" charset="0"/>
              <a:buChar char="•"/>
            </a:pPr>
            <a:r>
              <a:rPr lang="en-AU" sz="1200" kern="1200" dirty="0" smtClean="0">
                <a:solidFill>
                  <a:schemeClr val="tx1"/>
                </a:solidFill>
                <a:latin typeface="+mn-lt"/>
                <a:ea typeface="+mn-ea"/>
                <a:cs typeface="+mn-cs"/>
              </a:rPr>
              <a:t> Using appropriate medication for the problem – to speed up recovery from the condition</a:t>
            </a:r>
          </a:p>
          <a:p>
            <a:pPr lvl="0">
              <a:buFont typeface="Arial" pitchFamily="34" charset="0"/>
              <a:buChar char="•"/>
            </a:pPr>
            <a:r>
              <a:rPr lang="en-AU" sz="1200" kern="1200" dirty="0" smtClean="0">
                <a:solidFill>
                  <a:schemeClr val="tx1"/>
                </a:solidFill>
                <a:latin typeface="+mn-lt"/>
                <a:ea typeface="+mn-ea"/>
                <a:cs typeface="+mn-cs"/>
              </a:rPr>
              <a:t> Using disposable tissues (as opposed to a handkerchief or kitchen swab) to handle discharge, followed by proper hand washing – to protect against cross contamination.</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180</a:t>
            </a:fld>
            <a:endParaRPr lang="en-US" dirty="0"/>
          </a:p>
        </p:txBody>
      </p:sp>
    </p:spTree>
    <p:extLst>
      <p:ext uri="{BB962C8B-B14F-4D97-AF65-F5344CB8AC3E}">
        <p14:creationId xmlns:p14="http://schemas.microsoft.com/office/powerpoint/2010/main" val="4207881333"/>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highlights to trainees all food handlers need to try to control personal habits</a:t>
            </a:r>
            <a:r>
              <a:rPr lang="en-US" baseline="0" dirty="0" smtClean="0"/>
              <a:t> and </a:t>
            </a:r>
            <a:r>
              <a:rPr lang="en-US" dirty="0" smtClean="0"/>
              <a:t>sub-conscious actions in order</a:t>
            </a:r>
            <a:r>
              <a:rPr lang="en-US" baseline="0" dirty="0" smtClean="0"/>
              <a:t> to further opitimse food safety:</a:t>
            </a:r>
          </a:p>
          <a:p>
            <a:pPr>
              <a:buFont typeface="Arial" pitchFamily="34" charset="0"/>
              <a:buChar char="•"/>
            </a:pPr>
            <a:r>
              <a:rPr lang="en-AU" sz="1200" kern="1200" dirty="0" smtClean="0">
                <a:solidFill>
                  <a:schemeClr val="tx1"/>
                </a:solidFill>
                <a:latin typeface="+mn-lt"/>
                <a:ea typeface="+mn-ea"/>
                <a:cs typeface="+mn-cs"/>
              </a:rPr>
              <a:t> Try to refrain from coughing or sneezing onto unprotected food – where a cough or sneeze is inevitable (or unexpected) and unprotected food is present, the recommended procedure is to:</a:t>
            </a:r>
          </a:p>
          <a:p>
            <a:pPr lvl="1">
              <a:buFont typeface="Arial" pitchFamily="34" charset="0"/>
              <a:buChar char="•"/>
            </a:pPr>
            <a:r>
              <a:rPr lang="en-AU" sz="1200" kern="1200" dirty="0" smtClean="0">
                <a:solidFill>
                  <a:schemeClr val="tx1"/>
                </a:solidFill>
                <a:latin typeface="+mn-lt"/>
                <a:ea typeface="+mn-ea"/>
                <a:cs typeface="+mn-cs"/>
              </a:rPr>
              <a:t> Cough or sneeze into hands and then thoroughly wash hands</a:t>
            </a:r>
          </a:p>
          <a:p>
            <a:pPr lvl="1">
              <a:buFont typeface="Arial" pitchFamily="34" charset="0"/>
              <a:buChar char="•"/>
            </a:pPr>
            <a:r>
              <a:rPr lang="en-AU" sz="1200" kern="1200" dirty="0" smtClean="0">
                <a:solidFill>
                  <a:schemeClr val="tx1"/>
                </a:solidFill>
                <a:latin typeface="+mn-lt"/>
                <a:ea typeface="+mn-ea"/>
                <a:cs typeface="+mn-cs"/>
              </a:rPr>
              <a:t> Dispose of any food that has been contaminated – any food that has been coughed</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sneezed onto</a:t>
            </a:r>
          </a:p>
          <a:p>
            <a:pPr lvl="1">
              <a:buFont typeface="Arial" pitchFamily="34" charset="0"/>
              <a:buChar char="•"/>
            </a:pPr>
            <a:r>
              <a:rPr lang="en-AU" sz="1200" kern="1200" dirty="0" smtClean="0">
                <a:solidFill>
                  <a:schemeClr val="tx1"/>
                </a:solidFill>
                <a:latin typeface="+mn-lt"/>
                <a:ea typeface="+mn-ea"/>
                <a:cs typeface="+mn-cs"/>
              </a:rPr>
              <a:t> Clean and sanitise any food surfaces, equipment or utensils that have been contaminated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181</a:t>
            </a:fld>
            <a:endParaRPr lang="en-US" dirty="0"/>
          </a:p>
        </p:txBody>
      </p:sp>
    </p:spTree>
    <p:extLst>
      <p:ext uri="{BB962C8B-B14F-4D97-AF65-F5344CB8AC3E}">
        <p14:creationId xmlns:p14="http://schemas.microsoft.com/office/powerpoint/2010/main" val="1708917398"/>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advises trainees food handlers must</a:t>
            </a:r>
            <a:r>
              <a:rPr lang="en-US" baseline="0" dirty="0" smtClean="0"/>
              <a:t> also discipline themselves to refrain from certain personal habits:</a:t>
            </a:r>
          </a:p>
          <a:p>
            <a:pPr>
              <a:buFont typeface="Arial" pitchFamily="34" charset="0"/>
              <a:buChar char="•"/>
            </a:pPr>
            <a:r>
              <a:rPr lang="en-AU" sz="1200" kern="1200" dirty="0" smtClean="0">
                <a:solidFill>
                  <a:schemeClr val="tx1"/>
                </a:solidFill>
                <a:latin typeface="+mn-lt"/>
                <a:ea typeface="+mn-ea"/>
                <a:cs typeface="+mn-cs"/>
              </a:rPr>
              <a:t> Do not scratch (such as scratching an itch; scratching head when thinking), pick nose, cuts, sores and scabs, or touch eyes, nose, mouth or ears while at work</a:t>
            </a:r>
          </a:p>
          <a:p>
            <a:pPr>
              <a:buFont typeface="Arial" pitchFamily="34" charset="0"/>
              <a:buChar char="•"/>
            </a:pPr>
            <a:r>
              <a:rPr lang="en-AU" sz="1200" kern="1200" dirty="0" smtClean="0">
                <a:solidFill>
                  <a:schemeClr val="tx1"/>
                </a:solidFill>
                <a:latin typeface="+mn-lt"/>
                <a:ea typeface="+mn-ea"/>
                <a:cs typeface="+mn-cs"/>
              </a:rPr>
              <a:t> This is another major source of contamination transferring bacteria from the skin or other areas to food, utensils or food preparation/contact surfaces. If these do occur:</a:t>
            </a:r>
          </a:p>
          <a:p>
            <a:pPr lvl="1">
              <a:buFont typeface="Arial" pitchFamily="34" charset="0"/>
              <a:buChar char="•"/>
            </a:pPr>
            <a:r>
              <a:rPr lang="en-AU" sz="1200" kern="1200" dirty="0" smtClean="0">
                <a:solidFill>
                  <a:schemeClr val="tx1"/>
                </a:solidFill>
                <a:latin typeface="+mn-lt"/>
                <a:ea typeface="+mn-ea"/>
                <a:cs typeface="+mn-cs"/>
              </a:rPr>
              <a:t> Dispose of any food that has been contaminated</a:t>
            </a:r>
          </a:p>
          <a:p>
            <a:pPr lvl="1">
              <a:buFont typeface="Arial" pitchFamily="34" charset="0"/>
              <a:buChar char="•"/>
            </a:pPr>
            <a:r>
              <a:rPr lang="en-AU" sz="1200" kern="1200" dirty="0" smtClean="0">
                <a:solidFill>
                  <a:schemeClr val="tx1"/>
                </a:solidFill>
                <a:latin typeface="+mn-lt"/>
                <a:ea typeface="+mn-ea"/>
                <a:cs typeface="+mn-cs"/>
              </a:rPr>
              <a:t> Clean and sanitise any food surfaces, equipment or utensils that have been contaminated</a:t>
            </a:r>
          </a:p>
          <a:p>
            <a:pPr lvl="1">
              <a:buFont typeface="Arial" pitchFamily="34" charset="0"/>
              <a:buChar char="•"/>
            </a:pPr>
            <a:r>
              <a:rPr lang="en-AU" sz="1200" kern="1200" dirty="0" smtClean="0">
                <a:solidFill>
                  <a:schemeClr val="tx1"/>
                </a:solidFill>
                <a:latin typeface="+mn-lt"/>
                <a:ea typeface="+mn-ea"/>
                <a:cs typeface="+mn-cs"/>
              </a:rPr>
              <a:t> Try not to do it again</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182</a:t>
            </a:fld>
            <a:endParaRPr lang="en-US" dirty="0"/>
          </a:p>
        </p:txBody>
      </p:sp>
    </p:spTree>
    <p:extLst>
      <p:ext uri="{BB962C8B-B14F-4D97-AF65-F5344CB8AC3E}">
        <p14:creationId xmlns:p14="http://schemas.microsoft.com/office/powerpoint/2010/main" val="80736049"/>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advises trainees in regard to eating in the workplace by food handlers:</a:t>
            </a:r>
          </a:p>
          <a:p>
            <a:pPr>
              <a:buFont typeface="Arial" pitchFamily="34" charset="0"/>
              <a:buChar char="•"/>
            </a:pPr>
            <a:r>
              <a:rPr lang="en-AU" sz="1200" kern="1200" dirty="0" smtClean="0">
                <a:solidFill>
                  <a:schemeClr val="tx1"/>
                </a:solidFill>
                <a:latin typeface="+mn-lt"/>
                <a:ea typeface="+mn-ea"/>
                <a:cs typeface="+mn-cs"/>
              </a:rPr>
              <a:t> When staff eat in food areas they must:</a:t>
            </a:r>
          </a:p>
          <a:p>
            <a:pPr lvl="1">
              <a:buFont typeface="Arial" pitchFamily="34" charset="0"/>
              <a:buChar char="•"/>
            </a:pPr>
            <a:r>
              <a:rPr lang="en-AU" sz="1200" kern="1200" dirty="0" smtClean="0">
                <a:solidFill>
                  <a:schemeClr val="tx1"/>
                </a:solidFill>
                <a:latin typeface="+mn-lt"/>
                <a:ea typeface="+mn-ea"/>
                <a:cs typeface="+mn-cs"/>
              </a:rPr>
              <a:t> Not eat any food over an unprotected food surface – such as food preparation equipment, preparation benches, serving equipment or crockery, cutlery or glassware</a:t>
            </a:r>
          </a:p>
          <a:p>
            <a:pPr lvl="1">
              <a:buFont typeface="Arial" pitchFamily="34" charset="0"/>
              <a:buChar char="•"/>
            </a:pPr>
            <a:r>
              <a:rPr lang="en-AU" sz="1200" kern="1200" dirty="0" smtClean="0">
                <a:solidFill>
                  <a:schemeClr val="tx1"/>
                </a:solidFill>
                <a:latin typeface="+mn-lt"/>
                <a:ea typeface="+mn-ea"/>
                <a:cs typeface="+mn-cs"/>
              </a:rPr>
              <a:t> Not eat any food over any unprotected food – this applies to raw food, ready-to-eat food or any food that is not covered, wrapped or packaged so that it cannot become contaminated through food falling onto it </a:t>
            </a:r>
          </a:p>
          <a:p>
            <a:pPr>
              <a:buFont typeface="Arial" pitchFamily="34" charset="0"/>
              <a:buChar char="•"/>
            </a:pPr>
            <a:r>
              <a:rPr lang="en-AU" sz="1200" kern="1200" dirty="0" smtClean="0">
                <a:solidFill>
                  <a:schemeClr val="tx1"/>
                </a:solidFill>
                <a:latin typeface="+mn-lt"/>
                <a:ea typeface="+mn-ea"/>
                <a:cs typeface="+mn-cs"/>
              </a:rPr>
              <a:t> Individual premises may have house policies </a:t>
            </a:r>
            <a:r>
              <a:rPr lang="en-AU" sz="1200" i="1" kern="1200" dirty="0" smtClean="0">
                <a:solidFill>
                  <a:schemeClr val="tx1"/>
                </a:solidFill>
                <a:latin typeface="+mn-lt"/>
                <a:ea typeface="+mn-ea"/>
                <a:cs typeface="+mn-cs"/>
              </a:rPr>
              <a:t>totally forbidding </a:t>
            </a:r>
            <a:r>
              <a:rPr lang="en-AU" sz="1200" kern="1200" dirty="0" smtClean="0">
                <a:solidFill>
                  <a:schemeClr val="tx1"/>
                </a:solidFill>
                <a:latin typeface="+mn-lt"/>
                <a:ea typeface="+mn-ea"/>
                <a:cs typeface="+mn-cs"/>
              </a:rPr>
              <a:t>the consumption of food while working</a:t>
            </a:r>
          </a:p>
          <a:p>
            <a:pPr>
              <a:buFont typeface="Arial" pitchFamily="34" charset="0"/>
              <a:buChar char="•"/>
            </a:pPr>
            <a:r>
              <a:rPr lang="en-AU" sz="1200" kern="1200" dirty="0" smtClean="0">
                <a:solidFill>
                  <a:schemeClr val="tx1"/>
                </a:solidFill>
                <a:latin typeface="+mn-lt"/>
                <a:ea typeface="+mn-ea"/>
                <a:cs typeface="+mn-cs"/>
              </a:rPr>
              <a:t> These requirements in relation to eating over unprotected food and unprotected food surfaces applies to anyone on the premises – including members of the public, customers and visitors.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183</a:t>
            </a:fld>
            <a:endParaRPr lang="en-US" dirty="0"/>
          </a:p>
        </p:txBody>
      </p:sp>
    </p:spTree>
    <p:extLst>
      <p:ext uri="{BB962C8B-B14F-4D97-AF65-F5344CB8AC3E}">
        <p14:creationId xmlns:p14="http://schemas.microsoft.com/office/powerpoint/2010/main" val="2846847068"/>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informs trainees regarding smoking and spitting in food areas:</a:t>
            </a:r>
          </a:p>
          <a:p>
            <a:pPr>
              <a:buFont typeface="Arial" pitchFamily="34" charset="0"/>
              <a:buChar char="•"/>
            </a:pPr>
            <a:r>
              <a:rPr lang="en-AU" sz="1200" kern="1200" dirty="0" smtClean="0">
                <a:solidFill>
                  <a:schemeClr val="tx1"/>
                </a:solidFill>
                <a:latin typeface="+mn-lt"/>
                <a:ea typeface="+mn-ea"/>
                <a:cs typeface="+mn-cs"/>
              </a:rPr>
              <a:t> In any food area, food handlers (and any other person) must never:</a:t>
            </a:r>
          </a:p>
          <a:p>
            <a:pPr lvl="1">
              <a:buFont typeface="Arial" pitchFamily="34" charset="0"/>
              <a:buChar char="•"/>
            </a:pPr>
            <a:r>
              <a:rPr lang="en-AU" sz="1200" kern="1200" dirty="0" smtClean="0">
                <a:solidFill>
                  <a:schemeClr val="tx1"/>
                </a:solidFill>
                <a:latin typeface="+mn-lt"/>
                <a:ea typeface="+mn-ea"/>
                <a:cs typeface="+mn-cs"/>
              </a:rPr>
              <a:t> Smoke</a:t>
            </a:r>
          </a:p>
          <a:p>
            <a:pPr lvl="1">
              <a:buFont typeface="Arial" pitchFamily="34" charset="0"/>
              <a:buChar char="•"/>
            </a:pPr>
            <a:r>
              <a:rPr lang="en-AU" sz="1200" kern="1200" dirty="0" smtClean="0">
                <a:solidFill>
                  <a:schemeClr val="tx1"/>
                </a:solidFill>
                <a:latin typeface="+mn-lt"/>
                <a:ea typeface="+mn-ea"/>
                <a:cs typeface="+mn-cs"/>
              </a:rPr>
              <a:t> Chew tobacco</a:t>
            </a:r>
          </a:p>
          <a:p>
            <a:pPr lvl="1">
              <a:buFont typeface="Arial" pitchFamily="34" charset="0"/>
              <a:buChar char="•"/>
            </a:pPr>
            <a:r>
              <a:rPr lang="en-AU" sz="1200" kern="1200" dirty="0" smtClean="0">
                <a:solidFill>
                  <a:schemeClr val="tx1"/>
                </a:solidFill>
                <a:latin typeface="+mn-lt"/>
                <a:ea typeface="+mn-ea"/>
                <a:cs typeface="+mn-cs"/>
              </a:rPr>
              <a:t> Spit.</a:t>
            </a:r>
          </a:p>
          <a:p>
            <a:pPr>
              <a:buFont typeface="Arial" pitchFamily="34" charset="0"/>
              <a:buChar char="•"/>
            </a:pPr>
            <a:r>
              <a:rPr lang="en-AU" sz="1200" kern="1200" dirty="0" smtClean="0">
                <a:solidFill>
                  <a:schemeClr val="tx1"/>
                </a:solidFill>
                <a:latin typeface="+mn-lt"/>
                <a:ea typeface="+mn-ea"/>
                <a:cs typeface="+mn-cs"/>
              </a:rPr>
              <a:t> It is a good idea to put up ‘No Smoking’ posters in all food areas and to remove ash trays from these areas</a:t>
            </a:r>
          </a:p>
          <a:p>
            <a:pPr>
              <a:buFont typeface="Arial" pitchFamily="34" charset="0"/>
              <a:buChar char="•"/>
            </a:pPr>
            <a:r>
              <a:rPr lang="en-AU" sz="1200" kern="1200" dirty="0" smtClean="0">
                <a:solidFill>
                  <a:schemeClr val="tx1"/>
                </a:solidFill>
                <a:latin typeface="+mn-lt"/>
                <a:ea typeface="+mn-ea"/>
                <a:cs typeface="+mn-cs"/>
              </a:rPr>
              <a:t> Hands must be washed after smoking and before returning to work as a food handler to remove any bacteria transferred from the mouth/lips to the fingers as part of the smoking process.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184</a:t>
            </a:fld>
            <a:endParaRPr lang="en-US" dirty="0"/>
          </a:p>
        </p:txBody>
      </p:sp>
    </p:spTree>
    <p:extLst>
      <p:ext uri="{BB962C8B-B14F-4D97-AF65-F5344CB8AC3E}">
        <p14:creationId xmlns:p14="http://schemas.microsoft.com/office/powerpoint/2010/main" val="2175333423"/>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185</a:t>
            </a:fld>
            <a:endParaRPr lang="en-US" dirty="0"/>
          </a:p>
        </p:txBody>
      </p:sp>
    </p:spTree>
    <p:extLst>
      <p:ext uri="{BB962C8B-B14F-4D97-AF65-F5344CB8AC3E}">
        <p14:creationId xmlns:p14="http://schemas.microsoft.com/office/powerpoint/2010/main" val="3179955734"/>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186</a:t>
            </a:fld>
            <a:endParaRPr lang="en-US" dirty="0"/>
          </a:p>
        </p:txBody>
      </p:sp>
    </p:spTree>
    <p:extLst>
      <p:ext uri="{BB962C8B-B14F-4D97-AF65-F5344CB8AC3E}">
        <p14:creationId xmlns:p14="http://schemas.microsoft.com/office/powerpoint/2010/main" val="462637256"/>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thanks trainees for their attention and encourages them to apply course content as required in their workplace activities.</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187</a:t>
            </a:fld>
            <a:endParaRPr lang="en-US" dirty="0"/>
          </a:p>
        </p:txBody>
      </p:sp>
    </p:spTree>
    <p:extLst>
      <p:ext uri="{BB962C8B-B14F-4D97-AF65-F5344CB8AC3E}">
        <p14:creationId xmlns:p14="http://schemas.microsoft.com/office/powerpoint/2010/main" val="7512005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3/12/2015</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3/12/2015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3/12/2015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3/12/2015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3/12/2015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3/12/2015</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3/12/2015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3/12/2015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3/12/2015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3/12/2015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3/12/2015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60B9F9CF-7D2C-460C-8F3E-F6213A54EF65}" type="datetime1">
              <a:rPr lang="en-US" smtClean="0"/>
              <a:pPr/>
              <a:t>3/12/2015</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0.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2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2.wmf"/><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3.wmf"/><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2.wmf"/><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82.wmf"/><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83.wmf"/><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96.wmf"/><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00.gif"/><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121.wmf"/><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122.wmf"/><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123.wmf"/><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124.wmf"/><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125.jpeg"/><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127.jpeg"/><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130.jpeg"/><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image" Target="../media/image131.jpeg"/><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3" Type="http://schemas.openxmlformats.org/officeDocument/2006/relationships/image" Target="../media/image132.jpeg"/><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133.wmf"/><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3" Type="http://schemas.openxmlformats.org/officeDocument/2006/relationships/image" Target="../media/image134.wmf"/><Relationship Id="rId2" Type="http://schemas.openxmlformats.org/officeDocument/2006/relationships/notesSlide" Target="../notesSlides/notesSlide173.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image" Target="../media/image135.jpeg"/><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3" Type="http://schemas.openxmlformats.org/officeDocument/2006/relationships/image" Target="../media/image136.wmf"/><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3" Type="http://schemas.openxmlformats.org/officeDocument/2006/relationships/image" Target="../media/image137.wmf"/><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3" Type="http://schemas.openxmlformats.org/officeDocument/2006/relationships/image" Target="../media/image138.jpeg"/><Relationship Id="rId2" Type="http://schemas.openxmlformats.org/officeDocument/2006/relationships/notesSlide" Target="../notesSlides/notesSlide178.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79.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180.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3" Type="http://schemas.openxmlformats.org/officeDocument/2006/relationships/image" Target="../media/image139.jpeg"/><Relationship Id="rId2" Type="http://schemas.openxmlformats.org/officeDocument/2006/relationships/notesSlide" Target="../notesSlides/notesSlide181.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3" Type="http://schemas.openxmlformats.org/officeDocument/2006/relationships/image" Target="../media/image140.wmf"/><Relationship Id="rId2" Type="http://schemas.openxmlformats.org/officeDocument/2006/relationships/notesSlide" Target="../notesSlides/notesSlide182.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3" Type="http://schemas.openxmlformats.org/officeDocument/2006/relationships/image" Target="../media/image141.jpeg"/><Relationship Id="rId2" Type="http://schemas.openxmlformats.org/officeDocument/2006/relationships/notesSlide" Target="../notesSlides/notesSlide183.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184.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185.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186.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18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07704" y="1268760"/>
            <a:ext cx="6480048" cy="1285884"/>
          </a:xfrm>
        </p:spPr>
        <p:txBody>
          <a:bodyPr>
            <a:normAutofit fontScale="90000"/>
          </a:bodyPr>
          <a:lstStyle/>
          <a:p>
            <a:r>
              <a:rPr lang="en-US" sz="4000" dirty="0" smtClean="0">
                <a:ln w="5000" cmpd="sng">
                  <a:noFill/>
                  <a:prstDash val="solid"/>
                </a:ln>
                <a:solidFill>
                  <a:srgbClr val="FF6600"/>
                </a:solidFill>
                <a:latin typeface="Helvetica" pitchFamily="34" charset="0"/>
              </a:rPr>
              <a:t>COMPLY WITH WORKPLACE HYGIENE PROCEDURES</a:t>
            </a:r>
            <a:endParaRPr lang="en-US" sz="40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1857356" y="2714620"/>
            <a:ext cx="6480048" cy="1215586"/>
          </a:xfrm>
        </p:spPr>
        <p:txBody>
          <a:bodyPr>
            <a:noAutofit/>
          </a:bodyPr>
          <a:lstStyle/>
          <a:p>
            <a:r>
              <a:rPr lang="en-US" sz="2400" b="1" dirty="0" smtClean="0">
                <a:latin typeface="Helvetica" pitchFamily="34" charset="0"/>
              </a:rPr>
              <a:t>Unit Code: D1.HRS.CL1.05</a:t>
            </a:r>
          </a:p>
          <a:p>
            <a:r>
              <a:rPr lang="en-US" sz="2400" b="1" dirty="0" smtClean="0">
                <a:latin typeface="Helvetica" pitchFamily="34" charset="0"/>
              </a:rPr>
              <a:t>D1.HOT.CL1.04</a:t>
            </a:r>
          </a:p>
          <a:p>
            <a:r>
              <a:rPr lang="en-US" sz="2400" b="1" dirty="0" smtClean="0">
                <a:latin typeface="Helvetica" pitchFamily="34" charset="0"/>
              </a:rPr>
              <a:t>D2.TTO.CL4.10</a:t>
            </a:r>
            <a:endParaRPr lang="en-US" sz="24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a:t>
            </a:fld>
            <a:endParaRPr lang="en-US" dirty="0"/>
          </a:p>
        </p:txBody>
      </p:sp>
      <p:pic>
        <p:nvPicPr>
          <p:cNvPr id="6" name="Picture 5" descr="DSCF1647.JPG"/>
          <p:cNvPicPr>
            <a:picLocks noChangeAspect="1"/>
          </p:cNvPicPr>
          <p:nvPr/>
        </p:nvPicPr>
        <p:blipFill>
          <a:blip r:embed="rId3" cstate="print"/>
          <a:stretch>
            <a:fillRect/>
          </a:stretch>
        </p:blipFill>
        <p:spPr>
          <a:xfrm>
            <a:off x="1763688" y="3356992"/>
            <a:ext cx="3611893" cy="2708920"/>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Comply with workplace hygiene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This unit comprises three Elements:</a:t>
            </a:r>
          </a:p>
          <a:p>
            <a:pPr marL="360000" indent="-360000">
              <a:spcBef>
                <a:spcPts val="1200"/>
              </a:spcBef>
              <a:spcAft>
                <a:spcPts val="1200"/>
              </a:spcAft>
            </a:pPr>
            <a:r>
              <a:rPr lang="en-US" sz="2200" b="1" dirty="0" smtClean="0">
                <a:latin typeface="Helvetica" pitchFamily="34" charset="0"/>
              </a:rPr>
              <a:t>Follow hygiene procedures</a:t>
            </a:r>
          </a:p>
          <a:p>
            <a:pPr marL="360000" indent="-360000">
              <a:spcBef>
                <a:spcPts val="1200"/>
              </a:spcBef>
              <a:spcAft>
                <a:spcPts val="1200"/>
              </a:spcAft>
            </a:pPr>
            <a:r>
              <a:rPr lang="en-US" sz="2200" b="1" dirty="0" smtClean="0">
                <a:latin typeface="Helvetica" pitchFamily="34" charset="0"/>
              </a:rPr>
              <a:t>Identify and prevent hygiene risks</a:t>
            </a:r>
          </a:p>
          <a:p>
            <a:pPr marL="360000" indent="-360000">
              <a:spcBef>
                <a:spcPts val="1200"/>
              </a:spcBef>
              <a:spcAft>
                <a:spcPts val="1200"/>
              </a:spcAft>
            </a:pPr>
            <a:r>
              <a:rPr lang="en-US" sz="2200" b="1" dirty="0" smtClean="0">
                <a:latin typeface="Helvetica" pitchFamily="34" charset="0"/>
              </a:rPr>
              <a:t>Maintain safe personal food handling </a:t>
            </a:r>
            <a:br>
              <a:rPr lang="en-US" sz="2200" b="1" dirty="0" smtClean="0">
                <a:latin typeface="Helvetica" pitchFamily="34" charset="0"/>
              </a:rPr>
            </a:br>
            <a:r>
              <a:rPr lang="en-US" sz="2200" b="1" dirty="0" smtClean="0">
                <a:latin typeface="Helvetica" pitchFamily="34" charset="0"/>
              </a:rPr>
              <a:t>and personal presentation standards.</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a:t>
            </a:fld>
            <a:endParaRPr lang="en-US" dirty="0"/>
          </a:p>
        </p:txBody>
      </p:sp>
      <p:pic>
        <p:nvPicPr>
          <p:cNvPr id="6" name="Picture 5" descr="_mg_8824.jpg"/>
          <p:cNvPicPr>
            <a:picLocks noChangeAspect="1"/>
          </p:cNvPicPr>
          <p:nvPr/>
        </p:nvPicPr>
        <p:blipFill>
          <a:blip r:embed="rId3" cstate="print"/>
          <a:stretch>
            <a:fillRect/>
          </a:stretch>
        </p:blipFill>
        <p:spPr>
          <a:xfrm>
            <a:off x="6426200" y="1142984"/>
            <a:ext cx="2717800" cy="4064000"/>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1200"/>
              </a:spcBef>
              <a:spcAft>
                <a:spcPts val="1200"/>
              </a:spcAft>
              <a:buNone/>
            </a:pPr>
            <a:r>
              <a:rPr lang="en-US" sz="2200" b="1" dirty="0" smtClean="0">
                <a:latin typeface="Helvetica" pitchFamily="34" charset="0"/>
              </a:rPr>
              <a:t>Assessment for this unit may include:</a:t>
            </a:r>
          </a:p>
          <a:p>
            <a:pPr marL="360000" indent="-360000">
              <a:spcBef>
                <a:spcPts val="1200"/>
              </a:spcBef>
              <a:spcAft>
                <a:spcPts val="1200"/>
              </a:spcAft>
            </a:pPr>
            <a:r>
              <a:rPr lang="en-US" sz="2200" b="1" dirty="0" smtClean="0">
                <a:latin typeface="Helvetica" pitchFamily="34" charset="0"/>
              </a:rPr>
              <a:t>Oral questions</a:t>
            </a:r>
          </a:p>
          <a:p>
            <a:pPr marL="360000" indent="-360000">
              <a:spcBef>
                <a:spcPts val="1200"/>
              </a:spcBef>
              <a:spcAft>
                <a:spcPts val="1200"/>
              </a:spcAft>
            </a:pPr>
            <a:r>
              <a:rPr lang="en-US" sz="2200" b="1" dirty="0" smtClean="0">
                <a:latin typeface="Helvetica" pitchFamily="34" charset="0"/>
              </a:rPr>
              <a:t>Written questions</a:t>
            </a:r>
          </a:p>
          <a:p>
            <a:pPr marL="360000" indent="-360000">
              <a:spcBef>
                <a:spcPts val="1200"/>
              </a:spcBef>
              <a:spcAft>
                <a:spcPts val="1200"/>
              </a:spcAft>
            </a:pPr>
            <a:r>
              <a:rPr lang="en-US" sz="2200" b="1" dirty="0" smtClean="0">
                <a:latin typeface="Helvetica" pitchFamily="34" charset="0"/>
              </a:rPr>
              <a:t>Work projects</a:t>
            </a:r>
          </a:p>
          <a:p>
            <a:pPr marL="360000" indent="-360000">
              <a:spcBef>
                <a:spcPts val="1200"/>
              </a:spcBef>
              <a:spcAft>
                <a:spcPts val="1200"/>
              </a:spcAft>
            </a:pPr>
            <a:r>
              <a:rPr lang="en-US" sz="2200" b="1" dirty="0" smtClean="0">
                <a:latin typeface="Helvetica" pitchFamily="34" charset="0"/>
              </a:rPr>
              <a:t>Workplace observation of practical skills</a:t>
            </a:r>
          </a:p>
          <a:p>
            <a:pPr marL="360000" indent="-360000">
              <a:spcBef>
                <a:spcPts val="1200"/>
              </a:spcBef>
              <a:spcAft>
                <a:spcPts val="1200"/>
              </a:spcAft>
            </a:pPr>
            <a:r>
              <a:rPr lang="en-US" sz="2200" b="1" dirty="0" smtClean="0">
                <a:latin typeface="Helvetica" pitchFamily="34" charset="0"/>
              </a:rPr>
              <a:t>Practical exercises</a:t>
            </a:r>
          </a:p>
          <a:p>
            <a:pPr marL="360000" indent="-360000">
              <a:spcBef>
                <a:spcPts val="1200"/>
              </a:spcBef>
              <a:spcAft>
                <a:spcPts val="1200"/>
              </a:spcAft>
            </a:pPr>
            <a:r>
              <a:rPr lang="en-US" sz="2200" b="1" dirty="0" smtClean="0">
                <a:latin typeface="Helvetica" pitchFamily="34" charset="0"/>
              </a:rPr>
              <a:t>Formal report from employer or </a:t>
            </a:r>
            <a:br>
              <a:rPr lang="en-US" sz="2200" b="1" dirty="0" smtClean="0">
                <a:latin typeface="Helvetica" pitchFamily="34" charset="0"/>
              </a:rPr>
            </a:br>
            <a:r>
              <a:rPr lang="en-US" sz="2200" b="1" dirty="0" smtClean="0">
                <a:latin typeface="Helvetica" pitchFamily="34" charset="0"/>
              </a:rPr>
              <a:t>supervisor.</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a:t>
            </a:fld>
            <a:endParaRPr lang="en-US" dirty="0"/>
          </a:p>
        </p:txBody>
      </p:sp>
      <p:pic>
        <p:nvPicPr>
          <p:cNvPr id="1026" name="Picture 2" descr="C:\Users\fgvghyujil\AppData\Local\Microsoft\Windows\Temporary Internet Files\Content.IE5\PP601SXW\MC900440428[1].wmf"/>
          <p:cNvPicPr>
            <a:picLocks noChangeAspect="1" noChangeArrowheads="1"/>
          </p:cNvPicPr>
          <p:nvPr/>
        </p:nvPicPr>
        <p:blipFill>
          <a:blip r:embed="rId3" cstate="print"/>
          <a:srcRect/>
          <a:stretch>
            <a:fillRect/>
          </a:stretch>
        </p:blipFill>
        <p:spPr bwMode="auto">
          <a:xfrm>
            <a:off x="6715140" y="3500438"/>
            <a:ext cx="1736725" cy="1828800"/>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hygiene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729728"/>
          </a:xfrm>
        </p:spPr>
        <p:txBody>
          <a:bodyPr>
            <a:normAutofit lnSpcReduction="10000"/>
          </a:bodyPr>
          <a:lstStyle/>
          <a:p>
            <a:pPr marL="0" indent="0">
              <a:spcBef>
                <a:spcPts val="1200"/>
              </a:spcBef>
              <a:spcAft>
                <a:spcPts val="1200"/>
              </a:spcAft>
              <a:buNone/>
            </a:pPr>
            <a:r>
              <a:rPr lang="en-US" sz="2200" b="1" dirty="0" smtClean="0">
                <a:latin typeface="Helvetica" pitchFamily="34" charset="0"/>
              </a:rPr>
              <a:t>Performance Criteria for this Element are:</a:t>
            </a:r>
          </a:p>
          <a:p>
            <a:pPr marL="360000" indent="-360000">
              <a:spcBef>
                <a:spcPts val="1200"/>
              </a:spcBef>
              <a:spcAft>
                <a:spcPts val="1200"/>
              </a:spcAft>
            </a:pPr>
            <a:r>
              <a:rPr lang="en-US" sz="2200" b="1" dirty="0" smtClean="0">
                <a:latin typeface="Helvetica" pitchFamily="34" charset="0"/>
              </a:rPr>
              <a:t>Identify relevant workplace hygiene procedures that need to be adhered to</a:t>
            </a:r>
          </a:p>
          <a:p>
            <a:pPr marL="360000" indent="-360000">
              <a:spcBef>
                <a:spcPts val="1200"/>
              </a:spcBef>
              <a:spcAft>
                <a:spcPts val="1200"/>
              </a:spcAft>
            </a:pPr>
            <a:r>
              <a:rPr lang="en-US" sz="2200" b="1" dirty="0" smtClean="0">
                <a:latin typeface="Helvetica" pitchFamily="34" charset="0"/>
              </a:rPr>
              <a:t>Identify enterprise standards and legislated requirements that apply to relevant workplace hygiene procedures</a:t>
            </a:r>
          </a:p>
          <a:p>
            <a:pPr marL="360000" indent="-360000">
              <a:spcBef>
                <a:spcPts val="1200"/>
              </a:spcBef>
              <a:spcAft>
                <a:spcPts val="1200"/>
              </a:spcAft>
            </a:pPr>
            <a:r>
              <a:rPr lang="en-US" sz="2200" b="1" dirty="0" smtClean="0">
                <a:latin typeface="Helvetica" pitchFamily="34" charset="0"/>
              </a:rPr>
              <a:t>Follow workplace hygiene procedures </a:t>
            </a:r>
            <a:br>
              <a:rPr lang="en-US" sz="2200" b="1" dirty="0" smtClean="0">
                <a:latin typeface="Helvetica" pitchFamily="34" charset="0"/>
              </a:rPr>
            </a:br>
            <a:r>
              <a:rPr lang="en-US" sz="2200" b="1" dirty="0" smtClean="0">
                <a:latin typeface="Helvetica" pitchFamily="34" charset="0"/>
              </a:rPr>
              <a:t>in accordance with enterprise standards </a:t>
            </a:r>
            <a:br>
              <a:rPr lang="en-US" sz="2200" b="1" dirty="0" smtClean="0">
                <a:latin typeface="Helvetica" pitchFamily="34" charset="0"/>
              </a:rPr>
            </a:br>
            <a:r>
              <a:rPr lang="en-US" sz="2200" b="1" dirty="0" smtClean="0">
                <a:latin typeface="Helvetica" pitchFamily="34" charset="0"/>
              </a:rPr>
              <a:t>and legislated requirements</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a:t>
            </a:fld>
            <a:endParaRPr lang="en-US" dirty="0"/>
          </a:p>
        </p:txBody>
      </p:sp>
      <p:pic>
        <p:nvPicPr>
          <p:cNvPr id="2050" name="Picture 2" descr="C:\Users\fgvghyujil\AppData\Local\Microsoft\Windows\Temporary Internet Files\Content.IE5\3J5365UD\MP900424379[1].jpg"/>
          <p:cNvPicPr>
            <a:picLocks noChangeAspect="1" noChangeArrowheads="1"/>
          </p:cNvPicPr>
          <p:nvPr/>
        </p:nvPicPr>
        <p:blipFill>
          <a:blip r:embed="rId3" cstate="print"/>
          <a:srcRect/>
          <a:stretch>
            <a:fillRect/>
          </a:stretch>
        </p:blipFill>
        <p:spPr bwMode="auto">
          <a:xfrm>
            <a:off x="6500818" y="3786190"/>
            <a:ext cx="2643182" cy="2643182"/>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hygiene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AU" sz="2200" b="1" dirty="0" smtClean="0">
                <a:latin typeface="Helvetica" pitchFamily="34" charset="0"/>
              </a:rPr>
              <a:t>Receive, handle and store all food items according to enterprise standards and legislated requirements</a:t>
            </a:r>
            <a:endParaRPr lang="en-US" sz="2200" b="1" dirty="0" smtClean="0">
              <a:latin typeface="Helvetica" pitchFamily="34" charset="0"/>
            </a:endParaRPr>
          </a:p>
          <a:p>
            <a:pPr marL="360000" indent="-360000">
              <a:spcBef>
                <a:spcPts val="1200"/>
              </a:spcBef>
              <a:spcAft>
                <a:spcPts val="1200"/>
              </a:spcAft>
            </a:pPr>
            <a:r>
              <a:rPr lang="en-AU" sz="2200" b="1" dirty="0" smtClean="0">
                <a:latin typeface="Helvetica" pitchFamily="34" charset="0"/>
              </a:rPr>
              <a:t>Prepare, serve and store food in compliance with enterprise standards and legislated requirements</a:t>
            </a:r>
          </a:p>
          <a:p>
            <a:pPr marL="360000" indent="-360000">
              <a:spcBef>
                <a:spcPts val="1200"/>
              </a:spcBef>
              <a:spcAft>
                <a:spcPts val="1200"/>
              </a:spcAft>
            </a:pPr>
            <a:r>
              <a:rPr lang="en-AU" sz="2200" b="1" dirty="0" smtClean="0">
                <a:latin typeface="Helvetica" pitchFamily="34" charset="0"/>
              </a:rPr>
              <a:t>Clean food-related items, utensils and </a:t>
            </a:r>
            <a:br>
              <a:rPr lang="en-AU" sz="2200" b="1" dirty="0" smtClean="0">
                <a:latin typeface="Helvetica" pitchFamily="34" charset="0"/>
              </a:rPr>
            </a:br>
            <a:r>
              <a:rPr lang="en-AU" sz="2200" b="1" dirty="0" smtClean="0">
                <a:latin typeface="Helvetica" pitchFamily="34" charset="0"/>
              </a:rPr>
              <a:t>areas in compliance with enterprise  </a:t>
            </a:r>
            <a:br>
              <a:rPr lang="en-AU" sz="2200" b="1" dirty="0" smtClean="0">
                <a:latin typeface="Helvetica" pitchFamily="34" charset="0"/>
              </a:rPr>
            </a:br>
            <a:r>
              <a:rPr lang="en-AU" sz="2200" b="1" dirty="0" smtClean="0">
                <a:latin typeface="Helvetica" pitchFamily="34" charset="0"/>
              </a:rPr>
              <a:t>standards and legislated requirements</a:t>
            </a:r>
            <a:r>
              <a:rPr lang="en-US" sz="2200" b="1" dirty="0" smtClean="0">
                <a:latin typeface="Helvetica" pitchFamily="34" charset="0"/>
              </a:rPr>
              <a:t>.</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a:t>
            </a:fld>
            <a:endParaRPr lang="en-US" dirty="0"/>
          </a:p>
        </p:txBody>
      </p:sp>
      <p:pic>
        <p:nvPicPr>
          <p:cNvPr id="5" name="Picture 4" descr="Delivery man.jpg"/>
          <p:cNvPicPr>
            <a:picLocks noChangeAspect="1"/>
          </p:cNvPicPr>
          <p:nvPr/>
        </p:nvPicPr>
        <p:blipFill>
          <a:blip r:embed="rId3" cstate="print"/>
          <a:stretch>
            <a:fillRect/>
          </a:stretch>
        </p:blipFill>
        <p:spPr>
          <a:xfrm>
            <a:off x="6643702" y="3429000"/>
            <a:ext cx="1785950" cy="2660059"/>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Identify relevant workplace hygiene procedures to be adhered to</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To ensure the safety of food you will need to comply with:</a:t>
            </a:r>
          </a:p>
          <a:p>
            <a:pPr marL="360000" indent="-360000">
              <a:spcBef>
                <a:spcPts val="1200"/>
              </a:spcBef>
              <a:spcAft>
                <a:spcPts val="1200"/>
              </a:spcAft>
            </a:pPr>
            <a:r>
              <a:rPr lang="en-US" sz="2200" b="1" dirty="0" smtClean="0">
                <a:latin typeface="Helvetica" pitchFamily="34" charset="0"/>
              </a:rPr>
              <a:t>Legislation</a:t>
            </a:r>
          </a:p>
          <a:p>
            <a:pPr marL="360000" indent="-360000">
              <a:spcBef>
                <a:spcPts val="1200"/>
              </a:spcBef>
              <a:spcAft>
                <a:spcPts val="1200"/>
              </a:spcAft>
            </a:pPr>
            <a:r>
              <a:rPr lang="en-US" sz="2200" b="1" dirty="0" smtClean="0">
                <a:latin typeface="Helvetica" pitchFamily="34" charset="0"/>
              </a:rPr>
              <a:t>Enterprise policies and procedures</a:t>
            </a:r>
          </a:p>
          <a:p>
            <a:pPr marL="360000" indent="-360000">
              <a:spcBef>
                <a:spcPts val="1200"/>
              </a:spcBef>
              <a:spcAft>
                <a:spcPts val="1200"/>
              </a:spcAft>
            </a:pPr>
            <a:r>
              <a:rPr lang="en-US" sz="2200" b="1" dirty="0" smtClean="0">
                <a:latin typeface="Helvetica" pitchFamily="34" charset="0"/>
              </a:rPr>
              <a:t>Internal food safety systems.</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a:t>
            </a:fld>
            <a:endParaRPr lang="en-US" dirty="0"/>
          </a:p>
        </p:txBody>
      </p:sp>
      <p:pic>
        <p:nvPicPr>
          <p:cNvPr id="5" name="Picture 4" descr="iStock_000010500218XSmall.jpg"/>
          <p:cNvPicPr>
            <a:picLocks noChangeAspect="1"/>
          </p:cNvPicPr>
          <p:nvPr/>
        </p:nvPicPr>
        <p:blipFill>
          <a:blip r:embed="rId3" cstate="print"/>
          <a:stretch>
            <a:fillRect/>
          </a:stretch>
        </p:blipFill>
        <p:spPr>
          <a:xfrm>
            <a:off x="5786446" y="3714752"/>
            <a:ext cx="2686043" cy="215161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Identify relevant workplace hygiene procedures to be adhered to</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To identify the requirements of local food safety legislation:</a:t>
            </a:r>
          </a:p>
          <a:p>
            <a:pPr lvl="0">
              <a:spcBef>
                <a:spcPts val="1200"/>
              </a:spcBef>
              <a:spcAft>
                <a:spcPts val="1200"/>
              </a:spcAft>
            </a:pPr>
            <a:r>
              <a:rPr lang="en-AU" sz="2200" b="1" dirty="0" smtClean="0">
                <a:latin typeface="Helvetica" pitchFamily="34" charset="0"/>
              </a:rPr>
              <a:t>Speak with management</a:t>
            </a:r>
          </a:p>
          <a:p>
            <a:pPr lvl="0">
              <a:spcBef>
                <a:spcPts val="1200"/>
              </a:spcBef>
              <a:spcAft>
                <a:spcPts val="1200"/>
              </a:spcAft>
            </a:pPr>
            <a:r>
              <a:rPr lang="en-AU" sz="2200" b="1" dirty="0" smtClean="0">
                <a:latin typeface="Helvetica" pitchFamily="34" charset="0"/>
              </a:rPr>
              <a:t>Visit your local health or food safety authority </a:t>
            </a:r>
          </a:p>
          <a:p>
            <a:pPr>
              <a:spcBef>
                <a:spcPts val="1200"/>
              </a:spcBef>
              <a:spcAft>
                <a:spcPts val="1200"/>
              </a:spcAft>
            </a:pPr>
            <a:r>
              <a:rPr lang="en-AU" sz="2200" b="1" dirty="0" smtClean="0">
                <a:latin typeface="Helvetica" pitchFamily="34" charset="0"/>
              </a:rPr>
              <a:t>Research through the internet</a:t>
            </a:r>
            <a:r>
              <a:rPr lang="en-US" sz="2200" b="1" dirty="0" smtClean="0">
                <a:latin typeface="Helvetica" pitchFamily="34" charset="0"/>
              </a:rPr>
              <a:t>.</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a:t>
            </a:fld>
            <a:endParaRPr lang="en-US" dirty="0"/>
          </a:p>
        </p:txBody>
      </p:sp>
      <p:pic>
        <p:nvPicPr>
          <p:cNvPr id="6" name="Picture 5" descr="CleanKitchenCCBrandonformCalifornia.jpg"/>
          <p:cNvPicPr>
            <a:picLocks noChangeAspect="1"/>
          </p:cNvPicPr>
          <p:nvPr/>
        </p:nvPicPr>
        <p:blipFill>
          <a:blip r:embed="rId3" cstate="print"/>
          <a:stretch>
            <a:fillRect/>
          </a:stretch>
        </p:blipFill>
        <p:spPr>
          <a:xfrm>
            <a:off x="5572132" y="3929066"/>
            <a:ext cx="3048000" cy="21717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Identify relevant workplace hygiene procedures to be adhered to</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You must follow all enterprise policies and procedures relating to food safety – these may apply to:</a:t>
            </a:r>
          </a:p>
          <a:p>
            <a:pPr marL="360000" indent="-360000">
              <a:spcBef>
                <a:spcPts val="1200"/>
              </a:spcBef>
              <a:spcAft>
                <a:spcPts val="1200"/>
              </a:spcAft>
            </a:pPr>
            <a:r>
              <a:rPr lang="en-US" sz="2200" b="1" dirty="0" smtClean="0">
                <a:latin typeface="Helvetica" pitchFamily="34" charset="0"/>
              </a:rPr>
              <a:t>Purchasing food</a:t>
            </a:r>
          </a:p>
          <a:p>
            <a:pPr marL="360000" indent="-360000">
              <a:spcBef>
                <a:spcPts val="1200"/>
              </a:spcBef>
              <a:spcAft>
                <a:spcPts val="1200"/>
              </a:spcAft>
            </a:pPr>
            <a:r>
              <a:rPr lang="en-US" sz="2200" b="1" dirty="0" smtClean="0">
                <a:latin typeface="Helvetica" pitchFamily="34" charset="0"/>
              </a:rPr>
              <a:t>Receiving food</a:t>
            </a:r>
          </a:p>
          <a:p>
            <a:pPr marL="360000" indent="-360000">
              <a:spcBef>
                <a:spcPts val="1200"/>
              </a:spcBef>
              <a:spcAft>
                <a:spcPts val="1200"/>
              </a:spcAft>
            </a:pPr>
            <a:r>
              <a:rPr lang="en-US" sz="2200" b="1" dirty="0" smtClean="0">
                <a:latin typeface="Helvetica" pitchFamily="34" charset="0"/>
              </a:rPr>
              <a:t>Storing food</a:t>
            </a:r>
          </a:p>
          <a:p>
            <a:pPr marL="360000" indent="-360000">
              <a:spcBef>
                <a:spcPts val="1200"/>
              </a:spcBef>
              <a:spcAft>
                <a:spcPts val="1200"/>
              </a:spcAft>
            </a:pPr>
            <a:r>
              <a:rPr lang="en-US" sz="2200" b="1" dirty="0" smtClean="0">
                <a:latin typeface="Helvetica" pitchFamily="34" charset="0"/>
              </a:rPr>
              <a:t>De-frosting frozen food</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a:t>
            </a:fld>
            <a:endParaRPr lang="en-US" dirty="0"/>
          </a:p>
        </p:txBody>
      </p:sp>
      <p:pic>
        <p:nvPicPr>
          <p:cNvPr id="7" name="Picture 6" descr="cook assistant.jpg"/>
          <p:cNvPicPr>
            <a:picLocks noChangeAspect="1"/>
          </p:cNvPicPr>
          <p:nvPr/>
        </p:nvPicPr>
        <p:blipFill>
          <a:blip r:embed="rId3" cstate="print"/>
          <a:stretch>
            <a:fillRect/>
          </a:stretch>
        </p:blipFill>
        <p:spPr>
          <a:xfrm>
            <a:off x="5652813" y="2852936"/>
            <a:ext cx="3491187" cy="2318366"/>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Identify relevant workplace hygiene procedures to be adhered to</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b="1" dirty="0" smtClean="0">
                <a:latin typeface="Helvetica" pitchFamily="34" charset="0"/>
              </a:rPr>
              <a:t>Preparing and cooking food – including cooling of hot food</a:t>
            </a:r>
          </a:p>
          <a:p>
            <a:pPr marL="360000" indent="-360000">
              <a:spcBef>
                <a:spcPts val="1200"/>
              </a:spcBef>
              <a:spcAft>
                <a:spcPts val="1200"/>
              </a:spcAft>
            </a:pPr>
            <a:r>
              <a:rPr lang="en-US" sz="2200" b="1" dirty="0" smtClean="0">
                <a:latin typeface="Helvetica" pitchFamily="34" charset="0"/>
              </a:rPr>
              <a:t>Holding and C– hot and cold</a:t>
            </a:r>
          </a:p>
          <a:p>
            <a:pPr marL="360000" indent="-360000">
              <a:spcBef>
                <a:spcPts val="1200"/>
              </a:spcBef>
              <a:spcAft>
                <a:spcPts val="1200"/>
              </a:spcAft>
            </a:pPr>
            <a:r>
              <a:rPr lang="en-US" sz="2200" b="1" dirty="0" smtClean="0">
                <a:latin typeface="Helvetica" pitchFamily="34" charset="0"/>
              </a:rPr>
              <a:t>Re-heating of cooked food</a:t>
            </a:r>
          </a:p>
          <a:p>
            <a:pPr marL="360000" indent="-360000">
              <a:spcBef>
                <a:spcPts val="1200"/>
              </a:spcBef>
              <a:spcAft>
                <a:spcPts val="1200"/>
              </a:spcAft>
            </a:pPr>
            <a:r>
              <a:rPr lang="en-US" sz="2200" b="1" dirty="0" smtClean="0">
                <a:latin typeface="Helvetica" pitchFamily="34" charset="0"/>
              </a:rPr>
              <a:t>Serving food</a:t>
            </a:r>
          </a:p>
          <a:p>
            <a:pPr marL="360000" indent="-360000">
              <a:spcBef>
                <a:spcPts val="1200"/>
              </a:spcBef>
              <a:spcAft>
                <a:spcPts val="1200"/>
              </a:spcAft>
            </a:pPr>
            <a:r>
              <a:rPr lang="en-US" sz="2200" b="1" dirty="0" smtClean="0">
                <a:latin typeface="Helvetica" pitchFamily="34" charset="0"/>
              </a:rPr>
              <a:t>Self-service of food.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a:t>
            </a:fld>
            <a:endParaRPr lang="en-US" dirty="0"/>
          </a:p>
        </p:txBody>
      </p:sp>
      <p:pic>
        <p:nvPicPr>
          <p:cNvPr id="5" name="Picture 4" descr="1dsc_0031.jpg"/>
          <p:cNvPicPr>
            <a:picLocks noChangeAspect="1"/>
          </p:cNvPicPr>
          <p:nvPr/>
        </p:nvPicPr>
        <p:blipFill>
          <a:blip r:embed="rId3" cstate="print"/>
          <a:stretch>
            <a:fillRect/>
          </a:stretch>
        </p:blipFill>
        <p:spPr>
          <a:xfrm>
            <a:off x="5941676" y="4071942"/>
            <a:ext cx="3202324" cy="2131546"/>
          </a:xfrm>
          <a:prstGeom prst="rect">
            <a:avLst/>
          </a:prstGeom>
        </p:spPr>
      </p:pic>
      <p:pic>
        <p:nvPicPr>
          <p:cNvPr id="6" name="Picture 5" descr="beverages.jpg"/>
          <p:cNvPicPr>
            <a:picLocks noChangeAspect="1"/>
          </p:cNvPicPr>
          <p:nvPr/>
        </p:nvPicPr>
        <p:blipFill>
          <a:blip r:embed="rId4" cstate="print"/>
          <a:stretch>
            <a:fillRect/>
          </a:stretch>
        </p:blipFill>
        <p:spPr>
          <a:xfrm>
            <a:off x="7715272" y="2000240"/>
            <a:ext cx="1428728" cy="2126479"/>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Identify relevant workplace hygiene procedures to be adhered to</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Workplaces may also require you to comply with house rules regarding:</a:t>
            </a:r>
          </a:p>
          <a:p>
            <a:pPr marL="360000" indent="-360000">
              <a:spcBef>
                <a:spcPts val="1200"/>
              </a:spcBef>
              <a:spcAft>
                <a:spcPts val="1200"/>
              </a:spcAft>
            </a:pPr>
            <a:r>
              <a:rPr lang="en-US" sz="2200" b="1" dirty="0" smtClean="0">
                <a:latin typeface="Helvetica" pitchFamily="34" charset="0"/>
              </a:rPr>
              <a:t>Cleaning and sanitising</a:t>
            </a:r>
          </a:p>
          <a:p>
            <a:pPr marL="360000" indent="-360000">
              <a:spcBef>
                <a:spcPts val="1200"/>
              </a:spcBef>
              <a:spcAft>
                <a:spcPts val="1200"/>
              </a:spcAft>
            </a:pPr>
            <a:r>
              <a:rPr lang="en-US" sz="2200" b="1" dirty="0" smtClean="0">
                <a:latin typeface="Helvetica" pitchFamily="34" charset="0"/>
              </a:rPr>
              <a:t>Food handling techniques</a:t>
            </a:r>
          </a:p>
          <a:p>
            <a:pPr marL="360000" indent="-360000">
              <a:spcBef>
                <a:spcPts val="1200"/>
              </a:spcBef>
              <a:spcAft>
                <a:spcPts val="1200"/>
              </a:spcAft>
            </a:pPr>
            <a:r>
              <a:rPr lang="en-US" sz="2200" b="1" dirty="0" smtClean="0">
                <a:latin typeface="Helvetica" pitchFamily="34" charset="0"/>
              </a:rPr>
              <a:t>Personal hygiene</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a:t>
            </a:fld>
            <a:endParaRPr lang="en-US" dirty="0"/>
          </a:p>
        </p:txBody>
      </p:sp>
      <p:pic>
        <p:nvPicPr>
          <p:cNvPr id="5" name="Picture 2" descr="C:\Users\fgvghyujil\AppData\Local\Microsoft\Windows\Temporary Internet Files\Content.IE5\SIE7KNHZ\MC900019681[1].wmf"/>
          <p:cNvPicPr>
            <a:picLocks noChangeAspect="1" noChangeArrowheads="1"/>
          </p:cNvPicPr>
          <p:nvPr/>
        </p:nvPicPr>
        <p:blipFill>
          <a:blip r:embed="rId3" cstate="print"/>
          <a:srcRect/>
          <a:stretch>
            <a:fillRect/>
          </a:stretch>
        </p:blipFill>
        <p:spPr bwMode="auto">
          <a:xfrm>
            <a:off x="5830432" y="2000240"/>
            <a:ext cx="3313568" cy="3468986"/>
          </a:xfrm>
          <a:prstGeom prst="rect">
            <a:avLst/>
          </a:prstGeom>
          <a:noFill/>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Identify relevant workplace hygiene procedures to be adhered to</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b="1" dirty="0" smtClean="0">
                <a:latin typeface="Helvetica" pitchFamily="34" charset="0"/>
              </a:rPr>
              <a:t>Equipment maintenance</a:t>
            </a:r>
          </a:p>
          <a:p>
            <a:pPr marL="360000" indent="-360000">
              <a:spcBef>
                <a:spcPts val="1200"/>
              </a:spcBef>
              <a:spcAft>
                <a:spcPts val="1200"/>
              </a:spcAft>
            </a:pPr>
            <a:r>
              <a:rPr lang="en-US" sz="2200" b="1" dirty="0" smtClean="0">
                <a:latin typeface="Helvetica" pitchFamily="34" charset="0"/>
              </a:rPr>
              <a:t>Use of food thermometers</a:t>
            </a:r>
          </a:p>
          <a:p>
            <a:pPr marL="360000" indent="-360000">
              <a:spcBef>
                <a:spcPts val="1200"/>
              </a:spcBef>
              <a:spcAft>
                <a:spcPts val="1200"/>
              </a:spcAft>
            </a:pPr>
            <a:r>
              <a:rPr lang="en-US" sz="2200" b="1" dirty="0" smtClean="0">
                <a:latin typeface="Helvetica" pitchFamily="34" charset="0"/>
              </a:rPr>
              <a:t>Pest control</a:t>
            </a:r>
          </a:p>
          <a:p>
            <a:pPr marL="360000" indent="-360000">
              <a:spcBef>
                <a:spcPts val="1200"/>
              </a:spcBef>
              <a:spcAft>
                <a:spcPts val="1200"/>
              </a:spcAft>
            </a:pPr>
            <a:r>
              <a:rPr lang="en-US" sz="2200" b="1" dirty="0" smtClean="0">
                <a:latin typeface="Helvetica" pitchFamily="34" charset="0"/>
              </a:rPr>
              <a:t>Waste disposal</a:t>
            </a:r>
          </a:p>
          <a:p>
            <a:pPr marL="360000" indent="-360000">
              <a:spcBef>
                <a:spcPts val="1200"/>
              </a:spcBef>
              <a:spcAft>
                <a:spcPts val="1200"/>
              </a:spcAft>
            </a:pPr>
            <a:r>
              <a:rPr lang="en-US" sz="2200" b="1" dirty="0" smtClean="0">
                <a:latin typeface="Helvetica" pitchFamily="34" charset="0"/>
              </a:rPr>
              <a:t>Food recalls.</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a:t>
            </a:fld>
            <a:endParaRPr lang="en-US" dirty="0"/>
          </a:p>
        </p:txBody>
      </p:sp>
      <p:pic>
        <p:nvPicPr>
          <p:cNvPr id="3075" name="Picture 3" descr="C:\Users\fgvghyujil\AppData\Local\Microsoft\Windows\Temporary Internet Files\Content.IE5\PP601SXW\MC900089832[1].wmf"/>
          <p:cNvPicPr>
            <a:picLocks noChangeAspect="1" noChangeArrowheads="1"/>
          </p:cNvPicPr>
          <p:nvPr/>
        </p:nvPicPr>
        <p:blipFill>
          <a:blip r:embed="rId3" cstate="print"/>
          <a:srcRect/>
          <a:stretch>
            <a:fillRect/>
          </a:stretch>
        </p:blipFill>
        <p:spPr bwMode="auto">
          <a:xfrm>
            <a:off x="6357950" y="3286124"/>
            <a:ext cx="2031260" cy="1928826"/>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Identify relevant workplace hygiene procedures to be adhered to</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1200"/>
              </a:spcBef>
              <a:spcAft>
                <a:spcPts val="1200"/>
              </a:spcAft>
              <a:buNone/>
            </a:pPr>
            <a:r>
              <a:rPr lang="en-US" sz="2200" b="1" dirty="0" smtClean="0">
                <a:latin typeface="Helvetica" pitchFamily="34" charset="0"/>
              </a:rPr>
              <a:t>You may be required to comply with </a:t>
            </a:r>
            <a:br>
              <a:rPr lang="en-US" sz="2200" b="1" dirty="0" smtClean="0">
                <a:latin typeface="Helvetica" pitchFamily="34" charset="0"/>
              </a:rPr>
            </a:br>
            <a:r>
              <a:rPr lang="en-US" sz="2200" b="1" dirty="0" smtClean="0">
                <a:latin typeface="Helvetica" pitchFamily="34" charset="0"/>
              </a:rPr>
              <a:t>requirements of a food safety </a:t>
            </a:r>
            <a:br>
              <a:rPr lang="en-US" sz="2200" b="1" dirty="0" smtClean="0">
                <a:latin typeface="Helvetica" pitchFamily="34" charset="0"/>
              </a:rPr>
            </a:br>
            <a:r>
              <a:rPr lang="en-US" sz="2200" b="1" dirty="0" smtClean="0">
                <a:latin typeface="Helvetica" pitchFamily="34" charset="0"/>
              </a:rPr>
              <a:t>plan – these will:</a:t>
            </a:r>
          </a:p>
          <a:p>
            <a:pPr marL="360000" indent="-360000">
              <a:spcBef>
                <a:spcPts val="1200"/>
              </a:spcBef>
              <a:spcAft>
                <a:spcPts val="1200"/>
              </a:spcAft>
            </a:pPr>
            <a:r>
              <a:rPr lang="en-US" sz="2200" b="1" dirty="0" smtClean="0">
                <a:latin typeface="Helvetica" pitchFamily="34" charset="0"/>
              </a:rPr>
              <a:t>Identify workplace food safety </a:t>
            </a:r>
            <a:br>
              <a:rPr lang="en-US" sz="2200" b="1" dirty="0" smtClean="0">
                <a:latin typeface="Helvetica" pitchFamily="34" charset="0"/>
              </a:rPr>
            </a:br>
            <a:r>
              <a:rPr lang="en-US" sz="2200" b="1" dirty="0" smtClean="0">
                <a:latin typeface="Helvetica" pitchFamily="34" charset="0"/>
              </a:rPr>
              <a:t>hazards</a:t>
            </a:r>
          </a:p>
          <a:p>
            <a:pPr marL="360000" indent="-360000">
              <a:spcBef>
                <a:spcPts val="1200"/>
              </a:spcBef>
              <a:spcAft>
                <a:spcPts val="1200"/>
              </a:spcAft>
            </a:pPr>
            <a:r>
              <a:rPr lang="en-US" sz="2200" b="1" dirty="0" smtClean="0">
                <a:latin typeface="Helvetica" pitchFamily="34" charset="0"/>
              </a:rPr>
              <a:t>Describe action to keep food </a:t>
            </a:r>
            <a:br>
              <a:rPr lang="en-US" sz="2200" b="1" dirty="0" smtClean="0">
                <a:latin typeface="Helvetica" pitchFamily="34" charset="0"/>
              </a:rPr>
            </a:br>
            <a:r>
              <a:rPr lang="en-US" sz="2200" b="1" dirty="0" smtClean="0">
                <a:latin typeface="Helvetica" pitchFamily="34" charset="0"/>
              </a:rPr>
              <a:t>‘under control’</a:t>
            </a:r>
          </a:p>
          <a:p>
            <a:pPr marL="360000" indent="-360000">
              <a:spcBef>
                <a:spcPts val="1200"/>
              </a:spcBef>
              <a:spcAft>
                <a:spcPts val="1200"/>
              </a:spcAft>
            </a:pPr>
            <a:r>
              <a:rPr lang="en-US" sz="2200" b="1" dirty="0" smtClean="0">
                <a:latin typeface="Helvetica" pitchFamily="34" charset="0"/>
              </a:rPr>
              <a:t>Describe action to take when </a:t>
            </a:r>
            <a:br>
              <a:rPr lang="en-US" sz="2200" b="1" dirty="0" smtClean="0">
                <a:latin typeface="Helvetica" pitchFamily="34" charset="0"/>
              </a:rPr>
            </a:br>
            <a:r>
              <a:rPr lang="en-US" sz="2200" b="1" dirty="0" smtClean="0">
                <a:latin typeface="Helvetica" pitchFamily="34" charset="0"/>
              </a:rPr>
              <a:t>‘out of control’ situations occur</a:t>
            </a:r>
          </a:p>
          <a:p>
            <a:pPr marL="360000" indent="-360000">
              <a:spcBef>
                <a:spcPts val="1200"/>
              </a:spcBef>
              <a:spcAft>
                <a:spcPts val="1200"/>
              </a:spcAft>
            </a:pPr>
            <a:r>
              <a:rPr lang="en-US" sz="2200" b="1" dirty="0" smtClean="0">
                <a:latin typeface="Helvetica" pitchFamily="34" charset="0"/>
              </a:rPr>
              <a:t>Identify food safety records to be completed.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a:t>
            </a:fld>
            <a:endParaRPr lang="en-US" dirty="0"/>
          </a:p>
        </p:txBody>
      </p:sp>
      <p:pic>
        <p:nvPicPr>
          <p:cNvPr id="5" name="Picture 4" descr="food safety hazards.jpg"/>
          <p:cNvPicPr>
            <a:picLocks noChangeAspect="1"/>
          </p:cNvPicPr>
          <p:nvPr/>
        </p:nvPicPr>
        <p:blipFill>
          <a:blip r:embed="rId3" cstate="print"/>
          <a:stretch>
            <a:fillRect/>
          </a:stretch>
        </p:blipFill>
        <p:spPr>
          <a:xfrm>
            <a:off x="5738538" y="1844824"/>
            <a:ext cx="3405462" cy="328248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Identify relevant workplace hygiene procedures to be adhered to</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buNone/>
            </a:pPr>
            <a:r>
              <a:rPr lang="en-US" sz="2200" b="1" dirty="0" smtClean="0">
                <a:latin typeface="Helvetica" pitchFamily="34" charset="0"/>
              </a:rPr>
              <a:t>In relation to workplace food safety:</a:t>
            </a:r>
          </a:p>
          <a:p>
            <a:pPr marL="360000" indent="-360000">
              <a:spcBef>
                <a:spcPts val="1200"/>
              </a:spcBef>
              <a:spcAft>
                <a:spcPts val="1200"/>
              </a:spcAft>
            </a:pPr>
            <a:r>
              <a:rPr lang="en-US" sz="2200" b="1" dirty="0" smtClean="0">
                <a:latin typeface="Helvetica" pitchFamily="34" charset="0"/>
              </a:rPr>
              <a:t>Always be prepared to ask questions to find out what should apply</a:t>
            </a:r>
          </a:p>
          <a:p>
            <a:pPr marL="360000" indent="-360000">
              <a:spcBef>
                <a:spcPts val="1200"/>
              </a:spcBef>
              <a:spcAft>
                <a:spcPts val="1200"/>
              </a:spcAft>
            </a:pPr>
            <a:r>
              <a:rPr lang="en-US" sz="2200" b="1" dirty="0" smtClean="0">
                <a:latin typeface="Helvetica" pitchFamily="34" charset="0"/>
              </a:rPr>
              <a:t>Always ask questions to clarify what is </a:t>
            </a:r>
            <a:br>
              <a:rPr lang="en-US" sz="2200" b="1" dirty="0" smtClean="0">
                <a:latin typeface="Helvetica" pitchFamily="34" charset="0"/>
              </a:rPr>
            </a:br>
            <a:r>
              <a:rPr lang="en-US" sz="2200" b="1" dirty="0" smtClean="0">
                <a:latin typeface="Helvetica" pitchFamily="34" charset="0"/>
              </a:rPr>
              <a:t>required</a:t>
            </a:r>
          </a:p>
          <a:p>
            <a:pPr marL="360000" indent="-360000">
              <a:spcBef>
                <a:spcPts val="1200"/>
              </a:spcBef>
              <a:spcAft>
                <a:spcPts val="1200"/>
              </a:spcAft>
            </a:pPr>
            <a:r>
              <a:rPr lang="en-US" sz="2200" b="1" dirty="0" smtClean="0">
                <a:latin typeface="Helvetica" pitchFamily="34" charset="0"/>
              </a:rPr>
              <a:t>Never be afraid to ask questions</a:t>
            </a:r>
          </a:p>
          <a:p>
            <a:pPr marL="360000" indent="-360000">
              <a:spcBef>
                <a:spcPts val="1200"/>
              </a:spcBef>
              <a:spcAft>
                <a:spcPts val="1200"/>
              </a:spcAft>
            </a:pPr>
            <a:r>
              <a:rPr lang="en-US" sz="2200" b="1" dirty="0" smtClean="0">
                <a:latin typeface="Helvetica" pitchFamily="34" charset="0"/>
              </a:rPr>
              <a:t>When in doubt – ask a question.</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a:t>
            </a:fld>
            <a:endParaRPr lang="en-US" dirty="0"/>
          </a:p>
        </p:txBody>
      </p:sp>
      <p:pic>
        <p:nvPicPr>
          <p:cNvPr id="5" name="Picture 4" descr="cocoa_045.jpg"/>
          <p:cNvPicPr>
            <a:picLocks noChangeAspect="1"/>
          </p:cNvPicPr>
          <p:nvPr/>
        </p:nvPicPr>
        <p:blipFill>
          <a:blip r:embed="rId3" cstate="print"/>
          <a:stretch>
            <a:fillRect/>
          </a:stretch>
        </p:blipFill>
        <p:spPr>
          <a:xfrm>
            <a:off x="6936092" y="2714620"/>
            <a:ext cx="2207908" cy="307187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332656"/>
            <a:ext cx="8784976" cy="1143000"/>
          </a:xfrm>
        </p:spPr>
        <p:txBody>
          <a:bodyPr>
            <a:noAutofit/>
          </a:bodyPr>
          <a:lstStyle/>
          <a:p>
            <a:r>
              <a:rPr lang="en-AU" sz="3400" b="1" dirty="0" smtClean="0">
                <a:solidFill>
                  <a:srgbClr val="FF6600"/>
                </a:solidFill>
                <a:latin typeface="Helvetica" pitchFamily="34" charset="0"/>
              </a:rPr>
              <a:t>Identify standards or requirements applying to workplace hygiene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85926"/>
            <a:ext cx="7467600" cy="4296829"/>
          </a:xfrm>
        </p:spPr>
        <p:txBody>
          <a:bodyPr>
            <a:normAutofit/>
          </a:bodyPr>
          <a:lstStyle/>
          <a:p>
            <a:pPr marL="0" indent="0">
              <a:spcBef>
                <a:spcPts val="1200"/>
              </a:spcBef>
              <a:spcAft>
                <a:spcPts val="1200"/>
              </a:spcAft>
              <a:buNone/>
            </a:pPr>
            <a:r>
              <a:rPr lang="en-AU" sz="2200" b="1" dirty="0" smtClean="0">
                <a:latin typeface="Helvetica" pitchFamily="34" charset="0"/>
              </a:rPr>
              <a:t>Workplace hygiene procedures are practices used to control the safety of food making it fit for human consumption, or safe to eat</a:t>
            </a:r>
            <a:r>
              <a:rPr lang="en-US" sz="2200" b="1" dirty="0" smtClean="0">
                <a:latin typeface="Helvetica" pitchFamily="34" charset="0"/>
              </a:rPr>
              <a:t>:</a:t>
            </a:r>
          </a:p>
          <a:p>
            <a:pPr marL="360000" indent="-360000">
              <a:spcBef>
                <a:spcPts val="1200"/>
              </a:spcBef>
              <a:spcAft>
                <a:spcPts val="1200"/>
              </a:spcAft>
            </a:pPr>
            <a:r>
              <a:rPr lang="en-US" sz="2200" b="1" dirty="0" smtClean="0">
                <a:latin typeface="Helvetica" pitchFamily="34" charset="0"/>
              </a:rPr>
              <a:t>Always comply with legislated requirements</a:t>
            </a:r>
          </a:p>
          <a:p>
            <a:pPr marL="360000" indent="-360000">
              <a:spcBef>
                <a:spcPts val="1200"/>
              </a:spcBef>
              <a:spcAft>
                <a:spcPts val="1200"/>
              </a:spcAft>
            </a:pPr>
            <a:r>
              <a:rPr lang="en-US" sz="2200" b="1" dirty="0" smtClean="0">
                <a:latin typeface="Helvetica" pitchFamily="34" charset="0"/>
              </a:rPr>
              <a:t>Always follow house policies and </a:t>
            </a:r>
            <a:br>
              <a:rPr lang="en-US" sz="2200" b="1" dirty="0" smtClean="0">
                <a:latin typeface="Helvetica" pitchFamily="34" charset="0"/>
              </a:rPr>
            </a:br>
            <a:r>
              <a:rPr lang="en-US" sz="2200" b="1" dirty="0" smtClean="0">
                <a:latin typeface="Helvetica" pitchFamily="34" charset="0"/>
              </a:rPr>
              <a:t>procedures</a:t>
            </a:r>
          </a:p>
          <a:p>
            <a:pPr marL="360000" indent="-360000">
              <a:spcBef>
                <a:spcPts val="1200"/>
              </a:spcBef>
              <a:spcAft>
                <a:spcPts val="1200"/>
              </a:spcAft>
            </a:pPr>
            <a:r>
              <a:rPr lang="en-US" sz="2200" b="1" dirty="0" smtClean="0">
                <a:latin typeface="Helvetica" pitchFamily="34" charset="0"/>
              </a:rPr>
              <a:t>Always adhere to house requirements </a:t>
            </a:r>
            <a:br>
              <a:rPr lang="en-US" sz="2200" b="1" dirty="0" smtClean="0">
                <a:latin typeface="Helvetica" pitchFamily="34" charset="0"/>
              </a:rPr>
            </a:br>
            <a:r>
              <a:rPr lang="en-US" sz="2200" b="1" dirty="0" smtClean="0">
                <a:latin typeface="Helvetica" pitchFamily="34" charset="0"/>
              </a:rPr>
              <a:t>where they differ to the notes.</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a:t>
            </a:fld>
            <a:endParaRPr lang="en-US" dirty="0"/>
          </a:p>
        </p:txBody>
      </p:sp>
      <p:pic>
        <p:nvPicPr>
          <p:cNvPr id="6" name="Picture 5" descr="food_images_010.jpg"/>
          <p:cNvPicPr>
            <a:picLocks noChangeAspect="1"/>
          </p:cNvPicPr>
          <p:nvPr/>
        </p:nvPicPr>
        <p:blipFill>
          <a:blip r:embed="rId3" cstate="print"/>
          <a:stretch>
            <a:fillRect/>
          </a:stretch>
        </p:blipFill>
        <p:spPr>
          <a:xfrm>
            <a:off x="6590584" y="3929066"/>
            <a:ext cx="2553416" cy="1915062"/>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332656"/>
            <a:ext cx="8784976" cy="1143000"/>
          </a:xfrm>
        </p:spPr>
        <p:txBody>
          <a:bodyPr>
            <a:noAutofit/>
          </a:bodyPr>
          <a:lstStyle/>
          <a:p>
            <a:r>
              <a:rPr lang="en-AU" sz="3400" b="1" dirty="0" smtClean="0">
                <a:solidFill>
                  <a:srgbClr val="FF6600"/>
                </a:solidFill>
                <a:latin typeface="Helvetica" pitchFamily="34" charset="0"/>
              </a:rPr>
              <a:t>Identify standards or requirements applying to workplace hygiene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42910" y="192880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Potentially hazardous foods:</a:t>
            </a:r>
          </a:p>
          <a:p>
            <a:pPr marL="360000" indent="-360000">
              <a:spcBef>
                <a:spcPts val="1200"/>
              </a:spcBef>
              <a:spcAft>
                <a:spcPts val="1200"/>
              </a:spcAft>
            </a:pPr>
            <a:r>
              <a:rPr lang="en-US" sz="2200" b="1" dirty="0" smtClean="0">
                <a:latin typeface="Helvetica" pitchFamily="34" charset="0"/>
              </a:rPr>
              <a:t>Must be stored out of the </a:t>
            </a:r>
            <a:br>
              <a:rPr lang="en-US" sz="2200" b="1" dirty="0" smtClean="0">
                <a:latin typeface="Helvetica" pitchFamily="34" charset="0"/>
              </a:rPr>
            </a:br>
            <a:r>
              <a:rPr lang="en-US" sz="2200" b="1" dirty="0" smtClean="0">
                <a:latin typeface="Helvetica" pitchFamily="34" charset="0"/>
              </a:rPr>
              <a:t>Temperature Danger Zone </a:t>
            </a:r>
            <a:br>
              <a:rPr lang="en-US" sz="2200" b="1" dirty="0" smtClean="0">
                <a:latin typeface="Helvetica" pitchFamily="34" charset="0"/>
              </a:rPr>
            </a:br>
            <a:r>
              <a:rPr lang="en-US" sz="2200" b="1" dirty="0" smtClean="0">
                <a:latin typeface="Helvetica" pitchFamily="34" charset="0"/>
              </a:rPr>
              <a:t>(5</a:t>
            </a:r>
            <a:r>
              <a:rPr lang="en-AU" sz="2200" b="1" dirty="0" smtClean="0">
                <a:latin typeface="Helvetica" pitchFamily="34" charset="0"/>
              </a:rPr>
              <a:t>°C to 60°C)</a:t>
            </a:r>
            <a:endParaRPr lang="en-US" sz="2200" b="1" dirty="0" smtClean="0">
              <a:latin typeface="Helvetica" pitchFamily="34" charset="0"/>
            </a:endParaRPr>
          </a:p>
          <a:p>
            <a:pPr marL="360000" indent="-360000">
              <a:spcBef>
                <a:spcPts val="1200"/>
              </a:spcBef>
              <a:spcAft>
                <a:spcPts val="1200"/>
              </a:spcAft>
            </a:pPr>
            <a:r>
              <a:rPr lang="en-US" sz="2200" b="1" dirty="0" smtClean="0">
                <a:latin typeface="Helvetica" pitchFamily="34" charset="0"/>
              </a:rPr>
              <a:t>Are high protein, high moisture,</a:t>
            </a:r>
            <a:br>
              <a:rPr lang="en-US" sz="2200" b="1" dirty="0" smtClean="0">
                <a:latin typeface="Helvetica" pitchFamily="34" charset="0"/>
              </a:rPr>
            </a:br>
            <a:r>
              <a:rPr lang="en-US" sz="2200" b="1" dirty="0" smtClean="0">
                <a:latin typeface="Helvetica" pitchFamily="34" charset="0"/>
              </a:rPr>
              <a:t> low acid foods</a:t>
            </a:r>
          </a:p>
          <a:p>
            <a:pPr marL="360000" indent="-360000">
              <a:spcBef>
                <a:spcPts val="1200"/>
              </a:spcBef>
              <a:spcAft>
                <a:spcPts val="1200"/>
              </a:spcAft>
            </a:pPr>
            <a:r>
              <a:rPr lang="en-US" sz="2200" b="1" dirty="0" smtClean="0">
                <a:latin typeface="Helvetica" pitchFamily="34" charset="0"/>
              </a:rPr>
              <a:t>Also known as ‘high risk’ foods.</a:t>
            </a:r>
          </a:p>
          <a:p>
            <a:pPr marL="360000" indent="-360000">
              <a:spcBef>
                <a:spcPts val="1200"/>
              </a:spcBef>
              <a:spcAft>
                <a:spcPts val="1200"/>
              </a:spcAft>
            </a:pPr>
            <a:endParaRPr lang="en-US" sz="2200" dirty="0" smtClean="0">
              <a:latin typeface="Helvetica" pitchFamily="34" charset="0"/>
            </a:endParaRP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a:t>
            </a:fld>
            <a:endParaRPr lang="en-US" dirty="0"/>
          </a:p>
        </p:txBody>
      </p:sp>
      <p:pic>
        <p:nvPicPr>
          <p:cNvPr id="6" name="Picture 5" descr="danger-zone.gif"/>
          <p:cNvPicPr>
            <a:picLocks noChangeAspect="1"/>
          </p:cNvPicPr>
          <p:nvPr/>
        </p:nvPicPr>
        <p:blipFill>
          <a:blip r:embed="rId3" cstate="print"/>
          <a:stretch>
            <a:fillRect/>
          </a:stretch>
        </p:blipFill>
        <p:spPr>
          <a:xfrm>
            <a:off x="5823684" y="1357298"/>
            <a:ext cx="3320316" cy="4610097"/>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332656"/>
            <a:ext cx="8784976" cy="1143000"/>
          </a:xfrm>
        </p:spPr>
        <p:txBody>
          <a:bodyPr>
            <a:noAutofit/>
          </a:bodyPr>
          <a:lstStyle/>
          <a:p>
            <a:r>
              <a:rPr lang="en-AU" sz="3400" b="1" dirty="0" smtClean="0">
                <a:solidFill>
                  <a:srgbClr val="FF6600"/>
                </a:solidFill>
                <a:latin typeface="Helvetica" pitchFamily="34" charset="0"/>
              </a:rPr>
              <a:t>Identify standards or requirements applying to workplace hygiene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42910" y="192880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Potentially hazardous (high risk) foods include:</a:t>
            </a:r>
          </a:p>
          <a:p>
            <a:pPr marL="360000" indent="-360000">
              <a:spcBef>
                <a:spcPts val="1200"/>
              </a:spcBef>
              <a:spcAft>
                <a:spcPts val="1200"/>
              </a:spcAft>
            </a:pPr>
            <a:r>
              <a:rPr lang="en-US" sz="2200" b="1" dirty="0" smtClean="0">
                <a:latin typeface="Helvetica" pitchFamily="34" charset="0"/>
              </a:rPr>
              <a:t>Milk and milk products</a:t>
            </a:r>
          </a:p>
          <a:p>
            <a:pPr marL="360000" indent="-360000">
              <a:spcBef>
                <a:spcPts val="1200"/>
              </a:spcBef>
              <a:spcAft>
                <a:spcPts val="1200"/>
              </a:spcAft>
            </a:pPr>
            <a:r>
              <a:rPr lang="en-US" sz="2200" b="1" dirty="0" smtClean="0">
                <a:latin typeface="Helvetica" pitchFamily="34" charset="0"/>
              </a:rPr>
              <a:t>Egg products</a:t>
            </a:r>
          </a:p>
          <a:p>
            <a:pPr marL="360000" indent="-360000">
              <a:spcBef>
                <a:spcPts val="1200"/>
              </a:spcBef>
              <a:spcAft>
                <a:spcPts val="1200"/>
              </a:spcAft>
            </a:pPr>
            <a:r>
              <a:rPr lang="en-US" sz="2200" b="1" dirty="0" smtClean="0">
                <a:latin typeface="Helvetica" pitchFamily="34" charset="0"/>
              </a:rPr>
              <a:t>Meat and poultry – all types, </a:t>
            </a:r>
            <a:br>
              <a:rPr lang="en-US" sz="2200" b="1" dirty="0" smtClean="0">
                <a:latin typeface="Helvetica" pitchFamily="34" charset="0"/>
              </a:rPr>
            </a:br>
            <a:r>
              <a:rPr lang="en-US" sz="2200" b="1" dirty="0" smtClean="0">
                <a:latin typeface="Helvetica" pitchFamily="34" charset="0"/>
              </a:rPr>
              <a:t>all cuts</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a:t>
            </a:fld>
            <a:endParaRPr lang="en-US" dirty="0"/>
          </a:p>
        </p:txBody>
      </p:sp>
      <p:pic>
        <p:nvPicPr>
          <p:cNvPr id="5" name="Picture 4" descr="Milk products.jpg"/>
          <p:cNvPicPr>
            <a:picLocks noChangeAspect="1"/>
          </p:cNvPicPr>
          <p:nvPr/>
        </p:nvPicPr>
        <p:blipFill>
          <a:blip r:embed="rId3" cstate="print"/>
          <a:stretch>
            <a:fillRect/>
          </a:stretch>
        </p:blipFill>
        <p:spPr>
          <a:xfrm>
            <a:off x="5753100" y="2357430"/>
            <a:ext cx="3390900" cy="320992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332656"/>
            <a:ext cx="8784976" cy="1143000"/>
          </a:xfrm>
        </p:spPr>
        <p:txBody>
          <a:bodyPr>
            <a:noAutofit/>
          </a:bodyPr>
          <a:lstStyle/>
          <a:p>
            <a:r>
              <a:rPr lang="en-AU" sz="3400" b="1" dirty="0" smtClean="0">
                <a:solidFill>
                  <a:srgbClr val="FF6600"/>
                </a:solidFill>
                <a:latin typeface="Helvetica" pitchFamily="34" charset="0"/>
              </a:rPr>
              <a:t>Identify standards requirements applying to workplace hygiene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85926"/>
            <a:ext cx="7467600" cy="4296829"/>
          </a:xfrm>
        </p:spPr>
        <p:txBody>
          <a:bodyPr>
            <a:normAutofit/>
          </a:bodyPr>
          <a:lstStyle/>
          <a:p>
            <a:pPr marL="360000" indent="-360000">
              <a:spcBef>
                <a:spcPts val="1200"/>
              </a:spcBef>
              <a:spcAft>
                <a:spcPts val="1200"/>
              </a:spcAft>
            </a:pPr>
            <a:r>
              <a:rPr lang="en-US" sz="2200" b="1" dirty="0" smtClean="0">
                <a:latin typeface="Helvetica" pitchFamily="34" charset="0"/>
              </a:rPr>
              <a:t>Smallgoods products – but not salami</a:t>
            </a:r>
          </a:p>
          <a:p>
            <a:pPr marL="360000" indent="-360000">
              <a:spcBef>
                <a:spcPts val="1200"/>
              </a:spcBef>
              <a:spcAft>
                <a:spcPts val="1200"/>
              </a:spcAft>
            </a:pPr>
            <a:r>
              <a:rPr lang="en-US" sz="2200" b="1" dirty="0" smtClean="0">
                <a:latin typeface="Helvetica" pitchFamily="34" charset="0"/>
              </a:rPr>
              <a:t>Processed meat products</a:t>
            </a:r>
          </a:p>
          <a:p>
            <a:pPr marL="360000" indent="-360000">
              <a:spcBef>
                <a:spcPts val="1200"/>
              </a:spcBef>
              <a:spcAft>
                <a:spcPts val="1200"/>
              </a:spcAft>
            </a:pPr>
            <a:r>
              <a:rPr lang="en-US" sz="2200" b="1" dirty="0" smtClean="0">
                <a:latin typeface="Helvetica" pitchFamily="34" charset="0"/>
              </a:rPr>
              <a:t>Fish, shellfish and fish products</a:t>
            </a:r>
          </a:p>
          <a:p>
            <a:pPr marL="360000" indent="-360000">
              <a:spcBef>
                <a:spcPts val="1200"/>
              </a:spcBef>
              <a:spcAft>
                <a:spcPts val="1200"/>
              </a:spcAft>
            </a:pPr>
            <a:r>
              <a:rPr lang="en-US" sz="2200" b="1" dirty="0" smtClean="0">
                <a:latin typeface="Helvetica" pitchFamily="34" charset="0"/>
              </a:rPr>
              <a:t>Prepared foods containing potentially </a:t>
            </a:r>
            <a:br>
              <a:rPr lang="en-US" sz="2200" b="1" dirty="0" smtClean="0">
                <a:latin typeface="Helvetica" pitchFamily="34" charset="0"/>
              </a:rPr>
            </a:br>
            <a:r>
              <a:rPr lang="en-US" sz="2200" b="1" dirty="0" smtClean="0">
                <a:latin typeface="Helvetica" pitchFamily="34" charset="0"/>
              </a:rPr>
              <a:t>hazardous food items.</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a:t>
            </a:fld>
            <a:endParaRPr lang="en-US" dirty="0"/>
          </a:p>
        </p:txBody>
      </p:sp>
      <p:pic>
        <p:nvPicPr>
          <p:cNvPr id="5" name="Picture 4" descr="shellfish 2.jpg"/>
          <p:cNvPicPr>
            <a:picLocks noChangeAspect="1"/>
          </p:cNvPicPr>
          <p:nvPr/>
        </p:nvPicPr>
        <p:blipFill>
          <a:blip r:embed="rId3" cstate="print"/>
          <a:stretch>
            <a:fillRect/>
          </a:stretch>
        </p:blipFill>
        <p:spPr>
          <a:xfrm>
            <a:off x="6372200" y="3284984"/>
            <a:ext cx="2771800" cy="1847867"/>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332656"/>
            <a:ext cx="8784976" cy="1143000"/>
          </a:xfrm>
        </p:spPr>
        <p:txBody>
          <a:bodyPr>
            <a:noAutofit/>
          </a:bodyPr>
          <a:lstStyle/>
          <a:p>
            <a:r>
              <a:rPr lang="en-AU" sz="3400" b="1" dirty="0" smtClean="0">
                <a:solidFill>
                  <a:srgbClr val="FF6600"/>
                </a:solidFill>
                <a:latin typeface="Helvetica" pitchFamily="34" charset="0"/>
              </a:rPr>
              <a:t>Identify standards/requirements applying to workplace hygiene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The ‘Temperature Danger Zone’ (TDZ):</a:t>
            </a:r>
          </a:p>
          <a:p>
            <a:pPr marL="360000" indent="-360000">
              <a:spcBef>
                <a:spcPts val="1200"/>
              </a:spcBef>
              <a:spcAft>
                <a:spcPts val="1200"/>
              </a:spcAft>
            </a:pPr>
            <a:r>
              <a:rPr lang="en-US" sz="2200" b="1" dirty="0" smtClean="0">
                <a:latin typeface="Helvetica" pitchFamily="34" charset="0"/>
              </a:rPr>
              <a:t>The temperature range in which </a:t>
            </a:r>
            <a:br>
              <a:rPr lang="en-US" sz="2200" b="1" dirty="0" smtClean="0">
                <a:latin typeface="Helvetica" pitchFamily="34" charset="0"/>
              </a:rPr>
            </a:br>
            <a:r>
              <a:rPr lang="en-US" sz="2200" b="1" dirty="0" smtClean="0">
                <a:latin typeface="Helvetica" pitchFamily="34" charset="0"/>
              </a:rPr>
              <a:t>bacteria multiply most rapidly</a:t>
            </a:r>
            <a:br>
              <a:rPr lang="en-US" sz="2200" b="1" dirty="0" smtClean="0">
                <a:latin typeface="Helvetica" pitchFamily="34" charset="0"/>
              </a:rPr>
            </a:br>
            <a:r>
              <a:rPr lang="en-US" sz="2200" b="1" dirty="0" smtClean="0">
                <a:latin typeface="Helvetica" pitchFamily="34" charset="0"/>
              </a:rPr>
              <a:t> (5</a:t>
            </a:r>
            <a:r>
              <a:rPr lang="en-AU" sz="2200" b="1" dirty="0" smtClean="0">
                <a:latin typeface="Helvetica" pitchFamily="34" charset="0"/>
              </a:rPr>
              <a:t>°C to 60°C)</a:t>
            </a:r>
            <a:r>
              <a:rPr lang="en-US" sz="2200" b="1" dirty="0" smtClean="0">
                <a:latin typeface="Helvetica" pitchFamily="34" charset="0"/>
              </a:rPr>
              <a:t> </a:t>
            </a:r>
          </a:p>
          <a:p>
            <a:pPr marL="360000" indent="-360000">
              <a:spcBef>
                <a:spcPts val="1200"/>
              </a:spcBef>
              <a:spcAft>
                <a:spcPts val="1200"/>
              </a:spcAft>
            </a:pPr>
            <a:r>
              <a:rPr lang="en-US" sz="2200" b="1" dirty="0" smtClean="0">
                <a:latin typeface="Helvetica" pitchFamily="34" charset="0"/>
              </a:rPr>
              <a:t>High risk food must be kept out of </a:t>
            </a:r>
            <a:br>
              <a:rPr lang="en-US" sz="2200" b="1" dirty="0" smtClean="0">
                <a:latin typeface="Helvetica" pitchFamily="34" charset="0"/>
              </a:rPr>
            </a:br>
            <a:r>
              <a:rPr lang="en-US" sz="2200" b="1" dirty="0" smtClean="0">
                <a:latin typeface="Helvetica" pitchFamily="34" charset="0"/>
              </a:rPr>
              <a:t>this range whenever possible</a:t>
            </a:r>
          </a:p>
          <a:p>
            <a:pPr marL="360000" indent="-360000">
              <a:spcBef>
                <a:spcPts val="1200"/>
              </a:spcBef>
              <a:spcAft>
                <a:spcPts val="1200"/>
              </a:spcAft>
            </a:pPr>
            <a:r>
              <a:rPr lang="en-US" sz="2200" b="1" dirty="0" smtClean="0">
                <a:latin typeface="Helvetica" pitchFamily="34" charset="0"/>
              </a:rPr>
              <a:t>All time food spends in this Zone </a:t>
            </a:r>
            <a:br>
              <a:rPr lang="en-US" sz="2200" b="1" dirty="0" smtClean="0">
                <a:latin typeface="Helvetica" pitchFamily="34" charset="0"/>
              </a:rPr>
            </a:br>
            <a:r>
              <a:rPr lang="en-US" sz="2200" b="1" dirty="0" smtClean="0">
                <a:latin typeface="Helvetica" pitchFamily="34" charset="0"/>
              </a:rPr>
              <a:t>is cumulative.</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a:t>
            </a:fld>
            <a:endParaRPr lang="en-US" dirty="0"/>
          </a:p>
        </p:txBody>
      </p:sp>
      <p:pic>
        <p:nvPicPr>
          <p:cNvPr id="6" name="Picture 5" descr="danger-zone.gif"/>
          <p:cNvPicPr>
            <a:picLocks noChangeAspect="1"/>
          </p:cNvPicPr>
          <p:nvPr/>
        </p:nvPicPr>
        <p:blipFill>
          <a:blip r:embed="rId3" cstate="print"/>
          <a:stretch>
            <a:fillRect/>
          </a:stretch>
        </p:blipFill>
        <p:spPr>
          <a:xfrm>
            <a:off x="5823684" y="1571612"/>
            <a:ext cx="3320316" cy="4610097"/>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332656"/>
            <a:ext cx="8784976" cy="1143000"/>
          </a:xfrm>
        </p:spPr>
        <p:txBody>
          <a:bodyPr>
            <a:noAutofit/>
          </a:bodyPr>
          <a:lstStyle/>
          <a:p>
            <a:r>
              <a:rPr lang="en-AU" sz="3400" b="1" dirty="0" smtClean="0">
                <a:solidFill>
                  <a:srgbClr val="FF6600"/>
                </a:solidFill>
                <a:latin typeface="Helvetica" pitchFamily="34" charset="0"/>
              </a:rPr>
              <a:t>Identify standards or requirements applying to workplace hygiene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85926"/>
            <a:ext cx="7467600" cy="4296829"/>
          </a:xfrm>
        </p:spPr>
        <p:txBody>
          <a:bodyPr>
            <a:normAutofit/>
          </a:bodyPr>
          <a:lstStyle/>
          <a:p>
            <a:pPr marL="0" indent="0">
              <a:spcBef>
                <a:spcPts val="1200"/>
              </a:spcBef>
              <a:spcAft>
                <a:spcPts val="1200"/>
              </a:spcAft>
              <a:buNone/>
            </a:pPr>
            <a:r>
              <a:rPr lang="en-US" sz="2200" b="1" dirty="0" smtClean="0">
                <a:latin typeface="Helvetica" pitchFamily="34" charset="0"/>
              </a:rPr>
              <a:t>The 2/4 Rule states:</a:t>
            </a:r>
          </a:p>
          <a:p>
            <a:pPr marL="360000" indent="-360000">
              <a:spcBef>
                <a:spcPts val="1200"/>
              </a:spcBef>
              <a:spcAft>
                <a:spcPts val="1200"/>
              </a:spcAft>
            </a:pPr>
            <a:r>
              <a:rPr lang="en-US" sz="2200" b="1" dirty="0" smtClean="0">
                <a:latin typeface="Helvetica" pitchFamily="34" charset="0"/>
              </a:rPr>
              <a:t>High risk food in the TDZ for 4 hours or </a:t>
            </a:r>
            <a:br>
              <a:rPr lang="en-US" sz="2200" b="1" dirty="0" smtClean="0">
                <a:latin typeface="Helvetica" pitchFamily="34" charset="0"/>
              </a:rPr>
            </a:br>
            <a:r>
              <a:rPr lang="en-US" sz="2200" b="1" dirty="0" smtClean="0">
                <a:latin typeface="Helvetica" pitchFamily="34" charset="0"/>
              </a:rPr>
              <a:t>more must be thrown out</a:t>
            </a:r>
          </a:p>
          <a:p>
            <a:pPr marL="360000" indent="-360000">
              <a:spcBef>
                <a:spcPts val="1200"/>
              </a:spcBef>
              <a:spcAft>
                <a:spcPts val="1200"/>
              </a:spcAft>
            </a:pPr>
            <a:r>
              <a:rPr lang="en-US" sz="2200" b="1" dirty="0" smtClean="0">
                <a:latin typeface="Helvetica" pitchFamily="34" charset="0"/>
              </a:rPr>
              <a:t>High risk food in the TDZ for 2 hours can </a:t>
            </a:r>
            <a:br>
              <a:rPr lang="en-US" sz="2200" b="1" dirty="0" smtClean="0">
                <a:latin typeface="Helvetica" pitchFamily="34" charset="0"/>
              </a:rPr>
            </a:br>
            <a:r>
              <a:rPr lang="en-US" sz="2200" b="1" dirty="0" smtClean="0">
                <a:latin typeface="Helvetica" pitchFamily="34" charset="0"/>
              </a:rPr>
              <a:t>be refrigerated and returned to TDZ </a:t>
            </a:r>
            <a:br>
              <a:rPr lang="en-US" sz="2200" b="1" dirty="0" smtClean="0">
                <a:latin typeface="Helvetica" pitchFamily="34" charset="0"/>
              </a:rPr>
            </a:br>
            <a:r>
              <a:rPr lang="en-US" sz="2200" b="1" dirty="0" smtClean="0">
                <a:latin typeface="Helvetica" pitchFamily="34" charset="0"/>
              </a:rPr>
              <a:t>for another 2 hours</a:t>
            </a:r>
          </a:p>
          <a:p>
            <a:pPr marL="360000" indent="-360000">
              <a:spcBef>
                <a:spcPts val="1200"/>
              </a:spcBef>
              <a:spcAft>
                <a:spcPts val="1200"/>
              </a:spcAft>
            </a:pPr>
            <a:r>
              <a:rPr lang="en-US" sz="2200" b="1" dirty="0" smtClean="0">
                <a:latin typeface="Helvetica" pitchFamily="34" charset="0"/>
              </a:rPr>
              <a:t>High risk food in the TDZ for 2 hours </a:t>
            </a:r>
            <a:br>
              <a:rPr lang="en-US" sz="2200" b="1" dirty="0" smtClean="0">
                <a:latin typeface="Helvetica" pitchFamily="34" charset="0"/>
              </a:rPr>
            </a:br>
            <a:r>
              <a:rPr lang="en-US" sz="2200" b="1" dirty="0" smtClean="0">
                <a:latin typeface="Helvetica" pitchFamily="34" charset="0"/>
              </a:rPr>
              <a:t>must be cooked or eaten in the </a:t>
            </a:r>
            <a:br>
              <a:rPr lang="en-US" sz="2200" b="1" dirty="0" smtClean="0">
                <a:latin typeface="Helvetica" pitchFamily="34" charset="0"/>
              </a:rPr>
            </a:br>
            <a:r>
              <a:rPr lang="en-US" sz="2200" b="1" dirty="0" smtClean="0">
                <a:latin typeface="Helvetica" pitchFamily="34" charset="0"/>
              </a:rPr>
              <a:t>next 2 hours or thrown out.</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a:t>
            </a:fld>
            <a:endParaRPr lang="en-US" dirty="0"/>
          </a:p>
        </p:txBody>
      </p:sp>
      <p:pic>
        <p:nvPicPr>
          <p:cNvPr id="5" name="Picture 4" descr="Seafood2CCTownsDelightTheCaterer.jpg"/>
          <p:cNvPicPr>
            <a:picLocks noChangeAspect="1"/>
          </p:cNvPicPr>
          <p:nvPr/>
        </p:nvPicPr>
        <p:blipFill>
          <a:blip r:embed="rId3" cstate="print"/>
          <a:stretch>
            <a:fillRect/>
          </a:stretch>
        </p:blipFill>
        <p:spPr>
          <a:xfrm>
            <a:off x="6214991" y="4143380"/>
            <a:ext cx="2929009" cy="2032000"/>
          </a:xfrm>
          <a:prstGeom prst="rect">
            <a:avLst/>
          </a:prstGeom>
        </p:spPr>
      </p:pic>
      <p:pic>
        <p:nvPicPr>
          <p:cNvPr id="6" name="Picture 5" descr="dsc_0009.jpg"/>
          <p:cNvPicPr>
            <a:picLocks noChangeAspect="1"/>
          </p:cNvPicPr>
          <p:nvPr/>
        </p:nvPicPr>
        <p:blipFill>
          <a:blip r:embed="rId4" cstate="print"/>
          <a:stretch>
            <a:fillRect/>
          </a:stretch>
        </p:blipFill>
        <p:spPr>
          <a:xfrm>
            <a:off x="7115175" y="1142984"/>
            <a:ext cx="2028825" cy="3048000"/>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332656"/>
            <a:ext cx="8784976" cy="1143000"/>
          </a:xfrm>
        </p:spPr>
        <p:txBody>
          <a:bodyPr>
            <a:noAutofit/>
          </a:bodyPr>
          <a:lstStyle/>
          <a:p>
            <a:r>
              <a:rPr lang="en-AU" sz="3400" b="1" dirty="0" smtClean="0">
                <a:solidFill>
                  <a:srgbClr val="FF6600"/>
                </a:solidFill>
                <a:latin typeface="Helvetica" pitchFamily="34" charset="0"/>
              </a:rPr>
              <a:t>Identify standards or requirements applying to workplace hygiene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857364"/>
            <a:ext cx="7467600" cy="4225391"/>
          </a:xfrm>
        </p:spPr>
        <p:txBody>
          <a:bodyPr>
            <a:normAutofit/>
          </a:bodyPr>
          <a:lstStyle/>
          <a:p>
            <a:pPr marL="0" indent="0">
              <a:spcBef>
                <a:spcPts val="1200"/>
              </a:spcBef>
              <a:spcAft>
                <a:spcPts val="1200"/>
              </a:spcAft>
              <a:buNone/>
            </a:pPr>
            <a:r>
              <a:rPr lang="en-US" sz="2200" b="1" dirty="0" smtClean="0">
                <a:latin typeface="Helvetica" pitchFamily="34" charset="0"/>
              </a:rPr>
              <a:t>A properly calibrated probe thermometer should be available in every food premises – it must be:</a:t>
            </a:r>
          </a:p>
          <a:p>
            <a:pPr marL="360000" indent="-360000">
              <a:spcBef>
                <a:spcPts val="1200"/>
              </a:spcBef>
              <a:spcAft>
                <a:spcPts val="1200"/>
              </a:spcAft>
            </a:pPr>
            <a:r>
              <a:rPr lang="en-US" sz="2200" b="1" dirty="0" smtClean="0">
                <a:latin typeface="Helvetica" pitchFamily="34" charset="0"/>
              </a:rPr>
              <a:t>Readily available for use</a:t>
            </a:r>
          </a:p>
          <a:p>
            <a:pPr marL="360000" indent="-360000">
              <a:spcBef>
                <a:spcPts val="1200"/>
              </a:spcBef>
              <a:spcAft>
                <a:spcPts val="1200"/>
              </a:spcAft>
            </a:pPr>
            <a:r>
              <a:rPr lang="en-US" sz="2200" b="1" dirty="0" smtClean="0">
                <a:latin typeface="Helvetica" pitchFamily="34" charset="0"/>
              </a:rPr>
              <a:t>Checked for accuracy at least every 6 months</a:t>
            </a:r>
          </a:p>
          <a:p>
            <a:pPr marL="360000" indent="-360000">
              <a:spcBef>
                <a:spcPts val="1200"/>
              </a:spcBef>
              <a:spcAft>
                <a:spcPts val="1200"/>
              </a:spcAft>
            </a:pPr>
            <a:r>
              <a:rPr lang="en-US" sz="2200" b="1" dirty="0" smtClean="0">
                <a:latin typeface="Helvetica" pitchFamily="34" charset="0"/>
              </a:rPr>
              <a:t>Accurate to plus or minus 1</a:t>
            </a:r>
            <a:r>
              <a:rPr lang="en-AU" sz="2200" b="1" dirty="0" smtClean="0">
                <a:latin typeface="Helvetica" pitchFamily="34" charset="0"/>
              </a:rPr>
              <a:t>°C</a:t>
            </a:r>
            <a:r>
              <a:rPr lang="en-US" sz="2200" b="1" dirty="0" smtClean="0">
                <a:latin typeface="Helvetica" pitchFamily="34" charset="0"/>
              </a:rPr>
              <a:t>.</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a:t>
            </a:fld>
            <a:endParaRPr lang="en-US" dirty="0"/>
          </a:p>
        </p:txBody>
      </p:sp>
      <p:pic>
        <p:nvPicPr>
          <p:cNvPr id="5" name="Picture 4" descr="calibrated probe thermometer.png"/>
          <p:cNvPicPr>
            <a:picLocks noChangeAspect="1"/>
          </p:cNvPicPr>
          <p:nvPr/>
        </p:nvPicPr>
        <p:blipFill>
          <a:blip r:embed="rId3" cstate="print"/>
          <a:stretch>
            <a:fillRect/>
          </a:stretch>
        </p:blipFill>
        <p:spPr>
          <a:xfrm>
            <a:off x="6572264" y="2143116"/>
            <a:ext cx="2857500" cy="3819525"/>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332656"/>
            <a:ext cx="8784976" cy="1143000"/>
          </a:xfrm>
        </p:spPr>
        <p:txBody>
          <a:bodyPr>
            <a:noAutofit/>
          </a:bodyPr>
          <a:lstStyle/>
          <a:p>
            <a:r>
              <a:rPr lang="en-AU" sz="3400" b="1" dirty="0" smtClean="0">
                <a:solidFill>
                  <a:srgbClr val="FF6600"/>
                </a:solidFill>
                <a:latin typeface="Helvetica" pitchFamily="34" charset="0"/>
              </a:rPr>
              <a:t>Identify standards or requirements applying to workplace hygiene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928802"/>
            <a:ext cx="7467600" cy="4525963"/>
          </a:xfrm>
        </p:spPr>
        <p:txBody>
          <a:bodyPr>
            <a:normAutofit/>
          </a:bodyPr>
          <a:lstStyle/>
          <a:p>
            <a:pPr marL="360000" indent="-360000">
              <a:spcBef>
                <a:spcPts val="1200"/>
              </a:spcBef>
              <a:spcAft>
                <a:spcPts val="1200"/>
              </a:spcAft>
            </a:pPr>
            <a:r>
              <a:rPr lang="en-US" sz="2200" b="1" dirty="0" smtClean="0">
                <a:latin typeface="Helvetica" pitchFamily="34" charset="0"/>
              </a:rPr>
              <a:t>Cleaned and sanitised between uses</a:t>
            </a:r>
          </a:p>
          <a:p>
            <a:pPr marL="360000" indent="-360000">
              <a:spcBef>
                <a:spcPts val="1200"/>
              </a:spcBef>
              <a:spcAft>
                <a:spcPts val="1200"/>
              </a:spcAft>
            </a:pPr>
            <a:r>
              <a:rPr lang="en-US" sz="2200" b="1" dirty="0" smtClean="0">
                <a:latin typeface="Helvetica" pitchFamily="34" charset="0"/>
              </a:rPr>
              <a:t>Allowed to reach room temperature </a:t>
            </a:r>
            <a:br>
              <a:rPr lang="en-US" sz="2200" b="1" dirty="0" smtClean="0">
                <a:latin typeface="Helvetica" pitchFamily="34" charset="0"/>
              </a:rPr>
            </a:br>
            <a:r>
              <a:rPr lang="en-US" sz="2200" b="1" dirty="0" smtClean="0">
                <a:latin typeface="Helvetica" pitchFamily="34" charset="0"/>
              </a:rPr>
              <a:t>when alternating between hot and </a:t>
            </a:r>
            <a:br>
              <a:rPr lang="en-US" sz="2200" b="1" dirty="0" smtClean="0">
                <a:latin typeface="Helvetica" pitchFamily="34" charset="0"/>
              </a:rPr>
            </a:br>
            <a:r>
              <a:rPr lang="en-US" sz="2200" b="1" dirty="0" smtClean="0">
                <a:latin typeface="Helvetica" pitchFamily="34" charset="0"/>
              </a:rPr>
              <a:t>cold food items</a:t>
            </a:r>
          </a:p>
          <a:p>
            <a:pPr marL="360000" indent="-360000">
              <a:spcBef>
                <a:spcPts val="1200"/>
              </a:spcBef>
              <a:spcAft>
                <a:spcPts val="1200"/>
              </a:spcAft>
            </a:pPr>
            <a:r>
              <a:rPr lang="en-US" sz="2200" b="1" dirty="0" smtClean="0">
                <a:latin typeface="Helvetica" pitchFamily="34" charset="0"/>
              </a:rPr>
              <a:t>Treated with care.</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a:t>
            </a:fld>
            <a:endParaRPr lang="en-US" dirty="0"/>
          </a:p>
        </p:txBody>
      </p:sp>
      <p:pic>
        <p:nvPicPr>
          <p:cNvPr id="5" name="Picture 4" descr="calibrated hermometer.jpg"/>
          <p:cNvPicPr>
            <a:picLocks noChangeAspect="1"/>
          </p:cNvPicPr>
          <p:nvPr/>
        </p:nvPicPr>
        <p:blipFill>
          <a:blip r:embed="rId3" cstate="print"/>
          <a:stretch>
            <a:fillRect/>
          </a:stretch>
        </p:blipFill>
        <p:spPr>
          <a:xfrm>
            <a:off x="6715128" y="1857364"/>
            <a:ext cx="2428872" cy="364330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332656"/>
            <a:ext cx="8784976" cy="1143000"/>
          </a:xfrm>
        </p:spPr>
        <p:txBody>
          <a:bodyPr>
            <a:noAutofit/>
          </a:bodyPr>
          <a:lstStyle/>
          <a:p>
            <a:r>
              <a:rPr lang="en-AU" sz="3400" b="1" dirty="0" smtClean="0">
                <a:solidFill>
                  <a:srgbClr val="FF6600"/>
                </a:solidFill>
                <a:latin typeface="Helvetica" pitchFamily="34" charset="0"/>
              </a:rPr>
              <a:t>Identify standards or requirements applying to workplace hygiene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714348" y="1785926"/>
            <a:ext cx="7681914" cy="4525963"/>
          </a:xfrm>
        </p:spPr>
        <p:txBody>
          <a:bodyPr>
            <a:normAutofit/>
          </a:bodyPr>
          <a:lstStyle/>
          <a:p>
            <a:pPr marL="0" indent="0">
              <a:spcBef>
                <a:spcPts val="1200"/>
              </a:spcBef>
              <a:spcAft>
                <a:spcPts val="1200"/>
              </a:spcAft>
              <a:buNone/>
            </a:pPr>
            <a:r>
              <a:rPr lang="en-US" sz="2200" b="1" dirty="0" smtClean="0">
                <a:latin typeface="Helvetica" pitchFamily="34" charset="0"/>
              </a:rPr>
              <a:t>‘Drinks’ are food, and safe handling requirements for food apply to beverages:</a:t>
            </a:r>
          </a:p>
          <a:p>
            <a:pPr marL="360000" indent="-360000">
              <a:spcBef>
                <a:spcPts val="1200"/>
              </a:spcBef>
              <a:spcAft>
                <a:spcPts val="1200"/>
              </a:spcAft>
            </a:pPr>
            <a:r>
              <a:rPr lang="en-US" sz="2200" b="1" dirty="0" smtClean="0">
                <a:latin typeface="Helvetica" pitchFamily="34" charset="0"/>
              </a:rPr>
              <a:t>Do not handle ice or fruit with bare hands</a:t>
            </a:r>
          </a:p>
          <a:p>
            <a:pPr marL="360000" indent="-360000">
              <a:spcBef>
                <a:spcPts val="1200"/>
              </a:spcBef>
              <a:spcAft>
                <a:spcPts val="1200"/>
              </a:spcAft>
            </a:pPr>
            <a:r>
              <a:rPr lang="en-US" sz="2200" b="1" dirty="0" smtClean="0">
                <a:latin typeface="Helvetica" pitchFamily="34" charset="0"/>
              </a:rPr>
              <a:t>Do not re-use ‘plate waste’</a:t>
            </a:r>
          </a:p>
          <a:p>
            <a:pPr marL="360000" indent="-360000">
              <a:spcBef>
                <a:spcPts val="1200"/>
              </a:spcBef>
              <a:spcAft>
                <a:spcPts val="1200"/>
              </a:spcAft>
            </a:pPr>
            <a:r>
              <a:rPr lang="en-US" sz="2200" b="1" dirty="0" smtClean="0">
                <a:latin typeface="Helvetica" pitchFamily="34" charset="0"/>
              </a:rPr>
              <a:t>Store drinking straws </a:t>
            </a:r>
            <a:br>
              <a:rPr lang="en-US" sz="2200" b="1" dirty="0" smtClean="0">
                <a:latin typeface="Helvetica" pitchFamily="34" charset="0"/>
              </a:rPr>
            </a:br>
            <a:r>
              <a:rPr lang="en-US" sz="2200" b="1" dirty="0" smtClean="0">
                <a:latin typeface="Helvetica" pitchFamily="34" charset="0"/>
              </a:rPr>
              <a:t>correctly</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22</a:t>
            </a:fld>
            <a:endParaRPr lang="en-US" dirty="0"/>
          </a:p>
        </p:txBody>
      </p:sp>
      <p:pic>
        <p:nvPicPr>
          <p:cNvPr id="5" name="Picture 4" descr="Beverages.jpg"/>
          <p:cNvPicPr>
            <a:picLocks noChangeAspect="1"/>
          </p:cNvPicPr>
          <p:nvPr/>
        </p:nvPicPr>
        <p:blipFill>
          <a:blip r:embed="rId3" cstate="print"/>
          <a:stretch>
            <a:fillRect/>
          </a:stretch>
        </p:blipFill>
        <p:spPr>
          <a:xfrm>
            <a:off x="5143500" y="3429000"/>
            <a:ext cx="4000500" cy="272415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332656"/>
            <a:ext cx="8784976" cy="1143000"/>
          </a:xfrm>
        </p:spPr>
        <p:txBody>
          <a:bodyPr>
            <a:noAutofit/>
          </a:bodyPr>
          <a:lstStyle/>
          <a:p>
            <a:r>
              <a:rPr lang="en-AU" sz="3400" b="1" dirty="0" smtClean="0">
                <a:solidFill>
                  <a:srgbClr val="FF6600"/>
                </a:solidFill>
                <a:latin typeface="Helvetica" pitchFamily="34" charset="0"/>
              </a:rPr>
              <a:t>Identify standards or requirements applying to workplace hygiene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928802"/>
            <a:ext cx="7632848" cy="4525963"/>
          </a:xfrm>
        </p:spPr>
        <p:txBody>
          <a:bodyPr>
            <a:normAutofit/>
          </a:bodyPr>
          <a:lstStyle/>
          <a:p>
            <a:pPr marL="360000" indent="-360000">
              <a:spcBef>
                <a:spcPts val="600"/>
              </a:spcBef>
              <a:spcAft>
                <a:spcPts val="1200"/>
              </a:spcAft>
            </a:pPr>
            <a:r>
              <a:rPr lang="en-US" sz="2200" b="1" dirty="0" smtClean="0">
                <a:latin typeface="Helvetica" pitchFamily="34" charset="0"/>
              </a:rPr>
              <a:t>Ensure glass washer has detergent and operates at 70</a:t>
            </a:r>
            <a:r>
              <a:rPr lang="en-AU" sz="2200" b="1" dirty="0" smtClean="0">
                <a:latin typeface="Helvetica" pitchFamily="34" charset="0"/>
              </a:rPr>
              <a:t>°C</a:t>
            </a:r>
            <a:endParaRPr lang="en-US" sz="2200" b="1" dirty="0" smtClean="0">
              <a:latin typeface="Helvetica" pitchFamily="34" charset="0"/>
            </a:endParaRPr>
          </a:p>
          <a:p>
            <a:pPr marL="360000" indent="-360000">
              <a:spcBef>
                <a:spcPts val="600"/>
              </a:spcBef>
              <a:spcAft>
                <a:spcPts val="1200"/>
              </a:spcAft>
            </a:pPr>
            <a:r>
              <a:rPr lang="en-US" sz="2200" b="1" dirty="0" smtClean="0">
                <a:latin typeface="Helvetica" pitchFamily="34" charset="0"/>
              </a:rPr>
              <a:t>Put de-naturing agent in drip trays</a:t>
            </a:r>
          </a:p>
          <a:p>
            <a:pPr marL="360000" indent="-360000">
              <a:spcBef>
                <a:spcPts val="600"/>
              </a:spcBef>
              <a:spcAft>
                <a:spcPts val="1200"/>
              </a:spcAft>
            </a:pPr>
            <a:r>
              <a:rPr lang="en-US" sz="2200" b="1" dirty="0" smtClean="0">
                <a:latin typeface="Helvetica" pitchFamily="34" charset="0"/>
              </a:rPr>
              <a:t>No smoking</a:t>
            </a:r>
          </a:p>
          <a:p>
            <a:pPr marL="360000" indent="-360000">
              <a:spcBef>
                <a:spcPts val="600"/>
              </a:spcBef>
              <a:spcAft>
                <a:spcPts val="1200"/>
              </a:spcAft>
            </a:pPr>
            <a:r>
              <a:rPr lang="en-US" sz="2200" b="1" dirty="0" smtClean="0">
                <a:latin typeface="Helvetica" pitchFamily="34" charset="0"/>
              </a:rPr>
              <a:t>Wash hands properly, when required</a:t>
            </a:r>
          </a:p>
          <a:p>
            <a:pPr marL="360000" indent="-360000">
              <a:spcBef>
                <a:spcPts val="600"/>
              </a:spcBef>
              <a:spcAft>
                <a:spcPts val="1200"/>
              </a:spcAft>
              <a:buNone/>
            </a:pPr>
            <a:r>
              <a:rPr lang="en-US" sz="2200" b="1" dirty="0" smtClean="0">
                <a:latin typeface="Helvetica" pitchFamily="34" charset="0"/>
              </a:rPr>
              <a:t>(Continued)</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23</a:t>
            </a:fld>
            <a:endParaRPr lang="en-US" dirty="0"/>
          </a:p>
        </p:txBody>
      </p:sp>
      <p:pic>
        <p:nvPicPr>
          <p:cNvPr id="5" name="Picture 4" descr="Glass washer machine.jpg"/>
          <p:cNvPicPr>
            <a:picLocks noChangeAspect="1"/>
          </p:cNvPicPr>
          <p:nvPr/>
        </p:nvPicPr>
        <p:blipFill>
          <a:blip r:embed="rId3" cstate="print"/>
          <a:stretch>
            <a:fillRect/>
          </a:stretch>
        </p:blipFill>
        <p:spPr>
          <a:xfrm>
            <a:off x="6072198" y="2786058"/>
            <a:ext cx="2217436" cy="2286016"/>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332656"/>
            <a:ext cx="7678066" cy="1143000"/>
          </a:xfrm>
        </p:spPr>
        <p:txBody>
          <a:bodyPr>
            <a:noAutofit/>
          </a:bodyPr>
          <a:lstStyle/>
          <a:p>
            <a:r>
              <a:rPr lang="en-AU" sz="3400" b="1" dirty="0" smtClean="0">
                <a:solidFill>
                  <a:srgbClr val="FF6600"/>
                </a:solidFill>
                <a:latin typeface="Helvetica" pitchFamily="34" charset="0"/>
              </a:rPr>
              <a:t>Identify standards or requirements applying to workplace hygiene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857364"/>
            <a:ext cx="7467600" cy="4525963"/>
          </a:xfrm>
        </p:spPr>
        <p:txBody>
          <a:bodyPr>
            <a:normAutofit/>
          </a:bodyPr>
          <a:lstStyle/>
          <a:p>
            <a:pPr marL="360000" indent="-360000">
              <a:spcBef>
                <a:spcPts val="1200"/>
              </a:spcBef>
              <a:spcAft>
                <a:spcPts val="1200"/>
              </a:spcAft>
            </a:pPr>
            <a:r>
              <a:rPr lang="en-US" sz="2200" b="1" dirty="0" smtClean="0">
                <a:latin typeface="Helvetica" pitchFamily="34" charset="0"/>
              </a:rPr>
              <a:t>Wear clean clothes</a:t>
            </a:r>
          </a:p>
          <a:p>
            <a:pPr marL="360000" indent="-360000">
              <a:spcBef>
                <a:spcPts val="1200"/>
              </a:spcBef>
              <a:spcAft>
                <a:spcPts val="1200"/>
              </a:spcAft>
            </a:pPr>
            <a:r>
              <a:rPr lang="en-US" sz="2200" b="1" dirty="0" smtClean="0">
                <a:latin typeface="Helvetica" pitchFamily="34" charset="0"/>
              </a:rPr>
              <a:t>Maintain clean hands and nails</a:t>
            </a:r>
          </a:p>
          <a:p>
            <a:pPr marL="360000" indent="-360000">
              <a:spcBef>
                <a:spcPts val="1200"/>
              </a:spcBef>
              <a:spcAft>
                <a:spcPts val="1200"/>
              </a:spcAft>
            </a:pPr>
            <a:r>
              <a:rPr lang="en-US" sz="2200" b="1" dirty="0" smtClean="0">
                <a:latin typeface="Helvetica" pitchFamily="34" charset="0"/>
              </a:rPr>
              <a:t>Do not work when sick</a:t>
            </a:r>
          </a:p>
          <a:p>
            <a:pPr marL="360000" indent="-360000">
              <a:spcBef>
                <a:spcPts val="1200"/>
              </a:spcBef>
              <a:spcAft>
                <a:spcPts val="1200"/>
              </a:spcAft>
            </a:pPr>
            <a:r>
              <a:rPr lang="en-US" sz="2200" b="1" dirty="0" smtClean="0">
                <a:latin typeface="Helvetica" pitchFamily="34" charset="0"/>
              </a:rPr>
              <a:t>Check all glasses used are clean, not </a:t>
            </a:r>
            <a:br>
              <a:rPr lang="en-US" sz="2200" b="1" dirty="0" smtClean="0">
                <a:latin typeface="Helvetica" pitchFamily="34" charset="0"/>
              </a:rPr>
            </a:br>
            <a:r>
              <a:rPr lang="en-US" sz="2200" b="1" dirty="0" smtClean="0">
                <a:latin typeface="Helvetica" pitchFamily="34" charset="0"/>
              </a:rPr>
              <a:t>chipped and not cracked.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24</a:t>
            </a:fld>
            <a:endParaRPr lang="en-US" dirty="0"/>
          </a:p>
        </p:txBody>
      </p:sp>
      <p:pic>
        <p:nvPicPr>
          <p:cNvPr id="6" name="Picture 5" descr="2DSC_0017.jpg"/>
          <p:cNvPicPr>
            <a:picLocks noChangeAspect="1"/>
          </p:cNvPicPr>
          <p:nvPr/>
        </p:nvPicPr>
        <p:blipFill>
          <a:blip r:embed="rId3" cstate="print"/>
          <a:stretch>
            <a:fillRect/>
          </a:stretch>
        </p:blipFill>
        <p:spPr>
          <a:xfrm>
            <a:off x="6779120" y="1857364"/>
            <a:ext cx="2364880" cy="3636092"/>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Follow workplace hygiene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Personal hygiene practices for food handlers:</a:t>
            </a:r>
          </a:p>
          <a:p>
            <a:pPr marL="360000" indent="-360000">
              <a:spcBef>
                <a:spcPts val="1200"/>
              </a:spcBef>
              <a:spcAft>
                <a:spcPts val="1200"/>
              </a:spcAft>
            </a:pPr>
            <a:r>
              <a:rPr lang="en-US" sz="2200" b="1" dirty="0" smtClean="0">
                <a:latin typeface="Helvetica" pitchFamily="34" charset="0"/>
              </a:rPr>
              <a:t>Avoid touching food with bare hands</a:t>
            </a:r>
          </a:p>
          <a:p>
            <a:pPr marL="360000" indent="-360000">
              <a:spcBef>
                <a:spcPts val="1200"/>
              </a:spcBef>
              <a:spcAft>
                <a:spcPts val="1200"/>
              </a:spcAft>
            </a:pPr>
            <a:r>
              <a:rPr lang="en-US" sz="2200" b="1" dirty="0" smtClean="0">
                <a:latin typeface="Helvetica" pitchFamily="34" charset="0"/>
              </a:rPr>
              <a:t>Avoid touching food-contact surfaces </a:t>
            </a:r>
            <a:br>
              <a:rPr lang="en-US" sz="2200" b="1" dirty="0" smtClean="0">
                <a:latin typeface="Helvetica" pitchFamily="34" charset="0"/>
              </a:rPr>
            </a:br>
            <a:r>
              <a:rPr lang="en-US" sz="2200" b="1" dirty="0" smtClean="0">
                <a:latin typeface="Helvetica" pitchFamily="34" charset="0"/>
              </a:rPr>
              <a:t>with bare hands</a:t>
            </a:r>
          </a:p>
          <a:p>
            <a:pPr marL="360000" indent="-360000">
              <a:spcBef>
                <a:spcPts val="1200"/>
              </a:spcBef>
              <a:spcAft>
                <a:spcPts val="1200"/>
              </a:spcAft>
            </a:pPr>
            <a:r>
              <a:rPr lang="en-US" sz="2200" b="1" dirty="0" smtClean="0">
                <a:latin typeface="Helvetica" pitchFamily="34" charset="0"/>
              </a:rPr>
              <a:t>Do not wear jewellery on hands </a:t>
            </a:r>
            <a:br>
              <a:rPr lang="en-US" sz="2200" b="1" dirty="0" smtClean="0">
                <a:latin typeface="Helvetica" pitchFamily="34" charset="0"/>
              </a:rPr>
            </a:br>
            <a:r>
              <a:rPr lang="en-US" sz="2200" b="1" dirty="0" smtClean="0">
                <a:latin typeface="Helvetica" pitchFamily="34" charset="0"/>
              </a:rPr>
              <a:t>or wrists</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25</a:t>
            </a:fld>
            <a:endParaRPr lang="en-US" dirty="0"/>
          </a:p>
        </p:txBody>
      </p:sp>
      <p:pic>
        <p:nvPicPr>
          <p:cNvPr id="5" name="Picture 4" descr="cook assistant 1.jpg"/>
          <p:cNvPicPr>
            <a:picLocks noChangeAspect="1"/>
          </p:cNvPicPr>
          <p:nvPr/>
        </p:nvPicPr>
        <p:blipFill>
          <a:blip r:embed="rId3" cstate="print"/>
          <a:stretch>
            <a:fillRect/>
          </a:stretch>
        </p:blipFill>
        <p:spPr>
          <a:xfrm>
            <a:off x="6576055" y="2143116"/>
            <a:ext cx="2567945" cy="3855683"/>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Follow workplace hygiene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b="1" dirty="0" smtClean="0">
                <a:latin typeface="Helvetica" pitchFamily="34" charset="0"/>
              </a:rPr>
              <a:t>Control and or cover facial hair</a:t>
            </a:r>
          </a:p>
          <a:p>
            <a:pPr marL="360000" indent="-360000">
              <a:spcBef>
                <a:spcPts val="1200"/>
              </a:spcBef>
              <a:spcAft>
                <a:spcPts val="1200"/>
              </a:spcAft>
            </a:pPr>
            <a:r>
              <a:rPr lang="en-US" sz="2200" b="1" dirty="0" smtClean="0">
                <a:latin typeface="Helvetica" pitchFamily="34" charset="0"/>
              </a:rPr>
              <a:t>Keep fingernails short, clean and without </a:t>
            </a:r>
            <a:br>
              <a:rPr lang="en-US" sz="2200" b="1" dirty="0" smtClean="0">
                <a:latin typeface="Helvetica" pitchFamily="34" charset="0"/>
              </a:rPr>
            </a:br>
            <a:r>
              <a:rPr lang="en-US" sz="2200" b="1" dirty="0" smtClean="0">
                <a:latin typeface="Helvetica" pitchFamily="34" charset="0"/>
              </a:rPr>
              <a:t>polish or decorations</a:t>
            </a:r>
          </a:p>
          <a:p>
            <a:pPr marL="360000" indent="-360000">
              <a:spcBef>
                <a:spcPts val="1200"/>
              </a:spcBef>
              <a:spcAft>
                <a:spcPts val="1200"/>
              </a:spcAft>
            </a:pPr>
            <a:r>
              <a:rPr lang="en-US" sz="2200" b="1" dirty="0" smtClean="0">
                <a:latin typeface="Helvetica" pitchFamily="34" charset="0"/>
              </a:rPr>
              <a:t>Wear only clean clothing</a:t>
            </a:r>
          </a:p>
          <a:p>
            <a:pPr marL="360000" indent="-360000">
              <a:spcBef>
                <a:spcPts val="1200"/>
              </a:spcBef>
              <a:spcAft>
                <a:spcPts val="1200"/>
              </a:spcAft>
            </a:pPr>
            <a:r>
              <a:rPr lang="en-US" sz="2200" b="1" dirty="0" smtClean="0">
                <a:latin typeface="Helvetica" pitchFamily="34" charset="0"/>
              </a:rPr>
              <a:t>Do not wear food handling clothes to and </a:t>
            </a:r>
            <a:br>
              <a:rPr lang="en-US" sz="2200" b="1" dirty="0" smtClean="0">
                <a:latin typeface="Helvetica" pitchFamily="34" charset="0"/>
              </a:rPr>
            </a:br>
            <a:r>
              <a:rPr lang="en-US" sz="2200" b="1" dirty="0" smtClean="0">
                <a:latin typeface="Helvetica" pitchFamily="34" charset="0"/>
              </a:rPr>
              <a:t>from work</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26</a:t>
            </a:fld>
            <a:endParaRPr lang="en-US" dirty="0"/>
          </a:p>
        </p:txBody>
      </p:sp>
      <p:pic>
        <p:nvPicPr>
          <p:cNvPr id="9" name="Picture 8" descr="Trimming fingernails.jpg"/>
          <p:cNvPicPr>
            <a:picLocks noChangeAspect="1"/>
          </p:cNvPicPr>
          <p:nvPr/>
        </p:nvPicPr>
        <p:blipFill>
          <a:blip r:embed="rId3" cstate="print"/>
          <a:stretch>
            <a:fillRect/>
          </a:stretch>
        </p:blipFill>
        <p:spPr>
          <a:xfrm>
            <a:off x="7198015" y="3214686"/>
            <a:ext cx="1945985" cy="2500330"/>
          </a:xfrm>
          <a:prstGeom prst="rect">
            <a:avLst/>
          </a:prstGeom>
        </p:spPr>
      </p:pic>
      <p:pic>
        <p:nvPicPr>
          <p:cNvPr id="5124" name="Picture 4" descr="C:\Users\fgvghyujil\AppData\Local\Microsoft\Windows\Temporary Internet Files\Content.IE5\SIE7KNHZ\MP900430724[1].jpg"/>
          <p:cNvPicPr>
            <a:picLocks noChangeAspect="1" noChangeArrowheads="1"/>
          </p:cNvPicPr>
          <p:nvPr/>
        </p:nvPicPr>
        <p:blipFill>
          <a:blip r:embed="rId4" cstate="print"/>
          <a:srcRect/>
          <a:stretch>
            <a:fillRect/>
          </a:stretch>
        </p:blipFill>
        <p:spPr bwMode="auto">
          <a:xfrm>
            <a:off x="7213290" y="1285860"/>
            <a:ext cx="1930710" cy="1928826"/>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Follow workplace hygiene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b="1" dirty="0" smtClean="0">
                <a:latin typeface="Helvetica" pitchFamily="34" charset="0"/>
              </a:rPr>
              <a:t>Cover all cuts and sores with water-proof bandage</a:t>
            </a:r>
          </a:p>
          <a:p>
            <a:pPr marL="360000" indent="-360000">
              <a:spcBef>
                <a:spcPts val="1200"/>
              </a:spcBef>
              <a:spcAft>
                <a:spcPts val="1200"/>
              </a:spcAft>
            </a:pPr>
            <a:r>
              <a:rPr lang="en-US" sz="2200" b="1" dirty="0" smtClean="0">
                <a:latin typeface="Helvetica" pitchFamily="34" charset="0"/>
              </a:rPr>
              <a:t>Do not handle unprotected food when ill</a:t>
            </a:r>
          </a:p>
          <a:p>
            <a:pPr marL="360000" indent="-360000">
              <a:spcBef>
                <a:spcPts val="1200"/>
              </a:spcBef>
              <a:spcAft>
                <a:spcPts val="1200"/>
              </a:spcAft>
            </a:pPr>
            <a:r>
              <a:rPr lang="en-US" sz="2200" b="1" dirty="0" smtClean="0">
                <a:latin typeface="Helvetica" pitchFamily="34" charset="0"/>
              </a:rPr>
              <a:t>Stay away from work if suffering from a communicable disease.</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27</a:t>
            </a:fld>
            <a:endParaRPr lang="en-US" dirty="0"/>
          </a:p>
        </p:txBody>
      </p:sp>
      <p:pic>
        <p:nvPicPr>
          <p:cNvPr id="6146" name="Picture 2" descr="C:\Users\fgvghyujil\AppData\Local\Microsoft\Windows\Temporary Internet Files\Content.IE5\SIE7KNHZ\MP900422201[1].jpg"/>
          <p:cNvPicPr>
            <a:picLocks noChangeAspect="1" noChangeArrowheads="1"/>
          </p:cNvPicPr>
          <p:nvPr/>
        </p:nvPicPr>
        <p:blipFill>
          <a:blip r:embed="rId3" cstate="print"/>
          <a:srcRect/>
          <a:stretch>
            <a:fillRect/>
          </a:stretch>
        </p:blipFill>
        <p:spPr bwMode="auto">
          <a:xfrm>
            <a:off x="6952181" y="2000240"/>
            <a:ext cx="2191819" cy="3286124"/>
          </a:xfrm>
          <a:prstGeom prst="rect">
            <a:avLst/>
          </a:prstGeo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Follow workplace hygiene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When wearing disposable gloves:</a:t>
            </a:r>
          </a:p>
          <a:p>
            <a:pPr marL="360000" indent="-360000">
              <a:spcBef>
                <a:spcPts val="1200"/>
              </a:spcBef>
              <a:spcAft>
                <a:spcPts val="1200"/>
              </a:spcAft>
            </a:pPr>
            <a:r>
              <a:rPr lang="en-US" sz="2200" b="1" dirty="0" smtClean="0">
                <a:latin typeface="Helvetica" pitchFamily="34" charset="0"/>
              </a:rPr>
              <a:t>Change them if they become torn</a:t>
            </a:r>
          </a:p>
          <a:p>
            <a:pPr marL="360000" indent="-360000">
              <a:spcBef>
                <a:spcPts val="1200"/>
              </a:spcBef>
              <a:spcAft>
                <a:spcPts val="1200"/>
              </a:spcAft>
            </a:pPr>
            <a:r>
              <a:rPr lang="en-US" sz="2200" b="1" dirty="0" smtClean="0">
                <a:latin typeface="Helvetica" pitchFamily="34" charset="0"/>
              </a:rPr>
              <a:t>Change in between handling raw food and  </a:t>
            </a:r>
            <a:br>
              <a:rPr lang="en-US" sz="2200" b="1" dirty="0" smtClean="0">
                <a:latin typeface="Helvetica" pitchFamily="34" charset="0"/>
              </a:rPr>
            </a:br>
            <a:r>
              <a:rPr lang="en-US" sz="2200" b="1" dirty="0" smtClean="0">
                <a:latin typeface="Helvetica" pitchFamily="34" charset="0"/>
              </a:rPr>
              <a:t>cooked or ready-to-eat food</a:t>
            </a:r>
          </a:p>
          <a:p>
            <a:pPr marL="360000" indent="-360000">
              <a:spcBef>
                <a:spcPts val="1200"/>
              </a:spcBef>
              <a:spcAft>
                <a:spcPts val="1200"/>
              </a:spcAft>
            </a:pPr>
            <a:r>
              <a:rPr lang="en-US" sz="2200" b="1" dirty="0" smtClean="0">
                <a:latin typeface="Helvetica" pitchFamily="34" charset="0"/>
              </a:rPr>
              <a:t>Change every hour</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28</a:t>
            </a:fld>
            <a:endParaRPr lang="en-US" dirty="0"/>
          </a:p>
        </p:txBody>
      </p:sp>
      <p:pic>
        <p:nvPicPr>
          <p:cNvPr id="5" name="Picture 4" descr="food handling.jpg"/>
          <p:cNvPicPr>
            <a:picLocks noChangeAspect="1"/>
          </p:cNvPicPr>
          <p:nvPr/>
        </p:nvPicPr>
        <p:blipFill>
          <a:blip r:embed="rId3" cstate="print"/>
          <a:stretch>
            <a:fillRect/>
          </a:stretch>
        </p:blipFill>
        <p:spPr>
          <a:xfrm>
            <a:off x="7072330" y="2285992"/>
            <a:ext cx="2071670" cy="2844681"/>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Follow workplace hygiene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b="1" dirty="0" smtClean="0">
                <a:latin typeface="Helvetica" pitchFamily="34" charset="0"/>
              </a:rPr>
              <a:t>Change glove if money is handled</a:t>
            </a:r>
          </a:p>
          <a:p>
            <a:pPr marL="360000" indent="-360000">
              <a:spcBef>
                <a:spcPts val="1200"/>
              </a:spcBef>
              <a:spcAft>
                <a:spcPts val="1200"/>
              </a:spcAft>
            </a:pPr>
            <a:r>
              <a:rPr lang="en-US" sz="2200" b="1" dirty="0" smtClean="0">
                <a:latin typeface="Helvetica" pitchFamily="34" charset="0"/>
              </a:rPr>
              <a:t>Do not change gloves over food or food surfaces</a:t>
            </a:r>
          </a:p>
          <a:p>
            <a:pPr marL="360000" indent="-360000">
              <a:spcBef>
                <a:spcPts val="1200"/>
              </a:spcBef>
              <a:spcAft>
                <a:spcPts val="1200"/>
              </a:spcAft>
            </a:pPr>
            <a:r>
              <a:rPr lang="en-US" sz="2200" b="1" dirty="0" smtClean="0">
                <a:latin typeface="Helvetica" pitchFamily="34" charset="0"/>
              </a:rPr>
              <a:t>Never re-use gloves</a:t>
            </a:r>
          </a:p>
          <a:p>
            <a:pPr marL="360000" indent="-360000">
              <a:spcBef>
                <a:spcPts val="1200"/>
              </a:spcBef>
              <a:spcAft>
                <a:spcPts val="1200"/>
              </a:spcAft>
            </a:pPr>
            <a:r>
              <a:rPr lang="en-US" sz="2200" b="1" dirty="0" smtClean="0">
                <a:latin typeface="Helvetica" pitchFamily="34" charset="0"/>
              </a:rPr>
              <a:t>Do not turn gloves inside-out and </a:t>
            </a:r>
            <a:br>
              <a:rPr lang="en-US" sz="2200" b="1" dirty="0" smtClean="0">
                <a:latin typeface="Helvetica" pitchFamily="34" charset="0"/>
              </a:rPr>
            </a:br>
            <a:r>
              <a:rPr lang="en-US" sz="2200" b="1" dirty="0" smtClean="0">
                <a:latin typeface="Helvetica" pitchFamily="34" charset="0"/>
              </a:rPr>
              <a:t>use again</a:t>
            </a:r>
          </a:p>
          <a:p>
            <a:pPr marL="360000" indent="-360000">
              <a:spcBef>
                <a:spcPts val="1200"/>
              </a:spcBef>
              <a:spcAft>
                <a:spcPts val="1200"/>
              </a:spcAft>
            </a:pPr>
            <a:r>
              <a:rPr lang="en-US" sz="2200" b="1" dirty="0" smtClean="0">
                <a:latin typeface="Helvetica" pitchFamily="34" charset="0"/>
              </a:rPr>
              <a:t>Change gloves whenever they become contaminated.</a:t>
            </a:r>
          </a:p>
          <a:p>
            <a:pPr marL="360000" indent="-360000">
              <a:spcBef>
                <a:spcPts val="1200"/>
              </a:spcBef>
              <a:spcAft>
                <a:spcPts val="1200"/>
              </a:spcAft>
            </a:pPr>
            <a:endParaRPr lang="en-US" sz="2200" b="1" dirty="0" smtClean="0">
              <a:latin typeface="Helvetica" pitchFamily="34" charset="0"/>
            </a:endParaRP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29</a:t>
            </a:fld>
            <a:endParaRPr lang="en-US" dirty="0"/>
          </a:p>
        </p:txBody>
      </p:sp>
      <p:pic>
        <p:nvPicPr>
          <p:cNvPr id="6" name="Picture 5" descr="Mixing salad.jpg"/>
          <p:cNvPicPr>
            <a:picLocks noChangeAspect="1"/>
          </p:cNvPicPr>
          <p:nvPr/>
        </p:nvPicPr>
        <p:blipFill>
          <a:blip r:embed="rId3" cstate="print"/>
          <a:stretch>
            <a:fillRect/>
          </a:stretch>
        </p:blipFill>
        <p:spPr>
          <a:xfrm>
            <a:off x="6621202" y="2714620"/>
            <a:ext cx="2522798" cy="2071702"/>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Follow workplace hygiene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In relation to food handling clothes:</a:t>
            </a:r>
          </a:p>
          <a:p>
            <a:pPr marL="360000" indent="-360000">
              <a:spcBef>
                <a:spcPts val="1200"/>
              </a:spcBef>
              <a:spcAft>
                <a:spcPts val="1200"/>
              </a:spcAft>
            </a:pPr>
            <a:r>
              <a:rPr lang="en-US" sz="2200" b="1" dirty="0" smtClean="0">
                <a:latin typeface="Helvetica" pitchFamily="34" charset="0"/>
              </a:rPr>
              <a:t>Avoid loose-fitting clothes</a:t>
            </a:r>
          </a:p>
          <a:p>
            <a:pPr marL="360000" indent="-360000">
              <a:spcBef>
                <a:spcPts val="1200"/>
              </a:spcBef>
              <a:spcAft>
                <a:spcPts val="1200"/>
              </a:spcAft>
            </a:pPr>
            <a:r>
              <a:rPr lang="en-US" sz="2200" b="1" dirty="0" smtClean="0">
                <a:latin typeface="Helvetica" pitchFamily="34" charset="0"/>
              </a:rPr>
              <a:t>Do not cough or sneeze over food</a:t>
            </a:r>
          </a:p>
          <a:p>
            <a:pPr marL="360000" indent="-360000">
              <a:spcBef>
                <a:spcPts val="1200"/>
              </a:spcBef>
              <a:spcAft>
                <a:spcPts val="1200"/>
              </a:spcAft>
            </a:pPr>
            <a:r>
              <a:rPr lang="en-US" sz="2200" b="1" dirty="0" smtClean="0">
                <a:latin typeface="Helvetica" pitchFamily="34" charset="0"/>
              </a:rPr>
              <a:t>Avoid jewellery on hands and wrists</a:t>
            </a:r>
          </a:p>
          <a:p>
            <a:pPr marL="360000" indent="-360000">
              <a:spcBef>
                <a:spcPts val="1200"/>
              </a:spcBef>
              <a:spcAft>
                <a:spcPts val="1200"/>
              </a:spcAft>
            </a:pPr>
            <a:r>
              <a:rPr lang="en-US" sz="2200" b="1" dirty="0" smtClean="0">
                <a:latin typeface="Helvetica" pitchFamily="34" charset="0"/>
              </a:rPr>
              <a:t>Do not wear food handling clothes to and </a:t>
            </a:r>
            <a:br>
              <a:rPr lang="en-US" sz="2200" b="1" dirty="0" smtClean="0">
                <a:latin typeface="Helvetica" pitchFamily="34" charset="0"/>
              </a:rPr>
            </a:br>
            <a:r>
              <a:rPr lang="en-US" sz="2200" b="1" dirty="0" smtClean="0">
                <a:latin typeface="Helvetica" pitchFamily="34" charset="0"/>
              </a:rPr>
              <a:t>from work</a:t>
            </a:r>
          </a:p>
          <a:p>
            <a:pPr marL="360000" indent="-360000">
              <a:spcBef>
                <a:spcPts val="1200"/>
              </a:spcBef>
              <a:spcAft>
                <a:spcPts val="1200"/>
              </a:spcAft>
            </a:pPr>
            <a:r>
              <a:rPr lang="en-US" sz="2200" b="1" dirty="0" smtClean="0">
                <a:latin typeface="Helvetica" pitchFamily="34" charset="0"/>
              </a:rPr>
              <a:t>Remove aprons before entering toilet.</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30</a:t>
            </a:fld>
            <a:endParaRPr lang="en-US" dirty="0"/>
          </a:p>
        </p:txBody>
      </p:sp>
      <p:pic>
        <p:nvPicPr>
          <p:cNvPr id="5" name="Picture 4" descr="Chef.jpg"/>
          <p:cNvPicPr>
            <a:picLocks noChangeAspect="1"/>
          </p:cNvPicPr>
          <p:nvPr/>
        </p:nvPicPr>
        <p:blipFill>
          <a:blip r:embed="rId3" cstate="print"/>
          <a:stretch>
            <a:fillRect/>
          </a:stretch>
        </p:blipFill>
        <p:spPr>
          <a:xfrm>
            <a:off x="7236130" y="2428868"/>
            <a:ext cx="1907870" cy="2384838"/>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Follow workplace hygiene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560840" cy="4525963"/>
          </a:xfrm>
        </p:spPr>
        <p:txBody>
          <a:bodyPr>
            <a:normAutofit/>
          </a:bodyPr>
          <a:lstStyle/>
          <a:p>
            <a:pPr marL="0" indent="0">
              <a:spcBef>
                <a:spcPts val="1200"/>
              </a:spcBef>
              <a:spcAft>
                <a:spcPts val="1200"/>
              </a:spcAft>
              <a:buNone/>
            </a:pPr>
            <a:r>
              <a:rPr lang="en-US" sz="2200" b="1" dirty="0" smtClean="0">
                <a:latin typeface="Helvetica" pitchFamily="34" charset="0"/>
              </a:rPr>
              <a:t>Minimise contact with ready-to-eat food:</a:t>
            </a:r>
          </a:p>
          <a:p>
            <a:pPr marL="360000" indent="-360000">
              <a:spcBef>
                <a:spcPts val="1200"/>
              </a:spcBef>
              <a:spcAft>
                <a:spcPts val="1200"/>
              </a:spcAft>
            </a:pPr>
            <a:r>
              <a:rPr lang="en-US" sz="2200" b="1" dirty="0" smtClean="0">
                <a:latin typeface="Helvetica" pitchFamily="34" charset="0"/>
              </a:rPr>
              <a:t>Do not handle cooked or ready-to-eat food with bare hands</a:t>
            </a:r>
          </a:p>
          <a:p>
            <a:pPr marL="360000" indent="-360000">
              <a:spcBef>
                <a:spcPts val="1200"/>
              </a:spcBef>
              <a:spcAft>
                <a:spcPts val="1200"/>
              </a:spcAft>
            </a:pPr>
            <a:r>
              <a:rPr lang="en-US" sz="2200" b="1" dirty="0" smtClean="0">
                <a:latin typeface="Helvetica" pitchFamily="34" charset="0"/>
              </a:rPr>
              <a:t>Handle cups by handle and glasses by their base</a:t>
            </a:r>
          </a:p>
          <a:p>
            <a:pPr marL="360000" indent="-360000">
              <a:spcBef>
                <a:spcPts val="1200"/>
              </a:spcBef>
              <a:spcAft>
                <a:spcPts val="1200"/>
              </a:spcAft>
            </a:pPr>
            <a:r>
              <a:rPr lang="en-US" sz="2200" b="1" dirty="0" smtClean="0">
                <a:latin typeface="Helvetica" pitchFamily="34" charset="0"/>
              </a:rPr>
              <a:t>Handle cutlery by handles</a:t>
            </a:r>
          </a:p>
          <a:p>
            <a:pPr marL="360000" indent="-360000">
              <a:spcBef>
                <a:spcPts val="1200"/>
              </a:spcBef>
              <a:spcAft>
                <a:spcPts val="1200"/>
              </a:spcAft>
            </a:pPr>
            <a:r>
              <a:rPr lang="en-US" sz="2200" b="1" dirty="0" smtClean="0">
                <a:latin typeface="Helvetica" pitchFamily="34" charset="0"/>
              </a:rPr>
              <a:t>Avoid unnecessary skin contact </a:t>
            </a:r>
            <a:br>
              <a:rPr lang="en-US" sz="2200" b="1" dirty="0" smtClean="0">
                <a:latin typeface="Helvetica" pitchFamily="34" charset="0"/>
              </a:rPr>
            </a:br>
            <a:r>
              <a:rPr lang="en-US" sz="2200" b="1" dirty="0" smtClean="0">
                <a:latin typeface="Helvetica" pitchFamily="34" charset="0"/>
              </a:rPr>
              <a:t>with food surfaces</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31</a:t>
            </a:fld>
            <a:endParaRPr lang="en-US" dirty="0"/>
          </a:p>
        </p:txBody>
      </p:sp>
      <p:pic>
        <p:nvPicPr>
          <p:cNvPr id="5" name="Picture 4" descr="DSC_1391.JPG"/>
          <p:cNvPicPr>
            <a:picLocks noChangeAspect="1"/>
          </p:cNvPicPr>
          <p:nvPr/>
        </p:nvPicPr>
        <p:blipFill>
          <a:blip r:embed="rId3" cstate="print"/>
          <a:stretch>
            <a:fillRect/>
          </a:stretch>
        </p:blipFill>
        <p:spPr>
          <a:xfrm>
            <a:off x="6024261" y="4000504"/>
            <a:ext cx="3119740" cy="2071702"/>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Follow workplace hygiene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b="1" dirty="0" smtClean="0">
                <a:latin typeface="Helvetica" pitchFamily="34" charset="0"/>
              </a:rPr>
              <a:t>Keep hair tied back</a:t>
            </a:r>
          </a:p>
          <a:p>
            <a:pPr marL="360000" indent="-360000">
              <a:spcBef>
                <a:spcPts val="1200"/>
              </a:spcBef>
              <a:spcAft>
                <a:spcPts val="1200"/>
              </a:spcAft>
            </a:pPr>
            <a:r>
              <a:rPr lang="en-US" sz="2200" b="1" dirty="0" smtClean="0">
                <a:latin typeface="Helvetica" pitchFamily="34" charset="0"/>
              </a:rPr>
              <a:t>Do not touch hair while working</a:t>
            </a:r>
          </a:p>
          <a:p>
            <a:pPr marL="360000" indent="-360000">
              <a:spcBef>
                <a:spcPts val="1200"/>
              </a:spcBef>
              <a:spcAft>
                <a:spcPts val="1200"/>
              </a:spcAft>
            </a:pPr>
            <a:r>
              <a:rPr lang="en-US" sz="2200" b="1" dirty="0" smtClean="0">
                <a:latin typeface="Helvetica" pitchFamily="34" charset="0"/>
              </a:rPr>
              <a:t>Keep fingernails short</a:t>
            </a:r>
          </a:p>
          <a:p>
            <a:pPr marL="360000" indent="-360000">
              <a:spcBef>
                <a:spcPts val="1200"/>
              </a:spcBef>
              <a:spcAft>
                <a:spcPts val="1200"/>
              </a:spcAft>
            </a:pPr>
            <a:r>
              <a:rPr lang="en-US" sz="2200" b="1" dirty="0" smtClean="0">
                <a:latin typeface="Helvetica" pitchFamily="34" charset="0"/>
              </a:rPr>
              <a:t>Wear disposable gloves</a:t>
            </a:r>
          </a:p>
          <a:p>
            <a:pPr marL="360000" indent="-360000">
              <a:spcBef>
                <a:spcPts val="1200"/>
              </a:spcBef>
              <a:spcAft>
                <a:spcPts val="1200"/>
              </a:spcAft>
            </a:pPr>
            <a:r>
              <a:rPr lang="en-US" sz="2200" b="1" dirty="0" smtClean="0">
                <a:latin typeface="Helvetica" pitchFamily="34" charset="0"/>
              </a:rPr>
              <a:t>Avoid nail polish and decorations.</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32</a:t>
            </a:fld>
            <a:endParaRPr lang="en-US" dirty="0"/>
          </a:p>
        </p:txBody>
      </p:sp>
      <p:pic>
        <p:nvPicPr>
          <p:cNvPr id="5" name="Picture 4" descr="Female chef.jpg"/>
          <p:cNvPicPr>
            <a:picLocks noChangeAspect="1"/>
          </p:cNvPicPr>
          <p:nvPr/>
        </p:nvPicPr>
        <p:blipFill>
          <a:blip r:embed="rId3" cstate="print"/>
          <a:stretch>
            <a:fillRect/>
          </a:stretch>
        </p:blipFill>
        <p:spPr>
          <a:xfrm>
            <a:off x="6357950" y="2071678"/>
            <a:ext cx="2002928" cy="3000854"/>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Follow workplace hygiene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Wear clean clothes when handling food:</a:t>
            </a:r>
          </a:p>
          <a:p>
            <a:pPr marL="360000" indent="-360000">
              <a:spcBef>
                <a:spcPts val="1200"/>
              </a:spcBef>
              <a:spcAft>
                <a:spcPts val="1200"/>
              </a:spcAft>
            </a:pPr>
            <a:r>
              <a:rPr lang="en-US" sz="2200" b="1" dirty="0" smtClean="0">
                <a:latin typeface="Helvetica" pitchFamily="34" charset="0"/>
              </a:rPr>
              <a:t>Clean clothes – every day</a:t>
            </a:r>
          </a:p>
          <a:p>
            <a:pPr marL="360000" indent="-360000">
              <a:spcBef>
                <a:spcPts val="1200"/>
              </a:spcBef>
              <a:spcAft>
                <a:spcPts val="1200"/>
              </a:spcAft>
            </a:pPr>
            <a:r>
              <a:rPr lang="en-US" sz="2200" b="1" dirty="0" smtClean="0">
                <a:latin typeface="Helvetica" pitchFamily="34" charset="0"/>
              </a:rPr>
              <a:t>Have a spare set of clothes at work</a:t>
            </a:r>
          </a:p>
          <a:p>
            <a:pPr marL="360000" indent="-360000">
              <a:spcBef>
                <a:spcPts val="1200"/>
              </a:spcBef>
              <a:spcAft>
                <a:spcPts val="1200"/>
              </a:spcAft>
            </a:pPr>
            <a:r>
              <a:rPr lang="en-US" sz="2200" b="1" dirty="0" smtClean="0">
                <a:latin typeface="Helvetica" pitchFamily="34" charset="0"/>
              </a:rPr>
              <a:t>Wear protective clothing.</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33</a:t>
            </a:fld>
            <a:endParaRPr lang="en-US" dirty="0"/>
          </a:p>
        </p:txBody>
      </p:sp>
      <p:pic>
        <p:nvPicPr>
          <p:cNvPr id="5" name="Picture 4" descr="Chef cutting vegie.jpg"/>
          <p:cNvPicPr>
            <a:picLocks noChangeAspect="1"/>
          </p:cNvPicPr>
          <p:nvPr/>
        </p:nvPicPr>
        <p:blipFill>
          <a:blip r:embed="rId3" cstate="print"/>
          <a:stretch>
            <a:fillRect/>
          </a:stretch>
        </p:blipFill>
        <p:spPr>
          <a:xfrm>
            <a:off x="5214942" y="3357562"/>
            <a:ext cx="3289385" cy="2195509"/>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Follow workplace hygiene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Cover cuts and sores with water-proof bandage:</a:t>
            </a:r>
          </a:p>
          <a:p>
            <a:pPr marL="360000" indent="-360000">
              <a:spcBef>
                <a:spcPts val="1200"/>
              </a:spcBef>
              <a:spcAft>
                <a:spcPts val="1200"/>
              </a:spcAft>
            </a:pPr>
            <a:r>
              <a:rPr lang="en-US" sz="2200" b="1" dirty="0" smtClean="0">
                <a:latin typeface="Helvetica" pitchFamily="34" charset="0"/>
              </a:rPr>
              <a:t>Use coloured band-aids</a:t>
            </a:r>
          </a:p>
          <a:p>
            <a:pPr marL="360000" indent="-360000">
              <a:spcBef>
                <a:spcPts val="1200"/>
              </a:spcBef>
              <a:spcAft>
                <a:spcPts val="1200"/>
              </a:spcAft>
            </a:pPr>
            <a:r>
              <a:rPr lang="en-US" sz="2200" b="1" dirty="0" smtClean="0">
                <a:latin typeface="Helvetica" pitchFamily="34" charset="0"/>
              </a:rPr>
              <a:t>Use a finger stall</a:t>
            </a:r>
          </a:p>
          <a:p>
            <a:pPr marL="360000" indent="-360000">
              <a:spcBef>
                <a:spcPts val="1200"/>
              </a:spcBef>
              <a:spcAft>
                <a:spcPts val="1200"/>
              </a:spcAft>
            </a:pPr>
            <a:r>
              <a:rPr lang="en-US" sz="2200" b="1" dirty="0" smtClean="0">
                <a:latin typeface="Helvetica" pitchFamily="34" charset="0"/>
              </a:rPr>
              <a:t>Put a disposable glove over </a:t>
            </a:r>
            <a:br>
              <a:rPr lang="en-US" sz="2200" b="1" dirty="0" smtClean="0">
                <a:latin typeface="Helvetica" pitchFamily="34" charset="0"/>
              </a:rPr>
            </a:br>
            <a:r>
              <a:rPr lang="en-US" sz="2200" b="1" dirty="0" smtClean="0">
                <a:latin typeface="Helvetica" pitchFamily="34" charset="0"/>
              </a:rPr>
              <a:t>the bandage.</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34</a:t>
            </a:fld>
            <a:endParaRPr lang="en-US" dirty="0"/>
          </a:p>
        </p:txBody>
      </p:sp>
      <p:pic>
        <p:nvPicPr>
          <p:cNvPr id="5" name="Picture 4" descr="coloured band-aids.jpg"/>
          <p:cNvPicPr>
            <a:picLocks noChangeAspect="1"/>
          </p:cNvPicPr>
          <p:nvPr/>
        </p:nvPicPr>
        <p:blipFill>
          <a:blip r:embed="rId3" cstate="print"/>
          <a:stretch>
            <a:fillRect/>
          </a:stretch>
        </p:blipFill>
        <p:spPr>
          <a:xfrm>
            <a:off x="5286380" y="2143116"/>
            <a:ext cx="2948017" cy="2939521"/>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Follow workplace hygiene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Always be alert to the potential for unsafe food handling practices in the workplace:</a:t>
            </a:r>
          </a:p>
          <a:p>
            <a:pPr marL="360000" indent="-360000">
              <a:spcBef>
                <a:spcPts val="1200"/>
              </a:spcBef>
              <a:spcAft>
                <a:spcPts val="1200"/>
              </a:spcAft>
            </a:pPr>
            <a:r>
              <a:rPr lang="en-US" sz="2200" b="1" dirty="0" smtClean="0">
                <a:latin typeface="Helvetica" pitchFamily="34" charset="0"/>
              </a:rPr>
              <a:t>Observe practices of others</a:t>
            </a:r>
          </a:p>
          <a:p>
            <a:pPr marL="360000" indent="-360000">
              <a:spcBef>
                <a:spcPts val="1200"/>
              </a:spcBef>
              <a:spcAft>
                <a:spcPts val="1200"/>
              </a:spcAft>
            </a:pPr>
            <a:r>
              <a:rPr lang="en-US" sz="2200" b="1" dirty="0" smtClean="0">
                <a:latin typeface="Helvetica" pitchFamily="34" charset="0"/>
              </a:rPr>
              <a:t>Inspect equipment, food, utensils and surfaces</a:t>
            </a:r>
          </a:p>
          <a:p>
            <a:pPr marL="360000" indent="-360000">
              <a:spcBef>
                <a:spcPts val="1200"/>
              </a:spcBef>
              <a:spcAft>
                <a:spcPts val="1200"/>
              </a:spcAft>
            </a:pPr>
            <a:r>
              <a:rPr lang="en-US" sz="2200" b="1" dirty="0" smtClean="0">
                <a:latin typeface="Helvetica" pitchFamily="34" charset="0"/>
              </a:rPr>
              <a:t>Review food safety records.</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35</a:t>
            </a:fld>
            <a:endParaRPr lang="en-US" dirty="0"/>
          </a:p>
        </p:txBody>
      </p:sp>
      <p:pic>
        <p:nvPicPr>
          <p:cNvPr id="5" name="Picture 4" descr="chefs.jpg"/>
          <p:cNvPicPr>
            <a:picLocks noChangeAspect="1"/>
          </p:cNvPicPr>
          <p:nvPr/>
        </p:nvPicPr>
        <p:blipFill>
          <a:blip r:embed="rId3" cstate="print"/>
          <a:stretch>
            <a:fillRect/>
          </a:stretch>
        </p:blipFill>
        <p:spPr>
          <a:xfrm>
            <a:off x="5429256" y="3714752"/>
            <a:ext cx="3390813" cy="2258334"/>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Follow workplace hygiene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If you identify unsafe food handling practices in the workplace:</a:t>
            </a:r>
          </a:p>
          <a:p>
            <a:pPr marL="360000" indent="-360000">
              <a:spcBef>
                <a:spcPts val="1200"/>
              </a:spcBef>
              <a:spcAft>
                <a:spcPts val="1200"/>
              </a:spcAft>
            </a:pPr>
            <a:r>
              <a:rPr lang="en-US" sz="2200" b="1" dirty="0" smtClean="0">
                <a:latin typeface="Helvetica" pitchFamily="34" charset="0"/>
              </a:rPr>
              <a:t>Act quickly to report them</a:t>
            </a:r>
          </a:p>
          <a:p>
            <a:pPr marL="360000" indent="-360000">
              <a:spcBef>
                <a:spcPts val="1200"/>
              </a:spcBef>
              <a:spcAft>
                <a:spcPts val="1200"/>
              </a:spcAft>
            </a:pPr>
            <a:r>
              <a:rPr lang="en-US" sz="2200" b="1" dirty="0" smtClean="0">
                <a:latin typeface="Helvetica" pitchFamily="34" charset="0"/>
              </a:rPr>
              <a:t>Report verbally, face-to-face or via the telephone.</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36</a:t>
            </a:fld>
            <a:endParaRPr lang="en-US" dirty="0"/>
          </a:p>
        </p:txBody>
      </p:sp>
      <p:pic>
        <p:nvPicPr>
          <p:cNvPr id="5" name="Picture 4" descr="Culinary_Academy_004.jpg"/>
          <p:cNvPicPr>
            <a:picLocks noChangeAspect="1"/>
          </p:cNvPicPr>
          <p:nvPr/>
        </p:nvPicPr>
        <p:blipFill>
          <a:blip r:embed="rId3" cstate="print"/>
          <a:stretch>
            <a:fillRect/>
          </a:stretch>
        </p:blipFill>
        <p:spPr>
          <a:xfrm>
            <a:off x="4786314" y="3786190"/>
            <a:ext cx="3577296" cy="2375548"/>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Follow workplace hygiene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Reports may be made to:</a:t>
            </a:r>
          </a:p>
          <a:p>
            <a:pPr marL="360000" indent="-360000">
              <a:spcBef>
                <a:spcPts val="1200"/>
              </a:spcBef>
              <a:spcAft>
                <a:spcPts val="1200"/>
              </a:spcAft>
            </a:pPr>
            <a:r>
              <a:rPr lang="en-US" sz="2200" b="1" dirty="0" smtClean="0">
                <a:latin typeface="Helvetica" pitchFamily="34" charset="0"/>
              </a:rPr>
              <a:t>Management</a:t>
            </a:r>
          </a:p>
          <a:p>
            <a:pPr marL="360000" indent="-360000">
              <a:spcBef>
                <a:spcPts val="1200"/>
              </a:spcBef>
              <a:spcAft>
                <a:spcPts val="1200"/>
              </a:spcAft>
            </a:pPr>
            <a:r>
              <a:rPr lang="en-US" sz="2200" b="1" dirty="0" smtClean="0">
                <a:latin typeface="Helvetica" pitchFamily="34" charset="0"/>
              </a:rPr>
              <a:t>Relevant staff</a:t>
            </a:r>
          </a:p>
          <a:p>
            <a:pPr marL="360000" indent="-360000">
              <a:spcBef>
                <a:spcPts val="1200"/>
              </a:spcBef>
              <a:spcAft>
                <a:spcPts val="1200"/>
              </a:spcAft>
            </a:pPr>
            <a:r>
              <a:rPr lang="en-US" sz="2200" b="1" dirty="0" smtClean="0">
                <a:latin typeface="Helvetica" pitchFamily="34" charset="0"/>
              </a:rPr>
              <a:t>Customers – if food </a:t>
            </a:r>
            <a:br>
              <a:rPr lang="en-US" sz="2200" b="1" dirty="0" smtClean="0">
                <a:latin typeface="Helvetica" pitchFamily="34" charset="0"/>
              </a:rPr>
            </a:br>
            <a:r>
              <a:rPr lang="en-US" sz="2200" b="1" dirty="0" smtClean="0">
                <a:latin typeface="Helvetica" pitchFamily="34" charset="0"/>
              </a:rPr>
              <a:t>recall necessary</a:t>
            </a:r>
          </a:p>
          <a:p>
            <a:pPr marL="360000" indent="-360000">
              <a:spcBef>
                <a:spcPts val="1200"/>
              </a:spcBef>
              <a:spcAft>
                <a:spcPts val="1200"/>
              </a:spcAft>
            </a:pPr>
            <a:r>
              <a:rPr lang="en-US" sz="2200" b="1" dirty="0" smtClean="0">
                <a:latin typeface="Helvetica" pitchFamily="34" charset="0"/>
              </a:rPr>
              <a:t>Local health authorities – </a:t>
            </a:r>
            <a:br>
              <a:rPr lang="en-US" sz="2200" b="1" dirty="0" smtClean="0">
                <a:latin typeface="Helvetica" pitchFamily="34" charset="0"/>
              </a:rPr>
            </a:br>
            <a:r>
              <a:rPr lang="en-US" sz="2200" b="1" dirty="0" smtClean="0">
                <a:latin typeface="Helvetica" pitchFamily="34" charset="0"/>
              </a:rPr>
              <a:t>if food recall necessary.</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37</a:t>
            </a:fld>
            <a:endParaRPr lang="en-US" dirty="0"/>
          </a:p>
        </p:txBody>
      </p:sp>
      <p:pic>
        <p:nvPicPr>
          <p:cNvPr id="5" name="Picture 4" descr="35251.jpg"/>
          <p:cNvPicPr>
            <a:picLocks noChangeAspect="1"/>
          </p:cNvPicPr>
          <p:nvPr/>
        </p:nvPicPr>
        <p:blipFill>
          <a:blip r:embed="rId3" cstate="print"/>
          <a:stretch>
            <a:fillRect/>
          </a:stretch>
        </p:blipFill>
        <p:spPr>
          <a:xfrm>
            <a:off x="4714876" y="2928934"/>
            <a:ext cx="3871174" cy="2721918"/>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Follow workplace hygiene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When reporting unsafe food handling practices:</a:t>
            </a:r>
          </a:p>
          <a:p>
            <a:pPr marL="360000" indent="-360000">
              <a:spcBef>
                <a:spcPts val="1200"/>
              </a:spcBef>
              <a:spcAft>
                <a:spcPts val="1200"/>
              </a:spcAft>
            </a:pPr>
            <a:r>
              <a:rPr lang="en-US" sz="2200" b="1" dirty="0" smtClean="0">
                <a:latin typeface="Helvetica" pitchFamily="34" charset="0"/>
              </a:rPr>
              <a:t>Identify the food involved</a:t>
            </a:r>
          </a:p>
          <a:p>
            <a:pPr marL="360000" indent="-360000">
              <a:spcBef>
                <a:spcPts val="1200"/>
              </a:spcBef>
              <a:spcAft>
                <a:spcPts val="1200"/>
              </a:spcAft>
            </a:pPr>
            <a:r>
              <a:rPr lang="en-US" sz="2200" b="1" dirty="0" smtClean="0">
                <a:latin typeface="Helvetica" pitchFamily="34" charset="0"/>
              </a:rPr>
              <a:t>Name those involved</a:t>
            </a:r>
          </a:p>
          <a:p>
            <a:pPr marL="360000" indent="-360000">
              <a:spcBef>
                <a:spcPts val="1200"/>
              </a:spcBef>
              <a:spcAft>
                <a:spcPts val="1200"/>
              </a:spcAft>
            </a:pPr>
            <a:r>
              <a:rPr lang="en-US" sz="2200" b="1" dirty="0" smtClean="0">
                <a:latin typeface="Helvetica" pitchFamily="34" charset="0"/>
              </a:rPr>
              <a:t>Advise of action already taken in the immediate short-term</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38</a:t>
            </a:fld>
            <a:endParaRPr lang="en-US" dirty="0"/>
          </a:p>
        </p:txBody>
      </p:sp>
      <p:pic>
        <p:nvPicPr>
          <p:cNvPr id="5" name="Picture 4" descr="front of house.jpg"/>
          <p:cNvPicPr>
            <a:picLocks noChangeAspect="1"/>
          </p:cNvPicPr>
          <p:nvPr/>
        </p:nvPicPr>
        <p:blipFill>
          <a:blip r:embed="rId3" cstate="print"/>
          <a:stretch>
            <a:fillRect/>
          </a:stretch>
        </p:blipFill>
        <p:spPr>
          <a:xfrm>
            <a:off x="6143636" y="4041134"/>
            <a:ext cx="2786082" cy="1938648"/>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Follow workplace hygiene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571612"/>
            <a:ext cx="7467600" cy="4525963"/>
          </a:xfrm>
        </p:spPr>
        <p:txBody>
          <a:bodyPr>
            <a:normAutofit/>
          </a:bodyPr>
          <a:lstStyle/>
          <a:p>
            <a:pPr marL="360000" indent="-360000">
              <a:spcBef>
                <a:spcPts val="1200"/>
              </a:spcBef>
              <a:spcAft>
                <a:spcPts val="1200"/>
              </a:spcAft>
            </a:pPr>
            <a:r>
              <a:rPr lang="en-US" sz="2200" b="1" dirty="0" smtClean="0">
                <a:latin typeface="Helvetica" pitchFamily="34" charset="0"/>
              </a:rPr>
              <a:t>Recommend remedial action</a:t>
            </a:r>
          </a:p>
          <a:p>
            <a:pPr marL="360000" indent="-360000">
              <a:spcBef>
                <a:spcPts val="1200"/>
              </a:spcBef>
              <a:spcAft>
                <a:spcPts val="1200"/>
              </a:spcAft>
            </a:pPr>
            <a:r>
              <a:rPr lang="en-US" sz="2200" b="1" dirty="0" smtClean="0">
                <a:latin typeface="Helvetica" pitchFamily="34" charset="0"/>
              </a:rPr>
              <a:t>Identify cause of problem – if known</a:t>
            </a:r>
          </a:p>
          <a:p>
            <a:pPr marL="360000" indent="-360000">
              <a:spcBef>
                <a:spcPts val="1200"/>
              </a:spcBef>
              <a:spcAft>
                <a:spcPts val="1200"/>
              </a:spcAft>
            </a:pPr>
            <a:r>
              <a:rPr lang="en-US" sz="2200" b="1" dirty="0" smtClean="0">
                <a:latin typeface="Helvetica" pitchFamily="34" charset="0"/>
              </a:rPr>
              <a:t>Suggest action to prevent recurrence.</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39</a:t>
            </a:fld>
            <a:endParaRPr lang="en-US" dirty="0"/>
          </a:p>
        </p:txBody>
      </p:sp>
      <p:pic>
        <p:nvPicPr>
          <p:cNvPr id="5" name="Picture 4" descr="KitchenHygienCCCarmen_Seaby.jpg"/>
          <p:cNvPicPr>
            <a:picLocks noChangeAspect="1"/>
          </p:cNvPicPr>
          <p:nvPr/>
        </p:nvPicPr>
        <p:blipFill>
          <a:blip r:embed="rId3" cstate="print"/>
          <a:stretch>
            <a:fillRect/>
          </a:stretch>
        </p:blipFill>
        <p:spPr>
          <a:xfrm>
            <a:off x="5429256" y="3429000"/>
            <a:ext cx="3048000" cy="22098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Receive, handle and store food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When taking delivery of food:</a:t>
            </a:r>
          </a:p>
          <a:p>
            <a:pPr marL="360000" indent="-360000">
              <a:spcBef>
                <a:spcPts val="1200"/>
              </a:spcBef>
              <a:spcAft>
                <a:spcPts val="1200"/>
              </a:spcAft>
            </a:pPr>
            <a:r>
              <a:rPr lang="en-US" sz="2200" b="1" dirty="0" smtClean="0">
                <a:latin typeface="Helvetica" pitchFamily="34" charset="0"/>
              </a:rPr>
              <a:t>Inspect all deliveries</a:t>
            </a:r>
          </a:p>
          <a:p>
            <a:pPr marL="720000" indent="-360000">
              <a:spcBef>
                <a:spcPts val="12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Free from visible contamination</a:t>
            </a:r>
          </a:p>
          <a:p>
            <a:pPr marL="720000" indent="-360000">
              <a:spcBef>
                <a:spcPts val="12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No pests</a:t>
            </a:r>
          </a:p>
          <a:p>
            <a:pPr marL="720000" indent="-360000">
              <a:spcBef>
                <a:spcPts val="12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Use-by dates are OK</a:t>
            </a:r>
          </a:p>
          <a:p>
            <a:pPr marL="360000" indent="-360000">
              <a:spcBef>
                <a:spcPts val="1200"/>
              </a:spcBef>
              <a:spcAft>
                <a:spcPts val="1200"/>
              </a:spcAft>
            </a:pPr>
            <a:r>
              <a:rPr lang="en-US" sz="2200" b="1" dirty="0" smtClean="0">
                <a:latin typeface="Helvetica" pitchFamily="34" charset="0"/>
              </a:rPr>
              <a:t>Compare food to specifications (where used)</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40</a:t>
            </a:fld>
            <a:endParaRPr lang="en-US" dirty="0"/>
          </a:p>
        </p:txBody>
      </p:sp>
      <p:pic>
        <p:nvPicPr>
          <p:cNvPr id="7170" name="Picture 2" descr="C:\Users\fgvghyujil\AppData\Local\Microsoft\Windows\Temporary Internet Files\Content.IE5\TU1ZREEW\MC900205506[1].wmf"/>
          <p:cNvPicPr>
            <a:picLocks noChangeAspect="1" noChangeArrowheads="1"/>
          </p:cNvPicPr>
          <p:nvPr/>
        </p:nvPicPr>
        <p:blipFill>
          <a:blip r:embed="rId3" cstate="print"/>
          <a:srcRect/>
          <a:stretch>
            <a:fillRect/>
          </a:stretch>
        </p:blipFill>
        <p:spPr bwMode="auto">
          <a:xfrm>
            <a:off x="6286512" y="2214554"/>
            <a:ext cx="2072757" cy="2071702"/>
          </a:xfrm>
          <a:prstGeom prst="rect">
            <a:avLst/>
          </a:prstGeom>
          <a:noFill/>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Receive, handle and store food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b="1" dirty="0" smtClean="0">
                <a:latin typeface="Helvetica" pitchFamily="34" charset="0"/>
              </a:rPr>
              <a:t>Inspect the food delivery vehicle</a:t>
            </a:r>
          </a:p>
          <a:p>
            <a:pPr marL="360000" indent="-360000">
              <a:spcBef>
                <a:spcPts val="1200"/>
              </a:spcBef>
              <a:spcAft>
                <a:spcPts val="1200"/>
              </a:spcAft>
            </a:pPr>
            <a:r>
              <a:rPr lang="en-US" sz="2200" b="1" dirty="0" smtClean="0">
                <a:latin typeface="Helvetica" pitchFamily="34" charset="0"/>
              </a:rPr>
              <a:t>Check practices of the delivery driver</a:t>
            </a:r>
          </a:p>
          <a:p>
            <a:pPr marL="360000" indent="-360000">
              <a:spcBef>
                <a:spcPts val="1200"/>
              </a:spcBef>
              <a:spcAft>
                <a:spcPts val="1200"/>
              </a:spcAft>
            </a:pPr>
            <a:r>
              <a:rPr lang="en-US" sz="2200" b="1" dirty="0" smtClean="0">
                <a:latin typeface="Helvetica" pitchFamily="34" charset="0"/>
              </a:rPr>
              <a:t>Check food temperatures are correct:</a:t>
            </a:r>
          </a:p>
          <a:p>
            <a:pPr marL="720000" indent="-360000">
              <a:spcBef>
                <a:spcPts val="12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Hot high risk food at 60</a:t>
            </a:r>
            <a:r>
              <a:rPr lang="en-AU" sz="2200" b="1" dirty="0" smtClean="0">
                <a:latin typeface="Helvetica" pitchFamily="34" charset="0"/>
              </a:rPr>
              <a:t>°C or above</a:t>
            </a:r>
          </a:p>
          <a:p>
            <a:pPr marL="720000" indent="-360000">
              <a:spcBef>
                <a:spcPts val="1200"/>
              </a:spcBef>
              <a:spcAft>
                <a:spcPts val="1200"/>
              </a:spcAft>
              <a:buClr>
                <a:schemeClr val="accent1">
                  <a:lumMod val="75000"/>
                </a:schemeClr>
              </a:buClr>
              <a:buSzPct val="100000"/>
              <a:buFont typeface="Arial" pitchFamily="34" charset="0"/>
              <a:buChar char="•"/>
            </a:pPr>
            <a:r>
              <a:rPr lang="en-AU" sz="2200" b="1" dirty="0" smtClean="0">
                <a:latin typeface="Helvetica" pitchFamily="34" charset="0"/>
              </a:rPr>
              <a:t>Cold high risk food at 5°C or below</a:t>
            </a:r>
          </a:p>
          <a:p>
            <a:pPr marL="720000" indent="-360000">
              <a:spcBef>
                <a:spcPts val="1200"/>
              </a:spcBef>
              <a:spcAft>
                <a:spcPts val="1200"/>
              </a:spcAft>
              <a:buClr>
                <a:schemeClr val="accent1">
                  <a:lumMod val="75000"/>
                </a:schemeClr>
              </a:buClr>
              <a:buSzPct val="100000"/>
              <a:buFont typeface="Arial" pitchFamily="34" charset="0"/>
              <a:buChar char="•"/>
            </a:pPr>
            <a:r>
              <a:rPr lang="en-AU" sz="2200" b="1" dirty="0" smtClean="0">
                <a:latin typeface="Helvetica" pitchFamily="34" charset="0"/>
              </a:rPr>
              <a:t>Frozen food is hard frozen</a:t>
            </a:r>
            <a:endParaRPr lang="en-US" sz="2200" b="1" dirty="0" smtClean="0">
              <a:latin typeface="Helvetica" pitchFamily="34" charset="0"/>
            </a:endParaRP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41</a:t>
            </a:fld>
            <a:endParaRPr lang="en-US" dirty="0"/>
          </a:p>
        </p:txBody>
      </p:sp>
      <p:pic>
        <p:nvPicPr>
          <p:cNvPr id="2051" name="Picture 3" descr="C:\Users\fgvghyujil\AppData\Local\Microsoft\Windows\Temporary Internet Files\Content.IE5\3J5365UD\MC900232513[1].wmf"/>
          <p:cNvPicPr>
            <a:picLocks noChangeAspect="1" noChangeArrowheads="1"/>
          </p:cNvPicPr>
          <p:nvPr/>
        </p:nvPicPr>
        <p:blipFill>
          <a:blip r:embed="rId3" cstate="print"/>
          <a:srcRect/>
          <a:stretch>
            <a:fillRect/>
          </a:stretch>
        </p:blipFill>
        <p:spPr bwMode="auto">
          <a:xfrm>
            <a:off x="6143636" y="2786058"/>
            <a:ext cx="2857520" cy="2630673"/>
          </a:xfrm>
          <a:prstGeom prst="rect">
            <a:avLst/>
          </a:prstGeom>
          <a:noFill/>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Receive, handle and store food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b="1" dirty="0" smtClean="0">
                <a:latin typeface="Helvetica" pitchFamily="34" charset="0"/>
              </a:rPr>
              <a:t>Verify all packaged food is properly labelled</a:t>
            </a:r>
          </a:p>
          <a:p>
            <a:pPr marL="360000" indent="-360000">
              <a:spcBef>
                <a:spcPts val="1200"/>
              </a:spcBef>
              <a:spcAft>
                <a:spcPts val="1200"/>
              </a:spcAft>
            </a:pPr>
            <a:r>
              <a:rPr lang="en-US" sz="2200" b="1" dirty="0" smtClean="0">
                <a:latin typeface="Helvetica" pitchFamily="34" charset="0"/>
              </a:rPr>
              <a:t>Store deliveries as soon as possible.</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42</a:t>
            </a:fld>
            <a:endParaRPr lang="en-US" dirty="0"/>
          </a:p>
        </p:txBody>
      </p:sp>
      <p:pic>
        <p:nvPicPr>
          <p:cNvPr id="3076" name="Picture 4" descr="C:\Users\fgvghyujil\AppData\Local\Microsoft\Windows\Temporary Internet Files\Content.IE5\3J5365UD\MC900237543[1].wmf"/>
          <p:cNvPicPr>
            <a:picLocks noChangeAspect="1" noChangeArrowheads="1"/>
          </p:cNvPicPr>
          <p:nvPr/>
        </p:nvPicPr>
        <p:blipFill>
          <a:blip r:embed="rId3" cstate="print"/>
          <a:srcRect/>
          <a:stretch>
            <a:fillRect/>
          </a:stretch>
        </p:blipFill>
        <p:spPr bwMode="auto">
          <a:xfrm>
            <a:off x="6072198" y="2071678"/>
            <a:ext cx="2405204" cy="3221525"/>
          </a:xfrm>
          <a:prstGeom prst="rect">
            <a:avLst/>
          </a:prstGeom>
          <a:noFill/>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Receive, handle and store food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Safe food handling requirements include:</a:t>
            </a:r>
          </a:p>
          <a:p>
            <a:pPr marL="360000" indent="-360000">
              <a:spcBef>
                <a:spcPts val="1200"/>
              </a:spcBef>
              <a:spcAft>
                <a:spcPts val="1200"/>
              </a:spcAft>
            </a:pPr>
            <a:r>
              <a:rPr lang="en-US" sz="2200" b="1" dirty="0" smtClean="0">
                <a:latin typeface="Helvetica" pitchFamily="34" charset="0"/>
              </a:rPr>
              <a:t>Ensuring only safe and suitable food is processed</a:t>
            </a:r>
          </a:p>
          <a:p>
            <a:pPr marL="360000" indent="-360000">
              <a:spcBef>
                <a:spcPts val="1200"/>
              </a:spcBef>
              <a:spcAft>
                <a:spcPts val="1200"/>
              </a:spcAft>
            </a:pPr>
            <a:r>
              <a:rPr lang="en-US" sz="2200" b="1" dirty="0" smtClean="0">
                <a:latin typeface="Helvetica" pitchFamily="34" charset="0"/>
              </a:rPr>
              <a:t>Protecting food while it is being prepared</a:t>
            </a:r>
          </a:p>
          <a:p>
            <a:pPr marL="360000" indent="-360000">
              <a:spcBef>
                <a:spcPts val="1200"/>
              </a:spcBef>
              <a:spcAft>
                <a:spcPts val="1200"/>
              </a:spcAft>
            </a:pPr>
            <a:r>
              <a:rPr lang="en-US" sz="2200" b="1" dirty="0" smtClean="0">
                <a:latin typeface="Helvetica" pitchFamily="34" charset="0"/>
              </a:rPr>
              <a:t>Washing fruit and vegetables in </a:t>
            </a:r>
            <a:br>
              <a:rPr lang="en-US" sz="2200" b="1" dirty="0" smtClean="0">
                <a:latin typeface="Helvetica" pitchFamily="34" charset="0"/>
              </a:rPr>
            </a:br>
            <a:r>
              <a:rPr lang="en-US" sz="2200" b="1" dirty="0" err="1" smtClean="0">
                <a:latin typeface="Helvetica" pitchFamily="34" charset="0"/>
              </a:rPr>
              <a:t>sanitising</a:t>
            </a:r>
            <a:r>
              <a:rPr lang="en-US" sz="2200" b="1" dirty="0" smtClean="0">
                <a:latin typeface="Helvetica" pitchFamily="34" charset="0"/>
              </a:rPr>
              <a:t> solution</a:t>
            </a:r>
          </a:p>
          <a:p>
            <a:pPr marL="360000" indent="-360000">
              <a:spcBef>
                <a:spcPts val="1200"/>
              </a:spcBef>
              <a:spcAft>
                <a:spcPts val="1200"/>
              </a:spcAft>
            </a:pPr>
            <a:r>
              <a:rPr lang="en-US" sz="2200" b="1" dirty="0" smtClean="0">
                <a:latin typeface="Helvetica" pitchFamily="34" charset="0"/>
              </a:rPr>
              <a:t>Excluding unhealthy workers from food </a:t>
            </a:r>
            <a:br>
              <a:rPr lang="en-US" sz="2200" b="1" dirty="0" smtClean="0">
                <a:latin typeface="Helvetica" pitchFamily="34" charset="0"/>
              </a:rPr>
            </a:br>
            <a:r>
              <a:rPr lang="en-US" sz="2200" b="1" dirty="0" smtClean="0">
                <a:latin typeface="Helvetica" pitchFamily="34" charset="0"/>
              </a:rPr>
              <a:t>handling duties</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43</a:t>
            </a:fld>
            <a:endParaRPr lang="en-US" dirty="0"/>
          </a:p>
        </p:txBody>
      </p:sp>
      <p:pic>
        <p:nvPicPr>
          <p:cNvPr id="5" name="Picture 4" descr="Vegie.jpg"/>
          <p:cNvPicPr>
            <a:picLocks noChangeAspect="1"/>
          </p:cNvPicPr>
          <p:nvPr/>
        </p:nvPicPr>
        <p:blipFill>
          <a:blip r:embed="rId3" cstate="print"/>
          <a:stretch>
            <a:fillRect/>
          </a:stretch>
        </p:blipFill>
        <p:spPr>
          <a:xfrm>
            <a:off x="6680620" y="2714620"/>
            <a:ext cx="2463380" cy="214314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Receive, handle and store food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b="1" dirty="0" smtClean="0">
                <a:latin typeface="Helvetica" pitchFamily="34" charset="0"/>
              </a:rPr>
              <a:t>Using clean equipment that is working properly</a:t>
            </a:r>
          </a:p>
          <a:p>
            <a:pPr marL="360000" indent="-360000">
              <a:spcBef>
                <a:spcPts val="1200"/>
              </a:spcBef>
              <a:spcAft>
                <a:spcPts val="1200"/>
              </a:spcAft>
            </a:pPr>
            <a:r>
              <a:rPr lang="en-US" sz="2200" b="1" dirty="0" smtClean="0">
                <a:latin typeface="Helvetica" pitchFamily="34" charset="0"/>
              </a:rPr>
              <a:t>Keeping chemicals separate from food</a:t>
            </a:r>
          </a:p>
          <a:p>
            <a:pPr marL="360000" indent="-360000">
              <a:spcBef>
                <a:spcPts val="1200"/>
              </a:spcBef>
              <a:spcAft>
                <a:spcPts val="1200"/>
              </a:spcAft>
            </a:pPr>
            <a:r>
              <a:rPr lang="en-US" sz="2200" b="1" dirty="0" smtClean="0">
                <a:latin typeface="Helvetica" pitchFamily="34" charset="0"/>
              </a:rPr>
              <a:t>Not mixing batches of food</a:t>
            </a:r>
          </a:p>
          <a:p>
            <a:pPr marL="360000" indent="-360000">
              <a:spcBef>
                <a:spcPts val="1200"/>
              </a:spcBef>
              <a:spcAft>
                <a:spcPts val="1200"/>
              </a:spcAft>
            </a:pPr>
            <a:r>
              <a:rPr lang="en-US" sz="2200" b="1" dirty="0" smtClean="0">
                <a:latin typeface="Helvetica" pitchFamily="34" charset="0"/>
              </a:rPr>
              <a:t>Not touching food or food surfaces </a:t>
            </a:r>
            <a:br>
              <a:rPr lang="en-US" sz="2200" b="1" dirty="0" smtClean="0">
                <a:latin typeface="Helvetica" pitchFamily="34" charset="0"/>
              </a:rPr>
            </a:br>
            <a:r>
              <a:rPr lang="en-US" sz="2200" b="1" dirty="0" smtClean="0">
                <a:latin typeface="Helvetica" pitchFamily="34" charset="0"/>
              </a:rPr>
              <a:t>with bare hands</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44</a:t>
            </a:fld>
            <a:endParaRPr lang="en-US" dirty="0"/>
          </a:p>
        </p:txBody>
      </p:sp>
      <p:pic>
        <p:nvPicPr>
          <p:cNvPr id="5" name="Picture 4" descr="foodtechnology.jpg"/>
          <p:cNvPicPr>
            <a:picLocks noChangeAspect="1"/>
          </p:cNvPicPr>
          <p:nvPr/>
        </p:nvPicPr>
        <p:blipFill>
          <a:blip r:embed="rId3" cstate="print"/>
          <a:stretch>
            <a:fillRect/>
          </a:stretch>
        </p:blipFill>
        <p:spPr>
          <a:xfrm>
            <a:off x="7019913" y="2571744"/>
            <a:ext cx="2124087" cy="3161432"/>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Receive, handle and store food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b="1" dirty="0" smtClean="0">
                <a:latin typeface="Helvetica" pitchFamily="34" charset="0"/>
              </a:rPr>
              <a:t>Using colour-coded chopping boards</a:t>
            </a:r>
          </a:p>
          <a:p>
            <a:pPr marL="360000" indent="-360000">
              <a:spcBef>
                <a:spcPts val="1200"/>
              </a:spcBef>
              <a:spcAft>
                <a:spcPts val="1200"/>
              </a:spcAft>
            </a:pPr>
            <a:r>
              <a:rPr lang="en-US" sz="2200" b="1" dirty="0" smtClean="0">
                <a:latin typeface="Helvetica" pitchFamily="34" charset="0"/>
              </a:rPr>
              <a:t>Clean chopping boards properly after use – then sanitise</a:t>
            </a:r>
          </a:p>
          <a:p>
            <a:pPr marL="360000" indent="-360000">
              <a:spcBef>
                <a:spcPts val="1200"/>
              </a:spcBef>
              <a:spcAft>
                <a:spcPts val="1200"/>
              </a:spcAft>
            </a:pPr>
            <a:r>
              <a:rPr lang="en-US" sz="2200" b="1" dirty="0" smtClean="0">
                <a:latin typeface="Helvetica" pitchFamily="34" charset="0"/>
              </a:rPr>
              <a:t>Avoid wooden chopping boards if </a:t>
            </a:r>
            <a:br>
              <a:rPr lang="en-US" sz="2200" b="1" dirty="0" smtClean="0">
                <a:latin typeface="Helvetica" pitchFamily="34" charset="0"/>
              </a:rPr>
            </a:br>
            <a:r>
              <a:rPr lang="en-US" sz="2200" b="1" dirty="0" smtClean="0">
                <a:latin typeface="Helvetica" pitchFamily="34" charset="0"/>
              </a:rPr>
              <a:t>possible</a:t>
            </a:r>
          </a:p>
          <a:p>
            <a:pPr marL="360000" indent="-360000">
              <a:spcBef>
                <a:spcPts val="1200"/>
              </a:spcBef>
              <a:spcAft>
                <a:spcPts val="1200"/>
              </a:spcAft>
            </a:pPr>
            <a:r>
              <a:rPr lang="en-US" sz="2200" b="1" dirty="0" smtClean="0">
                <a:latin typeface="Helvetica" pitchFamily="34" charset="0"/>
              </a:rPr>
              <a:t>Replace chopping boards regularly</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45</a:t>
            </a:fld>
            <a:endParaRPr lang="en-US" dirty="0"/>
          </a:p>
        </p:txBody>
      </p:sp>
      <p:pic>
        <p:nvPicPr>
          <p:cNvPr id="5" name="Picture 4" descr="colour-coded chopping boards.jpg"/>
          <p:cNvPicPr>
            <a:picLocks noChangeAspect="1"/>
          </p:cNvPicPr>
          <p:nvPr/>
        </p:nvPicPr>
        <p:blipFill>
          <a:blip r:embed="rId3" cstate="print"/>
          <a:stretch>
            <a:fillRect/>
          </a:stretch>
        </p:blipFill>
        <p:spPr>
          <a:xfrm>
            <a:off x="5929322" y="2643182"/>
            <a:ext cx="2366986" cy="2440191"/>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Receive, handle and store food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b="1" dirty="0" smtClean="0">
                <a:latin typeface="Helvetica" pitchFamily="34" charset="0"/>
              </a:rPr>
              <a:t>Throwing out any food dropped on the floor</a:t>
            </a:r>
          </a:p>
          <a:p>
            <a:pPr marL="360000" indent="-360000">
              <a:spcBef>
                <a:spcPts val="1200"/>
              </a:spcBef>
              <a:spcAft>
                <a:spcPts val="1200"/>
              </a:spcAft>
            </a:pPr>
            <a:r>
              <a:rPr lang="en-US" sz="2200" b="1" dirty="0" smtClean="0">
                <a:latin typeface="Helvetica" pitchFamily="34" charset="0"/>
              </a:rPr>
              <a:t>Washing and sanitising utensils dropped on the floor</a:t>
            </a:r>
          </a:p>
          <a:p>
            <a:pPr marL="360000" indent="-360000">
              <a:spcBef>
                <a:spcPts val="1200"/>
              </a:spcBef>
              <a:spcAft>
                <a:spcPts val="1200"/>
              </a:spcAft>
            </a:pPr>
            <a:r>
              <a:rPr lang="en-US" sz="2200" b="1" dirty="0" smtClean="0">
                <a:latin typeface="Helvetica" pitchFamily="34" charset="0"/>
              </a:rPr>
              <a:t>Not coughing or sneezing over food or food surfaces</a:t>
            </a:r>
          </a:p>
          <a:p>
            <a:pPr marL="360000" indent="-360000">
              <a:spcBef>
                <a:spcPts val="1200"/>
              </a:spcBef>
              <a:spcAft>
                <a:spcPts val="1200"/>
              </a:spcAft>
            </a:pPr>
            <a:r>
              <a:rPr lang="en-US" sz="2200" b="1" dirty="0" smtClean="0">
                <a:latin typeface="Helvetica" pitchFamily="34" charset="0"/>
              </a:rPr>
              <a:t>Using a tasting spoon to </a:t>
            </a:r>
            <a:br>
              <a:rPr lang="en-US" sz="2200" b="1" dirty="0" smtClean="0">
                <a:latin typeface="Helvetica" pitchFamily="34" charset="0"/>
              </a:rPr>
            </a:br>
            <a:r>
              <a:rPr lang="en-US" sz="2200" b="1" dirty="0" smtClean="0">
                <a:latin typeface="Helvetica" pitchFamily="34" charset="0"/>
              </a:rPr>
              <a:t>taste food.</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46</a:t>
            </a:fld>
            <a:endParaRPr lang="en-US" dirty="0"/>
          </a:p>
        </p:txBody>
      </p:sp>
      <p:pic>
        <p:nvPicPr>
          <p:cNvPr id="7" name="Picture 6" descr="dsc_0005.jpg"/>
          <p:cNvPicPr>
            <a:picLocks noChangeAspect="1"/>
          </p:cNvPicPr>
          <p:nvPr/>
        </p:nvPicPr>
        <p:blipFill>
          <a:blip r:embed="rId3" cstate="print"/>
          <a:stretch>
            <a:fillRect/>
          </a:stretch>
        </p:blipFill>
        <p:spPr>
          <a:xfrm>
            <a:off x="5143504" y="3786190"/>
            <a:ext cx="3600097" cy="2396315"/>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Receive, handle and store food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44042"/>
          </a:xfrm>
        </p:spPr>
        <p:txBody>
          <a:bodyPr>
            <a:noAutofit/>
          </a:bodyPr>
          <a:lstStyle/>
          <a:p>
            <a:pPr marL="0" indent="0">
              <a:spcBef>
                <a:spcPts val="600"/>
              </a:spcBef>
              <a:spcAft>
                <a:spcPts val="1200"/>
              </a:spcAft>
              <a:buNone/>
            </a:pPr>
            <a:r>
              <a:rPr lang="en-US" sz="2200" b="1" dirty="0" smtClean="0">
                <a:latin typeface="Helvetica" pitchFamily="34" charset="0"/>
              </a:rPr>
              <a:t>Frozen food must be thawed fully before use:</a:t>
            </a:r>
          </a:p>
          <a:p>
            <a:pPr marL="360000" indent="-360000">
              <a:spcBef>
                <a:spcPts val="600"/>
              </a:spcBef>
              <a:spcAft>
                <a:spcPts val="1200"/>
              </a:spcAft>
            </a:pPr>
            <a:r>
              <a:rPr lang="en-US" sz="2200" b="1" dirty="0" smtClean="0">
                <a:latin typeface="Helvetica" pitchFamily="34" charset="0"/>
              </a:rPr>
              <a:t>Three ways to de-frost food:</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Under refrigeration</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In a microwave</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Under cold, running water</a:t>
            </a:r>
          </a:p>
          <a:p>
            <a:pPr marL="360000" indent="-360000">
              <a:spcBef>
                <a:spcPts val="600"/>
              </a:spcBef>
              <a:spcAft>
                <a:spcPts val="1200"/>
              </a:spcAft>
            </a:pPr>
            <a:r>
              <a:rPr lang="en-US" sz="2200" b="1" dirty="0" smtClean="0">
                <a:latin typeface="Helvetica" pitchFamily="34" charset="0"/>
              </a:rPr>
              <a:t>Cook immediately food is de-frosted</a:t>
            </a:r>
          </a:p>
          <a:p>
            <a:pPr marL="360000" indent="-360000">
              <a:spcBef>
                <a:spcPts val="600"/>
              </a:spcBef>
              <a:spcAft>
                <a:spcPts val="1200"/>
              </a:spcAft>
            </a:pPr>
            <a:r>
              <a:rPr lang="en-US" sz="2200" b="1" dirty="0" smtClean="0">
                <a:latin typeface="Helvetica" pitchFamily="34" charset="0"/>
              </a:rPr>
              <a:t>It is unacceptable to thaw items in a sink or a bowl of water</a:t>
            </a:r>
          </a:p>
          <a:p>
            <a:pPr marL="360000" indent="-360000">
              <a:spcBef>
                <a:spcPts val="600"/>
              </a:spcBef>
              <a:spcAft>
                <a:spcPts val="1200"/>
              </a:spcAft>
            </a:pPr>
            <a:r>
              <a:rPr lang="en-US" sz="2200" b="1" dirty="0" smtClean="0">
                <a:latin typeface="Helvetica" pitchFamily="34" charset="0"/>
              </a:rPr>
              <a:t>Thawed items must not be re-frozen.</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47</a:t>
            </a:fld>
            <a:endParaRPr lang="en-US" dirty="0"/>
          </a:p>
        </p:txBody>
      </p:sp>
      <p:pic>
        <p:nvPicPr>
          <p:cNvPr id="5122" name="Picture 2" descr="C:\Users\fgvghyujil\AppData\Local\Microsoft\Windows\Temporary Internet Files\Content.IE5\SIE7KNHZ\MC900012913[1].wmf"/>
          <p:cNvPicPr>
            <a:picLocks noChangeAspect="1" noChangeArrowheads="1"/>
          </p:cNvPicPr>
          <p:nvPr/>
        </p:nvPicPr>
        <p:blipFill>
          <a:blip r:embed="rId3" cstate="print"/>
          <a:stretch>
            <a:fillRect/>
          </a:stretch>
        </p:blipFill>
        <p:spPr bwMode="auto">
          <a:xfrm>
            <a:off x="6072198" y="2143116"/>
            <a:ext cx="2242491" cy="2728127"/>
          </a:xfrm>
          <a:prstGeom prst="rect">
            <a:avLst/>
          </a:prstGeom>
          <a:noFill/>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Receive, handle and store food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Food storage options:</a:t>
            </a:r>
          </a:p>
          <a:p>
            <a:pPr marL="360000" indent="-360000">
              <a:spcBef>
                <a:spcPts val="1200"/>
              </a:spcBef>
              <a:spcAft>
                <a:spcPts val="1200"/>
              </a:spcAft>
            </a:pPr>
            <a:r>
              <a:rPr lang="en-US" sz="2200" b="1" dirty="0" smtClean="0">
                <a:latin typeface="Helvetica" pitchFamily="34" charset="0"/>
              </a:rPr>
              <a:t>Dry goods store</a:t>
            </a:r>
          </a:p>
          <a:p>
            <a:pPr marL="360000" indent="-360000">
              <a:spcBef>
                <a:spcPts val="1200"/>
              </a:spcBef>
              <a:spcAft>
                <a:spcPts val="1200"/>
              </a:spcAft>
            </a:pPr>
            <a:r>
              <a:rPr lang="en-US" sz="2200" b="1" dirty="0" smtClean="0">
                <a:latin typeface="Helvetica" pitchFamily="34" charset="0"/>
              </a:rPr>
              <a:t>Refrigerated storage</a:t>
            </a:r>
          </a:p>
          <a:p>
            <a:pPr marL="360000" indent="-360000">
              <a:spcBef>
                <a:spcPts val="1200"/>
              </a:spcBef>
              <a:spcAft>
                <a:spcPts val="1200"/>
              </a:spcAft>
            </a:pPr>
            <a:r>
              <a:rPr lang="en-US" sz="2200" b="1" dirty="0" smtClean="0">
                <a:latin typeface="Helvetica" pitchFamily="34" charset="0"/>
              </a:rPr>
              <a:t>Frozen storage.</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48</a:t>
            </a:fld>
            <a:endParaRPr lang="en-US" dirty="0"/>
          </a:p>
        </p:txBody>
      </p:sp>
      <p:pic>
        <p:nvPicPr>
          <p:cNvPr id="5" name="Picture 4" descr="refridgerator.jpg"/>
          <p:cNvPicPr>
            <a:picLocks noChangeAspect="1"/>
          </p:cNvPicPr>
          <p:nvPr/>
        </p:nvPicPr>
        <p:blipFill>
          <a:blip r:embed="rId3" cstate="print"/>
          <a:stretch>
            <a:fillRect/>
          </a:stretch>
        </p:blipFill>
        <p:spPr>
          <a:xfrm>
            <a:off x="5715008" y="1785926"/>
            <a:ext cx="2532413" cy="3424706"/>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Receive, handle and store food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44042"/>
          </a:xfrm>
        </p:spPr>
        <p:txBody>
          <a:bodyPr>
            <a:normAutofit/>
          </a:bodyPr>
          <a:lstStyle/>
          <a:p>
            <a:pPr marL="0" indent="0">
              <a:spcBef>
                <a:spcPts val="1200"/>
              </a:spcBef>
              <a:spcAft>
                <a:spcPts val="1200"/>
              </a:spcAft>
              <a:buNone/>
            </a:pPr>
            <a:r>
              <a:rPr lang="en-US" sz="2200" b="1" dirty="0" smtClean="0">
                <a:latin typeface="Helvetica" pitchFamily="34" charset="0"/>
              </a:rPr>
              <a:t>Basic/generic storage requirements:</a:t>
            </a:r>
          </a:p>
          <a:p>
            <a:pPr marL="360000" indent="-360000">
              <a:spcBef>
                <a:spcPts val="1200"/>
              </a:spcBef>
              <a:spcAft>
                <a:spcPts val="1200"/>
              </a:spcAft>
            </a:pPr>
            <a:r>
              <a:rPr lang="en-US" sz="2200" b="1" dirty="0" smtClean="0">
                <a:latin typeface="Helvetica" pitchFamily="34" charset="0"/>
              </a:rPr>
              <a:t>Use food grade storage materials</a:t>
            </a:r>
          </a:p>
          <a:p>
            <a:pPr marL="360000" indent="-360000">
              <a:spcBef>
                <a:spcPts val="1200"/>
              </a:spcBef>
              <a:spcAft>
                <a:spcPts val="1200"/>
              </a:spcAft>
            </a:pPr>
            <a:r>
              <a:rPr lang="en-US" sz="2200" b="1" dirty="0" smtClean="0">
                <a:latin typeface="Helvetica" pitchFamily="34" charset="0"/>
              </a:rPr>
              <a:t>Cover food</a:t>
            </a:r>
          </a:p>
          <a:p>
            <a:pPr marL="360000" indent="-360000">
              <a:spcBef>
                <a:spcPts val="1200"/>
              </a:spcBef>
              <a:spcAft>
                <a:spcPts val="1200"/>
              </a:spcAft>
            </a:pPr>
            <a:r>
              <a:rPr lang="en-US" sz="2200" b="1" dirty="0" smtClean="0">
                <a:latin typeface="Helvetica" pitchFamily="34" charset="0"/>
              </a:rPr>
              <a:t>Rotate stock – FIFO</a:t>
            </a:r>
          </a:p>
          <a:p>
            <a:pPr marL="360000" indent="-360000">
              <a:spcBef>
                <a:spcPts val="1200"/>
              </a:spcBef>
              <a:spcAft>
                <a:spcPts val="1200"/>
              </a:spcAft>
            </a:pPr>
            <a:r>
              <a:rPr lang="en-US" sz="2200" b="1" dirty="0" smtClean="0">
                <a:latin typeface="Helvetica" pitchFamily="34" charset="0"/>
              </a:rPr>
              <a:t>Keep clean</a:t>
            </a:r>
          </a:p>
          <a:p>
            <a:pPr marL="360000" indent="-360000">
              <a:spcBef>
                <a:spcPts val="1200"/>
              </a:spcBef>
              <a:spcAft>
                <a:spcPts val="1200"/>
              </a:spcAft>
            </a:pPr>
            <a:r>
              <a:rPr lang="en-US" sz="2200" b="1" dirty="0" smtClean="0">
                <a:latin typeface="Helvetica" pitchFamily="34" charset="0"/>
              </a:rPr>
              <a:t>Do not store food or food packages </a:t>
            </a:r>
            <a:br>
              <a:rPr lang="en-US" sz="2200" b="1" dirty="0" smtClean="0">
                <a:latin typeface="Helvetica" pitchFamily="34" charset="0"/>
              </a:rPr>
            </a:br>
            <a:r>
              <a:rPr lang="en-US" sz="2200" b="1" dirty="0" smtClean="0">
                <a:latin typeface="Helvetica" pitchFamily="34" charset="0"/>
              </a:rPr>
              <a:t>directly on floor</a:t>
            </a:r>
          </a:p>
          <a:p>
            <a:pPr marL="360000" indent="-360000">
              <a:spcBef>
                <a:spcPts val="1200"/>
              </a:spcBef>
              <a:spcAft>
                <a:spcPts val="1200"/>
              </a:spcAft>
            </a:pPr>
            <a:r>
              <a:rPr lang="en-US" sz="2200" b="1" dirty="0" smtClean="0">
                <a:latin typeface="Helvetica" pitchFamily="34" charset="0"/>
              </a:rPr>
              <a:t>Control pests.</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49</a:t>
            </a:fld>
            <a:endParaRPr lang="en-US" dirty="0"/>
          </a:p>
        </p:txBody>
      </p:sp>
      <p:pic>
        <p:nvPicPr>
          <p:cNvPr id="5" name="Picture 4" descr="Foodstorage2CCLinda&amp;Clark.jpg"/>
          <p:cNvPicPr>
            <a:picLocks noChangeAspect="1"/>
          </p:cNvPicPr>
          <p:nvPr/>
        </p:nvPicPr>
        <p:blipFill>
          <a:blip r:embed="rId3" cstate="print"/>
          <a:stretch>
            <a:fillRect/>
          </a:stretch>
        </p:blipFill>
        <p:spPr>
          <a:xfrm>
            <a:off x="6072198" y="2143116"/>
            <a:ext cx="2567005" cy="3500462"/>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Receive, handle and store food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Protocols for dry goods storage – ensure:</a:t>
            </a:r>
          </a:p>
          <a:p>
            <a:pPr marL="360000" indent="-360000">
              <a:spcBef>
                <a:spcPts val="1200"/>
              </a:spcBef>
              <a:spcAft>
                <a:spcPts val="1200"/>
              </a:spcAft>
            </a:pPr>
            <a:r>
              <a:rPr lang="en-US" sz="2200" b="1" dirty="0" smtClean="0">
                <a:latin typeface="Helvetica" pitchFamily="34" charset="0"/>
              </a:rPr>
              <a:t>It is fly-proof and vermin-proof</a:t>
            </a:r>
          </a:p>
          <a:p>
            <a:pPr marL="360000" indent="-360000">
              <a:spcBef>
                <a:spcPts val="1200"/>
              </a:spcBef>
              <a:spcAft>
                <a:spcPts val="1200"/>
              </a:spcAft>
            </a:pPr>
            <a:r>
              <a:rPr lang="en-US" sz="2200" b="1" dirty="0" smtClean="0">
                <a:latin typeface="Helvetica" pitchFamily="34" charset="0"/>
              </a:rPr>
              <a:t>It is well lit and ventilated</a:t>
            </a:r>
          </a:p>
          <a:p>
            <a:pPr marL="360000" indent="-360000">
              <a:spcBef>
                <a:spcPts val="1200"/>
              </a:spcBef>
              <a:spcAft>
                <a:spcPts val="1200"/>
              </a:spcAft>
            </a:pPr>
            <a:r>
              <a:rPr lang="en-US" sz="2200" b="1" dirty="0" smtClean="0">
                <a:latin typeface="Helvetica" pitchFamily="34" charset="0"/>
              </a:rPr>
              <a:t>It is not over-stocked</a:t>
            </a:r>
          </a:p>
          <a:p>
            <a:pPr marL="360000" indent="-360000">
              <a:spcBef>
                <a:spcPts val="1200"/>
              </a:spcBef>
              <a:spcAft>
                <a:spcPts val="1200"/>
              </a:spcAft>
            </a:pPr>
            <a:r>
              <a:rPr lang="en-US" sz="2200" b="1" dirty="0" smtClean="0">
                <a:latin typeface="Helvetica" pitchFamily="34" charset="0"/>
              </a:rPr>
              <a:t>Doors fit properly</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50</a:t>
            </a:fld>
            <a:endParaRPr lang="en-US" dirty="0"/>
          </a:p>
        </p:txBody>
      </p:sp>
      <p:pic>
        <p:nvPicPr>
          <p:cNvPr id="5" name="Picture 4" descr="FoodstorageCCLinda&amp;Clark.jpg"/>
          <p:cNvPicPr>
            <a:picLocks noChangeAspect="1"/>
          </p:cNvPicPr>
          <p:nvPr/>
        </p:nvPicPr>
        <p:blipFill>
          <a:blip r:embed="rId3" cstate="print"/>
          <a:stretch>
            <a:fillRect/>
          </a:stretch>
        </p:blipFill>
        <p:spPr>
          <a:xfrm>
            <a:off x="5857884" y="2999895"/>
            <a:ext cx="3286116" cy="2182186"/>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Receive, handle and store food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b="1" dirty="0" smtClean="0">
                <a:latin typeface="Helvetica" pitchFamily="34" charset="0"/>
              </a:rPr>
              <a:t>Lowest shelf allows access for a mop and broom</a:t>
            </a:r>
          </a:p>
          <a:p>
            <a:pPr marL="360000" indent="-360000">
              <a:spcBef>
                <a:spcPts val="1200"/>
              </a:spcBef>
              <a:spcAft>
                <a:spcPts val="1200"/>
              </a:spcAft>
            </a:pPr>
            <a:r>
              <a:rPr lang="en-US" sz="2200" b="1" dirty="0" smtClean="0">
                <a:latin typeface="Helvetica" pitchFamily="34" charset="0"/>
              </a:rPr>
              <a:t>Bulk food containers should be </a:t>
            </a:r>
            <a:br>
              <a:rPr lang="en-US" sz="2200" b="1" dirty="0" smtClean="0">
                <a:latin typeface="Helvetica" pitchFamily="34" charset="0"/>
              </a:rPr>
            </a:br>
            <a:r>
              <a:rPr lang="en-US" sz="2200" b="1" dirty="0" smtClean="0">
                <a:latin typeface="Helvetica" pitchFamily="34" charset="0"/>
              </a:rPr>
              <a:t>stainless steel</a:t>
            </a:r>
          </a:p>
          <a:p>
            <a:pPr marL="360000" indent="-360000">
              <a:spcBef>
                <a:spcPts val="1200"/>
              </a:spcBef>
              <a:spcAft>
                <a:spcPts val="1200"/>
              </a:spcAft>
            </a:pPr>
            <a:r>
              <a:rPr lang="en-US" sz="2200" b="1" dirty="0" smtClean="0">
                <a:latin typeface="Helvetica" pitchFamily="34" charset="0"/>
              </a:rPr>
              <a:t>Clean and sanitise food containers </a:t>
            </a:r>
            <a:br>
              <a:rPr lang="en-US" sz="2200" b="1" dirty="0" smtClean="0">
                <a:latin typeface="Helvetica" pitchFamily="34" charset="0"/>
              </a:rPr>
            </a:br>
            <a:r>
              <a:rPr lang="en-US" sz="2200" b="1" dirty="0" smtClean="0">
                <a:latin typeface="Helvetica" pitchFamily="34" charset="0"/>
              </a:rPr>
              <a:t>before re-filling them</a:t>
            </a:r>
          </a:p>
          <a:p>
            <a:pPr marL="360000" indent="-360000">
              <a:spcBef>
                <a:spcPts val="1200"/>
              </a:spcBef>
              <a:spcAft>
                <a:spcPts val="1200"/>
              </a:spcAft>
            </a:pPr>
            <a:r>
              <a:rPr lang="en-US" sz="2200" b="1" dirty="0" smtClean="0">
                <a:latin typeface="Helvetica" pitchFamily="34" charset="0"/>
              </a:rPr>
              <a:t>Transfer food from cans to </a:t>
            </a:r>
            <a:br>
              <a:rPr lang="en-US" sz="2200" b="1" dirty="0" smtClean="0">
                <a:latin typeface="Helvetica" pitchFamily="34" charset="0"/>
              </a:rPr>
            </a:br>
            <a:r>
              <a:rPr lang="en-US" sz="2200" b="1" dirty="0" smtClean="0">
                <a:latin typeface="Helvetica" pitchFamily="34" charset="0"/>
              </a:rPr>
              <a:t>suitable containers after </a:t>
            </a:r>
            <a:br>
              <a:rPr lang="en-US" sz="2200" b="1" dirty="0" smtClean="0">
                <a:latin typeface="Helvetica" pitchFamily="34" charset="0"/>
              </a:rPr>
            </a:br>
            <a:r>
              <a:rPr lang="en-US" sz="2200" b="1" dirty="0" smtClean="0">
                <a:latin typeface="Helvetica" pitchFamily="34" charset="0"/>
              </a:rPr>
              <a:t>opening then refrigerate.</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51</a:t>
            </a:fld>
            <a:endParaRPr lang="en-US" dirty="0"/>
          </a:p>
        </p:txBody>
      </p:sp>
      <p:pic>
        <p:nvPicPr>
          <p:cNvPr id="12" name="Picture 11" descr="food shelf.jpg"/>
          <p:cNvPicPr>
            <a:picLocks noChangeAspect="1"/>
          </p:cNvPicPr>
          <p:nvPr/>
        </p:nvPicPr>
        <p:blipFill>
          <a:blip r:embed="rId3" cstate="print"/>
          <a:stretch>
            <a:fillRect/>
          </a:stretch>
        </p:blipFill>
        <p:spPr>
          <a:xfrm>
            <a:off x="5643570" y="3643314"/>
            <a:ext cx="3164604" cy="250565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Receive, handle and store food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Protocols for refrigerated food storage – ensure :</a:t>
            </a:r>
          </a:p>
          <a:p>
            <a:pPr marL="360000" indent="-360000">
              <a:spcBef>
                <a:spcPts val="1200"/>
              </a:spcBef>
              <a:spcAft>
                <a:spcPts val="1200"/>
              </a:spcAft>
            </a:pPr>
            <a:r>
              <a:rPr lang="en-US" sz="2200" b="1" dirty="0" smtClean="0">
                <a:latin typeface="Helvetica" pitchFamily="34" charset="0"/>
              </a:rPr>
              <a:t>Temperature is </a:t>
            </a:r>
            <a:r>
              <a:rPr lang="en-AU" sz="2200" b="1" dirty="0" smtClean="0">
                <a:latin typeface="Helvetica" pitchFamily="34" charset="0"/>
              </a:rPr>
              <a:t>5°C or below – </a:t>
            </a:r>
            <a:br>
              <a:rPr lang="en-AU" sz="2200" b="1" dirty="0" smtClean="0">
                <a:latin typeface="Helvetica" pitchFamily="34" charset="0"/>
              </a:rPr>
            </a:br>
            <a:r>
              <a:rPr lang="en-AU" sz="2200" b="1" dirty="0" smtClean="0">
                <a:latin typeface="Helvetica" pitchFamily="34" charset="0"/>
              </a:rPr>
              <a:t>check at least daily</a:t>
            </a:r>
            <a:endParaRPr lang="en-US" sz="2200" b="1" dirty="0" smtClean="0">
              <a:latin typeface="Helvetica" pitchFamily="34" charset="0"/>
            </a:endParaRPr>
          </a:p>
          <a:p>
            <a:pPr marL="360000" indent="-360000">
              <a:spcBef>
                <a:spcPts val="1200"/>
              </a:spcBef>
              <a:spcAft>
                <a:spcPts val="1200"/>
              </a:spcAft>
            </a:pPr>
            <a:r>
              <a:rPr lang="en-US" sz="2200" b="1" dirty="0" smtClean="0">
                <a:latin typeface="Helvetica" pitchFamily="34" charset="0"/>
              </a:rPr>
              <a:t>Doors are closed between uses</a:t>
            </a:r>
          </a:p>
          <a:p>
            <a:pPr marL="360000" indent="-360000">
              <a:spcBef>
                <a:spcPts val="1200"/>
              </a:spcBef>
              <a:spcAft>
                <a:spcPts val="1200"/>
              </a:spcAft>
            </a:pPr>
            <a:r>
              <a:rPr lang="en-US" sz="2200" b="1" dirty="0" smtClean="0">
                <a:latin typeface="Helvetica" pitchFamily="34" charset="0"/>
              </a:rPr>
              <a:t>Unit is not over-crowded</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52</a:t>
            </a:fld>
            <a:endParaRPr lang="en-US" dirty="0"/>
          </a:p>
        </p:txBody>
      </p:sp>
      <p:pic>
        <p:nvPicPr>
          <p:cNvPr id="5" name="Picture 4" descr="refridgerator.jpg"/>
          <p:cNvPicPr>
            <a:picLocks noChangeAspect="1"/>
          </p:cNvPicPr>
          <p:nvPr/>
        </p:nvPicPr>
        <p:blipFill>
          <a:blip r:embed="rId3" cstate="print"/>
          <a:stretch>
            <a:fillRect/>
          </a:stretch>
        </p:blipFill>
        <p:spPr>
          <a:xfrm>
            <a:off x="5857884" y="2143116"/>
            <a:ext cx="2532413" cy="3424706"/>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serve and store food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4525963"/>
          </a:xfrm>
        </p:spPr>
        <p:txBody>
          <a:bodyPr>
            <a:normAutofit/>
          </a:bodyPr>
          <a:lstStyle/>
          <a:p>
            <a:pPr marL="360000" indent="-360000">
              <a:spcBef>
                <a:spcPts val="1200"/>
              </a:spcBef>
              <a:spcAft>
                <a:spcPts val="1200"/>
              </a:spcAft>
            </a:pPr>
            <a:r>
              <a:rPr lang="en-US" sz="2200" b="1" dirty="0" smtClean="0">
                <a:latin typeface="Helvetica" pitchFamily="34" charset="0"/>
              </a:rPr>
              <a:t>Food is refrigerated in small amounts, not large quantities</a:t>
            </a:r>
          </a:p>
          <a:p>
            <a:pPr marL="360000" indent="-360000">
              <a:spcBef>
                <a:spcPts val="1200"/>
              </a:spcBef>
              <a:spcAft>
                <a:spcPts val="1200"/>
              </a:spcAft>
            </a:pPr>
            <a:r>
              <a:rPr lang="en-US" sz="2200" b="1" dirty="0" smtClean="0">
                <a:latin typeface="Helvetica" pitchFamily="34" charset="0"/>
              </a:rPr>
              <a:t>Cool hot foods before refrigerating them</a:t>
            </a:r>
          </a:p>
          <a:p>
            <a:pPr marL="360000" indent="-360000">
              <a:spcBef>
                <a:spcPts val="1200"/>
              </a:spcBef>
              <a:spcAft>
                <a:spcPts val="1200"/>
              </a:spcAft>
            </a:pPr>
            <a:r>
              <a:rPr lang="en-US" sz="2200" b="1" dirty="0" smtClean="0">
                <a:latin typeface="Helvetica" pitchFamily="34" charset="0"/>
              </a:rPr>
              <a:t>Cover all food</a:t>
            </a:r>
          </a:p>
          <a:p>
            <a:pPr marL="360000" indent="-360000">
              <a:spcBef>
                <a:spcPts val="1200"/>
              </a:spcBef>
              <a:spcAft>
                <a:spcPts val="1200"/>
              </a:spcAft>
            </a:pPr>
            <a:r>
              <a:rPr lang="en-US" sz="2200" b="1" dirty="0" smtClean="0">
                <a:latin typeface="Helvetica" pitchFamily="34" charset="0"/>
              </a:rPr>
              <a:t>Keep raw and ready-to-eat </a:t>
            </a:r>
            <a:br>
              <a:rPr lang="en-US" sz="2200" b="1" dirty="0" smtClean="0">
                <a:latin typeface="Helvetica" pitchFamily="34" charset="0"/>
              </a:rPr>
            </a:br>
            <a:r>
              <a:rPr lang="en-US" sz="2200" b="1" dirty="0" smtClean="0">
                <a:latin typeface="Helvetica" pitchFamily="34" charset="0"/>
              </a:rPr>
              <a:t>or cooked food separate.</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53</a:t>
            </a:fld>
            <a:endParaRPr lang="en-US" dirty="0"/>
          </a:p>
        </p:txBody>
      </p:sp>
      <p:pic>
        <p:nvPicPr>
          <p:cNvPr id="6" name="Picture 5" descr="buffet.jpg"/>
          <p:cNvPicPr>
            <a:picLocks noChangeAspect="1"/>
          </p:cNvPicPr>
          <p:nvPr/>
        </p:nvPicPr>
        <p:blipFill>
          <a:blip r:embed="rId3" cstate="print"/>
          <a:stretch>
            <a:fillRect/>
          </a:stretch>
        </p:blipFill>
        <p:spPr>
          <a:xfrm>
            <a:off x="5000628" y="3500438"/>
            <a:ext cx="3648790" cy="2523747"/>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serve and store food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Protocols for frozen food storage – ensure:</a:t>
            </a:r>
          </a:p>
          <a:p>
            <a:pPr marL="360000" indent="-360000">
              <a:spcBef>
                <a:spcPts val="1200"/>
              </a:spcBef>
              <a:spcAft>
                <a:spcPts val="1200"/>
              </a:spcAft>
            </a:pPr>
            <a:r>
              <a:rPr lang="en-US" sz="2200" b="1" dirty="0" smtClean="0">
                <a:latin typeface="Helvetica" pitchFamily="34" charset="0"/>
              </a:rPr>
              <a:t>Hot food is never put in to the freezer – cool it first</a:t>
            </a:r>
          </a:p>
          <a:p>
            <a:pPr marL="360000" indent="-360000">
              <a:spcBef>
                <a:spcPts val="1200"/>
              </a:spcBef>
              <a:spcAft>
                <a:spcPts val="1200"/>
              </a:spcAft>
            </a:pPr>
            <a:r>
              <a:rPr lang="en-US" sz="2200" b="1" dirty="0" smtClean="0">
                <a:latin typeface="Helvetica" pitchFamily="34" charset="0"/>
              </a:rPr>
              <a:t>Thawed frozen food is never re-frozen</a:t>
            </a:r>
          </a:p>
          <a:p>
            <a:pPr marL="360000" indent="-360000">
              <a:spcBef>
                <a:spcPts val="1200"/>
              </a:spcBef>
              <a:spcAft>
                <a:spcPts val="1200"/>
              </a:spcAft>
            </a:pPr>
            <a:r>
              <a:rPr lang="en-US" sz="2200" b="1" dirty="0" smtClean="0">
                <a:latin typeface="Helvetica" pitchFamily="34" charset="0"/>
              </a:rPr>
              <a:t>Freezers are de-frosted regularly</a:t>
            </a:r>
          </a:p>
          <a:p>
            <a:pPr marL="360000" indent="-360000">
              <a:spcBef>
                <a:spcPts val="1200"/>
              </a:spcBef>
              <a:spcAft>
                <a:spcPts val="1200"/>
              </a:spcAft>
            </a:pPr>
            <a:r>
              <a:rPr lang="en-US" sz="2200" b="1" dirty="0" smtClean="0">
                <a:latin typeface="Helvetica" pitchFamily="34" charset="0"/>
              </a:rPr>
              <a:t>Freezer doors are kept closed when </a:t>
            </a:r>
            <a:br>
              <a:rPr lang="en-US" sz="2200" b="1" dirty="0" smtClean="0">
                <a:latin typeface="Helvetica" pitchFamily="34" charset="0"/>
              </a:rPr>
            </a:br>
            <a:r>
              <a:rPr lang="en-US" sz="2200" b="1" dirty="0" smtClean="0">
                <a:latin typeface="Helvetica" pitchFamily="34" charset="0"/>
              </a:rPr>
              <a:t>not in use</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54</a:t>
            </a:fld>
            <a:endParaRPr lang="en-US" dirty="0"/>
          </a:p>
        </p:txBody>
      </p:sp>
      <p:pic>
        <p:nvPicPr>
          <p:cNvPr id="8196" name="Picture 4" descr="C:\Users\fgvghyujil\AppData\Local\Microsoft\Windows\Temporary Internet Files\Content.IE5\PP601SXW\MC900036414[1].wmf"/>
          <p:cNvPicPr>
            <a:picLocks noChangeAspect="1" noChangeArrowheads="1"/>
          </p:cNvPicPr>
          <p:nvPr/>
        </p:nvPicPr>
        <p:blipFill>
          <a:blip r:embed="rId3" cstate="print"/>
          <a:srcRect/>
          <a:stretch>
            <a:fillRect/>
          </a:stretch>
        </p:blipFill>
        <p:spPr bwMode="auto">
          <a:xfrm>
            <a:off x="6643702" y="3000372"/>
            <a:ext cx="2012675" cy="2857520"/>
          </a:xfrm>
          <a:prstGeom prst="rect">
            <a:avLst/>
          </a:prstGeom>
          <a:noFill/>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serve and store food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b="1" dirty="0" smtClean="0">
                <a:latin typeface="Helvetica" pitchFamily="34" charset="0"/>
              </a:rPr>
              <a:t>Freezer temperature is checked at least daily</a:t>
            </a:r>
          </a:p>
          <a:p>
            <a:pPr marL="360000" indent="-360000">
              <a:spcBef>
                <a:spcPts val="1200"/>
              </a:spcBef>
              <a:spcAft>
                <a:spcPts val="1200"/>
              </a:spcAft>
            </a:pPr>
            <a:r>
              <a:rPr lang="en-US" sz="2200" b="1" dirty="0" smtClean="0">
                <a:latin typeface="Helvetica" pitchFamily="34" charset="0"/>
              </a:rPr>
              <a:t>Large items are not frozen</a:t>
            </a:r>
          </a:p>
          <a:p>
            <a:pPr marL="360000" indent="-360000">
              <a:spcBef>
                <a:spcPts val="1200"/>
              </a:spcBef>
              <a:spcAft>
                <a:spcPts val="1200"/>
              </a:spcAft>
            </a:pPr>
            <a:r>
              <a:rPr lang="en-US" sz="2200" b="1" dirty="0" smtClean="0">
                <a:latin typeface="Helvetica" pitchFamily="34" charset="0"/>
              </a:rPr>
              <a:t>Manufacturer’s instructions for </a:t>
            </a:r>
            <a:br>
              <a:rPr lang="en-US" sz="2200" b="1" dirty="0" smtClean="0">
                <a:latin typeface="Helvetica" pitchFamily="34" charset="0"/>
              </a:rPr>
            </a:br>
            <a:r>
              <a:rPr lang="en-US" sz="2200" b="1" dirty="0" smtClean="0">
                <a:latin typeface="Helvetica" pitchFamily="34" charset="0"/>
              </a:rPr>
              <a:t>specific foods are complied with </a:t>
            </a:r>
            <a:br>
              <a:rPr lang="en-US" sz="2200" b="1" dirty="0" smtClean="0">
                <a:latin typeface="Helvetica" pitchFamily="34" charset="0"/>
              </a:rPr>
            </a:br>
            <a:r>
              <a:rPr lang="en-US" sz="2200" b="1" dirty="0" smtClean="0">
                <a:latin typeface="Helvetica" pitchFamily="34" charset="0"/>
              </a:rPr>
              <a:t>when freezing them.</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55</a:t>
            </a:fld>
            <a:endParaRPr lang="en-US" dirty="0"/>
          </a:p>
        </p:txBody>
      </p:sp>
      <p:pic>
        <p:nvPicPr>
          <p:cNvPr id="9218" name="Picture 2" descr="C:\Users\fgvghyujil\AppData\Local\Microsoft\Windows\Temporary Internet Files\Content.IE5\PP601SXW\MC900403885[1].wmf"/>
          <p:cNvPicPr>
            <a:picLocks noChangeAspect="1" noChangeArrowheads="1"/>
          </p:cNvPicPr>
          <p:nvPr/>
        </p:nvPicPr>
        <p:blipFill>
          <a:blip r:embed="rId3" cstate="print"/>
          <a:srcRect/>
          <a:stretch>
            <a:fillRect/>
          </a:stretch>
        </p:blipFill>
        <p:spPr bwMode="auto">
          <a:xfrm>
            <a:off x="6000760" y="2786058"/>
            <a:ext cx="2318758" cy="2398960"/>
          </a:xfrm>
          <a:prstGeom prst="rect">
            <a:avLst/>
          </a:prstGeom>
          <a:noFill/>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serve and store food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72604"/>
          </a:xfrm>
        </p:spPr>
        <p:txBody>
          <a:bodyPr>
            <a:normAutofit/>
          </a:bodyPr>
          <a:lstStyle/>
          <a:p>
            <a:pPr marL="0" indent="0">
              <a:spcBef>
                <a:spcPts val="1200"/>
              </a:spcBef>
              <a:spcAft>
                <a:spcPts val="1200"/>
              </a:spcAft>
              <a:buNone/>
            </a:pPr>
            <a:r>
              <a:rPr lang="en-US" sz="2200" b="1" dirty="0" smtClean="0">
                <a:latin typeface="Helvetica" pitchFamily="34" charset="0"/>
              </a:rPr>
              <a:t>Effective stock rotation is important in food safety:</a:t>
            </a:r>
          </a:p>
          <a:p>
            <a:pPr marL="360000" indent="-360000">
              <a:spcBef>
                <a:spcPts val="1200"/>
              </a:spcBef>
              <a:spcAft>
                <a:spcPts val="1200"/>
              </a:spcAft>
            </a:pPr>
            <a:r>
              <a:rPr lang="en-US" sz="2200" b="1" dirty="0" smtClean="0">
                <a:latin typeface="Helvetica" pitchFamily="34" charset="0"/>
              </a:rPr>
              <a:t>First In, First Out (FIFO) is most common method</a:t>
            </a:r>
          </a:p>
          <a:p>
            <a:pPr marL="360000" indent="-360000">
              <a:spcBef>
                <a:spcPts val="1200"/>
              </a:spcBef>
              <a:spcAft>
                <a:spcPts val="1200"/>
              </a:spcAft>
            </a:pPr>
            <a:r>
              <a:rPr lang="en-US" sz="2200" b="1" dirty="0" smtClean="0">
                <a:latin typeface="Helvetica" pitchFamily="34" charset="0"/>
              </a:rPr>
              <a:t>Food should (generally) be used in the order it was bought</a:t>
            </a:r>
          </a:p>
          <a:p>
            <a:pPr marL="360000" indent="-360000">
              <a:spcBef>
                <a:spcPts val="1200"/>
              </a:spcBef>
              <a:spcAft>
                <a:spcPts val="1200"/>
              </a:spcAft>
            </a:pPr>
            <a:r>
              <a:rPr lang="en-US" sz="2200" b="1" dirty="0" smtClean="0">
                <a:latin typeface="Helvetica" pitchFamily="34" charset="0"/>
              </a:rPr>
              <a:t>On shelves – move old stock forward and </a:t>
            </a:r>
            <a:br>
              <a:rPr lang="en-US" sz="2200" b="1" dirty="0" smtClean="0">
                <a:latin typeface="Helvetica" pitchFamily="34" charset="0"/>
              </a:rPr>
            </a:br>
            <a:r>
              <a:rPr lang="en-US" sz="2200" b="1" dirty="0" smtClean="0">
                <a:latin typeface="Helvetica" pitchFamily="34" charset="0"/>
              </a:rPr>
              <a:t>place new stock behind</a:t>
            </a:r>
          </a:p>
          <a:p>
            <a:pPr marL="360000" indent="-360000">
              <a:spcBef>
                <a:spcPts val="1200"/>
              </a:spcBef>
              <a:spcAft>
                <a:spcPts val="1200"/>
              </a:spcAft>
            </a:pPr>
            <a:r>
              <a:rPr lang="en-US" sz="2200" b="1" dirty="0" smtClean="0">
                <a:latin typeface="Helvetica" pitchFamily="34" charset="0"/>
              </a:rPr>
              <a:t>In chest freezers – move old stock to top </a:t>
            </a:r>
            <a:br>
              <a:rPr lang="en-US" sz="2200" b="1" dirty="0" smtClean="0">
                <a:latin typeface="Helvetica" pitchFamily="34" charset="0"/>
              </a:rPr>
            </a:br>
            <a:r>
              <a:rPr lang="en-US" sz="2200" b="1" dirty="0" smtClean="0">
                <a:latin typeface="Helvetica" pitchFamily="34" charset="0"/>
              </a:rPr>
              <a:t>and place new stock underneath</a:t>
            </a:r>
          </a:p>
          <a:p>
            <a:pPr marL="360000" indent="-360000">
              <a:spcBef>
                <a:spcPts val="1200"/>
              </a:spcBef>
              <a:spcAft>
                <a:spcPts val="1200"/>
              </a:spcAft>
            </a:pPr>
            <a:r>
              <a:rPr lang="en-US" sz="2200" b="1" dirty="0" smtClean="0">
                <a:latin typeface="Helvetica" pitchFamily="34" charset="0"/>
              </a:rPr>
              <a:t>Regularly check use-by or best before dates.</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56</a:t>
            </a:fld>
            <a:endParaRPr lang="en-US" dirty="0"/>
          </a:p>
        </p:txBody>
      </p:sp>
      <p:pic>
        <p:nvPicPr>
          <p:cNvPr id="5" name="Picture 4" descr="Doc Checking.jpg"/>
          <p:cNvPicPr>
            <a:picLocks noChangeAspect="1"/>
          </p:cNvPicPr>
          <p:nvPr/>
        </p:nvPicPr>
        <p:blipFill>
          <a:blip r:embed="rId3" cstate="print"/>
          <a:stretch>
            <a:fillRect/>
          </a:stretch>
        </p:blipFill>
        <p:spPr>
          <a:xfrm>
            <a:off x="7304491" y="3429000"/>
            <a:ext cx="1839509" cy="2452678"/>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serve and store food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The ‘Two-step’ rule </a:t>
            </a:r>
            <a:r>
              <a:rPr lang="en-AU" sz="2200" b="1" dirty="0" smtClean="0">
                <a:latin typeface="Helvetica" pitchFamily="34" charset="0"/>
              </a:rPr>
              <a:t>provides explicit direction for the cooling of high risk, hot food</a:t>
            </a:r>
            <a:r>
              <a:rPr lang="en-US" sz="2200" b="1" dirty="0" smtClean="0">
                <a:latin typeface="Helvetica" pitchFamily="34" charset="0"/>
              </a:rPr>
              <a:t>:</a:t>
            </a:r>
          </a:p>
          <a:p>
            <a:pPr marL="457200" indent="-457200">
              <a:spcBef>
                <a:spcPts val="1200"/>
              </a:spcBef>
              <a:spcAft>
                <a:spcPts val="1200"/>
              </a:spcAft>
              <a:buAutoNum type="arabicParenBoth"/>
            </a:pPr>
            <a:r>
              <a:rPr lang="en-AU" sz="2200" b="1" dirty="0" smtClean="0">
                <a:latin typeface="Helvetica" pitchFamily="34" charset="0"/>
              </a:rPr>
              <a:t>Cool hot food down to 21°C within 2 hours</a:t>
            </a:r>
          </a:p>
          <a:p>
            <a:pPr marL="457200" indent="-457200">
              <a:spcBef>
                <a:spcPts val="1200"/>
              </a:spcBef>
              <a:spcAft>
                <a:spcPts val="1200"/>
              </a:spcAft>
              <a:buAutoNum type="arabicParenBoth"/>
            </a:pPr>
            <a:r>
              <a:rPr lang="en-AU" sz="2200" b="1" dirty="0" smtClean="0">
                <a:latin typeface="Helvetica" pitchFamily="34" charset="0"/>
              </a:rPr>
              <a:t>At 21°C place into refrigeration &amp; cool to 5°C within a further 4 hours</a:t>
            </a:r>
            <a:endParaRPr lang="en-US" sz="2200" b="1" dirty="0" smtClean="0">
              <a:latin typeface="Helvetica" pitchFamily="34" charset="0"/>
            </a:endParaRPr>
          </a:p>
          <a:p>
            <a:pPr marL="360000" indent="-360000">
              <a:spcBef>
                <a:spcPts val="1200"/>
              </a:spcBef>
              <a:spcAft>
                <a:spcPts val="1200"/>
              </a:spcAft>
            </a:pPr>
            <a:r>
              <a:rPr lang="en-US" sz="2200" b="1" dirty="0" smtClean="0">
                <a:latin typeface="Helvetica" pitchFamily="34" charset="0"/>
              </a:rPr>
              <a:t>Non-conforming food must be </a:t>
            </a:r>
            <a:br>
              <a:rPr lang="en-US" sz="2200" b="1" dirty="0" smtClean="0">
                <a:latin typeface="Helvetica" pitchFamily="34" charset="0"/>
              </a:rPr>
            </a:br>
            <a:r>
              <a:rPr lang="en-US" sz="2200" b="1" dirty="0" smtClean="0">
                <a:latin typeface="Helvetica" pitchFamily="34" charset="0"/>
              </a:rPr>
              <a:t>thrown out</a:t>
            </a:r>
          </a:p>
          <a:p>
            <a:pPr marL="360000" indent="-360000">
              <a:spcBef>
                <a:spcPts val="1200"/>
              </a:spcBef>
              <a:spcAft>
                <a:spcPts val="1200"/>
              </a:spcAft>
            </a:pPr>
            <a:r>
              <a:rPr lang="en-US" sz="2200" b="1" dirty="0" smtClean="0">
                <a:latin typeface="Helvetica" pitchFamily="34" charset="0"/>
              </a:rPr>
              <a:t>At </a:t>
            </a:r>
            <a:r>
              <a:rPr lang="en-AU" sz="2200" b="1" dirty="0" smtClean="0">
                <a:latin typeface="Helvetica" pitchFamily="34" charset="0"/>
              </a:rPr>
              <a:t>5°C food can be frozen</a:t>
            </a:r>
            <a:r>
              <a:rPr lang="en-US" sz="2200" b="1" dirty="0" smtClean="0">
                <a:latin typeface="Helvetica" pitchFamily="34" charset="0"/>
              </a:rPr>
              <a:t>.</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57</a:t>
            </a:fld>
            <a:endParaRPr lang="en-US" dirty="0"/>
          </a:p>
        </p:txBody>
      </p:sp>
      <p:pic>
        <p:nvPicPr>
          <p:cNvPr id="5" name="Picture 4" descr="KitchenCCShirleyGrant.jpg"/>
          <p:cNvPicPr>
            <a:picLocks noChangeAspect="1"/>
          </p:cNvPicPr>
          <p:nvPr/>
        </p:nvPicPr>
        <p:blipFill>
          <a:blip r:embed="rId3" cstate="print"/>
          <a:stretch>
            <a:fillRect/>
          </a:stretch>
        </p:blipFill>
        <p:spPr>
          <a:xfrm>
            <a:off x="6096000" y="3786190"/>
            <a:ext cx="3048000" cy="228600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serve and store food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Cross contamination = </a:t>
            </a:r>
            <a:r>
              <a:rPr lang="en-AU" sz="2200" b="1" dirty="0" smtClean="0">
                <a:latin typeface="Helvetica" pitchFamily="34" charset="0"/>
              </a:rPr>
              <a:t>contamination of food (or surfaces, equipment, utensils) with bacteria, chemicals or allergens as a result of contact with a contaminated source. </a:t>
            </a:r>
          </a:p>
          <a:p>
            <a:pPr marL="0" indent="0">
              <a:spcBef>
                <a:spcPts val="1200"/>
              </a:spcBef>
              <a:spcAft>
                <a:spcPts val="1200"/>
              </a:spcAft>
              <a:buNone/>
            </a:pPr>
            <a:r>
              <a:rPr lang="en-AU" sz="2200" b="1" dirty="0" smtClean="0">
                <a:latin typeface="Helvetica" pitchFamily="34" charset="0"/>
              </a:rPr>
              <a:t>Contamination may be:</a:t>
            </a:r>
            <a:endParaRPr lang="en-US" sz="2200" b="1" dirty="0" smtClean="0">
              <a:latin typeface="Helvetica" pitchFamily="34" charset="0"/>
            </a:endParaRPr>
          </a:p>
          <a:p>
            <a:pPr marL="360000" indent="-360000">
              <a:spcBef>
                <a:spcPts val="1200"/>
              </a:spcBef>
              <a:spcAft>
                <a:spcPts val="1200"/>
              </a:spcAft>
            </a:pPr>
            <a:r>
              <a:rPr lang="en-US" sz="2200" b="1" dirty="0" smtClean="0">
                <a:latin typeface="Helvetica" pitchFamily="34" charset="0"/>
              </a:rPr>
              <a:t>Via direct contact</a:t>
            </a:r>
          </a:p>
          <a:p>
            <a:pPr marL="360000" indent="-360000">
              <a:spcBef>
                <a:spcPts val="1200"/>
              </a:spcBef>
              <a:spcAft>
                <a:spcPts val="1200"/>
              </a:spcAft>
            </a:pPr>
            <a:r>
              <a:rPr lang="en-US" sz="2200" b="1" dirty="0" smtClean="0">
                <a:latin typeface="Helvetica" pitchFamily="34" charset="0"/>
              </a:rPr>
              <a:t>Through indirect contact.</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58</a:t>
            </a:fld>
            <a:endParaRPr lang="en-US" dirty="0"/>
          </a:p>
        </p:txBody>
      </p:sp>
      <p:pic>
        <p:nvPicPr>
          <p:cNvPr id="7" name="Picture 6" descr="KitchenCCDerectphoto.jpg"/>
          <p:cNvPicPr>
            <a:picLocks noChangeAspect="1"/>
          </p:cNvPicPr>
          <p:nvPr/>
        </p:nvPicPr>
        <p:blipFill>
          <a:blip r:embed="rId3" cstate="print"/>
          <a:stretch>
            <a:fillRect/>
          </a:stretch>
        </p:blipFill>
        <p:spPr>
          <a:xfrm>
            <a:off x="6000760" y="3500438"/>
            <a:ext cx="2714612" cy="1888918"/>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serve and store food</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59</a:t>
            </a:fld>
            <a:endParaRPr lang="en-US" dirty="0"/>
          </a:p>
        </p:txBody>
      </p:sp>
      <p:sp>
        <p:nvSpPr>
          <p:cNvPr id="6" name="Content Placeholder 2"/>
          <p:cNvSpPr txBox="1">
            <a:spLocks/>
          </p:cNvSpPr>
          <p:nvPr/>
        </p:nvSpPr>
        <p:spPr>
          <a:xfrm>
            <a:off x="571472" y="1357298"/>
            <a:ext cx="7467600" cy="5000660"/>
          </a:xfrm>
          <a:prstGeom prst="rect">
            <a:avLst/>
          </a:prstGeom>
        </p:spPr>
        <p:txBody>
          <a:bodyPr vert="horz">
            <a:normAutofit/>
          </a:bodyPr>
          <a:lstStyle/>
          <a:p>
            <a:pPr marL="53975" marR="0" lvl="0" indent="-17463" algn="l" defTabSz="914400" rtl="0" eaLnBrk="1" fontAlgn="auto" latinLnBrk="0" hangingPunct="1">
              <a:lnSpc>
                <a:spcPct val="100000"/>
              </a:lnSpc>
              <a:spcBef>
                <a:spcPts val="1200"/>
              </a:spcBef>
              <a:spcAft>
                <a:spcPts val="1200"/>
              </a:spcAft>
              <a:buClr>
                <a:schemeClr val="accent1"/>
              </a:buClr>
              <a:buSzPct val="80000"/>
              <a:tabLst/>
              <a:defRPr/>
            </a:pPr>
            <a:r>
              <a:rPr lang="en-US" sz="2200" b="1" dirty="0" smtClean="0">
                <a:latin typeface="Helvetica" pitchFamily="34" charset="0"/>
              </a:rPr>
              <a:t>Primary causes of cross contamination:</a:t>
            </a:r>
          </a:p>
          <a:p>
            <a:pPr marL="420624" marR="0" lvl="0" indent="-384048" algn="l" defTabSz="914400" rtl="0" eaLnBrk="1" fontAlgn="auto" latinLnBrk="0" hangingPunct="1">
              <a:lnSpc>
                <a:spcPct val="100000"/>
              </a:lnSpc>
              <a:spcBef>
                <a:spcPts val="1200"/>
              </a:spcBef>
              <a:spcAft>
                <a:spcPts val="1200"/>
              </a:spcAft>
              <a:buClr>
                <a:schemeClr val="accent1"/>
              </a:buClr>
              <a:buSzPct val="80000"/>
              <a:buFont typeface="Wingdings 2"/>
              <a:buChar char=""/>
              <a:tabLst/>
              <a:defRPr/>
            </a:pPr>
            <a:r>
              <a:rPr lang="en-AU" sz="2200" b="1" dirty="0" smtClean="0">
                <a:latin typeface="Helvetica" pitchFamily="34" charset="0"/>
              </a:rPr>
              <a:t>Linen items (cloths, uniforms and tea towels) contaminated with human waste and food  residue</a:t>
            </a:r>
          </a:p>
          <a:p>
            <a:pPr marL="420624" marR="0" lvl="0" indent="-384048" algn="l" defTabSz="914400" rtl="0" eaLnBrk="1" fontAlgn="auto" latinLnBrk="0" hangingPunct="1">
              <a:lnSpc>
                <a:spcPct val="100000"/>
              </a:lnSpc>
              <a:spcBef>
                <a:spcPts val="1200"/>
              </a:spcBef>
              <a:spcAft>
                <a:spcPts val="1200"/>
              </a:spcAft>
              <a:buClr>
                <a:schemeClr val="accent1"/>
              </a:buClr>
              <a:buSzPct val="80000"/>
              <a:buFont typeface="Wingdings 2"/>
              <a:buChar char=""/>
              <a:tabLst/>
              <a:defRPr/>
            </a:pPr>
            <a:r>
              <a:rPr lang="en-AU" sz="2200" b="1" dirty="0" smtClean="0">
                <a:latin typeface="Helvetica" pitchFamily="34" charset="0"/>
              </a:rPr>
              <a:t>Dirty equipment used to process food</a:t>
            </a:r>
          </a:p>
          <a:p>
            <a:pPr marL="420624" marR="0" lvl="0" indent="-384048" algn="l" defTabSz="914400" rtl="0" eaLnBrk="1" fontAlgn="auto" latinLnBrk="0" hangingPunct="1">
              <a:lnSpc>
                <a:spcPct val="100000"/>
              </a:lnSpc>
              <a:spcBef>
                <a:spcPts val="1200"/>
              </a:spcBef>
              <a:spcAft>
                <a:spcPts val="1200"/>
              </a:spcAft>
              <a:buClr>
                <a:schemeClr val="accent1"/>
              </a:buClr>
              <a:buSzPct val="80000"/>
              <a:buFont typeface="Wingdings 2"/>
              <a:buChar char=""/>
              <a:tabLst/>
              <a:defRPr/>
            </a:pPr>
            <a:r>
              <a:rPr lang="en-AU" sz="2200" b="1" dirty="0" smtClean="0">
                <a:latin typeface="Helvetica" pitchFamily="34" charset="0"/>
              </a:rPr>
              <a:t>Dirty utensils</a:t>
            </a:r>
          </a:p>
          <a:p>
            <a:pPr marL="420624" marR="0" lvl="0" indent="-384048" algn="l" defTabSz="914400" rtl="0" eaLnBrk="1" fontAlgn="auto" latinLnBrk="0" hangingPunct="1">
              <a:lnSpc>
                <a:spcPct val="100000"/>
              </a:lnSpc>
              <a:spcBef>
                <a:spcPts val="1200"/>
              </a:spcBef>
              <a:spcAft>
                <a:spcPts val="1200"/>
              </a:spcAft>
              <a:buClr>
                <a:schemeClr val="accent1"/>
              </a:buClr>
              <a:buSzPct val="80000"/>
              <a:buFont typeface="Wingdings 2"/>
              <a:buChar char=""/>
              <a:tabLst/>
              <a:defRPr/>
            </a:pPr>
            <a:r>
              <a:rPr lang="en-AU" sz="2200" b="1" dirty="0" smtClean="0">
                <a:latin typeface="Helvetica" pitchFamily="34" charset="0"/>
              </a:rPr>
              <a:t>Raw food making contact with </a:t>
            </a:r>
            <a:br>
              <a:rPr lang="en-AU" sz="2200" b="1" dirty="0" smtClean="0">
                <a:latin typeface="Helvetica" pitchFamily="34" charset="0"/>
              </a:rPr>
            </a:br>
            <a:r>
              <a:rPr lang="en-AU" sz="2200" b="1" dirty="0" smtClean="0">
                <a:latin typeface="Helvetica" pitchFamily="34" charset="0"/>
              </a:rPr>
              <a:t>cooked or ready-to-eat food</a:t>
            </a:r>
          </a:p>
          <a:p>
            <a:pPr marL="420624" marR="0" lvl="0" indent="-384048" algn="l" defTabSz="914400" rtl="0" eaLnBrk="1" fontAlgn="auto" latinLnBrk="0" hangingPunct="1">
              <a:lnSpc>
                <a:spcPct val="100000"/>
              </a:lnSpc>
              <a:spcBef>
                <a:spcPts val="1200"/>
              </a:spcBef>
              <a:spcAft>
                <a:spcPts val="1200"/>
              </a:spcAft>
              <a:buClr>
                <a:schemeClr val="accent1"/>
              </a:buClr>
              <a:buSzPct val="80000"/>
              <a:buFont typeface="Wingdings 2"/>
              <a:buChar char=""/>
              <a:tabLst/>
              <a:defRPr/>
            </a:pPr>
            <a:r>
              <a:rPr lang="en-AU" sz="2200" b="1" dirty="0" smtClean="0">
                <a:latin typeface="Helvetica" pitchFamily="34" charset="0"/>
              </a:rPr>
              <a:t>Failure of food handlers to </a:t>
            </a:r>
            <a:br>
              <a:rPr lang="en-AU" sz="2200" b="1" dirty="0" smtClean="0">
                <a:latin typeface="Helvetica" pitchFamily="34" charset="0"/>
              </a:rPr>
            </a:br>
            <a:r>
              <a:rPr lang="en-AU" sz="2200" b="1" dirty="0" smtClean="0">
                <a:latin typeface="Helvetica" pitchFamily="34" charset="0"/>
              </a:rPr>
              <a:t>wash their hands.</a:t>
            </a:r>
            <a:endParaRPr lang="en-US" sz="2200" b="1" dirty="0" smtClean="0">
              <a:latin typeface="Helvetica" pitchFamily="34" charset="0"/>
            </a:endParaRPr>
          </a:p>
          <a:p>
            <a:pPr marL="420624" marR="0" lvl="0" indent="-384048" algn="l" defTabSz="914400" rtl="0" eaLnBrk="1" fontAlgn="auto" latinLnBrk="0" hangingPunct="1">
              <a:lnSpc>
                <a:spcPct val="100000"/>
              </a:lnSpc>
              <a:spcBef>
                <a:spcPts val="1200"/>
              </a:spcBef>
              <a:spcAft>
                <a:spcPts val="1200"/>
              </a:spcAft>
              <a:buClr>
                <a:schemeClr val="accent1"/>
              </a:buClr>
              <a:buSzPct val="80000"/>
              <a:buFont typeface="Wingdings 2"/>
              <a:buChar char=""/>
              <a:tabLst/>
              <a:defRPr/>
            </a:pPr>
            <a:endParaRPr kumimoji="0" lang="en-AU" sz="2200" b="1" i="0" u="none" strike="noStrike" kern="1200" cap="none" spc="0" normalizeH="0" baseline="0" noProof="0" dirty="0" smtClean="0">
              <a:ln>
                <a:noFill/>
              </a:ln>
              <a:solidFill>
                <a:schemeClr val="tx1"/>
              </a:solidFill>
              <a:effectLst/>
              <a:uLnTx/>
              <a:uFillTx/>
              <a:latin typeface="Helvetica" pitchFamily="34" charset="0"/>
              <a:ea typeface="+mn-ea"/>
              <a:cs typeface="+mn-cs"/>
            </a:endParaRPr>
          </a:p>
          <a:p>
            <a:pPr marL="360000" marR="0" lvl="0" indent="-360000" algn="l" defTabSz="914400" rtl="0" eaLnBrk="1" fontAlgn="auto" latinLnBrk="0" hangingPunct="1">
              <a:lnSpc>
                <a:spcPct val="100000"/>
              </a:lnSpc>
              <a:spcBef>
                <a:spcPts val="1200"/>
              </a:spcBef>
              <a:spcAft>
                <a:spcPts val="1200"/>
              </a:spcAft>
              <a:buClr>
                <a:schemeClr val="accent1"/>
              </a:buClr>
              <a:buSzPct val="80000"/>
              <a:buFont typeface="Wingdings 2"/>
              <a:buNone/>
              <a:tabLst/>
              <a:defRPr/>
            </a:pPr>
            <a:endParaRPr kumimoji="0" lang="en-US" sz="2200" b="1" i="0" u="none" strike="noStrike" kern="1200" cap="none" spc="0" normalizeH="0" baseline="0" noProof="0" dirty="0" smtClean="0">
              <a:ln>
                <a:noFill/>
              </a:ln>
              <a:solidFill>
                <a:schemeClr val="tx1"/>
              </a:solidFill>
              <a:effectLst/>
              <a:uLnTx/>
              <a:uFillTx/>
              <a:latin typeface="Helvetica" pitchFamily="34" charset="0"/>
              <a:ea typeface="+mn-ea"/>
              <a:cs typeface="+mn-cs"/>
            </a:endParaRPr>
          </a:p>
        </p:txBody>
      </p:sp>
      <p:pic>
        <p:nvPicPr>
          <p:cNvPr id="7" name="Picture 6" descr="KitchenCCJonratcliffe.jpg"/>
          <p:cNvPicPr>
            <a:picLocks noChangeAspect="1"/>
          </p:cNvPicPr>
          <p:nvPr/>
        </p:nvPicPr>
        <p:blipFill>
          <a:blip r:embed="rId3" cstate="print"/>
          <a:stretch>
            <a:fillRect/>
          </a:stretch>
        </p:blipFill>
        <p:spPr>
          <a:xfrm>
            <a:off x="5786446" y="3714752"/>
            <a:ext cx="3000396" cy="2250297"/>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serve and store food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1200"/>
              </a:spcBef>
              <a:spcAft>
                <a:spcPts val="1200"/>
              </a:spcAft>
              <a:buNone/>
            </a:pPr>
            <a:r>
              <a:rPr lang="en-US" sz="2200" b="1" dirty="0" smtClean="0">
                <a:latin typeface="Helvetica" pitchFamily="34" charset="0"/>
              </a:rPr>
              <a:t>To reduce possibility of cross contamination:</a:t>
            </a:r>
          </a:p>
          <a:p>
            <a:pPr lvl="0">
              <a:spcBef>
                <a:spcPts val="1200"/>
              </a:spcBef>
              <a:spcAft>
                <a:spcPts val="1200"/>
              </a:spcAft>
            </a:pPr>
            <a:r>
              <a:rPr lang="en-AU" sz="2200" b="1" dirty="0" smtClean="0">
                <a:latin typeface="Helvetica" pitchFamily="34" charset="0"/>
              </a:rPr>
              <a:t>Wear clean clothes and clean protective clothing</a:t>
            </a:r>
          </a:p>
          <a:p>
            <a:pPr lvl="0">
              <a:spcBef>
                <a:spcPts val="1200"/>
              </a:spcBef>
              <a:spcAft>
                <a:spcPts val="1200"/>
              </a:spcAft>
            </a:pPr>
            <a:r>
              <a:rPr lang="en-AU" sz="2200" b="1" dirty="0" smtClean="0">
                <a:latin typeface="Helvetica" pitchFamily="34" charset="0"/>
              </a:rPr>
              <a:t>Clean and sanitise food equipment, utensils and preparation areas </a:t>
            </a:r>
          </a:p>
          <a:p>
            <a:pPr lvl="0">
              <a:spcBef>
                <a:spcPts val="1200"/>
              </a:spcBef>
              <a:spcAft>
                <a:spcPts val="1200"/>
              </a:spcAft>
            </a:pPr>
            <a:r>
              <a:rPr lang="en-AU" sz="2200" b="1" dirty="0" smtClean="0">
                <a:latin typeface="Helvetica" pitchFamily="34" charset="0"/>
              </a:rPr>
              <a:t>Use waterproof bandages </a:t>
            </a:r>
            <a:br>
              <a:rPr lang="en-AU" sz="2200" b="1" dirty="0" smtClean="0">
                <a:latin typeface="Helvetica" pitchFamily="34" charset="0"/>
              </a:rPr>
            </a:br>
            <a:r>
              <a:rPr lang="en-AU" sz="2200" b="1" dirty="0" smtClean="0">
                <a:latin typeface="Helvetica" pitchFamily="34" charset="0"/>
              </a:rPr>
              <a:t>and dressings </a:t>
            </a:r>
          </a:p>
          <a:p>
            <a:pPr lvl="0">
              <a:spcBef>
                <a:spcPts val="1200"/>
              </a:spcBef>
              <a:spcAft>
                <a:spcPts val="1200"/>
              </a:spcAft>
            </a:pPr>
            <a:r>
              <a:rPr lang="en-AU" sz="2200" b="1" dirty="0" smtClean="0">
                <a:latin typeface="Helvetica" pitchFamily="34" charset="0"/>
              </a:rPr>
              <a:t>Wash and properly dry hands </a:t>
            </a:r>
            <a:br>
              <a:rPr lang="en-AU" sz="2200" b="1" dirty="0" smtClean="0">
                <a:latin typeface="Helvetica" pitchFamily="34" charset="0"/>
              </a:rPr>
            </a:br>
            <a:r>
              <a:rPr lang="en-AU" sz="2200" b="1" dirty="0" smtClean="0">
                <a:latin typeface="Helvetica" pitchFamily="34" charset="0"/>
              </a:rPr>
              <a:t>when, and as required</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60</a:t>
            </a:fld>
            <a:endParaRPr lang="en-US" dirty="0"/>
          </a:p>
        </p:txBody>
      </p:sp>
      <p:pic>
        <p:nvPicPr>
          <p:cNvPr id="5" name="Picture 4" descr="RetailPhoto_Shoot_2007_11.jpg"/>
          <p:cNvPicPr>
            <a:picLocks noChangeAspect="1"/>
          </p:cNvPicPr>
          <p:nvPr/>
        </p:nvPicPr>
        <p:blipFill>
          <a:blip r:embed="rId3" cstate="print"/>
          <a:stretch>
            <a:fillRect/>
          </a:stretch>
        </p:blipFill>
        <p:spPr>
          <a:xfrm>
            <a:off x="5813432" y="3643314"/>
            <a:ext cx="3330568" cy="2216909"/>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serve and store food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b="1" dirty="0" smtClean="0">
                <a:latin typeface="Helvetica" pitchFamily="34" charset="0"/>
              </a:rPr>
              <a:t>Store cooked or ready-to-eat food above raw food</a:t>
            </a:r>
          </a:p>
          <a:p>
            <a:pPr marL="360000" indent="-360000">
              <a:spcBef>
                <a:spcPts val="1200"/>
              </a:spcBef>
              <a:spcAft>
                <a:spcPts val="1200"/>
              </a:spcAft>
            </a:pPr>
            <a:r>
              <a:rPr lang="en-US" sz="2200" b="1" dirty="0" smtClean="0">
                <a:latin typeface="Helvetica" pitchFamily="34" charset="0"/>
              </a:rPr>
              <a:t>Separate raw and cooked or ready-to-eat food</a:t>
            </a:r>
          </a:p>
          <a:p>
            <a:pPr marL="360000" indent="-360000">
              <a:spcBef>
                <a:spcPts val="1200"/>
              </a:spcBef>
              <a:spcAft>
                <a:spcPts val="1200"/>
              </a:spcAft>
            </a:pPr>
            <a:r>
              <a:rPr lang="en-US" sz="2200" b="1" dirty="0" smtClean="0">
                <a:latin typeface="Helvetica" pitchFamily="34" charset="0"/>
              </a:rPr>
              <a:t>Keep food covered</a:t>
            </a:r>
          </a:p>
          <a:p>
            <a:pPr marL="360000" indent="-360000">
              <a:spcBef>
                <a:spcPts val="1200"/>
              </a:spcBef>
              <a:spcAft>
                <a:spcPts val="1200"/>
              </a:spcAft>
            </a:pPr>
            <a:r>
              <a:rPr lang="en-US" sz="2200" b="1" dirty="0" smtClean="0">
                <a:latin typeface="Helvetica" pitchFamily="34" charset="0"/>
              </a:rPr>
              <a:t>Use separate sinks for washing salads </a:t>
            </a:r>
            <a:br>
              <a:rPr lang="en-US" sz="2200" b="1" dirty="0" smtClean="0">
                <a:latin typeface="Helvetica" pitchFamily="34" charset="0"/>
              </a:rPr>
            </a:br>
            <a:r>
              <a:rPr lang="en-US" sz="2200" b="1" dirty="0" smtClean="0">
                <a:latin typeface="Helvetica" pitchFamily="34" charset="0"/>
              </a:rPr>
              <a:t>and high risk foods</a:t>
            </a:r>
          </a:p>
          <a:p>
            <a:pPr marL="360000" indent="-360000">
              <a:spcBef>
                <a:spcPts val="1200"/>
              </a:spcBef>
              <a:spcAft>
                <a:spcPts val="1200"/>
              </a:spcAft>
            </a:pPr>
            <a:r>
              <a:rPr lang="en-US" sz="2200" b="1" dirty="0" smtClean="0">
                <a:latin typeface="Helvetica" pitchFamily="34" charset="0"/>
              </a:rPr>
              <a:t>Use different food handlers for raw and </a:t>
            </a:r>
            <a:br>
              <a:rPr lang="en-US" sz="2200" b="1" dirty="0" smtClean="0">
                <a:latin typeface="Helvetica" pitchFamily="34" charset="0"/>
              </a:rPr>
            </a:br>
            <a:r>
              <a:rPr lang="en-US" sz="2200" b="1" dirty="0" smtClean="0">
                <a:latin typeface="Helvetica" pitchFamily="34" charset="0"/>
              </a:rPr>
              <a:t>cooked or ready-to-eat foods.</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61</a:t>
            </a:fld>
            <a:endParaRPr lang="en-US" dirty="0"/>
          </a:p>
        </p:txBody>
      </p:sp>
      <p:pic>
        <p:nvPicPr>
          <p:cNvPr id="6" name="Picture 5" descr="food handling.jpg"/>
          <p:cNvPicPr>
            <a:picLocks noChangeAspect="1"/>
          </p:cNvPicPr>
          <p:nvPr/>
        </p:nvPicPr>
        <p:blipFill>
          <a:blip r:embed="rId3" cstate="print"/>
          <a:stretch>
            <a:fillRect/>
          </a:stretch>
        </p:blipFill>
        <p:spPr>
          <a:xfrm>
            <a:off x="6958929" y="2714620"/>
            <a:ext cx="2185071" cy="3000396"/>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serve and store food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72604"/>
          </a:xfrm>
        </p:spPr>
        <p:txBody>
          <a:bodyPr>
            <a:normAutofit/>
          </a:bodyPr>
          <a:lstStyle/>
          <a:p>
            <a:pPr marL="360000" indent="-360000">
              <a:spcBef>
                <a:spcPts val="1200"/>
              </a:spcBef>
              <a:spcAft>
                <a:spcPts val="1200"/>
              </a:spcAft>
            </a:pPr>
            <a:r>
              <a:rPr lang="en-US" sz="2200" b="1" dirty="0" smtClean="0">
                <a:latin typeface="Helvetica" pitchFamily="34" charset="0"/>
              </a:rPr>
              <a:t>Store chemicals separately from food</a:t>
            </a:r>
          </a:p>
          <a:p>
            <a:pPr marL="360000" indent="-360000">
              <a:spcBef>
                <a:spcPts val="1200"/>
              </a:spcBef>
              <a:spcAft>
                <a:spcPts val="1200"/>
              </a:spcAft>
            </a:pPr>
            <a:r>
              <a:rPr lang="en-US" sz="2200" b="1" dirty="0" smtClean="0">
                <a:latin typeface="Helvetica" pitchFamily="34" charset="0"/>
              </a:rPr>
              <a:t>Do not wear food handling clothes to and from work</a:t>
            </a:r>
          </a:p>
          <a:p>
            <a:pPr marL="360000" indent="-360000">
              <a:spcBef>
                <a:spcPts val="1200"/>
              </a:spcBef>
              <a:spcAft>
                <a:spcPts val="1200"/>
              </a:spcAft>
            </a:pPr>
            <a:r>
              <a:rPr lang="en-US" sz="2200" b="1" dirty="0" smtClean="0">
                <a:latin typeface="Helvetica" pitchFamily="34" charset="0"/>
              </a:rPr>
              <a:t>Use disposable towels</a:t>
            </a:r>
          </a:p>
          <a:p>
            <a:pPr marL="360000" indent="-360000">
              <a:spcBef>
                <a:spcPts val="1200"/>
              </a:spcBef>
              <a:spcAft>
                <a:spcPts val="1200"/>
              </a:spcAft>
            </a:pPr>
            <a:r>
              <a:rPr lang="en-US" sz="2200" b="1" dirty="0" smtClean="0">
                <a:latin typeface="Helvetica" pitchFamily="34" charset="0"/>
              </a:rPr>
              <a:t>Change disposable gloves regularly </a:t>
            </a:r>
            <a:br>
              <a:rPr lang="en-US" sz="2200" b="1" dirty="0" smtClean="0">
                <a:latin typeface="Helvetica" pitchFamily="34" charset="0"/>
              </a:rPr>
            </a:br>
            <a:r>
              <a:rPr lang="en-US" sz="2200" b="1" dirty="0" smtClean="0">
                <a:latin typeface="Helvetica" pitchFamily="34" charset="0"/>
              </a:rPr>
              <a:t>and when required</a:t>
            </a:r>
          </a:p>
          <a:p>
            <a:pPr marL="360000" indent="-360000">
              <a:spcBef>
                <a:spcPts val="1200"/>
              </a:spcBef>
              <a:spcAft>
                <a:spcPts val="1200"/>
              </a:spcAft>
            </a:pPr>
            <a:r>
              <a:rPr lang="en-US" sz="2200" b="1" dirty="0" smtClean="0">
                <a:latin typeface="Helvetica" pitchFamily="34" charset="0"/>
              </a:rPr>
              <a:t>Use colour-coded chopping boards</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62</a:t>
            </a:fld>
            <a:endParaRPr lang="en-US" dirty="0"/>
          </a:p>
        </p:txBody>
      </p:sp>
      <p:pic>
        <p:nvPicPr>
          <p:cNvPr id="5" name="Picture 4" descr="colour-coded chopping boards.jpg"/>
          <p:cNvPicPr>
            <a:picLocks noChangeAspect="1"/>
          </p:cNvPicPr>
          <p:nvPr/>
        </p:nvPicPr>
        <p:blipFill>
          <a:blip r:embed="rId3" cstate="print"/>
          <a:stretch>
            <a:fillRect/>
          </a:stretch>
        </p:blipFill>
        <p:spPr>
          <a:xfrm>
            <a:off x="6634138" y="2714620"/>
            <a:ext cx="2509862" cy="2587486"/>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serve and store food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44042"/>
          </a:xfrm>
        </p:spPr>
        <p:txBody>
          <a:bodyPr>
            <a:noAutofit/>
          </a:bodyPr>
          <a:lstStyle/>
          <a:p>
            <a:pPr marL="360000" indent="-360000">
              <a:spcBef>
                <a:spcPts val="600"/>
              </a:spcBef>
              <a:spcAft>
                <a:spcPts val="1200"/>
              </a:spcAft>
            </a:pPr>
            <a:r>
              <a:rPr lang="en-US" sz="2200" b="1" dirty="0" smtClean="0">
                <a:latin typeface="Helvetica" pitchFamily="34" charset="0"/>
              </a:rPr>
              <a:t>Never mix different batches of food</a:t>
            </a:r>
          </a:p>
          <a:p>
            <a:pPr marL="360000" indent="-360000">
              <a:spcBef>
                <a:spcPts val="600"/>
              </a:spcBef>
              <a:spcAft>
                <a:spcPts val="1200"/>
              </a:spcAft>
            </a:pPr>
            <a:r>
              <a:rPr lang="en-US" sz="2200" b="1" dirty="0" smtClean="0">
                <a:latin typeface="Helvetica" pitchFamily="34" charset="0"/>
              </a:rPr>
              <a:t>Do not put spoons used for tasting back into food</a:t>
            </a:r>
          </a:p>
          <a:p>
            <a:pPr marL="360000" indent="-360000">
              <a:spcBef>
                <a:spcPts val="600"/>
              </a:spcBef>
              <a:spcAft>
                <a:spcPts val="1200"/>
              </a:spcAft>
            </a:pPr>
            <a:r>
              <a:rPr lang="en-US" sz="2200" b="1" dirty="0" smtClean="0">
                <a:latin typeface="Helvetica" pitchFamily="34" charset="0"/>
              </a:rPr>
              <a:t>Do not cough or sneeze over food or food surfaces</a:t>
            </a:r>
          </a:p>
          <a:p>
            <a:pPr marL="360000" indent="-360000">
              <a:spcBef>
                <a:spcPts val="600"/>
              </a:spcBef>
              <a:spcAft>
                <a:spcPts val="1200"/>
              </a:spcAft>
            </a:pPr>
            <a:r>
              <a:rPr lang="en-US" sz="2200" b="1" dirty="0" smtClean="0">
                <a:latin typeface="Helvetica" pitchFamily="34" charset="0"/>
              </a:rPr>
              <a:t>Clean and sanitise knives between raw </a:t>
            </a:r>
            <a:br>
              <a:rPr lang="en-US" sz="2200" b="1" dirty="0" smtClean="0">
                <a:latin typeface="Helvetica" pitchFamily="34" charset="0"/>
              </a:rPr>
            </a:br>
            <a:r>
              <a:rPr lang="en-US" sz="2200" b="1" dirty="0" smtClean="0">
                <a:latin typeface="Helvetica" pitchFamily="34" charset="0"/>
              </a:rPr>
              <a:t>and cooked foods</a:t>
            </a:r>
          </a:p>
          <a:p>
            <a:pPr marL="360000" indent="-360000">
              <a:spcBef>
                <a:spcPts val="600"/>
              </a:spcBef>
              <a:spcAft>
                <a:spcPts val="1200"/>
              </a:spcAft>
            </a:pPr>
            <a:r>
              <a:rPr lang="en-US" sz="2200" b="1" dirty="0" smtClean="0">
                <a:latin typeface="Helvetica" pitchFamily="34" charset="0"/>
              </a:rPr>
              <a:t>Clean and sanitise preparation </a:t>
            </a:r>
            <a:br>
              <a:rPr lang="en-US" sz="2200" b="1" dirty="0" smtClean="0">
                <a:latin typeface="Helvetica" pitchFamily="34" charset="0"/>
              </a:rPr>
            </a:br>
            <a:r>
              <a:rPr lang="en-US" sz="2200" b="1" dirty="0" smtClean="0">
                <a:latin typeface="Helvetica" pitchFamily="34" charset="0"/>
              </a:rPr>
              <a:t>surfaces every 4 hours</a:t>
            </a:r>
          </a:p>
          <a:p>
            <a:pPr marL="360000" indent="-360000">
              <a:spcBef>
                <a:spcPts val="600"/>
              </a:spcBef>
              <a:spcAft>
                <a:spcPts val="1200"/>
              </a:spcAft>
            </a:pPr>
            <a:r>
              <a:rPr lang="en-US" sz="2200" b="1" dirty="0" smtClean="0">
                <a:latin typeface="Helvetica" pitchFamily="34" charset="0"/>
              </a:rPr>
              <a:t>Only use kitchen equipment in </a:t>
            </a:r>
            <a:br>
              <a:rPr lang="en-US" sz="2200" b="1" dirty="0" smtClean="0">
                <a:latin typeface="Helvetica" pitchFamily="34" charset="0"/>
              </a:rPr>
            </a:br>
            <a:r>
              <a:rPr lang="en-US" sz="2200" b="1" dirty="0" smtClean="0">
                <a:latin typeface="Helvetica" pitchFamily="34" charset="0"/>
              </a:rPr>
              <a:t>the kitchen</a:t>
            </a:r>
          </a:p>
          <a:p>
            <a:pPr marL="360000" indent="-360000">
              <a:spcBef>
                <a:spcPts val="600"/>
              </a:spcBef>
              <a:spcAft>
                <a:spcPts val="1200"/>
              </a:spcAft>
              <a:buNone/>
            </a:pPr>
            <a:r>
              <a:rPr lang="en-US" sz="2200" b="1" dirty="0" smtClean="0">
                <a:latin typeface="Helvetica" pitchFamily="34" charset="0"/>
              </a:rPr>
              <a:t>(Continued)</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63</a:t>
            </a:fld>
            <a:endParaRPr lang="en-US" dirty="0"/>
          </a:p>
        </p:txBody>
      </p:sp>
      <p:pic>
        <p:nvPicPr>
          <p:cNvPr id="5" name="Picture 4" descr="Mixing salad.jpg"/>
          <p:cNvPicPr>
            <a:picLocks noChangeAspect="1"/>
          </p:cNvPicPr>
          <p:nvPr/>
        </p:nvPicPr>
        <p:blipFill>
          <a:blip r:embed="rId3" cstate="print"/>
          <a:stretch>
            <a:fillRect/>
          </a:stretch>
        </p:blipFill>
        <p:spPr>
          <a:xfrm>
            <a:off x="6397736" y="3929066"/>
            <a:ext cx="2746264" cy="225521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serve and store food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01166"/>
          </a:xfrm>
        </p:spPr>
        <p:txBody>
          <a:bodyPr>
            <a:normAutofit lnSpcReduction="10000"/>
          </a:bodyPr>
          <a:lstStyle/>
          <a:p>
            <a:pPr marL="360000" indent="-360000">
              <a:spcBef>
                <a:spcPts val="1200"/>
              </a:spcBef>
              <a:spcAft>
                <a:spcPts val="1200"/>
              </a:spcAft>
            </a:pPr>
            <a:r>
              <a:rPr lang="en-US" sz="2200" b="1" dirty="0" smtClean="0">
                <a:latin typeface="Helvetica" pitchFamily="34" charset="0"/>
              </a:rPr>
              <a:t>Repair cracked tiles</a:t>
            </a:r>
          </a:p>
          <a:p>
            <a:pPr marL="360000" indent="-360000">
              <a:spcBef>
                <a:spcPts val="1200"/>
              </a:spcBef>
              <a:spcAft>
                <a:spcPts val="1200"/>
              </a:spcAft>
            </a:pPr>
            <a:r>
              <a:rPr lang="en-US" sz="2200" b="1" dirty="0" smtClean="0">
                <a:latin typeface="Helvetica" pitchFamily="34" charset="0"/>
              </a:rPr>
              <a:t>Exclude vermin</a:t>
            </a:r>
          </a:p>
          <a:p>
            <a:pPr marL="360000" indent="-360000">
              <a:spcBef>
                <a:spcPts val="1200"/>
              </a:spcBef>
              <a:spcAft>
                <a:spcPts val="1200"/>
              </a:spcAft>
            </a:pPr>
            <a:r>
              <a:rPr lang="en-US" sz="2200" b="1" dirty="0" smtClean="0">
                <a:latin typeface="Helvetica" pitchFamily="34" charset="0"/>
              </a:rPr>
              <a:t>Discard contaminated food</a:t>
            </a:r>
          </a:p>
          <a:p>
            <a:pPr marL="360000" indent="-360000">
              <a:spcBef>
                <a:spcPts val="1200"/>
              </a:spcBef>
              <a:spcAft>
                <a:spcPts val="1200"/>
              </a:spcAft>
            </a:pPr>
            <a:r>
              <a:rPr lang="en-US" sz="2200" b="1" dirty="0" smtClean="0">
                <a:latin typeface="Helvetica" pitchFamily="34" charset="0"/>
              </a:rPr>
              <a:t>Exclude ill employees from food handling</a:t>
            </a:r>
          </a:p>
          <a:p>
            <a:pPr marL="360000" indent="-360000">
              <a:spcBef>
                <a:spcPts val="1200"/>
              </a:spcBef>
              <a:spcAft>
                <a:spcPts val="1200"/>
              </a:spcAft>
            </a:pPr>
            <a:r>
              <a:rPr lang="en-US" sz="2200" b="1" dirty="0" smtClean="0">
                <a:latin typeface="Helvetica" pitchFamily="34" charset="0"/>
              </a:rPr>
              <a:t>Protect displayed food from </a:t>
            </a:r>
            <a:br>
              <a:rPr lang="en-US" sz="2200" b="1" dirty="0" smtClean="0">
                <a:latin typeface="Helvetica" pitchFamily="34" charset="0"/>
              </a:rPr>
            </a:br>
            <a:r>
              <a:rPr lang="en-US" sz="2200" b="1" dirty="0" smtClean="0">
                <a:latin typeface="Helvetica" pitchFamily="34" charset="0"/>
              </a:rPr>
              <a:t>contamination</a:t>
            </a:r>
          </a:p>
          <a:p>
            <a:pPr marL="360000" indent="-360000">
              <a:spcBef>
                <a:spcPts val="1200"/>
              </a:spcBef>
              <a:spcAft>
                <a:spcPts val="1200"/>
              </a:spcAft>
            </a:pPr>
            <a:r>
              <a:rPr lang="en-US" sz="2200" b="1" dirty="0" smtClean="0">
                <a:latin typeface="Helvetica" pitchFamily="34" charset="0"/>
              </a:rPr>
              <a:t>Throw out all food that has been </a:t>
            </a:r>
            <a:br>
              <a:rPr lang="en-US" sz="2200" b="1" dirty="0" smtClean="0">
                <a:latin typeface="Helvetica" pitchFamily="34" charset="0"/>
              </a:rPr>
            </a:br>
            <a:r>
              <a:rPr lang="en-US" sz="2200" b="1" dirty="0" smtClean="0">
                <a:latin typeface="Helvetica" pitchFamily="34" charset="0"/>
              </a:rPr>
              <a:t>dropped on the floor</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64</a:t>
            </a:fld>
            <a:endParaRPr lang="en-US" dirty="0"/>
          </a:p>
        </p:txBody>
      </p:sp>
      <p:pic>
        <p:nvPicPr>
          <p:cNvPr id="6" name="Picture 5" descr="dsc_0155.jpg"/>
          <p:cNvPicPr>
            <a:picLocks noChangeAspect="1"/>
          </p:cNvPicPr>
          <p:nvPr/>
        </p:nvPicPr>
        <p:blipFill>
          <a:blip r:embed="rId3" cstate="print"/>
          <a:stretch>
            <a:fillRect/>
          </a:stretch>
        </p:blipFill>
        <p:spPr>
          <a:xfrm>
            <a:off x="5602285" y="3857628"/>
            <a:ext cx="3541715" cy="2357454"/>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serve and store food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b="1" dirty="0" smtClean="0">
                <a:latin typeface="Helvetica" pitchFamily="34" charset="0"/>
              </a:rPr>
              <a:t>Throw out all ‘plate waste’</a:t>
            </a:r>
          </a:p>
          <a:p>
            <a:pPr marL="360000" indent="-360000">
              <a:spcBef>
                <a:spcPts val="1200"/>
              </a:spcBef>
              <a:spcAft>
                <a:spcPts val="1200"/>
              </a:spcAft>
            </a:pPr>
            <a:r>
              <a:rPr lang="en-US" sz="2200" b="1" dirty="0" smtClean="0">
                <a:latin typeface="Helvetica" pitchFamily="34" charset="0"/>
              </a:rPr>
              <a:t>Use single-use items only once</a:t>
            </a:r>
          </a:p>
          <a:p>
            <a:pPr marL="360000" indent="-360000">
              <a:spcBef>
                <a:spcPts val="1200"/>
              </a:spcBef>
              <a:spcAft>
                <a:spcPts val="1200"/>
              </a:spcAft>
            </a:pPr>
            <a:r>
              <a:rPr lang="en-US" sz="2200" b="1" dirty="0" smtClean="0">
                <a:latin typeface="Helvetica" pitchFamily="34" charset="0"/>
              </a:rPr>
              <a:t>Use food-grade materials for </a:t>
            </a:r>
            <a:br>
              <a:rPr lang="en-US" sz="2200" b="1" dirty="0" smtClean="0">
                <a:latin typeface="Helvetica" pitchFamily="34" charset="0"/>
              </a:rPr>
            </a:br>
            <a:r>
              <a:rPr lang="en-US" sz="2200" b="1" dirty="0" smtClean="0">
                <a:latin typeface="Helvetica" pitchFamily="34" charset="0"/>
              </a:rPr>
              <a:t>storing food</a:t>
            </a:r>
          </a:p>
          <a:p>
            <a:pPr marL="360000" indent="-360000">
              <a:spcBef>
                <a:spcPts val="1200"/>
              </a:spcBef>
              <a:spcAft>
                <a:spcPts val="1200"/>
              </a:spcAft>
            </a:pPr>
            <a:r>
              <a:rPr lang="en-US" sz="2200" b="1" dirty="0" smtClean="0">
                <a:latin typeface="Helvetica" pitchFamily="34" charset="0"/>
              </a:rPr>
              <a:t>Use workplace posters to remind </a:t>
            </a:r>
            <a:br>
              <a:rPr lang="en-US" sz="2200" b="1" dirty="0" smtClean="0">
                <a:latin typeface="Helvetica" pitchFamily="34" charset="0"/>
              </a:rPr>
            </a:br>
            <a:r>
              <a:rPr lang="en-US" sz="2200" b="1" dirty="0" smtClean="0">
                <a:latin typeface="Helvetica" pitchFamily="34" charset="0"/>
              </a:rPr>
              <a:t>staff of required practices</a:t>
            </a:r>
          </a:p>
          <a:p>
            <a:pPr marL="360000" indent="-360000">
              <a:spcBef>
                <a:spcPts val="1200"/>
              </a:spcBef>
              <a:spcAft>
                <a:spcPts val="1200"/>
              </a:spcAft>
            </a:pPr>
            <a:r>
              <a:rPr lang="en-US" sz="2200" b="1" dirty="0" smtClean="0">
                <a:latin typeface="Helvetica" pitchFamily="34" charset="0"/>
              </a:rPr>
              <a:t>Inspect all food deliveries.</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65</a:t>
            </a:fld>
            <a:endParaRPr lang="en-US" dirty="0"/>
          </a:p>
        </p:txBody>
      </p:sp>
      <p:pic>
        <p:nvPicPr>
          <p:cNvPr id="6" name="Picture 5" descr="food poisoning sign.jpg"/>
          <p:cNvPicPr>
            <a:picLocks noChangeAspect="1"/>
          </p:cNvPicPr>
          <p:nvPr/>
        </p:nvPicPr>
        <p:blipFill>
          <a:blip r:embed="rId3" cstate="print"/>
          <a:stretch>
            <a:fillRect/>
          </a:stretch>
        </p:blipFill>
        <p:spPr>
          <a:xfrm>
            <a:off x="6642553" y="1857364"/>
            <a:ext cx="2501447" cy="337882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serve and store food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Re-heating previously cooked food:</a:t>
            </a:r>
          </a:p>
          <a:p>
            <a:pPr marL="360000" indent="-360000">
              <a:spcBef>
                <a:spcPts val="1200"/>
              </a:spcBef>
              <a:spcAft>
                <a:spcPts val="1200"/>
              </a:spcAft>
            </a:pPr>
            <a:r>
              <a:rPr lang="en-US" sz="2200" b="1" dirty="0" smtClean="0">
                <a:latin typeface="Helvetica" pitchFamily="34" charset="0"/>
              </a:rPr>
              <a:t>Is legal</a:t>
            </a:r>
          </a:p>
          <a:p>
            <a:pPr marL="360000" indent="-360000">
              <a:spcBef>
                <a:spcPts val="1200"/>
              </a:spcBef>
              <a:spcAft>
                <a:spcPts val="1200"/>
              </a:spcAft>
            </a:pPr>
            <a:r>
              <a:rPr lang="en-US" sz="2200" b="1" dirty="0" smtClean="0">
                <a:latin typeface="Helvetica" pitchFamily="34" charset="0"/>
              </a:rPr>
              <a:t>Can only be done once</a:t>
            </a:r>
          </a:p>
          <a:p>
            <a:pPr marL="360000" indent="-360000">
              <a:spcBef>
                <a:spcPts val="1200"/>
              </a:spcBef>
              <a:spcAft>
                <a:spcPts val="1200"/>
              </a:spcAft>
            </a:pPr>
            <a:r>
              <a:rPr lang="en-US" sz="2200" b="1" dirty="0" smtClean="0">
                <a:latin typeface="Helvetica" pitchFamily="34" charset="0"/>
              </a:rPr>
              <a:t>Can apply to ‘leftovers’ and to foods </a:t>
            </a:r>
            <a:br>
              <a:rPr lang="en-US" sz="2200" b="1" dirty="0" smtClean="0">
                <a:latin typeface="Helvetica" pitchFamily="34" charset="0"/>
              </a:rPr>
            </a:br>
            <a:r>
              <a:rPr lang="en-US" sz="2200" b="1" dirty="0" smtClean="0">
                <a:latin typeface="Helvetica" pitchFamily="34" charset="0"/>
              </a:rPr>
              <a:t>deliberately prepared in advance for </a:t>
            </a:r>
            <a:br>
              <a:rPr lang="en-US" sz="2200" b="1" dirty="0" smtClean="0">
                <a:latin typeface="Helvetica" pitchFamily="34" charset="0"/>
              </a:rPr>
            </a:br>
            <a:r>
              <a:rPr lang="en-US" sz="2200" b="1" dirty="0" smtClean="0">
                <a:latin typeface="Helvetica" pitchFamily="34" charset="0"/>
              </a:rPr>
              <a:t>later re-heating and service.</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66</a:t>
            </a:fld>
            <a:endParaRPr lang="en-US" dirty="0"/>
          </a:p>
        </p:txBody>
      </p:sp>
      <p:pic>
        <p:nvPicPr>
          <p:cNvPr id="5" name="Picture 4" descr="Chef 3.jpg"/>
          <p:cNvPicPr>
            <a:picLocks noChangeAspect="1"/>
          </p:cNvPicPr>
          <p:nvPr/>
        </p:nvPicPr>
        <p:blipFill>
          <a:blip r:embed="rId3" cstate="print"/>
          <a:stretch>
            <a:fillRect/>
          </a:stretch>
        </p:blipFill>
        <p:spPr>
          <a:xfrm>
            <a:off x="6286512" y="2571744"/>
            <a:ext cx="2586079" cy="2586079"/>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serve and store food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Safe re-heating practices:</a:t>
            </a:r>
          </a:p>
          <a:p>
            <a:pPr marL="360000" indent="-360000">
              <a:spcBef>
                <a:spcPts val="1200"/>
              </a:spcBef>
              <a:spcAft>
                <a:spcPts val="1200"/>
              </a:spcAft>
            </a:pPr>
            <a:r>
              <a:rPr lang="en-US" sz="2200" b="1" dirty="0" smtClean="0">
                <a:latin typeface="Helvetica" pitchFamily="34" charset="0"/>
              </a:rPr>
              <a:t>Re-heat in small quantities, not large</a:t>
            </a:r>
          </a:p>
          <a:p>
            <a:pPr marL="360000" indent="-360000">
              <a:spcBef>
                <a:spcPts val="1200"/>
              </a:spcBef>
              <a:spcAft>
                <a:spcPts val="1200"/>
              </a:spcAft>
            </a:pPr>
            <a:r>
              <a:rPr lang="en-US" sz="2200" b="1" dirty="0" smtClean="0">
                <a:latin typeface="Helvetica" pitchFamily="34" charset="0"/>
              </a:rPr>
              <a:t>Do not use bain marie for re-heating</a:t>
            </a:r>
          </a:p>
          <a:p>
            <a:pPr marL="360000" indent="-360000">
              <a:spcBef>
                <a:spcPts val="1200"/>
              </a:spcBef>
              <a:spcAft>
                <a:spcPts val="1200"/>
              </a:spcAft>
            </a:pPr>
            <a:r>
              <a:rPr lang="en-US" sz="2200" b="1" dirty="0" smtClean="0">
                <a:latin typeface="Helvetica" pitchFamily="34" charset="0"/>
              </a:rPr>
              <a:t>Cover food whilst being re-heated</a:t>
            </a:r>
          </a:p>
          <a:p>
            <a:pPr marL="360000" indent="-360000">
              <a:spcBef>
                <a:spcPts val="1200"/>
              </a:spcBef>
              <a:spcAft>
                <a:spcPts val="1200"/>
              </a:spcAft>
            </a:pPr>
            <a:r>
              <a:rPr lang="en-US" sz="2200" b="1" dirty="0" smtClean="0">
                <a:latin typeface="Helvetica" pitchFamily="34" charset="0"/>
              </a:rPr>
              <a:t>Bain marie must hold hot high </a:t>
            </a:r>
            <a:br>
              <a:rPr lang="en-US" sz="2200" b="1" dirty="0" smtClean="0">
                <a:latin typeface="Helvetica" pitchFamily="34" charset="0"/>
              </a:rPr>
            </a:br>
            <a:r>
              <a:rPr lang="en-US" sz="2200" b="1" dirty="0" smtClean="0">
                <a:latin typeface="Helvetica" pitchFamily="34" charset="0"/>
              </a:rPr>
              <a:t>risk food at </a:t>
            </a:r>
            <a:r>
              <a:rPr lang="en-AU" sz="2200" b="1" dirty="0" smtClean="0">
                <a:latin typeface="Helvetica" pitchFamily="34" charset="0"/>
              </a:rPr>
              <a:t>minimum 60°C</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67</a:t>
            </a:fld>
            <a:endParaRPr lang="en-US" dirty="0"/>
          </a:p>
        </p:txBody>
      </p:sp>
      <p:pic>
        <p:nvPicPr>
          <p:cNvPr id="11266" name="Picture 2" descr="C:\Users\fgvghyujil\AppData\Local\Microsoft\Windows\Temporary Internet Files\Content.IE5\SIE7KNHZ\MC900352437[1].wmf"/>
          <p:cNvPicPr>
            <a:picLocks noChangeAspect="1" noChangeArrowheads="1"/>
          </p:cNvPicPr>
          <p:nvPr/>
        </p:nvPicPr>
        <p:blipFill>
          <a:blip r:embed="rId3" cstate="print"/>
          <a:srcRect/>
          <a:stretch>
            <a:fillRect/>
          </a:stretch>
        </p:blipFill>
        <p:spPr bwMode="auto">
          <a:xfrm>
            <a:off x="5929322" y="3407566"/>
            <a:ext cx="3214678" cy="1809785"/>
          </a:xfrm>
          <a:prstGeom prst="rect">
            <a:avLst/>
          </a:prstGeom>
          <a:noFill/>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serve and store food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b="1" dirty="0" smtClean="0">
                <a:latin typeface="Helvetica" pitchFamily="34" charset="0"/>
              </a:rPr>
              <a:t>Re-heat immediately before service</a:t>
            </a:r>
          </a:p>
          <a:p>
            <a:pPr marL="360000" indent="-360000">
              <a:spcBef>
                <a:spcPts val="1200"/>
              </a:spcBef>
              <a:spcAft>
                <a:spcPts val="1200"/>
              </a:spcAft>
            </a:pPr>
            <a:r>
              <a:rPr lang="en-US" sz="2200" b="1" dirty="0" smtClean="0">
                <a:latin typeface="Helvetica" pitchFamily="34" charset="0"/>
              </a:rPr>
              <a:t>Stir wet dishes held in bain maries</a:t>
            </a:r>
          </a:p>
          <a:p>
            <a:pPr marL="360000" indent="-360000">
              <a:spcBef>
                <a:spcPts val="1200"/>
              </a:spcBef>
              <a:spcAft>
                <a:spcPts val="1200"/>
              </a:spcAft>
            </a:pPr>
            <a:r>
              <a:rPr lang="en-US" sz="2200" b="1" dirty="0" smtClean="0">
                <a:latin typeface="Helvetica" pitchFamily="34" charset="0"/>
              </a:rPr>
              <a:t>Re-heat to </a:t>
            </a:r>
            <a:r>
              <a:rPr lang="en-AU" sz="2200" b="1" dirty="0" smtClean="0">
                <a:latin typeface="Helvetica" pitchFamily="34" charset="0"/>
              </a:rPr>
              <a:t>70°C for 2 minutes</a:t>
            </a:r>
          </a:p>
          <a:p>
            <a:pPr marL="360000" indent="-360000">
              <a:spcBef>
                <a:spcPts val="1200"/>
              </a:spcBef>
              <a:spcAft>
                <a:spcPts val="1200"/>
              </a:spcAft>
            </a:pPr>
            <a:r>
              <a:rPr lang="en-AU" sz="2200" b="1" dirty="0" smtClean="0">
                <a:latin typeface="Helvetica" pitchFamily="34" charset="0"/>
              </a:rPr>
              <a:t>Re-heat food as soon as it comes </a:t>
            </a:r>
            <a:br>
              <a:rPr lang="en-AU" sz="2200" b="1" dirty="0" smtClean="0">
                <a:latin typeface="Helvetica" pitchFamily="34" charset="0"/>
              </a:rPr>
            </a:br>
            <a:r>
              <a:rPr lang="en-AU" sz="2200" b="1" dirty="0" smtClean="0">
                <a:latin typeface="Helvetica" pitchFamily="34" charset="0"/>
              </a:rPr>
              <a:t>from refrigerator</a:t>
            </a:r>
          </a:p>
          <a:p>
            <a:pPr marL="360000" indent="-360000">
              <a:spcBef>
                <a:spcPts val="1200"/>
              </a:spcBef>
              <a:spcAft>
                <a:spcPts val="1200"/>
              </a:spcAft>
            </a:pPr>
            <a:r>
              <a:rPr lang="en-AU" sz="2200" b="1" dirty="0" smtClean="0">
                <a:latin typeface="Helvetica" pitchFamily="34" charset="0"/>
              </a:rPr>
              <a:t>Check temperature of food </a:t>
            </a:r>
            <a:br>
              <a:rPr lang="en-AU" sz="2200" b="1" dirty="0" smtClean="0">
                <a:latin typeface="Helvetica" pitchFamily="34" charset="0"/>
              </a:rPr>
            </a:br>
            <a:r>
              <a:rPr lang="en-AU" sz="2200" b="1" dirty="0" smtClean="0">
                <a:latin typeface="Helvetica" pitchFamily="34" charset="0"/>
              </a:rPr>
              <a:t>being held.</a:t>
            </a:r>
            <a:endParaRPr lang="en-US" sz="2200" b="1" dirty="0" smtClean="0">
              <a:latin typeface="Helvetica" pitchFamily="34" charset="0"/>
            </a:endParaRP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68</a:t>
            </a:fld>
            <a:endParaRPr lang="en-US" dirty="0"/>
          </a:p>
        </p:txBody>
      </p:sp>
      <p:pic>
        <p:nvPicPr>
          <p:cNvPr id="12290" name="Picture 2" descr="C:\Users\fgvghyujil\AppData\Local\Microsoft\Windows\Temporary Internet Files\Content.IE5\3J5365UD\MC900016759[1].wmf"/>
          <p:cNvPicPr>
            <a:picLocks noChangeAspect="1" noChangeArrowheads="1"/>
          </p:cNvPicPr>
          <p:nvPr/>
        </p:nvPicPr>
        <p:blipFill>
          <a:blip r:embed="rId3" cstate="print"/>
          <a:srcRect/>
          <a:stretch>
            <a:fillRect/>
          </a:stretch>
        </p:blipFill>
        <p:spPr bwMode="auto">
          <a:xfrm>
            <a:off x="5857884" y="3357562"/>
            <a:ext cx="2735671" cy="2199514"/>
          </a:xfrm>
          <a:prstGeom prst="rect">
            <a:avLst/>
          </a:prstGeom>
          <a:noFill/>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serve and store food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Serving food to customers – there are two options:</a:t>
            </a:r>
          </a:p>
          <a:p>
            <a:pPr marL="360000" indent="-360000">
              <a:spcBef>
                <a:spcPts val="1200"/>
              </a:spcBef>
              <a:spcAft>
                <a:spcPts val="1200"/>
              </a:spcAft>
            </a:pPr>
            <a:r>
              <a:rPr lang="en-US" sz="2200" b="1" dirty="0" smtClean="0">
                <a:latin typeface="Helvetica" pitchFamily="34" charset="0"/>
              </a:rPr>
              <a:t>Staff serve the customers</a:t>
            </a:r>
          </a:p>
          <a:p>
            <a:pPr marL="360000" indent="-360000">
              <a:spcBef>
                <a:spcPts val="1200"/>
              </a:spcBef>
              <a:spcAft>
                <a:spcPts val="1200"/>
              </a:spcAft>
            </a:pPr>
            <a:r>
              <a:rPr lang="en-US" sz="2200" b="1" dirty="0" smtClean="0">
                <a:latin typeface="Helvetica" pitchFamily="34" charset="0"/>
              </a:rPr>
              <a:t>Customers serve themselves.</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69</a:t>
            </a:fld>
            <a:endParaRPr lang="en-US" dirty="0"/>
          </a:p>
        </p:txBody>
      </p:sp>
      <p:pic>
        <p:nvPicPr>
          <p:cNvPr id="5" name="Picture 4" descr="hospitality7.jpg"/>
          <p:cNvPicPr>
            <a:picLocks noChangeAspect="1"/>
          </p:cNvPicPr>
          <p:nvPr/>
        </p:nvPicPr>
        <p:blipFill>
          <a:blip r:embed="rId3" cstate="print"/>
          <a:stretch>
            <a:fillRect/>
          </a:stretch>
        </p:blipFill>
        <p:spPr>
          <a:xfrm>
            <a:off x="7072298" y="2143116"/>
            <a:ext cx="2071702" cy="3083465"/>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serve and store food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When staff serve customers:</a:t>
            </a:r>
          </a:p>
          <a:p>
            <a:pPr marL="360000" indent="-360000">
              <a:spcBef>
                <a:spcPts val="1200"/>
              </a:spcBef>
              <a:spcAft>
                <a:spcPts val="1200"/>
              </a:spcAft>
            </a:pPr>
            <a:r>
              <a:rPr lang="en-US" sz="2200" b="1" dirty="0" smtClean="0">
                <a:latin typeface="Helvetica" pitchFamily="34" charset="0"/>
              </a:rPr>
              <a:t>Keep hot food, hot</a:t>
            </a:r>
          </a:p>
          <a:p>
            <a:pPr marL="360000" indent="-360000">
              <a:spcBef>
                <a:spcPts val="1200"/>
              </a:spcBef>
              <a:spcAft>
                <a:spcPts val="1200"/>
              </a:spcAft>
            </a:pPr>
            <a:r>
              <a:rPr lang="en-US" sz="2200" b="1" dirty="0" smtClean="0">
                <a:latin typeface="Helvetica" pitchFamily="34" charset="0"/>
              </a:rPr>
              <a:t>Keep cold food, cold</a:t>
            </a:r>
          </a:p>
          <a:p>
            <a:pPr marL="360000" indent="-360000">
              <a:spcBef>
                <a:spcPts val="1200"/>
              </a:spcBef>
              <a:spcAft>
                <a:spcPts val="1200"/>
              </a:spcAft>
            </a:pPr>
            <a:r>
              <a:rPr lang="en-US" sz="2200" b="1" dirty="0" smtClean="0">
                <a:latin typeface="Helvetica" pitchFamily="34" charset="0"/>
              </a:rPr>
              <a:t>Use clean serving utensils</a:t>
            </a:r>
          </a:p>
          <a:p>
            <a:pPr marL="360000" indent="-360000">
              <a:spcBef>
                <a:spcPts val="1200"/>
              </a:spcBef>
              <a:spcAft>
                <a:spcPts val="1200"/>
              </a:spcAft>
            </a:pPr>
            <a:r>
              <a:rPr lang="en-US" sz="2200" b="1" dirty="0" smtClean="0">
                <a:latin typeface="Helvetica" pitchFamily="34" charset="0"/>
              </a:rPr>
              <a:t>Do not touch food with bare hands</a:t>
            </a:r>
          </a:p>
          <a:p>
            <a:pPr marL="360000" indent="-360000">
              <a:spcBef>
                <a:spcPts val="1200"/>
              </a:spcBef>
              <a:spcAft>
                <a:spcPts val="1200"/>
              </a:spcAft>
            </a:pPr>
            <a:r>
              <a:rPr lang="en-US" sz="2200" b="1" dirty="0" smtClean="0">
                <a:latin typeface="Helvetica" pitchFamily="34" charset="0"/>
              </a:rPr>
              <a:t>Serve on to clean plates, or in to clean containers</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70</a:t>
            </a:fld>
            <a:endParaRPr lang="en-US" dirty="0"/>
          </a:p>
        </p:txBody>
      </p:sp>
      <p:pic>
        <p:nvPicPr>
          <p:cNvPr id="5" name="Picture 4" descr="dsc_0151.jpg"/>
          <p:cNvPicPr>
            <a:picLocks noChangeAspect="1"/>
          </p:cNvPicPr>
          <p:nvPr/>
        </p:nvPicPr>
        <p:blipFill>
          <a:blip r:embed="rId3" cstate="print"/>
          <a:stretch>
            <a:fillRect/>
          </a:stretch>
        </p:blipFill>
        <p:spPr>
          <a:xfrm>
            <a:off x="5810227" y="1571612"/>
            <a:ext cx="3333773" cy="2500330"/>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serve and store food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360000" indent="-360000">
              <a:spcBef>
                <a:spcPts val="1200"/>
              </a:spcBef>
              <a:spcAft>
                <a:spcPts val="1200"/>
              </a:spcAft>
            </a:pPr>
            <a:r>
              <a:rPr lang="en-US" sz="2200" b="1" dirty="0" smtClean="0">
                <a:latin typeface="Helvetica" pitchFamily="34" charset="0"/>
              </a:rPr>
              <a:t>Protect plates and service items from contamination</a:t>
            </a:r>
          </a:p>
          <a:p>
            <a:pPr marL="360000" indent="-360000">
              <a:spcBef>
                <a:spcPts val="1200"/>
              </a:spcBef>
              <a:spcAft>
                <a:spcPts val="1200"/>
              </a:spcAft>
            </a:pPr>
            <a:r>
              <a:rPr lang="en-US" sz="2200" b="1" dirty="0" smtClean="0">
                <a:latin typeface="Helvetica" pitchFamily="34" charset="0"/>
              </a:rPr>
              <a:t>Only use single-use items once</a:t>
            </a:r>
          </a:p>
          <a:p>
            <a:pPr marL="360000" indent="-360000">
              <a:spcBef>
                <a:spcPts val="1200"/>
              </a:spcBef>
              <a:spcAft>
                <a:spcPts val="1200"/>
              </a:spcAft>
            </a:pPr>
            <a:r>
              <a:rPr lang="en-US" sz="2200" b="1" dirty="0" smtClean="0">
                <a:latin typeface="Helvetica" pitchFamily="34" charset="0"/>
              </a:rPr>
              <a:t>Protect food from contamination</a:t>
            </a:r>
          </a:p>
          <a:p>
            <a:pPr marL="360000" indent="-360000">
              <a:spcBef>
                <a:spcPts val="1200"/>
              </a:spcBef>
              <a:spcAft>
                <a:spcPts val="1200"/>
              </a:spcAft>
            </a:pPr>
            <a:r>
              <a:rPr lang="en-US" sz="2200" b="1" dirty="0" smtClean="0">
                <a:latin typeface="Helvetica" pitchFamily="34" charset="0"/>
              </a:rPr>
              <a:t>Apply safe personal </a:t>
            </a:r>
            <a:br>
              <a:rPr lang="en-US" sz="2200" b="1" dirty="0" smtClean="0">
                <a:latin typeface="Helvetica" pitchFamily="34" charset="0"/>
              </a:rPr>
            </a:br>
            <a:r>
              <a:rPr lang="en-US" sz="2200" b="1" dirty="0" smtClean="0">
                <a:latin typeface="Helvetica" pitchFamily="34" charset="0"/>
              </a:rPr>
              <a:t>hygiene practices</a:t>
            </a:r>
          </a:p>
          <a:p>
            <a:pPr marL="360000" indent="-360000">
              <a:spcBef>
                <a:spcPts val="1200"/>
              </a:spcBef>
              <a:spcAft>
                <a:spcPts val="1200"/>
              </a:spcAft>
            </a:pPr>
            <a:r>
              <a:rPr lang="en-US" sz="2200" b="1" dirty="0" smtClean="0">
                <a:latin typeface="Helvetica" pitchFamily="34" charset="0"/>
              </a:rPr>
              <a:t>Use different service utensils </a:t>
            </a:r>
            <a:br>
              <a:rPr lang="en-US" sz="2200" b="1" dirty="0" smtClean="0">
                <a:latin typeface="Helvetica" pitchFamily="34" charset="0"/>
              </a:rPr>
            </a:br>
            <a:r>
              <a:rPr lang="en-US" sz="2200" b="1" dirty="0" smtClean="0">
                <a:latin typeface="Helvetica" pitchFamily="34" charset="0"/>
              </a:rPr>
              <a:t>for different foods</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1200"/>
              </a:spcBef>
              <a:spcAft>
                <a:spcPts val="1200"/>
              </a:spcAft>
              <a:buNone/>
            </a:pPr>
            <a:endParaRPr lang="en-US" sz="2200" b="1" dirty="0" smtClean="0">
              <a:latin typeface="Helvetica" pitchFamily="34" charset="0"/>
            </a:endParaRP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71</a:t>
            </a:fld>
            <a:endParaRPr lang="en-US" dirty="0"/>
          </a:p>
        </p:txBody>
      </p:sp>
      <p:pic>
        <p:nvPicPr>
          <p:cNvPr id="5" name="Picture 4" descr="warm_oysters.jpg"/>
          <p:cNvPicPr>
            <a:picLocks noChangeAspect="1"/>
          </p:cNvPicPr>
          <p:nvPr/>
        </p:nvPicPr>
        <p:blipFill>
          <a:blip r:embed="rId3" cstate="print"/>
          <a:stretch>
            <a:fillRect/>
          </a:stretch>
        </p:blipFill>
        <p:spPr>
          <a:xfrm>
            <a:off x="5357818" y="3500438"/>
            <a:ext cx="3048000" cy="2028825"/>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serve and store food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72604"/>
          </a:xfrm>
        </p:spPr>
        <p:txBody>
          <a:bodyPr>
            <a:normAutofit/>
          </a:bodyPr>
          <a:lstStyle/>
          <a:p>
            <a:pPr marL="0" indent="0">
              <a:spcBef>
                <a:spcPts val="600"/>
              </a:spcBef>
              <a:spcAft>
                <a:spcPts val="1200"/>
              </a:spcAft>
              <a:buNone/>
            </a:pPr>
            <a:r>
              <a:rPr lang="en-US" sz="2200" b="1" dirty="0" smtClean="0">
                <a:latin typeface="Helvetica" pitchFamily="34" charset="0"/>
              </a:rPr>
              <a:t>Customer self-service of food removes much ‘safe food’ control from the venue and gives it to patrons:</a:t>
            </a:r>
          </a:p>
          <a:p>
            <a:pPr marL="360000" indent="-360000">
              <a:spcBef>
                <a:spcPts val="600"/>
              </a:spcBef>
              <a:spcAft>
                <a:spcPts val="1200"/>
              </a:spcAft>
            </a:pPr>
            <a:r>
              <a:rPr lang="en-US" sz="2200" b="1" dirty="0" smtClean="0">
                <a:latin typeface="Helvetica" pitchFamily="34" charset="0"/>
              </a:rPr>
              <a:t>Monitor customers</a:t>
            </a:r>
          </a:p>
          <a:p>
            <a:pPr marL="360000" indent="-360000">
              <a:spcBef>
                <a:spcPts val="600"/>
              </a:spcBef>
              <a:spcAft>
                <a:spcPts val="1200"/>
              </a:spcAft>
            </a:pPr>
            <a:r>
              <a:rPr lang="en-US" sz="2200" b="1" dirty="0" smtClean="0">
                <a:latin typeface="Helvetica" pitchFamily="34" charset="0"/>
              </a:rPr>
              <a:t>Pay special attention to children</a:t>
            </a:r>
          </a:p>
          <a:p>
            <a:pPr marL="360000" indent="-360000">
              <a:spcBef>
                <a:spcPts val="600"/>
              </a:spcBef>
              <a:spcAft>
                <a:spcPts val="1200"/>
              </a:spcAft>
            </a:pPr>
            <a:r>
              <a:rPr lang="en-US" sz="2200" b="1" dirty="0" smtClean="0">
                <a:latin typeface="Helvetica" pitchFamily="34" charset="0"/>
              </a:rPr>
              <a:t>Keep hot food, hot and cold </a:t>
            </a:r>
            <a:br>
              <a:rPr lang="en-US" sz="2200" b="1" dirty="0" smtClean="0">
                <a:latin typeface="Helvetica" pitchFamily="34" charset="0"/>
              </a:rPr>
            </a:br>
            <a:r>
              <a:rPr lang="en-US" sz="2200" b="1" dirty="0" smtClean="0">
                <a:latin typeface="Helvetica" pitchFamily="34" charset="0"/>
              </a:rPr>
              <a:t>food, cold</a:t>
            </a:r>
          </a:p>
          <a:p>
            <a:pPr marL="360000" indent="-360000">
              <a:spcBef>
                <a:spcPts val="600"/>
              </a:spcBef>
              <a:spcAft>
                <a:spcPts val="1200"/>
              </a:spcAft>
            </a:pPr>
            <a:r>
              <a:rPr lang="en-US" sz="2200" b="1" dirty="0" smtClean="0">
                <a:latin typeface="Helvetica" pitchFamily="34" charset="0"/>
              </a:rPr>
              <a:t>Replace dropped or dirty </a:t>
            </a:r>
            <a:br>
              <a:rPr lang="en-US" sz="2200" b="1" dirty="0" smtClean="0">
                <a:latin typeface="Helvetica" pitchFamily="34" charset="0"/>
              </a:rPr>
            </a:br>
            <a:r>
              <a:rPr lang="en-US" sz="2200" b="1" dirty="0" smtClean="0">
                <a:latin typeface="Helvetica" pitchFamily="34" charset="0"/>
              </a:rPr>
              <a:t>service gear</a:t>
            </a:r>
          </a:p>
          <a:p>
            <a:pPr marL="360000" indent="-360000">
              <a:spcBef>
                <a:spcPts val="600"/>
              </a:spcBef>
              <a:spcAft>
                <a:spcPts val="1200"/>
              </a:spcAft>
            </a:pPr>
            <a:r>
              <a:rPr lang="en-US" sz="2200" b="1" dirty="0" smtClean="0">
                <a:latin typeface="Helvetica" pitchFamily="34" charset="0"/>
              </a:rPr>
              <a:t>Clean up spills immediately</a:t>
            </a:r>
          </a:p>
          <a:p>
            <a:pPr marL="360000" indent="-360000">
              <a:spcBef>
                <a:spcPts val="600"/>
              </a:spcBef>
              <a:spcAft>
                <a:spcPts val="1200"/>
              </a:spcAft>
              <a:buNone/>
            </a:pPr>
            <a:r>
              <a:rPr lang="en-US" sz="2200" b="1"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72</a:t>
            </a:fld>
            <a:endParaRPr lang="en-US" dirty="0"/>
          </a:p>
        </p:txBody>
      </p:sp>
      <p:pic>
        <p:nvPicPr>
          <p:cNvPr id="5" name="Picture 4" descr="food_images_013.jpg"/>
          <p:cNvPicPr>
            <a:picLocks noChangeAspect="1"/>
          </p:cNvPicPr>
          <p:nvPr/>
        </p:nvPicPr>
        <p:blipFill>
          <a:blip r:embed="rId3" cstate="print"/>
          <a:stretch>
            <a:fillRect/>
          </a:stretch>
        </p:blipFill>
        <p:spPr>
          <a:xfrm>
            <a:off x="5572132" y="3500438"/>
            <a:ext cx="3003328" cy="2000264"/>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serve and store food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72604"/>
          </a:xfrm>
        </p:spPr>
        <p:txBody>
          <a:bodyPr>
            <a:normAutofit lnSpcReduction="10000"/>
          </a:bodyPr>
          <a:lstStyle/>
          <a:p>
            <a:pPr marL="360000" indent="-360000">
              <a:spcBef>
                <a:spcPts val="1200"/>
              </a:spcBef>
              <a:spcAft>
                <a:spcPts val="1200"/>
              </a:spcAft>
            </a:pPr>
            <a:r>
              <a:rPr lang="en-US" sz="2200" b="1" dirty="0" smtClean="0">
                <a:latin typeface="Helvetica" pitchFamily="34" charset="0"/>
              </a:rPr>
              <a:t>Discard contaminated food</a:t>
            </a:r>
          </a:p>
          <a:p>
            <a:pPr marL="360000" indent="-360000">
              <a:spcBef>
                <a:spcPts val="1200"/>
              </a:spcBef>
              <a:spcAft>
                <a:spcPts val="1200"/>
              </a:spcAft>
            </a:pPr>
            <a:r>
              <a:rPr lang="en-US" sz="2200" b="1" dirty="0" smtClean="0">
                <a:latin typeface="Helvetica" pitchFamily="34" charset="0"/>
              </a:rPr>
              <a:t>Post signs advising customers of safe food handling practices</a:t>
            </a:r>
          </a:p>
          <a:p>
            <a:pPr marL="360000" indent="-360000">
              <a:spcBef>
                <a:spcPts val="1200"/>
              </a:spcBef>
              <a:spcAft>
                <a:spcPts val="1200"/>
              </a:spcAft>
            </a:pPr>
            <a:r>
              <a:rPr lang="en-US" sz="2200" b="1" dirty="0" smtClean="0">
                <a:latin typeface="Helvetica" pitchFamily="34" charset="0"/>
              </a:rPr>
              <a:t>Protect foods from contamination</a:t>
            </a:r>
          </a:p>
          <a:p>
            <a:pPr marL="360000" indent="-360000">
              <a:spcBef>
                <a:spcPts val="1200"/>
              </a:spcBef>
              <a:spcAft>
                <a:spcPts val="1200"/>
              </a:spcAft>
            </a:pPr>
            <a:r>
              <a:rPr lang="en-US" sz="2200" b="1" dirty="0" smtClean="0">
                <a:latin typeface="Helvetica" pitchFamily="34" charset="0"/>
              </a:rPr>
              <a:t>Provide separate service items for </a:t>
            </a:r>
            <a:br>
              <a:rPr lang="en-US" sz="2200" b="1" dirty="0" smtClean="0">
                <a:latin typeface="Helvetica" pitchFamily="34" charset="0"/>
              </a:rPr>
            </a:br>
            <a:r>
              <a:rPr lang="en-US" sz="2200" b="1" dirty="0" smtClean="0">
                <a:latin typeface="Helvetica" pitchFamily="34" charset="0"/>
              </a:rPr>
              <a:t>each menu item</a:t>
            </a:r>
          </a:p>
          <a:p>
            <a:pPr marL="360000" indent="-360000">
              <a:spcBef>
                <a:spcPts val="1200"/>
              </a:spcBef>
              <a:spcAft>
                <a:spcPts val="1200"/>
              </a:spcAft>
            </a:pPr>
            <a:r>
              <a:rPr lang="en-US" sz="2200" b="1" dirty="0" smtClean="0">
                <a:latin typeface="Helvetica" pitchFamily="34" charset="0"/>
              </a:rPr>
              <a:t>Put sneeze-guards in place</a:t>
            </a:r>
          </a:p>
          <a:p>
            <a:pPr marL="360000" indent="-360000">
              <a:spcBef>
                <a:spcPts val="1200"/>
              </a:spcBef>
              <a:spcAft>
                <a:spcPts val="1200"/>
              </a:spcAft>
            </a:pPr>
            <a:r>
              <a:rPr lang="en-US" sz="2200" b="1" dirty="0" smtClean="0">
                <a:latin typeface="Helvetica" pitchFamily="34" charset="0"/>
              </a:rPr>
              <a:t>Do not mix batches of food</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73</a:t>
            </a:fld>
            <a:endParaRPr lang="en-US" dirty="0"/>
          </a:p>
        </p:txBody>
      </p:sp>
      <p:pic>
        <p:nvPicPr>
          <p:cNvPr id="5" name="Picture 4" descr="dsc_0015.jpg"/>
          <p:cNvPicPr>
            <a:picLocks noChangeAspect="1"/>
          </p:cNvPicPr>
          <p:nvPr/>
        </p:nvPicPr>
        <p:blipFill>
          <a:blip r:embed="rId3" cstate="print"/>
          <a:stretch>
            <a:fillRect/>
          </a:stretch>
        </p:blipFill>
        <p:spPr>
          <a:xfrm>
            <a:off x="6113013" y="3500438"/>
            <a:ext cx="3030987" cy="2036445"/>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serve and store food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60968" cy="4729728"/>
          </a:xfrm>
        </p:spPr>
        <p:txBody>
          <a:bodyPr>
            <a:normAutofit/>
          </a:bodyPr>
          <a:lstStyle/>
          <a:p>
            <a:pPr marL="360000" indent="-360000">
              <a:spcBef>
                <a:spcPts val="1200"/>
              </a:spcBef>
              <a:spcAft>
                <a:spcPts val="1200"/>
              </a:spcAft>
            </a:pPr>
            <a:r>
              <a:rPr lang="en-US" sz="2200" b="1" dirty="0" smtClean="0">
                <a:latin typeface="Helvetica" pitchFamily="34" charset="0"/>
              </a:rPr>
              <a:t>Throw out ‘plate waste’</a:t>
            </a:r>
          </a:p>
          <a:p>
            <a:pPr marL="360000" indent="-360000">
              <a:spcBef>
                <a:spcPts val="1200"/>
              </a:spcBef>
              <a:spcAft>
                <a:spcPts val="1200"/>
              </a:spcAft>
            </a:pPr>
            <a:r>
              <a:rPr lang="en-US" sz="2200" b="1" dirty="0" smtClean="0">
                <a:latin typeface="Helvetica" pitchFamily="34" charset="0"/>
              </a:rPr>
              <a:t>Provide small batches and re-supply regularly</a:t>
            </a:r>
          </a:p>
          <a:p>
            <a:pPr marL="360000" indent="-360000">
              <a:spcBef>
                <a:spcPts val="1200"/>
              </a:spcBef>
              <a:spcAft>
                <a:spcPts val="1200"/>
              </a:spcAft>
            </a:pPr>
            <a:r>
              <a:rPr lang="en-US" sz="2200" b="1" dirty="0" smtClean="0">
                <a:latin typeface="Helvetica" pitchFamily="34" charset="0"/>
              </a:rPr>
              <a:t>Provide extra service utensils and service gear</a:t>
            </a:r>
          </a:p>
          <a:p>
            <a:pPr marL="360000" indent="-360000">
              <a:spcBef>
                <a:spcPts val="1200"/>
              </a:spcBef>
              <a:spcAft>
                <a:spcPts val="1200"/>
              </a:spcAft>
            </a:pPr>
            <a:r>
              <a:rPr lang="en-US" sz="2200" b="1" dirty="0" smtClean="0">
                <a:latin typeface="Helvetica" pitchFamily="34" charset="0"/>
              </a:rPr>
              <a:t>Provide clean ‘rests’ for service gear</a:t>
            </a:r>
          </a:p>
          <a:p>
            <a:pPr marL="360000" indent="-360000">
              <a:spcBef>
                <a:spcPts val="1200"/>
              </a:spcBef>
              <a:spcAft>
                <a:spcPts val="1200"/>
              </a:spcAft>
            </a:pPr>
            <a:r>
              <a:rPr lang="en-US" sz="2200" b="1" dirty="0" smtClean="0">
                <a:latin typeface="Helvetica" pitchFamily="34" charset="0"/>
              </a:rPr>
              <a:t>Apply the 2/4 rule.</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74</a:t>
            </a:fld>
            <a:endParaRPr lang="en-US" dirty="0"/>
          </a:p>
        </p:txBody>
      </p:sp>
      <p:pic>
        <p:nvPicPr>
          <p:cNvPr id="5" name="Picture 4" descr="wai_a_students_035_cmyk.jpg"/>
          <p:cNvPicPr>
            <a:picLocks noChangeAspect="1"/>
          </p:cNvPicPr>
          <p:nvPr/>
        </p:nvPicPr>
        <p:blipFill>
          <a:blip r:embed="rId3" cstate="print"/>
          <a:stretch>
            <a:fillRect/>
          </a:stretch>
        </p:blipFill>
        <p:spPr>
          <a:xfrm>
            <a:off x="5643570" y="4071942"/>
            <a:ext cx="3048000" cy="2028825"/>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serve and store food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Single use items:</a:t>
            </a:r>
          </a:p>
          <a:p>
            <a:pPr marL="360000" indent="-360000">
              <a:spcBef>
                <a:spcPts val="1200"/>
              </a:spcBef>
              <a:spcAft>
                <a:spcPts val="1200"/>
              </a:spcAft>
            </a:pPr>
            <a:r>
              <a:rPr lang="en-US" sz="2200" b="1" dirty="0" smtClean="0">
                <a:latin typeface="Helvetica" pitchFamily="34" charset="0"/>
              </a:rPr>
              <a:t>Intended to be used once only </a:t>
            </a:r>
          </a:p>
          <a:p>
            <a:pPr marL="360000" indent="-360000">
              <a:spcBef>
                <a:spcPts val="1200"/>
              </a:spcBef>
              <a:spcAft>
                <a:spcPts val="1200"/>
              </a:spcAft>
            </a:pPr>
            <a:r>
              <a:rPr lang="en-US" sz="2200" b="1" dirty="0" smtClean="0">
                <a:latin typeface="Helvetica" pitchFamily="34" charset="0"/>
              </a:rPr>
              <a:t>Cannot be re-used even if cleaned</a:t>
            </a:r>
          </a:p>
          <a:p>
            <a:pPr marL="360000" indent="-360000">
              <a:spcBef>
                <a:spcPts val="1200"/>
              </a:spcBef>
              <a:spcAft>
                <a:spcPts val="1200"/>
              </a:spcAft>
            </a:pPr>
            <a:r>
              <a:rPr lang="en-US" sz="2200" b="1" dirty="0" smtClean="0">
                <a:latin typeface="Helvetica" pitchFamily="34" charset="0"/>
              </a:rPr>
              <a:t>Must be protected from contamination</a:t>
            </a:r>
          </a:p>
          <a:p>
            <a:pPr marL="360000" indent="-360000">
              <a:spcBef>
                <a:spcPts val="1200"/>
              </a:spcBef>
              <a:spcAft>
                <a:spcPts val="1200"/>
              </a:spcAft>
            </a:pPr>
            <a:r>
              <a:rPr lang="en-US" sz="2200" b="1" dirty="0" smtClean="0">
                <a:latin typeface="Helvetica" pitchFamily="34" charset="0"/>
              </a:rPr>
              <a:t>Must not be used if contaminated.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75</a:t>
            </a:fld>
            <a:endParaRPr lang="en-US" dirty="0"/>
          </a:p>
        </p:txBody>
      </p:sp>
      <p:pic>
        <p:nvPicPr>
          <p:cNvPr id="32771" name="Picture 3" descr="C:\Users\fgvghyujil\AppData\Local\Microsoft\Windows\Temporary Internet Files\Content.IE5\3J5365UD\MP900439495[1].jpg"/>
          <p:cNvPicPr>
            <a:picLocks noChangeAspect="1" noChangeArrowheads="1"/>
          </p:cNvPicPr>
          <p:nvPr/>
        </p:nvPicPr>
        <p:blipFill>
          <a:blip r:embed="rId3" cstate="print"/>
          <a:srcRect/>
          <a:stretch>
            <a:fillRect/>
          </a:stretch>
        </p:blipFill>
        <p:spPr bwMode="auto">
          <a:xfrm>
            <a:off x="6369908" y="1928802"/>
            <a:ext cx="2774092" cy="4143380"/>
          </a:xfrm>
          <a:prstGeom prst="rect">
            <a:avLst/>
          </a:prstGeom>
          <a:noFill/>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serve and store food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Optimising safety when using single use items:</a:t>
            </a:r>
          </a:p>
          <a:p>
            <a:pPr marL="360000" indent="-360000">
              <a:spcBef>
                <a:spcPts val="1200"/>
              </a:spcBef>
              <a:spcAft>
                <a:spcPts val="1200"/>
              </a:spcAft>
            </a:pPr>
            <a:r>
              <a:rPr lang="en-US" sz="2200" b="1" dirty="0" smtClean="0">
                <a:latin typeface="Helvetica" pitchFamily="34" charset="0"/>
              </a:rPr>
              <a:t>Do not prepare take away boxes in advance</a:t>
            </a:r>
          </a:p>
          <a:p>
            <a:pPr marL="360000" indent="-360000">
              <a:spcBef>
                <a:spcPts val="1200"/>
              </a:spcBef>
              <a:spcAft>
                <a:spcPts val="1200"/>
              </a:spcAft>
            </a:pPr>
            <a:r>
              <a:rPr lang="en-US" sz="2200" b="1" dirty="0" smtClean="0">
                <a:latin typeface="Helvetica" pitchFamily="34" charset="0"/>
              </a:rPr>
              <a:t>Offer straws so they can be obtained one at a time without other straws being touched</a:t>
            </a:r>
          </a:p>
          <a:p>
            <a:pPr marL="360000" indent="-360000">
              <a:spcBef>
                <a:spcPts val="1200"/>
              </a:spcBef>
              <a:spcAft>
                <a:spcPts val="1200"/>
              </a:spcAft>
            </a:pPr>
            <a:r>
              <a:rPr lang="en-US" sz="2200" b="1" dirty="0" smtClean="0">
                <a:latin typeface="Helvetica" pitchFamily="34" charset="0"/>
              </a:rPr>
              <a:t>Store items and lids to protect from contamination</a:t>
            </a:r>
          </a:p>
          <a:p>
            <a:pPr marL="360000" indent="-360000">
              <a:spcBef>
                <a:spcPts val="1200"/>
              </a:spcBef>
              <a:spcAft>
                <a:spcPts val="1200"/>
              </a:spcAft>
            </a:pPr>
            <a:r>
              <a:rPr lang="en-US" sz="2200" b="1" dirty="0" smtClean="0">
                <a:latin typeface="Helvetica" pitchFamily="34" charset="0"/>
              </a:rPr>
              <a:t>Wrap or cover cutlery</a:t>
            </a:r>
          </a:p>
          <a:p>
            <a:pPr marL="360000" indent="-360000">
              <a:spcBef>
                <a:spcPts val="1200"/>
              </a:spcBef>
              <a:spcAft>
                <a:spcPts val="1200"/>
              </a:spcAft>
            </a:pPr>
            <a:r>
              <a:rPr lang="en-US" sz="2200" b="1" dirty="0" smtClean="0">
                <a:latin typeface="Helvetica" pitchFamily="34" charset="0"/>
              </a:rPr>
              <a:t>Wrap tooth picks individually.</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76</a:t>
            </a:fld>
            <a:endParaRPr lang="en-US" dirty="0"/>
          </a:p>
        </p:txBody>
      </p:sp>
      <p:pic>
        <p:nvPicPr>
          <p:cNvPr id="33794" name="Picture 2" descr="C:\Users\fgvghyujil\AppData\Local\Microsoft\Windows\Temporary Internet Files\Content.IE5\3J5365UD\MP900411666[1].jpg"/>
          <p:cNvPicPr>
            <a:picLocks noChangeAspect="1" noChangeArrowheads="1"/>
          </p:cNvPicPr>
          <p:nvPr/>
        </p:nvPicPr>
        <p:blipFill>
          <a:blip r:embed="rId3" cstate="print"/>
          <a:srcRect/>
          <a:stretch>
            <a:fillRect/>
          </a:stretch>
        </p:blipFill>
        <p:spPr bwMode="auto">
          <a:xfrm>
            <a:off x="6842223" y="4221088"/>
            <a:ext cx="2301777" cy="2049582"/>
          </a:xfrm>
          <a:prstGeom prst="rect">
            <a:avLst/>
          </a:prstGeom>
          <a:noFill/>
          <a:ln w="19050">
            <a:solidFill>
              <a:schemeClr val="bg1">
                <a:lumMod val="50000"/>
              </a:schemeClr>
            </a:solidFill>
          </a:ln>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serve and store food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Display of food for sale or service:</a:t>
            </a:r>
          </a:p>
          <a:p>
            <a:pPr marL="360000" indent="-360000">
              <a:spcBef>
                <a:spcPts val="1200"/>
              </a:spcBef>
              <a:spcAft>
                <a:spcPts val="1200"/>
              </a:spcAft>
            </a:pPr>
            <a:r>
              <a:rPr lang="en-US" sz="2200" b="1" dirty="0" smtClean="0">
                <a:latin typeface="Helvetica" pitchFamily="34" charset="0"/>
              </a:rPr>
              <a:t>Food displayed on counters must be wrapped and controlled</a:t>
            </a:r>
          </a:p>
          <a:p>
            <a:pPr marL="360000" indent="-360000">
              <a:spcBef>
                <a:spcPts val="1200"/>
              </a:spcBef>
              <a:spcAft>
                <a:spcPts val="1200"/>
              </a:spcAft>
            </a:pPr>
            <a:r>
              <a:rPr lang="en-US" sz="2200" b="1" dirty="0" smtClean="0">
                <a:latin typeface="Helvetica" pitchFamily="34" charset="0"/>
              </a:rPr>
              <a:t>It is best to use display cabinets</a:t>
            </a:r>
          </a:p>
          <a:p>
            <a:pPr marL="360000" indent="-360000">
              <a:spcBef>
                <a:spcPts val="1200"/>
              </a:spcBef>
              <a:spcAft>
                <a:spcPts val="1200"/>
              </a:spcAft>
            </a:pPr>
            <a:r>
              <a:rPr lang="en-US" sz="2200" b="1" dirty="0" smtClean="0">
                <a:latin typeface="Helvetica" pitchFamily="34" charset="0"/>
              </a:rPr>
              <a:t>Display cabinets or units </a:t>
            </a:r>
            <a:br>
              <a:rPr lang="en-US" sz="2200" b="1" dirty="0" smtClean="0">
                <a:latin typeface="Helvetica" pitchFamily="34" charset="0"/>
              </a:rPr>
            </a:br>
            <a:r>
              <a:rPr lang="en-US" sz="2200" b="1" dirty="0" smtClean="0">
                <a:latin typeface="Helvetica" pitchFamily="34" charset="0"/>
              </a:rPr>
              <a:t>may be ‘hot’ or ‘cold’.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77</a:t>
            </a:fld>
            <a:endParaRPr lang="en-US" dirty="0"/>
          </a:p>
        </p:txBody>
      </p:sp>
      <p:pic>
        <p:nvPicPr>
          <p:cNvPr id="34819" name="Picture 3" descr="C:\Users\fgvghyujil\AppData\Local\Microsoft\Windows\Temporary Internet Files\Content.IE5\PP601SXW\MC900082849[1].wmf"/>
          <p:cNvPicPr>
            <a:picLocks noChangeAspect="1" noChangeArrowheads="1"/>
          </p:cNvPicPr>
          <p:nvPr/>
        </p:nvPicPr>
        <p:blipFill>
          <a:blip r:embed="rId3" cstate="print"/>
          <a:srcRect/>
          <a:stretch>
            <a:fillRect/>
          </a:stretch>
        </p:blipFill>
        <p:spPr bwMode="auto">
          <a:xfrm>
            <a:off x="5786446" y="3143248"/>
            <a:ext cx="2764473" cy="2601447"/>
          </a:xfrm>
          <a:prstGeom prst="rect">
            <a:avLst/>
          </a:prstGeom>
          <a:noFill/>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serve and store food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When using cold display units:</a:t>
            </a:r>
          </a:p>
          <a:p>
            <a:pPr marL="360000" indent="-360000">
              <a:spcBef>
                <a:spcPts val="1200"/>
              </a:spcBef>
              <a:spcAft>
                <a:spcPts val="1200"/>
              </a:spcAft>
            </a:pPr>
            <a:r>
              <a:rPr lang="en-US" sz="2200" b="1" dirty="0" smtClean="0">
                <a:latin typeface="Helvetica" pitchFamily="34" charset="0"/>
              </a:rPr>
              <a:t>Operate at </a:t>
            </a:r>
            <a:r>
              <a:rPr lang="en-AU" sz="2200" b="1" dirty="0" smtClean="0">
                <a:latin typeface="Helvetica" pitchFamily="34" charset="0"/>
              </a:rPr>
              <a:t>or below 5°C</a:t>
            </a:r>
            <a:endParaRPr lang="en-US" sz="2200" b="1" dirty="0" smtClean="0">
              <a:latin typeface="Helvetica" pitchFamily="34" charset="0"/>
            </a:endParaRPr>
          </a:p>
          <a:p>
            <a:pPr marL="360000" indent="-360000">
              <a:spcBef>
                <a:spcPts val="1200"/>
              </a:spcBef>
              <a:spcAft>
                <a:spcPts val="1200"/>
              </a:spcAft>
            </a:pPr>
            <a:r>
              <a:rPr lang="en-US" sz="2200" b="1" dirty="0" smtClean="0">
                <a:latin typeface="Helvetica" pitchFamily="34" charset="0"/>
              </a:rPr>
              <a:t>Cover food</a:t>
            </a:r>
          </a:p>
          <a:p>
            <a:pPr marL="360000" indent="-360000">
              <a:spcBef>
                <a:spcPts val="1200"/>
              </a:spcBef>
              <a:spcAft>
                <a:spcPts val="1200"/>
              </a:spcAft>
            </a:pPr>
            <a:r>
              <a:rPr lang="en-US" sz="2200" b="1" dirty="0" smtClean="0">
                <a:latin typeface="Helvetica" pitchFamily="34" charset="0"/>
              </a:rPr>
              <a:t>Check temperature regularly</a:t>
            </a:r>
          </a:p>
          <a:p>
            <a:pPr marL="360000" indent="-360000">
              <a:spcBef>
                <a:spcPts val="1200"/>
              </a:spcBef>
              <a:spcAft>
                <a:spcPts val="1200"/>
              </a:spcAft>
            </a:pPr>
            <a:r>
              <a:rPr lang="en-US" sz="2200" b="1" dirty="0" smtClean="0">
                <a:latin typeface="Helvetica" pitchFamily="34" charset="0"/>
              </a:rPr>
              <a:t>Provide sneeze-guards.</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78</a:t>
            </a:fld>
            <a:endParaRPr lang="en-US" dirty="0"/>
          </a:p>
        </p:txBody>
      </p:sp>
      <p:pic>
        <p:nvPicPr>
          <p:cNvPr id="5" name="Picture 4" descr="food handling.jpg"/>
          <p:cNvPicPr>
            <a:picLocks noChangeAspect="1"/>
          </p:cNvPicPr>
          <p:nvPr/>
        </p:nvPicPr>
        <p:blipFill>
          <a:blip r:embed="rId3" cstate="print"/>
          <a:stretch>
            <a:fillRect/>
          </a:stretch>
        </p:blipFill>
        <p:spPr>
          <a:xfrm>
            <a:off x="6228184" y="2276872"/>
            <a:ext cx="2130549" cy="2925530"/>
          </a:xfrm>
          <a:prstGeom prst="rect">
            <a:avLst/>
          </a:prstGeom>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serve and store food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1200"/>
              </a:spcBef>
              <a:spcAft>
                <a:spcPts val="1200"/>
              </a:spcAft>
              <a:buNone/>
            </a:pPr>
            <a:r>
              <a:rPr lang="en-US" sz="2200" b="1" dirty="0" smtClean="0">
                <a:latin typeface="Helvetica" pitchFamily="34" charset="0"/>
              </a:rPr>
              <a:t>When using hot food cabinets:</a:t>
            </a:r>
          </a:p>
          <a:p>
            <a:pPr marL="360000" indent="-360000">
              <a:spcBef>
                <a:spcPts val="1200"/>
              </a:spcBef>
              <a:spcAft>
                <a:spcPts val="1200"/>
              </a:spcAft>
            </a:pPr>
            <a:r>
              <a:rPr lang="en-US" sz="2200" b="1" dirty="0" smtClean="0">
                <a:latin typeface="Helvetica" pitchFamily="34" charset="0"/>
              </a:rPr>
              <a:t>Keep food at 60</a:t>
            </a:r>
            <a:r>
              <a:rPr lang="en-AU" sz="2200" b="1" dirty="0" smtClean="0">
                <a:latin typeface="Helvetica" pitchFamily="34" charset="0"/>
              </a:rPr>
              <a:t>°C+ and apply 2/4 rule</a:t>
            </a:r>
            <a:endParaRPr lang="en-US" sz="2200" b="1" dirty="0" smtClean="0">
              <a:latin typeface="Helvetica" pitchFamily="34" charset="0"/>
            </a:endParaRPr>
          </a:p>
          <a:p>
            <a:pPr marL="360000" indent="-360000">
              <a:spcBef>
                <a:spcPts val="1200"/>
              </a:spcBef>
              <a:spcAft>
                <a:spcPts val="1200"/>
              </a:spcAft>
            </a:pPr>
            <a:r>
              <a:rPr lang="en-US" sz="2200" b="1" dirty="0" smtClean="0">
                <a:latin typeface="Helvetica" pitchFamily="34" charset="0"/>
              </a:rPr>
              <a:t>Pre-heat food before placing in unit</a:t>
            </a:r>
          </a:p>
          <a:p>
            <a:pPr marL="360000" indent="-360000">
              <a:spcBef>
                <a:spcPts val="1200"/>
              </a:spcBef>
              <a:spcAft>
                <a:spcPts val="1200"/>
              </a:spcAft>
            </a:pPr>
            <a:r>
              <a:rPr lang="en-US" sz="2200" b="1" dirty="0" smtClean="0">
                <a:latin typeface="Helvetica" pitchFamily="34" charset="0"/>
              </a:rPr>
              <a:t>Serve food in order it was placed </a:t>
            </a:r>
            <a:br>
              <a:rPr lang="en-US" sz="2200" b="1" dirty="0" smtClean="0">
                <a:latin typeface="Helvetica" pitchFamily="34" charset="0"/>
              </a:rPr>
            </a:br>
            <a:r>
              <a:rPr lang="en-US" sz="2200" b="1" dirty="0" smtClean="0">
                <a:latin typeface="Helvetica" pitchFamily="34" charset="0"/>
              </a:rPr>
              <a:t>into unit</a:t>
            </a:r>
          </a:p>
          <a:p>
            <a:pPr marL="360000" indent="-360000">
              <a:spcBef>
                <a:spcPts val="1200"/>
              </a:spcBef>
              <a:spcAft>
                <a:spcPts val="1200"/>
              </a:spcAft>
            </a:pPr>
            <a:r>
              <a:rPr lang="en-US" sz="2200" b="1" dirty="0" smtClean="0">
                <a:latin typeface="Helvetica" pitchFamily="34" charset="0"/>
              </a:rPr>
              <a:t>Serve ‘leftover’ food first</a:t>
            </a:r>
          </a:p>
          <a:p>
            <a:pPr marL="360000" indent="-360000">
              <a:spcBef>
                <a:spcPts val="1200"/>
              </a:spcBef>
              <a:spcAft>
                <a:spcPts val="1200"/>
              </a:spcAft>
            </a:pPr>
            <a:r>
              <a:rPr lang="en-US" sz="2200" b="1" dirty="0" smtClean="0">
                <a:latin typeface="Helvetica" pitchFamily="34" charset="0"/>
              </a:rPr>
              <a:t>Check temperature regularly</a:t>
            </a:r>
          </a:p>
          <a:p>
            <a:pPr marL="360000" indent="-360000">
              <a:spcBef>
                <a:spcPts val="1200"/>
              </a:spcBef>
              <a:spcAft>
                <a:spcPts val="1200"/>
              </a:spcAft>
            </a:pPr>
            <a:r>
              <a:rPr lang="en-US" sz="2200" b="1" dirty="0" smtClean="0">
                <a:latin typeface="Helvetica" pitchFamily="34" charset="0"/>
              </a:rPr>
              <a:t>Do not mix batches.</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79</a:t>
            </a:fld>
            <a:endParaRPr lang="en-US" dirty="0"/>
          </a:p>
        </p:txBody>
      </p:sp>
      <p:pic>
        <p:nvPicPr>
          <p:cNvPr id="5" name="Picture 4" descr="Seafood2CCTownsDelightTheCaterer.jpg"/>
          <p:cNvPicPr>
            <a:picLocks noChangeAspect="1"/>
          </p:cNvPicPr>
          <p:nvPr/>
        </p:nvPicPr>
        <p:blipFill>
          <a:blip r:embed="rId3" cstate="print"/>
          <a:stretch>
            <a:fillRect/>
          </a:stretch>
        </p:blipFill>
        <p:spPr>
          <a:xfrm>
            <a:off x="6372200" y="2492896"/>
            <a:ext cx="2032976" cy="3052517"/>
          </a:xfrm>
          <a:prstGeom prst="rect">
            <a:avLst/>
          </a:prstGeom>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serve and store food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When using frozen food displays:</a:t>
            </a:r>
          </a:p>
          <a:p>
            <a:pPr marL="360000" indent="-360000">
              <a:spcBef>
                <a:spcPts val="1200"/>
              </a:spcBef>
              <a:spcAft>
                <a:spcPts val="1200"/>
              </a:spcAft>
            </a:pPr>
            <a:r>
              <a:rPr lang="en-US" sz="2200" b="1" dirty="0" smtClean="0">
                <a:latin typeface="Helvetica" pitchFamily="34" charset="0"/>
              </a:rPr>
              <a:t>Food must remain hard frozen</a:t>
            </a:r>
          </a:p>
          <a:p>
            <a:pPr marL="360000" indent="-360000">
              <a:spcBef>
                <a:spcPts val="1200"/>
              </a:spcBef>
              <a:spcAft>
                <a:spcPts val="1200"/>
              </a:spcAft>
            </a:pPr>
            <a:r>
              <a:rPr lang="en-US" sz="2200" b="1" dirty="0" smtClean="0">
                <a:latin typeface="Helvetica" pitchFamily="34" charset="0"/>
              </a:rPr>
              <a:t>Do not fill above ‘load lines’.</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80</a:t>
            </a:fld>
            <a:endParaRPr lang="en-US" dirty="0"/>
          </a:p>
        </p:txBody>
      </p:sp>
      <p:pic>
        <p:nvPicPr>
          <p:cNvPr id="36866" name="Picture 2" descr="C:\Users\fgvghyujil\AppData\Local\Microsoft\Windows\Temporary Internet Files\Content.IE5\PP601SXW\MC900082911[1].wmf"/>
          <p:cNvPicPr>
            <a:picLocks noChangeAspect="1" noChangeArrowheads="1"/>
          </p:cNvPicPr>
          <p:nvPr/>
        </p:nvPicPr>
        <p:blipFill>
          <a:blip r:embed="rId3" cstate="print"/>
          <a:srcRect/>
          <a:stretch>
            <a:fillRect/>
          </a:stretch>
        </p:blipFill>
        <p:spPr bwMode="auto">
          <a:xfrm>
            <a:off x="5929322" y="3143248"/>
            <a:ext cx="2367363" cy="2000264"/>
          </a:xfrm>
          <a:prstGeom prst="rect">
            <a:avLst/>
          </a:prstGeom>
          <a:noFill/>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 food-related items, utensils and areas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It is important for a food premises to be clean:</a:t>
            </a:r>
          </a:p>
          <a:p>
            <a:pPr marL="360000" indent="-360000">
              <a:spcBef>
                <a:spcPts val="1200"/>
              </a:spcBef>
              <a:spcAft>
                <a:spcPts val="1200"/>
              </a:spcAft>
            </a:pPr>
            <a:r>
              <a:rPr lang="en-US" sz="2200" b="1" dirty="0" smtClean="0">
                <a:latin typeface="Helvetica" pitchFamily="34" charset="0"/>
              </a:rPr>
              <a:t>From a food safety perspective</a:t>
            </a:r>
          </a:p>
          <a:p>
            <a:pPr marL="360000" indent="-360000">
              <a:spcBef>
                <a:spcPts val="1200"/>
              </a:spcBef>
              <a:spcAft>
                <a:spcPts val="1200"/>
              </a:spcAft>
            </a:pPr>
            <a:r>
              <a:rPr lang="en-US" sz="2200" b="1" dirty="0" smtClean="0">
                <a:latin typeface="Helvetica" pitchFamily="34" charset="0"/>
              </a:rPr>
              <a:t>To inspire customer confidence.</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81</a:t>
            </a:fld>
            <a:endParaRPr lang="en-US" dirty="0"/>
          </a:p>
        </p:txBody>
      </p:sp>
      <p:pic>
        <p:nvPicPr>
          <p:cNvPr id="5" name="Picture 4" descr="cocoa_125.jpg"/>
          <p:cNvPicPr>
            <a:picLocks noChangeAspect="1"/>
          </p:cNvPicPr>
          <p:nvPr/>
        </p:nvPicPr>
        <p:blipFill>
          <a:blip r:embed="rId3" cstate="print"/>
          <a:stretch>
            <a:fillRect/>
          </a:stretch>
        </p:blipFill>
        <p:spPr>
          <a:xfrm>
            <a:off x="5000628" y="3429000"/>
            <a:ext cx="3345200" cy="2237103"/>
          </a:xfrm>
          <a:prstGeom prst="rect">
            <a:avLst/>
          </a:prstGeom>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 food-related items, utensils and areas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Cleaning chemicals include:</a:t>
            </a:r>
          </a:p>
          <a:p>
            <a:pPr marL="360000" indent="-360000">
              <a:spcBef>
                <a:spcPts val="1200"/>
              </a:spcBef>
              <a:spcAft>
                <a:spcPts val="1200"/>
              </a:spcAft>
            </a:pPr>
            <a:r>
              <a:rPr lang="en-US" sz="2200" b="1" dirty="0" smtClean="0">
                <a:latin typeface="Helvetica" pitchFamily="34" charset="0"/>
              </a:rPr>
              <a:t>Detergents</a:t>
            </a:r>
          </a:p>
          <a:p>
            <a:pPr marL="360000" indent="-360000">
              <a:spcBef>
                <a:spcPts val="1200"/>
              </a:spcBef>
              <a:spcAft>
                <a:spcPts val="1200"/>
              </a:spcAft>
            </a:pPr>
            <a:r>
              <a:rPr lang="en-US" sz="2200" b="1" dirty="0" smtClean="0">
                <a:latin typeface="Helvetica" pitchFamily="34" charset="0"/>
              </a:rPr>
              <a:t>Sanitisers</a:t>
            </a:r>
          </a:p>
          <a:p>
            <a:pPr marL="360000" indent="-360000">
              <a:spcBef>
                <a:spcPts val="1200"/>
              </a:spcBef>
              <a:spcAft>
                <a:spcPts val="1200"/>
              </a:spcAft>
            </a:pPr>
            <a:r>
              <a:rPr lang="en-US" sz="2200" b="1" dirty="0" smtClean="0">
                <a:latin typeface="Helvetica" pitchFamily="34" charset="0"/>
              </a:rPr>
              <a:t>Deodorants</a:t>
            </a:r>
          </a:p>
          <a:p>
            <a:pPr marL="360000" indent="-360000">
              <a:spcBef>
                <a:spcPts val="1200"/>
              </a:spcBef>
              <a:spcAft>
                <a:spcPts val="1200"/>
              </a:spcAft>
            </a:pPr>
            <a:r>
              <a:rPr lang="en-US" sz="2200" b="1" dirty="0" smtClean="0">
                <a:latin typeface="Helvetica" pitchFamily="34" charset="0"/>
              </a:rPr>
              <a:t>De-greasers.</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82</a:t>
            </a:fld>
            <a:endParaRPr lang="en-US" dirty="0"/>
          </a:p>
        </p:txBody>
      </p:sp>
      <p:pic>
        <p:nvPicPr>
          <p:cNvPr id="5" name="Picture 4" descr="Cleaning Agents.jpg"/>
          <p:cNvPicPr>
            <a:picLocks noChangeAspect="1"/>
          </p:cNvPicPr>
          <p:nvPr/>
        </p:nvPicPr>
        <p:blipFill>
          <a:blip r:embed="rId3" cstate="print"/>
          <a:stretch>
            <a:fillRect/>
          </a:stretch>
        </p:blipFill>
        <p:spPr>
          <a:xfrm>
            <a:off x="5143504" y="3071810"/>
            <a:ext cx="3286116" cy="2229864"/>
          </a:xfrm>
          <a:prstGeom prst="rect">
            <a:avLst/>
          </a:prstGeom>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 food-related items, utensils and areas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Clean = free from visible contamination and odour.</a:t>
            </a:r>
          </a:p>
          <a:p>
            <a:pPr marL="0" indent="0">
              <a:spcBef>
                <a:spcPts val="1200"/>
              </a:spcBef>
              <a:spcAft>
                <a:spcPts val="1200"/>
              </a:spcAft>
              <a:buNone/>
            </a:pPr>
            <a:r>
              <a:rPr lang="en-US" sz="2200" b="1" dirty="0" smtClean="0">
                <a:latin typeface="Helvetica" pitchFamily="34" charset="0"/>
              </a:rPr>
              <a:t>Sanitising = use of chemicals or heat to reduce or eliminate bacteria:</a:t>
            </a:r>
          </a:p>
          <a:p>
            <a:pPr marL="360000" indent="-360000">
              <a:spcBef>
                <a:spcPts val="1200"/>
              </a:spcBef>
              <a:spcAft>
                <a:spcPts val="1200"/>
              </a:spcAft>
            </a:pPr>
            <a:r>
              <a:rPr lang="en-US" sz="2200" b="1" dirty="0" smtClean="0">
                <a:latin typeface="Helvetica" pitchFamily="34" charset="0"/>
              </a:rPr>
              <a:t>All food items must be cleaned and sanitised</a:t>
            </a:r>
          </a:p>
          <a:p>
            <a:pPr marL="360000" indent="-360000">
              <a:spcBef>
                <a:spcPts val="1200"/>
              </a:spcBef>
              <a:spcAft>
                <a:spcPts val="1200"/>
              </a:spcAft>
            </a:pPr>
            <a:r>
              <a:rPr lang="en-US" sz="2200" b="1" dirty="0" smtClean="0">
                <a:latin typeface="Helvetica" pitchFamily="34" charset="0"/>
              </a:rPr>
              <a:t>Cleaning occurs before sanitising</a:t>
            </a:r>
          </a:p>
          <a:p>
            <a:pPr marL="360000" indent="-360000">
              <a:spcBef>
                <a:spcPts val="1200"/>
              </a:spcBef>
              <a:spcAft>
                <a:spcPts val="1200"/>
              </a:spcAft>
            </a:pPr>
            <a:r>
              <a:rPr lang="en-US" sz="2200" b="1" dirty="0" smtClean="0">
                <a:latin typeface="Helvetica" pitchFamily="34" charset="0"/>
              </a:rPr>
              <a:t>Chemicals usually used for sanitising</a:t>
            </a:r>
          </a:p>
          <a:p>
            <a:pPr marL="360000" indent="-360000">
              <a:spcBef>
                <a:spcPts val="1200"/>
              </a:spcBef>
              <a:spcAft>
                <a:spcPts val="1200"/>
              </a:spcAft>
            </a:pPr>
            <a:r>
              <a:rPr lang="en-US" sz="2200" b="1" dirty="0" smtClean="0">
                <a:latin typeface="Helvetica" pitchFamily="34" charset="0"/>
              </a:rPr>
              <a:t>Cleaning must occur (at a minimum) </a:t>
            </a:r>
            <a:br>
              <a:rPr lang="en-US" sz="2200" b="1" dirty="0" smtClean="0">
                <a:latin typeface="Helvetica" pitchFamily="34" charset="0"/>
              </a:rPr>
            </a:br>
            <a:r>
              <a:rPr lang="en-US" sz="2200" b="1" dirty="0" smtClean="0">
                <a:latin typeface="Helvetica" pitchFamily="34" charset="0"/>
              </a:rPr>
              <a:t>after each service session.</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83</a:t>
            </a:fld>
            <a:endParaRPr lang="en-US" dirty="0"/>
          </a:p>
        </p:txBody>
      </p:sp>
      <p:pic>
        <p:nvPicPr>
          <p:cNvPr id="9" name="Picture 8" descr="KitchenCCReportdigital.co.uk.jpg"/>
          <p:cNvPicPr>
            <a:picLocks noChangeAspect="1"/>
          </p:cNvPicPr>
          <p:nvPr/>
        </p:nvPicPr>
        <p:blipFill>
          <a:blip r:embed="rId3" cstate="print"/>
          <a:stretch>
            <a:fillRect/>
          </a:stretch>
        </p:blipFill>
        <p:spPr>
          <a:xfrm>
            <a:off x="6445261" y="3929066"/>
            <a:ext cx="2539989" cy="1904992"/>
          </a:xfrm>
          <a:prstGeom prst="rect">
            <a:avLst/>
          </a:prstGeom>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 food-related items, utensils and areas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42910" y="1643050"/>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When cleaning using chemicals:</a:t>
            </a:r>
          </a:p>
          <a:p>
            <a:pPr marL="360000" indent="-360000">
              <a:spcBef>
                <a:spcPts val="1200"/>
              </a:spcBef>
              <a:spcAft>
                <a:spcPts val="1200"/>
              </a:spcAft>
            </a:pPr>
            <a:r>
              <a:rPr lang="en-US" sz="2200" b="1" dirty="0" smtClean="0">
                <a:latin typeface="Helvetica" pitchFamily="34" charset="0"/>
              </a:rPr>
              <a:t>Always follow manufacturer’s instructions</a:t>
            </a:r>
          </a:p>
          <a:p>
            <a:pPr marL="360000" indent="-360000">
              <a:spcBef>
                <a:spcPts val="1200"/>
              </a:spcBef>
              <a:spcAft>
                <a:spcPts val="1200"/>
              </a:spcAft>
            </a:pPr>
            <a:r>
              <a:rPr lang="en-US" sz="2200" b="1" dirty="0" smtClean="0">
                <a:latin typeface="Helvetica" pitchFamily="34" charset="0"/>
              </a:rPr>
              <a:t>Know location of MSDS</a:t>
            </a:r>
          </a:p>
          <a:p>
            <a:pPr marL="360000" indent="-360000">
              <a:spcBef>
                <a:spcPts val="1200"/>
              </a:spcBef>
              <a:spcAft>
                <a:spcPts val="1200"/>
              </a:spcAft>
            </a:pPr>
            <a:r>
              <a:rPr lang="en-US" sz="2200" b="1" dirty="0" smtClean="0">
                <a:latin typeface="Helvetica" pitchFamily="34" charset="0"/>
              </a:rPr>
              <a:t>Wear designated safety clothing and equipment</a:t>
            </a:r>
          </a:p>
          <a:p>
            <a:pPr marL="360000" indent="-360000">
              <a:spcBef>
                <a:spcPts val="1200"/>
              </a:spcBef>
              <a:spcAft>
                <a:spcPts val="1200"/>
              </a:spcAft>
            </a:pPr>
            <a:r>
              <a:rPr lang="en-US" sz="2200" b="1" dirty="0" smtClean="0">
                <a:latin typeface="Helvetica" pitchFamily="34" charset="0"/>
              </a:rPr>
              <a:t>Wash hands after handling chemicals.</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84</a:t>
            </a:fld>
            <a:endParaRPr lang="en-US" dirty="0"/>
          </a:p>
        </p:txBody>
      </p:sp>
      <p:pic>
        <p:nvPicPr>
          <p:cNvPr id="5" name="Picture 4" descr="Han with sponge.jpg"/>
          <p:cNvPicPr>
            <a:picLocks noChangeAspect="1"/>
          </p:cNvPicPr>
          <p:nvPr/>
        </p:nvPicPr>
        <p:blipFill>
          <a:blip r:embed="rId3" cstate="print"/>
          <a:stretch>
            <a:fillRect/>
          </a:stretch>
        </p:blipFill>
        <p:spPr>
          <a:xfrm>
            <a:off x="6174907" y="4071942"/>
            <a:ext cx="2969093" cy="2195508"/>
          </a:xfrm>
          <a:prstGeom prst="rect">
            <a:avLst/>
          </a:prstGeom>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 food-related items, utensils and areas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729728"/>
          </a:xfrm>
        </p:spPr>
        <p:txBody>
          <a:bodyPr>
            <a:normAutofit/>
          </a:bodyPr>
          <a:lstStyle/>
          <a:p>
            <a:pPr marL="0" indent="0">
              <a:spcBef>
                <a:spcPts val="1200"/>
              </a:spcBef>
              <a:spcAft>
                <a:spcPts val="1200"/>
              </a:spcAft>
              <a:buNone/>
            </a:pPr>
            <a:r>
              <a:rPr lang="en-US" sz="2200" b="1" dirty="0" smtClean="0">
                <a:latin typeface="Helvetica" pitchFamily="34" charset="0"/>
              </a:rPr>
              <a:t>Storage of cleaning chemicals and equipment:</a:t>
            </a:r>
          </a:p>
          <a:p>
            <a:pPr marL="360000" indent="-360000">
              <a:spcBef>
                <a:spcPts val="1200"/>
              </a:spcBef>
              <a:spcAft>
                <a:spcPts val="1200"/>
              </a:spcAft>
            </a:pPr>
            <a:r>
              <a:rPr lang="en-US" sz="2200" b="1" dirty="0" smtClean="0">
                <a:latin typeface="Helvetica" pitchFamily="34" charset="0"/>
              </a:rPr>
              <a:t>Store in designated area – not with or near food</a:t>
            </a:r>
          </a:p>
          <a:p>
            <a:pPr marL="360000" indent="-360000">
              <a:spcBef>
                <a:spcPts val="1200"/>
              </a:spcBef>
              <a:spcAft>
                <a:spcPts val="1200"/>
              </a:spcAft>
            </a:pPr>
            <a:r>
              <a:rPr lang="en-US" sz="2200" b="1" dirty="0" smtClean="0">
                <a:latin typeface="Helvetica" pitchFamily="34" charset="0"/>
              </a:rPr>
              <a:t>Never store chemicals into food containers</a:t>
            </a:r>
          </a:p>
          <a:p>
            <a:pPr marL="360000" indent="-360000">
              <a:spcBef>
                <a:spcPts val="1200"/>
              </a:spcBef>
              <a:spcAft>
                <a:spcPts val="1200"/>
              </a:spcAft>
            </a:pPr>
            <a:r>
              <a:rPr lang="en-US" sz="2200" b="1" dirty="0" smtClean="0">
                <a:latin typeface="Helvetica" pitchFamily="34" charset="0"/>
              </a:rPr>
              <a:t>Never decant chemicals into </a:t>
            </a:r>
            <a:br>
              <a:rPr lang="en-US" sz="2200" b="1" dirty="0" smtClean="0">
                <a:latin typeface="Helvetica" pitchFamily="34" charset="0"/>
              </a:rPr>
            </a:br>
            <a:r>
              <a:rPr lang="en-US" sz="2200" b="1" dirty="0" smtClean="0">
                <a:latin typeface="Helvetica" pitchFamily="34" charset="0"/>
              </a:rPr>
              <a:t>food containers</a:t>
            </a:r>
          </a:p>
          <a:p>
            <a:pPr marL="360000" indent="-360000">
              <a:spcBef>
                <a:spcPts val="1200"/>
              </a:spcBef>
              <a:spcAft>
                <a:spcPts val="1200"/>
              </a:spcAft>
            </a:pPr>
            <a:r>
              <a:rPr lang="en-US" sz="2200" b="1" dirty="0" smtClean="0">
                <a:latin typeface="Helvetica" pitchFamily="34" charset="0"/>
              </a:rPr>
              <a:t>Clean and sanitise equipment </a:t>
            </a:r>
            <a:br>
              <a:rPr lang="en-US" sz="2200" b="1" dirty="0" smtClean="0">
                <a:latin typeface="Helvetica" pitchFamily="34" charset="0"/>
              </a:rPr>
            </a:br>
            <a:r>
              <a:rPr lang="en-US" sz="2200" b="1" dirty="0" smtClean="0">
                <a:latin typeface="Helvetica" pitchFamily="34" charset="0"/>
              </a:rPr>
              <a:t>before storing it.</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85</a:t>
            </a:fld>
            <a:endParaRPr lang="en-US" dirty="0"/>
          </a:p>
        </p:txBody>
      </p:sp>
      <p:pic>
        <p:nvPicPr>
          <p:cNvPr id="5" name="Picture 4" descr="Cleaning Agents.jpg"/>
          <p:cNvPicPr>
            <a:picLocks noChangeAspect="1"/>
          </p:cNvPicPr>
          <p:nvPr/>
        </p:nvPicPr>
        <p:blipFill>
          <a:blip r:embed="rId3" cstate="print"/>
          <a:stretch>
            <a:fillRect/>
          </a:stretch>
        </p:blipFill>
        <p:spPr>
          <a:xfrm>
            <a:off x="6072198" y="3571876"/>
            <a:ext cx="3071802" cy="2084437"/>
          </a:xfrm>
          <a:prstGeom prst="rect">
            <a:avLst/>
          </a:prstGeom>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 food-related items, utensils and areas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4801166"/>
          </a:xfrm>
        </p:spPr>
        <p:txBody>
          <a:bodyPr>
            <a:normAutofit/>
          </a:bodyPr>
          <a:lstStyle/>
          <a:p>
            <a:pPr marL="0" indent="0">
              <a:spcBef>
                <a:spcPts val="1200"/>
              </a:spcBef>
              <a:spcAft>
                <a:spcPts val="1200"/>
              </a:spcAft>
              <a:buNone/>
            </a:pPr>
            <a:r>
              <a:rPr lang="en-US" sz="2200" b="1" dirty="0" smtClean="0">
                <a:latin typeface="Helvetica" pitchFamily="34" charset="0"/>
              </a:rPr>
              <a:t>Your workplace should have ‘cleaning schedules’ identifying:</a:t>
            </a:r>
          </a:p>
          <a:p>
            <a:pPr marL="360000" indent="-360000">
              <a:spcBef>
                <a:spcPts val="1200"/>
              </a:spcBef>
              <a:spcAft>
                <a:spcPts val="1200"/>
              </a:spcAft>
            </a:pPr>
            <a:r>
              <a:rPr lang="en-US" sz="2200" b="1" dirty="0" smtClean="0">
                <a:latin typeface="Helvetica" pitchFamily="34" charset="0"/>
              </a:rPr>
              <a:t>Items and areas to be cleaned</a:t>
            </a:r>
          </a:p>
          <a:p>
            <a:pPr marL="360000" indent="-360000">
              <a:spcBef>
                <a:spcPts val="1200"/>
              </a:spcBef>
              <a:spcAft>
                <a:spcPts val="1200"/>
              </a:spcAft>
            </a:pPr>
            <a:r>
              <a:rPr lang="en-US" sz="2200" b="1" dirty="0" smtClean="0">
                <a:latin typeface="Helvetica" pitchFamily="34" charset="0"/>
              </a:rPr>
              <a:t>When items must be cleaned</a:t>
            </a:r>
          </a:p>
          <a:p>
            <a:pPr marL="360000" indent="-360000">
              <a:spcBef>
                <a:spcPts val="1200"/>
              </a:spcBef>
              <a:spcAft>
                <a:spcPts val="1200"/>
              </a:spcAft>
            </a:pPr>
            <a:r>
              <a:rPr lang="en-US" sz="2200" b="1" dirty="0" smtClean="0">
                <a:latin typeface="Helvetica" pitchFamily="34" charset="0"/>
              </a:rPr>
              <a:t>Who must do the cleaning</a:t>
            </a:r>
          </a:p>
          <a:p>
            <a:pPr marL="360000" indent="-360000">
              <a:spcBef>
                <a:spcPts val="1200"/>
              </a:spcBef>
              <a:spcAft>
                <a:spcPts val="1200"/>
              </a:spcAft>
            </a:pPr>
            <a:r>
              <a:rPr lang="en-US" sz="2200" b="1" dirty="0" smtClean="0">
                <a:latin typeface="Helvetica" pitchFamily="34" charset="0"/>
              </a:rPr>
              <a:t>What is to be used in the cleaning </a:t>
            </a:r>
            <a:br>
              <a:rPr lang="en-US" sz="2200" b="1" dirty="0" smtClean="0">
                <a:latin typeface="Helvetica" pitchFamily="34" charset="0"/>
              </a:rPr>
            </a:br>
            <a:r>
              <a:rPr lang="en-US" sz="2200" b="1" dirty="0" smtClean="0">
                <a:latin typeface="Helvetica" pitchFamily="34" charset="0"/>
              </a:rPr>
              <a:t>process</a:t>
            </a:r>
          </a:p>
          <a:p>
            <a:pPr marL="360000" indent="-360000">
              <a:spcBef>
                <a:spcPts val="1200"/>
              </a:spcBef>
              <a:spcAft>
                <a:spcPts val="1200"/>
              </a:spcAft>
            </a:pPr>
            <a:r>
              <a:rPr lang="en-US" sz="2200" b="1" dirty="0" smtClean="0">
                <a:latin typeface="Helvetica" pitchFamily="34" charset="0"/>
              </a:rPr>
              <a:t>How to do the cleaning.</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86</a:t>
            </a:fld>
            <a:endParaRPr lang="en-US" dirty="0"/>
          </a:p>
        </p:txBody>
      </p:sp>
      <p:pic>
        <p:nvPicPr>
          <p:cNvPr id="5" name="Picture 4" descr="hight_26.jpg"/>
          <p:cNvPicPr>
            <a:picLocks noChangeAspect="1"/>
          </p:cNvPicPr>
          <p:nvPr/>
        </p:nvPicPr>
        <p:blipFill>
          <a:blip r:embed="rId3" cstate="print"/>
          <a:stretch>
            <a:fillRect/>
          </a:stretch>
        </p:blipFill>
        <p:spPr>
          <a:xfrm>
            <a:off x="5962632" y="3929066"/>
            <a:ext cx="3181368" cy="2117598"/>
          </a:xfrm>
          <a:prstGeom prst="rect">
            <a:avLst/>
          </a:prstGeom>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 food-related items, utensils and areas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15480"/>
          </a:xfrm>
        </p:spPr>
        <p:txBody>
          <a:bodyPr>
            <a:normAutofit lnSpcReduction="10000"/>
          </a:bodyPr>
          <a:lstStyle/>
          <a:p>
            <a:pPr marL="0" indent="0">
              <a:spcBef>
                <a:spcPts val="1200"/>
              </a:spcBef>
              <a:spcAft>
                <a:spcPts val="1200"/>
              </a:spcAft>
              <a:buNone/>
            </a:pPr>
            <a:r>
              <a:rPr lang="en-US" sz="2200" b="1" dirty="0" smtClean="0">
                <a:latin typeface="Helvetica" pitchFamily="34" charset="0"/>
              </a:rPr>
              <a:t>To clean crockery and cutlery by hand:</a:t>
            </a:r>
          </a:p>
          <a:p>
            <a:pPr marL="360000" indent="-360000">
              <a:spcBef>
                <a:spcPts val="1200"/>
              </a:spcBef>
              <a:spcAft>
                <a:spcPts val="1200"/>
              </a:spcAft>
            </a:pPr>
            <a:r>
              <a:rPr lang="en-US" sz="2200" b="1" dirty="0" smtClean="0">
                <a:latin typeface="Helvetica" pitchFamily="34" charset="0"/>
              </a:rPr>
              <a:t>Remove visible food debris</a:t>
            </a:r>
          </a:p>
          <a:p>
            <a:pPr marL="360000" indent="-360000">
              <a:spcBef>
                <a:spcPts val="1200"/>
              </a:spcBef>
              <a:spcAft>
                <a:spcPts val="1200"/>
              </a:spcAft>
            </a:pPr>
            <a:r>
              <a:rPr lang="en-US" sz="2200" b="1" dirty="0" smtClean="0">
                <a:latin typeface="Helvetica" pitchFamily="34" charset="0"/>
              </a:rPr>
              <a:t>Rinse with warm water</a:t>
            </a:r>
          </a:p>
          <a:p>
            <a:pPr marL="360000" indent="-360000">
              <a:spcBef>
                <a:spcPts val="1200"/>
              </a:spcBef>
              <a:spcAft>
                <a:spcPts val="1200"/>
              </a:spcAft>
            </a:pPr>
            <a:r>
              <a:rPr lang="en-US" sz="2200" b="1" dirty="0" smtClean="0">
                <a:latin typeface="Helvetica" pitchFamily="34" charset="0"/>
              </a:rPr>
              <a:t>Wash with detergent</a:t>
            </a:r>
          </a:p>
          <a:p>
            <a:pPr marL="360000" indent="-360000">
              <a:spcBef>
                <a:spcPts val="1200"/>
              </a:spcBef>
              <a:spcAft>
                <a:spcPts val="1200"/>
              </a:spcAft>
            </a:pPr>
            <a:r>
              <a:rPr lang="en-US" sz="2200" b="1" dirty="0" smtClean="0">
                <a:latin typeface="Helvetica" pitchFamily="34" charset="0"/>
              </a:rPr>
              <a:t>Rinse</a:t>
            </a:r>
          </a:p>
          <a:p>
            <a:pPr marL="360000" indent="-360000">
              <a:spcBef>
                <a:spcPts val="1200"/>
              </a:spcBef>
              <a:spcAft>
                <a:spcPts val="1200"/>
              </a:spcAft>
            </a:pPr>
            <a:r>
              <a:rPr lang="en-US" sz="2200" b="1" dirty="0" smtClean="0">
                <a:latin typeface="Helvetica" pitchFamily="34" charset="0"/>
              </a:rPr>
              <a:t>Apply sanitiser</a:t>
            </a:r>
          </a:p>
          <a:p>
            <a:pPr marL="360000" indent="-360000">
              <a:spcBef>
                <a:spcPts val="1200"/>
              </a:spcBef>
              <a:spcAft>
                <a:spcPts val="1200"/>
              </a:spcAft>
            </a:pPr>
            <a:r>
              <a:rPr lang="en-US" sz="2200" b="1" dirty="0" smtClean="0">
                <a:latin typeface="Helvetica" pitchFamily="34" charset="0"/>
              </a:rPr>
              <a:t>Rinse</a:t>
            </a:r>
          </a:p>
          <a:p>
            <a:pPr marL="360000" indent="-360000">
              <a:spcBef>
                <a:spcPts val="1200"/>
              </a:spcBef>
              <a:spcAft>
                <a:spcPts val="1200"/>
              </a:spcAft>
            </a:pPr>
            <a:r>
              <a:rPr lang="en-US" sz="2200" b="1" dirty="0" smtClean="0">
                <a:latin typeface="Helvetica" pitchFamily="34" charset="0"/>
              </a:rPr>
              <a:t>Air dry.</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87</a:t>
            </a:fld>
            <a:endParaRPr lang="en-US" dirty="0"/>
          </a:p>
        </p:txBody>
      </p:sp>
      <p:pic>
        <p:nvPicPr>
          <p:cNvPr id="38916" name="Picture 4" descr="C:\Users\fgvghyujil\AppData\Local\Microsoft\Windows\Temporary Internet Files\Content.IE5\SIE7KNHZ\MC900332936[1].wmf"/>
          <p:cNvPicPr>
            <a:picLocks noChangeAspect="1" noChangeArrowheads="1"/>
          </p:cNvPicPr>
          <p:nvPr/>
        </p:nvPicPr>
        <p:blipFill>
          <a:blip r:embed="rId3" cstate="print"/>
          <a:stretch>
            <a:fillRect/>
          </a:stretch>
        </p:blipFill>
        <p:spPr bwMode="auto">
          <a:xfrm>
            <a:off x="6072197" y="3107464"/>
            <a:ext cx="3086651" cy="2049728"/>
          </a:xfrm>
          <a:prstGeom prst="rect">
            <a:avLst/>
          </a:prstGeom>
          <a:noFill/>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 food-related items, utensils and areas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When machine washing crockery and cutlery:</a:t>
            </a:r>
          </a:p>
          <a:p>
            <a:pPr marL="360000" indent="-360000">
              <a:spcBef>
                <a:spcPts val="1200"/>
              </a:spcBef>
              <a:spcAft>
                <a:spcPts val="1200"/>
              </a:spcAft>
            </a:pPr>
            <a:r>
              <a:rPr lang="en-US" sz="2200" b="1" dirty="0" smtClean="0">
                <a:latin typeface="Helvetica" pitchFamily="34" charset="0"/>
              </a:rPr>
              <a:t>Scrape and rinse items</a:t>
            </a:r>
          </a:p>
          <a:p>
            <a:pPr marL="360000" indent="-360000">
              <a:spcBef>
                <a:spcPts val="1200"/>
              </a:spcBef>
              <a:spcAft>
                <a:spcPts val="1200"/>
              </a:spcAft>
            </a:pPr>
            <a:r>
              <a:rPr lang="en-US" sz="2200" b="1" dirty="0" smtClean="0">
                <a:latin typeface="Helvetica" pitchFamily="34" charset="0"/>
              </a:rPr>
              <a:t>Load into correct trays</a:t>
            </a:r>
          </a:p>
          <a:p>
            <a:pPr marL="360000" indent="-360000">
              <a:spcBef>
                <a:spcPts val="1200"/>
              </a:spcBef>
              <a:spcAft>
                <a:spcPts val="1200"/>
              </a:spcAft>
            </a:pPr>
            <a:r>
              <a:rPr lang="en-US" sz="2200" b="1" dirty="0" smtClean="0">
                <a:latin typeface="Helvetica" pitchFamily="34" charset="0"/>
              </a:rPr>
              <a:t>Wash – minimum 60 seconds </a:t>
            </a:r>
            <a:br>
              <a:rPr lang="en-US" sz="2200" b="1" dirty="0" smtClean="0">
                <a:latin typeface="Helvetica" pitchFamily="34" charset="0"/>
              </a:rPr>
            </a:br>
            <a:r>
              <a:rPr lang="en-US" sz="2200" b="1" dirty="0" smtClean="0">
                <a:latin typeface="Helvetica" pitchFamily="34" charset="0"/>
              </a:rPr>
              <a:t>at 66</a:t>
            </a:r>
            <a:r>
              <a:rPr lang="en-AU" sz="2200" b="1" dirty="0" smtClean="0">
                <a:latin typeface="Helvetica" pitchFamily="34" charset="0"/>
              </a:rPr>
              <a:t>°C to 71 °C </a:t>
            </a:r>
          </a:p>
          <a:p>
            <a:pPr marL="360000" indent="-360000">
              <a:spcBef>
                <a:spcPts val="1200"/>
              </a:spcBef>
              <a:spcAft>
                <a:spcPts val="1200"/>
              </a:spcAft>
            </a:pPr>
            <a:r>
              <a:rPr lang="en-AU" sz="2200" b="1" dirty="0" smtClean="0">
                <a:latin typeface="Helvetica" pitchFamily="34" charset="0"/>
              </a:rPr>
              <a:t>Rinse – minimum 1</a:t>
            </a:r>
            <a:r>
              <a:rPr lang="en-US" sz="2200" b="1" dirty="0" smtClean="0">
                <a:latin typeface="Helvetica" pitchFamily="34" charset="0"/>
              </a:rPr>
              <a:t>0 seconds </a:t>
            </a:r>
            <a:br>
              <a:rPr lang="en-US" sz="2200" b="1" dirty="0" smtClean="0">
                <a:latin typeface="Helvetica" pitchFamily="34" charset="0"/>
              </a:rPr>
            </a:br>
            <a:r>
              <a:rPr lang="en-US" sz="2200" b="1" dirty="0" smtClean="0">
                <a:latin typeface="Helvetica" pitchFamily="34" charset="0"/>
              </a:rPr>
              <a:t>at </a:t>
            </a:r>
            <a:r>
              <a:rPr lang="en-AU" sz="2200" b="1" dirty="0" smtClean="0">
                <a:latin typeface="Helvetica" pitchFamily="34" charset="0"/>
              </a:rPr>
              <a:t>minimum 77 °C</a:t>
            </a:r>
          </a:p>
          <a:p>
            <a:pPr marL="360000" indent="-360000">
              <a:spcBef>
                <a:spcPts val="1200"/>
              </a:spcBef>
              <a:spcAft>
                <a:spcPts val="1200"/>
              </a:spcAft>
            </a:pPr>
            <a:r>
              <a:rPr lang="en-AU" sz="2200" b="1" dirty="0" smtClean="0">
                <a:latin typeface="Helvetica" pitchFamily="34" charset="0"/>
              </a:rPr>
              <a:t>Air dry.</a:t>
            </a:r>
            <a:endParaRPr lang="en-US" sz="2200" b="1" dirty="0" smtClean="0">
              <a:latin typeface="Helvetica" pitchFamily="34" charset="0"/>
            </a:endParaRP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88</a:t>
            </a:fld>
            <a:endParaRPr lang="en-US" dirty="0"/>
          </a:p>
        </p:txBody>
      </p:sp>
      <p:pic>
        <p:nvPicPr>
          <p:cNvPr id="5" name="Picture 4" descr="Glass washer machine.jpg"/>
          <p:cNvPicPr>
            <a:picLocks noChangeAspect="1"/>
          </p:cNvPicPr>
          <p:nvPr/>
        </p:nvPicPr>
        <p:blipFill>
          <a:blip r:embed="rId3" cstate="print"/>
          <a:stretch>
            <a:fillRect/>
          </a:stretch>
        </p:blipFill>
        <p:spPr>
          <a:xfrm>
            <a:off x="6357950" y="3214686"/>
            <a:ext cx="1847850" cy="1905000"/>
          </a:xfrm>
          <a:prstGeom prst="rect">
            <a:avLst/>
          </a:prstGeom>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 food-related items, utensils and areas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04856" cy="4525963"/>
          </a:xfrm>
        </p:spPr>
        <p:txBody>
          <a:bodyPr>
            <a:normAutofit/>
          </a:bodyPr>
          <a:lstStyle/>
          <a:p>
            <a:pPr marL="0" indent="0">
              <a:spcBef>
                <a:spcPts val="1200"/>
              </a:spcBef>
              <a:spcAft>
                <a:spcPts val="1200"/>
              </a:spcAft>
              <a:buNone/>
            </a:pPr>
            <a:r>
              <a:rPr lang="en-US" sz="2200" b="1" dirty="0" smtClean="0">
                <a:latin typeface="Helvetica" pitchFamily="34" charset="0"/>
              </a:rPr>
              <a:t>When using a double-bowl sink to wash crockery and cutlery:</a:t>
            </a:r>
          </a:p>
          <a:p>
            <a:pPr marL="360000" indent="-360000">
              <a:spcBef>
                <a:spcPts val="1200"/>
              </a:spcBef>
              <a:spcAft>
                <a:spcPts val="1200"/>
              </a:spcAft>
            </a:pPr>
            <a:r>
              <a:rPr lang="en-US" sz="2200" b="1" dirty="0" smtClean="0">
                <a:latin typeface="Helvetica" pitchFamily="34" charset="0"/>
              </a:rPr>
              <a:t>One bowl – hot water (45</a:t>
            </a:r>
            <a:r>
              <a:rPr lang="en-AU" sz="2200" b="1" dirty="0" smtClean="0">
                <a:latin typeface="Helvetica" pitchFamily="34" charset="0"/>
              </a:rPr>
              <a:t>°C) + detergent, for washing</a:t>
            </a:r>
          </a:p>
          <a:p>
            <a:pPr marL="360000" indent="-360000">
              <a:spcBef>
                <a:spcPts val="1200"/>
              </a:spcBef>
              <a:spcAft>
                <a:spcPts val="1200"/>
              </a:spcAft>
            </a:pPr>
            <a:r>
              <a:rPr lang="en-AU" sz="2200" b="1" dirty="0" smtClean="0">
                <a:latin typeface="Helvetica" pitchFamily="34" charset="0"/>
              </a:rPr>
              <a:t>Second bowl – clean water </a:t>
            </a:r>
            <a:r>
              <a:rPr lang="en-US" sz="2200" b="1" dirty="0" smtClean="0">
                <a:latin typeface="Helvetica" pitchFamily="34" charset="0"/>
              </a:rPr>
              <a:t>(77</a:t>
            </a:r>
            <a:r>
              <a:rPr lang="en-AU" sz="2200" b="1" dirty="0" smtClean="0">
                <a:latin typeface="Helvetica" pitchFamily="34" charset="0"/>
              </a:rPr>
              <a:t>°C), for sanitising</a:t>
            </a:r>
            <a:endParaRPr lang="en-US" sz="2200" b="1" dirty="0" smtClean="0">
              <a:latin typeface="Helvetica" pitchFamily="34" charset="0"/>
            </a:endParaRPr>
          </a:p>
          <a:p>
            <a:pPr marL="360000" indent="-360000">
              <a:spcBef>
                <a:spcPts val="1200"/>
              </a:spcBef>
              <a:spcAft>
                <a:spcPts val="1200"/>
              </a:spcAft>
            </a:pPr>
            <a:r>
              <a:rPr lang="en-US" sz="2200" b="1" dirty="0" smtClean="0">
                <a:latin typeface="Helvetica" pitchFamily="34" charset="0"/>
              </a:rPr>
              <a:t>Sanitising = soaking for 30 seconds </a:t>
            </a:r>
            <a:br>
              <a:rPr lang="en-US" sz="2200" b="1" dirty="0" smtClean="0">
                <a:latin typeface="Helvetica" pitchFamily="34" charset="0"/>
              </a:rPr>
            </a:br>
            <a:r>
              <a:rPr lang="en-US" sz="2200" b="1" dirty="0" smtClean="0">
                <a:latin typeface="Helvetica" pitchFamily="34" charset="0"/>
              </a:rPr>
              <a:t>in second bowl</a:t>
            </a:r>
          </a:p>
          <a:p>
            <a:pPr marL="360000" indent="-360000">
              <a:spcBef>
                <a:spcPts val="1200"/>
              </a:spcBef>
              <a:spcAft>
                <a:spcPts val="1200"/>
              </a:spcAft>
            </a:pPr>
            <a:r>
              <a:rPr lang="en-US" sz="2200" b="1" dirty="0" smtClean="0">
                <a:latin typeface="Helvetica" pitchFamily="34" charset="0"/>
              </a:rPr>
              <a:t>Air dry</a:t>
            </a:r>
          </a:p>
          <a:p>
            <a:pPr marL="360000" indent="-360000">
              <a:spcBef>
                <a:spcPts val="1200"/>
              </a:spcBef>
              <a:spcAft>
                <a:spcPts val="1200"/>
              </a:spcAft>
            </a:pPr>
            <a:r>
              <a:rPr lang="en-US" sz="2200" b="1" dirty="0" smtClean="0">
                <a:latin typeface="Helvetica" pitchFamily="34" charset="0"/>
              </a:rPr>
              <a:t>Thermometer must be on-hand.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89</a:t>
            </a:fld>
            <a:endParaRPr lang="en-US" dirty="0"/>
          </a:p>
        </p:txBody>
      </p:sp>
      <p:pic>
        <p:nvPicPr>
          <p:cNvPr id="39938" name="Picture 2" descr="C:\Users\fgvghyujil\AppData\Local\Microsoft\Windows\Temporary Internet Files\Content.IE5\TU1ZREEW\MC900332956[1].wmf"/>
          <p:cNvPicPr>
            <a:picLocks noChangeAspect="1" noChangeArrowheads="1"/>
          </p:cNvPicPr>
          <p:nvPr/>
        </p:nvPicPr>
        <p:blipFill>
          <a:blip r:embed="rId3" cstate="print"/>
          <a:srcRect/>
          <a:stretch>
            <a:fillRect/>
          </a:stretch>
        </p:blipFill>
        <p:spPr bwMode="auto">
          <a:xfrm>
            <a:off x="6300192" y="3717032"/>
            <a:ext cx="1950153" cy="1500198"/>
          </a:xfrm>
          <a:prstGeom prst="rect">
            <a:avLst/>
          </a:prstGeom>
          <a:noFill/>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Clean food-related items, utensils and areas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When working behind a bar, all safe food handling and cleaning practices must be observed – cleaning may involve:</a:t>
            </a:r>
          </a:p>
          <a:p>
            <a:pPr marL="360000" indent="-360000">
              <a:spcBef>
                <a:spcPts val="1200"/>
              </a:spcBef>
              <a:spcAft>
                <a:spcPts val="1200"/>
              </a:spcAft>
            </a:pPr>
            <a:r>
              <a:rPr lang="en-US" sz="2200" b="1" dirty="0" smtClean="0">
                <a:latin typeface="Helvetica" pitchFamily="34" charset="0"/>
              </a:rPr>
              <a:t>Cleaning small equipment</a:t>
            </a:r>
          </a:p>
          <a:p>
            <a:pPr marL="360000" indent="-360000">
              <a:spcBef>
                <a:spcPts val="1200"/>
              </a:spcBef>
              <a:spcAft>
                <a:spcPts val="1200"/>
              </a:spcAft>
            </a:pPr>
            <a:r>
              <a:rPr lang="en-US" sz="2200" b="1" dirty="0" smtClean="0">
                <a:latin typeface="Helvetica" pitchFamily="34" charset="0"/>
              </a:rPr>
              <a:t>Cleaning large equipment</a:t>
            </a:r>
          </a:p>
          <a:p>
            <a:pPr marL="360000" indent="-360000">
              <a:spcBef>
                <a:spcPts val="1200"/>
              </a:spcBef>
              <a:spcAft>
                <a:spcPts val="1200"/>
              </a:spcAft>
            </a:pPr>
            <a:r>
              <a:rPr lang="en-US" sz="2200" b="1" dirty="0" smtClean="0">
                <a:latin typeface="Helvetica" pitchFamily="34" charset="0"/>
              </a:rPr>
              <a:t>Cleaning beer lines</a:t>
            </a:r>
          </a:p>
          <a:p>
            <a:pPr marL="360000" indent="-360000">
              <a:spcBef>
                <a:spcPts val="1200"/>
              </a:spcBef>
              <a:spcAft>
                <a:spcPts val="1200"/>
              </a:spcAft>
            </a:pPr>
            <a:r>
              <a:rPr lang="en-US" sz="2200" b="1" dirty="0" smtClean="0">
                <a:latin typeface="Helvetica" pitchFamily="34" charset="0"/>
              </a:rPr>
              <a:t>Cleaning fixed items.</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90</a:t>
            </a:fld>
            <a:endParaRPr lang="en-US" dirty="0"/>
          </a:p>
        </p:txBody>
      </p:sp>
      <p:pic>
        <p:nvPicPr>
          <p:cNvPr id="40962" name="Picture 2" descr="C:\Users\fgvghyujil\AppData\Local\Microsoft\Windows\Temporary Internet Files\Content.IE5\SIE7KNHZ\MC900150088[1].wmf"/>
          <p:cNvPicPr>
            <a:picLocks noChangeAspect="1" noChangeArrowheads="1"/>
          </p:cNvPicPr>
          <p:nvPr/>
        </p:nvPicPr>
        <p:blipFill>
          <a:blip r:embed="rId3" cstate="print"/>
          <a:srcRect/>
          <a:stretch>
            <a:fillRect/>
          </a:stretch>
        </p:blipFill>
        <p:spPr bwMode="auto">
          <a:xfrm>
            <a:off x="5857884" y="2786058"/>
            <a:ext cx="2322214" cy="2311651"/>
          </a:xfrm>
          <a:prstGeom prst="rect">
            <a:avLst/>
          </a:prstGeom>
          <a:noFill/>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72604"/>
          </a:xfrm>
        </p:spPr>
        <p:txBody>
          <a:bodyPr>
            <a:normAutofit fontScale="92500" lnSpcReduction="10000"/>
          </a:bodyPr>
          <a:lstStyle/>
          <a:p>
            <a:pPr marL="0" indent="0">
              <a:spcBef>
                <a:spcPts val="1200"/>
              </a:spcBef>
              <a:spcAft>
                <a:spcPts val="1200"/>
              </a:spcAft>
              <a:buNone/>
            </a:pPr>
            <a:r>
              <a:rPr lang="en-US" sz="2200" b="1" dirty="0" smtClean="0">
                <a:latin typeface="Helvetica" pitchFamily="34" charset="0"/>
              </a:rPr>
              <a:t>When following hygiene procedures:</a:t>
            </a:r>
          </a:p>
          <a:p>
            <a:pPr>
              <a:spcBef>
                <a:spcPts val="1200"/>
              </a:spcBef>
              <a:spcAft>
                <a:spcPts val="1200"/>
              </a:spcAft>
            </a:pPr>
            <a:r>
              <a:rPr lang="en-AU" sz="2200" b="1" dirty="0" smtClean="0">
                <a:latin typeface="Helvetica" pitchFamily="34" charset="0"/>
              </a:rPr>
              <a:t>Identify all legislated and workplace safe food handling requirements</a:t>
            </a:r>
          </a:p>
          <a:p>
            <a:pPr>
              <a:spcBef>
                <a:spcPts val="1200"/>
              </a:spcBef>
              <a:spcAft>
                <a:spcPts val="1200"/>
              </a:spcAft>
            </a:pPr>
            <a:r>
              <a:rPr lang="en-AU" sz="2200" b="1" dirty="0" smtClean="0">
                <a:latin typeface="Helvetica" pitchFamily="34" charset="0"/>
              </a:rPr>
              <a:t>Never be afraid to ask for advice or direction about what needs to be done</a:t>
            </a:r>
          </a:p>
          <a:p>
            <a:pPr>
              <a:spcBef>
                <a:spcPts val="1200"/>
              </a:spcBef>
              <a:spcAft>
                <a:spcPts val="1200"/>
              </a:spcAft>
            </a:pPr>
            <a:r>
              <a:rPr lang="en-AU" sz="2200" b="1" dirty="0" smtClean="0">
                <a:latin typeface="Helvetica" pitchFamily="34" charset="0"/>
              </a:rPr>
              <a:t>Complete all necessary workplace </a:t>
            </a:r>
            <a:br>
              <a:rPr lang="en-AU" sz="2200" b="1" dirty="0" smtClean="0">
                <a:latin typeface="Helvetica" pitchFamily="34" charset="0"/>
              </a:rPr>
            </a:br>
            <a:r>
              <a:rPr lang="en-AU" sz="2200" b="1" dirty="0" smtClean="0">
                <a:latin typeface="Helvetica" pitchFamily="34" charset="0"/>
              </a:rPr>
              <a:t>documents to reflect and record safe food </a:t>
            </a:r>
            <a:br>
              <a:rPr lang="en-AU" sz="2200" b="1" dirty="0" smtClean="0">
                <a:latin typeface="Helvetica" pitchFamily="34" charset="0"/>
              </a:rPr>
            </a:br>
            <a:r>
              <a:rPr lang="en-AU" sz="2200" b="1" dirty="0" smtClean="0">
                <a:latin typeface="Helvetica" pitchFamily="34" charset="0"/>
              </a:rPr>
              <a:t>handling activities</a:t>
            </a:r>
          </a:p>
          <a:p>
            <a:pPr>
              <a:spcBef>
                <a:spcPts val="1200"/>
              </a:spcBef>
              <a:spcAft>
                <a:spcPts val="1200"/>
              </a:spcAft>
            </a:pPr>
            <a:r>
              <a:rPr lang="en-AU" sz="2200" b="1" dirty="0" smtClean="0">
                <a:latin typeface="Helvetica" pitchFamily="34" charset="0"/>
              </a:rPr>
              <a:t>Take special care when handling potentially </a:t>
            </a:r>
            <a:br>
              <a:rPr lang="en-AU" sz="2200" b="1" dirty="0" smtClean="0">
                <a:latin typeface="Helvetica" pitchFamily="34" charset="0"/>
              </a:rPr>
            </a:br>
            <a:r>
              <a:rPr lang="en-AU" sz="2200" b="1" dirty="0" smtClean="0">
                <a:latin typeface="Helvetica" pitchFamily="34" charset="0"/>
              </a:rPr>
              <a:t>hazardous or high risk foods</a:t>
            </a:r>
            <a:endParaRPr lang="en-US" sz="2200" b="1" dirty="0" smtClean="0">
              <a:latin typeface="Helvetica" pitchFamily="34" charset="0"/>
            </a:endParaRP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91</a:t>
            </a:fld>
            <a:endParaRPr lang="en-US" dirty="0"/>
          </a:p>
        </p:txBody>
      </p:sp>
      <p:pic>
        <p:nvPicPr>
          <p:cNvPr id="5" name="Picture 2" descr="C:\Users\fgvghyujil\AppData\Local\Microsoft\Windows\Temporary Internet Files\Content.IE5\PP601SXW\MC900440428[1].wmf"/>
          <p:cNvPicPr>
            <a:picLocks noChangeAspect="1" noChangeArrowheads="1"/>
          </p:cNvPicPr>
          <p:nvPr/>
        </p:nvPicPr>
        <p:blipFill>
          <a:blip r:embed="rId3" cstate="print"/>
          <a:srcRect/>
          <a:stretch>
            <a:fillRect/>
          </a:stretch>
        </p:blipFill>
        <p:spPr bwMode="auto">
          <a:xfrm>
            <a:off x="6715140" y="3500438"/>
            <a:ext cx="1736725" cy="1828800"/>
          </a:xfrm>
          <a:prstGeom prst="rect">
            <a:avLst/>
          </a:prstGeom>
          <a:noFill/>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1200"/>
              </a:spcBef>
              <a:spcAft>
                <a:spcPts val="1200"/>
              </a:spcAft>
            </a:pPr>
            <a:r>
              <a:rPr lang="en-AU" sz="2200" b="1" dirty="0" smtClean="0">
                <a:latin typeface="Helvetica" pitchFamily="34" charset="0"/>
              </a:rPr>
              <a:t>Minimise time high risk food spends in the Temperature Danger Zone</a:t>
            </a:r>
          </a:p>
          <a:p>
            <a:pPr>
              <a:spcBef>
                <a:spcPts val="1200"/>
              </a:spcBef>
              <a:spcAft>
                <a:spcPts val="1200"/>
              </a:spcAft>
            </a:pPr>
            <a:r>
              <a:rPr lang="en-AU" sz="2200" b="1" dirty="0" smtClean="0">
                <a:latin typeface="Helvetica" pitchFamily="34" charset="0"/>
              </a:rPr>
              <a:t>Use a properly calibrated probe food thermometer to test the temperature of food and food appliances</a:t>
            </a:r>
          </a:p>
          <a:p>
            <a:pPr>
              <a:spcBef>
                <a:spcPts val="1200"/>
              </a:spcBef>
              <a:spcAft>
                <a:spcPts val="1200"/>
              </a:spcAft>
            </a:pPr>
            <a:r>
              <a:rPr lang="en-AU" sz="2200" b="1" dirty="0" smtClean="0">
                <a:latin typeface="Helvetica" pitchFamily="34" charset="0"/>
              </a:rPr>
              <a:t>Realise safe food handling practices apply to beverages as well as food</a:t>
            </a:r>
          </a:p>
          <a:p>
            <a:pPr>
              <a:spcBef>
                <a:spcPts val="1200"/>
              </a:spcBef>
              <a:spcAft>
                <a:spcPts val="1200"/>
              </a:spcAft>
            </a:pPr>
            <a:r>
              <a:rPr lang="en-AU" sz="2200" b="1" dirty="0" smtClean="0">
                <a:latin typeface="Helvetica" pitchFamily="34" charset="0"/>
              </a:rPr>
              <a:t>Implement required personal hygiene </a:t>
            </a:r>
            <a:br>
              <a:rPr lang="en-AU" sz="2200" b="1" dirty="0" smtClean="0">
                <a:latin typeface="Helvetica" pitchFamily="34" charset="0"/>
              </a:rPr>
            </a:br>
            <a:r>
              <a:rPr lang="en-AU" sz="2200" b="1" dirty="0" smtClean="0">
                <a:latin typeface="Helvetica" pitchFamily="34" charset="0"/>
              </a:rPr>
              <a:t>practices and standards</a:t>
            </a:r>
            <a:endParaRPr lang="en-US" sz="2200" b="1" dirty="0" smtClean="0">
              <a:latin typeface="Helvetica" pitchFamily="34" charset="0"/>
            </a:endParaRP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92</a:t>
            </a:fld>
            <a:endParaRPr lang="en-US" dirty="0"/>
          </a:p>
        </p:txBody>
      </p:sp>
      <p:pic>
        <p:nvPicPr>
          <p:cNvPr id="5" name="Picture 2" descr="C:\Users\fgvghyujil\AppData\Local\Microsoft\Windows\Temporary Internet Files\Content.IE5\PP601SXW\MC900440428[1].wmf"/>
          <p:cNvPicPr>
            <a:picLocks noChangeAspect="1" noChangeArrowheads="1"/>
          </p:cNvPicPr>
          <p:nvPr/>
        </p:nvPicPr>
        <p:blipFill>
          <a:blip r:embed="rId3" cstate="print"/>
          <a:srcRect/>
          <a:stretch>
            <a:fillRect/>
          </a:stretch>
        </p:blipFill>
        <p:spPr bwMode="auto">
          <a:xfrm>
            <a:off x="6715140" y="3500438"/>
            <a:ext cx="1736725" cy="1828800"/>
          </a:xfrm>
          <a:prstGeom prst="rect">
            <a:avLst/>
          </a:prstGeom>
          <a:noFill/>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1200"/>
              </a:spcBef>
              <a:spcAft>
                <a:spcPts val="1200"/>
              </a:spcAft>
            </a:pPr>
            <a:r>
              <a:rPr lang="en-AU" sz="2200" b="1" dirty="0" smtClean="0">
                <a:latin typeface="Helvetica" pitchFamily="34" charset="0"/>
              </a:rPr>
              <a:t>Avoid contact with the bare hands with prepared or ready-to-eat food </a:t>
            </a:r>
          </a:p>
          <a:p>
            <a:pPr>
              <a:spcBef>
                <a:spcPts val="1200"/>
              </a:spcBef>
              <a:spcAft>
                <a:spcPts val="1200"/>
              </a:spcAft>
            </a:pPr>
            <a:r>
              <a:rPr lang="en-AU" sz="2200" b="1" dirty="0" smtClean="0">
                <a:latin typeface="Helvetica" pitchFamily="34" charset="0"/>
              </a:rPr>
              <a:t>Be constantly alert to the potential for unsafe food handling practices and take appropriate action (or report them) when identified</a:t>
            </a:r>
          </a:p>
          <a:p>
            <a:pPr>
              <a:spcBef>
                <a:spcPts val="1200"/>
              </a:spcBef>
              <a:spcAft>
                <a:spcPts val="1200"/>
              </a:spcAft>
            </a:pPr>
            <a:r>
              <a:rPr lang="en-AU" sz="2200" b="1" dirty="0" smtClean="0">
                <a:latin typeface="Helvetica" pitchFamily="34" charset="0"/>
              </a:rPr>
              <a:t>Only buy food from approved suppliers</a:t>
            </a:r>
          </a:p>
          <a:p>
            <a:pPr>
              <a:spcBef>
                <a:spcPts val="1200"/>
              </a:spcBef>
              <a:spcAft>
                <a:spcPts val="1200"/>
              </a:spcAft>
            </a:pPr>
            <a:r>
              <a:rPr lang="en-AU" sz="2200" b="1" dirty="0" smtClean="0">
                <a:latin typeface="Helvetica" pitchFamily="34" charset="0"/>
              </a:rPr>
              <a:t>Check all incoming food to ensure it </a:t>
            </a:r>
            <a:br>
              <a:rPr lang="en-AU" sz="2200" b="1" dirty="0" smtClean="0">
                <a:latin typeface="Helvetica" pitchFamily="34" charset="0"/>
              </a:rPr>
            </a:br>
            <a:r>
              <a:rPr lang="en-AU" sz="2200" b="1" dirty="0" smtClean="0">
                <a:latin typeface="Helvetica" pitchFamily="34" charset="0"/>
              </a:rPr>
              <a:t>is safe</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93</a:t>
            </a:fld>
            <a:endParaRPr lang="en-US" dirty="0"/>
          </a:p>
        </p:txBody>
      </p:sp>
      <p:pic>
        <p:nvPicPr>
          <p:cNvPr id="5" name="Picture 2" descr="C:\Users\fgvghyujil\AppData\Local\Microsoft\Windows\Temporary Internet Files\Content.IE5\PP601SXW\MC900440428[1].wmf"/>
          <p:cNvPicPr>
            <a:picLocks noChangeAspect="1" noChangeArrowheads="1"/>
          </p:cNvPicPr>
          <p:nvPr/>
        </p:nvPicPr>
        <p:blipFill>
          <a:blip r:embed="rId3" cstate="print"/>
          <a:srcRect/>
          <a:stretch>
            <a:fillRect/>
          </a:stretch>
        </p:blipFill>
        <p:spPr bwMode="auto">
          <a:xfrm>
            <a:off x="6715140" y="3500438"/>
            <a:ext cx="1736725" cy="1828800"/>
          </a:xfrm>
          <a:prstGeom prst="rect">
            <a:avLst/>
          </a:prstGeom>
          <a:noFill/>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1200"/>
              </a:spcBef>
              <a:spcAft>
                <a:spcPts val="1200"/>
              </a:spcAft>
            </a:pPr>
            <a:r>
              <a:rPr lang="en-AU" sz="2200" b="1" dirty="0" smtClean="0">
                <a:latin typeface="Helvetica" pitchFamily="34" charset="0"/>
              </a:rPr>
              <a:t>Store all food according to its individual requirements</a:t>
            </a:r>
          </a:p>
          <a:p>
            <a:pPr>
              <a:spcBef>
                <a:spcPts val="1200"/>
              </a:spcBef>
              <a:spcAft>
                <a:spcPts val="1200"/>
              </a:spcAft>
            </a:pPr>
            <a:r>
              <a:rPr lang="en-AU" sz="2200" b="1" dirty="0" smtClean="0">
                <a:latin typeface="Helvetica" pitchFamily="34" charset="0"/>
              </a:rPr>
              <a:t>Rotate food using FIFO stock rotation principles</a:t>
            </a:r>
          </a:p>
          <a:p>
            <a:pPr>
              <a:spcBef>
                <a:spcPts val="1200"/>
              </a:spcBef>
              <a:spcAft>
                <a:spcPts val="1200"/>
              </a:spcAft>
            </a:pPr>
            <a:r>
              <a:rPr lang="en-AU" sz="2200" b="1" dirty="0" smtClean="0">
                <a:latin typeface="Helvetica" pitchFamily="34" charset="0"/>
              </a:rPr>
              <a:t>Handle food to protect it from contamination</a:t>
            </a:r>
          </a:p>
          <a:p>
            <a:pPr>
              <a:spcBef>
                <a:spcPts val="1200"/>
              </a:spcBef>
              <a:spcAft>
                <a:spcPts val="1200"/>
              </a:spcAft>
            </a:pPr>
            <a:r>
              <a:rPr lang="en-AU" sz="2200" b="1" dirty="0" smtClean="0">
                <a:latin typeface="Helvetica" pitchFamily="34" charset="0"/>
              </a:rPr>
              <a:t>Discard all out-of-date stock</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94</a:t>
            </a:fld>
            <a:endParaRPr lang="en-US" dirty="0"/>
          </a:p>
        </p:txBody>
      </p:sp>
      <p:pic>
        <p:nvPicPr>
          <p:cNvPr id="5" name="Picture 2" descr="C:\Users\fgvghyujil\AppData\Local\Microsoft\Windows\Temporary Internet Files\Content.IE5\PP601SXW\MC900440428[1].wmf"/>
          <p:cNvPicPr>
            <a:picLocks noChangeAspect="1" noChangeArrowheads="1"/>
          </p:cNvPicPr>
          <p:nvPr/>
        </p:nvPicPr>
        <p:blipFill>
          <a:blip r:embed="rId3" cstate="print"/>
          <a:srcRect/>
          <a:stretch>
            <a:fillRect/>
          </a:stretch>
        </p:blipFill>
        <p:spPr bwMode="auto">
          <a:xfrm>
            <a:off x="6715140" y="3500438"/>
            <a:ext cx="1736725" cy="1828800"/>
          </a:xfrm>
          <a:prstGeom prst="rect">
            <a:avLst/>
          </a:prstGeom>
          <a:noFill/>
        </p:spPr>
      </p:pic>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1200"/>
              </a:spcBef>
              <a:spcAft>
                <a:spcPts val="1200"/>
              </a:spcAft>
            </a:pPr>
            <a:r>
              <a:rPr lang="en-AU" sz="2200" b="1" dirty="0" smtClean="0">
                <a:latin typeface="Helvetica" pitchFamily="34" charset="0"/>
              </a:rPr>
              <a:t>Never thaw foods by placing them into sinks or bowls of water</a:t>
            </a:r>
          </a:p>
          <a:p>
            <a:pPr>
              <a:spcBef>
                <a:spcPts val="1200"/>
              </a:spcBef>
              <a:spcAft>
                <a:spcPts val="1200"/>
              </a:spcAft>
            </a:pPr>
            <a:r>
              <a:rPr lang="en-AU" sz="2200" b="1" dirty="0" smtClean="0">
                <a:latin typeface="Helvetica" pitchFamily="34" charset="0"/>
              </a:rPr>
              <a:t>Always observe the two-step rule for cooling hot food</a:t>
            </a:r>
          </a:p>
          <a:p>
            <a:pPr>
              <a:spcBef>
                <a:spcPts val="1200"/>
              </a:spcBef>
              <a:spcAft>
                <a:spcPts val="1200"/>
              </a:spcAft>
            </a:pPr>
            <a:r>
              <a:rPr lang="en-AU" sz="2200" b="1" dirty="0" smtClean="0">
                <a:latin typeface="Helvetica" pitchFamily="34" charset="0"/>
              </a:rPr>
              <a:t>Be alert to the potential for cross </a:t>
            </a:r>
            <a:br>
              <a:rPr lang="en-AU" sz="2200" b="1" dirty="0" smtClean="0">
                <a:latin typeface="Helvetica" pitchFamily="34" charset="0"/>
              </a:rPr>
            </a:br>
            <a:r>
              <a:rPr lang="en-AU" sz="2200" b="1" dirty="0" smtClean="0">
                <a:latin typeface="Helvetica" pitchFamily="34" charset="0"/>
              </a:rPr>
              <a:t>contamination and guard against it</a:t>
            </a:r>
          </a:p>
          <a:p>
            <a:pPr>
              <a:spcBef>
                <a:spcPts val="1200"/>
              </a:spcBef>
              <a:spcAft>
                <a:spcPts val="1200"/>
              </a:spcAft>
            </a:pPr>
            <a:r>
              <a:rPr lang="en-AU" sz="2200" b="1" dirty="0" smtClean="0">
                <a:latin typeface="Helvetica" pitchFamily="34" charset="0"/>
              </a:rPr>
              <a:t>Only re-heat previously cooked food once </a:t>
            </a:r>
            <a:br>
              <a:rPr lang="en-AU" sz="2200" b="1" dirty="0" smtClean="0">
                <a:latin typeface="Helvetica" pitchFamily="34" charset="0"/>
              </a:rPr>
            </a:br>
            <a:r>
              <a:rPr lang="en-AU" sz="2200" b="1" dirty="0" smtClean="0">
                <a:latin typeface="Helvetica" pitchFamily="34" charset="0"/>
              </a:rPr>
              <a:t>and re-heat it to 70°C for 2 minutes</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95</a:t>
            </a:fld>
            <a:endParaRPr lang="en-US" dirty="0"/>
          </a:p>
        </p:txBody>
      </p:sp>
      <p:pic>
        <p:nvPicPr>
          <p:cNvPr id="5" name="Picture 2" descr="C:\Users\fgvghyujil\AppData\Local\Microsoft\Windows\Temporary Internet Files\Content.IE5\PP601SXW\MC900440428[1].wmf"/>
          <p:cNvPicPr>
            <a:picLocks noChangeAspect="1" noChangeArrowheads="1"/>
          </p:cNvPicPr>
          <p:nvPr/>
        </p:nvPicPr>
        <p:blipFill>
          <a:blip r:embed="rId3" cstate="print"/>
          <a:srcRect/>
          <a:stretch>
            <a:fillRect/>
          </a:stretch>
        </p:blipFill>
        <p:spPr bwMode="auto">
          <a:xfrm>
            <a:off x="6715140" y="3500438"/>
            <a:ext cx="1736725" cy="1828800"/>
          </a:xfrm>
          <a:prstGeom prst="rect">
            <a:avLst/>
          </a:prstGeom>
          <a:noFill/>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1200"/>
              </a:spcBef>
              <a:spcAft>
                <a:spcPts val="1200"/>
              </a:spcAft>
            </a:pPr>
            <a:r>
              <a:rPr lang="en-AU" sz="2200" b="1" dirty="0" smtClean="0">
                <a:latin typeface="Helvetica" pitchFamily="34" charset="0"/>
              </a:rPr>
              <a:t>Supervise the self-service of food by customers to themselves</a:t>
            </a:r>
          </a:p>
          <a:p>
            <a:pPr>
              <a:spcBef>
                <a:spcPts val="1200"/>
              </a:spcBef>
              <a:spcAft>
                <a:spcPts val="1200"/>
              </a:spcAft>
            </a:pPr>
            <a:r>
              <a:rPr lang="en-AU" sz="2200" b="1" dirty="0" smtClean="0">
                <a:latin typeface="Helvetica" pitchFamily="34" charset="0"/>
              </a:rPr>
              <a:t>Keep hot food hot (60°C plus) &amp; cold food cold (5°C and below) when it is displayed for sale and service</a:t>
            </a:r>
          </a:p>
          <a:p>
            <a:pPr>
              <a:spcBef>
                <a:spcPts val="1200"/>
              </a:spcBef>
              <a:spcAft>
                <a:spcPts val="1200"/>
              </a:spcAft>
            </a:pPr>
            <a:r>
              <a:rPr lang="en-AU" sz="2200" b="1" dirty="0" smtClean="0">
                <a:latin typeface="Helvetica" pitchFamily="34" charset="0"/>
              </a:rPr>
              <a:t>Ensure service items (including single-use </a:t>
            </a:r>
            <a:br>
              <a:rPr lang="en-AU" sz="2200" b="1" dirty="0" smtClean="0">
                <a:latin typeface="Helvetica" pitchFamily="34" charset="0"/>
              </a:rPr>
            </a:br>
            <a:r>
              <a:rPr lang="en-AU" sz="2200" b="1" dirty="0" smtClean="0">
                <a:latin typeface="Helvetica" pitchFamily="34" charset="0"/>
              </a:rPr>
              <a:t>items) are clean</a:t>
            </a:r>
          </a:p>
          <a:p>
            <a:pPr>
              <a:spcBef>
                <a:spcPts val="1200"/>
              </a:spcBef>
              <a:spcAft>
                <a:spcPts val="1200"/>
              </a:spcAft>
            </a:pPr>
            <a:r>
              <a:rPr lang="en-AU" sz="2200" b="1" dirty="0" smtClean="0">
                <a:latin typeface="Helvetica" pitchFamily="34" charset="0"/>
              </a:rPr>
              <a:t>Only use single-use items once</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96</a:t>
            </a:fld>
            <a:endParaRPr lang="en-US" dirty="0"/>
          </a:p>
        </p:txBody>
      </p:sp>
      <p:pic>
        <p:nvPicPr>
          <p:cNvPr id="5" name="Picture 2" descr="C:\Users\fgvghyujil\AppData\Local\Microsoft\Windows\Temporary Internet Files\Content.IE5\PP601SXW\MC900440428[1].wmf"/>
          <p:cNvPicPr>
            <a:picLocks noChangeAspect="1" noChangeArrowheads="1"/>
          </p:cNvPicPr>
          <p:nvPr/>
        </p:nvPicPr>
        <p:blipFill>
          <a:blip r:embed="rId3" cstate="print"/>
          <a:srcRect/>
          <a:stretch>
            <a:fillRect/>
          </a:stretch>
        </p:blipFill>
        <p:spPr bwMode="auto">
          <a:xfrm>
            <a:off x="6715140" y="3500438"/>
            <a:ext cx="1736725" cy="1828800"/>
          </a:xfrm>
          <a:prstGeom prst="rect">
            <a:avLst/>
          </a:prstGeom>
          <a:noFill/>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1200"/>
              </a:spcBef>
              <a:spcAft>
                <a:spcPts val="1200"/>
              </a:spcAft>
            </a:pPr>
            <a:r>
              <a:rPr lang="en-AU" sz="2200" b="1" dirty="0" smtClean="0">
                <a:latin typeface="Helvetica" pitchFamily="34" charset="0"/>
              </a:rPr>
              <a:t>Follow designated cleaning schedules and instructions when cleaning food surfaces, items, utensils, equipment and areas</a:t>
            </a:r>
          </a:p>
          <a:p>
            <a:pPr>
              <a:spcBef>
                <a:spcPts val="1200"/>
              </a:spcBef>
              <a:spcAft>
                <a:spcPts val="1200"/>
              </a:spcAft>
            </a:pPr>
            <a:r>
              <a:rPr lang="en-AU" sz="2200" b="1" dirty="0" smtClean="0">
                <a:latin typeface="Helvetica" pitchFamily="34" charset="0"/>
              </a:rPr>
              <a:t>Clean all food equipment and surfaces after every session, or every four hours</a:t>
            </a:r>
          </a:p>
          <a:p>
            <a:pPr>
              <a:spcBef>
                <a:spcPts val="1200"/>
              </a:spcBef>
              <a:spcAft>
                <a:spcPts val="1200"/>
              </a:spcAft>
            </a:pPr>
            <a:r>
              <a:rPr lang="en-AU" sz="2200" b="1" dirty="0" smtClean="0">
                <a:latin typeface="Helvetica" pitchFamily="34" charset="0"/>
              </a:rPr>
              <a:t>Use detergent and a sanitiser to clean food </a:t>
            </a:r>
            <a:br>
              <a:rPr lang="en-AU" sz="2200" b="1" dirty="0" smtClean="0">
                <a:latin typeface="Helvetica" pitchFamily="34" charset="0"/>
              </a:rPr>
            </a:br>
            <a:r>
              <a:rPr lang="en-AU" sz="2200" b="1" dirty="0" smtClean="0">
                <a:latin typeface="Helvetica" pitchFamily="34" charset="0"/>
              </a:rPr>
              <a:t>items, surfaces, equipment, crockery </a:t>
            </a:r>
            <a:br>
              <a:rPr lang="en-AU" sz="2200" b="1" dirty="0" smtClean="0">
                <a:latin typeface="Helvetica" pitchFamily="34" charset="0"/>
              </a:rPr>
            </a:br>
            <a:r>
              <a:rPr lang="en-AU" sz="2200" b="1" dirty="0" smtClean="0">
                <a:latin typeface="Helvetica" pitchFamily="34" charset="0"/>
              </a:rPr>
              <a:t>and cutlery.</a:t>
            </a:r>
            <a:endParaRPr lang="en-US" sz="2200" b="1" dirty="0" smtClean="0">
              <a:latin typeface="Helvetica" pitchFamily="34" charset="0"/>
            </a:endParaRP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97</a:t>
            </a:fld>
            <a:endParaRPr lang="en-US" dirty="0"/>
          </a:p>
        </p:txBody>
      </p:sp>
      <p:pic>
        <p:nvPicPr>
          <p:cNvPr id="5" name="Picture 2" descr="C:\Users\fgvghyujil\AppData\Local\Microsoft\Windows\Temporary Internet Files\Content.IE5\PP601SXW\MC900440428[1].wmf"/>
          <p:cNvPicPr>
            <a:picLocks noChangeAspect="1" noChangeArrowheads="1"/>
          </p:cNvPicPr>
          <p:nvPr/>
        </p:nvPicPr>
        <p:blipFill>
          <a:blip r:embed="rId3" cstate="print"/>
          <a:srcRect/>
          <a:stretch>
            <a:fillRect/>
          </a:stretch>
        </p:blipFill>
        <p:spPr bwMode="auto">
          <a:xfrm>
            <a:off x="6715140" y="3500438"/>
            <a:ext cx="1736725" cy="1828800"/>
          </a:xfrm>
          <a:prstGeom prst="rect">
            <a:avLst/>
          </a:prstGeom>
          <a:noFill/>
        </p:spPr>
      </p:pic>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and prevent hygiene risks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Performance Criteria for this Element are:</a:t>
            </a:r>
          </a:p>
          <a:p>
            <a:pPr marL="360000" indent="-360000">
              <a:spcBef>
                <a:spcPts val="1200"/>
              </a:spcBef>
              <a:spcAft>
                <a:spcPts val="1200"/>
              </a:spcAft>
            </a:pPr>
            <a:r>
              <a:rPr lang="en-AU" sz="2200" b="1" dirty="0" smtClean="0">
                <a:latin typeface="Helvetica" pitchFamily="34" charset="0"/>
              </a:rPr>
              <a:t>Identify potential food, personal, environmental and other risks in the workplace promptly</a:t>
            </a:r>
            <a:endParaRPr lang="en-US" sz="2200" b="1" dirty="0" smtClean="0">
              <a:latin typeface="Helvetica" pitchFamily="34" charset="0"/>
            </a:endParaRPr>
          </a:p>
          <a:p>
            <a:pPr marL="360000" indent="-360000">
              <a:spcBef>
                <a:spcPts val="1200"/>
              </a:spcBef>
              <a:spcAft>
                <a:spcPts val="1200"/>
              </a:spcAft>
            </a:pPr>
            <a:r>
              <a:rPr lang="en-AU" sz="2200" b="1" dirty="0" smtClean="0">
                <a:latin typeface="Helvetica" pitchFamily="34" charset="0"/>
              </a:rPr>
              <a:t>Take action to minimise or remove the risk of food contamination within the  scope of individual responsibility</a:t>
            </a:r>
          </a:p>
          <a:p>
            <a:pPr marL="360000" indent="-360000">
              <a:spcBef>
                <a:spcPts val="1200"/>
              </a:spcBef>
              <a:spcAft>
                <a:spcPts val="1200"/>
              </a:spcAft>
            </a:pPr>
            <a:r>
              <a:rPr lang="en-AU" sz="2200" b="1" dirty="0" smtClean="0">
                <a:latin typeface="Helvetica" pitchFamily="34" charset="0"/>
              </a:rPr>
              <a:t>Handle and dispose of food waste and </a:t>
            </a:r>
            <a:br>
              <a:rPr lang="en-AU" sz="2200" b="1" dirty="0" smtClean="0">
                <a:latin typeface="Helvetica" pitchFamily="34" charset="0"/>
              </a:rPr>
            </a:br>
            <a:r>
              <a:rPr lang="en-AU" sz="2200" b="1" dirty="0" smtClean="0">
                <a:latin typeface="Helvetica" pitchFamily="34" charset="0"/>
              </a:rPr>
              <a:t>rubbish in compliance with enterprise </a:t>
            </a:r>
            <a:br>
              <a:rPr lang="en-AU" sz="2200" b="1" dirty="0" smtClean="0">
                <a:latin typeface="Helvetica" pitchFamily="34" charset="0"/>
              </a:rPr>
            </a:br>
            <a:r>
              <a:rPr lang="en-AU" sz="2200" b="1" dirty="0" smtClean="0">
                <a:latin typeface="Helvetica" pitchFamily="34" charset="0"/>
              </a:rPr>
              <a:t>standards and legislated requirements.</a:t>
            </a:r>
            <a:endParaRPr lang="en-US" sz="2200" b="1" dirty="0" smtClean="0">
              <a:latin typeface="Helvetica" pitchFamily="34" charset="0"/>
            </a:endParaRP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98</a:t>
            </a:fld>
            <a:endParaRPr lang="en-US" dirty="0"/>
          </a:p>
        </p:txBody>
      </p:sp>
      <p:pic>
        <p:nvPicPr>
          <p:cNvPr id="6" name="Picture 5" descr="review.jpg"/>
          <p:cNvPicPr>
            <a:picLocks noChangeAspect="1"/>
          </p:cNvPicPr>
          <p:nvPr/>
        </p:nvPicPr>
        <p:blipFill>
          <a:blip r:embed="rId3" cstate="print"/>
          <a:stretch>
            <a:fillRect/>
          </a:stretch>
        </p:blipFill>
        <p:spPr>
          <a:xfrm>
            <a:off x="6594488" y="4286256"/>
            <a:ext cx="2549512" cy="1677782"/>
          </a:xfrm>
          <a:prstGeom prst="rect">
            <a:avLst/>
          </a:prstGeom>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Identify potential food and other risks in the workplace promptly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Always be alert to potential for hygiene hazards:</a:t>
            </a:r>
          </a:p>
          <a:p>
            <a:pPr marL="360000" indent="-360000">
              <a:spcBef>
                <a:spcPts val="1200"/>
              </a:spcBef>
              <a:spcAft>
                <a:spcPts val="1200"/>
              </a:spcAft>
            </a:pPr>
            <a:r>
              <a:rPr lang="en-US" sz="2200" b="1" dirty="0" smtClean="0">
                <a:latin typeface="Helvetica" pitchFamily="34" charset="0"/>
              </a:rPr>
              <a:t>Hazards may be:</a:t>
            </a:r>
          </a:p>
          <a:p>
            <a:pPr marL="720000" indent="-360000">
              <a:spcBef>
                <a:spcPts val="12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Microbiological</a:t>
            </a:r>
          </a:p>
          <a:p>
            <a:pPr marL="720000" indent="-360000">
              <a:spcBef>
                <a:spcPts val="12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Chemical</a:t>
            </a:r>
          </a:p>
          <a:p>
            <a:pPr marL="720000" indent="-360000">
              <a:spcBef>
                <a:spcPts val="12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Physical</a:t>
            </a:r>
          </a:p>
          <a:p>
            <a:pPr marL="360000" indent="-360000">
              <a:spcBef>
                <a:spcPts val="1200"/>
              </a:spcBef>
              <a:spcAft>
                <a:spcPts val="1200"/>
              </a:spcAft>
            </a:pPr>
            <a:r>
              <a:rPr lang="en-US" sz="2200" b="1" dirty="0" smtClean="0">
                <a:latin typeface="Helvetica" pitchFamily="34" charset="0"/>
              </a:rPr>
              <a:t>Respond appropriately.</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99</a:t>
            </a:fld>
            <a:endParaRPr lang="en-US" dirty="0"/>
          </a:p>
        </p:txBody>
      </p:sp>
      <p:pic>
        <p:nvPicPr>
          <p:cNvPr id="5" name="Picture 4" descr="Cleaning.jpg"/>
          <p:cNvPicPr>
            <a:picLocks noChangeAspect="1"/>
          </p:cNvPicPr>
          <p:nvPr/>
        </p:nvPicPr>
        <p:blipFill>
          <a:blip r:embed="rId3" cstate="print"/>
          <a:stretch>
            <a:fillRect/>
          </a:stretch>
        </p:blipFill>
        <p:spPr>
          <a:xfrm>
            <a:off x="5143504" y="3357562"/>
            <a:ext cx="3214678" cy="1622919"/>
          </a:xfrm>
          <a:prstGeom prst="rect">
            <a:avLst/>
          </a:prstGeom>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Identify potential food and other risks in the workplace promptly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Microbiological contamination caused by bacteria, moulds and viruses.</a:t>
            </a:r>
          </a:p>
          <a:p>
            <a:pPr marL="0" indent="0">
              <a:spcBef>
                <a:spcPts val="1200"/>
              </a:spcBef>
              <a:spcAft>
                <a:spcPts val="1200"/>
              </a:spcAft>
              <a:buNone/>
            </a:pPr>
            <a:r>
              <a:rPr lang="en-US" sz="2200" b="1" dirty="0" smtClean="0">
                <a:latin typeface="Helvetica" pitchFamily="34" charset="0"/>
              </a:rPr>
              <a:t>Bacteria:</a:t>
            </a:r>
          </a:p>
          <a:p>
            <a:pPr marL="360000" indent="-360000">
              <a:spcBef>
                <a:spcPts val="1200"/>
              </a:spcBef>
              <a:spcAft>
                <a:spcPts val="1200"/>
              </a:spcAft>
            </a:pPr>
            <a:r>
              <a:rPr lang="en-US" sz="2200" b="1" dirty="0" smtClean="0">
                <a:latin typeface="Helvetica" pitchFamily="34" charset="0"/>
              </a:rPr>
              <a:t>Very small, single-celled life forms</a:t>
            </a:r>
          </a:p>
          <a:p>
            <a:pPr marL="360000" indent="-360000">
              <a:spcBef>
                <a:spcPts val="1200"/>
              </a:spcBef>
              <a:spcAft>
                <a:spcPts val="1200"/>
              </a:spcAft>
            </a:pPr>
            <a:r>
              <a:rPr lang="en-US" sz="2200" b="1" dirty="0" smtClean="0">
                <a:latin typeface="Helvetica" pitchFamily="34" charset="0"/>
              </a:rPr>
              <a:t>Reproduce rapidly in TDZ – </a:t>
            </a:r>
            <a:br>
              <a:rPr lang="en-US" sz="2200" b="1" dirty="0" smtClean="0">
                <a:latin typeface="Helvetica" pitchFamily="34" charset="0"/>
              </a:rPr>
            </a:br>
            <a:r>
              <a:rPr lang="en-US" sz="2200" b="1" dirty="0" smtClean="0">
                <a:latin typeface="Helvetica" pitchFamily="34" charset="0"/>
              </a:rPr>
              <a:t>see next slide.</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100</a:t>
            </a:fld>
            <a:endParaRPr lang="en-US" dirty="0"/>
          </a:p>
        </p:txBody>
      </p:sp>
      <p:pic>
        <p:nvPicPr>
          <p:cNvPr id="41988" name="Picture 4" descr="C:\Users\fgvghyujil\AppData\Local\Microsoft\Windows\Temporary Internet Files\Content.IE5\TU1ZREEW\MC900438738[1].jpg"/>
          <p:cNvPicPr>
            <a:picLocks noChangeAspect="1" noChangeArrowheads="1"/>
          </p:cNvPicPr>
          <p:nvPr/>
        </p:nvPicPr>
        <p:blipFill>
          <a:blip r:embed="rId3" cstate="print"/>
          <a:srcRect/>
          <a:stretch>
            <a:fillRect/>
          </a:stretch>
        </p:blipFill>
        <p:spPr bwMode="auto">
          <a:xfrm>
            <a:off x="6215074" y="3643314"/>
            <a:ext cx="2166931" cy="1625198"/>
          </a:xfrm>
          <a:prstGeom prst="rect">
            <a:avLst/>
          </a:prstGeom>
          <a:noFill/>
        </p:spPr>
      </p:pic>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Identify potential food and other risks in the workplace promptly</a:t>
            </a:r>
            <a:endParaRPr lang="en-US" sz="3400" b="1" dirty="0">
              <a:solidFill>
                <a:srgbClr val="FF6600"/>
              </a:solidFill>
              <a:latin typeface="Helvetica" pitchFamily="34" charset="0"/>
            </a:endParaRPr>
          </a:p>
        </p:txBody>
      </p:sp>
      <p:graphicFrame>
        <p:nvGraphicFramePr>
          <p:cNvPr id="5" name="Content Placeholder 4"/>
          <p:cNvGraphicFramePr>
            <a:graphicFrameLocks noGrp="1"/>
          </p:cNvGraphicFramePr>
          <p:nvPr>
            <p:ph idx="1"/>
          </p:nvPr>
        </p:nvGraphicFramePr>
        <p:xfrm>
          <a:off x="611188" y="1557338"/>
          <a:ext cx="7467600" cy="4450080"/>
        </p:xfrm>
        <a:graphic>
          <a:graphicData uri="http://schemas.openxmlformats.org/drawingml/2006/table">
            <a:tbl>
              <a:tblPr firstRow="1" bandRow="1">
                <a:tableStyleId>{5C22544A-7EE6-4342-B048-85BDC9FD1C3A}</a:tableStyleId>
              </a:tblPr>
              <a:tblGrid>
                <a:gridCol w="3733800"/>
                <a:gridCol w="3733800"/>
              </a:tblGrid>
              <a:tr h="370840">
                <a:tc>
                  <a:txBody>
                    <a:bodyPr/>
                    <a:lstStyle/>
                    <a:p>
                      <a:pPr marL="648335" algn="ctr">
                        <a:lnSpc>
                          <a:spcPct val="115000"/>
                        </a:lnSpc>
                        <a:spcAft>
                          <a:spcPts val="600"/>
                        </a:spcAft>
                      </a:pPr>
                      <a:r>
                        <a:rPr lang="en-AU" sz="1600" dirty="0">
                          <a:solidFill>
                            <a:srgbClr val="000000"/>
                          </a:solidFill>
                          <a:latin typeface="Arial"/>
                          <a:ea typeface="Times New Roman"/>
                          <a:cs typeface="Times New Roman"/>
                        </a:rPr>
                        <a:t>TIME</a:t>
                      </a:r>
                      <a:endParaRPr lang="en-AU" sz="1600" dirty="0">
                        <a:solidFill>
                          <a:srgbClr val="000000"/>
                        </a:solidFill>
                        <a:latin typeface="Helvetica"/>
                        <a:ea typeface="Times New Roman"/>
                        <a:cs typeface="Times New Roman"/>
                      </a:endParaRPr>
                    </a:p>
                  </a:txBody>
                  <a:tcPr marL="68580" marR="68580" marT="0" marB="0"/>
                </a:tc>
                <a:tc>
                  <a:txBody>
                    <a:bodyPr/>
                    <a:lstStyle/>
                    <a:p>
                      <a:pPr marL="648335" algn="ctr">
                        <a:lnSpc>
                          <a:spcPct val="115000"/>
                        </a:lnSpc>
                        <a:spcAft>
                          <a:spcPts val="600"/>
                        </a:spcAft>
                      </a:pPr>
                      <a:r>
                        <a:rPr lang="en-AU" sz="1600" dirty="0">
                          <a:solidFill>
                            <a:srgbClr val="000000"/>
                          </a:solidFill>
                          <a:latin typeface="Arial"/>
                          <a:ea typeface="Times New Roman"/>
                          <a:cs typeface="Times New Roman"/>
                        </a:rPr>
                        <a:t>BACTERIA NUMBERS</a:t>
                      </a:r>
                      <a:endParaRPr lang="en-AU" sz="1600" dirty="0">
                        <a:solidFill>
                          <a:srgbClr val="000000"/>
                        </a:solidFill>
                        <a:latin typeface="Helvetica"/>
                        <a:ea typeface="Times New Roman"/>
                        <a:cs typeface="Times New Roman"/>
                      </a:endParaRPr>
                    </a:p>
                  </a:txBody>
                  <a:tcPr marL="68580" marR="68580" marT="0" marB="0"/>
                </a:tc>
              </a:tr>
              <a:tr h="370840">
                <a:tc>
                  <a:txBody>
                    <a:bodyPr/>
                    <a:lstStyle/>
                    <a:p>
                      <a:pPr marL="648335" algn="ctr">
                        <a:lnSpc>
                          <a:spcPct val="115000"/>
                        </a:lnSpc>
                        <a:spcAft>
                          <a:spcPts val="600"/>
                        </a:spcAft>
                      </a:pPr>
                      <a:r>
                        <a:rPr lang="en-AU" sz="1400" b="1" dirty="0">
                          <a:solidFill>
                            <a:srgbClr val="000000"/>
                          </a:solidFill>
                          <a:latin typeface="Helvetica"/>
                          <a:ea typeface="Times New Roman"/>
                          <a:cs typeface="Times New Roman"/>
                        </a:rPr>
                        <a:t>9.00</a:t>
                      </a:r>
                    </a:p>
                  </a:txBody>
                  <a:tcPr marL="68580" marR="68580" marT="0" marB="0"/>
                </a:tc>
                <a:tc>
                  <a:txBody>
                    <a:bodyPr/>
                    <a:lstStyle/>
                    <a:p>
                      <a:pPr marL="942340" algn="ctr">
                        <a:lnSpc>
                          <a:spcPct val="115000"/>
                        </a:lnSpc>
                        <a:spcAft>
                          <a:spcPts val="600"/>
                        </a:spcAft>
                      </a:pPr>
                      <a:r>
                        <a:rPr lang="en-AU" sz="1400" b="1" dirty="0">
                          <a:solidFill>
                            <a:srgbClr val="000000"/>
                          </a:solidFill>
                          <a:latin typeface="Helvetica"/>
                          <a:ea typeface="Times New Roman"/>
                          <a:cs typeface="Times New Roman"/>
                        </a:rPr>
                        <a:t>1</a:t>
                      </a:r>
                    </a:p>
                  </a:txBody>
                  <a:tcPr marL="68580" marR="68580" marT="0" marB="0"/>
                </a:tc>
              </a:tr>
              <a:tr h="370840">
                <a:tc>
                  <a:txBody>
                    <a:bodyPr/>
                    <a:lstStyle/>
                    <a:p>
                      <a:pPr marL="648335" algn="ctr">
                        <a:lnSpc>
                          <a:spcPct val="115000"/>
                        </a:lnSpc>
                        <a:spcAft>
                          <a:spcPts val="600"/>
                        </a:spcAft>
                      </a:pPr>
                      <a:r>
                        <a:rPr lang="en-AU" sz="1400" b="1" dirty="0">
                          <a:solidFill>
                            <a:srgbClr val="000000"/>
                          </a:solidFill>
                          <a:latin typeface="Helvetica"/>
                          <a:ea typeface="Times New Roman"/>
                          <a:cs typeface="Times New Roman"/>
                        </a:rPr>
                        <a:t>9.20</a:t>
                      </a:r>
                    </a:p>
                  </a:txBody>
                  <a:tcPr marL="68580" marR="68580" marT="0" marB="0"/>
                </a:tc>
                <a:tc>
                  <a:txBody>
                    <a:bodyPr/>
                    <a:lstStyle/>
                    <a:p>
                      <a:pPr marL="942340" algn="ctr">
                        <a:lnSpc>
                          <a:spcPct val="115000"/>
                        </a:lnSpc>
                        <a:spcAft>
                          <a:spcPts val="600"/>
                        </a:spcAft>
                      </a:pPr>
                      <a:r>
                        <a:rPr lang="en-AU" sz="1400" b="1" dirty="0">
                          <a:solidFill>
                            <a:srgbClr val="000000"/>
                          </a:solidFill>
                          <a:latin typeface="Helvetica"/>
                          <a:ea typeface="Times New Roman"/>
                          <a:cs typeface="Times New Roman"/>
                        </a:rPr>
                        <a:t>2</a:t>
                      </a:r>
                    </a:p>
                  </a:txBody>
                  <a:tcPr marL="68580" marR="68580" marT="0" marB="0"/>
                </a:tc>
              </a:tr>
              <a:tr h="370840">
                <a:tc>
                  <a:txBody>
                    <a:bodyPr/>
                    <a:lstStyle/>
                    <a:p>
                      <a:pPr marL="648335" algn="ctr">
                        <a:lnSpc>
                          <a:spcPct val="115000"/>
                        </a:lnSpc>
                        <a:spcAft>
                          <a:spcPts val="600"/>
                        </a:spcAft>
                      </a:pPr>
                      <a:r>
                        <a:rPr lang="en-AU" sz="1400" b="1" dirty="0">
                          <a:solidFill>
                            <a:srgbClr val="000000"/>
                          </a:solidFill>
                          <a:latin typeface="Helvetica"/>
                          <a:ea typeface="Times New Roman"/>
                          <a:cs typeface="Times New Roman"/>
                        </a:rPr>
                        <a:t>9.40</a:t>
                      </a:r>
                    </a:p>
                  </a:txBody>
                  <a:tcPr marL="68580" marR="68580" marT="0" marB="0"/>
                </a:tc>
                <a:tc>
                  <a:txBody>
                    <a:bodyPr/>
                    <a:lstStyle/>
                    <a:p>
                      <a:pPr marL="942340" algn="ctr">
                        <a:lnSpc>
                          <a:spcPct val="115000"/>
                        </a:lnSpc>
                        <a:spcAft>
                          <a:spcPts val="600"/>
                        </a:spcAft>
                      </a:pPr>
                      <a:r>
                        <a:rPr lang="en-AU" sz="1400" b="1" dirty="0">
                          <a:solidFill>
                            <a:srgbClr val="000000"/>
                          </a:solidFill>
                          <a:latin typeface="Helvetica"/>
                          <a:ea typeface="Times New Roman"/>
                          <a:cs typeface="Times New Roman"/>
                        </a:rPr>
                        <a:t>4</a:t>
                      </a:r>
                    </a:p>
                  </a:txBody>
                  <a:tcPr marL="68580" marR="68580" marT="0" marB="0"/>
                </a:tc>
              </a:tr>
              <a:tr h="370840">
                <a:tc>
                  <a:txBody>
                    <a:bodyPr/>
                    <a:lstStyle/>
                    <a:p>
                      <a:pPr marL="648335" algn="ctr">
                        <a:lnSpc>
                          <a:spcPct val="115000"/>
                        </a:lnSpc>
                        <a:spcAft>
                          <a:spcPts val="600"/>
                        </a:spcAft>
                      </a:pPr>
                      <a:r>
                        <a:rPr lang="en-AU" sz="1400" b="1" dirty="0">
                          <a:solidFill>
                            <a:srgbClr val="000000"/>
                          </a:solidFill>
                          <a:latin typeface="Helvetica"/>
                          <a:ea typeface="Times New Roman"/>
                          <a:cs typeface="Times New Roman"/>
                        </a:rPr>
                        <a:t>10.00</a:t>
                      </a:r>
                    </a:p>
                  </a:txBody>
                  <a:tcPr marL="68580" marR="68580" marT="0" marB="0"/>
                </a:tc>
                <a:tc>
                  <a:txBody>
                    <a:bodyPr/>
                    <a:lstStyle/>
                    <a:p>
                      <a:pPr marL="942340" algn="ctr">
                        <a:lnSpc>
                          <a:spcPct val="115000"/>
                        </a:lnSpc>
                        <a:spcAft>
                          <a:spcPts val="600"/>
                        </a:spcAft>
                      </a:pPr>
                      <a:r>
                        <a:rPr lang="en-AU" sz="1400" b="1" dirty="0">
                          <a:solidFill>
                            <a:srgbClr val="000000"/>
                          </a:solidFill>
                          <a:latin typeface="Helvetica"/>
                          <a:ea typeface="Times New Roman"/>
                          <a:cs typeface="Times New Roman"/>
                        </a:rPr>
                        <a:t>8</a:t>
                      </a:r>
                    </a:p>
                  </a:txBody>
                  <a:tcPr marL="68580" marR="68580" marT="0" marB="0"/>
                </a:tc>
              </a:tr>
              <a:tr h="370840">
                <a:tc>
                  <a:txBody>
                    <a:bodyPr/>
                    <a:lstStyle/>
                    <a:p>
                      <a:pPr marL="648335" algn="ctr">
                        <a:lnSpc>
                          <a:spcPct val="115000"/>
                        </a:lnSpc>
                        <a:spcAft>
                          <a:spcPts val="600"/>
                        </a:spcAft>
                      </a:pPr>
                      <a:r>
                        <a:rPr lang="en-AU" sz="1400" b="1" dirty="0">
                          <a:solidFill>
                            <a:srgbClr val="000000"/>
                          </a:solidFill>
                          <a:latin typeface="Helvetica"/>
                          <a:ea typeface="Times New Roman"/>
                          <a:cs typeface="Times New Roman"/>
                        </a:rPr>
                        <a:t>10.20</a:t>
                      </a:r>
                    </a:p>
                  </a:txBody>
                  <a:tcPr marL="68580" marR="68580" marT="0" marB="0"/>
                </a:tc>
                <a:tc>
                  <a:txBody>
                    <a:bodyPr/>
                    <a:lstStyle/>
                    <a:p>
                      <a:pPr marL="942340" algn="ctr">
                        <a:lnSpc>
                          <a:spcPct val="115000"/>
                        </a:lnSpc>
                        <a:spcAft>
                          <a:spcPts val="600"/>
                        </a:spcAft>
                      </a:pPr>
                      <a:r>
                        <a:rPr lang="en-AU" sz="1400" b="1" dirty="0">
                          <a:solidFill>
                            <a:srgbClr val="000000"/>
                          </a:solidFill>
                          <a:latin typeface="Helvetica"/>
                          <a:ea typeface="Times New Roman"/>
                          <a:cs typeface="Times New Roman"/>
                        </a:rPr>
                        <a:t>16</a:t>
                      </a:r>
                    </a:p>
                  </a:txBody>
                  <a:tcPr marL="68580" marR="68580" marT="0" marB="0"/>
                </a:tc>
              </a:tr>
              <a:tr h="370840">
                <a:tc>
                  <a:txBody>
                    <a:bodyPr/>
                    <a:lstStyle/>
                    <a:p>
                      <a:pPr marL="648335" algn="ctr">
                        <a:lnSpc>
                          <a:spcPct val="115000"/>
                        </a:lnSpc>
                        <a:spcAft>
                          <a:spcPts val="600"/>
                        </a:spcAft>
                      </a:pPr>
                      <a:r>
                        <a:rPr lang="en-AU" sz="1400" b="1" dirty="0">
                          <a:solidFill>
                            <a:srgbClr val="000000"/>
                          </a:solidFill>
                          <a:latin typeface="Helvetica"/>
                          <a:ea typeface="Times New Roman"/>
                          <a:cs typeface="Times New Roman"/>
                        </a:rPr>
                        <a:t>10.40</a:t>
                      </a:r>
                    </a:p>
                  </a:txBody>
                  <a:tcPr marL="68580" marR="68580" marT="0" marB="0"/>
                </a:tc>
                <a:tc>
                  <a:txBody>
                    <a:bodyPr/>
                    <a:lstStyle/>
                    <a:p>
                      <a:pPr marL="942340" algn="ctr">
                        <a:lnSpc>
                          <a:spcPct val="115000"/>
                        </a:lnSpc>
                        <a:spcAft>
                          <a:spcPts val="600"/>
                        </a:spcAft>
                      </a:pPr>
                      <a:r>
                        <a:rPr lang="en-AU" sz="1400" b="1" dirty="0">
                          <a:solidFill>
                            <a:srgbClr val="000000"/>
                          </a:solidFill>
                          <a:latin typeface="Helvetica"/>
                          <a:ea typeface="Times New Roman"/>
                          <a:cs typeface="Times New Roman"/>
                        </a:rPr>
                        <a:t>32</a:t>
                      </a:r>
                    </a:p>
                  </a:txBody>
                  <a:tcPr marL="68580" marR="68580" marT="0" marB="0"/>
                </a:tc>
              </a:tr>
              <a:tr h="370840">
                <a:tc>
                  <a:txBody>
                    <a:bodyPr/>
                    <a:lstStyle/>
                    <a:p>
                      <a:pPr marL="648335" algn="ctr">
                        <a:lnSpc>
                          <a:spcPct val="115000"/>
                        </a:lnSpc>
                        <a:spcAft>
                          <a:spcPts val="600"/>
                        </a:spcAft>
                      </a:pPr>
                      <a:r>
                        <a:rPr lang="en-AU" sz="1400" b="1" dirty="0">
                          <a:solidFill>
                            <a:srgbClr val="000000"/>
                          </a:solidFill>
                          <a:latin typeface="Helvetica"/>
                          <a:ea typeface="Times New Roman"/>
                          <a:cs typeface="Times New Roman"/>
                        </a:rPr>
                        <a:t>11.00</a:t>
                      </a:r>
                    </a:p>
                  </a:txBody>
                  <a:tcPr marL="68580" marR="68580" marT="0" marB="0"/>
                </a:tc>
                <a:tc>
                  <a:txBody>
                    <a:bodyPr/>
                    <a:lstStyle/>
                    <a:p>
                      <a:pPr marL="942340" algn="ctr">
                        <a:lnSpc>
                          <a:spcPct val="115000"/>
                        </a:lnSpc>
                        <a:spcAft>
                          <a:spcPts val="600"/>
                        </a:spcAft>
                      </a:pPr>
                      <a:r>
                        <a:rPr lang="en-AU" sz="1400" b="1" dirty="0">
                          <a:solidFill>
                            <a:srgbClr val="000000"/>
                          </a:solidFill>
                          <a:latin typeface="Helvetica"/>
                          <a:ea typeface="Times New Roman"/>
                          <a:cs typeface="Times New Roman"/>
                        </a:rPr>
                        <a:t>64</a:t>
                      </a:r>
                    </a:p>
                  </a:txBody>
                  <a:tcPr marL="68580" marR="68580" marT="0" marB="0"/>
                </a:tc>
              </a:tr>
              <a:tr h="370840">
                <a:tc>
                  <a:txBody>
                    <a:bodyPr/>
                    <a:lstStyle/>
                    <a:p>
                      <a:pPr marL="648335" algn="ctr">
                        <a:lnSpc>
                          <a:spcPct val="115000"/>
                        </a:lnSpc>
                        <a:spcAft>
                          <a:spcPts val="600"/>
                        </a:spcAft>
                      </a:pPr>
                      <a:r>
                        <a:rPr lang="en-AU" sz="1400" b="1" dirty="0">
                          <a:solidFill>
                            <a:srgbClr val="000000"/>
                          </a:solidFill>
                          <a:latin typeface="Helvetica"/>
                          <a:ea typeface="Times New Roman"/>
                          <a:cs typeface="Times New Roman"/>
                        </a:rPr>
                        <a:t>12.00</a:t>
                      </a:r>
                    </a:p>
                  </a:txBody>
                  <a:tcPr marL="68580" marR="68580" marT="0" marB="0"/>
                </a:tc>
                <a:tc>
                  <a:txBody>
                    <a:bodyPr/>
                    <a:lstStyle/>
                    <a:p>
                      <a:pPr marL="942340" algn="ctr">
                        <a:lnSpc>
                          <a:spcPct val="115000"/>
                        </a:lnSpc>
                        <a:spcAft>
                          <a:spcPts val="600"/>
                        </a:spcAft>
                      </a:pPr>
                      <a:r>
                        <a:rPr lang="en-AU" sz="1400" b="1" dirty="0">
                          <a:solidFill>
                            <a:srgbClr val="000000"/>
                          </a:solidFill>
                          <a:latin typeface="Helvetica"/>
                          <a:ea typeface="Times New Roman"/>
                          <a:cs typeface="Times New Roman"/>
                        </a:rPr>
                        <a:t>512</a:t>
                      </a:r>
                    </a:p>
                  </a:txBody>
                  <a:tcPr marL="68580" marR="68580" marT="0" marB="0"/>
                </a:tc>
              </a:tr>
              <a:tr h="370840">
                <a:tc>
                  <a:txBody>
                    <a:bodyPr/>
                    <a:lstStyle/>
                    <a:p>
                      <a:pPr marL="648335" algn="ctr">
                        <a:lnSpc>
                          <a:spcPct val="115000"/>
                        </a:lnSpc>
                        <a:spcAft>
                          <a:spcPts val="600"/>
                        </a:spcAft>
                      </a:pPr>
                      <a:r>
                        <a:rPr lang="en-AU" sz="1400" b="1" dirty="0">
                          <a:solidFill>
                            <a:srgbClr val="000000"/>
                          </a:solidFill>
                          <a:latin typeface="Helvetica"/>
                          <a:ea typeface="Times New Roman"/>
                          <a:cs typeface="Times New Roman"/>
                        </a:rPr>
                        <a:t>1.00</a:t>
                      </a:r>
                    </a:p>
                  </a:txBody>
                  <a:tcPr marL="68580" marR="68580" marT="0" marB="0"/>
                </a:tc>
                <a:tc>
                  <a:txBody>
                    <a:bodyPr/>
                    <a:lstStyle/>
                    <a:p>
                      <a:pPr marL="942340" algn="ctr">
                        <a:lnSpc>
                          <a:spcPct val="115000"/>
                        </a:lnSpc>
                        <a:spcAft>
                          <a:spcPts val="600"/>
                        </a:spcAft>
                      </a:pPr>
                      <a:r>
                        <a:rPr lang="en-AU" sz="1400" b="1" dirty="0">
                          <a:solidFill>
                            <a:srgbClr val="000000"/>
                          </a:solidFill>
                          <a:latin typeface="Helvetica"/>
                          <a:ea typeface="Times New Roman"/>
                          <a:cs typeface="Times New Roman"/>
                        </a:rPr>
                        <a:t>4,096</a:t>
                      </a:r>
                    </a:p>
                  </a:txBody>
                  <a:tcPr marL="68580" marR="68580" marT="0" marB="0"/>
                </a:tc>
              </a:tr>
              <a:tr h="370840">
                <a:tc>
                  <a:txBody>
                    <a:bodyPr/>
                    <a:lstStyle/>
                    <a:p>
                      <a:pPr marL="648335" algn="ctr">
                        <a:lnSpc>
                          <a:spcPct val="115000"/>
                        </a:lnSpc>
                        <a:spcAft>
                          <a:spcPts val="600"/>
                        </a:spcAft>
                      </a:pPr>
                      <a:r>
                        <a:rPr lang="en-AU" sz="1400" b="1" dirty="0">
                          <a:solidFill>
                            <a:srgbClr val="000000"/>
                          </a:solidFill>
                          <a:latin typeface="Helvetica"/>
                          <a:ea typeface="Times New Roman"/>
                          <a:cs typeface="Times New Roman"/>
                        </a:rPr>
                        <a:t>2.00</a:t>
                      </a:r>
                    </a:p>
                  </a:txBody>
                  <a:tcPr marL="68580" marR="68580" marT="0" marB="0"/>
                </a:tc>
                <a:tc>
                  <a:txBody>
                    <a:bodyPr/>
                    <a:lstStyle/>
                    <a:p>
                      <a:pPr marL="942340" algn="ctr">
                        <a:lnSpc>
                          <a:spcPct val="115000"/>
                        </a:lnSpc>
                        <a:spcAft>
                          <a:spcPts val="600"/>
                        </a:spcAft>
                      </a:pPr>
                      <a:r>
                        <a:rPr lang="en-AU" sz="1400" b="1" dirty="0">
                          <a:solidFill>
                            <a:srgbClr val="000000"/>
                          </a:solidFill>
                          <a:latin typeface="Helvetica"/>
                          <a:ea typeface="Times New Roman"/>
                          <a:cs typeface="Times New Roman"/>
                        </a:rPr>
                        <a:t>32,768</a:t>
                      </a:r>
                    </a:p>
                  </a:txBody>
                  <a:tcPr marL="68580" marR="68580" marT="0" marB="0"/>
                </a:tc>
              </a:tr>
              <a:tr h="370840">
                <a:tc>
                  <a:txBody>
                    <a:bodyPr/>
                    <a:lstStyle/>
                    <a:p>
                      <a:pPr marL="648335" algn="ctr">
                        <a:lnSpc>
                          <a:spcPct val="115000"/>
                        </a:lnSpc>
                        <a:spcAft>
                          <a:spcPts val="600"/>
                        </a:spcAft>
                      </a:pPr>
                      <a:r>
                        <a:rPr lang="en-AU" sz="1400" b="1" dirty="0">
                          <a:solidFill>
                            <a:srgbClr val="000000"/>
                          </a:solidFill>
                          <a:latin typeface="Helvetica"/>
                          <a:ea typeface="Times New Roman"/>
                          <a:cs typeface="Times New Roman"/>
                        </a:rPr>
                        <a:t>5.00</a:t>
                      </a:r>
                    </a:p>
                  </a:txBody>
                  <a:tcPr marL="68580" marR="68580" marT="0" marB="0"/>
                </a:tc>
                <a:tc>
                  <a:txBody>
                    <a:bodyPr/>
                    <a:lstStyle/>
                    <a:p>
                      <a:pPr marL="942340" algn="ctr">
                        <a:lnSpc>
                          <a:spcPct val="115000"/>
                        </a:lnSpc>
                        <a:spcAft>
                          <a:spcPts val="600"/>
                        </a:spcAft>
                      </a:pPr>
                      <a:r>
                        <a:rPr lang="en-AU" sz="1400" b="1" dirty="0">
                          <a:solidFill>
                            <a:srgbClr val="000000"/>
                          </a:solidFill>
                          <a:latin typeface="Helvetica"/>
                          <a:ea typeface="Times New Roman"/>
                          <a:cs typeface="Times New Roman"/>
                        </a:rPr>
                        <a:t>1,677,216</a:t>
                      </a:r>
                    </a:p>
                  </a:txBody>
                  <a:tcPr marL="68580" marR="68580" marT="0" marB="0"/>
                </a:tc>
              </a:tr>
            </a:tbl>
          </a:graphicData>
        </a:graphic>
      </p:graphicFrame>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101</a:t>
            </a:fld>
            <a:endParaRPr lang="en-US" dirty="0"/>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Identify potential food and other risks in the workplace promptly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01166"/>
          </a:xfrm>
        </p:spPr>
        <p:txBody>
          <a:bodyPr>
            <a:normAutofit/>
          </a:bodyPr>
          <a:lstStyle/>
          <a:p>
            <a:pPr marL="0" indent="0">
              <a:spcBef>
                <a:spcPts val="1200"/>
              </a:spcBef>
              <a:spcAft>
                <a:spcPts val="1200"/>
              </a:spcAft>
              <a:buNone/>
            </a:pPr>
            <a:r>
              <a:rPr lang="en-US" sz="2200" b="1" dirty="0" smtClean="0">
                <a:latin typeface="Helvetica" pitchFamily="34" charset="0"/>
              </a:rPr>
              <a:t>Food poisoning bacteria:</a:t>
            </a:r>
          </a:p>
          <a:p>
            <a:pPr marL="360000" indent="-360000">
              <a:spcBef>
                <a:spcPts val="1200"/>
              </a:spcBef>
              <a:spcAft>
                <a:spcPts val="1200"/>
              </a:spcAft>
            </a:pPr>
            <a:r>
              <a:rPr lang="en-US" sz="2200" b="1" dirty="0" smtClean="0">
                <a:latin typeface="Helvetica" pitchFamily="34" charset="0"/>
              </a:rPr>
              <a:t>Clostridium perfringens</a:t>
            </a:r>
          </a:p>
          <a:p>
            <a:pPr marL="360000" indent="-360000">
              <a:spcBef>
                <a:spcPts val="1200"/>
              </a:spcBef>
              <a:spcAft>
                <a:spcPts val="1200"/>
              </a:spcAft>
            </a:pPr>
            <a:r>
              <a:rPr lang="en-US" sz="2200" b="1" dirty="0" smtClean="0">
                <a:latin typeface="Helvetica" pitchFamily="34" charset="0"/>
              </a:rPr>
              <a:t>Salmonella</a:t>
            </a:r>
          </a:p>
          <a:p>
            <a:pPr marL="360000" indent="-360000">
              <a:spcBef>
                <a:spcPts val="1200"/>
              </a:spcBef>
              <a:spcAft>
                <a:spcPts val="1200"/>
              </a:spcAft>
            </a:pPr>
            <a:r>
              <a:rPr lang="en-US" sz="2200" b="1" dirty="0" smtClean="0">
                <a:latin typeface="Helvetica" pitchFamily="34" charset="0"/>
              </a:rPr>
              <a:t>Stertococci</a:t>
            </a:r>
          </a:p>
          <a:p>
            <a:pPr marL="360000" indent="-360000">
              <a:spcBef>
                <a:spcPts val="1200"/>
              </a:spcBef>
              <a:spcAft>
                <a:spcPts val="1200"/>
              </a:spcAft>
            </a:pPr>
            <a:r>
              <a:rPr lang="en-US" sz="2200" b="1" dirty="0" smtClean="0">
                <a:latin typeface="Helvetica" pitchFamily="34" charset="0"/>
              </a:rPr>
              <a:t>Staphylococcus aureus</a:t>
            </a:r>
          </a:p>
          <a:p>
            <a:pPr marL="360000" indent="-360000">
              <a:spcBef>
                <a:spcPts val="1200"/>
              </a:spcBef>
              <a:spcAft>
                <a:spcPts val="1200"/>
              </a:spcAft>
            </a:pPr>
            <a:r>
              <a:rPr lang="en-US" sz="2200" b="1" dirty="0" smtClean="0">
                <a:latin typeface="Helvetica" pitchFamily="34" charset="0"/>
              </a:rPr>
              <a:t>Clostridium botulinum – ‘botulism’.</a:t>
            </a:r>
          </a:p>
          <a:p>
            <a:pPr marL="360000" indent="-360000" algn="ctr">
              <a:spcBef>
                <a:spcPts val="1200"/>
              </a:spcBef>
              <a:spcAft>
                <a:spcPts val="1200"/>
              </a:spcAft>
              <a:buNone/>
            </a:pPr>
            <a:r>
              <a:rPr lang="en-US" sz="2200" b="1" i="1" dirty="0" smtClean="0">
                <a:latin typeface="Helvetica" pitchFamily="34" charset="0"/>
              </a:rPr>
              <a:t>Infected food will not necessarily look, smell </a:t>
            </a:r>
            <a:br>
              <a:rPr lang="en-US" sz="2200" b="1" i="1" dirty="0" smtClean="0">
                <a:latin typeface="Helvetica" pitchFamily="34" charset="0"/>
              </a:rPr>
            </a:br>
            <a:r>
              <a:rPr lang="en-US" sz="2200" b="1" i="1" dirty="0" smtClean="0">
                <a:latin typeface="Helvetica" pitchFamily="34" charset="0"/>
              </a:rPr>
              <a:t>or taste bad or different</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102</a:t>
            </a:fld>
            <a:endParaRPr lang="en-US" dirty="0"/>
          </a:p>
        </p:txBody>
      </p:sp>
      <p:pic>
        <p:nvPicPr>
          <p:cNvPr id="43010" name="Picture 2" descr="C:\Users\fgvghyujil\AppData\Local\Microsoft\Windows\Temporary Internet Files\Content.IE5\PP601SXW\MP900407492[2].jpg"/>
          <p:cNvPicPr>
            <a:picLocks noChangeAspect="1" noChangeArrowheads="1"/>
          </p:cNvPicPr>
          <p:nvPr/>
        </p:nvPicPr>
        <p:blipFill>
          <a:blip r:embed="rId3" cstate="print"/>
          <a:srcRect/>
          <a:stretch>
            <a:fillRect/>
          </a:stretch>
        </p:blipFill>
        <p:spPr bwMode="auto">
          <a:xfrm>
            <a:off x="6072198" y="2357430"/>
            <a:ext cx="2312781" cy="2285992"/>
          </a:xfrm>
          <a:prstGeom prst="rect">
            <a:avLst/>
          </a:prstGeom>
          <a:noFill/>
        </p:spPr>
      </p:pic>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Identify potential food and other risks in the workplace promptly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818092" cy="5015480"/>
          </a:xfrm>
        </p:spPr>
        <p:txBody>
          <a:bodyPr>
            <a:normAutofit fontScale="92500" lnSpcReduction="20000"/>
          </a:bodyPr>
          <a:lstStyle/>
          <a:p>
            <a:pPr marL="0" indent="0">
              <a:spcBef>
                <a:spcPts val="1200"/>
              </a:spcBef>
              <a:spcAft>
                <a:spcPts val="1200"/>
              </a:spcAft>
              <a:buNone/>
            </a:pPr>
            <a:r>
              <a:rPr lang="en-US" sz="2400" b="1" dirty="0" smtClean="0">
                <a:latin typeface="Helvetica" pitchFamily="34" charset="0"/>
              </a:rPr>
              <a:t>Spores:</a:t>
            </a:r>
          </a:p>
          <a:p>
            <a:pPr marL="360000" indent="-360000">
              <a:spcBef>
                <a:spcPts val="1200"/>
              </a:spcBef>
              <a:spcAft>
                <a:spcPts val="1200"/>
              </a:spcAft>
            </a:pPr>
            <a:r>
              <a:rPr lang="en-US" sz="2400" b="1" dirty="0" smtClean="0">
                <a:latin typeface="Helvetica" pitchFamily="34" charset="0"/>
              </a:rPr>
              <a:t>Some bacteria form into spores</a:t>
            </a:r>
          </a:p>
          <a:p>
            <a:pPr marL="360000" indent="-360000">
              <a:spcBef>
                <a:spcPts val="1200"/>
              </a:spcBef>
              <a:spcAft>
                <a:spcPts val="1200"/>
              </a:spcAft>
            </a:pPr>
            <a:r>
              <a:rPr lang="en-US" sz="2400" b="1" dirty="0" smtClean="0">
                <a:latin typeface="Helvetica" pitchFamily="34" charset="0"/>
              </a:rPr>
              <a:t>Spores are more resistant to killing</a:t>
            </a:r>
          </a:p>
          <a:p>
            <a:pPr marL="360000" indent="-360000">
              <a:spcBef>
                <a:spcPts val="1200"/>
              </a:spcBef>
              <a:spcAft>
                <a:spcPts val="1200"/>
              </a:spcAft>
            </a:pPr>
            <a:r>
              <a:rPr lang="en-US" sz="2400" b="1" dirty="0" smtClean="0">
                <a:latin typeface="Helvetica" pitchFamily="34" charset="0"/>
              </a:rPr>
              <a:t>Spores revert to bacteria when the ‘right’ conditions return</a:t>
            </a:r>
          </a:p>
          <a:p>
            <a:pPr marL="360000" indent="-360000">
              <a:spcBef>
                <a:spcPts val="1200"/>
              </a:spcBef>
              <a:spcAft>
                <a:spcPts val="1200"/>
              </a:spcAft>
            </a:pPr>
            <a:r>
              <a:rPr lang="en-US" sz="2400" b="1" dirty="0" smtClean="0">
                <a:latin typeface="Helvetica" pitchFamily="34" charset="0"/>
              </a:rPr>
              <a:t>Controls include:</a:t>
            </a:r>
          </a:p>
          <a:p>
            <a:pPr marL="720000" indent="-360000">
              <a:spcBef>
                <a:spcPts val="1200"/>
              </a:spcBef>
              <a:spcAft>
                <a:spcPts val="1200"/>
              </a:spcAft>
              <a:buClr>
                <a:schemeClr val="accent1">
                  <a:lumMod val="75000"/>
                </a:schemeClr>
              </a:buClr>
              <a:buSzPct val="100000"/>
              <a:buFont typeface="Arial" pitchFamily="34" charset="0"/>
              <a:buChar char="•"/>
            </a:pPr>
            <a:r>
              <a:rPr lang="en-US" sz="2400" b="1" dirty="0" smtClean="0">
                <a:latin typeface="Helvetica" pitchFamily="34" charset="0"/>
              </a:rPr>
              <a:t>Keeping food out of TDZ</a:t>
            </a:r>
          </a:p>
          <a:p>
            <a:pPr marL="720000" indent="-360000">
              <a:spcBef>
                <a:spcPts val="1200"/>
              </a:spcBef>
              <a:spcAft>
                <a:spcPts val="1200"/>
              </a:spcAft>
              <a:buClr>
                <a:schemeClr val="accent1">
                  <a:lumMod val="75000"/>
                </a:schemeClr>
              </a:buClr>
              <a:buSzPct val="100000"/>
              <a:buFont typeface="Arial" pitchFamily="34" charset="0"/>
              <a:buChar char="•"/>
            </a:pPr>
            <a:r>
              <a:rPr lang="en-US" sz="2400" b="1" dirty="0" smtClean="0">
                <a:latin typeface="Helvetica" pitchFamily="34" charset="0"/>
              </a:rPr>
              <a:t>Keeping dry food, dry</a:t>
            </a:r>
          </a:p>
          <a:p>
            <a:pPr marL="720000" indent="-360000">
              <a:spcBef>
                <a:spcPts val="1200"/>
              </a:spcBef>
              <a:spcAft>
                <a:spcPts val="1200"/>
              </a:spcAft>
              <a:buClr>
                <a:schemeClr val="accent1">
                  <a:lumMod val="75000"/>
                </a:schemeClr>
              </a:buClr>
              <a:buSzPct val="100000"/>
              <a:buFont typeface="Arial" pitchFamily="34" charset="0"/>
              <a:buChar char="•"/>
            </a:pPr>
            <a:r>
              <a:rPr lang="en-US" sz="2400" b="1" dirty="0" smtClean="0">
                <a:latin typeface="Helvetica" pitchFamily="34" charset="0"/>
              </a:rPr>
              <a:t>Cooling hot food rapidly.</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103</a:t>
            </a:fld>
            <a:endParaRPr lang="en-US" dirty="0"/>
          </a:p>
        </p:txBody>
      </p:sp>
      <p:pic>
        <p:nvPicPr>
          <p:cNvPr id="5" name="Picture 4" descr="Mixing salad.jpg"/>
          <p:cNvPicPr>
            <a:picLocks noChangeAspect="1"/>
          </p:cNvPicPr>
          <p:nvPr/>
        </p:nvPicPr>
        <p:blipFill>
          <a:blip r:embed="rId3" cstate="print"/>
          <a:stretch>
            <a:fillRect/>
          </a:stretch>
        </p:blipFill>
        <p:spPr>
          <a:xfrm>
            <a:off x="6215074" y="3714752"/>
            <a:ext cx="2031884" cy="1409619"/>
          </a:xfrm>
          <a:prstGeom prst="rect">
            <a:avLst/>
          </a:prstGeom>
        </p:spPr>
      </p:pic>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Identify potential food and other risks in the workplace promptly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Moulds:</a:t>
            </a:r>
          </a:p>
          <a:p>
            <a:pPr marL="360000" indent="-360000">
              <a:spcBef>
                <a:spcPts val="1200"/>
              </a:spcBef>
              <a:spcAft>
                <a:spcPts val="1200"/>
              </a:spcAft>
            </a:pPr>
            <a:r>
              <a:rPr lang="en-US" sz="2200" b="1" dirty="0" smtClean="0">
                <a:latin typeface="Helvetica" pitchFamily="34" charset="0"/>
              </a:rPr>
              <a:t>Can be dangerous or beneficial</a:t>
            </a:r>
          </a:p>
          <a:p>
            <a:pPr marL="360000" indent="-360000">
              <a:spcBef>
                <a:spcPts val="1200"/>
              </a:spcBef>
              <a:spcAft>
                <a:spcPts val="1200"/>
              </a:spcAft>
            </a:pPr>
            <a:r>
              <a:rPr lang="en-US" sz="2200" b="1" dirty="0" smtClean="0">
                <a:latin typeface="Helvetica" pitchFamily="34" charset="0"/>
              </a:rPr>
              <a:t>Dangerous moulds cause unsightly growths on food</a:t>
            </a:r>
          </a:p>
          <a:p>
            <a:pPr marL="360000" indent="-360000">
              <a:spcBef>
                <a:spcPts val="1200"/>
              </a:spcBef>
              <a:spcAft>
                <a:spcPts val="1200"/>
              </a:spcAft>
            </a:pPr>
            <a:r>
              <a:rPr lang="en-US" sz="2200" b="1" dirty="0" smtClean="0">
                <a:latin typeface="Helvetica" pitchFamily="34" charset="0"/>
              </a:rPr>
              <a:t>‘Aspergillus’ mould is very dangerous</a:t>
            </a:r>
          </a:p>
          <a:p>
            <a:pPr marL="360000" indent="-360000">
              <a:spcBef>
                <a:spcPts val="1200"/>
              </a:spcBef>
              <a:spcAft>
                <a:spcPts val="1200"/>
              </a:spcAft>
            </a:pPr>
            <a:r>
              <a:rPr lang="en-US" sz="2200" b="1" dirty="0" smtClean="0">
                <a:latin typeface="Helvetica" pitchFamily="34" charset="0"/>
              </a:rPr>
              <a:t>Throw out all affected food</a:t>
            </a:r>
          </a:p>
          <a:p>
            <a:pPr marL="360000" indent="-360000">
              <a:spcBef>
                <a:spcPts val="1200"/>
              </a:spcBef>
              <a:spcAft>
                <a:spcPts val="1200"/>
              </a:spcAft>
            </a:pPr>
            <a:r>
              <a:rPr lang="en-US" sz="2200" b="1" dirty="0" smtClean="0">
                <a:latin typeface="Helvetica" pitchFamily="34" charset="0"/>
              </a:rPr>
              <a:t>Fully clean the area.</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104</a:t>
            </a:fld>
            <a:endParaRPr lang="en-US" dirty="0"/>
          </a:p>
        </p:txBody>
      </p:sp>
      <p:pic>
        <p:nvPicPr>
          <p:cNvPr id="5" name="Picture 4" descr="Mouldy fruit.jpg"/>
          <p:cNvPicPr>
            <a:picLocks noChangeAspect="1"/>
          </p:cNvPicPr>
          <p:nvPr/>
        </p:nvPicPr>
        <p:blipFill>
          <a:blip r:embed="rId3" cstate="print"/>
          <a:stretch>
            <a:fillRect/>
          </a:stretch>
        </p:blipFill>
        <p:spPr>
          <a:xfrm>
            <a:off x="6286480" y="4143380"/>
            <a:ext cx="2857520" cy="2143140"/>
          </a:xfrm>
          <a:prstGeom prst="rect">
            <a:avLst/>
          </a:prstGeom>
        </p:spPr>
      </p:pic>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Identify potential food and other risks in the workplace promptly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Viruses:</a:t>
            </a:r>
          </a:p>
          <a:p>
            <a:pPr marL="360000" indent="-360000">
              <a:spcBef>
                <a:spcPts val="1200"/>
              </a:spcBef>
              <a:spcAft>
                <a:spcPts val="1200"/>
              </a:spcAft>
            </a:pPr>
            <a:r>
              <a:rPr lang="en-US" sz="2200" b="1" dirty="0" smtClean="0">
                <a:latin typeface="Helvetica" pitchFamily="34" charset="0"/>
              </a:rPr>
              <a:t>Invade people</a:t>
            </a:r>
          </a:p>
          <a:p>
            <a:pPr marL="360000" indent="-360000">
              <a:spcBef>
                <a:spcPts val="1200"/>
              </a:spcBef>
              <a:spcAft>
                <a:spcPts val="1200"/>
              </a:spcAft>
            </a:pPr>
            <a:r>
              <a:rPr lang="en-US" sz="2200" b="1" dirty="0" smtClean="0">
                <a:latin typeface="Helvetica" pitchFamily="34" charset="0"/>
              </a:rPr>
              <a:t>Can occur in food</a:t>
            </a:r>
          </a:p>
          <a:p>
            <a:pPr marL="360000" indent="-360000">
              <a:spcBef>
                <a:spcPts val="1200"/>
              </a:spcBef>
              <a:spcAft>
                <a:spcPts val="1200"/>
              </a:spcAft>
            </a:pPr>
            <a:r>
              <a:rPr lang="en-US" sz="2200" b="1" dirty="0" smtClean="0">
                <a:latin typeface="Helvetica" pitchFamily="34" charset="0"/>
              </a:rPr>
              <a:t>Are passed on by poor personal </a:t>
            </a:r>
            <a:br>
              <a:rPr lang="en-US" sz="2200" b="1" dirty="0" smtClean="0">
                <a:latin typeface="Helvetica" pitchFamily="34" charset="0"/>
              </a:rPr>
            </a:br>
            <a:r>
              <a:rPr lang="en-US" sz="2200" b="1" dirty="0" smtClean="0">
                <a:latin typeface="Helvetica" pitchFamily="34" charset="0"/>
              </a:rPr>
              <a:t>hygiene and food handling habits </a:t>
            </a:r>
            <a:br>
              <a:rPr lang="en-US" sz="2200" b="1" dirty="0" smtClean="0">
                <a:latin typeface="Helvetica" pitchFamily="34" charset="0"/>
              </a:rPr>
            </a:br>
            <a:r>
              <a:rPr lang="en-US" sz="2200" b="1" dirty="0" smtClean="0">
                <a:latin typeface="Helvetica" pitchFamily="34" charset="0"/>
              </a:rPr>
              <a:t>or practices</a:t>
            </a:r>
          </a:p>
          <a:p>
            <a:pPr marL="360000" indent="-360000">
              <a:spcBef>
                <a:spcPts val="1200"/>
              </a:spcBef>
              <a:spcAft>
                <a:spcPts val="1200"/>
              </a:spcAft>
            </a:pPr>
            <a:r>
              <a:rPr lang="en-US" sz="2200" b="1" dirty="0" smtClean="0">
                <a:latin typeface="Helvetica" pitchFamily="34" charset="0"/>
              </a:rPr>
              <a:t>Cause gastro and Hepatitis A.</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105</a:t>
            </a:fld>
            <a:endParaRPr lang="en-US" dirty="0"/>
          </a:p>
        </p:txBody>
      </p:sp>
      <p:pic>
        <p:nvPicPr>
          <p:cNvPr id="45058" name="Picture 2" descr="C:\Users\fgvghyujil\AppData\Local\Microsoft\Windows\Temporary Internet Files\Content.IE5\TU1ZREEW\MP900442593[1].jpg"/>
          <p:cNvPicPr>
            <a:picLocks noChangeAspect="1" noChangeArrowheads="1"/>
          </p:cNvPicPr>
          <p:nvPr/>
        </p:nvPicPr>
        <p:blipFill>
          <a:blip r:embed="rId3" cstate="print"/>
          <a:srcRect/>
          <a:stretch>
            <a:fillRect/>
          </a:stretch>
        </p:blipFill>
        <p:spPr bwMode="auto">
          <a:xfrm>
            <a:off x="5894551" y="3571876"/>
            <a:ext cx="3249449" cy="2162472"/>
          </a:xfrm>
          <a:prstGeom prst="rect">
            <a:avLst/>
          </a:prstGeom>
          <a:noFill/>
        </p:spPr>
      </p:pic>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Identify potential food and other risks in the workplace promptly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92888" cy="4525963"/>
          </a:xfrm>
        </p:spPr>
        <p:txBody>
          <a:bodyPr>
            <a:normAutofit/>
          </a:bodyPr>
          <a:lstStyle/>
          <a:p>
            <a:pPr marL="0" indent="0">
              <a:spcBef>
                <a:spcPts val="1200"/>
              </a:spcBef>
              <a:spcAft>
                <a:spcPts val="1200"/>
              </a:spcAft>
              <a:buNone/>
            </a:pPr>
            <a:r>
              <a:rPr lang="en-US" sz="2200" b="1" dirty="0" smtClean="0">
                <a:latin typeface="Helvetica" pitchFamily="34" charset="0"/>
              </a:rPr>
              <a:t>High risk microbiological contamination food situations include:</a:t>
            </a:r>
          </a:p>
          <a:p>
            <a:pPr marL="360000" indent="-360000">
              <a:spcBef>
                <a:spcPts val="1200"/>
              </a:spcBef>
              <a:spcAft>
                <a:spcPts val="1200"/>
              </a:spcAft>
            </a:pPr>
            <a:r>
              <a:rPr lang="en-US" sz="2200" b="1" dirty="0" smtClean="0">
                <a:latin typeface="Helvetica" pitchFamily="34" charset="0"/>
              </a:rPr>
              <a:t>Working with high risk food</a:t>
            </a:r>
          </a:p>
          <a:p>
            <a:pPr marL="360000" indent="-360000">
              <a:spcBef>
                <a:spcPts val="1200"/>
              </a:spcBef>
              <a:spcAft>
                <a:spcPts val="1200"/>
              </a:spcAft>
            </a:pPr>
            <a:r>
              <a:rPr lang="en-US" sz="2200" b="1" dirty="0" smtClean="0">
                <a:latin typeface="Helvetica" pitchFamily="34" charset="0"/>
              </a:rPr>
              <a:t>Working with food in the TDZ</a:t>
            </a:r>
          </a:p>
          <a:p>
            <a:pPr marL="360000" indent="-360000">
              <a:spcBef>
                <a:spcPts val="1200"/>
              </a:spcBef>
              <a:spcAft>
                <a:spcPts val="1200"/>
              </a:spcAft>
            </a:pPr>
            <a:r>
              <a:rPr lang="en-US" sz="2200" b="1" dirty="0" smtClean="0">
                <a:latin typeface="Helvetica" pitchFamily="34" charset="0"/>
              </a:rPr>
              <a:t>Buffets</a:t>
            </a:r>
          </a:p>
          <a:p>
            <a:pPr marL="360000" indent="-360000">
              <a:spcBef>
                <a:spcPts val="1200"/>
              </a:spcBef>
              <a:spcAft>
                <a:spcPts val="1200"/>
              </a:spcAft>
            </a:pPr>
            <a:r>
              <a:rPr lang="en-US" sz="2200" b="1" dirty="0" smtClean="0">
                <a:latin typeface="Helvetica" pitchFamily="34" charset="0"/>
              </a:rPr>
              <a:t>Where bare hands touch food</a:t>
            </a:r>
          </a:p>
          <a:p>
            <a:pPr marL="360000" indent="-360000">
              <a:spcBef>
                <a:spcPts val="1200"/>
              </a:spcBef>
              <a:spcAft>
                <a:spcPts val="1200"/>
              </a:spcAft>
            </a:pPr>
            <a:r>
              <a:rPr lang="en-US" sz="2200" b="1" dirty="0" smtClean="0">
                <a:latin typeface="Helvetica" pitchFamily="34" charset="0"/>
              </a:rPr>
              <a:t>Where food is thawed.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106</a:t>
            </a:fld>
            <a:endParaRPr lang="en-US" dirty="0"/>
          </a:p>
        </p:txBody>
      </p:sp>
      <p:pic>
        <p:nvPicPr>
          <p:cNvPr id="7" name="Picture 6" descr="Buffets.jpg"/>
          <p:cNvPicPr>
            <a:picLocks noChangeAspect="1"/>
          </p:cNvPicPr>
          <p:nvPr/>
        </p:nvPicPr>
        <p:blipFill>
          <a:blip r:embed="rId3" cstate="print"/>
          <a:stretch>
            <a:fillRect/>
          </a:stretch>
        </p:blipFill>
        <p:spPr>
          <a:xfrm>
            <a:off x="5643570" y="3286124"/>
            <a:ext cx="2878844" cy="1928826"/>
          </a:xfrm>
          <a:prstGeom prst="rect">
            <a:avLst/>
          </a:prstGeom>
        </p:spPr>
      </p:pic>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Identify potential food and other risks in the workplace promptly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Chemical contamination can occur:</a:t>
            </a:r>
          </a:p>
          <a:p>
            <a:pPr marL="360000" indent="-360000">
              <a:spcBef>
                <a:spcPts val="1200"/>
              </a:spcBef>
              <a:spcAft>
                <a:spcPts val="1200"/>
              </a:spcAft>
            </a:pPr>
            <a:r>
              <a:rPr lang="en-US" sz="2200" b="1" dirty="0" smtClean="0">
                <a:latin typeface="Helvetica" pitchFamily="34" charset="0"/>
              </a:rPr>
              <a:t>During production of food</a:t>
            </a:r>
          </a:p>
          <a:p>
            <a:pPr marL="360000" indent="-360000">
              <a:spcBef>
                <a:spcPts val="1200"/>
              </a:spcBef>
              <a:spcAft>
                <a:spcPts val="1200"/>
              </a:spcAft>
            </a:pPr>
            <a:r>
              <a:rPr lang="en-US" sz="2200" b="1" dirty="0" smtClean="0">
                <a:latin typeface="Helvetica" pitchFamily="34" charset="0"/>
              </a:rPr>
              <a:t>On our food premises.</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107</a:t>
            </a:fld>
            <a:endParaRPr lang="en-US" dirty="0"/>
          </a:p>
        </p:txBody>
      </p:sp>
      <p:pic>
        <p:nvPicPr>
          <p:cNvPr id="5" name="Picture 4" descr="16braising_shoulder_mg_2014.jpg"/>
          <p:cNvPicPr>
            <a:picLocks noChangeAspect="1"/>
          </p:cNvPicPr>
          <p:nvPr/>
        </p:nvPicPr>
        <p:blipFill>
          <a:blip r:embed="rId3" cstate="print"/>
          <a:stretch>
            <a:fillRect/>
          </a:stretch>
        </p:blipFill>
        <p:spPr>
          <a:xfrm>
            <a:off x="5429256" y="3214686"/>
            <a:ext cx="3071834" cy="2054289"/>
          </a:xfrm>
          <a:prstGeom prst="rect">
            <a:avLst/>
          </a:prstGeom>
        </p:spPr>
      </p:pic>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Identify potential food and other risks in the workplace promptly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To prevent chemical contamination:</a:t>
            </a:r>
          </a:p>
          <a:p>
            <a:pPr marL="360000" indent="-360000">
              <a:spcBef>
                <a:spcPts val="1200"/>
              </a:spcBef>
              <a:spcAft>
                <a:spcPts val="1200"/>
              </a:spcAft>
            </a:pPr>
            <a:r>
              <a:rPr lang="en-US" sz="2200" b="1" dirty="0" smtClean="0">
                <a:latin typeface="Helvetica" pitchFamily="34" charset="0"/>
              </a:rPr>
              <a:t>Use specific containers for chemicals</a:t>
            </a:r>
          </a:p>
          <a:p>
            <a:pPr marL="360000" indent="-360000">
              <a:spcBef>
                <a:spcPts val="1200"/>
              </a:spcBef>
              <a:spcAft>
                <a:spcPts val="1200"/>
              </a:spcAft>
            </a:pPr>
            <a:r>
              <a:rPr lang="en-US" sz="2200" b="1" dirty="0" smtClean="0">
                <a:latin typeface="Helvetica" pitchFamily="34" charset="0"/>
              </a:rPr>
              <a:t>Store chemicals separate from food</a:t>
            </a:r>
          </a:p>
          <a:p>
            <a:pPr marL="360000" indent="-360000">
              <a:spcBef>
                <a:spcPts val="1200"/>
              </a:spcBef>
              <a:spcAft>
                <a:spcPts val="1200"/>
              </a:spcAft>
            </a:pPr>
            <a:r>
              <a:rPr lang="en-US" sz="2200" b="1" dirty="0" smtClean="0">
                <a:latin typeface="Helvetica" pitchFamily="34" charset="0"/>
              </a:rPr>
              <a:t>Wash hands after using chemicals</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108</a:t>
            </a:fld>
            <a:endParaRPr lang="en-US" dirty="0"/>
          </a:p>
        </p:txBody>
      </p:sp>
      <p:pic>
        <p:nvPicPr>
          <p:cNvPr id="5" name="Picture 4" descr="Cleaning agent.jpg"/>
          <p:cNvPicPr>
            <a:picLocks noChangeAspect="1"/>
          </p:cNvPicPr>
          <p:nvPr/>
        </p:nvPicPr>
        <p:blipFill>
          <a:blip r:embed="rId3" cstate="print"/>
          <a:stretch>
            <a:fillRect/>
          </a:stretch>
        </p:blipFill>
        <p:spPr>
          <a:xfrm>
            <a:off x="6196618" y="2928934"/>
            <a:ext cx="2947382" cy="3095623"/>
          </a:xfrm>
          <a:prstGeom prst="rect">
            <a:avLst/>
          </a:prstGeom>
        </p:spPr>
      </p:pic>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Identify potential food and other risks in the workplace promptly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525963"/>
          </a:xfrm>
        </p:spPr>
        <p:txBody>
          <a:bodyPr>
            <a:normAutofit/>
          </a:bodyPr>
          <a:lstStyle/>
          <a:p>
            <a:pPr marL="360000" indent="-360000">
              <a:spcBef>
                <a:spcPts val="1200"/>
              </a:spcBef>
              <a:spcAft>
                <a:spcPts val="1200"/>
              </a:spcAft>
            </a:pPr>
            <a:r>
              <a:rPr lang="en-US" sz="2200" b="1" dirty="0" smtClean="0">
                <a:latin typeface="Helvetica" pitchFamily="34" charset="0"/>
              </a:rPr>
              <a:t>Only buy food from reputable suppliers</a:t>
            </a:r>
          </a:p>
          <a:p>
            <a:pPr marL="360000" indent="-360000">
              <a:spcBef>
                <a:spcPts val="1200"/>
              </a:spcBef>
              <a:spcAft>
                <a:spcPts val="1200"/>
              </a:spcAft>
            </a:pPr>
            <a:r>
              <a:rPr lang="en-US" sz="2200" b="1" dirty="0" smtClean="0">
                <a:latin typeface="Helvetica" pitchFamily="34" charset="0"/>
              </a:rPr>
              <a:t>Be alert to reports about outbreaks of chemical poisoning</a:t>
            </a:r>
          </a:p>
          <a:p>
            <a:pPr marL="360000" indent="-360000">
              <a:spcBef>
                <a:spcPts val="1200"/>
              </a:spcBef>
              <a:spcAft>
                <a:spcPts val="1200"/>
              </a:spcAft>
            </a:pPr>
            <a:r>
              <a:rPr lang="en-US" sz="2200" b="1" dirty="0" smtClean="0">
                <a:latin typeface="Helvetica" pitchFamily="34" charset="0"/>
              </a:rPr>
              <a:t>Wash fruit and vegetables before use</a:t>
            </a:r>
          </a:p>
          <a:p>
            <a:pPr marL="360000" indent="-360000">
              <a:spcBef>
                <a:spcPts val="1200"/>
              </a:spcBef>
              <a:spcAft>
                <a:spcPts val="1200"/>
              </a:spcAft>
            </a:pPr>
            <a:r>
              <a:rPr lang="en-US" sz="2200" b="1" dirty="0" smtClean="0">
                <a:latin typeface="Helvetica" pitchFamily="34" charset="0"/>
              </a:rPr>
              <a:t>Cover food.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109</a:t>
            </a:fld>
            <a:endParaRPr lang="en-US" dirty="0"/>
          </a:p>
        </p:txBody>
      </p:sp>
      <p:pic>
        <p:nvPicPr>
          <p:cNvPr id="5" name="Picture 4" descr="Vegie.jpg"/>
          <p:cNvPicPr>
            <a:picLocks noChangeAspect="1"/>
          </p:cNvPicPr>
          <p:nvPr/>
        </p:nvPicPr>
        <p:blipFill>
          <a:blip r:embed="rId3" cstate="print"/>
          <a:stretch>
            <a:fillRect/>
          </a:stretch>
        </p:blipFill>
        <p:spPr>
          <a:xfrm>
            <a:off x="6222984" y="2928934"/>
            <a:ext cx="2921016" cy="2541284"/>
          </a:xfrm>
          <a:prstGeom prst="rect">
            <a:avLst/>
          </a:prstGeom>
        </p:spPr>
      </p:pic>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Identify potential food and other risks in the workplace promptly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Some foods are naturally poisonous and must not be used. These include:</a:t>
            </a:r>
          </a:p>
          <a:p>
            <a:pPr marL="360000" indent="-360000">
              <a:spcBef>
                <a:spcPts val="1200"/>
              </a:spcBef>
              <a:spcAft>
                <a:spcPts val="1200"/>
              </a:spcAft>
            </a:pPr>
            <a:r>
              <a:rPr lang="en-US" sz="2200" b="1" dirty="0" smtClean="0">
                <a:latin typeface="Helvetica" pitchFamily="34" charset="0"/>
              </a:rPr>
              <a:t>Some varieties of fungi</a:t>
            </a:r>
          </a:p>
          <a:p>
            <a:pPr marL="360000" indent="-360000">
              <a:spcBef>
                <a:spcPts val="1200"/>
              </a:spcBef>
              <a:spcAft>
                <a:spcPts val="1200"/>
              </a:spcAft>
            </a:pPr>
            <a:r>
              <a:rPr lang="en-US" sz="2200" b="1" dirty="0" smtClean="0">
                <a:latin typeface="Helvetica" pitchFamily="34" charset="0"/>
              </a:rPr>
              <a:t>Rhubarb leaves</a:t>
            </a:r>
          </a:p>
          <a:p>
            <a:pPr marL="360000" indent="-360000">
              <a:spcBef>
                <a:spcPts val="1200"/>
              </a:spcBef>
              <a:spcAft>
                <a:spcPts val="1200"/>
              </a:spcAft>
            </a:pPr>
            <a:r>
              <a:rPr lang="en-US" sz="2200" b="1" dirty="0" smtClean="0">
                <a:latin typeface="Helvetica" pitchFamily="34" charset="0"/>
              </a:rPr>
              <a:t>Green &amp; sprouting potatoes.</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110</a:t>
            </a:fld>
            <a:endParaRPr lang="en-US" dirty="0"/>
          </a:p>
        </p:txBody>
      </p:sp>
      <p:pic>
        <p:nvPicPr>
          <p:cNvPr id="6" name="Picture 5" descr="sprouting potatoes2.jpg"/>
          <p:cNvPicPr>
            <a:picLocks noChangeAspect="1"/>
          </p:cNvPicPr>
          <p:nvPr/>
        </p:nvPicPr>
        <p:blipFill>
          <a:blip r:embed="rId3" cstate="print"/>
          <a:stretch>
            <a:fillRect/>
          </a:stretch>
        </p:blipFill>
        <p:spPr>
          <a:xfrm>
            <a:off x="6383405" y="3786190"/>
            <a:ext cx="2542130" cy="1906598"/>
          </a:xfrm>
          <a:prstGeom prst="rect">
            <a:avLst/>
          </a:prstGeom>
        </p:spPr>
      </p:pic>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Identify potential food and other risks in the workplace promptly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42910" y="157161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Physical contaminants:</a:t>
            </a:r>
          </a:p>
          <a:p>
            <a:pPr marL="360000" indent="-360000">
              <a:spcBef>
                <a:spcPts val="1200"/>
              </a:spcBef>
              <a:spcAft>
                <a:spcPts val="1200"/>
              </a:spcAft>
            </a:pPr>
            <a:r>
              <a:rPr lang="en-US" sz="2200" b="1" dirty="0" smtClean="0">
                <a:latin typeface="Helvetica" pitchFamily="34" charset="0"/>
              </a:rPr>
              <a:t>May be present in food when delivered</a:t>
            </a:r>
          </a:p>
          <a:p>
            <a:pPr marL="360000" indent="-360000">
              <a:spcBef>
                <a:spcPts val="1200"/>
              </a:spcBef>
              <a:spcAft>
                <a:spcPts val="1200"/>
              </a:spcAft>
            </a:pPr>
            <a:r>
              <a:rPr lang="en-US" sz="2200" b="1" dirty="0" smtClean="0">
                <a:latin typeface="Helvetica" pitchFamily="34" charset="0"/>
              </a:rPr>
              <a:t>May get into food while on the premises</a:t>
            </a:r>
          </a:p>
          <a:p>
            <a:pPr marL="360000" indent="-360000">
              <a:spcBef>
                <a:spcPts val="1200"/>
              </a:spcBef>
              <a:spcAft>
                <a:spcPts val="1200"/>
              </a:spcAft>
            </a:pPr>
            <a:r>
              <a:rPr lang="en-US" sz="2200" b="1" dirty="0" smtClean="0">
                <a:latin typeface="Helvetica" pitchFamily="34" charset="0"/>
              </a:rPr>
              <a:t>Examples:</a:t>
            </a:r>
          </a:p>
          <a:p>
            <a:pPr marL="720000" indent="-360000">
              <a:spcBef>
                <a:spcPts val="12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Hair, metal filings, flies, </a:t>
            </a:r>
            <a:br>
              <a:rPr lang="en-US" sz="2200" b="1" dirty="0" smtClean="0">
                <a:latin typeface="Helvetica" pitchFamily="34" charset="0"/>
              </a:rPr>
            </a:br>
            <a:r>
              <a:rPr lang="en-US" sz="2200" b="1" dirty="0" smtClean="0">
                <a:latin typeface="Helvetica" pitchFamily="34" charset="0"/>
              </a:rPr>
              <a:t>bandages, glass</a:t>
            </a:r>
          </a:p>
          <a:p>
            <a:pPr marL="360000" indent="-360000">
              <a:spcBef>
                <a:spcPts val="1200"/>
              </a:spcBef>
              <a:spcAft>
                <a:spcPts val="1200"/>
              </a:spcAft>
            </a:pPr>
            <a:r>
              <a:rPr lang="en-US" sz="2200" b="1" dirty="0" smtClean="0">
                <a:latin typeface="Helvetica" pitchFamily="34" charset="0"/>
              </a:rPr>
              <a:t>List of possible physical </a:t>
            </a:r>
            <a:br>
              <a:rPr lang="en-US" sz="2200" b="1" dirty="0" smtClean="0">
                <a:latin typeface="Helvetica" pitchFamily="34" charset="0"/>
              </a:rPr>
            </a:br>
            <a:r>
              <a:rPr lang="en-US" sz="2200" b="1" dirty="0" smtClean="0">
                <a:latin typeface="Helvetica" pitchFamily="34" charset="0"/>
              </a:rPr>
              <a:t>contaminants is endless.</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111</a:t>
            </a:fld>
            <a:endParaRPr lang="en-US" dirty="0"/>
          </a:p>
        </p:txBody>
      </p:sp>
      <p:pic>
        <p:nvPicPr>
          <p:cNvPr id="5" name="Picture 4" descr="dsc_0151.jpg"/>
          <p:cNvPicPr>
            <a:picLocks noChangeAspect="1"/>
          </p:cNvPicPr>
          <p:nvPr/>
        </p:nvPicPr>
        <p:blipFill>
          <a:blip r:embed="rId3" cstate="print"/>
          <a:stretch>
            <a:fillRect/>
          </a:stretch>
        </p:blipFill>
        <p:spPr>
          <a:xfrm>
            <a:off x="6353730" y="3714752"/>
            <a:ext cx="2790270" cy="2092703"/>
          </a:xfrm>
          <a:prstGeom prst="rect">
            <a:avLst/>
          </a:prstGeom>
        </p:spPr>
      </p:pic>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Identify potential food and other risks in the workplace promptly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Other hazards:</a:t>
            </a:r>
          </a:p>
          <a:p>
            <a:pPr marL="360000" indent="-360000">
              <a:spcBef>
                <a:spcPts val="1200"/>
              </a:spcBef>
              <a:spcAft>
                <a:spcPts val="1200"/>
              </a:spcAft>
            </a:pPr>
            <a:r>
              <a:rPr lang="en-US" sz="2200" b="1" dirty="0" smtClean="0">
                <a:latin typeface="Helvetica" pitchFamily="34" charset="0"/>
              </a:rPr>
              <a:t>Contaminated food</a:t>
            </a:r>
          </a:p>
          <a:p>
            <a:pPr marL="360000" indent="-360000">
              <a:spcBef>
                <a:spcPts val="1200"/>
              </a:spcBef>
              <a:spcAft>
                <a:spcPts val="1200"/>
              </a:spcAft>
            </a:pPr>
            <a:r>
              <a:rPr lang="en-US" sz="2200" b="1" dirty="0" smtClean="0">
                <a:latin typeface="Helvetica" pitchFamily="34" charset="0"/>
              </a:rPr>
              <a:t>Vermin</a:t>
            </a:r>
          </a:p>
          <a:p>
            <a:pPr marL="360000" indent="-360000">
              <a:spcBef>
                <a:spcPts val="1200"/>
              </a:spcBef>
              <a:spcAft>
                <a:spcPts val="1200"/>
              </a:spcAft>
            </a:pPr>
            <a:r>
              <a:rPr lang="en-US" sz="2200" b="1" dirty="0" smtClean="0">
                <a:latin typeface="Helvetica" pitchFamily="34" charset="0"/>
              </a:rPr>
              <a:t>Airborne contamination</a:t>
            </a:r>
          </a:p>
          <a:p>
            <a:pPr marL="360000" indent="-360000">
              <a:spcBef>
                <a:spcPts val="1200"/>
              </a:spcBef>
              <a:spcAft>
                <a:spcPts val="1200"/>
              </a:spcAft>
            </a:pPr>
            <a:r>
              <a:rPr lang="en-US" sz="2200" b="1" dirty="0" smtClean="0">
                <a:latin typeface="Helvetica" pitchFamily="34" charset="0"/>
              </a:rPr>
              <a:t>Contaminated items</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112</a:t>
            </a:fld>
            <a:endParaRPr lang="en-US" dirty="0"/>
          </a:p>
        </p:txBody>
      </p:sp>
      <p:pic>
        <p:nvPicPr>
          <p:cNvPr id="5" name="Picture 4" descr="food.jpg"/>
          <p:cNvPicPr>
            <a:picLocks noChangeAspect="1"/>
          </p:cNvPicPr>
          <p:nvPr/>
        </p:nvPicPr>
        <p:blipFill>
          <a:blip r:embed="rId3" cstate="print"/>
          <a:stretch>
            <a:fillRect/>
          </a:stretch>
        </p:blipFill>
        <p:spPr>
          <a:xfrm>
            <a:off x="5715008" y="2000240"/>
            <a:ext cx="2476500" cy="3048000"/>
          </a:xfrm>
          <a:prstGeom prst="rect">
            <a:avLst/>
          </a:prstGeom>
        </p:spPr>
      </p:pic>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Identify potential food and other risks in the workplace promptly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b="1" dirty="0" smtClean="0">
                <a:latin typeface="Helvetica" pitchFamily="34" charset="0"/>
              </a:rPr>
              <a:t>Dirty equipment and utensils</a:t>
            </a:r>
          </a:p>
          <a:p>
            <a:pPr marL="360000" indent="-360000">
              <a:spcBef>
                <a:spcPts val="1200"/>
              </a:spcBef>
              <a:spcAft>
                <a:spcPts val="1200"/>
              </a:spcAft>
            </a:pPr>
            <a:r>
              <a:rPr lang="en-US" sz="2200" b="1" dirty="0" smtClean="0">
                <a:latin typeface="Helvetica" pitchFamily="34" charset="0"/>
              </a:rPr>
              <a:t>Garbage</a:t>
            </a:r>
          </a:p>
          <a:p>
            <a:pPr marL="360000" indent="-360000">
              <a:spcBef>
                <a:spcPts val="1200"/>
              </a:spcBef>
              <a:spcAft>
                <a:spcPts val="1200"/>
              </a:spcAft>
            </a:pPr>
            <a:r>
              <a:rPr lang="en-US" sz="2200" b="1" dirty="0" smtClean="0">
                <a:latin typeface="Helvetica" pitchFamily="34" charset="0"/>
              </a:rPr>
              <a:t>Out-of-date food handling practices</a:t>
            </a:r>
          </a:p>
          <a:p>
            <a:pPr marL="360000" indent="-360000">
              <a:spcBef>
                <a:spcPts val="1200"/>
              </a:spcBef>
              <a:spcAft>
                <a:spcPts val="1200"/>
              </a:spcAft>
            </a:pPr>
            <a:r>
              <a:rPr lang="en-US" sz="2200" b="1" dirty="0" smtClean="0">
                <a:latin typeface="Helvetica" pitchFamily="34" charset="0"/>
              </a:rPr>
              <a:t>Poor or ineffective training</a:t>
            </a:r>
          </a:p>
          <a:p>
            <a:pPr marL="360000" indent="-360000">
              <a:spcBef>
                <a:spcPts val="1200"/>
              </a:spcBef>
              <a:spcAft>
                <a:spcPts val="1200"/>
              </a:spcAft>
            </a:pPr>
            <a:r>
              <a:rPr lang="en-US" sz="2200" b="1" dirty="0" smtClean="0">
                <a:latin typeface="Helvetica" pitchFamily="34" charset="0"/>
              </a:rPr>
              <a:t>Equipment not working as intended.</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113</a:t>
            </a:fld>
            <a:endParaRPr lang="en-US" dirty="0"/>
          </a:p>
        </p:txBody>
      </p:sp>
      <p:pic>
        <p:nvPicPr>
          <p:cNvPr id="47107" name="Picture 3" descr="C:\Users\fgvghyujil\AppData\Local\Microsoft\Windows\Temporary Internet Files\Content.IE5\PP601SXW\MC900153550[1].wmf"/>
          <p:cNvPicPr>
            <a:picLocks noChangeAspect="1" noChangeArrowheads="1"/>
          </p:cNvPicPr>
          <p:nvPr/>
        </p:nvPicPr>
        <p:blipFill>
          <a:blip r:embed="rId3" cstate="print"/>
          <a:srcRect/>
          <a:stretch>
            <a:fillRect/>
          </a:stretch>
        </p:blipFill>
        <p:spPr bwMode="auto">
          <a:xfrm>
            <a:off x="6286512" y="2857496"/>
            <a:ext cx="1928826" cy="2508953"/>
          </a:xfrm>
          <a:prstGeom prst="rect">
            <a:avLst/>
          </a:prstGeom>
          <a:noFill/>
        </p:spPr>
      </p:pic>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Identify potential food and other risks in the workplace promptly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Ways to identify food safety hazards include:</a:t>
            </a:r>
          </a:p>
          <a:p>
            <a:pPr marL="360000" indent="-360000">
              <a:spcBef>
                <a:spcPts val="1200"/>
              </a:spcBef>
              <a:spcAft>
                <a:spcPts val="1200"/>
              </a:spcAft>
            </a:pPr>
            <a:r>
              <a:rPr lang="en-US" sz="2200" b="1" dirty="0" smtClean="0">
                <a:latin typeface="Helvetica" pitchFamily="34" charset="0"/>
              </a:rPr>
              <a:t>Observing workplace practices</a:t>
            </a:r>
          </a:p>
          <a:p>
            <a:pPr marL="360000" indent="-360000">
              <a:spcBef>
                <a:spcPts val="1200"/>
              </a:spcBef>
              <a:spcAft>
                <a:spcPts val="1200"/>
              </a:spcAft>
            </a:pPr>
            <a:r>
              <a:rPr lang="en-US" sz="2200" b="1" dirty="0" smtClean="0">
                <a:latin typeface="Helvetica" pitchFamily="34" charset="0"/>
              </a:rPr>
              <a:t>Using personal experience</a:t>
            </a:r>
          </a:p>
          <a:p>
            <a:pPr marL="360000" indent="-360000">
              <a:spcBef>
                <a:spcPts val="1200"/>
              </a:spcBef>
              <a:spcAft>
                <a:spcPts val="1200"/>
              </a:spcAft>
            </a:pPr>
            <a:r>
              <a:rPr lang="en-US" sz="2200" b="1" dirty="0" smtClean="0">
                <a:latin typeface="Helvetica" pitchFamily="34" charset="0"/>
              </a:rPr>
              <a:t>Analysing food records</a:t>
            </a:r>
          </a:p>
          <a:p>
            <a:pPr marL="360000" indent="-360000">
              <a:spcBef>
                <a:spcPts val="1200"/>
              </a:spcBef>
              <a:spcAft>
                <a:spcPts val="1200"/>
              </a:spcAft>
            </a:pPr>
            <a:r>
              <a:rPr lang="en-US" sz="2200" b="1" dirty="0" smtClean="0">
                <a:latin typeface="Helvetica" pitchFamily="34" charset="0"/>
              </a:rPr>
              <a:t>Conducting workplace inspections.</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114</a:t>
            </a:fld>
            <a:endParaRPr lang="en-US" dirty="0"/>
          </a:p>
        </p:txBody>
      </p:sp>
      <p:pic>
        <p:nvPicPr>
          <p:cNvPr id="10" name="Picture 9" descr="KitchenHygienCCCarmen_Seaby.jpg"/>
          <p:cNvPicPr>
            <a:picLocks noChangeAspect="1"/>
          </p:cNvPicPr>
          <p:nvPr/>
        </p:nvPicPr>
        <p:blipFill>
          <a:blip r:embed="rId3" cstate="print"/>
          <a:stretch>
            <a:fillRect/>
          </a:stretch>
        </p:blipFill>
        <p:spPr>
          <a:xfrm>
            <a:off x="6286512" y="3857628"/>
            <a:ext cx="2571736" cy="1864509"/>
          </a:xfrm>
          <a:prstGeom prst="rect">
            <a:avLst/>
          </a:prstGeom>
        </p:spPr>
      </p:pic>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Identify potential food and other risks in the workplace promptly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When unsafe or unsatisfactory food safety situation has been identified:</a:t>
            </a:r>
          </a:p>
          <a:p>
            <a:pPr marL="360000" indent="-360000">
              <a:spcBef>
                <a:spcPts val="1200"/>
              </a:spcBef>
              <a:spcAft>
                <a:spcPts val="1200"/>
              </a:spcAft>
            </a:pPr>
            <a:r>
              <a:rPr lang="en-US" sz="2200" b="1" dirty="0" smtClean="0">
                <a:latin typeface="Helvetica" pitchFamily="34" charset="0"/>
              </a:rPr>
              <a:t>Take action to address cause</a:t>
            </a:r>
          </a:p>
          <a:p>
            <a:pPr marL="360000" indent="-360000">
              <a:spcBef>
                <a:spcPts val="1200"/>
              </a:spcBef>
              <a:spcAft>
                <a:spcPts val="1200"/>
              </a:spcAft>
            </a:pPr>
            <a:r>
              <a:rPr lang="en-US" sz="2200" b="1" dirty="0" smtClean="0">
                <a:latin typeface="Helvetica" pitchFamily="34" charset="0"/>
              </a:rPr>
              <a:t>Discard affected food</a:t>
            </a:r>
          </a:p>
          <a:p>
            <a:pPr marL="360000" indent="-360000">
              <a:spcBef>
                <a:spcPts val="1200"/>
              </a:spcBef>
              <a:spcAft>
                <a:spcPts val="1200"/>
              </a:spcAft>
            </a:pPr>
            <a:r>
              <a:rPr lang="en-US" sz="2200" b="1" dirty="0" smtClean="0">
                <a:latin typeface="Helvetica" pitchFamily="34" charset="0"/>
              </a:rPr>
              <a:t>Revise SOPs</a:t>
            </a:r>
          </a:p>
          <a:p>
            <a:pPr marL="360000" indent="-360000">
              <a:spcBef>
                <a:spcPts val="1200"/>
              </a:spcBef>
              <a:spcAft>
                <a:spcPts val="1200"/>
              </a:spcAft>
            </a:pPr>
            <a:r>
              <a:rPr lang="en-US" sz="2200" b="1" dirty="0" smtClean="0">
                <a:latin typeface="Helvetica" pitchFamily="34" charset="0"/>
              </a:rPr>
              <a:t>Clean and sanitise as required</a:t>
            </a:r>
          </a:p>
          <a:p>
            <a:pPr marL="360000" indent="-360000">
              <a:spcBef>
                <a:spcPts val="1200"/>
              </a:spcBef>
              <a:spcAft>
                <a:spcPts val="1200"/>
              </a:spcAft>
            </a:pPr>
            <a:r>
              <a:rPr lang="en-US" sz="2200" b="1" dirty="0" smtClean="0">
                <a:latin typeface="Helvetica" pitchFamily="34" charset="0"/>
              </a:rPr>
              <a:t>Revise training.</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115</a:t>
            </a:fld>
            <a:endParaRPr lang="en-US" dirty="0"/>
          </a:p>
        </p:txBody>
      </p:sp>
      <p:pic>
        <p:nvPicPr>
          <p:cNvPr id="5" name="Picture 2" descr="C:\Users\fgvghyujil\AppData\Local\Microsoft\Windows\Temporary Internet Files\Content.IE5\SIE7KNHZ\MC900019681[1].wmf"/>
          <p:cNvPicPr>
            <a:picLocks noChangeAspect="1" noChangeArrowheads="1"/>
          </p:cNvPicPr>
          <p:nvPr/>
        </p:nvPicPr>
        <p:blipFill>
          <a:blip r:embed="rId3" cstate="print"/>
          <a:srcRect/>
          <a:stretch>
            <a:fillRect/>
          </a:stretch>
        </p:blipFill>
        <p:spPr bwMode="auto">
          <a:xfrm>
            <a:off x="5830432" y="2204864"/>
            <a:ext cx="3313568" cy="3468986"/>
          </a:xfrm>
          <a:prstGeom prst="rect">
            <a:avLst/>
          </a:prstGeom>
          <a:noFill/>
        </p:spPr>
      </p:pic>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Identify potential food and other risks in the workplace promptly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Effective vermin control requires implementation of a three-part program:</a:t>
            </a:r>
          </a:p>
          <a:p>
            <a:pPr marL="360000" indent="-360000">
              <a:spcBef>
                <a:spcPts val="1200"/>
              </a:spcBef>
              <a:spcAft>
                <a:spcPts val="1200"/>
              </a:spcAft>
            </a:pPr>
            <a:r>
              <a:rPr lang="en-US" sz="2200" b="1" dirty="0" smtClean="0">
                <a:latin typeface="Helvetica" pitchFamily="34" charset="0"/>
              </a:rPr>
              <a:t>Exclusion of pests</a:t>
            </a:r>
          </a:p>
          <a:p>
            <a:pPr marL="360000" indent="-360000">
              <a:spcBef>
                <a:spcPts val="1200"/>
              </a:spcBef>
              <a:spcAft>
                <a:spcPts val="1200"/>
              </a:spcAft>
            </a:pPr>
            <a:r>
              <a:rPr lang="en-US" sz="2200" b="1" dirty="0" smtClean="0">
                <a:latin typeface="Helvetica" pitchFamily="34" charset="0"/>
              </a:rPr>
              <a:t>Control of pests</a:t>
            </a:r>
          </a:p>
          <a:p>
            <a:pPr marL="360000" indent="-360000">
              <a:spcBef>
                <a:spcPts val="1200"/>
              </a:spcBef>
              <a:spcAft>
                <a:spcPts val="1200"/>
              </a:spcAft>
            </a:pPr>
            <a:r>
              <a:rPr lang="en-US" sz="2200" b="1" dirty="0" smtClean="0">
                <a:latin typeface="Helvetica" pitchFamily="34" charset="0"/>
              </a:rPr>
              <a:t>Good housekeeping.</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116</a:t>
            </a:fld>
            <a:endParaRPr lang="en-US" dirty="0"/>
          </a:p>
        </p:txBody>
      </p:sp>
      <p:pic>
        <p:nvPicPr>
          <p:cNvPr id="6" name="Picture 3" descr="C:\Users\fgvghyujil\AppData\Local\Microsoft\Windows\Temporary Internet Files\Content.IE5\PP601SXW\MC900089832[1].wmf"/>
          <p:cNvPicPr>
            <a:picLocks noChangeAspect="1" noChangeArrowheads="1"/>
          </p:cNvPicPr>
          <p:nvPr/>
        </p:nvPicPr>
        <p:blipFill>
          <a:blip r:embed="rId3" cstate="print"/>
          <a:srcRect/>
          <a:stretch>
            <a:fillRect/>
          </a:stretch>
        </p:blipFill>
        <p:spPr bwMode="auto">
          <a:xfrm>
            <a:off x="6300192" y="3284984"/>
            <a:ext cx="2031260" cy="1928826"/>
          </a:xfrm>
          <a:prstGeom prst="rect">
            <a:avLst/>
          </a:prstGeom>
          <a:noFill/>
        </p:spPr>
      </p:pic>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Identify potential food and other risks in the workplace promptly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Physical exclusion of vermin involves:</a:t>
            </a:r>
          </a:p>
          <a:p>
            <a:pPr marL="360000" indent="-360000">
              <a:spcBef>
                <a:spcPts val="1200"/>
              </a:spcBef>
              <a:spcAft>
                <a:spcPts val="1200"/>
              </a:spcAft>
            </a:pPr>
            <a:r>
              <a:rPr lang="en-US" sz="2200" b="1" dirty="0" smtClean="0">
                <a:latin typeface="Helvetica" pitchFamily="34" charset="0"/>
              </a:rPr>
              <a:t>Inspecting incoming food to identify presence of pests</a:t>
            </a:r>
          </a:p>
          <a:p>
            <a:pPr marL="360000" indent="-360000">
              <a:spcBef>
                <a:spcPts val="1200"/>
              </a:spcBef>
              <a:spcAft>
                <a:spcPts val="1200"/>
              </a:spcAft>
            </a:pPr>
            <a:r>
              <a:rPr lang="en-US" sz="2200" b="1" dirty="0" smtClean="0">
                <a:latin typeface="Helvetica" pitchFamily="34" charset="0"/>
              </a:rPr>
              <a:t>Fitting fly wire</a:t>
            </a:r>
          </a:p>
          <a:p>
            <a:pPr marL="360000" indent="-360000">
              <a:spcBef>
                <a:spcPts val="1200"/>
              </a:spcBef>
              <a:spcAft>
                <a:spcPts val="1200"/>
              </a:spcAft>
            </a:pPr>
            <a:r>
              <a:rPr lang="en-US" sz="2200" b="1" dirty="0" smtClean="0">
                <a:latin typeface="Helvetica" pitchFamily="34" charset="0"/>
              </a:rPr>
              <a:t>Sealing holes and ‘runways’</a:t>
            </a:r>
          </a:p>
          <a:p>
            <a:pPr marL="360000" indent="-360000">
              <a:spcBef>
                <a:spcPts val="1200"/>
              </a:spcBef>
              <a:spcAft>
                <a:spcPts val="1200"/>
              </a:spcAft>
            </a:pPr>
            <a:r>
              <a:rPr lang="en-US" sz="2200" b="1" dirty="0" smtClean="0">
                <a:latin typeface="Helvetica" pitchFamily="34" charset="0"/>
              </a:rPr>
              <a:t>Excluding all animals from </a:t>
            </a:r>
            <a:br>
              <a:rPr lang="en-US" sz="2200" b="1" dirty="0" smtClean="0">
                <a:latin typeface="Helvetica" pitchFamily="34" charset="0"/>
              </a:rPr>
            </a:br>
            <a:r>
              <a:rPr lang="en-US" sz="2200" b="1" dirty="0" smtClean="0">
                <a:latin typeface="Helvetica" pitchFamily="34" charset="0"/>
              </a:rPr>
              <a:t>food areas.</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117</a:t>
            </a:fld>
            <a:endParaRPr lang="en-US" dirty="0"/>
          </a:p>
        </p:txBody>
      </p:sp>
      <p:pic>
        <p:nvPicPr>
          <p:cNvPr id="5" name="Picture 4" descr="stores.jpg"/>
          <p:cNvPicPr>
            <a:picLocks noChangeAspect="1"/>
          </p:cNvPicPr>
          <p:nvPr/>
        </p:nvPicPr>
        <p:blipFill>
          <a:blip r:embed="rId3" cstate="print"/>
          <a:stretch>
            <a:fillRect/>
          </a:stretch>
        </p:blipFill>
        <p:spPr>
          <a:xfrm>
            <a:off x="5987448" y="3429000"/>
            <a:ext cx="3156552" cy="2096148"/>
          </a:xfrm>
          <a:prstGeom prst="rect">
            <a:avLst/>
          </a:prstGeom>
        </p:spPr>
      </p:pic>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Identify potential food and other risks in the workplace promptly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Control of vermin can involve:</a:t>
            </a:r>
          </a:p>
          <a:p>
            <a:pPr marL="360000" indent="-360000">
              <a:spcBef>
                <a:spcPts val="1200"/>
              </a:spcBef>
              <a:spcAft>
                <a:spcPts val="1200"/>
              </a:spcAft>
            </a:pPr>
            <a:r>
              <a:rPr lang="en-US" sz="2200" b="1" dirty="0" smtClean="0">
                <a:latin typeface="Helvetica" pitchFamily="34" charset="0"/>
              </a:rPr>
              <a:t>Chemical control</a:t>
            </a:r>
          </a:p>
          <a:p>
            <a:pPr marL="360000" indent="-360000">
              <a:spcBef>
                <a:spcPts val="1200"/>
              </a:spcBef>
              <a:spcAft>
                <a:spcPts val="1200"/>
              </a:spcAft>
            </a:pPr>
            <a:r>
              <a:rPr lang="en-US" sz="2200" b="1" dirty="0" smtClean="0">
                <a:latin typeface="Helvetica" pitchFamily="34" charset="0"/>
              </a:rPr>
              <a:t>Mechanical control.</a:t>
            </a:r>
          </a:p>
          <a:p>
            <a:pPr marL="360000" indent="-360000" algn="ctr">
              <a:spcBef>
                <a:spcPts val="1200"/>
              </a:spcBef>
              <a:spcAft>
                <a:spcPts val="1200"/>
              </a:spcAft>
              <a:buNone/>
            </a:pPr>
            <a:r>
              <a:rPr lang="en-US" sz="2200" b="1" i="1" dirty="0" smtClean="0">
                <a:latin typeface="Helvetica" pitchFamily="34" charset="0"/>
              </a:rPr>
              <a:t>A combination of controls is the best approach.</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118</a:t>
            </a:fld>
            <a:endParaRPr lang="en-US" dirty="0"/>
          </a:p>
        </p:txBody>
      </p:sp>
      <p:pic>
        <p:nvPicPr>
          <p:cNvPr id="5" name="Picture 4" descr="ohs use by dates.jpg"/>
          <p:cNvPicPr>
            <a:picLocks noChangeAspect="1"/>
          </p:cNvPicPr>
          <p:nvPr/>
        </p:nvPicPr>
        <p:blipFill>
          <a:blip r:embed="rId3" cstate="print"/>
          <a:stretch>
            <a:fillRect/>
          </a:stretch>
        </p:blipFill>
        <p:spPr>
          <a:xfrm>
            <a:off x="6048443" y="3933056"/>
            <a:ext cx="3095557" cy="2055643"/>
          </a:xfrm>
          <a:prstGeom prst="rect">
            <a:avLst/>
          </a:prstGeom>
        </p:spPr>
      </p:pic>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Identify potential food and other risks in the workplace promptly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Sound housekeeping practices include:</a:t>
            </a:r>
          </a:p>
          <a:p>
            <a:pPr marL="360000" indent="-360000">
              <a:spcBef>
                <a:spcPts val="1200"/>
              </a:spcBef>
              <a:spcAft>
                <a:spcPts val="1200"/>
              </a:spcAft>
            </a:pPr>
            <a:r>
              <a:rPr lang="en-US" sz="2200" b="1" dirty="0" smtClean="0">
                <a:latin typeface="Helvetica" pitchFamily="34" charset="0"/>
              </a:rPr>
              <a:t>Properly storing food waste</a:t>
            </a:r>
          </a:p>
          <a:p>
            <a:pPr marL="360000" indent="-360000">
              <a:spcBef>
                <a:spcPts val="1200"/>
              </a:spcBef>
              <a:spcAft>
                <a:spcPts val="1200"/>
              </a:spcAft>
            </a:pPr>
            <a:r>
              <a:rPr lang="en-US" sz="2200" b="1" dirty="0" smtClean="0">
                <a:latin typeface="Helvetica" pitchFamily="34" charset="0"/>
              </a:rPr>
              <a:t>Not leaving food lying around</a:t>
            </a:r>
          </a:p>
          <a:p>
            <a:pPr marL="360000" indent="-360000">
              <a:spcBef>
                <a:spcPts val="1200"/>
              </a:spcBef>
              <a:spcAft>
                <a:spcPts val="1200"/>
              </a:spcAft>
            </a:pPr>
            <a:r>
              <a:rPr lang="en-US" sz="2200" b="1" dirty="0" smtClean="0">
                <a:latin typeface="Helvetica" pitchFamily="34" charset="0"/>
              </a:rPr>
              <a:t>Drying food areas</a:t>
            </a:r>
          </a:p>
          <a:p>
            <a:pPr marL="360000" indent="-360000">
              <a:spcBef>
                <a:spcPts val="1200"/>
              </a:spcBef>
              <a:spcAft>
                <a:spcPts val="1200"/>
              </a:spcAft>
            </a:pPr>
            <a:r>
              <a:rPr lang="en-US" sz="2200" b="1" dirty="0" smtClean="0">
                <a:latin typeface="Helvetica" pitchFamily="34" charset="0"/>
              </a:rPr>
              <a:t>Conducting regular inspections</a:t>
            </a:r>
          </a:p>
          <a:p>
            <a:pPr marL="360000" indent="-360000">
              <a:spcBef>
                <a:spcPts val="1200"/>
              </a:spcBef>
              <a:spcAft>
                <a:spcPts val="1200"/>
              </a:spcAft>
            </a:pPr>
            <a:r>
              <a:rPr lang="en-US" sz="2200" b="1" dirty="0" smtClean="0">
                <a:latin typeface="Helvetica" pitchFamily="34" charset="0"/>
              </a:rPr>
              <a:t>Removing </a:t>
            </a:r>
            <a:r>
              <a:rPr lang="en-US" sz="2200" b="1" dirty="0" err="1" smtClean="0">
                <a:latin typeface="Helvetica" pitchFamily="34" charset="0"/>
              </a:rPr>
              <a:t>harbourage</a:t>
            </a:r>
            <a:r>
              <a:rPr lang="en-US" sz="2200" b="1" dirty="0" smtClean="0">
                <a:latin typeface="Helvetica" pitchFamily="34" charset="0"/>
              </a:rPr>
              <a:t>.</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119</a:t>
            </a:fld>
            <a:endParaRPr lang="en-US" dirty="0"/>
          </a:p>
        </p:txBody>
      </p:sp>
      <p:pic>
        <p:nvPicPr>
          <p:cNvPr id="5" name="Picture 4" descr="DSCF1663.JPG"/>
          <p:cNvPicPr>
            <a:picLocks noChangeAspect="1"/>
          </p:cNvPicPr>
          <p:nvPr/>
        </p:nvPicPr>
        <p:blipFill>
          <a:blip r:embed="rId3" cstate="print"/>
          <a:stretch>
            <a:fillRect/>
          </a:stretch>
        </p:blipFill>
        <p:spPr>
          <a:xfrm rot="16200000">
            <a:off x="5994242" y="2798506"/>
            <a:ext cx="3599723" cy="2699792"/>
          </a:xfrm>
          <a:prstGeom prst="rect">
            <a:avLst/>
          </a:prstGeom>
        </p:spPr>
      </p:pic>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Identify potential food and other risks in the workplace promptly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Food recalls:</a:t>
            </a:r>
          </a:p>
          <a:p>
            <a:pPr marL="360000" indent="-360000">
              <a:spcBef>
                <a:spcPts val="1200"/>
              </a:spcBef>
              <a:spcAft>
                <a:spcPts val="1200"/>
              </a:spcAft>
            </a:pPr>
            <a:r>
              <a:rPr lang="en-US" sz="2200" b="1" dirty="0" smtClean="0">
                <a:latin typeface="Helvetica" pitchFamily="34" charset="0"/>
              </a:rPr>
              <a:t>May be initiated by others:</a:t>
            </a:r>
          </a:p>
          <a:p>
            <a:pPr marL="720000" indent="-360000">
              <a:spcBef>
                <a:spcPts val="12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Health authorities</a:t>
            </a:r>
          </a:p>
          <a:p>
            <a:pPr marL="720000" indent="-360000">
              <a:spcBef>
                <a:spcPts val="12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Manufacturers of food</a:t>
            </a:r>
          </a:p>
          <a:p>
            <a:pPr marL="360000" indent="-360000">
              <a:spcBef>
                <a:spcPts val="1200"/>
              </a:spcBef>
              <a:spcAft>
                <a:spcPts val="1200"/>
              </a:spcAft>
            </a:pPr>
            <a:r>
              <a:rPr lang="en-US" sz="2200" b="1" dirty="0" smtClean="0">
                <a:latin typeface="Helvetica" pitchFamily="34" charset="0"/>
              </a:rPr>
              <a:t>May be initiated by the venue itself.</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120</a:t>
            </a:fld>
            <a:endParaRPr lang="en-US" dirty="0"/>
          </a:p>
        </p:txBody>
      </p:sp>
      <p:pic>
        <p:nvPicPr>
          <p:cNvPr id="5" name="Picture 4" descr="iStock_000010500218XSmall.jpg"/>
          <p:cNvPicPr>
            <a:picLocks noChangeAspect="1"/>
          </p:cNvPicPr>
          <p:nvPr/>
        </p:nvPicPr>
        <p:blipFill>
          <a:blip r:embed="rId3" cstate="print"/>
          <a:stretch>
            <a:fillRect/>
          </a:stretch>
        </p:blipFill>
        <p:spPr>
          <a:xfrm>
            <a:off x="6626445" y="2276872"/>
            <a:ext cx="2517555" cy="2016646"/>
          </a:xfrm>
          <a:prstGeom prst="rect">
            <a:avLst/>
          </a:prstGeom>
        </p:spPr>
      </p:pic>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Identify potential food and other risks in the workplace promptly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The aims of a recall plan are:</a:t>
            </a:r>
          </a:p>
          <a:p>
            <a:pPr marL="360000" indent="-360000">
              <a:spcBef>
                <a:spcPts val="1200"/>
              </a:spcBef>
              <a:spcAft>
                <a:spcPts val="1200"/>
              </a:spcAft>
            </a:pPr>
            <a:r>
              <a:rPr lang="en-US" sz="2200" b="1" dirty="0" smtClean="0">
                <a:latin typeface="Helvetica" pitchFamily="34" charset="0"/>
              </a:rPr>
              <a:t>Stop distribution and sale of the product</a:t>
            </a:r>
          </a:p>
          <a:p>
            <a:pPr marL="360000" indent="-360000">
              <a:spcBef>
                <a:spcPts val="1200"/>
              </a:spcBef>
              <a:spcAft>
                <a:spcPts val="1200"/>
              </a:spcAft>
            </a:pPr>
            <a:r>
              <a:rPr lang="en-US" sz="2200" b="1" dirty="0" smtClean="0">
                <a:latin typeface="Helvetica" pitchFamily="34" charset="0"/>
              </a:rPr>
              <a:t>Remove product from sale</a:t>
            </a:r>
          </a:p>
          <a:p>
            <a:pPr marL="360000" indent="-360000">
              <a:spcBef>
                <a:spcPts val="1200"/>
              </a:spcBef>
              <a:spcAft>
                <a:spcPts val="1200"/>
              </a:spcAft>
            </a:pPr>
            <a:r>
              <a:rPr lang="en-US" sz="2200" b="1" dirty="0" smtClean="0">
                <a:latin typeface="Helvetica" pitchFamily="34" charset="0"/>
              </a:rPr>
              <a:t>Notify customers about the product</a:t>
            </a:r>
          </a:p>
          <a:p>
            <a:pPr marL="360000" indent="-360000">
              <a:spcBef>
                <a:spcPts val="1200"/>
              </a:spcBef>
              <a:spcAft>
                <a:spcPts val="1200"/>
              </a:spcAft>
            </a:pPr>
            <a:r>
              <a:rPr lang="en-US" sz="2200" b="1" dirty="0" smtClean="0">
                <a:latin typeface="Helvetica" pitchFamily="34" charset="0"/>
              </a:rPr>
              <a:t>Give advice and direction to customers.</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121</a:t>
            </a:fld>
            <a:endParaRPr lang="en-US" dirty="0"/>
          </a:p>
        </p:txBody>
      </p:sp>
      <p:pic>
        <p:nvPicPr>
          <p:cNvPr id="6" name="Picture 5" descr="product.jpg"/>
          <p:cNvPicPr>
            <a:picLocks noChangeAspect="1"/>
          </p:cNvPicPr>
          <p:nvPr/>
        </p:nvPicPr>
        <p:blipFill>
          <a:blip r:embed="rId3" cstate="print"/>
          <a:stretch>
            <a:fillRect/>
          </a:stretch>
        </p:blipFill>
        <p:spPr>
          <a:xfrm>
            <a:off x="6800398" y="3645024"/>
            <a:ext cx="2343602" cy="2324497"/>
          </a:xfrm>
          <a:prstGeom prst="rect">
            <a:avLst/>
          </a:prstGeom>
        </p:spPr>
      </p:pic>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Identify potential food and other risks in the workplace promptly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46654" cy="5015480"/>
          </a:xfrm>
        </p:spPr>
        <p:txBody>
          <a:bodyPr>
            <a:normAutofit fontScale="92500" lnSpcReduction="20000"/>
          </a:bodyPr>
          <a:lstStyle/>
          <a:p>
            <a:pPr marL="0" indent="0">
              <a:spcBef>
                <a:spcPts val="1200"/>
              </a:spcBef>
              <a:spcAft>
                <a:spcPts val="1200"/>
              </a:spcAft>
              <a:buNone/>
            </a:pPr>
            <a:r>
              <a:rPr lang="en-US" sz="2400" b="1" dirty="0" smtClean="0">
                <a:latin typeface="Helvetica" pitchFamily="34" charset="0"/>
              </a:rPr>
              <a:t>Factors to consider when deciding if a food recall is necessary:</a:t>
            </a:r>
          </a:p>
          <a:p>
            <a:pPr marL="360000" indent="-360000">
              <a:spcBef>
                <a:spcPts val="1200"/>
              </a:spcBef>
              <a:spcAft>
                <a:spcPts val="1200"/>
              </a:spcAft>
            </a:pPr>
            <a:r>
              <a:rPr lang="en-US" sz="2400" b="1" dirty="0" smtClean="0">
                <a:latin typeface="Helvetica" pitchFamily="34" charset="0"/>
              </a:rPr>
              <a:t>Gravity of risk posed</a:t>
            </a:r>
          </a:p>
          <a:p>
            <a:pPr marL="360000" indent="-360000">
              <a:spcBef>
                <a:spcPts val="1200"/>
              </a:spcBef>
              <a:spcAft>
                <a:spcPts val="1200"/>
              </a:spcAft>
            </a:pPr>
            <a:r>
              <a:rPr lang="en-US" sz="2400" b="1" dirty="0" smtClean="0">
                <a:latin typeface="Helvetica" pitchFamily="34" charset="0"/>
              </a:rPr>
              <a:t>Number of complaints received</a:t>
            </a:r>
          </a:p>
          <a:p>
            <a:pPr marL="360000" indent="-360000">
              <a:spcBef>
                <a:spcPts val="1200"/>
              </a:spcBef>
              <a:spcAft>
                <a:spcPts val="1200"/>
              </a:spcAft>
            </a:pPr>
            <a:r>
              <a:rPr lang="en-US" sz="2400" b="1" dirty="0" smtClean="0">
                <a:latin typeface="Helvetica" pitchFamily="34" charset="0"/>
              </a:rPr>
              <a:t>Probability of risk</a:t>
            </a:r>
          </a:p>
          <a:p>
            <a:pPr marL="360000" indent="-360000">
              <a:spcBef>
                <a:spcPts val="1200"/>
              </a:spcBef>
              <a:spcAft>
                <a:spcPts val="1200"/>
              </a:spcAft>
            </a:pPr>
            <a:r>
              <a:rPr lang="en-US" sz="2400" b="1" dirty="0" smtClean="0">
                <a:latin typeface="Helvetica" pitchFamily="34" charset="0"/>
              </a:rPr>
              <a:t>Size and dispersion of items involved</a:t>
            </a:r>
          </a:p>
          <a:p>
            <a:pPr marL="360000" indent="-360000">
              <a:spcBef>
                <a:spcPts val="1200"/>
              </a:spcBef>
              <a:spcAft>
                <a:spcPts val="1200"/>
              </a:spcAft>
            </a:pPr>
            <a:r>
              <a:rPr lang="en-US" sz="2400" b="1" dirty="0" smtClean="0">
                <a:latin typeface="Helvetica" pitchFamily="34" charset="0"/>
              </a:rPr>
              <a:t>Whether officials and or media have been notified</a:t>
            </a:r>
          </a:p>
          <a:p>
            <a:pPr marL="360000" indent="-360000" algn="ctr">
              <a:spcBef>
                <a:spcPts val="1200"/>
              </a:spcBef>
              <a:spcAft>
                <a:spcPts val="1200"/>
              </a:spcAft>
              <a:buNone/>
            </a:pPr>
            <a:r>
              <a:rPr lang="en-US" sz="2400" b="1" i="1" dirty="0" smtClean="0">
                <a:latin typeface="Helvetica" pitchFamily="34" charset="0"/>
              </a:rPr>
              <a:t>Always err on the side of caution</a:t>
            </a:r>
          </a:p>
          <a:p>
            <a:pPr marL="360000" indent="-360000" algn="ctr">
              <a:spcBef>
                <a:spcPts val="1200"/>
              </a:spcBef>
              <a:spcAft>
                <a:spcPts val="1200"/>
              </a:spcAft>
              <a:buNone/>
            </a:pPr>
            <a:r>
              <a:rPr lang="en-US" sz="2400" b="1" i="1" dirty="0" smtClean="0">
                <a:latin typeface="Helvetica" pitchFamily="34" charset="0"/>
              </a:rPr>
              <a:t>Hope for the best – plan for the worst.</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122</a:t>
            </a:fld>
            <a:endParaRPr lang="en-US" dirty="0"/>
          </a:p>
        </p:txBody>
      </p:sp>
      <p:pic>
        <p:nvPicPr>
          <p:cNvPr id="6" name="Picture 5" descr="interview.jpg"/>
          <p:cNvPicPr>
            <a:picLocks noChangeAspect="1"/>
          </p:cNvPicPr>
          <p:nvPr/>
        </p:nvPicPr>
        <p:blipFill>
          <a:blip r:embed="rId3" cstate="print"/>
          <a:stretch>
            <a:fillRect/>
          </a:stretch>
        </p:blipFill>
        <p:spPr>
          <a:xfrm>
            <a:off x="6286500" y="2060848"/>
            <a:ext cx="2857500" cy="2143125"/>
          </a:xfrm>
          <a:prstGeom prst="rect">
            <a:avLst/>
          </a:prstGeom>
        </p:spPr>
      </p:pic>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Identify potential food and other risks in the workplace promptly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600"/>
              </a:spcBef>
              <a:spcAft>
                <a:spcPts val="1200"/>
              </a:spcAft>
              <a:buNone/>
            </a:pPr>
            <a:r>
              <a:rPr lang="en-US" sz="2200" b="1" dirty="0" smtClean="0">
                <a:latin typeface="Helvetica" pitchFamily="34" charset="0"/>
              </a:rPr>
              <a:t>Basic food recall steps:</a:t>
            </a:r>
          </a:p>
          <a:p>
            <a:pPr marL="360000" indent="-360000">
              <a:spcBef>
                <a:spcPts val="600"/>
              </a:spcBef>
              <a:spcAft>
                <a:spcPts val="1200"/>
              </a:spcAft>
            </a:pPr>
            <a:r>
              <a:rPr lang="en-US" sz="2200" b="1" dirty="0" smtClean="0">
                <a:latin typeface="Helvetica" pitchFamily="34" charset="0"/>
              </a:rPr>
              <a:t>Establish the facts</a:t>
            </a:r>
          </a:p>
          <a:p>
            <a:pPr marL="360000" indent="-360000">
              <a:spcBef>
                <a:spcPts val="600"/>
              </a:spcBef>
              <a:spcAft>
                <a:spcPts val="1200"/>
              </a:spcAft>
            </a:pPr>
            <a:r>
              <a:rPr lang="en-US" sz="2200" b="1" dirty="0" smtClean="0">
                <a:latin typeface="Helvetica" pitchFamily="34" charset="0"/>
              </a:rPr>
              <a:t>Take action</a:t>
            </a:r>
          </a:p>
          <a:p>
            <a:pPr marL="360000" indent="-360000">
              <a:spcBef>
                <a:spcPts val="600"/>
              </a:spcBef>
              <a:spcAft>
                <a:spcPts val="1200"/>
              </a:spcAft>
            </a:pPr>
            <a:r>
              <a:rPr lang="en-US" sz="2200" b="1" dirty="0" smtClean="0">
                <a:latin typeface="Helvetica" pitchFamily="34" charset="0"/>
              </a:rPr>
              <a:t>Determine volume of affected </a:t>
            </a:r>
            <a:br>
              <a:rPr lang="en-US" sz="2200" b="1" dirty="0" smtClean="0">
                <a:latin typeface="Helvetica" pitchFamily="34" charset="0"/>
              </a:rPr>
            </a:br>
            <a:r>
              <a:rPr lang="en-US" sz="2200" b="1" dirty="0" smtClean="0">
                <a:latin typeface="Helvetica" pitchFamily="34" charset="0"/>
              </a:rPr>
              <a:t>food</a:t>
            </a:r>
          </a:p>
          <a:p>
            <a:pPr marL="360000" indent="-360000">
              <a:spcBef>
                <a:spcPts val="600"/>
              </a:spcBef>
              <a:spcAft>
                <a:spcPts val="1200"/>
              </a:spcAft>
            </a:pPr>
            <a:r>
              <a:rPr lang="en-US" sz="2200" b="1" dirty="0" smtClean="0">
                <a:latin typeface="Helvetica" pitchFamily="34" charset="0"/>
              </a:rPr>
              <a:t>Identify sales and distribution </a:t>
            </a:r>
            <a:br>
              <a:rPr lang="en-US" sz="2200" b="1" dirty="0" smtClean="0">
                <a:latin typeface="Helvetica" pitchFamily="34" charset="0"/>
              </a:rPr>
            </a:br>
            <a:r>
              <a:rPr lang="en-US" sz="2200" b="1" dirty="0" smtClean="0">
                <a:latin typeface="Helvetica" pitchFamily="34" charset="0"/>
              </a:rPr>
              <a:t>points</a:t>
            </a:r>
          </a:p>
          <a:p>
            <a:pPr marL="360000" indent="-360000">
              <a:spcBef>
                <a:spcPts val="600"/>
              </a:spcBef>
              <a:spcAft>
                <a:spcPts val="1200"/>
              </a:spcAft>
            </a:pPr>
            <a:r>
              <a:rPr lang="en-US" sz="2200" b="1" dirty="0" smtClean="0">
                <a:latin typeface="Helvetica" pitchFamily="34" charset="0"/>
              </a:rPr>
              <a:t>Inform customers, public and health authorities</a:t>
            </a:r>
          </a:p>
          <a:p>
            <a:pPr marL="360000" indent="-360000">
              <a:spcBef>
                <a:spcPts val="600"/>
              </a:spcBef>
              <a:spcAft>
                <a:spcPts val="1200"/>
              </a:spcAft>
            </a:pPr>
            <a:r>
              <a:rPr lang="en-US" sz="2200" b="1" dirty="0" smtClean="0">
                <a:latin typeface="Helvetica" pitchFamily="34" charset="0"/>
              </a:rPr>
              <a:t>Collect and store affected food.</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123</a:t>
            </a:fld>
            <a:endParaRPr lang="en-US" dirty="0"/>
          </a:p>
        </p:txBody>
      </p:sp>
      <p:pic>
        <p:nvPicPr>
          <p:cNvPr id="5" name="Picture 4" descr="coldFoodStorageGuidelines.jpg"/>
          <p:cNvPicPr>
            <a:picLocks noChangeAspect="1"/>
          </p:cNvPicPr>
          <p:nvPr/>
        </p:nvPicPr>
        <p:blipFill>
          <a:blip r:embed="rId3" cstate="print"/>
          <a:stretch>
            <a:fillRect/>
          </a:stretch>
        </p:blipFill>
        <p:spPr>
          <a:xfrm>
            <a:off x="5501582" y="1700808"/>
            <a:ext cx="3642418" cy="2733824"/>
          </a:xfrm>
          <a:prstGeom prst="rect">
            <a:avLst/>
          </a:prstGeom>
        </p:spPr>
      </p:pic>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Take action to minimise or remove the risk of food contamination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When taking action to address identified food risks and hazards:</a:t>
            </a:r>
          </a:p>
          <a:p>
            <a:pPr marL="360000" indent="-360000">
              <a:spcBef>
                <a:spcPts val="1200"/>
              </a:spcBef>
              <a:spcAft>
                <a:spcPts val="1200"/>
              </a:spcAft>
            </a:pPr>
            <a:r>
              <a:rPr lang="en-US" sz="2200" b="1" dirty="0" smtClean="0">
                <a:latin typeface="Helvetica" pitchFamily="34" charset="0"/>
              </a:rPr>
              <a:t>Act quickly</a:t>
            </a:r>
          </a:p>
          <a:p>
            <a:pPr marL="360000" indent="-360000">
              <a:spcBef>
                <a:spcPts val="1200"/>
              </a:spcBef>
              <a:spcAft>
                <a:spcPts val="1200"/>
              </a:spcAft>
            </a:pPr>
            <a:r>
              <a:rPr lang="en-US" sz="2200" b="1" dirty="0" smtClean="0">
                <a:latin typeface="Helvetica" pitchFamily="34" charset="0"/>
              </a:rPr>
              <a:t>Report things unable to be fixed</a:t>
            </a:r>
          </a:p>
          <a:p>
            <a:pPr marL="360000" indent="-360000">
              <a:spcBef>
                <a:spcPts val="1200"/>
              </a:spcBef>
              <a:spcAft>
                <a:spcPts val="1200"/>
              </a:spcAft>
            </a:pPr>
            <a:r>
              <a:rPr lang="en-US" sz="2200" b="1" dirty="0" smtClean="0">
                <a:latin typeface="Helvetica" pitchFamily="34" charset="0"/>
              </a:rPr>
              <a:t>Only act within personal scope </a:t>
            </a:r>
            <a:br>
              <a:rPr lang="en-US" sz="2200" b="1" dirty="0" smtClean="0">
                <a:latin typeface="Helvetica" pitchFamily="34" charset="0"/>
              </a:rPr>
            </a:br>
            <a:r>
              <a:rPr lang="en-US" sz="2200" b="1" dirty="0" smtClean="0">
                <a:latin typeface="Helvetica" pitchFamily="34" charset="0"/>
              </a:rPr>
              <a:t>of authority</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124</a:t>
            </a:fld>
            <a:endParaRPr lang="en-US" dirty="0"/>
          </a:p>
        </p:txBody>
      </p:sp>
      <p:pic>
        <p:nvPicPr>
          <p:cNvPr id="5" name="Picture 4" descr="Culinary Academy_010.jpg"/>
          <p:cNvPicPr>
            <a:picLocks noChangeAspect="1"/>
          </p:cNvPicPr>
          <p:nvPr/>
        </p:nvPicPr>
        <p:blipFill>
          <a:blip r:embed="rId3" cstate="print"/>
          <a:stretch>
            <a:fillRect/>
          </a:stretch>
        </p:blipFill>
        <p:spPr>
          <a:xfrm>
            <a:off x="5869694" y="3356992"/>
            <a:ext cx="3274306" cy="2174344"/>
          </a:xfrm>
          <a:prstGeom prst="rect">
            <a:avLst/>
          </a:prstGeom>
        </p:spPr>
      </p:pic>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Take action to minimise or remove the risk of food contamination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b="1" dirty="0" smtClean="0">
                <a:latin typeface="Helvetica" pitchFamily="34" charset="0"/>
              </a:rPr>
              <a:t>Audit staff skills and practices</a:t>
            </a:r>
          </a:p>
          <a:p>
            <a:pPr marL="360000" indent="-360000">
              <a:spcBef>
                <a:spcPts val="1200"/>
              </a:spcBef>
              <a:spcAft>
                <a:spcPts val="1200"/>
              </a:spcAft>
            </a:pPr>
            <a:r>
              <a:rPr lang="en-US" sz="2200" b="1" dirty="0" smtClean="0">
                <a:latin typeface="Helvetica" pitchFamily="34" charset="0"/>
              </a:rPr>
              <a:t>Verify training is appropriate</a:t>
            </a:r>
          </a:p>
          <a:p>
            <a:pPr marL="360000" indent="-360000">
              <a:spcBef>
                <a:spcPts val="1200"/>
              </a:spcBef>
              <a:spcAft>
                <a:spcPts val="1200"/>
              </a:spcAft>
            </a:pPr>
            <a:r>
              <a:rPr lang="en-US" sz="2200" b="1" dirty="0" smtClean="0">
                <a:latin typeface="Helvetica" pitchFamily="34" charset="0"/>
              </a:rPr>
              <a:t>Verify SOPs are being implemented</a:t>
            </a:r>
          </a:p>
          <a:p>
            <a:pPr marL="360000" indent="-360000">
              <a:spcBef>
                <a:spcPts val="1200"/>
              </a:spcBef>
              <a:spcAft>
                <a:spcPts val="1200"/>
              </a:spcAft>
            </a:pPr>
            <a:r>
              <a:rPr lang="en-US" sz="2200" b="1" dirty="0" smtClean="0">
                <a:latin typeface="Helvetica" pitchFamily="34" charset="0"/>
              </a:rPr>
              <a:t>Consider involving external experts</a:t>
            </a:r>
          </a:p>
          <a:p>
            <a:pPr marL="360000" indent="-360000">
              <a:spcBef>
                <a:spcPts val="1200"/>
              </a:spcBef>
              <a:spcAft>
                <a:spcPts val="1200"/>
              </a:spcAft>
            </a:pPr>
            <a:r>
              <a:rPr lang="en-US" sz="2200" b="1" dirty="0" smtClean="0">
                <a:latin typeface="Helvetica" pitchFamily="34" charset="0"/>
              </a:rPr>
              <a:t>Examine previous food safety inspections </a:t>
            </a:r>
            <a:br>
              <a:rPr lang="en-US" sz="2200" b="1" dirty="0" smtClean="0">
                <a:latin typeface="Helvetica" pitchFamily="34" charset="0"/>
              </a:rPr>
            </a:br>
            <a:r>
              <a:rPr lang="en-US" sz="2200" b="1" dirty="0" smtClean="0">
                <a:latin typeface="Helvetica" pitchFamily="34" charset="0"/>
              </a:rPr>
              <a:t>and audits.</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125</a:t>
            </a:fld>
            <a:endParaRPr lang="en-US" dirty="0"/>
          </a:p>
        </p:txBody>
      </p:sp>
      <p:pic>
        <p:nvPicPr>
          <p:cNvPr id="5" name="Picture 4" descr="cook assistant.jpg"/>
          <p:cNvPicPr>
            <a:picLocks noChangeAspect="1"/>
          </p:cNvPicPr>
          <p:nvPr/>
        </p:nvPicPr>
        <p:blipFill>
          <a:blip r:embed="rId3" cstate="print"/>
          <a:stretch>
            <a:fillRect/>
          </a:stretch>
        </p:blipFill>
        <p:spPr>
          <a:xfrm>
            <a:off x="6985000" y="2276872"/>
            <a:ext cx="2159000" cy="3251200"/>
          </a:xfrm>
          <a:prstGeom prst="rect">
            <a:avLst/>
          </a:prstGeom>
        </p:spPr>
      </p:pic>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Take action to minimise or remove the risk of food contamination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All action taken to address identified food safety risks and hazards MUST reflect and address each situation</a:t>
            </a:r>
          </a:p>
          <a:p>
            <a:pPr marL="0" indent="0">
              <a:spcBef>
                <a:spcPts val="1200"/>
              </a:spcBef>
              <a:spcAft>
                <a:spcPts val="1200"/>
              </a:spcAft>
              <a:buNone/>
            </a:pPr>
            <a:r>
              <a:rPr lang="en-US" sz="2200" b="1" dirty="0" smtClean="0">
                <a:latin typeface="Helvetica" pitchFamily="34" charset="0"/>
              </a:rPr>
              <a:t>Corrective action regarding food purchasing problems:</a:t>
            </a:r>
          </a:p>
          <a:p>
            <a:pPr marL="360000" indent="-360000">
              <a:spcBef>
                <a:spcPts val="1200"/>
              </a:spcBef>
              <a:spcAft>
                <a:spcPts val="1200"/>
              </a:spcAft>
            </a:pPr>
            <a:r>
              <a:rPr lang="en-US" sz="2200" b="1" dirty="0" smtClean="0">
                <a:latin typeface="Helvetica" pitchFamily="34" charset="0"/>
              </a:rPr>
              <a:t>Verify suppliers are safe food handlers – get proof</a:t>
            </a:r>
          </a:p>
          <a:p>
            <a:pPr marL="360000" indent="-360000">
              <a:spcBef>
                <a:spcPts val="1200"/>
              </a:spcBef>
              <a:spcAft>
                <a:spcPts val="1200"/>
              </a:spcAft>
            </a:pPr>
            <a:r>
              <a:rPr lang="en-US" sz="2200" b="1" dirty="0" smtClean="0">
                <a:latin typeface="Helvetica" pitchFamily="34" charset="0"/>
              </a:rPr>
              <a:t>Add new and verified suppliers to Suppliers List</a:t>
            </a:r>
          </a:p>
          <a:p>
            <a:pPr marL="360000" indent="-360000">
              <a:spcBef>
                <a:spcPts val="1200"/>
              </a:spcBef>
              <a:spcAft>
                <a:spcPts val="1200"/>
              </a:spcAft>
            </a:pPr>
            <a:r>
              <a:rPr lang="en-US" sz="2200" b="1" dirty="0" smtClean="0">
                <a:latin typeface="Helvetica" pitchFamily="34" charset="0"/>
              </a:rPr>
              <a:t>Create purchase specifications</a:t>
            </a:r>
          </a:p>
          <a:p>
            <a:pPr marL="360000" indent="-360000">
              <a:spcBef>
                <a:spcPts val="1200"/>
              </a:spcBef>
              <a:spcAft>
                <a:spcPts val="1200"/>
              </a:spcAft>
            </a:pPr>
            <a:r>
              <a:rPr lang="en-US" sz="2200" b="1" dirty="0" smtClean="0">
                <a:latin typeface="Helvetica" pitchFamily="34" charset="0"/>
              </a:rPr>
              <a:t>Only buy from approved suppliers.</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126</a:t>
            </a:fld>
            <a:endParaRPr lang="en-US" dirty="0"/>
          </a:p>
        </p:txBody>
      </p:sp>
      <p:pic>
        <p:nvPicPr>
          <p:cNvPr id="5" name="Picture 4" descr="Checklist.jpg"/>
          <p:cNvPicPr>
            <a:picLocks noChangeAspect="1"/>
          </p:cNvPicPr>
          <p:nvPr/>
        </p:nvPicPr>
        <p:blipFill>
          <a:blip r:embed="rId3" cstate="print"/>
          <a:stretch>
            <a:fillRect/>
          </a:stretch>
        </p:blipFill>
        <p:spPr>
          <a:xfrm>
            <a:off x="6955572" y="4653136"/>
            <a:ext cx="2188428" cy="1440160"/>
          </a:xfrm>
          <a:prstGeom prst="rect">
            <a:avLst/>
          </a:prstGeom>
        </p:spPr>
      </p:pic>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Take action to minimise or remove the risk of food contamination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1200"/>
              </a:spcBef>
              <a:spcAft>
                <a:spcPts val="1200"/>
              </a:spcAft>
              <a:buNone/>
            </a:pPr>
            <a:r>
              <a:rPr lang="en-US" sz="2200" b="1" dirty="0" smtClean="0">
                <a:latin typeface="Helvetica" pitchFamily="34" charset="0"/>
              </a:rPr>
              <a:t>Corrective action regarding food receiving problems:</a:t>
            </a:r>
          </a:p>
          <a:p>
            <a:pPr marL="360000" indent="-360000">
              <a:spcBef>
                <a:spcPts val="1200"/>
              </a:spcBef>
              <a:spcAft>
                <a:spcPts val="1200"/>
              </a:spcAft>
            </a:pPr>
            <a:r>
              <a:rPr lang="en-US" sz="2200" b="1" dirty="0" smtClean="0">
                <a:latin typeface="Helvetica" pitchFamily="34" charset="0"/>
              </a:rPr>
              <a:t>Refusing to accept high risk food at 5</a:t>
            </a:r>
            <a:r>
              <a:rPr lang="en-AU" sz="2200" b="1" dirty="0" smtClean="0">
                <a:latin typeface="Helvetica" pitchFamily="34" charset="0"/>
              </a:rPr>
              <a:t>°C+  </a:t>
            </a:r>
            <a:endParaRPr lang="en-US" sz="2200" b="1" dirty="0" smtClean="0">
              <a:latin typeface="Helvetica" pitchFamily="34" charset="0"/>
            </a:endParaRPr>
          </a:p>
          <a:p>
            <a:pPr marL="360000" indent="-360000">
              <a:spcBef>
                <a:spcPts val="1200"/>
              </a:spcBef>
              <a:spcAft>
                <a:spcPts val="1200"/>
              </a:spcAft>
            </a:pPr>
            <a:r>
              <a:rPr lang="en-US" sz="2200" b="1" dirty="0" smtClean="0">
                <a:latin typeface="Helvetica" pitchFamily="34" charset="0"/>
              </a:rPr>
              <a:t>Not accepting frozen food that has started to de-frost</a:t>
            </a:r>
          </a:p>
          <a:p>
            <a:pPr marL="360000" indent="-360000">
              <a:spcBef>
                <a:spcPts val="1200"/>
              </a:spcBef>
              <a:spcAft>
                <a:spcPts val="1200"/>
              </a:spcAft>
            </a:pPr>
            <a:r>
              <a:rPr lang="en-US" sz="2200" b="1" dirty="0" smtClean="0">
                <a:latin typeface="Helvetica" pitchFamily="34" charset="0"/>
              </a:rPr>
              <a:t>Rejecting hot food at less </a:t>
            </a:r>
            <a:br>
              <a:rPr lang="en-US" sz="2200" b="1" dirty="0" smtClean="0">
                <a:latin typeface="Helvetica" pitchFamily="34" charset="0"/>
              </a:rPr>
            </a:br>
            <a:r>
              <a:rPr lang="en-US" sz="2200" b="1" dirty="0" smtClean="0">
                <a:latin typeface="Helvetica" pitchFamily="34" charset="0"/>
              </a:rPr>
              <a:t>than 60</a:t>
            </a:r>
            <a:r>
              <a:rPr lang="en-AU" sz="2200" b="1" dirty="0" smtClean="0">
                <a:latin typeface="Helvetica" pitchFamily="34" charset="0"/>
              </a:rPr>
              <a:t>°C</a:t>
            </a:r>
          </a:p>
          <a:p>
            <a:pPr marL="360000" indent="-360000">
              <a:spcBef>
                <a:spcPts val="1200"/>
              </a:spcBef>
              <a:spcAft>
                <a:spcPts val="1200"/>
              </a:spcAft>
            </a:pPr>
            <a:r>
              <a:rPr lang="en-AU" sz="2200" b="1" dirty="0" smtClean="0">
                <a:latin typeface="Helvetica" pitchFamily="34" charset="0"/>
              </a:rPr>
              <a:t>Sending back food not </a:t>
            </a:r>
            <a:br>
              <a:rPr lang="en-AU" sz="2200" b="1" dirty="0" smtClean="0">
                <a:latin typeface="Helvetica" pitchFamily="34" charset="0"/>
              </a:rPr>
            </a:br>
            <a:r>
              <a:rPr lang="en-AU" sz="2200" b="1" dirty="0" smtClean="0">
                <a:latin typeface="Helvetica" pitchFamily="34" charset="0"/>
              </a:rPr>
              <a:t>adequately labelled</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127</a:t>
            </a:fld>
            <a:endParaRPr lang="en-US" dirty="0"/>
          </a:p>
        </p:txBody>
      </p:sp>
      <p:pic>
        <p:nvPicPr>
          <p:cNvPr id="5" name="Picture 4" descr="DSCF1664.JPG"/>
          <p:cNvPicPr>
            <a:picLocks noChangeAspect="1"/>
          </p:cNvPicPr>
          <p:nvPr/>
        </p:nvPicPr>
        <p:blipFill>
          <a:blip r:embed="rId3" cstate="print"/>
          <a:stretch>
            <a:fillRect/>
          </a:stretch>
        </p:blipFill>
        <p:spPr>
          <a:xfrm>
            <a:off x="5547921" y="3717032"/>
            <a:ext cx="3596079" cy="2388021"/>
          </a:xfrm>
          <a:prstGeom prst="rect">
            <a:avLst/>
          </a:prstGeom>
        </p:spPr>
      </p:pic>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Take action to minimise or remove the risk of food contamination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360000" indent="-360000">
              <a:spcBef>
                <a:spcPts val="1200"/>
              </a:spcBef>
              <a:spcAft>
                <a:spcPts val="1200"/>
              </a:spcAft>
            </a:pPr>
            <a:r>
              <a:rPr lang="en-US" sz="2200" b="1" dirty="0" smtClean="0">
                <a:latin typeface="Helvetica" pitchFamily="34" charset="0"/>
              </a:rPr>
              <a:t>Rejecting food delivered in unclean or inappropriate vehicle</a:t>
            </a:r>
          </a:p>
          <a:p>
            <a:pPr marL="360000" indent="-360000">
              <a:spcBef>
                <a:spcPts val="1200"/>
              </a:spcBef>
              <a:spcAft>
                <a:spcPts val="1200"/>
              </a:spcAft>
            </a:pPr>
            <a:r>
              <a:rPr lang="en-US" sz="2200" b="1" dirty="0" smtClean="0">
                <a:latin typeface="Helvetica" pitchFamily="34" charset="0"/>
              </a:rPr>
              <a:t>Refusing food mixed in with chemicals</a:t>
            </a:r>
          </a:p>
          <a:p>
            <a:pPr marL="360000" indent="-360000">
              <a:spcBef>
                <a:spcPts val="1200"/>
              </a:spcBef>
              <a:spcAft>
                <a:spcPts val="1200"/>
              </a:spcAft>
            </a:pPr>
            <a:r>
              <a:rPr lang="en-US" sz="2200" b="1" dirty="0" smtClean="0">
                <a:latin typeface="Helvetica" pitchFamily="34" charset="0"/>
              </a:rPr>
              <a:t>Rejecting out-of-date items</a:t>
            </a:r>
          </a:p>
          <a:p>
            <a:pPr marL="360000" indent="-360000">
              <a:spcBef>
                <a:spcPts val="1200"/>
              </a:spcBef>
              <a:spcAft>
                <a:spcPts val="1200"/>
              </a:spcAft>
            </a:pPr>
            <a:r>
              <a:rPr lang="en-US" sz="2200" b="1" dirty="0" smtClean="0">
                <a:latin typeface="Helvetica" pitchFamily="34" charset="0"/>
              </a:rPr>
              <a:t>Refusing food with damaged </a:t>
            </a:r>
            <a:br>
              <a:rPr lang="en-US" sz="2200" b="1" dirty="0" smtClean="0">
                <a:latin typeface="Helvetica" pitchFamily="34" charset="0"/>
              </a:rPr>
            </a:br>
            <a:r>
              <a:rPr lang="en-US" sz="2200" b="1" dirty="0" smtClean="0">
                <a:latin typeface="Helvetica" pitchFamily="34" charset="0"/>
              </a:rPr>
              <a:t>packaging</a:t>
            </a:r>
          </a:p>
          <a:p>
            <a:pPr marL="360000" indent="-360000">
              <a:spcBef>
                <a:spcPts val="1200"/>
              </a:spcBef>
              <a:spcAft>
                <a:spcPts val="1200"/>
              </a:spcAft>
            </a:pPr>
            <a:r>
              <a:rPr lang="en-US" sz="2200" b="1" dirty="0" smtClean="0">
                <a:latin typeface="Helvetica" pitchFamily="34" charset="0"/>
              </a:rPr>
              <a:t>Rejecting food with evidence of </a:t>
            </a:r>
            <a:br>
              <a:rPr lang="en-US" sz="2200" b="1" dirty="0" smtClean="0">
                <a:latin typeface="Helvetica" pitchFamily="34" charset="0"/>
              </a:rPr>
            </a:br>
            <a:r>
              <a:rPr lang="en-US" sz="2200" b="1" dirty="0" smtClean="0">
                <a:latin typeface="Helvetica" pitchFamily="34" charset="0"/>
              </a:rPr>
              <a:t>pests/infestation</a:t>
            </a:r>
          </a:p>
          <a:p>
            <a:pPr marL="360000" indent="-360000">
              <a:spcBef>
                <a:spcPts val="1200"/>
              </a:spcBef>
              <a:spcAft>
                <a:spcPts val="1200"/>
              </a:spcAft>
            </a:pPr>
            <a:r>
              <a:rPr lang="en-US" sz="2200" b="1" dirty="0" smtClean="0">
                <a:latin typeface="Helvetica" pitchFamily="34" charset="0"/>
              </a:rPr>
              <a:t>Refusing spoilt food.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128</a:t>
            </a:fld>
            <a:endParaRPr lang="en-US" dirty="0"/>
          </a:p>
        </p:txBody>
      </p:sp>
      <p:pic>
        <p:nvPicPr>
          <p:cNvPr id="5" name="Picture 4" descr="DSC_0076.jpg"/>
          <p:cNvPicPr>
            <a:picLocks noChangeAspect="1"/>
          </p:cNvPicPr>
          <p:nvPr/>
        </p:nvPicPr>
        <p:blipFill>
          <a:blip r:embed="rId3" cstate="print"/>
          <a:stretch>
            <a:fillRect/>
          </a:stretch>
        </p:blipFill>
        <p:spPr>
          <a:xfrm>
            <a:off x="5771424" y="3212976"/>
            <a:ext cx="3372576" cy="2239601"/>
          </a:xfrm>
          <a:prstGeom prst="rect">
            <a:avLst/>
          </a:prstGeom>
        </p:spPr>
      </p:pic>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Take action to minimise or remove the risk of food contamination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Corrective action regarding dry goods storage problems:</a:t>
            </a:r>
          </a:p>
          <a:p>
            <a:pPr marL="360000" indent="-360000">
              <a:spcBef>
                <a:spcPts val="1200"/>
              </a:spcBef>
              <a:spcAft>
                <a:spcPts val="1200"/>
              </a:spcAft>
            </a:pPr>
            <a:r>
              <a:rPr lang="en-US" sz="2200" b="1" dirty="0" smtClean="0">
                <a:latin typeface="Helvetica" pitchFamily="34" charset="0"/>
              </a:rPr>
              <a:t>Control vermin, where evidence of pests</a:t>
            </a:r>
          </a:p>
          <a:p>
            <a:pPr marL="360000" indent="-360000">
              <a:spcBef>
                <a:spcPts val="1200"/>
              </a:spcBef>
              <a:spcAft>
                <a:spcPts val="1200"/>
              </a:spcAft>
            </a:pPr>
            <a:r>
              <a:rPr lang="en-US" sz="2200" b="1" dirty="0" smtClean="0">
                <a:latin typeface="Helvetica" pitchFamily="34" charset="0"/>
              </a:rPr>
              <a:t>Discard affected food</a:t>
            </a:r>
          </a:p>
          <a:p>
            <a:pPr marL="360000" indent="-360000">
              <a:spcBef>
                <a:spcPts val="1200"/>
              </a:spcBef>
              <a:spcAft>
                <a:spcPts val="1200"/>
              </a:spcAft>
            </a:pPr>
            <a:r>
              <a:rPr lang="en-US" sz="2200" b="1" dirty="0" smtClean="0">
                <a:latin typeface="Helvetica" pitchFamily="34" charset="0"/>
              </a:rPr>
              <a:t>Ensure adequate lighting</a:t>
            </a:r>
          </a:p>
          <a:p>
            <a:pPr marL="360000" indent="-360000">
              <a:spcBef>
                <a:spcPts val="1200"/>
              </a:spcBef>
              <a:spcAft>
                <a:spcPts val="1200"/>
              </a:spcAft>
            </a:pPr>
            <a:r>
              <a:rPr lang="en-US" sz="2200" b="1" dirty="0" smtClean="0">
                <a:latin typeface="Helvetica" pitchFamily="34" charset="0"/>
              </a:rPr>
              <a:t>Revamp stock control protocols</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129</a:t>
            </a:fld>
            <a:endParaRPr lang="en-US" dirty="0"/>
          </a:p>
        </p:txBody>
      </p:sp>
      <p:pic>
        <p:nvPicPr>
          <p:cNvPr id="5" name="Picture 4" descr="serverCAHZSZWO.jpg"/>
          <p:cNvPicPr>
            <a:picLocks noChangeAspect="1"/>
          </p:cNvPicPr>
          <p:nvPr/>
        </p:nvPicPr>
        <p:blipFill>
          <a:blip r:embed="rId3" cstate="print"/>
          <a:stretch>
            <a:fillRect/>
          </a:stretch>
        </p:blipFill>
        <p:spPr>
          <a:xfrm>
            <a:off x="6588224" y="2132856"/>
            <a:ext cx="2159000" cy="3251200"/>
          </a:xfrm>
          <a:prstGeom prst="rect">
            <a:avLst/>
          </a:prstGeom>
        </p:spPr>
      </p:pic>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Take action to minimise or remove the risk of food contamination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b="1" dirty="0" smtClean="0">
                <a:latin typeface="Helvetica" pitchFamily="34" charset="0"/>
              </a:rPr>
              <a:t>Discarding out-of-date stock</a:t>
            </a:r>
          </a:p>
          <a:p>
            <a:pPr marL="360000" indent="-360000">
              <a:spcBef>
                <a:spcPts val="1200"/>
              </a:spcBef>
              <a:spcAft>
                <a:spcPts val="1200"/>
              </a:spcAft>
            </a:pPr>
            <a:r>
              <a:rPr lang="en-US" sz="2200" b="1" dirty="0" smtClean="0">
                <a:latin typeface="Helvetica" pitchFamily="34" charset="0"/>
              </a:rPr>
              <a:t>Providing extra storage space</a:t>
            </a:r>
          </a:p>
          <a:p>
            <a:pPr marL="360000" indent="-360000">
              <a:spcBef>
                <a:spcPts val="1200"/>
              </a:spcBef>
              <a:spcAft>
                <a:spcPts val="1200"/>
              </a:spcAft>
            </a:pPr>
            <a:r>
              <a:rPr lang="en-US" sz="2200" b="1" dirty="0" smtClean="0">
                <a:latin typeface="Helvetica" pitchFamily="34" charset="0"/>
              </a:rPr>
              <a:t>Training staff</a:t>
            </a:r>
          </a:p>
          <a:p>
            <a:pPr marL="360000" indent="-360000">
              <a:spcBef>
                <a:spcPts val="1200"/>
              </a:spcBef>
              <a:spcAft>
                <a:spcPts val="1200"/>
              </a:spcAft>
            </a:pPr>
            <a:r>
              <a:rPr lang="en-US" sz="2200" b="1" dirty="0" smtClean="0">
                <a:latin typeface="Helvetica" pitchFamily="34" charset="0"/>
              </a:rPr>
              <a:t>Discarding food with </a:t>
            </a:r>
            <a:br>
              <a:rPr lang="en-US" sz="2200" b="1" dirty="0" smtClean="0">
                <a:latin typeface="Helvetica" pitchFamily="34" charset="0"/>
              </a:rPr>
            </a:br>
            <a:r>
              <a:rPr lang="en-US" sz="2200" b="1" dirty="0" smtClean="0">
                <a:latin typeface="Helvetica" pitchFamily="34" charset="0"/>
              </a:rPr>
              <a:t>damaged packaging</a:t>
            </a:r>
          </a:p>
          <a:p>
            <a:pPr marL="360000" indent="-360000">
              <a:spcBef>
                <a:spcPts val="1200"/>
              </a:spcBef>
              <a:spcAft>
                <a:spcPts val="1200"/>
              </a:spcAft>
            </a:pPr>
            <a:r>
              <a:rPr lang="en-US" sz="2200" b="1" dirty="0" smtClean="0">
                <a:latin typeface="Helvetica" pitchFamily="34" charset="0"/>
              </a:rPr>
              <a:t>Revising cleaning protocols.</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130</a:t>
            </a:fld>
            <a:endParaRPr lang="en-US" dirty="0"/>
          </a:p>
        </p:txBody>
      </p:sp>
      <p:pic>
        <p:nvPicPr>
          <p:cNvPr id="5" name="Picture 4" descr="DSC_0078.jpg"/>
          <p:cNvPicPr>
            <a:picLocks noChangeAspect="1"/>
          </p:cNvPicPr>
          <p:nvPr/>
        </p:nvPicPr>
        <p:blipFill>
          <a:blip r:embed="rId3" cstate="print"/>
          <a:stretch>
            <a:fillRect/>
          </a:stretch>
        </p:blipFill>
        <p:spPr>
          <a:xfrm>
            <a:off x="5076056" y="3212976"/>
            <a:ext cx="4067944" cy="2701368"/>
          </a:xfrm>
          <a:prstGeom prst="rect">
            <a:avLst/>
          </a:prstGeom>
        </p:spPr>
      </p:pic>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Take action to minimise or remove the risk of food contamination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Corrective action for refrigerated food storage problems:</a:t>
            </a:r>
          </a:p>
          <a:p>
            <a:pPr marL="360000" indent="-360000">
              <a:spcBef>
                <a:spcPts val="1200"/>
              </a:spcBef>
              <a:spcAft>
                <a:spcPts val="1200"/>
              </a:spcAft>
            </a:pPr>
            <a:r>
              <a:rPr lang="en-US" sz="2200" b="1" dirty="0" smtClean="0">
                <a:latin typeface="Helvetica" pitchFamily="34" charset="0"/>
              </a:rPr>
              <a:t>Discarding unsafe food</a:t>
            </a:r>
          </a:p>
          <a:p>
            <a:pPr marL="360000" indent="-360000">
              <a:spcBef>
                <a:spcPts val="1200"/>
              </a:spcBef>
              <a:spcAft>
                <a:spcPts val="1200"/>
              </a:spcAft>
            </a:pPr>
            <a:r>
              <a:rPr lang="en-US" sz="2200" b="1" dirty="0" smtClean="0">
                <a:latin typeface="Helvetica" pitchFamily="34" charset="0"/>
              </a:rPr>
              <a:t>Training staff</a:t>
            </a:r>
          </a:p>
          <a:p>
            <a:pPr marL="360000" indent="-360000">
              <a:spcBef>
                <a:spcPts val="1200"/>
              </a:spcBef>
              <a:spcAft>
                <a:spcPts val="1200"/>
              </a:spcAft>
            </a:pPr>
            <a:r>
              <a:rPr lang="en-US" sz="2200" b="1" dirty="0" smtClean="0">
                <a:latin typeface="Helvetica" pitchFamily="34" charset="0"/>
              </a:rPr>
              <a:t>Obtaining professional service to </a:t>
            </a:r>
            <a:br>
              <a:rPr lang="en-US" sz="2200" b="1" dirty="0" smtClean="0">
                <a:latin typeface="Helvetica" pitchFamily="34" charset="0"/>
              </a:rPr>
            </a:br>
            <a:r>
              <a:rPr lang="en-US" sz="2200" b="1" dirty="0" smtClean="0">
                <a:latin typeface="Helvetica" pitchFamily="34" charset="0"/>
              </a:rPr>
              <a:t>equipment</a:t>
            </a:r>
          </a:p>
          <a:p>
            <a:pPr marL="360000" indent="-360000">
              <a:spcBef>
                <a:spcPts val="1200"/>
              </a:spcBef>
              <a:spcAft>
                <a:spcPts val="1200"/>
              </a:spcAft>
            </a:pPr>
            <a:r>
              <a:rPr lang="en-US" sz="2200" b="1" dirty="0" smtClean="0">
                <a:latin typeface="Helvetica" pitchFamily="34" charset="0"/>
              </a:rPr>
              <a:t>Revamping stock rotation and control</a:t>
            </a:r>
          </a:p>
          <a:p>
            <a:pPr marL="360000" indent="-360000">
              <a:spcBef>
                <a:spcPts val="1200"/>
              </a:spcBef>
              <a:spcAft>
                <a:spcPts val="1200"/>
              </a:spcAft>
            </a:pPr>
            <a:r>
              <a:rPr lang="en-US" sz="2200" b="1" dirty="0" smtClean="0">
                <a:latin typeface="Helvetica" pitchFamily="34" charset="0"/>
              </a:rPr>
              <a:t>Revamping cleaning practices.</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131</a:t>
            </a:fld>
            <a:endParaRPr lang="en-US" dirty="0"/>
          </a:p>
        </p:txBody>
      </p:sp>
      <p:pic>
        <p:nvPicPr>
          <p:cNvPr id="5" name="Picture 4" descr="Trial-a-Trade_001.jpg"/>
          <p:cNvPicPr>
            <a:picLocks noChangeAspect="1"/>
          </p:cNvPicPr>
          <p:nvPr/>
        </p:nvPicPr>
        <p:blipFill>
          <a:blip r:embed="rId3" cstate="print"/>
          <a:stretch>
            <a:fillRect/>
          </a:stretch>
        </p:blipFill>
        <p:spPr>
          <a:xfrm>
            <a:off x="6804248" y="2204864"/>
            <a:ext cx="1864208" cy="2799046"/>
          </a:xfrm>
          <a:prstGeom prst="rect">
            <a:avLst/>
          </a:prstGeom>
        </p:spPr>
      </p:pic>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Take action to minimise or remove the risk of food contamination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Corrective action for frozen food storage problems:</a:t>
            </a:r>
          </a:p>
          <a:p>
            <a:pPr marL="360000" indent="-360000">
              <a:spcBef>
                <a:spcPts val="1200"/>
              </a:spcBef>
              <a:spcAft>
                <a:spcPts val="1200"/>
              </a:spcAft>
            </a:pPr>
            <a:r>
              <a:rPr lang="en-US" sz="2200" b="1" dirty="0" smtClean="0">
                <a:latin typeface="Helvetica" pitchFamily="34" charset="0"/>
              </a:rPr>
              <a:t>If food is below 5</a:t>
            </a:r>
            <a:r>
              <a:rPr lang="en-AU" sz="2200" b="1" dirty="0" smtClean="0">
                <a:latin typeface="Helvetica" pitchFamily="34" charset="0"/>
              </a:rPr>
              <a:t>°C – treat as refrigerated food</a:t>
            </a:r>
            <a:endParaRPr lang="en-US" sz="2200" b="1" dirty="0" smtClean="0">
              <a:latin typeface="Helvetica" pitchFamily="34" charset="0"/>
            </a:endParaRPr>
          </a:p>
          <a:p>
            <a:pPr marL="360000" indent="-360000">
              <a:spcBef>
                <a:spcPts val="1200"/>
              </a:spcBef>
              <a:spcAft>
                <a:spcPts val="1200"/>
              </a:spcAft>
            </a:pPr>
            <a:r>
              <a:rPr lang="en-US" sz="2200" b="1" dirty="0" smtClean="0">
                <a:latin typeface="Helvetica" pitchFamily="34" charset="0"/>
              </a:rPr>
              <a:t>If at or above 5</a:t>
            </a:r>
            <a:r>
              <a:rPr lang="en-AU" sz="2200" b="1" dirty="0" smtClean="0">
                <a:latin typeface="Helvetica" pitchFamily="34" charset="0"/>
              </a:rPr>
              <a:t>°C</a:t>
            </a:r>
            <a:r>
              <a:rPr lang="en-US" sz="2200" b="1" dirty="0" smtClean="0">
                <a:latin typeface="Helvetica" pitchFamily="34" charset="0"/>
              </a:rPr>
              <a:t> – use within 4 hours</a:t>
            </a:r>
          </a:p>
          <a:p>
            <a:pPr marL="360000" indent="-360000">
              <a:spcBef>
                <a:spcPts val="1200"/>
              </a:spcBef>
              <a:spcAft>
                <a:spcPts val="1200"/>
              </a:spcAft>
            </a:pPr>
            <a:r>
              <a:rPr lang="en-US" sz="2200" b="1" dirty="0" smtClean="0">
                <a:latin typeface="Helvetica" pitchFamily="34" charset="0"/>
              </a:rPr>
              <a:t>If at or above 5</a:t>
            </a:r>
            <a:r>
              <a:rPr lang="en-AU" sz="2200" b="1" dirty="0" smtClean="0">
                <a:latin typeface="Helvetica" pitchFamily="34" charset="0"/>
              </a:rPr>
              <a:t>°C</a:t>
            </a:r>
            <a:r>
              <a:rPr lang="en-US" sz="2200" b="1" dirty="0" smtClean="0">
                <a:latin typeface="Helvetica" pitchFamily="34" charset="0"/>
              </a:rPr>
              <a:t> for 4 hours+ – throw it out</a:t>
            </a:r>
          </a:p>
          <a:p>
            <a:pPr marL="360000" indent="-360000">
              <a:spcBef>
                <a:spcPts val="1200"/>
              </a:spcBef>
              <a:spcAft>
                <a:spcPts val="1200"/>
              </a:spcAft>
            </a:pPr>
            <a:r>
              <a:rPr lang="en-US" sz="2200" b="1" dirty="0" smtClean="0">
                <a:latin typeface="Helvetica" pitchFamily="34" charset="0"/>
              </a:rPr>
              <a:t>If unsure how long it has been at or </a:t>
            </a:r>
            <a:br>
              <a:rPr lang="en-US" sz="2200" b="1" dirty="0" smtClean="0">
                <a:latin typeface="Helvetica" pitchFamily="34" charset="0"/>
              </a:rPr>
            </a:br>
            <a:r>
              <a:rPr lang="en-US" sz="2200" b="1" dirty="0" smtClean="0">
                <a:latin typeface="Helvetica" pitchFamily="34" charset="0"/>
              </a:rPr>
              <a:t>above 5</a:t>
            </a:r>
            <a:r>
              <a:rPr lang="en-AU" sz="2200" b="1" dirty="0" smtClean="0">
                <a:latin typeface="Helvetica" pitchFamily="34" charset="0"/>
              </a:rPr>
              <a:t>°C</a:t>
            </a:r>
            <a:r>
              <a:rPr lang="en-US" sz="2200" b="1" dirty="0" smtClean="0">
                <a:latin typeface="Helvetica" pitchFamily="34" charset="0"/>
              </a:rPr>
              <a:t> – throw it out</a:t>
            </a:r>
          </a:p>
          <a:p>
            <a:pPr marL="360000" indent="-360000">
              <a:spcBef>
                <a:spcPts val="1200"/>
              </a:spcBef>
              <a:spcAft>
                <a:spcPts val="1200"/>
              </a:spcAft>
              <a:buNone/>
            </a:pPr>
            <a:r>
              <a:rPr lang="en-US" sz="2200" b="1"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132</a:t>
            </a:fld>
            <a:endParaRPr lang="en-US" dirty="0"/>
          </a:p>
        </p:txBody>
      </p:sp>
      <p:pic>
        <p:nvPicPr>
          <p:cNvPr id="5" name="Picture 4" descr="20220.jpg"/>
          <p:cNvPicPr>
            <a:picLocks noChangeAspect="1"/>
          </p:cNvPicPr>
          <p:nvPr/>
        </p:nvPicPr>
        <p:blipFill>
          <a:blip r:embed="rId3" cstate="print"/>
          <a:stretch>
            <a:fillRect/>
          </a:stretch>
        </p:blipFill>
        <p:spPr>
          <a:xfrm>
            <a:off x="5940152" y="4149080"/>
            <a:ext cx="2638484" cy="1757271"/>
          </a:xfrm>
          <a:prstGeom prst="rect">
            <a:avLst/>
          </a:prstGeom>
        </p:spPr>
      </p:pic>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Take action to minimise or remove the risk of food contamination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01166"/>
          </a:xfrm>
        </p:spPr>
        <p:txBody>
          <a:bodyPr>
            <a:normAutofit/>
          </a:bodyPr>
          <a:lstStyle/>
          <a:p>
            <a:pPr marL="360000" indent="-360000">
              <a:spcBef>
                <a:spcPts val="1200"/>
              </a:spcBef>
              <a:spcAft>
                <a:spcPts val="1200"/>
              </a:spcAft>
            </a:pPr>
            <a:r>
              <a:rPr lang="en-US" sz="2200" b="1" dirty="0" smtClean="0">
                <a:latin typeface="Helvetica" pitchFamily="34" charset="0"/>
              </a:rPr>
              <a:t>Discarding all unsafe food:</a:t>
            </a:r>
          </a:p>
          <a:p>
            <a:pPr marL="720000" indent="-360000">
              <a:spcBef>
                <a:spcPts val="12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Exceeding 2/4 rule</a:t>
            </a:r>
          </a:p>
          <a:p>
            <a:pPr marL="720000" indent="-360000">
              <a:spcBef>
                <a:spcPts val="12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Beyond use-by date</a:t>
            </a:r>
          </a:p>
          <a:p>
            <a:pPr marL="720000" indent="-360000">
              <a:spcBef>
                <a:spcPts val="12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Cross contamination</a:t>
            </a:r>
          </a:p>
          <a:p>
            <a:pPr marL="360000" indent="-360000">
              <a:spcBef>
                <a:spcPts val="1200"/>
              </a:spcBef>
              <a:spcAft>
                <a:spcPts val="1200"/>
              </a:spcAft>
            </a:pPr>
            <a:r>
              <a:rPr lang="en-US" sz="2200" b="1" dirty="0" smtClean="0">
                <a:latin typeface="Helvetica" pitchFamily="34" charset="0"/>
              </a:rPr>
              <a:t>Training staff</a:t>
            </a:r>
          </a:p>
          <a:p>
            <a:pPr marL="360000" indent="-360000">
              <a:spcBef>
                <a:spcPts val="1200"/>
              </a:spcBef>
              <a:spcAft>
                <a:spcPts val="1200"/>
              </a:spcAft>
            </a:pPr>
            <a:r>
              <a:rPr lang="en-US" sz="2200" b="1" dirty="0" smtClean="0">
                <a:latin typeface="Helvetica" pitchFamily="34" charset="0"/>
              </a:rPr>
              <a:t>Calling in refrigeration mechanic</a:t>
            </a:r>
          </a:p>
          <a:p>
            <a:pPr marL="360000" indent="-360000">
              <a:spcBef>
                <a:spcPts val="1200"/>
              </a:spcBef>
              <a:spcAft>
                <a:spcPts val="1200"/>
              </a:spcAft>
            </a:pPr>
            <a:r>
              <a:rPr lang="en-US" sz="2200" b="1" dirty="0" smtClean="0">
                <a:latin typeface="Helvetica" pitchFamily="34" charset="0"/>
              </a:rPr>
              <a:t>Revamping cleaning and stock rotation and control.</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133</a:t>
            </a:fld>
            <a:endParaRPr lang="en-US" dirty="0"/>
          </a:p>
        </p:txBody>
      </p:sp>
      <p:pic>
        <p:nvPicPr>
          <p:cNvPr id="5" name="Picture 4" descr="DSCF1664-1.JPG"/>
          <p:cNvPicPr>
            <a:picLocks/>
          </p:cNvPicPr>
          <p:nvPr/>
        </p:nvPicPr>
        <p:blipFill>
          <a:blip r:embed="rId3" cstate="print"/>
          <a:stretch>
            <a:fillRect/>
          </a:stretch>
        </p:blipFill>
        <p:spPr>
          <a:xfrm>
            <a:off x="5796136" y="2780928"/>
            <a:ext cx="2660789" cy="1766930"/>
          </a:xfrm>
          <a:prstGeom prst="rect">
            <a:avLst/>
          </a:prstGeom>
        </p:spPr>
      </p:pic>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Take action to minimise or remove the risk of food contamination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889530" cy="4872604"/>
          </a:xfrm>
        </p:spPr>
        <p:txBody>
          <a:bodyPr>
            <a:normAutofit lnSpcReduction="10000"/>
          </a:bodyPr>
          <a:lstStyle/>
          <a:p>
            <a:pPr marL="0" indent="0">
              <a:spcBef>
                <a:spcPts val="1200"/>
              </a:spcBef>
              <a:spcAft>
                <a:spcPts val="1200"/>
              </a:spcAft>
              <a:buNone/>
            </a:pPr>
            <a:r>
              <a:rPr lang="en-US" sz="2200" b="1" dirty="0" smtClean="0">
                <a:latin typeface="Helvetica" pitchFamily="34" charset="0"/>
              </a:rPr>
              <a:t>Corrective action for ‘thawing of frozen food’ problems:</a:t>
            </a:r>
          </a:p>
          <a:p>
            <a:pPr marL="360000" indent="-360000">
              <a:spcBef>
                <a:spcPts val="1200"/>
              </a:spcBef>
              <a:spcAft>
                <a:spcPts val="1200"/>
              </a:spcAft>
            </a:pPr>
            <a:r>
              <a:rPr lang="en-US" sz="2200" b="1" dirty="0" smtClean="0">
                <a:latin typeface="Helvetica" pitchFamily="34" charset="0"/>
              </a:rPr>
              <a:t>Training staff:</a:t>
            </a:r>
          </a:p>
          <a:p>
            <a:pPr marL="720000" indent="-360000">
              <a:spcBef>
                <a:spcPts val="12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To fully thaw before cooking</a:t>
            </a:r>
          </a:p>
          <a:p>
            <a:pPr marL="720000" indent="-360000">
              <a:spcBef>
                <a:spcPts val="12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In correct thawing practices</a:t>
            </a:r>
          </a:p>
          <a:p>
            <a:pPr marL="720000" indent="-360000">
              <a:spcBef>
                <a:spcPts val="12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Not to re-freeze thawed items</a:t>
            </a:r>
          </a:p>
          <a:p>
            <a:pPr marL="360000" indent="-360000">
              <a:spcBef>
                <a:spcPts val="1200"/>
              </a:spcBef>
              <a:spcAft>
                <a:spcPts val="1200"/>
              </a:spcAft>
            </a:pPr>
            <a:r>
              <a:rPr lang="en-US" sz="2200" b="1" dirty="0" smtClean="0">
                <a:latin typeface="Helvetica" pitchFamily="34" charset="0"/>
              </a:rPr>
              <a:t>Discard items exceeding 2/4 rule</a:t>
            </a:r>
          </a:p>
          <a:p>
            <a:pPr marL="360000" indent="-360000">
              <a:spcBef>
                <a:spcPts val="1200"/>
              </a:spcBef>
              <a:spcAft>
                <a:spcPts val="1200"/>
              </a:spcAft>
            </a:pPr>
            <a:r>
              <a:rPr lang="en-US" sz="2200" b="1" dirty="0" smtClean="0">
                <a:latin typeface="Helvetica" pitchFamily="34" charset="0"/>
              </a:rPr>
              <a:t>Throw out uncovered food</a:t>
            </a:r>
          </a:p>
          <a:p>
            <a:pPr marL="360000" indent="-360000">
              <a:spcBef>
                <a:spcPts val="1200"/>
              </a:spcBef>
              <a:spcAft>
                <a:spcPts val="1200"/>
              </a:spcAft>
            </a:pPr>
            <a:r>
              <a:rPr lang="en-US" sz="2200" b="1" dirty="0" smtClean="0">
                <a:latin typeface="Helvetica" pitchFamily="34" charset="0"/>
              </a:rPr>
              <a:t>Discard re-frozen items.</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134</a:t>
            </a:fld>
            <a:endParaRPr lang="en-US" dirty="0"/>
          </a:p>
        </p:txBody>
      </p:sp>
      <p:pic>
        <p:nvPicPr>
          <p:cNvPr id="5" name="Picture 4" descr="_MG_9518.jpg"/>
          <p:cNvPicPr>
            <a:picLocks noChangeAspect="1"/>
          </p:cNvPicPr>
          <p:nvPr/>
        </p:nvPicPr>
        <p:blipFill>
          <a:blip r:embed="rId3" cstate="print"/>
          <a:stretch>
            <a:fillRect/>
          </a:stretch>
        </p:blipFill>
        <p:spPr>
          <a:xfrm>
            <a:off x="6300192" y="2708920"/>
            <a:ext cx="2019785" cy="3032639"/>
          </a:xfrm>
          <a:prstGeom prst="rect">
            <a:avLst/>
          </a:prstGeom>
        </p:spPr>
      </p:pic>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Take action to minimise or remove the risk of food contamination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Corrective action for food preparation problems:</a:t>
            </a:r>
          </a:p>
          <a:p>
            <a:pPr marL="360000" indent="-360000">
              <a:spcBef>
                <a:spcPts val="600"/>
              </a:spcBef>
              <a:spcAft>
                <a:spcPts val="1200"/>
              </a:spcAft>
            </a:pPr>
            <a:r>
              <a:rPr lang="en-US" sz="2200" b="1" dirty="0" smtClean="0">
                <a:latin typeface="Helvetica" pitchFamily="34" charset="0"/>
              </a:rPr>
              <a:t>Providing enough time and resources to do the job</a:t>
            </a:r>
          </a:p>
          <a:p>
            <a:pPr marL="360000" indent="-360000">
              <a:spcBef>
                <a:spcPts val="600"/>
              </a:spcBef>
              <a:spcAft>
                <a:spcPts val="1200"/>
              </a:spcAft>
            </a:pPr>
            <a:r>
              <a:rPr lang="en-US" sz="2200" b="1" dirty="0" smtClean="0">
                <a:latin typeface="Helvetica" pitchFamily="34" charset="0"/>
              </a:rPr>
              <a:t>Erecting workplace signage</a:t>
            </a:r>
          </a:p>
          <a:p>
            <a:pPr marL="360000" indent="-360000">
              <a:spcBef>
                <a:spcPts val="600"/>
              </a:spcBef>
              <a:spcAft>
                <a:spcPts val="1200"/>
              </a:spcAft>
            </a:pPr>
            <a:r>
              <a:rPr lang="en-US" sz="2200" b="1" dirty="0" smtClean="0">
                <a:latin typeface="Helvetica" pitchFamily="34" charset="0"/>
              </a:rPr>
              <a:t>Revamping SOPs – including stock rotation and control</a:t>
            </a:r>
          </a:p>
          <a:p>
            <a:pPr marL="360000" indent="-360000">
              <a:spcBef>
                <a:spcPts val="600"/>
              </a:spcBef>
              <a:spcAft>
                <a:spcPts val="1200"/>
              </a:spcAft>
            </a:pPr>
            <a:r>
              <a:rPr lang="en-US" sz="2200" b="1" dirty="0" smtClean="0">
                <a:latin typeface="Helvetica" pitchFamily="34" charset="0"/>
              </a:rPr>
              <a:t>Applying the 2/4 rule</a:t>
            </a:r>
          </a:p>
          <a:p>
            <a:pPr marL="360000" indent="-360000">
              <a:spcBef>
                <a:spcPts val="600"/>
              </a:spcBef>
              <a:spcAft>
                <a:spcPts val="1200"/>
              </a:spcAft>
            </a:pPr>
            <a:r>
              <a:rPr lang="en-US" sz="2200" b="1" dirty="0" smtClean="0">
                <a:latin typeface="Helvetica" pitchFamily="34" charset="0"/>
              </a:rPr>
              <a:t>Changing clothes regularly</a:t>
            </a:r>
          </a:p>
          <a:p>
            <a:pPr marL="360000" indent="-360000">
              <a:spcBef>
                <a:spcPts val="600"/>
              </a:spcBef>
              <a:spcAft>
                <a:spcPts val="1200"/>
              </a:spcAft>
            </a:pPr>
            <a:r>
              <a:rPr lang="en-US" sz="2200" b="1" dirty="0" smtClean="0">
                <a:latin typeface="Helvetica" pitchFamily="34" charset="0"/>
              </a:rPr>
              <a:t>Monitoring staff practice, and </a:t>
            </a:r>
            <a:br>
              <a:rPr lang="en-US" sz="2200" b="1" dirty="0" smtClean="0">
                <a:latin typeface="Helvetica" pitchFamily="34" charset="0"/>
              </a:rPr>
            </a:br>
            <a:r>
              <a:rPr lang="en-US" sz="2200" b="1" dirty="0" smtClean="0">
                <a:latin typeface="Helvetica" pitchFamily="34" charset="0"/>
              </a:rPr>
              <a:t>re-training.</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135</a:t>
            </a:fld>
            <a:endParaRPr lang="en-US" dirty="0"/>
          </a:p>
        </p:txBody>
      </p:sp>
      <p:pic>
        <p:nvPicPr>
          <p:cNvPr id="5" name="Picture 4" descr="DSC_0076.jpg"/>
          <p:cNvPicPr>
            <a:picLocks noChangeAspect="1"/>
          </p:cNvPicPr>
          <p:nvPr/>
        </p:nvPicPr>
        <p:blipFill>
          <a:blip r:embed="rId3" cstate="print"/>
          <a:stretch>
            <a:fillRect/>
          </a:stretch>
        </p:blipFill>
        <p:spPr>
          <a:xfrm>
            <a:off x="5940152" y="4123764"/>
            <a:ext cx="2661815" cy="1767611"/>
          </a:xfrm>
          <a:prstGeom prst="rect">
            <a:avLst/>
          </a:prstGeom>
        </p:spPr>
      </p:pic>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Take action to minimise or remove the risk of food contamination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Corrective action for food cooking problems:</a:t>
            </a:r>
          </a:p>
          <a:p>
            <a:pPr marL="360000" indent="-360000">
              <a:spcBef>
                <a:spcPts val="1200"/>
              </a:spcBef>
              <a:spcAft>
                <a:spcPts val="1200"/>
              </a:spcAft>
            </a:pPr>
            <a:r>
              <a:rPr lang="en-US" sz="2200" b="1" dirty="0" smtClean="0">
                <a:latin typeface="Helvetica" pitchFamily="34" charset="0"/>
              </a:rPr>
              <a:t>Ensuring food reaches </a:t>
            </a:r>
            <a:r>
              <a:rPr lang="en-AU" sz="2200" b="1" dirty="0" smtClean="0">
                <a:latin typeface="Helvetica" pitchFamily="34" charset="0"/>
              </a:rPr>
              <a:t>75°C or above </a:t>
            </a:r>
            <a:endParaRPr lang="en-US" sz="2200" b="1" dirty="0" smtClean="0">
              <a:latin typeface="Helvetica" pitchFamily="34" charset="0"/>
            </a:endParaRPr>
          </a:p>
          <a:p>
            <a:pPr marL="360000" indent="-360000">
              <a:spcBef>
                <a:spcPts val="1200"/>
              </a:spcBef>
              <a:spcAft>
                <a:spcPts val="1200"/>
              </a:spcAft>
            </a:pPr>
            <a:r>
              <a:rPr lang="en-US" sz="2200" b="1" dirty="0" smtClean="0">
                <a:latin typeface="Helvetica" pitchFamily="34" charset="0"/>
              </a:rPr>
              <a:t>Ensuring wet dishes reach </a:t>
            </a:r>
            <a:r>
              <a:rPr lang="en-AU" sz="2200" b="1" dirty="0" smtClean="0">
                <a:latin typeface="Helvetica" pitchFamily="34" charset="0"/>
              </a:rPr>
              <a:t>75°C or above</a:t>
            </a:r>
          </a:p>
          <a:p>
            <a:pPr marL="360000" indent="-360000">
              <a:spcBef>
                <a:spcPts val="1200"/>
              </a:spcBef>
              <a:spcAft>
                <a:spcPts val="1200"/>
              </a:spcAft>
            </a:pPr>
            <a:r>
              <a:rPr lang="en-AU" sz="2200" b="1" dirty="0" smtClean="0">
                <a:latin typeface="Helvetica" pitchFamily="34" charset="0"/>
              </a:rPr>
              <a:t>Using workplace signs to remind staff about safe practice</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136</a:t>
            </a:fld>
            <a:endParaRPr lang="en-US" dirty="0"/>
          </a:p>
        </p:txBody>
      </p:sp>
      <p:pic>
        <p:nvPicPr>
          <p:cNvPr id="5" name="Picture 4" descr="movida_004.jpg"/>
          <p:cNvPicPr>
            <a:picLocks noChangeAspect="1"/>
          </p:cNvPicPr>
          <p:nvPr/>
        </p:nvPicPr>
        <p:blipFill>
          <a:blip r:embed="rId3" cstate="print"/>
          <a:stretch>
            <a:fillRect/>
          </a:stretch>
        </p:blipFill>
        <p:spPr>
          <a:xfrm>
            <a:off x="5939478" y="4293096"/>
            <a:ext cx="2864617" cy="1915713"/>
          </a:xfrm>
          <a:prstGeom prst="rect">
            <a:avLst/>
          </a:prstGeom>
        </p:spPr>
      </p:pic>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Take action to minimise or remove the risk of food contamination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b="1" dirty="0" smtClean="0">
                <a:latin typeface="Helvetica" pitchFamily="34" charset="0"/>
              </a:rPr>
              <a:t>Recording processing of items on a regular basis</a:t>
            </a:r>
          </a:p>
          <a:p>
            <a:pPr marL="360000" indent="-360000">
              <a:spcBef>
                <a:spcPts val="1200"/>
              </a:spcBef>
              <a:spcAft>
                <a:spcPts val="1200"/>
              </a:spcAft>
            </a:pPr>
            <a:r>
              <a:rPr lang="en-US" sz="2200" b="1" dirty="0" smtClean="0">
                <a:latin typeface="Helvetica" pitchFamily="34" charset="0"/>
              </a:rPr>
              <a:t>Not placing tasting spoons into food after tasting with them</a:t>
            </a:r>
          </a:p>
          <a:p>
            <a:pPr marL="360000" indent="-360000">
              <a:spcBef>
                <a:spcPts val="1200"/>
              </a:spcBef>
              <a:spcAft>
                <a:spcPts val="1200"/>
              </a:spcAft>
            </a:pPr>
            <a:r>
              <a:rPr lang="en-US" sz="2200" b="1" dirty="0" smtClean="0">
                <a:latin typeface="Helvetica" pitchFamily="34" charset="0"/>
              </a:rPr>
              <a:t>Covering food</a:t>
            </a:r>
          </a:p>
          <a:p>
            <a:pPr marL="360000" indent="-360000">
              <a:spcBef>
                <a:spcPts val="1200"/>
              </a:spcBef>
              <a:spcAft>
                <a:spcPts val="1200"/>
              </a:spcAft>
            </a:pPr>
            <a:r>
              <a:rPr lang="en-US" sz="2200" b="1" dirty="0" smtClean="0">
                <a:latin typeface="Helvetica" pitchFamily="34" charset="0"/>
              </a:rPr>
              <a:t>Cleaning &amp; sanitising equipment</a:t>
            </a:r>
          </a:p>
          <a:p>
            <a:pPr marL="360000" indent="-360000">
              <a:spcBef>
                <a:spcPts val="1200"/>
              </a:spcBef>
              <a:spcAft>
                <a:spcPts val="1200"/>
              </a:spcAft>
            </a:pPr>
            <a:r>
              <a:rPr lang="en-US" sz="2200" b="1" dirty="0" smtClean="0">
                <a:latin typeface="Helvetica" pitchFamily="34" charset="0"/>
              </a:rPr>
              <a:t>Keeping food in TDZ for minimum </a:t>
            </a:r>
            <a:br>
              <a:rPr lang="en-US" sz="2200" b="1" dirty="0" smtClean="0">
                <a:latin typeface="Helvetica" pitchFamily="34" charset="0"/>
              </a:rPr>
            </a:br>
            <a:r>
              <a:rPr lang="en-US" sz="2200" b="1" dirty="0" smtClean="0">
                <a:latin typeface="Helvetica" pitchFamily="34" charset="0"/>
              </a:rPr>
              <a:t>time.</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137</a:t>
            </a:fld>
            <a:endParaRPr lang="en-US" dirty="0"/>
          </a:p>
        </p:txBody>
      </p:sp>
      <p:pic>
        <p:nvPicPr>
          <p:cNvPr id="8" name="Picture 7" descr="DSCF1659.JPG"/>
          <p:cNvPicPr>
            <a:picLocks noChangeAspect="1"/>
          </p:cNvPicPr>
          <p:nvPr/>
        </p:nvPicPr>
        <p:blipFill>
          <a:blip r:embed="rId3" cstate="print"/>
          <a:stretch>
            <a:fillRect/>
          </a:stretch>
        </p:blipFill>
        <p:spPr>
          <a:xfrm>
            <a:off x="6084168" y="3429000"/>
            <a:ext cx="2483768" cy="1984104"/>
          </a:xfrm>
          <a:prstGeom prst="rect">
            <a:avLst/>
          </a:prstGeom>
        </p:spPr>
      </p:pic>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Take action to minimise or remove the risk of food contamination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Corrective action for cooling of hot food problems:</a:t>
            </a:r>
          </a:p>
          <a:p>
            <a:pPr marL="360000" indent="-360000">
              <a:spcBef>
                <a:spcPts val="1200"/>
              </a:spcBef>
              <a:spcAft>
                <a:spcPts val="1200"/>
              </a:spcAft>
            </a:pPr>
            <a:r>
              <a:rPr lang="en-US" sz="2200" b="1" dirty="0" smtClean="0">
                <a:latin typeface="Helvetica" pitchFamily="34" charset="0"/>
              </a:rPr>
              <a:t>Implementing 2/4 rule</a:t>
            </a:r>
          </a:p>
          <a:p>
            <a:pPr marL="360000" indent="-360000">
              <a:spcBef>
                <a:spcPts val="1200"/>
              </a:spcBef>
              <a:spcAft>
                <a:spcPts val="1200"/>
              </a:spcAft>
            </a:pPr>
            <a:r>
              <a:rPr lang="en-US" sz="2200" b="1" dirty="0" smtClean="0">
                <a:latin typeface="Helvetica" pitchFamily="34" charset="0"/>
              </a:rPr>
              <a:t>Speed up the cooling process</a:t>
            </a:r>
          </a:p>
          <a:p>
            <a:pPr marL="360000" indent="-360000">
              <a:spcBef>
                <a:spcPts val="1200"/>
              </a:spcBef>
              <a:spcAft>
                <a:spcPts val="1200"/>
              </a:spcAft>
            </a:pPr>
            <a:r>
              <a:rPr lang="en-US" sz="2200" b="1" dirty="0" smtClean="0">
                <a:latin typeface="Helvetica" pitchFamily="34" charset="0"/>
              </a:rPr>
              <a:t>Stirring food</a:t>
            </a:r>
          </a:p>
          <a:p>
            <a:pPr marL="360000" indent="-360000">
              <a:spcBef>
                <a:spcPts val="1200"/>
              </a:spcBef>
              <a:spcAft>
                <a:spcPts val="1200"/>
              </a:spcAft>
            </a:pPr>
            <a:r>
              <a:rPr lang="en-US" sz="2200" b="1" dirty="0" smtClean="0">
                <a:latin typeface="Helvetica" pitchFamily="34" charset="0"/>
              </a:rPr>
              <a:t>Covering cooling food</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138</a:t>
            </a:fld>
            <a:endParaRPr lang="en-US" dirty="0"/>
          </a:p>
        </p:txBody>
      </p:sp>
      <p:pic>
        <p:nvPicPr>
          <p:cNvPr id="7" name="Picture 6" descr="beef CC jwalsh.jpg"/>
          <p:cNvPicPr>
            <a:picLocks noChangeAspect="1"/>
          </p:cNvPicPr>
          <p:nvPr/>
        </p:nvPicPr>
        <p:blipFill>
          <a:blip r:embed="rId3" cstate="print"/>
          <a:stretch>
            <a:fillRect/>
          </a:stretch>
        </p:blipFill>
        <p:spPr>
          <a:xfrm>
            <a:off x="6084168" y="2492896"/>
            <a:ext cx="2175706" cy="2900941"/>
          </a:xfrm>
          <a:prstGeom prst="rect">
            <a:avLst/>
          </a:prstGeom>
        </p:spPr>
      </p:pic>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Take action to minimise or remove the risk of food contamination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b="1" dirty="0" smtClean="0">
                <a:latin typeface="Helvetica" pitchFamily="34" charset="0"/>
              </a:rPr>
              <a:t>Using timing clocks or alarms</a:t>
            </a:r>
          </a:p>
          <a:p>
            <a:pPr marL="360000" indent="-360000">
              <a:spcBef>
                <a:spcPts val="1200"/>
              </a:spcBef>
              <a:spcAft>
                <a:spcPts val="1200"/>
              </a:spcAft>
            </a:pPr>
            <a:r>
              <a:rPr lang="en-US" sz="2200" b="1" dirty="0" smtClean="0">
                <a:latin typeface="Helvetica" pitchFamily="34" charset="0"/>
              </a:rPr>
              <a:t>Notifying others about cooling food</a:t>
            </a:r>
          </a:p>
          <a:p>
            <a:pPr marL="360000" indent="-360000">
              <a:spcBef>
                <a:spcPts val="1200"/>
              </a:spcBef>
              <a:spcAft>
                <a:spcPts val="1200"/>
              </a:spcAft>
            </a:pPr>
            <a:r>
              <a:rPr lang="en-US" sz="2200" b="1" dirty="0" smtClean="0">
                <a:latin typeface="Helvetica" pitchFamily="34" charset="0"/>
              </a:rPr>
              <a:t>Verifying and calibrating thermometers</a:t>
            </a:r>
          </a:p>
          <a:p>
            <a:pPr marL="360000" indent="-360000">
              <a:spcBef>
                <a:spcPts val="1200"/>
              </a:spcBef>
              <a:spcAft>
                <a:spcPts val="1200"/>
              </a:spcAft>
            </a:pPr>
            <a:r>
              <a:rPr lang="en-US" sz="2200" b="1" dirty="0" smtClean="0">
                <a:latin typeface="Helvetica" pitchFamily="34" charset="0"/>
              </a:rPr>
              <a:t>Training staff</a:t>
            </a:r>
          </a:p>
          <a:p>
            <a:pPr marL="360000" indent="-360000">
              <a:spcBef>
                <a:spcPts val="1200"/>
              </a:spcBef>
              <a:spcAft>
                <a:spcPts val="1200"/>
              </a:spcAft>
            </a:pPr>
            <a:r>
              <a:rPr lang="en-US" sz="2200" b="1" dirty="0" smtClean="0">
                <a:latin typeface="Helvetica" pitchFamily="34" charset="0"/>
              </a:rPr>
              <a:t>Using workplace signage.</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139</a:t>
            </a:fld>
            <a:endParaRPr lang="en-US" dirty="0"/>
          </a:p>
        </p:txBody>
      </p:sp>
      <p:pic>
        <p:nvPicPr>
          <p:cNvPr id="1026" name="Picture 2" descr="C:\Documents and Settings\maiv\Local Settings\Temporary Internet Files\Content.IE5\XIGBUS4Y\MP900422230[1].jpg"/>
          <p:cNvPicPr>
            <a:picLocks noChangeAspect="1" noChangeArrowheads="1"/>
          </p:cNvPicPr>
          <p:nvPr/>
        </p:nvPicPr>
        <p:blipFill>
          <a:blip r:embed="rId3" cstate="print"/>
          <a:stretch>
            <a:fillRect/>
          </a:stretch>
        </p:blipFill>
        <p:spPr bwMode="auto">
          <a:xfrm>
            <a:off x="5940152" y="3573016"/>
            <a:ext cx="2406367" cy="1850466"/>
          </a:xfrm>
          <a:prstGeom prst="rect">
            <a:avLst/>
          </a:prstGeom>
          <a:noFill/>
        </p:spPr>
      </p:pic>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Take action to minimise or remove the risk of food contamination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Corrective action for storing and holding hot food problems:</a:t>
            </a:r>
          </a:p>
          <a:p>
            <a:pPr marL="360000" indent="-360000">
              <a:spcBef>
                <a:spcPts val="1200"/>
              </a:spcBef>
              <a:spcAft>
                <a:spcPts val="1200"/>
              </a:spcAft>
            </a:pPr>
            <a:r>
              <a:rPr lang="en-US" sz="2200" b="1" dirty="0" smtClean="0">
                <a:latin typeface="Helvetica" pitchFamily="34" charset="0"/>
              </a:rPr>
              <a:t>Training staff</a:t>
            </a:r>
          </a:p>
          <a:p>
            <a:pPr marL="360000" indent="-360000">
              <a:spcBef>
                <a:spcPts val="1200"/>
              </a:spcBef>
              <a:spcAft>
                <a:spcPts val="1200"/>
              </a:spcAft>
            </a:pPr>
            <a:r>
              <a:rPr lang="en-US" sz="2200" b="1" dirty="0" smtClean="0">
                <a:latin typeface="Helvetica" pitchFamily="34" charset="0"/>
              </a:rPr>
              <a:t>Revamping SOPs</a:t>
            </a:r>
          </a:p>
          <a:p>
            <a:pPr marL="360000" indent="-360000">
              <a:spcBef>
                <a:spcPts val="1200"/>
              </a:spcBef>
              <a:spcAft>
                <a:spcPts val="1200"/>
              </a:spcAft>
            </a:pPr>
            <a:r>
              <a:rPr lang="en-US" sz="2200" b="1" dirty="0" smtClean="0">
                <a:latin typeface="Helvetica" pitchFamily="34" charset="0"/>
              </a:rPr>
              <a:t>Checking operation of equipment</a:t>
            </a:r>
          </a:p>
          <a:p>
            <a:pPr marL="360000" indent="-360000">
              <a:spcBef>
                <a:spcPts val="1200"/>
              </a:spcBef>
              <a:spcAft>
                <a:spcPts val="1200"/>
              </a:spcAft>
            </a:pPr>
            <a:r>
              <a:rPr lang="en-US" sz="2200" b="1" dirty="0" smtClean="0">
                <a:latin typeface="Helvetica" pitchFamily="34" charset="0"/>
              </a:rPr>
              <a:t>Pre-heating food prior to </a:t>
            </a:r>
            <a:br>
              <a:rPr lang="en-US" sz="2200" b="1" dirty="0" smtClean="0">
                <a:latin typeface="Helvetica" pitchFamily="34" charset="0"/>
              </a:rPr>
            </a:br>
            <a:r>
              <a:rPr lang="en-US" sz="2200" b="1" dirty="0" smtClean="0">
                <a:latin typeface="Helvetica" pitchFamily="34" charset="0"/>
              </a:rPr>
              <a:t>holding/displaying it</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140</a:t>
            </a:fld>
            <a:endParaRPr lang="en-US" dirty="0"/>
          </a:p>
        </p:txBody>
      </p:sp>
      <p:pic>
        <p:nvPicPr>
          <p:cNvPr id="5" name="Picture 4" descr="iStock_000002364450Medium.jpg"/>
          <p:cNvPicPr>
            <a:picLocks noChangeAspect="1"/>
          </p:cNvPicPr>
          <p:nvPr/>
        </p:nvPicPr>
        <p:blipFill>
          <a:blip r:embed="rId3" cstate="print"/>
          <a:stretch>
            <a:fillRect/>
          </a:stretch>
        </p:blipFill>
        <p:spPr>
          <a:xfrm>
            <a:off x="6372200" y="2204864"/>
            <a:ext cx="2007470" cy="2987862"/>
          </a:xfrm>
          <a:prstGeom prst="rect">
            <a:avLst/>
          </a:prstGeom>
        </p:spPr>
      </p:pic>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Take action to minimise or remove the risk of food contamination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b="1" dirty="0" smtClean="0">
                <a:latin typeface="Helvetica" pitchFamily="34" charset="0"/>
              </a:rPr>
              <a:t>Checking temperature of hot storing units</a:t>
            </a:r>
          </a:p>
          <a:p>
            <a:pPr marL="360000" indent="-360000">
              <a:spcBef>
                <a:spcPts val="1200"/>
              </a:spcBef>
              <a:spcAft>
                <a:spcPts val="1200"/>
              </a:spcAft>
            </a:pPr>
            <a:r>
              <a:rPr lang="en-US" sz="2200" b="1" dirty="0" smtClean="0">
                <a:latin typeface="Helvetica" pitchFamily="34" charset="0"/>
              </a:rPr>
              <a:t>Revising display protocols</a:t>
            </a:r>
          </a:p>
          <a:p>
            <a:pPr marL="360000" indent="-360000">
              <a:spcBef>
                <a:spcPts val="1200"/>
              </a:spcBef>
              <a:spcAft>
                <a:spcPts val="1200"/>
              </a:spcAft>
            </a:pPr>
            <a:r>
              <a:rPr lang="en-US" sz="2200" b="1" dirty="0" smtClean="0">
                <a:latin typeface="Helvetica" pitchFamily="34" charset="0"/>
              </a:rPr>
              <a:t>Revising turn on times of </a:t>
            </a:r>
            <a:br>
              <a:rPr lang="en-US" sz="2200" b="1" dirty="0" smtClean="0">
                <a:latin typeface="Helvetica" pitchFamily="34" charset="0"/>
              </a:rPr>
            </a:br>
            <a:r>
              <a:rPr lang="en-US" sz="2200" b="1" dirty="0" smtClean="0">
                <a:latin typeface="Helvetica" pitchFamily="34" charset="0"/>
              </a:rPr>
              <a:t>holding units</a:t>
            </a:r>
          </a:p>
          <a:p>
            <a:pPr marL="360000" indent="-360000">
              <a:spcBef>
                <a:spcPts val="1200"/>
              </a:spcBef>
              <a:spcAft>
                <a:spcPts val="1200"/>
              </a:spcAft>
            </a:pPr>
            <a:r>
              <a:rPr lang="en-US" sz="2200" b="1" dirty="0" smtClean="0">
                <a:latin typeface="Helvetica" pitchFamily="34" charset="0"/>
              </a:rPr>
              <a:t>Increasing temperature settings.</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141</a:t>
            </a:fld>
            <a:endParaRPr lang="en-US" dirty="0"/>
          </a:p>
        </p:txBody>
      </p:sp>
      <p:pic>
        <p:nvPicPr>
          <p:cNvPr id="5" name="Picture 4" descr="Buffets.jpg"/>
          <p:cNvPicPr>
            <a:picLocks noChangeAspect="1"/>
          </p:cNvPicPr>
          <p:nvPr/>
        </p:nvPicPr>
        <p:blipFill>
          <a:blip r:embed="rId3" cstate="print"/>
          <a:stretch>
            <a:fillRect/>
          </a:stretch>
        </p:blipFill>
        <p:spPr>
          <a:xfrm>
            <a:off x="5868144" y="3429000"/>
            <a:ext cx="2363192" cy="1583339"/>
          </a:xfrm>
          <a:prstGeom prst="rect">
            <a:avLst/>
          </a:prstGeom>
        </p:spPr>
      </p:pic>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Take action to minimise or remove the risk of food contamination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Corrective action for storing and holding cold food problems:</a:t>
            </a:r>
          </a:p>
          <a:p>
            <a:pPr marL="360000" indent="-360000">
              <a:spcBef>
                <a:spcPts val="600"/>
              </a:spcBef>
              <a:spcAft>
                <a:spcPts val="1200"/>
              </a:spcAft>
            </a:pPr>
            <a:r>
              <a:rPr lang="en-US" sz="2200" b="1" dirty="0" smtClean="0">
                <a:latin typeface="Helvetica" pitchFamily="34" charset="0"/>
              </a:rPr>
              <a:t>Training staff</a:t>
            </a:r>
          </a:p>
          <a:p>
            <a:pPr marL="360000" indent="-360000">
              <a:spcBef>
                <a:spcPts val="600"/>
              </a:spcBef>
              <a:spcAft>
                <a:spcPts val="1200"/>
              </a:spcAft>
            </a:pPr>
            <a:r>
              <a:rPr lang="en-US" sz="2200" b="1" dirty="0" smtClean="0">
                <a:latin typeface="Helvetica" pitchFamily="34" charset="0"/>
              </a:rPr>
              <a:t>Revamping cold holding </a:t>
            </a:r>
            <a:br>
              <a:rPr lang="en-US" sz="2200" b="1" dirty="0" smtClean="0">
                <a:latin typeface="Helvetica" pitchFamily="34" charset="0"/>
              </a:rPr>
            </a:br>
            <a:r>
              <a:rPr lang="en-US" sz="2200" b="1" dirty="0" smtClean="0">
                <a:latin typeface="Helvetica" pitchFamily="34" charset="0"/>
              </a:rPr>
              <a:t>procedures</a:t>
            </a:r>
          </a:p>
          <a:p>
            <a:pPr marL="360000" indent="-360000">
              <a:spcBef>
                <a:spcPts val="600"/>
              </a:spcBef>
              <a:spcAft>
                <a:spcPts val="1200"/>
              </a:spcAft>
            </a:pPr>
            <a:r>
              <a:rPr lang="en-US" sz="2200" b="1" dirty="0" smtClean="0">
                <a:latin typeface="Helvetica" pitchFamily="34" charset="0"/>
              </a:rPr>
              <a:t>Checking operation of units</a:t>
            </a:r>
          </a:p>
          <a:p>
            <a:pPr marL="360000" indent="-360000">
              <a:spcBef>
                <a:spcPts val="600"/>
              </a:spcBef>
              <a:spcAft>
                <a:spcPts val="1200"/>
              </a:spcAft>
            </a:pPr>
            <a:r>
              <a:rPr lang="en-US" sz="2200" b="1" dirty="0" smtClean="0">
                <a:latin typeface="Helvetica" pitchFamily="34" charset="0"/>
              </a:rPr>
              <a:t>Pre-chilling food before placing into units</a:t>
            </a:r>
          </a:p>
          <a:p>
            <a:pPr marL="360000" indent="-360000">
              <a:spcBef>
                <a:spcPts val="600"/>
              </a:spcBef>
              <a:spcAft>
                <a:spcPts val="1200"/>
              </a:spcAft>
              <a:buNone/>
            </a:pPr>
            <a:r>
              <a:rPr lang="en-US" sz="2200" b="1" dirty="0" smtClean="0">
                <a:latin typeface="Helvetica" pitchFamily="34" charset="0"/>
              </a:rPr>
              <a:t>(Continued) </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142</a:t>
            </a:fld>
            <a:endParaRPr lang="en-US" dirty="0"/>
          </a:p>
        </p:txBody>
      </p:sp>
      <p:pic>
        <p:nvPicPr>
          <p:cNvPr id="5" name="Picture 4" descr="21816_training.jpg"/>
          <p:cNvPicPr>
            <a:picLocks noChangeAspect="1"/>
          </p:cNvPicPr>
          <p:nvPr/>
        </p:nvPicPr>
        <p:blipFill>
          <a:blip r:embed="rId3" cstate="print"/>
          <a:stretch>
            <a:fillRect/>
          </a:stretch>
        </p:blipFill>
        <p:spPr>
          <a:xfrm>
            <a:off x="5724128" y="2420888"/>
            <a:ext cx="2568182" cy="1917576"/>
          </a:xfrm>
          <a:prstGeom prst="rect">
            <a:avLst/>
          </a:prstGeom>
        </p:spPr>
      </p:pic>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Take action to minimise or remove the risk of food contamination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b="1" dirty="0" smtClean="0">
                <a:latin typeface="Helvetica" pitchFamily="34" charset="0"/>
              </a:rPr>
              <a:t>Verify operating temperatures of units</a:t>
            </a:r>
          </a:p>
          <a:p>
            <a:pPr marL="360000" indent="-360000">
              <a:spcBef>
                <a:spcPts val="1200"/>
              </a:spcBef>
              <a:spcAft>
                <a:spcPts val="1200"/>
              </a:spcAft>
            </a:pPr>
            <a:r>
              <a:rPr lang="en-US" sz="2200" b="1" dirty="0" smtClean="0">
                <a:latin typeface="Helvetica" pitchFamily="34" charset="0"/>
              </a:rPr>
              <a:t>Revising display protocols</a:t>
            </a:r>
          </a:p>
          <a:p>
            <a:pPr marL="360000" indent="-360000">
              <a:spcBef>
                <a:spcPts val="1200"/>
              </a:spcBef>
              <a:spcAft>
                <a:spcPts val="1200"/>
              </a:spcAft>
            </a:pPr>
            <a:r>
              <a:rPr lang="en-US" sz="2200" b="1" dirty="0" smtClean="0">
                <a:latin typeface="Helvetica" pitchFamily="34" charset="0"/>
              </a:rPr>
              <a:t>Turning on cold display units </a:t>
            </a:r>
            <a:br>
              <a:rPr lang="en-US" sz="2200" b="1" dirty="0" smtClean="0">
                <a:latin typeface="Helvetica" pitchFamily="34" charset="0"/>
              </a:rPr>
            </a:br>
            <a:r>
              <a:rPr lang="en-US" sz="2200" b="1" dirty="0" smtClean="0">
                <a:latin typeface="Helvetica" pitchFamily="34" charset="0"/>
              </a:rPr>
              <a:t>sooner</a:t>
            </a:r>
          </a:p>
          <a:p>
            <a:pPr marL="360000" indent="-360000">
              <a:spcBef>
                <a:spcPts val="1200"/>
              </a:spcBef>
              <a:spcAft>
                <a:spcPts val="1200"/>
              </a:spcAft>
            </a:pPr>
            <a:r>
              <a:rPr lang="en-US" sz="2200" b="1" dirty="0" smtClean="0">
                <a:latin typeface="Helvetica" pitchFamily="34" charset="0"/>
              </a:rPr>
              <a:t>Setting refrigeration units at </a:t>
            </a:r>
            <a:br>
              <a:rPr lang="en-US" sz="2200" b="1" dirty="0" smtClean="0">
                <a:latin typeface="Helvetica" pitchFamily="34" charset="0"/>
              </a:rPr>
            </a:br>
            <a:r>
              <a:rPr lang="en-US" sz="2200" b="1" dirty="0" smtClean="0">
                <a:latin typeface="Helvetica" pitchFamily="34" charset="0"/>
              </a:rPr>
              <a:t>lower temperatures.</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143</a:t>
            </a:fld>
            <a:endParaRPr lang="en-US" dirty="0"/>
          </a:p>
        </p:txBody>
      </p:sp>
      <p:pic>
        <p:nvPicPr>
          <p:cNvPr id="5" name="Picture 4" descr="MSDS.jpg"/>
          <p:cNvPicPr>
            <a:picLocks noChangeAspect="1"/>
          </p:cNvPicPr>
          <p:nvPr/>
        </p:nvPicPr>
        <p:blipFill>
          <a:blip r:embed="rId3" cstate="print"/>
          <a:stretch>
            <a:fillRect/>
          </a:stretch>
        </p:blipFill>
        <p:spPr>
          <a:xfrm>
            <a:off x="5868144" y="2348880"/>
            <a:ext cx="2381250" cy="2381250"/>
          </a:xfrm>
          <a:prstGeom prst="rect">
            <a:avLst/>
          </a:prstGeom>
        </p:spPr>
      </p:pic>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Take action to minimise or remove the risk of food contamination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44042"/>
          </a:xfrm>
        </p:spPr>
        <p:txBody>
          <a:bodyPr>
            <a:normAutofit lnSpcReduction="10000"/>
          </a:bodyPr>
          <a:lstStyle/>
          <a:p>
            <a:pPr marL="0" indent="0">
              <a:spcBef>
                <a:spcPts val="1200"/>
              </a:spcBef>
              <a:spcAft>
                <a:spcPts val="1200"/>
              </a:spcAft>
              <a:buNone/>
            </a:pPr>
            <a:r>
              <a:rPr lang="en-US" sz="2200" b="1" dirty="0" smtClean="0">
                <a:latin typeface="Helvetica" pitchFamily="34" charset="0"/>
              </a:rPr>
              <a:t>Corrective action for re-heating of food problems:</a:t>
            </a:r>
          </a:p>
          <a:p>
            <a:pPr marL="360000" indent="-360000">
              <a:spcBef>
                <a:spcPts val="1200"/>
              </a:spcBef>
              <a:spcAft>
                <a:spcPts val="1200"/>
              </a:spcAft>
            </a:pPr>
            <a:r>
              <a:rPr lang="en-US" sz="2200" b="1" dirty="0" smtClean="0">
                <a:latin typeface="Helvetica" pitchFamily="34" charset="0"/>
              </a:rPr>
              <a:t>Upgrading re-heating procedures &amp; practices</a:t>
            </a:r>
          </a:p>
          <a:p>
            <a:pPr marL="661752" lvl="1" indent="-360000">
              <a:spcBef>
                <a:spcPts val="1200"/>
              </a:spcBef>
              <a:spcAft>
                <a:spcPts val="1200"/>
              </a:spcAft>
            </a:pPr>
            <a:r>
              <a:rPr lang="en-US" sz="2200" b="1" dirty="0" smtClean="0">
                <a:latin typeface="Helvetica" pitchFamily="34" charset="0"/>
              </a:rPr>
              <a:t>Temperatures</a:t>
            </a:r>
          </a:p>
          <a:p>
            <a:pPr marL="661752" lvl="1" indent="-360000">
              <a:spcBef>
                <a:spcPts val="1200"/>
              </a:spcBef>
              <a:spcAft>
                <a:spcPts val="1200"/>
              </a:spcAft>
            </a:pPr>
            <a:r>
              <a:rPr lang="en-US" sz="2200" b="1" dirty="0" smtClean="0">
                <a:latin typeface="Helvetica" pitchFamily="34" charset="0"/>
              </a:rPr>
              <a:t>Time</a:t>
            </a:r>
          </a:p>
          <a:p>
            <a:pPr marL="661752" lvl="1" indent="-360000">
              <a:spcBef>
                <a:spcPts val="1200"/>
              </a:spcBef>
              <a:spcAft>
                <a:spcPts val="1200"/>
              </a:spcAft>
            </a:pPr>
            <a:r>
              <a:rPr lang="en-US" sz="2200" b="1" dirty="0" smtClean="0">
                <a:latin typeface="Helvetica" pitchFamily="34" charset="0"/>
              </a:rPr>
              <a:t>Method</a:t>
            </a:r>
          </a:p>
          <a:p>
            <a:pPr marL="661752" lvl="1" indent="-360000">
              <a:spcBef>
                <a:spcPts val="1200"/>
              </a:spcBef>
              <a:spcAft>
                <a:spcPts val="1200"/>
              </a:spcAft>
            </a:pPr>
            <a:r>
              <a:rPr lang="en-US" sz="2200" b="1" dirty="0" smtClean="0">
                <a:latin typeface="Helvetica" pitchFamily="34" charset="0"/>
              </a:rPr>
              <a:t>Quantities</a:t>
            </a:r>
          </a:p>
          <a:p>
            <a:pPr marL="360000" indent="-360000">
              <a:spcBef>
                <a:spcPts val="1200"/>
              </a:spcBef>
              <a:spcAft>
                <a:spcPts val="1200"/>
              </a:spcAft>
            </a:pPr>
            <a:r>
              <a:rPr lang="en-US" sz="2200" b="1" dirty="0" smtClean="0">
                <a:latin typeface="Helvetica" pitchFamily="34" charset="0"/>
              </a:rPr>
              <a:t>Discarding improperly re-heated food</a:t>
            </a:r>
          </a:p>
          <a:p>
            <a:pPr marL="360000" indent="-360000">
              <a:spcBef>
                <a:spcPts val="1200"/>
              </a:spcBef>
              <a:spcAft>
                <a:spcPts val="1200"/>
              </a:spcAft>
            </a:pPr>
            <a:r>
              <a:rPr lang="en-US" sz="2200" b="1" dirty="0" smtClean="0">
                <a:latin typeface="Helvetica" pitchFamily="34" charset="0"/>
              </a:rPr>
              <a:t>Training staff.</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144</a:t>
            </a:fld>
            <a:endParaRPr lang="en-US" dirty="0"/>
          </a:p>
        </p:txBody>
      </p:sp>
      <p:pic>
        <p:nvPicPr>
          <p:cNvPr id="5" name="Picture 4" descr="wai_a_students_024.jpg"/>
          <p:cNvPicPr>
            <a:picLocks noChangeAspect="1"/>
          </p:cNvPicPr>
          <p:nvPr/>
        </p:nvPicPr>
        <p:blipFill>
          <a:blip r:embed="rId3" cstate="print"/>
          <a:stretch>
            <a:fillRect/>
          </a:stretch>
        </p:blipFill>
        <p:spPr>
          <a:xfrm>
            <a:off x="6500826" y="2786058"/>
            <a:ext cx="2038350" cy="3048000"/>
          </a:xfrm>
          <a:prstGeom prst="rect">
            <a:avLst/>
          </a:prstGeom>
        </p:spPr>
      </p:pic>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Take action to minimise or remove the risk of food contamination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Corrective action for service of food problems:</a:t>
            </a:r>
          </a:p>
          <a:p>
            <a:pPr lvl="0">
              <a:spcBef>
                <a:spcPts val="1200"/>
              </a:spcBef>
              <a:spcAft>
                <a:spcPts val="1200"/>
              </a:spcAft>
            </a:pPr>
            <a:r>
              <a:rPr lang="en-AU" sz="2200" b="1" dirty="0" smtClean="0">
                <a:latin typeface="Helvetica" pitchFamily="34" charset="0"/>
              </a:rPr>
              <a:t>Discarding all food exceeding 2/4 rule</a:t>
            </a:r>
          </a:p>
          <a:p>
            <a:pPr lvl="0">
              <a:spcBef>
                <a:spcPts val="1200"/>
              </a:spcBef>
              <a:spcAft>
                <a:spcPts val="1200"/>
              </a:spcAft>
            </a:pPr>
            <a:r>
              <a:rPr lang="en-AU" sz="2200" b="1" dirty="0" smtClean="0">
                <a:latin typeface="Helvetica" pitchFamily="34" charset="0"/>
              </a:rPr>
              <a:t>Training staff </a:t>
            </a:r>
          </a:p>
          <a:p>
            <a:pPr lvl="0">
              <a:spcBef>
                <a:spcPts val="1200"/>
              </a:spcBef>
              <a:spcAft>
                <a:spcPts val="1200"/>
              </a:spcAft>
            </a:pPr>
            <a:r>
              <a:rPr lang="en-AU" sz="2200" b="1" dirty="0" smtClean="0">
                <a:latin typeface="Helvetica" pitchFamily="34" charset="0"/>
              </a:rPr>
              <a:t>Providing sufficient equipment and utensils</a:t>
            </a:r>
          </a:p>
          <a:p>
            <a:pPr lvl="0">
              <a:spcBef>
                <a:spcPts val="1200"/>
              </a:spcBef>
              <a:spcAft>
                <a:spcPts val="1200"/>
              </a:spcAft>
            </a:pPr>
            <a:r>
              <a:rPr lang="en-AU" sz="2200" b="1" dirty="0" smtClean="0">
                <a:latin typeface="Helvetica" pitchFamily="34" charset="0"/>
              </a:rPr>
              <a:t>Maintaining food holding equipment </a:t>
            </a:r>
          </a:p>
          <a:p>
            <a:pPr lvl="0">
              <a:spcBef>
                <a:spcPts val="1200"/>
              </a:spcBef>
              <a:spcAft>
                <a:spcPts val="1200"/>
              </a:spcAft>
            </a:pPr>
            <a:r>
              <a:rPr lang="en-AU" sz="2200" b="1" dirty="0" smtClean="0">
                <a:latin typeface="Helvetica" pitchFamily="34" charset="0"/>
              </a:rPr>
              <a:t>Altering the settings on units.</a:t>
            </a:r>
            <a:endParaRPr lang="en-US" sz="2200" b="1" dirty="0" smtClean="0">
              <a:latin typeface="Helvetica" pitchFamily="34" charset="0"/>
            </a:endParaRP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145</a:t>
            </a:fld>
            <a:endParaRPr lang="en-US" dirty="0"/>
          </a:p>
        </p:txBody>
      </p:sp>
      <p:pic>
        <p:nvPicPr>
          <p:cNvPr id="8" name="Picture 7" descr="Cafe_35.jpg"/>
          <p:cNvPicPr>
            <a:picLocks noChangeAspect="1"/>
          </p:cNvPicPr>
          <p:nvPr/>
        </p:nvPicPr>
        <p:blipFill>
          <a:blip r:embed="rId3" cstate="print"/>
          <a:stretch>
            <a:fillRect/>
          </a:stretch>
        </p:blipFill>
        <p:spPr>
          <a:xfrm>
            <a:off x="6143636" y="4000504"/>
            <a:ext cx="2667019" cy="2000264"/>
          </a:xfrm>
          <a:prstGeom prst="rect">
            <a:avLst/>
          </a:prstGeom>
        </p:spPr>
      </p:pic>
    </p:spTree>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Take action to minimise or remove the risk of food contamination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Corrective action for self-service of food problems:</a:t>
            </a:r>
          </a:p>
          <a:p>
            <a:pPr marL="360000" indent="-360000">
              <a:spcBef>
                <a:spcPts val="1200"/>
              </a:spcBef>
              <a:spcAft>
                <a:spcPts val="1200"/>
              </a:spcAft>
            </a:pPr>
            <a:r>
              <a:rPr lang="en-US" sz="2200" b="1" dirty="0" smtClean="0">
                <a:latin typeface="Helvetica" pitchFamily="34" charset="0"/>
              </a:rPr>
              <a:t>Using signage to communicate safe practices</a:t>
            </a:r>
          </a:p>
          <a:p>
            <a:pPr marL="360000" indent="-360000">
              <a:spcBef>
                <a:spcPts val="1200"/>
              </a:spcBef>
              <a:spcAft>
                <a:spcPts val="1200"/>
              </a:spcAft>
            </a:pPr>
            <a:r>
              <a:rPr lang="en-US" sz="2200" b="1" dirty="0" smtClean="0">
                <a:latin typeface="Helvetica" pitchFamily="34" charset="0"/>
              </a:rPr>
              <a:t>Considering alternative service options</a:t>
            </a:r>
          </a:p>
          <a:p>
            <a:pPr marL="360000" indent="-360000">
              <a:spcBef>
                <a:spcPts val="1200"/>
              </a:spcBef>
              <a:spcAft>
                <a:spcPts val="1200"/>
              </a:spcAft>
            </a:pPr>
            <a:r>
              <a:rPr lang="en-US" sz="2200" b="1" dirty="0" smtClean="0">
                <a:latin typeface="Helvetica" pitchFamily="34" charset="0"/>
              </a:rPr>
              <a:t>Allocating more supervisory staff</a:t>
            </a:r>
          </a:p>
          <a:p>
            <a:pPr marL="360000" indent="-360000">
              <a:spcBef>
                <a:spcPts val="1200"/>
              </a:spcBef>
              <a:spcAft>
                <a:spcPts val="1200"/>
              </a:spcAft>
            </a:pPr>
            <a:r>
              <a:rPr lang="en-US" sz="2200" b="1" dirty="0" smtClean="0">
                <a:latin typeface="Helvetica" pitchFamily="34" charset="0"/>
              </a:rPr>
              <a:t>Adhering strictly to 2/4 rule</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146</a:t>
            </a:fld>
            <a:endParaRPr lang="en-US" dirty="0"/>
          </a:p>
        </p:txBody>
      </p:sp>
      <p:pic>
        <p:nvPicPr>
          <p:cNvPr id="5" name="Picture 4" descr="food poisoning sign.jpg"/>
          <p:cNvPicPr>
            <a:picLocks noChangeAspect="1"/>
          </p:cNvPicPr>
          <p:nvPr/>
        </p:nvPicPr>
        <p:blipFill>
          <a:blip r:embed="rId3" cstate="print"/>
          <a:stretch>
            <a:fillRect/>
          </a:stretch>
        </p:blipFill>
        <p:spPr>
          <a:xfrm>
            <a:off x="6429388" y="2786058"/>
            <a:ext cx="2122944" cy="2867559"/>
          </a:xfrm>
          <a:prstGeom prst="rect">
            <a:avLst/>
          </a:prstGeom>
        </p:spPr>
      </p:pic>
    </p:spTree>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Take action to minimise or remove the risk of food contamination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1200"/>
              </a:spcAft>
            </a:pPr>
            <a:r>
              <a:rPr lang="en-US" sz="2200" b="1" dirty="0" smtClean="0">
                <a:latin typeface="Helvetica" pitchFamily="34" charset="0"/>
              </a:rPr>
              <a:t>Training staff</a:t>
            </a:r>
          </a:p>
          <a:p>
            <a:pPr marL="360000" indent="-360000">
              <a:spcBef>
                <a:spcPts val="1200"/>
              </a:spcBef>
              <a:spcAft>
                <a:spcPts val="1200"/>
              </a:spcAft>
            </a:pPr>
            <a:r>
              <a:rPr lang="en-US" sz="2200" b="1" dirty="0" smtClean="0">
                <a:latin typeface="Helvetica" pitchFamily="34" charset="0"/>
              </a:rPr>
              <a:t>Providing sufficient service gear</a:t>
            </a:r>
          </a:p>
          <a:p>
            <a:pPr marL="360000" indent="-360000">
              <a:spcBef>
                <a:spcPts val="1200"/>
              </a:spcBef>
              <a:spcAft>
                <a:spcPts val="1200"/>
              </a:spcAft>
            </a:pPr>
            <a:r>
              <a:rPr lang="en-US" sz="2200" b="1" dirty="0" smtClean="0">
                <a:latin typeface="Helvetica" pitchFamily="34" charset="0"/>
              </a:rPr>
              <a:t>Maintaining holding/display equipment</a:t>
            </a:r>
          </a:p>
          <a:p>
            <a:pPr marL="360000" indent="-360000">
              <a:spcBef>
                <a:spcPts val="1200"/>
              </a:spcBef>
              <a:spcAft>
                <a:spcPts val="1200"/>
              </a:spcAft>
            </a:pPr>
            <a:r>
              <a:rPr lang="en-US" sz="2200" b="1" dirty="0" smtClean="0">
                <a:latin typeface="Helvetica" pitchFamily="34" charset="0"/>
              </a:rPr>
              <a:t>Altering holding unit temperature </a:t>
            </a:r>
            <a:br>
              <a:rPr lang="en-US" sz="2200" b="1" dirty="0" smtClean="0">
                <a:latin typeface="Helvetica" pitchFamily="34" charset="0"/>
              </a:rPr>
            </a:br>
            <a:r>
              <a:rPr lang="en-US" sz="2200" b="1" dirty="0" smtClean="0">
                <a:latin typeface="Helvetica" pitchFamily="34" charset="0"/>
              </a:rPr>
              <a:t>settings</a:t>
            </a:r>
          </a:p>
          <a:p>
            <a:pPr marL="360000" indent="-360000">
              <a:spcBef>
                <a:spcPts val="1200"/>
              </a:spcBef>
              <a:spcAft>
                <a:spcPts val="1200"/>
              </a:spcAft>
            </a:pPr>
            <a:r>
              <a:rPr lang="en-US" sz="2200" b="1" dirty="0" smtClean="0">
                <a:latin typeface="Helvetica" pitchFamily="34" charset="0"/>
              </a:rPr>
              <a:t>Make sure you record all corrective </a:t>
            </a:r>
            <a:br>
              <a:rPr lang="en-US" sz="2200" b="1" dirty="0" smtClean="0">
                <a:latin typeface="Helvetica" pitchFamily="34" charset="0"/>
              </a:rPr>
            </a:br>
            <a:r>
              <a:rPr lang="en-US" sz="2200" b="1" dirty="0" smtClean="0">
                <a:latin typeface="Helvetica" pitchFamily="34" charset="0"/>
              </a:rPr>
              <a:t>action taken.</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147</a:t>
            </a:fld>
            <a:endParaRPr lang="en-US" dirty="0"/>
          </a:p>
        </p:txBody>
      </p:sp>
      <p:pic>
        <p:nvPicPr>
          <p:cNvPr id="5" name="Picture 4" descr="Training sign.jpg"/>
          <p:cNvPicPr>
            <a:picLocks noChangeAspect="1"/>
          </p:cNvPicPr>
          <p:nvPr/>
        </p:nvPicPr>
        <p:blipFill>
          <a:blip r:embed="rId3" cstate="print"/>
          <a:stretch>
            <a:fillRect/>
          </a:stretch>
        </p:blipFill>
        <p:spPr>
          <a:xfrm>
            <a:off x="6469869" y="3649855"/>
            <a:ext cx="2674131" cy="1996684"/>
          </a:xfrm>
          <a:prstGeom prst="rect">
            <a:avLst/>
          </a:prstGeom>
        </p:spPr>
      </p:pic>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Handle and dispose of food waste and rubbish</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Disposal of food waste and rubbish requires:</a:t>
            </a:r>
          </a:p>
          <a:p>
            <a:pPr marL="360000" indent="-360000">
              <a:spcBef>
                <a:spcPts val="1200"/>
              </a:spcBef>
              <a:spcAft>
                <a:spcPts val="1200"/>
              </a:spcAft>
            </a:pPr>
            <a:r>
              <a:rPr lang="en-US" sz="2200" b="1" dirty="0" smtClean="0">
                <a:latin typeface="Helvetica" pitchFamily="34" charset="0"/>
              </a:rPr>
              <a:t>Bins to be maintained in a clean and sound condition</a:t>
            </a:r>
          </a:p>
          <a:p>
            <a:pPr marL="360000" indent="-360000">
              <a:spcBef>
                <a:spcPts val="1200"/>
              </a:spcBef>
              <a:spcAft>
                <a:spcPts val="1200"/>
              </a:spcAft>
            </a:pPr>
            <a:r>
              <a:rPr lang="en-US" sz="2200" b="1" dirty="0" smtClean="0">
                <a:latin typeface="Helvetica" pitchFamily="34" charset="0"/>
              </a:rPr>
              <a:t>Cleaning of bins, but not sanitising</a:t>
            </a:r>
          </a:p>
          <a:p>
            <a:pPr marL="360000" indent="-360000">
              <a:spcBef>
                <a:spcPts val="1200"/>
              </a:spcBef>
              <a:spcAft>
                <a:spcPts val="1200"/>
              </a:spcAft>
            </a:pPr>
            <a:r>
              <a:rPr lang="en-US" sz="2200" b="1" dirty="0" smtClean="0">
                <a:latin typeface="Helvetica" pitchFamily="34" charset="0"/>
              </a:rPr>
              <a:t>External area to be kept clean &amp; tidy.</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148</a:t>
            </a:fld>
            <a:endParaRPr lang="en-US" dirty="0"/>
          </a:p>
        </p:txBody>
      </p:sp>
      <p:pic>
        <p:nvPicPr>
          <p:cNvPr id="30722" name="Picture 2" descr="C:\Users\fgvghyujil\AppData\Local\Microsoft\Windows\Temporary Internet Files\Content.IE5\TU1ZREEW\MP900437220[1].jpg"/>
          <p:cNvPicPr>
            <a:picLocks noChangeAspect="1" noChangeArrowheads="1"/>
          </p:cNvPicPr>
          <p:nvPr/>
        </p:nvPicPr>
        <p:blipFill>
          <a:blip r:embed="rId3" cstate="print"/>
          <a:srcRect/>
          <a:stretch>
            <a:fillRect/>
          </a:stretch>
        </p:blipFill>
        <p:spPr bwMode="auto">
          <a:xfrm>
            <a:off x="5572132" y="4286256"/>
            <a:ext cx="3093243" cy="2062162"/>
          </a:xfrm>
          <a:prstGeom prst="rect">
            <a:avLst/>
          </a:prstGeom>
          <a:noFill/>
        </p:spPr>
      </p:pic>
    </p:spTree>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Handle and dispose of food waste and rubbish</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Internal disposal of food waste and rubbish refers to emptying bins inside the premises:</a:t>
            </a:r>
          </a:p>
          <a:p>
            <a:pPr marL="360000" indent="-360000">
              <a:spcBef>
                <a:spcPts val="1200"/>
              </a:spcBef>
              <a:spcAft>
                <a:spcPts val="1200"/>
              </a:spcAft>
            </a:pPr>
            <a:r>
              <a:rPr lang="en-US" sz="2200" b="1" dirty="0" smtClean="0">
                <a:latin typeface="Helvetica" pitchFamily="34" charset="0"/>
              </a:rPr>
              <a:t>Do not allow rubbish to accumulate</a:t>
            </a:r>
          </a:p>
          <a:p>
            <a:pPr marL="360000" indent="-360000">
              <a:spcBef>
                <a:spcPts val="1200"/>
              </a:spcBef>
              <a:spcAft>
                <a:spcPts val="1200"/>
              </a:spcAft>
            </a:pPr>
            <a:r>
              <a:rPr lang="en-US" sz="2200" b="1" dirty="0" smtClean="0">
                <a:latin typeface="Helvetica" pitchFamily="34" charset="0"/>
              </a:rPr>
              <a:t>Use common sense</a:t>
            </a:r>
          </a:p>
          <a:p>
            <a:pPr marL="360000" indent="-360000">
              <a:spcBef>
                <a:spcPts val="1200"/>
              </a:spcBef>
              <a:spcAft>
                <a:spcPts val="1200"/>
              </a:spcAft>
            </a:pPr>
            <a:r>
              <a:rPr lang="en-US" sz="2200" b="1" dirty="0" smtClean="0">
                <a:latin typeface="Helvetica" pitchFamily="34" charset="0"/>
              </a:rPr>
              <a:t>Do not allow bins to over fill</a:t>
            </a:r>
          </a:p>
          <a:p>
            <a:pPr marL="360000" indent="-360000">
              <a:spcBef>
                <a:spcPts val="1200"/>
              </a:spcBef>
              <a:spcAft>
                <a:spcPts val="1200"/>
              </a:spcAft>
            </a:pPr>
            <a:r>
              <a:rPr lang="en-US" sz="2200" b="1" dirty="0" smtClean="0">
                <a:latin typeface="Helvetica" pitchFamily="34" charset="0"/>
              </a:rPr>
              <a:t>Empty regularly.</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149</a:t>
            </a:fld>
            <a:endParaRPr lang="en-US" dirty="0"/>
          </a:p>
        </p:txBody>
      </p:sp>
      <p:pic>
        <p:nvPicPr>
          <p:cNvPr id="29698" name="Picture 2" descr="C:\Users\fgvghyujil\AppData\Local\Microsoft\Windows\Temporary Internet Files\Content.IE5\PP601SXW\MC900185453[1].wmf"/>
          <p:cNvPicPr>
            <a:picLocks noChangeAspect="1" noChangeArrowheads="1"/>
          </p:cNvPicPr>
          <p:nvPr/>
        </p:nvPicPr>
        <p:blipFill>
          <a:blip r:embed="rId3" cstate="print"/>
          <a:srcRect/>
          <a:stretch>
            <a:fillRect/>
          </a:stretch>
        </p:blipFill>
        <p:spPr bwMode="auto">
          <a:xfrm>
            <a:off x="6286512" y="2214554"/>
            <a:ext cx="1975767" cy="3414697"/>
          </a:xfrm>
          <a:prstGeom prst="rect">
            <a:avLst/>
          </a:prstGeom>
          <a:noFill/>
        </p:spPr>
      </p:pic>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Handle and dispose of food waste and rubbish</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Emptying an inside bin can involve:</a:t>
            </a:r>
          </a:p>
          <a:p>
            <a:pPr lvl="0">
              <a:spcBef>
                <a:spcPts val="1200"/>
              </a:spcBef>
              <a:spcAft>
                <a:spcPts val="1200"/>
              </a:spcAft>
            </a:pPr>
            <a:r>
              <a:rPr lang="en-AU" sz="2200" b="1" dirty="0" smtClean="0">
                <a:latin typeface="Helvetica" pitchFamily="34" charset="0"/>
              </a:rPr>
              <a:t>Putting on protective gloves</a:t>
            </a:r>
          </a:p>
          <a:p>
            <a:pPr lvl="0">
              <a:spcBef>
                <a:spcPts val="1200"/>
              </a:spcBef>
              <a:spcAft>
                <a:spcPts val="1200"/>
              </a:spcAft>
            </a:pPr>
            <a:r>
              <a:rPr lang="en-AU" sz="2200" b="1" dirty="0" smtClean="0">
                <a:latin typeface="Helvetica" pitchFamily="34" charset="0"/>
              </a:rPr>
              <a:t>Picking up anything lying around/near the bin</a:t>
            </a:r>
          </a:p>
          <a:p>
            <a:pPr lvl="0">
              <a:spcBef>
                <a:spcPts val="1200"/>
              </a:spcBef>
              <a:spcAft>
                <a:spcPts val="1200"/>
              </a:spcAft>
            </a:pPr>
            <a:r>
              <a:rPr lang="en-AU" sz="2200" b="1" dirty="0" smtClean="0">
                <a:latin typeface="Helvetica" pitchFamily="34" charset="0"/>
              </a:rPr>
              <a:t>Tying a knot in the plastic bin liner</a:t>
            </a:r>
          </a:p>
          <a:p>
            <a:pPr lvl="0">
              <a:spcBef>
                <a:spcPts val="1200"/>
              </a:spcBef>
              <a:spcAft>
                <a:spcPts val="1200"/>
              </a:spcAft>
            </a:pPr>
            <a:r>
              <a:rPr lang="en-AU" sz="2200" b="1" dirty="0" smtClean="0">
                <a:latin typeface="Helvetica" pitchFamily="34" charset="0"/>
              </a:rPr>
              <a:t>Removing the plastic bin liner</a:t>
            </a:r>
          </a:p>
          <a:p>
            <a:pPr lvl="0">
              <a:spcBef>
                <a:spcPts val="1200"/>
              </a:spcBef>
              <a:spcAft>
                <a:spcPts val="1200"/>
              </a:spcAft>
            </a:pPr>
            <a:r>
              <a:rPr lang="en-AU" sz="2200" b="1" dirty="0" smtClean="0">
                <a:latin typeface="Helvetica" pitchFamily="34" charset="0"/>
              </a:rPr>
              <a:t>Placing a new bin liner into the bin</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150</a:t>
            </a:fld>
            <a:endParaRPr lang="en-US" dirty="0"/>
          </a:p>
        </p:txBody>
      </p:sp>
      <p:pic>
        <p:nvPicPr>
          <p:cNvPr id="28674" name="Picture 2" descr="C:\Users\fgvghyujil\AppData\Local\Microsoft\Windows\Temporary Internet Files\Content.IE5\TU1ZREEW\MC900250148[1].wmf"/>
          <p:cNvPicPr>
            <a:picLocks noChangeAspect="1" noChangeArrowheads="1"/>
          </p:cNvPicPr>
          <p:nvPr/>
        </p:nvPicPr>
        <p:blipFill>
          <a:blip r:embed="rId3" cstate="print"/>
          <a:srcRect/>
          <a:stretch>
            <a:fillRect/>
          </a:stretch>
        </p:blipFill>
        <p:spPr bwMode="auto">
          <a:xfrm>
            <a:off x="6286512" y="3786190"/>
            <a:ext cx="2295053" cy="2073244"/>
          </a:xfrm>
          <a:prstGeom prst="rect">
            <a:avLst/>
          </a:prstGeom>
          <a:noFill/>
        </p:spPr>
      </p:pic>
    </p:spTree>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Handle and dispose of food waste and rubbish</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lvl="0">
              <a:spcBef>
                <a:spcPts val="1200"/>
              </a:spcBef>
              <a:spcAft>
                <a:spcPts val="1200"/>
              </a:spcAft>
            </a:pPr>
            <a:r>
              <a:rPr lang="en-AU" sz="2200" b="1" dirty="0" smtClean="0">
                <a:latin typeface="Helvetica" pitchFamily="34" charset="0"/>
              </a:rPr>
              <a:t>Taking the rubbish bag to the designated external rubbish area</a:t>
            </a:r>
          </a:p>
          <a:p>
            <a:pPr lvl="0">
              <a:spcBef>
                <a:spcPts val="1200"/>
              </a:spcBef>
              <a:spcAft>
                <a:spcPts val="1200"/>
              </a:spcAft>
            </a:pPr>
            <a:r>
              <a:rPr lang="en-AU" sz="2200" b="1" dirty="0" smtClean="0">
                <a:latin typeface="Helvetica" pitchFamily="34" charset="0"/>
              </a:rPr>
              <a:t>Opening the required bin and placing the rubbish bag into it</a:t>
            </a:r>
          </a:p>
          <a:p>
            <a:pPr lvl="0">
              <a:spcBef>
                <a:spcPts val="1200"/>
              </a:spcBef>
              <a:spcAft>
                <a:spcPts val="1200"/>
              </a:spcAft>
            </a:pPr>
            <a:r>
              <a:rPr lang="en-AU" sz="2200" b="1" dirty="0" smtClean="0">
                <a:latin typeface="Helvetica" pitchFamily="34" charset="0"/>
              </a:rPr>
              <a:t>Closing the lid on the bin or dumper</a:t>
            </a:r>
          </a:p>
          <a:p>
            <a:pPr lvl="0">
              <a:spcBef>
                <a:spcPts val="1200"/>
              </a:spcBef>
              <a:spcAft>
                <a:spcPts val="1200"/>
              </a:spcAft>
            </a:pPr>
            <a:r>
              <a:rPr lang="en-AU" sz="2200" b="1" dirty="0" smtClean="0">
                <a:latin typeface="Helvetica" pitchFamily="34" charset="0"/>
              </a:rPr>
              <a:t>Washing hands.</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151</a:t>
            </a:fld>
            <a:endParaRPr lang="en-US" dirty="0"/>
          </a:p>
        </p:txBody>
      </p:sp>
      <p:pic>
        <p:nvPicPr>
          <p:cNvPr id="27654" name="Picture 6" descr="C:\Users\fgvghyujil\AppData\Local\Microsoft\Windows\Temporary Internet Files\Content.IE5\PP601SXW\MC900185451[1].wmf"/>
          <p:cNvPicPr>
            <a:picLocks noChangeAspect="1" noChangeArrowheads="1"/>
          </p:cNvPicPr>
          <p:nvPr/>
        </p:nvPicPr>
        <p:blipFill>
          <a:blip r:embed="rId3" cstate="print"/>
          <a:srcRect/>
          <a:stretch>
            <a:fillRect/>
          </a:stretch>
        </p:blipFill>
        <p:spPr bwMode="auto">
          <a:xfrm>
            <a:off x="7000892" y="3071810"/>
            <a:ext cx="1714512" cy="3131051"/>
          </a:xfrm>
          <a:prstGeom prst="rect">
            <a:avLst/>
          </a:prstGeom>
          <a:noFill/>
        </p:spPr>
      </p:pic>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Handle and dispose of food waste and rubbish</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Emptying internal bins may also include a need to:</a:t>
            </a:r>
          </a:p>
          <a:p>
            <a:pPr marL="360000" indent="-360000">
              <a:spcBef>
                <a:spcPts val="1200"/>
              </a:spcBef>
              <a:spcAft>
                <a:spcPts val="1200"/>
              </a:spcAft>
            </a:pPr>
            <a:r>
              <a:rPr lang="en-US" sz="2200" b="1" dirty="0" smtClean="0">
                <a:latin typeface="Helvetica" pitchFamily="34" charset="0"/>
              </a:rPr>
              <a:t>Obtain help from others</a:t>
            </a:r>
          </a:p>
          <a:p>
            <a:pPr marL="360000" indent="-360000">
              <a:spcBef>
                <a:spcPts val="1200"/>
              </a:spcBef>
              <a:spcAft>
                <a:spcPts val="1200"/>
              </a:spcAft>
            </a:pPr>
            <a:r>
              <a:rPr lang="en-US" sz="2200" b="1" dirty="0" smtClean="0">
                <a:latin typeface="Helvetica" pitchFamily="34" charset="0"/>
              </a:rPr>
              <a:t>Clean floor around bin</a:t>
            </a:r>
          </a:p>
          <a:p>
            <a:pPr marL="360000" indent="-360000">
              <a:spcBef>
                <a:spcPts val="1200"/>
              </a:spcBef>
              <a:spcAft>
                <a:spcPts val="1200"/>
              </a:spcAft>
            </a:pPr>
            <a:r>
              <a:rPr lang="en-US" sz="2200" b="1" dirty="0" smtClean="0">
                <a:latin typeface="Helvetica" pitchFamily="34" charset="0"/>
              </a:rPr>
              <a:t>Clean the bin.</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152</a:t>
            </a:fld>
            <a:endParaRPr lang="en-US" dirty="0"/>
          </a:p>
        </p:txBody>
      </p:sp>
      <p:pic>
        <p:nvPicPr>
          <p:cNvPr id="26629" name="Picture 5" descr="C:\Users\fgvghyujil\AppData\Local\Microsoft\Windows\Temporary Internet Files\Content.IE5\PP601SXW\MC900437497[1].wmf"/>
          <p:cNvPicPr>
            <a:picLocks noChangeAspect="1" noChangeArrowheads="1"/>
          </p:cNvPicPr>
          <p:nvPr/>
        </p:nvPicPr>
        <p:blipFill>
          <a:blip r:embed="rId3" cstate="print"/>
          <a:srcRect/>
          <a:stretch>
            <a:fillRect/>
          </a:stretch>
        </p:blipFill>
        <p:spPr bwMode="auto">
          <a:xfrm>
            <a:off x="6215074" y="3286124"/>
            <a:ext cx="2226639" cy="2143140"/>
          </a:xfrm>
          <a:prstGeom prst="rect">
            <a:avLst/>
          </a:prstGeom>
          <a:noFill/>
        </p:spPr>
      </p:pic>
    </p:spTree>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Handle and dispose of food waste and rubbish</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1200"/>
              </a:spcBef>
              <a:spcAft>
                <a:spcPts val="1200"/>
              </a:spcAft>
              <a:buNone/>
            </a:pPr>
            <a:r>
              <a:rPr lang="en-US" sz="2200" b="1" dirty="0" smtClean="0">
                <a:latin typeface="Helvetica" pitchFamily="34" charset="0"/>
              </a:rPr>
              <a:t>External rubbish:</a:t>
            </a:r>
          </a:p>
          <a:p>
            <a:pPr marL="360000" indent="-360000">
              <a:spcBef>
                <a:spcPts val="1200"/>
              </a:spcBef>
              <a:spcAft>
                <a:spcPts val="1200"/>
              </a:spcAft>
            </a:pPr>
            <a:r>
              <a:rPr lang="en-US" sz="2200" b="1" dirty="0" smtClean="0">
                <a:latin typeface="Helvetica" pitchFamily="34" charset="0"/>
              </a:rPr>
              <a:t>Removed by council or contractors</a:t>
            </a:r>
          </a:p>
          <a:p>
            <a:pPr marL="360000" indent="-360000">
              <a:spcBef>
                <a:spcPts val="1200"/>
              </a:spcBef>
              <a:spcAft>
                <a:spcPts val="1200"/>
              </a:spcAft>
            </a:pPr>
            <a:r>
              <a:rPr lang="en-US" sz="2200" b="1" dirty="0" smtClean="0">
                <a:latin typeface="Helvetica" pitchFamily="34" charset="0"/>
              </a:rPr>
              <a:t>Requires sufficient bins or dumpers</a:t>
            </a:r>
          </a:p>
          <a:p>
            <a:pPr marL="360000" indent="-360000">
              <a:spcBef>
                <a:spcPts val="1200"/>
              </a:spcBef>
              <a:spcAft>
                <a:spcPts val="1200"/>
              </a:spcAft>
            </a:pPr>
            <a:r>
              <a:rPr lang="en-US" sz="2200" b="1" dirty="0" smtClean="0">
                <a:latin typeface="Helvetica" pitchFamily="34" charset="0"/>
              </a:rPr>
              <a:t>Areas and bins must be kept clean &amp; tidy</a:t>
            </a:r>
          </a:p>
          <a:p>
            <a:pPr marL="360000" indent="-360000">
              <a:spcBef>
                <a:spcPts val="1200"/>
              </a:spcBef>
              <a:spcAft>
                <a:spcPts val="1200"/>
              </a:spcAft>
            </a:pPr>
            <a:r>
              <a:rPr lang="en-US" sz="2200" b="1" dirty="0" smtClean="0">
                <a:latin typeface="Helvetica" pitchFamily="34" charset="0"/>
              </a:rPr>
              <a:t>Frequency of removal must </a:t>
            </a:r>
            <a:br>
              <a:rPr lang="en-US" sz="2200" b="1" dirty="0" smtClean="0">
                <a:latin typeface="Helvetica" pitchFamily="34" charset="0"/>
              </a:rPr>
            </a:br>
            <a:r>
              <a:rPr lang="en-US" sz="2200" b="1" dirty="0" smtClean="0">
                <a:latin typeface="Helvetica" pitchFamily="34" charset="0"/>
              </a:rPr>
              <a:t>reflect amount of waste </a:t>
            </a:r>
            <a:br>
              <a:rPr lang="en-US" sz="2200" b="1" dirty="0" smtClean="0">
                <a:latin typeface="Helvetica" pitchFamily="34" charset="0"/>
              </a:rPr>
            </a:br>
            <a:r>
              <a:rPr lang="en-US" sz="2200" b="1" dirty="0" smtClean="0">
                <a:latin typeface="Helvetica" pitchFamily="34" charset="0"/>
              </a:rPr>
              <a:t>produced</a:t>
            </a:r>
          </a:p>
          <a:p>
            <a:pPr marL="360000" indent="-360000">
              <a:spcBef>
                <a:spcPts val="1200"/>
              </a:spcBef>
              <a:spcAft>
                <a:spcPts val="1200"/>
              </a:spcAft>
            </a:pPr>
            <a:r>
              <a:rPr lang="en-US" sz="2200" b="1" dirty="0" smtClean="0">
                <a:latin typeface="Helvetica" pitchFamily="34" charset="0"/>
              </a:rPr>
              <a:t>Bins must be in good </a:t>
            </a:r>
            <a:br>
              <a:rPr lang="en-US" sz="2200" b="1" dirty="0" smtClean="0">
                <a:latin typeface="Helvetica" pitchFamily="34" charset="0"/>
              </a:rPr>
            </a:br>
            <a:r>
              <a:rPr lang="en-US" sz="2200" b="1" dirty="0" smtClean="0">
                <a:latin typeface="Helvetica" pitchFamily="34" charset="0"/>
              </a:rPr>
              <a:t>condition and exclude vermin.</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153</a:t>
            </a:fld>
            <a:endParaRPr lang="en-US" dirty="0"/>
          </a:p>
        </p:txBody>
      </p:sp>
      <p:pic>
        <p:nvPicPr>
          <p:cNvPr id="25604" name="Picture 4" descr="C:\Users\fgvghyujil\AppData\Local\Microsoft\Windows\Temporary Internet Files\Content.IE5\PP601SXW\MP900385983[1].jpg"/>
          <p:cNvPicPr>
            <a:picLocks noChangeAspect="1" noChangeArrowheads="1"/>
          </p:cNvPicPr>
          <p:nvPr/>
        </p:nvPicPr>
        <p:blipFill>
          <a:blip r:embed="rId3" cstate="print"/>
          <a:srcRect/>
          <a:stretch>
            <a:fillRect/>
          </a:stretch>
        </p:blipFill>
        <p:spPr bwMode="auto">
          <a:xfrm>
            <a:off x="5643540" y="3857628"/>
            <a:ext cx="3500460" cy="2500330"/>
          </a:xfrm>
          <a:prstGeom prst="rect">
            <a:avLst/>
          </a:prstGeom>
          <a:noFill/>
        </p:spPr>
      </p:pic>
    </p:spTree>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Handle and dispose of food waste and rubbish</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Re-cycling of rubbish:</a:t>
            </a:r>
          </a:p>
          <a:p>
            <a:pPr marL="360000" indent="-360000">
              <a:spcBef>
                <a:spcPts val="1200"/>
              </a:spcBef>
              <a:spcAft>
                <a:spcPts val="1200"/>
              </a:spcAft>
            </a:pPr>
            <a:r>
              <a:rPr lang="en-US" sz="2200" b="1" dirty="0" smtClean="0">
                <a:latin typeface="Helvetica" pitchFamily="34" charset="0"/>
              </a:rPr>
              <a:t>Undertaken by most venues</a:t>
            </a:r>
          </a:p>
          <a:p>
            <a:pPr marL="360000" indent="-360000">
              <a:spcBef>
                <a:spcPts val="1200"/>
              </a:spcBef>
              <a:spcAft>
                <a:spcPts val="1200"/>
              </a:spcAft>
            </a:pPr>
            <a:r>
              <a:rPr lang="en-US" sz="2200" b="1" dirty="0" smtClean="0">
                <a:latin typeface="Helvetica" pitchFamily="34" charset="0"/>
              </a:rPr>
              <a:t>Requires separation of food waste and rubbish into designated categories</a:t>
            </a:r>
          </a:p>
          <a:p>
            <a:pPr marL="360000" indent="-360000">
              <a:spcBef>
                <a:spcPts val="1200"/>
              </a:spcBef>
              <a:spcAft>
                <a:spcPts val="1200"/>
              </a:spcAft>
            </a:pPr>
            <a:r>
              <a:rPr lang="en-US" sz="2200" b="1" dirty="0" smtClean="0">
                <a:latin typeface="Helvetica" pitchFamily="34" charset="0"/>
              </a:rPr>
              <a:t>Food waste is discarded into </a:t>
            </a:r>
            <a:br>
              <a:rPr lang="en-US" sz="2200" b="1" dirty="0" smtClean="0">
                <a:latin typeface="Helvetica" pitchFamily="34" charset="0"/>
              </a:rPr>
            </a:br>
            <a:r>
              <a:rPr lang="en-US" sz="2200" b="1" dirty="0" smtClean="0">
                <a:latin typeface="Helvetica" pitchFamily="34" charset="0"/>
              </a:rPr>
              <a:t>general waste and is </a:t>
            </a:r>
            <a:br>
              <a:rPr lang="en-US" sz="2200" b="1" dirty="0" smtClean="0">
                <a:latin typeface="Helvetica" pitchFamily="34" charset="0"/>
              </a:rPr>
            </a:br>
            <a:r>
              <a:rPr lang="en-US" sz="2200" b="1" dirty="0" smtClean="0">
                <a:latin typeface="Helvetica" pitchFamily="34" charset="0"/>
              </a:rPr>
              <a:t>not re-cycled.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154</a:t>
            </a:fld>
            <a:endParaRPr lang="en-US" dirty="0"/>
          </a:p>
        </p:txBody>
      </p:sp>
      <p:pic>
        <p:nvPicPr>
          <p:cNvPr id="24578" name="Picture 2" descr="C:\Users\fgvghyujil\AppData\Local\Microsoft\Windows\Temporary Internet Files\Content.IE5\PP601SXW\MP900437220[1].jpg"/>
          <p:cNvPicPr>
            <a:picLocks noChangeAspect="1" noChangeArrowheads="1"/>
          </p:cNvPicPr>
          <p:nvPr/>
        </p:nvPicPr>
        <p:blipFill>
          <a:blip r:embed="rId3" cstate="print"/>
          <a:srcRect/>
          <a:stretch>
            <a:fillRect/>
          </a:stretch>
        </p:blipFill>
        <p:spPr bwMode="auto">
          <a:xfrm>
            <a:off x="5372096" y="3500438"/>
            <a:ext cx="3771904" cy="2514603"/>
          </a:xfrm>
          <a:prstGeom prst="rect">
            <a:avLst/>
          </a:prstGeom>
          <a:noFill/>
        </p:spPr>
      </p:pic>
    </p:spTree>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When identifying and preventing hygiene risks:</a:t>
            </a:r>
          </a:p>
          <a:p>
            <a:pPr>
              <a:spcBef>
                <a:spcPts val="1200"/>
              </a:spcBef>
              <a:spcAft>
                <a:spcPts val="1200"/>
              </a:spcAft>
            </a:pPr>
            <a:r>
              <a:rPr lang="en-AU" sz="2200" b="1" dirty="0" smtClean="0">
                <a:latin typeface="Helvetica" pitchFamily="34" charset="0"/>
              </a:rPr>
              <a:t>Be constantly alert for workplace food hygiene and safety risks and hazards</a:t>
            </a:r>
          </a:p>
          <a:p>
            <a:pPr>
              <a:spcBef>
                <a:spcPts val="1200"/>
              </a:spcBef>
              <a:spcAft>
                <a:spcPts val="1200"/>
              </a:spcAft>
            </a:pPr>
            <a:r>
              <a:rPr lang="en-AU" sz="2200" b="1" dirty="0" smtClean="0">
                <a:latin typeface="Helvetica" pitchFamily="34" charset="0"/>
              </a:rPr>
              <a:t>Understand food safety can be compromised </a:t>
            </a:r>
            <a:br>
              <a:rPr lang="en-AU" sz="2200" b="1" dirty="0" smtClean="0">
                <a:latin typeface="Helvetica" pitchFamily="34" charset="0"/>
              </a:rPr>
            </a:br>
            <a:r>
              <a:rPr lang="en-AU" sz="2200" b="1" dirty="0" smtClean="0">
                <a:latin typeface="Helvetica" pitchFamily="34" charset="0"/>
              </a:rPr>
              <a:t>from microbiological sources, chemical </a:t>
            </a:r>
            <a:br>
              <a:rPr lang="en-AU" sz="2200" b="1" dirty="0" smtClean="0">
                <a:latin typeface="Helvetica" pitchFamily="34" charset="0"/>
              </a:rPr>
            </a:br>
            <a:r>
              <a:rPr lang="en-AU" sz="2200" b="1" dirty="0" smtClean="0">
                <a:latin typeface="Helvetica" pitchFamily="34" charset="0"/>
              </a:rPr>
              <a:t>sources, physical sources, and other </a:t>
            </a:r>
            <a:br>
              <a:rPr lang="en-AU" sz="2200" b="1" dirty="0" smtClean="0">
                <a:latin typeface="Helvetica" pitchFamily="34" charset="0"/>
              </a:rPr>
            </a:br>
            <a:r>
              <a:rPr lang="en-AU" sz="2200" b="1" dirty="0" smtClean="0">
                <a:latin typeface="Helvetica" pitchFamily="34" charset="0"/>
              </a:rPr>
              <a:t>sources such as airborne contamination</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155</a:t>
            </a:fld>
            <a:endParaRPr lang="en-US" dirty="0"/>
          </a:p>
        </p:txBody>
      </p:sp>
      <p:pic>
        <p:nvPicPr>
          <p:cNvPr id="5" name="Picture 2" descr="C:\Users\fgvghyujil\AppData\Local\Microsoft\Windows\Temporary Internet Files\Content.IE5\PP601SXW\MC900440428[1].wmf"/>
          <p:cNvPicPr>
            <a:picLocks noChangeAspect="1" noChangeArrowheads="1"/>
          </p:cNvPicPr>
          <p:nvPr/>
        </p:nvPicPr>
        <p:blipFill>
          <a:blip r:embed="rId3" cstate="print"/>
          <a:srcRect/>
          <a:stretch>
            <a:fillRect/>
          </a:stretch>
        </p:blipFill>
        <p:spPr bwMode="auto">
          <a:xfrm>
            <a:off x="6715140" y="3500438"/>
            <a:ext cx="1736725" cy="1828800"/>
          </a:xfrm>
          <a:prstGeom prst="rect">
            <a:avLst/>
          </a:prstGeom>
          <a:noFill/>
        </p:spPr>
      </p:pic>
    </p:spTree>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1200"/>
              </a:spcBef>
              <a:spcAft>
                <a:spcPts val="1200"/>
              </a:spcAft>
            </a:pPr>
            <a:r>
              <a:rPr lang="en-AU" sz="2200" b="1" dirty="0" smtClean="0">
                <a:latin typeface="Helvetica" pitchFamily="34" charset="0"/>
              </a:rPr>
              <a:t>Use observation and experience to identify possible hygiene risks in the workplace</a:t>
            </a:r>
          </a:p>
          <a:p>
            <a:pPr>
              <a:spcBef>
                <a:spcPts val="1200"/>
              </a:spcBef>
              <a:spcAft>
                <a:spcPts val="1200"/>
              </a:spcAft>
            </a:pPr>
            <a:r>
              <a:rPr lang="en-AU" sz="2200" b="1" dirty="0" smtClean="0">
                <a:latin typeface="Helvetica" pitchFamily="34" charset="0"/>
              </a:rPr>
              <a:t>Physically exclude vermin from food areas, use chemical and other controls to eradicate them and implement sound housekeeping practices to </a:t>
            </a:r>
            <a:br>
              <a:rPr lang="en-AU" sz="2200" b="1" dirty="0" smtClean="0">
                <a:latin typeface="Helvetica" pitchFamily="34" charset="0"/>
              </a:rPr>
            </a:br>
            <a:r>
              <a:rPr lang="en-AU" sz="2200" b="1" dirty="0" smtClean="0">
                <a:latin typeface="Helvetica" pitchFamily="34" charset="0"/>
              </a:rPr>
              <a:t>deter them</a:t>
            </a:r>
          </a:p>
          <a:p>
            <a:pPr>
              <a:spcBef>
                <a:spcPts val="1200"/>
              </a:spcBef>
              <a:spcAft>
                <a:spcPts val="1200"/>
              </a:spcAft>
            </a:pPr>
            <a:r>
              <a:rPr lang="en-AU" sz="2200" b="1" dirty="0" smtClean="0">
                <a:latin typeface="Helvetica" pitchFamily="34" charset="0"/>
              </a:rPr>
              <a:t>Plan for the possibility of food recalls</a:t>
            </a:r>
          </a:p>
          <a:p>
            <a:pPr>
              <a:spcBef>
                <a:spcPts val="1200"/>
              </a:spcBef>
              <a:spcAft>
                <a:spcPts val="1200"/>
              </a:spcAft>
              <a:buNone/>
            </a:pPr>
            <a:r>
              <a:rPr lang="en-US" sz="2200" b="1" dirty="0" smtClean="0">
                <a:latin typeface="Helvetica" pitchFamily="34" charset="0"/>
              </a:rPr>
              <a:t>(Continued)</a:t>
            </a:r>
          </a:p>
          <a:p>
            <a:pPr>
              <a:spcBef>
                <a:spcPts val="1200"/>
              </a:spcBef>
              <a:spcAft>
                <a:spcPts val="1200"/>
              </a:spcAft>
              <a:buNone/>
            </a:pPr>
            <a:endParaRPr lang="en-AU" sz="2200" b="1" dirty="0" smtClean="0">
              <a:latin typeface="Helvetica" pitchFamily="34" charset="0"/>
            </a:endParaRP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156</a:t>
            </a:fld>
            <a:endParaRPr lang="en-US" dirty="0"/>
          </a:p>
        </p:txBody>
      </p:sp>
      <p:pic>
        <p:nvPicPr>
          <p:cNvPr id="5" name="Picture 2" descr="C:\Users\fgvghyujil\AppData\Local\Microsoft\Windows\Temporary Internet Files\Content.IE5\PP601SXW\MC900440428[1].wmf"/>
          <p:cNvPicPr>
            <a:picLocks noChangeAspect="1" noChangeArrowheads="1"/>
          </p:cNvPicPr>
          <p:nvPr/>
        </p:nvPicPr>
        <p:blipFill>
          <a:blip r:embed="rId3" cstate="print"/>
          <a:srcRect/>
          <a:stretch>
            <a:fillRect/>
          </a:stretch>
        </p:blipFill>
        <p:spPr bwMode="auto">
          <a:xfrm>
            <a:off x="6715140" y="3500438"/>
            <a:ext cx="1736725" cy="1828800"/>
          </a:xfrm>
          <a:prstGeom prst="rect">
            <a:avLst/>
          </a:prstGeom>
          <a:noFill/>
        </p:spPr>
      </p:pic>
    </p:spTree>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1200"/>
              </a:spcBef>
              <a:spcAft>
                <a:spcPts val="1200"/>
              </a:spcAft>
            </a:pPr>
            <a:r>
              <a:rPr lang="en-AU" sz="2200" b="1" dirty="0" smtClean="0">
                <a:latin typeface="Helvetica" pitchFamily="34" charset="0"/>
              </a:rPr>
              <a:t>Report any food safety problem you cannot fix</a:t>
            </a:r>
          </a:p>
          <a:p>
            <a:pPr>
              <a:spcBef>
                <a:spcPts val="1200"/>
              </a:spcBef>
              <a:spcAft>
                <a:spcPts val="1200"/>
              </a:spcAft>
            </a:pPr>
            <a:r>
              <a:rPr lang="en-AU" sz="2200" b="1" dirty="0" smtClean="0">
                <a:latin typeface="Helvetica" pitchFamily="34" charset="0"/>
              </a:rPr>
              <a:t>Ensure corrective action in relation to food safety is taken promptly and addresses identified cause as well as all food, items, equipment, utensils and food contact surfaces involved</a:t>
            </a:r>
          </a:p>
          <a:p>
            <a:pPr>
              <a:spcBef>
                <a:spcPts val="1200"/>
              </a:spcBef>
              <a:spcAft>
                <a:spcPts val="1200"/>
              </a:spcAft>
            </a:pPr>
            <a:r>
              <a:rPr lang="en-AU" sz="2200" b="1" dirty="0" smtClean="0">
                <a:latin typeface="Helvetica" pitchFamily="34" charset="0"/>
              </a:rPr>
              <a:t>Record corrective action taken</a:t>
            </a:r>
          </a:p>
          <a:p>
            <a:pPr marL="360000" indent="-360000">
              <a:spcBef>
                <a:spcPts val="1200"/>
              </a:spcBef>
              <a:spcAft>
                <a:spcPts val="1200"/>
              </a:spcAft>
              <a:buNone/>
            </a:pPr>
            <a:r>
              <a:rPr lang="en-US" sz="2200" b="1"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157</a:t>
            </a:fld>
            <a:endParaRPr lang="en-US" dirty="0"/>
          </a:p>
        </p:txBody>
      </p:sp>
      <p:pic>
        <p:nvPicPr>
          <p:cNvPr id="5" name="Picture 2" descr="C:\Users\fgvghyujil\AppData\Local\Microsoft\Windows\Temporary Internet Files\Content.IE5\PP601SXW\MC900440428[1].wmf"/>
          <p:cNvPicPr>
            <a:picLocks noChangeAspect="1" noChangeArrowheads="1"/>
          </p:cNvPicPr>
          <p:nvPr/>
        </p:nvPicPr>
        <p:blipFill>
          <a:blip r:embed="rId3" cstate="print"/>
          <a:srcRect/>
          <a:stretch>
            <a:fillRect/>
          </a:stretch>
        </p:blipFill>
        <p:spPr bwMode="auto">
          <a:xfrm>
            <a:off x="6715140" y="3500438"/>
            <a:ext cx="1736725" cy="1828800"/>
          </a:xfrm>
          <a:prstGeom prst="rect">
            <a:avLst/>
          </a:prstGeom>
          <a:noFill/>
        </p:spPr>
      </p:pic>
    </p:spTree>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1200"/>
              </a:spcBef>
              <a:spcAft>
                <a:spcPts val="1200"/>
              </a:spcAft>
            </a:pPr>
            <a:r>
              <a:rPr lang="en-AU" sz="2200" b="1" dirty="0" smtClean="0">
                <a:latin typeface="Helvetica" pitchFamily="34" charset="0"/>
              </a:rPr>
              <a:t>Dispose of internal and external waste in accordance with house requirements</a:t>
            </a:r>
          </a:p>
          <a:p>
            <a:pPr>
              <a:spcBef>
                <a:spcPts val="1200"/>
              </a:spcBef>
              <a:spcAft>
                <a:spcPts val="1200"/>
              </a:spcAft>
            </a:pPr>
            <a:r>
              <a:rPr lang="en-AU" sz="2200" b="1" dirty="0" smtClean="0">
                <a:latin typeface="Helvetica" pitchFamily="34" charset="0"/>
              </a:rPr>
              <a:t>Wash hands after handling waste</a:t>
            </a:r>
          </a:p>
          <a:p>
            <a:pPr>
              <a:spcBef>
                <a:spcPts val="1200"/>
              </a:spcBef>
              <a:spcAft>
                <a:spcPts val="1200"/>
              </a:spcAft>
            </a:pPr>
            <a:r>
              <a:rPr lang="en-AU" sz="2200" b="1" dirty="0" smtClean="0">
                <a:latin typeface="Helvetica" pitchFamily="34" charset="0"/>
              </a:rPr>
              <a:t>Keep external waste areas clean and vermin free</a:t>
            </a:r>
          </a:p>
          <a:p>
            <a:pPr marL="360000" indent="-360000">
              <a:spcBef>
                <a:spcPts val="1200"/>
              </a:spcBef>
              <a:spcAft>
                <a:spcPts val="1200"/>
              </a:spcAft>
              <a:buNone/>
            </a:pPr>
            <a:r>
              <a:rPr lang="en-US" sz="2200" b="1" dirty="0" smtClean="0">
                <a:latin typeface="Helvetica" pitchFamily="34" charset="0"/>
              </a:rPr>
              <a:t>(Continued)</a:t>
            </a:r>
          </a:p>
          <a:p>
            <a:pPr marL="360000" indent="-360000">
              <a:spcBef>
                <a:spcPts val="1200"/>
              </a:spcBef>
              <a:spcAft>
                <a:spcPts val="1200"/>
              </a:spcAft>
              <a:buNone/>
            </a:pPr>
            <a:endParaRPr lang="en-US" sz="2200" dirty="0" smtClean="0">
              <a:latin typeface="Helvetica" pitchFamily="34" charset="0"/>
            </a:endParaRP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158</a:t>
            </a:fld>
            <a:endParaRPr lang="en-US" dirty="0"/>
          </a:p>
        </p:txBody>
      </p:sp>
      <p:pic>
        <p:nvPicPr>
          <p:cNvPr id="5" name="Picture 2" descr="C:\Users\fgvghyujil\AppData\Local\Microsoft\Windows\Temporary Internet Files\Content.IE5\PP601SXW\MC900440428[1].wmf"/>
          <p:cNvPicPr>
            <a:picLocks noChangeAspect="1" noChangeArrowheads="1"/>
          </p:cNvPicPr>
          <p:nvPr/>
        </p:nvPicPr>
        <p:blipFill>
          <a:blip r:embed="rId3" cstate="print"/>
          <a:srcRect/>
          <a:stretch>
            <a:fillRect/>
          </a:stretch>
        </p:blipFill>
        <p:spPr bwMode="auto">
          <a:xfrm>
            <a:off x="6715140" y="3500438"/>
            <a:ext cx="1736725" cy="1828800"/>
          </a:xfrm>
          <a:prstGeom prst="rect">
            <a:avLst/>
          </a:prstGeom>
          <a:noFill/>
        </p:spPr>
      </p:pic>
    </p:spTree>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1200"/>
              </a:spcBef>
              <a:spcAft>
                <a:spcPts val="1200"/>
              </a:spcAft>
            </a:pPr>
            <a:r>
              <a:rPr lang="en-AU" sz="2200" b="1" dirty="0" smtClean="0">
                <a:latin typeface="Helvetica" pitchFamily="34" charset="0"/>
              </a:rPr>
              <a:t>Clean and maintain all internal and external rubbish containers</a:t>
            </a:r>
          </a:p>
          <a:p>
            <a:pPr>
              <a:spcBef>
                <a:spcPts val="1200"/>
              </a:spcBef>
              <a:spcAft>
                <a:spcPts val="1200"/>
              </a:spcAft>
            </a:pPr>
            <a:r>
              <a:rPr lang="en-AU" sz="2200" b="1" dirty="0" smtClean="0">
                <a:latin typeface="Helvetica" pitchFamily="34" charset="0"/>
              </a:rPr>
              <a:t>Do not allow the accumulation of waste either internally or externally</a:t>
            </a:r>
          </a:p>
          <a:p>
            <a:pPr>
              <a:spcBef>
                <a:spcPts val="1200"/>
              </a:spcBef>
              <a:spcAft>
                <a:spcPts val="1200"/>
              </a:spcAft>
            </a:pPr>
            <a:r>
              <a:rPr lang="en-AU" sz="2200" b="1" dirty="0" smtClean="0">
                <a:latin typeface="Helvetica" pitchFamily="34" charset="0"/>
              </a:rPr>
              <a:t>Re-cycle waste as appropriate.</a:t>
            </a:r>
            <a:endParaRPr lang="en-US" sz="2200" b="1" dirty="0" smtClean="0">
              <a:latin typeface="Helvetica" pitchFamily="34" charset="0"/>
            </a:endParaRP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159</a:t>
            </a:fld>
            <a:endParaRPr lang="en-US" dirty="0"/>
          </a:p>
        </p:txBody>
      </p:sp>
      <p:pic>
        <p:nvPicPr>
          <p:cNvPr id="5" name="Picture 2" descr="C:\Users\fgvghyujil\AppData\Local\Microsoft\Windows\Temporary Internet Files\Content.IE5\PP601SXW\MC900440428[1].wmf"/>
          <p:cNvPicPr>
            <a:picLocks noChangeAspect="1" noChangeArrowheads="1"/>
          </p:cNvPicPr>
          <p:nvPr/>
        </p:nvPicPr>
        <p:blipFill>
          <a:blip r:embed="rId3" cstate="print"/>
          <a:srcRect/>
          <a:stretch>
            <a:fillRect/>
          </a:stretch>
        </p:blipFill>
        <p:spPr bwMode="auto">
          <a:xfrm>
            <a:off x="6715140" y="3500438"/>
            <a:ext cx="1736725" cy="1828800"/>
          </a:xfrm>
          <a:prstGeom prst="rect">
            <a:avLst/>
          </a:prstGeom>
          <a:noFill/>
        </p:spPr>
      </p:pic>
    </p:spTree>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Maintain safe personal food handling and personal presentation standards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Performance Criteria for this Element are:</a:t>
            </a:r>
          </a:p>
          <a:p>
            <a:pPr marL="360000" indent="-360000">
              <a:spcBef>
                <a:spcPts val="1200"/>
              </a:spcBef>
              <a:spcAft>
                <a:spcPts val="1200"/>
              </a:spcAft>
            </a:pPr>
            <a:r>
              <a:rPr lang="en-AU" sz="2200" b="1" dirty="0" smtClean="0">
                <a:latin typeface="Helvetica" pitchFamily="34" charset="0"/>
              </a:rPr>
              <a:t>Identify the enterprise standards and legislated requirements that apply to personal practices and presentation for food handling staff</a:t>
            </a:r>
            <a:endParaRPr lang="en-US" sz="2200" b="1" dirty="0" smtClean="0">
              <a:latin typeface="Helvetica" pitchFamily="34" charset="0"/>
            </a:endParaRPr>
          </a:p>
          <a:p>
            <a:pPr marL="360000" indent="-360000">
              <a:spcBef>
                <a:spcPts val="1200"/>
              </a:spcBef>
              <a:spcAft>
                <a:spcPts val="1200"/>
              </a:spcAft>
            </a:pPr>
            <a:r>
              <a:rPr lang="en-AU" sz="2200" b="1" dirty="0" smtClean="0">
                <a:latin typeface="Helvetica" pitchFamily="34" charset="0"/>
              </a:rPr>
              <a:t>Follow enterprise standards and legislated requirements that apply to personal practices and presentation for food handling staff.</a:t>
            </a:r>
            <a:endParaRPr lang="en-US" sz="2200" b="1"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160</a:t>
            </a:fld>
            <a:endParaRPr lang="en-US" dirty="0"/>
          </a:p>
        </p:txBody>
      </p:sp>
      <p:pic>
        <p:nvPicPr>
          <p:cNvPr id="5" name="Picture 4" descr="Checklist.jpg"/>
          <p:cNvPicPr>
            <a:picLocks noChangeAspect="1"/>
          </p:cNvPicPr>
          <p:nvPr/>
        </p:nvPicPr>
        <p:blipFill>
          <a:blip r:embed="rId3" cstate="print"/>
          <a:stretch>
            <a:fillRect/>
          </a:stretch>
        </p:blipFill>
        <p:spPr>
          <a:xfrm>
            <a:off x="6572264" y="4357694"/>
            <a:ext cx="1953995" cy="1285884"/>
          </a:xfrm>
          <a:prstGeom prst="rect">
            <a:avLst/>
          </a:prstGeom>
        </p:spPr>
      </p:pic>
    </p:spTree>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46654" cy="1143000"/>
          </a:xfrm>
        </p:spPr>
        <p:txBody>
          <a:bodyPr>
            <a:noAutofit/>
          </a:bodyPr>
          <a:lstStyle/>
          <a:p>
            <a:r>
              <a:rPr lang="en-AU" sz="3400" b="1" dirty="0" smtClean="0">
                <a:solidFill>
                  <a:srgbClr val="FF6600"/>
                </a:solidFill>
                <a:latin typeface="Helvetica" pitchFamily="34" charset="0"/>
              </a:rPr>
              <a:t>Identify requirements applying to personal practices and presentation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43050"/>
            <a:ext cx="7467600" cy="4929222"/>
          </a:xfrm>
        </p:spPr>
        <p:txBody>
          <a:bodyPr>
            <a:normAutofit lnSpcReduction="10000"/>
          </a:bodyPr>
          <a:lstStyle/>
          <a:p>
            <a:pPr marL="0" indent="0">
              <a:spcBef>
                <a:spcPts val="1200"/>
              </a:spcBef>
              <a:spcAft>
                <a:spcPts val="1200"/>
              </a:spcAft>
              <a:buNone/>
            </a:pPr>
            <a:r>
              <a:rPr lang="en-US" sz="2200" b="1" dirty="0" smtClean="0">
                <a:latin typeface="Helvetica" pitchFamily="34" charset="0"/>
              </a:rPr>
              <a:t>You can identify workplace personal practice and presentation requirements by:</a:t>
            </a:r>
          </a:p>
          <a:p>
            <a:pPr marL="360000" indent="-360000">
              <a:spcBef>
                <a:spcPts val="1200"/>
              </a:spcBef>
              <a:spcAft>
                <a:spcPts val="1200"/>
              </a:spcAft>
            </a:pPr>
            <a:r>
              <a:rPr lang="en-US" sz="2200" b="1" dirty="0" smtClean="0">
                <a:latin typeface="Helvetica" pitchFamily="34" charset="0"/>
              </a:rPr>
              <a:t>Talking to management</a:t>
            </a:r>
          </a:p>
          <a:p>
            <a:pPr marL="360000" indent="-360000">
              <a:spcBef>
                <a:spcPts val="1200"/>
              </a:spcBef>
              <a:spcAft>
                <a:spcPts val="1200"/>
              </a:spcAft>
            </a:pPr>
            <a:r>
              <a:rPr lang="en-US" sz="2200" b="1" dirty="0" smtClean="0">
                <a:latin typeface="Helvetica" pitchFamily="34" charset="0"/>
              </a:rPr>
              <a:t>Reading company policies and </a:t>
            </a:r>
            <a:br>
              <a:rPr lang="en-US" sz="2200" b="1" dirty="0" smtClean="0">
                <a:latin typeface="Helvetica" pitchFamily="34" charset="0"/>
              </a:rPr>
            </a:br>
            <a:r>
              <a:rPr lang="en-US" sz="2200" b="1" dirty="0" smtClean="0">
                <a:latin typeface="Helvetica" pitchFamily="34" charset="0"/>
              </a:rPr>
              <a:t>procedures</a:t>
            </a:r>
          </a:p>
          <a:p>
            <a:pPr marL="360000" indent="-360000">
              <a:spcBef>
                <a:spcPts val="1200"/>
              </a:spcBef>
              <a:spcAft>
                <a:spcPts val="1200"/>
              </a:spcAft>
            </a:pPr>
            <a:r>
              <a:rPr lang="en-US" sz="2200" b="1" dirty="0" smtClean="0">
                <a:latin typeface="Helvetica" pitchFamily="34" charset="0"/>
              </a:rPr>
              <a:t>Attending in-house training</a:t>
            </a:r>
          </a:p>
          <a:p>
            <a:pPr marL="360000" indent="-360000">
              <a:spcBef>
                <a:spcPts val="1200"/>
              </a:spcBef>
              <a:spcAft>
                <a:spcPts val="1200"/>
              </a:spcAft>
            </a:pPr>
            <a:r>
              <a:rPr lang="en-US" sz="2200" b="1" dirty="0" smtClean="0">
                <a:latin typeface="Helvetica" pitchFamily="34" charset="0"/>
              </a:rPr>
              <a:t>Observing others</a:t>
            </a:r>
          </a:p>
          <a:p>
            <a:pPr marL="360000" indent="-360000">
              <a:spcBef>
                <a:spcPts val="1200"/>
              </a:spcBef>
              <a:spcAft>
                <a:spcPts val="1200"/>
              </a:spcAft>
            </a:pPr>
            <a:r>
              <a:rPr lang="en-US" sz="2200" b="1" dirty="0" smtClean="0">
                <a:latin typeface="Helvetica" pitchFamily="34" charset="0"/>
              </a:rPr>
              <a:t>Asking questions</a:t>
            </a:r>
          </a:p>
          <a:p>
            <a:pPr marL="360000" indent="-360000">
              <a:spcBef>
                <a:spcPts val="1200"/>
              </a:spcBef>
              <a:spcAft>
                <a:spcPts val="1200"/>
              </a:spcAft>
            </a:pPr>
            <a:r>
              <a:rPr lang="en-US" sz="2200" b="1" dirty="0" smtClean="0">
                <a:latin typeface="Helvetica" pitchFamily="34" charset="0"/>
              </a:rPr>
              <a:t>Talking to health authorities.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161</a:t>
            </a:fld>
            <a:endParaRPr lang="en-US" dirty="0"/>
          </a:p>
        </p:txBody>
      </p:sp>
      <p:pic>
        <p:nvPicPr>
          <p:cNvPr id="5" name="Picture 4" descr="Employee handbook.jpg"/>
          <p:cNvPicPr>
            <a:picLocks noChangeAspect="1"/>
          </p:cNvPicPr>
          <p:nvPr/>
        </p:nvPicPr>
        <p:blipFill>
          <a:blip r:embed="rId3" cstate="print"/>
          <a:stretch>
            <a:fillRect/>
          </a:stretch>
        </p:blipFill>
        <p:spPr>
          <a:xfrm>
            <a:off x="6500826" y="2928934"/>
            <a:ext cx="2123397" cy="3181344"/>
          </a:xfrm>
          <a:prstGeom prst="rect">
            <a:avLst/>
          </a:prstGeom>
        </p:spPr>
      </p:pic>
    </p:spTree>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Follow requirements applying to personal practices and presentation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Requirements relating to uniforms for food handlers:</a:t>
            </a:r>
          </a:p>
          <a:p>
            <a:pPr marL="360000" indent="-360000">
              <a:spcBef>
                <a:spcPts val="1200"/>
              </a:spcBef>
              <a:spcAft>
                <a:spcPts val="1200"/>
              </a:spcAft>
            </a:pPr>
            <a:r>
              <a:rPr lang="en-US" sz="2200" b="1" dirty="0" smtClean="0">
                <a:latin typeface="Helvetica" pitchFamily="34" charset="0"/>
              </a:rPr>
              <a:t>Food handlers must wear a uniform as prescribed</a:t>
            </a:r>
          </a:p>
          <a:p>
            <a:pPr marL="360000" indent="-360000">
              <a:spcBef>
                <a:spcPts val="1200"/>
              </a:spcBef>
              <a:spcAft>
                <a:spcPts val="1200"/>
              </a:spcAft>
            </a:pPr>
            <a:r>
              <a:rPr lang="en-US" sz="2200" b="1" dirty="0" smtClean="0">
                <a:latin typeface="Helvetica" pitchFamily="34" charset="0"/>
              </a:rPr>
              <a:t>Uniform must be clean</a:t>
            </a:r>
          </a:p>
          <a:p>
            <a:pPr marL="360000" indent="-360000">
              <a:spcBef>
                <a:spcPts val="1200"/>
              </a:spcBef>
              <a:spcAft>
                <a:spcPts val="1200"/>
              </a:spcAft>
            </a:pPr>
            <a:r>
              <a:rPr lang="en-US" sz="2200" b="1" dirty="0" smtClean="0">
                <a:latin typeface="Helvetica" pitchFamily="34" charset="0"/>
              </a:rPr>
              <a:t>Change into clean clothes if clothing</a:t>
            </a:r>
            <a:br>
              <a:rPr lang="en-US" sz="2200" b="1" dirty="0" smtClean="0">
                <a:latin typeface="Helvetica" pitchFamily="34" charset="0"/>
              </a:rPr>
            </a:br>
            <a:r>
              <a:rPr lang="en-US" sz="2200" b="1" dirty="0" smtClean="0">
                <a:latin typeface="Helvetica" pitchFamily="34" charset="0"/>
              </a:rPr>
              <a:t>becomes dirty</a:t>
            </a:r>
          </a:p>
          <a:p>
            <a:pPr marL="360000" indent="-360000">
              <a:spcBef>
                <a:spcPts val="1200"/>
              </a:spcBef>
              <a:spcAft>
                <a:spcPts val="1200"/>
              </a:spcAft>
            </a:pPr>
            <a:r>
              <a:rPr lang="en-US" sz="2200" b="1" dirty="0" smtClean="0">
                <a:latin typeface="Helvetica" pitchFamily="34" charset="0"/>
              </a:rPr>
              <a:t>Remove protective clothing before </a:t>
            </a:r>
            <a:br>
              <a:rPr lang="en-US" sz="2200" b="1" dirty="0" smtClean="0">
                <a:latin typeface="Helvetica" pitchFamily="34" charset="0"/>
              </a:rPr>
            </a:br>
            <a:r>
              <a:rPr lang="en-US" sz="2200" b="1" dirty="0" smtClean="0">
                <a:latin typeface="Helvetica" pitchFamily="34" charset="0"/>
              </a:rPr>
              <a:t>visiting toilet.</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162</a:t>
            </a:fld>
            <a:endParaRPr lang="en-US" dirty="0"/>
          </a:p>
        </p:txBody>
      </p:sp>
      <p:pic>
        <p:nvPicPr>
          <p:cNvPr id="5" name="Picture 4" descr="cocoa_045.jpg"/>
          <p:cNvPicPr>
            <a:picLocks noChangeAspect="1"/>
          </p:cNvPicPr>
          <p:nvPr/>
        </p:nvPicPr>
        <p:blipFill>
          <a:blip r:embed="rId3" cstate="print"/>
          <a:stretch>
            <a:fillRect/>
          </a:stretch>
        </p:blipFill>
        <p:spPr>
          <a:xfrm>
            <a:off x="6357950" y="2786058"/>
            <a:ext cx="2216838" cy="3084296"/>
          </a:xfrm>
          <a:prstGeom prst="rect">
            <a:avLst/>
          </a:prstGeom>
        </p:spPr>
      </p:pic>
    </p:spTree>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Follow requirements applying to personal practices and presentation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Make sure clothing and other items do not contaminate food:</a:t>
            </a:r>
          </a:p>
          <a:p>
            <a:pPr lvl="0">
              <a:spcBef>
                <a:spcPts val="1200"/>
              </a:spcBef>
              <a:spcAft>
                <a:spcPts val="1200"/>
              </a:spcAft>
            </a:pPr>
            <a:r>
              <a:rPr lang="en-AU" sz="2200" b="1" dirty="0" smtClean="0">
                <a:latin typeface="Helvetica" pitchFamily="34" charset="0"/>
              </a:rPr>
              <a:t>Ensure food handling clothes are not loose</a:t>
            </a:r>
          </a:p>
          <a:p>
            <a:pPr lvl="0">
              <a:spcBef>
                <a:spcPts val="1200"/>
              </a:spcBef>
              <a:spcAft>
                <a:spcPts val="1200"/>
              </a:spcAft>
            </a:pPr>
            <a:r>
              <a:rPr lang="en-AU" sz="2200" b="1" dirty="0" smtClean="0">
                <a:latin typeface="Helvetica" pitchFamily="34" charset="0"/>
              </a:rPr>
              <a:t>Ensure buttons on food handling clothes are not loose</a:t>
            </a:r>
          </a:p>
          <a:p>
            <a:pPr lvl="0">
              <a:spcBef>
                <a:spcPts val="1200"/>
              </a:spcBef>
              <a:spcAft>
                <a:spcPts val="1200"/>
              </a:spcAft>
            </a:pPr>
            <a:r>
              <a:rPr lang="en-AU" sz="2200" b="1" dirty="0" smtClean="0">
                <a:latin typeface="Helvetica" pitchFamily="34" charset="0"/>
              </a:rPr>
              <a:t>Avoid adding brooches, name tags, </a:t>
            </a:r>
            <a:br>
              <a:rPr lang="en-AU" sz="2200" b="1" dirty="0" smtClean="0">
                <a:latin typeface="Helvetica" pitchFamily="34" charset="0"/>
              </a:rPr>
            </a:br>
            <a:r>
              <a:rPr lang="en-AU" sz="2200" b="1" dirty="0" smtClean="0">
                <a:latin typeface="Helvetica" pitchFamily="34" charset="0"/>
              </a:rPr>
              <a:t>clips, pins to clothes</a:t>
            </a:r>
          </a:p>
          <a:p>
            <a:pPr lvl="0">
              <a:spcBef>
                <a:spcPts val="1200"/>
              </a:spcBef>
              <a:spcAft>
                <a:spcPts val="1200"/>
              </a:spcAft>
            </a:pPr>
            <a:r>
              <a:rPr lang="en-AU" sz="2200" b="1" dirty="0" smtClean="0">
                <a:latin typeface="Helvetica" pitchFamily="34" charset="0"/>
              </a:rPr>
              <a:t>Do not wear food handling clothes </a:t>
            </a:r>
            <a:br>
              <a:rPr lang="en-AU" sz="2200" b="1" dirty="0" smtClean="0">
                <a:latin typeface="Helvetica" pitchFamily="34" charset="0"/>
              </a:rPr>
            </a:br>
            <a:r>
              <a:rPr lang="en-AU" sz="2200" b="1" dirty="0" smtClean="0">
                <a:latin typeface="Helvetica" pitchFamily="34" charset="0"/>
              </a:rPr>
              <a:t>to or from work.</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163</a:t>
            </a:fld>
            <a:endParaRPr lang="en-US" dirty="0"/>
          </a:p>
        </p:txBody>
      </p:sp>
      <p:pic>
        <p:nvPicPr>
          <p:cNvPr id="5" name="Picture 4" descr="Chef1.jpg"/>
          <p:cNvPicPr>
            <a:picLocks noChangeAspect="1"/>
          </p:cNvPicPr>
          <p:nvPr/>
        </p:nvPicPr>
        <p:blipFill>
          <a:blip r:embed="rId3" cstate="print"/>
          <a:stretch>
            <a:fillRect/>
          </a:stretch>
        </p:blipFill>
        <p:spPr>
          <a:xfrm>
            <a:off x="5929322" y="3929066"/>
            <a:ext cx="2857488" cy="1910945"/>
          </a:xfrm>
          <a:prstGeom prst="rect">
            <a:avLst/>
          </a:prstGeom>
        </p:spPr>
      </p:pic>
    </p:spTree>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Follow requirements applying to personal practices and presentation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72604"/>
          </a:xfrm>
        </p:spPr>
        <p:txBody>
          <a:bodyPr>
            <a:normAutofit/>
          </a:bodyPr>
          <a:lstStyle/>
          <a:p>
            <a:pPr marL="0" indent="0">
              <a:spcBef>
                <a:spcPts val="1200"/>
              </a:spcBef>
              <a:spcAft>
                <a:spcPts val="1200"/>
              </a:spcAft>
              <a:buNone/>
            </a:pPr>
            <a:r>
              <a:rPr lang="en-US" sz="2200" b="1" dirty="0" smtClean="0">
                <a:latin typeface="Helvetica" pitchFamily="34" charset="0"/>
              </a:rPr>
              <a:t>Food handlers &amp; jewellery:</a:t>
            </a:r>
          </a:p>
          <a:p>
            <a:pPr marL="360000" indent="-360000">
              <a:spcBef>
                <a:spcPts val="1200"/>
              </a:spcBef>
              <a:spcAft>
                <a:spcPts val="1200"/>
              </a:spcAft>
            </a:pPr>
            <a:r>
              <a:rPr lang="en-US" sz="2200" b="1" dirty="0" smtClean="0">
                <a:latin typeface="Helvetica" pitchFamily="34" charset="0"/>
              </a:rPr>
              <a:t>Avoid jewellery on hands and wrists</a:t>
            </a:r>
          </a:p>
          <a:p>
            <a:pPr marL="360000" indent="-360000">
              <a:spcBef>
                <a:spcPts val="1200"/>
              </a:spcBef>
              <a:spcAft>
                <a:spcPts val="1200"/>
              </a:spcAft>
            </a:pPr>
            <a:r>
              <a:rPr lang="en-US" sz="2200" b="1" dirty="0" smtClean="0">
                <a:latin typeface="Helvetica" pitchFamily="34" charset="0"/>
              </a:rPr>
              <a:t>Wear disposable gloves over rings</a:t>
            </a:r>
          </a:p>
          <a:p>
            <a:pPr marL="360000" indent="-360000">
              <a:spcBef>
                <a:spcPts val="1200"/>
              </a:spcBef>
              <a:spcAft>
                <a:spcPts val="1200"/>
              </a:spcAft>
            </a:pPr>
            <a:r>
              <a:rPr lang="en-US" sz="2200" b="1" dirty="0" smtClean="0">
                <a:latin typeface="Helvetica" pitchFamily="34" charset="0"/>
              </a:rPr>
              <a:t>Do not wear ear-rings – sleepers </a:t>
            </a:r>
            <a:br>
              <a:rPr lang="en-US" sz="2200" b="1" dirty="0" smtClean="0">
                <a:latin typeface="Helvetica" pitchFamily="34" charset="0"/>
              </a:rPr>
            </a:br>
            <a:r>
              <a:rPr lang="en-US" sz="2200" b="1" dirty="0" smtClean="0">
                <a:latin typeface="Helvetica" pitchFamily="34" charset="0"/>
              </a:rPr>
              <a:t>may be acceptable</a:t>
            </a:r>
          </a:p>
          <a:p>
            <a:pPr marL="360000" indent="-360000">
              <a:spcBef>
                <a:spcPts val="1200"/>
              </a:spcBef>
              <a:spcAft>
                <a:spcPts val="1200"/>
              </a:spcAft>
            </a:pPr>
            <a:r>
              <a:rPr lang="en-US" sz="2200" b="1" dirty="0" smtClean="0">
                <a:latin typeface="Helvetica" pitchFamily="34" charset="0"/>
              </a:rPr>
              <a:t>Do not fiddle with </a:t>
            </a:r>
            <a:r>
              <a:rPr lang="en-US" sz="2200" b="1" dirty="0" err="1" smtClean="0">
                <a:latin typeface="Helvetica" pitchFamily="34" charset="0"/>
              </a:rPr>
              <a:t>jewellery</a:t>
            </a:r>
            <a:r>
              <a:rPr lang="en-US" sz="2200" b="1" dirty="0" smtClean="0">
                <a:latin typeface="Helvetica" pitchFamily="34" charset="0"/>
              </a:rPr>
              <a:t> </a:t>
            </a:r>
            <a:br>
              <a:rPr lang="en-US" sz="2200" b="1" dirty="0" smtClean="0">
                <a:latin typeface="Helvetica" pitchFamily="34" charset="0"/>
              </a:rPr>
            </a:br>
            <a:r>
              <a:rPr lang="en-US" sz="2200" b="1" dirty="0" smtClean="0">
                <a:latin typeface="Helvetica" pitchFamily="34" charset="0"/>
              </a:rPr>
              <a:t>when working.</a:t>
            </a:r>
          </a:p>
          <a:p>
            <a:pPr marL="360000" indent="-360000">
              <a:spcBef>
                <a:spcPts val="12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164</a:t>
            </a:fld>
            <a:endParaRPr lang="en-US" dirty="0"/>
          </a:p>
        </p:txBody>
      </p:sp>
      <p:pic>
        <p:nvPicPr>
          <p:cNvPr id="5" name="Picture 4" descr="Mixing salad.jpg"/>
          <p:cNvPicPr>
            <a:picLocks noChangeAspect="1"/>
          </p:cNvPicPr>
          <p:nvPr/>
        </p:nvPicPr>
        <p:blipFill>
          <a:blip r:embed="rId3" cstate="print"/>
          <a:stretch>
            <a:fillRect/>
          </a:stretch>
        </p:blipFill>
        <p:spPr>
          <a:xfrm>
            <a:off x="5826232" y="3286124"/>
            <a:ext cx="3317768" cy="2724525"/>
          </a:xfrm>
          <a:prstGeom prst="rect">
            <a:avLst/>
          </a:prstGeom>
        </p:spPr>
      </p:pic>
    </p:spTree>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Follow requirements applying to personal practices and presentation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Food handlers hair ornaments:</a:t>
            </a:r>
          </a:p>
          <a:p>
            <a:pPr marL="360000" indent="-360000">
              <a:spcBef>
                <a:spcPts val="1200"/>
              </a:spcBef>
              <a:spcAft>
                <a:spcPts val="1200"/>
              </a:spcAft>
            </a:pPr>
            <a:r>
              <a:rPr lang="en-US" sz="2200" b="1" dirty="0" smtClean="0">
                <a:latin typeface="Helvetica" pitchFamily="34" charset="0"/>
              </a:rPr>
              <a:t>Avoid hair clips and pins</a:t>
            </a:r>
          </a:p>
          <a:p>
            <a:pPr marL="360000" indent="-360000">
              <a:spcBef>
                <a:spcPts val="1200"/>
              </a:spcBef>
              <a:spcAft>
                <a:spcPts val="1200"/>
              </a:spcAft>
            </a:pPr>
            <a:r>
              <a:rPr lang="en-US" sz="2200" b="1" dirty="0" smtClean="0">
                <a:latin typeface="Helvetica" pitchFamily="34" charset="0"/>
              </a:rPr>
              <a:t>It is best to wear no hair ornaments</a:t>
            </a:r>
          </a:p>
          <a:p>
            <a:pPr marL="360000" indent="-360000">
              <a:spcBef>
                <a:spcPts val="1200"/>
              </a:spcBef>
              <a:spcAft>
                <a:spcPts val="1200"/>
              </a:spcAft>
            </a:pPr>
            <a:r>
              <a:rPr lang="en-US" sz="2200" b="1" dirty="0" smtClean="0">
                <a:latin typeface="Helvetica" pitchFamily="34" charset="0"/>
              </a:rPr>
              <a:t>Double-check anything worn in the </a:t>
            </a:r>
            <a:br>
              <a:rPr lang="en-US" sz="2200" b="1" dirty="0" smtClean="0">
                <a:latin typeface="Helvetica" pitchFamily="34" charset="0"/>
              </a:rPr>
            </a:br>
            <a:r>
              <a:rPr lang="en-US" sz="2200" b="1" dirty="0" smtClean="0">
                <a:latin typeface="Helvetica" pitchFamily="34" charset="0"/>
              </a:rPr>
              <a:t>hair to ensure it is safely secured</a:t>
            </a:r>
          </a:p>
          <a:p>
            <a:pPr marL="360000" indent="-360000">
              <a:spcBef>
                <a:spcPts val="1200"/>
              </a:spcBef>
              <a:spcAft>
                <a:spcPts val="1200"/>
              </a:spcAft>
            </a:pPr>
            <a:r>
              <a:rPr lang="en-US" sz="2200" b="1" dirty="0" smtClean="0">
                <a:latin typeface="Helvetica" pitchFamily="34" charset="0"/>
              </a:rPr>
              <a:t>Wear a hair net or hat to cover hair</a:t>
            </a:r>
          </a:p>
          <a:p>
            <a:pPr marL="360000" indent="-360000">
              <a:spcBef>
                <a:spcPts val="1200"/>
              </a:spcBef>
              <a:spcAft>
                <a:spcPts val="1200"/>
              </a:spcAft>
            </a:pPr>
            <a:r>
              <a:rPr lang="en-US" sz="2200" b="1" dirty="0" smtClean="0">
                <a:latin typeface="Helvetica" pitchFamily="34" charset="0"/>
              </a:rPr>
              <a:t>Men may be required to wear a </a:t>
            </a:r>
            <a:br>
              <a:rPr lang="en-US" sz="2200" b="1" dirty="0" smtClean="0">
                <a:latin typeface="Helvetica" pitchFamily="34" charset="0"/>
              </a:rPr>
            </a:br>
            <a:r>
              <a:rPr lang="en-US" sz="2200" b="1" dirty="0" smtClean="0">
                <a:latin typeface="Helvetica" pitchFamily="34" charset="0"/>
              </a:rPr>
              <a:t>beard snood.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165</a:t>
            </a:fld>
            <a:endParaRPr lang="en-US" dirty="0"/>
          </a:p>
        </p:txBody>
      </p:sp>
      <p:pic>
        <p:nvPicPr>
          <p:cNvPr id="5" name="Picture 4" descr="Female chef.jpg"/>
          <p:cNvPicPr>
            <a:picLocks noChangeAspect="1"/>
          </p:cNvPicPr>
          <p:nvPr/>
        </p:nvPicPr>
        <p:blipFill>
          <a:blip r:embed="rId3" cstate="print"/>
          <a:stretch>
            <a:fillRect/>
          </a:stretch>
        </p:blipFill>
        <p:spPr>
          <a:xfrm>
            <a:off x="6072198" y="1857364"/>
            <a:ext cx="2431556" cy="3643038"/>
          </a:xfrm>
          <a:prstGeom prst="rect">
            <a:avLst/>
          </a:prstGeom>
        </p:spPr>
      </p:pic>
    </p:spTree>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Follow requirements applying to personal practices and presentation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1200"/>
              </a:spcAft>
              <a:buNone/>
            </a:pPr>
            <a:r>
              <a:rPr lang="en-US" sz="2200" b="1" dirty="0" smtClean="0">
                <a:latin typeface="Helvetica" pitchFamily="34" charset="0"/>
              </a:rPr>
              <a:t>Proper hand washing is CRITICAL for food safety.</a:t>
            </a:r>
          </a:p>
          <a:p>
            <a:pPr marL="0" indent="0">
              <a:spcBef>
                <a:spcPts val="1200"/>
              </a:spcBef>
              <a:spcAft>
                <a:spcPts val="1200"/>
              </a:spcAft>
              <a:buNone/>
            </a:pPr>
            <a:r>
              <a:rPr lang="en-US" sz="2200" b="1" dirty="0" smtClean="0">
                <a:latin typeface="Helvetica" pitchFamily="34" charset="0"/>
              </a:rPr>
              <a:t>Proper hand washing is probably the single most important aspect of safe food handling.</a:t>
            </a:r>
          </a:p>
          <a:p>
            <a:pPr marL="0" indent="0">
              <a:spcBef>
                <a:spcPts val="1200"/>
              </a:spcBef>
              <a:spcAft>
                <a:spcPts val="1200"/>
              </a:spcAft>
              <a:buNone/>
            </a:pPr>
            <a:r>
              <a:rPr lang="en-US" sz="2200" b="1" dirty="0" smtClean="0">
                <a:latin typeface="Helvetica" pitchFamily="34" charset="0"/>
              </a:rPr>
              <a:t>Proper hand washing removes bacteria &amp; other contaminants thereby reducing the potential for cross contamination.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166</a:t>
            </a:fld>
            <a:endParaRPr lang="en-US" dirty="0"/>
          </a:p>
        </p:txBody>
      </p:sp>
      <p:pic>
        <p:nvPicPr>
          <p:cNvPr id="5" name="Picture 4" descr="Washing hands.jpg"/>
          <p:cNvPicPr>
            <a:picLocks noChangeAspect="1"/>
          </p:cNvPicPr>
          <p:nvPr/>
        </p:nvPicPr>
        <p:blipFill>
          <a:blip r:embed="rId3" cstate="print"/>
          <a:stretch>
            <a:fillRect/>
          </a:stretch>
        </p:blipFill>
        <p:spPr>
          <a:xfrm>
            <a:off x="3286116" y="4071942"/>
            <a:ext cx="2724145" cy="2505308"/>
          </a:xfrm>
          <a:prstGeom prst="rect">
            <a:avLst/>
          </a:prstGeom>
        </p:spPr>
      </p:pic>
    </p:spTree>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Follow requirements applying to personal practices and presentation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72604"/>
          </a:xfrm>
        </p:spPr>
        <p:txBody>
          <a:bodyPr>
            <a:normAutofit/>
          </a:bodyPr>
          <a:lstStyle/>
          <a:p>
            <a:pPr marL="0" indent="0">
              <a:spcBef>
                <a:spcPts val="600"/>
              </a:spcBef>
              <a:spcAft>
                <a:spcPts val="1200"/>
              </a:spcAft>
              <a:buNone/>
            </a:pPr>
            <a:r>
              <a:rPr lang="en-US" sz="2200" b="1" dirty="0" smtClean="0">
                <a:latin typeface="Helvetica" pitchFamily="34" charset="0"/>
              </a:rPr>
              <a:t>Food handlers must wash hands:</a:t>
            </a:r>
          </a:p>
          <a:p>
            <a:pPr marL="360000" indent="-360000">
              <a:spcBef>
                <a:spcPts val="600"/>
              </a:spcBef>
              <a:spcAft>
                <a:spcPts val="1200"/>
              </a:spcAft>
            </a:pPr>
            <a:r>
              <a:rPr lang="en-US" sz="2200" b="1" dirty="0" smtClean="0">
                <a:latin typeface="Helvetica" pitchFamily="34" charset="0"/>
              </a:rPr>
              <a:t>Whenever they may be contaminated:</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After handling rubbish</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After cleaning</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After changing nappies</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After handling money</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In between handling raw and cooked food</a:t>
            </a:r>
          </a:p>
          <a:p>
            <a:pPr marL="360000" indent="-360000">
              <a:spcBef>
                <a:spcPts val="600"/>
              </a:spcBef>
              <a:spcAft>
                <a:spcPts val="1200"/>
              </a:spcAft>
              <a:buNone/>
            </a:pPr>
            <a:r>
              <a:rPr lang="en-US" sz="2200" b="1"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167</a:t>
            </a:fld>
            <a:endParaRPr lang="en-US" dirty="0"/>
          </a:p>
        </p:txBody>
      </p:sp>
      <p:pic>
        <p:nvPicPr>
          <p:cNvPr id="23557" name="Picture 5" descr="C:\Users\fgvghyujil\AppData\Local\Microsoft\Windows\Temporary Internet Files\Content.IE5\3J5365UD\MC900056292[1].wmf"/>
          <p:cNvPicPr>
            <a:picLocks noChangeAspect="1" noChangeArrowheads="1"/>
          </p:cNvPicPr>
          <p:nvPr/>
        </p:nvPicPr>
        <p:blipFill>
          <a:blip r:embed="rId3" cstate="print"/>
          <a:stretch>
            <a:fillRect/>
          </a:stretch>
        </p:blipFill>
        <p:spPr bwMode="auto">
          <a:xfrm>
            <a:off x="5715007" y="2830032"/>
            <a:ext cx="2845447" cy="1895111"/>
          </a:xfrm>
          <a:prstGeom prst="rect">
            <a:avLst/>
          </a:prstGeom>
          <a:noFill/>
        </p:spPr>
      </p:pic>
    </p:spTree>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Follow requirements applying to personal practices and presentation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72604"/>
          </a:xfrm>
        </p:spPr>
        <p:txBody>
          <a:bodyPr>
            <a:noAutofit/>
          </a:bodyPr>
          <a:lstStyle/>
          <a:p>
            <a:pPr marL="360000" indent="-360000">
              <a:spcBef>
                <a:spcPts val="600"/>
              </a:spcBef>
              <a:spcAft>
                <a:spcPts val="1200"/>
              </a:spcAft>
            </a:pPr>
            <a:r>
              <a:rPr lang="en-US" sz="2200" b="1" dirty="0" smtClean="0">
                <a:latin typeface="Helvetica" pitchFamily="34" charset="0"/>
              </a:rPr>
              <a:t>Before starting work</a:t>
            </a:r>
          </a:p>
          <a:p>
            <a:pPr marL="360000" indent="-360000">
              <a:spcBef>
                <a:spcPts val="600"/>
              </a:spcBef>
              <a:spcAft>
                <a:spcPts val="1200"/>
              </a:spcAft>
            </a:pPr>
            <a:r>
              <a:rPr lang="en-US" sz="2200" b="1" dirty="0" smtClean="0">
                <a:latin typeface="Helvetica" pitchFamily="34" charset="0"/>
              </a:rPr>
              <a:t>Immediately after:</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Smoking</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Coughing or sneezing</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Using  handkerchief or nasal tissue</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Eating or drinking</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Touching face, body opening or sore</a:t>
            </a:r>
          </a:p>
          <a:p>
            <a:pPr marL="360000" indent="-360000">
              <a:spcBef>
                <a:spcPts val="600"/>
              </a:spcBef>
              <a:spcAft>
                <a:spcPts val="1200"/>
              </a:spcAft>
              <a:buNone/>
            </a:pPr>
            <a:r>
              <a:rPr lang="en-US" sz="2200" b="1" dirty="0" smtClean="0">
                <a:latin typeface="Helvetica" pitchFamily="34" charset="0"/>
              </a:rPr>
              <a:t>(Continued)</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168</a:t>
            </a:fld>
            <a:endParaRPr lang="en-US" dirty="0"/>
          </a:p>
        </p:txBody>
      </p:sp>
      <p:pic>
        <p:nvPicPr>
          <p:cNvPr id="22534" name="Picture 6" descr="C:\Users\fgvghyujil\AppData\Local\Microsoft\Windows\Temporary Internet Files\Content.IE5\3J5365UD\MC900150465[1].wmf"/>
          <p:cNvPicPr>
            <a:picLocks noChangeAspect="1" noChangeArrowheads="1"/>
          </p:cNvPicPr>
          <p:nvPr/>
        </p:nvPicPr>
        <p:blipFill>
          <a:blip r:embed="rId3" cstate="print"/>
          <a:stretch>
            <a:fillRect/>
          </a:stretch>
        </p:blipFill>
        <p:spPr bwMode="auto">
          <a:xfrm>
            <a:off x="5643569" y="1677604"/>
            <a:ext cx="2954015" cy="1967420"/>
          </a:xfrm>
          <a:prstGeom prst="rect">
            <a:avLst/>
          </a:prstGeom>
          <a:noFill/>
        </p:spPr>
      </p:pic>
    </p:spTree>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Follow requirements applying to personal practices and presentation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b="1" dirty="0" smtClean="0">
                <a:latin typeface="Helvetica" pitchFamily="34" charset="0"/>
              </a:rPr>
              <a:t>After absence from the work station – for example:</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Taking a delivery </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Taking a telephone call</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Doing any other non-food task</a:t>
            </a:r>
          </a:p>
          <a:p>
            <a:pPr marL="360000" indent="-360000">
              <a:spcBef>
                <a:spcPts val="600"/>
              </a:spcBef>
              <a:spcAft>
                <a:spcPts val="1200"/>
              </a:spcAft>
            </a:pPr>
            <a:r>
              <a:rPr lang="en-US" sz="2200" b="1" dirty="0" smtClean="0">
                <a:latin typeface="Helvetica" pitchFamily="34" charset="0"/>
              </a:rPr>
              <a:t>After using the toilet.</a:t>
            </a:r>
          </a:p>
          <a:p>
            <a:pPr marL="360000" indent="-360000" algn="ctr">
              <a:spcBef>
                <a:spcPts val="600"/>
              </a:spcBef>
              <a:spcAft>
                <a:spcPts val="1200"/>
              </a:spcAft>
              <a:buNone/>
            </a:pPr>
            <a:r>
              <a:rPr lang="en-US" sz="2200" b="1" i="1" dirty="0" smtClean="0">
                <a:latin typeface="Helvetica" pitchFamily="34" charset="0"/>
              </a:rPr>
              <a:t>Organisational requirements may exceed these mandatory requirements.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169</a:t>
            </a:fld>
            <a:endParaRPr lang="en-US" dirty="0"/>
          </a:p>
        </p:txBody>
      </p:sp>
      <p:pic>
        <p:nvPicPr>
          <p:cNvPr id="21506" name="Picture 2" descr="C:\Users\fgvghyujil\AppData\Local\Microsoft\Windows\Temporary Internet Files\Content.IE5\SIE7KNHZ\MC900371340[1].wmf"/>
          <p:cNvPicPr>
            <a:picLocks noChangeAspect="1" noChangeArrowheads="1"/>
          </p:cNvPicPr>
          <p:nvPr/>
        </p:nvPicPr>
        <p:blipFill>
          <a:blip r:embed="rId3" cstate="print"/>
          <a:stretch>
            <a:fillRect/>
          </a:stretch>
        </p:blipFill>
        <p:spPr bwMode="auto">
          <a:xfrm>
            <a:off x="5786446" y="2458401"/>
            <a:ext cx="2485595" cy="1655445"/>
          </a:xfrm>
          <a:prstGeom prst="rect">
            <a:avLst/>
          </a:prstGeom>
          <a:noFill/>
        </p:spPr>
      </p:pic>
    </p:spTree>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Follow requirements applying to personal practices and presentation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44042"/>
          </a:xfrm>
        </p:spPr>
        <p:txBody>
          <a:bodyPr>
            <a:normAutofit fontScale="92500" lnSpcReduction="10000"/>
          </a:bodyPr>
          <a:lstStyle/>
          <a:p>
            <a:pPr marL="0" indent="0">
              <a:spcBef>
                <a:spcPts val="1200"/>
              </a:spcBef>
              <a:spcAft>
                <a:spcPts val="1200"/>
              </a:spcAft>
              <a:buNone/>
            </a:pPr>
            <a:r>
              <a:rPr lang="en-US" sz="2200" b="1" dirty="0" smtClean="0">
                <a:latin typeface="Helvetica" pitchFamily="34" charset="0"/>
              </a:rPr>
              <a:t>The venue must provide hand washing facilities:</a:t>
            </a:r>
          </a:p>
          <a:p>
            <a:pPr marL="360000" indent="-360000">
              <a:spcBef>
                <a:spcPts val="1200"/>
              </a:spcBef>
              <a:spcAft>
                <a:spcPts val="1200"/>
              </a:spcAft>
            </a:pPr>
            <a:r>
              <a:rPr lang="en-US" sz="2200" b="1" dirty="0" smtClean="0">
                <a:latin typeface="Helvetica" pitchFamily="34" charset="0"/>
              </a:rPr>
              <a:t>With clean, running hot water (40</a:t>
            </a:r>
            <a:r>
              <a:rPr lang="en-AU" sz="2200" b="1" dirty="0" smtClean="0">
                <a:latin typeface="Helvetica" pitchFamily="34" charset="0"/>
              </a:rPr>
              <a:t>ºC)</a:t>
            </a:r>
            <a:endParaRPr lang="en-US" sz="2200" b="1" dirty="0" smtClean="0">
              <a:latin typeface="Helvetica" pitchFamily="34" charset="0"/>
            </a:endParaRPr>
          </a:p>
          <a:p>
            <a:pPr marL="360000" indent="-360000">
              <a:spcBef>
                <a:spcPts val="1200"/>
              </a:spcBef>
              <a:spcAft>
                <a:spcPts val="1200"/>
              </a:spcAft>
            </a:pPr>
            <a:r>
              <a:rPr lang="en-US" sz="2200" b="1" dirty="0" smtClean="0">
                <a:latin typeface="Helvetica" pitchFamily="34" charset="0"/>
              </a:rPr>
              <a:t>With anti-bacterial soap</a:t>
            </a:r>
          </a:p>
          <a:p>
            <a:pPr marL="360000" indent="-360000">
              <a:spcBef>
                <a:spcPts val="1200"/>
              </a:spcBef>
              <a:spcAft>
                <a:spcPts val="1200"/>
              </a:spcAft>
            </a:pPr>
            <a:r>
              <a:rPr lang="en-US" sz="2200" b="1" dirty="0" smtClean="0">
                <a:latin typeface="Helvetica" pitchFamily="34" charset="0"/>
              </a:rPr>
              <a:t>Only to be used to wash hands, </a:t>
            </a:r>
            <a:br>
              <a:rPr lang="en-US" sz="2200" b="1" dirty="0" smtClean="0">
                <a:latin typeface="Helvetica" pitchFamily="34" charset="0"/>
              </a:rPr>
            </a:br>
            <a:r>
              <a:rPr lang="en-US" sz="2200" b="1" dirty="0" smtClean="0">
                <a:latin typeface="Helvetica" pitchFamily="34" charset="0"/>
              </a:rPr>
              <a:t>arms &amp; face</a:t>
            </a:r>
          </a:p>
          <a:p>
            <a:pPr marL="360000" indent="-360000">
              <a:spcBef>
                <a:spcPts val="1200"/>
              </a:spcBef>
              <a:spcAft>
                <a:spcPts val="1200"/>
              </a:spcAft>
            </a:pPr>
            <a:r>
              <a:rPr lang="en-US" sz="2200" b="1" dirty="0" smtClean="0">
                <a:latin typeface="Helvetica" pitchFamily="34" charset="0"/>
              </a:rPr>
              <a:t>Of an appropriate size</a:t>
            </a:r>
          </a:p>
          <a:p>
            <a:pPr marL="360000" indent="-360000">
              <a:spcBef>
                <a:spcPts val="1200"/>
              </a:spcBef>
              <a:spcAft>
                <a:spcPts val="1200"/>
              </a:spcAft>
            </a:pPr>
            <a:r>
              <a:rPr lang="en-US" sz="2200" b="1" dirty="0" smtClean="0">
                <a:latin typeface="Helvetica" pitchFamily="34" charset="0"/>
              </a:rPr>
              <a:t>With paper towels</a:t>
            </a:r>
          </a:p>
          <a:p>
            <a:pPr marL="360000" indent="-360000">
              <a:spcBef>
                <a:spcPts val="1200"/>
              </a:spcBef>
              <a:spcAft>
                <a:spcPts val="1200"/>
              </a:spcAft>
            </a:pPr>
            <a:r>
              <a:rPr lang="en-US" sz="2200" b="1" dirty="0" smtClean="0">
                <a:latin typeface="Helvetica" pitchFamily="34" charset="0"/>
              </a:rPr>
              <a:t>With a rubbish bin</a:t>
            </a:r>
          </a:p>
          <a:p>
            <a:pPr marL="360000" indent="-360000">
              <a:spcBef>
                <a:spcPts val="1200"/>
              </a:spcBef>
              <a:spcAft>
                <a:spcPts val="1200"/>
              </a:spcAft>
            </a:pPr>
            <a:r>
              <a:rPr lang="en-US" sz="2200" b="1" dirty="0" smtClean="0">
                <a:latin typeface="Helvetica" pitchFamily="34" charset="0"/>
              </a:rPr>
              <a:t>With a nail brush.</a:t>
            </a:r>
          </a:p>
          <a:p>
            <a:pPr marL="360000" indent="-360000">
              <a:spcBef>
                <a:spcPts val="12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170</a:t>
            </a:fld>
            <a:endParaRPr lang="en-US" dirty="0"/>
          </a:p>
        </p:txBody>
      </p:sp>
      <p:pic>
        <p:nvPicPr>
          <p:cNvPr id="5" name="Picture 4" descr="Instruction.jpg"/>
          <p:cNvPicPr>
            <a:picLocks noChangeAspect="1"/>
          </p:cNvPicPr>
          <p:nvPr/>
        </p:nvPicPr>
        <p:blipFill>
          <a:blip r:embed="rId3" cstate="print"/>
          <a:stretch>
            <a:fillRect/>
          </a:stretch>
        </p:blipFill>
        <p:spPr>
          <a:xfrm>
            <a:off x="5214942" y="3019353"/>
            <a:ext cx="3473696" cy="2313535"/>
          </a:xfrm>
          <a:prstGeom prst="rect">
            <a:avLst/>
          </a:prstGeom>
        </p:spPr>
      </p:pic>
    </p:spTree>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Follow requirements applying to personal practices and presentation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Hand washing for food handlers:</a:t>
            </a:r>
          </a:p>
          <a:p>
            <a:pPr marL="360000" indent="-360000">
              <a:spcBef>
                <a:spcPts val="600"/>
              </a:spcBef>
              <a:spcAft>
                <a:spcPts val="1200"/>
              </a:spcAft>
            </a:pPr>
            <a:r>
              <a:rPr lang="en-US" sz="2200" b="1" dirty="0" smtClean="0">
                <a:latin typeface="Helvetica" pitchFamily="34" charset="0"/>
              </a:rPr>
              <a:t>Rinse off visible dirt</a:t>
            </a:r>
          </a:p>
          <a:p>
            <a:pPr marL="360000" indent="-360000">
              <a:spcBef>
                <a:spcPts val="600"/>
              </a:spcBef>
              <a:spcAft>
                <a:spcPts val="1200"/>
              </a:spcAft>
            </a:pPr>
            <a:r>
              <a:rPr lang="en-US" sz="2200" b="1" dirty="0" smtClean="0">
                <a:latin typeface="Helvetica" pitchFamily="34" charset="0"/>
              </a:rPr>
              <a:t>Wash for 20 seconds</a:t>
            </a:r>
          </a:p>
          <a:p>
            <a:pPr marL="360000" indent="-360000">
              <a:spcBef>
                <a:spcPts val="600"/>
              </a:spcBef>
              <a:spcAft>
                <a:spcPts val="1200"/>
              </a:spcAft>
            </a:pPr>
            <a:r>
              <a:rPr lang="en-US" sz="2200" b="1" dirty="0" smtClean="0">
                <a:latin typeface="Helvetica" pitchFamily="34" charset="0"/>
              </a:rPr>
              <a:t>Massage soap into folds and creases and wrists</a:t>
            </a:r>
          </a:p>
          <a:p>
            <a:pPr marL="360000" indent="-360000">
              <a:spcBef>
                <a:spcPts val="600"/>
              </a:spcBef>
              <a:spcAft>
                <a:spcPts val="1200"/>
              </a:spcAft>
            </a:pPr>
            <a:r>
              <a:rPr lang="en-US" sz="2200" b="1" dirty="0" smtClean="0">
                <a:latin typeface="Helvetica" pitchFamily="34" charset="0"/>
              </a:rPr>
              <a:t>Clean under fingernails</a:t>
            </a:r>
          </a:p>
          <a:p>
            <a:pPr marL="360000" indent="-360000">
              <a:spcBef>
                <a:spcPts val="600"/>
              </a:spcBef>
              <a:spcAft>
                <a:spcPts val="1200"/>
              </a:spcAft>
            </a:pPr>
            <a:r>
              <a:rPr lang="en-US" sz="2200" b="1" dirty="0" smtClean="0">
                <a:latin typeface="Helvetica" pitchFamily="34" charset="0"/>
              </a:rPr>
              <a:t>Rinse</a:t>
            </a:r>
          </a:p>
          <a:p>
            <a:pPr marL="360000" indent="-360000">
              <a:spcBef>
                <a:spcPts val="600"/>
              </a:spcBef>
              <a:spcAft>
                <a:spcPts val="1200"/>
              </a:spcAft>
            </a:pPr>
            <a:r>
              <a:rPr lang="en-US" sz="2200" b="1" dirty="0" smtClean="0">
                <a:latin typeface="Helvetica" pitchFamily="34" charset="0"/>
              </a:rPr>
              <a:t>Dry.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171</a:t>
            </a:fld>
            <a:endParaRPr lang="en-US" dirty="0"/>
          </a:p>
        </p:txBody>
      </p:sp>
      <p:pic>
        <p:nvPicPr>
          <p:cNvPr id="20484" name="Picture 4" descr="C:\Users\fgvghyujil\AppData\Local\Microsoft\Windows\Temporary Internet Files\Content.IE5\SIE7KNHZ\MP900427641[1].jpg"/>
          <p:cNvPicPr>
            <a:picLocks noChangeAspect="1" noChangeArrowheads="1"/>
          </p:cNvPicPr>
          <p:nvPr/>
        </p:nvPicPr>
        <p:blipFill>
          <a:blip r:embed="rId3" cstate="print"/>
          <a:srcRect/>
          <a:stretch>
            <a:fillRect/>
          </a:stretch>
        </p:blipFill>
        <p:spPr bwMode="auto">
          <a:xfrm>
            <a:off x="5786446" y="3786190"/>
            <a:ext cx="2571744" cy="2571744"/>
          </a:xfrm>
          <a:prstGeom prst="rect">
            <a:avLst/>
          </a:prstGeom>
          <a:noFill/>
        </p:spPr>
      </p:pic>
    </p:spTree>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Follow requirements applying to personal practices and presentation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01166"/>
          </a:xfrm>
        </p:spPr>
        <p:txBody>
          <a:bodyPr>
            <a:normAutofit/>
          </a:bodyPr>
          <a:lstStyle/>
          <a:p>
            <a:pPr marL="0" indent="0">
              <a:spcBef>
                <a:spcPts val="600"/>
              </a:spcBef>
              <a:spcAft>
                <a:spcPts val="1200"/>
              </a:spcAft>
              <a:buNone/>
            </a:pPr>
            <a:r>
              <a:rPr lang="en-US" sz="2200" b="1" dirty="0" smtClean="0">
                <a:latin typeface="Helvetica" pitchFamily="34" charset="0"/>
              </a:rPr>
              <a:t>You must protect food and surfaces from body fluids:</a:t>
            </a:r>
          </a:p>
          <a:p>
            <a:pPr marL="360000" indent="-360000">
              <a:spcBef>
                <a:spcPts val="600"/>
              </a:spcBef>
              <a:spcAft>
                <a:spcPts val="1200"/>
              </a:spcAft>
            </a:pPr>
            <a:r>
              <a:rPr lang="en-US" sz="2200" b="1" dirty="0" smtClean="0">
                <a:latin typeface="Helvetica" pitchFamily="34" charset="0"/>
              </a:rPr>
              <a:t>Saliva</a:t>
            </a:r>
          </a:p>
          <a:p>
            <a:pPr marL="360000" indent="-360000">
              <a:spcBef>
                <a:spcPts val="600"/>
              </a:spcBef>
              <a:spcAft>
                <a:spcPts val="1200"/>
              </a:spcAft>
            </a:pPr>
            <a:r>
              <a:rPr lang="en-US" sz="2200" b="1" dirty="0" smtClean="0">
                <a:latin typeface="Helvetica" pitchFamily="34" charset="0"/>
              </a:rPr>
              <a:t>Mucus</a:t>
            </a:r>
          </a:p>
          <a:p>
            <a:pPr marL="360000" indent="-360000">
              <a:spcBef>
                <a:spcPts val="600"/>
              </a:spcBef>
              <a:spcAft>
                <a:spcPts val="1200"/>
              </a:spcAft>
            </a:pPr>
            <a:r>
              <a:rPr lang="en-US" sz="2200" b="1" dirty="0" smtClean="0">
                <a:latin typeface="Helvetica" pitchFamily="34" charset="0"/>
              </a:rPr>
              <a:t>Sweat</a:t>
            </a:r>
          </a:p>
          <a:p>
            <a:pPr marL="360000" indent="-360000">
              <a:spcBef>
                <a:spcPts val="600"/>
              </a:spcBef>
              <a:spcAft>
                <a:spcPts val="1200"/>
              </a:spcAft>
            </a:pPr>
            <a:r>
              <a:rPr lang="en-US" sz="2200" b="1" dirty="0" smtClean="0">
                <a:latin typeface="Helvetica" pitchFamily="34" charset="0"/>
              </a:rPr>
              <a:t>Blood</a:t>
            </a:r>
          </a:p>
          <a:p>
            <a:pPr marL="360000" indent="-360000">
              <a:spcBef>
                <a:spcPts val="600"/>
              </a:spcBef>
              <a:spcAft>
                <a:spcPts val="1200"/>
              </a:spcAft>
            </a:pPr>
            <a:r>
              <a:rPr lang="en-US" sz="2200" b="1" dirty="0" smtClean="0">
                <a:latin typeface="Helvetica" pitchFamily="34" charset="0"/>
              </a:rPr>
              <a:t>Urine</a:t>
            </a:r>
          </a:p>
          <a:p>
            <a:pPr marL="360000" indent="-360000">
              <a:spcBef>
                <a:spcPts val="600"/>
              </a:spcBef>
              <a:spcAft>
                <a:spcPts val="1200"/>
              </a:spcAft>
            </a:pPr>
            <a:r>
              <a:rPr lang="en-US" sz="2200" b="1" dirty="0" err="1" smtClean="0">
                <a:latin typeface="Helvetica" pitchFamily="34" charset="0"/>
              </a:rPr>
              <a:t>Faecal</a:t>
            </a:r>
            <a:r>
              <a:rPr lang="en-US" sz="2200" b="1" dirty="0" smtClean="0">
                <a:latin typeface="Helvetica" pitchFamily="34" charset="0"/>
              </a:rPr>
              <a:t> matter.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172</a:t>
            </a:fld>
            <a:endParaRPr lang="en-US" dirty="0"/>
          </a:p>
        </p:txBody>
      </p:sp>
      <p:pic>
        <p:nvPicPr>
          <p:cNvPr id="19459" name="Picture 3" descr="C:\Users\fgvghyujil\AppData\Local\Microsoft\Windows\Temporary Internet Files\Content.IE5\3J5365UD\MC900040280[1].wmf"/>
          <p:cNvPicPr>
            <a:picLocks noChangeAspect="1" noChangeArrowheads="1"/>
          </p:cNvPicPr>
          <p:nvPr/>
        </p:nvPicPr>
        <p:blipFill>
          <a:blip r:embed="rId3" cstate="print"/>
          <a:srcRect/>
          <a:stretch>
            <a:fillRect/>
          </a:stretch>
        </p:blipFill>
        <p:spPr bwMode="auto">
          <a:xfrm>
            <a:off x="6643702" y="2285992"/>
            <a:ext cx="1506021" cy="2941308"/>
          </a:xfrm>
          <a:prstGeom prst="rect">
            <a:avLst/>
          </a:prstGeom>
          <a:noFill/>
        </p:spPr>
      </p:pic>
    </p:spTree>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Follow requirements applying to personal practices and presentation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To guard against contamination by body fluids:</a:t>
            </a:r>
          </a:p>
          <a:p>
            <a:pPr marL="360000" indent="-360000">
              <a:spcBef>
                <a:spcPts val="600"/>
              </a:spcBef>
              <a:spcAft>
                <a:spcPts val="1200"/>
              </a:spcAft>
            </a:pPr>
            <a:r>
              <a:rPr lang="en-US" sz="2200" b="1" dirty="0" smtClean="0">
                <a:latin typeface="Helvetica" pitchFamily="34" charset="0"/>
              </a:rPr>
              <a:t>Wash hands after toilet and handling handkerchief or nasal tissue</a:t>
            </a:r>
          </a:p>
          <a:p>
            <a:pPr marL="360000" indent="-360000">
              <a:spcBef>
                <a:spcPts val="600"/>
              </a:spcBef>
              <a:spcAft>
                <a:spcPts val="1200"/>
              </a:spcAft>
            </a:pPr>
            <a:r>
              <a:rPr lang="en-US" sz="2200" b="1" dirty="0" smtClean="0">
                <a:latin typeface="Helvetica" pitchFamily="34" charset="0"/>
              </a:rPr>
              <a:t>Do not spit in food areas</a:t>
            </a:r>
          </a:p>
          <a:p>
            <a:pPr marL="360000" indent="-360000">
              <a:spcBef>
                <a:spcPts val="600"/>
              </a:spcBef>
              <a:spcAft>
                <a:spcPts val="1200"/>
              </a:spcAft>
            </a:pPr>
            <a:r>
              <a:rPr lang="en-US" sz="2200" b="1" dirty="0" smtClean="0">
                <a:latin typeface="Helvetica" pitchFamily="34" charset="0"/>
              </a:rPr>
              <a:t>Do not smoke in food areas</a:t>
            </a:r>
          </a:p>
          <a:p>
            <a:pPr marL="360000" indent="-360000">
              <a:spcBef>
                <a:spcPts val="600"/>
              </a:spcBef>
              <a:spcAft>
                <a:spcPts val="1200"/>
              </a:spcAft>
            </a:pPr>
            <a:r>
              <a:rPr lang="en-US" sz="2200" b="1" dirty="0" smtClean="0">
                <a:latin typeface="Helvetica" pitchFamily="34" charset="0"/>
              </a:rPr>
              <a:t>Do not work when ill</a:t>
            </a:r>
          </a:p>
          <a:p>
            <a:pPr marL="360000" indent="-360000">
              <a:spcBef>
                <a:spcPts val="600"/>
              </a:spcBef>
              <a:spcAft>
                <a:spcPts val="1200"/>
              </a:spcAft>
            </a:pPr>
            <a:r>
              <a:rPr lang="en-US" sz="2200" b="1" dirty="0" smtClean="0">
                <a:latin typeface="Helvetica" pitchFamily="34" charset="0"/>
              </a:rPr>
              <a:t>Observe personal hygiene requirements</a:t>
            </a:r>
          </a:p>
          <a:p>
            <a:pPr marL="360000" indent="-360000">
              <a:spcBef>
                <a:spcPts val="600"/>
              </a:spcBef>
              <a:spcAft>
                <a:spcPts val="1200"/>
              </a:spcAft>
              <a:buNone/>
            </a:pPr>
            <a:r>
              <a:rPr lang="en-US" sz="2200" b="1" dirty="0" smtClean="0">
                <a:latin typeface="Helvetica" pitchFamily="34" charset="0"/>
              </a:rPr>
              <a:t>(Continued)</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173</a:t>
            </a:fld>
            <a:endParaRPr lang="en-US" dirty="0"/>
          </a:p>
        </p:txBody>
      </p:sp>
      <p:pic>
        <p:nvPicPr>
          <p:cNvPr id="18435" name="Picture 3" descr="C:\Users\fgvghyujil\AppData\Local\Microsoft\Windows\Temporary Internet Files\Content.IE5\3J5365UD\MC900290958[1].wmf"/>
          <p:cNvPicPr>
            <a:picLocks noChangeAspect="1" noChangeArrowheads="1"/>
          </p:cNvPicPr>
          <p:nvPr/>
        </p:nvPicPr>
        <p:blipFill>
          <a:blip r:embed="rId3" cstate="print"/>
          <a:srcRect/>
          <a:stretch>
            <a:fillRect/>
          </a:stretch>
        </p:blipFill>
        <p:spPr bwMode="auto">
          <a:xfrm>
            <a:off x="6715140" y="3000372"/>
            <a:ext cx="1671873" cy="1558705"/>
          </a:xfrm>
          <a:prstGeom prst="rect">
            <a:avLst/>
          </a:prstGeom>
          <a:noFill/>
        </p:spPr>
      </p:pic>
    </p:spTree>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Follow requirements applying to personal practices and presentation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44042"/>
          </a:xfrm>
        </p:spPr>
        <p:txBody>
          <a:bodyPr>
            <a:normAutofit/>
          </a:bodyPr>
          <a:lstStyle/>
          <a:p>
            <a:pPr marL="360000" indent="-360000">
              <a:spcBef>
                <a:spcPts val="600"/>
              </a:spcBef>
              <a:spcAft>
                <a:spcPts val="1200"/>
              </a:spcAft>
            </a:pPr>
            <a:r>
              <a:rPr lang="en-US" sz="2200" b="1" dirty="0" smtClean="0">
                <a:latin typeface="Helvetica" pitchFamily="34" charset="0"/>
              </a:rPr>
              <a:t>Do not put tasting spoon back into food</a:t>
            </a:r>
          </a:p>
          <a:p>
            <a:pPr marL="360000" indent="-360000">
              <a:spcBef>
                <a:spcPts val="600"/>
              </a:spcBef>
              <a:spcAft>
                <a:spcPts val="1200"/>
              </a:spcAft>
            </a:pPr>
            <a:r>
              <a:rPr lang="en-US" sz="2200" b="1" dirty="0" smtClean="0">
                <a:latin typeface="Helvetica" pitchFamily="34" charset="0"/>
              </a:rPr>
              <a:t>Wear a sweat band</a:t>
            </a:r>
          </a:p>
          <a:p>
            <a:pPr marL="360000" indent="-360000">
              <a:spcBef>
                <a:spcPts val="600"/>
              </a:spcBef>
              <a:spcAft>
                <a:spcPts val="1200"/>
              </a:spcAft>
            </a:pPr>
            <a:r>
              <a:rPr lang="en-US" sz="2200" b="1" dirty="0" smtClean="0">
                <a:latin typeface="Helvetica" pitchFamily="34" charset="0"/>
              </a:rPr>
              <a:t>Cover wounds and sores with </a:t>
            </a:r>
            <a:br>
              <a:rPr lang="en-US" sz="2200" b="1" dirty="0" smtClean="0">
                <a:latin typeface="Helvetica" pitchFamily="34" charset="0"/>
              </a:rPr>
            </a:br>
            <a:r>
              <a:rPr lang="en-US" sz="2200" b="1" dirty="0" smtClean="0">
                <a:latin typeface="Helvetica" pitchFamily="34" charset="0"/>
              </a:rPr>
              <a:t>waterproof dressing</a:t>
            </a:r>
          </a:p>
          <a:p>
            <a:pPr marL="360000" indent="-360000">
              <a:spcBef>
                <a:spcPts val="600"/>
              </a:spcBef>
              <a:spcAft>
                <a:spcPts val="1200"/>
              </a:spcAft>
            </a:pPr>
            <a:r>
              <a:rPr lang="en-US" sz="2200" b="1" dirty="0" smtClean="0">
                <a:latin typeface="Helvetica" pitchFamily="34" charset="0"/>
              </a:rPr>
              <a:t>Do not blow into food bag</a:t>
            </a:r>
          </a:p>
          <a:p>
            <a:pPr marL="360000" indent="-360000">
              <a:spcBef>
                <a:spcPts val="600"/>
              </a:spcBef>
              <a:spcAft>
                <a:spcPts val="1200"/>
              </a:spcAft>
            </a:pPr>
            <a:r>
              <a:rPr lang="en-US" sz="2200" b="1" dirty="0" smtClean="0">
                <a:latin typeface="Helvetica" pitchFamily="34" charset="0"/>
              </a:rPr>
              <a:t>Do not lick fingers to help separate </a:t>
            </a:r>
            <a:br>
              <a:rPr lang="en-US" sz="2200" b="1" dirty="0" smtClean="0">
                <a:latin typeface="Helvetica" pitchFamily="34" charset="0"/>
              </a:rPr>
            </a:br>
            <a:r>
              <a:rPr lang="en-US" sz="2200" b="1" dirty="0" smtClean="0">
                <a:latin typeface="Helvetica" pitchFamily="34" charset="0"/>
              </a:rPr>
              <a:t>greaseproof or food wrapping paper</a:t>
            </a:r>
          </a:p>
          <a:p>
            <a:pPr marL="360000" indent="-360000">
              <a:spcBef>
                <a:spcPts val="600"/>
              </a:spcBef>
              <a:spcAft>
                <a:spcPts val="1200"/>
              </a:spcAft>
            </a:pPr>
            <a:r>
              <a:rPr lang="en-US" sz="2200" b="1" dirty="0" smtClean="0">
                <a:latin typeface="Helvetica" pitchFamily="34" charset="0"/>
              </a:rPr>
              <a:t>Do not touch face or body openings.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174</a:t>
            </a:fld>
            <a:endParaRPr lang="en-US" dirty="0"/>
          </a:p>
        </p:txBody>
      </p:sp>
      <p:pic>
        <p:nvPicPr>
          <p:cNvPr id="5" name="Picture 4" descr="cocoa_093.jpg"/>
          <p:cNvPicPr>
            <a:picLocks noChangeAspect="1"/>
          </p:cNvPicPr>
          <p:nvPr/>
        </p:nvPicPr>
        <p:blipFill>
          <a:blip r:embed="rId3" cstate="print"/>
          <a:stretch>
            <a:fillRect/>
          </a:stretch>
        </p:blipFill>
        <p:spPr>
          <a:xfrm>
            <a:off x="6357950" y="2000240"/>
            <a:ext cx="2491600" cy="3725758"/>
          </a:xfrm>
          <a:prstGeom prst="rect">
            <a:avLst/>
          </a:prstGeom>
        </p:spPr>
      </p:pic>
    </p:spTree>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Follow requirements applying to personal practices and presentation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15480"/>
          </a:xfrm>
        </p:spPr>
        <p:txBody>
          <a:bodyPr>
            <a:normAutofit lnSpcReduction="10000"/>
          </a:bodyPr>
          <a:lstStyle/>
          <a:p>
            <a:pPr marL="0" indent="0">
              <a:spcBef>
                <a:spcPts val="600"/>
              </a:spcBef>
              <a:spcAft>
                <a:spcPts val="1200"/>
              </a:spcAft>
              <a:buNone/>
            </a:pPr>
            <a:r>
              <a:rPr lang="en-US" sz="2400" b="1" dirty="0" smtClean="0">
                <a:latin typeface="Helvetica" pitchFamily="34" charset="0"/>
              </a:rPr>
              <a:t>Food handlers have obligations if they:</a:t>
            </a:r>
          </a:p>
          <a:p>
            <a:pPr marL="360000" indent="-360000">
              <a:spcBef>
                <a:spcPts val="600"/>
              </a:spcBef>
              <a:spcAft>
                <a:spcPts val="1200"/>
              </a:spcAft>
            </a:pPr>
            <a:r>
              <a:rPr lang="en-US" sz="2400" b="1" dirty="0" smtClean="0">
                <a:latin typeface="Helvetica" pitchFamily="34" charset="0"/>
              </a:rPr>
              <a:t>Have a foodborne disease</a:t>
            </a:r>
          </a:p>
          <a:p>
            <a:pPr marL="360000" indent="-360000">
              <a:spcBef>
                <a:spcPts val="600"/>
              </a:spcBef>
              <a:spcAft>
                <a:spcPts val="1200"/>
              </a:spcAft>
            </a:pPr>
            <a:r>
              <a:rPr lang="en-US" sz="2400" b="1" dirty="0" smtClean="0">
                <a:latin typeface="Helvetica" pitchFamily="34" charset="0"/>
              </a:rPr>
              <a:t>Have symptoms of a foodborne disease</a:t>
            </a:r>
          </a:p>
          <a:p>
            <a:pPr marL="360000" indent="-360000">
              <a:spcBef>
                <a:spcPts val="600"/>
              </a:spcBef>
              <a:spcAft>
                <a:spcPts val="1200"/>
              </a:spcAft>
            </a:pPr>
            <a:r>
              <a:rPr lang="en-US" sz="2400" b="1" dirty="0" smtClean="0">
                <a:latin typeface="Helvetica" pitchFamily="34" charset="0"/>
              </a:rPr>
              <a:t>Are a carrier of a </a:t>
            </a:r>
            <a:r>
              <a:rPr lang="en-US" sz="2400" b="1" dirty="0" err="1" smtClean="0">
                <a:latin typeface="Helvetica" pitchFamily="34" charset="0"/>
              </a:rPr>
              <a:t>foodborne</a:t>
            </a:r>
            <a:r>
              <a:rPr lang="en-US" sz="2400" b="1" dirty="0" smtClean="0">
                <a:latin typeface="Helvetica" pitchFamily="34" charset="0"/>
              </a:rPr>
              <a:t> disease.</a:t>
            </a:r>
          </a:p>
          <a:p>
            <a:pPr marL="0" indent="0">
              <a:spcBef>
                <a:spcPts val="600"/>
              </a:spcBef>
              <a:spcAft>
                <a:spcPts val="1200"/>
              </a:spcAft>
              <a:buNone/>
            </a:pPr>
            <a:r>
              <a:rPr lang="en-US" sz="2400" b="1" dirty="0" smtClean="0">
                <a:latin typeface="Helvetica" pitchFamily="34" charset="0"/>
              </a:rPr>
              <a:t> A foodborne disease = </a:t>
            </a:r>
            <a:r>
              <a:rPr lang="en-AU" sz="2400" b="1" dirty="0" smtClean="0">
                <a:latin typeface="Helvetica" pitchFamily="34" charset="0"/>
              </a:rPr>
              <a:t>a disease likely </a:t>
            </a:r>
            <a:br>
              <a:rPr lang="en-AU" sz="2400" b="1" dirty="0" smtClean="0">
                <a:latin typeface="Helvetica" pitchFamily="34" charset="0"/>
              </a:rPr>
            </a:br>
            <a:r>
              <a:rPr lang="en-AU" sz="2400" b="1" dirty="0" smtClean="0">
                <a:latin typeface="Helvetica" pitchFamily="34" charset="0"/>
              </a:rPr>
              <a:t>to be transmitted through food, such as:</a:t>
            </a:r>
          </a:p>
          <a:p>
            <a:pPr marL="360000" indent="-360000">
              <a:spcBef>
                <a:spcPts val="600"/>
              </a:spcBef>
              <a:spcAft>
                <a:spcPts val="1200"/>
              </a:spcAft>
            </a:pPr>
            <a:r>
              <a:rPr lang="en-AU" sz="2400" b="1" dirty="0" smtClean="0">
                <a:latin typeface="Helvetica" pitchFamily="34" charset="0"/>
              </a:rPr>
              <a:t>Hepatitis A</a:t>
            </a:r>
          </a:p>
          <a:p>
            <a:pPr marL="360000" indent="-360000">
              <a:spcBef>
                <a:spcPts val="600"/>
              </a:spcBef>
              <a:spcAft>
                <a:spcPts val="1200"/>
              </a:spcAft>
            </a:pPr>
            <a:r>
              <a:rPr lang="en-AU" sz="2400" b="1" dirty="0" smtClean="0">
                <a:latin typeface="Helvetica" pitchFamily="34" charset="0"/>
              </a:rPr>
              <a:t>Typhoid</a:t>
            </a:r>
          </a:p>
          <a:p>
            <a:pPr marL="360000" indent="-360000">
              <a:spcBef>
                <a:spcPts val="600"/>
              </a:spcBef>
              <a:spcAft>
                <a:spcPts val="1200"/>
              </a:spcAft>
            </a:pPr>
            <a:r>
              <a:rPr lang="en-AU" sz="2400" b="1" dirty="0" smtClean="0">
                <a:latin typeface="Helvetica" pitchFamily="34" charset="0"/>
              </a:rPr>
              <a:t>Cholera.</a:t>
            </a:r>
            <a:endParaRPr lang="en-US" sz="2400" b="1" dirty="0" smtClean="0">
              <a:latin typeface="Helvetica" pitchFamily="34" charset="0"/>
            </a:endParaRPr>
          </a:p>
          <a:p>
            <a:pPr marL="360000" indent="-360000">
              <a:spcBef>
                <a:spcPts val="600"/>
              </a:spcBef>
              <a:spcAft>
                <a:spcPts val="1200"/>
              </a:spcAft>
              <a:buNone/>
            </a:pPr>
            <a:endParaRPr lang="en-US" sz="24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175</a:t>
            </a:fld>
            <a:endParaRPr lang="en-US" dirty="0"/>
          </a:p>
        </p:txBody>
      </p:sp>
      <p:pic>
        <p:nvPicPr>
          <p:cNvPr id="17410" name="Picture 2" descr="C:\Users\fgvghyujil\AppData\Local\Microsoft\Windows\Temporary Internet Files\Content.IE5\PP601SXW\MC900423834[1].wmf"/>
          <p:cNvPicPr>
            <a:picLocks noChangeAspect="1" noChangeArrowheads="1"/>
          </p:cNvPicPr>
          <p:nvPr/>
        </p:nvPicPr>
        <p:blipFill>
          <a:blip r:embed="rId3" cstate="print"/>
          <a:srcRect/>
          <a:stretch>
            <a:fillRect/>
          </a:stretch>
        </p:blipFill>
        <p:spPr bwMode="auto">
          <a:xfrm>
            <a:off x="6715140" y="3857628"/>
            <a:ext cx="1882775" cy="1381125"/>
          </a:xfrm>
          <a:prstGeom prst="rect">
            <a:avLst/>
          </a:prstGeom>
          <a:noFill/>
        </p:spPr>
      </p:pic>
    </p:spTree>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Follow requirements applying to personal practices and presentation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Symptoms of foodborne diseases:</a:t>
            </a:r>
          </a:p>
          <a:p>
            <a:pPr marL="360000" indent="-360000">
              <a:spcBef>
                <a:spcPts val="600"/>
              </a:spcBef>
              <a:spcAft>
                <a:spcPts val="1200"/>
              </a:spcAft>
            </a:pPr>
            <a:r>
              <a:rPr lang="en-US" sz="2200" b="1" dirty="0" smtClean="0">
                <a:latin typeface="Helvetica" pitchFamily="34" charset="0"/>
              </a:rPr>
              <a:t>Diarrhoea</a:t>
            </a:r>
          </a:p>
          <a:p>
            <a:pPr marL="360000" indent="-360000">
              <a:spcBef>
                <a:spcPts val="600"/>
              </a:spcBef>
              <a:spcAft>
                <a:spcPts val="1200"/>
              </a:spcAft>
            </a:pPr>
            <a:r>
              <a:rPr lang="en-US" sz="2200" b="1" dirty="0" smtClean="0">
                <a:latin typeface="Helvetica" pitchFamily="34" charset="0"/>
              </a:rPr>
              <a:t>Vomiting</a:t>
            </a:r>
          </a:p>
          <a:p>
            <a:pPr marL="360000" indent="-360000">
              <a:spcBef>
                <a:spcPts val="600"/>
              </a:spcBef>
              <a:spcAft>
                <a:spcPts val="1200"/>
              </a:spcAft>
            </a:pPr>
            <a:r>
              <a:rPr lang="en-US" sz="2200" b="1" dirty="0" smtClean="0">
                <a:latin typeface="Helvetica" pitchFamily="34" charset="0"/>
              </a:rPr>
              <a:t>Sore throat with fever</a:t>
            </a:r>
          </a:p>
          <a:p>
            <a:pPr marL="360000" indent="-360000">
              <a:spcBef>
                <a:spcPts val="600"/>
              </a:spcBef>
              <a:spcAft>
                <a:spcPts val="1200"/>
              </a:spcAft>
            </a:pPr>
            <a:r>
              <a:rPr lang="en-US" sz="2200" b="1" dirty="0" smtClean="0">
                <a:latin typeface="Helvetica" pitchFamily="34" charset="0"/>
              </a:rPr>
              <a:t>Fever</a:t>
            </a:r>
          </a:p>
          <a:p>
            <a:pPr marL="360000" indent="-360000">
              <a:spcBef>
                <a:spcPts val="600"/>
              </a:spcBef>
              <a:spcAft>
                <a:spcPts val="1200"/>
              </a:spcAft>
            </a:pPr>
            <a:r>
              <a:rPr lang="en-US" sz="2200" b="1" dirty="0" smtClean="0">
                <a:latin typeface="Helvetica" pitchFamily="34" charset="0"/>
              </a:rPr>
              <a:t>Jaundice.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176</a:t>
            </a:fld>
            <a:endParaRPr lang="en-US" dirty="0"/>
          </a:p>
        </p:txBody>
      </p:sp>
      <p:pic>
        <p:nvPicPr>
          <p:cNvPr id="16386" name="Picture 2" descr="C:\Users\fgvghyujil\AppData\Local\Microsoft\Windows\Temporary Internet Files\Content.IE5\TU1ZREEW\MC900404247[1].wmf"/>
          <p:cNvPicPr>
            <a:picLocks noChangeAspect="1" noChangeArrowheads="1"/>
          </p:cNvPicPr>
          <p:nvPr/>
        </p:nvPicPr>
        <p:blipFill>
          <a:blip r:embed="rId3" cstate="print"/>
          <a:srcRect/>
          <a:stretch>
            <a:fillRect/>
          </a:stretch>
        </p:blipFill>
        <p:spPr bwMode="auto">
          <a:xfrm>
            <a:off x="5643570" y="2928934"/>
            <a:ext cx="2583450" cy="2143140"/>
          </a:xfrm>
          <a:prstGeom prst="rect">
            <a:avLst/>
          </a:prstGeom>
          <a:noFill/>
        </p:spPr>
      </p:pic>
    </p:spTree>
  </p:cSld>
  <p:clrMapOvr>
    <a:masterClrMapping/>
  </p:clrMapOvr>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Follow requirements applying to personal practices &amp; presentation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If suffering symptoms of a foodborne disease:</a:t>
            </a:r>
          </a:p>
          <a:p>
            <a:pPr marL="360000" indent="-360000">
              <a:spcBef>
                <a:spcPts val="600"/>
              </a:spcBef>
              <a:spcAft>
                <a:spcPts val="1200"/>
              </a:spcAft>
            </a:pPr>
            <a:r>
              <a:rPr lang="en-US" sz="2200" b="1" dirty="0" smtClean="0">
                <a:latin typeface="Helvetica" pitchFamily="34" charset="0"/>
              </a:rPr>
              <a:t>Tell supervisor</a:t>
            </a:r>
          </a:p>
          <a:p>
            <a:pPr marL="360000" indent="-360000">
              <a:spcBef>
                <a:spcPts val="600"/>
              </a:spcBef>
              <a:spcAft>
                <a:spcPts val="1200"/>
              </a:spcAft>
            </a:pPr>
            <a:r>
              <a:rPr lang="en-US" sz="2200" b="1" dirty="0" smtClean="0">
                <a:latin typeface="Helvetica" pitchFamily="34" charset="0"/>
              </a:rPr>
              <a:t>Go to the doctor</a:t>
            </a:r>
          </a:p>
          <a:p>
            <a:pPr marL="360000" indent="-360000">
              <a:spcBef>
                <a:spcPts val="600"/>
              </a:spcBef>
              <a:spcAft>
                <a:spcPts val="1200"/>
              </a:spcAft>
            </a:pPr>
            <a:r>
              <a:rPr lang="en-US" sz="2200" b="1" dirty="0" smtClean="0">
                <a:latin typeface="Helvetica" pitchFamily="34" charset="0"/>
              </a:rPr>
              <a:t>Stay away from work for 2 days </a:t>
            </a:r>
            <a:br>
              <a:rPr lang="en-US" sz="2200" b="1" dirty="0" smtClean="0">
                <a:latin typeface="Helvetica" pitchFamily="34" charset="0"/>
              </a:rPr>
            </a:br>
            <a:r>
              <a:rPr lang="en-US" sz="2200" b="1" dirty="0" smtClean="0">
                <a:latin typeface="Helvetica" pitchFamily="34" charset="0"/>
              </a:rPr>
              <a:t>after symptoms have gone</a:t>
            </a:r>
          </a:p>
          <a:p>
            <a:pPr marL="360000" indent="-360000">
              <a:spcBef>
                <a:spcPts val="600"/>
              </a:spcBef>
              <a:spcAft>
                <a:spcPts val="1200"/>
              </a:spcAft>
            </a:pPr>
            <a:r>
              <a:rPr lang="en-US" sz="2200" b="1" dirty="0" smtClean="0">
                <a:latin typeface="Helvetica" pitchFamily="34" charset="0"/>
              </a:rPr>
              <a:t>Do not work as food handler until </a:t>
            </a:r>
            <a:br>
              <a:rPr lang="en-US" sz="2200" b="1" dirty="0" smtClean="0">
                <a:latin typeface="Helvetica" pitchFamily="34" charset="0"/>
              </a:rPr>
            </a:br>
            <a:r>
              <a:rPr lang="en-US" sz="2200" b="1" dirty="0" smtClean="0">
                <a:latin typeface="Helvetica" pitchFamily="34" charset="0"/>
              </a:rPr>
              <a:t>stools are ‘formed’.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177</a:t>
            </a:fld>
            <a:endParaRPr lang="en-US" dirty="0"/>
          </a:p>
        </p:txBody>
      </p:sp>
      <p:pic>
        <p:nvPicPr>
          <p:cNvPr id="5" name="Picture 4" descr="food safety hazards.jpg"/>
          <p:cNvPicPr>
            <a:picLocks noChangeAspect="1"/>
          </p:cNvPicPr>
          <p:nvPr/>
        </p:nvPicPr>
        <p:blipFill>
          <a:blip r:embed="rId3" cstate="print"/>
          <a:stretch>
            <a:fillRect/>
          </a:stretch>
        </p:blipFill>
        <p:spPr>
          <a:xfrm>
            <a:off x="5987649" y="2143116"/>
            <a:ext cx="3088084" cy="2976570"/>
          </a:xfrm>
          <a:prstGeom prst="rect">
            <a:avLst/>
          </a:prstGeom>
        </p:spPr>
      </p:pic>
    </p:spTree>
  </p:cSld>
  <p:clrMapOvr>
    <a:masterClrMapping/>
  </p:clrMapOvr>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Follow requirements applying to personal practices and presentation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If diagnosed as suffering a foodborne disease or being a ‘carrier’:</a:t>
            </a:r>
          </a:p>
          <a:p>
            <a:pPr marL="360000" indent="-360000">
              <a:spcBef>
                <a:spcPts val="600"/>
              </a:spcBef>
              <a:spcAft>
                <a:spcPts val="1200"/>
              </a:spcAft>
            </a:pPr>
            <a:r>
              <a:rPr lang="en-US" sz="2200" b="1" dirty="0" smtClean="0">
                <a:latin typeface="Helvetica" pitchFamily="34" charset="0"/>
              </a:rPr>
              <a:t>Notify supervisor</a:t>
            </a:r>
          </a:p>
          <a:p>
            <a:pPr marL="360000" indent="-360000">
              <a:spcBef>
                <a:spcPts val="600"/>
              </a:spcBef>
              <a:spcAft>
                <a:spcPts val="1200"/>
              </a:spcAft>
            </a:pPr>
            <a:r>
              <a:rPr lang="en-US" sz="2200" b="1" dirty="0" smtClean="0">
                <a:latin typeface="Helvetica" pitchFamily="34" charset="0"/>
              </a:rPr>
              <a:t>Follow medical advice</a:t>
            </a:r>
          </a:p>
          <a:p>
            <a:pPr marL="360000" indent="-360000">
              <a:spcBef>
                <a:spcPts val="600"/>
              </a:spcBef>
              <a:spcAft>
                <a:spcPts val="1200"/>
              </a:spcAft>
            </a:pPr>
            <a:r>
              <a:rPr lang="en-US" sz="2200" b="1" dirty="0" smtClean="0">
                <a:latin typeface="Helvetica" pitchFamily="34" charset="0"/>
              </a:rPr>
              <a:t>Protect food and food contact </a:t>
            </a:r>
            <a:br>
              <a:rPr lang="en-US" sz="2200" b="1" dirty="0" smtClean="0">
                <a:latin typeface="Helvetica" pitchFamily="34" charset="0"/>
              </a:rPr>
            </a:br>
            <a:r>
              <a:rPr lang="en-US" sz="2200" b="1" dirty="0" smtClean="0">
                <a:latin typeface="Helvetica" pitchFamily="34" charset="0"/>
              </a:rPr>
              <a:t>surfaces from contamination by the </a:t>
            </a:r>
            <a:br>
              <a:rPr lang="en-US" sz="2200" b="1" dirty="0" smtClean="0">
                <a:latin typeface="Helvetica" pitchFamily="34" charset="0"/>
              </a:rPr>
            </a:br>
            <a:r>
              <a:rPr lang="en-US" sz="2200" b="1" dirty="0" smtClean="0">
                <a:latin typeface="Helvetica" pitchFamily="34" charset="0"/>
              </a:rPr>
              <a:t>affected food handler</a:t>
            </a:r>
          </a:p>
          <a:p>
            <a:pPr marL="360000" indent="-360000">
              <a:spcBef>
                <a:spcPts val="600"/>
              </a:spcBef>
              <a:spcAft>
                <a:spcPts val="1200"/>
              </a:spcAft>
            </a:pPr>
            <a:r>
              <a:rPr lang="en-US" sz="2200" b="1" dirty="0" smtClean="0">
                <a:latin typeface="Helvetica" pitchFamily="34" charset="0"/>
              </a:rPr>
              <a:t>Stay away from work and food </a:t>
            </a:r>
            <a:br>
              <a:rPr lang="en-US" sz="2200" b="1" dirty="0" smtClean="0">
                <a:latin typeface="Helvetica" pitchFamily="34" charset="0"/>
              </a:rPr>
            </a:br>
            <a:r>
              <a:rPr lang="en-US" sz="2200" b="1" dirty="0" smtClean="0">
                <a:latin typeface="Helvetica" pitchFamily="34" charset="0"/>
              </a:rPr>
              <a:t>handling duties.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178</a:t>
            </a:fld>
            <a:endParaRPr lang="en-US" dirty="0"/>
          </a:p>
        </p:txBody>
      </p:sp>
      <p:pic>
        <p:nvPicPr>
          <p:cNvPr id="15364" name="Picture 4" descr="C:\Users\fgvghyujil\AppData\Local\Microsoft\Windows\Temporary Internet Files\Content.IE5\SIE7KNHZ\MP900427626[1].jpg"/>
          <p:cNvPicPr>
            <a:picLocks noChangeAspect="1" noChangeArrowheads="1"/>
          </p:cNvPicPr>
          <p:nvPr/>
        </p:nvPicPr>
        <p:blipFill>
          <a:blip r:embed="rId3" cstate="print"/>
          <a:srcRect/>
          <a:stretch>
            <a:fillRect/>
          </a:stretch>
        </p:blipFill>
        <p:spPr bwMode="auto">
          <a:xfrm>
            <a:off x="6429380" y="2357430"/>
            <a:ext cx="2714620" cy="2714620"/>
          </a:xfrm>
          <a:prstGeom prst="rect">
            <a:avLst/>
          </a:prstGeom>
          <a:noFill/>
        </p:spPr>
      </p:pic>
    </p:spTree>
  </p:cSld>
  <p:clrMapOvr>
    <a:masterClrMapping/>
  </p:clrMapOvr>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Follow requirements applying to personal practices and presentation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75216" cy="4801166"/>
          </a:xfrm>
        </p:spPr>
        <p:txBody>
          <a:bodyPr>
            <a:normAutofit/>
          </a:bodyPr>
          <a:lstStyle/>
          <a:p>
            <a:pPr marL="0" indent="0">
              <a:spcBef>
                <a:spcPts val="600"/>
              </a:spcBef>
              <a:spcAft>
                <a:spcPts val="1200"/>
              </a:spcAft>
              <a:buNone/>
            </a:pPr>
            <a:r>
              <a:rPr lang="en-US" sz="2200" b="1" dirty="0" smtClean="0">
                <a:latin typeface="Helvetica" pitchFamily="34" charset="0"/>
              </a:rPr>
              <a:t>Food handlers also have obligations when suffering from ‘a condition’.</a:t>
            </a:r>
          </a:p>
          <a:p>
            <a:pPr marL="0" indent="0">
              <a:spcBef>
                <a:spcPts val="600"/>
              </a:spcBef>
              <a:spcAft>
                <a:spcPts val="1200"/>
              </a:spcAft>
              <a:buNone/>
            </a:pPr>
            <a:r>
              <a:rPr lang="en-US" sz="2200" b="1" dirty="0" smtClean="0">
                <a:latin typeface="Helvetica" pitchFamily="34" charset="0"/>
              </a:rPr>
              <a:t>‘A condition’ = </a:t>
            </a:r>
            <a:r>
              <a:rPr lang="en-AU" sz="2200" b="1" dirty="0" smtClean="0">
                <a:latin typeface="Helvetica" pitchFamily="34" charset="0"/>
              </a:rPr>
              <a:t>an infected sore, cut, boil, acne or abrasion or a situation where the food handler experiences discharges from their ears, nose or eyes.</a:t>
            </a:r>
            <a:endParaRPr lang="en-US" sz="2200" b="1" dirty="0" smtClean="0">
              <a:latin typeface="Helvetica" pitchFamily="34" charset="0"/>
            </a:endParaRPr>
          </a:p>
          <a:p>
            <a:pPr marL="360000" indent="-360000">
              <a:spcBef>
                <a:spcPts val="600"/>
              </a:spcBef>
              <a:spcAft>
                <a:spcPts val="1200"/>
              </a:spcAft>
            </a:pPr>
            <a:r>
              <a:rPr lang="en-US" sz="2200" b="1" dirty="0" smtClean="0">
                <a:latin typeface="Helvetica" pitchFamily="34" charset="0"/>
              </a:rPr>
              <a:t>Notify supervisor</a:t>
            </a:r>
          </a:p>
          <a:p>
            <a:pPr marL="360000" indent="-360000">
              <a:spcBef>
                <a:spcPts val="600"/>
              </a:spcBef>
              <a:spcAft>
                <a:spcPts val="1200"/>
              </a:spcAft>
            </a:pPr>
            <a:r>
              <a:rPr lang="en-US" sz="2200" b="1" dirty="0" smtClean="0">
                <a:latin typeface="Helvetica" pitchFamily="34" charset="0"/>
              </a:rPr>
              <a:t>Cover the lesion so it cannot be touched during food handling duties and so it cannot touch food or food contact surfaces.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179</a:t>
            </a:fld>
            <a:endParaRPr lang="en-US" dirty="0"/>
          </a:p>
        </p:txBody>
      </p:sp>
    </p:spTree>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Follow requirements applying to personal practices and presentation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818092" cy="4872604"/>
          </a:xfrm>
        </p:spPr>
        <p:txBody>
          <a:bodyPr>
            <a:normAutofit/>
          </a:bodyPr>
          <a:lstStyle/>
          <a:p>
            <a:pPr marL="0" indent="0">
              <a:spcBef>
                <a:spcPts val="600"/>
              </a:spcBef>
              <a:spcAft>
                <a:spcPts val="1200"/>
              </a:spcAft>
              <a:buNone/>
            </a:pPr>
            <a:r>
              <a:rPr lang="en-US" sz="2200" b="1" dirty="0" smtClean="0">
                <a:latin typeface="Helvetica" pitchFamily="34" charset="0"/>
              </a:rPr>
              <a:t>If you have ‘a condition’ and continue to handle food:</a:t>
            </a:r>
          </a:p>
          <a:p>
            <a:pPr marL="360000" indent="-360000">
              <a:spcBef>
                <a:spcPts val="600"/>
              </a:spcBef>
              <a:spcAft>
                <a:spcPts val="1200"/>
              </a:spcAft>
            </a:pPr>
            <a:r>
              <a:rPr lang="en-US" sz="2200" b="1" dirty="0" smtClean="0">
                <a:latin typeface="Helvetica" pitchFamily="34" charset="0"/>
              </a:rPr>
              <a:t>Cover lesion with waterproof dressing</a:t>
            </a:r>
          </a:p>
          <a:p>
            <a:pPr marL="360000" indent="-360000">
              <a:spcBef>
                <a:spcPts val="600"/>
              </a:spcBef>
              <a:spcAft>
                <a:spcPts val="1200"/>
              </a:spcAft>
            </a:pPr>
            <a:r>
              <a:rPr lang="en-US" sz="2200" b="1" dirty="0" smtClean="0">
                <a:latin typeface="Helvetica" pitchFamily="34" charset="0"/>
              </a:rPr>
              <a:t>Do not touch lesion or discharge</a:t>
            </a:r>
          </a:p>
          <a:p>
            <a:pPr marL="360000" indent="-360000">
              <a:spcBef>
                <a:spcPts val="600"/>
              </a:spcBef>
              <a:spcAft>
                <a:spcPts val="1200"/>
              </a:spcAft>
            </a:pPr>
            <a:r>
              <a:rPr lang="en-US" sz="2200" b="1" dirty="0" smtClean="0">
                <a:latin typeface="Helvetica" pitchFamily="34" charset="0"/>
              </a:rPr>
              <a:t>Wash hands if lesion or discharge </a:t>
            </a:r>
            <a:br>
              <a:rPr lang="en-US" sz="2200" b="1" dirty="0" smtClean="0">
                <a:latin typeface="Helvetica" pitchFamily="34" charset="0"/>
              </a:rPr>
            </a:br>
            <a:r>
              <a:rPr lang="en-US" sz="2200" b="1" dirty="0" smtClean="0">
                <a:latin typeface="Helvetica" pitchFamily="34" charset="0"/>
              </a:rPr>
              <a:t>is touched</a:t>
            </a:r>
          </a:p>
          <a:p>
            <a:pPr marL="360000" indent="-360000">
              <a:spcBef>
                <a:spcPts val="600"/>
              </a:spcBef>
              <a:spcAft>
                <a:spcPts val="1200"/>
              </a:spcAft>
            </a:pPr>
            <a:r>
              <a:rPr lang="en-US" sz="2200" b="1" dirty="0" smtClean="0">
                <a:latin typeface="Helvetica" pitchFamily="34" charset="0"/>
              </a:rPr>
              <a:t>Use medication</a:t>
            </a:r>
          </a:p>
          <a:p>
            <a:pPr marL="360000" indent="-360000">
              <a:spcBef>
                <a:spcPts val="600"/>
              </a:spcBef>
              <a:spcAft>
                <a:spcPts val="1200"/>
              </a:spcAft>
            </a:pPr>
            <a:r>
              <a:rPr lang="en-US" sz="2200" b="1" dirty="0" smtClean="0">
                <a:latin typeface="Helvetica" pitchFamily="34" charset="0"/>
              </a:rPr>
              <a:t>Use tissues to deal with discharge.</a:t>
            </a:r>
          </a:p>
          <a:p>
            <a:pPr marL="360000" indent="-360000" algn="ctr">
              <a:spcBef>
                <a:spcPts val="600"/>
              </a:spcBef>
              <a:spcAft>
                <a:spcPts val="1200"/>
              </a:spcAft>
              <a:buNone/>
            </a:pPr>
            <a:r>
              <a:rPr lang="en-US" sz="2200" b="1" i="1" dirty="0" smtClean="0">
                <a:latin typeface="Helvetica" pitchFamily="34" charset="0"/>
              </a:rPr>
              <a:t>If sick – do not handle food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180</a:t>
            </a:fld>
            <a:endParaRPr lang="en-US" dirty="0"/>
          </a:p>
        </p:txBody>
      </p:sp>
      <p:pic>
        <p:nvPicPr>
          <p:cNvPr id="5" name="Picture 4" descr="coloured band-aids.jpg"/>
          <p:cNvPicPr>
            <a:picLocks noChangeAspect="1"/>
          </p:cNvPicPr>
          <p:nvPr/>
        </p:nvPicPr>
        <p:blipFill>
          <a:blip r:embed="rId3" cstate="print"/>
          <a:stretch>
            <a:fillRect/>
          </a:stretch>
        </p:blipFill>
        <p:spPr>
          <a:xfrm>
            <a:off x="6626914" y="2571744"/>
            <a:ext cx="2517086" cy="2509832"/>
          </a:xfrm>
          <a:prstGeom prst="rect">
            <a:avLst/>
          </a:prstGeom>
        </p:spPr>
      </p:pic>
    </p:spTree>
  </p:cSld>
  <p:clrMapOvr>
    <a:masterClrMapping/>
  </p:clrMapOvr>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Follow requirements applying to personal practices and presentation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You must try to control:</a:t>
            </a:r>
          </a:p>
          <a:p>
            <a:pPr marL="360000" indent="-360000">
              <a:spcBef>
                <a:spcPts val="600"/>
              </a:spcBef>
              <a:spcAft>
                <a:spcPts val="1200"/>
              </a:spcAft>
            </a:pPr>
            <a:r>
              <a:rPr lang="en-US" sz="2200" b="1" dirty="0" smtClean="0">
                <a:latin typeface="Helvetica" pitchFamily="34" charset="0"/>
              </a:rPr>
              <a:t>Coughing and sneezing – if you do </a:t>
            </a:r>
            <a:br>
              <a:rPr lang="en-US" sz="2200" b="1" dirty="0" smtClean="0">
                <a:latin typeface="Helvetica" pitchFamily="34" charset="0"/>
              </a:rPr>
            </a:br>
            <a:r>
              <a:rPr lang="en-US" sz="2200" b="1" dirty="0" smtClean="0">
                <a:latin typeface="Helvetica" pitchFamily="34" charset="0"/>
              </a:rPr>
              <a:t>cough or sneeze when handling food:</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Do it into hands then wash </a:t>
            </a:r>
            <a:br>
              <a:rPr lang="en-US" sz="2200" b="1" dirty="0" smtClean="0">
                <a:latin typeface="Helvetica" pitchFamily="34" charset="0"/>
              </a:rPr>
            </a:br>
            <a:r>
              <a:rPr lang="en-US" sz="2200" b="1" dirty="0" smtClean="0">
                <a:latin typeface="Helvetica" pitchFamily="34" charset="0"/>
              </a:rPr>
              <a:t>immediately and thoroughly</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Throw out contaminated food</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Clean and sanitise food contact </a:t>
            </a:r>
            <a:br>
              <a:rPr lang="en-US" sz="2200" b="1" dirty="0" smtClean="0">
                <a:latin typeface="Helvetica" pitchFamily="34" charset="0"/>
              </a:rPr>
            </a:br>
            <a:r>
              <a:rPr lang="en-US" sz="2200" b="1" dirty="0" smtClean="0">
                <a:latin typeface="Helvetica" pitchFamily="34" charset="0"/>
              </a:rPr>
              <a:t>surfaces and utensils</a:t>
            </a:r>
          </a:p>
          <a:p>
            <a:pPr marL="360000" indent="-360000">
              <a:spcBef>
                <a:spcPts val="600"/>
              </a:spcBef>
              <a:spcAft>
                <a:spcPts val="1200"/>
              </a:spcAft>
              <a:buNone/>
            </a:pPr>
            <a:r>
              <a:rPr lang="en-US" sz="2200" b="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181</a:t>
            </a:fld>
            <a:endParaRPr lang="en-US" dirty="0"/>
          </a:p>
        </p:txBody>
      </p:sp>
      <p:pic>
        <p:nvPicPr>
          <p:cNvPr id="14338" name="Picture 2" descr="C:\Users\fgvghyujil\AppData\Local\Microsoft\Windows\Temporary Internet Files\Content.IE5\SIE7KNHZ\MP900422201[2].jpg"/>
          <p:cNvPicPr>
            <a:picLocks noChangeAspect="1" noChangeArrowheads="1"/>
          </p:cNvPicPr>
          <p:nvPr/>
        </p:nvPicPr>
        <p:blipFill>
          <a:blip r:embed="rId3" cstate="print"/>
          <a:srcRect/>
          <a:stretch>
            <a:fillRect/>
          </a:stretch>
        </p:blipFill>
        <p:spPr bwMode="auto">
          <a:xfrm>
            <a:off x="6428046" y="1785926"/>
            <a:ext cx="2715954" cy="4071942"/>
          </a:xfrm>
          <a:prstGeom prst="rect">
            <a:avLst/>
          </a:prstGeom>
          <a:noFill/>
        </p:spPr>
      </p:pic>
    </p:spTree>
  </p:cSld>
  <p:clrMapOvr>
    <a:masterClrMapping/>
  </p:clrMapOvr>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Follow requirements applying to personal practices and presentation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44042"/>
          </a:xfrm>
        </p:spPr>
        <p:txBody>
          <a:bodyPr>
            <a:normAutofit/>
          </a:bodyPr>
          <a:lstStyle/>
          <a:p>
            <a:pPr marL="0" indent="0">
              <a:spcBef>
                <a:spcPts val="600"/>
              </a:spcBef>
              <a:spcAft>
                <a:spcPts val="1200"/>
              </a:spcAft>
              <a:buNone/>
            </a:pPr>
            <a:r>
              <a:rPr lang="en-US" sz="2200" b="1" dirty="0" smtClean="0">
                <a:latin typeface="Helvetica" pitchFamily="34" charset="0"/>
              </a:rPr>
              <a:t>Be aware of unacceptable personal habits when handling food:</a:t>
            </a:r>
          </a:p>
          <a:p>
            <a:pPr marL="360000" indent="-360000">
              <a:spcBef>
                <a:spcPts val="600"/>
              </a:spcBef>
              <a:spcAft>
                <a:spcPts val="1200"/>
              </a:spcAft>
            </a:pPr>
            <a:r>
              <a:rPr lang="en-US" sz="2200" b="1" dirty="0" smtClean="0">
                <a:latin typeface="Helvetica" pitchFamily="34" charset="0"/>
              </a:rPr>
              <a:t>Scratching an itch, head or face</a:t>
            </a:r>
          </a:p>
          <a:p>
            <a:pPr marL="360000" indent="-360000">
              <a:spcBef>
                <a:spcPts val="600"/>
              </a:spcBef>
              <a:spcAft>
                <a:spcPts val="1200"/>
              </a:spcAft>
            </a:pPr>
            <a:r>
              <a:rPr lang="en-US" sz="2200" b="1" dirty="0" smtClean="0">
                <a:latin typeface="Helvetica" pitchFamily="34" charset="0"/>
              </a:rPr>
              <a:t>Picking nose, scabs, cuts or sores</a:t>
            </a:r>
          </a:p>
          <a:p>
            <a:pPr marL="360000" indent="-360000">
              <a:spcBef>
                <a:spcPts val="600"/>
              </a:spcBef>
              <a:spcAft>
                <a:spcPts val="1200"/>
              </a:spcAft>
            </a:pPr>
            <a:r>
              <a:rPr lang="en-US" sz="2200" b="1" dirty="0" smtClean="0">
                <a:latin typeface="Helvetica" pitchFamily="34" charset="0"/>
              </a:rPr>
              <a:t>Sticking fingers in ears or mouth</a:t>
            </a:r>
          </a:p>
          <a:p>
            <a:pPr marL="360000" indent="-360000">
              <a:spcBef>
                <a:spcPts val="600"/>
              </a:spcBef>
              <a:spcAft>
                <a:spcPts val="1200"/>
              </a:spcAft>
            </a:pPr>
            <a:r>
              <a:rPr lang="en-US" sz="2200" b="1" dirty="0" smtClean="0">
                <a:latin typeface="Helvetica" pitchFamily="34" charset="0"/>
              </a:rPr>
              <a:t>Take appropriate remedial action if the above are done</a:t>
            </a:r>
          </a:p>
          <a:p>
            <a:pPr marL="360000" indent="-360000">
              <a:spcBef>
                <a:spcPts val="600"/>
              </a:spcBef>
              <a:spcAft>
                <a:spcPts val="1200"/>
              </a:spcAft>
            </a:pPr>
            <a:r>
              <a:rPr lang="en-US" sz="2200" b="1" dirty="0" smtClean="0">
                <a:latin typeface="Helvetica" pitchFamily="34" charset="0"/>
              </a:rPr>
              <a:t>Make an effort to control these actions.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182</a:t>
            </a:fld>
            <a:endParaRPr lang="en-US" dirty="0"/>
          </a:p>
        </p:txBody>
      </p:sp>
      <p:pic>
        <p:nvPicPr>
          <p:cNvPr id="13314" name="Picture 2" descr="C:\Users\fgvghyujil\AppData\Local\Microsoft\Windows\Temporary Internet Files\Content.IE5\SIE7KNHZ\MC900078711[1].wmf"/>
          <p:cNvPicPr>
            <a:picLocks noChangeAspect="1" noChangeArrowheads="1"/>
          </p:cNvPicPr>
          <p:nvPr/>
        </p:nvPicPr>
        <p:blipFill>
          <a:blip r:embed="rId3" cstate="print"/>
          <a:srcRect/>
          <a:stretch>
            <a:fillRect/>
          </a:stretch>
        </p:blipFill>
        <p:spPr bwMode="auto">
          <a:xfrm>
            <a:off x="7521934" y="1500174"/>
            <a:ext cx="1622066" cy="3934305"/>
          </a:xfrm>
          <a:prstGeom prst="rect">
            <a:avLst/>
          </a:prstGeom>
          <a:noFill/>
        </p:spPr>
      </p:pic>
    </p:spTree>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Follow requirements applying to personal practices and presentation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In relation to eating in the workplace:</a:t>
            </a:r>
          </a:p>
          <a:p>
            <a:pPr marL="360000" indent="-360000">
              <a:spcBef>
                <a:spcPts val="600"/>
              </a:spcBef>
              <a:spcAft>
                <a:spcPts val="1200"/>
              </a:spcAft>
            </a:pPr>
            <a:r>
              <a:rPr lang="en-US" sz="2200" b="1" dirty="0" smtClean="0">
                <a:latin typeface="Helvetica" pitchFamily="34" charset="0"/>
              </a:rPr>
              <a:t>Staff must not:</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Eat over unprotected food surfaces</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Eat over unprotected food</a:t>
            </a:r>
          </a:p>
          <a:p>
            <a:pPr marL="360000" indent="-360000">
              <a:spcBef>
                <a:spcPts val="600"/>
              </a:spcBef>
              <a:spcAft>
                <a:spcPts val="1200"/>
              </a:spcAft>
            </a:pPr>
            <a:r>
              <a:rPr lang="en-US" sz="2200" b="1" dirty="0" smtClean="0">
                <a:latin typeface="Helvetica" pitchFamily="34" charset="0"/>
              </a:rPr>
              <a:t>The venue may totally ban staff eating </a:t>
            </a:r>
            <a:br>
              <a:rPr lang="en-US" sz="2200" b="1" dirty="0" smtClean="0">
                <a:latin typeface="Helvetica" pitchFamily="34" charset="0"/>
              </a:rPr>
            </a:br>
            <a:r>
              <a:rPr lang="en-US" sz="2200" b="1" dirty="0" smtClean="0">
                <a:latin typeface="Helvetica" pitchFamily="34" charset="0"/>
              </a:rPr>
              <a:t>while working</a:t>
            </a:r>
          </a:p>
          <a:p>
            <a:pPr marL="360000" indent="-360000">
              <a:spcBef>
                <a:spcPts val="600"/>
              </a:spcBef>
              <a:spcAft>
                <a:spcPts val="1200"/>
              </a:spcAft>
            </a:pPr>
            <a:r>
              <a:rPr lang="en-US" sz="2200" b="1" dirty="0" smtClean="0">
                <a:latin typeface="Helvetica" pitchFamily="34" charset="0"/>
              </a:rPr>
              <a:t>Customers must not eat over unprotected </a:t>
            </a:r>
            <a:br>
              <a:rPr lang="en-US" sz="2200" b="1" dirty="0" smtClean="0">
                <a:latin typeface="Helvetica" pitchFamily="34" charset="0"/>
              </a:rPr>
            </a:br>
            <a:r>
              <a:rPr lang="en-US" sz="2200" b="1" dirty="0" smtClean="0">
                <a:latin typeface="Helvetica" pitchFamily="34" charset="0"/>
              </a:rPr>
              <a:t>food or food surfaces.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183</a:t>
            </a:fld>
            <a:endParaRPr lang="en-US" dirty="0"/>
          </a:p>
        </p:txBody>
      </p:sp>
      <p:pic>
        <p:nvPicPr>
          <p:cNvPr id="5" name="Picture 4" descr="ocean_trout_4.jpg"/>
          <p:cNvPicPr>
            <a:picLocks noChangeAspect="1"/>
          </p:cNvPicPr>
          <p:nvPr/>
        </p:nvPicPr>
        <p:blipFill>
          <a:blip r:embed="rId3" cstate="print"/>
          <a:stretch>
            <a:fillRect/>
          </a:stretch>
        </p:blipFill>
        <p:spPr>
          <a:xfrm>
            <a:off x="7153275" y="2000240"/>
            <a:ext cx="1990725" cy="3048000"/>
          </a:xfrm>
          <a:prstGeom prst="rect">
            <a:avLst/>
          </a:prstGeom>
        </p:spPr>
      </p:pic>
    </p:spTree>
  </p:cSld>
  <p:clrMapOvr>
    <a:masterClrMapping/>
  </p:clrMapOvr>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400" b="1" dirty="0" smtClean="0">
                <a:solidFill>
                  <a:srgbClr val="FF6600"/>
                </a:solidFill>
                <a:latin typeface="Helvetica" pitchFamily="34" charset="0"/>
              </a:rPr>
              <a:t>Follow requirements applying to personal practices and presentation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No-one is allowed to:</a:t>
            </a:r>
          </a:p>
          <a:p>
            <a:pPr marL="360000" indent="-360000">
              <a:spcBef>
                <a:spcPts val="600"/>
              </a:spcBef>
              <a:spcAft>
                <a:spcPts val="1200"/>
              </a:spcAft>
            </a:pPr>
            <a:r>
              <a:rPr lang="en-US" sz="2200" b="1" dirty="0" smtClean="0">
                <a:latin typeface="Helvetica" pitchFamily="34" charset="0"/>
              </a:rPr>
              <a:t>Smoke in a food area</a:t>
            </a:r>
          </a:p>
          <a:p>
            <a:pPr marL="360000" indent="-360000">
              <a:spcBef>
                <a:spcPts val="600"/>
              </a:spcBef>
              <a:spcAft>
                <a:spcPts val="1200"/>
              </a:spcAft>
            </a:pPr>
            <a:r>
              <a:rPr lang="en-US" sz="2200" b="1" dirty="0" smtClean="0">
                <a:latin typeface="Helvetica" pitchFamily="34" charset="0"/>
              </a:rPr>
              <a:t>Chew tobacco in a food area</a:t>
            </a:r>
          </a:p>
          <a:p>
            <a:pPr marL="360000" indent="-360000">
              <a:spcBef>
                <a:spcPts val="600"/>
              </a:spcBef>
              <a:spcAft>
                <a:spcPts val="1200"/>
              </a:spcAft>
            </a:pPr>
            <a:r>
              <a:rPr lang="en-US" sz="2200" b="1" dirty="0" smtClean="0">
                <a:latin typeface="Helvetica" pitchFamily="34" charset="0"/>
              </a:rPr>
              <a:t>Spit in a food area.</a:t>
            </a:r>
          </a:p>
          <a:p>
            <a:pPr marL="360000" indent="-360000" algn="ctr">
              <a:spcBef>
                <a:spcPts val="600"/>
              </a:spcBef>
              <a:spcAft>
                <a:spcPts val="1200"/>
              </a:spcAft>
              <a:buNone/>
            </a:pPr>
            <a:r>
              <a:rPr lang="en-US" sz="2200" b="1" i="1" dirty="0" smtClean="0">
                <a:latin typeface="Helvetica" pitchFamily="34" charset="0"/>
              </a:rPr>
              <a:t>Put up signs</a:t>
            </a:r>
          </a:p>
          <a:p>
            <a:pPr marL="360000" indent="-360000" algn="ctr">
              <a:spcBef>
                <a:spcPts val="600"/>
              </a:spcBef>
              <a:spcAft>
                <a:spcPts val="1200"/>
              </a:spcAft>
              <a:buNone/>
            </a:pPr>
            <a:r>
              <a:rPr lang="en-US" sz="2200" b="1" i="1" dirty="0" smtClean="0">
                <a:latin typeface="Helvetica" pitchFamily="34" charset="0"/>
              </a:rPr>
              <a:t>Remove ash trays</a:t>
            </a:r>
          </a:p>
          <a:p>
            <a:pPr marL="360000" indent="-360000" algn="ctr">
              <a:spcBef>
                <a:spcPts val="600"/>
              </a:spcBef>
              <a:spcAft>
                <a:spcPts val="1200"/>
              </a:spcAft>
              <a:buNone/>
            </a:pPr>
            <a:r>
              <a:rPr lang="en-US" sz="2200" b="1" i="1" dirty="0" smtClean="0">
                <a:latin typeface="Helvetica" pitchFamily="34" charset="0"/>
              </a:rPr>
              <a:t>Wash hands after smoking and before resuming food handling duties.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184</a:t>
            </a:fld>
            <a:endParaRPr lang="en-US" dirty="0"/>
          </a:p>
        </p:txBody>
      </p:sp>
      <p:pic>
        <p:nvPicPr>
          <p:cNvPr id="8195" name="Picture 3" descr="C:\Users\fgvghyujil\AppData\Local\Microsoft\Windows\Temporary Internet Files\Content.IE5\PP601SXW\MC900433872[1].png"/>
          <p:cNvPicPr>
            <a:picLocks noChangeAspect="1" noChangeArrowheads="1"/>
          </p:cNvPicPr>
          <p:nvPr/>
        </p:nvPicPr>
        <p:blipFill>
          <a:blip r:embed="rId3" cstate="print"/>
          <a:srcRect/>
          <a:stretch>
            <a:fillRect/>
          </a:stretch>
        </p:blipFill>
        <p:spPr bwMode="auto">
          <a:xfrm>
            <a:off x="6215074" y="2357430"/>
            <a:ext cx="2143140" cy="2143140"/>
          </a:xfrm>
          <a:prstGeom prst="rect">
            <a:avLst/>
          </a:prstGeom>
          <a:noFill/>
        </p:spPr>
      </p:pic>
    </p:spTree>
  </p:cSld>
  <p:clrMapOvr>
    <a:masterClrMapping/>
  </p:clrMapOvr>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600"/>
              </a:spcBef>
              <a:spcAft>
                <a:spcPts val="1200"/>
              </a:spcAft>
              <a:buNone/>
            </a:pPr>
            <a:r>
              <a:rPr lang="en-AU" sz="2200" b="1" dirty="0" smtClean="0">
                <a:latin typeface="Helvetica" pitchFamily="34" charset="0"/>
              </a:rPr>
              <a:t>When maintaining safe personal food handling and personal presentation standards</a:t>
            </a:r>
            <a:r>
              <a:rPr lang="en-US" sz="2200" b="1" dirty="0" smtClean="0">
                <a:latin typeface="Helvetica" pitchFamily="34" charset="0"/>
              </a:rPr>
              <a:t>:</a:t>
            </a:r>
          </a:p>
          <a:p>
            <a:r>
              <a:rPr lang="en-AU" sz="2200" b="1" dirty="0" smtClean="0">
                <a:latin typeface="Helvetica" pitchFamily="34" charset="0"/>
              </a:rPr>
              <a:t>Learn the legislated and house rules applying to safe personal activities and presentation in the workplace</a:t>
            </a:r>
          </a:p>
          <a:p>
            <a:endParaRPr lang="en-AU" sz="2200" b="1" dirty="0" smtClean="0">
              <a:latin typeface="Helvetica" pitchFamily="34" charset="0"/>
            </a:endParaRPr>
          </a:p>
          <a:p>
            <a:r>
              <a:rPr lang="en-AU" sz="2200" b="1" dirty="0" smtClean="0">
                <a:latin typeface="Helvetica" pitchFamily="34" charset="0"/>
              </a:rPr>
              <a:t>Wear a clean uniform when handling food as required by the business</a:t>
            </a:r>
          </a:p>
          <a:p>
            <a:endParaRPr lang="en-AU" sz="2200" b="1" dirty="0" smtClean="0">
              <a:latin typeface="Helvetica" pitchFamily="34" charset="0"/>
            </a:endParaRPr>
          </a:p>
          <a:p>
            <a:r>
              <a:rPr lang="en-AU" sz="2200" b="1" dirty="0" smtClean="0">
                <a:latin typeface="Helvetica" pitchFamily="34" charset="0"/>
              </a:rPr>
              <a:t>Do not wear food handling clothes to or </a:t>
            </a:r>
            <a:br>
              <a:rPr lang="en-AU" sz="2200" b="1" dirty="0" smtClean="0">
                <a:latin typeface="Helvetica" pitchFamily="34" charset="0"/>
              </a:rPr>
            </a:br>
            <a:r>
              <a:rPr lang="en-AU" sz="2200" b="1" dirty="0" smtClean="0">
                <a:latin typeface="Helvetica" pitchFamily="34" charset="0"/>
              </a:rPr>
              <a:t>from work</a:t>
            </a:r>
          </a:p>
          <a:p>
            <a:pPr>
              <a:buNone/>
            </a:pPr>
            <a:r>
              <a:rPr lang="en-US" sz="2200" b="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185</a:t>
            </a:fld>
            <a:endParaRPr lang="en-US" dirty="0"/>
          </a:p>
        </p:txBody>
      </p:sp>
      <p:pic>
        <p:nvPicPr>
          <p:cNvPr id="5" name="Picture 2" descr="C:\Users\fgvghyujil\AppData\Local\Microsoft\Windows\Temporary Internet Files\Content.IE5\PP601SXW\MC900440428[1].wmf"/>
          <p:cNvPicPr>
            <a:picLocks noChangeAspect="1" noChangeArrowheads="1"/>
          </p:cNvPicPr>
          <p:nvPr/>
        </p:nvPicPr>
        <p:blipFill>
          <a:blip r:embed="rId3" cstate="print"/>
          <a:srcRect/>
          <a:stretch>
            <a:fillRect/>
          </a:stretch>
        </p:blipFill>
        <p:spPr bwMode="auto">
          <a:xfrm>
            <a:off x="6715140" y="3500438"/>
            <a:ext cx="1736725" cy="1828800"/>
          </a:xfrm>
          <a:prstGeom prst="rect">
            <a:avLst/>
          </a:prstGeom>
          <a:noFill/>
        </p:spPr>
      </p:pic>
    </p:spTree>
  </p:cSld>
  <p:clrMapOvr>
    <a:masterClrMapping/>
  </p:clrMapOvr>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fontScale="92500" lnSpcReduction="10000"/>
          </a:bodyPr>
          <a:lstStyle/>
          <a:p>
            <a:r>
              <a:rPr lang="en-AU" sz="2200" b="1" dirty="0" smtClean="0">
                <a:latin typeface="Helvetica" pitchFamily="34" charset="0"/>
              </a:rPr>
              <a:t>Limit or eliminate jewellery, hair ornaments and nail polish or nail decorations when working as a food handler</a:t>
            </a:r>
          </a:p>
          <a:p>
            <a:endParaRPr lang="en-AU" sz="2200" b="1" dirty="0" smtClean="0">
              <a:latin typeface="Helvetica" pitchFamily="34" charset="0"/>
            </a:endParaRPr>
          </a:p>
          <a:p>
            <a:r>
              <a:rPr lang="en-AU" sz="2200" b="1" dirty="0" smtClean="0">
                <a:latin typeface="Helvetica" pitchFamily="34" charset="0"/>
              </a:rPr>
              <a:t>Wash hands when and as required using only designated hand washing facilities – always wash hands before starting work and when </a:t>
            </a:r>
            <a:br>
              <a:rPr lang="en-AU" sz="2200" b="1" dirty="0" smtClean="0">
                <a:latin typeface="Helvetica" pitchFamily="34" charset="0"/>
              </a:rPr>
            </a:br>
            <a:r>
              <a:rPr lang="en-AU" sz="2200" b="1" dirty="0" smtClean="0">
                <a:latin typeface="Helvetica" pitchFamily="34" charset="0"/>
              </a:rPr>
              <a:t>returning to work after an absence from </a:t>
            </a:r>
            <a:br>
              <a:rPr lang="en-AU" sz="2200" b="1" dirty="0" smtClean="0">
                <a:latin typeface="Helvetica" pitchFamily="34" charset="0"/>
              </a:rPr>
            </a:br>
            <a:r>
              <a:rPr lang="en-AU" sz="2200" b="1" dirty="0" smtClean="0">
                <a:latin typeface="Helvetica" pitchFamily="34" charset="0"/>
              </a:rPr>
              <a:t>the work station</a:t>
            </a:r>
          </a:p>
          <a:p>
            <a:endParaRPr lang="en-AU" sz="2200" b="1" dirty="0" smtClean="0">
              <a:latin typeface="Helvetica" pitchFamily="34" charset="0"/>
            </a:endParaRPr>
          </a:p>
          <a:p>
            <a:r>
              <a:rPr lang="en-AU" sz="2200" b="1" dirty="0" smtClean="0">
                <a:latin typeface="Helvetica" pitchFamily="34" charset="0"/>
              </a:rPr>
              <a:t>Do not work with food when ill or </a:t>
            </a:r>
            <a:br>
              <a:rPr lang="en-AU" sz="2200" b="1" dirty="0" smtClean="0">
                <a:latin typeface="Helvetica" pitchFamily="34" charset="0"/>
              </a:rPr>
            </a:br>
            <a:r>
              <a:rPr lang="en-AU" sz="2200" b="1" dirty="0" smtClean="0">
                <a:latin typeface="Helvetica" pitchFamily="34" charset="0"/>
              </a:rPr>
              <a:t>suffering from symptoms of </a:t>
            </a:r>
            <a:r>
              <a:rPr lang="en-AU" sz="2200" b="1" dirty="0" err="1" smtClean="0">
                <a:latin typeface="Helvetica" pitchFamily="34" charset="0"/>
              </a:rPr>
              <a:t>foodborne</a:t>
            </a:r>
            <a:r>
              <a:rPr lang="en-AU" sz="2200" b="1" dirty="0" smtClean="0">
                <a:latin typeface="Helvetica" pitchFamily="34" charset="0"/>
              </a:rPr>
              <a:t> </a:t>
            </a:r>
            <a:br>
              <a:rPr lang="en-AU" sz="2200" b="1" dirty="0" smtClean="0">
                <a:latin typeface="Helvetica" pitchFamily="34" charset="0"/>
              </a:rPr>
            </a:br>
            <a:r>
              <a:rPr lang="en-AU" sz="2200" b="1" dirty="0" smtClean="0">
                <a:latin typeface="Helvetica" pitchFamily="34" charset="0"/>
              </a:rPr>
              <a:t>illnesses</a:t>
            </a:r>
          </a:p>
          <a:p>
            <a:pPr marL="360000" indent="-360000">
              <a:spcBef>
                <a:spcPts val="600"/>
              </a:spcBef>
              <a:spcAft>
                <a:spcPts val="1200"/>
              </a:spcAft>
              <a:buNone/>
            </a:pPr>
            <a:r>
              <a:rPr lang="en-US" sz="2200" b="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186</a:t>
            </a:fld>
            <a:endParaRPr lang="en-US" dirty="0"/>
          </a:p>
        </p:txBody>
      </p:sp>
      <p:pic>
        <p:nvPicPr>
          <p:cNvPr id="5" name="Picture 2" descr="C:\Users\fgvghyujil\AppData\Local\Microsoft\Windows\Temporary Internet Files\Content.IE5\PP601SXW\MC900440428[1].wmf"/>
          <p:cNvPicPr>
            <a:picLocks noChangeAspect="1" noChangeArrowheads="1"/>
          </p:cNvPicPr>
          <p:nvPr/>
        </p:nvPicPr>
        <p:blipFill>
          <a:blip r:embed="rId3" cstate="print"/>
          <a:srcRect/>
          <a:stretch>
            <a:fillRect/>
          </a:stretch>
        </p:blipFill>
        <p:spPr bwMode="auto">
          <a:xfrm>
            <a:off x="6715140" y="3500438"/>
            <a:ext cx="1736725" cy="1828800"/>
          </a:xfrm>
          <a:prstGeom prst="rect">
            <a:avLst/>
          </a:prstGeom>
          <a:noFill/>
        </p:spPr>
      </p:pic>
    </p:spTree>
  </p:cSld>
  <p:clrMapOvr>
    <a:masterClrMapping/>
  </p:clrMapOvr>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r>
              <a:rPr lang="en-AU" sz="2200" b="1" dirty="0" smtClean="0">
                <a:latin typeface="Helvetica" pitchFamily="34" charset="0"/>
              </a:rPr>
              <a:t>Obtain a doctor’s certificate stating you are fit to return to work as a food handler if you have been away from work due to illness or sickness</a:t>
            </a:r>
          </a:p>
          <a:p>
            <a:endParaRPr lang="en-AU" sz="2200" b="1" dirty="0" smtClean="0">
              <a:latin typeface="Helvetica" pitchFamily="34" charset="0"/>
            </a:endParaRPr>
          </a:p>
          <a:p>
            <a:r>
              <a:rPr lang="en-AU" sz="2200" b="1" dirty="0" smtClean="0">
                <a:latin typeface="Helvetica" pitchFamily="34" charset="0"/>
              </a:rPr>
              <a:t>Control personal habits which can give rise to food contamination when handling food.</a:t>
            </a:r>
            <a:endParaRPr lang="en-US" sz="2200" b="1" dirty="0" smtClean="0">
              <a:latin typeface="Helvetica" pitchFamily="34" charset="0"/>
            </a:endParaRPr>
          </a:p>
          <a:p>
            <a:pPr marL="360000" indent="-360000">
              <a:spcBef>
                <a:spcPts val="600"/>
              </a:spcBef>
              <a:spcAft>
                <a:spcPts val="1200"/>
              </a:spcAft>
              <a:buNone/>
            </a:pPr>
            <a:endParaRPr lang="en-US" sz="2200" b="1" dirty="0" smtClean="0">
              <a:latin typeface="Helvetica" pitchFamily="34" charset="0"/>
            </a:endParaRPr>
          </a:p>
          <a:p>
            <a:pPr marL="360000" indent="-360000">
              <a:spcBef>
                <a:spcPts val="600"/>
              </a:spcBef>
              <a:spcAft>
                <a:spcPts val="1200"/>
              </a:spcAft>
              <a:buNone/>
            </a:pPr>
            <a:endParaRPr lang="en-US" sz="2200" b="1" dirty="0" smtClean="0">
              <a:latin typeface="Helvetica" pitchFamily="34" charset="0"/>
            </a:endParaRPr>
          </a:p>
          <a:p>
            <a:pPr marL="360000" indent="-360000">
              <a:spcBef>
                <a:spcPts val="600"/>
              </a:spcBef>
              <a:spcAft>
                <a:spcPts val="1200"/>
              </a:spcAft>
              <a:buNone/>
            </a:pPr>
            <a:endParaRPr lang="en-US" sz="2200" b="1" dirty="0" smtClean="0">
              <a:latin typeface="Helvetica" pitchFamily="34" charset="0"/>
            </a:endParaRPr>
          </a:p>
          <a:p>
            <a:pPr marL="360000" indent="-360000">
              <a:spcBef>
                <a:spcPts val="600"/>
              </a:spcBef>
              <a:spcAft>
                <a:spcPts val="1200"/>
              </a:spcAft>
              <a:buNone/>
            </a:pPr>
            <a:endParaRPr lang="en-US" sz="2200" b="1" dirty="0" smtClean="0">
              <a:latin typeface="Helvetica" pitchFamily="34" charset="0"/>
            </a:endParaRPr>
          </a:p>
          <a:p>
            <a:pPr marL="360000" indent="-360000">
              <a:spcBef>
                <a:spcPts val="600"/>
              </a:spcBef>
              <a:spcAft>
                <a:spcPts val="1200"/>
              </a:spcAft>
              <a:buNone/>
            </a:pPr>
            <a:endParaRPr lang="en-US" sz="2200" b="1" dirty="0" smtClean="0">
              <a:latin typeface="Helvetica" pitchFamily="34" charset="0"/>
            </a:endParaRPr>
          </a:p>
          <a:p>
            <a:pPr marL="360000" indent="-360000">
              <a:spcBef>
                <a:spcPts val="600"/>
              </a:spcBef>
              <a:spcAft>
                <a:spcPts val="1200"/>
              </a:spcAft>
              <a:buNone/>
            </a:pPr>
            <a:endParaRPr lang="en-US" sz="2200" b="1" dirty="0" smtClean="0">
              <a:latin typeface="Helvetica" pitchFamily="34" charset="0"/>
            </a:endParaRPr>
          </a:p>
          <a:p>
            <a:pPr marL="360000" indent="-360000">
              <a:spcBef>
                <a:spcPts val="600"/>
              </a:spcBef>
              <a:spcAft>
                <a:spcPts val="1200"/>
              </a:spcAft>
              <a:buNone/>
            </a:pPr>
            <a:endParaRPr lang="en-US" sz="2200" b="1" dirty="0" smtClean="0">
              <a:latin typeface="Helvetica" pitchFamily="34" charset="0"/>
            </a:endParaRP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187</a:t>
            </a:fld>
            <a:endParaRPr lang="en-US" dirty="0"/>
          </a:p>
        </p:txBody>
      </p:sp>
      <p:pic>
        <p:nvPicPr>
          <p:cNvPr id="5" name="Picture 2" descr="C:\Users\fgvghyujil\AppData\Local\Microsoft\Windows\Temporary Internet Files\Content.IE5\PP601SXW\MC900440428[1].wmf"/>
          <p:cNvPicPr>
            <a:picLocks noChangeAspect="1" noChangeArrowheads="1"/>
          </p:cNvPicPr>
          <p:nvPr/>
        </p:nvPicPr>
        <p:blipFill>
          <a:blip r:embed="rId3" cstate="print"/>
          <a:srcRect/>
          <a:stretch>
            <a:fillRect/>
          </a:stretch>
        </p:blipFill>
        <p:spPr bwMode="auto">
          <a:xfrm>
            <a:off x="6715140" y="3500438"/>
            <a:ext cx="1736725" cy="1828800"/>
          </a:xfrm>
          <a:prstGeom prst="rect">
            <a:avLst/>
          </a:prstGeo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Comply with Wp hyg procs ASEAN PPT">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Comply with Wp hyg procs ASEAN PPT</Template>
  <TotalTime>2949</TotalTime>
  <Words>31882</Words>
  <Application>Microsoft Office PowerPoint</Application>
  <PresentationFormat>On-screen Show (4:3)</PresentationFormat>
  <Paragraphs>2797</Paragraphs>
  <Slides>187</Slides>
  <Notes>187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187</vt:i4>
      </vt:variant>
    </vt:vector>
  </HeadingPairs>
  <TitlesOfParts>
    <vt:vector size="194" baseType="lpstr">
      <vt:lpstr>Arial</vt:lpstr>
      <vt:lpstr>Calibri</vt:lpstr>
      <vt:lpstr>Franklin Gothic Book</vt:lpstr>
      <vt:lpstr>Helvetica</vt:lpstr>
      <vt:lpstr>Times New Roman</vt:lpstr>
      <vt:lpstr>Wingdings 2</vt:lpstr>
      <vt:lpstr>Comply with Wp hyg procs ASEAN PPT</vt:lpstr>
      <vt:lpstr>COMPLY WITH WORKPLACE HYGIENE PROCEDURES</vt:lpstr>
      <vt:lpstr>Comply with workplace hygiene procedures</vt:lpstr>
      <vt:lpstr>Assessment</vt:lpstr>
      <vt:lpstr>Follow hygiene procedures</vt:lpstr>
      <vt:lpstr>Follow hygiene procedures</vt:lpstr>
      <vt:lpstr>Identify relevant workplace hygiene procedures to be adhered to</vt:lpstr>
      <vt:lpstr>Identify relevant workplace hygiene procedures to be adhered to</vt:lpstr>
      <vt:lpstr>Identify relevant workplace hygiene procedures to be adhered to</vt:lpstr>
      <vt:lpstr>Identify relevant workplace hygiene procedures to be adhered to</vt:lpstr>
      <vt:lpstr>Identify relevant workplace hygiene procedures to be adhered to</vt:lpstr>
      <vt:lpstr>Identify relevant workplace hygiene procedures to be adhered to</vt:lpstr>
      <vt:lpstr>Identify relevant workplace hygiene procedures to be adhered to</vt:lpstr>
      <vt:lpstr>Identify relevant workplace hygiene procedures to be adhered to</vt:lpstr>
      <vt:lpstr>Identify standards or requirements applying to workplace hygiene procedures</vt:lpstr>
      <vt:lpstr>Identify standards or requirements applying to workplace hygiene procedures</vt:lpstr>
      <vt:lpstr>Identify standards or requirements applying to workplace hygiene procedures</vt:lpstr>
      <vt:lpstr>Identify standards requirements applying to workplace hygiene procedures</vt:lpstr>
      <vt:lpstr>Identify standards/requirements applying to workplace hygiene procedures</vt:lpstr>
      <vt:lpstr>Identify standards or requirements applying to workplace hygiene procedures</vt:lpstr>
      <vt:lpstr>Identify standards or requirements applying to workplace hygiene procedures</vt:lpstr>
      <vt:lpstr>Identify standards or requirements applying to workplace hygiene procedures</vt:lpstr>
      <vt:lpstr>Identify standards or requirements applying to workplace hygiene procedures</vt:lpstr>
      <vt:lpstr>Identify standards or requirements applying to workplace hygiene procedures</vt:lpstr>
      <vt:lpstr>Identify standards or requirements applying to workplace hygiene procedures</vt:lpstr>
      <vt:lpstr>Follow workplace hygiene procedures</vt:lpstr>
      <vt:lpstr>Follow workplace hygiene procedures</vt:lpstr>
      <vt:lpstr>Follow workplace hygiene procedures</vt:lpstr>
      <vt:lpstr>Follow workplace hygiene procedures</vt:lpstr>
      <vt:lpstr>Follow workplace hygiene procedures</vt:lpstr>
      <vt:lpstr>Follow workplace hygiene procedures</vt:lpstr>
      <vt:lpstr>Follow workplace hygiene procedures</vt:lpstr>
      <vt:lpstr>Follow workplace hygiene procedures</vt:lpstr>
      <vt:lpstr>Follow workplace hygiene procedures</vt:lpstr>
      <vt:lpstr>Follow workplace hygiene procedures</vt:lpstr>
      <vt:lpstr>Follow workplace hygiene procedures</vt:lpstr>
      <vt:lpstr>Follow workplace hygiene procedures</vt:lpstr>
      <vt:lpstr>Follow workplace hygiene procedures</vt:lpstr>
      <vt:lpstr>Follow workplace hygiene procedures</vt:lpstr>
      <vt:lpstr>Follow workplace hygiene procedures</vt:lpstr>
      <vt:lpstr>Receive, handle and store food items</vt:lpstr>
      <vt:lpstr>Receive, handle and store food items</vt:lpstr>
      <vt:lpstr>Receive, handle and store food items</vt:lpstr>
      <vt:lpstr>Receive, handle and store food items</vt:lpstr>
      <vt:lpstr>Receive, handle and store food items</vt:lpstr>
      <vt:lpstr>Receive, handle and store food items</vt:lpstr>
      <vt:lpstr>Receive, handle and store food items</vt:lpstr>
      <vt:lpstr>Receive, handle and store food items</vt:lpstr>
      <vt:lpstr>Receive, handle and store food items</vt:lpstr>
      <vt:lpstr>Receive, handle and store food items</vt:lpstr>
      <vt:lpstr>Receive, handle and store food items</vt:lpstr>
      <vt:lpstr>Receive, handle and store food items</vt:lpstr>
      <vt:lpstr>Receive, handle and store food items</vt:lpstr>
      <vt:lpstr>Prepare, serve and store food</vt:lpstr>
      <vt:lpstr>Prepare, serve and store food</vt:lpstr>
      <vt:lpstr>Prepare, serve and store food</vt:lpstr>
      <vt:lpstr>Prepare, serve and store food</vt:lpstr>
      <vt:lpstr>Prepare, serve and store food</vt:lpstr>
      <vt:lpstr>Prepare, serve and store food</vt:lpstr>
      <vt:lpstr>Prepare, serve and store food</vt:lpstr>
      <vt:lpstr>Prepare, serve and store food</vt:lpstr>
      <vt:lpstr>Prepare, serve and store food</vt:lpstr>
      <vt:lpstr>Prepare, serve and store food</vt:lpstr>
      <vt:lpstr>Prepare, serve and store food</vt:lpstr>
      <vt:lpstr>Prepare, serve and store food</vt:lpstr>
      <vt:lpstr>Prepare, serve and store food</vt:lpstr>
      <vt:lpstr>Prepare, serve and store food</vt:lpstr>
      <vt:lpstr>Prepare, serve and store food</vt:lpstr>
      <vt:lpstr>Prepare, serve and store food</vt:lpstr>
      <vt:lpstr>Prepare, serve and store food</vt:lpstr>
      <vt:lpstr>Prepare, serve and store food</vt:lpstr>
      <vt:lpstr>Prepare, serve and store food</vt:lpstr>
      <vt:lpstr>Prepare, serve and store food</vt:lpstr>
      <vt:lpstr>Prepare, serve and store food</vt:lpstr>
      <vt:lpstr>Prepare, serve and store food</vt:lpstr>
      <vt:lpstr>Prepare, serve and store food</vt:lpstr>
      <vt:lpstr>Prepare, serve and store food</vt:lpstr>
      <vt:lpstr>Prepare, serve and store food</vt:lpstr>
      <vt:lpstr>Prepare, serve and store food</vt:lpstr>
      <vt:lpstr>Prepare, serve and store food</vt:lpstr>
      <vt:lpstr>Prepare, serve and store food</vt:lpstr>
      <vt:lpstr>Clean food-related items, utensils and areas</vt:lpstr>
      <vt:lpstr>Clean food-related items, utensils and areas</vt:lpstr>
      <vt:lpstr>Clean food-related items, utensils and areas</vt:lpstr>
      <vt:lpstr>Clean food-related items, utensils and areas</vt:lpstr>
      <vt:lpstr>Clean food-related items, utensils and areas</vt:lpstr>
      <vt:lpstr>Clean food-related items, utensils and areas</vt:lpstr>
      <vt:lpstr>Clean food-related items, utensils and areas</vt:lpstr>
      <vt:lpstr>Clean food-related items, utensils and areas</vt:lpstr>
      <vt:lpstr>Clean food-related items, utensils and areas</vt:lpstr>
      <vt:lpstr>Clean food-related items, utensils and areas</vt:lpstr>
      <vt:lpstr>Summary – Element 1</vt:lpstr>
      <vt:lpstr>Summary – Element 1</vt:lpstr>
      <vt:lpstr>Summary – Element 1</vt:lpstr>
      <vt:lpstr>Summary – Element 1</vt:lpstr>
      <vt:lpstr>Summary – Element 1</vt:lpstr>
      <vt:lpstr>Summary – Element 1</vt:lpstr>
      <vt:lpstr>Summary – Element 1</vt:lpstr>
      <vt:lpstr>Identify and prevent hygiene risks</vt:lpstr>
      <vt:lpstr>Identify potential food and other risks in the workplace promptly</vt:lpstr>
      <vt:lpstr>Identify potential food and other risks in the workplace promptly</vt:lpstr>
      <vt:lpstr>Identify potential food and other risks in the workplace promptly</vt:lpstr>
      <vt:lpstr>Identify potential food and other risks in the workplace promptly</vt:lpstr>
      <vt:lpstr>Identify potential food and other risks in the workplace promptly</vt:lpstr>
      <vt:lpstr>Identify potential food and other risks in the workplace promptly</vt:lpstr>
      <vt:lpstr>Identify potential food and other risks in the workplace promptly</vt:lpstr>
      <vt:lpstr>Identify potential food and other risks in the workplace promptly</vt:lpstr>
      <vt:lpstr>Identify potential food and other risks in the workplace promptly</vt:lpstr>
      <vt:lpstr>Identify potential food and other risks in the workplace promptly</vt:lpstr>
      <vt:lpstr>Identify potential food and other risks in the workplace promptly</vt:lpstr>
      <vt:lpstr>Identify potential food and other risks in the workplace promptly</vt:lpstr>
      <vt:lpstr>Identify potential food and other risks in the workplace promptly</vt:lpstr>
      <vt:lpstr>Identify potential food and other risks in the workplace promptly</vt:lpstr>
      <vt:lpstr>Identify potential food and other risks in the workplace promptly</vt:lpstr>
      <vt:lpstr>Identify potential food and other risks in the workplace promptly</vt:lpstr>
      <vt:lpstr>Identify potential food and other risks in the workplace promptly</vt:lpstr>
      <vt:lpstr>Identify potential food and other risks in the workplace promptly</vt:lpstr>
      <vt:lpstr>Identify potential food and other risks in the workplace promptly</vt:lpstr>
      <vt:lpstr>Identify potential food and other risks in the workplace promptly</vt:lpstr>
      <vt:lpstr>Identify potential food and other risks in the workplace promptly</vt:lpstr>
      <vt:lpstr>Identify potential food and other risks in the workplace promptly</vt:lpstr>
      <vt:lpstr>Identify potential food and other risks in the workplace promptly</vt:lpstr>
      <vt:lpstr>Identify potential food and other risks in the workplace promptly</vt:lpstr>
      <vt:lpstr>Identify potential food and other risks in the workplace promptly</vt:lpstr>
      <vt:lpstr>Take action to minimise or remove the risk of food contamination</vt:lpstr>
      <vt:lpstr>Take action to minimise or remove the risk of food contamination</vt:lpstr>
      <vt:lpstr>Take action to minimise or remove the risk of food contamination</vt:lpstr>
      <vt:lpstr>Take action to minimise or remove the risk of food contamination</vt:lpstr>
      <vt:lpstr>Take action to minimise or remove the risk of food contamination</vt:lpstr>
      <vt:lpstr>Take action to minimise or remove the risk of food contamination</vt:lpstr>
      <vt:lpstr>Take action to minimise or remove the risk of food contamination</vt:lpstr>
      <vt:lpstr>Take action to minimise or remove the risk of food contamination</vt:lpstr>
      <vt:lpstr>Take action to minimise or remove the risk of food contamination</vt:lpstr>
      <vt:lpstr>Take action to minimise or remove the risk of food contamination</vt:lpstr>
      <vt:lpstr>Take action to minimise or remove the risk of food contamination</vt:lpstr>
      <vt:lpstr>Take action to minimise or remove the risk of food contamination</vt:lpstr>
      <vt:lpstr>Take action to minimise or remove the risk of food contamination</vt:lpstr>
      <vt:lpstr>Take action to minimise or remove the risk of food contamination</vt:lpstr>
      <vt:lpstr>Take action to minimise or remove the risk of food contamination</vt:lpstr>
      <vt:lpstr>Take action to minimise or remove the risk of food contamination</vt:lpstr>
      <vt:lpstr>Take action to minimise or remove the risk of food contamination</vt:lpstr>
      <vt:lpstr>Take action to minimise or remove the risk of food contamination</vt:lpstr>
      <vt:lpstr>Take action to minimise or remove the risk of food contamination</vt:lpstr>
      <vt:lpstr>Take action to minimise or remove the risk of food contamination</vt:lpstr>
      <vt:lpstr>Take action to minimise or remove the risk of food contamination</vt:lpstr>
      <vt:lpstr>Take action to minimise or remove the risk of food contamination</vt:lpstr>
      <vt:lpstr>Take action to minimise or remove the risk of food contamination</vt:lpstr>
      <vt:lpstr>Take action to minimise or remove the risk of food contamination</vt:lpstr>
      <vt:lpstr>Handle and dispose of food waste and rubbish</vt:lpstr>
      <vt:lpstr>Handle and dispose of food waste and rubbish</vt:lpstr>
      <vt:lpstr>Handle and dispose of food waste and rubbish</vt:lpstr>
      <vt:lpstr>Handle and dispose of food waste and rubbish</vt:lpstr>
      <vt:lpstr>Handle and dispose of food waste and rubbish</vt:lpstr>
      <vt:lpstr>Handle and dispose of food waste and rubbish</vt:lpstr>
      <vt:lpstr>Handle and dispose of food waste and rubbish</vt:lpstr>
      <vt:lpstr>Summary – Element 2</vt:lpstr>
      <vt:lpstr>Summary – Element 2</vt:lpstr>
      <vt:lpstr>Summary – Element 2</vt:lpstr>
      <vt:lpstr>Summary – Element 2</vt:lpstr>
      <vt:lpstr>Summary – Element 2</vt:lpstr>
      <vt:lpstr>Maintain safe personal food handling and personal presentation standards</vt:lpstr>
      <vt:lpstr>Identify requirements applying to personal practices and presentation</vt:lpstr>
      <vt:lpstr>Follow requirements applying to personal practices and presentation</vt:lpstr>
      <vt:lpstr>Follow requirements applying to personal practices and presentation</vt:lpstr>
      <vt:lpstr>Follow requirements applying to personal practices and presentation</vt:lpstr>
      <vt:lpstr>Follow requirements applying to personal practices and presentation</vt:lpstr>
      <vt:lpstr>Follow requirements applying to personal practices and presentation</vt:lpstr>
      <vt:lpstr>Follow requirements applying to personal practices and presentation</vt:lpstr>
      <vt:lpstr>Follow requirements applying to personal practices and presentation</vt:lpstr>
      <vt:lpstr>Follow requirements applying to personal practices and presentation</vt:lpstr>
      <vt:lpstr>Follow requirements applying to personal practices and presentation</vt:lpstr>
      <vt:lpstr>Follow requirements applying to personal practices and presentation</vt:lpstr>
      <vt:lpstr>Follow requirements applying to personal practices and presentation</vt:lpstr>
      <vt:lpstr>Follow requirements applying to personal practices and presentation</vt:lpstr>
      <vt:lpstr>Follow requirements applying to personal practices and presentation</vt:lpstr>
      <vt:lpstr>Follow requirements applying to personal practices and presentation</vt:lpstr>
      <vt:lpstr>Follow requirements applying to personal practices and presentation</vt:lpstr>
      <vt:lpstr>Follow requirements applying to personal practices &amp; presentation</vt:lpstr>
      <vt:lpstr>Follow requirements applying to personal practices and presentation</vt:lpstr>
      <vt:lpstr>Follow requirements applying to personal practices and presentation</vt:lpstr>
      <vt:lpstr>Follow requirements applying to personal practices and presentation</vt:lpstr>
      <vt:lpstr>Follow requirements applying to personal practices and presentation</vt:lpstr>
      <vt:lpstr>Follow requirements applying to personal practices and presentation</vt:lpstr>
      <vt:lpstr>Follow requirements applying to personal practices and presentation</vt:lpstr>
      <vt:lpstr>Follow requirements applying to personal practices and presentation</vt:lpstr>
      <vt:lpstr>Summary – Element 3</vt:lpstr>
      <vt:lpstr>Summary – Element 3</vt:lpstr>
      <vt:lpstr>Summary – Element 3</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COMPLY WITH WORKPLACE HYGIENE PROCEDURES</dc:title>
  <dc:creator>Mai Vu</dc:creator>
  <cp:lastModifiedBy>Carla Angelica Co</cp:lastModifiedBy>
  <cp:revision>286</cp:revision>
  <dcterms:created xsi:type="dcterms:W3CDTF">2011-06-06T00:31:31Z</dcterms:created>
  <dcterms:modified xsi:type="dcterms:W3CDTF">2015-03-12T08:21:29Z</dcterms:modified>
</cp:coreProperties>
</file>