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Lst>
  <p:notesMasterIdLst>
    <p:notesMasterId r:id="rId66"/>
  </p:notesMasterIdLst>
  <p:handoutMasterIdLst>
    <p:handoutMasterId r:id="rId67"/>
  </p:handoutMasterIdLst>
  <p:sldIdLst>
    <p:sldId id="256" r:id="rId3"/>
    <p:sldId id="257" r:id="rId4"/>
    <p:sldId id="258" r:id="rId5"/>
    <p:sldId id="259" r:id="rId6"/>
    <p:sldId id="260" r:id="rId7"/>
    <p:sldId id="261" r:id="rId8"/>
    <p:sldId id="351" r:id="rId9"/>
    <p:sldId id="352" r:id="rId10"/>
    <p:sldId id="384" r:id="rId11"/>
    <p:sldId id="296" r:id="rId12"/>
    <p:sldId id="262" r:id="rId13"/>
    <p:sldId id="310" r:id="rId14"/>
    <p:sldId id="263" r:id="rId15"/>
    <p:sldId id="353" r:id="rId16"/>
    <p:sldId id="354" r:id="rId17"/>
    <p:sldId id="265" r:id="rId18"/>
    <p:sldId id="266" r:id="rId19"/>
    <p:sldId id="385" r:id="rId20"/>
    <p:sldId id="297" r:id="rId21"/>
    <p:sldId id="267" r:id="rId22"/>
    <p:sldId id="355" r:id="rId23"/>
    <p:sldId id="356" r:id="rId24"/>
    <p:sldId id="268" r:id="rId25"/>
    <p:sldId id="357" r:id="rId26"/>
    <p:sldId id="386" r:id="rId27"/>
    <p:sldId id="298" r:id="rId28"/>
    <p:sldId id="269" r:id="rId29"/>
    <p:sldId id="369" r:id="rId30"/>
    <p:sldId id="270" r:id="rId31"/>
    <p:sldId id="271" r:id="rId32"/>
    <p:sldId id="370" r:id="rId33"/>
    <p:sldId id="272" r:id="rId34"/>
    <p:sldId id="387" r:id="rId35"/>
    <p:sldId id="299" r:id="rId36"/>
    <p:sldId id="273" r:id="rId37"/>
    <p:sldId id="372" r:id="rId38"/>
    <p:sldId id="371" r:id="rId39"/>
    <p:sldId id="373" r:id="rId40"/>
    <p:sldId id="388" r:id="rId41"/>
    <p:sldId id="300" r:id="rId42"/>
    <p:sldId id="274" r:id="rId43"/>
    <p:sldId id="359" r:id="rId44"/>
    <p:sldId id="360" r:id="rId45"/>
    <p:sldId id="361" r:id="rId46"/>
    <p:sldId id="362" r:id="rId47"/>
    <p:sldId id="389" r:id="rId48"/>
    <p:sldId id="301" r:id="rId49"/>
    <p:sldId id="275" r:id="rId50"/>
    <p:sldId id="363" r:id="rId51"/>
    <p:sldId id="364" r:id="rId52"/>
    <p:sldId id="365" r:id="rId53"/>
    <p:sldId id="366" r:id="rId54"/>
    <p:sldId id="276" r:id="rId55"/>
    <p:sldId id="390" r:id="rId56"/>
    <p:sldId id="302" r:id="rId57"/>
    <p:sldId id="277" r:id="rId58"/>
    <p:sldId id="278" r:id="rId59"/>
    <p:sldId id="279" r:id="rId60"/>
    <p:sldId id="368" r:id="rId61"/>
    <p:sldId id="280" r:id="rId62"/>
    <p:sldId id="281" r:id="rId63"/>
    <p:sldId id="391" r:id="rId64"/>
    <p:sldId id="350" r:id="rId6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911" autoAdjust="0"/>
    <p:restoredTop sz="66965" autoAdjust="0"/>
  </p:normalViewPr>
  <p:slideViewPr>
    <p:cSldViewPr>
      <p:cViewPr varScale="1">
        <p:scale>
          <a:sx n="61" d="100"/>
          <a:sy n="61" d="100"/>
        </p:scale>
        <p:origin x="228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5" d="100"/>
          <a:sy n="75" d="100"/>
        </p:scale>
        <p:origin x="-732" y="-8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qantas.com.au/agents/dyn/qf/fares/routeMapsRead"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www.timeanddate.com/time/dateline.html"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www.timeanddate.com/time/time-zones.html"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dirty="0" smtClean="0">
                <a:latin typeface="Helvetica" pitchFamily="34" charset="0"/>
              </a:rPr>
              <a:t>Trainer to welcome students to the class.</a:t>
            </a:r>
          </a:p>
          <a:p>
            <a:endParaRPr lang="en-US" sz="1100" dirty="0" smtClean="0">
              <a:latin typeface="Helvetica" pitchFamily="34" charset="0"/>
            </a:endParaRPr>
          </a:p>
          <a:p>
            <a:pPr marL="171450" indent="-171450">
              <a:buFont typeface="Arial" panose="020B0604020202020204" pitchFamily="34" charset="0"/>
              <a:buChar char="•"/>
            </a:pPr>
            <a:r>
              <a:rPr lang="en-US" sz="1100" dirty="0" smtClean="0">
                <a:latin typeface="Helvetica" pitchFamily="34" charset="0"/>
              </a:rPr>
              <a:t>Introduce self and</a:t>
            </a:r>
            <a:r>
              <a:rPr lang="en-US" sz="1100" baseline="0" dirty="0" smtClean="0">
                <a:latin typeface="Helvetica" pitchFamily="34" charset="0"/>
              </a:rPr>
              <a:t> state qualification to teach this unit</a:t>
            </a:r>
          </a:p>
          <a:p>
            <a:pPr marL="171450" indent="-171450">
              <a:buFont typeface="Arial" panose="020B0604020202020204" pitchFamily="34" charset="0"/>
              <a:buChar char="•"/>
            </a:pPr>
            <a:r>
              <a:rPr lang="en-US" sz="1100" baseline="0" dirty="0" smtClean="0">
                <a:latin typeface="Helvetica" pitchFamily="34" charset="0"/>
              </a:rPr>
              <a:t>Give overview of qualifications and describe industry experience.</a:t>
            </a:r>
            <a:endParaRPr lang="en-US" sz="11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606183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dirty="0" smtClean="0">
                <a:latin typeface="Helvetica" pitchFamily="34" charset="0"/>
              </a:rPr>
              <a:t>Trainer advises students this Unit comprises two elements, as listed on the slide explaining:</a:t>
            </a:r>
          </a:p>
          <a:p>
            <a:endParaRPr lang="en-US" sz="1100" dirty="0" smtClean="0">
              <a:latin typeface="Helvetica" pitchFamily="34" charset="0"/>
            </a:endParaRPr>
          </a:p>
          <a:p>
            <a:pPr marL="171450" indent="-171450">
              <a:buFont typeface="Arial" pitchFamily="34" charset="0"/>
              <a:buChar char="•"/>
            </a:pPr>
            <a:r>
              <a:rPr lang="en-US" sz="1100" dirty="0" smtClean="0">
                <a:latin typeface="Helvetica" pitchFamily="34" charset="0"/>
              </a:rPr>
              <a:t>Each Element comprises a number of Performance Criteria which will be identified throughout the class and explained in detail</a:t>
            </a:r>
          </a:p>
          <a:p>
            <a:pPr marL="171450" indent="-171450">
              <a:buFont typeface="Arial" pitchFamily="34" charset="0"/>
              <a:buChar char="•"/>
            </a:pPr>
            <a:r>
              <a:rPr lang="en-US" sz="1100" dirty="0" smtClean="0">
                <a:latin typeface="Helvetica" pitchFamily="34" charset="0"/>
              </a:rPr>
              <a:t>Students can obtain more detail from their Trainee Manual</a:t>
            </a:r>
          </a:p>
          <a:p>
            <a:pPr marL="171450" indent="-171450">
              <a:buFont typeface="Arial" pitchFamily="34" charset="0"/>
              <a:buChar char="•"/>
            </a:pPr>
            <a:r>
              <a:rPr lang="en-US" sz="1100" dirty="0" smtClean="0">
                <a:latin typeface="Helvetica" pitchFamily="34" charset="0"/>
              </a:rPr>
              <a:t>The course presents advice and information but where their workplace requirements differ to what is presented, the workplace practices and standards must be observed</a:t>
            </a:r>
            <a:r>
              <a:rPr lang="en-US" dirty="0" smtClean="0"/>
              <a: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228717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dirty="0" smtClean="0">
                <a:latin typeface="Helvetica" pitchFamily="34" charset="0"/>
              </a:rPr>
              <a:t>Trainer</a:t>
            </a:r>
            <a:r>
              <a:rPr lang="en-US" sz="1100" baseline="0" dirty="0" smtClean="0">
                <a:latin typeface="Helvetica" pitchFamily="34" charset="0"/>
              </a:rPr>
              <a:t> advises students that assessment for this Unit may take several forms all of which are aimed at verifying they have achieved competency for the Unit as required.</a:t>
            </a:r>
          </a:p>
          <a:p>
            <a:endParaRPr lang="en-US" sz="1100" baseline="0" dirty="0" smtClean="0">
              <a:latin typeface="Helvetica" pitchFamily="34" charset="0"/>
            </a:endParaRPr>
          </a:p>
          <a:p>
            <a:r>
              <a:rPr lang="en-US" sz="1100" baseline="0" dirty="0" smtClean="0">
                <a:latin typeface="Helvetica" pitchFamily="34" charset="0"/>
              </a:rPr>
              <a:t>Trainer indicates to students the methods of assessment that will be applied to them for this Unit. </a:t>
            </a:r>
            <a:endParaRPr lang="en-US" sz="1100" dirty="0" smtClean="0">
              <a:latin typeface="Helvetica" pitchFamily="34" charset="0"/>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998541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1.</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Confirm client requirements for all purposes </a:t>
            </a:r>
            <a:r>
              <a:rPr lang="en-US" sz="1100" b="0" baseline="0" dirty="0" smtClean="0">
                <a:latin typeface="Helvetica" pitchFamily="34" charset="0"/>
              </a:rPr>
              <a:t>the students must be able to:</a:t>
            </a:r>
            <a:endParaRPr lang="en-US" sz="1100" b="1" baseline="0" dirty="0" smtClean="0">
              <a:latin typeface="Helvetica" pitchFamily="34" charset="0"/>
            </a:endParaRPr>
          </a:p>
          <a:p>
            <a:pPr>
              <a:buFont typeface="Arial" pitchFamily="34" charset="0"/>
              <a:buNone/>
            </a:pPr>
            <a:endParaRPr lang="en-US" sz="1100" b="1" baseline="0" dirty="0" smtClean="0">
              <a:latin typeface="Helvetica" pitchFamily="34" charset="0"/>
            </a:endParaRP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Identify and confirm needs and preferences of client</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Identify and access appropriate resources</a:t>
            </a:r>
            <a:r>
              <a:rPr lang="en-AU" sz="1100" b="1" i="0" kern="1200" dirty="0" smtClean="0">
                <a:solidFill>
                  <a:schemeClr val="tx1"/>
                </a:solidFill>
                <a:latin typeface="Helvetica" pitchFamily="34" charset="0"/>
              </a:rPr>
              <a:t> </a:t>
            </a:r>
            <a:r>
              <a:rPr lang="en-AU" sz="1100" i="0" kern="1200" dirty="0" smtClean="0">
                <a:solidFill>
                  <a:schemeClr val="tx1"/>
                </a:solidFill>
                <a:latin typeface="Helvetica" pitchFamily="34" charset="0"/>
              </a:rPr>
              <a:t>to enable processing of client requirements.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403803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1.1, 5.1 &amp; 6.1 </a:t>
            </a:r>
            <a:endParaRPr lang="en-US" sz="1100" b="1" dirty="0" smtClean="0">
              <a:latin typeface="Helvetica" pitchFamily="34" charset="0"/>
            </a:endParaRPr>
          </a:p>
          <a:p>
            <a:endParaRPr lang="en-AU" sz="1100" i="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Needs and preferences of client may relate to:</a:t>
            </a:r>
          </a:p>
          <a:p>
            <a:pPr marL="171450" indent="-171450">
              <a:buFont typeface="Arial" panose="020B0604020202020204" pitchFamily="34" charset="0"/>
              <a:buChar char="•"/>
            </a:pPr>
            <a:r>
              <a:rPr lang="en-AU" sz="1100" i="0" kern="1200" dirty="0" smtClean="0">
                <a:solidFill>
                  <a:schemeClr val="tx1"/>
                </a:solidFill>
                <a:latin typeface="Helvetica" pitchFamily="34" charset="0"/>
              </a:rPr>
              <a:t>Packages </a:t>
            </a:r>
          </a:p>
          <a:p>
            <a:pPr marL="171450" indent="-171450">
              <a:buFont typeface="Arial" panose="020B0604020202020204" pitchFamily="34" charset="0"/>
              <a:buChar char="•"/>
            </a:pPr>
            <a:r>
              <a:rPr lang="en-AU" sz="1100" i="0" kern="1200" dirty="0" smtClean="0">
                <a:solidFill>
                  <a:schemeClr val="tx1"/>
                </a:solidFill>
                <a:latin typeface="Helvetica" pitchFamily="34" charset="0"/>
              </a:rPr>
              <a:t>Budget</a:t>
            </a:r>
          </a:p>
          <a:p>
            <a:pPr marL="171450" indent="-171450">
              <a:buFont typeface="Arial" panose="020B0604020202020204" pitchFamily="34" charset="0"/>
              <a:buChar char="•"/>
            </a:pPr>
            <a:r>
              <a:rPr lang="en-AU" sz="1100" i="0" kern="1200" dirty="0" smtClean="0">
                <a:solidFill>
                  <a:schemeClr val="tx1"/>
                </a:solidFill>
                <a:latin typeface="Helvetica" pitchFamily="34" charset="0"/>
              </a:rPr>
              <a:t>Timing and duration</a:t>
            </a:r>
          </a:p>
          <a:p>
            <a:pPr marL="171450" indent="-171450">
              <a:buFont typeface="Arial" panose="020B0604020202020204" pitchFamily="34" charset="0"/>
              <a:buChar char="•"/>
            </a:pPr>
            <a:r>
              <a:rPr lang="en-AU" sz="1100" i="0" kern="1200" dirty="0" smtClean="0">
                <a:solidFill>
                  <a:schemeClr val="tx1"/>
                </a:solidFill>
                <a:latin typeface="Helvetica" pitchFamily="34" charset="0"/>
              </a:rPr>
              <a:t>Number of travellers – including considerations applicable to groups, families and individuals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Destinations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Carrier</a:t>
            </a:r>
          </a:p>
          <a:p>
            <a:pPr marL="171450" indent="-171450">
              <a:buFont typeface="Arial" panose="020B0604020202020204" pitchFamily="34" charset="0"/>
              <a:buChar char="•"/>
            </a:pPr>
            <a:r>
              <a:rPr lang="en-AU" sz="1100" i="0" kern="1200" dirty="0" smtClean="0">
                <a:solidFill>
                  <a:schemeClr val="tx1"/>
                </a:solidFill>
                <a:latin typeface="Helvetica" pitchFamily="34" charset="0"/>
              </a:rPr>
              <a:t>Quotations and advice supplied to client.</a:t>
            </a:r>
          </a:p>
          <a:p>
            <a:endParaRPr lang="en-AU" sz="1100" i="0" kern="1200" noProof="0" dirty="0" smtClean="0">
              <a:solidFill>
                <a:schemeClr val="tx1"/>
              </a:solidFill>
              <a:latin typeface="Helvetica" pitchFamily="34" charset="0"/>
            </a:endParaRPr>
          </a:p>
          <a:p>
            <a:r>
              <a:rPr lang="en-AU" sz="1100" b="1" i="0" kern="1200" noProof="0" dirty="0" smtClean="0">
                <a:solidFill>
                  <a:schemeClr val="tx1"/>
                </a:solidFill>
                <a:latin typeface="Helvetica" pitchFamily="34" charset="0"/>
              </a:rPr>
              <a:t>Brainstorm/Class</a:t>
            </a:r>
            <a:r>
              <a:rPr lang="en-AU" sz="1100" b="1" i="0" kern="1200" baseline="0" noProof="0" dirty="0" smtClean="0">
                <a:solidFill>
                  <a:schemeClr val="tx1"/>
                </a:solidFill>
                <a:latin typeface="Helvetica" pitchFamily="34" charset="0"/>
              </a:rPr>
              <a:t> discussion</a:t>
            </a:r>
            <a:r>
              <a:rPr lang="en-AU" sz="1100" b="1" i="0" kern="1200" noProof="0" dirty="0" smtClean="0">
                <a:solidFill>
                  <a:schemeClr val="tx1"/>
                </a:solidFill>
                <a:latin typeface="Helvetica" pitchFamily="34" charset="0"/>
              </a:rPr>
              <a:t>:</a:t>
            </a:r>
            <a:r>
              <a:rPr lang="en-AU" sz="1100" b="1" i="0" kern="1200" baseline="0" noProof="0" dirty="0" smtClean="0">
                <a:solidFill>
                  <a:schemeClr val="tx1"/>
                </a:solidFill>
                <a:latin typeface="Helvetica" pitchFamily="34" charset="0"/>
              </a:rPr>
              <a:t> </a:t>
            </a:r>
            <a:endParaRPr lang="en-AU" sz="1100" i="0" kern="1200" baseline="0" noProof="0" dirty="0" smtClean="0">
              <a:solidFill>
                <a:schemeClr val="tx1"/>
              </a:solidFill>
              <a:latin typeface="Helvetica" pitchFamily="34" charset="0"/>
            </a:endParaRPr>
          </a:p>
          <a:p>
            <a:pPr marL="171450" indent="-171450">
              <a:buFont typeface="Arial" panose="020B0604020202020204" pitchFamily="34" charset="0"/>
              <a:buChar char="•"/>
            </a:pPr>
            <a:r>
              <a:rPr lang="en-AU" sz="1100" i="0" kern="1200" noProof="0" dirty="0" smtClean="0">
                <a:solidFill>
                  <a:schemeClr val="tx1"/>
                </a:solidFill>
                <a:latin typeface="Helvetica" pitchFamily="34" charset="0"/>
              </a:rPr>
              <a:t>Are</a:t>
            </a:r>
            <a:r>
              <a:rPr lang="en-AU" sz="1100" i="0" kern="1200" baseline="0" noProof="0" dirty="0" smtClean="0">
                <a:solidFill>
                  <a:schemeClr val="tx1"/>
                </a:solidFill>
                <a:latin typeface="Helvetica" pitchFamily="34" charset="0"/>
              </a:rPr>
              <a:t> there any other needs or preferences you would include?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noProof="0" dirty="0" smtClean="0">
                <a:latin typeface="Helvetica" pitchFamily="34" charset="0"/>
              </a:rPr>
              <a:t>Ask trainees to work in pairs</a:t>
            </a:r>
            <a:r>
              <a:rPr lang="en-AU" sz="1100" baseline="0" noProof="0" dirty="0" smtClean="0">
                <a:latin typeface="Helvetica" pitchFamily="34" charset="0"/>
              </a:rPr>
              <a:t> to </a:t>
            </a:r>
            <a:r>
              <a:rPr lang="en-AU" sz="1100" noProof="0" dirty="0" smtClean="0">
                <a:latin typeface="Helvetica" pitchFamily="34" charset="0"/>
              </a:rPr>
              <a:t>role play an initial consultation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noProof="0" dirty="0" smtClean="0">
                <a:latin typeface="Helvetica" pitchFamily="34" charset="0"/>
              </a:rPr>
              <a:t>Ask</a:t>
            </a:r>
            <a:r>
              <a:rPr lang="en-AU" sz="1100" baseline="0" noProof="0" dirty="0" smtClean="0">
                <a:latin typeface="Helvetica" pitchFamily="34" charset="0"/>
              </a:rPr>
              <a:t> the consultant to ask questions and keep notes to read back to the client to confirm they have understood their needs.</a:t>
            </a:r>
          </a:p>
          <a:p>
            <a:endParaRPr lang="en-AU" sz="1200" i="0" kern="1200" baseline="0" noProof="0" dirty="0" smtClean="0">
              <a:solidFill>
                <a:schemeClr val="tx1"/>
              </a:solidFill>
              <a:latin typeface="+mn-lt"/>
              <a:ea typeface="+mn-ea"/>
              <a:cs typeface="+mn-cs"/>
            </a:endParaRPr>
          </a:p>
          <a:p>
            <a:endParaRPr lang="en-AU" sz="1200" i="0" kern="1200" baseline="0" noProof="0" dirty="0" smtClean="0">
              <a:solidFill>
                <a:schemeClr val="tx1"/>
              </a:solidFill>
              <a:latin typeface="+mn-lt"/>
              <a:ea typeface="+mn-ea"/>
              <a:cs typeface="+mn-cs"/>
            </a:endParaRPr>
          </a:p>
          <a:p>
            <a:endParaRPr lang="en-AU" i="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621872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1.2, 5.2, 6.2</a:t>
            </a:r>
            <a:endParaRPr lang="en-US" sz="1100" dirty="0" smtClean="0">
              <a:latin typeface="Helvetica" pitchFamily="34" charset="0"/>
            </a:endParaRPr>
          </a:p>
          <a:p>
            <a:pPr>
              <a:spcBef>
                <a:spcPts val="400"/>
              </a:spcBef>
            </a:pPr>
            <a:r>
              <a:rPr lang="en-AU" sz="1100" b="1" i="1" dirty="0" smtClean="0">
                <a:effectLst/>
                <a:latin typeface="Helvetica" pitchFamily="34" charset="0"/>
                <a:ea typeface="Times New Roman"/>
                <a:cs typeface="Times New Roman"/>
              </a:rPr>
              <a:t>General resources</a:t>
            </a:r>
          </a:p>
          <a:p>
            <a:pPr>
              <a:spcBef>
                <a:spcPts val="400"/>
              </a:spcBef>
              <a:spcAft>
                <a:spcPts val="800"/>
              </a:spcAft>
            </a:pPr>
            <a:r>
              <a:rPr lang="en-AU" sz="1100" dirty="0" smtClean="0">
                <a:effectLst/>
                <a:latin typeface="Helvetica" pitchFamily="34" charset="0"/>
                <a:ea typeface="Calibri"/>
                <a:cs typeface="Calibri"/>
              </a:rPr>
              <a:t>To construct and calculate international airfares, it will be necessary to have access to a:</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A  computer with internet access</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Calendar,</a:t>
            </a:r>
            <a:r>
              <a:rPr lang="en-AU" sz="1100" baseline="0" dirty="0" smtClean="0">
                <a:effectLst/>
                <a:latin typeface="Helvetica" pitchFamily="34" charset="0"/>
                <a:ea typeface="Calibri"/>
                <a:cs typeface="Times New Roman"/>
              </a:rPr>
              <a:t> </a:t>
            </a:r>
            <a:r>
              <a:rPr lang="en-AU" sz="1100" dirty="0" smtClean="0">
                <a:effectLst/>
                <a:latin typeface="Helvetica" pitchFamily="34" charset="0"/>
                <a:ea typeface="Calibri"/>
                <a:cs typeface="Times New Roman"/>
              </a:rPr>
              <a:t>Calculator,</a:t>
            </a:r>
            <a:r>
              <a:rPr lang="en-AU" sz="1100" baseline="0" dirty="0" smtClean="0">
                <a:effectLst/>
                <a:latin typeface="Helvetica" pitchFamily="34" charset="0"/>
                <a:ea typeface="Calibri"/>
                <a:cs typeface="Times New Roman"/>
              </a:rPr>
              <a:t> </a:t>
            </a:r>
            <a:r>
              <a:rPr lang="en-AU" sz="1100" dirty="0" smtClean="0">
                <a:effectLst/>
                <a:latin typeface="Helvetica" pitchFamily="34" charset="0"/>
                <a:ea typeface="Calibri"/>
                <a:cs typeface="Times New Roman"/>
              </a:rPr>
              <a:t>Pen and paper</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World map</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Airline websites – these websites are a great source of general information on air travel, as well as the airline’s policies. Useful information for the agent and the client will include:</a:t>
            </a:r>
          </a:p>
          <a:p>
            <a:pPr marL="342900" lvl="0" indent="-342900">
              <a:spcBef>
                <a:spcPts val="300"/>
              </a:spcBef>
              <a:spcAft>
                <a:spcPts val="300"/>
              </a:spcAft>
              <a:buFont typeface="Wingdings"/>
              <a:buChar char=""/>
              <a:tabLst>
                <a:tab pos="630555" algn="l"/>
              </a:tabLst>
            </a:pPr>
            <a:r>
              <a:rPr lang="en-AU" sz="1100" dirty="0" smtClean="0">
                <a:effectLst/>
                <a:latin typeface="Helvetica" pitchFamily="34" charset="0"/>
                <a:ea typeface="Times New Roman"/>
                <a:cs typeface="Times New Roman"/>
              </a:rPr>
              <a:t>Airport information – maps of terminals, facilities</a:t>
            </a:r>
          </a:p>
          <a:p>
            <a:pPr marL="342900" lvl="0" indent="-342900">
              <a:spcBef>
                <a:spcPts val="300"/>
              </a:spcBef>
              <a:spcAft>
                <a:spcPts val="300"/>
              </a:spcAft>
              <a:buFont typeface="Wingdings"/>
              <a:buChar char=""/>
              <a:tabLst>
                <a:tab pos="630555" algn="l"/>
              </a:tabLst>
            </a:pPr>
            <a:r>
              <a:rPr lang="en-AU" sz="1100" dirty="0" smtClean="0">
                <a:effectLst/>
                <a:latin typeface="Helvetica" pitchFamily="34" charset="0"/>
                <a:ea typeface="Times New Roman"/>
                <a:cs typeface="Times New Roman"/>
              </a:rPr>
              <a:t>Check-in options and facilities</a:t>
            </a:r>
          </a:p>
          <a:p>
            <a:pPr marL="342900" lvl="0" indent="-342900">
              <a:spcBef>
                <a:spcPts val="300"/>
              </a:spcBef>
              <a:spcAft>
                <a:spcPts val="300"/>
              </a:spcAft>
              <a:buFont typeface="Wingdings"/>
              <a:buChar char=""/>
              <a:tabLst>
                <a:tab pos="630555" algn="l"/>
              </a:tabLst>
            </a:pPr>
            <a:r>
              <a:rPr lang="en-AU" sz="1100" dirty="0" smtClean="0">
                <a:effectLst/>
                <a:latin typeface="Helvetica" pitchFamily="34" charset="0"/>
                <a:ea typeface="Times New Roman"/>
                <a:cs typeface="Times New Roman"/>
              </a:rPr>
              <a:t>Baggage restrictions and fees</a:t>
            </a:r>
          </a:p>
          <a:p>
            <a:pPr marL="342900" lvl="0" indent="-342900">
              <a:spcBef>
                <a:spcPts val="300"/>
              </a:spcBef>
              <a:spcAft>
                <a:spcPts val="300"/>
              </a:spcAft>
              <a:buFont typeface="Wingdings"/>
              <a:buChar char=""/>
              <a:tabLst>
                <a:tab pos="630555" algn="l"/>
              </a:tabLst>
            </a:pPr>
            <a:r>
              <a:rPr lang="en-AU" sz="1100" dirty="0" smtClean="0">
                <a:effectLst/>
                <a:latin typeface="Helvetica" pitchFamily="34" charset="0"/>
                <a:ea typeface="Times New Roman"/>
                <a:cs typeface="Times New Roman"/>
              </a:rPr>
              <a:t>Special assistance offered for passengers</a:t>
            </a:r>
          </a:p>
          <a:p>
            <a:pPr marL="342900" lvl="0" indent="-342900">
              <a:spcBef>
                <a:spcPts val="300"/>
              </a:spcBef>
              <a:spcAft>
                <a:spcPts val="300"/>
              </a:spcAft>
              <a:buFont typeface="Wingdings"/>
              <a:buChar char=""/>
              <a:tabLst>
                <a:tab pos="630555" algn="l"/>
              </a:tabLst>
            </a:pPr>
            <a:r>
              <a:rPr lang="en-AU" sz="1100" dirty="0" smtClean="0">
                <a:effectLst/>
                <a:latin typeface="Helvetica" pitchFamily="34" charset="0"/>
                <a:ea typeface="Times New Roman"/>
                <a:cs typeface="Times New Roman"/>
              </a:rPr>
              <a:t>General policy and travel information.</a:t>
            </a:r>
          </a:p>
          <a:p>
            <a:pPr>
              <a:spcBef>
                <a:spcPts val="400"/>
              </a:spcBef>
            </a:pPr>
            <a:r>
              <a:rPr lang="en-AU" sz="1100" b="1" i="1" dirty="0" smtClean="0">
                <a:effectLst/>
                <a:latin typeface="Helvetica" pitchFamily="34" charset="0"/>
                <a:ea typeface="Times New Roman"/>
                <a:cs typeface="Times New Roman"/>
              </a:rPr>
              <a:t>Specialist resources for travel industry staff</a:t>
            </a:r>
          </a:p>
          <a:p>
            <a:pPr>
              <a:spcBef>
                <a:spcPts val="400"/>
              </a:spcBef>
              <a:spcAft>
                <a:spcPts val="800"/>
              </a:spcAft>
            </a:pPr>
            <a:r>
              <a:rPr lang="en-AU" sz="1100" dirty="0" smtClean="0">
                <a:effectLst/>
                <a:latin typeface="Helvetica" pitchFamily="34" charset="0"/>
                <a:ea typeface="Calibri"/>
                <a:cs typeface="Calibri"/>
              </a:rPr>
              <a:t>Travel industry enterprises will each develop their own policies and procedures for assisting clients to make international airfare bookings. Enterprises which construct regular airfares will have access to:</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A Computer Reservation System (CRS)</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Airline agency help desks (online and/or phone service)</a:t>
            </a:r>
          </a:p>
          <a:p>
            <a:pPr marL="342900" lvl="0" indent="-342900">
              <a:spcBef>
                <a:spcPts val="300"/>
              </a:spcBef>
              <a:spcAft>
                <a:spcPts val="300"/>
              </a:spcAft>
              <a:buFont typeface="Symbol"/>
              <a:buChar char=""/>
            </a:pPr>
            <a:r>
              <a:rPr lang="en-AU" sz="1100" dirty="0" smtClean="0">
                <a:effectLst/>
                <a:latin typeface="Helvetica" pitchFamily="34" charset="0"/>
                <a:ea typeface="Calibri"/>
                <a:cs typeface="Times New Roman"/>
              </a:rPr>
              <a:t>The Passenger Air Tariff.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173129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1.2, 5.2, 6.2</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smtClean="0">
              <a:latin typeface="Helvetica" pitchFamily="34" charset="0"/>
            </a:endParaRPr>
          </a:p>
          <a:p>
            <a:r>
              <a:rPr lang="en-AU" sz="1100" i="0" kern="1200" dirty="0" smtClean="0">
                <a:solidFill>
                  <a:schemeClr val="tx1"/>
                </a:solidFill>
                <a:latin typeface="Helvetica" pitchFamily="34" charset="0"/>
              </a:rPr>
              <a:t>Refer to trainee manual and discuss these</a:t>
            </a:r>
            <a:r>
              <a:rPr lang="en-AU" sz="1100" i="0" kern="1200" baseline="0" dirty="0" smtClean="0">
                <a:solidFill>
                  <a:schemeClr val="tx1"/>
                </a:solidFill>
                <a:latin typeface="Helvetica" pitchFamily="34" charset="0"/>
              </a:rPr>
              <a:t> resources in some detail ensuring all learners understand their functions.</a:t>
            </a:r>
            <a:endParaRPr lang="en-AU" sz="1100" i="0" kern="1200" dirty="0" smtClean="0">
              <a:solidFill>
                <a:schemeClr val="tx1"/>
              </a:solidFill>
              <a:latin typeface="Helvetica" pitchFamily="34" charset="0"/>
            </a:endParaRPr>
          </a:p>
          <a:p>
            <a:pPr marL="342900" marR="0" lvl="0" indent="-342900" algn="l" defTabSz="914400" rtl="0" eaLnBrk="1" fontAlgn="auto" latinLnBrk="0" hangingPunct="1">
              <a:lnSpc>
                <a:spcPct val="100000"/>
              </a:lnSpc>
              <a:spcBef>
                <a:spcPts val="300"/>
              </a:spcBef>
              <a:spcAft>
                <a:spcPts val="300"/>
              </a:spcAft>
              <a:buClrTx/>
              <a:buSzTx/>
              <a:buFont typeface="Symbol"/>
              <a:buChar char=""/>
              <a:tabLst/>
              <a:defRPr/>
            </a:pPr>
            <a:r>
              <a:rPr kumimoji="0" lang="en-AU" sz="1100" b="0" i="0" u="none" strike="noStrike" kern="1200" cap="none" spc="0" normalizeH="0" baseline="0" noProof="0" dirty="0" smtClean="0">
                <a:ln>
                  <a:noFill/>
                </a:ln>
                <a:solidFill>
                  <a:prstClr val="black"/>
                </a:solidFill>
                <a:effectLst/>
                <a:uLnTx/>
                <a:uFillTx/>
                <a:latin typeface="Helvetica" pitchFamily="34" charset="0"/>
                <a:ea typeface="Calibri"/>
                <a:cs typeface="Times New Roman"/>
              </a:rPr>
              <a:t>Refer to TM and ensure thorough understanding of CRS and its capabilities</a:t>
            </a:r>
          </a:p>
          <a:p>
            <a:pPr marL="342900" marR="0" lvl="0" indent="-342900" algn="l" defTabSz="914400" rtl="0" eaLnBrk="1" fontAlgn="auto" latinLnBrk="0" hangingPunct="1">
              <a:lnSpc>
                <a:spcPct val="100000"/>
              </a:lnSpc>
              <a:spcBef>
                <a:spcPts val="300"/>
              </a:spcBef>
              <a:spcAft>
                <a:spcPts val="300"/>
              </a:spcAft>
              <a:buClrTx/>
              <a:buSzTx/>
              <a:buFont typeface="Symbol"/>
              <a:buChar char=""/>
              <a:tabLst/>
              <a:defRPr/>
            </a:pPr>
            <a:r>
              <a:rPr kumimoji="0" lang="en-AU" sz="1100" b="0" i="0" u="none" strike="noStrike" kern="1200" cap="none" spc="0" normalizeH="0" baseline="0" noProof="0" dirty="0" smtClean="0">
                <a:ln>
                  <a:noFill/>
                </a:ln>
                <a:solidFill>
                  <a:prstClr val="black"/>
                </a:solidFill>
                <a:effectLst/>
                <a:uLnTx/>
                <a:uFillTx/>
                <a:latin typeface="Helvetica" pitchFamily="34" charset="0"/>
                <a:ea typeface="Calibri"/>
                <a:cs typeface="Times New Roman"/>
              </a:rPr>
              <a:t>Explain help desks and websites with travel agent login</a:t>
            </a:r>
          </a:p>
          <a:p>
            <a:pPr marL="342900" marR="0" lvl="0" indent="-342900" algn="l" defTabSz="914400" rtl="0" eaLnBrk="1" fontAlgn="auto" latinLnBrk="0" hangingPunct="1">
              <a:lnSpc>
                <a:spcPct val="100000"/>
              </a:lnSpc>
              <a:spcBef>
                <a:spcPts val="300"/>
              </a:spcBef>
              <a:spcAft>
                <a:spcPts val="300"/>
              </a:spcAft>
              <a:buClrTx/>
              <a:buSzTx/>
              <a:buFont typeface="Symbol"/>
              <a:buChar char=""/>
              <a:tabLst/>
              <a:defRPr/>
            </a:pPr>
            <a:r>
              <a:rPr kumimoji="0" lang="en-AU" sz="1100" b="0" i="0" u="none" strike="noStrike" kern="1200" cap="none" spc="0" normalizeH="0" baseline="0" noProof="0" dirty="0" smtClean="0">
                <a:ln>
                  <a:noFill/>
                </a:ln>
                <a:solidFill>
                  <a:prstClr val="black"/>
                </a:solidFill>
                <a:effectLst/>
                <a:uLnTx/>
                <a:uFillTx/>
                <a:latin typeface="Helvetica" pitchFamily="34" charset="0"/>
                <a:ea typeface="Calibri"/>
                <a:cs typeface="Times New Roman"/>
              </a:rPr>
              <a:t>Demonstrate accessing PAT online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Activity</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dirty="0" smtClean="0">
                <a:latin typeface="Helvetica" pitchFamily="34" charset="0"/>
              </a:rPr>
              <a:t>Learners to research one Airline website</a:t>
            </a:r>
            <a:r>
              <a:rPr lang="en-US" sz="1100" baseline="0" dirty="0" smtClean="0">
                <a:latin typeface="Helvetica" pitchFamily="34" charset="0"/>
              </a:rPr>
              <a:t> each and present the following information: </a:t>
            </a:r>
            <a:endParaRPr lang="en-US" sz="1100" dirty="0" smtClean="0">
              <a:latin typeface="Helvetica" pitchFamily="34" charset="0"/>
            </a:endParaRPr>
          </a:p>
          <a:p>
            <a:pPr marL="171450" indent="-171450">
              <a:buFont typeface="Arial" panose="020B0604020202020204" pitchFamily="34" charset="0"/>
              <a:buChar char="•"/>
            </a:pPr>
            <a:r>
              <a:rPr lang="en-AU" sz="1100" kern="1200" dirty="0" smtClean="0">
                <a:solidFill>
                  <a:schemeClr val="tx1"/>
                </a:solidFill>
                <a:latin typeface="Helvetica" pitchFamily="34" charset="0"/>
              </a:rPr>
              <a:t>Airport information – maps of terminals, facilities</a:t>
            </a:r>
          </a:p>
          <a:p>
            <a:pPr marL="171450" indent="-171450">
              <a:buFont typeface="Arial" panose="020B0604020202020204" pitchFamily="34" charset="0"/>
              <a:buChar char="•"/>
            </a:pPr>
            <a:r>
              <a:rPr lang="en-AU" sz="1100" kern="1200" dirty="0" smtClean="0">
                <a:solidFill>
                  <a:schemeClr val="tx1"/>
                </a:solidFill>
                <a:latin typeface="Helvetica" pitchFamily="34" charset="0"/>
              </a:rPr>
              <a:t>Check-in options and facilities</a:t>
            </a:r>
          </a:p>
          <a:p>
            <a:pPr marL="171450" indent="-171450">
              <a:buFont typeface="Arial" panose="020B0604020202020204" pitchFamily="34" charset="0"/>
              <a:buChar char="•"/>
            </a:pPr>
            <a:r>
              <a:rPr lang="en-AU" sz="1100" kern="1200" dirty="0" smtClean="0">
                <a:solidFill>
                  <a:schemeClr val="tx1"/>
                </a:solidFill>
                <a:latin typeface="Helvetica" pitchFamily="34" charset="0"/>
              </a:rPr>
              <a:t>Baggage restrictions and fees</a:t>
            </a:r>
          </a:p>
          <a:p>
            <a:pPr marL="171450" indent="-171450">
              <a:buFont typeface="Arial" panose="020B0604020202020204" pitchFamily="34" charset="0"/>
              <a:buChar char="•"/>
            </a:pPr>
            <a:r>
              <a:rPr lang="en-AU" sz="1100" kern="1200" dirty="0" smtClean="0">
                <a:solidFill>
                  <a:schemeClr val="tx1"/>
                </a:solidFill>
                <a:latin typeface="Helvetica" pitchFamily="34" charset="0"/>
              </a:rPr>
              <a:t>Special assistance offered for passengers</a:t>
            </a:r>
          </a:p>
          <a:p>
            <a:pPr marL="171450" indent="-171450">
              <a:buFont typeface="Arial" panose="020B0604020202020204" pitchFamily="34" charset="0"/>
              <a:buChar char="•"/>
            </a:pPr>
            <a:r>
              <a:rPr lang="en-AU" sz="1100" kern="1200" dirty="0" smtClean="0">
                <a:solidFill>
                  <a:schemeClr val="tx1"/>
                </a:solidFill>
                <a:latin typeface="Helvetica" pitchFamily="34" charset="0"/>
              </a:rPr>
              <a:t>General policy and travel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3173129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1.2, 5.2, 6.2</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smtClean="0">
              <a:latin typeface="Helvetica" pitchFamily="34" charset="0"/>
            </a:endParaRPr>
          </a:p>
          <a:p>
            <a:r>
              <a:rPr lang="en-AU" sz="1100" b="1" i="0" kern="1200" dirty="0" smtClean="0">
                <a:solidFill>
                  <a:schemeClr val="tx1"/>
                </a:solidFill>
                <a:latin typeface="Helvetica" pitchFamily="34" charset="0"/>
              </a:rPr>
              <a:t>Phonetic alphabet</a:t>
            </a:r>
          </a:p>
          <a:p>
            <a:r>
              <a:rPr lang="en-AU" sz="1100" i="0" kern="1200" dirty="0" smtClean="0">
                <a:solidFill>
                  <a:schemeClr val="tx1"/>
                </a:solidFill>
                <a:latin typeface="Helvetica" pitchFamily="34" charset="0"/>
              </a:rPr>
              <a:t>To avoid confusion with accents and different types of speech and to eliminate spelling mistakes with names and booking details, the phonetic alphabet is routinely used.</a:t>
            </a:r>
          </a:p>
          <a:p>
            <a:r>
              <a:rPr lang="en-AU" sz="1100" i="0" kern="1200" dirty="0" smtClean="0">
                <a:solidFill>
                  <a:schemeClr val="tx1"/>
                </a:solidFill>
                <a:latin typeface="Helvetica" pitchFamily="34" charset="0"/>
              </a:rPr>
              <a:t>The phonetic alphabet is used for communication between staff involved in the airline industry.  It is particularly useful when spelling out a client’s name over the telephone or when you need to receive or advise a reservation number.  An airline or CRS booking number commonly referred to as a PNR or a Reloc is a unique code made up of six letters and numbers. To avoid confusion, the phonetic alphabet is used when staff involved in air travel need to share this information. This will be discussed in more detail in future topics and these terms also appear in the Glossary. </a:t>
            </a:r>
          </a:p>
          <a:p>
            <a:endParaRPr lang="en-AU" sz="1100" i="0" kern="1200" dirty="0" smtClean="0">
              <a:solidFill>
                <a:schemeClr val="tx1"/>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100" b="1" dirty="0" smtClean="0">
                <a:latin typeface="Helvetica" pitchFamily="34" charset="0"/>
              </a:rPr>
              <a:t>Airline schedules and flight routes</a:t>
            </a:r>
          </a:p>
          <a:p>
            <a:pPr marL="0" marR="0" indent="0" algn="l" defTabSz="914400" rtl="0" eaLnBrk="1" fontAlgn="auto" latinLnBrk="0" hangingPunct="1">
              <a:lnSpc>
                <a:spcPct val="100000"/>
              </a:lnSpc>
              <a:spcBef>
                <a:spcPts val="0"/>
              </a:spcBef>
              <a:spcAft>
                <a:spcPts val="0"/>
              </a:spcAft>
              <a:buClrTx/>
              <a:buSzTx/>
              <a:buFontTx/>
              <a:buNone/>
              <a:tabLst/>
              <a:defRPr/>
            </a:pPr>
            <a:r>
              <a:rPr lang="en-AU" sz="1100" dirty="0" smtClean="0">
                <a:latin typeface="Helvetica" pitchFamily="34" charset="0"/>
              </a:rPr>
              <a:t>Access to schedules (timetables), fares and information relating to the flights operated by the various carriers is available electronically to travel agents via their Computer Reservation System (CRS) and airline websites.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Activity</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100" dirty="0" smtClean="0">
                <a:latin typeface="Helvetica" pitchFamily="34" charset="0"/>
              </a:rPr>
              <a:t>In</a:t>
            </a:r>
            <a:r>
              <a:rPr lang="en-AU" sz="1100" baseline="0" dirty="0" smtClean="0">
                <a:latin typeface="Helvetica" pitchFamily="34" charset="0"/>
              </a:rPr>
              <a:t> pairs h</a:t>
            </a:r>
            <a:r>
              <a:rPr lang="en-AU" sz="1100" dirty="0" smtClean="0">
                <a:latin typeface="Helvetica" pitchFamily="34" charset="0"/>
              </a:rPr>
              <a:t>ave learners confirm passenger details with each other using their own names.</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100" dirty="0" smtClean="0">
                <a:latin typeface="Helvetica" pitchFamily="34" charset="0"/>
              </a:rPr>
              <a:t>This</a:t>
            </a:r>
            <a:r>
              <a:rPr lang="en-AU" sz="1100" baseline="0" dirty="0" smtClean="0">
                <a:latin typeface="Helvetica" pitchFamily="34" charset="0"/>
              </a:rPr>
              <a:t> activity may also be completed  with learners sitting back to back to encourage listening and speaking techniques as specifically needed when communicating via telephone.</a:t>
            </a:r>
            <a:r>
              <a:rPr lang="en-AU" sz="1100" dirty="0" smtClean="0">
                <a:latin typeface="Helvetica" pitchFamily="34" charset="0"/>
              </a:rPr>
              <a:t> </a:t>
            </a:r>
            <a:endParaRPr lang="en-AU" sz="1100" kern="1200" dirty="0" smtClean="0">
              <a:solidFill>
                <a:schemeClr val="tx1"/>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3173129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1.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marL="171450" indent="-171450" defTabSz="946404">
              <a:buFont typeface="Arial" pitchFamily="34" charset="0"/>
              <a:buChar char="•"/>
              <a:defRPr/>
            </a:pPr>
            <a:r>
              <a:rPr lang="en-AU" sz="1200" dirty="0" smtClean="0">
                <a:solidFill>
                  <a:prstClr val="black"/>
                </a:solidFill>
              </a:rPr>
              <a:t>Review the Summary page for Element 1  to confirm with learners what has been completed for this Element.</a:t>
            </a:r>
          </a:p>
          <a:p>
            <a:pPr marL="171450" indent="-171450">
              <a:buFont typeface="Arial" pitchFamily="34" charset="0"/>
              <a:buChar char="•"/>
            </a:pPr>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2.</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Construct mixed class fares </a:t>
            </a:r>
            <a:r>
              <a:rPr lang="en-US" sz="1100" b="0" baseline="0" dirty="0" smtClean="0">
                <a:latin typeface="Helvetica" pitchFamily="34" charset="0"/>
              </a:rPr>
              <a:t>the students must be able to:</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Identify and confirm availability of mixed class combinations</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Match choice of mixed class fare to identified needs of client</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Ensure fare construction complies with operational requirements </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Calculate mixed fare costs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Construct and check accuracy and completeness of air itineraries.</a:t>
            </a:r>
            <a:endParaRPr lang="en-US" sz="1100" b="1" i="0" baseline="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713317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a:t>
            </a:r>
            <a:r>
              <a:rPr lang="en-AU" sz="1100" b="1" baseline="0" dirty="0" smtClean="0">
                <a:latin typeface="Helvetica" pitchFamily="34" charset="0"/>
              </a:rPr>
              <a:t>2.1</a:t>
            </a:r>
            <a:endParaRPr lang="en-AU" sz="1100" i="0" kern="1200" dirty="0" smtClean="0">
              <a:solidFill>
                <a:schemeClr val="tx1"/>
              </a:solidFill>
              <a:latin typeface="Helvetica" pitchFamily="34" charset="0"/>
            </a:endParaRPr>
          </a:p>
          <a:p>
            <a:endParaRPr lang="en-AU" sz="1100" i="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Availability of mixed class combinations must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Confirming definition and interpretation of mixed class </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Identifying carriers who offer this option</a:t>
            </a:r>
          </a:p>
          <a:p>
            <a:pPr marL="171450" indent="-171450">
              <a:buFont typeface="Arial" panose="020B0604020202020204" pitchFamily="34" charset="0"/>
              <a:buChar char="•"/>
            </a:pPr>
            <a:r>
              <a:rPr lang="en-AU" sz="1100" i="0" kern="1200" dirty="0" smtClean="0">
                <a:solidFill>
                  <a:schemeClr val="tx1"/>
                </a:solidFill>
                <a:latin typeface="Helvetica" pitchFamily="34" charset="0"/>
              </a:rPr>
              <a:t>Verifying routes to which this option applies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Verifying advanced purchase timelines/dates.</a:t>
            </a:r>
          </a:p>
          <a:p>
            <a:endParaRPr lang="en-AU" sz="1100" b="1" i="0" kern="1200" dirty="0" smtClean="0">
              <a:solidFill>
                <a:schemeClr val="tx1"/>
              </a:solidFill>
              <a:latin typeface="Helvetica" pitchFamily="34" charset="0"/>
            </a:endParaRPr>
          </a:p>
          <a:p>
            <a:r>
              <a:rPr lang="en-AU" sz="1100" b="1" i="0" kern="1200" dirty="0" smtClean="0">
                <a:solidFill>
                  <a:schemeClr val="tx1"/>
                </a:solidFill>
                <a:latin typeface="Helvetica" pitchFamily="34" charset="0"/>
              </a:rPr>
              <a:t>Group</a:t>
            </a:r>
            <a:r>
              <a:rPr lang="en-AU" sz="1100" b="1" i="0" kern="1200" baseline="0" dirty="0" smtClean="0">
                <a:solidFill>
                  <a:schemeClr val="tx1"/>
                </a:solidFill>
                <a:latin typeface="Helvetica" pitchFamily="34" charset="0"/>
              </a:rPr>
              <a:t> Activity:</a:t>
            </a:r>
            <a:endParaRPr lang="en-AU" sz="1100" b="0" i="0" kern="1200" baseline="0" dirty="0" smtClean="0">
              <a:solidFill>
                <a:schemeClr val="tx1"/>
              </a:solidFill>
              <a:latin typeface="Helvetica" pitchFamily="34" charset="0"/>
            </a:endParaRPr>
          </a:p>
          <a:p>
            <a:pPr marL="171450" indent="-171450">
              <a:buFont typeface="Arial" panose="020B0604020202020204" pitchFamily="34" charset="0"/>
              <a:buChar char="•"/>
            </a:pPr>
            <a:r>
              <a:rPr lang="en-AU" sz="1100" b="0" i="0" kern="1200" baseline="0" dirty="0" smtClean="0">
                <a:solidFill>
                  <a:schemeClr val="tx1"/>
                </a:solidFill>
                <a:latin typeface="Helvetica" pitchFamily="34" charset="0"/>
              </a:rPr>
              <a:t>Which carriers offer mixed class tickets?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kern="1200" dirty="0" smtClean="0">
                <a:solidFill>
                  <a:schemeClr val="tx1"/>
                </a:solidFill>
                <a:latin typeface="Helvetica" pitchFamily="34" charset="0"/>
              </a:rPr>
              <a:t>Interpret route maps</a:t>
            </a:r>
            <a:r>
              <a:rPr lang="en-AU" sz="1100" kern="1200" baseline="0" dirty="0" smtClean="0">
                <a:solidFill>
                  <a:schemeClr val="tx1"/>
                </a:solidFill>
                <a:latin typeface="Helvetica" pitchFamily="34" charset="0"/>
              </a:rPr>
              <a:t> </a:t>
            </a:r>
            <a:r>
              <a:rPr lang="en-AU" sz="1100" kern="1200" dirty="0" smtClean="0">
                <a:solidFill>
                  <a:schemeClr val="tx1"/>
                </a:solidFill>
                <a:latin typeface="Helvetica" pitchFamily="34" charset="0"/>
              </a:rPr>
              <a:t>on the following Qantas website: </a:t>
            </a:r>
            <a:br>
              <a:rPr lang="en-AU" sz="1100" kern="1200" dirty="0" smtClean="0">
                <a:solidFill>
                  <a:schemeClr val="tx1"/>
                </a:solidFill>
                <a:latin typeface="Helvetica" pitchFamily="34" charset="0"/>
              </a:rPr>
            </a:br>
            <a:r>
              <a:rPr lang="en-AU" sz="1100" u="sng" kern="1200" dirty="0" smtClean="0">
                <a:solidFill>
                  <a:schemeClr val="tx1"/>
                </a:solidFill>
                <a:latin typeface="Helvetica" pitchFamily="34" charset="0"/>
                <a:hlinkClick r:id="rId3"/>
              </a:rPr>
              <a:t>www.qantas.com.au/agents/dyn/qf/fares/routeMapsRead</a:t>
            </a:r>
            <a:endParaRPr lang="en-AU" sz="1100" kern="1200" dirty="0" smtClean="0">
              <a:solidFill>
                <a:schemeClr val="tx1"/>
              </a:solidFill>
              <a:latin typeface="Helvetica" pitchFamily="34" charset="0"/>
            </a:endParaRPr>
          </a:p>
          <a:p>
            <a:endParaRPr lang="en-AU" sz="1200" b="0" i="0" kern="1200" baseline="0" dirty="0" smtClean="0">
              <a:solidFill>
                <a:schemeClr val="tx1"/>
              </a:solidFill>
              <a:latin typeface="+mn-lt"/>
              <a:ea typeface="+mn-ea"/>
              <a:cs typeface="+mn-cs"/>
            </a:endParaRPr>
          </a:p>
          <a:p>
            <a:endParaRPr lang="en-US" b="0" i="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4201974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100" b="1" noProof="0" dirty="0" smtClean="0">
                <a:latin typeface="Helvetica" pitchFamily="34" charset="0"/>
              </a:rPr>
              <a:t>Trainer to advise:</a:t>
            </a:r>
          </a:p>
          <a:p>
            <a:pPr>
              <a:buFont typeface="Arial" pitchFamily="34" charset="0"/>
              <a:buChar char="•"/>
            </a:pPr>
            <a:endParaRPr lang="en-AU" sz="1100" b="1" noProof="0" dirty="0" smtClean="0">
              <a:latin typeface="Helvetica" pitchFamily="34" charset="0"/>
            </a:endParaRPr>
          </a:p>
          <a:p>
            <a:pPr>
              <a:buFont typeface="Arial" pitchFamily="34" charset="0"/>
              <a:buNone/>
            </a:pPr>
            <a:r>
              <a:rPr lang="en-AU" sz="1100" b="1" noProof="0" dirty="0" smtClean="0">
                <a:latin typeface="Helvetica" pitchFamily="34" charset="0"/>
              </a:rPr>
              <a:t>PC: 2.2</a:t>
            </a:r>
          </a:p>
          <a:p>
            <a:pPr>
              <a:buFont typeface="Arial" pitchFamily="34" charset="0"/>
              <a:buChar char="•"/>
            </a:pPr>
            <a:r>
              <a:rPr lang="en-AU" sz="1100" noProof="0" dirty="0" smtClean="0">
                <a:latin typeface="Helvetica" pitchFamily="34" charset="0"/>
              </a:rPr>
              <a:t>Discuss each of the points listed using TM</a:t>
            </a:r>
            <a:r>
              <a:rPr lang="en-AU" sz="1100" baseline="0" noProof="0" dirty="0" smtClean="0">
                <a:latin typeface="Helvetica" pitchFamily="34" charset="0"/>
              </a:rPr>
              <a:t> notes. </a:t>
            </a:r>
          </a:p>
          <a:p>
            <a:pPr>
              <a:buFont typeface="Arial" pitchFamily="34" charset="0"/>
              <a:buChar char="•"/>
            </a:pPr>
            <a:r>
              <a:rPr lang="en-AU" sz="1100" baseline="0" noProof="0" dirty="0" smtClean="0">
                <a:latin typeface="Helvetica" pitchFamily="34" charset="0"/>
              </a:rPr>
              <a:t>Airfare rules and booking classes is mentioned several times throughout this unit so a thorough discussion at this point would be appropriate.</a:t>
            </a:r>
          </a:p>
          <a:p>
            <a:pPr>
              <a:buFont typeface="Arial" pitchFamily="34" charset="0"/>
              <a:buNone/>
            </a:pPr>
            <a:endParaRPr lang="en-AU" sz="1100" baseline="0" noProof="0" dirty="0" smtClean="0">
              <a:latin typeface="Helvetica" pitchFamily="34" charset="0"/>
            </a:endParaRPr>
          </a:p>
          <a:p>
            <a:pPr>
              <a:buFont typeface="Arial" pitchFamily="34" charset="0"/>
              <a:buNone/>
            </a:pPr>
            <a:r>
              <a:rPr lang="en-AU" sz="1100" baseline="0" noProof="0" dirty="0" smtClean="0">
                <a:latin typeface="Helvetica" pitchFamily="34" charset="0"/>
              </a:rPr>
              <a:t>Trainer to provide examples where possible or access appropriate websites or a CRS for demonstration.</a:t>
            </a:r>
          </a:p>
          <a:p>
            <a:pPr>
              <a:buFont typeface="Arial" pitchFamily="34" charset="0"/>
              <a:buChar char="•"/>
            </a:pPr>
            <a:endParaRPr lang="en-AU" sz="1100" noProof="0" dirty="0" smtClean="0">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dirty="0" smtClean="0">
                <a:ln>
                  <a:noFill/>
                </a:ln>
                <a:solidFill>
                  <a:prstClr val="black"/>
                </a:solidFill>
                <a:effectLst/>
                <a:uLnTx/>
                <a:uFillTx/>
                <a:latin typeface="Helvetica" pitchFamily="34" charset="0"/>
              </a:rPr>
              <a:t>Group Activity</a:t>
            </a:r>
            <a:endParaRPr kumimoji="0" lang="en-AU" sz="1100" b="0" i="0" u="none" strike="noStrike" kern="1200" cap="none" spc="0" normalizeH="0" baseline="0" noProof="0" dirty="0" smtClean="0">
              <a:ln>
                <a:noFill/>
              </a:ln>
              <a:solidFill>
                <a:prstClr val="black"/>
              </a:solidFill>
              <a:effectLst/>
              <a:uLnTx/>
              <a:uFillTx/>
              <a:latin typeface="Helvetica"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100" b="0" i="0" u="none" strike="noStrike" kern="1200" cap="none" spc="0" normalizeH="0" baseline="0" noProof="0" dirty="0" smtClean="0">
                <a:ln>
                  <a:noFill/>
                </a:ln>
                <a:solidFill>
                  <a:prstClr val="black"/>
                </a:solidFill>
                <a:effectLst/>
                <a:uLnTx/>
                <a:uFillTx/>
                <a:latin typeface="Helvetica" pitchFamily="34" charset="0"/>
              </a:rPr>
              <a:t>Discuss Itinerary types. Who has experience with flying, booking flights and general travel.</a:t>
            </a:r>
          </a:p>
          <a:p>
            <a:pPr>
              <a:buFont typeface="Arial" pitchFamily="34" charset="0"/>
              <a:buChar char="•"/>
            </a:pPr>
            <a:endParaRPr lang="en-AU" sz="1100" noProof="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2403803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2.3, 3.2, 5.4, 6.5</a:t>
            </a:r>
            <a:endParaRPr lang="en-AU" sz="110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Operational requirements relates to:</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Carrier guidelines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Regulatory requirements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Organisational requirements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IATA requirements and procedures, including IATA fare construction rules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Use of correct documentation and/or screens and information fields.</a:t>
            </a:r>
          </a:p>
          <a:p>
            <a:pPr marL="171450" indent="-171450">
              <a:buFont typeface="Arial" panose="020B0604020202020204" pitchFamily="34" charset="0"/>
              <a:buChar char="•"/>
            </a:pPr>
            <a:endParaRPr lang="en-AU" sz="1100" i="0" kern="1200" dirty="0" smtClean="0">
              <a:solidFill>
                <a:schemeClr val="tx1"/>
              </a:solidFill>
              <a:latin typeface="Helvetica" pitchFamily="34" charset="0"/>
            </a:endParaRPr>
          </a:p>
          <a:p>
            <a:pPr marL="171450" indent="-171450">
              <a:buFont typeface="Arial" panose="020B0604020202020204" pitchFamily="34" charset="0"/>
              <a:buChar char="•"/>
            </a:pPr>
            <a:r>
              <a:rPr lang="en-AU" sz="1100" i="0" kern="1200" dirty="0" smtClean="0">
                <a:solidFill>
                  <a:schemeClr val="tx1"/>
                </a:solidFill>
                <a:latin typeface="Helvetica" pitchFamily="34" charset="0"/>
              </a:rPr>
              <a:t>Trainer to provide samples if possible or demonstrate to learners using appropriate websites or CRS.</a:t>
            </a:r>
          </a:p>
          <a:p>
            <a:endParaRPr lang="en-AU" sz="1100" i="0" kern="1200" dirty="0" smtClean="0">
              <a:solidFill>
                <a:schemeClr val="tx1"/>
              </a:solidFill>
              <a:latin typeface="Helvetica" pitchFamily="34" charset="0"/>
            </a:endParaRP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071497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2.3, 3.2, 5.4, 6.5</a:t>
            </a:r>
          </a:p>
          <a:p>
            <a:pPr marL="0" marR="0" indent="0" algn="l" defTabSz="914400" rtl="0" eaLnBrk="1" fontAlgn="auto" latinLnBrk="0" hangingPunct="1">
              <a:lnSpc>
                <a:spcPct val="100000"/>
              </a:lnSpc>
              <a:spcBef>
                <a:spcPts val="0"/>
              </a:spcBef>
              <a:spcAft>
                <a:spcPts val="0"/>
              </a:spcAft>
              <a:buClrTx/>
              <a:buSzTx/>
              <a:buFontTx/>
              <a:buNone/>
              <a:tabLst/>
              <a:defRPr/>
            </a:pPr>
            <a:r>
              <a:rPr lang="en-AU" sz="1100" kern="1200" dirty="0" smtClean="0">
                <a:solidFill>
                  <a:schemeClr val="tx1"/>
                </a:solidFill>
                <a:effectLst/>
                <a:latin typeface="Helvetica" pitchFamily="34" charset="0"/>
              </a:rPr>
              <a:t>An important component of international airfare construction is to consider the whole journey that the passenger wishes to undertake. This includes the airlines flown and the direction of travel across the globe, particularly across the world’s oceans.  For fare construction purposes, IATA has divided the world into three Traffic Conference areas, numbered TC1, TC2 and TC3.  </a:t>
            </a:r>
          </a:p>
          <a:p>
            <a:pPr>
              <a:spcBef>
                <a:spcPts val="400"/>
              </a:spcBef>
              <a:spcAft>
                <a:spcPts val="800"/>
              </a:spcAft>
            </a:pPr>
            <a:r>
              <a:rPr lang="en-AU" sz="1100" dirty="0" smtClean="0">
                <a:effectLst/>
                <a:latin typeface="Helvetica" pitchFamily="34" charset="0"/>
                <a:ea typeface="Calibri"/>
                <a:cs typeface="Calibri"/>
              </a:rPr>
              <a:t>You may also come across the terms </a:t>
            </a:r>
            <a:r>
              <a:rPr lang="en-AU" sz="1100" b="1" dirty="0" smtClean="0">
                <a:effectLst/>
                <a:latin typeface="Helvetica" pitchFamily="34" charset="0"/>
                <a:ea typeface="Calibri"/>
                <a:cs typeface="Calibri"/>
              </a:rPr>
              <a:t>"Western Hemisphere” </a:t>
            </a:r>
            <a:r>
              <a:rPr lang="en-AU" sz="1100" dirty="0" smtClean="0">
                <a:effectLst/>
                <a:latin typeface="Helvetica" pitchFamily="34" charset="0"/>
                <a:ea typeface="Calibri"/>
                <a:cs typeface="Calibri"/>
              </a:rPr>
              <a:t>and </a:t>
            </a:r>
            <a:r>
              <a:rPr lang="en-AU" sz="1100" b="1" dirty="0" smtClean="0">
                <a:effectLst/>
                <a:latin typeface="Helvetica" pitchFamily="34" charset="0"/>
                <a:ea typeface="Calibri"/>
                <a:cs typeface="Calibri"/>
              </a:rPr>
              <a:t>"Eastern Hemisphere". </a:t>
            </a:r>
            <a:r>
              <a:rPr lang="en-AU" sz="1100" dirty="0" smtClean="0">
                <a:effectLst/>
                <a:latin typeface="Helvetica" pitchFamily="34" charset="0"/>
                <a:ea typeface="Calibri"/>
                <a:cs typeface="Calibri"/>
              </a:rPr>
              <a:t> The world is split into two (uneven) halves:</a:t>
            </a:r>
            <a:endParaRPr lang="en-AU" sz="1100" kern="1200" dirty="0" smtClean="0">
              <a:solidFill>
                <a:schemeClr val="tx1"/>
              </a:solidFill>
              <a:effectLst/>
              <a:latin typeface="Helvetica" pitchFamily="34" charset="0"/>
            </a:endParaRPr>
          </a:p>
          <a:p>
            <a:pPr marL="342900" lvl="0" indent="-342900">
              <a:spcBef>
                <a:spcPts val="300"/>
              </a:spcBef>
              <a:spcAft>
                <a:spcPts val="600"/>
              </a:spcAft>
              <a:buFont typeface="Symbol"/>
              <a:buChar char=""/>
            </a:pPr>
            <a:r>
              <a:rPr lang="en-AU" sz="1100" b="1" dirty="0" smtClean="0">
                <a:effectLst/>
                <a:latin typeface="Helvetica" pitchFamily="34" charset="0"/>
                <a:ea typeface="Calibri"/>
                <a:cs typeface="Times New Roman"/>
              </a:rPr>
              <a:t>Western Hemisphere:  </a:t>
            </a:r>
            <a:r>
              <a:rPr lang="en-AU" sz="1100" dirty="0" smtClean="0">
                <a:effectLst/>
                <a:latin typeface="Helvetica" pitchFamily="34" charset="0"/>
                <a:ea typeface="Calibri"/>
                <a:cs typeface="Times New Roman"/>
              </a:rPr>
              <a:t>All of Area 1, that is, north, central and south America</a:t>
            </a:r>
          </a:p>
          <a:p>
            <a:pPr marL="342900" lvl="0" indent="-342900">
              <a:spcBef>
                <a:spcPts val="300"/>
              </a:spcBef>
              <a:spcAft>
                <a:spcPts val="600"/>
              </a:spcAft>
              <a:buFont typeface="Symbol"/>
              <a:buChar char=""/>
            </a:pPr>
            <a:r>
              <a:rPr lang="en-AU" sz="1100" b="1" dirty="0" smtClean="0">
                <a:effectLst/>
                <a:latin typeface="Helvetica" pitchFamily="34" charset="0"/>
                <a:ea typeface="Calibri"/>
                <a:cs typeface="Times New Roman"/>
              </a:rPr>
              <a:t>Eastern Hemisphere: </a:t>
            </a:r>
            <a:r>
              <a:rPr lang="en-AU" sz="1100" dirty="0" smtClean="0">
                <a:effectLst/>
                <a:latin typeface="Helvetica" pitchFamily="34" charset="0"/>
                <a:ea typeface="Calibri"/>
                <a:cs typeface="Times New Roman"/>
              </a:rPr>
              <a:t>All of Areas 2 and 3, that is, Europe, Africa, Asia and Australia.</a:t>
            </a:r>
          </a:p>
          <a:p>
            <a:endParaRPr lang="en-AU" sz="1100" kern="1200" dirty="0" smtClean="0">
              <a:solidFill>
                <a:schemeClr val="tx1"/>
              </a:solidFill>
              <a:effectLst/>
              <a:latin typeface="Helvetica" pitchFamily="34" charset="0"/>
            </a:endParaRPr>
          </a:p>
          <a:p>
            <a:r>
              <a:rPr lang="en-AU" sz="1100" kern="1200" dirty="0" smtClean="0">
                <a:solidFill>
                  <a:schemeClr val="tx1"/>
                </a:solidFill>
                <a:effectLst/>
                <a:latin typeface="Helvetica" pitchFamily="34" charset="0"/>
              </a:rPr>
              <a:t>Refer to TM and take time to explain these regions. Quiz learners</a:t>
            </a:r>
            <a:r>
              <a:rPr lang="en-AU" sz="1100" kern="1200" baseline="0" dirty="0" smtClean="0">
                <a:solidFill>
                  <a:schemeClr val="tx1"/>
                </a:solidFill>
                <a:effectLst/>
                <a:latin typeface="Helvetica" pitchFamily="34" charset="0"/>
              </a:rPr>
              <a:t> to gauge understanding and further explain as needed.</a:t>
            </a:r>
          </a:p>
          <a:p>
            <a:endParaRPr lang="en-AU" sz="1100" kern="1200" dirty="0" smtClean="0">
              <a:solidFill>
                <a:schemeClr val="tx1"/>
              </a:solidFill>
              <a:effectLst/>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100" b="1" i="0" kern="1200" dirty="0" smtClean="0">
                <a:solidFill>
                  <a:schemeClr val="tx1"/>
                </a:solidFill>
                <a:effectLst/>
                <a:latin typeface="Helvetica" pitchFamily="34" charset="0"/>
              </a:rPr>
              <a:t>Global Indicators (GI)</a:t>
            </a:r>
          </a:p>
          <a:p>
            <a:pPr marL="0" marR="0" indent="0" algn="l" defTabSz="914400" rtl="0" eaLnBrk="1" fontAlgn="auto" latinLnBrk="0" hangingPunct="1">
              <a:lnSpc>
                <a:spcPct val="100000"/>
              </a:lnSpc>
              <a:spcBef>
                <a:spcPts val="0"/>
              </a:spcBef>
              <a:spcAft>
                <a:spcPts val="0"/>
              </a:spcAft>
              <a:buClrTx/>
              <a:buSzTx/>
              <a:buFontTx/>
              <a:buNone/>
              <a:tabLst/>
              <a:defRPr/>
            </a:pPr>
            <a:r>
              <a:rPr lang="en-AU" sz="1100" b="0" i="0" kern="1200" dirty="0" smtClean="0">
                <a:solidFill>
                  <a:schemeClr val="tx1"/>
                </a:solidFill>
                <a:effectLst/>
                <a:latin typeface="Helvetica" pitchFamily="34" charset="0"/>
              </a:rPr>
              <a:t>Take time to carefully explain GI and the various terms as listed in the TM</a:t>
            </a:r>
          </a:p>
          <a:p>
            <a:endParaRPr lang="en-AU" sz="1100" i="0" kern="1200" dirty="0" smtClean="0">
              <a:solidFill>
                <a:schemeClr val="tx1"/>
              </a:solidFill>
              <a:latin typeface="Helvetica" pitchFamily="34" charset="0"/>
            </a:endParaRP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1071497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2.3, 3.2, 5.4, 6.5</a:t>
            </a:r>
            <a:endParaRPr lang="en-AU" sz="1100" i="0" kern="1200" dirty="0" smtClean="0">
              <a:solidFill>
                <a:schemeClr val="tx1"/>
              </a:solidFill>
              <a:latin typeface="Helvetica" pitchFamily="34" charset="0"/>
            </a:endParaRPr>
          </a:p>
          <a:p>
            <a:endParaRPr lang="en-AU" sz="1100" kern="1200" dirty="0" smtClean="0">
              <a:solidFill>
                <a:schemeClr val="tx1"/>
              </a:solidFill>
              <a:latin typeface="Helvetica" pitchFamily="34" charset="0"/>
            </a:endParaRPr>
          </a:p>
          <a:p>
            <a:r>
              <a:rPr lang="en-AU" sz="1100" kern="1200" dirty="0" smtClean="0">
                <a:solidFill>
                  <a:schemeClr val="tx1"/>
                </a:solidFill>
                <a:latin typeface="Helvetica" pitchFamily="34" charset="0"/>
              </a:rPr>
              <a:t>Review the terminology listed in the TM.</a:t>
            </a:r>
            <a:r>
              <a:rPr lang="en-AU" sz="1100" kern="1200" baseline="0" dirty="0" smtClean="0">
                <a:solidFill>
                  <a:schemeClr val="tx1"/>
                </a:solidFill>
                <a:latin typeface="Helvetica" pitchFamily="34" charset="0"/>
              </a:rPr>
              <a:t> Explain those that are not clear. </a:t>
            </a:r>
          </a:p>
          <a:p>
            <a:endParaRPr lang="en-AU" sz="1100" kern="1200" baseline="0" dirty="0" smtClean="0">
              <a:solidFill>
                <a:schemeClr val="tx1"/>
              </a:solidFill>
              <a:latin typeface="Helvetica" pitchFamily="34" charset="0"/>
            </a:endParaRPr>
          </a:p>
          <a:p>
            <a:r>
              <a:rPr lang="en-AU" sz="1100" kern="1200" baseline="0" dirty="0" smtClean="0">
                <a:solidFill>
                  <a:schemeClr val="tx1"/>
                </a:solidFill>
                <a:latin typeface="Helvetica" pitchFamily="34" charset="0"/>
              </a:rPr>
              <a:t>Allow time for learners to quiz each other on specific codes, providing the opportunity to verbally identify them.</a:t>
            </a:r>
            <a:endParaRPr lang="en-AU" sz="1100" kern="1200" dirty="0" smtClean="0">
              <a:solidFill>
                <a:schemeClr val="tx1"/>
              </a:solidFill>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1071497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2.4, 5.5, 6.6</a:t>
            </a:r>
            <a:endParaRPr lang="en-AU" sz="1100" i="1" kern="1200" dirty="0" smtClean="0">
              <a:solidFill>
                <a:schemeClr val="tx1"/>
              </a:solidFill>
              <a:latin typeface="Helvetica" pitchFamily="34" charset="0"/>
            </a:endParaRPr>
          </a:p>
          <a:p>
            <a:endParaRPr lang="en-AU" sz="1100" i="1"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Calculate mixed fare costs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Referring to relevant carrier schedules/timetables and tariff information</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Referring to specials available and packages that apply </a:t>
            </a:r>
          </a:p>
          <a:p>
            <a:pPr marL="171450" indent="-171450">
              <a:buFont typeface="Arial" panose="020B0604020202020204" pitchFamily="34" charset="0"/>
              <a:buChar char="•"/>
            </a:pPr>
            <a:r>
              <a:rPr lang="en-AU" sz="1100" i="0" kern="1200" dirty="0" smtClean="0">
                <a:solidFill>
                  <a:schemeClr val="tx1"/>
                </a:solidFill>
                <a:latin typeface="Helvetica" pitchFamily="34" charset="0"/>
              </a:rPr>
              <a:t>Factoring in applicable discounts, where appropriate.</a:t>
            </a:r>
          </a:p>
          <a:p>
            <a:endParaRPr lang="en-AU" sz="1100" i="0" kern="1200" dirty="0" smtClean="0">
              <a:solidFill>
                <a:schemeClr val="tx1"/>
              </a:solidFill>
              <a:latin typeface="Helvetica" pitchFamily="34" charset="0"/>
            </a:endParaRPr>
          </a:p>
          <a:p>
            <a:r>
              <a:rPr lang="en-US" sz="1100" b="1" baseline="0" dirty="0" smtClean="0">
                <a:latin typeface="Helvetica" pitchFamily="34" charset="0"/>
              </a:rPr>
              <a:t>Group Discussion</a:t>
            </a:r>
            <a:endParaRPr lang="en-US" sz="1100" i="0" kern="1200" baseline="0" dirty="0" smtClean="0">
              <a:solidFill>
                <a:schemeClr val="tx1"/>
              </a:solidFill>
              <a:latin typeface="Helvetica" pitchFamily="34" charset="0"/>
            </a:endParaRPr>
          </a:p>
          <a:p>
            <a:pPr marL="171450" indent="-171450">
              <a:buFont typeface="Arial" panose="020B0604020202020204" pitchFamily="34" charset="0"/>
              <a:buChar char="•"/>
            </a:pPr>
            <a:r>
              <a:rPr lang="en-US" sz="1100" i="0" kern="1200" baseline="0" dirty="0" smtClean="0">
                <a:solidFill>
                  <a:schemeClr val="tx1"/>
                </a:solidFill>
                <a:latin typeface="Helvetica" pitchFamily="34" charset="0"/>
              </a:rPr>
              <a:t>Fare types. When airlines may discount. Which airlines don’t discount.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9611917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2.5, 3.4, 5.6, 6.7</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r>
              <a:rPr lang="en-AU" sz="1100" i="1" kern="1200" dirty="0" smtClean="0">
                <a:solidFill>
                  <a:schemeClr val="tx1"/>
                </a:solidFill>
                <a:latin typeface="Helvetica" pitchFamily="34" charset="0"/>
              </a:rPr>
              <a:t>Air itineraries</a:t>
            </a:r>
            <a:r>
              <a:rPr lang="en-AU" sz="1100" kern="1200" dirty="0" smtClean="0">
                <a:solidFill>
                  <a:schemeClr val="tx1"/>
                </a:solidFill>
                <a:latin typeface="Helvetica" pitchFamily="34" charset="0"/>
              </a:rPr>
              <a:t> may include:</a:t>
            </a:r>
          </a:p>
          <a:p>
            <a:pPr marL="171450" indent="-171450">
              <a:buFont typeface="Arial" panose="020B0604020202020204" pitchFamily="34" charset="0"/>
              <a:buChar char="•"/>
            </a:pPr>
            <a:r>
              <a:rPr lang="en-AU" sz="1100" kern="1200" dirty="0" smtClean="0">
                <a:solidFill>
                  <a:schemeClr val="tx1"/>
                </a:solidFill>
                <a:latin typeface="Helvetica" pitchFamily="34" charset="0"/>
              </a:rPr>
              <a:t>Name and number of passenger/s – including indication of adults and children</a:t>
            </a:r>
          </a:p>
          <a:p>
            <a:pPr marL="171450" indent="-171450">
              <a:buFont typeface="Arial" panose="020B0604020202020204" pitchFamily="34" charset="0"/>
              <a:buChar char="•"/>
            </a:pPr>
            <a:r>
              <a:rPr lang="en-AU" sz="1100" kern="1200" dirty="0" smtClean="0">
                <a:solidFill>
                  <a:schemeClr val="tx1"/>
                </a:solidFill>
                <a:latin typeface="Helvetica" pitchFamily="34" charset="0"/>
              </a:rPr>
              <a:t>Day and date of travel</a:t>
            </a:r>
          </a:p>
          <a:p>
            <a:pPr marL="171450" indent="-171450">
              <a:buFont typeface="Arial" panose="020B0604020202020204" pitchFamily="34" charset="0"/>
              <a:buChar char="•"/>
            </a:pPr>
            <a:r>
              <a:rPr lang="en-AU" sz="1100" kern="1200" dirty="0" smtClean="0">
                <a:solidFill>
                  <a:schemeClr val="tx1"/>
                </a:solidFill>
                <a:latin typeface="Helvetica" pitchFamily="34" charset="0"/>
              </a:rPr>
              <a:t>From and to destinations</a:t>
            </a:r>
          </a:p>
          <a:p>
            <a:pPr marL="171450" indent="-171450">
              <a:buFont typeface="Arial" panose="020B0604020202020204" pitchFamily="34" charset="0"/>
              <a:buChar char="•"/>
            </a:pPr>
            <a:r>
              <a:rPr lang="en-AU" sz="1100" kern="1200" dirty="0" smtClean="0">
                <a:solidFill>
                  <a:schemeClr val="tx1"/>
                </a:solidFill>
                <a:latin typeface="Helvetica" pitchFamily="34" charset="0"/>
              </a:rPr>
              <a:t>Flight number and carrier, including seat allocation, where applicable</a:t>
            </a:r>
          </a:p>
          <a:p>
            <a:pPr marL="171450" indent="-171450">
              <a:buFont typeface="Arial" panose="020B0604020202020204" pitchFamily="34" charset="0"/>
              <a:buChar char="•"/>
            </a:pPr>
            <a:r>
              <a:rPr lang="en-AU" sz="1100" kern="1200" dirty="0" smtClean="0">
                <a:solidFill>
                  <a:schemeClr val="tx1"/>
                </a:solidFill>
                <a:latin typeface="Helvetica" pitchFamily="34" charset="0"/>
              </a:rPr>
              <a:t>Departure and arrival times</a:t>
            </a:r>
          </a:p>
          <a:p>
            <a:pPr marL="171450" indent="-171450">
              <a:buFont typeface="Arial" panose="020B0604020202020204" pitchFamily="34" charset="0"/>
              <a:buChar char="•"/>
            </a:pPr>
            <a:r>
              <a:rPr lang="en-AU" sz="1100" kern="1200" dirty="0" smtClean="0">
                <a:solidFill>
                  <a:schemeClr val="tx1"/>
                </a:solidFill>
                <a:latin typeface="Helvetica" pitchFamily="34" charset="0"/>
              </a:rPr>
              <a:t>Fare, taxes, fees and charges, including sub-totals and total</a:t>
            </a:r>
          </a:p>
          <a:p>
            <a:pPr marL="171450" indent="-171450">
              <a:buFont typeface="Arial" panose="020B0604020202020204" pitchFamily="34" charset="0"/>
              <a:buChar char="•"/>
            </a:pPr>
            <a:r>
              <a:rPr lang="en-AU" sz="1100" kern="1200" dirty="0" smtClean="0">
                <a:solidFill>
                  <a:schemeClr val="tx1"/>
                </a:solidFill>
                <a:latin typeface="Helvetica" pitchFamily="34" charset="0"/>
              </a:rPr>
              <a:t>Amount paid and amount due, if applicable</a:t>
            </a:r>
          </a:p>
          <a:p>
            <a:pPr marL="171450" indent="-171450">
              <a:buFont typeface="Arial" panose="020B0604020202020204" pitchFamily="34" charset="0"/>
              <a:buChar char="•"/>
            </a:pPr>
            <a:r>
              <a:rPr lang="en-AU" sz="1100" kern="1200" dirty="0" smtClean="0">
                <a:solidFill>
                  <a:schemeClr val="tx1"/>
                </a:solidFill>
                <a:latin typeface="Helvetica" pitchFamily="34" charset="0"/>
              </a:rPr>
              <a:t>Verification of connections and times, where applicable.</a:t>
            </a:r>
          </a:p>
          <a:p>
            <a:pPr marL="171450" indent="-171450">
              <a:buFont typeface="Arial" panose="020B0604020202020204" pitchFamily="34" charset="0"/>
              <a:buChar char="•"/>
            </a:pPr>
            <a:endParaRPr lang="en-AU" sz="1100" kern="1200" dirty="0" smtClean="0">
              <a:solidFill>
                <a:schemeClr val="tx1"/>
              </a:solidFill>
              <a:latin typeface="Helvetica" pitchFamily="34" charset="0"/>
            </a:endParaRPr>
          </a:p>
          <a:p>
            <a:pPr marL="171450" indent="-171450">
              <a:buFont typeface="Arial" panose="020B0604020202020204" pitchFamily="34" charset="0"/>
              <a:buChar char="•"/>
            </a:pPr>
            <a:r>
              <a:rPr lang="en-AU" sz="1100" kern="1200" dirty="0" smtClean="0">
                <a:solidFill>
                  <a:schemeClr val="tx1"/>
                </a:solidFill>
                <a:latin typeface="Helvetica" pitchFamily="34" charset="0"/>
              </a:rPr>
              <a:t>Discuss enterprise policy and procedure variation.</a:t>
            </a:r>
            <a:r>
              <a:rPr lang="en-AU" sz="1100" kern="1200" baseline="0" dirty="0" smtClean="0">
                <a:solidFill>
                  <a:schemeClr val="tx1"/>
                </a:solidFill>
                <a:latin typeface="Helvetica" pitchFamily="34" charset="0"/>
              </a:rPr>
              <a:t> Seek input from learners with some experience.</a:t>
            </a:r>
            <a:endParaRPr lang="en-AU" sz="1100" kern="1200" dirty="0" smtClean="0">
              <a:solidFill>
                <a:schemeClr val="tx1"/>
              </a:solidFill>
              <a:latin typeface="Helvetica" pitchFamily="34" charset="0"/>
            </a:endParaRPr>
          </a:p>
          <a:p>
            <a:pPr marL="171450" indent="-171450">
              <a:buFont typeface="Arial" panose="020B0604020202020204" pitchFamily="34" charset="0"/>
              <a:buChar char="•"/>
            </a:pPr>
            <a:endParaRPr lang="en-AU" sz="1100" b="1" kern="1200" baseline="0" dirty="0" smtClean="0">
              <a:solidFill>
                <a:schemeClr val="tx1"/>
              </a:solidFill>
              <a:latin typeface="Helvetica" pitchFamily="34" charset="0"/>
            </a:endParaRPr>
          </a:p>
          <a:p>
            <a:pPr marL="171450" indent="-171450">
              <a:buFont typeface="Arial" panose="020B0604020202020204" pitchFamily="34" charset="0"/>
              <a:buChar char="•"/>
            </a:pPr>
            <a:endParaRPr lang="en-AU" sz="1100" b="1" kern="1200" baseline="0" dirty="0" smtClean="0">
              <a:solidFill>
                <a:schemeClr val="tx1"/>
              </a:solidFill>
              <a:latin typeface="Helvetica" pitchFamily="34" charset="0"/>
            </a:endParaRPr>
          </a:p>
          <a:p>
            <a:pPr marL="171450" indent="-171450">
              <a:buFont typeface="Arial" panose="020B0604020202020204" pitchFamily="34" charset="0"/>
              <a:buChar char="•"/>
            </a:pPr>
            <a:r>
              <a:rPr lang="en-AU" sz="1100" b="1" kern="1200" baseline="0" dirty="0" smtClean="0">
                <a:solidFill>
                  <a:schemeClr val="tx1"/>
                </a:solidFill>
                <a:latin typeface="Helvetica" pitchFamily="34" charset="0"/>
              </a:rPr>
              <a:t>Trainer to provide examples to view and discuss in detail</a:t>
            </a:r>
            <a:endParaRPr lang="en-US" sz="1100" b="1"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301185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2.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marL="171450" indent="-171450" defTabSz="946404">
              <a:buFont typeface="Arial" pitchFamily="34" charset="0"/>
              <a:buChar char="•"/>
              <a:defRPr/>
            </a:pPr>
            <a:r>
              <a:rPr lang="en-AU" sz="1200" dirty="0" smtClean="0">
                <a:solidFill>
                  <a:prstClr val="black"/>
                </a:solidFill>
              </a:rPr>
              <a:t>Review the Summary page for Element 2  to confirm with learners what has been completed for this Element.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3.</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Construct airfares incorporating add-ons </a:t>
            </a:r>
            <a:r>
              <a:rPr lang="en-US" sz="1100" b="0" baseline="0" dirty="0" smtClean="0">
                <a:latin typeface="Helvetica" pitchFamily="34" charset="0"/>
              </a:rPr>
              <a:t>the students must be able to:</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Identify and interpret available and applicable add-on flights</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Calculate through fare costs including add-ons.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767178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r>
              <a:rPr lang="en-US" sz="1100" b="1" dirty="0" smtClean="0">
                <a:latin typeface="Helvetica" pitchFamily="34" charset="0"/>
              </a:rPr>
              <a:t> on each topic as necessary</a:t>
            </a: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3.1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r>
              <a:rPr lang="en-AU" sz="1100" i="0" kern="1200" dirty="0" smtClean="0">
                <a:solidFill>
                  <a:schemeClr val="tx1"/>
                </a:solidFill>
                <a:latin typeface="Helvetica" pitchFamily="34" charset="0"/>
              </a:rPr>
              <a:t>Available and applicable add-on flights may relate to:</a:t>
            </a:r>
            <a:endParaRPr lang="en-AU" sz="1100" kern="1200" dirty="0" smtClean="0">
              <a:solidFill>
                <a:schemeClr val="tx1"/>
              </a:solidFill>
              <a:latin typeface="Helvetica" pitchFamily="34" charset="0"/>
            </a:endParaRPr>
          </a:p>
          <a:p>
            <a:pPr marL="171450" indent="-171450">
              <a:buFont typeface="Arial" panose="020B0604020202020204" pitchFamily="34" charset="0"/>
              <a:buChar char="•"/>
            </a:pPr>
            <a:r>
              <a:rPr lang="en-AU" sz="1100" kern="1200" dirty="0" smtClean="0">
                <a:solidFill>
                  <a:schemeClr val="tx1"/>
                </a:solidFill>
                <a:latin typeface="Helvetica" pitchFamily="34" charset="0"/>
              </a:rPr>
              <a:t>Add-on tables</a:t>
            </a:r>
          </a:p>
          <a:p>
            <a:pPr marL="171450" indent="-171450">
              <a:buFont typeface="Arial" panose="020B0604020202020204" pitchFamily="34" charset="0"/>
              <a:buChar char="•"/>
            </a:pPr>
            <a:r>
              <a:rPr lang="en-AU" sz="1100" kern="1200" dirty="0" smtClean="0">
                <a:solidFill>
                  <a:schemeClr val="tx1"/>
                </a:solidFill>
                <a:latin typeface="Helvetica" pitchFamily="34" charset="0"/>
              </a:rPr>
              <a:t>Specific flights</a:t>
            </a:r>
          </a:p>
          <a:p>
            <a:pPr marL="171450" indent="-171450">
              <a:buFont typeface="Arial" panose="020B0604020202020204" pitchFamily="34" charset="0"/>
              <a:buChar char="•"/>
            </a:pPr>
            <a:r>
              <a:rPr lang="en-AU" sz="1100" kern="1200" dirty="0" smtClean="0">
                <a:solidFill>
                  <a:schemeClr val="tx1"/>
                </a:solidFill>
                <a:latin typeface="Helvetica" pitchFamily="34" charset="0"/>
              </a:rPr>
              <a:t>Availability</a:t>
            </a:r>
          </a:p>
          <a:p>
            <a:pPr marL="171450" indent="-171450">
              <a:buFont typeface="Arial" panose="020B0604020202020204" pitchFamily="34" charset="0"/>
              <a:buChar char="•"/>
            </a:pPr>
            <a:r>
              <a:rPr lang="en-AU" sz="1100" kern="1200" dirty="0" smtClean="0">
                <a:solidFill>
                  <a:schemeClr val="tx1"/>
                </a:solidFill>
                <a:latin typeface="Helvetica" pitchFamily="34" charset="0"/>
              </a:rPr>
              <a:t>Nominated carriers </a:t>
            </a:r>
          </a:p>
          <a:p>
            <a:pPr marL="171450" indent="-171450">
              <a:buFont typeface="Arial" panose="020B0604020202020204" pitchFamily="34" charset="0"/>
              <a:buChar char="•"/>
            </a:pPr>
            <a:r>
              <a:rPr lang="en-AU" sz="1100" kern="1200" dirty="0" smtClean="0">
                <a:solidFill>
                  <a:schemeClr val="tx1"/>
                </a:solidFill>
                <a:latin typeface="Helvetica" pitchFamily="34" charset="0"/>
              </a:rPr>
              <a:t>Specified routes/destinations</a:t>
            </a:r>
          </a:p>
          <a:p>
            <a:pPr marL="171450" indent="-171450">
              <a:buFont typeface="Arial" panose="020B0604020202020204" pitchFamily="34" charset="0"/>
              <a:buChar char="•"/>
            </a:pPr>
            <a:r>
              <a:rPr lang="en-AU" sz="1100" kern="1200" dirty="0" smtClean="0">
                <a:solidFill>
                  <a:schemeClr val="tx1"/>
                </a:solidFill>
                <a:latin typeface="Helvetica" pitchFamily="34" charset="0"/>
              </a:rPr>
              <a:t>Integration with full packages</a:t>
            </a:r>
          </a:p>
          <a:p>
            <a:pPr marL="171450" indent="-171450">
              <a:buFont typeface="Arial" panose="020B0604020202020204" pitchFamily="34" charset="0"/>
              <a:buChar char="•"/>
            </a:pPr>
            <a:r>
              <a:rPr lang="en-AU" sz="1100" kern="1200" dirty="0" smtClean="0">
                <a:solidFill>
                  <a:schemeClr val="tx1"/>
                </a:solidFill>
                <a:latin typeface="Helvetica" pitchFamily="34" charset="0"/>
              </a:rPr>
              <a:t>Compatibility with nominated class</a:t>
            </a:r>
          </a:p>
          <a:p>
            <a:pPr marL="171450" indent="-171450">
              <a:buFont typeface="Arial" panose="020B0604020202020204" pitchFamily="34" charset="0"/>
              <a:buChar char="•"/>
            </a:pPr>
            <a:r>
              <a:rPr lang="en-AU" sz="1100" kern="1200" dirty="0" smtClean="0">
                <a:solidFill>
                  <a:schemeClr val="tx1"/>
                </a:solidFill>
                <a:latin typeface="Helvetica" pitchFamily="34" charset="0"/>
              </a:rPr>
              <a:t>Prohibition on separate sale</a:t>
            </a:r>
          </a:p>
          <a:p>
            <a:pPr marL="171450" indent="-171450">
              <a:buFont typeface="Arial" panose="020B0604020202020204" pitchFamily="34" charset="0"/>
              <a:buChar char="•"/>
            </a:pPr>
            <a:r>
              <a:rPr lang="en-AU" sz="1100" kern="1200" dirty="0" smtClean="0">
                <a:solidFill>
                  <a:schemeClr val="tx1"/>
                </a:solidFill>
                <a:latin typeface="Helvetica" pitchFamily="34" charset="0"/>
              </a:rPr>
              <a:t>Confirming currency of guidelines that apply to add-ons with carriers</a:t>
            </a:r>
          </a:p>
          <a:p>
            <a:pPr marL="171450" indent="-171450">
              <a:buFont typeface="Arial" panose="020B0604020202020204" pitchFamily="34" charset="0"/>
              <a:buChar char="•"/>
            </a:pPr>
            <a:r>
              <a:rPr lang="en-AU" sz="1100" kern="1200" dirty="0" smtClean="0">
                <a:solidFill>
                  <a:schemeClr val="tx1"/>
                </a:solidFill>
                <a:latin typeface="Helvetica" pitchFamily="34" charset="0"/>
              </a:rPr>
              <a:t>Individual terms and conditions of carriers.</a:t>
            </a:r>
          </a:p>
          <a:p>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612833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3.1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0" baseline="0" dirty="0" smtClean="0">
                <a:latin typeface="Helvetica" pitchFamily="34" charset="0"/>
              </a:rPr>
              <a:t>Using the example and notes from the TM  explain to learners how to break down and interpret this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0" baseline="0" dirty="0" smtClean="0">
              <a:latin typeface="Helvetica" pitchFamily="34" charset="0"/>
            </a:endParaRPr>
          </a:p>
          <a:p>
            <a:r>
              <a:rPr lang="en-AU" sz="1100" b="1" kern="1200" dirty="0" smtClean="0">
                <a:solidFill>
                  <a:schemeClr val="tx1"/>
                </a:solidFill>
                <a:latin typeface="Helvetica" pitchFamily="34" charset="0"/>
              </a:rPr>
              <a:t>Group discussion</a:t>
            </a:r>
            <a:endParaRPr lang="en-AU" sz="1100" kern="1200" dirty="0" smtClean="0">
              <a:solidFill>
                <a:schemeClr val="tx1"/>
              </a:solidFill>
              <a:latin typeface="Helvetica" pitchFamily="34" charset="0"/>
            </a:endParaRPr>
          </a:p>
          <a:p>
            <a:pPr marL="171450" indent="-171450">
              <a:buFont typeface="Arial" panose="020B0604020202020204" pitchFamily="34" charset="0"/>
              <a:buChar char="•"/>
            </a:pPr>
            <a:r>
              <a:rPr lang="en-AU" sz="1100" kern="1200" dirty="0" smtClean="0">
                <a:solidFill>
                  <a:schemeClr val="tx1"/>
                </a:solidFill>
                <a:latin typeface="Helvetica" pitchFamily="34" charset="0"/>
              </a:rPr>
              <a:t>Currency codes,</a:t>
            </a:r>
            <a:r>
              <a:rPr lang="en-AU" sz="1100" kern="1200" baseline="0" dirty="0" smtClean="0">
                <a:solidFill>
                  <a:schemeClr val="tx1"/>
                </a:solidFill>
                <a:latin typeface="Helvetica" pitchFamily="34" charset="0"/>
              </a:rPr>
              <a:t> airfares and rules.</a:t>
            </a:r>
            <a:endParaRPr lang="en-AU" sz="1100" kern="1200" dirty="0" smtClean="0">
              <a:solidFill>
                <a:schemeClr val="tx1"/>
              </a:solidFill>
              <a:latin typeface="Helvetica" pitchFamily="34" charset="0"/>
            </a:endParaRPr>
          </a:p>
          <a:p>
            <a:endParaRPr lang="en-AU" sz="1200" kern="1200" dirty="0" smtClean="0">
              <a:solidFill>
                <a:schemeClr val="tx1"/>
              </a:solidFill>
              <a:latin typeface="+mn-lt"/>
              <a:ea typeface="+mn-ea"/>
              <a:cs typeface="+mn-cs"/>
            </a:endParaRPr>
          </a:p>
          <a:p>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36128335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Trainer</a:t>
            </a:r>
            <a:r>
              <a:rPr lang="en-US" sz="1600" b="1" baseline="0" dirty="0" smtClean="0"/>
              <a:t> to advise:		PC: 3.1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b="1" baseline="0" dirty="0" smtClean="0"/>
          </a:p>
          <a:p>
            <a:pPr>
              <a:spcBef>
                <a:spcPts val="400"/>
              </a:spcBef>
              <a:spcAft>
                <a:spcPts val="700"/>
              </a:spcAft>
            </a:pPr>
            <a:r>
              <a:rPr lang="en-AU" sz="1600" b="1" baseline="0" dirty="0" smtClean="0">
                <a:effectLst/>
                <a:latin typeface="Helvetica"/>
                <a:ea typeface="Calibri"/>
                <a:cs typeface="Calibri"/>
              </a:rPr>
              <a:t>Neutral Units of Construction - NUCs</a:t>
            </a:r>
          </a:p>
          <a:p>
            <a:pPr>
              <a:spcBef>
                <a:spcPts val="400"/>
              </a:spcBef>
              <a:spcAft>
                <a:spcPts val="700"/>
              </a:spcAft>
            </a:pPr>
            <a:r>
              <a:rPr lang="en-AU" sz="1600" baseline="0" dirty="0" smtClean="0">
                <a:effectLst/>
                <a:latin typeface="Helvetica"/>
                <a:ea typeface="Calibri"/>
                <a:cs typeface="Calibri"/>
              </a:rPr>
              <a:t>When constructing regular international airfares, a neutral currency is used. It is referenced as NUC - Neutral Unit of Construction (or Neutral Unit of Currency).This neutral currency has been developed by IATA, specifically for use in international airfare construction.</a:t>
            </a:r>
          </a:p>
          <a:p>
            <a:pPr>
              <a:spcBef>
                <a:spcPts val="400"/>
              </a:spcBef>
              <a:spcAft>
                <a:spcPts val="700"/>
              </a:spcAft>
            </a:pPr>
            <a:r>
              <a:rPr lang="en-AU" sz="1600" baseline="0" dirty="0" smtClean="0">
                <a:effectLst/>
                <a:latin typeface="Helvetica"/>
                <a:ea typeface="Calibri"/>
                <a:cs typeface="Calibri"/>
              </a:rPr>
              <a:t>All regular airfares are published in NUC and can be accessed in a CRS through a Fare Display entry.  When constructing an airfare for an itinerary, there are a series of checks that must be conducted. Some of these checks result in a higher airfare needing to be charged.  This is referred to as the applicable fare.  It is only after determining the applicable airfare that the NUC amount is converted into a real currency using an exchange rate called ROE – Rate of Exchange.</a:t>
            </a:r>
          </a:p>
          <a:p>
            <a:pPr>
              <a:spcBef>
                <a:spcPts val="400"/>
              </a:spcBef>
              <a:spcAft>
                <a:spcPts val="700"/>
              </a:spcAft>
            </a:pPr>
            <a:r>
              <a:rPr lang="en-AU" sz="1600" b="1" baseline="0" dirty="0" smtClean="0">
                <a:effectLst/>
                <a:latin typeface="Helvetica"/>
                <a:ea typeface="Calibri"/>
                <a:cs typeface="Calibri"/>
              </a:rPr>
              <a:t>Rates of Exchange (ROE)</a:t>
            </a:r>
          </a:p>
          <a:p>
            <a:pPr>
              <a:spcBef>
                <a:spcPts val="400"/>
              </a:spcBef>
              <a:spcAft>
                <a:spcPts val="700"/>
              </a:spcAft>
            </a:pPr>
            <a:r>
              <a:rPr lang="en-AU" sz="1600" baseline="0" dirty="0" smtClean="0">
                <a:effectLst/>
                <a:latin typeface="Helvetica"/>
                <a:ea typeface="Calibri"/>
                <a:cs typeface="Calibri"/>
              </a:rPr>
              <a:t>The Rates of Exchange are determined by IATA and stored in the CRS.  The ROEs are updated quarterly on 01JAN, 01APR, 01JUL and 01OCT, or more frequently if there are significant currency changes during that time. </a:t>
            </a:r>
            <a:endParaRPr lang="en-AU" sz="1600" dirty="0" smtClean="0">
              <a:effectLst/>
              <a:ea typeface="Times New Roman"/>
              <a:cs typeface="Times New Roman"/>
            </a:endParaRPr>
          </a:p>
          <a:p>
            <a:pPr>
              <a:spcBef>
                <a:spcPts val="400"/>
              </a:spcBef>
              <a:spcAft>
                <a:spcPts val="700"/>
              </a:spcAft>
            </a:pPr>
            <a:r>
              <a:rPr lang="en-AU" sz="1600" dirty="0" smtClean="0">
                <a:effectLst/>
                <a:latin typeface="Helvetica"/>
                <a:ea typeface="Calibri"/>
                <a:cs typeface="Calibri"/>
              </a:rPr>
              <a:t>After constructing an airfare, the agent can do a simple calculation in their CRS to convert NUCs into a real currency.  The currency is generally the currency for the first city (country) on the itinerary, or the currency of the country in which the enterprise and CRS are located.  For example, a fare from Singapore will be displayed in Singapore dollars.  In order to convert NUC to a real currency using the ROE, the agent needs to know the code for the currency.  The Galileo entry to convert NUCs using the ROE will be introduced later in this unit.</a:t>
            </a:r>
          </a:p>
          <a:p>
            <a:pPr>
              <a:spcBef>
                <a:spcPts val="400"/>
              </a:spcBef>
              <a:spcAft>
                <a:spcPts val="800"/>
              </a:spcAft>
            </a:pPr>
            <a:r>
              <a:rPr lang="en-AU" sz="1600" b="1" dirty="0" smtClean="0">
                <a:effectLst/>
                <a:latin typeface="Helvetica"/>
                <a:ea typeface="Calibri"/>
                <a:cs typeface="Calibri"/>
              </a:rPr>
              <a:t>Currency codes</a:t>
            </a:r>
          </a:p>
          <a:p>
            <a:pPr>
              <a:spcBef>
                <a:spcPts val="400"/>
              </a:spcBef>
              <a:spcAft>
                <a:spcPts val="800"/>
              </a:spcAft>
            </a:pPr>
            <a:r>
              <a:rPr lang="en-AU" sz="1600" dirty="0" smtClean="0">
                <a:effectLst/>
                <a:latin typeface="Helvetica"/>
                <a:ea typeface="Calibri"/>
                <a:cs typeface="Calibri"/>
              </a:rPr>
              <a:t>Each currency code also has an internationally recognised three letter code.  Generally, the code will appear in a CRS or on an airline website, before the airfare price to indicate which currency is being quoted. </a:t>
            </a:r>
          </a:p>
          <a:p>
            <a:pPr>
              <a:spcBef>
                <a:spcPts val="400"/>
              </a:spcBef>
              <a:spcAft>
                <a:spcPts val="800"/>
              </a:spcAft>
            </a:pPr>
            <a:r>
              <a:rPr lang="en-AU" sz="1600" dirty="0" smtClean="0">
                <a:effectLst/>
                <a:latin typeface="Helvetica"/>
                <a:ea typeface="Calibri"/>
                <a:cs typeface="Calibri"/>
              </a:rPr>
              <a:t>Some countries choose to use US Dollars (USD) for international airfare calculations due to instability and fluctuations in the local currency.</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baseline="0" dirty="0" smtClean="0"/>
          </a:p>
          <a:p>
            <a:r>
              <a:rPr lang="en-AU" sz="1600" b="1" kern="1200" dirty="0" smtClean="0">
                <a:solidFill>
                  <a:schemeClr val="tx1"/>
                </a:solidFill>
                <a:latin typeface="Helvetica" pitchFamily="34" charset="0"/>
              </a:rPr>
              <a:t>Activity</a:t>
            </a:r>
          </a:p>
          <a:p>
            <a:r>
              <a:rPr lang="en-AU" sz="1600" dirty="0" smtClean="0">
                <a:latin typeface="Helvetica" pitchFamily="34" charset="0"/>
              </a:rPr>
              <a:t>Learners to access a currency website and familiarise themselves with  popular or common world currencies and their coding. Learners to quiz each other  to test their knowledge</a:t>
            </a:r>
            <a:endParaRPr lang="en-AU" sz="1600" kern="1200" dirty="0" smtClean="0">
              <a:solidFill>
                <a:schemeClr val="tx1"/>
              </a:solidFill>
              <a:latin typeface="Helvetica" pitchFamily="34" charset="0"/>
            </a:endParaRPr>
          </a:p>
          <a:p>
            <a:endParaRPr lang="en-AU" sz="1200" kern="1200" dirty="0" smtClean="0">
              <a:solidFill>
                <a:schemeClr val="tx1"/>
              </a:solidFill>
              <a:latin typeface="+mn-lt"/>
              <a:ea typeface="+mn-ea"/>
              <a:cs typeface="+mn-cs"/>
            </a:endParaRPr>
          </a:p>
          <a:p>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3612833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3.3</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360000" lvl="1" indent="-360000">
              <a:spcBef>
                <a:spcPts val="600"/>
              </a:spcBef>
              <a:spcAft>
                <a:spcPts val="1200"/>
              </a:spcAft>
              <a:buSzPct val="80000"/>
              <a:buFont typeface="Arial" panose="020B0604020202020204" pitchFamily="34" charset="0"/>
              <a:buChar char="•"/>
            </a:pPr>
            <a:r>
              <a:rPr lang="en-AU" sz="1100" dirty="0" smtClean="0">
                <a:latin typeface="Helvetica" pitchFamily="34" charset="0"/>
              </a:rPr>
              <a:t>Accessing airfares in Galileo</a:t>
            </a:r>
          </a:p>
          <a:p>
            <a:pPr marL="360000" lvl="1" indent="-360000">
              <a:spcBef>
                <a:spcPts val="600"/>
              </a:spcBef>
              <a:spcAft>
                <a:spcPts val="1200"/>
              </a:spcAft>
              <a:buSzPct val="80000"/>
              <a:buFont typeface="Arial" panose="020B0604020202020204" pitchFamily="34" charset="0"/>
              <a:buChar char="•"/>
            </a:pPr>
            <a:r>
              <a:rPr lang="en-AU" sz="1100" dirty="0" smtClean="0">
                <a:latin typeface="Helvetica" pitchFamily="34" charset="0"/>
              </a:rPr>
              <a:t>Galileo Fare Displays.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Group Discussion/Activity</a:t>
            </a:r>
            <a:endParaRPr lang="en-US" sz="1100" b="0" baseline="0" dirty="0" smtClean="0">
              <a:latin typeface="Helvetica"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baseline="0" dirty="0" smtClean="0">
                <a:latin typeface="Helvetica" pitchFamily="34" charset="0"/>
              </a:rPr>
              <a:t>After review of TM notes and discussion of topics listed learners to take time to work in pairs and once again interpret the screens in example 1 an 2</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baseline="0" dirty="0" smtClean="0">
                <a:latin typeface="Helvetica" pitchFamily="34" charset="0"/>
              </a:rPr>
              <a:t>Review the Return Airfare example in TM and ensure understanding. Again working in pairs interpret the screen in the example.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0483190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latin typeface="Helvetica" pitchFamily="34" charset="0"/>
              </a:rPr>
              <a:t>Trainer</a:t>
            </a:r>
            <a:r>
              <a:rPr lang="en-US" sz="16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baseline="0" dirty="0" smtClean="0">
                <a:latin typeface="Helvetica" pitchFamily="34" charset="0"/>
              </a:rPr>
              <a:t>PC: 3.3</a:t>
            </a:r>
          </a:p>
          <a:p>
            <a:pPr>
              <a:spcBef>
                <a:spcPts val="400"/>
              </a:spcBef>
              <a:spcAft>
                <a:spcPts val="800"/>
              </a:spcAft>
            </a:pPr>
            <a:r>
              <a:rPr lang="en-AU" sz="1600" b="1" i="1" dirty="0" smtClean="0">
                <a:effectLst/>
                <a:latin typeface="Helvetica" pitchFamily="34" charset="0"/>
                <a:ea typeface="Times New Roman"/>
                <a:cs typeface="Times New Roman"/>
              </a:rPr>
              <a:t>Maximum Permitted Mileage</a:t>
            </a:r>
          </a:p>
          <a:p>
            <a:pPr>
              <a:spcBef>
                <a:spcPts val="400"/>
              </a:spcBef>
              <a:spcAft>
                <a:spcPts val="800"/>
              </a:spcAft>
            </a:pPr>
            <a:r>
              <a:rPr lang="en-AU" sz="1600" dirty="0" smtClean="0">
                <a:effectLst/>
                <a:latin typeface="Helvetica" pitchFamily="34" charset="0"/>
                <a:ea typeface="Calibri"/>
                <a:cs typeface="Calibri"/>
              </a:rPr>
              <a:t>When reading a Fare Display, the Maximum Permitted Mileage (MPM) is displayed to indicate the maximum number of miles that can be flown between the origin and destination cities.  This MPM must be compared to the number of miles being flown on the itinerary.  A CRS can calculate the mileage very simply but it is important for the agent to be able to interpret the information provided.  In order to do this, the agent must be aware of the following mileage terms and concepts:</a:t>
            </a:r>
          </a:p>
          <a:p>
            <a:pPr marL="342900" lvl="0" indent="-342900">
              <a:spcBef>
                <a:spcPts val="300"/>
              </a:spcBef>
              <a:spcAft>
                <a:spcPts val="600"/>
              </a:spcAft>
              <a:buFont typeface="Symbol"/>
              <a:buChar char=""/>
            </a:pPr>
            <a:r>
              <a:rPr lang="en-AU" sz="1600" b="1" dirty="0" smtClean="0">
                <a:effectLst/>
                <a:latin typeface="Helvetica" pitchFamily="34" charset="0"/>
                <a:ea typeface="Calibri"/>
                <a:cs typeface="Times New Roman"/>
              </a:rPr>
              <a:t>MPM </a:t>
            </a:r>
            <a:r>
              <a:rPr lang="en-AU" sz="1600" dirty="0" smtClean="0">
                <a:effectLst/>
                <a:latin typeface="Helvetica" pitchFamily="34" charset="0"/>
                <a:ea typeface="Calibri"/>
                <a:cs typeface="Times New Roman"/>
              </a:rPr>
              <a:t>– Maximum Permitted Mileage</a:t>
            </a:r>
          </a:p>
          <a:p>
            <a:pPr marL="342900" lvl="0" indent="-342900">
              <a:spcBef>
                <a:spcPts val="300"/>
              </a:spcBef>
              <a:spcAft>
                <a:spcPts val="600"/>
              </a:spcAft>
              <a:buFont typeface="Symbol"/>
              <a:buChar char=""/>
            </a:pPr>
            <a:r>
              <a:rPr lang="en-AU" sz="1600" b="1" dirty="0" smtClean="0">
                <a:effectLst/>
                <a:latin typeface="Helvetica" pitchFamily="34" charset="0"/>
                <a:ea typeface="Calibri"/>
                <a:cs typeface="Times New Roman"/>
              </a:rPr>
              <a:t>TPM</a:t>
            </a:r>
            <a:r>
              <a:rPr lang="en-AU" sz="1600" dirty="0" smtClean="0">
                <a:effectLst/>
                <a:latin typeface="Helvetica" pitchFamily="34" charset="0"/>
                <a:ea typeface="Calibri"/>
                <a:cs typeface="Times New Roman"/>
              </a:rPr>
              <a:t> – Tickets Point Mileage</a:t>
            </a:r>
          </a:p>
          <a:p>
            <a:pPr marL="342900" lvl="0" indent="-342900">
              <a:spcBef>
                <a:spcPts val="300"/>
              </a:spcBef>
              <a:spcAft>
                <a:spcPts val="600"/>
              </a:spcAft>
              <a:buFont typeface="Symbol"/>
              <a:buChar char=""/>
            </a:pPr>
            <a:r>
              <a:rPr lang="en-AU" sz="1600" b="1" dirty="0" smtClean="0">
                <a:effectLst/>
                <a:latin typeface="Helvetica" pitchFamily="34" charset="0"/>
                <a:ea typeface="Calibri"/>
                <a:cs typeface="Times New Roman"/>
              </a:rPr>
              <a:t>EMS</a:t>
            </a:r>
            <a:r>
              <a:rPr lang="en-AU" sz="1600" dirty="0" smtClean="0">
                <a:effectLst/>
                <a:latin typeface="Helvetica" pitchFamily="34" charset="0"/>
                <a:ea typeface="Calibri"/>
                <a:cs typeface="Times New Roman"/>
              </a:rPr>
              <a:t> – Excess Mileage Surcharge</a:t>
            </a:r>
          </a:p>
          <a:p>
            <a:pPr marL="342900" lvl="0" indent="-342900">
              <a:spcBef>
                <a:spcPts val="300"/>
              </a:spcBef>
              <a:spcAft>
                <a:spcPts val="600"/>
              </a:spcAft>
              <a:buFont typeface="Symbol"/>
              <a:buChar char=""/>
            </a:pPr>
            <a:r>
              <a:rPr lang="en-AU" sz="1600" b="1" dirty="0" smtClean="0">
                <a:effectLst/>
                <a:latin typeface="Helvetica" pitchFamily="34" charset="0"/>
                <a:ea typeface="Calibri"/>
                <a:cs typeface="Times New Roman"/>
              </a:rPr>
              <a:t>EMA</a:t>
            </a:r>
            <a:r>
              <a:rPr lang="en-AU" sz="1600" dirty="0" smtClean="0">
                <a:effectLst/>
                <a:latin typeface="Helvetica" pitchFamily="34" charset="0"/>
                <a:ea typeface="Calibri"/>
                <a:cs typeface="Times New Roman"/>
              </a:rPr>
              <a:t> – Excess Mileage Allowance.</a:t>
            </a:r>
          </a:p>
          <a:p>
            <a:pPr>
              <a:spcBef>
                <a:spcPts val="400"/>
              </a:spcBef>
              <a:spcAft>
                <a:spcPts val="800"/>
              </a:spcAft>
            </a:pPr>
            <a:r>
              <a:rPr lang="en-AU" sz="1600" b="1" i="1" dirty="0" smtClean="0">
                <a:effectLst/>
                <a:latin typeface="Helvetica" pitchFamily="34" charset="0"/>
                <a:ea typeface="Times New Roman"/>
                <a:cs typeface="Times New Roman"/>
              </a:rPr>
              <a:t>Excess Mileage Allowance </a:t>
            </a:r>
          </a:p>
          <a:p>
            <a:pPr>
              <a:spcBef>
                <a:spcPts val="400"/>
              </a:spcBef>
              <a:spcAft>
                <a:spcPts val="800"/>
              </a:spcAft>
            </a:pPr>
            <a:r>
              <a:rPr lang="en-AU" sz="1600" dirty="0" smtClean="0">
                <a:effectLst/>
                <a:latin typeface="Helvetica" pitchFamily="34" charset="0"/>
                <a:ea typeface="Calibri"/>
                <a:cs typeface="Calibri"/>
              </a:rPr>
              <a:t>There will be itineraries where the TPM is higher than the MPM.  In this case, in some circumstances there </a:t>
            </a:r>
            <a:r>
              <a:rPr lang="en-AU" sz="1600" b="1" dirty="0" smtClean="0">
                <a:effectLst/>
                <a:latin typeface="Helvetica" pitchFamily="34" charset="0"/>
                <a:ea typeface="Calibri"/>
                <a:cs typeface="Calibri"/>
              </a:rPr>
              <a:t>may</a:t>
            </a:r>
            <a:r>
              <a:rPr lang="en-AU" sz="1600" dirty="0" smtClean="0">
                <a:effectLst/>
                <a:latin typeface="Helvetica" pitchFamily="34" charset="0"/>
                <a:ea typeface="Calibri"/>
                <a:cs typeface="Calibri"/>
              </a:rPr>
              <a:t> be a deduction known as an Excess Mileage Allowance (EMA) which can be applied.  IATA has determined which itineraries are entitled to this allowance and will deduct miles from the total TPM if the itinerary is eligible for an EMA.</a:t>
            </a:r>
          </a:p>
          <a:p>
            <a:pPr>
              <a:spcBef>
                <a:spcPts val="400"/>
              </a:spcBef>
              <a:spcAft>
                <a:spcPts val="800"/>
              </a:spcAft>
            </a:pPr>
            <a:r>
              <a:rPr lang="en-AU" sz="1600" dirty="0" smtClean="0">
                <a:effectLst/>
                <a:latin typeface="Helvetica" pitchFamily="34" charset="0"/>
                <a:ea typeface="Calibri"/>
                <a:cs typeface="Calibri"/>
              </a:rPr>
              <a:t>The EMA example we will consider applies for travel within Area 3 only.  When an itinerary only involves travel within TC Area 3 and travel is via Delhi and Mumbai, IATA allows an EMA (if required).   This is also the case for an itinerary within TC Area 3 which includes travel via both Karachi and Islamabad.</a:t>
            </a:r>
          </a:p>
          <a:p>
            <a:pPr>
              <a:spcBef>
                <a:spcPts val="400"/>
              </a:spcBef>
              <a:spcAft>
                <a:spcPts val="800"/>
              </a:spcAft>
            </a:pPr>
            <a:r>
              <a:rPr lang="en-AU" sz="1600" dirty="0" smtClean="0">
                <a:effectLst/>
                <a:latin typeface="Helvetica" pitchFamily="34" charset="0"/>
                <a:ea typeface="Calibri"/>
                <a:cs typeface="Calibri"/>
              </a:rPr>
              <a:t>This is best described using an example.  In this Galileo screen, the TPM is calculated for a journey from Vientiane to Bangkok to Delhi to Mumbai.</a:t>
            </a:r>
          </a:p>
          <a:p>
            <a:pPr>
              <a:spcBef>
                <a:spcPts val="400"/>
              </a:spcBef>
              <a:spcAft>
                <a:spcPts val="800"/>
              </a:spcAft>
            </a:pPr>
            <a:r>
              <a:rPr lang="en-AU" sz="1600" b="1" i="1" dirty="0" smtClean="0">
                <a:effectLst/>
                <a:latin typeface="Helvetica" pitchFamily="34" charset="0"/>
                <a:ea typeface="Times New Roman"/>
                <a:cs typeface="Times New Roman"/>
              </a:rPr>
              <a:t>Excess Mileage Surcharge</a:t>
            </a:r>
          </a:p>
          <a:p>
            <a:pPr>
              <a:spcBef>
                <a:spcPts val="400"/>
              </a:spcBef>
              <a:spcAft>
                <a:spcPts val="800"/>
              </a:spcAft>
            </a:pPr>
            <a:r>
              <a:rPr lang="en-AU" sz="1600" dirty="0" smtClean="0">
                <a:effectLst/>
                <a:latin typeface="Helvetica" pitchFamily="34" charset="0"/>
                <a:ea typeface="Calibri"/>
                <a:cs typeface="Calibri"/>
              </a:rPr>
              <a:t>In the following example, the itinerary is much longer. This is a more realistic example of an itinerary that might be constructed using a regular airfare.  The flown itinerary is Jakarta to Manila to Singapore to Dubai to Paris.  Encoded, the itinerary is written as: </a:t>
            </a:r>
            <a:r>
              <a:rPr lang="en-AU" sz="1600" b="1" dirty="0" smtClean="0">
                <a:effectLst/>
                <a:latin typeface="Helvetica"/>
                <a:ea typeface="Calibri"/>
                <a:cs typeface="Times New Roman"/>
              </a:rPr>
              <a:t>JKT MNL SIN DXB PAR.  </a:t>
            </a:r>
            <a:r>
              <a:rPr lang="en-AU" sz="1600" dirty="0" smtClean="0">
                <a:effectLst/>
                <a:latin typeface="Helvetica"/>
                <a:ea typeface="Calibri"/>
                <a:cs typeface="Calibri"/>
              </a:rPr>
              <a:t>The Global Indicator for this itinerary is EH.</a:t>
            </a:r>
          </a:p>
          <a:p>
            <a:pPr marL="0" lvl="0" indent="0">
              <a:spcBef>
                <a:spcPts val="300"/>
              </a:spcBef>
              <a:spcAft>
                <a:spcPts val="600"/>
              </a:spcAft>
              <a:buFontTx/>
              <a:buNone/>
            </a:pPr>
            <a:r>
              <a:rPr lang="en-AU" sz="1600" dirty="0" smtClean="0">
                <a:effectLst/>
                <a:latin typeface="Helvetica"/>
                <a:ea typeface="Calibri"/>
                <a:cs typeface="Times New Roman"/>
              </a:rPr>
              <a:t>Refer to TM for remainder</a:t>
            </a:r>
            <a:r>
              <a:rPr lang="en-AU" sz="1600" baseline="0" dirty="0" smtClean="0">
                <a:effectLst/>
                <a:latin typeface="Helvetica"/>
                <a:ea typeface="Calibri"/>
                <a:cs typeface="Times New Roman"/>
              </a:rPr>
              <a:t> of notes.</a:t>
            </a:r>
          </a:p>
          <a:p>
            <a:pPr marL="0" lvl="0" indent="0">
              <a:spcBef>
                <a:spcPts val="300"/>
              </a:spcBef>
              <a:spcAft>
                <a:spcPts val="600"/>
              </a:spcAft>
              <a:buFontTx/>
              <a:buNone/>
            </a:pPr>
            <a:r>
              <a:rPr lang="en-AU" sz="1600" baseline="0" dirty="0" smtClean="0">
                <a:effectLst/>
                <a:latin typeface="Helvetica"/>
                <a:ea typeface="Calibri"/>
                <a:cs typeface="Times New Roman"/>
              </a:rPr>
              <a:t>Trainer to provide examples for learners to calculate mileage surcharge.</a:t>
            </a:r>
            <a:endParaRPr lang="en-AU" sz="1600" dirty="0" smtClean="0">
              <a:effectLst/>
              <a:latin typeface="Helvetica"/>
              <a:ea typeface="Calibri"/>
              <a:cs typeface="Times New Roman"/>
            </a:endParaRPr>
          </a:p>
          <a:p>
            <a:pPr>
              <a:spcBef>
                <a:spcPts val="400"/>
              </a:spcBef>
              <a:spcAft>
                <a:spcPts val="800"/>
              </a:spcAft>
            </a:pPr>
            <a:endParaRPr lang="en-AU" sz="1600" dirty="0" smtClean="0">
              <a:effectLst/>
              <a:latin typeface="Helvetica" pitchFamily="34" charset="0"/>
              <a:ea typeface="Calibri"/>
              <a:cs typeface="Calibri"/>
            </a:endParaRPr>
          </a:p>
          <a:p>
            <a:pPr>
              <a:spcBef>
                <a:spcPts val="400"/>
              </a:spcBef>
              <a:spcAft>
                <a:spcPts val="800"/>
              </a:spcAft>
            </a:pPr>
            <a:endParaRPr lang="en-AU" sz="1200" dirty="0" smtClean="0">
              <a:effectLst/>
              <a:latin typeface="Helvetica"/>
              <a:ea typeface="Calibri"/>
              <a:cs typeface="Calibri"/>
            </a:endParaRPr>
          </a:p>
          <a:p>
            <a:pPr>
              <a:spcBef>
                <a:spcPts val="400"/>
              </a:spcBef>
              <a:spcAft>
                <a:spcPts val="800"/>
              </a:spcAft>
            </a:pPr>
            <a:endParaRPr lang="en-AU" sz="1200" dirty="0" smtClean="0">
              <a:effectLst/>
              <a:latin typeface="Helvetica"/>
              <a:ea typeface="Calibri"/>
              <a:cs typeface="Calibri"/>
            </a:endParaRPr>
          </a:p>
          <a:p>
            <a:pPr marL="342900" lvl="0" indent="-342900">
              <a:spcBef>
                <a:spcPts val="300"/>
              </a:spcBef>
              <a:spcAft>
                <a:spcPts val="600"/>
              </a:spcAft>
              <a:buFont typeface="Symbol"/>
              <a:buChar char=""/>
            </a:pPr>
            <a:endParaRPr lang="en-AU" sz="1200" dirty="0" smtClean="0">
              <a:effectLst/>
              <a:latin typeface="Helvetica"/>
              <a:ea typeface="Calibri"/>
              <a:cs typeface="Times New Roman"/>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10483190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3.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pPr marL="171450" indent="-171450" defTabSz="946404">
              <a:buFont typeface="Arial" pitchFamily="34" charset="0"/>
              <a:buChar char="•"/>
              <a:defRPr/>
            </a:pPr>
            <a:r>
              <a:rPr lang="en-AU" sz="1200" dirty="0" smtClean="0">
                <a:solidFill>
                  <a:prstClr val="black"/>
                </a:solidFill>
              </a:rPr>
              <a:t>Review the Summary page for Element 3  to confirm with learners what has been completed for this Element.</a:t>
            </a:r>
          </a:p>
          <a:p>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4.</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Prepare International Pre-paid ticket advices </a:t>
            </a:r>
            <a:r>
              <a:rPr lang="en-US" sz="1100" b="0" baseline="0" dirty="0" smtClean="0">
                <a:latin typeface="Helvetica" pitchFamily="34" charset="0"/>
              </a:rPr>
              <a:t>the students must be able to:</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Determine the needs and preferences of client</a:t>
            </a:r>
            <a:r>
              <a:rPr lang="en-AU" sz="1100" b="1" i="0" kern="1200" dirty="0" smtClean="0">
                <a:solidFill>
                  <a:schemeClr val="tx1"/>
                </a:solidFill>
                <a:latin typeface="Helvetica" pitchFamily="34" charset="0"/>
              </a:rPr>
              <a:t> </a:t>
            </a:r>
            <a:r>
              <a:rPr lang="en-AU" sz="1100" i="0" kern="1200" dirty="0" smtClean="0">
                <a:solidFill>
                  <a:schemeClr val="tx1"/>
                </a:solidFill>
                <a:latin typeface="Helvetica" pitchFamily="34" charset="0"/>
              </a:rPr>
              <a:t>for pre-paid ticket advice (PTA)</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Select flight and carrier</a:t>
            </a:r>
            <a:r>
              <a:rPr lang="en-AU" sz="1100" b="1" i="0" kern="1200" dirty="0" smtClean="0">
                <a:solidFill>
                  <a:schemeClr val="tx1"/>
                </a:solidFill>
                <a:latin typeface="Helvetica" pitchFamily="34" charset="0"/>
              </a:rPr>
              <a:t> </a:t>
            </a:r>
            <a:r>
              <a:rPr lang="en-AU" sz="1100" i="0" kern="1200" dirty="0" smtClean="0">
                <a:solidFill>
                  <a:schemeClr val="tx1"/>
                </a:solidFill>
                <a:latin typeface="Helvetica" pitchFamily="34" charset="0"/>
              </a:rPr>
              <a:t>that best meets client needs</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Process PTA in accordance with operational requirements</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Issue or forward PTA.</a:t>
            </a:r>
          </a:p>
          <a:p>
            <a:pPr>
              <a:buFont typeface="Arial" pitchFamily="34" charset="0"/>
              <a:buNone/>
            </a:pPr>
            <a:endParaRPr lang="en-US" b="0" baseline="0" dirty="0" smtClean="0"/>
          </a:p>
          <a:p>
            <a:pPr>
              <a:buFont typeface="Arial" pitchFamily="34" charset="0"/>
              <a:buNone/>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4530903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4.1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342900" lvl="0" indent="-342900">
              <a:buFont typeface="Arial" panose="020B0604020202020204" pitchFamily="34" charset="0"/>
              <a:buChar char="•"/>
            </a:pPr>
            <a:r>
              <a:rPr lang="en-US" sz="1100" dirty="0" smtClean="0">
                <a:latin typeface="Helvetica" pitchFamily="34" charset="0"/>
              </a:rPr>
              <a:t>Identify needs</a:t>
            </a:r>
          </a:p>
          <a:p>
            <a:pPr marL="342900" lvl="0" indent="-342900">
              <a:buFont typeface="Arial" panose="020B0604020202020204" pitchFamily="34" charset="0"/>
              <a:buChar char="•"/>
            </a:pPr>
            <a:r>
              <a:rPr lang="en-US" sz="1100" dirty="0" smtClean="0">
                <a:latin typeface="Helvetica" pitchFamily="34" charset="0"/>
              </a:rPr>
              <a:t>Invoices</a:t>
            </a:r>
          </a:p>
          <a:p>
            <a:pPr marL="342900" lvl="0" indent="-342900">
              <a:buFont typeface="Arial" panose="020B0604020202020204" pitchFamily="34" charset="0"/>
              <a:buChar char="•"/>
            </a:pPr>
            <a:r>
              <a:rPr lang="en-US" sz="1100" dirty="0" smtClean="0">
                <a:latin typeface="Helvetica" pitchFamily="34" charset="0"/>
              </a:rPr>
              <a:t>Tickets, vouchers and final itinerary</a:t>
            </a:r>
          </a:p>
          <a:p>
            <a:pPr marL="342900" lvl="0" indent="-342900">
              <a:buFont typeface="Arial" panose="020B0604020202020204" pitchFamily="34" charset="0"/>
              <a:buChar char="•"/>
            </a:pPr>
            <a:r>
              <a:rPr lang="en-US" sz="1100" dirty="0" smtClean="0">
                <a:latin typeface="Helvetica" pitchFamily="34" charset="0"/>
              </a:rPr>
              <a:t>Delivery options. </a:t>
            </a:r>
            <a:endParaRPr lang="en-US" sz="1100" b="0" dirty="0" smtClean="0">
              <a:latin typeface="Helvetica" pitchFamily="34" charset="0"/>
            </a:endParaRPr>
          </a:p>
          <a:p>
            <a:pPr lvl="1"/>
            <a:endParaRPr lang="en-US" sz="1100" b="0" dirty="0" smtClean="0">
              <a:latin typeface="Helvetica" pitchFamily="34" charset="0"/>
            </a:endParaRPr>
          </a:p>
          <a:p>
            <a:pPr lvl="0"/>
            <a:r>
              <a:rPr lang="en-AU" sz="1100" b="1" dirty="0" smtClean="0">
                <a:latin typeface="Helvetica" pitchFamily="34" charset="0"/>
              </a:rPr>
              <a:t>Activity</a:t>
            </a:r>
            <a:endParaRPr lang="en-AU" sz="1100" b="0" dirty="0" smtClean="0">
              <a:latin typeface="Helvetica" pitchFamily="34" charset="0"/>
            </a:endParaRPr>
          </a:p>
          <a:p>
            <a:pPr lvl="0"/>
            <a:r>
              <a:rPr lang="en-AU" sz="1100" b="0" dirty="0" smtClean="0">
                <a:latin typeface="Helvetica" pitchFamily="34" charset="0"/>
              </a:rPr>
              <a:t>In</a:t>
            </a:r>
            <a:r>
              <a:rPr lang="en-AU" sz="1100" b="0" baseline="0" dirty="0" smtClean="0">
                <a:latin typeface="Helvetica" pitchFamily="34" charset="0"/>
              </a:rPr>
              <a:t> pairs or small groups create a 3 day, 2 night tour for clients of your choosing and r</a:t>
            </a:r>
            <a:r>
              <a:rPr lang="en-AU" sz="1100" b="0" dirty="0" smtClean="0">
                <a:latin typeface="Helvetica" pitchFamily="34" charset="0"/>
              </a:rPr>
              <a:t>esearch the</a:t>
            </a:r>
            <a:r>
              <a:rPr lang="en-AU" sz="1100" b="0" baseline="0" dirty="0" smtClean="0">
                <a:latin typeface="Helvetica" pitchFamily="34" charset="0"/>
              </a:rPr>
              <a:t> following airline structures: </a:t>
            </a:r>
          </a:p>
          <a:p>
            <a:pPr marL="342900" lvl="0" indent="-342900">
              <a:buFont typeface="Arial" panose="020B0604020202020204" pitchFamily="34" charset="0"/>
              <a:buChar char="•"/>
            </a:pPr>
            <a:r>
              <a:rPr lang="en-AU" sz="1100" b="0" baseline="0" dirty="0" smtClean="0">
                <a:latin typeface="Helvetica" pitchFamily="34" charset="0"/>
              </a:rPr>
              <a:t>Invoice</a:t>
            </a:r>
          </a:p>
          <a:p>
            <a:pPr marL="342900" lvl="0" indent="-342900">
              <a:buFont typeface="Arial" panose="020B0604020202020204" pitchFamily="34" charset="0"/>
              <a:buChar char="•"/>
            </a:pPr>
            <a:r>
              <a:rPr lang="en-AU" sz="1100" b="0" baseline="0" dirty="0" smtClean="0">
                <a:latin typeface="Helvetica" pitchFamily="34" charset="0"/>
              </a:rPr>
              <a:t>Tickets</a:t>
            </a:r>
          </a:p>
          <a:p>
            <a:pPr marL="342900" lvl="0" indent="-342900">
              <a:buFont typeface="Arial" panose="020B0604020202020204" pitchFamily="34" charset="0"/>
              <a:buChar char="•"/>
            </a:pPr>
            <a:r>
              <a:rPr lang="en-AU" sz="1100" b="0" baseline="0" dirty="0" smtClean="0">
                <a:latin typeface="Helvetica" pitchFamily="34" charset="0"/>
              </a:rPr>
              <a:t>Vouchers</a:t>
            </a:r>
          </a:p>
          <a:p>
            <a:pPr marL="342900" lvl="0" indent="-342900">
              <a:buFont typeface="Arial" panose="020B0604020202020204" pitchFamily="34" charset="0"/>
              <a:buChar char="•"/>
            </a:pPr>
            <a:endParaRPr lang="en-AU" sz="2400" b="0" baseline="0" dirty="0" smtClean="0"/>
          </a:p>
          <a:p>
            <a:pPr marL="342900" lvl="0" indent="-342900">
              <a:buFont typeface="Arial" panose="020B0604020202020204" pitchFamily="34" charset="0"/>
              <a:buChar char="•"/>
            </a:pPr>
            <a:endParaRPr lang="en-AU" sz="2400" b="0" baseline="0" dirty="0" smtClean="0"/>
          </a:p>
          <a:p>
            <a:pPr lvl="1"/>
            <a:endParaRPr lang="en-AU" sz="2400" b="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205747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4.1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342900" lvl="0" indent="-342900">
              <a:buFont typeface="Arial" panose="020B0604020202020204" pitchFamily="34" charset="0"/>
              <a:buChar char="•"/>
            </a:pPr>
            <a:r>
              <a:rPr lang="en-US" sz="1100" dirty="0" smtClean="0">
                <a:latin typeface="Helvetica" pitchFamily="34" charset="0"/>
              </a:rPr>
              <a:t>Identify needs</a:t>
            </a:r>
          </a:p>
          <a:p>
            <a:pPr marL="342900" lvl="0" indent="-342900">
              <a:buFont typeface="Arial" panose="020B0604020202020204" pitchFamily="34" charset="0"/>
              <a:buChar char="•"/>
            </a:pPr>
            <a:r>
              <a:rPr lang="en-US" sz="1100" dirty="0" smtClean="0">
                <a:latin typeface="Helvetica" pitchFamily="34" charset="0"/>
              </a:rPr>
              <a:t>Invoices</a:t>
            </a:r>
          </a:p>
          <a:p>
            <a:pPr marL="342900" lvl="0" indent="-342900">
              <a:buFont typeface="Arial" panose="020B0604020202020204" pitchFamily="34" charset="0"/>
              <a:buChar char="•"/>
            </a:pPr>
            <a:r>
              <a:rPr lang="en-US" sz="1100" dirty="0" smtClean="0">
                <a:latin typeface="Helvetica" pitchFamily="34" charset="0"/>
              </a:rPr>
              <a:t>Tickets, vouchers and final itinerary</a:t>
            </a:r>
          </a:p>
          <a:p>
            <a:pPr marL="342900" lvl="0" indent="-342900">
              <a:buFont typeface="Arial" panose="020B0604020202020204" pitchFamily="34" charset="0"/>
              <a:buChar char="•"/>
            </a:pPr>
            <a:r>
              <a:rPr lang="en-US" sz="1100" dirty="0" smtClean="0">
                <a:latin typeface="Helvetica" pitchFamily="34" charset="0"/>
              </a:rPr>
              <a:t>Delivery options. </a:t>
            </a:r>
            <a:endParaRPr lang="en-US" sz="1100" b="0" dirty="0" smtClean="0">
              <a:latin typeface="Helvetica" pitchFamily="34" charset="0"/>
            </a:endParaRPr>
          </a:p>
          <a:p>
            <a:pPr lvl="1"/>
            <a:endParaRPr lang="en-US" sz="1100" b="0" dirty="0" smtClean="0">
              <a:latin typeface="Helvetica" pitchFamily="34" charset="0"/>
            </a:endParaRPr>
          </a:p>
          <a:p>
            <a:pPr lvl="0"/>
            <a:r>
              <a:rPr lang="en-AU" sz="1100" b="1" dirty="0" smtClean="0">
                <a:latin typeface="Helvetica" pitchFamily="34" charset="0"/>
              </a:rPr>
              <a:t>Group Activity</a:t>
            </a:r>
            <a:endParaRPr lang="en-AU" sz="1100" b="0" dirty="0" smtClean="0">
              <a:latin typeface="Helvetica" pitchFamily="34" charset="0"/>
            </a:endParaRPr>
          </a:p>
          <a:p>
            <a:pPr lvl="0"/>
            <a:r>
              <a:rPr lang="en-AU" sz="1100" b="0" dirty="0" smtClean="0">
                <a:latin typeface="Helvetica" pitchFamily="34" charset="0"/>
              </a:rPr>
              <a:t>Following</a:t>
            </a:r>
            <a:r>
              <a:rPr lang="en-AU" sz="1100" b="0" baseline="0" dirty="0" smtClean="0">
                <a:latin typeface="Helvetica" pitchFamily="34" charset="0"/>
              </a:rPr>
              <a:t> on from previous slide continue to r</a:t>
            </a:r>
            <a:r>
              <a:rPr lang="en-AU" sz="1100" b="0" dirty="0" smtClean="0">
                <a:latin typeface="Helvetica" pitchFamily="34" charset="0"/>
              </a:rPr>
              <a:t>esearch the</a:t>
            </a:r>
            <a:r>
              <a:rPr lang="en-AU" sz="1100" b="0" baseline="0" dirty="0" smtClean="0">
                <a:latin typeface="Helvetica" pitchFamily="34" charset="0"/>
              </a:rPr>
              <a:t> following airline structures: </a:t>
            </a:r>
          </a:p>
          <a:p>
            <a:pPr marL="342900" lvl="0" indent="-342900">
              <a:buFont typeface="Arial" panose="020B0604020202020204" pitchFamily="34" charset="0"/>
              <a:buChar char="•"/>
            </a:pPr>
            <a:r>
              <a:rPr lang="en-AU" sz="1100" b="0" baseline="0" dirty="0" smtClean="0">
                <a:latin typeface="Helvetica" pitchFamily="34" charset="0"/>
              </a:rPr>
              <a:t>Final Itinerary</a:t>
            </a:r>
          </a:p>
          <a:p>
            <a:pPr marL="342900" lvl="0" indent="-342900">
              <a:buFont typeface="Arial" panose="020B0604020202020204" pitchFamily="34" charset="0"/>
              <a:buChar char="•"/>
            </a:pPr>
            <a:r>
              <a:rPr lang="en-AU" sz="1100" b="0" baseline="0" dirty="0" smtClean="0">
                <a:latin typeface="Helvetica" pitchFamily="34" charset="0"/>
              </a:rPr>
              <a:t>Delivery options</a:t>
            </a:r>
          </a:p>
          <a:p>
            <a:pPr marL="342900" lvl="0" indent="-342900">
              <a:buFont typeface="Arial" panose="020B0604020202020204" pitchFamily="34" charset="0"/>
              <a:buChar char="•"/>
            </a:pPr>
            <a:r>
              <a:rPr lang="en-AU" sz="1100" b="0" baseline="0" dirty="0" smtClean="0">
                <a:latin typeface="Helvetica" pitchFamily="34" charset="0"/>
              </a:rPr>
              <a:t>Create an email informing a client for their final itinerary.</a:t>
            </a:r>
          </a:p>
          <a:p>
            <a:pPr marL="0" lvl="0" indent="0">
              <a:buFont typeface="Arial" panose="020B0604020202020204" pitchFamily="34" charset="0"/>
              <a:buNone/>
            </a:pPr>
            <a:r>
              <a:rPr lang="en-AU" sz="1100" b="0" baseline="0" dirty="0" smtClean="0">
                <a:latin typeface="Helvetica" pitchFamily="34" charset="0"/>
              </a:rPr>
              <a:t>Trainer to determine if groups will present their findings.</a:t>
            </a:r>
          </a:p>
          <a:p>
            <a:pPr marL="342900" lvl="0" indent="-342900">
              <a:buFont typeface="Arial" panose="020B0604020202020204" pitchFamily="34" charset="0"/>
              <a:buChar char="•"/>
            </a:pPr>
            <a:endParaRPr lang="en-AU" sz="2400" b="0" baseline="0" dirty="0" smtClean="0"/>
          </a:p>
          <a:p>
            <a:pPr marL="342900" lvl="0" indent="-342900">
              <a:buFont typeface="Arial" panose="020B0604020202020204" pitchFamily="34" charset="0"/>
              <a:buChar char="•"/>
            </a:pPr>
            <a:endParaRPr lang="en-AU" sz="2400" b="0" baseline="0" dirty="0" smtClean="0"/>
          </a:p>
          <a:p>
            <a:pPr lvl="1"/>
            <a:endParaRPr lang="en-AU" sz="2400" b="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32057478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4.2</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i="0" baseline="0" dirty="0" smtClean="0">
              <a:latin typeface="Helvetica" pitchFamily="34" charset="0"/>
            </a:endParaRPr>
          </a:p>
          <a:p>
            <a:r>
              <a:rPr lang="en-AU" sz="1100" i="0" kern="1200" dirty="0" smtClean="0">
                <a:solidFill>
                  <a:schemeClr val="tx1"/>
                </a:solidFill>
                <a:latin typeface="Helvetica" pitchFamily="34" charset="0"/>
              </a:rPr>
              <a:t>Select flight and carrier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Confirming availability</a:t>
            </a:r>
          </a:p>
          <a:p>
            <a:pPr marL="171450" indent="-171450">
              <a:buFont typeface="Arial" panose="020B0604020202020204" pitchFamily="34" charset="0"/>
              <a:buChar char="•"/>
            </a:pPr>
            <a:r>
              <a:rPr lang="en-AU" sz="1100" i="0" kern="1200" dirty="0" smtClean="0">
                <a:solidFill>
                  <a:schemeClr val="tx1"/>
                </a:solidFill>
                <a:latin typeface="Helvetica" pitchFamily="34" charset="0"/>
              </a:rPr>
              <a:t>Understanding relevant carrier policies and procedures, including limitations and restrictions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Matching timing requirements to flight availability</a:t>
            </a:r>
          </a:p>
          <a:p>
            <a:pPr marL="171450" indent="-171450">
              <a:buFont typeface="Arial" panose="020B0604020202020204" pitchFamily="34" charset="0"/>
              <a:buChar char="•"/>
            </a:pPr>
            <a:r>
              <a:rPr lang="en-AU" sz="1100" i="0" kern="1200" dirty="0" smtClean="0">
                <a:solidFill>
                  <a:schemeClr val="tx1"/>
                </a:solidFill>
                <a:latin typeface="Helvetica" pitchFamily="34" charset="0"/>
              </a:rPr>
              <a:t>Seat availability</a:t>
            </a:r>
          </a:p>
          <a:p>
            <a:pPr marL="171450" indent="-171450">
              <a:buFont typeface="Arial" panose="020B0604020202020204" pitchFamily="34" charset="0"/>
              <a:buChar char="•"/>
            </a:pPr>
            <a:r>
              <a:rPr lang="en-AU" sz="1100" i="0" kern="1200" dirty="0" smtClean="0">
                <a:solidFill>
                  <a:schemeClr val="tx1"/>
                </a:solidFill>
                <a:latin typeface="Helvetica" pitchFamily="34" charset="0"/>
              </a:rPr>
              <a:t>Meeting connecting flights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Package limitations, where applicable.</a:t>
            </a:r>
          </a:p>
          <a:p>
            <a:endParaRPr lang="en-AU" sz="1100" b="1" i="0" kern="1200" baseline="0" dirty="0" smtClean="0">
              <a:solidFill>
                <a:schemeClr val="tx1"/>
              </a:solidFill>
              <a:latin typeface="Helvetica" pitchFamily="34" charset="0"/>
            </a:endParaRPr>
          </a:p>
          <a:p>
            <a:r>
              <a:rPr lang="en-AU" sz="1100" b="1" i="0" kern="1200" baseline="0" dirty="0" smtClean="0">
                <a:solidFill>
                  <a:schemeClr val="tx1"/>
                </a:solidFill>
                <a:latin typeface="Helvetica" pitchFamily="34" charset="0"/>
              </a:rPr>
              <a:t>Activity</a:t>
            </a:r>
          </a:p>
          <a:p>
            <a:r>
              <a:rPr lang="en-AU" sz="1100" b="0" i="0" kern="1200" baseline="0" dirty="0" smtClean="0">
                <a:solidFill>
                  <a:schemeClr val="tx1"/>
                </a:solidFill>
                <a:latin typeface="Helvetica" pitchFamily="34" charset="0"/>
              </a:rPr>
              <a:t>Trainer note: This activity may follow on from previous or a new scenario may be created.</a:t>
            </a:r>
          </a:p>
          <a:p>
            <a:pPr marL="171450" indent="-171450">
              <a:buFont typeface="Arial" panose="020B0604020202020204" pitchFamily="34" charset="0"/>
              <a:buChar char="•"/>
            </a:pPr>
            <a:r>
              <a:rPr lang="en-AU" sz="1100" b="0" i="0" kern="1200" baseline="0" dirty="0" smtClean="0">
                <a:solidFill>
                  <a:schemeClr val="tx1"/>
                </a:solidFill>
                <a:latin typeface="Helvetica" pitchFamily="34" charset="0"/>
              </a:rPr>
              <a:t>Select a flight carrier and complete the following information.  Once completed, present your findings</a:t>
            </a:r>
            <a:endParaRPr lang="en-AU" sz="1100" i="0" kern="1200" dirty="0" smtClean="0">
              <a:solidFill>
                <a:schemeClr val="tx1"/>
              </a:solidFill>
              <a:latin typeface="Helvetica" pitchFamily="34" charset="0"/>
            </a:endParaRPr>
          </a:p>
          <a:p>
            <a:pPr marL="628650" lvl="1" indent="-171450">
              <a:buFont typeface="Arial" panose="020B0604020202020204" pitchFamily="34" charset="0"/>
              <a:buChar char="•"/>
            </a:pPr>
            <a:r>
              <a:rPr lang="en-AU" sz="1100" i="0" kern="1200" dirty="0" smtClean="0">
                <a:solidFill>
                  <a:schemeClr val="tx1"/>
                </a:solidFill>
                <a:latin typeface="Helvetica" pitchFamily="34" charset="0"/>
              </a:rPr>
              <a:t>Confirming availability</a:t>
            </a:r>
          </a:p>
          <a:p>
            <a:pPr marL="628650" lvl="1" indent="-171450">
              <a:buFont typeface="Arial" panose="020B0604020202020204" pitchFamily="34" charset="0"/>
              <a:buChar char="•"/>
            </a:pPr>
            <a:r>
              <a:rPr lang="en-AU" sz="1100" i="0" kern="1200" dirty="0" smtClean="0">
                <a:solidFill>
                  <a:schemeClr val="tx1"/>
                </a:solidFill>
                <a:latin typeface="Helvetica" pitchFamily="34" charset="0"/>
              </a:rPr>
              <a:t>Understanding relevant carrier policies and procedures, including limitations and restrictions</a:t>
            </a:r>
          </a:p>
          <a:p>
            <a:pPr marL="628650" lvl="1" indent="-171450">
              <a:buFont typeface="Arial" panose="020B0604020202020204" pitchFamily="34" charset="0"/>
              <a:buChar char="•"/>
            </a:pPr>
            <a:r>
              <a:rPr lang="en-AU" sz="1100" i="0" kern="1200" dirty="0" smtClean="0">
                <a:solidFill>
                  <a:schemeClr val="tx1"/>
                </a:solidFill>
                <a:latin typeface="Helvetica" pitchFamily="34" charset="0"/>
              </a:rPr>
              <a:t>Matching timing requirements to flight availability</a:t>
            </a:r>
          </a:p>
          <a:p>
            <a:pPr marL="628650" lvl="1" indent="-171450">
              <a:buFont typeface="Arial" panose="020B0604020202020204" pitchFamily="34" charset="0"/>
              <a:buChar char="•"/>
            </a:pPr>
            <a:r>
              <a:rPr lang="en-AU" sz="1100" i="0" kern="1200" dirty="0" smtClean="0">
                <a:solidFill>
                  <a:schemeClr val="tx1"/>
                </a:solidFill>
                <a:latin typeface="Helvetica" pitchFamily="34" charset="0"/>
              </a:rPr>
              <a:t>Seat availability</a:t>
            </a:r>
          </a:p>
          <a:p>
            <a:pPr marL="628650" lvl="1" indent="-171450">
              <a:buFont typeface="Arial" panose="020B0604020202020204" pitchFamily="34" charset="0"/>
              <a:buChar char="•"/>
            </a:pPr>
            <a:r>
              <a:rPr lang="en-AU" sz="1100" i="0" kern="1200" dirty="0" smtClean="0">
                <a:solidFill>
                  <a:schemeClr val="tx1"/>
                </a:solidFill>
                <a:latin typeface="Helvetica" pitchFamily="34" charset="0"/>
              </a:rPr>
              <a:t>Meeting connecting flights</a:t>
            </a:r>
          </a:p>
          <a:p>
            <a:pPr marL="628650" lvl="1" indent="-171450">
              <a:buFont typeface="Arial" panose="020B0604020202020204" pitchFamily="34" charset="0"/>
              <a:buChar char="•"/>
            </a:pPr>
            <a:r>
              <a:rPr lang="en-AU" sz="1100" i="0" kern="1200" dirty="0" smtClean="0">
                <a:solidFill>
                  <a:schemeClr val="tx1"/>
                </a:solidFill>
                <a:latin typeface="Helvetica" pitchFamily="34" charset="0"/>
              </a:rPr>
              <a:t>Package limitations, where applicable.</a:t>
            </a:r>
          </a:p>
          <a:p>
            <a:endParaRPr lang="en-US" b="0" i="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0628507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latin typeface="Helvetica" pitchFamily="34" charset="0"/>
              </a:rPr>
              <a:t>Trainer</a:t>
            </a:r>
            <a:r>
              <a:rPr lang="en-US" sz="1600" b="1" baseline="0" dirty="0" smtClean="0">
                <a:latin typeface="Helvetica" pitchFamily="34" charset="0"/>
              </a:rPr>
              <a:t> to advise:	PC: 4.3</a:t>
            </a:r>
            <a:endParaRPr lang="en-US" sz="1600" dirty="0" smtClean="0">
              <a:latin typeface="Helvetica" pitchFamily="34" charset="0"/>
            </a:endParaRPr>
          </a:p>
          <a:p>
            <a:pPr marL="0" indent="0">
              <a:buFont typeface="Arial" panose="020B0604020202020204" pitchFamily="34" charset="0"/>
              <a:buNone/>
            </a:pPr>
            <a:r>
              <a:rPr lang="en-AU" sz="1600" i="0" kern="1200" dirty="0" smtClean="0">
                <a:solidFill>
                  <a:schemeClr val="tx1"/>
                </a:solidFill>
                <a:latin typeface="Helvetica" pitchFamily="34" charset="0"/>
              </a:rPr>
              <a:t>Process PTA may include:</a:t>
            </a:r>
          </a:p>
          <a:p>
            <a:pPr marL="171450" indent="-171450">
              <a:buFont typeface="Arial" panose="020B0604020202020204" pitchFamily="34" charset="0"/>
              <a:buChar char="•"/>
            </a:pPr>
            <a:r>
              <a:rPr lang="en-AU" sz="1600" i="0" kern="1200" dirty="0" smtClean="0">
                <a:solidFill>
                  <a:schemeClr val="tx1"/>
                </a:solidFill>
                <a:latin typeface="Helvetica" pitchFamily="34" charset="0"/>
              </a:rPr>
              <a:t>Following relevant guidelines, policies and procedures</a:t>
            </a:r>
          </a:p>
          <a:p>
            <a:pPr marL="171450" indent="-171450">
              <a:buFont typeface="Arial" panose="020B0604020202020204" pitchFamily="34" charset="0"/>
              <a:buChar char="•"/>
            </a:pPr>
            <a:r>
              <a:rPr lang="en-AU" sz="1600" i="0" kern="1200" dirty="0" smtClean="0">
                <a:solidFill>
                  <a:schemeClr val="tx1"/>
                </a:solidFill>
                <a:latin typeface="Helvetica" pitchFamily="34" charset="0"/>
              </a:rPr>
              <a:t>Confirming applicable timeline requirements for booking</a:t>
            </a:r>
          </a:p>
          <a:p>
            <a:pPr marL="171450" indent="-171450">
              <a:buFont typeface="Arial" panose="020B0604020202020204" pitchFamily="34" charset="0"/>
              <a:buChar char="•"/>
            </a:pPr>
            <a:r>
              <a:rPr lang="en-AU" sz="1600" i="0" kern="1200" dirty="0" smtClean="0">
                <a:solidFill>
                  <a:schemeClr val="tx1"/>
                </a:solidFill>
                <a:latin typeface="Helvetica" pitchFamily="34" charset="0"/>
              </a:rPr>
              <a:t>Verifying agency details with carrier</a:t>
            </a:r>
          </a:p>
          <a:p>
            <a:pPr marL="171450" indent="-171450">
              <a:buFont typeface="Arial" panose="020B0604020202020204" pitchFamily="34" charset="0"/>
              <a:buChar char="•"/>
            </a:pPr>
            <a:r>
              <a:rPr lang="en-AU" sz="1600" i="0" kern="1200" dirty="0" smtClean="0">
                <a:solidFill>
                  <a:schemeClr val="tx1"/>
                </a:solidFill>
                <a:latin typeface="Helvetica" pitchFamily="34" charset="0"/>
              </a:rPr>
              <a:t>Including services covered by PTAs, including excess baggage, unaccompanied children, oxygen use</a:t>
            </a:r>
          </a:p>
          <a:p>
            <a:pPr marL="171450" indent="-171450">
              <a:buFont typeface="Arial" panose="020B0604020202020204" pitchFamily="34" charset="0"/>
              <a:buChar char="•"/>
            </a:pPr>
            <a:r>
              <a:rPr lang="en-AU" sz="1600" i="0" kern="1200" dirty="0" smtClean="0">
                <a:solidFill>
                  <a:schemeClr val="tx1"/>
                </a:solidFill>
                <a:latin typeface="Helvetica" pitchFamily="34" charset="0"/>
              </a:rPr>
              <a:t>Obtaining fare quote</a:t>
            </a:r>
          </a:p>
          <a:p>
            <a:pPr marL="171450" indent="-171450">
              <a:buFont typeface="Arial" panose="020B0604020202020204" pitchFamily="34" charset="0"/>
              <a:buChar char="•"/>
            </a:pPr>
            <a:r>
              <a:rPr lang="en-AU" sz="1600" i="0" kern="1200" dirty="0" smtClean="0">
                <a:solidFill>
                  <a:schemeClr val="tx1"/>
                </a:solidFill>
                <a:latin typeface="Helvetica" pitchFamily="34" charset="0"/>
              </a:rPr>
              <a:t>Applying service charge</a:t>
            </a:r>
          </a:p>
          <a:p>
            <a:pPr marL="171450" indent="-171450">
              <a:buFont typeface="Arial" panose="020B0604020202020204" pitchFamily="34" charset="0"/>
              <a:buChar char="•"/>
            </a:pPr>
            <a:r>
              <a:rPr lang="en-AU" sz="1600" i="0" kern="1200" dirty="0" smtClean="0">
                <a:solidFill>
                  <a:schemeClr val="tx1"/>
                </a:solidFill>
                <a:latin typeface="Helvetica" pitchFamily="34" charset="0"/>
              </a:rPr>
              <a:t>Raising Miscellaneous Charge Order (MCO).</a:t>
            </a:r>
            <a:endParaRPr lang="en-AU" sz="1600" b="1" dirty="0" smtClean="0">
              <a:effectLst/>
              <a:latin typeface="Helvetica" pitchFamily="34" charset="0"/>
              <a:ea typeface="Calibri"/>
              <a:cs typeface="Calibri"/>
            </a:endParaRPr>
          </a:p>
          <a:p>
            <a:endParaRPr lang="en-AU" sz="1600" i="0" kern="1200" dirty="0" smtClean="0">
              <a:solidFill>
                <a:schemeClr val="tx1"/>
              </a:solidFill>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smtClean="0">
                <a:ln>
                  <a:noFill/>
                </a:ln>
                <a:solidFill>
                  <a:prstClr val="black"/>
                </a:solidFill>
                <a:effectLst/>
                <a:uLnTx/>
                <a:uFillTx/>
                <a:latin typeface="Helvetica" pitchFamily="34" charset="0"/>
              </a:rPr>
              <a:t>Group Activity</a:t>
            </a:r>
            <a:endParaRPr kumimoji="0" lang="en-AU" sz="1600" b="0" i="0" u="none" strike="noStrike" kern="1200" cap="none" spc="0" normalizeH="0" baseline="0" noProof="0" dirty="0" smtClean="0">
              <a:ln>
                <a:noFill/>
              </a:ln>
              <a:solidFill>
                <a:prstClr val="black"/>
              </a:solidFill>
              <a:effectLst/>
              <a:uLnTx/>
              <a:uFillTx/>
              <a:latin typeface="Helvetica"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600" b="0" i="0" u="none" strike="noStrike" kern="1200" cap="none" spc="0" normalizeH="0" baseline="0" noProof="0" dirty="0" smtClean="0">
                <a:ln>
                  <a:noFill/>
                </a:ln>
                <a:solidFill>
                  <a:prstClr val="black"/>
                </a:solidFill>
                <a:effectLst/>
                <a:uLnTx/>
                <a:uFillTx/>
                <a:latin typeface="Helvetica" pitchFamily="34" charset="0"/>
              </a:rPr>
              <a:t>Identify one airline and discuss one of the following items based on that airline- present your findings once you have completed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600" b="0" i="0" u="none" strike="noStrike" kern="1200" cap="none" spc="0" normalizeH="0" baseline="0" noProof="0" dirty="0" smtClean="0">
                <a:ln>
                  <a:noFill/>
                </a:ln>
                <a:solidFill>
                  <a:prstClr val="black"/>
                </a:solidFill>
                <a:effectLst/>
                <a:uLnTx/>
                <a:uFillTx/>
                <a:latin typeface="Helvetica" pitchFamily="34" charset="0"/>
              </a:rPr>
              <a:t>Following relevant guidelines, policies and procedures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600" b="0" i="0" u="none" strike="noStrike" kern="1200" cap="none" spc="0" normalizeH="0" baseline="0" noProof="0" dirty="0" smtClean="0">
                <a:ln>
                  <a:noFill/>
                </a:ln>
                <a:solidFill>
                  <a:prstClr val="black"/>
                </a:solidFill>
                <a:effectLst/>
                <a:uLnTx/>
                <a:uFillTx/>
                <a:latin typeface="Helvetica" pitchFamily="34" charset="0"/>
              </a:rPr>
              <a:t>Confirming applicable timeline requirements for booking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600" b="0" i="0" u="none" strike="noStrike" kern="1200" cap="none" spc="0" normalizeH="0" baseline="0" noProof="0" dirty="0" smtClean="0">
                <a:ln>
                  <a:noFill/>
                </a:ln>
                <a:solidFill>
                  <a:prstClr val="black"/>
                </a:solidFill>
                <a:effectLst/>
                <a:uLnTx/>
                <a:uFillTx/>
                <a:latin typeface="Helvetica" pitchFamily="34" charset="0"/>
              </a:rPr>
              <a:t>Verifying agency details with carrier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600" b="0" i="0" u="none" strike="noStrike" kern="1200" cap="none" spc="0" normalizeH="0" baseline="0" noProof="0" dirty="0" smtClean="0">
                <a:ln>
                  <a:noFill/>
                </a:ln>
                <a:solidFill>
                  <a:prstClr val="black"/>
                </a:solidFill>
                <a:effectLst/>
                <a:uLnTx/>
                <a:uFillTx/>
                <a:latin typeface="Helvetica" pitchFamily="34" charset="0"/>
              </a:rPr>
              <a:t>Including services covered by PTAs, including excess baggage, unaccompanied children, oxygen use</a:t>
            </a:r>
          </a:p>
          <a:p>
            <a:endParaRPr lang="en-AU" sz="1200" i="0" kern="1200" dirty="0" smtClean="0">
              <a:solidFill>
                <a:schemeClr val="tx1"/>
              </a:solidFill>
              <a:latin typeface="+mn-lt"/>
              <a:ea typeface="+mn-ea"/>
              <a:cs typeface="+mn-cs"/>
            </a:endParaRPr>
          </a:p>
          <a:p>
            <a:endParaRPr lang="en-AU" sz="1200" i="0" kern="1200" dirty="0" smtClean="0">
              <a:solidFill>
                <a:schemeClr val="tx1"/>
              </a:solidFill>
              <a:latin typeface="+mn-lt"/>
              <a:ea typeface="+mn-ea"/>
              <a:cs typeface="+mn-cs"/>
            </a:endParaRPr>
          </a:p>
          <a:p>
            <a:endParaRPr lang="en-US" i="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9020801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latin typeface="Helvetica" pitchFamily="34" charset="0"/>
              </a:rPr>
              <a:t>Trainer</a:t>
            </a:r>
            <a:r>
              <a:rPr lang="en-US" sz="1600" b="1" baseline="0" dirty="0" smtClean="0">
                <a:latin typeface="Helvetica" pitchFamily="34" charset="0"/>
              </a:rPr>
              <a:t> to advise:	PC: 4.3</a:t>
            </a:r>
            <a:endParaRPr lang="en-US" sz="1600" dirty="0" smtClean="0">
              <a:latin typeface="Helvetica" pitchFamily="34" charset="0"/>
            </a:endParaRPr>
          </a:p>
          <a:p>
            <a:pPr marL="0" indent="0">
              <a:buFont typeface="Arial" panose="020B0604020202020204" pitchFamily="34" charset="0"/>
              <a:buNone/>
            </a:pPr>
            <a:r>
              <a:rPr lang="en-AU" sz="1600" i="0" kern="1200" dirty="0" smtClean="0">
                <a:solidFill>
                  <a:schemeClr val="tx1"/>
                </a:solidFill>
                <a:latin typeface="Helvetica" pitchFamily="34" charset="0"/>
              </a:rPr>
              <a:t>Process PTA may include: </a:t>
            </a:r>
            <a:r>
              <a:rPr lang="en-AU" sz="1600" i="1" kern="1200" dirty="0" smtClean="0">
                <a:solidFill>
                  <a:schemeClr val="tx1"/>
                </a:solidFill>
                <a:latin typeface="Helvetica" pitchFamily="34" charset="0"/>
              </a:rPr>
              <a:t>continued</a:t>
            </a:r>
          </a:p>
          <a:p>
            <a:pPr marL="171450" indent="-171450">
              <a:buFont typeface="Arial" panose="020B0604020202020204" pitchFamily="34" charset="0"/>
              <a:buChar char="•"/>
            </a:pPr>
            <a:r>
              <a:rPr lang="en-AU" sz="1600" i="0" kern="1200" dirty="0" smtClean="0">
                <a:solidFill>
                  <a:schemeClr val="tx1"/>
                </a:solidFill>
                <a:latin typeface="Helvetica" pitchFamily="34" charset="0"/>
              </a:rPr>
              <a:t>Obtaining fare quote</a:t>
            </a:r>
          </a:p>
          <a:p>
            <a:pPr marL="171450" indent="-171450">
              <a:buFont typeface="Arial" panose="020B0604020202020204" pitchFamily="34" charset="0"/>
              <a:buChar char="•"/>
            </a:pPr>
            <a:r>
              <a:rPr lang="en-AU" sz="1600" i="0" kern="1200" dirty="0" smtClean="0">
                <a:solidFill>
                  <a:schemeClr val="tx1"/>
                </a:solidFill>
                <a:latin typeface="Helvetica" pitchFamily="34" charset="0"/>
              </a:rPr>
              <a:t>Applying service charge</a:t>
            </a:r>
          </a:p>
          <a:p>
            <a:pPr marL="171450" indent="-171450">
              <a:buFont typeface="Arial" panose="020B0604020202020204" pitchFamily="34" charset="0"/>
              <a:buChar char="•"/>
            </a:pPr>
            <a:r>
              <a:rPr lang="en-AU" sz="1600" i="0" kern="1200" dirty="0" smtClean="0">
                <a:solidFill>
                  <a:schemeClr val="tx1"/>
                </a:solidFill>
                <a:latin typeface="Helvetica" pitchFamily="34" charset="0"/>
              </a:rPr>
              <a:t>Raising Miscellaneous Charge Order (MCO).</a:t>
            </a:r>
            <a:endParaRPr lang="en-AU" sz="1600" b="1" dirty="0" smtClean="0">
              <a:effectLst/>
              <a:latin typeface="Helvetica" pitchFamily="34" charset="0"/>
              <a:ea typeface="Calibri"/>
              <a:cs typeface="Calibri"/>
            </a:endParaRPr>
          </a:p>
          <a:p>
            <a:pPr>
              <a:lnSpc>
                <a:spcPct val="115000"/>
              </a:lnSpc>
              <a:spcBef>
                <a:spcPts val="400"/>
              </a:spcBef>
              <a:spcAft>
                <a:spcPts val="800"/>
              </a:spcAft>
            </a:pPr>
            <a:r>
              <a:rPr lang="en-AU" sz="1600" b="1" dirty="0" smtClean="0">
                <a:effectLst/>
                <a:latin typeface="Helvetica" pitchFamily="34" charset="0"/>
                <a:ea typeface="Calibri"/>
                <a:cs typeface="Calibri"/>
              </a:rPr>
              <a:t>Note</a:t>
            </a:r>
            <a:r>
              <a:rPr lang="en-AU" sz="1600" b="1" baseline="0" dirty="0" smtClean="0">
                <a:effectLst/>
                <a:latin typeface="Helvetica" pitchFamily="34" charset="0"/>
                <a:ea typeface="Calibri"/>
                <a:cs typeface="Calibri"/>
              </a:rPr>
              <a:t> to trainer: </a:t>
            </a:r>
            <a:r>
              <a:rPr lang="en-AU" sz="1600" dirty="0" smtClean="0">
                <a:effectLst/>
                <a:latin typeface="Helvetica" pitchFamily="34" charset="0"/>
                <a:ea typeface="Calibri"/>
                <a:cs typeface="Calibri"/>
              </a:rPr>
              <a:t>Since 2008 paper tickets were finally phased out and replaced with electronic ticketing, so this process is now much simpler. All ticket transactions are now reported through the agent GDS to the Data Processing Centre and V-MPDs can be issued.</a:t>
            </a:r>
            <a:endParaRPr lang="en-AU" sz="1600" dirty="0" smtClean="0">
              <a:effectLst/>
              <a:latin typeface="Helvetica" pitchFamily="34" charset="0"/>
              <a:ea typeface="Times New Roman"/>
              <a:cs typeface="Times New Roman"/>
            </a:endParaRPr>
          </a:p>
          <a:p>
            <a:pPr marL="935990" indent="-935990">
              <a:lnSpc>
                <a:spcPct val="120000"/>
              </a:lnSpc>
              <a:spcBef>
                <a:spcPts val="600"/>
              </a:spcBef>
              <a:spcAft>
                <a:spcPts val="600"/>
              </a:spcAft>
            </a:pPr>
            <a:r>
              <a:rPr lang="en-AU" sz="1600" b="1" dirty="0" smtClean="0">
                <a:solidFill>
                  <a:srgbClr val="45545F"/>
                </a:solidFill>
                <a:effectLst/>
                <a:latin typeface="Helvetica" pitchFamily="34" charset="0"/>
                <a:ea typeface="Times New Roman"/>
                <a:cs typeface="Times New Roman"/>
              </a:rPr>
              <a:t>Miscellaneous charge orders (MCO</a:t>
            </a:r>
          </a:p>
          <a:p>
            <a:pPr marL="935990" indent="-935990">
              <a:lnSpc>
                <a:spcPct val="120000"/>
              </a:lnSpc>
            </a:pPr>
            <a:r>
              <a:rPr lang="en-AU" sz="1600" dirty="0" smtClean="0">
                <a:effectLst/>
                <a:latin typeface="Helvetica" pitchFamily="34" charset="0"/>
                <a:ea typeface="Calibri"/>
                <a:cs typeface="Calibri"/>
              </a:rPr>
              <a:t>Miscellaneous charge orders (MCO) have now been replaced with a virtual MPD </a:t>
            </a:r>
          </a:p>
          <a:p>
            <a:pPr>
              <a:spcBef>
                <a:spcPts val="400"/>
              </a:spcBef>
              <a:spcAft>
                <a:spcPts val="800"/>
              </a:spcAft>
            </a:pPr>
            <a:r>
              <a:rPr lang="en-AU" sz="1600" dirty="0" smtClean="0">
                <a:effectLst/>
                <a:latin typeface="Helvetica" pitchFamily="34" charset="0"/>
                <a:ea typeface="Calibri"/>
                <a:cs typeface="Calibri"/>
              </a:rPr>
              <a:t>A </a:t>
            </a:r>
            <a:r>
              <a:rPr lang="en-AU" sz="1600" b="1" dirty="0" smtClean="0">
                <a:effectLst/>
                <a:latin typeface="Helvetica" pitchFamily="34" charset="0"/>
                <a:ea typeface="Calibri"/>
                <a:cs typeface="Calibri"/>
              </a:rPr>
              <a:t>multi-purpose document</a:t>
            </a:r>
            <a:r>
              <a:rPr lang="en-AU" sz="1600" dirty="0" smtClean="0">
                <a:effectLst/>
                <a:latin typeface="Helvetica" pitchFamily="34" charset="0"/>
                <a:ea typeface="Calibri"/>
                <a:cs typeface="Calibri"/>
              </a:rPr>
              <a:t> (MPD) is used by the agent to make payment to airlines for non-air services such as excess baggage, ground transportation and accommodation. The document is now called a Virtual MPD (abbreviated to V-MPD) which is issued by the agent</a:t>
            </a:r>
            <a:endParaRPr lang="en-AU" sz="1600" i="0" kern="1200" dirty="0" smtClean="0">
              <a:solidFill>
                <a:schemeClr val="tx1"/>
              </a:solidFill>
              <a:latin typeface="Helvetica" pitchFamily="34" charset="0"/>
            </a:endParaRPr>
          </a:p>
          <a:p>
            <a:endParaRPr lang="en-AU" sz="1600" i="0" kern="1200" dirty="0" smtClean="0">
              <a:solidFill>
                <a:schemeClr val="tx1"/>
              </a:solidFill>
              <a:latin typeface="Helvetica" pitchFamily="34" charset="0"/>
            </a:endParaRPr>
          </a:p>
          <a:p>
            <a:r>
              <a:rPr lang="en-AU" sz="1600" b="1" i="0" kern="1200" dirty="0" smtClean="0">
                <a:solidFill>
                  <a:schemeClr val="tx1"/>
                </a:solidFill>
                <a:latin typeface="Helvetica" pitchFamily="34" charset="0"/>
              </a:rPr>
              <a:t>Group</a:t>
            </a:r>
            <a:r>
              <a:rPr lang="en-AU" sz="1600" b="1" i="0" kern="1200" baseline="0" dirty="0" smtClean="0">
                <a:solidFill>
                  <a:schemeClr val="tx1"/>
                </a:solidFill>
                <a:latin typeface="Helvetica" pitchFamily="34" charset="0"/>
              </a:rPr>
              <a:t> Activity – continues from previous slide</a:t>
            </a:r>
            <a:endParaRPr lang="en-AU" sz="1600" i="0" kern="1200" baseline="0" dirty="0" smtClean="0">
              <a:solidFill>
                <a:schemeClr val="tx1"/>
              </a:solidFill>
              <a:latin typeface="Helvetica" pitchFamily="34" charset="0"/>
            </a:endParaRPr>
          </a:p>
          <a:p>
            <a:pPr marL="171450" indent="-171450">
              <a:buFont typeface="Arial" panose="020B0604020202020204" pitchFamily="34" charset="0"/>
              <a:buChar char="•"/>
            </a:pPr>
            <a:r>
              <a:rPr lang="en-AU" sz="1600" i="0" kern="1200" baseline="0" dirty="0" smtClean="0">
                <a:solidFill>
                  <a:schemeClr val="tx1"/>
                </a:solidFill>
                <a:latin typeface="Helvetica" pitchFamily="34" charset="0"/>
              </a:rPr>
              <a:t>Identify one airline and discuss one of the following items based on that airline- present your findings once you have completed</a:t>
            </a:r>
          </a:p>
          <a:p>
            <a:pPr marL="628650" lvl="1" indent="-171450">
              <a:buFont typeface="Arial" panose="020B0604020202020204" pitchFamily="34" charset="0"/>
              <a:buChar char="•"/>
            </a:pPr>
            <a:r>
              <a:rPr lang="en-AU" sz="1600" i="0" kern="1200" dirty="0" smtClean="0">
                <a:solidFill>
                  <a:schemeClr val="tx1"/>
                </a:solidFill>
                <a:latin typeface="Helvetica" pitchFamily="34" charset="0"/>
              </a:rPr>
              <a:t>Obtaining fare quote</a:t>
            </a:r>
          </a:p>
          <a:p>
            <a:pPr marL="628650" lvl="1" indent="-171450">
              <a:buFont typeface="Arial" panose="020B0604020202020204" pitchFamily="34" charset="0"/>
              <a:buChar char="•"/>
            </a:pPr>
            <a:r>
              <a:rPr lang="en-AU" sz="1600" i="0" kern="1200" dirty="0" smtClean="0">
                <a:solidFill>
                  <a:schemeClr val="tx1"/>
                </a:solidFill>
                <a:latin typeface="Helvetica" pitchFamily="34" charset="0"/>
              </a:rPr>
              <a:t>Applying service charge</a:t>
            </a:r>
          </a:p>
          <a:p>
            <a:pPr marL="628650" lvl="1" indent="-171450">
              <a:buFont typeface="Arial" panose="020B0604020202020204" pitchFamily="34" charset="0"/>
              <a:buChar char="•"/>
            </a:pPr>
            <a:r>
              <a:rPr lang="en-AU" sz="1600" i="0" kern="1200" dirty="0" smtClean="0">
                <a:solidFill>
                  <a:schemeClr val="tx1"/>
                </a:solidFill>
                <a:latin typeface="Helvetica" pitchFamily="34" charset="0"/>
              </a:rPr>
              <a:t>Raising Miscellaneous Charge Order (MCO).</a:t>
            </a:r>
          </a:p>
          <a:p>
            <a:endParaRPr lang="en-AU" sz="1200" i="0" kern="1200" dirty="0" smtClean="0">
              <a:solidFill>
                <a:schemeClr val="tx1"/>
              </a:solidFill>
              <a:latin typeface="+mn-lt"/>
              <a:ea typeface="+mn-ea"/>
              <a:cs typeface="+mn-cs"/>
            </a:endParaRPr>
          </a:p>
          <a:p>
            <a:endParaRPr lang="en-AU" sz="1200" i="0" kern="1200" dirty="0" smtClean="0">
              <a:solidFill>
                <a:schemeClr val="tx1"/>
              </a:solidFill>
              <a:latin typeface="+mn-lt"/>
              <a:ea typeface="+mn-ea"/>
              <a:cs typeface="+mn-cs"/>
            </a:endParaRPr>
          </a:p>
          <a:p>
            <a:endParaRPr lang="en-US" i="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3902080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4.4</a:t>
            </a:r>
          </a:p>
          <a:p>
            <a:pPr marL="457200" lvl="0" indent="-457200">
              <a:buFont typeface="Arial" panose="020B0604020202020204" pitchFamily="34" charset="0"/>
              <a:buChar char="•"/>
            </a:pPr>
            <a:r>
              <a:rPr lang="en-AU" sz="1100" dirty="0" smtClean="0">
                <a:latin typeface="Helvetica" pitchFamily="34" charset="0"/>
              </a:rPr>
              <a:t>Issuing an PTA</a:t>
            </a:r>
          </a:p>
          <a:p>
            <a:pPr marL="457200" lvl="0" indent="-457200">
              <a:buFont typeface="Arial" panose="020B0604020202020204" pitchFamily="34" charset="0"/>
              <a:buChar char="•"/>
            </a:pPr>
            <a:r>
              <a:rPr lang="en-AU" sz="1100" dirty="0" smtClean="0">
                <a:latin typeface="Helvetica" pitchFamily="34" charset="0"/>
              </a:rPr>
              <a:t>Accredited and non accredited enterprises</a:t>
            </a:r>
          </a:p>
          <a:p>
            <a:pPr marL="457200" lvl="0" indent="-457200">
              <a:buFont typeface="Arial" panose="020B0604020202020204" pitchFamily="34" charset="0"/>
              <a:buChar char="•"/>
            </a:pPr>
            <a:r>
              <a:rPr lang="en-AU" sz="1100" dirty="0" smtClean="0">
                <a:latin typeface="Helvetica" pitchFamily="34" charset="0"/>
              </a:rPr>
              <a:t>Issuing tickets.</a:t>
            </a:r>
          </a:p>
          <a:p>
            <a:pPr marL="457200" lvl="0" indent="-457200">
              <a:buFont typeface="Arial" panose="020B0604020202020204" pitchFamily="34" charset="0"/>
              <a:buChar char="•"/>
            </a:pPr>
            <a:endParaRPr lang="en-AU" sz="11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Group Discussion</a:t>
            </a:r>
            <a:endParaRPr lang="en-US" sz="1100" b="0" baseline="0" dirty="0" smtClean="0">
              <a:latin typeface="Helvetica"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baseline="0" dirty="0" smtClean="0">
                <a:latin typeface="Helvetica" pitchFamily="34" charset="0"/>
              </a:rPr>
              <a:t>Identify and Discuss Accredited and non accredited enterprises.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6596594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4.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defTabSz="946404">
              <a:buFont typeface="Arial" pitchFamily="34" charset="0"/>
              <a:buChar char="•"/>
              <a:defRPr/>
            </a:pPr>
            <a:r>
              <a:rPr lang="en-AU" sz="1200" dirty="0" smtClean="0">
                <a:solidFill>
                  <a:prstClr val="black"/>
                </a:solidFill>
              </a:rPr>
              <a:t>Review the Summary page for Element 4  to confirm with learners what has been completed for this Element.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5.</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Construct round-the-world and round trip itineraries </a:t>
            </a:r>
            <a:r>
              <a:rPr lang="en-US" sz="1100" b="0" baseline="0" dirty="0" smtClean="0">
                <a:latin typeface="Helvetica" pitchFamily="34" charset="0"/>
              </a:rPr>
              <a:t>the students must be able to:</a:t>
            </a:r>
            <a:endParaRPr lang="en-US" sz="1100" b="0" i="0" baseline="0" dirty="0" smtClean="0">
              <a:latin typeface="Helvetica" pitchFamily="34" charset="0"/>
            </a:endParaRP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Identify and confirm needs and preferences of client.</a:t>
            </a:r>
          </a:p>
          <a:p>
            <a:endParaRPr lang="en-AU" sz="120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1696985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dirty="0" smtClean="0">
                <a:latin typeface="Helvetica" pitchFamily="34" charset="0"/>
              </a:rPr>
              <a:t>Trainer to note that many PCs</a:t>
            </a:r>
            <a:r>
              <a:rPr lang="en-US" sz="1100" b="0" baseline="0" dirty="0" smtClean="0">
                <a:latin typeface="Helvetica" pitchFamily="34" charset="0"/>
              </a:rPr>
              <a:t> from this element are repeated and are covered in previous slides. Trainer to decide relevance of repeating or revisiting these slides based on training needs.</a:t>
            </a:r>
            <a:endParaRPr lang="en-US" sz="11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5.3,6.4</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Discuss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Take time to explain each of the listed points.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The following website has an interactive map that may be useful for activities. </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http://www.timeanddate.com/time/map/</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1100" b="0" i="0" u="none" strike="noStrike" kern="1200" cap="none" spc="0" normalizeH="0" baseline="0" noProof="0" dirty="0" smtClean="0">
              <a:ln>
                <a:noFill/>
              </a:ln>
              <a:solidFill>
                <a:prstClr val="black"/>
              </a:solidFill>
              <a:effectLst/>
              <a:uLnTx/>
              <a:uFillTx/>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 </a:t>
            </a:r>
            <a:r>
              <a:rPr kumimoji="0" lang="en-US" sz="1100" b="1" i="0" u="none" strike="noStrike" kern="1200" cap="none" spc="0" normalizeH="0" baseline="0" noProof="0" dirty="0" smtClean="0">
                <a:ln>
                  <a:noFill/>
                </a:ln>
                <a:solidFill>
                  <a:prstClr val="black"/>
                </a:solidFill>
                <a:effectLst/>
                <a:uLnTx/>
                <a:uFillTx/>
                <a:latin typeface="Helvetica" pitchFamily="34" charset="0"/>
              </a:rPr>
              <a:t>Activity – 24 hour clock</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Conduct a quick quiz for converting clock times.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17.30, 0030, 19.50, 2100, 1545, 2025, 1615, 1400, 2340, 1310, 0500, 0915 Now convert 9.30pm, 825am, midday, midnight, 11pm, 5.55am, 7.20pm</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If conducted in quiz fashion with a time limit and quick pace this can be a funny exercise. Aim to go around the class 2-3 times depending on group size.</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1100" b="0" i="0" u="none" strike="noStrike" kern="1200" cap="none" spc="0" normalizeH="0" baseline="0" noProof="0" dirty="0" smtClean="0">
              <a:ln>
                <a:noFill/>
              </a:ln>
              <a:solidFill>
                <a:prstClr val="black"/>
              </a:solidFill>
              <a:effectLst/>
              <a:uLnTx/>
              <a:uFillTx/>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1" i="0" u="none" strike="noStrike" kern="1200" cap="none" spc="0" normalizeH="0" baseline="0" noProof="0" dirty="0" smtClean="0">
                <a:ln>
                  <a:noFill/>
                </a:ln>
                <a:solidFill>
                  <a:prstClr val="black"/>
                </a:solidFill>
                <a:effectLst/>
                <a:uLnTx/>
                <a:uFillTx/>
                <a:latin typeface="Helvetica" pitchFamily="34" charset="0"/>
              </a:rPr>
              <a:t>Activity - 24 hour time zones.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1" i="0" u="none" strike="noStrike" kern="1200" cap="none" spc="0" normalizeH="0" baseline="0" noProof="0" dirty="0" smtClean="0">
                <a:ln>
                  <a:noFill/>
                </a:ln>
                <a:solidFill>
                  <a:prstClr val="black"/>
                </a:solidFill>
                <a:effectLst/>
                <a:uLnTx/>
                <a:uFillTx/>
                <a:latin typeface="Helvetica" pitchFamily="34" charset="0"/>
              </a:rPr>
              <a:t>Calculate the following city times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7pm in Jakarta what time is it in New York</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2pm in Phnom Penh what time is it in Auckland and Manila</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11pm in Vientiane what time is it in London</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Midnight in KL what time is it in Bombay</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100" b="0" i="0" u="none" strike="noStrike" kern="1200" cap="none" spc="0" normalizeH="0" baseline="0" noProof="0" dirty="0" smtClean="0">
                <a:ln>
                  <a:noFill/>
                </a:ln>
                <a:solidFill>
                  <a:prstClr val="black"/>
                </a:solidFill>
                <a:effectLst/>
                <a:uLnTx/>
                <a:uFillTx/>
                <a:latin typeface="Helvetica" pitchFamily="34" charset="0"/>
              </a:rPr>
              <a:t>5am in Bandar Seri Begawan what time is it in Toronto and Bangkok</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4060118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935990" indent="-935990">
              <a:spcBef>
                <a:spcPts val="1200"/>
              </a:spcBef>
              <a:spcAft>
                <a:spcPts val="1200"/>
              </a:spcAft>
            </a:pPr>
            <a:r>
              <a:rPr lang="en-AU" sz="1400" b="1" dirty="0" smtClean="0">
                <a:solidFill>
                  <a:srgbClr val="45545F"/>
                </a:solidFill>
                <a:effectLst/>
                <a:latin typeface="Helvetica"/>
                <a:ea typeface="Times New Roman"/>
                <a:cs typeface="Times New Roman"/>
              </a:rPr>
              <a:t>Time Zones</a:t>
            </a:r>
          </a:p>
          <a:p>
            <a:pPr>
              <a:spcBef>
                <a:spcPts val="400"/>
              </a:spcBef>
              <a:spcAft>
                <a:spcPts val="800"/>
              </a:spcAft>
            </a:pPr>
            <a:r>
              <a:rPr lang="en-AU" sz="1100" dirty="0" smtClean="0">
                <a:effectLst/>
                <a:latin typeface="Helvetica"/>
                <a:ea typeface="Calibri"/>
                <a:cs typeface="Calibri"/>
              </a:rPr>
              <a:t>The Greenwich Meridian, also known as the prime meridian or International Meridian, is the "starting point" for dividing the Earth's surface into time zones. Each time zone is 15 degrees of longitude wide (with local variations) and the local time is one hour earlier than the zone immediately to the east on the map</a:t>
            </a:r>
          </a:p>
          <a:p>
            <a:pPr>
              <a:spcBef>
                <a:spcPts val="400"/>
              </a:spcBef>
              <a:spcAft>
                <a:spcPts val="800"/>
              </a:spcAft>
            </a:pPr>
            <a:r>
              <a:rPr lang="en-AU" sz="1100" dirty="0" smtClean="0">
                <a:effectLst/>
                <a:latin typeface="Helvetica"/>
                <a:ea typeface="Calibri"/>
                <a:cs typeface="Calibri"/>
              </a:rPr>
              <a:t>The number of standard time zones is debatable and discussed among various sources, particularly with regards to the </a:t>
            </a:r>
            <a:r>
              <a:rPr lang="en-AU" sz="1100" u="none" strike="noStrike" dirty="0" smtClean="0">
                <a:solidFill>
                  <a:srgbClr val="0000FF"/>
                </a:solidFill>
                <a:effectLst/>
                <a:latin typeface="Helvetica"/>
                <a:ea typeface="Calibri"/>
                <a:cs typeface="Calibri"/>
                <a:hlinkClick r:id="rId3"/>
              </a:rPr>
              <a:t>International Date Line</a:t>
            </a:r>
            <a:r>
              <a:rPr lang="en-AU" sz="1100" dirty="0" smtClean="0">
                <a:effectLst/>
                <a:latin typeface="Helvetica"/>
                <a:ea typeface="Calibri"/>
                <a:cs typeface="Calibri"/>
              </a:rPr>
              <a:t>.</a:t>
            </a:r>
          </a:p>
          <a:p>
            <a:pPr>
              <a:spcBef>
                <a:spcPts val="400"/>
              </a:spcBef>
              <a:spcAft>
                <a:spcPts val="800"/>
              </a:spcAft>
            </a:pPr>
            <a:r>
              <a:rPr lang="en-AU" sz="1050" dirty="0" smtClean="0">
                <a:solidFill>
                  <a:srgbClr val="454545"/>
                </a:solidFill>
                <a:effectLst/>
                <a:latin typeface="Helvetica"/>
                <a:ea typeface="Times New Roman"/>
                <a:cs typeface="Arial"/>
              </a:rPr>
              <a:t>Reference: </a:t>
            </a:r>
            <a:r>
              <a:rPr lang="en-AU" sz="1050" u="sng" dirty="0" smtClean="0">
                <a:solidFill>
                  <a:srgbClr val="0000FF"/>
                </a:solidFill>
                <a:effectLst/>
                <a:latin typeface="Helvetica"/>
                <a:ea typeface="Times New Roman"/>
                <a:cs typeface="Arial"/>
                <a:hlinkClick r:id="rId4"/>
              </a:rPr>
              <a:t>http://www.timeanddate.com/time/time-zones.html</a:t>
            </a:r>
            <a:r>
              <a:rPr lang="en-AU" sz="1050" dirty="0" smtClean="0">
                <a:solidFill>
                  <a:srgbClr val="454545"/>
                </a:solidFill>
                <a:effectLst/>
                <a:latin typeface="Helvetica"/>
                <a:ea typeface="Times New Roman"/>
                <a:cs typeface="Arial"/>
              </a:rPr>
              <a:t>. </a:t>
            </a:r>
            <a:r>
              <a:rPr lang="en-AU" sz="1100" dirty="0" smtClean="0">
                <a:effectLst/>
                <a:latin typeface="Helvetica"/>
                <a:ea typeface="Calibri"/>
                <a:cs typeface="Calibri"/>
              </a:rPr>
              <a:t>This website has a great deal of useful information and is worth exploring.</a:t>
            </a:r>
          </a:p>
          <a:p>
            <a:pPr>
              <a:spcBef>
                <a:spcPts val="400"/>
              </a:spcBef>
              <a:spcAft>
                <a:spcPts val="800"/>
              </a:spcAft>
            </a:pPr>
            <a:r>
              <a:rPr lang="en-AU" sz="1100" dirty="0" smtClean="0">
                <a:effectLst/>
                <a:latin typeface="Helvetica"/>
                <a:ea typeface="Calibri"/>
                <a:cs typeface="Calibri"/>
              </a:rPr>
              <a:t>A basic explanation is that time zones to the west of UTC are behind UTC and times to the east of UTC are ahead of UTC.</a:t>
            </a:r>
          </a:p>
          <a:p>
            <a:pPr>
              <a:spcBef>
                <a:spcPts val="400"/>
              </a:spcBef>
              <a:spcAft>
                <a:spcPts val="800"/>
              </a:spcAft>
            </a:pPr>
            <a:r>
              <a:rPr lang="en-AU" sz="1100" dirty="0" smtClean="0">
                <a:effectLst/>
                <a:latin typeface="Helvetica"/>
                <a:ea typeface="Calibri"/>
                <a:cs typeface="Calibri"/>
              </a:rPr>
              <a:t>E.g. If the time is 1200 noon in London (as Greenwich coincides with the position of London) it will be morning in the USA.</a:t>
            </a:r>
          </a:p>
          <a:p>
            <a:pPr>
              <a:spcBef>
                <a:spcPts val="400"/>
              </a:spcBef>
              <a:spcAft>
                <a:spcPts val="800"/>
              </a:spcAft>
            </a:pPr>
            <a:r>
              <a:rPr lang="en-AU" sz="1100" dirty="0" smtClean="0">
                <a:effectLst/>
                <a:latin typeface="Helvetica"/>
                <a:ea typeface="Calibri"/>
                <a:cs typeface="Calibri"/>
              </a:rPr>
              <a:t>If the time is noon in London, then it will be the afternoon in parts of Asia.</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0" baseline="0" dirty="0" smtClean="0">
                <a:latin typeface="Helvetica" pitchFamily="34" charset="0"/>
              </a:rPr>
              <a:t>Access the website and continue discussion on time zones.</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14060118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5.3,6.4</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935990" indent="-935990">
              <a:spcBef>
                <a:spcPts val="1200"/>
              </a:spcBef>
              <a:spcAft>
                <a:spcPts val="1200"/>
              </a:spcAft>
            </a:pPr>
            <a:r>
              <a:rPr lang="en-AU" sz="1400" b="1" dirty="0" smtClean="0">
                <a:solidFill>
                  <a:srgbClr val="45545F"/>
                </a:solidFill>
                <a:effectLst/>
                <a:latin typeface="Helvetica"/>
                <a:ea typeface="Times New Roman"/>
                <a:cs typeface="Times New Roman"/>
              </a:rPr>
              <a:t>Departure and arrival times</a:t>
            </a:r>
          </a:p>
          <a:p>
            <a:pPr>
              <a:spcBef>
                <a:spcPts val="400"/>
              </a:spcBef>
              <a:spcAft>
                <a:spcPts val="800"/>
              </a:spcAft>
            </a:pPr>
            <a:r>
              <a:rPr lang="en-AU" sz="1100" dirty="0" smtClean="0">
                <a:effectLst/>
                <a:latin typeface="Helvetica"/>
                <a:ea typeface="Calibri"/>
                <a:cs typeface="Calibri"/>
              </a:rPr>
              <a:t>Airline timetables will always be stated in local time for arrival and departure; therefore you will need to consult the CRS to confirm the duration of the flight, or the timetable if it details that information. Never estimate the flight duration from the arrival and departure times as you must take into account the times zones the flight may cross. Times must be converted back to UTC/GMT time before flight durations can be calculated.</a:t>
            </a:r>
          </a:p>
          <a:p>
            <a:pPr marL="935990" indent="-935990">
              <a:spcBef>
                <a:spcPts val="1200"/>
              </a:spcBef>
              <a:spcAft>
                <a:spcPts val="1200"/>
              </a:spcAft>
            </a:pPr>
            <a:r>
              <a:rPr lang="en-AU" sz="1400" b="1" dirty="0" smtClean="0">
                <a:solidFill>
                  <a:srgbClr val="45545F"/>
                </a:solidFill>
                <a:effectLst/>
                <a:latin typeface="Helvetica"/>
                <a:ea typeface="Times New Roman"/>
                <a:cs typeface="Times New Roman"/>
              </a:rPr>
              <a:t>Minimum connecting time between flights</a:t>
            </a:r>
          </a:p>
          <a:p>
            <a:pPr>
              <a:spcBef>
                <a:spcPts val="400"/>
              </a:spcBef>
              <a:spcAft>
                <a:spcPts val="800"/>
              </a:spcAft>
            </a:pPr>
            <a:r>
              <a:rPr lang="en-AU" sz="1100" dirty="0" smtClean="0">
                <a:effectLst/>
                <a:latin typeface="Helvetica"/>
                <a:ea typeface="Calibri"/>
                <a:cs typeface="Calibri"/>
              </a:rPr>
              <a:t>Minimum connecting time is the minimum time you must allow for a passenger to complete a transfer from one flight to another. This time will vary depending if the client needs to change carriers, terminals or even airports. You will learn in your CRS training how to confirm the minimum time allowance and what requirements there are</a:t>
            </a:r>
            <a:r>
              <a:rPr lang="en-AU" sz="1100" dirty="0" smtClean="0">
                <a:effectLst/>
                <a:latin typeface="HelveticaNeueLTStd-Lt"/>
                <a:ea typeface="Calibri"/>
                <a:cs typeface="HelveticaNeueLTStd-Lt"/>
              </a:rPr>
              <a:t>. </a:t>
            </a:r>
            <a:r>
              <a:rPr lang="en-AU" sz="1100" b="1" dirty="0" smtClean="0">
                <a:effectLst/>
                <a:latin typeface="Helvetica"/>
                <a:ea typeface="Calibri"/>
                <a:cs typeface="Calibri"/>
              </a:rPr>
              <a:t>It is your responsibility to ensure that your passenger has sufficient connecting time between their flights.</a:t>
            </a:r>
            <a:endParaRPr lang="en-AU" sz="1100" dirty="0" smtClean="0">
              <a:effectLst/>
              <a:latin typeface="Helvetica"/>
              <a:ea typeface="Calibri"/>
              <a:cs typeface="Calibri"/>
            </a:endParaRPr>
          </a:p>
          <a:p>
            <a:pPr marL="935990" indent="-935990">
              <a:lnSpc>
                <a:spcPct val="115000"/>
              </a:lnSpc>
              <a:spcBef>
                <a:spcPts val="1200"/>
              </a:spcBef>
              <a:spcAft>
                <a:spcPts val="1200"/>
              </a:spcAft>
            </a:pPr>
            <a:r>
              <a:rPr lang="en-AU" sz="1400" b="1" dirty="0" smtClean="0">
                <a:solidFill>
                  <a:srgbClr val="45545F"/>
                </a:solidFill>
                <a:effectLst/>
                <a:latin typeface="Helvetica"/>
                <a:ea typeface="Times New Roman"/>
                <a:cs typeface="Times New Roman"/>
              </a:rPr>
              <a:t>Airports</a:t>
            </a:r>
            <a:endParaRPr lang="en-AU" sz="1100" dirty="0" smtClean="0">
              <a:effectLst/>
              <a:latin typeface="+mn-lt"/>
              <a:ea typeface="Times New Roman"/>
              <a:cs typeface="Times New Roman"/>
            </a:endParaRPr>
          </a:p>
          <a:p>
            <a:pPr>
              <a:lnSpc>
                <a:spcPct val="115000"/>
              </a:lnSpc>
              <a:spcBef>
                <a:spcPts val="400"/>
              </a:spcBef>
              <a:spcAft>
                <a:spcPts val="800"/>
              </a:spcAft>
            </a:pPr>
            <a:r>
              <a:rPr lang="en-AU" sz="1100" dirty="0" smtClean="0">
                <a:effectLst/>
                <a:latin typeface="Helvetica"/>
                <a:ea typeface="Calibri"/>
                <a:cs typeface="Calibri"/>
              </a:rPr>
              <a:t>Airlines operate flights from various airports and terminals. Some airports have all their terminals (domestic and international) in the same location. In some cities there may be various airline specific terminals within an airport precinct. For example in Malaysia there are two airports utilising three terminals.</a:t>
            </a:r>
            <a:endParaRPr lang="en-AU" sz="1100" dirty="0" smtClean="0">
              <a:effectLst/>
              <a:latin typeface="+mn-lt"/>
              <a:ea typeface="Times New Roman"/>
              <a:cs typeface="Times New Roman"/>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14060118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5.3,6.4</a:t>
            </a:r>
          </a:p>
          <a:p>
            <a:r>
              <a:rPr lang="en-AU" dirty="0" smtClean="0"/>
              <a:t>Discuss the following points referring to TM notes. Share relevant experience.</a:t>
            </a:r>
          </a:p>
          <a:p>
            <a:r>
              <a:rPr lang="en-AU" dirty="0" smtClean="0"/>
              <a:t>Check-in facilities</a:t>
            </a:r>
          </a:p>
          <a:p>
            <a:r>
              <a:rPr lang="en-AU" dirty="0" smtClean="0"/>
              <a:t>Counter check-in</a:t>
            </a:r>
          </a:p>
          <a:p>
            <a:r>
              <a:rPr lang="en-AU" dirty="0" smtClean="0"/>
              <a:t>Online check-in</a:t>
            </a:r>
          </a:p>
          <a:p>
            <a:r>
              <a:rPr lang="en-AU" dirty="0" smtClean="0"/>
              <a:t>Seat requests</a:t>
            </a:r>
          </a:p>
          <a:p>
            <a:r>
              <a:rPr lang="en-AU" dirty="0" smtClean="0"/>
              <a:t>Special Care Passengers</a:t>
            </a:r>
          </a:p>
          <a:p>
            <a:pPr lvl="1"/>
            <a:r>
              <a:rPr lang="en-AU" dirty="0" smtClean="0"/>
              <a:t>Infants/babies</a:t>
            </a:r>
          </a:p>
          <a:p>
            <a:pPr lvl="1"/>
            <a:r>
              <a:rPr lang="en-AU" dirty="0" smtClean="0"/>
              <a:t>Unaccompanied minors</a:t>
            </a:r>
          </a:p>
          <a:p>
            <a:pPr lvl="1"/>
            <a:r>
              <a:rPr lang="en-AU" dirty="0" smtClean="0"/>
              <a:t>Elderly or incapacitated passengers</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0" baseline="0" dirty="0" smtClean="0">
                <a:latin typeface="Helvetica" pitchFamily="34" charset="0"/>
              </a:rPr>
              <a:t>Ensure all learners are familiar with common universal abbreviations and frequently used industry abbreviations</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14060118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5.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defTabSz="946404">
              <a:buFont typeface="Arial" pitchFamily="34" charset="0"/>
              <a:buChar char="•"/>
              <a:defRPr/>
            </a:pPr>
            <a:r>
              <a:rPr lang="en-AU" sz="1200" dirty="0" smtClean="0">
                <a:solidFill>
                  <a:prstClr val="black"/>
                </a:solidFill>
              </a:rPr>
              <a:t>Review the Summary page for Element 5  to confirm with learners what has been completed for this Element.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6.</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Identify options that enable open jaw journeys </a:t>
            </a:r>
            <a:r>
              <a:rPr lang="en-US" sz="1100" b="0" baseline="0" dirty="0" smtClean="0">
                <a:latin typeface="Helvetica" pitchFamily="34" charset="0"/>
              </a:rPr>
              <a:t>the students must be able to:</a:t>
            </a:r>
            <a:endParaRPr lang="en-US" sz="1100" b="0" i="0" baseline="0" dirty="0" smtClean="0">
              <a:latin typeface="Helvetica" pitchFamily="34" charset="0"/>
            </a:endParaRP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Identify options that enable open jaw journeys.</a:t>
            </a:r>
            <a:endParaRPr lang="en-AU" sz="1100" i="0" kern="1200" dirty="0">
              <a:solidFill>
                <a:schemeClr val="tx1"/>
              </a:solidFill>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40087702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6.3</a:t>
            </a:r>
            <a:endParaRPr lang="en-AU" sz="1100" i="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Identify options that enable open jaw journeys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Considering double open jaw trips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Reading package limitations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Verifying acceptable destinations, en route destinations and countries, including limitations on intra-country and inter-country applications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Conformity with airline and airfare rules, including understanding of the limitations imposed by these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Identifying minimum stay provisions, where applicable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Identifying relative distances involved, where applicable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Catering for circle trips, where necessary. </a:t>
            </a:r>
          </a:p>
          <a:p>
            <a:endParaRPr lang="en-AU" sz="1200" i="0" kern="1200" dirty="0" smtClean="0">
              <a:solidFill>
                <a:schemeClr val="tx1"/>
              </a:solidFill>
              <a:latin typeface="+mn-lt"/>
              <a:ea typeface="+mn-ea"/>
              <a:cs typeface="+mn-cs"/>
            </a:endParaRPr>
          </a:p>
          <a:p>
            <a:endParaRPr lang="en-AU" sz="1200" i="0" kern="1200" dirty="0" smtClean="0">
              <a:solidFill>
                <a:schemeClr val="tx1"/>
              </a:solidFill>
              <a:latin typeface="+mn-lt"/>
              <a:ea typeface="+mn-ea"/>
              <a:cs typeface="+mn-cs"/>
            </a:endParaRPr>
          </a:p>
          <a:p>
            <a:endParaRPr lang="en-AU" sz="1200" i="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2670595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6.3</a:t>
            </a:r>
            <a:endParaRPr lang="en-AU" sz="1100" i="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Discuss examples of open jaw journeys as needed</a:t>
            </a:r>
          </a:p>
          <a:p>
            <a:endParaRPr lang="en-AU" sz="1100" i="0" kern="1200" dirty="0" smtClean="0">
              <a:solidFill>
                <a:schemeClr val="tx1"/>
              </a:solidFill>
              <a:latin typeface="Helvetica" pitchFamily="34" charset="0"/>
            </a:endParaRPr>
          </a:p>
          <a:p>
            <a:endParaRPr lang="en-AU" sz="1200" i="0" kern="1200" dirty="0" smtClean="0">
              <a:solidFill>
                <a:schemeClr val="tx1"/>
              </a:solidFill>
              <a:latin typeface="+mn-lt"/>
              <a:ea typeface="+mn-ea"/>
              <a:cs typeface="+mn-cs"/>
            </a:endParaRPr>
          </a:p>
          <a:p>
            <a:endParaRPr lang="en-AU" sz="1200" i="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22670595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6.3</a:t>
            </a:r>
            <a:endParaRPr lang="en-AU" sz="1100" i="0" kern="1200" dirty="0" smtClean="0">
              <a:solidFill>
                <a:schemeClr val="tx1"/>
              </a:solidFill>
              <a:latin typeface="Helvetica" pitchFamily="34" charset="0"/>
            </a:endParaRPr>
          </a:p>
          <a:p>
            <a:pPr>
              <a:spcBef>
                <a:spcPts val="400"/>
              </a:spcBef>
              <a:spcAft>
                <a:spcPts val="800"/>
              </a:spcAft>
            </a:pPr>
            <a:r>
              <a:rPr lang="en-AU" sz="1100" b="1" baseline="0" dirty="0" smtClean="0">
                <a:effectLst/>
                <a:latin typeface="Helvetica" pitchFamily="34" charset="0"/>
                <a:ea typeface="Calibri"/>
                <a:cs typeface="Calibri"/>
              </a:rPr>
              <a:t>Open Jaw itinerary and Journeys</a:t>
            </a:r>
          </a:p>
          <a:p>
            <a:pPr>
              <a:spcBef>
                <a:spcPts val="400"/>
              </a:spcBef>
              <a:spcAft>
                <a:spcPts val="800"/>
              </a:spcAft>
            </a:pPr>
            <a:r>
              <a:rPr lang="en-AU" sz="1100" baseline="0" dirty="0" smtClean="0">
                <a:effectLst/>
                <a:latin typeface="Helvetica" pitchFamily="34" charset="0"/>
                <a:ea typeface="Calibri"/>
                <a:cs typeface="Calibri"/>
              </a:rPr>
              <a:t>The flights in this itinerary are operated by Thai Airways, flying from Bangkok to Jakarta and returning from Denpasar to Bangkok.  The ‘ARNK’ between flights indicates that this sector has not been booked by the agent and means ‘Arrival Unknown’ (or own arrangements).  The ‘HS5’ indicates that five seats are being held.</a:t>
            </a:r>
          </a:p>
          <a:p>
            <a:pPr>
              <a:spcBef>
                <a:spcPts val="400"/>
              </a:spcBef>
              <a:spcAft>
                <a:spcPts val="800"/>
              </a:spcAft>
            </a:pPr>
            <a:r>
              <a:rPr lang="en-AU" sz="1100" baseline="0" dirty="0" smtClean="0">
                <a:effectLst/>
                <a:latin typeface="Helvetica" pitchFamily="34" charset="0"/>
                <a:ea typeface="Calibri"/>
                <a:cs typeface="Calibri"/>
              </a:rPr>
              <a:t>This </a:t>
            </a:r>
            <a:r>
              <a:rPr lang="en-AU" sz="1100" b="1" baseline="0" dirty="0" smtClean="0">
                <a:effectLst/>
                <a:latin typeface="Helvetica" pitchFamily="34" charset="0"/>
                <a:ea typeface="Calibri"/>
                <a:cs typeface="Calibri"/>
              </a:rPr>
              <a:t>return journey</a:t>
            </a:r>
            <a:r>
              <a:rPr lang="en-AU" sz="1100" baseline="0" dirty="0" smtClean="0">
                <a:effectLst/>
                <a:latin typeface="Helvetica" pitchFamily="34" charset="0"/>
                <a:ea typeface="Calibri"/>
                <a:cs typeface="Calibri"/>
              </a:rPr>
              <a:t> includes two </a:t>
            </a:r>
            <a:r>
              <a:rPr lang="en-AU" sz="1100" b="1" baseline="0" dirty="0" smtClean="0">
                <a:effectLst/>
                <a:latin typeface="Helvetica" pitchFamily="34" charset="0"/>
                <a:ea typeface="Calibri"/>
                <a:cs typeface="Calibri"/>
              </a:rPr>
              <a:t>components.</a:t>
            </a:r>
            <a:endParaRPr lang="en-AU" sz="1100" baseline="0" dirty="0" smtClean="0">
              <a:effectLst/>
              <a:latin typeface="Helvetica" pitchFamily="34" charset="0"/>
              <a:ea typeface="Calibri"/>
              <a:cs typeface="Calibri"/>
            </a:endParaRPr>
          </a:p>
          <a:p>
            <a:pPr>
              <a:spcBef>
                <a:spcPts val="400"/>
              </a:spcBef>
              <a:spcAft>
                <a:spcPts val="800"/>
              </a:spcAft>
            </a:pPr>
            <a:r>
              <a:rPr lang="en-AU" sz="1100" baseline="0" dirty="0" smtClean="0">
                <a:effectLst/>
                <a:latin typeface="Helvetica" pitchFamily="34" charset="0"/>
                <a:ea typeface="Calibri"/>
                <a:cs typeface="Calibri"/>
              </a:rPr>
              <a:t>The </a:t>
            </a:r>
            <a:r>
              <a:rPr lang="en-AU" sz="1100" b="1" baseline="0" dirty="0" smtClean="0">
                <a:effectLst/>
                <a:latin typeface="Helvetica" pitchFamily="34" charset="0"/>
                <a:ea typeface="Calibri"/>
                <a:cs typeface="Calibri"/>
              </a:rPr>
              <a:t>outbound component</a:t>
            </a:r>
            <a:r>
              <a:rPr lang="en-AU" sz="1100" baseline="0" dirty="0" smtClean="0">
                <a:effectLst/>
                <a:latin typeface="Helvetica" pitchFamily="34" charset="0"/>
                <a:ea typeface="Calibri"/>
                <a:cs typeface="Calibri"/>
              </a:rPr>
              <a:t> is a </a:t>
            </a:r>
            <a:r>
              <a:rPr lang="en-AU" sz="1100" b="1" baseline="0" dirty="0" smtClean="0">
                <a:effectLst/>
                <a:latin typeface="Helvetica" pitchFamily="34" charset="0"/>
                <a:ea typeface="Calibri"/>
                <a:cs typeface="Calibri"/>
              </a:rPr>
              <a:t>non-stop flight</a:t>
            </a:r>
            <a:r>
              <a:rPr lang="en-AU" sz="1100" baseline="0" dirty="0" smtClean="0">
                <a:effectLst/>
                <a:latin typeface="Helvetica" pitchFamily="34" charset="0"/>
                <a:ea typeface="Calibri"/>
                <a:cs typeface="Calibri"/>
              </a:rPr>
              <a:t> from Bangkok to Jakarta.</a:t>
            </a:r>
          </a:p>
          <a:p>
            <a:pPr>
              <a:spcBef>
                <a:spcPts val="400"/>
              </a:spcBef>
              <a:spcAft>
                <a:spcPts val="800"/>
              </a:spcAft>
            </a:pPr>
            <a:r>
              <a:rPr lang="en-AU" sz="1100" baseline="0" dirty="0" smtClean="0">
                <a:effectLst/>
                <a:latin typeface="Helvetica" pitchFamily="34" charset="0"/>
                <a:ea typeface="Calibri"/>
                <a:cs typeface="Calibri"/>
              </a:rPr>
              <a:t>The </a:t>
            </a:r>
            <a:r>
              <a:rPr lang="en-AU" sz="1100" b="1" baseline="0" dirty="0" smtClean="0">
                <a:effectLst/>
                <a:latin typeface="Helvetica" pitchFamily="34" charset="0"/>
                <a:ea typeface="Calibri"/>
                <a:cs typeface="Calibri"/>
              </a:rPr>
              <a:t>inbound component</a:t>
            </a:r>
            <a:r>
              <a:rPr lang="en-AU" sz="1100" baseline="0" dirty="0" smtClean="0">
                <a:effectLst/>
                <a:latin typeface="Helvetica" pitchFamily="34" charset="0"/>
                <a:ea typeface="Calibri"/>
                <a:cs typeface="Calibri"/>
              </a:rPr>
              <a:t> is a </a:t>
            </a:r>
            <a:r>
              <a:rPr lang="en-AU" sz="1100" b="1" baseline="0" dirty="0" smtClean="0">
                <a:effectLst/>
                <a:latin typeface="Helvetica" pitchFamily="34" charset="0"/>
                <a:ea typeface="Calibri"/>
                <a:cs typeface="Calibri"/>
              </a:rPr>
              <a:t>non-stop flight</a:t>
            </a:r>
            <a:r>
              <a:rPr lang="en-AU" sz="1100" baseline="0" dirty="0" smtClean="0">
                <a:effectLst/>
                <a:latin typeface="Helvetica" pitchFamily="34" charset="0"/>
                <a:ea typeface="Calibri"/>
                <a:cs typeface="Calibri"/>
              </a:rPr>
              <a:t> from Denpasar to Bangkok.</a:t>
            </a:r>
          </a:p>
          <a:p>
            <a:pPr>
              <a:spcBef>
                <a:spcPts val="400"/>
              </a:spcBef>
              <a:spcAft>
                <a:spcPts val="800"/>
              </a:spcAft>
            </a:pPr>
            <a:r>
              <a:rPr lang="en-AU" sz="1100" baseline="0" dirty="0" smtClean="0">
                <a:effectLst/>
                <a:latin typeface="Helvetica" pitchFamily="34" charset="0"/>
                <a:ea typeface="Calibri"/>
                <a:cs typeface="Calibri"/>
              </a:rPr>
              <a:t>Jakarta to Denpasar is a </a:t>
            </a:r>
            <a:r>
              <a:rPr lang="en-AU" sz="1100" b="1" baseline="0" dirty="0" smtClean="0">
                <a:effectLst/>
                <a:latin typeface="Helvetica" pitchFamily="34" charset="0"/>
                <a:ea typeface="Calibri"/>
                <a:cs typeface="Calibri"/>
              </a:rPr>
              <a:t>surface sector.</a:t>
            </a:r>
            <a:endParaRPr lang="en-AU" sz="1100" baseline="0" dirty="0" smtClean="0">
              <a:effectLst/>
              <a:latin typeface="Helvetica" pitchFamily="34" charset="0"/>
              <a:ea typeface="Calibri"/>
              <a:cs typeface="Calibri"/>
            </a:endParaRPr>
          </a:p>
          <a:p>
            <a:pPr>
              <a:spcBef>
                <a:spcPts val="400"/>
              </a:spcBef>
              <a:spcAft>
                <a:spcPts val="800"/>
              </a:spcAft>
            </a:pPr>
            <a:r>
              <a:rPr lang="en-AU" sz="1100" b="1" baseline="0" dirty="0" smtClean="0">
                <a:effectLst/>
                <a:latin typeface="Helvetica" pitchFamily="34" charset="0"/>
                <a:ea typeface="Calibri"/>
                <a:cs typeface="Calibri"/>
              </a:rPr>
              <a:t>Codeshare flights </a:t>
            </a:r>
          </a:p>
          <a:p>
            <a:pPr>
              <a:spcBef>
                <a:spcPts val="400"/>
              </a:spcBef>
              <a:spcAft>
                <a:spcPts val="800"/>
              </a:spcAft>
            </a:pPr>
            <a:r>
              <a:rPr lang="en-AU" sz="1100" baseline="0" dirty="0" smtClean="0">
                <a:effectLst/>
                <a:latin typeface="Helvetica" pitchFamily="34" charset="0"/>
                <a:ea typeface="Calibri"/>
                <a:cs typeface="Calibri"/>
              </a:rPr>
              <a:t>This itinerary contains </a:t>
            </a:r>
            <a:r>
              <a:rPr lang="en-AU" sz="1100" b="1" baseline="0" dirty="0" smtClean="0">
                <a:effectLst/>
                <a:latin typeface="Helvetica" pitchFamily="34" charset="0"/>
                <a:ea typeface="Calibri"/>
                <a:cs typeface="Calibri"/>
              </a:rPr>
              <a:t>codeshare</a:t>
            </a:r>
            <a:r>
              <a:rPr lang="en-AU" sz="1100" baseline="0" dirty="0" smtClean="0">
                <a:effectLst/>
                <a:latin typeface="Helvetica" pitchFamily="34" charset="0"/>
                <a:ea typeface="Calibri"/>
                <a:cs typeface="Calibri"/>
              </a:rPr>
              <a:t> flights which have Qantas flight numbers but are operated by Emirates (Segments 1 and 4).  You will note that the Qantas flight numbers contain four digits. This is a way of identifying codeshare services although this is also clearly advised on this booked itinerary</a:t>
            </a:r>
            <a:r>
              <a:rPr lang="en-AU" sz="1000" baseline="0" dirty="0" smtClean="0">
                <a:effectLst/>
                <a:latin typeface="Helvetica"/>
                <a:ea typeface="Calibri"/>
                <a:cs typeface="Calibri"/>
              </a:rPr>
              <a:t>.</a:t>
            </a:r>
          </a:p>
          <a:p>
            <a:endParaRPr lang="en-AU" sz="1200" i="0" kern="1200" dirty="0" smtClean="0">
              <a:solidFill>
                <a:schemeClr val="tx1"/>
              </a:solidFill>
              <a:latin typeface="+mn-lt"/>
              <a:ea typeface="+mn-ea"/>
              <a:cs typeface="+mn-cs"/>
            </a:endParaRPr>
          </a:p>
          <a:p>
            <a:endParaRPr lang="en-AU" sz="1200" i="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22670595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6.3</a:t>
            </a:r>
            <a:endParaRPr lang="en-AU" sz="1100" i="0" kern="1200" dirty="0" smtClean="0">
              <a:solidFill>
                <a:schemeClr val="tx1"/>
              </a:solidFill>
              <a:latin typeface="Helvetica" pitchFamily="34" charset="0"/>
            </a:endParaRPr>
          </a:p>
          <a:p>
            <a:pPr>
              <a:spcBef>
                <a:spcPts val="400"/>
              </a:spcBef>
              <a:spcAft>
                <a:spcPts val="800"/>
              </a:spcAft>
            </a:pPr>
            <a:r>
              <a:rPr lang="en-AU" sz="1100" b="1" baseline="0" dirty="0" smtClean="0">
                <a:effectLst/>
                <a:latin typeface="Helvetica" pitchFamily="34" charset="0"/>
                <a:ea typeface="Calibri"/>
                <a:cs typeface="Calibri"/>
              </a:rPr>
              <a:t>Online and interline transfers</a:t>
            </a:r>
          </a:p>
          <a:p>
            <a:pPr>
              <a:spcBef>
                <a:spcPts val="400"/>
              </a:spcBef>
              <a:spcAft>
                <a:spcPts val="800"/>
              </a:spcAft>
            </a:pPr>
            <a:r>
              <a:rPr lang="en-AU" sz="1100" baseline="0" dirty="0" smtClean="0">
                <a:effectLst/>
                <a:latin typeface="Helvetica" pitchFamily="34" charset="0"/>
                <a:ea typeface="Calibri"/>
                <a:cs typeface="Calibri"/>
              </a:rPr>
              <a:t>The itinerary below is a return journey from Bangkok to San Francisco, flying with Thai Airways and Singapore Airlines.</a:t>
            </a:r>
          </a:p>
          <a:p>
            <a:pPr>
              <a:spcBef>
                <a:spcPts val="400"/>
              </a:spcBef>
              <a:spcAft>
                <a:spcPts val="800"/>
              </a:spcAft>
            </a:pPr>
            <a:r>
              <a:rPr lang="en-AU" sz="1100" baseline="0" dirty="0" smtClean="0">
                <a:effectLst/>
                <a:latin typeface="Helvetica" pitchFamily="34" charset="0"/>
                <a:ea typeface="Calibri"/>
                <a:cs typeface="Calibri"/>
              </a:rPr>
              <a:t>On the </a:t>
            </a:r>
            <a:r>
              <a:rPr lang="en-AU" sz="1100" b="1" baseline="0" dirty="0" smtClean="0">
                <a:effectLst/>
                <a:latin typeface="Helvetica" pitchFamily="34" charset="0"/>
                <a:ea typeface="Calibri"/>
                <a:cs typeface="Calibri"/>
              </a:rPr>
              <a:t>outbound component</a:t>
            </a:r>
            <a:r>
              <a:rPr lang="en-AU" sz="1100" baseline="0" dirty="0" smtClean="0">
                <a:effectLst/>
                <a:latin typeface="Helvetica" pitchFamily="34" charset="0"/>
                <a:ea typeface="Calibri"/>
                <a:cs typeface="Calibri"/>
              </a:rPr>
              <a:t>, the passenger will </a:t>
            </a:r>
            <a:r>
              <a:rPr lang="en-AU" sz="1100" b="1" baseline="0" dirty="0" smtClean="0">
                <a:effectLst/>
                <a:latin typeface="Helvetica" pitchFamily="34" charset="0"/>
                <a:ea typeface="Calibri"/>
                <a:cs typeface="Calibri"/>
              </a:rPr>
              <a:t>transit</a:t>
            </a:r>
            <a:r>
              <a:rPr lang="en-AU" sz="1100" baseline="0" dirty="0" smtClean="0">
                <a:effectLst/>
                <a:latin typeface="Helvetica" pitchFamily="34" charset="0"/>
                <a:ea typeface="Calibri"/>
                <a:cs typeface="Calibri"/>
              </a:rPr>
              <a:t> through Hong Kong.</a:t>
            </a:r>
          </a:p>
          <a:p>
            <a:pPr>
              <a:spcBef>
                <a:spcPts val="400"/>
              </a:spcBef>
              <a:spcAft>
                <a:spcPts val="800"/>
              </a:spcAft>
            </a:pPr>
            <a:r>
              <a:rPr lang="en-AU" sz="1100" baseline="0" dirty="0" smtClean="0">
                <a:effectLst/>
                <a:latin typeface="Helvetica" pitchFamily="34" charset="0"/>
                <a:ea typeface="Calibri"/>
                <a:cs typeface="Calibri"/>
              </a:rPr>
              <a:t>On the </a:t>
            </a:r>
            <a:r>
              <a:rPr lang="en-AU" sz="1100" b="1" baseline="0" dirty="0" smtClean="0">
                <a:effectLst/>
                <a:latin typeface="Helvetica" pitchFamily="34" charset="0"/>
                <a:ea typeface="Calibri"/>
                <a:cs typeface="Calibri"/>
              </a:rPr>
              <a:t>inbound component</a:t>
            </a:r>
            <a:r>
              <a:rPr lang="en-AU" sz="1100" baseline="0" dirty="0" smtClean="0">
                <a:effectLst/>
                <a:latin typeface="Helvetica" pitchFamily="34" charset="0"/>
                <a:ea typeface="Calibri"/>
                <a:cs typeface="Calibri"/>
              </a:rPr>
              <a:t>, the passenger will </a:t>
            </a:r>
            <a:r>
              <a:rPr lang="en-AU" sz="1100" b="1" baseline="0" dirty="0" smtClean="0">
                <a:effectLst/>
                <a:latin typeface="Helvetica" pitchFamily="34" charset="0"/>
                <a:ea typeface="Calibri"/>
                <a:cs typeface="Calibri"/>
              </a:rPr>
              <a:t>transit</a:t>
            </a:r>
            <a:r>
              <a:rPr lang="en-AU" sz="1100" baseline="0" dirty="0" smtClean="0">
                <a:effectLst/>
                <a:latin typeface="Helvetica" pitchFamily="34" charset="0"/>
                <a:ea typeface="Calibri"/>
                <a:cs typeface="Calibri"/>
              </a:rPr>
              <a:t> through Singapore.  Note that flight SQ1 arrives into Singapore at #1200, meaning 12.00pm the next day – 21 November.</a:t>
            </a:r>
          </a:p>
          <a:p>
            <a:pPr>
              <a:spcBef>
                <a:spcPts val="400"/>
              </a:spcBef>
              <a:spcAft>
                <a:spcPts val="800"/>
              </a:spcAft>
            </a:pPr>
            <a:r>
              <a:rPr lang="en-AU" sz="1100" baseline="0" dirty="0" smtClean="0">
                <a:effectLst/>
                <a:latin typeface="Helvetica" pitchFamily="34" charset="0"/>
                <a:ea typeface="Calibri"/>
                <a:cs typeface="Calibri"/>
              </a:rPr>
              <a:t>The passenger will arrive into Hong Kong on Thai Airways and depart on Singapore Airlines.  This is called an </a:t>
            </a:r>
            <a:r>
              <a:rPr lang="en-AU" sz="1100" b="1" baseline="0" dirty="0" smtClean="0">
                <a:effectLst/>
                <a:latin typeface="Helvetica" pitchFamily="34" charset="0"/>
                <a:ea typeface="Calibri"/>
                <a:cs typeface="Calibri"/>
              </a:rPr>
              <a:t>interline transfer</a:t>
            </a:r>
            <a:r>
              <a:rPr lang="en-AU" sz="1100" baseline="0" dirty="0" smtClean="0">
                <a:effectLst/>
                <a:latin typeface="Helvetica" pitchFamily="34" charset="0"/>
                <a:ea typeface="Calibri"/>
                <a:cs typeface="Calibri"/>
              </a:rPr>
              <a:t>.</a:t>
            </a:r>
          </a:p>
          <a:p>
            <a:pPr>
              <a:spcBef>
                <a:spcPts val="400"/>
              </a:spcBef>
              <a:spcAft>
                <a:spcPts val="800"/>
              </a:spcAft>
            </a:pPr>
            <a:r>
              <a:rPr lang="en-AU" sz="1100" baseline="0" dirty="0" smtClean="0">
                <a:effectLst/>
                <a:latin typeface="Helvetica" pitchFamily="34" charset="0"/>
                <a:ea typeface="Calibri"/>
                <a:cs typeface="Calibri"/>
              </a:rPr>
              <a:t>The passenger will return from San Francisco to Singapore and change aircraft, continuing to fly with Singapore Airlines.  This is called an </a:t>
            </a:r>
            <a:r>
              <a:rPr lang="en-AU" sz="1100" b="1" baseline="0" dirty="0" smtClean="0">
                <a:effectLst/>
                <a:latin typeface="Helvetica" pitchFamily="34" charset="0"/>
                <a:ea typeface="Calibri"/>
                <a:cs typeface="Calibri"/>
              </a:rPr>
              <a:t>online transfer</a:t>
            </a:r>
            <a:r>
              <a:rPr lang="en-AU" sz="1100" baseline="0" dirty="0" smtClean="0">
                <a:effectLst/>
                <a:latin typeface="Helvetica" pitchFamily="34" charset="0"/>
                <a:ea typeface="Calibri"/>
                <a:cs typeface="Calibri"/>
              </a:rPr>
              <a:t>.</a:t>
            </a:r>
          </a:p>
          <a:p>
            <a:endParaRPr lang="en-AU" sz="1200" i="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2670595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Explain how to interpret the screen information utilising TM notes as well.</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6.3</a:t>
            </a:r>
            <a:endParaRPr lang="en-AU" sz="1100" i="0" kern="1200" dirty="0" smtClean="0">
              <a:solidFill>
                <a:schemeClr val="tx1"/>
              </a:solidFill>
              <a:latin typeface="Helvetica" pitchFamily="34" charset="0"/>
            </a:endParaRPr>
          </a:p>
          <a:p>
            <a:pPr>
              <a:spcBef>
                <a:spcPts val="400"/>
              </a:spcBef>
              <a:spcAft>
                <a:spcPts val="800"/>
              </a:spcAft>
            </a:pPr>
            <a:r>
              <a:rPr lang="en-AU" sz="1100" dirty="0" smtClean="0">
                <a:effectLst/>
                <a:latin typeface="Helvetica" pitchFamily="34" charset="0"/>
                <a:ea typeface="Calibri"/>
                <a:cs typeface="Calibri"/>
              </a:rPr>
              <a:t>When an availability screen is displayed in the CRS, the information is displayed in order beginning with first class, then business class, premium economy and economy class.  All booking classes on flights can be seen in each availability screen, assuming the operating aircraft offers all classes of service. For example, if there is no F shown on a line in the display, there will not be a first class service offered on that flight.</a:t>
            </a:r>
          </a:p>
          <a:p>
            <a:pPr>
              <a:spcBef>
                <a:spcPts val="400"/>
              </a:spcBef>
              <a:spcAft>
                <a:spcPts val="800"/>
              </a:spcAft>
            </a:pPr>
            <a:r>
              <a:rPr lang="en-AU" sz="1100" dirty="0" smtClean="0">
                <a:effectLst/>
                <a:latin typeface="Helvetica" pitchFamily="34" charset="0"/>
                <a:ea typeface="Calibri"/>
                <a:cs typeface="Calibri"/>
              </a:rPr>
              <a:t>When reading an availability screen, remember that the airline will only show a maximum of nine seats for each booking class. The airline controls this information and can change their allocation at any time to control the number of seats available at each price level.  </a:t>
            </a:r>
          </a:p>
          <a:p>
            <a:pPr>
              <a:spcBef>
                <a:spcPts val="400"/>
              </a:spcBef>
              <a:spcAft>
                <a:spcPts val="800"/>
              </a:spcAft>
            </a:pPr>
            <a:r>
              <a:rPr lang="en-AU" sz="1100" dirty="0" smtClean="0">
                <a:effectLst/>
                <a:latin typeface="Helvetica" pitchFamily="34" charset="0"/>
                <a:ea typeface="Calibri"/>
                <a:cs typeface="Calibri"/>
              </a:rPr>
              <a:t>The following screen shows the seats available on a Qantas flight from Los Angeles to Melbourne.  This screen is called an Availability screen and the entries will be included later on how to display this information.</a:t>
            </a:r>
          </a:p>
          <a:p>
            <a:pPr>
              <a:spcBef>
                <a:spcPts val="400"/>
              </a:spcBef>
              <a:spcAft>
                <a:spcPts val="800"/>
              </a:spcAft>
            </a:pPr>
            <a:endParaRPr lang="en-AU" sz="1000" dirty="0" smtClean="0">
              <a:effectLst/>
              <a:latin typeface="Helvetica"/>
              <a:ea typeface="Calibri"/>
              <a:cs typeface="Calibri"/>
            </a:endParaRPr>
          </a:p>
          <a:p>
            <a:pPr>
              <a:spcBef>
                <a:spcPts val="400"/>
              </a:spcBef>
              <a:spcAft>
                <a:spcPts val="800"/>
              </a:spcAft>
            </a:pPr>
            <a:r>
              <a:rPr lang="en-AU" sz="1000" dirty="0" smtClean="0">
                <a:effectLst/>
                <a:latin typeface="Helvetica"/>
                <a:ea typeface="Calibri"/>
                <a:cs typeface="Calibri"/>
              </a:rPr>
              <a:t>   </a:t>
            </a:r>
          </a:p>
          <a:p>
            <a:endParaRPr lang="en-AU" sz="1200" i="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2670595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6.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defTabSz="946404">
              <a:buFont typeface="Arial" pitchFamily="34" charset="0"/>
              <a:buChar char="•"/>
              <a:defRPr/>
            </a:pPr>
            <a:r>
              <a:rPr lang="en-AU" sz="1200" dirty="0" smtClean="0">
                <a:solidFill>
                  <a:prstClr val="black"/>
                </a:solidFill>
              </a:rPr>
              <a:t>Review the Summary page for Element 6  to confirm with learners what has been completed for this Element.</a:t>
            </a:r>
          </a:p>
          <a:p>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7.</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Apply the pricing unit concept to fares </a:t>
            </a:r>
            <a:r>
              <a:rPr lang="en-US" sz="1100" b="0" baseline="0" dirty="0" smtClean="0">
                <a:latin typeface="Helvetica" pitchFamily="34" charset="0"/>
              </a:rPr>
              <a:t>the students must be able to:</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Divide fare journey</a:t>
            </a:r>
            <a:r>
              <a:rPr lang="en-AU" sz="1100" b="1" i="0" kern="1200" dirty="0" smtClean="0">
                <a:solidFill>
                  <a:schemeClr val="tx1"/>
                </a:solidFill>
                <a:latin typeface="Helvetica" pitchFamily="34" charset="0"/>
              </a:rPr>
              <a:t> </a:t>
            </a:r>
            <a:r>
              <a:rPr lang="en-AU" sz="1100" i="0" kern="1200" dirty="0" smtClean="0">
                <a:solidFill>
                  <a:schemeClr val="tx1"/>
                </a:solidFill>
                <a:latin typeface="Helvetica" pitchFamily="34" charset="0"/>
              </a:rPr>
              <a:t>into individual pricing units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Calculate lowest combination of fares for given pricing units.</a:t>
            </a:r>
            <a:endParaRPr lang="en-US" sz="1100" b="0" i="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0669676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7.1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r>
              <a:rPr lang="en-AU" sz="1100" i="0" kern="1200" dirty="0" smtClean="0">
                <a:solidFill>
                  <a:schemeClr val="tx1"/>
                </a:solidFill>
                <a:latin typeface="Helvetica" pitchFamily="34" charset="0"/>
              </a:rPr>
              <a:t>Fare journey must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Single fare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Return fare.</a:t>
            </a:r>
            <a:endParaRPr lang="en-US" sz="1100" b="1" i="0" baseline="0" dirty="0" smtClean="0">
              <a:latin typeface="Helvetica" pitchFamily="34" charset="0"/>
            </a:endParaRPr>
          </a:p>
          <a:p>
            <a:pPr>
              <a:buFont typeface="Arial" pitchFamily="34" charset="0"/>
              <a:buNone/>
            </a:pPr>
            <a:endParaRPr lang="en-US" sz="1100" dirty="0" smtClean="0">
              <a:latin typeface="Helvetica" pitchFamily="34" charset="0"/>
            </a:endParaRPr>
          </a:p>
          <a:p>
            <a:pPr>
              <a:buFont typeface="Arial" pitchFamily="34" charset="0"/>
              <a:buNone/>
            </a:pPr>
            <a:r>
              <a:rPr lang="en-US" sz="1100" b="1" dirty="0" smtClean="0">
                <a:latin typeface="Helvetica" pitchFamily="34" charset="0"/>
              </a:rPr>
              <a:t>Discuss</a:t>
            </a:r>
            <a:endParaRPr lang="en-US" sz="1100" dirty="0" smtClean="0">
              <a:latin typeface="Helvetica" pitchFamily="34" charset="0"/>
            </a:endParaRPr>
          </a:p>
          <a:p>
            <a:pPr marL="171450" indent="-171450">
              <a:buFont typeface="Arial" pitchFamily="34" charset="0"/>
              <a:buChar char="•"/>
            </a:pPr>
            <a:r>
              <a:rPr lang="en-US" sz="1100" dirty="0" smtClean="0">
                <a:latin typeface="Helvetica" pitchFamily="34" charset="0"/>
              </a:rPr>
              <a:t>One way journeys</a:t>
            </a:r>
          </a:p>
          <a:p>
            <a:pPr marL="171450" indent="-171450">
              <a:buFont typeface="Arial" pitchFamily="34" charset="0"/>
              <a:buChar char="•"/>
            </a:pPr>
            <a:r>
              <a:rPr lang="en-US" sz="1100" dirty="0" smtClean="0">
                <a:latin typeface="Helvetica" pitchFamily="34" charset="0"/>
              </a:rPr>
              <a:t>Return</a:t>
            </a:r>
            <a:r>
              <a:rPr lang="en-US" sz="1100" baseline="0" dirty="0" smtClean="0">
                <a:latin typeface="Helvetica" pitchFamily="34" charset="0"/>
              </a:rPr>
              <a:t> Journeys</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8614117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7.1</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r>
              <a:rPr lang="en-AU" sz="1100" kern="1200" dirty="0" smtClean="0">
                <a:solidFill>
                  <a:schemeClr val="tx1"/>
                </a:solidFill>
                <a:effectLst/>
                <a:latin typeface="Helvetica" pitchFamily="34" charset="0"/>
              </a:rPr>
              <a:t>This screen shows that there are multiple options to travel from Bangkok to Sydney via Singapore, flying Singapore Airlines.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8614117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7.1</a:t>
            </a:r>
          </a:p>
          <a:p>
            <a:pPr marL="935990" indent="-935990">
              <a:spcBef>
                <a:spcPts val="600"/>
              </a:spcBef>
            </a:pPr>
            <a:r>
              <a:rPr lang="en-AU" sz="1100" b="1" dirty="0" smtClean="0">
                <a:solidFill>
                  <a:srgbClr val="45545F"/>
                </a:solidFill>
                <a:effectLst/>
                <a:latin typeface="Helvetica" pitchFamily="34" charset="0"/>
                <a:ea typeface="Times New Roman"/>
                <a:cs typeface="Times New Roman"/>
              </a:rPr>
              <a:t>Availability - One way journeys</a:t>
            </a:r>
          </a:p>
          <a:p>
            <a:pPr>
              <a:spcBef>
                <a:spcPts val="400"/>
              </a:spcBef>
              <a:spcAft>
                <a:spcPts val="800"/>
              </a:spcAft>
            </a:pPr>
            <a:r>
              <a:rPr lang="en-AU" sz="1100" dirty="0" smtClean="0">
                <a:effectLst/>
                <a:latin typeface="Helvetica" pitchFamily="34" charset="0"/>
                <a:ea typeface="Calibri"/>
                <a:cs typeface="Calibri"/>
              </a:rPr>
              <a:t>Using the Availability entry example above, you could continue to book flights and start creating an itinerary. In order to do this, you would need to know which booking class you will need to use.  This information is obtained from a fare display which we will consider in a moment.</a:t>
            </a:r>
          </a:p>
          <a:p>
            <a:pPr>
              <a:spcBef>
                <a:spcPts val="400"/>
              </a:spcBef>
              <a:spcAft>
                <a:spcPts val="800"/>
              </a:spcAft>
            </a:pPr>
            <a:r>
              <a:rPr lang="en-AU" sz="1100" dirty="0" smtClean="0">
                <a:effectLst/>
                <a:latin typeface="Helvetica" pitchFamily="34" charset="0"/>
                <a:ea typeface="Calibri"/>
                <a:cs typeface="Calibri"/>
              </a:rPr>
              <a:t>Imagining that the above flight itinerary was booked from Bangkok to Sydney only (either with Qantas or Singapore Airlines), this would create a </a:t>
            </a:r>
            <a:r>
              <a:rPr lang="en-AU" sz="1100" b="1" dirty="0" smtClean="0">
                <a:effectLst/>
                <a:latin typeface="Helvetica" pitchFamily="34" charset="0"/>
                <a:ea typeface="Calibri"/>
                <a:cs typeface="Calibri"/>
              </a:rPr>
              <a:t>one way journey</a:t>
            </a:r>
            <a:r>
              <a:rPr lang="en-AU" sz="1100" dirty="0" smtClean="0">
                <a:effectLst/>
                <a:latin typeface="Helvetica" pitchFamily="34" charset="0"/>
                <a:ea typeface="Calibri"/>
                <a:cs typeface="Calibri"/>
              </a:rPr>
              <a:t>.</a:t>
            </a:r>
          </a:p>
          <a:p>
            <a:pPr>
              <a:spcBef>
                <a:spcPts val="400"/>
              </a:spcBef>
              <a:spcAft>
                <a:spcPts val="800"/>
              </a:spcAft>
            </a:pPr>
            <a:r>
              <a:rPr lang="en-AU" sz="1100" dirty="0" smtClean="0">
                <a:effectLst/>
                <a:latin typeface="Helvetica" pitchFamily="34" charset="0"/>
                <a:ea typeface="Calibri"/>
                <a:cs typeface="Calibri"/>
              </a:rPr>
              <a:t>The journey from Bangkok to Sydney on Qantas would be a </a:t>
            </a:r>
            <a:r>
              <a:rPr lang="en-AU" sz="1100" b="1" dirty="0" smtClean="0">
                <a:effectLst/>
                <a:latin typeface="Helvetica" pitchFamily="34" charset="0"/>
                <a:ea typeface="Calibri"/>
                <a:cs typeface="Calibri"/>
              </a:rPr>
              <a:t>single sector one way journey</a:t>
            </a:r>
            <a:r>
              <a:rPr lang="en-AU" sz="1100" dirty="0" smtClean="0">
                <a:effectLst/>
                <a:latin typeface="Helvetica" pitchFamily="34" charset="0"/>
                <a:ea typeface="Calibri"/>
                <a:cs typeface="Calibri"/>
              </a:rPr>
              <a:t>.</a:t>
            </a:r>
          </a:p>
          <a:p>
            <a:pPr>
              <a:spcBef>
                <a:spcPts val="400"/>
              </a:spcBef>
              <a:spcAft>
                <a:spcPts val="800"/>
              </a:spcAft>
            </a:pPr>
            <a:r>
              <a:rPr lang="en-AU" sz="1100" dirty="0" smtClean="0">
                <a:effectLst/>
                <a:latin typeface="Helvetica" pitchFamily="34" charset="0"/>
                <a:ea typeface="Calibri"/>
                <a:cs typeface="Calibri"/>
              </a:rPr>
              <a:t>The journey from Bangkok to Sydney, via Singapore, flying Singapore would be a </a:t>
            </a:r>
            <a:r>
              <a:rPr lang="en-AU" sz="1100" b="1" dirty="0" smtClean="0">
                <a:effectLst/>
                <a:latin typeface="Helvetica" pitchFamily="34" charset="0"/>
                <a:ea typeface="Calibri"/>
                <a:cs typeface="Calibri"/>
              </a:rPr>
              <a:t>one way journey with two sectors</a:t>
            </a:r>
            <a:r>
              <a:rPr lang="en-AU" sz="1100" dirty="0" smtClean="0">
                <a:effectLst/>
                <a:latin typeface="Helvetica" pitchFamily="34" charset="0"/>
                <a:ea typeface="Calibri"/>
                <a:cs typeface="Calibri"/>
              </a:rPr>
              <a:t>.  Singapore would be considered an </a:t>
            </a:r>
            <a:r>
              <a:rPr lang="en-AU" sz="1100" b="1" dirty="0" smtClean="0">
                <a:effectLst/>
                <a:latin typeface="Helvetica" pitchFamily="34" charset="0"/>
                <a:ea typeface="Calibri"/>
                <a:cs typeface="Calibri"/>
              </a:rPr>
              <a:t>intermediate point</a:t>
            </a:r>
            <a:r>
              <a:rPr lang="en-AU" sz="1100" dirty="0" smtClean="0">
                <a:effectLst/>
                <a:latin typeface="Helvetica" pitchFamily="34" charset="0"/>
                <a:ea typeface="Calibri"/>
                <a:cs typeface="Calibri"/>
              </a:rPr>
              <a:t>.</a:t>
            </a:r>
          </a:p>
          <a:p>
            <a:pPr>
              <a:spcBef>
                <a:spcPts val="400"/>
              </a:spcBef>
              <a:spcAft>
                <a:spcPts val="800"/>
              </a:spcAft>
            </a:pPr>
            <a:r>
              <a:rPr lang="en-AU" sz="1100" dirty="0" smtClean="0">
                <a:effectLst/>
                <a:latin typeface="Helvetica" pitchFamily="34" charset="0"/>
                <a:ea typeface="Calibri"/>
                <a:cs typeface="Calibri"/>
              </a:rPr>
              <a:t>If the passenger is only in Singapore for a short time waiting for their next flight, this intermediate point is referred to as a </a:t>
            </a:r>
            <a:r>
              <a:rPr lang="en-AU" sz="1100" b="1" dirty="0" smtClean="0">
                <a:effectLst/>
                <a:latin typeface="Helvetica" pitchFamily="34" charset="0"/>
                <a:ea typeface="Calibri"/>
                <a:cs typeface="Calibri"/>
              </a:rPr>
              <a:t>transit</a:t>
            </a:r>
            <a:r>
              <a:rPr lang="en-AU" sz="1100" dirty="0" smtClean="0">
                <a:effectLst/>
                <a:latin typeface="Helvetica" pitchFamily="34" charset="0"/>
                <a:ea typeface="Calibri"/>
                <a:cs typeface="Calibri"/>
              </a:rPr>
              <a:t>.</a:t>
            </a:r>
          </a:p>
          <a:p>
            <a:pPr>
              <a:spcBef>
                <a:spcPts val="400"/>
              </a:spcBef>
              <a:spcAft>
                <a:spcPts val="800"/>
              </a:spcAft>
            </a:pPr>
            <a:r>
              <a:rPr lang="en-AU" sz="1100" dirty="0" smtClean="0">
                <a:effectLst/>
                <a:latin typeface="Helvetica" pitchFamily="34" charset="0"/>
                <a:ea typeface="Calibri"/>
                <a:cs typeface="Calibri"/>
              </a:rPr>
              <a:t>If the passenger wishes to stay in Singapore for more than 24 hours, Singapore is considered an intermediate stopover flight.   This would require the journey to be booked in two segments, using two availability screens.  For example:</a:t>
            </a:r>
          </a:p>
          <a:p>
            <a:pPr marL="342900" lvl="0" indent="-342900">
              <a:spcBef>
                <a:spcPts val="300"/>
              </a:spcBef>
              <a:spcAft>
                <a:spcPts val="600"/>
              </a:spcAft>
              <a:buFont typeface="Symbol"/>
              <a:buChar char=""/>
            </a:pPr>
            <a:r>
              <a:rPr lang="en-AU" sz="1100" dirty="0" smtClean="0">
                <a:effectLst/>
                <a:latin typeface="Helvetica" pitchFamily="34" charset="0"/>
                <a:ea typeface="Calibri"/>
                <a:cs typeface="Times New Roman"/>
              </a:rPr>
              <a:t>Entry:		</a:t>
            </a:r>
            <a:r>
              <a:rPr lang="en-AU" sz="1100" b="1" dirty="0" smtClean="0">
                <a:effectLst/>
                <a:latin typeface="Helvetica" pitchFamily="34" charset="0"/>
                <a:ea typeface="Calibri"/>
                <a:cs typeface="Calibri"/>
              </a:rPr>
              <a:t>A01SEPBKKSIN*SQ</a:t>
            </a:r>
            <a:endParaRPr lang="en-AU" sz="1100" dirty="0" smtClean="0">
              <a:effectLst/>
              <a:latin typeface="Helvetica" pitchFamily="34" charset="0"/>
              <a:ea typeface="Calibri"/>
              <a:cs typeface="Times New Roman"/>
            </a:endParaRPr>
          </a:p>
          <a:p>
            <a:pPr marL="342900" lvl="0" indent="-342900">
              <a:spcBef>
                <a:spcPts val="300"/>
              </a:spcBef>
              <a:spcAft>
                <a:spcPts val="600"/>
              </a:spcAft>
              <a:buFont typeface="Symbol"/>
              <a:buChar char=""/>
            </a:pPr>
            <a:r>
              <a:rPr lang="en-AU" sz="1100" dirty="0" smtClean="0">
                <a:effectLst/>
                <a:latin typeface="Helvetica" pitchFamily="34" charset="0"/>
                <a:ea typeface="Calibri"/>
                <a:cs typeface="Times New Roman"/>
              </a:rPr>
              <a:t>Entry:		</a:t>
            </a:r>
            <a:r>
              <a:rPr lang="en-AU" sz="1100" b="1" dirty="0" smtClean="0">
                <a:effectLst/>
                <a:latin typeface="Helvetica" pitchFamily="34" charset="0"/>
                <a:ea typeface="Calibri"/>
                <a:cs typeface="Calibri"/>
              </a:rPr>
              <a:t>A03SEPSINSYD*SQ</a:t>
            </a:r>
            <a:r>
              <a:rPr lang="en-AU" sz="1100" b="1" dirty="0">
                <a:latin typeface="Helvetica" pitchFamily="34" charset="0"/>
                <a:ea typeface="Calibri"/>
                <a:cs typeface="Calibri"/>
              </a:rPr>
              <a:t> </a:t>
            </a:r>
            <a:r>
              <a:rPr lang="en-AU" sz="1100" b="1" dirty="0" smtClean="0">
                <a:latin typeface="Helvetica" pitchFamily="34" charset="0"/>
                <a:ea typeface="Calibri"/>
                <a:cs typeface="Calibri"/>
              </a:rPr>
              <a:t>     </a:t>
            </a:r>
            <a:r>
              <a:rPr lang="en-AU" sz="1100" dirty="0" smtClean="0">
                <a:effectLst/>
                <a:latin typeface="Helvetica" pitchFamily="34" charset="0"/>
                <a:ea typeface="Calibri"/>
                <a:cs typeface="Times New Roman"/>
              </a:rPr>
              <a:t>(Two night stopover in Singapore)</a:t>
            </a:r>
            <a:endParaRPr lang="en-AU" sz="1100" dirty="0">
              <a:effectLst/>
              <a:latin typeface="Helvetica" pitchFamily="34" charset="0"/>
              <a:ea typeface="Calibri"/>
              <a:cs typeface="Times New Roman"/>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8614117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7.1</a:t>
            </a:r>
          </a:p>
          <a:p>
            <a:pPr>
              <a:spcBef>
                <a:spcPts val="400"/>
              </a:spcBef>
              <a:spcAft>
                <a:spcPts val="800"/>
              </a:spcAft>
            </a:pPr>
            <a:r>
              <a:rPr lang="en-AU" sz="1100" dirty="0" smtClean="0">
                <a:effectLst/>
                <a:latin typeface="Helvetica" pitchFamily="34" charset="0"/>
                <a:ea typeface="Calibri"/>
                <a:cs typeface="Calibri"/>
              </a:rPr>
              <a:t>Continuing with the examples above, imagine that the passenger wishes to return from Sydney one week later.  </a:t>
            </a:r>
          </a:p>
          <a:p>
            <a:pPr>
              <a:spcBef>
                <a:spcPts val="400"/>
              </a:spcBef>
              <a:spcAft>
                <a:spcPts val="800"/>
              </a:spcAft>
            </a:pPr>
            <a:r>
              <a:rPr lang="en-AU" sz="1100" dirty="0" smtClean="0">
                <a:effectLst/>
                <a:latin typeface="Helvetica" pitchFamily="34" charset="0"/>
                <a:ea typeface="Calibri"/>
                <a:cs typeface="Calibri"/>
              </a:rPr>
              <a:t>The Qantas entry would be:</a:t>
            </a:r>
          </a:p>
          <a:p>
            <a:pPr marL="342900" lvl="0" indent="-342900">
              <a:spcBef>
                <a:spcPts val="300"/>
              </a:spcBef>
              <a:spcAft>
                <a:spcPts val="600"/>
              </a:spcAft>
              <a:buFont typeface="Symbol"/>
              <a:buChar char=""/>
            </a:pPr>
            <a:r>
              <a:rPr lang="en-AU" sz="1100" dirty="0" smtClean="0">
                <a:effectLst/>
                <a:latin typeface="Helvetica" pitchFamily="34" charset="0"/>
                <a:ea typeface="Calibri"/>
                <a:cs typeface="Times New Roman"/>
              </a:rPr>
              <a:t>Entry:		</a:t>
            </a:r>
            <a:r>
              <a:rPr lang="en-AU" sz="1100" b="1" dirty="0" smtClean="0">
                <a:effectLst/>
                <a:latin typeface="Helvetica" pitchFamily="34" charset="0"/>
                <a:ea typeface="Calibri"/>
                <a:cs typeface="Calibri"/>
              </a:rPr>
              <a:t>A08SEPSYDBKK*QF</a:t>
            </a:r>
            <a:endParaRPr lang="en-AU" sz="1100" dirty="0" smtClean="0">
              <a:effectLst/>
              <a:latin typeface="Helvetica" pitchFamily="34" charset="0"/>
              <a:ea typeface="Calibri"/>
              <a:cs typeface="Times New Roman"/>
            </a:endParaRPr>
          </a:p>
          <a:p>
            <a:pPr>
              <a:spcBef>
                <a:spcPts val="400"/>
              </a:spcBef>
              <a:spcAft>
                <a:spcPts val="800"/>
              </a:spcAft>
            </a:pPr>
            <a:r>
              <a:rPr lang="en-AU" sz="1100" dirty="0" smtClean="0">
                <a:effectLst/>
                <a:latin typeface="Helvetica" pitchFamily="34" charset="0"/>
                <a:ea typeface="Calibri"/>
                <a:cs typeface="Calibri"/>
              </a:rPr>
              <a:t>The Singapore Airlines entry would be:</a:t>
            </a:r>
          </a:p>
          <a:p>
            <a:pPr marL="342900" lvl="0" indent="-342900">
              <a:spcBef>
                <a:spcPts val="300"/>
              </a:spcBef>
              <a:spcAft>
                <a:spcPts val="600"/>
              </a:spcAft>
              <a:buFont typeface="Symbol"/>
              <a:buChar char=""/>
            </a:pPr>
            <a:r>
              <a:rPr lang="en-AU" sz="1100" dirty="0" smtClean="0">
                <a:effectLst/>
                <a:latin typeface="Helvetica" pitchFamily="34" charset="0"/>
                <a:ea typeface="Calibri"/>
                <a:cs typeface="Times New Roman"/>
              </a:rPr>
              <a:t>Entry:		</a:t>
            </a:r>
            <a:r>
              <a:rPr lang="en-AU" sz="1100" b="1" dirty="0" smtClean="0">
                <a:effectLst/>
                <a:latin typeface="Helvetica" pitchFamily="34" charset="0"/>
                <a:ea typeface="Calibri"/>
                <a:cs typeface="Calibri"/>
              </a:rPr>
              <a:t>A10SEPSYDBKK*SQ</a:t>
            </a:r>
            <a:endParaRPr lang="en-AU" sz="1100" dirty="0" smtClean="0">
              <a:effectLst/>
              <a:latin typeface="Helvetica" pitchFamily="34" charset="0"/>
              <a:ea typeface="Calibri"/>
              <a:cs typeface="Times New Roman"/>
            </a:endParaRPr>
          </a:p>
          <a:p>
            <a:pPr>
              <a:spcBef>
                <a:spcPts val="400"/>
              </a:spcBef>
              <a:spcAft>
                <a:spcPts val="800"/>
              </a:spcAft>
            </a:pPr>
            <a:r>
              <a:rPr lang="en-AU" sz="1100" dirty="0" smtClean="0">
                <a:effectLst/>
                <a:latin typeface="Helvetica" pitchFamily="34" charset="0"/>
                <a:ea typeface="Calibri"/>
                <a:cs typeface="Calibri"/>
              </a:rPr>
              <a:t>(Assuming no stopover is required in Singapore):</a:t>
            </a:r>
          </a:p>
          <a:p>
            <a:pPr>
              <a:spcBef>
                <a:spcPts val="400"/>
              </a:spcBef>
              <a:spcAft>
                <a:spcPts val="800"/>
              </a:spcAft>
            </a:pPr>
            <a:r>
              <a:rPr lang="en-AU" sz="1100" dirty="0" smtClean="0">
                <a:effectLst/>
                <a:latin typeface="Helvetica" pitchFamily="34" charset="0"/>
                <a:ea typeface="Calibri"/>
                <a:cs typeface="Calibri"/>
              </a:rPr>
              <a:t>Although we have not yet considered which booking classes or flights to book, and the entries required for this part of the process, let’s look at the itineraries that could be created for these booking examples: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000"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8614117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and quiz learners on terminology used in this section.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7.1</a:t>
            </a:r>
          </a:p>
          <a:p>
            <a:pPr>
              <a:spcBef>
                <a:spcPts val="400"/>
              </a:spcBef>
              <a:spcAft>
                <a:spcPts val="800"/>
              </a:spcAft>
            </a:pPr>
            <a:r>
              <a:rPr lang="en-AU" sz="1100" b="1" dirty="0" smtClean="0">
                <a:effectLst/>
                <a:latin typeface="Helvetica" pitchFamily="34" charset="0"/>
                <a:ea typeface="Calibri"/>
                <a:cs typeface="Calibri"/>
              </a:rPr>
              <a:t>Terminology</a:t>
            </a:r>
          </a:p>
          <a:p>
            <a:pPr>
              <a:spcBef>
                <a:spcPts val="400"/>
              </a:spcBef>
              <a:spcAft>
                <a:spcPts val="800"/>
              </a:spcAft>
            </a:pPr>
            <a:r>
              <a:rPr lang="en-AU" sz="1100" dirty="0" smtClean="0">
                <a:effectLst/>
                <a:latin typeface="Helvetica" pitchFamily="34" charset="0"/>
                <a:ea typeface="Calibri"/>
                <a:cs typeface="Calibri"/>
              </a:rPr>
              <a:t>Both itinerary examples above are </a:t>
            </a:r>
            <a:r>
              <a:rPr lang="en-AU" sz="1100" b="1" dirty="0" smtClean="0">
                <a:effectLst/>
                <a:latin typeface="Helvetica" pitchFamily="34" charset="0"/>
                <a:ea typeface="Calibri"/>
                <a:cs typeface="Calibri"/>
              </a:rPr>
              <a:t>return</a:t>
            </a:r>
            <a:r>
              <a:rPr lang="en-AU" sz="1100" dirty="0" smtClean="0">
                <a:effectLst/>
                <a:latin typeface="Helvetica" pitchFamily="34" charset="0"/>
                <a:ea typeface="Calibri"/>
                <a:cs typeface="Calibri"/>
              </a:rPr>
              <a:t> journeys.   Bangkok is the </a:t>
            </a:r>
            <a:r>
              <a:rPr lang="en-AU" sz="1100" b="1" dirty="0" smtClean="0">
                <a:effectLst/>
                <a:latin typeface="Helvetica" pitchFamily="34" charset="0"/>
                <a:ea typeface="Calibri"/>
                <a:cs typeface="Calibri"/>
              </a:rPr>
              <a:t>origin</a:t>
            </a:r>
            <a:r>
              <a:rPr lang="en-AU" sz="1100" dirty="0" smtClean="0">
                <a:effectLst/>
                <a:latin typeface="Helvetica" pitchFamily="34" charset="0"/>
                <a:ea typeface="Calibri"/>
                <a:cs typeface="Calibri"/>
              </a:rPr>
              <a:t> and Sydney is the </a:t>
            </a:r>
            <a:r>
              <a:rPr lang="en-AU" sz="1100" b="1" dirty="0" smtClean="0">
                <a:effectLst/>
                <a:latin typeface="Helvetica" pitchFamily="34" charset="0"/>
                <a:ea typeface="Calibri"/>
                <a:cs typeface="Calibri"/>
              </a:rPr>
              <a:t>destination</a:t>
            </a:r>
            <a:r>
              <a:rPr lang="en-AU" sz="1100" dirty="0" smtClean="0">
                <a:effectLst/>
                <a:latin typeface="Helvetica" pitchFamily="34" charset="0"/>
                <a:ea typeface="Calibri"/>
                <a:cs typeface="Calibri"/>
              </a:rPr>
              <a:t>.</a:t>
            </a:r>
          </a:p>
          <a:p>
            <a:pPr>
              <a:spcBef>
                <a:spcPts val="400"/>
              </a:spcBef>
              <a:spcAft>
                <a:spcPts val="800"/>
              </a:spcAft>
            </a:pPr>
            <a:r>
              <a:rPr lang="en-AU" sz="1100" dirty="0" smtClean="0">
                <a:effectLst/>
                <a:latin typeface="Helvetica" pitchFamily="34" charset="0"/>
                <a:ea typeface="Calibri"/>
                <a:cs typeface="Calibri"/>
              </a:rPr>
              <a:t>The Qantas itinerary has a </a:t>
            </a:r>
            <a:r>
              <a:rPr lang="en-AU" sz="1100" b="1" dirty="0" smtClean="0">
                <a:effectLst/>
                <a:latin typeface="Helvetica" pitchFamily="34" charset="0"/>
                <a:ea typeface="Calibri"/>
                <a:cs typeface="Calibri"/>
              </a:rPr>
              <a:t>direct, non-stop flight</a:t>
            </a:r>
            <a:r>
              <a:rPr lang="en-AU" sz="1100" dirty="0" smtClean="0">
                <a:effectLst/>
                <a:latin typeface="Helvetica" pitchFamily="34" charset="0"/>
                <a:ea typeface="Calibri"/>
                <a:cs typeface="Calibri"/>
              </a:rPr>
              <a:t> in each direction.</a:t>
            </a:r>
          </a:p>
          <a:p>
            <a:pPr>
              <a:spcBef>
                <a:spcPts val="400"/>
              </a:spcBef>
              <a:spcAft>
                <a:spcPts val="800"/>
              </a:spcAft>
            </a:pPr>
            <a:r>
              <a:rPr lang="en-AU" sz="1100" dirty="0" smtClean="0">
                <a:effectLst/>
                <a:latin typeface="Helvetica" pitchFamily="34" charset="0"/>
                <a:ea typeface="Calibri"/>
                <a:cs typeface="Calibri"/>
              </a:rPr>
              <a:t>The Singapore Airlines itinerary has an </a:t>
            </a:r>
            <a:r>
              <a:rPr lang="en-AU" sz="1100" b="1" dirty="0" smtClean="0">
                <a:effectLst/>
                <a:latin typeface="Helvetica" pitchFamily="34" charset="0"/>
                <a:ea typeface="Calibri"/>
                <a:cs typeface="Calibri"/>
              </a:rPr>
              <a:t>online transfer</a:t>
            </a:r>
            <a:r>
              <a:rPr lang="en-AU" sz="1100" dirty="0" smtClean="0">
                <a:effectLst/>
                <a:latin typeface="Helvetica" pitchFamily="34" charset="0"/>
                <a:ea typeface="Calibri"/>
                <a:cs typeface="Calibri"/>
              </a:rPr>
              <a:t> through Singapore on the </a:t>
            </a:r>
            <a:r>
              <a:rPr lang="en-AU" sz="1100" b="1" dirty="0" smtClean="0">
                <a:effectLst/>
                <a:latin typeface="Helvetica" pitchFamily="34" charset="0"/>
                <a:ea typeface="Calibri"/>
                <a:cs typeface="Calibri"/>
              </a:rPr>
              <a:t>outbound</a:t>
            </a:r>
            <a:r>
              <a:rPr lang="en-AU" sz="1100" dirty="0" smtClean="0">
                <a:effectLst/>
                <a:latin typeface="Helvetica" pitchFamily="34" charset="0"/>
                <a:ea typeface="Calibri"/>
                <a:cs typeface="Calibri"/>
              </a:rPr>
              <a:t> </a:t>
            </a:r>
            <a:r>
              <a:rPr lang="en-AU" sz="1100" b="1" dirty="0" smtClean="0">
                <a:effectLst/>
                <a:latin typeface="Helvetica" pitchFamily="34" charset="0"/>
                <a:ea typeface="Calibri"/>
                <a:cs typeface="Calibri"/>
              </a:rPr>
              <a:t>component</a:t>
            </a:r>
            <a:r>
              <a:rPr lang="en-AU" sz="1100" dirty="0" smtClean="0">
                <a:effectLst/>
                <a:latin typeface="Helvetica" pitchFamily="34" charset="0"/>
                <a:ea typeface="Calibri"/>
                <a:cs typeface="Calibri"/>
              </a:rPr>
              <a:t> and Singapore is a </a:t>
            </a:r>
            <a:r>
              <a:rPr lang="en-AU" sz="1100" b="1" dirty="0" smtClean="0">
                <a:effectLst/>
                <a:latin typeface="Helvetica" pitchFamily="34" charset="0"/>
                <a:ea typeface="Calibri"/>
                <a:cs typeface="Calibri"/>
              </a:rPr>
              <a:t>stopover</a:t>
            </a:r>
            <a:r>
              <a:rPr lang="en-AU" sz="1100" dirty="0" smtClean="0">
                <a:effectLst/>
                <a:latin typeface="Helvetica" pitchFamily="34" charset="0"/>
                <a:ea typeface="Calibri"/>
                <a:cs typeface="Calibri"/>
              </a:rPr>
              <a:t>.  On the </a:t>
            </a:r>
            <a:r>
              <a:rPr lang="en-AU" sz="1100" b="1" dirty="0" smtClean="0">
                <a:effectLst/>
                <a:latin typeface="Helvetica" pitchFamily="34" charset="0"/>
                <a:ea typeface="Calibri"/>
                <a:cs typeface="Calibri"/>
              </a:rPr>
              <a:t>inbound component</a:t>
            </a:r>
            <a:r>
              <a:rPr lang="en-AU" sz="1100" dirty="0" smtClean="0">
                <a:effectLst/>
                <a:latin typeface="Helvetica" pitchFamily="34" charset="0"/>
                <a:ea typeface="Calibri"/>
                <a:cs typeface="Calibri"/>
              </a:rPr>
              <a:t>, there is also an </a:t>
            </a:r>
            <a:r>
              <a:rPr lang="en-AU" sz="1100" b="1" dirty="0" smtClean="0">
                <a:effectLst/>
                <a:latin typeface="Helvetica" pitchFamily="34" charset="0"/>
                <a:ea typeface="Calibri"/>
                <a:cs typeface="Calibri"/>
              </a:rPr>
              <a:t>online transfer</a:t>
            </a:r>
            <a:r>
              <a:rPr lang="en-AU" sz="1100" dirty="0" smtClean="0">
                <a:effectLst/>
                <a:latin typeface="Helvetica" pitchFamily="34" charset="0"/>
                <a:ea typeface="Calibri"/>
                <a:cs typeface="Calibri"/>
              </a:rPr>
              <a:t> through Singapore, and Singapore is a </a:t>
            </a:r>
            <a:r>
              <a:rPr lang="en-AU" sz="1100" b="1" dirty="0" smtClean="0">
                <a:effectLst/>
                <a:latin typeface="Helvetica" pitchFamily="34" charset="0"/>
                <a:ea typeface="Calibri"/>
                <a:cs typeface="Calibri"/>
              </a:rPr>
              <a:t>transit</a:t>
            </a:r>
            <a:r>
              <a:rPr lang="en-AU" sz="1100" dirty="0" smtClean="0">
                <a:effectLst/>
                <a:latin typeface="Helvetica" pitchFamily="34" charset="0"/>
                <a:ea typeface="Calibri"/>
                <a:cs typeface="Calibri"/>
              </a:rPr>
              <a:t> point.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000"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8614117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7.2</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baseline="0" dirty="0" smtClean="0">
                <a:latin typeface="Helvetica" pitchFamily="34" charset="0"/>
              </a:rPr>
              <a:t>Create an itinerary for one way airfare</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baseline="0" dirty="0" smtClean="0">
                <a:latin typeface="Helvetica" pitchFamily="34" charset="0"/>
              </a:rPr>
              <a:t>Check availability.</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Activity</a:t>
            </a:r>
            <a:endParaRPr lang="en-US" sz="1100" b="0" baseline="0" dirty="0" smtClean="0">
              <a:latin typeface="Helvetica"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baseline="0" dirty="0" smtClean="0">
                <a:latin typeface="Helvetica" pitchFamily="34" charset="0"/>
              </a:rPr>
              <a:t>Create an itinerary for one way airfare providing the lowest price point.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3272800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7.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defTabSz="946404">
              <a:buFont typeface="Arial" pitchFamily="34" charset="0"/>
              <a:buChar char="•"/>
              <a:defRPr/>
            </a:pPr>
            <a:r>
              <a:rPr lang="en-AU" sz="1200" dirty="0" smtClean="0">
                <a:solidFill>
                  <a:prstClr val="black"/>
                </a:solidFill>
              </a:rPr>
              <a:t>Review the Summary page for Element 7  to confirm with learners what has been completed for this Element.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100" b="0" dirty="0" smtClean="0">
                <a:latin typeface="Helvetica" pitchFamily="34" charset="0"/>
              </a:rPr>
              <a:t>Trainer to relate performance criteria to element 8.</a:t>
            </a:r>
          </a:p>
          <a:p>
            <a:pPr>
              <a:buFontTx/>
              <a:buNone/>
            </a:pPr>
            <a:endParaRPr lang="en-US" sz="1100" b="0" dirty="0" smtClean="0">
              <a:latin typeface="Helvetica" pitchFamily="34" charset="0"/>
            </a:endParaRPr>
          </a:p>
          <a:p>
            <a:pPr marL="171450" indent="-171450">
              <a:buFont typeface="Arial" panose="020B0604020202020204" pitchFamily="34" charset="0"/>
              <a:buChar char="•"/>
            </a:pPr>
            <a:r>
              <a:rPr lang="en-US" sz="1100" b="0" dirty="0" smtClean="0">
                <a:latin typeface="Helvetica" pitchFamily="34" charset="0"/>
              </a:rPr>
              <a:t>Performance criteria</a:t>
            </a:r>
            <a:r>
              <a:rPr lang="en-US" sz="1100" b="0" baseline="0" dirty="0" smtClean="0">
                <a:latin typeface="Helvetica" pitchFamily="34" charset="0"/>
              </a:rPr>
              <a:t> is the process by which the students training match the learning element</a:t>
            </a:r>
          </a:p>
          <a:p>
            <a:pPr marL="628650" lvl="1" indent="-171450">
              <a:buFont typeface="Arial" panose="020B0604020202020204" pitchFamily="34" charset="0"/>
              <a:buChar char="•"/>
            </a:pPr>
            <a:r>
              <a:rPr lang="en-US" sz="1100" baseline="0" dirty="0" smtClean="0">
                <a:latin typeface="Helvetica" pitchFamily="34" charset="0"/>
              </a:rPr>
              <a:t>The element is the skill</a:t>
            </a:r>
          </a:p>
          <a:p>
            <a:pPr marL="628650" lvl="1" indent="-171450">
              <a:buFont typeface="Arial" panose="020B0604020202020204" pitchFamily="34" charset="0"/>
              <a:buChar char="•"/>
            </a:pPr>
            <a:r>
              <a:rPr lang="en-US" sz="1100" baseline="0" dirty="0" smtClean="0">
                <a:latin typeface="Helvetica" pitchFamily="34" charset="0"/>
              </a:rPr>
              <a:t>To assess competency in the skill, the performance criteria is used to outline activities that can be used to assess competency.</a:t>
            </a:r>
          </a:p>
          <a:p>
            <a:pPr>
              <a:buFontTx/>
              <a:buNone/>
            </a:pPr>
            <a:endParaRPr lang="en-US" sz="1100" baseline="0" dirty="0" smtClean="0">
              <a:latin typeface="Helvetica" pitchFamily="34" charset="0"/>
            </a:endParaRPr>
          </a:p>
          <a:p>
            <a:pPr>
              <a:buFontTx/>
              <a:buNone/>
            </a:pPr>
            <a:r>
              <a:rPr lang="en-US" sz="1100" baseline="0" dirty="0" smtClean="0">
                <a:latin typeface="Helvetica" pitchFamily="34" charset="0"/>
              </a:rPr>
              <a:t>The trainer should relate how the performance criteria is related to the element.</a:t>
            </a:r>
          </a:p>
          <a:p>
            <a:pPr>
              <a:buFontTx/>
              <a:buNone/>
            </a:pPr>
            <a:endParaRPr lang="en-US" sz="1100" baseline="0" dirty="0" smtClean="0">
              <a:latin typeface="Helvetica" pitchFamily="34" charset="0"/>
            </a:endParaRPr>
          </a:p>
          <a:p>
            <a:pPr>
              <a:buFont typeface="Arial" pitchFamily="34" charset="0"/>
              <a:buNone/>
            </a:pPr>
            <a:r>
              <a:rPr lang="en-US" sz="1100" b="0" baseline="0" dirty="0" smtClean="0">
                <a:latin typeface="Helvetica" pitchFamily="34" charset="0"/>
              </a:rPr>
              <a:t>To be able to </a:t>
            </a:r>
            <a:r>
              <a:rPr lang="en-US" sz="1100" b="1" baseline="0" dirty="0" smtClean="0">
                <a:latin typeface="Helvetica" pitchFamily="34" charset="0"/>
              </a:rPr>
              <a:t>Maintain Client File </a:t>
            </a:r>
            <a:r>
              <a:rPr lang="en-US" sz="1100" b="0" baseline="0" dirty="0" smtClean="0">
                <a:latin typeface="Helvetica" pitchFamily="34" charset="0"/>
              </a:rPr>
              <a:t>the students must be able to:</a:t>
            </a:r>
          </a:p>
          <a:p>
            <a:pPr>
              <a:buFont typeface="Arial" pitchFamily="34" charset="0"/>
              <a:buNone/>
            </a:pPr>
            <a:endParaRPr lang="en-US" sz="1100" b="0" baseline="0" dirty="0" smtClean="0">
              <a:latin typeface="Helvetica" pitchFamily="34" charset="0"/>
            </a:endParaRPr>
          </a:p>
          <a:p>
            <a:pPr lvl="0"/>
            <a:r>
              <a:rPr lang="en-AU" sz="1100" i="0" kern="1200" dirty="0" smtClean="0">
                <a:solidFill>
                  <a:schemeClr val="tx1"/>
                </a:solidFill>
                <a:latin typeface="Helvetica" pitchFamily="34" charset="0"/>
              </a:rPr>
              <a:t>Record and update needs and preferences of client</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Record itineraries and airfares quoted</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Generate and issue documents</a:t>
            </a:r>
            <a:r>
              <a:rPr lang="en-AU" sz="1100" b="1" i="0" kern="1200" dirty="0" smtClean="0">
                <a:solidFill>
                  <a:schemeClr val="tx1"/>
                </a:solidFill>
                <a:latin typeface="Helvetica" pitchFamily="34" charset="0"/>
              </a:rPr>
              <a:t> </a:t>
            </a:r>
            <a:r>
              <a:rPr lang="en-AU" sz="1100" i="0" kern="1200" dirty="0" smtClean="0">
                <a:solidFill>
                  <a:schemeClr val="tx1"/>
                </a:solidFill>
                <a:latin typeface="Helvetica" pitchFamily="34" charset="0"/>
              </a:rPr>
              <a:t>to clients</a:t>
            </a:r>
          </a:p>
          <a:p>
            <a:pPr marL="171450" lvl="0" indent="-171450">
              <a:buFont typeface="Arial" panose="020B0604020202020204" pitchFamily="34" charset="0"/>
              <a:buChar char="•"/>
            </a:pPr>
            <a:r>
              <a:rPr lang="en-AU" sz="1100" i="0" kern="1200" dirty="0" smtClean="0">
                <a:solidFill>
                  <a:schemeClr val="tx1"/>
                </a:solidFill>
                <a:latin typeface="Helvetica" pitchFamily="34" charset="0"/>
              </a:rPr>
              <a:t>Record and process changes to bookings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Record, up-date and receipt payments</a:t>
            </a:r>
            <a:r>
              <a:rPr lang="en-AU" sz="1100" b="1" i="0" kern="1200" dirty="0" smtClean="0">
                <a:solidFill>
                  <a:schemeClr val="tx1"/>
                </a:solidFill>
                <a:latin typeface="Helvetica" pitchFamily="34" charset="0"/>
              </a:rPr>
              <a:t> </a:t>
            </a:r>
            <a:r>
              <a:rPr lang="en-AU" sz="1100" i="0" kern="1200" dirty="0" smtClean="0">
                <a:solidFill>
                  <a:schemeClr val="tx1"/>
                </a:solidFill>
                <a:latin typeface="Helvetica" pitchFamily="34" charset="0"/>
              </a:rPr>
              <a:t>made by client.</a:t>
            </a:r>
            <a:endParaRPr lang="en-US" sz="1100" b="0" i="0" baseline="0" dirty="0" smtClean="0">
              <a:latin typeface="Helvetica" pitchFamily="34" charset="0"/>
            </a:endParaRPr>
          </a:p>
          <a:p>
            <a:pPr>
              <a:buFont typeface="Arial" pitchFamily="34" charset="0"/>
              <a:buNone/>
            </a:pPr>
            <a:endParaRPr lang="en-US" sz="1100" b="0" i="0" baseline="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524778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a:t>
            </a:r>
            <a:r>
              <a:rPr kumimoji="0" lang="en-US" sz="1100" b="1" i="0" u="none" strike="noStrike" kern="1200" cap="none" spc="0" normalizeH="0" baseline="0" noProof="0" dirty="0" smtClean="0">
                <a:ln>
                  <a:noFill/>
                </a:ln>
                <a:solidFill>
                  <a:prstClr val="black"/>
                </a:solidFill>
                <a:effectLst/>
                <a:uLnTx/>
                <a:uFillTx/>
                <a:latin typeface="Helvetica" pitchFamily="34" charset="0"/>
              </a:rPr>
              <a:t>PC: 8.1</a:t>
            </a:r>
            <a:endParaRPr kumimoji="0" lang="en-US" sz="1100" b="0" i="0" u="none" strike="noStrike" kern="1200" cap="none" spc="0" normalizeH="0" baseline="0" noProof="0" dirty="0" smtClean="0">
              <a:ln>
                <a:noFill/>
              </a:ln>
              <a:solidFill>
                <a:prstClr val="black"/>
              </a:solidFill>
              <a:effectLst/>
              <a:uLnTx/>
              <a:uFillTx/>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Refer to TM notes for these topics.	</a:t>
            </a:r>
          </a:p>
          <a:p>
            <a:pPr marL="0" marR="0" indent="0" algn="l" defTabSz="914400" rtl="0" eaLnBrk="1" fontAlgn="auto" latinLnBrk="0" hangingPunct="1">
              <a:lnSpc>
                <a:spcPct val="100000"/>
              </a:lnSpc>
              <a:spcBef>
                <a:spcPts val="0"/>
              </a:spcBef>
              <a:spcAft>
                <a:spcPts val="0"/>
              </a:spcAft>
              <a:buClrTx/>
              <a:buSzTx/>
              <a:buFontTx/>
              <a:buNone/>
              <a:tabLst/>
              <a:defRPr/>
            </a:pPr>
            <a:r>
              <a:rPr lang="en-AU" sz="1100" b="1" baseline="0" dirty="0" smtClean="0">
                <a:solidFill>
                  <a:srgbClr val="45545F"/>
                </a:solidFill>
                <a:effectLst/>
                <a:latin typeface="Helvetica" pitchFamily="34" charset="0"/>
                <a:ea typeface="Times New Roman"/>
                <a:cs typeface="Times New Roman"/>
              </a:rPr>
              <a:t>Electronic client record systems</a:t>
            </a:r>
          </a:p>
          <a:p>
            <a:pPr marL="935990" indent="-935990">
              <a:spcBef>
                <a:spcPts val="600"/>
              </a:spcBef>
            </a:pPr>
            <a:r>
              <a:rPr lang="en-AU" sz="1100" b="1" baseline="0" dirty="0" smtClean="0">
                <a:solidFill>
                  <a:srgbClr val="45545F"/>
                </a:solidFill>
                <a:effectLst/>
                <a:latin typeface="Helvetica" pitchFamily="34" charset="0"/>
                <a:ea typeface="Times New Roman"/>
                <a:cs typeface="Times New Roman"/>
              </a:rPr>
              <a:t>Manual client record systems</a:t>
            </a:r>
          </a:p>
          <a:p>
            <a:pPr>
              <a:lnSpc>
                <a:spcPct val="115000"/>
              </a:lnSpc>
              <a:spcBef>
                <a:spcPts val="400"/>
              </a:spcBef>
              <a:spcAft>
                <a:spcPts val="800"/>
              </a:spcAft>
            </a:pPr>
            <a:r>
              <a:rPr lang="en-AU" sz="1100" baseline="0" dirty="0" smtClean="0">
                <a:effectLst/>
                <a:latin typeface="Helvetica" pitchFamily="34" charset="0"/>
                <a:ea typeface="Calibri"/>
                <a:cs typeface="Calibri"/>
              </a:rPr>
              <a:t>Most travel agents use one of the following methods to record the detail of the products and services booked, their status and other relevant client detail. </a:t>
            </a:r>
            <a:endParaRPr lang="en-AU" sz="1100" baseline="0" dirty="0" smtClean="0">
              <a:effectLst/>
              <a:latin typeface="Helvetica" pitchFamily="34" charset="0"/>
              <a:ea typeface="Times New Roman"/>
              <a:cs typeface="Times New Roman"/>
            </a:endParaRPr>
          </a:p>
          <a:p>
            <a:pPr>
              <a:lnSpc>
                <a:spcPct val="115000"/>
              </a:lnSpc>
              <a:spcBef>
                <a:spcPts val="400"/>
              </a:spcBef>
              <a:spcAft>
                <a:spcPts val="400"/>
              </a:spcAft>
            </a:pPr>
            <a:r>
              <a:rPr lang="en-AU" sz="1100" baseline="0" dirty="0" smtClean="0">
                <a:solidFill>
                  <a:srgbClr val="000000"/>
                </a:solidFill>
                <a:effectLst/>
                <a:latin typeface="Helvetica" pitchFamily="34" charset="0"/>
                <a:ea typeface="Calibri"/>
                <a:cs typeface="HelveticaNeueLTStd-Bd"/>
              </a:rPr>
              <a:t>1. A totally manual system </a:t>
            </a:r>
            <a:endParaRPr lang="en-AU" sz="1100" baseline="0" dirty="0" smtClean="0">
              <a:effectLst/>
              <a:latin typeface="Helvetica" pitchFamily="34" charset="0"/>
              <a:ea typeface="Times New Roman"/>
              <a:cs typeface="Times New Roman"/>
            </a:endParaRPr>
          </a:p>
          <a:p>
            <a:pPr>
              <a:lnSpc>
                <a:spcPct val="115000"/>
              </a:lnSpc>
              <a:spcBef>
                <a:spcPts val="400"/>
              </a:spcBef>
              <a:spcAft>
                <a:spcPts val="400"/>
              </a:spcAft>
            </a:pPr>
            <a:r>
              <a:rPr lang="en-AU" sz="1100" baseline="0" dirty="0" smtClean="0">
                <a:solidFill>
                  <a:srgbClr val="000000"/>
                </a:solidFill>
                <a:effectLst/>
                <a:latin typeface="Helvetica" pitchFamily="34" charset="0"/>
                <a:ea typeface="Calibri"/>
                <a:cs typeface="HelveticaNeueLTStd-Bd"/>
              </a:rPr>
              <a:t>2. A totally electronic system </a:t>
            </a:r>
            <a:endParaRPr lang="en-AU" sz="1100" baseline="0" dirty="0" smtClean="0">
              <a:effectLst/>
              <a:latin typeface="Helvetica" pitchFamily="34" charset="0"/>
              <a:ea typeface="Times New Roman"/>
              <a:cs typeface="Times New Roman"/>
            </a:endParaRPr>
          </a:p>
          <a:p>
            <a:pPr>
              <a:lnSpc>
                <a:spcPct val="115000"/>
              </a:lnSpc>
              <a:spcBef>
                <a:spcPts val="400"/>
              </a:spcBef>
              <a:spcAft>
                <a:spcPts val="400"/>
              </a:spcAft>
            </a:pPr>
            <a:r>
              <a:rPr lang="en-AU" sz="1100" baseline="0" dirty="0" smtClean="0">
                <a:solidFill>
                  <a:srgbClr val="000000"/>
                </a:solidFill>
                <a:effectLst/>
                <a:latin typeface="Helvetica" pitchFamily="34" charset="0"/>
                <a:ea typeface="Calibri"/>
                <a:cs typeface="HelveticaNeueLTStd-Bd"/>
              </a:rPr>
              <a:t>3. A combination of both – most common</a:t>
            </a:r>
            <a:endParaRPr lang="en-AU" sz="1100" baseline="0" dirty="0" smtClean="0">
              <a:effectLst/>
              <a:latin typeface="Helvetica" pitchFamily="34" charset="0"/>
              <a:ea typeface="Times New Roman"/>
              <a:cs typeface="Times New Roman"/>
            </a:endParaRPr>
          </a:p>
          <a:p>
            <a:pPr>
              <a:buFont typeface="Arial" pitchFamily="34" charset="0"/>
              <a:buNone/>
            </a:pPr>
            <a:endParaRPr lang="en-US" sz="1100" b="1" baseline="0" dirty="0" smtClean="0">
              <a:latin typeface="Helvetica" pitchFamily="34" charset="0"/>
            </a:endParaRPr>
          </a:p>
          <a:p>
            <a:pPr>
              <a:buFont typeface="Arial" pitchFamily="34" charset="0"/>
              <a:buNone/>
            </a:pPr>
            <a:r>
              <a:rPr lang="en-US" sz="1100" b="1" baseline="0" dirty="0" smtClean="0">
                <a:latin typeface="Helvetica" pitchFamily="34" charset="0"/>
              </a:rPr>
              <a:t>Products and services</a:t>
            </a:r>
          </a:p>
          <a:p>
            <a:pPr>
              <a:lnSpc>
                <a:spcPct val="115000"/>
              </a:lnSpc>
              <a:spcBef>
                <a:spcPts val="400"/>
              </a:spcBef>
              <a:spcAft>
                <a:spcPts val="800"/>
              </a:spcAft>
            </a:pPr>
            <a:r>
              <a:rPr lang="en-AU" sz="1100" baseline="0" dirty="0" smtClean="0">
                <a:effectLst/>
                <a:latin typeface="Helvetica" pitchFamily="34" charset="0"/>
                <a:ea typeface="Calibri"/>
                <a:cs typeface="Calibri"/>
              </a:rPr>
              <a:t>To ensure accuracy when preparing to issue documentation the following should be checked prior to commencing voucher production. </a:t>
            </a:r>
            <a:endParaRPr lang="en-AU" sz="1100" baseline="0" dirty="0" smtClean="0">
              <a:effectLst/>
              <a:latin typeface="Helvetica" pitchFamily="34" charset="0"/>
              <a:ea typeface="Times New Roman"/>
              <a:cs typeface="Times New Roman"/>
            </a:endParaRPr>
          </a:p>
          <a:p>
            <a:pPr marL="342900" lvl="0" indent="-342900">
              <a:lnSpc>
                <a:spcPct val="115000"/>
              </a:lnSpc>
              <a:spcBef>
                <a:spcPts val="300"/>
              </a:spcBef>
              <a:spcAft>
                <a:spcPts val="600"/>
              </a:spcAft>
              <a:buFont typeface="Symbol"/>
              <a:buChar char=""/>
            </a:pPr>
            <a:r>
              <a:rPr lang="en-SG" sz="1100" baseline="0" dirty="0" smtClean="0">
                <a:effectLst/>
                <a:latin typeface="Helvetica" pitchFamily="34" charset="0"/>
                <a:ea typeface="Calibri"/>
                <a:cs typeface="Times New Roman"/>
              </a:rPr>
              <a:t>All passenger names match their photo ID/passport </a:t>
            </a:r>
            <a:endParaRPr lang="en-AU" sz="1100" baseline="0" dirty="0" smtClean="0">
              <a:effectLst/>
              <a:latin typeface="Helvetica" pitchFamily="34" charset="0"/>
              <a:ea typeface="Times New Roman"/>
              <a:cs typeface="Times New Roman"/>
            </a:endParaRPr>
          </a:p>
          <a:p>
            <a:pPr marL="342900" lvl="0" indent="-342900">
              <a:lnSpc>
                <a:spcPct val="115000"/>
              </a:lnSpc>
              <a:spcBef>
                <a:spcPts val="300"/>
              </a:spcBef>
              <a:spcAft>
                <a:spcPts val="600"/>
              </a:spcAft>
              <a:buFont typeface="Symbol"/>
              <a:buChar char=""/>
            </a:pPr>
            <a:r>
              <a:rPr lang="en-SG" sz="1100" baseline="0" dirty="0" smtClean="0">
                <a:effectLst/>
                <a:latin typeface="Helvetica" pitchFamily="34" charset="0"/>
                <a:ea typeface="Calibri"/>
                <a:cs typeface="Times New Roman"/>
              </a:rPr>
              <a:t>All passenger names are correct across all items, products or services </a:t>
            </a:r>
            <a:endParaRPr lang="en-AU" sz="1100" baseline="0" dirty="0" smtClean="0">
              <a:effectLst/>
              <a:latin typeface="Helvetica" pitchFamily="34" charset="0"/>
              <a:ea typeface="Times New Roman"/>
              <a:cs typeface="Times New Roman"/>
            </a:endParaRPr>
          </a:p>
          <a:p>
            <a:pPr marL="342900" lvl="0" indent="-342900">
              <a:lnSpc>
                <a:spcPct val="115000"/>
              </a:lnSpc>
              <a:spcBef>
                <a:spcPts val="300"/>
              </a:spcBef>
              <a:spcAft>
                <a:spcPts val="600"/>
              </a:spcAft>
              <a:buFont typeface="Symbol"/>
              <a:buChar char=""/>
            </a:pPr>
            <a:r>
              <a:rPr lang="en-SG" sz="1100" baseline="0" dirty="0" smtClean="0">
                <a:effectLst/>
                <a:latin typeface="Helvetica" pitchFamily="34" charset="0"/>
                <a:ea typeface="Calibri"/>
                <a:cs typeface="Times New Roman"/>
              </a:rPr>
              <a:t>All items, products or services have a confirmed status </a:t>
            </a:r>
            <a:endParaRPr lang="en-AU" sz="1100" baseline="0" dirty="0" smtClean="0">
              <a:effectLst/>
              <a:latin typeface="Helvetica" pitchFamily="34" charset="0"/>
              <a:ea typeface="Times New Roman"/>
              <a:cs typeface="Times New Roman"/>
            </a:endParaRPr>
          </a:p>
          <a:p>
            <a:pPr marL="342900" lvl="0" indent="-342900">
              <a:lnSpc>
                <a:spcPct val="115000"/>
              </a:lnSpc>
              <a:spcBef>
                <a:spcPts val="300"/>
              </a:spcBef>
              <a:spcAft>
                <a:spcPts val="600"/>
              </a:spcAft>
              <a:buFont typeface="Symbol"/>
              <a:buChar char=""/>
            </a:pPr>
            <a:r>
              <a:rPr lang="en-SG" sz="1100" baseline="0" dirty="0" smtClean="0">
                <a:effectLst/>
                <a:latin typeface="Helvetica" pitchFamily="34" charset="0"/>
                <a:ea typeface="Calibri"/>
                <a:cs typeface="Times New Roman"/>
              </a:rPr>
              <a:t>There is date/city continuity for all items, product or services booked </a:t>
            </a:r>
            <a:endParaRPr lang="en-AU" sz="1100" baseline="0" dirty="0" smtClean="0">
              <a:effectLst/>
              <a:latin typeface="Helvetica" pitchFamily="34" charset="0"/>
              <a:ea typeface="Times New Roman"/>
              <a:cs typeface="Times New Roman"/>
            </a:endParaRPr>
          </a:p>
          <a:p>
            <a:pPr marL="342900" lvl="0" indent="-342900">
              <a:lnSpc>
                <a:spcPct val="115000"/>
              </a:lnSpc>
              <a:spcBef>
                <a:spcPts val="300"/>
              </a:spcBef>
              <a:spcAft>
                <a:spcPts val="600"/>
              </a:spcAft>
              <a:buFont typeface="Symbol"/>
              <a:buChar char=""/>
            </a:pPr>
            <a:r>
              <a:rPr lang="en-SG" sz="1100" baseline="0" dirty="0" smtClean="0">
                <a:effectLst/>
                <a:latin typeface="Helvetica" pitchFamily="34" charset="0"/>
                <a:ea typeface="Calibri"/>
                <a:cs typeface="Times New Roman"/>
              </a:rPr>
              <a:t>There are no unexplained gaps in the itinerary </a:t>
            </a:r>
            <a:endParaRPr lang="en-AU" sz="1100" baseline="0" dirty="0" smtClean="0">
              <a:effectLst/>
              <a:latin typeface="Helvetica" pitchFamily="34" charset="0"/>
              <a:ea typeface="Times New Roman"/>
              <a:cs typeface="Times New Roman"/>
            </a:endParaRPr>
          </a:p>
          <a:p>
            <a:pPr marL="342900" lvl="0" indent="-342900">
              <a:lnSpc>
                <a:spcPct val="115000"/>
              </a:lnSpc>
              <a:spcBef>
                <a:spcPts val="300"/>
              </a:spcBef>
              <a:spcAft>
                <a:spcPts val="600"/>
              </a:spcAft>
              <a:buFont typeface="Symbol"/>
              <a:buChar char=""/>
            </a:pPr>
            <a:r>
              <a:rPr lang="en-SG" sz="1100" baseline="0" dirty="0" smtClean="0">
                <a:effectLst/>
                <a:latin typeface="Helvetica" pitchFamily="34" charset="0"/>
                <a:ea typeface="Calibri"/>
                <a:cs typeface="Times New Roman"/>
              </a:rPr>
              <a:t>The booking is fully paid </a:t>
            </a:r>
            <a:endParaRPr lang="en-AU" sz="1100" baseline="0" dirty="0" smtClean="0">
              <a:effectLst/>
              <a:latin typeface="Helvetica" pitchFamily="34" charset="0"/>
              <a:ea typeface="Times New Roman"/>
              <a:cs typeface="Times New Roman"/>
            </a:endParaRPr>
          </a:p>
          <a:p>
            <a:pPr>
              <a:buFont typeface="Arial" pitchFamily="34" charset="0"/>
              <a:buNone/>
            </a:pPr>
            <a:endParaRPr lang="en-US" sz="1100" dirty="0" smtClean="0">
              <a:latin typeface="Helvetica" pitchFamily="34" charset="0"/>
            </a:endParaRPr>
          </a:p>
          <a:p>
            <a:pPr>
              <a:buFont typeface="Arial" pitchFamily="34" charset="0"/>
              <a:buNone/>
            </a:pPr>
            <a:r>
              <a:rPr lang="en-US" sz="1100" dirty="0" smtClean="0">
                <a:latin typeface="Helvetica" pitchFamily="34" charset="0"/>
              </a:rPr>
              <a:t>Refer to TM for further notes</a:t>
            </a:r>
            <a:endParaRPr lang="en-US" sz="11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4918363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8.2</a:t>
            </a:r>
            <a:endParaRPr lang="en-AU" sz="1100" i="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Itineraries and airfares quoted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All types of fares and trips offered by the host enterprise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Through fares incorporating add-ons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Mixed class fares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Round, circle and open jaw trips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Fares incorporating intermediate points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Fares incorporating sector journeys and side-trips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Fares incorporating airport and other taxes.</a:t>
            </a:r>
          </a:p>
          <a:p>
            <a:pPr marL="171450" indent="-171450">
              <a:buFont typeface="Arial" panose="020B0604020202020204" pitchFamily="34" charset="0"/>
              <a:buChar char="•"/>
            </a:pPr>
            <a:endParaRPr lang="en-AU" sz="1100" i="0" kern="1200" dirty="0" smtClean="0">
              <a:solidFill>
                <a:schemeClr val="tx1"/>
              </a:solidFill>
              <a:latin typeface="Helvetica" pitchFamily="34" charset="0"/>
            </a:endParaRPr>
          </a:p>
          <a:p>
            <a:r>
              <a:rPr lang="en-AU" sz="1100" i="0" kern="1200" dirty="0" smtClean="0">
                <a:solidFill>
                  <a:schemeClr val="tx1"/>
                </a:solidFill>
                <a:latin typeface="Helvetica" pitchFamily="34" charset="0"/>
              </a:rPr>
              <a:t>Discuss airfare conditions and penalties and clearly identifying these with the client.</a:t>
            </a:r>
          </a:p>
          <a:p>
            <a:endParaRPr lang="en-AU" sz="1100" i="0" kern="1200" dirty="0" smtClean="0">
              <a:solidFill>
                <a:schemeClr val="tx1"/>
              </a:solidFill>
              <a:latin typeface="Helvetica" pitchFamily="34" charset="0"/>
            </a:endParaRPr>
          </a:p>
          <a:p>
            <a:r>
              <a:rPr lang="en-AU" sz="1100" b="1" i="0" kern="1200" dirty="0" smtClean="0">
                <a:solidFill>
                  <a:schemeClr val="tx1"/>
                </a:solidFill>
                <a:latin typeface="Helvetica" pitchFamily="34" charset="0"/>
              </a:rPr>
              <a:t>Group Activity</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Create an itinerary one</a:t>
            </a:r>
            <a:r>
              <a:rPr lang="en-AU" sz="1100" i="0" kern="1200" baseline="0" dirty="0" smtClean="0">
                <a:solidFill>
                  <a:schemeClr val="tx1"/>
                </a:solidFill>
                <a:latin typeface="Helvetica" pitchFamily="34" charset="0"/>
              </a:rPr>
              <a:t> of the following itineraries and include a quote for the client: </a:t>
            </a:r>
          </a:p>
          <a:p>
            <a:endParaRPr lang="en-AU" sz="1100" i="0" kern="1200" baseline="0" dirty="0" smtClean="0">
              <a:solidFill>
                <a:schemeClr val="tx1"/>
              </a:solidFill>
              <a:latin typeface="Helvetica" pitchFamily="34" charset="0"/>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i="0" kern="1200" dirty="0" smtClean="0">
                <a:solidFill>
                  <a:schemeClr val="tx1"/>
                </a:solidFill>
                <a:latin typeface="Helvetica" pitchFamily="34" charset="0"/>
              </a:rPr>
              <a:t>Round</a:t>
            </a:r>
            <a:r>
              <a:rPr lang="en-AU" sz="1100" i="0" kern="1200" baseline="0" dirty="0" smtClean="0">
                <a:solidFill>
                  <a:schemeClr val="tx1"/>
                </a:solidFill>
                <a:latin typeface="Helvetica" pitchFamily="34" charset="0"/>
              </a:rPr>
              <a:t> or</a:t>
            </a:r>
            <a:r>
              <a:rPr lang="en-AU" sz="1100" i="0" kern="1200" dirty="0" smtClean="0">
                <a:solidFill>
                  <a:schemeClr val="tx1"/>
                </a:solidFill>
                <a:latin typeface="Helvetica" pitchFamily="34" charset="0"/>
              </a:rPr>
              <a:t> circle or open jaw trips.</a:t>
            </a:r>
          </a:p>
          <a:p>
            <a:endParaRPr lang="en-AU" sz="1200" i="0" kern="1200" baseline="0" dirty="0" smtClean="0">
              <a:solidFill>
                <a:schemeClr val="tx1"/>
              </a:solidFill>
              <a:latin typeface="+mn-lt"/>
              <a:ea typeface="+mn-ea"/>
              <a:cs typeface="+mn-cs"/>
            </a:endParaRPr>
          </a:p>
          <a:p>
            <a:endParaRPr lang="en-US" i="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0411737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8.3</a:t>
            </a:r>
          </a:p>
          <a:p>
            <a:r>
              <a:rPr lang="en-AU" sz="1100" i="0" kern="1200" dirty="0" smtClean="0">
                <a:solidFill>
                  <a:schemeClr val="tx1"/>
                </a:solidFill>
                <a:latin typeface="Helvetica" pitchFamily="34" charset="0"/>
              </a:rPr>
              <a:t>Documents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Invoices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Credit notes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Receipts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Confirmation letters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Itineraries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Information packs.</a:t>
            </a:r>
          </a:p>
          <a:p>
            <a:pPr marL="171450" indent="-171450">
              <a:buFont typeface="Arial" panose="020B0604020202020204" pitchFamily="34" charset="0"/>
              <a:buChar char="•"/>
            </a:pPr>
            <a:endParaRPr lang="en-AU" sz="1100" i="0" kern="1200" dirty="0" smtClean="0">
              <a:solidFill>
                <a:schemeClr val="tx1"/>
              </a:solidFill>
              <a:latin typeface="Helvetica" pitchFamily="34" charset="0"/>
            </a:endParaRPr>
          </a:p>
          <a:p>
            <a:pPr marL="171450" indent="-171450">
              <a:buFont typeface="Arial" panose="020B0604020202020204" pitchFamily="34" charset="0"/>
              <a:buChar char="•"/>
            </a:pPr>
            <a:r>
              <a:rPr lang="en-AU" sz="1100" i="0" kern="1200" dirty="0" smtClean="0">
                <a:solidFill>
                  <a:schemeClr val="tx1"/>
                </a:solidFill>
                <a:latin typeface="Helvetica" pitchFamily="34" charset="0"/>
              </a:rPr>
              <a:t>Ensure learners</a:t>
            </a:r>
            <a:r>
              <a:rPr lang="en-AU" sz="1100" i="0" kern="1200" baseline="0" dirty="0" smtClean="0">
                <a:solidFill>
                  <a:schemeClr val="tx1"/>
                </a:solidFill>
                <a:latin typeface="Helvetica" pitchFamily="34" charset="0"/>
              </a:rPr>
              <a:t> are familiar with each type of document. Have samples available if possible.</a:t>
            </a:r>
          </a:p>
          <a:p>
            <a:pPr marL="171450" indent="-171450">
              <a:buFont typeface="Arial" panose="020B0604020202020204" pitchFamily="34" charset="0"/>
              <a:buChar char="•"/>
            </a:pPr>
            <a:endParaRPr lang="en-AU" sz="1200" i="0" kern="1200" dirty="0" smtClean="0">
              <a:solidFill>
                <a:schemeClr val="tx1"/>
              </a:solidFill>
              <a:latin typeface="+mn-lt"/>
              <a:ea typeface="+mn-ea"/>
              <a:cs typeface="+mn-cs"/>
            </a:endParaRPr>
          </a:p>
          <a:p>
            <a:endParaRPr lang="en-US" b="0" i="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3089871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8.3</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r>
              <a:rPr lang="en-AU" sz="1100" i="0" kern="1200" dirty="0" smtClean="0">
                <a:solidFill>
                  <a:schemeClr val="tx1"/>
                </a:solidFill>
                <a:latin typeface="Helvetica" pitchFamily="34" charset="0"/>
              </a:rPr>
              <a:t>Using TM notes identify the importance of detailing information in writing and</a:t>
            </a:r>
            <a:r>
              <a:rPr lang="en-AU" sz="1100" i="0" kern="1200" baseline="0" dirty="0" smtClean="0">
                <a:solidFill>
                  <a:schemeClr val="tx1"/>
                </a:solidFill>
                <a:latin typeface="Helvetica" pitchFamily="34" charset="0"/>
              </a:rPr>
              <a:t> </a:t>
            </a:r>
            <a:r>
              <a:rPr lang="en-AU" sz="1100" i="0" kern="1200" dirty="0" smtClean="0">
                <a:solidFill>
                  <a:schemeClr val="tx1"/>
                </a:solidFill>
                <a:latin typeface="Helvetica" pitchFamily="34" charset="0"/>
              </a:rPr>
              <a:t>verifying key details for tickets and itinerary regarding names,</a:t>
            </a:r>
            <a:r>
              <a:rPr lang="en-AU" sz="1100" i="0" kern="1200" baseline="0" dirty="0" smtClean="0">
                <a:solidFill>
                  <a:schemeClr val="tx1"/>
                </a:solidFill>
                <a:latin typeface="Helvetica" pitchFamily="34" charset="0"/>
              </a:rPr>
              <a:t> dates times and so on.</a:t>
            </a:r>
            <a:endParaRPr lang="en-AU" sz="1100" i="0" kern="1200" dirty="0" smtClean="0">
              <a:solidFill>
                <a:schemeClr val="tx1"/>
              </a:solidFill>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AU" sz="1100" b="0" i="0" u="none" strike="noStrike" kern="1200" cap="none" spc="0" normalizeH="0" baseline="0" noProof="0" dirty="0" smtClean="0">
              <a:ln>
                <a:noFill/>
              </a:ln>
              <a:solidFill>
                <a:prstClr val="black"/>
              </a:solidFill>
              <a:effectLst/>
              <a:uLnTx/>
              <a:uFillTx/>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100" b="0" i="0" u="none" strike="noStrike" kern="1200" cap="none" spc="0" normalizeH="0" baseline="0" noProof="0" dirty="0" smtClean="0">
                <a:ln>
                  <a:noFill/>
                </a:ln>
                <a:solidFill>
                  <a:prstClr val="black"/>
                </a:solidFill>
                <a:effectLst/>
                <a:uLnTx/>
                <a:uFillTx/>
                <a:latin typeface="Helvetica" pitchFamily="34" charset="0"/>
              </a:rPr>
              <a:t>Complete the activity in the TM</a:t>
            </a:r>
          </a:p>
          <a:p>
            <a:r>
              <a:rPr lang="en-AU" sz="1100" b="0" i="0" kern="1200" baseline="0" dirty="0" smtClean="0">
                <a:solidFill>
                  <a:schemeClr val="tx1"/>
                </a:solidFill>
                <a:latin typeface="Helvetica" pitchFamily="34" charset="0"/>
              </a:rPr>
              <a:t>Review sample tickets identifying key sections to explain and confirm with client.</a:t>
            </a:r>
          </a:p>
          <a:p>
            <a:r>
              <a:rPr lang="en-AU" sz="1100" b="0" i="0" kern="1200" baseline="0" dirty="0" smtClean="0">
                <a:solidFill>
                  <a:schemeClr val="tx1"/>
                </a:solidFill>
                <a:latin typeface="Helvetica" pitchFamily="34" charset="0"/>
              </a:rPr>
              <a:t>Have a sample invoice available for review and discussion as needed.</a:t>
            </a:r>
          </a:p>
          <a:p>
            <a:endParaRPr lang="en-AU" sz="1100" b="0" i="0" kern="1200" baseline="0" dirty="0" smtClean="0">
              <a:solidFill>
                <a:schemeClr val="tx1"/>
              </a:solidFill>
              <a:latin typeface="Helvetica" pitchFamily="34" charset="0"/>
            </a:endParaRPr>
          </a:p>
          <a:p>
            <a:r>
              <a:rPr lang="en-AU" sz="1100" b="1" i="0" kern="1200" baseline="0" dirty="0" smtClean="0">
                <a:solidFill>
                  <a:schemeClr val="tx1"/>
                </a:solidFill>
                <a:latin typeface="Helvetica" pitchFamily="34" charset="0"/>
              </a:rPr>
              <a:t>Activity</a:t>
            </a:r>
          </a:p>
          <a:p>
            <a:r>
              <a:rPr lang="en-AU" sz="1100" b="0" i="0" kern="1200" baseline="0" dirty="0" smtClean="0">
                <a:solidFill>
                  <a:schemeClr val="tx1"/>
                </a:solidFill>
                <a:latin typeface="Helvetica" pitchFamily="34" charset="0"/>
              </a:rPr>
              <a:t>Based on the itinerary created in the previous activity at 8.2 , have learners create </a:t>
            </a:r>
            <a:r>
              <a:rPr lang="en-AU" sz="1100" b="1" i="0" u="sng" kern="1200" baseline="0" dirty="0" smtClean="0">
                <a:solidFill>
                  <a:schemeClr val="tx1"/>
                </a:solidFill>
                <a:latin typeface="Helvetica" pitchFamily="34" charset="0"/>
              </a:rPr>
              <a:t>one</a:t>
            </a:r>
            <a:r>
              <a:rPr lang="en-AU" sz="1100" b="0" i="0" kern="1200" baseline="0" dirty="0" smtClean="0">
                <a:solidFill>
                  <a:schemeClr val="tx1"/>
                </a:solidFill>
                <a:latin typeface="Helvetica" pitchFamily="34" charset="0"/>
              </a:rPr>
              <a:t> of the following  documents: </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Invoice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Credit note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Receipt</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Confirmation letter</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Information pack.</a:t>
            </a:r>
          </a:p>
          <a:p>
            <a:pPr marL="171450" indent="-171450">
              <a:buFont typeface="Arial" panose="020B0604020202020204" pitchFamily="34" charset="0"/>
              <a:buChar char="•"/>
            </a:pPr>
            <a:endParaRPr lang="en-AU" sz="1100" i="0" kern="1200" dirty="0" smtClean="0">
              <a:solidFill>
                <a:schemeClr val="tx1"/>
              </a:solidFill>
              <a:latin typeface="Helvetica" pitchFamily="34" charset="0"/>
            </a:endParaRPr>
          </a:p>
          <a:p>
            <a:pPr marL="171450" indent="-171450">
              <a:buFont typeface="Arial" panose="020B0604020202020204" pitchFamily="34" charset="0"/>
              <a:buChar char="•"/>
            </a:pPr>
            <a:r>
              <a:rPr lang="en-AU" sz="1100" i="0" kern="1200" dirty="0" smtClean="0">
                <a:solidFill>
                  <a:schemeClr val="tx1"/>
                </a:solidFill>
                <a:latin typeface="Helvetica" pitchFamily="34" charset="0"/>
              </a:rPr>
              <a:t>Share completed</a:t>
            </a:r>
            <a:r>
              <a:rPr lang="en-AU" sz="1100" i="0" kern="1200" baseline="0" dirty="0" smtClean="0">
                <a:solidFill>
                  <a:schemeClr val="tx1"/>
                </a:solidFill>
                <a:latin typeface="Helvetica" pitchFamily="34" charset="0"/>
              </a:rPr>
              <a:t> work with the group.</a:t>
            </a:r>
            <a:endParaRPr lang="en-AU" sz="1100" i="0" kern="1200" dirty="0" smtClean="0">
              <a:solidFill>
                <a:schemeClr val="tx1"/>
              </a:solidFill>
              <a:latin typeface="Helvetica" pitchFamily="34" charset="0"/>
            </a:endParaRPr>
          </a:p>
          <a:p>
            <a:pPr marL="171450" indent="-171450">
              <a:buFont typeface="Arial" panose="020B0604020202020204" pitchFamily="34" charset="0"/>
              <a:buChar char="•"/>
            </a:pPr>
            <a:endParaRPr lang="en-AU" sz="1200" i="0" kern="1200" dirty="0" smtClean="0">
              <a:solidFill>
                <a:schemeClr val="tx1"/>
              </a:solidFill>
              <a:latin typeface="+mn-lt"/>
              <a:ea typeface="+mn-ea"/>
              <a:cs typeface="+mn-cs"/>
            </a:endParaRPr>
          </a:p>
          <a:p>
            <a:endParaRPr lang="en-US" b="0" i="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3089871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baseline="0" dirty="0" smtClean="0">
                <a:latin typeface="Helvetica" pitchFamily="34" charset="0"/>
              </a:rPr>
              <a:t>PC:   8.4</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b="1" baseline="0" dirty="0" smtClean="0">
              <a:latin typeface="Helvetica" pitchFamily="34" charset="0"/>
            </a:endParaRPr>
          </a:p>
          <a:p>
            <a:r>
              <a:rPr lang="en-AU" sz="1100" i="0" kern="1200" dirty="0" smtClean="0">
                <a:solidFill>
                  <a:schemeClr val="tx1"/>
                </a:solidFill>
                <a:latin typeface="Helvetica" pitchFamily="34" charset="0"/>
              </a:rPr>
              <a:t>Changes to bookings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Changed arrangements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Cancellations, including the processing of refunds and issuing of credit notes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Verifying alterations with carriers</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Confirming alterations with clients and issuing appropriate confirmations and amended documentation</a:t>
            </a:r>
            <a:r>
              <a:rPr lang="en-AU" sz="1100" kern="1200" dirty="0" smtClean="0">
                <a:solidFill>
                  <a:schemeClr val="tx1"/>
                </a:solidFill>
                <a:latin typeface="Helvetica" pitchFamily="34" charset="0"/>
              </a:rPr>
              <a:t>.</a:t>
            </a:r>
          </a:p>
          <a:p>
            <a:endParaRPr lang="en-AU" sz="1100" b="1" kern="1200" baseline="0" dirty="0" smtClean="0">
              <a:solidFill>
                <a:schemeClr val="tx1"/>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100" b="1" kern="1200" baseline="0" dirty="0" smtClean="0">
                <a:solidFill>
                  <a:schemeClr val="tx1"/>
                </a:solidFill>
                <a:latin typeface="Helvetica" pitchFamily="34" charset="0"/>
              </a:rPr>
              <a:t>Activity</a:t>
            </a:r>
            <a:endParaRPr lang="en-AU" sz="1100" b="0" i="0" kern="1200" baseline="0" dirty="0" smtClean="0">
              <a:solidFill>
                <a:schemeClr val="tx1"/>
              </a:solidFill>
              <a:latin typeface="Helvetica"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100" b="0" i="0" kern="1200" baseline="0" dirty="0" smtClean="0">
                <a:solidFill>
                  <a:schemeClr val="tx1"/>
                </a:solidFill>
                <a:latin typeface="Helvetica" pitchFamily="34" charset="0"/>
              </a:rPr>
              <a:t>Based on the itinerary created in the previous activity: made an amendment to meet the clients need. Share the completed changes with the group.</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kern="1200" baseline="0" dirty="0" smtClean="0">
                <a:solidFill>
                  <a:schemeClr val="tx1"/>
                </a:solidFill>
                <a:latin typeface="+mn-lt"/>
                <a:ea typeface="+mn-ea"/>
                <a:cs typeface="+mn-cs"/>
              </a:rPr>
              <a:t> </a:t>
            </a:r>
          </a:p>
          <a:p>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1650719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Helvetica" pitchFamily="34" charset="0"/>
              </a:rPr>
              <a:t>Trainer</a:t>
            </a:r>
            <a:r>
              <a:rPr lang="en-US" sz="1100" b="1" baseline="0" dirty="0" smtClean="0">
                <a:latin typeface="Helvetica" pitchFamily="34" charset="0"/>
              </a:rPr>
              <a:t> to advise:	PC:   8.5</a:t>
            </a:r>
            <a:endParaRPr lang="en-US" sz="1100" dirty="0" smtClean="0">
              <a:latin typeface="Helvetica" pitchFamily="34" charset="0"/>
            </a:endParaRPr>
          </a:p>
          <a:p>
            <a:pPr marL="935990" indent="-935990">
              <a:spcBef>
                <a:spcPts val="1200"/>
              </a:spcBef>
              <a:spcAft>
                <a:spcPts val="1200"/>
              </a:spcAft>
            </a:pPr>
            <a:r>
              <a:rPr lang="en-AU" sz="1100" b="1" dirty="0" smtClean="0">
                <a:solidFill>
                  <a:srgbClr val="45545F"/>
                </a:solidFill>
                <a:effectLst/>
                <a:latin typeface="Helvetica" pitchFamily="34" charset="0"/>
                <a:ea typeface="Times New Roman"/>
                <a:cs typeface="Times New Roman"/>
              </a:rPr>
              <a:t>Updating maintaining internal records</a:t>
            </a:r>
          </a:p>
          <a:p>
            <a:pPr>
              <a:spcBef>
                <a:spcPts val="400"/>
              </a:spcBef>
              <a:spcAft>
                <a:spcPts val="800"/>
              </a:spcAft>
            </a:pPr>
            <a:r>
              <a:rPr lang="en-AU" sz="1100" dirty="0" smtClean="0">
                <a:effectLst/>
                <a:latin typeface="Helvetica" pitchFamily="34" charset="0"/>
                <a:ea typeface="Calibri"/>
                <a:cs typeface="Calibri"/>
              </a:rPr>
              <a:t>It is essential that the enterprise maintains accurate and up to date financial records for each booking.  The client record will store all of the client’s personal information and details on their current booking and may be linked to past bookings made by the client.  Record keeping software used by a travel enterprise is designed to be both an accounting system and client database. To ensure accuracy, all information on payments received should be recorded immediately.</a:t>
            </a:r>
          </a:p>
          <a:p>
            <a:pPr>
              <a:spcBef>
                <a:spcPts val="400"/>
              </a:spcBef>
              <a:spcAft>
                <a:spcPts val="800"/>
              </a:spcAft>
            </a:pPr>
            <a:r>
              <a:rPr lang="en-AU" sz="1100" dirty="0" smtClean="0">
                <a:effectLst/>
                <a:latin typeface="Helvetica" pitchFamily="34" charset="0"/>
                <a:ea typeface="Calibri"/>
                <a:cs typeface="Calibri"/>
              </a:rPr>
              <a:t>If the client has paid in full for their travel arrangements, you may now update their client records and order their airline ticket/s.  If only part payment is received, do not issue airline tickets until the final payment has been received and receipted.</a:t>
            </a:r>
          </a:p>
          <a:p>
            <a:r>
              <a:rPr lang="en-AU" sz="1100" i="0" kern="1200" dirty="0" smtClean="0">
                <a:solidFill>
                  <a:schemeClr val="tx1"/>
                </a:solidFill>
                <a:latin typeface="Helvetica" pitchFamily="34" charset="0"/>
              </a:rPr>
              <a:t>Discuss each of the payment methods and why one is preferred over the other in an agency.</a:t>
            </a:r>
          </a:p>
          <a:p>
            <a:r>
              <a:rPr lang="en-AU" sz="1100" i="0" kern="1200" dirty="0" smtClean="0">
                <a:solidFill>
                  <a:schemeClr val="tx1"/>
                </a:solidFill>
                <a:latin typeface="Helvetica" pitchFamily="34" charset="0"/>
              </a:rPr>
              <a:t>Payments may include: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Credit card</a:t>
            </a:r>
          </a:p>
          <a:p>
            <a:pPr marL="171450" indent="-171450">
              <a:buFont typeface="Arial" panose="020B0604020202020204" pitchFamily="34" charset="0"/>
              <a:buChar char="•"/>
            </a:pPr>
            <a:r>
              <a:rPr lang="en-AU" sz="1100" i="0" kern="1200" dirty="0" smtClean="0">
                <a:solidFill>
                  <a:schemeClr val="tx1"/>
                </a:solidFill>
                <a:latin typeface="Helvetica" pitchFamily="34" charset="0"/>
              </a:rPr>
              <a:t>Cash</a:t>
            </a:r>
          </a:p>
          <a:p>
            <a:pPr marL="171450" indent="-171450">
              <a:buFont typeface="Arial" panose="020B0604020202020204" pitchFamily="34" charset="0"/>
              <a:buChar char="•"/>
            </a:pPr>
            <a:r>
              <a:rPr lang="en-AU" sz="1100" i="0" kern="1200" dirty="0" smtClean="0">
                <a:solidFill>
                  <a:schemeClr val="tx1"/>
                </a:solidFill>
                <a:latin typeface="Helvetica" pitchFamily="34" charset="0"/>
              </a:rPr>
              <a:t>Personal, business and traveller’s cheque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Direct debit, such as electronic funds transfer</a:t>
            </a:r>
          </a:p>
          <a:p>
            <a:pPr marL="171450" indent="-171450">
              <a:buFont typeface="Arial" panose="020B0604020202020204" pitchFamily="34" charset="0"/>
              <a:buChar char="•"/>
            </a:pPr>
            <a:r>
              <a:rPr lang="en-AU" sz="1100" i="0" kern="1200" dirty="0" smtClean="0">
                <a:solidFill>
                  <a:schemeClr val="tx1"/>
                </a:solidFill>
                <a:latin typeface="Helvetica" pitchFamily="34" charset="0"/>
              </a:rPr>
              <a:t>Invoice/account</a:t>
            </a:r>
          </a:p>
          <a:p>
            <a:pPr marL="171450" indent="-171450">
              <a:buFont typeface="Arial" panose="020B0604020202020204" pitchFamily="34" charset="0"/>
              <a:buChar char="•"/>
            </a:pPr>
            <a:r>
              <a:rPr lang="en-AU" sz="1100" i="0" kern="1200" dirty="0" smtClean="0">
                <a:solidFill>
                  <a:schemeClr val="tx1"/>
                </a:solidFill>
                <a:latin typeface="Helvetica" pitchFamily="34" charset="0"/>
              </a:rPr>
              <a:t>Telephone</a:t>
            </a:r>
          </a:p>
          <a:p>
            <a:pPr marL="171450" indent="-171450">
              <a:buFont typeface="Arial" panose="020B0604020202020204" pitchFamily="34" charset="0"/>
              <a:buChar char="•"/>
            </a:pPr>
            <a:r>
              <a:rPr lang="en-AU" sz="1100" i="0" kern="1200" dirty="0" smtClean="0">
                <a:solidFill>
                  <a:schemeClr val="tx1"/>
                </a:solidFill>
                <a:latin typeface="Helvetica" pitchFamily="34" charset="0"/>
              </a:rPr>
              <a:t>E-mail, or other electronic transmission.</a:t>
            </a:r>
            <a:endParaRPr lang="en-US" sz="1100" i="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7707760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6404">
              <a:defRPr/>
            </a:pPr>
            <a:r>
              <a:rPr lang="en-AU" sz="1200" dirty="0" smtClean="0">
                <a:solidFill>
                  <a:prstClr val="black"/>
                </a:solidFill>
              </a:rPr>
              <a:t>Ensure learners complete the </a:t>
            </a:r>
            <a:r>
              <a:rPr lang="en-AU" sz="1200" b="1" dirty="0" smtClean="0">
                <a:solidFill>
                  <a:prstClr val="black"/>
                </a:solidFill>
              </a:rPr>
              <a:t>Work Projects </a:t>
            </a:r>
            <a:r>
              <a:rPr lang="en-AU" sz="1200" dirty="0" smtClean="0">
                <a:solidFill>
                  <a:prstClr val="black"/>
                </a:solidFill>
              </a:rPr>
              <a:t>at the end of Element 8. Trainer may decide if these are to be completed in class individually or in groups or alternatively as homework.</a:t>
            </a:r>
          </a:p>
          <a:p>
            <a:pPr defTabSz="946404">
              <a:defRPr/>
            </a:pPr>
            <a:r>
              <a:rPr lang="en-AU" sz="1200" dirty="0" smtClean="0">
                <a:solidFill>
                  <a:prstClr val="black"/>
                </a:solidFill>
              </a:rPr>
              <a:t>A copy of work sheets has been included in the Trainer Guide.</a:t>
            </a:r>
          </a:p>
          <a:p>
            <a:endParaRPr lang="en-AU" sz="1200" dirty="0" smtClean="0"/>
          </a:p>
          <a:p>
            <a:endParaRPr lang="en-AU" sz="1200" dirty="0" smtClean="0"/>
          </a:p>
          <a:p>
            <a:pPr defTabSz="946404">
              <a:buFont typeface="Arial" pitchFamily="34" charset="0"/>
              <a:buChar char="•"/>
              <a:defRPr/>
            </a:pPr>
            <a:r>
              <a:rPr lang="en-AU" sz="1200" dirty="0" smtClean="0">
                <a:solidFill>
                  <a:prstClr val="black"/>
                </a:solidFill>
              </a:rPr>
              <a:t>Review the Summary page for Element 8  to confirm with learners what has been completed for this Element.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5910755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100" kern="1200" baseline="0" dirty="0" smtClean="0">
                <a:solidFill>
                  <a:schemeClr val="tx1"/>
                </a:solidFill>
                <a:latin typeface="Helvetica" pitchFamily="34" charset="0"/>
              </a:rPr>
              <a:t>Trainer advises learners on what assessment is required and how it is to be conducted.</a:t>
            </a:r>
          </a:p>
          <a:p>
            <a:pPr>
              <a:buFont typeface="Arial" pitchFamily="34" charset="0"/>
              <a:buNone/>
            </a:pPr>
            <a:endParaRPr lang="en-US" sz="11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845035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lvl1pPr>
              <a:spcBef>
                <a:spcPts val="600"/>
              </a:spcBef>
              <a:spcAft>
                <a:spcPts val="600"/>
              </a:spcAft>
              <a:defRPr/>
            </a:lvl1pPr>
            <a:lvl2pPr>
              <a:spcBef>
                <a:spcPts val="600"/>
              </a:spcBef>
              <a:spcAft>
                <a:spcPts val="600"/>
              </a:spcAft>
              <a:defRPr/>
            </a:lvl2pPr>
            <a:lvl3pPr>
              <a:spcBef>
                <a:spcPts val="600"/>
              </a:spcBef>
              <a:spcAft>
                <a:spcPts val="600"/>
              </a:spcAft>
              <a:defRPr/>
            </a:lvl3pPr>
            <a:lvl4pPr>
              <a:spcBef>
                <a:spcPts val="600"/>
              </a:spcBef>
              <a:spcAft>
                <a:spcPts val="600"/>
              </a:spcAft>
              <a:defRPr/>
            </a:lvl4pPr>
            <a:lvl5pPr>
              <a:spcBef>
                <a:spcPts val="600"/>
              </a:spcBef>
              <a:spcAft>
                <a:spcPts val="600"/>
              </a:spcAft>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lang="en-US" dirty="0">
              <a:solidFill>
                <a:prstClr val="black"/>
              </a:solidFill>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lang="en-US" dirty="0">
              <a:solidFill>
                <a:prstClr val="black"/>
              </a:solidFill>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solidFill>
                  <a:srgbClr val="4E5B6F">
                    <a:shade val="50000"/>
                  </a:srgbClr>
                </a:solidFill>
              </a:rPr>
              <a:pPr/>
              <a:t>7/18/2016</a:t>
            </a:fld>
            <a:endParaRPr lang="en-US" dirty="0">
              <a:solidFill>
                <a:srgbClr val="4E5B6F">
                  <a:shade val="50000"/>
                </a:srgbClr>
              </a:solidFill>
            </a:endParaRPr>
          </a:p>
        </p:txBody>
      </p:sp>
      <p:sp>
        <p:nvSpPr>
          <p:cNvPr id="19" name="Footer Placeholder 18"/>
          <p:cNvSpPr>
            <a:spLocks noGrp="1"/>
          </p:cNvSpPr>
          <p:nvPr>
            <p:ph type="ftr" sz="quarter" idx="11"/>
          </p:nvPr>
        </p:nvSpPr>
        <p:spPr/>
        <p:txBody>
          <a:bodyPr/>
          <a:lstStyle/>
          <a:p>
            <a:endParaRPr lang="en-US" dirty="0">
              <a:solidFill>
                <a:srgbClr val="4E5B6F">
                  <a:shade val="50000"/>
                </a:srgbClr>
              </a:solidFill>
            </a:endParaRPr>
          </a:p>
        </p:txBody>
      </p:sp>
      <p:sp>
        <p:nvSpPr>
          <p:cNvPr id="27" name="Slide Number Placeholder 26"/>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1761083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solidFill>
                  <a:srgbClr val="4E5B6F">
                    <a:shade val="50000"/>
                  </a:srgbClr>
                </a:solidFill>
              </a:rPr>
              <a:pPr/>
              <a:t>7/18/2016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2869842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lang="en-US" dirty="0">
              <a:solidFill>
                <a:prstClr val="black"/>
              </a:solidFill>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lang="en-US" dirty="0">
              <a:solidFill>
                <a:prstClr val="black"/>
              </a:solidFill>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solidFill>
                  <a:srgbClr val="4E5B6F">
                    <a:shade val="50000"/>
                  </a:srgbClr>
                </a:solidFill>
              </a:rPr>
              <a:pPr/>
              <a:t>7/18/2016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4127471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solidFill>
                  <a:srgbClr val="4E5B6F">
                    <a:shade val="50000"/>
                  </a:srgbClr>
                </a:solidFill>
              </a:rPr>
              <a:pPr/>
              <a:t>7/18/2016</a:t>
            </a:fld>
            <a:endParaRPr lang="en-US" dirty="0">
              <a:solidFill>
                <a:srgbClr val="4E5B6F">
                  <a:shade val="50000"/>
                </a:srgbClr>
              </a:solidFill>
            </a:endParaRPr>
          </a:p>
        </p:txBody>
      </p:sp>
      <p:sp>
        <p:nvSpPr>
          <p:cNvPr id="6" name="Footer Placeholder 5"/>
          <p:cNvSpPr>
            <a:spLocks noGrp="1"/>
          </p:cNvSpPr>
          <p:nvPr>
            <p:ph type="ftr" sz="quarter" idx="11"/>
          </p:nvPr>
        </p:nvSpPr>
        <p:spPr/>
        <p:txBody>
          <a:bodyPr/>
          <a:lstStyle/>
          <a:p>
            <a:endParaRPr lang="en-US" dirty="0">
              <a:solidFill>
                <a:srgbClr val="4E5B6F">
                  <a:shade val="50000"/>
                </a:srgbClr>
              </a:solidFill>
            </a:endParaRPr>
          </a:p>
        </p:txBody>
      </p:sp>
      <p:sp>
        <p:nvSpPr>
          <p:cNvPr id="7" name="Slide Number Placeholder 6"/>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4101595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solidFill>
                  <a:srgbClr val="4E5B6F">
                    <a:shade val="50000"/>
                  </a:srgbClr>
                </a:solidFill>
              </a:rPr>
              <a:pPr/>
              <a:t>7/18/2016</a:t>
            </a:fld>
            <a:endParaRPr lang="en-US" dirty="0">
              <a:solidFill>
                <a:srgbClr val="4E5B6F">
                  <a:shade val="50000"/>
                </a:srgbClr>
              </a:solidFill>
            </a:endParaRPr>
          </a:p>
        </p:txBody>
      </p:sp>
      <p:sp>
        <p:nvSpPr>
          <p:cNvPr id="8" name="Footer Placeholder 7"/>
          <p:cNvSpPr>
            <a:spLocks noGrp="1"/>
          </p:cNvSpPr>
          <p:nvPr>
            <p:ph type="ftr" sz="quarter" idx="11"/>
          </p:nvPr>
        </p:nvSpPr>
        <p:spPr/>
        <p:txBody>
          <a:bodyPr/>
          <a:lstStyle/>
          <a:p>
            <a:endParaRPr lang="en-US" dirty="0">
              <a:solidFill>
                <a:srgbClr val="4E5B6F">
                  <a:shade val="50000"/>
                </a:srgbClr>
              </a:solidFill>
            </a:endParaRPr>
          </a:p>
        </p:txBody>
      </p:sp>
      <p:sp>
        <p:nvSpPr>
          <p:cNvPr id="9" name="Slide Number Placeholder 8"/>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341981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solidFill>
                  <a:srgbClr val="4E5B6F">
                    <a:shade val="50000"/>
                  </a:srgbClr>
                </a:solidFill>
              </a:rPr>
              <a:pPr/>
              <a:t>7/18/2016</a:t>
            </a:fld>
            <a:endParaRPr lang="en-US" dirty="0">
              <a:solidFill>
                <a:srgbClr val="4E5B6F">
                  <a:shade val="50000"/>
                </a:srgbClr>
              </a:solidFill>
            </a:endParaRPr>
          </a:p>
        </p:txBody>
      </p:sp>
      <p:sp>
        <p:nvSpPr>
          <p:cNvPr id="8" name="Slide Number Placeholder 7"/>
          <p:cNvSpPr>
            <a:spLocks noGrp="1"/>
          </p:cNvSpPr>
          <p:nvPr>
            <p:ph type="sldNum" sz="quarter" idx="11"/>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
        <p:nvSpPr>
          <p:cNvPr id="9" name="Footer Placeholder 8"/>
          <p:cNvSpPr>
            <a:spLocks noGrp="1"/>
          </p:cNvSpPr>
          <p:nvPr>
            <p:ph type="ftr" sz="quarter" idx="12"/>
          </p:nvPr>
        </p:nvSpPr>
        <p:spPr/>
        <p:txBody>
          <a:bodyPr/>
          <a:lstStyle/>
          <a:p>
            <a:endParaRPr lang="en-US" dirty="0">
              <a:solidFill>
                <a:srgbClr val="4E5B6F">
                  <a:shade val="50000"/>
                </a:srgbClr>
              </a:solidFill>
            </a:endParaRPr>
          </a:p>
        </p:txBody>
      </p:sp>
    </p:spTree>
    <p:extLst>
      <p:ext uri="{BB962C8B-B14F-4D97-AF65-F5344CB8AC3E}">
        <p14:creationId xmlns:p14="http://schemas.microsoft.com/office/powerpoint/2010/main" val="1128086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solidFill>
                  <a:srgbClr val="4E5B6F">
                    <a:shade val="50000"/>
                  </a:srgbClr>
                </a:solidFill>
              </a:rPr>
              <a:pPr/>
              <a:t>7/18/2016</a:t>
            </a:fld>
            <a:endParaRPr lang="en-US" dirty="0">
              <a:solidFill>
                <a:srgbClr val="4E5B6F">
                  <a:shade val="50000"/>
                </a:srgbClr>
              </a:solidFill>
            </a:endParaRPr>
          </a:p>
        </p:txBody>
      </p:sp>
      <p:sp>
        <p:nvSpPr>
          <p:cNvPr id="3" name="Footer Placeholder 2"/>
          <p:cNvSpPr>
            <a:spLocks noGrp="1"/>
          </p:cNvSpPr>
          <p:nvPr>
            <p:ph type="ftr" sz="quarter" idx="11"/>
          </p:nvPr>
        </p:nvSpPr>
        <p:spPr/>
        <p:txBody>
          <a:bodyPr/>
          <a:lstStyle/>
          <a:p>
            <a:endParaRPr lang="en-US" dirty="0">
              <a:solidFill>
                <a:srgbClr val="4E5B6F">
                  <a:shade val="50000"/>
                </a:srgbClr>
              </a:solidFill>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3858161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solidFill>
                  <a:srgbClr val="4E5B6F">
                    <a:shade val="50000"/>
                  </a:srgbClr>
                </a:solidFill>
              </a:rPr>
              <a:pPr/>
              <a:t>7/18/2016</a:t>
            </a:fld>
            <a:endParaRPr lang="en-US" dirty="0">
              <a:solidFill>
                <a:srgbClr val="4E5B6F">
                  <a:shade val="50000"/>
                </a:srgbClr>
              </a:solidFill>
            </a:endParaRPr>
          </a:p>
        </p:txBody>
      </p:sp>
      <p:sp>
        <p:nvSpPr>
          <p:cNvPr id="6" name="Footer Placeholder 5"/>
          <p:cNvSpPr>
            <a:spLocks noGrp="1"/>
          </p:cNvSpPr>
          <p:nvPr>
            <p:ph type="ftr" sz="quarter" idx="11"/>
          </p:nvPr>
        </p:nvSpPr>
        <p:spPr/>
        <p:txBody>
          <a:bodyPr/>
          <a:lstStyle/>
          <a:p>
            <a:endParaRPr lang="en-US" dirty="0">
              <a:solidFill>
                <a:srgbClr val="4E5B6F">
                  <a:shade val="50000"/>
                </a:srgbClr>
              </a:solidFill>
            </a:endParaRPr>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8549866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solidFill>
                  <a:srgbClr val="4E5B6F">
                    <a:shade val="50000"/>
                  </a:srgbClr>
                </a:solidFill>
              </a:rPr>
              <a:pPr/>
              <a:t>7/18/2016</a:t>
            </a:fld>
            <a:endParaRPr lang="en-US" dirty="0">
              <a:solidFill>
                <a:srgbClr val="4E5B6F">
                  <a:shade val="50000"/>
                </a:srgbClr>
              </a:solidFill>
            </a:endParaRPr>
          </a:p>
        </p:txBody>
      </p:sp>
      <p:sp>
        <p:nvSpPr>
          <p:cNvPr id="6" name="Footer Placeholder 5"/>
          <p:cNvSpPr>
            <a:spLocks noGrp="1"/>
          </p:cNvSpPr>
          <p:nvPr>
            <p:ph type="ftr" sz="quarter" idx="11"/>
          </p:nvPr>
        </p:nvSpPr>
        <p:spPr/>
        <p:txBody>
          <a:bodyPr/>
          <a:lstStyle/>
          <a:p>
            <a:endParaRPr lang="en-US" dirty="0">
              <a:solidFill>
                <a:srgbClr val="4E5B6F">
                  <a:shade val="50000"/>
                </a:srgbClr>
              </a:solidFill>
            </a:endParaRPr>
          </a:p>
        </p:txBody>
      </p:sp>
      <p:sp>
        <p:nvSpPr>
          <p:cNvPr id="7" name="Slide Number Placeholder 6"/>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10100983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solidFill>
                  <a:srgbClr val="4E5B6F">
                    <a:shade val="50000"/>
                  </a:srgbClr>
                </a:solidFill>
              </a:rPr>
              <a:pPr/>
              <a:t>7/18/2016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11146950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solidFill>
                  <a:srgbClr val="4E5B6F">
                    <a:shade val="50000"/>
                  </a:srgbClr>
                </a:solidFill>
              </a:rPr>
              <a:pPr/>
              <a:t>7/18/2016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1911453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988840"/>
            <a:ext cx="4114800" cy="413732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3400" b="1" kern="1200">
          <a:solidFill>
            <a:srgbClr val="FF6600"/>
          </a:solidFill>
          <a:latin typeface="Helvetica" panose="020B0604020202020204" pitchFamily="34" charset="0"/>
          <a:ea typeface="+mj-ea"/>
          <a:cs typeface="Helvetica" panose="020B0604020202020204" pitchFamily="34" charset="0"/>
        </a:defRPr>
      </a:lvl1pPr>
    </p:titleStyle>
    <p:bodyStyle>
      <a:lvl1pPr marL="420624" indent="-384048" algn="l" rtl="0" eaLnBrk="1" latinLnBrk="0" hangingPunct="1">
        <a:spcBef>
          <a:spcPct val="20000"/>
        </a:spcBef>
        <a:buClr>
          <a:schemeClr val="accent1"/>
        </a:buClr>
        <a:buSzPct val="80000"/>
        <a:buFont typeface="Wingdings 2"/>
        <a:buChar char=""/>
        <a:defRPr kumimoji="0" sz="2000" kern="1200">
          <a:solidFill>
            <a:schemeClr val="tx1"/>
          </a:solidFill>
          <a:latin typeface="Helvetica" panose="020B0604020202020204" pitchFamily="34" charset="0"/>
          <a:ea typeface="+mn-ea"/>
          <a:cs typeface="Helvetica" panose="020B0604020202020204" pitchFamily="34" charset="0"/>
        </a:defRPr>
      </a:lvl1pPr>
      <a:lvl2pPr marL="722376" indent="-274320" algn="l" rtl="0" eaLnBrk="1" latinLnBrk="0" hangingPunct="1">
        <a:spcBef>
          <a:spcPct val="20000"/>
        </a:spcBef>
        <a:buClr>
          <a:schemeClr val="accent1"/>
        </a:buClr>
        <a:buSzPct val="90000"/>
        <a:buFont typeface="Wingdings 2"/>
        <a:buChar char=""/>
        <a:defRPr kumimoji="0" sz="2000" kern="1200">
          <a:solidFill>
            <a:schemeClr val="tx1"/>
          </a:solidFill>
          <a:latin typeface="Helvetica" panose="020B0604020202020204" pitchFamily="34" charset="0"/>
          <a:ea typeface="+mn-ea"/>
          <a:cs typeface="Helvetica" panose="020B0604020202020204" pitchFamily="34" charset="0"/>
        </a:defRPr>
      </a:lvl2pPr>
      <a:lvl3pPr marL="1005840" indent="-256032" algn="l" rtl="0" eaLnBrk="1" latinLnBrk="0" hangingPunct="1">
        <a:spcBef>
          <a:spcPct val="20000"/>
        </a:spcBef>
        <a:buClr>
          <a:schemeClr val="accent2"/>
        </a:buClr>
        <a:buSzPct val="85000"/>
        <a:buFont typeface="Arial"/>
        <a:buChar char="○"/>
        <a:defRPr kumimoji="0" sz="2000" kern="1200">
          <a:solidFill>
            <a:schemeClr val="tx1"/>
          </a:solidFill>
          <a:latin typeface="Helvetica" panose="020B0604020202020204" pitchFamily="34" charset="0"/>
          <a:ea typeface="+mn-ea"/>
          <a:cs typeface="Helvetica" panose="020B0604020202020204" pitchFamily="34" charset="0"/>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anose="020B0604020202020204" pitchFamily="34" charset="0"/>
          <a:ea typeface="+mn-ea"/>
          <a:cs typeface="Helvetica" panose="020B0604020202020204" pitchFamily="34" charset="0"/>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anose="020B0604020202020204" pitchFamily="34" charset="0"/>
          <a:ea typeface="+mn-ea"/>
          <a:cs typeface="Helvetica" panose="020B0604020202020204" pitchFamily="34" charset="0"/>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lang="en-US" dirty="0">
              <a:solidFill>
                <a:prstClr val="black"/>
              </a:solidFill>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lang="en-US" dirty="0">
              <a:solidFill>
                <a:prstClr val="black"/>
              </a:solidFill>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solidFill>
                  <a:srgbClr val="4E5B6F">
                    <a:shade val="50000"/>
                  </a:srgbClr>
                </a:solidFill>
              </a:rPr>
              <a:pPr/>
              <a:t>7/18/2016</a:t>
            </a:fld>
            <a:endParaRPr lang="en-US" dirty="0">
              <a:solidFill>
                <a:srgbClr val="4E5B6F">
                  <a:shade val="50000"/>
                </a:srgbClr>
              </a:solidFill>
            </a:endParaRPr>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solidFill>
                <a:srgbClr val="4E5B6F">
                  <a:shade val="50000"/>
                </a:srgbClr>
              </a:solidFill>
            </a:endParaRPr>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9109573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timeanddate.com/time/time-zones.html"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US" sz="4000" dirty="0" smtClean="0">
                <a:ln w="5000" cmpd="sng">
                  <a:noFill/>
                  <a:prstDash val="solid"/>
                </a:ln>
                <a:solidFill>
                  <a:srgbClr val="FF6600"/>
                </a:solidFill>
                <a:latin typeface="Helvetica" pitchFamily="34" charset="0"/>
              </a:rPr>
              <a:t>APPLY ADVANCED AIRFARE RULES AND PROCEDURES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796136" y="1843114"/>
            <a:ext cx="2541268" cy="289742"/>
          </a:xfrm>
        </p:spPr>
        <p:txBody>
          <a:bodyPr>
            <a:normAutofit lnSpcReduction="10000"/>
          </a:bodyPr>
          <a:lstStyle/>
          <a:p>
            <a:r>
              <a:rPr lang="en-AU" b="1" dirty="0" smtClean="0">
                <a:latin typeface="Helvetica" pitchFamily="34" charset="0"/>
              </a:rPr>
              <a:t>D2.TTA.CL2.03</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0" name="Group 19"/>
          <p:cNvGrpSpPr/>
          <p:nvPr/>
        </p:nvGrpSpPr>
        <p:grpSpPr>
          <a:xfrm>
            <a:off x="712022" y="2172928"/>
            <a:ext cx="5565600" cy="4208400"/>
            <a:chOff x="0" y="0"/>
            <a:chExt cx="7560860" cy="5895832"/>
          </a:xfrm>
        </p:grpSpPr>
        <p:grpSp>
          <p:nvGrpSpPr>
            <p:cNvPr id="21" name="Group 20"/>
            <p:cNvGrpSpPr/>
            <p:nvPr/>
          </p:nvGrpSpPr>
          <p:grpSpPr>
            <a:xfrm>
              <a:off x="5022376" y="0"/>
              <a:ext cx="2538484" cy="5882185"/>
              <a:chOff x="0" y="0"/>
              <a:chExt cx="2538484" cy="5882185"/>
            </a:xfrm>
          </p:grpSpPr>
          <p:pic>
            <p:nvPicPr>
              <p:cNvPr id="28" name="Picture 27"/>
              <p:cNvPicPr>
                <a:picLocks noChangeAspect="1"/>
              </p:cNvPicPr>
              <p:nvPr/>
            </p:nvPicPr>
            <p:blipFill rotWithShape="1">
              <a:blip r:embed="rId3" cstate="print">
                <a:extLst>
                  <a:ext uri="{28A0092B-C50C-407E-A947-70E740481C1C}">
                    <a14:useLocalDpi xmlns:a14="http://schemas.microsoft.com/office/drawing/2010/main" val="0"/>
                  </a:ext>
                </a:extLst>
              </a:blip>
              <a:srcRect t="1805"/>
              <a:stretch/>
            </p:blipFill>
            <p:spPr bwMode="auto">
              <a:xfrm>
                <a:off x="0" y="2142698"/>
                <a:ext cx="2524836" cy="3739487"/>
              </a:xfrm>
              <a:prstGeom prst="rect">
                <a:avLst/>
              </a:prstGeom>
              <a:ln>
                <a:noFill/>
              </a:ln>
              <a:extLst>
                <a:ext uri="{53640926-AAD7-44D8-BBD7-CCE9431645EC}">
                  <a14:shadowObscured xmlns:a14="http://schemas.microsoft.com/office/drawing/2010/main"/>
                </a:ext>
              </a:extLst>
            </p:spPr>
          </p:pic>
          <p:pic>
            <p:nvPicPr>
              <p:cNvPr id="29" name="Picture 28"/>
              <p:cNvPicPr>
                <a:picLocks noChangeAspect="1"/>
              </p:cNvPicPr>
              <p:nvPr/>
            </p:nvPicPr>
            <p:blipFill rotWithShape="1">
              <a:blip r:embed="rId4" cstate="print">
                <a:extLst>
                  <a:ext uri="{28A0092B-C50C-407E-A947-70E740481C1C}">
                    <a14:useLocalDpi xmlns:a14="http://schemas.microsoft.com/office/drawing/2010/main" val="0"/>
                  </a:ext>
                </a:extLst>
              </a:blip>
              <a:srcRect l="26444"/>
              <a:stretch/>
            </p:blipFill>
            <p:spPr bwMode="auto">
              <a:xfrm>
                <a:off x="13648" y="0"/>
                <a:ext cx="2524836" cy="2224585"/>
              </a:xfrm>
              <a:prstGeom prst="rect">
                <a:avLst/>
              </a:prstGeom>
              <a:noFill/>
              <a:ln>
                <a:noFill/>
              </a:ln>
              <a:extLst>
                <a:ext uri="{53640926-AAD7-44D8-BBD7-CCE9431645EC}">
                  <a14:shadowObscured xmlns:a14="http://schemas.microsoft.com/office/drawing/2010/main"/>
                </a:ext>
              </a:extLst>
            </p:spPr>
          </p:pic>
        </p:grpSp>
        <p:grpSp>
          <p:nvGrpSpPr>
            <p:cNvPr id="22" name="Group 21"/>
            <p:cNvGrpSpPr/>
            <p:nvPr/>
          </p:nvGrpSpPr>
          <p:grpSpPr>
            <a:xfrm>
              <a:off x="0" y="0"/>
              <a:ext cx="2696210" cy="5882005"/>
              <a:chOff x="-1" y="-1"/>
              <a:chExt cx="2696712" cy="5882186"/>
            </a:xfrm>
          </p:grpSpPr>
          <p:pic>
            <p:nvPicPr>
              <p:cNvPr id="26" name="Picture 25"/>
              <p:cNvPicPr>
                <a:picLocks noChangeAspect="1"/>
              </p:cNvPicPr>
              <p:nvPr/>
            </p:nvPicPr>
            <p:blipFill rotWithShape="1">
              <a:blip r:embed="rId5" cstate="print">
                <a:extLst>
                  <a:ext uri="{28A0092B-C50C-407E-A947-70E740481C1C}">
                    <a14:useLocalDpi xmlns:a14="http://schemas.microsoft.com/office/drawing/2010/main" val="0"/>
                  </a:ext>
                </a:extLst>
              </a:blip>
              <a:stretch/>
            </p:blipFill>
            <p:spPr bwMode="auto">
              <a:xfrm>
                <a:off x="0" y="2210937"/>
                <a:ext cx="2688609" cy="3671248"/>
              </a:xfrm>
              <a:prstGeom prst="rect">
                <a:avLst/>
              </a:prstGeom>
              <a:noFill/>
              <a:ln>
                <a:noFill/>
              </a:ln>
              <a:extLst>
                <a:ext uri="{53640926-AAD7-44D8-BBD7-CCE9431645EC}">
                  <a14:shadowObscured xmlns:a14="http://schemas.microsoft.com/office/drawing/2010/main"/>
                </a:ext>
              </a:extLst>
            </p:spPr>
          </p:pic>
          <p:pic>
            <p:nvPicPr>
              <p:cNvPr id="27" name="Picture 26"/>
              <p:cNvPicPr>
                <a:picLocks noChangeAspect="1"/>
              </p:cNvPicPr>
              <p:nvPr/>
            </p:nvPicPr>
            <p:blipFill rotWithShape="1">
              <a:blip r:embed="rId6" cstate="print">
                <a:extLst>
                  <a:ext uri="{28A0092B-C50C-407E-A947-70E740481C1C}">
                    <a14:useLocalDpi xmlns:a14="http://schemas.microsoft.com/office/drawing/2010/main" val="0"/>
                  </a:ext>
                </a:extLst>
              </a:blip>
              <a:srcRect l="11848" r="8087"/>
              <a:stretch/>
            </p:blipFill>
            <p:spPr bwMode="auto">
              <a:xfrm>
                <a:off x="-1" y="-1"/>
                <a:ext cx="2696712" cy="2217600"/>
              </a:xfrm>
              <a:prstGeom prst="rect">
                <a:avLst/>
              </a:prstGeom>
              <a:ln>
                <a:noFill/>
              </a:ln>
              <a:extLst>
                <a:ext uri="{53640926-AAD7-44D8-BBD7-CCE9431645EC}">
                  <a14:shadowObscured xmlns:a14="http://schemas.microsoft.com/office/drawing/2010/main"/>
                </a:ext>
              </a:extLst>
            </p:spPr>
          </p:pic>
        </p:grpSp>
        <p:grpSp>
          <p:nvGrpSpPr>
            <p:cNvPr id="23" name="Group 22"/>
            <p:cNvGrpSpPr/>
            <p:nvPr/>
          </p:nvGrpSpPr>
          <p:grpSpPr>
            <a:xfrm>
              <a:off x="2688609" y="0"/>
              <a:ext cx="2456597" cy="5895832"/>
              <a:chOff x="0" y="0"/>
              <a:chExt cx="2456597" cy="5895832"/>
            </a:xfrm>
          </p:grpSpPr>
          <p:pic>
            <p:nvPicPr>
              <p:cNvPr id="24" name="Picture 23"/>
              <p:cNvPicPr>
                <a:picLocks noChangeAspect="1"/>
              </p:cNvPicPr>
              <p:nvPr/>
            </p:nvPicPr>
            <p:blipFill rotWithShape="1">
              <a:blip r:embed="rId7" cstate="print">
                <a:extLst>
                  <a:ext uri="{28A0092B-C50C-407E-A947-70E740481C1C}">
                    <a14:useLocalDpi xmlns:a14="http://schemas.microsoft.com/office/drawing/2010/main" val="0"/>
                  </a:ext>
                </a:extLst>
              </a:blip>
              <a:srcRect l="10270" b="9724"/>
              <a:stretch/>
            </p:blipFill>
            <p:spPr bwMode="auto">
              <a:xfrm>
                <a:off x="0" y="2224585"/>
                <a:ext cx="2456597" cy="3671247"/>
              </a:xfrm>
              <a:prstGeom prst="rect">
                <a:avLst/>
              </a:prstGeom>
              <a:noFill/>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8" cstate="print">
                <a:extLst>
                  <a:ext uri="{28A0092B-C50C-407E-A947-70E740481C1C}">
                    <a14:useLocalDpi xmlns:a14="http://schemas.microsoft.com/office/drawing/2010/main" val="0"/>
                  </a:ext>
                </a:extLst>
              </a:blip>
              <a:srcRect l="519" b="6332"/>
              <a:stretch/>
            </p:blipFill>
            <p:spPr bwMode="auto">
              <a:xfrm>
                <a:off x="0" y="0"/>
                <a:ext cx="2456597" cy="2224585"/>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Subject Elements</a:t>
            </a:r>
            <a:endParaRPr lang="en-US" dirty="0"/>
          </a:p>
        </p:txBody>
      </p:sp>
      <p:sp>
        <p:nvSpPr>
          <p:cNvPr id="3" name="Content Placeholder 2"/>
          <p:cNvSpPr>
            <a:spLocks noGrp="1"/>
          </p:cNvSpPr>
          <p:nvPr>
            <p:ph idx="1"/>
          </p:nvPr>
        </p:nvSpPr>
        <p:spPr>
          <a:xfrm>
            <a:off x="457200" y="1412776"/>
            <a:ext cx="6131024" cy="5184576"/>
          </a:xfrm>
        </p:spPr>
        <p:txBody>
          <a:bodyPr>
            <a:normAutofit/>
          </a:bodyPr>
          <a:lstStyle/>
          <a:p>
            <a:pPr marL="36576" indent="0">
              <a:buNone/>
            </a:pPr>
            <a:r>
              <a:rPr lang="en-AU" dirty="0" smtClean="0"/>
              <a:t>This unit comprises eight elements:</a:t>
            </a:r>
          </a:p>
          <a:p>
            <a:r>
              <a:rPr lang="en-AU" dirty="0" smtClean="0"/>
              <a:t>Confirm client requirements for all purchases</a:t>
            </a:r>
          </a:p>
          <a:p>
            <a:r>
              <a:rPr lang="en-AU" dirty="0" smtClean="0"/>
              <a:t>Construct mixed class fares</a:t>
            </a:r>
          </a:p>
          <a:p>
            <a:r>
              <a:rPr lang="en-AU" dirty="0" smtClean="0"/>
              <a:t>Construct airfares incorporating add-ons</a:t>
            </a:r>
          </a:p>
          <a:p>
            <a:r>
              <a:rPr lang="en-AU" dirty="0" smtClean="0"/>
              <a:t>Prepare international pre-paid ticket advices</a:t>
            </a:r>
          </a:p>
          <a:p>
            <a:r>
              <a:rPr lang="en-AU" dirty="0" smtClean="0"/>
              <a:t>Construct round-the-world and round trip itineraries</a:t>
            </a:r>
          </a:p>
          <a:p>
            <a:r>
              <a:rPr lang="en-AU" dirty="0" smtClean="0"/>
              <a:t>Construct fares for open jaw journeys</a:t>
            </a:r>
          </a:p>
          <a:p>
            <a:r>
              <a:rPr lang="en-AU" dirty="0" smtClean="0"/>
              <a:t>Apply the pricing unit concept to fares</a:t>
            </a:r>
          </a:p>
          <a:p>
            <a:r>
              <a:rPr lang="en-AU" dirty="0" smtClean="0"/>
              <a:t>Maintain client file</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5"/>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6804248" y="1973351"/>
            <a:ext cx="2160240" cy="348760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a:t>
            </a:r>
            <a:endParaRPr lang="en-US" dirty="0"/>
          </a:p>
        </p:txBody>
      </p:sp>
      <p:sp>
        <p:nvSpPr>
          <p:cNvPr id="3" name="Content Placeholder 2"/>
          <p:cNvSpPr>
            <a:spLocks noGrp="1"/>
          </p:cNvSpPr>
          <p:nvPr>
            <p:ph idx="1"/>
          </p:nvPr>
        </p:nvSpPr>
        <p:spPr>
          <a:xfrm>
            <a:off x="457200" y="1412776"/>
            <a:ext cx="7709010" cy="4713387"/>
          </a:xfrm>
        </p:spPr>
        <p:txBody>
          <a:bodyPr/>
          <a:lstStyle/>
          <a:p>
            <a:pPr marL="36576" indent="0">
              <a:buNone/>
            </a:pPr>
            <a:r>
              <a:rPr lang="en-US" sz="2200" dirty="0" smtClean="0"/>
              <a:t>Assessment for this unit may include:</a:t>
            </a:r>
          </a:p>
          <a:p>
            <a:r>
              <a:rPr lang="en-US" sz="2200" dirty="0" smtClean="0"/>
              <a:t>Oral questions</a:t>
            </a:r>
          </a:p>
          <a:p>
            <a:r>
              <a:rPr lang="en-US" sz="2200" dirty="0" smtClean="0"/>
              <a:t>Written questions</a:t>
            </a:r>
          </a:p>
          <a:p>
            <a:r>
              <a:rPr lang="en-US" sz="2200" dirty="0" smtClean="0"/>
              <a:t>Work projects</a:t>
            </a:r>
          </a:p>
          <a:p>
            <a:r>
              <a:rPr lang="en-US" sz="2200" dirty="0" smtClean="0"/>
              <a:t>Workplace observation of practical skills</a:t>
            </a:r>
          </a:p>
          <a:p>
            <a:r>
              <a:rPr lang="en-US" sz="2200" dirty="0" smtClean="0"/>
              <a:t>Practical exercises</a:t>
            </a:r>
          </a:p>
          <a:p>
            <a:r>
              <a:rPr lang="en-US" sz="2200" dirty="0" smtClean="0"/>
              <a:t>Formal report from supervisor</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208657" y="2450078"/>
            <a:ext cx="2478549" cy="165000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Confirm client requirements for all purchases</a:t>
            </a:r>
            <a:endParaRPr lang="en-US" dirty="0"/>
          </a:p>
        </p:txBody>
      </p:sp>
      <p:sp>
        <p:nvSpPr>
          <p:cNvPr id="3" name="Content Placeholder 2"/>
          <p:cNvSpPr>
            <a:spLocks noGrp="1"/>
          </p:cNvSpPr>
          <p:nvPr>
            <p:ph idx="1"/>
          </p:nvPr>
        </p:nvSpPr>
        <p:spPr>
          <a:xfrm>
            <a:off x="457200" y="1484784"/>
            <a:ext cx="7859216" cy="4641379"/>
          </a:xfrm>
        </p:spPr>
        <p:txBody>
          <a:bodyPr/>
          <a:lstStyle/>
          <a:p>
            <a:pPr marL="36576" indent="0">
              <a:buNone/>
            </a:pPr>
            <a:r>
              <a:rPr lang="en-AU" sz="2200" dirty="0" smtClean="0"/>
              <a:t>Performance Criteria for this Element are:</a:t>
            </a:r>
          </a:p>
          <a:p>
            <a:pPr marL="36576" indent="-360000">
              <a:spcAft>
                <a:spcPts val="1200"/>
              </a:spcAft>
              <a:buNone/>
            </a:pPr>
            <a:r>
              <a:rPr lang="en-AU" sz="2200" dirty="0" smtClean="0">
                <a:solidFill>
                  <a:srgbClr val="92D050"/>
                </a:solidFill>
              </a:rPr>
              <a:t>1.1</a:t>
            </a:r>
            <a:r>
              <a:rPr lang="en-AU" sz="2200" dirty="0" smtClean="0"/>
              <a:t>	Identify and confirm needs and preferences of client</a:t>
            </a:r>
          </a:p>
          <a:p>
            <a:pPr marL="36576" indent="-360000">
              <a:spcAft>
                <a:spcPts val="1200"/>
              </a:spcAft>
              <a:buNone/>
            </a:pPr>
            <a:r>
              <a:rPr lang="en-AU" sz="2200" dirty="0" smtClean="0">
                <a:solidFill>
                  <a:srgbClr val="92D050"/>
                </a:solidFill>
              </a:rPr>
              <a:t>1.2</a:t>
            </a:r>
            <a:r>
              <a:rPr lang="en-AU" sz="2200" dirty="0" smtClean="0"/>
              <a:t>	Identify and access appropriate resources to enable  	processing of client requirements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159118" y="3933056"/>
            <a:ext cx="2824760" cy="206866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pPr>
              <a:lnSpc>
                <a:spcPct val="115000"/>
              </a:lnSpc>
              <a:spcAft>
                <a:spcPts val="1000"/>
              </a:spcAft>
            </a:pPr>
            <a:r>
              <a:rPr lang="en-AU" sz="3000" dirty="0" smtClean="0">
                <a:latin typeface="Helvetica"/>
                <a:ea typeface="Calibri"/>
                <a:cs typeface="Calibri"/>
              </a:rPr>
              <a:t>1.1, 5.1, 6.1 Identify </a:t>
            </a:r>
            <a:r>
              <a:rPr lang="en-AU" sz="3000" dirty="0">
                <a:latin typeface="Helvetica"/>
                <a:ea typeface="Calibri"/>
                <a:cs typeface="Calibri"/>
              </a:rPr>
              <a:t>and confirm needs and </a:t>
            </a:r>
            <a:r>
              <a:rPr lang="en-AU" sz="3000" dirty="0" smtClean="0">
                <a:latin typeface="Helvetica"/>
                <a:ea typeface="Calibri"/>
                <a:cs typeface="Calibri"/>
              </a:rPr>
              <a:t>preferences </a:t>
            </a:r>
            <a:r>
              <a:rPr lang="en-AU" sz="3000" dirty="0">
                <a:latin typeface="Helvetica"/>
                <a:ea typeface="Calibri"/>
                <a:cs typeface="Calibri"/>
              </a:rPr>
              <a:t>of client</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916832"/>
            <a:ext cx="6347048" cy="4680520"/>
          </a:xfrm>
        </p:spPr>
        <p:txBody>
          <a:bodyPr>
            <a:normAutofit/>
          </a:bodyPr>
          <a:lstStyle/>
          <a:p>
            <a:pPr marL="36576" indent="0">
              <a:buNone/>
            </a:pPr>
            <a:r>
              <a:rPr lang="en-AU" dirty="0"/>
              <a:t>Needs and preferences of client may relate </a:t>
            </a:r>
            <a:r>
              <a:rPr lang="en-AU" dirty="0" smtClean="0"/>
              <a:t>to:</a:t>
            </a:r>
          </a:p>
          <a:p>
            <a:r>
              <a:rPr lang="en-AU" dirty="0" smtClean="0"/>
              <a:t>Packages </a:t>
            </a:r>
          </a:p>
          <a:p>
            <a:r>
              <a:rPr lang="en-AU" dirty="0" smtClean="0"/>
              <a:t>Budget</a:t>
            </a:r>
          </a:p>
          <a:p>
            <a:r>
              <a:rPr lang="en-AU" dirty="0" smtClean="0"/>
              <a:t>Timing and duration</a:t>
            </a:r>
          </a:p>
          <a:p>
            <a:r>
              <a:rPr lang="en-AU" dirty="0" smtClean="0"/>
              <a:t>Number of travellers – including considerations applicable to groups, families and individuals</a:t>
            </a:r>
          </a:p>
          <a:p>
            <a:r>
              <a:rPr lang="en-AU" dirty="0" smtClean="0"/>
              <a:t>Destinations</a:t>
            </a:r>
          </a:p>
          <a:p>
            <a:r>
              <a:rPr lang="en-AU" dirty="0" smtClean="0"/>
              <a:t>Carrier</a:t>
            </a:r>
          </a:p>
          <a:p>
            <a:r>
              <a:rPr lang="en-AU" dirty="0" smtClean="0"/>
              <a:t>Quotations and advice supplied to client</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5"/>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44208" y="2636912"/>
            <a:ext cx="2143297" cy="237626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en-AU" sz="3000" dirty="0" smtClean="0">
                <a:latin typeface="Helvetica"/>
                <a:ea typeface="Calibri"/>
                <a:cs typeface="Calibri"/>
              </a:rPr>
              <a:t>1.2, 5.2, 6.2 Identify </a:t>
            </a:r>
            <a:r>
              <a:rPr lang="en-AU" sz="3000" dirty="0">
                <a:latin typeface="Helvetica"/>
                <a:ea typeface="Calibri"/>
                <a:cs typeface="Calibri"/>
              </a:rPr>
              <a:t>and access appropriate resources to enable processing of client requirements</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988840"/>
            <a:ext cx="4978896" cy="4137323"/>
          </a:xfrm>
        </p:spPr>
        <p:txBody>
          <a:bodyPr/>
          <a:lstStyle/>
          <a:p>
            <a:pPr marL="36576" indent="0">
              <a:buNone/>
            </a:pPr>
            <a:r>
              <a:rPr lang="en-AU" dirty="0" smtClean="0"/>
              <a:t>Resources</a:t>
            </a:r>
          </a:p>
          <a:p>
            <a:r>
              <a:rPr lang="en-AU" dirty="0"/>
              <a:t>General resources</a:t>
            </a:r>
          </a:p>
          <a:p>
            <a:r>
              <a:rPr lang="en-AU" dirty="0"/>
              <a:t>Specialist resources for travel industry staff</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724128" y="2428716"/>
            <a:ext cx="2461272" cy="164136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Computer Reservation System (CRS)</a:t>
            </a:r>
          </a:p>
          <a:p>
            <a:r>
              <a:rPr lang="en-AU" dirty="0"/>
              <a:t>Airline agency help desks</a:t>
            </a:r>
          </a:p>
          <a:p>
            <a:r>
              <a:rPr lang="en-AU" dirty="0"/>
              <a:t>Airline </a:t>
            </a:r>
            <a:r>
              <a:rPr lang="en-AU" dirty="0" smtClean="0"/>
              <a:t>websites</a:t>
            </a:r>
          </a:p>
          <a:p>
            <a:r>
              <a:rPr lang="en-AU" dirty="0" smtClean="0"/>
              <a:t>Passenger air tariff (PAT)</a:t>
            </a:r>
            <a:endParaRPr lang="en-AU" dirty="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7</a:t>
            </a:fld>
            <a:endParaRPr lang="en-US" dirty="0">
              <a:solidFill>
                <a:srgbClr val="4E5B6F">
                  <a:shade val="50000"/>
                </a:srgbClr>
              </a:solidFill>
            </a:endParaRPr>
          </a:p>
        </p:txBody>
      </p:sp>
      <p:sp>
        <p:nvSpPr>
          <p:cNvPr id="6" name="Title 1"/>
          <p:cNvSpPr>
            <a:spLocks noGrp="1"/>
          </p:cNvSpPr>
          <p:nvPr>
            <p:ph type="title"/>
          </p:nvPr>
        </p:nvSpPr>
        <p:spPr>
          <a:xfrm>
            <a:off x="457200" y="274638"/>
            <a:ext cx="8363272" cy="1143000"/>
          </a:xfrm>
        </p:spPr>
        <p:txBody>
          <a:bodyPr>
            <a:noAutofit/>
          </a:bodyPr>
          <a:lstStyle/>
          <a:p>
            <a:r>
              <a:rPr lang="en-AU" sz="3000" dirty="0" smtClean="0">
                <a:latin typeface="Helvetica"/>
                <a:ea typeface="Calibri"/>
                <a:cs typeface="Calibri"/>
              </a:rPr>
              <a:t>1.2, 5.2, 6.2 Identify </a:t>
            </a:r>
            <a:r>
              <a:rPr lang="en-AU" sz="3000" dirty="0">
                <a:latin typeface="Helvetica"/>
                <a:ea typeface="Calibri"/>
                <a:cs typeface="Calibri"/>
              </a:rPr>
              <a:t>and access appropriate resources to enable processing of client requirements</a:t>
            </a:r>
            <a:endParaRPr lang="en-AU" sz="3000" dirty="0">
              <a:effectLst/>
              <a:latin typeface="Helvetica"/>
              <a:ea typeface="Calibri"/>
              <a:cs typeface="Calibri"/>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5652120" y="2276872"/>
            <a:ext cx="2303780" cy="1536700"/>
          </a:xfrm>
          <a:prstGeom prst="rect">
            <a:avLst/>
          </a:prstGeom>
        </p:spPr>
      </p:pic>
    </p:spTree>
    <p:extLst>
      <p:ext uri="{BB962C8B-B14F-4D97-AF65-F5344CB8AC3E}">
        <p14:creationId xmlns:p14="http://schemas.microsoft.com/office/powerpoint/2010/main" val="30146654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8840"/>
            <a:ext cx="5338936" cy="4137323"/>
          </a:xfrm>
        </p:spPr>
        <p:txBody>
          <a:bodyPr>
            <a:normAutofit/>
          </a:bodyPr>
          <a:lstStyle/>
          <a:p>
            <a:pPr>
              <a:spcAft>
                <a:spcPts val="1200"/>
              </a:spcAft>
            </a:pPr>
            <a:r>
              <a:rPr lang="en-AU" sz="2200" dirty="0" smtClean="0"/>
              <a:t>Phonetic alphabet</a:t>
            </a:r>
          </a:p>
          <a:p>
            <a:pPr>
              <a:spcAft>
                <a:spcPts val="1200"/>
              </a:spcAft>
            </a:pPr>
            <a:r>
              <a:rPr lang="en-AU" sz="2200" dirty="0"/>
              <a:t>Airline schedules and flight routes</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8</a:t>
            </a:fld>
            <a:endParaRPr lang="en-US" dirty="0">
              <a:solidFill>
                <a:srgbClr val="4E5B6F">
                  <a:shade val="50000"/>
                </a:srgbClr>
              </a:solidFill>
            </a:endParaRPr>
          </a:p>
        </p:txBody>
      </p:sp>
      <p:sp>
        <p:nvSpPr>
          <p:cNvPr id="7" name="Title 1"/>
          <p:cNvSpPr>
            <a:spLocks noGrp="1"/>
          </p:cNvSpPr>
          <p:nvPr>
            <p:ph type="title"/>
          </p:nvPr>
        </p:nvSpPr>
        <p:spPr>
          <a:xfrm>
            <a:off x="457200" y="274638"/>
            <a:ext cx="8363272" cy="1143000"/>
          </a:xfrm>
        </p:spPr>
        <p:txBody>
          <a:bodyPr>
            <a:noAutofit/>
          </a:bodyPr>
          <a:lstStyle/>
          <a:p>
            <a:r>
              <a:rPr lang="en-AU" sz="3000" dirty="0" smtClean="0">
                <a:latin typeface="Helvetica"/>
                <a:ea typeface="Calibri"/>
                <a:cs typeface="Calibri"/>
              </a:rPr>
              <a:t>1.2, 5.2, 6.2 Identify and access appropriate resources to enable processing of client requirements</a:t>
            </a:r>
            <a:endParaRPr lang="en-AU" sz="3000" dirty="0">
              <a:effectLst/>
              <a:latin typeface="Helvetica"/>
              <a:ea typeface="Calibri"/>
              <a:cs typeface="Calibri"/>
            </a:endParaRPr>
          </a:p>
        </p:txBody>
      </p:sp>
      <p:grpSp>
        <p:nvGrpSpPr>
          <p:cNvPr id="9" name="Group 8"/>
          <p:cNvGrpSpPr/>
          <p:nvPr/>
        </p:nvGrpSpPr>
        <p:grpSpPr>
          <a:xfrm>
            <a:off x="832433" y="3140968"/>
            <a:ext cx="5629759" cy="2657718"/>
            <a:chOff x="899592" y="3383414"/>
            <a:chExt cx="5629759" cy="2657718"/>
          </a:xfrm>
        </p:grpSpPr>
        <p:sp>
          <p:nvSpPr>
            <p:cNvPr id="6" name="Rectangle 2"/>
            <p:cNvSpPr>
              <a:spLocks noChangeArrowheads="1"/>
            </p:cNvSpPr>
            <p:nvPr/>
          </p:nvSpPr>
          <p:spPr bwMode="auto">
            <a:xfrm>
              <a:off x="971600" y="3383414"/>
              <a:ext cx="555775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100" b="1" i="0" u="none" strike="noStrike" cap="none" normalizeH="0" baseline="0" dirty="0" smtClean="0">
                  <a:ln>
                    <a:noFill/>
                  </a:ln>
                  <a:solidFill>
                    <a:schemeClr val="tx1"/>
                  </a:solidFill>
                  <a:effectLst/>
                  <a:latin typeface="Helvetica" pitchFamily="34" charset="0"/>
                  <a:ea typeface="Calibri" pitchFamily="34" charset="0"/>
                  <a:cs typeface="Calibri" pitchFamily="34" charset="0"/>
                </a:rPr>
                <a:t>Example of a Thai Airways timetable from their website:</a:t>
              </a:r>
              <a:endParaRPr kumimoji="0" lang="en-AU" sz="6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025" name="Picture 131" descr="Description: http://www.whatsonxiamen.com/travel_images/Thai_Airways_5617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717032"/>
              <a:ext cx="5562600" cy="232410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3"/>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7283591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1 - Confirm </a:t>
            </a:r>
            <a:r>
              <a:rPr lang="en-AU" sz="3000" dirty="0"/>
              <a:t>client requirements for all purchases</a:t>
            </a:r>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1</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9</a:t>
            </a:fld>
            <a:endParaRPr lang="en-US" dirty="0">
              <a:solidFill>
                <a:srgbClr val="4E5B6F">
                  <a:shade val="50000"/>
                </a:srgbClr>
              </a:solidFill>
            </a:endParaRPr>
          </a:p>
        </p:txBody>
      </p:sp>
    </p:spTree>
    <p:extLst>
      <p:ext uri="{BB962C8B-B14F-4D97-AF65-F5344CB8AC3E}">
        <p14:creationId xmlns:p14="http://schemas.microsoft.com/office/powerpoint/2010/main" val="41152969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2: Construct mixed class fares</a:t>
            </a:r>
            <a:endParaRPr lang="en-US" dirty="0"/>
          </a:p>
        </p:txBody>
      </p:sp>
      <p:sp>
        <p:nvSpPr>
          <p:cNvPr id="3" name="Content Placeholder 2"/>
          <p:cNvSpPr>
            <a:spLocks noGrp="1"/>
          </p:cNvSpPr>
          <p:nvPr>
            <p:ph idx="1"/>
          </p:nvPr>
        </p:nvSpPr>
        <p:spPr>
          <a:xfrm>
            <a:off x="457200" y="1556792"/>
            <a:ext cx="6203032" cy="4865272"/>
          </a:xfrm>
        </p:spPr>
        <p:txBody>
          <a:bodyPr>
            <a:normAutofit/>
          </a:bodyPr>
          <a:lstStyle/>
          <a:p>
            <a:pPr marL="36576" indent="0">
              <a:spcAft>
                <a:spcPts val="1200"/>
              </a:spcAft>
              <a:buNone/>
            </a:pPr>
            <a:r>
              <a:rPr lang="en-AU" dirty="0" smtClean="0"/>
              <a:t>Performance Criteria for this Element are:</a:t>
            </a:r>
          </a:p>
          <a:p>
            <a:pPr marL="36576" indent="-288000">
              <a:spcAft>
                <a:spcPts val="1200"/>
              </a:spcAft>
              <a:buNone/>
            </a:pPr>
            <a:r>
              <a:rPr lang="en-AU" dirty="0" smtClean="0">
                <a:solidFill>
                  <a:srgbClr val="92D050"/>
                </a:solidFill>
              </a:rPr>
              <a:t>2.1</a:t>
            </a:r>
            <a:r>
              <a:rPr lang="en-AU" dirty="0" smtClean="0"/>
              <a:t>	Identify </a:t>
            </a:r>
            <a:r>
              <a:rPr lang="en-AU" dirty="0"/>
              <a:t>and confirm availability of mixed </a:t>
            </a:r>
            <a:r>
              <a:rPr lang="en-AU" dirty="0" smtClean="0"/>
              <a:t>	class combinations</a:t>
            </a:r>
            <a:endParaRPr lang="en-AU" dirty="0"/>
          </a:p>
          <a:p>
            <a:pPr marL="36576" indent="-288000">
              <a:spcAft>
                <a:spcPts val="1200"/>
              </a:spcAft>
              <a:buNone/>
            </a:pPr>
            <a:r>
              <a:rPr lang="en-AU" dirty="0">
                <a:solidFill>
                  <a:srgbClr val="92D050"/>
                </a:solidFill>
              </a:rPr>
              <a:t>2.2</a:t>
            </a:r>
            <a:r>
              <a:rPr lang="en-AU" dirty="0"/>
              <a:t>	Match choice of mixed class fare to identified </a:t>
            </a:r>
            <a:r>
              <a:rPr lang="en-AU" dirty="0" smtClean="0"/>
              <a:t>	needs of </a:t>
            </a:r>
            <a:r>
              <a:rPr lang="en-AU" dirty="0"/>
              <a:t>client</a:t>
            </a:r>
          </a:p>
          <a:p>
            <a:pPr marL="36576" indent="-288000">
              <a:spcAft>
                <a:spcPts val="1200"/>
              </a:spcAft>
              <a:buNone/>
            </a:pPr>
            <a:r>
              <a:rPr lang="en-AU" dirty="0">
                <a:solidFill>
                  <a:srgbClr val="92D050"/>
                </a:solidFill>
              </a:rPr>
              <a:t>2.3</a:t>
            </a:r>
            <a:r>
              <a:rPr lang="en-AU" dirty="0"/>
              <a:t>	Ensure fare construction complies with </a:t>
            </a:r>
            <a:r>
              <a:rPr lang="en-AU" dirty="0" smtClean="0"/>
              <a:t>	operational requirements</a:t>
            </a:r>
            <a:endParaRPr lang="en-AU" dirty="0"/>
          </a:p>
          <a:p>
            <a:pPr marL="36576" indent="-288000">
              <a:spcAft>
                <a:spcPts val="1200"/>
              </a:spcAft>
              <a:buNone/>
            </a:pPr>
            <a:r>
              <a:rPr lang="en-AU" dirty="0">
                <a:solidFill>
                  <a:srgbClr val="92D050"/>
                </a:solidFill>
              </a:rPr>
              <a:t>2.4</a:t>
            </a:r>
            <a:r>
              <a:rPr lang="en-AU" dirty="0"/>
              <a:t>	Calculate mixed fare costs</a:t>
            </a:r>
          </a:p>
          <a:p>
            <a:pPr marL="36576" indent="-288000">
              <a:spcAft>
                <a:spcPts val="1200"/>
              </a:spcAft>
              <a:buNone/>
            </a:pPr>
            <a:r>
              <a:rPr lang="en-AU" dirty="0">
                <a:solidFill>
                  <a:srgbClr val="92D050"/>
                </a:solidFill>
              </a:rPr>
              <a:t>2.5</a:t>
            </a:r>
            <a:r>
              <a:rPr lang="en-AU" dirty="0"/>
              <a:t>	Construct and check accuracy </a:t>
            </a:r>
            <a:r>
              <a:rPr lang="en-AU" dirty="0" smtClean="0"/>
              <a:t>and 	completeness of air </a:t>
            </a:r>
            <a:r>
              <a:rPr lang="en-AU" dirty="0"/>
              <a:t>itineraries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733573" y="2780928"/>
            <a:ext cx="2222049" cy="151216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3000" dirty="0">
                <a:latin typeface="Helvetica"/>
                <a:ea typeface="Calibri"/>
                <a:cs typeface="Calibri"/>
              </a:rPr>
              <a:t>2.1	Identify and confirm availability of </a:t>
            </a:r>
            <a:r>
              <a:rPr lang="en-AU" sz="3000" dirty="0" smtClean="0">
                <a:latin typeface="Helvetica"/>
                <a:ea typeface="Calibri"/>
                <a:cs typeface="Calibri"/>
              </a:rPr>
              <a:t>	mixed </a:t>
            </a:r>
            <a:r>
              <a:rPr lang="en-AU" sz="3000" dirty="0">
                <a:latin typeface="Helvetica"/>
                <a:ea typeface="Calibri"/>
                <a:cs typeface="Calibri"/>
              </a:rPr>
              <a:t>class combinations</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595933"/>
            <a:ext cx="8435280" cy="4641379"/>
          </a:xfrm>
        </p:spPr>
        <p:txBody>
          <a:bodyPr>
            <a:normAutofit/>
          </a:bodyPr>
          <a:lstStyle/>
          <a:p>
            <a:pPr marL="36576" indent="0">
              <a:spcAft>
                <a:spcPts val="1200"/>
              </a:spcAft>
              <a:buNone/>
            </a:pPr>
            <a:r>
              <a:rPr lang="en-AU" dirty="0" smtClean="0"/>
              <a:t>Identify and confirm availability of mixed class combinations:</a:t>
            </a:r>
          </a:p>
          <a:p>
            <a:pPr>
              <a:spcAft>
                <a:spcPts val="1200"/>
              </a:spcAft>
            </a:pPr>
            <a:r>
              <a:rPr lang="en-AU" dirty="0" smtClean="0"/>
              <a:t>Confirming definition and interpretation of mixed class </a:t>
            </a:r>
          </a:p>
          <a:p>
            <a:pPr>
              <a:spcAft>
                <a:spcPts val="1200"/>
              </a:spcAft>
            </a:pPr>
            <a:r>
              <a:rPr lang="en-AU" dirty="0" smtClean="0"/>
              <a:t>Identifying carriers who offer this option</a:t>
            </a:r>
          </a:p>
          <a:p>
            <a:pPr>
              <a:spcAft>
                <a:spcPts val="1200"/>
              </a:spcAft>
            </a:pPr>
            <a:r>
              <a:rPr lang="en-AU" dirty="0" smtClean="0"/>
              <a:t>Verifying routes to which this option applies</a:t>
            </a:r>
          </a:p>
          <a:p>
            <a:pPr marL="421200" indent="0">
              <a:spcAft>
                <a:spcPts val="1200"/>
              </a:spcAft>
              <a:buNone/>
            </a:pPr>
            <a:r>
              <a:rPr lang="en-AU" sz="1500" dirty="0" smtClean="0">
                <a:solidFill>
                  <a:srgbClr val="FF6600"/>
                </a:solidFill>
              </a:rPr>
              <a:t>www.qantas.com.au/agents/dyn/qf/fares/routeMapsRead</a:t>
            </a:r>
          </a:p>
          <a:p>
            <a:pPr>
              <a:spcAft>
                <a:spcPts val="1200"/>
              </a:spcAft>
            </a:pPr>
            <a:r>
              <a:rPr lang="en-AU" dirty="0" smtClean="0"/>
              <a:t>Verifying advanced purchase timelines/dates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588223" y="2852936"/>
            <a:ext cx="2164899" cy="152103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3000" dirty="0">
                <a:latin typeface="Helvetica"/>
                <a:ea typeface="Calibri"/>
                <a:cs typeface="Calibri"/>
              </a:rPr>
              <a:t>2.2	Match choice of mixed class fare to </a:t>
            </a:r>
            <a:r>
              <a:rPr lang="en-AU" sz="3000" dirty="0" smtClean="0">
                <a:latin typeface="Helvetica"/>
                <a:ea typeface="Calibri"/>
                <a:cs typeface="Calibri"/>
              </a:rPr>
              <a:t>	identified </a:t>
            </a:r>
            <a:r>
              <a:rPr lang="en-AU" sz="3000" dirty="0">
                <a:latin typeface="Helvetica"/>
                <a:ea typeface="Calibri"/>
                <a:cs typeface="Calibri"/>
              </a:rPr>
              <a:t>needs of client</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811957"/>
            <a:ext cx="7571184" cy="4641379"/>
          </a:xfrm>
          <a:noFill/>
          <a:ln>
            <a:noFill/>
          </a:ln>
        </p:spPr>
        <p:txBody>
          <a:bodyPr/>
          <a:lstStyle/>
          <a:p>
            <a:pPr>
              <a:spcAft>
                <a:spcPts val="1200"/>
              </a:spcAft>
            </a:pPr>
            <a:r>
              <a:rPr lang="en-AU" sz="2200" dirty="0"/>
              <a:t>Mileage and routing fares</a:t>
            </a:r>
          </a:p>
          <a:p>
            <a:pPr>
              <a:spcAft>
                <a:spcPts val="1200"/>
              </a:spcAft>
            </a:pPr>
            <a:r>
              <a:rPr lang="en-AU" sz="2200" dirty="0"/>
              <a:t>Itinerary </a:t>
            </a:r>
            <a:r>
              <a:rPr lang="en-AU" sz="2200" dirty="0" smtClean="0"/>
              <a:t>types</a:t>
            </a:r>
          </a:p>
          <a:p>
            <a:pPr>
              <a:spcAft>
                <a:spcPts val="1200"/>
              </a:spcAft>
            </a:pPr>
            <a:r>
              <a:rPr lang="en-AU" sz="2200" dirty="0"/>
              <a:t>Codeshare </a:t>
            </a:r>
            <a:r>
              <a:rPr lang="en-AU" sz="2200" dirty="0" smtClean="0"/>
              <a:t>flights</a:t>
            </a:r>
          </a:p>
          <a:p>
            <a:pPr>
              <a:spcAft>
                <a:spcPts val="1200"/>
              </a:spcAft>
            </a:pPr>
            <a:r>
              <a:rPr lang="en-AU" sz="2200" dirty="0"/>
              <a:t>Regular airfare rules </a:t>
            </a:r>
          </a:p>
          <a:p>
            <a:pPr>
              <a:spcAft>
                <a:spcPts val="1200"/>
              </a:spcAft>
            </a:pPr>
            <a:r>
              <a:rPr lang="en-AU" sz="2200" dirty="0"/>
              <a:t>Booking classes</a:t>
            </a:r>
          </a:p>
          <a:p>
            <a:pPr>
              <a:spcAft>
                <a:spcPts val="1200"/>
              </a:spcAft>
            </a:pPr>
            <a:endParaRPr lang="en-AU" sz="2200" dirty="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12</a:t>
            </a:fld>
            <a:endParaRPr lang="en-US" dirty="0">
              <a:solidFill>
                <a:srgbClr val="4E5B6F">
                  <a:shade val="50000"/>
                </a:srgbClr>
              </a:solidFill>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5531803" y="2708920"/>
            <a:ext cx="1919605" cy="1439545"/>
          </a:xfrm>
          <a:prstGeom prst="rect">
            <a:avLst/>
          </a:prstGeom>
        </p:spPr>
      </p:pic>
    </p:spTree>
    <p:extLst>
      <p:ext uri="{BB962C8B-B14F-4D97-AF65-F5344CB8AC3E}">
        <p14:creationId xmlns:p14="http://schemas.microsoft.com/office/powerpoint/2010/main" val="28845062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47248" cy="1143000"/>
          </a:xfrm>
        </p:spPr>
        <p:txBody>
          <a:bodyPr>
            <a:normAutofit/>
          </a:bodyPr>
          <a:lstStyle/>
          <a:p>
            <a:r>
              <a:rPr lang="en-AU" sz="2800" dirty="0">
                <a:latin typeface="Helvetica"/>
                <a:ea typeface="Calibri"/>
                <a:cs typeface="Calibri"/>
              </a:rPr>
              <a:t>2.3, 3.2, 5.4, 6.5 	Ensure fare construction complies with operational requirements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700808"/>
            <a:ext cx="7571184" cy="4425355"/>
          </a:xfrm>
        </p:spPr>
        <p:txBody>
          <a:bodyPr>
            <a:normAutofit lnSpcReduction="10000"/>
          </a:bodyPr>
          <a:lstStyle/>
          <a:p>
            <a:pPr marL="36576" indent="0">
              <a:lnSpc>
                <a:spcPct val="150000"/>
              </a:lnSpc>
              <a:buNone/>
            </a:pPr>
            <a:r>
              <a:rPr lang="en-AU" dirty="0" smtClean="0"/>
              <a:t>Operational requirements relates to: </a:t>
            </a:r>
          </a:p>
          <a:p>
            <a:pPr>
              <a:lnSpc>
                <a:spcPct val="150000"/>
              </a:lnSpc>
            </a:pPr>
            <a:r>
              <a:rPr lang="en-AU" dirty="0" smtClean="0"/>
              <a:t>Carrier guidelines</a:t>
            </a:r>
          </a:p>
          <a:p>
            <a:pPr>
              <a:lnSpc>
                <a:spcPct val="150000"/>
              </a:lnSpc>
            </a:pPr>
            <a:r>
              <a:rPr lang="en-AU" dirty="0" smtClean="0"/>
              <a:t>Regulatory requirements</a:t>
            </a:r>
          </a:p>
          <a:p>
            <a:pPr>
              <a:lnSpc>
                <a:spcPct val="150000"/>
              </a:lnSpc>
            </a:pPr>
            <a:r>
              <a:rPr lang="en-AU" dirty="0" smtClean="0"/>
              <a:t>Organisational requirements</a:t>
            </a:r>
          </a:p>
          <a:p>
            <a:pPr>
              <a:lnSpc>
                <a:spcPct val="150000"/>
              </a:lnSpc>
            </a:pPr>
            <a:r>
              <a:rPr lang="en-AU" dirty="0" smtClean="0"/>
              <a:t>IATA requirements and procedures, including IATA fare construction rules</a:t>
            </a:r>
          </a:p>
          <a:p>
            <a:pPr>
              <a:lnSpc>
                <a:spcPct val="150000"/>
              </a:lnSpc>
            </a:pPr>
            <a:r>
              <a:rPr lang="en-AU" dirty="0" smtClean="0"/>
              <a:t>Use of correct documentation and/or screens and information fields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148064" y="1922596"/>
            <a:ext cx="2947056" cy="194683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47248" cy="1143000"/>
          </a:xfrm>
        </p:spPr>
        <p:txBody>
          <a:bodyPr>
            <a:normAutofit/>
          </a:bodyPr>
          <a:lstStyle/>
          <a:p>
            <a:pPr>
              <a:lnSpc>
                <a:spcPct val="115000"/>
              </a:lnSpc>
              <a:spcAft>
                <a:spcPts val="1000"/>
              </a:spcAft>
            </a:pPr>
            <a:r>
              <a:rPr lang="en-AU" sz="2800" dirty="0">
                <a:latin typeface="Helvetica"/>
                <a:ea typeface="Calibri"/>
                <a:cs typeface="Calibri"/>
              </a:rPr>
              <a:t>2.3, 3.2, 5.4, 6.5 	Ensure fare construction complies with operational requirements</a:t>
            </a:r>
            <a:endParaRPr lang="en-AU" sz="2800" dirty="0">
              <a:effectLst/>
              <a:latin typeface="Helvetica"/>
              <a:ea typeface="Calibri"/>
              <a:cs typeface="Calibri"/>
            </a:endParaRPr>
          </a:p>
        </p:txBody>
      </p:sp>
      <p:sp>
        <p:nvSpPr>
          <p:cNvPr id="3" name="Content Placeholder 2"/>
          <p:cNvSpPr>
            <a:spLocks noGrp="1"/>
          </p:cNvSpPr>
          <p:nvPr>
            <p:ph idx="1"/>
          </p:nvPr>
        </p:nvSpPr>
        <p:spPr>
          <a:xfrm>
            <a:off x="467544" y="1556792"/>
            <a:ext cx="6480720" cy="4569371"/>
          </a:xfrm>
        </p:spPr>
        <p:txBody>
          <a:bodyPr>
            <a:normAutofit/>
          </a:bodyPr>
          <a:lstStyle/>
          <a:p>
            <a:pPr marL="36576" indent="0">
              <a:buNone/>
            </a:pPr>
            <a:r>
              <a:rPr lang="en-US" b="1" dirty="0"/>
              <a:t>IATA Traffic Conference </a:t>
            </a:r>
            <a:r>
              <a:rPr lang="en-US" b="1" dirty="0" smtClean="0"/>
              <a:t>Areas</a:t>
            </a:r>
          </a:p>
          <a:p>
            <a:pPr marL="36576" indent="0">
              <a:buNone/>
            </a:pPr>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14</a:t>
            </a:fld>
            <a:endParaRPr lang="en-US" dirty="0">
              <a:solidFill>
                <a:srgbClr val="4E5B6F">
                  <a:shade val="50000"/>
                </a:srgbClr>
              </a:solidFill>
            </a:endParaRPr>
          </a:p>
        </p:txBody>
      </p:sp>
      <p:pic>
        <p:nvPicPr>
          <p:cNvPr id="7" name="Picture 6" descr="TC Map"/>
          <p:cNvPicPr/>
          <p:nvPr/>
        </p:nvPicPr>
        <p:blipFill>
          <a:blip r:embed="rId3" cstate="print"/>
          <a:srcRect t="1306" r="652" b="1244"/>
          <a:stretch>
            <a:fillRect/>
          </a:stretch>
        </p:blipFill>
        <p:spPr bwMode="auto">
          <a:xfrm>
            <a:off x="827584" y="1997782"/>
            <a:ext cx="7560840" cy="4536504"/>
          </a:xfrm>
          <a:prstGeom prst="rect">
            <a:avLst/>
          </a:prstGeom>
          <a:noFill/>
          <a:ln w="9525">
            <a:noFill/>
            <a:miter lim="800000"/>
            <a:headEnd/>
            <a:tailEnd/>
          </a:ln>
        </p:spPr>
      </p:pic>
    </p:spTree>
    <p:extLst>
      <p:ext uri="{BB962C8B-B14F-4D97-AF65-F5344CB8AC3E}">
        <p14:creationId xmlns:p14="http://schemas.microsoft.com/office/powerpoint/2010/main" val="25601126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47248" cy="1143000"/>
          </a:xfrm>
        </p:spPr>
        <p:txBody>
          <a:bodyPr>
            <a:normAutofit/>
          </a:bodyPr>
          <a:lstStyle/>
          <a:p>
            <a:pPr>
              <a:lnSpc>
                <a:spcPct val="115000"/>
              </a:lnSpc>
              <a:spcAft>
                <a:spcPts val="1000"/>
              </a:spcAft>
            </a:pPr>
            <a:r>
              <a:rPr lang="en-AU" sz="2800" dirty="0">
                <a:latin typeface="Helvetica"/>
                <a:ea typeface="Calibri"/>
                <a:cs typeface="Calibri"/>
              </a:rPr>
              <a:t>2.3, 3.2, 5.4, 6.5 	Ensure fare construction complies with operational requirements</a:t>
            </a:r>
            <a:endParaRPr lang="en-AU" sz="2800" dirty="0">
              <a:effectLst/>
              <a:latin typeface="Helvetica"/>
              <a:ea typeface="Calibri"/>
              <a:cs typeface="Calibri"/>
            </a:endParaRPr>
          </a:p>
        </p:txBody>
      </p:sp>
      <p:sp>
        <p:nvSpPr>
          <p:cNvPr id="3" name="Content Placeholder 2"/>
          <p:cNvSpPr>
            <a:spLocks noGrp="1"/>
          </p:cNvSpPr>
          <p:nvPr>
            <p:ph idx="1"/>
          </p:nvPr>
        </p:nvSpPr>
        <p:spPr>
          <a:xfrm>
            <a:off x="467544" y="1844824"/>
            <a:ext cx="6480720" cy="4281339"/>
          </a:xfrm>
        </p:spPr>
        <p:txBody>
          <a:bodyPr>
            <a:normAutofit/>
          </a:bodyPr>
          <a:lstStyle/>
          <a:p>
            <a:pPr marL="0" indent="0">
              <a:spcAft>
                <a:spcPts val="1200"/>
              </a:spcAft>
              <a:buNone/>
            </a:pPr>
            <a:r>
              <a:rPr lang="en-AU" sz="2200" b="1" dirty="0">
                <a:latin typeface="Helvetica"/>
                <a:ea typeface="Times New Roman"/>
                <a:cs typeface="Times New Roman"/>
              </a:rPr>
              <a:t>Terminology</a:t>
            </a:r>
          </a:p>
          <a:p>
            <a:pPr>
              <a:spcAft>
                <a:spcPts val="1200"/>
              </a:spcAft>
            </a:pPr>
            <a:r>
              <a:rPr lang="en-AU" sz="2200" dirty="0">
                <a:latin typeface="Helvetica"/>
                <a:ea typeface="Calibri"/>
                <a:cs typeface="Calibri"/>
              </a:rPr>
              <a:t>Terms relating to regular airfare construction</a:t>
            </a:r>
          </a:p>
          <a:p>
            <a:pPr>
              <a:spcAft>
                <a:spcPts val="1200"/>
              </a:spcAft>
            </a:pPr>
            <a:r>
              <a:rPr lang="en-AU" sz="2200" dirty="0">
                <a:latin typeface="Helvetica"/>
                <a:ea typeface="Calibri"/>
                <a:cs typeface="Calibri"/>
              </a:rPr>
              <a:t>Terms relating to itineraries:</a:t>
            </a:r>
          </a:p>
          <a:p>
            <a:pPr>
              <a:spcAft>
                <a:spcPts val="1200"/>
              </a:spcAft>
            </a:pPr>
            <a:r>
              <a:rPr lang="en-AU" sz="2200" dirty="0">
                <a:latin typeface="Helvetica"/>
                <a:ea typeface="Calibri"/>
                <a:cs typeface="Calibri"/>
              </a:rPr>
              <a:t>Terms relating to pricing an </a:t>
            </a:r>
            <a:r>
              <a:rPr lang="en-AU" sz="2200" dirty="0" smtClean="0">
                <a:latin typeface="Helvetica"/>
                <a:ea typeface="Calibri"/>
                <a:cs typeface="Calibri"/>
              </a:rPr>
              <a:t>itinerary</a:t>
            </a:r>
            <a:endParaRPr lang="en-AU" sz="2200" dirty="0">
              <a:latin typeface="Helvetica"/>
              <a:ea typeface="Calibri"/>
              <a:cs typeface="Calibri"/>
            </a:endParaRPr>
          </a:p>
          <a:p>
            <a:pPr marL="36576" indent="0">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15</a:t>
            </a:fld>
            <a:endParaRPr lang="en-US" dirty="0">
              <a:solidFill>
                <a:srgbClr val="4E5B6F">
                  <a:shade val="50000"/>
                </a:srgbClr>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3087471"/>
            <a:ext cx="2435423" cy="1621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23868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467600" cy="1143000"/>
          </a:xfrm>
        </p:spPr>
        <p:txBody>
          <a:bodyPr>
            <a:normAutofit/>
          </a:bodyPr>
          <a:lstStyle/>
          <a:p>
            <a:pPr>
              <a:lnSpc>
                <a:spcPct val="115000"/>
              </a:lnSpc>
              <a:spcAft>
                <a:spcPts val="1000"/>
              </a:spcAft>
            </a:pPr>
            <a:r>
              <a:rPr lang="en-AU" sz="3000" dirty="0" smtClean="0">
                <a:latin typeface="Helvetica"/>
                <a:ea typeface="Calibri"/>
                <a:cs typeface="Calibri"/>
              </a:rPr>
              <a:t>2.4, 5.5, 6.6 Calculate </a:t>
            </a:r>
            <a:r>
              <a:rPr lang="en-AU" sz="3000" dirty="0">
                <a:latin typeface="Helvetica"/>
                <a:ea typeface="Calibri"/>
                <a:cs typeface="Calibri"/>
              </a:rPr>
              <a:t>mixed fare costs</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484784"/>
            <a:ext cx="7931224" cy="4497363"/>
          </a:xfrm>
        </p:spPr>
        <p:txBody>
          <a:bodyPr>
            <a:noAutofit/>
          </a:bodyPr>
          <a:lstStyle/>
          <a:p>
            <a:pPr marL="36576" indent="0">
              <a:spcAft>
                <a:spcPts val="1200"/>
              </a:spcAft>
              <a:buNone/>
            </a:pPr>
            <a:r>
              <a:rPr lang="en-AU" sz="2200" dirty="0" smtClean="0"/>
              <a:t>Calculate mixed fare costs may include:</a:t>
            </a:r>
          </a:p>
          <a:p>
            <a:pPr>
              <a:spcAft>
                <a:spcPts val="1200"/>
              </a:spcAft>
            </a:pPr>
            <a:r>
              <a:rPr lang="en-AU" sz="2200" dirty="0" smtClean="0"/>
              <a:t>Referring to relevant carrier schedules/timetables and tariff information</a:t>
            </a:r>
          </a:p>
          <a:p>
            <a:pPr>
              <a:spcAft>
                <a:spcPts val="1200"/>
              </a:spcAft>
            </a:pPr>
            <a:r>
              <a:rPr lang="en-AU" sz="2200" dirty="0" smtClean="0"/>
              <a:t>Referring to specials available and                                           packages that apply </a:t>
            </a:r>
          </a:p>
          <a:p>
            <a:pPr>
              <a:spcAft>
                <a:spcPts val="1200"/>
              </a:spcAft>
            </a:pPr>
            <a:r>
              <a:rPr lang="en-AU" sz="2200" dirty="0" smtClean="0"/>
              <a:t>Factoring in applicable discounts, where appropriate</a:t>
            </a:r>
          </a:p>
          <a:p>
            <a:pPr lvl="1">
              <a:spcAft>
                <a:spcPts val="1200"/>
              </a:spcAft>
            </a:pPr>
            <a:endParaRPr lang="en-AU" sz="2200" dirty="0" smtClean="0"/>
          </a:p>
          <a:p>
            <a:pPr>
              <a:spcAft>
                <a:spcPts val="1200"/>
              </a:spcAft>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131840" y="4614743"/>
            <a:ext cx="2952328" cy="177139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91264" cy="1143000"/>
          </a:xfrm>
        </p:spPr>
        <p:txBody>
          <a:bodyPr>
            <a:noAutofit/>
          </a:bodyPr>
          <a:lstStyle/>
          <a:p>
            <a:pPr>
              <a:lnSpc>
                <a:spcPct val="115000"/>
              </a:lnSpc>
              <a:spcAft>
                <a:spcPts val="1000"/>
              </a:spcAft>
            </a:pPr>
            <a:r>
              <a:rPr lang="en-AU" sz="2800" dirty="0" smtClean="0">
                <a:latin typeface="Helvetica"/>
                <a:ea typeface="Calibri"/>
                <a:cs typeface="Calibri"/>
              </a:rPr>
              <a:t>2.5, 3.4, 5.6, 6.7</a:t>
            </a:r>
            <a:r>
              <a:rPr lang="en-AU" sz="2800" dirty="0">
                <a:latin typeface="Helvetica"/>
                <a:ea typeface="Calibri"/>
                <a:cs typeface="Calibri"/>
              </a:rPr>
              <a:t>	Construct and check accuracy and completeness of air itineraries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700808"/>
            <a:ext cx="6347048" cy="4680520"/>
          </a:xfrm>
        </p:spPr>
        <p:txBody>
          <a:bodyPr/>
          <a:lstStyle/>
          <a:p>
            <a:pPr marL="36576" indent="0">
              <a:spcAft>
                <a:spcPts val="1200"/>
              </a:spcAft>
              <a:buNone/>
            </a:pPr>
            <a:r>
              <a:rPr lang="en-AU" dirty="0" smtClean="0"/>
              <a:t>Construct and check accuracy and completeness of air itineraries:</a:t>
            </a:r>
            <a:endParaRPr lang="en-US" dirty="0" smtClean="0"/>
          </a:p>
          <a:p>
            <a:pPr>
              <a:spcAft>
                <a:spcPts val="1200"/>
              </a:spcAft>
            </a:pPr>
            <a:r>
              <a:rPr lang="en-AU" dirty="0" smtClean="0"/>
              <a:t>Name and number of passenger/s – including indication of adults and children</a:t>
            </a:r>
          </a:p>
          <a:p>
            <a:pPr>
              <a:spcAft>
                <a:spcPts val="1200"/>
              </a:spcAft>
            </a:pPr>
            <a:r>
              <a:rPr lang="en-AU" dirty="0" smtClean="0"/>
              <a:t>Day and date of travel</a:t>
            </a:r>
          </a:p>
          <a:p>
            <a:pPr>
              <a:spcAft>
                <a:spcPts val="1200"/>
              </a:spcAft>
            </a:pPr>
            <a:r>
              <a:rPr lang="en-AU" dirty="0" smtClean="0"/>
              <a:t>From and to destinations</a:t>
            </a:r>
          </a:p>
          <a:p>
            <a:pPr>
              <a:spcAft>
                <a:spcPts val="1200"/>
              </a:spcAft>
            </a:pPr>
            <a:r>
              <a:rPr lang="en-AU" dirty="0" smtClean="0"/>
              <a:t>Flight number and carrier, including seat allocation</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660232" y="2780928"/>
            <a:ext cx="1997224" cy="155241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2 </a:t>
            </a:r>
            <a:r>
              <a:rPr lang="en-AU" sz="3000" dirty="0"/>
              <a:t>- Construct mixed class fares</a:t>
            </a:r>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2</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18</a:t>
            </a:fld>
            <a:endParaRPr lang="en-US" dirty="0">
              <a:solidFill>
                <a:srgbClr val="4E5B6F">
                  <a:shade val="50000"/>
                </a:srgbClr>
              </a:solidFill>
            </a:endParaRPr>
          </a:p>
        </p:txBody>
      </p:sp>
    </p:spTree>
    <p:extLst>
      <p:ext uri="{BB962C8B-B14F-4D97-AF65-F5344CB8AC3E}">
        <p14:creationId xmlns:p14="http://schemas.microsoft.com/office/powerpoint/2010/main" val="23478164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3: Construct airfares incorporating add-ons</a:t>
            </a:r>
            <a:endParaRPr lang="en-US" dirty="0"/>
          </a:p>
        </p:txBody>
      </p:sp>
      <p:sp>
        <p:nvSpPr>
          <p:cNvPr id="3" name="Content Placeholder 2"/>
          <p:cNvSpPr>
            <a:spLocks noGrp="1"/>
          </p:cNvSpPr>
          <p:nvPr>
            <p:ph idx="1"/>
          </p:nvPr>
        </p:nvSpPr>
        <p:spPr>
          <a:xfrm>
            <a:off x="457200" y="1556792"/>
            <a:ext cx="6203032" cy="4569371"/>
          </a:xfrm>
        </p:spPr>
        <p:txBody>
          <a:bodyPr>
            <a:normAutofit/>
          </a:bodyPr>
          <a:lstStyle/>
          <a:p>
            <a:pPr marL="36576" indent="0">
              <a:buNone/>
            </a:pPr>
            <a:r>
              <a:rPr lang="en-US" dirty="0"/>
              <a:t>Performance Criteria for this Element are:</a:t>
            </a:r>
          </a:p>
          <a:p>
            <a:pPr marL="36576" indent="0">
              <a:buNone/>
            </a:pPr>
            <a:r>
              <a:rPr lang="en-AU" dirty="0">
                <a:solidFill>
                  <a:srgbClr val="92D050"/>
                </a:solidFill>
              </a:rPr>
              <a:t>3.1</a:t>
            </a:r>
            <a:r>
              <a:rPr lang="en-AU" dirty="0"/>
              <a:t>	Identify and interpret available and applicable </a:t>
            </a:r>
            <a:r>
              <a:rPr lang="en-AU" dirty="0" smtClean="0"/>
              <a:t>	add-on </a:t>
            </a:r>
            <a:r>
              <a:rPr lang="en-AU" dirty="0"/>
              <a:t>flights</a:t>
            </a:r>
          </a:p>
          <a:p>
            <a:pPr marL="36576" indent="0">
              <a:buNone/>
            </a:pPr>
            <a:r>
              <a:rPr lang="en-AU" dirty="0">
                <a:solidFill>
                  <a:srgbClr val="92D050"/>
                </a:solidFill>
              </a:rPr>
              <a:t>3.2</a:t>
            </a:r>
            <a:r>
              <a:rPr lang="en-AU" dirty="0"/>
              <a:t>	Ensure fare construction complies with </a:t>
            </a:r>
            <a:r>
              <a:rPr lang="en-AU" dirty="0" smtClean="0"/>
              <a:t>	operational </a:t>
            </a:r>
            <a:r>
              <a:rPr lang="en-AU" dirty="0"/>
              <a:t>requirements</a:t>
            </a:r>
          </a:p>
          <a:p>
            <a:pPr marL="36576" indent="0">
              <a:buNone/>
            </a:pPr>
            <a:r>
              <a:rPr lang="en-AU" dirty="0">
                <a:solidFill>
                  <a:srgbClr val="92D050"/>
                </a:solidFill>
              </a:rPr>
              <a:t>3.3</a:t>
            </a:r>
            <a:r>
              <a:rPr lang="en-AU" dirty="0"/>
              <a:t>	Calculate through fare costs including </a:t>
            </a:r>
            <a:r>
              <a:rPr lang="en-AU" dirty="0" smtClean="0"/>
              <a:t/>
            </a:r>
            <a:br>
              <a:rPr lang="en-AU" dirty="0" smtClean="0"/>
            </a:br>
            <a:r>
              <a:rPr lang="en-AU" dirty="0" smtClean="0"/>
              <a:t>	add-ons</a:t>
            </a:r>
            <a:endParaRPr lang="en-AU" dirty="0"/>
          </a:p>
          <a:p>
            <a:pPr marL="36576" indent="0">
              <a:buNone/>
            </a:pPr>
            <a:r>
              <a:rPr lang="en-AU" dirty="0">
                <a:solidFill>
                  <a:srgbClr val="92D050"/>
                </a:solidFill>
              </a:rPr>
              <a:t>3.4</a:t>
            </a:r>
            <a:r>
              <a:rPr lang="en-AU" dirty="0"/>
              <a:t>	Construct and check accuracy and </a:t>
            </a:r>
            <a:r>
              <a:rPr lang="en-AU" dirty="0" smtClean="0"/>
              <a:t>	completeness </a:t>
            </a:r>
            <a:r>
              <a:rPr lang="en-AU" dirty="0"/>
              <a:t>of air itineraries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793792" y="2722363"/>
            <a:ext cx="2138361" cy="144016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3.1	Identify and interpret available and </a:t>
            </a:r>
            <a:r>
              <a:rPr lang="en-AU" sz="2800" dirty="0" smtClean="0">
                <a:latin typeface="Helvetica"/>
                <a:ea typeface="Calibri"/>
                <a:cs typeface="Calibri"/>
              </a:rPr>
              <a:t>	applicable </a:t>
            </a:r>
            <a:r>
              <a:rPr lang="en-AU" sz="2800" dirty="0">
                <a:latin typeface="Helvetica"/>
                <a:ea typeface="Calibri"/>
                <a:cs typeface="Calibri"/>
              </a:rPr>
              <a:t>add-on flights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628800"/>
            <a:ext cx="8310994" cy="4497363"/>
          </a:xfrm>
        </p:spPr>
        <p:txBody>
          <a:bodyPr>
            <a:noAutofit/>
          </a:bodyPr>
          <a:lstStyle/>
          <a:p>
            <a:pPr marL="36576" indent="0">
              <a:buNone/>
            </a:pPr>
            <a:r>
              <a:rPr lang="en-AU" sz="1900" dirty="0" smtClean="0"/>
              <a:t>Available and applicable add-on flights may relate to:</a:t>
            </a:r>
          </a:p>
          <a:p>
            <a:r>
              <a:rPr lang="en-AU" sz="1900" dirty="0" smtClean="0"/>
              <a:t>Add-on </a:t>
            </a:r>
            <a:r>
              <a:rPr lang="en-AU" sz="1900" dirty="0"/>
              <a:t>tables</a:t>
            </a:r>
          </a:p>
          <a:p>
            <a:r>
              <a:rPr lang="en-AU" sz="1900" dirty="0"/>
              <a:t>Specific flights</a:t>
            </a:r>
          </a:p>
          <a:p>
            <a:r>
              <a:rPr lang="en-AU" sz="1900" dirty="0"/>
              <a:t>Availability</a:t>
            </a:r>
          </a:p>
          <a:p>
            <a:r>
              <a:rPr lang="en-AU" sz="1900" dirty="0"/>
              <a:t>Nominated carriers </a:t>
            </a:r>
          </a:p>
          <a:p>
            <a:r>
              <a:rPr lang="en-AU" sz="1900" dirty="0"/>
              <a:t>Specified routes/destinations</a:t>
            </a:r>
          </a:p>
          <a:p>
            <a:r>
              <a:rPr lang="en-AU" sz="1900" dirty="0"/>
              <a:t>Integration with full packages</a:t>
            </a:r>
          </a:p>
          <a:p>
            <a:r>
              <a:rPr lang="en-AU" sz="1900" dirty="0"/>
              <a:t>Compatibility with nominated class</a:t>
            </a:r>
          </a:p>
          <a:p>
            <a:r>
              <a:rPr lang="en-AU" sz="1900" dirty="0"/>
              <a:t>Prohibition on separate sale</a:t>
            </a:r>
          </a:p>
          <a:p>
            <a:r>
              <a:rPr lang="en-AU" sz="1900" dirty="0"/>
              <a:t>Confirming currency of guidelines that apply to add-ons with carriers</a:t>
            </a:r>
          </a:p>
          <a:p>
            <a:r>
              <a:rPr lang="en-AU" sz="1900" dirty="0"/>
              <a:t>Individual terms and conditions of </a:t>
            </a:r>
            <a:r>
              <a:rPr lang="en-AU" sz="1900" dirty="0" smtClean="0"/>
              <a:t>carriers</a:t>
            </a:r>
            <a:endParaRPr lang="en-AU" sz="1900" dirty="0"/>
          </a:p>
          <a:p>
            <a:endParaRPr lang="en-US" sz="1900" dirty="0" smtClean="0"/>
          </a:p>
          <a:p>
            <a:endParaRPr lang="en-US" sz="19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436096" y="2708920"/>
            <a:ext cx="2745038" cy="182475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2800" dirty="0">
                <a:latin typeface="Helvetica"/>
                <a:ea typeface="Calibri"/>
                <a:cs typeface="Calibri"/>
              </a:rPr>
              <a:t>3.1	Identify and interpret available and </a:t>
            </a:r>
            <a:r>
              <a:rPr lang="en-AU" sz="2800" dirty="0" smtClean="0">
                <a:latin typeface="Helvetica"/>
                <a:ea typeface="Calibri"/>
                <a:cs typeface="Calibri"/>
              </a:rPr>
              <a:t>	applicable </a:t>
            </a:r>
            <a:r>
              <a:rPr lang="en-AU" sz="2800" dirty="0">
                <a:latin typeface="Helvetica"/>
                <a:ea typeface="Calibri"/>
                <a:cs typeface="Calibri"/>
              </a:rPr>
              <a:t>add-on flights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628800"/>
            <a:ext cx="8579296" cy="4497363"/>
          </a:xfrm>
        </p:spPr>
        <p:txBody>
          <a:bodyPr>
            <a:normAutofit/>
          </a:bodyPr>
          <a:lstStyle/>
          <a:p>
            <a:r>
              <a:rPr lang="en-AU" dirty="0" smtClean="0"/>
              <a:t>Availability</a:t>
            </a:r>
            <a:endParaRPr lang="en-AU" dirty="0"/>
          </a:p>
          <a:p>
            <a:pPr marL="421200" indent="0">
              <a:buNone/>
            </a:pPr>
            <a:r>
              <a:rPr lang="en-AU" sz="1500" b="1" dirty="0" smtClean="0">
                <a:solidFill>
                  <a:srgbClr val="0070C0"/>
                </a:solidFill>
              </a:rPr>
              <a:t>AN25JULSINHKG</a:t>
            </a:r>
          </a:p>
          <a:p>
            <a:pPr marL="421200" indent="0">
              <a:buNone/>
            </a:pPr>
            <a:r>
              <a:rPr lang="en-AU" sz="1500" b="1" dirty="0" smtClean="0">
                <a:solidFill>
                  <a:srgbClr val="0070C0"/>
                </a:solidFill>
              </a:rPr>
              <a:t>1   3K   691   Y4   W4   V4   T4   S4   R4   Q4     SIN  1 HKG  2   0640   1025 3.45</a:t>
            </a:r>
          </a:p>
          <a:p>
            <a:pPr marL="421200" indent="0">
              <a:buNone/>
            </a:pPr>
            <a:r>
              <a:rPr lang="en-AU" sz="1500" b="1" dirty="0" smtClean="0">
                <a:solidFill>
                  <a:srgbClr val="0070C0"/>
                </a:solidFill>
              </a:rPr>
              <a:t>	            O4   N4   M4   L4   K4   H4</a:t>
            </a:r>
          </a:p>
          <a:p>
            <a:pPr marL="421200" indent="0">
              <a:buNone/>
            </a:pPr>
            <a:r>
              <a:rPr lang="en-AU" sz="1500" b="1" dirty="0" smtClean="0">
                <a:solidFill>
                  <a:srgbClr val="0070C0"/>
                </a:solidFill>
              </a:rPr>
              <a:t>2   SQ  860    F4   P4    A4   Z4   C4   J0   D4     SIN  3  HKG  1   0830   1215    S9  Y9 B9  E9       	             Q9   N9   V0   T0   M9   H9   W0   L9   K9</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21</a:t>
            </a:fld>
            <a:endParaRPr lang="en-US" dirty="0">
              <a:solidFill>
                <a:srgbClr val="4E5B6F">
                  <a:shade val="50000"/>
                </a:srgbClr>
              </a:solidFill>
            </a:endParaRPr>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3492817" y="4581128"/>
            <a:ext cx="2158365" cy="1439545"/>
          </a:xfrm>
          <a:prstGeom prst="rect">
            <a:avLst/>
          </a:prstGeom>
        </p:spPr>
      </p:pic>
    </p:spTree>
    <p:extLst>
      <p:ext uri="{BB962C8B-B14F-4D97-AF65-F5344CB8AC3E}">
        <p14:creationId xmlns:p14="http://schemas.microsoft.com/office/powerpoint/2010/main" val="29207528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2800" dirty="0">
                <a:latin typeface="Helvetica"/>
                <a:ea typeface="Calibri"/>
                <a:cs typeface="Calibri"/>
              </a:rPr>
              <a:t>3.1	Identify and interpret available and </a:t>
            </a:r>
            <a:r>
              <a:rPr lang="en-AU" sz="2800" dirty="0" smtClean="0">
                <a:latin typeface="Helvetica"/>
                <a:ea typeface="Calibri"/>
                <a:cs typeface="Calibri"/>
              </a:rPr>
              <a:t>	applicable </a:t>
            </a:r>
            <a:r>
              <a:rPr lang="en-AU" sz="2800" dirty="0">
                <a:latin typeface="Helvetica"/>
                <a:ea typeface="Calibri"/>
                <a:cs typeface="Calibri"/>
              </a:rPr>
              <a:t>add-on flights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628800"/>
            <a:ext cx="7787208" cy="4497363"/>
          </a:xfrm>
        </p:spPr>
        <p:txBody>
          <a:bodyPr>
            <a:normAutofit/>
          </a:bodyPr>
          <a:lstStyle/>
          <a:p>
            <a:pPr>
              <a:spcAft>
                <a:spcPts val="1200"/>
              </a:spcAft>
            </a:pPr>
            <a:r>
              <a:rPr lang="en-AU" sz="2200" dirty="0">
                <a:latin typeface="Helvetica"/>
                <a:ea typeface="Calibri"/>
                <a:cs typeface="Calibri"/>
              </a:rPr>
              <a:t>Neutral Units of Construction - NUCs</a:t>
            </a:r>
          </a:p>
          <a:p>
            <a:pPr>
              <a:spcAft>
                <a:spcPts val="1200"/>
              </a:spcAft>
            </a:pPr>
            <a:r>
              <a:rPr lang="en-AU" sz="2200" dirty="0">
                <a:latin typeface="Helvetica"/>
                <a:ea typeface="Calibri"/>
                <a:cs typeface="Calibri"/>
              </a:rPr>
              <a:t>Rates of Exchange (ROE)</a:t>
            </a:r>
          </a:p>
          <a:p>
            <a:pPr>
              <a:spcAft>
                <a:spcPts val="1200"/>
              </a:spcAft>
            </a:pPr>
            <a:r>
              <a:rPr lang="en-AU" sz="2200" dirty="0">
                <a:latin typeface="Helvetica"/>
                <a:ea typeface="Calibri"/>
                <a:cs typeface="Calibri"/>
              </a:rPr>
              <a:t>Currency codes</a:t>
            </a:r>
          </a:p>
          <a:p>
            <a:pPr>
              <a:spcAft>
                <a:spcPts val="1200"/>
              </a:spcAft>
            </a:pPr>
            <a:endParaRPr lang="en-US" sz="2200" dirty="0" smtClean="0"/>
          </a:p>
          <a:p>
            <a:pPr>
              <a:spcAft>
                <a:spcPts val="1200"/>
              </a:spcAft>
            </a:pP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22</a:t>
            </a:fld>
            <a:endParaRPr lang="en-US" dirty="0">
              <a:solidFill>
                <a:srgbClr val="4E5B6F">
                  <a:shade val="50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267054405"/>
              </p:ext>
            </p:extLst>
          </p:nvPr>
        </p:nvGraphicFramePr>
        <p:xfrm>
          <a:off x="827584" y="3501008"/>
          <a:ext cx="5591620" cy="2664288"/>
        </p:xfrm>
        <a:graphic>
          <a:graphicData uri="http://schemas.openxmlformats.org/drawingml/2006/table">
            <a:tbl>
              <a:tblPr firstRow="1" firstCol="1" bandRow="1">
                <a:tableStyleId>{5C22544A-7EE6-4342-B048-85BDC9FD1C3A}</a:tableStyleId>
              </a:tblPr>
              <a:tblGrid>
                <a:gridCol w="1769421"/>
                <a:gridCol w="2035302"/>
                <a:gridCol w="1786897"/>
              </a:tblGrid>
              <a:tr h="198631">
                <a:tc>
                  <a:txBody>
                    <a:bodyPr/>
                    <a:lstStyle/>
                    <a:p>
                      <a:pPr marL="21590" indent="-21590">
                        <a:spcBef>
                          <a:spcPts val="600"/>
                        </a:spcBef>
                        <a:spcAft>
                          <a:spcPts val="600"/>
                        </a:spcAft>
                      </a:pPr>
                      <a:r>
                        <a:rPr lang="en-AU" sz="1000">
                          <a:effectLst/>
                          <a:latin typeface="Helvetica" pitchFamily="34" charset="0"/>
                        </a:rPr>
                        <a:t>Country</a:t>
                      </a:r>
                      <a:endParaRPr lang="en-AU" sz="1000" b="1">
                        <a:solidFill>
                          <a:srgbClr val="FFFFFF"/>
                        </a:solidFill>
                        <a:effectLst/>
                        <a:latin typeface="Helvetica" pitchFamily="34" charset="0"/>
                        <a:ea typeface="Calibri"/>
                        <a:cs typeface="Calibri"/>
                      </a:endParaRPr>
                    </a:p>
                  </a:txBody>
                  <a:tcPr marL="67437" marR="67437" marT="0" marB="0" anchor="ctr"/>
                </a:tc>
                <a:tc>
                  <a:txBody>
                    <a:bodyPr/>
                    <a:lstStyle/>
                    <a:p>
                      <a:pPr marL="21590" indent="-21590">
                        <a:spcBef>
                          <a:spcPts val="600"/>
                        </a:spcBef>
                        <a:spcAft>
                          <a:spcPts val="600"/>
                        </a:spcAft>
                      </a:pPr>
                      <a:r>
                        <a:rPr lang="en-AU" sz="1000">
                          <a:effectLst/>
                          <a:latin typeface="Helvetica" pitchFamily="34" charset="0"/>
                        </a:rPr>
                        <a:t>Currency name</a:t>
                      </a:r>
                      <a:endParaRPr lang="en-AU" sz="1000" b="1">
                        <a:solidFill>
                          <a:srgbClr val="FFFFFF"/>
                        </a:solidFill>
                        <a:effectLst/>
                        <a:latin typeface="Helvetica" pitchFamily="34" charset="0"/>
                        <a:ea typeface="Calibri"/>
                        <a:cs typeface="Calibri"/>
                      </a:endParaRPr>
                    </a:p>
                  </a:txBody>
                  <a:tcPr marL="67437" marR="67437" marT="0" marB="0" anchor="ctr"/>
                </a:tc>
                <a:tc>
                  <a:txBody>
                    <a:bodyPr/>
                    <a:lstStyle/>
                    <a:p>
                      <a:pPr marL="21590" indent="-21590">
                        <a:spcBef>
                          <a:spcPts val="600"/>
                        </a:spcBef>
                        <a:spcAft>
                          <a:spcPts val="600"/>
                        </a:spcAft>
                      </a:pPr>
                      <a:r>
                        <a:rPr lang="en-AU" sz="1000">
                          <a:effectLst/>
                          <a:latin typeface="Helvetica" pitchFamily="34" charset="0"/>
                        </a:rPr>
                        <a:t>Currency code</a:t>
                      </a:r>
                      <a:endParaRPr lang="en-AU" sz="1000" b="1">
                        <a:solidFill>
                          <a:srgbClr val="FFFFFF"/>
                        </a:solidFill>
                        <a:effectLst/>
                        <a:latin typeface="Helvetica" pitchFamily="34" charset="0"/>
                        <a:ea typeface="Calibri"/>
                        <a:cs typeface="Calibri"/>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China</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Yuan or Renminbi</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CNY</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France</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Euro</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EUR</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Hong Kong</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Dollar</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HKD</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Sweden</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Kroner</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SEK</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Malaysia</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Malaysian Ringgit</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MYR</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Morocco</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Dirham</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MAD</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Philippines</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Peso</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PHP</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Singapore</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Singapore Dollar</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SGD</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Thailand</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Baht</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THB</a:t>
                      </a:r>
                      <a:endParaRPr lang="en-AU" sz="1000">
                        <a:effectLst/>
                        <a:latin typeface="Helvetica" pitchFamily="34" charset="0"/>
                        <a:ea typeface="SimSun"/>
                        <a:cs typeface="Helvetica"/>
                      </a:endParaRPr>
                    </a:p>
                  </a:txBody>
                  <a:tcPr marL="67437" marR="67437" marT="0" marB="0" anchor="ctr"/>
                </a:tc>
              </a:tr>
              <a:tr h="479347">
                <a:tc>
                  <a:txBody>
                    <a:bodyPr/>
                    <a:lstStyle/>
                    <a:p>
                      <a:pPr>
                        <a:spcBef>
                          <a:spcPts val="600"/>
                        </a:spcBef>
                        <a:spcAft>
                          <a:spcPts val="600"/>
                        </a:spcAft>
                      </a:pPr>
                      <a:r>
                        <a:rPr lang="en-AU" sz="1000">
                          <a:effectLst/>
                          <a:latin typeface="Helvetica" pitchFamily="34" charset="0"/>
                        </a:rPr>
                        <a:t>United States</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Dollar</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USD</a:t>
                      </a:r>
                      <a:endParaRPr lang="en-AU" sz="1000">
                        <a:effectLst/>
                        <a:latin typeface="Helvetica" pitchFamily="34" charset="0"/>
                        <a:ea typeface="SimSun"/>
                        <a:cs typeface="Helvetica"/>
                      </a:endParaRPr>
                    </a:p>
                  </a:txBody>
                  <a:tcPr marL="67437" marR="67437" marT="0" marB="0" anchor="ctr"/>
                </a:tc>
              </a:tr>
              <a:tr h="198631">
                <a:tc>
                  <a:txBody>
                    <a:bodyPr/>
                    <a:lstStyle/>
                    <a:p>
                      <a:pPr>
                        <a:spcBef>
                          <a:spcPts val="600"/>
                        </a:spcBef>
                        <a:spcAft>
                          <a:spcPts val="600"/>
                        </a:spcAft>
                      </a:pPr>
                      <a:r>
                        <a:rPr lang="en-AU" sz="1000">
                          <a:effectLst/>
                          <a:latin typeface="Helvetica" pitchFamily="34" charset="0"/>
                        </a:rPr>
                        <a:t>Great Britain</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a:effectLst/>
                          <a:latin typeface="Helvetica" pitchFamily="34" charset="0"/>
                        </a:rPr>
                        <a:t>Pound</a:t>
                      </a:r>
                      <a:endParaRPr lang="en-AU" sz="1000">
                        <a:effectLst/>
                        <a:latin typeface="Helvetica" pitchFamily="34" charset="0"/>
                        <a:ea typeface="SimSun"/>
                        <a:cs typeface="Helvetica"/>
                      </a:endParaRPr>
                    </a:p>
                  </a:txBody>
                  <a:tcPr marL="67437" marR="67437" marT="0" marB="0" anchor="ctr"/>
                </a:tc>
                <a:tc>
                  <a:txBody>
                    <a:bodyPr/>
                    <a:lstStyle/>
                    <a:p>
                      <a:pPr>
                        <a:spcBef>
                          <a:spcPts val="600"/>
                        </a:spcBef>
                        <a:spcAft>
                          <a:spcPts val="600"/>
                        </a:spcAft>
                      </a:pPr>
                      <a:r>
                        <a:rPr lang="en-AU" sz="1000" dirty="0">
                          <a:effectLst/>
                          <a:latin typeface="Helvetica" pitchFamily="34" charset="0"/>
                        </a:rPr>
                        <a:t>GBP</a:t>
                      </a:r>
                      <a:endParaRPr lang="en-AU" sz="1000" dirty="0">
                        <a:effectLst/>
                        <a:latin typeface="Helvetica" pitchFamily="34" charset="0"/>
                        <a:ea typeface="SimSun"/>
                        <a:cs typeface="Helvetica"/>
                      </a:endParaRPr>
                    </a:p>
                  </a:txBody>
                  <a:tcPr marL="67437" marR="67437" marT="0" marB="0" anchor="ctr"/>
                </a:tc>
              </a:tr>
            </a:tbl>
          </a:graphicData>
        </a:graphic>
      </p:graphicFrame>
    </p:spTree>
    <p:extLst>
      <p:ext uri="{BB962C8B-B14F-4D97-AF65-F5344CB8AC3E}">
        <p14:creationId xmlns:p14="http://schemas.microsoft.com/office/powerpoint/2010/main" val="17347991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a:latin typeface="Helvetica"/>
                <a:ea typeface="Calibri"/>
                <a:cs typeface="Calibri"/>
              </a:rPr>
              <a:t>3.3	Calculate through fare costs </a:t>
            </a:r>
            <a:r>
              <a:rPr lang="en-AU" sz="3000" dirty="0" smtClean="0">
                <a:latin typeface="Helvetica"/>
                <a:ea typeface="Calibri"/>
                <a:cs typeface="Calibri"/>
              </a:rPr>
              <a:t>	including </a:t>
            </a:r>
            <a:r>
              <a:rPr lang="en-AU" sz="3000" dirty="0">
                <a:latin typeface="Helvetica"/>
                <a:ea typeface="Calibri"/>
                <a:cs typeface="Calibri"/>
              </a:rPr>
              <a:t>add-ons</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988840"/>
            <a:ext cx="4906888" cy="4137323"/>
          </a:xfrm>
        </p:spPr>
        <p:txBody>
          <a:bodyPr/>
          <a:lstStyle/>
          <a:p>
            <a:r>
              <a:rPr lang="en-AU" dirty="0" smtClean="0"/>
              <a:t>Calculate through fare costs including add-ons</a:t>
            </a:r>
          </a:p>
          <a:p>
            <a:r>
              <a:rPr lang="en-AU" dirty="0" smtClean="0"/>
              <a:t>Accessing airfares in Galileo</a:t>
            </a:r>
          </a:p>
          <a:p>
            <a:r>
              <a:rPr lang="en-AU" dirty="0" smtClean="0"/>
              <a:t>Galileo Fare Displays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5666913" y="2204864"/>
            <a:ext cx="2161540" cy="143954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a:latin typeface="Helvetica"/>
                <a:ea typeface="Calibri"/>
                <a:cs typeface="Calibri"/>
              </a:rPr>
              <a:t>3.3	Calculate through fare costs </a:t>
            </a:r>
            <a:r>
              <a:rPr lang="en-AU" sz="3000" dirty="0" smtClean="0">
                <a:latin typeface="Helvetica"/>
                <a:ea typeface="Calibri"/>
                <a:cs typeface="Calibri"/>
              </a:rPr>
              <a:t>	including </a:t>
            </a:r>
            <a:r>
              <a:rPr lang="en-AU" sz="3000" dirty="0">
                <a:latin typeface="Helvetica"/>
                <a:ea typeface="Calibri"/>
                <a:cs typeface="Calibri"/>
              </a:rPr>
              <a:t>add-ons</a:t>
            </a:r>
            <a:endParaRPr lang="en-AU" sz="3000" dirty="0">
              <a:effectLst/>
              <a:latin typeface="Helvetica"/>
              <a:ea typeface="Calibri"/>
              <a:cs typeface="Calibri"/>
            </a:endParaRPr>
          </a:p>
        </p:txBody>
      </p:sp>
      <p:sp>
        <p:nvSpPr>
          <p:cNvPr id="3" name="Content Placeholder 2"/>
          <p:cNvSpPr>
            <a:spLocks noGrp="1"/>
          </p:cNvSpPr>
          <p:nvPr>
            <p:ph idx="1"/>
          </p:nvPr>
        </p:nvSpPr>
        <p:spPr>
          <a:xfrm>
            <a:off x="457200" y="1700808"/>
            <a:ext cx="4402832" cy="4425355"/>
          </a:xfrm>
        </p:spPr>
        <p:txBody>
          <a:bodyPr/>
          <a:lstStyle/>
          <a:p>
            <a:pPr marL="0" indent="0">
              <a:spcAft>
                <a:spcPts val="1200"/>
              </a:spcAft>
              <a:buNone/>
            </a:pPr>
            <a:r>
              <a:rPr lang="en-AU" dirty="0">
                <a:latin typeface="Helvetica"/>
                <a:ea typeface="Times New Roman"/>
                <a:cs typeface="Times New Roman"/>
              </a:rPr>
              <a:t>Mileage </a:t>
            </a:r>
            <a:r>
              <a:rPr lang="en-AU" dirty="0" smtClean="0">
                <a:latin typeface="Helvetica"/>
                <a:ea typeface="Times New Roman"/>
                <a:cs typeface="Times New Roman"/>
              </a:rPr>
              <a:t>information</a:t>
            </a:r>
          </a:p>
          <a:p>
            <a:pPr>
              <a:spcAft>
                <a:spcPts val="1200"/>
              </a:spcAft>
            </a:pPr>
            <a:r>
              <a:rPr lang="en-AU" dirty="0" smtClean="0">
                <a:latin typeface="Helvetica"/>
                <a:ea typeface="Times New Roman"/>
                <a:cs typeface="Times New Roman"/>
              </a:rPr>
              <a:t>Maximum </a:t>
            </a:r>
            <a:r>
              <a:rPr lang="en-AU" dirty="0">
                <a:latin typeface="Helvetica"/>
                <a:ea typeface="Times New Roman"/>
                <a:cs typeface="Times New Roman"/>
              </a:rPr>
              <a:t>Permitted </a:t>
            </a:r>
            <a:r>
              <a:rPr lang="en-AU" dirty="0" smtClean="0">
                <a:latin typeface="Helvetica"/>
                <a:ea typeface="Times New Roman"/>
                <a:cs typeface="Times New Roman"/>
              </a:rPr>
              <a:t>Mileage</a:t>
            </a:r>
            <a:endParaRPr lang="en-AU" dirty="0" smtClean="0"/>
          </a:p>
          <a:p>
            <a:pPr>
              <a:spcAft>
                <a:spcPts val="1200"/>
              </a:spcAft>
            </a:pPr>
            <a:r>
              <a:rPr lang="en-AU" dirty="0" smtClean="0">
                <a:latin typeface="Helvetica"/>
                <a:ea typeface="Times New Roman"/>
                <a:cs typeface="Times New Roman"/>
              </a:rPr>
              <a:t>Excess </a:t>
            </a:r>
            <a:r>
              <a:rPr lang="en-AU" dirty="0">
                <a:latin typeface="Helvetica"/>
                <a:ea typeface="Times New Roman"/>
                <a:cs typeface="Times New Roman"/>
              </a:rPr>
              <a:t>Mileage Allowance </a:t>
            </a:r>
            <a:endParaRPr lang="en-AU" dirty="0" smtClean="0"/>
          </a:p>
          <a:p>
            <a:pPr>
              <a:spcAft>
                <a:spcPts val="1200"/>
              </a:spcAft>
            </a:pPr>
            <a:r>
              <a:rPr lang="en-AU" dirty="0">
                <a:latin typeface="Helvetica"/>
                <a:ea typeface="Times New Roman"/>
                <a:cs typeface="Times New Roman"/>
              </a:rPr>
              <a:t>Excess Mileage Surcharge</a:t>
            </a:r>
          </a:p>
          <a:p>
            <a:pPr>
              <a:spcAft>
                <a:spcPts val="1200"/>
              </a:spcAft>
            </a:pPr>
            <a:endParaRPr lang="en-AU" dirty="0" smtClean="0"/>
          </a:p>
          <a:p>
            <a:pPr>
              <a:spcAft>
                <a:spcPts val="1200"/>
              </a:spcAft>
            </a:pPr>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24</a:t>
            </a:fld>
            <a:endParaRPr lang="en-US" dirty="0">
              <a:solidFill>
                <a:srgbClr val="4E5B6F">
                  <a:shade val="50000"/>
                </a:srgbClr>
              </a:solidFill>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508104" y="1988840"/>
            <a:ext cx="2645296" cy="1757427"/>
          </a:xfrm>
          <a:prstGeom prst="rect">
            <a:avLst/>
          </a:prstGeom>
        </p:spPr>
      </p:pic>
    </p:spTree>
    <p:extLst>
      <p:ext uri="{BB962C8B-B14F-4D97-AF65-F5344CB8AC3E}">
        <p14:creationId xmlns:p14="http://schemas.microsoft.com/office/powerpoint/2010/main" val="21121108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3 </a:t>
            </a:r>
            <a:r>
              <a:rPr lang="en-AU" sz="3000" dirty="0"/>
              <a:t>- </a:t>
            </a:r>
            <a:r>
              <a:rPr lang="en-US" sz="3200" dirty="0"/>
              <a:t>Construct airfares incorporating add-ons</a:t>
            </a:r>
            <a:endParaRPr lang="en-AU" sz="3000" dirty="0"/>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3</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25</a:t>
            </a:fld>
            <a:endParaRPr lang="en-US" dirty="0">
              <a:solidFill>
                <a:srgbClr val="4E5B6F">
                  <a:shade val="50000"/>
                </a:srgbClr>
              </a:solidFill>
            </a:endParaRPr>
          </a:p>
        </p:txBody>
      </p:sp>
    </p:spTree>
    <p:extLst>
      <p:ext uri="{BB962C8B-B14F-4D97-AF65-F5344CB8AC3E}">
        <p14:creationId xmlns:p14="http://schemas.microsoft.com/office/powerpoint/2010/main" val="27837182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4: Prepare International Pre-paid ticket advices</a:t>
            </a:r>
            <a:endParaRPr lang="en-US" dirty="0"/>
          </a:p>
        </p:txBody>
      </p:sp>
      <p:sp>
        <p:nvSpPr>
          <p:cNvPr id="3" name="Content Placeholder 2"/>
          <p:cNvSpPr>
            <a:spLocks noGrp="1"/>
          </p:cNvSpPr>
          <p:nvPr>
            <p:ph idx="1"/>
          </p:nvPr>
        </p:nvSpPr>
        <p:spPr>
          <a:xfrm>
            <a:off x="457200" y="1556792"/>
            <a:ext cx="5842992" cy="4569371"/>
          </a:xfrm>
        </p:spPr>
        <p:txBody>
          <a:bodyPr/>
          <a:lstStyle/>
          <a:p>
            <a:pPr marL="36576" indent="0">
              <a:spcAft>
                <a:spcPts val="1200"/>
              </a:spcAft>
              <a:buNone/>
            </a:pPr>
            <a:r>
              <a:rPr lang="en-US" dirty="0"/>
              <a:t>Performance Criteria for this Element are:</a:t>
            </a:r>
          </a:p>
          <a:p>
            <a:pPr marL="36576" indent="0">
              <a:spcAft>
                <a:spcPts val="1200"/>
              </a:spcAft>
              <a:buNone/>
            </a:pPr>
            <a:r>
              <a:rPr lang="en-AU" dirty="0">
                <a:solidFill>
                  <a:srgbClr val="92D050"/>
                </a:solidFill>
              </a:rPr>
              <a:t>4.1</a:t>
            </a:r>
            <a:r>
              <a:rPr lang="en-AU" dirty="0"/>
              <a:t>	Determine the needs and preferences of </a:t>
            </a:r>
            <a:r>
              <a:rPr lang="en-AU" dirty="0" smtClean="0"/>
              <a:t>	client </a:t>
            </a:r>
            <a:r>
              <a:rPr lang="en-AU" dirty="0"/>
              <a:t>for pre-paid ticket advice (PTA)</a:t>
            </a:r>
          </a:p>
          <a:p>
            <a:pPr marL="36576" indent="0">
              <a:spcAft>
                <a:spcPts val="1200"/>
              </a:spcAft>
              <a:buNone/>
            </a:pPr>
            <a:r>
              <a:rPr lang="en-AU" dirty="0">
                <a:solidFill>
                  <a:srgbClr val="92D050"/>
                </a:solidFill>
              </a:rPr>
              <a:t>4.2</a:t>
            </a:r>
            <a:r>
              <a:rPr lang="en-AU" dirty="0"/>
              <a:t>	Select flight and carrier that best meets </a:t>
            </a:r>
            <a:r>
              <a:rPr lang="en-AU" dirty="0" smtClean="0"/>
              <a:t>	client </a:t>
            </a:r>
            <a:r>
              <a:rPr lang="en-AU" dirty="0"/>
              <a:t>needs</a:t>
            </a:r>
          </a:p>
          <a:p>
            <a:pPr marL="36576" indent="0">
              <a:spcAft>
                <a:spcPts val="1200"/>
              </a:spcAft>
              <a:buNone/>
            </a:pPr>
            <a:r>
              <a:rPr lang="en-AU" dirty="0">
                <a:solidFill>
                  <a:srgbClr val="92D050"/>
                </a:solidFill>
              </a:rPr>
              <a:t>4.3</a:t>
            </a:r>
            <a:r>
              <a:rPr lang="en-AU" dirty="0"/>
              <a:t>	Process PTA in accordance with </a:t>
            </a:r>
            <a:r>
              <a:rPr lang="en-AU" dirty="0" smtClean="0"/>
              <a:t>	operational </a:t>
            </a:r>
            <a:r>
              <a:rPr lang="en-AU" dirty="0"/>
              <a:t>requirements</a:t>
            </a:r>
          </a:p>
          <a:p>
            <a:pPr marL="36576" indent="0">
              <a:spcAft>
                <a:spcPts val="1200"/>
              </a:spcAft>
              <a:buNone/>
            </a:pPr>
            <a:r>
              <a:rPr lang="en-AU" dirty="0">
                <a:solidFill>
                  <a:srgbClr val="92D050"/>
                </a:solidFill>
              </a:rPr>
              <a:t>4.4</a:t>
            </a:r>
            <a:r>
              <a:rPr lang="en-AU" dirty="0"/>
              <a:t>	Issue or forward PTA</a:t>
            </a:r>
          </a:p>
          <a:p>
            <a:pPr>
              <a:spcAft>
                <a:spcPts val="1200"/>
              </a:spcAft>
            </a:pP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300192" y="3789040"/>
            <a:ext cx="2501280" cy="167559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rmAutofit/>
          </a:bodyPr>
          <a:lstStyle/>
          <a:p>
            <a:r>
              <a:rPr lang="en-AU" sz="2800" dirty="0">
                <a:latin typeface="Helvetica"/>
                <a:ea typeface="Calibri"/>
                <a:cs typeface="Calibri"/>
              </a:rPr>
              <a:t>4.1	Determine the needs and preferences of </a:t>
            </a:r>
            <a:r>
              <a:rPr lang="en-AU" sz="2800" dirty="0" smtClean="0">
                <a:latin typeface="Helvetica"/>
                <a:ea typeface="Calibri"/>
                <a:cs typeface="Calibri"/>
              </a:rPr>
              <a:t>	client </a:t>
            </a:r>
            <a:r>
              <a:rPr lang="en-AU" sz="2800" dirty="0">
                <a:latin typeface="Helvetica"/>
                <a:ea typeface="Calibri"/>
                <a:cs typeface="Calibri"/>
              </a:rPr>
              <a:t>for pre-paid ticket advice (PTA)</a:t>
            </a:r>
            <a:endParaRPr lang="en-AU" sz="2800" dirty="0">
              <a:effectLst/>
              <a:latin typeface="Helvetica"/>
              <a:ea typeface="Calibri"/>
              <a:cs typeface="Calibri"/>
            </a:endParaRPr>
          </a:p>
        </p:txBody>
      </p:sp>
      <p:sp>
        <p:nvSpPr>
          <p:cNvPr id="3" name="Content Placeholder 2"/>
          <p:cNvSpPr>
            <a:spLocks noGrp="1"/>
          </p:cNvSpPr>
          <p:nvPr>
            <p:ph idx="1"/>
          </p:nvPr>
        </p:nvSpPr>
        <p:spPr/>
        <p:txBody>
          <a:bodyPr/>
          <a:lstStyle/>
          <a:p>
            <a:pPr marL="36576" indent="0">
              <a:buNone/>
            </a:pPr>
            <a:r>
              <a:rPr lang="en-AU" dirty="0" smtClean="0"/>
              <a:t>Determine the needs and preferences of client for pre-paid ticket advice (PTA):</a:t>
            </a:r>
            <a:endParaRPr lang="en-US" dirty="0" smtClean="0"/>
          </a:p>
          <a:p>
            <a:r>
              <a:rPr lang="en-US" dirty="0" smtClean="0"/>
              <a:t>Identify needs</a:t>
            </a:r>
          </a:p>
          <a:p>
            <a:r>
              <a:rPr lang="en-US" dirty="0" smtClean="0"/>
              <a:t>Invoices</a:t>
            </a:r>
          </a:p>
          <a:p>
            <a:r>
              <a:rPr lang="en-US" dirty="0" smtClean="0"/>
              <a:t>Tickets, vouchers and final itinerary</a:t>
            </a:r>
          </a:p>
          <a:p>
            <a:r>
              <a:rPr lang="en-US" dirty="0" smtClean="0"/>
              <a:t>Delivery options </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220072" y="1988840"/>
            <a:ext cx="2232248" cy="334878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rmAutofit/>
          </a:bodyPr>
          <a:lstStyle/>
          <a:p>
            <a:pPr>
              <a:lnSpc>
                <a:spcPct val="115000"/>
              </a:lnSpc>
              <a:spcAft>
                <a:spcPts val="1000"/>
              </a:spcAft>
            </a:pPr>
            <a:r>
              <a:rPr lang="en-AU" sz="2800" dirty="0">
                <a:latin typeface="Helvetica"/>
                <a:ea typeface="Calibri"/>
                <a:cs typeface="Calibri"/>
              </a:rPr>
              <a:t>4.1	Determine the needs and preferences of </a:t>
            </a:r>
            <a:r>
              <a:rPr lang="en-AU" sz="2800" dirty="0" smtClean="0">
                <a:latin typeface="Helvetica"/>
                <a:ea typeface="Calibri"/>
                <a:cs typeface="Calibri"/>
              </a:rPr>
              <a:t>	client </a:t>
            </a:r>
            <a:r>
              <a:rPr lang="en-AU" sz="2800" dirty="0">
                <a:latin typeface="Helvetica"/>
                <a:ea typeface="Calibri"/>
                <a:cs typeface="Calibri"/>
              </a:rPr>
              <a:t>for pre-paid ticket advice (PTA)</a:t>
            </a:r>
          </a:p>
        </p:txBody>
      </p:sp>
      <p:sp>
        <p:nvSpPr>
          <p:cNvPr id="3" name="Content Placeholder 2"/>
          <p:cNvSpPr>
            <a:spLocks noGrp="1"/>
          </p:cNvSpPr>
          <p:nvPr>
            <p:ph idx="1"/>
          </p:nvPr>
        </p:nvSpPr>
        <p:spPr>
          <a:xfrm>
            <a:off x="539552" y="1916832"/>
            <a:ext cx="8003232" cy="4137323"/>
          </a:xfrm>
        </p:spPr>
        <p:txBody>
          <a:bodyPr/>
          <a:lstStyle/>
          <a:p>
            <a:pPr marL="36576" indent="0">
              <a:buNone/>
            </a:pPr>
            <a:r>
              <a:rPr lang="en-AU" dirty="0" smtClean="0"/>
              <a:t>Determine the needs and preferences of client for pre-paid ticket advice (PTA):</a:t>
            </a:r>
            <a:endParaRPr lang="en-US" dirty="0" smtClean="0"/>
          </a:p>
          <a:p>
            <a:r>
              <a:rPr lang="en-US" dirty="0" smtClean="0"/>
              <a:t>Identify needs</a:t>
            </a:r>
          </a:p>
          <a:p>
            <a:r>
              <a:rPr lang="en-US" dirty="0" smtClean="0"/>
              <a:t>Invoices</a:t>
            </a:r>
          </a:p>
          <a:p>
            <a:r>
              <a:rPr lang="en-US" dirty="0" smtClean="0"/>
              <a:t>Tickets, vouchers and final itinerary</a:t>
            </a:r>
          </a:p>
          <a:p>
            <a:r>
              <a:rPr lang="en-US" dirty="0" smtClean="0"/>
              <a:t>Delivery options </a:t>
            </a:r>
            <a:endParaRPr lang="en-AU"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28</a:t>
            </a:fld>
            <a:endParaRPr lang="en-US" dirty="0">
              <a:solidFill>
                <a:srgbClr val="4E5B6F">
                  <a:shade val="50000"/>
                </a:srgbClr>
              </a:solidFill>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6444208" y="2564904"/>
            <a:ext cx="1430655" cy="2146300"/>
          </a:xfrm>
          <a:prstGeom prst="rect">
            <a:avLst/>
          </a:prstGeom>
        </p:spPr>
      </p:pic>
    </p:spTree>
    <p:extLst>
      <p:ext uri="{BB962C8B-B14F-4D97-AF65-F5344CB8AC3E}">
        <p14:creationId xmlns:p14="http://schemas.microsoft.com/office/powerpoint/2010/main" val="15784733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43192" cy="1143000"/>
          </a:xfrm>
        </p:spPr>
        <p:txBody>
          <a:bodyPr>
            <a:normAutofit/>
          </a:bodyPr>
          <a:lstStyle/>
          <a:p>
            <a:pPr>
              <a:lnSpc>
                <a:spcPct val="115000"/>
              </a:lnSpc>
              <a:spcAft>
                <a:spcPts val="1000"/>
              </a:spcAft>
            </a:pPr>
            <a:r>
              <a:rPr lang="en-AU" sz="2800" dirty="0">
                <a:latin typeface="Helvetica"/>
                <a:ea typeface="Calibri"/>
                <a:cs typeface="Calibri"/>
              </a:rPr>
              <a:t>4.2	Select flight and carrier that best </a:t>
            </a:r>
            <a:r>
              <a:rPr lang="en-AU" sz="2800" dirty="0" smtClean="0">
                <a:latin typeface="Helvetica"/>
                <a:ea typeface="Calibri"/>
                <a:cs typeface="Calibri"/>
              </a:rPr>
              <a:t>	meets </a:t>
            </a:r>
            <a:r>
              <a:rPr lang="en-AU" sz="2800" dirty="0">
                <a:latin typeface="Helvetica"/>
                <a:ea typeface="Calibri"/>
                <a:cs typeface="Calibri"/>
              </a:rPr>
              <a:t>client needs</a:t>
            </a:r>
          </a:p>
        </p:txBody>
      </p:sp>
      <p:sp>
        <p:nvSpPr>
          <p:cNvPr id="3" name="Content Placeholder 2"/>
          <p:cNvSpPr>
            <a:spLocks noGrp="1"/>
          </p:cNvSpPr>
          <p:nvPr>
            <p:ph idx="1"/>
          </p:nvPr>
        </p:nvSpPr>
        <p:spPr>
          <a:xfrm>
            <a:off x="457200" y="1988840"/>
            <a:ext cx="4762872" cy="4137323"/>
          </a:xfrm>
        </p:spPr>
        <p:txBody>
          <a:bodyPr/>
          <a:lstStyle/>
          <a:p>
            <a:pPr marL="36576" indent="0">
              <a:buNone/>
            </a:pPr>
            <a:r>
              <a:rPr lang="en-AU" dirty="0" smtClean="0"/>
              <a:t>Select flight and carrier that best meets client needs includes:</a:t>
            </a:r>
          </a:p>
          <a:p>
            <a:r>
              <a:rPr lang="en-AU" dirty="0" smtClean="0"/>
              <a:t>Confirming availability</a:t>
            </a:r>
          </a:p>
          <a:p>
            <a:r>
              <a:rPr lang="en-AU" dirty="0" smtClean="0"/>
              <a:t>Understanding relevant carrier policies and procedures, including limitations and restrictions</a:t>
            </a:r>
          </a:p>
          <a:p>
            <a:r>
              <a:rPr lang="en-AU" dirty="0" smtClean="0"/>
              <a:t>Matching timing requirements to flight availability</a:t>
            </a:r>
          </a:p>
          <a:p>
            <a:r>
              <a:rPr lang="en-AU" dirty="0" smtClean="0"/>
              <a:t>Seat availability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5453485" y="2996952"/>
            <a:ext cx="2609194" cy="174000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2800" dirty="0">
                <a:latin typeface="Helvetica"/>
                <a:ea typeface="Calibri"/>
                <a:cs typeface="Calibri"/>
              </a:rPr>
              <a:t>4.3	Process PTA in accordance with </a:t>
            </a:r>
            <a:r>
              <a:rPr lang="en-AU" sz="2800" dirty="0" smtClean="0">
                <a:latin typeface="Helvetica"/>
                <a:ea typeface="Calibri"/>
                <a:cs typeface="Calibri"/>
              </a:rPr>
              <a:t>	operational </a:t>
            </a:r>
            <a:r>
              <a:rPr lang="en-AU" sz="2800" dirty="0">
                <a:latin typeface="Helvetica"/>
                <a:ea typeface="Calibri"/>
                <a:cs typeface="Calibri"/>
              </a:rPr>
              <a:t>requirements</a:t>
            </a:r>
          </a:p>
        </p:txBody>
      </p:sp>
      <p:sp>
        <p:nvSpPr>
          <p:cNvPr id="3" name="Content Placeholder 2"/>
          <p:cNvSpPr>
            <a:spLocks noGrp="1"/>
          </p:cNvSpPr>
          <p:nvPr>
            <p:ph idx="1"/>
          </p:nvPr>
        </p:nvSpPr>
        <p:spPr>
          <a:xfrm>
            <a:off x="457200" y="1988840"/>
            <a:ext cx="7696200" cy="4433224"/>
          </a:xfrm>
        </p:spPr>
        <p:txBody>
          <a:bodyPr>
            <a:normAutofit/>
          </a:bodyPr>
          <a:lstStyle/>
          <a:p>
            <a:pPr marL="36576" indent="0">
              <a:buNone/>
            </a:pPr>
            <a:r>
              <a:rPr lang="en-AU" dirty="0" smtClean="0"/>
              <a:t>Processing PTA in accordance with operational requirements may include:</a:t>
            </a:r>
          </a:p>
          <a:p>
            <a:r>
              <a:rPr lang="en-AU" dirty="0" smtClean="0"/>
              <a:t>Following relevant guidelines, policies and procedures</a:t>
            </a:r>
          </a:p>
          <a:p>
            <a:r>
              <a:rPr lang="en-AU" dirty="0" smtClean="0"/>
              <a:t>Confirming applicable timeline requirements for booking</a:t>
            </a:r>
          </a:p>
          <a:p>
            <a:r>
              <a:rPr lang="en-AU" dirty="0" smtClean="0"/>
              <a:t>Verifying agency details with carrier</a:t>
            </a:r>
          </a:p>
          <a:p>
            <a:pPr lvl="0">
              <a:buClr>
                <a:srgbClr val="7FD13B"/>
              </a:buClr>
            </a:pPr>
            <a:r>
              <a:rPr lang="en-AU" dirty="0">
                <a:solidFill>
                  <a:prstClr val="black"/>
                </a:solidFill>
              </a:rPr>
              <a:t>Including services covered by PTAs, including excess baggage, unaccompanied children, oxygen </a:t>
            </a:r>
            <a:r>
              <a:rPr lang="en-AU" dirty="0" smtClean="0">
                <a:solidFill>
                  <a:prstClr val="black"/>
                </a:solidFill>
              </a:rPr>
              <a:t>use</a:t>
            </a:r>
          </a:p>
          <a:p>
            <a:pPr lvl="0">
              <a:buClr>
                <a:srgbClr val="7FD13B"/>
              </a:buClr>
            </a:pPr>
            <a:endParaRPr lang="en-US" dirty="0" smtClean="0">
              <a:solidFill>
                <a:prstClr val="black"/>
              </a:solidFill>
            </a:endParaRPr>
          </a:p>
          <a:p>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966631" y="4581128"/>
            <a:ext cx="1853208" cy="1357864"/>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2800" dirty="0">
                <a:latin typeface="Helvetica"/>
                <a:ea typeface="Calibri"/>
                <a:cs typeface="Calibri"/>
              </a:rPr>
              <a:t>4.3	Process PTA in accordance with </a:t>
            </a:r>
            <a:r>
              <a:rPr lang="en-AU" sz="2800" dirty="0" smtClean="0">
                <a:latin typeface="Helvetica"/>
                <a:ea typeface="Calibri"/>
                <a:cs typeface="Calibri"/>
              </a:rPr>
              <a:t>	operational </a:t>
            </a:r>
            <a:r>
              <a:rPr lang="en-AU" sz="2800" dirty="0">
                <a:latin typeface="Helvetica"/>
                <a:ea typeface="Calibri"/>
                <a:cs typeface="Calibri"/>
              </a:rPr>
              <a:t>requirements</a:t>
            </a:r>
          </a:p>
        </p:txBody>
      </p:sp>
      <p:sp>
        <p:nvSpPr>
          <p:cNvPr id="3" name="Content Placeholder 2"/>
          <p:cNvSpPr>
            <a:spLocks noGrp="1"/>
          </p:cNvSpPr>
          <p:nvPr>
            <p:ph idx="1"/>
          </p:nvPr>
        </p:nvSpPr>
        <p:spPr>
          <a:xfrm>
            <a:off x="457200" y="1988840"/>
            <a:ext cx="7715200" cy="4433224"/>
          </a:xfrm>
        </p:spPr>
        <p:txBody>
          <a:bodyPr>
            <a:normAutofit/>
          </a:bodyPr>
          <a:lstStyle/>
          <a:p>
            <a:pPr>
              <a:spcAft>
                <a:spcPts val="1200"/>
              </a:spcAft>
            </a:pPr>
            <a:r>
              <a:rPr lang="en-AU" sz="2200" dirty="0"/>
              <a:t>Obtaining fare quote</a:t>
            </a:r>
          </a:p>
          <a:p>
            <a:pPr>
              <a:spcAft>
                <a:spcPts val="1200"/>
              </a:spcAft>
            </a:pPr>
            <a:r>
              <a:rPr lang="en-AU" sz="2200" dirty="0"/>
              <a:t>Applying service charge</a:t>
            </a:r>
          </a:p>
          <a:p>
            <a:pPr>
              <a:spcAft>
                <a:spcPts val="1200"/>
              </a:spcAft>
            </a:pPr>
            <a:r>
              <a:rPr lang="en-AU" sz="2200" dirty="0"/>
              <a:t>Raising Miscellaneous Charge </a:t>
            </a:r>
            <a:r>
              <a:rPr lang="en-AU" sz="2200" dirty="0" smtClean="0"/>
              <a:t/>
            </a:r>
            <a:br>
              <a:rPr lang="en-AU" sz="2200" dirty="0" smtClean="0"/>
            </a:br>
            <a:r>
              <a:rPr lang="en-AU" sz="2200" dirty="0" smtClean="0"/>
              <a:t>Order </a:t>
            </a:r>
            <a:r>
              <a:rPr lang="en-AU" sz="2200" dirty="0"/>
              <a:t>(MCO</a:t>
            </a:r>
            <a:r>
              <a:rPr lang="en-AU" sz="2200" dirty="0" smtClean="0"/>
              <a:t>)</a:t>
            </a:r>
            <a:endParaRPr lang="en-AU" sz="2200" dirty="0"/>
          </a:p>
          <a:p>
            <a:pPr>
              <a:spcAft>
                <a:spcPts val="1200"/>
              </a:spcAft>
            </a:pP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31</a:t>
            </a:fld>
            <a:endParaRPr lang="en-US" dirty="0">
              <a:solidFill>
                <a:srgbClr val="4E5B6F">
                  <a:shade val="50000"/>
                </a:srgbClr>
              </a:solidFill>
            </a:endParaRPr>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1916832"/>
            <a:ext cx="2787898" cy="2916021"/>
          </a:xfrm>
          <a:prstGeom prst="rect">
            <a:avLst/>
          </a:prstGeom>
          <a:noFill/>
        </p:spPr>
      </p:pic>
    </p:spTree>
    <p:extLst>
      <p:ext uri="{BB962C8B-B14F-4D97-AF65-F5344CB8AC3E}">
        <p14:creationId xmlns:p14="http://schemas.microsoft.com/office/powerpoint/2010/main" val="15613268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2800" dirty="0">
                <a:latin typeface="Helvetica"/>
                <a:ea typeface="Calibri"/>
                <a:cs typeface="Calibri"/>
              </a:rPr>
              <a:t>4.4	Issue or forward PTA</a:t>
            </a:r>
          </a:p>
        </p:txBody>
      </p:sp>
      <p:sp>
        <p:nvSpPr>
          <p:cNvPr id="3" name="Content Placeholder 2"/>
          <p:cNvSpPr>
            <a:spLocks noGrp="1"/>
          </p:cNvSpPr>
          <p:nvPr>
            <p:ph idx="1"/>
          </p:nvPr>
        </p:nvSpPr>
        <p:spPr/>
        <p:txBody>
          <a:bodyPr/>
          <a:lstStyle/>
          <a:p>
            <a:r>
              <a:rPr lang="en-AU" dirty="0" smtClean="0"/>
              <a:t>Issue or forward PTA</a:t>
            </a:r>
          </a:p>
          <a:p>
            <a:r>
              <a:rPr lang="en-AU" dirty="0" smtClean="0"/>
              <a:t>Issuing an PTA</a:t>
            </a:r>
          </a:p>
          <a:p>
            <a:r>
              <a:rPr lang="en-AU" dirty="0" smtClean="0"/>
              <a:t>Accredited and non accredited enterprises</a:t>
            </a:r>
          </a:p>
          <a:p>
            <a:r>
              <a:rPr lang="en-AU" dirty="0" smtClean="0"/>
              <a:t>Issuing tickets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861320" cy="1944216"/>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4 </a:t>
            </a:r>
            <a:r>
              <a:rPr lang="en-AU" sz="3000" dirty="0"/>
              <a:t>- </a:t>
            </a:r>
            <a:r>
              <a:rPr lang="en-US" sz="3000" dirty="0">
                <a:latin typeface="Helvetica"/>
                <a:ea typeface="Calibri"/>
                <a:cs typeface="Calibri"/>
              </a:rPr>
              <a:t>Prepare International Pre-paid ticket advices</a:t>
            </a:r>
            <a:endParaRPr lang="en-AU" sz="3000" dirty="0"/>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4</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33</a:t>
            </a:fld>
            <a:endParaRPr lang="en-US" dirty="0">
              <a:solidFill>
                <a:srgbClr val="4E5B6F">
                  <a:shade val="50000"/>
                </a:srgbClr>
              </a:solidFill>
            </a:endParaRPr>
          </a:p>
        </p:txBody>
      </p:sp>
    </p:spTree>
    <p:extLst>
      <p:ext uri="{BB962C8B-B14F-4D97-AF65-F5344CB8AC3E}">
        <p14:creationId xmlns:p14="http://schemas.microsoft.com/office/powerpoint/2010/main" val="38176878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5: Construct round-the-world and round trip itineraries</a:t>
            </a:r>
            <a:endParaRPr lang="en-US" dirty="0"/>
          </a:p>
        </p:txBody>
      </p:sp>
      <p:sp>
        <p:nvSpPr>
          <p:cNvPr id="3" name="Content Placeholder 2"/>
          <p:cNvSpPr>
            <a:spLocks noGrp="1"/>
          </p:cNvSpPr>
          <p:nvPr>
            <p:ph idx="1"/>
          </p:nvPr>
        </p:nvSpPr>
        <p:spPr>
          <a:xfrm>
            <a:off x="457200" y="1556792"/>
            <a:ext cx="5915000" cy="4569371"/>
          </a:xfrm>
        </p:spPr>
        <p:txBody>
          <a:bodyPr>
            <a:noAutofit/>
          </a:bodyPr>
          <a:lstStyle/>
          <a:p>
            <a:pPr marL="36576" indent="0">
              <a:buNone/>
            </a:pPr>
            <a:r>
              <a:rPr lang="en-US" sz="2100" dirty="0"/>
              <a:t>Performance Criteria for this Element are</a:t>
            </a:r>
            <a:r>
              <a:rPr lang="en-US" sz="2100" dirty="0" smtClean="0"/>
              <a:t>:</a:t>
            </a:r>
          </a:p>
          <a:p>
            <a:pPr marL="36576" indent="0">
              <a:buNone/>
            </a:pPr>
            <a:r>
              <a:rPr lang="en-AU" sz="2100" dirty="0">
                <a:solidFill>
                  <a:srgbClr val="92D050"/>
                </a:solidFill>
                <a:ea typeface="Times New Roman"/>
                <a:cs typeface="Times New Roman"/>
              </a:rPr>
              <a:t>5.1</a:t>
            </a:r>
            <a:r>
              <a:rPr lang="en-AU" sz="2100" dirty="0">
                <a:ea typeface="Times New Roman"/>
                <a:cs typeface="Times New Roman"/>
              </a:rPr>
              <a:t>	Identify and confirm needs and </a:t>
            </a:r>
            <a:r>
              <a:rPr lang="en-AU" sz="2100" dirty="0" smtClean="0">
                <a:ea typeface="Times New Roman"/>
                <a:cs typeface="Times New Roman"/>
              </a:rPr>
              <a:t>	preferences </a:t>
            </a:r>
            <a:r>
              <a:rPr lang="en-AU" sz="2100" dirty="0">
                <a:ea typeface="Times New Roman"/>
                <a:cs typeface="Times New Roman"/>
              </a:rPr>
              <a:t>of client</a:t>
            </a:r>
            <a:r>
              <a:rPr lang="en-AU" sz="2100" dirty="0">
                <a:ea typeface="Times New Roman"/>
                <a:cs typeface="Arial"/>
              </a:rPr>
              <a:t> </a:t>
            </a:r>
            <a:endParaRPr lang="en-AU" sz="2100" dirty="0">
              <a:ea typeface="Times New Roman"/>
              <a:cs typeface="Times New Roman"/>
            </a:endParaRPr>
          </a:p>
          <a:p>
            <a:pPr marL="36576" indent="0">
              <a:buNone/>
            </a:pPr>
            <a:r>
              <a:rPr lang="en-AU" sz="2100" dirty="0">
                <a:solidFill>
                  <a:srgbClr val="92D050"/>
                </a:solidFill>
                <a:ea typeface="Calibri"/>
                <a:cs typeface="Calibri"/>
              </a:rPr>
              <a:t>5.2</a:t>
            </a:r>
            <a:r>
              <a:rPr lang="en-AU" sz="2100" dirty="0">
                <a:ea typeface="Calibri"/>
                <a:cs typeface="Calibri"/>
              </a:rPr>
              <a:t>	</a:t>
            </a:r>
            <a:r>
              <a:rPr lang="en-AU" sz="2100" dirty="0" smtClean="0">
                <a:ea typeface="Calibri"/>
                <a:cs typeface="Calibri"/>
              </a:rPr>
              <a:t>Identify </a:t>
            </a:r>
            <a:r>
              <a:rPr lang="en-AU" sz="2100" dirty="0">
                <a:ea typeface="Calibri"/>
                <a:cs typeface="Calibri"/>
              </a:rPr>
              <a:t>and access appropriate </a:t>
            </a:r>
            <a:r>
              <a:rPr lang="en-AU" sz="2100" dirty="0" smtClean="0">
                <a:ea typeface="Calibri"/>
                <a:cs typeface="Calibri"/>
              </a:rPr>
              <a:t>	resources </a:t>
            </a:r>
            <a:r>
              <a:rPr lang="en-AU" sz="2100" dirty="0">
                <a:ea typeface="Calibri"/>
                <a:cs typeface="Calibri"/>
              </a:rPr>
              <a:t>to enable processing of client </a:t>
            </a:r>
            <a:r>
              <a:rPr lang="en-AU" sz="2100" dirty="0" smtClean="0">
                <a:ea typeface="Calibri"/>
                <a:cs typeface="Calibri"/>
              </a:rPr>
              <a:t>	requirements</a:t>
            </a:r>
            <a:endParaRPr lang="en-AU" sz="2100" dirty="0">
              <a:ea typeface="Calibri"/>
              <a:cs typeface="Calibri"/>
            </a:endParaRPr>
          </a:p>
          <a:p>
            <a:pPr marL="36576" indent="0">
              <a:buNone/>
            </a:pPr>
            <a:r>
              <a:rPr lang="en-AU" sz="2100" dirty="0">
                <a:solidFill>
                  <a:srgbClr val="92D050"/>
                </a:solidFill>
                <a:ea typeface="Calibri"/>
                <a:cs typeface="Calibri"/>
              </a:rPr>
              <a:t>5.3</a:t>
            </a:r>
            <a:r>
              <a:rPr lang="en-AU" sz="2100" dirty="0">
                <a:ea typeface="Calibri"/>
                <a:cs typeface="Calibri"/>
              </a:rPr>
              <a:t>	Identify and confirm availability of flights </a:t>
            </a:r>
            <a:r>
              <a:rPr lang="en-AU" sz="2100" dirty="0" smtClean="0">
                <a:ea typeface="Calibri"/>
                <a:cs typeface="Calibri"/>
              </a:rPr>
              <a:t>	to </a:t>
            </a:r>
            <a:r>
              <a:rPr lang="en-AU" sz="2100" dirty="0">
                <a:ea typeface="Calibri"/>
                <a:cs typeface="Calibri"/>
              </a:rPr>
              <a:t>meet client requirements</a:t>
            </a:r>
          </a:p>
          <a:p>
            <a:pPr marL="36576" indent="0">
              <a:buNone/>
            </a:pPr>
            <a:r>
              <a:rPr lang="en-AU" sz="2100" dirty="0">
                <a:solidFill>
                  <a:srgbClr val="92D050"/>
                </a:solidFill>
                <a:ea typeface="Calibri"/>
                <a:cs typeface="Calibri"/>
              </a:rPr>
              <a:t>5.4</a:t>
            </a:r>
            <a:r>
              <a:rPr lang="en-AU" sz="2100" dirty="0">
                <a:ea typeface="Calibri"/>
                <a:cs typeface="Calibri"/>
              </a:rPr>
              <a:t>	Ensure fare construction complies with </a:t>
            </a:r>
            <a:r>
              <a:rPr lang="en-AU" sz="2100" dirty="0" smtClean="0">
                <a:ea typeface="Calibri"/>
                <a:cs typeface="Calibri"/>
              </a:rPr>
              <a:t>	operational </a:t>
            </a:r>
            <a:r>
              <a:rPr lang="en-AU" sz="2100" dirty="0">
                <a:ea typeface="Calibri"/>
                <a:cs typeface="Calibri"/>
              </a:rPr>
              <a:t>requirements</a:t>
            </a:r>
          </a:p>
          <a:p>
            <a:pPr marL="36576" indent="0">
              <a:buNone/>
            </a:pPr>
            <a:r>
              <a:rPr lang="en-AU" sz="2100" dirty="0">
                <a:solidFill>
                  <a:srgbClr val="92D050"/>
                </a:solidFill>
                <a:ea typeface="Calibri"/>
                <a:cs typeface="Calibri"/>
              </a:rPr>
              <a:t>5.5</a:t>
            </a:r>
            <a:r>
              <a:rPr lang="en-AU" sz="2100" dirty="0">
                <a:ea typeface="Calibri"/>
                <a:cs typeface="Calibri"/>
              </a:rPr>
              <a:t>	Calculate fare costs</a:t>
            </a:r>
          </a:p>
          <a:p>
            <a:pPr marL="36576" indent="0">
              <a:buNone/>
            </a:pPr>
            <a:r>
              <a:rPr lang="en-AU" sz="2100" dirty="0">
                <a:solidFill>
                  <a:srgbClr val="92D050"/>
                </a:solidFill>
                <a:ea typeface="Calibri"/>
                <a:cs typeface="Calibri"/>
              </a:rPr>
              <a:t>5.6</a:t>
            </a:r>
            <a:r>
              <a:rPr lang="en-AU" sz="2100" dirty="0">
                <a:ea typeface="Calibri"/>
                <a:cs typeface="Calibri"/>
              </a:rPr>
              <a:t>	Construct and check accuracy and </a:t>
            </a:r>
            <a:r>
              <a:rPr lang="en-AU" sz="2100" dirty="0" smtClean="0">
                <a:ea typeface="Calibri"/>
                <a:cs typeface="Calibri"/>
              </a:rPr>
              <a:t>	completeness </a:t>
            </a:r>
            <a:r>
              <a:rPr lang="en-AU" sz="2100" dirty="0">
                <a:ea typeface="Calibri"/>
                <a:cs typeface="Calibri"/>
              </a:rPr>
              <a:t>of air itineraries</a:t>
            </a:r>
          </a:p>
          <a:p>
            <a:endParaRPr lang="en-US" sz="21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6372199" y="1988840"/>
            <a:ext cx="2275457" cy="170866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8840"/>
            <a:ext cx="7499176" cy="4137323"/>
          </a:xfrm>
        </p:spPr>
        <p:txBody>
          <a:bodyPr/>
          <a:lstStyle/>
          <a:p>
            <a:pPr>
              <a:lnSpc>
                <a:spcPct val="150000"/>
              </a:lnSpc>
            </a:pPr>
            <a:r>
              <a:rPr lang="en-AU" dirty="0" smtClean="0"/>
              <a:t>Airline time principles</a:t>
            </a:r>
          </a:p>
          <a:p>
            <a:pPr>
              <a:lnSpc>
                <a:spcPct val="150000"/>
              </a:lnSpc>
            </a:pPr>
            <a:r>
              <a:rPr lang="en-AU" dirty="0" smtClean="0"/>
              <a:t>The 24 hour clock</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1916832"/>
            <a:ext cx="3596098" cy="3189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457200" y="274638"/>
            <a:ext cx="8003232" cy="1143000"/>
          </a:xfrm>
        </p:spPr>
        <p:txBody>
          <a:bodyPr>
            <a:normAutofit/>
          </a:bodyPr>
          <a:lstStyle/>
          <a:p>
            <a:pPr>
              <a:lnSpc>
                <a:spcPct val="115000"/>
              </a:lnSpc>
              <a:spcAft>
                <a:spcPts val="1000"/>
              </a:spcAft>
            </a:pPr>
            <a:r>
              <a:rPr lang="en-AU" sz="2800" dirty="0" smtClean="0">
                <a:latin typeface="Helvetica"/>
                <a:ea typeface="Calibri"/>
                <a:cs typeface="Calibri"/>
              </a:rPr>
              <a:t>5.3, 6.4</a:t>
            </a:r>
            <a:r>
              <a:rPr lang="en-AU" sz="2800" dirty="0">
                <a:latin typeface="Helvetica"/>
                <a:ea typeface="Calibri"/>
                <a:cs typeface="Calibri"/>
              </a:rPr>
              <a:t>	Identify and confirm availability of </a:t>
            </a:r>
            <a:r>
              <a:rPr lang="en-AU" sz="2800" dirty="0" smtClean="0">
                <a:latin typeface="Helvetica"/>
                <a:ea typeface="Calibri"/>
                <a:cs typeface="Calibri"/>
              </a:rPr>
              <a:t>		flights </a:t>
            </a:r>
            <a:r>
              <a:rPr lang="en-AU" sz="2800" dirty="0">
                <a:latin typeface="Helvetica"/>
                <a:ea typeface="Calibri"/>
                <a:cs typeface="Calibri"/>
              </a:rPr>
              <a:t>to meet client requirements</a:t>
            </a:r>
            <a:endParaRPr lang="en-AU" sz="2800" dirty="0">
              <a:effectLst/>
              <a:latin typeface="Helvetica"/>
              <a:ea typeface="Calibri"/>
              <a:cs typeface="Calibri"/>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1143000"/>
          </a:xfrm>
        </p:spPr>
        <p:txBody>
          <a:bodyPr>
            <a:normAutofit/>
          </a:bodyPr>
          <a:lstStyle/>
          <a:p>
            <a:pPr>
              <a:lnSpc>
                <a:spcPct val="115000"/>
              </a:lnSpc>
              <a:spcAft>
                <a:spcPts val="1000"/>
              </a:spcAft>
            </a:pPr>
            <a:r>
              <a:rPr lang="en-AU" sz="2800" dirty="0" smtClean="0">
                <a:latin typeface="Helvetica"/>
                <a:ea typeface="Calibri"/>
                <a:cs typeface="Calibri"/>
              </a:rPr>
              <a:t>5.3, 6.4</a:t>
            </a:r>
            <a:r>
              <a:rPr lang="en-AU" sz="2800" dirty="0">
                <a:latin typeface="Helvetica"/>
                <a:ea typeface="Calibri"/>
                <a:cs typeface="Calibri"/>
              </a:rPr>
              <a:t>	Identify and confirm availability of </a:t>
            </a:r>
            <a:r>
              <a:rPr lang="en-AU" sz="2800" dirty="0" smtClean="0">
                <a:latin typeface="Helvetica"/>
                <a:ea typeface="Calibri"/>
                <a:cs typeface="Calibri"/>
              </a:rPr>
              <a:t>		flights </a:t>
            </a:r>
            <a:r>
              <a:rPr lang="en-AU" sz="2800" dirty="0">
                <a:latin typeface="Helvetica"/>
                <a:ea typeface="Calibri"/>
                <a:cs typeface="Calibri"/>
              </a:rPr>
              <a:t>to meet client requirements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484784"/>
            <a:ext cx="8075240" cy="4641379"/>
          </a:xfrm>
        </p:spPr>
        <p:txBody>
          <a:bodyPr/>
          <a:lstStyle/>
          <a:p>
            <a:pPr marL="342900" indent="-342900">
              <a:spcBef>
                <a:spcPts val="1200"/>
              </a:spcBef>
              <a:spcAft>
                <a:spcPts val="1200"/>
              </a:spcAft>
            </a:pPr>
            <a:r>
              <a:rPr lang="en-AU" dirty="0" smtClean="0">
                <a:latin typeface="Helvetica"/>
                <a:ea typeface="Times New Roman"/>
                <a:cs typeface="Times New Roman"/>
              </a:rPr>
              <a:t>Time Zones </a:t>
            </a:r>
            <a:r>
              <a:rPr lang="en-AU" u="sng" dirty="0">
                <a:solidFill>
                  <a:srgbClr val="0000FF"/>
                </a:solidFill>
                <a:latin typeface="Helvetica"/>
                <a:ea typeface="Times New Roman"/>
                <a:cs typeface="Arial"/>
                <a:hlinkClick r:id="rId3"/>
              </a:rPr>
              <a:t>http://www.timeanddate.com/time/time-zones.html</a:t>
            </a:r>
            <a:endParaRPr lang="en-AU" b="1" dirty="0">
              <a:solidFill>
                <a:srgbClr val="45545F"/>
              </a:solidFill>
              <a:latin typeface="Helvetica"/>
              <a:ea typeface="Times New Roman"/>
              <a:cs typeface="Times New Roman"/>
            </a:endParaRPr>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36</a:t>
            </a:fld>
            <a:endParaRPr lang="en-US" dirty="0">
              <a:solidFill>
                <a:srgbClr val="4E5B6F">
                  <a:shade val="50000"/>
                </a:srgbClr>
              </a:solidFill>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2204864"/>
            <a:ext cx="5924776" cy="400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13930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8840"/>
            <a:ext cx="8003232" cy="4137323"/>
          </a:xfrm>
        </p:spPr>
        <p:txBody>
          <a:bodyPr/>
          <a:lstStyle/>
          <a:p>
            <a:r>
              <a:rPr lang="en-AU" dirty="0" smtClean="0"/>
              <a:t>Departure </a:t>
            </a:r>
            <a:r>
              <a:rPr lang="en-AU" dirty="0"/>
              <a:t>and arrival times</a:t>
            </a:r>
          </a:p>
          <a:p>
            <a:r>
              <a:rPr lang="en-AU" dirty="0"/>
              <a:t>Minimum connecting time between flights</a:t>
            </a:r>
          </a:p>
          <a:p>
            <a:r>
              <a:rPr lang="en-AU" dirty="0" smtClean="0"/>
              <a:t>Airports</a:t>
            </a:r>
            <a:endParaRPr lang="en-AU" dirty="0"/>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37</a:t>
            </a:fld>
            <a:endParaRPr lang="en-US" dirty="0">
              <a:solidFill>
                <a:srgbClr val="4E5B6F">
                  <a:shade val="50000"/>
                </a:srgbClr>
              </a:solidFill>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4835" y="3356992"/>
            <a:ext cx="3078163"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457200" y="274638"/>
            <a:ext cx="8003232" cy="1143000"/>
          </a:xfrm>
        </p:spPr>
        <p:txBody>
          <a:bodyPr>
            <a:normAutofit/>
          </a:bodyPr>
          <a:lstStyle/>
          <a:p>
            <a:pPr>
              <a:lnSpc>
                <a:spcPct val="115000"/>
              </a:lnSpc>
              <a:spcAft>
                <a:spcPts val="1000"/>
              </a:spcAft>
            </a:pPr>
            <a:r>
              <a:rPr lang="en-AU" sz="2800" dirty="0" smtClean="0">
                <a:latin typeface="Helvetica"/>
                <a:ea typeface="Calibri"/>
                <a:cs typeface="Calibri"/>
              </a:rPr>
              <a:t>5.3, 6.4</a:t>
            </a:r>
            <a:r>
              <a:rPr lang="en-AU" sz="2800" dirty="0">
                <a:latin typeface="Helvetica"/>
                <a:ea typeface="Calibri"/>
                <a:cs typeface="Calibri"/>
              </a:rPr>
              <a:t>	Identify and confirm availability of </a:t>
            </a:r>
            <a:r>
              <a:rPr lang="en-AU" sz="2800" dirty="0" smtClean="0">
                <a:latin typeface="Helvetica"/>
                <a:ea typeface="Calibri"/>
                <a:cs typeface="Calibri"/>
              </a:rPr>
              <a:t>		flights </a:t>
            </a:r>
            <a:r>
              <a:rPr lang="en-AU" sz="2800" dirty="0">
                <a:latin typeface="Helvetica"/>
                <a:ea typeface="Calibri"/>
                <a:cs typeface="Calibri"/>
              </a:rPr>
              <a:t>to meet client requirements</a:t>
            </a:r>
            <a:endParaRPr lang="en-AU" sz="2800" dirty="0">
              <a:effectLst/>
              <a:latin typeface="Helvetica"/>
              <a:ea typeface="Calibri"/>
              <a:cs typeface="Calibri"/>
            </a:endParaRPr>
          </a:p>
        </p:txBody>
      </p:sp>
    </p:spTree>
    <p:extLst>
      <p:ext uri="{BB962C8B-B14F-4D97-AF65-F5344CB8AC3E}">
        <p14:creationId xmlns:p14="http://schemas.microsoft.com/office/powerpoint/2010/main" val="33333827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44824"/>
            <a:ext cx="8003232" cy="4137323"/>
          </a:xfrm>
        </p:spPr>
        <p:txBody>
          <a:bodyPr>
            <a:noAutofit/>
          </a:bodyPr>
          <a:lstStyle/>
          <a:p>
            <a:r>
              <a:rPr lang="en-AU" sz="2100" dirty="0"/>
              <a:t>Check-in facilities</a:t>
            </a:r>
          </a:p>
          <a:p>
            <a:pPr lvl="1"/>
            <a:r>
              <a:rPr lang="en-AU" sz="2100" dirty="0"/>
              <a:t>Counter check-in</a:t>
            </a:r>
          </a:p>
          <a:p>
            <a:pPr lvl="1"/>
            <a:r>
              <a:rPr lang="en-AU" sz="2100" dirty="0"/>
              <a:t>Online check-in</a:t>
            </a:r>
          </a:p>
          <a:p>
            <a:r>
              <a:rPr lang="en-AU" sz="2100" dirty="0"/>
              <a:t>Seat requests</a:t>
            </a:r>
          </a:p>
          <a:p>
            <a:r>
              <a:rPr lang="en-AU" sz="2100" dirty="0"/>
              <a:t>Special Care </a:t>
            </a:r>
            <a:r>
              <a:rPr lang="en-AU" sz="2100" dirty="0" smtClean="0"/>
              <a:t>Passengers</a:t>
            </a:r>
          </a:p>
          <a:p>
            <a:pPr lvl="1"/>
            <a:r>
              <a:rPr lang="en-AU" sz="2100" dirty="0"/>
              <a:t>Infants/babies</a:t>
            </a:r>
          </a:p>
          <a:p>
            <a:pPr lvl="1"/>
            <a:r>
              <a:rPr lang="en-AU" sz="2100" dirty="0"/>
              <a:t>Unaccompanied minors</a:t>
            </a:r>
          </a:p>
          <a:p>
            <a:pPr lvl="1"/>
            <a:r>
              <a:rPr lang="en-AU" sz="2100" dirty="0"/>
              <a:t>Elderly or incapacitated passengers</a:t>
            </a:r>
          </a:p>
          <a:p>
            <a:r>
              <a:rPr lang="en-AU" sz="2100" dirty="0"/>
              <a:t>Day and month abbreviations</a:t>
            </a:r>
          </a:p>
          <a:p>
            <a:endParaRPr lang="en-US" sz="21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38</a:t>
            </a:fld>
            <a:endParaRPr lang="en-US" dirty="0">
              <a:solidFill>
                <a:srgbClr val="4E5B6F">
                  <a:shade val="50000"/>
                </a:srgbClr>
              </a:solidFill>
            </a:endParaRPr>
          </a:p>
        </p:txBody>
      </p:sp>
      <p:sp>
        <p:nvSpPr>
          <p:cNvPr id="6" name="Title 1"/>
          <p:cNvSpPr>
            <a:spLocks noGrp="1"/>
          </p:cNvSpPr>
          <p:nvPr>
            <p:ph type="title"/>
          </p:nvPr>
        </p:nvSpPr>
        <p:spPr>
          <a:xfrm>
            <a:off x="457200" y="274638"/>
            <a:ext cx="8003232" cy="1143000"/>
          </a:xfrm>
        </p:spPr>
        <p:txBody>
          <a:bodyPr>
            <a:normAutofit/>
          </a:bodyPr>
          <a:lstStyle/>
          <a:p>
            <a:pPr>
              <a:lnSpc>
                <a:spcPct val="115000"/>
              </a:lnSpc>
              <a:spcAft>
                <a:spcPts val="1000"/>
              </a:spcAft>
            </a:pPr>
            <a:r>
              <a:rPr lang="en-AU" sz="2800" dirty="0" smtClean="0">
                <a:latin typeface="Helvetica"/>
                <a:ea typeface="Calibri"/>
                <a:cs typeface="Calibri"/>
              </a:rPr>
              <a:t>5.3, 6.4</a:t>
            </a:r>
            <a:r>
              <a:rPr lang="en-AU" sz="2800" dirty="0">
                <a:latin typeface="Helvetica"/>
                <a:ea typeface="Calibri"/>
                <a:cs typeface="Calibri"/>
              </a:rPr>
              <a:t>	Identify and confirm availability of </a:t>
            </a:r>
            <a:r>
              <a:rPr lang="en-AU" sz="2800" dirty="0" smtClean="0">
                <a:latin typeface="Helvetica"/>
                <a:ea typeface="Calibri"/>
                <a:cs typeface="Calibri"/>
              </a:rPr>
              <a:t>		flights </a:t>
            </a:r>
            <a:r>
              <a:rPr lang="en-AU" sz="2800" dirty="0">
                <a:latin typeface="Helvetica"/>
                <a:ea typeface="Calibri"/>
                <a:cs typeface="Calibri"/>
              </a:rPr>
              <a:t>to meet client requirements</a:t>
            </a:r>
            <a:endParaRPr lang="en-AU" sz="2800" dirty="0">
              <a:effectLst/>
              <a:latin typeface="Helvetica"/>
              <a:ea typeface="Calibri"/>
              <a:cs typeface="Calibri"/>
            </a:endParaRPr>
          </a:p>
        </p:txBody>
      </p:sp>
    </p:spTree>
    <p:extLst>
      <p:ext uri="{BB962C8B-B14F-4D97-AF65-F5344CB8AC3E}">
        <p14:creationId xmlns:p14="http://schemas.microsoft.com/office/powerpoint/2010/main" val="19444852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5 </a:t>
            </a:r>
            <a:r>
              <a:rPr lang="en-AU" sz="3000" dirty="0"/>
              <a:t>- </a:t>
            </a:r>
            <a:r>
              <a:rPr lang="en-AU" sz="3000" dirty="0">
                <a:latin typeface="Helvetica"/>
                <a:ea typeface="Calibri"/>
                <a:cs typeface="Calibri"/>
              </a:rPr>
              <a:t>Construct round-the-world and round trip itineraries</a:t>
            </a:r>
            <a:endParaRPr lang="en-AU" sz="3000" dirty="0"/>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5</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39</a:t>
            </a:fld>
            <a:endParaRPr lang="en-US" dirty="0">
              <a:solidFill>
                <a:srgbClr val="4E5B6F">
                  <a:shade val="50000"/>
                </a:srgbClr>
              </a:solidFill>
            </a:endParaRPr>
          </a:p>
        </p:txBody>
      </p:sp>
    </p:spTree>
    <p:extLst>
      <p:ext uri="{BB962C8B-B14F-4D97-AF65-F5344CB8AC3E}">
        <p14:creationId xmlns:p14="http://schemas.microsoft.com/office/powerpoint/2010/main" val="31743222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6: Identify options that enable open jaw journeys</a:t>
            </a:r>
            <a:endParaRPr lang="en-US" dirty="0"/>
          </a:p>
        </p:txBody>
      </p:sp>
      <p:sp>
        <p:nvSpPr>
          <p:cNvPr id="3" name="Content Placeholder 2"/>
          <p:cNvSpPr>
            <a:spLocks noGrp="1"/>
          </p:cNvSpPr>
          <p:nvPr>
            <p:ph idx="1"/>
          </p:nvPr>
        </p:nvSpPr>
        <p:spPr>
          <a:xfrm>
            <a:off x="457200" y="1556792"/>
            <a:ext cx="5915000" cy="4752528"/>
          </a:xfrm>
        </p:spPr>
        <p:txBody>
          <a:bodyPr>
            <a:noAutofit/>
          </a:bodyPr>
          <a:lstStyle/>
          <a:p>
            <a:pPr marL="36576" indent="0">
              <a:buNone/>
            </a:pPr>
            <a:r>
              <a:rPr lang="en-US" sz="1800" dirty="0"/>
              <a:t>Performance Criteria for this Element are:</a:t>
            </a:r>
          </a:p>
          <a:p>
            <a:pPr marL="36576" indent="0">
              <a:buNone/>
            </a:pPr>
            <a:r>
              <a:rPr lang="en-AU" sz="1800" dirty="0">
                <a:solidFill>
                  <a:srgbClr val="92D050"/>
                </a:solidFill>
                <a:latin typeface="Helvetica"/>
                <a:ea typeface="Calibri"/>
                <a:cs typeface="Calibri"/>
              </a:rPr>
              <a:t>6.1</a:t>
            </a:r>
            <a:r>
              <a:rPr lang="en-AU" sz="1800" dirty="0">
                <a:latin typeface="Helvetica"/>
                <a:ea typeface="Calibri"/>
                <a:cs typeface="Calibri"/>
              </a:rPr>
              <a:t>	</a:t>
            </a:r>
            <a:r>
              <a:rPr lang="en-AU" sz="1800" dirty="0"/>
              <a:t>Identify and confirm needs and preferences of </a:t>
            </a:r>
            <a:r>
              <a:rPr lang="en-AU" sz="1800" dirty="0" smtClean="0"/>
              <a:t>	client</a:t>
            </a:r>
          </a:p>
          <a:p>
            <a:pPr marL="36576" indent="0">
              <a:buNone/>
            </a:pPr>
            <a:r>
              <a:rPr lang="en-AU" sz="1800" dirty="0" smtClean="0">
                <a:solidFill>
                  <a:srgbClr val="92D050"/>
                </a:solidFill>
                <a:latin typeface="Helvetica"/>
                <a:ea typeface="Calibri"/>
                <a:cs typeface="Calibri"/>
              </a:rPr>
              <a:t>6.2</a:t>
            </a:r>
            <a:r>
              <a:rPr lang="en-AU" sz="1800" dirty="0" smtClean="0">
                <a:latin typeface="Helvetica"/>
                <a:ea typeface="Calibri"/>
                <a:cs typeface="Calibri"/>
              </a:rPr>
              <a:t>	Identify and access appropriate resources to 	enable processing of client requirements</a:t>
            </a:r>
          </a:p>
          <a:p>
            <a:pPr marL="36576" indent="0">
              <a:buNone/>
            </a:pPr>
            <a:r>
              <a:rPr lang="en-AU" sz="1800" dirty="0" smtClean="0">
                <a:solidFill>
                  <a:srgbClr val="92D050"/>
                </a:solidFill>
                <a:latin typeface="Helvetica"/>
                <a:ea typeface="Calibri"/>
                <a:cs typeface="Calibri"/>
              </a:rPr>
              <a:t>6.3</a:t>
            </a:r>
            <a:r>
              <a:rPr lang="en-AU" sz="1800" dirty="0">
                <a:latin typeface="Helvetica"/>
                <a:ea typeface="Calibri"/>
                <a:cs typeface="Calibri"/>
              </a:rPr>
              <a:t>	Identify options that enable open jaw journeys</a:t>
            </a:r>
          </a:p>
          <a:p>
            <a:pPr marL="36576" indent="0">
              <a:buNone/>
            </a:pPr>
            <a:r>
              <a:rPr lang="en-AU" sz="1800" dirty="0">
                <a:solidFill>
                  <a:srgbClr val="92D050"/>
                </a:solidFill>
                <a:latin typeface="Helvetica"/>
                <a:ea typeface="Calibri"/>
                <a:cs typeface="Calibri"/>
              </a:rPr>
              <a:t>6.4</a:t>
            </a:r>
            <a:r>
              <a:rPr lang="en-AU" sz="1800" dirty="0">
                <a:latin typeface="Helvetica"/>
                <a:ea typeface="Calibri"/>
                <a:cs typeface="Calibri"/>
              </a:rPr>
              <a:t>	Identify and confirm availability of flights to </a:t>
            </a:r>
            <a:r>
              <a:rPr lang="en-AU" sz="1800" dirty="0" smtClean="0">
                <a:latin typeface="Helvetica"/>
                <a:ea typeface="Calibri"/>
                <a:cs typeface="Calibri"/>
              </a:rPr>
              <a:t>	meet </a:t>
            </a:r>
            <a:r>
              <a:rPr lang="en-AU" sz="1800" dirty="0">
                <a:latin typeface="Helvetica"/>
                <a:ea typeface="Calibri"/>
                <a:cs typeface="Calibri"/>
              </a:rPr>
              <a:t>client requirements</a:t>
            </a:r>
          </a:p>
          <a:p>
            <a:pPr marL="36576" indent="0">
              <a:buNone/>
            </a:pPr>
            <a:r>
              <a:rPr lang="en-AU" sz="1800" dirty="0">
                <a:solidFill>
                  <a:srgbClr val="92D050"/>
                </a:solidFill>
                <a:latin typeface="Helvetica"/>
                <a:ea typeface="Calibri"/>
                <a:cs typeface="Calibri"/>
              </a:rPr>
              <a:t>6.5</a:t>
            </a:r>
            <a:r>
              <a:rPr lang="en-AU" sz="1800" dirty="0">
                <a:latin typeface="Helvetica"/>
                <a:ea typeface="Calibri"/>
                <a:cs typeface="Calibri"/>
              </a:rPr>
              <a:t>	Ensure fare construction complies with </a:t>
            </a:r>
            <a:r>
              <a:rPr lang="en-AU" sz="1800" dirty="0" smtClean="0">
                <a:latin typeface="Helvetica"/>
                <a:ea typeface="Calibri"/>
                <a:cs typeface="Calibri"/>
              </a:rPr>
              <a:t>	operational </a:t>
            </a:r>
            <a:r>
              <a:rPr lang="en-AU" sz="1800" dirty="0">
                <a:latin typeface="Helvetica"/>
                <a:ea typeface="Calibri"/>
                <a:cs typeface="Calibri"/>
              </a:rPr>
              <a:t>requirements</a:t>
            </a:r>
          </a:p>
          <a:p>
            <a:pPr marL="36576" indent="0">
              <a:buNone/>
            </a:pPr>
            <a:r>
              <a:rPr lang="en-AU" sz="1800" dirty="0">
                <a:solidFill>
                  <a:srgbClr val="92D050"/>
                </a:solidFill>
                <a:latin typeface="Helvetica"/>
                <a:ea typeface="Calibri"/>
                <a:cs typeface="Calibri"/>
              </a:rPr>
              <a:t>6.6</a:t>
            </a:r>
            <a:r>
              <a:rPr lang="en-AU" sz="1800" dirty="0">
                <a:latin typeface="Helvetica"/>
                <a:ea typeface="Calibri"/>
                <a:cs typeface="Calibri"/>
              </a:rPr>
              <a:t>	Calculate fare costs</a:t>
            </a:r>
          </a:p>
          <a:p>
            <a:pPr marL="36576" indent="0">
              <a:buNone/>
            </a:pPr>
            <a:r>
              <a:rPr lang="en-AU" sz="1800" dirty="0">
                <a:solidFill>
                  <a:srgbClr val="92D050"/>
                </a:solidFill>
                <a:latin typeface="Helvetica"/>
                <a:ea typeface="Calibri"/>
                <a:cs typeface="Calibri"/>
              </a:rPr>
              <a:t>6.7</a:t>
            </a:r>
            <a:r>
              <a:rPr lang="en-AU" sz="1800" dirty="0">
                <a:latin typeface="Helvetica"/>
                <a:ea typeface="Calibri"/>
                <a:cs typeface="Calibri"/>
              </a:rPr>
              <a:t>	Construct and check accuracy and </a:t>
            </a:r>
            <a:r>
              <a:rPr lang="en-AU" sz="1800" dirty="0" smtClean="0">
                <a:latin typeface="Helvetica"/>
                <a:ea typeface="Calibri"/>
                <a:cs typeface="Calibri"/>
              </a:rPr>
              <a:t>	completeness </a:t>
            </a:r>
            <a:r>
              <a:rPr lang="en-AU" sz="1800" dirty="0">
                <a:latin typeface="Helvetica"/>
                <a:ea typeface="Calibri"/>
                <a:cs typeface="Calibri"/>
              </a:rPr>
              <a:t>of air itineraries</a:t>
            </a:r>
          </a:p>
          <a:p>
            <a:endParaRPr lang="en-US" sz="18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625848" y="3140968"/>
            <a:ext cx="2175623" cy="153167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6.3	Identify options that enable open jaw </a:t>
            </a:r>
            <a:r>
              <a:rPr lang="en-AU" sz="2800" dirty="0" smtClean="0">
                <a:latin typeface="Helvetica"/>
                <a:ea typeface="Calibri"/>
                <a:cs typeface="Calibri"/>
              </a:rPr>
              <a:t>	journeys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700808"/>
            <a:ext cx="4834880" cy="4968552"/>
          </a:xfrm>
        </p:spPr>
        <p:txBody>
          <a:bodyPr>
            <a:normAutofit/>
          </a:bodyPr>
          <a:lstStyle/>
          <a:p>
            <a:pPr marL="36576" indent="0">
              <a:buNone/>
            </a:pPr>
            <a:r>
              <a:rPr lang="en-AU" dirty="0"/>
              <a:t>Identify options that enable open jaw journeys may </a:t>
            </a:r>
            <a:r>
              <a:rPr lang="en-AU" dirty="0" smtClean="0"/>
              <a:t>include:</a:t>
            </a:r>
          </a:p>
          <a:p>
            <a:r>
              <a:rPr lang="en-AU" dirty="0" smtClean="0"/>
              <a:t>Considering double open jaw trips</a:t>
            </a:r>
          </a:p>
          <a:p>
            <a:r>
              <a:rPr lang="en-AU" dirty="0" smtClean="0"/>
              <a:t>Reading package limitations</a:t>
            </a:r>
          </a:p>
          <a:p>
            <a:r>
              <a:rPr lang="en-AU" dirty="0" smtClean="0"/>
              <a:t>Verifying acceptable destinations, </a:t>
            </a:r>
            <a:br>
              <a:rPr lang="en-AU" dirty="0" smtClean="0"/>
            </a:br>
            <a:r>
              <a:rPr lang="en-AU" dirty="0" smtClean="0"/>
              <a:t>en</a:t>
            </a:r>
            <a:r>
              <a:rPr lang="en-AU" dirty="0"/>
              <a:t>-</a:t>
            </a:r>
            <a:r>
              <a:rPr lang="en-AU" dirty="0" smtClean="0"/>
              <a:t>route destinations and countries</a:t>
            </a:r>
          </a:p>
          <a:p>
            <a:r>
              <a:rPr lang="en-AU" dirty="0"/>
              <a:t>Identifying minimum stay provisions, where applicable</a:t>
            </a:r>
          </a:p>
          <a:p>
            <a:r>
              <a:rPr lang="en-AU" dirty="0"/>
              <a:t>Identifying relative distances involved, where applicable</a:t>
            </a:r>
          </a:p>
          <a:p>
            <a:r>
              <a:rPr lang="en-AU" dirty="0"/>
              <a:t>Catering for circle trips, where </a:t>
            </a:r>
            <a:r>
              <a:rPr lang="en-AU" dirty="0" smtClean="0"/>
              <a:t>necessary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652120" y="2780928"/>
            <a:ext cx="2682478" cy="178648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6.3	Identify options that enable open jaw </a:t>
            </a:r>
            <a:r>
              <a:rPr lang="en-AU" sz="2800" dirty="0" smtClean="0">
                <a:latin typeface="Helvetica"/>
                <a:ea typeface="Calibri"/>
                <a:cs typeface="Calibri"/>
              </a:rPr>
              <a:t>	journeys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484784"/>
            <a:ext cx="8003232" cy="5184576"/>
          </a:xfrm>
        </p:spPr>
        <p:txBody>
          <a:bodyPr>
            <a:normAutofit/>
          </a:bodyPr>
          <a:lstStyle/>
          <a:p>
            <a:pPr marL="935990" indent="-935990">
              <a:spcBef>
                <a:spcPts val="1200"/>
              </a:spcBef>
              <a:spcAft>
                <a:spcPts val="1200"/>
              </a:spcAft>
            </a:pPr>
            <a:r>
              <a:rPr lang="en-AU" sz="2200" dirty="0">
                <a:latin typeface="Helvetica"/>
                <a:ea typeface="Calibri"/>
                <a:cs typeface="Times New Roman"/>
              </a:rPr>
              <a:t>Types of open jaw journeys</a:t>
            </a:r>
            <a:endParaRPr lang="en-AU" sz="2200" dirty="0">
              <a:latin typeface="Helvetica"/>
              <a:ea typeface="Times New Roman"/>
              <a:cs typeface="Times New Roman"/>
            </a:endParaRPr>
          </a:p>
          <a:p>
            <a:endParaRPr lang="en-AU" sz="2200" dirty="0" smtClean="0"/>
          </a:p>
          <a:p>
            <a:endParaRPr lang="en-AU" sz="2200" dirty="0" smtClean="0"/>
          </a:p>
          <a:p>
            <a:endParaRPr lang="en-AU" sz="2200" dirty="0" smtClean="0"/>
          </a:p>
          <a:p>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42</a:t>
            </a:fld>
            <a:endParaRPr lang="en-US" dirty="0">
              <a:solidFill>
                <a:srgbClr val="4E5B6F">
                  <a:shade val="50000"/>
                </a:srgbClr>
              </a:solidFill>
            </a:endParaRPr>
          </a:p>
        </p:txBody>
      </p:sp>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9672" y="2132856"/>
            <a:ext cx="5726113" cy="452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21420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6.3	Identify options that enable open jaw </a:t>
            </a:r>
            <a:r>
              <a:rPr lang="en-AU" sz="2800" dirty="0" smtClean="0">
                <a:latin typeface="Helvetica"/>
                <a:ea typeface="Calibri"/>
                <a:cs typeface="Calibri"/>
              </a:rPr>
              <a:t>	journeys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484784"/>
            <a:ext cx="7787208" cy="5184576"/>
          </a:xfrm>
        </p:spPr>
        <p:txBody>
          <a:bodyPr>
            <a:normAutofit/>
          </a:bodyPr>
          <a:lstStyle/>
          <a:p>
            <a:pPr>
              <a:spcBef>
                <a:spcPts val="400"/>
              </a:spcBef>
              <a:spcAft>
                <a:spcPts val="800"/>
              </a:spcAft>
            </a:pPr>
            <a:r>
              <a:rPr lang="en-AU" dirty="0" smtClean="0">
                <a:latin typeface="Helvetica"/>
                <a:ea typeface="Calibri"/>
                <a:cs typeface="Calibri"/>
              </a:rPr>
              <a:t>Open </a:t>
            </a:r>
            <a:r>
              <a:rPr lang="en-AU" dirty="0">
                <a:latin typeface="Helvetica"/>
                <a:ea typeface="Calibri"/>
                <a:cs typeface="Calibri"/>
              </a:rPr>
              <a:t>Jaw itinerary and </a:t>
            </a:r>
            <a:r>
              <a:rPr lang="en-AU" dirty="0" smtClean="0">
                <a:latin typeface="Helvetica"/>
                <a:ea typeface="Calibri"/>
                <a:cs typeface="Calibri"/>
              </a:rPr>
              <a:t>Journeys</a:t>
            </a:r>
          </a:p>
          <a:p>
            <a:pPr marL="36576" indent="0">
              <a:spcBef>
                <a:spcPts val="400"/>
              </a:spcBef>
              <a:spcAft>
                <a:spcPts val="800"/>
              </a:spcAft>
              <a:buNone/>
            </a:pPr>
            <a:endParaRPr lang="en-AU" dirty="0" smtClean="0">
              <a:latin typeface="Helvetica"/>
            </a:endParaRPr>
          </a:p>
          <a:p>
            <a:pPr>
              <a:spcBef>
                <a:spcPts val="400"/>
              </a:spcBef>
              <a:spcAft>
                <a:spcPts val="800"/>
              </a:spcAft>
            </a:pPr>
            <a:endParaRPr lang="en-AU" dirty="0" smtClean="0">
              <a:latin typeface="Helvetica"/>
            </a:endParaRPr>
          </a:p>
          <a:p>
            <a:pPr>
              <a:spcBef>
                <a:spcPts val="400"/>
              </a:spcBef>
              <a:spcAft>
                <a:spcPts val="800"/>
              </a:spcAft>
            </a:pPr>
            <a:endParaRPr lang="en-AU" dirty="0">
              <a:latin typeface="Helvetica"/>
            </a:endParaRPr>
          </a:p>
          <a:p>
            <a:pPr>
              <a:spcBef>
                <a:spcPts val="400"/>
              </a:spcBef>
              <a:spcAft>
                <a:spcPts val="800"/>
              </a:spcAft>
            </a:pPr>
            <a:endParaRPr lang="en-AU" dirty="0" smtClean="0"/>
          </a:p>
          <a:p>
            <a:pPr>
              <a:spcBef>
                <a:spcPts val="400"/>
              </a:spcBef>
              <a:spcAft>
                <a:spcPts val="800"/>
              </a:spcAft>
            </a:pPr>
            <a:r>
              <a:rPr lang="en-AU" dirty="0">
                <a:latin typeface="Helvetica"/>
                <a:ea typeface="Calibri"/>
                <a:cs typeface="Calibri"/>
              </a:rPr>
              <a:t>Codeshare flights </a:t>
            </a:r>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43</a:t>
            </a:fld>
            <a:endParaRPr lang="en-US" dirty="0">
              <a:solidFill>
                <a:srgbClr val="4E5B6F">
                  <a:shade val="50000"/>
                </a:srgbClr>
              </a:solidFill>
            </a:endParaRPr>
          </a:p>
        </p:txBody>
      </p:sp>
      <p:pic>
        <p:nvPicPr>
          <p:cNvPr id="7" name="Picture 6"/>
          <p:cNvPicPr/>
          <p:nvPr/>
        </p:nvPicPr>
        <p:blipFill rotWithShape="1">
          <a:blip r:embed="rId3" cstate="print"/>
          <a:srcRect l="24425" t="26667" r="11494" b="51724"/>
          <a:stretch/>
        </p:blipFill>
        <p:spPr bwMode="auto">
          <a:xfrm>
            <a:off x="856184" y="1988840"/>
            <a:ext cx="5372000" cy="1728192"/>
          </a:xfrm>
          <a:prstGeom prst="rect">
            <a:avLst/>
          </a:prstGeom>
          <a:ln>
            <a:noFill/>
          </a:ln>
          <a:extLst>
            <a:ext uri="{53640926-AAD7-44D8-BBD7-CCE9431645EC}">
              <a14:shadowObscured xmlns:a14="http://schemas.microsoft.com/office/drawing/2010/main"/>
            </a:ext>
          </a:extLst>
        </p:spPr>
      </p:pic>
      <p:pic>
        <p:nvPicPr>
          <p:cNvPr id="8" name="Picture 7"/>
          <p:cNvPicPr/>
          <p:nvPr/>
        </p:nvPicPr>
        <p:blipFill rotWithShape="1">
          <a:blip r:embed="rId4" cstate="print"/>
          <a:srcRect l="24935" t="26862" r="11236" b="44680"/>
          <a:stretch/>
        </p:blipFill>
        <p:spPr bwMode="auto">
          <a:xfrm>
            <a:off x="856184" y="4437112"/>
            <a:ext cx="5372000" cy="201622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921420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6.3	Identify options that enable open jaw 	journeys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484784"/>
            <a:ext cx="7787208" cy="5184576"/>
          </a:xfrm>
        </p:spPr>
        <p:txBody>
          <a:bodyPr>
            <a:normAutofit/>
          </a:bodyPr>
          <a:lstStyle/>
          <a:p>
            <a:pPr>
              <a:spcBef>
                <a:spcPts val="400"/>
              </a:spcBef>
              <a:spcAft>
                <a:spcPts val="800"/>
              </a:spcAft>
            </a:pPr>
            <a:r>
              <a:rPr lang="en-AU" dirty="0">
                <a:latin typeface="Helvetica"/>
                <a:ea typeface="Calibri"/>
                <a:cs typeface="Calibri"/>
              </a:rPr>
              <a:t>Online and interline transfers</a:t>
            </a:r>
            <a:endParaRPr lang="en-AU" dirty="0" smtClean="0">
              <a:latin typeface="Helvetica"/>
            </a:endParaRPr>
          </a:p>
          <a:p>
            <a:pPr>
              <a:spcBef>
                <a:spcPts val="400"/>
              </a:spcBef>
              <a:spcAft>
                <a:spcPts val="800"/>
              </a:spcAft>
            </a:pPr>
            <a:endParaRPr lang="en-AU" dirty="0" smtClean="0">
              <a:latin typeface="Helvetica"/>
            </a:endParaRPr>
          </a:p>
          <a:p>
            <a:pPr>
              <a:spcBef>
                <a:spcPts val="400"/>
              </a:spcBef>
              <a:spcAft>
                <a:spcPts val="800"/>
              </a:spcAft>
            </a:pPr>
            <a:endParaRPr lang="en-AU" dirty="0">
              <a:latin typeface="Helvetica"/>
            </a:endParaRPr>
          </a:p>
          <a:p>
            <a:pPr>
              <a:spcBef>
                <a:spcPts val="400"/>
              </a:spcBef>
              <a:spcAft>
                <a:spcPts val="800"/>
              </a:spcAft>
            </a:pPr>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44</a:t>
            </a:fld>
            <a:endParaRPr lang="en-US" dirty="0">
              <a:solidFill>
                <a:srgbClr val="4E5B6F">
                  <a:shade val="50000"/>
                </a:srgbClr>
              </a:solidFill>
            </a:endParaRPr>
          </a:p>
        </p:txBody>
      </p:sp>
      <p:pic>
        <p:nvPicPr>
          <p:cNvPr id="9" name="Picture 8"/>
          <p:cNvPicPr/>
          <p:nvPr/>
        </p:nvPicPr>
        <p:blipFill rotWithShape="1">
          <a:blip r:embed="rId3" cstate="print"/>
          <a:srcRect l="25099" t="27393" r="11902" b="50266"/>
          <a:stretch/>
        </p:blipFill>
        <p:spPr bwMode="auto">
          <a:xfrm>
            <a:off x="683568" y="2060848"/>
            <a:ext cx="5472608" cy="19442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4392655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673424"/>
            <a:ext cx="8280920" cy="5184576"/>
          </a:xfrm>
        </p:spPr>
        <p:txBody>
          <a:bodyPr>
            <a:normAutofit/>
          </a:bodyPr>
          <a:lstStyle/>
          <a:p>
            <a:pPr marL="935990" indent="-935990">
              <a:spcBef>
                <a:spcPts val="900"/>
              </a:spcBef>
              <a:spcAft>
                <a:spcPts val="900"/>
              </a:spcAft>
            </a:pPr>
            <a:r>
              <a:rPr lang="en-AU" dirty="0">
                <a:latin typeface="Helvetica"/>
                <a:ea typeface="Times New Roman"/>
                <a:cs typeface="Times New Roman"/>
              </a:rPr>
              <a:t>Booking </a:t>
            </a:r>
            <a:r>
              <a:rPr lang="en-AU" dirty="0" smtClean="0">
                <a:latin typeface="Helvetica"/>
                <a:ea typeface="Times New Roman"/>
                <a:cs typeface="Times New Roman"/>
              </a:rPr>
              <a:t>classes</a:t>
            </a:r>
          </a:p>
          <a:p>
            <a:pPr marL="935990" indent="-935990">
              <a:spcBef>
                <a:spcPts val="900"/>
              </a:spcBef>
              <a:spcAft>
                <a:spcPts val="900"/>
              </a:spcAft>
            </a:pPr>
            <a:endParaRPr lang="en-AU" dirty="0">
              <a:latin typeface="Helvetica"/>
              <a:ea typeface="Times New Roman"/>
              <a:cs typeface="Times New Roman"/>
            </a:endParaRPr>
          </a:p>
          <a:p>
            <a:pPr marL="935990" indent="-935990">
              <a:spcBef>
                <a:spcPts val="900"/>
              </a:spcBef>
              <a:spcAft>
                <a:spcPts val="900"/>
              </a:spcAft>
            </a:pPr>
            <a:endParaRPr lang="en-AU" dirty="0" smtClean="0">
              <a:latin typeface="Helvetica"/>
              <a:ea typeface="Times New Roman"/>
              <a:cs typeface="Times New Roman"/>
            </a:endParaRPr>
          </a:p>
          <a:p>
            <a:pPr marL="935990" indent="-935990">
              <a:spcBef>
                <a:spcPts val="900"/>
              </a:spcBef>
              <a:spcAft>
                <a:spcPts val="900"/>
              </a:spcAft>
            </a:pPr>
            <a:endParaRPr lang="en-AU" dirty="0">
              <a:latin typeface="Helvetica"/>
              <a:ea typeface="Times New Roman"/>
              <a:cs typeface="Times New Roman"/>
            </a:endParaRPr>
          </a:p>
          <a:p>
            <a:pPr marL="935990" indent="-935990">
              <a:spcBef>
                <a:spcPts val="900"/>
              </a:spcBef>
              <a:spcAft>
                <a:spcPts val="900"/>
              </a:spcAft>
            </a:pPr>
            <a:endParaRPr lang="en-AU" dirty="0" smtClean="0">
              <a:latin typeface="Helvetica"/>
              <a:ea typeface="Times New Roman"/>
              <a:cs typeface="Times New Roman"/>
            </a:endParaRPr>
          </a:p>
          <a:p>
            <a:pPr marL="448056" lvl="1" indent="0">
              <a:spcBef>
                <a:spcPts val="400"/>
              </a:spcBef>
              <a:spcAft>
                <a:spcPts val="800"/>
              </a:spcAft>
              <a:buNone/>
            </a:pPr>
            <a:r>
              <a:rPr lang="en-AU" sz="1800" dirty="0">
                <a:latin typeface="Helvetica"/>
                <a:ea typeface="Calibri"/>
                <a:cs typeface="Calibri"/>
              </a:rPr>
              <a:t>The screen above shows that on Qantas flight QF94, there are four classes of travel and the number of seats available for </a:t>
            </a:r>
            <a:r>
              <a:rPr lang="en-AU" sz="1800" dirty="0" smtClean="0">
                <a:latin typeface="Helvetica"/>
                <a:ea typeface="Calibri"/>
                <a:cs typeface="Calibri"/>
              </a:rPr>
              <a:t>each</a:t>
            </a:r>
            <a:endParaRPr lang="en-AU" sz="1800" dirty="0">
              <a:latin typeface="Helvetica"/>
              <a:ea typeface="Calibri"/>
              <a:cs typeface="Calibri"/>
            </a:endParaRPr>
          </a:p>
          <a:p>
            <a:pPr marL="935990" indent="-935990">
              <a:spcBef>
                <a:spcPts val="900"/>
              </a:spcBef>
              <a:spcAft>
                <a:spcPts val="900"/>
              </a:spcAft>
            </a:pPr>
            <a:endParaRPr lang="en-AU" dirty="0">
              <a:latin typeface="Helvetica"/>
              <a:ea typeface="Times New Roman"/>
              <a:cs typeface="Times New Roman"/>
            </a:endParaRPr>
          </a:p>
          <a:p>
            <a:pPr>
              <a:spcBef>
                <a:spcPts val="400"/>
              </a:spcBef>
              <a:spcAft>
                <a:spcPts val="800"/>
              </a:spcAft>
            </a:pPr>
            <a:endParaRPr lang="en-AU" dirty="0" smtClean="0">
              <a:latin typeface="Helvetica"/>
            </a:endParaRPr>
          </a:p>
          <a:p>
            <a:pPr>
              <a:spcBef>
                <a:spcPts val="400"/>
              </a:spcBef>
              <a:spcAft>
                <a:spcPts val="800"/>
              </a:spcAft>
            </a:pPr>
            <a:endParaRPr lang="en-AU" dirty="0">
              <a:latin typeface="Helvetica"/>
            </a:endParaRPr>
          </a:p>
          <a:p>
            <a:pPr>
              <a:spcBef>
                <a:spcPts val="400"/>
              </a:spcBef>
              <a:spcAft>
                <a:spcPts val="800"/>
              </a:spcAft>
            </a:pPr>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45</a:t>
            </a:fld>
            <a:endParaRPr lang="en-US" dirty="0">
              <a:solidFill>
                <a:srgbClr val="4E5B6F">
                  <a:shade val="50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659336214"/>
              </p:ext>
            </p:extLst>
          </p:nvPr>
        </p:nvGraphicFramePr>
        <p:xfrm>
          <a:off x="395536" y="2420888"/>
          <a:ext cx="8435280" cy="1944216"/>
        </p:xfrm>
        <a:graphic>
          <a:graphicData uri="http://schemas.openxmlformats.org/drawingml/2006/table">
            <a:tbl>
              <a:tblPr firstRow="1" firstCol="1" bandRow="1">
                <a:tableStyleId>{5C22544A-7EE6-4342-B048-85BDC9FD1C3A}</a:tableStyleId>
              </a:tblPr>
              <a:tblGrid>
                <a:gridCol w="8435280"/>
              </a:tblGrid>
              <a:tr h="1944216">
                <a:tc>
                  <a:txBody>
                    <a:bodyPr/>
                    <a:lstStyle/>
                    <a:p>
                      <a:pPr>
                        <a:spcBef>
                          <a:spcPts val="400"/>
                        </a:spcBef>
                        <a:spcAft>
                          <a:spcPts val="800"/>
                        </a:spcAft>
                      </a:pPr>
                      <a:r>
                        <a:rPr lang="en-AU" sz="1600" dirty="0">
                          <a:effectLst/>
                          <a:latin typeface="Helvetica" pitchFamily="34" charset="0"/>
                        </a:rPr>
                        <a:t>FRI 26JUL LOS ANGELES /MELBOURNE                          *QANTAS</a:t>
                      </a:r>
                    </a:p>
                    <a:p>
                      <a:pPr>
                        <a:spcBef>
                          <a:spcPts val="400"/>
                        </a:spcBef>
                        <a:spcAft>
                          <a:spcPts val="800"/>
                        </a:spcAft>
                      </a:pPr>
                      <a:r>
                        <a:rPr lang="en-AU" sz="1600" dirty="0">
                          <a:effectLst/>
                          <a:latin typeface="Helvetica" pitchFamily="34" charset="0"/>
                        </a:rPr>
                        <a:t>1 LAX MEL 26/2330*0820  QF  94 F9 A9 J9 C9 D4 I3 W9 R6 T0 Y8 B7 H8 K3 </a:t>
                      </a:r>
                    </a:p>
                    <a:p>
                      <a:pPr>
                        <a:spcBef>
                          <a:spcPts val="400"/>
                        </a:spcBef>
                        <a:spcAft>
                          <a:spcPts val="800"/>
                        </a:spcAft>
                      </a:pPr>
                      <a:r>
                        <a:rPr lang="en-AU" sz="1600" dirty="0">
                          <a:effectLst/>
                          <a:latin typeface="Helvetica" pitchFamily="34" charset="0"/>
                        </a:rPr>
                        <a:t>                                                        M0 L0 VC SC NC QC OC </a:t>
                      </a:r>
                      <a:endParaRPr lang="en-AU" sz="1600" dirty="0">
                        <a:effectLst/>
                        <a:latin typeface="Helvetica"/>
                        <a:ea typeface="Calibri"/>
                        <a:cs typeface="Calibri"/>
                      </a:endParaRPr>
                    </a:p>
                  </a:txBody>
                  <a:tcPr marL="59151" marR="59151" marT="0" marB="0"/>
                </a:tc>
              </a:tr>
            </a:tbl>
          </a:graphicData>
        </a:graphic>
      </p:graphicFrame>
      <p:sp>
        <p:nvSpPr>
          <p:cNvPr id="7" name="Title 1"/>
          <p:cNvSpPr>
            <a:spLocks noGrp="1"/>
          </p:cNvSpPr>
          <p:nvPr>
            <p:ph type="title"/>
          </p:nvPr>
        </p:nvSpPr>
        <p:spPr>
          <a:xfrm>
            <a:off x="457200" y="274638"/>
            <a:ext cx="7467600" cy="1143000"/>
          </a:xfrm>
        </p:spPr>
        <p:txBody>
          <a:bodyPr>
            <a:normAutofit/>
          </a:bodyPr>
          <a:lstStyle/>
          <a:p>
            <a:r>
              <a:rPr lang="en-AU" sz="2800" dirty="0">
                <a:latin typeface="Helvetica"/>
                <a:ea typeface="Calibri"/>
                <a:cs typeface="Calibri"/>
              </a:rPr>
              <a:t>6.3	Identify options that enable open jaw 	journeys</a:t>
            </a:r>
            <a:endParaRPr lang="en-AU" sz="2800" dirty="0">
              <a:effectLst/>
              <a:latin typeface="Helvetica"/>
              <a:ea typeface="Calibri"/>
              <a:cs typeface="Calibri"/>
            </a:endParaRPr>
          </a:p>
        </p:txBody>
      </p:sp>
    </p:spTree>
    <p:extLst>
      <p:ext uri="{BB962C8B-B14F-4D97-AF65-F5344CB8AC3E}">
        <p14:creationId xmlns:p14="http://schemas.microsoft.com/office/powerpoint/2010/main" val="8504172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6 </a:t>
            </a:r>
            <a:r>
              <a:rPr lang="en-AU" sz="3000" dirty="0"/>
              <a:t>- </a:t>
            </a:r>
            <a:r>
              <a:rPr lang="en-AU" sz="3000" dirty="0">
                <a:latin typeface="Helvetica"/>
                <a:ea typeface="Calibri"/>
                <a:cs typeface="Calibri"/>
              </a:rPr>
              <a:t>Identify options that enable open jaw journeys</a:t>
            </a:r>
            <a:endParaRPr lang="en-AU" sz="3000" dirty="0"/>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6</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46</a:t>
            </a:fld>
            <a:endParaRPr lang="en-US" dirty="0">
              <a:solidFill>
                <a:srgbClr val="4E5B6F">
                  <a:shade val="50000"/>
                </a:srgbClr>
              </a:solidFill>
            </a:endParaRPr>
          </a:p>
        </p:txBody>
      </p:sp>
    </p:spTree>
    <p:extLst>
      <p:ext uri="{BB962C8B-B14F-4D97-AF65-F5344CB8AC3E}">
        <p14:creationId xmlns:p14="http://schemas.microsoft.com/office/powerpoint/2010/main" val="137132372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7: Apply the pricing unit concept to fares</a:t>
            </a:r>
            <a:endParaRPr lang="en-US" dirty="0"/>
          </a:p>
        </p:txBody>
      </p:sp>
      <p:sp>
        <p:nvSpPr>
          <p:cNvPr id="3" name="Content Placeholder 2"/>
          <p:cNvSpPr>
            <a:spLocks noGrp="1"/>
          </p:cNvSpPr>
          <p:nvPr>
            <p:ph idx="1"/>
          </p:nvPr>
        </p:nvSpPr>
        <p:spPr>
          <a:xfrm>
            <a:off x="457199" y="1988840"/>
            <a:ext cx="5284761" cy="4137323"/>
          </a:xfrm>
        </p:spPr>
        <p:txBody>
          <a:bodyPr/>
          <a:lstStyle/>
          <a:p>
            <a:pPr marL="0" indent="0">
              <a:buNone/>
            </a:pPr>
            <a:r>
              <a:rPr lang="en-AU" dirty="0" smtClean="0"/>
              <a:t>Performance Criteria for this Element are:</a:t>
            </a:r>
          </a:p>
          <a:p>
            <a:pPr marL="36576" indent="0">
              <a:lnSpc>
                <a:spcPct val="115000"/>
              </a:lnSpc>
              <a:spcAft>
                <a:spcPts val="1000"/>
              </a:spcAft>
              <a:buNone/>
            </a:pPr>
            <a:r>
              <a:rPr lang="en-AU" dirty="0">
                <a:solidFill>
                  <a:srgbClr val="92D050"/>
                </a:solidFill>
                <a:latin typeface="Helvetica"/>
                <a:ea typeface="Calibri"/>
                <a:cs typeface="Calibri"/>
              </a:rPr>
              <a:t>7.1</a:t>
            </a:r>
            <a:r>
              <a:rPr lang="en-AU" dirty="0">
                <a:latin typeface="Helvetica"/>
                <a:ea typeface="Calibri"/>
                <a:cs typeface="Calibri"/>
              </a:rPr>
              <a:t>	Divide fare journey into </a:t>
            </a:r>
            <a:r>
              <a:rPr lang="en-AU" dirty="0" smtClean="0">
                <a:latin typeface="Helvetica"/>
                <a:ea typeface="Calibri"/>
                <a:cs typeface="Calibri"/>
              </a:rPr>
              <a:t>	individual 	pricing </a:t>
            </a:r>
            <a:r>
              <a:rPr lang="en-AU" dirty="0">
                <a:latin typeface="Helvetica"/>
                <a:ea typeface="Calibri"/>
                <a:cs typeface="Calibri"/>
              </a:rPr>
              <a:t>units</a:t>
            </a:r>
          </a:p>
          <a:p>
            <a:pPr marL="36576" indent="0">
              <a:lnSpc>
                <a:spcPct val="115000"/>
              </a:lnSpc>
              <a:spcAft>
                <a:spcPts val="1000"/>
              </a:spcAft>
              <a:buNone/>
            </a:pPr>
            <a:r>
              <a:rPr lang="en-AU" dirty="0">
                <a:solidFill>
                  <a:srgbClr val="92D050"/>
                </a:solidFill>
                <a:latin typeface="Helvetica"/>
                <a:ea typeface="Calibri"/>
                <a:cs typeface="Calibri"/>
              </a:rPr>
              <a:t>7.2</a:t>
            </a:r>
            <a:r>
              <a:rPr lang="en-AU" dirty="0">
                <a:latin typeface="Helvetica"/>
                <a:ea typeface="Calibri"/>
                <a:cs typeface="Calibri"/>
              </a:rPr>
              <a:t>	Calculate lowest combination </a:t>
            </a:r>
            <a:r>
              <a:rPr lang="en-AU" dirty="0" smtClean="0">
                <a:latin typeface="Helvetica"/>
                <a:ea typeface="Calibri"/>
                <a:cs typeface="Calibri"/>
              </a:rPr>
              <a:t>of 	fares </a:t>
            </a:r>
            <a:r>
              <a:rPr lang="en-AU" dirty="0">
                <a:latin typeface="Helvetica"/>
                <a:ea typeface="Calibri"/>
                <a:cs typeface="Calibri"/>
              </a:rPr>
              <a:t>for given pricing units</a:t>
            </a:r>
            <a:endParaRPr lang="en-AU" dirty="0">
              <a:effectLst/>
              <a:latin typeface="Helvetica"/>
              <a:ea typeface="Calibri"/>
              <a:cs typeface="Calibri"/>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940152" y="2492896"/>
            <a:ext cx="2429272" cy="173072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7.1	Divide fare journey into individual </a:t>
            </a:r>
            <a:r>
              <a:rPr lang="en-AU" sz="2800" dirty="0" smtClean="0">
                <a:latin typeface="Helvetica"/>
                <a:ea typeface="Calibri"/>
                <a:cs typeface="Calibri"/>
              </a:rPr>
              <a:t>	pricing </a:t>
            </a:r>
            <a:r>
              <a:rPr lang="en-AU" sz="2800" dirty="0">
                <a:latin typeface="Helvetica"/>
                <a:ea typeface="Calibri"/>
                <a:cs typeface="Calibri"/>
              </a:rPr>
              <a:t>units</a:t>
            </a:r>
            <a:endParaRPr lang="en-AU" sz="2800" dirty="0">
              <a:effectLst/>
              <a:latin typeface="Helvetica"/>
              <a:ea typeface="Calibri"/>
              <a:cs typeface="Calibri"/>
            </a:endParaRPr>
          </a:p>
        </p:txBody>
      </p:sp>
      <p:sp>
        <p:nvSpPr>
          <p:cNvPr id="3" name="Content Placeholder 2"/>
          <p:cNvSpPr>
            <a:spLocks noGrp="1"/>
          </p:cNvSpPr>
          <p:nvPr>
            <p:ph idx="1"/>
          </p:nvPr>
        </p:nvSpPr>
        <p:spPr/>
        <p:txBody>
          <a:bodyPr/>
          <a:lstStyle/>
          <a:p>
            <a:pPr marL="36576" indent="0">
              <a:buNone/>
            </a:pPr>
            <a:r>
              <a:rPr lang="en-AU" dirty="0" smtClean="0"/>
              <a:t>Divide fare journey into individual pricing units</a:t>
            </a:r>
            <a:endParaRPr lang="en-US" dirty="0" smtClean="0"/>
          </a:p>
          <a:p>
            <a:r>
              <a:rPr lang="en-AU" dirty="0" smtClean="0"/>
              <a:t>Single fare</a:t>
            </a:r>
          </a:p>
          <a:p>
            <a:r>
              <a:rPr lang="en-AU" dirty="0" smtClean="0"/>
              <a:t>Return fare</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861320" cy="1908388"/>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6792"/>
            <a:ext cx="8003232" cy="4569371"/>
          </a:xfrm>
        </p:spPr>
        <p:txBody>
          <a:bodyPr/>
          <a:lstStyle/>
          <a:p>
            <a:pPr marL="36576" indent="0">
              <a:buNone/>
            </a:pPr>
            <a:r>
              <a:rPr lang="en-AU" dirty="0" smtClean="0"/>
              <a:t>Divide fare journey into individual pricing units</a:t>
            </a:r>
            <a:endParaRPr lang="en-US" dirty="0" smtClean="0"/>
          </a:p>
          <a:p>
            <a:pPr marL="935990" indent="-935990">
              <a:spcBef>
                <a:spcPts val="1200"/>
              </a:spcBef>
              <a:spcAft>
                <a:spcPts val="1200"/>
              </a:spcAft>
            </a:pPr>
            <a:r>
              <a:rPr lang="en-AU" dirty="0" smtClean="0">
                <a:latin typeface="Helvetica"/>
                <a:ea typeface="Times New Roman"/>
                <a:cs typeface="Times New Roman"/>
              </a:rPr>
              <a:t>One </a:t>
            </a:r>
            <a:r>
              <a:rPr lang="en-AU" dirty="0">
                <a:latin typeface="Helvetica"/>
                <a:ea typeface="Times New Roman"/>
                <a:cs typeface="Times New Roman"/>
              </a:rPr>
              <a:t>way </a:t>
            </a:r>
            <a:r>
              <a:rPr lang="en-AU" dirty="0" smtClean="0">
                <a:latin typeface="Helvetica"/>
                <a:ea typeface="Times New Roman"/>
                <a:cs typeface="Times New Roman"/>
              </a:rPr>
              <a:t>journey</a:t>
            </a:r>
            <a:endParaRPr lang="en-AU" dirty="0">
              <a:latin typeface="Helvetica"/>
              <a:ea typeface="Times New Roman"/>
              <a:cs typeface="Times New Roman"/>
            </a:endParaRPr>
          </a:p>
          <a:p>
            <a:endParaRPr lang="en-US"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49</a:t>
            </a:fld>
            <a:endParaRPr lang="en-US" dirty="0">
              <a:solidFill>
                <a:srgbClr val="4E5B6F">
                  <a:shade val="50000"/>
                </a:srgbClr>
              </a:solidFill>
            </a:endParaRPr>
          </a:p>
        </p:txBody>
      </p:sp>
      <p:pic>
        <p:nvPicPr>
          <p:cNvPr id="7" name="Picture 6"/>
          <p:cNvPicPr/>
          <p:nvPr/>
        </p:nvPicPr>
        <p:blipFill rotWithShape="1">
          <a:blip r:embed="rId3" cstate="print"/>
          <a:srcRect l="24934" t="26862" r="11070" b="31915"/>
          <a:stretch/>
        </p:blipFill>
        <p:spPr bwMode="auto">
          <a:xfrm>
            <a:off x="539552" y="2636912"/>
            <a:ext cx="8136904" cy="3751555"/>
          </a:xfrm>
          <a:prstGeom prst="rect">
            <a:avLst/>
          </a:prstGeom>
          <a:ln>
            <a:noFill/>
          </a:ln>
          <a:extLst>
            <a:ext uri="{53640926-AAD7-44D8-BBD7-CCE9431645EC}">
              <a14:shadowObscured xmlns:a14="http://schemas.microsoft.com/office/drawing/2010/main"/>
            </a:ext>
          </a:extLst>
        </p:spPr>
      </p:pic>
      <p:sp>
        <p:nvSpPr>
          <p:cNvPr id="8" name="Title 1"/>
          <p:cNvSpPr>
            <a:spLocks noGrp="1"/>
          </p:cNvSpPr>
          <p:nvPr>
            <p:ph type="title"/>
          </p:nvPr>
        </p:nvSpPr>
        <p:spPr>
          <a:xfrm>
            <a:off x="457200" y="274638"/>
            <a:ext cx="7467600" cy="1143000"/>
          </a:xfrm>
        </p:spPr>
        <p:txBody>
          <a:bodyPr>
            <a:normAutofit/>
          </a:bodyPr>
          <a:lstStyle/>
          <a:p>
            <a:r>
              <a:rPr lang="en-AU" sz="2800" dirty="0">
                <a:latin typeface="Helvetica"/>
                <a:ea typeface="Calibri"/>
                <a:cs typeface="Calibri"/>
              </a:rPr>
              <a:t>7.1	Divide fare journey into individual </a:t>
            </a:r>
            <a:r>
              <a:rPr lang="en-AU" sz="2800" dirty="0" smtClean="0">
                <a:latin typeface="Helvetica"/>
                <a:ea typeface="Calibri"/>
                <a:cs typeface="Calibri"/>
              </a:rPr>
              <a:t>	pricing </a:t>
            </a:r>
            <a:r>
              <a:rPr lang="en-AU" sz="2800" dirty="0">
                <a:latin typeface="Helvetica"/>
                <a:ea typeface="Calibri"/>
                <a:cs typeface="Calibri"/>
              </a:rPr>
              <a:t>units</a:t>
            </a:r>
            <a:endParaRPr lang="en-AU" sz="2800" dirty="0">
              <a:effectLst/>
              <a:latin typeface="Helvetica"/>
              <a:ea typeface="Calibri"/>
              <a:cs typeface="Calibri"/>
            </a:endParaRPr>
          </a:p>
        </p:txBody>
      </p:sp>
    </p:spTree>
    <p:extLst>
      <p:ext uri="{BB962C8B-B14F-4D97-AF65-F5344CB8AC3E}">
        <p14:creationId xmlns:p14="http://schemas.microsoft.com/office/powerpoint/2010/main" val="25668859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6792"/>
            <a:ext cx="8075240" cy="4569371"/>
          </a:xfrm>
        </p:spPr>
        <p:txBody>
          <a:bodyPr/>
          <a:lstStyle/>
          <a:p>
            <a:pPr marL="935990" indent="-935990">
              <a:spcBef>
                <a:spcPts val="1200"/>
              </a:spcBef>
              <a:spcAft>
                <a:spcPts val="1200"/>
              </a:spcAft>
            </a:pPr>
            <a:r>
              <a:rPr lang="en-AU" dirty="0">
                <a:latin typeface="Helvetica"/>
                <a:ea typeface="Times New Roman"/>
                <a:cs typeface="Times New Roman"/>
              </a:rPr>
              <a:t>Availability - One way </a:t>
            </a:r>
            <a:r>
              <a:rPr lang="en-AU" dirty="0" smtClean="0">
                <a:latin typeface="Helvetica"/>
                <a:ea typeface="Times New Roman"/>
                <a:cs typeface="Times New Roman"/>
              </a:rPr>
              <a:t>journey</a:t>
            </a:r>
            <a:endParaRPr lang="en-AU" dirty="0">
              <a:effectLst/>
              <a:latin typeface="Helvetica"/>
              <a:ea typeface="Times New Roman"/>
              <a:cs typeface="Times New Roman"/>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50</a:t>
            </a:fld>
            <a:endParaRPr lang="en-US" dirty="0">
              <a:solidFill>
                <a:srgbClr val="4E5B6F">
                  <a:shade val="50000"/>
                </a:srgbClr>
              </a:solidFill>
            </a:endParaRPr>
          </a:p>
        </p:txBody>
      </p:sp>
      <p:pic>
        <p:nvPicPr>
          <p:cNvPr id="7" name="Picture 6"/>
          <p:cNvPicPr/>
          <p:nvPr/>
        </p:nvPicPr>
        <p:blipFill rotWithShape="1">
          <a:blip r:embed="rId3" cstate="print"/>
          <a:srcRect l="24935" t="26862" r="11236" b="29787"/>
          <a:stretch/>
        </p:blipFill>
        <p:spPr bwMode="auto">
          <a:xfrm>
            <a:off x="467544" y="2060848"/>
            <a:ext cx="8064896" cy="4165952"/>
          </a:xfrm>
          <a:prstGeom prst="rect">
            <a:avLst/>
          </a:prstGeom>
          <a:ln>
            <a:noFill/>
          </a:ln>
          <a:extLst>
            <a:ext uri="{53640926-AAD7-44D8-BBD7-CCE9431645EC}">
              <a14:shadowObscured xmlns:a14="http://schemas.microsoft.com/office/drawing/2010/main"/>
            </a:ext>
          </a:extLst>
        </p:spPr>
      </p:pic>
      <p:sp>
        <p:nvSpPr>
          <p:cNvPr id="8" name="Title 1"/>
          <p:cNvSpPr>
            <a:spLocks noGrp="1"/>
          </p:cNvSpPr>
          <p:nvPr>
            <p:ph type="title"/>
          </p:nvPr>
        </p:nvSpPr>
        <p:spPr>
          <a:xfrm>
            <a:off x="457200" y="274638"/>
            <a:ext cx="7467600" cy="1143000"/>
          </a:xfrm>
        </p:spPr>
        <p:txBody>
          <a:bodyPr>
            <a:normAutofit/>
          </a:bodyPr>
          <a:lstStyle/>
          <a:p>
            <a:r>
              <a:rPr lang="en-AU" sz="2800" dirty="0">
                <a:latin typeface="Helvetica"/>
                <a:ea typeface="Calibri"/>
                <a:cs typeface="Calibri"/>
              </a:rPr>
              <a:t>7.1	Divide fare journey into individual </a:t>
            </a:r>
            <a:r>
              <a:rPr lang="en-AU" sz="2800" dirty="0" smtClean="0">
                <a:latin typeface="Helvetica"/>
                <a:ea typeface="Calibri"/>
                <a:cs typeface="Calibri"/>
              </a:rPr>
              <a:t>	pricing </a:t>
            </a:r>
            <a:r>
              <a:rPr lang="en-AU" sz="2800" dirty="0">
                <a:latin typeface="Helvetica"/>
                <a:ea typeface="Calibri"/>
                <a:cs typeface="Calibri"/>
              </a:rPr>
              <a:t>units</a:t>
            </a:r>
            <a:endParaRPr lang="en-AU" sz="2800" dirty="0">
              <a:effectLst/>
              <a:latin typeface="Helvetica"/>
              <a:ea typeface="Calibri"/>
              <a:cs typeface="Calibri"/>
            </a:endParaRPr>
          </a:p>
        </p:txBody>
      </p:sp>
    </p:spTree>
    <p:extLst>
      <p:ext uri="{BB962C8B-B14F-4D97-AF65-F5344CB8AC3E}">
        <p14:creationId xmlns:p14="http://schemas.microsoft.com/office/powerpoint/2010/main" val="25668859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6792"/>
            <a:ext cx="8075240" cy="4569371"/>
          </a:xfrm>
        </p:spPr>
        <p:txBody>
          <a:bodyPr/>
          <a:lstStyle/>
          <a:p>
            <a:pPr marL="0" indent="0">
              <a:spcBef>
                <a:spcPts val="1200"/>
              </a:spcBef>
              <a:spcAft>
                <a:spcPts val="1200"/>
              </a:spcAft>
              <a:buNone/>
            </a:pPr>
            <a:r>
              <a:rPr lang="en-AU" dirty="0">
                <a:latin typeface="Helvetica"/>
                <a:ea typeface="Times New Roman"/>
                <a:cs typeface="Times New Roman"/>
              </a:rPr>
              <a:t>Availability – Return </a:t>
            </a:r>
            <a:r>
              <a:rPr lang="en-AU" dirty="0" smtClean="0">
                <a:latin typeface="Helvetica"/>
                <a:ea typeface="Times New Roman"/>
                <a:cs typeface="Times New Roman"/>
              </a:rPr>
              <a:t>journeys</a:t>
            </a:r>
          </a:p>
          <a:p>
            <a:pPr>
              <a:spcBef>
                <a:spcPts val="400"/>
              </a:spcBef>
              <a:spcAft>
                <a:spcPts val="800"/>
              </a:spcAft>
            </a:pPr>
            <a:r>
              <a:rPr lang="en-AU" dirty="0">
                <a:latin typeface="Helvetica"/>
                <a:ea typeface="Calibri"/>
                <a:cs typeface="Calibri"/>
              </a:rPr>
              <a:t>Qantas itinerary:</a:t>
            </a:r>
          </a:p>
          <a:p>
            <a:pPr marL="935990" indent="-935990">
              <a:spcBef>
                <a:spcPts val="1200"/>
              </a:spcBef>
              <a:spcAft>
                <a:spcPts val="1200"/>
              </a:spcAft>
            </a:pPr>
            <a:endParaRPr lang="en-AU" dirty="0" smtClean="0">
              <a:latin typeface="Helvetica"/>
              <a:ea typeface="Times New Roman"/>
              <a:cs typeface="Times New Roman"/>
            </a:endParaRPr>
          </a:p>
          <a:p>
            <a:pPr marL="0" indent="0">
              <a:spcBef>
                <a:spcPts val="1200"/>
              </a:spcBef>
              <a:spcAft>
                <a:spcPts val="1200"/>
              </a:spcAft>
              <a:buNone/>
            </a:pPr>
            <a:endParaRPr lang="en-AU" dirty="0" smtClean="0">
              <a:latin typeface="Helvetica"/>
              <a:ea typeface="Times New Roman"/>
              <a:cs typeface="Times New Roman"/>
            </a:endParaRPr>
          </a:p>
          <a:p>
            <a:pPr marL="0" indent="0">
              <a:spcBef>
                <a:spcPts val="1200"/>
              </a:spcBef>
              <a:spcAft>
                <a:spcPts val="1200"/>
              </a:spcAft>
              <a:buNone/>
            </a:pPr>
            <a:endParaRPr lang="en-AU" dirty="0">
              <a:latin typeface="Helvetica"/>
              <a:ea typeface="Times New Roman"/>
              <a:cs typeface="Times New Roman"/>
            </a:endParaRPr>
          </a:p>
          <a:p>
            <a:pPr>
              <a:spcBef>
                <a:spcPts val="400"/>
              </a:spcBef>
              <a:spcAft>
                <a:spcPts val="800"/>
              </a:spcAft>
            </a:pPr>
            <a:r>
              <a:rPr lang="en-AU" dirty="0">
                <a:latin typeface="Helvetica"/>
                <a:ea typeface="Calibri"/>
                <a:cs typeface="Calibri"/>
              </a:rPr>
              <a:t>Singapore Airlines itinerary</a:t>
            </a:r>
            <a:r>
              <a:rPr lang="en-AU" dirty="0" smtClean="0">
                <a:latin typeface="Helvetica"/>
                <a:ea typeface="Calibri"/>
                <a:cs typeface="Calibri"/>
              </a:rPr>
              <a:t>:</a:t>
            </a:r>
            <a:r>
              <a:rPr lang="en-AU" dirty="0" smtClean="0">
                <a:latin typeface="Helvetica"/>
                <a:ea typeface="Times New Roman"/>
                <a:cs typeface="Times New Roman"/>
              </a:rPr>
              <a:t> </a:t>
            </a:r>
            <a:endParaRPr lang="en-AU" dirty="0">
              <a:effectLst/>
              <a:latin typeface="Helvetica"/>
              <a:ea typeface="Times New Roman"/>
              <a:cs typeface="Times New Roman"/>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51</a:t>
            </a:fld>
            <a:endParaRPr lang="en-US" dirty="0">
              <a:solidFill>
                <a:srgbClr val="4E5B6F">
                  <a:shade val="50000"/>
                </a:srgbClr>
              </a:solidFill>
            </a:endParaRPr>
          </a:p>
        </p:txBody>
      </p:sp>
      <p:pic>
        <p:nvPicPr>
          <p:cNvPr id="6" name="Picture 5"/>
          <p:cNvPicPr/>
          <p:nvPr/>
        </p:nvPicPr>
        <p:blipFill rotWithShape="1">
          <a:blip r:embed="rId3" cstate="print"/>
          <a:srcRect l="24569" t="26667" r="11063" b="55632"/>
          <a:stretch/>
        </p:blipFill>
        <p:spPr bwMode="auto">
          <a:xfrm>
            <a:off x="827584" y="2420888"/>
            <a:ext cx="6552728" cy="1584176"/>
          </a:xfrm>
          <a:prstGeom prst="rect">
            <a:avLst/>
          </a:prstGeom>
          <a:ln>
            <a:noFill/>
          </a:ln>
          <a:extLst>
            <a:ext uri="{53640926-AAD7-44D8-BBD7-CCE9431645EC}">
              <a14:shadowObscured xmlns:a14="http://schemas.microsoft.com/office/drawing/2010/main"/>
            </a:ext>
          </a:extLst>
        </p:spPr>
      </p:pic>
      <p:pic>
        <p:nvPicPr>
          <p:cNvPr id="8" name="Picture 7"/>
          <p:cNvPicPr/>
          <p:nvPr/>
        </p:nvPicPr>
        <p:blipFill rotWithShape="1">
          <a:blip r:embed="rId4" cstate="print"/>
          <a:srcRect l="24425" t="26207" r="11207" b="42298"/>
          <a:stretch/>
        </p:blipFill>
        <p:spPr bwMode="auto">
          <a:xfrm>
            <a:off x="827584" y="4805916"/>
            <a:ext cx="6552728" cy="1944216"/>
          </a:xfrm>
          <a:prstGeom prst="rect">
            <a:avLst/>
          </a:prstGeom>
          <a:ln>
            <a:noFill/>
          </a:ln>
          <a:extLst>
            <a:ext uri="{53640926-AAD7-44D8-BBD7-CCE9431645EC}">
              <a14:shadowObscured xmlns:a14="http://schemas.microsoft.com/office/drawing/2010/main"/>
            </a:ext>
          </a:extLst>
        </p:spPr>
      </p:pic>
      <p:sp>
        <p:nvSpPr>
          <p:cNvPr id="9" name="Title 1"/>
          <p:cNvSpPr>
            <a:spLocks noGrp="1"/>
          </p:cNvSpPr>
          <p:nvPr>
            <p:ph type="title"/>
          </p:nvPr>
        </p:nvSpPr>
        <p:spPr>
          <a:xfrm>
            <a:off x="457200" y="274638"/>
            <a:ext cx="7467600" cy="1143000"/>
          </a:xfrm>
        </p:spPr>
        <p:txBody>
          <a:bodyPr>
            <a:normAutofit/>
          </a:bodyPr>
          <a:lstStyle/>
          <a:p>
            <a:r>
              <a:rPr lang="en-AU" sz="2800" dirty="0">
                <a:latin typeface="Helvetica"/>
                <a:ea typeface="Calibri"/>
                <a:cs typeface="Calibri"/>
              </a:rPr>
              <a:t>7.1	Divide fare journey into individual </a:t>
            </a:r>
            <a:r>
              <a:rPr lang="en-AU" sz="2800" dirty="0" smtClean="0">
                <a:latin typeface="Helvetica"/>
                <a:ea typeface="Calibri"/>
                <a:cs typeface="Calibri"/>
              </a:rPr>
              <a:t>	pricing </a:t>
            </a:r>
            <a:r>
              <a:rPr lang="en-AU" sz="2800" dirty="0">
                <a:latin typeface="Helvetica"/>
                <a:ea typeface="Calibri"/>
                <a:cs typeface="Calibri"/>
              </a:rPr>
              <a:t>units</a:t>
            </a:r>
            <a:endParaRPr lang="en-AU" sz="2800" dirty="0">
              <a:effectLst/>
              <a:latin typeface="Helvetica"/>
              <a:ea typeface="Calibri"/>
              <a:cs typeface="Calibri"/>
            </a:endParaRPr>
          </a:p>
        </p:txBody>
      </p:sp>
    </p:spTree>
    <p:extLst>
      <p:ext uri="{BB962C8B-B14F-4D97-AF65-F5344CB8AC3E}">
        <p14:creationId xmlns:p14="http://schemas.microsoft.com/office/powerpoint/2010/main" val="95003110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6792"/>
            <a:ext cx="8075240" cy="4824536"/>
          </a:xfrm>
        </p:spPr>
        <p:txBody>
          <a:bodyPr>
            <a:normAutofit lnSpcReduction="10000"/>
          </a:bodyPr>
          <a:lstStyle/>
          <a:p>
            <a:pPr marL="36576" indent="0">
              <a:spcBef>
                <a:spcPts val="400"/>
              </a:spcBef>
              <a:spcAft>
                <a:spcPts val="800"/>
              </a:spcAft>
              <a:buNone/>
            </a:pPr>
            <a:r>
              <a:rPr lang="en-AU" dirty="0" smtClean="0">
                <a:latin typeface="Helvetica"/>
                <a:ea typeface="Calibri"/>
                <a:cs typeface="Calibri"/>
              </a:rPr>
              <a:t>Terminology</a:t>
            </a:r>
            <a:endParaRPr lang="en-AU" dirty="0" smtClean="0">
              <a:solidFill>
                <a:srgbClr val="45545F"/>
              </a:solidFill>
              <a:latin typeface="Helvetica"/>
              <a:ea typeface="Times New Roman"/>
              <a:cs typeface="Times New Roman"/>
            </a:endParaRPr>
          </a:p>
          <a:p>
            <a:pPr>
              <a:spcBef>
                <a:spcPts val="400"/>
              </a:spcBef>
              <a:spcAft>
                <a:spcPts val="800"/>
              </a:spcAft>
            </a:pPr>
            <a:r>
              <a:rPr lang="en-AU" dirty="0" smtClean="0">
                <a:latin typeface="Helvetica"/>
                <a:ea typeface="Calibri"/>
                <a:cs typeface="Calibri"/>
              </a:rPr>
              <a:t>Return journeys</a:t>
            </a:r>
          </a:p>
          <a:p>
            <a:pPr>
              <a:spcBef>
                <a:spcPts val="400"/>
              </a:spcBef>
              <a:spcAft>
                <a:spcPts val="800"/>
              </a:spcAft>
            </a:pPr>
            <a:r>
              <a:rPr lang="en-AU" dirty="0" smtClean="0">
                <a:latin typeface="Helvetica"/>
                <a:ea typeface="Calibri"/>
                <a:cs typeface="Calibri"/>
              </a:rPr>
              <a:t>Origin</a:t>
            </a:r>
          </a:p>
          <a:p>
            <a:pPr>
              <a:spcBef>
                <a:spcPts val="400"/>
              </a:spcBef>
              <a:spcAft>
                <a:spcPts val="800"/>
              </a:spcAft>
            </a:pPr>
            <a:r>
              <a:rPr lang="en-AU" dirty="0" smtClean="0">
                <a:latin typeface="Helvetica"/>
                <a:ea typeface="Calibri"/>
                <a:cs typeface="Calibri"/>
              </a:rPr>
              <a:t>Destination.</a:t>
            </a:r>
          </a:p>
          <a:p>
            <a:pPr>
              <a:spcBef>
                <a:spcPts val="400"/>
              </a:spcBef>
              <a:spcAft>
                <a:spcPts val="800"/>
              </a:spcAft>
            </a:pPr>
            <a:r>
              <a:rPr lang="en-AU" dirty="0" smtClean="0">
                <a:latin typeface="Helvetica"/>
                <a:ea typeface="Calibri"/>
                <a:cs typeface="Calibri"/>
              </a:rPr>
              <a:t>Direct, non-stop flight</a:t>
            </a:r>
          </a:p>
          <a:p>
            <a:pPr>
              <a:spcBef>
                <a:spcPts val="400"/>
              </a:spcBef>
              <a:spcAft>
                <a:spcPts val="800"/>
              </a:spcAft>
            </a:pPr>
            <a:r>
              <a:rPr lang="en-AU" dirty="0" smtClean="0">
                <a:latin typeface="Helvetica"/>
                <a:ea typeface="Calibri"/>
                <a:cs typeface="Calibri"/>
              </a:rPr>
              <a:t>Online transfer</a:t>
            </a:r>
          </a:p>
          <a:p>
            <a:pPr>
              <a:spcBef>
                <a:spcPts val="400"/>
              </a:spcBef>
              <a:spcAft>
                <a:spcPts val="800"/>
              </a:spcAft>
            </a:pPr>
            <a:r>
              <a:rPr lang="en-AU" dirty="0" smtClean="0">
                <a:latin typeface="Helvetica"/>
                <a:ea typeface="Calibri"/>
                <a:cs typeface="Calibri"/>
              </a:rPr>
              <a:t>Outbound component</a:t>
            </a:r>
          </a:p>
          <a:p>
            <a:pPr>
              <a:spcBef>
                <a:spcPts val="400"/>
              </a:spcBef>
              <a:spcAft>
                <a:spcPts val="800"/>
              </a:spcAft>
            </a:pPr>
            <a:r>
              <a:rPr lang="en-AU" dirty="0" smtClean="0">
                <a:latin typeface="Helvetica"/>
                <a:ea typeface="Calibri"/>
                <a:cs typeface="Calibri"/>
              </a:rPr>
              <a:t>Stopover</a:t>
            </a:r>
          </a:p>
          <a:p>
            <a:pPr>
              <a:spcBef>
                <a:spcPts val="400"/>
              </a:spcBef>
              <a:spcAft>
                <a:spcPts val="800"/>
              </a:spcAft>
            </a:pPr>
            <a:r>
              <a:rPr lang="en-AU" dirty="0" smtClean="0">
                <a:latin typeface="Helvetica"/>
                <a:ea typeface="Calibri"/>
                <a:cs typeface="Calibri"/>
              </a:rPr>
              <a:t>Inbound component</a:t>
            </a:r>
          </a:p>
          <a:p>
            <a:pPr>
              <a:spcBef>
                <a:spcPts val="400"/>
              </a:spcBef>
              <a:spcAft>
                <a:spcPts val="800"/>
              </a:spcAft>
            </a:pPr>
            <a:r>
              <a:rPr lang="en-AU" dirty="0" smtClean="0">
                <a:latin typeface="Helvetica"/>
                <a:ea typeface="Calibri"/>
                <a:cs typeface="Calibri"/>
              </a:rPr>
              <a:t>Online transfer</a:t>
            </a:r>
          </a:p>
          <a:p>
            <a:pPr>
              <a:spcBef>
                <a:spcPts val="400"/>
              </a:spcBef>
              <a:spcAft>
                <a:spcPts val="800"/>
              </a:spcAft>
            </a:pPr>
            <a:r>
              <a:rPr lang="en-AU" dirty="0" smtClean="0">
                <a:latin typeface="Helvetica"/>
                <a:ea typeface="Calibri"/>
                <a:cs typeface="Calibri"/>
              </a:rPr>
              <a:t>Transit</a:t>
            </a:r>
            <a:endParaRPr lang="en-AU" dirty="0">
              <a:latin typeface="Helvetica"/>
              <a:ea typeface="Calibri"/>
              <a:cs typeface="Calibri"/>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52</a:t>
            </a:fld>
            <a:endParaRPr lang="en-US" dirty="0">
              <a:solidFill>
                <a:srgbClr val="4E5B6F">
                  <a:shade val="50000"/>
                </a:srgbClr>
              </a:solidFill>
            </a:endParaRPr>
          </a:p>
        </p:txBody>
      </p:sp>
      <p:sp>
        <p:nvSpPr>
          <p:cNvPr id="6" name="Title 1"/>
          <p:cNvSpPr>
            <a:spLocks noGrp="1"/>
          </p:cNvSpPr>
          <p:nvPr>
            <p:ph type="title"/>
          </p:nvPr>
        </p:nvSpPr>
        <p:spPr>
          <a:xfrm>
            <a:off x="457200" y="274638"/>
            <a:ext cx="7467600" cy="1143000"/>
          </a:xfrm>
        </p:spPr>
        <p:txBody>
          <a:bodyPr>
            <a:normAutofit/>
          </a:bodyPr>
          <a:lstStyle/>
          <a:p>
            <a:r>
              <a:rPr lang="en-AU" sz="2800" dirty="0">
                <a:latin typeface="Helvetica"/>
                <a:ea typeface="Calibri"/>
                <a:cs typeface="Calibri"/>
              </a:rPr>
              <a:t>7.1	Divide fare journey into individual </a:t>
            </a:r>
            <a:r>
              <a:rPr lang="en-AU" sz="2800" dirty="0" smtClean="0">
                <a:latin typeface="Helvetica"/>
                <a:ea typeface="Calibri"/>
                <a:cs typeface="Calibri"/>
              </a:rPr>
              <a:t>	pricing </a:t>
            </a:r>
            <a:r>
              <a:rPr lang="en-AU" sz="2800" dirty="0">
                <a:latin typeface="Helvetica"/>
                <a:ea typeface="Calibri"/>
                <a:cs typeface="Calibri"/>
              </a:rPr>
              <a:t>units</a:t>
            </a:r>
            <a:endParaRPr lang="en-AU" sz="2800" dirty="0">
              <a:effectLst/>
              <a:latin typeface="Helvetica"/>
              <a:ea typeface="Calibri"/>
              <a:cs typeface="Calibri"/>
            </a:endParaRPr>
          </a:p>
        </p:txBody>
      </p:sp>
      <p:pic>
        <p:nvPicPr>
          <p:cNvPr id="4098" name="Picture 2" descr="I:\Overseas Projects\PHOTOS\2014\Shutterstock 25-a-day\shutterstock_7885208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68" y="1920082"/>
            <a:ext cx="3048000" cy="292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3664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7.2	Calculate lowest combination of fares </a:t>
            </a:r>
            <a:r>
              <a:rPr lang="en-AU" sz="2800" dirty="0" smtClean="0">
                <a:latin typeface="Helvetica"/>
                <a:ea typeface="Calibri"/>
                <a:cs typeface="Calibri"/>
              </a:rPr>
              <a:t>	for </a:t>
            </a:r>
            <a:r>
              <a:rPr lang="en-AU" sz="2800" dirty="0">
                <a:latin typeface="Helvetica"/>
                <a:ea typeface="Calibri"/>
                <a:cs typeface="Calibri"/>
              </a:rPr>
              <a:t>given pricing units</a:t>
            </a:r>
            <a:endParaRPr lang="en-AU" sz="2800" dirty="0">
              <a:effectLst/>
              <a:latin typeface="Helvetica"/>
              <a:ea typeface="Calibri"/>
              <a:cs typeface="Calibri"/>
            </a:endParaRPr>
          </a:p>
        </p:txBody>
      </p:sp>
      <p:sp>
        <p:nvSpPr>
          <p:cNvPr id="3" name="Content Placeholder 2"/>
          <p:cNvSpPr>
            <a:spLocks noGrp="1"/>
          </p:cNvSpPr>
          <p:nvPr>
            <p:ph idx="1"/>
          </p:nvPr>
        </p:nvSpPr>
        <p:spPr/>
        <p:txBody>
          <a:bodyPr/>
          <a:lstStyle/>
          <a:p>
            <a:r>
              <a:rPr lang="en-AU" dirty="0" smtClean="0"/>
              <a:t>Calculate lowest combination of fares for given pricing units</a:t>
            </a:r>
            <a:endParaRPr lang="en-US" dirty="0" smtClean="0"/>
          </a:p>
          <a:p>
            <a:r>
              <a:rPr lang="en-US" dirty="0" smtClean="0"/>
              <a:t>Create an itinerary for one way airfare</a:t>
            </a:r>
          </a:p>
          <a:p>
            <a:r>
              <a:rPr lang="en-US" dirty="0" smtClean="0"/>
              <a:t>Check availability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6" name="Picture 5"/>
          <p:cNvPicPr/>
          <p:nvPr/>
        </p:nvPicPr>
        <p:blipFill rotWithShape="1">
          <a:blip r:embed="rId3" cstate="print">
            <a:extLst>
              <a:ext uri="{28A0092B-C50C-407E-A947-70E740481C1C}">
                <a14:useLocalDpi xmlns:a14="http://schemas.microsoft.com/office/drawing/2010/main" val="0"/>
              </a:ext>
            </a:extLst>
          </a:blip>
          <a:srcRect l="25419" t="22596"/>
          <a:stretch/>
        </p:blipFill>
        <p:spPr bwMode="auto">
          <a:xfrm>
            <a:off x="5220072" y="1988840"/>
            <a:ext cx="2933328" cy="2021120"/>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 7 </a:t>
            </a:r>
            <a:r>
              <a:rPr lang="en-AU" sz="3000" dirty="0"/>
              <a:t>- </a:t>
            </a:r>
            <a:r>
              <a:rPr lang="en-AU" sz="3000" dirty="0">
                <a:latin typeface="Helvetica"/>
                <a:ea typeface="Calibri"/>
                <a:cs typeface="Calibri"/>
              </a:rPr>
              <a:t>Apply the pricing unit concept to fares</a:t>
            </a:r>
            <a:endParaRPr lang="en-AU" sz="3000" dirty="0"/>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7</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54</a:t>
            </a:fld>
            <a:endParaRPr lang="en-US" dirty="0">
              <a:solidFill>
                <a:srgbClr val="4E5B6F">
                  <a:shade val="50000"/>
                </a:srgbClr>
              </a:solidFill>
            </a:endParaRPr>
          </a:p>
        </p:txBody>
      </p:sp>
    </p:spTree>
    <p:extLst>
      <p:ext uri="{BB962C8B-B14F-4D97-AF65-F5344CB8AC3E}">
        <p14:creationId xmlns:p14="http://schemas.microsoft.com/office/powerpoint/2010/main" val="395029402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8: Maintain Client File</a:t>
            </a:r>
            <a:endParaRPr lang="en-US" dirty="0"/>
          </a:p>
        </p:txBody>
      </p:sp>
      <p:sp>
        <p:nvSpPr>
          <p:cNvPr id="3" name="Content Placeholder 2"/>
          <p:cNvSpPr>
            <a:spLocks noGrp="1"/>
          </p:cNvSpPr>
          <p:nvPr>
            <p:ph idx="1"/>
          </p:nvPr>
        </p:nvSpPr>
        <p:spPr>
          <a:xfrm>
            <a:off x="457200" y="1628800"/>
            <a:ext cx="4618856" cy="4793264"/>
          </a:xfrm>
        </p:spPr>
        <p:txBody>
          <a:bodyPr>
            <a:normAutofit fontScale="92500" lnSpcReduction="10000"/>
          </a:bodyPr>
          <a:lstStyle/>
          <a:p>
            <a:pPr marL="36576" indent="0">
              <a:buNone/>
            </a:pPr>
            <a:r>
              <a:rPr lang="en-AU" dirty="0" smtClean="0"/>
              <a:t>Performance Criteria for this Element are:</a:t>
            </a:r>
          </a:p>
          <a:p>
            <a:pPr marL="36576" indent="-360000">
              <a:lnSpc>
                <a:spcPct val="115000"/>
              </a:lnSpc>
              <a:spcAft>
                <a:spcPts val="1000"/>
              </a:spcAft>
              <a:buNone/>
            </a:pPr>
            <a:r>
              <a:rPr lang="en-AU" dirty="0">
                <a:solidFill>
                  <a:srgbClr val="92D050"/>
                </a:solidFill>
                <a:latin typeface="Helvetica"/>
                <a:ea typeface="Calibri"/>
                <a:cs typeface="Calibri"/>
              </a:rPr>
              <a:t>8.1</a:t>
            </a:r>
            <a:r>
              <a:rPr lang="en-AU" dirty="0">
                <a:latin typeface="Helvetica"/>
                <a:ea typeface="Calibri"/>
                <a:cs typeface="Calibri"/>
              </a:rPr>
              <a:t>	Record and update needs and </a:t>
            </a:r>
            <a:r>
              <a:rPr lang="en-AU" dirty="0" smtClean="0">
                <a:latin typeface="Helvetica"/>
                <a:ea typeface="Calibri"/>
                <a:cs typeface="Calibri"/>
              </a:rPr>
              <a:t>	preferences </a:t>
            </a:r>
            <a:r>
              <a:rPr lang="en-AU" dirty="0">
                <a:latin typeface="Helvetica"/>
                <a:ea typeface="Calibri"/>
                <a:cs typeface="Calibri"/>
              </a:rPr>
              <a:t>of client</a:t>
            </a:r>
          </a:p>
          <a:p>
            <a:pPr marL="36576" indent="-360000">
              <a:lnSpc>
                <a:spcPct val="115000"/>
              </a:lnSpc>
              <a:spcAft>
                <a:spcPts val="1000"/>
              </a:spcAft>
              <a:buNone/>
            </a:pPr>
            <a:r>
              <a:rPr lang="en-AU" dirty="0">
                <a:solidFill>
                  <a:srgbClr val="92D050"/>
                </a:solidFill>
                <a:latin typeface="Helvetica"/>
                <a:ea typeface="Calibri"/>
                <a:cs typeface="Calibri"/>
              </a:rPr>
              <a:t>8.2</a:t>
            </a:r>
            <a:r>
              <a:rPr lang="en-AU" dirty="0">
                <a:latin typeface="Helvetica"/>
                <a:ea typeface="Calibri"/>
                <a:cs typeface="Calibri"/>
              </a:rPr>
              <a:t>	Record itineraries and airfares </a:t>
            </a:r>
            <a:r>
              <a:rPr lang="en-AU" dirty="0" smtClean="0">
                <a:latin typeface="Helvetica"/>
                <a:ea typeface="Calibri"/>
                <a:cs typeface="Calibri"/>
              </a:rPr>
              <a:t>	quoted</a:t>
            </a:r>
            <a:endParaRPr lang="en-AU" dirty="0">
              <a:latin typeface="Helvetica"/>
              <a:ea typeface="Calibri"/>
              <a:cs typeface="Calibri"/>
            </a:endParaRPr>
          </a:p>
          <a:p>
            <a:pPr marL="36576" indent="-360000">
              <a:lnSpc>
                <a:spcPct val="115000"/>
              </a:lnSpc>
              <a:spcAft>
                <a:spcPts val="1000"/>
              </a:spcAft>
              <a:buNone/>
            </a:pPr>
            <a:r>
              <a:rPr lang="en-AU" dirty="0">
                <a:solidFill>
                  <a:srgbClr val="92D050"/>
                </a:solidFill>
                <a:latin typeface="Helvetica"/>
                <a:ea typeface="Calibri"/>
                <a:cs typeface="Calibri"/>
              </a:rPr>
              <a:t>8.3</a:t>
            </a:r>
            <a:r>
              <a:rPr lang="en-AU" dirty="0">
                <a:latin typeface="Helvetica"/>
                <a:ea typeface="Calibri"/>
                <a:cs typeface="Calibri"/>
              </a:rPr>
              <a:t>	Generate and issue documents </a:t>
            </a:r>
            <a:r>
              <a:rPr lang="en-AU" dirty="0" smtClean="0">
                <a:latin typeface="Helvetica"/>
                <a:ea typeface="Calibri"/>
                <a:cs typeface="Calibri"/>
              </a:rPr>
              <a:t>	to </a:t>
            </a:r>
            <a:r>
              <a:rPr lang="en-AU" dirty="0">
                <a:latin typeface="Helvetica"/>
                <a:ea typeface="Calibri"/>
                <a:cs typeface="Calibri"/>
              </a:rPr>
              <a:t>clients</a:t>
            </a:r>
          </a:p>
          <a:p>
            <a:pPr marL="36576" indent="-360000">
              <a:lnSpc>
                <a:spcPct val="115000"/>
              </a:lnSpc>
              <a:spcAft>
                <a:spcPts val="1000"/>
              </a:spcAft>
              <a:buNone/>
            </a:pPr>
            <a:r>
              <a:rPr lang="en-AU" dirty="0">
                <a:solidFill>
                  <a:srgbClr val="92D050"/>
                </a:solidFill>
                <a:latin typeface="Helvetica"/>
                <a:ea typeface="Calibri"/>
                <a:cs typeface="Calibri"/>
              </a:rPr>
              <a:t>8.4</a:t>
            </a:r>
            <a:r>
              <a:rPr lang="en-AU" dirty="0">
                <a:latin typeface="Helvetica"/>
                <a:ea typeface="Calibri"/>
                <a:cs typeface="Calibri"/>
              </a:rPr>
              <a:t>	Record and process changes to </a:t>
            </a:r>
            <a:r>
              <a:rPr lang="en-AU" dirty="0" smtClean="0">
                <a:latin typeface="Helvetica"/>
                <a:ea typeface="Calibri"/>
                <a:cs typeface="Calibri"/>
              </a:rPr>
              <a:t>	bookings</a:t>
            </a:r>
            <a:endParaRPr lang="en-AU" dirty="0">
              <a:latin typeface="Helvetica"/>
              <a:ea typeface="Calibri"/>
              <a:cs typeface="Calibri"/>
            </a:endParaRPr>
          </a:p>
          <a:p>
            <a:pPr marL="36576" indent="-360000">
              <a:lnSpc>
                <a:spcPct val="115000"/>
              </a:lnSpc>
              <a:spcAft>
                <a:spcPts val="1000"/>
              </a:spcAft>
              <a:buNone/>
            </a:pPr>
            <a:r>
              <a:rPr lang="en-AU" dirty="0">
                <a:solidFill>
                  <a:srgbClr val="92D050"/>
                </a:solidFill>
                <a:latin typeface="Helvetica"/>
                <a:ea typeface="Calibri"/>
                <a:cs typeface="Calibri"/>
              </a:rPr>
              <a:t>8.5</a:t>
            </a:r>
            <a:r>
              <a:rPr lang="en-AU" dirty="0">
                <a:latin typeface="Helvetica"/>
                <a:ea typeface="Calibri"/>
                <a:cs typeface="Calibri"/>
              </a:rPr>
              <a:t>	Record, up-date and receipt </a:t>
            </a:r>
            <a:r>
              <a:rPr lang="en-AU" dirty="0" smtClean="0">
                <a:latin typeface="Helvetica"/>
                <a:ea typeface="Calibri"/>
                <a:cs typeface="Calibri"/>
              </a:rPr>
              <a:t>	payments </a:t>
            </a:r>
            <a:r>
              <a:rPr lang="en-AU" dirty="0">
                <a:latin typeface="Helvetica"/>
                <a:ea typeface="Calibri"/>
                <a:cs typeface="Calibri"/>
              </a:rPr>
              <a:t>made by client</a:t>
            </a:r>
            <a:endParaRPr lang="en-AU" dirty="0">
              <a:effectLst/>
              <a:latin typeface="Helvetica"/>
              <a:ea typeface="Calibri"/>
              <a:cs typeface="Calibri"/>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5364088" y="1844824"/>
            <a:ext cx="2232248" cy="3348372"/>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AU" sz="2800" dirty="0">
                <a:latin typeface="Helvetica"/>
                <a:ea typeface="Calibri"/>
                <a:cs typeface="Calibri"/>
              </a:rPr>
              <a:t>8.1	Record and update needs and </a:t>
            </a:r>
            <a:r>
              <a:rPr lang="en-AU" sz="2800" dirty="0" smtClean="0">
                <a:latin typeface="Helvetica"/>
                <a:ea typeface="Calibri"/>
                <a:cs typeface="Calibri"/>
              </a:rPr>
              <a:t>	preferences </a:t>
            </a:r>
            <a:r>
              <a:rPr lang="en-AU" sz="2800" dirty="0">
                <a:latin typeface="Helvetica"/>
                <a:ea typeface="Calibri"/>
                <a:cs typeface="Calibri"/>
              </a:rPr>
              <a:t>of client</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988840"/>
            <a:ext cx="4650488" cy="4137323"/>
          </a:xfrm>
        </p:spPr>
        <p:txBody>
          <a:bodyPr>
            <a:normAutofit/>
          </a:bodyPr>
          <a:lstStyle/>
          <a:p>
            <a:pPr>
              <a:spcAft>
                <a:spcPts val="1200"/>
              </a:spcAft>
            </a:pPr>
            <a:r>
              <a:rPr lang="en-AU" sz="2200" dirty="0"/>
              <a:t>Electronic client record systems</a:t>
            </a:r>
          </a:p>
          <a:p>
            <a:pPr>
              <a:spcAft>
                <a:spcPts val="1200"/>
              </a:spcAft>
            </a:pPr>
            <a:r>
              <a:rPr lang="en-AU" sz="2200" dirty="0"/>
              <a:t>Manual client record systems</a:t>
            </a:r>
          </a:p>
          <a:p>
            <a:pPr>
              <a:spcAft>
                <a:spcPts val="1200"/>
              </a:spcAft>
            </a:pPr>
            <a:r>
              <a:rPr lang="en-AU" sz="2200" dirty="0"/>
              <a:t>Client details</a:t>
            </a:r>
          </a:p>
          <a:p>
            <a:pPr>
              <a:spcAft>
                <a:spcPts val="1200"/>
              </a:spcAft>
            </a:pPr>
            <a:r>
              <a:rPr lang="en-AU" sz="2200" dirty="0"/>
              <a:t>Products and services</a:t>
            </a:r>
          </a:p>
          <a:p>
            <a:pPr>
              <a:spcAft>
                <a:spcPts val="1200"/>
              </a:spcAft>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122" name="Picture 2" descr="I:\Overseas Projects\PHOTOS\2014\Shutterstock 25-a-day\shutterstock_19201094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4128" y="2060848"/>
            <a:ext cx="2399928" cy="17999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spcBef>
                <a:spcPts val="600"/>
              </a:spcBef>
              <a:spcAft>
                <a:spcPts val="600"/>
              </a:spcAft>
            </a:pPr>
            <a:r>
              <a:rPr lang="en-AU" sz="2800" dirty="0">
                <a:latin typeface="Helvetica"/>
                <a:ea typeface="Calibri"/>
                <a:cs typeface="Calibri"/>
              </a:rPr>
              <a:t>8.2	Record itineraries and airfares quoted</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412776"/>
            <a:ext cx="5626968" cy="4896544"/>
          </a:xfrm>
        </p:spPr>
        <p:txBody>
          <a:bodyPr>
            <a:normAutofit/>
          </a:bodyPr>
          <a:lstStyle/>
          <a:p>
            <a:pPr>
              <a:spcAft>
                <a:spcPts val="1200"/>
              </a:spcAft>
            </a:pPr>
            <a:r>
              <a:rPr lang="en-AU" sz="2200" dirty="0"/>
              <a:t>Itineraries and airfares</a:t>
            </a:r>
          </a:p>
          <a:p>
            <a:pPr marL="704088" lvl="2" indent="-384048">
              <a:spcAft>
                <a:spcPts val="1200"/>
              </a:spcAft>
              <a:buClr>
                <a:srgbClr val="92D050"/>
              </a:buClr>
              <a:buSzPct val="80000"/>
              <a:buFont typeface="Wingdings" pitchFamily="2" charset="2"/>
              <a:buChar char="§"/>
            </a:pPr>
            <a:r>
              <a:rPr lang="en-AU" sz="2200" dirty="0"/>
              <a:t>Itinerary types</a:t>
            </a:r>
          </a:p>
          <a:p>
            <a:pPr>
              <a:spcAft>
                <a:spcPts val="1200"/>
              </a:spcAft>
            </a:pPr>
            <a:r>
              <a:rPr lang="en-AU" sz="2200" dirty="0"/>
              <a:t>Confirming airfare conditions </a:t>
            </a:r>
          </a:p>
          <a:p>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796136" y="1556792"/>
            <a:ext cx="2213248" cy="1659753"/>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spcBef>
                <a:spcPts val="0"/>
              </a:spcBef>
            </a:pPr>
            <a:r>
              <a:rPr lang="en-AU" sz="2800" dirty="0">
                <a:latin typeface="Helvetica"/>
                <a:ea typeface="Calibri"/>
                <a:cs typeface="Calibri"/>
              </a:rPr>
              <a:t>8.3	Generate and issue documents to </a:t>
            </a:r>
            <a:r>
              <a:rPr lang="en-AU" sz="2800" dirty="0" smtClean="0">
                <a:latin typeface="Helvetica"/>
                <a:ea typeface="Calibri"/>
                <a:cs typeface="Calibri"/>
              </a:rPr>
              <a:t>	clients</a:t>
            </a:r>
            <a:endParaRPr lang="en-AU" sz="2800" dirty="0">
              <a:latin typeface="Helvetica"/>
              <a:ea typeface="Calibri"/>
              <a:cs typeface="Calibri"/>
            </a:endParaRPr>
          </a:p>
        </p:txBody>
      </p:sp>
      <p:sp>
        <p:nvSpPr>
          <p:cNvPr id="3" name="Content Placeholder 2"/>
          <p:cNvSpPr>
            <a:spLocks noGrp="1"/>
          </p:cNvSpPr>
          <p:nvPr>
            <p:ph idx="1"/>
          </p:nvPr>
        </p:nvSpPr>
        <p:spPr>
          <a:xfrm>
            <a:off x="457200" y="1484784"/>
            <a:ext cx="5626968" cy="4641379"/>
          </a:xfrm>
        </p:spPr>
        <p:txBody>
          <a:bodyPr/>
          <a:lstStyle/>
          <a:p>
            <a:pPr marL="36576" indent="0">
              <a:buNone/>
            </a:pPr>
            <a:r>
              <a:rPr lang="en-AU" sz="2200" dirty="0" smtClean="0"/>
              <a:t>Documents </a:t>
            </a:r>
            <a:r>
              <a:rPr lang="en-AU" sz="2200" dirty="0"/>
              <a:t>may also include: </a:t>
            </a:r>
          </a:p>
          <a:p>
            <a:r>
              <a:rPr lang="en-AU" sz="2200" dirty="0" smtClean="0"/>
              <a:t>Invoices</a:t>
            </a:r>
            <a:endParaRPr lang="en-AU" sz="2200" dirty="0"/>
          </a:p>
          <a:p>
            <a:r>
              <a:rPr lang="en-AU" sz="2200" dirty="0" smtClean="0"/>
              <a:t>Credit </a:t>
            </a:r>
            <a:r>
              <a:rPr lang="en-AU" sz="2200" dirty="0"/>
              <a:t>notes</a:t>
            </a:r>
          </a:p>
          <a:p>
            <a:r>
              <a:rPr lang="en-AU" sz="2200" dirty="0" smtClean="0"/>
              <a:t>Receipts</a:t>
            </a:r>
            <a:endParaRPr lang="en-AU" sz="2200" dirty="0"/>
          </a:p>
          <a:p>
            <a:r>
              <a:rPr lang="en-AU" sz="2200" dirty="0" smtClean="0"/>
              <a:t>Confirmation </a:t>
            </a:r>
            <a:r>
              <a:rPr lang="en-AU" sz="2200" dirty="0"/>
              <a:t>letters</a:t>
            </a:r>
          </a:p>
          <a:p>
            <a:r>
              <a:rPr lang="en-AU" sz="2200" dirty="0" smtClean="0"/>
              <a:t>Itineraries</a:t>
            </a:r>
            <a:endParaRPr lang="en-AU" sz="2200" dirty="0"/>
          </a:p>
          <a:p>
            <a:r>
              <a:rPr lang="en-AU" sz="2200" dirty="0" smtClean="0"/>
              <a:t>Information packs</a:t>
            </a:r>
            <a:endParaRPr lang="en-AU" sz="2200" dirty="0"/>
          </a:p>
          <a:p>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6084168" y="2276872"/>
            <a:ext cx="2069232" cy="1754626"/>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45720" rIns="45720" anchor="ctr">
            <a:normAutofit/>
          </a:bodyPr>
          <a:lstStyle/>
          <a:p>
            <a:pPr>
              <a:spcBef>
                <a:spcPts val="0"/>
              </a:spcBef>
            </a:pPr>
            <a:r>
              <a:rPr lang="en-AU" sz="2800" dirty="0">
                <a:latin typeface="Helvetica"/>
                <a:ea typeface="Calibri"/>
                <a:cs typeface="Calibri"/>
              </a:rPr>
              <a:t>8.3	Generate and issue documents to </a:t>
            </a:r>
            <a:r>
              <a:rPr lang="en-AU" sz="2800" dirty="0" smtClean="0">
                <a:latin typeface="Helvetica"/>
                <a:ea typeface="Calibri"/>
                <a:cs typeface="Calibri"/>
              </a:rPr>
              <a:t>	clients</a:t>
            </a:r>
            <a:endParaRPr lang="en-AU" sz="2800" dirty="0">
              <a:latin typeface="Helvetica"/>
              <a:ea typeface="Calibri"/>
              <a:cs typeface="Calibri"/>
            </a:endParaRPr>
          </a:p>
        </p:txBody>
      </p:sp>
      <p:sp>
        <p:nvSpPr>
          <p:cNvPr id="3" name="Content Placeholder 2"/>
          <p:cNvSpPr>
            <a:spLocks noGrp="1"/>
          </p:cNvSpPr>
          <p:nvPr>
            <p:ph idx="1"/>
          </p:nvPr>
        </p:nvSpPr>
        <p:spPr>
          <a:xfrm>
            <a:off x="457200" y="1484784"/>
            <a:ext cx="5626968" cy="4641379"/>
          </a:xfrm>
        </p:spPr>
        <p:txBody>
          <a:bodyPr>
            <a:normAutofit/>
          </a:bodyPr>
          <a:lstStyle/>
          <a:p>
            <a:pPr>
              <a:lnSpc>
                <a:spcPct val="150000"/>
              </a:lnSpc>
            </a:pPr>
            <a:r>
              <a:rPr lang="en-AU" sz="2200" dirty="0" smtClean="0"/>
              <a:t>Letters </a:t>
            </a:r>
            <a:r>
              <a:rPr lang="en-AU" sz="2200" dirty="0"/>
              <a:t>of confirmation</a:t>
            </a:r>
          </a:p>
          <a:p>
            <a:pPr>
              <a:lnSpc>
                <a:spcPct val="150000"/>
              </a:lnSpc>
            </a:pPr>
            <a:r>
              <a:rPr lang="en-AU" sz="2200" dirty="0"/>
              <a:t>Verify ticketing details</a:t>
            </a:r>
          </a:p>
          <a:p>
            <a:pPr>
              <a:lnSpc>
                <a:spcPct val="150000"/>
              </a:lnSpc>
            </a:pPr>
            <a:r>
              <a:rPr lang="en-AU" sz="2200" dirty="0"/>
              <a:t>Verify itinerary</a:t>
            </a:r>
          </a:p>
          <a:p>
            <a:r>
              <a:rPr lang="en-AU" sz="2200" dirty="0"/>
              <a:t>Confirming itinerary </a:t>
            </a:r>
            <a:r>
              <a:rPr lang="en-AU" sz="2200" dirty="0" smtClean="0"/>
              <a:t>details</a:t>
            </a:r>
          </a:p>
          <a:p>
            <a:pPr>
              <a:lnSpc>
                <a:spcPct val="150000"/>
              </a:lnSpc>
            </a:pPr>
            <a:r>
              <a:rPr lang="en-AU" sz="2200" dirty="0"/>
              <a:t>Issuing an e-ticket using a CRS/GDS </a:t>
            </a:r>
          </a:p>
          <a:p>
            <a:pPr>
              <a:lnSpc>
                <a:spcPct val="150000"/>
              </a:lnSpc>
            </a:pPr>
            <a:r>
              <a:rPr lang="en-AU" sz="2200" dirty="0"/>
              <a:t>Preparing an invoice</a:t>
            </a:r>
            <a:endParaRPr lang="en-AU" sz="2200" dirty="0" smtClean="0"/>
          </a:p>
          <a:p>
            <a:endParaRPr lang="en-AU" sz="2200" dirty="0" smtClean="0"/>
          </a:p>
          <a:p>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59</a:t>
            </a:fld>
            <a:endParaRPr lang="en-US" dirty="0">
              <a:solidFill>
                <a:srgbClr val="4E5B6F">
                  <a:shade val="50000"/>
                </a:srgbClr>
              </a:solidFill>
            </a:endParaRPr>
          </a:p>
        </p:txBody>
      </p:sp>
      <p:pic>
        <p:nvPicPr>
          <p:cNvPr id="5" name="Picture 4"/>
          <p:cNvPicPr/>
          <p:nvPr/>
        </p:nvPicPr>
        <p:blipFill>
          <a:blip r:embed="rId3" cstate="screen">
            <a:extLst>
              <a:ext uri="{28A0092B-C50C-407E-A947-70E740481C1C}">
                <a14:useLocalDpi xmlns:a14="http://schemas.microsoft.com/office/drawing/2010/main" val="0"/>
              </a:ext>
            </a:extLst>
          </a:blip>
          <a:stretch>
            <a:fillRect/>
          </a:stretch>
        </p:blipFill>
        <p:spPr>
          <a:xfrm>
            <a:off x="5580112" y="1980579"/>
            <a:ext cx="2357120" cy="1570990"/>
          </a:xfrm>
          <a:prstGeom prst="rect">
            <a:avLst/>
          </a:prstGeom>
          <a:ln>
            <a:noFill/>
          </a:ln>
          <a:effectLst/>
        </p:spPr>
      </p:pic>
    </p:spTree>
    <p:extLst>
      <p:ext uri="{BB962C8B-B14F-4D97-AF65-F5344CB8AC3E}">
        <p14:creationId xmlns:p14="http://schemas.microsoft.com/office/powerpoint/2010/main" val="13533003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8.4	Record and process changes to </a:t>
            </a:r>
            <a:r>
              <a:rPr lang="en-AU" sz="2800" dirty="0" smtClean="0">
                <a:latin typeface="Helvetica"/>
                <a:ea typeface="Calibri"/>
                <a:cs typeface="Calibri"/>
              </a:rPr>
              <a:t>	bookings</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988840"/>
            <a:ext cx="5194920" cy="4137323"/>
          </a:xfrm>
        </p:spPr>
        <p:txBody>
          <a:bodyPr/>
          <a:lstStyle/>
          <a:p>
            <a:r>
              <a:rPr lang="en-AU" dirty="0" smtClean="0"/>
              <a:t>Record and process changes to bookings</a:t>
            </a:r>
          </a:p>
          <a:p>
            <a:r>
              <a:rPr lang="en-AU" dirty="0" smtClean="0"/>
              <a:t>Changed arrangements</a:t>
            </a:r>
          </a:p>
          <a:p>
            <a:r>
              <a:rPr lang="en-AU" dirty="0" smtClean="0"/>
              <a:t>Cancellations, including the processing of refunds and issuing of credit notes</a:t>
            </a:r>
          </a:p>
          <a:p>
            <a:r>
              <a:rPr lang="en-AU" dirty="0" smtClean="0"/>
              <a:t>Verifying alterations with carriers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796136" y="2492896"/>
            <a:ext cx="2357264" cy="1569893"/>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800" dirty="0">
                <a:latin typeface="Helvetica"/>
                <a:ea typeface="Calibri"/>
                <a:cs typeface="Calibri"/>
              </a:rPr>
              <a:t>8.5	Record, up-date and receipt payments </a:t>
            </a:r>
            <a:r>
              <a:rPr lang="en-AU" sz="2800" dirty="0" smtClean="0">
                <a:latin typeface="Helvetica"/>
                <a:ea typeface="Calibri"/>
                <a:cs typeface="Calibri"/>
              </a:rPr>
              <a:t>	made </a:t>
            </a:r>
            <a:r>
              <a:rPr lang="en-AU" sz="2800" dirty="0">
                <a:latin typeface="Helvetica"/>
                <a:ea typeface="Calibri"/>
                <a:cs typeface="Calibri"/>
              </a:rPr>
              <a:t>by client</a:t>
            </a:r>
            <a:endParaRPr lang="en-AU" sz="2800" dirty="0">
              <a:effectLst/>
              <a:latin typeface="Helvetica"/>
              <a:ea typeface="Calibri"/>
              <a:cs typeface="Calibri"/>
            </a:endParaRPr>
          </a:p>
        </p:txBody>
      </p:sp>
      <p:sp>
        <p:nvSpPr>
          <p:cNvPr id="3" name="Content Placeholder 2"/>
          <p:cNvSpPr>
            <a:spLocks noGrp="1"/>
          </p:cNvSpPr>
          <p:nvPr>
            <p:ph idx="1"/>
          </p:nvPr>
        </p:nvSpPr>
        <p:spPr>
          <a:xfrm>
            <a:off x="457200" y="1556792"/>
            <a:ext cx="5410944" cy="4569371"/>
          </a:xfrm>
        </p:spPr>
        <p:txBody>
          <a:bodyPr>
            <a:normAutofit/>
          </a:bodyPr>
          <a:lstStyle/>
          <a:p>
            <a:pPr>
              <a:spcAft>
                <a:spcPts val="1200"/>
              </a:spcAft>
            </a:pPr>
            <a:r>
              <a:rPr lang="en-AU" dirty="0"/>
              <a:t>Updating maintaining internal records</a:t>
            </a:r>
          </a:p>
          <a:p>
            <a:pPr>
              <a:spcAft>
                <a:spcPts val="1200"/>
              </a:spcAft>
            </a:pPr>
            <a:r>
              <a:rPr lang="en-AU" dirty="0" smtClean="0"/>
              <a:t>Payments</a:t>
            </a:r>
            <a:endParaRPr lang="en-AU" dirty="0"/>
          </a:p>
          <a:p>
            <a:pPr lvl="1">
              <a:spcAft>
                <a:spcPts val="1200"/>
              </a:spcAft>
            </a:pPr>
            <a:r>
              <a:rPr lang="en-AU" dirty="0"/>
              <a:t>Cash payments</a:t>
            </a:r>
          </a:p>
          <a:p>
            <a:pPr lvl="1">
              <a:spcAft>
                <a:spcPts val="1200"/>
              </a:spcAft>
            </a:pPr>
            <a:r>
              <a:rPr lang="en-AU" dirty="0"/>
              <a:t>Direct deposits </a:t>
            </a:r>
          </a:p>
          <a:p>
            <a:pPr lvl="1">
              <a:spcAft>
                <a:spcPts val="1200"/>
              </a:spcAft>
            </a:pPr>
            <a:r>
              <a:rPr lang="en-AU" dirty="0"/>
              <a:t>Cheque payment</a:t>
            </a:r>
          </a:p>
          <a:p>
            <a:pPr lvl="1">
              <a:spcAft>
                <a:spcPts val="1200"/>
              </a:spcAft>
            </a:pPr>
            <a:r>
              <a:rPr lang="en-AU" dirty="0"/>
              <a:t>EFTPOS transactions</a:t>
            </a:r>
          </a:p>
          <a:p>
            <a:pPr lvl="1">
              <a:spcAft>
                <a:spcPts val="1200"/>
              </a:spcAft>
            </a:pPr>
            <a:r>
              <a:rPr lang="en-AU" dirty="0"/>
              <a:t>Credit card payment directly to airline</a:t>
            </a:r>
          </a:p>
          <a:p>
            <a:pPr>
              <a:spcAft>
                <a:spcPts val="1200"/>
              </a:spcAft>
            </a:pPr>
            <a:endParaRPr lang="en-AU" dirty="0" smtClean="0"/>
          </a:p>
          <a:p>
            <a:pPr>
              <a:spcAft>
                <a:spcPts val="1200"/>
              </a:spcAft>
            </a:pP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146" name="Picture 2" descr="I:\Overseas Projects\PHOTOS\2014\Shutterstock 25-a-day\shutterstock_12961804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112" y="2636912"/>
            <a:ext cx="2327920" cy="15531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Activity </a:t>
            </a:r>
            <a:r>
              <a:rPr lang="en-AU" sz="3000" dirty="0"/>
              <a:t>for </a:t>
            </a:r>
            <a:r>
              <a:rPr lang="en-AU" sz="3000" dirty="0" smtClean="0"/>
              <a:t>Element</a:t>
            </a:r>
            <a:r>
              <a:rPr lang="fr-FR" sz="3000" dirty="0" smtClean="0"/>
              <a:t> </a:t>
            </a:r>
            <a:r>
              <a:rPr lang="fr-FR" sz="3000" dirty="0"/>
              <a:t>8: </a:t>
            </a:r>
            <a:r>
              <a:rPr lang="fr-FR" sz="3000" dirty="0" err="1"/>
              <a:t>Maintain</a:t>
            </a:r>
            <a:r>
              <a:rPr lang="fr-FR" sz="3000" dirty="0"/>
              <a:t> Client File</a:t>
            </a:r>
            <a:endParaRPr lang="en-AU" sz="3000" dirty="0"/>
          </a:p>
        </p:txBody>
      </p:sp>
      <p:sp>
        <p:nvSpPr>
          <p:cNvPr id="3" name="Content Placeholder 2"/>
          <p:cNvSpPr>
            <a:spLocks noGrp="1"/>
          </p:cNvSpPr>
          <p:nvPr>
            <p:ph idx="1"/>
          </p:nvPr>
        </p:nvSpPr>
        <p:spPr>
          <a:xfrm>
            <a:off x="457200" y="1988840"/>
            <a:ext cx="6131024" cy="4137323"/>
          </a:xfrm>
        </p:spPr>
        <p:txBody>
          <a:bodyPr/>
          <a:lstStyle/>
          <a:p>
            <a:r>
              <a:rPr lang="en-AU" dirty="0" smtClean="0"/>
              <a:t>Please refer to the Work Projects for Element 8</a:t>
            </a:r>
            <a:endParaRPr lang="en-AU" dirty="0"/>
          </a:p>
          <a:p>
            <a:endParaRPr lang="en-AU" dirty="0"/>
          </a:p>
        </p:txBody>
      </p:sp>
      <p:pic>
        <p:nvPicPr>
          <p:cNvPr id="5" name="Picture 3" descr="C:\Users\diannew\Documents\project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7864" y="2996952"/>
            <a:ext cx="1895159" cy="172580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62</a:t>
            </a:fld>
            <a:endParaRPr lang="en-US" dirty="0">
              <a:solidFill>
                <a:srgbClr val="4E5B6F">
                  <a:shade val="50000"/>
                </a:srgbClr>
              </a:solidFill>
            </a:endParaRPr>
          </a:p>
        </p:txBody>
      </p:sp>
    </p:spTree>
    <p:extLst>
      <p:ext uri="{BB962C8B-B14F-4D97-AF65-F5344CB8AC3E}">
        <p14:creationId xmlns:p14="http://schemas.microsoft.com/office/powerpoint/2010/main" val="76313629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The End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52128"/>
            <a:ext cx="7848872" cy="5589240"/>
          </a:xfrm>
        </p:spPr>
        <p:txBody>
          <a:bodyPr>
            <a:noAutofit/>
          </a:bodyPr>
          <a:lstStyle/>
          <a:p>
            <a:pPr marL="36576" lvl="0" indent="0">
              <a:spcBef>
                <a:spcPts val="600"/>
              </a:spcBef>
              <a:spcAft>
                <a:spcPts val="600"/>
              </a:spcAft>
              <a:buClr>
                <a:srgbClr val="7FD13B"/>
              </a:buClr>
              <a:buNone/>
            </a:pPr>
            <a:r>
              <a:rPr lang="en-AU" sz="2000" dirty="0" smtClean="0">
                <a:solidFill>
                  <a:prstClr val="black"/>
                </a:solidFill>
                <a:latin typeface="Helvetica" panose="020B0604020202020204" pitchFamily="34" charset="0"/>
              </a:rPr>
              <a:t>This </a:t>
            </a:r>
            <a:r>
              <a:rPr lang="en-AU" sz="2000" dirty="0">
                <a:solidFill>
                  <a:prstClr val="black"/>
                </a:solidFill>
                <a:latin typeface="Helvetica" panose="020B0604020202020204" pitchFamily="34" charset="0"/>
              </a:rPr>
              <a:t>unit comprises eight elements:</a:t>
            </a:r>
          </a:p>
          <a:p>
            <a:pPr lvl="0">
              <a:spcBef>
                <a:spcPts val="600"/>
              </a:spcBef>
              <a:spcAft>
                <a:spcPts val="600"/>
              </a:spcAft>
              <a:buClr>
                <a:srgbClr val="7FD13B"/>
              </a:buClr>
            </a:pPr>
            <a:r>
              <a:rPr lang="en-AU" sz="2000" dirty="0">
                <a:solidFill>
                  <a:prstClr val="black"/>
                </a:solidFill>
                <a:latin typeface="Helvetica" panose="020B0604020202020204" pitchFamily="34" charset="0"/>
              </a:rPr>
              <a:t>Confirm client requirements for all purchases</a:t>
            </a:r>
          </a:p>
          <a:p>
            <a:pPr lvl="0">
              <a:spcBef>
                <a:spcPts val="600"/>
              </a:spcBef>
              <a:spcAft>
                <a:spcPts val="600"/>
              </a:spcAft>
              <a:buClr>
                <a:srgbClr val="7FD13B"/>
              </a:buClr>
            </a:pPr>
            <a:r>
              <a:rPr lang="en-AU" sz="2000" dirty="0">
                <a:solidFill>
                  <a:prstClr val="black"/>
                </a:solidFill>
                <a:latin typeface="Helvetica" panose="020B0604020202020204" pitchFamily="34" charset="0"/>
              </a:rPr>
              <a:t>Construct mixed class fares</a:t>
            </a:r>
          </a:p>
          <a:p>
            <a:pPr lvl="0">
              <a:spcBef>
                <a:spcPts val="600"/>
              </a:spcBef>
              <a:spcAft>
                <a:spcPts val="600"/>
              </a:spcAft>
              <a:buClr>
                <a:srgbClr val="7FD13B"/>
              </a:buClr>
            </a:pPr>
            <a:r>
              <a:rPr lang="en-AU" sz="2000" dirty="0">
                <a:solidFill>
                  <a:prstClr val="black"/>
                </a:solidFill>
                <a:latin typeface="Helvetica" panose="020B0604020202020204" pitchFamily="34" charset="0"/>
              </a:rPr>
              <a:t>Construct airfares incorporating add-ons</a:t>
            </a:r>
          </a:p>
          <a:p>
            <a:pPr lvl="0">
              <a:spcBef>
                <a:spcPts val="600"/>
              </a:spcBef>
              <a:spcAft>
                <a:spcPts val="600"/>
              </a:spcAft>
              <a:buClr>
                <a:srgbClr val="7FD13B"/>
              </a:buClr>
            </a:pPr>
            <a:r>
              <a:rPr lang="en-AU" sz="2000" dirty="0">
                <a:solidFill>
                  <a:prstClr val="black"/>
                </a:solidFill>
                <a:latin typeface="Helvetica" panose="020B0604020202020204" pitchFamily="34" charset="0"/>
              </a:rPr>
              <a:t>Prepare international pre-paid ticket advices</a:t>
            </a:r>
          </a:p>
          <a:p>
            <a:pPr lvl="0">
              <a:spcBef>
                <a:spcPts val="600"/>
              </a:spcBef>
              <a:spcAft>
                <a:spcPts val="600"/>
              </a:spcAft>
              <a:buClr>
                <a:srgbClr val="7FD13B"/>
              </a:buClr>
            </a:pPr>
            <a:r>
              <a:rPr lang="en-AU" sz="2000" dirty="0">
                <a:solidFill>
                  <a:prstClr val="black"/>
                </a:solidFill>
                <a:latin typeface="Helvetica" panose="020B0604020202020204" pitchFamily="34" charset="0"/>
              </a:rPr>
              <a:t>Construct round-the-world and round trip </a:t>
            </a:r>
            <a:r>
              <a:rPr lang="en-AU" sz="2000" dirty="0" smtClean="0">
                <a:solidFill>
                  <a:prstClr val="black"/>
                </a:solidFill>
                <a:latin typeface="Helvetica" panose="020B0604020202020204" pitchFamily="34" charset="0"/>
              </a:rPr>
              <a:t/>
            </a:r>
            <a:br>
              <a:rPr lang="en-AU" sz="2000" dirty="0" smtClean="0">
                <a:solidFill>
                  <a:prstClr val="black"/>
                </a:solidFill>
                <a:latin typeface="Helvetica" panose="020B0604020202020204" pitchFamily="34" charset="0"/>
              </a:rPr>
            </a:br>
            <a:r>
              <a:rPr lang="en-AU" sz="2000" dirty="0" smtClean="0">
                <a:solidFill>
                  <a:prstClr val="black"/>
                </a:solidFill>
                <a:latin typeface="Helvetica" panose="020B0604020202020204" pitchFamily="34" charset="0"/>
              </a:rPr>
              <a:t>itineraries</a:t>
            </a:r>
            <a:endParaRPr lang="en-AU" sz="2000" dirty="0">
              <a:solidFill>
                <a:prstClr val="black"/>
              </a:solidFill>
              <a:latin typeface="Helvetica" panose="020B0604020202020204" pitchFamily="34" charset="0"/>
            </a:endParaRPr>
          </a:p>
          <a:p>
            <a:pPr lvl="0">
              <a:spcBef>
                <a:spcPts val="600"/>
              </a:spcBef>
              <a:spcAft>
                <a:spcPts val="600"/>
              </a:spcAft>
              <a:buClr>
                <a:srgbClr val="7FD13B"/>
              </a:buClr>
            </a:pPr>
            <a:r>
              <a:rPr lang="en-AU" sz="2000" dirty="0">
                <a:solidFill>
                  <a:prstClr val="black"/>
                </a:solidFill>
                <a:latin typeface="Helvetica" panose="020B0604020202020204" pitchFamily="34" charset="0"/>
              </a:rPr>
              <a:t>Construct fares for open jaw journeys</a:t>
            </a:r>
          </a:p>
          <a:p>
            <a:pPr lvl="0">
              <a:spcBef>
                <a:spcPts val="600"/>
              </a:spcBef>
              <a:spcAft>
                <a:spcPts val="600"/>
              </a:spcAft>
              <a:buClr>
                <a:srgbClr val="7FD13B"/>
              </a:buClr>
            </a:pPr>
            <a:r>
              <a:rPr lang="en-AU" sz="2000" dirty="0">
                <a:solidFill>
                  <a:prstClr val="black"/>
                </a:solidFill>
                <a:latin typeface="Helvetica" panose="020B0604020202020204" pitchFamily="34" charset="0"/>
              </a:rPr>
              <a:t>Apply the pricing unit concept to fares</a:t>
            </a:r>
          </a:p>
          <a:p>
            <a:pPr lvl="0">
              <a:spcBef>
                <a:spcPts val="600"/>
              </a:spcBef>
              <a:spcAft>
                <a:spcPts val="600"/>
              </a:spcAft>
              <a:buClr>
                <a:srgbClr val="7FD13B"/>
              </a:buClr>
            </a:pPr>
            <a:r>
              <a:rPr lang="en-AU" sz="2000" dirty="0">
                <a:solidFill>
                  <a:prstClr val="black"/>
                </a:solidFill>
                <a:latin typeface="Helvetica" panose="020B0604020202020204" pitchFamily="34" charset="0"/>
              </a:rPr>
              <a:t>Maintain client </a:t>
            </a:r>
            <a:r>
              <a:rPr lang="en-AU" sz="2000" dirty="0" smtClean="0">
                <a:solidFill>
                  <a:prstClr val="black"/>
                </a:solidFill>
                <a:latin typeface="Helvetica" panose="020B0604020202020204" pitchFamily="34" charset="0"/>
              </a:rPr>
              <a:t>file</a:t>
            </a:r>
            <a:endParaRPr lang="en-AU" sz="2000" dirty="0">
              <a:latin typeface="Helvetica" pitchFamily="34" charset="0"/>
            </a:endParaRPr>
          </a:p>
          <a:p>
            <a:pPr marL="36576" indent="0">
              <a:spcBef>
                <a:spcPts val="600"/>
              </a:spcBef>
              <a:spcAft>
                <a:spcPts val="1200"/>
              </a:spcAft>
              <a:buNone/>
            </a:pPr>
            <a:r>
              <a:rPr lang="en-AU" sz="2000" dirty="0" smtClean="0">
                <a:latin typeface="Helvetica" pitchFamily="34" charset="0"/>
              </a:rPr>
              <a:t>You have now completed this unit and the trainer will provide details on assessment. Good Luck!</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63</a:t>
            </a:fld>
            <a:endParaRPr lang="en-US" dirty="0">
              <a:solidFill>
                <a:srgbClr val="4E5B6F">
                  <a:shade val="50000"/>
                </a:srgbClr>
              </a:solidFill>
              <a:latin typeface="Helvetica" pitchFamily="34" charset="0"/>
            </a:endParaRPr>
          </a:p>
        </p:txBody>
      </p:sp>
      <p:pic>
        <p:nvPicPr>
          <p:cNvPr id="7170" name="Picture 2" descr="I:\Overseas Projects\PHOTOS\2014\Shutterstock 25-a-day\shutterstock_127497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6214" y="2708920"/>
            <a:ext cx="2288059" cy="1521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726294"/>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PPT_Travel_agencies_template_130214</Template>
  <TotalTime>1135</TotalTime>
  <Words>6085</Words>
  <Application>Microsoft Office PowerPoint</Application>
  <PresentationFormat>On-screen Show (4:3)</PresentationFormat>
  <Paragraphs>1202</Paragraphs>
  <Slides>63</Slides>
  <Notes>63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63</vt:i4>
      </vt:variant>
    </vt:vector>
  </HeadingPairs>
  <TitlesOfParts>
    <vt:vector size="75" baseType="lpstr">
      <vt:lpstr>SimSun</vt:lpstr>
      <vt:lpstr>Arial</vt:lpstr>
      <vt:lpstr>Calibri</vt:lpstr>
      <vt:lpstr>Helvetica</vt:lpstr>
      <vt:lpstr>HelveticaNeueLTStd-Bd</vt:lpstr>
      <vt:lpstr>HelveticaNeueLTStd-Lt</vt:lpstr>
      <vt:lpstr>Symbol</vt:lpstr>
      <vt:lpstr>Times New Roman</vt:lpstr>
      <vt:lpstr>Wingdings</vt:lpstr>
      <vt:lpstr>Wingdings 2</vt:lpstr>
      <vt:lpstr>PPT_Travel_agencies_template_130214</vt:lpstr>
      <vt:lpstr>PPT_Tour_operation_templates_130214</vt:lpstr>
      <vt:lpstr>APPLY ADVANCED AIRFARE RULES AND PROCEDURES</vt:lpstr>
      <vt:lpstr>Subject Elements</vt:lpstr>
      <vt:lpstr>Assessment</vt:lpstr>
      <vt:lpstr>Element 1: Confirm client requirements for all purchases</vt:lpstr>
      <vt:lpstr>1.1, 5.1, 6.1 Identify and confirm needs and preferences of client</vt:lpstr>
      <vt:lpstr>1.2, 5.2, 6.2 Identify and access appropriate resources to enable processing of client requirements</vt:lpstr>
      <vt:lpstr>1.2, 5.2, 6.2 Identify and access appropriate resources to enable processing of client requirements</vt:lpstr>
      <vt:lpstr>1.2, 5.2, 6.2 Identify and access appropriate resources to enable processing of client requirements</vt:lpstr>
      <vt:lpstr>Activity for Element 1 - Confirm client requirements for all purchases</vt:lpstr>
      <vt:lpstr>Element 2: Construct mixed class fares</vt:lpstr>
      <vt:lpstr>2.1 Identify and confirm availability of  mixed class combinations</vt:lpstr>
      <vt:lpstr>2.2 Match choice of mixed class fare to  identified needs of client</vt:lpstr>
      <vt:lpstr>2.3, 3.2, 5.4, 6.5  Ensure fare construction complies with operational requirements</vt:lpstr>
      <vt:lpstr>2.3, 3.2, 5.4, 6.5  Ensure fare construction complies with operational requirements</vt:lpstr>
      <vt:lpstr>2.3, 3.2, 5.4, 6.5  Ensure fare construction complies with operational requirements</vt:lpstr>
      <vt:lpstr>2.4, 5.5, 6.6 Calculate mixed fare costs</vt:lpstr>
      <vt:lpstr>2.5, 3.4, 5.6, 6.7 Construct and check accuracy and completeness of air itineraries</vt:lpstr>
      <vt:lpstr>Activity for Element 2 - Construct mixed class fares</vt:lpstr>
      <vt:lpstr>Element 3: Construct airfares incorporating add-ons</vt:lpstr>
      <vt:lpstr>3.1 Identify and interpret available and  applicable add-on flights</vt:lpstr>
      <vt:lpstr>3.1 Identify and interpret available and  applicable add-on flights</vt:lpstr>
      <vt:lpstr>3.1 Identify and interpret available and  applicable add-on flights</vt:lpstr>
      <vt:lpstr>3.3 Calculate through fare costs  including add-ons</vt:lpstr>
      <vt:lpstr>3.3 Calculate through fare costs  including add-ons</vt:lpstr>
      <vt:lpstr>Activity for Element 3 - Construct airfares incorporating add-ons</vt:lpstr>
      <vt:lpstr>Element 4: Prepare International Pre-paid ticket advices</vt:lpstr>
      <vt:lpstr>4.1 Determine the needs and preferences of  client for pre-paid ticket advice (PTA)</vt:lpstr>
      <vt:lpstr>4.1 Determine the needs and preferences of  client for pre-paid ticket advice (PTA)</vt:lpstr>
      <vt:lpstr>4.2 Select flight and carrier that best  meets client needs</vt:lpstr>
      <vt:lpstr>4.3 Process PTA in accordance with  operational requirements</vt:lpstr>
      <vt:lpstr>4.3 Process PTA in accordance with  operational requirements</vt:lpstr>
      <vt:lpstr>4.4 Issue or forward PTA</vt:lpstr>
      <vt:lpstr>Activity for Element 4 - Prepare International Pre-paid ticket advices</vt:lpstr>
      <vt:lpstr>Element 5: Construct round-the-world and round trip itineraries</vt:lpstr>
      <vt:lpstr>5.3, 6.4 Identify and confirm availability of   flights to meet client requirements</vt:lpstr>
      <vt:lpstr>5.3, 6.4 Identify and confirm availability of   flights to meet client requirements</vt:lpstr>
      <vt:lpstr>5.3, 6.4 Identify and confirm availability of   flights to meet client requirements</vt:lpstr>
      <vt:lpstr>5.3, 6.4 Identify and confirm availability of   flights to meet client requirements</vt:lpstr>
      <vt:lpstr>Activity for Element 5 - Construct round-the-world and round trip itineraries</vt:lpstr>
      <vt:lpstr>Element 6: Identify options that enable open jaw journeys</vt:lpstr>
      <vt:lpstr>6.3 Identify options that enable open jaw  journeys</vt:lpstr>
      <vt:lpstr>6.3 Identify options that enable open jaw  journeys</vt:lpstr>
      <vt:lpstr>6.3 Identify options that enable open jaw  journeys</vt:lpstr>
      <vt:lpstr>6.3 Identify options that enable open jaw  journeys</vt:lpstr>
      <vt:lpstr>6.3 Identify options that enable open jaw  journeys</vt:lpstr>
      <vt:lpstr>Activity for Element 6 - Identify options that enable open jaw journeys</vt:lpstr>
      <vt:lpstr>Element 7: Apply the pricing unit concept to fares</vt:lpstr>
      <vt:lpstr>7.1 Divide fare journey into individual  pricing units</vt:lpstr>
      <vt:lpstr>7.1 Divide fare journey into individual  pricing units</vt:lpstr>
      <vt:lpstr>7.1 Divide fare journey into individual  pricing units</vt:lpstr>
      <vt:lpstr>7.1 Divide fare journey into individual  pricing units</vt:lpstr>
      <vt:lpstr>7.1 Divide fare journey into individual  pricing units</vt:lpstr>
      <vt:lpstr>7.2 Calculate lowest combination of fares  for given pricing units</vt:lpstr>
      <vt:lpstr>Activity for Element 7 - Apply the pricing unit concept to fares</vt:lpstr>
      <vt:lpstr>Element 8: Maintain Client File</vt:lpstr>
      <vt:lpstr>8.1 Record and update needs and  preferences of client</vt:lpstr>
      <vt:lpstr>8.2 Record itineraries and airfares quoted</vt:lpstr>
      <vt:lpstr>8.3 Generate and issue documents to  clients</vt:lpstr>
      <vt:lpstr>8.3 Generate and issue documents to  clients</vt:lpstr>
      <vt:lpstr>8.4 Record and process changes to  bookings</vt:lpstr>
      <vt:lpstr>8.5 Record, up-date and receipt payments  made by client</vt:lpstr>
      <vt:lpstr>Activity for Element 8: Maintain Client File</vt:lpstr>
      <vt:lpstr>The End</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Daniel James Chee</dc:creator>
  <cp:lastModifiedBy>Carla Angelica Co</cp:lastModifiedBy>
  <cp:revision>109</cp:revision>
  <dcterms:created xsi:type="dcterms:W3CDTF">2014-04-07T01:46:39Z</dcterms:created>
  <dcterms:modified xsi:type="dcterms:W3CDTF">2016-07-18T06:38:21Z</dcterms:modified>
</cp:coreProperties>
</file>