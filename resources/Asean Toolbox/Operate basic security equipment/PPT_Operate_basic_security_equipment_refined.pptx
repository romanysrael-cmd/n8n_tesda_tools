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notesSlides/notesSlide102.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notesSlides/notesSlide108.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notesSlides/notesSlide99.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notesSlides/notesSlide104.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0"/>
  </p:notesMasterIdLst>
  <p:handoutMasterIdLst>
    <p:handoutMasterId r:id="rId111"/>
  </p:handoutMasterIdLst>
  <p:sldIdLst>
    <p:sldId id="256" r:id="rId2"/>
    <p:sldId id="260" r:id="rId3"/>
    <p:sldId id="452" r:id="rId4"/>
    <p:sldId id="451" r:id="rId5"/>
    <p:sldId id="261" r:id="rId6"/>
    <p:sldId id="294" r:id="rId7"/>
    <p:sldId id="295" r:id="rId8"/>
    <p:sldId id="296" r:id="rId9"/>
    <p:sldId id="297" r:id="rId10"/>
    <p:sldId id="298" r:id="rId11"/>
    <p:sldId id="299" r:id="rId12"/>
    <p:sldId id="439" r:id="rId13"/>
    <p:sldId id="300" r:id="rId14"/>
    <p:sldId id="438" r:id="rId15"/>
    <p:sldId id="440" r:id="rId16"/>
    <p:sldId id="441" r:id="rId17"/>
    <p:sldId id="442" r:id="rId18"/>
    <p:sldId id="443" r:id="rId19"/>
    <p:sldId id="444" r:id="rId20"/>
    <p:sldId id="301" r:id="rId21"/>
    <p:sldId id="302" r:id="rId22"/>
    <p:sldId id="303" r:id="rId23"/>
    <p:sldId id="304" r:id="rId24"/>
    <p:sldId id="305" r:id="rId25"/>
    <p:sldId id="262" r:id="rId26"/>
    <p:sldId id="313" r:id="rId27"/>
    <p:sldId id="445" r:id="rId28"/>
    <p:sldId id="446" r:id="rId29"/>
    <p:sldId id="447" r:id="rId30"/>
    <p:sldId id="448" r:id="rId31"/>
    <p:sldId id="449" r:id="rId32"/>
    <p:sldId id="263" r:id="rId33"/>
    <p:sldId id="321" r:id="rId34"/>
    <p:sldId id="322" r:id="rId35"/>
    <p:sldId id="323" r:id="rId36"/>
    <p:sldId id="324" r:id="rId37"/>
    <p:sldId id="306" r:id="rId38"/>
    <p:sldId id="330" r:id="rId39"/>
    <p:sldId id="331" r:id="rId40"/>
    <p:sldId id="332" r:id="rId41"/>
    <p:sldId id="333" r:id="rId42"/>
    <p:sldId id="334" r:id="rId43"/>
    <p:sldId id="335" r:id="rId44"/>
    <p:sldId id="307" r:id="rId45"/>
    <p:sldId id="341" r:id="rId46"/>
    <p:sldId id="308" r:id="rId47"/>
    <p:sldId id="309" r:id="rId48"/>
    <p:sldId id="346" r:id="rId49"/>
    <p:sldId id="347" r:id="rId50"/>
    <p:sldId id="348" r:id="rId51"/>
    <p:sldId id="349" r:id="rId52"/>
    <p:sldId id="310" r:id="rId53"/>
    <p:sldId id="354" r:id="rId54"/>
    <p:sldId id="355" r:id="rId55"/>
    <p:sldId id="356" r:id="rId56"/>
    <p:sldId id="357" r:id="rId57"/>
    <p:sldId id="358" r:id="rId58"/>
    <p:sldId id="311" r:id="rId59"/>
    <p:sldId id="361" r:id="rId60"/>
    <p:sldId id="362" r:id="rId61"/>
    <p:sldId id="363" r:id="rId62"/>
    <p:sldId id="312" r:id="rId63"/>
    <p:sldId id="369" r:id="rId64"/>
    <p:sldId id="370" r:id="rId65"/>
    <p:sldId id="371" r:id="rId66"/>
    <p:sldId id="372" r:id="rId67"/>
    <p:sldId id="373" r:id="rId68"/>
    <p:sldId id="374" r:id="rId69"/>
    <p:sldId id="264" r:id="rId70"/>
    <p:sldId id="376" r:id="rId71"/>
    <p:sldId id="377" r:id="rId72"/>
    <p:sldId id="378" r:id="rId73"/>
    <p:sldId id="379" r:id="rId74"/>
    <p:sldId id="380" r:id="rId75"/>
    <p:sldId id="381" r:id="rId76"/>
    <p:sldId id="382" r:id="rId77"/>
    <p:sldId id="265" r:id="rId78"/>
    <p:sldId id="392" r:id="rId79"/>
    <p:sldId id="384" r:id="rId80"/>
    <p:sldId id="385" r:id="rId81"/>
    <p:sldId id="397" r:id="rId82"/>
    <p:sldId id="398" r:id="rId83"/>
    <p:sldId id="386" r:id="rId84"/>
    <p:sldId id="403" r:id="rId85"/>
    <p:sldId id="404" r:id="rId86"/>
    <p:sldId id="405" r:id="rId87"/>
    <p:sldId id="406" r:id="rId88"/>
    <p:sldId id="407" r:id="rId89"/>
    <p:sldId id="387" r:id="rId90"/>
    <p:sldId id="410" r:id="rId91"/>
    <p:sldId id="411" r:id="rId92"/>
    <p:sldId id="412" r:id="rId93"/>
    <p:sldId id="413" r:id="rId94"/>
    <p:sldId id="414" r:id="rId95"/>
    <p:sldId id="388" r:id="rId96"/>
    <p:sldId id="416" r:id="rId97"/>
    <p:sldId id="417" r:id="rId98"/>
    <p:sldId id="418" r:id="rId99"/>
    <p:sldId id="419" r:id="rId100"/>
    <p:sldId id="420" r:id="rId101"/>
    <p:sldId id="389" r:id="rId102"/>
    <p:sldId id="423" r:id="rId103"/>
    <p:sldId id="424" r:id="rId104"/>
    <p:sldId id="425" r:id="rId105"/>
    <p:sldId id="426" r:id="rId106"/>
    <p:sldId id="450" r:id="rId107"/>
    <p:sldId id="390" r:id="rId108"/>
    <p:sldId id="429" r:id="rId10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27" autoAdjust="0"/>
    <p:restoredTop sz="79882" autoAdjust="0"/>
  </p:normalViewPr>
  <p:slideViewPr>
    <p:cSldViewPr>
      <p:cViewPr>
        <p:scale>
          <a:sx n="80" d="100"/>
          <a:sy n="80" d="100"/>
        </p:scale>
        <p:origin x="-1968" y="-2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4/18/2013</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4/18/2013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selecting and preparing security equipment for use by asking questions such as:</a:t>
            </a:r>
          </a:p>
          <a:p>
            <a:pPr>
              <a:buFont typeface="Arial" pitchFamily="34" charset="0"/>
              <a:buChar char="•"/>
            </a:pPr>
            <a:r>
              <a:rPr lang="en-AU" noProof="0" dirty="0" smtClean="0"/>
              <a:t> What security items, equipment and systems are you aware of?</a:t>
            </a:r>
          </a:p>
          <a:p>
            <a:pPr>
              <a:buFont typeface="Arial" pitchFamily="34" charset="0"/>
              <a:buChar char="•"/>
            </a:pPr>
            <a:r>
              <a:rPr lang="en-AU" noProof="0" dirty="0" smtClean="0"/>
              <a:t> What is the role of security equipment in a venue?</a:t>
            </a:r>
          </a:p>
          <a:p>
            <a:pPr>
              <a:buFont typeface="Arial" pitchFamily="34" charset="0"/>
              <a:buChar char="•"/>
            </a:pPr>
            <a:r>
              <a:rPr lang="en-AU" noProof="0" dirty="0" smtClean="0"/>
              <a:t> Who</a:t>
            </a:r>
            <a:r>
              <a:rPr lang="en-AU" baseline="0" noProof="0" dirty="0" smtClean="0"/>
              <a:t> is involved in providing security in a venue?</a:t>
            </a:r>
          </a:p>
          <a:p>
            <a:pPr>
              <a:buFont typeface="Arial" pitchFamily="34" charset="0"/>
              <a:buChar char="•"/>
            </a:pPr>
            <a:r>
              <a:rPr lang="en-AU" baseline="0" noProof="0" dirty="0" smtClean="0"/>
              <a:t> What rights do those involved with security have and what legal obligation must they comply with?</a:t>
            </a:r>
          </a:p>
          <a:p>
            <a:pPr>
              <a:buFont typeface="Arial" pitchFamily="34" charset="0"/>
              <a:buChar char="•"/>
            </a:pPr>
            <a:r>
              <a:rPr lang="en-AU" baseline="0" noProof="0" dirty="0" smtClean="0"/>
              <a:t> What training do you think security staff receive?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it is important to select the correct security equipment for the job to be completed explaining security equipment used in venues:</a:t>
            </a:r>
          </a:p>
          <a:p>
            <a:pPr>
              <a:buFont typeface="Arial" pitchFamily="34" charset="0"/>
              <a:buChar char="•"/>
            </a:pPr>
            <a:r>
              <a:rPr lang="en-AU" sz="1200" kern="1200" dirty="0" smtClean="0">
                <a:solidFill>
                  <a:schemeClr val="tx1"/>
                </a:solidFill>
                <a:latin typeface="+mn-lt"/>
                <a:ea typeface="+mn-ea"/>
                <a:cs typeface="+mn-cs"/>
              </a:rPr>
              <a:t> Will be provided by management </a:t>
            </a:r>
          </a:p>
          <a:p>
            <a:pPr>
              <a:buFont typeface="Arial" pitchFamily="34" charset="0"/>
              <a:buChar char="•"/>
            </a:pPr>
            <a:r>
              <a:rPr lang="en-AU" sz="1200" kern="1200" dirty="0" smtClean="0">
                <a:solidFill>
                  <a:schemeClr val="tx1"/>
                </a:solidFill>
                <a:latin typeface="+mn-lt"/>
                <a:ea typeface="+mn-ea"/>
                <a:cs typeface="+mn-cs"/>
              </a:rPr>
              <a:t> Is often supplemented by personal property of security staff who frequently have preferences for carrying and/or using certain items.</a:t>
            </a:r>
          </a:p>
          <a:p>
            <a:pPr>
              <a:buFont typeface="Arial" pitchFamily="34" charset="0"/>
              <a:buChar char="•"/>
            </a:pPr>
            <a:r>
              <a:rPr lang="en-AU" sz="1200" kern="1200" dirty="0" smtClean="0">
                <a:solidFill>
                  <a:schemeClr val="tx1"/>
                </a:solidFill>
                <a:latin typeface="+mn-lt"/>
                <a:ea typeface="+mn-ea"/>
                <a:cs typeface="+mn-cs"/>
              </a:rPr>
              <a:t> For example, management may provide hinged handcuffs but individuals may prefer to use, and buy their own, chained handcuffs.</a:t>
            </a:r>
          </a:p>
          <a:p>
            <a:pPr>
              <a:buFont typeface="Arial" pitchFamily="34" charset="0"/>
              <a:buChar char="•"/>
            </a:pPr>
            <a:r>
              <a:rPr lang="en-AU" sz="1200" kern="1200" dirty="0" smtClean="0">
                <a:solidFill>
                  <a:schemeClr val="tx1"/>
                </a:solidFill>
                <a:latin typeface="+mn-lt"/>
                <a:ea typeface="+mn-ea"/>
                <a:cs typeface="+mn-cs"/>
              </a:rPr>
              <a:t> Security staff also often have strongly-held preferences for asps and torches/flashlights.</a:t>
            </a:r>
          </a:p>
          <a:p>
            <a:pPr>
              <a:buFont typeface="Arial" pitchFamily="34" charset="0"/>
              <a:buChar char="•"/>
            </a:pPr>
            <a:r>
              <a:rPr lang="en-AU" sz="1200" kern="1200" dirty="0" smtClean="0">
                <a:solidFill>
                  <a:schemeClr val="tx1"/>
                </a:solidFill>
                <a:latin typeface="+mn-lt"/>
                <a:ea typeface="+mn-ea"/>
                <a:cs typeface="+mn-cs"/>
              </a:rPr>
              <a:t> Management must always approve the use of any personal security equipment or items used by employees.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b="0" kern="1200" dirty="0" smtClean="0">
                <a:solidFill>
                  <a:schemeClr val="tx1"/>
                </a:solidFill>
                <a:latin typeface="+mn-lt"/>
                <a:ea typeface="+mn-ea"/>
                <a:cs typeface="+mn-cs"/>
              </a:rPr>
              <a:t>security equipment used by staff may vary between venues with variations based on: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Layout of the venue – internally and externally </a:t>
            </a:r>
          </a:p>
          <a:p>
            <a:pPr>
              <a:buFont typeface="Arial" pitchFamily="34" charset="0"/>
              <a:buChar char="•"/>
            </a:pPr>
            <a:r>
              <a:rPr lang="en-AU" sz="1200" kern="1200" dirty="0" smtClean="0">
                <a:solidFill>
                  <a:schemeClr val="tx1"/>
                </a:solidFill>
                <a:latin typeface="+mn-lt"/>
                <a:ea typeface="+mn-ea"/>
                <a:cs typeface="+mn-cs"/>
              </a:rPr>
              <a:t> Geographic location of the property</a:t>
            </a:r>
          </a:p>
          <a:p>
            <a:pPr>
              <a:buFont typeface="Arial" pitchFamily="34" charset="0"/>
              <a:buChar char="•"/>
            </a:pPr>
            <a:r>
              <a:rPr lang="en-AU" sz="1200" kern="1200" dirty="0" smtClean="0">
                <a:solidFill>
                  <a:schemeClr val="tx1"/>
                </a:solidFill>
                <a:latin typeface="+mn-lt"/>
                <a:ea typeface="+mn-ea"/>
                <a:cs typeface="+mn-cs"/>
              </a:rPr>
              <a:t> Volume of trade, patronage or custom</a:t>
            </a:r>
          </a:p>
          <a:p>
            <a:pPr>
              <a:buFont typeface="Arial" pitchFamily="34" charset="0"/>
              <a:buChar char="•"/>
            </a:pPr>
            <a:r>
              <a:rPr lang="en-AU" sz="1200" kern="1200" dirty="0" smtClean="0">
                <a:solidFill>
                  <a:schemeClr val="tx1"/>
                </a:solidFill>
                <a:latin typeface="+mn-lt"/>
                <a:ea typeface="+mn-ea"/>
                <a:cs typeface="+mn-cs"/>
              </a:rPr>
              <a:t> Hours the venue is open for business</a:t>
            </a:r>
          </a:p>
          <a:p>
            <a:pPr>
              <a:buFont typeface="Arial" pitchFamily="34" charset="0"/>
              <a:buChar char="•"/>
            </a:pPr>
            <a:r>
              <a:rPr lang="en-AU" sz="1200" kern="1200" dirty="0" smtClean="0">
                <a:solidFill>
                  <a:schemeClr val="tx1"/>
                </a:solidFill>
                <a:latin typeface="+mn-lt"/>
                <a:ea typeface="+mn-ea"/>
                <a:cs typeface="+mn-cs"/>
              </a:rPr>
              <a:t> The proximity to other operations and the type/nature of those business and when they are open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identifying </a:t>
            </a:r>
            <a:r>
              <a:rPr lang="en-AU" sz="1200" b="0" kern="1200" dirty="0" smtClean="0">
                <a:solidFill>
                  <a:schemeClr val="tx1"/>
                </a:solidFill>
                <a:latin typeface="+mn-lt"/>
                <a:ea typeface="+mn-ea"/>
                <a:cs typeface="+mn-cs"/>
              </a:rPr>
              <a:t>security equipment used at different venues:</a:t>
            </a:r>
          </a:p>
          <a:p>
            <a:pPr>
              <a:buFont typeface="Arial" pitchFamily="34" charset="0"/>
              <a:buChar char="•"/>
            </a:pPr>
            <a:r>
              <a:rPr lang="en-AU" sz="1200" kern="1200" dirty="0" smtClean="0">
                <a:solidFill>
                  <a:schemeClr val="tx1"/>
                </a:solidFill>
                <a:latin typeface="+mn-lt"/>
                <a:ea typeface="+mn-ea"/>
                <a:cs typeface="+mn-cs"/>
              </a:rPr>
              <a:t> Type and nature of customers the venue attracts</a:t>
            </a:r>
          </a:p>
          <a:p>
            <a:pPr>
              <a:buFont typeface="Arial" pitchFamily="34" charset="0"/>
              <a:buChar char="•"/>
            </a:pPr>
            <a:r>
              <a:rPr lang="en-AU" sz="1200" kern="1200" dirty="0" smtClean="0">
                <a:solidFill>
                  <a:schemeClr val="tx1"/>
                </a:solidFill>
                <a:latin typeface="+mn-lt"/>
                <a:ea typeface="+mn-ea"/>
                <a:cs typeface="+mn-cs"/>
              </a:rPr>
              <a:t> Previous history of the venue in terms of security incidents it has experienced</a:t>
            </a:r>
          </a:p>
          <a:p>
            <a:pPr>
              <a:buFont typeface="Arial" pitchFamily="34" charset="0"/>
              <a:buChar char="•"/>
            </a:pPr>
            <a:r>
              <a:rPr lang="en-AU" sz="1200" kern="1200" dirty="0" smtClean="0">
                <a:solidFill>
                  <a:schemeClr val="tx1"/>
                </a:solidFill>
                <a:latin typeface="+mn-lt"/>
                <a:ea typeface="+mn-ea"/>
                <a:cs typeface="+mn-cs"/>
              </a:rPr>
              <a:t> Local and emerging trends in relation to security</a:t>
            </a:r>
          </a:p>
          <a:p>
            <a:pPr>
              <a:buFont typeface="Arial" pitchFamily="34" charset="0"/>
              <a:buChar char="•"/>
            </a:pPr>
            <a:r>
              <a:rPr lang="en-AU" sz="1200" kern="1200" dirty="0" smtClean="0">
                <a:solidFill>
                  <a:schemeClr val="tx1"/>
                </a:solidFill>
                <a:latin typeface="+mn-lt"/>
                <a:ea typeface="+mn-ea"/>
                <a:cs typeface="+mn-cs"/>
              </a:rPr>
              <a:t> Number of staff employed</a:t>
            </a:r>
          </a:p>
          <a:p>
            <a:pPr>
              <a:buFont typeface="Arial" pitchFamily="34" charset="0"/>
              <a:buChar char="•"/>
            </a:pPr>
            <a:r>
              <a:rPr lang="en-AU" sz="1200" kern="1200" dirty="0" smtClean="0">
                <a:solidFill>
                  <a:schemeClr val="tx1"/>
                </a:solidFill>
                <a:latin typeface="+mn-lt"/>
                <a:ea typeface="+mn-ea"/>
                <a:cs typeface="+mn-cs"/>
              </a:rPr>
              <a:t> Budget available</a:t>
            </a:r>
          </a:p>
          <a:p>
            <a:pPr>
              <a:buFont typeface="Arial" pitchFamily="34" charset="0"/>
              <a:buChar char="•"/>
            </a:pPr>
            <a:r>
              <a:rPr lang="en-AU" sz="1200" kern="1200" dirty="0" smtClean="0">
                <a:solidFill>
                  <a:schemeClr val="tx1"/>
                </a:solidFill>
                <a:latin typeface="+mn-lt"/>
                <a:ea typeface="+mn-ea"/>
                <a:cs typeface="+mn-cs"/>
              </a:rPr>
              <a:t> Identified need regarding customer/guest expectations about security</a:t>
            </a:r>
          </a:p>
          <a:p>
            <a:pPr>
              <a:buFont typeface="Arial" pitchFamily="34" charset="0"/>
              <a:buChar char="•"/>
            </a:pPr>
            <a:r>
              <a:rPr lang="en-AU" sz="1200" kern="1200" dirty="0" smtClean="0">
                <a:solidFill>
                  <a:schemeClr val="tx1"/>
                </a:solidFill>
                <a:latin typeface="+mn-lt"/>
                <a:ea typeface="+mn-ea"/>
                <a:cs typeface="+mn-cs"/>
              </a:rPr>
              <a:t> Personal items used/carried by individual staff.</a:t>
            </a: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b="0" kern="1200" dirty="0" smtClean="0">
                <a:solidFill>
                  <a:schemeClr val="tx1"/>
                </a:solidFill>
                <a:latin typeface="+mn-lt"/>
                <a:ea typeface="+mn-ea"/>
                <a:cs typeface="+mn-cs"/>
              </a:rPr>
              <a:t>communication equipment is required in relation to security:</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So management can communicate with security staff on an ongoing, day-to-day basis</a:t>
            </a:r>
          </a:p>
          <a:p>
            <a:pPr>
              <a:buFont typeface="Arial" pitchFamily="34" charset="0"/>
              <a:buChar char="•"/>
            </a:pPr>
            <a:r>
              <a:rPr lang="en-AU" sz="1200" kern="1200" dirty="0" smtClean="0">
                <a:solidFill>
                  <a:schemeClr val="tx1"/>
                </a:solidFill>
                <a:latin typeface="+mn-lt"/>
                <a:ea typeface="+mn-ea"/>
                <a:cs typeface="+mn-cs"/>
              </a:rPr>
              <a:t> To communicate with security staff in the event of an emergency</a:t>
            </a:r>
          </a:p>
          <a:p>
            <a:pPr>
              <a:buFont typeface="Arial" pitchFamily="34" charset="0"/>
              <a:buChar char="•"/>
            </a:pPr>
            <a:r>
              <a:rPr lang="en-AU" sz="1200" kern="1200" dirty="0" smtClean="0">
                <a:solidFill>
                  <a:schemeClr val="tx1"/>
                </a:solidFill>
                <a:latin typeface="+mn-lt"/>
                <a:ea typeface="+mn-ea"/>
                <a:cs typeface="+mn-cs"/>
              </a:rPr>
              <a:t> To allow security staff and management to communicate with each other</a:t>
            </a:r>
          </a:p>
          <a:p>
            <a:pPr>
              <a:buFont typeface="Arial" pitchFamily="34" charset="0"/>
              <a:buChar char="•"/>
            </a:pPr>
            <a:r>
              <a:rPr lang="en-AU" sz="1200" kern="1200" dirty="0" smtClean="0">
                <a:solidFill>
                  <a:schemeClr val="tx1"/>
                </a:solidFill>
                <a:latin typeface="+mn-lt"/>
                <a:ea typeface="+mn-ea"/>
                <a:cs typeface="+mn-cs"/>
              </a:rPr>
              <a:t> So the venue can communicate with customers and guests</a:t>
            </a:r>
          </a:p>
          <a:p>
            <a:pPr>
              <a:buFont typeface="Arial" pitchFamily="34" charset="0"/>
              <a:buChar char="•"/>
            </a:pPr>
            <a:r>
              <a:rPr lang="en-AU" sz="1200" kern="1200" dirty="0" smtClean="0">
                <a:solidFill>
                  <a:schemeClr val="tx1"/>
                </a:solidFill>
                <a:latin typeface="+mn-lt"/>
                <a:ea typeface="+mn-ea"/>
                <a:cs typeface="+mn-cs"/>
              </a:rPr>
              <a:t> To allow the venue to communicate with emergency authorities – such as when where there is a need to involve police, ambulance, fire or civil defence agencies).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b="0" kern="1200" dirty="0" smtClean="0">
                <a:solidFill>
                  <a:schemeClr val="tx1"/>
                </a:solidFill>
                <a:latin typeface="+mn-lt"/>
                <a:ea typeface="+mn-ea"/>
                <a:cs typeface="+mn-cs"/>
              </a:rPr>
              <a:t>commonly used comms equipment: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Hand-held two-way radios (UHF and VHF) – which may feature lapel microphones</a:t>
            </a:r>
          </a:p>
          <a:p>
            <a:pPr>
              <a:buFont typeface="Arial" pitchFamily="34" charset="0"/>
              <a:buChar char="•"/>
            </a:pPr>
            <a:r>
              <a:rPr lang="en-AU" sz="1200" kern="1200" dirty="0" smtClean="0">
                <a:solidFill>
                  <a:schemeClr val="tx1"/>
                </a:solidFill>
                <a:latin typeface="+mn-lt"/>
                <a:ea typeface="+mn-ea"/>
                <a:cs typeface="+mn-cs"/>
              </a:rPr>
              <a:t> Communication headsets with earpieces – allowing the hands to be free for other work</a:t>
            </a:r>
          </a:p>
          <a:p>
            <a:pPr>
              <a:buFont typeface="Arial" pitchFamily="34" charset="0"/>
              <a:buChar char="•"/>
            </a:pPr>
            <a:r>
              <a:rPr lang="en-AU" sz="1200" kern="1200" dirty="0" smtClean="0">
                <a:solidFill>
                  <a:schemeClr val="tx1"/>
                </a:solidFill>
                <a:latin typeface="+mn-lt"/>
                <a:ea typeface="+mn-ea"/>
                <a:cs typeface="+mn-cs"/>
              </a:rPr>
              <a:t> Landline telephones – such as the internal telephony system in a venue</a:t>
            </a:r>
          </a:p>
          <a:p>
            <a:pPr>
              <a:buFont typeface="Arial" pitchFamily="34" charset="0"/>
              <a:buChar char="•"/>
            </a:pPr>
            <a:r>
              <a:rPr lang="en-AU" sz="1200" kern="1200" dirty="0" smtClean="0">
                <a:solidFill>
                  <a:schemeClr val="tx1"/>
                </a:solidFill>
                <a:latin typeface="+mn-lt"/>
                <a:ea typeface="+mn-ea"/>
                <a:cs typeface="+mn-cs"/>
              </a:rPr>
              <a:t> Cell phones – provided by management</a:t>
            </a:r>
          </a:p>
          <a:p>
            <a:pPr>
              <a:buFont typeface="Arial" pitchFamily="34" charset="0"/>
              <a:buChar char="•"/>
            </a:pPr>
            <a:r>
              <a:rPr lang="en-AU" sz="1200" kern="1200" dirty="0" smtClean="0">
                <a:solidFill>
                  <a:schemeClr val="tx1"/>
                </a:solidFill>
                <a:latin typeface="+mn-lt"/>
                <a:ea typeface="+mn-ea"/>
                <a:cs typeface="+mn-cs"/>
              </a:rPr>
              <a:t> Pagers – of limited use but can be used as a back-up to summon assistance or ask a security officer to check in/contact someone</a:t>
            </a:r>
          </a:p>
          <a:p>
            <a:pPr>
              <a:buFont typeface="Arial" pitchFamily="34" charset="0"/>
              <a:buChar char="•"/>
            </a:pPr>
            <a:r>
              <a:rPr lang="en-AU" sz="1200" kern="1200" dirty="0" smtClean="0">
                <a:solidFill>
                  <a:schemeClr val="tx1"/>
                </a:solidFill>
                <a:latin typeface="+mn-lt"/>
                <a:ea typeface="+mn-ea"/>
                <a:cs typeface="+mn-cs"/>
              </a:rPr>
              <a:t> Public address systems – can be used to communicate generally with customers, or the systems can be used in defined areas/sections (sectors) only</a:t>
            </a:r>
          </a:p>
          <a:p>
            <a:pPr>
              <a:buFont typeface="Arial" pitchFamily="34" charset="0"/>
              <a:buChar char="•"/>
            </a:pPr>
            <a:r>
              <a:rPr lang="en-AU" sz="1200" kern="1200" dirty="0" smtClean="0">
                <a:solidFill>
                  <a:schemeClr val="tx1"/>
                </a:solidFill>
                <a:latin typeface="+mn-lt"/>
                <a:ea typeface="+mn-ea"/>
                <a:cs typeface="+mn-cs"/>
              </a:rPr>
              <a:t> Megaphones – for communicating with the public where the PA system does not operate, as an alternative to the PA system or during emergencies and evacuations.</a:t>
            </a:r>
          </a:p>
          <a:p>
            <a:pPr>
              <a:buFont typeface="Arial" pitchFamily="34" charset="0"/>
              <a:buNone/>
            </a:pPr>
            <a:endParaRPr lang="en-AU" noProof="0" dirty="0" smtClean="0"/>
          </a:p>
          <a:p>
            <a:pPr>
              <a:buFont typeface="Arial" pitchFamily="34" charset="0"/>
              <a:buNone/>
            </a:pPr>
            <a:r>
              <a:rPr lang="en-AU" b="1" noProof="0" dirty="0" smtClean="0"/>
              <a:t>Class Activity – Presentation, Explanation, Demonstration and Practical</a:t>
            </a:r>
          </a:p>
          <a:p>
            <a:pPr>
              <a:buFont typeface="Arial" pitchFamily="34" charset="0"/>
              <a:buNone/>
            </a:pPr>
            <a:r>
              <a:rPr lang="en-AU" b="0" noProof="0" dirty="0" smtClean="0"/>
              <a:t>Trainer obtains sample of each item listed on slide and:</a:t>
            </a:r>
          </a:p>
          <a:p>
            <a:pPr>
              <a:buFont typeface="Arial" pitchFamily="34" charset="0"/>
              <a:buChar char="•"/>
            </a:pPr>
            <a:r>
              <a:rPr lang="en-AU" b="0" noProof="0" dirty="0" smtClean="0"/>
              <a:t> Identifies and presents each</a:t>
            </a:r>
          </a:p>
          <a:p>
            <a:pPr>
              <a:buFont typeface="Arial" pitchFamily="34" charset="0"/>
              <a:buChar char="•"/>
            </a:pPr>
            <a:r>
              <a:rPr lang="en-AU" b="0" noProof="0" dirty="0" smtClean="0"/>
              <a:t> Demonstrates how to use each including demonstration of features</a:t>
            </a:r>
          </a:p>
          <a:p>
            <a:pPr>
              <a:buFont typeface="Arial" pitchFamily="34" charset="0"/>
              <a:buChar char="•"/>
            </a:pPr>
            <a:r>
              <a:rPr lang="en-AU" b="0" noProof="0" dirty="0" smtClean="0"/>
              <a:t> Explains use of each including identification of limitations</a:t>
            </a:r>
          </a:p>
          <a:p>
            <a:pPr>
              <a:buFont typeface="Arial" pitchFamily="34" charset="0"/>
              <a:buChar char="•"/>
            </a:pPr>
            <a:r>
              <a:rPr lang="en-AU" b="0" noProof="0" dirty="0" smtClean="0"/>
              <a:t> Provides opportunity for students to practice with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b="0" kern="1200" dirty="0" smtClean="0">
                <a:solidFill>
                  <a:schemeClr val="tx1"/>
                </a:solidFill>
                <a:latin typeface="+mn-lt"/>
                <a:ea typeface="+mn-ea"/>
                <a:cs typeface="+mn-cs"/>
              </a:rPr>
              <a:t>office equipment is needed to support the efforts of security staff by providing the standard services required by all departments/workers in a venue – office equipment may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Desks, chairs, cupboards, shelving</a:t>
            </a:r>
          </a:p>
          <a:p>
            <a:pPr>
              <a:buFont typeface="Arial" pitchFamily="34" charset="0"/>
              <a:buChar char="•"/>
            </a:pPr>
            <a:r>
              <a:rPr lang="en-AU" sz="1200" kern="1200" dirty="0" smtClean="0">
                <a:solidFill>
                  <a:schemeClr val="tx1"/>
                </a:solidFill>
                <a:latin typeface="+mn-lt"/>
                <a:ea typeface="+mn-ea"/>
                <a:cs typeface="+mn-cs"/>
              </a:rPr>
              <a:t> Computers with internet connection – for general administrative tasks</a:t>
            </a:r>
          </a:p>
          <a:p>
            <a:pPr>
              <a:buFont typeface="Arial" pitchFamily="34" charset="0"/>
              <a:buChar char="•"/>
            </a:pPr>
            <a:r>
              <a:rPr lang="en-AU" sz="1200" kern="1200" dirty="0" smtClean="0">
                <a:solidFill>
                  <a:schemeClr val="tx1"/>
                </a:solidFill>
                <a:latin typeface="+mn-lt"/>
                <a:ea typeface="+mn-ea"/>
                <a:cs typeface="+mn-cs"/>
              </a:rPr>
              <a:t> Printers – to produce hard copies of reports, plans, assignments</a:t>
            </a:r>
          </a:p>
          <a:p>
            <a:pPr>
              <a:buFont typeface="Arial" pitchFamily="34" charset="0"/>
              <a:buChar char="•"/>
            </a:pPr>
            <a:r>
              <a:rPr lang="en-AU" sz="1200" kern="1200" dirty="0" smtClean="0">
                <a:solidFill>
                  <a:schemeClr val="tx1"/>
                </a:solidFill>
                <a:latin typeface="+mn-lt"/>
                <a:ea typeface="+mn-ea"/>
                <a:cs typeface="+mn-cs"/>
              </a:rPr>
              <a:t> Facsimile machines – to provide a back-up for email communication</a:t>
            </a:r>
          </a:p>
          <a:p>
            <a:pPr>
              <a:buFont typeface="Arial" pitchFamily="34" charset="0"/>
              <a:buChar char="•"/>
            </a:pPr>
            <a:r>
              <a:rPr lang="en-AU" sz="1200" kern="1200" dirty="0" smtClean="0">
                <a:solidFill>
                  <a:schemeClr val="tx1"/>
                </a:solidFill>
                <a:latin typeface="+mn-lt"/>
                <a:ea typeface="+mn-ea"/>
                <a:cs typeface="+mn-cs"/>
              </a:rPr>
              <a:t> White boards – for planning and messages</a:t>
            </a:r>
          </a:p>
          <a:p>
            <a:pPr>
              <a:buFont typeface="Arial" pitchFamily="34" charset="0"/>
              <a:buChar char="•"/>
            </a:pPr>
            <a:r>
              <a:rPr lang="en-AU" sz="1200" kern="1200" dirty="0" smtClean="0">
                <a:solidFill>
                  <a:schemeClr val="tx1"/>
                </a:solidFill>
                <a:latin typeface="+mn-lt"/>
                <a:ea typeface="+mn-ea"/>
                <a:cs typeface="+mn-cs"/>
              </a:rPr>
              <a:t> Photocopiers – for reproducing necessary documents</a:t>
            </a:r>
          </a:p>
          <a:p>
            <a:pPr>
              <a:buFont typeface="Arial" pitchFamily="34" charset="0"/>
              <a:buChar char="•"/>
            </a:pPr>
            <a:r>
              <a:rPr lang="en-AU" sz="1200" kern="1200" dirty="0" smtClean="0">
                <a:solidFill>
                  <a:schemeClr val="tx1"/>
                </a:solidFill>
                <a:latin typeface="+mn-lt"/>
                <a:ea typeface="+mn-ea"/>
                <a:cs typeface="+mn-cs"/>
              </a:rPr>
              <a:t> TV monitor – for replaying surveillance vision</a:t>
            </a:r>
          </a:p>
          <a:p>
            <a:pPr>
              <a:buFont typeface="Arial" pitchFamily="34" charset="0"/>
              <a:buChar char="•"/>
            </a:pPr>
            <a:r>
              <a:rPr lang="en-AU" sz="1200" kern="1200" dirty="0" smtClean="0">
                <a:solidFill>
                  <a:schemeClr val="tx1"/>
                </a:solidFill>
                <a:latin typeface="+mn-lt"/>
                <a:ea typeface="+mn-ea"/>
                <a:cs typeface="+mn-cs"/>
              </a:rPr>
              <a:t> Filing cabinets.</a:t>
            </a:r>
          </a:p>
          <a:p>
            <a:pPr>
              <a:buFont typeface="Arial" pitchFamily="34" charset="0"/>
              <a:buNone/>
            </a:pPr>
            <a:endParaRPr lang="en-AU" noProof="0" dirty="0" smtClean="0"/>
          </a:p>
          <a:p>
            <a:pPr>
              <a:buFont typeface="Arial" pitchFamily="34" charset="0"/>
              <a:buNone/>
            </a:pPr>
            <a:r>
              <a:rPr lang="en-AU" b="1" noProof="0" dirty="0" smtClean="0"/>
              <a:t>Class Activity – Discussion</a:t>
            </a:r>
          </a:p>
          <a:p>
            <a:pPr>
              <a:buFont typeface="Arial" pitchFamily="34" charset="0"/>
              <a:buNone/>
            </a:pPr>
            <a:r>
              <a:rPr lang="en-AU" b="0" noProof="0" dirty="0" smtClean="0"/>
              <a:t>Trainer asks trainees to identify what each of the items listed on the slide might be used for in relation to Security work/staff.</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b="0" kern="1200" dirty="0" smtClean="0">
                <a:solidFill>
                  <a:schemeClr val="tx1"/>
                </a:solidFill>
                <a:latin typeface="+mn-lt"/>
                <a:ea typeface="+mn-ea"/>
                <a:cs typeface="+mn-cs"/>
              </a:rPr>
              <a:t>depending on size, location and layout of the property there can be a need for security staff to use a variety of transportation options such as:</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Cars – usually:</a:t>
            </a:r>
          </a:p>
          <a:p>
            <a:pPr lvl="1">
              <a:buFont typeface="Arial" pitchFamily="34" charset="0"/>
              <a:buChar char="•"/>
            </a:pPr>
            <a:r>
              <a:rPr lang="en-AU" sz="1200" kern="1200" dirty="0" smtClean="0">
                <a:solidFill>
                  <a:schemeClr val="tx1"/>
                </a:solidFill>
                <a:latin typeface="+mn-lt"/>
                <a:ea typeface="+mn-ea"/>
                <a:cs typeface="+mn-cs"/>
              </a:rPr>
              <a:t> Signed as ‘Security’ vehicles – but premises may use unmarked cars to enable covert surveillance, however most vehicles are intended to be a deterrent so high-profile/high visibility is important</a:t>
            </a:r>
          </a:p>
          <a:p>
            <a:pPr lvl="1">
              <a:buFont typeface="Arial" pitchFamily="34" charset="0"/>
              <a:buChar char="•"/>
            </a:pPr>
            <a:r>
              <a:rPr lang="en-AU" sz="1200" kern="1200" dirty="0" smtClean="0">
                <a:solidFill>
                  <a:schemeClr val="tx1"/>
                </a:solidFill>
                <a:latin typeface="+mn-lt"/>
                <a:ea typeface="+mn-ea"/>
                <a:cs typeface="+mn-cs"/>
              </a:rPr>
              <a:t> Equipped with communication</a:t>
            </a:r>
          </a:p>
          <a:p>
            <a:pPr lvl="1">
              <a:buFont typeface="Arial" pitchFamily="34" charset="0"/>
              <a:buChar char="•"/>
            </a:pPr>
            <a:r>
              <a:rPr lang="en-AU" sz="1200" kern="1200" dirty="0" smtClean="0">
                <a:solidFill>
                  <a:schemeClr val="tx1"/>
                </a:solidFill>
                <a:latin typeface="+mn-lt"/>
                <a:ea typeface="+mn-ea"/>
                <a:cs typeface="+mn-cs"/>
              </a:rPr>
              <a:t> Fitted with spotlight</a:t>
            </a:r>
          </a:p>
          <a:p>
            <a:pPr lvl="1">
              <a:buFont typeface="Arial" pitchFamily="34" charset="0"/>
              <a:buChar char="•"/>
            </a:pPr>
            <a:r>
              <a:rPr lang="en-AU" sz="1200" kern="1200" dirty="0" smtClean="0">
                <a:solidFill>
                  <a:schemeClr val="tx1"/>
                </a:solidFill>
                <a:latin typeface="+mn-lt"/>
                <a:ea typeface="+mn-ea"/>
                <a:cs typeface="+mn-cs"/>
              </a:rPr>
              <a:t> Carrying flashing lights</a:t>
            </a:r>
          </a:p>
          <a:p>
            <a:pPr>
              <a:buFont typeface="Arial" pitchFamily="34" charset="0"/>
              <a:buChar char="•"/>
            </a:pPr>
            <a:r>
              <a:rPr lang="en-AU" sz="1200" kern="1200" dirty="0" smtClean="0">
                <a:solidFill>
                  <a:schemeClr val="tx1"/>
                </a:solidFill>
                <a:latin typeface="+mn-lt"/>
                <a:ea typeface="+mn-ea"/>
                <a:cs typeface="+mn-cs"/>
              </a:rPr>
              <a:t> Vans – commonly used where there is a need to:</a:t>
            </a:r>
          </a:p>
          <a:p>
            <a:pPr lvl="1">
              <a:buFont typeface="Arial" pitchFamily="34" charset="0"/>
              <a:buChar char="•"/>
            </a:pPr>
            <a:r>
              <a:rPr lang="en-AU" sz="1200" kern="1200" dirty="0" smtClean="0">
                <a:solidFill>
                  <a:schemeClr val="tx1"/>
                </a:solidFill>
                <a:latin typeface="+mn-lt"/>
                <a:ea typeface="+mn-ea"/>
                <a:cs typeface="+mn-cs"/>
              </a:rPr>
              <a:t> Carry guest valuable items</a:t>
            </a:r>
          </a:p>
          <a:p>
            <a:pPr lvl="1">
              <a:buFont typeface="Arial" pitchFamily="34" charset="0"/>
              <a:buChar char="•"/>
            </a:pPr>
            <a:r>
              <a:rPr lang="en-AU" sz="1200" kern="1200" dirty="0" smtClean="0">
                <a:solidFill>
                  <a:schemeClr val="tx1"/>
                </a:solidFill>
                <a:latin typeface="+mn-lt"/>
                <a:ea typeface="+mn-ea"/>
                <a:cs typeface="+mn-cs"/>
              </a:rPr>
              <a:t> Provide escort to people</a:t>
            </a:r>
          </a:p>
          <a:p>
            <a:pPr lvl="1">
              <a:buFont typeface="Arial" pitchFamily="34" charset="0"/>
              <a:buChar char="•"/>
            </a:pPr>
            <a:r>
              <a:rPr lang="en-AU" sz="1200" kern="1200" dirty="0" smtClean="0">
                <a:solidFill>
                  <a:schemeClr val="tx1"/>
                </a:solidFill>
                <a:latin typeface="+mn-lt"/>
                <a:ea typeface="+mn-ea"/>
                <a:cs typeface="+mn-cs"/>
              </a:rPr>
              <a:t> Move property assets</a:t>
            </a:r>
          </a:p>
          <a:p>
            <a:pPr>
              <a:buFont typeface="Arial" pitchFamily="34" charset="0"/>
              <a:buChar char="•"/>
            </a:pPr>
            <a:r>
              <a:rPr lang="en-AU" sz="1200" kern="1200" dirty="0" smtClean="0">
                <a:solidFill>
                  <a:schemeClr val="tx1"/>
                </a:solidFill>
                <a:latin typeface="+mn-lt"/>
                <a:ea typeface="+mn-ea"/>
                <a:cs typeface="+mn-cs"/>
              </a:rPr>
              <a:t> Motorcycles – which:</a:t>
            </a:r>
          </a:p>
          <a:p>
            <a:pPr lvl="1">
              <a:buFont typeface="Arial" pitchFamily="34" charset="0"/>
              <a:buChar char="•"/>
            </a:pPr>
            <a:r>
              <a:rPr lang="en-US" sz="1200" kern="1200" dirty="0" smtClean="0">
                <a:solidFill>
                  <a:schemeClr val="tx1"/>
                </a:solidFill>
                <a:latin typeface="+mn-lt"/>
                <a:ea typeface="+mn-ea"/>
                <a:cs typeface="+mn-cs"/>
              </a:rPr>
              <a:t> Are more cost-effective than cars or vans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Can access areas cars/vans are unable to get into</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Bicycles – which:</a:t>
            </a:r>
          </a:p>
          <a:p>
            <a:pPr lvl="1">
              <a:buFont typeface="Arial" pitchFamily="34" charset="0"/>
              <a:buChar char="•"/>
            </a:pPr>
            <a:r>
              <a:rPr lang="en-AU" sz="1200" kern="1200" dirty="0" smtClean="0">
                <a:solidFill>
                  <a:schemeClr val="tx1"/>
                </a:solidFill>
                <a:latin typeface="+mn-lt"/>
                <a:ea typeface="+mn-ea"/>
                <a:cs typeface="+mn-cs"/>
              </a:rPr>
              <a:t> Are extremely cost-effective</a:t>
            </a:r>
          </a:p>
          <a:p>
            <a:pPr lvl="1">
              <a:buFont typeface="Arial" pitchFamily="34" charset="0"/>
              <a:buChar char="•"/>
            </a:pPr>
            <a:r>
              <a:rPr lang="en-AU" sz="1200" kern="1200" dirty="0" smtClean="0">
                <a:solidFill>
                  <a:schemeClr val="tx1"/>
                </a:solidFill>
                <a:latin typeface="+mn-lt"/>
                <a:ea typeface="+mn-ea"/>
                <a:cs typeface="+mn-cs"/>
              </a:rPr>
              <a:t> Enable the same quietness of a foot patrol while providing increased flexibility and coverage.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fire fighting equipment identifying:</a:t>
            </a:r>
          </a:p>
          <a:p>
            <a:pPr>
              <a:buFont typeface="Arial" pitchFamily="34" charset="0"/>
              <a:buChar char="•"/>
            </a:pPr>
            <a:r>
              <a:rPr lang="en-AU" sz="1200" kern="1200" dirty="0" smtClean="0">
                <a:solidFill>
                  <a:schemeClr val="tx1"/>
                </a:solidFill>
                <a:latin typeface="+mn-lt"/>
                <a:ea typeface="+mn-ea"/>
                <a:cs typeface="+mn-cs"/>
              </a:rPr>
              <a:t> Water extinguishers – suitable for use on ordinary combustible materials but not safe for use on electrical fires or cooking oil/fat fires.</a:t>
            </a:r>
          </a:p>
          <a:p>
            <a:pPr lvl="1">
              <a:buFont typeface="Arial" pitchFamily="34" charset="0"/>
              <a:buChar char="•"/>
            </a:pPr>
            <a:r>
              <a:rPr lang="en-AU" sz="1200" kern="1200" dirty="0" smtClean="0">
                <a:solidFill>
                  <a:schemeClr val="tx1"/>
                </a:solidFill>
                <a:latin typeface="+mn-lt"/>
                <a:ea typeface="+mn-ea"/>
                <a:cs typeface="+mn-cs"/>
              </a:rPr>
              <a:t> They are ineffective on flammable and combustible liquid fires.</a:t>
            </a:r>
          </a:p>
          <a:p>
            <a:pPr>
              <a:buFont typeface="Arial" pitchFamily="34" charset="0"/>
              <a:buChar char="•"/>
            </a:pPr>
            <a:r>
              <a:rPr lang="en-AU" sz="1200" kern="1200" dirty="0" smtClean="0">
                <a:solidFill>
                  <a:schemeClr val="tx1"/>
                </a:solidFill>
                <a:latin typeface="+mn-lt"/>
                <a:ea typeface="+mn-ea"/>
                <a:cs typeface="+mn-cs"/>
              </a:rPr>
              <a:t> Foam extinguishers – dangerous if used on electrical fires.</a:t>
            </a:r>
          </a:p>
          <a:p>
            <a:pPr lvl="1">
              <a:buFont typeface="Arial" pitchFamily="34" charset="0"/>
              <a:buChar char="•"/>
            </a:pPr>
            <a:r>
              <a:rPr lang="en-AU" sz="1200" kern="1200" dirty="0" smtClean="0">
                <a:solidFill>
                  <a:schemeClr val="tx1"/>
                </a:solidFill>
                <a:latin typeface="+mn-lt"/>
                <a:ea typeface="+mn-ea"/>
                <a:cs typeface="+mn-cs"/>
              </a:rPr>
              <a:t> They are suitable for ordinary combustibles and for fires featuring flammable and combustible liquids.</a:t>
            </a:r>
          </a:p>
          <a:p>
            <a:pPr>
              <a:buFont typeface="Arial" pitchFamily="34" charset="0"/>
              <a:buChar char="•"/>
            </a:pPr>
            <a:r>
              <a:rPr lang="en-AU" sz="1200" kern="1200" dirty="0" smtClean="0">
                <a:solidFill>
                  <a:schemeClr val="tx1"/>
                </a:solidFill>
                <a:latin typeface="+mn-lt"/>
                <a:ea typeface="+mn-ea"/>
                <a:cs typeface="+mn-cs"/>
              </a:rPr>
              <a:t> Powder extinguishers – can be used on ordinary combustibles, fires featuring flammable and combustible liquids and electrical fires.</a:t>
            </a:r>
          </a:p>
          <a:p>
            <a:pPr>
              <a:buFont typeface="Arial" pitchFamily="34" charset="0"/>
              <a:buChar char="•"/>
            </a:pPr>
            <a:r>
              <a:rPr lang="en-AU" sz="1200" kern="1200" dirty="0" smtClean="0">
                <a:solidFill>
                  <a:schemeClr val="tx1"/>
                </a:solidFill>
                <a:latin typeface="+mn-lt"/>
                <a:ea typeface="+mn-ea"/>
                <a:cs typeface="+mn-cs"/>
              </a:rPr>
              <a:t> Carbon dioxide extinguishers are best for electrical fires – they have limited effectiveness on fires featuring flammable and combustible liquids, and cooking oil/fat fires.</a:t>
            </a:r>
          </a:p>
          <a:p>
            <a:pPr>
              <a:buFont typeface="Arial" pitchFamily="34" charset="0"/>
              <a:buChar char="•"/>
            </a:pPr>
            <a:r>
              <a:rPr lang="en-AU" sz="1200" kern="1200" dirty="0" smtClean="0">
                <a:solidFill>
                  <a:schemeClr val="tx1"/>
                </a:solidFill>
                <a:latin typeface="+mn-lt"/>
                <a:ea typeface="+mn-ea"/>
                <a:cs typeface="+mn-cs"/>
              </a:rPr>
              <a:t> Reels and hoses</a:t>
            </a:r>
          </a:p>
          <a:p>
            <a:pPr>
              <a:buFont typeface="Arial" pitchFamily="34" charset="0"/>
              <a:buChar char="•"/>
            </a:pPr>
            <a:r>
              <a:rPr lang="en-AU" sz="1200" kern="1200" dirty="0" smtClean="0">
                <a:solidFill>
                  <a:schemeClr val="tx1"/>
                </a:solidFill>
                <a:latin typeface="+mn-lt"/>
                <a:ea typeface="+mn-ea"/>
                <a:cs typeface="+mn-cs"/>
              </a:rPr>
              <a:t> Fire blankets</a:t>
            </a:r>
          </a:p>
          <a:p>
            <a:pPr>
              <a:buFont typeface="Arial" pitchFamily="34" charset="0"/>
              <a:buChar char="•"/>
            </a:pPr>
            <a:r>
              <a:rPr lang="en-AU" sz="1200" kern="1200" dirty="0" smtClean="0">
                <a:solidFill>
                  <a:schemeClr val="tx1"/>
                </a:solidFill>
                <a:latin typeface="+mn-lt"/>
                <a:ea typeface="+mn-ea"/>
                <a:cs typeface="+mn-cs"/>
              </a:rPr>
              <a:t> Sand buckets.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samples of each item listed on slide and:</a:t>
            </a:r>
          </a:p>
          <a:p>
            <a:pPr>
              <a:buFont typeface="Arial" pitchFamily="34" charset="0"/>
              <a:buChar char="•"/>
            </a:pPr>
            <a:r>
              <a:rPr lang="en-AU" b="0" noProof="0" dirty="0" smtClean="0"/>
              <a:t> Presents/identifies each to students</a:t>
            </a:r>
          </a:p>
          <a:p>
            <a:pPr>
              <a:buFont typeface="Arial" pitchFamily="34" charset="0"/>
              <a:buChar char="•"/>
            </a:pPr>
            <a:r>
              <a:rPr lang="en-AU" b="0" noProof="0" dirty="0" smtClean="0"/>
              <a:t> Explains use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 fire-fighting equipment advising students must:</a:t>
            </a:r>
          </a:p>
          <a:p>
            <a:pPr>
              <a:buFont typeface="Arial" pitchFamily="34" charset="0"/>
              <a:buChar char="•"/>
            </a:pPr>
            <a:r>
              <a:rPr lang="en-AU" sz="1200" b="0" kern="1200" dirty="0" smtClean="0">
                <a:solidFill>
                  <a:schemeClr val="tx1"/>
                </a:solidFill>
                <a:latin typeface="+mn-lt"/>
                <a:ea typeface="+mn-ea"/>
                <a:cs typeface="+mn-cs"/>
              </a:rPr>
              <a:t> Obtain in-house training before using </a:t>
            </a:r>
            <a:r>
              <a:rPr lang="en-AU" sz="1200" b="1" kern="1200" dirty="0" smtClean="0">
                <a:solidFill>
                  <a:schemeClr val="tx1"/>
                </a:solidFill>
                <a:latin typeface="+mn-lt"/>
                <a:ea typeface="+mn-ea"/>
                <a:cs typeface="+mn-cs"/>
              </a:rPr>
              <a:t>ANY</a:t>
            </a:r>
            <a:r>
              <a:rPr lang="en-AU" sz="1200" b="0" kern="1200" dirty="0" smtClean="0">
                <a:solidFill>
                  <a:schemeClr val="tx1"/>
                </a:solidFill>
                <a:latin typeface="+mn-lt"/>
                <a:ea typeface="+mn-ea"/>
                <a:cs typeface="+mn-cs"/>
              </a:rPr>
              <a:t> fire fighting equipment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Make sure they:</a:t>
            </a:r>
          </a:p>
          <a:p>
            <a:pPr lvl="1">
              <a:buFont typeface="Arial" pitchFamily="34" charset="0"/>
              <a:buChar char="•"/>
            </a:pPr>
            <a:r>
              <a:rPr lang="en-AU" sz="1200" kern="1200" dirty="0" smtClean="0">
                <a:solidFill>
                  <a:schemeClr val="tx1"/>
                </a:solidFill>
                <a:latin typeface="+mn-lt"/>
                <a:ea typeface="+mn-ea"/>
                <a:cs typeface="+mn-cs"/>
              </a:rPr>
              <a:t> Know how to differentiate between the different types of portable fire extinguishers – CO</a:t>
            </a:r>
            <a:r>
              <a:rPr lang="en-AU" sz="1200" kern="1200" baseline="-25000" dirty="0" smtClean="0">
                <a:solidFill>
                  <a:schemeClr val="tx1"/>
                </a:solidFill>
                <a:latin typeface="+mn-lt"/>
                <a:ea typeface="+mn-ea"/>
                <a:cs typeface="+mn-cs"/>
              </a:rPr>
              <a:t>2</a:t>
            </a:r>
            <a:r>
              <a:rPr lang="en-AU" sz="1200" kern="1200" dirty="0" smtClean="0">
                <a:solidFill>
                  <a:schemeClr val="tx1"/>
                </a:solidFill>
                <a:latin typeface="+mn-lt"/>
                <a:ea typeface="+mn-ea"/>
                <a:cs typeface="+mn-cs"/>
              </a:rPr>
              <a:t>, dry chemical, water: their different colours is the quickest way to tell them apart</a:t>
            </a:r>
          </a:p>
          <a:p>
            <a:pPr lvl="1">
              <a:buFont typeface="Arial" pitchFamily="34" charset="0"/>
              <a:buChar char="•"/>
            </a:pPr>
            <a:r>
              <a:rPr lang="en-AU" sz="1200" kern="1200" dirty="0" smtClean="0">
                <a:solidFill>
                  <a:schemeClr val="tx1"/>
                </a:solidFill>
                <a:latin typeface="+mn-lt"/>
                <a:ea typeface="+mn-ea"/>
                <a:cs typeface="+mn-cs"/>
              </a:rPr>
              <a:t> Know what extinguishers can be used on what types of fires – never use water extinguishers or hoses on oil, fat or electrical fires</a:t>
            </a:r>
          </a:p>
          <a:p>
            <a:pPr lvl="1">
              <a:buFont typeface="Arial" pitchFamily="34" charset="0"/>
              <a:buChar char="•"/>
            </a:pPr>
            <a:r>
              <a:rPr lang="en-AU" sz="1200" kern="1200" dirty="0" smtClean="0">
                <a:solidFill>
                  <a:schemeClr val="tx1"/>
                </a:solidFill>
                <a:latin typeface="+mn-lt"/>
                <a:ea typeface="+mn-ea"/>
                <a:cs typeface="+mn-cs"/>
              </a:rPr>
              <a:t> Know how to operate the extinguishers effectively</a:t>
            </a:r>
          </a:p>
          <a:p>
            <a:pPr lvl="1">
              <a:buFont typeface="Arial" pitchFamily="34" charset="0"/>
              <a:buChar char="•"/>
            </a:pPr>
            <a:r>
              <a:rPr lang="en-AU" sz="1200" kern="1200" dirty="0" smtClean="0">
                <a:solidFill>
                  <a:schemeClr val="tx1"/>
                </a:solidFill>
                <a:latin typeface="+mn-lt"/>
                <a:ea typeface="+mn-ea"/>
                <a:cs typeface="+mn-cs"/>
              </a:rPr>
              <a:t> Know where the fire hoses are and how to operate them</a:t>
            </a:r>
          </a:p>
          <a:p>
            <a:pPr lvl="1">
              <a:buFont typeface="Arial" pitchFamily="34" charset="0"/>
              <a:buChar char="•"/>
            </a:pPr>
            <a:r>
              <a:rPr lang="en-AU" sz="1200" kern="1200" dirty="0" smtClean="0">
                <a:solidFill>
                  <a:schemeClr val="tx1"/>
                </a:solidFill>
                <a:latin typeface="+mn-lt"/>
                <a:ea typeface="+mn-ea"/>
                <a:cs typeface="+mn-cs"/>
              </a:rPr>
              <a:t> Know where sand buckets are located</a:t>
            </a:r>
          </a:p>
          <a:p>
            <a:pPr lvl="1">
              <a:buFont typeface="Arial" pitchFamily="34" charset="0"/>
              <a:buChar char="•"/>
            </a:pPr>
            <a:r>
              <a:rPr lang="en-AU" sz="1200" kern="1200" dirty="0" smtClean="0">
                <a:solidFill>
                  <a:schemeClr val="tx1"/>
                </a:solidFill>
                <a:latin typeface="+mn-lt"/>
                <a:ea typeface="+mn-ea"/>
                <a:cs typeface="+mn-cs"/>
              </a:rPr>
              <a:t> Know where the fire blankets are and how to use them.</a:t>
            </a:r>
          </a:p>
          <a:p>
            <a:pPr>
              <a:buFont typeface="Arial" pitchFamily="34" charset="0"/>
              <a:buNone/>
            </a:pPr>
            <a:endParaRPr lang="en-AU" noProof="0" dirty="0" smtClean="0"/>
          </a:p>
          <a:p>
            <a:pPr>
              <a:buFont typeface="Arial" pitchFamily="34" charset="0"/>
              <a:buNone/>
            </a:pPr>
            <a:r>
              <a:rPr lang="en-AU" b="1" noProof="0" dirty="0" smtClean="0"/>
              <a:t>Class Activity – Guest Speaker and Demonstration</a:t>
            </a:r>
          </a:p>
          <a:p>
            <a:pPr>
              <a:buFont typeface="Arial" pitchFamily="34" charset="0"/>
              <a:buNone/>
            </a:pPr>
            <a:r>
              <a:rPr lang="en-AU" b="0" noProof="0" dirty="0" smtClean="0"/>
              <a:t>Trainer arranges for local fire brigade to attend and:</a:t>
            </a:r>
          </a:p>
          <a:p>
            <a:pPr>
              <a:buFont typeface="Arial" pitchFamily="34" charset="0"/>
              <a:buChar char="•"/>
            </a:pPr>
            <a:r>
              <a:rPr lang="en-AU" b="0" noProof="0" dirty="0" smtClean="0"/>
              <a:t> Talk to trainees about fire fighting</a:t>
            </a:r>
          </a:p>
          <a:p>
            <a:pPr>
              <a:buFont typeface="Arial" pitchFamily="34" charset="0"/>
              <a:buChar char="•"/>
            </a:pPr>
            <a:r>
              <a:rPr lang="en-AU" b="0" noProof="0" dirty="0" smtClean="0"/>
              <a:t> Advise them how to summon emergency assistance</a:t>
            </a:r>
          </a:p>
          <a:p>
            <a:pPr>
              <a:buFont typeface="Arial" pitchFamily="34" charset="0"/>
              <a:buChar char="•"/>
            </a:pPr>
            <a:r>
              <a:rPr lang="en-AU" b="0" noProof="0" dirty="0" smtClean="0"/>
              <a:t> Demonstrate how to use fire fighting equipment as listed</a:t>
            </a:r>
          </a:p>
          <a:p>
            <a:pPr>
              <a:buFont typeface="Arial" pitchFamily="34" charset="0"/>
              <a:buChar char="•"/>
            </a:pPr>
            <a:r>
              <a:rPr lang="en-AU" b="0" noProof="0" dirty="0" smtClean="0"/>
              <a:t> Provide supervised practice for students in use of listed items.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talks about fire alarms:</a:t>
            </a:r>
          </a:p>
          <a:p>
            <a:pPr>
              <a:buFont typeface="Arial" pitchFamily="34" charset="0"/>
              <a:buChar char="•"/>
            </a:pPr>
            <a:r>
              <a:rPr lang="en-AU" sz="1200" kern="1200" dirty="0" smtClean="0">
                <a:solidFill>
                  <a:schemeClr val="tx1"/>
                </a:solidFill>
                <a:latin typeface="+mn-lt"/>
                <a:ea typeface="+mn-ea"/>
                <a:cs typeface="+mn-cs"/>
              </a:rPr>
              <a:t> Fire alarms are used to notify people within the establishment there is a fire.</a:t>
            </a:r>
          </a:p>
          <a:p>
            <a:pPr>
              <a:buFont typeface="Arial" pitchFamily="34" charset="0"/>
              <a:buChar char="•"/>
            </a:pPr>
            <a:r>
              <a:rPr lang="en-AU" sz="1200" kern="1200" dirty="0" smtClean="0">
                <a:solidFill>
                  <a:schemeClr val="tx1"/>
                </a:solidFill>
                <a:latin typeface="+mn-lt"/>
                <a:ea typeface="+mn-ea"/>
                <a:cs typeface="+mn-cs"/>
              </a:rPr>
              <a:t> Fire alarms may have different sequences (or tones) to indicate various levels of alert, such as:</a:t>
            </a:r>
          </a:p>
          <a:p>
            <a:pPr lvl="1">
              <a:buFont typeface="Arial" pitchFamily="34" charset="0"/>
              <a:buChar char="•"/>
            </a:pPr>
            <a:r>
              <a:rPr lang="en-AU" sz="1200" kern="1200" dirty="0" smtClean="0">
                <a:solidFill>
                  <a:schemeClr val="tx1"/>
                </a:solidFill>
                <a:latin typeface="+mn-lt"/>
                <a:ea typeface="+mn-ea"/>
                <a:cs typeface="+mn-cs"/>
              </a:rPr>
              <a:t> Stage 1 – indicates ‘There is a fire in the building but there is no need to evacuate’</a:t>
            </a:r>
          </a:p>
          <a:p>
            <a:pPr lvl="1">
              <a:buFont typeface="Arial" pitchFamily="34" charset="0"/>
              <a:buChar char="•"/>
            </a:pPr>
            <a:r>
              <a:rPr lang="en-AU" sz="1200" kern="1200" dirty="0" smtClean="0">
                <a:solidFill>
                  <a:schemeClr val="tx1"/>
                </a:solidFill>
                <a:latin typeface="+mn-lt"/>
                <a:ea typeface="+mn-ea"/>
                <a:cs typeface="+mn-cs"/>
              </a:rPr>
              <a:t> Stage 2 – indicates ‘There is a fire in the building and there may be a need to evacuate’</a:t>
            </a:r>
          </a:p>
          <a:p>
            <a:pPr lvl="1">
              <a:buFont typeface="Arial" pitchFamily="34" charset="0"/>
              <a:buChar char="•"/>
            </a:pPr>
            <a:r>
              <a:rPr lang="en-AU" sz="1200" kern="1200" dirty="0" smtClean="0">
                <a:solidFill>
                  <a:schemeClr val="tx1"/>
                </a:solidFill>
                <a:latin typeface="+mn-lt"/>
                <a:ea typeface="+mn-ea"/>
                <a:cs typeface="+mn-cs"/>
              </a:rPr>
              <a:t> Stage 3 – indicates ‘Evacuate now’.</a:t>
            </a:r>
          </a:p>
          <a:p>
            <a:pPr>
              <a:buFont typeface="Arial" pitchFamily="34" charset="0"/>
              <a:buChar char="•"/>
            </a:pPr>
            <a:r>
              <a:rPr lang="en-AU" sz="1200" b="0" kern="1200" dirty="0" smtClean="0">
                <a:solidFill>
                  <a:schemeClr val="tx1"/>
                </a:solidFill>
                <a:latin typeface="+mn-lt"/>
                <a:ea typeface="+mn-ea"/>
                <a:cs typeface="+mn-cs"/>
              </a:rPr>
              <a:t> Where such a system is in use you must know the sound of the different alarms and what they mean.</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Always treat alarms seriously and regard them as genuine – never think ‘it’s only a drill’, or ‘it’s probably a false alarm’. </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Never turn a fire alarm off unless specifically ordered to do so by your supervisor.</a:t>
            </a:r>
            <a:endParaRPr lang="en-AU" sz="1200" b="1"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shut off valves:</a:t>
            </a:r>
          </a:p>
          <a:p>
            <a:pPr>
              <a:buFont typeface="Arial" pitchFamily="34" charset="0"/>
              <a:buChar char="•"/>
            </a:pPr>
            <a:r>
              <a:rPr lang="en-AU" sz="1200" kern="1200" dirty="0" smtClean="0">
                <a:solidFill>
                  <a:schemeClr val="tx1"/>
                </a:solidFill>
                <a:latin typeface="+mn-lt"/>
                <a:ea typeface="+mn-ea"/>
                <a:cs typeface="+mn-cs"/>
              </a:rPr>
              <a:t> Depending on the type of emergency there may be a need to turn off supply valves.</a:t>
            </a:r>
          </a:p>
          <a:p>
            <a:pPr>
              <a:buFont typeface="Arial" pitchFamily="34" charset="0"/>
              <a:buChar char="•"/>
            </a:pPr>
            <a:r>
              <a:rPr lang="en-AU" sz="1200" kern="1200" dirty="0" smtClean="0">
                <a:solidFill>
                  <a:schemeClr val="tx1"/>
                </a:solidFill>
                <a:latin typeface="+mn-lt"/>
                <a:ea typeface="+mn-ea"/>
                <a:cs typeface="+mn-cs"/>
              </a:rPr>
              <a:t> In the event of a fire (for example) you may be required to:</a:t>
            </a:r>
          </a:p>
          <a:p>
            <a:pPr lvl="1">
              <a:buFont typeface="Arial" pitchFamily="34" charset="0"/>
              <a:buChar char="•"/>
            </a:pPr>
            <a:r>
              <a:rPr lang="en-AU" sz="1200" kern="1200" dirty="0" smtClean="0">
                <a:solidFill>
                  <a:schemeClr val="tx1"/>
                </a:solidFill>
                <a:latin typeface="+mn-lt"/>
                <a:ea typeface="+mn-ea"/>
                <a:cs typeface="+mn-cs"/>
              </a:rPr>
              <a:t> Turn off the electricity – at a meter box or similar</a:t>
            </a:r>
          </a:p>
          <a:p>
            <a:pPr lvl="1">
              <a:buFont typeface="Arial" pitchFamily="34" charset="0"/>
              <a:buChar char="•"/>
            </a:pPr>
            <a:r>
              <a:rPr lang="en-AU" sz="1200" kern="1200" dirty="0" smtClean="0">
                <a:solidFill>
                  <a:schemeClr val="tx1"/>
                </a:solidFill>
                <a:latin typeface="+mn-lt"/>
                <a:ea typeface="+mn-ea"/>
                <a:cs typeface="+mn-cs"/>
              </a:rPr>
              <a:t> Turn off the gas – using a shut off valve.</a:t>
            </a:r>
          </a:p>
          <a:p>
            <a:pPr>
              <a:buFont typeface="Arial" pitchFamily="34" charset="0"/>
              <a:buChar char="•"/>
            </a:pPr>
            <a:r>
              <a:rPr lang="en-AU" sz="1200" kern="1200" dirty="0" smtClean="0">
                <a:solidFill>
                  <a:schemeClr val="tx1"/>
                </a:solidFill>
                <a:latin typeface="+mn-lt"/>
                <a:ea typeface="+mn-ea"/>
                <a:cs typeface="+mn-cs"/>
              </a:rPr>
              <a:t> In the event of other emergencies you may also be required to shut off the water (using a gate valve or similar).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mentions intruder alarms:</a:t>
            </a:r>
          </a:p>
          <a:p>
            <a:pPr>
              <a:buFont typeface="Arial" pitchFamily="34" charset="0"/>
              <a:buChar char="•"/>
            </a:pPr>
            <a:r>
              <a:rPr lang="en-AU" sz="1200" b="0" kern="1200" dirty="0" smtClean="0">
                <a:solidFill>
                  <a:schemeClr val="tx1"/>
                </a:solidFill>
                <a:latin typeface="+mn-lt"/>
                <a:ea typeface="+mn-ea"/>
                <a:cs typeface="+mn-cs"/>
              </a:rPr>
              <a:t> May be activated by a pressure pad, beam, motion sensor or when a contact is made or broken </a:t>
            </a:r>
          </a:p>
          <a:p>
            <a:pPr>
              <a:buFont typeface="Arial" pitchFamily="34" charset="0"/>
              <a:buChar char="•"/>
            </a:pPr>
            <a:r>
              <a:rPr lang="en-AU" sz="1200" b="0" kern="1200" dirty="0" smtClean="0">
                <a:solidFill>
                  <a:schemeClr val="tx1"/>
                </a:solidFill>
                <a:latin typeface="+mn-lt"/>
                <a:ea typeface="+mn-ea"/>
                <a:cs typeface="+mn-cs"/>
              </a:rPr>
              <a:t>These can give an audible or visual warning (or both) that unauthorised access has occurred in an area.</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All alerts generated by these alarms must be investigated. </a:t>
            </a:r>
            <a:endParaRPr lang="en-AU" sz="1200" b="1"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flashlights/torches:</a:t>
            </a:r>
          </a:p>
          <a:p>
            <a:pPr>
              <a:buFont typeface="Arial" pitchFamily="34" charset="0"/>
              <a:buChar char="•"/>
            </a:pPr>
            <a:r>
              <a:rPr lang="en-AU" sz="1200" kern="1200" dirty="0" smtClean="0">
                <a:solidFill>
                  <a:schemeClr val="tx1"/>
                </a:solidFill>
                <a:latin typeface="+mn-lt"/>
                <a:ea typeface="+mn-ea"/>
                <a:cs typeface="+mn-cs"/>
              </a:rPr>
              <a:t> Flashlights are standard equipment and are used not only at nights but also to illuminate dark areas during daylight hours..</a:t>
            </a:r>
          </a:p>
          <a:p>
            <a:pPr>
              <a:buFont typeface="Arial" pitchFamily="34" charset="0"/>
              <a:buChar char="•"/>
            </a:pPr>
            <a:r>
              <a:rPr lang="en-AU" sz="1200" kern="1200" dirty="0" smtClean="0">
                <a:solidFill>
                  <a:schemeClr val="tx1"/>
                </a:solidFill>
                <a:latin typeface="+mn-lt"/>
                <a:ea typeface="+mn-ea"/>
                <a:cs typeface="+mn-cs"/>
              </a:rPr>
              <a:t> Must know:</a:t>
            </a:r>
          </a:p>
          <a:p>
            <a:pPr lvl="1">
              <a:buFont typeface="Arial" pitchFamily="34" charset="0"/>
              <a:buChar char="•"/>
            </a:pPr>
            <a:r>
              <a:rPr lang="en-AU" sz="1200" kern="1200" dirty="0" smtClean="0">
                <a:solidFill>
                  <a:schemeClr val="tx1"/>
                </a:solidFill>
                <a:latin typeface="+mn-lt"/>
                <a:ea typeface="+mn-ea"/>
                <a:cs typeface="+mn-cs"/>
              </a:rPr>
              <a:t> Where torches are located</a:t>
            </a:r>
          </a:p>
          <a:p>
            <a:pPr lvl="1">
              <a:buFont typeface="Arial" pitchFamily="34" charset="0"/>
              <a:buChar char="•"/>
            </a:pPr>
            <a:r>
              <a:rPr lang="en-AU" sz="1200" kern="1200" dirty="0" smtClean="0">
                <a:solidFill>
                  <a:schemeClr val="tx1"/>
                </a:solidFill>
                <a:latin typeface="+mn-lt"/>
                <a:ea typeface="+mn-ea"/>
                <a:cs typeface="+mn-cs"/>
              </a:rPr>
              <a:t> How to operate them</a:t>
            </a:r>
          </a:p>
          <a:p>
            <a:pPr lvl="1">
              <a:buFont typeface="Arial" pitchFamily="34" charset="0"/>
              <a:buChar char="•"/>
            </a:pPr>
            <a:r>
              <a:rPr lang="en-AU" sz="1200" kern="1200" dirty="0" smtClean="0">
                <a:solidFill>
                  <a:schemeClr val="tx1"/>
                </a:solidFill>
                <a:latin typeface="+mn-lt"/>
                <a:ea typeface="+mn-ea"/>
                <a:cs typeface="+mn-cs"/>
              </a:rPr>
              <a:t> How long they will last.</a:t>
            </a:r>
          </a:p>
          <a:p>
            <a:pPr>
              <a:buFont typeface="Arial" pitchFamily="34" charset="0"/>
              <a:buChar char="•"/>
            </a:pPr>
            <a:r>
              <a:rPr lang="en-AU" sz="1200" kern="1200" dirty="0" smtClean="0">
                <a:solidFill>
                  <a:schemeClr val="tx1"/>
                </a:solidFill>
                <a:latin typeface="+mn-lt"/>
                <a:ea typeface="+mn-ea"/>
                <a:cs typeface="+mn-cs"/>
              </a:rPr>
              <a:t> Most security staff will use nothing but a Maglite</a:t>
            </a:r>
            <a:r>
              <a:rPr lang="en-AU" sz="1200" kern="1200" baseline="30000" dirty="0" smtClean="0">
                <a:solidFill>
                  <a:schemeClr val="tx1"/>
                </a:solidFill>
                <a:latin typeface="+mn-lt"/>
                <a:ea typeface="+mn-ea"/>
                <a:cs typeface="+mn-cs"/>
              </a:rPr>
              <a:t>®</a:t>
            </a:r>
            <a:r>
              <a:rPr lang="en-AU" sz="1200" kern="1200" dirty="0" smtClean="0">
                <a:solidFill>
                  <a:schemeClr val="tx1"/>
                </a:solidFill>
                <a:latin typeface="+mn-lt"/>
                <a:ea typeface="+mn-ea"/>
                <a:cs typeface="+mn-cs"/>
              </a:rPr>
              <a:t> with many preferring the standard 4-cell ( or 5-cell or 6-cell) LED version (which can be used as a weapon), while many others opt for the more compact LED versions (such as the MagTac</a:t>
            </a:r>
            <a:r>
              <a:rPr lang="en-AU" sz="1200" kern="1200" baseline="30000" dirty="0" smtClean="0">
                <a:solidFill>
                  <a:schemeClr val="tx1"/>
                </a:solidFill>
                <a:latin typeface="+mn-lt"/>
                <a:ea typeface="+mn-ea"/>
                <a:cs typeface="+mn-cs"/>
              </a:rPr>
              <a:t>®</a:t>
            </a:r>
            <a:r>
              <a:rPr lang="en-AU" sz="1200" kern="1200" dirty="0" smtClean="0">
                <a:solidFill>
                  <a:schemeClr val="tx1"/>
                </a:solidFill>
                <a:latin typeface="+mn-lt"/>
                <a:ea typeface="+mn-ea"/>
                <a:cs typeface="+mn-cs"/>
              </a:rPr>
              <a:t>) which is lighter and easier to carry/put on a duty belt.</a:t>
            </a:r>
          </a:p>
          <a:p>
            <a:pPr>
              <a:buFont typeface="Arial" pitchFamily="34" charset="0"/>
              <a:buChar char="•"/>
            </a:pPr>
            <a:r>
              <a:rPr lang="en-AU" sz="1200" kern="1200" dirty="0" smtClean="0">
                <a:solidFill>
                  <a:schemeClr val="tx1"/>
                </a:solidFill>
                <a:latin typeface="+mn-lt"/>
                <a:ea typeface="+mn-ea"/>
                <a:cs typeface="+mn-cs"/>
              </a:rPr>
              <a:t> The flashlight should:</a:t>
            </a:r>
          </a:p>
          <a:p>
            <a:pPr lvl="1">
              <a:buFont typeface="Arial" pitchFamily="34" charset="0"/>
              <a:buChar char="•"/>
            </a:pPr>
            <a:r>
              <a:rPr lang="en-AU" sz="1200" kern="1200" dirty="0" smtClean="0">
                <a:solidFill>
                  <a:schemeClr val="tx1"/>
                </a:solidFill>
                <a:latin typeface="+mn-lt"/>
                <a:ea typeface="+mn-ea"/>
                <a:cs typeface="+mn-cs"/>
              </a:rPr>
              <a:t> Be powerful/strong</a:t>
            </a:r>
          </a:p>
          <a:p>
            <a:pPr lvl="1">
              <a:buFont typeface="Arial" pitchFamily="34" charset="0"/>
              <a:buChar char="•"/>
            </a:pPr>
            <a:r>
              <a:rPr lang="en-AU" sz="1200" kern="1200" dirty="0" smtClean="0">
                <a:solidFill>
                  <a:schemeClr val="tx1"/>
                </a:solidFill>
                <a:latin typeface="+mn-lt"/>
                <a:ea typeface="+mn-ea"/>
                <a:cs typeface="+mn-cs"/>
              </a:rPr>
              <a:t> Contain a strobe facility – which can be used to attract attention or you’re your location as an SOS function.</a:t>
            </a:r>
          </a:p>
          <a:p>
            <a:pPr>
              <a:buFont typeface="Arial" pitchFamily="34" charset="0"/>
              <a:buNone/>
            </a:pPr>
            <a:endParaRPr lang="en-AU" noProof="0" dirty="0" smtClean="0"/>
          </a:p>
          <a:p>
            <a:pPr>
              <a:buFont typeface="Arial" pitchFamily="34" charset="0"/>
              <a:buNone/>
            </a:pPr>
            <a:r>
              <a:rPr lang="en-AU" b="1" noProof="0" dirty="0" smtClean="0"/>
              <a:t>Class Activity – Presentation and Demonstration</a:t>
            </a:r>
          </a:p>
          <a:p>
            <a:pPr>
              <a:buFont typeface="Arial" pitchFamily="34" charset="0"/>
              <a:buNone/>
            </a:pPr>
            <a:r>
              <a:rPr lang="en-AU" b="0" noProof="0" dirty="0" smtClean="0"/>
              <a:t>Trainer shows trainees samples of flashlights as identified above and demonstrates:</a:t>
            </a:r>
          </a:p>
          <a:p>
            <a:pPr>
              <a:buFont typeface="Arial" pitchFamily="34" charset="0"/>
              <a:buChar char="•"/>
            </a:pPr>
            <a:r>
              <a:rPr lang="en-AU" b="0" noProof="0" dirty="0" smtClean="0"/>
              <a:t> Differences between them</a:t>
            </a:r>
          </a:p>
          <a:p>
            <a:pPr>
              <a:buFont typeface="Arial" pitchFamily="34" charset="0"/>
              <a:buChar char="•"/>
            </a:pPr>
            <a:r>
              <a:rPr lang="en-AU" b="0" noProof="0" dirty="0" smtClean="0"/>
              <a:t> Features, benefits and drawbacks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talks about: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Warning signs – ‘Danger’, ‘Do Not Enter’ </a:t>
            </a:r>
          </a:p>
          <a:p>
            <a:pPr>
              <a:buFont typeface="Arial" pitchFamily="34" charset="0"/>
              <a:buChar char="•"/>
            </a:pPr>
            <a:r>
              <a:rPr lang="en-AU" sz="1200" kern="1200" dirty="0" smtClean="0">
                <a:solidFill>
                  <a:schemeClr val="tx1"/>
                </a:solidFill>
                <a:latin typeface="+mn-lt"/>
                <a:ea typeface="+mn-ea"/>
                <a:cs typeface="+mn-cs"/>
              </a:rPr>
              <a:t> ‘Do Not Cross’ and ‘Do Not Enter’ tape</a:t>
            </a:r>
          </a:p>
          <a:p>
            <a:pPr>
              <a:buFont typeface="Arial" pitchFamily="34" charset="0"/>
              <a:buChar char="•"/>
            </a:pPr>
            <a:r>
              <a:rPr lang="en-AU" sz="1200" kern="1200" dirty="0" smtClean="0">
                <a:solidFill>
                  <a:schemeClr val="tx1"/>
                </a:solidFill>
                <a:latin typeface="+mn-lt"/>
                <a:ea typeface="+mn-ea"/>
                <a:cs typeface="+mn-cs"/>
              </a:rPr>
              <a:t> Witches hats.</a:t>
            </a:r>
          </a:p>
          <a:p>
            <a:pPr>
              <a:buFont typeface="Arial" pitchFamily="34" charset="0"/>
              <a:buNone/>
            </a:pPr>
            <a:endParaRPr lang="en-AU" noProof="0" dirty="0" smtClean="0"/>
          </a:p>
          <a:p>
            <a:pPr>
              <a:buFont typeface="Arial" pitchFamily="34" charset="0"/>
              <a:buNone/>
            </a:pPr>
            <a:r>
              <a:rPr lang="en-AU" b="1" noProof="0" dirty="0" smtClean="0"/>
              <a:t>Class Activity – Presentation, Explanation and Discussion</a:t>
            </a:r>
          </a:p>
          <a:p>
            <a:pPr>
              <a:buFont typeface="Arial" pitchFamily="34" charset="0"/>
              <a:buNone/>
            </a:pPr>
            <a:r>
              <a:rPr lang="en-AU" b="0" noProof="0" dirty="0" smtClean="0"/>
              <a:t>Trainer obtains samples of items listed ion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how to use them</a:t>
            </a:r>
          </a:p>
          <a:p>
            <a:pPr>
              <a:buFont typeface="Arial" pitchFamily="34" charset="0"/>
              <a:buChar char="•"/>
            </a:pPr>
            <a:r>
              <a:rPr lang="en-AU" sz="1200" kern="1200" noProof="0" dirty="0" smtClean="0">
                <a:solidFill>
                  <a:schemeClr val="tx1"/>
                </a:solidFill>
                <a:latin typeface="+mn-lt"/>
                <a:ea typeface="+mn-ea"/>
                <a:cs typeface="+mn-cs"/>
              </a:rPr>
              <a:t> Asks students to identify when they may be used.</a:t>
            </a:r>
            <a:endParaRPr lang="en-AU" sz="1200" kern="1200" noProof="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use of cameras:</a:t>
            </a:r>
          </a:p>
          <a:p>
            <a:pPr>
              <a:buFont typeface="Arial" pitchFamily="34" charset="0"/>
              <a:buChar char="•"/>
            </a:pPr>
            <a:r>
              <a:rPr lang="en-AU" sz="1200" kern="1200" dirty="0" smtClean="0">
                <a:solidFill>
                  <a:schemeClr val="tx1"/>
                </a:solidFill>
                <a:latin typeface="+mn-lt"/>
                <a:ea typeface="+mn-ea"/>
                <a:cs typeface="+mn-cs"/>
              </a:rPr>
              <a:t> Some venues provide security staff with cameras.</a:t>
            </a:r>
          </a:p>
          <a:p>
            <a:pPr>
              <a:buFont typeface="Arial" pitchFamily="34" charset="0"/>
              <a:buChar char="•"/>
            </a:pPr>
            <a:r>
              <a:rPr lang="en-AU" sz="1200" kern="1200" dirty="0" smtClean="0">
                <a:solidFill>
                  <a:schemeClr val="tx1"/>
                </a:solidFill>
                <a:latin typeface="+mn-lt"/>
                <a:ea typeface="+mn-ea"/>
                <a:cs typeface="+mn-cs"/>
              </a:rPr>
              <a:t> A compact movie camera can be part of your EDC and used to:</a:t>
            </a:r>
          </a:p>
          <a:p>
            <a:pPr lvl="1">
              <a:buFont typeface="Arial" pitchFamily="34" charset="0"/>
              <a:buChar char="•"/>
            </a:pPr>
            <a:r>
              <a:rPr lang="en-AU" sz="1200" kern="1200" dirty="0" smtClean="0">
                <a:solidFill>
                  <a:schemeClr val="tx1"/>
                </a:solidFill>
                <a:latin typeface="+mn-lt"/>
                <a:ea typeface="+mn-ea"/>
                <a:cs typeface="+mn-cs"/>
              </a:rPr>
              <a:t> Capture evidence – for referral to the authorities; to support an insurance claim; to provide the basis for civil action against offenders.</a:t>
            </a:r>
          </a:p>
          <a:p>
            <a:pPr lvl="1">
              <a:buFont typeface="Arial" pitchFamily="34" charset="0"/>
              <a:buChar char="•"/>
            </a:pPr>
            <a:r>
              <a:rPr lang="en-AU" sz="1200" kern="1200" dirty="0" smtClean="0">
                <a:solidFill>
                  <a:schemeClr val="tx1"/>
                </a:solidFill>
                <a:latin typeface="+mn-lt"/>
                <a:ea typeface="+mn-ea"/>
                <a:cs typeface="+mn-cs"/>
              </a:rPr>
              <a:t> Deter threats – many people will withdraw if they believe they are being filmed</a:t>
            </a:r>
          </a:p>
          <a:p>
            <a:pPr lvl="1">
              <a:buFont typeface="Arial" pitchFamily="34" charset="0"/>
              <a:buChar char="•"/>
            </a:pPr>
            <a:r>
              <a:rPr lang="en-AU" sz="1200" kern="1200" dirty="0" smtClean="0">
                <a:solidFill>
                  <a:schemeClr val="tx1"/>
                </a:solidFill>
                <a:latin typeface="+mn-lt"/>
                <a:ea typeface="+mn-ea"/>
                <a:cs typeface="+mn-cs"/>
              </a:rPr>
              <a:t> Record details/occurrences during an event/incident – which can be used later for analysis, identification and examination/investigation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and explains possible ‘designated tasks’ for Security staff:</a:t>
            </a:r>
          </a:p>
          <a:p>
            <a:pPr>
              <a:buFont typeface="Arial" pitchFamily="34" charset="0"/>
              <a:buChar char="•"/>
            </a:pPr>
            <a:r>
              <a:rPr lang="en-AU" sz="1200" kern="1200" dirty="0" smtClean="0">
                <a:solidFill>
                  <a:schemeClr val="tx1"/>
                </a:solidFill>
                <a:latin typeface="+mn-lt"/>
                <a:ea typeface="+mn-ea"/>
                <a:cs typeface="+mn-cs"/>
              </a:rPr>
              <a:t> Conducting routine security monitoring of the premises – these can include:</a:t>
            </a:r>
          </a:p>
          <a:p>
            <a:pPr lvl="1">
              <a:buFont typeface="Arial" pitchFamily="34" charset="0"/>
              <a:buChar char="•"/>
            </a:pPr>
            <a:r>
              <a:rPr lang="en-AU" sz="1200" kern="1200" dirty="0" smtClean="0">
                <a:solidFill>
                  <a:schemeClr val="tx1"/>
                </a:solidFill>
                <a:latin typeface="+mn-lt"/>
                <a:ea typeface="+mn-ea"/>
                <a:cs typeface="+mn-cs"/>
              </a:rPr>
              <a:t> Regular foot and vehicle patrols</a:t>
            </a:r>
          </a:p>
          <a:p>
            <a:pPr lvl="1">
              <a:buFont typeface="Arial" pitchFamily="34" charset="0"/>
              <a:buChar char="•"/>
            </a:pPr>
            <a:r>
              <a:rPr lang="en-AU" sz="1200" kern="1200" dirty="0" smtClean="0">
                <a:solidFill>
                  <a:schemeClr val="tx1"/>
                </a:solidFill>
                <a:latin typeface="+mn-lt"/>
                <a:ea typeface="+mn-ea"/>
                <a:cs typeface="+mn-cs"/>
              </a:rPr>
              <a:t> Static guard duties – providing a visible presence at an entrance or designated location</a:t>
            </a:r>
          </a:p>
          <a:p>
            <a:pPr>
              <a:buFont typeface="Arial" pitchFamily="34" charset="0"/>
              <a:buChar char="•"/>
            </a:pPr>
            <a:r>
              <a:rPr lang="en-AU" sz="1200" kern="1200" dirty="0" smtClean="0">
                <a:solidFill>
                  <a:schemeClr val="tx1"/>
                </a:solidFill>
                <a:latin typeface="+mn-lt"/>
                <a:ea typeface="+mn-ea"/>
                <a:cs typeface="+mn-cs"/>
              </a:rPr>
              <a:t> Performing crowd control duties – which can include:</a:t>
            </a:r>
          </a:p>
          <a:p>
            <a:pPr lvl="1">
              <a:buFont typeface="Arial" pitchFamily="34" charset="0"/>
              <a:buChar char="•"/>
            </a:pPr>
            <a:r>
              <a:rPr lang="en-AU" sz="1200" kern="1200" dirty="0" smtClean="0">
                <a:solidFill>
                  <a:schemeClr val="tx1"/>
                </a:solidFill>
                <a:latin typeface="+mn-lt"/>
                <a:ea typeface="+mn-ea"/>
                <a:cs typeface="+mn-cs"/>
              </a:rPr>
              <a:t> Directing people </a:t>
            </a:r>
          </a:p>
          <a:p>
            <a:pPr lvl="1">
              <a:buFont typeface="Arial" pitchFamily="34" charset="0"/>
              <a:buChar char="•"/>
            </a:pPr>
            <a:r>
              <a:rPr lang="en-AU" sz="1200" kern="1200" dirty="0" smtClean="0">
                <a:solidFill>
                  <a:schemeClr val="tx1"/>
                </a:solidFill>
                <a:latin typeface="+mn-lt"/>
                <a:ea typeface="+mn-ea"/>
                <a:cs typeface="+mn-cs"/>
              </a:rPr>
              <a:t> Controlling vehicle movement – which can include controlling parking and traffic speed</a:t>
            </a:r>
          </a:p>
          <a:p>
            <a:pPr lvl="1">
              <a:buFont typeface="Arial" pitchFamily="34" charset="0"/>
              <a:buChar char="•"/>
            </a:pPr>
            <a:r>
              <a:rPr lang="en-AU" sz="1200" kern="1200" dirty="0" smtClean="0">
                <a:solidFill>
                  <a:schemeClr val="tx1"/>
                </a:solidFill>
                <a:latin typeface="+mn-lt"/>
                <a:ea typeface="+mn-ea"/>
                <a:cs typeface="+mn-cs"/>
              </a:rPr>
              <a:t> Preventing access to certain areas </a:t>
            </a:r>
          </a:p>
          <a:p>
            <a:pPr lvl="1">
              <a:buFont typeface="Arial" pitchFamily="34" charset="0"/>
              <a:buChar char="•"/>
            </a:pPr>
            <a:r>
              <a:rPr lang="en-AU" sz="1200" kern="1200" dirty="0" smtClean="0">
                <a:solidFill>
                  <a:schemeClr val="tx1"/>
                </a:solidFill>
                <a:latin typeface="+mn-lt"/>
                <a:ea typeface="+mn-ea"/>
                <a:cs typeface="+mn-cs"/>
              </a:rPr>
              <a:t> Deterring and responding to unacceptable behaviour</a:t>
            </a:r>
          </a:p>
          <a:p>
            <a:pPr lvl="1">
              <a:buFont typeface="Arial" pitchFamily="34" charset="0"/>
              <a:buChar char="•"/>
            </a:pPr>
            <a:r>
              <a:rPr lang="en-AU" sz="1200" kern="1200" dirty="0" smtClean="0">
                <a:solidFill>
                  <a:schemeClr val="tx1"/>
                </a:solidFill>
                <a:latin typeface="+mn-lt"/>
                <a:ea typeface="+mn-ea"/>
                <a:cs typeface="+mn-cs"/>
              </a:rPr>
              <a:t> Assisting patrons as required</a:t>
            </a:r>
          </a:p>
          <a:p>
            <a:pPr>
              <a:buFont typeface="Arial" pitchFamily="34" charset="0"/>
              <a:buChar char="•"/>
            </a:pPr>
            <a:r>
              <a:rPr lang="en-AU" sz="1200" kern="1200" dirty="0" smtClean="0">
                <a:solidFill>
                  <a:schemeClr val="tx1"/>
                </a:solidFill>
                <a:latin typeface="+mn-lt"/>
                <a:ea typeface="+mn-ea"/>
                <a:cs typeface="+mn-cs"/>
              </a:rPr>
              <a:t> Undertaking screening activities – of people and/or property, which may involve:</a:t>
            </a:r>
          </a:p>
          <a:p>
            <a:pPr lvl="1">
              <a:buFont typeface="Arial" pitchFamily="34" charset="0"/>
              <a:buChar char="•"/>
            </a:pPr>
            <a:r>
              <a:rPr lang="en-AU" sz="1200" kern="1200" dirty="0" smtClean="0">
                <a:solidFill>
                  <a:schemeClr val="tx1"/>
                </a:solidFill>
                <a:latin typeface="+mn-lt"/>
                <a:ea typeface="+mn-ea"/>
                <a:cs typeface="+mn-cs"/>
              </a:rPr>
              <a:t> Operating luggage X-ray machine</a:t>
            </a:r>
          </a:p>
          <a:p>
            <a:pPr lvl="1">
              <a:buFont typeface="Arial" pitchFamily="34" charset="0"/>
              <a:buChar char="•"/>
            </a:pPr>
            <a:r>
              <a:rPr lang="en-AU" sz="1200" kern="1200" dirty="0" smtClean="0">
                <a:solidFill>
                  <a:schemeClr val="tx1"/>
                </a:solidFill>
                <a:latin typeface="+mn-lt"/>
                <a:ea typeface="+mn-ea"/>
                <a:cs typeface="+mn-cs"/>
              </a:rPr>
              <a:t> Policing electronic doorways/frames</a:t>
            </a:r>
          </a:p>
          <a:p>
            <a:pPr lvl="1">
              <a:buFont typeface="Arial" pitchFamily="34" charset="0"/>
              <a:buChar char="•"/>
            </a:pPr>
            <a:r>
              <a:rPr lang="en-AU" sz="1200" kern="1200" dirty="0" smtClean="0">
                <a:solidFill>
                  <a:schemeClr val="tx1"/>
                </a:solidFill>
                <a:latin typeface="+mn-lt"/>
                <a:ea typeface="+mn-ea"/>
                <a:cs typeface="+mn-cs"/>
              </a:rPr>
              <a:t> Using hand-held wands</a:t>
            </a:r>
          </a:p>
          <a:p>
            <a:pPr lvl="1">
              <a:buFont typeface="Arial" pitchFamily="34" charset="0"/>
              <a:buChar char="•"/>
            </a:pPr>
            <a:r>
              <a:rPr lang="en-AU" sz="1200" kern="1200" dirty="0" smtClean="0">
                <a:solidFill>
                  <a:schemeClr val="tx1"/>
                </a:solidFill>
                <a:latin typeface="+mn-lt"/>
                <a:ea typeface="+mn-ea"/>
                <a:cs typeface="+mn-cs"/>
              </a:rPr>
              <a:t> Inspecting and checking vehicles</a:t>
            </a:r>
          </a:p>
          <a:p>
            <a:pPr>
              <a:buFont typeface="Arial" pitchFamily="34" charset="0"/>
              <a:buChar char="•"/>
            </a:pPr>
            <a:r>
              <a:rPr lang="en-AU" sz="1200" kern="1200" dirty="0" smtClean="0">
                <a:solidFill>
                  <a:schemeClr val="tx1"/>
                </a:solidFill>
                <a:latin typeface="+mn-lt"/>
                <a:ea typeface="+mn-ea"/>
                <a:cs typeface="+mn-cs"/>
              </a:rPr>
              <a:t> Checking identification of customers – with reference to:</a:t>
            </a:r>
          </a:p>
          <a:p>
            <a:pPr lvl="1">
              <a:buFont typeface="Arial" pitchFamily="34" charset="0"/>
              <a:buChar char="•"/>
            </a:pPr>
            <a:r>
              <a:rPr lang="en-AU" sz="1200" kern="1200" dirty="0" smtClean="0">
                <a:solidFill>
                  <a:schemeClr val="tx1"/>
                </a:solidFill>
                <a:latin typeface="+mn-lt"/>
                <a:ea typeface="+mn-ea"/>
                <a:cs typeface="+mn-cs"/>
              </a:rPr>
              <a:t> Ensuring under-age people to not enter licensed areas</a:t>
            </a:r>
          </a:p>
          <a:p>
            <a:pPr lvl="1">
              <a:buFont typeface="Arial" pitchFamily="34" charset="0"/>
              <a:buChar char="•"/>
            </a:pPr>
            <a:r>
              <a:rPr lang="en-AU" sz="1200" kern="1200" dirty="0" smtClean="0">
                <a:solidFill>
                  <a:schemeClr val="tx1"/>
                </a:solidFill>
                <a:latin typeface="+mn-lt"/>
                <a:ea typeface="+mn-ea"/>
                <a:cs typeface="+mn-cs"/>
              </a:rPr>
              <a:t> Only authorised persons are on the premises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and explaining possible ‘designated tasks’ for Security staff:</a:t>
            </a:r>
          </a:p>
          <a:p>
            <a:pPr>
              <a:buFont typeface="Arial" pitchFamily="34" charset="0"/>
              <a:buChar char="•"/>
            </a:pPr>
            <a:r>
              <a:rPr lang="en-AU" sz="1200" kern="1200" dirty="0" smtClean="0">
                <a:solidFill>
                  <a:schemeClr val="tx1"/>
                </a:solidFill>
                <a:latin typeface="+mn-lt"/>
                <a:ea typeface="+mn-ea"/>
                <a:cs typeface="+mn-cs"/>
              </a:rPr>
              <a:t> Escorting people – to:</a:t>
            </a:r>
          </a:p>
          <a:p>
            <a:pPr lvl="1">
              <a:buFont typeface="Arial" pitchFamily="34" charset="0"/>
              <a:buChar char="•"/>
            </a:pPr>
            <a:r>
              <a:rPr lang="en-US" sz="1200" kern="1200" dirty="0" smtClean="0">
                <a:solidFill>
                  <a:schemeClr val="tx1"/>
                </a:solidFill>
                <a:latin typeface="+mn-lt"/>
                <a:ea typeface="+mn-ea"/>
                <a:cs typeface="+mn-cs"/>
              </a:rPr>
              <a:t> Protect individuals or groups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Safeguard their property</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Deliver required services to VIP guests or those who request it</a:t>
            </a:r>
          </a:p>
          <a:p>
            <a:pPr>
              <a:buFont typeface="Arial" pitchFamily="34" charset="0"/>
              <a:buChar char="•"/>
            </a:pPr>
            <a:r>
              <a:rPr lang="en-AU" sz="1200" kern="1200" dirty="0" smtClean="0">
                <a:solidFill>
                  <a:schemeClr val="tx1"/>
                </a:solidFill>
                <a:latin typeface="+mn-lt"/>
                <a:ea typeface="+mn-ea"/>
                <a:cs typeface="+mn-cs"/>
              </a:rPr>
              <a:t> Controlling access to the venue or designated areas – to:</a:t>
            </a:r>
          </a:p>
          <a:p>
            <a:pPr lvl="1">
              <a:buFont typeface="Arial" pitchFamily="34" charset="0"/>
              <a:buChar char="•"/>
            </a:pPr>
            <a:r>
              <a:rPr lang="en-US" sz="1200" kern="1200" dirty="0" smtClean="0">
                <a:solidFill>
                  <a:schemeClr val="tx1"/>
                </a:solidFill>
                <a:latin typeface="+mn-lt"/>
                <a:ea typeface="+mn-ea"/>
                <a:cs typeface="+mn-cs"/>
              </a:rPr>
              <a:t> Deter unwanted people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Assist guests/customers</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Refuse access to those who are unwanted or not entitled to be on the premises</a:t>
            </a:r>
          </a:p>
          <a:p>
            <a:pPr lvl="1">
              <a:buFont typeface="Arial" pitchFamily="34" charset="0"/>
              <a:buChar char="•"/>
            </a:pPr>
            <a:r>
              <a:rPr lang="en-AU" sz="1200" kern="1200" dirty="0" smtClean="0">
                <a:solidFill>
                  <a:schemeClr val="tx1"/>
                </a:solidFill>
                <a:latin typeface="+mn-lt"/>
                <a:ea typeface="+mn-ea"/>
                <a:cs typeface="+mn-cs"/>
              </a:rPr>
              <a:t> Check age and ID of people</a:t>
            </a:r>
          </a:p>
          <a:p>
            <a:pPr>
              <a:buFont typeface="Arial" pitchFamily="34" charset="0"/>
              <a:buChar char="•"/>
            </a:pPr>
            <a:r>
              <a:rPr lang="en-AU" sz="1200" kern="1200" dirty="0" smtClean="0">
                <a:solidFill>
                  <a:schemeClr val="tx1"/>
                </a:solidFill>
                <a:latin typeface="+mn-lt"/>
                <a:ea typeface="+mn-ea"/>
                <a:cs typeface="+mn-cs"/>
              </a:rPr>
              <a:t> Monitoring egress of persons from the property – to:</a:t>
            </a:r>
          </a:p>
          <a:p>
            <a:pPr lvl="1">
              <a:buFont typeface="Arial" pitchFamily="34" charset="0"/>
              <a:buChar char="•"/>
            </a:pPr>
            <a:r>
              <a:rPr lang="en-US" sz="1200" kern="1200" dirty="0" smtClean="0">
                <a:solidFill>
                  <a:schemeClr val="tx1"/>
                </a:solidFill>
                <a:latin typeface="+mn-lt"/>
                <a:ea typeface="+mn-ea"/>
                <a:cs typeface="+mn-cs"/>
              </a:rPr>
              <a:t> Control noise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Prevent theft of assets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Assist as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Respond to unacceptable behavior</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Responding to alarms – this is a central role of security staff.</a:t>
            </a:r>
          </a:p>
          <a:p>
            <a:pPr lvl="1">
              <a:buFont typeface="Arial" pitchFamily="34" charset="0"/>
              <a:buChar char="•"/>
            </a:pPr>
            <a:r>
              <a:rPr lang="en-AU" sz="1200" kern="1200" dirty="0" smtClean="0">
                <a:solidFill>
                  <a:schemeClr val="tx1"/>
                </a:solidFill>
                <a:latin typeface="+mn-lt"/>
                <a:ea typeface="+mn-ea"/>
                <a:cs typeface="+mn-cs"/>
              </a:rPr>
              <a:t> All alarms must be responded to and investigated.</a:t>
            </a:r>
          </a:p>
          <a:p>
            <a:pPr lvl="1">
              <a:buFont typeface="Arial" pitchFamily="34" charset="0"/>
              <a:buChar char="•"/>
            </a:pPr>
            <a:r>
              <a:rPr lang="en-AU" sz="1200" kern="1200" dirty="0" smtClean="0">
                <a:solidFill>
                  <a:schemeClr val="tx1"/>
                </a:solidFill>
                <a:latin typeface="+mn-lt"/>
                <a:ea typeface="+mn-ea"/>
                <a:cs typeface="+mn-cs"/>
              </a:rPr>
              <a:t> It is CRITICAL you never believe an alarm is a false alarm even though the past 100 alarms have been. </a:t>
            </a:r>
          </a:p>
          <a:p>
            <a:pPr lvl="1">
              <a:buFont typeface="Arial" pitchFamily="34" charset="0"/>
              <a:buChar char="•"/>
            </a:pPr>
            <a:r>
              <a:rPr lang="en-AU" sz="1200" kern="1200" dirty="0" smtClean="0">
                <a:solidFill>
                  <a:schemeClr val="tx1"/>
                </a:solidFill>
                <a:latin typeface="+mn-lt"/>
                <a:ea typeface="+mn-ea"/>
                <a:cs typeface="+mn-cs"/>
              </a:rPr>
              <a:t> Thieves often trigger regular false alarms in a certain area to lull staff into thinking the </a:t>
            </a:r>
            <a:r>
              <a:rPr lang="en-AU" sz="1200" i="1" kern="1200" dirty="0" smtClean="0">
                <a:solidFill>
                  <a:schemeClr val="tx1"/>
                </a:solidFill>
                <a:latin typeface="+mn-lt"/>
                <a:ea typeface="+mn-ea"/>
                <a:cs typeface="+mn-cs"/>
              </a:rPr>
              <a:t>next</a:t>
            </a:r>
            <a:r>
              <a:rPr lang="en-AU" sz="1200" kern="1200" dirty="0" smtClean="0">
                <a:solidFill>
                  <a:schemeClr val="tx1"/>
                </a:solidFill>
                <a:latin typeface="+mn-lt"/>
                <a:ea typeface="+mn-ea"/>
                <a:cs typeface="+mn-cs"/>
              </a:rPr>
              <a:t> alarm will also be a false alarm and therefore not worthy of a response – you must respond to all alarms, every time without exception.</a:t>
            </a:r>
          </a:p>
          <a:p>
            <a:pPr>
              <a:buFont typeface="Arial" pitchFamily="34" charset="0"/>
              <a:buChar char="•"/>
            </a:pPr>
            <a:r>
              <a:rPr lang="en-AU" sz="1200" kern="1200" dirty="0" smtClean="0">
                <a:solidFill>
                  <a:schemeClr val="tx1"/>
                </a:solidFill>
                <a:latin typeface="+mn-lt"/>
                <a:ea typeface="+mn-ea"/>
                <a:cs typeface="+mn-cs"/>
              </a:rPr>
              <a:t> Working with security-related documents – such as:</a:t>
            </a:r>
          </a:p>
          <a:p>
            <a:pPr lvl="1">
              <a:buFont typeface="Arial" pitchFamily="34" charset="0"/>
              <a:buChar char="•"/>
            </a:pPr>
            <a:r>
              <a:rPr lang="en-US" sz="1200" kern="1200" dirty="0" smtClean="0">
                <a:solidFill>
                  <a:schemeClr val="tx1"/>
                </a:solidFill>
                <a:latin typeface="+mn-lt"/>
                <a:ea typeface="+mn-ea"/>
                <a:cs typeface="+mn-cs"/>
              </a:rPr>
              <a:t> Creating patrol schedules and routes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Developing plans for special escorts and carry requirements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Making revisions to existing plans and SOPs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Generating reports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Completing checklists.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trainees:</a:t>
            </a:r>
          </a:p>
          <a:p>
            <a:pPr>
              <a:buFont typeface="Arial" pitchFamily="34" charset="0"/>
              <a:buChar char="•"/>
            </a:pPr>
            <a:r>
              <a:rPr lang="en-AU" sz="1200" kern="1200" dirty="0" smtClean="0">
                <a:solidFill>
                  <a:schemeClr val="tx1"/>
                </a:solidFill>
                <a:latin typeface="+mn-lt"/>
                <a:ea typeface="+mn-ea"/>
                <a:cs typeface="+mn-cs"/>
              </a:rPr>
              <a:t> ‘Assignment instructions’ are instructions provided by management to staff about activities they are required to undertake </a:t>
            </a:r>
          </a:p>
          <a:p>
            <a:pPr>
              <a:buFont typeface="Arial" pitchFamily="34" charset="0"/>
              <a:buChar char="•"/>
            </a:pPr>
            <a:r>
              <a:rPr lang="en-AU" sz="1200" kern="1200" dirty="0" smtClean="0">
                <a:solidFill>
                  <a:schemeClr val="tx1"/>
                </a:solidFill>
                <a:latin typeface="+mn-lt"/>
                <a:ea typeface="+mn-ea"/>
                <a:cs typeface="+mn-cs"/>
              </a:rPr>
              <a:t> Some assignment instructions will be in writing but the majority will simply be verbal instructions.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examples of </a:t>
            </a:r>
            <a:r>
              <a:rPr lang="en-AU" sz="1200" b="0" kern="1200" dirty="0" smtClean="0">
                <a:solidFill>
                  <a:schemeClr val="tx1"/>
                </a:solidFill>
                <a:latin typeface="+mn-lt"/>
                <a:ea typeface="+mn-ea"/>
                <a:cs typeface="+mn-cs"/>
              </a:rPr>
              <a:t>situations commonly requiring written instructions:</a:t>
            </a:r>
          </a:p>
          <a:p>
            <a:pPr>
              <a:buFont typeface="Arial" pitchFamily="34" charset="0"/>
              <a:buChar char="•"/>
            </a:pPr>
            <a:r>
              <a:rPr lang="en-AU" sz="1200" kern="1200" dirty="0" smtClean="0">
                <a:solidFill>
                  <a:schemeClr val="tx1"/>
                </a:solidFill>
                <a:latin typeface="+mn-lt"/>
                <a:ea typeface="+mn-ea"/>
                <a:cs typeface="+mn-cs"/>
              </a:rPr>
              <a:t> Special surveillance of an area of person</a:t>
            </a:r>
          </a:p>
          <a:p>
            <a:pPr>
              <a:buFont typeface="Arial" pitchFamily="34" charset="0"/>
              <a:buChar char="•"/>
            </a:pPr>
            <a:r>
              <a:rPr lang="en-AU" sz="1200" kern="1200" dirty="0" smtClean="0">
                <a:solidFill>
                  <a:schemeClr val="tx1"/>
                </a:solidFill>
                <a:latin typeface="+mn-lt"/>
                <a:ea typeface="+mn-ea"/>
                <a:cs typeface="+mn-cs"/>
              </a:rPr>
              <a:t> Investigation into an event or incident</a:t>
            </a:r>
          </a:p>
          <a:p>
            <a:pPr>
              <a:buFont typeface="Arial" pitchFamily="34" charset="0"/>
              <a:buChar char="•"/>
            </a:pPr>
            <a:r>
              <a:rPr lang="en-AU" sz="1200" kern="1200" dirty="0" smtClean="0">
                <a:solidFill>
                  <a:schemeClr val="tx1"/>
                </a:solidFill>
                <a:latin typeface="+mn-lt"/>
                <a:ea typeface="+mn-ea"/>
                <a:cs typeface="+mn-cs"/>
              </a:rPr>
              <a:t> Escort duties – for people, money, valuables</a:t>
            </a:r>
          </a:p>
          <a:p>
            <a:pPr>
              <a:buFont typeface="Arial" pitchFamily="34" charset="0"/>
              <a:buChar char="•"/>
            </a:pPr>
            <a:r>
              <a:rPr lang="en-AU" sz="1200" kern="1200" dirty="0" smtClean="0">
                <a:solidFill>
                  <a:schemeClr val="tx1"/>
                </a:solidFill>
                <a:latin typeface="+mn-lt"/>
                <a:ea typeface="+mn-ea"/>
                <a:cs typeface="+mn-cs"/>
              </a:rPr>
              <a:t> Special or substantiated threats from multiple targets or previous offenders</a:t>
            </a:r>
          </a:p>
          <a:p>
            <a:pPr>
              <a:buFont typeface="Arial" pitchFamily="34" charset="0"/>
              <a:buChar char="•"/>
            </a:pPr>
            <a:r>
              <a:rPr lang="en-AU" sz="1200" kern="1200" dirty="0" smtClean="0">
                <a:solidFill>
                  <a:schemeClr val="tx1"/>
                </a:solidFill>
                <a:latin typeface="+mn-lt"/>
                <a:ea typeface="+mn-ea"/>
                <a:cs typeface="+mn-cs"/>
              </a:rPr>
              <a:t> Responses based on advice from external authorities</a:t>
            </a:r>
          </a:p>
          <a:p>
            <a:pPr>
              <a:buFont typeface="Arial" pitchFamily="34" charset="0"/>
              <a:buChar char="•"/>
            </a:pPr>
            <a:r>
              <a:rPr lang="en-AU" sz="1200" kern="1200" dirty="0" smtClean="0">
                <a:solidFill>
                  <a:schemeClr val="tx1"/>
                </a:solidFill>
                <a:latin typeface="+mn-lt"/>
                <a:ea typeface="+mn-ea"/>
                <a:cs typeface="+mn-cs"/>
              </a:rPr>
              <a:t> Responses to situations where risk assessment has determined there is a high probability and a substantial potential (negative) result/outcome</a:t>
            </a:r>
          </a:p>
          <a:p>
            <a:pPr>
              <a:buFont typeface="Arial" pitchFamily="34" charset="0"/>
              <a:buChar char="•"/>
            </a:pPr>
            <a:r>
              <a:rPr lang="en-AU" sz="1200" kern="1200" dirty="0" smtClean="0">
                <a:solidFill>
                  <a:schemeClr val="tx1"/>
                </a:solidFill>
                <a:latin typeface="+mn-lt"/>
                <a:ea typeface="+mn-ea"/>
                <a:cs typeface="+mn-cs"/>
              </a:rPr>
              <a:t> Large events (which may be defined by numbers attending, variety of activities, range of venues being used) where specialist security action is required (such as crowd control, security checks, vehicle inspections, traffic control, liaison with authorities).</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relevant industry person (manager, security head) to attend</a:t>
            </a:r>
            <a:r>
              <a:rPr lang="en-AU" b="0" baseline="0" noProof="0" dirty="0" smtClean="0"/>
              <a:t> and:</a:t>
            </a:r>
          </a:p>
          <a:p>
            <a:pPr>
              <a:buFont typeface="Arial" pitchFamily="34" charset="0"/>
              <a:buChar char="•"/>
            </a:pPr>
            <a:r>
              <a:rPr lang="en-AU" b="0" noProof="0" dirty="0" smtClean="0"/>
              <a:t> Discuss the role of security at their venue</a:t>
            </a:r>
          </a:p>
          <a:p>
            <a:pPr>
              <a:buFont typeface="Arial" pitchFamily="34" charset="0"/>
              <a:buChar char="•"/>
            </a:pPr>
            <a:r>
              <a:rPr lang="en-AU" b="0" noProof="0" dirty="0" smtClean="0"/>
              <a:t> Identify the Security staff present – numbers, roles, responsibilities, experience, training</a:t>
            </a:r>
          </a:p>
          <a:p>
            <a:pPr>
              <a:buFont typeface="Arial" pitchFamily="34" charset="0"/>
              <a:buChar char="•"/>
            </a:pPr>
            <a:r>
              <a:rPr lang="en-AU" b="0" noProof="0" dirty="0" smtClean="0"/>
              <a:t> Give examples of designated tasks</a:t>
            </a:r>
          </a:p>
          <a:p>
            <a:pPr>
              <a:buFont typeface="Arial" pitchFamily="34" charset="0"/>
              <a:buChar char="•"/>
            </a:pPr>
            <a:r>
              <a:rPr lang="en-AU" b="0" noProof="0" dirty="0" smtClean="0"/>
              <a:t> Provides examples of assignment instructions.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regardless </a:t>
            </a:r>
            <a:r>
              <a:rPr lang="en-AU" sz="1200" kern="1200" dirty="0" smtClean="0">
                <a:solidFill>
                  <a:schemeClr val="tx1"/>
                </a:solidFill>
                <a:latin typeface="+mn-lt"/>
                <a:ea typeface="+mn-ea"/>
                <a:cs typeface="+mn-cs"/>
              </a:rPr>
              <a:t>of whether assignment instructions are given verbally or in writing they will/should address the following:</a:t>
            </a:r>
          </a:p>
          <a:p>
            <a:pPr>
              <a:buFont typeface="Arial" pitchFamily="34" charset="0"/>
              <a:buChar char="•"/>
            </a:pPr>
            <a:r>
              <a:rPr lang="en-AU" sz="1200" kern="1200" dirty="0" smtClean="0">
                <a:solidFill>
                  <a:schemeClr val="tx1"/>
                </a:solidFill>
                <a:latin typeface="+mn-lt"/>
                <a:ea typeface="+mn-ea"/>
                <a:cs typeface="+mn-cs"/>
              </a:rPr>
              <a:t> Any specific requirements identified by a guest/client/customer – in relation to the provision of service, such as:</a:t>
            </a:r>
          </a:p>
          <a:p>
            <a:pPr lvl="1">
              <a:buFont typeface="Arial" pitchFamily="34" charset="0"/>
              <a:buChar char="•"/>
            </a:pPr>
            <a:r>
              <a:rPr lang="en-US" sz="1200" kern="1200" dirty="0" smtClean="0">
                <a:solidFill>
                  <a:schemeClr val="tx1"/>
                </a:solidFill>
                <a:latin typeface="+mn-lt"/>
                <a:ea typeface="+mn-ea"/>
                <a:cs typeface="+mn-cs"/>
              </a:rPr>
              <a:t> Number of staff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Skills and/or experience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Meeting points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Timing 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Known or anticipated threats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Threat levels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Objectives for the assignment – which may be:</a:t>
            </a:r>
          </a:p>
          <a:p>
            <a:pPr lvl="1">
              <a:buFont typeface="Arial" pitchFamily="34" charset="0"/>
              <a:buChar char="•"/>
            </a:pPr>
            <a:r>
              <a:rPr lang="en-US" sz="1200" kern="1200" dirty="0" smtClean="0">
                <a:solidFill>
                  <a:schemeClr val="tx1"/>
                </a:solidFill>
                <a:latin typeface="+mn-lt"/>
                <a:ea typeface="+mn-ea"/>
                <a:cs typeface="+mn-cs"/>
              </a:rPr>
              <a:t> Patrol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Escort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Monitor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Surveillance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Investigation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Special access arrangements – as appropriate to the circumstances, including reporting requirements ‘on arrival’</a:t>
            </a:r>
          </a:p>
          <a:p>
            <a:pPr>
              <a:buFont typeface="Arial" pitchFamily="34" charset="0"/>
              <a:buChar char="•"/>
            </a:pPr>
            <a:r>
              <a:rPr lang="en-AU" sz="1200" kern="1200" dirty="0" smtClean="0">
                <a:solidFill>
                  <a:schemeClr val="tx1"/>
                </a:solidFill>
                <a:latin typeface="+mn-lt"/>
                <a:ea typeface="+mn-ea"/>
                <a:cs typeface="+mn-cs"/>
              </a:rPr>
              <a:t> Time on and time off – duration of assignment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identify contents of </a:t>
            </a:r>
            <a:r>
              <a:rPr lang="en-AU" sz="1200" kern="1200" dirty="0" smtClean="0">
                <a:solidFill>
                  <a:schemeClr val="tx1"/>
                </a:solidFill>
                <a:latin typeface="+mn-lt"/>
                <a:ea typeface="+mn-ea"/>
                <a:cs typeface="+mn-cs"/>
              </a:rPr>
              <a:t>assignment instructions:</a:t>
            </a:r>
          </a:p>
          <a:p>
            <a:pPr>
              <a:buFont typeface="Arial" pitchFamily="34" charset="0"/>
              <a:buChar char="•"/>
            </a:pPr>
            <a:r>
              <a:rPr lang="en-AU" sz="1200" kern="1200" dirty="0" smtClean="0">
                <a:solidFill>
                  <a:schemeClr val="tx1"/>
                </a:solidFill>
                <a:latin typeface="+mn-lt"/>
                <a:ea typeface="+mn-ea"/>
                <a:cs typeface="+mn-cs"/>
              </a:rPr>
              <a:t> Specific work tasks which comprise the assignment – for example an assignment may be ‘Provide security for guests arriving at ASEAN symposium’ and the specific work tasks may be:</a:t>
            </a:r>
          </a:p>
          <a:p>
            <a:pPr lvl="1">
              <a:buFont typeface="Arial" pitchFamily="34" charset="0"/>
              <a:buChar char="•"/>
            </a:pPr>
            <a:r>
              <a:rPr lang="en-AU" sz="1200" kern="1200" dirty="0" smtClean="0">
                <a:solidFill>
                  <a:schemeClr val="tx1"/>
                </a:solidFill>
                <a:latin typeface="+mn-lt"/>
                <a:ea typeface="+mn-ea"/>
                <a:cs typeface="+mn-cs"/>
              </a:rPr>
              <a:t> Monitor vehicles on arrival and restrict vehicular access to central car park only</a:t>
            </a:r>
          </a:p>
          <a:p>
            <a:pPr lvl="1">
              <a:buFont typeface="Arial" pitchFamily="34" charset="0"/>
              <a:buChar char="•"/>
            </a:pPr>
            <a:r>
              <a:rPr lang="en-AU" sz="1200" kern="1200" dirty="0" smtClean="0">
                <a:solidFill>
                  <a:schemeClr val="tx1"/>
                </a:solidFill>
                <a:latin typeface="+mn-lt"/>
                <a:ea typeface="+mn-ea"/>
                <a:cs typeface="+mn-cs"/>
              </a:rPr>
              <a:t> Oversee unloading of vehicles</a:t>
            </a:r>
          </a:p>
          <a:p>
            <a:pPr lvl="1">
              <a:buFont typeface="Arial" pitchFamily="34" charset="0"/>
              <a:buChar char="•"/>
            </a:pPr>
            <a:r>
              <a:rPr lang="en-AU" sz="1200" kern="1200" dirty="0" smtClean="0">
                <a:solidFill>
                  <a:schemeClr val="tx1"/>
                </a:solidFill>
                <a:latin typeface="+mn-lt"/>
                <a:ea typeface="+mn-ea"/>
                <a:cs typeface="+mn-cs"/>
              </a:rPr>
              <a:t> Scan luggage of all arrivals into Ballroom</a:t>
            </a:r>
          </a:p>
          <a:p>
            <a:pPr lvl="1">
              <a:buFont typeface="Arial" pitchFamily="34" charset="0"/>
              <a:buChar char="•"/>
            </a:pPr>
            <a:r>
              <a:rPr lang="en-AU" sz="1200" kern="1200" dirty="0" smtClean="0">
                <a:solidFill>
                  <a:schemeClr val="tx1"/>
                </a:solidFill>
                <a:latin typeface="+mn-lt"/>
                <a:ea typeface="+mn-ea"/>
                <a:cs typeface="+mn-cs"/>
              </a:rPr>
              <a:t> Check ID of all attendees</a:t>
            </a:r>
          </a:p>
          <a:p>
            <a:pPr lvl="1">
              <a:buFont typeface="Arial" pitchFamily="34" charset="0"/>
              <a:buChar char="•"/>
            </a:pPr>
            <a:r>
              <a:rPr lang="en-AU" sz="1200" kern="1200" dirty="0" smtClean="0">
                <a:solidFill>
                  <a:schemeClr val="tx1"/>
                </a:solidFill>
                <a:latin typeface="+mn-lt"/>
                <a:ea typeface="+mn-ea"/>
                <a:cs typeface="+mn-cs"/>
              </a:rPr>
              <a:t> Patrol toilets, entrance foyer and Asian Room</a:t>
            </a:r>
          </a:p>
          <a:p>
            <a:pPr>
              <a:buFont typeface="Arial" pitchFamily="34" charset="0"/>
              <a:buChar char="•"/>
            </a:pPr>
            <a:r>
              <a:rPr lang="en-AU" sz="1200" kern="1200" dirty="0" smtClean="0">
                <a:solidFill>
                  <a:schemeClr val="tx1"/>
                </a:solidFill>
                <a:latin typeface="+mn-lt"/>
                <a:ea typeface="+mn-ea"/>
                <a:cs typeface="+mn-cs"/>
              </a:rPr>
              <a:t> Integration of assignment-specific duties with other normal/scheduled security obligations and tasks</a:t>
            </a:r>
          </a:p>
          <a:p>
            <a:pPr>
              <a:buFont typeface="Arial" pitchFamily="34" charset="0"/>
              <a:buChar char="•"/>
            </a:pPr>
            <a:r>
              <a:rPr lang="en-AU" sz="1200" kern="1200" dirty="0" smtClean="0">
                <a:solidFill>
                  <a:schemeClr val="tx1"/>
                </a:solidFill>
                <a:latin typeface="+mn-lt"/>
                <a:ea typeface="+mn-ea"/>
                <a:cs typeface="+mn-cs"/>
              </a:rPr>
              <a:t> Resources to be used to achieve the objectives – these can include requirements relating to:</a:t>
            </a:r>
          </a:p>
          <a:p>
            <a:pPr lvl="1">
              <a:buFont typeface="Arial" pitchFamily="34" charset="0"/>
              <a:buChar char="•"/>
            </a:pPr>
            <a:r>
              <a:rPr lang="en-US" sz="1200" kern="1200" dirty="0" smtClean="0">
                <a:solidFill>
                  <a:schemeClr val="tx1"/>
                </a:solidFill>
                <a:latin typeface="+mn-lt"/>
                <a:ea typeface="+mn-ea"/>
                <a:cs typeface="+mn-cs"/>
              </a:rPr>
              <a:t> Human resources – by name and number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Physical resources – such as barricades, scanning devices, comms, PPE, weapons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Intelligence – information about the event/situation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Management – detailing:</a:t>
            </a:r>
          </a:p>
          <a:p>
            <a:pPr lvl="1">
              <a:buFont typeface="Arial" pitchFamily="34" charset="0"/>
              <a:buChar char="•"/>
            </a:pPr>
            <a:r>
              <a:rPr lang="en-US" sz="1200" kern="1200" dirty="0" smtClean="0">
                <a:solidFill>
                  <a:schemeClr val="tx1"/>
                </a:solidFill>
                <a:latin typeface="+mn-lt"/>
                <a:ea typeface="+mn-ea"/>
                <a:cs typeface="+mn-cs"/>
              </a:rPr>
              <a:t> Who is in charge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Reporting protocols</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Command and control authority</a:t>
            </a:r>
          </a:p>
          <a:p>
            <a:pPr>
              <a:buFont typeface="Arial" pitchFamily="34" charset="0"/>
              <a:buChar char="•"/>
            </a:pPr>
            <a:r>
              <a:rPr lang="en-AU" sz="1200" kern="1200" dirty="0" smtClean="0">
                <a:solidFill>
                  <a:schemeClr val="tx1"/>
                </a:solidFill>
                <a:latin typeface="+mn-lt"/>
                <a:ea typeface="+mn-ea"/>
                <a:cs typeface="+mn-cs"/>
              </a:rPr>
              <a:t> Documentation – involving:</a:t>
            </a:r>
          </a:p>
          <a:p>
            <a:pPr lvl="1">
              <a:buFont typeface="Arial" pitchFamily="34" charset="0"/>
              <a:buChar char="•"/>
            </a:pPr>
            <a:r>
              <a:rPr lang="en-AU" sz="1200" kern="1200" dirty="0" smtClean="0">
                <a:solidFill>
                  <a:schemeClr val="tx1"/>
                </a:solidFill>
                <a:latin typeface="+mn-lt"/>
                <a:ea typeface="+mn-ea"/>
                <a:cs typeface="+mn-cs"/>
              </a:rPr>
              <a:t> Issuing of relevant forms, logs, registers as appropriate to/necessary for the assignment</a:t>
            </a:r>
          </a:p>
          <a:p>
            <a:pPr lvl="1">
              <a:buFont typeface="Arial" pitchFamily="34" charset="0"/>
              <a:buChar char="•"/>
            </a:pPr>
            <a:r>
              <a:rPr lang="en-AU" sz="1200" kern="1200" dirty="0" smtClean="0">
                <a:solidFill>
                  <a:schemeClr val="tx1"/>
                </a:solidFill>
                <a:latin typeface="+mn-lt"/>
                <a:ea typeface="+mn-ea"/>
                <a:cs typeface="+mn-cs"/>
              </a:rPr>
              <a:t> Provision of relevant plans, routes and schedules</a:t>
            </a:r>
          </a:p>
          <a:p>
            <a:pPr lvl="1">
              <a:buFont typeface="Arial" pitchFamily="34" charset="0"/>
              <a:buChar char="•"/>
            </a:pPr>
            <a:r>
              <a:rPr lang="en-AU" sz="1200" kern="1200" dirty="0" smtClean="0">
                <a:solidFill>
                  <a:schemeClr val="tx1"/>
                </a:solidFill>
                <a:latin typeface="+mn-lt"/>
                <a:ea typeface="+mn-ea"/>
                <a:cs typeface="+mn-cs"/>
              </a:rPr>
              <a:t> Distribution of any paperwork needing to be competed as part of the assignment, or when the assignment has been finalised.</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View Online Information and Videos</a:t>
            </a:r>
          </a:p>
          <a:p>
            <a:r>
              <a:rPr lang="en-AU" sz="1200" b="0" kern="1200" dirty="0" smtClean="0">
                <a:solidFill>
                  <a:schemeClr val="tx1"/>
                </a:solidFill>
                <a:latin typeface="+mn-lt"/>
                <a:ea typeface="+mn-ea"/>
                <a:cs typeface="+mn-cs"/>
              </a:rPr>
              <a:t>Trainer arranges for students to view and discuss following sites:</a:t>
            </a:r>
          </a:p>
          <a:p>
            <a:r>
              <a:rPr lang="en-AU" sz="1200" b="1" kern="1200" dirty="0" smtClean="0">
                <a:solidFill>
                  <a:schemeClr val="tx1"/>
                </a:solidFill>
                <a:latin typeface="+mn-lt"/>
                <a:ea typeface="+mn-ea"/>
                <a:cs typeface="+mn-cs"/>
              </a:rPr>
              <a:t>Equipment and items</a:t>
            </a:r>
          </a:p>
          <a:p>
            <a:r>
              <a:rPr lang="en-AU" sz="1200" u="sng" kern="1200" dirty="0" smtClean="0">
                <a:solidFill>
                  <a:schemeClr val="tx1"/>
                </a:solidFill>
                <a:latin typeface="+mn-lt"/>
                <a:ea typeface="+mn-ea"/>
                <a:cs typeface="+mn-cs"/>
              </a:rPr>
              <a:t>http://www.alibaba.com/showroom/hotel-security-equipment.html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http://www.motorola.com</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http://www.systemteq.com/hotel-security.htm</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http://weien.en.alibaba.com/product/370593456-200123753/hotel_security_equipment_GC_1001.html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http://www.digisec.com/resort_facilities.html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http://www.alibaba.com/showroom/hotel-security-equipment.html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http://w3.siemens.com/market-specific/global/en/hospitality/hotels-resorts-casinos/hotel-safety-security/hotel-security/pages/hotel-security.aspx</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Using fire extinguishers</a:t>
            </a:r>
          </a:p>
          <a:p>
            <a:r>
              <a:rPr lang="en-AU" sz="1200" u="sng" kern="1200" dirty="0" smtClean="0">
                <a:solidFill>
                  <a:schemeClr val="tx1"/>
                </a:solidFill>
                <a:latin typeface="+mn-lt"/>
                <a:ea typeface="+mn-ea"/>
                <a:cs typeface="+mn-cs"/>
              </a:rPr>
              <a:t>http://www.youtube.com/watch?v=ZCSms-jyOao</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http://www.youtube.com/watch?v=0wahXwItLRY</a:t>
            </a:r>
            <a:endParaRPr lang="en-AU" sz="120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all security equipment must be checked before it is used highlighting it must be checked:</a:t>
            </a:r>
          </a:p>
          <a:p>
            <a:pPr>
              <a:buFont typeface="Arial" pitchFamily="34" charset="0"/>
              <a:buChar char="•"/>
            </a:pPr>
            <a:r>
              <a:rPr lang="en-AU" sz="1200" kern="1200" dirty="0" smtClean="0">
                <a:solidFill>
                  <a:schemeClr val="tx1"/>
                </a:solidFill>
                <a:latin typeface="+mn-lt"/>
                <a:ea typeface="+mn-ea"/>
                <a:cs typeface="+mn-cs"/>
              </a:rPr>
              <a:t> Before it is used – on every occasion without exception</a:t>
            </a:r>
          </a:p>
          <a:p>
            <a:pPr>
              <a:buFont typeface="Arial" pitchFamily="34" charset="0"/>
              <a:buChar char="•"/>
            </a:pPr>
            <a:r>
              <a:rPr lang="en-AU" sz="1200" kern="1200" dirty="0" smtClean="0">
                <a:solidFill>
                  <a:schemeClr val="tx1"/>
                </a:solidFill>
                <a:latin typeface="+mn-lt"/>
                <a:ea typeface="+mn-ea"/>
                <a:cs typeface="+mn-cs"/>
              </a:rPr>
              <a:t> By every staff member taking equipment for use – regardless of who they are.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these </a:t>
            </a:r>
            <a:r>
              <a:rPr lang="en-AU" sz="1200" kern="1200" dirty="0" smtClean="0">
                <a:solidFill>
                  <a:schemeClr val="tx1"/>
                </a:solidFill>
                <a:latin typeface="+mn-lt"/>
                <a:ea typeface="+mn-ea"/>
                <a:cs typeface="+mn-cs"/>
              </a:rPr>
              <a:t>checks are important because:</a:t>
            </a:r>
          </a:p>
          <a:p>
            <a:pPr>
              <a:buFont typeface="Arial" pitchFamily="34" charset="0"/>
              <a:buChar char="•"/>
            </a:pPr>
            <a:r>
              <a:rPr lang="en-AU" sz="1200" kern="1200" dirty="0" smtClean="0">
                <a:solidFill>
                  <a:schemeClr val="tx1"/>
                </a:solidFill>
                <a:latin typeface="+mn-lt"/>
                <a:ea typeface="+mn-ea"/>
                <a:cs typeface="+mn-cs"/>
              </a:rPr>
              <a:t> Every item must work as expected when called on to do so</a:t>
            </a:r>
          </a:p>
          <a:p>
            <a:pPr>
              <a:buFont typeface="Arial" pitchFamily="34" charset="0"/>
              <a:buChar char="•"/>
            </a:pPr>
            <a:r>
              <a:rPr lang="en-AU" sz="1200" kern="1200" dirty="0" smtClean="0">
                <a:solidFill>
                  <a:schemeClr val="tx1"/>
                </a:solidFill>
                <a:latin typeface="+mn-lt"/>
                <a:ea typeface="+mn-ea"/>
                <a:cs typeface="+mn-cs"/>
              </a:rPr>
              <a:t> You must ensure the safety of the item before you take it/use it</a:t>
            </a:r>
          </a:p>
          <a:p>
            <a:pPr>
              <a:buFont typeface="Arial" pitchFamily="34" charset="0"/>
              <a:buChar char="•"/>
            </a:pPr>
            <a:r>
              <a:rPr lang="en-AU" sz="1200" kern="1200" dirty="0" smtClean="0">
                <a:solidFill>
                  <a:schemeClr val="tx1"/>
                </a:solidFill>
                <a:latin typeface="+mn-lt"/>
                <a:ea typeface="+mn-ea"/>
                <a:cs typeface="+mn-cs"/>
              </a:rPr>
              <a:t> The life you save may be your own</a:t>
            </a:r>
          </a:p>
          <a:p>
            <a:pPr>
              <a:buFont typeface="Arial" pitchFamily="34" charset="0"/>
              <a:buChar char="•"/>
            </a:pPr>
            <a:r>
              <a:rPr lang="en-AU" sz="1200" kern="1200" dirty="0" smtClean="0">
                <a:solidFill>
                  <a:schemeClr val="tx1"/>
                </a:solidFill>
                <a:latin typeface="+mn-lt"/>
                <a:ea typeface="+mn-ea"/>
                <a:cs typeface="+mn-cs"/>
              </a:rPr>
              <a:t> Guests and management expect you to be equipped with equipment which worked/functions when needed</a:t>
            </a:r>
          </a:p>
          <a:p>
            <a:pPr>
              <a:buFont typeface="Arial" pitchFamily="34" charset="0"/>
              <a:buChar char="•"/>
            </a:pPr>
            <a:r>
              <a:rPr lang="en-AU" sz="1200" kern="1200" dirty="0" smtClean="0">
                <a:solidFill>
                  <a:schemeClr val="tx1"/>
                </a:solidFill>
                <a:latin typeface="+mn-lt"/>
                <a:ea typeface="+mn-ea"/>
                <a:cs typeface="+mn-cs"/>
              </a:rPr>
              <a:t> Not ensuring you have fully-operational equipment may be interpreted as a breach of your Duty of Care obligations.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emphasises students must </a:t>
            </a:r>
            <a:r>
              <a:rPr lang="en-AU" sz="1200" kern="1200" dirty="0" smtClean="0">
                <a:solidFill>
                  <a:schemeClr val="tx1"/>
                </a:solidFill>
                <a:latin typeface="+mn-lt"/>
                <a:ea typeface="+mn-ea"/>
                <a:cs typeface="+mn-cs"/>
              </a:rPr>
              <a:t>never assume an item is fit to use simply because:</a:t>
            </a:r>
          </a:p>
          <a:p>
            <a:pPr>
              <a:buFont typeface="Arial" pitchFamily="34" charset="0"/>
              <a:buChar char="•"/>
            </a:pPr>
            <a:r>
              <a:rPr lang="en-AU" sz="1200" kern="1200" dirty="0" smtClean="0">
                <a:solidFill>
                  <a:schemeClr val="tx1"/>
                </a:solidFill>
                <a:latin typeface="+mn-lt"/>
                <a:ea typeface="+mn-ea"/>
                <a:cs typeface="+mn-cs"/>
              </a:rPr>
              <a:t> Someone else just handed it in at the end of their shift</a:t>
            </a:r>
          </a:p>
          <a:p>
            <a:pPr>
              <a:buFont typeface="Arial" pitchFamily="34" charset="0"/>
              <a:buChar char="•"/>
            </a:pPr>
            <a:r>
              <a:rPr lang="en-AU" sz="1200" kern="1200" dirty="0" smtClean="0">
                <a:solidFill>
                  <a:schemeClr val="tx1"/>
                </a:solidFill>
                <a:latin typeface="+mn-lt"/>
                <a:ea typeface="+mn-ea"/>
                <a:cs typeface="+mn-cs"/>
              </a:rPr>
              <a:t> Nothing has been documented about it</a:t>
            </a:r>
          </a:p>
          <a:p>
            <a:pPr>
              <a:buFont typeface="Arial" pitchFamily="34" charset="0"/>
              <a:buChar char="•"/>
            </a:pPr>
            <a:r>
              <a:rPr lang="en-AU" sz="1200" kern="1200" dirty="0" smtClean="0">
                <a:solidFill>
                  <a:schemeClr val="tx1"/>
                </a:solidFill>
                <a:latin typeface="+mn-lt"/>
                <a:ea typeface="+mn-ea"/>
                <a:cs typeface="+mn-cs"/>
              </a:rPr>
              <a:t> It is/looks new</a:t>
            </a:r>
          </a:p>
          <a:p>
            <a:pPr>
              <a:buFont typeface="Arial" pitchFamily="34" charset="0"/>
              <a:buChar char="•"/>
            </a:pPr>
            <a:r>
              <a:rPr lang="en-AU" sz="1200" kern="1200" dirty="0" smtClean="0">
                <a:solidFill>
                  <a:schemeClr val="tx1"/>
                </a:solidFill>
                <a:latin typeface="+mn-lt"/>
                <a:ea typeface="+mn-ea"/>
                <a:cs typeface="+mn-cs"/>
              </a:rPr>
              <a:t> It has never been a problem in the past.</a:t>
            </a:r>
          </a:p>
          <a:p>
            <a:pPr>
              <a:buFont typeface="Arial" pitchFamily="34" charset="0"/>
              <a:buNone/>
            </a:pPr>
            <a:r>
              <a:rPr lang="en-AU" sz="1200" kern="1200" dirty="0" smtClean="0">
                <a:solidFill>
                  <a:schemeClr val="tx1"/>
                </a:solidFill>
                <a:latin typeface="+mn-lt"/>
                <a:ea typeface="+mn-ea"/>
                <a:cs typeface="+mn-cs"/>
              </a:rPr>
              <a:t>There is nothing worse – or potentially more dangerous (even fatal) – than reaching for an item of equipment only to fin it does not work as expected.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there are a wide variety of activities comprising pre-operational checks and most people would not appreciate what is involved highlighting standard activities include:</a:t>
            </a:r>
          </a:p>
          <a:p>
            <a:pPr>
              <a:buFont typeface="Arial" pitchFamily="34" charset="0"/>
              <a:buChar char="•"/>
            </a:pPr>
            <a:r>
              <a:rPr lang="en-AU" sz="1200" kern="1200" dirty="0" smtClean="0">
                <a:solidFill>
                  <a:schemeClr val="tx1"/>
                </a:solidFill>
                <a:latin typeface="+mn-lt"/>
                <a:ea typeface="+mn-ea"/>
                <a:cs typeface="+mn-cs"/>
              </a:rPr>
              <a:t> Checking log books and maintenance registers – to see if items have been logged as presenting problem/operational issues recently.</a:t>
            </a:r>
          </a:p>
          <a:p>
            <a:pPr lvl="1">
              <a:buFont typeface="Arial" pitchFamily="34" charset="0"/>
              <a:buChar char="•"/>
            </a:pP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Where there are multiple items of the same type (such as torches, handcuffs, batons or pepper/OC spray) they will each have their own individual identifier/number to distinguish one item from another.</a:t>
            </a:r>
          </a:p>
          <a:p>
            <a:pPr>
              <a:buFont typeface="Arial" pitchFamily="34" charset="0"/>
              <a:buChar char="•"/>
            </a:pPr>
            <a:r>
              <a:rPr lang="en-AU" sz="1200" kern="1200" dirty="0" smtClean="0">
                <a:solidFill>
                  <a:schemeClr val="tx1"/>
                </a:solidFill>
                <a:latin typeface="+mn-lt"/>
                <a:ea typeface="+mn-ea"/>
                <a:cs typeface="+mn-cs"/>
              </a:rPr>
              <a:t> Reading/referring to manufacturer’s instructions – where you are not familiar with all the aspects of an item (such as a conveyor X-ray machine) you will need to read these instructions in order to:</a:t>
            </a:r>
          </a:p>
          <a:p>
            <a:pPr lvl="1">
              <a:buFont typeface="Arial" pitchFamily="34" charset="0"/>
              <a:buChar char="•"/>
            </a:pPr>
            <a:r>
              <a:rPr lang="en-US" sz="1200" kern="1200" dirty="0" smtClean="0">
                <a:solidFill>
                  <a:schemeClr val="tx1"/>
                </a:solidFill>
                <a:latin typeface="+mn-lt"/>
                <a:ea typeface="+mn-ea"/>
                <a:cs typeface="+mn-cs"/>
              </a:rPr>
              <a:t> Identify the checks/tests which need to be undertaken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Determine how to conduct the tests/.checks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 the results/outcomes of the tests/checks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Using your senses to determine operational readiness – this can involve:</a:t>
            </a:r>
          </a:p>
          <a:p>
            <a:pPr lvl="1">
              <a:buFont typeface="Arial" pitchFamily="34" charset="0"/>
              <a:buChar char="•"/>
            </a:pPr>
            <a:r>
              <a:rPr lang="en-US" sz="1200" kern="1200" dirty="0" smtClean="0">
                <a:solidFill>
                  <a:schemeClr val="tx1"/>
                </a:solidFill>
                <a:latin typeface="+mn-lt"/>
                <a:ea typeface="+mn-ea"/>
                <a:cs typeface="+mn-cs"/>
              </a:rPr>
              <a:t> Visual observation of the item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lights have illuminated as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Listening for sounds/noises which indicate a problem – including audible alerts (from system checks)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Conducting alarm tests – for fire boards and intruder alarms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pre-operational checks as identified in the slide</a:t>
            </a:r>
          </a:p>
          <a:p>
            <a:pPr>
              <a:buFont typeface="Arial" pitchFamily="34" charset="0"/>
              <a:buChar char="•"/>
            </a:pPr>
            <a:r>
              <a:rPr lang="en-AU" b="0" noProof="0" dirty="0" smtClean="0"/>
              <a:t> Provides opportunity for students to practice actions (where</a:t>
            </a:r>
            <a:r>
              <a:rPr lang="en-AU" b="0" baseline="0" noProof="0" dirty="0" smtClean="0"/>
              <a:t> appropriate).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activities involved in conducting pre-operational checks of security equipment:</a:t>
            </a:r>
          </a:p>
          <a:p>
            <a:pPr>
              <a:buFont typeface="Arial" pitchFamily="34" charset="0"/>
              <a:buChar char="•"/>
            </a:pPr>
            <a:r>
              <a:rPr lang="en-US" sz="1200" kern="1200" dirty="0" smtClean="0">
                <a:solidFill>
                  <a:schemeClr val="tx1"/>
                </a:solidFill>
                <a:latin typeface="+mn-lt"/>
                <a:ea typeface="+mn-ea"/>
                <a:cs typeface="+mn-cs"/>
              </a:rPr>
              <a:t> Responding to small operational defects by, as appropriate: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Cleaning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Priming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Tightening – connections, nuts, screws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Undertaking basic repairs – according to User Manuals/Operating Instructions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Making adjustments – to (for example) clearances and tension, location and line of sight, focus, settings and sensitivity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Undertaking basic preventative vehicle maintenance </a:t>
            </a:r>
            <a:r>
              <a:rPr lang="en-US" sz="1200" kern="1200" dirty="0" smtClean="0">
                <a:solidFill>
                  <a:schemeClr val="tx1"/>
                </a:solidFill>
                <a:latin typeface="+mn-lt"/>
                <a:ea typeface="+mn-ea"/>
                <a:cs typeface="+mn-cs"/>
              </a:rPr>
              <a:t>(a checklist may be provided to assist) </a:t>
            </a:r>
            <a:r>
              <a:rPr lang="en-AU" sz="1200" kern="1200" dirty="0" smtClean="0">
                <a:solidFill>
                  <a:schemeClr val="tx1"/>
                </a:solidFill>
                <a:latin typeface="+mn-lt"/>
                <a:ea typeface="+mn-ea"/>
                <a:cs typeface="+mn-cs"/>
              </a:rPr>
              <a:t>– such as:</a:t>
            </a:r>
          </a:p>
          <a:p>
            <a:pPr lvl="1">
              <a:buFont typeface="Arial" pitchFamily="34" charset="0"/>
              <a:buChar char="•"/>
            </a:pPr>
            <a:r>
              <a:rPr lang="en-US" sz="1200" kern="1200" dirty="0" smtClean="0">
                <a:solidFill>
                  <a:schemeClr val="tx1"/>
                </a:solidFill>
                <a:latin typeface="+mn-lt"/>
                <a:ea typeface="+mn-ea"/>
                <a:cs typeface="+mn-cs"/>
              </a:rPr>
              <a:t> Checking oil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Checking water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Filling with fuel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tire pressures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Undertaking basic vehicle-related checks (a checklist may be provided to assist) –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Testing comms/radio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Testing spotlight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first aid kit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Testing headlights and flashing lights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presence of other standard in-car assets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pre-operational checks as identified in the slide</a:t>
            </a:r>
          </a:p>
          <a:p>
            <a:pPr>
              <a:buFont typeface="Arial" pitchFamily="34" charset="0"/>
              <a:buChar char="•"/>
            </a:pPr>
            <a:r>
              <a:rPr lang="en-AU" b="0" noProof="0" dirty="0" smtClean="0"/>
              <a:t> Provides opportunity for students to practice actions (where</a:t>
            </a:r>
            <a:r>
              <a:rPr lang="en-AU" b="0" baseline="0" noProof="0" dirty="0" smtClean="0"/>
              <a:t> appropriate).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activities involved in conducting pre-operational checks of security equipment:</a:t>
            </a:r>
          </a:p>
          <a:p>
            <a:pPr>
              <a:buFont typeface="Arial" pitchFamily="34" charset="0"/>
              <a:buChar char="•"/>
            </a:pPr>
            <a:r>
              <a:rPr lang="en-US" sz="1200" kern="1200" dirty="0" smtClean="0">
                <a:solidFill>
                  <a:schemeClr val="tx1"/>
                </a:solidFill>
                <a:latin typeface="+mn-lt"/>
                <a:ea typeface="+mn-ea"/>
                <a:cs typeface="+mn-cs"/>
              </a:rPr>
              <a:t> Other testing and checking –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Running diagnostics on nominated systems – which will self-diagnose 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Making test transmissions on two-way radio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Weapons: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Are loaded – spare ammunition is available as permitted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Mechanisms works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charge on cell phone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Verifying charge on rechargeable torch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Shaking sprays to determine if contents are sufficient for shift/upcoming assignment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pre-operational checks as identified in the slide</a:t>
            </a:r>
          </a:p>
          <a:p>
            <a:pPr>
              <a:buFont typeface="Arial" pitchFamily="34" charset="0"/>
              <a:buChar char="•"/>
            </a:pPr>
            <a:r>
              <a:rPr lang="en-AU" b="0" noProof="0" dirty="0" smtClean="0"/>
              <a:t> Provides opportunity for students to practice actions (where</a:t>
            </a:r>
            <a:r>
              <a:rPr lang="en-AU" b="0" baseline="0" noProof="0" dirty="0" smtClean="0"/>
              <a:t> appropriate).</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a:t>
            </a:r>
            <a:r>
              <a:rPr lang="en-AU" sz="1200" kern="1200" dirty="0" smtClean="0">
                <a:solidFill>
                  <a:schemeClr val="tx1"/>
                </a:solidFill>
                <a:latin typeface="+mn-lt"/>
                <a:ea typeface="+mn-ea"/>
                <a:cs typeface="+mn-cs"/>
              </a:rPr>
              <a:t>if an item is identified as being faulty or damaged during a pre-operational check it must be rectified or replaced highlighting faulty or damaged equipment may be identified:</a:t>
            </a:r>
          </a:p>
          <a:p>
            <a:pPr>
              <a:buFont typeface="Arial" pitchFamily="34" charset="0"/>
              <a:buChar char="•"/>
            </a:pPr>
            <a:r>
              <a:rPr lang="en-AU" sz="1200" kern="1200" dirty="0" smtClean="0">
                <a:solidFill>
                  <a:schemeClr val="tx1"/>
                </a:solidFill>
                <a:latin typeface="+mn-lt"/>
                <a:ea typeface="+mn-ea"/>
                <a:cs typeface="+mn-cs"/>
              </a:rPr>
              <a:t> As a result of pre-operational checks </a:t>
            </a:r>
          </a:p>
          <a:p>
            <a:pPr>
              <a:buFont typeface="Arial" pitchFamily="34" charset="0"/>
              <a:buChar char="•"/>
            </a:pPr>
            <a:r>
              <a:rPr lang="en-AU" sz="1200" kern="1200" dirty="0" smtClean="0">
                <a:solidFill>
                  <a:schemeClr val="tx1"/>
                </a:solidFill>
                <a:latin typeface="+mn-lt"/>
                <a:ea typeface="+mn-ea"/>
                <a:cs typeface="+mn-cs"/>
              </a:rPr>
              <a:t>When reported to you by other staff</a:t>
            </a:r>
          </a:p>
          <a:p>
            <a:pPr>
              <a:buFont typeface="Arial" pitchFamily="34" charset="0"/>
              <a:buChar char="•"/>
            </a:pPr>
            <a:r>
              <a:rPr lang="en-AU" sz="1200" kern="1200" dirty="0" smtClean="0">
                <a:solidFill>
                  <a:schemeClr val="tx1"/>
                </a:solidFill>
                <a:latin typeface="+mn-lt"/>
                <a:ea typeface="+mn-ea"/>
                <a:cs typeface="+mn-cs"/>
              </a:rPr>
              <a:t> When flagged by the system as needing attention.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there </a:t>
            </a:r>
            <a:r>
              <a:rPr lang="en-AU" sz="1200" kern="1200" dirty="0" smtClean="0">
                <a:solidFill>
                  <a:schemeClr val="tx1"/>
                </a:solidFill>
                <a:latin typeface="+mn-lt"/>
                <a:ea typeface="+mn-ea"/>
                <a:cs typeface="+mn-cs"/>
              </a:rPr>
              <a:t>is a very liberal interpretation of what constitutes ‘faulty or damaged equipment’ stressing items do not need to be ‘broken’ to require attention and indicating examples of faulty and damaged equipment can include</a:t>
            </a:r>
          </a:p>
          <a:p>
            <a:pPr>
              <a:buFont typeface="Arial" pitchFamily="34" charset="0"/>
              <a:buChar char="•"/>
            </a:pPr>
            <a:r>
              <a:rPr lang="en-AU" sz="1200" kern="1200" dirty="0" smtClean="0">
                <a:solidFill>
                  <a:schemeClr val="tx1"/>
                </a:solidFill>
                <a:latin typeface="+mn-lt"/>
                <a:ea typeface="+mn-ea"/>
                <a:cs typeface="+mn-cs"/>
              </a:rPr>
              <a:t> Missing items – these can be:</a:t>
            </a:r>
          </a:p>
          <a:p>
            <a:pPr lvl="1">
              <a:buFont typeface="Arial" pitchFamily="34" charset="0"/>
              <a:buChar char="•"/>
            </a:pPr>
            <a:r>
              <a:rPr lang="en-US" sz="1200" kern="1200" dirty="0" smtClean="0">
                <a:solidFill>
                  <a:schemeClr val="tx1"/>
                </a:solidFill>
                <a:latin typeface="+mn-lt"/>
                <a:ea typeface="+mn-ea"/>
                <a:cs typeface="+mn-cs"/>
              </a:rPr>
              <a:t> Items which have been removed for repair or service – that is, they may have been returned to the manufacturer or supplier for service or they may be with the Maintenance department being repaired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Items which have been stolen or misplaced – it is relatively common for smaller security item to ‘go missing’ when an event occurs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Items which have been disposed of – because of their condition or age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Items which have flat batteries – or batteries which will no longer hold an effective charge for the required period</a:t>
            </a:r>
          </a:p>
          <a:p>
            <a:pPr>
              <a:buFont typeface="Arial" pitchFamily="34" charset="0"/>
              <a:buChar char="•"/>
            </a:pPr>
            <a:r>
              <a:rPr lang="en-AU" sz="1200" kern="1200" dirty="0" smtClean="0">
                <a:solidFill>
                  <a:schemeClr val="tx1"/>
                </a:solidFill>
                <a:latin typeface="+mn-lt"/>
                <a:ea typeface="+mn-ea"/>
                <a:cs typeface="+mn-cs"/>
              </a:rPr>
              <a:t> Torches with blown globes</a:t>
            </a:r>
          </a:p>
          <a:p>
            <a:pPr>
              <a:buFont typeface="Arial" pitchFamily="34" charset="0"/>
              <a:buChar char="•"/>
            </a:pPr>
            <a:r>
              <a:rPr lang="en-AU" sz="1200" kern="1200" dirty="0" smtClean="0">
                <a:solidFill>
                  <a:schemeClr val="tx1"/>
                </a:solidFill>
                <a:latin typeface="+mn-lt"/>
                <a:ea typeface="+mn-ea"/>
                <a:cs typeface="+mn-cs"/>
              </a:rPr>
              <a:t> Items (equipment, machines and systems) requiring:</a:t>
            </a:r>
          </a:p>
          <a:p>
            <a:pPr lvl="1">
              <a:buFont typeface="Arial" pitchFamily="34" charset="0"/>
              <a:buChar char="•"/>
            </a:pPr>
            <a:r>
              <a:rPr lang="en-US" sz="1200" kern="1200" dirty="0" smtClean="0">
                <a:solidFill>
                  <a:schemeClr val="tx1"/>
                </a:solidFill>
                <a:latin typeface="+mn-lt"/>
                <a:ea typeface="+mn-ea"/>
                <a:cs typeface="+mn-cs"/>
              </a:rPr>
              <a:t> Preventative maintenance in accordance with established servicing schedules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Service in response to requests for repairs/maintenance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Any item which works intermittently</a:t>
            </a:r>
          </a:p>
          <a:p>
            <a:pPr>
              <a:buFont typeface="Arial" pitchFamily="34" charset="0"/>
              <a:buChar char="•"/>
            </a:pPr>
            <a:r>
              <a:rPr lang="en-AU" sz="1200" kern="1200" dirty="0" smtClean="0">
                <a:solidFill>
                  <a:schemeClr val="tx1"/>
                </a:solidFill>
                <a:latin typeface="+mn-lt"/>
                <a:ea typeface="+mn-ea"/>
                <a:cs typeface="+mn-cs"/>
              </a:rPr>
              <a:t> Any item which it dangerous to use – for whatever reason (dangerous to you or members of the public)</a:t>
            </a:r>
          </a:p>
          <a:p>
            <a:pPr>
              <a:buFont typeface="Arial" pitchFamily="34" charset="0"/>
              <a:buChar char="•"/>
            </a:pPr>
            <a:r>
              <a:rPr lang="en-AU" sz="1200" kern="1200" dirty="0" smtClean="0">
                <a:solidFill>
                  <a:schemeClr val="tx1"/>
                </a:solidFill>
                <a:latin typeface="+mn-lt"/>
                <a:ea typeface="+mn-ea"/>
                <a:cs typeface="+mn-cs"/>
              </a:rPr>
              <a:t> Any item or system which fails to operate as intended.</a:t>
            </a:r>
          </a:p>
          <a:p>
            <a:r>
              <a:rPr lang="en-AU" sz="1200" kern="1200" dirty="0" smtClean="0">
                <a:solidFill>
                  <a:schemeClr val="tx1"/>
                </a:solidFill>
                <a:latin typeface="+mn-lt"/>
                <a:ea typeface="+mn-ea"/>
                <a:cs typeface="+mn-cs"/>
              </a:rPr>
              <a:t>Note: many systems, pieces of equipment and items will present with one aspect not performing as intended but all other features showing full operational readiness. In these cases items are usually kept in service if the one aspect is a relatively minor component of the overall system/item.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when students </a:t>
            </a:r>
            <a:r>
              <a:rPr lang="en-AU" sz="1200" kern="1200" dirty="0" smtClean="0">
                <a:solidFill>
                  <a:schemeClr val="tx1"/>
                </a:solidFill>
                <a:latin typeface="+mn-lt"/>
                <a:ea typeface="+mn-ea"/>
                <a:cs typeface="+mn-cs"/>
              </a:rPr>
              <a:t>identify an issue with equipment they must follow house procedures explaining for items which can be fixed/repaired on-the-job training will:</a:t>
            </a:r>
          </a:p>
          <a:p>
            <a:pPr>
              <a:buFont typeface="Arial" pitchFamily="34" charset="0"/>
              <a:buChar char="•"/>
            </a:pPr>
            <a:r>
              <a:rPr lang="en-AU" sz="1200" kern="1200" dirty="0" smtClean="0">
                <a:solidFill>
                  <a:schemeClr val="tx1"/>
                </a:solidFill>
                <a:latin typeface="+mn-lt"/>
                <a:ea typeface="+mn-ea"/>
                <a:cs typeface="+mn-cs"/>
              </a:rPr>
              <a:t> Explain your scope of authority for repairing security equipment – detailing:</a:t>
            </a:r>
          </a:p>
          <a:p>
            <a:pPr lvl="1">
              <a:buFont typeface="Arial" pitchFamily="34" charset="0"/>
              <a:buChar char="•"/>
            </a:pPr>
            <a:r>
              <a:rPr lang="en-US" sz="1200" kern="1200" dirty="0" smtClean="0">
                <a:solidFill>
                  <a:schemeClr val="tx1"/>
                </a:solidFill>
                <a:latin typeface="+mn-lt"/>
                <a:ea typeface="+mn-ea"/>
                <a:cs typeface="+mn-cs"/>
              </a:rPr>
              <a:t> The items you can attempt to repair/fix – for example: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Replacing batteries and globes would be approved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Adjusting trigger pressure on a firearm would not</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Oiling the lock on handcuffs would be authorized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Attempting repairs to a conveyor belt on a scanner which is under warranty would not</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Adjusting the sensitivity of a walk-through metal detector would be approved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Re-aligning CCTV cameras to cover different areas would not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Limits regarding aspects such as: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Time to be spent on fixing the problem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Budget</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Where repairs can be undertaken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When/if you are authorized to call in an external service provider to undertake immediate on-the-spot repairs in (say) an after-hours situation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Provide instruction on how to:</a:t>
            </a:r>
          </a:p>
          <a:p>
            <a:pPr lvl="1">
              <a:buFont typeface="Arial" pitchFamily="34" charset="0"/>
              <a:buChar char="•"/>
            </a:pPr>
            <a:r>
              <a:rPr lang="en-US" sz="1200" kern="1200" dirty="0" smtClean="0">
                <a:solidFill>
                  <a:schemeClr val="tx1"/>
                </a:solidFill>
                <a:latin typeface="+mn-lt"/>
                <a:ea typeface="+mn-ea"/>
                <a:cs typeface="+mn-cs"/>
              </a:rPr>
              <a:t> Trouble-shoot – diagnose and determine causes of faults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Repair, service and maintain items you have been authorized to work on.</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additional information regarding taking action when a problem with equipment is identified:</a:t>
            </a:r>
          </a:p>
          <a:p>
            <a:pPr>
              <a:buFont typeface="Arial" pitchFamily="34" charset="0"/>
              <a:buChar char="•"/>
            </a:pPr>
            <a:r>
              <a:rPr lang="en-AU" sz="1200" kern="1200" dirty="0" smtClean="0">
                <a:solidFill>
                  <a:schemeClr val="tx1"/>
                </a:solidFill>
                <a:latin typeface="+mn-lt"/>
                <a:ea typeface="+mn-ea"/>
                <a:cs typeface="+mn-cs"/>
              </a:rPr>
              <a:t> You must never assume you know what is wrong with an item unless you have been properly trained in diagnosing faults</a:t>
            </a:r>
          </a:p>
          <a:p>
            <a:pPr>
              <a:buFont typeface="Arial" pitchFamily="34" charset="0"/>
              <a:buChar char="•"/>
            </a:pPr>
            <a:r>
              <a:rPr lang="en-AU" sz="1200" kern="1200" dirty="0" smtClean="0">
                <a:solidFill>
                  <a:schemeClr val="tx1"/>
                </a:solidFill>
                <a:latin typeface="+mn-lt"/>
                <a:ea typeface="+mn-ea"/>
                <a:cs typeface="+mn-cs"/>
              </a:rPr>
              <a:t> You must adhere strictly to your delegated scope of authority – failing to do so can have legal implications where the repair causes a problem or breaches the legally-binding requirements of a service contract, guarantee or warranty</a:t>
            </a:r>
          </a:p>
          <a:p>
            <a:pPr>
              <a:buFont typeface="Arial" pitchFamily="34" charset="0"/>
              <a:buChar char="•"/>
            </a:pPr>
            <a:r>
              <a:rPr lang="en-AU" sz="1200" kern="1200" dirty="0" smtClean="0">
                <a:solidFill>
                  <a:schemeClr val="tx1"/>
                </a:solidFill>
                <a:latin typeface="+mn-lt"/>
                <a:ea typeface="+mn-ea"/>
                <a:cs typeface="+mn-cs"/>
              </a:rPr>
              <a:t> Just because you know how to repair one type, brand or model of equipment does not mean you can automatically repair all similar (but different) types, brands and models</a:t>
            </a:r>
          </a:p>
          <a:p>
            <a:pPr>
              <a:buFont typeface="Arial" pitchFamily="34" charset="0"/>
              <a:buChar char="•"/>
            </a:pPr>
            <a:r>
              <a:rPr lang="en-AU" sz="1200" kern="1200" dirty="0" smtClean="0">
                <a:solidFill>
                  <a:schemeClr val="tx1"/>
                </a:solidFill>
                <a:latin typeface="+mn-lt"/>
                <a:ea typeface="+mn-ea"/>
                <a:cs typeface="+mn-cs"/>
              </a:rPr>
              <a:t> You must never ignore a fault or problem – you must either:</a:t>
            </a:r>
          </a:p>
          <a:p>
            <a:pPr lvl="1">
              <a:buFont typeface="Arial" pitchFamily="34" charset="0"/>
              <a:buChar char="•"/>
            </a:pPr>
            <a:r>
              <a:rPr lang="en-US" sz="1200" kern="1200" dirty="0" smtClean="0">
                <a:solidFill>
                  <a:schemeClr val="tx1"/>
                </a:solidFill>
                <a:latin typeface="+mn-lt"/>
                <a:ea typeface="+mn-ea"/>
                <a:cs typeface="+mn-cs"/>
              </a:rPr>
              <a:t> Fix the issue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Make arrangements for required repairs/service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Report the issue.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possible SOP for situations</a:t>
            </a:r>
            <a:r>
              <a:rPr lang="en-AU" baseline="0" noProof="0" dirty="0" smtClean="0"/>
              <a:t> where faulty/damaged security items which cannot be fixed have been identified:</a:t>
            </a:r>
          </a:p>
          <a:p>
            <a:pPr>
              <a:buFont typeface="Arial" pitchFamily="34" charset="0"/>
              <a:buChar char="•"/>
            </a:pPr>
            <a:r>
              <a:rPr lang="en-AU" sz="1200" kern="1200" dirty="0" smtClean="0">
                <a:solidFill>
                  <a:schemeClr val="tx1"/>
                </a:solidFill>
                <a:latin typeface="+mn-lt"/>
                <a:ea typeface="+mn-ea"/>
                <a:cs typeface="+mn-cs"/>
              </a:rPr>
              <a:t> Identifying and tagging the item – as ‘U/S’</a:t>
            </a:r>
          </a:p>
          <a:p>
            <a:pPr>
              <a:buFont typeface="Arial" pitchFamily="34" charset="0"/>
              <a:buChar char="•"/>
            </a:pPr>
            <a:r>
              <a:rPr lang="en-AU" sz="1200" kern="1200" dirty="0" smtClean="0">
                <a:solidFill>
                  <a:schemeClr val="tx1"/>
                </a:solidFill>
                <a:latin typeface="+mn-lt"/>
                <a:ea typeface="+mn-ea"/>
                <a:cs typeface="+mn-cs"/>
              </a:rPr>
              <a:t> Segregating the item from other items – so others do not take/use it and they know it is unavailable</a:t>
            </a:r>
          </a:p>
          <a:p>
            <a:pPr>
              <a:buFont typeface="Arial" pitchFamily="34" charset="0"/>
              <a:buChar char="•"/>
            </a:pPr>
            <a:r>
              <a:rPr lang="en-AU" sz="1200" kern="1200" dirty="0" smtClean="0">
                <a:solidFill>
                  <a:schemeClr val="tx1"/>
                </a:solidFill>
                <a:latin typeface="+mn-lt"/>
                <a:ea typeface="+mn-ea"/>
                <a:cs typeface="+mn-cs"/>
              </a:rPr>
              <a:t> Taking action to initiate repair or replacement – such as:</a:t>
            </a:r>
          </a:p>
          <a:p>
            <a:pPr>
              <a:buFont typeface="Arial" pitchFamily="34" charset="0"/>
              <a:buChar char="•"/>
            </a:pPr>
            <a:r>
              <a:rPr lang="en-US" sz="1200" kern="1200" dirty="0" smtClean="0">
                <a:solidFill>
                  <a:schemeClr val="tx1"/>
                </a:solidFill>
                <a:latin typeface="+mn-lt"/>
                <a:ea typeface="+mn-ea"/>
                <a:cs typeface="+mn-cs"/>
              </a:rPr>
              <a:t> Completing a ‘Maintenance Request form’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Handing the item in to a designated person/department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Attempting to arrange a replacement or substitute item</a:t>
            </a:r>
          </a:p>
          <a:p>
            <a:pPr>
              <a:buFont typeface="Arial" pitchFamily="34" charset="0"/>
              <a:buChar char="•"/>
            </a:pPr>
            <a:r>
              <a:rPr lang="en-AU" sz="1200" kern="1200" dirty="0" smtClean="0">
                <a:solidFill>
                  <a:schemeClr val="tx1"/>
                </a:solidFill>
                <a:latin typeface="+mn-lt"/>
                <a:ea typeface="+mn-ea"/>
                <a:cs typeface="+mn-cs"/>
              </a:rPr>
              <a:t> Reporting the situation problem – which may require:</a:t>
            </a:r>
          </a:p>
          <a:p>
            <a:pPr lvl="1">
              <a:buFont typeface="Arial" pitchFamily="34" charset="0"/>
              <a:buChar char="•"/>
            </a:pPr>
            <a:r>
              <a:rPr lang="en-US" sz="1200" kern="1200" dirty="0" smtClean="0">
                <a:solidFill>
                  <a:schemeClr val="tx1"/>
                </a:solidFill>
                <a:latin typeface="+mn-lt"/>
                <a:ea typeface="+mn-ea"/>
                <a:cs typeface="+mn-cs"/>
              </a:rPr>
              <a:t> Verbal notification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Some form of written form/report</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Calling in an external technician (where authorised under your scope of authority) so immediate on-site service/repair can take place. </a:t>
            </a:r>
          </a:p>
          <a:p>
            <a:pPr>
              <a:buFont typeface="Arial" pitchFamily="34" charset="0"/>
              <a:buNone/>
            </a:pPr>
            <a:endParaRPr lang="en-AU" noProof="0" dirty="0" smtClean="0"/>
          </a:p>
          <a:p>
            <a:pPr>
              <a:buFont typeface="Arial" pitchFamily="34" charset="0"/>
              <a:buNone/>
            </a:pPr>
            <a:r>
              <a:rPr lang="en-AU" b="1" noProof="0" dirty="0" smtClean="0"/>
              <a:t>Class Activity – Demonstration</a:t>
            </a:r>
          </a:p>
          <a:p>
            <a:pPr>
              <a:buFont typeface="Arial" pitchFamily="34" charset="0"/>
              <a:buNone/>
            </a:pPr>
            <a:r>
              <a:rPr lang="en-AU" b="0" noProof="0" dirty="0" smtClean="0"/>
              <a:t>Trainer demonstrates procedures</a:t>
            </a:r>
            <a:r>
              <a:rPr lang="en-AU" b="0" baseline="0" noProof="0" dirty="0" smtClean="0"/>
              <a:t> for dealing with an item of security equipment which staff would not be able to fix on-the-spot.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those who may need security-related training:</a:t>
            </a:r>
          </a:p>
          <a:p>
            <a:pPr>
              <a:buFont typeface="Arial" pitchFamily="34" charset="0"/>
              <a:buChar char="•"/>
            </a:pPr>
            <a:r>
              <a:rPr lang="en-AU" sz="1200" kern="1200" dirty="0" smtClean="0">
                <a:solidFill>
                  <a:schemeClr val="tx1"/>
                </a:solidFill>
                <a:latin typeface="+mn-lt"/>
                <a:ea typeface="+mn-ea"/>
                <a:cs typeface="+mn-cs"/>
              </a:rPr>
              <a:t> Traditionally security training may be required by full-time, part-time and casual staff as follows:</a:t>
            </a:r>
          </a:p>
          <a:p>
            <a:pPr>
              <a:buFont typeface="Arial" pitchFamily="34" charset="0"/>
              <a:buChar char="•"/>
            </a:pPr>
            <a:r>
              <a:rPr lang="en-AU" sz="1200" kern="1200" dirty="0" smtClean="0">
                <a:solidFill>
                  <a:schemeClr val="tx1"/>
                </a:solidFill>
                <a:latin typeface="+mn-lt"/>
                <a:ea typeface="+mn-ea"/>
                <a:cs typeface="+mn-cs"/>
              </a:rPr>
              <a:t> New employees – people who are new to the industry and new to the venue</a:t>
            </a:r>
          </a:p>
          <a:p>
            <a:pPr>
              <a:buFont typeface="Arial" pitchFamily="34" charset="0"/>
              <a:buChar char="•"/>
            </a:pPr>
            <a:r>
              <a:rPr lang="en-AU" sz="1200" kern="1200" dirty="0" smtClean="0">
                <a:solidFill>
                  <a:schemeClr val="tx1"/>
                </a:solidFill>
                <a:latin typeface="+mn-lt"/>
                <a:ea typeface="+mn-ea"/>
                <a:cs typeface="+mn-cs"/>
              </a:rPr>
              <a:t> Existing employees who have transferred to duties involving security work/responsibilities</a:t>
            </a:r>
          </a:p>
          <a:p>
            <a:pPr>
              <a:buFont typeface="Arial" pitchFamily="34" charset="0"/>
              <a:buChar char="•"/>
            </a:pPr>
            <a:r>
              <a:rPr lang="en-AU" sz="1200" kern="1200" dirty="0" smtClean="0">
                <a:solidFill>
                  <a:schemeClr val="tx1"/>
                </a:solidFill>
                <a:latin typeface="+mn-lt"/>
                <a:ea typeface="+mn-ea"/>
                <a:cs typeface="+mn-cs"/>
              </a:rPr>
              <a:t> Experienced staff – who have worked in security at other venues but not at their current workplace</a:t>
            </a:r>
          </a:p>
          <a:p>
            <a:pPr>
              <a:buFont typeface="Arial" pitchFamily="34" charset="0"/>
              <a:buChar char="•"/>
            </a:pPr>
            <a:r>
              <a:rPr lang="en-AU" sz="1200" kern="1200" dirty="0" smtClean="0">
                <a:solidFill>
                  <a:schemeClr val="tx1"/>
                </a:solidFill>
                <a:latin typeface="+mn-lt"/>
                <a:ea typeface="+mn-ea"/>
                <a:cs typeface="+mn-cs"/>
              </a:rPr>
              <a:t> Contracted security staff from an external security company who have no previous experience at the venue – these people may be used:</a:t>
            </a:r>
          </a:p>
          <a:p>
            <a:pPr lvl="1">
              <a:buFont typeface="Arial" pitchFamily="34" charset="0"/>
              <a:buChar char="•"/>
            </a:pPr>
            <a:r>
              <a:rPr lang="en-US" sz="1200" kern="1200" dirty="0" smtClean="0">
                <a:solidFill>
                  <a:schemeClr val="tx1"/>
                </a:solidFill>
                <a:latin typeface="+mn-lt"/>
                <a:ea typeface="+mn-ea"/>
                <a:cs typeface="+mn-cs"/>
              </a:rPr>
              <a:t> To support when a large event is taking place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support when a specific threat has been identified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replace a staff member at the last minute who has: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Not attended for their rostered shift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Had to leave work due to accident, injury or illness.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security-related training may be required when</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New equipment is bought and/or installed</a:t>
            </a:r>
          </a:p>
          <a:p>
            <a:pPr>
              <a:buFont typeface="Arial" pitchFamily="34" charset="0"/>
              <a:buChar char="•"/>
            </a:pPr>
            <a:r>
              <a:rPr lang="en-AU" sz="1200" kern="1200" dirty="0" smtClean="0">
                <a:solidFill>
                  <a:schemeClr val="tx1"/>
                </a:solidFill>
                <a:latin typeface="+mn-lt"/>
                <a:ea typeface="+mn-ea"/>
                <a:cs typeface="+mn-cs"/>
              </a:rPr>
              <a:t> Breaches of security occur</a:t>
            </a:r>
          </a:p>
          <a:p>
            <a:pPr>
              <a:buFont typeface="Arial" pitchFamily="34" charset="0"/>
              <a:buChar char="•"/>
            </a:pPr>
            <a:r>
              <a:rPr lang="en-AU" sz="1200" kern="1200" dirty="0" smtClean="0">
                <a:solidFill>
                  <a:schemeClr val="tx1"/>
                </a:solidFill>
                <a:latin typeface="+mn-lt"/>
                <a:ea typeface="+mn-ea"/>
                <a:cs typeface="+mn-cs"/>
              </a:rPr>
              <a:t> Established protocols prove ineffective in addressing a situation</a:t>
            </a:r>
          </a:p>
          <a:p>
            <a:pPr>
              <a:buFont typeface="Arial" pitchFamily="34" charset="0"/>
              <a:buChar char="•"/>
            </a:pPr>
            <a:r>
              <a:rPr lang="en-AU" sz="1200" kern="1200" dirty="0" smtClean="0">
                <a:solidFill>
                  <a:schemeClr val="tx1"/>
                </a:solidFill>
                <a:latin typeface="+mn-lt"/>
                <a:ea typeface="+mn-ea"/>
                <a:cs typeface="+mn-cs"/>
              </a:rPr>
              <a:t> Employer introduces new (or revised) policies and procedures – nearly all new/revised policies and procedures have the potential to impact existing security arrangements or protocols</a:t>
            </a:r>
          </a:p>
          <a:p>
            <a:pPr>
              <a:buFont typeface="Arial" pitchFamily="34" charset="0"/>
              <a:buChar char="•"/>
            </a:pPr>
            <a:r>
              <a:rPr lang="en-AU" sz="1200" kern="1200" dirty="0" smtClean="0">
                <a:solidFill>
                  <a:schemeClr val="tx1"/>
                </a:solidFill>
                <a:latin typeface="+mn-lt"/>
                <a:ea typeface="+mn-ea"/>
                <a:cs typeface="+mn-cs"/>
              </a:rPr>
              <a:t> A new target market/demographic is attending the venue</a:t>
            </a:r>
          </a:p>
          <a:p>
            <a:pPr>
              <a:buFont typeface="Arial" pitchFamily="34" charset="0"/>
              <a:buNone/>
            </a:pPr>
            <a:endParaRPr lang="en-AU" noProof="0" dirty="0" smtClean="0"/>
          </a:p>
          <a:p>
            <a:pPr>
              <a:buFont typeface="Arial" pitchFamily="34" charset="0"/>
              <a:buNone/>
            </a:pPr>
            <a:r>
              <a:rPr lang="en-AU" b="1" noProof="0" dirty="0" smtClean="0"/>
              <a:t>Class Activity – Discussion</a:t>
            </a:r>
          </a:p>
          <a:p>
            <a:pPr>
              <a:buFont typeface="Arial" pitchFamily="34" charset="0"/>
              <a:buNone/>
            </a:pPr>
            <a:r>
              <a:rPr lang="en-AU" b="0" noProof="0" dirty="0" smtClean="0"/>
              <a:t>Trainer leads a class discussion on the need for security training asking students, for each of the points listed on the slide:</a:t>
            </a:r>
          </a:p>
          <a:p>
            <a:pPr>
              <a:buFont typeface="Arial" pitchFamily="34" charset="0"/>
              <a:buChar char="•"/>
            </a:pPr>
            <a:r>
              <a:rPr lang="en-AU" b="0" noProof="0" dirty="0" smtClean="0"/>
              <a:t> Why security might be required</a:t>
            </a:r>
          </a:p>
          <a:p>
            <a:pPr>
              <a:buFont typeface="Arial" pitchFamily="34" charset="0"/>
              <a:buChar char="•"/>
            </a:pPr>
            <a:r>
              <a:rPr lang="en-AU" b="0" noProof="0" dirty="0" smtClean="0"/>
              <a:t> The nature/type of training which may be required</a:t>
            </a:r>
          </a:p>
          <a:p>
            <a:pPr>
              <a:buFont typeface="Arial" pitchFamily="34" charset="0"/>
              <a:buChar char="•"/>
            </a:pPr>
            <a:r>
              <a:rPr lang="en-AU" b="0" noProof="0" dirty="0" smtClean="0"/>
              <a:t> How it may be delivered/provided.</a:t>
            </a:r>
          </a:p>
          <a:p>
            <a:pPr>
              <a:buFont typeface="Arial" pitchFamily="34" charset="0"/>
              <a:buNone/>
            </a:pPr>
            <a:r>
              <a:rPr lang="en-AU" b="0" noProof="0" dirty="0" smtClean="0"/>
              <a:t>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advising security-related training may be required when</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The property changes its opening/trading times</a:t>
            </a:r>
          </a:p>
          <a:p>
            <a:pPr>
              <a:buFont typeface="Arial" pitchFamily="34" charset="0"/>
              <a:buChar char="•"/>
            </a:pPr>
            <a:r>
              <a:rPr lang="en-AU" sz="1200" kern="1200" dirty="0" smtClean="0">
                <a:solidFill>
                  <a:schemeClr val="tx1"/>
                </a:solidFill>
                <a:latin typeface="+mn-lt"/>
                <a:ea typeface="+mn-ea"/>
                <a:cs typeface="+mn-cs"/>
              </a:rPr>
              <a:t> New attractions are brought into the venue which alter demand/patronage</a:t>
            </a:r>
          </a:p>
          <a:p>
            <a:pPr>
              <a:buFont typeface="Arial" pitchFamily="34" charset="0"/>
              <a:buChar char="•"/>
            </a:pPr>
            <a:r>
              <a:rPr lang="en-AU" sz="1200" kern="1200" dirty="0" smtClean="0">
                <a:solidFill>
                  <a:schemeClr val="tx1"/>
                </a:solidFill>
                <a:latin typeface="+mn-lt"/>
                <a:ea typeface="+mn-ea"/>
                <a:cs typeface="+mn-cs"/>
              </a:rPr>
              <a:t> Legal action has been taken against an employee or the venue</a:t>
            </a:r>
          </a:p>
          <a:p>
            <a:pPr>
              <a:buFont typeface="Arial" pitchFamily="34" charset="0"/>
              <a:buChar char="•"/>
            </a:pPr>
            <a:r>
              <a:rPr lang="en-AU" sz="1200" kern="1200" dirty="0" smtClean="0">
                <a:solidFill>
                  <a:schemeClr val="tx1"/>
                </a:solidFill>
                <a:latin typeface="+mn-lt"/>
                <a:ea typeface="+mn-ea"/>
                <a:cs typeface="+mn-cs"/>
              </a:rPr>
              <a:t> Adverse media attention occurs about the conduct/operation of the venue</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 Activity – Discussion</a:t>
            </a:r>
          </a:p>
          <a:p>
            <a:pPr>
              <a:buFont typeface="Arial" pitchFamily="34" charset="0"/>
              <a:buNone/>
            </a:pPr>
            <a:r>
              <a:rPr lang="en-AU" b="0" noProof="0" dirty="0" smtClean="0"/>
              <a:t>Trainer leads a class discussion on the need for security training asking students, for each of the points listed on the slide:</a:t>
            </a:r>
          </a:p>
          <a:p>
            <a:pPr>
              <a:buFont typeface="Arial" pitchFamily="34" charset="0"/>
              <a:buChar char="•"/>
            </a:pPr>
            <a:r>
              <a:rPr lang="en-AU" b="0" noProof="0" dirty="0" smtClean="0"/>
              <a:t> Why security might be required</a:t>
            </a:r>
          </a:p>
          <a:p>
            <a:pPr>
              <a:buFont typeface="Arial" pitchFamily="34" charset="0"/>
              <a:buChar char="•"/>
            </a:pPr>
            <a:r>
              <a:rPr lang="en-AU" b="0" noProof="0" dirty="0" smtClean="0"/>
              <a:t> The nature/type of training which may be required</a:t>
            </a:r>
          </a:p>
          <a:p>
            <a:pPr>
              <a:buFont typeface="Arial" pitchFamily="34" charset="0"/>
              <a:buChar char="•"/>
            </a:pPr>
            <a:r>
              <a:rPr lang="en-AU" b="0" noProof="0" dirty="0" smtClean="0"/>
              <a:t> How it may be delivered/provided.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advising security-related training may be required when</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Authorities advise the venue needs to improve/modify its security</a:t>
            </a:r>
          </a:p>
          <a:p>
            <a:pPr>
              <a:buFont typeface="Arial" pitchFamily="34" charset="0"/>
              <a:buChar char="•"/>
            </a:pPr>
            <a:r>
              <a:rPr lang="en-AU" sz="1200" kern="1200" dirty="0" smtClean="0">
                <a:solidFill>
                  <a:schemeClr val="tx1"/>
                </a:solidFill>
                <a:latin typeface="+mn-lt"/>
                <a:ea typeface="+mn-ea"/>
                <a:cs typeface="+mn-cs"/>
              </a:rPr>
              <a:t> Authorities warn the venue of an identified/expected new threat</a:t>
            </a:r>
          </a:p>
          <a:p>
            <a:pPr>
              <a:buFont typeface="Arial" pitchFamily="34" charset="0"/>
              <a:buChar char="•"/>
            </a:pPr>
            <a:r>
              <a:rPr lang="en-AU" sz="1200" kern="1200" dirty="0" smtClean="0">
                <a:solidFill>
                  <a:schemeClr val="tx1"/>
                </a:solidFill>
                <a:latin typeface="+mn-lt"/>
                <a:ea typeface="+mn-ea"/>
                <a:cs typeface="+mn-cs"/>
              </a:rPr>
              <a:t> The layout of the property changes – which creates new risks, choke points/bottlenecks and potential for theft and other issues</a:t>
            </a:r>
          </a:p>
          <a:p>
            <a:pPr>
              <a:buFont typeface="Arial" pitchFamily="34" charset="0"/>
              <a:buChar char="•"/>
            </a:pPr>
            <a:r>
              <a:rPr lang="en-AU" sz="1200" kern="1200" dirty="0" smtClean="0">
                <a:solidFill>
                  <a:schemeClr val="tx1"/>
                </a:solidFill>
                <a:latin typeface="+mn-lt"/>
                <a:ea typeface="+mn-ea"/>
                <a:cs typeface="+mn-cs"/>
              </a:rPr>
              <a:t> A special or important event is expected</a:t>
            </a:r>
          </a:p>
          <a:p>
            <a:pPr>
              <a:buFont typeface="Arial" pitchFamily="34" charset="0"/>
              <a:buChar char="•"/>
            </a:pPr>
            <a:r>
              <a:rPr lang="en-AU" sz="1200" kern="1200" dirty="0" smtClean="0">
                <a:solidFill>
                  <a:schemeClr val="tx1"/>
                </a:solidFill>
                <a:latin typeface="+mn-lt"/>
                <a:ea typeface="+mn-ea"/>
                <a:cs typeface="+mn-cs"/>
              </a:rPr>
              <a:t> A VIP guest requires special security arrangements not normally provided by the venue.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when </a:t>
            </a:r>
            <a:r>
              <a:rPr lang="en-AU" sz="1200" kern="1200" dirty="0" smtClean="0">
                <a:solidFill>
                  <a:schemeClr val="tx1"/>
                </a:solidFill>
                <a:latin typeface="+mn-lt"/>
                <a:ea typeface="+mn-ea"/>
                <a:cs typeface="+mn-cs"/>
              </a:rPr>
              <a:t>the need for security-related training has been identified the normal course of action is to put the identified need into a formal written request and submit it to the ‘appropriate person’ or group in the venue. The ‘appropriate person’ may be:</a:t>
            </a:r>
          </a:p>
          <a:p>
            <a:pPr>
              <a:buFont typeface="Arial" pitchFamily="34" charset="0"/>
              <a:buChar char="•"/>
            </a:pPr>
            <a:r>
              <a:rPr lang="en-AU" sz="1200" kern="1200" dirty="0" smtClean="0">
                <a:solidFill>
                  <a:schemeClr val="tx1"/>
                </a:solidFill>
                <a:latin typeface="+mn-lt"/>
                <a:ea typeface="+mn-ea"/>
                <a:cs typeface="+mn-cs"/>
              </a:rPr>
              <a:t> Owner</a:t>
            </a:r>
          </a:p>
          <a:p>
            <a:pPr>
              <a:buFont typeface="Arial" pitchFamily="34" charset="0"/>
              <a:buChar char="•"/>
            </a:pPr>
            <a:r>
              <a:rPr lang="en-AU" sz="1200" kern="1200" dirty="0" smtClean="0">
                <a:solidFill>
                  <a:schemeClr val="tx1"/>
                </a:solidFill>
                <a:latin typeface="+mn-lt"/>
                <a:ea typeface="+mn-ea"/>
                <a:cs typeface="+mn-cs"/>
              </a:rPr>
              <a:t> Manager</a:t>
            </a:r>
          </a:p>
          <a:p>
            <a:pPr>
              <a:buFont typeface="Arial" pitchFamily="34" charset="0"/>
              <a:buChar char="•"/>
            </a:pPr>
            <a:r>
              <a:rPr lang="en-AU" sz="1200" kern="1200" dirty="0" smtClean="0">
                <a:solidFill>
                  <a:schemeClr val="tx1"/>
                </a:solidFill>
                <a:latin typeface="+mn-lt"/>
                <a:ea typeface="+mn-ea"/>
                <a:cs typeface="+mn-cs"/>
              </a:rPr>
              <a:t> Head office</a:t>
            </a:r>
          </a:p>
          <a:p>
            <a:pPr>
              <a:buFont typeface="Arial" pitchFamily="34" charset="0"/>
              <a:buChar char="•"/>
            </a:pPr>
            <a:r>
              <a:rPr lang="en-AU" sz="1200" kern="1200" dirty="0" smtClean="0">
                <a:solidFill>
                  <a:schemeClr val="tx1"/>
                </a:solidFill>
                <a:latin typeface="+mn-lt"/>
                <a:ea typeface="+mn-ea"/>
                <a:cs typeface="+mn-cs"/>
              </a:rPr>
              <a:t> External security provider – where the venue out-sources its security.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who the need for security training</a:t>
            </a:r>
            <a:r>
              <a:rPr lang="en-AU" baseline="0" noProof="0" dirty="0" smtClean="0"/>
              <a:t> may need to be reported to:</a:t>
            </a:r>
          </a:p>
          <a:p>
            <a:pPr>
              <a:buFont typeface="Arial" pitchFamily="34" charset="0"/>
              <a:buChar char="•"/>
            </a:pPr>
            <a:r>
              <a:rPr lang="en-AU" sz="1200" kern="1200" dirty="0" smtClean="0">
                <a:solidFill>
                  <a:schemeClr val="tx1"/>
                </a:solidFill>
                <a:latin typeface="+mn-lt"/>
                <a:ea typeface="+mn-ea"/>
                <a:cs typeface="+mn-cs"/>
              </a:rPr>
              <a:t> Head of Security</a:t>
            </a:r>
          </a:p>
          <a:p>
            <a:pPr>
              <a:buFont typeface="Arial" pitchFamily="34" charset="0"/>
              <a:buChar char="•"/>
            </a:pPr>
            <a:r>
              <a:rPr lang="en-AU" sz="1200" kern="1200" dirty="0" smtClean="0">
                <a:solidFill>
                  <a:schemeClr val="tx1"/>
                </a:solidFill>
                <a:latin typeface="+mn-lt"/>
                <a:ea typeface="+mn-ea"/>
                <a:cs typeface="+mn-cs"/>
              </a:rPr>
              <a:t> Venue trainer</a:t>
            </a:r>
          </a:p>
          <a:p>
            <a:pPr>
              <a:buFont typeface="Arial" pitchFamily="34" charset="0"/>
              <a:buChar char="•"/>
            </a:pPr>
            <a:r>
              <a:rPr lang="en-AU" sz="1200" kern="1200" dirty="0" smtClean="0">
                <a:solidFill>
                  <a:schemeClr val="tx1"/>
                </a:solidFill>
                <a:latin typeface="+mn-lt"/>
                <a:ea typeface="+mn-ea"/>
                <a:cs typeface="+mn-cs"/>
              </a:rPr>
              <a:t> Department supervisor</a:t>
            </a:r>
          </a:p>
          <a:p>
            <a:pPr>
              <a:buFont typeface="Arial" pitchFamily="34" charset="0"/>
              <a:buChar char="•"/>
            </a:pPr>
            <a:r>
              <a:rPr lang="en-AU" sz="1200" kern="1200" dirty="0" smtClean="0">
                <a:solidFill>
                  <a:schemeClr val="tx1"/>
                </a:solidFill>
                <a:latin typeface="+mn-lt"/>
                <a:ea typeface="+mn-ea"/>
                <a:cs typeface="+mn-cs"/>
              </a:rPr>
              <a:t> Safety and Welfare (or similar) Committee</a:t>
            </a:r>
          </a:p>
          <a:p>
            <a:pPr>
              <a:buFont typeface="Arial" pitchFamily="34" charset="0"/>
              <a:buChar char="•"/>
            </a:pPr>
            <a:r>
              <a:rPr lang="en-AU" sz="1200" kern="1200" dirty="0" smtClean="0">
                <a:solidFill>
                  <a:schemeClr val="tx1"/>
                </a:solidFill>
                <a:latin typeface="+mn-lt"/>
                <a:ea typeface="+mn-ea"/>
                <a:cs typeface="+mn-cs"/>
              </a:rPr>
              <a:t> Equipment manufacturers – suppliers of systems and large equipment will often provide training on their items (sometimes free; sometimes on a fee-for-service basis).</a:t>
            </a:r>
          </a:p>
          <a:p>
            <a:pPr>
              <a:buFont typeface="Arial" pitchFamily="34" charset="0"/>
              <a:buNone/>
            </a:pPr>
            <a:endParaRPr lang="en-AU"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notes when reporting security training requirements the following should be communicated:</a:t>
            </a:r>
          </a:p>
          <a:p>
            <a:pPr>
              <a:buFont typeface="Arial" pitchFamily="34" charset="0"/>
              <a:buChar char="•"/>
            </a:pPr>
            <a:r>
              <a:rPr lang="en-AU" sz="1200" kern="1200" dirty="0" smtClean="0">
                <a:solidFill>
                  <a:schemeClr val="tx1"/>
                </a:solidFill>
                <a:latin typeface="+mn-lt"/>
                <a:ea typeface="+mn-ea"/>
                <a:cs typeface="+mn-cs"/>
              </a:rPr>
              <a:t> Number of staff requiring training</a:t>
            </a:r>
          </a:p>
          <a:p>
            <a:pPr>
              <a:buFont typeface="Arial" pitchFamily="34" charset="0"/>
              <a:buChar char="•"/>
            </a:pPr>
            <a:r>
              <a:rPr lang="en-AU" sz="1200" kern="1200" dirty="0" smtClean="0">
                <a:solidFill>
                  <a:schemeClr val="tx1"/>
                </a:solidFill>
                <a:latin typeface="+mn-lt"/>
                <a:ea typeface="+mn-ea"/>
                <a:cs typeface="+mn-cs"/>
              </a:rPr>
              <a:t> Names of staff – with contact details</a:t>
            </a:r>
          </a:p>
          <a:p>
            <a:pPr>
              <a:buFont typeface="Arial" pitchFamily="34" charset="0"/>
              <a:buChar char="•"/>
            </a:pPr>
            <a:r>
              <a:rPr lang="en-AU" sz="1200" kern="1200" dirty="0" smtClean="0">
                <a:solidFill>
                  <a:schemeClr val="tx1"/>
                </a:solidFill>
                <a:latin typeface="+mn-lt"/>
                <a:ea typeface="+mn-ea"/>
                <a:cs typeface="+mn-cs"/>
              </a:rPr>
              <a:t> Urgency of the request for training</a:t>
            </a:r>
          </a:p>
          <a:p>
            <a:pPr>
              <a:buFont typeface="Arial" pitchFamily="34" charset="0"/>
              <a:buChar char="•"/>
            </a:pPr>
            <a:r>
              <a:rPr lang="en-AU" sz="1200" kern="1200" dirty="0" smtClean="0">
                <a:solidFill>
                  <a:schemeClr val="tx1"/>
                </a:solidFill>
                <a:latin typeface="+mn-lt"/>
                <a:ea typeface="+mn-ea"/>
                <a:cs typeface="+mn-cs"/>
              </a:rPr>
              <a:t> Specification of the type/nature of the training required.</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venue manager to attend and:</a:t>
            </a:r>
          </a:p>
          <a:p>
            <a:pPr>
              <a:buFont typeface="Arial" pitchFamily="34" charset="0"/>
              <a:buChar char="•"/>
            </a:pPr>
            <a:r>
              <a:rPr lang="en-AU" b="0" noProof="0" dirty="0" smtClean="0"/>
              <a:t> Discuss SOPs for reporting faulty/damaged security items</a:t>
            </a:r>
          </a:p>
          <a:p>
            <a:pPr>
              <a:buFont typeface="Arial" pitchFamily="34" charset="0"/>
              <a:buChar char="•"/>
            </a:pPr>
            <a:r>
              <a:rPr lang="en-AU" b="0" noProof="0" dirty="0" smtClean="0"/>
              <a:t> Describe pre-operational checks made on security equipment</a:t>
            </a:r>
          </a:p>
          <a:p>
            <a:pPr>
              <a:buFont typeface="Arial" pitchFamily="34" charset="0"/>
              <a:buChar char="•"/>
            </a:pPr>
            <a:r>
              <a:rPr lang="en-AU" b="0" noProof="0" dirty="0" smtClean="0"/>
              <a:t> Give examples of venue training provided for security staff</a:t>
            </a:r>
          </a:p>
          <a:p>
            <a:pPr>
              <a:buFont typeface="Arial" pitchFamily="34" charset="0"/>
              <a:buChar char="•"/>
            </a:pPr>
            <a:r>
              <a:rPr lang="en-AU" b="0" noProof="0" dirty="0" smtClean="0"/>
              <a:t> Describe how need for security training is identified and met.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leads a discussion on operating security equipment by asking students questions such as:</a:t>
            </a:r>
          </a:p>
          <a:p>
            <a:pPr>
              <a:buFont typeface="Arial" pitchFamily="34" charset="0"/>
              <a:buChar char="•"/>
            </a:pPr>
            <a:r>
              <a:rPr lang="en-US" b="0" dirty="0" smtClean="0"/>
              <a:t> What experience have you had with operating security equipment?</a:t>
            </a:r>
          </a:p>
          <a:p>
            <a:pPr>
              <a:buFont typeface="Arial" pitchFamily="34" charset="0"/>
              <a:buChar char="•"/>
            </a:pPr>
            <a:r>
              <a:rPr lang="en-US" b="0" dirty="0" smtClean="0"/>
              <a:t> Why is it important to know how to operate security equipment?</a:t>
            </a:r>
          </a:p>
          <a:p>
            <a:pPr>
              <a:buFont typeface="Arial" pitchFamily="34" charset="0"/>
              <a:buChar char="•"/>
            </a:pPr>
            <a:r>
              <a:rPr lang="en-US" b="0" dirty="0" smtClean="0"/>
              <a:t> How can you learn how to operate security equipment?</a:t>
            </a:r>
          </a:p>
          <a:p>
            <a:pPr>
              <a:buFont typeface="Arial" pitchFamily="34" charset="0"/>
              <a:buChar char="•"/>
            </a:pPr>
            <a:r>
              <a:rPr lang="en-US" b="0" dirty="0" smtClean="0"/>
              <a:t> What items of personal protective equipment and clothing do you know of?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PPE stating </a:t>
            </a:r>
            <a:r>
              <a:rPr lang="en-AU" sz="1200" kern="1200" dirty="0" smtClean="0">
                <a:solidFill>
                  <a:schemeClr val="tx1"/>
                </a:solidFill>
                <a:latin typeface="+mn-lt"/>
                <a:ea typeface="+mn-ea"/>
                <a:cs typeface="+mn-cs"/>
              </a:rPr>
              <a:t>PPE:</a:t>
            </a:r>
          </a:p>
          <a:p>
            <a:pPr>
              <a:buFont typeface="Arial" pitchFamily="34" charset="0"/>
              <a:buChar char="•"/>
            </a:pPr>
            <a:r>
              <a:rPr lang="en-AU" sz="1200" kern="1200" dirty="0" smtClean="0">
                <a:solidFill>
                  <a:schemeClr val="tx1"/>
                </a:solidFill>
                <a:latin typeface="+mn-lt"/>
                <a:ea typeface="+mn-ea"/>
                <a:cs typeface="+mn-cs"/>
              </a:rPr>
              <a:t> Stands for Personal Protective Equipment</a:t>
            </a:r>
          </a:p>
          <a:p>
            <a:pPr>
              <a:buFont typeface="Arial" pitchFamily="34" charset="0"/>
              <a:buChar char="•"/>
            </a:pPr>
            <a:r>
              <a:rPr lang="en-AU" sz="1200" kern="1200" dirty="0" smtClean="0">
                <a:solidFill>
                  <a:schemeClr val="tx1"/>
                </a:solidFill>
                <a:latin typeface="+mn-lt"/>
                <a:ea typeface="+mn-ea"/>
                <a:cs typeface="+mn-cs"/>
              </a:rPr>
              <a:t> Includes reference to protective clothing</a:t>
            </a:r>
          </a:p>
          <a:p>
            <a:pPr>
              <a:buFont typeface="Arial" pitchFamily="34" charset="0"/>
              <a:buChar char="•"/>
            </a:pPr>
            <a:r>
              <a:rPr lang="en-AU" sz="1200" kern="1200" dirty="0" smtClean="0">
                <a:solidFill>
                  <a:schemeClr val="tx1"/>
                </a:solidFill>
                <a:latin typeface="+mn-lt"/>
                <a:ea typeface="+mn-ea"/>
                <a:cs typeface="+mn-cs"/>
              </a:rPr>
              <a:t> Is provided by employer</a:t>
            </a:r>
          </a:p>
          <a:p>
            <a:pPr>
              <a:buFont typeface="Arial" pitchFamily="34" charset="0"/>
              <a:buChar char="•"/>
            </a:pPr>
            <a:r>
              <a:rPr lang="en-AU" sz="1200" kern="1200" dirty="0" smtClean="0">
                <a:solidFill>
                  <a:schemeClr val="tx1"/>
                </a:solidFill>
                <a:latin typeface="+mn-lt"/>
                <a:ea typeface="+mn-ea"/>
                <a:cs typeface="+mn-cs"/>
              </a:rPr>
              <a:t> May be supplemented by personal items – permission needs to be obtained from management.</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examples of PPE:</a:t>
            </a:r>
          </a:p>
          <a:p>
            <a:r>
              <a:rPr lang="en-AU" sz="1200" b="1" kern="1200" dirty="0" smtClean="0">
                <a:solidFill>
                  <a:schemeClr val="tx1"/>
                </a:solidFill>
                <a:latin typeface="+mn-lt"/>
                <a:ea typeface="+mn-ea"/>
                <a:cs typeface="+mn-cs"/>
              </a:rPr>
              <a:t>Body armour</a:t>
            </a:r>
          </a:p>
          <a:p>
            <a:r>
              <a:rPr lang="en-AU" sz="1200" b="0" kern="1200" dirty="0" smtClean="0">
                <a:solidFill>
                  <a:schemeClr val="tx1"/>
                </a:solidFill>
                <a:latin typeface="+mn-lt"/>
                <a:ea typeface="+mn-ea"/>
                <a:cs typeface="+mn-cs"/>
              </a:rPr>
              <a:t>These are items worn to protect the body against bullets and knives.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They can be covert (worn so they cannot be seen – so it does not alarm guests) or overt (meaning they are worn ‘obviously’) sending a message to potential aggressors you are aware of a threat and are prepared for it.</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Body armour is not commonly worn and most venues will not have body armour as part of their standard stock of PPE.</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Protective shields</a:t>
            </a:r>
          </a:p>
          <a:p>
            <a:r>
              <a:rPr lang="en-AU" sz="1200" b="0" kern="1200" dirty="0" smtClean="0">
                <a:solidFill>
                  <a:schemeClr val="tx1"/>
                </a:solidFill>
                <a:latin typeface="+mn-lt"/>
                <a:ea typeface="+mn-ea"/>
                <a:cs typeface="+mn-cs"/>
              </a:rPr>
              <a:t>Protective shields provide personal protection in close contact/crowd control situations and may be used as equipment to encourage/force people to ‘move away’.</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Masks</a:t>
            </a:r>
          </a:p>
          <a:p>
            <a:r>
              <a:rPr lang="en-AU" sz="1200" b="0" kern="1200" dirty="0" smtClean="0">
                <a:solidFill>
                  <a:schemeClr val="tx1"/>
                </a:solidFill>
                <a:latin typeface="+mn-lt"/>
                <a:ea typeface="+mn-ea"/>
                <a:cs typeface="+mn-cs"/>
              </a:rPr>
              <a:t>Masks are used to protect the face ands eyes against:</a:t>
            </a:r>
            <a:endParaRPr lang="en-AU" sz="1200" b="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Physical attack</a:t>
            </a:r>
          </a:p>
          <a:p>
            <a:r>
              <a:rPr lang="en-AU" sz="1200" kern="1200" dirty="0" smtClean="0">
                <a:solidFill>
                  <a:schemeClr val="tx1"/>
                </a:solidFill>
                <a:latin typeface="+mn-lt"/>
                <a:ea typeface="+mn-ea"/>
                <a:cs typeface="+mn-cs"/>
              </a:rPr>
              <a:t>Gas attack.</a:t>
            </a:r>
          </a:p>
          <a:p>
            <a:r>
              <a:rPr lang="en-AU" sz="1200" kern="1200" dirty="0" smtClean="0">
                <a:solidFill>
                  <a:schemeClr val="tx1"/>
                </a:solidFill>
                <a:latin typeface="+mn-lt"/>
                <a:ea typeface="+mn-ea"/>
                <a:cs typeface="+mn-cs"/>
              </a:rPr>
              <a:t>As with external/overt body armour, wearing a mask signals preparedness and readiness to act.</a:t>
            </a:r>
          </a:p>
          <a:p>
            <a:r>
              <a:rPr lang="en-AU" sz="1200" b="1" kern="1200" dirty="0" smtClean="0">
                <a:solidFill>
                  <a:schemeClr val="tx1"/>
                </a:solidFill>
                <a:latin typeface="+mn-lt"/>
                <a:ea typeface="+mn-ea"/>
                <a:cs typeface="+mn-cs"/>
              </a:rPr>
              <a:t>Safety boots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a standard requirement all security staff wear steel-capped boots for personal protection of the feet as well as enabling a supplementary attack option.</a:t>
            </a:r>
          </a:p>
          <a:p>
            <a:pPr>
              <a:buFont typeface="Arial" pitchFamily="34" charset="0"/>
              <a:buNone/>
            </a:pPr>
            <a:endParaRPr lang="en-AU" noProof="0" dirty="0" smtClean="0"/>
          </a:p>
          <a:p>
            <a:pPr>
              <a:buFont typeface="Arial" pitchFamily="34" charset="0"/>
              <a:buNone/>
            </a:pPr>
            <a:r>
              <a:rPr lang="en-AU" b="1" noProof="0" dirty="0" smtClean="0"/>
              <a:t>Class Activity – Presentation, Explanation,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Presents examples of PPE as listed on slide</a:t>
            </a:r>
          </a:p>
          <a:p>
            <a:pPr>
              <a:buFont typeface="Arial" pitchFamily="34" charset="0"/>
              <a:buChar char="•"/>
            </a:pPr>
            <a:r>
              <a:rPr lang="en-AU" b="0" noProof="0" dirty="0" smtClean="0"/>
              <a:t> Explains when and how items may be used</a:t>
            </a:r>
          </a:p>
          <a:p>
            <a:pPr>
              <a:buFont typeface="Arial" pitchFamily="34" charset="0"/>
              <a:buChar char="•"/>
            </a:pPr>
            <a:r>
              <a:rPr lang="en-AU" b="0" noProof="0" dirty="0" smtClean="0"/>
              <a:t> Demonstrates use</a:t>
            </a:r>
          </a:p>
          <a:p>
            <a:pPr>
              <a:buFont typeface="Arial" pitchFamily="34" charset="0"/>
              <a:buChar char="•"/>
            </a:pPr>
            <a:r>
              <a:rPr lang="en-AU" b="0" noProof="0" dirty="0" smtClean="0"/>
              <a:t> Provides opportunity for students to practice use of items.</a:t>
            </a:r>
          </a:p>
          <a:p>
            <a:pPr>
              <a:buFont typeface="Arial" pitchFamily="34" charset="0"/>
              <a:buNone/>
            </a:pPr>
            <a:r>
              <a:rPr lang="en-AU" b="0" noProof="0" dirty="0" smtClean="0"/>
              <a:t>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examples of PPE:</a:t>
            </a:r>
          </a:p>
          <a:p>
            <a:r>
              <a:rPr lang="en-AU" sz="1200" b="1" kern="1200" dirty="0" smtClean="0">
                <a:solidFill>
                  <a:schemeClr val="tx1"/>
                </a:solidFill>
                <a:latin typeface="+mn-lt"/>
                <a:ea typeface="+mn-ea"/>
                <a:cs typeface="+mn-cs"/>
              </a:rPr>
              <a:t>Head protection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Helmets are not commonplace in venue security as they tend to alarm guests. </a:t>
            </a:r>
          </a:p>
          <a:p>
            <a:r>
              <a:rPr lang="en-AU" sz="1200" kern="1200" dirty="0" smtClean="0">
                <a:solidFill>
                  <a:schemeClr val="tx1"/>
                </a:solidFill>
                <a:latin typeface="+mn-lt"/>
                <a:ea typeface="+mn-ea"/>
                <a:cs typeface="+mn-cs"/>
              </a:rPr>
              <a:t>Where planning and analysis of a situation indicates helmets are required they will usually need to be borrowed, bought or hired.</a:t>
            </a:r>
          </a:p>
          <a:p>
            <a:r>
              <a:rPr lang="en-AU" sz="1200" kern="1200" dirty="0" smtClean="0">
                <a:solidFill>
                  <a:schemeClr val="tx1"/>
                </a:solidFill>
                <a:latin typeface="+mn-lt"/>
                <a:ea typeface="+mn-ea"/>
                <a:cs typeface="+mn-cs"/>
              </a:rPr>
              <a:t>Once again, wearing a helmet conveys an image of readiness, willingness and preparedness.</a:t>
            </a:r>
          </a:p>
          <a:p>
            <a:r>
              <a:rPr lang="en-AU" sz="1200" b="1" kern="1200" dirty="0" smtClean="0">
                <a:solidFill>
                  <a:schemeClr val="tx1"/>
                </a:solidFill>
                <a:latin typeface="+mn-lt"/>
                <a:ea typeface="+mn-ea"/>
                <a:cs typeface="+mn-cs"/>
              </a:rPr>
              <a:t>Safety glasses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commonly combined into head gear or masks and are used when personal attack is expected to protect the eyes.</a:t>
            </a:r>
          </a:p>
          <a:p>
            <a:r>
              <a:rPr lang="en-AU" sz="1200" kern="1200" dirty="0" smtClean="0">
                <a:solidFill>
                  <a:schemeClr val="tx1"/>
                </a:solidFill>
                <a:latin typeface="+mn-lt"/>
                <a:ea typeface="+mn-ea"/>
                <a:cs typeface="+mn-cs"/>
              </a:rPr>
              <a:t>They will/should protect against acid attack.</a:t>
            </a:r>
          </a:p>
          <a:p>
            <a:r>
              <a:rPr lang="en-AU" sz="1200" kern="1200" dirty="0" smtClean="0">
                <a:solidFill>
                  <a:schemeClr val="tx1"/>
                </a:solidFill>
                <a:latin typeface="+mn-lt"/>
                <a:ea typeface="+mn-ea"/>
                <a:cs typeface="+mn-cs"/>
              </a:rPr>
              <a:t>Again, wearing safety glasses can be part of the intimidation provided by a fully-equipped officer in an incident response situation.</a:t>
            </a:r>
          </a:p>
          <a:p>
            <a:r>
              <a:rPr lang="en-AU" sz="1200" b="1" kern="1200" dirty="0" smtClean="0">
                <a:solidFill>
                  <a:schemeClr val="tx1"/>
                </a:solidFill>
                <a:latin typeface="+mn-lt"/>
                <a:ea typeface="+mn-ea"/>
                <a:cs typeface="+mn-cs"/>
              </a:rPr>
              <a:t>Knee pads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May be worn in crowd control situations to protect the knees in the event you are pushed to the ground.</a:t>
            </a:r>
          </a:p>
          <a:p>
            <a:r>
              <a:rPr lang="en-AU" sz="1200" kern="1200" dirty="0" smtClean="0">
                <a:solidFill>
                  <a:schemeClr val="tx1"/>
                </a:solidFill>
                <a:latin typeface="+mn-lt"/>
                <a:ea typeface="+mn-ea"/>
                <a:cs typeface="+mn-cs"/>
              </a:rPr>
              <a:t>As with steel-capped boots, they also provide an attack option.</a:t>
            </a:r>
          </a:p>
          <a:p>
            <a:r>
              <a:rPr lang="en-AU" sz="1200" b="1" kern="1200" dirty="0" smtClean="0">
                <a:solidFill>
                  <a:schemeClr val="tx1"/>
                </a:solidFill>
                <a:latin typeface="+mn-lt"/>
                <a:ea typeface="+mn-ea"/>
                <a:cs typeface="+mn-cs"/>
              </a:rPr>
              <a:t>Neck ties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Many/most uniforms for security staff do not require the wearing of neck ties.</a:t>
            </a:r>
          </a:p>
          <a:p>
            <a:r>
              <a:rPr lang="en-AU" sz="1200" kern="1200" dirty="0" smtClean="0">
                <a:solidFill>
                  <a:schemeClr val="tx1"/>
                </a:solidFill>
                <a:latin typeface="+mn-lt"/>
                <a:ea typeface="+mn-ea"/>
                <a:cs typeface="+mn-cs"/>
              </a:rPr>
              <a:t>Where they are required they should always be of the clip-on type so they pull off if someone grabs them.</a:t>
            </a:r>
          </a:p>
          <a:p>
            <a:r>
              <a:rPr lang="en-AU" sz="1200" kern="1200" dirty="0" smtClean="0">
                <a:solidFill>
                  <a:schemeClr val="tx1"/>
                </a:solidFill>
                <a:latin typeface="+mn-lt"/>
                <a:ea typeface="+mn-ea"/>
                <a:cs typeface="+mn-cs"/>
              </a:rPr>
              <a:t>This prevents an aggressor being able to pull you towards them when they grab your tie.</a:t>
            </a:r>
          </a:p>
          <a:p>
            <a:pPr>
              <a:buFont typeface="Arial" pitchFamily="34" charset="0"/>
              <a:buNone/>
            </a:pPr>
            <a:endParaRPr lang="en-AU" noProof="0" dirty="0" smtClean="0"/>
          </a:p>
          <a:p>
            <a:pPr>
              <a:buFont typeface="Arial" pitchFamily="34" charset="0"/>
              <a:buNone/>
            </a:pPr>
            <a:r>
              <a:rPr lang="en-AU" b="1" noProof="0" dirty="0" smtClean="0"/>
              <a:t>Class Activity – Presentation, Explanation,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Presents examples of PPE as listed on slide</a:t>
            </a:r>
          </a:p>
          <a:p>
            <a:pPr>
              <a:buFont typeface="Arial" pitchFamily="34" charset="0"/>
              <a:buChar char="•"/>
            </a:pPr>
            <a:r>
              <a:rPr lang="en-AU" b="0" noProof="0" dirty="0" smtClean="0"/>
              <a:t> Explains when and how items may be used</a:t>
            </a:r>
          </a:p>
          <a:p>
            <a:pPr>
              <a:buFont typeface="Arial" pitchFamily="34" charset="0"/>
              <a:buChar char="•"/>
            </a:pPr>
            <a:r>
              <a:rPr lang="en-AU" b="0" noProof="0" dirty="0" smtClean="0"/>
              <a:t> Demonstrates use</a:t>
            </a:r>
          </a:p>
          <a:p>
            <a:pPr>
              <a:buFont typeface="Arial" pitchFamily="34" charset="0"/>
              <a:buChar char="•"/>
            </a:pPr>
            <a:r>
              <a:rPr lang="en-AU" b="0" noProof="0" dirty="0" smtClean="0"/>
              <a:t> Provides opportunity for students to practice use of items.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examples of PPE:</a:t>
            </a:r>
          </a:p>
          <a:p>
            <a:r>
              <a:rPr lang="en-AU" sz="1200" b="1" kern="1200" dirty="0" smtClean="0">
                <a:solidFill>
                  <a:schemeClr val="tx1"/>
                </a:solidFill>
                <a:latin typeface="+mn-lt"/>
                <a:ea typeface="+mn-ea"/>
                <a:cs typeface="+mn-cs"/>
              </a:rPr>
              <a:t>Duty belt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Also known as utility belt this is used to carry equipment/items you require when undertaking security work/patrolling the premises.</a:t>
            </a:r>
          </a:p>
          <a:p>
            <a:r>
              <a:rPr lang="en-AU" sz="1200" kern="1200" dirty="0" smtClean="0">
                <a:solidFill>
                  <a:schemeClr val="tx1"/>
                </a:solidFill>
                <a:latin typeface="+mn-lt"/>
                <a:ea typeface="+mn-ea"/>
                <a:cs typeface="+mn-cs"/>
              </a:rPr>
              <a:t>You may be supplied with this belt by the venue or you may purchase your own.</a:t>
            </a:r>
          </a:p>
          <a:p>
            <a:r>
              <a:rPr lang="en-AU" sz="1200" kern="1200" dirty="0" smtClean="0">
                <a:solidFill>
                  <a:schemeClr val="tx1"/>
                </a:solidFill>
                <a:latin typeface="+mn-lt"/>
                <a:ea typeface="+mn-ea"/>
                <a:cs typeface="+mn-cs"/>
              </a:rPr>
              <a:t>The duty belt has </a:t>
            </a:r>
            <a:r>
              <a:rPr lang="en-AU" sz="1200" b="1" kern="1200" dirty="0" smtClean="0">
                <a:solidFill>
                  <a:schemeClr val="tx1"/>
                </a:solidFill>
                <a:latin typeface="+mn-lt"/>
                <a:ea typeface="+mn-ea"/>
                <a:cs typeface="+mn-cs"/>
              </a:rPr>
              <a:t>many</a:t>
            </a:r>
            <a:r>
              <a:rPr lang="en-AU" sz="1200" kern="1200" dirty="0" smtClean="0">
                <a:solidFill>
                  <a:schemeClr val="tx1"/>
                </a:solidFill>
                <a:latin typeface="+mn-lt"/>
                <a:ea typeface="+mn-ea"/>
                <a:cs typeface="+mn-cs"/>
              </a:rPr>
              <a:t> attachments and holsters/pouches which carry the equipment.</a:t>
            </a:r>
          </a:p>
          <a:p>
            <a:r>
              <a:rPr lang="en-AU" sz="1200" kern="1200" dirty="0" smtClean="0">
                <a:solidFill>
                  <a:schemeClr val="tx1"/>
                </a:solidFill>
                <a:latin typeface="+mn-lt"/>
                <a:ea typeface="+mn-ea"/>
                <a:cs typeface="+mn-cs"/>
              </a:rPr>
              <a:t>It is your choice as to how your belt is set up (that is, exactly where on the belt you position items).</a:t>
            </a:r>
          </a:p>
          <a:p>
            <a:r>
              <a:rPr lang="en-AU" sz="1200" kern="1200" dirty="0" smtClean="0">
                <a:solidFill>
                  <a:schemeClr val="tx1"/>
                </a:solidFill>
                <a:latin typeface="+mn-lt"/>
                <a:ea typeface="+mn-ea"/>
                <a:cs typeface="+mn-cs"/>
              </a:rPr>
              <a:t>A standard belt set-up for staff who are not armed may/should include:</a:t>
            </a:r>
          </a:p>
          <a:p>
            <a:pPr lvl="1">
              <a:buFont typeface="Arial" pitchFamily="34" charset="0"/>
              <a:buChar char="•"/>
            </a:pPr>
            <a:r>
              <a:rPr lang="en-AU" sz="1200" kern="1200" dirty="0" smtClean="0">
                <a:solidFill>
                  <a:schemeClr val="tx1"/>
                </a:solidFill>
                <a:latin typeface="+mn-lt"/>
                <a:ea typeface="+mn-ea"/>
                <a:cs typeface="+mn-cs"/>
              </a:rPr>
              <a:t> Pager holder – with pager</a:t>
            </a:r>
          </a:p>
          <a:p>
            <a:pPr lvl="1">
              <a:buFont typeface="Arial" pitchFamily="34" charset="0"/>
              <a:buChar char="•"/>
            </a:pPr>
            <a:r>
              <a:rPr lang="en-AU" sz="1200" kern="1200" dirty="0" smtClean="0">
                <a:solidFill>
                  <a:schemeClr val="tx1"/>
                </a:solidFill>
                <a:latin typeface="+mn-lt"/>
                <a:ea typeface="+mn-ea"/>
                <a:cs typeface="+mn-cs"/>
              </a:rPr>
              <a:t> Flashlight holder – with torch</a:t>
            </a:r>
          </a:p>
          <a:p>
            <a:pPr lvl="1">
              <a:buFont typeface="Arial" pitchFamily="34" charset="0"/>
              <a:buChar char="•"/>
            </a:pPr>
            <a:r>
              <a:rPr lang="en-AU" sz="1200" kern="1200" dirty="0" smtClean="0">
                <a:solidFill>
                  <a:schemeClr val="tx1"/>
                </a:solidFill>
                <a:latin typeface="+mn-lt"/>
                <a:ea typeface="+mn-ea"/>
                <a:cs typeface="+mn-cs"/>
              </a:rPr>
              <a:t> Asp/baton holder – with asp or baton</a:t>
            </a:r>
          </a:p>
          <a:p>
            <a:pPr lvl="1">
              <a:buFont typeface="Arial" pitchFamily="34" charset="0"/>
              <a:buChar char="•"/>
            </a:pPr>
            <a:r>
              <a:rPr lang="en-AU" sz="1200" kern="1200" dirty="0" smtClean="0">
                <a:solidFill>
                  <a:schemeClr val="tx1"/>
                </a:solidFill>
                <a:latin typeface="+mn-lt"/>
                <a:ea typeface="+mn-ea"/>
                <a:cs typeface="+mn-cs"/>
              </a:rPr>
              <a:t> Handcuff pouch – with handcuffs</a:t>
            </a:r>
          </a:p>
          <a:p>
            <a:pPr lvl="1">
              <a:buFont typeface="Arial" pitchFamily="34" charset="0"/>
              <a:buChar char="•"/>
            </a:pPr>
            <a:r>
              <a:rPr lang="en-AU" sz="1200" kern="1200" dirty="0" smtClean="0">
                <a:solidFill>
                  <a:schemeClr val="tx1"/>
                </a:solidFill>
                <a:latin typeface="+mn-lt"/>
                <a:ea typeface="+mn-ea"/>
                <a:cs typeface="+mn-cs"/>
              </a:rPr>
              <a:t> Comms holster – for radio</a:t>
            </a:r>
          </a:p>
          <a:p>
            <a:pPr lvl="1">
              <a:buFont typeface="Arial" pitchFamily="34" charset="0"/>
              <a:buChar char="•"/>
            </a:pPr>
            <a:r>
              <a:rPr lang="en-AU" sz="1200" kern="1200" dirty="0" smtClean="0">
                <a:solidFill>
                  <a:schemeClr val="tx1"/>
                </a:solidFill>
                <a:latin typeface="+mn-lt"/>
                <a:ea typeface="+mn-ea"/>
                <a:cs typeface="+mn-cs"/>
              </a:rPr>
              <a:t> Medical pouch – containing disposable gloves and CPR mask</a:t>
            </a:r>
          </a:p>
          <a:p>
            <a:pPr lvl="1">
              <a:buFont typeface="Arial" pitchFamily="34" charset="0"/>
              <a:buChar char="•"/>
            </a:pPr>
            <a:r>
              <a:rPr lang="en-AU" sz="1200" kern="1200" dirty="0" smtClean="0">
                <a:solidFill>
                  <a:schemeClr val="tx1"/>
                </a:solidFill>
                <a:latin typeface="+mn-lt"/>
                <a:ea typeface="+mn-ea"/>
                <a:cs typeface="+mn-cs"/>
              </a:rPr>
              <a:t> OC spray carrier – with spray</a:t>
            </a:r>
          </a:p>
          <a:p>
            <a:pPr lvl="1">
              <a:buFont typeface="Arial" pitchFamily="34" charset="0"/>
              <a:buChar char="•"/>
            </a:pPr>
            <a:r>
              <a:rPr lang="en-AU" sz="1200" kern="1200" dirty="0" smtClean="0">
                <a:solidFill>
                  <a:schemeClr val="tx1"/>
                </a:solidFill>
                <a:latin typeface="+mn-lt"/>
                <a:ea typeface="+mn-ea"/>
                <a:cs typeface="+mn-cs"/>
              </a:rPr>
              <a:t> Key holder – with handcuff keys and other keys as required</a:t>
            </a:r>
          </a:p>
          <a:p>
            <a:pPr lvl="1">
              <a:buFont typeface="Arial" pitchFamily="34" charset="0"/>
              <a:buChar char="•"/>
            </a:pPr>
            <a:r>
              <a:rPr lang="en-AU" sz="1200" kern="1200" dirty="0" smtClean="0">
                <a:solidFill>
                  <a:schemeClr val="tx1"/>
                </a:solidFill>
                <a:latin typeface="+mn-lt"/>
                <a:ea typeface="+mn-ea"/>
                <a:cs typeface="+mn-cs"/>
              </a:rPr>
              <a:t> Camera case/pouch – with camera</a:t>
            </a:r>
          </a:p>
          <a:p>
            <a:pPr lvl="1">
              <a:buFont typeface="Arial" pitchFamily="34" charset="0"/>
              <a:buChar char="•"/>
            </a:pPr>
            <a:r>
              <a:rPr lang="en-AU" sz="1200" kern="1200" dirty="0" smtClean="0">
                <a:solidFill>
                  <a:schemeClr val="tx1"/>
                </a:solidFill>
                <a:latin typeface="+mn-lt"/>
                <a:ea typeface="+mn-ea"/>
                <a:cs typeface="+mn-cs"/>
              </a:rPr>
              <a:t> Knife holder – with knife</a:t>
            </a:r>
          </a:p>
          <a:p>
            <a:r>
              <a:rPr lang="en-AU" sz="1200" kern="1200" dirty="0" smtClean="0">
                <a:solidFill>
                  <a:schemeClr val="tx1"/>
                </a:solidFill>
                <a:latin typeface="+mn-lt"/>
                <a:ea typeface="+mn-ea"/>
                <a:cs typeface="+mn-cs"/>
              </a:rPr>
              <a:t>A duty belt for an armed officer will add a pistol and holster plus one (or two) magazine pouch to house an extra clip of ammunition.</a:t>
            </a:r>
          </a:p>
          <a:p>
            <a:r>
              <a:rPr lang="en-AU" sz="1200" kern="1200" dirty="0" smtClean="0">
                <a:solidFill>
                  <a:schemeClr val="tx1"/>
                </a:solidFill>
                <a:latin typeface="+mn-lt"/>
                <a:ea typeface="+mn-ea"/>
                <a:cs typeface="+mn-cs"/>
              </a:rPr>
              <a:t>The duty belt is attached to your normal belt by a number (six to eight) belt-keepers. The duty belt does not replace the belt you use in your trousers.</a:t>
            </a:r>
          </a:p>
          <a:p>
            <a:pPr>
              <a:buFont typeface="Arial" pitchFamily="34" charset="0"/>
              <a:buNone/>
            </a:pPr>
            <a:endParaRPr lang="en-AU" noProof="0" dirty="0" smtClean="0"/>
          </a:p>
          <a:p>
            <a:pPr>
              <a:buFont typeface="Arial" pitchFamily="34" charset="0"/>
              <a:buNone/>
            </a:pPr>
            <a:r>
              <a:rPr lang="en-AU" b="1" noProof="0" dirty="0" smtClean="0"/>
              <a:t>Class Activity – Presentation, Explanation,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Presents examples of PPE as listed on slide</a:t>
            </a:r>
          </a:p>
          <a:p>
            <a:pPr>
              <a:buFont typeface="Arial" pitchFamily="34" charset="0"/>
              <a:buChar char="•"/>
            </a:pPr>
            <a:r>
              <a:rPr lang="en-AU" b="0" noProof="0" dirty="0" smtClean="0"/>
              <a:t> Explains when and how items may be used</a:t>
            </a:r>
          </a:p>
          <a:p>
            <a:pPr>
              <a:buFont typeface="Arial" pitchFamily="34" charset="0"/>
              <a:buChar char="•"/>
            </a:pPr>
            <a:r>
              <a:rPr lang="en-AU" b="0" noProof="0" dirty="0" smtClean="0"/>
              <a:t> Demonstrates use</a:t>
            </a:r>
          </a:p>
          <a:p>
            <a:pPr>
              <a:buFont typeface="Arial" pitchFamily="34" charset="0"/>
              <a:buChar char="•"/>
            </a:pPr>
            <a:r>
              <a:rPr lang="en-AU" b="0" noProof="0" dirty="0" smtClean="0"/>
              <a:t> Provides opportunity for students to practice use of items.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b="0" kern="1200" dirty="0" smtClean="0">
                <a:solidFill>
                  <a:schemeClr val="tx1"/>
                </a:solidFill>
                <a:latin typeface="+mn-lt"/>
                <a:ea typeface="+mn-ea"/>
                <a:cs typeface="+mn-cs"/>
              </a:rPr>
              <a:t>generic requirements for maintaining PPE are: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Inspect after reach use</a:t>
            </a:r>
          </a:p>
          <a:p>
            <a:pPr>
              <a:buFont typeface="Arial" pitchFamily="34" charset="0"/>
              <a:buChar char="•"/>
            </a:pPr>
            <a:r>
              <a:rPr lang="en-AU" sz="1200" kern="1200" dirty="0" smtClean="0">
                <a:solidFill>
                  <a:schemeClr val="tx1"/>
                </a:solidFill>
                <a:latin typeface="+mn-lt"/>
                <a:ea typeface="+mn-ea"/>
                <a:cs typeface="+mn-cs"/>
              </a:rPr>
              <a:t> Clean after each use</a:t>
            </a:r>
          </a:p>
          <a:p>
            <a:pPr>
              <a:buFont typeface="Arial" pitchFamily="34" charset="0"/>
              <a:buChar char="•"/>
            </a:pPr>
            <a:r>
              <a:rPr lang="en-AU" sz="1200" kern="1200" dirty="0" smtClean="0">
                <a:solidFill>
                  <a:schemeClr val="tx1"/>
                </a:solidFill>
                <a:latin typeface="+mn-lt"/>
                <a:ea typeface="+mn-ea"/>
                <a:cs typeface="+mn-cs"/>
              </a:rPr>
              <a:t> Replace or repair when damaged – the preference is for replacement</a:t>
            </a:r>
          </a:p>
          <a:p>
            <a:pPr>
              <a:buFont typeface="Arial" pitchFamily="34" charset="0"/>
              <a:buChar char="•"/>
            </a:pPr>
            <a:r>
              <a:rPr lang="en-AU" sz="1200" kern="1200" dirty="0" smtClean="0">
                <a:solidFill>
                  <a:schemeClr val="tx1"/>
                </a:solidFill>
                <a:latin typeface="+mn-lt"/>
                <a:ea typeface="+mn-ea"/>
                <a:cs typeface="+mn-cs"/>
              </a:rPr>
              <a:t> Follow manufacturer’s instructions</a:t>
            </a:r>
          </a:p>
          <a:p>
            <a:pPr>
              <a:buFont typeface="Arial" pitchFamily="34" charset="0"/>
              <a:buChar char="•"/>
            </a:pPr>
            <a:r>
              <a:rPr lang="en-AU" sz="1200" kern="1200" dirty="0" smtClean="0">
                <a:solidFill>
                  <a:schemeClr val="tx1"/>
                </a:solidFill>
                <a:latin typeface="+mn-lt"/>
                <a:ea typeface="+mn-ea"/>
                <a:cs typeface="+mn-cs"/>
              </a:rPr>
              <a:t> For battery-powered items:</a:t>
            </a:r>
          </a:p>
          <a:p>
            <a:pPr lvl="1">
              <a:buFont typeface="Arial" pitchFamily="34" charset="0"/>
              <a:buChar char="•"/>
            </a:pPr>
            <a:r>
              <a:rPr lang="en-US" sz="1200" kern="1200" dirty="0" smtClean="0">
                <a:solidFill>
                  <a:schemeClr val="tx1"/>
                </a:solidFill>
                <a:latin typeface="+mn-lt"/>
                <a:ea typeface="+mn-ea"/>
                <a:cs typeface="+mn-cs"/>
              </a:rPr>
              <a:t> Re-charge as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Fit with new batteries as required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Return items to designated storage locations after maintenance/cleaning – so they are available for others to use.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all </a:t>
            </a:r>
            <a:r>
              <a:rPr lang="en-AU" sz="1200" kern="1200" dirty="0" smtClean="0">
                <a:solidFill>
                  <a:schemeClr val="tx1"/>
                </a:solidFill>
                <a:latin typeface="+mn-lt"/>
                <a:ea typeface="+mn-ea"/>
                <a:cs typeface="+mn-cs"/>
              </a:rPr>
              <a:t>security staff:</a:t>
            </a:r>
          </a:p>
          <a:p>
            <a:pPr>
              <a:buFont typeface="Arial" pitchFamily="34" charset="0"/>
              <a:buChar char="•"/>
            </a:pPr>
            <a:r>
              <a:rPr lang="en-AU" sz="1200" kern="1200" dirty="0" smtClean="0">
                <a:solidFill>
                  <a:schemeClr val="tx1"/>
                </a:solidFill>
                <a:latin typeface="+mn-lt"/>
                <a:ea typeface="+mn-ea"/>
                <a:cs typeface="+mn-cs"/>
              </a:rPr>
              <a:t> Must comply with all relevant legislated and internal requirements stressing It is vital security staff understand the legal limitations relating to what they are entitled to do when working as security staff.</a:t>
            </a:r>
          </a:p>
          <a:p>
            <a:pPr>
              <a:buFont typeface="Arial" pitchFamily="34" charset="0"/>
              <a:buChar char="•"/>
            </a:pPr>
            <a:r>
              <a:rPr lang="en-AU" sz="1200" kern="1200" dirty="0" smtClean="0">
                <a:solidFill>
                  <a:schemeClr val="tx1"/>
                </a:solidFill>
                <a:latin typeface="+mn-lt"/>
                <a:ea typeface="+mn-ea"/>
                <a:cs typeface="+mn-cs"/>
              </a:rPr>
              <a:t> In the main, </a:t>
            </a:r>
            <a:r>
              <a:rPr lang="en-AU" sz="1200" b="1" kern="1200" dirty="0" smtClean="0">
                <a:solidFill>
                  <a:schemeClr val="tx1"/>
                </a:solidFill>
                <a:latin typeface="+mn-lt"/>
                <a:ea typeface="+mn-ea"/>
                <a:cs typeface="+mn-cs"/>
              </a:rPr>
              <a:t>security staff can do little more than other staff or members of the public</a:t>
            </a:r>
            <a:r>
              <a:rPr lang="en-AU" sz="1200" kern="1200" dirty="0" smtClean="0">
                <a:solidFill>
                  <a:schemeClr val="tx1"/>
                </a:solidFill>
                <a:latin typeface="+mn-lt"/>
                <a:ea typeface="+mn-ea"/>
                <a:cs typeface="+mn-cs"/>
              </a:rPr>
              <a:t> when it comes to responding to incidents and when taking action in response to unacceptable behaviour by people.</a:t>
            </a:r>
          </a:p>
          <a:p>
            <a:pPr>
              <a:buFont typeface="Arial" pitchFamily="34" charset="0"/>
              <a:buChar char="•"/>
            </a:pPr>
            <a:r>
              <a:rPr lang="en-AU" sz="1200" kern="1200" dirty="0" smtClean="0">
                <a:solidFill>
                  <a:schemeClr val="tx1"/>
                </a:solidFill>
                <a:latin typeface="+mn-lt"/>
                <a:ea typeface="+mn-ea"/>
                <a:cs typeface="+mn-cs"/>
              </a:rPr>
              <a:t> Do not have ‘a right’ to:</a:t>
            </a:r>
          </a:p>
          <a:p>
            <a:pPr lvl="1">
              <a:buFont typeface="Arial" pitchFamily="34" charset="0"/>
              <a:buChar char="•"/>
            </a:pPr>
            <a:r>
              <a:rPr lang="en-AU" sz="1200" kern="1200" dirty="0" smtClean="0">
                <a:solidFill>
                  <a:schemeClr val="tx1"/>
                </a:solidFill>
                <a:latin typeface="+mn-lt"/>
                <a:ea typeface="+mn-ea"/>
                <a:cs typeface="+mn-cs"/>
              </a:rPr>
              <a:t> Bully</a:t>
            </a:r>
          </a:p>
          <a:p>
            <a:pPr lvl="1">
              <a:buFont typeface="Arial" pitchFamily="34" charset="0"/>
              <a:buChar char="•"/>
            </a:pPr>
            <a:r>
              <a:rPr lang="en-AU" sz="1200" kern="1200" dirty="0" smtClean="0">
                <a:solidFill>
                  <a:schemeClr val="tx1"/>
                </a:solidFill>
                <a:latin typeface="+mn-lt"/>
                <a:ea typeface="+mn-ea"/>
                <a:cs typeface="+mn-cs"/>
              </a:rPr>
              <a:t> Harass</a:t>
            </a:r>
          </a:p>
          <a:p>
            <a:pPr lvl="1">
              <a:buFont typeface="Arial" pitchFamily="34" charset="0"/>
              <a:buChar char="•"/>
            </a:pPr>
            <a:r>
              <a:rPr lang="en-AU" sz="1200" kern="1200" dirty="0" smtClean="0">
                <a:solidFill>
                  <a:schemeClr val="tx1"/>
                </a:solidFill>
                <a:latin typeface="+mn-lt"/>
                <a:ea typeface="+mn-ea"/>
                <a:cs typeface="+mn-cs"/>
              </a:rPr>
              <a:t> Intimidate</a:t>
            </a:r>
          </a:p>
          <a:p>
            <a:pPr lvl="1">
              <a:buFont typeface="Arial" pitchFamily="34" charset="0"/>
              <a:buChar char="•"/>
            </a:pPr>
            <a:r>
              <a:rPr lang="en-AU" sz="1200" kern="1200" dirty="0" smtClean="0">
                <a:solidFill>
                  <a:schemeClr val="tx1"/>
                </a:solidFill>
                <a:latin typeface="+mn-lt"/>
                <a:ea typeface="+mn-ea"/>
                <a:cs typeface="+mn-cs"/>
              </a:rPr>
              <a:t> Assault.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the four main roles of Security staff are to:</a:t>
            </a:r>
          </a:p>
          <a:p>
            <a:pPr>
              <a:buFont typeface="Arial" pitchFamily="34" charset="0"/>
              <a:buChar char="•"/>
            </a:pPr>
            <a:r>
              <a:rPr lang="en-AU" sz="1200" kern="1200" dirty="0" smtClean="0">
                <a:solidFill>
                  <a:schemeClr val="tx1"/>
                </a:solidFill>
                <a:latin typeface="+mn-lt"/>
                <a:ea typeface="+mn-ea"/>
                <a:cs typeface="+mn-cs"/>
              </a:rPr>
              <a:t> Deter:</a:t>
            </a:r>
          </a:p>
          <a:p>
            <a:pPr lvl="1">
              <a:buFont typeface="Arial" pitchFamily="34" charset="0"/>
              <a:buChar char="•"/>
            </a:pPr>
            <a:r>
              <a:rPr lang="en-US" sz="1200" kern="1200" dirty="0" smtClean="0">
                <a:solidFill>
                  <a:schemeClr val="tx1"/>
                </a:solidFill>
                <a:latin typeface="+mn-lt"/>
                <a:ea typeface="+mn-ea"/>
                <a:cs typeface="+mn-cs"/>
              </a:rPr>
              <a:t> Customers/guests from behaving in an unacceptable manner – by their physical presence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Theft from the venue – through their loss prevention activities (observing activities and people (staff and patrons), monitoring alarms and anti-theft devices (including EAS devices), patrolling areas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Detect:</a:t>
            </a:r>
          </a:p>
          <a:p>
            <a:pPr lvl="1">
              <a:buFont typeface="Arial" pitchFamily="34" charset="0"/>
              <a:buChar char="•"/>
            </a:pPr>
            <a:r>
              <a:rPr lang="en-US" sz="1200" kern="1200" dirty="0" smtClean="0">
                <a:solidFill>
                  <a:schemeClr val="tx1"/>
                </a:solidFill>
                <a:latin typeface="+mn-lt"/>
                <a:ea typeface="+mn-ea"/>
                <a:cs typeface="+mn-cs"/>
              </a:rPr>
              <a:t> Offences which have been committed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Unauthorized access to, and use of, facilities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presence of people on the premises whose presence renders the venue liable to an offence – such as identifying intoxicated persons or under-age people on the premises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Defend:</a:t>
            </a:r>
          </a:p>
          <a:p>
            <a:pPr lvl="1">
              <a:buFont typeface="Arial" pitchFamily="34" charset="0"/>
              <a:buChar char="•"/>
            </a:pPr>
            <a:r>
              <a:rPr lang="en-US" sz="1200" kern="1200" dirty="0" smtClean="0">
                <a:solidFill>
                  <a:schemeClr val="tx1"/>
                </a:solidFill>
                <a:latin typeface="+mn-lt"/>
                <a:ea typeface="+mn-ea"/>
                <a:cs typeface="+mn-cs"/>
              </a:rPr>
              <a:t> People from unwanted and/or potentially dangerous/harmful or offensive actions or behavior of others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property against damage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Detain:</a:t>
            </a:r>
          </a:p>
          <a:p>
            <a:pPr lvl="1">
              <a:buFont typeface="Arial" pitchFamily="34" charset="0"/>
              <a:buChar char="•"/>
            </a:pPr>
            <a:r>
              <a:rPr lang="en-US" sz="1200" kern="1200" dirty="0" smtClean="0">
                <a:solidFill>
                  <a:schemeClr val="tx1"/>
                </a:solidFill>
                <a:latin typeface="+mn-lt"/>
                <a:ea typeface="+mn-ea"/>
                <a:cs typeface="+mn-cs"/>
              </a:rPr>
              <a:t> People who have broken the law – see ‘Making an arrest’ (below).</a:t>
            </a:r>
            <a:endParaRPr lang="en-AU" sz="1200" kern="1200" dirty="0" smtClean="0">
              <a:solidFill>
                <a:schemeClr val="tx1"/>
              </a:solidFill>
              <a:latin typeface="+mn-lt"/>
              <a:ea typeface="+mn-ea"/>
              <a:cs typeface="+mn-cs"/>
            </a:endParaRP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b="0" kern="1200" dirty="0" smtClean="0">
                <a:solidFill>
                  <a:schemeClr val="tx1"/>
                </a:solidFill>
                <a:latin typeface="+mn-lt"/>
                <a:ea typeface="+mn-ea"/>
                <a:cs typeface="+mn-cs"/>
              </a:rPr>
              <a:t>advises in order to work as a security person the following requirements generally apply but students need to check what applies in their country and in the specific venue where they are employed.</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They </a:t>
            </a:r>
            <a:r>
              <a:rPr lang="en-AU" sz="1200" b="1" kern="1200" dirty="0" smtClean="0">
                <a:solidFill>
                  <a:schemeClr val="tx1"/>
                </a:solidFill>
                <a:latin typeface="+mn-lt"/>
                <a:ea typeface="+mn-ea"/>
                <a:cs typeface="+mn-cs"/>
              </a:rPr>
              <a:t>may</a:t>
            </a:r>
            <a:r>
              <a:rPr lang="en-AU" sz="1200" b="0" kern="1200" dirty="0" smtClean="0">
                <a:solidFill>
                  <a:schemeClr val="tx1"/>
                </a:solidFill>
                <a:latin typeface="+mn-lt"/>
                <a:ea typeface="+mn-ea"/>
                <a:cs typeface="+mn-cs"/>
              </a:rPr>
              <a:t> need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Undertake and successfully complete nominated security training/courses – in some countries/regions/locations there can also be a need to undertake refresher training every two to three years to maintain currency of accreditation/certification</a:t>
            </a:r>
          </a:p>
          <a:p>
            <a:pPr>
              <a:buFont typeface="Arial" pitchFamily="34" charset="0"/>
              <a:buChar char="•"/>
            </a:pPr>
            <a:r>
              <a:rPr lang="en-AU" sz="1200" kern="1200" dirty="0" smtClean="0">
                <a:solidFill>
                  <a:schemeClr val="tx1"/>
                </a:solidFill>
                <a:latin typeface="+mn-lt"/>
                <a:ea typeface="+mn-ea"/>
                <a:cs typeface="+mn-cs"/>
              </a:rPr>
              <a:t> Provide your employer with proof of:</a:t>
            </a:r>
          </a:p>
          <a:p>
            <a:pPr lvl="1">
              <a:buFont typeface="Arial" pitchFamily="34" charset="0"/>
              <a:buChar char="•"/>
            </a:pPr>
            <a:r>
              <a:rPr lang="en-US" sz="1200" kern="1200" dirty="0" smtClean="0">
                <a:solidFill>
                  <a:schemeClr val="tx1"/>
                </a:solidFill>
                <a:latin typeface="+mn-lt"/>
                <a:ea typeface="+mn-ea"/>
                <a:cs typeface="+mn-cs"/>
              </a:rPr>
              <a:t> Training which has been completed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Currency of certification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Wear nominated identification so members of the public can:</a:t>
            </a:r>
          </a:p>
          <a:p>
            <a:pPr lvl="1">
              <a:buFont typeface="Arial" pitchFamily="34" charset="0"/>
              <a:buChar char="•"/>
            </a:pPr>
            <a:r>
              <a:rPr lang="en-US" sz="1200" kern="1200" dirty="0" smtClean="0">
                <a:solidFill>
                  <a:schemeClr val="tx1"/>
                </a:solidFill>
                <a:latin typeface="+mn-lt"/>
                <a:ea typeface="+mn-ea"/>
                <a:cs typeface="+mn-cs"/>
              </a:rPr>
              <a:t> Identify you as a member of security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Identify you as a specific individual by name or number</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Adhere to the requirements of national or local guidelines developed to govern the actions of security staff in order:</a:t>
            </a:r>
          </a:p>
          <a:p>
            <a:pPr lvl="1">
              <a:buFont typeface="Arial" pitchFamily="34" charset="0"/>
              <a:buChar char="•"/>
            </a:pPr>
            <a:r>
              <a:rPr lang="en-US" sz="1200" kern="1200" dirty="0" smtClean="0">
                <a:solidFill>
                  <a:schemeClr val="tx1"/>
                </a:solidFill>
                <a:latin typeface="+mn-lt"/>
                <a:ea typeface="+mn-ea"/>
                <a:cs typeface="+mn-cs"/>
              </a:rPr>
              <a:t> Members of the public can have faith and confidence in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Their actions are controlled so they remain legal and ethical</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in </a:t>
            </a:r>
            <a:r>
              <a:rPr lang="en-AU" sz="1200" b="0" kern="1200" dirty="0" smtClean="0">
                <a:solidFill>
                  <a:schemeClr val="tx1"/>
                </a:solidFill>
                <a:latin typeface="+mn-lt"/>
                <a:ea typeface="+mn-ea"/>
                <a:cs typeface="+mn-cs"/>
              </a:rPr>
              <a:t>addition students </a:t>
            </a:r>
            <a:r>
              <a:rPr lang="en-AU" sz="1200" b="1" kern="1200" dirty="0" smtClean="0">
                <a:solidFill>
                  <a:schemeClr val="tx1"/>
                </a:solidFill>
                <a:latin typeface="+mn-lt"/>
                <a:ea typeface="+mn-ea"/>
                <a:cs typeface="+mn-cs"/>
              </a:rPr>
              <a:t>will</a:t>
            </a:r>
            <a:r>
              <a:rPr lang="en-AU" sz="1200" b="0" kern="1200" dirty="0" smtClean="0">
                <a:solidFill>
                  <a:schemeClr val="tx1"/>
                </a:solidFill>
                <a:latin typeface="+mn-lt"/>
                <a:ea typeface="+mn-ea"/>
                <a:cs typeface="+mn-cs"/>
              </a:rPr>
              <a:t> need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Complete necessary official training if you wish to carry a firearm</a:t>
            </a:r>
          </a:p>
          <a:p>
            <a:pPr>
              <a:buFont typeface="Arial" pitchFamily="34" charset="0"/>
              <a:buChar char="•"/>
            </a:pPr>
            <a:r>
              <a:rPr lang="en-AU" sz="1200" kern="1200" dirty="0" smtClean="0">
                <a:solidFill>
                  <a:schemeClr val="tx1"/>
                </a:solidFill>
                <a:latin typeface="+mn-lt"/>
                <a:ea typeface="+mn-ea"/>
                <a:cs typeface="+mn-cs"/>
              </a:rPr>
              <a:t> Complete any internal, on-the-job training required to familiarize you with venue requirements, SOPs, systems, venue layout and the unique factors relating to individual properties or tasks</a:t>
            </a:r>
          </a:p>
          <a:p>
            <a:pPr>
              <a:buFont typeface="Arial" pitchFamily="34" charset="0"/>
              <a:buChar char="•"/>
            </a:pPr>
            <a:r>
              <a:rPr lang="en-AU" sz="1200" kern="1200" dirty="0" smtClean="0">
                <a:solidFill>
                  <a:schemeClr val="tx1"/>
                </a:solidFill>
                <a:latin typeface="+mn-lt"/>
                <a:ea typeface="+mn-ea"/>
                <a:cs typeface="+mn-cs"/>
              </a:rPr>
              <a:t> Adhere to the standards and protocols of your employer when undertaking security work</a:t>
            </a:r>
          </a:p>
          <a:p>
            <a:pPr>
              <a:buFont typeface="Arial" pitchFamily="34" charset="0"/>
              <a:buChar char="•"/>
            </a:pPr>
            <a:r>
              <a:rPr lang="en-AU" sz="1200" kern="1200" dirty="0" smtClean="0">
                <a:solidFill>
                  <a:schemeClr val="tx1"/>
                </a:solidFill>
                <a:latin typeface="+mn-lt"/>
                <a:ea typeface="+mn-ea"/>
                <a:cs typeface="+mn-cs"/>
              </a:rPr>
              <a:t> Meet all relevant QA standards as they apply to the security work being performed</a:t>
            </a:r>
          </a:p>
          <a:p>
            <a:pPr>
              <a:buFont typeface="Arial" pitchFamily="34" charset="0"/>
              <a:buChar char="•"/>
            </a:pPr>
            <a:r>
              <a:rPr lang="en-AU" sz="1200" kern="1200" dirty="0" smtClean="0">
                <a:solidFill>
                  <a:schemeClr val="tx1"/>
                </a:solidFill>
                <a:latin typeface="+mn-lt"/>
                <a:ea typeface="+mn-ea"/>
                <a:cs typeface="+mn-cs"/>
              </a:rPr>
              <a:t> Comply with the laws of the country as they apply to security work and the limitations and restrictions imposed on anyone undertaking security work</a:t>
            </a:r>
          </a:p>
          <a:p>
            <a:pPr>
              <a:buFont typeface="Arial" pitchFamily="34" charset="0"/>
              <a:buChar char="•"/>
            </a:pPr>
            <a:r>
              <a:rPr lang="en-AU" sz="1200" kern="1200" dirty="0" smtClean="0">
                <a:solidFill>
                  <a:schemeClr val="tx1"/>
                </a:solidFill>
                <a:latin typeface="+mn-lt"/>
                <a:ea typeface="+mn-ea"/>
                <a:cs typeface="+mn-cs"/>
              </a:rPr>
              <a:t> Be responsible for your actions – every action you take (or elect not to take) is always subject to scrutiny and analysis: always remember you are on show to the public and someone (or something) is </a:t>
            </a:r>
            <a:r>
              <a:rPr lang="en-AU" sz="1200" i="1" kern="1200" dirty="0" smtClean="0">
                <a:solidFill>
                  <a:schemeClr val="tx1"/>
                </a:solidFill>
                <a:latin typeface="+mn-lt"/>
                <a:ea typeface="+mn-ea"/>
                <a:cs typeface="+mn-cs"/>
              </a:rPr>
              <a:t>always</a:t>
            </a:r>
            <a:r>
              <a:rPr lang="en-AU" sz="1200" kern="1200" dirty="0" smtClean="0">
                <a:solidFill>
                  <a:schemeClr val="tx1"/>
                </a:solidFill>
                <a:latin typeface="+mn-lt"/>
                <a:ea typeface="+mn-ea"/>
                <a:cs typeface="+mn-cs"/>
              </a:rPr>
              <a:t> watching you.</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urges students </a:t>
            </a:r>
            <a:r>
              <a:rPr lang="en-AU" sz="1200" b="0" kern="1200" dirty="0" smtClean="0">
                <a:solidFill>
                  <a:schemeClr val="tx1"/>
                </a:solidFill>
                <a:latin typeface="+mn-lt"/>
                <a:ea typeface="+mn-ea"/>
                <a:cs typeface="+mn-cs"/>
              </a:rPr>
              <a:t>to understand </a:t>
            </a:r>
            <a:r>
              <a:rPr lang="en-AU" sz="1200" b="1" kern="1200" dirty="0" smtClean="0">
                <a:solidFill>
                  <a:schemeClr val="tx1"/>
                </a:solidFill>
                <a:latin typeface="+mn-lt"/>
                <a:ea typeface="+mn-ea"/>
                <a:cs typeface="+mn-cs"/>
              </a:rPr>
              <a:t>performing security work in a venue does not make them a police officer</a:t>
            </a:r>
            <a:r>
              <a:rPr lang="en-AU" sz="1200" b="0" kern="1200" dirty="0" smtClean="0">
                <a:solidFill>
                  <a:schemeClr val="tx1"/>
                </a:solidFill>
                <a:latin typeface="+mn-lt"/>
                <a:ea typeface="+mn-ea"/>
                <a:cs typeface="+mn-cs"/>
              </a:rPr>
              <a:t> making the following points: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do not have the same rights as a police officer.</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do not have the same right to stop people or to </a:t>
            </a:r>
            <a:r>
              <a:rPr lang="en-AU" sz="1200" b="0" i="1" kern="1200" dirty="0" smtClean="0">
                <a:solidFill>
                  <a:schemeClr val="tx1"/>
                </a:solidFill>
                <a:latin typeface="+mn-lt"/>
                <a:ea typeface="+mn-ea"/>
                <a:cs typeface="+mn-cs"/>
              </a:rPr>
              <a:t>demand</a:t>
            </a:r>
            <a:r>
              <a:rPr lang="en-AU" sz="1200" b="0" kern="1200" dirty="0" smtClean="0">
                <a:solidFill>
                  <a:schemeClr val="tx1"/>
                </a:solidFill>
                <a:latin typeface="+mn-lt"/>
                <a:ea typeface="+mn-ea"/>
                <a:cs typeface="+mn-cs"/>
              </a:rPr>
              <a:t> their name. They may, of course, request it/ask for it but people do not have to comply.</a:t>
            </a:r>
            <a:endParaRPr lang="en-AU" sz="1200" b="1" kern="1200" dirty="0" smtClean="0">
              <a:solidFill>
                <a:schemeClr val="tx1"/>
              </a:solidFill>
              <a:latin typeface="+mn-lt"/>
              <a:ea typeface="+mn-ea"/>
              <a:cs typeface="+mn-cs"/>
            </a:endParaRPr>
          </a:p>
          <a:p>
            <a:pPr lvl="1">
              <a:buFont typeface="Arial" pitchFamily="34" charset="0"/>
              <a:buChar char="•"/>
            </a:pPr>
            <a:r>
              <a:rPr lang="en-AU" sz="1200" b="0" kern="1200" dirty="0" smtClean="0">
                <a:solidFill>
                  <a:schemeClr val="tx1"/>
                </a:solidFill>
                <a:latin typeface="+mn-lt"/>
                <a:ea typeface="+mn-ea"/>
                <a:cs typeface="+mn-cs"/>
              </a:rPr>
              <a:t> As already stated your rights as a security officer are, in reality, no more than the rights of the ordinary citizen.</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‘Power’/’authority’ often comes from:</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The fact you are in uniform – and most people respect the uniform</a:t>
            </a:r>
          </a:p>
          <a:p>
            <a:pPr lvl="1">
              <a:buFont typeface="Arial" pitchFamily="34" charset="0"/>
              <a:buChar char="•"/>
            </a:pPr>
            <a:r>
              <a:rPr lang="en-AU" sz="1200" kern="1200" dirty="0" smtClean="0">
                <a:solidFill>
                  <a:schemeClr val="tx1"/>
                </a:solidFill>
                <a:latin typeface="+mn-lt"/>
                <a:ea typeface="+mn-ea"/>
                <a:cs typeface="+mn-cs"/>
              </a:rPr>
              <a:t> Your demeanour/attitude and appearance – and sometimes your size.</a:t>
            </a:r>
          </a:p>
          <a:p>
            <a:pPr>
              <a:buFont typeface="Arial" pitchFamily="34" charset="0"/>
              <a:buChar char="•"/>
            </a:pPr>
            <a:r>
              <a:rPr lang="en-AU" sz="1200" b="0" kern="1200" dirty="0" smtClean="0">
                <a:solidFill>
                  <a:schemeClr val="tx1"/>
                </a:solidFill>
                <a:latin typeface="+mn-lt"/>
                <a:ea typeface="+mn-ea"/>
                <a:cs typeface="+mn-cs"/>
              </a:rPr>
              <a:t> The reality of many security jobs is if a problem occurs your job is to:</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Contain the situation to the best of your ability – by, for example:</a:t>
            </a:r>
          </a:p>
          <a:p>
            <a:pPr lvl="2">
              <a:buFont typeface="Arial" pitchFamily="34" charset="0"/>
              <a:buChar char="•"/>
            </a:pPr>
            <a:r>
              <a:rPr lang="en-US" sz="1200" kern="1200" dirty="0" smtClean="0">
                <a:solidFill>
                  <a:schemeClr val="tx1"/>
                </a:solidFill>
                <a:latin typeface="+mn-lt"/>
                <a:ea typeface="+mn-ea"/>
                <a:cs typeface="+mn-cs"/>
              </a:rPr>
              <a:t> Moving people away from the situation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Restricting access to an area</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Call for assistance from external security or local authorities</a:t>
            </a:r>
          </a:p>
          <a:p>
            <a:pPr lvl="1">
              <a:buFont typeface="Arial" pitchFamily="34" charset="0"/>
              <a:buChar char="•"/>
            </a:pPr>
            <a:r>
              <a:rPr lang="en-AU" sz="1200" kern="1200" dirty="0" smtClean="0">
                <a:solidFill>
                  <a:schemeClr val="tx1"/>
                </a:solidFill>
                <a:latin typeface="+mn-lt"/>
                <a:ea typeface="+mn-ea"/>
                <a:cs typeface="+mn-cs"/>
              </a:rPr>
              <a:t> Protect and defend – always put the protection of lives/people above the protection of assets/physical resources (including cash).</a:t>
            </a:r>
          </a:p>
          <a:p>
            <a:pPr>
              <a:buFont typeface="Arial" pitchFamily="34" charset="0"/>
              <a:buNone/>
            </a:pPr>
            <a:r>
              <a:rPr lang="en-AU" sz="1200" b="1" kern="1200" noProof="0" dirty="0" smtClean="0">
                <a:solidFill>
                  <a:schemeClr val="tx1"/>
                </a:solidFill>
                <a:latin typeface="+mn-lt"/>
                <a:ea typeface="+mn-ea"/>
                <a:cs typeface="+mn-cs"/>
              </a:rPr>
              <a:t>Class Activity – Guest Speaker</a:t>
            </a:r>
          </a:p>
          <a:p>
            <a:pPr>
              <a:buFont typeface="Arial" pitchFamily="34" charset="0"/>
              <a:buNone/>
            </a:pPr>
            <a:r>
              <a:rPr lang="en-AU" sz="1200" b="0" kern="1200" noProof="0" dirty="0" smtClean="0">
                <a:solidFill>
                  <a:schemeClr val="tx1"/>
                </a:solidFill>
                <a:latin typeface="+mn-lt"/>
                <a:ea typeface="+mn-ea"/>
                <a:cs typeface="+mn-cs"/>
              </a:rPr>
              <a:t>Trainer arranges for local Police officer to attend and:</a:t>
            </a:r>
          </a:p>
          <a:p>
            <a:pPr>
              <a:buFont typeface="Arial" pitchFamily="34" charset="0"/>
              <a:buChar char="•"/>
            </a:pPr>
            <a:r>
              <a:rPr lang="en-AU" b="0" noProof="0" dirty="0" smtClean="0"/>
              <a:t> Discuss legal rights/limitations regarding what Security staff can and cannot do</a:t>
            </a:r>
          </a:p>
          <a:p>
            <a:pPr>
              <a:buFont typeface="Arial" pitchFamily="34" charset="0"/>
              <a:buChar char="•"/>
            </a:pPr>
            <a:r>
              <a:rPr lang="en-AU" b="0" noProof="0" dirty="0" smtClean="0"/>
              <a:t> Offer suggestions for dealing with situations</a:t>
            </a:r>
          </a:p>
          <a:p>
            <a:pPr>
              <a:buFont typeface="Arial" pitchFamily="34" charset="0"/>
              <a:buChar char="•"/>
            </a:pPr>
            <a:r>
              <a:rPr lang="en-AU" b="0" noProof="0" dirty="0" smtClean="0"/>
              <a:t> Identify how to summon police assistance.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topic of Security staff making an arrest offering:</a:t>
            </a:r>
          </a:p>
          <a:p>
            <a:pPr>
              <a:buFont typeface="Arial" pitchFamily="34" charset="0"/>
              <a:buChar char="•"/>
            </a:pPr>
            <a:r>
              <a:rPr lang="en-AU" noProof="0" dirty="0" smtClean="0"/>
              <a:t> They should avoid doing this – as there are too many possible legal implications (being sued for wrongful arrest or similar)</a:t>
            </a:r>
          </a:p>
          <a:p>
            <a:pPr>
              <a:buFont typeface="Arial" pitchFamily="34" charset="0"/>
              <a:buChar char="•"/>
            </a:pPr>
            <a:r>
              <a:rPr lang="en-AU" noProof="0" dirty="0" smtClean="0"/>
              <a:t> They should instead try to delay the person identifying </a:t>
            </a:r>
            <a:r>
              <a:rPr lang="en-AU" sz="1200" b="0" kern="1200" dirty="0" smtClean="0">
                <a:solidFill>
                  <a:schemeClr val="tx1"/>
                </a:solidFill>
                <a:latin typeface="+mn-lt"/>
                <a:ea typeface="+mn-ea"/>
                <a:cs typeface="+mn-cs"/>
              </a:rPr>
              <a:t>strategies to delay ‘offenders’ until police arrive can include:</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Engaging the person in conversation – to distract them/keep them ‘on scene’</a:t>
            </a:r>
          </a:p>
          <a:p>
            <a:pPr lvl="1">
              <a:buFont typeface="Arial" pitchFamily="34" charset="0"/>
              <a:buChar char="•"/>
            </a:pPr>
            <a:r>
              <a:rPr lang="en-AU" sz="1200" kern="1200" dirty="0" smtClean="0">
                <a:solidFill>
                  <a:schemeClr val="tx1"/>
                </a:solidFill>
                <a:latin typeface="+mn-lt"/>
                <a:ea typeface="+mn-ea"/>
                <a:cs typeface="+mn-cs"/>
              </a:rPr>
              <a:t> Asking them questions – which again occupies</a:t>
            </a:r>
            <a:r>
              <a:rPr lang="en-AU" sz="1200" kern="1200" baseline="0" dirty="0" smtClean="0">
                <a:solidFill>
                  <a:schemeClr val="tx1"/>
                </a:solidFill>
                <a:latin typeface="+mn-lt"/>
                <a:ea typeface="+mn-ea"/>
                <a:cs typeface="+mn-cs"/>
              </a:rPr>
              <a:t> them and keeps them present</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Providing them with a drink or something to eat</a:t>
            </a:r>
          </a:p>
          <a:p>
            <a:pPr lvl="1">
              <a:buFont typeface="Arial" pitchFamily="34" charset="0"/>
              <a:buChar char="•"/>
            </a:pPr>
            <a:r>
              <a:rPr lang="en-AU" sz="1200" kern="1200" dirty="0" smtClean="0">
                <a:solidFill>
                  <a:schemeClr val="tx1"/>
                </a:solidFill>
                <a:latin typeface="+mn-lt"/>
                <a:ea typeface="+mn-ea"/>
                <a:cs typeface="+mn-cs"/>
              </a:rPr>
              <a:t> Asking them to wait for the police to arrive.</a:t>
            </a:r>
          </a:p>
          <a:p>
            <a:pPr>
              <a:buFont typeface="Arial" pitchFamily="34" charset="0"/>
              <a:buChar char="•"/>
            </a:pPr>
            <a:endParaRPr lang="en-AU" noProof="0" dirty="0" smtClean="0"/>
          </a:p>
          <a:p>
            <a:pPr>
              <a:buFont typeface="Arial" pitchFamily="34" charset="0"/>
              <a:buNone/>
            </a:pPr>
            <a:r>
              <a:rPr lang="en-AU" b="1" noProof="0" dirty="0" smtClean="0"/>
              <a:t>Class</a:t>
            </a:r>
            <a:r>
              <a:rPr lang="en-AU" b="1" baseline="0" noProof="0" dirty="0" smtClean="0"/>
              <a:t>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techniques to delay an offender until police arrive</a:t>
            </a:r>
          </a:p>
          <a:p>
            <a:pPr>
              <a:buFont typeface="Arial" pitchFamily="34" charset="0"/>
              <a:buChar char="•"/>
            </a:pPr>
            <a:r>
              <a:rPr lang="en-AU" b="0" noProof="0" dirty="0" smtClean="0"/>
              <a:t> Provides opportunity for students to practice same.</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all </a:t>
            </a:r>
            <a:r>
              <a:rPr lang="en-AU" sz="1200" kern="1200" dirty="0" smtClean="0">
                <a:solidFill>
                  <a:schemeClr val="tx1"/>
                </a:solidFill>
                <a:latin typeface="+mn-lt"/>
                <a:ea typeface="+mn-ea"/>
                <a:cs typeface="+mn-cs"/>
              </a:rPr>
              <a:t>security equipment must be operated in a safe and controlled manner at all times highlighting need to:</a:t>
            </a:r>
          </a:p>
          <a:p>
            <a:pPr>
              <a:buFont typeface="Arial" pitchFamily="34" charset="0"/>
              <a:buChar char="•"/>
            </a:pPr>
            <a:r>
              <a:rPr lang="en-AU" sz="1200" kern="1200" dirty="0" smtClean="0">
                <a:solidFill>
                  <a:schemeClr val="tx1"/>
                </a:solidFill>
                <a:latin typeface="+mn-lt"/>
                <a:ea typeface="+mn-ea"/>
                <a:cs typeface="+mn-cs"/>
              </a:rPr>
              <a:t> Follow manufacturer’s instructions:</a:t>
            </a:r>
          </a:p>
          <a:p>
            <a:pPr lvl="1">
              <a:buFont typeface="Arial" pitchFamily="34" charset="0"/>
              <a:buChar char="•"/>
            </a:pPr>
            <a:r>
              <a:rPr lang="en-US" sz="1200" kern="1200" dirty="0" smtClean="0">
                <a:solidFill>
                  <a:schemeClr val="tx1"/>
                </a:solidFill>
                <a:latin typeface="+mn-lt"/>
                <a:ea typeface="+mn-ea"/>
                <a:cs typeface="+mn-cs"/>
              </a:rPr>
              <a:t> How to turn the system/technology on and off:</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log on and log off</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access nominated sections of the system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access/read nominated sectors of the business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run system checks – where the system/technology conducts internal audits of its capacity and generates a Situation Report’ detailing the ‘status’ of all its component parts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adjust element of the system – such as: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How to focus cameras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How to adjust sensitivity of scanners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How to change passwords and access codes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access parts of the system: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run checks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retrieve data</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interrogate the system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generate hard and soft reports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enter data into the system: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update information/data fields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add new staff – or remove access for nominated staff</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To accommodate SOPs for data entry, archiving data and completion of  records, reports and electronic documentation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operate and read alarms systems – including:</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Determining type and location of threat/problem from an alarm board, indicator or other system alert</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Knowing how to activate and de-activate the entire system or required aspects of it.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Demonstration</a:t>
            </a:r>
          </a:p>
          <a:p>
            <a:pPr>
              <a:buFont typeface="Arial" pitchFamily="34" charset="0"/>
              <a:buNone/>
            </a:pPr>
            <a:r>
              <a:rPr lang="en-AU" b="0" noProof="0" dirty="0" smtClean="0"/>
              <a:t>Trainer shows students how to use a selection of security equipment according to manufacturer instructions.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mentions security equipment must also be operated in accordance with internal requirements explaining students can identify what these are in each workplace through:</a:t>
            </a:r>
          </a:p>
          <a:p>
            <a:pPr>
              <a:buFont typeface="Arial" pitchFamily="34" charset="0"/>
              <a:buChar char="•"/>
            </a:pPr>
            <a:r>
              <a:rPr lang="en-US" sz="1200" kern="1200" dirty="0" smtClean="0">
                <a:solidFill>
                  <a:schemeClr val="tx1"/>
                </a:solidFill>
                <a:latin typeface="+mn-lt"/>
                <a:ea typeface="+mn-ea"/>
                <a:cs typeface="+mn-cs"/>
              </a:rPr>
              <a:t> Discussions with your colleagues and supervisor</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Observing their actions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As a result of formal, internal training.</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sample internal requirements regarding safe and controlled operation of security equipment:</a:t>
            </a:r>
          </a:p>
          <a:p>
            <a:pPr>
              <a:buFont typeface="Arial" pitchFamily="34" charset="0"/>
              <a:buChar char="•"/>
            </a:pPr>
            <a:r>
              <a:rPr lang="en-AU" sz="1200" kern="1200" dirty="0" smtClean="0">
                <a:solidFill>
                  <a:schemeClr val="tx1"/>
                </a:solidFill>
                <a:latin typeface="+mn-lt"/>
                <a:ea typeface="+mn-ea"/>
                <a:cs typeface="+mn-cs"/>
              </a:rPr>
              <a:t> Exercise personal control at all times – customers can be very abusive and even antagonistic but it is important you control your response and never resort to verbal or physical abuse</a:t>
            </a:r>
          </a:p>
          <a:p>
            <a:pPr>
              <a:buFont typeface="Arial" pitchFamily="34" charset="0"/>
              <a:buChar char="•"/>
            </a:pPr>
            <a:r>
              <a:rPr lang="en-AU" sz="1200" kern="1200" dirty="0" smtClean="0">
                <a:solidFill>
                  <a:schemeClr val="tx1"/>
                </a:solidFill>
                <a:latin typeface="+mn-lt"/>
                <a:ea typeface="+mn-ea"/>
                <a:cs typeface="+mn-cs"/>
              </a:rPr>
              <a:t> Use tact and diplomacy at all times when interacting with members of the public</a:t>
            </a:r>
          </a:p>
          <a:p>
            <a:pPr>
              <a:buFont typeface="Arial" pitchFamily="34" charset="0"/>
              <a:buChar char="•"/>
            </a:pPr>
            <a:r>
              <a:rPr lang="en-AU" sz="1200" kern="1200" dirty="0" smtClean="0">
                <a:solidFill>
                  <a:schemeClr val="tx1"/>
                </a:solidFill>
                <a:latin typeface="+mn-lt"/>
                <a:ea typeface="+mn-ea"/>
                <a:cs typeface="+mn-cs"/>
              </a:rPr>
              <a:t> Focus on the use of appropriate communication and interpersonal skills (such as discussion, mediation, conflict resolution, negotiation) rather than physical alternatives or the use of force</a:t>
            </a:r>
          </a:p>
          <a:p>
            <a:pPr>
              <a:buFont typeface="Arial" pitchFamily="34" charset="0"/>
              <a:buChar char="•"/>
            </a:pPr>
            <a:r>
              <a:rPr lang="en-AU" sz="1200" kern="1200" dirty="0" smtClean="0">
                <a:solidFill>
                  <a:schemeClr val="tx1"/>
                </a:solidFill>
                <a:latin typeface="+mn-lt"/>
                <a:ea typeface="+mn-ea"/>
                <a:cs typeface="+mn-cs"/>
              </a:rPr>
              <a:t> Communicate in a polite and respectful manner using moderate language and avoiding offensive language and swearing</a:t>
            </a:r>
          </a:p>
          <a:p>
            <a:pPr>
              <a:buFont typeface="Arial" pitchFamily="34" charset="0"/>
              <a:buChar char="•"/>
            </a:pPr>
            <a:r>
              <a:rPr lang="en-AU" sz="1200" kern="1200" dirty="0" smtClean="0">
                <a:solidFill>
                  <a:schemeClr val="tx1"/>
                </a:solidFill>
                <a:latin typeface="+mn-lt"/>
                <a:ea typeface="+mn-ea"/>
                <a:cs typeface="+mn-cs"/>
              </a:rPr>
              <a:t> Act fairly towards all customers/guests/members of the public – do not discriminate on the basis of (for example) age, gender, race or religion)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indicating sample internal requirements regarding safe and controlled operation of security equipment:</a:t>
            </a:r>
          </a:p>
          <a:p>
            <a:pPr>
              <a:buFont typeface="Arial" pitchFamily="34" charset="0"/>
              <a:buChar char="•"/>
            </a:pPr>
            <a:r>
              <a:rPr lang="en-AU" sz="1200" kern="1200" dirty="0" smtClean="0">
                <a:solidFill>
                  <a:schemeClr val="tx1"/>
                </a:solidFill>
                <a:latin typeface="+mn-lt"/>
                <a:ea typeface="+mn-ea"/>
                <a:cs typeface="+mn-cs"/>
              </a:rPr>
              <a:t> Use restraint when a physical response is necessary – you never have the right to use more than ‘reasonable’ force to address a situation/threat</a:t>
            </a:r>
          </a:p>
          <a:p>
            <a:pPr>
              <a:buFont typeface="Arial" pitchFamily="34" charset="0"/>
              <a:buChar char="•"/>
            </a:pPr>
            <a:r>
              <a:rPr lang="en-AU" sz="1200" kern="1200" dirty="0" smtClean="0">
                <a:solidFill>
                  <a:schemeClr val="tx1"/>
                </a:solidFill>
                <a:latin typeface="+mn-lt"/>
                <a:ea typeface="+mn-ea"/>
                <a:cs typeface="+mn-cs"/>
              </a:rPr>
              <a:t> Refrain from searching people</a:t>
            </a:r>
          </a:p>
          <a:p>
            <a:pPr>
              <a:buFont typeface="Arial" pitchFamily="34" charset="0"/>
              <a:buChar char="•"/>
            </a:pPr>
            <a:r>
              <a:rPr lang="en-AU" sz="1200" kern="1200" dirty="0" smtClean="0">
                <a:solidFill>
                  <a:schemeClr val="tx1"/>
                </a:solidFill>
                <a:latin typeface="+mn-lt"/>
                <a:ea typeface="+mn-ea"/>
                <a:cs typeface="+mn-cs"/>
              </a:rPr>
              <a:t> Only use security items for their intended purpose</a:t>
            </a:r>
          </a:p>
          <a:p>
            <a:pPr>
              <a:buFont typeface="Arial" pitchFamily="34" charset="0"/>
              <a:buChar char="•"/>
            </a:pPr>
            <a:r>
              <a:rPr lang="en-AU" sz="1200" kern="1200" dirty="0" smtClean="0">
                <a:solidFill>
                  <a:schemeClr val="tx1"/>
                </a:solidFill>
                <a:latin typeface="+mn-lt"/>
                <a:ea typeface="+mn-ea"/>
                <a:cs typeface="+mn-cs"/>
              </a:rPr>
              <a:t> Observe the requirements of the venue Privacy and Confidentiality policies at all times</a:t>
            </a:r>
          </a:p>
          <a:p>
            <a:pPr>
              <a:buFont typeface="Arial" pitchFamily="34" charset="0"/>
              <a:buChar char="•"/>
            </a:pPr>
            <a:r>
              <a:rPr lang="en-AU" sz="1200" kern="1200" dirty="0" smtClean="0">
                <a:solidFill>
                  <a:schemeClr val="tx1"/>
                </a:solidFill>
                <a:latin typeface="+mn-lt"/>
                <a:ea typeface="+mn-ea"/>
                <a:cs typeface="+mn-cs"/>
              </a:rPr>
              <a:t> Never discuss revenue, occupancy levels or matters to do with security, cash movement, asset protection protocols (guards,. patrols, routes, alarms, position of cameras, response plans/options) with anyone</a:t>
            </a:r>
          </a:p>
          <a:p>
            <a:pPr>
              <a:buFont typeface="Arial" pitchFamily="34" charset="0"/>
              <a:buChar char="•"/>
            </a:pPr>
            <a:r>
              <a:rPr lang="en-AU" sz="1200" kern="1200" dirty="0" smtClean="0">
                <a:solidFill>
                  <a:schemeClr val="tx1"/>
                </a:solidFill>
                <a:latin typeface="+mn-lt"/>
                <a:ea typeface="+mn-ea"/>
                <a:cs typeface="+mn-cs"/>
              </a:rPr>
              <a:t> Do not discuss security-related matters or responses to incidents/threats with the media.</a:t>
            </a:r>
          </a:p>
          <a:p>
            <a:pPr>
              <a:buFont typeface="Arial" pitchFamily="34" charset="0"/>
              <a:buNone/>
            </a:pPr>
            <a:endParaRPr lang="en-AU" noProof="0" dirty="0" smtClean="0"/>
          </a:p>
          <a:p>
            <a:pPr>
              <a:buFont typeface="Arial" pitchFamily="34" charset="0"/>
              <a:buNone/>
            </a:pPr>
            <a:r>
              <a:rPr lang="en-AU" b="1" noProof="0" dirty="0" smtClean="0"/>
              <a:t>Class Activity – Online Activity</a:t>
            </a:r>
          </a:p>
          <a:p>
            <a:pPr>
              <a:buFont typeface="Arial" pitchFamily="34" charset="0"/>
              <a:buNone/>
            </a:pPr>
            <a:r>
              <a:rPr lang="en-AU" b="0" noProof="0" dirty="0" smtClean="0"/>
              <a:t>Trainer</a:t>
            </a:r>
            <a:r>
              <a:rPr lang="en-AU" b="0" baseline="0" noProof="0" dirty="0" smtClean="0"/>
              <a:t> provides students with internet access and asks them to visit the following sites to gain information of user information for security items:</a:t>
            </a:r>
          </a:p>
          <a:p>
            <a:r>
              <a:rPr lang="en-AU" sz="1200" u="sng" kern="1200" dirty="0" smtClean="0">
                <a:solidFill>
                  <a:schemeClr val="tx1"/>
                </a:solidFill>
                <a:latin typeface="+mn-lt"/>
                <a:ea typeface="+mn-ea"/>
                <a:cs typeface="+mn-cs"/>
              </a:rPr>
              <a:t>http://www.wi-ltd.com/security/Scanning_and_Screening/X_Ray_and_Screening_Systems/Baggage_Scanners/WG_IS6545_X-Ray_Hand_Baggage_Scanner</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http://www.protectwest.com.au/manuals/Ademco%20Vista%2050%20user%20manual.pdf</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http://www.adtsecurity.com.au/home-security/resource-centre/alarm-panel-user-manuals</a:t>
            </a:r>
            <a:r>
              <a:rPr lang="en-AU" sz="1200" kern="1200" dirty="0" smtClean="0">
                <a:solidFill>
                  <a:schemeClr val="tx1"/>
                </a:solidFill>
                <a:latin typeface="+mn-lt"/>
                <a:ea typeface="+mn-ea"/>
                <a:cs typeface="+mn-cs"/>
              </a:rPr>
              <a:t>.</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monitoring of surveillance equipment stating:</a:t>
            </a:r>
          </a:p>
          <a:p>
            <a:pPr>
              <a:buFont typeface="Arial" pitchFamily="34" charset="0"/>
              <a:buChar char="•"/>
            </a:pPr>
            <a:r>
              <a:rPr lang="en-AU" sz="1200" kern="1200" dirty="0" smtClean="0">
                <a:solidFill>
                  <a:schemeClr val="tx1"/>
                </a:solidFill>
                <a:latin typeface="+mn-lt"/>
                <a:ea typeface="+mn-ea"/>
                <a:cs typeface="+mn-cs"/>
              </a:rPr>
              <a:t> Surveillance equipment (systems and technology) will vary between venues.</a:t>
            </a:r>
          </a:p>
          <a:p>
            <a:pPr>
              <a:buFont typeface="Arial" pitchFamily="34" charset="0"/>
              <a:buChar char="•"/>
            </a:pPr>
            <a:r>
              <a:rPr lang="en-AU" sz="1200" kern="1200" dirty="0" smtClean="0">
                <a:solidFill>
                  <a:schemeClr val="tx1"/>
                </a:solidFill>
                <a:latin typeface="+mn-lt"/>
                <a:ea typeface="+mn-ea"/>
                <a:cs typeface="+mn-cs"/>
              </a:rPr>
              <a:t> There is also no precise definition of exactly what ‘monitoring’ is or what ‘surveillance equipment is but it may be seen as:</a:t>
            </a:r>
          </a:p>
          <a:p>
            <a:pPr lvl="1">
              <a:buFont typeface="Arial" pitchFamily="34" charset="0"/>
              <a:buChar char="•"/>
            </a:pPr>
            <a:r>
              <a:rPr lang="en-AU" sz="1200" kern="1200" dirty="0" smtClean="0">
                <a:solidFill>
                  <a:schemeClr val="tx1"/>
                </a:solidFill>
                <a:latin typeface="+mn-lt"/>
                <a:ea typeface="+mn-ea"/>
                <a:cs typeface="+mn-cs"/>
              </a:rPr>
              <a:t>“A combination of observations relevant to the security systems and technology deployed in the workplace.”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examples of possible </a:t>
            </a:r>
            <a:r>
              <a:rPr lang="en-AU" sz="1200" kern="1200" dirty="0" smtClean="0">
                <a:solidFill>
                  <a:schemeClr val="tx1"/>
                </a:solidFill>
                <a:latin typeface="+mn-lt"/>
                <a:ea typeface="+mn-ea"/>
                <a:cs typeface="+mn-cs"/>
              </a:rPr>
              <a:t>monitoring activities:</a:t>
            </a:r>
          </a:p>
          <a:p>
            <a:pPr>
              <a:buFont typeface="Arial" pitchFamily="34" charset="0"/>
              <a:buChar char="•"/>
            </a:pPr>
            <a:r>
              <a:rPr lang="en-AU" sz="1200" kern="1200" dirty="0" smtClean="0">
                <a:solidFill>
                  <a:schemeClr val="tx1"/>
                </a:solidFill>
                <a:latin typeface="+mn-lt"/>
                <a:ea typeface="+mn-ea"/>
                <a:cs typeface="+mn-cs"/>
              </a:rPr>
              <a:t> Using your basic senses – for example:</a:t>
            </a:r>
          </a:p>
          <a:p>
            <a:pPr lvl="1">
              <a:buFont typeface="Arial" pitchFamily="34" charset="0"/>
              <a:buChar char="•"/>
            </a:pPr>
            <a:r>
              <a:rPr lang="en-US" sz="1200" kern="1200" dirty="0" smtClean="0">
                <a:solidFill>
                  <a:schemeClr val="tx1"/>
                </a:solidFill>
                <a:latin typeface="+mn-lt"/>
                <a:ea typeface="+mn-ea"/>
                <a:cs typeface="+mn-cs"/>
              </a:rPr>
              <a:t> Watching for visual alarms – flashing lights, illuminated displays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Listening for audible alarms – bells, sirens, tones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Being alert to environmental cues – such as open doors which should be closed, unlocked doors which should be locked, unattended items, suspicious persons, loud noises/shouting, indicators of distress, unacceptable behavior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Noticing smells – which may indicate smoke/fire, a gas leak, a chemical spill, a petrol leak</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examples of possible </a:t>
            </a:r>
            <a:r>
              <a:rPr lang="en-AU" sz="1200" kern="1200" dirty="0" smtClean="0">
                <a:solidFill>
                  <a:schemeClr val="tx1"/>
                </a:solidFill>
                <a:latin typeface="+mn-lt"/>
                <a:ea typeface="+mn-ea"/>
                <a:cs typeface="+mn-cs"/>
              </a:rPr>
              <a:t>monitoring activities:</a:t>
            </a:r>
          </a:p>
          <a:p>
            <a:pPr>
              <a:buFont typeface="Arial" pitchFamily="34" charset="0"/>
              <a:buChar char="•"/>
            </a:pPr>
            <a:r>
              <a:rPr lang="en-AU" sz="1200" kern="1200" dirty="0" smtClean="0">
                <a:solidFill>
                  <a:schemeClr val="tx1"/>
                </a:solidFill>
                <a:latin typeface="+mn-lt"/>
                <a:ea typeface="+mn-ea"/>
                <a:cs typeface="+mn-cs"/>
              </a:rPr>
              <a:t> Watching alarm and security boards and monitors/screens to:</a:t>
            </a:r>
          </a:p>
          <a:p>
            <a:pPr lvl="1">
              <a:buFont typeface="Arial" pitchFamily="34" charset="0"/>
              <a:buChar char="•"/>
            </a:pPr>
            <a:r>
              <a:rPr lang="en-US" sz="1200" kern="1200" dirty="0" smtClean="0">
                <a:solidFill>
                  <a:schemeClr val="tx1"/>
                </a:solidFill>
                <a:latin typeface="+mn-lt"/>
                <a:ea typeface="+mn-ea"/>
                <a:cs typeface="+mn-cs"/>
              </a:rPr>
              <a:t> Immediately identify activation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Locate site of alarm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Notify internal personnel and external authorities – in accordance with alarm type and SOPs. For example, many venues require </a:t>
            </a:r>
            <a:r>
              <a:rPr lang="en-US" sz="1200" b="1" kern="1200" dirty="0" smtClean="0">
                <a:solidFill>
                  <a:schemeClr val="tx1"/>
                </a:solidFill>
                <a:latin typeface="+mn-lt"/>
                <a:ea typeface="+mn-ea"/>
                <a:cs typeface="+mn-cs"/>
              </a:rPr>
              <a:t>immediate notification</a:t>
            </a:r>
            <a:r>
              <a:rPr lang="en-US" sz="1200" kern="1200" dirty="0" smtClean="0">
                <a:solidFill>
                  <a:schemeClr val="tx1"/>
                </a:solidFill>
                <a:latin typeface="+mn-lt"/>
                <a:ea typeface="+mn-ea"/>
                <a:cs typeface="+mn-cs"/>
              </a:rPr>
              <a:t> of fire authorities when a fire/smoke alarms activates even before the alarm is investigated and/or even though flames cannot be seen and there is no smell of smoke.</a:t>
            </a:r>
            <a:endParaRPr lang="en-AU" sz="1200" kern="1200" dirty="0" smtClean="0">
              <a:solidFill>
                <a:schemeClr val="tx1"/>
              </a:solidFill>
              <a:latin typeface="+mn-lt"/>
              <a:ea typeface="+mn-ea"/>
              <a:cs typeface="+mn-cs"/>
            </a:endParaRPr>
          </a:p>
          <a:p>
            <a:pPr lvl="1">
              <a:buFont typeface="Arial" pitchFamily="34" charset="0"/>
              <a:buNone/>
            </a:pPr>
            <a:r>
              <a:rPr lang="en-US" sz="1200" kern="1200" dirty="0" smtClean="0">
                <a:solidFill>
                  <a:schemeClr val="tx1"/>
                </a:solidFill>
                <a:latin typeface="+mn-lt"/>
                <a:ea typeface="+mn-ea"/>
                <a:cs typeface="+mn-cs"/>
              </a:rPr>
              <a:t>Where this SOP applies it is a mandatory requirement </a:t>
            </a:r>
            <a:r>
              <a:rPr lang="en-US" sz="1200" i="1" kern="1200" dirty="0" smtClean="0">
                <a:solidFill>
                  <a:schemeClr val="tx1"/>
                </a:solidFill>
                <a:latin typeface="+mn-lt"/>
                <a:ea typeface="+mn-ea"/>
                <a:cs typeface="+mn-cs"/>
              </a:rPr>
              <a:t>regardless</a:t>
            </a:r>
            <a:r>
              <a:rPr lang="en-US" sz="1200" kern="1200" dirty="0" smtClean="0">
                <a:solidFill>
                  <a:schemeClr val="tx1"/>
                </a:solidFill>
                <a:latin typeface="+mn-lt"/>
                <a:ea typeface="+mn-ea"/>
                <a:cs typeface="+mn-cs"/>
              </a:rPr>
              <a:t> of when the alarm is detected or where the fire/smoke has been detected.</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examples of possible </a:t>
            </a:r>
            <a:r>
              <a:rPr lang="en-AU" sz="1200" kern="1200" dirty="0" smtClean="0">
                <a:solidFill>
                  <a:schemeClr val="tx1"/>
                </a:solidFill>
                <a:latin typeface="+mn-lt"/>
                <a:ea typeface="+mn-ea"/>
                <a:cs typeface="+mn-cs"/>
              </a:rPr>
              <a:t>monitoring activities:</a:t>
            </a:r>
          </a:p>
          <a:p>
            <a:pPr>
              <a:buFont typeface="Arial" pitchFamily="34" charset="0"/>
              <a:buChar char="•"/>
            </a:pPr>
            <a:r>
              <a:rPr lang="en-AU" sz="1200" kern="1200" dirty="0" smtClean="0">
                <a:solidFill>
                  <a:schemeClr val="tx1"/>
                </a:solidFill>
                <a:latin typeface="+mn-lt"/>
                <a:ea typeface="+mn-ea"/>
                <a:cs typeface="+mn-cs"/>
              </a:rPr>
              <a:t> Following all manufacturer’s instructions for the use of all aspects of the security technology in use – this may apply to:</a:t>
            </a:r>
          </a:p>
          <a:p>
            <a:pPr lvl="1">
              <a:buFont typeface="Arial" pitchFamily="34" charset="0"/>
              <a:buChar char="•"/>
            </a:pPr>
            <a:r>
              <a:rPr lang="en-US" sz="1200" kern="1200" dirty="0" smtClean="0">
                <a:solidFill>
                  <a:schemeClr val="tx1"/>
                </a:solidFill>
                <a:latin typeface="+mn-lt"/>
                <a:ea typeface="+mn-ea"/>
                <a:cs typeface="+mn-cs"/>
              </a:rPr>
              <a:t> Setting up equipment in accordance with manufacturer’s instructions – for items such as </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Sensors and detectors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Screens, monitors and boards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CCTV cameras – with special attention to line-of-sight/coverage, and picture resolution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Walk-through and conveyor-belt scanners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Conducting system checks – which relates to:</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Scheduling and implementing regular system checks – to check for correct operation of the system and alerts/alarms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Running system diagnostic checks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Cleaning component parts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Verifying actual coverage by the system is in accordance with expected/required coverage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‘Green lights and red lights’ – referring to visual monitoring of system displays which indicate (as appropriate to different systems):</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Normal operation – ‘nothing detected’</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Issues and alerts – to be investigated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Testing – such as verifying alarms are operational, surveillance cameras can be remotely controlled, test packages are run through X-ray machines and scanners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examples of possible </a:t>
            </a:r>
            <a:r>
              <a:rPr lang="en-AU" sz="1200" kern="1200" dirty="0" smtClean="0">
                <a:solidFill>
                  <a:schemeClr val="tx1"/>
                </a:solidFill>
                <a:latin typeface="+mn-lt"/>
                <a:ea typeface="+mn-ea"/>
                <a:cs typeface="+mn-cs"/>
              </a:rPr>
              <a:t>monitoring activities:</a:t>
            </a:r>
          </a:p>
          <a:p>
            <a:pPr>
              <a:buFont typeface="Arial" pitchFamily="34" charset="0"/>
              <a:buChar char="•"/>
            </a:pPr>
            <a:r>
              <a:rPr lang="en-AU" sz="1200" kern="1200" dirty="0" smtClean="0">
                <a:solidFill>
                  <a:schemeClr val="tx1"/>
                </a:solidFill>
                <a:latin typeface="+mn-lt"/>
                <a:ea typeface="+mn-ea"/>
                <a:cs typeface="+mn-cs"/>
              </a:rPr>
              <a:t> Completing necessary logs, forms and registers – these have to be completed to provide evidence of actions such as:</a:t>
            </a:r>
          </a:p>
          <a:p>
            <a:pPr lvl="1">
              <a:buFont typeface="Arial" pitchFamily="34" charset="0"/>
              <a:buChar char="•"/>
            </a:pPr>
            <a:r>
              <a:rPr lang="en-US" sz="1200" b="1" kern="1200" dirty="0" smtClean="0">
                <a:solidFill>
                  <a:schemeClr val="tx1"/>
                </a:solidFill>
                <a:latin typeface="+mn-lt"/>
                <a:ea typeface="+mn-ea"/>
                <a:cs typeface="+mn-cs"/>
              </a:rPr>
              <a:t> All activities</a:t>
            </a:r>
            <a:r>
              <a:rPr lang="en-US" sz="1200" kern="1200" dirty="0" smtClean="0">
                <a:solidFill>
                  <a:schemeClr val="tx1"/>
                </a:solidFill>
                <a:latin typeface="+mn-lt"/>
                <a:ea typeface="+mn-ea"/>
                <a:cs typeface="+mn-cs"/>
              </a:rPr>
              <a:t> identified/described immediately above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Responses to system alerts and alarms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Corrective action taken to address identified problems with systems/technology.- a CAR may need to be completed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is vital you understand it is never sufficient just to respond to a situation, you also have to record your response as evidence of your action.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Checking and assessing system data and records – to verify:</a:t>
            </a:r>
          </a:p>
          <a:p>
            <a:pPr lvl="1">
              <a:buFont typeface="Arial" pitchFamily="34" charset="0"/>
              <a:buChar char="•"/>
            </a:pPr>
            <a:r>
              <a:rPr lang="en-US" sz="1200" kern="1200" dirty="0" smtClean="0">
                <a:solidFill>
                  <a:schemeClr val="tx1"/>
                </a:solidFill>
                <a:latin typeface="+mn-lt"/>
                <a:ea typeface="+mn-ea"/>
                <a:cs typeface="+mn-cs"/>
              </a:rPr>
              <a:t> Required information is being captured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Reliability of system for capturing the data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Accuracy of data being recorded.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Checking internal signage – where there is a legislated requirement the venue informs patrons electronic surveillance is being used on the premises, part of the monitoring must be to ensure the required signs are displayed in the required areas and are clearly visible (‘This venue is under contact video surveillance’)</a:t>
            </a:r>
          </a:p>
          <a:p>
            <a:pPr>
              <a:buFont typeface="Arial" pitchFamily="34" charset="0"/>
              <a:buChar char="•"/>
            </a:pPr>
            <a:r>
              <a:rPr lang="en-AU" sz="1200" kern="1200" dirty="0" smtClean="0">
                <a:solidFill>
                  <a:schemeClr val="tx1"/>
                </a:solidFill>
                <a:latin typeface="+mn-lt"/>
                <a:ea typeface="+mn-ea"/>
                <a:cs typeface="+mn-cs"/>
              </a:rPr>
              <a:t> Checking the coverage by CCTV cameras does not breach the privacy rights of citizens – basically this means ensuring the CCTV cameras do not film public areas which are not part of the venue</a:t>
            </a:r>
          </a:p>
          <a:p>
            <a:pPr>
              <a:buFont typeface="Arial" pitchFamily="34" charset="0"/>
              <a:buChar char="•"/>
            </a:pPr>
            <a:r>
              <a:rPr lang="en-AU" sz="1200" kern="1200" dirty="0" smtClean="0">
                <a:solidFill>
                  <a:schemeClr val="tx1"/>
                </a:solidFill>
                <a:latin typeface="+mn-lt"/>
                <a:ea typeface="+mn-ea"/>
                <a:cs typeface="+mn-cs"/>
              </a:rPr>
              <a:t> Verifying the surveillance records are being maintained for the required period of time – such as proving to yourself (and recording this fact) all surveillance tapes/discs are on file for (usually 14 days) and are dated in such a way to aid easy retrieval of footage as required.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need</a:t>
            </a:r>
            <a:r>
              <a:rPr lang="en-AU" baseline="0" noProof="0" dirty="0" smtClean="0"/>
              <a:t> for Security staff to maintain ‘Situational Awareness’:</a:t>
            </a:r>
          </a:p>
          <a:p>
            <a:pPr>
              <a:buFont typeface="Arial" pitchFamily="34" charset="0"/>
              <a:buChar char="•"/>
            </a:pPr>
            <a:r>
              <a:rPr lang="en-AU" sz="1200" kern="1200" dirty="0" smtClean="0">
                <a:solidFill>
                  <a:schemeClr val="tx1"/>
                </a:solidFill>
                <a:latin typeface="+mn-lt"/>
                <a:ea typeface="+mn-ea"/>
                <a:cs typeface="+mn-cs"/>
              </a:rPr>
              <a:t> Situational awareness may be seen as being completely aware of the environment/situation you are in and knowing if it is changing, how it is changing, and why it is changing. </a:t>
            </a:r>
          </a:p>
          <a:p>
            <a:pPr>
              <a:buFont typeface="Arial" pitchFamily="34" charset="0"/>
              <a:buChar char="•"/>
            </a:pPr>
            <a:r>
              <a:rPr lang="en-AU" sz="1200" kern="1200" dirty="0" smtClean="0">
                <a:solidFill>
                  <a:schemeClr val="tx1"/>
                </a:solidFill>
                <a:latin typeface="+mn-lt"/>
                <a:ea typeface="+mn-ea"/>
                <a:cs typeface="+mn-cs"/>
              </a:rPr>
              <a:t> Situational awareness relies heavily on:</a:t>
            </a:r>
          </a:p>
          <a:p>
            <a:pPr lvl="1">
              <a:buFont typeface="Arial" pitchFamily="34" charset="0"/>
              <a:buChar char="•"/>
            </a:pPr>
            <a:r>
              <a:rPr lang="en-AU" sz="1200" kern="1200" dirty="0" smtClean="0">
                <a:solidFill>
                  <a:schemeClr val="tx1"/>
                </a:solidFill>
                <a:latin typeface="+mn-lt"/>
                <a:ea typeface="+mn-ea"/>
                <a:cs typeface="+mn-cs"/>
              </a:rPr>
              <a:t> Keeping your eyes and ears open – to keep the inflow of information coming in  to you/your senses</a:t>
            </a:r>
          </a:p>
          <a:p>
            <a:pPr lvl="1">
              <a:buFont typeface="Arial" pitchFamily="34" charset="0"/>
              <a:buChar char="•"/>
            </a:pPr>
            <a:r>
              <a:rPr lang="en-AU" sz="1200" kern="1200" dirty="0" smtClean="0">
                <a:solidFill>
                  <a:schemeClr val="tx1"/>
                </a:solidFill>
                <a:latin typeface="+mn-lt"/>
                <a:ea typeface="+mn-ea"/>
                <a:cs typeface="+mn-cs"/>
              </a:rPr>
              <a:t> Analyzing everything:</a:t>
            </a:r>
          </a:p>
          <a:p>
            <a:pPr lvl="2">
              <a:buFont typeface="Arial" pitchFamily="34" charset="0"/>
              <a:buChar char="•"/>
            </a:pPr>
            <a:r>
              <a:rPr lang="en-US" sz="1200" kern="1200" dirty="0" smtClean="0">
                <a:solidFill>
                  <a:schemeClr val="tx1"/>
                </a:solidFill>
                <a:latin typeface="+mn-lt"/>
                <a:ea typeface="+mn-ea"/>
                <a:cs typeface="+mn-cs"/>
              </a:rPr>
              <a:t> What was that noise?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Why did the noise happen?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Where did it come from?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What does it indicate?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What action do I need to take in response?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points out Situational Awareness </a:t>
            </a:r>
            <a:r>
              <a:rPr lang="en-AU" sz="1200" kern="1200" dirty="0" smtClean="0">
                <a:solidFill>
                  <a:schemeClr val="tx1"/>
                </a:solidFill>
                <a:latin typeface="+mn-lt"/>
                <a:ea typeface="+mn-ea"/>
                <a:cs typeface="+mn-cs"/>
              </a:rPr>
              <a:t>is the basis for:</a:t>
            </a:r>
          </a:p>
          <a:p>
            <a:pPr>
              <a:buFont typeface="Arial" pitchFamily="34" charset="0"/>
              <a:buChar char="•"/>
            </a:pPr>
            <a:r>
              <a:rPr lang="en-AU" sz="1200" kern="1200" dirty="0" smtClean="0">
                <a:solidFill>
                  <a:schemeClr val="tx1"/>
                </a:solidFill>
                <a:latin typeface="+mn-lt"/>
                <a:ea typeface="+mn-ea"/>
                <a:cs typeface="+mn-cs"/>
              </a:rPr>
              <a:t> Determining threat situations</a:t>
            </a:r>
          </a:p>
          <a:p>
            <a:pPr>
              <a:buFont typeface="Arial" pitchFamily="34" charset="0"/>
              <a:buChar char="•"/>
            </a:pPr>
            <a:r>
              <a:rPr lang="en-AU" sz="1200" kern="1200" dirty="0" smtClean="0">
                <a:solidFill>
                  <a:schemeClr val="tx1"/>
                </a:solidFill>
                <a:latin typeface="+mn-lt"/>
                <a:ea typeface="+mn-ea"/>
                <a:cs typeface="+mn-cs"/>
              </a:rPr>
              <a:t> Identifying action needing to be taken</a:t>
            </a:r>
          </a:p>
          <a:p>
            <a:pPr>
              <a:buFont typeface="Arial" pitchFamily="34" charset="0"/>
              <a:buChar char="•"/>
            </a:pPr>
            <a:r>
              <a:rPr lang="en-AU" sz="1200" kern="1200" dirty="0" smtClean="0">
                <a:solidFill>
                  <a:schemeClr val="tx1"/>
                </a:solidFill>
                <a:latin typeface="+mn-lt"/>
                <a:ea typeface="+mn-ea"/>
                <a:cs typeface="+mn-cs"/>
              </a:rPr>
              <a:t> Identifying what is ‘normal’ and things are not normal</a:t>
            </a:r>
          </a:p>
          <a:p>
            <a:pPr>
              <a:buFont typeface="Arial" pitchFamily="34" charset="0"/>
              <a:buChar char="•"/>
            </a:pPr>
            <a:r>
              <a:rPr lang="en-AU" sz="1200" kern="1200" dirty="0" smtClean="0">
                <a:solidFill>
                  <a:schemeClr val="tx1"/>
                </a:solidFill>
                <a:latin typeface="+mn-lt"/>
                <a:ea typeface="+mn-ea"/>
                <a:cs typeface="+mn-cs"/>
              </a:rPr>
              <a:t> Prompt and effective responses.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testing of alarms highlighting all systems must be checked/tested. Examples of systems/equipment</a:t>
            </a:r>
            <a:r>
              <a:rPr lang="en-AU" baseline="0" noProof="0" dirty="0" smtClean="0"/>
              <a:t> to be tested include</a:t>
            </a:r>
            <a:r>
              <a:rPr lang="en-AU" noProof="0" dirty="0" smtClean="0"/>
              <a:t>:</a:t>
            </a:r>
          </a:p>
          <a:p>
            <a:pPr>
              <a:buFont typeface="Arial" pitchFamily="34" charset="0"/>
              <a:buChar char="•"/>
            </a:pPr>
            <a:r>
              <a:rPr lang="en-AU" sz="1200" kern="1200" dirty="0" smtClean="0">
                <a:solidFill>
                  <a:schemeClr val="tx1"/>
                </a:solidFill>
                <a:latin typeface="+mn-lt"/>
                <a:ea typeface="+mn-ea"/>
                <a:cs typeface="+mn-cs"/>
              </a:rPr>
              <a:t> Fire alarms</a:t>
            </a:r>
          </a:p>
          <a:p>
            <a:pPr>
              <a:buFont typeface="Arial" pitchFamily="34" charset="0"/>
              <a:buChar char="•"/>
            </a:pPr>
            <a:r>
              <a:rPr lang="en-AU" sz="1200" kern="1200" dirty="0" smtClean="0">
                <a:solidFill>
                  <a:schemeClr val="tx1"/>
                </a:solidFill>
                <a:latin typeface="+mn-lt"/>
                <a:ea typeface="+mn-ea"/>
                <a:cs typeface="+mn-cs"/>
              </a:rPr>
              <a:t> Smoke and heat detectors</a:t>
            </a:r>
          </a:p>
          <a:p>
            <a:pPr>
              <a:buFont typeface="Arial" pitchFamily="34" charset="0"/>
              <a:buChar char="•"/>
            </a:pPr>
            <a:r>
              <a:rPr lang="en-AU" sz="1200" kern="1200" dirty="0" smtClean="0">
                <a:solidFill>
                  <a:schemeClr val="tx1"/>
                </a:solidFill>
                <a:latin typeface="+mn-lt"/>
                <a:ea typeface="+mn-ea"/>
                <a:cs typeface="+mn-cs"/>
              </a:rPr>
              <a:t> Intruder alarms – including local alarms on fire doors/exits which are triggered when the door is opened</a:t>
            </a:r>
          </a:p>
          <a:p>
            <a:pPr>
              <a:buFont typeface="Arial" pitchFamily="34" charset="0"/>
              <a:buChar char="•"/>
            </a:pPr>
            <a:r>
              <a:rPr lang="en-AU" sz="1200" kern="1200" dirty="0" smtClean="0">
                <a:solidFill>
                  <a:schemeClr val="tx1"/>
                </a:solidFill>
                <a:latin typeface="+mn-lt"/>
                <a:ea typeface="+mn-ea"/>
                <a:cs typeface="+mn-cs"/>
              </a:rPr>
              <a:t> Alarm boards and VDUs</a:t>
            </a:r>
          </a:p>
          <a:p>
            <a:pPr>
              <a:buFont typeface="Arial" pitchFamily="34" charset="0"/>
              <a:buChar char="•"/>
            </a:pPr>
            <a:r>
              <a:rPr lang="en-AU" sz="1200" kern="1200" dirty="0" smtClean="0">
                <a:solidFill>
                  <a:schemeClr val="tx1"/>
                </a:solidFill>
                <a:latin typeface="+mn-lt"/>
                <a:ea typeface="+mn-ea"/>
                <a:cs typeface="+mn-cs"/>
              </a:rPr>
              <a:t> CCTV – including checks on:</a:t>
            </a:r>
          </a:p>
          <a:p>
            <a:pPr lvl="1">
              <a:buFont typeface="Arial" pitchFamily="34" charset="0"/>
              <a:buChar char="•"/>
            </a:pPr>
            <a:r>
              <a:rPr lang="en-US" sz="1200" kern="1200" dirty="0" smtClean="0">
                <a:solidFill>
                  <a:schemeClr val="tx1"/>
                </a:solidFill>
                <a:latin typeface="+mn-lt"/>
                <a:ea typeface="+mn-ea"/>
                <a:cs typeface="+mn-cs"/>
              </a:rPr>
              <a:t> Infrared security cameras (so-called ‘night vision’ cameras)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Dome (‘eye in the sky’) cameras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IP/network cameras with remote control (tilt, pan and zoom)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Any wireless cameras – usually retained only for special security (‘spying’) work</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systems/equipment to be tested:</a:t>
            </a:r>
          </a:p>
          <a:p>
            <a:pPr>
              <a:buFont typeface="Arial" pitchFamily="34" charset="0"/>
              <a:buChar char="•"/>
            </a:pPr>
            <a:r>
              <a:rPr lang="en-AU" sz="1200" kern="1200" dirty="0" smtClean="0">
                <a:solidFill>
                  <a:schemeClr val="tx1"/>
                </a:solidFill>
                <a:latin typeface="+mn-lt"/>
                <a:ea typeface="+mn-ea"/>
                <a:cs typeface="+mn-cs"/>
              </a:rPr>
              <a:t> Comms including PA</a:t>
            </a:r>
          </a:p>
          <a:p>
            <a:pPr>
              <a:buFont typeface="Arial" pitchFamily="34" charset="0"/>
              <a:buChar char="•"/>
            </a:pPr>
            <a:r>
              <a:rPr lang="en-AU" sz="1200" kern="1200" dirty="0" smtClean="0">
                <a:solidFill>
                  <a:schemeClr val="tx1"/>
                </a:solidFill>
                <a:latin typeface="+mn-lt"/>
                <a:ea typeface="+mn-ea"/>
                <a:cs typeface="+mn-cs"/>
              </a:rPr>
              <a:t> EAS systems</a:t>
            </a:r>
          </a:p>
          <a:p>
            <a:pPr>
              <a:buFont typeface="Arial" pitchFamily="34" charset="0"/>
              <a:buChar char="•"/>
            </a:pPr>
            <a:r>
              <a:rPr lang="en-AU" sz="1200" kern="1200" dirty="0" smtClean="0">
                <a:solidFill>
                  <a:schemeClr val="tx1"/>
                </a:solidFill>
                <a:latin typeface="+mn-lt"/>
                <a:ea typeface="+mn-ea"/>
                <a:cs typeface="+mn-cs"/>
              </a:rPr>
              <a:t> Key access and locking systems for guest rooms – including card-based RFID systems offering controlled access to (for example) elevators, gymnasium, and other restricted internal areas</a:t>
            </a:r>
          </a:p>
          <a:p>
            <a:pPr>
              <a:buFont typeface="Arial" pitchFamily="34" charset="0"/>
              <a:buChar char="•"/>
            </a:pPr>
            <a:r>
              <a:rPr lang="en-AU" sz="1200" kern="1200" dirty="0" smtClean="0">
                <a:solidFill>
                  <a:schemeClr val="tx1"/>
                </a:solidFill>
                <a:latin typeface="+mn-lt"/>
                <a:ea typeface="+mn-ea"/>
                <a:cs typeface="+mn-cs"/>
              </a:rPr>
              <a:t> Motion sensors</a:t>
            </a:r>
          </a:p>
          <a:p>
            <a:pPr>
              <a:buFont typeface="Arial" pitchFamily="34" charset="0"/>
              <a:buChar char="•"/>
            </a:pPr>
            <a:r>
              <a:rPr lang="en-AU" sz="1200" kern="1200" dirty="0" smtClean="0">
                <a:solidFill>
                  <a:schemeClr val="tx1"/>
                </a:solidFill>
                <a:latin typeface="+mn-lt"/>
                <a:ea typeface="+mn-ea"/>
                <a:cs typeface="+mn-cs"/>
              </a:rPr>
              <a:t> On-premise safes – including office and guest room safes</a:t>
            </a:r>
          </a:p>
          <a:p>
            <a:pPr>
              <a:buFont typeface="Arial" pitchFamily="34" charset="0"/>
              <a:buChar char="•"/>
            </a:pPr>
            <a:r>
              <a:rPr lang="en-AU" sz="1200" kern="1200" dirty="0" smtClean="0">
                <a:solidFill>
                  <a:schemeClr val="tx1"/>
                </a:solidFill>
                <a:latin typeface="+mn-lt"/>
                <a:ea typeface="+mn-ea"/>
                <a:cs typeface="+mn-cs"/>
              </a:rPr>
              <a:t> Vehicle alarms</a:t>
            </a:r>
          </a:p>
          <a:p>
            <a:pPr>
              <a:buFont typeface="Arial" pitchFamily="34" charset="0"/>
              <a:buChar char="•"/>
            </a:pPr>
            <a:r>
              <a:rPr lang="en-AU" sz="1200" kern="1200" dirty="0" smtClean="0">
                <a:solidFill>
                  <a:schemeClr val="tx1"/>
                </a:solidFill>
                <a:latin typeface="+mn-lt"/>
                <a:ea typeface="+mn-ea"/>
                <a:cs typeface="+mn-cs"/>
              </a:rPr>
              <a:t> Internet security.</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relevant person to attend and:</a:t>
            </a:r>
          </a:p>
          <a:p>
            <a:pPr>
              <a:buFont typeface="Arial" pitchFamily="34" charset="0"/>
              <a:buChar char="•"/>
            </a:pPr>
            <a:r>
              <a:rPr lang="en-AU" b="0" noProof="0" dirty="0" smtClean="0"/>
              <a:t> Identify systems/equipment which is tested in venues</a:t>
            </a:r>
          </a:p>
          <a:p>
            <a:pPr>
              <a:buFont typeface="Arial" pitchFamily="34" charset="0"/>
              <a:buChar char="•"/>
            </a:pPr>
            <a:r>
              <a:rPr lang="en-AU" b="0" noProof="0" dirty="0" smtClean="0"/>
              <a:t> Describe protocols and activities for testing</a:t>
            </a:r>
          </a:p>
          <a:p>
            <a:pPr>
              <a:buFont typeface="Arial" pitchFamily="34" charset="0"/>
              <a:buChar char="•"/>
            </a:pPr>
            <a:r>
              <a:rPr lang="en-AU" b="0" noProof="0" dirty="0" smtClean="0"/>
              <a:t> Identify frequency of testing</a:t>
            </a:r>
          </a:p>
          <a:p>
            <a:pPr>
              <a:buFont typeface="Arial" pitchFamily="34" charset="0"/>
              <a:buChar char="•"/>
            </a:pPr>
            <a:r>
              <a:rPr lang="en-AU" b="0" noProof="0" dirty="0" smtClean="0"/>
              <a:t> Describe responses to malfunctions.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addresses concept of ‘testing sectors’ stating:</a:t>
            </a:r>
          </a:p>
          <a:p>
            <a:pPr>
              <a:buFont typeface="Arial" pitchFamily="34" charset="0"/>
              <a:buChar char="•"/>
            </a:pPr>
            <a:r>
              <a:rPr lang="en-AU" sz="1200" kern="1200" dirty="0" smtClean="0">
                <a:solidFill>
                  <a:schemeClr val="tx1"/>
                </a:solidFill>
                <a:latin typeface="+mn-lt"/>
                <a:ea typeface="+mn-ea"/>
                <a:cs typeface="+mn-cs"/>
              </a:rPr>
              <a:t> Testing ‘sectors’ refers to the practice of testing, checking and verifying the operation of a system in a defined location/space</a:t>
            </a:r>
          </a:p>
          <a:p>
            <a:pPr lvl="1">
              <a:buFont typeface="Arial" pitchFamily="34" charset="0"/>
              <a:buChar char="•"/>
            </a:pPr>
            <a:r>
              <a:rPr lang="en-AU" sz="1200" kern="1200" dirty="0" smtClean="0">
                <a:solidFill>
                  <a:schemeClr val="tx1"/>
                </a:solidFill>
                <a:latin typeface="+mn-lt"/>
                <a:ea typeface="+mn-ea"/>
                <a:cs typeface="+mn-cs"/>
              </a:rPr>
              <a:t> The designation of a sector will be determined by management in conjunction with security consultants and the people who install and commission the systems, may be internal of external and may relate to:</a:t>
            </a:r>
          </a:p>
          <a:p>
            <a:pPr lvl="2">
              <a:buFont typeface="Arial" pitchFamily="34" charset="0"/>
              <a:buChar char="•"/>
            </a:pPr>
            <a:r>
              <a:rPr lang="en-AU" sz="1200" kern="1200" dirty="0" smtClean="0">
                <a:solidFill>
                  <a:schemeClr val="tx1"/>
                </a:solidFill>
                <a:latin typeface="+mn-lt"/>
                <a:ea typeface="+mn-ea"/>
                <a:cs typeface="+mn-cs"/>
              </a:rPr>
              <a:t> Certain entries and exits</a:t>
            </a:r>
          </a:p>
          <a:p>
            <a:pPr lvl="2">
              <a:buFont typeface="Arial" pitchFamily="34" charset="0"/>
              <a:buChar char="•"/>
            </a:pPr>
            <a:r>
              <a:rPr lang="en-AU" sz="1200" kern="1200" dirty="0" smtClean="0">
                <a:solidFill>
                  <a:schemeClr val="tx1"/>
                </a:solidFill>
                <a:latin typeface="+mn-lt"/>
                <a:ea typeface="+mn-ea"/>
                <a:cs typeface="+mn-cs"/>
              </a:rPr>
              <a:t> Car parks</a:t>
            </a:r>
          </a:p>
          <a:p>
            <a:pPr lvl="2">
              <a:buFont typeface="Arial" pitchFamily="34" charset="0"/>
              <a:buChar char="•"/>
            </a:pPr>
            <a:r>
              <a:rPr lang="en-AU" sz="1200" kern="1200" dirty="0" smtClean="0">
                <a:solidFill>
                  <a:schemeClr val="tx1"/>
                </a:solidFill>
                <a:latin typeface="+mn-lt"/>
                <a:ea typeface="+mn-ea"/>
                <a:cs typeface="+mn-cs"/>
              </a:rPr>
              <a:t> A particular room or passageway</a:t>
            </a:r>
          </a:p>
          <a:p>
            <a:pPr lvl="2">
              <a:buFont typeface="Arial" pitchFamily="34" charset="0"/>
              <a:buChar char="•"/>
            </a:pPr>
            <a:r>
              <a:rPr lang="en-AU" sz="1200" kern="1200" dirty="0" smtClean="0">
                <a:solidFill>
                  <a:schemeClr val="tx1"/>
                </a:solidFill>
                <a:latin typeface="+mn-lt"/>
                <a:ea typeface="+mn-ea"/>
                <a:cs typeface="+mn-cs"/>
              </a:rPr>
              <a:t> A department</a:t>
            </a:r>
          </a:p>
          <a:p>
            <a:pPr lvl="2">
              <a:buFont typeface="Arial" pitchFamily="34" charset="0"/>
              <a:buChar char="•"/>
            </a:pPr>
            <a:r>
              <a:rPr lang="en-AU" sz="1200" kern="1200" dirty="0" smtClean="0">
                <a:solidFill>
                  <a:schemeClr val="tx1"/>
                </a:solidFill>
                <a:latin typeface="+mn-lt"/>
                <a:ea typeface="+mn-ea"/>
                <a:cs typeface="+mn-cs"/>
              </a:rPr>
              <a:t> A group of rooms or facilities – a general area</a:t>
            </a:r>
          </a:p>
          <a:p>
            <a:pPr lvl="2">
              <a:buFont typeface="Arial" pitchFamily="34" charset="0"/>
              <a:buChar char="•"/>
            </a:pPr>
            <a:r>
              <a:rPr lang="en-AU" sz="1200" kern="1200" dirty="0" smtClean="0">
                <a:solidFill>
                  <a:schemeClr val="tx1"/>
                </a:solidFill>
                <a:latin typeface="+mn-lt"/>
                <a:ea typeface="+mn-ea"/>
                <a:cs typeface="+mn-cs"/>
              </a:rPr>
              <a:t> A specified type of system. </a:t>
            </a:r>
          </a:p>
          <a:p>
            <a:pPr>
              <a:buFont typeface="Arial" pitchFamily="34" charset="0"/>
              <a:buChar char="•"/>
            </a:pPr>
            <a:r>
              <a:rPr lang="en-AU" sz="1200" kern="1200" dirty="0" smtClean="0">
                <a:solidFill>
                  <a:schemeClr val="tx1"/>
                </a:solidFill>
                <a:latin typeface="+mn-lt"/>
                <a:ea typeface="+mn-ea"/>
                <a:cs typeface="+mn-cs"/>
              </a:rPr>
              <a:t> Standard practice is to:</a:t>
            </a:r>
          </a:p>
          <a:p>
            <a:pPr lvl="1">
              <a:buFont typeface="Arial" pitchFamily="34" charset="0"/>
              <a:buChar char="•"/>
            </a:pPr>
            <a:r>
              <a:rPr lang="en-AU" sz="1200" kern="1200" dirty="0" smtClean="0">
                <a:solidFill>
                  <a:schemeClr val="tx1"/>
                </a:solidFill>
                <a:latin typeface="+mn-lt"/>
                <a:ea typeface="+mn-ea"/>
                <a:cs typeface="+mn-cs"/>
              </a:rPr>
              <a:t> Test/check one system at a time</a:t>
            </a:r>
          </a:p>
          <a:p>
            <a:pPr lvl="1">
              <a:buFont typeface="Arial" pitchFamily="34" charset="0"/>
              <a:buChar char="•"/>
            </a:pPr>
            <a:r>
              <a:rPr lang="en-AU" sz="1200" kern="1200" dirty="0" smtClean="0">
                <a:solidFill>
                  <a:schemeClr val="tx1"/>
                </a:solidFill>
                <a:latin typeface="+mn-lt"/>
                <a:ea typeface="+mn-ea"/>
                <a:cs typeface="+mn-cs"/>
              </a:rPr>
              <a:t> Test/check one sector at a time</a:t>
            </a:r>
          </a:p>
          <a:p>
            <a:pPr lvl="1">
              <a:buFont typeface="Arial" pitchFamily="34" charset="0"/>
              <a:buChar char="•"/>
            </a:pPr>
            <a:r>
              <a:rPr lang="en-AU" sz="1200" kern="1200" dirty="0" smtClean="0">
                <a:solidFill>
                  <a:schemeClr val="tx1"/>
                </a:solidFill>
                <a:latin typeface="+mn-lt"/>
                <a:ea typeface="+mn-ea"/>
                <a:cs typeface="+mn-cs"/>
              </a:rPr>
              <a:t> Record all testing/checking procedures and the results/outcomes.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testing </a:t>
            </a:r>
            <a:r>
              <a:rPr lang="en-AU" sz="1200" b="0" kern="1200" dirty="0" smtClean="0">
                <a:solidFill>
                  <a:schemeClr val="tx1"/>
                </a:solidFill>
                <a:latin typeface="+mn-lt"/>
                <a:ea typeface="+mn-ea"/>
                <a:cs typeface="+mn-cs"/>
              </a:rPr>
              <a:t>to assignment instructions refers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Using the tools and equipment for undertaking designated maintenance activities/jobs – including having access to and using:</a:t>
            </a:r>
          </a:p>
          <a:p>
            <a:pPr lvl="1">
              <a:buFont typeface="Arial" pitchFamily="34" charset="0"/>
              <a:buChar char="•"/>
            </a:pPr>
            <a:r>
              <a:rPr lang="en-US" sz="1200" kern="1200" dirty="0" smtClean="0">
                <a:solidFill>
                  <a:schemeClr val="tx1"/>
                </a:solidFill>
                <a:latin typeface="+mn-lt"/>
                <a:ea typeface="+mn-ea"/>
                <a:cs typeface="+mn-cs"/>
              </a:rPr>
              <a:t> Service/Repair manuals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Diagnostic information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Conducting checks/tests of sectors and systems in accordance with pre-determined schedules and testing regimes – these are the standard testing requirements for systems/technologies conducted on a regular, ongoing basis</a:t>
            </a:r>
          </a:p>
          <a:p>
            <a:pPr>
              <a:buFont typeface="Arial" pitchFamily="34" charset="0"/>
              <a:buChar char="•"/>
            </a:pPr>
            <a:r>
              <a:rPr lang="en-AU" sz="1200" kern="1200" dirty="0" smtClean="0">
                <a:solidFill>
                  <a:schemeClr val="tx1"/>
                </a:solidFill>
                <a:latin typeface="+mn-lt"/>
                <a:ea typeface="+mn-ea"/>
                <a:cs typeface="+mn-cs"/>
              </a:rPr>
              <a:t> Conducting one-off checks such as:</a:t>
            </a:r>
          </a:p>
          <a:p>
            <a:pPr lvl="1">
              <a:buFont typeface="Arial" pitchFamily="34" charset="0"/>
              <a:buChar char="•"/>
            </a:pPr>
            <a:r>
              <a:rPr lang="en-US" sz="1200" kern="1200" dirty="0" smtClean="0">
                <a:solidFill>
                  <a:schemeClr val="tx1"/>
                </a:solidFill>
                <a:latin typeface="+mn-lt"/>
                <a:ea typeface="+mn-ea"/>
                <a:cs typeface="+mn-cs"/>
              </a:rPr>
              <a:t> Directed by management – perhaps in response to a problem situation or a concern they have about the operation/coverage of the system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Deemed necessary on the basis of (for example):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 system malfunction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 breach of security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Personal observations/monitoring which indicate a potential issue/cause of concern.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Applying certain types of checking/testing such as:</a:t>
            </a:r>
          </a:p>
          <a:p>
            <a:pPr lvl="1">
              <a:buFont typeface="Arial" pitchFamily="34" charset="0"/>
              <a:buChar char="•"/>
            </a:pPr>
            <a:r>
              <a:rPr lang="en-US" sz="1200" kern="1200" dirty="0" smtClean="0">
                <a:solidFill>
                  <a:schemeClr val="tx1"/>
                </a:solidFill>
                <a:latin typeface="+mn-lt"/>
                <a:ea typeface="+mn-ea"/>
                <a:cs typeface="+mn-cs"/>
              </a:rPr>
              <a:t> Perimeter vulnerability tests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Penetration testing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PCI compliance testing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Cable testing.</a:t>
            </a:r>
            <a:endParaRPr lang="en-AU" sz="1200" kern="1200" dirty="0" smtClean="0">
              <a:solidFill>
                <a:schemeClr val="tx1"/>
              </a:solidFill>
              <a:latin typeface="+mn-lt"/>
              <a:ea typeface="+mn-ea"/>
              <a:cs typeface="+mn-cs"/>
            </a:endParaRPr>
          </a:p>
          <a:p>
            <a:pPr>
              <a:buFont typeface="Arial" pitchFamily="34" charset="0"/>
              <a:buNone/>
            </a:pPr>
            <a:r>
              <a:rPr lang="en-AU" sz="1200" b="0" kern="1200" dirty="0" smtClean="0">
                <a:solidFill>
                  <a:schemeClr val="tx1"/>
                </a:solidFill>
                <a:latin typeface="+mn-lt"/>
                <a:ea typeface="+mn-ea"/>
                <a:cs typeface="+mn-cs"/>
              </a:rPr>
              <a:t>The use of ‘assignment instructions’ demonstrates staff do not have the authority to simply interfere with security systems: you can only take action: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 response to an alarm – for the purpose of diagnosis/investigation</a:t>
            </a:r>
          </a:p>
          <a:p>
            <a:pPr>
              <a:buFont typeface="Arial" pitchFamily="34" charset="0"/>
              <a:buChar char="•"/>
            </a:pPr>
            <a:r>
              <a:rPr lang="en-AU" sz="1200" kern="1200" dirty="0" smtClean="0">
                <a:solidFill>
                  <a:schemeClr val="tx1"/>
                </a:solidFill>
                <a:latin typeface="+mn-lt"/>
                <a:ea typeface="+mn-ea"/>
                <a:cs typeface="+mn-cs"/>
              </a:rPr>
              <a:t> As part of standard testing and maintenance</a:t>
            </a:r>
          </a:p>
          <a:p>
            <a:pPr>
              <a:buFont typeface="Arial" pitchFamily="34" charset="0"/>
              <a:buChar char="•"/>
            </a:pPr>
            <a:r>
              <a:rPr lang="en-AU" sz="1200" kern="1200" dirty="0" smtClean="0">
                <a:solidFill>
                  <a:schemeClr val="tx1"/>
                </a:solidFill>
                <a:latin typeface="+mn-lt"/>
                <a:ea typeface="+mn-ea"/>
                <a:cs typeface="+mn-cs"/>
              </a:rPr>
              <a:t> For approved monitoring activities.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activities involved in testing alarms:</a:t>
            </a:r>
          </a:p>
          <a:p>
            <a:pPr>
              <a:buFont typeface="Arial" pitchFamily="34" charset="0"/>
              <a:buChar char="•"/>
            </a:pPr>
            <a:r>
              <a:rPr lang="en-AU" sz="1200" kern="1200" dirty="0" smtClean="0">
                <a:solidFill>
                  <a:schemeClr val="tx1"/>
                </a:solidFill>
                <a:latin typeface="+mn-lt"/>
                <a:ea typeface="+mn-ea"/>
                <a:cs typeface="+mn-cs"/>
              </a:rPr>
              <a:t> Must comply with:</a:t>
            </a:r>
          </a:p>
          <a:p>
            <a:pPr lvl="1">
              <a:buFont typeface="Arial" pitchFamily="34" charset="0"/>
              <a:buChar char="•"/>
            </a:pPr>
            <a:r>
              <a:rPr lang="en-AU" sz="1200" kern="1200" dirty="0" smtClean="0">
                <a:solidFill>
                  <a:schemeClr val="tx1"/>
                </a:solidFill>
                <a:latin typeface="+mn-lt"/>
                <a:ea typeface="+mn-ea"/>
                <a:cs typeface="+mn-cs"/>
              </a:rPr>
              <a:t> Local legislation</a:t>
            </a:r>
          </a:p>
          <a:p>
            <a:pPr lvl="1">
              <a:buFont typeface="Arial" pitchFamily="34" charset="0"/>
              <a:buChar char="•"/>
            </a:pPr>
            <a:r>
              <a:rPr lang="en-AU" sz="1200" kern="1200" dirty="0" smtClean="0">
                <a:solidFill>
                  <a:schemeClr val="tx1"/>
                </a:solidFill>
                <a:latin typeface="+mn-lt"/>
                <a:ea typeface="+mn-ea"/>
                <a:cs typeface="+mn-cs"/>
              </a:rPr>
              <a:t> Local COPs</a:t>
            </a:r>
          </a:p>
          <a:p>
            <a:pPr lvl="1">
              <a:buFont typeface="Arial" pitchFamily="34" charset="0"/>
              <a:buChar char="•"/>
            </a:pPr>
            <a:r>
              <a:rPr lang="en-AU" sz="1200" kern="1200" dirty="0" smtClean="0">
                <a:solidFill>
                  <a:schemeClr val="tx1"/>
                </a:solidFill>
                <a:latin typeface="+mn-lt"/>
                <a:ea typeface="+mn-ea"/>
                <a:cs typeface="+mn-cs"/>
              </a:rPr>
              <a:t> Manufacturer’s instructions.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presents and explains local requirements regarding testing of security equipment.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testing is a mix of:</a:t>
            </a:r>
          </a:p>
          <a:p>
            <a:pPr>
              <a:buFont typeface="Arial" pitchFamily="34" charset="0"/>
              <a:buChar char="•"/>
            </a:pPr>
            <a:r>
              <a:rPr lang="en-AU" noProof="0" dirty="0" smtClean="0"/>
              <a:t> Inspections – looking at:</a:t>
            </a:r>
          </a:p>
          <a:p>
            <a:pPr lvl="1">
              <a:buFont typeface="Arial" pitchFamily="34" charset="0"/>
              <a:buChar char="•"/>
            </a:pPr>
            <a:r>
              <a:rPr lang="en-AU" sz="1200" kern="1200" dirty="0" smtClean="0">
                <a:solidFill>
                  <a:schemeClr val="tx1"/>
                </a:solidFill>
                <a:latin typeface="+mn-lt"/>
                <a:ea typeface="+mn-ea"/>
                <a:cs typeface="+mn-cs"/>
              </a:rPr>
              <a:t> Fire extinguishers are actually located where they are supposed to be – and have not been moved, stolen or disconnected</a:t>
            </a:r>
          </a:p>
          <a:p>
            <a:pPr lvl="1">
              <a:buFont typeface="Arial" pitchFamily="34" charset="0"/>
              <a:buChar char="•"/>
            </a:pPr>
            <a:r>
              <a:rPr lang="en-AU" sz="1200" kern="1200" dirty="0" smtClean="0">
                <a:solidFill>
                  <a:schemeClr val="tx1"/>
                </a:solidFill>
                <a:latin typeface="+mn-lt"/>
                <a:ea typeface="+mn-ea"/>
                <a:cs typeface="+mn-cs"/>
              </a:rPr>
              <a:t> Extinguishers have been services according to their service schedule</a:t>
            </a:r>
          </a:p>
          <a:p>
            <a:pPr lvl="1">
              <a:buFont typeface="Arial" pitchFamily="34" charset="0"/>
              <a:buChar char="•"/>
            </a:pPr>
            <a:r>
              <a:rPr lang="en-AU" sz="1200" kern="1200" dirty="0" smtClean="0">
                <a:solidFill>
                  <a:schemeClr val="tx1"/>
                </a:solidFill>
                <a:latin typeface="+mn-lt"/>
                <a:ea typeface="+mn-ea"/>
                <a:cs typeface="+mn-cs"/>
              </a:rPr>
              <a:t> Smoke detectors have not been painted over as part of a refurbishment of the property</a:t>
            </a:r>
          </a:p>
          <a:p>
            <a:pPr lvl="1">
              <a:buFont typeface="Arial" pitchFamily="34" charset="0"/>
              <a:buChar char="•"/>
            </a:pPr>
            <a:r>
              <a:rPr lang="en-AU" sz="1200" kern="1200" dirty="0" smtClean="0">
                <a:solidFill>
                  <a:schemeClr val="tx1"/>
                </a:solidFill>
                <a:latin typeface="+mn-lt"/>
                <a:ea typeface="+mn-ea"/>
                <a:cs typeface="+mn-cs"/>
              </a:rPr>
              <a:t> Nozzles of fire hoses are still in place and have not been stolen</a:t>
            </a:r>
          </a:p>
          <a:p>
            <a:pPr lvl="1">
              <a:buFont typeface="Arial" pitchFamily="34" charset="0"/>
              <a:buChar char="•"/>
            </a:pPr>
            <a:r>
              <a:rPr lang="en-AU" sz="1200" kern="1200" dirty="0" smtClean="0">
                <a:solidFill>
                  <a:schemeClr val="tx1"/>
                </a:solidFill>
                <a:latin typeface="+mn-lt"/>
                <a:ea typeface="+mn-ea"/>
                <a:cs typeface="+mn-cs"/>
              </a:rPr>
              <a:t> Security mirrors are still correctly positioned/angled – and allow operators to view hidden areas</a:t>
            </a:r>
          </a:p>
          <a:p>
            <a:pPr lvl="1">
              <a:buFont typeface="Arial" pitchFamily="34" charset="0"/>
              <a:buChar char="•"/>
            </a:pPr>
            <a:r>
              <a:rPr lang="en-AU" sz="1200" kern="1200" dirty="0" smtClean="0">
                <a:solidFill>
                  <a:schemeClr val="tx1"/>
                </a:solidFill>
                <a:latin typeface="+mn-lt"/>
                <a:ea typeface="+mn-ea"/>
                <a:cs typeface="+mn-cs"/>
              </a:rPr>
              <a:t> Cleanliness of lenses on cameras and domes</a:t>
            </a:r>
          </a:p>
          <a:p>
            <a:pPr lvl="1">
              <a:buFont typeface="Arial" pitchFamily="34" charset="0"/>
              <a:buChar char="•"/>
            </a:pPr>
            <a:r>
              <a:rPr lang="en-AU" sz="1200" kern="1200" dirty="0" smtClean="0">
                <a:solidFill>
                  <a:schemeClr val="tx1"/>
                </a:solidFill>
                <a:latin typeface="+mn-lt"/>
                <a:ea typeface="+mn-ea"/>
                <a:cs typeface="+mn-cs"/>
              </a:rPr>
              <a:t> Components showing signs of leaks, looseness, corrosion, damage, interference or anything out of the ordinary.</a:t>
            </a:r>
          </a:p>
          <a:p>
            <a:pPr>
              <a:buFont typeface="Arial" pitchFamily="34" charset="0"/>
              <a:buChar char="•"/>
            </a:pPr>
            <a:r>
              <a:rPr lang="en-AU" noProof="0" dirty="0" smtClean="0"/>
              <a:t> Active testing – must address:</a:t>
            </a:r>
          </a:p>
          <a:p>
            <a:pPr lvl="1">
              <a:buFont typeface="Arial" pitchFamily="34" charset="0"/>
              <a:buChar char="•"/>
            </a:pPr>
            <a:r>
              <a:rPr lang="en-AU" sz="1200" kern="1200" dirty="0" smtClean="0">
                <a:solidFill>
                  <a:schemeClr val="tx1"/>
                </a:solidFill>
                <a:latin typeface="+mn-lt"/>
                <a:ea typeface="+mn-ea"/>
                <a:cs typeface="+mn-cs"/>
              </a:rPr>
              <a:t> Actual response and sensitivity of smoke and heat detectors – using (for example) commercial aerosol products</a:t>
            </a:r>
          </a:p>
          <a:p>
            <a:pPr lvl="1">
              <a:buFont typeface="Arial" pitchFamily="34" charset="0"/>
              <a:buChar char="•"/>
            </a:pPr>
            <a:r>
              <a:rPr lang="en-AU" sz="1200" kern="1200" dirty="0" smtClean="0">
                <a:solidFill>
                  <a:schemeClr val="tx1"/>
                </a:solidFill>
                <a:latin typeface="+mn-lt"/>
                <a:ea typeface="+mn-ea"/>
                <a:cs typeface="+mn-cs"/>
              </a:rPr>
              <a:t> Tilt, pan and zoom facilities of relevant cameras</a:t>
            </a:r>
          </a:p>
          <a:p>
            <a:pPr lvl="1">
              <a:buFont typeface="Arial" pitchFamily="34" charset="0"/>
              <a:buChar char="•"/>
            </a:pPr>
            <a:r>
              <a:rPr lang="en-AU" sz="1200" kern="1200" dirty="0" smtClean="0">
                <a:solidFill>
                  <a:schemeClr val="tx1"/>
                </a:solidFill>
                <a:latin typeface="+mn-lt"/>
                <a:ea typeface="+mn-ea"/>
                <a:cs typeface="+mn-cs"/>
              </a:rPr>
              <a:t> Freedom from physical impediment in line-of-sight cameras</a:t>
            </a:r>
          </a:p>
          <a:p>
            <a:pPr lvl="1">
              <a:buFont typeface="Arial" pitchFamily="34" charset="0"/>
              <a:buChar char="•"/>
            </a:pPr>
            <a:r>
              <a:rPr lang="en-AU" sz="1200" kern="1200" dirty="0" smtClean="0">
                <a:solidFill>
                  <a:schemeClr val="tx1"/>
                </a:solidFill>
                <a:latin typeface="+mn-lt"/>
                <a:ea typeface="+mn-ea"/>
                <a:cs typeface="+mn-cs"/>
              </a:rPr>
              <a:t> Quality of pictures from CCTV cameras</a:t>
            </a:r>
          </a:p>
          <a:p>
            <a:pPr lvl="1">
              <a:buFont typeface="Arial" pitchFamily="34" charset="0"/>
              <a:buChar char="•"/>
            </a:pPr>
            <a:r>
              <a:rPr lang="en-AU" sz="1200" kern="1200" dirty="0" smtClean="0">
                <a:solidFill>
                  <a:schemeClr val="tx1"/>
                </a:solidFill>
                <a:latin typeface="+mn-lt"/>
                <a:ea typeface="+mn-ea"/>
                <a:cs typeface="+mn-cs"/>
              </a:rPr>
              <a:t> Recording quality and capacity of CCTV</a:t>
            </a:r>
          </a:p>
          <a:p>
            <a:pPr lvl="1">
              <a:buFont typeface="Arial" pitchFamily="34" charset="0"/>
              <a:buChar char="•"/>
            </a:pPr>
            <a:r>
              <a:rPr lang="en-AU" sz="1200" kern="1200" dirty="0" smtClean="0">
                <a:solidFill>
                  <a:schemeClr val="tx1"/>
                </a:solidFill>
                <a:latin typeface="+mn-lt"/>
                <a:ea typeface="+mn-ea"/>
                <a:cs typeface="+mn-cs"/>
              </a:rPr>
              <a:t> Flow rates of hydrants and hoses</a:t>
            </a:r>
          </a:p>
          <a:p>
            <a:pPr lvl="1">
              <a:buFont typeface="Arial" pitchFamily="34" charset="0"/>
              <a:buChar char="•"/>
            </a:pPr>
            <a:r>
              <a:rPr lang="en-AU" sz="1200" kern="1200" dirty="0" smtClean="0">
                <a:solidFill>
                  <a:schemeClr val="tx1"/>
                </a:solidFill>
                <a:latin typeface="+mn-lt"/>
                <a:ea typeface="+mn-ea"/>
                <a:cs typeface="+mn-cs"/>
              </a:rPr>
              <a:t> Scanners using a sample ‘test scan’ package or item</a:t>
            </a:r>
          </a:p>
          <a:p>
            <a:pPr lvl="1">
              <a:buFont typeface="Arial" pitchFamily="34" charset="0"/>
              <a:buChar char="•"/>
            </a:pPr>
            <a:r>
              <a:rPr lang="en-AU" sz="1200" kern="1200" dirty="0" smtClean="0">
                <a:solidFill>
                  <a:schemeClr val="tx1"/>
                </a:solidFill>
                <a:latin typeface="+mn-lt"/>
                <a:ea typeface="+mn-ea"/>
                <a:cs typeface="+mn-cs"/>
              </a:rPr>
              <a:t> Lesser used elements and functions of systems – these items are not frequently used and may fall into disrepair: it is important they are tested to ensure operational effectiveness because many of these components (while only used infrequently) are extremely important when they are needed</a:t>
            </a:r>
          </a:p>
          <a:p>
            <a:pPr lvl="1">
              <a:buFont typeface="Arial" pitchFamily="34" charset="0"/>
              <a:buChar char="•"/>
            </a:pPr>
            <a:r>
              <a:rPr lang="en-AU" sz="1200" kern="1200" dirty="0" smtClean="0">
                <a:solidFill>
                  <a:schemeClr val="tx1"/>
                </a:solidFill>
                <a:latin typeface="+mn-lt"/>
                <a:ea typeface="+mn-ea"/>
                <a:cs typeface="+mn-cs"/>
              </a:rPr>
              <a:t> Locks – all types, all fixtures and fittings</a:t>
            </a:r>
          </a:p>
          <a:p>
            <a:pPr lvl="1">
              <a:buFont typeface="Arial" pitchFamily="34" charset="0"/>
              <a:buChar char="•"/>
            </a:pPr>
            <a:r>
              <a:rPr lang="en-AU" sz="1200" kern="1200" dirty="0" smtClean="0">
                <a:solidFill>
                  <a:schemeClr val="tx1"/>
                </a:solidFill>
                <a:latin typeface="+mn-lt"/>
                <a:ea typeface="+mn-ea"/>
                <a:cs typeface="+mn-cs"/>
              </a:rPr>
              <a:t> All audible alarms – this should be done ‘remotely’ and ‘locally’.</a:t>
            </a:r>
          </a:p>
          <a:p>
            <a:pPr lvl="2">
              <a:buFont typeface="Arial" pitchFamily="34" charset="0"/>
              <a:buChar char="•"/>
            </a:pPr>
            <a:r>
              <a:rPr lang="en-AU" sz="1200" kern="1200" dirty="0" smtClean="0">
                <a:solidFill>
                  <a:schemeClr val="tx1"/>
                </a:solidFill>
                <a:latin typeface="+mn-lt"/>
                <a:ea typeface="+mn-ea"/>
                <a:cs typeface="+mn-cs"/>
              </a:rPr>
              <a:t> Remotely refers to initiating an alarm at the control panel and verifying the required indicator is showing.</a:t>
            </a:r>
          </a:p>
          <a:p>
            <a:pPr lvl="2">
              <a:buFont typeface="Arial" pitchFamily="34" charset="0"/>
              <a:buChar char="•"/>
            </a:pPr>
            <a:r>
              <a:rPr lang="en-AU" sz="1200" kern="1200" dirty="0" smtClean="0">
                <a:solidFill>
                  <a:schemeClr val="tx1"/>
                </a:solidFill>
                <a:latin typeface="+mn-lt"/>
                <a:ea typeface="+mn-ea"/>
                <a:cs typeface="+mn-cs"/>
              </a:rPr>
              <a:t> Locally refers activating the alarm at the point where the initiating device is located (by, for example, opening an alarmed door to verify the alarm sounds) and verifying:</a:t>
            </a:r>
          </a:p>
          <a:p>
            <a:pPr lvl="3">
              <a:buFont typeface="Arial" pitchFamily="34" charset="0"/>
              <a:buChar char="•"/>
            </a:pPr>
            <a:r>
              <a:rPr lang="en-US" sz="1200" kern="1200" dirty="0" smtClean="0">
                <a:solidFill>
                  <a:schemeClr val="tx1"/>
                </a:solidFill>
                <a:latin typeface="+mn-lt"/>
                <a:ea typeface="+mn-ea"/>
                <a:cs typeface="+mn-cs"/>
              </a:rPr>
              <a:t> The alarm has sounded at the door</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The control panel is indicating the alarm has been activated.</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Operation of all shut-off valves – for gas, water and electricity</a:t>
            </a:r>
          </a:p>
          <a:p>
            <a:pPr lvl="1">
              <a:buFont typeface="Arial" pitchFamily="34" charset="0"/>
              <a:buChar char="•"/>
            </a:pPr>
            <a:r>
              <a:rPr lang="en-AU" sz="1200" kern="1200" dirty="0" smtClean="0">
                <a:solidFill>
                  <a:schemeClr val="tx1"/>
                </a:solidFill>
                <a:latin typeface="+mn-lt"/>
                <a:ea typeface="+mn-ea"/>
                <a:cs typeface="+mn-cs"/>
              </a:rPr>
              <a:t> All visual alarms – by physically observing they are working as required and not just assuming they are working because an indicator light in the control room says they are.</a:t>
            </a:r>
          </a:p>
          <a:p>
            <a:pPr lvl="1">
              <a:buFont typeface="Arial" pitchFamily="34" charset="0"/>
              <a:buChar char="•"/>
            </a:pPr>
            <a:r>
              <a:rPr lang="en-AU" sz="1200" kern="1200" dirty="0" smtClean="0">
                <a:solidFill>
                  <a:schemeClr val="tx1"/>
                </a:solidFill>
                <a:latin typeface="+mn-lt"/>
                <a:ea typeface="+mn-ea"/>
                <a:cs typeface="+mn-cs"/>
              </a:rPr>
              <a:t> All levels of alarms – for example alarms may have different sequences (or tones) to indicate various levels of alert.</a:t>
            </a:r>
          </a:p>
          <a:p>
            <a:pPr>
              <a:buFont typeface="Arial" pitchFamily="34" charset="0"/>
              <a:buNone/>
            </a:pPr>
            <a:endParaRPr lang="en-AU" noProof="0" dirty="0" smtClean="0"/>
          </a:p>
          <a:p>
            <a:pPr>
              <a:buFont typeface="Arial" pitchFamily="34" charset="0"/>
              <a:buNone/>
            </a:pPr>
            <a:r>
              <a:rPr lang="en-AU" b="1" noProof="0" dirty="0" smtClean="0"/>
              <a:t>Class activity – Excursion</a:t>
            </a:r>
          </a:p>
          <a:p>
            <a:pPr>
              <a:buFont typeface="Arial" pitchFamily="34" charset="0"/>
              <a:buNone/>
            </a:pPr>
            <a:r>
              <a:rPr lang="en-AU" b="0" noProof="0" dirty="0" smtClean="0"/>
              <a:t>Trainer arranges visit to a venue so students can:</a:t>
            </a:r>
          </a:p>
          <a:p>
            <a:pPr>
              <a:buFont typeface="Arial" pitchFamily="34" charset="0"/>
              <a:buChar char="•"/>
            </a:pPr>
            <a:r>
              <a:rPr lang="en-AU" b="0" noProof="0" dirty="0" smtClean="0"/>
              <a:t> Observe and talk to security staff</a:t>
            </a:r>
          </a:p>
          <a:p>
            <a:pPr>
              <a:buFont typeface="Arial" pitchFamily="34" charset="0"/>
              <a:buChar char="•"/>
            </a:pPr>
            <a:r>
              <a:rPr lang="en-AU" b="0" noProof="0" dirty="0" smtClean="0"/>
              <a:t> </a:t>
            </a:r>
            <a:r>
              <a:rPr lang="en-AU" noProof="0" dirty="0" smtClean="0"/>
              <a:t>View security facilities and operations</a:t>
            </a:r>
          </a:p>
          <a:p>
            <a:pPr>
              <a:buFont typeface="Arial" pitchFamily="34" charset="0"/>
              <a:buChar char="•"/>
            </a:pPr>
            <a:r>
              <a:rPr lang="en-AU" noProof="0" dirty="0" smtClean="0"/>
              <a:t> Observe security system checks, tests and inspections.</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the following are SOP when undertaking testing of systems:</a:t>
            </a:r>
          </a:p>
          <a:p>
            <a:pPr>
              <a:buFont typeface="Arial" pitchFamily="34" charset="0"/>
              <a:buChar char="•"/>
            </a:pPr>
            <a:r>
              <a:rPr lang="en-AU" sz="1200" kern="1200" dirty="0" smtClean="0">
                <a:solidFill>
                  <a:schemeClr val="tx1"/>
                </a:solidFill>
                <a:latin typeface="+mn-lt"/>
                <a:ea typeface="+mn-ea"/>
                <a:cs typeface="+mn-cs"/>
              </a:rPr>
              <a:t> Certified and accredited testers must be used – where specified by law or manufacturer’s instructions</a:t>
            </a:r>
          </a:p>
          <a:p>
            <a:pPr>
              <a:buFont typeface="Arial" pitchFamily="34" charset="0"/>
              <a:buChar char="•"/>
            </a:pPr>
            <a:r>
              <a:rPr lang="en-AU" sz="1200" kern="1200" dirty="0" smtClean="0">
                <a:solidFill>
                  <a:schemeClr val="tx1"/>
                </a:solidFill>
                <a:latin typeface="+mn-lt"/>
                <a:ea typeface="+mn-ea"/>
                <a:cs typeface="+mn-cs"/>
              </a:rPr>
              <a:t> Notify the authorities (police and fire) you are conducting a test (or a drill) – to avoid an emergency response when there is no need</a:t>
            </a:r>
          </a:p>
          <a:p>
            <a:pPr>
              <a:buFont typeface="Arial" pitchFamily="34" charset="0"/>
              <a:buChar char="•"/>
            </a:pPr>
            <a:r>
              <a:rPr lang="en-AU" sz="1200" kern="1200" dirty="0" smtClean="0">
                <a:solidFill>
                  <a:schemeClr val="tx1"/>
                </a:solidFill>
                <a:latin typeface="+mn-lt"/>
                <a:ea typeface="+mn-ea"/>
                <a:cs typeface="+mn-cs"/>
              </a:rPr>
              <a:t> Notify any remote monitoring sites you are conducting a test</a:t>
            </a:r>
          </a:p>
          <a:p>
            <a:pPr>
              <a:buFont typeface="Arial" pitchFamily="34" charset="0"/>
              <a:buChar char="•"/>
            </a:pPr>
            <a:r>
              <a:rPr lang="en-AU" sz="1200" kern="1200" dirty="0" smtClean="0">
                <a:solidFill>
                  <a:schemeClr val="tx1"/>
                </a:solidFill>
                <a:latin typeface="+mn-lt"/>
                <a:ea typeface="+mn-ea"/>
                <a:cs typeface="+mn-cs"/>
              </a:rPr>
              <a:t> Advise patrons in advance of any test which requires an audible or visual signal – to prevent worry and avoid panic</a:t>
            </a:r>
          </a:p>
          <a:p>
            <a:pPr>
              <a:buFont typeface="Arial" pitchFamily="34" charset="0"/>
              <a:buChar char="•"/>
            </a:pPr>
            <a:r>
              <a:rPr lang="en-AU" sz="1200" kern="1200" dirty="0" smtClean="0">
                <a:solidFill>
                  <a:schemeClr val="tx1"/>
                </a:solidFill>
                <a:latin typeface="+mn-lt"/>
                <a:ea typeface="+mn-ea"/>
                <a:cs typeface="+mn-cs"/>
              </a:rPr>
              <a:t> Conduct tests in accordance with specifications for each system as required by the manufacturer, supplier and/or installer. In practice this means tests of different types are usually conducted:</a:t>
            </a:r>
          </a:p>
          <a:p>
            <a:pPr lvl="1">
              <a:buFont typeface="Arial" pitchFamily="34" charset="0"/>
              <a:buChar char="•"/>
            </a:pPr>
            <a:r>
              <a:rPr lang="en-US" sz="1200" kern="1200" dirty="0" smtClean="0">
                <a:solidFill>
                  <a:schemeClr val="tx1"/>
                </a:solidFill>
                <a:latin typeface="+mn-lt"/>
                <a:ea typeface="+mn-ea"/>
                <a:cs typeface="+mn-cs"/>
              </a:rPr>
              <a:t> Quarterly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Half-yearly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Annually.</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De-brief of Excursion</a:t>
            </a:r>
          </a:p>
          <a:p>
            <a:pPr>
              <a:buFont typeface="Arial" pitchFamily="34" charset="0"/>
              <a:buNone/>
            </a:pPr>
            <a:r>
              <a:rPr lang="en-AU" b="0" noProof="0" dirty="0" smtClean="0"/>
              <a:t>Trainer conducts a de-brief of the excursion listed in the previous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examples of SOPs when testing is conducted:</a:t>
            </a:r>
          </a:p>
          <a:p>
            <a:pPr>
              <a:buFont typeface="Arial" pitchFamily="34" charset="0"/>
              <a:buChar char="•"/>
            </a:pPr>
            <a:r>
              <a:rPr lang="en-AU" sz="1200" kern="1200" dirty="0" smtClean="0">
                <a:solidFill>
                  <a:schemeClr val="tx1"/>
                </a:solidFill>
                <a:latin typeface="+mn-lt"/>
                <a:ea typeface="+mn-ea"/>
                <a:cs typeface="+mn-cs"/>
              </a:rPr>
              <a:t> Advise and involve external security support companies where faults or discrepancies are identified as a result of the testing procedures</a:t>
            </a:r>
          </a:p>
          <a:p>
            <a:pPr>
              <a:buFont typeface="Arial" pitchFamily="34" charset="0"/>
              <a:buChar char="•"/>
            </a:pPr>
            <a:r>
              <a:rPr lang="en-AU" sz="1200" kern="1200" dirty="0" smtClean="0">
                <a:solidFill>
                  <a:schemeClr val="tx1"/>
                </a:solidFill>
                <a:latin typeface="+mn-lt"/>
                <a:ea typeface="+mn-ea"/>
                <a:cs typeface="+mn-cs"/>
              </a:rPr>
              <a:t> All problems must be investigated and remedied</a:t>
            </a:r>
          </a:p>
          <a:p>
            <a:pPr>
              <a:buFont typeface="Arial" pitchFamily="34" charset="0"/>
              <a:buChar char="•"/>
            </a:pPr>
            <a:r>
              <a:rPr lang="en-AU" sz="1200" kern="1200" dirty="0" smtClean="0">
                <a:solidFill>
                  <a:schemeClr val="tx1"/>
                </a:solidFill>
                <a:latin typeface="+mn-lt"/>
                <a:ea typeface="+mn-ea"/>
                <a:cs typeface="+mn-cs"/>
              </a:rPr>
              <a:t> Ensure any maintenance requirements identified as part of the testing program are addressed – by internal service or through using external service providers</a:t>
            </a:r>
          </a:p>
          <a:p>
            <a:pPr>
              <a:buFont typeface="Arial" pitchFamily="34" charset="0"/>
              <a:buChar char="•"/>
            </a:pPr>
            <a:r>
              <a:rPr lang="en-AU" sz="1200" kern="1200" dirty="0" smtClean="0">
                <a:solidFill>
                  <a:schemeClr val="tx1"/>
                </a:solidFill>
                <a:latin typeface="+mn-lt"/>
                <a:ea typeface="+mn-ea"/>
                <a:cs typeface="+mn-cs"/>
              </a:rPr>
              <a:t> Testing activities MUST be recorded – detailing:</a:t>
            </a:r>
          </a:p>
          <a:p>
            <a:pPr lvl="1">
              <a:buFont typeface="Arial" pitchFamily="34" charset="0"/>
              <a:buChar char="•"/>
            </a:pPr>
            <a:r>
              <a:rPr lang="en-US" sz="1200" kern="1200" dirty="0" smtClean="0">
                <a:solidFill>
                  <a:schemeClr val="tx1"/>
                </a:solidFill>
                <a:latin typeface="+mn-lt"/>
                <a:ea typeface="+mn-ea"/>
                <a:cs typeface="+mn-cs"/>
              </a:rPr>
              <a:t> Date/s and time/s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Items/systems tested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Nature of tests conducted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Results/outcomes of tests – including (as appropriate) hard copy data from the system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Names of those who conducted tests. </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leads a discussion on maintaining security equipment and resources by asking students questions such as:</a:t>
            </a:r>
          </a:p>
          <a:p>
            <a:pPr>
              <a:buFont typeface="Arial" pitchFamily="34" charset="0"/>
              <a:buChar char="•"/>
            </a:pPr>
            <a:r>
              <a:rPr lang="en-US" b="0" dirty="0" smtClean="0"/>
              <a:t> What problems/issues may arise</a:t>
            </a:r>
            <a:r>
              <a:rPr lang="en-US" b="0" baseline="0" dirty="0" smtClean="0"/>
              <a:t> with security equipment and items?</a:t>
            </a:r>
          </a:p>
          <a:p>
            <a:pPr>
              <a:buFont typeface="Arial" pitchFamily="34" charset="0"/>
              <a:buChar char="•"/>
            </a:pPr>
            <a:r>
              <a:rPr lang="en-US" b="0" baseline="0" dirty="0" smtClean="0"/>
              <a:t> What do you think is involved in cleaning security equipment?</a:t>
            </a:r>
          </a:p>
          <a:p>
            <a:pPr>
              <a:buFont typeface="Arial" pitchFamily="34" charset="0"/>
              <a:buChar char="•"/>
            </a:pPr>
            <a:r>
              <a:rPr lang="en-US" b="0" baseline="0" dirty="0" smtClean="0"/>
              <a:t> What items have to be cleaned?</a:t>
            </a:r>
          </a:p>
          <a:p>
            <a:pPr>
              <a:buFont typeface="Arial" pitchFamily="34" charset="0"/>
              <a:buChar char="•"/>
            </a:pPr>
            <a:r>
              <a:rPr lang="en-US" b="0" baseline="0" dirty="0" smtClean="0"/>
              <a:t> Why is cleaning them important?</a:t>
            </a:r>
          </a:p>
          <a:p>
            <a:pPr>
              <a:buFont typeface="Arial" pitchFamily="34" charset="0"/>
              <a:buChar char="•"/>
            </a:pPr>
            <a:r>
              <a:rPr lang="en-US" b="0" baseline="0" dirty="0" smtClean="0"/>
              <a:t> What paperwork do you think needs to be competed relating to security?</a:t>
            </a:r>
          </a:p>
          <a:p>
            <a:pPr>
              <a:buFont typeface="Arial" pitchFamily="34" charset="0"/>
              <a:buChar char="•"/>
            </a:pPr>
            <a:r>
              <a:rPr lang="en-US" b="0" baseline="0" dirty="0" smtClean="0"/>
              <a:t> Why and when does it need to be completed?</a:t>
            </a:r>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students given </a:t>
            </a:r>
            <a:r>
              <a:rPr lang="en-AU" sz="1200" kern="1200" dirty="0" smtClean="0">
                <a:solidFill>
                  <a:schemeClr val="tx1"/>
                </a:solidFill>
                <a:latin typeface="+mn-lt"/>
                <a:ea typeface="+mn-ea"/>
                <a:cs typeface="+mn-cs"/>
              </a:rPr>
              <a:t>the essential roles performed by security equipment it is crucial to return all items to operational condition when damage or a malfunction is identified highlighting this is important for the following reasons:</a:t>
            </a:r>
          </a:p>
          <a:p>
            <a:pPr>
              <a:buFont typeface="Arial" pitchFamily="34" charset="0"/>
              <a:buChar char="•"/>
            </a:pPr>
            <a:r>
              <a:rPr lang="en-AU" sz="1200" kern="1200" dirty="0" smtClean="0">
                <a:solidFill>
                  <a:schemeClr val="tx1"/>
                </a:solidFill>
                <a:latin typeface="+mn-lt"/>
                <a:ea typeface="+mn-ea"/>
                <a:cs typeface="+mn-cs"/>
              </a:rPr>
              <a:t> To optimize/maintain security coverage as intended for the venue</a:t>
            </a:r>
          </a:p>
          <a:p>
            <a:pPr>
              <a:buFont typeface="Arial" pitchFamily="34" charset="0"/>
              <a:buChar char="•"/>
            </a:pPr>
            <a:r>
              <a:rPr lang="en-AU" sz="1200" kern="1200" dirty="0" smtClean="0">
                <a:solidFill>
                  <a:schemeClr val="tx1"/>
                </a:solidFill>
                <a:latin typeface="+mn-lt"/>
                <a:ea typeface="+mn-ea"/>
                <a:cs typeface="+mn-cs"/>
              </a:rPr>
              <a:t> To maintain trust and confidence of guests/patrons</a:t>
            </a:r>
          </a:p>
          <a:p>
            <a:pPr>
              <a:buFont typeface="Arial" pitchFamily="34" charset="0"/>
              <a:buChar char="•"/>
            </a:pPr>
            <a:r>
              <a:rPr lang="en-AU" sz="1200" kern="1200" dirty="0" smtClean="0">
                <a:solidFill>
                  <a:schemeClr val="tx1"/>
                </a:solidFill>
                <a:latin typeface="+mn-lt"/>
                <a:ea typeface="+mn-ea"/>
                <a:cs typeface="+mn-cs"/>
              </a:rPr>
              <a:t> To give staff a sense of well-being and security</a:t>
            </a:r>
          </a:p>
          <a:p>
            <a:pPr>
              <a:buFont typeface="Arial" pitchFamily="34" charset="0"/>
              <a:buChar char="•"/>
            </a:pPr>
            <a:r>
              <a:rPr lang="en-AU" sz="1200" kern="1200" dirty="0" smtClean="0">
                <a:solidFill>
                  <a:schemeClr val="tx1"/>
                </a:solidFill>
                <a:latin typeface="+mn-lt"/>
                <a:ea typeface="+mn-ea"/>
                <a:cs typeface="+mn-cs"/>
              </a:rPr>
              <a:t> To discharge Duty of Care obligations</a:t>
            </a:r>
          </a:p>
          <a:p>
            <a:pPr>
              <a:buFont typeface="Arial" pitchFamily="34" charset="0"/>
              <a:buChar char="•"/>
            </a:pPr>
            <a:r>
              <a:rPr lang="en-AU" sz="1200" kern="1200" dirty="0" smtClean="0">
                <a:solidFill>
                  <a:schemeClr val="tx1"/>
                </a:solidFill>
                <a:latin typeface="+mn-lt"/>
                <a:ea typeface="+mn-ea"/>
                <a:cs typeface="+mn-cs"/>
              </a:rPr>
              <a:t> To deliver on promises made about a safe and secure environment</a:t>
            </a:r>
          </a:p>
          <a:p>
            <a:pPr>
              <a:buFont typeface="Arial" pitchFamily="34" charset="0"/>
              <a:buChar char="•"/>
            </a:pPr>
            <a:r>
              <a:rPr lang="en-AU" sz="1200" kern="1200" dirty="0" smtClean="0">
                <a:solidFill>
                  <a:schemeClr val="tx1"/>
                </a:solidFill>
                <a:latin typeface="+mn-lt"/>
                <a:ea typeface="+mn-ea"/>
                <a:cs typeface="+mn-cs"/>
              </a:rPr>
              <a:t> Because many criminals include disabling of security equipment as a fundamental part of their plan</a:t>
            </a:r>
          </a:p>
          <a:p>
            <a:pPr>
              <a:buFont typeface="Arial" pitchFamily="34" charset="0"/>
              <a:buChar char="•"/>
            </a:pPr>
            <a:r>
              <a:rPr lang="en-AU" sz="1200" kern="1200" dirty="0" smtClean="0">
                <a:solidFill>
                  <a:schemeClr val="tx1"/>
                </a:solidFill>
                <a:latin typeface="+mn-lt"/>
                <a:ea typeface="+mn-ea"/>
                <a:cs typeface="+mn-cs"/>
              </a:rPr>
              <a:t> To reduce cost of loss (to patrons and venue) occasioned by events which occur when – or because – security systems/equipment are not operational.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students that staff who are un-trained </a:t>
            </a:r>
            <a:r>
              <a:rPr lang="en-AU" sz="1200" kern="1200" dirty="0" smtClean="0">
                <a:solidFill>
                  <a:schemeClr val="tx1"/>
                </a:solidFill>
                <a:latin typeface="+mn-lt"/>
                <a:ea typeface="+mn-ea"/>
                <a:cs typeface="+mn-cs"/>
              </a:rPr>
              <a:t>in servicing/repairing systems and equipment have limited response options</a:t>
            </a:r>
            <a:r>
              <a:rPr lang="en-AU" sz="1200" kern="1200" baseline="0" dirty="0" smtClean="0">
                <a:solidFill>
                  <a:schemeClr val="tx1"/>
                </a:solidFill>
                <a:latin typeface="+mn-lt"/>
                <a:ea typeface="+mn-ea"/>
                <a:cs typeface="+mn-cs"/>
              </a:rPr>
              <a:t> – these include:</a:t>
            </a:r>
          </a:p>
          <a:p>
            <a:pPr>
              <a:buFont typeface="Arial" pitchFamily="34" charset="0"/>
              <a:buChar char="•"/>
            </a:pPr>
            <a:r>
              <a:rPr lang="en-AU" sz="1200" kern="1200" dirty="0" smtClean="0">
                <a:solidFill>
                  <a:schemeClr val="tx1"/>
                </a:solidFill>
                <a:latin typeface="+mn-lt"/>
                <a:ea typeface="+mn-ea"/>
                <a:cs typeface="+mn-cs"/>
              </a:rPr>
              <a:t> Notifying others to come and assess the situation and make necessary repairs – this may mean contacting Head Office, the manufacturer, your Maintenance department or a designated service provider/security technician or consultant.</a:t>
            </a:r>
          </a:p>
          <a:p>
            <a:pPr lvl="1">
              <a:buFont typeface="Arial" pitchFamily="34" charset="0"/>
              <a:buChar char="•"/>
            </a:pPr>
            <a:r>
              <a:rPr lang="en-AU" sz="1200" kern="1200" dirty="0" smtClean="0">
                <a:solidFill>
                  <a:schemeClr val="tx1"/>
                </a:solidFill>
                <a:latin typeface="+mn-lt"/>
                <a:ea typeface="+mn-ea"/>
                <a:cs typeface="+mn-cs"/>
              </a:rPr>
              <a:t> Remember you can only do this within your designated scope of authority so in some cases you will have to report/refer the issue for someone else to action.</a:t>
            </a:r>
          </a:p>
          <a:p>
            <a:pPr>
              <a:buFont typeface="Arial" pitchFamily="34" charset="0"/>
              <a:buChar char="•"/>
            </a:pPr>
            <a:r>
              <a:rPr lang="en-AU" sz="1200" kern="1200" dirty="0" smtClean="0">
                <a:solidFill>
                  <a:schemeClr val="tx1"/>
                </a:solidFill>
                <a:latin typeface="+mn-lt"/>
                <a:ea typeface="+mn-ea"/>
                <a:cs typeface="+mn-cs"/>
              </a:rPr>
              <a:t> Obtaining a replacement item – and taking the faulty/damaged item away, out-of-service or off-line</a:t>
            </a:r>
          </a:p>
          <a:p>
            <a:pPr>
              <a:buFont typeface="Arial" pitchFamily="34" charset="0"/>
              <a:buChar char="•"/>
            </a:pPr>
            <a:r>
              <a:rPr lang="en-AU" sz="1200" kern="1200" dirty="0" smtClean="0">
                <a:solidFill>
                  <a:schemeClr val="tx1"/>
                </a:solidFill>
                <a:latin typeface="+mn-lt"/>
                <a:ea typeface="+mn-ea"/>
                <a:cs typeface="+mn-cs"/>
              </a:rPr>
              <a:t> Using common sense combined with any relevant experience and training to (for example):</a:t>
            </a:r>
          </a:p>
          <a:p>
            <a:pPr lvl="1">
              <a:buFont typeface="Arial" pitchFamily="34" charset="0"/>
              <a:buChar char="•"/>
            </a:pPr>
            <a:r>
              <a:rPr lang="en-US" sz="1200" kern="1200" dirty="0" smtClean="0">
                <a:solidFill>
                  <a:schemeClr val="tx1"/>
                </a:solidFill>
                <a:latin typeface="+mn-lt"/>
                <a:ea typeface="+mn-ea"/>
                <a:cs typeface="+mn-cs"/>
              </a:rPr>
              <a:t> Remove whatever is casing the problem, fault or damage, and then testing the item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Re-set the piece of equipment or system – where this facility exists: non-operational security equipment can sometimes be the result of some internal problem or conflict.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 option to re-setting the item (where no re-set facility exists) may be to turn it off, wait 20 seconds, and then turn it back on again.</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 Taking whatever action appears logical at the time and given the circumstances you are faced with </a:t>
            </a:r>
          </a:p>
          <a:p>
            <a:pPr>
              <a:buFont typeface="Arial" pitchFamily="34" charset="0"/>
              <a:buChar char="•"/>
            </a:pPr>
            <a:r>
              <a:rPr lang="en-AU" sz="1200" kern="1200" dirty="0" smtClean="0">
                <a:solidFill>
                  <a:schemeClr val="tx1"/>
                </a:solidFill>
                <a:latin typeface="+mn-lt"/>
                <a:ea typeface="+mn-ea"/>
                <a:cs typeface="+mn-cs"/>
              </a:rPr>
              <a:t> Implementing an alternative security option – for example:</a:t>
            </a:r>
          </a:p>
          <a:p>
            <a:pPr lvl="1">
              <a:buFont typeface="Arial" pitchFamily="34" charset="0"/>
              <a:buChar char="•"/>
            </a:pPr>
            <a:r>
              <a:rPr lang="en-US" sz="1200" kern="1200" dirty="0" smtClean="0">
                <a:solidFill>
                  <a:schemeClr val="tx1"/>
                </a:solidFill>
                <a:latin typeface="+mn-lt"/>
                <a:ea typeface="+mn-ea"/>
                <a:cs typeface="+mn-cs"/>
              </a:rPr>
              <a:t> If a window is broken (giving rise to the potential for unauthorized entry) you might stay on site (as a guard) until the broken window is shuttered or replaced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If the belt scanner is not working then you may implement scanning using hand-held wands.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whenever students identify a piece of security equipment which was not operating correctly they will need to follow one or more protocols as established by the workplace – these can include:</a:t>
            </a:r>
          </a:p>
          <a:p>
            <a:pPr>
              <a:buFont typeface="Arial" pitchFamily="34" charset="0"/>
              <a:buChar char="•"/>
            </a:pPr>
            <a:r>
              <a:rPr lang="en-AU" sz="1200" kern="1200" dirty="0" smtClean="0">
                <a:solidFill>
                  <a:schemeClr val="tx1"/>
                </a:solidFill>
                <a:latin typeface="+mn-lt"/>
                <a:ea typeface="+mn-ea"/>
                <a:cs typeface="+mn-cs"/>
              </a:rPr>
              <a:t> Remaining at the site/location for a period to verify what you have done really has fixed the problem</a:t>
            </a:r>
          </a:p>
          <a:p>
            <a:pPr>
              <a:buFont typeface="Arial" pitchFamily="34" charset="0"/>
              <a:buChar char="•"/>
            </a:pPr>
            <a:r>
              <a:rPr lang="en-AU" sz="1200" kern="1200" dirty="0" smtClean="0">
                <a:solidFill>
                  <a:schemeClr val="tx1"/>
                </a:solidFill>
                <a:latin typeface="+mn-lt"/>
                <a:ea typeface="+mn-ea"/>
                <a:cs typeface="+mn-cs"/>
              </a:rPr>
              <a:t> Returning at a later time to check the item you fixed and returned to service is still working properly</a:t>
            </a:r>
          </a:p>
          <a:p>
            <a:pPr>
              <a:buFont typeface="Arial" pitchFamily="34" charset="0"/>
              <a:buChar char="•"/>
            </a:pPr>
            <a:r>
              <a:rPr lang="en-AU" sz="1200" kern="1200" dirty="0" smtClean="0">
                <a:solidFill>
                  <a:schemeClr val="tx1"/>
                </a:solidFill>
                <a:latin typeface="+mn-lt"/>
                <a:ea typeface="+mn-ea"/>
                <a:cs typeface="+mn-cs"/>
              </a:rPr>
              <a:t> Reporting the issue verbally to your supervisor – see later slides</a:t>
            </a:r>
          </a:p>
          <a:p>
            <a:pPr>
              <a:buFont typeface="Arial" pitchFamily="34" charset="0"/>
              <a:buChar char="•"/>
            </a:pPr>
            <a:r>
              <a:rPr lang="en-AU" sz="1200" kern="1200" dirty="0" smtClean="0">
                <a:solidFill>
                  <a:schemeClr val="tx1"/>
                </a:solidFill>
                <a:latin typeface="+mn-lt"/>
                <a:ea typeface="+mn-ea"/>
                <a:cs typeface="+mn-cs"/>
              </a:rPr>
              <a:t> Completing designated internal form/report flagging the incident and the action you took</a:t>
            </a:r>
          </a:p>
          <a:p>
            <a:pPr>
              <a:buFont typeface="Arial" pitchFamily="34" charset="0"/>
              <a:buChar char="•"/>
            </a:pPr>
            <a:r>
              <a:rPr lang="en-AU" sz="1200" kern="1200" dirty="0" smtClean="0">
                <a:solidFill>
                  <a:schemeClr val="tx1"/>
                </a:solidFill>
                <a:latin typeface="+mn-lt"/>
                <a:ea typeface="+mn-ea"/>
                <a:cs typeface="+mn-cs"/>
              </a:rPr>
              <a:t> Arranging for extra security staff to patrol/attend the location to provide extra human resources to supplement the failed physical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it </a:t>
            </a:r>
            <a:r>
              <a:rPr lang="en-AU" sz="1200" kern="1200" dirty="0" smtClean="0">
                <a:solidFill>
                  <a:schemeClr val="tx1"/>
                </a:solidFill>
                <a:latin typeface="+mn-lt"/>
                <a:ea typeface="+mn-ea"/>
                <a:cs typeface="+mn-cs"/>
              </a:rPr>
              <a:t>is necessary to clean security equipment/items to:</a:t>
            </a:r>
          </a:p>
          <a:p>
            <a:pPr>
              <a:buFont typeface="Arial" pitchFamily="34" charset="0"/>
              <a:buChar char="•"/>
            </a:pPr>
            <a:r>
              <a:rPr lang="en-AU" sz="1200" kern="1200" dirty="0" smtClean="0">
                <a:solidFill>
                  <a:schemeClr val="tx1"/>
                </a:solidFill>
                <a:latin typeface="+mn-lt"/>
                <a:ea typeface="+mn-ea"/>
                <a:cs typeface="+mn-cs"/>
              </a:rPr>
              <a:t> Optimize operational performance</a:t>
            </a:r>
          </a:p>
          <a:p>
            <a:pPr>
              <a:buFont typeface="Arial" pitchFamily="34" charset="0"/>
              <a:buChar char="•"/>
            </a:pPr>
            <a:r>
              <a:rPr lang="en-AU" sz="1200" kern="1200" dirty="0" smtClean="0">
                <a:solidFill>
                  <a:schemeClr val="tx1"/>
                </a:solidFill>
                <a:latin typeface="+mn-lt"/>
                <a:ea typeface="+mn-ea"/>
                <a:cs typeface="+mn-cs"/>
              </a:rPr>
              <a:t> Enhance appearance of items so they look good to customers/guests.</a:t>
            </a:r>
          </a:p>
          <a:p>
            <a:pPr lvl="1">
              <a:buFont typeface="Arial" pitchFamily="34" charset="0"/>
              <a:buChar char="•"/>
            </a:pPr>
            <a:r>
              <a:rPr lang="en-AU" sz="1200" kern="1200" dirty="0" smtClean="0">
                <a:solidFill>
                  <a:schemeClr val="tx1"/>
                </a:solidFill>
                <a:latin typeface="+mn-lt"/>
                <a:ea typeface="+mn-ea"/>
                <a:cs typeface="+mn-cs"/>
              </a:rPr>
              <a:t> There is no doubt guests infer things from the appearance/condition of security equipment.</a:t>
            </a:r>
          </a:p>
          <a:p>
            <a:pPr lvl="1">
              <a:buFont typeface="Arial" pitchFamily="34" charset="0"/>
              <a:buChar char="•"/>
            </a:pPr>
            <a:r>
              <a:rPr lang="en-AU" sz="1200" kern="1200" dirty="0" smtClean="0">
                <a:solidFill>
                  <a:schemeClr val="tx1"/>
                </a:solidFill>
                <a:latin typeface="+mn-lt"/>
                <a:ea typeface="+mn-ea"/>
                <a:cs typeface="+mn-cs"/>
              </a:rPr>
              <a:t> They have much more confidence in the venue and its ability to safeguard them where they see clean and properly maintained security equipment.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cleaning basics are:</a:t>
            </a:r>
          </a:p>
          <a:p>
            <a:pPr>
              <a:buFont typeface="Arial" pitchFamily="34" charset="0"/>
              <a:buChar char="•"/>
            </a:pPr>
            <a:r>
              <a:rPr lang="en-AU" sz="1200" kern="1200" dirty="0" smtClean="0">
                <a:solidFill>
                  <a:schemeClr val="tx1"/>
                </a:solidFill>
                <a:latin typeface="+mn-lt"/>
                <a:ea typeface="+mn-ea"/>
                <a:cs typeface="+mn-cs"/>
              </a:rPr>
              <a:t> Use only designated chemicals for cleaning – certain items demand certain cleaning agents</a:t>
            </a:r>
          </a:p>
          <a:p>
            <a:pPr>
              <a:buFont typeface="Arial" pitchFamily="34" charset="0"/>
              <a:buChar char="•"/>
            </a:pPr>
            <a:r>
              <a:rPr lang="en-AU" sz="1200" kern="1200" dirty="0" smtClean="0">
                <a:solidFill>
                  <a:schemeClr val="tx1"/>
                </a:solidFill>
                <a:latin typeface="+mn-lt"/>
                <a:ea typeface="+mn-ea"/>
                <a:cs typeface="+mn-cs"/>
              </a:rPr>
              <a:t> Use only designated cleaning products – some items can be cleaned using a cloth and some (for example) require a brush</a:t>
            </a:r>
          </a:p>
          <a:p>
            <a:pPr>
              <a:buFont typeface="Arial" pitchFamily="34" charset="0"/>
              <a:buChar char="•"/>
            </a:pPr>
            <a:r>
              <a:rPr lang="en-AU" sz="1200" kern="1200" dirty="0" smtClean="0">
                <a:solidFill>
                  <a:schemeClr val="tx1"/>
                </a:solidFill>
                <a:latin typeface="+mn-lt"/>
                <a:ea typeface="+mn-ea"/>
                <a:cs typeface="+mn-cs"/>
              </a:rPr>
              <a:t> Adhere to required cleaning schedule for each item – if a cleaning schedule does not exist, develop one</a:t>
            </a:r>
          </a:p>
          <a:p>
            <a:pPr>
              <a:buFont typeface="Arial" pitchFamily="34" charset="0"/>
              <a:buChar char="•"/>
            </a:pPr>
            <a:r>
              <a:rPr lang="en-AU" sz="1200" kern="1200" dirty="0" smtClean="0">
                <a:solidFill>
                  <a:schemeClr val="tx1"/>
                </a:solidFill>
                <a:latin typeface="+mn-lt"/>
                <a:ea typeface="+mn-ea"/>
                <a:cs typeface="+mn-cs"/>
              </a:rPr>
              <a:t> Cleaning of items should be allocated to specified individuals/staff members – so everyone knows what they have responsibility for and to ensure no item is omitted from the cleaning regime</a:t>
            </a:r>
          </a:p>
          <a:p>
            <a:pPr>
              <a:buFont typeface="Arial" pitchFamily="34" charset="0"/>
              <a:buChar char="•"/>
            </a:pPr>
            <a:r>
              <a:rPr lang="en-AU" sz="1200" kern="1200" dirty="0" smtClean="0">
                <a:solidFill>
                  <a:schemeClr val="tx1"/>
                </a:solidFill>
                <a:latin typeface="+mn-lt"/>
                <a:ea typeface="+mn-ea"/>
                <a:cs typeface="+mn-cs"/>
              </a:rPr>
              <a:t> Cleaning is a task which should be given the appropriate time – this means cleaning of security items needs to be time-tables into normal duties and not treated as something which is done ‘if there is time’</a:t>
            </a:r>
          </a:p>
          <a:p>
            <a:pPr>
              <a:buFont typeface="Arial" pitchFamily="34" charset="0"/>
              <a:buChar char="•"/>
            </a:pPr>
            <a:r>
              <a:rPr lang="en-AU" sz="1200" kern="1200" dirty="0" smtClean="0">
                <a:solidFill>
                  <a:schemeClr val="tx1"/>
                </a:solidFill>
                <a:latin typeface="+mn-lt"/>
                <a:ea typeface="+mn-ea"/>
                <a:cs typeface="+mn-cs"/>
              </a:rPr>
              <a:t> Cleaning of many items should be scheduled/undertaken during quiet times – this can mean it needs to be done during ‘low’ periods and/or at night.</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how to clean security items/equipment</a:t>
            </a:r>
          </a:p>
          <a:p>
            <a:pPr>
              <a:buFont typeface="Arial" pitchFamily="34" charset="0"/>
              <a:buChar char="•"/>
            </a:pPr>
            <a:r>
              <a:rPr lang="en-AU" b="0" noProof="0" dirty="0" smtClean="0"/>
              <a:t> Provides</a:t>
            </a:r>
            <a:r>
              <a:rPr lang="en-AU" b="0" baseline="0" noProof="0" dirty="0" smtClean="0"/>
              <a:t> opportunity for students to do same.</a:t>
            </a:r>
            <a:endParaRPr lang="en-AU" b="0"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maintenance of security equipment and resources highlighting there is a need to </a:t>
            </a:r>
            <a:r>
              <a:rPr lang="en-AU" sz="1200" kern="1200" dirty="0" smtClean="0">
                <a:solidFill>
                  <a:schemeClr val="tx1"/>
                </a:solidFill>
                <a:latin typeface="+mn-lt"/>
                <a:ea typeface="+mn-ea"/>
                <a:cs typeface="+mn-cs"/>
              </a:rPr>
              <a:t>always:</a:t>
            </a:r>
          </a:p>
          <a:p>
            <a:pPr>
              <a:buFont typeface="Arial" pitchFamily="34" charset="0"/>
              <a:buChar char="•"/>
            </a:pPr>
            <a:r>
              <a:rPr lang="en-AU" sz="1200" kern="1200" dirty="0" smtClean="0">
                <a:solidFill>
                  <a:schemeClr val="tx1"/>
                </a:solidFill>
                <a:latin typeface="+mn-lt"/>
                <a:ea typeface="+mn-ea"/>
                <a:cs typeface="+mn-cs"/>
              </a:rPr>
              <a:t> Follow manufacturer’s instructions when undertaking maintenance</a:t>
            </a:r>
          </a:p>
          <a:p>
            <a:pPr>
              <a:buFont typeface="Arial" pitchFamily="34" charset="0"/>
              <a:buChar char="•"/>
            </a:pPr>
            <a:r>
              <a:rPr lang="en-AU" sz="1200" kern="1200" dirty="0" smtClean="0">
                <a:solidFill>
                  <a:schemeClr val="tx1"/>
                </a:solidFill>
                <a:latin typeface="+mn-lt"/>
                <a:ea typeface="+mn-ea"/>
                <a:cs typeface="+mn-cs"/>
              </a:rPr>
              <a:t> Stay within your designated scope of authority when taking action</a:t>
            </a:r>
          </a:p>
          <a:p>
            <a:pPr>
              <a:buFont typeface="Arial" pitchFamily="34" charset="0"/>
              <a:buChar char="•"/>
            </a:pPr>
            <a:r>
              <a:rPr lang="en-AU" sz="1200" kern="1200" dirty="0" smtClean="0">
                <a:solidFill>
                  <a:schemeClr val="tx1"/>
                </a:solidFill>
                <a:latin typeface="+mn-lt"/>
                <a:ea typeface="+mn-ea"/>
                <a:cs typeface="+mn-cs"/>
              </a:rPr>
              <a:t> Ask for assistance when unsure about what to do</a:t>
            </a:r>
          </a:p>
          <a:p>
            <a:pPr>
              <a:buFont typeface="Arial" pitchFamily="34" charset="0"/>
              <a:buChar char="•"/>
            </a:pPr>
            <a:r>
              <a:rPr lang="en-AU" sz="1200" kern="1200" dirty="0" smtClean="0">
                <a:solidFill>
                  <a:schemeClr val="tx1"/>
                </a:solidFill>
                <a:latin typeface="+mn-lt"/>
                <a:ea typeface="+mn-ea"/>
                <a:cs typeface="+mn-cs"/>
              </a:rPr>
              <a:t> Be prepared to obtain qualified help when faced with an uncertain or difficult situation.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generic maintenance activities can include:</a:t>
            </a:r>
          </a:p>
          <a:p>
            <a:pPr>
              <a:buFont typeface="Arial" pitchFamily="34" charset="0"/>
              <a:buChar char="•"/>
            </a:pPr>
            <a:r>
              <a:rPr lang="en-AU" sz="1200" kern="1200" dirty="0" smtClean="0">
                <a:solidFill>
                  <a:schemeClr val="tx1"/>
                </a:solidFill>
                <a:latin typeface="+mn-lt"/>
                <a:ea typeface="+mn-ea"/>
                <a:cs typeface="+mn-cs"/>
              </a:rPr>
              <a:t> Regular/scheduled cleaning – it is critical you understand how important clean equipment is to its effective operation</a:t>
            </a:r>
          </a:p>
          <a:p>
            <a:pPr>
              <a:buFont typeface="Arial" pitchFamily="34" charset="0"/>
              <a:buChar char="•"/>
            </a:pPr>
            <a:r>
              <a:rPr lang="en-AU" sz="1200" kern="1200" dirty="0" smtClean="0">
                <a:solidFill>
                  <a:schemeClr val="tx1"/>
                </a:solidFill>
                <a:latin typeface="+mn-lt"/>
                <a:ea typeface="+mn-ea"/>
                <a:cs typeface="+mn-cs"/>
              </a:rPr>
              <a:t> Lubricating moving parts</a:t>
            </a:r>
          </a:p>
          <a:p>
            <a:pPr>
              <a:buFont typeface="Arial" pitchFamily="34" charset="0"/>
              <a:buChar char="•"/>
            </a:pPr>
            <a:r>
              <a:rPr lang="en-AU" sz="1200" kern="1200" dirty="0" smtClean="0">
                <a:solidFill>
                  <a:schemeClr val="tx1"/>
                </a:solidFill>
                <a:latin typeface="+mn-lt"/>
                <a:ea typeface="+mn-ea"/>
                <a:cs typeface="+mn-cs"/>
              </a:rPr>
              <a:t> Changing batteries</a:t>
            </a:r>
          </a:p>
          <a:p>
            <a:pPr>
              <a:buFont typeface="Arial" pitchFamily="34" charset="0"/>
              <a:buChar char="•"/>
            </a:pPr>
            <a:r>
              <a:rPr lang="en-AU" sz="1200" kern="1200" dirty="0" smtClean="0">
                <a:solidFill>
                  <a:schemeClr val="tx1"/>
                </a:solidFill>
                <a:latin typeface="+mn-lt"/>
                <a:ea typeface="+mn-ea"/>
                <a:cs typeface="+mn-cs"/>
              </a:rPr>
              <a:t> Making minor modifications and adjustments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examples of maintenance activities:</a:t>
            </a:r>
          </a:p>
          <a:p>
            <a:pPr>
              <a:buFont typeface="Arial" pitchFamily="34" charset="0"/>
              <a:buChar char="•"/>
            </a:pPr>
            <a:r>
              <a:rPr lang="en-AU" sz="1200" kern="1200" dirty="0" smtClean="0">
                <a:solidFill>
                  <a:schemeClr val="tx1"/>
                </a:solidFill>
                <a:latin typeface="+mn-lt"/>
                <a:ea typeface="+mn-ea"/>
                <a:cs typeface="+mn-cs"/>
              </a:rPr>
              <a:t> Tightening screws, nuts and bolts, fixtures and fittings, panels, straps and similar </a:t>
            </a:r>
          </a:p>
          <a:p>
            <a:pPr>
              <a:buFont typeface="Arial" pitchFamily="34" charset="0"/>
              <a:buChar char="•"/>
            </a:pPr>
            <a:r>
              <a:rPr lang="en-AU" sz="1200" kern="1200" dirty="0" smtClean="0">
                <a:solidFill>
                  <a:schemeClr val="tx1"/>
                </a:solidFill>
                <a:latin typeface="+mn-lt"/>
                <a:ea typeface="+mn-ea"/>
                <a:cs typeface="+mn-cs"/>
              </a:rPr>
              <a:t> Undertaking basic repairs</a:t>
            </a:r>
          </a:p>
          <a:p>
            <a:pPr>
              <a:buFont typeface="Arial" pitchFamily="34" charset="0"/>
              <a:buChar char="•"/>
            </a:pPr>
            <a:r>
              <a:rPr lang="en-AU" sz="1200" kern="1200" dirty="0" smtClean="0">
                <a:solidFill>
                  <a:schemeClr val="tx1"/>
                </a:solidFill>
                <a:latin typeface="+mn-lt"/>
                <a:ea typeface="+mn-ea"/>
                <a:cs typeface="+mn-cs"/>
              </a:rPr>
              <a:t> Replacing parts commonly subject to wear – such as O-rings, washers, belts, globes, fuses</a:t>
            </a:r>
          </a:p>
          <a:p>
            <a:pPr>
              <a:buFont typeface="Arial" pitchFamily="34" charset="0"/>
              <a:buChar char="•"/>
            </a:pPr>
            <a:r>
              <a:rPr lang="en-AU" sz="1200" kern="1200" dirty="0" smtClean="0">
                <a:solidFill>
                  <a:schemeClr val="tx1"/>
                </a:solidFill>
                <a:latin typeface="+mn-lt"/>
                <a:ea typeface="+mn-ea"/>
                <a:cs typeface="+mn-cs"/>
              </a:rPr>
              <a:t> Providing service designed to prevent ‘wear and tear’ on the equipment – so it can remain in service and to reduce the potential for, and amount of, down-time</a:t>
            </a:r>
          </a:p>
          <a:p>
            <a:pPr>
              <a:buFont typeface="Arial" pitchFamily="34" charset="0"/>
              <a:buChar char="•"/>
            </a:pPr>
            <a:r>
              <a:rPr lang="en-AU" sz="1200" kern="1200" dirty="0" smtClean="0">
                <a:solidFill>
                  <a:schemeClr val="tx1"/>
                </a:solidFill>
                <a:latin typeface="+mn-lt"/>
                <a:ea typeface="+mn-ea"/>
                <a:cs typeface="+mn-cs"/>
              </a:rPr>
              <a:t> Completing required documentation to record work performed, time taken and parts used.</a:t>
            </a:r>
          </a:p>
          <a:p>
            <a:pPr>
              <a:buFont typeface="Arial" pitchFamily="34" charset="0"/>
              <a:buChar char="•"/>
            </a:pPr>
            <a:r>
              <a:rPr lang="en-AU" noProof="0" dirty="0" smtClean="0"/>
              <a:t> Using properly qualified/certified technicians – where necessary.</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how to maintain security items/equipment</a:t>
            </a:r>
          </a:p>
          <a:p>
            <a:pPr>
              <a:buFont typeface="Arial" pitchFamily="34" charset="0"/>
              <a:buChar char="•"/>
            </a:pPr>
            <a:r>
              <a:rPr lang="en-AU" b="0" noProof="0" dirty="0" smtClean="0"/>
              <a:t> Provides</a:t>
            </a:r>
            <a:r>
              <a:rPr lang="en-AU" b="0" baseline="0" noProof="0" dirty="0" smtClean="0"/>
              <a:t> opportunity for students to do same.</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latin typeface="+mn-lt"/>
                <a:ea typeface="+mn-ea"/>
                <a:cs typeface="+mn-cs"/>
              </a:rPr>
              <a:t>fundamentals of storing security tools and equipment are:</a:t>
            </a:r>
          </a:p>
          <a:p>
            <a:pPr>
              <a:buFont typeface="Arial" pitchFamily="34" charset="0"/>
              <a:buChar char="•"/>
            </a:pPr>
            <a:r>
              <a:rPr lang="en-AU" sz="1200" kern="1200" dirty="0" smtClean="0">
                <a:solidFill>
                  <a:schemeClr val="tx1"/>
                </a:solidFill>
                <a:latin typeface="+mn-lt"/>
                <a:ea typeface="+mn-ea"/>
                <a:cs typeface="+mn-cs"/>
              </a:rPr>
              <a:t> Store items immediately after cleaning and maintenance has been completed</a:t>
            </a:r>
          </a:p>
          <a:p>
            <a:pPr>
              <a:buFont typeface="Arial" pitchFamily="34" charset="0"/>
              <a:buChar char="•"/>
            </a:pPr>
            <a:r>
              <a:rPr lang="en-AU" sz="1200" kern="1200" dirty="0" smtClean="0">
                <a:solidFill>
                  <a:schemeClr val="tx1"/>
                </a:solidFill>
                <a:latin typeface="+mn-lt"/>
                <a:ea typeface="+mn-ea"/>
                <a:cs typeface="+mn-cs"/>
              </a:rPr>
              <a:t> Return items to their individual containers, where appropriate</a:t>
            </a:r>
          </a:p>
          <a:p>
            <a:pPr>
              <a:buFont typeface="Arial" pitchFamily="34" charset="0"/>
              <a:buChar char="•"/>
            </a:pPr>
            <a:r>
              <a:rPr lang="en-AU" sz="1200" kern="1200" dirty="0" smtClean="0">
                <a:solidFill>
                  <a:schemeClr val="tx1"/>
                </a:solidFill>
                <a:latin typeface="+mn-lt"/>
                <a:ea typeface="+mn-ea"/>
                <a:cs typeface="+mn-cs"/>
              </a:rPr>
              <a:t> Locate each/every item in its designated location</a:t>
            </a:r>
          </a:p>
          <a:p>
            <a:pPr>
              <a:buFont typeface="Arial" pitchFamily="34" charset="0"/>
              <a:buChar char="•"/>
            </a:pPr>
            <a:r>
              <a:rPr lang="en-AU" sz="1200" kern="1200" dirty="0" smtClean="0">
                <a:solidFill>
                  <a:schemeClr val="tx1"/>
                </a:solidFill>
                <a:latin typeface="+mn-lt"/>
                <a:ea typeface="+mn-ea"/>
                <a:cs typeface="+mn-cs"/>
              </a:rPr>
              <a:t> Update internal storage documentation</a:t>
            </a:r>
          </a:p>
          <a:p>
            <a:pPr>
              <a:buFont typeface="Arial" pitchFamily="34" charset="0"/>
              <a:buChar char="•"/>
            </a:pPr>
            <a:r>
              <a:rPr lang="en-AU" sz="1200" kern="1200" dirty="0" smtClean="0">
                <a:solidFill>
                  <a:schemeClr val="tx1"/>
                </a:solidFill>
                <a:latin typeface="+mn-lt"/>
                <a:ea typeface="+mn-ea"/>
                <a:cs typeface="+mn-cs"/>
              </a:rPr>
              <a:t> Secure the storage area.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faulty </a:t>
            </a:r>
            <a:r>
              <a:rPr lang="en-AU" sz="1200" kern="1200" dirty="0" smtClean="0">
                <a:solidFill>
                  <a:schemeClr val="tx1"/>
                </a:solidFill>
                <a:latin typeface="+mn-lt"/>
                <a:ea typeface="+mn-ea"/>
                <a:cs typeface="+mn-cs"/>
              </a:rPr>
              <a:t>or damaged security equipment and items must be reported for one or more of the following reasons:</a:t>
            </a:r>
          </a:p>
          <a:p>
            <a:pPr>
              <a:buFont typeface="Arial" pitchFamily="34" charset="0"/>
              <a:buChar char="•"/>
            </a:pPr>
            <a:r>
              <a:rPr lang="en-AU" sz="1200" kern="1200" dirty="0" smtClean="0">
                <a:solidFill>
                  <a:schemeClr val="tx1"/>
                </a:solidFill>
                <a:latin typeface="+mn-lt"/>
                <a:ea typeface="+mn-ea"/>
                <a:cs typeface="+mn-cs"/>
              </a:rPr>
              <a:t> So arrangements can be made to initiate required repairs, service or other action (such as replacement of items, purchase of additional items or purchase of different types of items)</a:t>
            </a:r>
          </a:p>
          <a:p>
            <a:pPr>
              <a:buFont typeface="Arial" pitchFamily="34" charset="0"/>
              <a:buChar char="•"/>
            </a:pPr>
            <a:r>
              <a:rPr lang="en-AU" sz="1200" kern="1200" dirty="0" smtClean="0">
                <a:solidFill>
                  <a:schemeClr val="tx1"/>
                </a:solidFill>
                <a:latin typeface="+mn-lt"/>
                <a:ea typeface="+mn-ea"/>
                <a:cs typeface="+mn-cs"/>
              </a:rPr>
              <a:t> For insurance purposes – so an insurance claim can be made’</a:t>
            </a:r>
          </a:p>
          <a:p>
            <a:pPr>
              <a:buFont typeface="Arial" pitchFamily="34" charset="0"/>
              <a:buChar char="•"/>
            </a:pPr>
            <a:r>
              <a:rPr lang="en-AU" sz="1200" kern="1200" dirty="0" smtClean="0">
                <a:solidFill>
                  <a:schemeClr val="tx1"/>
                </a:solidFill>
                <a:latin typeface="+mn-lt"/>
                <a:ea typeface="+mn-ea"/>
                <a:cs typeface="+mn-cs"/>
              </a:rPr>
              <a:t> In order the business can rely on the protection afforded by product warranty or guaranties</a:t>
            </a:r>
          </a:p>
          <a:p>
            <a:pPr>
              <a:buFont typeface="Arial" pitchFamily="34" charset="0"/>
              <a:buChar char="•"/>
            </a:pPr>
            <a:r>
              <a:rPr lang="en-AU" sz="1200" kern="1200" dirty="0" smtClean="0">
                <a:solidFill>
                  <a:schemeClr val="tx1"/>
                </a:solidFill>
                <a:latin typeface="+mn-lt"/>
                <a:ea typeface="+mn-ea"/>
                <a:cs typeface="+mn-cs"/>
              </a:rPr>
              <a:t> To enable generation of an historic body of evidence about faults and damage to security items – which may be used as the basis for preventing future events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why damaged/faulty items must be reported:</a:t>
            </a:r>
          </a:p>
          <a:p>
            <a:pPr>
              <a:buFont typeface="Arial" pitchFamily="34" charset="0"/>
              <a:buChar char="•"/>
            </a:pPr>
            <a:r>
              <a:rPr lang="en-AU" sz="1200" kern="1200" dirty="0" smtClean="0">
                <a:solidFill>
                  <a:schemeClr val="tx1"/>
                </a:solidFill>
                <a:latin typeface="+mn-lt"/>
                <a:ea typeface="+mn-ea"/>
                <a:cs typeface="+mn-cs"/>
              </a:rPr>
              <a:t> In order a claim for reimbursement may be made against a customer/guest who has intentionally damaged an item</a:t>
            </a:r>
          </a:p>
          <a:p>
            <a:pPr>
              <a:buFont typeface="Arial" pitchFamily="34" charset="0"/>
              <a:buChar char="•"/>
            </a:pPr>
            <a:r>
              <a:rPr lang="en-AU" sz="1200" kern="1200" dirty="0" smtClean="0">
                <a:solidFill>
                  <a:schemeClr val="tx1"/>
                </a:solidFill>
                <a:latin typeface="+mn-lt"/>
                <a:ea typeface="+mn-ea"/>
                <a:cs typeface="+mn-cs"/>
              </a:rPr>
              <a:t> To obtain one-off permission for you to take action in excess of your standard scope of authority to effectively address the identified situation</a:t>
            </a:r>
          </a:p>
          <a:p>
            <a:pPr>
              <a:buFont typeface="Arial" pitchFamily="34" charset="0"/>
              <a:buChar char="•"/>
            </a:pPr>
            <a:r>
              <a:rPr lang="en-AU" sz="1200" kern="1200" dirty="0" smtClean="0">
                <a:solidFill>
                  <a:schemeClr val="tx1"/>
                </a:solidFill>
                <a:latin typeface="+mn-lt"/>
                <a:ea typeface="+mn-ea"/>
                <a:cs typeface="+mn-cs"/>
              </a:rPr>
              <a:t> In order to comply with internal policies related to reporting of issues</a:t>
            </a:r>
          </a:p>
          <a:p>
            <a:pPr>
              <a:buFont typeface="Arial" pitchFamily="34" charset="0"/>
              <a:buChar char="•"/>
            </a:pPr>
            <a:r>
              <a:rPr lang="en-AU" sz="1200" kern="1200" dirty="0" smtClean="0">
                <a:solidFill>
                  <a:schemeClr val="tx1"/>
                </a:solidFill>
                <a:latin typeface="+mn-lt"/>
                <a:ea typeface="+mn-ea"/>
                <a:cs typeface="+mn-cs"/>
              </a:rPr>
              <a:t> To share information with other staff so they are aware of the situation, possible cause and item/s involved.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further details about reporting faulty/damaged equipment:</a:t>
            </a:r>
          </a:p>
          <a:p>
            <a:r>
              <a:rPr lang="en-AU" sz="1200" b="1" kern="1200" dirty="0" smtClean="0">
                <a:solidFill>
                  <a:schemeClr val="tx1"/>
                </a:solidFill>
                <a:latin typeface="+mn-lt"/>
                <a:ea typeface="+mn-ea"/>
                <a:cs typeface="+mn-cs"/>
              </a:rPr>
              <a:t>Immediacy of reporting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standard procedure for you to have to report faulty or damaged security immediately so action can be taken to address the situation, and so other staff are aware of the problem and the extent to which normal security has been compromised.</a:t>
            </a:r>
          </a:p>
          <a:p>
            <a:r>
              <a:rPr lang="en-AU" sz="1200" kern="1200" dirty="0" smtClean="0">
                <a:solidFill>
                  <a:schemeClr val="tx1"/>
                </a:solidFill>
                <a:latin typeface="+mn-lt"/>
                <a:ea typeface="+mn-ea"/>
                <a:cs typeface="+mn-cs"/>
              </a:rPr>
              <a:t>This will mean using your radio to communicate with the ‘appropriate person’.</a:t>
            </a:r>
          </a:p>
          <a:p>
            <a:r>
              <a:rPr lang="en-AU" sz="1200" kern="1200" dirty="0" smtClean="0">
                <a:solidFill>
                  <a:schemeClr val="tx1"/>
                </a:solidFill>
                <a:latin typeface="+mn-lt"/>
                <a:ea typeface="+mn-ea"/>
                <a:cs typeface="+mn-cs"/>
              </a:rPr>
              <a:t>This is a mandatory requirement.</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‘Appropriate person’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appropriate person to report to will often depend on the time of day the problem is identified.</a:t>
            </a:r>
          </a:p>
          <a:p>
            <a:r>
              <a:rPr lang="en-AU" sz="1200" kern="1200" dirty="0" smtClean="0">
                <a:solidFill>
                  <a:schemeClr val="tx1"/>
                </a:solidFill>
                <a:latin typeface="+mn-lt"/>
                <a:ea typeface="+mn-ea"/>
                <a:cs typeface="+mn-cs"/>
              </a:rPr>
              <a:t>For example a fault at 2:00AM may require you to report:</a:t>
            </a:r>
          </a:p>
          <a:p>
            <a:pPr lvl="1">
              <a:buFont typeface="Arial" pitchFamily="34" charset="0"/>
              <a:buChar char="•"/>
            </a:pPr>
            <a:r>
              <a:rPr lang="en-AU" sz="1200" kern="1200" dirty="0" smtClean="0">
                <a:solidFill>
                  <a:schemeClr val="tx1"/>
                </a:solidFill>
                <a:latin typeface="+mn-lt"/>
                <a:ea typeface="+mn-ea"/>
                <a:cs typeface="+mn-cs"/>
              </a:rPr>
              <a:t> Direct to the external security consultant/provider so they can initiate action to fix the problem</a:t>
            </a:r>
          </a:p>
          <a:p>
            <a:pPr lvl="1">
              <a:buFont typeface="Arial" pitchFamily="34" charset="0"/>
              <a:buChar char="•"/>
            </a:pPr>
            <a:r>
              <a:rPr lang="en-AU" sz="1200" kern="1200" dirty="0" smtClean="0">
                <a:solidFill>
                  <a:schemeClr val="tx1"/>
                </a:solidFill>
                <a:latin typeface="+mn-lt"/>
                <a:ea typeface="+mn-ea"/>
                <a:cs typeface="+mn-cs"/>
              </a:rPr>
              <a:t> To the Night Auditor.</a:t>
            </a:r>
          </a:p>
          <a:p>
            <a:r>
              <a:rPr lang="en-AU" sz="1200" kern="1200" dirty="0" smtClean="0">
                <a:solidFill>
                  <a:schemeClr val="tx1"/>
                </a:solidFill>
                <a:latin typeface="+mn-lt"/>
                <a:ea typeface="+mn-ea"/>
                <a:cs typeface="+mn-cs"/>
              </a:rPr>
              <a:t>In other circumstances/at other times you may be required to report to:</a:t>
            </a:r>
          </a:p>
          <a:p>
            <a:pPr lvl="1">
              <a:buFont typeface="Arial" pitchFamily="34" charset="0"/>
              <a:buChar char="•"/>
            </a:pPr>
            <a:r>
              <a:rPr lang="en-AU" sz="1200" kern="1200" dirty="0" smtClean="0">
                <a:solidFill>
                  <a:schemeClr val="tx1"/>
                </a:solidFill>
                <a:latin typeface="+mn-lt"/>
                <a:ea typeface="+mn-ea"/>
                <a:cs typeface="+mn-cs"/>
              </a:rPr>
              <a:t> The control room</a:t>
            </a:r>
          </a:p>
          <a:p>
            <a:pPr lvl="1">
              <a:buFont typeface="Arial" pitchFamily="34" charset="0"/>
              <a:buChar char="•"/>
            </a:pPr>
            <a:r>
              <a:rPr lang="en-AU" sz="1200" kern="1200" dirty="0" smtClean="0">
                <a:solidFill>
                  <a:schemeClr val="tx1"/>
                </a:solidFill>
                <a:latin typeface="+mn-lt"/>
                <a:ea typeface="+mn-ea"/>
                <a:cs typeface="+mn-cs"/>
              </a:rPr>
              <a:t> Your supervisor </a:t>
            </a:r>
          </a:p>
          <a:p>
            <a:pPr lvl="1">
              <a:buFont typeface="Arial" pitchFamily="34" charset="0"/>
              <a:buChar char="•"/>
            </a:pPr>
            <a:r>
              <a:rPr lang="en-AU" sz="1200" kern="1200" dirty="0" smtClean="0">
                <a:solidFill>
                  <a:schemeClr val="tx1"/>
                </a:solidFill>
                <a:latin typeface="+mn-lt"/>
                <a:ea typeface="+mn-ea"/>
                <a:cs typeface="+mn-cs"/>
              </a:rPr>
              <a:t> Head of Security</a:t>
            </a:r>
          </a:p>
          <a:p>
            <a:pPr lvl="1">
              <a:buFont typeface="Arial" pitchFamily="34" charset="0"/>
              <a:buChar char="•"/>
            </a:pPr>
            <a:r>
              <a:rPr lang="en-AU" sz="1200" kern="1200" dirty="0" smtClean="0">
                <a:solidFill>
                  <a:schemeClr val="tx1"/>
                </a:solidFill>
                <a:latin typeface="+mn-lt"/>
                <a:ea typeface="+mn-ea"/>
                <a:cs typeface="+mn-cs"/>
              </a:rPr>
              <a:t> Duty manager</a:t>
            </a:r>
          </a:p>
          <a:p>
            <a:pPr lvl="1">
              <a:buFont typeface="Arial" pitchFamily="34" charset="0"/>
              <a:buChar char="•"/>
            </a:pPr>
            <a:r>
              <a:rPr lang="en-AU" sz="1200" kern="1200" dirty="0" smtClean="0">
                <a:solidFill>
                  <a:schemeClr val="tx1"/>
                </a:solidFill>
                <a:latin typeface="+mn-lt"/>
                <a:ea typeface="+mn-ea"/>
                <a:cs typeface="+mn-cs"/>
              </a:rPr>
              <a:t> Head office</a:t>
            </a:r>
          </a:p>
          <a:p>
            <a:pPr lvl="1">
              <a:buFont typeface="Arial" pitchFamily="34" charset="0"/>
              <a:buChar char="•"/>
            </a:pPr>
            <a:r>
              <a:rPr lang="en-AU" sz="1200" kern="1200" dirty="0" smtClean="0">
                <a:solidFill>
                  <a:schemeClr val="tx1"/>
                </a:solidFill>
                <a:latin typeface="+mn-lt"/>
                <a:ea typeface="+mn-ea"/>
                <a:cs typeface="+mn-cs"/>
              </a:rPr>
              <a:t> Maintenance department</a:t>
            </a:r>
          </a:p>
          <a:p>
            <a:pPr lvl="1">
              <a:buFont typeface="Arial" pitchFamily="34" charset="0"/>
              <a:buChar char="•"/>
            </a:pPr>
            <a:r>
              <a:rPr lang="en-AU" sz="1200" kern="1200" dirty="0" smtClean="0">
                <a:solidFill>
                  <a:schemeClr val="tx1"/>
                </a:solidFill>
                <a:latin typeface="+mn-lt"/>
                <a:ea typeface="+mn-ea"/>
                <a:cs typeface="+mn-cs"/>
              </a:rPr>
              <a:t> The owner.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options</a:t>
            </a:r>
            <a:r>
              <a:rPr lang="en-AU" sz="1200" kern="1200" dirty="0" smtClean="0">
                <a:solidFill>
                  <a:schemeClr val="tx1"/>
                </a:solidFill>
                <a:latin typeface="+mn-lt"/>
                <a:ea typeface="+mn-ea"/>
                <a:cs typeface="+mn-cs"/>
              </a:rPr>
              <a:t> for reporting damaged or faulty security items are:</a:t>
            </a:r>
          </a:p>
          <a:p>
            <a:pPr>
              <a:buFont typeface="Arial" pitchFamily="34" charset="0"/>
              <a:buChar char="•"/>
            </a:pPr>
            <a:r>
              <a:rPr lang="en-AU" sz="1200" kern="1200" dirty="0" smtClean="0">
                <a:solidFill>
                  <a:schemeClr val="tx1"/>
                </a:solidFill>
                <a:latin typeface="+mn-lt"/>
                <a:ea typeface="+mn-ea"/>
                <a:cs typeface="+mn-cs"/>
              </a:rPr>
              <a:t> Using two-way radio</a:t>
            </a:r>
          </a:p>
          <a:p>
            <a:pPr>
              <a:buFont typeface="Arial" pitchFamily="34" charset="0"/>
              <a:buChar char="•"/>
            </a:pPr>
            <a:r>
              <a:rPr lang="en-AU" sz="1200" kern="1200" dirty="0" smtClean="0">
                <a:solidFill>
                  <a:schemeClr val="tx1"/>
                </a:solidFill>
                <a:latin typeface="+mn-lt"/>
                <a:ea typeface="+mn-ea"/>
                <a:cs typeface="+mn-cs"/>
              </a:rPr>
              <a:t> Using internal telephone system</a:t>
            </a:r>
          </a:p>
          <a:p>
            <a:pPr>
              <a:buFont typeface="Arial" pitchFamily="34" charset="0"/>
              <a:buChar char="•"/>
            </a:pPr>
            <a:r>
              <a:rPr lang="en-AU" sz="1200" kern="1200" dirty="0" smtClean="0">
                <a:solidFill>
                  <a:schemeClr val="tx1"/>
                </a:solidFill>
                <a:latin typeface="+mn-lt"/>
                <a:ea typeface="+mn-ea"/>
                <a:cs typeface="+mn-cs"/>
              </a:rPr>
              <a:t> Using cell phone</a:t>
            </a:r>
          </a:p>
          <a:p>
            <a:pPr>
              <a:buFont typeface="Arial" pitchFamily="34" charset="0"/>
              <a:buChar char="•"/>
            </a:pPr>
            <a:r>
              <a:rPr lang="en-AU" sz="1200" kern="1200" dirty="0" smtClean="0">
                <a:solidFill>
                  <a:schemeClr val="tx1"/>
                </a:solidFill>
                <a:latin typeface="+mn-lt"/>
                <a:ea typeface="+mn-ea"/>
                <a:cs typeface="+mn-cs"/>
              </a:rPr>
              <a:t> Making a face-to-face report – which can occur:</a:t>
            </a:r>
          </a:p>
          <a:p>
            <a:pPr lvl="1">
              <a:buFont typeface="Arial" pitchFamily="34" charset="0"/>
              <a:buChar char="•"/>
            </a:pPr>
            <a:r>
              <a:rPr lang="en-US" sz="1200" kern="1200" dirty="0" smtClean="0">
                <a:solidFill>
                  <a:schemeClr val="tx1"/>
                </a:solidFill>
                <a:latin typeface="+mn-lt"/>
                <a:ea typeface="+mn-ea"/>
                <a:cs typeface="+mn-cs"/>
              </a:rPr>
              <a:t> On-site when the appropriate person has responded to a radio or phone call and attended the location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On your return to the control room after the situation has been resolved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 end-of-shift as part of the standard de-briefing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Completing documentation after the event to record full details – such as:</a:t>
            </a:r>
          </a:p>
          <a:p>
            <a:pPr lvl="1">
              <a:buFont typeface="Arial" pitchFamily="34" charset="0"/>
              <a:buChar char="•"/>
            </a:pPr>
            <a:r>
              <a:rPr lang="en-US" sz="1200" kern="1200" dirty="0" smtClean="0">
                <a:solidFill>
                  <a:schemeClr val="tx1"/>
                </a:solidFill>
                <a:latin typeface="+mn-lt"/>
                <a:ea typeface="+mn-ea"/>
                <a:cs typeface="+mn-cs"/>
              </a:rPr>
              <a:t> Incident Report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Maintenance Request.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latin typeface="+mn-lt"/>
                <a:ea typeface="+mn-ea"/>
                <a:cs typeface="+mn-cs"/>
              </a:rPr>
              <a:t>details of the report will, obviously, reflect the individual fault or damage situation but the following generic requirements will always apply:</a:t>
            </a:r>
          </a:p>
          <a:p>
            <a:pPr>
              <a:buFont typeface="Arial" pitchFamily="34" charset="0"/>
              <a:buChar char="•"/>
            </a:pPr>
            <a:r>
              <a:rPr lang="en-AU" sz="1200" kern="1200" dirty="0" smtClean="0">
                <a:solidFill>
                  <a:schemeClr val="tx1"/>
                </a:solidFill>
                <a:latin typeface="+mn-lt"/>
                <a:ea typeface="+mn-ea"/>
                <a:cs typeface="+mn-cs"/>
              </a:rPr>
              <a:t> Name/type of item</a:t>
            </a:r>
          </a:p>
          <a:p>
            <a:pPr>
              <a:buFont typeface="Arial" pitchFamily="34" charset="0"/>
              <a:buChar char="•"/>
            </a:pPr>
            <a:r>
              <a:rPr lang="en-AU" sz="1200" kern="1200" dirty="0" smtClean="0">
                <a:solidFill>
                  <a:schemeClr val="tx1"/>
                </a:solidFill>
                <a:latin typeface="+mn-lt"/>
                <a:ea typeface="+mn-ea"/>
                <a:cs typeface="+mn-cs"/>
              </a:rPr>
              <a:t> Identification of product/serial number</a:t>
            </a:r>
          </a:p>
          <a:p>
            <a:pPr>
              <a:buFont typeface="Arial" pitchFamily="34" charset="0"/>
              <a:buChar char="•"/>
            </a:pPr>
            <a:r>
              <a:rPr lang="en-AU" sz="1200" kern="1200" dirty="0" smtClean="0">
                <a:solidFill>
                  <a:schemeClr val="tx1"/>
                </a:solidFill>
                <a:latin typeface="+mn-lt"/>
                <a:ea typeface="+mn-ea"/>
                <a:cs typeface="+mn-cs"/>
              </a:rPr>
              <a:t> Description of identified problem</a:t>
            </a:r>
          </a:p>
          <a:p>
            <a:pPr>
              <a:buFont typeface="Arial" pitchFamily="34" charset="0"/>
              <a:buChar char="•"/>
            </a:pPr>
            <a:r>
              <a:rPr lang="en-AU" sz="1200" kern="1200" dirty="0" smtClean="0">
                <a:solidFill>
                  <a:schemeClr val="tx1"/>
                </a:solidFill>
                <a:latin typeface="+mn-lt"/>
                <a:ea typeface="+mn-ea"/>
                <a:cs typeface="+mn-cs"/>
              </a:rPr>
              <a:t> Known cause/s – if any, including names of anyone involved in causing the fault/damage</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a:t>
            </a:r>
          </a:p>
          <a:p>
            <a:pPr>
              <a:buFont typeface="Arial" pitchFamily="34" charset="0"/>
              <a:buChar char="•"/>
            </a:pPr>
            <a:r>
              <a:rPr lang="en-AU" b="0" noProof="0" dirty="0" smtClean="0"/>
              <a:t> Demonstrates verbal reporting of damaged/faulty security</a:t>
            </a:r>
            <a:r>
              <a:rPr lang="en-AU" b="0" baseline="0" noProof="0" dirty="0" smtClean="0"/>
              <a:t> equipment to (for example) Supervisor</a:t>
            </a:r>
          </a:p>
          <a:p>
            <a:pPr>
              <a:buFont typeface="Arial" pitchFamily="34" charset="0"/>
              <a:buChar char="•"/>
            </a:pPr>
            <a:r>
              <a:rPr lang="en-AU" b="0" baseline="0" noProof="0" dirty="0" smtClean="0"/>
              <a:t> Provides opportunity for students to do same.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details/information to be conveyed/communicating when reporting faulty/damaged items:</a:t>
            </a:r>
          </a:p>
          <a:p>
            <a:pPr>
              <a:buFont typeface="Arial" pitchFamily="34" charset="0"/>
              <a:buChar char="•"/>
            </a:pPr>
            <a:r>
              <a:rPr lang="en-AU" sz="1200" kern="1200" dirty="0" smtClean="0">
                <a:solidFill>
                  <a:schemeClr val="tx1"/>
                </a:solidFill>
                <a:latin typeface="+mn-lt"/>
                <a:ea typeface="+mn-ea"/>
                <a:cs typeface="+mn-cs"/>
              </a:rPr>
              <a:t> Urgency involved in returning item to full operational status</a:t>
            </a:r>
          </a:p>
          <a:p>
            <a:pPr>
              <a:buFont typeface="Arial" pitchFamily="34" charset="0"/>
              <a:buChar char="•"/>
            </a:pPr>
            <a:r>
              <a:rPr lang="en-AU" sz="1200" kern="1200" dirty="0" smtClean="0">
                <a:solidFill>
                  <a:schemeClr val="tx1"/>
                </a:solidFill>
                <a:latin typeface="+mn-lt"/>
                <a:ea typeface="+mn-ea"/>
                <a:cs typeface="+mn-cs"/>
              </a:rPr>
              <a:t> Details of any action taken by you on-the-spot to try to fix the problem/fault/damage</a:t>
            </a:r>
          </a:p>
          <a:p>
            <a:pPr>
              <a:buFont typeface="Arial" pitchFamily="34" charset="0"/>
              <a:buChar char="•"/>
            </a:pPr>
            <a:r>
              <a:rPr lang="en-AU" sz="1200" kern="1200" dirty="0" smtClean="0">
                <a:solidFill>
                  <a:schemeClr val="tx1"/>
                </a:solidFill>
                <a:latin typeface="+mn-lt"/>
                <a:ea typeface="+mn-ea"/>
                <a:cs typeface="+mn-cs"/>
              </a:rPr>
              <a:t> Explanation of action taken to maintain security at the site</a:t>
            </a:r>
          </a:p>
          <a:p>
            <a:pPr>
              <a:buFont typeface="Arial" pitchFamily="34" charset="0"/>
              <a:buChar char="•"/>
            </a:pPr>
            <a:r>
              <a:rPr lang="en-AU" sz="1200" kern="1200" dirty="0" smtClean="0">
                <a:solidFill>
                  <a:schemeClr val="tx1"/>
                </a:solidFill>
                <a:latin typeface="+mn-lt"/>
                <a:ea typeface="+mn-ea"/>
                <a:cs typeface="+mn-cs"/>
              </a:rPr>
              <a:t> Suggestions for action to take – this is often extremely beneficial as you can be expected to have a detailed knowledge of the venue, the situations, possible threats and practical options for addressing the problem..</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a:t>
            </a:r>
          </a:p>
          <a:p>
            <a:pPr>
              <a:buFont typeface="Arial" pitchFamily="34" charset="0"/>
              <a:buChar char="•"/>
            </a:pPr>
            <a:r>
              <a:rPr lang="en-AU" b="0" noProof="0" dirty="0" smtClean="0"/>
              <a:t> Demonstrates reporting damaged/faulty security</a:t>
            </a:r>
            <a:r>
              <a:rPr lang="en-AU" b="0" baseline="0" noProof="0" dirty="0" smtClean="0"/>
              <a:t> equipment using documentation</a:t>
            </a:r>
          </a:p>
          <a:p>
            <a:pPr>
              <a:buFont typeface="Arial" pitchFamily="34" charset="0"/>
              <a:buChar char="•"/>
            </a:pPr>
            <a:r>
              <a:rPr lang="en-AU" b="0" baseline="0" noProof="0" dirty="0" smtClean="0"/>
              <a:t> Provides opportunity for students to do same.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students will need to arrange back-up items or systems where damaged or faulty systems cannot be fixed:</a:t>
            </a:r>
          </a:p>
          <a:p>
            <a:pPr>
              <a:buFont typeface="Arial" pitchFamily="34" charset="0"/>
              <a:buChar char="•"/>
            </a:pPr>
            <a:r>
              <a:rPr lang="en-AU" sz="1200" kern="1200" dirty="0" smtClean="0">
                <a:solidFill>
                  <a:schemeClr val="tx1"/>
                </a:solidFill>
                <a:latin typeface="+mn-lt"/>
                <a:ea typeface="+mn-ea"/>
                <a:cs typeface="+mn-cs"/>
              </a:rPr>
              <a:t> By them on-the-spot – using their training, experience, common sense</a:t>
            </a:r>
          </a:p>
          <a:p>
            <a:pPr>
              <a:buFont typeface="Arial" pitchFamily="34" charset="0"/>
              <a:buChar char="•"/>
            </a:pPr>
            <a:r>
              <a:rPr lang="en-AU" sz="1200" kern="1200" dirty="0" smtClean="0">
                <a:solidFill>
                  <a:schemeClr val="tx1"/>
                </a:solidFill>
                <a:latin typeface="+mn-lt"/>
                <a:ea typeface="+mn-ea"/>
                <a:cs typeface="+mn-cs"/>
              </a:rPr>
              <a:t> By others in the workplace – such as qualified technicians or maintenance staff</a:t>
            </a:r>
          </a:p>
          <a:p>
            <a:pPr>
              <a:buFont typeface="Arial" pitchFamily="34" charset="0"/>
              <a:buChar char="•"/>
            </a:pPr>
            <a:r>
              <a:rPr lang="en-AU" sz="1200" kern="1200" dirty="0" smtClean="0">
                <a:solidFill>
                  <a:schemeClr val="tx1"/>
                </a:solidFill>
                <a:latin typeface="+mn-lt"/>
                <a:ea typeface="+mn-ea"/>
                <a:cs typeface="+mn-cs"/>
              </a:rPr>
              <a:t> By external providers – who have attended and inspected/diagnosed the problem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the reality of workplaces in relation to back-up systems stating in </a:t>
            </a:r>
            <a:r>
              <a:rPr lang="en-AU" sz="1200" kern="1200" dirty="0" smtClean="0">
                <a:solidFill>
                  <a:schemeClr val="tx1"/>
                </a:solidFill>
                <a:latin typeface="+mn-lt"/>
                <a:ea typeface="+mn-ea"/>
                <a:cs typeface="+mn-cs"/>
              </a:rPr>
              <a:t>most cases venues do not have back-up ‘security systems’ because:</a:t>
            </a:r>
          </a:p>
          <a:p>
            <a:pPr>
              <a:buFont typeface="Arial" pitchFamily="34" charset="0"/>
              <a:buChar char="•"/>
            </a:pPr>
            <a:r>
              <a:rPr lang="en-AU" sz="1200" kern="1200" dirty="0" smtClean="0">
                <a:solidFill>
                  <a:schemeClr val="tx1"/>
                </a:solidFill>
                <a:latin typeface="+mn-lt"/>
                <a:ea typeface="+mn-ea"/>
                <a:cs typeface="+mn-cs"/>
              </a:rPr>
              <a:t> They are too expensive to duplicate</a:t>
            </a:r>
          </a:p>
          <a:p>
            <a:pPr>
              <a:buFont typeface="Arial" pitchFamily="34" charset="0"/>
              <a:buChar char="•"/>
            </a:pPr>
            <a:r>
              <a:rPr lang="en-AU" sz="1200" kern="1200" dirty="0" smtClean="0">
                <a:solidFill>
                  <a:schemeClr val="tx1"/>
                </a:solidFill>
                <a:latin typeface="+mn-lt"/>
                <a:ea typeface="+mn-ea"/>
                <a:cs typeface="+mn-cs"/>
              </a:rPr>
              <a:t> They are too complex – in terms of how and where they are installed.</a:t>
            </a:r>
          </a:p>
          <a:p>
            <a:pPr>
              <a:buFont typeface="Arial" pitchFamily="34" charset="0"/>
              <a:buChar char="•"/>
            </a:pPr>
            <a:r>
              <a:rPr lang="en-AU" sz="1200" kern="1200" dirty="0" smtClean="0">
                <a:solidFill>
                  <a:schemeClr val="tx1"/>
                </a:solidFill>
                <a:latin typeface="+mn-lt"/>
                <a:ea typeface="+mn-ea"/>
                <a:cs typeface="+mn-cs"/>
              </a:rPr>
              <a:t> Instead venues will probably have replacement ‘components’ (such as spare/replacement cameras, spare detectors, spare VDUs or an assortment of general ‘spare parts’).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in </a:t>
            </a:r>
            <a:r>
              <a:rPr lang="en-AU" sz="1200" kern="1200" dirty="0" smtClean="0">
                <a:solidFill>
                  <a:schemeClr val="tx1"/>
                </a:solidFill>
                <a:latin typeface="+mn-lt"/>
                <a:ea typeface="+mn-ea"/>
                <a:cs typeface="+mn-cs"/>
              </a:rPr>
              <a:t>this context ‘security systems’ refers to:</a:t>
            </a:r>
          </a:p>
          <a:p>
            <a:pPr>
              <a:buFont typeface="Arial" pitchFamily="34" charset="0"/>
              <a:buChar char="•"/>
            </a:pPr>
            <a:r>
              <a:rPr lang="en-AU" sz="1200" kern="1200" dirty="0" smtClean="0">
                <a:solidFill>
                  <a:schemeClr val="tx1"/>
                </a:solidFill>
                <a:latin typeface="+mn-lt"/>
                <a:ea typeface="+mn-ea"/>
                <a:cs typeface="+mn-cs"/>
              </a:rPr>
              <a:t> Large items of security equipment such as:</a:t>
            </a:r>
          </a:p>
          <a:p>
            <a:pPr lvl="1">
              <a:buFont typeface="Arial" pitchFamily="34" charset="0"/>
              <a:buChar char="•"/>
            </a:pPr>
            <a:r>
              <a:rPr lang="en-US" sz="1200" kern="1200" dirty="0" smtClean="0">
                <a:solidFill>
                  <a:schemeClr val="tx1"/>
                </a:solidFill>
                <a:latin typeface="+mn-lt"/>
                <a:ea typeface="+mn-ea"/>
                <a:cs typeface="+mn-cs"/>
              </a:rPr>
              <a:t> Walk-though scanners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Conveyor belt baggage scanners/X-ray machines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Fire monitoring systems </a:t>
            </a:r>
          </a:p>
          <a:p>
            <a:pPr>
              <a:buFont typeface="Arial" pitchFamily="34" charset="0"/>
              <a:buChar char="•"/>
            </a:pPr>
            <a:r>
              <a:rPr lang="en-AU" sz="1200" kern="1200" dirty="0" smtClean="0">
                <a:solidFill>
                  <a:schemeClr val="tx1"/>
                </a:solidFill>
                <a:latin typeface="+mn-lt"/>
                <a:ea typeface="+mn-ea"/>
                <a:cs typeface="+mn-cs"/>
              </a:rPr>
              <a:t> Intruder/intrusion detection systems.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given </a:t>
            </a:r>
            <a:r>
              <a:rPr lang="en-AU" sz="1200" kern="1200" dirty="0" smtClean="0">
                <a:solidFill>
                  <a:schemeClr val="tx1"/>
                </a:solidFill>
                <a:latin typeface="+mn-lt"/>
                <a:ea typeface="+mn-ea"/>
                <a:cs typeface="+mn-cs"/>
              </a:rPr>
              <a:t>the usual lack of a full back-up system on site, when ‘the system’ fails students will need to: </a:t>
            </a:r>
          </a:p>
          <a:p>
            <a:pPr>
              <a:buFont typeface="Arial" pitchFamily="34" charset="0"/>
              <a:buChar char="•"/>
            </a:pPr>
            <a:r>
              <a:rPr lang="en-AU" sz="1200" kern="1200" dirty="0" smtClean="0">
                <a:solidFill>
                  <a:schemeClr val="tx1"/>
                </a:solidFill>
                <a:latin typeface="+mn-lt"/>
                <a:ea typeface="+mn-ea"/>
                <a:cs typeface="+mn-cs"/>
              </a:rPr>
              <a:t> Be alert to the possibility the system failure was the result of an intentional act caused by a would-be offender – a standard response to system failure is to enhance on-the-ground, eyes-on security </a:t>
            </a:r>
          </a:p>
          <a:p>
            <a:pPr>
              <a:buFont typeface="Arial" pitchFamily="34" charset="0"/>
              <a:buChar char="•"/>
            </a:pPr>
            <a:r>
              <a:rPr lang="en-AU" sz="1200" kern="1200" dirty="0" smtClean="0">
                <a:solidFill>
                  <a:schemeClr val="tx1"/>
                </a:solidFill>
                <a:latin typeface="+mn-lt"/>
                <a:ea typeface="+mn-ea"/>
                <a:cs typeface="+mn-cs"/>
              </a:rPr>
              <a:t> Run immediate system diagnostic checks – many systems have the capacity to self-diagnose a problem and report on what can be done to fix the problem</a:t>
            </a:r>
          </a:p>
          <a:p>
            <a:pPr>
              <a:buFont typeface="Arial" pitchFamily="34" charset="0"/>
              <a:buChar char="•"/>
            </a:pPr>
            <a:r>
              <a:rPr lang="en-AU" sz="1200" kern="1200" dirty="0" smtClean="0">
                <a:solidFill>
                  <a:schemeClr val="tx1"/>
                </a:solidFill>
                <a:latin typeface="+mn-lt"/>
                <a:ea typeface="+mn-ea"/>
                <a:cs typeface="+mn-cs"/>
              </a:rPr>
              <a:t> Contact the manufacturer/provider:</a:t>
            </a:r>
          </a:p>
          <a:p>
            <a:pPr lvl="1">
              <a:buFont typeface="Arial" pitchFamily="34" charset="0"/>
              <a:buChar char="•"/>
            </a:pPr>
            <a:r>
              <a:rPr lang="en-US" sz="1200" kern="1200" dirty="0" smtClean="0">
                <a:solidFill>
                  <a:schemeClr val="tx1"/>
                </a:solidFill>
                <a:latin typeface="+mn-lt"/>
                <a:ea typeface="+mn-ea"/>
                <a:cs typeface="+mn-cs"/>
              </a:rPr>
              <a:t> Some systems and equipment can be remotely interrogated to identify faults and problems and some (relatively few) can even be repaired from this remote location)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They may be able to provide over-the-phone advice about what to do to (try to) fix the problem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initiate a service call to address the situation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Contact remote control rooms which may be linked to/monitoring the systems – in order to:</a:t>
            </a:r>
          </a:p>
          <a:p>
            <a:pPr lvl="1">
              <a:buFont typeface="Arial" pitchFamily="34" charset="0"/>
              <a:buChar char="•"/>
            </a:pPr>
            <a:r>
              <a:rPr lang="en-US" sz="1200" kern="1200" dirty="0" smtClean="0">
                <a:solidFill>
                  <a:schemeClr val="tx1"/>
                </a:solidFill>
                <a:latin typeface="+mn-lt"/>
                <a:ea typeface="+mn-ea"/>
                <a:cs typeface="+mn-cs"/>
              </a:rPr>
              <a:t> Determine if they have the same indicators of malfunction you are experiencing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Identify if they can suggest remedial action which may be taken to retrieve the situation</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possible practical responses when security systems/equipment are faulty or damaged;</a:t>
            </a:r>
          </a:p>
          <a:p>
            <a:pPr>
              <a:buFont typeface="Arial" pitchFamily="34" charset="0"/>
              <a:buChar char="•"/>
            </a:pPr>
            <a:r>
              <a:rPr lang="en-AU" sz="1200" kern="1200" dirty="0" smtClean="0">
                <a:solidFill>
                  <a:schemeClr val="tx1"/>
                </a:solidFill>
                <a:latin typeface="+mn-lt"/>
                <a:ea typeface="+mn-ea"/>
                <a:cs typeface="+mn-cs"/>
              </a:rPr>
              <a:t> Contact the external security company used by your venue – this can be a formal SOP where systems fail so as to:</a:t>
            </a:r>
          </a:p>
          <a:p>
            <a:pPr lvl="1">
              <a:buFont typeface="Arial" pitchFamily="34" charset="0"/>
              <a:buChar char="•"/>
            </a:pPr>
            <a:r>
              <a:rPr lang="en-US" sz="1200" kern="1200" dirty="0" smtClean="0">
                <a:solidFill>
                  <a:schemeClr val="tx1"/>
                </a:solidFill>
                <a:latin typeface="+mn-lt"/>
                <a:ea typeface="+mn-ea"/>
                <a:cs typeface="+mn-cs"/>
              </a:rPr>
              <a:t> Advise them of the situation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Call in extra security officers to provide additional security coverage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Contact the authorities – this can mean:</a:t>
            </a:r>
          </a:p>
          <a:p>
            <a:pPr lvl="1">
              <a:buFont typeface="Arial" pitchFamily="34" charset="0"/>
              <a:buChar char="•"/>
            </a:pPr>
            <a:r>
              <a:rPr lang="en-US" sz="1200" kern="1200" dirty="0" smtClean="0">
                <a:solidFill>
                  <a:schemeClr val="tx1"/>
                </a:solidFill>
                <a:latin typeface="+mn-lt"/>
                <a:ea typeface="+mn-ea"/>
                <a:cs typeface="+mn-cs"/>
              </a:rPr>
              <a:t> Notifying the police where intruder systems have gone down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Advising the fire authorities win situations where the fire monitoring system has failed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Initiate an alternate security strategy to deal with the situation – most venues will have a set of contingency plans developed to deal with situations where major security systems fail. Generic options include:</a:t>
            </a:r>
          </a:p>
          <a:p>
            <a:pPr lvl="1">
              <a:buFont typeface="Arial" pitchFamily="34" charset="0"/>
              <a:buChar char="•"/>
            </a:pPr>
            <a:r>
              <a:rPr lang="en-US" sz="1200" kern="1200" dirty="0" smtClean="0">
                <a:solidFill>
                  <a:schemeClr val="tx1"/>
                </a:solidFill>
                <a:latin typeface="+mn-lt"/>
                <a:ea typeface="+mn-ea"/>
                <a:cs typeface="+mn-cs"/>
              </a:rPr>
              <a:t> Increased foot patrols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Higher levels of awareness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Increased checks and inspections.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additional information and advice in regard to this topic stating </a:t>
            </a:r>
            <a:r>
              <a:rPr lang="en-AU" sz="1200" kern="1200" dirty="0" smtClean="0">
                <a:solidFill>
                  <a:schemeClr val="tx1"/>
                </a:solidFill>
                <a:latin typeface="+mn-lt"/>
                <a:ea typeface="+mn-ea"/>
                <a:cs typeface="+mn-cs"/>
              </a:rPr>
              <a:t>in these circumstances students should: </a:t>
            </a:r>
          </a:p>
          <a:p>
            <a:pPr>
              <a:buFont typeface="Arial" pitchFamily="34" charset="0"/>
              <a:buChar char="•"/>
            </a:pPr>
            <a:r>
              <a:rPr lang="en-AU" sz="1200" kern="1200" dirty="0" smtClean="0">
                <a:solidFill>
                  <a:schemeClr val="tx1"/>
                </a:solidFill>
                <a:latin typeface="+mn-lt"/>
                <a:ea typeface="+mn-ea"/>
                <a:cs typeface="+mn-cs"/>
              </a:rPr>
              <a:t> Respond quickly</a:t>
            </a:r>
          </a:p>
          <a:p>
            <a:pPr>
              <a:buFont typeface="Arial" pitchFamily="34" charset="0"/>
              <a:buChar char="•"/>
            </a:pPr>
            <a:r>
              <a:rPr lang="en-AU" sz="1200" kern="1200" dirty="0" smtClean="0">
                <a:solidFill>
                  <a:schemeClr val="tx1"/>
                </a:solidFill>
                <a:latin typeface="+mn-lt"/>
                <a:ea typeface="+mn-ea"/>
                <a:cs typeface="+mn-cs"/>
              </a:rPr>
              <a:t> Stay within designated scope of authority … but you will be expected to exercise common sense and initiative: this is a fine balancing act but one management will expect you to discharge</a:t>
            </a:r>
          </a:p>
          <a:p>
            <a:pPr>
              <a:buFont typeface="Arial" pitchFamily="34" charset="0"/>
              <a:buChar char="•"/>
            </a:pPr>
            <a:r>
              <a:rPr lang="en-AU" sz="1200" kern="1200" dirty="0" smtClean="0">
                <a:solidFill>
                  <a:schemeClr val="tx1"/>
                </a:solidFill>
                <a:latin typeface="+mn-lt"/>
                <a:ea typeface="+mn-ea"/>
                <a:cs typeface="+mn-cs"/>
              </a:rPr>
              <a:t> Notify others – communication with internal and external personnel is critical</a:t>
            </a:r>
          </a:p>
          <a:p>
            <a:pPr>
              <a:buFont typeface="Arial" pitchFamily="34" charset="0"/>
              <a:buChar char="•"/>
            </a:pPr>
            <a:r>
              <a:rPr lang="en-AU" sz="1200" kern="1200" dirty="0" smtClean="0">
                <a:solidFill>
                  <a:schemeClr val="tx1"/>
                </a:solidFill>
                <a:latin typeface="+mn-lt"/>
                <a:ea typeface="+mn-ea"/>
                <a:cs typeface="+mn-cs"/>
              </a:rPr>
              <a:t> Be ready to limit normal activities – as required in order to respond effectively. This may include:</a:t>
            </a:r>
          </a:p>
          <a:p>
            <a:pPr lvl="1">
              <a:buFont typeface="Arial" pitchFamily="34" charset="0"/>
              <a:buChar char="•"/>
            </a:pPr>
            <a:r>
              <a:rPr lang="en-US" sz="1200" kern="1200" dirty="0" smtClean="0">
                <a:solidFill>
                  <a:schemeClr val="tx1"/>
                </a:solidFill>
                <a:latin typeface="+mn-lt"/>
                <a:ea typeface="+mn-ea"/>
                <a:cs typeface="+mn-cs"/>
              </a:rPr>
              <a:t> Closing some entry and exit points – or making sure there is only one ingress/egress point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Prohibiting vehicle access to nominated areas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Restricting access to high-risk areas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Record the situation – take notes of what happened and your actions; note times and who was involved; use cameras to record physical evidence</a:t>
            </a:r>
          </a:p>
          <a:p>
            <a:pPr>
              <a:buFont typeface="Arial" pitchFamily="34" charset="0"/>
              <a:buChar char="•"/>
            </a:pPr>
            <a:r>
              <a:rPr lang="en-AU" sz="1200" kern="1200" dirty="0" smtClean="0">
                <a:solidFill>
                  <a:schemeClr val="tx1"/>
                </a:solidFill>
                <a:latin typeface="+mn-lt"/>
                <a:ea typeface="+mn-ea"/>
                <a:cs typeface="+mn-cs"/>
              </a:rPr>
              <a:t> Actively participate in the de-brief which normally follows such situations – to provide information which may be able to be used to:</a:t>
            </a:r>
          </a:p>
          <a:p>
            <a:pPr lvl="1">
              <a:buFont typeface="Arial" pitchFamily="34" charset="0"/>
              <a:buChar char="•"/>
            </a:pPr>
            <a:r>
              <a:rPr lang="en-US" sz="1200" kern="1200" dirty="0" smtClean="0">
                <a:solidFill>
                  <a:schemeClr val="tx1"/>
                </a:solidFill>
                <a:latin typeface="+mn-lt"/>
                <a:ea typeface="+mn-ea"/>
                <a:cs typeface="+mn-cs"/>
              </a:rPr>
              <a:t> Prevent a recurrence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Enhance future responses to similar situations.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background information on internal records and reports:</a:t>
            </a:r>
          </a:p>
          <a:p>
            <a:pPr>
              <a:buFont typeface="Arial" pitchFamily="34" charset="0"/>
              <a:buChar char="•"/>
            </a:pPr>
            <a:r>
              <a:rPr lang="en-AU" sz="1200" kern="1200" dirty="0" smtClean="0">
                <a:solidFill>
                  <a:schemeClr val="tx1"/>
                </a:solidFill>
                <a:latin typeface="+mn-lt"/>
                <a:ea typeface="+mn-ea"/>
                <a:cs typeface="+mn-cs"/>
              </a:rPr>
              <a:t> These vary between venues – what is required in one venue is not required in another; what does not have to be reported/recorded in one premises does have to be reported/recorded elsewhere</a:t>
            </a:r>
          </a:p>
          <a:p>
            <a:pPr>
              <a:buFont typeface="Arial" pitchFamily="34" charset="0"/>
              <a:buChar char="•"/>
            </a:pPr>
            <a:r>
              <a:rPr lang="en-AU" sz="1200" kern="1200" dirty="0" smtClean="0">
                <a:solidFill>
                  <a:schemeClr val="tx1"/>
                </a:solidFill>
                <a:latin typeface="+mn-lt"/>
                <a:ea typeface="+mn-ea"/>
                <a:cs typeface="+mn-cs"/>
              </a:rPr>
              <a:t> It is important to complete the documents in a timely manner – in practice this means filling in reports and records ‘immediately’ after an incident, event or nominated activity</a:t>
            </a:r>
          </a:p>
          <a:p>
            <a:pPr>
              <a:buFont typeface="Arial" pitchFamily="34" charset="0"/>
              <a:buChar char="•"/>
            </a:pPr>
            <a:r>
              <a:rPr lang="en-AU" sz="1200" kern="1200" dirty="0" smtClean="0">
                <a:solidFill>
                  <a:schemeClr val="tx1"/>
                </a:solidFill>
                <a:latin typeface="+mn-lt"/>
                <a:ea typeface="+mn-ea"/>
                <a:cs typeface="+mn-cs"/>
              </a:rPr>
              <a:t> Completed documentation needs to be ‘forwarded’ – there is always a need to file a form or hand it in to a designated person/department</a:t>
            </a:r>
          </a:p>
          <a:p>
            <a:pPr>
              <a:buFont typeface="Arial" pitchFamily="34" charset="0"/>
              <a:buChar char="•"/>
            </a:pPr>
            <a:r>
              <a:rPr lang="en-AU" sz="1200" kern="1200" dirty="0" smtClean="0">
                <a:solidFill>
                  <a:schemeClr val="tx1"/>
                </a:solidFill>
                <a:latin typeface="+mn-lt"/>
                <a:ea typeface="+mn-ea"/>
                <a:cs typeface="+mn-cs"/>
              </a:rPr>
              <a:t> Accuracy is vital – it is essential you take the time to make sure all the details (information as well as statistical data) is correct in every aspect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background information on internal records and reports:</a:t>
            </a:r>
          </a:p>
          <a:p>
            <a:pPr>
              <a:buFont typeface="Arial" pitchFamily="34" charset="0"/>
              <a:buChar char="•"/>
            </a:pPr>
            <a:r>
              <a:rPr lang="en-AU" sz="1200" kern="1200" dirty="0" smtClean="0">
                <a:solidFill>
                  <a:schemeClr val="tx1"/>
                </a:solidFill>
                <a:latin typeface="+mn-lt"/>
                <a:ea typeface="+mn-ea"/>
                <a:cs typeface="+mn-cs"/>
              </a:rPr>
              <a:t> Obtain necessary in-house training – all venues will provide advice and instruction on:</a:t>
            </a:r>
          </a:p>
          <a:p>
            <a:pPr lvl="1">
              <a:buFont typeface="Arial" pitchFamily="34" charset="0"/>
              <a:buChar char="•"/>
            </a:pPr>
            <a:r>
              <a:rPr lang="en-US" sz="1200" kern="1200" dirty="0" smtClean="0">
                <a:solidFill>
                  <a:schemeClr val="tx1"/>
                </a:solidFill>
                <a:latin typeface="+mn-lt"/>
                <a:ea typeface="+mn-ea"/>
                <a:cs typeface="+mn-cs"/>
              </a:rPr>
              <a:t> Which documents to use when a report/record is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complete the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to complete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What to do with them when they are completed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Make an effort to look at records/reports others have completed – to get a ‘feel’ for how they complete them, the language and phrases used, and the detail included</a:t>
            </a:r>
          </a:p>
          <a:p>
            <a:pPr>
              <a:buFont typeface="Arial" pitchFamily="34" charset="0"/>
              <a:buChar char="•"/>
            </a:pPr>
            <a:r>
              <a:rPr lang="en-AU" sz="1200" kern="1200" dirty="0" smtClean="0">
                <a:solidFill>
                  <a:schemeClr val="tx1"/>
                </a:solidFill>
                <a:latin typeface="+mn-lt"/>
                <a:ea typeface="+mn-ea"/>
                <a:cs typeface="+mn-cs"/>
              </a:rPr>
              <a:t> Keep a copy of any records/reports you complete – for your own records/purposes ‘after the event’ </a:t>
            </a:r>
          </a:p>
          <a:p>
            <a:pPr>
              <a:buFont typeface="Arial" pitchFamily="34" charset="0"/>
              <a:buChar char="•"/>
            </a:pPr>
            <a:r>
              <a:rPr lang="en-AU" sz="1200" kern="1200" dirty="0" smtClean="0">
                <a:solidFill>
                  <a:schemeClr val="tx1"/>
                </a:solidFill>
                <a:latin typeface="+mn-lt"/>
                <a:ea typeface="+mn-ea"/>
                <a:cs typeface="+mn-cs"/>
              </a:rPr>
              <a:t> Seek advice – when uncertain about:</a:t>
            </a:r>
          </a:p>
          <a:p>
            <a:pPr lvl="1">
              <a:buFont typeface="Arial" pitchFamily="34" charset="0"/>
              <a:buChar char="•"/>
            </a:pPr>
            <a:r>
              <a:rPr lang="en-US" sz="1200" kern="1200" dirty="0" smtClean="0">
                <a:solidFill>
                  <a:schemeClr val="tx1"/>
                </a:solidFill>
                <a:latin typeface="+mn-lt"/>
                <a:ea typeface="+mn-ea"/>
                <a:cs typeface="+mn-cs"/>
              </a:rPr>
              <a:t> Whether a record/report is required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Details/information required</a:t>
            </a:r>
          </a:p>
          <a:p>
            <a:pPr lvl="0">
              <a:buFont typeface="Arial" pitchFamily="34" charset="0"/>
              <a:buChar char="•"/>
            </a:pPr>
            <a:r>
              <a:rPr lang="en-US" sz="1200" kern="1200" dirty="0" smtClean="0">
                <a:solidFill>
                  <a:schemeClr val="tx1"/>
                </a:solidFill>
                <a:latin typeface="+mn-lt"/>
                <a:ea typeface="+mn-ea"/>
                <a:cs typeface="+mn-cs"/>
              </a:rPr>
              <a:t> Documents may be electronic or paper-based.</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records and reports which may need to be completed:</a:t>
            </a:r>
          </a:p>
          <a:p>
            <a:pPr>
              <a:buFont typeface="Arial" pitchFamily="34" charset="0"/>
              <a:buChar char="•"/>
            </a:pPr>
            <a:r>
              <a:rPr lang="en-AU" sz="1200" kern="1200" dirty="0" smtClean="0">
                <a:solidFill>
                  <a:schemeClr val="tx1"/>
                </a:solidFill>
                <a:latin typeface="+mn-lt"/>
                <a:ea typeface="+mn-ea"/>
                <a:cs typeface="+mn-cs"/>
              </a:rPr>
              <a:t> Communications book – used by venues to facilitate communication between staff who work different shifts/days.</a:t>
            </a:r>
          </a:p>
          <a:p>
            <a:pPr>
              <a:buFont typeface="Arial" pitchFamily="34" charset="0"/>
              <a:buChar char="•"/>
            </a:pPr>
            <a:r>
              <a:rPr lang="en-AU" sz="1200" kern="1200" dirty="0" smtClean="0">
                <a:solidFill>
                  <a:schemeClr val="tx1"/>
                </a:solidFill>
                <a:latin typeface="+mn-lt"/>
                <a:ea typeface="+mn-ea"/>
                <a:cs typeface="+mn-cs"/>
              </a:rPr>
              <a:t> Maintenance Request forms – also known in some venues as Maintenance Requisitions</a:t>
            </a:r>
          </a:p>
          <a:p>
            <a:pPr>
              <a:buFont typeface="Arial" pitchFamily="34" charset="0"/>
              <a:buChar char="•"/>
            </a:pPr>
            <a:r>
              <a:rPr lang="en-AU" sz="1200" kern="1200" dirty="0" smtClean="0">
                <a:solidFill>
                  <a:schemeClr val="tx1"/>
                </a:solidFill>
                <a:latin typeface="+mn-lt"/>
                <a:ea typeface="+mn-ea"/>
                <a:cs typeface="+mn-cs"/>
              </a:rPr>
              <a:t> Maintenance reports – detailing repairs, service and maintenance on items specifying what was done, when it was done and who did it. This form is required when maintenance is undertaken by internal staff or an external provider.</a:t>
            </a:r>
          </a:p>
          <a:p>
            <a:pPr>
              <a:buFont typeface="Arial" pitchFamily="34" charset="0"/>
              <a:buChar char="•"/>
            </a:pPr>
            <a:r>
              <a:rPr lang="en-AU" sz="1200" kern="1200" dirty="0" smtClean="0">
                <a:solidFill>
                  <a:schemeClr val="tx1"/>
                </a:solidFill>
                <a:latin typeface="+mn-lt"/>
                <a:ea typeface="+mn-ea"/>
                <a:cs typeface="+mn-cs"/>
              </a:rPr>
              <a:t> Time sheets – detailing hours worked for a shift: a time clock may replace the need to complete a paper-based time sheet</a:t>
            </a:r>
          </a:p>
          <a:p>
            <a:pPr>
              <a:buFont typeface="Arial" pitchFamily="34" charset="0"/>
              <a:buChar char="•"/>
            </a:pPr>
            <a:r>
              <a:rPr lang="en-AU" sz="1200" kern="1200" dirty="0" smtClean="0">
                <a:solidFill>
                  <a:schemeClr val="tx1"/>
                </a:solidFill>
                <a:latin typeface="+mn-lt"/>
                <a:ea typeface="+mn-ea"/>
                <a:cs typeface="+mn-cs"/>
              </a:rPr>
              <a:t> Task assignments – at the end of the allocated assignment</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records/reports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endParaRPr lang="en-AU" sz="1200" kern="1200" noProof="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records and reports which may need to be completed:</a:t>
            </a:r>
          </a:p>
          <a:p>
            <a:pPr>
              <a:buFont typeface="Arial" pitchFamily="34" charset="0"/>
              <a:buChar char="•"/>
            </a:pPr>
            <a:r>
              <a:rPr lang="en-AU" sz="1200" kern="1200" dirty="0" smtClean="0">
                <a:solidFill>
                  <a:schemeClr val="tx1"/>
                </a:solidFill>
                <a:latin typeface="+mn-lt"/>
                <a:ea typeface="+mn-ea"/>
                <a:cs typeface="+mn-cs"/>
              </a:rPr>
              <a:t> Job cards/sheets – when allocated work (inspections, repairs, replacements) have been finalised this record will detail:</a:t>
            </a:r>
          </a:p>
          <a:p>
            <a:pPr lvl="1">
              <a:buFont typeface="Arial" pitchFamily="34" charset="0"/>
              <a:buChar char="•"/>
            </a:pPr>
            <a:r>
              <a:rPr lang="en-US" sz="1200" kern="1200" dirty="0" smtClean="0">
                <a:solidFill>
                  <a:schemeClr val="tx1"/>
                </a:solidFill>
                <a:latin typeface="+mn-lt"/>
                <a:ea typeface="+mn-ea"/>
                <a:cs typeface="+mn-cs"/>
              </a:rPr>
              <a:t> Who did the job</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 taken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Materials used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Parts and components replaced.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These details enable costing of work done.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Patrol reports – at the end of vehicle and foot patrols completed at the end of the patrol or end-of-shift to record times and routes as well as operational details</a:t>
            </a:r>
          </a:p>
          <a:p>
            <a:pPr>
              <a:buFont typeface="Arial" pitchFamily="34" charset="0"/>
              <a:buChar char="•"/>
            </a:pPr>
            <a:r>
              <a:rPr lang="en-AU" sz="1200" kern="1200" dirty="0" smtClean="0">
                <a:solidFill>
                  <a:schemeClr val="tx1"/>
                </a:solidFill>
                <a:latin typeface="+mn-lt"/>
                <a:ea typeface="+mn-ea"/>
                <a:cs typeface="+mn-cs"/>
              </a:rPr>
              <a:t> Suspicious person report – completed at the end of the patrol, end-of-shift or after having responded to a call from venue staff to investigate</a:t>
            </a:r>
          </a:p>
          <a:p>
            <a:pPr>
              <a:buFont typeface="Arial" pitchFamily="34" charset="0"/>
              <a:buChar char="•"/>
            </a:pPr>
            <a:r>
              <a:rPr lang="en-AU" sz="1200" kern="1200" dirty="0" smtClean="0">
                <a:solidFill>
                  <a:schemeClr val="tx1"/>
                </a:solidFill>
                <a:latin typeface="+mn-lt"/>
                <a:ea typeface="+mn-ea"/>
                <a:cs typeface="+mn-cs"/>
              </a:rPr>
              <a:t> Incident report – to record details relating to an incident which has occurred in the venue</a:t>
            </a:r>
          </a:p>
          <a:p>
            <a:pPr>
              <a:buFont typeface="Arial" pitchFamily="34" charset="0"/>
              <a:buChar char="•"/>
            </a:pPr>
            <a:r>
              <a:rPr lang="en-AU" sz="1200" kern="1200" dirty="0" smtClean="0">
                <a:solidFill>
                  <a:schemeClr val="tx1"/>
                </a:solidFill>
                <a:latin typeface="+mn-lt"/>
                <a:ea typeface="+mn-ea"/>
                <a:cs typeface="+mn-cs"/>
              </a:rPr>
              <a:t> CCTV surveillance records – to identify discs/tapes stored/maintained for different dates, times and locations/cameras</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records/reports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records and reports which may need to be completed:</a:t>
            </a:r>
          </a:p>
          <a:p>
            <a:pPr>
              <a:buFont typeface="Arial" pitchFamily="34" charset="0"/>
              <a:buChar char="•"/>
            </a:pPr>
            <a:r>
              <a:rPr lang="en-AU" sz="1200" kern="1200" dirty="0" smtClean="0">
                <a:solidFill>
                  <a:schemeClr val="tx1"/>
                </a:solidFill>
                <a:latin typeface="+mn-lt"/>
                <a:ea typeface="+mn-ea"/>
                <a:cs typeface="+mn-cs"/>
              </a:rPr>
              <a:t> Alarm reports – identifying activated alarms, locations, times and causes including false alarms</a:t>
            </a:r>
          </a:p>
          <a:p>
            <a:pPr>
              <a:buFont typeface="Arial" pitchFamily="34" charset="0"/>
              <a:buChar char="•"/>
            </a:pPr>
            <a:r>
              <a:rPr lang="en-AU" sz="1200" kern="1200" dirty="0" smtClean="0">
                <a:solidFill>
                  <a:schemeClr val="tx1"/>
                </a:solidFill>
                <a:latin typeface="+mn-lt"/>
                <a:ea typeface="+mn-ea"/>
                <a:cs typeface="+mn-cs"/>
              </a:rPr>
              <a:t> Response reports – detailing action taken in response to alarms and calls for assistance</a:t>
            </a:r>
          </a:p>
          <a:p>
            <a:pPr>
              <a:buFont typeface="Arial" pitchFamily="34" charset="0"/>
              <a:buChar char="•"/>
            </a:pPr>
            <a:r>
              <a:rPr lang="en-AU" sz="1200" kern="1200" dirty="0" smtClean="0">
                <a:solidFill>
                  <a:schemeClr val="tx1"/>
                </a:solidFill>
                <a:latin typeface="+mn-lt"/>
                <a:ea typeface="+mn-ea"/>
                <a:cs typeface="+mn-cs"/>
              </a:rPr>
              <a:t> Equipment faults log – this is used to report operational faults in systems and equipment and to record action taken to record diagnoses</a:t>
            </a:r>
          </a:p>
          <a:p>
            <a:pPr>
              <a:buFont typeface="Arial" pitchFamily="34" charset="0"/>
              <a:buChar char="•"/>
            </a:pPr>
            <a:r>
              <a:rPr lang="en-AU" sz="1200" kern="1200" dirty="0" smtClean="0">
                <a:solidFill>
                  <a:schemeClr val="tx1"/>
                </a:solidFill>
                <a:latin typeface="+mn-lt"/>
                <a:ea typeface="+mn-ea"/>
                <a:cs typeface="+mn-cs"/>
              </a:rPr>
              <a:t> Testing and inspection records – which: </a:t>
            </a:r>
          </a:p>
          <a:p>
            <a:pPr lvl="1">
              <a:buFont typeface="Arial" pitchFamily="34" charset="0"/>
              <a:buChar char="•"/>
            </a:pPr>
            <a:r>
              <a:rPr lang="en-US" sz="1200" kern="1200" dirty="0" smtClean="0">
                <a:solidFill>
                  <a:schemeClr val="tx1"/>
                </a:solidFill>
                <a:latin typeface="+mn-lt"/>
                <a:ea typeface="+mn-ea"/>
                <a:cs typeface="+mn-cs"/>
              </a:rPr>
              <a:t> Provide evidence of inspections/tests having been undertaken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Highlight areas where problems/issues have been identified for further action/follow-up</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Witness statements – taken when members of the public are prepare to make statements regarding what they observed when an event, incident or offence took place.</a:t>
            </a:r>
          </a:p>
          <a:p>
            <a:pPr lvl="1">
              <a:buFont typeface="Arial" pitchFamily="34" charset="0"/>
              <a:buChar char="•"/>
            </a:pPr>
            <a:r>
              <a:rPr lang="en-AU" sz="1200" kern="1200" dirty="0" smtClean="0">
                <a:solidFill>
                  <a:schemeClr val="tx1"/>
                </a:solidFill>
                <a:latin typeface="+mn-lt"/>
                <a:ea typeface="+mn-ea"/>
                <a:cs typeface="+mn-cs"/>
              </a:rPr>
              <a:t> Members of the public, customers or guest are under no obligation to make witness statements.</a:t>
            </a:r>
          </a:p>
          <a:p>
            <a:pPr>
              <a:buFont typeface="Arial" pitchFamily="34" charset="0"/>
              <a:buChar char="•"/>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records/reports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records and reports which may need to be completed:</a:t>
            </a:r>
          </a:p>
          <a:p>
            <a:pPr>
              <a:buFont typeface="Arial" pitchFamily="34" charset="0"/>
              <a:buChar char="•"/>
            </a:pPr>
            <a:r>
              <a:rPr lang="en-AU" sz="1200" kern="1200" dirty="0" smtClean="0">
                <a:solidFill>
                  <a:schemeClr val="tx1"/>
                </a:solidFill>
                <a:latin typeface="+mn-lt"/>
                <a:ea typeface="+mn-ea"/>
                <a:cs typeface="+mn-cs"/>
              </a:rPr>
              <a:t> Recommendations for action – this is a form allowing staff to formally convey suggestions and ideas for issues such as:</a:t>
            </a:r>
          </a:p>
          <a:p>
            <a:pPr lvl="1">
              <a:buFont typeface="Arial" pitchFamily="34" charset="0"/>
              <a:buChar char="•"/>
            </a:pPr>
            <a:r>
              <a:rPr lang="en-US" sz="1200" kern="1200" dirty="0" smtClean="0">
                <a:solidFill>
                  <a:schemeClr val="tx1"/>
                </a:solidFill>
                <a:latin typeface="+mn-lt"/>
                <a:ea typeface="+mn-ea"/>
                <a:cs typeface="+mn-cs"/>
              </a:rPr>
              <a:t> Changes to SOPs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Introduction of new SOPs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Replacement of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Disposal of faulty or damaged equipment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Purchase of new/different items and equipment.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Request for training – identifying the training required (such as ‘initial training’, ‘top-up training’ or ‘refresher training’) and the items (equipment and/or systems) involved.  This training request may also identify ancillary areas in which training is required – these areas may include:</a:t>
            </a:r>
          </a:p>
          <a:p>
            <a:pPr lvl="1">
              <a:buFont typeface="Arial" pitchFamily="34" charset="0"/>
              <a:buChar char="•"/>
            </a:pPr>
            <a:r>
              <a:rPr lang="en-US" sz="1200" kern="1200" dirty="0" smtClean="0">
                <a:solidFill>
                  <a:schemeClr val="tx1"/>
                </a:solidFill>
                <a:latin typeface="+mn-lt"/>
                <a:ea typeface="+mn-ea"/>
                <a:cs typeface="+mn-cs"/>
              </a:rPr>
              <a:t> First aid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Maintenance and service.</a:t>
            </a:r>
            <a:endParaRPr lang="en-AU" sz="1200" kern="1200" dirty="0" smtClean="0">
              <a:solidFill>
                <a:schemeClr val="tx1"/>
              </a:solidFill>
              <a:latin typeface="+mn-lt"/>
              <a:ea typeface="+mn-ea"/>
              <a:cs typeface="+mn-cs"/>
            </a:endParaRPr>
          </a:p>
          <a:p>
            <a:pPr>
              <a:buFont typeface="Arial" pitchFamily="34" charset="0"/>
              <a:buChar char="•"/>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records/reports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4/18/2013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4/18/2013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4/18/2013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4/18/2013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4/18/2013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4/18/2013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4/18/2013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4/18/2013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4/18/2013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87.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1720" y="404664"/>
            <a:ext cx="6480048" cy="1152128"/>
          </a:xfrm>
        </p:spPr>
        <p:txBody>
          <a:bodyPr>
            <a:noAutofit/>
          </a:bodyPr>
          <a:lstStyle/>
          <a:p>
            <a:r>
              <a:rPr lang="en-AU" sz="3600" dirty="0" smtClean="0">
                <a:ln w="5000" cmpd="sng">
                  <a:noFill/>
                  <a:prstDash val="solid"/>
                </a:ln>
                <a:solidFill>
                  <a:srgbClr val="FF6600"/>
                </a:solidFill>
                <a:latin typeface="Helvetica" pitchFamily="34" charset="0"/>
              </a:rPr>
              <a:t>OPERATE BASIC SECURITY EQUIPMENT</a:t>
            </a:r>
            <a:endParaRPr lang="en-AU"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940152" y="1700808"/>
            <a:ext cx="2541268" cy="433758"/>
          </a:xfrm>
        </p:spPr>
        <p:txBody>
          <a:bodyPr>
            <a:normAutofit/>
          </a:bodyPr>
          <a:lstStyle/>
          <a:p>
            <a:r>
              <a:rPr lang="en-AU" b="1" dirty="0" smtClean="0"/>
              <a:t>D1.HSS.CL4.03</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827584" y="1772816"/>
            <a:ext cx="5256584" cy="4317321"/>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Operate basic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112568"/>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Identify and access security equipment to complete designated tasks in accordance with assignment instructions and organizational requirements</a:t>
            </a:r>
          </a:p>
          <a:p>
            <a:pPr marL="360000" indent="-360000">
              <a:spcBef>
                <a:spcPts val="600"/>
              </a:spcBef>
              <a:spcAft>
                <a:spcPts val="1200"/>
              </a:spcAft>
            </a:pPr>
            <a:r>
              <a:rPr lang="en-AU" sz="2200" dirty="0" smtClean="0">
                <a:latin typeface="Helvetica" pitchFamily="34" charset="0"/>
              </a:rPr>
              <a:t>Perform pre-operational checks to equipment</a:t>
            </a:r>
          </a:p>
          <a:p>
            <a:pPr marL="360000" indent="-360000">
              <a:spcBef>
                <a:spcPts val="600"/>
              </a:spcBef>
              <a:spcAft>
                <a:spcPts val="1200"/>
              </a:spcAft>
            </a:pPr>
            <a:r>
              <a:rPr lang="en-AU" sz="2200" dirty="0" smtClean="0">
                <a:latin typeface="Helvetica" pitchFamily="34" charset="0"/>
              </a:rPr>
              <a:t>Identify, rectify or replace faulty and damaged </a:t>
            </a:r>
            <a:br>
              <a:rPr lang="en-AU" sz="2200" dirty="0" smtClean="0">
                <a:latin typeface="Helvetica" pitchFamily="34" charset="0"/>
              </a:rPr>
            </a:br>
            <a:r>
              <a:rPr lang="en-AU" sz="2200" dirty="0" smtClean="0">
                <a:latin typeface="Helvetica" pitchFamily="34" charset="0"/>
              </a:rPr>
              <a:t>equipment</a:t>
            </a:r>
          </a:p>
          <a:p>
            <a:pPr marL="360000" indent="-360000">
              <a:spcBef>
                <a:spcPts val="600"/>
              </a:spcBef>
              <a:spcAft>
                <a:spcPts val="1200"/>
              </a:spcAft>
            </a:pPr>
            <a:r>
              <a:rPr lang="en-AU" sz="2200" dirty="0" smtClean="0">
                <a:latin typeface="Helvetica" pitchFamily="34" charset="0"/>
              </a:rPr>
              <a:t>Identify and notify the need for training to the </a:t>
            </a:r>
            <a:br>
              <a:rPr lang="en-AU" sz="2200" dirty="0" smtClean="0">
                <a:latin typeface="Helvetica" pitchFamily="34" charset="0"/>
              </a:rPr>
            </a:br>
            <a:r>
              <a:rPr lang="en-AU" sz="2200" dirty="0" smtClean="0">
                <a:latin typeface="Helvetica" pitchFamily="34" charset="0"/>
              </a:rPr>
              <a:t>appropriate person</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freeimage-3734295.jpg"/>
          <p:cNvPicPr>
            <a:picLocks noChangeAspect="1"/>
          </p:cNvPicPr>
          <p:nvPr/>
        </p:nvPicPr>
        <p:blipFill>
          <a:blip r:embed="rId3" cstate="print"/>
          <a:srcRect l="17893" r="19482"/>
          <a:stretch>
            <a:fillRect/>
          </a:stretch>
        </p:blipFill>
        <p:spPr>
          <a:xfrm>
            <a:off x="7308304" y="2636912"/>
            <a:ext cx="1008112" cy="242088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030019"/>
          </a:xfrm>
        </p:spPr>
        <p:txBody>
          <a:bodyPr>
            <a:normAutofit/>
          </a:bodyPr>
          <a:lstStyle/>
          <a:p>
            <a:pPr marL="0" indent="0">
              <a:spcBef>
                <a:spcPts val="600"/>
              </a:spcBef>
              <a:spcAft>
                <a:spcPts val="1200"/>
              </a:spcAft>
              <a:buNone/>
            </a:pPr>
            <a:r>
              <a:rPr lang="en-AU" sz="2200" smtClean="0"/>
              <a:t>Assessment for this unit may include:</a:t>
            </a:r>
          </a:p>
          <a:p>
            <a:pPr marL="360000" indent="-360000">
              <a:spcBef>
                <a:spcPts val="600"/>
              </a:spcBef>
              <a:spcAft>
                <a:spcPts val="1200"/>
              </a:spcAft>
            </a:pPr>
            <a:r>
              <a:rPr lang="en-AU" sz="2200" smtClean="0"/>
              <a:t>Oral </a:t>
            </a:r>
            <a:r>
              <a:rPr lang="en-AU" sz="2200" smtClean="0"/>
              <a:t>questions</a:t>
            </a:r>
            <a:endParaRPr lang="en-AU" sz="2200" smtClean="0"/>
          </a:p>
          <a:p>
            <a:pPr marL="360000" indent="-360000">
              <a:spcBef>
                <a:spcPts val="600"/>
              </a:spcBef>
              <a:spcAft>
                <a:spcPts val="1200"/>
              </a:spcAft>
            </a:pPr>
            <a:r>
              <a:rPr lang="en-AU" sz="2200" smtClean="0"/>
              <a:t>Written </a:t>
            </a:r>
            <a:r>
              <a:rPr lang="en-AU" sz="2200" smtClean="0"/>
              <a:t>questions</a:t>
            </a:r>
            <a:endParaRPr lang="en-AU" sz="2200" smtClean="0"/>
          </a:p>
          <a:p>
            <a:pPr marL="360000" indent="-360000">
              <a:spcBef>
                <a:spcPts val="600"/>
              </a:spcBef>
              <a:spcAft>
                <a:spcPts val="1200"/>
              </a:spcAft>
            </a:pPr>
            <a:r>
              <a:rPr lang="en-AU" sz="2200" smtClean="0"/>
              <a:t>Work </a:t>
            </a:r>
            <a:r>
              <a:rPr lang="en-AU" sz="2200" smtClean="0"/>
              <a:t>projects</a:t>
            </a:r>
            <a:endParaRPr lang="en-AU" sz="2200" smtClean="0"/>
          </a:p>
          <a:p>
            <a:pPr marL="360000" indent="-360000">
              <a:spcBef>
                <a:spcPts val="600"/>
              </a:spcBef>
              <a:spcAft>
                <a:spcPts val="1200"/>
              </a:spcAft>
            </a:pPr>
            <a:r>
              <a:rPr lang="en-AU" sz="2200" smtClean="0"/>
              <a:t>Workplace observation of practical </a:t>
            </a:r>
            <a:r>
              <a:rPr lang="en-AU" sz="2200" smtClean="0"/>
              <a:t>skills</a:t>
            </a:r>
            <a:endParaRPr lang="en-AU" sz="2200" smtClean="0"/>
          </a:p>
          <a:p>
            <a:pPr marL="360000" indent="-360000">
              <a:spcBef>
                <a:spcPts val="600"/>
              </a:spcBef>
              <a:spcAft>
                <a:spcPts val="1200"/>
              </a:spcAft>
            </a:pPr>
            <a:r>
              <a:rPr lang="en-AU" sz="2200" smtClean="0"/>
              <a:t>Practical </a:t>
            </a:r>
            <a:r>
              <a:rPr lang="en-AU" sz="2200" smtClean="0"/>
              <a:t>exercises</a:t>
            </a:r>
            <a:endParaRPr lang="en-AU" sz="2200" smtClean="0"/>
          </a:p>
          <a:p>
            <a:pPr marL="360000" indent="-360000">
              <a:spcBef>
                <a:spcPts val="600"/>
              </a:spcBef>
              <a:spcAft>
                <a:spcPts val="1200"/>
              </a:spcAft>
            </a:pPr>
            <a:r>
              <a:rPr lang="en-AU" sz="2200" smtClean="0"/>
              <a:t>Formal report from employer or </a:t>
            </a:r>
            <a:r>
              <a:rPr lang="en-AU" sz="2200" smtClean="0"/>
              <a:t>supervisor</a:t>
            </a:r>
            <a:endParaRPr lang="en-AU" sz="2200" smtClean="0"/>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480366" y="3933056"/>
            <a:ext cx="1899399" cy="1264457"/>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Operate basic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This Unit comprises four Elements:</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grpSp>
        <p:nvGrpSpPr>
          <p:cNvPr id="5" name="Group 4"/>
          <p:cNvGrpSpPr/>
          <p:nvPr/>
        </p:nvGrpSpPr>
        <p:grpSpPr>
          <a:xfrm>
            <a:off x="761768" y="1916832"/>
            <a:ext cx="7770672" cy="2800494"/>
            <a:chOff x="1752600" y="2057400"/>
            <a:chExt cx="7770672" cy="24717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601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544688" y="2222050"/>
              <a:ext cx="6978584" cy="380304"/>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Select and prepare security equipment for use</a:t>
              </a:r>
            </a:p>
          </p:txBody>
        </p:sp>
        <p:sp>
          <p:nvSpPr>
            <p:cNvPr id="9" name="Text Box 10"/>
            <p:cNvSpPr txBox="1">
              <a:spLocks noChangeArrowheads="1"/>
            </p:cNvSpPr>
            <p:nvPr/>
          </p:nvSpPr>
          <p:spPr bwMode="gray">
            <a:xfrm>
              <a:off x="1955577" y="2155825"/>
              <a:ext cx="341760" cy="380304"/>
            </a:xfrm>
            <a:prstGeom prst="rect">
              <a:avLst/>
            </a:prstGeom>
            <a:noFill/>
            <a:ln w="9525" algn="ctr">
              <a:noFill/>
              <a:miter lim="800000"/>
              <a:headEnd/>
              <a:tailEnd/>
            </a:ln>
          </p:spPr>
          <p:txBody>
            <a:bodyPr wrap="none">
              <a:spAutoFit/>
            </a:bodyPr>
            <a:lstStyle/>
            <a:p>
              <a:pPr algn="ctr" eaLnBrk="0" hangingPunct="0"/>
              <a:r>
                <a:rPr lang="en-AU" sz="2200" b="1" dirty="0">
                  <a:solidFill>
                    <a:schemeClr val="bg1"/>
                  </a:solidFill>
                  <a:latin typeface="Helvetica" pitchFamily="34" charset="0"/>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3708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544688" y="3136450"/>
              <a:ext cx="4777404" cy="380304"/>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Operate security equipment</a:t>
              </a:r>
            </a:p>
          </p:txBody>
        </p:sp>
        <p:sp>
          <p:nvSpPr>
            <p:cNvPr id="13" name="Text Box 18"/>
            <p:cNvSpPr txBox="1">
              <a:spLocks noChangeArrowheads="1"/>
            </p:cNvSpPr>
            <p:nvPr/>
          </p:nvSpPr>
          <p:spPr bwMode="gray">
            <a:xfrm>
              <a:off x="1955577" y="3070225"/>
              <a:ext cx="341760" cy="380304"/>
            </a:xfrm>
            <a:prstGeom prst="rect">
              <a:avLst/>
            </a:prstGeom>
            <a:noFill/>
            <a:ln w="9525" algn="ctr">
              <a:noFill/>
              <a:miter lim="800000"/>
              <a:headEnd/>
              <a:tailEnd/>
            </a:ln>
          </p:spPr>
          <p:txBody>
            <a:bodyPr wrap="none">
              <a:spAutoFit/>
            </a:bodyPr>
            <a:lstStyle/>
            <a:p>
              <a:pPr algn="ctr" eaLnBrk="0" hangingPunct="0"/>
              <a:r>
                <a:rPr lang="en-AU" sz="2200" b="1" dirty="0">
                  <a:solidFill>
                    <a:schemeClr val="bg1"/>
                  </a:solidFill>
                  <a:latin typeface="Helvetica" pitchFamily="34" charset="0"/>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565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544688" y="4028624"/>
              <a:ext cx="6561418" cy="380304"/>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Maintain security equipment and resources</a:t>
              </a:r>
            </a:p>
          </p:txBody>
        </p:sp>
        <p:sp>
          <p:nvSpPr>
            <p:cNvPr id="17" name="Text Box 26"/>
            <p:cNvSpPr txBox="1">
              <a:spLocks noChangeArrowheads="1"/>
            </p:cNvSpPr>
            <p:nvPr/>
          </p:nvSpPr>
          <p:spPr bwMode="gray">
            <a:xfrm>
              <a:off x="1955577" y="3962400"/>
              <a:ext cx="341760" cy="380304"/>
            </a:xfrm>
            <a:prstGeom prst="rect">
              <a:avLst/>
            </a:prstGeom>
            <a:noFill/>
            <a:ln w="9525" algn="ctr">
              <a:noFill/>
              <a:miter lim="800000"/>
              <a:headEnd/>
              <a:tailEnd/>
            </a:ln>
          </p:spPr>
          <p:txBody>
            <a:bodyPr wrap="none">
              <a:spAutoFit/>
            </a:bodyPr>
            <a:lstStyle/>
            <a:p>
              <a:pPr algn="ctr" eaLnBrk="0" hangingPunct="0"/>
              <a:r>
                <a:rPr lang="en-AU" sz="2200" b="1" dirty="0">
                  <a:solidFill>
                    <a:schemeClr val="bg1"/>
                  </a:solidFill>
                  <a:latin typeface="Helvetica" pitchFamily="34" charset="0"/>
                </a:rPr>
                <a:t>3</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Security equipment </a:t>
            </a:r>
            <a:r>
              <a:rPr lang="en-AU" sz="2200" smtClean="0">
                <a:latin typeface="Helvetica" pitchFamily="34" charset="0"/>
              </a:rPr>
              <a:t>used: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be selected for the individual job to be </a:t>
            </a:r>
            <a:r>
              <a:rPr lang="en-AU" sz="2200" smtClean="0">
                <a:latin typeface="Helvetica" pitchFamily="34" charset="0"/>
              </a:rPr>
              <a:t>done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Is supplied by the </a:t>
            </a:r>
            <a:r>
              <a:rPr lang="en-AU" sz="2200" smtClean="0">
                <a:latin typeface="Helvetica" pitchFamily="34" charset="0"/>
              </a:rPr>
              <a:t>employer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May be supplemented by personal </a:t>
            </a:r>
            <a:r>
              <a:rPr lang="en-AU" sz="2200" smtClean="0">
                <a:latin typeface="Helvetica" pitchFamily="34" charset="0"/>
              </a:rPr>
              <a:t>items: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To reflect individual </a:t>
            </a:r>
            <a:r>
              <a:rPr lang="en-AU" sz="2200" smtClean="0">
                <a:latin typeface="Helvetica" pitchFamily="34" charset="0"/>
              </a:rPr>
              <a:t>preferences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If approved by </a:t>
            </a:r>
            <a:r>
              <a:rPr lang="en-AU" sz="2200" smtClean="0">
                <a:latin typeface="Helvetica" pitchFamily="34" charset="0"/>
              </a:rPr>
              <a:t>management</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Security guard.jpg"/>
          <p:cNvPicPr>
            <a:picLocks noChangeAspect="1"/>
          </p:cNvPicPr>
          <p:nvPr/>
        </p:nvPicPr>
        <p:blipFill>
          <a:blip r:embed="rId3" cstate="print"/>
          <a:stretch>
            <a:fillRect/>
          </a:stretch>
        </p:blipFill>
        <p:spPr>
          <a:xfrm>
            <a:off x="7044275" y="3212976"/>
            <a:ext cx="1373898" cy="206084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Security equipment will vary between venues based on:</a:t>
            </a:r>
          </a:p>
          <a:p>
            <a:pPr marL="360000" indent="-360000">
              <a:spcBef>
                <a:spcPts val="600"/>
              </a:spcBef>
              <a:spcAft>
                <a:spcPts val="1200"/>
              </a:spcAft>
            </a:pPr>
            <a:r>
              <a:rPr lang="en-AU" sz="2200" smtClean="0">
                <a:latin typeface="Helvetica" pitchFamily="34" charset="0"/>
              </a:rPr>
              <a:t>Layout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Location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Trade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Trading </a:t>
            </a:r>
            <a:r>
              <a:rPr lang="en-AU" sz="2200" smtClean="0">
                <a:latin typeface="Helvetica" pitchFamily="34" charset="0"/>
              </a:rPr>
              <a:t>hours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Neighboring </a:t>
            </a:r>
            <a:r>
              <a:rPr lang="en-AU" sz="2200" smtClean="0">
                <a:latin typeface="Helvetica" pitchFamily="34" charset="0"/>
              </a:rPr>
              <a:t>business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CCTV.jpg"/>
          <p:cNvPicPr>
            <a:picLocks noChangeAspect="1"/>
          </p:cNvPicPr>
          <p:nvPr/>
        </p:nvPicPr>
        <p:blipFill>
          <a:blip r:embed="rId3" cstate="print"/>
          <a:stretch>
            <a:fillRect/>
          </a:stretch>
        </p:blipFill>
        <p:spPr>
          <a:xfrm>
            <a:off x="6228184" y="3717032"/>
            <a:ext cx="2156137" cy="143066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AU" sz="2200" smtClean="0">
                <a:latin typeface="Helvetica" pitchFamily="34" charset="0"/>
              </a:rPr>
              <a:t>Customer type and profiles</a:t>
            </a:r>
          </a:p>
          <a:p>
            <a:pPr marL="360000" indent="-360000">
              <a:spcBef>
                <a:spcPts val="600"/>
              </a:spcBef>
              <a:spcAft>
                <a:spcPts val="1200"/>
              </a:spcAft>
            </a:pPr>
            <a:r>
              <a:rPr lang="en-AU" sz="2200" smtClean="0">
                <a:latin typeface="Helvetica" pitchFamily="34" charset="0"/>
              </a:rPr>
              <a:t>Previous </a:t>
            </a:r>
            <a:r>
              <a:rPr lang="en-AU" sz="2200" smtClean="0">
                <a:latin typeface="Helvetica" pitchFamily="34" charset="0"/>
              </a:rPr>
              <a:t>history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Local and emerging trends impacting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Numbers of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Budget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Guest needs and expectations regarding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Personal items used by security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MC900436159.WMF"/>
          <p:cNvPicPr>
            <a:picLocks noChangeAspect="1"/>
          </p:cNvPicPr>
          <p:nvPr/>
        </p:nvPicPr>
        <p:blipFill>
          <a:blip r:embed="rId3" cstate="print"/>
          <a:stretch>
            <a:fillRect/>
          </a:stretch>
        </p:blipFill>
        <p:spPr>
          <a:xfrm>
            <a:off x="6948264" y="2132856"/>
            <a:ext cx="1493756" cy="162547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Comms equipment is required by Security staff:</a:t>
            </a:r>
          </a:p>
          <a:p>
            <a:pPr marL="360000" indent="-360000">
              <a:spcBef>
                <a:spcPts val="600"/>
              </a:spcBef>
              <a:spcAft>
                <a:spcPts val="1200"/>
              </a:spcAft>
            </a:pPr>
            <a:r>
              <a:rPr lang="en-AU" sz="2200" smtClean="0">
                <a:latin typeface="Helvetica" pitchFamily="34" charset="0"/>
              </a:rPr>
              <a:t>So management can communicate with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enable communication in event of </a:t>
            </a:r>
            <a:r>
              <a:rPr lang="en-AU" sz="2200" smtClean="0">
                <a:latin typeface="Helvetica" pitchFamily="34" charset="0"/>
              </a:rPr>
              <a:t>emergency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allow staff to talk with each </a:t>
            </a:r>
            <a:r>
              <a:rPr lang="en-AU" sz="2200" smtClean="0">
                <a:latin typeface="Helvetica" pitchFamily="34" charset="0"/>
              </a:rPr>
              <a:t>other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So venue can communicate with </a:t>
            </a:r>
            <a:r>
              <a:rPr lang="en-AU" sz="2200" smtClean="0">
                <a:latin typeface="Helvetica" pitchFamily="34" charset="0"/>
              </a:rPr>
              <a:t>guests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communicate with emergency </a:t>
            </a:r>
            <a:r>
              <a:rPr lang="en-AU" sz="2200" smtClean="0">
                <a:latin typeface="Helvetica" pitchFamily="34" charset="0"/>
              </a:rPr>
              <a:t>services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Security guard.jpg"/>
          <p:cNvPicPr>
            <a:picLocks noChangeAspect="1"/>
          </p:cNvPicPr>
          <p:nvPr/>
        </p:nvPicPr>
        <p:blipFill>
          <a:blip r:embed="rId3" cstate="print"/>
          <a:stretch>
            <a:fillRect/>
          </a:stretch>
        </p:blipFill>
        <p:spPr>
          <a:xfrm>
            <a:off x="7164288" y="3429000"/>
            <a:ext cx="1229882" cy="184482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Commonly used comms equipment:</a:t>
            </a:r>
          </a:p>
          <a:p>
            <a:pPr marL="360000" indent="-360000">
              <a:spcBef>
                <a:spcPts val="600"/>
              </a:spcBef>
              <a:spcAft>
                <a:spcPts val="1200"/>
              </a:spcAft>
            </a:pPr>
            <a:r>
              <a:rPr lang="en-AU" sz="2200" smtClean="0">
                <a:latin typeface="Helvetica" pitchFamily="34" charset="0"/>
              </a:rPr>
              <a:t>Hand-held </a:t>
            </a:r>
            <a:r>
              <a:rPr lang="en-AU" sz="2200" smtClean="0">
                <a:latin typeface="Helvetica" pitchFamily="34" charset="0"/>
              </a:rPr>
              <a:t>radios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Comms set with </a:t>
            </a:r>
            <a:r>
              <a:rPr lang="en-AU" sz="2200" smtClean="0">
                <a:latin typeface="Helvetica" pitchFamily="34" charset="0"/>
              </a:rPr>
              <a:t>headset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Landline </a:t>
            </a:r>
            <a:r>
              <a:rPr lang="en-AU" sz="2200" smtClean="0">
                <a:latin typeface="Helvetica" pitchFamily="34" charset="0"/>
              </a:rPr>
              <a:t>phones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Cell </a:t>
            </a:r>
            <a:r>
              <a:rPr lang="en-AU" sz="2200" smtClean="0">
                <a:latin typeface="Helvetica" pitchFamily="34" charset="0"/>
              </a:rPr>
              <a:t>phones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Pagers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PA </a:t>
            </a:r>
            <a:r>
              <a:rPr lang="en-AU" sz="2200" smtClean="0">
                <a:latin typeface="Helvetica" pitchFamily="34" charset="0"/>
              </a:rPr>
              <a:t>systems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Megaphones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Walkie Talkie.jpg"/>
          <p:cNvPicPr>
            <a:picLocks noChangeAspect="1"/>
          </p:cNvPicPr>
          <p:nvPr/>
        </p:nvPicPr>
        <p:blipFill>
          <a:blip r:embed="rId3" cstate="print"/>
          <a:stretch>
            <a:fillRect/>
          </a:stretch>
        </p:blipFill>
        <p:spPr>
          <a:xfrm>
            <a:off x="7164288" y="3356992"/>
            <a:ext cx="1149268" cy="1721872"/>
          </a:xfrm>
          <a:prstGeom prst="rect">
            <a:avLst/>
          </a:prstGeom>
        </p:spPr>
      </p:pic>
      <p:pic>
        <p:nvPicPr>
          <p:cNvPr id="6" name="Picture 5" descr="Mobile phone.jpg"/>
          <p:cNvPicPr>
            <a:picLocks noChangeAspect="1"/>
          </p:cNvPicPr>
          <p:nvPr/>
        </p:nvPicPr>
        <p:blipFill>
          <a:blip r:embed="rId4" cstate="print"/>
          <a:stretch>
            <a:fillRect/>
          </a:stretch>
        </p:blipFill>
        <p:spPr>
          <a:xfrm>
            <a:off x="5796136" y="4437112"/>
            <a:ext cx="1445280" cy="103537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‘Security’ requires office equipment to support its activities:</a:t>
            </a:r>
          </a:p>
          <a:p>
            <a:pPr marL="360000" indent="-360000">
              <a:spcBef>
                <a:spcPts val="600"/>
              </a:spcBef>
              <a:spcAft>
                <a:spcPts val="1200"/>
              </a:spcAft>
            </a:pPr>
            <a:r>
              <a:rPr lang="en-AU" sz="2200" smtClean="0">
                <a:latin typeface="Helvetica" pitchFamily="34" charset="0"/>
              </a:rPr>
              <a:t>An office with </a:t>
            </a:r>
            <a:r>
              <a:rPr lang="en-AU" sz="2200" smtClean="0">
                <a:latin typeface="Helvetica" pitchFamily="34" charset="0"/>
              </a:rPr>
              <a:t>desks</a:t>
            </a:r>
            <a:r>
              <a:rPr lang="en-AU" sz="2200" smtClean="0">
                <a:latin typeface="Helvetica" pitchFamily="34" charset="0"/>
              </a:rPr>
              <a:t>, chairs and </a:t>
            </a:r>
            <a:r>
              <a:rPr lang="en-AU" sz="2200" smtClean="0">
                <a:latin typeface="Helvetica" pitchFamily="34" charset="0"/>
              </a:rPr>
              <a:t>cupboards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Computers – with internet </a:t>
            </a:r>
            <a:r>
              <a:rPr lang="en-AU" sz="2200" smtClean="0">
                <a:latin typeface="Helvetica" pitchFamily="34" charset="0"/>
              </a:rPr>
              <a:t>connection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Printer and </a:t>
            </a:r>
            <a:r>
              <a:rPr lang="en-AU" sz="2200" smtClean="0">
                <a:latin typeface="Helvetica" pitchFamily="34" charset="0"/>
              </a:rPr>
              <a:t>photocopier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Fax </a:t>
            </a:r>
            <a:r>
              <a:rPr lang="en-AU" sz="2200" smtClean="0">
                <a:latin typeface="Helvetica" pitchFamily="34" charset="0"/>
              </a:rPr>
              <a:t>machines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White </a:t>
            </a:r>
            <a:r>
              <a:rPr lang="en-AU" sz="2200" smtClean="0">
                <a:latin typeface="Helvetica" pitchFamily="34" charset="0"/>
              </a:rPr>
              <a:t>boards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TV </a:t>
            </a:r>
            <a:r>
              <a:rPr lang="en-AU" sz="2200" smtClean="0">
                <a:latin typeface="Helvetica" pitchFamily="34" charset="0"/>
              </a:rPr>
              <a:t>monitor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Filing </a:t>
            </a:r>
            <a:r>
              <a:rPr lang="en-AU" sz="2200" smtClean="0">
                <a:latin typeface="Helvetica" pitchFamily="34" charset="0"/>
              </a:rPr>
              <a:t>cabinets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iphone 4a.jpeg"/>
          <p:cNvPicPr>
            <a:picLocks noChangeAspect="1"/>
          </p:cNvPicPr>
          <p:nvPr/>
        </p:nvPicPr>
        <p:blipFill>
          <a:blip r:embed="rId3" cstate="print"/>
          <a:stretch>
            <a:fillRect/>
          </a:stretch>
        </p:blipFill>
        <p:spPr>
          <a:xfrm>
            <a:off x="7164288" y="3140968"/>
            <a:ext cx="1137943" cy="188862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Security staff may also use </a:t>
            </a:r>
            <a:r>
              <a:rPr lang="en-AU" sz="2200" smtClean="0">
                <a:latin typeface="Helvetica" pitchFamily="34" charset="0"/>
              </a:rPr>
              <a:t>vehicles: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Cars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Vans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Motorcycles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Bicycles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freeimage-5771159.jpg"/>
          <p:cNvPicPr>
            <a:picLocks noChangeAspect="1"/>
          </p:cNvPicPr>
          <p:nvPr/>
        </p:nvPicPr>
        <p:blipFill>
          <a:blip r:embed="rId3" cstate="print"/>
          <a:stretch>
            <a:fillRect/>
          </a:stretch>
        </p:blipFill>
        <p:spPr>
          <a:xfrm>
            <a:off x="6876256" y="2996952"/>
            <a:ext cx="1493912" cy="224086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Fire fighting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Extinguishers: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Water</a:t>
            </a:r>
            <a:r>
              <a:rPr lang="en-AU" sz="2200" smtClean="0">
                <a:latin typeface="Helvetica" pitchFamily="34" charset="0"/>
              </a:rPr>
              <a:t>; </a:t>
            </a:r>
            <a:r>
              <a:rPr lang="en-AU" sz="2200" smtClean="0">
                <a:latin typeface="Helvetica" pitchFamily="34" charset="0"/>
              </a:rPr>
              <a:t>foam</a:t>
            </a:r>
            <a:r>
              <a:rPr lang="en-AU" sz="2200" smtClean="0">
                <a:latin typeface="Helvetica" pitchFamily="34" charset="0"/>
              </a:rPr>
              <a:t>; </a:t>
            </a:r>
            <a:r>
              <a:rPr lang="en-AU" sz="2200" smtClean="0">
                <a:latin typeface="Helvetica" pitchFamily="34" charset="0"/>
              </a:rPr>
              <a:t>powder</a:t>
            </a:r>
            <a:r>
              <a:rPr lang="en-AU" sz="2200" smtClean="0">
                <a:latin typeface="Helvetica" pitchFamily="34" charset="0"/>
              </a:rPr>
              <a:t>; carbon </a:t>
            </a:r>
            <a:r>
              <a:rPr lang="en-AU" sz="2200" smtClean="0">
                <a:latin typeface="Helvetica" pitchFamily="34" charset="0"/>
              </a:rPr>
              <a:t>dioxide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Reels and </a:t>
            </a:r>
            <a:r>
              <a:rPr lang="en-AU" sz="2200" smtClean="0">
                <a:latin typeface="Helvetica" pitchFamily="34" charset="0"/>
              </a:rPr>
              <a:t>hoses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Fire </a:t>
            </a:r>
            <a:r>
              <a:rPr lang="en-AU" sz="2200" smtClean="0">
                <a:latin typeface="Helvetica" pitchFamily="34" charset="0"/>
              </a:rPr>
              <a:t>blankets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Sand </a:t>
            </a:r>
            <a:r>
              <a:rPr lang="en-AU" sz="2200" smtClean="0">
                <a:latin typeface="Helvetica" pitchFamily="34" charset="0"/>
              </a:rPr>
              <a:t>buckets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freeimage-3913104.jpg"/>
          <p:cNvPicPr>
            <a:picLocks noChangeAspect="1"/>
          </p:cNvPicPr>
          <p:nvPr/>
        </p:nvPicPr>
        <p:blipFill>
          <a:blip r:embed="rId3" cstate="print"/>
          <a:srcRect l="9299"/>
          <a:stretch>
            <a:fillRect/>
          </a:stretch>
        </p:blipFill>
        <p:spPr>
          <a:xfrm>
            <a:off x="7164288" y="3284984"/>
            <a:ext cx="1284391" cy="191683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In relation to fire-fighting equipment:</a:t>
            </a:r>
          </a:p>
          <a:p>
            <a:pPr marL="360000" indent="-360000">
              <a:spcBef>
                <a:spcPts val="600"/>
              </a:spcBef>
              <a:spcAft>
                <a:spcPts val="1200"/>
              </a:spcAft>
            </a:pPr>
            <a:r>
              <a:rPr lang="en-AU" sz="2200" smtClean="0">
                <a:latin typeface="Helvetica" pitchFamily="34" charset="0"/>
              </a:rPr>
              <a:t>Obtain in-house </a:t>
            </a:r>
            <a:r>
              <a:rPr lang="en-AU" sz="2200" smtClean="0">
                <a:latin typeface="Helvetica" pitchFamily="34" charset="0"/>
              </a:rPr>
              <a:t>training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Know the differences between </a:t>
            </a:r>
            <a:r>
              <a:rPr lang="en-AU" sz="2200" smtClean="0">
                <a:latin typeface="Helvetica" pitchFamily="34" charset="0"/>
              </a:rPr>
              <a:t>extinguishers</a:t>
            </a:r>
            <a:r>
              <a:rPr lang="en-AU" sz="2200" smtClean="0">
                <a:latin typeface="Helvetica" pitchFamily="34" charset="0"/>
              </a:rPr>
              <a:t>, what they are used for and how to operate </a:t>
            </a:r>
            <a:r>
              <a:rPr lang="en-AU" sz="2200" smtClean="0">
                <a:latin typeface="Helvetica" pitchFamily="34" charset="0"/>
              </a:rPr>
              <a:t>them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Know locations </a:t>
            </a:r>
            <a:r>
              <a:rPr lang="en-AU" sz="2200" smtClean="0">
                <a:latin typeface="Helvetica" pitchFamily="34" charset="0"/>
              </a:rPr>
              <a:t>of:</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Hoses and </a:t>
            </a:r>
            <a:r>
              <a:rPr lang="en-AU" sz="2200" smtClean="0">
                <a:latin typeface="Helvetica" pitchFamily="34" charset="0"/>
              </a:rPr>
              <a:t>reels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Sand </a:t>
            </a:r>
            <a:r>
              <a:rPr lang="en-AU" sz="2200" smtClean="0">
                <a:latin typeface="Helvetica" pitchFamily="34" charset="0"/>
              </a:rPr>
              <a:t>buckets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Fire </a:t>
            </a:r>
            <a:r>
              <a:rPr lang="en-AU" sz="2200" smtClean="0">
                <a:latin typeface="Helvetica" pitchFamily="34" charset="0"/>
              </a:rPr>
              <a:t>blankets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freeimage-3388896.jpg"/>
          <p:cNvPicPr>
            <a:picLocks noChangeAspect="1"/>
          </p:cNvPicPr>
          <p:nvPr/>
        </p:nvPicPr>
        <p:blipFill>
          <a:blip r:embed="rId3" cstate="print"/>
          <a:stretch>
            <a:fillRect/>
          </a:stretch>
        </p:blipFill>
        <p:spPr>
          <a:xfrm>
            <a:off x="6084168" y="3645024"/>
            <a:ext cx="2334587" cy="157784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Fire </a:t>
            </a:r>
            <a:r>
              <a:rPr lang="en-AU" sz="2200" smtClean="0">
                <a:latin typeface="Helvetica" pitchFamily="34" charset="0"/>
              </a:rPr>
              <a:t>alarms: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Know the different </a:t>
            </a:r>
            <a:r>
              <a:rPr lang="en-AU" sz="2200" smtClean="0">
                <a:latin typeface="Helvetica" pitchFamily="34" charset="0"/>
              </a:rPr>
              <a:t>‘stages</a:t>
            </a:r>
            <a:r>
              <a:rPr lang="en-AU" sz="2200" smtClean="0">
                <a:latin typeface="Helvetica" pitchFamily="34" charset="0"/>
              </a:rPr>
              <a:t>’ of alarms – what they sound like and what they </a:t>
            </a:r>
            <a:r>
              <a:rPr lang="en-AU" sz="2200" smtClean="0">
                <a:latin typeface="Helvetica" pitchFamily="34" charset="0"/>
              </a:rPr>
              <a:t>mean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Treat all alarms </a:t>
            </a:r>
            <a:r>
              <a:rPr lang="en-AU" sz="2200" smtClean="0">
                <a:latin typeface="Helvetica" pitchFamily="34" charset="0"/>
              </a:rPr>
              <a:t>seriously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Never turn off an alarm until specifically instructed to do </a:t>
            </a:r>
            <a:r>
              <a:rPr lang="en-AU" sz="2200" smtClean="0">
                <a:latin typeface="Helvetica" pitchFamily="34" charset="0"/>
              </a:rPr>
              <a:t>so</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freeimage-5592078.jpg"/>
          <p:cNvPicPr>
            <a:picLocks noChangeAspect="1"/>
          </p:cNvPicPr>
          <p:nvPr/>
        </p:nvPicPr>
        <p:blipFill>
          <a:blip r:embed="rId3" cstate="print"/>
          <a:stretch>
            <a:fillRect/>
          </a:stretch>
        </p:blipFill>
        <p:spPr>
          <a:xfrm>
            <a:off x="6876256" y="4149080"/>
            <a:ext cx="1549372" cy="102355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Shut off </a:t>
            </a:r>
            <a:r>
              <a:rPr lang="en-AU" sz="2200" smtClean="0">
                <a:latin typeface="Helvetica" pitchFamily="34" charset="0"/>
              </a:rPr>
              <a:t>valves: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Used in the event of an emergency </a:t>
            </a:r>
            <a:r>
              <a:rPr lang="en-AU" sz="2200" smtClean="0">
                <a:latin typeface="Helvetica" pitchFamily="34" charset="0"/>
              </a:rPr>
              <a:t>to:</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Turn off </a:t>
            </a:r>
            <a:r>
              <a:rPr lang="en-AU" sz="2200" smtClean="0">
                <a:latin typeface="Helvetica" pitchFamily="34" charset="0"/>
              </a:rPr>
              <a:t>electricity</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Turn off </a:t>
            </a:r>
            <a:r>
              <a:rPr lang="en-AU" sz="2200" smtClean="0">
                <a:latin typeface="Helvetica" pitchFamily="34" charset="0"/>
              </a:rPr>
              <a:t>water</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Turn off </a:t>
            </a:r>
            <a:r>
              <a:rPr lang="en-AU" sz="2200" smtClean="0">
                <a:latin typeface="Helvetica" pitchFamily="34" charset="0"/>
              </a:rPr>
              <a:t>gas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descr="MP900387831.JPG"/>
          <p:cNvPicPr>
            <a:picLocks noChangeAspect="1"/>
          </p:cNvPicPr>
          <p:nvPr/>
        </p:nvPicPr>
        <p:blipFill>
          <a:blip r:embed="rId3" cstate="print"/>
          <a:stretch>
            <a:fillRect/>
          </a:stretch>
        </p:blipFill>
        <p:spPr>
          <a:xfrm>
            <a:off x="6804248" y="3068960"/>
            <a:ext cx="1561372" cy="218884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Intruder </a:t>
            </a:r>
            <a:r>
              <a:rPr lang="en-AU" sz="2200" smtClean="0">
                <a:latin typeface="Helvetica" pitchFamily="34" charset="0"/>
              </a:rPr>
              <a:t>alarms: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May be activated by pressure </a:t>
            </a:r>
            <a:r>
              <a:rPr lang="en-AU" sz="2200" smtClean="0">
                <a:latin typeface="Helvetica" pitchFamily="34" charset="0"/>
              </a:rPr>
              <a:t>pad</a:t>
            </a:r>
            <a:r>
              <a:rPr lang="en-AU" sz="2200" smtClean="0">
                <a:latin typeface="Helvetica" pitchFamily="34" charset="0"/>
              </a:rPr>
              <a:t>, </a:t>
            </a:r>
            <a:r>
              <a:rPr lang="en-AU" sz="2200" smtClean="0">
                <a:latin typeface="Helvetica" pitchFamily="34" charset="0"/>
              </a:rPr>
              <a:t>beam</a:t>
            </a:r>
            <a:r>
              <a:rPr lang="en-AU" sz="2200" smtClean="0">
                <a:latin typeface="Helvetica" pitchFamily="34" charset="0"/>
              </a:rPr>
              <a:t>, sensor or a contact </a:t>
            </a:r>
            <a:r>
              <a:rPr lang="en-AU" sz="2200" smtClean="0">
                <a:latin typeface="Helvetica" pitchFamily="34" charset="0"/>
              </a:rPr>
              <a:t>(switch)</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May give audible </a:t>
            </a:r>
            <a:r>
              <a:rPr lang="en-AU" sz="2200" smtClean="0">
                <a:latin typeface="Helvetica" pitchFamily="34" charset="0"/>
              </a:rPr>
              <a:t>(siren</a:t>
            </a:r>
            <a:r>
              <a:rPr lang="en-AU" sz="2200" smtClean="0">
                <a:latin typeface="Helvetica" pitchFamily="34" charset="0"/>
              </a:rPr>
              <a:t>) or visual </a:t>
            </a:r>
            <a:r>
              <a:rPr lang="en-AU" sz="2200" smtClean="0">
                <a:latin typeface="Helvetica" pitchFamily="34" charset="0"/>
              </a:rPr>
              <a:t>(</a:t>
            </a:r>
            <a:r>
              <a:rPr lang="en-AU" sz="2200" smtClean="0">
                <a:latin typeface="Helvetica" pitchFamily="34" charset="0"/>
              </a:rPr>
              <a:t>flashing </a:t>
            </a:r>
            <a:r>
              <a:rPr lang="en-AU" sz="2200" smtClean="0">
                <a:latin typeface="Helvetica" pitchFamily="34" charset="0"/>
              </a:rPr>
              <a:t>light</a:t>
            </a:r>
            <a:r>
              <a:rPr lang="en-AU" sz="2200" smtClean="0">
                <a:latin typeface="Helvetica" pitchFamily="34" charset="0"/>
              </a:rPr>
              <a:t>) warning – or </a:t>
            </a:r>
            <a:r>
              <a:rPr lang="en-AU" sz="2200" smtClean="0">
                <a:latin typeface="Helvetica" pitchFamily="34" charset="0"/>
              </a:rPr>
              <a:t>both</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All alerts or alarms MUST be </a:t>
            </a:r>
            <a:r>
              <a:rPr lang="en-AU" sz="2200" smtClean="0">
                <a:latin typeface="Helvetica" pitchFamily="34" charset="0"/>
              </a:rPr>
              <a:t>investigated</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freeimage-5592078.jpg"/>
          <p:cNvPicPr>
            <a:picLocks noChangeAspect="1"/>
          </p:cNvPicPr>
          <p:nvPr/>
        </p:nvPicPr>
        <p:blipFill>
          <a:blip r:embed="rId3" cstate="print"/>
          <a:stretch>
            <a:fillRect/>
          </a:stretch>
        </p:blipFill>
        <p:spPr>
          <a:xfrm>
            <a:off x="7164288" y="3284984"/>
            <a:ext cx="1138612" cy="1707919"/>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Flashlights (torches):</a:t>
            </a:r>
          </a:p>
          <a:p>
            <a:pPr marL="360000" indent="-360000">
              <a:spcBef>
                <a:spcPts val="600"/>
              </a:spcBef>
              <a:spcAft>
                <a:spcPts val="1200"/>
              </a:spcAft>
            </a:pPr>
            <a:r>
              <a:rPr lang="en-AU" sz="2200" smtClean="0">
                <a:latin typeface="Helvetica" pitchFamily="34" charset="0"/>
              </a:rPr>
              <a:t>Must know where they are </a:t>
            </a:r>
            <a:r>
              <a:rPr lang="en-AU" sz="2200" smtClean="0">
                <a:latin typeface="Helvetica" pitchFamily="34" charset="0"/>
              </a:rPr>
              <a:t>stored</a:t>
            </a:r>
            <a:r>
              <a:rPr lang="en-AU" sz="2200" smtClean="0">
                <a:latin typeface="Helvetica" pitchFamily="34" charset="0"/>
              </a:rPr>
              <a:t>, how to use and recharge </a:t>
            </a:r>
            <a:r>
              <a:rPr lang="en-AU" sz="2200" smtClean="0">
                <a:latin typeface="Helvetica" pitchFamily="34" charset="0"/>
              </a:rPr>
              <a:t>them</a:t>
            </a:r>
            <a:r>
              <a:rPr lang="en-AU" sz="2200" smtClean="0">
                <a:latin typeface="Helvetica" pitchFamily="34" charset="0"/>
              </a:rPr>
              <a:t>, how long they will </a:t>
            </a:r>
            <a:r>
              <a:rPr lang="en-AU" sz="2200" smtClean="0">
                <a:latin typeface="Helvetica" pitchFamily="34" charset="0"/>
              </a:rPr>
              <a:t>last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An item very much influenced by personal </a:t>
            </a:r>
            <a:r>
              <a:rPr lang="en-AU" sz="2200" smtClean="0">
                <a:latin typeface="Helvetica" pitchFamily="34" charset="0"/>
              </a:rPr>
              <a:t>preference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be strong and </a:t>
            </a:r>
            <a:r>
              <a:rPr lang="en-AU" sz="2200" smtClean="0">
                <a:latin typeface="Helvetica" pitchFamily="34" charset="0"/>
              </a:rPr>
              <a:t>powerful</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Should have a strobe SOS </a:t>
            </a:r>
            <a:r>
              <a:rPr lang="en-AU" sz="2200" smtClean="0">
                <a:latin typeface="Helvetica" pitchFamily="34" charset="0"/>
              </a:rPr>
              <a:t>feature</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freeimage-3999298.jpg"/>
          <p:cNvPicPr>
            <a:picLocks noChangeAspect="1"/>
          </p:cNvPicPr>
          <p:nvPr/>
        </p:nvPicPr>
        <p:blipFill>
          <a:blip r:embed="rId3" cstate="print"/>
          <a:srcRect l="20510" r="11600"/>
          <a:stretch>
            <a:fillRect/>
          </a:stretch>
        </p:blipFill>
        <p:spPr>
          <a:xfrm>
            <a:off x="6660232" y="3429000"/>
            <a:ext cx="1559906" cy="15277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704856" cy="5400600"/>
          </a:xfrm>
        </p:spPr>
        <p:txBody>
          <a:bodyPr>
            <a:normAutofit/>
          </a:bodyPr>
          <a:lstStyle/>
          <a:p>
            <a:pPr marL="0" indent="0">
              <a:spcBef>
                <a:spcPts val="600"/>
              </a:spcBef>
              <a:spcAft>
                <a:spcPts val="1200"/>
              </a:spcAft>
              <a:buNone/>
            </a:pPr>
            <a:r>
              <a:rPr lang="en-AU" sz="2200" smtClean="0">
                <a:latin typeface="Helvetica" pitchFamily="34" charset="0"/>
              </a:rPr>
              <a:t>Other security items </a:t>
            </a:r>
            <a:r>
              <a:rPr lang="en-AU" sz="2200" smtClean="0">
                <a:latin typeface="Helvetica" pitchFamily="34" charset="0"/>
              </a:rPr>
              <a:t>include: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Warning </a:t>
            </a:r>
            <a:r>
              <a:rPr lang="en-AU" sz="2200" smtClean="0">
                <a:latin typeface="Helvetica" pitchFamily="34" charset="0"/>
              </a:rPr>
              <a:t>signs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Tape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Witches hats - </a:t>
            </a:r>
            <a:r>
              <a:rPr lang="en-AU" sz="2200" smtClean="0">
                <a:latin typeface="Helvetica" pitchFamily="34" charset="0"/>
              </a:rPr>
              <a:t>cones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freeimage-6799195.jpg"/>
          <p:cNvPicPr>
            <a:picLocks noChangeAspect="1"/>
          </p:cNvPicPr>
          <p:nvPr/>
        </p:nvPicPr>
        <p:blipFill>
          <a:blip r:embed="rId3" cstate="print"/>
          <a:srcRect t="10101"/>
          <a:stretch>
            <a:fillRect/>
          </a:stretch>
        </p:blipFill>
        <p:spPr>
          <a:xfrm>
            <a:off x="7092280" y="3429000"/>
            <a:ext cx="1314666" cy="177281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632848" cy="5328592"/>
          </a:xfrm>
        </p:spPr>
        <p:txBody>
          <a:bodyPr>
            <a:normAutofit/>
          </a:bodyPr>
          <a:lstStyle/>
          <a:p>
            <a:pPr marL="0" indent="0">
              <a:spcBef>
                <a:spcPts val="600"/>
              </a:spcBef>
              <a:spcAft>
                <a:spcPts val="1200"/>
              </a:spcAft>
              <a:buNone/>
            </a:pPr>
            <a:r>
              <a:rPr lang="en-AU" sz="2200" smtClean="0">
                <a:latin typeface="Helvetica" pitchFamily="34" charset="0"/>
              </a:rPr>
              <a:t>Cameras: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Some issue these to Security </a:t>
            </a:r>
            <a:r>
              <a:rPr lang="en-AU" sz="2200" smtClean="0">
                <a:latin typeface="Helvetica" pitchFamily="34" charset="0"/>
              </a:rPr>
              <a:t>staff</a:t>
            </a:r>
            <a:r>
              <a:rPr lang="en-AU" sz="2200" smtClean="0">
                <a:latin typeface="Helvetica" pitchFamily="34" charset="0"/>
              </a:rPr>
              <a:t>, some do </a:t>
            </a:r>
            <a:r>
              <a:rPr lang="en-AU" sz="2200" smtClean="0">
                <a:latin typeface="Helvetica" pitchFamily="34" charset="0"/>
              </a:rPr>
              <a:t>not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Used </a:t>
            </a:r>
            <a:r>
              <a:rPr lang="en-AU" sz="2200" smtClean="0">
                <a:latin typeface="Helvetica" pitchFamily="34" charset="0"/>
              </a:rPr>
              <a:t>to:</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Capture </a:t>
            </a:r>
            <a:r>
              <a:rPr lang="en-AU" sz="2200" smtClean="0">
                <a:latin typeface="Helvetica" pitchFamily="34" charset="0"/>
              </a:rPr>
              <a:t>evidence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Deter </a:t>
            </a:r>
            <a:r>
              <a:rPr lang="en-AU" sz="2200" smtClean="0">
                <a:latin typeface="Helvetica" pitchFamily="34" charset="0"/>
              </a:rPr>
              <a:t>threats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Record </a:t>
            </a:r>
            <a:r>
              <a:rPr lang="en-AU" sz="2200" smtClean="0">
                <a:latin typeface="Helvetica" pitchFamily="34" charset="0"/>
              </a:rPr>
              <a:t>occurrences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freeimage-2974219.jpg"/>
          <p:cNvPicPr>
            <a:picLocks noChangeAspect="1"/>
          </p:cNvPicPr>
          <p:nvPr/>
        </p:nvPicPr>
        <p:blipFill>
          <a:blip r:embed="rId3" cstate="print"/>
          <a:stretch>
            <a:fillRect/>
          </a:stretch>
        </p:blipFill>
        <p:spPr>
          <a:xfrm>
            <a:off x="6876256" y="4149080"/>
            <a:ext cx="1547664" cy="1031776"/>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04856" cy="5733256"/>
          </a:xfrm>
        </p:spPr>
        <p:txBody>
          <a:bodyPr>
            <a:normAutofit/>
          </a:bodyPr>
          <a:lstStyle/>
          <a:p>
            <a:pPr marL="0" indent="0">
              <a:spcBef>
                <a:spcPts val="600"/>
              </a:spcBef>
              <a:spcAft>
                <a:spcPts val="1200"/>
              </a:spcAft>
              <a:buNone/>
            </a:pPr>
            <a:r>
              <a:rPr lang="en-AU" sz="2200" smtClean="0">
                <a:latin typeface="Helvetica" pitchFamily="34" charset="0"/>
              </a:rPr>
              <a:t>‘Designated tasks’:</a:t>
            </a:r>
          </a:p>
          <a:p>
            <a:pPr marL="360000" indent="-360000">
              <a:spcBef>
                <a:spcPts val="600"/>
              </a:spcBef>
              <a:spcAft>
                <a:spcPts val="1200"/>
              </a:spcAft>
            </a:pPr>
            <a:r>
              <a:rPr lang="en-AU" sz="2200" smtClean="0">
                <a:latin typeface="Helvetica" pitchFamily="34" charset="0"/>
              </a:rPr>
              <a:t>Conducting routine security </a:t>
            </a:r>
            <a:r>
              <a:rPr lang="en-AU" sz="2200" smtClean="0">
                <a:latin typeface="Helvetica" pitchFamily="34" charset="0"/>
              </a:rPr>
              <a:t>monitoring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Performing crowd control </a:t>
            </a:r>
            <a:r>
              <a:rPr lang="en-AU" sz="2200" smtClean="0">
                <a:latin typeface="Helvetica" pitchFamily="34" charset="0"/>
              </a:rPr>
              <a:t>duties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Undertaking screening </a:t>
            </a:r>
            <a:r>
              <a:rPr lang="en-AU" sz="2200" smtClean="0">
                <a:latin typeface="Helvetica" pitchFamily="34" charset="0"/>
              </a:rPr>
              <a:t>activities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Checking </a:t>
            </a:r>
            <a:r>
              <a:rPr lang="en-AU" sz="2200" smtClean="0">
                <a:latin typeface="Helvetica" pitchFamily="34" charset="0"/>
              </a:rPr>
              <a:t>identification</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5" descr="iStock_000003586603Medium.jpg"/>
          <p:cNvPicPr>
            <a:picLocks noChangeAspect="1"/>
          </p:cNvPicPr>
          <p:nvPr/>
        </p:nvPicPr>
        <p:blipFill>
          <a:blip r:embed="rId3" cstate="print"/>
          <a:stretch>
            <a:fillRect/>
          </a:stretch>
        </p:blipFill>
        <p:spPr>
          <a:xfrm>
            <a:off x="6156176" y="3645024"/>
            <a:ext cx="2217493" cy="154876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Escorting </a:t>
            </a:r>
            <a:r>
              <a:rPr lang="en-AU" sz="2200" smtClean="0">
                <a:latin typeface="Helvetica" pitchFamily="34" charset="0"/>
              </a:rPr>
              <a:t>people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Controlling </a:t>
            </a:r>
            <a:r>
              <a:rPr lang="en-AU" sz="2200" smtClean="0">
                <a:latin typeface="Helvetica" pitchFamily="34" charset="0"/>
              </a:rPr>
              <a:t>access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Controlling and monitoring </a:t>
            </a:r>
            <a:r>
              <a:rPr lang="en-AU" sz="2200" smtClean="0">
                <a:latin typeface="Helvetica" pitchFamily="34" charset="0"/>
              </a:rPr>
              <a:t>egress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Working with security </a:t>
            </a:r>
            <a:r>
              <a:rPr lang="en-AU" sz="2200" smtClean="0">
                <a:latin typeface="Helvetica" pitchFamily="34" charset="0"/>
              </a:rPr>
              <a:t>documents..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MP900387831.JPG"/>
          <p:cNvPicPr>
            <a:picLocks noChangeAspect="1"/>
          </p:cNvPicPr>
          <p:nvPr/>
        </p:nvPicPr>
        <p:blipFill>
          <a:blip r:embed="rId3" cstate="print"/>
          <a:stretch>
            <a:fillRect/>
          </a:stretch>
        </p:blipFill>
        <p:spPr>
          <a:xfrm>
            <a:off x="6804248" y="3443025"/>
            <a:ext cx="1575261" cy="1714167"/>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648072"/>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a:t>
            </a:r>
            <a:r>
              <a:rPr lang="en-AU" sz="2200" smtClean="0">
                <a:latin typeface="Helvetica" pitchFamily="34" charset="0"/>
              </a:rPr>
              <a:t>Assignment </a:t>
            </a:r>
            <a:r>
              <a:rPr lang="en-AU" sz="2200" smtClean="0">
                <a:latin typeface="Helvetica" pitchFamily="34" charset="0"/>
              </a:rPr>
              <a:t>instructions’: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Instructions from management about work allocated to Security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May be in written </a:t>
            </a:r>
            <a:r>
              <a:rPr lang="en-AU" sz="2200" smtClean="0">
                <a:latin typeface="Helvetica" pitchFamily="34" charset="0"/>
              </a:rPr>
              <a:t>form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Mostly in verbal </a:t>
            </a:r>
            <a:r>
              <a:rPr lang="en-AU" sz="2200" smtClean="0">
                <a:latin typeface="Helvetica" pitchFamily="34" charset="0"/>
              </a:rPr>
              <a:t>form</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iStock_000003586603Medium.jpg"/>
          <p:cNvPicPr>
            <a:picLocks noChangeAspect="1"/>
          </p:cNvPicPr>
          <p:nvPr/>
        </p:nvPicPr>
        <p:blipFill>
          <a:blip r:embed="rId3" cstate="print"/>
          <a:stretch>
            <a:fillRect/>
          </a:stretch>
        </p:blipFill>
        <p:spPr>
          <a:xfrm>
            <a:off x="6588224" y="3356992"/>
            <a:ext cx="1684253" cy="169278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12568"/>
          </a:xfrm>
        </p:spPr>
        <p:txBody>
          <a:bodyPr>
            <a:normAutofit/>
          </a:bodyPr>
          <a:lstStyle/>
          <a:p>
            <a:pPr marL="0" indent="0">
              <a:spcBef>
                <a:spcPts val="600"/>
              </a:spcBef>
              <a:spcAft>
                <a:spcPts val="1200"/>
              </a:spcAft>
              <a:buNone/>
            </a:pPr>
            <a:r>
              <a:rPr lang="en-AU" sz="2200" smtClean="0">
                <a:latin typeface="Helvetica" pitchFamily="34" charset="0"/>
              </a:rPr>
              <a:t>Written assignment instructions commonly used for:</a:t>
            </a:r>
          </a:p>
          <a:p>
            <a:pPr marL="360000" indent="-360000">
              <a:spcBef>
                <a:spcPts val="600"/>
              </a:spcBef>
              <a:spcAft>
                <a:spcPts val="1200"/>
              </a:spcAft>
            </a:pPr>
            <a:r>
              <a:rPr lang="en-AU" sz="2200" smtClean="0">
                <a:latin typeface="Helvetica" pitchFamily="34" charset="0"/>
              </a:rPr>
              <a:t>Special </a:t>
            </a:r>
            <a:r>
              <a:rPr lang="en-AU" sz="2200" smtClean="0">
                <a:latin typeface="Helvetica" pitchFamily="34" charset="0"/>
              </a:rPr>
              <a:t>surveillance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Investigations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Escort </a:t>
            </a:r>
            <a:r>
              <a:rPr lang="en-AU" sz="2200" smtClean="0">
                <a:latin typeface="Helvetica" pitchFamily="34" charset="0"/>
              </a:rPr>
              <a:t>duties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Special or substantiated </a:t>
            </a:r>
            <a:r>
              <a:rPr lang="en-AU" sz="2200" smtClean="0">
                <a:latin typeface="Helvetica" pitchFamily="34" charset="0"/>
              </a:rPr>
              <a:t>threats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Responses based on advice from </a:t>
            </a:r>
            <a:r>
              <a:rPr lang="en-AU" sz="2200" smtClean="0">
                <a:latin typeface="Helvetica" pitchFamily="34" charset="0"/>
              </a:rPr>
              <a:t>police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Responses based on risk assessment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results and findings</a:t>
            </a:r>
          </a:p>
          <a:p>
            <a:pPr marL="360000" indent="-360000">
              <a:spcBef>
                <a:spcPts val="600"/>
              </a:spcBef>
              <a:spcAft>
                <a:spcPts val="1200"/>
              </a:spcAft>
            </a:pPr>
            <a:r>
              <a:rPr lang="en-AU" sz="2200" smtClean="0">
                <a:latin typeface="Helvetica" pitchFamily="34" charset="0"/>
              </a:rPr>
              <a:t>Large </a:t>
            </a:r>
            <a:r>
              <a:rPr lang="en-AU" sz="2200" smtClean="0">
                <a:latin typeface="Helvetica" pitchFamily="34" charset="0"/>
              </a:rPr>
              <a:t>events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MC900439589.PNG"/>
          <p:cNvPicPr>
            <a:picLocks noChangeAspect="1"/>
          </p:cNvPicPr>
          <p:nvPr/>
        </p:nvPicPr>
        <p:blipFill>
          <a:blip r:embed="rId3" cstate="print"/>
          <a:stretch>
            <a:fillRect/>
          </a:stretch>
        </p:blipFill>
        <p:spPr>
          <a:xfrm>
            <a:off x="6177472" y="3284984"/>
            <a:ext cx="2511847" cy="2188269"/>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Assignment instructions will </a:t>
            </a:r>
            <a:r>
              <a:rPr lang="en-AU" sz="2200" smtClean="0">
                <a:latin typeface="Helvetica" pitchFamily="34" charset="0"/>
              </a:rPr>
              <a:t>address: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Specific requirements nominated by </a:t>
            </a:r>
            <a:r>
              <a:rPr lang="en-AU" sz="2200" smtClean="0">
                <a:latin typeface="Helvetica" pitchFamily="34" charset="0"/>
              </a:rPr>
              <a:t>client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Objectives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Special access requirements which may </a:t>
            </a:r>
            <a:r>
              <a:rPr lang="en-AU" sz="2200" smtClean="0">
                <a:latin typeface="Helvetica" pitchFamily="34" charset="0"/>
              </a:rPr>
              <a:t>apply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Time </a:t>
            </a:r>
            <a:r>
              <a:rPr lang="en-AU" sz="2200" smtClean="0">
                <a:latin typeface="Helvetica" pitchFamily="34" charset="0"/>
              </a:rPr>
              <a:t>‘on</a:t>
            </a:r>
            <a:r>
              <a:rPr lang="en-AU" sz="2200" smtClean="0">
                <a:latin typeface="Helvetica" pitchFamily="34" charset="0"/>
              </a:rPr>
              <a:t>’ and </a:t>
            </a:r>
            <a:r>
              <a:rPr lang="en-AU" sz="2200" smtClean="0">
                <a:latin typeface="Helvetica" pitchFamily="34" charset="0"/>
              </a:rPr>
              <a:t>‘off’</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freeimage-7065068.jpg"/>
          <p:cNvPicPr>
            <a:picLocks noChangeAspect="1"/>
          </p:cNvPicPr>
          <p:nvPr/>
        </p:nvPicPr>
        <p:blipFill>
          <a:blip r:embed="rId3" cstate="print"/>
          <a:stretch>
            <a:fillRect/>
          </a:stretch>
        </p:blipFill>
        <p:spPr>
          <a:xfrm>
            <a:off x="6588224" y="3717032"/>
            <a:ext cx="1691680" cy="126876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Identify and access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Specific work </a:t>
            </a:r>
            <a:r>
              <a:rPr lang="en-AU" sz="2200" smtClean="0">
                <a:latin typeface="Helvetica" pitchFamily="34" charset="0"/>
              </a:rPr>
              <a:t>tasks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Integration of tasks with other </a:t>
            </a:r>
            <a:r>
              <a:rPr lang="en-AU" sz="2200" smtClean="0">
                <a:latin typeface="Helvetica" pitchFamily="34" charset="0"/>
              </a:rPr>
              <a:t>duties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Resources available to be </a:t>
            </a:r>
            <a:r>
              <a:rPr lang="en-AU" sz="2200" smtClean="0">
                <a:latin typeface="Helvetica" pitchFamily="34" charset="0"/>
              </a:rPr>
              <a:t>used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Management for the </a:t>
            </a:r>
            <a:r>
              <a:rPr lang="en-AU" sz="2200" smtClean="0">
                <a:latin typeface="Helvetica" pitchFamily="34" charset="0"/>
              </a:rPr>
              <a:t>assignment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Documentation required to be referred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1257552_conference_room.jpg"/>
          <p:cNvPicPr>
            <a:picLocks noChangeAspect="1"/>
          </p:cNvPicPr>
          <p:nvPr/>
        </p:nvPicPr>
        <p:blipFill>
          <a:blip r:embed="rId3" cstate="print"/>
          <a:stretch>
            <a:fillRect/>
          </a:stretch>
        </p:blipFill>
        <p:spPr>
          <a:xfrm>
            <a:off x="6444208" y="3284984"/>
            <a:ext cx="1781175" cy="178117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marL="0" indent="0">
              <a:spcBef>
                <a:spcPts val="600"/>
              </a:spcBef>
              <a:spcAft>
                <a:spcPts val="1200"/>
              </a:spcAft>
              <a:buNone/>
            </a:pPr>
            <a:r>
              <a:rPr lang="en-AU" sz="2200" smtClean="0">
                <a:latin typeface="Helvetica" pitchFamily="34" charset="0"/>
              </a:rPr>
              <a:t>Checking of security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occur prior to use of items – no </a:t>
            </a:r>
            <a:r>
              <a:rPr lang="en-AU" sz="2200" smtClean="0">
                <a:latin typeface="Helvetica" pitchFamily="34" charset="0"/>
              </a:rPr>
              <a:t>exceptions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be completed by all staff – no </a:t>
            </a:r>
            <a:r>
              <a:rPr lang="en-AU" sz="2200" smtClean="0">
                <a:latin typeface="Helvetica" pitchFamily="34" charset="0"/>
              </a:rPr>
              <a:t>exceptions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be applied to all items – no </a:t>
            </a:r>
            <a:r>
              <a:rPr lang="en-AU" sz="2200" smtClean="0">
                <a:latin typeface="Helvetica" pitchFamily="34" charset="0"/>
              </a:rPr>
              <a:t>exceptions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Maintenance 4.BMP"/>
          <p:cNvPicPr>
            <a:picLocks noChangeAspect="1"/>
          </p:cNvPicPr>
          <p:nvPr/>
        </p:nvPicPr>
        <p:blipFill>
          <a:blip r:embed="rId3" cstate="print"/>
          <a:stretch>
            <a:fillRect/>
          </a:stretch>
        </p:blipFill>
        <p:spPr>
          <a:xfrm>
            <a:off x="6948264" y="3645024"/>
            <a:ext cx="1463969" cy="151196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Pre-operational checks are important because:</a:t>
            </a:r>
          </a:p>
          <a:p>
            <a:pPr marL="360000" indent="-360000">
              <a:spcBef>
                <a:spcPts val="600"/>
              </a:spcBef>
              <a:spcAft>
                <a:spcPts val="1200"/>
              </a:spcAft>
            </a:pPr>
            <a:r>
              <a:rPr lang="en-AU" sz="2200" smtClean="0">
                <a:latin typeface="Helvetica" pitchFamily="34" charset="0"/>
              </a:rPr>
              <a:t>All items need to work as intended when </a:t>
            </a:r>
            <a:r>
              <a:rPr lang="en-AU" sz="2200" smtClean="0">
                <a:latin typeface="Helvetica" pitchFamily="34" charset="0"/>
              </a:rPr>
              <a:t>used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There is a need to ensure safety of the </a:t>
            </a:r>
            <a:r>
              <a:rPr lang="en-AU" sz="2200" smtClean="0">
                <a:latin typeface="Helvetica" pitchFamily="34" charset="0"/>
              </a:rPr>
              <a:t>item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 equipment may save your life or someone </a:t>
            </a:r>
            <a:r>
              <a:rPr lang="en-AU" sz="2200" smtClean="0">
                <a:latin typeface="Helvetica" pitchFamily="34" charset="0"/>
              </a:rPr>
              <a:t>else’s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Everyone expects you to have functional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 having fully functional items may breach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Duty of Care</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MC900434929.PNG"/>
          <p:cNvPicPr>
            <a:picLocks noChangeAspect="1"/>
          </p:cNvPicPr>
          <p:nvPr/>
        </p:nvPicPr>
        <p:blipFill>
          <a:blip r:embed="rId3" cstate="print"/>
          <a:stretch>
            <a:fillRect/>
          </a:stretch>
        </p:blipFill>
        <p:spPr>
          <a:xfrm>
            <a:off x="6732240" y="3645024"/>
            <a:ext cx="1756564" cy="1756564"/>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Never assume an item is fit to use simply </a:t>
            </a:r>
            <a:r>
              <a:rPr lang="en-AU" sz="2200" smtClean="0">
                <a:latin typeface="Helvetica" pitchFamily="34" charset="0"/>
              </a:rPr>
              <a:t>because: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Someone else has just handed it in after their </a:t>
            </a:r>
            <a:r>
              <a:rPr lang="en-AU" sz="2200" smtClean="0">
                <a:latin typeface="Helvetica" pitchFamily="34" charset="0"/>
              </a:rPr>
              <a:t>shift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There is nothing recorded or documented indicating a </a:t>
            </a:r>
            <a:r>
              <a:rPr lang="en-AU" sz="2200" smtClean="0">
                <a:latin typeface="Helvetica" pitchFamily="34" charset="0"/>
              </a:rPr>
              <a:t>problem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It </a:t>
            </a:r>
            <a:r>
              <a:rPr lang="en-AU" sz="2200" smtClean="0">
                <a:latin typeface="Helvetica" pitchFamily="34" charset="0"/>
              </a:rPr>
              <a:t>is</a:t>
            </a:r>
            <a:r>
              <a:rPr lang="en-AU" sz="2200" smtClean="0">
                <a:latin typeface="Helvetica" pitchFamily="34" charset="0"/>
              </a:rPr>
              <a:t>, or it looks </a:t>
            </a:r>
            <a:r>
              <a:rPr lang="en-AU" sz="2200" smtClean="0">
                <a:latin typeface="Helvetica" pitchFamily="34" charset="0"/>
              </a:rPr>
              <a:t>new</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 item has never given a problem in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the past</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review.jpg"/>
          <p:cNvPicPr>
            <a:picLocks noChangeAspect="1"/>
          </p:cNvPicPr>
          <p:nvPr/>
        </p:nvPicPr>
        <p:blipFill>
          <a:blip r:embed="rId3" cstate="print"/>
          <a:srcRect l="3497" t="7015" r="9073"/>
          <a:stretch>
            <a:fillRect/>
          </a:stretch>
        </p:blipFill>
        <p:spPr>
          <a:xfrm>
            <a:off x="6660232" y="3356992"/>
            <a:ext cx="1596495" cy="169304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Pre-operational checks can </a:t>
            </a:r>
            <a:r>
              <a:rPr lang="en-AU" sz="2200" smtClean="0">
                <a:latin typeface="Helvetica" pitchFamily="34" charset="0"/>
              </a:rPr>
              <a:t>involve: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Checking log books and </a:t>
            </a:r>
            <a:r>
              <a:rPr lang="en-AU" sz="2200" smtClean="0">
                <a:latin typeface="Helvetica" pitchFamily="34" charset="0"/>
              </a:rPr>
              <a:t>registers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Reading and referring to manufacturer’s </a:t>
            </a:r>
            <a:r>
              <a:rPr lang="en-AU" sz="2200" smtClean="0">
                <a:latin typeface="Helvetica" pitchFamily="34" charset="0"/>
              </a:rPr>
              <a:t>instructions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Using your </a:t>
            </a:r>
            <a:r>
              <a:rPr lang="en-AU" sz="2200" smtClean="0">
                <a:latin typeface="Helvetica" pitchFamily="34" charset="0"/>
              </a:rPr>
              <a:t>senses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descr="Maitenance 2.BMP"/>
          <p:cNvPicPr>
            <a:picLocks noChangeAspect="1"/>
          </p:cNvPicPr>
          <p:nvPr/>
        </p:nvPicPr>
        <p:blipFill>
          <a:blip r:embed="rId3" cstate="print"/>
          <a:stretch>
            <a:fillRect/>
          </a:stretch>
        </p:blipFill>
        <p:spPr>
          <a:xfrm>
            <a:off x="7236296" y="3645024"/>
            <a:ext cx="1194132" cy="1545881"/>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Responding to small operational </a:t>
            </a:r>
            <a:r>
              <a:rPr lang="en-AU" sz="2200" smtClean="0">
                <a:latin typeface="Helvetica" pitchFamily="34" charset="0"/>
              </a:rPr>
              <a:t>defects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Undertaking basic preventative vehicle </a:t>
            </a:r>
            <a:r>
              <a:rPr lang="en-AU" sz="2200" smtClean="0">
                <a:latin typeface="Helvetica" pitchFamily="34" charset="0"/>
              </a:rPr>
              <a:t>maintenance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Performing basic vehicle </a:t>
            </a:r>
            <a:r>
              <a:rPr lang="en-AU" sz="2200" smtClean="0">
                <a:latin typeface="Helvetica" pitchFamily="34" charset="0"/>
              </a:rPr>
              <a:t>checks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Maitenance 2.BMP"/>
          <p:cNvPicPr>
            <a:picLocks noChangeAspect="1"/>
          </p:cNvPicPr>
          <p:nvPr/>
        </p:nvPicPr>
        <p:blipFill>
          <a:blip r:embed="rId3" cstate="print"/>
          <a:stretch>
            <a:fillRect/>
          </a:stretch>
        </p:blipFill>
        <p:spPr>
          <a:xfrm>
            <a:off x="6804248" y="3645024"/>
            <a:ext cx="1562594" cy="1545881"/>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pre-operational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smtClean="0">
                <a:latin typeface="Helvetica" pitchFamily="34" charset="0"/>
              </a:rPr>
              <a:t>Other </a:t>
            </a:r>
            <a:r>
              <a:rPr lang="en-US" sz="2200" smtClean="0">
                <a:latin typeface="Helvetica" pitchFamily="34" charset="0"/>
              </a:rPr>
              <a:t>testing and </a:t>
            </a:r>
            <a:r>
              <a:rPr lang="en-US" sz="2200" smtClean="0">
                <a:latin typeface="Helvetica" pitchFamily="34" charset="0"/>
              </a:rPr>
              <a:t>checking:</a:t>
            </a:r>
            <a:endParaRPr lang="en-US"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US" sz="2200" smtClean="0">
                <a:latin typeface="Helvetica" pitchFamily="34" charset="0"/>
              </a:rPr>
              <a:t>Running diagnostics</a:t>
            </a:r>
          </a:p>
          <a:p>
            <a:pPr marL="720000" indent="-360000">
              <a:spcBef>
                <a:spcPts val="600"/>
              </a:spcBef>
              <a:spcAft>
                <a:spcPts val="1200"/>
              </a:spcAft>
              <a:buClr>
                <a:srgbClr val="7FD13B"/>
              </a:buClr>
              <a:buFont typeface="Wingdings" pitchFamily="2" charset="2"/>
              <a:buChar char="§"/>
            </a:pPr>
            <a:r>
              <a:rPr lang="en-US" sz="2200" smtClean="0">
                <a:latin typeface="Helvetica" pitchFamily="34" charset="0"/>
              </a:rPr>
              <a:t>Testing comms</a:t>
            </a:r>
          </a:p>
          <a:p>
            <a:pPr marL="720000" indent="-360000">
              <a:spcBef>
                <a:spcPts val="600"/>
              </a:spcBef>
              <a:spcAft>
                <a:spcPts val="1200"/>
              </a:spcAft>
              <a:buClr>
                <a:srgbClr val="7FD13B"/>
              </a:buClr>
              <a:buFont typeface="Wingdings" pitchFamily="2" charset="2"/>
              <a:buChar char="§"/>
            </a:pPr>
            <a:r>
              <a:rPr lang="en-US" sz="2200" smtClean="0">
                <a:latin typeface="Helvetica" pitchFamily="34" charset="0"/>
              </a:rPr>
              <a:t>Weapons</a:t>
            </a:r>
          </a:p>
          <a:p>
            <a:pPr marL="720000" indent="-360000">
              <a:spcBef>
                <a:spcPts val="600"/>
              </a:spcBef>
              <a:spcAft>
                <a:spcPts val="1200"/>
              </a:spcAft>
              <a:buClr>
                <a:srgbClr val="7FD13B"/>
              </a:buClr>
              <a:buFont typeface="Wingdings" pitchFamily="2" charset="2"/>
              <a:buChar char="§"/>
            </a:pPr>
            <a:r>
              <a:rPr lang="en-US" sz="2200" smtClean="0">
                <a:latin typeface="Helvetica" pitchFamily="34" charset="0"/>
              </a:rPr>
              <a:t>Items are ‘charged’</a:t>
            </a:r>
          </a:p>
          <a:p>
            <a:pPr marL="720000" indent="-360000">
              <a:spcBef>
                <a:spcPts val="600"/>
              </a:spcBef>
              <a:spcAft>
                <a:spcPts val="1200"/>
              </a:spcAft>
              <a:buClr>
                <a:srgbClr val="7FD13B"/>
              </a:buClr>
              <a:buFont typeface="Wingdings" pitchFamily="2" charset="2"/>
              <a:buChar char="§"/>
            </a:pPr>
            <a:r>
              <a:rPr lang="en-US" sz="2200" smtClean="0">
                <a:latin typeface="Helvetica" pitchFamily="34" charset="0"/>
              </a:rPr>
              <a:t>OC sprays are ‘full’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Walkie Talkie.jpg"/>
          <p:cNvPicPr>
            <a:picLocks noChangeAspect="1"/>
          </p:cNvPicPr>
          <p:nvPr/>
        </p:nvPicPr>
        <p:blipFill>
          <a:blip r:embed="rId3" cstate="print"/>
          <a:stretch>
            <a:fillRect/>
          </a:stretch>
        </p:blipFill>
        <p:spPr>
          <a:xfrm>
            <a:off x="7020272" y="3140968"/>
            <a:ext cx="1245392" cy="186588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rectify or replace faulty and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AU" sz="2200" smtClean="0">
                <a:latin typeface="Helvetica" pitchFamily="34" charset="0"/>
              </a:rPr>
              <a:t>All faulty or damaged items must be fixed or replaced.</a:t>
            </a:r>
          </a:p>
          <a:p>
            <a:pPr marL="0" indent="0">
              <a:spcBef>
                <a:spcPts val="600"/>
              </a:spcBef>
              <a:spcAft>
                <a:spcPts val="1200"/>
              </a:spcAft>
              <a:buNone/>
            </a:pPr>
            <a:r>
              <a:rPr lang="en-AU" sz="2200" smtClean="0">
                <a:latin typeface="Helvetica" pitchFamily="34" charset="0"/>
              </a:rPr>
              <a:t>Faults or damage can be </a:t>
            </a:r>
            <a:r>
              <a:rPr lang="en-AU" sz="2200" smtClean="0">
                <a:latin typeface="Helvetica" pitchFamily="34" charset="0"/>
              </a:rPr>
              <a:t>identified: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As a result of </a:t>
            </a:r>
            <a:r>
              <a:rPr lang="en-AU" sz="2200" smtClean="0">
                <a:latin typeface="Helvetica" pitchFamily="34" charset="0"/>
              </a:rPr>
              <a:t>checks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When reported by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When flagged by a </a:t>
            </a:r>
            <a:r>
              <a:rPr lang="en-AU" sz="2200" smtClean="0">
                <a:latin typeface="Helvetica" pitchFamily="34" charset="0"/>
              </a:rPr>
              <a:t>system</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732240" y="3861048"/>
            <a:ext cx="1698780" cy="135902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rectify or replace faulty and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lnSpcReduction="10000"/>
          </a:bodyPr>
          <a:lstStyle/>
          <a:p>
            <a:pPr marL="0" indent="0">
              <a:spcBef>
                <a:spcPts val="600"/>
              </a:spcBef>
              <a:spcAft>
                <a:spcPts val="1200"/>
              </a:spcAft>
              <a:buNone/>
            </a:pPr>
            <a:r>
              <a:rPr lang="en-AU" sz="2200" smtClean="0">
                <a:latin typeface="Helvetica" pitchFamily="34" charset="0"/>
              </a:rPr>
              <a:t>Examples of damaged or faulty equipment:</a:t>
            </a:r>
          </a:p>
          <a:p>
            <a:pPr marL="360000" indent="-360000">
              <a:spcBef>
                <a:spcPts val="600"/>
              </a:spcBef>
              <a:spcAft>
                <a:spcPts val="1200"/>
              </a:spcAft>
            </a:pPr>
            <a:r>
              <a:rPr lang="en-AU" sz="2200" smtClean="0">
                <a:latin typeface="Helvetica" pitchFamily="34" charset="0"/>
              </a:rPr>
              <a:t>Missing </a:t>
            </a:r>
            <a:r>
              <a:rPr lang="en-AU" sz="2200" smtClean="0">
                <a:latin typeface="Helvetica" pitchFamily="34" charset="0"/>
              </a:rPr>
              <a:t>items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Items with flat </a:t>
            </a:r>
            <a:r>
              <a:rPr lang="en-AU" sz="2200" smtClean="0">
                <a:latin typeface="Helvetica" pitchFamily="34" charset="0"/>
              </a:rPr>
              <a:t>batteries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Flashlights with blown </a:t>
            </a:r>
            <a:r>
              <a:rPr lang="en-AU" sz="2200" smtClean="0">
                <a:latin typeface="Helvetica" pitchFamily="34" charset="0"/>
              </a:rPr>
              <a:t>globes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Items requiring maintenance or </a:t>
            </a:r>
            <a:r>
              <a:rPr lang="en-AU" sz="2200" smtClean="0">
                <a:latin typeface="Helvetica" pitchFamily="34" charset="0"/>
              </a:rPr>
              <a:t>service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Item works </a:t>
            </a:r>
            <a:r>
              <a:rPr lang="en-AU" sz="2200" smtClean="0">
                <a:latin typeface="Helvetica" pitchFamily="34" charset="0"/>
              </a:rPr>
              <a:t>intermittently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Dangerous </a:t>
            </a:r>
            <a:r>
              <a:rPr lang="en-AU" sz="2200" smtClean="0">
                <a:latin typeface="Helvetica" pitchFamily="34" charset="0"/>
              </a:rPr>
              <a:t>item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 fully </a:t>
            </a:r>
            <a:r>
              <a:rPr lang="en-AU" sz="2200" smtClean="0">
                <a:latin typeface="Helvetica" pitchFamily="34" charset="0"/>
              </a:rPr>
              <a:t>operational</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Maintenance 4.BMP"/>
          <p:cNvPicPr>
            <a:picLocks noChangeAspect="1"/>
          </p:cNvPicPr>
          <p:nvPr/>
        </p:nvPicPr>
        <p:blipFill>
          <a:blip r:embed="rId3" cstate="print"/>
          <a:stretch>
            <a:fillRect/>
          </a:stretch>
        </p:blipFill>
        <p:spPr>
          <a:xfrm>
            <a:off x="6948264" y="3645024"/>
            <a:ext cx="1463969" cy="1511968"/>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rectify or replace faulty and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Where items are damaged or faulty </a:t>
            </a:r>
            <a:r>
              <a:rPr lang="en-AU" sz="2200" smtClean="0">
                <a:latin typeface="Helvetica" pitchFamily="34" charset="0"/>
              </a:rPr>
              <a:t>and </a:t>
            </a:r>
            <a:r>
              <a:rPr lang="en-AU" sz="2200" b="1" smtClean="0">
                <a:latin typeface="Helvetica" pitchFamily="34" charset="0"/>
              </a:rPr>
              <a:t>can be fixed </a:t>
            </a:r>
            <a:r>
              <a:rPr lang="en-AU" sz="2200" smtClean="0">
                <a:latin typeface="Helvetica" pitchFamily="34" charset="0"/>
              </a:rPr>
              <a:t>your on-the-job training </a:t>
            </a:r>
            <a:r>
              <a:rPr lang="en-AU" sz="2200" smtClean="0">
                <a:latin typeface="Helvetica" pitchFamily="34" charset="0"/>
              </a:rPr>
              <a:t>will:</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Explain scope of </a:t>
            </a:r>
            <a:r>
              <a:rPr lang="en-AU" sz="2200" smtClean="0">
                <a:latin typeface="Helvetica" pitchFamily="34" charset="0"/>
              </a:rPr>
              <a:t>authority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Indicate time which can be </a:t>
            </a:r>
            <a:r>
              <a:rPr lang="en-AU" sz="2200" smtClean="0">
                <a:latin typeface="Helvetica" pitchFamily="34" charset="0"/>
              </a:rPr>
              <a:t>spent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Provide diagnosis and repair or service </a:t>
            </a:r>
            <a:r>
              <a:rPr lang="en-AU" sz="2200" smtClean="0">
                <a:latin typeface="Helvetica" pitchFamily="34" charset="0"/>
              </a:rPr>
              <a:t>instruction</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Maintenance 4.BMP"/>
          <p:cNvPicPr>
            <a:picLocks noChangeAspect="1"/>
          </p:cNvPicPr>
          <p:nvPr/>
        </p:nvPicPr>
        <p:blipFill>
          <a:blip r:embed="rId3" cstate="print"/>
          <a:stretch>
            <a:fillRect/>
          </a:stretch>
        </p:blipFill>
        <p:spPr>
          <a:xfrm>
            <a:off x="5076056" y="4293096"/>
            <a:ext cx="1210284" cy="1822226"/>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rectify or replace faulty and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AU" sz="2200" smtClean="0">
                <a:latin typeface="Helvetica" pitchFamily="34" charset="0"/>
              </a:rPr>
              <a:t>Also note:</a:t>
            </a:r>
          </a:p>
          <a:p>
            <a:pPr marL="360000" indent="-360000">
              <a:spcBef>
                <a:spcPts val="600"/>
              </a:spcBef>
              <a:spcAft>
                <a:spcPts val="1200"/>
              </a:spcAft>
            </a:pPr>
            <a:r>
              <a:rPr lang="en-AU" sz="2200" smtClean="0">
                <a:latin typeface="Helvetica" pitchFamily="34" charset="0"/>
              </a:rPr>
              <a:t>Never assume you know what the problem or cause </a:t>
            </a:r>
            <a:r>
              <a:rPr lang="en-AU" sz="2200" smtClean="0">
                <a:latin typeface="Helvetica" pitchFamily="34" charset="0"/>
              </a:rPr>
              <a:t>is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Stay within personal scope of </a:t>
            </a:r>
            <a:r>
              <a:rPr lang="en-AU" sz="2200" smtClean="0">
                <a:latin typeface="Helvetica" pitchFamily="34" charset="0"/>
              </a:rPr>
              <a:t>authority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Repair requirements </a:t>
            </a:r>
            <a:r>
              <a:rPr lang="en-AU" sz="2200" smtClean="0">
                <a:latin typeface="Helvetica" pitchFamily="34" charset="0"/>
              </a:rPr>
              <a:t>(can</a:t>
            </a:r>
            <a:r>
              <a:rPr lang="en-AU" sz="2200" smtClean="0">
                <a:latin typeface="Helvetica" pitchFamily="34" charset="0"/>
              </a:rPr>
              <a:t>) differ between similar items of equipment and between </a:t>
            </a:r>
            <a:r>
              <a:rPr lang="en-AU" sz="2200" smtClean="0">
                <a:latin typeface="Helvetica" pitchFamily="34" charset="0"/>
              </a:rPr>
              <a:t>models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Never ignore a problem or </a:t>
            </a:r>
            <a:r>
              <a:rPr lang="en-AU" sz="2200" smtClean="0">
                <a:latin typeface="Helvetica" pitchFamily="34" charset="0"/>
              </a:rPr>
              <a:t>fault</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freeimage-1280330.jpg"/>
          <p:cNvPicPr>
            <a:picLocks noChangeAspect="1"/>
          </p:cNvPicPr>
          <p:nvPr/>
        </p:nvPicPr>
        <p:blipFill>
          <a:blip r:embed="rId3" cstate="print"/>
          <a:stretch>
            <a:fillRect/>
          </a:stretch>
        </p:blipFill>
        <p:spPr>
          <a:xfrm>
            <a:off x="6372200" y="3933056"/>
            <a:ext cx="2015716" cy="1343811"/>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rectify or replace faulty and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SOP where </a:t>
            </a:r>
            <a:r>
              <a:rPr lang="en-AU" sz="2200" smtClean="0">
                <a:latin typeface="Helvetica" pitchFamily="34" charset="0"/>
              </a:rPr>
              <a:t>items </a:t>
            </a:r>
            <a:r>
              <a:rPr lang="en-AU" sz="2200" b="1" smtClean="0">
                <a:latin typeface="Helvetica" pitchFamily="34" charset="0"/>
              </a:rPr>
              <a:t>cannot </a:t>
            </a:r>
            <a:r>
              <a:rPr lang="en-AU" sz="2200" smtClean="0">
                <a:latin typeface="Helvetica" pitchFamily="34" charset="0"/>
              </a:rPr>
              <a:t>be fixed on-the-spot by </a:t>
            </a:r>
            <a:r>
              <a:rPr lang="en-AU" sz="2200" smtClean="0">
                <a:latin typeface="Helvetica" pitchFamily="34" charset="0"/>
              </a:rPr>
              <a:t>you:</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Tag item as </a:t>
            </a:r>
            <a:r>
              <a:rPr lang="en-AU" sz="2200" smtClean="0">
                <a:latin typeface="Helvetica" pitchFamily="34" charset="0"/>
              </a:rPr>
              <a:t>‘U/S’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Remove item from </a:t>
            </a:r>
            <a:r>
              <a:rPr lang="en-AU" sz="2200" smtClean="0">
                <a:latin typeface="Helvetica" pitchFamily="34" charset="0"/>
              </a:rPr>
              <a:t>service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Complete </a:t>
            </a:r>
            <a:r>
              <a:rPr lang="en-AU" sz="2200" smtClean="0">
                <a:latin typeface="Helvetica" pitchFamily="34" charset="0"/>
              </a:rPr>
              <a:t>‘</a:t>
            </a:r>
            <a:r>
              <a:rPr lang="en-AU" sz="2200" smtClean="0">
                <a:latin typeface="Helvetica" pitchFamily="34" charset="0"/>
              </a:rPr>
              <a:t>Maintenance </a:t>
            </a:r>
            <a:r>
              <a:rPr lang="en-AU" sz="2200" smtClean="0">
                <a:latin typeface="Helvetica" pitchFamily="34" charset="0"/>
              </a:rPr>
              <a:t>Request</a:t>
            </a:r>
            <a:r>
              <a:rPr lang="en-AU" sz="2200" smtClean="0">
                <a:latin typeface="Helvetica" pitchFamily="34" charset="0"/>
              </a:rPr>
              <a:t>’ </a:t>
            </a:r>
            <a:r>
              <a:rPr lang="en-AU" sz="2200" smtClean="0">
                <a:latin typeface="Helvetica" pitchFamily="34" charset="0"/>
              </a:rPr>
              <a:t>form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Arrange </a:t>
            </a:r>
            <a:r>
              <a:rPr lang="en-AU" sz="2200" smtClean="0">
                <a:latin typeface="Helvetica" pitchFamily="34" charset="0"/>
              </a:rPr>
              <a:t>replacement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Report </a:t>
            </a:r>
            <a:r>
              <a:rPr lang="en-AU" sz="2200" smtClean="0">
                <a:latin typeface="Helvetica" pitchFamily="34" charset="0"/>
              </a:rPr>
              <a:t>situation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516216" y="3789040"/>
            <a:ext cx="1788566" cy="129479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Security-related training may be required by:</a:t>
            </a:r>
          </a:p>
          <a:p>
            <a:pPr marL="360000" indent="-360000">
              <a:spcBef>
                <a:spcPts val="600"/>
              </a:spcBef>
              <a:spcAft>
                <a:spcPts val="1200"/>
              </a:spcAft>
            </a:pPr>
            <a:r>
              <a:rPr lang="en-AU" sz="2200" smtClean="0">
                <a:latin typeface="Helvetica" pitchFamily="34" charset="0"/>
              </a:rPr>
              <a:t>Full-time</a:t>
            </a:r>
            <a:r>
              <a:rPr lang="en-AU" sz="2200" smtClean="0">
                <a:latin typeface="Helvetica" pitchFamily="34" charset="0"/>
              </a:rPr>
              <a:t>, part-time and casual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New </a:t>
            </a:r>
            <a:r>
              <a:rPr lang="en-AU" sz="2200" smtClean="0">
                <a:latin typeface="Helvetica" pitchFamily="34" charset="0"/>
              </a:rPr>
              <a:t>employees</a:t>
            </a:r>
            <a:r>
              <a:rPr lang="en-AU" sz="2200" smtClean="0">
                <a:latin typeface="Helvetica" pitchFamily="34" charset="0"/>
              </a:rPr>
              <a:t>, and those with no </a:t>
            </a:r>
            <a:r>
              <a:rPr lang="en-AU" sz="2200" smtClean="0">
                <a:latin typeface="Helvetica" pitchFamily="34" charset="0"/>
              </a:rPr>
              <a:t>experience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Staff who have transferred to Security </a:t>
            </a:r>
            <a:r>
              <a:rPr lang="en-AU" sz="2200" smtClean="0">
                <a:latin typeface="Helvetica" pitchFamily="34" charset="0"/>
              </a:rPr>
              <a:t>work</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Experienced staff from other </a:t>
            </a:r>
            <a:r>
              <a:rPr lang="en-AU" sz="2200" smtClean="0">
                <a:latin typeface="Helvetica" pitchFamily="34" charset="0"/>
              </a:rPr>
              <a:t>venues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Contracted staff from external security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provider</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21816_training.jpg"/>
          <p:cNvPicPr>
            <a:picLocks noChangeAspect="1"/>
          </p:cNvPicPr>
          <p:nvPr/>
        </p:nvPicPr>
        <p:blipFill>
          <a:blip r:embed="rId3" cstate="print"/>
          <a:stretch>
            <a:fillRect/>
          </a:stretch>
        </p:blipFill>
        <p:spPr>
          <a:xfrm>
            <a:off x="6516216" y="3842806"/>
            <a:ext cx="1921396" cy="1434642"/>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Security training may be required when:</a:t>
            </a:r>
          </a:p>
          <a:p>
            <a:pPr marL="360000" indent="-360000">
              <a:spcBef>
                <a:spcPts val="600"/>
              </a:spcBef>
              <a:spcAft>
                <a:spcPts val="1200"/>
              </a:spcAft>
            </a:pPr>
            <a:r>
              <a:rPr lang="en-AU" sz="2200" smtClean="0">
                <a:latin typeface="Helvetica" pitchFamily="34" charset="0"/>
              </a:rPr>
              <a:t>New equipment is </a:t>
            </a:r>
            <a:r>
              <a:rPr lang="en-AU" sz="2200" smtClean="0">
                <a:latin typeface="Helvetica" pitchFamily="34" charset="0"/>
              </a:rPr>
              <a:t>introduced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Breaches of security </a:t>
            </a:r>
            <a:r>
              <a:rPr lang="en-AU" sz="2200" smtClean="0">
                <a:latin typeface="Helvetica" pitchFamily="34" charset="0"/>
              </a:rPr>
              <a:t>occur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Established SOPs prove </a:t>
            </a:r>
            <a:r>
              <a:rPr lang="en-AU" sz="2200" smtClean="0">
                <a:latin typeface="Helvetica" pitchFamily="34" charset="0"/>
              </a:rPr>
              <a:t>ineffective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New or revised policies and procedures are </a:t>
            </a:r>
            <a:r>
              <a:rPr lang="en-AU" sz="2200" smtClean="0">
                <a:latin typeface="Helvetica" pitchFamily="34" charset="0"/>
              </a:rPr>
              <a:t>introduced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New target markets are </a:t>
            </a:r>
            <a:r>
              <a:rPr lang="en-AU" sz="2200" smtClean="0">
                <a:latin typeface="Helvetica" pitchFamily="34" charset="0"/>
              </a:rPr>
              <a:t>attending</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descr="MP900427762.JPG"/>
          <p:cNvPicPr>
            <a:picLocks noChangeAspect="1"/>
          </p:cNvPicPr>
          <p:nvPr/>
        </p:nvPicPr>
        <p:blipFill>
          <a:blip r:embed="rId3" cstate="print"/>
          <a:stretch>
            <a:fillRect/>
          </a:stretch>
        </p:blipFill>
        <p:spPr>
          <a:xfrm>
            <a:off x="6660232" y="4005064"/>
            <a:ext cx="1725421" cy="126575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Opening times </a:t>
            </a:r>
            <a:r>
              <a:rPr lang="en-AU" sz="2200" smtClean="0">
                <a:latin typeface="Helvetica" pitchFamily="34" charset="0"/>
              </a:rPr>
              <a:t>change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New attractions are made available in the </a:t>
            </a:r>
            <a:r>
              <a:rPr lang="en-AU" sz="2200" smtClean="0">
                <a:latin typeface="Helvetica" pitchFamily="34" charset="0"/>
              </a:rPr>
              <a:t>venue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There has been legal action against the </a:t>
            </a:r>
            <a:r>
              <a:rPr lang="en-AU" sz="2200" smtClean="0">
                <a:latin typeface="Helvetica" pitchFamily="34" charset="0"/>
              </a:rPr>
              <a:t>venue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Negative media attention is </a:t>
            </a:r>
            <a:r>
              <a:rPr lang="en-AU" sz="2200" smtClean="0">
                <a:latin typeface="Helvetica" pitchFamily="34" charset="0"/>
              </a:rPr>
              <a:t>received</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iStock_000002756735Medium.jpg"/>
          <p:cNvPicPr>
            <a:picLocks noChangeAspect="1"/>
          </p:cNvPicPr>
          <p:nvPr/>
        </p:nvPicPr>
        <p:blipFill>
          <a:blip r:embed="rId3" cstate="print"/>
          <a:stretch>
            <a:fillRect/>
          </a:stretch>
        </p:blipFill>
        <p:spPr>
          <a:xfrm>
            <a:off x="6948264" y="3573016"/>
            <a:ext cx="1270112" cy="1389123"/>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Told by authorities to improve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Warned by authorities of a new or specific </a:t>
            </a:r>
            <a:r>
              <a:rPr lang="en-AU" sz="2200" smtClean="0">
                <a:latin typeface="Helvetica" pitchFamily="34" charset="0"/>
              </a:rPr>
              <a:t>threat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Property layout </a:t>
            </a:r>
            <a:r>
              <a:rPr lang="en-AU" sz="2200" smtClean="0">
                <a:latin typeface="Helvetica" pitchFamily="34" charset="0"/>
              </a:rPr>
              <a:t>alters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 special event is </a:t>
            </a:r>
            <a:r>
              <a:rPr lang="en-AU" sz="2200" smtClean="0">
                <a:latin typeface="Helvetica" pitchFamily="34" charset="0"/>
              </a:rPr>
              <a:t>planned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 VIP guest is </a:t>
            </a:r>
            <a:r>
              <a:rPr lang="en-AU" sz="2200" smtClean="0">
                <a:latin typeface="Helvetica" pitchFamily="34" charset="0"/>
              </a:rPr>
              <a:t>expected</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freeimage-2999481.jpg"/>
          <p:cNvPicPr>
            <a:picLocks noChangeAspect="1"/>
          </p:cNvPicPr>
          <p:nvPr/>
        </p:nvPicPr>
        <p:blipFill>
          <a:blip r:embed="rId3" cstate="print"/>
          <a:stretch>
            <a:fillRect/>
          </a:stretch>
        </p:blipFill>
        <p:spPr>
          <a:xfrm>
            <a:off x="6588224" y="3861048"/>
            <a:ext cx="1730187" cy="1152128"/>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Need for training needs to be communicated </a:t>
            </a:r>
            <a:r>
              <a:rPr lang="en-AU" sz="2200" smtClean="0">
                <a:latin typeface="Helvetica" pitchFamily="34" charset="0"/>
              </a:rPr>
              <a:t>(</a:t>
            </a:r>
            <a:r>
              <a:rPr lang="en-AU" sz="2200" smtClean="0">
                <a:latin typeface="Helvetica" pitchFamily="34" charset="0"/>
              </a:rPr>
              <a:t>usually in </a:t>
            </a:r>
            <a:r>
              <a:rPr lang="en-AU" sz="2200" smtClean="0">
                <a:latin typeface="Helvetica" pitchFamily="34" charset="0"/>
              </a:rPr>
              <a:t>writing</a:t>
            </a:r>
            <a:r>
              <a:rPr lang="en-AU" sz="2200" smtClean="0">
                <a:latin typeface="Helvetica" pitchFamily="34" charset="0"/>
              </a:rPr>
              <a:t>) to </a:t>
            </a:r>
            <a:r>
              <a:rPr lang="en-AU" sz="2200" smtClean="0">
                <a:latin typeface="Helvetica" pitchFamily="34" charset="0"/>
              </a:rPr>
              <a:t>‘</a:t>
            </a:r>
            <a:r>
              <a:rPr lang="en-AU" sz="2200" smtClean="0">
                <a:latin typeface="Helvetica" pitchFamily="34" charset="0"/>
              </a:rPr>
              <a:t>appropriate </a:t>
            </a:r>
            <a:r>
              <a:rPr lang="en-AU" sz="2200" smtClean="0">
                <a:latin typeface="Helvetica" pitchFamily="34" charset="0"/>
              </a:rPr>
              <a:t>person</a:t>
            </a:r>
            <a:r>
              <a:rPr lang="en-AU" sz="2200" smtClean="0">
                <a:latin typeface="Helvetica" pitchFamily="34" charset="0"/>
              </a:rPr>
              <a:t>’ who may </a:t>
            </a:r>
            <a:r>
              <a:rPr lang="en-AU" sz="2200" smtClean="0">
                <a:latin typeface="Helvetica" pitchFamily="34" charset="0"/>
              </a:rPr>
              <a:t>be: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Owner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Manager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Head </a:t>
            </a:r>
            <a:r>
              <a:rPr lang="en-AU" sz="2200" smtClean="0">
                <a:latin typeface="Helvetica" pitchFamily="34" charset="0"/>
              </a:rPr>
              <a:t>office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External security </a:t>
            </a:r>
            <a:r>
              <a:rPr lang="en-AU" sz="2200" smtClean="0">
                <a:latin typeface="Helvetica" pitchFamily="34" charset="0"/>
              </a:rPr>
              <a:t>provider</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Training sign.jpg"/>
          <p:cNvPicPr>
            <a:picLocks noChangeAspect="1"/>
          </p:cNvPicPr>
          <p:nvPr/>
        </p:nvPicPr>
        <p:blipFill>
          <a:blip r:embed="rId3" cstate="print"/>
          <a:stretch>
            <a:fillRect/>
          </a:stretch>
        </p:blipFill>
        <p:spPr>
          <a:xfrm>
            <a:off x="6300192" y="3140968"/>
            <a:ext cx="2036124" cy="1856631"/>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Head of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Venue or workplace </a:t>
            </a:r>
            <a:r>
              <a:rPr lang="en-AU" sz="2200" smtClean="0">
                <a:latin typeface="Helvetica" pitchFamily="34" charset="0"/>
              </a:rPr>
              <a:t>trainer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Department </a:t>
            </a:r>
            <a:r>
              <a:rPr lang="en-AU" sz="2200" smtClean="0">
                <a:latin typeface="Helvetica" pitchFamily="34" charset="0"/>
              </a:rPr>
              <a:t>supervisor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Safety and Welfare committee </a:t>
            </a:r>
            <a:r>
              <a:rPr lang="en-AU" sz="2200" smtClean="0">
                <a:latin typeface="Helvetica" pitchFamily="34" charset="0"/>
              </a:rPr>
              <a:t>(</a:t>
            </a:r>
            <a:r>
              <a:rPr lang="en-AU" sz="2200" smtClean="0">
                <a:latin typeface="Helvetica" pitchFamily="34" charset="0"/>
              </a:rPr>
              <a:t>or </a:t>
            </a:r>
            <a:r>
              <a:rPr lang="en-AU" sz="2200" smtClean="0">
                <a:latin typeface="Helvetica" pitchFamily="34" charset="0"/>
              </a:rPr>
              <a:t>similar)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Equipment </a:t>
            </a:r>
            <a:r>
              <a:rPr lang="en-AU" sz="2200" smtClean="0">
                <a:latin typeface="Helvetica" pitchFamily="34" charset="0"/>
              </a:rPr>
              <a:t>manufacturers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Safety first sign.jpg"/>
          <p:cNvPicPr>
            <a:picLocks noChangeAspect="1"/>
          </p:cNvPicPr>
          <p:nvPr/>
        </p:nvPicPr>
        <p:blipFill>
          <a:blip r:embed="rId3" cstate="print"/>
          <a:stretch>
            <a:fillRect/>
          </a:stretch>
        </p:blipFill>
        <p:spPr>
          <a:xfrm>
            <a:off x="6228184" y="3645024"/>
            <a:ext cx="2094716" cy="138990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and notify need for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Communicating need for security-related training should address the following </a:t>
            </a:r>
            <a:r>
              <a:rPr lang="en-AU" sz="2200" smtClean="0">
                <a:latin typeface="Helvetica" pitchFamily="34" charset="0"/>
              </a:rPr>
              <a:t>points: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Numbers of </a:t>
            </a:r>
            <a:r>
              <a:rPr lang="en-AU" sz="2200" smtClean="0">
                <a:latin typeface="Helvetica" pitchFamily="34" charset="0"/>
              </a:rPr>
              <a:t>staff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Names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Urgency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Specification of what is </a:t>
            </a:r>
            <a:r>
              <a:rPr lang="en-AU" sz="2200" smtClean="0">
                <a:latin typeface="Helvetica" pitchFamily="34" charset="0"/>
              </a:rPr>
              <a:t>required</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Signs.jpg"/>
          <p:cNvPicPr>
            <a:picLocks noChangeAspect="1"/>
          </p:cNvPicPr>
          <p:nvPr/>
        </p:nvPicPr>
        <p:blipFill>
          <a:blip r:embed="rId3" cstate="print"/>
          <a:srcRect b="6574"/>
          <a:stretch>
            <a:fillRect/>
          </a:stretch>
        </p:blipFill>
        <p:spPr>
          <a:xfrm>
            <a:off x="6156176" y="3068960"/>
            <a:ext cx="2087028" cy="194421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lnSpcReduction="10000"/>
          </a:bodyPr>
          <a:lstStyle/>
          <a:p>
            <a:pPr marL="0" indent="0">
              <a:spcBef>
                <a:spcPts val="600"/>
              </a:spcBef>
              <a:spcAft>
                <a:spcPts val="1200"/>
              </a:spcAft>
              <a:buNone/>
            </a:pPr>
            <a:r>
              <a:rPr lang="en-AU" sz="2200" smtClean="0">
                <a:latin typeface="Helvetica" pitchFamily="34" charset="0"/>
              </a:rPr>
              <a:t>When selecting and preparing security equipment for use:</a:t>
            </a:r>
          </a:p>
          <a:p>
            <a:pPr>
              <a:spcBef>
                <a:spcPts val="600"/>
              </a:spcBef>
              <a:spcAft>
                <a:spcPts val="1200"/>
              </a:spcAft>
            </a:pPr>
            <a:r>
              <a:rPr lang="en-AU" sz="2200" smtClean="0">
                <a:latin typeface="Helvetica" pitchFamily="34" charset="0"/>
              </a:rPr>
              <a:t>Use </a:t>
            </a:r>
            <a:r>
              <a:rPr lang="en-AU" sz="2200" smtClean="0">
                <a:latin typeface="Helvetica" pitchFamily="34" charset="0"/>
              </a:rPr>
              <a:t>equipment and items provided by management</a:t>
            </a:r>
          </a:p>
          <a:p>
            <a:pPr>
              <a:spcBef>
                <a:spcPts val="600"/>
              </a:spcBef>
              <a:spcAft>
                <a:spcPts val="1200"/>
              </a:spcAft>
            </a:pPr>
            <a:r>
              <a:rPr lang="en-AU" sz="2200" smtClean="0">
                <a:latin typeface="Helvetica" pitchFamily="34" charset="0"/>
              </a:rPr>
              <a:t>Supplement venue items with your own personal gear (where permitted)</a:t>
            </a:r>
          </a:p>
          <a:p>
            <a:pPr>
              <a:spcBef>
                <a:spcPts val="600"/>
              </a:spcBef>
              <a:spcAft>
                <a:spcPts val="1200"/>
              </a:spcAft>
            </a:pPr>
            <a:r>
              <a:rPr lang="en-AU" sz="2200" smtClean="0">
                <a:latin typeface="Helvetica" pitchFamily="34" charset="0"/>
              </a:rPr>
              <a:t>Make sure you know all the security gear available and used within the venue</a:t>
            </a:r>
          </a:p>
          <a:p>
            <a:pPr>
              <a:spcBef>
                <a:spcPts val="600"/>
              </a:spcBef>
              <a:spcAft>
                <a:spcPts val="1200"/>
              </a:spcAft>
            </a:pPr>
            <a:r>
              <a:rPr lang="en-AU" sz="2200" smtClean="0">
                <a:latin typeface="Helvetica" pitchFamily="34" charset="0"/>
              </a:rPr>
              <a:t>Learn the tasks and responsibilities security is </a:t>
            </a:r>
            <a:br>
              <a:rPr lang="en-AU" sz="2200" smtClean="0">
                <a:latin typeface="Helvetica" pitchFamily="34" charset="0"/>
              </a:rPr>
            </a:br>
            <a:r>
              <a:rPr lang="en-AU" sz="2200" smtClean="0">
                <a:latin typeface="Helvetica" pitchFamily="34" charset="0"/>
              </a:rPr>
              <a:t>expected to discharge</a:t>
            </a:r>
          </a:p>
          <a:p>
            <a:pPr>
              <a:spcBef>
                <a:spcPts val="600"/>
              </a:spcBef>
              <a:spcAft>
                <a:spcPts val="1200"/>
              </a:spcAft>
            </a:pPr>
            <a:r>
              <a:rPr lang="en-AU" sz="2200" smtClean="0">
                <a:latin typeface="Helvetica" pitchFamily="34" charset="0"/>
              </a:rPr>
              <a:t>Match tools and equipment to work to be done</a:t>
            </a:r>
          </a:p>
          <a:p>
            <a:pPr>
              <a:spcBef>
                <a:spcPts val="600"/>
              </a:spcBef>
              <a:spcAft>
                <a:spcPts val="1200"/>
              </a:spcAft>
              <a:buNone/>
            </a:pPr>
            <a:r>
              <a:rPr lang="en-AU" sz="2200" i="1" smtClean="0">
                <a:latin typeface="Helvetica" pitchFamily="34" charset="0"/>
              </a:rPr>
              <a:t>(Continued)</a:t>
            </a:r>
          </a:p>
          <a:p>
            <a:pPr>
              <a:spcBef>
                <a:spcPts val="600"/>
              </a:spcBef>
              <a:spcAft>
                <a:spcPts val="1200"/>
              </a:spcAft>
            </a:pPr>
            <a:endParaRPr lang="en-AU" sz="2200" smtClean="0">
              <a:latin typeface="Helvetica" pitchFamily="34" charset="0"/>
            </a:endParaRPr>
          </a:p>
          <a:p>
            <a:pPr>
              <a:spcBef>
                <a:spcPts val="600"/>
              </a:spcBef>
              <a:spcAft>
                <a:spcPts val="1200"/>
              </a:spcAft>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MC900440428.WMF"/>
          <p:cNvPicPr>
            <a:picLocks noChangeAspect="1"/>
          </p:cNvPicPr>
          <p:nvPr/>
        </p:nvPicPr>
        <p:blipFill>
          <a:blip r:embed="rId3" cstate="print"/>
          <a:stretch>
            <a:fillRect/>
          </a:stretch>
        </p:blipFill>
        <p:spPr>
          <a:xfrm>
            <a:off x="6876256" y="3573016"/>
            <a:ext cx="1463195" cy="1540768"/>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pPr>
            <a:r>
              <a:rPr lang="en-AU" sz="2200" smtClean="0">
                <a:latin typeface="Helvetica" pitchFamily="34" charset="0"/>
              </a:rPr>
              <a:t>Determine house policies and protocols as they apply to security work and use of security items</a:t>
            </a:r>
          </a:p>
          <a:p>
            <a:pPr>
              <a:spcBef>
                <a:spcPts val="600"/>
              </a:spcBef>
              <a:spcAft>
                <a:spcPts val="1200"/>
              </a:spcAft>
            </a:pPr>
            <a:r>
              <a:rPr lang="en-AU" sz="2200" smtClean="0">
                <a:latin typeface="Helvetica" pitchFamily="34" charset="0"/>
              </a:rPr>
              <a:t>Become familiar with workplace assignment instructions</a:t>
            </a:r>
          </a:p>
          <a:p>
            <a:pPr>
              <a:spcBef>
                <a:spcPts val="600"/>
              </a:spcBef>
              <a:spcAft>
                <a:spcPts val="1200"/>
              </a:spcAft>
            </a:pPr>
            <a:r>
              <a:rPr lang="en-AU" sz="2200" smtClean="0">
                <a:latin typeface="Helvetica" pitchFamily="34" charset="0"/>
              </a:rPr>
              <a:t>Check equipment, tools, items and systems prior to use</a:t>
            </a:r>
          </a:p>
          <a:p>
            <a:pPr>
              <a:spcBef>
                <a:spcPts val="600"/>
              </a:spcBef>
              <a:spcAft>
                <a:spcPts val="1200"/>
              </a:spcAft>
            </a:pPr>
            <a:r>
              <a:rPr lang="en-AU" sz="2200" smtClean="0">
                <a:latin typeface="Helvetica" pitchFamily="34" charset="0"/>
              </a:rPr>
              <a:t>Make sure all faults and damage are rectified or </a:t>
            </a:r>
            <a:br>
              <a:rPr lang="en-AU" sz="2200" smtClean="0">
                <a:latin typeface="Helvetica" pitchFamily="34" charset="0"/>
              </a:rPr>
            </a:br>
            <a:r>
              <a:rPr lang="en-AU" sz="2200" smtClean="0">
                <a:latin typeface="Helvetica" pitchFamily="34" charset="0"/>
              </a:rPr>
              <a:t>reported</a:t>
            </a:r>
          </a:p>
          <a:p>
            <a:pPr>
              <a:spcBef>
                <a:spcPts val="600"/>
              </a:spcBef>
              <a:spcAft>
                <a:spcPts val="1200"/>
              </a:spcAft>
            </a:pPr>
            <a:r>
              <a:rPr lang="en-AU" sz="2200" smtClean="0">
                <a:latin typeface="Helvetica" pitchFamily="34" charset="0"/>
              </a:rPr>
              <a:t>Be alert to the need for training to address use </a:t>
            </a:r>
            <a:br>
              <a:rPr lang="en-AU" sz="2200" smtClean="0">
                <a:latin typeface="Helvetica" pitchFamily="34" charset="0"/>
              </a:rPr>
            </a:br>
            <a:r>
              <a:rPr lang="en-AU" sz="2200" smtClean="0">
                <a:latin typeface="Helvetica" pitchFamily="34" charset="0"/>
              </a:rPr>
              <a:t>of new equipment and or emerging security </a:t>
            </a:r>
            <a:br>
              <a:rPr lang="en-AU" sz="2200" smtClean="0">
                <a:latin typeface="Helvetica" pitchFamily="34" charset="0"/>
              </a:rPr>
            </a:br>
            <a:r>
              <a:rPr lang="en-AU" sz="2200" smtClean="0">
                <a:latin typeface="Helvetica" pitchFamily="34" charset="0"/>
              </a:rPr>
              <a:t>situations </a:t>
            </a:r>
            <a:r>
              <a:rPr lang="en-AU" sz="2200" smtClean="0">
                <a:latin typeface="Helvetica" pitchFamily="34" charset="0"/>
              </a:rPr>
              <a:t>and </a:t>
            </a:r>
            <a:r>
              <a:rPr lang="en-AU" sz="2200" smtClean="0">
                <a:latin typeface="Helvetica" pitchFamily="34" charset="0"/>
              </a:rPr>
              <a:t>threats</a:t>
            </a:r>
            <a:endParaRPr lang="en-AU" sz="2200" smtClean="0">
              <a:latin typeface="Helvetica" pitchFamily="34" charset="0"/>
            </a:endParaRPr>
          </a:p>
          <a:p>
            <a:pPr>
              <a:spcBef>
                <a:spcPts val="600"/>
              </a:spcBef>
              <a:spcAft>
                <a:spcPts val="1200"/>
              </a:spcAft>
              <a:buNone/>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6" name="Picture 5" descr="MC900440428.WMF"/>
          <p:cNvPicPr>
            <a:picLocks noChangeAspect="1"/>
          </p:cNvPicPr>
          <p:nvPr/>
        </p:nvPicPr>
        <p:blipFill>
          <a:blip r:embed="rId3" cstate="print"/>
          <a:stretch>
            <a:fillRect/>
          </a:stretch>
        </p:blipFill>
        <p:spPr>
          <a:xfrm>
            <a:off x="6876256" y="3616424"/>
            <a:ext cx="1463195" cy="154076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Operate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Performance Criteria for this Element are:</a:t>
            </a:r>
          </a:p>
          <a:p>
            <a:pPr marL="360000" indent="-360000">
              <a:spcBef>
                <a:spcPts val="600"/>
              </a:spcBef>
              <a:spcAft>
                <a:spcPts val="1200"/>
              </a:spcAft>
            </a:pPr>
            <a:r>
              <a:rPr lang="en-AU" sz="2200" smtClean="0">
                <a:latin typeface="Helvetica" pitchFamily="34" charset="0"/>
              </a:rPr>
              <a:t>Select</a:t>
            </a:r>
            <a:r>
              <a:rPr lang="en-AU" sz="2200" smtClean="0">
                <a:latin typeface="Helvetica" pitchFamily="34" charset="0"/>
              </a:rPr>
              <a:t>, use and maintain appropriate personal protective equipment and </a:t>
            </a:r>
            <a:r>
              <a:rPr lang="en-AU" sz="2200" smtClean="0">
                <a:latin typeface="Helvetica" pitchFamily="34" charset="0"/>
              </a:rPr>
              <a:t>clothing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Comply with all legislated and internal </a:t>
            </a:r>
            <a:r>
              <a:rPr lang="en-AU" sz="2200" smtClean="0">
                <a:latin typeface="Helvetica" pitchFamily="34" charset="0"/>
              </a:rPr>
              <a:t>requirements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Operate security equipment in a safe and controlled </a:t>
            </a:r>
            <a:r>
              <a:rPr lang="en-AU" sz="2200" smtClean="0">
                <a:latin typeface="Helvetica" pitchFamily="34" charset="0"/>
              </a:rPr>
              <a:t>manner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Monitor </a:t>
            </a:r>
            <a:r>
              <a:rPr lang="en-AU" sz="2200" smtClean="0">
                <a:latin typeface="Helvetica" pitchFamily="34" charset="0"/>
              </a:rPr>
              <a:t>surveillance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Test alarm sectors according to assignment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instructions</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MP900422989.JPG"/>
          <p:cNvPicPr>
            <a:picLocks noChangeAspect="1"/>
          </p:cNvPicPr>
          <p:nvPr/>
        </p:nvPicPr>
        <p:blipFill>
          <a:blip r:embed="rId3" cstate="print"/>
          <a:stretch>
            <a:fillRect/>
          </a:stretch>
        </p:blipFill>
        <p:spPr>
          <a:xfrm>
            <a:off x="7236296" y="3717032"/>
            <a:ext cx="1168090" cy="1512168"/>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fontScale="90000"/>
          </a:bodyPr>
          <a:lstStyle/>
          <a:p>
            <a:r>
              <a:rPr lang="en-US" sz="3400" b="1" dirty="0" smtClean="0">
                <a:solidFill>
                  <a:srgbClr val="FF6600"/>
                </a:solidFill>
                <a:latin typeface="Helvetica" pitchFamily="34" charset="0"/>
              </a:rPr>
              <a:t>Select, use and maintain PPE and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PPE:</a:t>
            </a:r>
          </a:p>
          <a:p>
            <a:pPr marL="360000" indent="-360000">
              <a:spcBef>
                <a:spcPts val="600"/>
              </a:spcBef>
              <a:spcAft>
                <a:spcPts val="1200"/>
              </a:spcAft>
            </a:pPr>
            <a:r>
              <a:rPr lang="en-AU" sz="2200" smtClean="0">
                <a:latin typeface="Helvetica" pitchFamily="34" charset="0"/>
              </a:rPr>
              <a:t>Personal Protective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Includes </a:t>
            </a:r>
            <a:r>
              <a:rPr lang="en-AU" sz="2200" smtClean="0">
                <a:latin typeface="Helvetica" pitchFamily="34" charset="0"/>
              </a:rPr>
              <a:t>clothing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Is provided by </a:t>
            </a:r>
            <a:r>
              <a:rPr lang="en-AU" sz="2200" smtClean="0">
                <a:latin typeface="Helvetica" pitchFamily="34" charset="0"/>
              </a:rPr>
              <a:t>employer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May be supplemented by personal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items – if allowed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freeimage-3223196.jpg"/>
          <p:cNvPicPr>
            <a:picLocks noChangeAspect="1"/>
          </p:cNvPicPr>
          <p:nvPr/>
        </p:nvPicPr>
        <p:blipFill>
          <a:blip r:embed="rId3" cstate="print"/>
          <a:stretch>
            <a:fillRect/>
          </a:stretch>
        </p:blipFill>
        <p:spPr>
          <a:xfrm>
            <a:off x="7092280" y="3717032"/>
            <a:ext cx="1312945" cy="142872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fontScale="90000"/>
          </a:bodyPr>
          <a:lstStyle/>
          <a:p>
            <a:r>
              <a:rPr lang="en-US" sz="3400" b="1" dirty="0" smtClean="0">
                <a:solidFill>
                  <a:srgbClr val="FF6600"/>
                </a:solidFill>
                <a:latin typeface="Helvetica" pitchFamily="34" charset="0"/>
              </a:rPr>
              <a:t>Select, use and maintain PPE and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Examples of </a:t>
            </a:r>
            <a:r>
              <a:rPr lang="en-AU" sz="2200" smtClean="0">
                <a:latin typeface="Helvetica" pitchFamily="34" charset="0"/>
              </a:rPr>
              <a:t>PPE: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Body </a:t>
            </a:r>
            <a:r>
              <a:rPr lang="en-AU" sz="2200" smtClean="0">
                <a:latin typeface="Helvetica" pitchFamily="34" charset="0"/>
              </a:rPr>
              <a:t>armor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Protective </a:t>
            </a:r>
            <a:r>
              <a:rPr lang="en-AU" sz="2200" smtClean="0">
                <a:latin typeface="Helvetica" pitchFamily="34" charset="0"/>
              </a:rPr>
              <a:t>shields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Masks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Safety </a:t>
            </a:r>
            <a:r>
              <a:rPr lang="en-AU" sz="2200" smtClean="0">
                <a:latin typeface="Helvetica" pitchFamily="34" charset="0"/>
              </a:rPr>
              <a:t>boots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MP900422699.JPG"/>
          <p:cNvPicPr>
            <a:picLocks noChangeAspect="1"/>
          </p:cNvPicPr>
          <p:nvPr/>
        </p:nvPicPr>
        <p:blipFill>
          <a:blip r:embed="rId3" cstate="print"/>
          <a:srcRect b="24844"/>
          <a:stretch>
            <a:fillRect/>
          </a:stretch>
        </p:blipFill>
        <p:spPr>
          <a:xfrm>
            <a:off x="7164288" y="3789040"/>
            <a:ext cx="1224136" cy="1393621"/>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20080"/>
          </a:xfrm>
        </p:spPr>
        <p:txBody>
          <a:bodyPr>
            <a:normAutofit fontScale="90000"/>
          </a:bodyPr>
          <a:lstStyle/>
          <a:p>
            <a:r>
              <a:rPr lang="en-US" sz="3400" b="1" dirty="0" smtClean="0">
                <a:solidFill>
                  <a:srgbClr val="FF6600"/>
                </a:solidFill>
                <a:latin typeface="Helvetica" pitchFamily="34" charset="0"/>
              </a:rPr>
              <a:t>Select, use and maintain PPE and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AU" sz="2200" smtClean="0">
                <a:latin typeface="Helvetica" pitchFamily="34" charset="0"/>
              </a:rPr>
              <a:t>Head </a:t>
            </a:r>
            <a:r>
              <a:rPr lang="en-AU" sz="2200" smtClean="0">
                <a:latin typeface="Helvetica" pitchFamily="34" charset="0"/>
              </a:rPr>
              <a:t>protection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Safety </a:t>
            </a:r>
            <a:r>
              <a:rPr lang="en-AU" sz="2200" smtClean="0">
                <a:latin typeface="Helvetica" pitchFamily="34" charset="0"/>
              </a:rPr>
              <a:t>glasses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Knee </a:t>
            </a:r>
            <a:r>
              <a:rPr lang="en-AU" sz="2200" smtClean="0">
                <a:latin typeface="Helvetica" pitchFamily="34" charset="0"/>
              </a:rPr>
              <a:t>pads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Clip-on neck </a:t>
            </a:r>
            <a:r>
              <a:rPr lang="en-AU" sz="2200" smtClean="0">
                <a:latin typeface="Helvetica" pitchFamily="34" charset="0"/>
              </a:rPr>
              <a:t>ties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freeimage-6126901.jpg"/>
          <p:cNvPicPr>
            <a:picLocks noChangeAspect="1"/>
          </p:cNvPicPr>
          <p:nvPr/>
        </p:nvPicPr>
        <p:blipFill>
          <a:blip r:embed="rId3" cstate="print"/>
          <a:srcRect l="13538" b="15763"/>
          <a:stretch>
            <a:fillRect/>
          </a:stretch>
        </p:blipFill>
        <p:spPr>
          <a:xfrm>
            <a:off x="6804248" y="4077072"/>
            <a:ext cx="1576737" cy="1152128"/>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fontScale="90000"/>
          </a:bodyPr>
          <a:lstStyle/>
          <a:p>
            <a:r>
              <a:rPr lang="en-US" sz="3400" b="1" dirty="0" smtClean="0">
                <a:solidFill>
                  <a:srgbClr val="FF6600"/>
                </a:solidFill>
                <a:latin typeface="Helvetica" pitchFamily="34" charset="0"/>
              </a:rPr>
              <a:t>Select, use and maintain PPE and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AU" sz="2200" smtClean="0">
                <a:latin typeface="Helvetica" pitchFamily="34" charset="0"/>
              </a:rPr>
              <a:t>Duty/utility belt – which can </a:t>
            </a:r>
            <a:r>
              <a:rPr lang="en-AU" sz="2200" smtClean="0">
                <a:latin typeface="Helvetica" pitchFamily="34" charset="0"/>
              </a:rPr>
              <a:t>carry:</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Holders for </a:t>
            </a:r>
            <a:r>
              <a:rPr lang="en-AU" sz="2200" smtClean="0">
                <a:latin typeface="Helvetica" pitchFamily="34" charset="0"/>
              </a:rPr>
              <a:t>pager</a:t>
            </a:r>
            <a:r>
              <a:rPr lang="en-AU" sz="2200" smtClean="0">
                <a:latin typeface="Helvetica" pitchFamily="34" charset="0"/>
              </a:rPr>
              <a:t>, flashlight and </a:t>
            </a:r>
            <a:r>
              <a:rPr lang="en-AU" sz="2200" smtClean="0">
                <a:latin typeface="Helvetica" pitchFamily="34" charset="0"/>
              </a:rPr>
              <a:t>asp</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Pouch for </a:t>
            </a:r>
            <a:r>
              <a:rPr lang="en-AU" sz="2200" smtClean="0">
                <a:latin typeface="Helvetica" pitchFamily="34" charset="0"/>
              </a:rPr>
              <a:t>handcuffs</a:t>
            </a:r>
            <a:r>
              <a:rPr lang="en-AU" sz="2200" smtClean="0">
                <a:latin typeface="Helvetica" pitchFamily="34" charset="0"/>
              </a:rPr>
              <a:t>, medical and </a:t>
            </a:r>
            <a:r>
              <a:rPr lang="en-AU" sz="2200" smtClean="0">
                <a:latin typeface="Helvetica" pitchFamily="34" charset="0"/>
              </a:rPr>
              <a:t>camera</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Holster for comms and </a:t>
            </a:r>
            <a:r>
              <a:rPr lang="en-AU" sz="2200" smtClean="0">
                <a:latin typeface="Helvetica" pitchFamily="34" charset="0"/>
              </a:rPr>
              <a:t>pistol</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Holders for </a:t>
            </a:r>
            <a:r>
              <a:rPr lang="en-AU" sz="2200" smtClean="0">
                <a:latin typeface="Helvetica" pitchFamily="34" charset="0"/>
              </a:rPr>
              <a:t>keys</a:t>
            </a:r>
            <a:r>
              <a:rPr lang="en-AU" sz="2200" smtClean="0">
                <a:latin typeface="Helvetica" pitchFamily="34" charset="0"/>
              </a:rPr>
              <a:t>, </a:t>
            </a:r>
            <a:r>
              <a:rPr lang="en-AU" sz="2200" smtClean="0">
                <a:latin typeface="Helvetica" pitchFamily="34" charset="0"/>
              </a:rPr>
              <a:t>camera</a:t>
            </a:r>
            <a:r>
              <a:rPr lang="en-AU" sz="2200" smtClean="0">
                <a:latin typeface="Helvetica" pitchFamily="34" charset="0"/>
              </a:rPr>
              <a:t>, knife and extra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clips of ammunition</a:t>
            </a: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OC spray </a:t>
            </a:r>
            <a:r>
              <a:rPr lang="en-AU" sz="2200" smtClean="0">
                <a:latin typeface="Helvetica" pitchFamily="34" charset="0"/>
              </a:rPr>
              <a:t>carrier</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descr="MC900436159.WMF"/>
          <p:cNvPicPr>
            <a:picLocks noChangeAspect="1"/>
          </p:cNvPicPr>
          <p:nvPr/>
        </p:nvPicPr>
        <p:blipFill>
          <a:blip r:embed="rId3" cstate="print"/>
          <a:stretch>
            <a:fillRect/>
          </a:stretch>
        </p:blipFill>
        <p:spPr>
          <a:xfrm>
            <a:off x="6876256" y="3501008"/>
            <a:ext cx="1559929" cy="1697484"/>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fontScale="90000"/>
          </a:bodyPr>
          <a:lstStyle/>
          <a:p>
            <a:r>
              <a:rPr lang="en-US" sz="3400" b="1" dirty="0" smtClean="0">
                <a:solidFill>
                  <a:srgbClr val="FF6600"/>
                </a:solidFill>
                <a:latin typeface="Helvetica" pitchFamily="34" charset="0"/>
              </a:rPr>
              <a:t>Select, use and maintain PPE and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Generic requirements for maintaining </a:t>
            </a:r>
            <a:r>
              <a:rPr lang="en-AU" sz="2200" smtClean="0">
                <a:latin typeface="Helvetica" pitchFamily="34" charset="0"/>
              </a:rPr>
              <a:t>PPE: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Inspect after each </a:t>
            </a:r>
            <a:r>
              <a:rPr lang="en-AU" sz="2200" smtClean="0">
                <a:latin typeface="Helvetica" pitchFamily="34" charset="0"/>
              </a:rPr>
              <a:t>use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Clean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Repair or replace when </a:t>
            </a:r>
            <a:r>
              <a:rPr lang="en-AU" sz="2200" smtClean="0">
                <a:latin typeface="Helvetica" pitchFamily="34" charset="0"/>
              </a:rPr>
              <a:t>damaged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Follow manufacturer’s </a:t>
            </a:r>
            <a:r>
              <a:rPr lang="en-AU" sz="2200" smtClean="0">
                <a:latin typeface="Helvetica" pitchFamily="34" charset="0"/>
              </a:rPr>
              <a:t>instructions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Re-charge or fit new </a:t>
            </a:r>
            <a:r>
              <a:rPr lang="en-AU" sz="2200" smtClean="0">
                <a:latin typeface="Helvetica" pitchFamily="34" charset="0"/>
              </a:rPr>
              <a:t>batteries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Return items to designated </a:t>
            </a:r>
            <a:r>
              <a:rPr lang="en-AU" sz="2200" smtClean="0">
                <a:latin typeface="Helvetica" pitchFamily="34" charset="0"/>
              </a:rPr>
              <a:t>storage</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5" descr="MC900237325.WMF"/>
          <p:cNvPicPr>
            <a:picLocks noChangeAspect="1"/>
          </p:cNvPicPr>
          <p:nvPr/>
        </p:nvPicPr>
        <p:blipFill>
          <a:blip r:embed="rId3" cstate="print"/>
          <a:stretch>
            <a:fillRect/>
          </a:stretch>
        </p:blipFill>
        <p:spPr>
          <a:xfrm>
            <a:off x="6660232" y="3501008"/>
            <a:ext cx="1763168" cy="171131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Security staff:</a:t>
            </a:r>
          </a:p>
          <a:p>
            <a:pPr marL="360000" indent="-360000">
              <a:spcBef>
                <a:spcPts val="600"/>
              </a:spcBef>
              <a:spcAft>
                <a:spcPts val="1200"/>
              </a:spcAft>
            </a:pPr>
            <a:r>
              <a:rPr lang="en-AU" sz="2200" smtClean="0">
                <a:latin typeface="Helvetica" pitchFamily="34" charset="0"/>
              </a:rPr>
              <a:t>Must comply with legislated and internal </a:t>
            </a:r>
            <a:r>
              <a:rPr lang="en-AU" sz="2200" smtClean="0">
                <a:latin typeface="Helvetica" pitchFamily="34" charset="0"/>
              </a:rPr>
              <a:t>requirements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Generally have no more rights than a normal member of the </a:t>
            </a:r>
            <a:r>
              <a:rPr lang="en-AU" sz="2200" smtClean="0">
                <a:latin typeface="Helvetica" pitchFamily="34" charset="0"/>
              </a:rPr>
              <a:t>public</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a:t>
            </a:r>
            <a:r>
              <a:rPr lang="en-AU" sz="2200" smtClean="0">
                <a:latin typeface="Helvetica" pitchFamily="34" charset="0"/>
              </a:rPr>
              <a:t>not:</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Bully</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Harass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Intimidate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Assault</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MP900422699.JPG"/>
          <p:cNvPicPr>
            <a:picLocks noChangeAspect="1"/>
          </p:cNvPicPr>
          <p:nvPr/>
        </p:nvPicPr>
        <p:blipFill>
          <a:blip r:embed="rId3" cstate="print"/>
          <a:srcRect b="32150"/>
          <a:stretch>
            <a:fillRect/>
          </a:stretch>
        </p:blipFill>
        <p:spPr>
          <a:xfrm>
            <a:off x="6870416" y="3645024"/>
            <a:ext cx="1541353" cy="1584176"/>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Main roles of Security is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Deter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Detect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Defend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Detain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588224" y="3717032"/>
            <a:ext cx="1716782" cy="1373426"/>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Legal obligations for Security staff may </a:t>
            </a:r>
            <a:r>
              <a:rPr lang="en-AU" sz="2200" smtClean="0">
                <a:latin typeface="Helvetica" pitchFamily="34" charset="0"/>
              </a:rPr>
              <a:t>include: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Undertaking mandatory </a:t>
            </a:r>
            <a:r>
              <a:rPr lang="en-AU" sz="2200" smtClean="0">
                <a:latin typeface="Helvetica" pitchFamily="34" charset="0"/>
              </a:rPr>
              <a:t>training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Providing proof of training to </a:t>
            </a:r>
            <a:r>
              <a:rPr lang="en-AU" sz="2200" smtClean="0">
                <a:latin typeface="Helvetica" pitchFamily="34" charset="0"/>
              </a:rPr>
              <a:t>employer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Wearing ID while on </a:t>
            </a:r>
            <a:r>
              <a:rPr lang="en-AU" sz="2200" smtClean="0">
                <a:latin typeface="Helvetica" pitchFamily="34" charset="0"/>
              </a:rPr>
              <a:t>duty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Adhere to local guidelines and </a:t>
            </a:r>
            <a:r>
              <a:rPr lang="en-AU" sz="2200" smtClean="0">
                <a:latin typeface="Helvetica" pitchFamily="34" charset="0"/>
              </a:rPr>
              <a:t>requirements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Training sign.jpg"/>
          <p:cNvPicPr>
            <a:picLocks noChangeAspect="1"/>
          </p:cNvPicPr>
          <p:nvPr/>
        </p:nvPicPr>
        <p:blipFill>
          <a:blip r:embed="rId3" cstate="print"/>
          <a:stretch>
            <a:fillRect/>
          </a:stretch>
        </p:blipFill>
        <p:spPr>
          <a:xfrm>
            <a:off x="6372200" y="2996952"/>
            <a:ext cx="1944811" cy="1773367"/>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Legal obligations for Security staff will include :</a:t>
            </a:r>
          </a:p>
          <a:p>
            <a:pPr marL="360000" indent="-360000">
              <a:spcBef>
                <a:spcPts val="600"/>
              </a:spcBef>
              <a:spcAft>
                <a:spcPts val="1200"/>
              </a:spcAft>
            </a:pPr>
            <a:r>
              <a:rPr lang="en-AU" sz="2200" smtClean="0">
                <a:latin typeface="Helvetica" pitchFamily="34" charset="0"/>
              </a:rPr>
              <a:t>Complete special training if required to carry </a:t>
            </a:r>
            <a:r>
              <a:rPr lang="en-AU" sz="2200" smtClean="0">
                <a:latin typeface="Helvetica" pitchFamily="34" charset="0"/>
              </a:rPr>
              <a:t>firearm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Complete required on-the-job </a:t>
            </a:r>
            <a:r>
              <a:rPr lang="en-AU" sz="2200" smtClean="0">
                <a:latin typeface="Helvetica" pitchFamily="34" charset="0"/>
              </a:rPr>
              <a:t>training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Adhere to internal standards and </a:t>
            </a:r>
            <a:r>
              <a:rPr lang="en-AU" sz="2200" smtClean="0">
                <a:latin typeface="Helvetica" pitchFamily="34" charset="0"/>
              </a:rPr>
              <a:t>protocols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Meet relevant QA </a:t>
            </a:r>
            <a:r>
              <a:rPr lang="en-AU" sz="2200" smtClean="0">
                <a:latin typeface="Helvetica" pitchFamily="34" charset="0"/>
              </a:rPr>
              <a:t>standards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Comply with local </a:t>
            </a:r>
            <a:r>
              <a:rPr lang="en-AU" sz="2200" smtClean="0">
                <a:latin typeface="Helvetica" pitchFamily="34" charset="0"/>
              </a:rPr>
              <a:t>laws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Take responsibility for </a:t>
            </a:r>
            <a:r>
              <a:rPr lang="en-AU" sz="2200" smtClean="0">
                <a:latin typeface="Helvetica" pitchFamily="34" charset="0"/>
              </a:rPr>
              <a:t>action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freeimage-844274.jpg"/>
          <p:cNvPicPr>
            <a:picLocks noChangeAspect="1"/>
          </p:cNvPicPr>
          <p:nvPr/>
        </p:nvPicPr>
        <p:blipFill>
          <a:blip r:embed="rId3" cstate="print"/>
          <a:srcRect l="19398" r="8728"/>
          <a:stretch>
            <a:fillRect/>
          </a:stretch>
        </p:blipFill>
        <p:spPr>
          <a:xfrm>
            <a:off x="6516216" y="3356992"/>
            <a:ext cx="1809355" cy="1676336"/>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You are not a Police Officer:</a:t>
            </a:r>
          </a:p>
          <a:p>
            <a:pPr marL="360000" indent="-360000">
              <a:spcBef>
                <a:spcPts val="600"/>
              </a:spcBef>
              <a:spcAft>
                <a:spcPts val="1200"/>
              </a:spcAft>
            </a:pPr>
            <a:r>
              <a:rPr lang="en-AU" sz="2200" smtClean="0">
                <a:latin typeface="Helvetica" pitchFamily="34" charset="0"/>
              </a:rPr>
              <a:t>You do not have the same </a:t>
            </a:r>
            <a:r>
              <a:rPr lang="en-AU" sz="2200" smtClean="0">
                <a:latin typeface="Helvetica" pitchFamily="34" charset="0"/>
              </a:rPr>
              <a:t>rights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Power and authority comes from uniform and </a:t>
            </a:r>
            <a:r>
              <a:rPr lang="en-AU" sz="2200" smtClean="0">
                <a:latin typeface="Helvetica" pitchFamily="34" charset="0"/>
              </a:rPr>
              <a:t>attitude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Responses can be limited </a:t>
            </a:r>
            <a:r>
              <a:rPr lang="en-AU" sz="2200" smtClean="0">
                <a:latin typeface="Helvetica" pitchFamily="34" charset="0"/>
              </a:rPr>
              <a:t>to:</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Containing the </a:t>
            </a:r>
            <a:r>
              <a:rPr lang="en-AU" sz="2200" smtClean="0">
                <a:latin typeface="Helvetica" pitchFamily="34" charset="0"/>
              </a:rPr>
              <a:t>situation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Calling for </a:t>
            </a:r>
            <a:r>
              <a:rPr lang="en-AU" sz="2200" smtClean="0">
                <a:latin typeface="Helvetica" pitchFamily="34" charset="0"/>
              </a:rPr>
              <a:t>assistance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Protecting and </a:t>
            </a:r>
            <a:r>
              <a:rPr lang="en-AU" sz="2200" smtClean="0">
                <a:latin typeface="Helvetica" pitchFamily="34" charset="0"/>
              </a:rPr>
              <a:t>defending</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Security guard greyscale.jpg"/>
          <p:cNvPicPr>
            <a:picLocks noChangeAspect="1"/>
          </p:cNvPicPr>
          <p:nvPr/>
        </p:nvPicPr>
        <p:blipFill>
          <a:blip r:embed="rId3" cstate="print"/>
          <a:stretch>
            <a:fillRect/>
          </a:stretch>
        </p:blipFill>
        <p:spPr>
          <a:xfrm>
            <a:off x="7092280" y="3284984"/>
            <a:ext cx="1325893" cy="198884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Comply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In relation making a citizen’s arrest:</a:t>
            </a:r>
          </a:p>
          <a:p>
            <a:pPr marL="360000" indent="-360000">
              <a:spcBef>
                <a:spcPts val="600"/>
              </a:spcBef>
              <a:spcAft>
                <a:spcPts val="1200"/>
              </a:spcAft>
            </a:pPr>
            <a:r>
              <a:rPr lang="en-AU" sz="2200" smtClean="0">
                <a:latin typeface="Helvetica" pitchFamily="34" charset="0"/>
              </a:rPr>
              <a:t>Don’t!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Delay the person instead until Police </a:t>
            </a:r>
            <a:r>
              <a:rPr lang="en-AU" sz="2200" smtClean="0">
                <a:latin typeface="Helvetica" pitchFamily="34" charset="0"/>
              </a:rPr>
              <a:t>arrive: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Engage them in </a:t>
            </a:r>
            <a:r>
              <a:rPr lang="en-AU" sz="2200" smtClean="0">
                <a:latin typeface="Helvetica" pitchFamily="34" charset="0"/>
              </a:rPr>
              <a:t>conversation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Ask them </a:t>
            </a:r>
            <a:r>
              <a:rPr lang="en-AU" sz="2200" smtClean="0">
                <a:latin typeface="Helvetica" pitchFamily="34" charset="0"/>
              </a:rPr>
              <a:t>questions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Give them a drink or </a:t>
            </a:r>
            <a:r>
              <a:rPr lang="en-AU" sz="2200" smtClean="0">
                <a:latin typeface="Helvetica" pitchFamily="34" charset="0"/>
              </a:rPr>
              <a:t>snack</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Ask them to </a:t>
            </a:r>
            <a:r>
              <a:rPr lang="en-AU" sz="2200" smtClean="0">
                <a:latin typeface="Helvetica" pitchFamily="34" charset="0"/>
              </a:rPr>
              <a:t>wait</a:t>
            </a:r>
            <a:endParaRPr lang="en-AU" sz="2200" smtClean="0">
              <a:latin typeface="Helvetica" pitchFamily="34" charset="0"/>
            </a:endParaRPr>
          </a:p>
          <a:p>
            <a:pPr marL="360000" indent="-360000">
              <a:spcBef>
                <a:spcPts val="600"/>
              </a:spcBef>
              <a:spcAft>
                <a:spcPts val="1200"/>
              </a:spcAft>
              <a:buFont typeface="Wingdings" pitchFamily="2" charset="2"/>
              <a:buChar char="§"/>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descr="arrested.jpg"/>
          <p:cNvPicPr>
            <a:picLocks noChangeAspect="1"/>
          </p:cNvPicPr>
          <p:nvPr/>
        </p:nvPicPr>
        <p:blipFill>
          <a:blip r:embed="rId3" cstate="print"/>
          <a:stretch>
            <a:fillRect/>
          </a:stretch>
        </p:blipFill>
        <p:spPr>
          <a:xfrm>
            <a:off x="6732240" y="3356992"/>
            <a:ext cx="1493600" cy="1716782"/>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Operate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All security equipment must be operated in a safe and controlled manner:</a:t>
            </a:r>
          </a:p>
          <a:p>
            <a:pPr marL="360000" indent="-360000">
              <a:spcBef>
                <a:spcPts val="600"/>
              </a:spcBef>
              <a:spcAft>
                <a:spcPts val="1200"/>
              </a:spcAft>
            </a:pPr>
            <a:r>
              <a:rPr lang="en-AU" sz="2200" smtClean="0">
                <a:latin typeface="Helvetica" pitchFamily="34" charset="0"/>
              </a:rPr>
              <a:t>Follow manufacturer’s </a:t>
            </a:r>
            <a:r>
              <a:rPr lang="en-AU" sz="2200" smtClean="0">
                <a:latin typeface="Helvetica" pitchFamily="34" charset="0"/>
              </a:rPr>
              <a:t>instructions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How to turn </a:t>
            </a:r>
            <a:r>
              <a:rPr lang="en-AU" sz="2200" smtClean="0">
                <a:latin typeface="Helvetica" pitchFamily="34" charset="0"/>
              </a:rPr>
              <a:t>‘on</a:t>
            </a:r>
            <a:r>
              <a:rPr lang="en-AU" sz="2200" smtClean="0">
                <a:latin typeface="Helvetica" pitchFamily="34" charset="0"/>
              </a:rPr>
              <a:t>’ and </a:t>
            </a:r>
            <a:r>
              <a:rPr lang="en-AU" sz="2200" smtClean="0">
                <a:latin typeface="Helvetica" pitchFamily="34" charset="0"/>
              </a:rPr>
              <a:t>‘off’</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How to run system </a:t>
            </a:r>
            <a:r>
              <a:rPr lang="en-AU" sz="2200" smtClean="0">
                <a:latin typeface="Helvetica" pitchFamily="34" charset="0"/>
              </a:rPr>
              <a:t>checks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How to access parts and </a:t>
            </a:r>
            <a:r>
              <a:rPr lang="en-AU" sz="2200" smtClean="0">
                <a:latin typeface="Helvetica" pitchFamily="34" charset="0"/>
              </a:rPr>
              <a:t>components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How to enter </a:t>
            </a:r>
            <a:r>
              <a:rPr lang="en-AU" sz="2200" smtClean="0">
                <a:latin typeface="Helvetica" pitchFamily="34" charset="0"/>
              </a:rPr>
              <a:t>data</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How to operate and read </a:t>
            </a:r>
            <a:r>
              <a:rPr lang="en-AU" sz="2200" smtClean="0">
                <a:latin typeface="Helvetica" pitchFamily="34" charset="0"/>
              </a:rPr>
              <a:t>alarms</a:t>
            </a:r>
            <a:endParaRPr lang="en-AU" sz="220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MP900409634.JPG"/>
          <p:cNvPicPr>
            <a:picLocks noChangeAspect="1"/>
          </p:cNvPicPr>
          <p:nvPr/>
        </p:nvPicPr>
        <p:blipFill>
          <a:blip r:embed="rId3" cstate="print"/>
          <a:stretch>
            <a:fillRect/>
          </a:stretch>
        </p:blipFill>
        <p:spPr>
          <a:xfrm>
            <a:off x="6948264" y="2996952"/>
            <a:ext cx="1466321" cy="2204864"/>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Operate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Use of security equipment must also align with internal requirements which can be </a:t>
            </a:r>
            <a:r>
              <a:rPr lang="en-AU" sz="2200" smtClean="0">
                <a:latin typeface="Helvetica" pitchFamily="34" charset="0"/>
              </a:rPr>
              <a:t>determined: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By talking to </a:t>
            </a:r>
            <a:r>
              <a:rPr lang="en-AU" sz="2200" smtClean="0">
                <a:latin typeface="Helvetica" pitchFamily="34" charset="0"/>
              </a:rPr>
              <a:t>others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By watching </a:t>
            </a:r>
            <a:r>
              <a:rPr lang="en-AU" sz="2200" smtClean="0">
                <a:latin typeface="Helvetica" pitchFamily="34" charset="0"/>
              </a:rPr>
              <a:t>them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As a result of on-the-job </a:t>
            </a:r>
            <a:r>
              <a:rPr lang="en-AU" sz="2200" smtClean="0">
                <a:latin typeface="Helvetica" pitchFamily="34" charset="0"/>
              </a:rPr>
              <a:t>training</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descr="MP900387490.JPG"/>
          <p:cNvPicPr>
            <a:picLocks noChangeAspect="1"/>
          </p:cNvPicPr>
          <p:nvPr/>
        </p:nvPicPr>
        <p:blipFill>
          <a:blip r:embed="rId3" cstate="print"/>
          <a:stretch>
            <a:fillRect/>
          </a:stretch>
        </p:blipFill>
        <p:spPr>
          <a:xfrm>
            <a:off x="6372200" y="3717032"/>
            <a:ext cx="2044824" cy="1458641"/>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Operate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Internal requirements can include:</a:t>
            </a:r>
          </a:p>
          <a:p>
            <a:pPr marL="360000" indent="-360000">
              <a:spcBef>
                <a:spcPts val="600"/>
              </a:spcBef>
              <a:spcAft>
                <a:spcPts val="1200"/>
              </a:spcAft>
            </a:pPr>
            <a:r>
              <a:rPr lang="en-AU" sz="2200" smtClean="0">
                <a:latin typeface="Helvetica" pitchFamily="34" charset="0"/>
              </a:rPr>
              <a:t>Exercising personal control at all times</a:t>
            </a:r>
          </a:p>
          <a:p>
            <a:pPr marL="360000" indent="-360000">
              <a:spcBef>
                <a:spcPts val="600"/>
              </a:spcBef>
              <a:spcAft>
                <a:spcPts val="1200"/>
              </a:spcAft>
            </a:pPr>
            <a:r>
              <a:rPr lang="en-AU" sz="2200" smtClean="0">
                <a:latin typeface="Helvetica" pitchFamily="34" charset="0"/>
              </a:rPr>
              <a:t>Using tact and diplomacy</a:t>
            </a:r>
          </a:p>
          <a:p>
            <a:pPr marL="360000" indent="-360000">
              <a:spcBef>
                <a:spcPts val="600"/>
              </a:spcBef>
              <a:spcAft>
                <a:spcPts val="1200"/>
              </a:spcAft>
            </a:pPr>
            <a:r>
              <a:rPr lang="en-AU" sz="2200" smtClean="0">
                <a:latin typeface="Helvetica" pitchFamily="34" charset="0"/>
              </a:rPr>
              <a:t>Focusing on appropriate communication and interpersonal skills</a:t>
            </a:r>
          </a:p>
          <a:p>
            <a:pPr marL="360000" indent="-360000">
              <a:spcBef>
                <a:spcPts val="600"/>
              </a:spcBef>
              <a:spcAft>
                <a:spcPts val="1200"/>
              </a:spcAft>
            </a:pPr>
            <a:r>
              <a:rPr lang="en-AU" sz="2200" smtClean="0">
                <a:latin typeface="Helvetica" pitchFamily="34" charset="0"/>
              </a:rPr>
              <a:t>Being polite and respectful</a:t>
            </a:r>
          </a:p>
          <a:p>
            <a:pPr marL="360000" indent="-360000">
              <a:spcBef>
                <a:spcPts val="600"/>
              </a:spcBef>
              <a:spcAft>
                <a:spcPts val="1200"/>
              </a:spcAft>
            </a:pPr>
            <a:r>
              <a:rPr lang="en-AU" sz="2200" smtClean="0">
                <a:latin typeface="Helvetica" pitchFamily="34" charset="0"/>
              </a:rPr>
              <a:t>Applying fairness and absence of discrimination</a:t>
            </a:r>
          </a:p>
          <a:p>
            <a:pPr marL="360000" indent="-360000">
              <a:spcBef>
                <a:spcPts val="600"/>
              </a:spcBef>
              <a:spcAft>
                <a:spcPts val="1200"/>
              </a:spcAft>
              <a:buNone/>
            </a:pPr>
            <a:r>
              <a:rPr lang="en-AU" sz="2200" i="1" smtClean="0">
                <a:latin typeface="Helvetica" pitchFamily="34" charset="0"/>
              </a:rPr>
              <a:t>(Continued)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MC900436159.WMF"/>
          <p:cNvPicPr>
            <a:picLocks noChangeAspect="1"/>
          </p:cNvPicPr>
          <p:nvPr/>
        </p:nvPicPr>
        <p:blipFill>
          <a:blip r:embed="rId3" cstate="print"/>
          <a:stretch>
            <a:fillRect/>
          </a:stretch>
        </p:blipFill>
        <p:spPr>
          <a:xfrm>
            <a:off x="7020272" y="3824440"/>
            <a:ext cx="1361411" cy="1266643"/>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Operate security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886003"/>
          </a:xfrm>
        </p:spPr>
        <p:txBody>
          <a:bodyPr>
            <a:normAutofit/>
          </a:bodyPr>
          <a:lstStyle/>
          <a:p>
            <a:pPr marL="360000" indent="-360000">
              <a:spcBef>
                <a:spcPts val="600"/>
              </a:spcBef>
              <a:spcAft>
                <a:spcPts val="1200"/>
              </a:spcAft>
            </a:pPr>
            <a:r>
              <a:rPr lang="en-AU" sz="2200" smtClean="0">
                <a:latin typeface="Helvetica" pitchFamily="34" charset="0"/>
              </a:rPr>
              <a:t>Using restraint in a physical confrontation</a:t>
            </a:r>
          </a:p>
          <a:p>
            <a:pPr marL="360000" indent="-360000">
              <a:spcBef>
                <a:spcPts val="600"/>
              </a:spcBef>
              <a:spcAft>
                <a:spcPts val="1200"/>
              </a:spcAft>
            </a:pPr>
            <a:r>
              <a:rPr lang="en-AU" sz="2200" smtClean="0">
                <a:latin typeface="Helvetica" pitchFamily="34" charset="0"/>
              </a:rPr>
              <a:t>Not searching </a:t>
            </a:r>
            <a:r>
              <a:rPr lang="en-AU" sz="2200" smtClean="0">
                <a:latin typeface="Helvetica" pitchFamily="34" charset="0"/>
              </a:rPr>
              <a:t>people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Using items for their intended </a:t>
            </a:r>
            <a:r>
              <a:rPr lang="en-AU" sz="2200" smtClean="0">
                <a:latin typeface="Helvetica" pitchFamily="34" charset="0"/>
              </a:rPr>
              <a:t>purpose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Observing Privacy and Confidentiality </a:t>
            </a:r>
            <a:r>
              <a:rPr lang="en-AU" sz="2200" smtClean="0">
                <a:latin typeface="Helvetica" pitchFamily="34" charset="0"/>
              </a:rPr>
              <a:t>policies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 discussing internal information with </a:t>
            </a:r>
            <a:r>
              <a:rPr lang="en-AU" sz="2200" smtClean="0">
                <a:latin typeface="Helvetica" pitchFamily="34" charset="0"/>
              </a:rPr>
              <a:t>others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Nor discussing incident responses with the </a:t>
            </a:r>
            <a:r>
              <a:rPr lang="en-AU" sz="2200" smtClean="0">
                <a:latin typeface="Helvetica" pitchFamily="34" charset="0"/>
              </a:rPr>
              <a:t>media</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MC900245113.WMF"/>
          <p:cNvPicPr>
            <a:picLocks noChangeAspect="1"/>
          </p:cNvPicPr>
          <p:nvPr/>
        </p:nvPicPr>
        <p:blipFill>
          <a:blip r:embed="rId3" cstate="print"/>
          <a:stretch>
            <a:fillRect/>
          </a:stretch>
        </p:blipFill>
        <p:spPr>
          <a:xfrm>
            <a:off x="7236296" y="4221088"/>
            <a:ext cx="1080205" cy="936104"/>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Monitoring of surveillance equipment:</a:t>
            </a:r>
          </a:p>
          <a:p>
            <a:pPr marL="360000" indent="-360000">
              <a:spcBef>
                <a:spcPts val="600"/>
              </a:spcBef>
              <a:spcAft>
                <a:spcPts val="1200"/>
              </a:spcAft>
            </a:pPr>
            <a:r>
              <a:rPr lang="en-AU" sz="2200" smtClean="0">
                <a:latin typeface="Helvetica" pitchFamily="34" charset="0"/>
              </a:rPr>
              <a:t>Equipment varies between </a:t>
            </a:r>
            <a:r>
              <a:rPr lang="en-AU" sz="2200" smtClean="0">
                <a:latin typeface="Helvetica" pitchFamily="34" charset="0"/>
              </a:rPr>
              <a:t>venues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Can be seen </a:t>
            </a:r>
            <a:r>
              <a:rPr lang="en-AU" sz="2200" smtClean="0">
                <a:latin typeface="Helvetica" pitchFamily="34" charset="0"/>
              </a:rPr>
              <a:t>as: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A combination of observations relevant to the security systems and technology deployed in the </a:t>
            </a:r>
            <a:r>
              <a:rPr lang="en-AU" sz="2200" smtClean="0">
                <a:latin typeface="Helvetica" pitchFamily="34" charset="0"/>
              </a:rPr>
              <a:t>workplace</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iStock_000003586603Medium.jpg"/>
          <p:cNvPicPr>
            <a:picLocks noChangeAspect="1"/>
          </p:cNvPicPr>
          <p:nvPr/>
        </p:nvPicPr>
        <p:blipFill>
          <a:blip r:embed="rId3" cstate="print"/>
          <a:stretch>
            <a:fillRect/>
          </a:stretch>
        </p:blipFill>
        <p:spPr>
          <a:xfrm>
            <a:off x="6012160" y="3789040"/>
            <a:ext cx="2114394" cy="147676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marL="0" indent="0">
              <a:spcBef>
                <a:spcPts val="600"/>
              </a:spcBef>
              <a:spcAft>
                <a:spcPts val="1200"/>
              </a:spcAft>
              <a:buNone/>
            </a:pPr>
            <a:r>
              <a:rPr lang="en-AU" sz="2200" smtClean="0">
                <a:latin typeface="Helvetica" pitchFamily="34" charset="0"/>
              </a:rPr>
              <a:t>Monitoring activities may include:</a:t>
            </a:r>
          </a:p>
          <a:p>
            <a:pPr marL="360000" indent="-360000">
              <a:spcBef>
                <a:spcPts val="600"/>
              </a:spcBef>
              <a:spcAft>
                <a:spcPts val="1200"/>
              </a:spcAft>
            </a:pPr>
            <a:r>
              <a:rPr lang="en-AU" sz="2200" smtClean="0">
                <a:latin typeface="Helvetica" pitchFamily="34" charset="0"/>
              </a:rPr>
              <a:t>Using </a:t>
            </a:r>
            <a:r>
              <a:rPr lang="en-AU" sz="2200" smtClean="0">
                <a:latin typeface="Helvetica" pitchFamily="34" charset="0"/>
              </a:rPr>
              <a:t>senses: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Watching</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Listening</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Being </a:t>
            </a:r>
            <a:r>
              <a:rPr lang="en-AU" sz="2200" smtClean="0">
                <a:latin typeface="Helvetica" pitchFamily="34" charset="0"/>
              </a:rPr>
              <a:t>alert</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Noticing </a:t>
            </a:r>
            <a:r>
              <a:rPr lang="en-AU" sz="2200" smtClean="0">
                <a:latin typeface="Helvetica" pitchFamily="34" charset="0"/>
              </a:rPr>
              <a:t>smells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freeimage-6617294.jpg"/>
          <p:cNvPicPr>
            <a:picLocks noChangeAspect="1"/>
          </p:cNvPicPr>
          <p:nvPr/>
        </p:nvPicPr>
        <p:blipFill>
          <a:blip r:embed="rId3" cstate="print"/>
          <a:srcRect t="18500" b="10101"/>
          <a:stretch>
            <a:fillRect/>
          </a:stretch>
        </p:blipFill>
        <p:spPr>
          <a:xfrm>
            <a:off x="6588224" y="3284984"/>
            <a:ext cx="1808579" cy="194421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Watching alarm boards and monitors to:</a:t>
            </a: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Identify </a:t>
            </a:r>
            <a:r>
              <a:rPr lang="en-AU" sz="2200" smtClean="0">
                <a:latin typeface="Helvetica" pitchFamily="34" charset="0"/>
              </a:rPr>
              <a:t>activation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Locate site of alarm or </a:t>
            </a:r>
            <a:r>
              <a:rPr lang="en-AU" sz="2200" smtClean="0">
                <a:latin typeface="Helvetica" pitchFamily="34" charset="0"/>
              </a:rPr>
              <a:t>alert</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Notify required </a:t>
            </a:r>
            <a:r>
              <a:rPr lang="en-AU" sz="2200" smtClean="0">
                <a:latin typeface="Helvetica" pitchFamily="34" charset="0"/>
              </a:rPr>
              <a:t>persons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descr="MP900422116.JPG"/>
          <p:cNvPicPr>
            <a:picLocks noChangeAspect="1"/>
          </p:cNvPicPr>
          <p:nvPr/>
        </p:nvPicPr>
        <p:blipFill>
          <a:blip r:embed="rId3" cstate="print"/>
          <a:stretch>
            <a:fillRect/>
          </a:stretch>
        </p:blipFill>
        <p:spPr>
          <a:xfrm>
            <a:off x="6444208" y="3789040"/>
            <a:ext cx="2008904" cy="1451747"/>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360000" indent="-360000">
              <a:spcBef>
                <a:spcPts val="600"/>
              </a:spcBef>
              <a:spcAft>
                <a:spcPts val="1200"/>
              </a:spcAft>
            </a:pPr>
            <a:r>
              <a:rPr lang="en-AU" sz="2200" dirty="0" smtClean="0">
                <a:latin typeface="Helvetica" pitchFamily="34" charset="0"/>
              </a:rPr>
              <a:t>Following manufacturer’s instructions: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Setting up items and system components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Conducting system checks</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Cleaning</a:t>
            </a:r>
          </a:p>
          <a:p>
            <a:pPr marL="720000" indent="-360000">
              <a:spcBef>
                <a:spcPts val="600"/>
              </a:spcBef>
              <a:spcAft>
                <a:spcPts val="1200"/>
              </a:spcAft>
              <a:buClr>
                <a:srgbClr val="7FD13B"/>
              </a:buClr>
              <a:buFont typeface="Wingdings" pitchFamily="2" charset="2"/>
              <a:buChar char="§"/>
            </a:pPr>
            <a:r>
              <a:rPr lang="en-AU" sz="2200" dirty="0" smtClean="0">
                <a:latin typeface="Helvetica" pitchFamily="34" charset="0"/>
              </a:rPr>
              <a:t>Testing system elements</a:t>
            </a:r>
          </a:p>
          <a:p>
            <a:pPr marL="360000" indent="-360000">
              <a:spcBef>
                <a:spcPts val="600"/>
              </a:spcBef>
              <a:spcAft>
                <a:spcPts val="1200"/>
              </a:spcAft>
              <a:buNone/>
            </a:pPr>
            <a:r>
              <a:rPr lang="en-AU" sz="2200" i="1"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1088939_2_annual_reports__2.jpg"/>
          <p:cNvPicPr>
            <a:picLocks noChangeAspect="1"/>
          </p:cNvPicPr>
          <p:nvPr/>
        </p:nvPicPr>
        <p:blipFill>
          <a:blip r:embed="rId3" cstate="print"/>
          <a:stretch>
            <a:fillRect/>
          </a:stretch>
        </p:blipFill>
        <p:spPr>
          <a:xfrm>
            <a:off x="6012160" y="2780928"/>
            <a:ext cx="2270246" cy="2263703"/>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AU" sz="2200" smtClean="0">
                <a:latin typeface="Helvetica" pitchFamily="34" charset="0"/>
              </a:rPr>
              <a:t>Completing necessary </a:t>
            </a:r>
            <a:r>
              <a:rPr lang="en-AU" sz="2200" smtClean="0">
                <a:latin typeface="Helvetica" pitchFamily="34" charset="0"/>
              </a:rPr>
              <a:t>documentation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Checking and assessing system data and </a:t>
            </a:r>
            <a:r>
              <a:rPr lang="en-AU" sz="2200" smtClean="0">
                <a:latin typeface="Helvetica" pitchFamily="34" charset="0"/>
              </a:rPr>
              <a:t>records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Checking internal </a:t>
            </a:r>
            <a:r>
              <a:rPr lang="en-AU" sz="2200" smtClean="0">
                <a:latin typeface="Helvetica" pitchFamily="34" charset="0"/>
              </a:rPr>
              <a:t>signage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Checking CCTV </a:t>
            </a:r>
            <a:r>
              <a:rPr lang="en-AU" sz="2200" smtClean="0">
                <a:latin typeface="Helvetica" pitchFamily="34" charset="0"/>
              </a:rPr>
              <a:t>coverage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Verifying surveillance records are being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maintained as required</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Camera.jpg"/>
          <p:cNvPicPr>
            <a:picLocks noChangeAspect="1"/>
          </p:cNvPicPr>
          <p:nvPr/>
        </p:nvPicPr>
        <p:blipFill>
          <a:blip r:embed="rId3" cstate="print"/>
          <a:stretch>
            <a:fillRect/>
          </a:stretch>
        </p:blipFill>
        <p:spPr>
          <a:xfrm>
            <a:off x="6732240" y="3501008"/>
            <a:ext cx="1571675" cy="158534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Situational Awareness:</a:t>
            </a:r>
          </a:p>
          <a:p>
            <a:pPr marL="360000" indent="-360000">
              <a:spcBef>
                <a:spcPts val="600"/>
              </a:spcBef>
              <a:spcAft>
                <a:spcPts val="1200"/>
              </a:spcAft>
            </a:pPr>
            <a:r>
              <a:rPr lang="en-AU" sz="2200" smtClean="0">
                <a:latin typeface="Helvetica" pitchFamily="34" charset="0"/>
              </a:rPr>
              <a:t>Awareness of your </a:t>
            </a:r>
            <a:r>
              <a:rPr lang="en-AU" sz="2200" smtClean="0">
                <a:latin typeface="Helvetica" pitchFamily="34" charset="0"/>
              </a:rPr>
              <a:t>environment:</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Is it </a:t>
            </a:r>
            <a:r>
              <a:rPr lang="en-AU" sz="2200" smtClean="0">
                <a:latin typeface="Helvetica" pitchFamily="34" charset="0"/>
              </a:rPr>
              <a:t>changing</a:t>
            </a:r>
            <a:r>
              <a:rPr lang="en-AU" sz="2200" smtClean="0">
                <a:latin typeface="Helvetica" pitchFamily="34" charset="0"/>
              </a:rPr>
              <a:t>? </a:t>
            </a:r>
            <a:r>
              <a:rPr lang="en-AU" sz="2200" smtClean="0">
                <a:latin typeface="Helvetica" pitchFamily="34" charset="0"/>
              </a:rPr>
              <a:t>How</a:t>
            </a:r>
            <a:r>
              <a:rPr lang="en-AU" sz="2200" smtClean="0">
                <a:latin typeface="Helvetica" pitchFamily="34" charset="0"/>
              </a:rPr>
              <a:t>? </a:t>
            </a:r>
            <a:r>
              <a:rPr lang="en-AU" sz="2200" smtClean="0">
                <a:latin typeface="Helvetica" pitchFamily="34" charset="0"/>
              </a:rPr>
              <a:t>Why?</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What do I need to do in response to </a:t>
            </a:r>
            <a:r>
              <a:rPr lang="en-AU" sz="2200" smtClean="0">
                <a:latin typeface="Helvetica" pitchFamily="34" charset="0"/>
              </a:rPr>
              <a:t>changes?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Relies </a:t>
            </a:r>
            <a:r>
              <a:rPr lang="en-AU" sz="2200" smtClean="0">
                <a:latin typeface="Helvetica" pitchFamily="34" charset="0"/>
              </a:rPr>
              <a:t>on: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Keeping eyes and ears </a:t>
            </a:r>
            <a:r>
              <a:rPr lang="en-AU" sz="2200" smtClean="0">
                <a:latin typeface="Helvetica" pitchFamily="34" charset="0"/>
              </a:rPr>
              <a:t>open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Analyzing </a:t>
            </a:r>
            <a:r>
              <a:rPr lang="en-AU" sz="2200" smtClean="0">
                <a:latin typeface="Helvetica" pitchFamily="34" charset="0"/>
              </a:rPr>
              <a:t>everything</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review.jpg"/>
          <p:cNvPicPr>
            <a:picLocks noChangeAspect="1"/>
          </p:cNvPicPr>
          <p:nvPr/>
        </p:nvPicPr>
        <p:blipFill>
          <a:blip r:embed="rId3" cstate="print"/>
          <a:stretch>
            <a:fillRect/>
          </a:stretch>
        </p:blipFill>
        <p:spPr>
          <a:xfrm>
            <a:off x="6516216" y="3212976"/>
            <a:ext cx="1842369" cy="183706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surveillance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Situational Awareness is basis </a:t>
            </a:r>
            <a:r>
              <a:rPr lang="en-AU" sz="2200" smtClean="0">
                <a:latin typeface="Helvetica" pitchFamily="34" charset="0"/>
              </a:rPr>
              <a:t>for: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Determining </a:t>
            </a:r>
            <a:r>
              <a:rPr lang="en-AU" sz="2200" smtClean="0">
                <a:latin typeface="Helvetica" pitchFamily="34" charset="0"/>
              </a:rPr>
              <a:t>threats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Identifying action </a:t>
            </a:r>
            <a:r>
              <a:rPr lang="en-AU" sz="2200" smtClean="0">
                <a:latin typeface="Helvetica" pitchFamily="34" charset="0"/>
              </a:rPr>
              <a:t>required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Identifying abnormal </a:t>
            </a:r>
            <a:r>
              <a:rPr lang="en-AU" sz="2200" smtClean="0">
                <a:latin typeface="Helvetica" pitchFamily="34" charset="0"/>
              </a:rPr>
              <a:t>situations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Prompt and effective </a:t>
            </a:r>
            <a:r>
              <a:rPr lang="en-AU" sz="2200" smtClean="0">
                <a:latin typeface="Helvetica" pitchFamily="34" charset="0"/>
              </a:rPr>
              <a:t>responses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Strategy chart.jpg"/>
          <p:cNvPicPr>
            <a:picLocks noChangeAspect="1"/>
          </p:cNvPicPr>
          <p:nvPr/>
        </p:nvPicPr>
        <p:blipFill>
          <a:blip r:embed="rId3" cstate="print"/>
          <a:stretch>
            <a:fillRect/>
          </a:stretch>
        </p:blipFill>
        <p:spPr>
          <a:xfrm>
            <a:off x="6300192" y="3356992"/>
            <a:ext cx="1939363" cy="1722999"/>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All systems and equipment must be tested:</a:t>
            </a:r>
          </a:p>
          <a:p>
            <a:pPr marL="360000" indent="-360000">
              <a:spcBef>
                <a:spcPts val="600"/>
              </a:spcBef>
              <a:spcAft>
                <a:spcPts val="1200"/>
              </a:spcAft>
            </a:pPr>
            <a:r>
              <a:rPr lang="en-AU" sz="2200" smtClean="0">
                <a:latin typeface="Helvetica" pitchFamily="34" charset="0"/>
              </a:rPr>
              <a:t>Fire </a:t>
            </a:r>
            <a:r>
              <a:rPr lang="en-AU" sz="2200" smtClean="0">
                <a:latin typeface="Helvetica" pitchFamily="34" charset="0"/>
              </a:rPr>
              <a:t>alarms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Smoke and heat </a:t>
            </a:r>
            <a:r>
              <a:rPr lang="en-AU" sz="2200" smtClean="0">
                <a:latin typeface="Helvetica" pitchFamily="34" charset="0"/>
              </a:rPr>
              <a:t>detectors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Intruder </a:t>
            </a:r>
            <a:r>
              <a:rPr lang="en-AU" sz="2200" smtClean="0">
                <a:latin typeface="Helvetica" pitchFamily="34" charset="0"/>
              </a:rPr>
              <a:t>alarms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Alarm </a:t>
            </a:r>
            <a:r>
              <a:rPr lang="en-AU" sz="2200" smtClean="0">
                <a:latin typeface="Helvetica" pitchFamily="34" charset="0"/>
              </a:rPr>
              <a:t>boards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CCTV</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MP900341770.JPG"/>
          <p:cNvPicPr>
            <a:picLocks noChangeAspect="1"/>
          </p:cNvPicPr>
          <p:nvPr/>
        </p:nvPicPr>
        <p:blipFill>
          <a:blip r:embed="rId3" cstate="print"/>
          <a:stretch>
            <a:fillRect/>
          </a:stretch>
        </p:blipFill>
        <p:spPr>
          <a:xfrm>
            <a:off x="7020272" y="3227108"/>
            <a:ext cx="1384952" cy="1941522"/>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AU" sz="2200" smtClean="0">
                <a:latin typeface="Helvetica" pitchFamily="34" charset="0"/>
              </a:rPr>
              <a:t>Comms</a:t>
            </a:r>
          </a:p>
          <a:p>
            <a:pPr marL="360000" indent="-360000">
              <a:spcBef>
                <a:spcPts val="600"/>
              </a:spcBef>
              <a:spcAft>
                <a:spcPts val="1200"/>
              </a:spcAft>
            </a:pPr>
            <a:r>
              <a:rPr lang="en-AU" sz="2200" smtClean="0">
                <a:latin typeface="Helvetica" pitchFamily="34" charset="0"/>
              </a:rPr>
              <a:t>EAS </a:t>
            </a:r>
            <a:r>
              <a:rPr lang="en-AU" sz="2200" smtClean="0">
                <a:latin typeface="Helvetica" pitchFamily="34" charset="0"/>
              </a:rPr>
              <a:t>systems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Key access and locking </a:t>
            </a:r>
            <a:r>
              <a:rPr lang="en-AU" sz="2200" smtClean="0">
                <a:latin typeface="Helvetica" pitchFamily="34" charset="0"/>
              </a:rPr>
              <a:t>systems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Motion </a:t>
            </a:r>
            <a:r>
              <a:rPr lang="en-AU" sz="2200" smtClean="0">
                <a:latin typeface="Helvetica" pitchFamily="34" charset="0"/>
              </a:rPr>
              <a:t>sensors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On-premise </a:t>
            </a:r>
            <a:r>
              <a:rPr lang="en-AU" sz="2200" smtClean="0">
                <a:latin typeface="Helvetica" pitchFamily="34" charset="0"/>
              </a:rPr>
              <a:t>safes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Vehicle </a:t>
            </a:r>
            <a:r>
              <a:rPr lang="en-AU" sz="2200" smtClean="0">
                <a:latin typeface="Helvetica" pitchFamily="34" charset="0"/>
              </a:rPr>
              <a:t>alarms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Internet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descr="Internet logo 1.jpg"/>
          <p:cNvPicPr>
            <a:picLocks noChangeAspect="1"/>
          </p:cNvPicPr>
          <p:nvPr/>
        </p:nvPicPr>
        <p:blipFill>
          <a:blip r:embed="rId3" cstate="print"/>
          <a:stretch>
            <a:fillRect/>
          </a:stretch>
        </p:blipFill>
        <p:spPr>
          <a:xfrm>
            <a:off x="6588224" y="4005064"/>
            <a:ext cx="1828800" cy="1209675"/>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a:t>
            </a:r>
            <a:r>
              <a:rPr lang="en-AU" sz="2200" smtClean="0">
                <a:latin typeface="Helvetica" pitchFamily="34" charset="0"/>
              </a:rPr>
              <a:t>Testing </a:t>
            </a:r>
            <a:r>
              <a:rPr lang="en-AU" sz="2200" smtClean="0">
                <a:latin typeface="Helvetica" pitchFamily="34" charset="0"/>
              </a:rPr>
              <a:t>sectors</a:t>
            </a:r>
            <a:r>
              <a:rPr lang="en-AU" sz="2200" smtClean="0">
                <a:latin typeface="Helvetica" pitchFamily="34" charset="0"/>
              </a:rPr>
              <a:t>’ – it is standard practice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Test and check one system at a </a:t>
            </a:r>
            <a:r>
              <a:rPr lang="en-AU" sz="2200" smtClean="0">
                <a:latin typeface="Helvetica" pitchFamily="34" charset="0"/>
              </a:rPr>
              <a:t>time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Test and check one sector at a </a:t>
            </a:r>
            <a:r>
              <a:rPr lang="en-AU" sz="2200" smtClean="0">
                <a:latin typeface="Helvetica" pitchFamily="34" charset="0"/>
              </a:rPr>
              <a:t>time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Record all </a:t>
            </a:r>
            <a:r>
              <a:rPr lang="en-AU" sz="2200" smtClean="0">
                <a:latin typeface="Helvetica" pitchFamily="34" charset="0"/>
              </a:rPr>
              <a:t>testing</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MP900448685.JPG"/>
          <p:cNvPicPr>
            <a:picLocks noChangeAspect="1"/>
          </p:cNvPicPr>
          <p:nvPr/>
        </p:nvPicPr>
        <p:blipFill>
          <a:blip r:embed="rId3" cstate="print"/>
          <a:stretch>
            <a:fillRect/>
          </a:stretch>
        </p:blipFill>
        <p:spPr>
          <a:xfrm>
            <a:off x="6732240" y="2708920"/>
            <a:ext cx="1565920" cy="234888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a:t>
            </a:r>
            <a:r>
              <a:rPr lang="en-AU" sz="2200" smtClean="0">
                <a:latin typeface="Helvetica" pitchFamily="34" charset="0"/>
              </a:rPr>
              <a:t>Testing to assignment </a:t>
            </a:r>
            <a:r>
              <a:rPr lang="en-AU" sz="2200" smtClean="0">
                <a:latin typeface="Helvetica" pitchFamily="34" charset="0"/>
              </a:rPr>
              <a:t>instructions</a:t>
            </a:r>
            <a:r>
              <a:rPr lang="en-AU" sz="2200" smtClean="0">
                <a:latin typeface="Helvetica" pitchFamily="34" charset="0"/>
              </a:rPr>
              <a:t>’ refers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Using required tools and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Following testing </a:t>
            </a:r>
            <a:r>
              <a:rPr lang="en-AU" sz="2200" smtClean="0">
                <a:latin typeface="Helvetica" pitchFamily="34" charset="0"/>
              </a:rPr>
              <a:t>schedules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Conducting one-off </a:t>
            </a:r>
            <a:r>
              <a:rPr lang="en-AU" sz="2200" smtClean="0">
                <a:latin typeface="Helvetica" pitchFamily="34" charset="0"/>
              </a:rPr>
              <a:t>checks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Applying designated types of tests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and </a:t>
            </a:r>
            <a:r>
              <a:rPr lang="en-AU" sz="2200" smtClean="0">
                <a:latin typeface="Helvetica" pitchFamily="34" charset="0"/>
              </a:rPr>
              <a:t>checks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freeimage-2365953.jpg"/>
          <p:cNvPicPr>
            <a:picLocks noChangeAspect="1"/>
          </p:cNvPicPr>
          <p:nvPr/>
        </p:nvPicPr>
        <p:blipFill>
          <a:blip r:embed="rId3" cstate="print"/>
          <a:stretch>
            <a:fillRect/>
          </a:stretch>
        </p:blipFill>
        <p:spPr>
          <a:xfrm>
            <a:off x="6804248" y="3717032"/>
            <a:ext cx="1565974" cy="1413747"/>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Testing:</a:t>
            </a:r>
          </a:p>
          <a:p>
            <a:pPr marL="360000" indent="-360000">
              <a:spcBef>
                <a:spcPts val="600"/>
              </a:spcBef>
              <a:spcAft>
                <a:spcPts val="1200"/>
              </a:spcAft>
            </a:pPr>
            <a:r>
              <a:rPr lang="en-AU" sz="2200" smtClean="0">
                <a:latin typeface="Helvetica" pitchFamily="34" charset="0"/>
              </a:rPr>
              <a:t>Must comply </a:t>
            </a:r>
            <a:r>
              <a:rPr lang="en-AU" sz="2200" smtClean="0">
                <a:latin typeface="Helvetica" pitchFamily="34" charset="0"/>
              </a:rPr>
              <a:t>with:</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Legislation</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Local </a:t>
            </a:r>
            <a:r>
              <a:rPr lang="en-AU" sz="2200" smtClean="0">
                <a:latin typeface="Helvetica" pitchFamily="34" charset="0"/>
              </a:rPr>
              <a:t>COPs</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Manufacturer’s </a:t>
            </a:r>
            <a:r>
              <a:rPr lang="en-AU" sz="2200" smtClean="0">
                <a:latin typeface="Helvetica" pitchFamily="34" charset="0"/>
              </a:rPr>
              <a:t>instructions</a:t>
            </a:r>
            <a:endParaRPr lang="en-AU" sz="2200" smtClean="0">
              <a:latin typeface="Helvetica" pitchFamily="34" charset="0"/>
            </a:endParaRPr>
          </a:p>
          <a:p>
            <a:pPr marL="360000" indent="-360000">
              <a:spcBef>
                <a:spcPts val="600"/>
              </a:spcBef>
              <a:spcAft>
                <a:spcPts val="1200"/>
              </a:spcAft>
              <a:buClr>
                <a:srgbClr val="7FD13B"/>
              </a:buClr>
              <a:buSzPct val="120000"/>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descr="MP900409634.JPG"/>
          <p:cNvPicPr>
            <a:picLocks noChangeAspect="1"/>
          </p:cNvPicPr>
          <p:nvPr/>
        </p:nvPicPr>
        <p:blipFill>
          <a:blip r:embed="rId3" cstate="print"/>
          <a:stretch>
            <a:fillRect/>
          </a:stretch>
        </p:blipFill>
        <p:spPr>
          <a:xfrm>
            <a:off x="6972032" y="3068960"/>
            <a:ext cx="1418433" cy="213285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Testing is a mix </a:t>
            </a:r>
            <a:r>
              <a:rPr lang="en-AU" sz="2200" smtClean="0">
                <a:latin typeface="Helvetica" pitchFamily="34" charset="0"/>
              </a:rPr>
              <a:t>of:</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Workplace </a:t>
            </a:r>
            <a:r>
              <a:rPr lang="en-AU" sz="2200" smtClean="0">
                <a:latin typeface="Helvetica" pitchFamily="34" charset="0"/>
              </a:rPr>
              <a:t>inspections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Active </a:t>
            </a:r>
            <a:r>
              <a:rPr lang="en-AU" sz="2200" smtClean="0">
                <a:latin typeface="Helvetica" pitchFamily="34" charset="0"/>
              </a:rPr>
              <a:t>testing</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descr="1267068815641_hz_fileserver1_442133.jpg"/>
          <p:cNvPicPr>
            <a:picLocks noChangeAspect="1"/>
          </p:cNvPicPr>
          <p:nvPr/>
        </p:nvPicPr>
        <p:blipFill>
          <a:blip r:embed="rId3" cstate="print"/>
          <a:stretch>
            <a:fillRect/>
          </a:stretch>
        </p:blipFill>
        <p:spPr>
          <a:xfrm>
            <a:off x="6732240" y="3501008"/>
            <a:ext cx="1529451" cy="1504378"/>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SOPs when testing may include:</a:t>
            </a:r>
          </a:p>
          <a:p>
            <a:pPr marL="360000" indent="-360000">
              <a:spcBef>
                <a:spcPts val="600"/>
              </a:spcBef>
              <a:spcAft>
                <a:spcPts val="1200"/>
              </a:spcAft>
            </a:pPr>
            <a:r>
              <a:rPr lang="en-AU" sz="2200" smtClean="0">
                <a:latin typeface="Helvetica" pitchFamily="34" charset="0"/>
              </a:rPr>
              <a:t>Only certified qualified personnel to be </a:t>
            </a:r>
            <a:r>
              <a:rPr lang="en-AU" sz="2200" smtClean="0">
                <a:latin typeface="Helvetica" pitchFamily="34" charset="0"/>
              </a:rPr>
              <a:t>used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Notifying authorities of </a:t>
            </a:r>
            <a:r>
              <a:rPr lang="en-AU" sz="2200" smtClean="0">
                <a:latin typeface="Helvetica" pitchFamily="34" charset="0"/>
              </a:rPr>
              <a:t>tests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Notifying remote </a:t>
            </a:r>
            <a:r>
              <a:rPr lang="en-AU" sz="2200" smtClean="0">
                <a:latin typeface="Helvetica" pitchFamily="34" charset="0"/>
              </a:rPr>
              <a:t>sites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Advising </a:t>
            </a:r>
            <a:r>
              <a:rPr lang="en-AU" sz="2200" smtClean="0">
                <a:latin typeface="Helvetica" pitchFamily="34" charset="0"/>
              </a:rPr>
              <a:t>patrons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Following required </a:t>
            </a:r>
            <a:r>
              <a:rPr lang="en-AU" sz="2200" smtClean="0">
                <a:latin typeface="Helvetica" pitchFamily="34" charset="0"/>
              </a:rPr>
              <a:t>schedules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freeimage-8138481.jpg"/>
          <p:cNvPicPr>
            <a:picLocks noChangeAspect="1"/>
          </p:cNvPicPr>
          <p:nvPr/>
        </p:nvPicPr>
        <p:blipFill>
          <a:blip r:embed="rId3" cstate="print"/>
          <a:stretch>
            <a:fillRect/>
          </a:stretch>
        </p:blipFill>
        <p:spPr>
          <a:xfrm>
            <a:off x="6444208" y="3356992"/>
            <a:ext cx="1890479" cy="16288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Test alarm sectors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AU" sz="2200" smtClean="0">
                <a:latin typeface="Helvetica" pitchFamily="34" charset="0"/>
              </a:rPr>
              <a:t>Communicating faults and discrepancies</a:t>
            </a:r>
          </a:p>
          <a:p>
            <a:pPr marL="360000" indent="-360000">
              <a:spcBef>
                <a:spcPts val="600"/>
              </a:spcBef>
              <a:spcAft>
                <a:spcPts val="1200"/>
              </a:spcAft>
            </a:pPr>
            <a:r>
              <a:rPr lang="en-AU" sz="2200" smtClean="0">
                <a:latin typeface="Helvetica" pitchFamily="34" charset="0"/>
              </a:rPr>
              <a:t>Investigating and remedying all </a:t>
            </a:r>
            <a:r>
              <a:rPr lang="en-AU" sz="2200" smtClean="0">
                <a:latin typeface="Helvetica" pitchFamily="34" charset="0"/>
              </a:rPr>
              <a:t>problems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Addressing maintenance </a:t>
            </a:r>
            <a:r>
              <a:rPr lang="en-AU" sz="2200" smtClean="0">
                <a:latin typeface="Helvetica" pitchFamily="34" charset="0"/>
              </a:rPr>
              <a:t>requirements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Recording testing activities and </a:t>
            </a:r>
            <a:r>
              <a:rPr lang="en-AU" sz="2200" smtClean="0">
                <a:latin typeface="Helvetica" pitchFamily="34" charset="0"/>
              </a:rPr>
              <a:t>results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freeimage-4664122.jpg"/>
          <p:cNvPicPr>
            <a:picLocks noChangeAspect="1"/>
          </p:cNvPicPr>
          <p:nvPr/>
        </p:nvPicPr>
        <p:blipFill>
          <a:blip r:embed="rId3" cstate="print"/>
          <a:stretch>
            <a:fillRect/>
          </a:stretch>
        </p:blipFill>
        <p:spPr>
          <a:xfrm>
            <a:off x="6084168" y="3933056"/>
            <a:ext cx="2339752" cy="1226353"/>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632848" cy="5400600"/>
          </a:xfrm>
        </p:spPr>
        <p:txBody>
          <a:bodyPr>
            <a:normAutofit lnSpcReduction="10000"/>
          </a:bodyPr>
          <a:lstStyle/>
          <a:p>
            <a:pPr marL="0" indent="0">
              <a:spcBef>
                <a:spcPts val="600"/>
              </a:spcBef>
              <a:spcAft>
                <a:spcPts val="1200"/>
              </a:spcAft>
              <a:buNone/>
            </a:pPr>
            <a:r>
              <a:rPr lang="en-AU" sz="2200" smtClean="0">
                <a:latin typeface="Helvetica" pitchFamily="34" charset="0"/>
              </a:rPr>
              <a:t>When operating security equipment:</a:t>
            </a:r>
          </a:p>
          <a:p>
            <a:pPr>
              <a:spcBef>
                <a:spcPts val="600"/>
              </a:spcBef>
              <a:spcAft>
                <a:spcPts val="1200"/>
              </a:spcAft>
            </a:pPr>
            <a:r>
              <a:rPr lang="en-AU" sz="2200" smtClean="0">
                <a:latin typeface="Helvetica" pitchFamily="34" charset="0"/>
              </a:rPr>
              <a:t>Make </a:t>
            </a:r>
            <a:r>
              <a:rPr lang="en-AU" sz="2200" smtClean="0">
                <a:latin typeface="Helvetica" pitchFamily="34" charset="0"/>
              </a:rPr>
              <a:t>sure you use all mandatory PPE</a:t>
            </a:r>
          </a:p>
          <a:p>
            <a:pPr>
              <a:spcBef>
                <a:spcPts val="600"/>
              </a:spcBef>
              <a:spcAft>
                <a:spcPts val="1200"/>
              </a:spcAft>
            </a:pPr>
            <a:r>
              <a:rPr lang="en-AU" sz="2200" smtClean="0">
                <a:latin typeface="Helvetica" pitchFamily="34" charset="0"/>
              </a:rPr>
              <a:t>Use a utility belt to help with EDC items</a:t>
            </a:r>
          </a:p>
          <a:p>
            <a:pPr>
              <a:spcBef>
                <a:spcPts val="600"/>
              </a:spcBef>
              <a:spcAft>
                <a:spcPts val="1200"/>
              </a:spcAft>
            </a:pPr>
            <a:r>
              <a:rPr lang="en-AU" sz="2200" smtClean="0">
                <a:latin typeface="Helvetica" pitchFamily="34" charset="0"/>
              </a:rPr>
              <a:t>Maintain PPE as necessary</a:t>
            </a:r>
          </a:p>
          <a:p>
            <a:pPr>
              <a:spcBef>
                <a:spcPts val="600"/>
              </a:spcBef>
              <a:spcAft>
                <a:spcPts val="1200"/>
              </a:spcAft>
            </a:pPr>
            <a:r>
              <a:rPr lang="en-AU" sz="2200" smtClean="0">
                <a:latin typeface="Helvetica" pitchFamily="34" charset="0"/>
              </a:rPr>
              <a:t>Comply with all legislated requirements</a:t>
            </a:r>
          </a:p>
          <a:p>
            <a:pPr>
              <a:spcBef>
                <a:spcPts val="600"/>
              </a:spcBef>
              <a:spcAft>
                <a:spcPts val="1200"/>
              </a:spcAft>
            </a:pPr>
            <a:r>
              <a:rPr lang="en-AU" sz="2200" smtClean="0">
                <a:latin typeface="Helvetica" pitchFamily="34" charset="0"/>
              </a:rPr>
              <a:t>Realize the limitations of the action you can take</a:t>
            </a:r>
          </a:p>
          <a:p>
            <a:pPr>
              <a:spcBef>
                <a:spcPts val="600"/>
              </a:spcBef>
              <a:spcAft>
                <a:spcPts val="1200"/>
              </a:spcAft>
            </a:pPr>
            <a:r>
              <a:rPr lang="en-AU" sz="2200" smtClean="0">
                <a:latin typeface="Helvetica" pitchFamily="34" charset="0"/>
              </a:rPr>
              <a:t>Remember you are not a police officer</a:t>
            </a:r>
          </a:p>
          <a:p>
            <a:pPr>
              <a:spcBef>
                <a:spcPts val="600"/>
              </a:spcBef>
              <a:spcAft>
                <a:spcPts val="1200"/>
              </a:spcAft>
            </a:pPr>
            <a:r>
              <a:rPr lang="en-AU" sz="2200" smtClean="0">
                <a:latin typeface="Helvetica" pitchFamily="34" charset="0"/>
              </a:rPr>
              <a:t>Follow manufacturer’s instructions when </a:t>
            </a:r>
            <a:br>
              <a:rPr lang="en-AU" sz="2200" smtClean="0">
                <a:latin typeface="Helvetica" pitchFamily="34" charset="0"/>
              </a:rPr>
            </a:br>
            <a:r>
              <a:rPr lang="en-AU" sz="2200" smtClean="0">
                <a:latin typeface="Helvetica" pitchFamily="34" charset="0"/>
              </a:rPr>
              <a:t>operating equipment</a:t>
            </a:r>
          </a:p>
          <a:p>
            <a:pPr marL="360000" indent="-360000">
              <a:spcBef>
                <a:spcPts val="600"/>
              </a:spcBef>
              <a:spcAft>
                <a:spcPts val="1200"/>
              </a:spcAft>
              <a:buNone/>
            </a:pPr>
            <a:r>
              <a:rPr lang="en-AU" sz="2200" i="1" smtClean="0">
                <a:latin typeface="Helvetica" pitchFamily="34" charset="0"/>
              </a:rPr>
              <a:t>(Continued)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876256" y="3573016"/>
            <a:ext cx="1463195" cy="1540768"/>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lnSpcReduction="10000"/>
          </a:bodyPr>
          <a:lstStyle/>
          <a:p>
            <a:pPr>
              <a:spcBef>
                <a:spcPts val="600"/>
              </a:spcBef>
              <a:spcAft>
                <a:spcPts val="1200"/>
              </a:spcAft>
            </a:pPr>
            <a:r>
              <a:rPr lang="en-AU" sz="2200" smtClean="0">
                <a:latin typeface="Helvetica" pitchFamily="34" charset="0"/>
              </a:rPr>
              <a:t>Be controlled and restrained in your interactions with people</a:t>
            </a:r>
          </a:p>
          <a:p>
            <a:pPr>
              <a:spcBef>
                <a:spcPts val="600"/>
              </a:spcBef>
              <a:spcAft>
                <a:spcPts val="1200"/>
              </a:spcAft>
            </a:pPr>
            <a:r>
              <a:rPr lang="en-AU" sz="2200" smtClean="0">
                <a:latin typeface="Helvetica" pitchFamily="34" charset="0"/>
              </a:rPr>
              <a:t>Follow all internal SOPs and protocols</a:t>
            </a:r>
          </a:p>
          <a:p>
            <a:pPr>
              <a:spcBef>
                <a:spcPts val="600"/>
              </a:spcBef>
              <a:spcAft>
                <a:spcPts val="1200"/>
              </a:spcAft>
            </a:pPr>
            <a:r>
              <a:rPr lang="en-AU" sz="2200" smtClean="0">
                <a:latin typeface="Helvetica" pitchFamily="34" charset="0"/>
              </a:rPr>
              <a:t>Monitor all equipment, systems and displays</a:t>
            </a:r>
          </a:p>
          <a:p>
            <a:pPr>
              <a:spcBef>
                <a:spcPts val="600"/>
              </a:spcBef>
              <a:spcAft>
                <a:spcPts val="1200"/>
              </a:spcAft>
            </a:pPr>
            <a:r>
              <a:rPr lang="en-AU" sz="2200" smtClean="0">
                <a:latin typeface="Helvetica" pitchFamily="34" charset="0"/>
              </a:rPr>
              <a:t>Maintain situational awareness</a:t>
            </a:r>
          </a:p>
          <a:p>
            <a:pPr>
              <a:spcBef>
                <a:spcPts val="600"/>
              </a:spcBef>
              <a:spcAft>
                <a:spcPts val="1200"/>
              </a:spcAft>
            </a:pPr>
            <a:r>
              <a:rPr lang="en-AU" sz="2200" smtClean="0">
                <a:latin typeface="Helvetica" pitchFamily="34" charset="0"/>
              </a:rPr>
              <a:t>Inspect and actively test equipment and systems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in </a:t>
            </a:r>
            <a:r>
              <a:rPr lang="en-AU" sz="2200" smtClean="0">
                <a:latin typeface="Helvetica" pitchFamily="34" charset="0"/>
              </a:rPr>
              <a:t>accordance with established schedules</a:t>
            </a:r>
          </a:p>
          <a:p>
            <a:pPr>
              <a:spcBef>
                <a:spcPts val="600"/>
              </a:spcBef>
              <a:spcAft>
                <a:spcPts val="1200"/>
              </a:spcAft>
            </a:pPr>
            <a:r>
              <a:rPr lang="en-AU" sz="2200" smtClean="0">
                <a:latin typeface="Helvetica" pitchFamily="34" charset="0"/>
              </a:rPr>
              <a:t>Record details and results of all tests and </a:t>
            </a:r>
            <a:br>
              <a:rPr lang="en-AU" sz="2200" smtClean="0">
                <a:latin typeface="Helvetica" pitchFamily="34" charset="0"/>
              </a:rPr>
            </a:br>
            <a:r>
              <a:rPr lang="en-AU" sz="2200" smtClean="0">
                <a:latin typeface="Helvetica" pitchFamily="34" charset="0"/>
              </a:rPr>
              <a:t>inspections</a:t>
            </a:r>
          </a:p>
          <a:p>
            <a:pPr>
              <a:spcBef>
                <a:spcPts val="600"/>
              </a:spcBef>
              <a:spcAft>
                <a:spcPts val="1200"/>
              </a:spcAft>
            </a:pPr>
            <a:r>
              <a:rPr lang="en-AU" sz="2200" smtClean="0">
                <a:latin typeface="Helvetica" pitchFamily="34" charset="0"/>
              </a:rPr>
              <a:t>Respond as required to all issues identified by inspections and tests</a:t>
            </a:r>
          </a:p>
          <a:p>
            <a:pPr marL="360000" indent="-360000">
              <a:spcBef>
                <a:spcPts val="600"/>
              </a:spcBef>
              <a:spcAft>
                <a:spcPts val="1200"/>
              </a:spcAft>
              <a:buNone/>
            </a:pPr>
            <a:r>
              <a:rPr lang="en-AU" sz="2200" i="1" smtClean="0">
                <a:latin typeface="Helvetica" pitchFamily="34" charset="0"/>
              </a:rPr>
              <a:t>(Continued)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876256" y="3573016"/>
            <a:ext cx="1463195" cy="154076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security equipment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Performance Criteria for this Element are:</a:t>
            </a:r>
          </a:p>
          <a:p>
            <a:pPr marL="360000" indent="-360000">
              <a:spcBef>
                <a:spcPts val="600"/>
              </a:spcBef>
              <a:spcAft>
                <a:spcPts val="1200"/>
              </a:spcAft>
            </a:pPr>
            <a:r>
              <a:rPr lang="en-AU" sz="2200" smtClean="0">
                <a:latin typeface="Helvetica" pitchFamily="34" charset="0"/>
              </a:rPr>
              <a:t>Return security equipment to operational </a:t>
            </a:r>
            <a:r>
              <a:rPr lang="en-AU" sz="2200" smtClean="0">
                <a:latin typeface="Helvetica" pitchFamily="34" charset="0"/>
              </a:rPr>
              <a:t>condition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Clean</a:t>
            </a:r>
            <a:r>
              <a:rPr lang="en-AU" sz="2200" smtClean="0">
                <a:latin typeface="Helvetica" pitchFamily="34" charset="0"/>
              </a:rPr>
              <a:t>, maintain and store security tools and </a:t>
            </a:r>
            <a:r>
              <a:rPr lang="en-AU" sz="2200" smtClean="0">
                <a:latin typeface="Helvetica" pitchFamily="34" charset="0"/>
              </a:rPr>
              <a:t>equipment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Report faulty or damaged security equipment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and items</a:t>
            </a:r>
          </a:p>
          <a:p>
            <a:pPr marL="360000" indent="-360000">
              <a:spcBef>
                <a:spcPts val="600"/>
              </a:spcBef>
              <a:spcAft>
                <a:spcPts val="1200"/>
              </a:spcAft>
            </a:pPr>
            <a:r>
              <a:rPr lang="en-AU" sz="2200" smtClean="0">
                <a:latin typeface="Helvetica" pitchFamily="34" charset="0"/>
              </a:rPr>
              <a:t>Arrange back-up systems for faulty or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damaged security equipment and items</a:t>
            </a:r>
          </a:p>
          <a:p>
            <a:pPr marL="360000" indent="-360000">
              <a:spcBef>
                <a:spcPts val="600"/>
              </a:spcBef>
              <a:spcAft>
                <a:spcPts val="1200"/>
              </a:spcAft>
            </a:pPr>
            <a:r>
              <a:rPr lang="en-AU" sz="2200" smtClean="0">
                <a:latin typeface="Helvetica" pitchFamily="34" charset="0"/>
              </a:rPr>
              <a:t>Complete internal records and reports relating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to security</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876256" y="3861048"/>
            <a:ext cx="1463195" cy="1127323"/>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Return security equipment to operational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marL="0" indent="0">
              <a:spcBef>
                <a:spcPts val="600"/>
              </a:spcBef>
              <a:spcAft>
                <a:spcPts val="1200"/>
              </a:spcAft>
              <a:buNone/>
            </a:pPr>
            <a:r>
              <a:rPr lang="en-AU" sz="2200" smtClean="0">
                <a:latin typeface="Helvetica" pitchFamily="34" charset="0"/>
              </a:rPr>
              <a:t>It is important to return items to operational status to:</a:t>
            </a:r>
          </a:p>
          <a:p>
            <a:pPr marL="360000" indent="-360000">
              <a:spcBef>
                <a:spcPts val="600"/>
              </a:spcBef>
              <a:spcAft>
                <a:spcPts val="1200"/>
              </a:spcAft>
            </a:pPr>
            <a:r>
              <a:rPr lang="en-AU" sz="2200" smtClean="0">
                <a:latin typeface="Helvetica" pitchFamily="34" charset="0"/>
              </a:rPr>
              <a:t>Optimize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Maintain trust and </a:t>
            </a:r>
            <a:r>
              <a:rPr lang="en-AU" sz="2200" smtClean="0">
                <a:latin typeface="Helvetica" pitchFamily="34" charset="0"/>
              </a:rPr>
              <a:t>confidence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Give other venue staff a sense of security and </a:t>
            </a:r>
            <a:r>
              <a:rPr lang="en-AU" sz="2200" smtClean="0">
                <a:latin typeface="Helvetica" pitchFamily="34" charset="0"/>
              </a:rPr>
              <a:t>confidence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Discharge Duty of Care </a:t>
            </a:r>
            <a:r>
              <a:rPr lang="en-AU" sz="2200" smtClean="0">
                <a:latin typeface="Helvetica" pitchFamily="34" charset="0"/>
              </a:rPr>
              <a:t>obligations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Fulfill </a:t>
            </a:r>
            <a:r>
              <a:rPr lang="en-AU" sz="2200" smtClean="0">
                <a:latin typeface="Helvetica" pitchFamily="34" charset="0"/>
              </a:rPr>
              <a:t>promises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Thwart </a:t>
            </a:r>
            <a:r>
              <a:rPr lang="en-AU" sz="2200" smtClean="0">
                <a:latin typeface="Helvetica" pitchFamily="34" charset="0"/>
              </a:rPr>
              <a:t>criminals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Reduce </a:t>
            </a:r>
            <a:r>
              <a:rPr lang="en-AU" sz="2200" smtClean="0">
                <a:latin typeface="Helvetica" pitchFamily="34" charset="0"/>
              </a:rPr>
              <a:t>costs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Lock.PNG"/>
          <p:cNvPicPr>
            <a:picLocks noChangeAspect="1"/>
          </p:cNvPicPr>
          <p:nvPr/>
        </p:nvPicPr>
        <p:blipFill>
          <a:blip r:embed="rId3" cstate="print"/>
          <a:stretch>
            <a:fillRect/>
          </a:stretch>
        </p:blipFill>
        <p:spPr>
          <a:xfrm>
            <a:off x="6876256" y="3573016"/>
            <a:ext cx="1541185" cy="1541185"/>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Return security equipment to operational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Staff un-trained in formal service and maintenance have limited response options:</a:t>
            </a:r>
          </a:p>
          <a:p>
            <a:pPr marL="360000" indent="-360000">
              <a:spcBef>
                <a:spcPts val="600"/>
              </a:spcBef>
              <a:spcAft>
                <a:spcPts val="1200"/>
              </a:spcAft>
            </a:pPr>
            <a:r>
              <a:rPr lang="en-AU" sz="2200" smtClean="0">
                <a:latin typeface="Helvetica" pitchFamily="34" charset="0"/>
              </a:rPr>
              <a:t>Notifying and seeking assistance from </a:t>
            </a:r>
            <a:r>
              <a:rPr lang="en-AU" sz="2200" smtClean="0">
                <a:latin typeface="Helvetica" pitchFamily="34" charset="0"/>
              </a:rPr>
              <a:t>others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Obtaining a </a:t>
            </a:r>
            <a:r>
              <a:rPr lang="en-AU" sz="2200" smtClean="0">
                <a:latin typeface="Helvetica" pitchFamily="34" charset="0"/>
              </a:rPr>
              <a:t>replacement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Using common </a:t>
            </a:r>
            <a:r>
              <a:rPr lang="en-AU" sz="2200" smtClean="0">
                <a:latin typeface="Helvetica" pitchFamily="34" charset="0"/>
              </a:rPr>
              <a:t>sense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Taking logical </a:t>
            </a:r>
            <a:r>
              <a:rPr lang="en-AU" sz="2200" smtClean="0">
                <a:latin typeface="Helvetica" pitchFamily="34" charset="0"/>
              </a:rPr>
              <a:t>action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Implementing an alternative security </a:t>
            </a:r>
            <a:r>
              <a:rPr lang="en-AU" sz="2200" smtClean="0">
                <a:latin typeface="Helvetica" pitchFamily="34" charset="0"/>
              </a:rPr>
              <a:t>option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descr="freeimage-588137.jpg"/>
          <p:cNvPicPr>
            <a:picLocks noChangeAspect="1"/>
          </p:cNvPicPr>
          <p:nvPr/>
        </p:nvPicPr>
        <p:blipFill>
          <a:blip r:embed="rId3" cstate="print"/>
          <a:stretch>
            <a:fillRect/>
          </a:stretch>
        </p:blipFill>
        <p:spPr>
          <a:xfrm>
            <a:off x="6755153" y="3384376"/>
            <a:ext cx="1489255" cy="162880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Return security equipment to operational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Further follow-up action can include:</a:t>
            </a:r>
          </a:p>
          <a:p>
            <a:pPr marL="360000" indent="-360000">
              <a:spcBef>
                <a:spcPts val="600"/>
              </a:spcBef>
              <a:spcAft>
                <a:spcPts val="1200"/>
              </a:spcAft>
            </a:pPr>
            <a:r>
              <a:rPr lang="en-AU" sz="2200" smtClean="0">
                <a:latin typeface="Helvetica" pitchFamily="34" charset="0"/>
              </a:rPr>
              <a:t>Remaining </a:t>
            </a:r>
            <a:r>
              <a:rPr lang="en-AU" sz="2200" smtClean="0">
                <a:latin typeface="Helvetica" pitchFamily="34" charset="0"/>
              </a:rPr>
              <a:t>on-site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Returning for a later </a:t>
            </a:r>
            <a:r>
              <a:rPr lang="en-AU" sz="2200" smtClean="0">
                <a:latin typeface="Helvetica" pitchFamily="34" charset="0"/>
              </a:rPr>
              <a:t>check</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Reporting the </a:t>
            </a:r>
            <a:r>
              <a:rPr lang="en-AU" sz="2200" smtClean="0">
                <a:latin typeface="Helvetica" pitchFamily="34" charset="0"/>
              </a:rPr>
              <a:t>matter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Completing required </a:t>
            </a:r>
            <a:r>
              <a:rPr lang="en-AU" sz="2200" smtClean="0">
                <a:latin typeface="Helvetica" pitchFamily="34" charset="0"/>
              </a:rPr>
              <a:t>paperwork</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Arranging for extra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MC900056808.WMF"/>
          <p:cNvPicPr>
            <a:picLocks noChangeAspect="1"/>
          </p:cNvPicPr>
          <p:nvPr/>
        </p:nvPicPr>
        <p:blipFill>
          <a:blip r:embed="rId3" cstate="print"/>
          <a:stretch>
            <a:fillRect/>
          </a:stretch>
        </p:blipFill>
        <p:spPr>
          <a:xfrm>
            <a:off x="7380312" y="3212976"/>
            <a:ext cx="938921" cy="1822399"/>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smtClean="0">
                <a:latin typeface="Helvetica" pitchFamily="34" charset="0"/>
              </a:rPr>
              <a:t>Cleaning of security items is essential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Optimize </a:t>
            </a:r>
            <a:r>
              <a:rPr lang="en-AU" sz="2200" smtClean="0">
                <a:latin typeface="Helvetica" pitchFamily="34" charset="0"/>
              </a:rPr>
              <a:t>performance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Enhance </a:t>
            </a:r>
            <a:r>
              <a:rPr lang="en-AU" sz="2200" smtClean="0">
                <a:latin typeface="Helvetica" pitchFamily="34" charset="0"/>
              </a:rPr>
              <a:t>appearance</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descr="MC900326590.WMF"/>
          <p:cNvPicPr>
            <a:picLocks noChangeAspect="1"/>
          </p:cNvPicPr>
          <p:nvPr/>
        </p:nvPicPr>
        <p:blipFill>
          <a:blip r:embed="rId3" cstate="print"/>
          <a:stretch>
            <a:fillRect/>
          </a:stretch>
        </p:blipFill>
        <p:spPr>
          <a:xfrm>
            <a:off x="6444208" y="3743546"/>
            <a:ext cx="1801430" cy="1232373"/>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Basics of cleaning:</a:t>
            </a:r>
          </a:p>
          <a:p>
            <a:pPr marL="360000" indent="-360000">
              <a:spcBef>
                <a:spcPts val="600"/>
              </a:spcBef>
              <a:spcAft>
                <a:spcPts val="1200"/>
              </a:spcAft>
            </a:pPr>
            <a:r>
              <a:rPr lang="en-AU" sz="2200" smtClean="0">
                <a:latin typeface="Helvetica" pitchFamily="34" charset="0"/>
              </a:rPr>
              <a:t>Use designated chemicals and cleaning </a:t>
            </a:r>
            <a:r>
              <a:rPr lang="en-AU" sz="2200" smtClean="0">
                <a:latin typeface="Helvetica" pitchFamily="34" charset="0"/>
              </a:rPr>
              <a:t>items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Adhere to cleaning </a:t>
            </a:r>
            <a:r>
              <a:rPr lang="en-AU" sz="2200" smtClean="0">
                <a:latin typeface="Helvetica" pitchFamily="34" charset="0"/>
              </a:rPr>
              <a:t>schedules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Clean items allocated as your </a:t>
            </a:r>
            <a:r>
              <a:rPr lang="en-AU" sz="2200" smtClean="0">
                <a:latin typeface="Helvetica" pitchFamily="34" charset="0"/>
              </a:rPr>
              <a:t>responsibilities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Allocate sufficient </a:t>
            </a:r>
            <a:r>
              <a:rPr lang="en-AU" sz="2200" smtClean="0">
                <a:latin typeface="Helvetica" pitchFamily="34" charset="0"/>
              </a:rPr>
              <a:t>time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Do it during quiet </a:t>
            </a:r>
            <a:r>
              <a:rPr lang="en-AU" sz="2200" smtClean="0">
                <a:latin typeface="Helvetica" pitchFamily="34" charset="0"/>
              </a:rPr>
              <a:t>times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 name="Picture 5" descr="MM900283866.GIF"/>
          <p:cNvPicPr>
            <a:picLocks noChangeAspect="1"/>
          </p:cNvPicPr>
          <p:nvPr/>
        </p:nvPicPr>
        <p:blipFill>
          <a:blip r:embed="rId3" cstate="print"/>
          <a:stretch>
            <a:fillRect/>
          </a:stretch>
        </p:blipFill>
        <p:spPr>
          <a:xfrm>
            <a:off x="6948264" y="3822337"/>
            <a:ext cx="1383524" cy="1229549"/>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smtClean="0">
                <a:latin typeface="Helvetica" pitchFamily="34" charset="0"/>
              </a:rPr>
              <a:t>Maintenance of security equipment and </a:t>
            </a:r>
            <a:r>
              <a:rPr lang="en-AU" sz="2200" smtClean="0">
                <a:latin typeface="Helvetica" pitchFamily="34" charset="0"/>
              </a:rPr>
              <a:t>resources: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Follow manufacturer’s </a:t>
            </a:r>
            <a:r>
              <a:rPr lang="en-AU" sz="2200" smtClean="0">
                <a:latin typeface="Helvetica" pitchFamily="34" charset="0"/>
              </a:rPr>
              <a:t>instructions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Operate within personal scope of </a:t>
            </a:r>
            <a:r>
              <a:rPr lang="en-AU" sz="2200" smtClean="0">
                <a:latin typeface="Helvetica" pitchFamily="34" charset="0"/>
              </a:rPr>
              <a:t>authority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Ask for help when </a:t>
            </a:r>
            <a:r>
              <a:rPr lang="en-AU" sz="2200" smtClean="0">
                <a:latin typeface="Helvetica" pitchFamily="34" charset="0"/>
              </a:rPr>
              <a:t>uncertain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Be prepared to obtain qualified </a:t>
            </a:r>
            <a:r>
              <a:rPr lang="en-AU" sz="2200" smtClean="0">
                <a:latin typeface="Helvetica" pitchFamily="34" charset="0"/>
              </a:rPr>
              <a:t>help</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Training sign.jpg"/>
          <p:cNvPicPr>
            <a:picLocks noChangeAspect="1"/>
          </p:cNvPicPr>
          <p:nvPr/>
        </p:nvPicPr>
        <p:blipFill>
          <a:blip r:embed="rId3" cstate="print"/>
          <a:stretch>
            <a:fillRect/>
          </a:stretch>
        </p:blipFill>
        <p:spPr>
          <a:xfrm>
            <a:off x="6372408" y="3140968"/>
            <a:ext cx="1941371" cy="1935777"/>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Maintenance may involve:</a:t>
            </a:r>
          </a:p>
          <a:p>
            <a:pPr marL="360000" indent="-360000">
              <a:spcBef>
                <a:spcPts val="600"/>
              </a:spcBef>
              <a:spcAft>
                <a:spcPts val="1200"/>
              </a:spcAft>
            </a:pPr>
            <a:r>
              <a:rPr lang="en-AU" sz="2200" smtClean="0">
                <a:latin typeface="Helvetica" pitchFamily="34" charset="0"/>
              </a:rPr>
              <a:t>Regular </a:t>
            </a:r>
            <a:r>
              <a:rPr lang="en-AU" sz="2200" smtClean="0">
                <a:latin typeface="Helvetica" pitchFamily="34" charset="0"/>
              </a:rPr>
              <a:t>cleaning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Lubrication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Changing </a:t>
            </a:r>
            <a:r>
              <a:rPr lang="en-AU" sz="2200" smtClean="0">
                <a:latin typeface="Helvetica" pitchFamily="34" charset="0"/>
              </a:rPr>
              <a:t>batteries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Making minor </a:t>
            </a:r>
            <a:r>
              <a:rPr lang="en-AU" sz="2200" smtClean="0">
                <a:latin typeface="Helvetica" pitchFamily="34" charset="0"/>
              </a:rPr>
              <a:t>adjustments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freeimage-1003844.jpg"/>
          <p:cNvPicPr>
            <a:picLocks noChangeAspect="1"/>
          </p:cNvPicPr>
          <p:nvPr/>
        </p:nvPicPr>
        <p:blipFill>
          <a:blip r:embed="rId3" cstate="print"/>
          <a:stretch>
            <a:fillRect/>
          </a:stretch>
        </p:blipFill>
        <p:spPr>
          <a:xfrm>
            <a:off x="6923750" y="2996952"/>
            <a:ext cx="1465999" cy="2204864"/>
          </a:xfrm>
          <a:prstGeom prst="rect">
            <a:avLst/>
          </a:prstGeom>
        </p:spPr>
      </p:pic>
      <p:pic>
        <p:nvPicPr>
          <p:cNvPr id="6" name="Picture 5" descr="freeimage-8131648.jpg"/>
          <p:cNvPicPr>
            <a:picLocks noChangeAspect="1"/>
          </p:cNvPicPr>
          <p:nvPr/>
        </p:nvPicPr>
        <p:blipFill>
          <a:blip r:embed="rId4" cstate="print"/>
          <a:srcRect l="26310" t="8963" r="29591" b="11238"/>
          <a:stretch>
            <a:fillRect/>
          </a:stretch>
        </p:blipFill>
        <p:spPr>
          <a:xfrm>
            <a:off x="5667280" y="4365104"/>
            <a:ext cx="901995" cy="1224136"/>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smtClean="0">
                <a:latin typeface="Helvetica" pitchFamily="34" charset="0"/>
              </a:rPr>
              <a:t>Tightening items</a:t>
            </a:r>
          </a:p>
          <a:p>
            <a:pPr marL="360000" indent="-360000">
              <a:spcBef>
                <a:spcPts val="600"/>
              </a:spcBef>
              <a:spcAft>
                <a:spcPts val="1200"/>
              </a:spcAft>
            </a:pPr>
            <a:r>
              <a:rPr lang="en-AU" sz="2200" smtClean="0">
                <a:latin typeface="Helvetica" pitchFamily="34" charset="0"/>
              </a:rPr>
              <a:t>Making basic </a:t>
            </a:r>
            <a:r>
              <a:rPr lang="en-AU" sz="2200" smtClean="0">
                <a:latin typeface="Helvetica" pitchFamily="34" charset="0"/>
              </a:rPr>
              <a:t>repairs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Replacing </a:t>
            </a:r>
            <a:r>
              <a:rPr lang="en-AU" sz="2200" smtClean="0">
                <a:latin typeface="Helvetica" pitchFamily="34" charset="0"/>
              </a:rPr>
              <a:t>parts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Delivering preventative </a:t>
            </a:r>
            <a:r>
              <a:rPr lang="en-AU" sz="2200" smtClean="0">
                <a:latin typeface="Helvetica" pitchFamily="34" charset="0"/>
              </a:rPr>
              <a:t>maintenance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Using suitable qualified and certified </a:t>
            </a:r>
            <a:r>
              <a:rPr lang="en-AU" sz="2200" smtClean="0">
                <a:latin typeface="Helvetica" pitchFamily="34" charset="0"/>
              </a:rPr>
              <a:t>technicians</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descr="MC900279892(1).WMF"/>
          <p:cNvPicPr>
            <a:picLocks noChangeAspect="1"/>
          </p:cNvPicPr>
          <p:nvPr/>
        </p:nvPicPr>
        <p:blipFill>
          <a:blip r:embed="rId3" cstate="print"/>
          <a:stretch>
            <a:fillRect/>
          </a:stretch>
        </p:blipFill>
        <p:spPr>
          <a:xfrm>
            <a:off x="6588224" y="4581128"/>
            <a:ext cx="1510446" cy="1509678"/>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maintain and store security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smtClean="0">
                <a:latin typeface="Helvetica" pitchFamily="34" charset="0"/>
              </a:rPr>
              <a:t>Storing security items:</a:t>
            </a:r>
          </a:p>
          <a:p>
            <a:pPr marL="360000" indent="-360000">
              <a:spcBef>
                <a:spcPts val="600"/>
              </a:spcBef>
              <a:spcAft>
                <a:spcPts val="1200"/>
              </a:spcAft>
            </a:pPr>
            <a:r>
              <a:rPr lang="en-AU" sz="2200" smtClean="0">
                <a:latin typeface="Helvetica" pitchFamily="34" charset="0"/>
              </a:rPr>
              <a:t>Store immediately after cleaning and </a:t>
            </a:r>
            <a:r>
              <a:rPr lang="en-AU" sz="2200" smtClean="0">
                <a:latin typeface="Helvetica" pitchFamily="34" charset="0"/>
              </a:rPr>
              <a:t>maintenance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Put items in </a:t>
            </a:r>
            <a:r>
              <a:rPr lang="en-AU" sz="2200" smtClean="0">
                <a:latin typeface="Helvetica" pitchFamily="34" charset="0"/>
              </a:rPr>
              <a:t>containers</a:t>
            </a:r>
            <a:r>
              <a:rPr lang="en-AU" sz="2200" smtClean="0">
                <a:latin typeface="Helvetica" pitchFamily="34" charset="0"/>
              </a:rPr>
              <a:t>, where </a:t>
            </a:r>
            <a:r>
              <a:rPr lang="en-AU" sz="2200" smtClean="0">
                <a:latin typeface="Helvetica" pitchFamily="34" charset="0"/>
              </a:rPr>
              <a:t>appropriate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Put items in designated </a:t>
            </a:r>
            <a:r>
              <a:rPr lang="en-AU" sz="2200" smtClean="0">
                <a:latin typeface="Helvetica" pitchFamily="34" charset="0"/>
              </a:rPr>
              <a:t>locations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Update stock control </a:t>
            </a:r>
            <a:r>
              <a:rPr lang="en-AU" sz="2200" smtClean="0">
                <a:latin typeface="Helvetica" pitchFamily="34" charset="0"/>
              </a:rPr>
              <a:t>documents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Secure the </a:t>
            </a:r>
            <a:r>
              <a:rPr lang="en-AU" sz="2200" smtClean="0">
                <a:latin typeface="Helvetica" pitchFamily="34" charset="0"/>
              </a:rPr>
              <a:t>area</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freeimage-6340717.jpg"/>
          <p:cNvPicPr>
            <a:picLocks noChangeAspect="1"/>
          </p:cNvPicPr>
          <p:nvPr/>
        </p:nvPicPr>
        <p:blipFill>
          <a:blip r:embed="rId3" cstate="print"/>
          <a:stretch>
            <a:fillRect/>
          </a:stretch>
        </p:blipFill>
        <p:spPr>
          <a:xfrm>
            <a:off x="6948264" y="3212976"/>
            <a:ext cx="1419470" cy="213285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0" indent="0">
              <a:spcBef>
                <a:spcPts val="600"/>
              </a:spcBef>
              <a:spcAft>
                <a:spcPts val="1200"/>
              </a:spcAft>
              <a:buNone/>
            </a:pPr>
            <a:r>
              <a:rPr lang="en-AU" sz="2200" smtClean="0">
                <a:latin typeface="Helvetica" pitchFamily="34" charset="0"/>
              </a:rPr>
              <a:t>Faulty or damaged equipment must be reported:</a:t>
            </a:r>
          </a:p>
          <a:p>
            <a:pPr marL="360000" indent="-360000">
              <a:spcBef>
                <a:spcPts val="600"/>
              </a:spcBef>
              <a:spcAft>
                <a:spcPts val="1200"/>
              </a:spcAft>
            </a:pPr>
            <a:r>
              <a:rPr lang="en-AU" sz="2200" smtClean="0">
                <a:latin typeface="Helvetica" pitchFamily="34" charset="0"/>
              </a:rPr>
              <a:t>To make arrangements for </a:t>
            </a:r>
            <a:r>
              <a:rPr lang="en-AU" sz="2200" smtClean="0">
                <a:latin typeface="Helvetica" pitchFamily="34" charset="0"/>
              </a:rPr>
              <a:t>repair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For insurance </a:t>
            </a:r>
            <a:r>
              <a:rPr lang="en-AU" sz="2200" smtClean="0">
                <a:latin typeface="Helvetica" pitchFamily="34" charset="0"/>
              </a:rPr>
              <a:t>purposes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rely on a warranty or </a:t>
            </a:r>
            <a:r>
              <a:rPr lang="en-AU" sz="2200" smtClean="0">
                <a:latin typeface="Helvetica" pitchFamily="34" charset="0"/>
              </a:rPr>
              <a:t>guarantee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build a database of information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regarding faults and damage</a:t>
            </a: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descr="laptop_work.jpg"/>
          <p:cNvPicPr>
            <a:picLocks noChangeAspect="1"/>
          </p:cNvPicPr>
          <p:nvPr/>
        </p:nvPicPr>
        <p:blipFill>
          <a:blip r:embed="rId3" cstate="print"/>
          <a:stretch>
            <a:fillRect/>
          </a:stretch>
        </p:blipFill>
        <p:spPr>
          <a:xfrm>
            <a:off x="6228184" y="3835633"/>
            <a:ext cx="2133011" cy="1393567"/>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864096"/>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360000" indent="-360000">
              <a:spcBef>
                <a:spcPts val="600"/>
              </a:spcBef>
              <a:spcAft>
                <a:spcPts val="1200"/>
              </a:spcAft>
            </a:pPr>
            <a:r>
              <a:rPr lang="en-AU" sz="2200" smtClean="0">
                <a:latin typeface="Helvetica" pitchFamily="34" charset="0"/>
              </a:rPr>
              <a:t>To make reimbursement claims against </a:t>
            </a:r>
            <a:r>
              <a:rPr lang="en-AU" sz="2200" smtClean="0">
                <a:latin typeface="Helvetica" pitchFamily="34" charset="0"/>
              </a:rPr>
              <a:t>customers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obtain permission to take </a:t>
            </a:r>
            <a:r>
              <a:rPr lang="en-AU" sz="2200" smtClean="0">
                <a:latin typeface="Helvetica" pitchFamily="34" charset="0"/>
              </a:rPr>
              <a:t>action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comply with internal policies and </a:t>
            </a:r>
            <a:r>
              <a:rPr lang="en-AU" sz="2200" smtClean="0">
                <a:latin typeface="Helvetica" pitchFamily="34" charset="0"/>
              </a:rPr>
              <a:t>procedures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To share information </a:t>
            </a:r>
            <a:r>
              <a:rPr lang="en-AU" sz="2200" smtClean="0">
                <a:latin typeface="Helvetica" pitchFamily="34" charset="0"/>
              </a:rPr>
              <a:t>internally</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freeimage-4307310.jpg"/>
          <p:cNvPicPr>
            <a:picLocks noChangeAspect="1"/>
          </p:cNvPicPr>
          <p:nvPr/>
        </p:nvPicPr>
        <p:blipFill>
          <a:blip r:embed="rId3" cstate="print"/>
          <a:stretch>
            <a:fillRect/>
          </a:stretch>
        </p:blipFill>
        <p:spPr>
          <a:xfrm>
            <a:off x="6372200" y="3789040"/>
            <a:ext cx="2052184" cy="1407471"/>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smtClean="0">
                <a:latin typeface="Helvetica" pitchFamily="34" charset="0"/>
              </a:rPr>
              <a:t>In relation to reporting faulty or damaged </a:t>
            </a:r>
            <a:r>
              <a:rPr lang="en-AU" sz="2200" smtClean="0">
                <a:latin typeface="Helvetica" pitchFamily="34" charset="0"/>
              </a:rPr>
              <a:t>items: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Report </a:t>
            </a:r>
            <a:r>
              <a:rPr lang="en-AU" sz="2200" b="1" smtClean="0">
                <a:latin typeface="Helvetica" pitchFamily="34" charset="0"/>
              </a:rPr>
              <a:t>immediately</a:t>
            </a:r>
            <a:endParaRPr lang="en-AU" sz="2200" b="1" smtClean="0">
              <a:latin typeface="Helvetica" pitchFamily="34" charset="0"/>
            </a:endParaRPr>
          </a:p>
          <a:p>
            <a:pPr marL="360000" indent="-360000">
              <a:spcBef>
                <a:spcPts val="600"/>
              </a:spcBef>
              <a:spcAft>
                <a:spcPts val="1200"/>
              </a:spcAft>
            </a:pPr>
            <a:r>
              <a:rPr lang="en-AU" sz="2200" smtClean="0">
                <a:latin typeface="Helvetica" pitchFamily="34" charset="0"/>
              </a:rPr>
              <a:t>Report to appropriate </a:t>
            </a:r>
            <a:r>
              <a:rPr lang="en-AU" sz="2200" smtClean="0">
                <a:latin typeface="Helvetica" pitchFamily="34" charset="0"/>
              </a:rPr>
              <a:t>person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man on the phone.jpg"/>
          <p:cNvPicPr>
            <a:picLocks noChangeAspect="1"/>
          </p:cNvPicPr>
          <p:nvPr/>
        </p:nvPicPr>
        <p:blipFill>
          <a:blip r:embed="rId3" cstate="print"/>
          <a:stretch>
            <a:fillRect/>
          </a:stretch>
        </p:blipFill>
        <p:spPr>
          <a:xfrm>
            <a:off x="7092280" y="3284984"/>
            <a:ext cx="1295388" cy="1940793"/>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Reporting options:</a:t>
            </a:r>
          </a:p>
          <a:p>
            <a:pPr marL="360000" indent="-360000">
              <a:spcBef>
                <a:spcPts val="600"/>
              </a:spcBef>
              <a:spcAft>
                <a:spcPts val="1200"/>
              </a:spcAft>
            </a:pPr>
            <a:r>
              <a:rPr lang="en-AU" sz="2200" smtClean="0">
                <a:latin typeface="Helvetica" pitchFamily="34" charset="0"/>
              </a:rPr>
              <a:t>Two-way </a:t>
            </a:r>
            <a:r>
              <a:rPr lang="en-AU" sz="2200" smtClean="0">
                <a:latin typeface="Helvetica" pitchFamily="34" charset="0"/>
              </a:rPr>
              <a:t>radio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Internal </a:t>
            </a:r>
            <a:r>
              <a:rPr lang="en-AU" sz="2200" smtClean="0">
                <a:latin typeface="Helvetica" pitchFamily="34" charset="0"/>
              </a:rPr>
              <a:t>telephone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Cell </a:t>
            </a:r>
            <a:r>
              <a:rPr lang="en-AU" sz="2200" smtClean="0">
                <a:latin typeface="Helvetica" pitchFamily="34" charset="0"/>
              </a:rPr>
              <a:t>phone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Face-to-face </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Documentation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HumanResources.jpg"/>
          <p:cNvPicPr>
            <a:picLocks noChangeAspect="1"/>
          </p:cNvPicPr>
          <p:nvPr/>
        </p:nvPicPr>
        <p:blipFill>
          <a:blip r:embed="rId3" cstate="print"/>
          <a:stretch>
            <a:fillRect/>
          </a:stretch>
        </p:blipFill>
        <p:spPr>
          <a:xfrm>
            <a:off x="6588224" y="3501008"/>
            <a:ext cx="1745440" cy="1490859"/>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864096"/>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smtClean="0">
                <a:latin typeface="Helvetica" pitchFamily="34" charset="0"/>
              </a:rPr>
              <a:t>When </a:t>
            </a:r>
            <a:r>
              <a:rPr lang="en-AU" sz="2200" smtClean="0">
                <a:latin typeface="Helvetica" pitchFamily="34" charset="0"/>
              </a:rPr>
              <a:t>reporting: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Name and identify the precise </a:t>
            </a:r>
            <a:r>
              <a:rPr lang="en-AU" sz="2200" smtClean="0">
                <a:latin typeface="Helvetica" pitchFamily="34" charset="0"/>
              </a:rPr>
              <a:t>item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Describe </a:t>
            </a:r>
            <a:r>
              <a:rPr lang="en-AU" sz="2200" smtClean="0">
                <a:latin typeface="Helvetica" pitchFamily="34" charset="0"/>
              </a:rPr>
              <a:t>problem</a:t>
            </a:r>
            <a:r>
              <a:rPr lang="en-AU" sz="2200" smtClean="0">
                <a:latin typeface="Helvetica" pitchFamily="34" charset="0"/>
              </a:rPr>
              <a:t>, fault or </a:t>
            </a:r>
            <a:r>
              <a:rPr lang="en-AU" sz="2200" smtClean="0">
                <a:latin typeface="Helvetica" pitchFamily="34" charset="0"/>
              </a:rPr>
              <a:t>damage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State cause of </a:t>
            </a:r>
            <a:r>
              <a:rPr lang="en-AU" sz="2200" smtClean="0">
                <a:latin typeface="Helvetica" pitchFamily="34" charset="0"/>
              </a:rPr>
              <a:t>problem</a:t>
            </a:r>
            <a:r>
              <a:rPr lang="en-AU" sz="2200" smtClean="0">
                <a:latin typeface="Helvetica" pitchFamily="34" charset="0"/>
              </a:rPr>
              <a:t>, fault or </a:t>
            </a:r>
            <a:r>
              <a:rPr lang="en-AU" sz="2200" smtClean="0">
                <a:latin typeface="Helvetica" pitchFamily="34" charset="0"/>
              </a:rPr>
              <a:t>damage</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MP900399133.JPG"/>
          <p:cNvPicPr>
            <a:picLocks noChangeAspect="1"/>
          </p:cNvPicPr>
          <p:nvPr/>
        </p:nvPicPr>
        <p:blipFill>
          <a:blip r:embed="rId3" cstate="print"/>
          <a:stretch>
            <a:fillRect/>
          </a:stretch>
        </p:blipFill>
        <p:spPr>
          <a:xfrm>
            <a:off x="7092280" y="3140968"/>
            <a:ext cx="1332974" cy="2001416"/>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864096"/>
          </a:xfrm>
        </p:spPr>
        <p:txBody>
          <a:bodyPr>
            <a:normAutofit/>
          </a:bodyPr>
          <a:lstStyle/>
          <a:p>
            <a:r>
              <a:rPr lang="en-US" sz="3400" b="1" dirty="0" smtClean="0">
                <a:solidFill>
                  <a:srgbClr val="FF6600"/>
                </a:solidFill>
                <a:latin typeface="Helvetica" pitchFamily="34" charset="0"/>
              </a:rPr>
              <a:t>Report faulty or damaged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360000" indent="-360000">
              <a:spcBef>
                <a:spcPts val="600"/>
              </a:spcBef>
              <a:spcAft>
                <a:spcPts val="1200"/>
              </a:spcAft>
            </a:pPr>
            <a:r>
              <a:rPr lang="en-AU" sz="2200" smtClean="0">
                <a:latin typeface="Helvetica" pitchFamily="34" charset="0"/>
              </a:rPr>
              <a:t>Urgency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Action already taken to attempt </a:t>
            </a:r>
            <a:r>
              <a:rPr lang="en-AU" sz="2200" smtClean="0">
                <a:latin typeface="Helvetica" pitchFamily="34" charset="0"/>
              </a:rPr>
              <a:t>repairs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What has been done to maintain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Suggestions for </a:t>
            </a:r>
            <a:r>
              <a:rPr lang="en-AU" sz="2200" smtClean="0">
                <a:latin typeface="Helvetica" pitchFamily="34" charset="0"/>
              </a:rPr>
              <a:t>action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freeimage-8219403.jpg"/>
          <p:cNvPicPr>
            <a:picLocks noChangeAspect="1"/>
          </p:cNvPicPr>
          <p:nvPr/>
        </p:nvPicPr>
        <p:blipFill>
          <a:blip r:embed="rId3" cstate="print"/>
          <a:srcRect l="9003" r="14471" b="5468"/>
          <a:stretch>
            <a:fillRect/>
          </a:stretch>
        </p:blipFill>
        <p:spPr>
          <a:xfrm>
            <a:off x="7020272" y="2996952"/>
            <a:ext cx="1224136" cy="2016224"/>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Back-up will be needed if the problem cannot </a:t>
            </a:r>
            <a:r>
              <a:rPr lang="en-AU" sz="2200" smtClean="0">
                <a:latin typeface="Helvetica" pitchFamily="34" charset="0"/>
              </a:rPr>
              <a:t>be: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Fixed by you </a:t>
            </a:r>
            <a:r>
              <a:rPr lang="en-AU" sz="2200" smtClean="0">
                <a:latin typeface="Helvetica" pitchFamily="34" charset="0"/>
              </a:rPr>
              <a:t>on-the-spot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Fixed by another staff </a:t>
            </a:r>
            <a:r>
              <a:rPr lang="en-AU" sz="2200" smtClean="0">
                <a:latin typeface="Helvetica" pitchFamily="34" charset="0"/>
              </a:rPr>
              <a:t>member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Fixed by an external </a:t>
            </a:r>
            <a:r>
              <a:rPr lang="en-AU" sz="2200" smtClean="0">
                <a:latin typeface="Helvetica" pitchFamily="34" charset="0"/>
              </a:rPr>
              <a:t>provider</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MC900279892(1).WMF"/>
          <p:cNvPicPr>
            <a:picLocks noChangeAspect="1"/>
          </p:cNvPicPr>
          <p:nvPr/>
        </p:nvPicPr>
        <p:blipFill>
          <a:blip r:embed="rId3" cstate="print"/>
          <a:stretch>
            <a:fillRect/>
          </a:stretch>
        </p:blipFill>
        <p:spPr>
          <a:xfrm>
            <a:off x="6372200" y="3212976"/>
            <a:ext cx="1798625" cy="179771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Workplace </a:t>
            </a:r>
            <a:r>
              <a:rPr lang="en-AU" sz="2200" smtClean="0">
                <a:latin typeface="Helvetica" pitchFamily="34" charset="0"/>
              </a:rPr>
              <a:t>facts: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Most venues do not have back-up systems as they </a:t>
            </a:r>
            <a:r>
              <a:rPr lang="en-AU" sz="2200" smtClean="0">
                <a:latin typeface="Helvetica" pitchFamily="34" charset="0"/>
              </a:rPr>
              <a:t>are: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Too </a:t>
            </a:r>
            <a:r>
              <a:rPr lang="en-AU" sz="2200" smtClean="0">
                <a:latin typeface="Helvetica" pitchFamily="34" charset="0"/>
              </a:rPr>
              <a:t>expensive</a:t>
            </a:r>
            <a:endParaRPr lang="en-AU" sz="220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AU" sz="2200" smtClean="0">
                <a:latin typeface="Helvetica" pitchFamily="34" charset="0"/>
              </a:rPr>
              <a:t>Too </a:t>
            </a:r>
            <a:r>
              <a:rPr lang="en-AU" sz="2200" smtClean="0">
                <a:latin typeface="Helvetica" pitchFamily="34" charset="0"/>
              </a:rPr>
              <a:t>complex</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Venues tend to have replacement </a:t>
            </a:r>
            <a:r>
              <a:rPr lang="en-AU" sz="2200" smtClean="0">
                <a:latin typeface="Helvetica" pitchFamily="34" charset="0"/>
              </a:rPr>
              <a:t>parts</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MC900368366.WMF"/>
          <p:cNvPicPr>
            <a:picLocks noChangeAspect="1"/>
          </p:cNvPicPr>
          <p:nvPr/>
        </p:nvPicPr>
        <p:blipFill>
          <a:blip r:embed="rId3" cstate="print"/>
          <a:stretch>
            <a:fillRect/>
          </a:stretch>
        </p:blipFill>
        <p:spPr>
          <a:xfrm>
            <a:off x="7092280" y="3861048"/>
            <a:ext cx="1161526" cy="111457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AU" sz="2200" smtClean="0">
                <a:latin typeface="Helvetica" pitchFamily="34" charset="0"/>
              </a:rPr>
              <a:t>‘Systems</a:t>
            </a:r>
            <a:r>
              <a:rPr lang="en-AU" sz="2200" smtClean="0">
                <a:latin typeface="Helvetica" pitchFamily="34" charset="0"/>
              </a:rPr>
              <a:t>’ can refer </a:t>
            </a:r>
            <a:r>
              <a:rPr lang="en-AU" sz="2200" smtClean="0">
                <a:latin typeface="Helvetica" pitchFamily="34" charset="0"/>
              </a:rPr>
              <a:t>to:</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Large </a:t>
            </a:r>
            <a:r>
              <a:rPr lang="en-AU" sz="2200" smtClean="0">
                <a:latin typeface="Helvetica" pitchFamily="34" charset="0"/>
              </a:rPr>
              <a:t>items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Fire </a:t>
            </a:r>
            <a:r>
              <a:rPr lang="en-AU" sz="2200" smtClean="0">
                <a:latin typeface="Helvetica" pitchFamily="34" charset="0"/>
              </a:rPr>
              <a:t>monitoring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Intruder</a:t>
            </a:r>
            <a:r>
              <a:rPr lang="en-AU" sz="2200" smtClean="0">
                <a:latin typeface="Helvetica" pitchFamily="34" charset="0"/>
              </a:rPr>
              <a:t>, intrusion </a:t>
            </a:r>
            <a:r>
              <a:rPr lang="en-AU" sz="2200" smtClean="0">
                <a:latin typeface="Helvetica" pitchFamily="34" charset="0"/>
              </a:rPr>
              <a:t>detection</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Email logo 2.jpg"/>
          <p:cNvPicPr>
            <a:picLocks noChangeAspect="1"/>
          </p:cNvPicPr>
          <p:nvPr/>
        </p:nvPicPr>
        <p:blipFill>
          <a:blip r:embed="rId3" cstate="print"/>
          <a:stretch>
            <a:fillRect/>
          </a:stretch>
        </p:blipFill>
        <p:spPr>
          <a:xfrm>
            <a:off x="6876256" y="3573016"/>
            <a:ext cx="1556792" cy="1556792"/>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smtClean="0">
                <a:latin typeface="Helvetica" pitchFamily="34" charset="0"/>
              </a:rPr>
              <a:t>Practical responses to faulty or damaged </a:t>
            </a:r>
            <a:r>
              <a:rPr lang="en-AU" sz="2200" smtClean="0">
                <a:latin typeface="Helvetica" pitchFamily="34" charset="0"/>
              </a:rPr>
              <a:t>systems: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Realize the cause could be an intentional </a:t>
            </a:r>
            <a:r>
              <a:rPr lang="en-AU" sz="2200" smtClean="0">
                <a:latin typeface="Helvetica" pitchFamily="34" charset="0"/>
              </a:rPr>
              <a:t>act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Run systems diagnostic </a:t>
            </a:r>
            <a:r>
              <a:rPr lang="en-AU" sz="2200" smtClean="0">
                <a:latin typeface="Helvetica" pitchFamily="34" charset="0"/>
              </a:rPr>
              <a:t>check</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Contact manufacturer or </a:t>
            </a:r>
            <a:r>
              <a:rPr lang="en-AU" sz="2200" smtClean="0">
                <a:latin typeface="Helvetica" pitchFamily="34" charset="0"/>
              </a:rPr>
              <a:t>provider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Contact remote control </a:t>
            </a:r>
            <a:r>
              <a:rPr lang="en-AU" sz="2200" smtClean="0">
                <a:latin typeface="Helvetica" pitchFamily="34" charset="0"/>
              </a:rPr>
              <a:t>rooms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MP900409634.JPG"/>
          <p:cNvPicPr>
            <a:picLocks noChangeAspect="1"/>
          </p:cNvPicPr>
          <p:nvPr/>
        </p:nvPicPr>
        <p:blipFill>
          <a:blip r:embed="rId3" cstate="print"/>
          <a:stretch>
            <a:fillRect/>
          </a:stretch>
        </p:blipFill>
        <p:spPr>
          <a:xfrm>
            <a:off x="7092280" y="3284984"/>
            <a:ext cx="1322656" cy="1988840"/>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AU" sz="2200" smtClean="0">
                <a:latin typeface="Helvetica" pitchFamily="34" charset="0"/>
              </a:rPr>
              <a:t>Contact your external security </a:t>
            </a:r>
            <a:r>
              <a:rPr lang="en-AU" sz="2200" smtClean="0">
                <a:latin typeface="Helvetica" pitchFamily="34" charset="0"/>
              </a:rPr>
              <a:t>provider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Contact </a:t>
            </a:r>
            <a:r>
              <a:rPr lang="en-AU" sz="2200" smtClean="0">
                <a:latin typeface="Helvetica" pitchFamily="34" charset="0"/>
              </a:rPr>
              <a:t>authorities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Initiate alternative or supplementary security to maintain original level of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1208426_woman_using_computer.jpg"/>
          <p:cNvPicPr>
            <a:picLocks noChangeAspect="1"/>
          </p:cNvPicPr>
          <p:nvPr/>
        </p:nvPicPr>
        <p:blipFill>
          <a:blip r:embed="rId3" cstate="print"/>
          <a:stretch>
            <a:fillRect/>
          </a:stretch>
        </p:blipFill>
        <p:spPr>
          <a:xfrm>
            <a:off x="6300192" y="3861048"/>
            <a:ext cx="2065412" cy="1370057"/>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Arrange 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Additional requirements:</a:t>
            </a:r>
          </a:p>
          <a:p>
            <a:pPr marL="360000" indent="-360000">
              <a:spcBef>
                <a:spcPts val="600"/>
              </a:spcBef>
              <a:spcAft>
                <a:spcPts val="1200"/>
              </a:spcAft>
            </a:pPr>
            <a:r>
              <a:rPr lang="en-AU" sz="2200" smtClean="0">
                <a:latin typeface="Helvetica" pitchFamily="34" charset="0"/>
              </a:rPr>
              <a:t>Respond </a:t>
            </a:r>
            <a:r>
              <a:rPr lang="en-AU" sz="2200" smtClean="0">
                <a:latin typeface="Helvetica" pitchFamily="34" charset="0"/>
              </a:rPr>
              <a:t>quickly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Stay within scope of </a:t>
            </a:r>
            <a:r>
              <a:rPr lang="en-AU" sz="2200" smtClean="0">
                <a:latin typeface="Helvetica" pitchFamily="34" charset="0"/>
              </a:rPr>
              <a:t>authority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Notify </a:t>
            </a:r>
            <a:r>
              <a:rPr lang="en-AU" sz="2200" smtClean="0">
                <a:latin typeface="Helvetica" pitchFamily="34" charset="0"/>
              </a:rPr>
              <a:t>others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Amend normal </a:t>
            </a:r>
            <a:r>
              <a:rPr lang="en-AU" sz="2200" smtClean="0">
                <a:latin typeface="Helvetica" pitchFamily="34" charset="0"/>
              </a:rPr>
              <a:t>activities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Record the </a:t>
            </a:r>
            <a:r>
              <a:rPr lang="en-AU" sz="2200" smtClean="0">
                <a:latin typeface="Helvetica" pitchFamily="34" charset="0"/>
              </a:rPr>
              <a:t>situation</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Participate in </a:t>
            </a:r>
            <a:r>
              <a:rPr lang="en-AU" sz="2200" smtClean="0">
                <a:latin typeface="Helvetica" pitchFamily="34" charset="0"/>
              </a:rPr>
              <a:t>de-brief</a:t>
            </a: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MP900427762.JPG"/>
          <p:cNvPicPr>
            <a:picLocks noChangeAspect="1"/>
          </p:cNvPicPr>
          <p:nvPr/>
        </p:nvPicPr>
        <p:blipFill>
          <a:blip r:embed="rId3" cstate="print"/>
          <a:stretch>
            <a:fillRect/>
          </a:stretch>
        </p:blipFill>
        <p:spPr>
          <a:xfrm>
            <a:off x="6372200" y="3645024"/>
            <a:ext cx="2025570" cy="1485946"/>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In relation to internal records and reports:</a:t>
            </a:r>
          </a:p>
          <a:p>
            <a:pPr marL="360000" indent="-360000">
              <a:spcBef>
                <a:spcPts val="600"/>
              </a:spcBef>
              <a:spcAft>
                <a:spcPts val="1200"/>
              </a:spcAft>
            </a:pPr>
            <a:r>
              <a:rPr lang="en-AU" sz="2200" smtClean="0">
                <a:latin typeface="Helvetica" pitchFamily="34" charset="0"/>
              </a:rPr>
              <a:t>They vary between </a:t>
            </a:r>
            <a:r>
              <a:rPr lang="en-AU" sz="2200" smtClean="0">
                <a:latin typeface="Helvetica" pitchFamily="34" charset="0"/>
              </a:rPr>
              <a:t>venues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Must be competed in a timely </a:t>
            </a:r>
            <a:r>
              <a:rPr lang="en-AU" sz="2200" smtClean="0">
                <a:latin typeface="Helvetica" pitchFamily="34" charset="0"/>
              </a:rPr>
              <a:t>manner</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They need to be </a:t>
            </a:r>
            <a:r>
              <a:rPr lang="en-AU" sz="2200" smtClean="0">
                <a:latin typeface="Helvetica" pitchFamily="34" charset="0"/>
              </a:rPr>
              <a:t>‘forwarded’</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Accuracy is </a:t>
            </a:r>
            <a:r>
              <a:rPr lang="en-AU" sz="2200" smtClean="0">
                <a:latin typeface="Helvetica" pitchFamily="34" charset="0"/>
              </a:rPr>
              <a:t>vital</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Doc Checking.jpg"/>
          <p:cNvPicPr>
            <a:picLocks noChangeAspect="1"/>
          </p:cNvPicPr>
          <p:nvPr/>
        </p:nvPicPr>
        <p:blipFill>
          <a:blip r:embed="rId3" cstate="print"/>
          <a:stretch>
            <a:fillRect/>
          </a:stretch>
        </p:blipFill>
        <p:spPr>
          <a:xfrm>
            <a:off x="7164288" y="3140968"/>
            <a:ext cx="1064558" cy="1943976"/>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Obtain training in how to complete </a:t>
            </a:r>
            <a:r>
              <a:rPr lang="en-AU" sz="2200" smtClean="0">
                <a:latin typeface="Helvetica" pitchFamily="34" charset="0"/>
              </a:rPr>
              <a:t>them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Look at the records and reports of </a:t>
            </a:r>
            <a:r>
              <a:rPr lang="en-AU" sz="2200" smtClean="0">
                <a:latin typeface="Helvetica" pitchFamily="34" charset="0"/>
              </a:rPr>
              <a:t>others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Keep a </a:t>
            </a:r>
            <a:r>
              <a:rPr lang="en-AU" sz="2200" smtClean="0">
                <a:latin typeface="Helvetica" pitchFamily="34" charset="0"/>
              </a:rPr>
              <a:t>copy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Seek help and advice when </a:t>
            </a:r>
            <a:r>
              <a:rPr lang="en-AU" sz="2200" smtClean="0">
                <a:latin typeface="Helvetica" pitchFamily="34" charset="0"/>
              </a:rPr>
              <a:t>unsure</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Documents may be electronic or </a:t>
            </a:r>
            <a:r>
              <a:rPr lang="en-AU" sz="2200" smtClean="0">
                <a:latin typeface="Helvetica" pitchFamily="34" charset="0"/>
              </a:rPr>
              <a:t/>
            </a:r>
            <a:br>
              <a:rPr lang="en-AU" sz="2200" smtClean="0">
                <a:latin typeface="Helvetica" pitchFamily="34" charset="0"/>
              </a:rPr>
            </a:br>
            <a:r>
              <a:rPr lang="en-AU" sz="2200" smtClean="0">
                <a:latin typeface="Helvetica" pitchFamily="34" charset="0"/>
              </a:rPr>
              <a:t>paper-based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descr="iStock_000002829159Medium.jpg"/>
          <p:cNvPicPr>
            <a:picLocks noChangeAspect="1"/>
          </p:cNvPicPr>
          <p:nvPr/>
        </p:nvPicPr>
        <p:blipFill>
          <a:blip r:embed="rId3" cstate="print"/>
          <a:stretch>
            <a:fillRect/>
          </a:stretch>
        </p:blipFill>
        <p:spPr>
          <a:xfrm>
            <a:off x="6948264" y="2996952"/>
            <a:ext cx="1146163" cy="1902271"/>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AU" sz="2200" smtClean="0">
                <a:latin typeface="Helvetica" pitchFamily="34" charset="0"/>
              </a:rPr>
              <a:t>Records and reports may include:</a:t>
            </a:r>
          </a:p>
          <a:p>
            <a:pPr marL="360000" indent="-360000">
              <a:spcBef>
                <a:spcPts val="600"/>
              </a:spcBef>
              <a:spcAft>
                <a:spcPts val="1200"/>
              </a:spcAft>
            </a:pPr>
            <a:r>
              <a:rPr lang="en-AU" sz="2200" smtClean="0">
                <a:latin typeface="Helvetica" pitchFamily="34" charset="0"/>
              </a:rPr>
              <a:t>Communication </a:t>
            </a:r>
            <a:r>
              <a:rPr lang="en-AU" sz="2200" smtClean="0">
                <a:latin typeface="Helvetica" pitchFamily="34" charset="0"/>
              </a:rPr>
              <a:t>book</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Maintenance Request </a:t>
            </a:r>
            <a:r>
              <a:rPr lang="en-AU" sz="2200" smtClean="0">
                <a:latin typeface="Helvetica" pitchFamily="34" charset="0"/>
              </a:rPr>
              <a:t>form</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Maintenance </a:t>
            </a:r>
            <a:r>
              <a:rPr lang="en-AU" sz="2200" smtClean="0">
                <a:latin typeface="Helvetica" pitchFamily="34" charset="0"/>
              </a:rPr>
              <a:t>report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Time </a:t>
            </a:r>
            <a:r>
              <a:rPr lang="en-AU" sz="2200" smtClean="0">
                <a:latin typeface="Helvetica" pitchFamily="34" charset="0"/>
              </a:rPr>
              <a:t>sheet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Task </a:t>
            </a:r>
            <a:r>
              <a:rPr lang="en-AU" sz="2200" smtClean="0">
                <a:latin typeface="Helvetica" pitchFamily="34" charset="0"/>
              </a:rPr>
              <a:t>assignment</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iStock_000002829159Medium.jpg"/>
          <p:cNvPicPr>
            <a:picLocks noChangeAspect="1"/>
          </p:cNvPicPr>
          <p:nvPr/>
        </p:nvPicPr>
        <p:blipFill>
          <a:blip r:embed="rId3" cstate="print"/>
          <a:stretch>
            <a:fillRect/>
          </a:stretch>
        </p:blipFill>
        <p:spPr>
          <a:xfrm>
            <a:off x="6372200" y="3140968"/>
            <a:ext cx="1892684" cy="1902271"/>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Job </a:t>
            </a:r>
            <a:r>
              <a:rPr lang="en-AU" sz="2200" smtClean="0">
                <a:latin typeface="Helvetica" pitchFamily="34" charset="0"/>
              </a:rPr>
              <a:t>cards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Patrol </a:t>
            </a:r>
            <a:r>
              <a:rPr lang="en-AU" sz="2200" smtClean="0">
                <a:latin typeface="Helvetica" pitchFamily="34" charset="0"/>
              </a:rPr>
              <a:t>reports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Suspicious person </a:t>
            </a:r>
            <a:r>
              <a:rPr lang="en-AU" sz="2200" smtClean="0">
                <a:latin typeface="Helvetica" pitchFamily="34" charset="0"/>
              </a:rPr>
              <a:t>report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Incident </a:t>
            </a:r>
            <a:r>
              <a:rPr lang="en-AU" sz="2200" smtClean="0">
                <a:latin typeface="Helvetica" pitchFamily="34" charset="0"/>
              </a:rPr>
              <a:t>report</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CCTV surveillance </a:t>
            </a:r>
            <a:r>
              <a:rPr lang="en-AU" sz="2200" smtClean="0">
                <a:latin typeface="Helvetica" pitchFamily="34" charset="0"/>
              </a:rPr>
              <a:t>records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MP900405072.JPG"/>
          <p:cNvPicPr>
            <a:picLocks noChangeAspect="1"/>
          </p:cNvPicPr>
          <p:nvPr/>
        </p:nvPicPr>
        <p:blipFill>
          <a:blip r:embed="rId3" cstate="print"/>
          <a:stretch>
            <a:fillRect/>
          </a:stretch>
        </p:blipFill>
        <p:spPr>
          <a:xfrm>
            <a:off x="6588224" y="3284984"/>
            <a:ext cx="1709936" cy="1709936"/>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20080"/>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smtClean="0">
                <a:latin typeface="Helvetica" pitchFamily="34" charset="0"/>
              </a:rPr>
              <a:t>Alarm </a:t>
            </a:r>
            <a:r>
              <a:rPr lang="en-AU" sz="2200" smtClean="0">
                <a:latin typeface="Helvetica" pitchFamily="34" charset="0"/>
              </a:rPr>
              <a:t>reports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Response </a:t>
            </a:r>
            <a:r>
              <a:rPr lang="en-AU" sz="2200" smtClean="0">
                <a:latin typeface="Helvetica" pitchFamily="34" charset="0"/>
              </a:rPr>
              <a:t>reports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Equipment faults </a:t>
            </a:r>
            <a:r>
              <a:rPr lang="en-AU" sz="2200" smtClean="0">
                <a:latin typeface="Helvetica" pitchFamily="34" charset="0"/>
              </a:rPr>
              <a:t>log</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Testing and inspection </a:t>
            </a:r>
            <a:r>
              <a:rPr lang="en-AU" sz="2200" smtClean="0">
                <a:latin typeface="Helvetica" pitchFamily="34" charset="0"/>
              </a:rPr>
              <a:t>records</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Witness </a:t>
            </a:r>
            <a:r>
              <a:rPr lang="en-AU" sz="2200" smtClean="0">
                <a:latin typeface="Helvetica" pitchFamily="34" charset="0"/>
              </a:rPr>
              <a:t>statements</a:t>
            </a:r>
            <a:endParaRPr lang="en-AU" sz="2200" smtClean="0">
              <a:latin typeface="Helvetica" pitchFamily="34" charset="0"/>
            </a:endParaRPr>
          </a:p>
          <a:p>
            <a:pPr marL="360000" indent="-360000">
              <a:spcBef>
                <a:spcPts val="600"/>
              </a:spcBef>
              <a:spcAft>
                <a:spcPts val="1200"/>
              </a:spcAft>
              <a:buNone/>
            </a:pPr>
            <a:r>
              <a:rPr lang="en-AU" sz="2200" i="1" smtClean="0">
                <a:latin typeface="Helvetica" pitchFamily="34" charset="0"/>
              </a:rPr>
              <a:t>(Continued)</a:t>
            </a:r>
            <a:endParaRPr lang="en-AU" sz="2200" i="1"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Filing.jpg"/>
          <p:cNvPicPr>
            <a:picLocks noChangeAspect="1"/>
          </p:cNvPicPr>
          <p:nvPr/>
        </p:nvPicPr>
        <p:blipFill>
          <a:blip r:embed="rId3" cstate="print"/>
          <a:srcRect l="12158" r="10839" b="10581"/>
          <a:stretch>
            <a:fillRect/>
          </a:stretch>
        </p:blipFill>
        <p:spPr>
          <a:xfrm>
            <a:off x="6876256" y="3429000"/>
            <a:ext cx="1368152" cy="1584176"/>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792088"/>
          </a:xfrm>
        </p:spPr>
        <p:txBody>
          <a:bodyPr>
            <a:normAutofit fontScale="90000"/>
          </a:bodyPr>
          <a:lstStyle/>
          <a:p>
            <a:r>
              <a:rPr lang="en-US" sz="3400" b="1" dirty="0" smtClean="0">
                <a:solidFill>
                  <a:srgbClr val="FF6600"/>
                </a:solidFill>
                <a:latin typeface="Helvetica" pitchFamily="34" charset="0"/>
              </a:rPr>
              <a:t>Complete internal records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AU" sz="2200" smtClean="0">
                <a:latin typeface="Helvetica" pitchFamily="34" charset="0"/>
              </a:rPr>
              <a:t>Recommendations for action relating to any aspect of </a:t>
            </a:r>
            <a:r>
              <a:rPr lang="en-AU" sz="2200" smtClean="0">
                <a:latin typeface="Helvetica" pitchFamily="34" charset="0"/>
              </a:rPr>
              <a:t>security</a:t>
            </a:r>
            <a:endParaRPr lang="en-AU" sz="2200" smtClean="0">
              <a:latin typeface="Helvetica" pitchFamily="34" charset="0"/>
            </a:endParaRPr>
          </a:p>
          <a:p>
            <a:pPr marL="360000" indent="-360000">
              <a:spcBef>
                <a:spcPts val="600"/>
              </a:spcBef>
              <a:spcAft>
                <a:spcPts val="1200"/>
              </a:spcAft>
            </a:pPr>
            <a:r>
              <a:rPr lang="en-AU" sz="2200" smtClean="0">
                <a:latin typeface="Helvetica" pitchFamily="34" charset="0"/>
              </a:rPr>
              <a:t>Training request </a:t>
            </a:r>
            <a:r>
              <a:rPr lang="en-AU" sz="2200" smtClean="0">
                <a:latin typeface="Helvetica" pitchFamily="34" charset="0"/>
              </a:rPr>
              <a:t>form</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21816_training.jpg"/>
          <p:cNvPicPr>
            <a:picLocks noChangeAspect="1"/>
          </p:cNvPicPr>
          <p:nvPr/>
        </p:nvPicPr>
        <p:blipFill>
          <a:blip r:embed="rId3" cstate="print"/>
          <a:stretch>
            <a:fillRect/>
          </a:stretch>
        </p:blipFill>
        <p:spPr>
          <a:xfrm>
            <a:off x="6588224" y="3787120"/>
            <a:ext cx="1817079" cy="1356752"/>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72608"/>
          </a:xfrm>
        </p:spPr>
        <p:txBody>
          <a:bodyPr>
            <a:normAutofit lnSpcReduction="10000"/>
          </a:bodyPr>
          <a:lstStyle/>
          <a:p>
            <a:pPr marL="0" indent="0">
              <a:spcBef>
                <a:spcPts val="600"/>
              </a:spcBef>
              <a:spcAft>
                <a:spcPts val="1200"/>
              </a:spcAft>
              <a:buNone/>
            </a:pPr>
            <a:r>
              <a:rPr lang="en-AU" sz="2200" smtClean="0">
                <a:latin typeface="Helvetica" pitchFamily="34" charset="0"/>
              </a:rPr>
              <a:t>When maintaining security equipment and resources:</a:t>
            </a:r>
          </a:p>
          <a:p>
            <a:pPr>
              <a:spcBef>
                <a:spcPts val="600"/>
              </a:spcBef>
              <a:spcAft>
                <a:spcPts val="1200"/>
              </a:spcAft>
            </a:pPr>
            <a:r>
              <a:rPr lang="en-AU" sz="2200" smtClean="0">
                <a:latin typeface="Helvetica" pitchFamily="34" charset="0"/>
              </a:rPr>
              <a:t>Follow </a:t>
            </a:r>
            <a:r>
              <a:rPr lang="en-AU" sz="2200" smtClean="0">
                <a:latin typeface="Helvetica" pitchFamily="34" charset="0"/>
              </a:rPr>
              <a:t>manufacturer’s instructions</a:t>
            </a:r>
          </a:p>
          <a:p>
            <a:pPr>
              <a:spcBef>
                <a:spcPts val="600"/>
              </a:spcBef>
              <a:spcAft>
                <a:spcPts val="1200"/>
              </a:spcAft>
            </a:pPr>
            <a:r>
              <a:rPr lang="en-AU" sz="2200" smtClean="0">
                <a:latin typeface="Helvetica" pitchFamily="34" charset="0"/>
              </a:rPr>
              <a:t>Adhere to maintenance schedules</a:t>
            </a:r>
          </a:p>
          <a:p>
            <a:pPr>
              <a:spcBef>
                <a:spcPts val="600"/>
              </a:spcBef>
              <a:spcAft>
                <a:spcPts val="1200"/>
              </a:spcAft>
            </a:pPr>
            <a:r>
              <a:rPr lang="en-AU" sz="2200" smtClean="0">
                <a:latin typeface="Helvetica" pitchFamily="34" charset="0"/>
              </a:rPr>
              <a:t>Stay within your designated scope of authority</a:t>
            </a:r>
          </a:p>
          <a:p>
            <a:pPr>
              <a:spcBef>
                <a:spcPts val="600"/>
              </a:spcBef>
              <a:spcAft>
                <a:spcPts val="1200"/>
              </a:spcAft>
            </a:pPr>
            <a:r>
              <a:rPr lang="en-AU" sz="2200" smtClean="0">
                <a:latin typeface="Helvetica" pitchFamily="34" charset="0"/>
              </a:rPr>
              <a:t>Arrange alternate, substitute or back-up actions </a:t>
            </a:r>
            <a:br>
              <a:rPr lang="en-AU" sz="2200" smtClean="0">
                <a:latin typeface="Helvetica" pitchFamily="34" charset="0"/>
              </a:rPr>
            </a:br>
            <a:r>
              <a:rPr lang="en-AU" sz="2200" smtClean="0">
                <a:latin typeface="Helvetica" pitchFamily="34" charset="0"/>
              </a:rPr>
              <a:t>or plans where items cannot be repaired or </a:t>
            </a:r>
            <a:br>
              <a:rPr lang="en-AU" sz="2200" smtClean="0">
                <a:latin typeface="Helvetica" pitchFamily="34" charset="0"/>
              </a:rPr>
            </a:br>
            <a:r>
              <a:rPr lang="en-AU" sz="2200" smtClean="0">
                <a:latin typeface="Helvetica" pitchFamily="34" charset="0"/>
              </a:rPr>
              <a:t>returned to full operational status</a:t>
            </a:r>
          </a:p>
          <a:p>
            <a:pPr>
              <a:spcBef>
                <a:spcPts val="600"/>
              </a:spcBef>
              <a:spcAft>
                <a:spcPts val="1200"/>
              </a:spcAft>
            </a:pPr>
            <a:r>
              <a:rPr lang="en-AU" sz="2200" smtClean="0">
                <a:latin typeface="Helvetica" pitchFamily="34" charset="0"/>
              </a:rPr>
              <a:t>Conduct preventative maintenance as required</a:t>
            </a:r>
          </a:p>
          <a:p>
            <a:pPr>
              <a:spcBef>
                <a:spcPts val="600"/>
              </a:spcBef>
              <a:spcAft>
                <a:spcPts val="1200"/>
              </a:spcAft>
            </a:pPr>
            <a:r>
              <a:rPr lang="en-AU" sz="2200" smtClean="0">
                <a:latin typeface="Helvetica" pitchFamily="34" charset="0"/>
              </a:rPr>
              <a:t>Inform nominated external sources </a:t>
            </a:r>
            <a:br>
              <a:rPr lang="en-AU" sz="2200" smtClean="0">
                <a:latin typeface="Helvetica" pitchFamily="34" charset="0"/>
              </a:rPr>
            </a:br>
            <a:r>
              <a:rPr lang="en-AU" sz="2200" smtClean="0">
                <a:latin typeface="Helvetica" pitchFamily="34" charset="0"/>
              </a:rPr>
              <a:t>when a problem occurs</a:t>
            </a:r>
          </a:p>
          <a:p>
            <a:pPr marL="360000" indent="-360000">
              <a:spcBef>
                <a:spcPts val="600"/>
              </a:spcBef>
              <a:spcAft>
                <a:spcPts val="1200"/>
              </a:spcAft>
              <a:buNone/>
            </a:pPr>
            <a:r>
              <a:rPr lang="en-AU" sz="2200" i="1" smtClean="0">
                <a:latin typeface="Helvetica" pitchFamily="34" charset="0"/>
              </a:rPr>
              <a:t>(Continued)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876256" y="3573016"/>
            <a:ext cx="1463195" cy="1540768"/>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040560"/>
          </a:xfrm>
        </p:spPr>
        <p:txBody>
          <a:bodyPr>
            <a:normAutofit/>
          </a:bodyPr>
          <a:lstStyle/>
          <a:p>
            <a:pPr>
              <a:spcBef>
                <a:spcPts val="800"/>
              </a:spcBef>
              <a:spcAft>
                <a:spcPts val="1200"/>
              </a:spcAft>
            </a:pPr>
            <a:r>
              <a:rPr lang="en-AU" sz="2200" smtClean="0">
                <a:latin typeface="Helvetica" pitchFamily="34" charset="0"/>
              </a:rPr>
              <a:t>Realise </a:t>
            </a:r>
            <a:r>
              <a:rPr lang="en-AU" sz="2200" smtClean="0">
                <a:latin typeface="Helvetica" pitchFamily="34" charset="0"/>
              </a:rPr>
              <a:t>cleaning is a primary maintenance activity for equipment and items</a:t>
            </a:r>
          </a:p>
          <a:p>
            <a:pPr>
              <a:spcBef>
                <a:spcPts val="800"/>
              </a:spcBef>
              <a:spcAft>
                <a:spcPts val="1200"/>
              </a:spcAft>
            </a:pPr>
            <a:r>
              <a:rPr lang="en-AU" sz="2200" smtClean="0">
                <a:latin typeface="Helvetica" pitchFamily="34" charset="0"/>
              </a:rPr>
              <a:t>Report and or refer any situations you cannot fix</a:t>
            </a:r>
          </a:p>
          <a:p>
            <a:pPr>
              <a:spcBef>
                <a:spcPts val="800"/>
              </a:spcBef>
              <a:spcAft>
                <a:spcPts val="1200"/>
              </a:spcAft>
            </a:pPr>
            <a:r>
              <a:rPr lang="en-AU" sz="2200" smtClean="0">
                <a:latin typeface="Helvetica" pitchFamily="34" charset="0"/>
              </a:rPr>
              <a:t>Learn the SOP back-up protocols and plans where security equipment and systems are compromised</a:t>
            </a:r>
          </a:p>
          <a:p>
            <a:pPr>
              <a:spcBef>
                <a:spcPts val="800"/>
              </a:spcBef>
              <a:spcAft>
                <a:spcPts val="1200"/>
              </a:spcAft>
            </a:pPr>
            <a:r>
              <a:rPr lang="en-AU" sz="2200" smtClean="0">
                <a:latin typeface="Helvetica" pitchFamily="34" charset="0"/>
              </a:rPr>
              <a:t>Adjust standard security arrangements to </a:t>
            </a:r>
            <a:br>
              <a:rPr lang="en-AU" sz="2200" smtClean="0">
                <a:latin typeface="Helvetica" pitchFamily="34" charset="0"/>
              </a:rPr>
            </a:br>
            <a:r>
              <a:rPr lang="en-AU" sz="2200" smtClean="0">
                <a:latin typeface="Helvetica" pitchFamily="34" charset="0"/>
              </a:rPr>
              <a:t>respond effectively to identified faults and </a:t>
            </a:r>
            <a:br>
              <a:rPr lang="en-AU" sz="2200" smtClean="0">
                <a:latin typeface="Helvetica" pitchFamily="34" charset="0"/>
              </a:rPr>
            </a:br>
            <a:r>
              <a:rPr lang="en-AU" sz="2200" smtClean="0">
                <a:latin typeface="Helvetica" pitchFamily="34" charset="0"/>
              </a:rPr>
              <a:t>damage to security equipment</a:t>
            </a:r>
          </a:p>
          <a:p>
            <a:pPr>
              <a:spcBef>
                <a:spcPts val="800"/>
              </a:spcBef>
              <a:spcAft>
                <a:spcPts val="1200"/>
              </a:spcAft>
            </a:pPr>
            <a:r>
              <a:rPr lang="en-AU" sz="2200" smtClean="0">
                <a:latin typeface="Helvetica" pitchFamily="34" charset="0"/>
              </a:rPr>
              <a:t>Complete internal records and reports </a:t>
            </a:r>
            <a:r>
              <a:rPr lang="en-AU" sz="2200" smtClean="0">
                <a:latin typeface="Helvetica" pitchFamily="34" charset="0"/>
              </a:rPr>
              <a:t>as </a:t>
            </a:r>
            <a:r>
              <a:rPr lang="en-AU" sz="2200" smtClean="0">
                <a:latin typeface="Helvetica" pitchFamily="34" charset="0"/>
              </a:rPr>
              <a:t>require</a:t>
            </a: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876256" y="3501008"/>
            <a:ext cx="1463195" cy="154076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6458</TotalTime>
  <Words>17295</Words>
  <Application>Microsoft Office PowerPoint</Application>
  <PresentationFormat>On-screen Show (4:3)</PresentationFormat>
  <Paragraphs>2072</Paragraphs>
  <Slides>108</Slides>
  <Notes>108</Notes>
  <HiddenSlides>0</HiddenSlides>
  <MMClips>0</MMClips>
  <ScaleCrop>false</ScaleCrop>
  <HeadingPairs>
    <vt:vector size="4" baseType="variant">
      <vt:variant>
        <vt:lpstr>Theme</vt:lpstr>
      </vt:variant>
      <vt:variant>
        <vt:i4>1</vt:i4>
      </vt:variant>
      <vt:variant>
        <vt:lpstr>Slide Titles</vt:lpstr>
      </vt:variant>
      <vt:variant>
        <vt:i4>108</vt:i4>
      </vt:variant>
    </vt:vector>
  </HeadingPairs>
  <TitlesOfParts>
    <vt:vector size="109" baseType="lpstr">
      <vt:lpstr>PPT_FO_template_250612</vt:lpstr>
      <vt:lpstr>OPERATE BASIC SECURITY EQUIPMENT</vt:lpstr>
      <vt:lpstr>Operate basic security equipment</vt:lpstr>
      <vt:lpstr>Assessment</vt:lpstr>
      <vt:lpstr>Operate basic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Identify and access security equipment</vt:lpstr>
      <vt:lpstr>Perform pre-operational checks</vt:lpstr>
      <vt:lpstr>Perform pre-operational checks</vt:lpstr>
      <vt:lpstr>Perform pre-operational checks</vt:lpstr>
      <vt:lpstr>Perform pre-operational checks</vt:lpstr>
      <vt:lpstr>Perform pre-operational checks</vt:lpstr>
      <vt:lpstr>Perform pre-operational checks</vt:lpstr>
      <vt:lpstr>Identify, rectify or replace faulty and damaged equipment</vt:lpstr>
      <vt:lpstr>Identify, rectify or replace faulty and damaged equipment</vt:lpstr>
      <vt:lpstr>Identify, rectify or replace faulty and damaged equipment</vt:lpstr>
      <vt:lpstr>Identify, rectify or replace faulty and damaged equipment</vt:lpstr>
      <vt:lpstr>Identify, rectify or replace faulty and damaged equipment</vt:lpstr>
      <vt:lpstr>Identify and notify need for training</vt:lpstr>
      <vt:lpstr>Identify and notify need for training</vt:lpstr>
      <vt:lpstr>Identify and notify need for training</vt:lpstr>
      <vt:lpstr>Identify and notify need for training</vt:lpstr>
      <vt:lpstr>Identify and notify need for training</vt:lpstr>
      <vt:lpstr>Identify and notify need for training</vt:lpstr>
      <vt:lpstr>Identify and notify need for training</vt:lpstr>
      <vt:lpstr>Summary – Element 1</vt:lpstr>
      <vt:lpstr>Summary – Element 1</vt:lpstr>
      <vt:lpstr>Operate security equipment</vt:lpstr>
      <vt:lpstr>Select, use and maintain PPE and clothing</vt:lpstr>
      <vt:lpstr>Select, use and maintain PPE and clothing</vt:lpstr>
      <vt:lpstr>Select, use and maintain PPE and clothing</vt:lpstr>
      <vt:lpstr>Select, use and maintain PPE and clothing</vt:lpstr>
      <vt:lpstr>Select, use and maintain PPE and clothing</vt:lpstr>
      <vt:lpstr>Comply with requirements</vt:lpstr>
      <vt:lpstr>Comply with requirements</vt:lpstr>
      <vt:lpstr>Comply with requirements</vt:lpstr>
      <vt:lpstr>Comply with requirements</vt:lpstr>
      <vt:lpstr>Comply with requirements</vt:lpstr>
      <vt:lpstr>Comply with requirements</vt:lpstr>
      <vt:lpstr>Operate security equipment</vt:lpstr>
      <vt:lpstr>Operate security equipment</vt:lpstr>
      <vt:lpstr>Operate security equipment</vt:lpstr>
      <vt:lpstr>Operate security equipment</vt:lpstr>
      <vt:lpstr>Monitor surveillance equipment</vt:lpstr>
      <vt:lpstr>Monitor surveillance equipment</vt:lpstr>
      <vt:lpstr>Monitor surveillance equipment</vt:lpstr>
      <vt:lpstr>Monitor surveillance equipment</vt:lpstr>
      <vt:lpstr>Monitor surveillance equipment</vt:lpstr>
      <vt:lpstr>Monitor surveillance equipment</vt:lpstr>
      <vt:lpstr>Monitor surveillance equipment</vt:lpstr>
      <vt:lpstr>Test alarm sectors</vt:lpstr>
      <vt:lpstr>Test alarm sectors</vt:lpstr>
      <vt:lpstr>Test alarm sectors</vt:lpstr>
      <vt:lpstr>Test alarm sectors</vt:lpstr>
      <vt:lpstr>Test alarm sectors</vt:lpstr>
      <vt:lpstr>Test alarm sectors</vt:lpstr>
      <vt:lpstr>Test alarm sectors</vt:lpstr>
      <vt:lpstr>Test alarm sectors</vt:lpstr>
      <vt:lpstr>Summary – Element 2</vt:lpstr>
      <vt:lpstr>Summary – Element 2</vt:lpstr>
      <vt:lpstr>Maintain security equipment and resources</vt:lpstr>
      <vt:lpstr>Return security equipment to operational condition</vt:lpstr>
      <vt:lpstr>Return security equipment to operational condition</vt:lpstr>
      <vt:lpstr>Return security equipment to operational condition</vt:lpstr>
      <vt:lpstr>Clean, maintain and store security items</vt:lpstr>
      <vt:lpstr>Clean, maintain and store security items</vt:lpstr>
      <vt:lpstr>Clean, maintain and store security items</vt:lpstr>
      <vt:lpstr>Clean, maintain and store security items</vt:lpstr>
      <vt:lpstr>Clean, maintain and store security items</vt:lpstr>
      <vt:lpstr>Clean, maintain and store security items</vt:lpstr>
      <vt:lpstr>Report faulty or damaged equipment</vt:lpstr>
      <vt:lpstr>Report faulty or damaged equipment</vt:lpstr>
      <vt:lpstr>Report faulty or damaged equipment</vt:lpstr>
      <vt:lpstr>Report faulty or damaged equipment</vt:lpstr>
      <vt:lpstr>Report faulty or damaged equipment</vt:lpstr>
      <vt:lpstr>Report faulty or damaged equipment</vt:lpstr>
      <vt:lpstr>Arrange back-up systems</vt:lpstr>
      <vt:lpstr>Arrange back-up systems</vt:lpstr>
      <vt:lpstr>Arrange back-up systems</vt:lpstr>
      <vt:lpstr>Arrange back-up systems</vt:lpstr>
      <vt:lpstr>Arrange back-up systems</vt:lpstr>
      <vt:lpstr>Arrange back-up systems</vt:lpstr>
      <vt:lpstr>Complete internal records and reports</vt:lpstr>
      <vt:lpstr>Complete internal records and reports</vt:lpstr>
      <vt:lpstr>Complete internal records and reports</vt:lpstr>
      <vt:lpstr>Complete internal records and reports</vt:lpstr>
      <vt:lpstr>Complete internal records and reports</vt:lpstr>
      <vt:lpstr>Complete internal records and reports</vt:lpstr>
      <vt:lpstr>Summary – Element 3</vt:lpstr>
      <vt:lpstr>Summary – Element 3</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OPERATE BASIC SECURITY EQUIPMENT</dc:title>
  <dc:creator>Administrator</dc:creator>
  <cp:lastModifiedBy>Administrator</cp:lastModifiedBy>
  <cp:revision>265</cp:revision>
  <dcterms:created xsi:type="dcterms:W3CDTF">2012-08-23T05:01:18Z</dcterms:created>
  <dcterms:modified xsi:type="dcterms:W3CDTF">2013-04-18T07:18:43Z</dcterms:modified>
</cp:coreProperties>
</file>