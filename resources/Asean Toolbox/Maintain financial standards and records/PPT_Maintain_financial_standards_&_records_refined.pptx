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09"/>
  </p:notesMasterIdLst>
  <p:handoutMasterIdLst>
    <p:handoutMasterId r:id="rId110"/>
  </p:handoutMasterIdLst>
  <p:sldIdLst>
    <p:sldId id="256" r:id="rId2"/>
    <p:sldId id="257" r:id="rId3"/>
    <p:sldId id="258" r:id="rId4"/>
    <p:sldId id="259" r:id="rId5"/>
    <p:sldId id="392" r:id="rId6"/>
    <p:sldId id="260" r:id="rId7"/>
    <p:sldId id="376" r:id="rId8"/>
    <p:sldId id="297" r:id="rId9"/>
    <p:sldId id="298" r:id="rId10"/>
    <p:sldId id="299" r:id="rId11"/>
    <p:sldId id="300" r:id="rId12"/>
    <p:sldId id="301" r:id="rId13"/>
    <p:sldId id="302" r:id="rId14"/>
    <p:sldId id="303" r:id="rId15"/>
    <p:sldId id="304" r:id="rId16"/>
    <p:sldId id="393" r:id="rId17"/>
    <p:sldId id="394" r:id="rId18"/>
    <p:sldId id="306" r:id="rId19"/>
    <p:sldId id="307" r:id="rId20"/>
    <p:sldId id="395" r:id="rId21"/>
    <p:sldId id="308" r:id="rId22"/>
    <p:sldId id="396" r:id="rId23"/>
    <p:sldId id="309" r:id="rId24"/>
    <p:sldId id="397" r:id="rId25"/>
    <p:sldId id="310" r:id="rId26"/>
    <p:sldId id="398" r:id="rId27"/>
    <p:sldId id="311" r:id="rId28"/>
    <p:sldId id="312" r:id="rId29"/>
    <p:sldId id="313" r:id="rId30"/>
    <p:sldId id="314" r:id="rId31"/>
    <p:sldId id="315" r:id="rId32"/>
    <p:sldId id="316" r:id="rId33"/>
    <p:sldId id="318" r:id="rId34"/>
    <p:sldId id="319" r:id="rId35"/>
    <p:sldId id="401" r:id="rId36"/>
    <p:sldId id="317" r:id="rId37"/>
    <p:sldId id="400" r:id="rId38"/>
    <p:sldId id="402" r:id="rId39"/>
    <p:sldId id="321" r:id="rId40"/>
    <p:sldId id="404" r:id="rId41"/>
    <p:sldId id="322" r:id="rId42"/>
    <p:sldId id="405" r:id="rId43"/>
    <p:sldId id="320" r:id="rId44"/>
    <p:sldId id="323" r:id="rId45"/>
    <p:sldId id="324" r:id="rId46"/>
    <p:sldId id="412" r:id="rId47"/>
    <p:sldId id="325" r:id="rId48"/>
    <p:sldId id="406" r:id="rId49"/>
    <p:sldId id="326" r:id="rId50"/>
    <p:sldId id="328" r:id="rId51"/>
    <p:sldId id="329" r:id="rId52"/>
    <p:sldId id="330" r:id="rId53"/>
    <p:sldId id="407" r:id="rId54"/>
    <p:sldId id="331" r:id="rId55"/>
    <p:sldId id="333" r:id="rId56"/>
    <p:sldId id="408" r:id="rId57"/>
    <p:sldId id="409" r:id="rId58"/>
    <p:sldId id="334" r:id="rId59"/>
    <p:sldId id="335" r:id="rId60"/>
    <p:sldId id="338" r:id="rId61"/>
    <p:sldId id="336" r:id="rId62"/>
    <p:sldId id="332" r:id="rId63"/>
    <p:sldId id="411" r:id="rId64"/>
    <p:sldId id="337" r:id="rId65"/>
    <p:sldId id="339" r:id="rId66"/>
    <p:sldId id="341" r:id="rId67"/>
    <p:sldId id="340" r:id="rId68"/>
    <p:sldId id="342" r:id="rId69"/>
    <p:sldId id="348" r:id="rId70"/>
    <p:sldId id="343" r:id="rId71"/>
    <p:sldId id="344" r:id="rId72"/>
    <p:sldId id="345" r:id="rId73"/>
    <p:sldId id="346" r:id="rId74"/>
    <p:sldId id="350" r:id="rId75"/>
    <p:sldId id="351" r:id="rId76"/>
    <p:sldId id="352" r:id="rId77"/>
    <p:sldId id="353" r:id="rId78"/>
    <p:sldId id="354" r:id="rId79"/>
    <p:sldId id="355" r:id="rId80"/>
    <p:sldId id="356" r:id="rId81"/>
    <p:sldId id="357" r:id="rId82"/>
    <p:sldId id="358" r:id="rId83"/>
    <p:sldId id="359" r:id="rId84"/>
    <p:sldId id="361" r:id="rId85"/>
    <p:sldId id="362" r:id="rId86"/>
    <p:sldId id="363" r:id="rId87"/>
    <p:sldId id="410" r:id="rId88"/>
    <p:sldId id="262" r:id="rId89"/>
    <p:sldId id="378" r:id="rId90"/>
    <p:sldId id="379" r:id="rId91"/>
    <p:sldId id="366" r:id="rId92"/>
    <p:sldId id="367" r:id="rId93"/>
    <p:sldId id="369" r:id="rId94"/>
    <p:sldId id="370" r:id="rId95"/>
    <p:sldId id="380" r:id="rId96"/>
    <p:sldId id="381" r:id="rId97"/>
    <p:sldId id="382" r:id="rId98"/>
    <p:sldId id="383" r:id="rId99"/>
    <p:sldId id="385" r:id="rId100"/>
    <p:sldId id="387" r:id="rId101"/>
    <p:sldId id="364" r:id="rId102"/>
    <p:sldId id="365" r:id="rId103"/>
    <p:sldId id="388" r:id="rId104"/>
    <p:sldId id="389" r:id="rId105"/>
    <p:sldId id="390" r:id="rId106"/>
    <p:sldId id="391" r:id="rId107"/>
    <p:sldId id="373" r:id="rId108"/>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B5CC"/>
    <a:srgbClr val="60B5FB"/>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0335" autoAdjust="0"/>
    <p:restoredTop sz="94086" autoAdjust="0"/>
  </p:normalViewPr>
  <p:slideViewPr>
    <p:cSldViewPr>
      <p:cViewPr varScale="1">
        <p:scale>
          <a:sx n="35" d="100"/>
          <a:sy n="35" d="100"/>
        </p:scale>
        <p:origin x="66" y="11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D7CB3A-D8DD-4978-8561-68E859BC7463}" type="doc">
      <dgm:prSet loTypeId="urn:microsoft.com/office/officeart/2005/8/layout/process4" loCatId="process" qsTypeId="urn:microsoft.com/office/officeart/2005/8/quickstyle/simple1" qsCatId="simple" csTypeId="urn:microsoft.com/office/officeart/2005/8/colors/colorful5" csCatId="colorful" phldr="1"/>
      <dgm:spPr/>
      <dgm:t>
        <a:bodyPr/>
        <a:lstStyle/>
        <a:p>
          <a:endParaRPr lang="en-AU"/>
        </a:p>
      </dgm:t>
    </dgm:pt>
    <dgm:pt modelId="{020E6E95-AF36-48C5-A58B-76DC6EB79527}">
      <dgm:prSet phldrT="[Text]"/>
      <dgm:spPr/>
      <dgm:t>
        <a:bodyPr/>
        <a:lstStyle/>
        <a:p>
          <a:r>
            <a:rPr lang="en-AU" b="1" dirty="0" smtClean="0">
              <a:solidFill>
                <a:schemeClr val="bg1"/>
              </a:solidFill>
              <a:latin typeface="Helvetica" pitchFamily="34" charset="0"/>
            </a:rPr>
            <a:t>TRANSACTIONS</a:t>
          </a:r>
          <a:endParaRPr lang="en-AU" dirty="0"/>
        </a:p>
      </dgm:t>
    </dgm:pt>
    <dgm:pt modelId="{CCC4E24B-9314-4358-9FD8-15EC85F0F758}" type="parTrans" cxnId="{4DD29F90-6A45-4C89-A066-F82C41CC603E}">
      <dgm:prSet/>
      <dgm:spPr/>
      <dgm:t>
        <a:bodyPr/>
        <a:lstStyle/>
        <a:p>
          <a:endParaRPr lang="en-AU"/>
        </a:p>
      </dgm:t>
    </dgm:pt>
    <dgm:pt modelId="{CB8332C7-3088-41AD-82B1-A865974FA517}" type="sibTrans" cxnId="{4DD29F90-6A45-4C89-A066-F82C41CC603E}">
      <dgm:prSet/>
      <dgm:spPr/>
      <dgm:t>
        <a:bodyPr/>
        <a:lstStyle/>
        <a:p>
          <a:endParaRPr lang="en-AU"/>
        </a:p>
      </dgm:t>
    </dgm:pt>
    <dgm:pt modelId="{1B7CF090-A033-457E-B0AE-1CAF23A162C3}">
      <dgm:prSet phldrT="[Text]"/>
      <dgm:spPr/>
      <dgm:t>
        <a:bodyPr/>
        <a:lstStyle/>
        <a:p>
          <a:r>
            <a:rPr lang="en-AU" b="1" dirty="0" smtClean="0">
              <a:solidFill>
                <a:schemeClr val="bg1"/>
              </a:solidFill>
              <a:latin typeface="Helvetica" pitchFamily="34" charset="0"/>
            </a:rPr>
            <a:t>SOURCE DOCUMENTS</a:t>
          </a:r>
          <a:endParaRPr lang="en-AU" dirty="0"/>
        </a:p>
      </dgm:t>
    </dgm:pt>
    <dgm:pt modelId="{662B5A2E-6193-4CF6-B734-6EDF04EEF962}" type="parTrans" cxnId="{F4B62FC1-B825-4ED9-8335-A89A0EEE7858}">
      <dgm:prSet/>
      <dgm:spPr/>
      <dgm:t>
        <a:bodyPr/>
        <a:lstStyle/>
        <a:p>
          <a:endParaRPr lang="en-AU"/>
        </a:p>
      </dgm:t>
    </dgm:pt>
    <dgm:pt modelId="{5C0C9099-2BAC-4B38-A489-CD36E6DFA679}" type="sibTrans" cxnId="{F4B62FC1-B825-4ED9-8335-A89A0EEE7858}">
      <dgm:prSet/>
      <dgm:spPr/>
      <dgm:t>
        <a:bodyPr/>
        <a:lstStyle/>
        <a:p>
          <a:endParaRPr lang="en-AU"/>
        </a:p>
      </dgm:t>
    </dgm:pt>
    <dgm:pt modelId="{15CB4987-3F96-49AF-9426-2006E3614898}">
      <dgm:prSet phldrT="[Text]"/>
      <dgm:spPr/>
      <dgm:t>
        <a:bodyPr/>
        <a:lstStyle/>
        <a:p>
          <a:r>
            <a:rPr lang="en-AU" b="1" dirty="0" smtClean="0">
              <a:solidFill>
                <a:schemeClr val="bg1"/>
              </a:solidFill>
              <a:latin typeface="Helvetica" pitchFamily="34" charset="0"/>
            </a:rPr>
            <a:t>JOURNALS</a:t>
          </a:r>
          <a:endParaRPr lang="en-AU" dirty="0"/>
        </a:p>
      </dgm:t>
    </dgm:pt>
    <dgm:pt modelId="{3C2C6353-784D-4820-83E4-54D9226AD1D1}" type="parTrans" cxnId="{DB5C3B1A-57B0-46B3-B3C5-06700AC8F956}">
      <dgm:prSet/>
      <dgm:spPr/>
      <dgm:t>
        <a:bodyPr/>
        <a:lstStyle/>
        <a:p>
          <a:endParaRPr lang="en-AU"/>
        </a:p>
      </dgm:t>
    </dgm:pt>
    <dgm:pt modelId="{9CF2D785-AF4A-4025-A45F-ADFA9CB2C912}" type="sibTrans" cxnId="{DB5C3B1A-57B0-46B3-B3C5-06700AC8F956}">
      <dgm:prSet/>
      <dgm:spPr/>
      <dgm:t>
        <a:bodyPr/>
        <a:lstStyle/>
        <a:p>
          <a:endParaRPr lang="en-AU"/>
        </a:p>
      </dgm:t>
    </dgm:pt>
    <dgm:pt modelId="{1A77997B-1A99-4837-9B65-233984A89FE6}">
      <dgm:prSet phldrT="[Text]"/>
      <dgm:spPr/>
      <dgm:t>
        <a:bodyPr/>
        <a:lstStyle/>
        <a:p>
          <a:r>
            <a:rPr lang="en-AU" b="1" dirty="0" smtClean="0">
              <a:solidFill>
                <a:schemeClr val="bg1"/>
              </a:solidFill>
              <a:latin typeface="Helvetica" pitchFamily="34" charset="0"/>
            </a:rPr>
            <a:t>LEDGERS</a:t>
          </a:r>
          <a:endParaRPr lang="en-AU" dirty="0"/>
        </a:p>
      </dgm:t>
    </dgm:pt>
    <dgm:pt modelId="{3BF5F4F9-8BFF-4328-9626-9DA5223CBC9E}" type="parTrans" cxnId="{19E57A4C-6BA6-4665-9C34-FA508BFB8984}">
      <dgm:prSet/>
      <dgm:spPr/>
      <dgm:t>
        <a:bodyPr/>
        <a:lstStyle/>
        <a:p>
          <a:endParaRPr lang="en-AU"/>
        </a:p>
      </dgm:t>
    </dgm:pt>
    <dgm:pt modelId="{E86AFF1C-E268-4ACA-85A6-86D8A5F7BFD0}" type="sibTrans" cxnId="{19E57A4C-6BA6-4665-9C34-FA508BFB8984}">
      <dgm:prSet/>
      <dgm:spPr/>
      <dgm:t>
        <a:bodyPr/>
        <a:lstStyle/>
        <a:p>
          <a:endParaRPr lang="en-AU"/>
        </a:p>
      </dgm:t>
    </dgm:pt>
    <dgm:pt modelId="{0F1096D2-3C36-474B-9275-394E339F3308}">
      <dgm:prSet phldrT="[Text]"/>
      <dgm:spPr/>
      <dgm:t>
        <a:bodyPr/>
        <a:lstStyle/>
        <a:p>
          <a:r>
            <a:rPr lang="en-AU" b="1" dirty="0" smtClean="0">
              <a:solidFill>
                <a:schemeClr val="bg1"/>
              </a:solidFill>
              <a:latin typeface="Helvetica" pitchFamily="34" charset="0"/>
            </a:rPr>
            <a:t>TRIAL BALANCE</a:t>
          </a:r>
          <a:endParaRPr lang="en-AU" dirty="0"/>
        </a:p>
      </dgm:t>
    </dgm:pt>
    <dgm:pt modelId="{6B189E3C-3D0D-448C-A316-5656DE509C8B}" type="parTrans" cxnId="{89934C65-5B5D-4DAE-9794-A1C9FCC053F4}">
      <dgm:prSet/>
      <dgm:spPr/>
      <dgm:t>
        <a:bodyPr/>
        <a:lstStyle/>
        <a:p>
          <a:endParaRPr lang="en-AU"/>
        </a:p>
      </dgm:t>
    </dgm:pt>
    <dgm:pt modelId="{E1B1BC01-2963-4FE0-8B71-69B2E3799160}" type="sibTrans" cxnId="{89934C65-5B5D-4DAE-9794-A1C9FCC053F4}">
      <dgm:prSet/>
      <dgm:spPr/>
      <dgm:t>
        <a:bodyPr/>
        <a:lstStyle/>
        <a:p>
          <a:endParaRPr lang="en-AU"/>
        </a:p>
      </dgm:t>
    </dgm:pt>
    <dgm:pt modelId="{4BF9CDD8-EB53-456E-A44A-323EFAEFDB8D}">
      <dgm:prSet phldrT="[Text]"/>
      <dgm:spPr/>
      <dgm:t>
        <a:bodyPr/>
        <a:lstStyle/>
        <a:p>
          <a:r>
            <a:rPr lang="en-AU" b="1" dirty="0" smtClean="0">
              <a:solidFill>
                <a:schemeClr val="bg1"/>
              </a:solidFill>
              <a:latin typeface="Helvetica" pitchFamily="34" charset="0"/>
            </a:rPr>
            <a:t>FINANCIAL REPORTS</a:t>
          </a:r>
          <a:endParaRPr lang="en-AU" dirty="0"/>
        </a:p>
      </dgm:t>
    </dgm:pt>
    <dgm:pt modelId="{86FECF9D-9139-49CD-9F5E-5CABCF42E0EB}" type="parTrans" cxnId="{9943587E-C516-4C2F-B099-0A9CABC60223}">
      <dgm:prSet/>
      <dgm:spPr/>
      <dgm:t>
        <a:bodyPr/>
        <a:lstStyle/>
        <a:p>
          <a:endParaRPr lang="en-AU"/>
        </a:p>
      </dgm:t>
    </dgm:pt>
    <dgm:pt modelId="{565604C6-E61E-4B92-B25D-4D97A0E2BC6D}" type="sibTrans" cxnId="{9943587E-C516-4C2F-B099-0A9CABC60223}">
      <dgm:prSet/>
      <dgm:spPr/>
      <dgm:t>
        <a:bodyPr/>
        <a:lstStyle/>
        <a:p>
          <a:endParaRPr lang="en-AU"/>
        </a:p>
      </dgm:t>
    </dgm:pt>
    <dgm:pt modelId="{CE81AF4C-3C8B-4F14-A2F9-B682A7C8609C}" type="pres">
      <dgm:prSet presAssocID="{F4D7CB3A-D8DD-4978-8561-68E859BC7463}" presName="Name0" presStyleCnt="0">
        <dgm:presLayoutVars>
          <dgm:dir/>
          <dgm:animLvl val="lvl"/>
          <dgm:resizeHandles val="exact"/>
        </dgm:presLayoutVars>
      </dgm:prSet>
      <dgm:spPr/>
      <dgm:t>
        <a:bodyPr/>
        <a:lstStyle/>
        <a:p>
          <a:endParaRPr lang="en-AU"/>
        </a:p>
      </dgm:t>
    </dgm:pt>
    <dgm:pt modelId="{6E41C4E7-67AF-4D15-969C-19468BEFABAB}" type="pres">
      <dgm:prSet presAssocID="{4BF9CDD8-EB53-456E-A44A-323EFAEFDB8D}" presName="boxAndChildren" presStyleCnt="0"/>
      <dgm:spPr/>
    </dgm:pt>
    <dgm:pt modelId="{1950C21A-A2BC-4F3D-80EC-0667EF653941}" type="pres">
      <dgm:prSet presAssocID="{4BF9CDD8-EB53-456E-A44A-323EFAEFDB8D}" presName="parentTextBox" presStyleLbl="node1" presStyleIdx="0" presStyleCnt="6"/>
      <dgm:spPr/>
      <dgm:t>
        <a:bodyPr/>
        <a:lstStyle/>
        <a:p>
          <a:endParaRPr lang="en-AU"/>
        </a:p>
      </dgm:t>
    </dgm:pt>
    <dgm:pt modelId="{A8544B97-4CEE-4568-8EE1-B66301637512}" type="pres">
      <dgm:prSet presAssocID="{E1B1BC01-2963-4FE0-8B71-69B2E3799160}" presName="sp" presStyleCnt="0"/>
      <dgm:spPr/>
    </dgm:pt>
    <dgm:pt modelId="{0954B39F-8D3E-436B-9227-EE186706A5A0}" type="pres">
      <dgm:prSet presAssocID="{0F1096D2-3C36-474B-9275-394E339F3308}" presName="arrowAndChildren" presStyleCnt="0"/>
      <dgm:spPr/>
    </dgm:pt>
    <dgm:pt modelId="{030F24EA-88A4-4D5D-9FF1-53F15731681D}" type="pres">
      <dgm:prSet presAssocID="{0F1096D2-3C36-474B-9275-394E339F3308}" presName="parentTextArrow" presStyleLbl="node1" presStyleIdx="1" presStyleCnt="6"/>
      <dgm:spPr/>
      <dgm:t>
        <a:bodyPr/>
        <a:lstStyle/>
        <a:p>
          <a:endParaRPr lang="en-AU"/>
        </a:p>
      </dgm:t>
    </dgm:pt>
    <dgm:pt modelId="{1952BCBD-24CD-4803-B8A2-9D38F7F0D40D}" type="pres">
      <dgm:prSet presAssocID="{E86AFF1C-E268-4ACA-85A6-86D8A5F7BFD0}" presName="sp" presStyleCnt="0"/>
      <dgm:spPr/>
    </dgm:pt>
    <dgm:pt modelId="{E4EFC28E-40A5-490F-AF6F-D13F019CA4ED}" type="pres">
      <dgm:prSet presAssocID="{1A77997B-1A99-4837-9B65-233984A89FE6}" presName="arrowAndChildren" presStyleCnt="0"/>
      <dgm:spPr/>
    </dgm:pt>
    <dgm:pt modelId="{17B81B38-2014-45F0-AB45-83EF9E7530B8}" type="pres">
      <dgm:prSet presAssocID="{1A77997B-1A99-4837-9B65-233984A89FE6}" presName="parentTextArrow" presStyleLbl="node1" presStyleIdx="2" presStyleCnt="6"/>
      <dgm:spPr/>
      <dgm:t>
        <a:bodyPr/>
        <a:lstStyle/>
        <a:p>
          <a:endParaRPr lang="en-AU"/>
        </a:p>
      </dgm:t>
    </dgm:pt>
    <dgm:pt modelId="{70A0B02E-02E1-46A0-B09F-674BD860025C}" type="pres">
      <dgm:prSet presAssocID="{9CF2D785-AF4A-4025-A45F-ADFA9CB2C912}" presName="sp" presStyleCnt="0"/>
      <dgm:spPr/>
    </dgm:pt>
    <dgm:pt modelId="{B4B633DE-D6D9-488B-A297-4DC8B65F0292}" type="pres">
      <dgm:prSet presAssocID="{15CB4987-3F96-49AF-9426-2006E3614898}" presName="arrowAndChildren" presStyleCnt="0"/>
      <dgm:spPr/>
    </dgm:pt>
    <dgm:pt modelId="{794F93DB-99E3-484F-967F-3ECAB0282B6D}" type="pres">
      <dgm:prSet presAssocID="{15CB4987-3F96-49AF-9426-2006E3614898}" presName="parentTextArrow" presStyleLbl="node1" presStyleIdx="3" presStyleCnt="6"/>
      <dgm:spPr/>
      <dgm:t>
        <a:bodyPr/>
        <a:lstStyle/>
        <a:p>
          <a:endParaRPr lang="en-AU"/>
        </a:p>
      </dgm:t>
    </dgm:pt>
    <dgm:pt modelId="{4BE892A7-07E0-4AAE-ABCF-29214EA2F70D}" type="pres">
      <dgm:prSet presAssocID="{5C0C9099-2BAC-4B38-A489-CD36E6DFA679}" presName="sp" presStyleCnt="0"/>
      <dgm:spPr/>
    </dgm:pt>
    <dgm:pt modelId="{70ABE452-00CE-4C89-BE9D-7B1448BC947B}" type="pres">
      <dgm:prSet presAssocID="{1B7CF090-A033-457E-B0AE-1CAF23A162C3}" presName="arrowAndChildren" presStyleCnt="0"/>
      <dgm:spPr/>
    </dgm:pt>
    <dgm:pt modelId="{E57B793D-A40A-4FD3-9D21-2B11B0AF57C2}" type="pres">
      <dgm:prSet presAssocID="{1B7CF090-A033-457E-B0AE-1CAF23A162C3}" presName="parentTextArrow" presStyleLbl="node1" presStyleIdx="4" presStyleCnt="6"/>
      <dgm:spPr/>
      <dgm:t>
        <a:bodyPr/>
        <a:lstStyle/>
        <a:p>
          <a:endParaRPr lang="en-AU"/>
        </a:p>
      </dgm:t>
    </dgm:pt>
    <dgm:pt modelId="{70BD7BA2-F632-4AA1-A21D-67B01CAE5B0A}" type="pres">
      <dgm:prSet presAssocID="{CB8332C7-3088-41AD-82B1-A865974FA517}" presName="sp" presStyleCnt="0"/>
      <dgm:spPr/>
    </dgm:pt>
    <dgm:pt modelId="{35C5E803-EB1F-4EA8-A355-FF3224345E5C}" type="pres">
      <dgm:prSet presAssocID="{020E6E95-AF36-48C5-A58B-76DC6EB79527}" presName="arrowAndChildren" presStyleCnt="0"/>
      <dgm:spPr/>
    </dgm:pt>
    <dgm:pt modelId="{D81ADE92-9B4C-432B-BCAF-DC03229DD1F6}" type="pres">
      <dgm:prSet presAssocID="{020E6E95-AF36-48C5-A58B-76DC6EB79527}" presName="parentTextArrow" presStyleLbl="node1" presStyleIdx="5" presStyleCnt="6"/>
      <dgm:spPr/>
      <dgm:t>
        <a:bodyPr/>
        <a:lstStyle/>
        <a:p>
          <a:endParaRPr lang="en-AU"/>
        </a:p>
      </dgm:t>
    </dgm:pt>
  </dgm:ptLst>
  <dgm:cxnLst>
    <dgm:cxn modelId="{89934C65-5B5D-4DAE-9794-A1C9FCC053F4}" srcId="{F4D7CB3A-D8DD-4978-8561-68E859BC7463}" destId="{0F1096D2-3C36-474B-9275-394E339F3308}" srcOrd="4" destOrd="0" parTransId="{6B189E3C-3D0D-448C-A316-5656DE509C8B}" sibTransId="{E1B1BC01-2963-4FE0-8B71-69B2E3799160}"/>
    <dgm:cxn modelId="{2991316C-6E97-48FD-BC8C-6D9DB85FBC3F}" type="presOf" srcId="{020E6E95-AF36-48C5-A58B-76DC6EB79527}" destId="{D81ADE92-9B4C-432B-BCAF-DC03229DD1F6}" srcOrd="0" destOrd="0" presId="urn:microsoft.com/office/officeart/2005/8/layout/process4"/>
    <dgm:cxn modelId="{3EEC81C9-484E-4BFE-A174-E26F44F5FB8B}" type="presOf" srcId="{0F1096D2-3C36-474B-9275-394E339F3308}" destId="{030F24EA-88A4-4D5D-9FF1-53F15731681D}" srcOrd="0" destOrd="0" presId="urn:microsoft.com/office/officeart/2005/8/layout/process4"/>
    <dgm:cxn modelId="{FE84E219-3EBD-4044-9FB8-F1A3B8093A5F}" type="presOf" srcId="{1B7CF090-A033-457E-B0AE-1CAF23A162C3}" destId="{E57B793D-A40A-4FD3-9D21-2B11B0AF57C2}" srcOrd="0" destOrd="0" presId="urn:microsoft.com/office/officeart/2005/8/layout/process4"/>
    <dgm:cxn modelId="{4DD29F90-6A45-4C89-A066-F82C41CC603E}" srcId="{F4D7CB3A-D8DD-4978-8561-68E859BC7463}" destId="{020E6E95-AF36-48C5-A58B-76DC6EB79527}" srcOrd="0" destOrd="0" parTransId="{CCC4E24B-9314-4358-9FD8-15EC85F0F758}" sibTransId="{CB8332C7-3088-41AD-82B1-A865974FA517}"/>
    <dgm:cxn modelId="{9E344487-3612-43E8-93E7-6CCCA870895D}" type="presOf" srcId="{1A77997B-1A99-4837-9B65-233984A89FE6}" destId="{17B81B38-2014-45F0-AB45-83EF9E7530B8}" srcOrd="0" destOrd="0" presId="urn:microsoft.com/office/officeart/2005/8/layout/process4"/>
    <dgm:cxn modelId="{9943587E-C516-4C2F-B099-0A9CABC60223}" srcId="{F4D7CB3A-D8DD-4978-8561-68E859BC7463}" destId="{4BF9CDD8-EB53-456E-A44A-323EFAEFDB8D}" srcOrd="5" destOrd="0" parTransId="{86FECF9D-9139-49CD-9F5E-5CABCF42E0EB}" sibTransId="{565604C6-E61E-4B92-B25D-4D97A0E2BC6D}"/>
    <dgm:cxn modelId="{BD9A03C6-D5E9-4C08-885E-1317F513F8BF}" type="presOf" srcId="{15CB4987-3F96-49AF-9426-2006E3614898}" destId="{794F93DB-99E3-484F-967F-3ECAB0282B6D}" srcOrd="0" destOrd="0" presId="urn:microsoft.com/office/officeart/2005/8/layout/process4"/>
    <dgm:cxn modelId="{011F1DE4-8AA5-4DBA-B982-47EAA0A32645}" type="presOf" srcId="{4BF9CDD8-EB53-456E-A44A-323EFAEFDB8D}" destId="{1950C21A-A2BC-4F3D-80EC-0667EF653941}" srcOrd="0" destOrd="0" presId="urn:microsoft.com/office/officeart/2005/8/layout/process4"/>
    <dgm:cxn modelId="{DB5C3B1A-57B0-46B3-B3C5-06700AC8F956}" srcId="{F4D7CB3A-D8DD-4978-8561-68E859BC7463}" destId="{15CB4987-3F96-49AF-9426-2006E3614898}" srcOrd="2" destOrd="0" parTransId="{3C2C6353-784D-4820-83E4-54D9226AD1D1}" sibTransId="{9CF2D785-AF4A-4025-A45F-ADFA9CB2C912}"/>
    <dgm:cxn modelId="{C3BA2DA2-AA88-4B9F-B4F8-1CBEB62043AA}" type="presOf" srcId="{F4D7CB3A-D8DD-4978-8561-68E859BC7463}" destId="{CE81AF4C-3C8B-4F14-A2F9-B682A7C8609C}" srcOrd="0" destOrd="0" presId="urn:microsoft.com/office/officeart/2005/8/layout/process4"/>
    <dgm:cxn modelId="{19E57A4C-6BA6-4665-9C34-FA508BFB8984}" srcId="{F4D7CB3A-D8DD-4978-8561-68E859BC7463}" destId="{1A77997B-1A99-4837-9B65-233984A89FE6}" srcOrd="3" destOrd="0" parTransId="{3BF5F4F9-8BFF-4328-9626-9DA5223CBC9E}" sibTransId="{E86AFF1C-E268-4ACA-85A6-86D8A5F7BFD0}"/>
    <dgm:cxn modelId="{F4B62FC1-B825-4ED9-8335-A89A0EEE7858}" srcId="{F4D7CB3A-D8DD-4978-8561-68E859BC7463}" destId="{1B7CF090-A033-457E-B0AE-1CAF23A162C3}" srcOrd="1" destOrd="0" parTransId="{662B5A2E-6193-4CF6-B734-6EDF04EEF962}" sibTransId="{5C0C9099-2BAC-4B38-A489-CD36E6DFA679}"/>
    <dgm:cxn modelId="{A4B2AE6E-3B7F-484E-A3D7-3589A8E2E553}" type="presParOf" srcId="{CE81AF4C-3C8B-4F14-A2F9-B682A7C8609C}" destId="{6E41C4E7-67AF-4D15-969C-19468BEFABAB}" srcOrd="0" destOrd="0" presId="urn:microsoft.com/office/officeart/2005/8/layout/process4"/>
    <dgm:cxn modelId="{3B963399-F3D9-4EE8-AF56-079CAC0813EC}" type="presParOf" srcId="{6E41C4E7-67AF-4D15-969C-19468BEFABAB}" destId="{1950C21A-A2BC-4F3D-80EC-0667EF653941}" srcOrd="0" destOrd="0" presId="urn:microsoft.com/office/officeart/2005/8/layout/process4"/>
    <dgm:cxn modelId="{D97342F1-F32B-49B9-81B7-C58268C11275}" type="presParOf" srcId="{CE81AF4C-3C8B-4F14-A2F9-B682A7C8609C}" destId="{A8544B97-4CEE-4568-8EE1-B66301637512}" srcOrd="1" destOrd="0" presId="urn:microsoft.com/office/officeart/2005/8/layout/process4"/>
    <dgm:cxn modelId="{5AA907F9-C3DE-4283-B714-6CF548622B55}" type="presParOf" srcId="{CE81AF4C-3C8B-4F14-A2F9-B682A7C8609C}" destId="{0954B39F-8D3E-436B-9227-EE186706A5A0}" srcOrd="2" destOrd="0" presId="urn:microsoft.com/office/officeart/2005/8/layout/process4"/>
    <dgm:cxn modelId="{8A3AFE1E-57E8-4671-87EC-F50FD1B220DC}" type="presParOf" srcId="{0954B39F-8D3E-436B-9227-EE186706A5A0}" destId="{030F24EA-88A4-4D5D-9FF1-53F15731681D}" srcOrd="0" destOrd="0" presId="urn:microsoft.com/office/officeart/2005/8/layout/process4"/>
    <dgm:cxn modelId="{45665A93-3541-4AF9-A581-43701F4DFEEF}" type="presParOf" srcId="{CE81AF4C-3C8B-4F14-A2F9-B682A7C8609C}" destId="{1952BCBD-24CD-4803-B8A2-9D38F7F0D40D}" srcOrd="3" destOrd="0" presId="urn:microsoft.com/office/officeart/2005/8/layout/process4"/>
    <dgm:cxn modelId="{F25D7955-6A1E-4BDD-8944-E17A9CBFC012}" type="presParOf" srcId="{CE81AF4C-3C8B-4F14-A2F9-B682A7C8609C}" destId="{E4EFC28E-40A5-490F-AF6F-D13F019CA4ED}" srcOrd="4" destOrd="0" presId="urn:microsoft.com/office/officeart/2005/8/layout/process4"/>
    <dgm:cxn modelId="{0C50E4CA-6F28-450B-83E5-C8997A871607}" type="presParOf" srcId="{E4EFC28E-40A5-490F-AF6F-D13F019CA4ED}" destId="{17B81B38-2014-45F0-AB45-83EF9E7530B8}" srcOrd="0" destOrd="0" presId="urn:microsoft.com/office/officeart/2005/8/layout/process4"/>
    <dgm:cxn modelId="{468A3701-DDEA-4415-9E41-F03C26D8C91F}" type="presParOf" srcId="{CE81AF4C-3C8B-4F14-A2F9-B682A7C8609C}" destId="{70A0B02E-02E1-46A0-B09F-674BD860025C}" srcOrd="5" destOrd="0" presId="urn:microsoft.com/office/officeart/2005/8/layout/process4"/>
    <dgm:cxn modelId="{AE3C3AAF-2F84-471B-8CF2-7AA5B9B0C554}" type="presParOf" srcId="{CE81AF4C-3C8B-4F14-A2F9-B682A7C8609C}" destId="{B4B633DE-D6D9-488B-A297-4DC8B65F0292}" srcOrd="6" destOrd="0" presId="urn:microsoft.com/office/officeart/2005/8/layout/process4"/>
    <dgm:cxn modelId="{EE7EFA60-2BFE-4E43-9AA5-FB7B775FA3F9}" type="presParOf" srcId="{B4B633DE-D6D9-488B-A297-4DC8B65F0292}" destId="{794F93DB-99E3-484F-967F-3ECAB0282B6D}" srcOrd="0" destOrd="0" presId="urn:microsoft.com/office/officeart/2005/8/layout/process4"/>
    <dgm:cxn modelId="{04D0C5F4-F3C5-4676-A621-9788332E35D2}" type="presParOf" srcId="{CE81AF4C-3C8B-4F14-A2F9-B682A7C8609C}" destId="{4BE892A7-07E0-4AAE-ABCF-29214EA2F70D}" srcOrd="7" destOrd="0" presId="urn:microsoft.com/office/officeart/2005/8/layout/process4"/>
    <dgm:cxn modelId="{5B3303B4-E758-4365-BB01-EBFFBD2B13AC}" type="presParOf" srcId="{CE81AF4C-3C8B-4F14-A2F9-B682A7C8609C}" destId="{70ABE452-00CE-4C89-BE9D-7B1448BC947B}" srcOrd="8" destOrd="0" presId="urn:microsoft.com/office/officeart/2005/8/layout/process4"/>
    <dgm:cxn modelId="{BA4F7944-FBBA-4FFD-8243-DBBC7E0FBB7F}" type="presParOf" srcId="{70ABE452-00CE-4C89-BE9D-7B1448BC947B}" destId="{E57B793D-A40A-4FD3-9D21-2B11B0AF57C2}" srcOrd="0" destOrd="0" presId="urn:microsoft.com/office/officeart/2005/8/layout/process4"/>
    <dgm:cxn modelId="{28F5CA97-1346-4250-AAD6-BE354AE27598}" type="presParOf" srcId="{CE81AF4C-3C8B-4F14-A2F9-B682A7C8609C}" destId="{70BD7BA2-F632-4AA1-A21D-67B01CAE5B0A}" srcOrd="9" destOrd="0" presId="urn:microsoft.com/office/officeart/2005/8/layout/process4"/>
    <dgm:cxn modelId="{3EC2E91C-1ECE-4A4D-914B-B6A5C369CEE9}" type="presParOf" srcId="{CE81AF4C-3C8B-4F14-A2F9-B682A7C8609C}" destId="{35C5E803-EB1F-4EA8-A355-FF3224345E5C}" srcOrd="10" destOrd="0" presId="urn:microsoft.com/office/officeart/2005/8/layout/process4"/>
    <dgm:cxn modelId="{415649CE-19EF-4A9E-92A8-13AEBD83464C}" type="presParOf" srcId="{35C5E803-EB1F-4EA8-A355-FF3224345E5C}" destId="{D81ADE92-9B4C-432B-BCAF-DC03229DD1F6}" srcOrd="0" destOrd="0" presId="urn:microsoft.com/office/officeart/2005/8/layout/process4"/>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D7CB3A-D8DD-4978-8561-68E859BC7463}" type="doc">
      <dgm:prSet loTypeId="urn:microsoft.com/office/officeart/2005/8/layout/process4" loCatId="process" qsTypeId="urn:microsoft.com/office/officeart/2005/8/quickstyle/simple1" qsCatId="simple" csTypeId="urn:microsoft.com/office/officeart/2005/8/colors/colorful5" csCatId="colorful" phldr="1"/>
      <dgm:spPr/>
      <dgm:t>
        <a:bodyPr/>
        <a:lstStyle/>
        <a:p>
          <a:endParaRPr lang="en-AU"/>
        </a:p>
      </dgm:t>
    </dgm:pt>
    <dgm:pt modelId="{020E6E95-AF36-48C5-A58B-76DC6EB79527}">
      <dgm:prSet phldrT="[Text]"/>
      <dgm:spPr/>
      <dgm:t>
        <a:bodyPr/>
        <a:lstStyle/>
        <a:p>
          <a:r>
            <a:rPr lang="en-AU" b="1" dirty="0" smtClean="0">
              <a:solidFill>
                <a:schemeClr val="bg1"/>
              </a:solidFill>
              <a:latin typeface="Helvetica" pitchFamily="34" charset="0"/>
            </a:rPr>
            <a:t>TRANSACTIONS</a:t>
          </a:r>
          <a:endParaRPr lang="en-AU" dirty="0"/>
        </a:p>
      </dgm:t>
    </dgm:pt>
    <dgm:pt modelId="{CCC4E24B-9314-4358-9FD8-15EC85F0F758}" type="parTrans" cxnId="{4DD29F90-6A45-4C89-A066-F82C41CC603E}">
      <dgm:prSet/>
      <dgm:spPr/>
      <dgm:t>
        <a:bodyPr/>
        <a:lstStyle/>
        <a:p>
          <a:endParaRPr lang="en-AU"/>
        </a:p>
      </dgm:t>
    </dgm:pt>
    <dgm:pt modelId="{CB8332C7-3088-41AD-82B1-A865974FA517}" type="sibTrans" cxnId="{4DD29F90-6A45-4C89-A066-F82C41CC603E}">
      <dgm:prSet/>
      <dgm:spPr/>
      <dgm:t>
        <a:bodyPr/>
        <a:lstStyle/>
        <a:p>
          <a:endParaRPr lang="en-AU"/>
        </a:p>
      </dgm:t>
    </dgm:pt>
    <dgm:pt modelId="{1B7CF090-A033-457E-B0AE-1CAF23A162C3}">
      <dgm:prSet phldrT="[Text]"/>
      <dgm:spPr/>
      <dgm:t>
        <a:bodyPr/>
        <a:lstStyle/>
        <a:p>
          <a:r>
            <a:rPr lang="en-AU" b="1" dirty="0" smtClean="0">
              <a:solidFill>
                <a:schemeClr val="bg1"/>
              </a:solidFill>
              <a:latin typeface="Helvetica" pitchFamily="34" charset="0"/>
            </a:rPr>
            <a:t>SOURCE DOCUMENTS</a:t>
          </a:r>
          <a:endParaRPr lang="en-AU" dirty="0"/>
        </a:p>
      </dgm:t>
    </dgm:pt>
    <dgm:pt modelId="{662B5A2E-6193-4CF6-B734-6EDF04EEF962}" type="parTrans" cxnId="{F4B62FC1-B825-4ED9-8335-A89A0EEE7858}">
      <dgm:prSet/>
      <dgm:spPr/>
      <dgm:t>
        <a:bodyPr/>
        <a:lstStyle/>
        <a:p>
          <a:endParaRPr lang="en-AU"/>
        </a:p>
      </dgm:t>
    </dgm:pt>
    <dgm:pt modelId="{5C0C9099-2BAC-4B38-A489-CD36E6DFA679}" type="sibTrans" cxnId="{F4B62FC1-B825-4ED9-8335-A89A0EEE7858}">
      <dgm:prSet/>
      <dgm:spPr/>
      <dgm:t>
        <a:bodyPr/>
        <a:lstStyle/>
        <a:p>
          <a:endParaRPr lang="en-AU"/>
        </a:p>
      </dgm:t>
    </dgm:pt>
    <dgm:pt modelId="{15CB4987-3F96-49AF-9426-2006E3614898}">
      <dgm:prSet phldrT="[Text]"/>
      <dgm:spPr/>
      <dgm:t>
        <a:bodyPr/>
        <a:lstStyle/>
        <a:p>
          <a:r>
            <a:rPr lang="en-AU" b="1" dirty="0" smtClean="0">
              <a:solidFill>
                <a:schemeClr val="bg1"/>
              </a:solidFill>
              <a:latin typeface="Helvetica" pitchFamily="34" charset="0"/>
            </a:rPr>
            <a:t>JOURNALS</a:t>
          </a:r>
          <a:endParaRPr lang="en-AU" dirty="0"/>
        </a:p>
      </dgm:t>
    </dgm:pt>
    <dgm:pt modelId="{3C2C6353-784D-4820-83E4-54D9226AD1D1}" type="parTrans" cxnId="{DB5C3B1A-57B0-46B3-B3C5-06700AC8F956}">
      <dgm:prSet/>
      <dgm:spPr/>
      <dgm:t>
        <a:bodyPr/>
        <a:lstStyle/>
        <a:p>
          <a:endParaRPr lang="en-AU"/>
        </a:p>
      </dgm:t>
    </dgm:pt>
    <dgm:pt modelId="{9CF2D785-AF4A-4025-A45F-ADFA9CB2C912}" type="sibTrans" cxnId="{DB5C3B1A-57B0-46B3-B3C5-06700AC8F956}">
      <dgm:prSet/>
      <dgm:spPr/>
      <dgm:t>
        <a:bodyPr/>
        <a:lstStyle/>
        <a:p>
          <a:endParaRPr lang="en-AU"/>
        </a:p>
      </dgm:t>
    </dgm:pt>
    <dgm:pt modelId="{1A77997B-1A99-4837-9B65-233984A89FE6}">
      <dgm:prSet phldrT="[Text]"/>
      <dgm:spPr/>
      <dgm:t>
        <a:bodyPr/>
        <a:lstStyle/>
        <a:p>
          <a:r>
            <a:rPr lang="en-AU" b="1" dirty="0" smtClean="0">
              <a:solidFill>
                <a:schemeClr val="bg1"/>
              </a:solidFill>
              <a:latin typeface="Helvetica" pitchFamily="34" charset="0"/>
            </a:rPr>
            <a:t>LEDGERS</a:t>
          </a:r>
          <a:endParaRPr lang="en-AU" dirty="0"/>
        </a:p>
      </dgm:t>
    </dgm:pt>
    <dgm:pt modelId="{3BF5F4F9-8BFF-4328-9626-9DA5223CBC9E}" type="parTrans" cxnId="{19E57A4C-6BA6-4665-9C34-FA508BFB8984}">
      <dgm:prSet/>
      <dgm:spPr/>
      <dgm:t>
        <a:bodyPr/>
        <a:lstStyle/>
        <a:p>
          <a:endParaRPr lang="en-AU"/>
        </a:p>
      </dgm:t>
    </dgm:pt>
    <dgm:pt modelId="{E86AFF1C-E268-4ACA-85A6-86D8A5F7BFD0}" type="sibTrans" cxnId="{19E57A4C-6BA6-4665-9C34-FA508BFB8984}">
      <dgm:prSet/>
      <dgm:spPr/>
      <dgm:t>
        <a:bodyPr/>
        <a:lstStyle/>
        <a:p>
          <a:endParaRPr lang="en-AU"/>
        </a:p>
      </dgm:t>
    </dgm:pt>
    <dgm:pt modelId="{0F1096D2-3C36-474B-9275-394E339F3308}">
      <dgm:prSet phldrT="[Text]"/>
      <dgm:spPr/>
      <dgm:t>
        <a:bodyPr/>
        <a:lstStyle/>
        <a:p>
          <a:r>
            <a:rPr lang="en-AU" b="1" dirty="0" smtClean="0">
              <a:solidFill>
                <a:schemeClr val="bg1"/>
              </a:solidFill>
              <a:latin typeface="Helvetica" pitchFamily="34" charset="0"/>
            </a:rPr>
            <a:t>TRIAL BALANCE</a:t>
          </a:r>
          <a:endParaRPr lang="en-AU" dirty="0"/>
        </a:p>
      </dgm:t>
    </dgm:pt>
    <dgm:pt modelId="{6B189E3C-3D0D-448C-A316-5656DE509C8B}" type="parTrans" cxnId="{89934C65-5B5D-4DAE-9794-A1C9FCC053F4}">
      <dgm:prSet/>
      <dgm:spPr/>
      <dgm:t>
        <a:bodyPr/>
        <a:lstStyle/>
        <a:p>
          <a:endParaRPr lang="en-AU"/>
        </a:p>
      </dgm:t>
    </dgm:pt>
    <dgm:pt modelId="{E1B1BC01-2963-4FE0-8B71-69B2E3799160}" type="sibTrans" cxnId="{89934C65-5B5D-4DAE-9794-A1C9FCC053F4}">
      <dgm:prSet/>
      <dgm:spPr/>
      <dgm:t>
        <a:bodyPr/>
        <a:lstStyle/>
        <a:p>
          <a:endParaRPr lang="en-AU"/>
        </a:p>
      </dgm:t>
    </dgm:pt>
    <dgm:pt modelId="{4BF9CDD8-EB53-456E-A44A-323EFAEFDB8D}">
      <dgm:prSet phldrT="[Text]"/>
      <dgm:spPr/>
      <dgm:t>
        <a:bodyPr/>
        <a:lstStyle/>
        <a:p>
          <a:r>
            <a:rPr lang="en-AU" b="1" dirty="0" smtClean="0">
              <a:solidFill>
                <a:schemeClr val="bg1"/>
              </a:solidFill>
              <a:latin typeface="Helvetica" pitchFamily="34" charset="0"/>
            </a:rPr>
            <a:t>FINANCIAL REPORTS</a:t>
          </a:r>
          <a:endParaRPr lang="en-AU" dirty="0"/>
        </a:p>
      </dgm:t>
    </dgm:pt>
    <dgm:pt modelId="{86FECF9D-9139-49CD-9F5E-5CABCF42E0EB}" type="parTrans" cxnId="{9943587E-C516-4C2F-B099-0A9CABC60223}">
      <dgm:prSet/>
      <dgm:spPr/>
      <dgm:t>
        <a:bodyPr/>
        <a:lstStyle/>
        <a:p>
          <a:endParaRPr lang="en-AU"/>
        </a:p>
      </dgm:t>
    </dgm:pt>
    <dgm:pt modelId="{565604C6-E61E-4B92-B25D-4D97A0E2BC6D}" type="sibTrans" cxnId="{9943587E-C516-4C2F-B099-0A9CABC60223}">
      <dgm:prSet/>
      <dgm:spPr/>
      <dgm:t>
        <a:bodyPr/>
        <a:lstStyle/>
        <a:p>
          <a:endParaRPr lang="en-AU"/>
        </a:p>
      </dgm:t>
    </dgm:pt>
    <dgm:pt modelId="{CE81AF4C-3C8B-4F14-A2F9-B682A7C8609C}" type="pres">
      <dgm:prSet presAssocID="{F4D7CB3A-D8DD-4978-8561-68E859BC7463}" presName="Name0" presStyleCnt="0">
        <dgm:presLayoutVars>
          <dgm:dir/>
          <dgm:animLvl val="lvl"/>
          <dgm:resizeHandles val="exact"/>
        </dgm:presLayoutVars>
      </dgm:prSet>
      <dgm:spPr/>
      <dgm:t>
        <a:bodyPr/>
        <a:lstStyle/>
        <a:p>
          <a:endParaRPr lang="en-AU"/>
        </a:p>
      </dgm:t>
    </dgm:pt>
    <dgm:pt modelId="{6E41C4E7-67AF-4D15-969C-19468BEFABAB}" type="pres">
      <dgm:prSet presAssocID="{4BF9CDD8-EB53-456E-A44A-323EFAEFDB8D}" presName="boxAndChildren" presStyleCnt="0"/>
      <dgm:spPr/>
    </dgm:pt>
    <dgm:pt modelId="{1950C21A-A2BC-4F3D-80EC-0667EF653941}" type="pres">
      <dgm:prSet presAssocID="{4BF9CDD8-EB53-456E-A44A-323EFAEFDB8D}" presName="parentTextBox" presStyleLbl="node1" presStyleIdx="0" presStyleCnt="6"/>
      <dgm:spPr/>
      <dgm:t>
        <a:bodyPr/>
        <a:lstStyle/>
        <a:p>
          <a:endParaRPr lang="en-AU"/>
        </a:p>
      </dgm:t>
    </dgm:pt>
    <dgm:pt modelId="{A8544B97-4CEE-4568-8EE1-B66301637512}" type="pres">
      <dgm:prSet presAssocID="{E1B1BC01-2963-4FE0-8B71-69B2E3799160}" presName="sp" presStyleCnt="0"/>
      <dgm:spPr/>
    </dgm:pt>
    <dgm:pt modelId="{0954B39F-8D3E-436B-9227-EE186706A5A0}" type="pres">
      <dgm:prSet presAssocID="{0F1096D2-3C36-474B-9275-394E339F3308}" presName="arrowAndChildren" presStyleCnt="0"/>
      <dgm:spPr/>
    </dgm:pt>
    <dgm:pt modelId="{030F24EA-88A4-4D5D-9FF1-53F15731681D}" type="pres">
      <dgm:prSet presAssocID="{0F1096D2-3C36-474B-9275-394E339F3308}" presName="parentTextArrow" presStyleLbl="node1" presStyleIdx="1" presStyleCnt="6"/>
      <dgm:spPr/>
      <dgm:t>
        <a:bodyPr/>
        <a:lstStyle/>
        <a:p>
          <a:endParaRPr lang="en-AU"/>
        </a:p>
      </dgm:t>
    </dgm:pt>
    <dgm:pt modelId="{1952BCBD-24CD-4803-B8A2-9D38F7F0D40D}" type="pres">
      <dgm:prSet presAssocID="{E86AFF1C-E268-4ACA-85A6-86D8A5F7BFD0}" presName="sp" presStyleCnt="0"/>
      <dgm:spPr/>
    </dgm:pt>
    <dgm:pt modelId="{E4EFC28E-40A5-490F-AF6F-D13F019CA4ED}" type="pres">
      <dgm:prSet presAssocID="{1A77997B-1A99-4837-9B65-233984A89FE6}" presName="arrowAndChildren" presStyleCnt="0"/>
      <dgm:spPr/>
    </dgm:pt>
    <dgm:pt modelId="{17B81B38-2014-45F0-AB45-83EF9E7530B8}" type="pres">
      <dgm:prSet presAssocID="{1A77997B-1A99-4837-9B65-233984A89FE6}" presName="parentTextArrow" presStyleLbl="node1" presStyleIdx="2" presStyleCnt="6"/>
      <dgm:spPr/>
      <dgm:t>
        <a:bodyPr/>
        <a:lstStyle/>
        <a:p>
          <a:endParaRPr lang="en-AU"/>
        </a:p>
      </dgm:t>
    </dgm:pt>
    <dgm:pt modelId="{70A0B02E-02E1-46A0-B09F-674BD860025C}" type="pres">
      <dgm:prSet presAssocID="{9CF2D785-AF4A-4025-A45F-ADFA9CB2C912}" presName="sp" presStyleCnt="0"/>
      <dgm:spPr/>
    </dgm:pt>
    <dgm:pt modelId="{B4B633DE-D6D9-488B-A297-4DC8B65F0292}" type="pres">
      <dgm:prSet presAssocID="{15CB4987-3F96-49AF-9426-2006E3614898}" presName="arrowAndChildren" presStyleCnt="0"/>
      <dgm:spPr/>
    </dgm:pt>
    <dgm:pt modelId="{794F93DB-99E3-484F-967F-3ECAB0282B6D}" type="pres">
      <dgm:prSet presAssocID="{15CB4987-3F96-49AF-9426-2006E3614898}" presName="parentTextArrow" presStyleLbl="node1" presStyleIdx="3" presStyleCnt="6"/>
      <dgm:spPr/>
      <dgm:t>
        <a:bodyPr/>
        <a:lstStyle/>
        <a:p>
          <a:endParaRPr lang="en-AU"/>
        </a:p>
      </dgm:t>
    </dgm:pt>
    <dgm:pt modelId="{4BE892A7-07E0-4AAE-ABCF-29214EA2F70D}" type="pres">
      <dgm:prSet presAssocID="{5C0C9099-2BAC-4B38-A489-CD36E6DFA679}" presName="sp" presStyleCnt="0"/>
      <dgm:spPr/>
    </dgm:pt>
    <dgm:pt modelId="{70ABE452-00CE-4C89-BE9D-7B1448BC947B}" type="pres">
      <dgm:prSet presAssocID="{1B7CF090-A033-457E-B0AE-1CAF23A162C3}" presName="arrowAndChildren" presStyleCnt="0"/>
      <dgm:spPr/>
    </dgm:pt>
    <dgm:pt modelId="{E57B793D-A40A-4FD3-9D21-2B11B0AF57C2}" type="pres">
      <dgm:prSet presAssocID="{1B7CF090-A033-457E-B0AE-1CAF23A162C3}" presName="parentTextArrow" presStyleLbl="node1" presStyleIdx="4" presStyleCnt="6"/>
      <dgm:spPr/>
      <dgm:t>
        <a:bodyPr/>
        <a:lstStyle/>
        <a:p>
          <a:endParaRPr lang="en-AU"/>
        </a:p>
      </dgm:t>
    </dgm:pt>
    <dgm:pt modelId="{70BD7BA2-F632-4AA1-A21D-67B01CAE5B0A}" type="pres">
      <dgm:prSet presAssocID="{CB8332C7-3088-41AD-82B1-A865974FA517}" presName="sp" presStyleCnt="0"/>
      <dgm:spPr/>
    </dgm:pt>
    <dgm:pt modelId="{35C5E803-EB1F-4EA8-A355-FF3224345E5C}" type="pres">
      <dgm:prSet presAssocID="{020E6E95-AF36-48C5-A58B-76DC6EB79527}" presName="arrowAndChildren" presStyleCnt="0"/>
      <dgm:spPr/>
    </dgm:pt>
    <dgm:pt modelId="{D81ADE92-9B4C-432B-BCAF-DC03229DD1F6}" type="pres">
      <dgm:prSet presAssocID="{020E6E95-AF36-48C5-A58B-76DC6EB79527}" presName="parentTextArrow" presStyleLbl="node1" presStyleIdx="5" presStyleCnt="6"/>
      <dgm:spPr/>
      <dgm:t>
        <a:bodyPr/>
        <a:lstStyle/>
        <a:p>
          <a:endParaRPr lang="en-AU"/>
        </a:p>
      </dgm:t>
    </dgm:pt>
  </dgm:ptLst>
  <dgm:cxnLst>
    <dgm:cxn modelId="{0F36A1E2-6EA5-417F-96E8-BA0CDC82CB34}" type="presOf" srcId="{020E6E95-AF36-48C5-A58B-76DC6EB79527}" destId="{D81ADE92-9B4C-432B-BCAF-DC03229DD1F6}" srcOrd="0" destOrd="0" presId="urn:microsoft.com/office/officeart/2005/8/layout/process4"/>
    <dgm:cxn modelId="{89934C65-5B5D-4DAE-9794-A1C9FCC053F4}" srcId="{F4D7CB3A-D8DD-4978-8561-68E859BC7463}" destId="{0F1096D2-3C36-474B-9275-394E339F3308}" srcOrd="4" destOrd="0" parTransId="{6B189E3C-3D0D-448C-A316-5656DE509C8B}" sibTransId="{E1B1BC01-2963-4FE0-8B71-69B2E3799160}"/>
    <dgm:cxn modelId="{9E1F24E5-4588-4E02-9DCC-844B547ADA38}" type="presOf" srcId="{1A77997B-1A99-4837-9B65-233984A89FE6}" destId="{17B81B38-2014-45F0-AB45-83EF9E7530B8}" srcOrd="0" destOrd="0" presId="urn:microsoft.com/office/officeart/2005/8/layout/process4"/>
    <dgm:cxn modelId="{9943587E-C516-4C2F-B099-0A9CABC60223}" srcId="{F4D7CB3A-D8DD-4978-8561-68E859BC7463}" destId="{4BF9CDD8-EB53-456E-A44A-323EFAEFDB8D}" srcOrd="5" destOrd="0" parTransId="{86FECF9D-9139-49CD-9F5E-5CABCF42E0EB}" sibTransId="{565604C6-E61E-4B92-B25D-4D97A0E2BC6D}"/>
    <dgm:cxn modelId="{334F2447-A1C6-49E4-A712-2A60704AA6C4}" type="presOf" srcId="{1B7CF090-A033-457E-B0AE-1CAF23A162C3}" destId="{E57B793D-A40A-4FD3-9D21-2B11B0AF57C2}" srcOrd="0" destOrd="0" presId="urn:microsoft.com/office/officeart/2005/8/layout/process4"/>
    <dgm:cxn modelId="{4DD29F90-6A45-4C89-A066-F82C41CC603E}" srcId="{F4D7CB3A-D8DD-4978-8561-68E859BC7463}" destId="{020E6E95-AF36-48C5-A58B-76DC6EB79527}" srcOrd="0" destOrd="0" parTransId="{CCC4E24B-9314-4358-9FD8-15EC85F0F758}" sibTransId="{CB8332C7-3088-41AD-82B1-A865974FA517}"/>
    <dgm:cxn modelId="{2148D6CB-EB6F-443F-912F-03A97D210F3C}" type="presOf" srcId="{4BF9CDD8-EB53-456E-A44A-323EFAEFDB8D}" destId="{1950C21A-A2BC-4F3D-80EC-0667EF653941}" srcOrd="0" destOrd="0" presId="urn:microsoft.com/office/officeart/2005/8/layout/process4"/>
    <dgm:cxn modelId="{F4B62FC1-B825-4ED9-8335-A89A0EEE7858}" srcId="{F4D7CB3A-D8DD-4978-8561-68E859BC7463}" destId="{1B7CF090-A033-457E-B0AE-1CAF23A162C3}" srcOrd="1" destOrd="0" parTransId="{662B5A2E-6193-4CF6-B734-6EDF04EEF962}" sibTransId="{5C0C9099-2BAC-4B38-A489-CD36E6DFA679}"/>
    <dgm:cxn modelId="{E38B20A0-507E-4E66-997D-464582076E4A}" type="presOf" srcId="{0F1096D2-3C36-474B-9275-394E339F3308}" destId="{030F24EA-88A4-4D5D-9FF1-53F15731681D}" srcOrd="0" destOrd="0" presId="urn:microsoft.com/office/officeart/2005/8/layout/process4"/>
    <dgm:cxn modelId="{016A06B8-320C-4FDF-8D37-8FDFD489C8D8}" type="presOf" srcId="{F4D7CB3A-D8DD-4978-8561-68E859BC7463}" destId="{CE81AF4C-3C8B-4F14-A2F9-B682A7C8609C}" srcOrd="0" destOrd="0" presId="urn:microsoft.com/office/officeart/2005/8/layout/process4"/>
    <dgm:cxn modelId="{DB5C3B1A-57B0-46B3-B3C5-06700AC8F956}" srcId="{F4D7CB3A-D8DD-4978-8561-68E859BC7463}" destId="{15CB4987-3F96-49AF-9426-2006E3614898}" srcOrd="2" destOrd="0" parTransId="{3C2C6353-784D-4820-83E4-54D9226AD1D1}" sibTransId="{9CF2D785-AF4A-4025-A45F-ADFA9CB2C912}"/>
    <dgm:cxn modelId="{19E57A4C-6BA6-4665-9C34-FA508BFB8984}" srcId="{F4D7CB3A-D8DD-4978-8561-68E859BC7463}" destId="{1A77997B-1A99-4837-9B65-233984A89FE6}" srcOrd="3" destOrd="0" parTransId="{3BF5F4F9-8BFF-4328-9626-9DA5223CBC9E}" sibTransId="{E86AFF1C-E268-4ACA-85A6-86D8A5F7BFD0}"/>
    <dgm:cxn modelId="{873F195F-845A-4052-9948-8E36CF168D8E}" type="presOf" srcId="{15CB4987-3F96-49AF-9426-2006E3614898}" destId="{794F93DB-99E3-484F-967F-3ECAB0282B6D}" srcOrd="0" destOrd="0" presId="urn:microsoft.com/office/officeart/2005/8/layout/process4"/>
    <dgm:cxn modelId="{DF07CDAD-73EA-4D36-B55F-8C00D09F94F0}" type="presParOf" srcId="{CE81AF4C-3C8B-4F14-A2F9-B682A7C8609C}" destId="{6E41C4E7-67AF-4D15-969C-19468BEFABAB}" srcOrd="0" destOrd="0" presId="urn:microsoft.com/office/officeart/2005/8/layout/process4"/>
    <dgm:cxn modelId="{9E46C29C-F207-41C0-B37A-DE73D67491D1}" type="presParOf" srcId="{6E41C4E7-67AF-4D15-969C-19468BEFABAB}" destId="{1950C21A-A2BC-4F3D-80EC-0667EF653941}" srcOrd="0" destOrd="0" presId="urn:microsoft.com/office/officeart/2005/8/layout/process4"/>
    <dgm:cxn modelId="{B2DA75B1-8BF3-427D-AFF8-F6CAEF490547}" type="presParOf" srcId="{CE81AF4C-3C8B-4F14-A2F9-B682A7C8609C}" destId="{A8544B97-4CEE-4568-8EE1-B66301637512}" srcOrd="1" destOrd="0" presId="urn:microsoft.com/office/officeart/2005/8/layout/process4"/>
    <dgm:cxn modelId="{6814D21B-8328-4E37-A5DE-9A768D27B762}" type="presParOf" srcId="{CE81AF4C-3C8B-4F14-A2F9-B682A7C8609C}" destId="{0954B39F-8D3E-436B-9227-EE186706A5A0}" srcOrd="2" destOrd="0" presId="urn:microsoft.com/office/officeart/2005/8/layout/process4"/>
    <dgm:cxn modelId="{A77E9650-0AE3-43C2-BE70-2424FBF3989B}" type="presParOf" srcId="{0954B39F-8D3E-436B-9227-EE186706A5A0}" destId="{030F24EA-88A4-4D5D-9FF1-53F15731681D}" srcOrd="0" destOrd="0" presId="urn:microsoft.com/office/officeart/2005/8/layout/process4"/>
    <dgm:cxn modelId="{24F84C84-D050-475E-B5F3-15EDC74772DB}" type="presParOf" srcId="{CE81AF4C-3C8B-4F14-A2F9-B682A7C8609C}" destId="{1952BCBD-24CD-4803-B8A2-9D38F7F0D40D}" srcOrd="3" destOrd="0" presId="urn:microsoft.com/office/officeart/2005/8/layout/process4"/>
    <dgm:cxn modelId="{A5D032FD-4F3D-4A4B-A46F-27379AF45543}" type="presParOf" srcId="{CE81AF4C-3C8B-4F14-A2F9-B682A7C8609C}" destId="{E4EFC28E-40A5-490F-AF6F-D13F019CA4ED}" srcOrd="4" destOrd="0" presId="urn:microsoft.com/office/officeart/2005/8/layout/process4"/>
    <dgm:cxn modelId="{7C360BFF-60D3-4B37-A29B-EA7F059B9B44}" type="presParOf" srcId="{E4EFC28E-40A5-490F-AF6F-D13F019CA4ED}" destId="{17B81B38-2014-45F0-AB45-83EF9E7530B8}" srcOrd="0" destOrd="0" presId="urn:microsoft.com/office/officeart/2005/8/layout/process4"/>
    <dgm:cxn modelId="{BD000ADB-4932-4AE9-AB55-DC1F5E77CEE7}" type="presParOf" srcId="{CE81AF4C-3C8B-4F14-A2F9-B682A7C8609C}" destId="{70A0B02E-02E1-46A0-B09F-674BD860025C}" srcOrd="5" destOrd="0" presId="urn:microsoft.com/office/officeart/2005/8/layout/process4"/>
    <dgm:cxn modelId="{25174666-A04B-410C-B668-219B25DB61A3}" type="presParOf" srcId="{CE81AF4C-3C8B-4F14-A2F9-B682A7C8609C}" destId="{B4B633DE-D6D9-488B-A297-4DC8B65F0292}" srcOrd="6" destOrd="0" presId="urn:microsoft.com/office/officeart/2005/8/layout/process4"/>
    <dgm:cxn modelId="{4B1BB458-B34C-4DF6-99E3-3874BAE653D1}" type="presParOf" srcId="{B4B633DE-D6D9-488B-A297-4DC8B65F0292}" destId="{794F93DB-99E3-484F-967F-3ECAB0282B6D}" srcOrd="0" destOrd="0" presId="urn:microsoft.com/office/officeart/2005/8/layout/process4"/>
    <dgm:cxn modelId="{2CCBDA13-D556-4BD1-99EB-6796058EC4A0}" type="presParOf" srcId="{CE81AF4C-3C8B-4F14-A2F9-B682A7C8609C}" destId="{4BE892A7-07E0-4AAE-ABCF-29214EA2F70D}" srcOrd="7" destOrd="0" presId="urn:microsoft.com/office/officeart/2005/8/layout/process4"/>
    <dgm:cxn modelId="{7EF9E1F8-8896-4FFC-9E98-FCA323540AF1}" type="presParOf" srcId="{CE81AF4C-3C8B-4F14-A2F9-B682A7C8609C}" destId="{70ABE452-00CE-4C89-BE9D-7B1448BC947B}" srcOrd="8" destOrd="0" presId="urn:microsoft.com/office/officeart/2005/8/layout/process4"/>
    <dgm:cxn modelId="{39720EDB-17F8-4401-99D9-440A142A0109}" type="presParOf" srcId="{70ABE452-00CE-4C89-BE9D-7B1448BC947B}" destId="{E57B793D-A40A-4FD3-9D21-2B11B0AF57C2}" srcOrd="0" destOrd="0" presId="urn:microsoft.com/office/officeart/2005/8/layout/process4"/>
    <dgm:cxn modelId="{1EC7FBCC-8A56-4984-93F0-AFC0E0A4971B}" type="presParOf" srcId="{CE81AF4C-3C8B-4F14-A2F9-B682A7C8609C}" destId="{70BD7BA2-F632-4AA1-A21D-67B01CAE5B0A}" srcOrd="9" destOrd="0" presId="urn:microsoft.com/office/officeart/2005/8/layout/process4"/>
    <dgm:cxn modelId="{FE7D2618-FB19-47CE-B0D3-1B449D18DFBE}" type="presParOf" srcId="{CE81AF4C-3C8B-4F14-A2F9-B682A7C8609C}" destId="{35C5E803-EB1F-4EA8-A355-FF3224345E5C}" srcOrd="10" destOrd="0" presId="urn:microsoft.com/office/officeart/2005/8/layout/process4"/>
    <dgm:cxn modelId="{5C68C6F0-C0AD-4243-AB60-6059C937FF18}" type="presParOf" srcId="{35C5E803-EB1F-4EA8-A355-FF3224345E5C}" destId="{D81ADE92-9B4C-432B-BCAF-DC03229DD1F6}" srcOrd="0" destOrd="0" presId="urn:microsoft.com/office/officeart/2005/8/layout/process4"/>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D7CB3A-D8DD-4978-8561-68E859BC7463}" type="doc">
      <dgm:prSet loTypeId="urn:microsoft.com/office/officeart/2005/8/layout/process4" loCatId="process" qsTypeId="urn:microsoft.com/office/officeart/2005/8/quickstyle/simple1" qsCatId="simple" csTypeId="urn:microsoft.com/office/officeart/2005/8/colors/colorful1#1" csCatId="colorful" phldr="1"/>
      <dgm:spPr/>
      <dgm:t>
        <a:bodyPr/>
        <a:lstStyle/>
        <a:p>
          <a:endParaRPr lang="en-AU"/>
        </a:p>
      </dgm:t>
    </dgm:pt>
    <dgm:pt modelId="{020E6E95-AF36-48C5-A58B-76DC6EB79527}">
      <dgm:prSet phldrT="[Text]"/>
      <dgm:spPr/>
      <dgm:t>
        <a:bodyPr/>
        <a:lstStyle/>
        <a:p>
          <a:r>
            <a:rPr lang="en-AU" b="1" dirty="0" smtClean="0">
              <a:latin typeface="Helvetica" pitchFamily="34" charset="0"/>
            </a:rPr>
            <a:t>TRANSACTIONS</a:t>
          </a:r>
          <a:endParaRPr lang="en-AU" dirty="0"/>
        </a:p>
      </dgm:t>
    </dgm:pt>
    <dgm:pt modelId="{CCC4E24B-9314-4358-9FD8-15EC85F0F758}" type="parTrans" cxnId="{4DD29F90-6A45-4C89-A066-F82C41CC603E}">
      <dgm:prSet/>
      <dgm:spPr/>
      <dgm:t>
        <a:bodyPr/>
        <a:lstStyle/>
        <a:p>
          <a:endParaRPr lang="en-AU"/>
        </a:p>
      </dgm:t>
    </dgm:pt>
    <dgm:pt modelId="{CB8332C7-3088-41AD-82B1-A865974FA517}" type="sibTrans" cxnId="{4DD29F90-6A45-4C89-A066-F82C41CC603E}">
      <dgm:prSet/>
      <dgm:spPr/>
      <dgm:t>
        <a:bodyPr/>
        <a:lstStyle/>
        <a:p>
          <a:endParaRPr lang="en-AU"/>
        </a:p>
      </dgm:t>
    </dgm:pt>
    <dgm:pt modelId="{1B7CF090-A033-457E-B0AE-1CAF23A162C3}">
      <dgm:prSet phldrT="[Text]"/>
      <dgm:spPr/>
      <dgm:t>
        <a:bodyPr/>
        <a:lstStyle/>
        <a:p>
          <a:r>
            <a:rPr lang="en-AU" b="1" dirty="0" smtClean="0">
              <a:latin typeface="Helvetica" pitchFamily="34" charset="0"/>
            </a:rPr>
            <a:t>SOURCE DOCUMENTS</a:t>
          </a:r>
          <a:endParaRPr lang="en-AU" dirty="0"/>
        </a:p>
      </dgm:t>
    </dgm:pt>
    <dgm:pt modelId="{662B5A2E-6193-4CF6-B734-6EDF04EEF962}" type="parTrans" cxnId="{F4B62FC1-B825-4ED9-8335-A89A0EEE7858}">
      <dgm:prSet/>
      <dgm:spPr/>
      <dgm:t>
        <a:bodyPr/>
        <a:lstStyle/>
        <a:p>
          <a:endParaRPr lang="en-AU"/>
        </a:p>
      </dgm:t>
    </dgm:pt>
    <dgm:pt modelId="{5C0C9099-2BAC-4B38-A489-CD36E6DFA679}" type="sibTrans" cxnId="{F4B62FC1-B825-4ED9-8335-A89A0EEE7858}">
      <dgm:prSet/>
      <dgm:spPr/>
      <dgm:t>
        <a:bodyPr/>
        <a:lstStyle/>
        <a:p>
          <a:endParaRPr lang="en-AU"/>
        </a:p>
      </dgm:t>
    </dgm:pt>
    <dgm:pt modelId="{15CB4987-3F96-49AF-9426-2006E3614898}">
      <dgm:prSet phldrT="[Text]"/>
      <dgm:spPr/>
      <dgm:t>
        <a:bodyPr/>
        <a:lstStyle/>
        <a:p>
          <a:r>
            <a:rPr lang="en-AU" b="1" dirty="0" smtClean="0">
              <a:latin typeface="Helvetica" pitchFamily="34" charset="0"/>
            </a:rPr>
            <a:t>JOURNALS</a:t>
          </a:r>
          <a:endParaRPr lang="en-AU" dirty="0"/>
        </a:p>
      </dgm:t>
    </dgm:pt>
    <dgm:pt modelId="{3C2C6353-784D-4820-83E4-54D9226AD1D1}" type="parTrans" cxnId="{DB5C3B1A-57B0-46B3-B3C5-06700AC8F956}">
      <dgm:prSet/>
      <dgm:spPr/>
      <dgm:t>
        <a:bodyPr/>
        <a:lstStyle/>
        <a:p>
          <a:endParaRPr lang="en-AU"/>
        </a:p>
      </dgm:t>
    </dgm:pt>
    <dgm:pt modelId="{9CF2D785-AF4A-4025-A45F-ADFA9CB2C912}" type="sibTrans" cxnId="{DB5C3B1A-57B0-46B3-B3C5-06700AC8F956}">
      <dgm:prSet/>
      <dgm:spPr/>
      <dgm:t>
        <a:bodyPr/>
        <a:lstStyle/>
        <a:p>
          <a:endParaRPr lang="en-AU"/>
        </a:p>
      </dgm:t>
    </dgm:pt>
    <dgm:pt modelId="{1A77997B-1A99-4837-9B65-233984A89FE6}">
      <dgm:prSet phldrT="[Text]"/>
      <dgm:spPr/>
      <dgm:t>
        <a:bodyPr/>
        <a:lstStyle/>
        <a:p>
          <a:r>
            <a:rPr lang="en-AU" b="1" dirty="0" smtClean="0">
              <a:latin typeface="Helvetica" pitchFamily="34" charset="0"/>
            </a:rPr>
            <a:t>LEDGERS</a:t>
          </a:r>
          <a:endParaRPr lang="en-AU" dirty="0"/>
        </a:p>
      </dgm:t>
    </dgm:pt>
    <dgm:pt modelId="{3BF5F4F9-8BFF-4328-9626-9DA5223CBC9E}" type="parTrans" cxnId="{19E57A4C-6BA6-4665-9C34-FA508BFB8984}">
      <dgm:prSet/>
      <dgm:spPr/>
      <dgm:t>
        <a:bodyPr/>
        <a:lstStyle/>
        <a:p>
          <a:endParaRPr lang="en-AU"/>
        </a:p>
      </dgm:t>
    </dgm:pt>
    <dgm:pt modelId="{E86AFF1C-E268-4ACA-85A6-86D8A5F7BFD0}" type="sibTrans" cxnId="{19E57A4C-6BA6-4665-9C34-FA508BFB8984}">
      <dgm:prSet/>
      <dgm:spPr/>
      <dgm:t>
        <a:bodyPr/>
        <a:lstStyle/>
        <a:p>
          <a:endParaRPr lang="en-AU"/>
        </a:p>
      </dgm:t>
    </dgm:pt>
    <dgm:pt modelId="{0F1096D2-3C36-474B-9275-394E339F3308}">
      <dgm:prSet phldrT="[Text]"/>
      <dgm:spPr/>
      <dgm:t>
        <a:bodyPr/>
        <a:lstStyle/>
        <a:p>
          <a:r>
            <a:rPr lang="en-AU" b="1" dirty="0" smtClean="0">
              <a:latin typeface="Helvetica" pitchFamily="34" charset="0"/>
            </a:rPr>
            <a:t>TRIAL BALANCE</a:t>
          </a:r>
          <a:endParaRPr lang="en-AU" dirty="0"/>
        </a:p>
      </dgm:t>
    </dgm:pt>
    <dgm:pt modelId="{6B189E3C-3D0D-448C-A316-5656DE509C8B}" type="parTrans" cxnId="{89934C65-5B5D-4DAE-9794-A1C9FCC053F4}">
      <dgm:prSet/>
      <dgm:spPr/>
      <dgm:t>
        <a:bodyPr/>
        <a:lstStyle/>
        <a:p>
          <a:endParaRPr lang="en-AU"/>
        </a:p>
      </dgm:t>
    </dgm:pt>
    <dgm:pt modelId="{E1B1BC01-2963-4FE0-8B71-69B2E3799160}" type="sibTrans" cxnId="{89934C65-5B5D-4DAE-9794-A1C9FCC053F4}">
      <dgm:prSet/>
      <dgm:spPr/>
      <dgm:t>
        <a:bodyPr/>
        <a:lstStyle/>
        <a:p>
          <a:endParaRPr lang="en-AU"/>
        </a:p>
      </dgm:t>
    </dgm:pt>
    <dgm:pt modelId="{4BF9CDD8-EB53-456E-A44A-323EFAEFDB8D}">
      <dgm:prSet phldrT="[Text]"/>
      <dgm:spPr/>
      <dgm:t>
        <a:bodyPr/>
        <a:lstStyle/>
        <a:p>
          <a:r>
            <a:rPr lang="en-AU" b="1" dirty="0" smtClean="0">
              <a:latin typeface="Helvetica" pitchFamily="34" charset="0"/>
            </a:rPr>
            <a:t>FINANCIAL REPORTS</a:t>
          </a:r>
          <a:endParaRPr lang="en-AU" dirty="0"/>
        </a:p>
      </dgm:t>
    </dgm:pt>
    <dgm:pt modelId="{86FECF9D-9139-49CD-9F5E-5CABCF42E0EB}" type="parTrans" cxnId="{9943587E-C516-4C2F-B099-0A9CABC60223}">
      <dgm:prSet/>
      <dgm:spPr/>
      <dgm:t>
        <a:bodyPr/>
        <a:lstStyle/>
        <a:p>
          <a:endParaRPr lang="en-AU"/>
        </a:p>
      </dgm:t>
    </dgm:pt>
    <dgm:pt modelId="{565604C6-E61E-4B92-B25D-4D97A0E2BC6D}" type="sibTrans" cxnId="{9943587E-C516-4C2F-B099-0A9CABC60223}">
      <dgm:prSet/>
      <dgm:spPr/>
      <dgm:t>
        <a:bodyPr/>
        <a:lstStyle/>
        <a:p>
          <a:endParaRPr lang="en-AU"/>
        </a:p>
      </dgm:t>
    </dgm:pt>
    <dgm:pt modelId="{CE81AF4C-3C8B-4F14-A2F9-B682A7C8609C}" type="pres">
      <dgm:prSet presAssocID="{F4D7CB3A-D8DD-4978-8561-68E859BC7463}" presName="Name0" presStyleCnt="0">
        <dgm:presLayoutVars>
          <dgm:dir/>
          <dgm:animLvl val="lvl"/>
          <dgm:resizeHandles val="exact"/>
        </dgm:presLayoutVars>
      </dgm:prSet>
      <dgm:spPr/>
      <dgm:t>
        <a:bodyPr/>
        <a:lstStyle/>
        <a:p>
          <a:endParaRPr lang="en-AU"/>
        </a:p>
      </dgm:t>
    </dgm:pt>
    <dgm:pt modelId="{6E41C4E7-67AF-4D15-969C-19468BEFABAB}" type="pres">
      <dgm:prSet presAssocID="{4BF9CDD8-EB53-456E-A44A-323EFAEFDB8D}" presName="boxAndChildren" presStyleCnt="0"/>
      <dgm:spPr/>
    </dgm:pt>
    <dgm:pt modelId="{1950C21A-A2BC-4F3D-80EC-0667EF653941}" type="pres">
      <dgm:prSet presAssocID="{4BF9CDD8-EB53-456E-A44A-323EFAEFDB8D}" presName="parentTextBox" presStyleLbl="node1" presStyleIdx="0" presStyleCnt="6"/>
      <dgm:spPr/>
      <dgm:t>
        <a:bodyPr/>
        <a:lstStyle/>
        <a:p>
          <a:endParaRPr lang="en-AU"/>
        </a:p>
      </dgm:t>
    </dgm:pt>
    <dgm:pt modelId="{A8544B97-4CEE-4568-8EE1-B66301637512}" type="pres">
      <dgm:prSet presAssocID="{E1B1BC01-2963-4FE0-8B71-69B2E3799160}" presName="sp" presStyleCnt="0"/>
      <dgm:spPr/>
    </dgm:pt>
    <dgm:pt modelId="{0954B39F-8D3E-436B-9227-EE186706A5A0}" type="pres">
      <dgm:prSet presAssocID="{0F1096D2-3C36-474B-9275-394E339F3308}" presName="arrowAndChildren" presStyleCnt="0"/>
      <dgm:spPr/>
    </dgm:pt>
    <dgm:pt modelId="{030F24EA-88A4-4D5D-9FF1-53F15731681D}" type="pres">
      <dgm:prSet presAssocID="{0F1096D2-3C36-474B-9275-394E339F3308}" presName="parentTextArrow" presStyleLbl="node1" presStyleIdx="1" presStyleCnt="6"/>
      <dgm:spPr/>
      <dgm:t>
        <a:bodyPr/>
        <a:lstStyle/>
        <a:p>
          <a:endParaRPr lang="en-AU"/>
        </a:p>
      </dgm:t>
    </dgm:pt>
    <dgm:pt modelId="{1952BCBD-24CD-4803-B8A2-9D38F7F0D40D}" type="pres">
      <dgm:prSet presAssocID="{E86AFF1C-E268-4ACA-85A6-86D8A5F7BFD0}" presName="sp" presStyleCnt="0"/>
      <dgm:spPr/>
    </dgm:pt>
    <dgm:pt modelId="{E4EFC28E-40A5-490F-AF6F-D13F019CA4ED}" type="pres">
      <dgm:prSet presAssocID="{1A77997B-1A99-4837-9B65-233984A89FE6}" presName="arrowAndChildren" presStyleCnt="0"/>
      <dgm:spPr/>
    </dgm:pt>
    <dgm:pt modelId="{17B81B38-2014-45F0-AB45-83EF9E7530B8}" type="pres">
      <dgm:prSet presAssocID="{1A77997B-1A99-4837-9B65-233984A89FE6}" presName="parentTextArrow" presStyleLbl="node1" presStyleIdx="2" presStyleCnt="6"/>
      <dgm:spPr/>
      <dgm:t>
        <a:bodyPr/>
        <a:lstStyle/>
        <a:p>
          <a:endParaRPr lang="en-AU"/>
        </a:p>
      </dgm:t>
    </dgm:pt>
    <dgm:pt modelId="{70A0B02E-02E1-46A0-B09F-674BD860025C}" type="pres">
      <dgm:prSet presAssocID="{9CF2D785-AF4A-4025-A45F-ADFA9CB2C912}" presName="sp" presStyleCnt="0"/>
      <dgm:spPr/>
    </dgm:pt>
    <dgm:pt modelId="{B4B633DE-D6D9-488B-A297-4DC8B65F0292}" type="pres">
      <dgm:prSet presAssocID="{15CB4987-3F96-49AF-9426-2006E3614898}" presName="arrowAndChildren" presStyleCnt="0"/>
      <dgm:spPr/>
    </dgm:pt>
    <dgm:pt modelId="{794F93DB-99E3-484F-967F-3ECAB0282B6D}" type="pres">
      <dgm:prSet presAssocID="{15CB4987-3F96-49AF-9426-2006E3614898}" presName="parentTextArrow" presStyleLbl="node1" presStyleIdx="3" presStyleCnt="6"/>
      <dgm:spPr/>
      <dgm:t>
        <a:bodyPr/>
        <a:lstStyle/>
        <a:p>
          <a:endParaRPr lang="en-AU"/>
        </a:p>
      </dgm:t>
    </dgm:pt>
    <dgm:pt modelId="{4BE892A7-07E0-4AAE-ABCF-29214EA2F70D}" type="pres">
      <dgm:prSet presAssocID="{5C0C9099-2BAC-4B38-A489-CD36E6DFA679}" presName="sp" presStyleCnt="0"/>
      <dgm:spPr/>
    </dgm:pt>
    <dgm:pt modelId="{70ABE452-00CE-4C89-BE9D-7B1448BC947B}" type="pres">
      <dgm:prSet presAssocID="{1B7CF090-A033-457E-B0AE-1CAF23A162C3}" presName="arrowAndChildren" presStyleCnt="0"/>
      <dgm:spPr/>
    </dgm:pt>
    <dgm:pt modelId="{E57B793D-A40A-4FD3-9D21-2B11B0AF57C2}" type="pres">
      <dgm:prSet presAssocID="{1B7CF090-A033-457E-B0AE-1CAF23A162C3}" presName="parentTextArrow" presStyleLbl="node1" presStyleIdx="4" presStyleCnt="6"/>
      <dgm:spPr/>
      <dgm:t>
        <a:bodyPr/>
        <a:lstStyle/>
        <a:p>
          <a:endParaRPr lang="en-AU"/>
        </a:p>
      </dgm:t>
    </dgm:pt>
    <dgm:pt modelId="{70BD7BA2-F632-4AA1-A21D-67B01CAE5B0A}" type="pres">
      <dgm:prSet presAssocID="{CB8332C7-3088-41AD-82B1-A865974FA517}" presName="sp" presStyleCnt="0"/>
      <dgm:spPr/>
    </dgm:pt>
    <dgm:pt modelId="{35C5E803-EB1F-4EA8-A355-FF3224345E5C}" type="pres">
      <dgm:prSet presAssocID="{020E6E95-AF36-48C5-A58B-76DC6EB79527}" presName="arrowAndChildren" presStyleCnt="0"/>
      <dgm:spPr/>
    </dgm:pt>
    <dgm:pt modelId="{D81ADE92-9B4C-432B-BCAF-DC03229DD1F6}" type="pres">
      <dgm:prSet presAssocID="{020E6E95-AF36-48C5-A58B-76DC6EB79527}" presName="parentTextArrow" presStyleLbl="node1" presStyleIdx="5" presStyleCnt="6"/>
      <dgm:spPr/>
      <dgm:t>
        <a:bodyPr/>
        <a:lstStyle/>
        <a:p>
          <a:endParaRPr lang="en-AU"/>
        </a:p>
      </dgm:t>
    </dgm:pt>
  </dgm:ptLst>
  <dgm:cxnLst>
    <dgm:cxn modelId="{89934C65-5B5D-4DAE-9794-A1C9FCC053F4}" srcId="{F4D7CB3A-D8DD-4978-8561-68E859BC7463}" destId="{0F1096D2-3C36-474B-9275-394E339F3308}" srcOrd="4" destOrd="0" parTransId="{6B189E3C-3D0D-448C-A316-5656DE509C8B}" sibTransId="{E1B1BC01-2963-4FE0-8B71-69B2E3799160}"/>
    <dgm:cxn modelId="{4DD29F90-6A45-4C89-A066-F82C41CC603E}" srcId="{F4D7CB3A-D8DD-4978-8561-68E859BC7463}" destId="{020E6E95-AF36-48C5-A58B-76DC6EB79527}" srcOrd="0" destOrd="0" parTransId="{CCC4E24B-9314-4358-9FD8-15EC85F0F758}" sibTransId="{CB8332C7-3088-41AD-82B1-A865974FA517}"/>
    <dgm:cxn modelId="{41513CCB-1E63-434D-B6FE-AC47E2DC03DF}" type="presOf" srcId="{15CB4987-3F96-49AF-9426-2006E3614898}" destId="{794F93DB-99E3-484F-967F-3ECAB0282B6D}" srcOrd="0" destOrd="0" presId="urn:microsoft.com/office/officeart/2005/8/layout/process4"/>
    <dgm:cxn modelId="{CFE4546F-707D-4F4F-975F-01344891DD1F}" type="presOf" srcId="{1A77997B-1A99-4837-9B65-233984A89FE6}" destId="{17B81B38-2014-45F0-AB45-83EF9E7530B8}" srcOrd="0" destOrd="0" presId="urn:microsoft.com/office/officeart/2005/8/layout/process4"/>
    <dgm:cxn modelId="{A39D244D-02B4-4AA9-9729-D73AA4311B6B}" type="presOf" srcId="{F4D7CB3A-D8DD-4978-8561-68E859BC7463}" destId="{CE81AF4C-3C8B-4F14-A2F9-B682A7C8609C}" srcOrd="0" destOrd="0" presId="urn:microsoft.com/office/officeart/2005/8/layout/process4"/>
    <dgm:cxn modelId="{466E0CFA-AA66-4F86-81DC-59FC35D80518}" type="presOf" srcId="{4BF9CDD8-EB53-456E-A44A-323EFAEFDB8D}" destId="{1950C21A-A2BC-4F3D-80EC-0667EF653941}" srcOrd="0" destOrd="0" presId="urn:microsoft.com/office/officeart/2005/8/layout/process4"/>
    <dgm:cxn modelId="{E116EF6C-754E-4677-9D1D-6D7905859F7C}" type="presOf" srcId="{1B7CF090-A033-457E-B0AE-1CAF23A162C3}" destId="{E57B793D-A40A-4FD3-9D21-2B11B0AF57C2}" srcOrd="0" destOrd="0" presId="urn:microsoft.com/office/officeart/2005/8/layout/process4"/>
    <dgm:cxn modelId="{9943587E-C516-4C2F-B099-0A9CABC60223}" srcId="{F4D7CB3A-D8DD-4978-8561-68E859BC7463}" destId="{4BF9CDD8-EB53-456E-A44A-323EFAEFDB8D}" srcOrd="5" destOrd="0" parTransId="{86FECF9D-9139-49CD-9F5E-5CABCF42E0EB}" sibTransId="{565604C6-E61E-4B92-B25D-4D97A0E2BC6D}"/>
    <dgm:cxn modelId="{DB5C3B1A-57B0-46B3-B3C5-06700AC8F956}" srcId="{F4D7CB3A-D8DD-4978-8561-68E859BC7463}" destId="{15CB4987-3F96-49AF-9426-2006E3614898}" srcOrd="2" destOrd="0" parTransId="{3C2C6353-784D-4820-83E4-54D9226AD1D1}" sibTransId="{9CF2D785-AF4A-4025-A45F-ADFA9CB2C912}"/>
    <dgm:cxn modelId="{19E57A4C-6BA6-4665-9C34-FA508BFB8984}" srcId="{F4D7CB3A-D8DD-4978-8561-68E859BC7463}" destId="{1A77997B-1A99-4837-9B65-233984A89FE6}" srcOrd="3" destOrd="0" parTransId="{3BF5F4F9-8BFF-4328-9626-9DA5223CBC9E}" sibTransId="{E86AFF1C-E268-4ACA-85A6-86D8A5F7BFD0}"/>
    <dgm:cxn modelId="{F1902859-8064-4ABE-9C43-7EAAB6C595CC}" type="presOf" srcId="{020E6E95-AF36-48C5-A58B-76DC6EB79527}" destId="{D81ADE92-9B4C-432B-BCAF-DC03229DD1F6}" srcOrd="0" destOrd="0" presId="urn:microsoft.com/office/officeart/2005/8/layout/process4"/>
    <dgm:cxn modelId="{EF10DAD5-EBDB-4DDF-8621-79FD86A47719}" type="presOf" srcId="{0F1096D2-3C36-474B-9275-394E339F3308}" destId="{030F24EA-88A4-4D5D-9FF1-53F15731681D}" srcOrd="0" destOrd="0" presId="urn:microsoft.com/office/officeart/2005/8/layout/process4"/>
    <dgm:cxn modelId="{F4B62FC1-B825-4ED9-8335-A89A0EEE7858}" srcId="{F4D7CB3A-D8DD-4978-8561-68E859BC7463}" destId="{1B7CF090-A033-457E-B0AE-1CAF23A162C3}" srcOrd="1" destOrd="0" parTransId="{662B5A2E-6193-4CF6-B734-6EDF04EEF962}" sibTransId="{5C0C9099-2BAC-4B38-A489-CD36E6DFA679}"/>
    <dgm:cxn modelId="{89BF52EA-D295-4675-AB5F-8A247D40E4B5}" type="presParOf" srcId="{CE81AF4C-3C8B-4F14-A2F9-B682A7C8609C}" destId="{6E41C4E7-67AF-4D15-969C-19468BEFABAB}" srcOrd="0" destOrd="0" presId="urn:microsoft.com/office/officeart/2005/8/layout/process4"/>
    <dgm:cxn modelId="{060286F0-5B0B-4013-B8AE-5DE9F0681EFE}" type="presParOf" srcId="{6E41C4E7-67AF-4D15-969C-19468BEFABAB}" destId="{1950C21A-A2BC-4F3D-80EC-0667EF653941}" srcOrd="0" destOrd="0" presId="urn:microsoft.com/office/officeart/2005/8/layout/process4"/>
    <dgm:cxn modelId="{D970FC5C-E7D7-4024-A59A-2523A33A13F2}" type="presParOf" srcId="{CE81AF4C-3C8B-4F14-A2F9-B682A7C8609C}" destId="{A8544B97-4CEE-4568-8EE1-B66301637512}" srcOrd="1" destOrd="0" presId="urn:microsoft.com/office/officeart/2005/8/layout/process4"/>
    <dgm:cxn modelId="{AEAB7E34-F8CB-4545-AC11-4D7ABDE7C6DB}" type="presParOf" srcId="{CE81AF4C-3C8B-4F14-A2F9-B682A7C8609C}" destId="{0954B39F-8D3E-436B-9227-EE186706A5A0}" srcOrd="2" destOrd="0" presId="urn:microsoft.com/office/officeart/2005/8/layout/process4"/>
    <dgm:cxn modelId="{1AE8D507-3399-49D7-97FB-F767CF4D233F}" type="presParOf" srcId="{0954B39F-8D3E-436B-9227-EE186706A5A0}" destId="{030F24EA-88A4-4D5D-9FF1-53F15731681D}" srcOrd="0" destOrd="0" presId="urn:microsoft.com/office/officeart/2005/8/layout/process4"/>
    <dgm:cxn modelId="{64D7C109-299B-44BE-9D30-D8D0E84AF50E}" type="presParOf" srcId="{CE81AF4C-3C8B-4F14-A2F9-B682A7C8609C}" destId="{1952BCBD-24CD-4803-B8A2-9D38F7F0D40D}" srcOrd="3" destOrd="0" presId="urn:microsoft.com/office/officeart/2005/8/layout/process4"/>
    <dgm:cxn modelId="{58BA3B50-F44B-46E8-8E23-943EE41C3EC2}" type="presParOf" srcId="{CE81AF4C-3C8B-4F14-A2F9-B682A7C8609C}" destId="{E4EFC28E-40A5-490F-AF6F-D13F019CA4ED}" srcOrd="4" destOrd="0" presId="urn:microsoft.com/office/officeart/2005/8/layout/process4"/>
    <dgm:cxn modelId="{96CA78FA-C106-4AA6-8739-64C7A2B32266}" type="presParOf" srcId="{E4EFC28E-40A5-490F-AF6F-D13F019CA4ED}" destId="{17B81B38-2014-45F0-AB45-83EF9E7530B8}" srcOrd="0" destOrd="0" presId="urn:microsoft.com/office/officeart/2005/8/layout/process4"/>
    <dgm:cxn modelId="{457DEF22-F188-44DC-A4F9-62AE296732AA}" type="presParOf" srcId="{CE81AF4C-3C8B-4F14-A2F9-B682A7C8609C}" destId="{70A0B02E-02E1-46A0-B09F-674BD860025C}" srcOrd="5" destOrd="0" presId="urn:microsoft.com/office/officeart/2005/8/layout/process4"/>
    <dgm:cxn modelId="{0748E49B-02EF-42C2-9D94-BEEB76EB0196}" type="presParOf" srcId="{CE81AF4C-3C8B-4F14-A2F9-B682A7C8609C}" destId="{B4B633DE-D6D9-488B-A297-4DC8B65F0292}" srcOrd="6" destOrd="0" presId="urn:microsoft.com/office/officeart/2005/8/layout/process4"/>
    <dgm:cxn modelId="{C50A675B-4DFE-4B49-AA45-B97899F0A57C}" type="presParOf" srcId="{B4B633DE-D6D9-488B-A297-4DC8B65F0292}" destId="{794F93DB-99E3-484F-967F-3ECAB0282B6D}" srcOrd="0" destOrd="0" presId="urn:microsoft.com/office/officeart/2005/8/layout/process4"/>
    <dgm:cxn modelId="{A8DE80AC-2B46-4693-82C1-8F3807DA4F3B}" type="presParOf" srcId="{CE81AF4C-3C8B-4F14-A2F9-B682A7C8609C}" destId="{4BE892A7-07E0-4AAE-ABCF-29214EA2F70D}" srcOrd="7" destOrd="0" presId="urn:microsoft.com/office/officeart/2005/8/layout/process4"/>
    <dgm:cxn modelId="{02324790-3EB3-49B9-963F-5D51BA2B6DB4}" type="presParOf" srcId="{CE81AF4C-3C8B-4F14-A2F9-B682A7C8609C}" destId="{70ABE452-00CE-4C89-BE9D-7B1448BC947B}" srcOrd="8" destOrd="0" presId="urn:microsoft.com/office/officeart/2005/8/layout/process4"/>
    <dgm:cxn modelId="{897FAB7D-DCE0-42C0-8D7C-554F33932296}" type="presParOf" srcId="{70ABE452-00CE-4C89-BE9D-7B1448BC947B}" destId="{E57B793D-A40A-4FD3-9D21-2B11B0AF57C2}" srcOrd="0" destOrd="0" presId="urn:microsoft.com/office/officeart/2005/8/layout/process4"/>
    <dgm:cxn modelId="{DB01C683-FBF0-4F6E-A666-FE86230C6877}" type="presParOf" srcId="{CE81AF4C-3C8B-4F14-A2F9-B682A7C8609C}" destId="{70BD7BA2-F632-4AA1-A21D-67B01CAE5B0A}" srcOrd="9" destOrd="0" presId="urn:microsoft.com/office/officeart/2005/8/layout/process4"/>
    <dgm:cxn modelId="{D6340F18-ACDC-4FA7-B488-953790F895BC}" type="presParOf" srcId="{CE81AF4C-3C8B-4F14-A2F9-B682A7C8609C}" destId="{35C5E803-EB1F-4EA8-A355-FF3224345E5C}" srcOrd="10" destOrd="0" presId="urn:microsoft.com/office/officeart/2005/8/layout/process4"/>
    <dgm:cxn modelId="{7546DA0B-D1B5-4C27-8997-8A80B5D9F440}" type="presParOf" srcId="{35C5E803-EB1F-4EA8-A355-FF3224345E5C}" destId="{D81ADE92-9B4C-432B-BCAF-DC03229DD1F6}" srcOrd="0" destOrd="0" presId="urn:microsoft.com/office/officeart/2005/8/layout/process4"/>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50C21A-A2BC-4F3D-80EC-0667EF653941}">
      <dsp:nvSpPr>
        <dsp:cNvPr id="0" name=""/>
        <dsp:cNvSpPr/>
      </dsp:nvSpPr>
      <dsp:spPr>
        <a:xfrm>
          <a:off x="0" y="3590788"/>
          <a:ext cx="3768080" cy="471289"/>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solidFill>
                <a:schemeClr val="bg1"/>
              </a:solidFill>
              <a:latin typeface="Helvetica" pitchFamily="34" charset="0"/>
            </a:rPr>
            <a:t>FINANCIAL REPORTS</a:t>
          </a:r>
          <a:endParaRPr lang="en-AU" sz="1700" kern="1200" dirty="0"/>
        </a:p>
      </dsp:txBody>
      <dsp:txXfrm>
        <a:off x="0" y="3590788"/>
        <a:ext cx="3768080" cy="471289"/>
      </dsp:txXfrm>
    </dsp:sp>
    <dsp:sp modelId="{030F24EA-88A4-4D5D-9FF1-53F15731681D}">
      <dsp:nvSpPr>
        <dsp:cNvPr id="0" name=""/>
        <dsp:cNvSpPr/>
      </dsp:nvSpPr>
      <dsp:spPr>
        <a:xfrm rot="10800000">
          <a:off x="0" y="2873015"/>
          <a:ext cx="3768080" cy="724842"/>
        </a:xfrm>
        <a:prstGeom prst="upArrowCallout">
          <a:avLst/>
        </a:prstGeom>
        <a:solidFill>
          <a:schemeClr val="accent5">
            <a:hueOff val="-247064"/>
            <a:satOff val="-4791"/>
            <a:lumOff val="-172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solidFill>
                <a:schemeClr val="bg1"/>
              </a:solidFill>
              <a:latin typeface="Helvetica" pitchFamily="34" charset="0"/>
            </a:rPr>
            <a:t>TRIAL BALANCE</a:t>
          </a:r>
          <a:endParaRPr lang="en-AU" sz="1700" kern="1200" dirty="0"/>
        </a:p>
      </dsp:txBody>
      <dsp:txXfrm rot="10800000">
        <a:off x="0" y="2873015"/>
        <a:ext cx="3768080" cy="470981"/>
      </dsp:txXfrm>
    </dsp:sp>
    <dsp:sp modelId="{17B81B38-2014-45F0-AB45-83EF9E7530B8}">
      <dsp:nvSpPr>
        <dsp:cNvPr id="0" name=""/>
        <dsp:cNvSpPr/>
      </dsp:nvSpPr>
      <dsp:spPr>
        <a:xfrm rot="10800000">
          <a:off x="0" y="2155242"/>
          <a:ext cx="3768080" cy="724842"/>
        </a:xfrm>
        <a:prstGeom prst="upArrowCallout">
          <a:avLst/>
        </a:prstGeom>
        <a:solidFill>
          <a:schemeClr val="accent5">
            <a:hueOff val="-494127"/>
            <a:satOff val="-9581"/>
            <a:lumOff val="-345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solidFill>
                <a:schemeClr val="bg1"/>
              </a:solidFill>
              <a:latin typeface="Helvetica" pitchFamily="34" charset="0"/>
            </a:rPr>
            <a:t>LEDGERS</a:t>
          </a:r>
          <a:endParaRPr lang="en-AU" sz="1700" kern="1200" dirty="0"/>
        </a:p>
      </dsp:txBody>
      <dsp:txXfrm rot="10800000">
        <a:off x="0" y="2155242"/>
        <a:ext cx="3768080" cy="470981"/>
      </dsp:txXfrm>
    </dsp:sp>
    <dsp:sp modelId="{794F93DB-99E3-484F-967F-3ECAB0282B6D}">
      <dsp:nvSpPr>
        <dsp:cNvPr id="0" name=""/>
        <dsp:cNvSpPr/>
      </dsp:nvSpPr>
      <dsp:spPr>
        <a:xfrm rot="10800000">
          <a:off x="0" y="1437468"/>
          <a:ext cx="3768080" cy="724842"/>
        </a:xfrm>
        <a:prstGeom prst="upArrowCallout">
          <a:avLst/>
        </a:prstGeom>
        <a:solidFill>
          <a:schemeClr val="accent5">
            <a:hueOff val="-741191"/>
            <a:satOff val="-14372"/>
            <a:lumOff val="-5176"/>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solidFill>
                <a:schemeClr val="bg1"/>
              </a:solidFill>
              <a:latin typeface="Helvetica" pitchFamily="34" charset="0"/>
            </a:rPr>
            <a:t>JOURNALS</a:t>
          </a:r>
          <a:endParaRPr lang="en-AU" sz="1700" kern="1200" dirty="0"/>
        </a:p>
      </dsp:txBody>
      <dsp:txXfrm rot="10800000">
        <a:off x="0" y="1437468"/>
        <a:ext cx="3768080" cy="470981"/>
      </dsp:txXfrm>
    </dsp:sp>
    <dsp:sp modelId="{E57B793D-A40A-4FD3-9D21-2B11B0AF57C2}">
      <dsp:nvSpPr>
        <dsp:cNvPr id="0" name=""/>
        <dsp:cNvSpPr/>
      </dsp:nvSpPr>
      <dsp:spPr>
        <a:xfrm rot="10800000">
          <a:off x="0" y="719695"/>
          <a:ext cx="3768080" cy="724842"/>
        </a:xfrm>
        <a:prstGeom prst="upArrowCallout">
          <a:avLst/>
        </a:prstGeom>
        <a:solidFill>
          <a:schemeClr val="accent5">
            <a:hueOff val="-988254"/>
            <a:satOff val="-19162"/>
            <a:lumOff val="-6902"/>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solidFill>
                <a:schemeClr val="bg1"/>
              </a:solidFill>
              <a:latin typeface="Helvetica" pitchFamily="34" charset="0"/>
            </a:rPr>
            <a:t>SOURCE DOCUMENTS</a:t>
          </a:r>
          <a:endParaRPr lang="en-AU" sz="1700" kern="1200" dirty="0"/>
        </a:p>
      </dsp:txBody>
      <dsp:txXfrm rot="10800000">
        <a:off x="0" y="719695"/>
        <a:ext cx="3768080" cy="470981"/>
      </dsp:txXfrm>
    </dsp:sp>
    <dsp:sp modelId="{D81ADE92-9B4C-432B-BCAF-DC03229DD1F6}">
      <dsp:nvSpPr>
        <dsp:cNvPr id="0" name=""/>
        <dsp:cNvSpPr/>
      </dsp:nvSpPr>
      <dsp:spPr>
        <a:xfrm rot="10800000">
          <a:off x="0" y="1922"/>
          <a:ext cx="3768080" cy="724842"/>
        </a:xfrm>
        <a:prstGeom prst="upArrowCallout">
          <a:avLst/>
        </a:prstGeom>
        <a:solidFill>
          <a:schemeClr val="accent5">
            <a:hueOff val="-1235318"/>
            <a:satOff val="-23953"/>
            <a:lumOff val="-8627"/>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solidFill>
                <a:schemeClr val="bg1"/>
              </a:solidFill>
              <a:latin typeface="Helvetica" pitchFamily="34" charset="0"/>
            </a:rPr>
            <a:t>TRANSACTIONS</a:t>
          </a:r>
          <a:endParaRPr lang="en-AU" sz="1700" kern="1200" dirty="0"/>
        </a:p>
      </dsp:txBody>
      <dsp:txXfrm rot="10800000">
        <a:off x="0" y="1922"/>
        <a:ext cx="3768080" cy="4709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50C21A-A2BC-4F3D-80EC-0667EF653941}">
      <dsp:nvSpPr>
        <dsp:cNvPr id="0" name=""/>
        <dsp:cNvSpPr/>
      </dsp:nvSpPr>
      <dsp:spPr>
        <a:xfrm>
          <a:off x="0" y="3590788"/>
          <a:ext cx="3768080" cy="471289"/>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solidFill>
                <a:schemeClr val="bg1"/>
              </a:solidFill>
              <a:latin typeface="Helvetica" pitchFamily="34" charset="0"/>
            </a:rPr>
            <a:t>FINANCIAL REPORTS</a:t>
          </a:r>
          <a:endParaRPr lang="en-AU" sz="1700" kern="1200" dirty="0"/>
        </a:p>
      </dsp:txBody>
      <dsp:txXfrm>
        <a:off x="0" y="3590788"/>
        <a:ext cx="3768080" cy="471289"/>
      </dsp:txXfrm>
    </dsp:sp>
    <dsp:sp modelId="{030F24EA-88A4-4D5D-9FF1-53F15731681D}">
      <dsp:nvSpPr>
        <dsp:cNvPr id="0" name=""/>
        <dsp:cNvSpPr/>
      </dsp:nvSpPr>
      <dsp:spPr>
        <a:xfrm rot="10800000">
          <a:off x="0" y="2873015"/>
          <a:ext cx="3768080" cy="724842"/>
        </a:xfrm>
        <a:prstGeom prst="upArrowCallout">
          <a:avLst/>
        </a:prstGeom>
        <a:solidFill>
          <a:schemeClr val="accent5">
            <a:hueOff val="-247064"/>
            <a:satOff val="-4791"/>
            <a:lumOff val="-172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solidFill>
                <a:schemeClr val="bg1"/>
              </a:solidFill>
              <a:latin typeface="Helvetica" pitchFamily="34" charset="0"/>
            </a:rPr>
            <a:t>TRIAL BALANCE</a:t>
          </a:r>
          <a:endParaRPr lang="en-AU" sz="1700" kern="1200" dirty="0"/>
        </a:p>
      </dsp:txBody>
      <dsp:txXfrm rot="10800000">
        <a:off x="0" y="2873015"/>
        <a:ext cx="3768080" cy="470981"/>
      </dsp:txXfrm>
    </dsp:sp>
    <dsp:sp modelId="{17B81B38-2014-45F0-AB45-83EF9E7530B8}">
      <dsp:nvSpPr>
        <dsp:cNvPr id="0" name=""/>
        <dsp:cNvSpPr/>
      </dsp:nvSpPr>
      <dsp:spPr>
        <a:xfrm rot="10800000">
          <a:off x="0" y="2155242"/>
          <a:ext cx="3768080" cy="724842"/>
        </a:xfrm>
        <a:prstGeom prst="upArrowCallout">
          <a:avLst/>
        </a:prstGeom>
        <a:solidFill>
          <a:schemeClr val="accent5">
            <a:hueOff val="-494127"/>
            <a:satOff val="-9581"/>
            <a:lumOff val="-345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solidFill>
                <a:schemeClr val="bg1"/>
              </a:solidFill>
              <a:latin typeface="Helvetica" pitchFamily="34" charset="0"/>
            </a:rPr>
            <a:t>LEDGERS</a:t>
          </a:r>
          <a:endParaRPr lang="en-AU" sz="1700" kern="1200" dirty="0"/>
        </a:p>
      </dsp:txBody>
      <dsp:txXfrm rot="10800000">
        <a:off x="0" y="2155242"/>
        <a:ext cx="3768080" cy="470981"/>
      </dsp:txXfrm>
    </dsp:sp>
    <dsp:sp modelId="{794F93DB-99E3-484F-967F-3ECAB0282B6D}">
      <dsp:nvSpPr>
        <dsp:cNvPr id="0" name=""/>
        <dsp:cNvSpPr/>
      </dsp:nvSpPr>
      <dsp:spPr>
        <a:xfrm rot="10800000">
          <a:off x="0" y="1437468"/>
          <a:ext cx="3768080" cy="724842"/>
        </a:xfrm>
        <a:prstGeom prst="upArrowCallout">
          <a:avLst/>
        </a:prstGeom>
        <a:solidFill>
          <a:schemeClr val="accent5">
            <a:hueOff val="-741191"/>
            <a:satOff val="-14372"/>
            <a:lumOff val="-5176"/>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solidFill>
                <a:schemeClr val="bg1"/>
              </a:solidFill>
              <a:latin typeface="Helvetica" pitchFamily="34" charset="0"/>
            </a:rPr>
            <a:t>JOURNALS</a:t>
          </a:r>
          <a:endParaRPr lang="en-AU" sz="1700" kern="1200" dirty="0"/>
        </a:p>
      </dsp:txBody>
      <dsp:txXfrm rot="10800000">
        <a:off x="0" y="1437468"/>
        <a:ext cx="3768080" cy="470981"/>
      </dsp:txXfrm>
    </dsp:sp>
    <dsp:sp modelId="{E57B793D-A40A-4FD3-9D21-2B11B0AF57C2}">
      <dsp:nvSpPr>
        <dsp:cNvPr id="0" name=""/>
        <dsp:cNvSpPr/>
      </dsp:nvSpPr>
      <dsp:spPr>
        <a:xfrm rot="10800000">
          <a:off x="0" y="719695"/>
          <a:ext cx="3768080" cy="724842"/>
        </a:xfrm>
        <a:prstGeom prst="upArrowCallout">
          <a:avLst/>
        </a:prstGeom>
        <a:solidFill>
          <a:schemeClr val="accent5">
            <a:hueOff val="-988254"/>
            <a:satOff val="-19162"/>
            <a:lumOff val="-6902"/>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solidFill>
                <a:schemeClr val="bg1"/>
              </a:solidFill>
              <a:latin typeface="Helvetica" pitchFamily="34" charset="0"/>
            </a:rPr>
            <a:t>SOURCE DOCUMENTS</a:t>
          </a:r>
          <a:endParaRPr lang="en-AU" sz="1700" kern="1200" dirty="0"/>
        </a:p>
      </dsp:txBody>
      <dsp:txXfrm rot="10800000">
        <a:off x="0" y="719695"/>
        <a:ext cx="3768080" cy="470981"/>
      </dsp:txXfrm>
    </dsp:sp>
    <dsp:sp modelId="{D81ADE92-9B4C-432B-BCAF-DC03229DD1F6}">
      <dsp:nvSpPr>
        <dsp:cNvPr id="0" name=""/>
        <dsp:cNvSpPr/>
      </dsp:nvSpPr>
      <dsp:spPr>
        <a:xfrm rot="10800000">
          <a:off x="0" y="1922"/>
          <a:ext cx="3768080" cy="724842"/>
        </a:xfrm>
        <a:prstGeom prst="upArrowCallout">
          <a:avLst/>
        </a:prstGeom>
        <a:solidFill>
          <a:schemeClr val="accent5">
            <a:hueOff val="-1235318"/>
            <a:satOff val="-23953"/>
            <a:lumOff val="-8627"/>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solidFill>
                <a:schemeClr val="bg1"/>
              </a:solidFill>
              <a:latin typeface="Helvetica" pitchFamily="34" charset="0"/>
            </a:rPr>
            <a:t>TRANSACTIONS</a:t>
          </a:r>
          <a:endParaRPr lang="en-AU" sz="1700" kern="1200" dirty="0"/>
        </a:p>
      </dsp:txBody>
      <dsp:txXfrm rot="10800000">
        <a:off x="0" y="1922"/>
        <a:ext cx="3768080" cy="4709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50C21A-A2BC-4F3D-80EC-0667EF653941}">
      <dsp:nvSpPr>
        <dsp:cNvPr id="0" name=""/>
        <dsp:cNvSpPr/>
      </dsp:nvSpPr>
      <dsp:spPr>
        <a:xfrm>
          <a:off x="0" y="3590788"/>
          <a:ext cx="3768080" cy="4712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latin typeface="Helvetica" pitchFamily="34" charset="0"/>
            </a:rPr>
            <a:t>FINANCIAL REPORTS</a:t>
          </a:r>
          <a:endParaRPr lang="en-AU" sz="1700" kern="1200" dirty="0"/>
        </a:p>
      </dsp:txBody>
      <dsp:txXfrm>
        <a:off x="0" y="3590788"/>
        <a:ext cx="3768080" cy="471289"/>
      </dsp:txXfrm>
    </dsp:sp>
    <dsp:sp modelId="{030F24EA-88A4-4D5D-9FF1-53F15731681D}">
      <dsp:nvSpPr>
        <dsp:cNvPr id="0" name=""/>
        <dsp:cNvSpPr/>
      </dsp:nvSpPr>
      <dsp:spPr>
        <a:xfrm rot="10800000">
          <a:off x="0" y="2873015"/>
          <a:ext cx="3768080" cy="724842"/>
        </a:xfrm>
        <a:prstGeom prst="upArrowCallou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latin typeface="Helvetica" pitchFamily="34" charset="0"/>
            </a:rPr>
            <a:t>TRIAL BALANCE</a:t>
          </a:r>
          <a:endParaRPr lang="en-AU" sz="1700" kern="1200" dirty="0"/>
        </a:p>
      </dsp:txBody>
      <dsp:txXfrm rot="10800000">
        <a:off x="0" y="2873015"/>
        <a:ext cx="3768080" cy="470981"/>
      </dsp:txXfrm>
    </dsp:sp>
    <dsp:sp modelId="{17B81B38-2014-45F0-AB45-83EF9E7530B8}">
      <dsp:nvSpPr>
        <dsp:cNvPr id="0" name=""/>
        <dsp:cNvSpPr/>
      </dsp:nvSpPr>
      <dsp:spPr>
        <a:xfrm rot="10800000">
          <a:off x="0" y="2155242"/>
          <a:ext cx="3768080" cy="724842"/>
        </a:xfrm>
        <a:prstGeom prst="upArrowCallou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latin typeface="Helvetica" pitchFamily="34" charset="0"/>
            </a:rPr>
            <a:t>LEDGERS</a:t>
          </a:r>
          <a:endParaRPr lang="en-AU" sz="1700" kern="1200" dirty="0"/>
        </a:p>
      </dsp:txBody>
      <dsp:txXfrm rot="10800000">
        <a:off x="0" y="2155242"/>
        <a:ext cx="3768080" cy="470981"/>
      </dsp:txXfrm>
    </dsp:sp>
    <dsp:sp modelId="{794F93DB-99E3-484F-967F-3ECAB0282B6D}">
      <dsp:nvSpPr>
        <dsp:cNvPr id="0" name=""/>
        <dsp:cNvSpPr/>
      </dsp:nvSpPr>
      <dsp:spPr>
        <a:xfrm rot="10800000">
          <a:off x="0" y="1437468"/>
          <a:ext cx="3768080" cy="724842"/>
        </a:xfrm>
        <a:prstGeom prst="upArrowCallou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latin typeface="Helvetica" pitchFamily="34" charset="0"/>
            </a:rPr>
            <a:t>JOURNALS</a:t>
          </a:r>
          <a:endParaRPr lang="en-AU" sz="1700" kern="1200" dirty="0"/>
        </a:p>
      </dsp:txBody>
      <dsp:txXfrm rot="10800000">
        <a:off x="0" y="1437468"/>
        <a:ext cx="3768080" cy="470981"/>
      </dsp:txXfrm>
    </dsp:sp>
    <dsp:sp modelId="{E57B793D-A40A-4FD3-9D21-2B11B0AF57C2}">
      <dsp:nvSpPr>
        <dsp:cNvPr id="0" name=""/>
        <dsp:cNvSpPr/>
      </dsp:nvSpPr>
      <dsp:spPr>
        <a:xfrm rot="10800000">
          <a:off x="0" y="719695"/>
          <a:ext cx="3768080" cy="724842"/>
        </a:xfrm>
        <a:prstGeom prst="upArrowCallou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latin typeface="Helvetica" pitchFamily="34" charset="0"/>
            </a:rPr>
            <a:t>SOURCE DOCUMENTS</a:t>
          </a:r>
          <a:endParaRPr lang="en-AU" sz="1700" kern="1200" dirty="0"/>
        </a:p>
      </dsp:txBody>
      <dsp:txXfrm rot="10800000">
        <a:off x="0" y="719695"/>
        <a:ext cx="3768080" cy="470981"/>
      </dsp:txXfrm>
    </dsp:sp>
    <dsp:sp modelId="{D81ADE92-9B4C-432B-BCAF-DC03229DD1F6}">
      <dsp:nvSpPr>
        <dsp:cNvPr id="0" name=""/>
        <dsp:cNvSpPr/>
      </dsp:nvSpPr>
      <dsp:spPr>
        <a:xfrm rot="10800000">
          <a:off x="0" y="1922"/>
          <a:ext cx="3768080" cy="724842"/>
        </a:xfrm>
        <a:prstGeom prst="upArrowCallou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AU" sz="1700" b="1" kern="1200" dirty="0" smtClean="0">
              <a:latin typeface="Helvetica" pitchFamily="34" charset="0"/>
            </a:rPr>
            <a:t>TRANSACTIONS</a:t>
          </a:r>
          <a:endParaRPr lang="en-AU" sz="1700" kern="1200" dirty="0"/>
        </a:p>
      </dsp:txBody>
      <dsp:txXfrm rot="10800000">
        <a:off x="0" y="1922"/>
        <a:ext cx="3768080" cy="470981"/>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3/28/2015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4303341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3/28/2015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1145689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Trainer and trainees to introduce themselves. </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942199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7137" indent="-227137"/>
            <a:r>
              <a:rPr lang="en-US" b="1" dirty="0" smtClean="0"/>
              <a:t>Session</a:t>
            </a:r>
            <a:r>
              <a:rPr lang="en-US" b="1" baseline="0" dirty="0" smtClean="0"/>
              <a:t> Introduction</a:t>
            </a:r>
            <a:endParaRPr lang="en-US" b="1" dirty="0" smtClean="0"/>
          </a:p>
          <a:p>
            <a:pPr marL="227137" indent="-227137">
              <a:buFont typeface="Arial" pitchFamily="34" charset="0"/>
              <a:buChar char="•"/>
            </a:pPr>
            <a:r>
              <a:rPr lang="en-US" b="0" dirty="0" smtClean="0"/>
              <a:t>Welcome trainees and</a:t>
            </a:r>
            <a:r>
              <a:rPr lang="en-US" b="0" baseline="0" dirty="0" smtClean="0"/>
              <a:t> introduce </a:t>
            </a:r>
            <a:r>
              <a:rPr lang="en-US" b="0" dirty="0" smtClean="0"/>
              <a:t>the</a:t>
            </a:r>
            <a:r>
              <a:rPr lang="en-US" b="0" baseline="0" dirty="0" smtClean="0"/>
              <a:t> classroom schedule</a:t>
            </a:r>
          </a:p>
          <a:p>
            <a:pPr marL="227137" indent="-227137">
              <a:buFont typeface="Arial" pitchFamily="34" charset="0"/>
              <a:buChar char="•"/>
            </a:pPr>
            <a:r>
              <a:rPr lang="en-US" b="0" baseline="0" dirty="0" smtClean="0"/>
              <a:t>Discuss housekeeping issues such as times of attendance, expected classroom behavior, contact details, resources required such as a calculator</a:t>
            </a:r>
          </a:p>
          <a:p>
            <a:pPr marL="227137" indent="-227137">
              <a:buFont typeface="Arial" pitchFamily="34" charset="0"/>
              <a:buChar char="•"/>
            </a:pPr>
            <a:r>
              <a:rPr lang="en-US" b="0" baseline="0" dirty="0" smtClean="0"/>
              <a:t>Explain that the trainees will be assessed and the requirements of those assessments.</a:t>
            </a:r>
          </a:p>
          <a:p>
            <a:pPr marL="227137" indent="-227137"/>
            <a:endParaRPr lang="en-US" b="1" baseline="0" dirty="0" smtClean="0"/>
          </a:p>
          <a:p>
            <a:pPr marL="227137" indent="-227137"/>
            <a:r>
              <a:rPr lang="en-US" b="0" baseline="0" dirty="0" smtClean="0"/>
              <a:t>Trainers will find it beneficial to have access to the following training equipment:</a:t>
            </a:r>
          </a:p>
          <a:p>
            <a:pPr marL="227137" indent="-227137"/>
            <a:endParaRPr lang="en-US" b="0" baseline="0" dirty="0" smtClean="0"/>
          </a:p>
          <a:p>
            <a:pPr marL="227137" indent="-227137">
              <a:buFont typeface="Arial" pitchFamily="34" charset="0"/>
              <a:buChar char="•"/>
            </a:pPr>
            <a:r>
              <a:rPr lang="en-US" b="0" baseline="0" dirty="0" smtClean="0"/>
              <a:t>Whiteboard</a:t>
            </a:r>
          </a:p>
          <a:p>
            <a:pPr marL="227137" indent="-227137">
              <a:buFont typeface="Arial" pitchFamily="34" charset="0"/>
              <a:buChar char="•"/>
            </a:pPr>
            <a:r>
              <a:rPr lang="en-US" b="0" baseline="0" dirty="0" smtClean="0"/>
              <a:t>Butchers paper </a:t>
            </a:r>
          </a:p>
          <a:p>
            <a:pPr marL="227137" indent="-227137">
              <a:buFont typeface="Arial" pitchFamily="34" charset="0"/>
              <a:buChar char="•"/>
            </a:pPr>
            <a:r>
              <a:rPr lang="en-US" b="0" baseline="0" dirty="0" smtClean="0"/>
              <a:t>Spreadsheet software is optional but may assist in the demonstration of calculations</a:t>
            </a:r>
          </a:p>
          <a:p>
            <a:pPr marL="227137" indent="-227137">
              <a:buFont typeface="Arial" pitchFamily="34" charset="0"/>
              <a:buChar char="•"/>
            </a:pPr>
            <a:r>
              <a:rPr lang="en-US" b="0" baseline="0" dirty="0" smtClean="0"/>
              <a:t>Internet access is optional but will assist with using relevant, local examples to illustrate concepts.</a:t>
            </a:r>
          </a:p>
          <a:p>
            <a:pPr marL="227137" indent="-227137"/>
            <a:endParaRPr lang="en-US" b="0" baseline="0" dirty="0" smtClean="0"/>
          </a:p>
          <a:p>
            <a:pPr marL="227137" indent="-227137"/>
            <a:r>
              <a:rPr lang="en-US" b="0" baseline="0" dirty="0" smtClean="0"/>
              <a:t>Get to know you activity on next slide.</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827507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Ice-breaker  (10 minutes)</a:t>
            </a:r>
            <a:endParaRPr lang="en-US" dirty="0" smtClean="0"/>
          </a:p>
          <a:p>
            <a:pPr>
              <a:buFont typeface="Arial" pitchFamily="34" charset="0"/>
              <a:buNone/>
            </a:pPr>
            <a:r>
              <a:rPr lang="en-US" dirty="0" smtClean="0"/>
              <a:t>If the trainees haven’t met before ask them to break into pairs.  Each person in the pair should introduce himself to the other and ask key questions as above.</a:t>
            </a:r>
          </a:p>
          <a:p>
            <a:pPr>
              <a:buFont typeface="Wingdings" pitchFamily="2" charset="2"/>
              <a:buNone/>
            </a:pPr>
            <a:endParaRPr lang="en-US" b="1" dirty="0" smtClean="0"/>
          </a:p>
          <a:p>
            <a:pPr>
              <a:buFont typeface="Wingdings" pitchFamily="2" charset="2"/>
              <a:buNone/>
            </a:pPr>
            <a:r>
              <a:rPr lang="en-US" b="0" dirty="0" smtClean="0"/>
              <a:t>After the trainees have had some time to talk,</a:t>
            </a:r>
            <a:r>
              <a:rPr lang="en-US" b="0" baseline="0" dirty="0" smtClean="0"/>
              <a:t> </a:t>
            </a:r>
            <a:r>
              <a:rPr lang="en-US" b="0" dirty="0" smtClean="0"/>
              <a:t>ask them to introduce their partner using the information they have learnt about</a:t>
            </a:r>
            <a:r>
              <a:rPr lang="en-US" b="0" baseline="0" dirty="0" smtClean="0"/>
              <a:t> them</a:t>
            </a:r>
            <a:r>
              <a:rPr lang="en-US" b="0" dirty="0" smtClean="0"/>
              <a:t>.</a:t>
            </a:r>
          </a:p>
          <a:p>
            <a:pPr>
              <a:buFont typeface="Wingdings" pitchFamily="2" charset="2"/>
              <a:buNone/>
            </a:pPr>
            <a:endParaRPr lang="en-US" b="0" dirty="0" smtClean="0"/>
          </a:p>
          <a:p>
            <a:pPr>
              <a:buFont typeface="Wingdings" pitchFamily="2" charset="2"/>
              <a:buNone/>
            </a:pPr>
            <a:r>
              <a:rPr lang="en-US" b="0" dirty="0" smtClean="0"/>
              <a:t>If the trainees have met you may prefer to ask them to introduce themselves to you, the trainer, using the questions above as a basis for discussion.</a:t>
            </a:r>
          </a:p>
          <a:p>
            <a:pPr>
              <a:buFont typeface="Wingdings" pitchFamily="2" charset="2"/>
              <a:buNone/>
            </a:pPr>
            <a:endParaRPr lang="en-US" b="1" dirty="0" smtClean="0"/>
          </a:p>
          <a:p>
            <a:pPr>
              <a:buFont typeface="Wingdings" pitchFamily="2" charset="2"/>
              <a:buNone/>
            </a:pPr>
            <a:r>
              <a:rPr lang="en-US" dirty="0" smtClean="0"/>
              <a:t>The trainer will now have a better idea of the composition of the group and the group will feel more comfortable with each other.  It</a:t>
            </a:r>
            <a:r>
              <a:rPr lang="en-US" baseline="0" dirty="0" smtClean="0"/>
              <a:t> is sometimes helpful to make a brief note next to the trainee’s name regarding their experience or knowledge as you may be able to draw on this throughout the module.</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687111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Trainers</a:t>
            </a:r>
            <a:r>
              <a:rPr lang="en-US" baseline="0" dirty="0" smtClean="0"/>
              <a:t> please note that the sequence of materials in the slides is different to the training manual. The slides begin with an overview of the system, the controls the system needs and then the various procedures and processes to maintain the integrity of the system. Finally, examples of the products of the system, the financial reports are discussed.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628175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Trainer:  </a:t>
            </a:r>
            <a:r>
              <a:rPr lang="en-US" b="0" baseline="0" dirty="0" smtClean="0"/>
              <a:t>Before we begin</a:t>
            </a:r>
            <a:r>
              <a:rPr lang="en-US" baseline="0" dirty="0" smtClean="0"/>
              <a:t> there are some concepts to explain first.</a:t>
            </a:r>
          </a:p>
          <a:p>
            <a:r>
              <a:rPr lang="en-AU" b="0" dirty="0" smtClean="0"/>
              <a:t>To</a:t>
            </a:r>
            <a:r>
              <a:rPr lang="en-AU" b="0" baseline="0" dirty="0" smtClean="0"/>
              <a:t> assist trainees to contextualise the definition of accounting, ask them for examples of financial transactions in their day to day lives.  Your objective is to illustrate that this is any transaction where goods or services are exchanged for payment.  You may like to begin with some examples of your own such as:</a:t>
            </a:r>
          </a:p>
          <a:p>
            <a:pPr>
              <a:buFont typeface="Arial" pitchFamily="34" charset="0"/>
              <a:buChar char="•"/>
            </a:pPr>
            <a:r>
              <a:rPr lang="en-AU" b="0" baseline="0" dirty="0" smtClean="0"/>
              <a:t> Purchases of goods and services</a:t>
            </a:r>
          </a:p>
          <a:p>
            <a:pPr>
              <a:buFont typeface="Arial" pitchFamily="34" charset="0"/>
              <a:buChar char="•"/>
            </a:pPr>
            <a:r>
              <a:rPr lang="en-AU" b="0" baseline="0" dirty="0" smtClean="0"/>
              <a:t> Use of their mobile phones </a:t>
            </a:r>
          </a:p>
          <a:p>
            <a:pPr>
              <a:buFont typeface="Arial" pitchFamily="34" charset="0"/>
              <a:buChar char="•"/>
            </a:pPr>
            <a:r>
              <a:rPr lang="en-AU" b="0" baseline="0" dirty="0" smtClean="0"/>
              <a:t> Payment of wages for work performed</a:t>
            </a:r>
          </a:p>
          <a:p>
            <a:pPr>
              <a:buFont typeface="Arial" pitchFamily="34" charset="0"/>
              <a:buChar char="•"/>
            </a:pPr>
            <a:r>
              <a:rPr lang="en-AU" b="0" baseline="0" dirty="0" smtClean="0"/>
              <a:t> Payment of tuition fees for this course.</a:t>
            </a:r>
          </a:p>
          <a:p>
            <a:r>
              <a:rPr lang="en-AU" dirty="0" smtClean="0"/>
              <a:t>The terms</a:t>
            </a:r>
            <a:r>
              <a:rPr lang="en-AU" baseline="0" dirty="0" smtClean="0"/>
              <a:t> financial and </a:t>
            </a:r>
            <a:r>
              <a:rPr lang="en-AU" dirty="0" smtClean="0"/>
              <a:t> accounting</a:t>
            </a:r>
            <a:r>
              <a:rPr lang="en-AU" baseline="0" dirty="0" smtClean="0"/>
              <a:t> system are used throughout this unit to explain the process of recording transactions. In the strictest sense, the financial system encompasses more than just the accounting system but for the purposes of this unit, the terms are used interchangeably.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26733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Explain the key responsibilities of managers and the support the financial or accounting system can provide. It may be possible to illustrate through practical examples from personal or trainee’s experience. It is necessary that adequate time is taken to do this as this discussion will highlight the purpose and importance of financial information.</a:t>
            </a:r>
          </a:p>
          <a:p>
            <a:pPr>
              <a:buFont typeface="Arial" pitchFamily="34" charset="0"/>
              <a:buNone/>
            </a:pPr>
            <a:r>
              <a:rPr lang="en-US" baseline="0" dirty="0" smtClean="0"/>
              <a:t>Trainers also need to explain that although may organisations use computerised systems, this unit will explain a manual system as all computerised accounting systems are based on manual processes and procedures.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323369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are now introducing trainees to the flow of financial transactions and how an accounting system is structured so that financial transactions are ultimately summarised and reported. This is discussed in terms of illustrating inputs, outputs and processing as this is the manner in which the system is discussed throughout the manual.</a:t>
            </a:r>
          </a:p>
          <a:p>
            <a:pPr>
              <a:buFont typeface="Arial" pitchFamily="34" charset="0"/>
              <a:buNone/>
            </a:pPr>
            <a:endParaRPr lang="en-US" baseline="0" dirty="0" smtClean="0"/>
          </a:p>
          <a:p>
            <a:pPr>
              <a:buFont typeface="Arial" pitchFamily="34" charset="0"/>
              <a:buNone/>
            </a:pPr>
            <a:r>
              <a:rPr lang="en-US" baseline="0" dirty="0" smtClean="0"/>
              <a:t>The design of the accounting or financial system is continued on the next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574320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work through the process for developing an accounting system with trainees. The exercise o the next slide can be completed first, if the trainees have been asked to read the training manual or trainers can explain concepts and then trainees work through the exercise. This should be completed in small groups.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217791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note that</a:t>
            </a:r>
            <a:r>
              <a:rPr lang="en-US" baseline="0" dirty="0" smtClean="0"/>
              <a:t> Internal control considerations are discussed in detail over the next series of slides so discussion for the activity should merely focus on information requirements.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3442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The internal control system encompasses and protects the accounting system. It is important that trainees are clear on the need for internal controls and can identify internal control measures in the workplace. The next series of slides includes activities that should illustrate this. Refer to the training manual to ensure all internal control measures are discussed.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831935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The training manual includes two organisational charts. Trainees use these examples to create an organisational chart for their workplace or a local example provided by the trainer. This activity can be completed individually or in small groups. The purpose is to highlight that the organisation chart defines responsibilities and supervision in an organisation.</a:t>
            </a:r>
          </a:p>
          <a:p>
            <a:pPr>
              <a:buFont typeface="Arial" pitchFamily="34" charset="0"/>
              <a:buNone/>
            </a:pPr>
            <a:r>
              <a:rPr lang="en-US" baseline="0" dirty="0" smtClean="0"/>
              <a:t>Financial controls are continued on the next number of slides.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066010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Financial controls address these objectives for financial or accounting information. They shape the reasons or purpose behind many of the internal control processes and procedures. Trainees should be reminded to keep these objectives in mind. It can help to display them on a piece of butcher’s paper or whiteboard when discussing internal controls.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1684882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Trainees to appreciate</a:t>
            </a:r>
            <a:r>
              <a:rPr lang="en-US" baseline="0" dirty="0" smtClean="0"/>
              <a:t> that when employees understand the reasons for internal controls as well as the principles, they are more likely to follow the processes and procedures to maintain an effective system. You may choose to start with the activity on slide 16 and illustrate the principles or introduce all the principles to trainees first.</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392423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the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1201478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the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021301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the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312395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the activity has highlighted internal control issues in certain functional areas in an establishment. Internal control processes and procedures are discussed over the next slides in terms of each area of a financial system</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8169350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Trainees</a:t>
            </a:r>
            <a:r>
              <a:rPr lang="en-US" baseline="0" dirty="0" smtClean="0"/>
              <a:t> must understand that the definition of cash includes all local legal forms of payment. The earlier activity would have prompted discussions surrounding internal controls for cash and this slide and the next expand that discussion.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209454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11509797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Trainees can refer to the training manual for details and must cover controls for cash receipts and payments, petty cash and discuss cash budgets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30129708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 the nature of accounts receivable in the hospitality and tourism industry and that credit may not always be extended to customers, guests or clients. Compare a small restaurant to a large accommodation venue to illustrate for example.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509827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Trainees can refer to the training manual for details and must cover controls for cash receipts, adjustments and the reconciliation of final balances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23177537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Purchases refers to the purchase of supplies that are converted to goods and services for re-sale. An activity follows on the next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1253795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8473851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to ensure that trainees appreciate the need for confidentiality surrounding the payroll process. An activity follows.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9327468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7134909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Not all hospitality and tourism</a:t>
            </a:r>
            <a:r>
              <a:rPr lang="en-US" baseline="0" dirty="0" smtClean="0"/>
              <a:t> establishments hold significant levels of inventory. Internal controls should be appropriate to the quantities and value of the stock held. Trainees can provide examples where possible. With regard to quantities ordered, trainees do not need to know the inventory recording systems but that as inventory is received and used it needs to be recorded appropriately.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10933765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Refer to the training manual for details on the other internal controls trainees should know. Standard costs can be discussed by asking trainees to provide examples of aspects of a business that this internal control may be used. This can be a class activity if appropriate.</a:t>
            </a:r>
          </a:p>
          <a:p>
            <a:pPr>
              <a:buFont typeface="Arial" pitchFamily="34" charset="0"/>
              <a:buNone/>
            </a:pPr>
            <a:r>
              <a:rPr lang="en-US" baseline="0" dirty="0" smtClean="0"/>
              <a:t>Remember that internal controls do not eliminate risks but seek to minimise them.</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4474839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When internal controls are implemented, managers need to monitor the accounting system to ensure the objectives of reliability, validity, completeness and accuracy are met. This slide provides an overview for the next series of slides.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23639621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highlight the variations to internal audits depending on the size of the organisation and should refer to personal or trainees experience if possible.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0018148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 trainees with a range of budget</a:t>
            </a:r>
            <a:r>
              <a:rPr lang="en-US" baseline="0" dirty="0" smtClean="0"/>
              <a:t> names, the training manual can be used as a guide for trainees to discuss the information the budget contains. Trainees can match the budget to the report, also from the training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36683705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It is important that trainees do not think of variances as good or bad but favourable and unfavourable compared to budget.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8300796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30131308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2209226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take trainees through calculations.  Note that trainers should source local, relevant examples for exercises for trainees to practice all variance calculations.</a:t>
            </a: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7715013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30884241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previous slide - t</a:t>
            </a:r>
            <a:r>
              <a:rPr lang="en-US" dirty="0" smtClean="0"/>
              <a:t>his</a:t>
            </a:r>
            <a:r>
              <a:rPr lang="en-US" baseline="0" dirty="0" smtClean="0"/>
              <a:t> highlights the two reasons why there may be a payroll variance – the hours worked or the rates of pay.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42397355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take trainees through calculations noting that budget line items are divided by budgeted sales and actual line items by actual sales.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574110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ensure that trainees are aware of the different ways ratios are expressed and that the ratio must have meaning. An explanation as follows might be of assistance:</a:t>
            </a:r>
          </a:p>
          <a:p>
            <a:r>
              <a:rPr lang="en-US" sz="1200" dirty="0" smtClean="0">
                <a:latin typeface="Calibri" charset="0"/>
                <a:ea typeface="ＭＳ Ｐゴシック" charset="0"/>
                <a:cs typeface="ＭＳ Ｐゴシック" charset="0"/>
              </a:rPr>
              <a:t>What is a ratio?</a:t>
            </a:r>
          </a:p>
          <a:p>
            <a:r>
              <a:rPr lang="en-US" sz="1200" dirty="0" smtClean="0">
                <a:latin typeface="Calibri" charset="0"/>
                <a:ea typeface="ＭＳ Ｐゴシック" charset="0"/>
                <a:cs typeface="ＭＳ Ｐゴシック" charset="0"/>
              </a:rPr>
              <a:t>It shows the relative size of two numbers, calculated by dividing one number by the other</a:t>
            </a:r>
          </a:p>
          <a:p>
            <a:r>
              <a:rPr lang="en-US" sz="1200" dirty="0" smtClean="0">
                <a:latin typeface="Calibri" charset="0"/>
                <a:ea typeface="ＭＳ Ｐゴシック" charset="0"/>
                <a:cs typeface="ＭＳ Ｐゴシック" charset="0"/>
              </a:rPr>
              <a:t>For example, if a business has Assets of $500,000 and Liabilities of $350,000, Liabilities divided by Assets shows a ratio of 0.7 to 1</a:t>
            </a:r>
          </a:p>
          <a:p>
            <a:r>
              <a:rPr lang="en-US" sz="1200" dirty="0" smtClean="0">
                <a:latin typeface="Calibri" charset="0"/>
                <a:ea typeface="ＭＳ Ｐゴシック" charset="0"/>
                <a:cs typeface="ＭＳ Ｐゴシック" charset="0"/>
              </a:rPr>
              <a:t>For each $1 of Assets, the business has Liabilities of $0.70</a:t>
            </a:r>
          </a:p>
          <a:p>
            <a:r>
              <a:rPr lang="en-US" sz="1200" dirty="0" smtClean="0">
                <a:latin typeface="Calibri" charset="0"/>
                <a:ea typeface="ＭＳ Ｐゴシック" charset="0"/>
                <a:cs typeface="ＭＳ Ｐゴシック" charset="0"/>
              </a:rPr>
              <a:t>Or if Assets are divided by Liabilities, a ratio of 1.429 results</a:t>
            </a:r>
          </a:p>
          <a:p>
            <a:r>
              <a:rPr lang="en-US" sz="1200" dirty="0" smtClean="0">
                <a:latin typeface="Calibri" charset="0"/>
                <a:ea typeface="ＭＳ Ｐゴシック" charset="0"/>
                <a:cs typeface="ＭＳ Ｐゴシック" charset="0"/>
              </a:rPr>
              <a:t>For each $1 owed to outsiders, the business has $1.43 in Assets</a:t>
            </a:r>
          </a:p>
          <a:p>
            <a:endParaRPr lang="en-US" sz="1200" dirty="0" smtClean="0">
              <a:latin typeface="Calibri" charset="0"/>
              <a:ea typeface="ＭＳ Ｐゴシック" charset="0"/>
              <a:cs typeface="ＭＳ Ｐゴシック" charset="0"/>
            </a:endParaRPr>
          </a:p>
          <a:p>
            <a:r>
              <a:rPr lang="en-US" sz="1200" dirty="0" smtClean="0">
                <a:latin typeface="Calibri" charset="0"/>
                <a:ea typeface="ＭＳ Ｐゴシック" charset="0"/>
                <a:cs typeface="ＭＳ Ｐゴシック" charset="0"/>
              </a:rPr>
              <a:t>The</a:t>
            </a:r>
            <a:r>
              <a:rPr lang="en-US" sz="1200" baseline="0" dirty="0" smtClean="0">
                <a:latin typeface="Calibri" charset="0"/>
                <a:ea typeface="ＭＳ Ｐゴシック" charset="0"/>
                <a:cs typeface="ＭＳ Ｐゴシック" charset="0"/>
              </a:rPr>
              <a:t> distinction between operational and financial ratios for hospitality and tourism establishments can be highlighted by referring to the ratios in the training manual</a:t>
            </a:r>
            <a:endParaRPr lang="en-US" sz="1200" dirty="0" smtClean="0">
              <a:latin typeface="Calibri" charset="0"/>
              <a:ea typeface="ＭＳ Ｐゴシック" charset="0"/>
              <a:cs typeface="ＭＳ Ｐゴシック"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36854656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at a minimum,</a:t>
            </a:r>
            <a:r>
              <a:rPr lang="en-US" baseline="0" dirty="0" smtClean="0"/>
              <a:t> trainees should be able to calculate and interpret the ratios listed.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42629486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at a minimum,</a:t>
            </a:r>
            <a:r>
              <a:rPr lang="en-US" baseline="0" dirty="0" smtClean="0"/>
              <a:t> trainees should be able to calculate and interpret the ratios listed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7322174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to source local financial statements and operational data to work through the key ratios and their interpretations with trainees. Formulas and interpretation notes are included in the training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5189063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previous slides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12595834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 source local benchmarks and compare to ratios calculated from the financial statements. Trainees should work in groups to enable discussion and enhance understanding.</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12045757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explain how trends help managers to improve their understanding of operations. An example follows to aid discussions.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7279030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Continued</a:t>
            </a:r>
            <a:r>
              <a:rPr lang="en-US" baseline="0" dirty="0" smtClean="0"/>
              <a:t> from previous slide</a:t>
            </a:r>
            <a:endParaRPr lang="en-US"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8409312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Trainees work through cash budget on next slide, explaining source of information.</a:t>
            </a:r>
            <a:r>
              <a:rPr lang="en-US" baseline="0" dirty="0" smtClean="0"/>
              <a:t> Relevant, local examples can also be used as activities as appropriate.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23543825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33341689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highlight cash from accounts</a:t>
            </a:r>
            <a:r>
              <a:rPr lang="en-US" baseline="0" dirty="0" smtClean="0"/>
              <a:t> receivable as cash inflows and how that relates to budget from previous page. The accounts receivable ageing schedule and turnover ratio together provide the information for managers to monitor. Utilise the ration calculated earlier as an example for this discussion.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5480028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may wish to organise trainees into small groups to review the training manual and discuss how to monitor inventory to assist with decision making. The ratios calculated earlier can be used as examples for the exercise.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3602448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 from</a:t>
            </a:r>
            <a:r>
              <a:rPr lang="en-US" baseline="0" dirty="0" smtClean="0"/>
              <a:t>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6754644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Trainees to understand that it is both the physical presence of fixed assets</a:t>
            </a:r>
            <a:r>
              <a:rPr lang="en-US" baseline="0" dirty="0" smtClean="0"/>
              <a:t> and the value that management wish to monitor. Refer to the training manual using local examples to enhance discussion.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22848979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t>
            </a:r>
            <a:r>
              <a:rPr lang="en-US" dirty="0" smtClean="0"/>
              <a:t>The focus for the next series</a:t>
            </a:r>
            <a:r>
              <a:rPr lang="en-US" baseline="0" dirty="0" smtClean="0"/>
              <a:t> of slides is the input and processing phases in the accounting system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31234574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explain the difference between internal and external transactions using examples from the normal course of trainees experience.</a:t>
            </a:r>
            <a:r>
              <a:rPr lang="en-US" baseline="0" dirty="0"/>
              <a:t> </a:t>
            </a:r>
            <a:r>
              <a:rPr lang="en-US" baseline="0" dirty="0" smtClean="0"/>
              <a:t>Definitions for the five account categories are found in the training manual.</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863518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t>
            </a:r>
            <a:r>
              <a:rPr lang="en-US" dirty="0" smtClean="0"/>
              <a:t>Transactions</a:t>
            </a:r>
            <a:r>
              <a:rPr lang="en-US" baseline="0" dirty="0" smtClean="0"/>
              <a:t> are classified so that they can be reported appropriately. An exercise follows on the next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8032496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0" baseline="0" dirty="0" smtClean="0"/>
              <a:t>Trainer – this activity can be completed individually, in small groups or by the entire class led by the trainer.  The next slide provides the solutions</a:t>
            </a:r>
          </a:p>
          <a:p>
            <a:pPr>
              <a:buFont typeface="Arial" pitchFamily="34" charset="0"/>
              <a:buNone/>
            </a:pPr>
            <a:endParaRPr lang="en-US" b="0" baseline="0" dirty="0" smtClean="0"/>
          </a:p>
          <a:p>
            <a:pPr>
              <a:buFont typeface="Arial" pitchFamily="34" charset="0"/>
              <a:buNone/>
            </a:pPr>
            <a:r>
              <a:rPr lang="en-US" b="0" baseline="0" dirty="0" smtClean="0"/>
              <a:t>Trainer may like to ask trainees to suggest items for themselves.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41524334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0" baseline="0" dirty="0" smtClean="0"/>
              <a:t>Trainer: Solutions to the activity on the previous slide</a:t>
            </a:r>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84111137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Trainees</a:t>
            </a:r>
            <a:r>
              <a:rPr lang="en-US" baseline="0" dirty="0" smtClean="0"/>
              <a:t> can form groups and provide their own explanations for each accounting principle and assumptions that are shared and used by the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68273749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Continued</a:t>
            </a:r>
            <a:r>
              <a:rPr lang="en-US" baseline="0" dirty="0" smtClean="0"/>
              <a:t>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34975080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The </a:t>
            </a:r>
            <a:r>
              <a:rPr lang="en-US" dirty="0" smtClean="0"/>
              <a:t>diagram on the next slide</a:t>
            </a:r>
            <a:r>
              <a:rPr lang="en-US" baseline="0" dirty="0" smtClean="0"/>
              <a:t> explains the debit and credit rules and therefore illustrates double entry. Examples are provided in the training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89733775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US" baseline="0" dirty="0" smtClean="0"/>
              <a:t> </a:t>
            </a:r>
            <a:r>
              <a:rPr lang="en-AU" noProof="0" dirty="0" smtClean="0"/>
              <a:t>Double entry is one of the key principles</a:t>
            </a:r>
            <a:r>
              <a:rPr lang="en-AU" baseline="0" noProof="0" dirty="0" smtClean="0"/>
              <a:t> for entering transactions into the general ledger.  Trainers must be sure to make clear to trainees that the words debit and credit have no meaning other than left and right and simply provide and instruction for entering an amount so that the overall account category balance either increases or decreases.  </a:t>
            </a:r>
            <a:endParaRPr lang="en-AU" noProof="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89323450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Journals are used in a manual accounting system to record the details of all transactions from source documents. A computerised system may not necessarily display journals in this manner. Examples of cash journals follow.</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19237871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339113473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refer to personal experience and experience from the trainees to describe the process of checking transactions for accuracy and completeness. Refer back to managers responsibilities with regard to accounting information and how this process fulfils that responsibility.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7081572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39631264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Provide the trial balance that was used to create the financial statements that were analysed earlier if possible otherwise source a relevant, local example.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390584451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previous slide. Trainees to write up a checklist for preparing an accurate trial balance.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413665980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Each</a:t>
            </a:r>
            <a:r>
              <a:rPr lang="en-US" baseline="0" dirty="0" smtClean="0"/>
              <a:t> of the adjusting entries that are common to hospitality and tourism organisations will be reviewed in the next series of slides. Details are provided in the training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745938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can demonstrate where the draft, adjustments and final entries are entered when a worksheet is used.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360462220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refer to training manual for more information.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153918950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Trainers</a:t>
            </a:r>
            <a:r>
              <a:rPr lang="en-US" baseline="0" dirty="0" smtClean="0"/>
              <a:t> refer to training manual for more information.</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320019452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refer to training manual for more information.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40440052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refer to training manual for more information.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14994427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the processes that enable the efficient input and processing of transactions also provide an inbuilt check on balances prepared by others as duties are usually separated as required by internal controls. 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424962435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Trainees</a:t>
            </a:r>
            <a:r>
              <a:rPr lang="en-US" baseline="0" dirty="0" smtClean="0"/>
              <a:t> should be aware of subsidiary ledgers used in the tourism and hospitality industry and that the details of transactions are not recorded in control accounts. The reconciliation between the two recording documents provides the checks on balances.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6952158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work through the process of a reconciliation. Usually reconciliations are recorded on standard documents and reviewed, provided further checks on balances prepared by others. Each subsidiary ledger is reviewed in the next slides.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179132942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 from previous</a:t>
            </a:r>
            <a:r>
              <a:rPr lang="en-US" baseline="0" dirty="0" smtClean="0"/>
              <a:t>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138169501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 from previous</a:t>
            </a:r>
            <a:r>
              <a:rPr lang="en-US" baseline="0" dirty="0" smtClean="0"/>
              <a:t>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344411152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Continued from previous</a:t>
            </a:r>
            <a:r>
              <a:rPr lang="en-US" baseline="0" dirty="0" smtClean="0"/>
              <a:t> slide</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267226810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 from previous</a:t>
            </a:r>
            <a:r>
              <a:rPr lang="en-US" baseline="0" dirty="0" smtClean="0"/>
              <a:t>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72818466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It</a:t>
            </a:r>
            <a:r>
              <a:rPr lang="en-AU" baseline="0" noProof="0" dirty="0" smtClean="0"/>
              <a:t> is important that trainees understand the definition of cash as encompassing all forms of payment received from customers, guests and other third parties and made to suppliers, staff and other parties.  Internal controls safeguarding cash must be strict, especially in the tourism and hospitality industry as there are often large volumes of cash across multiple locations.  Trainers may wish to draw upon the experiences of the group for local relevant examples or provide their own.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u="sng" noProof="0" dirty="0" smtClean="0"/>
              <a:t>Trainer:</a:t>
            </a:r>
            <a:r>
              <a:rPr lang="en-AU" baseline="0" noProof="0" dirty="0" smtClean="0"/>
              <a:t> Discuss the detail included in the general ledger bank account and the bank account as well as the source of the information. Reiterate what debit and credit entries represent.</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135266005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AU" noProof="0" dirty="0" smtClean="0"/>
              <a:t>The bank reconciliation</a:t>
            </a:r>
            <a:r>
              <a:rPr lang="en-AU" baseline="0" noProof="0" dirty="0" smtClean="0"/>
              <a:t> is the means by which the general ledger account balance and the bank account balance are verified.  Trainees may be able to draw on their own experiences for recognising some of the differences.</a:t>
            </a:r>
            <a:endParaRPr lang="en-AU" noProof="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17212144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t>
            </a:r>
            <a:r>
              <a:rPr lang="en-US" dirty="0" smtClean="0"/>
              <a:t>refer to the training manual for detail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181614713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can use this diagram to discuss the elements of the bank statement from the notes provided in the training manual.  The following slide summarises the key points.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402434816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Continued from</a:t>
            </a:r>
            <a:r>
              <a:rPr lang="en-AU" baseline="0" noProof="0" dirty="0" smtClean="0"/>
              <a:t> previous slide. Examples of missing entries can be taken from training manual.</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278282774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Trainers:</a:t>
            </a:r>
            <a:r>
              <a:rPr lang="en-AU" baseline="0" noProof="0" dirty="0" smtClean="0"/>
              <a:t> Errors and discrepancies have been discussed throughout the slides so far. This is a review or reminder of what to do when an error is found</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138306309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t>
            </a:r>
            <a:r>
              <a:rPr lang="en-US" dirty="0" smtClean="0"/>
              <a:t>The focus for the next series</a:t>
            </a:r>
            <a:r>
              <a:rPr lang="en-US" baseline="0" dirty="0" smtClean="0"/>
              <a:t> of slides is the outputs phase of the accounting system.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230210562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focus on the need for management to gather information that allows them to control, monitor and evaluate operations. Operations are considered in terms of two related cycles, the business cycle and the revenue cycle. This is detailed on the next two slides. Reports are discussed in terms of the cycle of operations.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66240378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16920592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Continued</a:t>
            </a:r>
            <a:r>
              <a:rPr lang="en-US" baseline="0" dirty="0" smtClean="0"/>
              <a:t> from previous slide</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328483327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Note that the rest of the slides provide examples of the different reports that are produced in hospitality and tourism establishments. Report formats, frequency and the nature of information is unique to each type of business, the region and management requirements. Therefore trainers must be prepared to source relevant, local examples so trainees are aware of the format used in their local areas.</a:t>
            </a:r>
          </a:p>
          <a:p>
            <a:pPr>
              <a:buFont typeface="Arial" pitchFamily="34" charset="0"/>
              <a:buNone/>
            </a:pPr>
            <a:r>
              <a:rPr lang="en-US" baseline="0" dirty="0" smtClean="0"/>
              <a:t>All report data is sourced from ledger accounts.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237456318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43116467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refer to</a:t>
            </a:r>
            <a:r>
              <a:rPr lang="en-US" baseline="0" dirty="0" smtClean="0"/>
              <a:t> the training manual for details on preparing the balance sheet and are encouraged to use relevant local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90290246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a:t>
            </a:r>
            <a:r>
              <a:rPr lang="en-US" baseline="0" dirty="0" smtClean="0"/>
              <a:t>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421517143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refer to</a:t>
            </a:r>
            <a:r>
              <a:rPr lang="en-US" baseline="0" dirty="0" smtClean="0"/>
              <a:t> the training manual for details and the following slide for a sample cash flow statement. Trainers are encouraged to use relevant local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403675096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refer to</a:t>
            </a:r>
            <a:r>
              <a:rPr lang="en-US" baseline="0" dirty="0" smtClean="0"/>
              <a:t> the training manual for details and the following slide for a sample revenue report.  Trainers are encouraged to use relevant local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251892453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refer to</a:t>
            </a:r>
            <a:r>
              <a:rPr lang="en-US" baseline="0" dirty="0" smtClean="0"/>
              <a:t> the training manual for details and local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326098014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refer to</a:t>
            </a:r>
            <a:r>
              <a:rPr lang="en-US" baseline="0" dirty="0" smtClean="0"/>
              <a:t> the training manual for details and provide local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305834676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refer to</a:t>
            </a:r>
            <a:r>
              <a:rPr lang="en-US" baseline="0" dirty="0" smtClean="0"/>
              <a:t> the training manual for details and the following slide for a sample revenue report.  Trainers are encouraged to use relevant local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143340262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refer to</a:t>
            </a:r>
            <a:r>
              <a:rPr lang="en-US" baseline="0" dirty="0" smtClean="0"/>
              <a:t> the training manual for details and provide local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393928371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refer to</a:t>
            </a:r>
            <a:r>
              <a:rPr lang="en-US" baseline="0" dirty="0" smtClean="0"/>
              <a:t> the training manual for details and the following slide for a sample revenue report.  Trainers are encouraged to use relevant local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96352410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Continued from previous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341800370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refer to</a:t>
            </a:r>
            <a:r>
              <a:rPr lang="en-US" baseline="0" dirty="0" smtClean="0"/>
              <a:t> the training manual for details and the following slide for a sample revenue report.  Trainers are encouraged to use relevant local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298361308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refer to</a:t>
            </a:r>
            <a:r>
              <a:rPr lang="en-US" baseline="0" dirty="0" smtClean="0"/>
              <a:t> the training manual for details and provide local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106027120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refer to</a:t>
            </a:r>
            <a:r>
              <a:rPr lang="en-US" baseline="0" dirty="0" smtClean="0"/>
              <a:t> the training manual for details and provide local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10838647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 refer to</a:t>
            </a:r>
            <a:r>
              <a:rPr lang="en-US" baseline="0" dirty="0" smtClean="0"/>
              <a:t> the training manual for details and the following slide for a sample revenue report.  Trainers are encouraged to use relevant local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254929120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Trainers</a:t>
            </a:r>
            <a:r>
              <a:rPr lang="en-US" baseline="0" dirty="0" smtClean="0"/>
              <a:t> guide trainees through the steps to distribute financial statements which are mostly administrative tasks.  At all times, financial statements should be treated securely and confidentiality maintained.</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587413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3/28/2015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3/28/2015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3/28/2015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3/28/2015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3/28/2015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3/28/2015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3/28/2015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3/28/2015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0.png"/><Relationship Id="rId5" Type="http://schemas.openxmlformats.org/officeDocument/2006/relationships/package" Target="../embeddings/Microsoft_Excel_Worksheet1.xlsx"/><Relationship Id="rId4" Type="http://schemas.openxmlformats.org/officeDocument/2006/relationships/oleObject" Target="../embeddings/oleObject1.bin"/></Relationships>
</file>

<file path=ppt/slides/_rels/slide7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692696"/>
            <a:ext cx="7272808" cy="1152128"/>
          </a:xfrm>
        </p:spPr>
        <p:txBody>
          <a:bodyPr>
            <a:normAutofit fontScale="90000"/>
          </a:bodyPr>
          <a:lstStyle/>
          <a:p>
            <a:r>
              <a:rPr lang="en-AU" sz="4000" dirty="0" smtClean="0">
                <a:ln w="5000" cmpd="sng">
                  <a:noFill/>
                  <a:prstDash val="solid"/>
                </a:ln>
                <a:solidFill>
                  <a:srgbClr val="FF6600"/>
                </a:solidFill>
                <a:latin typeface="Helvetica" pitchFamily="34" charset="0"/>
              </a:rPr>
              <a:t>MAINTAIN FINANCIAL STANDARDS AND RECORDS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292080" y="2063393"/>
            <a:ext cx="2736304" cy="720080"/>
          </a:xfrm>
        </p:spPr>
        <p:txBody>
          <a:bodyPr>
            <a:noAutofit/>
          </a:bodyPr>
          <a:lstStyle/>
          <a:p>
            <a:pPr>
              <a:spcBef>
                <a:spcPts val="600"/>
              </a:spcBef>
            </a:pPr>
            <a:r>
              <a:rPr lang="en-AU" b="1" dirty="0" smtClean="0">
                <a:latin typeface="Helvetica" pitchFamily="34" charset="0"/>
              </a:rPr>
              <a:t>D1.HFI.CL8.02</a:t>
            </a:r>
          </a:p>
          <a:p>
            <a:pPr>
              <a:spcBef>
                <a:spcPts val="600"/>
              </a:spcBef>
            </a:pPr>
            <a:r>
              <a:rPr lang="en-AU" b="1" dirty="0" smtClean="0">
                <a:latin typeface="Helvetica" pitchFamily="34" charset="0"/>
              </a:rPr>
              <a:t>D1.HFA.CL7.03</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a:t>
            </a:fld>
            <a:endParaRPr lang="en-US" dirty="0">
              <a:latin typeface="Helvetica" pitchFamily="34" charset="0"/>
            </a:endParaRPr>
          </a:p>
        </p:txBody>
      </p:sp>
      <p:pic>
        <p:nvPicPr>
          <p:cNvPr id="1026" name="Picture 2" descr="C:\Documents and Settings\danielc\Desktop\iStock_Comm on Phone.jpg"/>
          <p:cNvPicPr>
            <a:picLocks noChangeAspect="1" noChangeArrowheads="1"/>
          </p:cNvPicPr>
          <p:nvPr/>
        </p:nvPicPr>
        <p:blipFill>
          <a:blip r:embed="rId3" cstate="print"/>
          <a:stretch>
            <a:fillRect/>
          </a:stretch>
        </p:blipFill>
        <p:spPr bwMode="auto">
          <a:xfrm>
            <a:off x="1619672" y="2135401"/>
            <a:ext cx="4320480" cy="2877775"/>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Introduction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525963"/>
          </a:xfrm>
        </p:spPr>
        <p:txBody>
          <a:bodyPr>
            <a:normAutofit/>
          </a:bodyPr>
          <a:lstStyle/>
          <a:p>
            <a:pPr marL="0" indent="0">
              <a:spcBef>
                <a:spcPts val="600"/>
              </a:spcBef>
              <a:spcAft>
                <a:spcPts val="1200"/>
              </a:spcAft>
              <a:buNone/>
            </a:pPr>
            <a:r>
              <a:rPr lang="en-US" sz="2200" dirty="0" smtClean="0">
                <a:latin typeface="Helvetica" pitchFamily="34" charset="0"/>
              </a:rPr>
              <a:t>Maintain financial standards and records:</a:t>
            </a:r>
            <a:endParaRPr lang="en-US" sz="2200" dirty="0">
              <a:latin typeface="Helvetica" pitchFamily="34" charset="0"/>
            </a:endParaRPr>
          </a:p>
          <a:p>
            <a:pPr marL="360000" indent="-360000">
              <a:spcBef>
                <a:spcPts val="600"/>
              </a:spcBef>
              <a:spcAft>
                <a:spcPts val="1200"/>
              </a:spcAft>
              <a:buClr>
                <a:srgbClr val="7FD13B"/>
              </a:buClr>
            </a:pPr>
            <a:r>
              <a:rPr lang="en-US" sz="2200" dirty="0">
                <a:latin typeface="Helvetica" pitchFamily="34" charset="0"/>
              </a:rPr>
              <a:t>Classroom schedule</a:t>
            </a:r>
          </a:p>
          <a:p>
            <a:pPr marL="360000" indent="-360000">
              <a:spcBef>
                <a:spcPts val="600"/>
              </a:spcBef>
              <a:spcAft>
                <a:spcPts val="1200"/>
              </a:spcAft>
              <a:buClr>
                <a:srgbClr val="7FD13B"/>
              </a:buClr>
            </a:pPr>
            <a:r>
              <a:rPr lang="en-US" sz="2200" dirty="0">
                <a:latin typeface="Helvetica" pitchFamily="34" charset="0"/>
              </a:rPr>
              <a:t>Trainer contact details</a:t>
            </a:r>
          </a:p>
          <a:p>
            <a:pPr marL="360000" indent="-360000">
              <a:spcBef>
                <a:spcPts val="600"/>
              </a:spcBef>
              <a:spcAft>
                <a:spcPts val="1200"/>
              </a:spcAft>
              <a:buClr>
                <a:srgbClr val="7FD13B"/>
              </a:buClr>
            </a:pPr>
            <a:r>
              <a:rPr lang="en-US" sz="2200" dirty="0">
                <a:latin typeface="Helvetica" pitchFamily="34" charset="0"/>
              </a:rPr>
              <a:t>Assessments</a:t>
            </a:r>
          </a:p>
          <a:p>
            <a:pPr marL="360000" indent="-360000">
              <a:spcBef>
                <a:spcPts val="600"/>
              </a:spcBef>
              <a:spcAft>
                <a:spcPts val="1200"/>
              </a:spcAft>
              <a:buClr>
                <a:srgbClr val="7FD13B"/>
              </a:buClr>
            </a:pPr>
            <a:r>
              <a:rPr lang="en-US" sz="2200" dirty="0">
                <a:latin typeface="Helvetica" pitchFamily="34" charset="0"/>
              </a:rPr>
              <a:t>Resources:</a:t>
            </a:r>
          </a:p>
          <a:p>
            <a:pPr marL="720000" indent="-360000">
              <a:spcBef>
                <a:spcPts val="600"/>
              </a:spcBef>
              <a:spcAft>
                <a:spcPts val="1200"/>
              </a:spcAft>
              <a:buClr>
                <a:srgbClr val="7FD13B"/>
              </a:buClr>
              <a:buSzPct val="90000"/>
              <a:buFont typeface="Wingdings" pitchFamily="2" charset="2"/>
              <a:buChar char="§"/>
            </a:pPr>
            <a:r>
              <a:rPr lang="en-US" sz="2200" dirty="0">
                <a:latin typeface="Helvetica" pitchFamily="34" charset="0"/>
              </a:rPr>
              <a:t>Calculator, pen and paper</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588224" y="3284984"/>
            <a:ext cx="1736725" cy="18288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Introduction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525963"/>
          </a:xfrm>
        </p:spPr>
        <p:txBody>
          <a:bodyPr>
            <a:normAutofit/>
          </a:bodyPr>
          <a:lstStyle/>
          <a:p>
            <a:pPr marL="0" indent="0">
              <a:spcBef>
                <a:spcPts val="600"/>
              </a:spcBef>
              <a:spcAft>
                <a:spcPts val="1200"/>
              </a:spcAft>
              <a:buNone/>
            </a:pPr>
            <a:r>
              <a:rPr lang="en-AU" sz="2200" dirty="0" smtClean="0">
                <a:latin typeface="Helvetica" pitchFamily="34" charset="0"/>
              </a:rPr>
              <a:t>Getting to know each other:</a:t>
            </a:r>
          </a:p>
          <a:p>
            <a:pPr marL="360000" indent="-360000">
              <a:spcBef>
                <a:spcPts val="600"/>
              </a:spcBef>
              <a:spcAft>
                <a:spcPts val="1200"/>
              </a:spcAft>
              <a:buClr>
                <a:srgbClr val="7FD13B"/>
              </a:buClr>
            </a:pPr>
            <a:r>
              <a:rPr lang="en-AU" sz="2200" dirty="0" smtClean="0">
                <a:latin typeface="Helvetica" pitchFamily="34" charset="0"/>
              </a:rPr>
              <a:t>What is your name?</a:t>
            </a:r>
          </a:p>
          <a:p>
            <a:pPr marL="360000" indent="-360000">
              <a:spcBef>
                <a:spcPts val="600"/>
              </a:spcBef>
              <a:spcAft>
                <a:spcPts val="1200"/>
              </a:spcAft>
              <a:buClr>
                <a:srgbClr val="7FD13B"/>
              </a:buClr>
            </a:pPr>
            <a:r>
              <a:rPr lang="en-AU" sz="2200" dirty="0" smtClean="0">
                <a:latin typeface="Helvetica" pitchFamily="34" charset="0"/>
              </a:rPr>
              <a:t>Where do you live?</a:t>
            </a:r>
          </a:p>
          <a:p>
            <a:pPr marL="360000" indent="-360000">
              <a:spcBef>
                <a:spcPts val="600"/>
              </a:spcBef>
              <a:spcAft>
                <a:spcPts val="1200"/>
              </a:spcAft>
              <a:buClr>
                <a:srgbClr val="7FD13B"/>
              </a:buClr>
            </a:pPr>
            <a:r>
              <a:rPr lang="en-AU" sz="2200" dirty="0" smtClean="0">
                <a:latin typeface="Helvetica" pitchFamily="34" charset="0"/>
              </a:rPr>
              <a:t>Why are you doing this course?</a:t>
            </a:r>
          </a:p>
          <a:p>
            <a:pPr marL="360000" indent="-360000">
              <a:spcBef>
                <a:spcPts val="600"/>
              </a:spcBef>
              <a:spcAft>
                <a:spcPts val="1200"/>
              </a:spcAft>
              <a:buClr>
                <a:srgbClr val="7FD13B"/>
              </a:buClr>
            </a:pPr>
            <a:r>
              <a:rPr lang="en-AU" sz="2200" dirty="0" smtClean="0">
                <a:latin typeface="Helvetica" pitchFamily="34" charset="0"/>
              </a:rPr>
              <a:t>Where do you work?</a:t>
            </a:r>
          </a:p>
          <a:p>
            <a:pPr marL="360000" indent="-360000">
              <a:spcBef>
                <a:spcPts val="600"/>
              </a:spcBef>
              <a:spcAft>
                <a:spcPts val="1200"/>
              </a:spcAft>
              <a:buClr>
                <a:srgbClr val="7FD13B"/>
              </a:buClr>
            </a:pPr>
            <a:r>
              <a:rPr lang="en-AU" sz="2200" dirty="0" smtClean="0">
                <a:latin typeface="Helvetica" pitchFamily="34" charset="0"/>
              </a:rPr>
              <a:t>Have you studied a module or unit </a:t>
            </a:r>
            <a:br>
              <a:rPr lang="en-AU" sz="2200" dirty="0" smtClean="0">
                <a:latin typeface="Helvetica" pitchFamily="34" charset="0"/>
              </a:rPr>
            </a:br>
            <a:r>
              <a:rPr lang="en-AU" sz="2200" dirty="0" smtClean="0">
                <a:latin typeface="Helvetica" pitchFamily="34" charset="0"/>
              </a:rPr>
              <a:t>similar to this before?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4" descr="icons.PNG"/>
          <p:cNvPicPr>
            <a:picLocks noChangeAspect="1"/>
          </p:cNvPicPr>
          <p:nvPr/>
        </p:nvPicPr>
        <p:blipFill>
          <a:blip r:embed="rId3" cstate="print"/>
          <a:stretch>
            <a:fillRect/>
          </a:stretch>
        </p:blipFill>
        <p:spPr>
          <a:xfrm>
            <a:off x="6588224" y="3429000"/>
            <a:ext cx="1714500" cy="17145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720080"/>
          </a:xfrm>
        </p:spPr>
        <p:txBody>
          <a:bodyPr>
            <a:normAutofit/>
          </a:bodyPr>
          <a:lstStyle/>
          <a:p>
            <a:r>
              <a:rPr lang="en-US" sz="3400" b="1" dirty="0" smtClean="0">
                <a:solidFill>
                  <a:srgbClr val="FF6600"/>
                </a:solidFill>
                <a:latin typeface="Helvetica" pitchFamily="34" charset="0"/>
              </a:rPr>
              <a:t>Introduction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052736"/>
            <a:ext cx="7467600" cy="5616624"/>
          </a:xfrm>
        </p:spPr>
        <p:txBody>
          <a:bodyPr>
            <a:normAutofit/>
          </a:bodyPr>
          <a:lstStyle/>
          <a:p>
            <a:pPr marL="0" indent="0">
              <a:spcBef>
                <a:spcPts val="600"/>
              </a:spcBef>
              <a:spcAft>
                <a:spcPts val="1200"/>
              </a:spcAft>
              <a:buNone/>
            </a:pPr>
            <a:r>
              <a:rPr lang="en-AU" sz="2200" dirty="0" smtClean="0">
                <a:latin typeface="Helvetica" pitchFamily="34" charset="0"/>
              </a:rPr>
              <a:t>Unit comprises two elements which are covered in this sequence:</a:t>
            </a:r>
          </a:p>
          <a:p>
            <a:pPr marL="360000" indent="-360000">
              <a:spcBef>
                <a:spcPts val="600"/>
              </a:spcBef>
              <a:spcAft>
                <a:spcPts val="1200"/>
              </a:spcAft>
              <a:buClr>
                <a:srgbClr val="7FD13B"/>
              </a:buClr>
            </a:pPr>
            <a:r>
              <a:rPr lang="en-AU" sz="2200" dirty="0" smtClean="0">
                <a:latin typeface="Helvetica" pitchFamily="34" charset="0"/>
              </a:rPr>
              <a:t>Implement and monitor financial systems: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Internal control system</a:t>
            </a:r>
          </a:p>
          <a:p>
            <a:pPr marL="360000" indent="-360000">
              <a:spcBef>
                <a:spcPts val="600"/>
              </a:spcBef>
              <a:spcAft>
                <a:spcPts val="1200"/>
              </a:spcAft>
              <a:buClr>
                <a:srgbClr val="7FD13B"/>
              </a:buClr>
            </a:pPr>
            <a:r>
              <a:rPr lang="en-AU" sz="2200" dirty="0" smtClean="0">
                <a:latin typeface="Helvetica" pitchFamily="34" charset="0"/>
              </a:rPr>
              <a:t>Maintain financial systems: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Check and balance transactions</a:t>
            </a:r>
          </a:p>
          <a:p>
            <a:pPr marL="360000" indent="-360000">
              <a:spcBef>
                <a:spcPts val="600"/>
              </a:spcBef>
              <a:spcAft>
                <a:spcPts val="1200"/>
              </a:spcAft>
              <a:buClr>
                <a:srgbClr val="7FD13B"/>
              </a:buClr>
            </a:pPr>
            <a:r>
              <a:rPr lang="en-AU" sz="2200" dirty="0" smtClean="0">
                <a:latin typeface="Helvetica" pitchFamily="34" charset="0"/>
              </a:rPr>
              <a:t>Provide financial information: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Routine reports</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descr="Report 1.jpg"/>
          <p:cNvPicPr>
            <a:picLocks noChangeAspect="1"/>
          </p:cNvPicPr>
          <p:nvPr/>
        </p:nvPicPr>
        <p:blipFill>
          <a:blip r:embed="rId3" cstate="print"/>
          <a:stretch>
            <a:fillRect/>
          </a:stretch>
        </p:blipFill>
        <p:spPr>
          <a:xfrm>
            <a:off x="6409754" y="4077072"/>
            <a:ext cx="2050678" cy="136068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008112"/>
          </a:xfrm>
        </p:spPr>
        <p:txBody>
          <a:bodyPr>
            <a:normAutofit fontScale="90000"/>
          </a:bodyPr>
          <a:lstStyle/>
          <a:p>
            <a:r>
              <a:rPr lang="en-AU" sz="3400" b="1" dirty="0" smtClean="0">
                <a:solidFill>
                  <a:srgbClr val="FF6600"/>
                </a:solidFill>
                <a:latin typeface="Helvetica" pitchFamily="34" charset="0"/>
              </a:rPr>
              <a:t>Implement and monitor the financial system</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423317"/>
            <a:ext cx="7467600" cy="4525963"/>
          </a:xfrm>
        </p:spPr>
        <p:txBody>
          <a:bodyPr>
            <a:normAutofit/>
          </a:bodyPr>
          <a:lstStyle/>
          <a:p>
            <a:pPr marL="355600" indent="-355600" fontAlgn="base">
              <a:spcBef>
                <a:spcPts val="600"/>
              </a:spcBef>
              <a:spcAft>
                <a:spcPts val="1200"/>
              </a:spcAft>
              <a:buClr>
                <a:srgbClr val="7FD13B"/>
              </a:buClr>
              <a:defRPr/>
            </a:pPr>
            <a:r>
              <a:rPr lang="en-AU" sz="2400" kern="0" dirty="0" smtClean="0">
                <a:latin typeface="Helvetica"/>
                <a:cs typeface="Helvetica"/>
              </a:rPr>
              <a:t>A Definition of Accounting</a:t>
            </a:r>
            <a:br>
              <a:rPr lang="en-AU" sz="2400" kern="0" dirty="0" smtClean="0">
                <a:latin typeface="Helvetica"/>
                <a:cs typeface="Helvetica"/>
              </a:rPr>
            </a:br>
            <a:r>
              <a:rPr lang="en-AU" sz="2400" kern="0" dirty="0" smtClean="0">
                <a:latin typeface="Helvetica"/>
                <a:cs typeface="Helvetica"/>
              </a:rPr>
              <a:t/>
            </a:r>
            <a:br>
              <a:rPr lang="en-AU" sz="2400" kern="0" dirty="0" smtClean="0">
                <a:latin typeface="Helvetica"/>
                <a:cs typeface="Helvetica"/>
              </a:rPr>
            </a:br>
            <a:r>
              <a:rPr lang="en-AU" sz="2400" i="1" kern="0" dirty="0" smtClean="0">
                <a:latin typeface="Helvetica"/>
                <a:cs typeface="Helvetica"/>
              </a:rPr>
              <a:t>“The systematic recording, reporting </a:t>
            </a:r>
            <a:br>
              <a:rPr lang="en-AU" sz="2400" i="1" kern="0" dirty="0" smtClean="0">
                <a:latin typeface="Helvetica"/>
                <a:cs typeface="Helvetica"/>
              </a:rPr>
            </a:br>
            <a:r>
              <a:rPr lang="en-AU" sz="2400" i="1" kern="0" dirty="0" smtClean="0">
                <a:latin typeface="Helvetica"/>
                <a:cs typeface="Helvetica"/>
              </a:rPr>
              <a:t>and analysis of financial transactions </a:t>
            </a:r>
            <a:br>
              <a:rPr lang="en-AU" sz="2400" i="1" kern="0" dirty="0" smtClean="0">
                <a:latin typeface="Helvetica"/>
                <a:cs typeface="Helvetica"/>
              </a:rPr>
            </a:br>
            <a:r>
              <a:rPr lang="en-AU" sz="2400" i="1" kern="0" dirty="0" smtClean="0">
                <a:latin typeface="Helvetica"/>
                <a:cs typeface="Helvetica"/>
              </a:rPr>
              <a:t>of a business”</a:t>
            </a:r>
          </a:p>
          <a:p>
            <a:pPr marL="355600" indent="-355600">
              <a:spcBef>
                <a:spcPts val="600"/>
              </a:spcBef>
              <a:spcAft>
                <a:spcPts val="1200"/>
              </a:spcAft>
              <a:buClr>
                <a:srgbClr val="7FD13B"/>
              </a:buClr>
              <a:defRPr/>
            </a:pPr>
            <a:r>
              <a:rPr lang="en-AU" sz="2400" kern="0" dirty="0" smtClean="0">
                <a:latin typeface="Helvetica"/>
                <a:cs typeface="Helvetica"/>
              </a:rPr>
              <a:t>The Accounting System</a:t>
            </a:r>
            <a:br>
              <a:rPr lang="en-AU" sz="2400" kern="0" dirty="0" smtClean="0">
                <a:latin typeface="Helvetica"/>
                <a:cs typeface="Helvetica"/>
              </a:rPr>
            </a:br>
            <a:r>
              <a:rPr lang="en-AU" sz="2400" kern="0" dirty="0" smtClean="0">
                <a:latin typeface="Helvetica"/>
                <a:cs typeface="Helvetica"/>
              </a:rPr>
              <a:t/>
            </a:r>
            <a:br>
              <a:rPr lang="en-AU" sz="2400" kern="0" dirty="0" smtClean="0">
                <a:latin typeface="Helvetica"/>
                <a:cs typeface="Helvetica"/>
              </a:rPr>
            </a:br>
            <a:r>
              <a:rPr lang="en-AU" sz="2400" kern="0" dirty="0" smtClean="0">
                <a:latin typeface="Helvetica"/>
                <a:cs typeface="Helvetica"/>
              </a:rPr>
              <a:t>The people and the processes by which an organisation records, reports and analyses financial transactions</a:t>
            </a:r>
          </a:p>
          <a:p>
            <a:pPr marL="360000" indent="-360000">
              <a:spcBef>
                <a:spcPts val="600"/>
              </a:spcBef>
              <a:spcAft>
                <a:spcPts val="1200"/>
              </a:spcAft>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8369" name="Picture 1" descr="C:\Documents and Settings\danielc\Desktop\Financial Statements images\freeimage-22176029.jpg"/>
          <p:cNvPicPr>
            <a:picLocks noChangeAspect="1" noChangeArrowheads="1"/>
          </p:cNvPicPr>
          <p:nvPr/>
        </p:nvPicPr>
        <p:blipFill>
          <a:blip r:embed="rId3" cstate="print"/>
          <a:srcRect/>
          <a:stretch>
            <a:fillRect/>
          </a:stretch>
        </p:blipFill>
        <p:spPr bwMode="auto">
          <a:xfrm>
            <a:off x="7092280" y="3501008"/>
            <a:ext cx="1357322" cy="2027605"/>
          </a:xfrm>
          <a:prstGeom prst="rect">
            <a:avLst/>
          </a:prstGeom>
          <a:noFill/>
        </p:spPr>
      </p:pic>
    </p:spTree>
    <p:extLst>
      <p:ext uri="{BB962C8B-B14F-4D97-AF65-F5344CB8AC3E}">
        <p14:creationId xmlns:p14="http://schemas.microsoft.com/office/powerpoint/2010/main" val="22895065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and monitor the financial system</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AU" sz="2200" dirty="0" smtClean="0">
                <a:latin typeface="Helvetica" pitchFamily="34" charset="0"/>
              </a:rPr>
              <a:t>Why have an accounting system?</a:t>
            </a:r>
          </a:p>
          <a:p>
            <a:pPr marL="360000" indent="-360000">
              <a:spcBef>
                <a:spcPts val="600"/>
              </a:spcBef>
              <a:spcAft>
                <a:spcPts val="1200"/>
              </a:spcAft>
              <a:buClr>
                <a:srgbClr val="7FD13B"/>
              </a:buClr>
            </a:pPr>
            <a:r>
              <a:rPr lang="en-AU" sz="2200" dirty="0" smtClean="0">
                <a:latin typeface="Helvetica" pitchFamily="34" charset="0"/>
              </a:rPr>
              <a:t>Manager’s responsibilities: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Planning</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Organising</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Directing</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Controlling</a:t>
            </a:r>
          </a:p>
          <a:p>
            <a:pPr marL="360000" indent="-360000">
              <a:spcBef>
                <a:spcPts val="600"/>
              </a:spcBef>
              <a:spcAft>
                <a:spcPts val="1200"/>
              </a:spcAft>
              <a:buClr>
                <a:srgbClr val="7FD13B"/>
              </a:buClr>
            </a:pPr>
            <a:r>
              <a:rPr lang="en-AU" sz="2200" dirty="0" smtClean="0">
                <a:latin typeface="Helvetica" pitchFamily="34" charset="0"/>
              </a:rPr>
              <a:t>Financial management</a:t>
            </a:r>
          </a:p>
          <a:p>
            <a:pPr marL="360000" indent="-360000">
              <a:spcBef>
                <a:spcPts val="600"/>
              </a:spcBef>
              <a:spcAft>
                <a:spcPts val="1200"/>
              </a:spcAft>
              <a:buClr>
                <a:srgbClr val="7FD13B"/>
              </a:buClr>
            </a:pPr>
            <a:r>
              <a:rPr lang="en-AU" sz="2200" dirty="0" smtClean="0">
                <a:latin typeface="Helvetica" pitchFamily="34" charset="0"/>
              </a:rPr>
              <a:t>Manual and computerised systems</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iStock_000002364450Medium.jpg"/>
          <p:cNvPicPr>
            <a:picLocks noChangeAspect="1"/>
          </p:cNvPicPr>
          <p:nvPr/>
        </p:nvPicPr>
        <p:blipFill>
          <a:blip r:embed="rId3" cstate="print"/>
          <a:stretch>
            <a:fillRect/>
          </a:stretch>
        </p:blipFill>
        <p:spPr>
          <a:xfrm>
            <a:off x="6954336" y="3252757"/>
            <a:ext cx="1506096" cy="226447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Maintaining the financial syste</a:t>
            </a:r>
            <a:r>
              <a:rPr lang="en-US" sz="3400" b="1" dirty="0">
                <a:solidFill>
                  <a:srgbClr val="FF6600"/>
                </a:solidFill>
                <a:latin typeface="Helvetica" pitchFamily="34" charset="0"/>
              </a:rPr>
              <a:t>m</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grpSp>
        <p:nvGrpSpPr>
          <p:cNvPr id="32" name="Group 31"/>
          <p:cNvGrpSpPr/>
          <p:nvPr/>
        </p:nvGrpSpPr>
        <p:grpSpPr>
          <a:xfrm>
            <a:off x="179512" y="1309216"/>
            <a:ext cx="7368480" cy="4064000"/>
            <a:chOff x="251520" y="1196752"/>
            <a:chExt cx="7368480" cy="4064000"/>
          </a:xfrm>
        </p:grpSpPr>
        <p:graphicFrame>
          <p:nvGraphicFramePr>
            <p:cNvPr id="33" name="Diagram 32"/>
            <p:cNvGraphicFramePr/>
            <p:nvPr/>
          </p:nvGraphicFramePr>
          <p:xfrm>
            <a:off x="3851920" y="1196752"/>
            <a:ext cx="376808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5" name="Line 16"/>
            <p:cNvSpPr>
              <a:spLocks noChangeShapeType="1"/>
            </p:cNvSpPr>
            <p:nvPr/>
          </p:nvSpPr>
          <p:spPr bwMode="black">
            <a:xfrm>
              <a:off x="2051720" y="1772816"/>
              <a:ext cx="1771204" cy="458862"/>
            </a:xfrm>
            <a:prstGeom prst="line">
              <a:avLst/>
            </a:prstGeom>
            <a:noFill/>
            <a:ln w="9525">
              <a:solidFill>
                <a:schemeClr val="tx1"/>
              </a:solidFill>
              <a:round/>
              <a:headEnd/>
              <a:tailEnd type="triangle" w="med" len="med"/>
            </a:ln>
          </p:spPr>
          <p:txBody>
            <a:bodyPr wrap="none" anchor="ctr"/>
            <a:lstStyle/>
            <a:p>
              <a:endParaRPr lang="en-AU" dirty="0"/>
            </a:p>
          </p:txBody>
        </p:sp>
        <p:cxnSp>
          <p:nvCxnSpPr>
            <p:cNvPr id="37" name="AutoShape 17"/>
            <p:cNvCxnSpPr>
              <a:cxnSpLocks noChangeShapeType="1"/>
            </p:cNvCxnSpPr>
            <p:nvPr/>
          </p:nvCxnSpPr>
          <p:spPr bwMode="black">
            <a:xfrm flipH="1">
              <a:off x="611560" y="1772816"/>
              <a:ext cx="1440000" cy="0"/>
            </a:xfrm>
            <a:prstGeom prst="straightConnector1">
              <a:avLst/>
            </a:prstGeom>
            <a:noFill/>
            <a:ln w="9525">
              <a:solidFill>
                <a:schemeClr val="tx1"/>
              </a:solidFill>
              <a:round/>
              <a:headEnd/>
              <a:tailEnd/>
            </a:ln>
          </p:spPr>
        </p:cxnSp>
        <p:sp>
          <p:nvSpPr>
            <p:cNvPr id="39" name="Text Box 18"/>
            <p:cNvSpPr txBox="1">
              <a:spLocks noChangeArrowheads="1"/>
            </p:cNvSpPr>
            <p:nvPr/>
          </p:nvSpPr>
          <p:spPr bwMode="auto">
            <a:xfrm>
              <a:off x="251520" y="1434262"/>
              <a:ext cx="2057400" cy="338554"/>
            </a:xfrm>
            <a:prstGeom prst="rect">
              <a:avLst/>
            </a:prstGeom>
            <a:noFill/>
            <a:ln w="9525">
              <a:noFill/>
              <a:miter lim="800000"/>
              <a:headEnd/>
              <a:tailEnd/>
            </a:ln>
          </p:spPr>
          <p:txBody>
            <a:bodyPr>
              <a:spAutoFit/>
            </a:bodyPr>
            <a:lstStyle/>
            <a:p>
              <a:pPr marL="360000" indent="-360000" algn="ctr">
                <a:spcBef>
                  <a:spcPts val="600"/>
                </a:spcBef>
                <a:spcAft>
                  <a:spcPts val="1200"/>
                </a:spcAft>
                <a:buNone/>
              </a:pPr>
              <a:r>
                <a:rPr lang="en-US" sz="1600" b="1" dirty="0" smtClean="0">
                  <a:latin typeface="Helvetica" pitchFamily="34" charset="0"/>
                </a:rPr>
                <a:t>Inputs</a:t>
              </a:r>
            </a:p>
          </p:txBody>
        </p:sp>
        <p:sp>
          <p:nvSpPr>
            <p:cNvPr id="40" name="Line 16"/>
            <p:cNvSpPr>
              <a:spLocks noChangeShapeType="1"/>
            </p:cNvSpPr>
            <p:nvPr/>
          </p:nvSpPr>
          <p:spPr bwMode="black">
            <a:xfrm flipV="1">
              <a:off x="2051720" y="1412776"/>
              <a:ext cx="1800200" cy="360040"/>
            </a:xfrm>
            <a:prstGeom prst="line">
              <a:avLst/>
            </a:prstGeom>
            <a:noFill/>
            <a:ln w="9525">
              <a:solidFill>
                <a:schemeClr val="tx1"/>
              </a:solidFill>
              <a:round/>
              <a:headEnd/>
              <a:tailEnd type="triangle" w="med" len="med"/>
            </a:ln>
          </p:spPr>
          <p:txBody>
            <a:bodyPr wrap="none" anchor="ctr"/>
            <a:lstStyle/>
            <a:p>
              <a:endParaRPr lang="en-AU" dirty="0"/>
            </a:p>
          </p:txBody>
        </p:sp>
        <p:cxnSp>
          <p:nvCxnSpPr>
            <p:cNvPr id="41" name="AutoShape 17"/>
            <p:cNvCxnSpPr>
              <a:cxnSpLocks noChangeShapeType="1"/>
            </p:cNvCxnSpPr>
            <p:nvPr/>
          </p:nvCxnSpPr>
          <p:spPr bwMode="black">
            <a:xfrm flipH="1">
              <a:off x="611560" y="3573016"/>
              <a:ext cx="1440000" cy="0"/>
            </a:xfrm>
            <a:prstGeom prst="straightConnector1">
              <a:avLst/>
            </a:prstGeom>
            <a:noFill/>
            <a:ln w="9525">
              <a:solidFill>
                <a:schemeClr val="tx1"/>
              </a:solidFill>
              <a:round/>
              <a:headEnd/>
              <a:tailEnd/>
            </a:ln>
          </p:spPr>
        </p:cxnSp>
        <p:sp>
          <p:nvSpPr>
            <p:cNvPr id="43" name="Text Box 18"/>
            <p:cNvSpPr txBox="1">
              <a:spLocks noChangeArrowheads="1"/>
            </p:cNvSpPr>
            <p:nvPr/>
          </p:nvSpPr>
          <p:spPr bwMode="auto">
            <a:xfrm>
              <a:off x="282352" y="3234462"/>
              <a:ext cx="2057400" cy="338554"/>
            </a:xfrm>
            <a:prstGeom prst="rect">
              <a:avLst/>
            </a:prstGeom>
            <a:noFill/>
            <a:ln w="9525">
              <a:noFill/>
              <a:miter lim="800000"/>
              <a:headEnd/>
              <a:tailEnd/>
            </a:ln>
          </p:spPr>
          <p:txBody>
            <a:bodyPr>
              <a:spAutoFit/>
            </a:bodyPr>
            <a:lstStyle/>
            <a:p>
              <a:pPr marL="360000" indent="-360000" algn="ctr">
                <a:spcBef>
                  <a:spcPts val="600"/>
                </a:spcBef>
                <a:spcAft>
                  <a:spcPts val="1200"/>
                </a:spcAft>
                <a:buNone/>
              </a:pPr>
              <a:r>
                <a:rPr lang="en-US" sz="1600" b="1" dirty="0" smtClean="0">
                  <a:latin typeface="Helvetica" pitchFamily="34" charset="0"/>
                </a:rPr>
                <a:t>Processing</a:t>
              </a:r>
            </a:p>
          </p:txBody>
        </p:sp>
        <p:cxnSp>
          <p:nvCxnSpPr>
            <p:cNvPr id="44" name="AutoShape 17"/>
            <p:cNvCxnSpPr>
              <a:cxnSpLocks noChangeShapeType="1"/>
            </p:cNvCxnSpPr>
            <p:nvPr/>
          </p:nvCxnSpPr>
          <p:spPr bwMode="black">
            <a:xfrm flipH="1">
              <a:off x="611560" y="5013176"/>
              <a:ext cx="1440000" cy="0"/>
            </a:xfrm>
            <a:prstGeom prst="straightConnector1">
              <a:avLst/>
            </a:prstGeom>
            <a:noFill/>
            <a:ln w="9525">
              <a:solidFill>
                <a:schemeClr val="tx1"/>
              </a:solidFill>
              <a:round/>
              <a:headEnd/>
              <a:tailEnd/>
            </a:ln>
          </p:spPr>
        </p:cxnSp>
        <p:sp>
          <p:nvSpPr>
            <p:cNvPr id="45" name="Text Box 18"/>
            <p:cNvSpPr txBox="1">
              <a:spLocks noChangeArrowheads="1"/>
            </p:cNvSpPr>
            <p:nvPr/>
          </p:nvSpPr>
          <p:spPr bwMode="auto">
            <a:xfrm>
              <a:off x="251520" y="4674622"/>
              <a:ext cx="2057400" cy="338554"/>
            </a:xfrm>
            <a:prstGeom prst="rect">
              <a:avLst/>
            </a:prstGeom>
            <a:noFill/>
            <a:ln w="9525">
              <a:noFill/>
              <a:miter lim="800000"/>
              <a:headEnd/>
              <a:tailEnd/>
            </a:ln>
          </p:spPr>
          <p:txBody>
            <a:bodyPr>
              <a:spAutoFit/>
            </a:bodyPr>
            <a:lstStyle/>
            <a:p>
              <a:pPr marL="360000" indent="-360000" algn="ctr">
                <a:spcBef>
                  <a:spcPts val="600"/>
                </a:spcBef>
                <a:spcAft>
                  <a:spcPts val="1200"/>
                </a:spcAft>
                <a:buNone/>
              </a:pPr>
              <a:r>
                <a:rPr lang="en-US" sz="1600" b="1" dirty="0" smtClean="0">
                  <a:latin typeface="Helvetica" pitchFamily="34" charset="0"/>
                </a:rPr>
                <a:t>Outputs</a:t>
              </a:r>
            </a:p>
          </p:txBody>
        </p:sp>
        <p:sp>
          <p:nvSpPr>
            <p:cNvPr id="46" name="Line 16"/>
            <p:cNvSpPr>
              <a:spLocks noChangeShapeType="1"/>
            </p:cNvSpPr>
            <p:nvPr/>
          </p:nvSpPr>
          <p:spPr bwMode="black">
            <a:xfrm>
              <a:off x="2051720" y="3573016"/>
              <a:ext cx="1800200" cy="720080"/>
            </a:xfrm>
            <a:prstGeom prst="line">
              <a:avLst/>
            </a:prstGeom>
            <a:noFill/>
            <a:ln w="9525">
              <a:solidFill>
                <a:schemeClr val="tx1"/>
              </a:solidFill>
              <a:round/>
              <a:headEnd/>
              <a:tailEnd type="triangle" w="med" len="med"/>
            </a:ln>
          </p:spPr>
          <p:txBody>
            <a:bodyPr wrap="none" anchor="ctr"/>
            <a:lstStyle/>
            <a:p>
              <a:endParaRPr lang="en-AU" dirty="0"/>
            </a:p>
          </p:txBody>
        </p:sp>
        <p:sp>
          <p:nvSpPr>
            <p:cNvPr id="47" name="Line 16"/>
            <p:cNvSpPr>
              <a:spLocks noChangeShapeType="1"/>
            </p:cNvSpPr>
            <p:nvPr/>
          </p:nvSpPr>
          <p:spPr bwMode="black">
            <a:xfrm flipV="1">
              <a:off x="2051720" y="2852936"/>
              <a:ext cx="1800200" cy="720080"/>
            </a:xfrm>
            <a:prstGeom prst="line">
              <a:avLst/>
            </a:prstGeom>
            <a:noFill/>
            <a:ln w="9525">
              <a:solidFill>
                <a:schemeClr val="tx1"/>
              </a:solidFill>
              <a:round/>
              <a:headEnd/>
              <a:tailEnd type="triangle" w="med" len="med"/>
            </a:ln>
          </p:spPr>
          <p:txBody>
            <a:bodyPr wrap="none" anchor="ctr"/>
            <a:lstStyle/>
            <a:p>
              <a:endParaRPr lang="en-AU" dirty="0"/>
            </a:p>
          </p:txBody>
        </p:sp>
        <p:sp>
          <p:nvSpPr>
            <p:cNvPr id="48" name="Line 16"/>
            <p:cNvSpPr>
              <a:spLocks noChangeShapeType="1"/>
            </p:cNvSpPr>
            <p:nvPr/>
          </p:nvSpPr>
          <p:spPr bwMode="black">
            <a:xfrm>
              <a:off x="2051720" y="5013176"/>
              <a:ext cx="1800200" cy="0"/>
            </a:xfrm>
            <a:prstGeom prst="line">
              <a:avLst/>
            </a:prstGeom>
            <a:noFill/>
            <a:ln w="9525">
              <a:solidFill>
                <a:schemeClr val="tx1"/>
              </a:solidFill>
              <a:round/>
              <a:headEnd/>
              <a:tailEnd type="triangle" w="med" len="med"/>
            </a:ln>
          </p:spPr>
          <p:txBody>
            <a:bodyPr wrap="none" anchor="ctr"/>
            <a:lstStyle/>
            <a:p>
              <a:endParaRPr lang="en-AU" dirty="0"/>
            </a:p>
          </p:txBody>
        </p:sp>
        <p:sp>
          <p:nvSpPr>
            <p:cNvPr id="49" name="Line 16"/>
            <p:cNvSpPr>
              <a:spLocks noChangeShapeType="1"/>
            </p:cNvSpPr>
            <p:nvPr/>
          </p:nvSpPr>
          <p:spPr bwMode="black">
            <a:xfrm>
              <a:off x="2051720" y="3573016"/>
              <a:ext cx="1800200" cy="0"/>
            </a:xfrm>
            <a:prstGeom prst="line">
              <a:avLst/>
            </a:prstGeom>
            <a:noFill/>
            <a:ln w="9525">
              <a:solidFill>
                <a:schemeClr val="tx1"/>
              </a:solidFill>
              <a:round/>
              <a:headEnd/>
              <a:tailEnd type="triangle" w="med" len="med"/>
            </a:ln>
          </p:spPr>
          <p:txBody>
            <a:bodyPr wrap="none" anchor="ctr"/>
            <a:lstStyle/>
            <a:p>
              <a:endParaRPr lang="en-AU" dirty="0"/>
            </a:p>
          </p:txBody>
        </p:sp>
      </p:grpSp>
    </p:spTree>
    <p:extLst>
      <p:ext uri="{BB962C8B-B14F-4D97-AF65-F5344CB8AC3E}">
        <p14:creationId xmlns:p14="http://schemas.microsoft.com/office/powerpoint/2010/main" val="30012142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and monitor the financial system</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639341"/>
            <a:ext cx="7467600" cy="4525963"/>
          </a:xfrm>
        </p:spPr>
        <p:txBody>
          <a:bodyPr>
            <a:normAutofit/>
          </a:bodyPr>
          <a:lstStyle/>
          <a:p>
            <a:pPr marL="0" indent="0">
              <a:spcBef>
                <a:spcPts val="600"/>
              </a:spcBef>
              <a:spcAft>
                <a:spcPts val="1200"/>
              </a:spcAft>
              <a:buNone/>
            </a:pPr>
            <a:r>
              <a:rPr lang="en-AU" sz="2200" dirty="0" smtClean="0">
                <a:latin typeface="Helvetica" pitchFamily="34" charset="0"/>
              </a:rPr>
              <a:t>The accounting system:</a:t>
            </a:r>
          </a:p>
          <a:p>
            <a:pPr marL="360000" indent="-360000">
              <a:spcBef>
                <a:spcPts val="600"/>
              </a:spcBef>
              <a:spcAft>
                <a:spcPts val="1200"/>
              </a:spcAft>
              <a:buClr>
                <a:srgbClr val="7FD13B"/>
              </a:buClr>
            </a:pPr>
            <a:r>
              <a:rPr lang="en-AU" sz="2200" dirty="0" smtClean="0">
                <a:latin typeface="Helvetica" pitchFamily="34" charset="0"/>
              </a:rPr>
              <a:t>Analysis</a:t>
            </a:r>
          </a:p>
          <a:p>
            <a:pPr marL="360000" indent="-360000">
              <a:spcBef>
                <a:spcPts val="600"/>
              </a:spcBef>
              <a:spcAft>
                <a:spcPts val="1200"/>
              </a:spcAft>
              <a:buClr>
                <a:srgbClr val="7FD13B"/>
              </a:buClr>
            </a:pPr>
            <a:r>
              <a:rPr lang="en-AU" sz="2200" dirty="0" smtClean="0">
                <a:latin typeface="Helvetica" pitchFamily="34" charset="0"/>
              </a:rPr>
              <a:t>Design</a:t>
            </a:r>
          </a:p>
          <a:p>
            <a:pPr marL="360000" indent="-360000">
              <a:spcBef>
                <a:spcPts val="600"/>
              </a:spcBef>
              <a:spcAft>
                <a:spcPts val="1200"/>
              </a:spcAft>
              <a:buClr>
                <a:srgbClr val="7FD13B"/>
              </a:buClr>
            </a:pPr>
            <a:r>
              <a:rPr lang="en-AU" sz="2200" dirty="0" smtClean="0">
                <a:latin typeface="Helvetica" pitchFamily="34" charset="0"/>
              </a:rPr>
              <a:t>Implementation and review</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 name="Picture 4" descr="Disount.jpg"/>
          <p:cNvPicPr>
            <a:picLocks noChangeAspect="1"/>
          </p:cNvPicPr>
          <p:nvPr/>
        </p:nvPicPr>
        <p:blipFill>
          <a:blip r:embed="rId3" cstate="print"/>
          <a:stretch>
            <a:fillRect/>
          </a:stretch>
        </p:blipFill>
        <p:spPr>
          <a:xfrm>
            <a:off x="6372200" y="3789040"/>
            <a:ext cx="1911286" cy="1293864"/>
          </a:xfrm>
          <a:prstGeom prst="rect">
            <a:avLst/>
          </a:prstGeom>
        </p:spPr>
      </p:pic>
    </p:spTree>
    <p:extLst>
      <p:ext uri="{BB962C8B-B14F-4D97-AF65-F5344CB8AC3E}">
        <p14:creationId xmlns:p14="http://schemas.microsoft.com/office/powerpoint/2010/main" val="37694917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and monitor the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Autofit/>
          </a:bodyPr>
          <a:lstStyle/>
          <a:p>
            <a:pPr marL="0" indent="0">
              <a:spcBef>
                <a:spcPts val="600"/>
              </a:spcBef>
              <a:spcAft>
                <a:spcPts val="600"/>
              </a:spcAft>
              <a:buNone/>
            </a:pPr>
            <a:r>
              <a:rPr lang="en-US" sz="2100" dirty="0" smtClean="0">
                <a:latin typeface="Helvetica" pitchFamily="34" charset="0"/>
              </a:rPr>
              <a:t>The accounting system:</a:t>
            </a:r>
          </a:p>
          <a:p>
            <a:pPr marL="360000" indent="-360000">
              <a:spcBef>
                <a:spcPts val="600"/>
              </a:spcBef>
              <a:spcAft>
                <a:spcPts val="600"/>
              </a:spcAft>
              <a:buClr>
                <a:srgbClr val="7FD13B"/>
              </a:buClr>
            </a:pPr>
            <a:r>
              <a:rPr lang="en-US" sz="2100" dirty="0" smtClean="0">
                <a:latin typeface="Helvetica" pitchFamily="34" charset="0"/>
              </a:rPr>
              <a:t>Key considerations:</a:t>
            </a:r>
          </a:p>
          <a:p>
            <a:pPr marL="720000" indent="-360000">
              <a:spcBef>
                <a:spcPts val="600"/>
              </a:spcBef>
              <a:spcAft>
                <a:spcPts val="600"/>
              </a:spcAft>
              <a:buClr>
                <a:srgbClr val="7FD13B"/>
              </a:buClr>
              <a:buFont typeface="Wingdings" pitchFamily="2" charset="2"/>
              <a:buChar char="§"/>
            </a:pPr>
            <a:r>
              <a:rPr lang="en-US" sz="2100" dirty="0" smtClean="0">
                <a:latin typeface="Helvetica" pitchFamily="34" charset="0"/>
              </a:rPr>
              <a:t>Costs and benefits</a:t>
            </a:r>
          </a:p>
          <a:p>
            <a:pPr marL="720000" indent="-360000">
              <a:spcBef>
                <a:spcPts val="600"/>
              </a:spcBef>
              <a:spcAft>
                <a:spcPts val="600"/>
              </a:spcAft>
              <a:buClr>
                <a:srgbClr val="7FD13B"/>
              </a:buClr>
              <a:buFont typeface="Wingdings" pitchFamily="2" charset="2"/>
              <a:buChar char="§"/>
            </a:pPr>
            <a:r>
              <a:rPr lang="en-US" sz="2100" dirty="0" smtClean="0">
                <a:latin typeface="Helvetica" pitchFamily="34" charset="0"/>
              </a:rPr>
              <a:t>Compatibility</a:t>
            </a:r>
          </a:p>
          <a:p>
            <a:pPr marL="720000" indent="-360000">
              <a:spcBef>
                <a:spcPts val="600"/>
              </a:spcBef>
              <a:spcAft>
                <a:spcPts val="600"/>
              </a:spcAft>
              <a:buClr>
                <a:srgbClr val="7FD13B"/>
              </a:buClr>
              <a:buFont typeface="Wingdings" pitchFamily="2" charset="2"/>
              <a:buChar char="§"/>
            </a:pPr>
            <a:r>
              <a:rPr lang="en-US" sz="2100" dirty="0" smtClean="0">
                <a:latin typeface="Helvetica" pitchFamily="34" charset="0"/>
              </a:rPr>
              <a:t>Flexibility</a:t>
            </a:r>
          </a:p>
          <a:p>
            <a:pPr marL="720000" indent="-360000">
              <a:spcBef>
                <a:spcPts val="600"/>
              </a:spcBef>
              <a:spcAft>
                <a:spcPts val="600"/>
              </a:spcAft>
              <a:buClr>
                <a:srgbClr val="7FD13B"/>
              </a:buClr>
              <a:buFont typeface="Wingdings" pitchFamily="2" charset="2"/>
              <a:buChar char="§"/>
            </a:pPr>
            <a:r>
              <a:rPr lang="en-US" sz="2100" dirty="0" smtClean="0">
                <a:latin typeface="Helvetica" pitchFamily="34" charset="0"/>
              </a:rPr>
              <a:t>Internal control – discussed in detail</a:t>
            </a:r>
          </a:p>
          <a:p>
            <a:pPr marL="360000" indent="-360000">
              <a:spcBef>
                <a:spcPts val="600"/>
              </a:spcBef>
              <a:spcAft>
                <a:spcPts val="600"/>
              </a:spcAft>
              <a:buClr>
                <a:srgbClr val="7FD13B"/>
              </a:buClr>
              <a:buNone/>
            </a:pPr>
            <a:r>
              <a:rPr lang="en-US" sz="2100" b="1" dirty="0">
                <a:latin typeface="Helvetica" pitchFamily="34" charset="0"/>
              </a:rPr>
              <a:t>Activity</a:t>
            </a:r>
          </a:p>
          <a:p>
            <a:pPr marL="0" indent="0">
              <a:spcBef>
                <a:spcPts val="600"/>
              </a:spcBef>
              <a:spcAft>
                <a:spcPts val="600"/>
              </a:spcAft>
              <a:buNone/>
            </a:pPr>
            <a:r>
              <a:rPr lang="en-US" sz="2100" dirty="0">
                <a:latin typeface="Helvetica" pitchFamily="34" charset="0"/>
              </a:rPr>
              <a:t>Discuss in small groups the sources and information requirements a hospitality and tourism business might have from its accounting system.</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descr="accounts clerk - iStock_000006001673Small.jpg"/>
          <p:cNvPicPr>
            <a:picLocks noChangeAspect="1"/>
          </p:cNvPicPr>
          <p:nvPr/>
        </p:nvPicPr>
        <p:blipFill>
          <a:blip r:embed="rId3" cstate="print"/>
          <a:stretch>
            <a:fillRect/>
          </a:stretch>
        </p:blipFill>
        <p:spPr>
          <a:xfrm>
            <a:off x="5148064" y="2132856"/>
            <a:ext cx="2011688" cy="1338756"/>
          </a:xfrm>
          <a:prstGeom prst="rect">
            <a:avLst/>
          </a:prstGeom>
        </p:spPr>
      </p:pic>
    </p:spTree>
    <p:extLst>
      <p:ext uri="{BB962C8B-B14F-4D97-AF65-F5344CB8AC3E}">
        <p14:creationId xmlns:p14="http://schemas.microsoft.com/office/powerpoint/2010/main" val="14477430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Implement</a:t>
            </a:r>
            <a:r>
              <a:rPr lang="en-US" sz="3400" b="1" dirty="0" smtClean="0">
                <a:solidFill>
                  <a:srgbClr val="FF6600"/>
                </a:solidFill>
                <a:latin typeface="Helvetica" pitchFamily="34" charset="0"/>
              </a:rPr>
              <a:t> </a:t>
            </a:r>
            <a:r>
              <a:rPr lang="en-US" sz="3400" b="1" dirty="0">
                <a:solidFill>
                  <a:srgbClr val="FF6600"/>
                </a:solidFill>
                <a:latin typeface="Helvetica" pitchFamily="34" charset="0"/>
              </a:rPr>
              <a:t>i</a:t>
            </a:r>
            <a:r>
              <a:rPr lang="en-US" sz="3400" b="1" dirty="0" smtClean="0">
                <a:solidFill>
                  <a:srgbClr val="FF6600"/>
                </a:solidFill>
                <a:latin typeface="Helvetica" pitchFamily="34" charset="0"/>
              </a:rPr>
              <a:t>nternal controls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360000" indent="-360000">
              <a:spcBef>
                <a:spcPts val="600"/>
              </a:spcBef>
              <a:spcAft>
                <a:spcPts val="1200"/>
              </a:spcAft>
              <a:buClr>
                <a:srgbClr val="7FD13B"/>
              </a:buClr>
            </a:pPr>
            <a:r>
              <a:rPr lang="en-US" sz="2200" dirty="0" smtClean="0">
                <a:latin typeface="Helvetica" pitchFamily="34" charset="0"/>
              </a:rPr>
              <a:t>Defined</a:t>
            </a:r>
          </a:p>
          <a:p>
            <a:pPr marL="360000" indent="-360000">
              <a:spcBef>
                <a:spcPts val="600"/>
              </a:spcBef>
              <a:spcAft>
                <a:spcPts val="1200"/>
              </a:spcAft>
              <a:buClr>
                <a:srgbClr val="7FD13B"/>
              </a:buClr>
            </a:pPr>
            <a:r>
              <a:rPr lang="en-US" sz="2200" dirty="0" smtClean="0">
                <a:latin typeface="Helvetica" pitchFamily="34" charset="0"/>
              </a:rPr>
              <a:t>Measures: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Safeguard assets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Promote efficient operations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Maintain accurate and reliable </a:t>
            </a:r>
            <a:br>
              <a:rPr lang="en-US" sz="2200" dirty="0" smtClean="0">
                <a:latin typeface="Helvetica" pitchFamily="34" charset="0"/>
              </a:rPr>
            </a:br>
            <a:r>
              <a:rPr lang="en-US" sz="2200" dirty="0" smtClean="0">
                <a:latin typeface="Helvetica" pitchFamily="34" charset="0"/>
              </a:rPr>
              <a:t>accounting records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Compliance with policies and </a:t>
            </a:r>
            <a:br>
              <a:rPr lang="en-US" sz="2200" dirty="0" smtClean="0">
                <a:latin typeface="Helvetica" pitchFamily="34" charset="0"/>
              </a:rPr>
            </a:br>
            <a:r>
              <a:rPr lang="en-US" sz="2200" dirty="0" smtClean="0">
                <a:latin typeface="Helvetica" pitchFamily="34" charset="0"/>
              </a:rPr>
              <a:t>procedures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descr="MP900401007.JPG"/>
          <p:cNvPicPr>
            <a:picLocks noChangeAspect="1"/>
          </p:cNvPicPr>
          <p:nvPr/>
        </p:nvPicPr>
        <p:blipFill>
          <a:blip r:embed="rId3" cstate="print"/>
          <a:stretch>
            <a:fillRect/>
          </a:stretch>
        </p:blipFill>
        <p:spPr>
          <a:xfrm>
            <a:off x="6372200" y="4058595"/>
            <a:ext cx="2081784" cy="1386629"/>
          </a:xfrm>
          <a:prstGeom prst="rect">
            <a:avLst/>
          </a:prstGeom>
        </p:spPr>
      </p:pic>
    </p:spTree>
    <p:extLst>
      <p:ext uri="{BB962C8B-B14F-4D97-AF65-F5344CB8AC3E}">
        <p14:creationId xmlns:p14="http://schemas.microsoft.com/office/powerpoint/2010/main" val="32783640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07293"/>
            <a:ext cx="7467600" cy="5390059"/>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Structure of the system:</a:t>
            </a:r>
          </a:p>
          <a:p>
            <a:pPr marL="360000" indent="-360000">
              <a:spcBef>
                <a:spcPts val="600"/>
              </a:spcBef>
              <a:spcAft>
                <a:spcPts val="1200"/>
              </a:spcAft>
              <a:buClr>
                <a:srgbClr val="7FD13B"/>
              </a:buClr>
            </a:pPr>
            <a:r>
              <a:rPr lang="en-AU" sz="2200" dirty="0" smtClean="0">
                <a:latin typeface="Helvetica" pitchFamily="34" charset="0"/>
              </a:rPr>
              <a:t>Administrative controls: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Organisation chart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Activity</a:t>
            </a:r>
          </a:p>
          <a:p>
            <a:pPr marL="360000" indent="-360000">
              <a:spcBef>
                <a:spcPts val="600"/>
              </a:spcBef>
              <a:spcAft>
                <a:spcPts val="1200"/>
              </a:spcAft>
              <a:buClr>
                <a:srgbClr val="7FD13B"/>
              </a:buClr>
            </a:pPr>
            <a:r>
              <a:rPr lang="en-AU" sz="2200" dirty="0" smtClean="0">
                <a:latin typeface="Helvetica" pitchFamily="34" charset="0"/>
              </a:rPr>
              <a:t>Financial controls – focus for unit: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Safeguard assets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descr="MP900442211.JPG"/>
          <p:cNvPicPr>
            <a:picLocks noChangeAspect="1"/>
          </p:cNvPicPr>
          <p:nvPr/>
        </p:nvPicPr>
        <p:blipFill>
          <a:blip r:embed="rId3" cstate="print"/>
          <a:stretch>
            <a:fillRect/>
          </a:stretch>
        </p:blipFill>
        <p:spPr>
          <a:xfrm>
            <a:off x="7086533" y="3312368"/>
            <a:ext cx="1373899" cy="2060848"/>
          </a:xfrm>
          <a:prstGeom prst="rect">
            <a:avLst/>
          </a:prstGeom>
        </p:spPr>
      </p:pic>
    </p:spTree>
    <p:extLst>
      <p:ext uri="{BB962C8B-B14F-4D97-AF65-F5344CB8AC3E}">
        <p14:creationId xmlns:p14="http://schemas.microsoft.com/office/powerpoint/2010/main" val="29652385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184576"/>
          </a:xfrm>
        </p:spPr>
        <p:txBody>
          <a:bodyPr>
            <a:normAutofit/>
          </a:bodyPr>
          <a:lstStyle/>
          <a:p>
            <a:pPr marL="0" indent="0">
              <a:spcBef>
                <a:spcPts val="600"/>
              </a:spcBef>
              <a:spcAft>
                <a:spcPts val="1200"/>
              </a:spcAft>
              <a:buNone/>
            </a:pPr>
            <a:r>
              <a:rPr lang="en-AU" sz="2200" dirty="0" smtClean="0">
                <a:latin typeface="Helvetica" pitchFamily="34" charset="0"/>
              </a:rPr>
              <a:t>Structure of the system:</a:t>
            </a:r>
          </a:p>
          <a:p>
            <a:pPr marL="360000" indent="-360000">
              <a:spcBef>
                <a:spcPts val="600"/>
              </a:spcBef>
              <a:spcAft>
                <a:spcPts val="1200"/>
              </a:spcAft>
              <a:buClr>
                <a:srgbClr val="7FD13B"/>
              </a:buClr>
            </a:pPr>
            <a:r>
              <a:rPr lang="en-AU" sz="2200" dirty="0" smtClean="0">
                <a:latin typeface="Helvetica" pitchFamily="34" charset="0"/>
              </a:rPr>
              <a:t>Financial controls – focus for unit: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Complete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Valid</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Accurate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Adequate safeguards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Accountability</a:t>
            </a: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descr="MC900412564.WMF"/>
          <p:cNvPicPr>
            <a:picLocks noChangeAspect="1"/>
          </p:cNvPicPr>
          <p:nvPr/>
        </p:nvPicPr>
        <p:blipFill>
          <a:blip r:embed="rId3" cstate="print"/>
          <a:stretch>
            <a:fillRect/>
          </a:stretch>
        </p:blipFill>
        <p:spPr>
          <a:xfrm>
            <a:off x="6732240" y="3284984"/>
            <a:ext cx="1691209" cy="1901817"/>
          </a:xfrm>
          <a:prstGeom prst="rect">
            <a:avLst/>
          </a:prstGeom>
        </p:spPr>
      </p:pic>
    </p:spTree>
    <p:extLst>
      <p:ext uri="{BB962C8B-B14F-4D97-AF65-F5344CB8AC3E}">
        <p14:creationId xmlns:p14="http://schemas.microsoft.com/office/powerpoint/2010/main" val="24932602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marL="0" indent="0">
              <a:spcBef>
                <a:spcPts val="600"/>
              </a:spcBef>
              <a:spcAft>
                <a:spcPts val="1200"/>
              </a:spcAft>
              <a:buNone/>
            </a:pPr>
            <a:r>
              <a:rPr lang="en-AU" sz="2200" dirty="0" smtClean="0">
                <a:latin typeface="Helvetica" pitchFamily="34" charset="0"/>
              </a:rPr>
              <a:t>Principles of internal control:</a:t>
            </a:r>
          </a:p>
          <a:p>
            <a:pPr marL="360000" indent="-360000">
              <a:spcBef>
                <a:spcPts val="600"/>
              </a:spcBef>
              <a:spcAft>
                <a:spcPts val="1200"/>
              </a:spcAft>
              <a:buClr>
                <a:srgbClr val="7FD13B"/>
              </a:buClr>
            </a:pPr>
            <a:r>
              <a:rPr lang="en-AU" sz="2200" dirty="0" smtClean="0">
                <a:latin typeface="Helvetica" pitchFamily="34" charset="0"/>
              </a:rPr>
              <a:t>Clear lines of responsibility:	</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Duties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Supervision</a:t>
            </a:r>
          </a:p>
          <a:p>
            <a:pPr marL="360000" indent="-360000">
              <a:spcBef>
                <a:spcPts val="600"/>
              </a:spcBef>
              <a:spcAft>
                <a:spcPts val="1200"/>
              </a:spcAft>
              <a:buClr>
                <a:srgbClr val="7FD13B"/>
              </a:buClr>
            </a:pPr>
            <a:r>
              <a:rPr lang="en-AU" sz="2200" dirty="0" smtClean="0">
                <a:latin typeface="Helvetica" pitchFamily="34" charset="0"/>
              </a:rPr>
              <a:t>Separation of duties for related transactions: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Examples of related transactions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 name="Picture 4" descr="freeimage-2606219.jpg"/>
          <p:cNvPicPr>
            <a:picLocks noChangeAspect="1"/>
          </p:cNvPicPr>
          <p:nvPr/>
        </p:nvPicPr>
        <p:blipFill>
          <a:blip r:embed="rId3" cstate="print"/>
          <a:stretch>
            <a:fillRect/>
          </a:stretch>
        </p:blipFill>
        <p:spPr>
          <a:xfrm>
            <a:off x="6510887" y="4077072"/>
            <a:ext cx="1949545" cy="1284746"/>
          </a:xfrm>
          <a:prstGeom prst="rect">
            <a:avLst/>
          </a:prstGeom>
        </p:spPr>
      </p:pic>
    </p:spTree>
    <p:extLst>
      <p:ext uri="{BB962C8B-B14F-4D97-AF65-F5344CB8AC3E}">
        <p14:creationId xmlns:p14="http://schemas.microsoft.com/office/powerpoint/2010/main" val="33938728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marL="0" indent="0">
              <a:spcBef>
                <a:spcPts val="600"/>
              </a:spcBef>
              <a:spcAft>
                <a:spcPts val="1200"/>
              </a:spcAft>
              <a:buNone/>
            </a:pPr>
            <a:r>
              <a:rPr lang="en-AU" sz="2200" dirty="0" smtClean="0">
                <a:latin typeface="Helvetica" pitchFamily="34" charset="0"/>
              </a:rPr>
              <a:t>Principles of internal control:</a:t>
            </a:r>
          </a:p>
          <a:p>
            <a:pPr marL="360000" indent="-360000">
              <a:spcBef>
                <a:spcPts val="600"/>
              </a:spcBef>
              <a:spcAft>
                <a:spcPts val="1200"/>
              </a:spcAft>
              <a:buClr>
                <a:srgbClr val="7FD03B"/>
              </a:buClr>
            </a:pPr>
            <a:r>
              <a:rPr lang="en-AU" sz="2200" dirty="0" smtClean="0">
                <a:latin typeface="Helvetica" pitchFamily="34" charset="0"/>
              </a:rPr>
              <a:t>Written and documentation procedures</a:t>
            </a:r>
          </a:p>
          <a:p>
            <a:pPr marL="360000" indent="-360000">
              <a:spcBef>
                <a:spcPts val="600"/>
              </a:spcBef>
              <a:spcAft>
                <a:spcPts val="1200"/>
              </a:spcAft>
              <a:buClr>
                <a:srgbClr val="7FD03B"/>
              </a:buClr>
            </a:pPr>
            <a:r>
              <a:rPr lang="en-AU" sz="2200" dirty="0" smtClean="0">
                <a:latin typeface="Helvetica" pitchFamily="34" charset="0"/>
              </a:rPr>
              <a:t>Set standards and evaluate results</a:t>
            </a:r>
          </a:p>
          <a:p>
            <a:pPr marL="360000" indent="-360000">
              <a:spcBef>
                <a:spcPts val="600"/>
              </a:spcBef>
              <a:spcAft>
                <a:spcPts val="1200"/>
              </a:spcAft>
              <a:buClr>
                <a:srgbClr val="7FD03B"/>
              </a:buClr>
            </a:pPr>
            <a:r>
              <a:rPr lang="en-AU" sz="2200" dirty="0" smtClean="0">
                <a:latin typeface="Helvetica" pitchFamily="34" charset="0"/>
              </a:rPr>
              <a:t>Mechanical and electronic devices</a:t>
            </a:r>
          </a:p>
          <a:p>
            <a:pPr marL="360000" indent="-360000">
              <a:spcBef>
                <a:spcPts val="600"/>
              </a:spcBef>
              <a:spcAft>
                <a:spcPts val="1200"/>
              </a:spcAft>
              <a:buClr>
                <a:srgbClr val="7FD03B"/>
              </a:buClr>
            </a:pPr>
            <a:r>
              <a:rPr lang="en-AU" sz="2200" dirty="0" smtClean="0">
                <a:latin typeface="Helvetica" pitchFamily="34" charset="0"/>
              </a:rPr>
              <a:t>Internal audits</a:t>
            </a:r>
          </a:p>
          <a:p>
            <a:pPr marL="360000" indent="-360000">
              <a:spcBef>
                <a:spcPts val="600"/>
              </a:spcBef>
              <a:spcAft>
                <a:spcPts val="1200"/>
              </a:spcAft>
              <a:buClr>
                <a:srgbClr val="7FD03B"/>
              </a:buClr>
            </a:pPr>
            <a:r>
              <a:rPr lang="en-AU" sz="2200" dirty="0" smtClean="0">
                <a:latin typeface="Helvetica" pitchFamily="34" charset="0"/>
              </a:rPr>
              <a:t>Limitations of systems</a:t>
            </a:r>
          </a:p>
          <a:p>
            <a:pPr marL="0" indent="0">
              <a:spcBef>
                <a:spcPts val="600"/>
              </a:spcBef>
              <a:spcAft>
                <a:spcPts val="1200"/>
              </a:spcAft>
              <a:buNone/>
            </a:pPr>
            <a:r>
              <a:rPr lang="en-AU" sz="2200"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descr="MP900422138.JPG"/>
          <p:cNvPicPr>
            <a:picLocks noChangeAspect="1"/>
          </p:cNvPicPr>
          <p:nvPr/>
        </p:nvPicPr>
        <p:blipFill>
          <a:blip r:embed="rId3" cstate="print"/>
          <a:stretch>
            <a:fillRect/>
          </a:stretch>
        </p:blipFill>
        <p:spPr>
          <a:xfrm>
            <a:off x="6300192" y="4034458"/>
            <a:ext cx="2121951" cy="1410766"/>
          </a:xfrm>
          <a:prstGeom prst="rect">
            <a:avLst/>
          </a:prstGeom>
        </p:spPr>
      </p:pic>
    </p:spTree>
    <p:extLst>
      <p:ext uri="{BB962C8B-B14F-4D97-AF65-F5344CB8AC3E}">
        <p14:creationId xmlns:p14="http://schemas.microsoft.com/office/powerpoint/2010/main" val="23114179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256584"/>
          </a:xfrm>
        </p:spPr>
        <p:txBody>
          <a:bodyPr>
            <a:normAutofit/>
          </a:bodyPr>
          <a:lstStyle/>
          <a:p>
            <a:pPr marL="0" indent="0">
              <a:spcBef>
                <a:spcPts val="600"/>
              </a:spcBef>
              <a:spcAft>
                <a:spcPts val="1200"/>
              </a:spcAft>
              <a:buNone/>
            </a:pPr>
            <a:r>
              <a:rPr lang="en-AU" sz="2200" dirty="0" smtClean="0">
                <a:latin typeface="Helvetica" pitchFamily="34" charset="0"/>
              </a:rPr>
              <a:t>Challenges for hospitality and tourism industry:</a:t>
            </a:r>
          </a:p>
          <a:p>
            <a:pPr marL="360000" indent="-360000">
              <a:spcBef>
                <a:spcPts val="600"/>
              </a:spcBef>
              <a:spcAft>
                <a:spcPts val="1200"/>
              </a:spcAft>
              <a:buClr>
                <a:srgbClr val="7FD13B"/>
              </a:buClr>
            </a:pPr>
            <a:r>
              <a:rPr lang="en-AU" sz="2200" dirty="0" smtClean="0">
                <a:latin typeface="Helvetica" pitchFamily="34" charset="0"/>
              </a:rPr>
              <a:t>Business size</a:t>
            </a:r>
          </a:p>
          <a:p>
            <a:pPr marL="360000" indent="-360000">
              <a:spcBef>
                <a:spcPts val="600"/>
              </a:spcBef>
              <a:spcAft>
                <a:spcPts val="1200"/>
              </a:spcAft>
              <a:buClr>
                <a:srgbClr val="7FD13B"/>
              </a:buClr>
            </a:pPr>
            <a:r>
              <a:rPr lang="en-AU" sz="2200" dirty="0" smtClean="0">
                <a:latin typeface="Helvetica" pitchFamily="34" charset="0"/>
              </a:rPr>
              <a:t>Cash transactions</a:t>
            </a:r>
          </a:p>
          <a:p>
            <a:pPr marL="360000" indent="-360000">
              <a:spcBef>
                <a:spcPts val="600"/>
              </a:spcBef>
              <a:spcAft>
                <a:spcPts val="1200"/>
              </a:spcAft>
              <a:buClr>
                <a:srgbClr val="7FD13B"/>
              </a:buClr>
            </a:pPr>
            <a:r>
              <a:rPr lang="en-AU" sz="2200" dirty="0" smtClean="0">
                <a:latin typeface="Helvetica" pitchFamily="34" charset="0"/>
              </a:rPr>
              <a:t>Labour intensive</a:t>
            </a:r>
          </a:p>
          <a:p>
            <a:pPr marL="360000" indent="-360000">
              <a:spcBef>
                <a:spcPts val="600"/>
              </a:spcBef>
              <a:spcAft>
                <a:spcPts val="1200"/>
              </a:spcAft>
              <a:buClr>
                <a:srgbClr val="7FD13B"/>
              </a:buClr>
            </a:pPr>
            <a:r>
              <a:rPr lang="en-AU" sz="2200" dirty="0" smtClean="0">
                <a:latin typeface="Helvetica" pitchFamily="34" charset="0"/>
              </a:rPr>
              <a:t>Inventory</a:t>
            </a:r>
          </a:p>
          <a:p>
            <a:pPr marL="360000" indent="-360000">
              <a:spcBef>
                <a:spcPts val="600"/>
              </a:spcBef>
              <a:spcAft>
                <a:spcPts val="1200"/>
              </a:spcAft>
              <a:buClr>
                <a:srgbClr val="7FD13B"/>
              </a:buClr>
            </a:pPr>
            <a:r>
              <a:rPr lang="en-AU" sz="2200" dirty="0" smtClean="0">
                <a:latin typeface="Helvetica" pitchFamily="34" charset="0"/>
              </a:rPr>
              <a:t>Sales cycles</a:t>
            </a:r>
          </a:p>
          <a:p>
            <a:pPr marL="360000" indent="-360000">
              <a:spcBef>
                <a:spcPts val="600"/>
              </a:spcBef>
              <a:spcAft>
                <a:spcPts val="1200"/>
              </a:spcAft>
              <a:buClr>
                <a:srgbClr val="7FD13B"/>
              </a:buClr>
            </a:pPr>
            <a:r>
              <a:rPr lang="en-AU" sz="2200" dirty="0" smtClean="0">
                <a:latin typeface="Helvetica" pitchFamily="34" charset="0"/>
              </a:rPr>
              <a:t>E-commerce</a:t>
            </a:r>
          </a:p>
          <a:p>
            <a:pPr marL="0" indent="0">
              <a:spcBef>
                <a:spcPts val="600"/>
              </a:spcBef>
              <a:spcAft>
                <a:spcPts val="1200"/>
              </a:spcAft>
              <a:buNone/>
            </a:pPr>
            <a:r>
              <a:rPr lang="en-AU" sz="2200"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5" name="Picture 4" descr="MP900385423.JPG"/>
          <p:cNvPicPr>
            <a:picLocks noChangeAspect="1"/>
          </p:cNvPicPr>
          <p:nvPr/>
        </p:nvPicPr>
        <p:blipFill>
          <a:blip r:embed="rId3" cstate="print"/>
          <a:stretch>
            <a:fillRect/>
          </a:stretch>
        </p:blipFill>
        <p:spPr>
          <a:xfrm>
            <a:off x="6989410" y="3356992"/>
            <a:ext cx="1452765" cy="2033870"/>
          </a:xfrm>
          <a:prstGeom prst="rect">
            <a:avLst/>
          </a:prstGeom>
        </p:spPr>
      </p:pic>
    </p:spTree>
    <p:extLst>
      <p:ext uri="{BB962C8B-B14F-4D97-AF65-F5344CB8AC3E}">
        <p14:creationId xmlns:p14="http://schemas.microsoft.com/office/powerpoint/2010/main" val="23647914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marL="0" indent="0">
              <a:spcBef>
                <a:spcPts val="600"/>
              </a:spcBef>
              <a:spcAft>
                <a:spcPts val="1200"/>
              </a:spcAft>
              <a:buNone/>
            </a:pPr>
            <a:r>
              <a:rPr lang="en-AU" sz="2000" b="1" dirty="0" smtClean="0">
                <a:latin typeface="Helvetica" pitchFamily="34" charset="0"/>
              </a:rPr>
              <a:t>Activities</a:t>
            </a:r>
          </a:p>
          <a:p>
            <a:pPr marL="0" indent="0">
              <a:spcBef>
                <a:spcPts val="600"/>
              </a:spcBef>
              <a:spcAft>
                <a:spcPts val="1200"/>
              </a:spcAft>
              <a:buNone/>
            </a:pPr>
            <a:r>
              <a:rPr lang="en-AU" sz="2000" dirty="0" smtClean="0">
                <a:latin typeface="Helvetica" pitchFamily="34" charset="0"/>
              </a:rPr>
              <a:t>Identify and describe the internal control issue:</a:t>
            </a:r>
          </a:p>
          <a:p>
            <a:pPr marL="457200" indent="-457200">
              <a:spcBef>
                <a:spcPts val="600"/>
              </a:spcBef>
              <a:spcAft>
                <a:spcPts val="1200"/>
              </a:spcAft>
              <a:buClrTx/>
              <a:buFont typeface="+mj-lt"/>
              <a:buAutoNum type="alphaLcParenR"/>
            </a:pPr>
            <a:r>
              <a:rPr lang="en-AU" sz="2000" dirty="0" smtClean="0">
                <a:latin typeface="Helvetica" pitchFamily="34" charset="0"/>
              </a:rPr>
              <a:t>The manager of a food and beverage outlet is responsible for purchasing beverage stocks, authorising payment for stock ordered and counting beverage inventory.</a:t>
            </a:r>
          </a:p>
          <a:p>
            <a:pPr marL="457200" indent="-457200">
              <a:spcBef>
                <a:spcPts val="600"/>
              </a:spcBef>
              <a:spcAft>
                <a:spcPts val="1200"/>
              </a:spcAft>
              <a:buClrTx/>
              <a:buFont typeface="+mj-lt"/>
              <a:buAutoNum type="alphaLcParenR"/>
            </a:pPr>
            <a:r>
              <a:rPr lang="en-AU" sz="2000" dirty="0" smtClean="0">
                <a:latin typeface="Helvetica" pitchFamily="34" charset="0"/>
              </a:rPr>
              <a:t>The manager of a souvenir shop at an accommodation venue records the cash takings, deposits the takings into the bank account and checks that the accounting system and the bank account are the same at the end of a month.</a:t>
            </a:r>
          </a:p>
          <a:p>
            <a:pPr marL="457200" indent="-457200">
              <a:spcBef>
                <a:spcPts val="600"/>
              </a:spcBef>
              <a:spcAft>
                <a:spcPts val="1200"/>
              </a:spcAft>
              <a:buClrTx/>
              <a:buFont typeface="+mj-lt"/>
              <a:buAutoNum type="alphaLcParenR"/>
            </a:pPr>
            <a:r>
              <a:rPr lang="en-AU" sz="2000" dirty="0" smtClean="0">
                <a:latin typeface="Helvetica" pitchFamily="34" charset="0"/>
              </a:rPr>
              <a:t>The room amenities supply cupboard can be accessed by all housekeeping staff at an accommodation venue.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spTree>
    <p:extLst>
      <p:ext uri="{BB962C8B-B14F-4D97-AF65-F5344CB8AC3E}">
        <p14:creationId xmlns:p14="http://schemas.microsoft.com/office/powerpoint/2010/main" val="33490032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720080"/>
          </a:xfrm>
        </p:spPr>
        <p:txBody>
          <a:bodyPr>
            <a:normAutofit/>
          </a:bodyPr>
          <a:lstStyle/>
          <a:p>
            <a:r>
              <a:rPr lang="en-US" sz="3400" b="1" dirty="0" smtClean="0">
                <a:solidFill>
                  <a:srgbClr val="FF6600"/>
                </a:solidFill>
                <a:latin typeface="Helvetica" pitchFamily="34" charset="0"/>
              </a:rPr>
              <a:t>Implement internal controls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grpSp>
        <p:nvGrpSpPr>
          <p:cNvPr id="7" name="Group 91"/>
          <p:cNvGrpSpPr/>
          <p:nvPr/>
        </p:nvGrpSpPr>
        <p:grpSpPr>
          <a:xfrm>
            <a:off x="642554" y="1396438"/>
            <a:ext cx="6953782" cy="4264810"/>
            <a:chOff x="1108668" y="891221"/>
            <a:chExt cx="6953782" cy="4264810"/>
          </a:xfrm>
        </p:grpSpPr>
        <p:sp>
          <p:nvSpPr>
            <p:cNvPr id="8" name="Oval 4"/>
            <p:cNvSpPr>
              <a:spLocks noChangeArrowheads="1"/>
            </p:cNvSpPr>
            <p:nvPr/>
          </p:nvSpPr>
          <p:spPr bwMode="gray">
            <a:xfrm>
              <a:off x="3063875" y="2529855"/>
              <a:ext cx="3424238" cy="1370013"/>
            </a:xfrm>
            <a:prstGeom prst="ellipse">
              <a:avLst/>
            </a:prstGeom>
            <a:gradFill rotWithShape="1">
              <a:gsLst>
                <a:gs pos="0">
                  <a:schemeClr val="bg2"/>
                </a:gs>
                <a:gs pos="100000">
                  <a:schemeClr val="bg1"/>
                </a:gs>
              </a:gsLst>
              <a:lin ang="2700000" scaled="1"/>
            </a:gradFill>
            <a:ln w="9525" algn="ctr">
              <a:noFill/>
              <a:round/>
              <a:headEnd/>
              <a:tailEnd/>
            </a:ln>
          </p:spPr>
          <p:txBody>
            <a:bodyPr wrap="none" anchor="ctr"/>
            <a:lstStyle/>
            <a:p>
              <a:endParaRPr lang="en-US" dirty="0"/>
            </a:p>
          </p:txBody>
        </p:sp>
        <p:sp>
          <p:nvSpPr>
            <p:cNvPr id="10" name="Line 5"/>
            <p:cNvSpPr>
              <a:spLocks noChangeShapeType="1"/>
            </p:cNvSpPr>
            <p:nvPr/>
          </p:nvSpPr>
          <p:spPr bwMode="gray">
            <a:xfrm flipH="1">
              <a:off x="4427984" y="1622326"/>
              <a:ext cx="445070" cy="1230610"/>
            </a:xfrm>
            <a:prstGeom prst="line">
              <a:avLst/>
            </a:prstGeom>
            <a:noFill/>
            <a:ln w="76200">
              <a:solidFill>
                <a:srgbClr val="B2B2B2"/>
              </a:solidFill>
              <a:round/>
              <a:headEnd/>
              <a:tailEnd/>
            </a:ln>
          </p:spPr>
          <p:txBody>
            <a:bodyPr wrap="none" anchor="ctr"/>
            <a:lstStyle/>
            <a:p>
              <a:endParaRPr lang="en-AU" dirty="0"/>
            </a:p>
          </p:txBody>
        </p:sp>
        <p:sp>
          <p:nvSpPr>
            <p:cNvPr id="11" name="Line 6"/>
            <p:cNvSpPr>
              <a:spLocks noChangeShapeType="1"/>
            </p:cNvSpPr>
            <p:nvPr/>
          </p:nvSpPr>
          <p:spPr bwMode="gray">
            <a:xfrm flipH="1">
              <a:off x="4402138" y="2739405"/>
              <a:ext cx="2770187" cy="119063"/>
            </a:xfrm>
            <a:prstGeom prst="line">
              <a:avLst/>
            </a:prstGeom>
            <a:noFill/>
            <a:ln w="76200">
              <a:solidFill>
                <a:srgbClr val="B2B2B2"/>
              </a:solidFill>
              <a:round/>
              <a:headEnd/>
              <a:tailEnd/>
            </a:ln>
          </p:spPr>
          <p:txBody>
            <a:bodyPr wrap="none" anchor="ctr"/>
            <a:lstStyle/>
            <a:p>
              <a:endParaRPr lang="en-AU" dirty="0"/>
            </a:p>
          </p:txBody>
        </p:sp>
        <p:sp>
          <p:nvSpPr>
            <p:cNvPr id="12" name="Line 7"/>
            <p:cNvSpPr>
              <a:spLocks noChangeShapeType="1"/>
            </p:cNvSpPr>
            <p:nvPr/>
          </p:nvSpPr>
          <p:spPr bwMode="gray">
            <a:xfrm flipH="1" flipV="1">
              <a:off x="4433888" y="2858468"/>
              <a:ext cx="1182687" cy="1289050"/>
            </a:xfrm>
            <a:prstGeom prst="line">
              <a:avLst/>
            </a:prstGeom>
            <a:noFill/>
            <a:ln w="76200">
              <a:solidFill>
                <a:srgbClr val="DDDDDD"/>
              </a:solidFill>
              <a:round/>
              <a:headEnd/>
              <a:tailEnd/>
            </a:ln>
          </p:spPr>
          <p:txBody>
            <a:bodyPr wrap="none" anchor="ctr"/>
            <a:lstStyle/>
            <a:p>
              <a:endParaRPr lang="en-AU" dirty="0"/>
            </a:p>
          </p:txBody>
        </p:sp>
        <p:sp>
          <p:nvSpPr>
            <p:cNvPr id="13" name="Line 8"/>
            <p:cNvSpPr>
              <a:spLocks noChangeShapeType="1"/>
            </p:cNvSpPr>
            <p:nvPr/>
          </p:nvSpPr>
          <p:spPr bwMode="gray">
            <a:xfrm flipV="1">
              <a:off x="2339752" y="2852935"/>
              <a:ext cx="1944216" cy="1180405"/>
            </a:xfrm>
            <a:prstGeom prst="line">
              <a:avLst/>
            </a:prstGeom>
            <a:noFill/>
            <a:ln w="76200">
              <a:solidFill>
                <a:srgbClr val="DDDDDD"/>
              </a:solidFill>
              <a:round/>
              <a:headEnd/>
              <a:tailEnd/>
            </a:ln>
          </p:spPr>
          <p:txBody>
            <a:bodyPr wrap="none" anchor="ctr"/>
            <a:lstStyle/>
            <a:p>
              <a:endParaRPr lang="en-AU" dirty="0"/>
            </a:p>
          </p:txBody>
        </p:sp>
        <p:sp>
          <p:nvSpPr>
            <p:cNvPr id="14" name="Line 9"/>
            <p:cNvSpPr>
              <a:spLocks noChangeShapeType="1"/>
            </p:cNvSpPr>
            <p:nvPr/>
          </p:nvSpPr>
          <p:spPr bwMode="gray">
            <a:xfrm>
              <a:off x="1979713" y="2367358"/>
              <a:ext cx="2448272" cy="413569"/>
            </a:xfrm>
            <a:prstGeom prst="line">
              <a:avLst/>
            </a:prstGeom>
            <a:noFill/>
            <a:ln w="76200">
              <a:solidFill>
                <a:srgbClr val="DDDDDD"/>
              </a:solidFill>
              <a:round/>
              <a:headEnd/>
              <a:tailEnd/>
            </a:ln>
          </p:spPr>
          <p:txBody>
            <a:bodyPr wrap="none" anchor="ctr"/>
            <a:lstStyle/>
            <a:p>
              <a:endParaRPr lang="en-AU" dirty="0"/>
            </a:p>
          </p:txBody>
        </p:sp>
        <p:sp>
          <p:nvSpPr>
            <p:cNvPr id="15" name="Oval 10"/>
            <p:cNvSpPr>
              <a:spLocks noChangeArrowheads="1"/>
            </p:cNvSpPr>
            <p:nvPr/>
          </p:nvSpPr>
          <p:spPr bwMode="gray">
            <a:xfrm rot="21257365">
              <a:off x="1653645" y="1547198"/>
              <a:ext cx="5742305" cy="2922609"/>
            </a:xfrm>
            <a:prstGeom prst="ellipse">
              <a:avLst/>
            </a:prstGeom>
            <a:noFill/>
            <a:ln w="57150" algn="ctr">
              <a:solidFill>
                <a:srgbClr val="FEFEFE"/>
              </a:solidFill>
              <a:round/>
              <a:headEnd/>
              <a:tailEnd/>
            </a:ln>
          </p:spPr>
          <p:txBody>
            <a:bodyPr wrap="none" anchor="ctr"/>
            <a:lstStyle/>
            <a:p>
              <a:endParaRPr lang="en-US" dirty="0"/>
            </a:p>
          </p:txBody>
        </p:sp>
        <p:sp>
          <p:nvSpPr>
            <p:cNvPr id="16" name="Oval 11"/>
            <p:cNvSpPr>
              <a:spLocks noChangeArrowheads="1"/>
            </p:cNvSpPr>
            <p:nvPr/>
          </p:nvSpPr>
          <p:spPr bwMode="gray">
            <a:xfrm rot="21257365">
              <a:off x="1622668" y="1555052"/>
              <a:ext cx="5772196" cy="2890086"/>
            </a:xfrm>
            <a:prstGeom prst="ellipse">
              <a:avLst/>
            </a:prstGeom>
            <a:noFill/>
            <a:ln w="38100" algn="ctr">
              <a:solidFill>
                <a:srgbClr val="DDDDDD"/>
              </a:solidFill>
              <a:round/>
              <a:headEnd/>
              <a:tailEnd/>
            </a:ln>
          </p:spPr>
          <p:txBody>
            <a:bodyPr wrap="none" anchor="ctr"/>
            <a:lstStyle/>
            <a:p>
              <a:endParaRPr lang="en-US" dirty="0"/>
            </a:p>
          </p:txBody>
        </p:sp>
        <p:grpSp>
          <p:nvGrpSpPr>
            <p:cNvPr id="17" name="Group 18"/>
            <p:cNvGrpSpPr>
              <a:grpSpLocks/>
            </p:cNvGrpSpPr>
            <p:nvPr/>
          </p:nvGrpSpPr>
          <p:grpSpPr bwMode="auto">
            <a:xfrm rot="21391946">
              <a:off x="6179296" y="1972803"/>
              <a:ext cx="1883154" cy="1069432"/>
              <a:chOff x="3098" y="249"/>
              <a:chExt cx="1959" cy="629"/>
            </a:xfrm>
          </p:grpSpPr>
          <p:sp>
            <p:nvSpPr>
              <p:cNvPr id="38" name="Oval 19"/>
              <p:cNvSpPr>
                <a:spLocks noChangeArrowheads="1"/>
              </p:cNvSpPr>
              <p:nvPr/>
            </p:nvSpPr>
            <p:spPr bwMode="gray">
              <a:xfrm>
                <a:off x="3099" y="297"/>
                <a:ext cx="1958" cy="581"/>
              </a:xfrm>
              <a:prstGeom prst="ellipse">
                <a:avLst/>
              </a:prstGeom>
              <a:gradFill rotWithShape="1">
                <a:gsLst>
                  <a:gs pos="0">
                    <a:srgbClr val="636363"/>
                  </a:gs>
                  <a:gs pos="50000">
                    <a:srgbClr val="B2B2B2"/>
                  </a:gs>
                  <a:gs pos="100000">
                    <a:srgbClr val="636363"/>
                  </a:gs>
                </a:gsLst>
                <a:lin ang="0" scaled="1"/>
              </a:gradFill>
              <a:ln w="9525" algn="ctr">
                <a:noFill/>
                <a:round/>
                <a:headEnd/>
                <a:tailEnd/>
              </a:ln>
            </p:spPr>
            <p:txBody>
              <a:bodyPr wrap="none" anchor="ctr"/>
              <a:lstStyle/>
              <a:p>
                <a:endParaRPr lang="en-US" dirty="0"/>
              </a:p>
            </p:txBody>
          </p:sp>
          <p:sp>
            <p:nvSpPr>
              <p:cNvPr id="39" name="Oval 20"/>
              <p:cNvSpPr>
                <a:spLocks noChangeArrowheads="1"/>
              </p:cNvSpPr>
              <p:nvPr/>
            </p:nvSpPr>
            <p:spPr bwMode="gray">
              <a:xfrm>
                <a:off x="3098" y="249"/>
                <a:ext cx="1959" cy="581"/>
              </a:xfrm>
              <a:prstGeom prst="ellipse">
                <a:avLst/>
              </a:prstGeom>
              <a:gradFill rotWithShape="1">
                <a:gsLst>
                  <a:gs pos="0">
                    <a:srgbClr val="C0C0C0"/>
                  </a:gs>
                  <a:gs pos="100000">
                    <a:srgbClr val="EAEAEA"/>
                  </a:gs>
                </a:gsLst>
                <a:lin ang="5400000" scaled="1"/>
              </a:gradFill>
              <a:ln w="9525" algn="ctr">
                <a:noFill/>
                <a:round/>
                <a:headEnd/>
                <a:tailEnd/>
              </a:ln>
            </p:spPr>
            <p:txBody>
              <a:bodyPr wrap="none" anchor="ctr"/>
              <a:lstStyle/>
              <a:p>
                <a:endParaRPr lang="en-US" dirty="0"/>
              </a:p>
            </p:txBody>
          </p:sp>
        </p:grpSp>
        <p:grpSp>
          <p:nvGrpSpPr>
            <p:cNvPr id="18" name="Group 21"/>
            <p:cNvGrpSpPr>
              <a:grpSpLocks/>
            </p:cNvGrpSpPr>
            <p:nvPr/>
          </p:nvGrpSpPr>
          <p:grpSpPr bwMode="auto">
            <a:xfrm rot="20247435">
              <a:off x="1108668" y="1568178"/>
              <a:ext cx="2133600" cy="1225550"/>
              <a:chOff x="3098" y="249"/>
              <a:chExt cx="1959" cy="629"/>
            </a:xfrm>
          </p:grpSpPr>
          <p:sp>
            <p:nvSpPr>
              <p:cNvPr id="36" name="Oval 22"/>
              <p:cNvSpPr>
                <a:spLocks noChangeArrowheads="1"/>
              </p:cNvSpPr>
              <p:nvPr/>
            </p:nvSpPr>
            <p:spPr bwMode="gray">
              <a:xfrm>
                <a:off x="3099" y="297"/>
                <a:ext cx="1958" cy="581"/>
              </a:xfrm>
              <a:prstGeom prst="ellipse">
                <a:avLst/>
              </a:prstGeom>
              <a:gradFill rotWithShape="1">
                <a:gsLst>
                  <a:gs pos="0">
                    <a:srgbClr val="636363"/>
                  </a:gs>
                  <a:gs pos="50000">
                    <a:srgbClr val="B2B2B2"/>
                  </a:gs>
                  <a:gs pos="100000">
                    <a:srgbClr val="636363"/>
                  </a:gs>
                </a:gsLst>
                <a:lin ang="0" scaled="1"/>
              </a:gradFill>
              <a:ln w="9525" algn="ctr">
                <a:noFill/>
                <a:round/>
                <a:headEnd/>
                <a:tailEnd/>
              </a:ln>
            </p:spPr>
            <p:txBody>
              <a:bodyPr wrap="none" anchor="ctr"/>
              <a:lstStyle/>
              <a:p>
                <a:endParaRPr lang="en-US" dirty="0"/>
              </a:p>
            </p:txBody>
          </p:sp>
          <p:sp>
            <p:nvSpPr>
              <p:cNvPr id="37" name="Oval 23"/>
              <p:cNvSpPr>
                <a:spLocks noChangeArrowheads="1"/>
              </p:cNvSpPr>
              <p:nvPr/>
            </p:nvSpPr>
            <p:spPr bwMode="gray">
              <a:xfrm>
                <a:off x="3098" y="249"/>
                <a:ext cx="1959" cy="581"/>
              </a:xfrm>
              <a:prstGeom prst="ellipse">
                <a:avLst/>
              </a:prstGeom>
              <a:gradFill rotWithShape="1">
                <a:gsLst>
                  <a:gs pos="0">
                    <a:srgbClr val="C0C0C0"/>
                  </a:gs>
                  <a:gs pos="100000">
                    <a:srgbClr val="EAEAEA"/>
                  </a:gs>
                </a:gsLst>
                <a:lin ang="5400000" scaled="1"/>
              </a:gradFill>
              <a:ln w="9525" algn="ctr">
                <a:noFill/>
                <a:round/>
                <a:headEnd/>
                <a:tailEnd/>
              </a:ln>
            </p:spPr>
            <p:txBody>
              <a:bodyPr wrap="none" anchor="ctr"/>
              <a:lstStyle/>
              <a:p>
                <a:endParaRPr lang="en-US" dirty="0"/>
              </a:p>
            </p:txBody>
          </p:sp>
        </p:grpSp>
        <p:grpSp>
          <p:nvGrpSpPr>
            <p:cNvPr id="19" name="Group 24"/>
            <p:cNvGrpSpPr>
              <a:grpSpLocks/>
            </p:cNvGrpSpPr>
            <p:nvPr/>
          </p:nvGrpSpPr>
          <p:grpSpPr bwMode="auto">
            <a:xfrm rot="21306812">
              <a:off x="1496586" y="3504918"/>
              <a:ext cx="1826473" cy="1030367"/>
              <a:chOff x="3098" y="249"/>
              <a:chExt cx="1959" cy="629"/>
            </a:xfrm>
          </p:grpSpPr>
          <p:sp>
            <p:nvSpPr>
              <p:cNvPr id="34" name="Oval 25"/>
              <p:cNvSpPr>
                <a:spLocks noChangeArrowheads="1"/>
              </p:cNvSpPr>
              <p:nvPr/>
            </p:nvSpPr>
            <p:spPr bwMode="gray">
              <a:xfrm>
                <a:off x="3099" y="297"/>
                <a:ext cx="1958" cy="581"/>
              </a:xfrm>
              <a:prstGeom prst="ellipse">
                <a:avLst/>
              </a:prstGeom>
              <a:gradFill rotWithShape="1">
                <a:gsLst>
                  <a:gs pos="0">
                    <a:srgbClr val="636363"/>
                  </a:gs>
                  <a:gs pos="50000">
                    <a:srgbClr val="B2B2B2"/>
                  </a:gs>
                  <a:gs pos="100000">
                    <a:srgbClr val="636363"/>
                  </a:gs>
                </a:gsLst>
                <a:lin ang="0" scaled="1"/>
              </a:gradFill>
              <a:ln w="9525" algn="ctr">
                <a:noFill/>
                <a:round/>
                <a:headEnd/>
                <a:tailEnd/>
              </a:ln>
            </p:spPr>
            <p:txBody>
              <a:bodyPr wrap="none" anchor="ctr"/>
              <a:lstStyle/>
              <a:p>
                <a:endParaRPr lang="en-US" dirty="0"/>
              </a:p>
            </p:txBody>
          </p:sp>
          <p:sp>
            <p:nvSpPr>
              <p:cNvPr id="35" name="Oval 26"/>
              <p:cNvSpPr>
                <a:spLocks noChangeArrowheads="1"/>
              </p:cNvSpPr>
              <p:nvPr/>
            </p:nvSpPr>
            <p:spPr bwMode="gray">
              <a:xfrm>
                <a:off x="3098" y="249"/>
                <a:ext cx="1959" cy="581"/>
              </a:xfrm>
              <a:prstGeom prst="ellipse">
                <a:avLst/>
              </a:prstGeom>
              <a:gradFill rotWithShape="1">
                <a:gsLst>
                  <a:gs pos="0">
                    <a:srgbClr val="C0C0C0"/>
                  </a:gs>
                  <a:gs pos="100000">
                    <a:srgbClr val="EAEAEA"/>
                  </a:gs>
                </a:gsLst>
                <a:lin ang="5400000" scaled="1"/>
              </a:gradFill>
              <a:ln w="9525" algn="ctr">
                <a:noFill/>
                <a:round/>
                <a:headEnd/>
                <a:tailEnd/>
              </a:ln>
            </p:spPr>
            <p:txBody>
              <a:bodyPr wrap="none" anchor="ctr"/>
              <a:lstStyle/>
              <a:p>
                <a:endParaRPr lang="en-US" dirty="0"/>
              </a:p>
            </p:txBody>
          </p:sp>
        </p:grpSp>
        <p:sp>
          <p:nvSpPr>
            <p:cNvPr id="20" name="Text Box 29"/>
            <p:cNvSpPr txBox="1">
              <a:spLocks noChangeArrowheads="1"/>
            </p:cNvSpPr>
            <p:nvPr/>
          </p:nvSpPr>
          <p:spPr bwMode="gray">
            <a:xfrm rot="20141327">
              <a:off x="1480622" y="1938598"/>
              <a:ext cx="1444281" cy="338554"/>
            </a:xfrm>
            <a:prstGeom prst="rect">
              <a:avLst/>
            </a:prstGeom>
            <a:noFill/>
            <a:ln w="9525" algn="ctr">
              <a:noFill/>
              <a:miter lim="800000"/>
              <a:headEnd/>
              <a:tailEnd/>
            </a:ln>
          </p:spPr>
          <p:txBody>
            <a:bodyPr wrap="square">
              <a:spAutoFit/>
            </a:bodyPr>
            <a:lstStyle/>
            <a:p>
              <a:pPr lvl="0" algn="ctr"/>
              <a:r>
                <a:rPr lang="en-AU" sz="1600" b="1" dirty="0" smtClean="0">
                  <a:latin typeface="Helvetica" pitchFamily="34" charset="0"/>
                  <a:ea typeface="Verdana" pitchFamily="34" charset="0"/>
                  <a:cs typeface="Verdana" pitchFamily="34" charset="0"/>
                </a:rPr>
                <a:t>Fixed Assets</a:t>
              </a:r>
              <a:endParaRPr lang="en-AU" sz="1600" b="1" dirty="0">
                <a:latin typeface="Helvetica" pitchFamily="34" charset="0"/>
                <a:ea typeface="Verdana" pitchFamily="34" charset="0"/>
                <a:cs typeface="Verdana" pitchFamily="34" charset="0"/>
              </a:endParaRPr>
            </a:p>
          </p:txBody>
        </p:sp>
        <p:sp>
          <p:nvSpPr>
            <p:cNvPr id="21" name="Oval 37"/>
            <p:cNvSpPr>
              <a:spLocks noChangeArrowheads="1"/>
            </p:cNvSpPr>
            <p:nvPr/>
          </p:nvSpPr>
          <p:spPr bwMode="gray">
            <a:xfrm rot="21182673">
              <a:off x="2816225" y="2080593"/>
              <a:ext cx="3079750" cy="1479550"/>
            </a:xfrm>
            <a:prstGeom prst="ellipse">
              <a:avLst/>
            </a:prstGeom>
            <a:gradFill rotWithShape="1">
              <a:gsLst>
                <a:gs pos="0">
                  <a:schemeClr val="hlink"/>
                </a:gs>
                <a:gs pos="100000">
                  <a:schemeClr val="hlink">
                    <a:gamma/>
                    <a:tint val="12549"/>
                    <a:invGamma/>
                  </a:schemeClr>
                </a:gs>
              </a:gsLst>
              <a:lin ang="2700000" scaled="1"/>
            </a:gradFill>
            <a:ln w="28575" algn="ctr">
              <a:noFill/>
              <a:round/>
              <a:headEnd/>
              <a:tailEnd/>
            </a:ln>
            <a:effectLst/>
            <a:scene3d>
              <a:camera prst="legacyPerspectiveBottom"/>
              <a:lightRig rig="legacyFlat1" dir="t"/>
            </a:scene3d>
            <a:sp3d extrusionH="887400" prstMaterial="legacyMatte">
              <a:bevelT w="13500" h="13500" prst="angle"/>
              <a:bevelB w="13500" h="13500" prst="angle"/>
              <a:extrusionClr>
                <a:schemeClr val="hlink"/>
              </a:extrusionClr>
            </a:sp3d>
          </p:spPr>
          <p:txBody>
            <a:bodyPr wrap="none" anchor="ctr">
              <a:flatTx/>
            </a:bodyPr>
            <a:lstStyle/>
            <a:p>
              <a:pPr>
                <a:defRPr/>
              </a:pPr>
              <a:endParaRPr lang="en-AU" dirty="0"/>
            </a:p>
          </p:txBody>
        </p:sp>
        <p:sp>
          <p:nvSpPr>
            <p:cNvPr id="22" name="Text Box 29"/>
            <p:cNvSpPr txBox="1">
              <a:spLocks noChangeArrowheads="1"/>
            </p:cNvSpPr>
            <p:nvPr/>
          </p:nvSpPr>
          <p:spPr bwMode="gray">
            <a:xfrm>
              <a:off x="6516216" y="2132856"/>
              <a:ext cx="1296144" cy="584775"/>
            </a:xfrm>
            <a:prstGeom prst="rect">
              <a:avLst/>
            </a:prstGeom>
            <a:noFill/>
            <a:ln w="9525" algn="ctr">
              <a:noFill/>
              <a:miter lim="800000"/>
              <a:headEnd/>
              <a:tailEnd/>
            </a:ln>
          </p:spPr>
          <p:txBody>
            <a:bodyPr wrap="square">
              <a:spAutoFit/>
            </a:bodyPr>
            <a:lstStyle/>
            <a:p>
              <a:pPr lvl="0" algn="ctr"/>
              <a:r>
                <a:rPr lang="en-AU" sz="1600" b="1" dirty="0" smtClean="0">
                  <a:latin typeface="Helvetica" pitchFamily="34" charset="0"/>
                  <a:ea typeface="Verdana" pitchFamily="34" charset="0"/>
                  <a:cs typeface="Verdana" pitchFamily="34" charset="0"/>
                </a:rPr>
                <a:t>Accounts Payable</a:t>
              </a:r>
            </a:p>
          </p:txBody>
        </p:sp>
        <p:grpSp>
          <p:nvGrpSpPr>
            <p:cNvPr id="23" name="Group 18"/>
            <p:cNvGrpSpPr>
              <a:grpSpLocks/>
            </p:cNvGrpSpPr>
            <p:nvPr/>
          </p:nvGrpSpPr>
          <p:grpSpPr bwMode="auto">
            <a:xfrm rot="21391946">
              <a:off x="4024788" y="891221"/>
              <a:ext cx="1814218" cy="1019125"/>
              <a:chOff x="3097" y="255"/>
              <a:chExt cx="2123" cy="678"/>
            </a:xfrm>
          </p:grpSpPr>
          <p:sp>
            <p:nvSpPr>
              <p:cNvPr id="32" name="Oval 19"/>
              <p:cNvSpPr>
                <a:spLocks noChangeArrowheads="1"/>
              </p:cNvSpPr>
              <p:nvPr/>
            </p:nvSpPr>
            <p:spPr bwMode="gray">
              <a:xfrm>
                <a:off x="3098" y="303"/>
                <a:ext cx="2122" cy="630"/>
              </a:xfrm>
              <a:prstGeom prst="ellipse">
                <a:avLst/>
              </a:prstGeom>
              <a:gradFill rotWithShape="1">
                <a:gsLst>
                  <a:gs pos="0">
                    <a:srgbClr val="636363"/>
                  </a:gs>
                  <a:gs pos="50000">
                    <a:srgbClr val="B2B2B2"/>
                  </a:gs>
                  <a:gs pos="100000">
                    <a:srgbClr val="636363"/>
                  </a:gs>
                </a:gsLst>
                <a:lin ang="0" scaled="1"/>
              </a:gradFill>
              <a:ln w="9525" algn="ctr">
                <a:noFill/>
                <a:round/>
                <a:headEnd/>
                <a:tailEnd/>
              </a:ln>
            </p:spPr>
            <p:txBody>
              <a:bodyPr wrap="none" anchor="ctr"/>
              <a:lstStyle/>
              <a:p>
                <a:endParaRPr lang="en-US" dirty="0"/>
              </a:p>
            </p:txBody>
          </p:sp>
          <p:sp>
            <p:nvSpPr>
              <p:cNvPr id="33" name="Oval 20"/>
              <p:cNvSpPr>
                <a:spLocks noChangeArrowheads="1"/>
              </p:cNvSpPr>
              <p:nvPr/>
            </p:nvSpPr>
            <p:spPr bwMode="gray">
              <a:xfrm>
                <a:off x="3097" y="255"/>
                <a:ext cx="2123" cy="630"/>
              </a:xfrm>
              <a:prstGeom prst="ellipse">
                <a:avLst/>
              </a:prstGeom>
              <a:gradFill rotWithShape="1">
                <a:gsLst>
                  <a:gs pos="0">
                    <a:srgbClr val="C0C0C0"/>
                  </a:gs>
                  <a:gs pos="100000">
                    <a:srgbClr val="EAEAEA"/>
                  </a:gs>
                </a:gsLst>
                <a:lin ang="5400000" scaled="1"/>
              </a:gradFill>
              <a:ln w="9525" algn="ctr">
                <a:noFill/>
                <a:round/>
                <a:headEnd/>
                <a:tailEnd/>
              </a:ln>
            </p:spPr>
            <p:txBody>
              <a:bodyPr wrap="none" anchor="ctr"/>
              <a:lstStyle/>
              <a:p>
                <a:endParaRPr lang="en-US" dirty="0"/>
              </a:p>
            </p:txBody>
          </p:sp>
        </p:grpSp>
        <p:sp>
          <p:nvSpPr>
            <p:cNvPr id="24" name="Text Box 29"/>
            <p:cNvSpPr txBox="1">
              <a:spLocks noChangeArrowheads="1"/>
            </p:cNvSpPr>
            <p:nvPr/>
          </p:nvSpPr>
          <p:spPr bwMode="gray">
            <a:xfrm>
              <a:off x="4283968" y="1044025"/>
              <a:ext cx="1368152" cy="584775"/>
            </a:xfrm>
            <a:prstGeom prst="rect">
              <a:avLst/>
            </a:prstGeom>
            <a:noFill/>
            <a:ln w="9525" algn="ctr">
              <a:noFill/>
              <a:miter lim="800000"/>
              <a:headEnd/>
              <a:tailEnd/>
            </a:ln>
          </p:spPr>
          <p:txBody>
            <a:bodyPr wrap="square">
              <a:spAutoFit/>
            </a:bodyPr>
            <a:lstStyle/>
            <a:p>
              <a:pPr lvl="0" algn="ctr"/>
              <a:r>
                <a:rPr lang="en-AU" sz="1600" b="1" dirty="0" smtClean="0">
                  <a:latin typeface="Helvetica" pitchFamily="34" charset="0"/>
                  <a:ea typeface="Verdana" pitchFamily="34" charset="0"/>
                  <a:cs typeface="Verdana" pitchFamily="34" charset="0"/>
                </a:rPr>
                <a:t>Accounts Receivable</a:t>
              </a:r>
            </a:p>
          </p:txBody>
        </p:sp>
        <p:grpSp>
          <p:nvGrpSpPr>
            <p:cNvPr id="25" name="Group 15"/>
            <p:cNvGrpSpPr>
              <a:grpSpLocks/>
            </p:cNvGrpSpPr>
            <p:nvPr/>
          </p:nvGrpSpPr>
          <p:grpSpPr bwMode="auto">
            <a:xfrm rot="21345289">
              <a:off x="4884365" y="3836747"/>
              <a:ext cx="1315129" cy="706206"/>
              <a:chOff x="3098" y="249"/>
              <a:chExt cx="1959" cy="629"/>
            </a:xfrm>
          </p:grpSpPr>
          <p:sp>
            <p:nvSpPr>
              <p:cNvPr id="30" name="Oval 16"/>
              <p:cNvSpPr>
                <a:spLocks noChangeArrowheads="1"/>
              </p:cNvSpPr>
              <p:nvPr/>
            </p:nvSpPr>
            <p:spPr bwMode="gray">
              <a:xfrm>
                <a:off x="3099" y="297"/>
                <a:ext cx="1958" cy="581"/>
              </a:xfrm>
              <a:prstGeom prst="ellipse">
                <a:avLst/>
              </a:prstGeom>
              <a:gradFill rotWithShape="1">
                <a:gsLst>
                  <a:gs pos="0">
                    <a:srgbClr val="636363"/>
                  </a:gs>
                  <a:gs pos="50000">
                    <a:srgbClr val="B2B2B2"/>
                  </a:gs>
                  <a:gs pos="100000">
                    <a:srgbClr val="636363"/>
                  </a:gs>
                </a:gsLst>
                <a:lin ang="0" scaled="1"/>
              </a:gradFill>
              <a:ln w="9525" algn="ctr">
                <a:noFill/>
                <a:round/>
                <a:headEnd/>
                <a:tailEnd/>
              </a:ln>
            </p:spPr>
            <p:txBody>
              <a:bodyPr wrap="none" anchor="ctr"/>
              <a:lstStyle/>
              <a:p>
                <a:endParaRPr lang="en-US" dirty="0"/>
              </a:p>
            </p:txBody>
          </p:sp>
          <p:sp>
            <p:nvSpPr>
              <p:cNvPr id="31" name="Oval 17"/>
              <p:cNvSpPr>
                <a:spLocks noChangeArrowheads="1"/>
              </p:cNvSpPr>
              <p:nvPr/>
            </p:nvSpPr>
            <p:spPr bwMode="gray">
              <a:xfrm>
                <a:off x="3098" y="249"/>
                <a:ext cx="1959" cy="581"/>
              </a:xfrm>
              <a:prstGeom prst="ellipse">
                <a:avLst/>
              </a:prstGeom>
              <a:gradFill rotWithShape="1">
                <a:gsLst>
                  <a:gs pos="0">
                    <a:srgbClr val="C0C0C0"/>
                  </a:gs>
                  <a:gs pos="100000">
                    <a:srgbClr val="EAEAEA"/>
                  </a:gs>
                </a:gsLst>
                <a:lin ang="5400000" scaled="1"/>
              </a:gradFill>
              <a:ln w="9525" algn="ctr">
                <a:noFill/>
                <a:round/>
                <a:headEnd/>
                <a:tailEnd/>
              </a:ln>
            </p:spPr>
            <p:txBody>
              <a:bodyPr wrap="none" anchor="ctr"/>
              <a:lstStyle/>
              <a:p>
                <a:endParaRPr lang="en-US" dirty="0"/>
              </a:p>
            </p:txBody>
          </p:sp>
        </p:grpSp>
        <p:sp>
          <p:nvSpPr>
            <p:cNvPr id="26" name="Text Box 29"/>
            <p:cNvSpPr txBox="1">
              <a:spLocks noChangeArrowheads="1"/>
            </p:cNvSpPr>
            <p:nvPr/>
          </p:nvSpPr>
          <p:spPr bwMode="gray">
            <a:xfrm>
              <a:off x="5004048" y="4005064"/>
              <a:ext cx="1080120" cy="338554"/>
            </a:xfrm>
            <a:prstGeom prst="rect">
              <a:avLst/>
            </a:prstGeom>
            <a:noFill/>
            <a:ln w="9525" algn="ctr">
              <a:noFill/>
              <a:miter lim="800000"/>
              <a:headEnd/>
              <a:tailEnd/>
            </a:ln>
          </p:spPr>
          <p:txBody>
            <a:bodyPr wrap="square">
              <a:spAutoFit/>
            </a:bodyPr>
            <a:lstStyle/>
            <a:p>
              <a:pPr lvl="0"/>
              <a:r>
                <a:rPr lang="en-AU" sz="1600" b="1" dirty="0" smtClean="0">
                  <a:latin typeface="Helvetica" pitchFamily="34" charset="0"/>
                  <a:ea typeface="Verdana" pitchFamily="34" charset="0"/>
                  <a:cs typeface="Verdana" pitchFamily="34" charset="0"/>
                </a:rPr>
                <a:t>Payroll</a:t>
              </a:r>
            </a:p>
          </p:txBody>
        </p:sp>
        <p:sp>
          <p:nvSpPr>
            <p:cNvPr id="27" name="Text Box 29"/>
            <p:cNvSpPr txBox="1">
              <a:spLocks noChangeArrowheads="1"/>
            </p:cNvSpPr>
            <p:nvPr/>
          </p:nvSpPr>
          <p:spPr bwMode="gray">
            <a:xfrm rot="21212007">
              <a:off x="1803019" y="3784764"/>
              <a:ext cx="1256592" cy="338554"/>
            </a:xfrm>
            <a:prstGeom prst="rect">
              <a:avLst/>
            </a:prstGeom>
            <a:noFill/>
            <a:ln w="9525" algn="ctr">
              <a:noFill/>
              <a:miter lim="800000"/>
              <a:headEnd/>
              <a:tailEnd/>
            </a:ln>
          </p:spPr>
          <p:txBody>
            <a:bodyPr wrap="square">
              <a:spAutoFit/>
            </a:bodyPr>
            <a:lstStyle/>
            <a:p>
              <a:pPr lvl="0" algn="ctr"/>
              <a:r>
                <a:rPr lang="en-AU" sz="1600" b="1" dirty="0" smtClean="0">
                  <a:latin typeface="Helvetica" pitchFamily="34" charset="0"/>
                  <a:ea typeface="Verdana" pitchFamily="34" charset="0"/>
                  <a:cs typeface="Verdana" pitchFamily="34" charset="0"/>
                </a:rPr>
                <a:t>Other</a:t>
              </a:r>
              <a:endParaRPr lang="en-AU" sz="1600" b="1" dirty="0">
                <a:latin typeface="Helvetica" pitchFamily="34" charset="0"/>
                <a:ea typeface="Verdana" pitchFamily="34" charset="0"/>
                <a:cs typeface="Verdana" pitchFamily="34" charset="0"/>
              </a:endParaRPr>
            </a:p>
          </p:txBody>
        </p:sp>
        <p:sp>
          <p:nvSpPr>
            <p:cNvPr id="28" name="Text Box 29"/>
            <p:cNvSpPr txBox="1">
              <a:spLocks noChangeArrowheads="1"/>
            </p:cNvSpPr>
            <p:nvPr/>
          </p:nvSpPr>
          <p:spPr bwMode="gray">
            <a:xfrm rot="21199699">
              <a:off x="3491880" y="2559388"/>
              <a:ext cx="1872208" cy="369332"/>
            </a:xfrm>
            <a:prstGeom prst="rect">
              <a:avLst/>
            </a:prstGeom>
            <a:noFill/>
            <a:ln w="9525" algn="ctr">
              <a:noFill/>
              <a:miter lim="800000"/>
              <a:headEnd/>
              <a:tailEnd/>
            </a:ln>
          </p:spPr>
          <p:txBody>
            <a:bodyPr wrap="square">
              <a:spAutoFit/>
            </a:bodyPr>
            <a:lstStyle/>
            <a:p>
              <a:pPr eaLnBrk="0" hangingPunct="0">
                <a:spcBef>
                  <a:spcPts val="200"/>
                </a:spcBef>
                <a:spcAft>
                  <a:spcPts val="200"/>
                </a:spcAft>
              </a:pPr>
              <a:r>
                <a:rPr lang="en-AU" b="1" dirty="0" smtClean="0">
                  <a:solidFill>
                    <a:srgbClr val="333333"/>
                  </a:solidFill>
                  <a:latin typeface="Helvetica" pitchFamily="34" charset="0"/>
                </a:rPr>
                <a:t>General Ledger</a:t>
              </a:r>
            </a:p>
          </p:txBody>
        </p:sp>
        <p:sp>
          <p:nvSpPr>
            <p:cNvPr id="29" name="Rectangle 3"/>
            <p:cNvSpPr>
              <a:spLocks noChangeArrowheads="1"/>
            </p:cNvSpPr>
            <p:nvPr/>
          </p:nvSpPr>
          <p:spPr bwMode="auto">
            <a:xfrm>
              <a:off x="2699792" y="4725144"/>
              <a:ext cx="4674096" cy="430887"/>
            </a:xfrm>
            <a:prstGeom prst="rect">
              <a:avLst/>
            </a:prstGeom>
            <a:noFill/>
            <a:ln w="9525" algn="ctr">
              <a:noFill/>
              <a:miter lim="800000"/>
              <a:headEnd/>
              <a:tailEnd/>
            </a:ln>
          </p:spPr>
          <p:txBody>
            <a:bodyPr wrap="square">
              <a:spAutoFit/>
            </a:bodyPr>
            <a:lstStyle/>
            <a:p>
              <a:pPr eaLnBrk="0" hangingPunct="0"/>
              <a:r>
                <a:rPr lang="en-AU" sz="2200" b="1" dirty="0" smtClean="0">
                  <a:latin typeface="Helvetica" pitchFamily="34" charset="0"/>
                </a:rPr>
                <a:t>Integrated Financial System</a:t>
              </a:r>
              <a:endParaRPr lang="en-AU" sz="2200" dirty="0">
                <a:latin typeface="Helvetica" pitchFamily="34" charset="0"/>
              </a:endParaRPr>
            </a:p>
          </p:txBody>
        </p:sp>
      </p:grpSp>
    </p:spTree>
    <p:extLst>
      <p:ext uri="{BB962C8B-B14F-4D97-AF65-F5344CB8AC3E}">
        <p14:creationId xmlns:p14="http://schemas.microsoft.com/office/powerpoint/2010/main" val="42628823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marL="0" indent="0">
              <a:spcBef>
                <a:spcPts val="600"/>
              </a:spcBef>
              <a:spcAft>
                <a:spcPts val="1200"/>
              </a:spcAft>
              <a:buNone/>
            </a:pPr>
            <a:r>
              <a:rPr lang="en-AU" sz="2200" dirty="0" smtClean="0">
                <a:latin typeface="Helvetica" pitchFamily="34" charset="0"/>
              </a:rPr>
              <a:t>Internal controls and cash:</a:t>
            </a:r>
          </a:p>
          <a:p>
            <a:pPr marL="360000" indent="-360000">
              <a:spcBef>
                <a:spcPts val="600"/>
              </a:spcBef>
              <a:spcAft>
                <a:spcPts val="1200"/>
              </a:spcAft>
              <a:buClr>
                <a:srgbClr val="7FD13B"/>
              </a:buClr>
            </a:pPr>
            <a:r>
              <a:rPr lang="en-AU" sz="2200" dirty="0" smtClean="0">
                <a:latin typeface="Helvetica" pitchFamily="34" charset="0"/>
              </a:rPr>
              <a:t>Discussion from previous activity</a:t>
            </a:r>
          </a:p>
          <a:p>
            <a:pPr marL="360000" indent="-360000">
              <a:spcBef>
                <a:spcPts val="600"/>
              </a:spcBef>
              <a:spcAft>
                <a:spcPts val="1200"/>
              </a:spcAft>
              <a:buClr>
                <a:srgbClr val="7FD13B"/>
              </a:buClr>
            </a:pPr>
            <a:r>
              <a:rPr lang="en-AU" sz="2200" dirty="0" smtClean="0">
                <a:latin typeface="Helvetica" pitchFamily="34" charset="0"/>
              </a:rPr>
              <a:t>The bank account</a:t>
            </a:r>
          </a:p>
          <a:p>
            <a:pPr marL="360000" indent="-360000">
              <a:spcBef>
                <a:spcPts val="600"/>
              </a:spcBef>
              <a:spcAft>
                <a:spcPts val="1200"/>
              </a:spcAft>
              <a:buClr>
                <a:srgbClr val="7FD13B"/>
              </a:buClr>
            </a:pPr>
            <a:r>
              <a:rPr lang="en-AU" sz="2200" dirty="0" smtClean="0">
                <a:latin typeface="Helvetica" pitchFamily="34" charset="0"/>
              </a:rPr>
              <a:t>Cash receipts: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Separation of related transactions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Documentation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descr="freeimage-6143550.jpg"/>
          <p:cNvPicPr>
            <a:picLocks noChangeAspect="1"/>
          </p:cNvPicPr>
          <p:nvPr/>
        </p:nvPicPr>
        <p:blipFill>
          <a:blip r:embed="rId3" cstate="print"/>
          <a:stretch>
            <a:fillRect/>
          </a:stretch>
        </p:blipFill>
        <p:spPr>
          <a:xfrm>
            <a:off x="6372200" y="3933056"/>
            <a:ext cx="2051720" cy="1538790"/>
          </a:xfrm>
          <a:prstGeom prst="rect">
            <a:avLst/>
          </a:prstGeom>
        </p:spPr>
      </p:pic>
    </p:spTree>
    <p:extLst>
      <p:ext uri="{BB962C8B-B14F-4D97-AF65-F5344CB8AC3E}">
        <p14:creationId xmlns:p14="http://schemas.microsoft.com/office/powerpoint/2010/main" val="19829534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184576"/>
          </a:xfrm>
        </p:spPr>
        <p:txBody>
          <a:bodyPr>
            <a:normAutofit/>
          </a:bodyPr>
          <a:lstStyle/>
          <a:p>
            <a:pPr marL="0" indent="0">
              <a:spcBef>
                <a:spcPts val="600"/>
              </a:spcBef>
              <a:spcAft>
                <a:spcPts val="1200"/>
              </a:spcAft>
              <a:buNone/>
            </a:pPr>
            <a:r>
              <a:rPr lang="en-AU" sz="2200" dirty="0" smtClean="0">
                <a:latin typeface="Helvetica" pitchFamily="34" charset="0"/>
              </a:rPr>
              <a:t>Internal controls and cash:</a:t>
            </a:r>
          </a:p>
          <a:p>
            <a:pPr marL="360000" indent="-360000">
              <a:spcBef>
                <a:spcPts val="600"/>
              </a:spcBef>
              <a:spcAft>
                <a:spcPts val="1200"/>
              </a:spcAft>
              <a:buClr>
                <a:srgbClr val="7FD13B"/>
              </a:buClr>
            </a:pPr>
            <a:r>
              <a:rPr lang="en-AU" sz="2200" dirty="0" smtClean="0">
                <a:latin typeface="Helvetica" pitchFamily="34" charset="0"/>
              </a:rPr>
              <a:t>Cash payments: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Authorisation and supervision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Separation of related transactions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Documentation</a:t>
            </a:r>
          </a:p>
          <a:p>
            <a:pPr marL="360000" indent="-360000">
              <a:spcBef>
                <a:spcPts val="600"/>
              </a:spcBef>
              <a:spcAft>
                <a:spcPts val="1200"/>
              </a:spcAft>
              <a:buClr>
                <a:srgbClr val="7FD13B"/>
              </a:buClr>
            </a:pPr>
            <a:r>
              <a:rPr lang="en-AU" sz="2200" dirty="0" smtClean="0">
                <a:latin typeface="Helvetica" pitchFamily="34" charset="0"/>
              </a:rPr>
              <a:t>Petty cash</a:t>
            </a:r>
          </a:p>
          <a:p>
            <a:pPr marL="360000" indent="-360000">
              <a:spcBef>
                <a:spcPts val="600"/>
              </a:spcBef>
              <a:spcAft>
                <a:spcPts val="1200"/>
              </a:spcAft>
              <a:buClr>
                <a:srgbClr val="7FD13B"/>
              </a:buClr>
            </a:pPr>
            <a:r>
              <a:rPr lang="en-AU" sz="2200" dirty="0" smtClean="0">
                <a:latin typeface="Helvetica" pitchFamily="34" charset="0"/>
              </a:rPr>
              <a:t>Cash budgets</a:t>
            </a:r>
          </a:p>
          <a:p>
            <a:pPr marL="0" indent="0">
              <a:spcBef>
                <a:spcPts val="600"/>
              </a:spcBef>
              <a:spcAft>
                <a:spcPts val="1200"/>
              </a:spcAft>
              <a:buNone/>
            </a:pPr>
            <a:r>
              <a:rPr lang="en-AU" sz="2200"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descr="MP900399463.JPG"/>
          <p:cNvPicPr>
            <a:picLocks noChangeAspect="1"/>
          </p:cNvPicPr>
          <p:nvPr/>
        </p:nvPicPr>
        <p:blipFill>
          <a:blip r:embed="rId3" cstate="print"/>
          <a:stretch>
            <a:fillRect/>
          </a:stretch>
        </p:blipFill>
        <p:spPr>
          <a:xfrm>
            <a:off x="7000782" y="3692224"/>
            <a:ext cx="1459650" cy="1825008"/>
          </a:xfrm>
          <a:prstGeom prst="rect">
            <a:avLst/>
          </a:prstGeom>
        </p:spPr>
      </p:pic>
    </p:spTree>
    <p:extLst>
      <p:ext uri="{BB962C8B-B14F-4D97-AF65-F5344CB8AC3E}">
        <p14:creationId xmlns:p14="http://schemas.microsoft.com/office/powerpoint/2010/main" val="8515575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184576"/>
          </a:xfrm>
        </p:spPr>
        <p:txBody>
          <a:bodyPr>
            <a:normAutofit/>
          </a:bodyPr>
          <a:lstStyle/>
          <a:p>
            <a:pPr marL="0" indent="0">
              <a:spcBef>
                <a:spcPts val="600"/>
              </a:spcBef>
              <a:spcAft>
                <a:spcPts val="1200"/>
              </a:spcAft>
              <a:buNone/>
            </a:pPr>
            <a:r>
              <a:rPr lang="en-AU" sz="2200" b="1" dirty="0" smtClean="0">
                <a:latin typeface="Helvetica" pitchFamily="34" charset="0"/>
              </a:rPr>
              <a:t>Activity</a:t>
            </a:r>
          </a:p>
          <a:p>
            <a:pPr marL="0" indent="0">
              <a:spcBef>
                <a:spcPts val="600"/>
              </a:spcBef>
              <a:spcAft>
                <a:spcPts val="1200"/>
              </a:spcAft>
              <a:buClr>
                <a:srgbClr val="7FD13B"/>
              </a:buClr>
              <a:buNone/>
            </a:pPr>
            <a:r>
              <a:rPr lang="en-AU" sz="2200" dirty="0" smtClean="0">
                <a:latin typeface="Helvetica" pitchFamily="34" charset="0"/>
              </a:rPr>
              <a:t>In small groups, document the internal control procedures for cash that are important for a hospitality and tourism establishment. You can choose the size of the business as well as the products sold but you must specify this to the group.</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descr="MP900442559.JPG"/>
          <p:cNvPicPr>
            <a:picLocks noChangeAspect="1"/>
          </p:cNvPicPr>
          <p:nvPr/>
        </p:nvPicPr>
        <p:blipFill>
          <a:blip r:embed="rId3" cstate="print"/>
          <a:stretch>
            <a:fillRect/>
          </a:stretch>
        </p:blipFill>
        <p:spPr>
          <a:xfrm>
            <a:off x="6305493" y="3933056"/>
            <a:ext cx="2154939" cy="1434088"/>
          </a:xfrm>
          <a:prstGeom prst="rect">
            <a:avLst/>
          </a:prstGeom>
        </p:spPr>
      </p:pic>
    </p:spTree>
    <p:extLst>
      <p:ext uri="{BB962C8B-B14F-4D97-AF65-F5344CB8AC3E}">
        <p14:creationId xmlns:p14="http://schemas.microsoft.com/office/powerpoint/2010/main" val="32331673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indent="0">
              <a:spcBef>
                <a:spcPts val="600"/>
              </a:spcBef>
              <a:spcAft>
                <a:spcPts val="1200"/>
              </a:spcAft>
              <a:buNone/>
            </a:pPr>
            <a:r>
              <a:rPr lang="en-AU" sz="2200" dirty="0" smtClean="0">
                <a:latin typeface="Helvetica" pitchFamily="34" charset="0"/>
              </a:rPr>
              <a:t>Internal controls and accounts receivable:</a:t>
            </a:r>
          </a:p>
          <a:p>
            <a:pPr marL="360000" indent="-360000">
              <a:spcBef>
                <a:spcPts val="600"/>
              </a:spcBef>
              <a:spcAft>
                <a:spcPts val="1200"/>
              </a:spcAft>
              <a:buClr>
                <a:srgbClr val="7FD13B"/>
              </a:buClr>
            </a:pPr>
            <a:r>
              <a:rPr lang="en-AU" sz="2200" dirty="0" smtClean="0">
                <a:latin typeface="Helvetica" pitchFamily="34" charset="0"/>
              </a:rPr>
              <a:t>Managing credit policies</a:t>
            </a:r>
          </a:p>
          <a:p>
            <a:pPr marL="360000" indent="-360000">
              <a:spcBef>
                <a:spcPts val="600"/>
              </a:spcBef>
              <a:spcAft>
                <a:spcPts val="1200"/>
              </a:spcAft>
              <a:buClr>
                <a:srgbClr val="7FD13B"/>
              </a:buClr>
            </a:pPr>
            <a:r>
              <a:rPr lang="en-AU" sz="2200" dirty="0" smtClean="0">
                <a:latin typeface="Helvetica" pitchFamily="34" charset="0"/>
              </a:rPr>
              <a:t>Adjustments to account balances: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Authorisation </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Documentation</a:t>
            </a:r>
          </a:p>
          <a:p>
            <a:pPr marL="360000" indent="-360000">
              <a:spcBef>
                <a:spcPts val="600"/>
              </a:spcBef>
              <a:spcAft>
                <a:spcPts val="1200"/>
              </a:spcAft>
              <a:buClr>
                <a:srgbClr val="7FD13B"/>
              </a:buClr>
            </a:pPr>
            <a:r>
              <a:rPr lang="en-AU" sz="2200" dirty="0" smtClean="0">
                <a:latin typeface="Helvetica" pitchFamily="34" charset="0"/>
              </a:rPr>
              <a:t>Cash received:</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Separation of related transactions</a:t>
            </a:r>
          </a:p>
          <a:p>
            <a:pPr marL="360000" indent="-360000">
              <a:spcBef>
                <a:spcPts val="600"/>
              </a:spcBef>
              <a:spcAft>
                <a:spcPts val="1200"/>
              </a:spcAft>
              <a:buClr>
                <a:srgbClr val="7FD13B"/>
              </a:buClr>
            </a:pPr>
            <a:r>
              <a:rPr lang="en-AU" sz="2200" dirty="0" smtClean="0">
                <a:latin typeface="Helvetica" pitchFamily="34" charset="0"/>
              </a:rPr>
              <a:t>Final balances: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Responsibilities</a:t>
            </a:r>
          </a:p>
          <a:p>
            <a:pPr marL="0" indent="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descr="iStock_000002494015Medium.jpg"/>
          <p:cNvPicPr>
            <a:picLocks noChangeAspect="1"/>
          </p:cNvPicPr>
          <p:nvPr/>
        </p:nvPicPr>
        <p:blipFill>
          <a:blip r:embed="rId3" cstate="print"/>
          <a:stretch>
            <a:fillRect/>
          </a:stretch>
        </p:blipFill>
        <p:spPr>
          <a:xfrm>
            <a:off x="6948264" y="3501008"/>
            <a:ext cx="1523365" cy="1968252"/>
          </a:xfrm>
          <a:prstGeom prst="rect">
            <a:avLst/>
          </a:prstGeom>
        </p:spPr>
      </p:pic>
    </p:spTree>
    <p:extLst>
      <p:ext uri="{BB962C8B-B14F-4D97-AF65-F5344CB8AC3E}">
        <p14:creationId xmlns:p14="http://schemas.microsoft.com/office/powerpoint/2010/main" val="34160772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07293"/>
            <a:ext cx="7467600" cy="4813995"/>
          </a:xfrm>
        </p:spPr>
        <p:txBody>
          <a:bodyPr>
            <a:normAutofit/>
          </a:bodyPr>
          <a:lstStyle/>
          <a:p>
            <a:pPr marL="0" indent="0">
              <a:lnSpc>
                <a:spcPct val="120000"/>
              </a:lnSpc>
              <a:spcBef>
                <a:spcPts val="600"/>
              </a:spcBef>
              <a:spcAft>
                <a:spcPts val="1200"/>
              </a:spcAft>
              <a:buNone/>
            </a:pPr>
            <a:r>
              <a:rPr lang="en-AU" sz="2200" b="1" dirty="0" smtClean="0">
                <a:latin typeface="Helvetica" pitchFamily="34" charset="0"/>
              </a:rPr>
              <a:t>Activity</a:t>
            </a:r>
          </a:p>
          <a:p>
            <a:pPr marL="0" indent="0">
              <a:lnSpc>
                <a:spcPct val="120000"/>
              </a:lnSpc>
              <a:spcBef>
                <a:spcPts val="600"/>
              </a:spcBef>
              <a:spcAft>
                <a:spcPts val="1200"/>
              </a:spcAft>
              <a:buNone/>
            </a:pPr>
            <a:r>
              <a:rPr lang="en-AU" sz="2200" dirty="0" smtClean="0">
                <a:latin typeface="Helvetica" pitchFamily="34" charset="0"/>
              </a:rPr>
              <a:t>Document a set of procedures that addresses the separation of responsibilities for accounts receivable tasks. Specify the personnel that would conduct the tasks.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descr="MC900058942.WMF"/>
          <p:cNvPicPr>
            <a:picLocks noChangeAspect="1"/>
          </p:cNvPicPr>
          <p:nvPr/>
        </p:nvPicPr>
        <p:blipFill>
          <a:blip r:embed="rId3" cstate="print"/>
          <a:stretch>
            <a:fillRect/>
          </a:stretch>
        </p:blipFill>
        <p:spPr>
          <a:xfrm>
            <a:off x="6516216" y="3645024"/>
            <a:ext cx="1788566" cy="1294790"/>
          </a:xfrm>
          <a:prstGeom prst="rect">
            <a:avLst/>
          </a:prstGeom>
        </p:spPr>
      </p:pic>
    </p:spTree>
    <p:extLst>
      <p:ext uri="{BB962C8B-B14F-4D97-AF65-F5344CB8AC3E}">
        <p14:creationId xmlns:p14="http://schemas.microsoft.com/office/powerpoint/2010/main" val="17934007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marL="0" indent="0">
              <a:spcBef>
                <a:spcPts val="600"/>
              </a:spcBef>
              <a:spcAft>
                <a:spcPts val="1200"/>
              </a:spcAft>
              <a:buNone/>
            </a:pPr>
            <a:r>
              <a:rPr lang="en-AU" sz="2200" dirty="0" smtClean="0">
                <a:latin typeface="Helvetica" pitchFamily="34" charset="0"/>
              </a:rPr>
              <a:t>Internal controls and purchases:</a:t>
            </a:r>
          </a:p>
          <a:p>
            <a:pPr marL="360000" indent="-360000">
              <a:spcBef>
                <a:spcPts val="600"/>
              </a:spcBef>
              <a:spcAft>
                <a:spcPts val="1200"/>
              </a:spcAft>
              <a:buClr>
                <a:srgbClr val="7FD13B"/>
              </a:buClr>
            </a:pPr>
            <a:r>
              <a:rPr lang="en-AU" sz="2200" dirty="0" smtClean="0">
                <a:latin typeface="Helvetica" pitchFamily="34" charset="0"/>
              </a:rPr>
              <a:t>Separation of responsibilities: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Requests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Orders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Receiving goods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Recording in the accounting system</a:t>
            </a:r>
          </a:p>
          <a:p>
            <a:pPr marL="360000" indent="-360000">
              <a:spcBef>
                <a:spcPts val="600"/>
              </a:spcBef>
              <a:spcAft>
                <a:spcPts val="1200"/>
              </a:spcAft>
              <a:buClr>
                <a:srgbClr val="7FD13B"/>
              </a:buClr>
            </a:pPr>
            <a:r>
              <a:rPr lang="en-AU" sz="2200" dirty="0" smtClean="0">
                <a:latin typeface="Helvetica" pitchFamily="34" charset="0"/>
              </a:rPr>
              <a:t>Documentation: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Standard, numbered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4" descr="ring_binder.jpg"/>
          <p:cNvPicPr>
            <a:picLocks noChangeAspect="1"/>
          </p:cNvPicPr>
          <p:nvPr/>
        </p:nvPicPr>
        <p:blipFill>
          <a:blip r:embed="rId3" cstate="print"/>
          <a:stretch>
            <a:fillRect/>
          </a:stretch>
        </p:blipFill>
        <p:spPr>
          <a:xfrm>
            <a:off x="6467028" y="4022179"/>
            <a:ext cx="1993404" cy="1495053"/>
          </a:xfrm>
          <a:prstGeom prst="rect">
            <a:avLst/>
          </a:prstGeom>
        </p:spPr>
      </p:pic>
    </p:spTree>
    <p:extLst>
      <p:ext uri="{BB962C8B-B14F-4D97-AF65-F5344CB8AC3E}">
        <p14:creationId xmlns:p14="http://schemas.microsoft.com/office/powerpoint/2010/main" val="395288448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28592"/>
          </a:xfrm>
        </p:spPr>
        <p:txBody>
          <a:bodyPr>
            <a:normAutofit/>
          </a:bodyPr>
          <a:lstStyle/>
          <a:p>
            <a:pPr marL="0" indent="0">
              <a:lnSpc>
                <a:spcPct val="120000"/>
              </a:lnSpc>
              <a:spcBef>
                <a:spcPts val="600"/>
              </a:spcBef>
              <a:spcAft>
                <a:spcPts val="1200"/>
              </a:spcAft>
              <a:buNone/>
            </a:pPr>
            <a:r>
              <a:rPr lang="en-AU" sz="2200" b="1" dirty="0" smtClean="0">
                <a:latin typeface="Helvetica" pitchFamily="34" charset="0"/>
              </a:rPr>
              <a:t>Activity</a:t>
            </a:r>
          </a:p>
          <a:p>
            <a:pPr marL="0" indent="0">
              <a:lnSpc>
                <a:spcPct val="120000"/>
              </a:lnSpc>
              <a:spcBef>
                <a:spcPts val="600"/>
              </a:spcBef>
              <a:spcAft>
                <a:spcPts val="1200"/>
              </a:spcAft>
              <a:buNone/>
            </a:pPr>
            <a:r>
              <a:rPr lang="en-AU" sz="2200" dirty="0" smtClean="0">
                <a:latin typeface="Helvetica" pitchFamily="34" charset="0"/>
              </a:rPr>
              <a:t>Discuss the personnel that may be needed to implement effective controls over purchasing. Which responsibilities could be combined, if any, in a smaller organisation?  Is there additional procedures that could be put in place if this was the case?</a:t>
            </a:r>
          </a:p>
          <a:p>
            <a:pPr marL="0" indent="0">
              <a:lnSpc>
                <a:spcPct val="120000"/>
              </a:lnSpc>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descr="MC900058942.WMF"/>
          <p:cNvPicPr>
            <a:picLocks noChangeAspect="1"/>
          </p:cNvPicPr>
          <p:nvPr/>
        </p:nvPicPr>
        <p:blipFill>
          <a:blip r:embed="rId3" cstate="print"/>
          <a:stretch>
            <a:fillRect/>
          </a:stretch>
        </p:blipFill>
        <p:spPr>
          <a:xfrm>
            <a:off x="6527850" y="3789040"/>
            <a:ext cx="1788566" cy="1294790"/>
          </a:xfrm>
          <a:prstGeom prst="rect">
            <a:avLst/>
          </a:prstGeom>
        </p:spPr>
      </p:pic>
    </p:spTree>
    <p:extLst>
      <p:ext uri="{BB962C8B-B14F-4D97-AF65-F5344CB8AC3E}">
        <p14:creationId xmlns:p14="http://schemas.microsoft.com/office/powerpoint/2010/main" val="22998532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marL="0" indent="0">
              <a:spcBef>
                <a:spcPts val="600"/>
              </a:spcBef>
              <a:spcAft>
                <a:spcPts val="1200"/>
              </a:spcAft>
              <a:buNone/>
            </a:pPr>
            <a:r>
              <a:rPr lang="en-AU" sz="2200" dirty="0" smtClean="0">
                <a:latin typeface="Helvetica" pitchFamily="34" charset="0"/>
              </a:rPr>
              <a:t>Internal controls and payroll:</a:t>
            </a:r>
          </a:p>
          <a:p>
            <a:pPr marL="360000" indent="-360000">
              <a:spcBef>
                <a:spcPts val="600"/>
              </a:spcBef>
              <a:spcAft>
                <a:spcPts val="1200"/>
              </a:spcAft>
              <a:buClr>
                <a:srgbClr val="7FD13B"/>
              </a:buClr>
            </a:pPr>
            <a:r>
              <a:rPr lang="en-AU" sz="2200" dirty="0" smtClean="0">
                <a:latin typeface="Helvetica" pitchFamily="34" charset="0"/>
              </a:rPr>
              <a:t>Confidentiality</a:t>
            </a:r>
          </a:p>
          <a:p>
            <a:pPr marL="360000" indent="-360000">
              <a:spcBef>
                <a:spcPts val="600"/>
              </a:spcBef>
              <a:spcAft>
                <a:spcPts val="1200"/>
              </a:spcAft>
              <a:buClr>
                <a:srgbClr val="7FD13B"/>
              </a:buClr>
            </a:pPr>
            <a:r>
              <a:rPr lang="en-AU" sz="2200" dirty="0" smtClean="0">
                <a:latin typeface="Helvetica" pitchFamily="34" charset="0"/>
              </a:rPr>
              <a:t>Bank account</a:t>
            </a:r>
          </a:p>
          <a:p>
            <a:pPr marL="360000" indent="-360000">
              <a:spcBef>
                <a:spcPts val="600"/>
              </a:spcBef>
              <a:spcAft>
                <a:spcPts val="1200"/>
              </a:spcAft>
              <a:buClr>
                <a:srgbClr val="7FD13B"/>
              </a:buClr>
            </a:pPr>
            <a:r>
              <a:rPr lang="en-AU" sz="2200" dirty="0" smtClean="0">
                <a:latin typeface="Helvetica" pitchFamily="34" charset="0"/>
              </a:rPr>
              <a:t>Employee details</a:t>
            </a:r>
          </a:p>
          <a:p>
            <a:pPr marL="360000" indent="-360000">
              <a:spcBef>
                <a:spcPts val="600"/>
              </a:spcBef>
              <a:spcAft>
                <a:spcPts val="1200"/>
              </a:spcAft>
              <a:buClr>
                <a:srgbClr val="7FD13B"/>
              </a:buClr>
            </a:pPr>
            <a:r>
              <a:rPr lang="en-AU" sz="2200" dirty="0" smtClean="0">
                <a:latin typeface="Helvetica" pitchFamily="34" charset="0"/>
              </a:rPr>
              <a:t>Processing payroll:</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Authorisation</a:t>
            </a:r>
          </a:p>
          <a:p>
            <a:pPr marL="360000" indent="-360000">
              <a:spcBef>
                <a:spcPts val="600"/>
              </a:spcBef>
              <a:spcAft>
                <a:spcPts val="1200"/>
              </a:spcAft>
              <a:buClr>
                <a:srgbClr val="7FD13B"/>
              </a:buClr>
            </a:pPr>
            <a:r>
              <a:rPr lang="en-AU" sz="2200" dirty="0" smtClean="0">
                <a:latin typeface="Helvetica" pitchFamily="34" charset="0"/>
              </a:rPr>
              <a:t>Distributing payroll</a:t>
            </a:r>
          </a:p>
          <a:p>
            <a:pPr marL="360000" indent="0">
              <a:spcBef>
                <a:spcPts val="600"/>
              </a:spcBef>
              <a:spcAft>
                <a:spcPts val="1200"/>
              </a:spcAft>
              <a:buClr>
                <a:schemeClr val="accent1">
                  <a:lumMod val="75000"/>
                </a:schemeClr>
              </a:buClr>
              <a:buSzPct val="100000"/>
              <a:buNone/>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descr="1131445_red_check_sign_in_3d.jpg"/>
          <p:cNvPicPr>
            <a:picLocks noChangeAspect="1"/>
          </p:cNvPicPr>
          <p:nvPr/>
        </p:nvPicPr>
        <p:blipFill>
          <a:blip r:embed="rId3" cstate="print"/>
          <a:stretch>
            <a:fillRect/>
          </a:stretch>
        </p:blipFill>
        <p:spPr>
          <a:xfrm>
            <a:off x="6827068" y="3861048"/>
            <a:ext cx="1489348" cy="1191478"/>
          </a:xfrm>
          <a:prstGeom prst="rect">
            <a:avLst/>
          </a:prstGeom>
        </p:spPr>
      </p:pic>
    </p:spTree>
    <p:extLst>
      <p:ext uri="{BB962C8B-B14F-4D97-AF65-F5344CB8AC3E}">
        <p14:creationId xmlns:p14="http://schemas.microsoft.com/office/powerpoint/2010/main" val="1785140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040560"/>
          </a:xfrm>
        </p:spPr>
        <p:txBody>
          <a:bodyPr>
            <a:normAutofit/>
          </a:bodyPr>
          <a:lstStyle/>
          <a:p>
            <a:pPr marL="0" indent="0">
              <a:lnSpc>
                <a:spcPct val="120000"/>
              </a:lnSpc>
              <a:spcBef>
                <a:spcPts val="600"/>
              </a:spcBef>
              <a:spcAft>
                <a:spcPts val="1200"/>
              </a:spcAft>
              <a:buNone/>
            </a:pPr>
            <a:r>
              <a:rPr lang="en-AU" sz="2200" b="1" dirty="0" smtClean="0">
                <a:latin typeface="Helvetica" pitchFamily="34" charset="0"/>
              </a:rPr>
              <a:t>Activity</a:t>
            </a:r>
          </a:p>
          <a:p>
            <a:pPr marL="0" indent="0">
              <a:lnSpc>
                <a:spcPct val="120000"/>
              </a:lnSpc>
              <a:spcBef>
                <a:spcPts val="600"/>
              </a:spcBef>
              <a:spcAft>
                <a:spcPts val="1200"/>
              </a:spcAft>
              <a:buNone/>
            </a:pPr>
            <a:r>
              <a:rPr lang="en-AU" sz="2200" dirty="0" smtClean="0">
                <a:latin typeface="Helvetica" pitchFamily="34" charset="0"/>
              </a:rPr>
              <a:t>Describe the key internal control principles that the processed and procedures in the payroll function address.</a:t>
            </a:r>
          </a:p>
          <a:p>
            <a:pPr marL="0" indent="0">
              <a:lnSpc>
                <a:spcPct val="120000"/>
              </a:lnSpc>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descr="MC900058942.WMF"/>
          <p:cNvPicPr>
            <a:picLocks noChangeAspect="1"/>
          </p:cNvPicPr>
          <p:nvPr/>
        </p:nvPicPr>
        <p:blipFill>
          <a:blip r:embed="rId3" cstate="print"/>
          <a:stretch>
            <a:fillRect/>
          </a:stretch>
        </p:blipFill>
        <p:spPr>
          <a:xfrm>
            <a:off x="6516216" y="3718386"/>
            <a:ext cx="1788566" cy="1294790"/>
          </a:xfrm>
          <a:prstGeom prst="rect">
            <a:avLst/>
          </a:prstGeom>
        </p:spPr>
      </p:pic>
    </p:spTree>
    <p:extLst>
      <p:ext uri="{BB962C8B-B14F-4D97-AF65-F5344CB8AC3E}">
        <p14:creationId xmlns:p14="http://schemas.microsoft.com/office/powerpoint/2010/main" val="20669962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35285"/>
            <a:ext cx="7467600" cy="5390059"/>
          </a:xfrm>
        </p:spPr>
        <p:txBody>
          <a:bodyPr>
            <a:normAutofit/>
          </a:bodyPr>
          <a:lstStyle/>
          <a:p>
            <a:pPr marL="0" indent="0">
              <a:spcBef>
                <a:spcPts val="600"/>
              </a:spcBef>
              <a:spcAft>
                <a:spcPts val="1200"/>
              </a:spcAft>
              <a:buNone/>
            </a:pPr>
            <a:r>
              <a:rPr lang="en-AU" sz="2200" dirty="0" smtClean="0">
                <a:latin typeface="Helvetica" pitchFamily="34" charset="0"/>
              </a:rPr>
              <a:t>Internal controls and inventory:</a:t>
            </a:r>
          </a:p>
          <a:p>
            <a:pPr marL="360000" indent="-360000">
              <a:spcBef>
                <a:spcPts val="600"/>
              </a:spcBef>
              <a:spcAft>
                <a:spcPts val="1200"/>
              </a:spcAft>
              <a:buClr>
                <a:srgbClr val="7FD13B"/>
              </a:buClr>
            </a:pPr>
            <a:r>
              <a:rPr lang="en-AU" sz="2200" dirty="0" smtClean="0">
                <a:latin typeface="Helvetica" pitchFamily="34" charset="0"/>
              </a:rPr>
              <a:t>Discussion from activity – room amenities</a:t>
            </a:r>
          </a:p>
          <a:p>
            <a:pPr marL="360000" indent="-360000">
              <a:spcBef>
                <a:spcPts val="600"/>
              </a:spcBef>
              <a:spcAft>
                <a:spcPts val="1200"/>
              </a:spcAft>
              <a:buClr>
                <a:srgbClr val="7FD13B"/>
              </a:buClr>
            </a:pPr>
            <a:r>
              <a:rPr lang="en-AU" sz="2200" dirty="0" smtClean="0">
                <a:latin typeface="Helvetica" pitchFamily="34" charset="0"/>
              </a:rPr>
              <a:t>Physical count</a:t>
            </a:r>
          </a:p>
          <a:p>
            <a:pPr marL="360000" indent="-360000">
              <a:spcBef>
                <a:spcPts val="600"/>
              </a:spcBef>
              <a:spcAft>
                <a:spcPts val="1200"/>
              </a:spcAft>
              <a:buClr>
                <a:srgbClr val="7FD13B"/>
              </a:buClr>
            </a:pPr>
            <a:r>
              <a:rPr lang="en-AU" sz="2200" dirty="0" smtClean="0">
                <a:latin typeface="Helvetica" pitchFamily="34" charset="0"/>
              </a:rPr>
              <a:t>Secure storage</a:t>
            </a:r>
          </a:p>
          <a:p>
            <a:pPr marL="360000" indent="-360000">
              <a:spcBef>
                <a:spcPts val="600"/>
              </a:spcBef>
              <a:spcAft>
                <a:spcPts val="1200"/>
              </a:spcAft>
              <a:buClr>
                <a:srgbClr val="7FD13B"/>
              </a:buClr>
            </a:pPr>
            <a:r>
              <a:rPr lang="en-AU" sz="2200" dirty="0" smtClean="0">
                <a:latin typeface="Helvetica" pitchFamily="34" charset="0"/>
              </a:rPr>
              <a:t>Access</a:t>
            </a:r>
          </a:p>
          <a:p>
            <a:pPr marL="360000" indent="-360000">
              <a:spcBef>
                <a:spcPts val="600"/>
              </a:spcBef>
              <a:spcAft>
                <a:spcPts val="1200"/>
              </a:spcAft>
              <a:buClr>
                <a:srgbClr val="7FD13B"/>
              </a:buClr>
            </a:pPr>
            <a:r>
              <a:rPr lang="en-AU" sz="2200" dirty="0" smtClean="0">
                <a:latin typeface="Helvetica" pitchFamily="34" charset="0"/>
              </a:rPr>
              <a:t>Recording system</a:t>
            </a:r>
          </a:p>
          <a:p>
            <a:pPr marL="360000" indent="-360000">
              <a:spcBef>
                <a:spcPts val="600"/>
              </a:spcBef>
              <a:spcAft>
                <a:spcPts val="1200"/>
              </a:spcAft>
              <a:buClr>
                <a:srgbClr val="7FD13B"/>
              </a:buClr>
            </a:pPr>
            <a:r>
              <a:rPr lang="en-AU" sz="2200" dirty="0" smtClean="0">
                <a:latin typeface="Helvetica" pitchFamily="34" charset="0"/>
              </a:rPr>
              <a:t>Managing quantities ordered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descr="MP900405072.JPG"/>
          <p:cNvPicPr>
            <a:picLocks noChangeAspect="1"/>
          </p:cNvPicPr>
          <p:nvPr/>
        </p:nvPicPr>
        <p:blipFill>
          <a:blip r:embed="rId3" cstate="print"/>
          <a:stretch>
            <a:fillRect/>
          </a:stretch>
        </p:blipFill>
        <p:spPr>
          <a:xfrm>
            <a:off x="6372200" y="3140968"/>
            <a:ext cx="1925960" cy="1925960"/>
          </a:xfrm>
          <a:prstGeom prst="rect">
            <a:avLst/>
          </a:prstGeom>
        </p:spPr>
      </p:pic>
    </p:spTree>
    <p:extLst>
      <p:ext uri="{BB962C8B-B14F-4D97-AF65-F5344CB8AC3E}">
        <p14:creationId xmlns:p14="http://schemas.microsoft.com/office/powerpoint/2010/main" val="23214059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Implement internal controls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marL="0" indent="0">
              <a:spcBef>
                <a:spcPts val="600"/>
              </a:spcBef>
              <a:spcAft>
                <a:spcPts val="1200"/>
              </a:spcAft>
              <a:buNone/>
            </a:pPr>
            <a:r>
              <a:rPr lang="en-AU" sz="2200" dirty="0" smtClean="0">
                <a:latin typeface="Helvetica" pitchFamily="34" charset="0"/>
              </a:rPr>
              <a:t>Other internal controls:</a:t>
            </a:r>
          </a:p>
          <a:p>
            <a:pPr marL="360000" indent="-360000">
              <a:spcBef>
                <a:spcPts val="600"/>
              </a:spcBef>
              <a:spcAft>
                <a:spcPts val="1200"/>
              </a:spcAft>
              <a:buClr>
                <a:srgbClr val="7FD13B"/>
              </a:buClr>
            </a:pPr>
            <a:r>
              <a:rPr lang="en-AU" sz="2200" dirty="0" smtClean="0">
                <a:latin typeface="Helvetica" pitchFamily="34" charset="0"/>
              </a:rPr>
              <a:t>Fixed assets</a:t>
            </a:r>
          </a:p>
          <a:p>
            <a:pPr marL="360000" indent="-360000">
              <a:spcBef>
                <a:spcPts val="600"/>
              </a:spcBef>
              <a:spcAft>
                <a:spcPts val="1200"/>
              </a:spcAft>
              <a:buClr>
                <a:srgbClr val="7FD13B"/>
              </a:buClr>
            </a:pPr>
            <a:r>
              <a:rPr lang="en-AU" sz="2200" dirty="0" smtClean="0">
                <a:latin typeface="Helvetica" pitchFamily="34" charset="0"/>
              </a:rPr>
              <a:t>Standard costs: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Purpose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Nature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Type</a:t>
            </a:r>
            <a:br>
              <a:rPr lang="en-AU" sz="2200" dirty="0" smtClean="0">
                <a:latin typeface="Helvetica" pitchFamily="34" charset="0"/>
              </a:rPr>
            </a:br>
            <a:endParaRPr lang="en-AU" sz="2200" dirty="0" smtClean="0">
              <a:latin typeface="Helvetica" pitchFamily="34" charset="0"/>
            </a:endParaRPr>
          </a:p>
          <a:p>
            <a:pPr marL="0" indent="0">
              <a:spcBef>
                <a:spcPts val="600"/>
              </a:spcBef>
              <a:spcAft>
                <a:spcPts val="1200"/>
              </a:spcAft>
              <a:buNone/>
            </a:pPr>
            <a:r>
              <a:rPr lang="en-AU" sz="2200" b="1" i="1" dirty="0" smtClean="0">
                <a:latin typeface="Helvetica" pitchFamily="34" charset="0"/>
              </a:rPr>
              <a:t>Minimising not eliminating risks!!</a:t>
            </a:r>
          </a:p>
          <a:p>
            <a:pPr marL="360000" indent="-360000">
              <a:spcBef>
                <a:spcPts val="600"/>
              </a:spcBef>
              <a:spcAft>
                <a:spcPts val="1200"/>
              </a:spcAft>
            </a:pPr>
            <a:endParaRPr lang="en-AU" sz="2200" dirty="0" smtClean="0">
              <a:latin typeface="Helvetica" pitchFamily="34" charset="0"/>
            </a:endParaRPr>
          </a:p>
          <a:p>
            <a:pPr marL="360000" indent="0">
              <a:spcBef>
                <a:spcPts val="600"/>
              </a:spcBef>
              <a:spcAft>
                <a:spcPts val="1200"/>
              </a:spcAft>
              <a:buClr>
                <a:schemeClr val="accent1">
                  <a:lumMod val="75000"/>
                </a:schemeClr>
              </a:buClr>
              <a:buSzPct val="100000"/>
              <a:buNone/>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descr="Fiancial budgeting and taxes.JPG"/>
          <p:cNvPicPr>
            <a:picLocks noChangeAspect="1"/>
          </p:cNvPicPr>
          <p:nvPr/>
        </p:nvPicPr>
        <p:blipFill>
          <a:blip r:embed="rId3" cstate="print"/>
          <a:stretch>
            <a:fillRect/>
          </a:stretch>
        </p:blipFill>
        <p:spPr>
          <a:xfrm>
            <a:off x="7092280" y="3645024"/>
            <a:ext cx="1368152" cy="1925721"/>
          </a:xfrm>
          <a:prstGeom prst="rect">
            <a:avLst/>
          </a:prstGeom>
        </p:spPr>
      </p:pic>
    </p:spTree>
    <p:extLst>
      <p:ext uri="{BB962C8B-B14F-4D97-AF65-F5344CB8AC3E}">
        <p14:creationId xmlns:p14="http://schemas.microsoft.com/office/powerpoint/2010/main" val="41492171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72608"/>
          </a:xfrm>
        </p:spPr>
        <p:txBody>
          <a:bodyPr>
            <a:normAutofit/>
          </a:bodyPr>
          <a:lstStyle/>
          <a:p>
            <a:pPr marL="0" indent="0">
              <a:spcBef>
                <a:spcPts val="600"/>
              </a:spcBef>
              <a:spcAft>
                <a:spcPts val="1200"/>
              </a:spcAft>
              <a:buNone/>
            </a:pPr>
            <a:r>
              <a:rPr lang="en-AU" sz="2200" dirty="0" smtClean="0">
                <a:latin typeface="Helvetica" pitchFamily="34" charset="0"/>
              </a:rPr>
              <a:t>Monitoring the accounting system:</a:t>
            </a:r>
          </a:p>
          <a:p>
            <a:pPr marL="360000" indent="-360000">
              <a:spcBef>
                <a:spcPts val="600"/>
              </a:spcBef>
              <a:spcAft>
                <a:spcPts val="1200"/>
              </a:spcAft>
              <a:buClr>
                <a:srgbClr val="7FD13B"/>
              </a:buClr>
            </a:pPr>
            <a:r>
              <a:rPr lang="en-AU" sz="2200" dirty="0" smtClean="0">
                <a:latin typeface="Helvetica" pitchFamily="34" charset="0"/>
              </a:rPr>
              <a:t>Why?</a:t>
            </a:r>
          </a:p>
          <a:p>
            <a:pPr marL="360000" indent="-360000">
              <a:spcBef>
                <a:spcPts val="600"/>
              </a:spcBef>
              <a:spcAft>
                <a:spcPts val="1200"/>
              </a:spcAft>
              <a:buClr>
                <a:srgbClr val="7FD13B"/>
              </a:buClr>
            </a:pPr>
            <a:r>
              <a:rPr lang="en-AU" sz="2200" dirty="0" smtClean="0">
                <a:latin typeface="Helvetica" pitchFamily="34" charset="0"/>
              </a:rPr>
              <a:t>How?</a:t>
            </a:r>
          </a:p>
          <a:p>
            <a:pPr marL="360000" indent="-360000">
              <a:spcBef>
                <a:spcPts val="600"/>
              </a:spcBef>
              <a:spcAft>
                <a:spcPts val="1200"/>
              </a:spcAft>
              <a:buClr>
                <a:srgbClr val="7FD13B"/>
              </a:buClr>
            </a:pPr>
            <a:r>
              <a:rPr lang="en-AU" sz="2200" dirty="0" smtClean="0">
                <a:latin typeface="Helvetica" pitchFamily="34" charset="0"/>
              </a:rPr>
              <a:t>Internal audits</a:t>
            </a:r>
          </a:p>
          <a:p>
            <a:pPr marL="360000" indent="-360000">
              <a:spcBef>
                <a:spcPts val="600"/>
              </a:spcBef>
              <a:spcAft>
                <a:spcPts val="1200"/>
              </a:spcAft>
              <a:buClr>
                <a:srgbClr val="7FD13B"/>
              </a:buClr>
            </a:pPr>
            <a:r>
              <a:rPr lang="en-AU" sz="2200" dirty="0" smtClean="0">
                <a:latin typeface="Helvetica" pitchFamily="34" charset="0"/>
              </a:rPr>
              <a:t>Analysis</a:t>
            </a:r>
          </a:p>
          <a:p>
            <a:pPr marL="360000" indent="-360000">
              <a:spcBef>
                <a:spcPts val="600"/>
              </a:spcBef>
              <a:spcAft>
                <a:spcPts val="1200"/>
              </a:spcAft>
              <a:buClr>
                <a:srgbClr val="7FD13B"/>
              </a:buClr>
            </a:pPr>
            <a:r>
              <a:rPr lang="en-AU" sz="2200" dirty="0" smtClean="0">
                <a:latin typeface="Helvetica" pitchFamily="34" charset="0"/>
              </a:rPr>
              <a:t>Asset values</a:t>
            </a:r>
          </a:p>
          <a:p>
            <a:pPr marL="360000" indent="-360000">
              <a:spcBef>
                <a:spcPts val="600"/>
              </a:spcBef>
              <a:spcAft>
                <a:spcPts val="1200"/>
              </a:spcAft>
            </a:pPr>
            <a:endParaRPr lang="en-AU" sz="2200" dirty="0" smtClean="0">
              <a:latin typeface="Helvetica" pitchFamily="34" charset="0"/>
            </a:endParaRPr>
          </a:p>
          <a:p>
            <a:pPr marL="360000" indent="0">
              <a:spcBef>
                <a:spcPts val="600"/>
              </a:spcBef>
              <a:spcAft>
                <a:spcPts val="1200"/>
              </a:spcAft>
              <a:buClr>
                <a:schemeClr val="accent1">
                  <a:lumMod val="75000"/>
                </a:schemeClr>
              </a:buClr>
              <a:buSzPct val="100000"/>
              <a:buNone/>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5" name="Picture 4" descr="MC900383528.WMF"/>
          <p:cNvPicPr>
            <a:picLocks noChangeAspect="1"/>
          </p:cNvPicPr>
          <p:nvPr/>
        </p:nvPicPr>
        <p:blipFill>
          <a:blip r:embed="rId3" cstate="print"/>
          <a:stretch>
            <a:fillRect/>
          </a:stretch>
        </p:blipFill>
        <p:spPr>
          <a:xfrm>
            <a:off x="6809940" y="3624654"/>
            <a:ext cx="1650492" cy="1820570"/>
          </a:xfrm>
          <a:prstGeom prst="rect">
            <a:avLst/>
          </a:prstGeom>
        </p:spPr>
      </p:pic>
    </p:spTree>
    <p:extLst>
      <p:ext uri="{BB962C8B-B14F-4D97-AF65-F5344CB8AC3E}">
        <p14:creationId xmlns:p14="http://schemas.microsoft.com/office/powerpoint/2010/main" val="41864655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00600"/>
          </a:xfrm>
        </p:spPr>
        <p:txBody>
          <a:bodyPr>
            <a:normAutofit/>
          </a:bodyPr>
          <a:lstStyle/>
          <a:p>
            <a:pPr marL="0" indent="0">
              <a:spcBef>
                <a:spcPts val="600"/>
              </a:spcBef>
              <a:spcAft>
                <a:spcPts val="1200"/>
              </a:spcAft>
              <a:buNone/>
            </a:pPr>
            <a:r>
              <a:rPr lang="en-AU" sz="2200" dirty="0" smtClean="0">
                <a:latin typeface="Helvetica" pitchFamily="34" charset="0"/>
              </a:rPr>
              <a:t>Internal audit process:</a:t>
            </a:r>
          </a:p>
          <a:p>
            <a:pPr marL="360000" indent="-360000">
              <a:spcBef>
                <a:spcPts val="600"/>
              </a:spcBef>
              <a:spcAft>
                <a:spcPts val="1200"/>
              </a:spcAft>
              <a:buClr>
                <a:srgbClr val="7FD13B"/>
              </a:buClr>
            </a:pPr>
            <a:r>
              <a:rPr lang="en-AU" sz="2200" dirty="0" smtClean="0">
                <a:latin typeface="Helvetica" pitchFamily="34" charset="0"/>
              </a:rPr>
              <a:t>Meeting</a:t>
            </a:r>
          </a:p>
          <a:p>
            <a:pPr marL="360000" indent="-360000">
              <a:spcBef>
                <a:spcPts val="600"/>
              </a:spcBef>
              <a:spcAft>
                <a:spcPts val="1200"/>
              </a:spcAft>
              <a:buClr>
                <a:srgbClr val="7FD13B"/>
              </a:buClr>
            </a:pPr>
            <a:r>
              <a:rPr lang="en-AU" sz="2200" dirty="0" smtClean="0">
                <a:latin typeface="Helvetica" pitchFamily="34" charset="0"/>
              </a:rPr>
              <a:t>Identify internal controls</a:t>
            </a:r>
          </a:p>
          <a:p>
            <a:pPr marL="360000" indent="-360000">
              <a:spcBef>
                <a:spcPts val="600"/>
              </a:spcBef>
              <a:spcAft>
                <a:spcPts val="1200"/>
              </a:spcAft>
              <a:buClr>
                <a:srgbClr val="7FD13B"/>
              </a:buClr>
            </a:pPr>
            <a:r>
              <a:rPr lang="en-AU" sz="2200" dirty="0" smtClean="0">
                <a:latin typeface="Helvetica" pitchFamily="34" charset="0"/>
              </a:rPr>
              <a:t>Evaluate internal controls</a:t>
            </a:r>
          </a:p>
          <a:p>
            <a:pPr marL="360000" indent="-360000">
              <a:spcBef>
                <a:spcPts val="600"/>
              </a:spcBef>
              <a:spcAft>
                <a:spcPts val="1200"/>
              </a:spcAft>
              <a:buClr>
                <a:srgbClr val="7FD13B"/>
              </a:buClr>
            </a:pPr>
            <a:r>
              <a:rPr lang="en-AU" sz="2200" dirty="0" smtClean="0">
                <a:latin typeface="Helvetica" pitchFamily="34" charset="0"/>
              </a:rPr>
              <a:t>Assess outcome</a:t>
            </a:r>
          </a:p>
          <a:p>
            <a:pPr marL="360000" indent="-360000">
              <a:spcBef>
                <a:spcPts val="600"/>
              </a:spcBef>
              <a:spcAft>
                <a:spcPts val="1200"/>
              </a:spcAft>
              <a:buClr>
                <a:srgbClr val="7FD13B"/>
              </a:buClr>
            </a:pPr>
            <a:r>
              <a:rPr lang="en-AU" sz="2200" dirty="0" smtClean="0">
                <a:latin typeface="Helvetica" pitchFamily="34" charset="0"/>
              </a:rPr>
              <a:t>Final report</a:t>
            </a:r>
          </a:p>
          <a:p>
            <a:pPr marL="360000" indent="-360000">
              <a:spcBef>
                <a:spcPts val="600"/>
              </a:spcBef>
              <a:spcAft>
                <a:spcPts val="1200"/>
              </a:spcAft>
              <a:buClr>
                <a:srgbClr val="7FD13B"/>
              </a:buClr>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descr="iStock_000003921984Medium.jpg"/>
          <p:cNvPicPr>
            <a:picLocks noChangeAspect="1"/>
          </p:cNvPicPr>
          <p:nvPr/>
        </p:nvPicPr>
        <p:blipFill>
          <a:blip r:embed="rId3" cstate="print"/>
          <a:stretch>
            <a:fillRect/>
          </a:stretch>
        </p:blipFill>
        <p:spPr>
          <a:xfrm>
            <a:off x="7119250" y="3428236"/>
            <a:ext cx="1341182" cy="2009403"/>
          </a:xfrm>
          <a:prstGeom prst="rect">
            <a:avLst/>
          </a:prstGeom>
        </p:spPr>
      </p:pic>
    </p:spTree>
    <p:extLst>
      <p:ext uri="{BB962C8B-B14F-4D97-AF65-F5344CB8AC3E}">
        <p14:creationId xmlns:p14="http://schemas.microsoft.com/office/powerpoint/2010/main" val="26346476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07293"/>
            <a:ext cx="7467600" cy="5462067"/>
          </a:xfrm>
        </p:spPr>
        <p:txBody>
          <a:bodyPr>
            <a:normAutofit/>
          </a:bodyPr>
          <a:lstStyle/>
          <a:p>
            <a:pPr marL="0" indent="0">
              <a:spcBef>
                <a:spcPts val="600"/>
              </a:spcBef>
              <a:spcAft>
                <a:spcPts val="1200"/>
              </a:spcAft>
              <a:buNone/>
            </a:pPr>
            <a:r>
              <a:rPr lang="en-AU" sz="2200" dirty="0" smtClean="0">
                <a:latin typeface="Helvetica" pitchFamily="34" charset="0"/>
              </a:rPr>
              <a:t>Monitoring the financial system:</a:t>
            </a:r>
          </a:p>
          <a:p>
            <a:pPr marL="360000" indent="-360000">
              <a:spcBef>
                <a:spcPts val="600"/>
              </a:spcBef>
              <a:spcAft>
                <a:spcPts val="1200"/>
              </a:spcAft>
              <a:buClr>
                <a:srgbClr val="7FD13B"/>
              </a:buClr>
            </a:pPr>
            <a:r>
              <a:rPr lang="en-AU" sz="2200" dirty="0" smtClean="0">
                <a:latin typeface="Helvetica" pitchFamily="34" charset="0"/>
              </a:rPr>
              <a:t>Effective and efficient operations</a:t>
            </a:r>
          </a:p>
          <a:p>
            <a:pPr marL="360000" indent="-360000">
              <a:spcBef>
                <a:spcPts val="600"/>
              </a:spcBef>
              <a:spcAft>
                <a:spcPts val="1200"/>
              </a:spcAft>
              <a:buClr>
                <a:srgbClr val="7FD13B"/>
              </a:buClr>
            </a:pPr>
            <a:r>
              <a:rPr lang="en-AU" sz="2200" dirty="0" smtClean="0">
                <a:latin typeface="Helvetica" pitchFamily="34" charset="0"/>
              </a:rPr>
              <a:t>Budgets</a:t>
            </a:r>
          </a:p>
          <a:p>
            <a:pPr marL="360000" indent="-360000">
              <a:spcBef>
                <a:spcPts val="600"/>
              </a:spcBef>
              <a:spcAft>
                <a:spcPts val="1200"/>
              </a:spcAft>
              <a:buClr>
                <a:srgbClr val="7FD13B"/>
              </a:buClr>
            </a:pPr>
            <a:r>
              <a:rPr lang="en-AU" sz="2200" dirty="0" smtClean="0">
                <a:latin typeface="Helvetica" pitchFamily="34" charset="0"/>
              </a:rPr>
              <a:t>Reports</a:t>
            </a:r>
          </a:p>
          <a:p>
            <a:pPr marL="360000" indent="-360000">
              <a:spcBef>
                <a:spcPts val="600"/>
              </a:spcBef>
              <a:spcAft>
                <a:spcPts val="1200"/>
              </a:spcAft>
              <a:buClr>
                <a:srgbClr val="7FD13B"/>
              </a:buClr>
            </a:pPr>
            <a:r>
              <a:rPr lang="en-AU" sz="2200" dirty="0" smtClean="0">
                <a:latin typeface="Helvetica" pitchFamily="34" charset="0"/>
              </a:rPr>
              <a:t>Activity</a:t>
            </a:r>
          </a:p>
          <a:p>
            <a:pPr marL="0" indent="0">
              <a:spcBef>
                <a:spcPts val="600"/>
              </a:spcBef>
              <a:spcAft>
                <a:spcPts val="1200"/>
              </a:spcAft>
              <a:buNone/>
            </a:pPr>
            <a:r>
              <a:rPr lang="en-AU" sz="2200" dirty="0" smtClean="0">
                <a:latin typeface="Helvetica" pitchFamily="34" charset="0"/>
              </a:rPr>
              <a:t>Match the operational information the budgets </a:t>
            </a:r>
            <a:br>
              <a:rPr lang="en-AU" sz="2200" dirty="0" smtClean="0">
                <a:latin typeface="Helvetica" pitchFamily="34" charset="0"/>
              </a:rPr>
            </a:br>
            <a:r>
              <a:rPr lang="en-AU" sz="2200" dirty="0" smtClean="0">
                <a:latin typeface="Helvetica" pitchFamily="34" charset="0"/>
              </a:rPr>
              <a:t>and associated reports monitor.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descr="884071_budget_cuts.jpg"/>
          <p:cNvPicPr>
            <a:picLocks noChangeAspect="1"/>
          </p:cNvPicPr>
          <p:nvPr/>
        </p:nvPicPr>
        <p:blipFill>
          <a:blip r:embed="rId3" cstate="print"/>
          <a:stretch>
            <a:fillRect/>
          </a:stretch>
        </p:blipFill>
        <p:spPr>
          <a:xfrm>
            <a:off x="6948264" y="3284984"/>
            <a:ext cx="1472952" cy="2209428"/>
          </a:xfrm>
          <a:prstGeom prst="rect">
            <a:avLst/>
          </a:prstGeom>
        </p:spPr>
      </p:pic>
    </p:spTree>
    <p:extLst>
      <p:ext uri="{BB962C8B-B14F-4D97-AF65-F5344CB8AC3E}">
        <p14:creationId xmlns:p14="http://schemas.microsoft.com/office/powerpoint/2010/main" val="25285438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525963"/>
          </a:xfrm>
        </p:spPr>
        <p:txBody>
          <a:bodyPr>
            <a:normAutofit/>
          </a:bodyPr>
          <a:lstStyle/>
          <a:p>
            <a:pPr marL="0" indent="0">
              <a:spcBef>
                <a:spcPts val="600"/>
              </a:spcBef>
              <a:spcAft>
                <a:spcPts val="1200"/>
              </a:spcAft>
              <a:buNone/>
            </a:pPr>
            <a:r>
              <a:rPr lang="en-AU" sz="2200" dirty="0" smtClean="0">
                <a:latin typeface="Helvetica" pitchFamily="34" charset="0"/>
              </a:rPr>
              <a:t>Variance analysis:</a:t>
            </a:r>
          </a:p>
          <a:p>
            <a:pPr marL="360000" indent="-360000">
              <a:spcBef>
                <a:spcPts val="600"/>
              </a:spcBef>
              <a:spcAft>
                <a:spcPts val="1200"/>
              </a:spcAft>
              <a:buClr>
                <a:srgbClr val="7FD13B"/>
              </a:buClr>
            </a:pPr>
            <a:r>
              <a:rPr lang="en-AU" sz="2200" dirty="0" smtClean="0">
                <a:latin typeface="Helvetica" pitchFamily="34" charset="0"/>
              </a:rPr>
              <a:t>Defined</a:t>
            </a:r>
          </a:p>
          <a:p>
            <a:pPr marL="360000" indent="-360000">
              <a:spcBef>
                <a:spcPts val="600"/>
              </a:spcBef>
              <a:spcAft>
                <a:spcPts val="1200"/>
              </a:spcAft>
              <a:buClr>
                <a:srgbClr val="7FD13B"/>
              </a:buClr>
            </a:pPr>
            <a:r>
              <a:rPr lang="en-AU" sz="2200" dirty="0" smtClean="0">
                <a:latin typeface="Helvetica" pitchFamily="34" charset="0"/>
              </a:rPr>
              <a:t>Favourable and unfavourable</a:t>
            </a:r>
          </a:p>
          <a:p>
            <a:pPr marL="360000" indent="-360000">
              <a:spcBef>
                <a:spcPts val="600"/>
              </a:spcBef>
              <a:spcAft>
                <a:spcPts val="1200"/>
              </a:spcAft>
              <a:buClr>
                <a:srgbClr val="7FD13B"/>
              </a:buClr>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0">
              <a:spcBef>
                <a:spcPts val="600"/>
              </a:spcBef>
              <a:spcAft>
                <a:spcPts val="1200"/>
              </a:spcAft>
              <a:buClr>
                <a:schemeClr val="accent1">
                  <a:lumMod val="75000"/>
                </a:schemeClr>
              </a:buClr>
              <a:buSzPct val="100000"/>
              <a:buNone/>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graphicFrame>
        <p:nvGraphicFramePr>
          <p:cNvPr id="6" name="Table 5"/>
          <p:cNvGraphicFramePr>
            <a:graphicFrameLocks noGrp="1"/>
          </p:cNvGraphicFramePr>
          <p:nvPr/>
        </p:nvGraphicFramePr>
        <p:xfrm>
          <a:off x="539552" y="2996952"/>
          <a:ext cx="7272807" cy="2088231"/>
        </p:xfrm>
        <a:graphic>
          <a:graphicData uri="http://schemas.openxmlformats.org/drawingml/2006/table">
            <a:tbl>
              <a:tblPr firstRow="1" bandRow="1">
                <a:tableStyleId>{21E4AEA4-8DFA-4A89-87EB-49C32662AFE0}</a:tableStyleId>
              </a:tblPr>
              <a:tblGrid>
                <a:gridCol w="2424269"/>
                <a:gridCol w="2424269"/>
                <a:gridCol w="2424269"/>
              </a:tblGrid>
              <a:tr h="469049">
                <a:tc>
                  <a:txBody>
                    <a:bodyPr/>
                    <a:lstStyle/>
                    <a:p>
                      <a:endParaRPr lang="en-AU" dirty="0">
                        <a:latin typeface="Helvetica" pitchFamily="34" charset="0"/>
                      </a:endParaRPr>
                    </a:p>
                  </a:txBody>
                  <a:tcPr/>
                </a:tc>
                <a:tc>
                  <a:txBody>
                    <a:bodyPr/>
                    <a:lstStyle/>
                    <a:p>
                      <a:r>
                        <a:rPr lang="en-AU" dirty="0" smtClean="0">
                          <a:latin typeface="Helvetica" pitchFamily="34" charset="0"/>
                        </a:rPr>
                        <a:t>Actual over</a:t>
                      </a:r>
                      <a:r>
                        <a:rPr lang="en-AU" baseline="0" dirty="0" smtClean="0">
                          <a:latin typeface="Helvetica" pitchFamily="34" charset="0"/>
                        </a:rPr>
                        <a:t> budget</a:t>
                      </a:r>
                      <a:endParaRPr lang="en-AU" dirty="0">
                        <a:latin typeface="Helvetica" pitchFamily="34" charset="0"/>
                      </a:endParaRPr>
                    </a:p>
                  </a:txBody>
                  <a:tcPr/>
                </a:tc>
                <a:tc>
                  <a:txBody>
                    <a:bodyPr/>
                    <a:lstStyle/>
                    <a:p>
                      <a:r>
                        <a:rPr lang="en-AU" dirty="0" smtClean="0">
                          <a:latin typeface="Helvetica" pitchFamily="34" charset="0"/>
                        </a:rPr>
                        <a:t>Actual under budget</a:t>
                      </a:r>
                      <a:endParaRPr lang="en-AU" dirty="0">
                        <a:latin typeface="Helvetica" pitchFamily="34" charset="0"/>
                      </a:endParaRPr>
                    </a:p>
                  </a:txBody>
                  <a:tcPr/>
                </a:tc>
              </a:tr>
              <a:tr h="809591">
                <a:tc>
                  <a:txBody>
                    <a:bodyPr/>
                    <a:lstStyle/>
                    <a:p>
                      <a:r>
                        <a:rPr lang="en-AU" dirty="0" smtClean="0">
                          <a:latin typeface="Helvetica" pitchFamily="34" charset="0"/>
                        </a:rPr>
                        <a:t>Sales and profit</a:t>
                      </a:r>
                      <a:endParaRPr lang="en-AU" dirty="0">
                        <a:latin typeface="Helvetica" pitchFamily="34" charset="0"/>
                      </a:endParaRPr>
                    </a:p>
                  </a:txBody>
                  <a:tcPr/>
                </a:tc>
                <a:tc>
                  <a:txBody>
                    <a:bodyPr/>
                    <a:lstStyle/>
                    <a:p>
                      <a:r>
                        <a:rPr lang="en-AU" dirty="0" smtClean="0">
                          <a:latin typeface="Helvetica" pitchFamily="34" charset="0"/>
                        </a:rPr>
                        <a:t>Improve</a:t>
                      </a:r>
                      <a:r>
                        <a:rPr lang="en-AU" baseline="0" dirty="0" smtClean="0">
                          <a:latin typeface="Helvetica" pitchFamily="34" charset="0"/>
                        </a:rPr>
                        <a:t> profit </a:t>
                      </a:r>
                    </a:p>
                    <a:p>
                      <a:r>
                        <a:rPr lang="en-AU" baseline="0" dirty="0" smtClean="0">
                          <a:latin typeface="Helvetica" pitchFamily="34" charset="0"/>
                        </a:rPr>
                        <a:t>Favourable</a:t>
                      </a:r>
                      <a:endParaRPr lang="en-AU" dirty="0">
                        <a:latin typeface="Helvetica" pitchFamily="34" charset="0"/>
                      </a:endParaRPr>
                    </a:p>
                  </a:txBody>
                  <a:tcPr/>
                </a:tc>
                <a:tc>
                  <a:txBody>
                    <a:bodyPr/>
                    <a:lstStyle/>
                    <a:p>
                      <a:r>
                        <a:rPr lang="en-AU" dirty="0" smtClean="0">
                          <a:latin typeface="Helvetica" pitchFamily="34" charset="0"/>
                        </a:rPr>
                        <a:t>Reduce profit</a:t>
                      </a:r>
                    </a:p>
                    <a:p>
                      <a:r>
                        <a:rPr lang="en-AU" dirty="0" smtClean="0">
                          <a:latin typeface="Helvetica" pitchFamily="34" charset="0"/>
                        </a:rPr>
                        <a:t>Unfavourable</a:t>
                      </a:r>
                      <a:endParaRPr lang="en-AU" dirty="0">
                        <a:latin typeface="Helvetica" pitchFamily="34" charset="0"/>
                      </a:endParaRPr>
                    </a:p>
                  </a:txBody>
                  <a:tcPr/>
                </a:tc>
              </a:tr>
              <a:tr h="809591">
                <a:tc>
                  <a:txBody>
                    <a:bodyPr/>
                    <a:lstStyle/>
                    <a:p>
                      <a:r>
                        <a:rPr lang="en-AU" dirty="0" smtClean="0">
                          <a:latin typeface="Helvetica" pitchFamily="34" charset="0"/>
                        </a:rPr>
                        <a:t>Expenses</a:t>
                      </a:r>
                      <a:endParaRPr lang="en-AU" dirty="0">
                        <a:latin typeface="Helvetica" pitchFamily="34" charset="0"/>
                      </a:endParaRPr>
                    </a:p>
                  </a:txBody>
                  <a:tcPr/>
                </a:tc>
                <a:tc>
                  <a:txBody>
                    <a:bodyPr/>
                    <a:lstStyle/>
                    <a:p>
                      <a:r>
                        <a:rPr lang="en-AU" dirty="0" smtClean="0">
                          <a:latin typeface="Helvetica" pitchFamily="34" charset="0"/>
                        </a:rPr>
                        <a:t>Reduce profit</a:t>
                      </a:r>
                    </a:p>
                    <a:p>
                      <a:r>
                        <a:rPr lang="en-AU" dirty="0" smtClean="0">
                          <a:latin typeface="Helvetica" pitchFamily="34" charset="0"/>
                        </a:rPr>
                        <a:t>Unfavourable</a:t>
                      </a:r>
                      <a:endParaRPr lang="en-AU" dirty="0">
                        <a:latin typeface="Helvetica" pitchFamily="34" charset="0"/>
                      </a:endParaRPr>
                    </a:p>
                  </a:txBody>
                  <a:tcPr/>
                </a:tc>
                <a:tc>
                  <a:txBody>
                    <a:bodyPr/>
                    <a:lstStyle/>
                    <a:p>
                      <a:r>
                        <a:rPr lang="en-AU" dirty="0" smtClean="0">
                          <a:latin typeface="Helvetica" pitchFamily="34" charset="0"/>
                        </a:rPr>
                        <a:t>Improve</a:t>
                      </a:r>
                      <a:r>
                        <a:rPr lang="en-AU" baseline="0" dirty="0" smtClean="0">
                          <a:latin typeface="Helvetica" pitchFamily="34" charset="0"/>
                        </a:rPr>
                        <a:t> profit</a:t>
                      </a:r>
                    </a:p>
                    <a:p>
                      <a:r>
                        <a:rPr lang="en-AU" baseline="0" dirty="0" smtClean="0">
                          <a:latin typeface="Helvetica" pitchFamily="34" charset="0"/>
                        </a:rPr>
                        <a:t>Favourable</a:t>
                      </a:r>
                      <a:endParaRPr lang="en-AU" dirty="0">
                        <a:latin typeface="Helvetica" pitchFamily="34" charset="0"/>
                      </a:endParaRPr>
                    </a:p>
                  </a:txBody>
                  <a:tcPr/>
                </a:tc>
              </a:tr>
            </a:tbl>
          </a:graphicData>
        </a:graphic>
      </p:graphicFrame>
    </p:spTree>
    <p:extLst>
      <p:ext uri="{BB962C8B-B14F-4D97-AF65-F5344CB8AC3E}">
        <p14:creationId xmlns:p14="http://schemas.microsoft.com/office/powerpoint/2010/main" val="31711929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marL="0" indent="0">
              <a:spcBef>
                <a:spcPts val="600"/>
              </a:spcBef>
              <a:spcAft>
                <a:spcPts val="1200"/>
              </a:spcAft>
              <a:buNone/>
            </a:pPr>
            <a:r>
              <a:rPr lang="en-AU" sz="2200" dirty="0" smtClean="0">
                <a:latin typeface="Helvetica" pitchFamily="34" charset="0"/>
              </a:rPr>
              <a:t>Variance analysis:</a:t>
            </a:r>
          </a:p>
          <a:p>
            <a:pPr marL="360000" indent="-360000">
              <a:spcBef>
                <a:spcPts val="600"/>
              </a:spcBef>
              <a:spcAft>
                <a:spcPts val="1200"/>
              </a:spcAft>
              <a:buClr>
                <a:srgbClr val="7FD13B"/>
              </a:buClr>
            </a:pPr>
            <a:r>
              <a:rPr lang="en-AU" sz="2200" dirty="0" smtClean="0">
                <a:latin typeface="Helvetica" pitchFamily="34" charset="0"/>
              </a:rPr>
              <a:t>Five steps: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Compare actual and budget results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Identify significant variances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Determine reason for variance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Take necessary corrective action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Report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descr="MP900442559.JPG"/>
          <p:cNvPicPr>
            <a:picLocks noChangeAspect="1"/>
          </p:cNvPicPr>
          <p:nvPr/>
        </p:nvPicPr>
        <p:blipFill>
          <a:blip r:embed="rId3" cstate="print"/>
          <a:stretch>
            <a:fillRect/>
          </a:stretch>
        </p:blipFill>
        <p:spPr>
          <a:xfrm>
            <a:off x="7164288" y="3573016"/>
            <a:ext cx="1296144" cy="1814602"/>
          </a:xfrm>
          <a:prstGeom prst="rect">
            <a:avLst/>
          </a:prstGeom>
        </p:spPr>
      </p:pic>
    </p:spTree>
    <p:extLst>
      <p:ext uri="{BB962C8B-B14F-4D97-AF65-F5344CB8AC3E}">
        <p14:creationId xmlns:p14="http://schemas.microsoft.com/office/powerpoint/2010/main" val="261815743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marL="0" indent="0">
              <a:spcBef>
                <a:spcPts val="600"/>
              </a:spcBef>
              <a:spcAft>
                <a:spcPts val="1200"/>
              </a:spcAft>
              <a:buNone/>
            </a:pPr>
            <a:r>
              <a:rPr lang="en-AU" sz="2200" dirty="0" smtClean="0">
                <a:latin typeface="Helvetica" pitchFamily="34" charset="0"/>
              </a:rPr>
              <a:t>Variance analysis:</a:t>
            </a:r>
          </a:p>
          <a:p>
            <a:pPr marL="360000" indent="-360000">
              <a:spcBef>
                <a:spcPts val="600"/>
              </a:spcBef>
              <a:spcAft>
                <a:spcPts val="1200"/>
              </a:spcAft>
              <a:buClr>
                <a:srgbClr val="7FD13B"/>
              </a:buClr>
            </a:pPr>
            <a:r>
              <a:rPr lang="en-AU" sz="2200" dirty="0" smtClean="0">
                <a:latin typeface="Helvetica" pitchFamily="34" charset="0"/>
              </a:rPr>
              <a:t>Determine reason for variance: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Price and volume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Cost and quantity</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Watch for counter-balances</a:t>
            </a:r>
          </a:p>
          <a:p>
            <a:pPr marL="360000" indent="-360000">
              <a:spcBef>
                <a:spcPts val="600"/>
              </a:spcBef>
              <a:spcAft>
                <a:spcPts val="1200"/>
              </a:spcAft>
              <a:buClr>
                <a:srgbClr val="7FD13B"/>
              </a:buClr>
            </a:pPr>
            <a:r>
              <a:rPr lang="en-AU" sz="2200" dirty="0" smtClean="0">
                <a:latin typeface="Helvetica" pitchFamily="34" charset="0"/>
              </a:rPr>
              <a:t>Corrective action: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Internal controls</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0">
              <a:spcBef>
                <a:spcPts val="600"/>
              </a:spcBef>
              <a:spcAft>
                <a:spcPts val="1200"/>
              </a:spcAft>
              <a:buClr>
                <a:schemeClr val="accent1">
                  <a:lumMod val="75000"/>
                </a:schemeClr>
              </a:buClr>
              <a:buSzPct val="100000"/>
              <a:buNone/>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descr="MP900442559.JPG"/>
          <p:cNvPicPr>
            <a:picLocks noChangeAspect="1"/>
          </p:cNvPicPr>
          <p:nvPr/>
        </p:nvPicPr>
        <p:blipFill>
          <a:blip r:embed="rId3" cstate="print"/>
          <a:stretch>
            <a:fillRect/>
          </a:stretch>
        </p:blipFill>
        <p:spPr>
          <a:xfrm>
            <a:off x="6307660" y="4077072"/>
            <a:ext cx="2152772" cy="1435899"/>
          </a:xfrm>
          <a:prstGeom prst="rect">
            <a:avLst/>
          </a:prstGeom>
        </p:spPr>
      </p:pic>
    </p:spTree>
    <p:extLst>
      <p:ext uri="{BB962C8B-B14F-4D97-AF65-F5344CB8AC3E}">
        <p14:creationId xmlns:p14="http://schemas.microsoft.com/office/powerpoint/2010/main" val="69041267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792088"/>
          </a:xfrm>
        </p:spPr>
        <p:txBody>
          <a:bodyPr>
            <a:normAutofit/>
          </a:bodyPr>
          <a:lstStyle/>
          <a:p>
            <a:r>
              <a:rPr lang="en-US" sz="3400" b="1" dirty="0" smtClean="0">
                <a:solidFill>
                  <a:srgbClr val="FF6600"/>
                </a:solidFill>
                <a:latin typeface="Helvetica" pitchFamily="34" charset="0"/>
              </a:rPr>
              <a:t>Monitoring the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980728"/>
            <a:ext cx="7467600" cy="5328592"/>
          </a:xfrm>
        </p:spPr>
        <p:txBody>
          <a:bodyPr>
            <a:normAutofit/>
          </a:bodyPr>
          <a:lstStyle/>
          <a:p>
            <a:pPr marL="0" indent="0">
              <a:spcBef>
                <a:spcPts val="600"/>
              </a:spcBef>
              <a:spcAft>
                <a:spcPts val="1200"/>
              </a:spcAft>
              <a:buNone/>
            </a:pPr>
            <a:r>
              <a:rPr lang="en-US" sz="2200" dirty="0" smtClean="0">
                <a:latin typeface="Helvetica" pitchFamily="34" charset="0"/>
              </a:rPr>
              <a:t>Horizontal analysis:</a:t>
            </a:r>
          </a:p>
          <a:p>
            <a:pPr marL="360000" indent="-360000">
              <a:spcBef>
                <a:spcPts val="600"/>
              </a:spcBef>
              <a:spcAft>
                <a:spcPts val="1200"/>
              </a:spcAft>
              <a:buClr>
                <a:srgbClr val="7FD13B"/>
              </a:buClr>
            </a:pPr>
            <a:r>
              <a:rPr lang="en-US" sz="2200" dirty="0" smtClean="0">
                <a:latin typeface="Helvetica" pitchFamily="34" charset="0"/>
              </a:rPr>
              <a:t>Actual results and budgeted numbers for EACH line item in financial data is compared</a:t>
            </a:r>
          </a:p>
          <a:p>
            <a:pPr marL="360000" indent="-360000">
              <a:spcBef>
                <a:spcPts val="600"/>
              </a:spcBef>
              <a:spcAft>
                <a:spcPts val="1200"/>
              </a:spcAft>
              <a:buClr>
                <a:srgbClr val="7FD13B"/>
              </a:buClr>
            </a:pPr>
            <a:r>
              <a:rPr lang="en-US" sz="2200" dirty="0" smtClean="0">
                <a:latin typeface="Helvetica" pitchFamily="34" charset="0"/>
              </a:rPr>
              <a:t>Actual results and budgeted numbers for EACH line item in financial data is compared</a:t>
            </a:r>
          </a:p>
          <a:p>
            <a:pPr marL="360000" indent="-360000">
              <a:spcBef>
                <a:spcPts val="600"/>
              </a:spcBef>
              <a:spcAft>
                <a:spcPts val="1200"/>
              </a:spcAft>
              <a:buClr>
                <a:srgbClr val="7FD13B"/>
              </a:buClr>
            </a:pPr>
            <a:r>
              <a:rPr lang="en-US" sz="2200" dirty="0" smtClean="0">
                <a:latin typeface="Helvetica" pitchFamily="34" charset="0"/>
              </a:rPr>
              <a:t>Actual minus budget = Variance in monetary unit</a:t>
            </a:r>
          </a:p>
          <a:p>
            <a:pPr marL="720000" indent="-360000">
              <a:spcBef>
                <a:spcPts val="600"/>
              </a:spcBef>
              <a:spcAft>
                <a:spcPts val="1200"/>
              </a:spcAft>
              <a:buClr>
                <a:schemeClr val="accent1">
                  <a:lumMod val="75000"/>
                </a:schemeClr>
              </a:buClr>
              <a:buSzPct val="100000"/>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68570147"/>
              </p:ext>
            </p:extLst>
          </p:nvPr>
        </p:nvGraphicFramePr>
        <p:xfrm>
          <a:off x="467544" y="4023361"/>
          <a:ext cx="7560841" cy="1493871"/>
        </p:xfrm>
        <a:graphic>
          <a:graphicData uri="http://schemas.openxmlformats.org/drawingml/2006/table">
            <a:tbl>
              <a:tblPr firstRow="1" bandRow="1">
                <a:tableStyleId>{5C22544A-7EE6-4342-B048-85BDC9FD1C3A}</a:tableStyleId>
              </a:tblPr>
              <a:tblGrid>
                <a:gridCol w="1614113"/>
                <a:gridCol w="1189346"/>
                <a:gridCol w="1444206"/>
                <a:gridCol w="1529159"/>
                <a:gridCol w="1784017"/>
              </a:tblGrid>
              <a:tr h="525408">
                <a:tc>
                  <a:txBody>
                    <a:bodyPr/>
                    <a:lstStyle/>
                    <a:p>
                      <a:r>
                        <a:rPr lang="en-AU" sz="1600" dirty="0" smtClean="0">
                          <a:latin typeface="Helvetica" pitchFamily="34" charset="0"/>
                          <a:cs typeface="Helvetica" pitchFamily="34" charset="0"/>
                        </a:rPr>
                        <a:t>Line</a:t>
                      </a:r>
                      <a:r>
                        <a:rPr lang="en-AU" sz="1600" baseline="0" dirty="0" smtClean="0">
                          <a:latin typeface="Helvetica" pitchFamily="34" charset="0"/>
                          <a:cs typeface="Helvetica" pitchFamily="34" charset="0"/>
                        </a:rPr>
                        <a:t> item</a:t>
                      </a:r>
                      <a:endParaRPr lang="en-AU" sz="1600" dirty="0">
                        <a:latin typeface="Helvetica" pitchFamily="34" charset="0"/>
                        <a:cs typeface="Helvetica" pitchFamily="34" charset="0"/>
                      </a:endParaRPr>
                    </a:p>
                  </a:txBody>
                  <a:tcPr/>
                </a:tc>
                <a:tc>
                  <a:txBody>
                    <a:bodyPr/>
                    <a:lstStyle/>
                    <a:p>
                      <a:pPr algn="r"/>
                      <a:r>
                        <a:rPr lang="en-AU" sz="1600" dirty="0" smtClean="0">
                          <a:latin typeface="Helvetica" pitchFamily="34" charset="0"/>
                          <a:cs typeface="Helvetica" pitchFamily="34" charset="0"/>
                        </a:rPr>
                        <a:t>Budget</a:t>
                      </a:r>
                      <a:endParaRPr lang="en-AU" sz="1600" dirty="0">
                        <a:latin typeface="Helvetica" pitchFamily="34" charset="0"/>
                        <a:cs typeface="Helvetica" pitchFamily="34" charset="0"/>
                      </a:endParaRPr>
                    </a:p>
                  </a:txBody>
                  <a:tcPr/>
                </a:tc>
                <a:tc>
                  <a:txBody>
                    <a:bodyPr/>
                    <a:lstStyle/>
                    <a:p>
                      <a:pPr algn="r"/>
                      <a:r>
                        <a:rPr lang="en-AU" sz="1600" dirty="0" smtClean="0">
                          <a:latin typeface="Helvetica" pitchFamily="34" charset="0"/>
                          <a:cs typeface="Helvetica" pitchFamily="34" charset="0"/>
                        </a:rPr>
                        <a:t>Actual</a:t>
                      </a:r>
                      <a:endParaRPr lang="en-AU" sz="1600" dirty="0">
                        <a:latin typeface="Helvetica" pitchFamily="34" charset="0"/>
                        <a:cs typeface="Helvetica" pitchFamily="34" charset="0"/>
                      </a:endParaRPr>
                    </a:p>
                  </a:txBody>
                  <a:tcPr/>
                </a:tc>
                <a:tc>
                  <a:txBody>
                    <a:bodyPr/>
                    <a:lstStyle/>
                    <a:p>
                      <a:pPr algn="r"/>
                      <a:r>
                        <a:rPr lang="en-AU" sz="1600" dirty="0" smtClean="0">
                          <a:latin typeface="Helvetica" pitchFamily="34" charset="0"/>
                          <a:cs typeface="Helvetica" pitchFamily="34" charset="0"/>
                        </a:rPr>
                        <a:t>Variance</a:t>
                      </a:r>
                      <a:endParaRPr lang="en-AU" sz="1600" dirty="0">
                        <a:latin typeface="Helvetica" pitchFamily="34" charset="0"/>
                        <a:cs typeface="Helvetica" pitchFamily="34" charset="0"/>
                      </a:endParaRPr>
                    </a:p>
                  </a:txBody>
                  <a:tcPr/>
                </a:tc>
                <a:tc>
                  <a:txBody>
                    <a:bodyPr/>
                    <a:lstStyle/>
                    <a:p>
                      <a:pPr algn="r"/>
                      <a:r>
                        <a:rPr lang="en-AU" sz="1600" dirty="0" smtClean="0">
                          <a:latin typeface="Helvetica" pitchFamily="34" charset="0"/>
                          <a:cs typeface="Helvetica" pitchFamily="34" charset="0"/>
                        </a:rPr>
                        <a:t>Favourable</a:t>
                      </a:r>
                      <a:r>
                        <a:rPr lang="en-AU" sz="1600" baseline="0" dirty="0" smtClean="0">
                          <a:latin typeface="Helvetica" pitchFamily="34" charset="0"/>
                          <a:cs typeface="Helvetica" pitchFamily="34" charset="0"/>
                        </a:rPr>
                        <a:t> </a:t>
                      </a:r>
                    </a:p>
                    <a:p>
                      <a:pPr algn="r"/>
                      <a:r>
                        <a:rPr lang="en-AU" sz="1600" baseline="0" dirty="0" smtClean="0">
                          <a:latin typeface="Helvetica" pitchFamily="34" charset="0"/>
                          <a:cs typeface="Helvetica" pitchFamily="34" charset="0"/>
                        </a:rPr>
                        <a:t>Unfavourable</a:t>
                      </a:r>
                      <a:endParaRPr lang="en-AU" sz="1600" dirty="0">
                        <a:latin typeface="Helvetica" pitchFamily="34" charset="0"/>
                        <a:cs typeface="Helvetica" pitchFamily="34" charset="0"/>
                      </a:endParaRPr>
                    </a:p>
                  </a:txBody>
                  <a:tcPr/>
                </a:tc>
              </a:tr>
              <a:tr h="454306">
                <a:tc>
                  <a:txBody>
                    <a:bodyPr/>
                    <a:lstStyle/>
                    <a:p>
                      <a:r>
                        <a:rPr lang="en-AU" sz="1600" dirty="0" smtClean="0">
                          <a:latin typeface="Helvetica" pitchFamily="34" charset="0"/>
                          <a:cs typeface="Helvetica" pitchFamily="34" charset="0"/>
                        </a:rPr>
                        <a:t>Sales</a:t>
                      </a:r>
                      <a:endParaRPr lang="en-AU" sz="1600" dirty="0">
                        <a:latin typeface="Helvetica" pitchFamily="34" charset="0"/>
                        <a:cs typeface="Helvetica" pitchFamily="34" charset="0"/>
                      </a:endParaRPr>
                    </a:p>
                  </a:txBody>
                  <a:tcPr/>
                </a:tc>
                <a:tc>
                  <a:txBody>
                    <a:bodyPr/>
                    <a:lstStyle/>
                    <a:p>
                      <a:pPr algn="r"/>
                      <a:r>
                        <a:rPr lang="en-AU" sz="1600" dirty="0" smtClean="0">
                          <a:latin typeface="Helvetica" pitchFamily="34" charset="0"/>
                          <a:cs typeface="Helvetica" pitchFamily="34" charset="0"/>
                        </a:rPr>
                        <a:t>56,000</a:t>
                      </a:r>
                      <a:endParaRPr lang="en-AU" sz="1600" dirty="0">
                        <a:latin typeface="Helvetica" pitchFamily="34" charset="0"/>
                        <a:cs typeface="Helvetica" pitchFamily="34" charset="0"/>
                      </a:endParaRPr>
                    </a:p>
                  </a:txBody>
                  <a:tcPr/>
                </a:tc>
                <a:tc>
                  <a:txBody>
                    <a:bodyPr/>
                    <a:lstStyle/>
                    <a:p>
                      <a:pPr algn="r"/>
                      <a:r>
                        <a:rPr lang="en-AU" sz="1600" dirty="0" smtClean="0">
                          <a:latin typeface="Helvetica" pitchFamily="34" charset="0"/>
                          <a:cs typeface="Helvetica" pitchFamily="34" charset="0"/>
                        </a:rPr>
                        <a:t>58,200</a:t>
                      </a:r>
                      <a:endParaRPr lang="en-AU" sz="1600" dirty="0">
                        <a:latin typeface="Helvetica" pitchFamily="34" charset="0"/>
                        <a:cs typeface="Helvetica" pitchFamily="34" charset="0"/>
                      </a:endParaRPr>
                    </a:p>
                  </a:txBody>
                  <a:tcPr/>
                </a:tc>
                <a:tc>
                  <a:txBody>
                    <a:bodyPr/>
                    <a:lstStyle/>
                    <a:p>
                      <a:pPr algn="r"/>
                      <a:r>
                        <a:rPr lang="en-AU" sz="1600" dirty="0" smtClean="0">
                          <a:latin typeface="Helvetica" pitchFamily="34" charset="0"/>
                          <a:cs typeface="Helvetica" pitchFamily="34" charset="0"/>
                        </a:rPr>
                        <a:t>2,200</a:t>
                      </a:r>
                      <a:endParaRPr lang="en-AU" sz="1600" dirty="0">
                        <a:latin typeface="Helvetica" pitchFamily="34" charset="0"/>
                        <a:cs typeface="Helvetica" pitchFamily="34" charset="0"/>
                      </a:endParaRPr>
                    </a:p>
                  </a:txBody>
                  <a:tcPr/>
                </a:tc>
                <a:tc>
                  <a:txBody>
                    <a:bodyPr/>
                    <a:lstStyle/>
                    <a:p>
                      <a:pPr algn="r"/>
                      <a:r>
                        <a:rPr lang="en-AU" sz="1600" dirty="0" smtClean="0">
                          <a:latin typeface="Helvetica" pitchFamily="34" charset="0"/>
                          <a:cs typeface="Helvetica" pitchFamily="34" charset="0"/>
                        </a:rPr>
                        <a:t>Favourable</a:t>
                      </a:r>
                      <a:endParaRPr lang="en-AU" sz="1600" dirty="0">
                        <a:latin typeface="Helvetica" pitchFamily="34" charset="0"/>
                        <a:cs typeface="Helvetica" pitchFamily="34" charset="0"/>
                      </a:endParaRPr>
                    </a:p>
                  </a:txBody>
                  <a:tcPr/>
                </a:tc>
              </a:tr>
              <a:tr h="460445">
                <a:tc>
                  <a:txBody>
                    <a:bodyPr/>
                    <a:lstStyle/>
                    <a:p>
                      <a:r>
                        <a:rPr lang="en-AU" sz="1600" dirty="0" smtClean="0">
                          <a:latin typeface="Helvetica" pitchFamily="34" charset="0"/>
                          <a:cs typeface="Helvetica" pitchFamily="34" charset="0"/>
                        </a:rPr>
                        <a:t>Wages</a:t>
                      </a:r>
                      <a:endParaRPr lang="en-AU" sz="1600" dirty="0">
                        <a:latin typeface="Helvetica" pitchFamily="34" charset="0"/>
                        <a:cs typeface="Helvetica" pitchFamily="34" charset="0"/>
                      </a:endParaRPr>
                    </a:p>
                  </a:txBody>
                  <a:tcPr/>
                </a:tc>
                <a:tc>
                  <a:txBody>
                    <a:bodyPr/>
                    <a:lstStyle/>
                    <a:p>
                      <a:pPr algn="r"/>
                      <a:r>
                        <a:rPr lang="en-AU" sz="1600" dirty="0" smtClean="0">
                          <a:latin typeface="Helvetica" pitchFamily="34" charset="0"/>
                          <a:cs typeface="Helvetica" pitchFamily="34" charset="0"/>
                        </a:rPr>
                        <a:t>16,800</a:t>
                      </a:r>
                      <a:endParaRPr lang="en-AU" sz="1600" dirty="0">
                        <a:latin typeface="Helvetica" pitchFamily="34" charset="0"/>
                        <a:cs typeface="Helvetica" pitchFamily="34" charset="0"/>
                      </a:endParaRPr>
                    </a:p>
                  </a:txBody>
                  <a:tcPr/>
                </a:tc>
                <a:tc>
                  <a:txBody>
                    <a:bodyPr/>
                    <a:lstStyle/>
                    <a:p>
                      <a:pPr algn="r"/>
                      <a:r>
                        <a:rPr lang="en-AU" sz="1600" dirty="0" smtClean="0">
                          <a:latin typeface="Helvetica" pitchFamily="34" charset="0"/>
                          <a:cs typeface="Helvetica" pitchFamily="34" charset="0"/>
                        </a:rPr>
                        <a:t>18,900</a:t>
                      </a:r>
                      <a:endParaRPr lang="en-AU" sz="1600" dirty="0">
                        <a:latin typeface="Helvetica" pitchFamily="34" charset="0"/>
                        <a:cs typeface="Helvetica" pitchFamily="34" charset="0"/>
                      </a:endParaRPr>
                    </a:p>
                  </a:txBody>
                  <a:tcPr/>
                </a:tc>
                <a:tc>
                  <a:txBody>
                    <a:bodyPr/>
                    <a:lstStyle/>
                    <a:p>
                      <a:pPr algn="r"/>
                      <a:r>
                        <a:rPr lang="en-AU" sz="1600" dirty="0" smtClean="0">
                          <a:latin typeface="Helvetica" pitchFamily="34" charset="0"/>
                          <a:cs typeface="Helvetica" pitchFamily="34" charset="0"/>
                        </a:rPr>
                        <a:t>2,100</a:t>
                      </a:r>
                      <a:endParaRPr lang="en-AU" sz="1600" dirty="0">
                        <a:latin typeface="Helvetica" pitchFamily="34" charset="0"/>
                        <a:cs typeface="Helvetica" pitchFamily="34" charset="0"/>
                      </a:endParaRPr>
                    </a:p>
                  </a:txBody>
                  <a:tcPr/>
                </a:tc>
                <a:tc>
                  <a:txBody>
                    <a:bodyPr/>
                    <a:lstStyle/>
                    <a:p>
                      <a:pPr algn="r"/>
                      <a:r>
                        <a:rPr lang="en-AU" sz="1600" dirty="0" smtClean="0">
                          <a:latin typeface="Helvetica" pitchFamily="34" charset="0"/>
                          <a:cs typeface="Helvetica" pitchFamily="34" charset="0"/>
                        </a:rPr>
                        <a:t>Unfavourable</a:t>
                      </a:r>
                      <a:endParaRPr lang="en-AU" sz="1600" dirty="0">
                        <a:latin typeface="Helvetica" pitchFamily="34" charset="0"/>
                        <a:cs typeface="Helvetica" pitchFamily="34" charset="0"/>
                      </a:endParaRPr>
                    </a:p>
                  </a:txBody>
                  <a:tcPr/>
                </a:tc>
              </a:tr>
            </a:tbl>
          </a:graphicData>
        </a:graphic>
      </p:graphicFrame>
    </p:spTree>
    <p:extLst>
      <p:ext uri="{BB962C8B-B14F-4D97-AF65-F5344CB8AC3E}">
        <p14:creationId xmlns:p14="http://schemas.microsoft.com/office/powerpoint/2010/main" val="407113440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Autofit/>
          </a:bodyPr>
          <a:lstStyle/>
          <a:p>
            <a:pPr marL="0" indent="0">
              <a:spcBef>
                <a:spcPts val="600"/>
              </a:spcBef>
              <a:spcAft>
                <a:spcPts val="1200"/>
              </a:spcAft>
              <a:buNone/>
            </a:pPr>
            <a:r>
              <a:rPr lang="en-AU" sz="2200" dirty="0" smtClean="0">
                <a:latin typeface="Helvetica" pitchFamily="34" charset="0"/>
              </a:rPr>
              <a:t>Variance analysis:</a:t>
            </a: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36576" indent="0">
              <a:buNone/>
            </a:pPr>
            <a:endParaRPr lang="en-AU" sz="2200" dirty="0" smtClean="0">
              <a:latin typeface="Helvetica" pitchFamily="34" charset="0"/>
            </a:endParaRPr>
          </a:p>
          <a:p>
            <a:pPr marL="36576" indent="0">
              <a:buNone/>
            </a:pPr>
            <a:r>
              <a:rPr lang="en-AU" sz="2200" dirty="0" smtClean="0">
                <a:latin typeface="Helvetica" pitchFamily="34" charset="0"/>
              </a:rPr>
              <a:t>Reasons:</a:t>
            </a:r>
          </a:p>
          <a:p>
            <a:pPr marL="36576" indent="0">
              <a:buNone/>
              <a:tabLst>
                <a:tab pos="2870200" algn="l"/>
                <a:tab pos="3232150" algn="l"/>
                <a:tab pos="5561013" algn="l"/>
              </a:tabLst>
            </a:pPr>
            <a:r>
              <a:rPr lang="en-AU" sz="2200" dirty="0" smtClean="0">
                <a:latin typeface="Helvetica" pitchFamily="34" charset="0"/>
              </a:rPr>
              <a:t>Actual: 4,100 hours	@	$7.80 per hour =	$31,980</a:t>
            </a:r>
          </a:p>
          <a:p>
            <a:pPr marL="36576" indent="0">
              <a:buNone/>
              <a:tabLst>
                <a:tab pos="2870200" algn="l"/>
                <a:tab pos="3232150" algn="l"/>
                <a:tab pos="5561013" algn="l"/>
              </a:tabLst>
            </a:pPr>
            <a:r>
              <a:rPr lang="en-AU" sz="2200" dirty="0" smtClean="0">
                <a:latin typeface="Helvetica" pitchFamily="34" charset="0"/>
              </a:rPr>
              <a:t>Budget: 4,350 hours	@	$7.50 per hour =	$32,625</a:t>
            </a:r>
          </a:p>
          <a:p>
            <a:pPr marL="5561013" indent="-5524500">
              <a:buNone/>
            </a:pPr>
            <a:r>
              <a:rPr lang="en-AU" sz="2200" dirty="0" smtClean="0">
                <a:latin typeface="Helvetica" pitchFamily="34" charset="0"/>
              </a:rPr>
              <a:t>Variance (favourable)	$645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graphicFrame>
        <p:nvGraphicFramePr>
          <p:cNvPr id="6" name="Table 5"/>
          <p:cNvGraphicFramePr>
            <a:graphicFrameLocks noGrp="1"/>
          </p:cNvGraphicFramePr>
          <p:nvPr/>
        </p:nvGraphicFramePr>
        <p:xfrm>
          <a:off x="683568" y="1889512"/>
          <a:ext cx="6912768" cy="1107440"/>
        </p:xfrm>
        <a:graphic>
          <a:graphicData uri="http://schemas.openxmlformats.org/drawingml/2006/table">
            <a:tbl>
              <a:tblPr firstRow="1" bandRow="1">
                <a:tableStyleId>{00A15C55-8517-42AA-B614-E9B94910E393}</a:tableStyleId>
              </a:tblPr>
              <a:tblGrid>
                <a:gridCol w="1437308"/>
                <a:gridCol w="1711081"/>
                <a:gridCol w="1642638"/>
                <a:gridCol w="2121741"/>
              </a:tblGrid>
              <a:tr h="360040">
                <a:tc gridSpan="4">
                  <a:txBody>
                    <a:bodyPr/>
                    <a:lstStyle/>
                    <a:p>
                      <a:r>
                        <a:rPr lang="en-AU" dirty="0" smtClean="0"/>
                        <a:t>Housekeeping payroll</a:t>
                      </a:r>
                      <a:r>
                        <a:rPr lang="en-AU" baseline="0" dirty="0" smtClean="0"/>
                        <a:t> expense</a:t>
                      </a:r>
                      <a:endParaRPr lang="en-AU" dirty="0">
                        <a:latin typeface="Helvetica" pitchFamily="34" charset="0"/>
                      </a:endParaRPr>
                    </a:p>
                  </a:txBody>
                  <a:tcPr/>
                </a:tc>
                <a:tc hMerge="1">
                  <a:txBody>
                    <a:bodyPr/>
                    <a:lstStyle/>
                    <a:p>
                      <a:endParaRPr lang="en-AU" dirty="0"/>
                    </a:p>
                  </a:txBody>
                  <a:tcPr/>
                </a:tc>
                <a:tc hMerge="1">
                  <a:txBody>
                    <a:bodyPr/>
                    <a:lstStyle/>
                    <a:p>
                      <a:endParaRPr lang="en-AU" dirty="0"/>
                    </a:p>
                  </a:txBody>
                  <a:tcPr/>
                </a:tc>
                <a:tc hMerge="1">
                  <a:txBody>
                    <a:bodyPr/>
                    <a:lstStyle/>
                    <a:p>
                      <a:endParaRPr lang="en-AU" dirty="0"/>
                    </a:p>
                  </a:txBody>
                  <a:tcPr/>
                </a:tc>
              </a:tr>
              <a:tr h="370840">
                <a:tc>
                  <a:txBody>
                    <a:bodyPr/>
                    <a:lstStyle/>
                    <a:p>
                      <a:pPr algn="r"/>
                      <a:r>
                        <a:rPr lang="en-AU" dirty="0" smtClean="0"/>
                        <a:t>Actual</a:t>
                      </a:r>
                      <a:endParaRPr lang="en-AU" dirty="0">
                        <a:latin typeface="Helvetica" pitchFamily="34" charset="0"/>
                      </a:endParaRPr>
                    </a:p>
                  </a:txBody>
                  <a:tcPr/>
                </a:tc>
                <a:tc>
                  <a:txBody>
                    <a:bodyPr/>
                    <a:lstStyle/>
                    <a:p>
                      <a:pPr algn="r"/>
                      <a:r>
                        <a:rPr lang="en-AU" dirty="0" smtClean="0"/>
                        <a:t>Budget</a:t>
                      </a:r>
                      <a:endParaRPr lang="en-AU" dirty="0">
                        <a:latin typeface="Helvetica" pitchFamily="34" charset="0"/>
                      </a:endParaRPr>
                    </a:p>
                  </a:txBody>
                  <a:tcPr/>
                </a:tc>
                <a:tc>
                  <a:txBody>
                    <a:bodyPr/>
                    <a:lstStyle/>
                    <a:p>
                      <a:pPr algn="r"/>
                      <a:r>
                        <a:rPr lang="en-AU" dirty="0" smtClean="0"/>
                        <a:t>Difference</a:t>
                      </a:r>
                      <a:endParaRPr lang="en-AU" dirty="0">
                        <a:latin typeface="Helvetica" pitchFamily="34" charset="0"/>
                      </a:endParaRPr>
                    </a:p>
                  </a:txBody>
                  <a:tcPr/>
                </a:tc>
                <a:tc>
                  <a:txBody>
                    <a:bodyPr/>
                    <a:lstStyle/>
                    <a:p>
                      <a:pPr algn="l"/>
                      <a:r>
                        <a:rPr lang="en-AU" dirty="0" smtClean="0"/>
                        <a:t>F or U?</a:t>
                      </a:r>
                      <a:endParaRPr lang="en-AU" dirty="0">
                        <a:latin typeface="Helvetica" pitchFamily="34" charset="0"/>
                      </a:endParaRPr>
                    </a:p>
                  </a:txBody>
                  <a:tcPr/>
                </a:tc>
              </a:tr>
              <a:tr h="370840">
                <a:tc>
                  <a:txBody>
                    <a:bodyPr/>
                    <a:lstStyle/>
                    <a:p>
                      <a:pPr algn="r"/>
                      <a:r>
                        <a:rPr lang="en-AU" dirty="0" smtClean="0"/>
                        <a:t>$31,980</a:t>
                      </a:r>
                      <a:endParaRPr lang="en-AU" dirty="0">
                        <a:latin typeface="Helvetica" pitchFamily="34" charset="0"/>
                      </a:endParaRPr>
                    </a:p>
                  </a:txBody>
                  <a:tcPr/>
                </a:tc>
                <a:tc>
                  <a:txBody>
                    <a:bodyPr/>
                    <a:lstStyle/>
                    <a:p>
                      <a:pPr algn="r"/>
                      <a:r>
                        <a:rPr lang="en-AU" dirty="0" smtClean="0"/>
                        <a:t>$32,625</a:t>
                      </a:r>
                      <a:endParaRPr lang="en-AU" dirty="0">
                        <a:latin typeface="Helvetica" pitchFamily="34" charset="0"/>
                      </a:endParaRPr>
                    </a:p>
                  </a:txBody>
                  <a:tcPr/>
                </a:tc>
                <a:tc>
                  <a:txBody>
                    <a:bodyPr/>
                    <a:lstStyle/>
                    <a:p>
                      <a:pPr algn="r"/>
                      <a:r>
                        <a:rPr lang="en-AU" dirty="0" smtClean="0"/>
                        <a:t>$645</a:t>
                      </a:r>
                      <a:endParaRPr lang="en-AU" dirty="0">
                        <a:latin typeface="Helvetica" pitchFamily="34" charset="0"/>
                      </a:endParaRPr>
                    </a:p>
                  </a:txBody>
                  <a:tcPr/>
                </a:tc>
                <a:tc>
                  <a:txBody>
                    <a:bodyPr/>
                    <a:lstStyle/>
                    <a:p>
                      <a:pPr algn="l"/>
                      <a:r>
                        <a:rPr lang="en-AU" dirty="0" smtClean="0"/>
                        <a:t>Favourable</a:t>
                      </a:r>
                      <a:endParaRPr lang="en-AU" dirty="0">
                        <a:latin typeface="Helvetica" pitchFamily="34" charset="0"/>
                      </a:endParaRPr>
                    </a:p>
                  </a:txBody>
                  <a:tcPr/>
                </a:tc>
              </a:tr>
            </a:tbl>
          </a:graphicData>
        </a:graphic>
      </p:graphicFrame>
    </p:spTree>
    <p:extLst>
      <p:ext uri="{BB962C8B-B14F-4D97-AF65-F5344CB8AC3E}">
        <p14:creationId xmlns:p14="http://schemas.microsoft.com/office/powerpoint/2010/main" val="427327055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marL="0" indent="0">
              <a:spcBef>
                <a:spcPts val="600"/>
              </a:spcBef>
              <a:spcAft>
                <a:spcPts val="1200"/>
              </a:spcAft>
              <a:buNone/>
            </a:pPr>
            <a:r>
              <a:rPr lang="en-AU" sz="2200" dirty="0" smtClean="0">
                <a:latin typeface="Helvetica" pitchFamily="34" charset="0"/>
              </a:rPr>
              <a:t>Variance analysis:</a:t>
            </a:r>
          </a:p>
          <a:p>
            <a:pPr>
              <a:spcBef>
                <a:spcPts val="600"/>
              </a:spcBef>
              <a:spcAft>
                <a:spcPts val="1200"/>
              </a:spcAft>
              <a:buClr>
                <a:srgbClr val="7FD13B"/>
              </a:buClr>
            </a:pPr>
            <a:r>
              <a:rPr lang="en-AU" sz="2200" dirty="0" smtClean="0">
                <a:solidFill>
                  <a:srgbClr val="FF6600"/>
                </a:solidFill>
                <a:latin typeface="Helvetica" pitchFamily="34" charset="0"/>
              </a:rPr>
              <a:t>Labour/Payroll Rate Variance:</a:t>
            </a:r>
          </a:p>
          <a:p>
            <a:pPr lvl="1">
              <a:spcBef>
                <a:spcPts val="600"/>
              </a:spcBef>
              <a:spcAft>
                <a:spcPts val="1200"/>
              </a:spcAft>
              <a:buClr>
                <a:srgbClr val="7FD13B"/>
              </a:buClr>
              <a:buSzPct val="80000"/>
              <a:buFont typeface="Wingdings" pitchFamily="2" charset="2"/>
              <a:buChar char="§"/>
            </a:pPr>
            <a:r>
              <a:rPr lang="en-AU" sz="2200" dirty="0" smtClean="0">
                <a:solidFill>
                  <a:srgbClr val="000000"/>
                </a:solidFill>
                <a:latin typeface="Helvetica" pitchFamily="34" charset="0"/>
              </a:rPr>
              <a:t>4,100 hours x $0.30 = $1,230 Unfavourable</a:t>
            </a:r>
          </a:p>
          <a:p>
            <a:pPr>
              <a:spcBef>
                <a:spcPts val="600"/>
              </a:spcBef>
              <a:spcAft>
                <a:spcPts val="1200"/>
              </a:spcAft>
              <a:buClr>
                <a:srgbClr val="7FD13B"/>
              </a:buClr>
            </a:pPr>
            <a:r>
              <a:rPr lang="en-AU" sz="2200" dirty="0" smtClean="0">
                <a:solidFill>
                  <a:srgbClr val="FF6600"/>
                </a:solidFill>
                <a:latin typeface="Helvetica" pitchFamily="34" charset="0"/>
              </a:rPr>
              <a:t>Labour/Payroll Efficiency Variance:</a:t>
            </a:r>
          </a:p>
          <a:p>
            <a:pPr lvl="1">
              <a:spcBef>
                <a:spcPts val="600"/>
              </a:spcBef>
              <a:spcAft>
                <a:spcPts val="1200"/>
              </a:spcAft>
              <a:buClr>
                <a:srgbClr val="7FD13B"/>
              </a:buClr>
              <a:buSzPct val="80000"/>
              <a:buFont typeface="Wingdings" pitchFamily="2" charset="2"/>
              <a:buChar char="§"/>
            </a:pPr>
            <a:r>
              <a:rPr lang="en-AU" sz="2200" dirty="0" smtClean="0">
                <a:solidFill>
                  <a:srgbClr val="000000"/>
                </a:solidFill>
                <a:latin typeface="Helvetica" pitchFamily="34" charset="0"/>
              </a:rPr>
              <a:t>250 hours x $7.50 =  $1,875 Favourable </a:t>
            </a:r>
          </a:p>
          <a:p>
            <a:pPr lvl="1">
              <a:spcBef>
                <a:spcPts val="600"/>
              </a:spcBef>
              <a:spcAft>
                <a:spcPts val="1200"/>
              </a:spcAft>
              <a:buClr>
                <a:srgbClr val="7FD13B"/>
              </a:buClr>
              <a:buSzPct val="80000"/>
              <a:buFont typeface="Wingdings" pitchFamily="2" charset="2"/>
              <a:buChar char="§"/>
            </a:pPr>
            <a:r>
              <a:rPr lang="en-AU" sz="2200" dirty="0" smtClean="0">
                <a:solidFill>
                  <a:srgbClr val="000000"/>
                </a:solidFill>
                <a:latin typeface="Helvetica" pitchFamily="34" charset="0"/>
              </a:rPr>
              <a:t>Total Variance  = $645 Favourable</a:t>
            </a: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descr="MC900357007.WMF"/>
          <p:cNvPicPr>
            <a:picLocks noChangeAspect="1"/>
          </p:cNvPicPr>
          <p:nvPr/>
        </p:nvPicPr>
        <p:blipFill>
          <a:blip r:embed="rId3" cstate="print"/>
          <a:stretch>
            <a:fillRect/>
          </a:stretch>
        </p:blipFill>
        <p:spPr>
          <a:xfrm>
            <a:off x="6660232" y="3645024"/>
            <a:ext cx="1653924" cy="1454159"/>
          </a:xfrm>
          <a:prstGeom prst="rect">
            <a:avLst/>
          </a:prstGeom>
        </p:spPr>
      </p:pic>
    </p:spTree>
    <p:extLst>
      <p:ext uri="{BB962C8B-B14F-4D97-AF65-F5344CB8AC3E}">
        <p14:creationId xmlns:p14="http://schemas.microsoft.com/office/powerpoint/2010/main" val="164566549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16632"/>
            <a:ext cx="7467600" cy="926976"/>
          </a:xfrm>
        </p:spPr>
        <p:txBody>
          <a:bodyPr>
            <a:normAutofit/>
          </a:bodyPr>
          <a:lstStyle/>
          <a:p>
            <a:r>
              <a:rPr lang="en-US" sz="3400" b="1" dirty="0" smtClean="0">
                <a:solidFill>
                  <a:srgbClr val="FF6600"/>
                </a:solidFill>
                <a:latin typeface="Helvetica" pitchFamily="34" charset="0"/>
              </a:rPr>
              <a:t>Monitoring the financial syste</a:t>
            </a:r>
            <a:r>
              <a:rPr lang="en-US" sz="3400" b="1" dirty="0">
                <a:solidFill>
                  <a:srgbClr val="FF6600"/>
                </a:solidFill>
                <a:latin typeface="Helvetica" pitchFamily="34" charset="0"/>
              </a:rPr>
              <a:t>m</a:t>
            </a:r>
          </a:p>
        </p:txBody>
      </p:sp>
      <p:sp>
        <p:nvSpPr>
          <p:cNvPr id="3" name="Content Placeholder 2"/>
          <p:cNvSpPr>
            <a:spLocks noGrp="1"/>
          </p:cNvSpPr>
          <p:nvPr>
            <p:ph idx="1"/>
          </p:nvPr>
        </p:nvSpPr>
        <p:spPr>
          <a:xfrm>
            <a:off x="611560" y="1052736"/>
            <a:ext cx="7467600" cy="5733256"/>
          </a:xfrm>
        </p:spPr>
        <p:txBody>
          <a:bodyPr>
            <a:normAutofit/>
          </a:bodyPr>
          <a:lstStyle/>
          <a:p>
            <a:pPr marL="0" indent="0">
              <a:spcBef>
                <a:spcPts val="600"/>
              </a:spcBef>
              <a:spcAft>
                <a:spcPts val="1200"/>
              </a:spcAft>
              <a:buNone/>
            </a:pPr>
            <a:r>
              <a:rPr lang="en-US" sz="1800" dirty="0" smtClean="0">
                <a:latin typeface="Helvetica" pitchFamily="34" charset="0"/>
              </a:rPr>
              <a:t>Vertical analysis:</a:t>
            </a:r>
          </a:p>
          <a:p>
            <a:pPr>
              <a:spcBef>
                <a:spcPts val="600"/>
              </a:spcBef>
              <a:spcAft>
                <a:spcPts val="1200"/>
              </a:spcAft>
              <a:buClr>
                <a:srgbClr val="7FD13B"/>
              </a:buClr>
            </a:pPr>
            <a:r>
              <a:rPr lang="en-US" sz="1800" dirty="0" smtClean="0">
                <a:latin typeface="Helvetica" pitchFamily="34" charset="0"/>
              </a:rPr>
              <a:t>EACH line item calculated as a percentage of sales</a:t>
            </a:r>
          </a:p>
          <a:p>
            <a:pPr>
              <a:spcBef>
                <a:spcPts val="600"/>
              </a:spcBef>
              <a:spcAft>
                <a:spcPts val="1200"/>
              </a:spcAft>
              <a:buClr>
                <a:srgbClr val="7FD13B"/>
              </a:buClr>
            </a:pPr>
            <a:r>
              <a:rPr lang="en-US" sz="1800" dirty="0" smtClean="0">
                <a:latin typeface="Helvetica" pitchFamily="34" charset="0"/>
              </a:rPr>
              <a:t>Line item divided by sales x 100 = Variance</a:t>
            </a:r>
          </a:p>
          <a:p>
            <a:pPr>
              <a:spcBef>
                <a:spcPts val="600"/>
              </a:spcBef>
              <a:spcAft>
                <a:spcPts val="1200"/>
              </a:spcAft>
              <a:buClr>
                <a:srgbClr val="7FD13B"/>
              </a:buClr>
            </a:pPr>
            <a:r>
              <a:rPr lang="en-US" sz="1800" dirty="0" smtClean="0">
                <a:latin typeface="Helvetica" pitchFamily="34" charset="0"/>
              </a:rPr>
              <a:t>Budget and actual reports are calculated separately</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755924393"/>
              </p:ext>
            </p:extLst>
          </p:nvPr>
        </p:nvGraphicFramePr>
        <p:xfrm>
          <a:off x="611560" y="3068960"/>
          <a:ext cx="6912768" cy="3040033"/>
        </p:xfrm>
        <a:graphic>
          <a:graphicData uri="http://schemas.openxmlformats.org/drawingml/2006/table">
            <a:tbl>
              <a:tblPr firstRow="1" bandRow="1">
                <a:tableStyleId>{7DF18680-E054-41AD-8BC1-D1AEF772440D}</a:tableStyleId>
              </a:tblPr>
              <a:tblGrid>
                <a:gridCol w="1773477"/>
                <a:gridCol w="1211581"/>
                <a:gridCol w="1256867"/>
                <a:gridCol w="1256867"/>
                <a:gridCol w="1413976"/>
              </a:tblGrid>
              <a:tr h="432048">
                <a:tc>
                  <a:txBody>
                    <a:bodyPr/>
                    <a:lstStyle/>
                    <a:p>
                      <a:r>
                        <a:rPr lang="en-AU" sz="1400" dirty="0" smtClean="0"/>
                        <a:t>Line</a:t>
                      </a:r>
                      <a:r>
                        <a:rPr lang="en-AU" sz="1400" baseline="0" dirty="0" smtClean="0"/>
                        <a:t> item</a:t>
                      </a:r>
                      <a:endParaRPr lang="en-AU" sz="1400" dirty="0">
                        <a:latin typeface="Helvetica" pitchFamily="34" charset="0"/>
                        <a:cs typeface="Helvetica" pitchFamily="34" charset="0"/>
                      </a:endParaRPr>
                    </a:p>
                  </a:txBody>
                  <a:tcPr anchor="ctr"/>
                </a:tc>
                <a:tc>
                  <a:txBody>
                    <a:bodyPr/>
                    <a:lstStyle/>
                    <a:p>
                      <a:pPr algn="r"/>
                      <a:r>
                        <a:rPr lang="en-AU" sz="1400" dirty="0" smtClean="0"/>
                        <a:t>Budget</a:t>
                      </a:r>
                      <a:endParaRPr lang="en-AU" sz="1400" dirty="0">
                        <a:latin typeface="Helvetica" pitchFamily="34" charset="0"/>
                        <a:cs typeface="Helvetica" pitchFamily="34" charset="0"/>
                      </a:endParaRPr>
                    </a:p>
                  </a:txBody>
                  <a:tcPr anchor="ctr"/>
                </a:tc>
                <a:tc>
                  <a:txBody>
                    <a:bodyPr/>
                    <a:lstStyle/>
                    <a:p>
                      <a:pPr algn="r"/>
                      <a:r>
                        <a:rPr lang="en-AU" sz="1400" dirty="0" smtClean="0"/>
                        <a:t>Variance</a:t>
                      </a:r>
                      <a:endParaRPr lang="en-AU" sz="1400" dirty="0">
                        <a:latin typeface="Helvetica" pitchFamily="34" charset="0"/>
                        <a:cs typeface="Helvetica" pitchFamily="34" charset="0"/>
                      </a:endParaRPr>
                    </a:p>
                  </a:txBody>
                  <a:tcPr anchor="ctr"/>
                </a:tc>
                <a:tc>
                  <a:txBody>
                    <a:bodyPr/>
                    <a:lstStyle/>
                    <a:p>
                      <a:pPr algn="r"/>
                      <a:r>
                        <a:rPr lang="en-AU" sz="1400" dirty="0" smtClean="0"/>
                        <a:t>Actual</a:t>
                      </a:r>
                      <a:endParaRPr lang="en-AU" sz="1400" dirty="0">
                        <a:latin typeface="Helvetica" pitchFamily="34" charset="0"/>
                        <a:cs typeface="Helvetica" pitchFamily="34" charset="0"/>
                      </a:endParaRPr>
                    </a:p>
                  </a:txBody>
                  <a:tcPr anchor="ctr"/>
                </a:tc>
                <a:tc>
                  <a:txBody>
                    <a:bodyPr/>
                    <a:lstStyle/>
                    <a:p>
                      <a:pPr algn="r"/>
                      <a:r>
                        <a:rPr lang="en-AU" sz="1400" dirty="0" smtClean="0"/>
                        <a:t>Variance </a:t>
                      </a:r>
                      <a:endParaRPr lang="en-AU" sz="1400" dirty="0" smtClean="0">
                        <a:latin typeface="Helvetica" pitchFamily="34" charset="0"/>
                        <a:cs typeface="Helvetica" pitchFamily="34" charset="0"/>
                      </a:endParaRPr>
                    </a:p>
                  </a:txBody>
                  <a:tcPr anchor="ctr"/>
                </a:tc>
              </a:tr>
              <a:tr h="494309">
                <a:tc>
                  <a:txBody>
                    <a:bodyPr/>
                    <a:lstStyle/>
                    <a:p>
                      <a:r>
                        <a:rPr lang="en-AU" sz="1400" dirty="0" smtClean="0"/>
                        <a:t>Sales</a:t>
                      </a:r>
                      <a:endParaRPr lang="en-AU" sz="1400" dirty="0">
                        <a:latin typeface="Helvetica" pitchFamily="34" charset="0"/>
                        <a:cs typeface="Helvetica" pitchFamily="34" charset="0"/>
                      </a:endParaRPr>
                    </a:p>
                  </a:txBody>
                  <a:tcPr/>
                </a:tc>
                <a:tc>
                  <a:txBody>
                    <a:bodyPr/>
                    <a:lstStyle/>
                    <a:p>
                      <a:pPr algn="r"/>
                      <a:r>
                        <a:rPr lang="en-AU" sz="1400" dirty="0" smtClean="0"/>
                        <a:t>56,000</a:t>
                      </a:r>
                      <a:endParaRPr lang="en-AU" sz="1400" dirty="0">
                        <a:latin typeface="Helvetica" pitchFamily="34" charset="0"/>
                        <a:cs typeface="Helvetica" pitchFamily="34" charset="0"/>
                      </a:endParaRPr>
                    </a:p>
                  </a:txBody>
                  <a:tcPr/>
                </a:tc>
                <a:tc>
                  <a:txBody>
                    <a:bodyPr/>
                    <a:lstStyle/>
                    <a:p>
                      <a:pPr algn="r"/>
                      <a:r>
                        <a:rPr lang="en-AU" sz="1400" dirty="0" smtClean="0"/>
                        <a:t>100%</a:t>
                      </a:r>
                      <a:endParaRPr lang="en-AU" sz="1400" dirty="0">
                        <a:latin typeface="Helvetica" pitchFamily="34" charset="0"/>
                        <a:cs typeface="Helvetica" pitchFamily="34" charset="0"/>
                      </a:endParaRPr>
                    </a:p>
                  </a:txBody>
                  <a:tcPr/>
                </a:tc>
                <a:tc>
                  <a:txBody>
                    <a:bodyPr/>
                    <a:lstStyle/>
                    <a:p>
                      <a:pPr algn="r"/>
                      <a:r>
                        <a:rPr lang="en-AU" sz="1400" dirty="0" smtClean="0"/>
                        <a:t>58,200</a:t>
                      </a:r>
                      <a:endParaRPr lang="en-AU" sz="1400" dirty="0">
                        <a:latin typeface="Helvetica" pitchFamily="34" charset="0"/>
                        <a:cs typeface="Helvetica" pitchFamily="34" charset="0"/>
                      </a:endParaRPr>
                    </a:p>
                  </a:txBody>
                  <a:tcPr/>
                </a:tc>
                <a:tc>
                  <a:txBody>
                    <a:bodyPr/>
                    <a:lstStyle/>
                    <a:p>
                      <a:pPr algn="r"/>
                      <a:r>
                        <a:rPr lang="en-AU" sz="1400" dirty="0" smtClean="0"/>
                        <a:t>100%</a:t>
                      </a:r>
                      <a:endParaRPr lang="en-AU" sz="1400" dirty="0">
                        <a:latin typeface="Helvetica" pitchFamily="34" charset="0"/>
                        <a:cs typeface="Helvetica" pitchFamily="34" charset="0"/>
                      </a:endParaRPr>
                    </a:p>
                  </a:txBody>
                  <a:tcPr/>
                </a:tc>
              </a:tr>
              <a:tr h="433340">
                <a:tc>
                  <a:txBody>
                    <a:bodyPr/>
                    <a:lstStyle/>
                    <a:p>
                      <a:r>
                        <a:rPr lang="en-AU" sz="1400" dirty="0" smtClean="0"/>
                        <a:t>Wages</a:t>
                      </a:r>
                      <a:endParaRPr lang="en-AU" sz="1400" dirty="0">
                        <a:latin typeface="Helvetica" pitchFamily="34" charset="0"/>
                        <a:cs typeface="Helvetica" pitchFamily="34" charset="0"/>
                      </a:endParaRPr>
                    </a:p>
                  </a:txBody>
                  <a:tcPr/>
                </a:tc>
                <a:tc>
                  <a:txBody>
                    <a:bodyPr/>
                    <a:lstStyle/>
                    <a:p>
                      <a:pPr algn="r"/>
                      <a:r>
                        <a:rPr lang="en-AU" sz="1400" dirty="0" smtClean="0"/>
                        <a:t>16,800</a:t>
                      </a:r>
                      <a:endParaRPr lang="en-AU" sz="1400" dirty="0">
                        <a:latin typeface="Helvetica" pitchFamily="34" charset="0"/>
                        <a:cs typeface="Helvetica" pitchFamily="34" charset="0"/>
                      </a:endParaRPr>
                    </a:p>
                  </a:txBody>
                  <a:tcPr/>
                </a:tc>
                <a:tc>
                  <a:txBody>
                    <a:bodyPr/>
                    <a:lstStyle/>
                    <a:p>
                      <a:pPr algn="r"/>
                      <a:r>
                        <a:rPr lang="en-AU" sz="1400" dirty="0" smtClean="0"/>
                        <a:t>30.0%</a:t>
                      </a:r>
                      <a:endParaRPr lang="en-AU" sz="1400" dirty="0">
                        <a:latin typeface="Helvetica" pitchFamily="34" charset="0"/>
                        <a:cs typeface="Helvetica" pitchFamily="34" charset="0"/>
                      </a:endParaRPr>
                    </a:p>
                  </a:txBody>
                  <a:tcPr/>
                </a:tc>
                <a:tc>
                  <a:txBody>
                    <a:bodyPr/>
                    <a:lstStyle/>
                    <a:p>
                      <a:pPr algn="r"/>
                      <a:r>
                        <a:rPr lang="en-AU" sz="1400" dirty="0" smtClean="0"/>
                        <a:t>18,900</a:t>
                      </a:r>
                      <a:endParaRPr lang="en-AU" sz="1400" dirty="0">
                        <a:latin typeface="Helvetica" pitchFamily="34" charset="0"/>
                        <a:cs typeface="Helvetica" pitchFamily="34" charset="0"/>
                      </a:endParaRPr>
                    </a:p>
                  </a:txBody>
                  <a:tcPr/>
                </a:tc>
                <a:tc>
                  <a:txBody>
                    <a:bodyPr/>
                    <a:lstStyle/>
                    <a:p>
                      <a:pPr algn="r"/>
                      <a:r>
                        <a:rPr lang="en-AU" sz="1400" dirty="0" smtClean="0"/>
                        <a:t>32.47%</a:t>
                      </a:r>
                      <a:endParaRPr lang="en-AU" sz="1400" dirty="0">
                        <a:latin typeface="Helvetica" pitchFamily="34" charset="0"/>
                        <a:cs typeface="Helvetica" pitchFamily="34" charset="0"/>
                      </a:endParaRPr>
                    </a:p>
                  </a:txBody>
                  <a:tcPr/>
                </a:tc>
              </a:tr>
              <a:tr h="433340">
                <a:tc>
                  <a:txBody>
                    <a:bodyPr/>
                    <a:lstStyle/>
                    <a:p>
                      <a:r>
                        <a:rPr lang="en-AU" sz="1400" dirty="0" smtClean="0"/>
                        <a:t>Rent</a:t>
                      </a:r>
                      <a:endParaRPr lang="en-AU" sz="1400" dirty="0">
                        <a:latin typeface="Helvetica" pitchFamily="34" charset="0"/>
                        <a:cs typeface="Helvetica" pitchFamily="34" charset="0"/>
                      </a:endParaRPr>
                    </a:p>
                  </a:txBody>
                  <a:tcPr/>
                </a:tc>
                <a:tc>
                  <a:txBody>
                    <a:bodyPr/>
                    <a:lstStyle/>
                    <a:p>
                      <a:pPr algn="r"/>
                      <a:r>
                        <a:rPr lang="en-AU" sz="1400" dirty="0" smtClean="0"/>
                        <a:t>11,000</a:t>
                      </a:r>
                      <a:endParaRPr lang="en-AU" sz="1400" dirty="0">
                        <a:latin typeface="Helvetica" pitchFamily="34" charset="0"/>
                        <a:cs typeface="Helvetica" pitchFamily="34" charset="0"/>
                      </a:endParaRPr>
                    </a:p>
                  </a:txBody>
                  <a:tcPr/>
                </a:tc>
                <a:tc>
                  <a:txBody>
                    <a:bodyPr/>
                    <a:lstStyle/>
                    <a:p>
                      <a:pPr algn="r"/>
                      <a:r>
                        <a:rPr lang="en-AU" sz="1400" dirty="0" smtClean="0"/>
                        <a:t>19.64%</a:t>
                      </a:r>
                      <a:endParaRPr lang="en-AU" sz="1400" dirty="0">
                        <a:latin typeface="Helvetica" pitchFamily="34" charset="0"/>
                        <a:cs typeface="Helvetica" pitchFamily="34" charset="0"/>
                      </a:endParaRPr>
                    </a:p>
                  </a:txBody>
                  <a:tcPr/>
                </a:tc>
                <a:tc>
                  <a:txBody>
                    <a:bodyPr/>
                    <a:lstStyle/>
                    <a:p>
                      <a:pPr algn="r"/>
                      <a:r>
                        <a:rPr lang="en-AU" sz="1400" dirty="0" smtClean="0"/>
                        <a:t>11,000</a:t>
                      </a:r>
                      <a:endParaRPr lang="en-AU" sz="1400" dirty="0">
                        <a:latin typeface="Helvetica" pitchFamily="34" charset="0"/>
                        <a:cs typeface="Helvetica" pitchFamily="34" charset="0"/>
                      </a:endParaRPr>
                    </a:p>
                  </a:txBody>
                  <a:tcPr/>
                </a:tc>
                <a:tc>
                  <a:txBody>
                    <a:bodyPr/>
                    <a:lstStyle/>
                    <a:p>
                      <a:pPr algn="r"/>
                      <a:r>
                        <a:rPr lang="en-AU" sz="1400" dirty="0" smtClean="0"/>
                        <a:t>18.9%</a:t>
                      </a:r>
                      <a:endParaRPr lang="en-AU" sz="1400" dirty="0">
                        <a:latin typeface="Helvetica" pitchFamily="34" charset="0"/>
                        <a:cs typeface="Helvetica" pitchFamily="34" charset="0"/>
                      </a:endParaRPr>
                    </a:p>
                  </a:txBody>
                  <a:tcPr/>
                </a:tc>
              </a:tr>
              <a:tr h="433340">
                <a:tc>
                  <a:txBody>
                    <a:bodyPr/>
                    <a:lstStyle/>
                    <a:p>
                      <a:r>
                        <a:rPr lang="en-AU" sz="1400" dirty="0" smtClean="0"/>
                        <a:t>Advertising</a:t>
                      </a:r>
                      <a:endParaRPr lang="en-AU" sz="1400" dirty="0">
                        <a:latin typeface="Helvetica" pitchFamily="34" charset="0"/>
                        <a:cs typeface="Helvetica" pitchFamily="34" charset="0"/>
                      </a:endParaRPr>
                    </a:p>
                  </a:txBody>
                  <a:tcPr/>
                </a:tc>
                <a:tc>
                  <a:txBody>
                    <a:bodyPr/>
                    <a:lstStyle/>
                    <a:p>
                      <a:pPr algn="r"/>
                      <a:r>
                        <a:rPr lang="en-AU" sz="1400" dirty="0" smtClean="0"/>
                        <a:t>560</a:t>
                      </a:r>
                      <a:endParaRPr lang="en-AU" sz="1400" dirty="0">
                        <a:latin typeface="Helvetica" pitchFamily="34" charset="0"/>
                        <a:cs typeface="Helvetica" pitchFamily="34" charset="0"/>
                      </a:endParaRPr>
                    </a:p>
                  </a:txBody>
                  <a:tcPr/>
                </a:tc>
                <a:tc>
                  <a:txBody>
                    <a:bodyPr/>
                    <a:lstStyle/>
                    <a:p>
                      <a:pPr algn="r"/>
                      <a:r>
                        <a:rPr lang="en-AU" sz="1400" dirty="0" smtClean="0"/>
                        <a:t>1.0%</a:t>
                      </a:r>
                      <a:endParaRPr lang="en-AU" sz="1400" dirty="0">
                        <a:latin typeface="Helvetica" pitchFamily="34" charset="0"/>
                        <a:cs typeface="Helvetica" pitchFamily="34" charset="0"/>
                      </a:endParaRPr>
                    </a:p>
                  </a:txBody>
                  <a:tcPr/>
                </a:tc>
                <a:tc>
                  <a:txBody>
                    <a:bodyPr/>
                    <a:lstStyle/>
                    <a:p>
                      <a:pPr algn="r"/>
                      <a:r>
                        <a:rPr lang="en-AU" sz="1400" dirty="0" smtClean="0"/>
                        <a:t>800</a:t>
                      </a:r>
                      <a:endParaRPr lang="en-AU" sz="1400" dirty="0">
                        <a:latin typeface="Helvetica" pitchFamily="34" charset="0"/>
                        <a:cs typeface="Helvetica" pitchFamily="34" charset="0"/>
                      </a:endParaRPr>
                    </a:p>
                  </a:txBody>
                  <a:tcPr/>
                </a:tc>
                <a:tc>
                  <a:txBody>
                    <a:bodyPr/>
                    <a:lstStyle/>
                    <a:p>
                      <a:pPr algn="r"/>
                      <a:r>
                        <a:rPr lang="en-AU" sz="1400" dirty="0" smtClean="0"/>
                        <a:t>1.37%</a:t>
                      </a:r>
                      <a:endParaRPr lang="en-AU" sz="1400" dirty="0">
                        <a:latin typeface="Helvetica" pitchFamily="34" charset="0"/>
                        <a:cs typeface="Helvetica" pitchFamily="34" charset="0"/>
                      </a:endParaRPr>
                    </a:p>
                  </a:txBody>
                  <a:tcPr/>
                </a:tc>
              </a:tr>
              <a:tr h="433340">
                <a:tc>
                  <a:txBody>
                    <a:bodyPr/>
                    <a:lstStyle/>
                    <a:p>
                      <a:r>
                        <a:rPr lang="en-AU" sz="1400" dirty="0" smtClean="0"/>
                        <a:t>Total</a:t>
                      </a:r>
                      <a:r>
                        <a:rPr lang="en-AU" sz="1400" baseline="0" dirty="0" smtClean="0"/>
                        <a:t> Expenses</a:t>
                      </a:r>
                      <a:endParaRPr lang="en-AU" sz="1400" dirty="0">
                        <a:latin typeface="Helvetica" pitchFamily="34" charset="0"/>
                        <a:cs typeface="Helvetica" pitchFamily="34" charset="0"/>
                      </a:endParaRPr>
                    </a:p>
                  </a:txBody>
                  <a:tcPr/>
                </a:tc>
                <a:tc>
                  <a:txBody>
                    <a:bodyPr/>
                    <a:lstStyle/>
                    <a:p>
                      <a:pPr algn="r"/>
                      <a:r>
                        <a:rPr lang="en-AU" sz="1400" dirty="0" smtClean="0"/>
                        <a:t>28,360</a:t>
                      </a:r>
                      <a:endParaRPr lang="en-AU" sz="1400" dirty="0">
                        <a:latin typeface="Helvetica" pitchFamily="34" charset="0"/>
                        <a:cs typeface="Helvetica" pitchFamily="34" charset="0"/>
                      </a:endParaRPr>
                    </a:p>
                  </a:txBody>
                  <a:tcPr/>
                </a:tc>
                <a:tc>
                  <a:txBody>
                    <a:bodyPr/>
                    <a:lstStyle/>
                    <a:p>
                      <a:pPr algn="r"/>
                      <a:r>
                        <a:rPr lang="en-AU" sz="1400" dirty="0" smtClean="0"/>
                        <a:t>50.64%</a:t>
                      </a:r>
                      <a:endParaRPr lang="en-AU" sz="1400" dirty="0">
                        <a:latin typeface="Helvetica" pitchFamily="34" charset="0"/>
                        <a:cs typeface="Helvetica" pitchFamily="34" charset="0"/>
                      </a:endParaRPr>
                    </a:p>
                  </a:txBody>
                  <a:tcPr/>
                </a:tc>
                <a:tc>
                  <a:txBody>
                    <a:bodyPr/>
                    <a:lstStyle/>
                    <a:p>
                      <a:pPr algn="r"/>
                      <a:r>
                        <a:rPr lang="en-AU" sz="1400" dirty="0" smtClean="0"/>
                        <a:t>30,700</a:t>
                      </a:r>
                      <a:endParaRPr lang="en-AU" sz="1400" dirty="0">
                        <a:latin typeface="Helvetica" pitchFamily="34" charset="0"/>
                        <a:cs typeface="Helvetica" pitchFamily="34" charset="0"/>
                      </a:endParaRPr>
                    </a:p>
                  </a:txBody>
                  <a:tcPr/>
                </a:tc>
                <a:tc>
                  <a:txBody>
                    <a:bodyPr/>
                    <a:lstStyle/>
                    <a:p>
                      <a:pPr algn="r"/>
                      <a:r>
                        <a:rPr lang="en-AU" sz="1400" dirty="0" smtClean="0"/>
                        <a:t>52.75%</a:t>
                      </a:r>
                      <a:endParaRPr lang="en-AU" sz="1400" dirty="0">
                        <a:latin typeface="Helvetica" pitchFamily="34" charset="0"/>
                        <a:cs typeface="Helvetica" pitchFamily="34" charset="0"/>
                      </a:endParaRPr>
                    </a:p>
                  </a:txBody>
                  <a:tcPr/>
                </a:tc>
              </a:tr>
              <a:tr h="380316">
                <a:tc>
                  <a:txBody>
                    <a:bodyPr/>
                    <a:lstStyle/>
                    <a:p>
                      <a:r>
                        <a:rPr lang="en-AU" sz="1400" dirty="0" smtClean="0"/>
                        <a:t>Profit or Income</a:t>
                      </a:r>
                      <a:endParaRPr lang="en-AU" sz="1400" dirty="0">
                        <a:latin typeface="Helvetica" pitchFamily="34" charset="0"/>
                        <a:cs typeface="Helvetica" pitchFamily="34" charset="0"/>
                      </a:endParaRPr>
                    </a:p>
                  </a:txBody>
                  <a:tcPr/>
                </a:tc>
                <a:tc>
                  <a:txBody>
                    <a:bodyPr/>
                    <a:lstStyle/>
                    <a:p>
                      <a:pPr algn="r"/>
                      <a:r>
                        <a:rPr lang="en-AU" sz="1400" dirty="0" smtClean="0"/>
                        <a:t>27,640</a:t>
                      </a:r>
                      <a:endParaRPr lang="en-AU" sz="1400" dirty="0">
                        <a:latin typeface="Helvetica" pitchFamily="34" charset="0"/>
                        <a:cs typeface="Helvetica" pitchFamily="34" charset="0"/>
                      </a:endParaRPr>
                    </a:p>
                  </a:txBody>
                  <a:tcPr/>
                </a:tc>
                <a:tc>
                  <a:txBody>
                    <a:bodyPr/>
                    <a:lstStyle/>
                    <a:p>
                      <a:pPr algn="r"/>
                      <a:r>
                        <a:rPr lang="en-AU" sz="1400" dirty="0" smtClean="0"/>
                        <a:t>49.36%</a:t>
                      </a:r>
                      <a:endParaRPr lang="en-AU" sz="1400" dirty="0">
                        <a:latin typeface="Helvetica" pitchFamily="34" charset="0"/>
                        <a:cs typeface="Helvetica" pitchFamily="34" charset="0"/>
                      </a:endParaRPr>
                    </a:p>
                  </a:txBody>
                  <a:tcPr/>
                </a:tc>
                <a:tc>
                  <a:txBody>
                    <a:bodyPr/>
                    <a:lstStyle/>
                    <a:p>
                      <a:pPr algn="r"/>
                      <a:r>
                        <a:rPr lang="en-AU" sz="1400" dirty="0" smtClean="0"/>
                        <a:t>25,300</a:t>
                      </a:r>
                      <a:endParaRPr lang="en-AU" sz="1400" dirty="0">
                        <a:latin typeface="Helvetica" pitchFamily="34" charset="0"/>
                        <a:cs typeface="Helvetica" pitchFamily="34" charset="0"/>
                      </a:endParaRPr>
                    </a:p>
                  </a:txBody>
                  <a:tcPr/>
                </a:tc>
                <a:tc>
                  <a:txBody>
                    <a:bodyPr/>
                    <a:lstStyle/>
                    <a:p>
                      <a:pPr algn="r"/>
                      <a:r>
                        <a:rPr lang="en-AU" sz="1400" dirty="0" smtClean="0"/>
                        <a:t>43.47%</a:t>
                      </a:r>
                      <a:endParaRPr lang="en-AU" sz="1400" dirty="0">
                        <a:latin typeface="Helvetica" pitchFamily="34" charset="0"/>
                        <a:cs typeface="Helvetica" pitchFamily="34" charset="0"/>
                      </a:endParaRPr>
                    </a:p>
                  </a:txBody>
                  <a:tcPr/>
                </a:tc>
              </a:tr>
            </a:tbl>
          </a:graphicData>
        </a:graphic>
      </p:graphicFrame>
    </p:spTree>
    <p:extLst>
      <p:ext uri="{BB962C8B-B14F-4D97-AF65-F5344CB8AC3E}">
        <p14:creationId xmlns:p14="http://schemas.microsoft.com/office/powerpoint/2010/main" val="149444031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44616"/>
          </a:xfrm>
        </p:spPr>
        <p:txBody>
          <a:bodyPr>
            <a:normAutofit/>
          </a:bodyPr>
          <a:lstStyle/>
          <a:p>
            <a:pPr marL="0" indent="0">
              <a:spcBef>
                <a:spcPts val="600"/>
              </a:spcBef>
              <a:spcAft>
                <a:spcPts val="1200"/>
              </a:spcAft>
              <a:buNone/>
            </a:pPr>
            <a:r>
              <a:rPr lang="en-AU" sz="2200" dirty="0" smtClean="0">
                <a:latin typeface="Helvetica" pitchFamily="34" charset="0"/>
              </a:rPr>
              <a:t>Ratio analysis:</a:t>
            </a:r>
          </a:p>
          <a:p>
            <a:pPr marL="360000" indent="-360000">
              <a:spcBef>
                <a:spcPts val="600"/>
              </a:spcBef>
              <a:spcAft>
                <a:spcPts val="1200"/>
              </a:spcAft>
              <a:buClr>
                <a:srgbClr val="7FD13B"/>
              </a:buClr>
            </a:pPr>
            <a:r>
              <a:rPr lang="en-AU" sz="2200" dirty="0" smtClean="0">
                <a:latin typeface="Helvetica" pitchFamily="34" charset="0"/>
              </a:rPr>
              <a:t>Defined</a:t>
            </a:r>
          </a:p>
          <a:p>
            <a:pPr marL="360000" indent="-360000">
              <a:spcBef>
                <a:spcPts val="600"/>
              </a:spcBef>
              <a:spcAft>
                <a:spcPts val="1200"/>
              </a:spcAft>
              <a:buClr>
                <a:srgbClr val="7FD13B"/>
              </a:buClr>
            </a:pPr>
            <a:r>
              <a:rPr lang="en-AU" sz="2200" dirty="0" smtClean="0">
                <a:latin typeface="Helvetica" pitchFamily="34" charset="0"/>
              </a:rPr>
              <a:t>Financial</a:t>
            </a:r>
          </a:p>
          <a:p>
            <a:pPr marL="360000" indent="-360000">
              <a:spcBef>
                <a:spcPts val="600"/>
              </a:spcBef>
              <a:spcAft>
                <a:spcPts val="1200"/>
              </a:spcAft>
              <a:buClr>
                <a:srgbClr val="7FD13B"/>
              </a:buClr>
            </a:pPr>
            <a:r>
              <a:rPr lang="en-AU" sz="2200" dirty="0" smtClean="0">
                <a:latin typeface="Helvetica" pitchFamily="34" charset="0"/>
              </a:rPr>
              <a:t>Operational</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descr="freeimage-4295761.jpg"/>
          <p:cNvPicPr>
            <a:picLocks noChangeAspect="1"/>
          </p:cNvPicPr>
          <p:nvPr/>
        </p:nvPicPr>
        <p:blipFill>
          <a:blip r:embed="rId3" cstate="print"/>
          <a:stretch>
            <a:fillRect/>
          </a:stretch>
        </p:blipFill>
        <p:spPr>
          <a:xfrm>
            <a:off x="6156176" y="3600400"/>
            <a:ext cx="1979712" cy="1484784"/>
          </a:xfrm>
          <a:prstGeom prst="rect">
            <a:avLst/>
          </a:prstGeom>
        </p:spPr>
      </p:pic>
    </p:spTree>
    <p:extLst>
      <p:ext uri="{BB962C8B-B14F-4D97-AF65-F5344CB8AC3E}">
        <p14:creationId xmlns:p14="http://schemas.microsoft.com/office/powerpoint/2010/main" val="68525238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560840" cy="5472608"/>
          </a:xfrm>
        </p:spPr>
        <p:txBody>
          <a:bodyPr>
            <a:normAutofit/>
          </a:bodyPr>
          <a:lstStyle/>
          <a:p>
            <a:pPr marL="0" indent="0">
              <a:spcBef>
                <a:spcPts val="600"/>
              </a:spcBef>
              <a:spcAft>
                <a:spcPts val="1200"/>
              </a:spcAft>
              <a:buNone/>
            </a:pPr>
            <a:r>
              <a:rPr lang="en-AU" sz="2200" dirty="0" smtClean="0">
                <a:latin typeface="Helvetica" pitchFamily="34" charset="0"/>
              </a:rPr>
              <a:t>Ratio analysis:</a:t>
            </a:r>
          </a:p>
          <a:p>
            <a:pPr marL="360000" indent="-360000">
              <a:spcBef>
                <a:spcPts val="600"/>
              </a:spcBef>
              <a:spcAft>
                <a:spcPts val="1200"/>
              </a:spcAft>
              <a:buClr>
                <a:srgbClr val="7FD13B"/>
              </a:buClr>
            </a:pPr>
            <a:r>
              <a:rPr lang="en-AU" sz="2200" dirty="0" smtClean="0">
                <a:latin typeface="Helvetica" pitchFamily="34" charset="0"/>
              </a:rPr>
              <a:t>Key financial ratios: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Gross and net profit margins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Liquidity</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Accounts receivable turnover</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Inventory turnover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descr="freeimage-4295761.jpg"/>
          <p:cNvPicPr>
            <a:picLocks noChangeAspect="1"/>
          </p:cNvPicPr>
          <p:nvPr/>
        </p:nvPicPr>
        <p:blipFill>
          <a:blip r:embed="rId3" cstate="print"/>
          <a:srcRect b="12701"/>
          <a:stretch>
            <a:fillRect/>
          </a:stretch>
        </p:blipFill>
        <p:spPr>
          <a:xfrm>
            <a:off x="6012160" y="3600400"/>
            <a:ext cx="2267744" cy="1484784"/>
          </a:xfrm>
          <a:prstGeom prst="rect">
            <a:avLst/>
          </a:prstGeom>
        </p:spPr>
      </p:pic>
    </p:spTree>
    <p:extLst>
      <p:ext uri="{BB962C8B-B14F-4D97-AF65-F5344CB8AC3E}">
        <p14:creationId xmlns:p14="http://schemas.microsoft.com/office/powerpoint/2010/main" val="109562593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07293"/>
            <a:ext cx="7467600" cy="5462067"/>
          </a:xfrm>
        </p:spPr>
        <p:txBody>
          <a:bodyPr>
            <a:normAutofit/>
          </a:bodyPr>
          <a:lstStyle/>
          <a:p>
            <a:pPr marL="0" indent="0">
              <a:spcBef>
                <a:spcPts val="600"/>
              </a:spcBef>
              <a:spcAft>
                <a:spcPts val="1200"/>
              </a:spcAft>
              <a:buNone/>
            </a:pPr>
            <a:r>
              <a:rPr lang="en-AU" sz="2200" dirty="0" smtClean="0">
                <a:latin typeface="Helvetica" pitchFamily="34" charset="0"/>
              </a:rPr>
              <a:t>Ratio analysis:</a:t>
            </a:r>
          </a:p>
          <a:p>
            <a:pPr marL="360000" indent="-360000">
              <a:spcBef>
                <a:spcPts val="600"/>
              </a:spcBef>
              <a:spcAft>
                <a:spcPts val="1200"/>
              </a:spcAft>
              <a:buClr>
                <a:srgbClr val="7FD13B"/>
              </a:buClr>
            </a:pPr>
            <a:r>
              <a:rPr lang="en-AU" sz="2200" dirty="0" smtClean="0">
                <a:latin typeface="Helvetica" pitchFamily="34" charset="0"/>
              </a:rPr>
              <a:t>Key operational ratios: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Occupancy</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RevPAR</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Food and beverage cost percentages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Payroll cost percentage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descr="MP900390097.JPG"/>
          <p:cNvPicPr>
            <a:picLocks noChangeAspect="1"/>
          </p:cNvPicPr>
          <p:nvPr/>
        </p:nvPicPr>
        <p:blipFill>
          <a:blip r:embed="rId3" cstate="print"/>
          <a:stretch>
            <a:fillRect/>
          </a:stretch>
        </p:blipFill>
        <p:spPr>
          <a:xfrm>
            <a:off x="6156176" y="3884092"/>
            <a:ext cx="2289448" cy="1633140"/>
          </a:xfrm>
          <a:prstGeom prst="rect">
            <a:avLst/>
          </a:prstGeom>
        </p:spPr>
      </p:pic>
    </p:spTree>
    <p:extLst>
      <p:ext uri="{BB962C8B-B14F-4D97-AF65-F5344CB8AC3E}">
        <p14:creationId xmlns:p14="http://schemas.microsoft.com/office/powerpoint/2010/main" val="361527963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28592"/>
          </a:xfrm>
        </p:spPr>
        <p:txBody>
          <a:bodyPr>
            <a:normAutofit/>
          </a:bodyPr>
          <a:lstStyle/>
          <a:p>
            <a:pPr marL="0" indent="0">
              <a:spcBef>
                <a:spcPts val="600"/>
              </a:spcBef>
              <a:spcAft>
                <a:spcPts val="1200"/>
              </a:spcAft>
              <a:buNone/>
            </a:pPr>
            <a:r>
              <a:rPr lang="en-AU" sz="2200" dirty="0" smtClean="0">
                <a:latin typeface="Helvetica" pitchFamily="34" charset="0"/>
              </a:rPr>
              <a:t>Ratio analysis:</a:t>
            </a:r>
          </a:p>
          <a:p>
            <a:pPr marL="360000" indent="-360000">
              <a:spcBef>
                <a:spcPts val="600"/>
              </a:spcBef>
              <a:spcAft>
                <a:spcPts val="1200"/>
              </a:spcAft>
              <a:buClr>
                <a:srgbClr val="7FD13B"/>
              </a:buClr>
            </a:pPr>
            <a:r>
              <a:rPr lang="en-AU" sz="2200" dirty="0" smtClean="0">
                <a:latin typeface="Helvetica" pitchFamily="34" charset="0"/>
              </a:rPr>
              <a:t>Worked example from financial statements</a:t>
            </a:r>
          </a:p>
          <a:p>
            <a:pPr marL="360000" indent="-360000">
              <a:spcBef>
                <a:spcPts val="600"/>
              </a:spcBef>
              <a:spcAft>
                <a:spcPts val="1200"/>
              </a:spcAft>
              <a:buClr>
                <a:srgbClr val="7FD13B"/>
              </a:buClr>
            </a:pPr>
            <a:r>
              <a:rPr lang="en-AU" sz="2200" dirty="0" smtClean="0">
                <a:latin typeface="Helvetica" pitchFamily="34" charset="0"/>
              </a:rPr>
              <a:t>Additional exercise on next slide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4" descr="freeimage-3799089.jpg"/>
          <p:cNvPicPr>
            <a:picLocks noChangeAspect="1"/>
          </p:cNvPicPr>
          <p:nvPr/>
        </p:nvPicPr>
        <p:blipFill>
          <a:blip r:embed="rId3" cstate="print"/>
          <a:stretch>
            <a:fillRect/>
          </a:stretch>
        </p:blipFill>
        <p:spPr>
          <a:xfrm>
            <a:off x="6300192" y="3816424"/>
            <a:ext cx="2171733" cy="1628800"/>
          </a:xfrm>
          <a:prstGeom prst="rect">
            <a:avLst/>
          </a:prstGeom>
        </p:spPr>
      </p:pic>
    </p:spTree>
    <p:extLst>
      <p:ext uri="{BB962C8B-B14F-4D97-AF65-F5344CB8AC3E}">
        <p14:creationId xmlns:p14="http://schemas.microsoft.com/office/powerpoint/2010/main" val="170661131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32792" y="1052736"/>
            <a:ext cx="7467600" cy="5805264"/>
          </a:xfrm>
        </p:spPr>
        <p:txBody>
          <a:bodyPr>
            <a:normAutofit fontScale="85000" lnSpcReduction="20000"/>
          </a:bodyPr>
          <a:lstStyle/>
          <a:p>
            <a:pPr marL="0" indent="0">
              <a:spcBef>
                <a:spcPts val="600"/>
              </a:spcBef>
              <a:spcAft>
                <a:spcPts val="600"/>
              </a:spcAft>
              <a:buNone/>
            </a:pPr>
            <a:r>
              <a:rPr lang="en-AU" sz="1700" dirty="0" smtClean="0">
                <a:latin typeface="Helvetica" pitchFamily="34" charset="0"/>
              </a:rPr>
              <a:t>Ratio analysis:</a:t>
            </a:r>
          </a:p>
          <a:p>
            <a:pPr marL="0" indent="0">
              <a:spcBef>
                <a:spcPts val="600"/>
              </a:spcBef>
              <a:spcAft>
                <a:spcPts val="600"/>
              </a:spcAft>
              <a:buNone/>
            </a:pPr>
            <a:r>
              <a:rPr lang="en-AU" sz="1700" dirty="0" smtClean="0">
                <a:latin typeface="Helvetica" pitchFamily="34" charset="0"/>
              </a:rPr>
              <a:t>The following financial  information highlights the profitability and financial stability in the last 3 years of a small restaurant.</a:t>
            </a:r>
          </a:p>
          <a:p>
            <a:pPr marL="0" indent="0">
              <a:spcBef>
                <a:spcPts val="600"/>
              </a:spcBef>
              <a:spcAft>
                <a:spcPts val="600"/>
              </a:spcAft>
              <a:buNone/>
            </a:pPr>
            <a:endParaRPr lang="en-AU" sz="1700" dirty="0" smtClean="0">
              <a:latin typeface="Helvetica" pitchFamily="34" charset="0"/>
            </a:endParaRPr>
          </a:p>
          <a:p>
            <a:pPr marL="0" indent="0">
              <a:spcBef>
                <a:spcPts val="600"/>
              </a:spcBef>
              <a:spcAft>
                <a:spcPts val="600"/>
              </a:spcAft>
              <a:buNone/>
            </a:pPr>
            <a:endParaRPr lang="en-AU" sz="1700" dirty="0" smtClean="0">
              <a:latin typeface="Helvetica" pitchFamily="34" charset="0"/>
            </a:endParaRPr>
          </a:p>
          <a:p>
            <a:pPr marL="0" indent="0">
              <a:spcBef>
                <a:spcPts val="600"/>
              </a:spcBef>
              <a:spcAft>
                <a:spcPts val="600"/>
              </a:spcAft>
              <a:buNone/>
            </a:pPr>
            <a:endParaRPr lang="en-AU" sz="1700" dirty="0" smtClean="0">
              <a:latin typeface="Helvetica" pitchFamily="34" charset="0"/>
            </a:endParaRPr>
          </a:p>
          <a:p>
            <a:pPr marL="0" indent="0">
              <a:spcBef>
                <a:spcPts val="600"/>
              </a:spcBef>
              <a:spcAft>
                <a:spcPts val="600"/>
              </a:spcAft>
              <a:buNone/>
            </a:pPr>
            <a:endParaRPr lang="en-AU" sz="1700" dirty="0" smtClean="0">
              <a:latin typeface="Helvetica" pitchFamily="34" charset="0"/>
            </a:endParaRPr>
          </a:p>
          <a:p>
            <a:pPr marL="0" indent="0">
              <a:spcBef>
                <a:spcPts val="600"/>
              </a:spcBef>
              <a:spcAft>
                <a:spcPts val="600"/>
              </a:spcAft>
              <a:buNone/>
            </a:pPr>
            <a:endParaRPr lang="en-AU" sz="1700" dirty="0" smtClean="0">
              <a:latin typeface="Helvetica" pitchFamily="34" charset="0"/>
            </a:endParaRPr>
          </a:p>
          <a:p>
            <a:pPr marL="0" indent="0">
              <a:spcBef>
                <a:spcPts val="600"/>
              </a:spcBef>
              <a:spcAft>
                <a:spcPts val="600"/>
              </a:spcAft>
              <a:buNone/>
            </a:pPr>
            <a:endParaRPr lang="en-AU" sz="1700" dirty="0" smtClean="0">
              <a:latin typeface="Helvetica" pitchFamily="34" charset="0"/>
            </a:endParaRPr>
          </a:p>
          <a:p>
            <a:pPr marL="0" indent="0">
              <a:spcBef>
                <a:spcPts val="600"/>
              </a:spcBef>
              <a:spcAft>
                <a:spcPts val="600"/>
              </a:spcAft>
              <a:buNone/>
            </a:pPr>
            <a:endParaRPr lang="en-AU" sz="1700" dirty="0" smtClean="0">
              <a:latin typeface="Helvetica" pitchFamily="34" charset="0"/>
            </a:endParaRPr>
          </a:p>
          <a:p>
            <a:pPr marL="0" indent="0">
              <a:spcBef>
                <a:spcPts val="600"/>
              </a:spcBef>
              <a:spcAft>
                <a:spcPts val="600"/>
              </a:spcAft>
              <a:buNone/>
            </a:pPr>
            <a:r>
              <a:rPr lang="en-AU" sz="1700" b="1" i="1" dirty="0" smtClean="0">
                <a:latin typeface="Helvetica" pitchFamily="34" charset="0"/>
              </a:rPr>
              <a:t>Required:</a:t>
            </a:r>
          </a:p>
          <a:p>
            <a:pPr marL="0" indent="0">
              <a:spcBef>
                <a:spcPts val="600"/>
              </a:spcBef>
              <a:spcAft>
                <a:spcPts val="600"/>
              </a:spcAft>
              <a:buNone/>
            </a:pPr>
            <a:r>
              <a:rPr lang="en-AU" sz="1700" dirty="0" smtClean="0">
                <a:latin typeface="Helvetica" pitchFamily="34" charset="0"/>
              </a:rPr>
              <a:t>Using the above information, answer each of the following questions, including an explanation of why you answered each question this way:</a:t>
            </a:r>
          </a:p>
          <a:p>
            <a:pPr marL="265113" indent="-265113">
              <a:spcBef>
                <a:spcPts val="600"/>
              </a:spcBef>
              <a:spcAft>
                <a:spcPts val="600"/>
              </a:spcAft>
              <a:buClrTx/>
              <a:buFont typeface="+mj-lt"/>
              <a:buAutoNum type="alphaLcParenR"/>
            </a:pPr>
            <a:r>
              <a:rPr lang="en-AU" sz="1700" dirty="0" smtClean="0">
                <a:latin typeface="Helvetica" pitchFamily="34" charset="0"/>
              </a:rPr>
              <a:t>On average, is the restaurant extending a shorter or longer credit period to its customer?</a:t>
            </a:r>
          </a:p>
          <a:p>
            <a:pPr marL="265113" indent="-265113">
              <a:spcBef>
                <a:spcPts val="600"/>
              </a:spcBef>
              <a:spcAft>
                <a:spcPts val="600"/>
              </a:spcAft>
              <a:buClrTx/>
              <a:buFont typeface="+mj-lt"/>
              <a:buAutoNum type="alphaLcParenR"/>
            </a:pPr>
            <a:r>
              <a:rPr lang="en-AU" sz="1700" dirty="0" smtClean="0">
                <a:latin typeface="Helvetica" pitchFamily="34" charset="0"/>
              </a:rPr>
              <a:t>Over the years has more or less money been invested in food inventory?</a:t>
            </a:r>
          </a:p>
          <a:p>
            <a:pPr marL="265113" indent="-265113">
              <a:spcBef>
                <a:spcPts val="600"/>
              </a:spcBef>
              <a:spcAft>
                <a:spcPts val="600"/>
              </a:spcAft>
              <a:buClrTx/>
              <a:buFont typeface="+mj-lt"/>
              <a:buAutoNum type="alphaLcParenR"/>
            </a:pPr>
            <a:r>
              <a:rPr lang="en-AU" sz="1700" dirty="0" smtClean="0">
                <a:latin typeface="Helvetica" pitchFamily="34" charset="0"/>
              </a:rPr>
              <a:t>During the period, has the liquidity of the restaurant improved?</a:t>
            </a:r>
          </a:p>
          <a:p>
            <a:pPr marL="265113" indent="-265113">
              <a:spcBef>
                <a:spcPts val="600"/>
              </a:spcBef>
              <a:spcAft>
                <a:spcPts val="600"/>
              </a:spcAft>
              <a:buClrTx/>
              <a:buFont typeface="+mj-lt"/>
              <a:buAutoNum type="alphaLcParenR"/>
            </a:pPr>
            <a:r>
              <a:rPr lang="en-AU" sz="1700" dirty="0" smtClean="0">
                <a:latin typeface="Helvetica" pitchFamily="34" charset="0"/>
              </a:rPr>
              <a:t>Imagine that in 20 x 3 the restaurant wants to finance a proposed expansion through a loan. Relative to its financial position in 20 x 1, do you think it will be easier or harder to borrow?</a:t>
            </a:r>
          </a:p>
          <a:p>
            <a:pPr marL="0" indent="0">
              <a:spcBef>
                <a:spcPts val="600"/>
              </a:spcBef>
              <a:spcAft>
                <a:spcPts val="600"/>
              </a:spcAft>
              <a:buNone/>
            </a:pPr>
            <a:endParaRPr lang="en-AU" sz="14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graphicFrame>
        <p:nvGraphicFramePr>
          <p:cNvPr id="6" name="Table 5"/>
          <p:cNvGraphicFramePr>
            <a:graphicFrameLocks noGrp="1"/>
          </p:cNvGraphicFramePr>
          <p:nvPr/>
        </p:nvGraphicFramePr>
        <p:xfrm>
          <a:off x="683568" y="1916832"/>
          <a:ext cx="6768752" cy="2088234"/>
        </p:xfrm>
        <a:graphic>
          <a:graphicData uri="http://schemas.openxmlformats.org/drawingml/2006/table">
            <a:tbl>
              <a:tblPr firstRow="1" bandRow="1">
                <a:tableStyleId>{21E4AEA4-8DFA-4A89-87EB-49C32662AFE0}</a:tableStyleId>
              </a:tblPr>
              <a:tblGrid>
                <a:gridCol w="2628641"/>
                <a:gridCol w="1577185"/>
                <a:gridCol w="1314321"/>
                <a:gridCol w="1248605"/>
              </a:tblGrid>
              <a:tr h="348039">
                <a:tc>
                  <a:txBody>
                    <a:bodyPr/>
                    <a:lstStyle/>
                    <a:p>
                      <a:r>
                        <a:rPr lang="en-AU" sz="1200" dirty="0" smtClean="0"/>
                        <a:t>Year</a:t>
                      </a:r>
                      <a:endParaRPr lang="en-AU" sz="1200" dirty="0">
                        <a:latin typeface="Helvetica" pitchFamily="34" charset="0"/>
                      </a:endParaRPr>
                    </a:p>
                  </a:txBody>
                  <a:tcPr/>
                </a:tc>
                <a:tc>
                  <a:txBody>
                    <a:bodyPr/>
                    <a:lstStyle/>
                    <a:p>
                      <a:pPr algn="r"/>
                      <a:r>
                        <a:rPr lang="en-AU" sz="1200" dirty="0" smtClean="0"/>
                        <a:t>20 x 1</a:t>
                      </a:r>
                      <a:endParaRPr lang="en-AU" sz="1200" dirty="0">
                        <a:latin typeface="Helvetica" pitchFamily="34" charset="0"/>
                      </a:endParaRPr>
                    </a:p>
                  </a:txBody>
                  <a:tcPr/>
                </a:tc>
                <a:tc>
                  <a:txBody>
                    <a:bodyPr/>
                    <a:lstStyle/>
                    <a:p>
                      <a:pPr algn="r"/>
                      <a:r>
                        <a:rPr lang="en-AU" sz="1200" dirty="0" smtClean="0"/>
                        <a:t>20 x 2</a:t>
                      </a:r>
                      <a:endParaRPr lang="en-AU" sz="1200" dirty="0">
                        <a:latin typeface="Helvetica" pitchFamily="34" charset="0"/>
                      </a:endParaRPr>
                    </a:p>
                  </a:txBody>
                  <a:tcPr/>
                </a:tc>
                <a:tc>
                  <a:txBody>
                    <a:bodyPr/>
                    <a:lstStyle/>
                    <a:p>
                      <a:pPr algn="r"/>
                      <a:r>
                        <a:rPr lang="en-AU" sz="1200" dirty="0" smtClean="0"/>
                        <a:t>20 x 3</a:t>
                      </a:r>
                      <a:endParaRPr lang="en-AU" sz="1200" dirty="0">
                        <a:latin typeface="Helvetica" pitchFamily="34" charset="0"/>
                      </a:endParaRPr>
                    </a:p>
                  </a:txBody>
                  <a:tcPr/>
                </a:tc>
              </a:tr>
              <a:tr h="348039">
                <a:tc>
                  <a:txBody>
                    <a:bodyPr/>
                    <a:lstStyle/>
                    <a:p>
                      <a:r>
                        <a:rPr lang="en-AU" sz="1200" dirty="0" smtClean="0"/>
                        <a:t>Current asset</a:t>
                      </a:r>
                      <a:r>
                        <a:rPr lang="en-AU" sz="1200" baseline="0" dirty="0" smtClean="0"/>
                        <a:t> ratio</a:t>
                      </a:r>
                      <a:endParaRPr lang="en-AU" sz="1200" dirty="0">
                        <a:latin typeface="Helvetica" pitchFamily="34" charset="0"/>
                      </a:endParaRPr>
                    </a:p>
                  </a:txBody>
                  <a:tcPr/>
                </a:tc>
                <a:tc>
                  <a:txBody>
                    <a:bodyPr/>
                    <a:lstStyle/>
                    <a:p>
                      <a:pPr algn="r"/>
                      <a:r>
                        <a:rPr lang="en-AU" sz="1200" dirty="0" smtClean="0"/>
                        <a:t>1.20</a:t>
                      </a:r>
                      <a:endParaRPr lang="en-AU" sz="1200" dirty="0">
                        <a:latin typeface="Helvetica" pitchFamily="34" charset="0"/>
                      </a:endParaRPr>
                    </a:p>
                  </a:txBody>
                  <a:tcPr/>
                </a:tc>
                <a:tc>
                  <a:txBody>
                    <a:bodyPr/>
                    <a:lstStyle/>
                    <a:p>
                      <a:pPr algn="r"/>
                      <a:r>
                        <a:rPr lang="en-AU" sz="1200" dirty="0" smtClean="0"/>
                        <a:t>1.34</a:t>
                      </a:r>
                      <a:endParaRPr lang="en-AU" sz="1200" dirty="0">
                        <a:latin typeface="Helvetica" pitchFamily="34" charset="0"/>
                      </a:endParaRPr>
                    </a:p>
                  </a:txBody>
                  <a:tcPr/>
                </a:tc>
                <a:tc>
                  <a:txBody>
                    <a:bodyPr/>
                    <a:lstStyle/>
                    <a:p>
                      <a:pPr algn="r"/>
                      <a:r>
                        <a:rPr lang="en-AU" sz="1200" dirty="0" smtClean="0"/>
                        <a:t>1.46</a:t>
                      </a:r>
                      <a:endParaRPr lang="en-AU" sz="1200" dirty="0">
                        <a:latin typeface="Helvetica" pitchFamily="34" charset="0"/>
                      </a:endParaRPr>
                    </a:p>
                  </a:txBody>
                  <a:tcPr/>
                </a:tc>
              </a:tr>
              <a:tr h="348039">
                <a:tc>
                  <a:txBody>
                    <a:bodyPr/>
                    <a:lstStyle/>
                    <a:p>
                      <a:r>
                        <a:rPr lang="en-AU" sz="1200" dirty="0" smtClean="0"/>
                        <a:t>Food inventory turnover</a:t>
                      </a:r>
                      <a:endParaRPr lang="en-AU" sz="1200" dirty="0">
                        <a:latin typeface="Helvetica" pitchFamily="34" charset="0"/>
                      </a:endParaRPr>
                    </a:p>
                  </a:txBody>
                  <a:tcPr/>
                </a:tc>
                <a:tc>
                  <a:txBody>
                    <a:bodyPr/>
                    <a:lstStyle/>
                    <a:p>
                      <a:pPr algn="r"/>
                      <a:r>
                        <a:rPr lang="en-AU" sz="1200" dirty="0" smtClean="0"/>
                        <a:t>36 times</a:t>
                      </a:r>
                      <a:endParaRPr lang="en-AU" sz="1200" dirty="0">
                        <a:latin typeface="Helvetica" pitchFamily="34" charset="0"/>
                      </a:endParaRPr>
                    </a:p>
                  </a:txBody>
                  <a:tcPr/>
                </a:tc>
                <a:tc>
                  <a:txBody>
                    <a:bodyPr/>
                    <a:lstStyle/>
                    <a:p>
                      <a:pPr algn="r"/>
                      <a:r>
                        <a:rPr lang="en-AU" sz="1200" dirty="0" smtClean="0"/>
                        <a:t>30 times</a:t>
                      </a:r>
                      <a:endParaRPr lang="en-AU" sz="1200" dirty="0">
                        <a:latin typeface="Helvetica" pitchFamily="34" charset="0"/>
                      </a:endParaRPr>
                    </a:p>
                  </a:txBody>
                  <a:tcPr/>
                </a:tc>
                <a:tc>
                  <a:txBody>
                    <a:bodyPr/>
                    <a:lstStyle/>
                    <a:p>
                      <a:pPr algn="r"/>
                      <a:r>
                        <a:rPr lang="en-AU" sz="1200" dirty="0" smtClean="0"/>
                        <a:t>25 times</a:t>
                      </a:r>
                      <a:endParaRPr lang="en-AU" sz="1200" dirty="0">
                        <a:latin typeface="Helvetica" pitchFamily="34" charset="0"/>
                      </a:endParaRPr>
                    </a:p>
                  </a:txBody>
                  <a:tcPr/>
                </a:tc>
              </a:tr>
              <a:tr h="348039">
                <a:tc>
                  <a:txBody>
                    <a:bodyPr/>
                    <a:lstStyle/>
                    <a:p>
                      <a:r>
                        <a:rPr lang="en-AU" sz="1200" dirty="0" smtClean="0"/>
                        <a:t>Accounts receivable turnover</a:t>
                      </a:r>
                      <a:endParaRPr lang="en-AU" sz="1200" dirty="0">
                        <a:latin typeface="Helvetica" pitchFamily="34" charset="0"/>
                      </a:endParaRPr>
                    </a:p>
                  </a:txBody>
                  <a:tcPr/>
                </a:tc>
                <a:tc>
                  <a:txBody>
                    <a:bodyPr/>
                    <a:lstStyle/>
                    <a:p>
                      <a:pPr algn="r"/>
                      <a:r>
                        <a:rPr lang="en-AU" sz="1200" dirty="0" smtClean="0"/>
                        <a:t>29 times</a:t>
                      </a:r>
                      <a:endParaRPr lang="en-AU" sz="1200" dirty="0">
                        <a:latin typeface="Helvetica" pitchFamily="34" charset="0"/>
                      </a:endParaRPr>
                    </a:p>
                  </a:txBody>
                  <a:tcPr/>
                </a:tc>
                <a:tc>
                  <a:txBody>
                    <a:bodyPr/>
                    <a:lstStyle/>
                    <a:p>
                      <a:pPr algn="r"/>
                      <a:r>
                        <a:rPr lang="en-AU" sz="1200" dirty="0" smtClean="0"/>
                        <a:t>25 times</a:t>
                      </a:r>
                      <a:endParaRPr lang="en-AU" sz="1200" dirty="0">
                        <a:latin typeface="Helvetica" pitchFamily="34" charset="0"/>
                      </a:endParaRPr>
                    </a:p>
                  </a:txBody>
                  <a:tcPr/>
                </a:tc>
                <a:tc>
                  <a:txBody>
                    <a:bodyPr/>
                    <a:lstStyle/>
                    <a:p>
                      <a:pPr algn="r"/>
                      <a:r>
                        <a:rPr lang="en-AU" sz="1200" dirty="0" smtClean="0"/>
                        <a:t>19 times</a:t>
                      </a:r>
                      <a:endParaRPr lang="en-AU" sz="1200" dirty="0">
                        <a:latin typeface="Helvetica" pitchFamily="34" charset="0"/>
                      </a:endParaRPr>
                    </a:p>
                  </a:txBody>
                  <a:tcPr/>
                </a:tc>
              </a:tr>
              <a:tr h="348039">
                <a:tc>
                  <a:txBody>
                    <a:bodyPr/>
                    <a:lstStyle/>
                    <a:p>
                      <a:r>
                        <a:rPr lang="en-AU" sz="1200" dirty="0" smtClean="0"/>
                        <a:t>Debt to equity</a:t>
                      </a:r>
                      <a:endParaRPr lang="en-AU" sz="1200" dirty="0">
                        <a:latin typeface="Helvetica" pitchFamily="34" charset="0"/>
                      </a:endParaRPr>
                    </a:p>
                  </a:txBody>
                  <a:tcPr/>
                </a:tc>
                <a:tc>
                  <a:txBody>
                    <a:bodyPr/>
                    <a:lstStyle/>
                    <a:p>
                      <a:pPr algn="r"/>
                      <a:r>
                        <a:rPr lang="en-AU" sz="1200" dirty="0" smtClean="0"/>
                        <a:t>2.40</a:t>
                      </a:r>
                      <a:endParaRPr lang="en-AU" sz="1200" dirty="0">
                        <a:latin typeface="Helvetica" pitchFamily="34" charset="0"/>
                      </a:endParaRPr>
                    </a:p>
                  </a:txBody>
                  <a:tcPr/>
                </a:tc>
                <a:tc>
                  <a:txBody>
                    <a:bodyPr/>
                    <a:lstStyle/>
                    <a:p>
                      <a:pPr algn="r"/>
                      <a:r>
                        <a:rPr lang="en-AU" sz="1200" dirty="0" smtClean="0"/>
                        <a:t>2.20</a:t>
                      </a:r>
                      <a:endParaRPr lang="en-AU" sz="1200" dirty="0">
                        <a:latin typeface="Helvetica" pitchFamily="34" charset="0"/>
                      </a:endParaRPr>
                    </a:p>
                  </a:txBody>
                  <a:tcPr/>
                </a:tc>
                <a:tc>
                  <a:txBody>
                    <a:bodyPr/>
                    <a:lstStyle/>
                    <a:p>
                      <a:pPr algn="r"/>
                      <a:r>
                        <a:rPr lang="en-AU" sz="1200" dirty="0" smtClean="0"/>
                        <a:t>1.85</a:t>
                      </a:r>
                      <a:endParaRPr lang="en-AU" sz="1200" dirty="0">
                        <a:latin typeface="Helvetica" pitchFamily="34" charset="0"/>
                      </a:endParaRPr>
                    </a:p>
                  </a:txBody>
                  <a:tcPr/>
                </a:tc>
              </a:tr>
              <a:tr h="348039">
                <a:tc>
                  <a:txBody>
                    <a:bodyPr/>
                    <a:lstStyle/>
                    <a:p>
                      <a:r>
                        <a:rPr lang="en-AU" sz="1200" dirty="0" smtClean="0"/>
                        <a:t>Sales (all on credit)</a:t>
                      </a:r>
                      <a:endParaRPr lang="en-AU" sz="1200" dirty="0">
                        <a:latin typeface="Helvetica" pitchFamily="34" charset="0"/>
                      </a:endParaRPr>
                    </a:p>
                  </a:txBody>
                  <a:tcPr/>
                </a:tc>
                <a:tc>
                  <a:txBody>
                    <a:bodyPr/>
                    <a:lstStyle/>
                    <a:p>
                      <a:pPr algn="r"/>
                      <a:r>
                        <a:rPr lang="en-AU" sz="1200" dirty="0" smtClean="0"/>
                        <a:t>945,000</a:t>
                      </a:r>
                      <a:endParaRPr lang="en-AU" sz="1200" dirty="0">
                        <a:latin typeface="Helvetica" pitchFamily="34" charset="0"/>
                      </a:endParaRPr>
                    </a:p>
                  </a:txBody>
                  <a:tcPr/>
                </a:tc>
                <a:tc>
                  <a:txBody>
                    <a:bodyPr/>
                    <a:lstStyle/>
                    <a:p>
                      <a:pPr algn="r"/>
                      <a:r>
                        <a:rPr lang="en-AU" sz="1200" dirty="0" smtClean="0"/>
                        <a:t>952,000</a:t>
                      </a:r>
                      <a:endParaRPr lang="en-AU" sz="1200" dirty="0">
                        <a:latin typeface="Helvetica" pitchFamily="34" charset="0"/>
                      </a:endParaRPr>
                    </a:p>
                  </a:txBody>
                  <a:tcPr/>
                </a:tc>
                <a:tc>
                  <a:txBody>
                    <a:bodyPr/>
                    <a:lstStyle/>
                    <a:p>
                      <a:pPr algn="r"/>
                      <a:r>
                        <a:rPr lang="en-AU" sz="1200" dirty="0" smtClean="0"/>
                        <a:t>948,000</a:t>
                      </a:r>
                      <a:endParaRPr lang="en-AU" sz="1200" dirty="0">
                        <a:latin typeface="Helvetica" pitchFamily="34" charset="0"/>
                      </a:endParaRPr>
                    </a:p>
                  </a:txBody>
                  <a:tcPr/>
                </a:tc>
              </a:tr>
            </a:tbl>
          </a:graphicData>
        </a:graphic>
      </p:graphicFrame>
    </p:spTree>
    <p:extLst>
      <p:ext uri="{BB962C8B-B14F-4D97-AF65-F5344CB8AC3E}">
        <p14:creationId xmlns:p14="http://schemas.microsoft.com/office/powerpoint/2010/main" val="268627576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472608"/>
          </a:xfrm>
        </p:spPr>
        <p:txBody>
          <a:bodyPr>
            <a:normAutofit/>
          </a:bodyPr>
          <a:lstStyle/>
          <a:p>
            <a:pPr marL="0" indent="0">
              <a:spcBef>
                <a:spcPts val="600"/>
              </a:spcBef>
              <a:spcAft>
                <a:spcPts val="1200"/>
              </a:spcAft>
              <a:buNone/>
            </a:pPr>
            <a:r>
              <a:rPr lang="en-AU" sz="2200" dirty="0" smtClean="0">
                <a:latin typeface="Helvetica" pitchFamily="34" charset="0"/>
              </a:rPr>
              <a:t>Benchmarking:</a:t>
            </a:r>
          </a:p>
          <a:p>
            <a:pPr marL="360000" indent="-360000">
              <a:spcBef>
                <a:spcPts val="600"/>
              </a:spcBef>
              <a:spcAft>
                <a:spcPts val="1200"/>
              </a:spcAft>
              <a:buClr>
                <a:srgbClr val="7FD13B"/>
              </a:buClr>
            </a:pPr>
            <a:r>
              <a:rPr lang="en-AU" sz="2200" dirty="0" smtClean="0">
                <a:latin typeface="Helvetica" pitchFamily="34" charset="0"/>
              </a:rPr>
              <a:t>Benchmarks: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Defined</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Common examples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Activity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descr="freeimage-2473366.jpg"/>
          <p:cNvPicPr>
            <a:picLocks noChangeAspect="1"/>
          </p:cNvPicPr>
          <p:nvPr/>
        </p:nvPicPr>
        <p:blipFill>
          <a:blip r:embed="rId3" cstate="print"/>
          <a:stretch>
            <a:fillRect/>
          </a:stretch>
        </p:blipFill>
        <p:spPr>
          <a:xfrm>
            <a:off x="6012160" y="3933056"/>
            <a:ext cx="2411760" cy="1474477"/>
          </a:xfrm>
          <a:prstGeom prst="rect">
            <a:avLst/>
          </a:prstGeom>
        </p:spPr>
      </p:pic>
    </p:spTree>
    <p:extLst>
      <p:ext uri="{BB962C8B-B14F-4D97-AF65-F5344CB8AC3E}">
        <p14:creationId xmlns:p14="http://schemas.microsoft.com/office/powerpoint/2010/main" val="34942209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marL="0" indent="0">
              <a:spcBef>
                <a:spcPts val="600"/>
              </a:spcBef>
              <a:spcAft>
                <a:spcPts val="1200"/>
              </a:spcAft>
              <a:buNone/>
            </a:pPr>
            <a:r>
              <a:rPr lang="en-AU" sz="2200" dirty="0" smtClean="0">
                <a:latin typeface="Helvetica" pitchFamily="34" charset="0"/>
              </a:rPr>
              <a:t>Trend analysis:</a:t>
            </a:r>
          </a:p>
          <a:p>
            <a:pPr marL="360000" indent="-360000">
              <a:spcBef>
                <a:spcPts val="600"/>
              </a:spcBef>
              <a:spcAft>
                <a:spcPts val="1200"/>
              </a:spcAft>
              <a:buClr>
                <a:srgbClr val="7FD13B"/>
              </a:buClr>
            </a:pPr>
            <a:r>
              <a:rPr lang="en-AU" sz="2200" dirty="0" smtClean="0">
                <a:latin typeface="Helvetica" pitchFamily="34" charset="0"/>
              </a:rPr>
              <a:t>Defined</a:t>
            </a:r>
          </a:p>
          <a:p>
            <a:pPr marL="360000" indent="-360000">
              <a:spcBef>
                <a:spcPts val="600"/>
              </a:spcBef>
              <a:spcAft>
                <a:spcPts val="1200"/>
              </a:spcAft>
              <a:buClr>
                <a:srgbClr val="7FD13B"/>
              </a:buClr>
            </a:pPr>
            <a:r>
              <a:rPr lang="en-AU" sz="2200" dirty="0" smtClean="0">
                <a:latin typeface="Helvetica" pitchFamily="34" charset="0"/>
              </a:rPr>
              <a:t>Horizontal analysis: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Base period</a:t>
            </a:r>
          </a:p>
          <a:p>
            <a:pPr marL="360000" indent="-360000">
              <a:spcBef>
                <a:spcPts val="600"/>
              </a:spcBef>
              <a:spcAft>
                <a:spcPts val="1200"/>
              </a:spcAft>
              <a:buClr>
                <a:srgbClr val="7FD13B"/>
              </a:buClr>
            </a:pPr>
            <a:r>
              <a:rPr lang="en-AU" sz="2200" dirty="0" smtClean="0">
                <a:latin typeface="Helvetica" pitchFamily="34" charset="0"/>
              </a:rPr>
              <a:t>Vertical analysis: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Base account category – Revenue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descr="MC900368366.WMF"/>
          <p:cNvPicPr>
            <a:picLocks noChangeAspect="1"/>
          </p:cNvPicPr>
          <p:nvPr/>
        </p:nvPicPr>
        <p:blipFill>
          <a:blip r:embed="rId3" cstate="print"/>
          <a:stretch>
            <a:fillRect/>
          </a:stretch>
        </p:blipFill>
        <p:spPr>
          <a:xfrm>
            <a:off x="6372200" y="3356992"/>
            <a:ext cx="1809598" cy="1736446"/>
          </a:xfrm>
          <a:prstGeom prst="rect">
            <a:avLst/>
          </a:prstGeom>
        </p:spPr>
      </p:pic>
    </p:spTree>
    <p:extLst>
      <p:ext uri="{BB962C8B-B14F-4D97-AF65-F5344CB8AC3E}">
        <p14:creationId xmlns:p14="http://schemas.microsoft.com/office/powerpoint/2010/main" val="212088915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0BDF71C-F485-43AE-8825-5070AF1EA8C9}" type="slidenum">
              <a:rPr lang="en-US" smtClean="0"/>
              <a:pPr/>
              <a:t>46</a:t>
            </a:fld>
            <a:endParaRPr lang="en-US" dirty="0"/>
          </a:p>
        </p:txBody>
      </p:sp>
      <p:sp>
        <p:nvSpPr>
          <p:cNvPr id="5" name="Rectangle 2"/>
          <p:cNvSpPr>
            <a:spLocks noGrp="1" noChangeArrowheads="1"/>
          </p:cNvSpPr>
          <p:nvPr>
            <p:ph type="title"/>
          </p:nvPr>
        </p:nvSpPr>
        <p:spPr>
          <a:xfrm>
            <a:off x="514672" y="381000"/>
            <a:ext cx="8305800" cy="815752"/>
          </a:xfrm>
        </p:spPr>
        <p:txBody>
          <a:bodyPr>
            <a:normAutofit/>
          </a:bodyPr>
          <a:lstStyle/>
          <a:p>
            <a:r>
              <a:rPr lang="en-US" sz="3400" b="1" dirty="0">
                <a:solidFill>
                  <a:srgbClr val="FF6600"/>
                </a:solidFill>
                <a:latin typeface="Helvetica" pitchFamily="34" charset="0"/>
              </a:rPr>
              <a:t>Monitoring the financial </a:t>
            </a:r>
            <a:r>
              <a:rPr lang="en-US" sz="3400" b="1" dirty="0" smtClean="0">
                <a:solidFill>
                  <a:srgbClr val="FF6600"/>
                </a:solidFill>
                <a:latin typeface="Helvetica" pitchFamily="34" charset="0"/>
              </a:rPr>
              <a:t>system</a:t>
            </a:r>
            <a:endParaRPr lang="en-US" sz="3400" dirty="0" smtClean="0"/>
          </a:p>
        </p:txBody>
      </p:sp>
      <p:graphicFrame>
        <p:nvGraphicFramePr>
          <p:cNvPr id="6" name="Group 91"/>
          <p:cNvGraphicFramePr>
            <a:graphicFrameLocks/>
          </p:cNvGraphicFramePr>
          <p:nvPr>
            <p:extLst>
              <p:ext uri="{D42A27DB-BD31-4B8C-83A1-F6EECF244321}">
                <p14:modId xmlns:p14="http://schemas.microsoft.com/office/powerpoint/2010/main" val="1359751543"/>
              </p:ext>
            </p:extLst>
          </p:nvPr>
        </p:nvGraphicFramePr>
        <p:xfrm>
          <a:off x="539553" y="1412777"/>
          <a:ext cx="6768750" cy="4062264"/>
        </p:xfrm>
        <a:graphic>
          <a:graphicData uri="http://schemas.openxmlformats.org/drawingml/2006/table">
            <a:tbl>
              <a:tblPr/>
              <a:tblGrid>
                <a:gridCol w="3105165"/>
                <a:gridCol w="1221195"/>
                <a:gridCol w="1221195"/>
                <a:gridCol w="1221195"/>
              </a:tblGrid>
              <a:tr h="407257">
                <a:tc>
                  <a:txBody>
                    <a:bodyPr/>
                    <a:lstStyle/>
                    <a:p>
                      <a:pPr marL="457200" marR="0" lvl="0" indent="-457200" algn="l" defTabSz="914400" rtl="0" eaLnBrk="1" fontAlgn="b" latinLnBrk="0" hangingPunct="1">
                        <a:lnSpc>
                          <a:spcPct val="100000"/>
                        </a:lnSpc>
                        <a:spcBef>
                          <a:spcPct val="0"/>
                        </a:spcBef>
                        <a:spcAft>
                          <a:spcPct val="0"/>
                        </a:spcAft>
                        <a:buClrTx/>
                        <a:buSzTx/>
                        <a:buFontTx/>
                        <a:buNone/>
                        <a:tabLst/>
                      </a:pPr>
                      <a:r>
                        <a:rPr kumimoji="0" lang="en-AU" sz="1800" b="1" i="0" u="none" strike="noStrike" cap="none" normalizeH="0" baseline="0" dirty="0" smtClean="0">
                          <a:ln>
                            <a:noFill/>
                          </a:ln>
                          <a:solidFill>
                            <a:schemeClr val="bg1"/>
                          </a:solidFill>
                          <a:effectLst/>
                          <a:latin typeface="Helvetica" pitchFamily="34" charset="0"/>
                          <a:ea typeface="ＭＳ Ｐゴシック" charset="-128"/>
                          <a:cs typeface="Arial" charset="0"/>
                        </a:rPr>
                        <a:t>Common size</a:t>
                      </a:r>
                      <a:endParaRPr kumimoji="0" lang="en-AU" sz="1800" b="0" i="0" u="none" strike="noStrike" cap="none" normalizeH="0" baseline="0" dirty="0" smtClean="0">
                        <a:ln>
                          <a:noFill/>
                        </a:ln>
                        <a:solidFill>
                          <a:schemeClr val="bg1"/>
                        </a:solidFill>
                        <a:effectLst/>
                        <a:latin typeface="Helvetica" pitchFamily="34" charset="0"/>
                        <a:ea typeface="ＭＳ Ｐゴシック" charset="-128"/>
                        <a:cs typeface="Arial" charset="0"/>
                      </a:endParaRPr>
                    </a:p>
                  </a:txBody>
                  <a:tcPr marL="90000" marR="90000" marT="46800" marB="46800"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105766"/>
                    </a:solidFill>
                  </a:tcPr>
                </a:tc>
                <a:tc>
                  <a:txBody>
                    <a:bodyPr/>
                    <a:lstStyle/>
                    <a:p>
                      <a:pPr marL="457200" marR="0" lvl="0" indent="-457200" algn="ctr" defTabSz="914400" rtl="0" eaLnBrk="1" fontAlgn="b" latinLnBrk="0" hangingPunct="1">
                        <a:lnSpc>
                          <a:spcPct val="100000"/>
                        </a:lnSpc>
                        <a:spcBef>
                          <a:spcPct val="0"/>
                        </a:spcBef>
                        <a:spcAft>
                          <a:spcPct val="0"/>
                        </a:spcAft>
                        <a:buClrTx/>
                        <a:buSzTx/>
                        <a:buFontTx/>
                        <a:buNone/>
                        <a:tabLst/>
                      </a:pPr>
                      <a:r>
                        <a:rPr kumimoji="0" lang="en-AU" sz="1800" b="1" i="0" u="none" strike="noStrike" cap="none" normalizeH="0" baseline="0" dirty="0" smtClean="0">
                          <a:ln>
                            <a:noFill/>
                          </a:ln>
                          <a:solidFill>
                            <a:schemeClr val="bg1"/>
                          </a:solidFill>
                          <a:effectLst/>
                          <a:latin typeface="Helvetica" pitchFamily="34" charset="0"/>
                          <a:ea typeface="ＭＳ Ｐゴシック" charset="-128"/>
                          <a:cs typeface="Arial" charset="0"/>
                        </a:rPr>
                        <a:t>2010</a:t>
                      </a:r>
                      <a:endParaRPr kumimoji="0" lang="en-AU" sz="1800" b="0" i="0" u="none" strike="noStrike" cap="none" normalizeH="0" baseline="0" dirty="0" smtClean="0">
                        <a:ln>
                          <a:noFill/>
                        </a:ln>
                        <a:solidFill>
                          <a:schemeClr val="bg1"/>
                        </a:solidFill>
                        <a:effectLst/>
                        <a:latin typeface="Helvetica" pitchFamily="34" charset="0"/>
                        <a:ea typeface="ＭＳ Ｐゴシック" charset="-128"/>
                        <a:cs typeface="Arial" charset="0"/>
                      </a:endParaRPr>
                    </a:p>
                  </a:txBody>
                  <a:tcPr marL="90000" marR="90000" marT="46800" marB="4680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105766"/>
                    </a:solidFill>
                  </a:tcPr>
                </a:tc>
                <a:tc>
                  <a:txBody>
                    <a:bodyPr/>
                    <a:lstStyle/>
                    <a:p>
                      <a:pPr marL="457200" marR="0" lvl="0" indent="-457200" algn="ctr" defTabSz="914400" rtl="0" eaLnBrk="1" fontAlgn="b" latinLnBrk="0" hangingPunct="1">
                        <a:lnSpc>
                          <a:spcPct val="100000"/>
                        </a:lnSpc>
                        <a:spcBef>
                          <a:spcPct val="0"/>
                        </a:spcBef>
                        <a:spcAft>
                          <a:spcPct val="0"/>
                        </a:spcAft>
                        <a:buClrTx/>
                        <a:buSzTx/>
                        <a:buFontTx/>
                        <a:buNone/>
                        <a:tabLst/>
                      </a:pPr>
                      <a:r>
                        <a:rPr kumimoji="0" lang="en-AU" sz="1800" b="1" i="0" u="none" strike="noStrike" cap="none" normalizeH="0" baseline="0" dirty="0" smtClean="0">
                          <a:ln>
                            <a:noFill/>
                          </a:ln>
                          <a:solidFill>
                            <a:schemeClr val="bg1"/>
                          </a:solidFill>
                          <a:effectLst/>
                          <a:latin typeface="Helvetica" pitchFamily="34" charset="0"/>
                          <a:ea typeface="ＭＳ Ｐゴシック" charset="-128"/>
                          <a:cs typeface="Arial" charset="0"/>
                        </a:rPr>
                        <a:t>2011</a:t>
                      </a:r>
                      <a:endParaRPr kumimoji="0" lang="en-AU" sz="1800" b="0" i="0" u="none" strike="noStrike" cap="none" normalizeH="0" baseline="0" dirty="0" smtClean="0">
                        <a:ln>
                          <a:noFill/>
                        </a:ln>
                        <a:solidFill>
                          <a:schemeClr val="bg1"/>
                        </a:solidFill>
                        <a:effectLst/>
                        <a:latin typeface="Helvetica" pitchFamily="34" charset="0"/>
                        <a:ea typeface="ＭＳ Ｐゴシック" charset="-128"/>
                        <a:cs typeface="Arial" charset="0"/>
                      </a:endParaRPr>
                    </a:p>
                  </a:txBody>
                  <a:tcPr marL="90000" marR="90000" marT="46800" marB="4680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105766"/>
                    </a:solidFill>
                  </a:tcPr>
                </a:tc>
                <a:tc>
                  <a:txBody>
                    <a:bodyPr/>
                    <a:lstStyle/>
                    <a:p>
                      <a:pPr marL="457200" marR="0" lvl="0" indent="-457200" algn="ctr" defTabSz="914400" rtl="0" eaLnBrk="1" fontAlgn="b" latinLnBrk="0" hangingPunct="1">
                        <a:lnSpc>
                          <a:spcPct val="100000"/>
                        </a:lnSpc>
                        <a:spcBef>
                          <a:spcPct val="0"/>
                        </a:spcBef>
                        <a:spcAft>
                          <a:spcPct val="0"/>
                        </a:spcAft>
                        <a:buClrTx/>
                        <a:buSzTx/>
                        <a:buFontTx/>
                        <a:buNone/>
                        <a:tabLst/>
                      </a:pPr>
                      <a:r>
                        <a:rPr kumimoji="0" lang="en-AU" sz="1800" b="1" i="0" u="none" strike="noStrike" cap="none" normalizeH="0" baseline="0" dirty="0" smtClean="0">
                          <a:ln>
                            <a:noFill/>
                          </a:ln>
                          <a:solidFill>
                            <a:schemeClr val="bg1"/>
                          </a:solidFill>
                          <a:effectLst/>
                          <a:latin typeface="Helvetica" pitchFamily="34" charset="0"/>
                          <a:ea typeface="ＭＳ Ｐゴシック" charset="-128"/>
                          <a:cs typeface="Arial" charset="0"/>
                        </a:rPr>
                        <a:t>2012</a:t>
                      </a:r>
                      <a:endParaRPr kumimoji="0" lang="en-AU" sz="1800" b="0" i="0" u="none" strike="noStrike" cap="none" normalizeH="0" baseline="0" dirty="0" smtClean="0">
                        <a:ln>
                          <a:noFill/>
                        </a:ln>
                        <a:solidFill>
                          <a:schemeClr val="bg1"/>
                        </a:solidFill>
                        <a:effectLst/>
                        <a:latin typeface="Helvetica" pitchFamily="34" charset="0"/>
                        <a:ea typeface="ＭＳ Ｐゴシック" charset="-128"/>
                        <a:cs typeface="Arial" charset="0"/>
                      </a:endParaRPr>
                    </a:p>
                  </a:txBody>
                  <a:tcPr marL="90000" marR="90000" marT="46800" marB="46800" anchor="b"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105766"/>
                    </a:solidFill>
                  </a:tcPr>
                </a:tc>
              </a:tr>
              <a:tr h="312822">
                <a:tc>
                  <a:txBody>
                    <a:bodyPr/>
                    <a:lstStyle/>
                    <a:p>
                      <a:pPr marL="0" marR="0" lvl="0" indent="0" algn="l" defTabSz="914400" rtl="0" eaLnBrk="1" fontAlgn="base" latinLnBrk="0" hangingPunct="1">
                        <a:lnSpc>
                          <a:spcPct val="100000"/>
                        </a:lnSpc>
                        <a:spcBef>
                          <a:spcPct val="20000"/>
                        </a:spcBef>
                        <a:spcAft>
                          <a:spcPct val="0"/>
                        </a:spcAft>
                        <a:buClr>
                          <a:schemeClr val="tx2"/>
                        </a:buClr>
                        <a:buSzPct val="120000"/>
                        <a:buFont typeface="Wingdings" charset="2"/>
                        <a:buNone/>
                        <a:tabLst/>
                      </a:pPr>
                      <a:endParaRPr kumimoji="0" lang="en-US" sz="2000" b="1" i="0" u="none" strike="noStrike" cap="none" normalizeH="0" baseline="0" dirty="0" smtClean="0">
                        <a:ln>
                          <a:noFill/>
                        </a:ln>
                        <a:solidFill>
                          <a:schemeClr val="bg1"/>
                        </a:solidFill>
                        <a:effectLst/>
                        <a:latin typeface="Helvetica" pitchFamily="34" charset="0"/>
                        <a:ea typeface="ＭＳ Ｐゴシック" charset="-128"/>
                      </a:endParaRPr>
                    </a:p>
                  </a:txBody>
                  <a:tcPr marL="90000" marR="90000" marT="46800" marB="4680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105766"/>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120000"/>
                        <a:buFont typeface="Wingdings" charset="2"/>
                        <a:buNone/>
                        <a:tabLst/>
                      </a:pPr>
                      <a:endParaRPr kumimoji="0" lang="en-US" sz="2000" b="1" i="0" u="none" strike="noStrike" cap="none" normalizeH="0" baseline="0" dirty="0" smtClean="0">
                        <a:ln>
                          <a:noFill/>
                        </a:ln>
                        <a:solidFill>
                          <a:schemeClr val="bg1"/>
                        </a:solidFill>
                        <a:effectLst/>
                        <a:latin typeface="Helvetica" pitchFamily="34" charset="0"/>
                        <a:ea typeface="ＭＳ Ｐゴシック" charset="-128"/>
                      </a:endParaRPr>
                    </a:p>
                  </a:txBody>
                  <a:tcPr marL="90000" marR="90000" marT="46800" marB="46800" anchor="b" horzOverflow="overflow">
                    <a:lnL>
                      <a:noFill/>
                    </a:lnL>
                    <a:lnR>
                      <a:noFill/>
                    </a:lnR>
                    <a:lnT>
                      <a:noFill/>
                    </a:lnT>
                    <a:lnB>
                      <a:noFill/>
                    </a:lnB>
                    <a:lnTlToBr>
                      <a:noFill/>
                    </a:lnTlToBr>
                    <a:lnBlToTr>
                      <a:noFill/>
                    </a:lnBlToTr>
                    <a:solidFill>
                      <a:srgbClr val="105766"/>
                    </a:solidFill>
                  </a:tcPr>
                </a:tc>
                <a:tc>
                  <a:txBody>
                    <a:bodyPr/>
                    <a:lstStyle/>
                    <a:p>
                      <a:pPr marL="457200" marR="0" lvl="0" indent="-457200" algn="ctr" defTabSz="914400" rtl="0" eaLnBrk="1" fontAlgn="b" latinLnBrk="0" hangingPunct="1">
                        <a:lnSpc>
                          <a:spcPct val="100000"/>
                        </a:lnSpc>
                        <a:spcBef>
                          <a:spcPct val="0"/>
                        </a:spcBef>
                        <a:spcAft>
                          <a:spcPct val="0"/>
                        </a:spcAft>
                        <a:buClrTx/>
                        <a:buSzTx/>
                        <a:buFontTx/>
                        <a:buNone/>
                        <a:tabLst/>
                      </a:pPr>
                      <a:r>
                        <a:rPr kumimoji="0" lang="en-AU" sz="1800" b="1" i="0" u="none" strike="noStrike" cap="none" normalizeH="0" baseline="0" dirty="0" smtClean="0">
                          <a:ln>
                            <a:noFill/>
                          </a:ln>
                          <a:solidFill>
                            <a:schemeClr val="bg1"/>
                          </a:solidFill>
                          <a:effectLst/>
                          <a:latin typeface="Helvetica" pitchFamily="34" charset="0"/>
                          <a:ea typeface="ＭＳ Ｐゴシック" charset="-128"/>
                          <a:cs typeface="Arial" charset="0"/>
                        </a:rPr>
                        <a:t>change</a:t>
                      </a:r>
                      <a:endParaRPr kumimoji="0" lang="en-AU" sz="1800" b="0" i="0" u="none" strike="noStrike" cap="none" normalizeH="0" baseline="0" dirty="0" smtClean="0">
                        <a:ln>
                          <a:noFill/>
                        </a:ln>
                        <a:solidFill>
                          <a:schemeClr val="bg1"/>
                        </a:solidFill>
                        <a:effectLst/>
                        <a:latin typeface="Helvetica" pitchFamily="34" charset="0"/>
                        <a:ea typeface="ＭＳ Ｐゴシック" charset="-128"/>
                        <a:cs typeface="Arial" charset="0"/>
                      </a:endParaRPr>
                    </a:p>
                  </a:txBody>
                  <a:tcPr marL="90000" marR="90000" marT="46800" marB="46800" anchor="b" horzOverflow="overflow">
                    <a:lnL>
                      <a:noFill/>
                    </a:lnL>
                    <a:lnR>
                      <a:noFill/>
                    </a:lnR>
                    <a:lnT>
                      <a:noFill/>
                    </a:lnT>
                    <a:lnB>
                      <a:noFill/>
                    </a:lnB>
                    <a:lnTlToBr>
                      <a:noFill/>
                    </a:lnTlToBr>
                    <a:lnBlToTr>
                      <a:noFill/>
                    </a:lnBlToTr>
                    <a:solidFill>
                      <a:srgbClr val="105766"/>
                    </a:solidFill>
                  </a:tcPr>
                </a:tc>
                <a:tc>
                  <a:txBody>
                    <a:bodyPr/>
                    <a:lstStyle/>
                    <a:p>
                      <a:pPr marL="457200" marR="0" lvl="0" indent="-457200" algn="ctr" defTabSz="914400" rtl="0" eaLnBrk="1" fontAlgn="b" latinLnBrk="0" hangingPunct="1">
                        <a:lnSpc>
                          <a:spcPct val="100000"/>
                        </a:lnSpc>
                        <a:spcBef>
                          <a:spcPct val="0"/>
                        </a:spcBef>
                        <a:spcAft>
                          <a:spcPct val="0"/>
                        </a:spcAft>
                        <a:buClrTx/>
                        <a:buSzTx/>
                        <a:buFontTx/>
                        <a:buNone/>
                        <a:tabLst/>
                      </a:pPr>
                      <a:r>
                        <a:rPr kumimoji="0" lang="en-AU" sz="1800" b="1" i="0" u="none" strike="noStrike" cap="none" normalizeH="0" baseline="0" dirty="0" smtClean="0">
                          <a:ln>
                            <a:noFill/>
                          </a:ln>
                          <a:solidFill>
                            <a:schemeClr val="bg1"/>
                          </a:solidFill>
                          <a:effectLst/>
                          <a:latin typeface="Helvetica" pitchFamily="34" charset="0"/>
                          <a:ea typeface="ＭＳ Ｐゴシック" charset="-128"/>
                          <a:cs typeface="Arial" charset="0"/>
                        </a:rPr>
                        <a:t>change</a:t>
                      </a:r>
                      <a:endParaRPr kumimoji="0" lang="en-AU" sz="1800" b="0" i="0" u="none" strike="noStrike" cap="none" normalizeH="0" baseline="0" dirty="0" smtClean="0">
                        <a:ln>
                          <a:noFill/>
                        </a:ln>
                        <a:solidFill>
                          <a:schemeClr val="bg1"/>
                        </a:solidFill>
                        <a:effectLst/>
                        <a:latin typeface="Helvetica" pitchFamily="34" charset="0"/>
                        <a:ea typeface="ＭＳ Ｐゴシック" charset="-128"/>
                        <a:cs typeface="Arial" charset="0"/>
                      </a:endParaRPr>
                    </a:p>
                  </a:txBody>
                  <a:tcPr marL="90000" marR="90000" marT="46800" marB="4680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105766"/>
                    </a:solidFill>
                  </a:tcPr>
                </a:tc>
              </a:tr>
              <a:tr h="407257">
                <a:tc>
                  <a:txBody>
                    <a:bodyPr/>
                    <a:lstStyle/>
                    <a:p>
                      <a:pPr marL="457200" marR="0" lvl="0" indent="-457200" algn="l"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Sales</a:t>
                      </a:r>
                    </a:p>
                  </a:txBody>
                  <a:tcPr marL="90000" marR="90000" marT="46800" marB="4680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100.0%</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100.0%</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100.0%</a:t>
                      </a:r>
                    </a:p>
                  </a:txBody>
                  <a:tcPr marL="90000" marR="90000" marT="46800" marB="4680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407257">
                <a:tc>
                  <a:txBody>
                    <a:bodyPr/>
                    <a:lstStyle/>
                    <a:p>
                      <a:pPr marL="457200" marR="0" lvl="0" indent="-457200" algn="l"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Cost of Sales</a:t>
                      </a:r>
                    </a:p>
                  </a:txBody>
                  <a:tcPr marL="90000" marR="90000" marT="46800" marB="4680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48.1%</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75.0%</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80.0%</a:t>
                      </a:r>
                    </a:p>
                  </a:txBody>
                  <a:tcPr marL="90000" marR="90000" marT="46800" marB="4680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407257">
                <a:tc>
                  <a:txBody>
                    <a:bodyPr/>
                    <a:lstStyle/>
                    <a:p>
                      <a:pPr marL="457200" marR="0" lvl="0" indent="-457200" algn="l"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Gross profit</a:t>
                      </a:r>
                    </a:p>
                  </a:txBody>
                  <a:tcPr marL="90000" marR="90000" marT="46800" marB="4680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51.9%</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25.0%</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20.0%</a:t>
                      </a:r>
                    </a:p>
                  </a:txBody>
                  <a:tcPr marL="90000" marR="90000" marT="46800" marB="4680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405808">
                <a:tc>
                  <a:txBody>
                    <a:bodyPr/>
                    <a:lstStyle/>
                    <a:p>
                      <a:pPr marL="457200" marR="0" lvl="0" indent="-457200" algn="l"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Selling expenses</a:t>
                      </a:r>
                    </a:p>
                  </a:txBody>
                  <a:tcPr marL="90000" marR="90000" marT="46800" marB="4680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10.4%</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7.5%</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6.0%</a:t>
                      </a:r>
                    </a:p>
                  </a:txBody>
                  <a:tcPr marL="90000" marR="90000" marT="46800" marB="4680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407257">
                <a:tc>
                  <a:txBody>
                    <a:bodyPr/>
                    <a:lstStyle/>
                    <a:p>
                      <a:pPr marL="457200" marR="0" lvl="0" indent="-457200" algn="l"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Administration expenses</a:t>
                      </a:r>
                    </a:p>
                  </a:txBody>
                  <a:tcPr marL="90000" marR="90000" marT="46800" marB="4680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19.3%</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25.0%</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30.0%</a:t>
                      </a:r>
                    </a:p>
                  </a:txBody>
                  <a:tcPr marL="90000" marR="90000" marT="46800" marB="4680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407257">
                <a:tc>
                  <a:txBody>
                    <a:bodyPr/>
                    <a:lstStyle/>
                    <a:p>
                      <a:pPr marL="457200" marR="0" lvl="0" indent="-457200" algn="l"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Financial expenses</a:t>
                      </a:r>
                    </a:p>
                  </a:txBody>
                  <a:tcPr marL="90000" marR="90000" marT="46800" marB="4680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8.1%</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0.0%</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0.0%</a:t>
                      </a:r>
                    </a:p>
                  </a:txBody>
                  <a:tcPr marL="90000" marR="90000" marT="46800" marB="4680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407257">
                <a:tc>
                  <a:txBody>
                    <a:bodyPr/>
                    <a:lstStyle/>
                    <a:p>
                      <a:pPr marL="457200" marR="0" lvl="0" indent="-457200" algn="l"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Total expenses</a:t>
                      </a:r>
                    </a:p>
                  </a:txBody>
                  <a:tcPr marL="90000" marR="90000" marT="46800" marB="4680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37.8%</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32.5%</a:t>
                      </a:r>
                    </a:p>
                  </a:txBody>
                  <a:tcPr marL="90000" marR="90000" marT="46800" marB="46800" anchor="b" horzOverflow="overflow">
                    <a:lnL>
                      <a:noFill/>
                    </a:lnL>
                    <a:lnR>
                      <a:noFill/>
                    </a:lnR>
                    <a:lnT>
                      <a:noFill/>
                    </a:lnT>
                    <a:lnB>
                      <a:noFill/>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36.0%</a:t>
                      </a:r>
                    </a:p>
                  </a:txBody>
                  <a:tcPr marL="90000" marR="90000" marT="46800" marB="4680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407257">
                <a:tc>
                  <a:txBody>
                    <a:bodyPr/>
                    <a:lstStyle/>
                    <a:p>
                      <a:pPr marL="457200" marR="0" lvl="0" indent="-457200" algn="l"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Net Profit</a:t>
                      </a:r>
                    </a:p>
                  </a:txBody>
                  <a:tcPr marL="90000" marR="90000" marT="46800" marB="46800" anchor="b"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000000"/>
                          </a:solidFill>
                          <a:effectLst/>
                          <a:latin typeface="Helvetica" pitchFamily="34" charset="0"/>
                          <a:ea typeface="ＭＳ Ｐゴシック" charset="-128"/>
                          <a:cs typeface="Arial" charset="0"/>
                        </a:rPr>
                        <a:t>14.1%</a:t>
                      </a:r>
                    </a:p>
                  </a:txBody>
                  <a:tcPr marL="90000" marR="90000" marT="46800" marB="4680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FF0000"/>
                          </a:solidFill>
                          <a:effectLst/>
                          <a:latin typeface="Helvetica" pitchFamily="34" charset="0"/>
                          <a:ea typeface="ＭＳ Ｐゴシック" charset="-128"/>
                          <a:cs typeface="Arial" charset="0"/>
                        </a:rPr>
                        <a:t>-7.5%</a:t>
                      </a:r>
                    </a:p>
                  </a:txBody>
                  <a:tcPr marL="90000" marR="90000" marT="46800" marB="4680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0" indent="-457200" algn="r" defTabSz="914400" rtl="0" eaLnBrk="1" fontAlgn="b" latinLnBrk="0" hangingPunct="1">
                        <a:lnSpc>
                          <a:spcPct val="100000"/>
                        </a:lnSpc>
                        <a:spcBef>
                          <a:spcPct val="0"/>
                        </a:spcBef>
                        <a:spcAft>
                          <a:spcPct val="0"/>
                        </a:spcAft>
                        <a:buClrTx/>
                        <a:buSzTx/>
                        <a:buFontTx/>
                        <a:buNone/>
                        <a:tabLst/>
                      </a:pPr>
                      <a:r>
                        <a:rPr kumimoji="0" lang="en-AU" sz="1800" b="0" i="0" u="none" strike="noStrike" cap="none" normalizeH="0" baseline="0" dirty="0" smtClean="0">
                          <a:ln>
                            <a:noFill/>
                          </a:ln>
                          <a:solidFill>
                            <a:srgbClr val="FF0000"/>
                          </a:solidFill>
                          <a:effectLst/>
                          <a:latin typeface="Helvetica" pitchFamily="34" charset="0"/>
                          <a:ea typeface="ＭＳ Ｐゴシック" charset="-128"/>
                          <a:cs typeface="Arial" charset="0"/>
                        </a:rPr>
                        <a:t>-16.0%</a:t>
                      </a:r>
                    </a:p>
                  </a:txBody>
                  <a:tcPr marL="90000" marR="90000" marT="46800" marB="46800" anchor="b"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Monitoring the financial system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marL="0" indent="0">
              <a:spcBef>
                <a:spcPts val="600"/>
              </a:spcBef>
              <a:spcAft>
                <a:spcPts val="1200"/>
              </a:spcAft>
              <a:buNone/>
            </a:pPr>
            <a:r>
              <a:rPr lang="en-AU" sz="2200" dirty="0" smtClean="0">
                <a:latin typeface="Helvetica" pitchFamily="34" charset="0"/>
              </a:rPr>
              <a:t>Monitoring cash:</a:t>
            </a:r>
          </a:p>
          <a:p>
            <a:pPr marL="360000" indent="-360000">
              <a:spcBef>
                <a:spcPts val="600"/>
              </a:spcBef>
              <a:spcAft>
                <a:spcPts val="1200"/>
              </a:spcAft>
              <a:buClr>
                <a:srgbClr val="7FD13B"/>
              </a:buClr>
            </a:pPr>
            <a:r>
              <a:rPr lang="en-AU" sz="2200" dirty="0" smtClean="0">
                <a:latin typeface="Helvetica" pitchFamily="34" charset="0"/>
              </a:rPr>
              <a:t>Cash budget: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Actual and budget cash flows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Opening and closing bank balances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Example on next slide</a:t>
            </a:r>
          </a:p>
          <a:p>
            <a:pPr marL="360000" indent="-360000">
              <a:spcBef>
                <a:spcPts val="600"/>
              </a:spcBef>
              <a:spcAft>
                <a:spcPts val="1200"/>
              </a:spcAft>
              <a:buClr>
                <a:srgbClr val="7FD13B"/>
              </a:buClr>
            </a:pPr>
            <a:r>
              <a:rPr lang="en-AU" sz="2200" dirty="0" smtClean="0">
                <a:latin typeface="Helvetica" pitchFamily="34" charset="0"/>
              </a:rPr>
              <a:t>CP3 system:</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purchase orders</a:t>
            </a:r>
          </a:p>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0">
              <a:spcBef>
                <a:spcPts val="600"/>
              </a:spcBef>
              <a:spcAft>
                <a:spcPts val="1200"/>
              </a:spcAft>
              <a:buClr>
                <a:schemeClr val="accent1">
                  <a:lumMod val="75000"/>
                </a:schemeClr>
              </a:buClr>
              <a:buSzPct val="100000"/>
              <a:buNone/>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descr="MM900172581.GIF"/>
          <p:cNvPicPr>
            <a:picLocks noChangeAspect="1"/>
          </p:cNvPicPr>
          <p:nvPr/>
        </p:nvPicPr>
        <p:blipFill>
          <a:blip r:embed="rId3" cstate="print"/>
          <a:stretch>
            <a:fillRect/>
          </a:stretch>
        </p:blipFill>
        <p:spPr>
          <a:xfrm>
            <a:off x="6228184" y="3861048"/>
            <a:ext cx="2228973" cy="1467407"/>
          </a:xfrm>
          <a:prstGeom prst="rect">
            <a:avLst/>
          </a:prstGeom>
        </p:spPr>
      </p:pic>
    </p:spTree>
    <p:extLst>
      <p:ext uri="{BB962C8B-B14F-4D97-AF65-F5344CB8AC3E}">
        <p14:creationId xmlns:p14="http://schemas.microsoft.com/office/powerpoint/2010/main" val="45835377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32792" y="1196752"/>
            <a:ext cx="7467600" cy="4525963"/>
          </a:xfrm>
        </p:spPr>
        <p:txBody>
          <a:bodyPr>
            <a:normAutofit/>
          </a:bodyPr>
          <a:lstStyle/>
          <a:p>
            <a:pPr marL="0" indent="0">
              <a:spcBef>
                <a:spcPts val="600"/>
              </a:spcBef>
              <a:spcAft>
                <a:spcPts val="600"/>
              </a:spcAft>
              <a:buNone/>
            </a:pPr>
            <a:r>
              <a:rPr lang="en-AU" sz="1800" b="1" dirty="0" smtClean="0">
                <a:latin typeface="Helvetica" pitchFamily="34" charset="0"/>
              </a:rPr>
              <a:t>Monitoring cash – Cash budget</a:t>
            </a:r>
          </a:p>
          <a:p>
            <a:pPr marL="360000" indent="-360000">
              <a:spcBef>
                <a:spcPts val="600"/>
              </a:spcBef>
              <a:spcAft>
                <a:spcPts val="600"/>
              </a:spcAft>
              <a:buClr>
                <a:srgbClr val="7FD13B"/>
              </a:buClr>
              <a:buNone/>
            </a:pPr>
            <a:endParaRPr lang="en-AU"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graphicFrame>
        <p:nvGraphicFramePr>
          <p:cNvPr id="6" name="Table 5"/>
          <p:cNvGraphicFramePr>
            <a:graphicFrameLocks noGrp="1"/>
          </p:cNvGraphicFramePr>
          <p:nvPr/>
        </p:nvGraphicFramePr>
        <p:xfrm>
          <a:off x="683568" y="1700808"/>
          <a:ext cx="5832649" cy="4321175"/>
        </p:xfrm>
        <a:graphic>
          <a:graphicData uri="http://schemas.openxmlformats.org/drawingml/2006/table">
            <a:tbl>
              <a:tblPr firstRow="1" bandRow="1">
                <a:tableStyleId>{21E4AEA4-8DFA-4A89-87EB-49C32662AFE0}</a:tableStyleId>
              </a:tblPr>
              <a:tblGrid>
                <a:gridCol w="2088232"/>
                <a:gridCol w="936104"/>
                <a:gridCol w="864096"/>
                <a:gridCol w="936104"/>
                <a:gridCol w="1008113"/>
              </a:tblGrid>
              <a:tr h="506554">
                <a:tc gridSpan="5">
                  <a:txBody>
                    <a:bodyPr/>
                    <a:lstStyle/>
                    <a:p>
                      <a:pPr algn="ctr"/>
                      <a:r>
                        <a:rPr lang="en-AU" sz="1400" dirty="0" smtClean="0"/>
                        <a:t>The Mid Semester Conference</a:t>
                      </a:r>
                      <a:r>
                        <a:rPr lang="en-AU" sz="1400" baseline="0" dirty="0" smtClean="0"/>
                        <a:t> </a:t>
                      </a:r>
                    </a:p>
                    <a:p>
                      <a:pPr algn="ctr"/>
                      <a:r>
                        <a:rPr lang="en-AU" sz="1400" baseline="0" dirty="0" smtClean="0"/>
                        <a:t>Cash Budget for the period April – June</a:t>
                      </a:r>
                      <a:endParaRPr lang="en-AU" sz="1400" b="1" baseline="0" dirty="0" smtClean="0">
                        <a:latin typeface="Helvetica" pitchFamily="34" charset="0"/>
                      </a:endParaRPr>
                    </a:p>
                  </a:txBody>
                  <a:tcPr/>
                </a:tc>
                <a:tc hMerge="1">
                  <a:txBody>
                    <a:bodyPr/>
                    <a:lstStyle/>
                    <a:p>
                      <a:endParaRPr lang="en-AU" dirty="0"/>
                    </a:p>
                  </a:txBody>
                  <a:tcPr/>
                </a:tc>
                <a:tc hMerge="1">
                  <a:txBody>
                    <a:bodyPr/>
                    <a:lstStyle/>
                    <a:p>
                      <a:endParaRPr lang="en-AU" dirty="0"/>
                    </a:p>
                  </a:txBody>
                  <a:tcPr/>
                </a:tc>
                <a:tc hMerge="1">
                  <a:txBody>
                    <a:bodyPr/>
                    <a:lstStyle/>
                    <a:p>
                      <a:endParaRPr lang="en-AU" dirty="0"/>
                    </a:p>
                  </a:txBody>
                  <a:tcPr/>
                </a:tc>
                <a:tc hMerge="1">
                  <a:txBody>
                    <a:bodyPr/>
                    <a:lstStyle/>
                    <a:p>
                      <a:endParaRPr lang="en-AU" dirty="0"/>
                    </a:p>
                  </a:txBody>
                  <a:tcPr/>
                </a:tc>
              </a:tr>
              <a:tr h="339979">
                <a:tc>
                  <a:txBody>
                    <a:bodyPr/>
                    <a:lstStyle/>
                    <a:p>
                      <a:endParaRPr lang="en-AU" sz="1000" dirty="0">
                        <a:latin typeface="Helvetica" pitchFamily="34" charset="0"/>
                      </a:endParaRPr>
                    </a:p>
                  </a:txBody>
                  <a:tcPr/>
                </a:tc>
                <a:tc>
                  <a:txBody>
                    <a:bodyPr/>
                    <a:lstStyle/>
                    <a:p>
                      <a:pPr algn="r"/>
                      <a:r>
                        <a:rPr lang="en-AU" sz="1000" b="1" dirty="0" smtClean="0"/>
                        <a:t>APRIL</a:t>
                      </a:r>
                      <a:endParaRPr lang="en-AU" sz="1000" b="1" dirty="0">
                        <a:latin typeface="Helvetica" pitchFamily="34" charset="0"/>
                      </a:endParaRPr>
                    </a:p>
                  </a:txBody>
                  <a:tcPr/>
                </a:tc>
                <a:tc>
                  <a:txBody>
                    <a:bodyPr/>
                    <a:lstStyle/>
                    <a:p>
                      <a:pPr algn="r"/>
                      <a:r>
                        <a:rPr lang="en-AU" sz="1000" b="1" dirty="0" smtClean="0"/>
                        <a:t>MAY</a:t>
                      </a:r>
                      <a:endParaRPr lang="en-AU" sz="1000" b="1" dirty="0">
                        <a:latin typeface="Helvetica" pitchFamily="34" charset="0"/>
                      </a:endParaRPr>
                    </a:p>
                  </a:txBody>
                  <a:tcPr/>
                </a:tc>
                <a:tc>
                  <a:txBody>
                    <a:bodyPr/>
                    <a:lstStyle/>
                    <a:p>
                      <a:pPr algn="r"/>
                      <a:r>
                        <a:rPr lang="en-AU" sz="1000" b="1" dirty="0" smtClean="0"/>
                        <a:t>JUNE</a:t>
                      </a:r>
                      <a:endParaRPr lang="en-AU" sz="1000" b="1" dirty="0">
                        <a:latin typeface="Helvetica" pitchFamily="34" charset="0"/>
                      </a:endParaRPr>
                    </a:p>
                  </a:txBody>
                  <a:tcPr/>
                </a:tc>
                <a:tc>
                  <a:txBody>
                    <a:bodyPr/>
                    <a:lstStyle/>
                    <a:p>
                      <a:pPr algn="r"/>
                      <a:r>
                        <a:rPr lang="en-AU" sz="1000" b="1" dirty="0" smtClean="0"/>
                        <a:t>TOTAL</a:t>
                      </a:r>
                      <a:endParaRPr lang="en-AU" sz="1000" b="1" dirty="0">
                        <a:latin typeface="Helvetica" pitchFamily="34" charset="0"/>
                      </a:endParaRPr>
                    </a:p>
                  </a:txBody>
                  <a:tcPr/>
                </a:tc>
              </a:tr>
              <a:tr h="536352">
                <a:tc>
                  <a:txBody>
                    <a:bodyPr/>
                    <a:lstStyle/>
                    <a:p>
                      <a:r>
                        <a:rPr lang="en-AU" sz="1000" dirty="0" smtClean="0"/>
                        <a:t>Cash Inflows</a:t>
                      </a:r>
                    </a:p>
                    <a:p>
                      <a:r>
                        <a:rPr lang="en-AU" sz="1000" dirty="0" smtClean="0"/>
                        <a:t>Registration</a:t>
                      </a:r>
                      <a:r>
                        <a:rPr lang="en-AU" sz="1000" baseline="0" dirty="0" smtClean="0"/>
                        <a:t> Sales</a:t>
                      </a:r>
                    </a:p>
                    <a:p>
                      <a:r>
                        <a:rPr lang="en-AU" sz="1000" baseline="0" dirty="0" smtClean="0"/>
                        <a:t>Accommodation Sales</a:t>
                      </a:r>
                      <a:endParaRPr lang="en-AU" sz="1000" dirty="0">
                        <a:latin typeface="Helvetica" pitchFamily="34" charset="0"/>
                      </a:endParaRPr>
                    </a:p>
                  </a:txBody>
                  <a:tcPr/>
                </a:tc>
                <a:tc>
                  <a:txBody>
                    <a:bodyPr/>
                    <a:lstStyle/>
                    <a:p>
                      <a:pPr algn="r"/>
                      <a:endParaRPr lang="en-AU" sz="1000" dirty="0" smtClean="0"/>
                    </a:p>
                    <a:p>
                      <a:pPr algn="r"/>
                      <a:r>
                        <a:rPr lang="en-AU" sz="1000" dirty="0" smtClean="0"/>
                        <a:t>30,000</a:t>
                      </a:r>
                    </a:p>
                    <a:p>
                      <a:pPr algn="r"/>
                      <a:r>
                        <a:rPr lang="en-AU" sz="1000" dirty="0" smtClean="0"/>
                        <a:t>5,000</a:t>
                      </a:r>
                      <a:endParaRPr lang="en-AU" sz="1000" dirty="0">
                        <a:latin typeface="Helvetica" pitchFamily="34" charset="0"/>
                      </a:endParaRPr>
                    </a:p>
                  </a:txBody>
                  <a:tcPr/>
                </a:tc>
                <a:tc>
                  <a:txBody>
                    <a:bodyPr/>
                    <a:lstStyle/>
                    <a:p>
                      <a:pPr algn="r"/>
                      <a:endParaRPr lang="en-AU" sz="1000" dirty="0" smtClean="0"/>
                    </a:p>
                    <a:p>
                      <a:pPr algn="r"/>
                      <a:r>
                        <a:rPr lang="en-AU" sz="1000" dirty="0" smtClean="0"/>
                        <a:t>25,000</a:t>
                      </a:r>
                    </a:p>
                    <a:p>
                      <a:pPr algn="r"/>
                      <a:r>
                        <a:rPr lang="en-AU" sz="1000" dirty="0" smtClean="0"/>
                        <a:t>10,000</a:t>
                      </a:r>
                      <a:endParaRPr lang="en-AU" sz="1000" dirty="0">
                        <a:latin typeface="Helvetica" pitchFamily="34" charset="0"/>
                      </a:endParaRPr>
                    </a:p>
                  </a:txBody>
                  <a:tcPr/>
                </a:tc>
                <a:tc>
                  <a:txBody>
                    <a:bodyPr/>
                    <a:lstStyle/>
                    <a:p>
                      <a:pPr algn="r"/>
                      <a:endParaRPr lang="en-AU" sz="1000" dirty="0" smtClean="0"/>
                    </a:p>
                    <a:p>
                      <a:pPr algn="r"/>
                      <a:r>
                        <a:rPr lang="en-AU" sz="1000" dirty="0" smtClean="0"/>
                        <a:t>45,000</a:t>
                      </a:r>
                    </a:p>
                    <a:p>
                      <a:pPr algn="r"/>
                      <a:r>
                        <a:rPr lang="en-AU" sz="1000" dirty="0" smtClean="0"/>
                        <a:t>17,500</a:t>
                      </a:r>
                      <a:endParaRPr lang="en-AU" sz="1000" dirty="0">
                        <a:latin typeface="Helvetica" pitchFamily="34" charset="0"/>
                      </a:endParaRPr>
                    </a:p>
                  </a:txBody>
                  <a:tcPr/>
                </a:tc>
                <a:tc>
                  <a:txBody>
                    <a:bodyPr/>
                    <a:lstStyle/>
                    <a:p>
                      <a:pPr algn="r"/>
                      <a:endParaRPr lang="en-AU" sz="1000" dirty="0" smtClean="0"/>
                    </a:p>
                    <a:p>
                      <a:pPr algn="r"/>
                      <a:r>
                        <a:rPr lang="en-AU" sz="1000" dirty="0" smtClean="0"/>
                        <a:t>100,000</a:t>
                      </a:r>
                    </a:p>
                    <a:p>
                      <a:pPr algn="r"/>
                      <a:r>
                        <a:rPr lang="en-AU" sz="1000" dirty="0" smtClean="0"/>
                        <a:t>32,000</a:t>
                      </a:r>
                      <a:endParaRPr lang="en-AU" sz="1000" dirty="0">
                        <a:latin typeface="Helvetica" pitchFamily="34" charset="0"/>
                      </a:endParaRPr>
                    </a:p>
                  </a:txBody>
                  <a:tcPr/>
                </a:tc>
              </a:tr>
              <a:tr h="339979">
                <a:tc>
                  <a:txBody>
                    <a:bodyPr/>
                    <a:lstStyle/>
                    <a:p>
                      <a:r>
                        <a:rPr lang="en-AU" sz="1000" b="1" dirty="0" smtClean="0"/>
                        <a:t>TOTAL</a:t>
                      </a:r>
                      <a:endParaRPr lang="en-AU" sz="1000" b="1" dirty="0">
                        <a:latin typeface="Helvetica" pitchFamily="34" charset="0"/>
                      </a:endParaRPr>
                    </a:p>
                  </a:txBody>
                  <a:tcPr/>
                </a:tc>
                <a:tc>
                  <a:txBody>
                    <a:bodyPr/>
                    <a:lstStyle/>
                    <a:p>
                      <a:pPr algn="r"/>
                      <a:r>
                        <a:rPr lang="en-AU" sz="1000" b="1" dirty="0" smtClean="0"/>
                        <a:t>35,000</a:t>
                      </a:r>
                      <a:endParaRPr lang="en-AU" sz="1000" b="1" dirty="0">
                        <a:latin typeface="Helvetica" pitchFamily="34" charset="0"/>
                      </a:endParaRPr>
                    </a:p>
                  </a:txBody>
                  <a:tcPr/>
                </a:tc>
                <a:tc>
                  <a:txBody>
                    <a:bodyPr/>
                    <a:lstStyle/>
                    <a:p>
                      <a:pPr algn="r"/>
                      <a:r>
                        <a:rPr lang="en-AU" sz="1000" b="1" dirty="0" smtClean="0"/>
                        <a:t>35,000</a:t>
                      </a:r>
                      <a:endParaRPr lang="en-AU" sz="1000" b="1" dirty="0">
                        <a:latin typeface="Helvetica" pitchFamily="34" charset="0"/>
                      </a:endParaRPr>
                    </a:p>
                  </a:txBody>
                  <a:tcPr/>
                </a:tc>
                <a:tc>
                  <a:txBody>
                    <a:bodyPr/>
                    <a:lstStyle/>
                    <a:p>
                      <a:pPr algn="r"/>
                      <a:r>
                        <a:rPr lang="en-AU" sz="1000" b="1" dirty="0" smtClean="0"/>
                        <a:t>62,500</a:t>
                      </a:r>
                      <a:endParaRPr lang="en-AU" sz="1000" b="1" dirty="0">
                        <a:latin typeface="Helvetica" pitchFamily="34" charset="0"/>
                      </a:endParaRPr>
                    </a:p>
                  </a:txBody>
                  <a:tcPr/>
                </a:tc>
                <a:tc>
                  <a:txBody>
                    <a:bodyPr/>
                    <a:lstStyle/>
                    <a:p>
                      <a:pPr algn="r"/>
                      <a:r>
                        <a:rPr lang="en-AU" sz="1000" b="1" dirty="0" smtClean="0"/>
                        <a:t>132,000</a:t>
                      </a:r>
                      <a:endParaRPr lang="en-AU" sz="1000" b="1" dirty="0">
                        <a:latin typeface="Helvetica" pitchFamily="34" charset="0"/>
                      </a:endParaRPr>
                    </a:p>
                  </a:txBody>
                  <a:tcPr/>
                </a:tc>
              </a:tr>
              <a:tr h="1281285">
                <a:tc>
                  <a:txBody>
                    <a:bodyPr/>
                    <a:lstStyle/>
                    <a:p>
                      <a:r>
                        <a:rPr lang="en-AU" sz="1000" dirty="0" smtClean="0"/>
                        <a:t>Cash Outflows</a:t>
                      </a:r>
                    </a:p>
                    <a:p>
                      <a:r>
                        <a:rPr lang="en-AU" sz="1000" dirty="0" smtClean="0"/>
                        <a:t>Wages</a:t>
                      </a:r>
                    </a:p>
                    <a:p>
                      <a:r>
                        <a:rPr lang="en-AU" sz="1000" dirty="0" smtClean="0"/>
                        <a:t>Rent</a:t>
                      </a:r>
                    </a:p>
                    <a:p>
                      <a:r>
                        <a:rPr lang="en-AU" sz="1000" dirty="0" smtClean="0"/>
                        <a:t>Fixed</a:t>
                      </a:r>
                      <a:r>
                        <a:rPr lang="en-AU" sz="1000" baseline="0" dirty="0" smtClean="0"/>
                        <a:t> Advertising</a:t>
                      </a:r>
                    </a:p>
                    <a:p>
                      <a:r>
                        <a:rPr lang="en-AU" sz="1000" baseline="0" dirty="0" smtClean="0"/>
                        <a:t>Variable Advertising</a:t>
                      </a:r>
                    </a:p>
                    <a:p>
                      <a:r>
                        <a:rPr lang="en-AU" sz="1000" baseline="0" dirty="0" smtClean="0"/>
                        <a:t>Light &amp; Power</a:t>
                      </a:r>
                    </a:p>
                    <a:p>
                      <a:r>
                        <a:rPr lang="en-AU" sz="1000" baseline="0" dirty="0" smtClean="0"/>
                        <a:t>Insurance</a:t>
                      </a:r>
                    </a:p>
                    <a:p>
                      <a:r>
                        <a:rPr lang="en-AU" sz="1000" baseline="0" dirty="0" smtClean="0"/>
                        <a:t>Renovations</a:t>
                      </a:r>
                      <a:endParaRPr lang="en-AU" sz="1000" dirty="0">
                        <a:latin typeface="Helvetica" pitchFamily="34" charset="0"/>
                      </a:endParaRPr>
                    </a:p>
                  </a:txBody>
                  <a:tcPr/>
                </a:tc>
                <a:tc>
                  <a:txBody>
                    <a:bodyPr/>
                    <a:lstStyle/>
                    <a:p>
                      <a:pPr algn="r"/>
                      <a:endParaRPr lang="en-AU" sz="1000" dirty="0" smtClean="0"/>
                    </a:p>
                    <a:p>
                      <a:pPr algn="r"/>
                      <a:r>
                        <a:rPr lang="en-AU" sz="1000" dirty="0" smtClean="0"/>
                        <a:t>14,000</a:t>
                      </a:r>
                    </a:p>
                    <a:p>
                      <a:pPr algn="r"/>
                      <a:r>
                        <a:rPr lang="en-AU" sz="1000" dirty="0" smtClean="0"/>
                        <a:t>3,000</a:t>
                      </a:r>
                    </a:p>
                    <a:p>
                      <a:pPr algn="r"/>
                      <a:r>
                        <a:rPr lang="en-AU" sz="1000" dirty="0" smtClean="0"/>
                        <a:t>2,000</a:t>
                      </a:r>
                    </a:p>
                    <a:p>
                      <a:pPr algn="r"/>
                      <a:r>
                        <a:rPr lang="en-AU" sz="1000" dirty="0" smtClean="0"/>
                        <a:t>2,000</a:t>
                      </a:r>
                      <a:endParaRPr lang="en-AU" sz="1000" dirty="0">
                        <a:latin typeface="Helvetica" pitchFamily="34" charset="0"/>
                      </a:endParaRPr>
                    </a:p>
                  </a:txBody>
                  <a:tcPr/>
                </a:tc>
                <a:tc>
                  <a:txBody>
                    <a:bodyPr/>
                    <a:lstStyle/>
                    <a:p>
                      <a:pPr algn="r"/>
                      <a:endParaRPr lang="en-AU" sz="1000" dirty="0" smtClean="0"/>
                    </a:p>
                    <a:p>
                      <a:pPr algn="r"/>
                      <a:r>
                        <a:rPr lang="en-AU" sz="1000" dirty="0" smtClean="0"/>
                        <a:t>12,250</a:t>
                      </a:r>
                    </a:p>
                    <a:p>
                      <a:pPr algn="r"/>
                      <a:r>
                        <a:rPr lang="en-AU" sz="1000" dirty="0" smtClean="0"/>
                        <a:t>3,000</a:t>
                      </a:r>
                    </a:p>
                    <a:p>
                      <a:pPr algn="r"/>
                      <a:r>
                        <a:rPr lang="en-AU" sz="1000" dirty="0" smtClean="0"/>
                        <a:t>2,000</a:t>
                      </a:r>
                    </a:p>
                    <a:p>
                      <a:pPr algn="r"/>
                      <a:r>
                        <a:rPr lang="en-AU" sz="1000" dirty="0" smtClean="0"/>
                        <a:t>1,750</a:t>
                      </a:r>
                      <a:endParaRPr lang="en-AU" sz="1000" dirty="0">
                        <a:latin typeface="Helvetica" pitchFamily="34" charset="0"/>
                      </a:endParaRPr>
                    </a:p>
                  </a:txBody>
                  <a:tcPr/>
                </a:tc>
                <a:tc>
                  <a:txBody>
                    <a:bodyPr/>
                    <a:lstStyle/>
                    <a:p>
                      <a:pPr algn="r"/>
                      <a:endParaRPr lang="en-AU" sz="1000" dirty="0" smtClean="0"/>
                    </a:p>
                    <a:p>
                      <a:pPr algn="r"/>
                      <a:r>
                        <a:rPr lang="en-AU" sz="1000" dirty="0" smtClean="0"/>
                        <a:t>24,500</a:t>
                      </a:r>
                    </a:p>
                    <a:p>
                      <a:pPr algn="r"/>
                      <a:r>
                        <a:rPr lang="en-AU" sz="1000" dirty="0" smtClean="0"/>
                        <a:t>3,000</a:t>
                      </a:r>
                    </a:p>
                    <a:p>
                      <a:pPr algn="r"/>
                      <a:r>
                        <a:rPr lang="en-AU" sz="1000" dirty="0" smtClean="0"/>
                        <a:t>2,000</a:t>
                      </a:r>
                    </a:p>
                    <a:p>
                      <a:pPr algn="r"/>
                      <a:r>
                        <a:rPr lang="en-AU" sz="1000" dirty="0" smtClean="0"/>
                        <a:t>3,500</a:t>
                      </a:r>
                    </a:p>
                    <a:p>
                      <a:pPr algn="r"/>
                      <a:r>
                        <a:rPr lang="en-AU" sz="1000" dirty="0" smtClean="0"/>
                        <a:t>2,500</a:t>
                      </a:r>
                    </a:p>
                    <a:p>
                      <a:pPr algn="r"/>
                      <a:endParaRPr lang="en-AU" sz="1000" dirty="0" smtClean="0"/>
                    </a:p>
                    <a:p>
                      <a:pPr algn="r"/>
                      <a:r>
                        <a:rPr lang="en-AU" sz="1000" dirty="0" smtClean="0"/>
                        <a:t>4,500</a:t>
                      </a:r>
                      <a:endParaRPr lang="en-AU" sz="1000" dirty="0">
                        <a:latin typeface="Helvetica" pitchFamily="34" charset="0"/>
                      </a:endParaRPr>
                    </a:p>
                  </a:txBody>
                  <a:tcPr/>
                </a:tc>
                <a:tc>
                  <a:txBody>
                    <a:bodyPr/>
                    <a:lstStyle/>
                    <a:p>
                      <a:pPr algn="r"/>
                      <a:endParaRPr lang="en-AU" sz="1000" dirty="0" smtClean="0"/>
                    </a:p>
                    <a:p>
                      <a:pPr algn="r"/>
                      <a:r>
                        <a:rPr lang="en-AU" sz="1000" dirty="0" smtClean="0"/>
                        <a:t>50,750</a:t>
                      </a:r>
                    </a:p>
                    <a:p>
                      <a:pPr algn="r"/>
                      <a:r>
                        <a:rPr lang="en-AU" sz="1000" dirty="0" smtClean="0"/>
                        <a:t>9,000</a:t>
                      </a:r>
                    </a:p>
                    <a:p>
                      <a:pPr algn="r"/>
                      <a:r>
                        <a:rPr lang="en-AU" sz="1000" dirty="0" smtClean="0"/>
                        <a:t>6,000</a:t>
                      </a:r>
                    </a:p>
                    <a:p>
                      <a:pPr algn="r"/>
                      <a:r>
                        <a:rPr lang="en-AU" sz="1000" dirty="0" smtClean="0"/>
                        <a:t>7,250</a:t>
                      </a:r>
                    </a:p>
                    <a:p>
                      <a:pPr algn="r"/>
                      <a:r>
                        <a:rPr lang="en-AU" sz="1000" dirty="0" smtClean="0"/>
                        <a:t>2,50</a:t>
                      </a:r>
                    </a:p>
                    <a:p>
                      <a:pPr algn="r"/>
                      <a:endParaRPr lang="en-AU" sz="1000" dirty="0" smtClean="0"/>
                    </a:p>
                    <a:p>
                      <a:pPr algn="r"/>
                      <a:r>
                        <a:rPr lang="en-AU" sz="1000" dirty="0" smtClean="0"/>
                        <a:t>4,500</a:t>
                      </a:r>
                      <a:endParaRPr lang="en-AU" sz="1000" dirty="0" smtClean="0">
                        <a:latin typeface="Helvetica" pitchFamily="34" charset="0"/>
                      </a:endParaRPr>
                    </a:p>
                  </a:txBody>
                  <a:tcPr/>
                </a:tc>
              </a:tr>
              <a:tr h="339979">
                <a:tc>
                  <a:txBody>
                    <a:bodyPr/>
                    <a:lstStyle/>
                    <a:p>
                      <a:r>
                        <a:rPr lang="en-AU" sz="1000" b="1" dirty="0" smtClean="0"/>
                        <a:t>TOTAL</a:t>
                      </a:r>
                      <a:endParaRPr lang="en-AU" sz="1000" b="1" dirty="0">
                        <a:latin typeface="Helvetica" pitchFamily="34" charset="0"/>
                      </a:endParaRPr>
                    </a:p>
                  </a:txBody>
                  <a:tcPr/>
                </a:tc>
                <a:tc>
                  <a:txBody>
                    <a:bodyPr/>
                    <a:lstStyle/>
                    <a:p>
                      <a:pPr algn="r"/>
                      <a:r>
                        <a:rPr lang="en-AU" sz="1000" b="1" dirty="0" smtClean="0"/>
                        <a:t>21,000</a:t>
                      </a:r>
                      <a:endParaRPr lang="en-AU" sz="1000" b="1" dirty="0">
                        <a:latin typeface="Helvetica" pitchFamily="34" charset="0"/>
                      </a:endParaRPr>
                    </a:p>
                  </a:txBody>
                  <a:tcPr/>
                </a:tc>
                <a:tc>
                  <a:txBody>
                    <a:bodyPr/>
                    <a:lstStyle/>
                    <a:p>
                      <a:pPr algn="r"/>
                      <a:r>
                        <a:rPr lang="en-AU" sz="1000" b="1" dirty="0" smtClean="0"/>
                        <a:t>19,000</a:t>
                      </a:r>
                      <a:endParaRPr lang="en-AU" sz="1000" b="1" dirty="0">
                        <a:latin typeface="Helvetica" pitchFamily="34" charset="0"/>
                      </a:endParaRPr>
                    </a:p>
                  </a:txBody>
                  <a:tcPr/>
                </a:tc>
                <a:tc>
                  <a:txBody>
                    <a:bodyPr/>
                    <a:lstStyle/>
                    <a:p>
                      <a:pPr algn="r"/>
                      <a:r>
                        <a:rPr lang="en-AU" sz="1000" b="1" dirty="0" smtClean="0"/>
                        <a:t>40,000</a:t>
                      </a:r>
                      <a:endParaRPr lang="en-AU" sz="1000" b="1" dirty="0">
                        <a:latin typeface="Helvetica" pitchFamily="34" charset="0"/>
                      </a:endParaRPr>
                    </a:p>
                  </a:txBody>
                  <a:tcPr/>
                </a:tc>
                <a:tc>
                  <a:txBody>
                    <a:bodyPr/>
                    <a:lstStyle/>
                    <a:p>
                      <a:pPr algn="r"/>
                      <a:r>
                        <a:rPr lang="en-AU" sz="1000" b="1" dirty="0" smtClean="0"/>
                        <a:t>80,000</a:t>
                      </a:r>
                      <a:endParaRPr lang="en-AU" sz="1000" b="1" dirty="0" smtClean="0">
                        <a:latin typeface="Helvetica" pitchFamily="34" charset="0"/>
                      </a:endParaRPr>
                    </a:p>
                  </a:txBody>
                  <a:tcPr/>
                </a:tc>
              </a:tr>
              <a:tr h="339979">
                <a:tc>
                  <a:txBody>
                    <a:bodyPr/>
                    <a:lstStyle/>
                    <a:p>
                      <a:r>
                        <a:rPr lang="en-AU" sz="1000" dirty="0" smtClean="0"/>
                        <a:t>Net Cash Inflow</a:t>
                      </a:r>
                      <a:endParaRPr lang="en-AU" sz="1000" b="1" dirty="0">
                        <a:latin typeface="Helvetica" pitchFamily="34" charset="0"/>
                      </a:endParaRPr>
                    </a:p>
                  </a:txBody>
                  <a:tcPr/>
                </a:tc>
                <a:tc>
                  <a:txBody>
                    <a:bodyPr/>
                    <a:lstStyle/>
                    <a:p>
                      <a:pPr algn="r"/>
                      <a:r>
                        <a:rPr lang="en-AU" sz="1000" dirty="0" smtClean="0"/>
                        <a:t>14,000</a:t>
                      </a:r>
                      <a:endParaRPr lang="en-AU" sz="1000" b="1" dirty="0">
                        <a:latin typeface="Helvetica" pitchFamily="34" charset="0"/>
                      </a:endParaRPr>
                    </a:p>
                  </a:txBody>
                  <a:tcPr/>
                </a:tc>
                <a:tc>
                  <a:txBody>
                    <a:bodyPr/>
                    <a:lstStyle/>
                    <a:p>
                      <a:pPr algn="r"/>
                      <a:r>
                        <a:rPr lang="en-AU" sz="1000" dirty="0" smtClean="0"/>
                        <a:t>16,000</a:t>
                      </a:r>
                      <a:endParaRPr lang="en-AU" sz="1000" b="1" dirty="0">
                        <a:latin typeface="Helvetica" pitchFamily="34" charset="0"/>
                      </a:endParaRPr>
                    </a:p>
                  </a:txBody>
                  <a:tcPr/>
                </a:tc>
                <a:tc>
                  <a:txBody>
                    <a:bodyPr/>
                    <a:lstStyle/>
                    <a:p>
                      <a:pPr algn="r"/>
                      <a:r>
                        <a:rPr lang="en-AU" sz="1000" dirty="0" smtClean="0"/>
                        <a:t>22,500</a:t>
                      </a:r>
                      <a:endParaRPr lang="en-AU" sz="1000" b="1" dirty="0">
                        <a:latin typeface="Helvetica" pitchFamily="34" charset="0"/>
                      </a:endParaRPr>
                    </a:p>
                  </a:txBody>
                  <a:tcPr/>
                </a:tc>
                <a:tc>
                  <a:txBody>
                    <a:bodyPr/>
                    <a:lstStyle/>
                    <a:p>
                      <a:pPr algn="r"/>
                      <a:r>
                        <a:rPr lang="en-AU" sz="1000" dirty="0" smtClean="0"/>
                        <a:t>52,500</a:t>
                      </a:r>
                      <a:endParaRPr lang="en-AU" sz="1000" b="1" dirty="0" smtClean="0">
                        <a:latin typeface="Helvetica" pitchFamily="34" charset="0"/>
                      </a:endParaRPr>
                    </a:p>
                  </a:txBody>
                  <a:tcPr/>
                </a:tc>
              </a:tr>
              <a:tr h="339979">
                <a:tc>
                  <a:txBody>
                    <a:bodyPr/>
                    <a:lstStyle/>
                    <a:p>
                      <a:r>
                        <a:rPr lang="en-AU" sz="1000" dirty="0" smtClean="0"/>
                        <a:t>Cash Balance Beginning</a:t>
                      </a:r>
                      <a:endParaRPr lang="en-AU" sz="1000" dirty="0">
                        <a:latin typeface="Helvetica" pitchFamily="34" charset="0"/>
                      </a:endParaRPr>
                    </a:p>
                  </a:txBody>
                  <a:tcPr/>
                </a:tc>
                <a:tc>
                  <a:txBody>
                    <a:bodyPr/>
                    <a:lstStyle/>
                    <a:p>
                      <a:pPr algn="r"/>
                      <a:r>
                        <a:rPr lang="en-AU" sz="1000" dirty="0" smtClean="0"/>
                        <a:t>6,500</a:t>
                      </a:r>
                      <a:endParaRPr lang="en-AU" sz="1000" dirty="0">
                        <a:latin typeface="Helvetica" pitchFamily="34" charset="0"/>
                      </a:endParaRPr>
                    </a:p>
                  </a:txBody>
                  <a:tcPr/>
                </a:tc>
                <a:tc>
                  <a:txBody>
                    <a:bodyPr/>
                    <a:lstStyle/>
                    <a:p>
                      <a:pPr algn="r"/>
                      <a:r>
                        <a:rPr lang="en-AU" sz="1000" dirty="0" smtClean="0"/>
                        <a:t>20,500</a:t>
                      </a:r>
                      <a:endParaRPr lang="en-AU" sz="1000" dirty="0">
                        <a:latin typeface="Helvetica" pitchFamily="34" charset="0"/>
                      </a:endParaRPr>
                    </a:p>
                  </a:txBody>
                  <a:tcPr/>
                </a:tc>
                <a:tc>
                  <a:txBody>
                    <a:bodyPr/>
                    <a:lstStyle/>
                    <a:p>
                      <a:pPr algn="r"/>
                      <a:r>
                        <a:rPr lang="en-AU" sz="1000" dirty="0" smtClean="0"/>
                        <a:t>36,500</a:t>
                      </a:r>
                      <a:endParaRPr lang="en-AU" sz="1000" dirty="0">
                        <a:latin typeface="Helvetica" pitchFamily="34" charset="0"/>
                      </a:endParaRPr>
                    </a:p>
                  </a:txBody>
                  <a:tcPr/>
                </a:tc>
                <a:tc>
                  <a:txBody>
                    <a:bodyPr/>
                    <a:lstStyle/>
                    <a:p>
                      <a:pPr algn="r"/>
                      <a:r>
                        <a:rPr lang="en-AU" sz="1000" dirty="0" smtClean="0"/>
                        <a:t>6,500</a:t>
                      </a:r>
                      <a:endParaRPr lang="en-AU" sz="1000" dirty="0" smtClean="0">
                        <a:latin typeface="Helvetica" pitchFamily="34" charset="0"/>
                      </a:endParaRPr>
                    </a:p>
                  </a:txBody>
                  <a:tcPr/>
                </a:tc>
              </a:tr>
              <a:tr h="0">
                <a:tc>
                  <a:txBody>
                    <a:bodyPr/>
                    <a:lstStyle/>
                    <a:p>
                      <a:r>
                        <a:rPr lang="en-AU" sz="1000" dirty="0" smtClean="0"/>
                        <a:t>Cash</a:t>
                      </a:r>
                      <a:r>
                        <a:rPr lang="en-AU" sz="1000" baseline="0" dirty="0" smtClean="0"/>
                        <a:t> Balance End</a:t>
                      </a:r>
                      <a:endParaRPr lang="en-AU" sz="1000" dirty="0">
                        <a:latin typeface="Helvetica" pitchFamily="34" charset="0"/>
                      </a:endParaRPr>
                    </a:p>
                  </a:txBody>
                  <a:tcPr/>
                </a:tc>
                <a:tc>
                  <a:txBody>
                    <a:bodyPr/>
                    <a:lstStyle/>
                    <a:p>
                      <a:pPr algn="r"/>
                      <a:r>
                        <a:rPr lang="en-AU" sz="1000" dirty="0" smtClean="0"/>
                        <a:t>20,500</a:t>
                      </a:r>
                      <a:endParaRPr lang="en-AU" sz="1000" dirty="0">
                        <a:latin typeface="Helvetica" pitchFamily="34" charset="0"/>
                      </a:endParaRPr>
                    </a:p>
                  </a:txBody>
                  <a:tcPr/>
                </a:tc>
                <a:tc>
                  <a:txBody>
                    <a:bodyPr/>
                    <a:lstStyle/>
                    <a:p>
                      <a:pPr algn="r"/>
                      <a:r>
                        <a:rPr lang="en-AU" sz="1000" dirty="0" smtClean="0"/>
                        <a:t>36,500</a:t>
                      </a:r>
                      <a:endParaRPr lang="en-AU" sz="1000" dirty="0">
                        <a:latin typeface="Helvetica" pitchFamily="34" charset="0"/>
                      </a:endParaRPr>
                    </a:p>
                  </a:txBody>
                  <a:tcPr/>
                </a:tc>
                <a:tc>
                  <a:txBody>
                    <a:bodyPr/>
                    <a:lstStyle/>
                    <a:p>
                      <a:pPr algn="r"/>
                      <a:r>
                        <a:rPr lang="en-AU" sz="1000" dirty="0" smtClean="0"/>
                        <a:t>59,000</a:t>
                      </a:r>
                      <a:endParaRPr lang="en-AU" sz="1000" dirty="0">
                        <a:latin typeface="Helvetica" pitchFamily="34" charset="0"/>
                      </a:endParaRPr>
                    </a:p>
                  </a:txBody>
                  <a:tcPr/>
                </a:tc>
                <a:tc>
                  <a:txBody>
                    <a:bodyPr/>
                    <a:lstStyle/>
                    <a:p>
                      <a:pPr algn="r"/>
                      <a:r>
                        <a:rPr lang="en-AU" sz="1000" dirty="0" smtClean="0"/>
                        <a:t>59,000</a:t>
                      </a:r>
                      <a:endParaRPr lang="en-AU" sz="1000" dirty="0" smtClean="0">
                        <a:latin typeface="Helvetica" pitchFamily="34" charset="0"/>
                      </a:endParaRPr>
                    </a:p>
                  </a:txBody>
                  <a:tcPr/>
                </a:tc>
              </a:tr>
            </a:tbl>
          </a:graphicData>
        </a:graphic>
      </p:graphicFrame>
    </p:spTree>
    <p:extLst>
      <p:ext uri="{BB962C8B-B14F-4D97-AF65-F5344CB8AC3E}">
        <p14:creationId xmlns:p14="http://schemas.microsoft.com/office/powerpoint/2010/main" val="259188384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544616"/>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Monitoring accounts receivable:</a:t>
            </a:r>
          </a:p>
          <a:p>
            <a:pPr marL="360000" indent="-360000">
              <a:spcBef>
                <a:spcPts val="600"/>
              </a:spcBef>
              <a:spcAft>
                <a:spcPts val="1200"/>
              </a:spcAft>
              <a:buClr>
                <a:srgbClr val="7FD13B"/>
              </a:buClr>
            </a:pPr>
            <a:r>
              <a:rPr lang="en-AU" sz="2200" dirty="0" smtClean="0">
                <a:latin typeface="Helvetica" pitchFamily="34" charset="0"/>
              </a:rPr>
              <a:t>Cash flows</a:t>
            </a:r>
          </a:p>
          <a:p>
            <a:pPr marL="360000" indent="-360000">
              <a:spcBef>
                <a:spcPts val="600"/>
              </a:spcBef>
              <a:spcAft>
                <a:spcPts val="1200"/>
              </a:spcAft>
              <a:buClr>
                <a:srgbClr val="7FD13B"/>
              </a:buClr>
            </a:pPr>
            <a:r>
              <a:rPr lang="en-AU" sz="2200" dirty="0" smtClean="0">
                <a:latin typeface="Helvetica" pitchFamily="34" charset="0"/>
              </a:rPr>
              <a:t>Accounts receivable ageing schedule: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Timing</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Amounts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Credit policies</a:t>
            </a:r>
          </a:p>
          <a:p>
            <a:pPr marL="360000" indent="-360000">
              <a:spcBef>
                <a:spcPts val="600"/>
              </a:spcBef>
              <a:spcAft>
                <a:spcPts val="1200"/>
              </a:spcAft>
              <a:buClr>
                <a:srgbClr val="7FD13B"/>
              </a:buClr>
            </a:pPr>
            <a:r>
              <a:rPr lang="en-AU" sz="2200" dirty="0" smtClean="0">
                <a:latin typeface="Helvetica" pitchFamily="34" charset="0"/>
              </a:rPr>
              <a:t>Accounts receivable turnover ratio </a:t>
            </a:r>
            <a:br>
              <a:rPr lang="en-AU" sz="2200" dirty="0" smtClean="0">
                <a:latin typeface="Helvetica" pitchFamily="34" charset="0"/>
              </a:rPr>
            </a:br>
            <a:r>
              <a:rPr lang="en-AU" sz="2200" dirty="0" smtClean="0">
                <a:latin typeface="Helvetica" pitchFamily="34" charset="0"/>
              </a:rPr>
              <a:t>(revised)</a:t>
            </a:r>
          </a:p>
          <a:p>
            <a:pPr marL="360000" indent="-360000">
              <a:spcBef>
                <a:spcPts val="600"/>
              </a:spcBef>
              <a:spcAft>
                <a:spcPts val="1200"/>
              </a:spcAft>
              <a:buClr>
                <a:srgbClr val="7FD13B"/>
              </a:buClr>
            </a:pPr>
            <a:r>
              <a:rPr lang="en-AU" sz="2200" dirty="0" smtClean="0">
                <a:latin typeface="Helvetica" pitchFamily="34" charset="0"/>
              </a:rPr>
              <a:t>Procedures review</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descr="MM900172581.GIF"/>
          <p:cNvPicPr>
            <a:picLocks noChangeAspect="1"/>
          </p:cNvPicPr>
          <p:nvPr/>
        </p:nvPicPr>
        <p:blipFill>
          <a:blip r:embed="rId3" cstate="print"/>
          <a:stretch>
            <a:fillRect/>
          </a:stretch>
        </p:blipFill>
        <p:spPr>
          <a:xfrm>
            <a:off x="6228184" y="3933056"/>
            <a:ext cx="2228973" cy="1486724"/>
          </a:xfrm>
          <a:prstGeom prst="rect">
            <a:avLst/>
          </a:prstGeom>
        </p:spPr>
      </p:pic>
    </p:spTree>
    <p:extLst>
      <p:ext uri="{BB962C8B-B14F-4D97-AF65-F5344CB8AC3E}">
        <p14:creationId xmlns:p14="http://schemas.microsoft.com/office/powerpoint/2010/main" val="200524932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marL="0" indent="0">
              <a:spcBef>
                <a:spcPts val="600"/>
              </a:spcBef>
              <a:spcAft>
                <a:spcPts val="1200"/>
              </a:spcAft>
              <a:buNone/>
            </a:pPr>
            <a:r>
              <a:rPr lang="en-AU" sz="2200" dirty="0" smtClean="0">
                <a:latin typeface="Helvetica" pitchFamily="34" charset="0"/>
              </a:rPr>
              <a:t>Monitoring inventory:</a:t>
            </a:r>
          </a:p>
          <a:p>
            <a:pPr marL="360000" indent="-360000">
              <a:spcBef>
                <a:spcPts val="600"/>
              </a:spcBef>
              <a:spcAft>
                <a:spcPts val="1200"/>
              </a:spcAft>
              <a:buClr>
                <a:srgbClr val="7FD13B"/>
              </a:buClr>
            </a:pPr>
            <a:r>
              <a:rPr lang="en-AU" sz="2200" dirty="0" smtClean="0">
                <a:latin typeface="Helvetica" pitchFamily="34" charset="0"/>
              </a:rPr>
              <a:t>Stocktake or stock count: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Teams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Recording sheets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Input to accounting system</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Collection procedures</a:t>
            </a:r>
          </a:p>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0">
              <a:spcBef>
                <a:spcPts val="600"/>
              </a:spcBef>
              <a:spcAft>
                <a:spcPts val="1200"/>
              </a:spcAft>
              <a:buClr>
                <a:schemeClr val="accent1">
                  <a:lumMod val="75000"/>
                </a:schemeClr>
              </a:buClr>
              <a:buSzPct val="100000"/>
              <a:buNone/>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5" name="Picture 4" descr="shutterstock_84545446.jpg"/>
          <p:cNvPicPr>
            <a:picLocks noChangeAspect="1"/>
          </p:cNvPicPr>
          <p:nvPr/>
        </p:nvPicPr>
        <p:blipFill>
          <a:blip r:embed="rId3" cstate="print"/>
          <a:stretch>
            <a:fillRect/>
          </a:stretch>
        </p:blipFill>
        <p:spPr>
          <a:xfrm>
            <a:off x="6276096" y="3916264"/>
            <a:ext cx="2184336" cy="1456952"/>
          </a:xfrm>
          <a:prstGeom prst="rect">
            <a:avLst/>
          </a:prstGeom>
        </p:spPr>
      </p:pic>
    </p:spTree>
    <p:extLst>
      <p:ext uri="{BB962C8B-B14F-4D97-AF65-F5344CB8AC3E}">
        <p14:creationId xmlns:p14="http://schemas.microsoft.com/office/powerpoint/2010/main" val="94604005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Monitoring the financial system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24136"/>
            <a:ext cx="7467600" cy="5661248"/>
          </a:xfrm>
        </p:spPr>
        <p:txBody>
          <a:bodyPr>
            <a:normAutofit/>
          </a:bodyPr>
          <a:lstStyle/>
          <a:p>
            <a:pPr marL="0" indent="0">
              <a:spcBef>
                <a:spcPts val="600"/>
              </a:spcBef>
              <a:spcAft>
                <a:spcPts val="1200"/>
              </a:spcAft>
              <a:buNone/>
            </a:pPr>
            <a:r>
              <a:rPr lang="en-AU" sz="2200" dirty="0" smtClean="0">
                <a:latin typeface="Helvetica" pitchFamily="34" charset="0"/>
              </a:rPr>
              <a:t>Monitoring inventory:</a:t>
            </a:r>
          </a:p>
          <a:p>
            <a:pPr marL="360000" indent="-360000">
              <a:spcBef>
                <a:spcPts val="600"/>
              </a:spcBef>
              <a:spcAft>
                <a:spcPts val="1200"/>
              </a:spcAft>
              <a:buClr>
                <a:srgbClr val="7FD13B"/>
              </a:buClr>
            </a:pPr>
            <a:r>
              <a:rPr lang="en-AU" sz="2200" dirty="0" smtClean="0">
                <a:latin typeface="Helvetica" pitchFamily="34" charset="0"/>
              </a:rPr>
              <a:t>Inventory turnover ratio:</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Calculation and formula (revised)</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Cash flow implications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5" name="Picture 4" descr="shutterstock_2887500.jpg"/>
          <p:cNvPicPr>
            <a:picLocks noChangeAspect="1"/>
          </p:cNvPicPr>
          <p:nvPr/>
        </p:nvPicPr>
        <p:blipFill>
          <a:blip r:embed="rId3" cstate="print"/>
          <a:stretch>
            <a:fillRect/>
          </a:stretch>
        </p:blipFill>
        <p:spPr>
          <a:xfrm>
            <a:off x="6228184" y="4005064"/>
            <a:ext cx="2183904" cy="1452296"/>
          </a:xfrm>
          <a:prstGeom prst="rect">
            <a:avLst/>
          </a:prstGeom>
        </p:spPr>
      </p:pic>
    </p:spTree>
    <p:extLst>
      <p:ext uri="{BB962C8B-B14F-4D97-AF65-F5344CB8AC3E}">
        <p14:creationId xmlns:p14="http://schemas.microsoft.com/office/powerpoint/2010/main" val="219059938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Monitoring the financial system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544616"/>
          </a:xfrm>
        </p:spPr>
        <p:txBody>
          <a:bodyPr>
            <a:normAutofit/>
          </a:bodyPr>
          <a:lstStyle/>
          <a:p>
            <a:pPr marL="0" indent="0">
              <a:spcBef>
                <a:spcPts val="600"/>
              </a:spcBef>
              <a:spcAft>
                <a:spcPts val="1200"/>
              </a:spcAft>
              <a:buNone/>
            </a:pPr>
            <a:r>
              <a:rPr lang="en-US" sz="2200" dirty="0" smtClean="0">
                <a:latin typeface="Helvetica" pitchFamily="34" charset="0"/>
              </a:rPr>
              <a:t>Monitoring fixed assets:</a:t>
            </a:r>
          </a:p>
          <a:p>
            <a:pPr marL="360000" indent="-360000">
              <a:spcBef>
                <a:spcPts val="600"/>
              </a:spcBef>
              <a:spcAft>
                <a:spcPts val="1200"/>
              </a:spcAft>
              <a:buClr>
                <a:srgbClr val="7FD13B"/>
              </a:buClr>
            </a:pPr>
            <a:r>
              <a:rPr lang="en-US" sz="2200" dirty="0" smtClean="0">
                <a:latin typeface="Helvetica" pitchFamily="34" charset="0"/>
              </a:rPr>
              <a:t>The fixed assets register:</a:t>
            </a:r>
            <a:endParaRPr lang="en-US" sz="2200" dirty="0">
              <a:latin typeface="Helvetica" pitchFamily="34" charset="0"/>
            </a:endParaRP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Unique details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Values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Physical count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4" descr="MC900230846.WMF"/>
          <p:cNvPicPr>
            <a:picLocks noChangeAspect="1"/>
          </p:cNvPicPr>
          <p:nvPr/>
        </p:nvPicPr>
        <p:blipFill>
          <a:blip r:embed="rId3" cstate="print"/>
          <a:stretch>
            <a:fillRect/>
          </a:stretch>
        </p:blipFill>
        <p:spPr>
          <a:xfrm>
            <a:off x="6393224" y="3994389"/>
            <a:ext cx="2067208" cy="1378827"/>
          </a:xfrm>
          <a:prstGeom prst="rect">
            <a:avLst/>
          </a:prstGeom>
        </p:spPr>
      </p:pic>
    </p:spTree>
    <p:extLst>
      <p:ext uri="{BB962C8B-B14F-4D97-AF65-F5344CB8AC3E}">
        <p14:creationId xmlns:p14="http://schemas.microsoft.com/office/powerpoint/2010/main" val="218617235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16632"/>
            <a:ext cx="7467600" cy="1143000"/>
          </a:xfrm>
        </p:spPr>
        <p:txBody>
          <a:bodyPr>
            <a:normAutofit/>
          </a:bodyPr>
          <a:lstStyle/>
          <a:p>
            <a:r>
              <a:rPr lang="en-US" sz="3400" b="1" dirty="0" smtClean="0">
                <a:solidFill>
                  <a:srgbClr val="FF6600"/>
                </a:solidFill>
                <a:latin typeface="Helvetica" pitchFamily="34" charset="0"/>
              </a:rPr>
              <a:t>Maintaining the financial syste</a:t>
            </a:r>
            <a:r>
              <a:rPr lang="en-US" sz="3400" b="1" dirty="0">
                <a:solidFill>
                  <a:srgbClr val="FF6600"/>
                </a:solidFill>
                <a:latin typeface="Helvetica" pitchFamily="34" charset="0"/>
              </a:rPr>
              <a:t>m</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sp>
        <p:nvSpPr>
          <p:cNvPr id="12" name="TextBox 11"/>
          <p:cNvSpPr txBox="1"/>
          <p:nvPr/>
        </p:nvSpPr>
        <p:spPr>
          <a:xfrm>
            <a:off x="4477092" y="2714620"/>
            <a:ext cx="2204594" cy="369332"/>
          </a:xfrm>
          <a:prstGeom prst="rect">
            <a:avLst/>
          </a:prstGeom>
          <a:noFill/>
        </p:spPr>
        <p:txBody>
          <a:bodyPr wrap="square" rtlCol="0">
            <a:spAutoFit/>
          </a:bodyPr>
          <a:lstStyle/>
          <a:p>
            <a:pPr algn="ctr"/>
            <a:r>
              <a:rPr lang="en-AU" b="1" dirty="0" smtClean="0">
                <a:solidFill>
                  <a:schemeClr val="bg1"/>
                </a:solidFill>
                <a:latin typeface="Helvetica" pitchFamily="34" charset="0"/>
              </a:rPr>
              <a:t>JOURNALS</a:t>
            </a:r>
            <a:endParaRPr lang="en-AU" b="1" dirty="0">
              <a:solidFill>
                <a:schemeClr val="bg1"/>
              </a:solidFill>
              <a:latin typeface="Helvetica" pitchFamily="34" charset="0"/>
            </a:endParaRPr>
          </a:p>
        </p:txBody>
      </p:sp>
      <p:grpSp>
        <p:nvGrpSpPr>
          <p:cNvPr id="40" name="Group 39"/>
          <p:cNvGrpSpPr/>
          <p:nvPr/>
        </p:nvGrpSpPr>
        <p:grpSpPr>
          <a:xfrm>
            <a:off x="179512" y="1309216"/>
            <a:ext cx="7368480" cy="4064000"/>
            <a:chOff x="251520" y="1196752"/>
            <a:chExt cx="7368480" cy="4064000"/>
          </a:xfrm>
        </p:grpSpPr>
        <p:graphicFrame>
          <p:nvGraphicFramePr>
            <p:cNvPr id="41" name="Diagram 40"/>
            <p:cNvGraphicFramePr/>
            <p:nvPr/>
          </p:nvGraphicFramePr>
          <p:xfrm>
            <a:off x="3851920" y="1196752"/>
            <a:ext cx="376808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3" name="Line 16"/>
            <p:cNvSpPr>
              <a:spLocks noChangeShapeType="1"/>
            </p:cNvSpPr>
            <p:nvPr/>
          </p:nvSpPr>
          <p:spPr bwMode="black">
            <a:xfrm>
              <a:off x="2051720" y="1772816"/>
              <a:ext cx="1771204" cy="458862"/>
            </a:xfrm>
            <a:prstGeom prst="line">
              <a:avLst/>
            </a:prstGeom>
            <a:noFill/>
            <a:ln w="9525">
              <a:solidFill>
                <a:schemeClr val="tx1"/>
              </a:solidFill>
              <a:round/>
              <a:headEnd/>
              <a:tailEnd type="triangle" w="med" len="med"/>
            </a:ln>
          </p:spPr>
          <p:txBody>
            <a:bodyPr wrap="none" anchor="ctr"/>
            <a:lstStyle/>
            <a:p>
              <a:endParaRPr lang="en-AU" dirty="0"/>
            </a:p>
          </p:txBody>
        </p:sp>
        <p:cxnSp>
          <p:nvCxnSpPr>
            <p:cNvPr id="44" name="AutoShape 17"/>
            <p:cNvCxnSpPr>
              <a:cxnSpLocks noChangeShapeType="1"/>
            </p:cNvCxnSpPr>
            <p:nvPr/>
          </p:nvCxnSpPr>
          <p:spPr bwMode="black">
            <a:xfrm flipH="1">
              <a:off x="611560" y="1772816"/>
              <a:ext cx="1440000" cy="0"/>
            </a:xfrm>
            <a:prstGeom prst="straightConnector1">
              <a:avLst/>
            </a:prstGeom>
            <a:noFill/>
            <a:ln w="9525">
              <a:solidFill>
                <a:schemeClr val="tx1"/>
              </a:solidFill>
              <a:round/>
              <a:headEnd/>
              <a:tailEnd/>
            </a:ln>
          </p:spPr>
        </p:cxnSp>
        <p:sp>
          <p:nvSpPr>
            <p:cNvPr id="45" name="Text Box 18"/>
            <p:cNvSpPr txBox="1">
              <a:spLocks noChangeArrowheads="1"/>
            </p:cNvSpPr>
            <p:nvPr/>
          </p:nvSpPr>
          <p:spPr bwMode="auto">
            <a:xfrm>
              <a:off x="251520" y="1434262"/>
              <a:ext cx="2057400" cy="338554"/>
            </a:xfrm>
            <a:prstGeom prst="rect">
              <a:avLst/>
            </a:prstGeom>
            <a:noFill/>
            <a:ln w="9525">
              <a:noFill/>
              <a:miter lim="800000"/>
              <a:headEnd/>
              <a:tailEnd/>
            </a:ln>
          </p:spPr>
          <p:txBody>
            <a:bodyPr>
              <a:spAutoFit/>
            </a:bodyPr>
            <a:lstStyle/>
            <a:p>
              <a:pPr marL="360000" indent="-360000" algn="ctr">
                <a:spcBef>
                  <a:spcPts val="600"/>
                </a:spcBef>
                <a:spcAft>
                  <a:spcPts val="1200"/>
                </a:spcAft>
                <a:buNone/>
              </a:pPr>
              <a:r>
                <a:rPr lang="en-US" sz="1600" b="1" dirty="0" smtClean="0">
                  <a:latin typeface="Helvetica" pitchFamily="34" charset="0"/>
                </a:rPr>
                <a:t>Inputs</a:t>
              </a:r>
            </a:p>
          </p:txBody>
        </p:sp>
        <p:sp>
          <p:nvSpPr>
            <p:cNvPr id="46" name="Line 16"/>
            <p:cNvSpPr>
              <a:spLocks noChangeShapeType="1"/>
            </p:cNvSpPr>
            <p:nvPr/>
          </p:nvSpPr>
          <p:spPr bwMode="black">
            <a:xfrm flipV="1">
              <a:off x="2051720" y="1412776"/>
              <a:ext cx="1800200" cy="360040"/>
            </a:xfrm>
            <a:prstGeom prst="line">
              <a:avLst/>
            </a:prstGeom>
            <a:noFill/>
            <a:ln w="9525">
              <a:solidFill>
                <a:schemeClr val="tx1"/>
              </a:solidFill>
              <a:round/>
              <a:headEnd/>
              <a:tailEnd type="triangle" w="med" len="med"/>
            </a:ln>
          </p:spPr>
          <p:txBody>
            <a:bodyPr wrap="none" anchor="ctr"/>
            <a:lstStyle/>
            <a:p>
              <a:endParaRPr lang="en-AU" dirty="0"/>
            </a:p>
          </p:txBody>
        </p:sp>
        <p:cxnSp>
          <p:nvCxnSpPr>
            <p:cNvPr id="47" name="AutoShape 17"/>
            <p:cNvCxnSpPr>
              <a:cxnSpLocks noChangeShapeType="1"/>
            </p:cNvCxnSpPr>
            <p:nvPr/>
          </p:nvCxnSpPr>
          <p:spPr bwMode="black">
            <a:xfrm flipH="1">
              <a:off x="611560" y="3573016"/>
              <a:ext cx="1440000" cy="0"/>
            </a:xfrm>
            <a:prstGeom prst="straightConnector1">
              <a:avLst/>
            </a:prstGeom>
            <a:noFill/>
            <a:ln w="9525">
              <a:solidFill>
                <a:schemeClr val="tx1"/>
              </a:solidFill>
              <a:round/>
              <a:headEnd/>
              <a:tailEnd/>
            </a:ln>
          </p:spPr>
        </p:cxnSp>
        <p:sp>
          <p:nvSpPr>
            <p:cNvPr id="48" name="Text Box 18"/>
            <p:cNvSpPr txBox="1">
              <a:spLocks noChangeArrowheads="1"/>
            </p:cNvSpPr>
            <p:nvPr/>
          </p:nvSpPr>
          <p:spPr bwMode="auto">
            <a:xfrm>
              <a:off x="282352" y="3234462"/>
              <a:ext cx="2057400" cy="338554"/>
            </a:xfrm>
            <a:prstGeom prst="rect">
              <a:avLst/>
            </a:prstGeom>
            <a:noFill/>
            <a:ln w="9525">
              <a:noFill/>
              <a:miter lim="800000"/>
              <a:headEnd/>
              <a:tailEnd/>
            </a:ln>
          </p:spPr>
          <p:txBody>
            <a:bodyPr>
              <a:spAutoFit/>
            </a:bodyPr>
            <a:lstStyle/>
            <a:p>
              <a:pPr marL="360000" indent="-360000" algn="ctr">
                <a:spcBef>
                  <a:spcPts val="600"/>
                </a:spcBef>
                <a:spcAft>
                  <a:spcPts val="1200"/>
                </a:spcAft>
                <a:buNone/>
              </a:pPr>
              <a:r>
                <a:rPr lang="en-US" sz="1600" b="1" dirty="0" smtClean="0">
                  <a:latin typeface="Helvetica" pitchFamily="34" charset="0"/>
                </a:rPr>
                <a:t>Processing</a:t>
              </a:r>
            </a:p>
          </p:txBody>
        </p:sp>
        <p:cxnSp>
          <p:nvCxnSpPr>
            <p:cNvPr id="49" name="AutoShape 17"/>
            <p:cNvCxnSpPr>
              <a:cxnSpLocks noChangeShapeType="1"/>
            </p:cNvCxnSpPr>
            <p:nvPr/>
          </p:nvCxnSpPr>
          <p:spPr bwMode="black">
            <a:xfrm flipH="1">
              <a:off x="611560" y="5013176"/>
              <a:ext cx="1440000" cy="0"/>
            </a:xfrm>
            <a:prstGeom prst="straightConnector1">
              <a:avLst/>
            </a:prstGeom>
            <a:noFill/>
            <a:ln w="9525">
              <a:solidFill>
                <a:schemeClr val="tx1"/>
              </a:solidFill>
              <a:round/>
              <a:headEnd/>
              <a:tailEnd/>
            </a:ln>
          </p:spPr>
        </p:cxnSp>
        <p:sp>
          <p:nvSpPr>
            <p:cNvPr id="50" name="Text Box 18"/>
            <p:cNvSpPr txBox="1">
              <a:spLocks noChangeArrowheads="1"/>
            </p:cNvSpPr>
            <p:nvPr/>
          </p:nvSpPr>
          <p:spPr bwMode="auto">
            <a:xfrm>
              <a:off x="251520" y="4674622"/>
              <a:ext cx="2057400" cy="338554"/>
            </a:xfrm>
            <a:prstGeom prst="rect">
              <a:avLst/>
            </a:prstGeom>
            <a:noFill/>
            <a:ln w="9525">
              <a:noFill/>
              <a:miter lim="800000"/>
              <a:headEnd/>
              <a:tailEnd/>
            </a:ln>
          </p:spPr>
          <p:txBody>
            <a:bodyPr>
              <a:spAutoFit/>
            </a:bodyPr>
            <a:lstStyle/>
            <a:p>
              <a:pPr marL="360000" indent="-360000" algn="ctr">
                <a:spcBef>
                  <a:spcPts val="600"/>
                </a:spcBef>
                <a:spcAft>
                  <a:spcPts val="1200"/>
                </a:spcAft>
                <a:buNone/>
              </a:pPr>
              <a:r>
                <a:rPr lang="en-US" sz="1600" b="1" dirty="0" smtClean="0">
                  <a:latin typeface="Helvetica" pitchFamily="34" charset="0"/>
                </a:rPr>
                <a:t>Outputs</a:t>
              </a:r>
            </a:p>
          </p:txBody>
        </p:sp>
        <p:sp>
          <p:nvSpPr>
            <p:cNvPr id="51" name="Line 16"/>
            <p:cNvSpPr>
              <a:spLocks noChangeShapeType="1"/>
            </p:cNvSpPr>
            <p:nvPr/>
          </p:nvSpPr>
          <p:spPr bwMode="black">
            <a:xfrm>
              <a:off x="2051720" y="3573016"/>
              <a:ext cx="1800200" cy="720080"/>
            </a:xfrm>
            <a:prstGeom prst="line">
              <a:avLst/>
            </a:prstGeom>
            <a:noFill/>
            <a:ln w="9525">
              <a:solidFill>
                <a:schemeClr val="tx1"/>
              </a:solidFill>
              <a:round/>
              <a:headEnd/>
              <a:tailEnd type="triangle" w="med" len="med"/>
            </a:ln>
          </p:spPr>
          <p:txBody>
            <a:bodyPr wrap="none" anchor="ctr"/>
            <a:lstStyle/>
            <a:p>
              <a:endParaRPr lang="en-AU" dirty="0"/>
            </a:p>
          </p:txBody>
        </p:sp>
        <p:sp>
          <p:nvSpPr>
            <p:cNvPr id="52" name="Line 16"/>
            <p:cNvSpPr>
              <a:spLocks noChangeShapeType="1"/>
            </p:cNvSpPr>
            <p:nvPr/>
          </p:nvSpPr>
          <p:spPr bwMode="black">
            <a:xfrm flipV="1">
              <a:off x="2051720" y="2852936"/>
              <a:ext cx="1800200" cy="720080"/>
            </a:xfrm>
            <a:prstGeom prst="line">
              <a:avLst/>
            </a:prstGeom>
            <a:noFill/>
            <a:ln w="9525">
              <a:solidFill>
                <a:schemeClr val="tx1"/>
              </a:solidFill>
              <a:round/>
              <a:headEnd/>
              <a:tailEnd type="triangle" w="med" len="med"/>
            </a:ln>
          </p:spPr>
          <p:txBody>
            <a:bodyPr wrap="none" anchor="ctr"/>
            <a:lstStyle/>
            <a:p>
              <a:endParaRPr lang="en-AU" dirty="0"/>
            </a:p>
          </p:txBody>
        </p:sp>
        <p:sp>
          <p:nvSpPr>
            <p:cNvPr id="53" name="Line 16"/>
            <p:cNvSpPr>
              <a:spLocks noChangeShapeType="1"/>
            </p:cNvSpPr>
            <p:nvPr/>
          </p:nvSpPr>
          <p:spPr bwMode="black">
            <a:xfrm>
              <a:off x="2051720" y="5013176"/>
              <a:ext cx="1800200" cy="0"/>
            </a:xfrm>
            <a:prstGeom prst="line">
              <a:avLst/>
            </a:prstGeom>
            <a:noFill/>
            <a:ln w="9525">
              <a:solidFill>
                <a:schemeClr val="tx1"/>
              </a:solidFill>
              <a:round/>
              <a:headEnd/>
              <a:tailEnd type="triangle" w="med" len="med"/>
            </a:ln>
          </p:spPr>
          <p:txBody>
            <a:bodyPr wrap="none" anchor="ctr"/>
            <a:lstStyle/>
            <a:p>
              <a:endParaRPr lang="en-AU" dirty="0"/>
            </a:p>
          </p:txBody>
        </p:sp>
        <p:sp>
          <p:nvSpPr>
            <p:cNvPr id="54" name="Line 16"/>
            <p:cNvSpPr>
              <a:spLocks noChangeShapeType="1"/>
            </p:cNvSpPr>
            <p:nvPr/>
          </p:nvSpPr>
          <p:spPr bwMode="black">
            <a:xfrm>
              <a:off x="2051720" y="3573016"/>
              <a:ext cx="1800200" cy="0"/>
            </a:xfrm>
            <a:prstGeom prst="line">
              <a:avLst/>
            </a:prstGeom>
            <a:noFill/>
            <a:ln w="9525">
              <a:solidFill>
                <a:schemeClr val="tx1"/>
              </a:solidFill>
              <a:round/>
              <a:headEnd/>
              <a:tailEnd type="triangle" w="med" len="med"/>
            </a:ln>
          </p:spPr>
          <p:txBody>
            <a:bodyPr wrap="none" anchor="ctr"/>
            <a:lstStyle/>
            <a:p>
              <a:endParaRPr lang="en-AU" dirty="0"/>
            </a:p>
          </p:txBody>
        </p:sp>
      </p:grpSp>
    </p:spTree>
    <p:extLst>
      <p:ext uri="{BB962C8B-B14F-4D97-AF65-F5344CB8AC3E}">
        <p14:creationId xmlns:p14="http://schemas.microsoft.com/office/powerpoint/2010/main" val="1765528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Checking transactions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848872" cy="5733256"/>
          </a:xfrm>
        </p:spPr>
        <p:txBody>
          <a:bodyPr>
            <a:normAutofit/>
          </a:bodyPr>
          <a:lstStyle/>
          <a:p>
            <a:pPr marL="360000" indent="-360000">
              <a:spcBef>
                <a:spcPts val="600"/>
              </a:spcBef>
              <a:spcAft>
                <a:spcPts val="1200"/>
              </a:spcAft>
              <a:buClr>
                <a:srgbClr val="7FD13B"/>
              </a:buClr>
            </a:pPr>
            <a:r>
              <a:rPr lang="en-AU" sz="2200" dirty="0" smtClean="0">
                <a:latin typeface="Helvetica" pitchFamily="34" charset="0"/>
              </a:rPr>
              <a:t>What is a transaction?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External</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Internal</a:t>
            </a:r>
          </a:p>
          <a:p>
            <a:pPr marL="360000" indent="-360000">
              <a:spcBef>
                <a:spcPts val="600"/>
              </a:spcBef>
              <a:spcAft>
                <a:spcPts val="1200"/>
              </a:spcAft>
              <a:buClr>
                <a:srgbClr val="7FD13B"/>
              </a:buClr>
            </a:pPr>
            <a:r>
              <a:rPr lang="en-AU" sz="2200" dirty="0" smtClean="0">
                <a:latin typeface="Helvetica" pitchFamily="34" charset="0"/>
              </a:rPr>
              <a:t>Classifying transactions: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Assets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Liabilities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Owner’s equity</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Revenue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Expenses</a:t>
            </a:r>
          </a:p>
          <a:p>
            <a:pPr marL="360000" indent="-360000">
              <a:spcBef>
                <a:spcPts val="600"/>
              </a:spcBef>
              <a:spcAft>
                <a:spcPts val="1200"/>
              </a:spcAft>
              <a:buClr>
                <a:srgbClr val="7FD13B"/>
              </a:buClr>
            </a:pPr>
            <a:endParaRPr lang="en-AU" sz="2200" dirty="0" smtClean="0">
              <a:latin typeface="Helvetica" pitchFamily="34" charset="0"/>
            </a:endParaRPr>
          </a:p>
          <a:p>
            <a:pPr marL="360000" indent="-360000">
              <a:spcBef>
                <a:spcPts val="600"/>
              </a:spcBef>
              <a:spcAft>
                <a:spcPts val="1200"/>
              </a:spcAft>
              <a:buClr>
                <a:srgbClr val="7FD13B"/>
              </a:buClr>
            </a:pPr>
            <a:endParaRPr lang="en-AU" sz="2200" dirty="0" smtClean="0">
              <a:latin typeface="Helvetica" pitchFamily="34" charset="0"/>
            </a:endParaRPr>
          </a:p>
          <a:p>
            <a:pPr marL="360000" indent="-360000">
              <a:spcBef>
                <a:spcPts val="600"/>
              </a:spcBef>
              <a:spcAft>
                <a:spcPts val="1200"/>
              </a:spcAft>
              <a:buClr>
                <a:srgbClr val="7FD13B"/>
              </a:buClr>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descr="shutterstock_14099602.jpg"/>
          <p:cNvPicPr>
            <a:picLocks noChangeAspect="1"/>
          </p:cNvPicPr>
          <p:nvPr/>
        </p:nvPicPr>
        <p:blipFill>
          <a:blip r:embed="rId3" cstate="print"/>
          <a:stretch>
            <a:fillRect/>
          </a:stretch>
        </p:blipFill>
        <p:spPr>
          <a:xfrm>
            <a:off x="6866880" y="3045296"/>
            <a:ext cx="1593552" cy="2399928"/>
          </a:xfrm>
          <a:prstGeom prst="rect">
            <a:avLst/>
          </a:prstGeom>
        </p:spPr>
      </p:pic>
    </p:spTree>
    <p:extLst>
      <p:ext uri="{BB962C8B-B14F-4D97-AF65-F5344CB8AC3E}">
        <p14:creationId xmlns:p14="http://schemas.microsoft.com/office/powerpoint/2010/main" val="57953855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AU" sz="3400" b="1" dirty="0" smtClean="0">
                <a:solidFill>
                  <a:srgbClr val="FF6600"/>
                </a:solidFill>
                <a:latin typeface="Helvetica" pitchFamily="34" charset="0"/>
              </a:rPr>
              <a:t>Checking transactions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848872" cy="5328592"/>
          </a:xfrm>
        </p:spPr>
        <p:txBody>
          <a:bodyPr>
            <a:normAutofit/>
          </a:bodyPr>
          <a:lstStyle/>
          <a:p>
            <a:pPr marL="360000" indent="-360000">
              <a:spcBef>
                <a:spcPts val="600"/>
              </a:spcBef>
              <a:spcAft>
                <a:spcPts val="1200"/>
              </a:spcAft>
              <a:buClr>
                <a:srgbClr val="7FD13B"/>
              </a:buClr>
            </a:pPr>
            <a:r>
              <a:rPr lang="en-AU" sz="2200" dirty="0" smtClean="0">
                <a:latin typeface="Helvetica" pitchFamily="34" charset="0"/>
              </a:rPr>
              <a:t>Classifying transactions: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Revenue – Expenses = Net Profit / (Loss)</a:t>
            </a:r>
          </a:p>
          <a:p>
            <a:pPr marL="360000" indent="-360000">
              <a:spcBef>
                <a:spcPts val="600"/>
              </a:spcBef>
              <a:spcAft>
                <a:spcPts val="1200"/>
              </a:spcAft>
              <a:buClr>
                <a:srgbClr val="7FD13B"/>
              </a:buClr>
            </a:pPr>
            <a:r>
              <a:rPr lang="en-AU" sz="2200" dirty="0" smtClean="0">
                <a:latin typeface="Helvetica" pitchFamily="34" charset="0"/>
              </a:rPr>
              <a:t>The accounting equation: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Assets – Liabilities = Owner’s equity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4" descr="MC900429205.WMF"/>
          <p:cNvPicPr>
            <a:picLocks noChangeAspect="1"/>
          </p:cNvPicPr>
          <p:nvPr/>
        </p:nvPicPr>
        <p:blipFill>
          <a:blip r:embed="rId3" cstate="print"/>
          <a:stretch>
            <a:fillRect/>
          </a:stretch>
        </p:blipFill>
        <p:spPr>
          <a:xfrm>
            <a:off x="6660232" y="3429000"/>
            <a:ext cx="1794053" cy="1825142"/>
          </a:xfrm>
          <a:prstGeom prst="rect">
            <a:avLst/>
          </a:prstGeom>
        </p:spPr>
      </p:pic>
    </p:spTree>
    <p:extLst>
      <p:ext uri="{BB962C8B-B14F-4D97-AF65-F5344CB8AC3E}">
        <p14:creationId xmlns:p14="http://schemas.microsoft.com/office/powerpoint/2010/main" val="407594465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AU" sz="3400" b="1" dirty="0" smtClean="0">
                <a:solidFill>
                  <a:srgbClr val="FF6600"/>
                </a:solidFill>
                <a:latin typeface="Helvetica" pitchFamily="34" charset="0"/>
              </a:rPr>
              <a:t>Checking transactions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080120"/>
            <a:ext cx="7467600" cy="5661248"/>
          </a:xfrm>
        </p:spPr>
        <p:txBody>
          <a:bodyPr>
            <a:noAutofit/>
          </a:bodyPr>
          <a:lstStyle/>
          <a:p>
            <a:pPr marL="0" indent="0">
              <a:spcBef>
                <a:spcPts val="600"/>
              </a:spcBef>
              <a:spcAft>
                <a:spcPts val="600"/>
              </a:spcAft>
              <a:buNone/>
            </a:pPr>
            <a:r>
              <a:rPr lang="en-AU" sz="2000" dirty="0" smtClean="0">
                <a:latin typeface="Helvetica" pitchFamily="34" charset="0"/>
              </a:rPr>
              <a:t>Correctly identify the following items for the business:</a:t>
            </a:r>
          </a:p>
          <a:p>
            <a:pPr marL="0" indent="0">
              <a:spcBef>
                <a:spcPts val="600"/>
              </a:spcBef>
              <a:spcAft>
                <a:spcPts val="600"/>
              </a:spcAft>
              <a:buNone/>
              <a:tabLst>
                <a:tab pos="3582988" algn="l"/>
              </a:tabLst>
            </a:pPr>
            <a:r>
              <a:rPr lang="en-AU" sz="2000" dirty="0" smtClean="0">
                <a:latin typeface="Helvetica" pitchFamily="34" charset="0"/>
              </a:rPr>
              <a:t>Food sales	Electricity usage	</a:t>
            </a:r>
          </a:p>
          <a:p>
            <a:pPr marL="0" indent="0">
              <a:spcBef>
                <a:spcPts val="600"/>
              </a:spcBef>
              <a:spcAft>
                <a:spcPts val="600"/>
              </a:spcAft>
              <a:buNone/>
              <a:tabLst>
                <a:tab pos="3582988" algn="l"/>
              </a:tabLst>
            </a:pPr>
            <a:r>
              <a:rPr lang="en-AU" sz="2000" dirty="0" smtClean="0">
                <a:latin typeface="Helvetica" pitchFamily="34" charset="0"/>
              </a:rPr>
              <a:t>Advertising	Insurance		</a:t>
            </a:r>
          </a:p>
          <a:p>
            <a:pPr marL="0" indent="0">
              <a:spcBef>
                <a:spcPts val="600"/>
              </a:spcBef>
              <a:spcAft>
                <a:spcPts val="600"/>
              </a:spcAft>
              <a:buNone/>
              <a:tabLst>
                <a:tab pos="3582988" algn="l"/>
              </a:tabLst>
            </a:pPr>
            <a:r>
              <a:rPr lang="en-AU" sz="2000" dirty="0" smtClean="0">
                <a:latin typeface="Helvetica" pitchFamily="34" charset="0"/>
              </a:rPr>
              <a:t>Cash at bank	Laundry		</a:t>
            </a:r>
            <a:endParaRPr lang="en-AU" sz="2000" i="1" dirty="0" smtClean="0">
              <a:solidFill>
                <a:srgbClr val="FF0000"/>
              </a:solidFill>
              <a:latin typeface="Helvetica" pitchFamily="34" charset="0"/>
            </a:endParaRPr>
          </a:p>
          <a:p>
            <a:pPr marL="0" indent="0">
              <a:spcBef>
                <a:spcPts val="600"/>
              </a:spcBef>
              <a:spcAft>
                <a:spcPts val="600"/>
              </a:spcAft>
              <a:buNone/>
              <a:tabLst>
                <a:tab pos="3582988" algn="l"/>
              </a:tabLst>
            </a:pPr>
            <a:r>
              <a:rPr lang="en-AU" sz="2000" dirty="0" smtClean="0">
                <a:latin typeface="Helvetica" pitchFamily="34" charset="0"/>
              </a:rPr>
              <a:t>Rent	Ticket sales	</a:t>
            </a:r>
            <a:r>
              <a:rPr lang="en-AU" sz="2000" i="1" dirty="0" smtClean="0">
                <a:solidFill>
                  <a:srgbClr val="FF0000"/>
                </a:solidFill>
                <a:latin typeface="Helvetica" pitchFamily="34" charset="0"/>
              </a:rPr>
              <a:t> </a:t>
            </a:r>
            <a:endParaRPr lang="en-AU" sz="2000" dirty="0" smtClean="0">
              <a:latin typeface="Helvetica" pitchFamily="34" charset="0"/>
            </a:endParaRPr>
          </a:p>
          <a:p>
            <a:pPr marL="0" indent="0">
              <a:spcBef>
                <a:spcPts val="600"/>
              </a:spcBef>
              <a:spcAft>
                <a:spcPts val="600"/>
              </a:spcAft>
              <a:buNone/>
              <a:tabLst>
                <a:tab pos="3582988" algn="l"/>
              </a:tabLst>
            </a:pPr>
            <a:r>
              <a:rPr lang="en-AU" sz="2000" dirty="0" smtClean="0">
                <a:latin typeface="Helvetica" pitchFamily="34" charset="0"/>
              </a:rPr>
              <a:t>Room sales	Vehicle repairs	</a:t>
            </a:r>
          </a:p>
          <a:p>
            <a:pPr marL="0" indent="0">
              <a:spcBef>
                <a:spcPts val="600"/>
              </a:spcBef>
              <a:spcAft>
                <a:spcPts val="600"/>
              </a:spcAft>
              <a:buNone/>
              <a:tabLst>
                <a:tab pos="3582988" algn="l"/>
              </a:tabLst>
            </a:pPr>
            <a:r>
              <a:rPr lang="en-AU" sz="2000" dirty="0" smtClean="0">
                <a:latin typeface="Helvetica" pitchFamily="34" charset="0"/>
              </a:rPr>
              <a:t>Telephone usage	Equipment</a:t>
            </a:r>
          </a:p>
          <a:p>
            <a:pPr marL="0" indent="0">
              <a:spcBef>
                <a:spcPts val="600"/>
              </a:spcBef>
              <a:spcAft>
                <a:spcPts val="600"/>
              </a:spcAft>
              <a:buNone/>
              <a:tabLst>
                <a:tab pos="3582988" algn="l"/>
              </a:tabLst>
            </a:pPr>
            <a:r>
              <a:rPr lang="en-AU" sz="2000" dirty="0" smtClean="0">
                <a:latin typeface="Helvetica" pitchFamily="34" charset="0"/>
              </a:rPr>
              <a:t>Accounts receivable	Accounts payable</a:t>
            </a:r>
          </a:p>
          <a:p>
            <a:pPr marL="0" indent="0">
              <a:spcBef>
                <a:spcPts val="600"/>
              </a:spcBef>
              <a:spcAft>
                <a:spcPts val="600"/>
              </a:spcAft>
              <a:buNone/>
              <a:tabLst>
                <a:tab pos="3582988" algn="l"/>
              </a:tabLst>
            </a:pPr>
            <a:r>
              <a:rPr lang="en-AU" sz="2000" dirty="0" smtClean="0">
                <a:latin typeface="Helvetica" pitchFamily="34" charset="0"/>
              </a:rPr>
              <a:t>Fuel	Tour sales	</a:t>
            </a:r>
            <a:r>
              <a:rPr lang="en-AU" sz="2000" i="1" dirty="0" smtClean="0">
                <a:solidFill>
                  <a:srgbClr val="FF0000"/>
                </a:solidFill>
                <a:latin typeface="Helvetica" pitchFamily="34" charset="0"/>
              </a:rPr>
              <a:t>	</a:t>
            </a:r>
            <a:endParaRPr lang="en-AU" sz="2000" dirty="0" smtClean="0">
              <a:latin typeface="Helvetica" pitchFamily="34" charset="0"/>
            </a:endParaRPr>
          </a:p>
          <a:p>
            <a:pPr marL="0" indent="0">
              <a:spcBef>
                <a:spcPts val="600"/>
              </a:spcBef>
              <a:spcAft>
                <a:spcPts val="600"/>
              </a:spcAft>
              <a:buNone/>
              <a:tabLst>
                <a:tab pos="3582988" algn="l"/>
              </a:tabLst>
            </a:pPr>
            <a:r>
              <a:rPr lang="en-AU" sz="2000" dirty="0" smtClean="0">
                <a:latin typeface="Helvetica" pitchFamily="34" charset="0"/>
              </a:rPr>
              <a:t>Inventory</a:t>
            </a:r>
            <a:r>
              <a:rPr lang="en-AU" sz="2000" i="1" dirty="0" smtClean="0">
                <a:solidFill>
                  <a:srgbClr val="FF0000"/>
                </a:solidFill>
                <a:latin typeface="Helvetica" pitchFamily="34" charset="0"/>
              </a:rPr>
              <a:t>	</a:t>
            </a:r>
            <a:endParaRPr lang="en-AU" sz="2000" dirty="0" smtClean="0">
              <a:latin typeface="Helvetica" pitchFamily="34" charset="0"/>
            </a:endParaRPr>
          </a:p>
          <a:p>
            <a:pPr marL="0" indent="0">
              <a:spcBef>
                <a:spcPts val="600"/>
              </a:spcBef>
              <a:spcAft>
                <a:spcPts val="600"/>
              </a:spcAft>
              <a:buNone/>
              <a:tabLst>
                <a:tab pos="3582988" algn="l"/>
              </a:tabLst>
            </a:pPr>
            <a:r>
              <a:rPr lang="en-AU" sz="2000" dirty="0" smtClean="0">
                <a:latin typeface="Helvetica" pitchFamily="34" charset="0"/>
              </a:rPr>
              <a:t>Wages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5" name="Picture 4" descr="1131445_red_check_sign_in_3d.jpg"/>
          <p:cNvPicPr>
            <a:picLocks noChangeAspect="1"/>
          </p:cNvPicPr>
          <p:nvPr/>
        </p:nvPicPr>
        <p:blipFill>
          <a:blip r:embed="rId3" cstate="print"/>
          <a:stretch>
            <a:fillRect/>
          </a:stretch>
        </p:blipFill>
        <p:spPr>
          <a:xfrm>
            <a:off x="6660232" y="3933056"/>
            <a:ext cx="1777380" cy="1421904"/>
          </a:xfrm>
          <a:prstGeom prst="rect">
            <a:avLst/>
          </a:prstGeom>
        </p:spPr>
      </p:pic>
    </p:spTree>
    <p:extLst>
      <p:ext uri="{BB962C8B-B14F-4D97-AF65-F5344CB8AC3E}">
        <p14:creationId xmlns:p14="http://schemas.microsoft.com/office/powerpoint/2010/main" val="3549285515"/>
      </p:ext>
    </p:extLst>
  </p:cSld>
  <p:clrMapOvr>
    <a:masterClrMapping/>
  </p:clrMapOvr>
  <p:transition>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AU" sz="3400" b="1" dirty="0" smtClean="0">
                <a:solidFill>
                  <a:srgbClr val="FF6600"/>
                </a:solidFill>
                <a:latin typeface="Helvetica" pitchFamily="34" charset="0"/>
              </a:rPr>
              <a:t>Checking transactions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661248"/>
          </a:xfrm>
        </p:spPr>
        <p:txBody>
          <a:bodyPr>
            <a:noAutofit/>
          </a:bodyPr>
          <a:lstStyle/>
          <a:p>
            <a:pPr marL="0" indent="0">
              <a:spcBef>
                <a:spcPts val="600"/>
              </a:spcBef>
              <a:spcAft>
                <a:spcPts val="1200"/>
              </a:spcAft>
              <a:buNone/>
            </a:pPr>
            <a:r>
              <a:rPr lang="en-AU" sz="1600" dirty="0" smtClean="0">
                <a:latin typeface="Helvetica" pitchFamily="34" charset="0"/>
              </a:rPr>
              <a:t>Correctly identify the following as Revenue or  Expense items for the business:</a:t>
            </a:r>
          </a:p>
          <a:p>
            <a:pPr marL="0" indent="0">
              <a:spcBef>
                <a:spcPts val="600"/>
              </a:spcBef>
              <a:spcAft>
                <a:spcPts val="1200"/>
              </a:spcAft>
              <a:buNone/>
              <a:tabLst>
                <a:tab pos="2147888" algn="l"/>
                <a:tab pos="4125913" algn="l"/>
                <a:tab pos="6453188" algn="l"/>
              </a:tabLst>
            </a:pPr>
            <a:r>
              <a:rPr lang="en-AU" sz="1600" dirty="0" smtClean="0">
                <a:latin typeface="Helvetica" pitchFamily="34" charset="0"/>
              </a:rPr>
              <a:t>Food sales	</a:t>
            </a:r>
            <a:r>
              <a:rPr lang="en-AU" sz="1600" i="1" dirty="0" smtClean="0">
                <a:solidFill>
                  <a:srgbClr val="FF0000"/>
                </a:solidFill>
                <a:latin typeface="Helvetica" pitchFamily="34" charset="0"/>
              </a:rPr>
              <a:t>Revenue	</a:t>
            </a:r>
            <a:r>
              <a:rPr lang="en-AU" sz="1600" dirty="0" smtClean="0">
                <a:latin typeface="Helvetica" pitchFamily="34" charset="0"/>
              </a:rPr>
              <a:t>Electricity usage	</a:t>
            </a:r>
            <a:r>
              <a:rPr lang="en-AU" sz="1600" i="1" dirty="0" smtClean="0">
                <a:solidFill>
                  <a:srgbClr val="FF0000"/>
                </a:solidFill>
                <a:latin typeface="Helvetica" pitchFamily="34" charset="0"/>
              </a:rPr>
              <a:t>Expense </a:t>
            </a:r>
            <a:endParaRPr lang="en-AU" sz="1600" dirty="0" smtClean="0">
              <a:latin typeface="Helvetica" pitchFamily="34" charset="0"/>
            </a:endParaRPr>
          </a:p>
          <a:p>
            <a:pPr marL="0" indent="0">
              <a:spcBef>
                <a:spcPts val="600"/>
              </a:spcBef>
              <a:spcAft>
                <a:spcPts val="1200"/>
              </a:spcAft>
              <a:buNone/>
              <a:tabLst>
                <a:tab pos="2147888" algn="l"/>
                <a:tab pos="4125913" algn="l"/>
                <a:tab pos="6453188" algn="l"/>
              </a:tabLst>
            </a:pPr>
            <a:r>
              <a:rPr lang="en-AU" sz="1600" dirty="0" smtClean="0">
                <a:latin typeface="Helvetica" pitchFamily="34" charset="0"/>
              </a:rPr>
              <a:t>Advertising	</a:t>
            </a:r>
            <a:r>
              <a:rPr lang="en-AU" sz="1600" i="1" dirty="0" smtClean="0">
                <a:solidFill>
                  <a:srgbClr val="FF0000"/>
                </a:solidFill>
                <a:latin typeface="Helvetica" pitchFamily="34" charset="0"/>
              </a:rPr>
              <a:t>Expense 	</a:t>
            </a:r>
            <a:r>
              <a:rPr lang="en-AU" sz="1600" dirty="0" smtClean="0">
                <a:latin typeface="Helvetica" pitchFamily="34" charset="0"/>
              </a:rPr>
              <a:t>Insurance	</a:t>
            </a:r>
            <a:r>
              <a:rPr lang="en-AU" sz="1600" i="1" dirty="0" smtClean="0">
                <a:solidFill>
                  <a:srgbClr val="FF0000"/>
                </a:solidFill>
                <a:latin typeface="Helvetica" pitchFamily="34" charset="0"/>
              </a:rPr>
              <a:t>Expense</a:t>
            </a:r>
            <a:endParaRPr lang="en-AU" sz="1600" dirty="0" smtClean="0">
              <a:latin typeface="Helvetica" pitchFamily="34" charset="0"/>
            </a:endParaRPr>
          </a:p>
          <a:p>
            <a:pPr marL="0" indent="0">
              <a:spcBef>
                <a:spcPts val="600"/>
              </a:spcBef>
              <a:spcAft>
                <a:spcPts val="1200"/>
              </a:spcAft>
              <a:buNone/>
              <a:tabLst>
                <a:tab pos="2147888" algn="l"/>
                <a:tab pos="4125913" algn="l"/>
                <a:tab pos="6453188" algn="l"/>
              </a:tabLst>
            </a:pPr>
            <a:r>
              <a:rPr lang="en-AU" sz="1600" dirty="0" smtClean="0">
                <a:latin typeface="Helvetica" pitchFamily="34" charset="0"/>
              </a:rPr>
              <a:t>Cash at Bank 	</a:t>
            </a:r>
            <a:r>
              <a:rPr lang="en-AU" sz="1600" i="1" dirty="0" smtClean="0">
                <a:solidFill>
                  <a:srgbClr val="FF0000"/>
                </a:solidFill>
                <a:latin typeface="Helvetica" pitchFamily="34" charset="0"/>
              </a:rPr>
              <a:t>Asset 	</a:t>
            </a:r>
            <a:r>
              <a:rPr lang="en-AU" sz="1600" dirty="0" smtClean="0">
                <a:latin typeface="Helvetica" pitchFamily="34" charset="0"/>
              </a:rPr>
              <a:t>Laundry	</a:t>
            </a:r>
            <a:r>
              <a:rPr lang="en-AU" sz="1600" i="1" dirty="0" smtClean="0">
                <a:solidFill>
                  <a:srgbClr val="FF0000"/>
                </a:solidFill>
                <a:latin typeface="Helvetica" pitchFamily="34" charset="0"/>
              </a:rPr>
              <a:t>Expense</a:t>
            </a:r>
          </a:p>
          <a:p>
            <a:pPr marL="0" indent="0">
              <a:spcBef>
                <a:spcPts val="600"/>
              </a:spcBef>
              <a:spcAft>
                <a:spcPts val="1200"/>
              </a:spcAft>
              <a:buNone/>
              <a:tabLst>
                <a:tab pos="2147888" algn="l"/>
                <a:tab pos="4125913" algn="l"/>
                <a:tab pos="6453188" algn="l"/>
              </a:tabLst>
            </a:pPr>
            <a:r>
              <a:rPr lang="en-AU" sz="1600" dirty="0" smtClean="0">
                <a:latin typeface="Helvetica" pitchFamily="34" charset="0"/>
              </a:rPr>
              <a:t>Rent	</a:t>
            </a:r>
            <a:r>
              <a:rPr lang="en-AU" sz="1600" i="1" dirty="0" smtClean="0">
                <a:solidFill>
                  <a:srgbClr val="FF0000"/>
                </a:solidFill>
                <a:latin typeface="Helvetica" pitchFamily="34" charset="0"/>
              </a:rPr>
              <a:t>Expense 	</a:t>
            </a:r>
            <a:r>
              <a:rPr lang="en-AU" sz="1600" dirty="0" smtClean="0">
                <a:latin typeface="Helvetica" pitchFamily="34" charset="0"/>
              </a:rPr>
              <a:t>Ticket Sales	</a:t>
            </a:r>
            <a:r>
              <a:rPr lang="en-AU" sz="1600" i="1" dirty="0" smtClean="0">
                <a:solidFill>
                  <a:srgbClr val="FF0000"/>
                </a:solidFill>
                <a:latin typeface="Helvetica" pitchFamily="34" charset="0"/>
              </a:rPr>
              <a:t>Revenue </a:t>
            </a:r>
            <a:endParaRPr lang="en-AU" sz="1600" dirty="0" smtClean="0">
              <a:latin typeface="Helvetica" pitchFamily="34" charset="0"/>
            </a:endParaRPr>
          </a:p>
          <a:p>
            <a:pPr marL="0" indent="0">
              <a:spcBef>
                <a:spcPts val="600"/>
              </a:spcBef>
              <a:spcAft>
                <a:spcPts val="1200"/>
              </a:spcAft>
              <a:buNone/>
              <a:tabLst>
                <a:tab pos="2147888" algn="l"/>
                <a:tab pos="4125913" algn="l"/>
                <a:tab pos="6453188" algn="l"/>
              </a:tabLst>
            </a:pPr>
            <a:r>
              <a:rPr lang="en-AU" sz="1600" dirty="0" smtClean="0">
                <a:latin typeface="Helvetica" pitchFamily="34" charset="0"/>
              </a:rPr>
              <a:t>Room Sales	</a:t>
            </a:r>
            <a:r>
              <a:rPr lang="en-AU" sz="1600" i="1" dirty="0" smtClean="0">
                <a:solidFill>
                  <a:srgbClr val="FF0000"/>
                </a:solidFill>
                <a:latin typeface="Helvetica" pitchFamily="34" charset="0"/>
              </a:rPr>
              <a:t>Revenue 	</a:t>
            </a:r>
            <a:r>
              <a:rPr lang="en-AU" sz="1600" dirty="0" smtClean="0">
                <a:latin typeface="Helvetica" pitchFamily="34" charset="0"/>
              </a:rPr>
              <a:t>Vehicle repairs	</a:t>
            </a:r>
            <a:r>
              <a:rPr lang="en-AU" sz="1600" i="1" dirty="0" smtClean="0">
                <a:solidFill>
                  <a:srgbClr val="FF0000"/>
                </a:solidFill>
                <a:latin typeface="Helvetica" pitchFamily="34" charset="0"/>
              </a:rPr>
              <a:t>Expense</a:t>
            </a:r>
            <a:endParaRPr lang="en-AU" sz="1600" dirty="0" smtClean="0">
              <a:latin typeface="Helvetica" pitchFamily="34" charset="0"/>
            </a:endParaRPr>
          </a:p>
          <a:p>
            <a:pPr marL="0" indent="0">
              <a:spcBef>
                <a:spcPts val="600"/>
              </a:spcBef>
              <a:spcAft>
                <a:spcPts val="1200"/>
              </a:spcAft>
              <a:buNone/>
              <a:tabLst>
                <a:tab pos="2147888" algn="l"/>
                <a:tab pos="4125913" algn="l"/>
                <a:tab pos="6453188" algn="l"/>
              </a:tabLst>
            </a:pPr>
            <a:r>
              <a:rPr lang="en-AU" sz="1600" dirty="0" smtClean="0">
                <a:latin typeface="Helvetica" pitchFamily="34" charset="0"/>
              </a:rPr>
              <a:t>Telephone usage	</a:t>
            </a:r>
            <a:r>
              <a:rPr lang="en-AU" sz="1600" i="1" dirty="0" smtClean="0">
                <a:solidFill>
                  <a:srgbClr val="FF0000"/>
                </a:solidFill>
                <a:latin typeface="Helvetica" pitchFamily="34" charset="0"/>
              </a:rPr>
              <a:t>Expense 	</a:t>
            </a:r>
            <a:r>
              <a:rPr lang="en-AU" sz="1600" dirty="0" smtClean="0">
                <a:latin typeface="Helvetica" pitchFamily="34" charset="0"/>
              </a:rPr>
              <a:t>Equipment	</a:t>
            </a:r>
            <a:r>
              <a:rPr lang="en-AU" sz="1600" i="1" dirty="0" smtClean="0">
                <a:solidFill>
                  <a:srgbClr val="FF0000"/>
                </a:solidFill>
                <a:latin typeface="Helvetica" pitchFamily="34" charset="0"/>
              </a:rPr>
              <a:t>Asset</a:t>
            </a:r>
            <a:endParaRPr lang="en-AU" sz="1600" dirty="0" smtClean="0">
              <a:latin typeface="Helvetica" pitchFamily="34" charset="0"/>
            </a:endParaRPr>
          </a:p>
          <a:p>
            <a:pPr marL="0" indent="0">
              <a:spcBef>
                <a:spcPts val="600"/>
              </a:spcBef>
              <a:spcAft>
                <a:spcPts val="1200"/>
              </a:spcAft>
              <a:buNone/>
              <a:tabLst>
                <a:tab pos="2147888" algn="l"/>
                <a:tab pos="4125913" algn="l"/>
                <a:tab pos="6453188" algn="l"/>
              </a:tabLst>
            </a:pPr>
            <a:r>
              <a:rPr lang="en-AU" sz="1600" dirty="0" smtClean="0">
                <a:latin typeface="Helvetica" pitchFamily="34" charset="0"/>
              </a:rPr>
              <a:t>Accounts receivable	</a:t>
            </a:r>
            <a:r>
              <a:rPr lang="en-AU" sz="1600" i="1" dirty="0" smtClean="0">
                <a:solidFill>
                  <a:srgbClr val="FF0000"/>
                </a:solidFill>
                <a:latin typeface="Helvetica" pitchFamily="34" charset="0"/>
              </a:rPr>
              <a:t>Asset	</a:t>
            </a:r>
            <a:r>
              <a:rPr lang="en-AU" sz="1600" dirty="0" smtClean="0">
                <a:solidFill>
                  <a:srgbClr val="000000"/>
                </a:solidFill>
                <a:latin typeface="Helvetica" pitchFamily="34" charset="0"/>
              </a:rPr>
              <a:t>Accounts payable	</a:t>
            </a:r>
            <a:r>
              <a:rPr lang="en-AU" sz="1600" i="1" dirty="0" smtClean="0">
                <a:solidFill>
                  <a:srgbClr val="FF0000"/>
                </a:solidFill>
                <a:latin typeface="Helvetica" pitchFamily="34" charset="0"/>
              </a:rPr>
              <a:t>Liability</a:t>
            </a:r>
          </a:p>
          <a:p>
            <a:pPr marL="0" indent="0">
              <a:spcBef>
                <a:spcPts val="600"/>
              </a:spcBef>
              <a:spcAft>
                <a:spcPts val="1200"/>
              </a:spcAft>
              <a:buNone/>
              <a:tabLst>
                <a:tab pos="2147888" algn="l"/>
                <a:tab pos="4125913" algn="l"/>
                <a:tab pos="6453188" algn="l"/>
              </a:tabLst>
            </a:pPr>
            <a:r>
              <a:rPr lang="en-AU" sz="1600" dirty="0" smtClean="0">
                <a:latin typeface="Helvetica" pitchFamily="34" charset="0"/>
              </a:rPr>
              <a:t>Fuel	</a:t>
            </a:r>
            <a:r>
              <a:rPr lang="en-AU" sz="1600" i="1" dirty="0" smtClean="0">
                <a:solidFill>
                  <a:srgbClr val="FF0000"/>
                </a:solidFill>
                <a:latin typeface="Helvetica" pitchFamily="34" charset="0"/>
              </a:rPr>
              <a:t>Expense	</a:t>
            </a:r>
            <a:r>
              <a:rPr lang="en-AU" sz="1600" dirty="0" smtClean="0">
                <a:latin typeface="Helvetica" pitchFamily="34" charset="0"/>
              </a:rPr>
              <a:t>Tour Sales	</a:t>
            </a:r>
            <a:r>
              <a:rPr lang="en-AU" sz="1600" i="1" dirty="0" smtClean="0">
                <a:solidFill>
                  <a:srgbClr val="FF0000"/>
                </a:solidFill>
                <a:latin typeface="Helvetica" pitchFamily="34" charset="0"/>
              </a:rPr>
              <a:t>Revenue </a:t>
            </a:r>
            <a:endParaRPr lang="en-AU" sz="1600" dirty="0" smtClean="0">
              <a:latin typeface="Helvetica" pitchFamily="34" charset="0"/>
            </a:endParaRPr>
          </a:p>
          <a:p>
            <a:pPr marL="0" indent="0">
              <a:spcBef>
                <a:spcPts val="600"/>
              </a:spcBef>
              <a:spcAft>
                <a:spcPts val="1200"/>
              </a:spcAft>
              <a:buNone/>
              <a:tabLst>
                <a:tab pos="2147888" algn="l"/>
                <a:tab pos="4125913" algn="l"/>
                <a:tab pos="5561013" algn="l"/>
                <a:tab pos="6453188" algn="l"/>
              </a:tabLst>
            </a:pPr>
            <a:r>
              <a:rPr lang="en-AU" sz="1600" dirty="0" smtClean="0">
                <a:latin typeface="Helvetica" pitchFamily="34" charset="0"/>
              </a:rPr>
              <a:t>Inventory	</a:t>
            </a:r>
            <a:r>
              <a:rPr lang="en-AU" sz="1600" i="1" dirty="0" smtClean="0">
                <a:solidFill>
                  <a:srgbClr val="FF0000"/>
                </a:solidFill>
                <a:latin typeface="Helvetica" pitchFamily="34" charset="0"/>
              </a:rPr>
              <a:t>Asset</a:t>
            </a:r>
            <a:endParaRPr lang="en-AU" sz="1600" dirty="0" smtClean="0">
              <a:latin typeface="Helvetica" pitchFamily="34" charset="0"/>
            </a:endParaRPr>
          </a:p>
          <a:p>
            <a:pPr marL="0" indent="0">
              <a:spcBef>
                <a:spcPts val="600"/>
              </a:spcBef>
              <a:spcAft>
                <a:spcPts val="1200"/>
              </a:spcAft>
              <a:buNone/>
              <a:tabLst>
                <a:tab pos="2147888" algn="l"/>
                <a:tab pos="4125913" algn="l"/>
                <a:tab pos="5561013" algn="l"/>
              </a:tabLst>
            </a:pPr>
            <a:r>
              <a:rPr lang="en-AU" sz="1600" dirty="0" smtClean="0">
                <a:latin typeface="Helvetica" pitchFamily="34" charset="0"/>
              </a:rPr>
              <a:t>Wages	</a:t>
            </a:r>
            <a:r>
              <a:rPr lang="en-AU" sz="1600" i="1" dirty="0" smtClean="0">
                <a:solidFill>
                  <a:srgbClr val="FF0000"/>
                </a:solidFill>
                <a:latin typeface="Helvetica" pitchFamily="34" charset="0"/>
              </a:rPr>
              <a:t>Expense</a:t>
            </a:r>
            <a:endParaRPr lang="en-AU" sz="16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spTree>
    <p:extLst>
      <p:ext uri="{BB962C8B-B14F-4D97-AF65-F5344CB8AC3E}">
        <p14:creationId xmlns:p14="http://schemas.microsoft.com/office/powerpoint/2010/main" val="4272609282"/>
      </p:ext>
    </p:extLst>
  </p:cSld>
  <p:clrMapOvr>
    <a:masterClrMapping/>
  </p:clrMapOvr>
  <p:transition>
    <p:fad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Checking transactions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848872" cy="5661248"/>
          </a:xfrm>
        </p:spPr>
        <p:txBody>
          <a:bodyPr>
            <a:normAutofit/>
          </a:bodyPr>
          <a:lstStyle/>
          <a:p>
            <a:pPr marL="0" indent="0">
              <a:spcBef>
                <a:spcPts val="600"/>
              </a:spcBef>
              <a:spcAft>
                <a:spcPts val="1200"/>
              </a:spcAft>
              <a:buNone/>
            </a:pPr>
            <a:r>
              <a:rPr lang="en-AU" sz="2200" dirty="0" smtClean="0">
                <a:latin typeface="Helvetica" pitchFamily="34" charset="0"/>
              </a:rPr>
              <a:t>Identifying and valuing transactions:</a:t>
            </a:r>
          </a:p>
          <a:p>
            <a:pPr marL="360000" indent="-360000">
              <a:spcBef>
                <a:spcPts val="600"/>
              </a:spcBef>
              <a:spcAft>
                <a:spcPts val="1200"/>
              </a:spcAft>
              <a:buClr>
                <a:srgbClr val="7FD13B"/>
              </a:buClr>
            </a:pPr>
            <a:r>
              <a:rPr lang="en-AU" sz="2200" dirty="0" smtClean="0">
                <a:latin typeface="Helvetica" pitchFamily="34" charset="0"/>
              </a:rPr>
              <a:t>Accounting principles and assumptions: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Accounting entity</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Time period assumption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Going concern assumption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Monetary unit assumption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Cost principle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Accrual basis – next slide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descr="iStock_000003581896Large.jpg"/>
          <p:cNvPicPr>
            <a:picLocks noChangeAspect="1"/>
          </p:cNvPicPr>
          <p:nvPr/>
        </p:nvPicPr>
        <p:blipFill>
          <a:blip r:embed="rId3" cstate="print"/>
          <a:stretch>
            <a:fillRect/>
          </a:stretch>
        </p:blipFill>
        <p:spPr>
          <a:xfrm>
            <a:off x="6084168" y="3861048"/>
            <a:ext cx="2339752" cy="1559260"/>
          </a:xfrm>
          <a:prstGeom prst="rect">
            <a:avLst/>
          </a:prstGeom>
        </p:spPr>
      </p:pic>
    </p:spTree>
    <p:extLst>
      <p:ext uri="{BB962C8B-B14F-4D97-AF65-F5344CB8AC3E}">
        <p14:creationId xmlns:p14="http://schemas.microsoft.com/office/powerpoint/2010/main" val="280710497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Checking transactions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8872" cy="5328592"/>
          </a:xfrm>
        </p:spPr>
        <p:txBody>
          <a:bodyPr>
            <a:normAutofit/>
          </a:bodyPr>
          <a:lstStyle/>
          <a:p>
            <a:pPr marL="0" indent="0">
              <a:spcBef>
                <a:spcPts val="600"/>
              </a:spcBef>
              <a:spcAft>
                <a:spcPts val="1200"/>
              </a:spcAft>
              <a:buNone/>
            </a:pPr>
            <a:r>
              <a:rPr lang="en-AU" sz="2200" dirty="0" smtClean="0">
                <a:latin typeface="Helvetica" pitchFamily="34" charset="0"/>
              </a:rPr>
              <a:t>Identifying and valuing transactions:</a:t>
            </a:r>
          </a:p>
          <a:p>
            <a:pPr marL="360000" indent="-360000">
              <a:spcBef>
                <a:spcPts val="600"/>
              </a:spcBef>
              <a:spcAft>
                <a:spcPts val="1200"/>
              </a:spcAft>
              <a:buClr>
                <a:srgbClr val="7FD13B"/>
              </a:buClr>
            </a:pPr>
            <a:r>
              <a:rPr lang="en-AU" sz="2200" dirty="0" smtClean="0">
                <a:latin typeface="Helvetica" pitchFamily="34" charset="0"/>
              </a:rPr>
              <a:t>Accrual basis: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Matching principle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Revenue recognition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5" name="Picture 4" descr="Report 1.jpg"/>
          <p:cNvPicPr>
            <a:picLocks noChangeAspect="1"/>
          </p:cNvPicPr>
          <p:nvPr/>
        </p:nvPicPr>
        <p:blipFill>
          <a:blip r:embed="rId3" cstate="print"/>
          <a:stretch>
            <a:fillRect/>
          </a:stretch>
        </p:blipFill>
        <p:spPr>
          <a:xfrm>
            <a:off x="6372200" y="4005064"/>
            <a:ext cx="2050678" cy="1360685"/>
          </a:xfrm>
          <a:prstGeom prst="rect">
            <a:avLst/>
          </a:prstGeom>
        </p:spPr>
      </p:pic>
    </p:spTree>
    <p:extLst>
      <p:ext uri="{BB962C8B-B14F-4D97-AF65-F5344CB8AC3E}">
        <p14:creationId xmlns:p14="http://schemas.microsoft.com/office/powerpoint/2010/main" val="22405622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Checking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88832" cy="5400600"/>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Recording transactions:</a:t>
            </a:r>
          </a:p>
          <a:p>
            <a:pPr marL="360000" indent="-360000">
              <a:spcBef>
                <a:spcPts val="600"/>
              </a:spcBef>
              <a:spcAft>
                <a:spcPts val="1200"/>
              </a:spcAft>
              <a:buClr>
                <a:srgbClr val="7FD13B"/>
              </a:buClr>
            </a:pPr>
            <a:r>
              <a:rPr lang="en-AU" sz="2200" dirty="0" smtClean="0">
                <a:latin typeface="Helvetica" pitchFamily="34" charset="0"/>
              </a:rPr>
              <a:t>Three steps: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Analyse transactions for their effect on ledger accounts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Enter the transaction into a journal</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Transfer the journal to a ledger account</a:t>
            </a:r>
          </a:p>
          <a:p>
            <a:pPr marL="360000" indent="-360000">
              <a:spcBef>
                <a:spcPts val="600"/>
              </a:spcBef>
              <a:spcAft>
                <a:spcPts val="1200"/>
              </a:spcAft>
              <a:buClr>
                <a:srgbClr val="7FD13B"/>
              </a:buClr>
            </a:pPr>
            <a:r>
              <a:rPr lang="en-AU" sz="2200" dirty="0" smtClean="0">
                <a:latin typeface="Helvetica" pitchFamily="34" charset="0"/>
              </a:rPr>
              <a:t>Double entry</a:t>
            </a:r>
          </a:p>
          <a:p>
            <a:pPr marL="360000" indent="-360000">
              <a:spcBef>
                <a:spcPts val="600"/>
              </a:spcBef>
              <a:spcAft>
                <a:spcPts val="1200"/>
              </a:spcAft>
              <a:buClr>
                <a:srgbClr val="7FD13B"/>
              </a:buClr>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descr="Writing.jpg"/>
          <p:cNvPicPr>
            <a:picLocks noChangeAspect="1"/>
          </p:cNvPicPr>
          <p:nvPr/>
        </p:nvPicPr>
        <p:blipFill>
          <a:blip r:embed="rId3" cstate="print"/>
          <a:stretch>
            <a:fillRect/>
          </a:stretch>
        </p:blipFill>
        <p:spPr>
          <a:xfrm>
            <a:off x="6588224" y="4162795"/>
            <a:ext cx="1814724" cy="1210421"/>
          </a:xfrm>
          <a:prstGeom prst="rect">
            <a:avLst/>
          </a:prstGeom>
        </p:spPr>
      </p:pic>
    </p:spTree>
    <p:extLst>
      <p:ext uri="{BB962C8B-B14F-4D97-AF65-F5344CB8AC3E}">
        <p14:creationId xmlns:p14="http://schemas.microsoft.com/office/powerpoint/2010/main" val="181442574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Checking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776864" cy="5472608"/>
          </a:xfrm>
        </p:spPr>
        <p:txBody>
          <a:bodyPr>
            <a:normAutofit/>
          </a:bodyPr>
          <a:lstStyle/>
          <a:p>
            <a:pPr marL="0" indent="0">
              <a:spcBef>
                <a:spcPts val="600"/>
              </a:spcBef>
              <a:spcAft>
                <a:spcPts val="1200"/>
              </a:spcAft>
              <a:buNone/>
            </a:pPr>
            <a:r>
              <a:rPr lang="en-US" sz="2200" dirty="0" smtClean="0">
                <a:latin typeface="Helvetica" pitchFamily="34" charset="0"/>
              </a:rPr>
              <a:t>Recording transactions:</a:t>
            </a:r>
          </a:p>
          <a:p>
            <a:pPr marL="360000" indent="-360000">
              <a:spcBef>
                <a:spcPts val="600"/>
              </a:spcBef>
              <a:spcAft>
                <a:spcPts val="1200"/>
              </a:spcAft>
              <a:buClr>
                <a:srgbClr val="7FD13B"/>
              </a:buClr>
            </a:pPr>
            <a:r>
              <a:rPr lang="en-US" sz="2200" dirty="0" smtClean="0">
                <a:latin typeface="Helvetica" pitchFamily="34" charset="0"/>
              </a:rPr>
              <a:t>Debits and credits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graphicFrame>
        <p:nvGraphicFramePr>
          <p:cNvPr id="7" name="Table 6"/>
          <p:cNvGraphicFramePr>
            <a:graphicFrameLocks noGrp="1"/>
          </p:cNvGraphicFramePr>
          <p:nvPr/>
        </p:nvGraphicFramePr>
        <p:xfrm>
          <a:off x="467544" y="2420888"/>
          <a:ext cx="7632848" cy="2372360"/>
        </p:xfrm>
        <a:graphic>
          <a:graphicData uri="http://schemas.openxmlformats.org/drawingml/2006/table">
            <a:tbl>
              <a:tblPr firstRow="1" bandRow="1">
                <a:tableStyleId>{21E4AEA4-8DFA-4A89-87EB-49C32662AFE0}</a:tableStyleId>
              </a:tblPr>
              <a:tblGrid>
                <a:gridCol w="1908212"/>
                <a:gridCol w="1908212"/>
                <a:gridCol w="1908212"/>
                <a:gridCol w="1908212"/>
              </a:tblGrid>
              <a:tr h="370840">
                <a:tc>
                  <a:txBody>
                    <a:bodyPr/>
                    <a:lstStyle/>
                    <a:p>
                      <a:r>
                        <a:rPr lang="en-AU" sz="1400" dirty="0" smtClean="0">
                          <a:latin typeface="Helvetica" pitchFamily="34" charset="0"/>
                        </a:rPr>
                        <a:t>Account category</a:t>
                      </a:r>
                      <a:endParaRPr lang="en-AU" sz="1400" dirty="0">
                        <a:latin typeface="Helvetica" pitchFamily="34" charset="0"/>
                      </a:endParaRPr>
                    </a:p>
                  </a:txBody>
                  <a:tcPr/>
                </a:tc>
                <a:tc>
                  <a:txBody>
                    <a:bodyPr/>
                    <a:lstStyle/>
                    <a:p>
                      <a:r>
                        <a:rPr lang="en-AU" sz="1400" dirty="0" smtClean="0">
                          <a:latin typeface="Helvetica" pitchFamily="34" charset="0"/>
                        </a:rPr>
                        <a:t>Normal balance</a:t>
                      </a:r>
                      <a:endParaRPr lang="en-AU" sz="1400" dirty="0">
                        <a:latin typeface="Helvetica" pitchFamily="34" charset="0"/>
                      </a:endParaRPr>
                    </a:p>
                  </a:txBody>
                  <a:tcPr/>
                </a:tc>
                <a:tc>
                  <a:txBody>
                    <a:bodyPr/>
                    <a:lstStyle/>
                    <a:p>
                      <a:r>
                        <a:rPr lang="en-AU" sz="1400" dirty="0" smtClean="0">
                          <a:latin typeface="Helvetica" pitchFamily="34" charset="0"/>
                        </a:rPr>
                        <a:t>Transaction increases balance</a:t>
                      </a:r>
                      <a:endParaRPr lang="en-AU" sz="1400" dirty="0">
                        <a:latin typeface="Helvetica" pitchFamily="34" charset="0"/>
                      </a:endParaRPr>
                    </a:p>
                  </a:txBody>
                  <a:tcPr/>
                </a:tc>
                <a:tc>
                  <a:txBody>
                    <a:bodyPr/>
                    <a:lstStyle/>
                    <a:p>
                      <a:r>
                        <a:rPr lang="en-AU" sz="1400" dirty="0" smtClean="0">
                          <a:latin typeface="Helvetica" pitchFamily="34" charset="0"/>
                        </a:rPr>
                        <a:t>Transaction decreases balance</a:t>
                      </a:r>
                      <a:endParaRPr lang="en-AU" sz="1400" dirty="0">
                        <a:latin typeface="Helvetica" pitchFamily="34" charset="0"/>
                      </a:endParaRPr>
                    </a:p>
                  </a:txBody>
                  <a:tcPr/>
                </a:tc>
              </a:tr>
              <a:tr h="370840">
                <a:tc>
                  <a:txBody>
                    <a:bodyPr/>
                    <a:lstStyle/>
                    <a:p>
                      <a:r>
                        <a:rPr lang="en-AU" sz="1400" dirty="0" smtClean="0">
                          <a:latin typeface="Helvetica" pitchFamily="34" charset="0"/>
                        </a:rPr>
                        <a:t>Assets</a:t>
                      </a:r>
                      <a:endParaRPr lang="en-AU" sz="1400" dirty="0">
                        <a:latin typeface="Helvetica" pitchFamily="34" charset="0"/>
                      </a:endParaRPr>
                    </a:p>
                  </a:txBody>
                  <a:tcPr/>
                </a:tc>
                <a:tc>
                  <a:txBody>
                    <a:bodyPr/>
                    <a:lstStyle/>
                    <a:p>
                      <a:r>
                        <a:rPr lang="en-AU" sz="1400" dirty="0" smtClean="0">
                          <a:latin typeface="Helvetica" pitchFamily="34" charset="0"/>
                        </a:rPr>
                        <a:t>DEBIT</a:t>
                      </a:r>
                      <a:endParaRPr lang="en-AU" sz="1400" dirty="0">
                        <a:latin typeface="Helvetica" pitchFamily="34" charset="0"/>
                      </a:endParaRPr>
                    </a:p>
                  </a:txBody>
                  <a:tcPr/>
                </a:tc>
                <a:tc>
                  <a:txBody>
                    <a:bodyPr/>
                    <a:lstStyle/>
                    <a:p>
                      <a:r>
                        <a:rPr lang="en-AU" sz="1400" dirty="0" smtClean="0">
                          <a:latin typeface="Helvetica" pitchFamily="34" charset="0"/>
                        </a:rPr>
                        <a:t>DEBIT</a:t>
                      </a:r>
                      <a:endParaRPr lang="en-AU" sz="1400" dirty="0">
                        <a:latin typeface="Helvetica" pitchFamily="34" charset="0"/>
                      </a:endParaRPr>
                    </a:p>
                  </a:txBody>
                  <a:tcPr/>
                </a:tc>
                <a:tc>
                  <a:txBody>
                    <a:bodyPr/>
                    <a:lstStyle/>
                    <a:p>
                      <a:r>
                        <a:rPr lang="en-AU" sz="1400" dirty="0" smtClean="0">
                          <a:latin typeface="Helvetica" pitchFamily="34" charset="0"/>
                        </a:rPr>
                        <a:t>CREDIT</a:t>
                      </a:r>
                      <a:endParaRPr lang="en-AU" sz="1400" dirty="0">
                        <a:latin typeface="Helvetica" pitchFamily="34" charset="0"/>
                      </a:endParaRPr>
                    </a:p>
                  </a:txBody>
                  <a:tcPr/>
                </a:tc>
              </a:tr>
              <a:tr h="370840">
                <a:tc>
                  <a:txBody>
                    <a:bodyPr/>
                    <a:lstStyle/>
                    <a:p>
                      <a:r>
                        <a:rPr lang="en-AU" sz="1400" dirty="0" smtClean="0">
                          <a:latin typeface="Helvetica" pitchFamily="34" charset="0"/>
                        </a:rPr>
                        <a:t>Liabilities</a:t>
                      </a:r>
                      <a:endParaRPr lang="en-AU" sz="1400" dirty="0">
                        <a:latin typeface="Helvetica" pitchFamily="34" charset="0"/>
                      </a:endParaRPr>
                    </a:p>
                  </a:txBody>
                  <a:tcPr/>
                </a:tc>
                <a:tc>
                  <a:txBody>
                    <a:bodyPr/>
                    <a:lstStyle/>
                    <a:p>
                      <a:r>
                        <a:rPr lang="en-AU" sz="1400" dirty="0" smtClean="0">
                          <a:latin typeface="Helvetica" pitchFamily="34" charset="0"/>
                        </a:rPr>
                        <a:t>CREDIT</a:t>
                      </a:r>
                      <a:endParaRPr lang="en-AU" sz="1400" dirty="0">
                        <a:latin typeface="Helvetica" pitchFamily="34" charset="0"/>
                      </a:endParaRPr>
                    </a:p>
                  </a:txBody>
                  <a:tcPr/>
                </a:tc>
                <a:tc>
                  <a:txBody>
                    <a:bodyPr/>
                    <a:lstStyle/>
                    <a:p>
                      <a:r>
                        <a:rPr lang="en-AU" sz="1400" dirty="0" smtClean="0">
                          <a:latin typeface="Helvetica" pitchFamily="34" charset="0"/>
                        </a:rPr>
                        <a:t>CREDIT</a:t>
                      </a:r>
                      <a:endParaRPr lang="en-AU" sz="1400" dirty="0">
                        <a:latin typeface="Helvetica" pitchFamily="34" charset="0"/>
                      </a:endParaRPr>
                    </a:p>
                  </a:txBody>
                  <a:tcPr/>
                </a:tc>
                <a:tc>
                  <a:txBody>
                    <a:bodyPr/>
                    <a:lstStyle/>
                    <a:p>
                      <a:r>
                        <a:rPr lang="en-AU" sz="1400" dirty="0" smtClean="0">
                          <a:latin typeface="Helvetica" pitchFamily="34" charset="0"/>
                        </a:rPr>
                        <a:t>DEBIT</a:t>
                      </a:r>
                      <a:endParaRPr lang="en-AU" sz="1400" dirty="0">
                        <a:latin typeface="Helvetica" pitchFamily="34" charset="0"/>
                      </a:endParaRPr>
                    </a:p>
                  </a:txBody>
                  <a:tcPr/>
                </a:tc>
              </a:tr>
              <a:tr h="370840">
                <a:tc>
                  <a:txBody>
                    <a:bodyPr/>
                    <a:lstStyle/>
                    <a:p>
                      <a:r>
                        <a:rPr lang="en-AU" sz="1400" dirty="0" smtClean="0">
                          <a:latin typeface="Helvetica" pitchFamily="34" charset="0"/>
                        </a:rPr>
                        <a:t>Owner’s equity</a:t>
                      </a:r>
                      <a:endParaRPr lang="en-AU" sz="1400" dirty="0">
                        <a:latin typeface="Helvetica" pitchFamily="34" charset="0"/>
                      </a:endParaRPr>
                    </a:p>
                  </a:txBody>
                  <a:tcPr/>
                </a:tc>
                <a:tc>
                  <a:txBody>
                    <a:bodyPr/>
                    <a:lstStyle/>
                    <a:p>
                      <a:r>
                        <a:rPr lang="en-AU" sz="1400" dirty="0" smtClean="0">
                          <a:latin typeface="Helvetica" pitchFamily="34" charset="0"/>
                        </a:rPr>
                        <a:t>CREDIT</a:t>
                      </a:r>
                      <a:endParaRPr lang="en-AU" sz="1400" dirty="0">
                        <a:latin typeface="Helvetica" pitchFamily="34" charset="0"/>
                      </a:endParaRPr>
                    </a:p>
                  </a:txBody>
                  <a:tcPr/>
                </a:tc>
                <a:tc>
                  <a:txBody>
                    <a:bodyPr/>
                    <a:lstStyle/>
                    <a:p>
                      <a:r>
                        <a:rPr lang="en-AU" sz="1400" dirty="0" smtClean="0">
                          <a:latin typeface="Helvetica" pitchFamily="34" charset="0"/>
                        </a:rPr>
                        <a:t>CREDIT</a:t>
                      </a:r>
                      <a:endParaRPr lang="en-AU" sz="1400" dirty="0">
                        <a:latin typeface="Helvetica" pitchFamily="34" charset="0"/>
                      </a:endParaRPr>
                    </a:p>
                  </a:txBody>
                  <a:tcPr/>
                </a:tc>
                <a:tc>
                  <a:txBody>
                    <a:bodyPr/>
                    <a:lstStyle/>
                    <a:p>
                      <a:r>
                        <a:rPr lang="en-AU" sz="1400" dirty="0" smtClean="0">
                          <a:latin typeface="Helvetica" pitchFamily="34" charset="0"/>
                        </a:rPr>
                        <a:t>DEBIT</a:t>
                      </a:r>
                      <a:endParaRPr lang="en-AU" sz="1400" dirty="0">
                        <a:latin typeface="Helvetica" pitchFamily="34" charset="0"/>
                      </a:endParaRPr>
                    </a:p>
                  </a:txBody>
                  <a:tcPr/>
                </a:tc>
              </a:tr>
              <a:tr h="370840">
                <a:tc>
                  <a:txBody>
                    <a:bodyPr/>
                    <a:lstStyle/>
                    <a:p>
                      <a:r>
                        <a:rPr lang="en-AU" sz="1400" dirty="0" smtClean="0">
                          <a:latin typeface="Helvetica" pitchFamily="34" charset="0"/>
                        </a:rPr>
                        <a:t>Revenue</a:t>
                      </a:r>
                      <a:endParaRPr lang="en-AU" sz="1400" dirty="0">
                        <a:latin typeface="Helvetica" pitchFamily="34" charset="0"/>
                      </a:endParaRPr>
                    </a:p>
                  </a:txBody>
                  <a:tcPr/>
                </a:tc>
                <a:tc>
                  <a:txBody>
                    <a:bodyPr/>
                    <a:lstStyle/>
                    <a:p>
                      <a:r>
                        <a:rPr lang="en-AU" sz="1400" dirty="0" smtClean="0">
                          <a:latin typeface="Helvetica" pitchFamily="34" charset="0"/>
                        </a:rPr>
                        <a:t>CREDIT</a:t>
                      </a:r>
                      <a:endParaRPr lang="en-AU" sz="1400" dirty="0">
                        <a:latin typeface="Helvetica" pitchFamily="34" charset="0"/>
                      </a:endParaRPr>
                    </a:p>
                  </a:txBody>
                  <a:tcPr/>
                </a:tc>
                <a:tc>
                  <a:txBody>
                    <a:bodyPr/>
                    <a:lstStyle/>
                    <a:p>
                      <a:r>
                        <a:rPr lang="en-AU" sz="1400" dirty="0" smtClean="0">
                          <a:latin typeface="Helvetica" pitchFamily="34" charset="0"/>
                        </a:rPr>
                        <a:t>CREDIT</a:t>
                      </a:r>
                      <a:endParaRPr lang="en-AU" sz="1400" dirty="0">
                        <a:latin typeface="Helvetica" pitchFamily="34" charset="0"/>
                      </a:endParaRPr>
                    </a:p>
                  </a:txBody>
                  <a:tcPr/>
                </a:tc>
                <a:tc>
                  <a:txBody>
                    <a:bodyPr/>
                    <a:lstStyle/>
                    <a:p>
                      <a:r>
                        <a:rPr lang="en-AU" sz="1400" dirty="0" smtClean="0">
                          <a:latin typeface="Helvetica" pitchFamily="34" charset="0"/>
                        </a:rPr>
                        <a:t>DEBIT</a:t>
                      </a:r>
                      <a:endParaRPr lang="en-AU" sz="1400" dirty="0">
                        <a:latin typeface="Helvetica" pitchFamily="34" charset="0"/>
                      </a:endParaRPr>
                    </a:p>
                  </a:txBody>
                  <a:tcPr/>
                </a:tc>
              </a:tr>
              <a:tr h="370840">
                <a:tc>
                  <a:txBody>
                    <a:bodyPr/>
                    <a:lstStyle/>
                    <a:p>
                      <a:r>
                        <a:rPr lang="en-AU" sz="1400" dirty="0" smtClean="0">
                          <a:latin typeface="Helvetica" pitchFamily="34" charset="0"/>
                        </a:rPr>
                        <a:t>Expenses</a:t>
                      </a:r>
                      <a:endParaRPr lang="en-AU" sz="1400" dirty="0">
                        <a:latin typeface="Helvetica" pitchFamily="34" charset="0"/>
                      </a:endParaRPr>
                    </a:p>
                  </a:txBody>
                  <a:tcPr/>
                </a:tc>
                <a:tc>
                  <a:txBody>
                    <a:bodyPr/>
                    <a:lstStyle/>
                    <a:p>
                      <a:r>
                        <a:rPr lang="en-AU" sz="1400" dirty="0" smtClean="0">
                          <a:latin typeface="Helvetica" pitchFamily="34" charset="0"/>
                        </a:rPr>
                        <a:t>DEBIT</a:t>
                      </a:r>
                      <a:endParaRPr lang="en-AU" sz="1400" dirty="0">
                        <a:latin typeface="Helvetica" pitchFamily="34" charset="0"/>
                      </a:endParaRPr>
                    </a:p>
                  </a:txBody>
                  <a:tcPr/>
                </a:tc>
                <a:tc>
                  <a:txBody>
                    <a:bodyPr/>
                    <a:lstStyle/>
                    <a:p>
                      <a:r>
                        <a:rPr lang="en-AU" sz="1400" dirty="0" smtClean="0">
                          <a:latin typeface="Helvetica" pitchFamily="34" charset="0"/>
                        </a:rPr>
                        <a:t>DEBIT</a:t>
                      </a:r>
                      <a:endParaRPr lang="en-AU" sz="1400" dirty="0">
                        <a:latin typeface="Helvetica" pitchFamily="34" charset="0"/>
                      </a:endParaRPr>
                    </a:p>
                  </a:txBody>
                  <a:tcPr/>
                </a:tc>
                <a:tc>
                  <a:txBody>
                    <a:bodyPr/>
                    <a:lstStyle/>
                    <a:p>
                      <a:r>
                        <a:rPr lang="en-AU" sz="1400" dirty="0" smtClean="0">
                          <a:latin typeface="Helvetica" pitchFamily="34" charset="0"/>
                        </a:rPr>
                        <a:t>CREDIT</a:t>
                      </a:r>
                      <a:endParaRPr lang="en-AU" sz="1400" dirty="0">
                        <a:latin typeface="Helvetica" pitchFamily="34" charset="0"/>
                      </a:endParaRPr>
                    </a:p>
                  </a:txBody>
                  <a:tcPr/>
                </a:tc>
              </a:tr>
            </a:tbl>
          </a:graphicData>
        </a:graphic>
      </p:graphicFrame>
    </p:spTree>
    <p:extLst>
      <p:ext uri="{BB962C8B-B14F-4D97-AF65-F5344CB8AC3E}">
        <p14:creationId xmlns:p14="http://schemas.microsoft.com/office/powerpoint/2010/main" val="366707096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Checking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Recording transactions:</a:t>
            </a:r>
          </a:p>
          <a:p>
            <a:pPr marL="360000" indent="-360000">
              <a:spcBef>
                <a:spcPts val="600"/>
              </a:spcBef>
              <a:spcAft>
                <a:spcPts val="1200"/>
              </a:spcAft>
              <a:buClr>
                <a:srgbClr val="7FD13B"/>
              </a:buClr>
            </a:pPr>
            <a:r>
              <a:rPr lang="en-AU" sz="2200" dirty="0" smtClean="0">
                <a:latin typeface="Helvetica" pitchFamily="34" charset="0"/>
              </a:rPr>
              <a:t>Journals: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Book where all transactions are recorded</a:t>
            </a:r>
          </a:p>
          <a:p>
            <a:pPr marL="360000" indent="-360000">
              <a:spcBef>
                <a:spcPts val="600"/>
              </a:spcBef>
              <a:spcAft>
                <a:spcPts val="1200"/>
              </a:spcAft>
              <a:buClr>
                <a:srgbClr val="7FD13B"/>
              </a:buClr>
            </a:pPr>
            <a:r>
              <a:rPr lang="en-AU" sz="2200" dirty="0" smtClean="0">
                <a:latin typeface="Helvetica" pitchFamily="34" charset="0"/>
              </a:rPr>
              <a:t>General journal</a:t>
            </a:r>
          </a:p>
          <a:p>
            <a:pPr marL="360000" indent="-360000">
              <a:spcBef>
                <a:spcPts val="600"/>
              </a:spcBef>
              <a:spcAft>
                <a:spcPts val="1200"/>
              </a:spcAft>
              <a:buClr>
                <a:srgbClr val="7FD13B"/>
              </a:buClr>
            </a:pPr>
            <a:r>
              <a:rPr lang="en-AU" sz="2200" dirty="0" smtClean="0">
                <a:latin typeface="Helvetica" pitchFamily="34" charset="0"/>
              </a:rPr>
              <a:t>Special journals: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Cash receipts and cash payments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Sales and purchases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descr="Ledger.jpg"/>
          <p:cNvPicPr>
            <a:picLocks noChangeAspect="1"/>
          </p:cNvPicPr>
          <p:nvPr/>
        </p:nvPicPr>
        <p:blipFill>
          <a:blip r:embed="rId3" cstate="print"/>
          <a:stretch>
            <a:fillRect/>
          </a:stretch>
        </p:blipFill>
        <p:spPr>
          <a:xfrm>
            <a:off x="6516216" y="4077072"/>
            <a:ext cx="1908235" cy="1381562"/>
          </a:xfrm>
          <a:prstGeom prst="rect">
            <a:avLst/>
          </a:prstGeom>
        </p:spPr>
      </p:pic>
    </p:spTree>
    <p:extLst>
      <p:ext uri="{BB962C8B-B14F-4D97-AF65-F5344CB8AC3E}">
        <p14:creationId xmlns:p14="http://schemas.microsoft.com/office/powerpoint/2010/main" val="344638997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Checking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395536" y="1052736"/>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Recording transactions: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graphicFrame>
        <p:nvGraphicFramePr>
          <p:cNvPr id="7" name="Table 6"/>
          <p:cNvGraphicFramePr>
            <a:graphicFrameLocks noGrp="1"/>
          </p:cNvGraphicFramePr>
          <p:nvPr/>
        </p:nvGraphicFramePr>
        <p:xfrm>
          <a:off x="467544" y="1556792"/>
          <a:ext cx="7204485" cy="3779520"/>
        </p:xfrm>
        <a:graphic>
          <a:graphicData uri="http://schemas.openxmlformats.org/drawingml/2006/table">
            <a:tbl>
              <a:tblPr firstRow="1" bandRow="1">
                <a:tableStyleId>{21E4AEA4-8DFA-4A89-87EB-49C32662AFE0}</a:tableStyleId>
              </a:tblPr>
              <a:tblGrid>
                <a:gridCol w="1028686"/>
                <a:gridCol w="915529"/>
                <a:gridCol w="1008112"/>
                <a:gridCol w="1166100"/>
                <a:gridCol w="1028686"/>
                <a:gridCol w="1028686"/>
                <a:gridCol w="1028686"/>
              </a:tblGrid>
              <a:tr h="370840">
                <a:tc gridSpan="7">
                  <a:txBody>
                    <a:bodyPr/>
                    <a:lstStyle/>
                    <a:p>
                      <a:r>
                        <a:rPr lang="en-AU" sz="1400" dirty="0" smtClean="0">
                          <a:latin typeface="Helvetica" pitchFamily="34" charset="0"/>
                        </a:rPr>
                        <a:t>CASH RECEIPTS</a:t>
                      </a:r>
                      <a:r>
                        <a:rPr lang="en-AU" sz="1400" baseline="0" dirty="0" smtClean="0">
                          <a:latin typeface="Helvetica" pitchFamily="34" charset="0"/>
                        </a:rPr>
                        <a:t> JOURNAL</a:t>
                      </a:r>
                      <a:endParaRPr lang="en-AU" sz="1400" dirty="0">
                        <a:latin typeface="Helvetica" pitchFamily="34" charset="0"/>
                      </a:endParaRPr>
                    </a:p>
                  </a:txBody>
                  <a:tcPr/>
                </a:tc>
                <a:tc hMerge="1">
                  <a:txBody>
                    <a:bodyPr/>
                    <a:lstStyle/>
                    <a:p>
                      <a:endParaRPr lang="en-AU" dirty="0"/>
                    </a:p>
                  </a:txBody>
                  <a:tcPr/>
                </a:tc>
                <a:tc hMerge="1">
                  <a:txBody>
                    <a:bodyPr/>
                    <a:lstStyle/>
                    <a:p>
                      <a:endParaRPr lang="en-AU"/>
                    </a:p>
                  </a:txBody>
                  <a:tcPr/>
                </a:tc>
                <a:tc hMerge="1">
                  <a:txBody>
                    <a:bodyPr/>
                    <a:lstStyle/>
                    <a:p>
                      <a:endParaRPr lang="en-AU"/>
                    </a:p>
                  </a:txBody>
                  <a:tcPr/>
                </a:tc>
                <a:tc hMerge="1">
                  <a:txBody>
                    <a:bodyPr/>
                    <a:lstStyle/>
                    <a:p>
                      <a:endParaRPr lang="en-AU" dirty="0"/>
                    </a:p>
                  </a:txBody>
                  <a:tcPr/>
                </a:tc>
                <a:tc hMerge="1">
                  <a:txBody>
                    <a:bodyPr/>
                    <a:lstStyle/>
                    <a:p>
                      <a:endParaRPr lang="en-AU" dirty="0"/>
                    </a:p>
                  </a:txBody>
                  <a:tcPr/>
                </a:tc>
                <a:tc hMerge="1">
                  <a:txBody>
                    <a:bodyPr/>
                    <a:lstStyle/>
                    <a:p>
                      <a:endParaRPr lang="en-AU" dirty="0"/>
                    </a:p>
                  </a:txBody>
                  <a:tcPr/>
                </a:tc>
              </a:tr>
              <a:tr h="370840">
                <a:tc>
                  <a:txBody>
                    <a:bodyPr/>
                    <a:lstStyle/>
                    <a:p>
                      <a:pPr algn="r"/>
                      <a:r>
                        <a:rPr lang="en-AU" sz="1400" dirty="0" smtClean="0">
                          <a:latin typeface="Helvetica" pitchFamily="34" charset="0"/>
                        </a:rPr>
                        <a:t>Cash sales</a:t>
                      </a:r>
                      <a:endParaRPr lang="en-AU" sz="1400" dirty="0">
                        <a:latin typeface="Helvetica" pitchFamily="34" charset="0"/>
                      </a:endParaRPr>
                    </a:p>
                  </a:txBody>
                  <a:tcPr/>
                </a:tc>
                <a:tc>
                  <a:txBody>
                    <a:bodyPr/>
                    <a:lstStyle/>
                    <a:p>
                      <a:pPr algn="r"/>
                      <a:r>
                        <a:rPr lang="en-AU" sz="1400" dirty="0" smtClean="0">
                          <a:latin typeface="Helvetica" pitchFamily="34" charset="0"/>
                        </a:rPr>
                        <a:t>A/R</a:t>
                      </a:r>
                      <a:endParaRPr lang="en-AU" sz="1400" dirty="0">
                        <a:latin typeface="Helvetica" pitchFamily="34" charset="0"/>
                      </a:endParaRPr>
                    </a:p>
                  </a:txBody>
                  <a:tcPr/>
                </a:tc>
                <a:tc>
                  <a:txBody>
                    <a:bodyPr/>
                    <a:lstStyle/>
                    <a:p>
                      <a:pPr algn="r"/>
                      <a:r>
                        <a:rPr lang="en-AU" sz="1400" dirty="0" smtClean="0">
                          <a:latin typeface="Helvetica" pitchFamily="34" charset="0"/>
                        </a:rPr>
                        <a:t>Capital</a:t>
                      </a:r>
                      <a:endParaRPr lang="en-AU" sz="1400" dirty="0">
                        <a:latin typeface="Helvetica" pitchFamily="34" charset="0"/>
                      </a:endParaRPr>
                    </a:p>
                  </a:txBody>
                  <a:tcPr/>
                </a:tc>
                <a:tc>
                  <a:txBody>
                    <a:bodyPr/>
                    <a:lstStyle/>
                    <a:p>
                      <a:pPr algn="r"/>
                      <a:r>
                        <a:rPr lang="en-AU" sz="1400" dirty="0" smtClean="0">
                          <a:latin typeface="Helvetica" pitchFamily="34" charset="0"/>
                        </a:rPr>
                        <a:t>Furniture</a:t>
                      </a:r>
                      <a:endParaRPr lang="en-AU" sz="1400" dirty="0">
                        <a:latin typeface="Helvetica" pitchFamily="34" charset="0"/>
                      </a:endParaRPr>
                    </a:p>
                  </a:txBody>
                  <a:tcPr/>
                </a:tc>
                <a:tc>
                  <a:txBody>
                    <a:bodyPr/>
                    <a:lstStyle/>
                    <a:p>
                      <a:pPr algn="r"/>
                      <a:r>
                        <a:rPr lang="en-AU" sz="1400" dirty="0" smtClean="0">
                          <a:latin typeface="Helvetica" pitchFamily="34" charset="0"/>
                        </a:rPr>
                        <a:t>Loans</a:t>
                      </a:r>
                      <a:r>
                        <a:rPr lang="en-AU" sz="1400" baseline="0" dirty="0" smtClean="0">
                          <a:latin typeface="Helvetica" pitchFamily="34" charset="0"/>
                        </a:rPr>
                        <a:t> received</a:t>
                      </a:r>
                      <a:endParaRPr lang="en-AU" sz="1400" dirty="0" smtClean="0">
                        <a:latin typeface="Helvetica" pitchFamily="34" charset="0"/>
                      </a:endParaRPr>
                    </a:p>
                  </a:txBody>
                  <a:tcPr/>
                </a:tc>
                <a:tc>
                  <a:txBody>
                    <a:bodyPr/>
                    <a:lstStyle/>
                    <a:p>
                      <a:pPr algn="r"/>
                      <a:r>
                        <a:rPr lang="en-AU" sz="1400" dirty="0" smtClean="0">
                          <a:latin typeface="Helvetica" pitchFamily="34" charset="0"/>
                        </a:rPr>
                        <a:t>Sale of oven</a:t>
                      </a:r>
                      <a:endParaRPr lang="en-AU" sz="1400" dirty="0">
                        <a:latin typeface="Helvetica" pitchFamily="34" charset="0"/>
                      </a:endParaRPr>
                    </a:p>
                  </a:txBody>
                  <a:tcPr/>
                </a:tc>
                <a:tc>
                  <a:txBody>
                    <a:bodyPr/>
                    <a:lstStyle/>
                    <a:p>
                      <a:pPr algn="r"/>
                      <a:r>
                        <a:rPr lang="en-AU" sz="1400" dirty="0" smtClean="0">
                          <a:latin typeface="Helvetica" pitchFamily="34" charset="0"/>
                        </a:rPr>
                        <a:t>Bank</a:t>
                      </a:r>
                      <a:endParaRPr lang="en-AU" sz="1400" dirty="0">
                        <a:latin typeface="Helvetica" pitchFamily="34" charset="0"/>
                      </a:endParaRPr>
                    </a:p>
                  </a:txBody>
                  <a:tcPr/>
                </a:tc>
              </a:tr>
              <a:tr h="370840">
                <a:tc>
                  <a:txBody>
                    <a:bodyPr/>
                    <a:lstStyle/>
                    <a:p>
                      <a:pPr algn="r"/>
                      <a:r>
                        <a:rPr lang="en-AU" sz="1400" dirty="0" smtClean="0">
                          <a:latin typeface="Helvetica" pitchFamily="34" charset="0"/>
                        </a:rPr>
                        <a:t>37,110</a:t>
                      </a:r>
                      <a:endParaRPr lang="en-AU" sz="1400" dirty="0">
                        <a:latin typeface="Helvetica" pitchFamily="34" charset="0"/>
                      </a:endParaRPr>
                    </a:p>
                  </a:txBody>
                  <a:tcPr/>
                </a:tc>
                <a:tc>
                  <a:txBody>
                    <a:bodyPr/>
                    <a:lstStyle/>
                    <a:p>
                      <a:pPr algn="r"/>
                      <a:r>
                        <a:rPr lang="en-AU" sz="1400" dirty="0" smtClean="0">
                          <a:latin typeface="Helvetica" pitchFamily="34" charset="0"/>
                        </a:rPr>
                        <a:t>20,990</a:t>
                      </a:r>
                      <a:endParaRPr lang="en-AU" sz="1400" dirty="0">
                        <a:latin typeface="Helvetica" pitchFamily="34" charset="0"/>
                      </a:endParaRPr>
                    </a:p>
                  </a:txBody>
                  <a:tcPr/>
                </a:tc>
                <a:tc>
                  <a:txBody>
                    <a:bodyPr/>
                    <a:lstStyle/>
                    <a:p>
                      <a:pPr algn="r"/>
                      <a:r>
                        <a:rPr lang="en-AU" sz="1400" dirty="0" smtClean="0">
                          <a:latin typeface="Helvetica" pitchFamily="34" charset="0"/>
                        </a:rPr>
                        <a:t>10,000</a:t>
                      </a:r>
                      <a:endParaRPr lang="en-AU" sz="1400" dirty="0">
                        <a:latin typeface="Helvetica" pitchFamily="34" charset="0"/>
                      </a:endParaRPr>
                    </a:p>
                  </a:txBody>
                  <a:tcPr/>
                </a:tc>
                <a:tc>
                  <a:txBody>
                    <a:bodyPr/>
                    <a:lstStyle/>
                    <a:p>
                      <a:pPr algn="r"/>
                      <a:r>
                        <a:rPr lang="en-AU" sz="1400" dirty="0" smtClean="0">
                          <a:latin typeface="Helvetica" pitchFamily="34" charset="0"/>
                        </a:rPr>
                        <a:t>575</a:t>
                      </a:r>
                      <a:endParaRPr lang="en-AU" sz="1400" dirty="0">
                        <a:latin typeface="Helvetica" pitchFamily="34" charset="0"/>
                      </a:endParaRPr>
                    </a:p>
                  </a:txBody>
                  <a:tcPr/>
                </a:tc>
                <a:tc>
                  <a:txBody>
                    <a:bodyPr/>
                    <a:lstStyle/>
                    <a:p>
                      <a:pPr algn="r"/>
                      <a:r>
                        <a:rPr lang="en-AU" sz="1400" dirty="0" smtClean="0">
                          <a:latin typeface="Helvetica" pitchFamily="34" charset="0"/>
                        </a:rPr>
                        <a:t>11,500</a:t>
                      </a:r>
                      <a:endParaRPr lang="en-AU" sz="1400" dirty="0">
                        <a:latin typeface="Helvetica" pitchFamily="34" charset="0"/>
                      </a:endParaRPr>
                    </a:p>
                  </a:txBody>
                  <a:tcPr/>
                </a:tc>
                <a:tc>
                  <a:txBody>
                    <a:bodyPr/>
                    <a:lstStyle/>
                    <a:p>
                      <a:pPr algn="r"/>
                      <a:r>
                        <a:rPr lang="en-AU" sz="1400" dirty="0" smtClean="0">
                          <a:latin typeface="Helvetica" pitchFamily="34" charset="0"/>
                        </a:rPr>
                        <a:t>1,725</a:t>
                      </a:r>
                      <a:endParaRPr lang="en-AU" sz="1400" dirty="0">
                        <a:latin typeface="Helvetica" pitchFamily="34" charset="0"/>
                      </a:endParaRPr>
                    </a:p>
                  </a:txBody>
                  <a:tcPr/>
                </a:tc>
                <a:tc>
                  <a:txBody>
                    <a:bodyPr/>
                    <a:lstStyle/>
                    <a:p>
                      <a:pPr algn="r"/>
                      <a:r>
                        <a:rPr lang="en-AU" sz="1400" dirty="0" smtClean="0">
                          <a:latin typeface="Helvetica" pitchFamily="34" charset="0"/>
                        </a:rPr>
                        <a:t>81,900</a:t>
                      </a:r>
                      <a:endParaRPr lang="en-AU" sz="1400" dirty="0">
                        <a:latin typeface="Helvetica" pitchFamily="34" charset="0"/>
                      </a:endParaRPr>
                    </a:p>
                  </a:txBody>
                  <a:tcPr/>
                </a:tc>
              </a:tr>
              <a:tr h="370840">
                <a:tc gridSpan="7">
                  <a:txBody>
                    <a:bodyPr/>
                    <a:lstStyle/>
                    <a:p>
                      <a:r>
                        <a:rPr lang="en-AU" sz="1400" b="1" dirty="0" smtClean="0">
                          <a:solidFill>
                            <a:schemeClr val="bg1"/>
                          </a:solidFill>
                          <a:latin typeface="Helvetica" pitchFamily="34" charset="0"/>
                        </a:rPr>
                        <a:t>CASH</a:t>
                      </a:r>
                      <a:r>
                        <a:rPr lang="en-AU" sz="1400" b="1" baseline="0" dirty="0" smtClean="0">
                          <a:solidFill>
                            <a:schemeClr val="bg1"/>
                          </a:solidFill>
                          <a:latin typeface="Helvetica" pitchFamily="34" charset="0"/>
                        </a:rPr>
                        <a:t> PAYMENT JOURNAL</a:t>
                      </a:r>
                      <a:endParaRPr lang="en-AU" sz="1400" b="1" dirty="0">
                        <a:solidFill>
                          <a:schemeClr val="bg1"/>
                        </a:solidFill>
                        <a:latin typeface="Helvetica" pitchFamily="34" charset="0"/>
                      </a:endParaRPr>
                    </a:p>
                  </a:txBody>
                  <a:tcPr>
                    <a:solidFill>
                      <a:srgbClr val="60B5CC"/>
                    </a:solidFill>
                  </a:tcPr>
                </a:tc>
                <a:tc hMerge="1">
                  <a:txBody>
                    <a:bodyPr/>
                    <a:lstStyle/>
                    <a:p>
                      <a:endParaRPr lang="en-AU" dirty="0"/>
                    </a:p>
                  </a:txBody>
                  <a:tcPr/>
                </a:tc>
                <a:tc hMerge="1">
                  <a:txBody>
                    <a:bodyPr/>
                    <a:lstStyle/>
                    <a:p>
                      <a:endParaRPr lang="en-AU"/>
                    </a:p>
                  </a:txBody>
                  <a:tcPr/>
                </a:tc>
                <a:tc hMerge="1">
                  <a:txBody>
                    <a:bodyPr/>
                    <a:lstStyle/>
                    <a:p>
                      <a:endParaRPr lang="en-AU"/>
                    </a:p>
                  </a:txBody>
                  <a:tcPr/>
                </a:tc>
                <a:tc hMerge="1">
                  <a:txBody>
                    <a:bodyPr/>
                    <a:lstStyle/>
                    <a:p>
                      <a:endParaRPr lang="en-AU" dirty="0"/>
                    </a:p>
                  </a:txBody>
                  <a:tcPr/>
                </a:tc>
                <a:tc hMerge="1">
                  <a:txBody>
                    <a:bodyPr/>
                    <a:lstStyle/>
                    <a:p>
                      <a:endParaRPr lang="en-AU" dirty="0"/>
                    </a:p>
                  </a:txBody>
                  <a:tcPr/>
                </a:tc>
                <a:tc hMerge="1">
                  <a:txBody>
                    <a:bodyPr/>
                    <a:lstStyle/>
                    <a:p>
                      <a:endParaRPr lang="en-AU" dirty="0"/>
                    </a:p>
                  </a:txBody>
                  <a:tcPr/>
                </a:tc>
              </a:tr>
              <a:tr h="370840">
                <a:tc>
                  <a:txBody>
                    <a:bodyPr/>
                    <a:lstStyle/>
                    <a:p>
                      <a:pPr algn="r"/>
                      <a:r>
                        <a:rPr lang="en-AU" sz="1400" dirty="0" smtClean="0">
                          <a:latin typeface="Helvetica" pitchFamily="34" charset="0"/>
                        </a:rPr>
                        <a:t>Purchases</a:t>
                      </a:r>
                      <a:endParaRPr lang="en-AU" sz="1400" dirty="0">
                        <a:latin typeface="Helvetica" pitchFamily="34" charset="0"/>
                      </a:endParaRPr>
                    </a:p>
                  </a:txBody>
                  <a:tcPr/>
                </a:tc>
                <a:tc>
                  <a:txBody>
                    <a:bodyPr/>
                    <a:lstStyle/>
                    <a:p>
                      <a:pPr algn="r"/>
                      <a:r>
                        <a:rPr lang="en-AU" sz="1400" dirty="0" smtClean="0">
                          <a:latin typeface="Helvetica" pitchFamily="34" charset="0"/>
                        </a:rPr>
                        <a:t>Wages</a:t>
                      </a:r>
                      <a:endParaRPr lang="en-AU" sz="1400" dirty="0">
                        <a:latin typeface="Helvetica" pitchFamily="34" charset="0"/>
                      </a:endParaRPr>
                    </a:p>
                  </a:txBody>
                  <a:tcPr/>
                </a:tc>
                <a:tc>
                  <a:txBody>
                    <a:bodyPr/>
                    <a:lstStyle/>
                    <a:p>
                      <a:pPr algn="r"/>
                      <a:r>
                        <a:rPr lang="en-AU" sz="1400" dirty="0" smtClean="0">
                          <a:latin typeface="Helvetica" pitchFamily="34" charset="0"/>
                        </a:rPr>
                        <a:t>Rent</a:t>
                      </a:r>
                      <a:endParaRPr lang="en-AU" sz="1400" dirty="0">
                        <a:latin typeface="Helvetica" pitchFamily="34" charset="0"/>
                      </a:endParaRPr>
                    </a:p>
                  </a:txBody>
                  <a:tcPr/>
                </a:tc>
                <a:tc>
                  <a:txBody>
                    <a:bodyPr/>
                    <a:lstStyle/>
                    <a:p>
                      <a:pPr algn="r"/>
                      <a:r>
                        <a:rPr lang="en-AU" sz="1400" dirty="0" smtClean="0">
                          <a:latin typeface="Helvetica" pitchFamily="34" charset="0"/>
                        </a:rPr>
                        <a:t>Advertising</a:t>
                      </a:r>
                      <a:endParaRPr lang="en-AU" sz="1400" dirty="0">
                        <a:latin typeface="Helvetica" pitchFamily="34" charset="0"/>
                      </a:endParaRPr>
                    </a:p>
                  </a:txBody>
                  <a:tcPr/>
                </a:tc>
                <a:tc>
                  <a:txBody>
                    <a:bodyPr/>
                    <a:lstStyle/>
                    <a:p>
                      <a:pPr algn="r"/>
                      <a:r>
                        <a:rPr lang="en-AU" sz="1400" dirty="0" smtClean="0">
                          <a:latin typeface="Helvetica" pitchFamily="34" charset="0"/>
                        </a:rPr>
                        <a:t>A/P</a:t>
                      </a:r>
                      <a:endParaRPr lang="en-AU" sz="1400" dirty="0">
                        <a:latin typeface="Helvetica" pitchFamily="34" charset="0"/>
                      </a:endParaRPr>
                    </a:p>
                  </a:txBody>
                  <a:tcPr/>
                </a:tc>
                <a:tc>
                  <a:txBody>
                    <a:bodyPr/>
                    <a:lstStyle/>
                    <a:p>
                      <a:pPr algn="r"/>
                      <a:r>
                        <a:rPr lang="en-AU" sz="1400" dirty="0" smtClean="0">
                          <a:latin typeface="Helvetica" pitchFamily="34" charset="0"/>
                        </a:rPr>
                        <a:t>Interest expense</a:t>
                      </a:r>
                      <a:endParaRPr lang="en-AU" sz="1400" dirty="0">
                        <a:latin typeface="Helvetica" pitchFamily="34" charset="0"/>
                      </a:endParaRPr>
                    </a:p>
                  </a:txBody>
                  <a:tcPr/>
                </a:tc>
                <a:tc>
                  <a:txBody>
                    <a:bodyPr/>
                    <a:lstStyle/>
                    <a:p>
                      <a:pPr algn="r"/>
                      <a:r>
                        <a:rPr lang="en-AU" sz="1400" dirty="0" smtClean="0">
                          <a:latin typeface="Helvetica" pitchFamily="34" charset="0"/>
                        </a:rPr>
                        <a:t>Fitting &amp; fixtures</a:t>
                      </a:r>
                      <a:endParaRPr lang="en-AU" sz="1400" dirty="0">
                        <a:latin typeface="Helvetica" pitchFamily="34" charset="0"/>
                      </a:endParaRPr>
                    </a:p>
                  </a:txBody>
                  <a:tcPr/>
                </a:tc>
              </a:tr>
              <a:tr h="370840">
                <a:tc>
                  <a:txBody>
                    <a:bodyPr/>
                    <a:lstStyle/>
                    <a:p>
                      <a:pPr algn="r"/>
                      <a:r>
                        <a:rPr lang="en-AU" sz="1400" dirty="0" smtClean="0">
                          <a:latin typeface="Helvetica" pitchFamily="34" charset="0"/>
                        </a:rPr>
                        <a:t>14,545</a:t>
                      </a:r>
                      <a:endParaRPr lang="en-AU" sz="1400" dirty="0">
                        <a:latin typeface="Helvetica" pitchFamily="34" charset="0"/>
                      </a:endParaRPr>
                    </a:p>
                  </a:txBody>
                  <a:tcPr/>
                </a:tc>
                <a:tc>
                  <a:txBody>
                    <a:bodyPr/>
                    <a:lstStyle/>
                    <a:p>
                      <a:pPr algn="r"/>
                      <a:r>
                        <a:rPr lang="en-AU" sz="1400" dirty="0" smtClean="0">
                          <a:latin typeface="Helvetica" pitchFamily="34" charset="0"/>
                        </a:rPr>
                        <a:t>15,290</a:t>
                      </a:r>
                      <a:endParaRPr lang="en-AU" sz="1400" dirty="0">
                        <a:latin typeface="Helvetica" pitchFamily="34" charset="0"/>
                      </a:endParaRPr>
                    </a:p>
                  </a:txBody>
                  <a:tcPr/>
                </a:tc>
                <a:tc>
                  <a:txBody>
                    <a:bodyPr/>
                    <a:lstStyle/>
                    <a:p>
                      <a:pPr algn="r"/>
                      <a:r>
                        <a:rPr lang="en-AU" sz="1400" dirty="0" smtClean="0">
                          <a:latin typeface="Helvetica" pitchFamily="34" charset="0"/>
                        </a:rPr>
                        <a:t>2,820</a:t>
                      </a:r>
                      <a:endParaRPr lang="en-AU" sz="1400" dirty="0">
                        <a:latin typeface="Helvetica" pitchFamily="34" charset="0"/>
                      </a:endParaRPr>
                    </a:p>
                  </a:txBody>
                  <a:tcPr/>
                </a:tc>
                <a:tc>
                  <a:txBody>
                    <a:bodyPr/>
                    <a:lstStyle/>
                    <a:p>
                      <a:pPr algn="r"/>
                      <a:r>
                        <a:rPr lang="en-AU" sz="1400" dirty="0" smtClean="0">
                          <a:latin typeface="Helvetica" pitchFamily="34" charset="0"/>
                        </a:rPr>
                        <a:t>1,425</a:t>
                      </a:r>
                      <a:endParaRPr lang="en-AU" sz="1400" dirty="0">
                        <a:latin typeface="Helvetica" pitchFamily="34" charset="0"/>
                      </a:endParaRPr>
                    </a:p>
                  </a:txBody>
                  <a:tcPr/>
                </a:tc>
                <a:tc>
                  <a:txBody>
                    <a:bodyPr/>
                    <a:lstStyle/>
                    <a:p>
                      <a:pPr algn="r"/>
                      <a:r>
                        <a:rPr lang="en-AU" sz="1400" dirty="0" smtClean="0">
                          <a:latin typeface="Helvetica" pitchFamily="34" charset="0"/>
                        </a:rPr>
                        <a:t>12,485</a:t>
                      </a:r>
                      <a:endParaRPr lang="en-AU" sz="1400" dirty="0">
                        <a:latin typeface="Helvetica" pitchFamily="34" charset="0"/>
                      </a:endParaRPr>
                    </a:p>
                  </a:txBody>
                  <a:tcPr/>
                </a:tc>
                <a:tc>
                  <a:txBody>
                    <a:bodyPr/>
                    <a:lstStyle/>
                    <a:p>
                      <a:pPr algn="r"/>
                      <a:r>
                        <a:rPr lang="en-AU" sz="1400" dirty="0" smtClean="0">
                          <a:latin typeface="Helvetica" pitchFamily="34" charset="0"/>
                        </a:rPr>
                        <a:t>900</a:t>
                      </a:r>
                      <a:endParaRPr lang="en-AU" sz="1400" dirty="0">
                        <a:latin typeface="Helvetica" pitchFamily="34" charset="0"/>
                      </a:endParaRPr>
                    </a:p>
                  </a:txBody>
                  <a:tcPr/>
                </a:tc>
                <a:tc>
                  <a:txBody>
                    <a:bodyPr/>
                    <a:lstStyle/>
                    <a:p>
                      <a:pPr algn="r"/>
                      <a:r>
                        <a:rPr lang="en-AU" sz="1400" dirty="0" smtClean="0">
                          <a:latin typeface="Helvetica" pitchFamily="34" charset="0"/>
                        </a:rPr>
                        <a:t>1,570</a:t>
                      </a:r>
                      <a:endParaRPr lang="en-AU" sz="1400" dirty="0">
                        <a:latin typeface="Helvetica" pitchFamily="34" charset="0"/>
                      </a:endParaRPr>
                    </a:p>
                  </a:txBody>
                  <a:tcPr/>
                </a:tc>
              </a:tr>
              <a:tr h="370840">
                <a:tc>
                  <a:txBody>
                    <a:bodyPr/>
                    <a:lstStyle/>
                    <a:p>
                      <a:endParaRPr lang="en-AU" sz="1400" dirty="0">
                        <a:latin typeface="Helvetica" pitchFamily="34" charset="0"/>
                      </a:endParaRPr>
                    </a:p>
                  </a:txBody>
                  <a:tcPr>
                    <a:solidFill>
                      <a:schemeClr val="bg1"/>
                    </a:solidFill>
                  </a:tcPr>
                </a:tc>
                <a:tc>
                  <a:txBody>
                    <a:bodyPr/>
                    <a:lstStyle/>
                    <a:p>
                      <a:endParaRPr lang="en-AU" sz="1400" dirty="0">
                        <a:latin typeface="Helvetica" pitchFamily="34" charset="0"/>
                      </a:endParaRPr>
                    </a:p>
                  </a:txBody>
                  <a:tcPr>
                    <a:solidFill>
                      <a:schemeClr val="bg1"/>
                    </a:solidFill>
                  </a:tcPr>
                </a:tc>
                <a:tc>
                  <a:txBody>
                    <a:bodyPr/>
                    <a:lstStyle/>
                    <a:p>
                      <a:endParaRPr lang="en-AU" dirty="0"/>
                    </a:p>
                  </a:txBody>
                  <a:tcPr>
                    <a:solidFill>
                      <a:schemeClr val="bg1"/>
                    </a:solidFill>
                  </a:tcPr>
                </a:tc>
                <a:tc>
                  <a:txBody>
                    <a:bodyPr/>
                    <a:lstStyle/>
                    <a:p>
                      <a:endParaRPr lang="en-AU" dirty="0"/>
                    </a:p>
                  </a:txBody>
                  <a:tcPr>
                    <a:solidFill>
                      <a:schemeClr val="bg1"/>
                    </a:solidFill>
                  </a:tcPr>
                </a:tc>
                <a:tc>
                  <a:txBody>
                    <a:bodyPr/>
                    <a:lstStyle/>
                    <a:p>
                      <a:endParaRPr lang="en-AU" sz="1400" dirty="0">
                        <a:latin typeface="Helvetica" pitchFamily="34" charset="0"/>
                      </a:endParaRPr>
                    </a:p>
                  </a:txBody>
                  <a:tcPr>
                    <a:solidFill>
                      <a:schemeClr val="bg1"/>
                    </a:solidFill>
                  </a:tcPr>
                </a:tc>
                <a:tc>
                  <a:txBody>
                    <a:bodyPr/>
                    <a:lstStyle/>
                    <a:p>
                      <a:endParaRPr lang="en-AU" sz="1400" dirty="0">
                        <a:latin typeface="Helvetica" pitchFamily="34" charset="0"/>
                      </a:endParaRPr>
                    </a:p>
                  </a:txBody>
                  <a:tcPr>
                    <a:solidFill>
                      <a:schemeClr val="bg1"/>
                    </a:solidFill>
                  </a:tcPr>
                </a:tc>
                <a:tc>
                  <a:txBody>
                    <a:bodyPr/>
                    <a:lstStyle/>
                    <a:p>
                      <a:endParaRPr lang="en-AU" sz="1400" dirty="0">
                        <a:latin typeface="Helvetica" pitchFamily="34" charset="0"/>
                      </a:endParaRPr>
                    </a:p>
                  </a:txBody>
                  <a:tcPr>
                    <a:solidFill>
                      <a:schemeClr val="bg1"/>
                    </a:solidFill>
                  </a:tcPr>
                </a:tc>
              </a:tr>
              <a:tr h="370840">
                <a:tc>
                  <a:txBody>
                    <a:bodyPr/>
                    <a:lstStyle/>
                    <a:p>
                      <a:pPr algn="r"/>
                      <a:r>
                        <a:rPr lang="en-AU" sz="1400" dirty="0" smtClean="0">
                          <a:latin typeface="Helvetica" pitchFamily="34" charset="0"/>
                        </a:rPr>
                        <a:t>Insurance</a:t>
                      </a:r>
                      <a:r>
                        <a:rPr lang="en-AU" sz="1400" baseline="0" dirty="0" smtClean="0">
                          <a:latin typeface="Helvetica" pitchFamily="34" charset="0"/>
                        </a:rPr>
                        <a:t> expense</a:t>
                      </a:r>
                      <a:endParaRPr lang="en-AU" sz="1400" dirty="0">
                        <a:latin typeface="Helvetica" pitchFamily="34" charset="0"/>
                      </a:endParaRPr>
                    </a:p>
                  </a:txBody>
                  <a:tcPr/>
                </a:tc>
                <a:tc>
                  <a:txBody>
                    <a:bodyPr/>
                    <a:lstStyle/>
                    <a:p>
                      <a:pPr algn="r"/>
                      <a:r>
                        <a:rPr lang="en-AU" sz="1400" dirty="0" smtClean="0">
                          <a:latin typeface="Helvetica" pitchFamily="34" charset="0"/>
                        </a:rPr>
                        <a:t>Loan repaid</a:t>
                      </a:r>
                      <a:endParaRPr lang="en-AU" sz="1400" dirty="0">
                        <a:latin typeface="Helvetica" pitchFamily="34" charset="0"/>
                      </a:endParaRPr>
                    </a:p>
                  </a:txBody>
                  <a:tcPr/>
                </a:tc>
                <a:tc>
                  <a:txBody>
                    <a:bodyPr/>
                    <a:lstStyle/>
                    <a:p>
                      <a:pPr algn="r"/>
                      <a:r>
                        <a:rPr lang="en-AU" sz="1400" dirty="0" smtClean="0">
                          <a:latin typeface="Helvetica" pitchFamily="34" charset="0"/>
                        </a:rPr>
                        <a:t>Owner’s drawings</a:t>
                      </a:r>
                      <a:endParaRPr lang="en-AU" sz="1400" dirty="0">
                        <a:latin typeface="Helvetica" pitchFamily="34" charset="0"/>
                      </a:endParaRPr>
                    </a:p>
                  </a:txBody>
                  <a:tcPr/>
                </a:tc>
                <a:tc>
                  <a:txBody>
                    <a:bodyPr/>
                    <a:lstStyle/>
                    <a:p>
                      <a:pPr algn="r"/>
                      <a:r>
                        <a:rPr lang="en-AU" sz="1400" dirty="0" smtClean="0">
                          <a:latin typeface="Helvetica" pitchFamily="34" charset="0"/>
                        </a:rPr>
                        <a:t>Purchase: new over</a:t>
                      </a:r>
                      <a:endParaRPr lang="en-AU" sz="1400" dirty="0">
                        <a:latin typeface="Helvetica" pitchFamily="34" charset="0"/>
                      </a:endParaRPr>
                    </a:p>
                  </a:txBody>
                  <a:tcPr/>
                </a:tc>
                <a:tc>
                  <a:txBody>
                    <a:bodyPr/>
                    <a:lstStyle/>
                    <a:p>
                      <a:pPr algn="r"/>
                      <a:r>
                        <a:rPr lang="en-AU" sz="1400" dirty="0" smtClean="0">
                          <a:latin typeface="Helvetica" pitchFamily="34" charset="0"/>
                        </a:rPr>
                        <a:t>Bank</a:t>
                      </a:r>
                      <a:endParaRPr lang="en-AU" sz="1400" dirty="0">
                        <a:latin typeface="Helvetica" pitchFamily="34" charset="0"/>
                      </a:endParaRPr>
                    </a:p>
                  </a:txBody>
                  <a:tcPr/>
                </a:tc>
                <a:tc>
                  <a:txBody>
                    <a:bodyPr/>
                    <a:lstStyle/>
                    <a:p>
                      <a:endParaRPr lang="en-AU" sz="1400" dirty="0">
                        <a:latin typeface="Helvetica" pitchFamily="34" charset="0"/>
                      </a:endParaRPr>
                    </a:p>
                  </a:txBody>
                  <a:tcPr>
                    <a:solidFill>
                      <a:schemeClr val="bg1"/>
                    </a:solidFill>
                  </a:tcPr>
                </a:tc>
                <a:tc>
                  <a:txBody>
                    <a:bodyPr/>
                    <a:lstStyle/>
                    <a:p>
                      <a:endParaRPr lang="en-AU" sz="1400" dirty="0">
                        <a:latin typeface="Helvetica" pitchFamily="34" charset="0"/>
                      </a:endParaRPr>
                    </a:p>
                  </a:txBody>
                  <a:tcPr>
                    <a:solidFill>
                      <a:schemeClr val="bg1"/>
                    </a:solidFill>
                  </a:tcPr>
                </a:tc>
              </a:tr>
              <a:tr h="370840">
                <a:tc>
                  <a:txBody>
                    <a:bodyPr/>
                    <a:lstStyle/>
                    <a:p>
                      <a:pPr algn="r"/>
                      <a:r>
                        <a:rPr lang="en-AU" sz="1400" dirty="0" smtClean="0">
                          <a:latin typeface="Helvetica" pitchFamily="34" charset="0"/>
                        </a:rPr>
                        <a:t>635</a:t>
                      </a:r>
                      <a:endParaRPr lang="en-AU" sz="1400" dirty="0">
                        <a:latin typeface="Helvetica" pitchFamily="34" charset="0"/>
                      </a:endParaRPr>
                    </a:p>
                  </a:txBody>
                  <a:tcPr/>
                </a:tc>
                <a:tc>
                  <a:txBody>
                    <a:bodyPr/>
                    <a:lstStyle/>
                    <a:p>
                      <a:pPr algn="r"/>
                      <a:r>
                        <a:rPr lang="en-AU" sz="1400" dirty="0" smtClean="0">
                          <a:latin typeface="Helvetica" pitchFamily="34" charset="0"/>
                        </a:rPr>
                        <a:t>4,000</a:t>
                      </a:r>
                      <a:endParaRPr lang="en-AU" sz="1400" dirty="0">
                        <a:latin typeface="Helvetica" pitchFamily="34" charset="0"/>
                      </a:endParaRPr>
                    </a:p>
                  </a:txBody>
                  <a:tcPr/>
                </a:tc>
                <a:tc>
                  <a:txBody>
                    <a:bodyPr/>
                    <a:lstStyle/>
                    <a:p>
                      <a:pPr algn="r"/>
                      <a:r>
                        <a:rPr lang="en-AU" sz="1400" dirty="0" smtClean="0">
                          <a:latin typeface="Helvetica" pitchFamily="34" charset="0"/>
                        </a:rPr>
                        <a:t>2,650</a:t>
                      </a:r>
                      <a:endParaRPr lang="en-AU" sz="1400" dirty="0">
                        <a:latin typeface="Helvetica" pitchFamily="34" charset="0"/>
                      </a:endParaRPr>
                    </a:p>
                  </a:txBody>
                  <a:tcPr/>
                </a:tc>
                <a:tc>
                  <a:txBody>
                    <a:bodyPr/>
                    <a:lstStyle/>
                    <a:p>
                      <a:pPr algn="r"/>
                      <a:r>
                        <a:rPr lang="en-AU" sz="1400" dirty="0" smtClean="0">
                          <a:latin typeface="Helvetica" pitchFamily="34" charset="0"/>
                        </a:rPr>
                        <a:t>2,230</a:t>
                      </a:r>
                      <a:endParaRPr lang="en-AU" sz="1400" dirty="0">
                        <a:latin typeface="Helvetica" pitchFamily="34" charset="0"/>
                      </a:endParaRPr>
                    </a:p>
                  </a:txBody>
                  <a:tcPr/>
                </a:tc>
                <a:tc>
                  <a:txBody>
                    <a:bodyPr/>
                    <a:lstStyle/>
                    <a:p>
                      <a:pPr algn="r"/>
                      <a:r>
                        <a:rPr lang="en-AU" sz="1400" dirty="0" smtClean="0">
                          <a:latin typeface="Helvetica" pitchFamily="34" charset="0"/>
                        </a:rPr>
                        <a:t>58,550</a:t>
                      </a:r>
                      <a:endParaRPr lang="en-AU" sz="1400" dirty="0">
                        <a:latin typeface="Helvetica" pitchFamily="34" charset="0"/>
                      </a:endParaRPr>
                    </a:p>
                  </a:txBody>
                  <a:tcPr/>
                </a:tc>
                <a:tc>
                  <a:txBody>
                    <a:bodyPr/>
                    <a:lstStyle/>
                    <a:p>
                      <a:endParaRPr lang="en-AU" sz="1400" dirty="0">
                        <a:latin typeface="Helvetica" pitchFamily="34" charset="0"/>
                      </a:endParaRPr>
                    </a:p>
                  </a:txBody>
                  <a:tcPr>
                    <a:solidFill>
                      <a:schemeClr val="bg1"/>
                    </a:solidFill>
                  </a:tcPr>
                </a:tc>
                <a:tc>
                  <a:txBody>
                    <a:bodyPr/>
                    <a:lstStyle/>
                    <a:p>
                      <a:endParaRPr lang="en-AU" sz="1400" dirty="0">
                        <a:latin typeface="Helvetica" pitchFamily="34" charset="0"/>
                      </a:endParaRPr>
                    </a:p>
                  </a:txBody>
                  <a:tcPr>
                    <a:solidFill>
                      <a:schemeClr val="bg1"/>
                    </a:solidFill>
                  </a:tcPr>
                </a:tc>
              </a:tr>
            </a:tbl>
          </a:graphicData>
        </a:graphic>
      </p:graphicFrame>
    </p:spTree>
    <p:extLst>
      <p:ext uri="{BB962C8B-B14F-4D97-AF65-F5344CB8AC3E}">
        <p14:creationId xmlns:p14="http://schemas.microsoft.com/office/powerpoint/2010/main" val="112616018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Checking transactions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Checking transactions:</a:t>
            </a:r>
          </a:p>
          <a:p>
            <a:pPr marL="360000" indent="-360000">
              <a:spcBef>
                <a:spcPts val="600"/>
              </a:spcBef>
              <a:spcAft>
                <a:spcPts val="1200"/>
              </a:spcAft>
              <a:buClr>
                <a:srgbClr val="7FD13B"/>
              </a:buClr>
            </a:pPr>
            <a:r>
              <a:rPr lang="en-AU" sz="2200" dirty="0" smtClean="0">
                <a:latin typeface="Helvetica" pitchFamily="34" charset="0"/>
              </a:rPr>
              <a:t>Accuracy:</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Source documents and journal details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Totals calculated correctly</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Totals posted to the ledger </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General journal</a:t>
            </a:r>
          </a:p>
          <a:p>
            <a:pPr marL="360000" indent="-360000">
              <a:spcBef>
                <a:spcPts val="600"/>
              </a:spcBef>
              <a:spcAft>
                <a:spcPts val="1200"/>
              </a:spcAft>
              <a:buClr>
                <a:srgbClr val="7FD13B"/>
              </a:buClr>
            </a:pPr>
            <a:r>
              <a:rPr lang="en-AU" sz="2200" dirty="0" smtClean="0">
                <a:latin typeface="Helvetica" pitchFamily="34" charset="0"/>
              </a:rPr>
              <a:t>Completeness: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Cash receipts and cash payments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Sales and purchases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5" name="Picture 4" descr="shutterstock_2579216.jpg"/>
          <p:cNvPicPr>
            <a:picLocks noChangeAspect="1"/>
          </p:cNvPicPr>
          <p:nvPr/>
        </p:nvPicPr>
        <p:blipFill>
          <a:blip r:embed="rId3" cstate="print"/>
          <a:stretch>
            <a:fillRect/>
          </a:stretch>
        </p:blipFill>
        <p:spPr>
          <a:xfrm>
            <a:off x="6276096" y="4077072"/>
            <a:ext cx="2184336" cy="1456952"/>
          </a:xfrm>
          <a:prstGeom prst="rect">
            <a:avLst/>
          </a:prstGeom>
        </p:spPr>
      </p:pic>
    </p:spTree>
    <p:extLst>
      <p:ext uri="{BB962C8B-B14F-4D97-AF65-F5344CB8AC3E}">
        <p14:creationId xmlns:p14="http://schemas.microsoft.com/office/powerpoint/2010/main" val="310140234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Checking transactions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72608"/>
          </a:xfrm>
        </p:spPr>
        <p:txBody>
          <a:bodyPr>
            <a:normAutofit/>
          </a:bodyPr>
          <a:lstStyle/>
          <a:p>
            <a:pPr marL="0" indent="0">
              <a:spcBef>
                <a:spcPts val="600"/>
              </a:spcBef>
              <a:spcAft>
                <a:spcPts val="1200"/>
              </a:spcAft>
              <a:buNone/>
            </a:pPr>
            <a:r>
              <a:rPr lang="en-AU" sz="2200" dirty="0" smtClean="0">
                <a:latin typeface="Helvetica" pitchFamily="34" charset="0"/>
              </a:rPr>
              <a:t>Checking transactions:</a:t>
            </a:r>
          </a:p>
          <a:p>
            <a:pPr marL="360000" indent="-360000">
              <a:spcBef>
                <a:spcPts val="600"/>
              </a:spcBef>
              <a:spcAft>
                <a:spcPts val="1200"/>
              </a:spcAft>
              <a:buClr>
                <a:srgbClr val="7FD13B"/>
              </a:buClr>
            </a:pPr>
            <a:r>
              <a:rPr lang="en-AU" sz="2200" dirty="0" smtClean="0">
                <a:latin typeface="Helvetica" pitchFamily="34" charset="0"/>
              </a:rPr>
              <a:t>Completeness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What does this mean?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Internal controls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Adjusting entries (more detail later!)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descr="MM900172581.GIF"/>
          <p:cNvPicPr>
            <a:picLocks noChangeAspect="1"/>
          </p:cNvPicPr>
          <p:nvPr/>
        </p:nvPicPr>
        <p:blipFill>
          <a:blip r:embed="rId3" cstate="print"/>
          <a:stretch>
            <a:fillRect/>
          </a:stretch>
        </p:blipFill>
        <p:spPr>
          <a:xfrm>
            <a:off x="6876256" y="3717032"/>
            <a:ext cx="1584176" cy="1634856"/>
          </a:xfrm>
          <a:prstGeom prst="rect">
            <a:avLst/>
          </a:prstGeom>
        </p:spPr>
      </p:pic>
    </p:spTree>
    <p:extLst>
      <p:ext uri="{BB962C8B-B14F-4D97-AF65-F5344CB8AC3E}">
        <p14:creationId xmlns:p14="http://schemas.microsoft.com/office/powerpoint/2010/main" val="276584852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Balancing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The Trial balance:</a:t>
            </a:r>
          </a:p>
          <a:p>
            <a:pPr marL="360000" indent="-360000">
              <a:spcBef>
                <a:spcPts val="600"/>
              </a:spcBef>
              <a:spcAft>
                <a:spcPts val="1200"/>
              </a:spcAft>
              <a:buClr>
                <a:srgbClr val="7FD13B"/>
              </a:buClr>
            </a:pPr>
            <a:r>
              <a:rPr lang="en-AU" sz="2200" dirty="0" smtClean="0">
                <a:latin typeface="Helvetica" pitchFamily="34" charset="0"/>
              </a:rPr>
              <a:t>Debits = Credits</a:t>
            </a:r>
          </a:p>
          <a:p>
            <a:pPr marL="360000" indent="-360000">
              <a:spcBef>
                <a:spcPts val="600"/>
              </a:spcBef>
              <a:spcAft>
                <a:spcPts val="1200"/>
              </a:spcAft>
              <a:buClr>
                <a:srgbClr val="7FD13B"/>
              </a:buClr>
            </a:pPr>
            <a:r>
              <a:rPr lang="en-AU" sz="2200" dirty="0" smtClean="0">
                <a:latin typeface="Helvetica" pitchFamily="34" charset="0"/>
              </a:rPr>
              <a:t>Format</a:t>
            </a:r>
          </a:p>
          <a:p>
            <a:pPr marL="360000" indent="-360000">
              <a:spcBef>
                <a:spcPts val="600"/>
              </a:spcBef>
              <a:spcAft>
                <a:spcPts val="1200"/>
              </a:spcAft>
              <a:buClr>
                <a:srgbClr val="7FD13B"/>
              </a:buClr>
            </a:pPr>
            <a:r>
              <a:rPr lang="en-AU" sz="2200" dirty="0" smtClean="0">
                <a:latin typeface="Helvetica" pitchFamily="34" charset="0"/>
              </a:rPr>
              <a:t>Timing</a:t>
            </a:r>
          </a:p>
          <a:p>
            <a:pPr marL="360000" indent="-360000">
              <a:spcBef>
                <a:spcPts val="600"/>
              </a:spcBef>
              <a:spcAft>
                <a:spcPts val="1200"/>
              </a:spcAft>
              <a:buClr>
                <a:srgbClr val="7FD13B"/>
              </a:buClr>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graphicFrame>
        <p:nvGraphicFramePr>
          <p:cNvPr id="6" name="Table 5"/>
          <p:cNvGraphicFramePr>
            <a:graphicFrameLocks noGrp="1"/>
          </p:cNvGraphicFramePr>
          <p:nvPr/>
        </p:nvGraphicFramePr>
        <p:xfrm>
          <a:off x="3275856" y="1268760"/>
          <a:ext cx="3528392" cy="4693920"/>
        </p:xfrm>
        <a:graphic>
          <a:graphicData uri="http://schemas.openxmlformats.org/drawingml/2006/table">
            <a:tbl>
              <a:tblPr firstRow="1" bandRow="1">
                <a:tableStyleId>{5C22544A-7EE6-4342-B048-85BDC9FD1C3A}</a:tableStyleId>
              </a:tblPr>
              <a:tblGrid>
                <a:gridCol w="1872208"/>
                <a:gridCol w="864096"/>
                <a:gridCol w="792088"/>
              </a:tblGrid>
              <a:tr h="697717">
                <a:tc gridSpan="3">
                  <a:txBody>
                    <a:bodyPr/>
                    <a:lstStyle/>
                    <a:p>
                      <a:pPr algn="ctr"/>
                      <a:r>
                        <a:rPr lang="en-AU" sz="1400" dirty="0" smtClean="0">
                          <a:latin typeface="Helvetica" pitchFamily="34" charset="0"/>
                        </a:rPr>
                        <a:t>Example</a:t>
                      </a:r>
                      <a:r>
                        <a:rPr lang="en-AU" sz="1400" baseline="0" dirty="0" smtClean="0">
                          <a:latin typeface="Helvetica" pitchFamily="34" charset="0"/>
                        </a:rPr>
                        <a:t> company </a:t>
                      </a:r>
                      <a:br>
                        <a:rPr lang="en-AU" sz="1400" baseline="0" dirty="0" smtClean="0">
                          <a:latin typeface="Helvetica" pitchFamily="34" charset="0"/>
                        </a:rPr>
                      </a:br>
                      <a:r>
                        <a:rPr lang="en-AU" sz="1400" baseline="0" dirty="0" smtClean="0">
                          <a:latin typeface="Helvetica" pitchFamily="34" charset="0"/>
                        </a:rPr>
                        <a:t>trial balance </a:t>
                      </a:r>
                      <a:br>
                        <a:rPr lang="en-AU" sz="1400" baseline="0" dirty="0" smtClean="0">
                          <a:latin typeface="Helvetica" pitchFamily="34" charset="0"/>
                        </a:rPr>
                      </a:br>
                      <a:r>
                        <a:rPr lang="en-AU" sz="1400" baseline="0" dirty="0" smtClean="0">
                          <a:latin typeface="Helvetica" pitchFamily="34" charset="0"/>
                        </a:rPr>
                        <a:t>end of the month</a:t>
                      </a:r>
                      <a:endParaRPr lang="en-AU" sz="1400" dirty="0">
                        <a:latin typeface="Helvetica" pitchFamily="34" charset="0"/>
                      </a:endParaRPr>
                    </a:p>
                  </a:txBody>
                  <a:tcPr anchor="ctr"/>
                </a:tc>
                <a:tc hMerge="1">
                  <a:txBody>
                    <a:bodyPr/>
                    <a:lstStyle/>
                    <a:p>
                      <a:endParaRPr lang="en-AU" sz="1400" dirty="0">
                        <a:latin typeface="Helvetica" pitchFamily="34" charset="0"/>
                      </a:endParaRPr>
                    </a:p>
                  </a:txBody>
                  <a:tcPr/>
                </a:tc>
                <a:tc hMerge="1">
                  <a:txBody>
                    <a:bodyPr/>
                    <a:lstStyle/>
                    <a:p>
                      <a:endParaRPr lang="en-AU" sz="1400" dirty="0">
                        <a:latin typeface="Helvetica" pitchFamily="34" charset="0"/>
                      </a:endParaRPr>
                    </a:p>
                  </a:txBody>
                  <a:tcPr/>
                </a:tc>
              </a:tr>
              <a:tr h="290715">
                <a:tc gridSpan="3">
                  <a:txBody>
                    <a:bodyPr/>
                    <a:lstStyle/>
                    <a:p>
                      <a:r>
                        <a:rPr lang="en-AU" sz="1400" b="1" dirty="0" smtClean="0">
                          <a:latin typeface="Helvetica" pitchFamily="34" charset="0"/>
                        </a:rPr>
                        <a:t>Trial balance</a:t>
                      </a:r>
                      <a:endParaRPr lang="en-AU" sz="1400" b="1" dirty="0">
                        <a:latin typeface="Helvetica" pitchFamily="34" charset="0"/>
                      </a:endParaRPr>
                    </a:p>
                  </a:txBody>
                  <a:tcPr/>
                </a:tc>
                <a:tc hMerge="1">
                  <a:txBody>
                    <a:bodyPr/>
                    <a:lstStyle/>
                    <a:p>
                      <a:endParaRPr lang="en-AU" sz="1400" b="1" dirty="0">
                        <a:latin typeface="Helvetica" pitchFamily="34" charset="0"/>
                      </a:endParaRPr>
                    </a:p>
                  </a:txBody>
                  <a:tcPr/>
                </a:tc>
                <a:tc hMerge="1">
                  <a:txBody>
                    <a:bodyPr/>
                    <a:lstStyle/>
                    <a:p>
                      <a:endParaRPr lang="en-AU" sz="1400" b="1" dirty="0">
                        <a:latin typeface="Helvetica" pitchFamily="34" charset="0"/>
                      </a:endParaRPr>
                    </a:p>
                  </a:txBody>
                  <a:tcPr/>
                </a:tc>
              </a:tr>
              <a:tr h="290715">
                <a:tc>
                  <a:txBody>
                    <a:bodyPr/>
                    <a:lstStyle/>
                    <a:p>
                      <a:r>
                        <a:rPr lang="en-AU" sz="1400" b="1" dirty="0" smtClean="0">
                          <a:latin typeface="Helvetica" pitchFamily="34" charset="0"/>
                        </a:rPr>
                        <a:t>Account name</a:t>
                      </a:r>
                      <a:endParaRPr lang="en-AU" sz="1400" b="1" dirty="0">
                        <a:latin typeface="Helvetica" pitchFamily="34" charset="0"/>
                      </a:endParaRPr>
                    </a:p>
                  </a:txBody>
                  <a:tcPr/>
                </a:tc>
                <a:tc>
                  <a:txBody>
                    <a:bodyPr/>
                    <a:lstStyle/>
                    <a:p>
                      <a:pPr algn="r"/>
                      <a:r>
                        <a:rPr lang="en-AU" sz="1400" b="1" dirty="0" smtClean="0">
                          <a:latin typeface="Helvetica" pitchFamily="34" charset="0"/>
                        </a:rPr>
                        <a:t>Debit</a:t>
                      </a:r>
                      <a:endParaRPr lang="en-AU" sz="1400" b="1" dirty="0">
                        <a:latin typeface="Helvetica" pitchFamily="34" charset="0"/>
                      </a:endParaRPr>
                    </a:p>
                  </a:txBody>
                  <a:tcPr/>
                </a:tc>
                <a:tc>
                  <a:txBody>
                    <a:bodyPr/>
                    <a:lstStyle/>
                    <a:p>
                      <a:pPr algn="r"/>
                      <a:r>
                        <a:rPr lang="en-AU" sz="1400" b="1" dirty="0" smtClean="0">
                          <a:latin typeface="Helvetica" pitchFamily="34" charset="0"/>
                        </a:rPr>
                        <a:t>Credit</a:t>
                      </a:r>
                      <a:endParaRPr lang="en-AU" sz="1400" b="1" dirty="0">
                        <a:latin typeface="Helvetica" pitchFamily="34" charset="0"/>
                      </a:endParaRPr>
                    </a:p>
                  </a:txBody>
                  <a:tcPr/>
                </a:tc>
              </a:tr>
              <a:tr h="290715">
                <a:tc>
                  <a:txBody>
                    <a:bodyPr/>
                    <a:lstStyle/>
                    <a:p>
                      <a:r>
                        <a:rPr lang="en-AU" sz="1400" dirty="0" smtClean="0">
                          <a:latin typeface="Helvetica" pitchFamily="34" charset="0"/>
                        </a:rPr>
                        <a:t>Cash at</a:t>
                      </a:r>
                      <a:r>
                        <a:rPr lang="en-AU" sz="1400" baseline="0" dirty="0" smtClean="0">
                          <a:latin typeface="Helvetica" pitchFamily="34" charset="0"/>
                        </a:rPr>
                        <a:t> bank</a:t>
                      </a:r>
                      <a:endParaRPr lang="en-AU" sz="1400" dirty="0">
                        <a:latin typeface="Helvetica" pitchFamily="34" charset="0"/>
                      </a:endParaRPr>
                    </a:p>
                  </a:txBody>
                  <a:tcPr/>
                </a:tc>
                <a:tc>
                  <a:txBody>
                    <a:bodyPr/>
                    <a:lstStyle/>
                    <a:p>
                      <a:pPr algn="r"/>
                      <a:r>
                        <a:rPr lang="en-AU" sz="1400" dirty="0" smtClean="0">
                          <a:latin typeface="Helvetica" pitchFamily="34" charset="0"/>
                        </a:rPr>
                        <a:t>24,800</a:t>
                      </a:r>
                      <a:endParaRPr lang="en-AU" sz="1400" dirty="0">
                        <a:latin typeface="Helvetica" pitchFamily="34" charset="0"/>
                      </a:endParaRPr>
                    </a:p>
                  </a:txBody>
                  <a:tcPr/>
                </a:tc>
                <a:tc>
                  <a:txBody>
                    <a:bodyPr/>
                    <a:lstStyle/>
                    <a:p>
                      <a:pPr algn="r"/>
                      <a:endParaRPr lang="en-AU" sz="1400" dirty="0">
                        <a:latin typeface="Helvetica" pitchFamily="34" charset="0"/>
                      </a:endParaRPr>
                    </a:p>
                  </a:txBody>
                  <a:tcPr/>
                </a:tc>
              </a:tr>
              <a:tr h="298296">
                <a:tc>
                  <a:txBody>
                    <a:bodyPr/>
                    <a:lstStyle/>
                    <a:p>
                      <a:r>
                        <a:rPr lang="en-AU" sz="1400" dirty="0" smtClean="0">
                          <a:latin typeface="Helvetica" pitchFamily="34" charset="0"/>
                        </a:rPr>
                        <a:t>Accounts receivable</a:t>
                      </a:r>
                      <a:endParaRPr lang="en-AU" sz="1400" dirty="0">
                        <a:latin typeface="Helvetica" pitchFamily="34" charset="0"/>
                      </a:endParaRPr>
                    </a:p>
                  </a:txBody>
                  <a:tcPr/>
                </a:tc>
                <a:tc>
                  <a:txBody>
                    <a:bodyPr/>
                    <a:lstStyle/>
                    <a:p>
                      <a:pPr algn="r"/>
                      <a:r>
                        <a:rPr lang="en-AU" sz="1400" dirty="0" smtClean="0">
                          <a:latin typeface="Helvetica" pitchFamily="34" charset="0"/>
                        </a:rPr>
                        <a:t>2,950</a:t>
                      </a:r>
                      <a:endParaRPr lang="en-AU" sz="1400" dirty="0">
                        <a:latin typeface="Helvetica" pitchFamily="34" charset="0"/>
                      </a:endParaRPr>
                    </a:p>
                  </a:txBody>
                  <a:tcPr/>
                </a:tc>
                <a:tc>
                  <a:txBody>
                    <a:bodyPr/>
                    <a:lstStyle/>
                    <a:p>
                      <a:pPr algn="r"/>
                      <a:endParaRPr lang="en-AU" sz="1400" dirty="0">
                        <a:latin typeface="Helvetica" pitchFamily="34" charset="0"/>
                      </a:endParaRPr>
                    </a:p>
                  </a:txBody>
                  <a:tcPr/>
                </a:tc>
              </a:tr>
              <a:tr h="290715">
                <a:tc>
                  <a:txBody>
                    <a:bodyPr/>
                    <a:lstStyle/>
                    <a:p>
                      <a:r>
                        <a:rPr lang="en-AU" sz="1400" dirty="0" smtClean="0">
                          <a:latin typeface="Helvetica" pitchFamily="34" charset="0"/>
                        </a:rPr>
                        <a:t>Prepaid rent</a:t>
                      </a:r>
                      <a:endParaRPr lang="en-AU" sz="1400" dirty="0">
                        <a:latin typeface="Helvetica" pitchFamily="34" charset="0"/>
                      </a:endParaRPr>
                    </a:p>
                  </a:txBody>
                  <a:tcPr/>
                </a:tc>
                <a:tc>
                  <a:txBody>
                    <a:bodyPr/>
                    <a:lstStyle/>
                    <a:p>
                      <a:pPr algn="r"/>
                      <a:r>
                        <a:rPr lang="en-AU" sz="1400" dirty="0" smtClean="0">
                          <a:latin typeface="Helvetica" pitchFamily="34" charset="0"/>
                        </a:rPr>
                        <a:t>3,000</a:t>
                      </a:r>
                      <a:endParaRPr lang="en-AU" sz="1400" dirty="0">
                        <a:latin typeface="Helvetica" pitchFamily="34" charset="0"/>
                      </a:endParaRPr>
                    </a:p>
                  </a:txBody>
                  <a:tcPr/>
                </a:tc>
                <a:tc>
                  <a:txBody>
                    <a:bodyPr/>
                    <a:lstStyle/>
                    <a:p>
                      <a:pPr algn="r"/>
                      <a:endParaRPr lang="en-AU" sz="1400" dirty="0">
                        <a:latin typeface="Helvetica" pitchFamily="34" charset="0"/>
                      </a:endParaRPr>
                    </a:p>
                  </a:txBody>
                  <a:tcPr/>
                </a:tc>
              </a:tr>
              <a:tr h="290715">
                <a:tc>
                  <a:txBody>
                    <a:bodyPr/>
                    <a:lstStyle/>
                    <a:p>
                      <a:r>
                        <a:rPr lang="en-AU" sz="1400" dirty="0" smtClean="0">
                          <a:latin typeface="Helvetica" pitchFamily="34" charset="0"/>
                        </a:rPr>
                        <a:t>Furniture</a:t>
                      </a:r>
                      <a:endParaRPr lang="en-AU" sz="1400" dirty="0">
                        <a:latin typeface="Helvetica" pitchFamily="34" charset="0"/>
                      </a:endParaRPr>
                    </a:p>
                  </a:txBody>
                  <a:tcPr/>
                </a:tc>
                <a:tc>
                  <a:txBody>
                    <a:bodyPr/>
                    <a:lstStyle/>
                    <a:p>
                      <a:pPr algn="r"/>
                      <a:r>
                        <a:rPr lang="en-AU" sz="1400" dirty="0" smtClean="0">
                          <a:latin typeface="Helvetica" pitchFamily="34" charset="0"/>
                        </a:rPr>
                        <a:t>16,500</a:t>
                      </a:r>
                      <a:endParaRPr lang="en-AU" sz="1400" dirty="0">
                        <a:latin typeface="Helvetica" pitchFamily="34" charset="0"/>
                      </a:endParaRPr>
                    </a:p>
                  </a:txBody>
                  <a:tcPr/>
                </a:tc>
                <a:tc>
                  <a:txBody>
                    <a:bodyPr/>
                    <a:lstStyle/>
                    <a:p>
                      <a:pPr algn="r"/>
                      <a:endParaRPr lang="en-AU" sz="1400" dirty="0">
                        <a:latin typeface="Helvetica" pitchFamily="34" charset="0"/>
                      </a:endParaRPr>
                    </a:p>
                  </a:txBody>
                  <a:tcPr/>
                </a:tc>
              </a:tr>
              <a:tr h="290715">
                <a:tc>
                  <a:txBody>
                    <a:bodyPr/>
                    <a:lstStyle/>
                    <a:p>
                      <a:r>
                        <a:rPr lang="en-AU" sz="1400" dirty="0" smtClean="0">
                          <a:latin typeface="Helvetica" pitchFamily="34" charset="0"/>
                        </a:rPr>
                        <a:t>Accounts payable</a:t>
                      </a:r>
                      <a:endParaRPr lang="en-AU" sz="1400" dirty="0">
                        <a:latin typeface="Helvetica" pitchFamily="34" charset="0"/>
                      </a:endParaRPr>
                    </a:p>
                  </a:txBody>
                  <a:tcPr/>
                </a:tc>
                <a:tc>
                  <a:txBody>
                    <a:bodyPr/>
                    <a:lstStyle/>
                    <a:p>
                      <a:pPr algn="r"/>
                      <a:endParaRPr lang="en-AU" sz="1400" dirty="0">
                        <a:latin typeface="Helvetica" pitchFamily="34" charset="0"/>
                      </a:endParaRPr>
                    </a:p>
                  </a:txBody>
                  <a:tcPr/>
                </a:tc>
                <a:tc>
                  <a:txBody>
                    <a:bodyPr/>
                    <a:lstStyle/>
                    <a:p>
                      <a:pPr algn="r"/>
                      <a:r>
                        <a:rPr lang="en-AU" sz="1400" dirty="0" smtClean="0">
                          <a:latin typeface="Helvetica" pitchFamily="34" charset="0"/>
                        </a:rPr>
                        <a:t>13,100</a:t>
                      </a:r>
                      <a:endParaRPr lang="en-AU" sz="1400" dirty="0">
                        <a:latin typeface="Helvetica" pitchFamily="34" charset="0"/>
                      </a:endParaRPr>
                    </a:p>
                  </a:txBody>
                  <a:tcPr/>
                </a:tc>
              </a:tr>
              <a:tr h="290715">
                <a:tc>
                  <a:txBody>
                    <a:bodyPr/>
                    <a:lstStyle/>
                    <a:p>
                      <a:r>
                        <a:rPr lang="en-AU" sz="1400" dirty="0" smtClean="0">
                          <a:latin typeface="Helvetica" pitchFamily="34" charset="0"/>
                        </a:rPr>
                        <a:t>Capital</a:t>
                      </a:r>
                      <a:endParaRPr lang="en-AU" sz="1400" dirty="0">
                        <a:latin typeface="Helvetica" pitchFamily="34" charset="0"/>
                      </a:endParaRPr>
                    </a:p>
                  </a:txBody>
                  <a:tcPr/>
                </a:tc>
                <a:tc>
                  <a:txBody>
                    <a:bodyPr/>
                    <a:lstStyle/>
                    <a:p>
                      <a:pPr algn="r"/>
                      <a:endParaRPr lang="en-AU" sz="1400" dirty="0">
                        <a:latin typeface="Helvetica" pitchFamily="34" charset="0"/>
                      </a:endParaRPr>
                    </a:p>
                  </a:txBody>
                  <a:tcPr/>
                </a:tc>
                <a:tc>
                  <a:txBody>
                    <a:bodyPr/>
                    <a:lstStyle/>
                    <a:p>
                      <a:pPr algn="r"/>
                      <a:r>
                        <a:rPr lang="en-AU" sz="1400" dirty="0" smtClean="0">
                          <a:latin typeface="Helvetica" pitchFamily="34" charset="0"/>
                        </a:rPr>
                        <a:t>31,250</a:t>
                      </a:r>
                      <a:endParaRPr lang="en-AU" sz="1400" dirty="0">
                        <a:latin typeface="Helvetica" pitchFamily="34" charset="0"/>
                      </a:endParaRPr>
                    </a:p>
                  </a:txBody>
                  <a:tcPr/>
                </a:tc>
              </a:tr>
              <a:tr h="290715">
                <a:tc>
                  <a:txBody>
                    <a:bodyPr/>
                    <a:lstStyle/>
                    <a:p>
                      <a:r>
                        <a:rPr lang="en-AU" sz="1400" dirty="0" smtClean="0">
                          <a:latin typeface="Helvetica" pitchFamily="34" charset="0"/>
                        </a:rPr>
                        <a:t>Drawings</a:t>
                      </a:r>
                      <a:endParaRPr lang="en-AU" sz="1400" dirty="0">
                        <a:latin typeface="Helvetica" pitchFamily="34" charset="0"/>
                      </a:endParaRPr>
                    </a:p>
                  </a:txBody>
                  <a:tcPr/>
                </a:tc>
                <a:tc>
                  <a:txBody>
                    <a:bodyPr/>
                    <a:lstStyle/>
                    <a:p>
                      <a:pPr algn="r"/>
                      <a:r>
                        <a:rPr lang="en-AU" sz="1400" dirty="0" smtClean="0">
                          <a:latin typeface="Helvetica" pitchFamily="34" charset="0"/>
                        </a:rPr>
                        <a:t>3,200</a:t>
                      </a:r>
                      <a:endParaRPr lang="en-AU" sz="1400" dirty="0">
                        <a:latin typeface="Helvetica" pitchFamily="34" charset="0"/>
                      </a:endParaRPr>
                    </a:p>
                  </a:txBody>
                  <a:tcPr/>
                </a:tc>
                <a:tc>
                  <a:txBody>
                    <a:bodyPr/>
                    <a:lstStyle/>
                    <a:p>
                      <a:pPr algn="r"/>
                      <a:endParaRPr lang="en-AU" sz="1400" dirty="0">
                        <a:latin typeface="Helvetica" pitchFamily="34" charset="0"/>
                      </a:endParaRPr>
                    </a:p>
                  </a:txBody>
                  <a:tcPr/>
                </a:tc>
              </a:tr>
              <a:tr h="290715">
                <a:tc>
                  <a:txBody>
                    <a:bodyPr/>
                    <a:lstStyle/>
                    <a:p>
                      <a:r>
                        <a:rPr lang="en-AU" sz="1400" dirty="0" smtClean="0">
                          <a:latin typeface="Helvetica" pitchFamily="34" charset="0"/>
                        </a:rPr>
                        <a:t>Revenue</a:t>
                      </a:r>
                      <a:endParaRPr lang="en-AU" sz="1400" dirty="0">
                        <a:latin typeface="Helvetica" pitchFamily="34" charset="0"/>
                      </a:endParaRPr>
                    </a:p>
                  </a:txBody>
                  <a:tcPr/>
                </a:tc>
                <a:tc>
                  <a:txBody>
                    <a:bodyPr/>
                    <a:lstStyle/>
                    <a:p>
                      <a:pPr algn="r"/>
                      <a:endParaRPr lang="en-AU" sz="1400" dirty="0">
                        <a:latin typeface="Helvetica" pitchFamily="34" charset="0"/>
                      </a:endParaRPr>
                    </a:p>
                  </a:txBody>
                  <a:tcPr/>
                </a:tc>
                <a:tc>
                  <a:txBody>
                    <a:bodyPr/>
                    <a:lstStyle/>
                    <a:p>
                      <a:pPr algn="r"/>
                      <a:r>
                        <a:rPr lang="en-AU" sz="1400" dirty="0" smtClean="0">
                          <a:latin typeface="Helvetica" pitchFamily="34" charset="0"/>
                        </a:rPr>
                        <a:t>7,450</a:t>
                      </a:r>
                      <a:endParaRPr lang="en-AU" sz="1400" dirty="0">
                        <a:latin typeface="Helvetica" pitchFamily="34" charset="0"/>
                      </a:endParaRPr>
                    </a:p>
                  </a:txBody>
                  <a:tcPr/>
                </a:tc>
              </a:tr>
              <a:tr h="290715">
                <a:tc>
                  <a:txBody>
                    <a:bodyPr/>
                    <a:lstStyle/>
                    <a:p>
                      <a:r>
                        <a:rPr lang="en-AU" sz="1400" dirty="0" smtClean="0">
                          <a:latin typeface="Helvetica" pitchFamily="34" charset="0"/>
                        </a:rPr>
                        <a:t>Salary</a:t>
                      </a:r>
                      <a:r>
                        <a:rPr lang="en-AU" sz="1400" baseline="0" dirty="0" smtClean="0">
                          <a:latin typeface="Helvetica" pitchFamily="34" charset="0"/>
                        </a:rPr>
                        <a:t> expense</a:t>
                      </a:r>
                      <a:endParaRPr lang="en-AU" sz="1400" dirty="0">
                        <a:latin typeface="Helvetica" pitchFamily="34" charset="0"/>
                      </a:endParaRPr>
                    </a:p>
                  </a:txBody>
                  <a:tcPr/>
                </a:tc>
                <a:tc>
                  <a:txBody>
                    <a:bodyPr/>
                    <a:lstStyle/>
                    <a:p>
                      <a:pPr algn="r"/>
                      <a:r>
                        <a:rPr lang="en-AU" sz="1400" dirty="0" smtClean="0">
                          <a:latin typeface="Helvetica" pitchFamily="34" charset="0"/>
                        </a:rPr>
                        <a:t>950</a:t>
                      </a:r>
                      <a:endParaRPr lang="en-AU" sz="1400" dirty="0">
                        <a:latin typeface="Helvetica" pitchFamily="34" charset="0"/>
                      </a:endParaRPr>
                    </a:p>
                  </a:txBody>
                  <a:tcPr/>
                </a:tc>
                <a:tc>
                  <a:txBody>
                    <a:bodyPr/>
                    <a:lstStyle/>
                    <a:p>
                      <a:pPr algn="r"/>
                      <a:endParaRPr lang="en-AU" sz="1400" dirty="0">
                        <a:latin typeface="Helvetica" pitchFamily="34" charset="0"/>
                      </a:endParaRPr>
                    </a:p>
                  </a:txBody>
                  <a:tcPr/>
                </a:tc>
              </a:tr>
              <a:tr h="290715">
                <a:tc>
                  <a:txBody>
                    <a:bodyPr/>
                    <a:lstStyle/>
                    <a:p>
                      <a:r>
                        <a:rPr lang="en-AU" sz="1400" dirty="0" smtClean="0">
                          <a:latin typeface="Helvetica" pitchFamily="34" charset="0"/>
                        </a:rPr>
                        <a:t>Electricity &amp; gas</a:t>
                      </a:r>
                      <a:endParaRPr lang="en-AU" sz="1400" dirty="0">
                        <a:latin typeface="Helvetica" pitchFamily="34" charset="0"/>
                      </a:endParaRPr>
                    </a:p>
                  </a:txBody>
                  <a:tcPr/>
                </a:tc>
                <a:tc>
                  <a:txBody>
                    <a:bodyPr/>
                    <a:lstStyle/>
                    <a:p>
                      <a:pPr algn="r"/>
                      <a:r>
                        <a:rPr lang="en-AU" sz="1400" dirty="0" smtClean="0">
                          <a:latin typeface="Helvetica" pitchFamily="34" charset="0"/>
                        </a:rPr>
                        <a:t>400</a:t>
                      </a:r>
                      <a:endParaRPr lang="en-AU" sz="1400" dirty="0">
                        <a:latin typeface="Helvetica" pitchFamily="34" charset="0"/>
                      </a:endParaRPr>
                    </a:p>
                  </a:txBody>
                  <a:tcPr/>
                </a:tc>
                <a:tc>
                  <a:txBody>
                    <a:bodyPr/>
                    <a:lstStyle/>
                    <a:p>
                      <a:pPr algn="r"/>
                      <a:endParaRPr lang="en-AU" sz="1400" dirty="0">
                        <a:latin typeface="Helvetica" pitchFamily="34" charset="0"/>
                      </a:endParaRPr>
                    </a:p>
                  </a:txBody>
                  <a:tcPr/>
                </a:tc>
              </a:tr>
              <a:tr h="290715">
                <a:tc>
                  <a:txBody>
                    <a:bodyPr/>
                    <a:lstStyle/>
                    <a:p>
                      <a:endParaRPr lang="en-AU" sz="1400" dirty="0">
                        <a:latin typeface="Helvetica" pitchFamily="34" charset="0"/>
                      </a:endParaRPr>
                    </a:p>
                  </a:txBody>
                  <a:tcPr/>
                </a:tc>
                <a:tc>
                  <a:txBody>
                    <a:bodyPr/>
                    <a:lstStyle/>
                    <a:p>
                      <a:pPr algn="r"/>
                      <a:r>
                        <a:rPr lang="en-AU" sz="1400" b="1" dirty="0" smtClean="0">
                          <a:latin typeface="Helvetica" pitchFamily="34" charset="0"/>
                        </a:rPr>
                        <a:t>51,800</a:t>
                      </a:r>
                      <a:endParaRPr lang="en-AU" sz="1400" b="1" dirty="0">
                        <a:latin typeface="Helvetica" pitchFamily="34" charset="0"/>
                      </a:endParaRPr>
                    </a:p>
                  </a:txBody>
                  <a:tcPr/>
                </a:tc>
                <a:tc>
                  <a:txBody>
                    <a:bodyPr/>
                    <a:lstStyle/>
                    <a:p>
                      <a:pPr algn="r"/>
                      <a:r>
                        <a:rPr lang="en-AU" sz="1400" b="1" dirty="0" smtClean="0">
                          <a:latin typeface="Helvetica" pitchFamily="34" charset="0"/>
                        </a:rPr>
                        <a:t>51,800</a:t>
                      </a:r>
                      <a:endParaRPr lang="en-AU" sz="1400" b="1" dirty="0">
                        <a:latin typeface="Helvetica" pitchFamily="34" charset="0"/>
                      </a:endParaRPr>
                    </a:p>
                  </a:txBody>
                  <a:tcPr/>
                </a:tc>
              </a:tr>
            </a:tbl>
          </a:graphicData>
        </a:graphic>
      </p:graphicFrame>
    </p:spTree>
    <p:extLst>
      <p:ext uri="{BB962C8B-B14F-4D97-AF65-F5344CB8AC3E}">
        <p14:creationId xmlns:p14="http://schemas.microsoft.com/office/powerpoint/2010/main" val="367674304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Balancing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The trial balance:</a:t>
            </a:r>
          </a:p>
          <a:p>
            <a:pPr marL="360000" indent="-360000">
              <a:spcBef>
                <a:spcPts val="600"/>
              </a:spcBef>
              <a:spcAft>
                <a:spcPts val="1200"/>
              </a:spcAft>
              <a:buClr>
                <a:srgbClr val="7FD13B"/>
              </a:buClr>
            </a:pPr>
            <a:r>
              <a:rPr lang="en-AU" sz="2200" dirty="0" smtClean="0">
                <a:latin typeface="Helvetica" pitchFamily="34" charset="0"/>
              </a:rPr>
              <a:t>Correcting errors: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Debits = Credits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Posting errors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Missing transactions</a:t>
            </a:r>
          </a:p>
          <a:p>
            <a:pPr marL="360000" indent="-360000">
              <a:spcBef>
                <a:spcPts val="600"/>
              </a:spcBef>
              <a:spcAft>
                <a:spcPts val="1200"/>
              </a:spcAft>
              <a:buClr>
                <a:srgbClr val="7FD13B"/>
              </a:buClr>
            </a:pPr>
            <a:r>
              <a:rPr lang="en-AU" sz="2200" dirty="0" smtClean="0">
                <a:latin typeface="Helvetica" pitchFamily="34" charset="0"/>
              </a:rPr>
              <a:t>Checklist activity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descr="freeimage-2606219.jpg"/>
          <p:cNvPicPr>
            <a:picLocks noChangeAspect="1"/>
          </p:cNvPicPr>
          <p:nvPr/>
        </p:nvPicPr>
        <p:blipFill>
          <a:blip r:embed="rId3" cstate="print"/>
          <a:stretch>
            <a:fillRect/>
          </a:stretch>
        </p:blipFill>
        <p:spPr>
          <a:xfrm>
            <a:off x="6444208" y="4194876"/>
            <a:ext cx="1989320" cy="1310958"/>
          </a:xfrm>
          <a:prstGeom prst="rect">
            <a:avLst/>
          </a:prstGeom>
        </p:spPr>
      </p:pic>
    </p:spTree>
    <p:extLst>
      <p:ext uri="{BB962C8B-B14F-4D97-AF65-F5344CB8AC3E}">
        <p14:creationId xmlns:p14="http://schemas.microsoft.com/office/powerpoint/2010/main" val="51281145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Balancing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72608"/>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Adjusting entries:</a:t>
            </a:r>
          </a:p>
          <a:p>
            <a:pPr marL="360000" indent="-360000">
              <a:spcBef>
                <a:spcPts val="600"/>
              </a:spcBef>
              <a:spcAft>
                <a:spcPts val="1200"/>
              </a:spcAft>
              <a:buClr>
                <a:srgbClr val="7FD13B"/>
              </a:buClr>
            </a:pPr>
            <a:r>
              <a:rPr lang="en-AU" sz="2200" dirty="0" smtClean="0">
                <a:latin typeface="Helvetica" pitchFamily="34" charset="0"/>
              </a:rPr>
              <a:t>What are they?</a:t>
            </a:r>
          </a:p>
          <a:p>
            <a:pPr marL="360000" indent="-360000">
              <a:spcBef>
                <a:spcPts val="600"/>
              </a:spcBef>
              <a:spcAft>
                <a:spcPts val="1200"/>
              </a:spcAft>
              <a:buClr>
                <a:srgbClr val="7FD13B"/>
              </a:buClr>
            </a:pPr>
            <a:r>
              <a:rPr lang="en-AU" sz="2200" dirty="0" smtClean="0">
                <a:latin typeface="Helvetica" pitchFamily="34" charset="0"/>
              </a:rPr>
              <a:t>Alternative terms: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Balance day adjustments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Accruals and prepayments</a:t>
            </a:r>
          </a:p>
          <a:p>
            <a:pPr marL="360000" indent="-360000">
              <a:spcBef>
                <a:spcPts val="600"/>
              </a:spcBef>
              <a:spcAft>
                <a:spcPts val="1200"/>
              </a:spcAft>
              <a:buClr>
                <a:srgbClr val="7FD13B"/>
              </a:buClr>
            </a:pPr>
            <a:r>
              <a:rPr lang="en-AU" sz="2200" dirty="0" smtClean="0">
                <a:latin typeface="Helvetica" pitchFamily="34" charset="0"/>
              </a:rPr>
              <a:t>Timing</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6" name="Picture 5" descr="MP900407205.JPG"/>
          <p:cNvPicPr>
            <a:picLocks noChangeAspect="1"/>
          </p:cNvPicPr>
          <p:nvPr/>
        </p:nvPicPr>
        <p:blipFill>
          <a:blip r:embed="rId3" cstate="print"/>
          <a:stretch>
            <a:fillRect/>
          </a:stretch>
        </p:blipFill>
        <p:spPr>
          <a:xfrm>
            <a:off x="6660232" y="3933056"/>
            <a:ext cx="1771670" cy="1421779"/>
          </a:xfrm>
          <a:prstGeom prst="rect">
            <a:avLst/>
          </a:prstGeom>
        </p:spPr>
      </p:pic>
    </p:spTree>
    <p:extLst>
      <p:ext uri="{BB962C8B-B14F-4D97-AF65-F5344CB8AC3E}">
        <p14:creationId xmlns:p14="http://schemas.microsoft.com/office/powerpoint/2010/main" val="70703825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Balancing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886003"/>
          </a:xfrm>
        </p:spPr>
        <p:txBody>
          <a:bodyPr>
            <a:normAutofit/>
          </a:bodyPr>
          <a:lstStyle/>
          <a:p>
            <a:pPr marL="0" indent="0">
              <a:spcBef>
                <a:spcPts val="600"/>
              </a:spcBef>
              <a:spcAft>
                <a:spcPts val="1200"/>
              </a:spcAft>
              <a:buNone/>
            </a:pPr>
            <a:r>
              <a:rPr lang="en-US" sz="2000" b="1" dirty="0" smtClean="0">
                <a:latin typeface="Helvetica" pitchFamily="34" charset="0"/>
              </a:rPr>
              <a:t>The trial balance worksheet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32323132"/>
              </p:ext>
            </p:extLst>
          </p:nvPr>
        </p:nvGraphicFramePr>
        <p:xfrm>
          <a:off x="683568" y="1628800"/>
          <a:ext cx="5472608" cy="4950911"/>
        </p:xfrm>
        <a:graphic>
          <a:graphicData uri="http://schemas.openxmlformats.org/presentationml/2006/ole">
            <mc:AlternateContent xmlns:mc="http://schemas.openxmlformats.org/markup-compatibility/2006">
              <mc:Choice xmlns:v="urn:schemas-microsoft-com:vml" Requires="v">
                <p:oleObj spid="_x0000_s16392" name="Worksheet" r:id="rId5" imgW="11531176" imgH="7784813" progId="Excel.Sheet.12">
                  <p:embed/>
                </p:oleObj>
              </mc:Choice>
              <mc:Fallback>
                <p:oleObj name="Worksheet" r:id="rId5" imgW="11531176" imgH="7784813" progId="Excel.Sheet.12">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568" y="1628800"/>
                        <a:ext cx="5472608" cy="49509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3214889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Balancing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Adjusting entries:</a:t>
            </a:r>
          </a:p>
          <a:p>
            <a:pPr marL="360000" indent="-360000">
              <a:spcBef>
                <a:spcPts val="600"/>
              </a:spcBef>
              <a:spcAft>
                <a:spcPts val="1200"/>
              </a:spcAft>
              <a:buClr>
                <a:srgbClr val="7FD13B"/>
              </a:buClr>
            </a:pPr>
            <a:r>
              <a:rPr lang="en-AU" sz="2200" dirty="0" smtClean="0">
                <a:latin typeface="Helvetica" pitchFamily="34" charset="0"/>
              </a:rPr>
              <a:t>Unearned revenue</a:t>
            </a:r>
          </a:p>
          <a:p>
            <a:pPr marL="360000" indent="-360000">
              <a:spcBef>
                <a:spcPts val="600"/>
              </a:spcBef>
              <a:spcAft>
                <a:spcPts val="1200"/>
              </a:spcAft>
              <a:buClr>
                <a:srgbClr val="7FD13B"/>
              </a:buClr>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7" name="Picture 6"/>
          <p:cNvPicPr>
            <a:picLocks noChangeAspect="1"/>
          </p:cNvPicPr>
          <p:nvPr/>
        </p:nvPicPr>
        <p:blipFill>
          <a:blip r:embed="rId3" cstate="print"/>
          <a:stretch>
            <a:fillRect/>
          </a:stretch>
        </p:blipFill>
        <p:spPr>
          <a:xfrm>
            <a:off x="611560" y="2348880"/>
            <a:ext cx="6921500" cy="1803400"/>
          </a:xfrm>
          <a:prstGeom prst="rect">
            <a:avLst/>
          </a:prstGeom>
        </p:spPr>
      </p:pic>
    </p:spTree>
    <p:extLst>
      <p:ext uri="{BB962C8B-B14F-4D97-AF65-F5344CB8AC3E}">
        <p14:creationId xmlns:p14="http://schemas.microsoft.com/office/powerpoint/2010/main" val="55916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Balancing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Adjusting entries:</a:t>
            </a:r>
          </a:p>
          <a:p>
            <a:pPr marL="360000" indent="-360000">
              <a:spcBef>
                <a:spcPts val="600"/>
              </a:spcBef>
              <a:spcAft>
                <a:spcPts val="1200"/>
              </a:spcAft>
              <a:buClr>
                <a:srgbClr val="7FD13B"/>
              </a:buClr>
            </a:pPr>
            <a:r>
              <a:rPr lang="en-AU" sz="2200" dirty="0" smtClean="0">
                <a:latin typeface="Helvetica" pitchFamily="34" charset="0"/>
              </a:rPr>
              <a:t>Prepayments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630199011"/>
              </p:ext>
            </p:extLst>
          </p:nvPr>
        </p:nvGraphicFramePr>
        <p:xfrm>
          <a:off x="683568" y="2420888"/>
          <a:ext cx="7200800" cy="1800200"/>
        </p:xfrm>
        <a:graphic>
          <a:graphicData uri="http://schemas.openxmlformats.org/drawingml/2006/table">
            <a:tbl>
              <a:tblPr/>
              <a:tblGrid>
                <a:gridCol w="1063902"/>
                <a:gridCol w="2893294"/>
                <a:gridCol w="1595853"/>
                <a:gridCol w="1647751"/>
              </a:tblGrid>
              <a:tr h="716834">
                <a:tc gridSpan="4">
                  <a:txBody>
                    <a:bodyPr/>
                    <a:lstStyle/>
                    <a:p>
                      <a:pPr algn="l" fontAlgn="b"/>
                      <a:r>
                        <a:rPr lang="en-US" sz="1400" b="1" i="0" u="none" strike="noStrike" dirty="0">
                          <a:effectLst/>
                          <a:latin typeface="Arial"/>
                        </a:rPr>
                        <a:t> </a:t>
                      </a:r>
                    </a:p>
                    <a:p>
                      <a:pPr algn="ctr" fontAlgn="b"/>
                      <a:r>
                        <a:rPr lang="en-US" sz="1400" b="1" i="0" u="none" strike="noStrike" dirty="0">
                          <a:effectLst/>
                          <a:latin typeface="Arial"/>
                        </a:rPr>
                        <a:t> </a:t>
                      </a:r>
                      <a:r>
                        <a:rPr lang="en-US" sz="1400" b="1" i="0" u="none" strike="noStrike" dirty="0" smtClean="0">
                          <a:effectLst/>
                          <a:latin typeface="Arial"/>
                        </a:rPr>
                        <a:t>General Journal</a:t>
                      </a:r>
                    </a:p>
                    <a:p>
                      <a:pPr algn="r" fontAlgn="b"/>
                      <a:r>
                        <a:rPr lang="en-US" sz="1400" b="1" i="0" u="none" strike="noStrike" dirty="0">
                          <a:effectLst/>
                          <a:latin typeface="Arial"/>
                        </a:rPr>
                        <a:t> </a:t>
                      </a: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l" fontAlgn="b"/>
                      <a:endParaRPr lang="en-US" sz="1400" b="1" i="0" u="none" strike="noStrike">
                        <a:effectLst/>
                        <a:latin typeface="Arial"/>
                      </a:endParaRP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r" fontAlgn="b"/>
                      <a:endParaRPr lang="en-US" sz="1400" b="1" i="0" u="none" strike="noStrike" dirty="0">
                        <a:effectLst/>
                        <a:latin typeface="Arial"/>
                      </a:endParaRP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r" fontAlgn="b"/>
                      <a:endParaRPr lang="en-US" sz="1400" b="1" i="0" u="none" strike="noStrike" dirty="0">
                        <a:effectLst/>
                        <a:latin typeface="Arial"/>
                      </a:endParaRP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1122">
                <a:tc>
                  <a:txBody>
                    <a:bodyPr/>
                    <a:lstStyle/>
                    <a:p>
                      <a:pPr algn="l" fontAlgn="b"/>
                      <a:r>
                        <a:rPr lang="en-US" sz="1400" b="1" i="0" u="none" strike="noStrike" dirty="0" smtClean="0">
                          <a:effectLst/>
                          <a:latin typeface="Arial"/>
                        </a:rPr>
                        <a:t>DATE</a:t>
                      </a:r>
                      <a:r>
                        <a:rPr lang="en-US" sz="1400" b="1" i="0" u="none" strike="noStrike" baseline="0" dirty="0" smtClean="0">
                          <a:effectLst/>
                          <a:latin typeface="Arial"/>
                        </a:rPr>
                        <a:t> </a:t>
                      </a:r>
                      <a:endParaRPr lang="en-US" sz="1400" b="1" i="0" u="none" strike="noStrike" dirty="0">
                        <a:effectLst/>
                        <a:latin typeface="Arial"/>
                      </a:endParaRP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smtClean="0">
                          <a:effectLst/>
                          <a:latin typeface="Arial"/>
                        </a:rPr>
                        <a:t>Rent</a:t>
                      </a:r>
                      <a:r>
                        <a:rPr lang="en-US" sz="1400" b="1" i="0" u="none" strike="noStrike" baseline="0" dirty="0" smtClean="0">
                          <a:effectLst/>
                          <a:latin typeface="Arial"/>
                        </a:rPr>
                        <a:t> expense</a:t>
                      </a:r>
                      <a:endParaRPr lang="en-US" sz="1400" b="1" i="0" u="none" strike="noStrike" dirty="0">
                        <a:effectLst/>
                        <a:latin typeface="Arial"/>
                      </a:endParaRP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1" i="0" u="none" strike="noStrike" dirty="0" smtClean="0">
                          <a:effectLst/>
                          <a:latin typeface="Arial"/>
                        </a:rPr>
                        <a:t>1,000.00</a:t>
                      </a:r>
                      <a:endParaRPr lang="en-US" sz="1400" b="1" i="0" u="none" strike="noStrike" dirty="0">
                        <a:effectLst/>
                        <a:latin typeface="Arial"/>
                      </a:endParaRP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1" i="0" u="none" strike="noStrike" dirty="0">
                          <a:effectLst/>
                          <a:latin typeface="Arial"/>
                        </a:rPr>
                        <a:t> </a:t>
                      </a: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1122">
                <a:tc>
                  <a:txBody>
                    <a:bodyPr/>
                    <a:lstStyle/>
                    <a:p>
                      <a:pPr algn="l" fontAlgn="b"/>
                      <a:r>
                        <a:rPr lang="en-US" sz="1400" b="1" i="0" u="none" strike="noStrike" dirty="0">
                          <a:effectLst/>
                          <a:latin typeface="Arial"/>
                        </a:rPr>
                        <a:t> </a:t>
                      </a: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smtClean="0">
                          <a:effectLst/>
                          <a:latin typeface="Arial"/>
                        </a:rPr>
                        <a:t>Prepaid Rent</a:t>
                      </a:r>
                      <a:endParaRPr lang="en-US" sz="1400" b="1" i="0" u="none" strike="noStrike" dirty="0">
                        <a:effectLst/>
                        <a:latin typeface="Arial"/>
                      </a:endParaRP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1" i="0" u="none" strike="noStrike" dirty="0">
                          <a:effectLst/>
                          <a:latin typeface="Arial"/>
                        </a:rPr>
                        <a:t> </a:t>
                      </a: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1" i="0" u="none" strike="noStrike" dirty="0" smtClean="0">
                          <a:effectLst/>
                          <a:latin typeface="Arial"/>
                        </a:rPr>
                        <a:t>1,000.00</a:t>
                      </a:r>
                      <a:endParaRPr lang="en-US" sz="1400" b="1" i="0" u="none" strike="noStrike" dirty="0">
                        <a:effectLst/>
                        <a:latin typeface="Arial"/>
                      </a:endParaRP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1122">
                <a:tc>
                  <a:txBody>
                    <a:bodyPr/>
                    <a:lstStyle/>
                    <a:p>
                      <a:pPr algn="l" fontAlgn="b"/>
                      <a:r>
                        <a:rPr lang="en-US" sz="1400" b="1" i="0" u="none" strike="noStrike" dirty="0">
                          <a:effectLst/>
                          <a:latin typeface="Arial"/>
                        </a:rPr>
                        <a:t> </a:t>
                      </a: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smtClean="0">
                          <a:effectLst/>
                          <a:latin typeface="Arial"/>
                        </a:rPr>
                        <a:t>(1 </a:t>
                      </a:r>
                      <a:r>
                        <a:rPr lang="en-US" sz="1400" b="1" i="0" u="none" strike="noStrike" dirty="0">
                          <a:effectLst/>
                          <a:latin typeface="Arial"/>
                        </a:rPr>
                        <a:t>months </a:t>
                      </a:r>
                      <a:r>
                        <a:rPr lang="en-US" sz="1400" b="1" i="0" u="none" strike="noStrike" dirty="0" smtClean="0">
                          <a:effectLst/>
                          <a:latin typeface="Arial"/>
                        </a:rPr>
                        <a:t>Rent)</a:t>
                      </a:r>
                      <a:endParaRPr lang="en-US" sz="1400" b="1" i="0" u="none" strike="noStrike" dirty="0">
                        <a:effectLst/>
                        <a:latin typeface="Arial"/>
                      </a:endParaRP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1" i="0" u="none" strike="noStrike" dirty="0">
                          <a:effectLst/>
                          <a:latin typeface="Arial"/>
                        </a:rPr>
                        <a:t> </a:t>
                      </a: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1" i="0" u="none" strike="noStrike" dirty="0">
                          <a:effectLst/>
                          <a:latin typeface="Arial"/>
                        </a:rPr>
                        <a:t> </a:t>
                      </a:r>
                    </a:p>
                  </a:txBody>
                  <a:tcPr marL="7341" marR="7341" marT="73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66248549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Balancing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Adjusting entries:</a:t>
            </a:r>
          </a:p>
          <a:p>
            <a:pPr marL="360000" indent="-360000">
              <a:spcBef>
                <a:spcPts val="600"/>
              </a:spcBef>
              <a:spcAft>
                <a:spcPts val="1200"/>
              </a:spcAft>
              <a:buClr>
                <a:srgbClr val="7FD13B"/>
              </a:buClr>
            </a:pPr>
            <a:r>
              <a:rPr lang="en-AU" sz="2200" dirty="0" smtClean="0">
                <a:latin typeface="Helvetica" pitchFamily="34" charset="0"/>
              </a:rPr>
              <a:t>Accrued expenses</a:t>
            </a:r>
          </a:p>
          <a:p>
            <a:pPr marL="360000" indent="-360000">
              <a:spcBef>
                <a:spcPts val="600"/>
              </a:spcBef>
              <a:spcAft>
                <a:spcPts val="1200"/>
              </a:spcAft>
              <a:buClr>
                <a:srgbClr val="7FD13B"/>
              </a:buClr>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4"/>
          <p:cNvPicPr>
            <a:picLocks noChangeAspect="1"/>
          </p:cNvPicPr>
          <p:nvPr/>
        </p:nvPicPr>
        <p:blipFill>
          <a:blip r:embed="rId3" cstate="print"/>
          <a:stretch>
            <a:fillRect/>
          </a:stretch>
        </p:blipFill>
        <p:spPr>
          <a:xfrm>
            <a:off x="683568" y="2420888"/>
            <a:ext cx="6921500" cy="1676400"/>
          </a:xfrm>
          <a:prstGeom prst="rect">
            <a:avLst/>
          </a:prstGeom>
        </p:spPr>
      </p:pic>
    </p:spTree>
    <p:extLst>
      <p:ext uri="{BB962C8B-B14F-4D97-AF65-F5344CB8AC3E}">
        <p14:creationId xmlns:p14="http://schemas.microsoft.com/office/powerpoint/2010/main" val="330061462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Balancing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Adjusting entries</a:t>
            </a:r>
          </a:p>
          <a:p>
            <a:pPr marL="360000" indent="-360000">
              <a:spcBef>
                <a:spcPts val="600"/>
              </a:spcBef>
              <a:spcAft>
                <a:spcPts val="1200"/>
              </a:spcAft>
              <a:buClr>
                <a:srgbClr val="7FD13B"/>
              </a:buClr>
            </a:pPr>
            <a:r>
              <a:rPr lang="en-AU" sz="2200" dirty="0" smtClean="0">
                <a:latin typeface="Helvetica" pitchFamily="34" charset="0"/>
              </a:rPr>
              <a:t>Depreciation</a:t>
            </a:r>
          </a:p>
          <a:p>
            <a:pPr marL="360000" indent="-360000">
              <a:spcBef>
                <a:spcPts val="600"/>
              </a:spcBef>
              <a:spcAft>
                <a:spcPts val="1200"/>
              </a:spcAft>
              <a:buClr>
                <a:srgbClr val="7FD13B"/>
              </a:buClr>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5" name="Picture 4"/>
          <p:cNvPicPr>
            <a:picLocks noChangeAspect="1"/>
          </p:cNvPicPr>
          <p:nvPr/>
        </p:nvPicPr>
        <p:blipFill>
          <a:blip r:embed="rId3" cstate="print"/>
          <a:stretch>
            <a:fillRect/>
          </a:stretch>
        </p:blipFill>
        <p:spPr>
          <a:xfrm>
            <a:off x="683568" y="2420888"/>
            <a:ext cx="6921500" cy="1676400"/>
          </a:xfrm>
          <a:prstGeom prst="rect">
            <a:avLst/>
          </a:prstGeom>
        </p:spPr>
      </p:pic>
    </p:spTree>
    <p:extLst>
      <p:ext uri="{BB962C8B-B14F-4D97-AF65-F5344CB8AC3E}">
        <p14:creationId xmlns:p14="http://schemas.microsoft.com/office/powerpoint/2010/main" val="176548613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Check balances prepared by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24136"/>
            <a:ext cx="7467600" cy="5661248"/>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Checking balances:</a:t>
            </a:r>
          </a:p>
          <a:p>
            <a:pPr marL="360000" indent="-360000">
              <a:spcBef>
                <a:spcPts val="600"/>
              </a:spcBef>
              <a:spcAft>
                <a:spcPts val="1200"/>
              </a:spcAft>
              <a:buClr>
                <a:srgbClr val="7FD13B"/>
              </a:buClr>
            </a:pPr>
            <a:r>
              <a:rPr lang="en-AU" sz="2200" dirty="0" smtClean="0">
                <a:latin typeface="Helvetica" pitchFamily="34" charset="0"/>
              </a:rPr>
              <a:t>Special journals: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Separate recording responsibilities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Review journal balances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Post to the ledger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5" name="Picture 4" descr="MP900399836.JPG"/>
          <p:cNvPicPr>
            <a:picLocks noChangeAspect="1"/>
          </p:cNvPicPr>
          <p:nvPr/>
        </p:nvPicPr>
        <p:blipFill>
          <a:blip r:embed="rId3" cstate="print"/>
          <a:srcRect l="15829" r="11360"/>
          <a:stretch>
            <a:fillRect/>
          </a:stretch>
        </p:blipFill>
        <p:spPr>
          <a:xfrm>
            <a:off x="6444208" y="3429000"/>
            <a:ext cx="1800200" cy="1655092"/>
          </a:xfrm>
          <a:prstGeom prst="rect">
            <a:avLst/>
          </a:prstGeom>
        </p:spPr>
      </p:pic>
    </p:spTree>
    <p:extLst>
      <p:ext uri="{BB962C8B-B14F-4D97-AF65-F5344CB8AC3E}">
        <p14:creationId xmlns:p14="http://schemas.microsoft.com/office/powerpoint/2010/main" val="342931268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Check balances prepared by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Checking balances:</a:t>
            </a:r>
          </a:p>
          <a:p>
            <a:pPr marL="360000" indent="-360000">
              <a:spcBef>
                <a:spcPts val="600"/>
              </a:spcBef>
              <a:spcAft>
                <a:spcPts val="1200"/>
              </a:spcAft>
              <a:buClr>
                <a:srgbClr val="7FD13B"/>
              </a:buClr>
            </a:pPr>
            <a:r>
              <a:rPr lang="en-AU" sz="2200" dirty="0" smtClean="0">
                <a:latin typeface="Helvetica" pitchFamily="34" charset="0"/>
              </a:rPr>
              <a:t>Subsidiary ledgers: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What is a subsidiary ledger?</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Why are they used?</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What is a control account?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Common examples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4" descr="Doc Checking.jpg"/>
          <p:cNvPicPr>
            <a:picLocks noChangeAspect="1"/>
          </p:cNvPicPr>
          <p:nvPr/>
        </p:nvPicPr>
        <p:blipFill>
          <a:blip r:embed="rId3" cstate="print"/>
          <a:stretch>
            <a:fillRect/>
          </a:stretch>
        </p:blipFill>
        <p:spPr>
          <a:xfrm>
            <a:off x="6948264" y="2852936"/>
            <a:ext cx="1182857" cy="2160000"/>
          </a:xfrm>
          <a:prstGeom prst="rect">
            <a:avLst/>
          </a:prstGeom>
        </p:spPr>
      </p:pic>
    </p:spTree>
    <p:extLst>
      <p:ext uri="{BB962C8B-B14F-4D97-AF65-F5344CB8AC3E}">
        <p14:creationId xmlns:p14="http://schemas.microsoft.com/office/powerpoint/2010/main" val="349618561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Check balances prepared by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72608"/>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Checking balances:</a:t>
            </a:r>
          </a:p>
          <a:p>
            <a:pPr marL="360000" indent="-360000">
              <a:spcBef>
                <a:spcPts val="600"/>
              </a:spcBef>
              <a:spcAft>
                <a:spcPts val="1200"/>
              </a:spcAft>
              <a:buClr>
                <a:srgbClr val="7FD13B"/>
              </a:buClr>
            </a:pPr>
            <a:r>
              <a:rPr lang="en-AU" sz="2200" dirty="0" smtClean="0">
                <a:latin typeface="Helvetica" pitchFamily="34" charset="0"/>
              </a:rPr>
              <a:t>Reconciling the subsidiary ledgers: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What is a reconciliation?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Reconciliation report or document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Timing</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Investigate and resolve differences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descr="MC900048272.WMF"/>
          <p:cNvPicPr>
            <a:picLocks noChangeAspect="1"/>
          </p:cNvPicPr>
          <p:nvPr/>
        </p:nvPicPr>
        <p:blipFill>
          <a:blip r:embed="rId3" cstate="print"/>
          <a:stretch>
            <a:fillRect/>
          </a:stretch>
        </p:blipFill>
        <p:spPr>
          <a:xfrm>
            <a:off x="6660232" y="3212976"/>
            <a:ext cx="1763878" cy="1980590"/>
          </a:xfrm>
          <a:prstGeom prst="rect">
            <a:avLst/>
          </a:prstGeom>
        </p:spPr>
      </p:pic>
    </p:spTree>
    <p:extLst>
      <p:ext uri="{BB962C8B-B14F-4D97-AF65-F5344CB8AC3E}">
        <p14:creationId xmlns:p14="http://schemas.microsoft.com/office/powerpoint/2010/main" val="262339001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Check balances prepared by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544616"/>
          </a:xfrm>
        </p:spPr>
        <p:txBody>
          <a:bodyPr>
            <a:normAutofit/>
          </a:bodyPr>
          <a:lstStyle/>
          <a:p>
            <a:pPr marL="0" indent="0">
              <a:spcBef>
                <a:spcPts val="600"/>
              </a:spcBef>
              <a:spcAft>
                <a:spcPts val="1200"/>
              </a:spcAft>
              <a:buNone/>
            </a:pPr>
            <a:r>
              <a:rPr lang="en-AU" sz="2200" dirty="0" smtClean="0">
                <a:latin typeface="Helvetica" pitchFamily="34" charset="0"/>
              </a:rPr>
              <a:t>Checking balances:</a:t>
            </a:r>
          </a:p>
          <a:p>
            <a:pPr marL="360000" indent="-360000">
              <a:spcBef>
                <a:spcPts val="600"/>
              </a:spcBef>
              <a:spcAft>
                <a:spcPts val="1200"/>
              </a:spcAft>
              <a:buClr>
                <a:srgbClr val="7FD13B"/>
              </a:buClr>
            </a:pPr>
            <a:r>
              <a:rPr lang="en-AU" sz="2200" dirty="0" smtClean="0">
                <a:latin typeface="Helvetica" pitchFamily="34" charset="0"/>
              </a:rPr>
              <a:t>Accounts receivable subsidiary ledger:</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Sales and Cash receipts journal</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Monitor debtor accounts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5" name="Picture 4" descr="Receipts.jpg"/>
          <p:cNvPicPr>
            <a:picLocks noChangeAspect="1"/>
          </p:cNvPicPr>
          <p:nvPr/>
        </p:nvPicPr>
        <p:blipFill>
          <a:blip r:embed="rId3" cstate="print"/>
          <a:stretch>
            <a:fillRect/>
          </a:stretch>
        </p:blipFill>
        <p:spPr>
          <a:xfrm>
            <a:off x="6732240" y="4149080"/>
            <a:ext cx="1728192" cy="1152703"/>
          </a:xfrm>
          <a:prstGeom prst="rect">
            <a:avLst/>
          </a:prstGeom>
        </p:spPr>
      </p:pic>
    </p:spTree>
    <p:extLst>
      <p:ext uri="{BB962C8B-B14F-4D97-AF65-F5344CB8AC3E}">
        <p14:creationId xmlns:p14="http://schemas.microsoft.com/office/powerpoint/2010/main" val="398347327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Check balances prepared by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28592"/>
          </a:xfrm>
        </p:spPr>
        <p:txBody>
          <a:bodyPr>
            <a:normAutofit/>
          </a:bodyPr>
          <a:lstStyle/>
          <a:p>
            <a:pPr marL="0" indent="0">
              <a:spcBef>
                <a:spcPts val="600"/>
              </a:spcBef>
              <a:spcAft>
                <a:spcPts val="1200"/>
              </a:spcAft>
              <a:buClr>
                <a:srgbClr val="7FD13B"/>
              </a:buClr>
              <a:buNone/>
            </a:pPr>
            <a:r>
              <a:rPr lang="en-US" sz="2200" dirty="0" smtClean="0">
                <a:latin typeface="Helvetica" pitchFamily="34" charset="0"/>
              </a:rPr>
              <a:t>Checking balances:</a:t>
            </a:r>
            <a:endParaRPr lang="en-US" sz="2200" dirty="0">
              <a:latin typeface="Helvetica" pitchFamily="34" charset="0"/>
            </a:endParaRPr>
          </a:p>
          <a:p>
            <a:pPr marL="360000" indent="-360000">
              <a:spcBef>
                <a:spcPts val="600"/>
              </a:spcBef>
              <a:spcAft>
                <a:spcPts val="1200"/>
              </a:spcAft>
              <a:buClr>
                <a:srgbClr val="7FD13B"/>
              </a:buClr>
            </a:pPr>
            <a:r>
              <a:rPr lang="en-US" sz="2200" dirty="0" smtClean="0">
                <a:latin typeface="Helvetica" pitchFamily="34" charset="0"/>
              </a:rPr>
              <a:t>Accounts payable subsidiary ledger:</a:t>
            </a:r>
            <a:endParaRPr lang="en-US" sz="2200" dirty="0">
              <a:latin typeface="Helvetica" pitchFamily="34" charset="0"/>
            </a:endParaRP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Purchases and cash payments journal</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Monitor cash flow</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descr="iStock_000003194010Medium.jpg"/>
          <p:cNvPicPr>
            <a:picLocks noChangeAspect="1"/>
          </p:cNvPicPr>
          <p:nvPr/>
        </p:nvPicPr>
        <p:blipFill>
          <a:blip r:embed="rId3" cstate="print"/>
          <a:stretch>
            <a:fillRect/>
          </a:stretch>
        </p:blipFill>
        <p:spPr>
          <a:xfrm>
            <a:off x="6372200" y="4149080"/>
            <a:ext cx="2045506" cy="1362466"/>
          </a:xfrm>
          <a:prstGeom prst="rect">
            <a:avLst/>
          </a:prstGeom>
        </p:spPr>
      </p:pic>
    </p:spTree>
    <p:extLst>
      <p:ext uri="{BB962C8B-B14F-4D97-AF65-F5344CB8AC3E}">
        <p14:creationId xmlns:p14="http://schemas.microsoft.com/office/powerpoint/2010/main" val="282359678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Check balances prepared by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79301"/>
            <a:ext cx="7467600" cy="4525963"/>
          </a:xfrm>
        </p:spPr>
        <p:txBody>
          <a:bodyPr>
            <a:normAutofit/>
          </a:bodyPr>
          <a:lstStyle/>
          <a:p>
            <a:pPr marL="0" indent="0">
              <a:spcBef>
                <a:spcPts val="600"/>
              </a:spcBef>
              <a:spcAft>
                <a:spcPts val="1200"/>
              </a:spcAft>
              <a:buNone/>
            </a:pPr>
            <a:r>
              <a:rPr lang="en-AU" sz="2200" dirty="0" smtClean="0">
                <a:latin typeface="Helvetica" pitchFamily="34" charset="0"/>
              </a:rPr>
              <a:t>Checking balances:</a:t>
            </a:r>
          </a:p>
          <a:p>
            <a:pPr marL="360000" indent="-360000">
              <a:spcBef>
                <a:spcPts val="600"/>
              </a:spcBef>
              <a:spcAft>
                <a:spcPts val="1200"/>
              </a:spcAft>
              <a:buClr>
                <a:srgbClr val="7FD13B"/>
              </a:buClr>
            </a:pPr>
            <a:r>
              <a:rPr lang="en-AU" sz="2200" dirty="0" smtClean="0">
                <a:latin typeface="Helvetica" pitchFamily="34" charset="0"/>
              </a:rPr>
              <a:t>Inventory subsidiary ledger:</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Purchases and cash payments journal</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Stocktake or stock counts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Independent verification of balances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descr="MP900409009.JPG"/>
          <p:cNvPicPr>
            <a:picLocks noChangeAspect="1"/>
          </p:cNvPicPr>
          <p:nvPr/>
        </p:nvPicPr>
        <p:blipFill>
          <a:blip r:embed="rId3" cstate="print"/>
          <a:stretch>
            <a:fillRect/>
          </a:stretch>
        </p:blipFill>
        <p:spPr>
          <a:xfrm>
            <a:off x="6731676" y="3933056"/>
            <a:ext cx="1694165" cy="1700808"/>
          </a:xfrm>
          <a:prstGeom prst="rect">
            <a:avLst/>
          </a:prstGeom>
        </p:spPr>
      </p:pic>
    </p:spTree>
    <p:extLst>
      <p:ext uri="{BB962C8B-B14F-4D97-AF65-F5344CB8AC3E}">
        <p14:creationId xmlns:p14="http://schemas.microsoft.com/office/powerpoint/2010/main" val="287608764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Check balances prepared by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24136"/>
            <a:ext cx="7467600" cy="5661248"/>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Checking balances:</a:t>
            </a:r>
          </a:p>
          <a:p>
            <a:pPr marL="360000" indent="-360000">
              <a:spcBef>
                <a:spcPts val="600"/>
              </a:spcBef>
              <a:spcAft>
                <a:spcPts val="1200"/>
              </a:spcAft>
              <a:buClr>
                <a:srgbClr val="7FD13B"/>
              </a:buClr>
            </a:pPr>
            <a:r>
              <a:rPr lang="en-AU" sz="2200" dirty="0" smtClean="0">
                <a:latin typeface="Helvetica" pitchFamily="34" charset="0"/>
              </a:rPr>
              <a:t>Fixed assets register:</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Purchases and cash payments journal</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Stocktake or stock counts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Independent verification of balances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6" name="Picture 5" descr="MC900048213.WMF"/>
          <p:cNvPicPr>
            <a:picLocks noChangeAspect="1"/>
          </p:cNvPicPr>
          <p:nvPr/>
        </p:nvPicPr>
        <p:blipFill>
          <a:blip r:embed="rId3" cstate="print"/>
          <a:stretch>
            <a:fillRect/>
          </a:stretch>
        </p:blipFill>
        <p:spPr>
          <a:xfrm>
            <a:off x="6516216" y="4005064"/>
            <a:ext cx="1915413" cy="1368152"/>
          </a:xfrm>
          <a:prstGeom prst="rect">
            <a:avLst/>
          </a:prstGeom>
        </p:spPr>
      </p:pic>
    </p:spTree>
    <p:extLst>
      <p:ext uri="{BB962C8B-B14F-4D97-AF65-F5344CB8AC3E}">
        <p14:creationId xmlns:p14="http://schemas.microsoft.com/office/powerpoint/2010/main" val="301380975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Check balances prepared by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72608"/>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The bank reconciliation:</a:t>
            </a:r>
          </a:p>
          <a:p>
            <a:pPr marL="360000" indent="-360000">
              <a:spcBef>
                <a:spcPts val="600"/>
              </a:spcBef>
              <a:spcAft>
                <a:spcPts val="1200"/>
              </a:spcAft>
              <a:buClr>
                <a:srgbClr val="7FD13B"/>
              </a:buClr>
            </a:pPr>
            <a:r>
              <a:rPr lang="en-AU" sz="2200" dirty="0" smtClean="0">
                <a:latin typeface="Helvetica" pitchFamily="34" charset="0"/>
              </a:rPr>
              <a:t>General ledger bank account: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Updated from cash journals and general journal</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Increases – debit, decreases – credit</a:t>
            </a:r>
          </a:p>
          <a:p>
            <a:pPr marL="360000" indent="-360000">
              <a:spcBef>
                <a:spcPts val="600"/>
              </a:spcBef>
              <a:spcAft>
                <a:spcPts val="1200"/>
              </a:spcAft>
              <a:buClr>
                <a:srgbClr val="7FD13B"/>
              </a:buClr>
            </a:pPr>
            <a:r>
              <a:rPr lang="en-AU" sz="2200" dirty="0" smtClean="0">
                <a:latin typeface="Helvetica" pitchFamily="34" charset="0"/>
              </a:rPr>
              <a:t>The bank statement: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Deposits and withdrawals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CAUTION – debits and credits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5" name="Picture 4" descr="MC900048213.WMF"/>
          <p:cNvPicPr>
            <a:picLocks noChangeAspect="1"/>
          </p:cNvPicPr>
          <p:nvPr/>
        </p:nvPicPr>
        <p:blipFill>
          <a:blip r:embed="rId3" cstate="print"/>
          <a:stretch>
            <a:fillRect/>
          </a:stretch>
        </p:blipFill>
        <p:spPr>
          <a:xfrm>
            <a:off x="6948264" y="4149080"/>
            <a:ext cx="1493789" cy="1198778"/>
          </a:xfrm>
          <a:prstGeom prst="rect">
            <a:avLst/>
          </a:prstGeom>
        </p:spPr>
      </p:pic>
    </p:spTree>
    <p:extLst>
      <p:ext uri="{BB962C8B-B14F-4D97-AF65-F5344CB8AC3E}">
        <p14:creationId xmlns:p14="http://schemas.microsoft.com/office/powerpoint/2010/main" val="77977119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Check balances prepared by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72608"/>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The bank reconciliation:</a:t>
            </a:r>
          </a:p>
          <a:p>
            <a:pPr marL="360000" indent="-360000">
              <a:spcBef>
                <a:spcPts val="600"/>
              </a:spcBef>
              <a:spcAft>
                <a:spcPts val="1200"/>
              </a:spcAft>
              <a:buClr>
                <a:srgbClr val="7FD13B"/>
              </a:buClr>
            </a:pPr>
            <a:r>
              <a:rPr lang="en-AU" sz="2200" dirty="0" smtClean="0">
                <a:latin typeface="Helvetica" pitchFamily="34" charset="0"/>
              </a:rPr>
              <a:t>Differences: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Timing</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Errors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Dishonoured payment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Other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 name="Picture 4" descr="Past due stamp.jpg"/>
          <p:cNvPicPr>
            <a:picLocks noChangeAspect="1"/>
          </p:cNvPicPr>
          <p:nvPr/>
        </p:nvPicPr>
        <p:blipFill>
          <a:blip r:embed="rId3" cstate="print"/>
          <a:stretch>
            <a:fillRect/>
          </a:stretch>
        </p:blipFill>
        <p:spPr>
          <a:xfrm>
            <a:off x="6228184" y="4052166"/>
            <a:ext cx="2168078" cy="1438583"/>
          </a:xfrm>
          <a:prstGeom prst="rect">
            <a:avLst/>
          </a:prstGeom>
        </p:spPr>
      </p:pic>
    </p:spTree>
    <p:extLst>
      <p:ext uri="{BB962C8B-B14F-4D97-AF65-F5344CB8AC3E}">
        <p14:creationId xmlns:p14="http://schemas.microsoft.com/office/powerpoint/2010/main" val="116819456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Check balances prepared by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992888" cy="5400600"/>
          </a:xfrm>
        </p:spPr>
        <p:txBody>
          <a:bodyPr>
            <a:normAutofit/>
          </a:bodyPr>
          <a:lstStyle/>
          <a:p>
            <a:pPr marL="0" indent="0">
              <a:spcBef>
                <a:spcPts val="600"/>
              </a:spcBef>
              <a:spcAft>
                <a:spcPts val="1200"/>
              </a:spcAft>
              <a:buClr>
                <a:srgbClr val="7FD13B"/>
              </a:buClr>
              <a:buNone/>
            </a:pPr>
            <a:r>
              <a:rPr lang="en-AU" sz="2000" dirty="0" smtClean="0">
                <a:latin typeface="Helvetica" pitchFamily="34" charset="0"/>
              </a:rPr>
              <a:t>The Bank reconciliation:</a:t>
            </a:r>
          </a:p>
          <a:p>
            <a:pPr marL="360000" indent="-360000">
              <a:spcBef>
                <a:spcPts val="600"/>
              </a:spcBef>
              <a:spcAft>
                <a:spcPts val="1200"/>
              </a:spcAft>
              <a:buClr>
                <a:srgbClr val="7FD13B"/>
              </a:buClr>
            </a:pPr>
            <a:r>
              <a:rPr lang="en-AU" sz="2000" dirty="0" smtClean="0">
                <a:latin typeface="Helvetica" pitchFamily="34" charset="0"/>
              </a:rPr>
              <a:t>Preparation:</a:t>
            </a:r>
          </a:p>
          <a:p>
            <a:pPr marL="712788" indent="-354013">
              <a:spcBef>
                <a:spcPts val="600"/>
              </a:spcBef>
              <a:spcAft>
                <a:spcPts val="1200"/>
              </a:spcAft>
              <a:buClr>
                <a:schemeClr val="tx1"/>
              </a:buClr>
              <a:buSzPct val="100000"/>
              <a:buFont typeface="+mj-lt"/>
              <a:buAutoNum type="arabicParenR"/>
            </a:pPr>
            <a:r>
              <a:rPr lang="en-AU" sz="2000" dirty="0" smtClean="0">
                <a:latin typeface="Helvetica" pitchFamily="34" charset="0"/>
              </a:rPr>
              <a:t>Gather information</a:t>
            </a:r>
          </a:p>
          <a:p>
            <a:pPr marL="712788" indent="-354013">
              <a:spcBef>
                <a:spcPts val="600"/>
              </a:spcBef>
              <a:spcAft>
                <a:spcPts val="1200"/>
              </a:spcAft>
              <a:buClr>
                <a:schemeClr val="tx1"/>
              </a:buClr>
              <a:buSzPct val="100000"/>
              <a:buFont typeface="+mj-lt"/>
              <a:buAutoNum type="arabicParenR"/>
            </a:pPr>
            <a:r>
              <a:rPr lang="en-AU" sz="2000" dirty="0" smtClean="0">
                <a:latin typeface="Helvetica" pitchFamily="34" charset="0"/>
              </a:rPr>
              <a:t>Enter balances into the bank reconciliation statement</a:t>
            </a:r>
          </a:p>
          <a:p>
            <a:pPr marL="712788" indent="-354013">
              <a:spcBef>
                <a:spcPts val="600"/>
              </a:spcBef>
              <a:spcAft>
                <a:spcPts val="1200"/>
              </a:spcAft>
              <a:buClr>
                <a:schemeClr val="tx1"/>
              </a:buClr>
              <a:buSzPct val="100000"/>
              <a:buFont typeface="+mj-lt"/>
              <a:buAutoNum type="arabicParenR"/>
            </a:pPr>
            <a:r>
              <a:rPr lang="en-AU" sz="2000" dirty="0" smtClean="0">
                <a:latin typeface="Helvetica" pitchFamily="34" charset="0"/>
              </a:rPr>
              <a:t>Check previous outstanding items are recorded</a:t>
            </a:r>
          </a:p>
          <a:p>
            <a:pPr marL="712788" indent="-354013">
              <a:spcBef>
                <a:spcPts val="600"/>
              </a:spcBef>
              <a:spcAft>
                <a:spcPts val="1200"/>
              </a:spcAft>
              <a:buClr>
                <a:schemeClr val="tx1"/>
              </a:buClr>
              <a:buSzPct val="100000"/>
              <a:buFont typeface="+mj-lt"/>
              <a:buAutoNum type="arabicParenR"/>
            </a:pPr>
            <a:r>
              <a:rPr lang="en-AU" sz="2000" dirty="0" smtClean="0">
                <a:latin typeface="Helvetica" pitchFamily="34" charset="0"/>
              </a:rPr>
              <a:t>Add or subtract from bank balance items in ledger account</a:t>
            </a:r>
          </a:p>
          <a:p>
            <a:pPr marL="712788" indent="-354013">
              <a:spcBef>
                <a:spcPts val="600"/>
              </a:spcBef>
              <a:spcAft>
                <a:spcPts val="1200"/>
              </a:spcAft>
              <a:buClr>
                <a:schemeClr val="tx1"/>
              </a:buClr>
              <a:buSzPct val="100000"/>
              <a:buFont typeface="+mj-lt"/>
              <a:buAutoNum type="arabicParenR"/>
            </a:pPr>
            <a:r>
              <a:rPr lang="en-AU" sz="2000" dirty="0" smtClean="0">
                <a:latin typeface="Helvetica" pitchFamily="34" charset="0"/>
              </a:rPr>
              <a:t>Adjust the ledger account</a:t>
            </a:r>
          </a:p>
          <a:p>
            <a:pPr marL="712788" indent="-354013">
              <a:spcBef>
                <a:spcPts val="600"/>
              </a:spcBef>
              <a:spcAft>
                <a:spcPts val="1200"/>
              </a:spcAft>
              <a:buClr>
                <a:schemeClr val="tx1"/>
              </a:buClr>
              <a:buSzPct val="100000"/>
              <a:buFont typeface="+mj-lt"/>
              <a:buAutoNum type="arabicParenR"/>
            </a:pPr>
            <a:r>
              <a:rPr lang="en-AU" sz="2000" dirty="0" smtClean="0">
                <a:latin typeface="Helvetica" pitchFamily="34" charset="0"/>
              </a:rPr>
              <a:t>Check that the bank balance and ledger account agree</a:t>
            </a:r>
          </a:p>
          <a:p>
            <a:pPr marL="712788" indent="-354013">
              <a:spcBef>
                <a:spcPts val="600"/>
              </a:spcBef>
              <a:spcAft>
                <a:spcPts val="1200"/>
              </a:spcAft>
              <a:buClr>
                <a:schemeClr val="tx1"/>
              </a:buClr>
              <a:buSzPct val="100000"/>
              <a:buFont typeface="+mj-lt"/>
              <a:buAutoNum type="arabicParenR"/>
            </a:pPr>
            <a:r>
              <a:rPr lang="en-AU" sz="2000" dirty="0" smtClean="0">
                <a:latin typeface="Helvetica" pitchFamily="34" charset="0"/>
              </a:rPr>
              <a:t>Complete the bank reconciliation statement</a:t>
            </a:r>
          </a:p>
          <a:p>
            <a:pPr marL="720000" indent="-360000">
              <a:spcBef>
                <a:spcPts val="600"/>
              </a:spcBef>
              <a:spcAft>
                <a:spcPts val="1200"/>
              </a:spcAft>
              <a:buClr>
                <a:srgbClr val="7FD13B"/>
              </a:buClr>
              <a:buSzPct val="100000"/>
              <a:buFont typeface="Arial" pitchFamily="34" charset="0"/>
              <a:buChar char="•"/>
            </a:pPr>
            <a:endParaRPr lang="en-AU" sz="2000" dirty="0" smtClean="0">
              <a:latin typeface="Helvetica" pitchFamily="34" charset="0"/>
            </a:endParaRPr>
          </a:p>
          <a:p>
            <a:pPr marL="720000" indent="-360000">
              <a:spcBef>
                <a:spcPts val="600"/>
              </a:spcBef>
              <a:spcAft>
                <a:spcPts val="1200"/>
              </a:spcAft>
              <a:buClr>
                <a:srgbClr val="7FD13B"/>
              </a:buClr>
              <a:buSzPct val="100000"/>
              <a:buFont typeface="Arial" pitchFamily="34" charset="0"/>
              <a:buChar char="•"/>
            </a:pPr>
            <a:endParaRPr lang="en-AU" sz="2000" dirty="0" smtClean="0">
              <a:latin typeface="Helvetica" pitchFamily="34" charset="0"/>
            </a:endParaRPr>
          </a:p>
          <a:p>
            <a:pPr marL="720000" indent="-360000">
              <a:spcBef>
                <a:spcPts val="600"/>
              </a:spcBef>
              <a:spcAft>
                <a:spcPts val="1200"/>
              </a:spcAft>
              <a:buClr>
                <a:srgbClr val="7FD13B"/>
              </a:buClr>
              <a:buSzPct val="100000"/>
              <a:buFont typeface="Arial" pitchFamily="34" charset="0"/>
              <a:buChar char="•"/>
            </a:pPr>
            <a:endParaRPr lang="en-AU" sz="2000" dirty="0" smtClean="0">
              <a:latin typeface="Helvetica" pitchFamily="34" charset="0"/>
            </a:endParaRPr>
          </a:p>
          <a:p>
            <a:pPr marL="360000" indent="-360000">
              <a:spcBef>
                <a:spcPts val="600"/>
              </a:spcBef>
              <a:spcAft>
                <a:spcPts val="1200"/>
              </a:spcAft>
              <a:buClr>
                <a:srgbClr val="7FD13B"/>
              </a:buClr>
              <a:buNone/>
            </a:pP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spTree>
    <p:extLst>
      <p:ext uri="{BB962C8B-B14F-4D97-AF65-F5344CB8AC3E}">
        <p14:creationId xmlns:p14="http://schemas.microsoft.com/office/powerpoint/2010/main" val="37053056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Check balances prepared by others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graphicFrame>
        <p:nvGraphicFramePr>
          <p:cNvPr id="19" name="Table 18"/>
          <p:cNvGraphicFramePr>
            <a:graphicFrameLocks noGrp="1"/>
          </p:cNvGraphicFramePr>
          <p:nvPr/>
        </p:nvGraphicFramePr>
        <p:xfrm>
          <a:off x="683568" y="1268760"/>
          <a:ext cx="6408711" cy="4182927"/>
        </p:xfrm>
        <a:graphic>
          <a:graphicData uri="http://schemas.openxmlformats.org/drawingml/2006/table">
            <a:tbl>
              <a:tblPr/>
              <a:tblGrid>
                <a:gridCol w="209093"/>
                <a:gridCol w="4411872"/>
                <a:gridCol w="548869"/>
                <a:gridCol w="522734"/>
                <a:gridCol w="480913"/>
                <a:gridCol w="235230"/>
              </a:tblGrid>
              <a:tr h="739462">
                <a:tc>
                  <a:txBody>
                    <a:bodyPr/>
                    <a:lstStyle/>
                    <a:p>
                      <a:pPr algn="l" fontAlgn="ctr"/>
                      <a:r>
                        <a:rPr lang="en-AU" sz="1200" b="0" i="0" u="none" strike="noStrike" dirty="0">
                          <a:solidFill>
                            <a:srgbClr val="000000"/>
                          </a:solidFill>
                          <a:latin typeface="Helvetica"/>
                        </a:rPr>
                        <a:t> </a:t>
                      </a:r>
                    </a:p>
                  </a:txBody>
                  <a:tcPr marL="9525" marR="9525" marT="9525" marB="0"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tcPr>
                </a:tc>
                <a:tc gridSpan="5">
                  <a:txBody>
                    <a:bodyPr/>
                    <a:lstStyle/>
                    <a:p>
                      <a:pPr algn="ctr" fontAlgn="ctr"/>
                      <a:r>
                        <a:rPr lang="en-AU" sz="1600" b="1" i="0" u="none" strike="noStrike" dirty="0">
                          <a:solidFill>
                            <a:srgbClr val="000000"/>
                          </a:solidFill>
                          <a:latin typeface="Helvetica"/>
                        </a:rPr>
                        <a:t>Bank reconciliation statement </a:t>
                      </a:r>
                      <a:br>
                        <a:rPr lang="en-AU" sz="1600" b="1" i="0" u="none" strike="noStrike" dirty="0">
                          <a:solidFill>
                            <a:srgbClr val="000000"/>
                          </a:solidFill>
                          <a:latin typeface="Helvetica"/>
                        </a:rPr>
                      </a:br>
                      <a:r>
                        <a:rPr lang="en-AU" sz="1600" b="1" i="0" u="none" strike="noStrike" dirty="0">
                          <a:solidFill>
                            <a:srgbClr val="000000"/>
                          </a:solidFill>
                          <a:latin typeface="Helvetica"/>
                        </a:rPr>
                        <a:t>as at </a:t>
                      </a:r>
                      <a:r>
                        <a:rPr lang="en-AU" sz="1600" b="1" i="0" u="none" strike="noStrike" dirty="0" smtClean="0">
                          <a:solidFill>
                            <a:srgbClr val="000000"/>
                          </a:solidFill>
                          <a:latin typeface="Helvetica"/>
                        </a:rPr>
                        <a:t>Day</a:t>
                      </a:r>
                      <a:r>
                        <a:rPr lang="en-AU" sz="1600" b="1" i="0" u="none" strike="noStrike" dirty="0">
                          <a:solidFill>
                            <a:srgbClr val="000000"/>
                          </a:solidFill>
                          <a:latin typeface="Helvetica"/>
                        </a:rPr>
                        <a:t>, </a:t>
                      </a:r>
                      <a:r>
                        <a:rPr lang="en-AU" sz="1600" b="1" i="0" u="none" strike="noStrike" dirty="0" smtClean="0">
                          <a:solidFill>
                            <a:srgbClr val="000000"/>
                          </a:solidFill>
                          <a:latin typeface="Helvetica"/>
                        </a:rPr>
                        <a:t>Month</a:t>
                      </a:r>
                      <a:r>
                        <a:rPr lang="en-AU" sz="1600" b="1" i="0" u="none" strike="noStrike" dirty="0">
                          <a:solidFill>
                            <a:srgbClr val="000000"/>
                          </a:solidFill>
                          <a:latin typeface="Helvetica"/>
                        </a:rPr>
                        <a:t>, </a:t>
                      </a:r>
                      <a:r>
                        <a:rPr lang="en-AU" sz="1600" b="1" i="0" u="none" strike="noStrike" dirty="0" smtClean="0">
                          <a:solidFill>
                            <a:srgbClr val="000000"/>
                          </a:solidFill>
                          <a:latin typeface="Helvetica"/>
                        </a:rPr>
                        <a:t>Year </a:t>
                      </a:r>
                      <a:endParaRPr lang="en-AU" sz="1600" b="1" i="0" u="none" strike="noStrike" dirty="0">
                        <a:solidFill>
                          <a:srgbClr val="000000"/>
                        </a:solidFill>
                        <a:latin typeface="Helvetica"/>
                      </a:endParaRPr>
                    </a:p>
                  </a:txBody>
                  <a:tcPr marL="9525" marR="9525" marT="9525" marB="0" anchor="ctr">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r>
              <a:tr h="383951">
                <a:tc>
                  <a:txBody>
                    <a:bodyPr/>
                    <a:lstStyle/>
                    <a:p>
                      <a:pPr algn="l" fontAlgn="ctr"/>
                      <a:r>
                        <a:rPr lang="en-AU" sz="1200" b="0" i="0" u="none" strike="noStrike" dirty="0">
                          <a:solidFill>
                            <a:srgbClr val="000000"/>
                          </a:solidFill>
                          <a:latin typeface="Helvetica"/>
                        </a:rPr>
                        <a:t> </a:t>
                      </a:r>
                    </a:p>
                  </a:txBody>
                  <a:tcPr marL="9525" marR="9525" marT="952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ctr"/>
                      <a:r>
                        <a:rPr lang="en-AU" sz="1400" b="0" i="0" u="none" strike="noStrike" dirty="0">
                          <a:solidFill>
                            <a:srgbClr val="000000"/>
                          </a:solidFill>
                          <a:latin typeface="Helvetica"/>
                        </a:rPr>
                        <a:t>Balance as per bank statement </a:t>
                      </a:r>
                    </a:p>
                  </a:txBody>
                  <a:tcPr marL="9525" marR="9525" marT="9525" marB="0" anchor="ctr">
                    <a:lnL>
                      <a:noFill/>
                    </a:lnL>
                    <a:lnR>
                      <a:noFill/>
                    </a:lnR>
                    <a:lnT>
                      <a:noFill/>
                    </a:lnT>
                    <a:lnB>
                      <a:noFill/>
                    </a:lnB>
                  </a:tcPr>
                </a:tc>
                <a:tc>
                  <a:txBody>
                    <a:bodyPr/>
                    <a:lstStyle/>
                    <a:p>
                      <a:pPr algn="ctr" rtl="0" fontAlgn="ctr"/>
                      <a:r>
                        <a:rPr lang="en-AU" sz="1400" b="0" i="0" u="none" strike="noStrike" dirty="0">
                          <a:solidFill>
                            <a:srgbClr val="000000"/>
                          </a:solidFill>
                          <a:latin typeface="Helvetica"/>
                        </a:rPr>
                        <a:t>$ </a:t>
                      </a:r>
                    </a:p>
                  </a:txBody>
                  <a:tcPr marL="9525" marR="9525" marT="9525" marB="0" anchor="ctr">
                    <a:lnL>
                      <a:noFill/>
                    </a:lnL>
                    <a:lnR>
                      <a:noFill/>
                    </a:lnR>
                    <a:lnT>
                      <a:noFill/>
                    </a:lnT>
                    <a:lnB>
                      <a:noFill/>
                    </a:lnB>
                  </a:tcPr>
                </a:tc>
                <a:tc>
                  <a:txBody>
                    <a:bodyPr/>
                    <a:lstStyle/>
                    <a:p>
                      <a:pPr algn="ctr" rtl="0" fontAlgn="ctr"/>
                      <a:r>
                        <a:rPr lang="en-AU" sz="1400" b="0" i="0" u="none" strike="noStrike" dirty="0">
                          <a:solidFill>
                            <a:srgbClr val="000000"/>
                          </a:solidFill>
                          <a:latin typeface="Helvetica"/>
                        </a:rPr>
                        <a:t>$ </a:t>
                      </a:r>
                    </a:p>
                  </a:txBody>
                  <a:tcPr marL="9525" marR="9525" marT="9525" marB="0" anchor="ctr">
                    <a:lnL>
                      <a:noFill/>
                    </a:lnL>
                    <a:lnR>
                      <a:noFill/>
                    </a:lnR>
                    <a:lnT>
                      <a:noFill/>
                    </a:lnT>
                    <a:lnB>
                      <a:noFill/>
                    </a:lnB>
                  </a:tcPr>
                </a:tc>
                <a:tc>
                  <a:txBody>
                    <a:bodyPr/>
                    <a:lstStyle/>
                    <a:p>
                      <a:pPr algn="ctr" rtl="0" fontAlgn="ct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r" fontAlgn="ctr"/>
                      <a:r>
                        <a:rPr lang="en-AU" sz="1200" b="0" i="0" u="none" strike="noStrike" dirty="0">
                          <a:solidFill>
                            <a:srgbClr val="000000"/>
                          </a:solidFill>
                          <a:latin typeface="Helvetica"/>
                        </a:rPr>
                        <a:t> </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r>
              <a:tr h="369731">
                <a:tc>
                  <a:txBody>
                    <a:bodyPr/>
                    <a:lstStyle/>
                    <a:p>
                      <a:pPr algn="l" fontAlgn="ctr"/>
                      <a:r>
                        <a:rPr lang="en-AU" sz="1200" b="0" i="0" u="none" strike="noStrike" dirty="0">
                          <a:solidFill>
                            <a:srgbClr val="000000"/>
                          </a:solidFill>
                          <a:latin typeface="Helvetica"/>
                        </a:rPr>
                        <a:t> </a:t>
                      </a:r>
                    </a:p>
                  </a:txBody>
                  <a:tcPr marL="9525" marR="9525" marT="952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ctr"/>
                      <a:r>
                        <a:rPr lang="en-AU" sz="1400" b="0" i="0" u="none" strike="noStrike" dirty="0">
                          <a:solidFill>
                            <a:srgbClr val="000000"/>
                          </a:solidFill>
                          <a:latin typeface="Helvetica"/>
                        </a:rPr>
                        <a:t>Add: Outstanding deposit </a:t>
                      </a:r>
                    </a:p>
                  </a:txBody>
                  <a:tcPr marL="9525" marR="9525" marT="9525" marB="0" anchor="ctr">
                    <a:lnL>
                      <a:noFill/>
                    </a:lnL>
                    <a:lnR>
                      <a:noFill/>
                    </a:lnR>
                    <a:lnT>
                      <a:noFill/>
                    </a:lnT>
                    <a:lnB>
                      <a:noFill/>
                    </a:lnB>
                  </a:tcPr>
                </a:tc>
                <a:tc>
                  <a:txBody>
                    <a:bodyPr/>
                    <a:lstStyle/>
                    <a:p>
                      <a:pPr algn="ctr" fontAlgn="ct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ctr" rtl="0" fontAlgn="ctr"/>
                      <a:r>
                        <a:rPr lang="en-AU" sz="1400" b="0" i="0" u="none" strike="noStrike" dirty="0">
                          <a:solidFill>
                            <a:srgbClr val="000000"/>
                          </a:solidFill>
                          <a:latin typeface="Helvetica"/>
                        </a:rPr>
                        <a:t>XX </a:t>
                      </a:r>
                    </a:p>
                  </a:txBody>
                  <a:tcPr marL="9525" marR="9525" marT="9525" marB="0" anchor="ctr">
                    <a:lnL>
                      <a:noFill/>
                    </a:lnL>
                    <a:lnR>
                      <a:noFill/>
                    </a:lnR>
                    <a:lnT>
                      <a:noFill/>
                    </a:lnT>
                    <a:lnB>
                      <a:noFill/>
                    </a:lnB>
                  </a:tcPr>
                </a:tc>
                <a:tc>
                  <a:txBody>
                    <a:bodyPr/>
                    <a:lstStyle/>
                    <a:p>
                      <a:pPr algn="ctr" rtl="0" fontAlgn="ctr"/>
                      <a:r>
                        <a:rPr lang="en-AU" sz="1400" b="0" i="0" u="none" strike="noStrike" dirty="0">
                          <a:solidFill>
                            <a:srgbClr val="000000"/>
                          </a:solidFill>
                          <a:latin typeface="Helvetica"/>
                        </a:rPr>
                        <a:t>CR </a:t>
                      </a:r>
                    </a:p>
                  </a:txBody>
                  <a:tcPr marL="9525" marR="9525" marT="9525" marB="0" anchor="ctr">
                    <a:lnL>
                      <a:noFill/>
                    </a:lnL>
                    <a:lnR>
                      <a:noFill/>
                    </a:lnR>
                    <a:lnT>
                      <a:noFill/>
                    </a:lnT>
                    <a:lnB>
                      <a:noFill/>
                    </a:lnB>
                  </a:tcPr>
                </a:tc>
                <a:tc>
                  <a:txBody>
                    <a:bodyPr/>
                    <a:lstStyle/>
                    <a:p>
                      <a:pPr algn="r" rtl="0" fontAlgn="ctr"/>
                      <a:r>
                        <a:rPr lang="en-AU" sz="1200" b="0" i="0" u="none" strike="noStrike" dirty="0">
                          <a:solidFill>
                            <a:srgbClr val="000000"/>
                          </a:solidFill>
                          <a:latin typeface="Helvetica"/>
                        </a:rPr>
                        <a:t> </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r>
              <a:tr h="341290">
                <a:tc>
                  <a:txBody>
                    <a:bodyPr/>
                    <a:lstStyle/>
                    <a:p>
                      <a:pPr algn="l" fontAlgn="ctr"/>
                      <a:r>
                        <a:rPr lang="en-AU" sz="1200" b="0" i="0" u="none" strike="noStrike" dirty="0">
                          <a:solidFill>
                            <a:srgbClr val="000000"/>
                          </a:solidFill>
                          <a:latin typeface="Helvetica"/>
                        </a:rPr>
                        <a:t> </a:t>
                      </a:r>
                    </a:p>
                  </a:txBody>
                  <a:tcPr marL="9525" marR="9525" marT="952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ctr"/>
                      <a:r>
                        <a:rPr lang="en-AU" sz="1400" b="0" i="0" u="none" strike="noStrike" dirty="0">
                          <a:solidFill>
                            <a:srgbClr val="000000"/>
                          </a:solidFill>
                          <a:latin typeface="Helvetica"/>
                        </a:rPr>
                        <a:t>     Deposit 1 </a:t>
                      </a:r>
                    </a:p>
                  </a:txBody>
                  <a:tcPr marL="9525" marR="9525" marT="9525" marB="0" anchor="ctr">
                    <a:lnL>
                      <a:noFill/>
                    </a:lnL>
                    <a:lnR>
                      <a:noFill/>
                    </a:lnR>
                    <a:lnT>
                      <a:noFill/>
                    </a:lnT>
                    <a:lnB>
                      <a:noFill/>
                    </a:lnB>
                  </a:tcPr>
                </a:tc>
                <a:tc>
                  <a:txBody>
                    <a:bodyPr/>
                    <a:lstStyle/>
                    <a:p>
                      <a:pPr algn="ctr" rtl="0" fontAlgn="ctr"/>
                      <a:r>
                        <a:rPr lang="en-AU" sz="1400" b="0" i="0" u="none" strike="noStrike" dirty="0">
                          <a:solidFill>
                            <a:srgbClr val="000000"/>
                          </a:solidFill>
                          <a:latin typeface="Helvetica"/>
                        </a:rPr>
                        <a:t>XX </a:t>
                      </a:r>
                    </a:p>
                  </a:txBody>
                  <a:tcPr marL="9525" marR="9525" marT="9525" marB="0" anchor="ctr">
                    <a:lnL>
                      <a:noFill/>
                    </a:lnL>
                    <a:lnR>
                      <a:noFill/>
                    </a:lnR>
                    <a:lnT>
                      <a:noFill/>
                    </a:lnT>
                    <a:lnB>
                      <a:noFill/>
                    </a:lnB>
                  </a:tcPr>
                </a:tc>
                <a:tc>
                  <a:txBody>
                    <a:bodyPr/>
                    <a:lstStyle/>
                    <a:p>
                      <a:pPr algn="ctr" fontAlgn="ct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ctr" fontAlgn="ct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r" fontAlgn="ctr"/>
                      <a:r>
                        <a:rPr lang="en-AU" sz="1200" b="0" i="0" u="none" strike="noStrike" dirty="0">
                          <a:solidFill>
                            <a:srgbClr val="000000"/>
                          </a:solidFill>
                          <a:latin typeface="Helvetica"/>
                        </a:rPr>
                        <a:t> </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r>
              <a:tr h="341290">
                <a:tc>
                  <a:txBody>
                    <a:bodyPr/>
                    <a:lstStyle/>
                    <a:p>
                      <a:pPr algn="l" fontAlgn="ctr"/>
                      <a:r>
                        <a:rPr lang="en-AU" sz="1200" b="0" i="0" u="none" strike="noStrike" dirty="0">
                          <a:solidFill>
                            <a:srgbClr val="000000"/>
                          </a:solidFill>
                          <a:latin typeface="Helvetica"/>
                        </a:rPr>
                        <a:t> </a:t>
                      </a:r>
                    </a:p>
                  </a:txBody>
                  <a:tcPr marL="9525" marR="9525" marT="952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ctr"/>
                      <a:r>
                        <a:rPr lang="en-AU" sz="1400" b="0" i="0" u="none" strike="noStrike" dirty="0">
                          <a:solidFill>
                            <a:srgbClr val="000000"/>
                          </a:solidFill>
                          <a:latin typeface="Helvetica"/>
                        </a:rPr>
                        <a:t>     Deposit 2 </a:t>
                      </a:r>
                    </a:p>
                  </a:txBody>
                  <a:tcPr marL="9525" marR="9525" marT="9525" marB="0" anchor="ctr">
                    <a:lnL>
                      <a:noFill/>
                    </a:lnL>
                    <a:lnR>
                      <a:noFill/>
                    </a:lnR>
                    <a:lnT>
                      <a:noFill/>
                    </a:lnT>
                    <a:lnB>
                      <a:noFill/>
                    </a:lnB>
                  </a:tcPr>
                </a:tc>
                <a:tc>
                  <a:txBody>
                    <a:bodyPr/>
                    <a:lstStyle/>
                    <a:p>
                      <a:pPr algn="ctr" rtl="0" fontAlgn="ctr"/>
                      <a:r>
                        <a:rPr lang="en-AU" sz="1400" b="0" i="0" u="none" strike="noStrike" dirty="0">
                          <a:solidFill>
                            <a:srgbClr val="000000"/>
                          </a:solidFill>
                          <a:latin typeface="Helvetica"/>
                        </a:rPr>
                        <a:t>XX </a:t>
                      </a:r>
                    </a:p>
                  </a:txBody>
                  <a:tcPr marL="9525" marR="9525" marT="9525" marB="0" anchor="ctr">
                    <a:lnL>
                      <a:noFill/>
                    </a:lnL>
                    <a:lnR>
                      <a:noFill/>
                    </a:lnR>
                    <a:lnT>
                      <a:noFill/>
                    </a:lnT>
                    <a:lnB>
                      <a:noFill/>
                    </a:lnB>
                  </a:tcPr>
                </a:tc>
                <a:tc>
                  <a:txBody>
                    <a:bodyPr/>
                    <a:lstStyle/>
                    <a:p>
                      <a:pPr algn="ctr" rtl="0" fontAlgn="ctr"/>
                      <a:r>
                        <a:rPr lang="en-AU" sz="1400" b="0" i="0" u="none" strike="noStrike" dirty="0">
                          <a:solidFill>
                            <a:srgbClr val="000000"/>
                          </a:solidFill>
                          <a:latin typeface="Helvetica"/>
                        </a:rPr>
                        <a:t>XX </a:t>
                      </a:r>
                    </a:p>
                  </a:txBody>
                  <a:tcPr marL="9525" marR="9525" marT="9525" marB="0" anchor="ctr">
                    <a:lnL>
                      <a:noFill/>
                    </a:lnL>
                    <a:lnR>
                      <a:noFill/>
                    </a:lnR>
                    <a:lnT>
                      <a:noFill/>
                    </a:lnT>
                    <a:lnB>
                      <a:noFill/>
                    </a:lnB>
                  </a:tcPr>
                </a:tc>
                <a:tc>
                  <a:txBody>
                    <a:bodyPr/>
                    <a:lstStyle/>
                    <a:p>
                      <a:pPr algn="ctr" fontAlgn="ct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r" fontAlgn="ctr"/>
                      <a:r>
                        <a:rPr lang="en-AU" sz="1200" b="0" i="0" u="none" strike="noStrike" dirty="0">
                          <a:solidFill>
                            <a:srgbClr val="000000"/>
                          </a:solidFill>
                          <a:latin typeface="Helvetica"/>
                        </a:rPr>
                        <a:t> </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r>
              <a:tr h="234291">
                <a:tc>
                  <a:txBody>
                    <a:bodyPr/>
                    <a:lstStyle/>
                    <a:p>
                      <a:pPr algn="l" fontAlgn="ctr"/>
                      <a:r>
                        <a:rPr lang="en-AU" sz="1200" b="0" i="0" u="none" strike="noStrike" dirty="0">
                          <a:solidFill>
                            <a:srgbClr val="000000"/>
                          </a:solidFill>
                          <a:latin typeface="Helvetica"/>
                        </a:rPr>
                        <a:t> </a:t>
                      </a:r>
                    </a:p>
                  </a:txBody>
                  <a:tcPr marL="9525" marR="9525" marT="952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l" fontAlgn="ctr">
                        <a:spcBef>
                          <a:spcPts val="12000"/>
                        </a:spcBef>
                      </a:pP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ctr" fontAlgn="ctr">
                        <a:spcBef>
                          <a:spcPts val="12000"/>
                        </a:spcBef>
                      </a:pP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ctr" fontAlgn="ctr">
                        <a:spcBef>
                          <a:spcPts val="12000"/>
                        </a:spcBef>
                      </a:pP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ctr" fontAlgn="ctr">
                        <a:spcBef>
                          <a:spcPts val="12000"/>
                        </a:spcBef>
                      </a:pP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r" fontAlgn="ctr"/>
                      <a:r>
                        <a:rPr lang="en-AU" sz="1200" b="0" i="0" u="none" strike="noStrike" dirty="0">
                          <a:solidFill>
                            <a:srgbClr val="000000"/>
                          </a:solidFill>
                          <a:latin typeface="Helvetica"/>
                        </a:rPr>
                        <a:t> </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r>
              <a:tr h="412393">
                <a:tc>
                  <a:txBody>
                    <a:bodyPr/>
                    <a:lstStyle/>
                    <a:p>
                      <a:pPr algn="l" fontAlgn="ctr"/>
                      <a:r>
                        <a:rPr lang="en-AU" sz="1200" b="0" i="0" u="none" strike="noStrike" dirty="0">
                          <a:solidFill>
                            <a:srgbClr val="000000"/>
                          </a:solidFill>
                          <a:latin typeface="Helvetica"/>
                        </a:rPr>
                        <a:t> </a:t>
                      </a:r>
                    </a:p>
                  </a:txBody>
                  <a:tcPr marL="9525" marR="9525" marT="952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ctr"/>
                      <a:r>
                        <a:rPr lang="en-AU" sz="1400" b="0" i="0" u="none" strike="noStrike" dirty="0">
                          <a:solidFill>
                            <a:srgbClr val="000000"/>
                          </a:solidFill>
                          <a:latin typeface="Helvetica"/>
                        </a:rPr>
                        <a:t>     Less: Unpresented cheques </a:t>
                      </a:r>
                    </a:p>
                  </a:txBody>
                  <a:tcPr marL="9525" marR="9525" marT="9525" marB="0" anchor="ctr">
                    <a:lnL>
                      <a:noFill/>
                    </a:lnL>
                    <a:lnR>
                      <a:noFill/>
                    </a:lnR>
                    <a:lnT>
                      <a:noFill/>
                    </a:lnT>
                    <a:lnB>
                      <a:noFill/>
                    </a:lnB>
                  </a:tcPr>
                </a:tc>
                <a:tc>
                  <a:txBody>
                    <a:bodyPr/>
                    <a:lstStyle/>
                    <a:p>
                      <a:pPr algn="ctr" fontAlgn="ct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ctr" fontAlgn="ct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ctr" fontAlgn="ct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r" fontAlgn="ctr"/>
                      <a:r>
                        <a:rPr lang="en-AU" sz="1200" b="0" i="0" u="none" strike="noStrike" dirty="0">
                          <a:solidFill>
                            <a:srgbClr val="000000"/>
                          </a:solidFill>
                          <a:latin typeface="Helvetica"/>
                        </a:rPr>
                        <a:t> </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r>
              <a:tr h="369731">
                <a:tc>
                  <a:txBody>
                    <a:bodyPr/>
                    <a:lstStyle/>
                    <a:p>
                      <a:pPr algn="l" fontAlgn="ctr"/>
                      <a:r>
                        <a:rPr lang="en-AU" sz="1200" b="0" i="0" u="none" strike="noStrike" dirty="0">
                          <a:solidFill>
                            <a:srgbClr val="000000"/>
                          </a:solidFill>
                          <a:latin typeface="Helvetica"/>
                        </a:rPr>
                        <a:t> </a:t>
                      </a:r>
                    </a:p>
                  </a:txBody>
                  <a:tcPr marL="9525" marR="9525" marT="952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ctr"/>
                      <a:r>
                        <a:rPr lang="en-AU" sz="1400" b="0" i="0" u="none" strike="noStrike" dirty="0">
                          <a:solidFill>
                            <a:srgbClr val="000000"/>
                          </a:solidFill>
                          <a:latin typeface="Helvetica"/>
                        </a:rPr>
                        <a:t>     Cheque 1 </a:t>
                      </a:r>
                    </a:p>
                  </a:txBody>
                  <a:tcPr marL="9525" marR="9525" marT="9525" marB="0" anchor="ctr">
                    <a:lnL>
                      <a:noFill/>
                    </a:lnL>
                    <a:lnR>
                      <a:noFill/>
                    </a:lnR>
                    <a:lnT>
                      <a:noFill/>
                    </a:lnT>
                    <a:lnB>
                      <a:noFill/>
                    </a:lnB>
                  </a:tcPr>
                </a:tc>
                <a:tc>
                  <a:txBody>
                    <a:bodyPr/>
                    <a:lstStyle/>
                    <a:p>
                      <a:pPr algn="ctr" rtl="0" fontAlgn="ctr"/>
                      <a:r>
                        <a:rPr lang="en-AU" sz="1400" b="0" i="0" u="none" strike="noStrike" dirty="0">
                          <a:solidFill>
                            <a:srgbClr val="000000"/>
                          </a:solidFill>
                          <a:latin typeface="Helvetica"/>
                        </a:rPr>
                        <a:t>XX </a:t>
                      </a:r>
                    </a:p>
                  </a:txBody>
                  <a:tcPr marL="9525" marR="9525" marT="9525" marB="0" anchor="ctr">
                    <a:lnL>
                      <a:noFill/>
                    </a:lnL>
                    <a:lnR>
                      <a:noFill/>
                    </a:lnR>
                    <a:lnT>
                      <a:noFill/>
                    </a:lnT>
                    <a:lnB>
                      <a:noFill/>
                    </a:lnB>
                  </a:tcPr>
                </a:tc>
                <a:tc>
                  <a:txBody>
                    <a:bodyPr/>
                    <a:lstStyle/>
                    <a:p>
                      <a:pPr algn="ctr" fontAlgn="ct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ctr" fontAlgn="ct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r" fontAlgn="ctr"/>
                      <a:r>
                        <a:rPr lang="en-AU" sz="1200" b="0" i="0" u="none" strike="noStrike" dirty="0">
                          <a:solidFill>
                            <a:srgbClr val="000000"/>
                          </a:solidFill>
                          <a:latin typeface="Helvetica"/>
                        </a:rPr>
                        <a:t> </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r>
              <a:tr h="369731">
                <a:tc>
                  <a:txBody>
                    <a:bodyPr/>
                    <a:lstStyle/>
                    <a:p>
                      <a:pPr algn="l" fontAlgn="ctr"/>
                      <a:r>
                        <a:rPr lang="en-AU" sz="1200" b="0" i="0" u="none" strike="noStrike" dirty="0">
                          <a:solidFill>
                            <a:srgbClr val="000000"/>
                          </a:solidFill>
                          <a:latin typeface="Helvetica"/>
                        </a:rPr>
                        <a:t> </a:t>
                      </a:r>
                    </a:p>
                  </a:txBody>
                  <a:tcPr marL="9525" marR="9525" marT="952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ctr"/>
                      <a:r>
                        <a:rPr lang="en-AU" sz="1400" b="0" i="0" u="none" strike="noStrike" dirty="0">
                          <a:solidFill>
                            <a:srgbClr val="000000"/>
                          </a:solidFill>
                          <a:latin typeface="Helvetica"/>
                        </a:rPr>
                        <a:t>     Cheque 2 </a:t>
                      </a:r>
                    </a:p>
                  </a:txBody>
                  <a:tcPr marL="9525" marR="9525" marT="9525" marB="0" anchor="ctr">
                    <a:lnL>
                      <a:noFill/>
                    </a:lnL>
                    <a:lnR>
                      <a:noFill/>
                    </a:lnR>
                    <a:lnT>
                      <a:noFill/>
                    </a:lnT>
                    <a:lnB>
                      <a:noFill/>
                    </a:lnB>
                  </a:tcPr>
                </a:tc>
                <a:tc>
                  <a:txBody>
                    <a:bodyPr/>
                    <a:lstStyle/>
                    <a:p>
                      <a:pPr algn="ctr" rtl="0" fontAlgn="ctr"/>
                      <a:r>
                        <a:rPr lang="en-AU" sz="1400" b="0" i="0" u="none" strike="noStrike" dirty="0">
                          <a:solidFill>
                            <a:srgbClr val="000000"/>
                          </a:solidFill>
                          <a:latin typeface="Helvetica"/>
                        </a:rPr>
                        <a:t>XX </a:t>
                      </a:r>
                    </a:p>
                  </a:txBody>
                  <a:tcPr marL="9525" marR="9525" marT="9525" marB="0" anchor="ctr">
                    <a:lnL>
                      <a:noFill/>
                    </a:lnL>
                    <a:lnR>
                      <a:noFill/>
                    </a:lnR>
                    <a:lnT>
                      <a:noFill/>
                    </a:lnT>
                    <a:lnB>
                      <a:noFill/>
                    </a:lnB>
                  </a:tcPr>
                </a:tc>
                <a:tc>
                  <a:txBody>
                    <a:bodyPr/>
                    <a:lstStyle/>
                    <a:p>
                      <a:pPr algn="ctr" rtl="0" fontAlgn="ctr"/>
                      <a:r>
                        <a:rPr lang="en-AU" sz="1400" b="0" i="0" u="none" strike="noStrike" dirty="0">
                          <a:solidFill>
                            <a:srgbClr val="000000"/>
                          </a:solidFill>
                          <a:latin typeface="Helvetica"/>
                        </a:rPr>
                        <a:t>XX </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r" fontAlgn="ctr"/>
                      <a:r>
                        <a:rPr lang="en-AU" sz="1200" b="0" i="0" u="none" strike="noStrike" dirty="0">
                          <a:solidFill>
                            <a:srgbClr val="000000"/>
                          </a:solidFill>
                          <a:latin typeface="Helvetica"/>
                        </a:rPr>
                        <a:t> </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r>
              <a:tr h="398172">
                <a:tc>
                  <a:txBody>
                    <a:bodyPr/>
                    <a:lstStyle/>
                    <a:p>
                      <a:pPr algn="l" fontAlgn="ctr"/>
                      <a:r>
                        <a:rPr lang="en-AU" sz="1200" b="0" i="0" u="none" strike="noStrike" dirty="0">
                          <a:solidFill>
                            <a:srgbClr val="000000"/>
                          </a:solidFill>
                          <a:latin typeface="Helvetica"/>
                        </a:rPr>
                        <a:t> </a:t>
                      </a:r>
                    </a:p>
                  </a:txBody>
                  <a:tcPr marL="9525" marR="9525" marT="952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ctr"/>
                      <a:r>
                        <a:rPr lang="en-AU" sz="1400" b="0" i="0" u="none" strike="noStrike" dirty="0">
                          <a:solidFill>
                            <a:srgbClr val="000000"/>
                          </a:solidFill>
                          <a:latin typeface="Helvetica"/>
                        </a:rPr>
                        <a:t>Balance as per cash at bank account  </a:t>
                      </a:r>
                    </a:p>
                  </a:txBody>
                  <a:tcPr marL="9525" marR="9525" marT="9525" marB="0" anchor="ctr">
                    <a:lnL>
                      <a:noFill/>
                    </a:lnL>
                    <a:lnR>
                      <a:noFill/>
                    </a:lnR>
                    <a:lnT>
                      <a:noFill/>
                    </a:lnT>
                    <a:lnB>
                      <a:noFill/>
                    </a:lnB>
                  </a:tcPr>
                </a:tc>
                <a:tc>
                  <a:txBody>
                    <a:bodyPr/>
                    <a:lstStyle/>
                    <a:p>
                      <a:pPr algn="ctr" fontAlgn="ctr"/>
                      <a:endParaRPr lang="en-AU" sz="1400" b="0" i="0" u="none" strike="noStrike" dirty="0">
                        <a:solidFill>
                          <a:srgbClr val="000000"/>
                        </a:solidFill>
                        <a:latin typeface="Helvetica"/>
                      </a:endParaRPr>
                    </a:p>
                  </a:txBody>
                  <a:tcPr marL="9525" marR="9525" marT="9525" marB="0" anchor="ctr">
                    <a:lnL>
                      <a:noFill/>
                    </a:lnL>
                    <a:lnR>
                      <a:noFill/>
                    </a:lnR>
                    <a:lnT>
                      <a:noFill/>
                    </a:lnT>
                    <a:lnB>
                      <a:noFill/>
                    </a:lnB>
                  </a:tcPr>
                </a:tc>
                <a:tc>
                  <a:txBody>
                    <a:bodyPr/>
                    <a:lstStyle/>
                    <a:p>
                      <a:pPr algn="ctr" rtl="0" fontAlgn="ctr"/>
                      <a:r>
                        <a:rPr lang="en-AU" sz="1400" b="0" i="0" u="none" strike="noStrike" dirty="0">
                          <a:solidFill>
                            <a:srgbClr val="000000"/>
                          </a:solidFill>
                          <a:latin typeface="Helvetica"/>
                        </a:rPr>
                        <a:t>XX </a:t>
                      </a:r>
                    </a:p>
                  </a:txBody>
                  <a:tcPr marL="9525" marR="9525" marT="9525"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rtl="0" fontAlgn="ctr"/>
                      <a:r>
                        <a:rPr lang="en-AU" sz="1400" b="0" i="0" u="none" strike="noStrike" dirty="0">
                          <a:solidFill>
                            <a:srgbClr val="000000"/>
                          </a:solidFill>
                          <a:latin typeface="Helvetica"/>
                        </a:rPr>
                        <a:t>DR </a:t>
                      </a:r>
                    </a:p>
                  </a:txBody>
                  <a:tcPr marL="9525" marR="9525" marT="9525" marB="0" anchor="ctr">
                    <a:lnL>
                      <a:noFill/>
                    </a:lnL>
                    <a:lnR>
                      <a:noFill/>
                    </a:lnR>
                    <a:lnT>
                      <a:noFill/>
                    </a:lnT>
                    <a:lnB>
                      <a:noFill/>
                    </a:lnB>
                  </a:tcPr>
                </a:tc>
                <a:tc>
                  <a:txBody>
                    <a:bodyPr/>
                    <a:lstStyle/>
                    <a:p>
                      <a:pPr algn="r" fontAlgn="ctr"/>
                      <a:r>
                        <a:rPr lang="en-AU" sz="1200" b="0" i="0" u="none" strike="noStrike" dirty="0">
                          <a:solidFill>
                            <a:srgbClr val="000000"/>
                          </a:solidFill>
                          <a:latin typeface="Helvetica"/>
                        </a:rPr>
                        <a:t> </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r>
              <a:tr h="219110">
                <a:tc>
                  <a:txBody>
                    <a:bodyPr/>
                    <a:lstStyle/>
                    <a:p>
                      <a:pPr algn="l" fontAlgn="ctr"/>
                      <a:r>
                        <a:rPr lang="en-AU" sz="1200" b="0" i="0" u="none" strike="noStrike" dirty="0">
                          <a:solidFill>
                            <a:srgbClr val="000000"/>
                          </a:solidFill>
                          <a:latin typeface="Helvetica"/>
                        </a:rPr>
                        <a:t> </a:t>
                      </a:r>
                    </a:p>
                  </a:txBody>
                  <a:tcPr marL="9525" marR="9525" marT="9525" marB="0" anchor="ctr">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tcPr>
                </a:tc>
                <a:tc>
                  <a:txBody>
                    <a:bodyPr/>
                    <a:lstStyle/>
                    <a:p>
                      <a:pPr algn="l" rtl="0" fontAlgn="ctr"/>
                      <a:r>
                        <a:rPr lang="en-AU" sz="1400" b="0" i="0" u="none" strike="noStrike" dirty="0">
                          <a:solidFill>
                            <a:srgbClr val="000000"/>
                          </a:solidFill>
                          <a:latin typeface="Helvetica"/>
                        </a:rPr>
                        <a:t> </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r" fontAlgn="ctr"/>
                      <a:r>
                        <a:rPr lang="en-AU" sz="1400" b="0" i="0" u="none" strike="noStrike" dirty="0">
                          <a:solidFill>
                            <a:srgbClr val="000000"/>
                          </a:solidFill>
                          <a:latin typeface="Helvetica"/>
                        </a:rPr>
                        <a:t> </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r" rtl="0" fontAlgn="ctr"/>
                      <a:r>
                        <a:rPr lang="en-AU" sz="1400" b="0" i="0" u="none" strike="noStrike" dirty="0">
                          <a:solidFill>
                            <a:srgbClr val="000000"/>
                          </a:solidFill>
                          <a:latin typeface="Helvetica"/>
                        </a:rPr>
                        <a:t> </a:t>
                      </a:r>
                    </a:p>
                  </a:txBody>
                  <a:tcPr marL="9525" marR="9525" marT="9525" marB="0" anchor="ctr">
                    <a:lnL>
                      <a:noFill/>
                    </a:lnL>
                    <a:lnR>
                      <a:noFill/>
                    </a:lnR>
                    <a:lnT w="25400" cap="flat" cmpd="dbl"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rtl="0" fontAlgn="ctr"/>
                      <a:r>
                        <a:rPr lang="en-AU" sz="1400" b="0" i="0" u="none" strike="noStrike" dirty="0">
                          <a:solidFill>
                            <a:srgbClr val="000000"/>
                          </a:solidFill>
                          <a:latin typeface="Helvetica"/>
                        </a:rPr>
                        <a:t> </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r" rtl="0" fontAlgn="ctr"/>
                      <a:r>
                        <a:rPr lang="en-AU" sz="1200" b="0" i="0" u="none" strike="noStrike" dirty="0">
                          <a:solidFill>
                            <a:srgbClr val="000000"/>
                          </a:solidFill>
                          <a:latin typeface="Helvetica"/>
                        </a:rPr>
                        <a:t> </a:t>
                      </a:r>
                    </a:p>
                  </a:txBody>
                  <a:tcPr marL="9525" marR="9525" marT="9525" marB="0" anchor="ctr">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49780914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Check balances prepared by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72608"/>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Produce the bank reconciliation statement:</a:t>
            </a:r>
          </a:p>
          <a:p>
            <a:pPr marL="360000" indent="-360000">
              <a:spcBef>
                <a:spcPts val="600"/>
              </a:spcBef>
              <a:spcAft>
                <a:spcPts val="1200"/>
              </a:spcAft>
              <a:buClr>
                <a:srgbClr val="7FD13B"/>
              </a:buClr>
            </a:pPr>
            <a:r>
              <a:rPr lang="en-AU" sz="2200" dirty="0" smtClean="0">
                <a:latin typeface="Helvetica" pitchFamily="34" charset="0"/>
              </a:rPr>
              <a:t>Key points: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Heading</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Reporting period</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Debits and credits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Begin with bank statement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End with a total that agrees to the </a:t>
            </a:r>
            <a:br>
              <a:rPr lang="en-AU" sz="2200" dirty="0" smtClean="0">
                <a:latin typeface="Helvetica" pitchFamily="34" charset="0"/>
              </a:rPr>
            </a:br>
            <a:r>
              <a:rPr lang="en-AU" sz="2200" dirty="0" smtClean="0">
                <a:latin typeface="Helvetica" pitchFamily="34" charset="0"/>
              </a:rPr>
              <a:t>General ledger account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Distribution, review and filing procedures</a:t>
            </a:r>
          </a:p>
          <a:p>
            <a:pPr marL="360000" indent="-360000">
              <a:spcBef>
                <a:spcPts val="600"/>
              </a:spcBef>
              <a:spcAft>
                <a:spcPts val="1200"/>
              </a:spcAft>
              <a:buClr>
                <a:srgbClr val="7FD13B"/>
              </a:buClr>
            </a:pPr>
            <a:endParaRPr lang="en-AU" sz="2200" dirty="0" smtClean="0">
              <a:latin typeface="Helvetica" pitchFamily="34" charset="0"/>
            </a:endParaRPr>
          </a:p>
          <a:p>
            <a:pPr marL="360000" indent="-360000">
              <a:spcBef>
                <a:spcPts val="600"/>
              </a:spcBef>
              <a:spcAft>
                <a:spcPts val="1200"/>
              </a:spcAft>
              <a:buClr>
                <a:srgbClr val="7FD13B"/>
              </a:buClr>
            </a:pPr>
            <a:endParaRPr lang="en-AU" sz="2200" dirty="0" smtClean="0">
              <a:latin typeface="Helvetica" pitchFamily="34" charset="0"/>
            </a:endParaRPr>
          </a:p>
          <a:p>
            <a:pPr marL="360000" indent="-360000">
              <a:spcBef>
                <a:spcPts val="600"/>
              </a:spcBef>
              <a:spcAft>
                <a:spcPts val="1200"/>
              </a:spcAft>
              <a:buClr>
                <a:srgbClr val="7FD13B"/>
              </a:buClr>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descr="iStock_000003581896Large.jpg"/>
          <p:cNvPicPr>
            <a:picLocks noChangeAspect="1"/>
          </p:cNvPicPr>
          <p:nvPr/>
        </p:nvPicPr>
        <p:blipFill>
          <a:blip r:embed="rId3" cstate="print"/>
          <a:stretch>
            <a:fillRect/>
          </a:stretch>
        </p:blipFill>
        <p:spPr>
          <a:xfrm>
            <a:off x="6588224" y="4221088"/>
            <a:ext cx="1849070" cy="1246678"/>
          </a:xfrm>
          <a:prstGeom prst="rect">
            <a:avLst/>
          </a:prstGeom>
        </p:spPr>
      </p:pic>
    </p:spTree>
    <p:extLst>
      <p:ext uri="{BB962C8B-B14F-4D97-AF65-F5344CB8AC3E}">
        <p14:creationId xmlns:p14="http://schemas.microsoft.com/office/powerpoint/2010/main" val="203200069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Resolving errors in the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628800"/>
            <a:ext cx="7467600" cy="5112568"/>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Checklist for resolving errors:</a:t>
            </a:r>
          </a:p>
          <a:p>
            <a:pPr marL="360000" indent="-360000">
              <a:spcBef>
                <a:spcPts val="600"/>
              </a:spcBef>
              <a:spcAft>
                <a:spcPts val="1200"/>
              </a:spcAft>
              <a:buClr>
                <a:srgbClr val="7FD13B"/>
              </a:buClr>
            </a:pPr>
            <a:r>
              <a:rPr lang="en-AU" sz="2200" dirty="0" smtClean="0">
                <a:latin typeface="Helvetica" pitchFamily="34" charset="0"/>
              </a:rPr>
              <a:t>Inputs: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Examples</a:t>
            </a:r>
          </a:p>
          <a:p>
            <a:pPr marL="360000" indent="-360000">
              <a:spcBef>
                <a:spcPts val="600"/>
              </a:spcBef>
              <a:spcAft>
                <a:spcPts val="1200"/>
              </a:spcAft>
              <a:buClr>
                <a:srgbClr val="7FD13B"/>
              </a:buClr>
            </a:pPr>
            <a:r>
              <a:rPr lang="en-AU" sz="2200" dirty="0" smtClean="0">
                <a:latin typeface="Helvetica" pitchFamily="34" charset="0"/>
              </a:rPr>
              <a:t>Processing:</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Examples</a:t>
            </a:r>
          </a:p>
          <a:p>
            <a:pPr marL="360000" indent="-360000">
              <a:spcBef>
                <a:spcPts val="600"/>
              </a:spcBef>
              <a:spcAft>
                <a:spcPts val="1200"/>
              </a:spcAft>
              <a:buClr>
                <a:srgbClr val="7FD13B"/>
              </a:buClr>
            </a:pPr>
            <a:r>
              <a:rPr lang="en-AU" sz="2200" dirty="0" smtClean="0">
                <a:latin typeface="Helvetica" pitchFamily="34" charset="0"/>
              </a:rPr>
              <a:t>Outputs: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Examples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spTree>
    <p:extLst>
      <p:ext uri="{BB962C8B-B14F-4D97-AF65-F5344CB8AC3E}">
        <p14:creationId xmlns:p14="http://schemas.microsoft.com/office/powerpoint/2010/main" val="11884602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467600" cy="792088"/>
          </a:xfrm>
        </p:spPr>
        <p:txBody>
          <a:bodyPr>
            <a:normAutofit/>
          </a:bodyPr>
          <a:lstStyle/>
          <a:p>
            <a:r>
              <a:rPr lang="en-US" sz="3400" b="1" dirty="0" smtClean="0">
                <a:solidFill>
                  <a:srgbClr val="FF6600"/>
                </a:solidFill>
                <a:latin typeface="Helvetica" pitchFamily="34" charset="0"/>
              </a:rPr>
              <a:t>Maintaining the financial syste</a:t>
            </a:r>
            <a:r>
              <a:rPr lang="en-US" sz="3400" b="1" dirty="0">
                <a:solidFill>
                  <a:srgbClr val="FF6600"/>
                </a:solidFill>
                <a:latin typeface="Helvetica" pitchFamily="34" charset="0"/>
              </a:rPr>
              <a:t>m</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grpSp>
        <p:nvGrpSpPr>
          <p:cNvPr id="32" name="Group 31"/>
          <p:cNvGrpSpPr/>
          <p:nvPr/>
        </p:nvGrpSpPr>
        <p:grpSpPr>
          <a:xfrm>
            <a:off x="179512" y="1309216"/>
            <a:ext cx="7368480" cy="4064000"/>
            <a:chOff x="251520" y="1196752"/>
            <a:chExt cx="7368480" cy="4064000"/>
          </a:xfrm>
        </p:grpSpPr>
        <p:graphicFrame>
          <p:nvGraphicFramePr>
            <p:cNvPr id="33" name="Diagram 32"/>
            <p:cNvGraphicFramePr/>
            <p:nvPr/>
          </p:nvGraphicFramePr>
          <p:xfrm>
            <a:off x="3851920" y="1196752"/>
            <a:ext cx="376808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5" name="Line 16"/>
            <p:cNvSpPr>
              <a:spLocks noChangeShapeType="1"/>
            </p:cNvSpPr>
            <p:nvPr/>
          </p:nvSpPr>
          <p:spPr bwMode="black">
            <a:xfrm>
              <a:off x="2051720" y="1772816"/>
              <a:ext cx="1771204" cy="458862"/>
            </a:xfrm>
            <a:prstGeom prst="line">
              <a:avLst/>
            </a:prstGeom>
            <a:noFill/>
            <a:ln w="9525">
              <a:solidFill>
                <a:schemeClr val="tx1"/>
              </a:solidFill>
              <a:round/>
              <a:headEnd/>
              <a:tailEnd type="triangle" w="med" len="med"/>
            </a:ln>
          </p:spPr>
          <p:txBody>
            <a:bodyPr wrap="none" anchor="ctr"/>
            <a:lstStyle/>
            <a:p>
              <a:endParaRPr lang="en-AU" dirty="0"/>
            </a:p>
          </p:txBody>
        </p:sp>
        <p:cxnSp>
          <p:nvCxnSpPr>
            <p:cNvPr id="37" name="AutoShape 17"/>
            <p:cNvCxnSpPr>
              <a:cxnSpLocks noChangeShapeType="1"/>
            </p:cNvCxnSpPr>
            <p:nvPr/>
          </p:nvCxnSpPr>
          <p:spPr bwMode="black">
            <a:xfrm flipH="1">
              <a:off x="611560" y="1772816"/>
              <a:ext cx="1440000" cy="0"/>
            </a:xfrm>
            <a:prstGeom prst="straightConnector1">
              <a:avLst/>
            </a:prstGeom>
            <a:noFill/>
            <a:ln w="9525">
              <a:solidFill>
                <a:schemeClr val="tx1"/>
              </a:solidFill>
              <a:round/>
              <a:headEnd/>
              <a:tailEnd/>
            </a:ln>
          </p:spPr>
        </p:cxnSp>
        <p:sp>
          <p:nvSpPr>
            <p:cNvPr id="39" name="Text Box 18"/>
            <p:cNvSpPr txBox="1">
              <a:spLocks noChangeArrowheads="1"/>
            </p:cNvSpPr>
            <p:nvPr/>
          </p:nvSpPr>
          <p:spPr bwMode="auto">
            <a:xfrm>
              <a:off x="251520" y="1434262"/>
              <a:ext cx="2057400" cy="338554"/>
            </a:xfrm>
            <a:prstGeom prst="rect">
              <a:avLst/>
            </a:prstGeom>
            <a:noFill/>
            <a:ln w="9525">
              <a:noFill/>
              <a:miter lim="800000"/>
              <a:headEnd/>
              <a:tailEnd/>
            </a:ln>
          </p:spPr>
          <p:txBody>
            <a:bodyPr>
              <a:spAutoFit/>
            </a:bodyPr>
            <a:lstStyle/>
            <a:p>
              <a:pPr marL="360000" indent="-360000" algn="ctr">
                <a:spcBef>
                  <a:spcPts val="600"/>
                </a:spcBef>
                <a:spcAft>
                  <a:spcPts val="1200"/>
                </a:spcAft>
                <a:buNone/>
              </a:pPr>
              <a:r>
                <a:rPr lang="en-US" sz="1600" b="1" dirty="0" smtClean="0">
                  <a:latin typeface="Helvetica" pitchFamily="34" charset="0"/>
                </a:rPr>
                <a:t>Inputs</a:t>
              </a:r>
            </a:p>
          </p:txBody>
        </p:sp>
        <p:sp>
          <p:nvSpPr>
            <p:cNvPr id="40" name="Line 16"/>
            <p:cNvSpPr>
              <a:spLocks noChangeShapeType="1"/>
            </p:cNvSpPr>
            <p:nvPr/>
          </p:nvSpPr>
          <p:spPr bwMode="black">
            <a:xfrm flipV="1">
              <a:off x="2051720" y="1412776"/>
              <a:ext cx="1800200" cy="360040"/>
            </a:xfrm>
            <a:prstGeom prst="line">
              <a:avLst/>
            </a:prstGeom>
            <a:noFill/>
            <a:ln w="9525">
              <a:solidFill>
                <a:schemeClr val="tx1"/>
              </a:solidFill>
              <a:round/>
              <a:headEnd/>
              <a:tailEnd type="triangle" w="med" len="med"/>
            </a:ln>
          </p:spPr>
          <p:txBody>
            <a:bodyPr wrap="none" anchor="ctr"/>
            <a:lstStyle/>
            <a:p>
              <a:endParaRPr lang="en-AU" dirty="0"/>
            </a:p>
          </p:txBody>
        </p:sp>
        <p:cxnSp>
          <p:nvCxnSpPr>
            <p:cNvPr id="41" name="AutoShape 17"/>
            <p:cNvCxnSpPr>
              <a:cxnSpLocks noChangeShapeType="1"/>
            </p:cNvCxnSpPr>
            <p:nvPr/>
          </p:nvCxnSpPr>
          <p:spPr bwMode="black">
            <a:xfrm flipH="1">
              <a:off x="611560" y="3573016"/>
              <a:ext cx="1440000" cy="0"/>
            </a:xfrm>
            <a:prstGeom prst="straightConnector1">
              <a:avLst/>
            </a:prstGeom>
            <a:noFill/>
            <a:ln w="9525">
              <a:solidFill>
                <a:schemeClr val="tx1"/>
              </a:solidFill>
              <a:round/>
              <a:headEnd/>
              <a:tailEnd/>
            </a:ln>
          </p:spPr>
        </p:cxnSp>
        <p:sp>
          <p:nvSpPr>
            <p:cNvPr id="43" name="Text Box 18"/>
            <p:cNvSpPr txBox="1">
              <a:spLocks noChangeArrowheads="1"/>
            </p:cNvSpPr>
            <p:nvPr/>
          </p:nvSpPr>
          <p:spPr bwMode="auto">
            <a:xfrm>
              <a:off x="282352" y="3234462"/>
              <a:ext cx="2057400" cy="338554"/>
            </a:xfrm>
            <a:prstGeom prst="rect">
              <a:avLst/>
            </a:prstGeom>
            <a:noFill/>
            <a:ln w="9525">
              <a:noFill/>
              <a:miter lim="800000"/>
              <a:headEnd/>
              <a:tailEnd/>
            </a:ln>
          </p:spPr>
          <p:txBody>
            <a:bodyPr>
              <a:spAutoFit/>
            </a:bodyPr>
            <a:lstStyle/>
            <a:p>
              <a:pPr marL="360000" indent="-360000" algn="ctr">
                <a:spcBef>
                  <a:spcPts val="600"/>
                </a:spcBef>
                <a:spcAft>
                  <a:spcPts val="1200"/>
                </a:spcAft>
                <a:buNone/>
              </a:pPr>
              <a:r>
                <a:rPr lang="en-US" sz="1600" b="1" dirty="0" smtClean="0">
                  <a:latin typeface="Helvetica" pitchFamily="34" charset="0"/>
                </a:rPr>
                <a:t>Processing</a:t>
              </a:r>
            </a:p>
          </p:txBody>
        </p:sp>
        <p:cxnSp>
          <p:nvCxnSpPr>
            <p:cNvPr id="44" name="AutoShape 17"/>
            <p:cNvCxnSpPr>
              <a:cxnSpLocks noChangeShapeType="1"/>
            </p:cNvCxnSpPr>
            <p:nvPr/>
          </p:nvCxnSpPr>
          <p:spPr bwMode="black">
            <a:xfrm flipH="1">
              <a:off x="611560" y="5013176"/>
              <a:ext cx="1440000" cy="0"/>
            </a:xfrm>
            <a:prstGeom prst="straightConnector1">
              <a:avLst/>
            </a:prstGeom>
            <a:noFill/>
            <a:ln w="9525">
              <a:solidFill>
                <a:schemeClr val="tx1"/>
              </a:solidFill>
              <a:round/>
              <a:headEnd/>
              <a:tailEnd/>
            </a:ln>
          </p:spPr>
        </p:cxnSp>
        <p:sp>
          <p:nvSpPr>
            <p:cNvPr id="45" name="Text Box 18"/>
            <p:cNvSpPr txBox="1">
              <a:spLocks noChangeArrowheads="1"/>
            </p:cNvSpPr>
            <p:nvPr/>
          </p:nvSpPr>
          <p:spPr bwMode="auto">
            <a:xfrm>
              <a:off x="251520" y="4674622"/>
              <a:ext cx="2057400" cy="338554"/>
            </a:xfrm>
            <a:prstGeom prst="rect">
              <a:avLst/>
            </a:prstGeom>
            <a:noFill/>
            <a:ln w="9525">
              <a:noFill/>
              <a:miter lim="800000"/>
              <a:headEnd/>
              <a:tailEnd/>
            </a:ln>
          </p:spPr>
          <p:txBody>
            <a:bodyPr>
              <a:spAutoFit/>
            </a:bodyPr>
            <a:lstStyle/>
            <a:p>
              <a:pPr marL="360000" indent="-360000" algn="ctr">
                <a:spcBef>
                  <a:spcPts val="600"/>
                </a:spcBef>
                <a:spcAft>
                  <a:spcPts val="1200"/>
                </a:spcAft>
                <a:buNone/>
              </a:pPr>
              <a:r>
                <a:rPr lang="en-US" sz="1600" b="1" dirty="0" smtClean="0">
                  <a:latin typeface="Helvetica" pitchFamily="34" charset="0"/>
                </a:rPr>
                <a:t>Outputs</a:t>
              </a:r>
            </a:p>
          </p:txBody>
        </p:sp>
        <p:sp>
          <p:nvSpPr>
            <p:cNvPr id="46" name="Line 16"/>
            <p:cNvSpPr>
              <a:spLocks noChangeShapeType="1"/>
            </p:cNvSpPr>
            <p:nvPr/>
          </p:nvSpPr>
          <p:spPr bwMode="black">
            <a:xfrm>
              <a:off x="2051720" y="3573016"/>
              <a:ext cx="1800200" cy="720080"/>
            </a:xfrm>
            <a:prstGeom prst="line">
              <a:avLst/>
            </a:prstGeom>
            <a:noFill/>
            <a:ln w="9525">
              <a:solidFill>
                <a:schemeClr val="tx1"/>
              </a:solidFill>
              <a:round/>
              <a:headEnd/>
              <a:tailEnd type="triangle" w="med" len="med"/>
            </a:ln>
          </p:spPr>
          <p:txBody>
            <a:bodyPr wrap="none" anchor="ctr"/>
            <a:lstStyle/>
            <a:p>
              <a:endParaRPr lang="en-AU" dirty="0"/>
            </a:p>
          </p:txBody>
        </p:sp>
        <p:sp>
          <p:nvSpPr>
            <p:cNvPr id="47" name="Line 16"/>
            <p:cNvSpPr>
              <a:spLocks noChangeShapeType="1"/>
            </p:cNvSpPr>
            <p:nvPr/>
          </p:nvSpPr>
          <p:spPr bwMode="black">
            <a:xfrm flipV="1">
              <a:off x="2051720" y="2852936"/>
              <a:ext cx="1800200" cy="720080"/>
            </a:xfrm>
            <a:prstGeom prst="line">
              <a:avLst/>
            </a:prstGeom>
            <a:noFill/>
            <a:ln w="9525">
              <a:solidFill>
                <a:schemeClr val="tx1"/>
              </a:solidFill>
              <a:round/>
              <a:headEnd/>
              <a:tailEnd type="triangle" w="med" len="med"/>
            </a:ln>
          </p:spPr>
          <p:txBody>
            <a:bodyPr wrap="none" anchor="ctr"/>
            <a:lstStyle/>
            <a:p>
              <a:endParaRPr lang="en-AU" dirty="0"/>
            </a:p>
          </p:txBody>
        </p:sp>
        <p:sp>
          <p:nvSpPr>
            <p:cNvPr id="48" name="Line 16"/>
            <p:cNvSpPr>
              <a:spLocks noChangeShapeType="1"/>
            </p:cNvSpPr>
            <p:nvPr/>
          </p:nvSpPr>
          <p:spPr bwMode="black">
            <a:xfrm>
              <a:off x="2051720" y="5013176"/>
              <a:ext cx="1800200" cy="0"/>
            </a:xfrm>
            <a:prstGeom prst="line">
              <a:avLst/>
            </a:prstGeom>
            <a:noFill/>
            <a:ln w="9525">
              <a:solidFill>
                <a:schemeClr val="tx1"/>
              </a:solidFill>
              <a:round/>
              <a:headEnd/>
              <a:tailEnd type="triangle" w="med" len="med"/>
            </a:ln>
          </p:spPr>
          <p:txBody>
            <a:bodyPr wrap="none" anchor="ctr"/>
            <a:lstStyle/>
            <a:p>
              <a:endParaRPr lang="en-AU" dirty="0"/>
            </a:p>
          </p:txBody>
        </p:sp>
        <p:sp>
          <p:nvSpPr>
            <p:cNvPr id="49" name="Line 16"/>
            <p:cNvSpPr>
              <a:spLocks noChangeShapeType="1"/>
            </p:cNvSpPr>
            <p:nvPr/>
          </p:nvSpPr>
          <p:spPr bwMode="black">
            <a:xfrm>
              <a:off x="2051720" y="3573016"/>
              <a:ext cx="1800200" cy="0"/>
            </a:xfrm>
            <a:prstGeom prst="line">
              <a:avLst/>
            </a:prstGeom>
            <a:noFill/>
            <a:ln w="9525">
              <a:solidFill>
                <a:schemeClr val="tx1"/>
              </a:solidFill>
              <a:round/>
              <a:headEnd/>
              <a:tailEnd type="triangle" w="med" len="med"/>
            </a:ln>
          </p:spPr>
          <p:txBody>
            <a:bodyPr wrap="none" anchor="ctr"/>
            <a:lstStyle/>
            <a:p>
              <a:endParaRPr lang="en-AU" dirty="0"/>
            </a:p>
          </p:txBody>
        </p:sp>
      </p:grpSp>
    </p:spTree>
    <p:extLst>
      <p:ext uri="{BB962C8B-B14F-4D97-AF65-F5344CB8AC3E}">
        <p14:creationId xmlns:p14="http://schemas.microsoft.com/office/powerpoint/2010/main" val="38098182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Providing financial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marL="360000" indent="-360000">
              <a:spcBef>
                <a:spcPts val="600"/>
              </a:spcBef>
              <a:spcAft>
                <a:spcPts val="1200"/>
              </a:spcAft>
              <a:buClr>
                <a:srgbClr val="7FD13B"/>
              </a:buClr>
            </a:pPr>
            <a:r>
              <a:rPr lang="en-AU" sz="2200" dirty="0" smtClean="0">
                <a:latin typeface="Helvetica" pitchFamily="34" charset="0"/>
              </a:rPr>
              <a:t>How is financial information provided?</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Reports</a:t>
            </a:r>
          </a:p>
          <a:p>
            <a:pPr marL="360000" indent="-360000">
              <a:spcBef>
                <a:spcPts val="600"/>
              </a:spcBef>
              <a:spcAft>
                <a:spcPts val="1200"/>
              </a:spcAft>
              <a:buClr>
                <a:srgbClr val="7FD13B"/>
              </a:buClr>
            </a:pPr>
            <a:r>
              <a:rPr lang="en-AU" sz="2200" dirty="0" smtClean="0">
                <a:latin typeface="Helvetica" pitchFamily="34" charset="0"/>
              </a:rPr>
              <a:t>Why is financial information needed?</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Control</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Monitor</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Evaluate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4" descr="MP900385338.JPG"/>
          <p:cNvPicPr>
            <a:picLocks noChangeAspect="1"/>
          </p:cNvPicPr>
          <p:nvPr/>
        </p:nvPicPr>
        <p:blipFill>
          <a:blip r:embed="rId3" cstate="print"/>
          <a:stretch>
            <a:fillRect/>
          </a:stretch>
        </p:blipFill>
        <p:spPr>
          <a:xfrm>
            <a:off x="6516216" y="4077072"/>
            <a:ext cx="1889854" cy="1349896"/>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Providing financial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07293"/>
            <a:ext cx="7467600" cy="4525963"/>
          </a:xfrm>
        </p:spPr>
        <p:txBody>
          <a:bodyPr>
            <a:normAutofit/>
          </a:bodyPr>
          <a:lstStyle/>
          <a:p>
            <a:pPr marL="360000" indent="-360000">
              <a:spcBef>
                <a:spcPts val="600"/>
              </a:spcBef>
              <a:spcAft>
                <a:spcPts val="1200"/>
              </a:spcAft>
              <a:buNone/>
            </a:pPr>
            <a:r>
              <a:rPr lang="en-US" sz="2200" b="1" dirty="0" smtClean="0">
                <a:latin typeface="Helvetica" pitchFamily="34" charset="0"/>
              </a:rPr>
              <a:t>Hospitality and tourism business cycle</a:t>
            </a: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grpSp>
        <p:nvGrpSpPr>
          <p:cNvPr id="6" name="Group 22"/>
          <p:cNvGrpSpPr/>
          <p:nvPr/>
        </p:nvGrpSpPr>
        <p:grpSpPr>
          <a:xfrm>
            <a:off x="539552" y="1897510"/>
            <a:ext cx="7559677" cy="4483818"/>
            <a:chOff x="1331914" y="1773239"/>
            <a:chExt cx="7559677" cy="4483818"/>
          </a:xfrm>
        </p:grpSpPr>
        <p:grpSp>
          <p:nvGrpSpPr>
            <p:cNvPr id="7" name="Group 3"/>
            <p:cNvGrpSpPr>
              <a:grpSpLocks/>
            </p:cNvGrpSpPr>
            <p:nvPr/>
          </p:nvGrpSpPr>
          <p:grpSpPr bwMode="auto">
            <a:xfrm>
              <a:off x="1331914" y="1773239"/>
              <a:ext cx="7559677" cy="4248153"/>
              <a:chOff x="839" y="1117"/>
              <a:chExt cx="4762" cy="2676"/>
            </a:xfrm>
          </p:grpSpPr>
          <p:sp>
            <p:nvSpPr>
              <p:cNvPr id="11" name="Freeform 10"/>
              <p:cNvSpPr>
                <a:spLocks noEditPoints="1"/>
              </p:cNvSpPr>
              <p:nvPr/>
            </p:nvSpPr>
            <p:spPr bwMode="gray">
              <a:xfrm rot="20241944">
                <a:off x="914" y="1606"/>
                <a:ext cx="4594" cy="1873"/>
              </a:xfrm>
              <a:custGeom>
                <a:avLst/>
                <a:gdLst/>
                <a:ahLst/>
                <a:cxnLst>
                  <a:cxn ang="0">
                    <a:pos x="1692" y="12"/>
                  </a:cxn>
                  <a:cxn ang="0">
                    <a:pos x="1234" y="74"/>
                  </a:cxn>
                  <a:cxn ang="0">
                    <a:pos x="828" y="182"/>
                  </a:cxn>
                  <a:cxn ang="0">
                    <a:pos x="486" y="330"/>
                  </a:cxn>
                  <a:cxn ang="0">
                    <a:pos x="226" y="510"/>
                  </a:cxn>
                  <a:cxn ang="0">
                    <a:pos x="58" y="718"/>
                  </a:cxn>
                  <a:cxn ang="0">
                    <a:pos x="0" y="944"/>
                  </a:cxn>
                  <a:cxn ang="0">
                    <a:pos x="58" y="1170"/>
                  </a:cxn>
                  <a:cxn ang="0">
                    <a:pos x="226" y="1378"/>
                  </a:cxn>
                  <a:cxn ang="0">
                    <a:pos x="486" y="1558"/>
                  </a:cxn>
                  <a:cxn ang="0">
                    <a:pos x="828" y="1706"/>
                  </a:cxn>
                  <a:cxn ang="0">
                    <a:pos x="1234" y="1814"/>
                  </a:cxn>
                  <a:cxn ang="0">
                    <a:pos x="1692" y="1876"/>
                  </a:cxn>
                  <a:cxn ang="0">
                    <a:pos x="2186" y="1884"/>
                  </a:cxn>
                  <a:cxn ang="0">
                    <a:pos x="2658" y="1840"/>
                  </a:cxn>
                  <a:cxn ang="0">
                    <a:pos x="3084" y="1746"/>
                  </a:cxn>
                  <a:cxn ang="0">
                    <a:pos x="3448" y="1612"/>
                  </a:cxn>
                  <a:cxn ang="0">
                    <a:pos x="3738" y="1442"/>
                  </a:cxn>
                  <a:cxn ang="0">
                    <a:pos x="3938" y="1242"/>
                  </a:cxn>
                  <a:cxn ang="0">
                    <a:pos x="4034" y="1022"/>
                  </a:cxn>
                  <a:cxn ang="0">
                    <a:pos x="4014" y="790"/>
                  </a:cxn>
                  <a:cxn ang="0">
                    <a:pos x="3882" y="576"/>
                  </a:cxn>
                  <a:cxn ang="0">
                    <a:pos x="3650" y="386"/>
                  </a:cxn>
                  <a:cxn ang="0">
                    <a:pos x="3334" y="228"/>
                  </a:cxn>
                  <a:cxn ang="0">
                    <a:pos x="2948" y="106"/>
                  </a:cxn>
                  <a:cxn ang="0">
                    <a:pos x="2506" y="28"/>
                  </a:cxn>
                  <a:cxn ang="0">
                    <a:pos x="2020" y="0"/>
                  </a:cxn>
                  <a:cxn ang="0">
                    <a:pos x="1606" y="1736"/>
                  </a:cxn>
                  <a:cxn ang="0">
                    <a:pos x="1164" y="1678"/>
                  </a:cxn>
                  <a:cxn ang="0">
                    <a:pos x="776" y="1576"/>
                  </a:cxn>
                  <a:cxn ang="0">
                    <a:pos x="458" y="1436"/>
                  </a:cxn>
                  <a:cxn ang="0">
                    <a:pos x="224" y="1266"/>
                  </a:cxn>
                  <a:cxn ang="0">
                    <a:pos x="88" y="1074"/>
                  </a:cxn>
                  <a:cxn ang="0">
                    <a:pos x="68" y="864"/>
                  </a:cxn>
                  <a:cxn ang="0">
                    <a:pos x="166" y="664"/>
                  </a:cxn>
                  <a:cxn ang="0">
                    <a:pos x="370" y="486"/>
                  </a:cxn>
                  <a:cxn ang="0">
                    <a:pos x="662" y="336"/>
                  </a:cxn>
                  <a:cxn ang="0">
                    <a:pos x="1028" y="222"/>
                  </a:cxn>
                  <a:cxn ang="0">
                    <a:pos x="1454" y="148"/>
                  </a:cxn>
                  <a:cxn ang="0">
                    <a:pos x="1922" y="120"/>
                  </a:cxn>
                  <a:cxn ang="0">
                    <a:pos x="2392" y="148"/>
                  </a:cxn>
                  <a:cxn ang="0">
                    <a:pos x="2818" y="222"/>
                  </a:cxn>
                  <a:cxn ang="0">
                    <a:pos x="3184" y="336"/>
                  </a:cxn>
                  <a:cxn ang="0">
                    <a:pos x="3476" y="486"/>
                  </a:cxn>
                  <a:cxn ang="0">
                    <a:pos x="3680" y="664"/>
                  </a:cxn>
                  <a:cxn ang="0">
                    <a:pos x="3778" y="864"/>
                  </a:cxn>
                  <a:cxn ang="0">
                    <a:pos x="3758" y="1074"/>
                  </a:cxn>
                  <a:cxn ang="0">
                    <a:pos x="3622" y="1266"/>
                  </a:cxn>
                  <a:cxn ang="0">
                    <a:pos x="3388" y="1436"/>
                  </a:cxn>
                  <a:cxn ang="0">
                    <a:pos x="3070" y="1576"/>
                  </a:cxn>
                  <a:cxn ang="0">
                    <a:pos x="2682" y="1678"/>
                  </a:cxn>
                  <a:cxn ang="0">
                    <a:pos x="2240" y="1736"/>
                  </a:cxn>
                </a:cxnLst>
                <a:rect l="0" t="0" r="r" b="b"/>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1">
                <a:gsLst>
                  <a:gs pos="0">
                    <a:schemeClr val="tx1">
                      <a:lumMod val="75000"/>
                      <a:lumOff val="25000"/>
                    </a:schemeClr>
                  </a:gs>
                  <a:gs pos="100000">
                    <a:schemeClr val="bg2"/>
                  </a:gs>
                </a:gsLst>
                <a:lin ang="0" scaled="1"/>
              </a:gradFill>
              <a:ln w="0">
                <a:noFill/>
                <a:prstDash val="solid"/>
                <a:round/>
                <a:headEnd/>
                <a:tailEnd/>
              </a:ln>
            </p:spPr>
            <p:txBody>
              <a:bodyPr/>
              <a:lstStyle/>
              <a:p>
                <a:pPr>
                  <a:defRPr/>
                </a:pPr>
                <a:endParaRPr lang="en-AU" dirty="0"/>
              </a:p>
            </p:txBody>
          </p:sp>
          <p:sp>
            <p:nvSpPr>
              <p:cNvPr id="12" name="Oval 11"/>
              <p:cNvSpPr>
                <a:spLocks noChangeArrowheads="1"/>
              </p:cNvSpPr>
              <p:nvPr/>
            </p:nvSpPr>
            <p:spPr bwMode="gray">
              <a:xfrm>
                <a:off x="2154" y="1207"/>
                <a:ext cx="907" cy="907"/>
              </a:xfrm>
              <a:prstGeom prst="ellipse">
                <a:avLst/>
              </a:prstGeom>
              <a:gradFill rotWithShape="1">
                <a:gsLst>
                  <a:gs pos="0">
                    <a:schemeClr val="hlink"/>
                  </a:gs>
                  <a:gs pos="100000">
                    <a:schemeClr val="hlink">
                      <a:gamma/>
                      <a:shade val="34510"/>
                      <a:invGamma/>
                    </a:schemeClr>
                  </a:gs>
                </a:gsLst>
                <a:path path="shape">
                  <a:fillToRect l="50000" t="50000" r="50000" b="50000"/>
                </a:path>
              </a:gradFill>
              <a:ln w="9525">
                <a:noFill/>
                <a:round/>
                <a:headEnd/>
                <a:tailEnd/>
              </a:ln>
              <a:effectLst>
                <a:prstShdw prst="shdw12" dist="76200" dir="10800000">
                  <a:srgbClr val="001D3A">
                    <a:alpha val="50000"/>
                  </a:srgbClr>
                </a:prstShdw>
              </a:effectLst>
            </p:spPr>
            <p:txBody>
              <a:bodyPr wrap="none" anchor="ctr"/>
              <a:lstStyle/>
              <a:p>
                <a:pPr algn="ctr">
                  <a:defRPr/>
                </a:pPr>
                <a:endParaRPr lang="en-US" dirty="0"/>
              </a:p>
            </p:txBody>
          </p:sp>
          <p:sp>
            <p:nvSpPr>
              <p:cNvPr id="13" name="Oval 12"/>
              <p:cNvSpPr>
                <a:spLocks noChangeArrowheads="1"/>
              </p:cNvSpPr>
              <p:nvPr/>
            </p:nvSpPr>
            <p:spPr bwMode="gray">
              <a:xfrm>
                <a:off x="839" y="2886"/>
                <a:ext cx="907" cy="907"/>
              </a:xfrm>
              <a:prstGeom prst="ellipse">
                <a:avLst/>
              </a:prstGeom>
              <a:gradFill rotWithShape="1">
                <a:gsLst>
                  <a:gs pos="0">
                    <a:schemeClr val="accent1"/>
                  </a:gs>
                  <a:gs pos="100000">
                    <a:schemeClr val="accent1">
                      <a:gamma/>
                      <a:shade val="31373"/>
                      <a:invGamma/>
                    </a:schemeClr>
                  </a:gs>
                </a:gsLst>
                <a:path path="shape">
                  <a:fillToRect l="50000" t="50000" r="50000" b="50000"/>
                </a:path>
              </a:gradFill>
              <a:ln w="9525">
                <a:noFill/>
                <a:round/>
                <a:headEnd/>
                <a:tailEnd/>
              </a:ln>
              <a:effectLst>
                <a:prstShdw prst="shdw12" dist="76200" dir="10800000">
                  <a:srgbClr val="001D3A">
                    <a:alpha val="50000"/>
                  </a:srgbClr>
                </a:prstShdw>
              </a:effectLst>
            </p:spPr>
            <p:txBody>
              <a:bodyPr wrap="none" anchor="ctr"/>
              <a:lstStyle/>
              <a:p>
                <a:pPr algn="ctr">
                  <a:defRPr/>
                </a:pPr>
                <a:endParaRPr lang="en-US" dirty="0"/>
              </a:p>
            </p:txBody>
          </p:sp>
          <p:sp>
            <p:nvSpPr>
              <p:cNvPr id="14" name="Oval 13"/>
              <p:cNvSpPr>
                <a:spLocks noChangeArrowheads="1"/>
              </p:cNvSpPr>
              <p:nvPr/>
            </p:nvSpPr>
            <p:spPr bwMode="gray">
              <a:xfrm>
                <a:off x="3016" y="2704"/>
                <a:ext cx="907" cy="907"/>
              </a:xfrm>
              <a:prstGeom prst="ellipse">
                <a:avLst/>
              </a:prstGeom>
              <a:gradFill rotWithShape="1">
                <a:gsLst>
                  <a:gs pos="0">
                    <a:schemeClr val="bg2"/>
                  </a:gs>
                  <a:gs pos="100000">
                    <a:schemeClr val="bg2">
                      <a:gamma/>
                      <a:shade val="35686"/>
                      <a:invGamma/>
                    </a:schemeClr>
                  </a:gs>
                </a:gsLst>
                <a:path path="shape">
                  <a:fillToRect l="50000" t="50000" r="50000" b="50000"/>
                </a:path>
              </a:gradFill>
              <a:ln w="9525">
                <a:noFill/>
                <a:round/>
                <a:headEnd/>
                <a:tailEnd/>
              </a:ln>
              <a:effectLst>
                <a:prstShdw prst="shdw12" dist="76200" dir="10800000">
                  <a:srgbClr val="001D3A">
                    <a:alpha val="50000"/>
                  </a:srgbClr>
                </a:prstShdw>
              </a:effectLst>
            </p:spPr>
            <p:txBody>
              <a:bodyPr wrap="none" anchor="ctr"/>
              <a:lstStyle/>
              <a:p>
                <a:pPr algn="ctr">
                  <a:defRPr/>
                </a:pPr>
                <a:endParaRPr lang="en-US" dirty="0"/>
              </a:p>
            </p:txBody>
          </p:sp>
          <p:sp>
            <p:nvSpPr>
              <p:cNvPr id="15" name="Oval 14"/>
              <p:cNvSpPr>
                <a:spLocks noChangeArrowheads="1"/>
              </p:cNvSpPr>
              <p:nvPr/>
            </p:nvSpPr>
            <p:spPr bwMode="gray">
              <a:xfrm>
                <a:off x="4694" y="1117"/>
                <a:ext cx="907" cy="907"/>
              </a:xfrm>
              <a:prstGeom prst="ellipse">
                <a:avLst/>
              </a:prstGeom>
              <a:gradFill rotWithShape="1">
                <a:gsLst>
                  <a:gs pos="0">
                    <a:schemeClr val="folHlink"/>
                  </a:gs>
                  <a:gs pos="100000">
                    <a:schemeClr val="folHlink">
                      <a:gamma/>
                      <a:shade val="34510"/>
                      <a:invGamma/>
                    </a:schemeClr>
                  </a:gs>
                </a:gsLst>
                <a:path path="shape">
                  <a:fillToRect l="50000" t="50000" r="50000" b="50000"/>
                </a:path>
              </a:gradFill>
              <a:ln w="9525">
                <a:noFill/>
                <a:round/>
                <a:headEnd/>
                <a:tailEnd/>
              </a:ln>
              <a:effectLst>
                <a:prstShdw prst="shdw12" dist="76200" dir="10800000">
                  <a:srgbClr val="001D3A">
                    <a:alpha val="50000"/>
                  </a:srgbClr>
                </a:prstShdw>
              </a:effectLst>
            </p:spPr>
            <p:txBody>
              <a:bodyPr wrap="none" anchor="ctr"/>
              <a:lstStyle/>
              <a:p>
                <a:pPr algn="ctr">
                  <a:defRPr/>
                </a:pPr>
                <a:endParaRPr lang="en-US" dirty="0"/>
              </a:p>
            </p:txBody>
          </p:sp>
          <p:sp>
            <p:nvSpPr>
              <p:cNvPr id="16" name="Text Box 11"/>
              <p:cNvSpPr txBox="1">
                <a:spLocks noChangeArrowheads="1"/>
              </p:cNvSpPr>
              <p:nvPr/>
            </p:nvSpPr>
            <p:spPr bwMode="white">
              <a:xfrm>
                <a:off x="2199" y="1481"/>
                <a:ext cx="804" cy="407"/>
              </a:xfrm>
              <a:prstGeom prst="rect">
                <a:avLst/>
              </a:prstGeom>
              <a:noFill/>
              <a:ln w="9525">
                <a:noFill/>
                <a:miter lim="800000"/>
                <a:headEnd/>
                <a:tailEnd/>
              </a:ln>
            </p:spPr>
            <p:txBody>
              <a:bodyPr wrap="none">
                <a:spAutoFit/>
              </a:bodyPr>
              <a:lstStyle/>
              <a:p>
                <a:pPr algn="ctr"/>
                <a:r>
                  <a:rPr lang="en-AU" sz="1200" b="1" dirty="0" smtClean="0">
                    <a:solidFill>
                      <a:schemeClr val="bg1"/>
                    </a:solidFill>
                    <a:latin typeface="Helvetica" pitchFamily="34" charset="0"/>
                  </a:rPr>
                  <a:t>Cash reserves </a:t>
                </a:r>
                <a:br>
                  <a:rPr lang="en-AU" sz="1200" b="1" dirty="0" smtClean="0">
                    <a:solidFill>
                      <a:schemeClr val="bg1"/>
                    </a:solidFill>
                    <a:latin typeface="Helvetica" pitchFamily="34" charset="0"/>
                  </a:rPr>
                </a:br>
                <a:r>
                  <a:rPr lang="en-AU" sz="1200" b="1" dirty="0" smtClean="0">
                    <a:solidFill>
                      <a:schemeClr val="bg1"/>
                    </a:solidFill>
                    <a:latin typeface="Helvetica" pitchFamily="34" charset="0"/>
                  </a:rPr>
                  <a:t>(&amp; credit </a:t>
                </a:r>
                <a:br>
                  <a:rPr lang="en-AU" sz="1200" b="1" dirty="0" smtClean="0">
                    <a:solidFill>
                      <a:schemeClr val="bg1"/>
                    </a:solidFill>
                    <a:latin typeface="Helvetica" pitchFamily="34" charset="0"/>
                  </a:rPr>
                </a:br>
                <a:r>
                  <a:rPr lang="en-AU" sz="1200" b="1" dirty="0" smtClean="0">
                    <a:solidFill>
                      <a:schemeClr val="bg1"/>
                    </a:solidFill>
                    <a:latin typeface="Helvetica" pitchFamily="34" charset="0"/>
                  </a:rPr>
                  <a:t>facilities)</a:t>
                </a:r>
              </a:p>
            </p:txBody>
          </p:sp>
          <p:sp>
            <p:nvSpPr>
              <p:cNvPr id="17" name="Text Box 12"/>
              <p:cNvSpPr txBox="1">
                <a:spLocks noChangeArrowheads="1"/>
              </p:cNvSpPr>
              <p:nvPr/>
            </p:nvSpPr>
            <p:spPr bwMode="white">
              <a:xfrm>
                <a:off x="4785" y="1253"/>
                <a:ext cx="771" cy="591"/>
              </a:xfrm>
              <a:prstGeom prst="rect">
                <a:avLst/>
              </a:prstGeom>
              <a:noFill/>
              <a:ln w="9525">
                <a:noFill/>
                <a:miter lim="800000"/>
                <a:headEnd/>
                <a:tailEnd/>
              </a:ln>
            </p:spPr>
            <p:txBody>
              <a:bodyPr wrap="square">
                <a:spAutoFit/>
              </a:bodyPr>
              <a:lstStyle/>
              <a:p>
                <a:pPr lvl="0" algn="ctr"/>
                <a:r>
                  <a:rPr lang="en-AU" sz="1100" b="1" dirty="0" smtClean="0">
                    <a:solidFill>
                      <a:schemeClr val="bg1"/>
                    </a:solidFill>
                    <a:latin typeface="Helvetica" pitchFamily="34" charset="0"/>
                  </a:rPr>
                  <a:t>Supplies, </a:t>
                </a:r>
                <a:br>
                  <a:rPr lang="en-AU" sz="1100" b="1" dirty="0" smtClean="0">
                    <a:solidFill>
                      <a:schemeClr val="bg1"/>
                    </a:solidFill>
                    <a:latin typeface="Helvetica" pitchFamily="34" charset="0"/>
                  </a:rPr>
                </a:br>
                <a:r>
                  <a:rPr lang="en-AU" sz="1100" b="1" dirty="0" smtClean="0">
                    <a:solidFill>
                      <a:schemeClr val="bg1"/>
                    </a:solidFill>
                    <a:latin typeface="Helvetica" pitchFamily="34" charset="0"/>
                  </a:rPr>
                  <a:t>labour &amp; other  expenses to produce goods &amp; services</a:t>
                </a:r>
                <a:endParaRPr lang="en-AU" sz="1100" b="1" dirty="0">
                  <a:solidFill>
                    <a:schemeClr val="bg1"/>
                  </a:solidFill>
                  <a:latin typeface="Helvetica" pitchFamily="34" charset="0"/>
                </a:endParaRPr>
              </a:p>
            </p:txBody>
          </p:sp>
          <p:sp>
            <p:nvSpPr>
              <p:cNvPr id="18" name="Text Box 13"/>
              <p:cNvSpPr txBox="1">
                <a:spLocks noChangeArrowheads="1"/>
              </p:cNvSpPr>
              <p:nvPr/>
            </p:nvSpPr>
            <p:spPr bwMode="white">
              <a:xfrm>
                <a:off x="3197" y="2977"/>
                <a:ext cx="545" cy="407"/>
              </a:xfrm>
              <a:prstGeom prst="rect">
                <a:avLst/>
              </a:prstGeom>
              <a:noFill/>
              <a:ln w="9525">
                <a:noFill/>
                <a:miter lim="800000"/>
                <a:headEnd/>
                <a:tailEnd/>
              </a:ln>
            </p:spPr>
            <p:txBody>
              <a:bodyPr wrap="square">
                <a:spAutoFit/>
              </a:bodyPr>
              <a:lstStyle/>
              <a:p>
                <a:pPr lvl="0" algn="ctr"/>
                <a:r>
                  <a:rPr lang="en-AU" sz="1200" b="1" dirty="0" smtClean="0">
                    <a:solidFill>
                      <a:schemeClr val="bg1"/>
                    </a:solidFill>
                    <a:latin typeface="Helvetica" pitchFamily="34" charset="0"/>
                  </a:rPr>
                  <a:t>Sales of </a:t>
                </a:r>
                <a:br>
                  <a:rPr lang="en-AU" sz="1200" b="1" dirty="0" smtClean="0">
                    <a:solidFill>
                      <a:schemeClr val="bg1"/>
                    </a:solidFill>
                    <a:latin typeface="Helvetica" pitchFamily="34" charset="0"/>
                  </a:rPr>
                </a:br>
                <a:r>
                  <a:rPr lang="en-AU" sz="1200" b="1" dirty="0" smtClean="0">
                    <a:solidFill>
                      <a:schemeClr val="bg1"/>
                    </a:solidFill>
                    <a:latin typeface="Helvetica" pitchFamily="34" charset="0"/>
                  </a:rPr>
                  <a:t>goods &amp; </a:t>
                </a:r>
                <a:br>
                  <a:rPr lang="en-AU" sz="1200" b="1" dirty="0" smtClean="0">
                    <a:solidFill>
                      <a:schemeClr val="bg1"/>
                    </a:solidFill>
                    <a:latin typeface="Helvetica" pitchFamily="34" charset="0"/>
                  </a:rPr>
                </a:br>
                <a:r>
                  <a:rPr lang="en-AU" sz="1200" b="1" dirty="0" smtClean="0">
                    <a:solidFill>
                      <a:schemeClr val="bg1"/>
                    </a:solidFill>
                    <a:latin typeface="Helvetica" pitchFamily="34" charset="0"/>
                  </a:rPr>
                  <a:t>services </a:t>
                </a:r>
                <a:endParaRPr lang="en-AU" sz="1200" b="1" dirty="0">
                  <a:solidFill>
                    <a:schemeClr val="bg1"/>
                  </a:solidFill>
                  <a:latin typeface="Helvetica" pitchFamily="34" charset="0"/>
                </a:endParaRPr>
              </a:p>
            </p:txBody>
          </p:sp>
          <p:sp>
            <p:nvSpPr>
              <p:cNvPr id="19" name="Text Box 14"/>
              <p:cNvSpPr txBox="1">
                <a:spLocks noChangeArrowheads="1"/>
              </p:cNvSpPr>
              <p:nvPr/>
            </p:nvSpPr>
            <p:spPr bwMode="white">
              <a:xfrm>
                <a:off x="992" y="3158"/>
                <a:ext cx="613" cy="407"/>
              </a:xfrm>
              <a:prstGeom prst="rect">
                <a:avLst/>
              </a:prstGeom>
              <a:noFill/>
              <a:ln w="9525">
                <a:noFill/>
                <a:miter lim="800000"/>
                <a:headEnd/>
                <a:tailEnd/>
              </a:ln>
            </p:spPr>
            <p:txBody>
              <a:bodyPr wrap="none">
                <a:spAutoFit/>
              </a:bodyPr>
              <a:lstStyle/>
              <a:p>
                <a:pPr lvl="0" algn="ctr"/>
                <a:r>
                  <a:rPr lang="en-AU" sz="1200" b="1" dirty="0" smtClean="0">
                    <a:solidFill>
                      <a:schemeClr val="bg1"/>
                    </a:solidFill>
                    <a:latin typeface="Helvetica" pitchFamily="34" charset="0"/>
                  </a:rPr>
                  <a:t>Accounts </a:t>
                </a:r>
                <a:br>
                  <a:rPr lang="en-AU" sz="1200" b="1" dirty="0" smtClean="0">
                    <a:solidFill>
                      <a:schemeClr val="bg1"/>
                    </a:solidFill>
                    <a:latin typeface="Helvetica" pitchFamily="34" charset="0"/>
                  </a:rPr>
                </a:br>
                <a:r>
                  <a:rPr lang="en-AU" sz="1200" b="1" dirty="0" smtClean="0">
                    <a:solidFill>
                      <a:schemeClr val="bg1"/>
                    </a:solidFill>
                    <a:latin typeface="Helvetica" pitchFamily="34" charset="0"/>
                  </a:rPr>
                  <a:t>receivable </a:t>
                </a:r>
                <a:br>
                  <a:rPr lang="en-AU" sz="1200" b="1" dirty="0" smtClean="0">
                    <a:solidFill>
                      <a:schemeClr val="bg1"/>
                    </a:solidFill>
                    <a:latin typeface="Helvetica" pitchFamily="34" charset="0"/>
                  </a:rPr>
                </a:br>
                <a:r>
                  <a:rPr lang="en-AU" sz="1200" b="1" dirty="0" smtClean="0">
                    <a:solidFill>
                      <a:schemeClr val="bg1"/>
                    </a:solidFill>
                    <a:latin typeface="Helvetica" pitchFamily="34" charset="0"/>
                  </a:rPr>
                  <a:t>or  cash</a:t>
                </a:r>
                <a:endParaRPr lang="en-AU" sz="1200" b="1" dirty="0">
                  <a:solidFill>
                    <a:schemeClr val="bg1"/>
                  </a:solidFill>
                  <a:latin typeface="Helvetica" pitchFamily="34" charset="0"/>
                </a:endParaRPr>
              </a:p>
            </p:txBody>
          </p:sp>
          <p:sp>
            <p:nvSpPr>
              <p:cNvPr id="20" name="Text Box 15"/>
              <p:cNvSpPr txBox="1">
                <a:spLocks noChangeArrowheads="1"/>
              </p:cNvSpPr>
              <p:nvPr/>
            </p:nvSpPr>
            <p:spPr bwMode="auto">
              <a:xfrm>
                <a:off x="2835" y="2251"/>
                <a:ext cx="771" cy="233"/>
              </a:xfrm>
              <a:prstGeom prst="rect">
                <a:avLst/>
              </a:prstGeom>
              <a:noFill/>
              <a:ln w="9525">
                <a:noFill/>
                <a:miter lim="800000"/>
                <a:headEnd/>
                <a:tailEnd/>
              </a:ln>
            </p:spPr>
            <p:txBody>
              <a:bodyPr wrap="square">
                <a:spAutoFit/>
              </a:bodyPr>
              <a:lstStyle/>
              <a:p>
                <a:pPr algn="ctr"/>
                <a:r>
                  <a:rPr lang="en-AU" b="1" dirty="0">
                    <a:latin typeface="Helvetica" pitchFamily="34" charset="0"/>
                  </a:rPr>
                  <a:t>Profits</a:t>
                </a:r>
              </a:p>
            </p:txBody>
          </p:sp>
          <p:sp>
            <p:nvSpPr>
              <p:cNvPr id="21" name="Text Box 18"/>
              <p:cNvSpPr txBox="1">
                <a:spLocks noChangeArrowheads="1"/>
              </p:cNvSpPr>
              <p:nvPr/>
            </p:nvSpPr>
            <p:spPr bwMode="auto">
              <a:xfrm rot="19261597">
                <a:off x="1373" y="2144"/>
                <a:ext cx="638" cy="194"/>
              </a:xfrm>
              <a:prstGeom prst="rect">
                <a:avLst/>
              </a:prstGeom>
              <a:noFill/>
              <a:ln w="9525">
                <a:noFill/>
                <a:miter lim="800000"/>
                <a:headEnd/>
                <a:tailEnd/>
              </a:ln>
            </p:spPr>
            <p:txBody>
              <a:bodyPr wrap="square">
                <a:spAutoFit/>
              </a:bodyPr>
              <a:lstStyle/>
              <a:p>
                <a:pPr algn="ctr"/>
                <a:r>
                  <a:rPr lang="en-AU" sz="1400" b="1" dirty="0" smtClean="0">
                    <a:latin typeface="Helvetica" pitchFamily="34" charset="0"/>
                  </a:rPr>
                  <a:t>Supplies</a:t>
                </a:r>
                <a:endParaRPr lang="en-AU" sz="1400" b="1" dirty="0">
                  <a:latin typeface="Helvetica" pitchFamily="34" charset="0"/>
                </a:endParaRPr>
              </a:p>
            </p:txBody>
          </p:sp>
        </p:grpSp>
        <p:sp>
          <p:nvSpPr>
            <p:cNvPr id="8" name="Text Box 15"/>
            <p:cNvSpPr txBox="1">
              <a:spLocks noChangeArrowheads="1"/>
            </p:cNvSpPr>
            <p:nvPr/>
          </p:nvSpPr>
          <p:spPr bwMode="auto">
            <a:xfrm rot="21013029">
              <a:off x="5160220" y="1824598"/>
              <a:ext cx="1728192" cy="307777"/>
            </a:xfrm>
            <a:prstGeom prst="rect">
              <a:avLst/>
            </a:prstGeom>
            <a:noFill/>
            <a:ln w="9525">
              <a:noFill/>
              <a:miter lim="800000"/>
              <a:headEnd/>
              <a:tailEnd/>
            </a:ln>
          </p:spPr>
          <p:txBody>
            <a:bodyPr wrap="square">
              <a:spAutoFit/>
            </a:bodyPr>
            <a:lstStyle/>
            <a:p>
              <a:r>
                <a:rPr lang="en-AU" sz="1400" b="1" dirty="0">
                  <a:latin typeface="Helvetica" pitchFamily="34" charset="0"/>
                </a:rPr>
                <a:t>Used to purchase</a:t>
              </a:r>
            </a:p>
          </p:txBody>
        </p:sp>
        <p:sp>
          <p:nvSpPr>
            <p:cNvPr id="9" name="Text Box 15"/>
            <p:cNvSpPr txBox="1">
              <a:spLocks noChangeArrowheads="1"/>
            </p:cNvSpPr>
            <p:nvPr/>
          </p:nvSpPr>
          <p:spPr bwMode="auto">
            <a:xfrm rot="19464329">
              <a:off x="6809409" y="4540856"/>
              <a:ext cx="1080120" cy="307777"/>
            </a:xfrm>
            <a:prstGeom prst="rect">
              <a:avLst/>
            </a:prstGeom>
            <a:noFill/>
            <a:ln w="9525">
              <a:noFill/>
              <a:miter lim="800000"/>
              <a:headEnd/>
              <a:tailEnd/>
            </a:ln>
          </p:spPr>
          <p:txBody>
            <a:bodyPr wrap="square">
              <a:spAutoFit/>
            </a:bodyPr>
            <a:lstStyle/>
            <a:p>
              <a:r>
                <a:rPr lang="en-AU" sz="1400" b="1" dirty="0">
                  <a:latin typeface="Helvetica" pitchFamily="34" charset="0"/>
                </a:rPr>
                <a:t>Produces</a:t>
              </a:r>
            </a:p>
          </p:txBody>
        </p:sp>
        <p:sp>
          <p:nvSpPr>
            <p:cNvPr id="10" name="Text Box 15"/>
            <p:cNvSpPr txBox="1">
              <a:spLocks noChangeArrowheads="1"/>
            </p:cNvSpPr>
            <p:nvPr/>
          </p:nvSpPr>
          <p:spPr bwMode="auto">
            <a:xfrm rot="21284794">
              <a:off x="3419872" y="5949280"/>
              <a:ext cx="1152128" cy="307777"/>
            </a:xfrm>
            <a:prstGeom prst="rect">
              <a:avLst/>
            </a:prstGeom>
            <a:noFill/>
            <a:ln w="9525">
              <a:noFill/>
              <a:miter lim="800000"/>
              <a:headEnd/>
              <a:tailEnd/>
            </a:ln>
          </p:spPr>
          <p:txBody>
            <a:bodyPr wrap="square">
              <a:spAutoFit/>
            </a:bodyPr>
            <a:lstStyle/>
            <a:p>
              <a:r>
                <a:rPr lang="en-AU" sz="1400" b="1" dirty="0">
                  <a:latin typeface="Helvetica" pitchFamily="34" charset="0"/>
                </a:rPr>
                <a:t>Generates</a:t>
              </a:r>
            </a:p>
          </p:txBody>
        </p:sp>
      </p:grpSp>
      <p:sp>
        <p:nvSpPr>
          <p:cNvPr id="22" name="Line 16"/>
          <p:cNvSpPr>
            <a:spLocks noChangeShapeType="1"/>
          </p:cNvSpPr>
          <p:nvPr/>
        </p:nvSpPr>
        <p:spPr bwMode="black">
          <a:xfrm flipV="1">
            <a:off x="2483768" y="4129758"/>
            <a:ext cx="1656184" cy="432048"/>
          </a:xfrm>
          <a:prstGeom prst="line">
            <a:avLst/>
          </a:prstGeom>
          <a:noFill/>
          <a:ln w="9525">
            <a:solidFill>
              <a:schemeClr val="tx1"/>
            </a:solidFill>
            <a:round/>
            <a:headEnd/>
            <a:tailEnd type="triangle" w="med" len="med"/>
          </a:ln>
        </p:spPr>
        <p:txBody>
          <a:bodyPr wrap="none" anchor="ctr"/>
          <a:lstStyle/>
          <a:p>
            <a:endParaRPr lang="en-AU" dirty="0"/>
          </a:p>
        </p:txBody>
      </p:sp>
      <p:cxnSp>
        <p:nvCxnSpPr>
          <p:cNvPr id="23" name="AutoShape 17"/>
          <p:cNvCxnSpPr>
            <a:cxnSpLocks noChangeShapeType="1"/>
          </p:cNvCxnSpPr>
          <p:nvPr/>
        </p:nvCxnSpPr>
        <p:spPr bwMode="black">
          <a:xfrm flipH="1">
            <a:off x="1907704" y="4561806"/>
            <a:ext cx="576064" cy="648072"/>
          </a:xfrm>
          <a:prstGeom prst="straightConnector1">
            <a:avLst/>
          </a:prstGeom>
          <a:noFill/>
          <a:ln w="9525">
            <a:solidFill>
              <a:schemeClr val="tx1"/>
            </a:solidFill>
            <a:round/>
            <a:headEnd/>
            <a:tailEnd/>
          </a:ln>
        </p:spPr>
      </p:cxnSp>
    </p:spTree>
    <p:extLst>
      <p:ext uri="{BB962C8B-B14F-4D97-AF65-F5344CB8AC3E}">
        <p14:creationId xmlns:p14="http://schemas.microsoft.com/office/powerpoint/2010/main" val="2315397995"/>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Providing financial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256584"/>
          </a:xfrm>
        </p:spPr>
        <p:txBody>
          <a:bodyPr>
            <a:normAutofit/>
          </a:bodyPr>
          <a:lstStyle/>
          <a:p>
            <a:pPr marL="360000" indent="-360000">
              <a:spcBef>
                <a:spcPts val="600"/>
              </a:spcBef>
              <a:spcAft>
                <a:spcPts val="1200"/>
              </a:spcAft>
              <a:buClr>
                <a:srgbClr val="7FD13B"/>
              </a:buClr>
            </a:pPr>
            <a:r>
              <a:rPr lang="en-AU" sz="2200" dirty="0" smtClean="0">
                <a:latin typeface="Helvetica" pitchFamily="34" charset="0"/>
              </a:rPr>
              <a:t>Sales or revenue cycle: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Daily operating cycle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Weekly operating cycle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Seasonal cycle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Economic cycles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descr="MP900442284.JPG"/>
          <p:cNvPicPr>
            <a:picLocks noChangeAspect="1"/>
          </p:cNvPicPr>
          <p:nvPr/>
        </p:nvPicPr>
        <p:blipFill>
          <a:blip r:embed="rId3" cstate="print"/>
          <a:stretch>
            <a:fillRect/>
          </a:stretch>
        </p:blipFill>
        <p:spPr>
          <a:xfrm>
            <a:off x="6804248" y="3356992"/>
            <a:ext cx="1599642" cy="2132856"/>
          </a:xfrm>
          <a:prstGeom prst="rect">
            <a:avLst/>
          </a:prstGeom>
        </p:spPr>
      </p:pic>
    </p:spTree>
    <p:extLst>
      <p:ext uri="{BB962C8B-B14F-4D97-AF65-F5344CB8AC3E}">
        <p14:creationId xmlns:p14="http://schemas.microsoft.com/office/powerpoint/2010/main" val="241658567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196752"/>
            <a:ext cx="7467600" cy="5544616"/>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The profit and loss statement:</a:t>
            </a:r>
          </a:p>
          <a:p>
            <a:pPr marL="360000" indent="-360000">
              <a:spcBef>
                <a:spcPts val="600"/>
              </a:spcBef>
              <a:spcAft>
                <a:spcPts val="1200"/>
              </a:spcAft>
              <a:buClr>
                <a:srgbClr val="7FD13B"/>
              </a:buClr>
            </a:pPr>
            <a:r>
              <a:rPr lang="en-AU" sz="2200" dirty="0" smtClean="0">
                <a:latin typeface="Helvetica" pitchFamily="34" charset="0"/>
              </a:rPr>
              <a:t>Definition and purpose</a:t>
            </a:r>
          </a:p>
          <a:p>
            <a:pPr marL="360000" indent="-360000">
              <a:spcBef>
                <a:spcPts val="600"/>
              </a:spcBef>
              <a:spcAft>
                <a:spcPts val="1200"/>
              </a:spcAft>
              <a:buClr>
                <a:srgbClr val="7FD13B"/>
              </a:buClr>
            </a:pPr>
            <a:r>
              <a:rPr lang="en-AU" sz="2200" dirty="0" smtClean="0">
                <a:latin typeface="Helvetica" pitchFamily="34" charset="0"/>
              </a:rPr>
              <a:t>Revenue less Expenses = Net Profit or Loss</a:t>
            </a:r>
          </a:p>
          <a:p>
            <a:pPr marL="360000" indent="-360000">
              <a:spcBef>
                <a:spcPts val="600"/>
              </a:spcBef>
              <a:spcAft>
                <a:spcPts val="1200"/>
              </a:spcAft>
              <a:buClr>
                <a:srgbClr val="7FD13B"/>
              </a:buClr>
            </a:pPr>
            <a:r>
              <a:rPr lang="en-AU" sz="2200" dirty="0" smtClean="0">
                <a:latin typeface="Helvetica" pitchFamily="34" charset="0"/>
              </a:rPr>
              <a:t>Frequency</a:t>
            </a:r>
          </a:p>
          <a:p>
            <a:pPr marL="360000" indent="-360000">
              <a:spcBef>
                <a:spcPts val="600"/>
              </a:spcBef>
              <a:spcAft>
                <a:spcPts val="1200"/>
              </a:spcAft>
              <a:buClr>
                <a:srgbClr val="7FD13B"/>
              </a:buClr>
            </a:pPr>
            <a:r>
              <a:rPr lang="en-AU" sz="2200" dirty="0" smtClean="0">
                <a:latin typeface="Helvetica" pitchFamily="34" charset="0"/>
              </a:rPr>
              <a:t>Format</a:t>
            </a:r>
          </a:p>
          <a:p>
            <a:pPr marL="360000" indent="-360000">
              <a:spcBef>
                <a:spcPts val="600"/>
              </a:spcBef>
              <a:spcAft>
                <a:spcPts val="1200"/>
              </a:spcAft>
              <a:buClr>
                <a:srgbClr val="7FD13B"/>
              </a:buClr>
            </a:pPr>
            <a:r>
              <a:rPr lang="en-AU" sz="2200" dirty="0" smtClean="0">
                <a:latin typeface="Helvetica" pitchFamily="34" charset="0"/>
              </a:rPr>
              <a:t>Department or functional area</a:t>
            </a:r>
          </a:p>
          <a:p>
            <a:pPr marL="360000" indent="-360000">
              <a:spcBef>
                <a:spcPts val="600"/>
              </a:spcBef>
              <a:spcAft>
                <a:spcPts val="1200"/>
              </a:spcAft>
              <a:buClr>
                <a:srgbClr val="7FD13B"/>
              </a:buClr>
            </a:pPr>
            <a:r>
              <a:rPr lang="en-AU" sz="2200" dirty="0" smtClean="0">
                <a:latin typeface="Helvetica" pitchFamily="34" charset="0"/>
              </a:rPr>
              <a:t>Comparative data</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4" descr="MP900387255.JPG"/>
          <p:cNvPicPr>
            <a:picLocks noChangeAspect="1"/>
          </p:cNvPicPr>
          <p:nvPr/>
        </p:nvPicPr>
        <p:blipFill>
          <a:blip r:embed="rId3" cstate="print"/>
          <a:stretch>
            <a:fillRect/>
          </a:stretch>
        </p:blipFill>
        <p:spPr>
          <a:xfrm>
            <a:off x="6588224" y="4149097"/>
            <a:ext cx="1817000" cy="1296127"/>
          </a:xfrm>
          <a:prstGeom prst="rect">
            <a:avLst/>
          </a:prstGeom>
        </p:spPr>
      </p:pic>
    </p:spTree>
    <p:extLst>
      <p:ext uri="{BB962C8B-B14F-4D97-AF65-F5344CB8AC3E}">
        <p14:creationId xmlns:p14="http://schemas.microsoft.com/office/powerpoint/2010/main" val="252949250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83568" y="1124744"/>
            <a:ext cx="7467600" cy="4968552"/>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Preparing the profit and loss statement:</a:t>
            </a:r>
          </a:p>
          <a:p>
            <a:pPr marL="360000" indent="-360000">
              <a:spcBef>
                <a:spcPts val="600"/>
              </a:spcBef>
              <a:spcAft>
                <a:spcPts val="1200"/>
              </a:spcAft>
              <a:buClr>
                <a:srgbClr val="7FD13B"/>
              </a:buClr>
            </a:pPr>
            <a:r>
              <a:rPr lang="en-AU" sz="2200" dirty="0" smtClean="0">
                <a:latin typeface="Helvetica" pitchFamily="34" charset="0"/>
              </a:rPr>
              <a:t>Headings</a:t>
            </a:r>
          </a:p>
          <a:p>
            <a:pPr marL="360000" indent="-360000">
              <a:spcBef>
                <a:spcPts val="600"/>
              </a:spcBef>
              <a:spcAft>
                <a:spcPts val="1200"/>
              </a:spcAft>
              <a:buClr>
                <a:srgbClr val="7FD13B"/>
              </a:buClr>
            </a:pPr>
            <a:r>
              <a:rPr lang="en-AU" sz="2200" dirty="0" smtClean="0">
                <a:latin typeface="Helvetica" pitchFamily="34" charset="0"/>
              </a:rPr>
              <a:t>Sales accounts</a:t>
            </a:r>
          </a:p>
          <a:p>
            <a:pPr marL="360000" indent="-360000">
              <a:spcBef>
                <a:spcPts val="600"/>
              </a:spcBef>
              <a:spcAft>
                <a:spcPts val="1200"/>
              </a:spcAft>
              <a:buClr>
                <a:srgbClr val="7FD13B"/>
              </a:buClr>
            </a:pPr>
            <a:r>
              <a:rPr lang="en-AU" sz="2200" dirty="0" smtClean="0">
                <a:latin typeface="Helvetica" pitchFamily="34" charset="0"/>
              </a:rPr>
              <a:t>Cost of sales or </a:t>
            </a:r>
          </a:p>
          <a:p>
            <a:pPr marL="0" indent="0">
              <a:spcBef>
                <a:spcPts val="600"/>
              </a:spcBef>
              <a:spcAft>
                <a:spcPts val="1200"/>
              </a:spcAft>
              <a:buClr>
                <a:srgbClr val="7FD13B"/>
              </a:buClr>
              <a:buNone/>
            </a:pPr>
            <a:r>
              <a:rPr lang="en-AU" sz="2200" dirty="0" smtClean="0">
                <a:latin typeface="Helvetica" pitchFamily="34" charset="0"/>
              </a:rPr>
              <a:t>Cost of goods sold:</a:t>
            </a:r>
          </a:p>
          <a:p>
            <a:pPr marL="360000" indent="-360000">
              <a:spcBef>
                <a:spcPts val="600"/>
              </a:spcBef>
              <a:spcAft>
                <a:spcPts val="1200"/>
              </a:spcAft>
              <a:buClr>
                <a:srgbClr val="7FD13B"/>
              </a:buClr>
            </a:pPr>
            <a:r>
              <a:rPr lang="en-AU" sz="2200" dirty="0" smtClean="0">
                <a:latin typeface="Helvetica" pitchFamily="34" charset="0"/>
              </a:rPr>
              <a:t>Gross profit</a:t>
            </a:r>
          </a:p>
          <a:p>
            <a:pPr marL="360000" indent="-360000">
              <a:spcBef>
                <a:spcPts val="600"/>
              </a:spcBef>
              <a:spcAft>
                <a:spcPts val="1200"/>
              </a:spcAft>
              <a:buClr>
                <a:srgbClr val="7FD13B"/>
              </a:buClr>
            </a:pPr>
            <a:r>
              <a:rPr lang="en-AU" sz="2200" dirty="0" smtClean="0">
                <a:latin typeface="Helvetica" pitchFamily="34" charset="0"/>
              </a:rPr>
              <a:t>Other expenses</a:t>
            </a:r>
          </a:p>
          <a:p>
            <a:pPr marL="360000" indent="-360000">
              <a:spcBef>
                <a:spcPts val="600"/>
              </a:spcBef>
              <a:spcAft>
                <a:spcPts val="1200"/>
              </a:spcAft>
              <a:buClr>
                <a:srgbClr val="7FD13B"/>
              </a:buClr>
            </a:pPr>
            <a:endParaRPr lang="en-AU" sz="2200" dirty="0" smtClean="0">
              <a:latin typeface="Helvetica" pitchFamily="34" charset="0"/>
            </a:endParaRPr>
          </a:p>
          <a:p>
            <a:pPr marL="720000" indent="-360000">
              <a:spcBef>
                <a:spcPts val="600"/>
              </a:spcBef>
              <a:spcAft>
                <a:spcPts val="1200"/>
              </a:spcAft>
              <a:buClr>
                <a:srgbClr val="7FD13B"/>
              </a:buClr>
              <a:buSzPct val="100000"/>
              <a:buFont typeface="Arial" pitchFamily="34" charset="0"/>
              <a:buChar char="•"/>
            </a:pPr>
            <a:endParaRPr lang="en-AU" sz="2200" dirty="0" smtClean="0">
              <a:latin typeface="Helvetica" pitchFamily="34" charset="0"/>
            </a:endParaRPr>
          </a:p>
          <a:p>
            <a:pPr marL="720000" indent="-360000">
              <a:spcBef>
                <a:spcPts val="600"/>
              </a:spcBef>
              <a:spcAft>
                <a:spcPts val="1200"/>
              </a:spcAft>
              <a:buClr>
                <a:srgbClr val="7FD13B"/>
              </a:buClr>
              <a:buSzPct val="100000"/>
              <a:buFont typeface="Arial" pitchFamily="34" charset="0"/>
              <a:buChar char="•"/>
            </a:pPr>
            <a:endParaRPr lang="en-AU" sz="2200" dirty="0" smtClean="0">
              <a:latin typeface="Helvetica" pitchFamily="34" charset="0"/>
            </a:endParaRPr>
          </a:p>
          <a:p>
            <a:pPr marL="360000" indent="-360000">
              <a:spcBef>
                <a:spcPts val="600"/>
              </a:spcBef>
              <a:spcAft>
                <a:spcPts val="1200"/>
              </a:spcAft>
              <a:buClr>
                <a:srgbClr val="7FD13B"/>
              </a:buClr>
            </a:pPr>
            <a:endParaRPr lang="en-AU" sz="2200" dirty="0" smtClean="0">
              <a:latin typeface="Helvetica" pitchFamily="34" charset="0"/>
            </a:endParaRPr>
          </a:p>
          <a:p>
            <a:pPr marL="360000" indent="-360000">
              <a:spcBef>
                <a:spcPts val="600"/>
              </a:spcBef>
              <a:spcAft>
                <a:spcPts val="1200"/>
              </a:spcAft>
              <a:buClr>
                <a:srgbClr val="7FD13B"/>
              </a:buClr>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graphicFrame>
        <p:nvGraphicFramePr>
          <p:cNvPr id="7" name="Table 6"/>
          <p:cNvGraphicFramePr>
            <a:graphicFrameLocks noGrp="1"/>
          </p:cNvGraphicFramePr>
          <p:nvPr/>
        </p:nvGraphicFramePr>
        <p:xfrm>
          <a:off x="4211960" y="1628800"/>
          <a:ext cx="3227846" cy="4110382"/>
        </p:xfrm>
        <a:graphic>
          <a:graphicData uri="http://schemas.openxmlformats.org/drawingml/2006/table">
            <a:tbl>
              <a:tblPr/>
              <a:tblGrid>
                <a:gridCol w="943188"/>
                <a:gridCol w="594381"/>
                <a:gridCol w="778430"/>
                <a:gridCol w="699701"/>
                <a:gridCol w="212146"/>
              </a:tblGrid>
              <a:tr h="955702">
                <a:tc gridSpan="5">
                  <a:txBody>
                    <a:bodyPr/>
                    <a:lstStyle/>
                    <a:p>
                      <a:pPr algn="ctr">
                        <a:lnSpc>
                          <a:spcPct val="115000"/>
                        </a:lnSpc>
                        <a:spcBef>
                          <a:spcPts val="1200"/>
                        </a:spcBef>
                        <a:spcAft>
                          <a:spcPts val="300"/>
                        </a:spcAft>
                      </a:pPr>
                      <a:r>
                        <a:rPr lang="en-AU" sz="1300" b="1" dirty="0">
                          <a:latin typeface="Helvetica"/>
                          <a:ea typeface="Calibri"/>
                          <a:cs typeface="Times New Roman"/>
                        </a:rPr>
                        <a:t>Your place</a:t>
                      </a:r>
                      <a:br>
                        <a:rPr lang="en-AU" sz="1300" b="1" dirty="0">
                          <a:latin typeface="Helvetica"/>
                          <a:ea typeface="Calibri"/>
                          <a:cs typeface="Times New Roman"/>
                        </a:rPr>
                      </a:br>
                      <a:r>
                        <a:rPr lang="en-AU" sz="1300" b="1" dirty="0">
                          <a:latin typeface="Helvetica"/>
                          <a:ea typeface="Calibri"/>
                          <a:cs typeface="Times New Roman"/>
                        </a:rPr>
                        <a:t>profile and loss statement</a:t>
                      </a:r>
                      <a:br>
                        <a:rPr lang="en-AU" sz="1300" b="1" dirty="0">
                          <a:latin typeface="Helvetica"/>
                          <a:ea typeface="Calibri"/>
                          <a:cs typeface="Times New Roman"/>
                        </a:rPr>
                      </a:br>
                      <a:r>
                        <a:rPr lang="en-AU" sz="1300" b="1" dirty="0">
                          <a:latin typeface="Helvetica"/>
                          <a:ea typeface="Calibri"/>
                          <a:cs typeface="Times New Roman"/>
                        </a:rPr>
                        <a:t>for period ending Day, Month, Year</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r>
              <a:tr h="172683">
                <a:tc gridSpan="2">
                  <a:txBody>
                    <a:bodyPr/>
                    <a:lstStyle/>
                    <a:p>
                      <a:pPr marL="71755">
                        <a:lnSpc>
                          <a:spcPct val="115000"/>
                        </a:lnSpc>
                        <a:spcBef>
                          <a:spcPts val="300"/>
                        </a:spcBef>
                        <a:spcAft>
                          <a:spcPts val="300"/>
                        </a:spcAft>
                      </a:pPr>
                      <a:r>
                        <a:rPr lang="en-AU" sz="1000" dirty="0">
                          <a:latin typeface="Helvetica"/>
                          <a:ea typeface="Calibri"/>
                          <a:cs typeface="Times New Roman"/>
                        </a:rPr>
                        <a:t>Cash sales</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r>
                        <a:rPr lang="en-AU" sz="1000" dirty="0">
                          <a:latin typeface="Helvetica"/>
                          <a:ea typeface="Calibri"/>
                          <a:cs typeface="Times New Roman"/>
                        </a:rPr>
                        <a:t>48,620.00</a:t>
                      </a:r>
                      <a:endParaRPr lang="en-AU" sz="900" dirty="0">
                        <a:latin typeface="Calibri"/>
                        <a:ea typeface="Calibri"/>
                        <a:cs typeface="Times New Roman"/>
                      </a:endParaRPr>
                    </a:p>
                  </a:txBody>
                  <a:tcPr marL="56310" marR="56310" marT="0" marB="0">
                    <a:lnL>
                      <a:noFill/>
                    </a:lnL>
                    <a:lnR>
                      <a:noFill/>
                    </a:lnR>
                    <a:lnT>
                      <a:noFill/>
                    </a:lnT>
                    <a:lnB>
                      <a:noFill/>
                    </a:lnB>
                  </a:tcPr>
                </a:tc>
                <a:tc>
                  <a:txBody>
                    <a:bodyPr/>
                    <a:lstStyle/>
                    <a:p>
                      <a:pPr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2">
                  <a:txBody>
                    <a:bodyPr/>
                    <a:lstStyle/>
                    <a:p>
                      <a:pPr marL="71755">
                        <a:lnSpc>
                          <a:spcPct val="115000"/>
                        </a:lnSpc>
                        <a:spcBef>
                          <a:spcPts val="300"/>
                        </a:spcBef>
                        <a:spcAft>
                          <a:spcPts val="300"/>
                        </a:spcAft>
                      </a:pPr>
                      <a:r>
                        <a:rPr lang="en-AU" sz="1000" dirty="0">
                          <a:latin typeface="Helvetica"/>
                          <a:ea typeface="Calibri"/>
                          <a:cs typeface="Times New Roman"/>
                        </a:rPr>
                        <a:t>Credit sales</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r>
                        <a:rPr lang="en-AU" sz="1000" dirty="0">
                          <a:latin typeface="Helvetica"/>
                          <a:ea typeface="Calibri"/>
                          <a:cs typeface="Times New Roman"/>
                        </a:rPr>
                        <a:t>11,000.00</a:t>
                      </a:r>
                      <a:endParaRPr lang="en-AU" sz="900" dirty="0">
                        <a:latin typeface="Calibri"/>
                        <a:ea typeface="Calibri"/>
                        <a:cs typeface="Times New Roman"/>
                      </a:endParaRPr>
                    </a:p>
                  </a:txBody>
                  <a:tcPr marL="56310" marR="5631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2">
                  <a:txBody>
                    <a:bodyPr/>
                    <a:lstStyle/>
                    <a:p>
                      <a:pPr marL="71755" algn="r">
                        <a:lnSpc>
                          <a:spcPct val="115000"/>
                        </a:lnSpc>
                        <a:spcBef>
                          <a:spcPts val="300"/>
                        </a:spcBef>
                        <a:spcAft>
                          <a:spcPts val="300"/>
                        </a:spcAft>
                      </a:pPr>
                      <a:r>
                        <a:rPr lang="en-AU" sz="1000" dirty="0">
                          <a:latin typeface="Helvetica"/>
                          <a:ea typeface="Calibri"/>
                          <a:cs typeface="Times New Roman"/>
                        </a:rPr>
                        <a:t>Total sales</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15000"/>
                        </a:lnSpc>
                        <a:spcBef>
                          <a:spcPts val="300"/>
                        </a:spcBef>
                        <a:spcAft>
                          <a:spcPts val="300"/>
                        </a:spcAft>
                      </a:pPr>
                      <a:r>
                        <a:rPr lang="en-AU" sz="1000" dirty="0">
                          <a:latin typeface="Helvetica"/>
                          <a:ea typeface="Calibri"/>
                          <a:cs typeface="Times New Roman"/>
                        </a:rPr>
                        <a:t>59,620.00</a:t>
                      </a:r>
                      <a:endParaRPr lang="en-AU" sz="900" dirty="0">
                        <a:latin typeface="Calibri"/>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2">
                  <a:txBody>
                    <a:bodyPr/>
                    <a:lstStyle/>
                    <a:p>
                      <a:pPr marL="71755">
                        <a:lnSpc>
                          <a:spcPct val="115000"/>
                        </a:lnSpc>
                        <a:spcBef>
                          <a:spcPts val="300"/>
                        </a:spcBef>
                        <a:spcAft>
                          <a:spcPts val="300"/>
                        </a:spcAft>
                      </a:pPr>
                      <a:r>
                        <a:rPr lang="en-AU" sz="1000" dirty="0">
                          <a:latin typeface="Helvetica"/>
                          <a:ea typeface="Calibri"/>
                          <a:cs typeface="Times New Roman"/>
                        </a:rPr>
                        <a:t>Less COGS</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2">
                  <a:txBody>
                    <a:bodyPr/>
                    <a:lstStyle/>
                    <a:p>
                      <a:pPr marL="71755">
                        <a:lnSpc>
                          <a:spcPct val="115000"/>
                        </a:lnSpc>
                        <a:spcBef>
                          <a:spcPts val="300"/>
                        </a:spcBef>
                        <a:spcAft>
                          <a:spcPts val="300"/>
                        </a:spcAft>
                      </a:pPr>
                      <a:r>
                        <a:rPr lang="en-AU" sz="1000" dirty="0">
                          <a:latin typeface="Helvetica"/>
                          <a:ea typeface="Calibri"/>
                          <a:cs typeface="Times New Roman"/>
                        </a:rPr>
                        <a:t>Opening stock</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r>
                        <a:rPr lang="en-AU" sz="1000" dirty="0">
                          <a:latin typeface="Helvetica"/>
                          <a:ea typeface="Calibri"/>
                          <a:cs typeface="Times New Roman"/>
                        </a:rPr>
                        <a:t>10,000.00</a:t>
                      </a:r>
                      <a:endParaRPr lang="en-AU" sz="900" dirty="0">
                        <a:latin typeface="Calibri"/>
                        <a:ea typeface="Calibri"/>
                        <a:cs typeface="Times New Roman"/>
                      </a:endParaRPr>
                    </a:p>
                  </a:txBody>
                  <a:tcPr marL="56310" marR="56310" marT="0" marB="0">
                    <a:lnL>
                      <a:noFill/>
                    </a:lnL>
                    <a:lnR>
                      <a:noFill/>
                    </a:lnR>
                    <a:lnT>
                      <a:noFill/>
                    </a:lnT>
                    <a:lnB>
                      <a:noFill/>
                    </a:lnB>
                  </a:tcPr>
                </a:tc>
                <a:tc>
                  <a:txBody>
                    <a:bodyPr/>
                    <a:lstStyle/>
                    <a:p>
                      <a:pPr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2">
                  <a:txBody>
                    <a:bodyPr/>
                    <a:lstStyle/>
                    <a:p>
                      <a:pPr marL="71755">
                        <a:lnSpc>
                          <a:spcPct val="115000"/>
                        </a:lnSpc>
                        <a:spcBef>
                          <a:spcPts val="300"/>
                        </a:spcBef>
                        <a:spcAft>
                          <a:spcPts val="300"/>
                        </a:spcAft>
                      </a:pPr>
                      <a:r>
                        <a:rPr lang="en-AU" sz="1000" dirty="0">
                          <a:latin typeface="Helvetica"/>
                          <a:ea typeface="Calibri"/>
                          <a:cs typeface="Times New Roman"/>
                        </a:rPr>
                        <a:t>Purchases</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r>
                        <a:rPr lang="en-AU" sz="1000" dirty="0">
                          <a:latin typeface="Helvetica"/>
                          <a:ea typeface="Calibri"/>
                          <a:cs typeface="Times New Roman"/>
                        </a:rPr>
                        <a:t>25,300.00</a:t>
                      </a:r>
                      <a:endParaRPr lang="en-AU" sz="900" dirty="0">
                        <a:latin typeface="Calibri"/>
                        <a:ea typeface="Calibri"/>
                        <a:cs typeface="Times New Roman"/>
                      </a:endParaRPr>
                    </a:p>
                  </a:txBody>
                  <a:tcPr marL="56310" marR="56310" marT="0" marB="0">
                    <a:lnL>
                      <a:noFill/>
                    </a:lnL>
                    <a:lnR>
                      <a:noFill/>
                    </a:lnR>
                    <a:lnT>
                      <a:noFill/>
                    </a:lnT>
                    <a:lnB>
                      <a:noFill/>
                    </a:lnB>
                  </a:tcPr>
                </a:tc>
                <a:tc>
                  <a:txBody>
                    <a:bodyPr/>
                    <a:lstStyle/>
                    <a:p>
                      <a:pPr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345366">
                <a:tc gridSpan="2">
                  <a:txBody>
                    <a:bodyPr/>
                    <a:lstStyle/>
                    <a:p>
                      <a:pPr marL="71755">
                        <a:lnSpc>
                          <a:spcPct val="115000"/>
                        </a:lnSpc>
                        <a:spcBef>
                          <a:spcPts val="300"/>
                        </a:spcBef>
                        <a:spcAft>
                          <a:spcPts val="300"/>
                        </a:spcAft>
                      </a:pPr>
                      <a:r>
                        <a:rPr lang="en-AU" sz="1000" dirty="0">
                          <a:latin typeface="Helvetica"/>
                          <a:ea typeface="Calibri"/>
                          <a:cs typeface="Times New Roman"/>
                        </a:rPr>
                        <a:t>End stock</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r>
                        <a:rPr lang="en-AU" sz="1000" dirty="0">
                          <a:latin typeface="Helvetica"/>
                          <a:ea typeface="Calibri"/>
                          <a:cs typeface="Times New Roman"/>
                        </a:rPr>
                        <a:t>(15,000.00)</a:t>
                      </a:r>
                      <a:endParaRPr lang="en-AU" sz="900" dirty="0">
                        <a:latin typeface="Calibri"/>
                        <a:ea typeface="Calibri"/>
                        <a:cs typeface="Times New Roman"/>
                      </a:endParaRPr>
                    </a:p>
                  </a:txBody>
                  <a:tcPr marL="56310" marR="5631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2">
                  <a:txBody>
                    <a:bodyPr/>
                    <a:lstStyle/>
                    <a:p>
                      <a:pPr marL="71755">
                        <a:lnSpc>
                          <a:spcPct val="115000"/>
                        </a:lnSpc>
                        <a:spcBef>
                          <a:spcPts val="300"/>
                        </a:spcBef>
                        <a:spcAft>
                          <a:spcPts val="300"/>
                        </a:spcAft>
                      </a:pPr>
                      <a:r>
                        <a:rPr lang="en-AU" sz="1000" dirty="0">
                          <a:latin typeface="Helvetica"/>
                          <a:ea typeface="Calibri"/>
                          <a:cs typeface="Times New Roman"/>
                        </a:rPr>
                        <a:t>Total cost of goods sold</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15000"/>
                        </a:lnSpc>
                        <a:spcBef>
                          <a:spcPts val="300"/>
                        </a:spcBef>
                        <a:spcAft>
                          <a:spcPts val="300"/>
                        </a:spcAft>
                      </a:pPr>
                      <a:r>
                        <a:rPr lang="en-AU" sz="1000" dirty="0">
                          <a:latin typeface="Helvetica"/>
                          <a:ea typeface="Calibri"/>
                          <a:cs typeface="Times New Roman"/>
                        </a:rPr>
                        <a:t>20,300.00</a:t>
                      </a:r>
                      <a:endParaRPr lang="en-AU" sz="900" dirty="0">
                        <a:latin typeface="Calibri"/>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2">
                  <a:txBody>
                    <a:bodyPr/>
                    <a:lstStyle/>
                    <a:p>
                      <a:pPr marL="71755" algn="r">
                        <a:lnSpc>
                          <a:spcPct val="115000"/>
                        </a:lnSpc>
                        <a:spcBef>
                          <a:spcPts val="300"/>
                        </a:spcBef>
                        <a:spcAft>
                          <a:spcPts val="300"/>
                        </a:spcAft>
                      </a:pPr>
                      <a:r>
                        <a:rPr lang="en-AU" sz="1000" b="1" dirty="0">
                          <a:latin typeface="Helvetica"/>
                          <a:ea typeface="Calibri"/>
                          <a:cs typeface="Times New Roman"/>
                        </a:rPr>
                        <a:t>Gross profit</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gn="r">
                        <a:lnSpc>
                          <a:spcPct val="115000"/>
                        </a:lnSpc>
                        <a:spcBef>
                          <a:spcPts val="300"/>
                        </a:spcBef>
                        <a:spcAft>
                          <a:spcPts val="300"/>
                        </a:spcAft>
                      </a:pPr>
                      <a:r>
                        <a:rPr lang="en-AU" sz="1000" dirty="0">
                          <a:latin typeface="Helvetica"/>
                          <a:ea typeface="Calibri"/>
                          <a:cs typeface="Times New Roman"/>
                        </a:rPr>
                        <a:t>39,320.00</a:t>
                      </a:r>
                      <a:endParaRPr lang="en-AU" sz="900" dirty="0">
                        <a:latin typeface="Calibri"/>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2">
                  <a:txBody>
                    <a:bodyPr/>
                    <a:lstStyle/>
                    <a:p>
                      <a:pPr marL="71755">
                        <a:lnSpc>
                          <a:spcPct val="115000"/>
                        </a:lnSpc>
                        <a:spcBef>
                          <a:spcPts val="300"/>
                        </a:spcBef>
                        <a:spcAft>
                          <a:spcPts val="300"/>
                        </a:spcAft>
                      </a:pPr>
                      <a:r>
                        <a:rPr lang="en-AU" sz="1000" dirty="0">
                          <a:latin typeface="Helvetica"/>
                          <a:ea typeface="Calibri"/>
                          <a:cs typeface="Times New Roman"/>
                        </a:rPr>
                        <a:t>Operating expenses</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r>
                        <a:rPr lang="en-AU" sz="1000" dirty="0">
                          <a:latin typeface="Helvetica"/>
                          <a:ea typeface="Calibri"/>
                          <a:cs typeface="Times New Roman"/>
                        </a:rPr>
                        <a:t>17,620.00</a:t>
                      </a:r>
                      <a:endParaRPr lang="en-AU" sz="900" dirty="0">
                        <a:latin typeface="Calibri"/>
                        <a:ea typeface="Calibri"/>
                        <a:cs typeface="Times New Roman"/>
                      </a:endParaRPr>
                    </a:p>
                  </a:txBody>
                  <a:tcPr marL="56310" marR="56310" marT="0" marB="0">
                    <a:lnL>
                      <a:noFill/>
                    </a:lnL>
                    <a:lnR>
                      <a:noFill/>
                    </a:lnR>
                    <a:lnT>
                      <a:noFill/>
                    </a:lnT>
                    <a:lnB>
                      <a:noFill/>
                    </a:lnB>
                  </a:tcPr>
                </a:tc>
                <a:tc>
                  <a:txBody>
                    <a:bodyPr/>
                    <a:lstStyle/>
                    <a:p>
                      <a:pPr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2">
                  <a:txBody>
                    <a:bodyPr/>
                    <a:lstStyle/>
                    <a:p>
                      <a:pPr marL="71755">
                        <a:lnSpc>
                          <a:spcPct val="115000"/>
                        </a:lnSpc>
                        <a:spcBef>
                          <a:spcPts val="300"/>
                        </a:spcBef>
                        <a:spcAft>
                          <a:spcPts val="300"/>
                        </a:spcAft>
                      </a:pPr>
                      <a:r>
                        <a:rPr lang="en-AU" sz="1000" dirty="0">
                          <a:latin typeface="Helvetica"/>
                          <a:ea typeface="Calibri"/>
                          <a:cs typeface="Times New Roman"/>
                        </a:rPr>
                        <a:t>Wages</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r>
                        <a:rPr lang="en-AU" sz="1000" dirty="0">
                          <a:latin typeface="Helvetica"/>
                          <a:ea typeface="Calibri"/>
                          <a:cs typeface="Times New Roman"/>
                        </a:rPr>
                        <a:t>3,524.00</a:t>
                      </a:r>
                      <a:endParaRPr lang="en-AU" sz="900" dirty="0">
                        <a:latin typeface="Calibri"/>
                        <a:ea typeface="Calibri"/>
                        <a:cs typeface="Times New Roman"/>
                      </a:endParaRPr>
                    </a:p>
                  </a:txBody>
                  <a:tcPr marL="56310" marR="56310" marT="0" marB="0">
                    <a:lnL>
                      <a:noFill/>
                    </a:lnL>
                    <a:lnR>
                      <a:noFill/>
                    </a:lnR>
                    <a:lnT>
                      <a:noFill/>
                    </a:lnT>
                    <a:lnB>
                      <a:noFill/>
                    </a:lnB>
                  </a:tcPr>
                </a:tc>
                <a:tc>
                  <a:txBody>
                    <a:bodyPr/>
                    <a:lstStyle/>
                    <a:p>
                      <a:pPr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2">
                  <a:txBody>
                    <a:bodyPr/>
                    <a:lstStyle/>
                    <a:p>
                      <a:pPr marL="71755">
                        <a:lnSpc>
                          <a:spcPct val="115000"/>
                        </a:lnSpc>
                        <a:spcBef>
                          <a:spcPts val="300"/>
                        </a:spcBef>
                        <a:spcAft>
                          <a:spcPts val="300"/>
                        </a:spcAft>
                      </a:pPr>
                      <a:r>
                        <a:rPr lang="en-AU" sz="1000" dirty="0">
                          <a:latin typeface="Helvetica"/>
                          <a:ea typeface="Calibri"/>
                          <a:cs typeface="Times New Roman"/>
                        </a:rPr>
                        <a:t>Rent</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r>
                        <a:rPr lang="en-AU" sz="1000" dirty="0">
                          <a:latin typeface="Helvetica"/>
                          <a:ea typeface="Calibri"/>
                          <a:cs typeface="Times New Roman"/>
                        </a:rPr>
                        <a:t>1,815.00</a:t>
                      </a:r>
                      <a:endParaRPr lang="en-AU" sz="900" dirty="0">
                        <a:latin typeface="Calibri"/>
                        <a:ea typeface="Calibri"/>
                        <a:cs typeface="Times New Roman"/>
                      </a:endParaRPr>
                    </a:p>
                  </a:txBody>
                  <a:tcPr marL="56310" marR="56310" marT="0" marB="0">
                    <a:lnL>
                      <a:noFill/>
                    </a:lnL>
                    <a:lnR>
                      <a:noFill/>
                    </a:lnR>
                    <a:lnT>
                      <a:noFill/>
                    </a:lnT>
                    <a:lnB>
                      <a:noFill/>
                    </a:lnB>
                  </a:tcPr>
                </a:tc>
                <a:tc>
                  <a:txBody>
                    <a:bodyPr/>
                    <a:lstStyle/>
                    <a:p>
                      <a:pPr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2">
                  <a:txBody>
                    <a:bodyPr/>
                    <a:lstStyle/>
                    <a:p>
                      <a:pPr marL="71755">
                        <a:lnSpc>
                          <a:spcPct val="115000"/>
                        </a:lnSpc>
                        <a:spcBef>
                          <a:spcPts val="300"/>
                        </a:spcBef>
                        <a:spcAft>
                          <a:spcPts val="300"/>
                        </a:spcAft>
                      </a:pPr>
                      <a:r>
                        <a:rPr lang="en-AU" sz="1000" dirty="0">
                          <a:latin typeface="Helvetica"/>
                          <a:ea typeface="Calibri"/>
                          <a:cs typeface="Times New Roman"/>
                        </a:rPr>
                        <a:t>Insurance</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r>
                        <a:rPr lang="en-AU" sz="1000" dirty="0">
                          <a:latin typeface="Helvetica"/>
                          <a:ea typeface="Calibri"/>
                          <a:cs typeface="Times New Roman"/>
                        </a:rPr>
                        <a:t>1,650.00</a:t>
                      </a:r>
                      <a:endParaRPr lang="en-AU" sz="900" dirty="0">
                        <a:latin typeface="Calibri"/>
                        <a:ea typeface="Calibri"/>
                        <a:cs typeface="Times New Roman"/>
                      </a:endParaRPr>
                    </a:p>
                  </a:txBody>
                  <a:tcPr marL="56310" marR="56310" marT="0" marB="0">
                    <a:lnL>
                      <a:noFill/>
                    </a:lnL>
                    <a:lnR>
                      <a:noFill/>
                    </a:lnR>
                    <a:lnT>
                      <a:noFill/>
                    </a:lnT>
                    <a:lnB>
                      <a:noFill/>
                    </a:lnB>
                  </a:tcPr>
                </a:tc>
                <a:tc>
                  <a:txBody>
                    <a:bodyPr/>
                    <a:lstStyle/>
                    <a:p>
                      <a:pPr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2">
                  <a:txBody>
                    <a:bodyPr/>
                    <a:lstStyle/>
                    <a:p>
                      <a:pPr marL="71755">
                        <a:lnSpc>
                          <a:spcPct val="115000"/>
                        </a:lnSpc>
                        <a:spcBef>
                          <a:spcPts val="300"/>
                        </a:spcBef>
                        <a:spcAft>
                          <a:spcPts val="300"/>
                        </a:spcAft>
                      </a:pPr>
                      <a:r>
                        <a:rPr lang="en-AU" sz="1000" dirty="0">
                          <a:latin typeface="Helvetica"/>
                          <a:ea typeface="Calibri"/>
                          <a:cs typeface="Times New Roman"/>
                        </a:rPr>
                        <a:t>Office supplies</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marL="71755" algn="r">
                        <a:lnSpc>
                          <a:spcPct val="115000"/>
                        </a:lnSpc>
                        <a:spcBef>
                          <a:spcPts val="300"/>
                        </a:spcBef>
                        <a:spcAft>
                          <a:spcPts val="300"/>
                        </a:spcAft>
                      </a:pPr>
                      <a:r>
                        <a:rPr lang="en-AU" sz="1000" dirty="0">
                          <a:latin typeface="Helvetica"/>
                          <a:ea typeface="Calibri"/>
                          <a:cs typeface="Times New Roman"/>
                        </a:rPr>
                        <a:t>550.00</a:t>
                      </a:r>
                      <a:endParaRPr lang="en-AU" sz="900" dirty="0">
                        <a:latin typeface="Calibri"/>
                        <a:ea typeface="Calibri"/>
                        <a:cs typeface="Times New Roman"/>
                      </a:endParaRPr>
                    </a:p>
                  </a:txBody>
                  <a:tcPr marL="56310" marR="5631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3">
                  <a:txBody>
                    <a:bodyPr/>
                    <a:lstStyle/>
                    <a:p>
                      <a:pPr marL="71755">
                        <a:lnSpc>
                          <a:spcPct val="115000"/>
                        </a:lnSpc>
                        <a:spcBef>
                          <a:spcPts val="300"/>
                        </a:spcBef>
                        <a:spcAft>
                          <a:spcPts val="1800"/>
                        </a:spcAft>
                      </a:pPr>
                      <a:r>
                        <a:rPr lang="en-AU" sz="1000" dirty="0">
                          <a:latin typeface="Helvetica"/>
                          <a:ea typeface="Calibri"/>
                          <a:cs typeface="Times New Roman"/>
                        </a:rPr>
                        <a:t>Total operating expenses</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hMerge="1">
                  <a:txBody>
                    <a:bodyPr/>
                    <a:lstStyle/>
                    <a:p>
                      <a:endParaRPr lang="en-AU"/>
                    </a:p>
                  </a:txBody>
                  <a:tcPr/>
                </a:tc>
                <a:tc>
                  <a:txBody>
                    <a:bodyPr/>
                    <a:lstStyle/>
                    <a:p>
                      <a:pPr algn="r">
                        <a:lnSpc>
                          <a:spcPct val="115000"/>
                        </a:lnSpc>
                        <a:spcBef>
                          <a:spcPts val="300"/>
                        </a:spcBef>
                        <a:spcAft>
                          <a:spcPts val="1800"/>
                        </a:spcAft>
                      </a:pPr>
                      <a:r>
                        <a:rPr lang="en-AU" sz="1000" dirty="0">
                          <a:latin typeface="Helvetica"/>
                          <a:ea typeface="Calibri"/>
                          <a:cs typeface="Times New Roman"/>
                        </a:rPr>
                        <a:t>25,159.00</a:t>
                      </a:r>
                      <a:endParaRPr lang="en-AU" sz="900" dirty="0">
                        <a:latin typeface="Calibri"/>
                        <a:ea typeface="Calibri"/>
                        <a:cs typeface="Times New Roman"/>
                      </a:endParaRPr>
                    </a:p>
                  </a:txBody>
                  <a:tcPr marL="56310" marR="5631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gridSpan="2">
                  <a:txBody>
                    <a:bodyPr/>
                    <a:lstStyle/>
                    <a:p>
                      <a:pPr algn="r">
                        <a:lnSpc>
                          <a:spcPct val="115000"/>
                        </a:lnSpc>
                        <a:spcBef>
                          <a:spcPts val="300"/>
                        </a:spcBef>
                        <a:spcAft>
                          <a:spcPts val="300"/>
                        </a:spcAft>
                      </a:pPr>
                      <a:r>
                        <a:rPr lang="en-AU" sz="1000" dirty="0">
                          <a:latin typeface="Helvetica"/>
                          <a:ea typeface="Calibri"/>
                          <a:cs typeface="Times New Roman"/>
                        </a:rPr>
                        <a:t>Net profit</a:t>
                      </a:r>
                      <a:endParaRPr lang="en-AU" sz="900" dirty="0">
                        <a:latin typeface="Calibri"/>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AU"/>
                    </a:p>
                  </a:txBody>
                  <a:tcPr/>
                </a:tc>
                <a:tc>
                  <a:txBody>
                    <a:bodyPr/>
                    <a:lstStyle/>
                    <a:p>
                      <a:pPr algn="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a:noFill/>
                    </a:lnB>
                  </a:tcPr>
                </a:tc>
                <a:tc>
                  <a:txBody>
                    <a:bodyPr/>
                    <a:lstStyle/>
                    <a:p>
                      <a:pPr algn="r">
                        <a:lnSpc>
                          <a:spcPct val="115000"/>
                        </a:lnSpc>
                        <a:spcBef>
                          <a:spcPts val="300"/>
                        </a:spcBef>
                        <a:spcAft>
                          <a:spcPts val="300"/>
                        </a:spcAft>
                      </a:pPr>
                      <a:r>
                        <a:rPr lang="en-AU" sz="1000" dirty="0">
                          <a:latin typeface="Helvetica"/>
                          <a:ea typeface="Calibri"/>
                          <a:cs typeface="Times New Roman"/>
                        </a:rPr>
                        <a:t>14,161.00</a:t>
                      </a:r>
                      <a:endParaRPr lang="en-AU" sz="900" dirty="0">
                        <a:latin typeface="Calibri"/>
                        <a:ea typeface="Calibri"/>
                        <a:cs typeface="Times New Roman"/>
                      </a:endParaRPr>
                    </a:p>
                  </a:txBody>
                  <a:tcPr marL="56310" marR="56310" marT="0" marB="0">
                    <a:lnL>
                      <a:noFill/>
                    </a:lnL>
                    <a:lnR>
                      <a:noFill/>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a:noFill/>
                    </a:lnB>
                  </a:tcPr>
                </a:tc>
              </a:tr>
              <a:tr h="172683">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a:noFill/>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Bef>
                          <a:spcPts val="300"/>
                        </a:spcBef>
                        <a:spcAft>
                          <a:spcPts val="300"/>
                        </a:spcAft>
                      </a:pPr>
                      <a:endParaRPr lang="en-AU" sz="1000" dirty="0">
                        <a:latin typeface="Helvetica"/>
                        <a:ea typeface="Calibri"/>
                        <a:cs typeface="Times New Roman"/>
                      </a:endParaRPr>
                    </a:p>
                  </a:txBody>
                  <a:tcPr marL="56310" marR="5631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95308684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124744"/>
            <a:ext cx="7467600" cy="5472608"/>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The Balance sheet:</a:t>
            </a:r>
          </a:p>
          <a:p>
            <a:pPr marL="360000" indent="-360000">
              <a:spcBef>
                <a:spcPts val="600"/>
              </a:spcBef>
              <a:spcAft>
                <a:spcPts val="1200"/>
              </a:spcAft>
              <a:buClr>
                <a:srgbClr val="7FD13B"/>
              </a:buClr>
            </a:pPr>
            <a:r>
              <a:rPr lang="en-AU" sz="2200" dirty="0" smtClean="0">
                <a:latin typeface="Helvetica" pitchFamily="34" charset="0"/>
              </a:rPr>
              <a:t>Definition and purpose</a:t>
            </a:r>
          </a:p>
          <a:p>
            <a:pPr marL="360000" indent="-360000">
              <a:spcBef>
                <a:spcPts val="600"/>
              </a:spcBef>
              <a:spcAft>
                <a:spcPts val="1200"/>
              </a:spcAft>
              <a:buClr>
                <a:srgbClr val="7FD13B"/>
              </a:buClr>
            </a:pPr>
            <a:r>
              <a:rPr lang="en-AU" sz="2200" dirty="0" smtClean="0">
                <a:latin typeface="Helvetica" pitchFamily="34" charset="0"/>
              </a:rPr>
              <a:t>The Accounting equation</a:t>
            </a:r>
          </a:p>
          <a:p>
            <a:pPr marL="0" indent="0">
              <a:spcBef>
                <a:spcPts val="600"/>
              </a:spcBef>
              <a:spcAft>
                <a:spcPts val="1200"/>
              </a:spcAft>
              <a:buClr>
                <a:srgbClr val="7FD13B"/>
              </a:buClr>
              <a:buNone/>
            </a:pPr>
            <a:r>
              <a:rPr lang="en-AU" sz="2200" dirty="0" smtClean="0">
                <a:latin typeface="Helvetica" pitchFamily="34" charset="0"/>
              </a:rPr>
              <a:t>	Assets – Liabilities = Equity</a:t>
            </a:r>
          </a:p>
          <a:p>
            <a:pPr marL="360000" indent="-360000">
              <a:spcBef>
                <a:spcPts val="600"/>
              </a:spcBef>
              <a:spcAft>
                <a:spcPts val="1200"/>
              </a:spcAft>
              <a:buClr>
                <a:srgbClr val="7FD13B"/>
              </a:buClr>
            </a:pPr>
            <a:r>
              <a:rPr lang="en-AU" sz="2200" dirty="0" smtClean="0">
                <a:latin typeface="Helvetica" pitchFamily="34" charset="0"/>
              </a:rPr>
              <a:t>Frequency and format</a:t>
            </a:r>
          </a:p>
          <a:p>
            <a:pPr marL="360000" indent="-360000">
              <a:spcBef>
                <a:spcPts val="600"/>
              </a:spcBef>
              <a:spcAft>
                <a:spcPts val="1200"/>
              </a:spcAft>
              <a:buClr>
                <a:srgbClr val="7FD13B"/>
              </a:buClr>
            </a:pPr>
            <a:r>
              <a:rPr lang="en-AU" sz="2200" dirty="0" smtClean="0">
                <a:latin typeface="Helvetica" pitchFamily="34" charset="0"/>
              </a:rPr>
              <a:t>Headings</a:t>
            </a:r>
          </a:p>
          <a:p>
            <a:pPr marL="360000" indent="-360000">
              <a:spcBef>
                <a:spcPts val="600"/>
              </a:spcBef>
              <a:spcAft>
                <a:spcPts val="1200"/>
              </a:spcAft>
              <a:buClr>
                <a:srgbClr val="7FD13B"/>
              </a:buClr>
            </a:pPr>
            <a:r>
              <a:rPr lang="en-AU" sz="2200" dirty="0" smtClean="0">
                <a:latin typeface="Helvetica" pitchFamily="34" charset="0"/>
              </a:rPr>
              <a:t>Comparative data</a:t>
            </a:r>
          </a:p>
          <a:p>
            <a:pPr marL="360000" indent="-360000">
              <a:spcBef>
                <a:spcPts val="600"/>
              </a:spcBef>
              <a:spcAft>
                <a:spcPts val="1200"/>
              </a:spcAft>
              <a:buClr>
                <a:srgbClr val="7FD13B"/>
              </a:buClr>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descr="MC900048213.WMF"/>
          <p:cNvPicPr>
            <a:picLocks noChangeAspect="1"/>
          </p:cNvPicPr>
          <p:nvPr/>
        </p:nvPicPr>
        <p:blipFill>
          <a:blip r:embed="rId3" cstate="print"/>
          <a:stretch>
            <a:fillRect/>
          </a:stretch>
        </p:blipFill>
        <p:spPr>
          <a:xfrm>
            <a:off x="6479701" y="4221088"/>
            <a:ext cx="1915191" cy="1270786"/>
          </a:xfrm>
          <a:prstGeom prst="rect">
            <a:avLst/>
          </a:prstGeom>
        </p:spPr>
      </p:pic>
    </p:spTree>
    <p:extLst>
      <p:ext uri="{BB962C8B-B14F-4D97-AF65-F5344CB8AC3E}">
        <p14:creationId xmlns:p14="http://schemas.microsoft.com/office/powerpoint/2010/main" val="23679589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152128"/>
            <a:ext cx="7467600" cy="5805264"/>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The Balance sheet:</a:t>
            </a:r>
          </a:p>
          <a:p>
            <a:pPr marL="360000" indent="-360000">
              <a:spcBef>
                <a:spcPts val="600"/>
              </a:spcBef>
              <a:spcAft>
                <a:spcPts val="1200"/>
              </a:spcAft>
              <a:buClr>
                <a:srgbClr val="7FD13B"/>
              </a:buClr>
            </a:pPr>
            <a:r>
              <a:rPr lang="en-AU" sz="2200" dirty="0" smtClean="0">
                <a:latin typeface="Helvetica" pitchFamily="34" charset="0"/>
              </a:rPr>
              <a:t>Assets and liabilities: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Current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Non-current</a:t>
            </a:r>
          </a:p>
          <a:p>
            <a:pPr marL="360000" indent="-360000">
              <a:spcBef>
                <a:spcPts val="600"/>
              </a:spcBef>
              <a:spcAft>
                <a:spcPts val="1200"/>
              </a:spcAft>
              <a:buClr>
                <a:srgbClr val="7FD13B"/>
              </a:buClr>
            </a:pPr>
            <a:r>
              <a:rPr lang="en-AU" sz="2200" dirty="0" smtClean="0">
                <a:latin typeface="Helvetica" pitchFamily="34" charset="0"/>
              </a:rPr>
              <a:t>Equity:</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Capital</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Retained earnings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8" name="Picture 7" descr="Screen Shot 2013-05-02 at 10.37.47 PM.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51920" y="980728"/>
            <a:ext cx="2808312" cy="5786825"/>
          </a:xfrm>
          <a:prstGeom prst="rect">
            <a:avLst/>
          </a:prstGeom>
        </p:spPr>
      </p:pic>
    </p:spTree>
    <p:extLst>
      <p:ext uri="{BB962C8B-B14F-4D97-AF65-F5344CB8AC3E}">
        <p14:creationId xmlns:p14="http://schemas.microsoft.com/office/powerpoint/2010/main" val="122315001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124744"/>
            <a:ext cx="7467600" cy="5733256"/>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The cash flow statement:</a:t>
            </a:r>
          </a:p>
          <a:p>
            <a:pPr marL="360000" indent="-360000">
              <a:spcBef>
                <a:spcPts val="600"/>
              </a:spcBef>
              <a:spcAft>
                <a:spcPts val="1200"/>
              </a:spcAft>
              <a:buClr>
                <a:srgbClr val="7FD13B"/>
              </a:buClr>
            </a:pPr>
            <a:r>
              <a:rPr lang="en-AU" sz="2200" dirty="0" smtClean="0">
                <a:latin typeface="Helvetica" pitchFamily="34" charset="0"/>
              </a:rPr>
              <a:t>Purpose</a:t>
            </a:r>
          </a:p>
          <a:p>
            <a:pPr marL="360000" indent="-360000">
              <a:spcBef>
                <a:spcPts val="600"/>
              </a:spcBef>
              <a:spcAft>
                <a:spcPts val="1200"/>
              </a:spcAft>
              <a:buClr>
                <a:srgbClr val="7FD13B"/>
              </a:buClr>
            </a:pPr>
            <a:r>
              <a:rPr lang="en-AU" sz="2200" dirty="0" smtClean="0">
                <a:latin typeface="Helvetica" pitchFamily="34" charset="0"/>
              </a:rPr>
              <a:t>Frequency</a:t>
            </a:r>
          </a:p>
          <a:p>
            <a:pPr marL="360000" indent="-360000">
              <a:spcBef>
                <a:spcPts val="600"/>
              </a:spcBef>
              <a:spcAft>
                <a:spcPts val="1200"/>
              </a:spcAft>
              <a:buClr>
                <a:srgbClr val="7FD13B"/>
              </a:buClr>
            </a:pPr>
            <a:r>
              <a:rPr lang="en-AU" sz="2200" dirty="0" smtClean="0">
                <a:latin typeface="Helvetica" pitchFamily="34" charset="0"/>
              </a:rPr>
              <a:t>Format</a:t>
            </a:r>
          </a:p>
          <a:p>
            <a:pPr marL="360000" indent="-360000">
              <a:spcBef>
                <a:spcPts val="600"/>
              </a:spcBef>
              <a:spcAft>
                <a:spcPts val="1200"/>
              </a:spcAft>
              <a:buClr>
                <a:srgbClr val="7FD13B"/>
              </a:buClr>
            </a:pPr>
            <a:r>
              <a:rPr lang="en-AU" sz="2200" dirty="0" smtClean="0">
                <a:latin typeface="Helvetica" pitchFamily="34" charset="0"/>
              </a:rPr>
              <a:t>Nature of the financial information: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Cash inflows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Cash outflows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Cash budget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Bank balance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 name="Picture 4" descr="Money.jpg"/>
          <p:cNvPicPr>
            <a:picLocks noChangeAspect="1"/>
          </p:cNvPicPr>
          <p:nvPr/>
        </p:nvPicPr>
        <p:blipFill>
          <a:blip r:embed="rId3" cstate="print"/>
          <a:stretch>
            <a:fillRect/>
          </a:stretch>
        </p:blipFill>
        <p:spPr>
          <a:xfrm>
            <a:off x="6012160" y="3933056"/>
            <a:ext cx="2391941" cy="1587123"/>
          </a:xfrm>
          <a:prstGeom prst="rect">
            <a:avLst/>
          </a:prstGeom>
        </p:spPr>
      </p:pic>
    </p:spTree>
    <p:extLst>
      <p:ext uri="{BB962C8B-B14F-4D97-AF65-F5344CB8AC3E}">
        <p14:creationId xmlns:p14="http://schemas.microsoft.com/office/powerpoint/2010/main" val="9635013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124744"/>
            <a:ext cx="6696744" cy="5661248"/>
          </a:xfrm>
        </p:spPr>
        <p:txBody>
          <a:bodyPr>
            <a:normAutofit/>
          </a:bodyPr>
          <a:lstStyle/>
          <a:p>
            <a:pPr marL="0" indent="0">
              <a:spcBef>
                <a:spcPts val="600"/>
              </a:spcBef>
              <a:spcAft>
                <a:spcPts val="1200"/>
              </a:spcAft>
              <a:buNone/>
            </a:pPr>
            <a:r>
              <a:rPr lang="en-US" sz="2000" b="1" dirty="0" smtClean="0">
                <a:latin typeface="Helvetica" pitchFamily="34" charset="0"/>
              </a:rPr>
              <a:t>The cash flow statement</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p:cNvPicPr>
            <a:picLocks noChangeAspect="1"/>
          </p:cNvPicPr>
          <p:nvPr/>
        </p:nvPicPr>
        <p:blipFill>
          <a:blip r:embed="rId3" cstate="print"/>
          <a:stretch>
            <a:fillRect/>
          </a:stretch>
        </p:blipFill>
        <p:spPr>
          <a:xfrm>
            <a:off x="755576" y="1628800"/>
            <a:ext cx="5502720" cy="4536504"/>
          </a:xfrm>
          <a:prstGeom prst="rect">
            <a:avLst/>
          </a:prstGeom>
        </p:spPr>
      </p:pic>
    </p:spTree>
    <p:extLst>
      <p:ext uri="{BB962C8B-B14F-4D97-AF65-F5344CB8AC3E}">
        <p14:creationId xmlns:p14="http://schemas.microsoft.com/office/powerpoint/2010/main" val="421647821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196752"/>
            <a:ext cx="7467600" cy="4968552"/>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Expense reports:</a:t>
            </a:r>
          </a:p>
          <a:p>
            <a:pPr marL="360000" indent="-360000">
              <a:spcBef>
                <a:spcPts val="600"/>
              </a:spcBef>
              <a:spcAft>
                <a:spcPts val="1200"/>
              </a:spcAft>
              <a:buClr>
                <a:srgbClr val="7FD13B"/>
              </a:buClr>
            </a:pPr>
            <a:r>
              <a:rPr lang="en-AU" sz="2200" dirty="0" smtClean="0">
                <a:latin typeface="Helvetica" pitchFamily="34" charset="0"/>
              </a:rPr>
              <a:t>Controllable and non-controllable costs</a:t>
            </a:r>
          </a:p>
          <a:p>
            <a:pPr marL="360000" indent="-360000">
              <a:spcBef>
                <a:spcPts val="600"/>
              </a:spcBef>
              <a:spcAft>
                <a:spcPts val="1200"/>
              </a:spcAft>
              <a:buClr>
                <a:srgbClr val="7FD13B"/>
              </a:buClr>
            </a:pPr>
            <a:r>
              <a:rPr lang="en-AU" sz="2200" dirty="0" smtClean="0">
                <a:latin typeface="Helvetica" pitchFamily="34" charset="0"/>
              </a:rPr>
              <a:t>Direct and indirect costs</a:t>
            </a:r>
          </a:p>
          <a:p>
            <a:pPr marL="360000" indent="-360000">
              <a:spcBef>
                <a:spcPts val="600"/>
              </a:spcBef>
              <a:spcAft>
                <a:spcPts val="1200"/>
              </a:spcAft>
              <a:buClr>
                <a:srgbClr val="7FD13B"/>
              </a:buClr>
            </a:pPr>
            <a:r>
              <a:rPr lang="en-AU" sz="2200" dirty="0" smtClean="0">
                <a:latin typeface="Helvetica" pitchFamily="34" charset="0"/>
              </a:rPr>
              <a:t>Fixed and variable costs</a:t>
            </a:r>
          </a:p>
          <a:p>
            <a:pPr marL="360000" indent="-360000">
              <a:spcBef>
                <a:spcPts val="600"/>
              </a:spcBef>
              <a:spcAft>
                <a:spcPts val="1200"/>
              </a:spcAft>
              <a:buClr>
                <a:srgbClr val="7FD13B"/>
              </a:buClr>
            </a:pPr>
            <a:endParaRPr lang="en-AU" sz="2200" dirty="0" smtClean="0">
              <a:latin typeface="Helvetica" pitchFamily="34" charset="0"/>
            </a:endParaRPr>
          </a:p>
          <a:p>
            <a:pPr marL="0" indent="0" algn="ctr">
              <a:spcBef>
                <a:spcPts val="600"/>
              </a:spcBef>
              <a:spcAft>
                <a:spcPts val="1200"/>
              </a:spcAft>
              <a:buClr>
                <a:srgbClr val="7FD13B"/>
              </a:buClr>
              <a:buNone/>
            </a:pPr>
            <a:r>
              <a:rPr lang="en-AU" sz="2200" b="1" i="1" dirty="0" smtClean="0">
                <a:latin typeface="Helvetica" pitchFamily="34" charset="0"/>
              </a:rPr>
              <a:t>Direct and controllable</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5" name="Picture 4" descr="1131445_red_check_sign_in_3d.jpg"/>
          <p:cNvPicPr>
            <a:picLocks noChangeAspect="1"/>
          </p:cNvPicPr>
          <p:nvPr/>
        </p:nvPicPr>
        <p:blipFill>
          <a:blip r:embed="rId3" cstate="print"/>
          <a:stretch>
            <a:fillRect/>
          </a:stretch>
        </p:blipFill>
        <p:spPr>
          <a:xfrm>
            <a:off x="6372200" y="3501008"/>
            <a:ext cx="1932806" cy="1546245"/>
          </a:xfrm>
          <a:prstGeom prst="rect">
            <a:avLst/>
          </a:prstGeom>
        </p:spPr>
      </p:pic>
    </p:spTree>
    <p:extLst>
      <p:ext uri="{BB962C8B-B14F-4D97-AF65-F5344CB8AC3E}">
        <p14:creationId xmlns:p14="http://schemas.microsoft.com/office/powerpoint/2010/main" val="50247074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AU" sz="3400" b="1" dirty="0" smtClean="0">
                <a:solidFill>
                  <a:srgbClr val="FF6600"/>
                </a:solidFill>
                <a:latin typeface="Helvetica" pitchFamily="34" charset="0"/>
              </a:rPr>
              <a:t>Providing financial information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Payroll cost report:</a:t>
            </a:r>
          </a:p>
          <a:p>
            <a:pPr marL="360000" indent="-360000">
              <a:spcBef>
                <a:spcPts val="600"/>
              </a:spcBef>
              <a:spcAft>
                <a:spcPts val="1200"/>
              </a:spcAft>
              <a:buClr>
                <a:srgbClr val="7FD13B"/>
              </a:buClr>
            </a:pPr>
            <a:r>
              <a:rPr lang="en-AU" sz="2200" dirty="0" smtClean="0">
                <a:latin typeface="Helvetica" pitchFamily="34" charset="0"/>
              </a:rPr>
              <a:t>Purpose</a:t>
            </a:r>
          </a:p>
          <a:p>
            <a:pPr marL="360000" indent="-360000">
              <a:spcBef>
                <a:spcPts val="600"/>
              </a:spcBef>
              <a:spcAft>
                <a:spcPts val="1200"/>
              </a:spcAft>
              <a:buClr>
                <a:srgbClr val="7FD13B"/>
              </a:buClr>
            </a:pPr>
            <a:r>
              <a:rPr lang="en-AU" sz="2200" dirty="0" smtClean="0">
                <a:latin typeface="Helvetica" pitchFamily="34" charset="0"/>
              </a:rPr>
              <a:t>Format and frequency</a:t>
            </a:r>
          </a:p>
          <a:p>
            <a:pPr marL="360000" indent="-360000">
              <a:spcBef>
                <a:spcPts val="600"/>
              </a:spcBef>
              <a:spcAft>
                <a:spcPts val="1200"/>
              </a:spcAft>
              <a:buClr>
                <a:srgbClr val="7FD13B"/>
              </a:buClr>
            </a:pPr>
            <a:r>
              <a:rPr lang="en-AU" sz="2200" dirty="0" smtClean="0">
                <a:latin typeface="Helvetica" pitchFamily="34" charset="0"/>
              </a:rPr>
              <a:t>Nature of the financial information: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Hours worked </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Rates of pay</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Total daily, month-to-date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Budget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Ratios</a:t>
            </a:r>
          </a:p>
          <a:p>
            <a:pPr marL="360000" indent="-360000">
              <a:spcBef>
                <a:spcPts val="600"/>
              </a:spcBef>
              <a:spcAft>
                <a:spcPts val="1200"/>
              </a:spcAft>
              <a:buClr>
                <a:srgbClr val="7FD13B"/>
              </a:buClr>
            </a:pPr>
            <a:endParaRPr lang="en-AU" sz="2200" dirty="0" smtClean="0">
              <a:latin typeface="Helvetica" pitchFamily="34" charset="0"/>
            </a:endParaRPr>
          </a:p>
          <a:p>
            <a:pPr marL="720000" indent="-360000">
              <a:spcBef>
                <a:spcPts val="600"/>
              </a:spcBef>
              <a:spcAft>
                <a:spcPts val="1200"/>
              </a:spcAft>
              <a:buClr>
                <a:srgbClr val="7FD13B"/>
              </a:buClr>
              <a:buSzPct val="100000"/>
              <a:buFont typeface="Arial" pitchFamily="34" charset="0"/>
              <a:buChar char="•"/>
            </a:pPr>
            <a:endParaRPr lang="en-AU" sz="2200" dirty="0" smtClean="0">
              <a:latin typeface="Helvetica" pitchFamily="34" charset="0"/>
            </a:endParaRPr>
          </a:p>
          <a:p>
            <a:pPr marL="720000" indent="-360000">
              <a:spcBef>
                <a:spcPts val="600"/>
              </a:spcBef>
              <a:spcAft>
                <a:spcPts val="1200"/>
              </a:spcAft>
              <a:buClr>
                <a:srgbClr val="7FD13B"/>
              </a:buClr>
              <a:buSzPct val="100000"/>
              <a:buFont typeface="Arial" pitchFamily="34" charset="0"/>
              <a:buChar char="•"/>
            </a:pPr>
            <a:endParaRPr lang="en-AU" sz="2200" dirty="0" smtClean="0">
              <a:latin typeface="Helvetica" pitchFamily="34" charset="0"/>
            </a:endParaRPr>
          </a:p>
          <a:p>
            <a:pPr marL="360000" indent="-360000">
              <a:spcBef>
                <a:spcPts val="600"/>
              </a:spcBef>
              <a:spcAft>
                <a:spcPts val="1200"/>
              </a:spcAft>
              <a:buClr>
                <a:srgbClr val="7FD13B"/>
              </a:buClr>
            </a:pPr>
            <a:endParaRPr lang="en-AU" sz="2200" dirty="0" smtClean="0">
              <a:latin typeface="Helvetica" pitchFamily="34" charset="0"/>
            </a:endParaRPr>
          </a:p>
          <a:p>
            <a:pPr marL="360000" indent="-360000">
              <a:spcBef>
                <a:spcPts val="600"/>
              </a:spcBef>
              <a:spcAft>
                <a:spcPts val="1200"/>
              </a:spcAft>
              <a:buClr>
                <a:srgbClr val="7FD13B"/>
              </a:buClr>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 name="Picture 4" descr="MC910215877.JPG"/>
          <p:cNvPicPr>
            <a:picLocks noChangeAspect="1"/>
          </p:cNvPicPr>
          <p:nvPr/>
        </p:nvPicPr>
        <p:blipFill>
          <a:blip r:embed="rId3" cstate="print"/>
          <a:stretch>
            <a:fillRect/>
          </a:stretch>
        </p:blipFill>
        <p:spPr>
          <a:xfrm>
            <a:off x="6228184" y="3645024"/>
            <a:ext cx="2198018" cy="1758414"/>
          </a:xfrm>
          <a:prstGeom prst="rect">
            <a:avLst/>
          </a:prstGeom>
        </p:spPr>
      </p:pic>
    </p:spTree>
    <p:extLst>
      <p:ext uri="{BB962C8B-B14F-4D97-AF65-F5344CB8AC3E}">
        <p14:creationId xmlns:p14="http://schemas.microsoft.com/office/powerpoint/2010/main" val="1655835624"/>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196752"/>
            <a:ext cx="7467600" cy="5472608"/>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Other key expense reports:</a:t>
            </a:r>
          </a:p>
          <a:p>
            <a:pPr marL="360000" indent="-360000">
              <a:spcBef>
                <a:spcPts val="600"/>
              </a:spcBef>
              <a:spcAft>
                <a:spcPts val="1200"/>
              </a:spcAft>
              <a:buClr>
                <a:srgbClr val="7FD13B"/>
              </a:buClr>
            </a:pPr>
            <a:r>
              <a:rPr lang="en-AU" sz="2200" dirty="0" smtClean="0">
                <a:latin typeface="Helvetica" pitchFamily="34" charset="0"/>
              </a:rPr>
              <a:t>Food and beverage costs</a:t>
            </a:r>
          </a:p>
          <a:p>
            <a:pPr marL="360000" indent="-360000">
              <a:spcBef>
                <a:spcPts val="600"/>
              </a:spcBef>
              <a:spcAft>
                <a:spcPts val="1200"/>
              </a:spcAft>
              <a:buClr>
                <a:srgbClr val="7FD13B"/>
              </a:buClr>
            </a:pPr>
            <a:r>
              <a:rPr lang="en-AU" sz="2200" dirty="0" smtClean="0">
                <a:latin typeface="Helvetica" pitchFamily="34" charset="0"/>
              </a:rPr>
              <a:t>Total room servicing or housekeeping costs</a:t>
            </a:r>
          </a:p>
          <a:p>
            <a:pPr marL="360000" indent="-360000">
              <a:spcBef>
                <a:spcPts val="600"/>
              </a:spcBef>
              <a:spcAft>
                <a:spcPts val="1200"/>
              </a:spcAft>
              <a:buClr>
                <a:srgbClr val="7FD13B"/>
              </a:buClr>
            </a:pPr>
            <a:r>
              <a:rPr lang="en-AU" sz="2200" dirty="0" smtClean="0">
                <a:latin typeface="Helvetica" pitchFamily="34" charset="0"/>
              </a:rPr>
              <a:t>Nature of the financial information: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Details of daily costs (quantities and amounts)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Total daily, month-to-date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Budget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Ratios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5" name="Picture 4" descr="MP900442211.JPG"/>
          <p:cNvPicPr>
            <a:picLocks noChangeAspect="1"/>
          </p:cNvPicPr>
          <p:nvPr/>
        </p:nvPicPr>
        <p:blipFill>
          <a:blip r:embed="rId3" cstate="print"/>
          <a:stretch>
            <a:fillRect/>
          </a:stretch>
        </p:blipFill>
        <p:spPr>
          <a:xfrm>
            <a:off x="7164288" y="3717032"/>
            <a:ext cx="1277888" cy="1916832"/>
          </a:xfrm>
          <a:prstGeom prst="rect">
            <a:avLst/>
          </a:prstGeom>
        </p:spPr>
      </p:pic>
    </p:spTree>
    <p:extLst>
      <p:ext uri="{BB962C8B-B14F-4D97-AF65-F5344CB8AC3E}">
        <p14:creationId xmlns:p14="http://schemas.microsoft.com/office/powerpoint/2010/main" val="310623552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Providing financial information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Purchase order summary:</a:t>
            </a:r>
          </a:p>
          <a:p>
            <a:pPr marL="360000" indent="-360000">
              <a:spcBef>
                <a:spcPts val="600"/>
              </a:spcBef>
              <a:spcAft>
                <a:spcPts val="1200"/>
              </a:spcAft>
              <a:buClr>
                <a:srgbClr val="7FD13B"/>
              </a:buClr>
            </a:pPr>
            <a:r>
              <a:rPr lang="en-AU" sz="2200" dirty="0" smtClean="0">
                <a:latin typeface="Helvetica" pitchFamily="34" charset="0"/>
              </a:rPr>
              <a:t>Purpose</a:t>
            </a:r>
          </a:p>
          <a:p>
            <a:pPr marL="360000" indent="-360000">
              <a:spcBef>
                <a:spcPts val="600"/>
              </a:spcBef>
              <a:spcAft>
                <a:spcPts val="1200"/>
              </a:spcAft>
              <a:buClr>
                <a:srgbClr val="7FD13B"/>
              </a:buClr>
            </a:pPr>
            <a:r>
              <a:rPr lang="en-AU" sz="2200" dirty="0" smtClean="0">
                <a:latin typeface="Helvetica" pitchFamily="34" charset="0"/>
              </a:rPr>
              <a:t>Format and frequency</a:t>
            </a:r>
          </a:p>
          <a:p>
            <a:pPr marL="360000" indent="-360000">
              <a:spcBef>
                <a:spcPts val="600"/>
              </a:spcBef>
              <a:spcAft>
                <a:spcPts val="1200"/>
              </a:spcAft>
              <a:buClr>
                <a:srgbClr val="7FD13B"/>
              </a:buClr>
            </a:pPr>
            <a:r>
              <a:rPr lang="en-AU" sz="2200" dirty="0" smtClean="0">
                <a:latin typeface="Helvetica" pitchFamily="34" charset="0"/>
              </a:rPr>
              <a:t>Financial information: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Quantities ordered</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Total costs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Expected delivery</a:t>
            </a:r>
          </a:p>
          <a:p>
            <a:pPr marL="360000" indent="-360000">
              <a:spcBef>
                <a:spcPts val="600"/>
              </a:spcBef>
              <a:spcAft>
                <a:spcPts val="1200"/>
              </a:spcAft>
              <a:buClr>
                <a:srgbClr val="7FD13B"/>
              </a:buClr>
            </a:pPr>
            <a:r>
              <a:rPr lang="en-AU" sz="2200" dirty="0" smtClean="0">
                <a:latin typeface="Helvetica" pitchFamily="34" charset="0"/>
              </a:rPr>
              <a:t>Recording as an expense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5" name="Picture 4" descr="Payslip.jpg"/>
          <p:cNvPicPr>
            <a:picLocks noChangeAspect="1"/>
          </p:cNvPicPr>
          <p:nvPr/>
        </p:nvPicPr>
        <p:blipFill>
          <a:blip r:embed="rId3" cstate="print"/>
          <a:stretch>
            <a:fillRect/>
          </a:stretch>
        </p:blipFill>
        <p:spPr>
          <a:xfrm>
            <a:off x="6516216" y="4149080"/>
            <a:ext cx="1919957" cy="1273948"/>
          </a:xfrm>
          <a:prstGeom prst="rect">
            <a:avLst/>
          </a:prstGeom>
        </p:spPr>
      </p:pic>
    </p:spTree>
    <p:extLst>
      <p:ext uri="{BB962C8B-B14F-4D97-AF65-F5344CB8AC3E}">
        <p14:creationId xmlns:p14="http://schemas.microsoft.com/office/powerpoint/2010/main" val="18897810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196752"/>
            <a:ext cx="7467600" cy="5517232"/>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The revenue report:</a:t>
            </a:r>
          </a:p>
          <a:p>
            <a:pPr marL="360000" indent="-360000">
              <a:spcBef>
                <a:spcPts val="600"/>
              </a:spcBef>
              <a:spcAft>
                <a:spcPts val="1200"/>
              </a:spcAft>
              <a:buClr>
                <a:srgbClr val="7FD13B"/>
              </a:buClr>
            </a:pPr>
            <a:r>
              <a:rPr lang="en-AU" sz="2200" dirty="0" smtClean="0">
                <a:latin typeface="Helvetica" pitchFamily="34" charset="0"/>
              </a:rPr>
              <a:t>Purpose</a:t>
            </a:r>
          </a:p>
          <a:p>
            <a:pPr marL="360000" indent="-360000">
              <a:spcBef>
                <a:spcPts val="600"/>
              </a:spcBef>
              <a:spcAft>
                <a:spcPts val="1200"/>
              </a:spcAft>
              <a:buClr>
                <a:srgbClr val="7FD13B"/>
              </a:buClr>
            </a:pPr>
            <a:r>
              <a:rPr lang="en-AU" sz="2200" dirty="0" smtClean="0">
                <a:latin typeface="Helvetica" pitchFamily="34" charset="0"/>
              </a:rPr>
              <a:t>Frequency</a:t>
            </a:r>
          </a:p>
          <a:p>
            <a:pPr marL="360000" indent="-360000">
              <a:spcBef>
                <a:spcPts val="600"/>
              </a:spcBef>
              <a:spcAft>
                <a:spcPts val="1200"/>
              </a:spcAft>
              <a:buClr>
                <a:srgbClr val="7FD13B"/>
              </a:buClr>
            </a:pPr>
            <a:r>
              <a:rPr lang="en-AU" sz="2200" dirty="0" smtClean="0">
                <a:latin typeface="Helvetica" pitchFamily="34" charset="0"/>
              </a:rPr>
              <a:t>Format</a:t>
            </a:r>
          </a:p>
          <a:p>
            <a:pPr marL="360000" indent="-360000">
              <a:spcBef>
                <a:spcPts val="600"/>
              </a:spcBef>
              <a:spcAft>
                <a:spcPts val="1200"/>
              </a:spcAft>
              <a:buClr>
                <a:srgbClr val="7FD13B"/>
              </a:buClr>
            </a:pPr>
            <a:r>
              <a:rPr lang="en-AU" sz="2200" dirty="0" smtClean="0">
                <a:latin typeface="Helvetica" pitchFamily="34" charset="0"/>
              </a:rPr>
              <a:t>Nature of the financial information:</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Sales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Budget or forecast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Prior periods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Ratios</a:t>
            </a:r>
          </a:p>
          <a:p>
            <a:pPr marL="720000" indent="-360000">
              <a:spcBef>
                <a:spcPts val="600"/>
              </a:spcBef>
              <a:spcAft>
                <a:spcPts val="1200"/>
              </a:spcAft>
              <a:buClr>
                <a:srgbClr val="7FD13B"/>
              </a:buClr>
              <a:buSzPct val="100000"/>
              <a:buFont typeface="Arial" pitchFamily="34" charset="0"/>
              <a:buChar char="•"/>
            </a:pPr>
            <a:endParaRPr lang="en-AU" sz="2200" dirty="0" smtClean="0">
              <a:latin typeface="Helvetica" pitchFamily="34" charset="0"/>
            </a:endParaRPr>
          </a:p>
          <a:p>
            <a:pPr marL="720000" indent="-360000">
              <a:spcBef>
                <a:spcPts val="600"/>
              </a:spcBef>
              <a:spcAft>
                <a:spcPts val="1200"/>
              </a:spcAft>
              <a:buClr>
                <a:srgbClr val="7FD13B"/>
              </a:buClr>
              <a:buSzPct val="100000"/>
              <a:buFont typeface="Arial" pitchFamily="34" charset="0"/>
              <a:buChar char="•"/>
            </a:pPr>
            <a:endParaRPr lang="en-AU" sz="2200" dirty="0" smtClean="0">
              <a:latin typeface="Helvetica" pitchFamily="34" charset="0"/>
            </a:endParaRPr>
          </a:p>
          <a:p>
            <a:pPr marL="360000" indent="-360000">
              <a:spcBef>
                <a:spcPts val="600"/>
              </a:spcBef>
              <a:spcAft>
                <a:spcPts val="1200"/>
              </a:spcAft>
              <a:buClr>
                <a:srgbClr val="7FD13B"/>
              </a:buClr>
            </a:pPr>
            <a:endParaRPr lang="en-AU" sz="2200" dirty="0" smtClean="0">
              <a:latin typeface="Helvetica" pitchFamily="34" charset="0"/>
            </a:endParaRPr>
          </a:p>
          <a:p>
            <a:pPr marL="360000" indent="-360000">
              <a:spcBef>
                <a:spcPts val="600"/>
              </a:spcBef>
              <a:spcAft>
                <a:spcPts val="1200"/>
              </a:spcAft>
              <a:buClr>
                <a:srgbClr val="7FD13B"/>
              </a:buClr>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descr="MC900439818(1).PNG"/>
          <p:cNvPicPr>
            <a:picLocks noChangeAspect="1"/>
          </p:cNvPicPr>
          <p:nvPr/>
        </p:nvPicPr>
        <p:blipFill>
          <a:blip r:embed="rId3" cstate="print"/>
          <a:stretch>
            <a:fillRect/>
          </a:stretch>
        </p:blipFill>
        <p:spPr>
          <a:xfrm>
            <a:off x="6948264" y="3356992"/>
            <a:ext cx="1879104" cy="1879104"/>
          </a:xfrm>
          <a:prstGeom prst="rect">
            <a:avLst/>
          </a:prstGeom>
        </p:spPr>
      </p:pic>
    </p:spTree>
    <p:extLst>
      <p:ext uri="{BB962C8B-B14F-4D97-AF65-F5344CB8AC3E}">
        <p14:creationId xmlns:p14="http://schemas.microsoft.com/office/powerpoint/2010/main" val="266658151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sp>
        <p:nvSpPr>
          <p:cNvPr id="2" name="Title 1"/>
          <p:cNvSpPr>
            <a:spLocks noGrp="1"/>
          </p:cNvSpPr>
          <p:nvPr>
            <p:ph type="title"/>
          </p:nvPr>
        </p:nvSpPr>
        <p:spPr>
          <a:xfrm>
            <a:off x="611560" y="332656"/>
            <a:ext cx="7467600" cy="792088"/>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196752"/>
            <a:ext cx="7704856" cy="1152128"/>
          </a:xfrm>
        </p:spPr>
        <p:txBody>
          <a:bodyPr>
            <a:normAutofit/>
          </a:bodyPr>
          <a:lstStyle/>
          <a:p>
            <a:pPr marL="0" indent="0">
              <a:spcBef>
                <a:spcPts val="600"/>
              </a:spcBef>
              <a:spcAft>
                <a:spcPts val="1200"/>
              </a:spcAft>
              <a:buNone/>
            </a:pPr>
            <a:r>
              <a:rPr lang="en-US" sz="2200" dirty="0" smtClean="0">
                <a:latin typeface="Helvetica" pitchFamily="34" charset="0"/>
              </a:rPr>
              <a:t>The revenue report (an example)</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graphicFrame>
        <p:nvGraphicFramePr>
          <p:cNvPr id="7" name="Table 6"/>
          <p:cNvGraphicFramePr>
            <a:graphicFrameLocks noGrp="1"/>
          </p:cNvGraphicFramePr>
          <p:nvPr/>
        </p:nvGraphicFramePr>
        <p:xfrm>
          <a:off x="611560" y="1772816"/>
          <a:ext cx="7632850" cy="3619752"/>
        </p:xfrm>
        <a:graphic>
          <a:graphicData uri="http://schemas.openxmlformats.org/drawingml/2006/table">
            <a:tbl>
              <a:tblPr firstRow="1" bandRow="1">
                <a:tableStyleId>{21E4AEA4-8DFA-4A89-87EB-49C32662AFE0}</a:tableStyleId>
              </a:tblPr>
              <a:tblGrid>
                <a:gridCol w="3024336"/>
                <a:gridCol w="1224136"/>
                <a:gridCol w="1152128"/>
                <a:gridCol w="1080120"/>
                <a:gridCol w="1152130"/>
              </a:tblGrid>
              <a:tr h="712167">
                <a:tc>
                  <a:txBody>
                    <a:bodyPr/>
                    <a:lstStyle/>
                    <a:p>
                      <a:endParaRPr lang="en-AU" sz="1400" dirty="0">
                        <a:latin typeface="Helvetica" pitchFamily="34" charset="0"/>
                      </a:endParaRPr>
                    </a:p>
                  </a:txBody>
                  <a:tcPr/>
                </a:tc>
                <a:tc>
                  <a:txBody>
                    <a:bodyPr/>
                    <a:lstStyle/>
                    <a:p>
                      <a:r>
                        <a:rPr lang="en-AU" sz="1400" dirty="0" smtClean="0"/>
                        <a:t>Actual revenue (today)</a:t>
                      </a:r>
                      <a:endParaRPr lang="en-AU" sz="1400" dirty="0">
                        <a:latin typeface="Helvetica" pitchFamily="34" charset="0"/>
                      </a:endParaRPr>
                    </a:p>
                  </a:txBody>
                  <a:tcPr/>
                </a:tc>
                <a:tc>
                  <a:txBody>
                    <a:bodyPr/>
                    <a:lstStyle/>
                    <a:p>
                      <a:r>
                        <a:rPr lang="en-AU" sz="1400" dirty="0" smtClean="0"/>
                        <a:t>Budget revenue </a:t>
                      </a:r>
                      <a:br>
                        <a:rPr lang="en-AU" sz="1400" dirty="0" smtClean="0"/>
                      </a:br>
                      <a:r>
                        <a:rPr lang="en-AU" sz="1400" dirty="0" smtClean="0"/>
                        <a:t>(today)</a:t>
                      </a:r>
                      <a:endParaRPr lang="en-AU" sz="1400" dirty="0">
                        <a:latin typeface="Helvetica" pitchFamily="34" charset="0"/>
                      </a:endParaRPr>
                    </a:p>
                  </a:txBody>
                  <a:tcPr/>
                </a:tc>
                <a:tc>
                  <a:txBody>
                    <a:bodyPr/>
                    <a:lstStyle/>
                    <a:p>
                      <a:r>
                        <a:rPr lang="en-AU" sz="1400" dirty="0" smtClean="0"/>
                        <a:t>Last year (same day)</a:t>
                      </a:r>
                      <a:endParaRPr lang="en-AU" sz="1400" dirty="0">
                        <a:latin typeface="Helvetica" pitchFamily="34" charset="0"/>
                      </a:endParaRPr>
                    </a:p>
                  </a:txBody>
                  <a:tcPr/>
                </a:tc>
                <a:tc>
                  <a:txBody>
                    <a:bodyPr/>
                    <a:lstStyle/>
                    <a:p>
                      <a:r>
                        <a:rPr lang="en-AU" sz="1400" dirty="0" smtClean="0"/>
                        <a:t>Ratio</a:t>
                      </a:r>
                      <a:endParaRPr lang="en-AU" sz="1400" dirty="0">
                        <a:latin typeface="Helvetica" pitchFamily="34" charset="0"/>
                      </a:endParaRPr>
                    </a:p>
                  </a:txBody>
                  <a:tcPr/>
                </a:tc>
              </a:tr>
              <a:tr h="361029">
                <a:tc>
                  <a:txBody>
                    <a:bodyPr/>
                    <a:lstStyle/>
                    <a:p>
                      <a:r>
                        <a:rPr lang="en-AU" sz="1400" dirty="0" smtClean="0"/>
                        <a:t>Total rooms available</a:t>
                      </a:r>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r>
              <a:tr h="361029">
                <a:tc>
                  <a:txBody>
                    <a:bodyPr/>
                    <a:lstStyle/>
                    <a:p>
                      <a:r>
                        <a:rPr lang="en-AU" sz="1400" dirty="0" smtClean="0"/>
                        <a:t>Number of rooms sold in total</a:t>
                      </a:r>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r>
              <a:tr h="361029">
                <a:tc>
                  <a:txBody>
                    <a:bodyPr/>
                    <a:lstStyle/>
                    <a:p>
                      <a:r>
                        <a:rPr lang="en-AU" sz="1400" dirty="0" smtClean="0"/>
                        <a:t>Room sold – Leisure</a:t>
                      </a:r>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r>
              <a:tr h="361029">
                <a:tc>
                  <a:txBody>
                    <a:bodyPr/>
                    <a:lstStyle/>
                    <a:p>
                      <a:r>
                        <a:rPr lang="en-AU" sz="1400" dirty="0" smtClean="0"/>
                        <a:t>Room sold – Walk ins</a:t>
                      </a:r>
                      <a:endParaRPr lang="en-AU" sz="1400" dirty="0" smtClean="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r>
              <a:tr h="361029">
                <a:tc>
                  <a:txBody>
                    <a:bodyPr/>
                    <a:lstStyle/>
                    <a:p>
                      <a:r>
                        <a:rPr lang="en-AU" sz="1400" dirty="0" smtClean="0"/>
                        <a:t>Average room rate – Leisure</a:t>
                      </a:r>
                      <a:endParaRPr lang="en-AU" sz="1400" dirty="0" smtClean="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r>
              <a:tr h="361029">
                <a:tc>
                  <a:txBody>
                    <a:bodyPr/>
                    <a:lstStyle/>
                    <a:p>
                      <a:r>
                        <a:rPr lang="en-AU" sz="1400" dirty="0" smtClean="0"/>
                        <a:t>Average room rate – Walk ins</a:t>
                      </a:r>
                      <a:endParaRPr lang="en-AU" sz="1400" dirty="0" smtClean="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r>
              <a:tr h="361029">
                <a:tc>
                  <a:txBody>
                    <a:bodyPr/>
                    <a:lstStyle/>
                    <a:p>
                      <a:r>
                        <a:rPr lang="en-AU" sz="1400" dirty="0" smtClean="0"/>
                        <a:t>Arrivals</a:t>
                      </a:r>
                      <a:endParaRPr lang="en-AU" sz="1400" dirty="0" smtClean="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r>
              <a:tr h="361029">
                <a:tc>
                  <a:txBody>
                    <a:bodyPr/>
                    <a:lstStyle/>
                    <a:p>
                      <a:r>
                        <a:rPr lang="en-AU" sz="1400" dirty="0" smtClean="0"/>
                        <a:t>Departures</a:t>
                      </a:r>
                      <a:endParaRPr lang="en-AU" sz="1400" dirty="0" smtClean="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c>
                  <a:txBody>
                    <a:bodyPr/>
                    <a:lstStyle/>
                    <a:p>
                      <a:endParaRPr lang="en-AU" sz="1400" dirty="0">
                        <a:latin typeface="Helvetica" pitchFamily="34" charset="0"/>
                      </a:endParaRPr>
                    </a:p>
                  </a:txBody>
                  <a:tcPr/>
                </a:tc>
              </a:tr>
            </a:tbl>
          </a:graphicData>
        </a:graphic>
      </p:graphicFrame>
    </p:spTree>
    <p:extLst>
      <p:ext uri="{BB962C8B-B14F-4D97-AF65-F5344CB8AC3E}">
        <p14:creationId xmlns:p14="http://schemas.microsoft.com/office/powerpoint/2010/main" val="190018809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196752"/>
            <a:ext cx="7467600" cy="4968552"/>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Other schedules:</a:t>
            </a:r>
          </a:p>
          <a:p>
            <a:pPr marL="360000" indent="-360000">
              <a:spcBef>
                <a:spcPts val="600"/>
              </a:spcBef>
              <a:spcAft>
                <a:spcPts val="1200"/>
              </a:spcAft>
              <a:buClr>
                <a:srgbClr val="7FD13B"/>
              </a:buClr>
            </a:pPr>
            <a:r>
              <a:rPr lang="en-AU" sz="2200" dirty="0" smtClean="0">
                <a:latin typeface="Helvetica" pitchFamily="34" charset="0"/>
              </a:rPr>
              <a:t>Food and beverage menu schedule:</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All menu items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Profitability and popularity</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Standard food and beverage cost percentages </a:t>
            </a:r>
            <a:br>
              <a:rPr lang="en-AU" sz="2200" dirty="0" smtClean="0">
                <a:latin typeface="Helvetica" pitchFamily="34" charset="0"/>
              </a:rPr>
            </a:br>
            <a:r>
              <a:rPr lang="en-AU" sz="2200" dirty="0" smtClean="0">
                <a:latin typeface="Helvetica" pitchFamily="34" charset="0"/>
              </a:rPr>
              <a:t>for each menu item</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5" name="Picture 4" descr="MC900357007.WMF"/>
          <p:cNvPicPr>
            <a:picLocks noChangeAspect="1"/>
          </p:cNvPicPr>
          <p:nvPr/>
        </p:nvPicPr>
        <p:blipFill>
          <a:blip r:embed="rId3" cstate="print"/>
          <a:stretch>
            <a:fillRect/>
          </a:stretch>
        </p:blipFill>
        <p:spPr>
          <a:xfrm>
            <a:off x="6804248" y="3717032"/>
            <a:ext cx="1556101" cy="1368152"/>
          </a:xfrm>
          <a:prstGeom prst="rect">
            <a:avLst/>
          </a:prstGeom>
        </p:spPr>
      </p:pic>
    </p:spTree>
    <p:extLst>
      <p:ext uri="{BB962C8B-B14F-4D97-AF65-F5344CB8AC3E}">
        <p14:creationId xmlns:p14="http://schemas.microsoft.com/office/powerpoint/2010/main" val="294147308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224136"/>
            <a:ext cx="7467600" cy="5733256"/>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Cash and accounts receivable:</a:t>
            </a:r>
          </a:p>
          <a:p>
            <a:pPr marL="360000" indent="-360000">
              <a:spcBef>
                <a:spcPts val="600"/>
              </a:spcBef>
              <a:spcAft>
                <a:spcPts val="1200"/>
              </a:spcAft>
              <a:buClr>
                <a:srgbClr val="7FD13B"/>
              </a:buClr>
            </a:pPr>
            <a:r>
              <a:rPr lang="en-AU" sz="2200" dirty="0" smtClean="0">
                <a:latin typeface="Helvetica" pitchFamily="34" charset="0"/>
              </a:rPr>
              <a:t>Daily takings report: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High volume of cash transactions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Completed at point of sale terminal</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Entered into cash receipts journal</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descr="MP900409469.JPG"/>
          <p:cNvPicPr>
            <a:picLocks noChangeAspect="1"/>
          </p:cNvPicPr>
          <p:nvPr/>
        </p:nvPicPr>
        <p:blipFill>
          <a:blip r:embed="rId3" cstate="print"/>
          <a:stretch>
            <a:fillRect/>
          </a:stretch>
        </p:blipFill>
        <p:spPr>
          <a:xfrm>
            <a:off x="6264696" y="4077072"/>
            <a:ext cx="2123728" cy="1416925"/>
          </a:xfrm>
          <a:prstGeom prst="rect">
            <a:avLst/>
          </a:prstGeom>
        </p:spPr>
      </p:pic>
    </p:spTree>
    <p:extLst>
      <p:ext uri="{BB962C8B-B14F-4D97-AF65-F5344CB8AC3E}">
        <p14:creationId xmlns:p14="http://schemas.microsoft.com/office/powerpoint/2010/main" val="265245363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268760"/>
            <a:ext cx="7467600" cy="5589240"/>
          </a:xfrm>
        </p:spPr>
        <p:txBody>
          <a:bodyPr>
            <a:normAutofit/>
          </a:bodyPr>
          <a:lstStyle/>
          <a:p>
            <a:pPr marL="0" indent="0">
              <a:spcBef>
                <a:spcPts val="600"/>
              </a:spcBef>
              <a:spcAft>
                <a:spcPts val="1200"/>
              </a:spcAft>
              <a:buClr>
                <a:srgbClr val="7FD13B"/>
              </a:buClr>
              <a:buNone/>
            </a:pPr>
            <a:r>
              <a:rPr lang="en-AU" sz="2200" dirty="0" smtClean="0">
                <a:latin typeface="Helvetica" pitchFamily="34" charset="0"/>
              </a:rPr>
              <a:t>Cash and accounts receivable:</a:t>
            </a:r>
          </a:p>
          <a:p>
            <a:pPr marL="360000" indent="-360000">
              <a:spcBef>
                <a:spcPts val="600"/>
              </a:spcBef>
              <a:spcAft>
                <a:spcPts val="1200"/>
              </a:spcAft>
              <a:buClr>
                <a:srgbClr val="7FD13B"/>
              </a:buClr>
            </a:pPr>
            <a:r>
              <a:rPr lang="en-AU" sz="2200" dirty="0" smtClean="0">
                <a:latin typeface="Helvetica" pitchFamily="34" charset="0"/>
              </a:rPr>
              <a:t>Daily cash received report:</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Amounts received from debtors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Accounts receivable subsidiary ledger updated</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Cash receipts journal updated</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BEWARE separation of duties!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descr="Paid invoices.jpg"/>
          <p:cNvPicPr>
            <a:picLocks noChangeAspect="1"/>
          </p:cNvPicPr>
          <p:nvPr/>
        </p:nvPicPr>
        <p:blipFill>
          <a:blip r:embed="rId3" cstate="print"/>
          <a:stretch>
            <a:fillRect/>
          </a:stretch>
        </p:blipFill>
        <p:spPr>
          <a:xfrm>
            <a:off x="6444208" y="4221088"/>
            <a:ext cx="1949972" cy="1293864"/>
          </a:xfrm>
          <a:prstGeom prst="rect">
            <a:avLst/>
          </a:prstGeom>
        </p:spPr>
      </p:pic>
    </p:spTree>
    <p:extLst>
      <p:ext uri="{BB962C8B-B14F-4D97-AF65-F5344CB8AC3E}">
        <p14:creationId xmlns:p14="http://schemas.microsoft.com/office/powerpoint/2010/main" val="18229835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196752"/>
            <a:ext cx="7467600" cy="4968552"/>
          </a:xfrm>
        </p:spPr>
        <p:txBody>
          <a:bodyPr>
            <a:normAutofit/>
          </a:bodyPr>
          <a:lstStyle/>
          <a:p>
            <a:pPr marL="0" indent="0">
              <a:spcBef>
                <a:spcPts val="600"/>
              </a:spcBef>
              <a:spcAft>
                <a:spcPts val="1200"/>
              </a:spcAft>
              <a:buClr>
                <a:srgbClr val="7FD13B"/>
              </a:buClr>
              <a:buNone/>
            </a:pPr>
            <a:r>
              <a:rPr lang="en-AU" sz="2200" b="1" dirty="0" smtClean="0">
                <a:latin typeface="Helvetica" pitchFamily="34" charset="0"/>
              </a:rPr>
              <a:t>Cash and accounts receivable</a:t>
            </a:r>
          </a:p>
          <a:p>
            <a:pPr marL="360000" indent="-360000">
              <a:spcBef>
                <a:spcPts val="600"/>
              </a:spcBef>
              <a:spcAft>
                <a:spcPts val="1200"/>
              </a:spcAft>
              <a:buClr>
                <a:srgbClr val="7FD13B"/>
              </a:buClr>
              <a:buNone/>
            </a:pPr>
            <a:r>
              <a:rPr lang="en-AU" sz="2200" dirty="0" smtClean="0">
                <a:latin typeface="Helvetica" pitchFamily="34" charset="0"/>
              </a:rPr>
              <a:t>Accounts receivable ageing schedule </a:t>
            </a:r>
          </a:p>
          <a:p>
            <a:pPr marL="720000" indent="-360000">
              <a:spcBef>
                <a:spcPts val="600"/>
              </a:spcBef>
              <a:spcAft>
                <a:spcPts val="1200"/>
              </a:spcAft>
              <a:buClr>
                <a:srgbClr val="7FD13B"/>
              </a:buClr>
              <a:buSzPct val="100000"/>
              <a:buFont typeface="Arial" pitchFamily="34" charset="0"/>
              <a:buChar char="•"/>
            </a:pPr>
            <a:endParaRPr lang="en-AU" sz="2200" dirty="0" smtClean="0">
              <a:latin typeface="Helvetica" pitchFamily="34" charset="0"/>
            </a:endParaRPr>
          </a:p>
          <a:p>
            <a:pPr marL="360000" indent="-360000">
              <a:spcBef>
                <a:spcPts val="600"/>
              </a:spcBef>
              <a:spcAft>
                <a:spcPts val="1200"/>
              </a:spcAft>
              <a:buClr>
                <a:srgbClr val="7FD13B"/>
              </a:buClr>
            </a:pPr>
            <a:endParaRPr lang="en-AU" sz="2200" dirty="0" smtClean="0">
              <a:latin typeface="Helvetica" pitchFamily="34" charset="0"/>
            </a:endParaRPr>
          </a:p>
          <a:p>
            <a:pPr marL="360000" indent="-360000">
              <a:spcBef>
                <a:spcPts val="600"/>
              </a:spcBef>
              <a:spcAft>
                <a:spcPts val="1200"/>
              </a:spcAft>
              <a:buClr>
                <a:srgbClr val="7FD13B"/>
              </a:buClr>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graphicFrame>
        <p:nvGraphicFramePr>
          <p:cNvPr id="6" name="Table 5"/>
          <p:cNvGraphicFramePr>
            <a:graphicFrameLocks noGrp="1"/>
          </p:cNvGraphicFramePr>
          <p:nvPr/>
        </p:nvGraphicFramePr>
        <p:xfrm>
          <a:off x="611561" y="2420888"/>
          <a:ext cx="7056784" cy="1259840"/>
        </p:xfrm>
        <a:graphic>
          <a:graphicData uri="http://schemas.openxmlformats.org/drawingml/2006/table">
            <a:tbl>
              <a:tblPr firstRow="1" bandRow="1">
                <a:tableStyleId>{073A0DAA-6AF3-43AB-8588-CEC1D06C72B9}</a:tableStyleId>
              </a:tblPr>
              <a:tblGrid>
                <a:gridCol w="1944215"/>
                <a:gridCol w="864096"/>
                <a:gridCol w="864096"/>
                <a:gridCol w="864096"/>
                <a:gridCol w="864096"/>
                <a:gridCol w="864096"/>
                <a:gridCol w="792089"/>
              </a:tblGrid>
              <a:tr h="370840">
                <a:tc>
                  <a:txBody>
                    <a:bodyPr/>
                    <a:lstStyle/>
                    <a:p>
                      <a:r>
                        <a:rPr lang="en-AU" sz="1400" dirty="0" smtClean="0"/>
                        <a:t>Number of days due</a:t>
                      </a:r>
                      <a:endParaRPr lang="en-AU" sz="1400" dirty="0">
                        <a:latin typeface="Helvetica" pitchFamily="34" charset="0"/>
                      </a:endParaRPr>
                    </a:p>
                  </a:txBody>
                  <a:tcPr/>
                </a:tc>
                <a:tc>
                  <a:txBody>
                    <a:bodyPr/>
                    <a:lstStyle/>
                    <a:p>
                      <a:pPr algn="r"/>
                      <a:r>
                        <a:rPr lang="en-AU" sz="1400" dirty="0" smtClean="0">
                          <a:latin typeface="Helvetica" pitchFamily="34" charset="0"/>
                        </a:rPr>
                        <a:t>Current</a:t>
                      </a:r>
                      <a:endParaRPr lang="en-AU" sz="1400" dirty="0">
                        <a:latin typeface="Helvetica" pitchFamily="34" charset="0"/>
                      </a:endParaRPr>
                    </a:p>
                  </a:txBody>
                  <a:tcPr/>
                </a:tc>
                <a:tc>
                  <a:txBody>
                    <a:bodyPr/>
                    <a:lstStyle/>
                    <a:p>
                      <a:pPr algn="r"/>
                      <a:r>
                        <a:rPr lang="en-AU" sz="1400" dirty="0" smtClean="0">
                          <a:latin typeface="Helvetica" pitchFamily="34" charset="0"/>
                        </a:rPr>
                        <a:t>Less than 30</a:t>
                      </a:r>
                      <a:endParaRPr lang="en-AU" sz="1400" dirty="0">
                        <a:latin typeface="Helvetica" pitchFamily="34" charset="0"/>
                      </a:endParaRPr>
                    </a:p>
                  </a:txBody>
                  <a:tcPr/>
                </a:tc>
                <a:tc>
                  <a:txBody>
                    <a:bodyPr/>
                    <a:lstStyle/>
                    <a:p>
                      <a:pPr algn="r"/>
                      <a:r>
                        <a:rPr lang="en-AU" sz="1400" dirty="0" smtClean="0">
                          <a:latin typeface="Helvetica" pitchFamily="34" charset="0"/>
                        </a:rPr>
                        <a:t>30 – 60</a:t>
                      </a:r>
                      <a:endParaRPr lang="en-AU" sz="1400" dirty="0">
                        <a:latin typeface="Helvetica" pitchFamily="34" charset="0"/>
                      </a:endParaRPr>
                    </a:p>
                  </a:txBody>
                  <a:tcPr/>
                </a:tc>
                <a:tc>
                  <a:txBody>
                    <a:bodyPr/>
                    <a:lstStyle/>
                    <a:p>
                      <a:pPr algn="r"/>
                      <a:r>
                        <a:rPr lang="en-AU" sz="1400" dirty="0" smtClean="0">
                          <a:latin typeface="Helvetica" pitchFamily="34" charset="0"/>
                        </a:rPr>
                        <a:t>60 – 90</a:t>
                      </a:r>
                      <a:endParaRPr lang="en-AU" sz="1400" dirty="0">
                        <a:latin typeface="Helvetica" pitchFamily="34" charset="0"/>
                      </a:endParaRPr>
                    </a:p>
                  </a:txBody>
                  <a:tcPr/>
                </a:tc>
                <a:tc>
                  <a:txBody>
                    <a:bodyPr/>
                    <a:lstStyle/>
                    <a:p>
                      <a:pPr algn="r"/>
                      <a:r>
                        <a:rPr lang="en-AU" sz="1400" dirty="0" smtClean="0">
                          <a:latin typeface="Helvetica" pitchFamily="34" charset="0"/>
                        </a:rPr>
                        <a:t>90+</a:t>
                      </a:r>
                      <a:endParaRPr lang="en-AU" sz="1400" dirty="0">
                        <a:latin typeface="Helvetica" pitchFamily="34" charset="0"/>
                      </a:endParaRPr>
                    </a:p>
                  </a:txBody>
                  <a:tcPr/>
                </a:tc>
                <a:tc>
                  <a:txBody>
                    <a:bodyPr/>
                    <a:lstStyle/>
                    <a:p>
                      <a:pPr algn="r"/>
                      <a:r>
                        <a:rPr lang="en-AU" sz="1400" dirty="0" smtClean="0">
                          <a:latin typeface="Helvetica" pitchFamily="34" charset="0"/>
                        </a:rPr>
                        <a:t>Total</a:t>
                      </a:r>
                      <a:endParaRPr lang="en-AU" sz="1400" dirty="0">
                        <a:latin typeface="Helvetica" pitchFamily="34" charset="0"/>
                      </a:endParaRPr>
                    </a:p>
                  </a:txBody>
                  <a:tcPr/>
                </a:tc>
              </a:tr>
              <a:tr h="370840">
                <a:tc>
                  <a:txBody>
                    <a:bodyPr/>
                    <a:lstStyle/>
                    <a:p>
                      <a:r>
                        <a:rPr lang="en-AU" sz="1400" dirty="0" smtClean="0">
                          <a:latin typeface="Helvetica" pitchFamily="34" charset="0"/>
                        </a:rPr>
                        <a:t>Accounts receivable</a:t>
                      </a:r>
                      <a:endParaRPr lang="en-AU" sz="1400" dirty="0">
                        <a:latin typeface="Helvetica" pitchFamily="34" charset="0"/>
                      </a:endParaRPr>
                    </a:p>
                  </a:txBody>
                  <a:tcPr/>
                </a:tc>
                <a:tc>
                  <a:txBody>
                    <a:bodyPr/>
                    <a:lstStyle/>
                    <a:p>
                      <a:pPr algn="r"/>
                      <a:r>
                        <a:rPr lang="en-AU" sz="1400" dirty="0" smtClean="0">
                          <a:latin typeface="Helvetica" pitchFamily="34" charset="0"/>
                        </a:rPr>
                        <a:t>4,900</a:t>
                      </a:r>
                      <a:endParaRPr lang="en-AU" sz="1400" dirty="0">
                        <a:latin typeface="Helvetica" pitchFamily="34" charset="0"/>
                      </a:endParaRPr>
                    </a:p>
                  </a:txBody>
                  <a:tcPr/>
                </a:tc>
                <a:tc>
                  <a:txBody>
                    <a:bodyPr/>
                    <a:lstStyle/>
                    <a:p>
                      <a:pPr algn="r"/>
                      <a:r>
                        <a:rPr lang="en-AU" sz="1400" dirty="0" smtClean="0">
                          <a:latin typeface="Helvetica" pitchFamily="34" charset="0"/>
                        </a:rPr>
                        <a:t>490</a:t>
                      </a:r>
                      <a:endParaRPr lang="en-AU" sz="1400" dirty="0">
                        <a:latin typeface="Helvetica" pitchFamily="34" charset="0"/>
                      </a:endParaRPr>
                    </a:p>
                  </a:txBody>
                  <a:tcPr/>
                </a:tc>
                <a:tc>
                  <a:txBody>
                    <a:bodyPr/>
                    <a:lstStyle/>
                    <a:p>
                      <a:pPr algn="r"/>
                      <a:r>
                        <a:rPr lang="en-AU" sz="1400" dirty="0" smtClean="0">
                          <a:latin typeface="Helvetica" pitchFamily="34" charset="0"/>
                        </a:rPr>
                        <a:t>1,400</a:t>
                      </a:r>
                      <a:endParaRPr lang="en-AU" sz="1400" dirty="0">
                        <a:latin typeface="Helvetica" pitchFamily="34" charset="0"/>
                      </a:endParaRPr>
                    </a:p>
                  </a:txBody>
                  <a:tcPr/>
                </a:tc>
                <a:tc>
                  <a:txBody>
                    <a:bodyPr/>
                    <a:lstStyle/>
                    <a:p>
                      <a:pPr algn="r"/>
                      <a:r>
                        <a:rPr lang="en-AU" sz="1400" dirty="0" smtClean="0">
                          <a:latin typeface="Helvetica" pitchFamily="34" charset="0"/>
                        </a:rPr>
                        <a:t>140</a:t>
                      </a:r>
                      <a:endParaRPr lang="en-AU" sz="1400" dirty="0">
                        <a:latin typeface="Helvetica" pitchFamily="34" charset="0"/>
                      </a:endParaRPr>
                    </a:p>
                  </a:txBody>
                  <a:tcPr/>
                </a:tc>
                <a:tc>
                  <a:txBody>
                    <a:bodyPr/>
                    <a:lstStyle/>
                    <a:p>
                      <a:pPr algn="r"/>
                      <a:r>
                        <a:rPr lang="en-AU" sz="1400" dirty="0" smtClean="0">
                          <a:latin typeface="Helvetica" pitchFamily="34" charset="0"/>
                        </a:rPr>
                        <a:t>70</a:t>
                      </a:r>
                      <a:endParaRPr lang="en-AU" sz="1400" dirty="0">
                        <a:latin typeface="Helvetica" pitchFamily="34" charset="0"/>
                      </a:endParaRPr>
                    </a:p>
                  </a:txBody>
                  <a:tcPr/>
                </a:tc>
                <a:tc>
                  <a:txBody>
                    <a:bodyPr/>
                    <a:lstStyle/>
                    <a:p>
                      <a:pPr algn="r"/>
                      <a:r>
                        <a:rPr lang="en-AU" sz="1400" dirty="0" smtClean="0">
                          <a:latin typeface="Helvetica" pitchFamily="34" charset="0"/>
                        </a:rPr>
                        <a:t>7,000</a:t>
                      </a:r>
                      <a:endParaRPr lang="en-AU" sz="1400" dirty="0">
                        <a:latin typeface="Helvetica" pitchFamily="34" charset="0"/>
                      </a:endParaRPr>
                    </a:p>
                  </a:txBody>
                  <a:tcPr/>
                </a:tc>
              </a:tr>
              <a:tr h="370840">
                <a:tc>
                  <a:txBody>
                    <a:bodyPr/>
                    <a:lstStyle/>
                    <a:p>
                      <a:r>
                        <a:rPr lang="en-AU" sz="1400" dirty="0" smtClean="0">
                          <a:latin typeface="Helvetica" pitchFamily="34" charset="0"/>
                        </a:rPr>
                        <a:t>Percentage</a:t>
                      </a:r>
                      <a:endParaRPr lang="en-AU" sz="1400" dirty="0">
                        <a:latin typeface="Helvetica" pitchFamily="34" charset="0"/>
                      </a:endParaRPr>
                    </a:p>
                  </a:txBody>
                  <a:tcPr/>
                </a:tc>
                <a:tc>
                  <a:txBody>
                    <a:bodyPr/>
                    <a:lstStyle/>
                    <a:p>
                      <a:pPr algn="r"/>
                      <a:r>
                        <a:rPr lang="en-AU" sz="1400" dirty="0" smtClean="0">
                          <a:latin typeface="Helvetica" pitchFamily="34" charset="0"/>
                        </a:rPr>
                        <a:t>70%</a:t>
                      </a:r>
                      <a:endParaRPr lang="en-AU" sz="1400" dirty="0">
                        <a:latin typeface="Helvetica" pitchFamily="34" charset="0"/>
                      </a:endParaRPr>
                    </a:p>
                  </a:txBody>
                  <a:tcPr/>
                </a:tc>
                <a:tc>
                  <a:txBody>
                    <a:bodyPr/>
                    <a:lstStyle/>
                    <a:p>
                      <a:pPr algn="r"/>
                      <a:r>
                        <a:rPr lang="en-AU" sz="1400" dirty="0" smtClean="0">
                          <a:latin typeface="Helvetica" pitchFamily="34" charset="0"/>
                        </a:rPr>
                        <a:t>7%</a:t>
                      </a:r>
                      <a:endParaRPr lang="en-AU" sz="1400" dirty="0">
                        <a:latin typeface="Helvetica" pitchFamily="34" charset="0"/>
                      </a:endParaRPr>
                    </a:p>
                  </a:txBody>
                  <a:tcPr/>
                </a:tc>
                <a:tc>
                  <a:txBody>
                    <a:bodyPr/>
                    <a:lstStyle/>
                    <a:p>
                      <a:pPr algn="r"/>
                      <a:r>
                        <a:rPr lang="en-AU" sz="1400" dirty="0" smtClean="0">
                          <a:latin typeface="Helvetica" pitchFamily="34" charset="0"/>
                        </a:rPr>
                        <a:t>20%</a:t>
                      </a:r>
                      <a:endParaRPr lang="en-AU" sz="1400" dirty="0">
                        <a:latin typeface="Helvetica" pitchFamily="34" charset="0"/>
                      </a:endParaRPr>
                    </a:p>
                  </a:txBody>
                  <a:tcPr/>
                </a:tc>
                <a:tc>
                  <a:txBody>
                    <a:bodyPr/>
                    <a:lstStyle/>
                    <a:p>
                      <a:pPr algn="r"/>
                      <a:r>
                        <a:rPr lang="en-AU" sz="1400" dirty="0" smtClean="0">
                          <a:latin typeface="Helvetica" pitchFamily="34" charset="0"/>
                        </a:rPr>
                        <a:t>2%</a:t>
                      </a:r>
                      <a:endParaRPr lang="en-AU" sz="1400" dirty="0">
                        <a:latin typeface="Helvetica" pitchFamily="34" charset="0"/>
                      </a:endParaRPr>
                    </a:p>
                  </a:txBody>
                  <a:tcPr/>
                </a:tc>
                <a:tc>
                  <a:txBody>
                    <a:bodyPr/>
                    <a:lstStyle/>
                    <a:p>
                      <a:pPr algn="r"/>
                      <a:r>
                        <a:rPr lang="en-AU" sz="1400" dirty="0" smtClean="0">
                          <a:latin typeface="Helvetica" pitchFamily="34" charset="0"/>
                        </a:rPr>
                        <a:t>1%</a:t>
                      </a:r>
                      <a:endParaRPr lang="en-AU" sz="1400" dirty="0">
                        <a:latin typeface="Helvetica" pitchFamily="34" charset="0"/>
                      </a:endParaRPr>
                    </a:p>
                  </a:txBody>
                  <a:tcPr/>
                </a:tc>
                <a:tc>
                  <a:txBody>
                    <a:bodyPr/>
                    <a:lstStyle/>
                    <a:p>
                      <a:pPr algn="r"/>
                      <a:endParaRPr lang="en-AU" sz="1400" dirty="0">
                        <a:latin typeface="Helvetica" pitchFamily="34" charset="0"/>
                      </a:endParaRPr>
                    </a:p>
                  </a:txBody>
                  <a:tcPr/>
                </a:tc>
              </a:tr>
            </a:tbl>
          </a:graphicData>
        </a:graphic>
      </p:graphicFrame>
    </p:spTree>
    <p:extLst>
      <p:ext uri="{BB962C8B-B14F-4D97-AF65-F5344CB8AC3E}">
        <p14:creationId xmlns:p14="http://schemas.microsoft.com/office/powerpoint/2010/main" val="398674013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a:solidFill>
                  <a:srgbClr val="FF6600"/>
                </a:solidFill>
                <a:latin typeface="Helvetica" pitchFamily="34" charset="0"/>
              </a:rPr>
              <a:t>Providing financial information</a:t>
            </a:r>
          </a:p>
        </p:txBody>
      </p:sp>
      <p:sp>
        <p:nvSpPr>
          <p:cNvPr id="3" name="Content Placeholder 2"/>
          <p:cNvSpPr>
            <a:spLocks noGrp="1"/>
          </p:cNvSpPr>
          <p:nvPr>
            <p:ph idx="1"/>
          </p:nvPr>
        </p:nvSpPr>
        <p:spPr>
          <a:xfrm>
            <a:off x="611560" y="1196752"/>
            <a:ext cx="7467600" cy="5544616"/>
          </a:xfrm>
        </p:spPr>
        <p:txBody>
          <a:bodyPr>
            <a:normAutofit/>
          </a:bodyPr>
          <a:lstStyle/>
          <a:p>
            <a:pPr marL="360000" indent="-360000">
              <a:spcBef>
                <a:spcPts val="600"/>
              </a:spcBef>
              <a:spcAft>
                <a:spcPts val="1200"/>
              </a:spcAft>
              <a:buClr>
                <a:srgbClr val="7FD13B"/>
              </a:buClr>
            </a:pPr>
            <a:r>
              <a:rPr lang="en-AU" sz="2200" dirty="0" smtClean="0">
                <a:latin typeface="Helvetica" pitchFamily="34" charset="0"/>
              </a:rPr>
              <a:t>Distribution of financial statements: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Confidentiality</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Adhere to reporting deadlines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Schedule to follow</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Secure passwords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4" descr="MP900390550.JPG"/>
          <p:cNvPicPr>
            <a:picLocks noChangeAspect="1"/>
          </p:cNvPicPr>
          <p:nvPr/>
        </p:nvPicPr>
        <p:blipFill>
          <a:blip r:embed="rId3" cstate="print"/>
          <a:stretch>
            <a:fillRect/>
          </a:stretch>
        </p:blipFill>
        <p:spPr>
          <a:xfrm>
            <a:off x="6156176" y="3861048"/>
            <a:ext cx="2304256" cy="1643703"/>
          </a:xfrm>
          <a:prstGeom prst="rect">
            <a:avLst/>
          </a:prstGeom>
        </p:spPr>
      </p:pic>
    </p:spTree>
    <p:extLst>
      <p:ext uri="{BB962C8B-B14F-4D97-AF65-F5344CB8AC3E}">
        <p14:creationId xmlns:p14="http://schemas.microsoft.com/office/powerpoint/2010/main" val="2530120420"/>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_Food_&amp;_Bev_template_250612">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PPT_Food_&amp;_Bev_template_250612</Template>
  <TotalTime>3686</TotalTime>
  <Words>6810</Words>
  <Application>Microsoft Office PowerPoint</Application>
  <PresentationFormat>On-screen Show (4:3)</PresentationFormat>
  <Paragraphs>1562</Paragraphs>
  <Slides>107</Slides>
  <Notes>107</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107</vt:i4>
      </vt:variant>
    </vt:vector>
  </HeadingPairs>
  <TitlesOfParts>
    <vt:vector size="118" baseType="lpstr">
      <vt:lpstr>ＭＳ Ｐゴシック</vt:lpstr>
      <vt:lpstr>Arial</vt:lpstr>
      <vt:lpstr>Calibri</vt:lpstr>
      <vt:lpstr>Franklin Gothic Book</vt:lpstr>
      <vt:lpstr>Helvetica</vt:lpstr>
      <vt:lpstr>Times New Roman</vt:lpstr>
      <vt:lpstr>Verdana</vt:lpstr>
      <vt:lpstr>Wingdings</vt:lpstr>
      <vt:lpstr>Wingdings 2</vt:lpstr>
      <vt:lpstr>PPT_Food_&amp;_Bev_template_250612</vt:lpstr>
      <vt:lpstr>Worksheet</vt:lpstr>
      <vt:lpstr>MAINTAIN FINANCIAL STANDARDS AND RECORDS</vt:lpstr>
      <vt:lpstr>Introduction</vt:lpstr>
      <vt:lpstr>Introduction</vt:lpstr>
      <vt:lpstr>Introduction</vt:lpstr>
      <vt:lpstr>Implement and monitor the financial system</vt:lpstr>
      <vt:lpstr>Implement and monitor the financial system</vt:lpstr>
      <vt:lpstr>Maintaining the financial system</vt:lpstr>
      <vt:lpstr>Implement and monitor the financial system</vt:lpstr>
      <vt:lpstr>Implement and monitor the financial system</vt:lpstr>
      <vt:lpstr>Implement internal controls</vt:lpstr>
      <vt:lpstr>Implement internal controls</vt:lpstr>
      <vt:lpstr>Implement internal controls</vt:lpstr>
      <vt:lpstr>Implement internal controls</vt:lpstr>
      <vt:lpstr>Implement internal controls</vt:lpstr>
      <vt:lpstr>Implement internal controls</vt:lpstr>
      <vt:lpstr>Implement internal controls</vt:lpstr>
      <vt:lpstr>Implement internal controls</vt:lpstr>
      <vt:lpstr>Implement internal controls</vt:lpstr>
      <vt:lpstr>Implement internal controls</vt:lpstr>
      <vt:lpstr>Implement internal controls</vt:lpstr>
      <vt:lpstr>Implement internal controls</vt:lpstr>
      <vt:lpstr>Implement internal controls</vt:lpstr>
      <vt:lpstr>Implement internal controls</vt:lpstr>
      <vt:lpstr>Implement internal controls</vt:lpstr>
      <vt:lpstr>Implement internal controls</vt:lpstr>
      <vt:lpstr>Implement internal controls</vt:lpstr>
      <vt:lpstr>Implement internal controls</vt:lpstr>
      <vt:lpstr>Implement internal controls</vt:lpstr>
      <vt:lpstr>Monitoring the financial system </vt:lpstr>
      <vt:lpstr>Monitoring the financial system </vt:lpstr>
      <vt:lpstr>Monitoring the financial system </vt:lpstr>
      <vt:lpstr>Monitoring the financial system </vt:lpstr>
      <vt:lpstr>Monitoring the financial system </vt:lpstr>
      <vt:lpstr>Monitoring the financial system </vt:lpstr>
      <vt:lpstr>Monitoring the financial system</vt:lpstr>
      <vt:lpstr>Monitoring the financial system </vt:lpstr>
      <vt:lpstr>Monitoring the financial system </vt:lpstr>
      <vt:lpstr>Monitoring the financial system</vt:lpstr>
      <vt:lpstr>Monitoring the financial system </vt:lpstr>
      <vt:lpstr>Monitoring the financial system </vt:lpstr>
      <vt:lpstr>Monitoring the financial system </vt:lpstr>
      <vt:lpstr>Monitoring the financial system </vt:lpstr>
      <vt:lpstr>Monitoring the financial system </vt:lpstr>
      <vt:lpstr>Monitoring the financial system </vt:lpstr>
      <vt:lpstr>Monitoring the financial system </vt:lpstr>
      <vt:lpstr>Monitoring the financial system</vt:lpstr>
      <vt:lpstr>Monitoring the financial system </vt:lpstr>
      <vt:lpstr>Monitoring the financial system </vt:lpstr>
      <vt:lpstr>Monitoring the financial system </vt:lpstr>
      <vt:lpstr>Monitoring the financial system </vt:lpstr>
      <vt:lpstr>Monitoring the financial system </vt:lpstr>
      <vt:lpstr>Monitoring the financial system </vt:lpstr>
      <vt:lpstr>Maintaining the financial system</vt:lpstr>
      <vt:lpstr>Checking transactions</vt:lpstr>
      <vt:lpstr>Checking transactions</vt:lpstr>
      <vt:lpstr>Checking transactions</vt:lpstr>
      <vt:lpstr>Checking transactions</vt:lpstr>
      <vt:lpstr>Checking transactions</vt:lpstr>
      <vt:lpstr>Checking transactions</vt:lpstr>
      <vt:lpstr>Checking transactions</vt:lpstr>
      <vt:lpstr>Checking transactions</vt:lpstr>
      <vt:lpstr>Checking transactions</vt:lpstr>
      <vt:lpstr>Checking transactions</vt:lpstr>
      <vt:lpstr>Checking transactions</vt:lpstr>
      <vt:lpstr>Checking transactions</vt:lpstr>
      <vt:lpstr>Balancing transactions</vt:lpstr>
      <vt:lpstr>Balancing transactions</vt:lpstr>
      <vt:lpstr>Balancing transactions</vt:lpstr>
      <vt:lpstr>Balancing transactions</vt:lpstr>
      <vt:lpstr>Balancing transactions</vt:lpstr>
      <vt:lpstr>Balancing transactions</vt:lpstr>
      <vt:lpstr>Balancing transactions</vt:lpstr>
      <vt:lpstr>Balancing transactions</vt:lpstr>
      <vt:lpstr>Check balances prepared by others</vt:lpstr>
      <vt:lpstr>Check balances prepared by others</vt:lpstr>
      <vt:lpstr>Check balances prepared by others</vt:lpstr>
      <vt:lpstr>Check balances prepared by others</vt:lpstr>
      <vt:lpstr>Check balances prepared by others</vt:lpstr>
      <vt:lpstr>Check balances prepared by others</vt:lpstr>
      <vt:lpstr>Check balances prepared by others</vt:lpstr>
      <vt:lpstr>Check balances prepared by others</vt:lpstr>
      <vt:lpstr>Check balances prepared by others</vt:lpstr>
      <vt:lpstr>Check balances prepared by others</vt:lpstr>
      <vt:lpstr>Check balances prepared by others</vt:lpstr>
      <vt:lpstr>Check balances prepared by others</vt:lpstr>
      <vt:lpstr>Resolving errors in the financial system</vt:lpstr>
      <vt:lpstr>Maintaining the financial system</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lpstr>Providing financial information</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MAINTAIN FINANCIAL STANDARDS AND RECORDS</dc:title>
  <dc:creator>Administrator</dc:creator>
  <cp:lastModifiedBy>Carla Angelica Co</cp:lastModifiedBy>
  <cp:revision>136</cp:revision>
  <dcterms:created xsi:type="dcterms:W3CDTF">2012-06-26T05:12:17Z</dcterms:created>
  <dcterms:modified xsi:type="dcterms:W3CDTF">2015-03-28T08:38:51Z</dcterms:modified>
</cp:coreProperties>
</file>