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5" r:id="rId3"/>
    <p:sldId id="270" r:id="rId4"/>
    <p:sldId id="269" r:id="rId5"/>
    <p:sldId id="271" r:id="rId6"/>
    <p:sldId id="266" r:id="rId7"/>
    <p:sldId id="267" r:id="rId8"/>
    <p:sldId id="272" r:id="rId9"/>
    <p:sldId id="275" r:id="rId10"/>
    <p:sldId id="274" r:id="rId11"/>
    <p:sldId id="273" r:id="rId12"/>
    <p:sldId id="256" r:id="rId13"/>
    <p:sldId id="258" r:id="rId14"/>
    <p:sldId id="257" r:id="rId15"/>
    <p:sldId id="259" r:id="rId16"/>
    <p:sldId id="260" r:id="rId17"/>
    <p:sldId id="261" r:id="rId18"/>
    <p:sldId id="262" r:id="rId19"/>
    <p:sldId id="263" r:id="rId20"/>
    <p:sldId id="264"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PH"/>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p>
            <a:fld id="{A3B9CF2D-67A2-42E7-89AC-D6E5F94AABA1}" type="datetimeFigureOut">
              <a:rPr lang="en-PH" smtClean="0"/>
              <a:t>21/08/2018</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F193C83-679A-48CB-8071-80223886D8F6}" type="slidenum">
              <a:rPr lang="en-PH" smtClean="0"/>
              <a:t>‹#›</a:t>
            </a:fld>
            <a:endParaRPr lang="en-PH"/>
          </a:p>
        </p:txBody>
      </p:sp>
    </p:spTree>
    <p:extLst>
      <p:ext uri="{BB962C8B-B14F-4D97-AF65-F5344CB8AC3E}">
        <p14:creationId xmlns:p14="http://schemas.microsoft.com/office/powerpoint/2010/main" val="453130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A3B9CF2D-67A2-42E7-89AC-D6E5F94AABA1}" type="datetimeFigureOut">
              <a:rPr lang="en-PH" smtClean="0"/>
              <a:t>21/08/2018</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F193C83-679A-48CB-8071-80223886D8F6}" type="slidenum">
              <a:rPr lang="en-PH" smtClean="0"/>
              <a:t>‹#›</a:t>
            </a:fld>
            <a:endParaRPr lang="en-PH"/>
          </a:p>
        </p:txBody>
      </p:sp>
    </p:spTree>
    <p:extLst>
      <p:ext uri="{BB962C8B-B14F-4D97-AF65-F5344CB8AC3E}">
        <p14:creationId xmlns:p14="http://schemas.microsoft.com/office/powerpoint/2010/main" val="4019647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PH"/>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B9CF2D-67A2-42E7-89AC-D6E5F94AABA1}" type="datetimeFigureOut">
              <a:rPr lang="en-PH" smtClean="0"/>
              <a:t>21/08/2018</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F193C83-679A-48CB-8071-80223886D8F6}" type="slidenum">
              <a:rPr lang="en-PH" smtClean="0"/>
              <a:t>‹#›</a:t>
            </a:fld>
            <a:endParaRPr lang="en-PH"/>
          </a:p>
        </p:txBody>
      </p:sp>
    </p:spTree>
    <p:extLst>
      <p:ext uri="{BB962C8B-B14F-4D97-AF65-F5344CB8AC3E}">
        <p14:creationId xmlns:p14="http://schemas.microsoft.com/office/powerpoint/2010/main" val="2583683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4"/>
          <p:cNvSpPr>
            <a:spLocks noGrp="1"/>
          </p:cNvSpPr>
          <p:nvPr>
            <p:ph type="dt" sz="half" idx="10"/>
          </p:nvPr>
        </p:nvSpPr>
        <p:spPr/>
        <p:txBody>
          <a:bodyPr/>
          <a:lstStyle/>
          <a:p>
            <a:fld id="{A3B9CF2D-67A2-42E7-89AC-D6E5F94AABA1}" type="datetimeFigureOut">
              <a:rPr lang="en-PH" smtClean="0"/>
              <a:t>21/08/2018</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8F193C83-679A-48CB-8071-80223886D8F6}" type="slidenum">
              <a:rPr lang="en-PH" smtClean="0"/>
              <a:t>‹#›</a:t>
            </a:fld>
            <a:endParaRPr lang="en-PH"/>
          </a:p>
        </p:txBody>
      </p:sp>
    </p:spTree>
    <p:extLst>
      <p:ext uri="{BB962C8B-B14F-4D97-AF65-F5344CB8AC3E}">
        <p14:creationId xmlns:p14="http://schemas.microsoft.com/office/powerpoint/2010/main" val="3719005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PH"/>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6"/>
          <p:cNvSpPr>
            <a:spLocks noGrp="1"/>
          </p:cNvSpPr>
          <p:nvPr>
            <p:ph type="dt" sz="half" idx="10"/>
          </p:nvPr>
        </p:nvSpPr>
        <p:spPr/>
        <p:txBody>
          <a:bodyPr/>
          <a:lstStyle/>
          <a:p>
            <a:fld id="{A3B9CF2D-67A2-42E7-89AC-D6E5F94AABA1}" type="datetimeFigureOut">
              <a:rPr lang="en-PH" smtClean="0"/>
              <a:t>21/08/2018</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8F193C83-679A-48CB-8071-80223886D8F6}" type="slidenum">
              <a:rPr lang="en-PH" smtClean="0"/>
              <a:t>‹#›</a:t>
            </a:fld>
            <a:endParaRPr lang="en-PH"/>
          </a:p>
        </p:txBody>
      </p:sp>
    </p:spTree>
    <p:extLst>
      <p:ext uri="{BB962C8B-B14F-4D97-AF65-F5344CB8AC3E}">
        <p14:creationId xmlns:p14="http://schemas.microsoft.com/office/powerpoint/2010/main" val="371340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2"/>
          <p:cNvSpPr>
            <a:spLocks noGrp="1"/>
          </p:cNvSpPr>
          <p:nvPr>
            <p:ph type="dt" sz="half" idx="10"/>
          </p:nvPr>
        </p:nvSpPr>
        <p:spPr/>
        <p:txBody>
          <a:bodyPr/>
          <a:lstStyle/>
          <a:p>
            <a:fld id="{A3B9CF2D-67A2-42E7-89AC-D6E5F94AABA1}" type="datetimeFigureOut">
              <a:rPr lang="en-PH" smtClean="0"/>
              <a:t>21/08/2018</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8F193C83-679A-48CB-8071-80223886D8F6}" type="slidenum">
              <a:rPr lang="en-PH" smtClean="0"/>
              <a:t>‹#›</a:t>
            </a:fld>
            <a:endParaRPr lang="en-PH"/>
          </a:p>
        </p:txBody>
      </p:sp>
    </p:spTree>
    <p:extLst>
      <p:ext uri="{BB962C8B-B14F-4D97-AF65-F5344CB8AC3E}">
        <p14:creationId xmlns:p14="http://schemas.microsoft.com/office/powerpoint/2010/main" val="4135570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B9CF2D-67A2-42E7-89AC-D6E5F94AABA1}" type="datetimeFigureOut">
              <a:rPr lang="en-PH" smtClean="0"/>
              <a:t>21/08/2018</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8F193C83-679A-48CB-8071-80223886D8F6}" type="slidenum">
              <a:rPr lang="en-PH" smtClean="0"/>
              <a:t>‹#›</a:t>
            </a:fld>
            <a:endParaRPr lang="en-PH"/>
          </a:p>
        </p:txBody>
      </p:sp>
    </p:spTree>
    <p:extLst>
      <p:ext uri="{BB962C8B-B14F-4D97-AF65-F5344CB8AC3E}">
        <p14:creationId xmlns:p14="http://schemas.microsoft.com/office/powerpoint/2010/main" val="992910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PH"/>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B9CF2D-67A2-42E7-89AC-D6E5F94AABA1}" type="datetimeFigureOut">
              <a:rPr lang="en-PH" smtClean="0"/>
              <a:t>21/08/2018</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8F193C83-679A-48CB-8071-80223886D8F6}" type="slidenum">
              <a:rPr lang="en-PH" smtClean="0"/>
              <a:t>‹#›</a:t>
            </a:fld>
            <a:endParaRPr lang="en-PH"/>
          </a:p>
        </p:txBody>
      </p:sp>
    </p:spTree>
    <p:extLst>
      <p:ext uri="{BB962C8B-B14F-4D97-AF65-F5344CB8AC3E}">
        <p14:creationId xmlns:p14="http://schemas.microsoft.com/office/powerpoint/2010/main" val="1324353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PH"/>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B9CF2D-67A2-42E7-89AC-D6E5F94AABA1}" type="datetimeFigureOut">
              <a:rPr lang="en-PH" smtClean="0"/>
              <a:t>21/08/2018</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8F193C83-679A-48CB-8071-80223886D8F6}" type="slidenum">
              <a:rPr lang="en-PH" smtClean="0"/>
              <a:t>‹#›</a:t>
            </a:fld>
            <a:endParaRPr lang="en-PH"/>
          </a:p>
        </p:txBody>
      </p:sp>
    </p:spTree>
    <p:extLst>
      <p:ext uri="{BB962C8B-B14F-4D97-AF65-F5344CB8AC3E}">
        <p14:creationId xmlns:p14="http://schemas.microsoft.com/office/powerpoint/2010/main" val="4175563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A3B9CF2D-67A2-42E7-89AC-D6E5F94AABA1}" type="datetimeFigureOut">
              <a:rPr lang="en-PH" smtClean="0"/>
              <a:t>21/08/2018</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F193C83-679A-48CB-8071-80223886D8F6}" type="slidenum">
              <a:rPr lang="en-PH" smtClean="0"/>
              <a:t>‹#›</a:t>
            </a:fld>
            <a:endParaRPr lang="en-PH"/>
          </a:p>
        </p:txBody>
      </p:sp>
    </p:spTree>
    <p:extLst>
      <p:ext uri="{BB962C8B-B14F-4D97-AF65-F5344CB8AC3E}">
        <p14:creationId xmlns:p14="http://schemas.microsoft.com/office/powerpoint/2010/main" val="3528662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A3B9CF2D-67A2-42E7-89AC-D6E5F94AABA1}" type="datetimeFigureOut">
              <a:rPr lang="en-PH" smtClean="0"/>
              <a:t>21/08/2018</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8F193C83-679A-48CB-8071-80223886D8F6}" type="slidenum">
              <a:rPr lang="en-PH" smtClean="0"/>
              <a:t>‹#›</a:t>
            </a:fld>
            <a:endParaRPr lang="en-PH"/>
          </a:p>
        </p:txBody>
      </p:sp>
    </p:spTree>
    <p:extLst>
      <p:ext uri="{BB962C8B-B14F-4D97-AF65-F5344CB8AC3E}">
        <p14:creationId xmlns:p14="http://schemas.microsoft.com/office/powerpoint/2010/main" val="1920021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PH"/>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B9CF2D-67A2-42E7-89AC-D6E5F94AABA1}" type="datetimeFigureOut">
              <a:rPr lang="en-PH" smtClean="0"/>
              <a:t>21/08/2018</a:t>
            </a:fld>
            <a:endParaRPr lang="en-PH"/>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193C83-679A-48CB-8071-80223886D8F6}" type="slidenum">
              <a:rPr lang="en-PH" smtClean="0"/>
              <a:t>‹#›</a:t>
            </a:fld>
            <a:endParaRPr lang="en-PH"/>
          </a:p>
        </p:txBody>
      </p:sp>
    </p:spTree>
    <p:extLst>
      <p:ext uri="{BB962C8B-B14F-4D97-AF65-F5344CB8AC3E}">
        <p14:creationId xmlns:p14="http://schemas.microsoft.com/office/powerpoint/2010/main" val="20915967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Different kinds of Napkin folding</a:t>
            </a:r>
            <a:endParaRPr lang="en-PH" dirty="0"/>
          </a:p>
        </p:txBody>
      </p:sp>
      <p:sp>
        <p:nvSpPr>
          <p:cNvPr id="3" name="Content Placeholder 2"/>
          <p:cNvSpPr>
            <a:spLocks noGrp="1"/>
          </p:cNvSpPr>
          <p:nvPr>
            <p:ph idx="1"/>
          </p:nvPr>
        </p:nvSpPr>
        <p:spPr/>
        <p:txBody>
          <a:bodyPr>
            <a:normAutofit fontScale="47500" lnSpcReduction="20000"/>
          </a:bodyPr>
          <a:lstStyle/>
          <a:p>
            <a:pPr marL="514350" indent="-514350">
              <a:buAutoNum type="arabicPeriod"/>
            </a:pPr>
            <a:r>
              <a:rPr lang="en-PH" dirty="0" smtClean="0"/>
              <a:t>Pyramid</a:t>
            </a:r>
          </a:p>
          <a:p>
            <a:pPr marL="514350" indent="-514350">
              <a:buAutoNum type="arabicPeriod"/>
            </a:pPr>
            <a:r>
              <a:rPr lang="en-PH" dirty="0" smtClean="0"/>
              <a:t>Butterfly</a:t>
            </a:r>
          </a:p>
          <a:p>
            <a:pPr marL="514350" indent="-514350">
              <a:buAutoNum type="arabicPeriod"/>
            </a:pPr>
            <a:r>
              <a:rPr lang="en-PH" dirty="0" smtClean="0"/>
              <a:t>Birds of paradise</a:t>
            </a:r>
          </a:p>
          <a:p>
            <a:pPr marL="514350" indent="-514350">
              <a:buAutoNum type="arabicPeriod"/>
            </a:pPr>
            <a:r>
              <a:rPr lang="en-PH" dirty="0" smtClean="0"/>
              <a:t>Candle</a:t>
            </a:r>
          </a:p>
          <a:p>
            <a:pPr marL="514350" indent="-514350">
              <a:buAutoNum type="arabicPeriod"/>
            </a:pPr>
            <a:r>
              <a:rPr lang="en-PH" dirty="0" smtClean="0"/>
              <a:t>Double candle</a:t>
            </a:r>
          </a:p>
          <a:p>
            <a:pPr marL="514350" indent="-514350">
              <a:buAutoNum type="arabicPeriod"/>
            </a:pPr>
            <a:r>
              <a:rPr lang="en-PH" dirty="0" smtClean="0"/>
              <a:t>Banana</a:t>
            </a:r>
          </a:p>
          <a:p>
            <a:pPr marL="514350" indent="-514350">
              <a:buAutoNum type="arabicPeriod"/>
            </a:pPr>
            <a:r>
              <a:rPr lang="en-PH" dirty="0" smtClean="0"/>
              <a:t>Blossom</a:t>
            </a:r>
          </a:p>
          <a:p>
            <a:pPr marL="514350" indent="-514350">
              <a:buAutoNum type="arabicPeriod"/>
            </a:pPr>
            <a:r>
              <a:rPr lang="en-PH" dirty="0" smtClean="0"/>
              <a:t>Lotus</a:t>
            </a:r>
          </a:p>
          <a:p>
            <a:pPr marL="514350" indent="-514350">
              <a:buAutoNum type="arabicPeriod"/>
            </a:pPr>
            <a:r>
              <a:rPr lang="en-PH" dirty="0" smtClean="0"/>
              <a:t>Cross</a:t>
            </a:r>
          </a:p>
          <a:p>
            <a:pPr marL="514350" indent="-514350">
              <a:buAutoNum type="arabicPeriod"/>
            </a:pPr>
            <a:r>
              <a:rPr lang="en-PH" dirty="0" smtClean="0"/>
              <a:t>Boat</a:t>
            </a:r>
          </a:p>
          <a:p>
            <a:pPr marL="514350" indent="-514350">
              <a:buAutoNum type="arabicPeriod"/>
            </a:pPr>
            <a:r>
              <a:rPr lang="en-PH" dirty="0" smtClean="0"/>
              <a:t>Rose</a:t>
            </a:r>
          </a:p>
          <a:p>
            <a:pPr marL="514350" indent="-514350">
              <a:buAutoNum type="arabicPeriod"/>
            </a:pPr>
            <a:r>
              <a:rPr lang="en-PH" dirty="0" smtClean="0"/>
              <a:t>Crown</a:t>
            </a:r>
          </a:p>
          <a:p>
            <a:pPr marL="514350" indent="-514350">
              <a:buAutoNum type="arabicPeriod"/>
            </a:pPr>
            <a:r>
              <a:rPr lang="en-PH" dirty="0" smtClean="0"/>
              <a:t>Bishops hat</a:t>
            </a:r>
          </a:p>
          <a:p>
            <a:pPr marL="514350" indent="-514350">
              <a:buAutoNum type="arabicPeriod"/>
            </a:pPr>
            <a:r>
              <a:rPr lang="en-PH" dirty="0" smtClean="0"/>
              <a:t>Cone</a:t>
            </a:r>
          </a:p>
          <a:p>
            <a:pPr marL="514350" indent="-514350">
              <a:buAutoNum type="arabicPeriod"/>
            </a:pPr>
            <a:r>
              <a:rPr lang="en-PH" dirty="0" smtClean="0"/>
              <a:t>Pocket</a:t>
            </a:r>
          </a:p>
          <a:p>
            <a:pPr marL="514350" indent="-514350">
              <a:buAutoNum type="arabicPeriod"/>
            </a:pPr>
            <a:r>
              <a:rPr lang="en-PH" dirty="0" smtClean="0"/>
              <a:t>Fan</a:t>
            </a:r>
          </a:p>
          <a:p>
            <a:pPr marL="514350" indent="-514350">
              <a:buAutoNum type="arabicPeriod"/>
            </a:pPr>
            <a:r>
              <a:rPr lang="en-PH" dirty="0" smtClean="0"/>
              <a:t>Shell</a:t>
            </a:r>
          </a:p>
          <a:p>
            <a:pPr marL="514350" indent="-514350">
              <a:buAutoNum type="arabicPeriod"/>
            </a:pPr>
            <a:r>
              <a:rPr lang="en-PH" dirty="0" smtClean="0"/>
              <a:t>Rose</a:t>
            </a:r>
          </a:p>
          <a:p>
            <a:pPr marL="514350" indent="-514350">
              <a:buAutoNum type="arabicPeriod"/>
            </a:pPr>
            <a:r>
              <a:rPr lang="en-PH" dirty="0" smtClean="0"/>
              <a:t>Star</a:t>
            </a:r>
          </a:p>
          <a:p>
            <a:pPr marL="0" indent="0">
              <a:buNone/>
            </a:pPr>
            <a:endParaRPr lang="en-PH" dirty="0" smtClean="0"/>
          </a:p>
          <a:p>
            <a:pPr marL="0" indent="0">
              <a:buNone/>
            </a:pPr>
            <a:endParaRPr lang="en-PH" dirty="0"/>
          </a:p>
        </p:txBody>
      </p:sp>
    </p:spTree>
    <p:extLst>
      <p:ext uri="{BB962C8B-B14F-4D97-AF65-F5344CB8AC3E}">
        <p14:creationId xmlns:p14="http://schemas.microsoft.com/office/powerpoint/2010/main" val="3642891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The seven rules of service</a:t>
            </a:r>
            <a:endParaRPr lang="en-PH" dirty="0"/>
          </a:p>
        </p:txBody>
      </p:sp>
      <p:sp>
        <p:nvSpPr>
          <p:cNvPr id="3" name="Content Placeholder 2"/>
          <p:cNvSpPr>
            <a:spLocks noGrp="1"/>
          </p:cNvSpPr>
          <p:nvPr>
            <p:ph idx="1"/>
          </p:nvPr>
        </p:nvSpPr>
        <p:spPr/>
        <p:txBody>
          <a:bodyPr>
            <a:normAutofit fontScale="85000" lnSpcReduction="20000"/>
          </a:bodyPr>
          <a:lstStyle/>
          <a:p>
            <a:pPr marL="514350" indent="-514350">
              <a:buAutoNum type="arabicPeriod"/>
            </a:pPr>
            <a:r>
              <a:rPr lang="en-PH" dirty="0" smtClean="0"/>
              <a:t>Serve women before men</a:t>
            </a:r>
          </a:p>
          <a:p>
            <a:pPr marL="514350" indent="-514350">
              <a:buAutoNum type="arabicPeriod"/>
            </a:pPr>
            <a:r>
              <a:rPr lang="en-PH" dirty="0" smtClean="0"/>
              <a:t>Serve food from the left side of the guest with the service person’s left hand</a:t>
            </a:r>
          </a:p>
          <a:p>
            <a:pPr marL="514350" indent="-514350">
              <a:buAutoNum type="arabicPeriod"/>
            </a:pPr>
            <a:r>
              <a:rPr lang="en-PH" dirty="0" smtClean="0"/>
              <a:t>Serve beverages from the guest’s  right hand with the person’s right hand</a:t>
            </a:r>
          </a:p>
          <a:p>
            <a:pPr marL="514350" indent="-514350">
              <a:buAutoNum type="arabicPeriod"/>
            </a:pPr>
            <a:r>
              <a:rPr lang="en-PH" dirty="0" smtClean="0"/>
              <a:t>Bring all of the guest’s food at the same time</a:t>
            </a:r>
          </a:p>
          <a:p>
            <a:pPr marL="514350" indent="-514350">
              <a:buAutoNum type="arabicPeriod"/>
            </a:pPr>
            <a:r>
              <a:rPr lang="en-PH" dirty="0" smtClean="0"/>
              <a:t>Remove dirty plates only when the guests are finished with their meal</a:t>
            </a:r>
          </a:p>
          <a:p>
            <a:pPr marL="514350" indent="-514350">
              <a:buAutoNum type="arabicPeriod"/>
            </a:pPr>
            <a:r>
              <a:rPr lang="en-PH" dirty="0" smtClean="0"/>
              <a:t>Never scrape or stack dirty dishes on the guest’s table</a:t>
            </a:r>
          </a:p>
          <a:p>
            <a:pPr marL="514350" indent="-514350">
              <a:buAutoNum type="arabicPeriod"/>
            </a:pPr>
            <a:r>
              <a:rPr lang="en-PH" dirty="0" smtClean="0"/>
              <a:t>Clean dirty dishes from the right side of the guest with the service person’s right hand</a:t>
            </a:r>
            <a:endParaRPr lang="en-PH" dirty="0"/>
          </a:p>
        </p:txBody>
      </p:sp>
    </p:spTree>
    <p:extLst>
      <p:ext uri="{BB962C8B-B14F-4D97-AF65-F5344CB8AC3E}">
        <p14:creationId xmlns:p14="http://schemas.microsoft.com/office/powerpoint/2010/main" val="27067777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24744"/>
            <a:ext cx="8229600" cy="4896544"/>
          </a:xfrm>
        </p:spPr>
        <p:txBody>
          <a:bodyPr>
            <a:normAutofit/>
          </a:bodyPr>
          <a:lstStyle/>
          <a:p>
            <a:r>
              <a:rPr lang="en-PH" dirty="0" smtClean="0"/>
              <a:t>Proper handling of table appointments</a:t>
            </a:r>
            <a:endParaRPr lang="en-PH" dirty="0"/>
          </a:p>
        </p:txBody>
      </p:sp>
    </p:spTree>
    <p:extLst>
      <p:ext uri="{BB962C8B-B14F-4D97-AF65-F5344CB8AC3E}">
        <p14:creationId xmlns:p14="http://schemas.microsoft.com/office/powerpoint/2010/main" val="23044254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Different kinds of table service</a:t>
            </a:r>
            <a:endParaRPr lang="en-PH" dirty="0"/>
          </a:p>
        </p:txBody>
      </p:sp>
      <p:sp>
        <p:nvSpPr>
          <p:cNvPr id="3" name="Content Placeholder 2"/>
          <p:cNvSpPr>
            <a:spLocks noGrp="1"/>
          </p:cNvSpPr>
          <p:nvPr>
            <p:ph idx="1"/>
          </p:nvPr>
        </p:nvSpPr>
        <p:spPr/>
        <p:txBody>
          <a:bodyPr/>
          <a:lstStyle/>
          <a:p>
            <a:pPr marL="514350" indent="-514350">
              <a:buAutoNum type="arabicPeriod"/>
            </a:pPr>
            <a:r>
              <a:rPr lang="en-PH" dirty="0" smtClean="0"/>
              <a:t>American service</a:t>
            </a:r>
          </a:p>
          <a:p>
            <a:pPr marL="514350" indent="-514350">
              <a:buAutoNum type="arabicPeriod"/>
            </a:pPr>
            <a:r>
              <a:rPr lang="en-PH" dirty="0" smtClean="0"/>
              <a:t>French service</a:t>
            </a:r>
          </a:p>
          <a:p>
            <a:pPr marL="514350" indent="-514350">
              <a:buAutoNum type="arabicPeriod"/>
            </a:pPr>
            <a:r>
              <a:rPr lang="en-PH" dirty="0" smtClean="0"/>
              <a:t>Russian service</a:t>
            </a:r>
          </a:p>
          <a:p>
            <a:pPr marL="514350" indent="-514350">
              <a:buAutoNum type="arabicPeriod"/>
            </a:pPr>
            <a:r>
              <a:rPr lang="en-PH" dirty="0" smtClean="0"/>
              <a:t>A la carte</a:t>
            </a:r>
          </a:p>
          <a:p>
            <a:pPr marL="514350" indent="-514350">
              <a:buAutoNum type="arabicPeriod"/>
            </a:pPr>
            <a:r>
              <a:rPr lang="en-PH" dirty="0" smtClean="0"/>
              <a:t>Buffet </a:t>
            </a:r>
            <a:endParaRPr lang="en-PH" dirty="0"/>
          </a:p>
        </p:txBody>
      </p:sp>
    </p:spTree>
    <p:extLst>
      <p:ext uri="{BB962C8B-B14F-4D97-AF65-F5344CB8AC3E}">
        <p14:creationId xmlns:p14="http://schemas.microsoft.com/office/powerpoint/2010/main" val="31641894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Plate technique</a:t>
            </a:r>
            <a:endParaRPr lang="en-PH" dirty="0"/>
          </a:p>
        </p:txBody>
      </p:sp>
      <p:sp>
        <p:nvSpPr>
          <p:cNvPr id="3" name="Content Placeholder 2"/>
          <p:cNvSpPr>
            <a:spLocks noGrp="1"/>
          </p:cNvSpPr>
          <p:nvPr>
            <p:ph idx="1"/>
          </p:nvPr>
        </p:nvSpPr>
        <p:spPr/>
        <p:txBody>
          <a:bodyPr/>
          <a:lstStyle/>
          <a:p>
            <a:pPr marL="514350" indent="-514350">
              <a:buAutoNum type="arabicPeriod"/>
            </a:pPr>
            <a:r>
              <a:rPr lang="en-PH" dirty="0" smtClean="0"/>
              <a:t>2 plate</a:t>
            </a:r>
          </a:p>
          <a:p>
            <a:pPr marL="514350" indent="-514350">
              <a:buAutoNum type="arabicPeriod"/>
            </a:pPr>
            <a:r>
              <a:rPr lang="en-PH" dirty="0" smtClean="0"/>
              <a:t>3 plate</a:t>
            </a:r>
          </a:p>
          <a:p>
            <a:pPr marL="514350" indent="-514350">
              <a:buAutoNum type="arabicPeriod"/>
            </a:pPr>
            <a:r>
              <a:rPr lang="en-PH" dirty="0" smtClean="0"/>
              <a:t>4 plate</a:t>
            </a:r>
          </a:p>
          <a:p>
            <a:pPr marL="514350" indent="-514350">
              <a:buAutoNum type="arabicPeriod"/>
            </a:pPr>
            <a:r>
              <a:rPr lang="en-PH" dirty="0" smtClean="0"/>
              <a:t>10 plate</a:t>
            </a:r>
          </a:p>
          <a:p>
            <a:pPr marL="0" indent="0">
              <a:buNone/>
            </a:pPr>
            <a:endParaRPr lang="en-PH" dirty="0"/>
          </a:p>
        </p:txBody>
      </p:sp>
    </p:spTree>
    <p:extLst>
      <p:ext uri="{BB962C8B-B14F-4D97-AF65-F5344CB8AC3E}">
        <p14:creationId xmlns:p14="http://schemas.microsoft.com/office/powerpoint/2010/main" val="24892307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Standards of table set up</a:t>
            </a:r>
            <a:endParaRPr lang="en-PH" dirty="0"/>
          </a:p>
        </p:txBody>
      </p:sp>
      <p:sp>
        <p:nvSpPr>
          <p:cNvPr id="3" name="Content Placeholder 2"/>
          <p:cNvSpPr>
            <a:spLocks noGrp="1"/>
          </p:cNvSpPr>
          <p:nvPr>
            <p:ph idx="1"/>
          </p:nvPr>
        </p:nvSpPr>
        <p:spPr/>
        <p:txBody>
          <a:bodyPr/>
          <a:lstStyle/>
          <a:p>
            <a:pPr marL="514350" indent="-514350">
              <a:buAutoNum type="arabicPeriod"/>
            </a:pPr>
            <a:r>
              <a:rPr lang="en-PH" dirty="0" smtClean="0"/>
              <a:t>Completeness</a:t>
            </a:r>
          </a:p>
          <a:p>
            <a:pPr marL="514350" indent="-514350">
              <a:buAutoNum type="arabicPeriod"/>
            </a:pPr>
            <a:r>
              <a:rPr lang="en-PH" dirty="0" smtClean="0"/>
              <a:t>Uniformity and balance</a:t>
            </a:r>
          </a:p>
          <a:p>
            <a:pPr marL="514350" indent="-514350">
              <a:buAutoNum type="arabicPeriod"/>
            </a:pPr>
            <a:r>
              <a:rPr lang="en-PH" dirty="0" smtClean="0"/>
              <a:t>Order</a:t>
            </a:r>
          </a:p>
          <a:p>
            <a:pPr marL="514350" indent="-514350">
              <a:buAutoNum type="arabicPeriod"/>
            </a:pPr>
            <a:r>
              <a:rPr lang="en-PH" dirty="0" smtClean="0"/>
              <a:t>Sanitation and condition of equipment</a:t>
            </a:r>
          </a:p>
          <a:p>
            <a:pPr marL="514350" indent="-514350">
              <a:buAutoNum type="arabicPeriod"/>
            </a:pPr>
            <a:r>
              <a:rPr lang="en-PH" dirty="0" smtClean="0"/>
              <a:t>Eye appeal</a:t>
            </a:r>
          </a:p>
          <a:p>
            <a:pPr marL="514350" indent="-514350">
              <a:buAutoNum type="arabicPeriod"/>
            </a:pPr>
            <a:r>
              <a:rPr lang="en-PH" dirty="0" smtClean="0"/>
              <a:t>timeliness</a:t>
            </a:r>
            <a:endParaRPr lang="en-PH" dirty="0"/>
          </a:p>
        </p:txBody>
      </p:sp>
    </p:spTree>
    <p:extLst>
      <p:ext uri="{BB962C8B-B14F-4D97-AF65-F5344CB8AC3E}">
        <p14:creationId xmlns:p14="http://schemas.microsoft.com/office/powerpoint/2010/main" val="16062075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No no’s of service</a:t>
            </a:r>
            <a:endParaRPr lang="en-PH" dirty="0"/>
          </a:p>
        </p:txBody>
      </p:sp>
      <p:sp>
        <p:nvSpPr>
          <p:cNvPr id="3" name="Content Placeholder 2"/>
          <p:cNvSpPr>
            <a:spLocks noGrp="1"/>
          </p:cNvSpPr>
          <p:nvPr>
            <p:ph idx="1"/>
          </p:nvPr>
        </p:nvSpPr>
        <p:spPr/>
        <p:txBody>
          <a:bodyPr/>
          <a:lstStyle/>
          <a:p>
            <a:pPr marL="514350" indent="-514350">
              <a:buAutoNum type="arabicPeriod"/>
            </a:pPr>
            <a:r>
              <a:rPr lang="en-PH" dirty="0" smtClean="0"/>
              <a:t>Apathy</a:t>
            </a:r>
          </a:p>
          <a:p>
            <a:pPr marL="514350" indent="-514350">
              <a:buAutoNum type="arabicPeriod"/>
            </a:pPr>
            <a:r>
              <a:rPr lang="en-PH" dirty="0" smtClean="0"/>
              <a:t>Brush off</a:t>
            </a:r>
          </a:p>
          <a:p>
            <a:pPr marL="514350" indent="-514350">
              <a:buAutoNum type="arabicPeriod"/>
            </a:pPr>
            <a:r>
              <a:rPr lang="en-PH" dirty="0" smtClean="0"/>
              <a:t>Coldness</a:t>
            </a:r>
          </a:p>
          <a:p>
            <a:pPr marL="514350" indent="-514350">
              <a:buAutoNum type="arabicPeriod"/>
            </a:pPr>
            <a:r>
              <a:rPr lang="en-PH" dirty="0" smtClean="0"/>
              <a:t>Condescension</a:t>
            </a:r>
          </a:p>
          <a:p>
            <a:pPr marL="514350" indent="-514350">
              <a:buAutoNum type="arabicPeriod"/>
            </a:pPr>
            <a:r>
              <a:rPr lang="en-PH" dirty="0" err="1" smtClean="0"/>
              <a:t>Robotism</a:t>
            </a:r>
            <a:endParaRPr lang="en-PH" dirty="0" smtClean="0"/>
          </a:p>
          <a:p>
            <a:pPr marL="514350" indent="-514350">
              <a:buAutoNum type="arabicPeriod"/>
            </a:pPr>
            <a:r>
              <a:rPr lang="en-PH" dirty="0" smtClean="0"/>
              <a:t>The </a:t>
            </a:r>
            <a:r>
              <a:rPr lang="en-PH" dirty="0" err="1" smtClean="0"/>
              <a:t>runaround</a:t>
            </a:r>
            <a:endParaRPr lang="en-PH" dirty="0"/>
          </a:p>
        </p:txBody>
      </p:sp>
    </p:spTree>
    <p:extLst>
      <p:ext uri="{BB962C8B-B14F-4D97-AF65-F5344CB8AC3E}">
        <p14:creationId xmlns:p14="http://schemas.microsoft.com/office/powerpoint/2010/main" val="19771129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Restaurant Layout</a:t>
            </a:r>
            <a:endParaRPr lang="en-PH" dirty="0"/>
          </a:p>
        </p:txBody>
      </p:sp>
      <p:sp>
        <p:nvSpPr>
          <p:cNvPr id="3" name="Content Placeholder 2"/>
          <p:cNvSpPr>
            <a:spLocks noGrp="1"/>
          </p:cNvSpPr>
          <p:nvPr>
            <p:ph idx="1"/>
          </p:nvPr>
        </p:nvSpPr>
        <p:spPr/>
        <p:txBody>
          <a:bodyPr>
            <a:normAutofit lnSpcReduction="10000"/>
          </a:bodyPr>
          <a:lstStyle/>
          <a:p>
            <a:pPr marL="514350" indent="-514350">
              <a:buAutoNum type="arabicPeriod"/>
            </a:pPr>
            <a:r>
              <a:rPr lang="en-PH" dirty="0" smtClean="0"/>
              <a:t>Dining area</a:t>
            </a:r>
          </a:p>
          <a:p>
            <a:pPr marL="514350" indent="-514350">
              <a:buAutoNum type="arabicPeriod"/>
            </a:pPr>
            <a:r>
              <a:rPr lang="en-PH" dirty="0" smtClean="0"/>
              <a:t>Bar counter</a:t>
            </a:r>
          </a:p>
          <a:p>
            <a:pPr marL="514350" indent="-514350">
              <a:buAutoNum type="arabicPeriod"/>
            </a:pPr>
            <a:r>
              <a:rPr lang="en-PH" dirty="0" smtClean="0"/>
              <a:t>Food display counter</a:t>
            </a:r>
          </a:p>
          <a:p>
            <a:pPr marL="514350" indent="-514350">
              <a:buAutoNum type="arabicPeriod"/>
            </a:pPr>
            <a:r>
              <a:rPr lang="en-PH" dirty="0" smtClean="0"/>
              <a:t>Dispatching counter</a:t>
            </a:r>
          </a:p>
          <a:p>
            <a:pPr marL="514350" indent="-514350">
              <a:buAutoNum type="arabicPeriod"/>
            </a:pPr>
            <a:r>
              <a:rPr lang="en-PH" dirty="0" smtClean="0"/>
              <a:t>Cashier’s counter</a:t>
            </a:r>
          </a:p>
          <a:p>
            <a:pPr marL="514350" indent="-514350">
              <a:buAutoNum type="arabicPeriod"/>
            </a:pPr>
            <a:r>
              <a:rPr lang="en-PH" dirty="0" smtClean="0"/>
              <a:t>Dishwashing counter</a:t>
            </a:r>
          </a:p>
          <a:p>
            <a:pPr marL="514350" indent="-514350">
              <a:buAutoNum type="arabicPeriod"/>
            </a:pPr>
            <a:r>
              <a:rPr lang="en-PH" dirty="0" smtClean="0"/>
              <a:t>Service station or side stand</a:t>
            </a:r>
          </a:p>
          <a:p>
            <a:pPr marL="514350" indent="-514350">
              <a:buAutoNum type="arabicPeriod"/>
            </a:pPr>
            <a:r>
              <a:rPr lang="en-PH" dirty="0" smtClean="0"/>
              <a:t>Food preparation area</a:t>
            </a:r>
            <a:endParaRPr lang="en-PH" dirty="0"/>
          </a:p>
        </p:txBody>
      </p:sp>
    </p:spTree>
    <p:extLst>
      <p:ext uri="{BB962C8B-B14F-4D97-AF65-F5344CB8AC3E}">
        <p14:creationId xmlns:p14="http://schemas.microsoft.com/office/powerpoint/2010/main" val="627262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smtClean="0"/>
              <a:t>Understanding the customer according to:</a:t>
            </a:r>
            <a:endParaRPr lang="en-PH" dirty="0"/>
          </a:p>
        </p:txBody>
      </p:sp>
      <p:sp>
        <p:nvSpPr>
          <p:cNvPr id="3" name="Content Placeholder 2"/>
          <p:cNvSpPr>
            <a:spLocks noGrp="1"/>
          </p:cNvSpPr>
          <p:nvPr>
            <p:ph idx="1"/>
          </p:nvPr>
        </p:nvSpPr>
        <p:spPr/>
        <p:txBody>
          <a:bodyPr/>
          <a:lstStyle/>
          <a:p>
            <a:pPr marL="514350" indent="-514350">
              <a:buAutoNum type="arabicPeriod"/>
            </a:pPr>
            <a:r>
              <a:rPr lang="en-PH" dirty="0" smtClean="0"/>
              <a:t>Demographic profile</a:t>
            </a:r>
          </a:p>
          <a:p>
            <a:pPr marL="514350" indent="-514350">
              <a:buAutoNum type="arabicPeriod"/>
            </a:pPr>
            <a:r>
              <a:rPr lang="en-PH" dirty="0" smtClean="0"/>
              <a:t>Lifestyle</a:t>
            </a:r>
          </a:p>
          <a:p>
            <a:pPr marL="514350" indent="-514350">
              <a:buAutoNum type="arabicPeriod"/>
            </a:pPr>
            <a:r>
              <a:rPr lang="en-PH" dirty="0" smtClean="0"/>
              <a:t>Psychographic – trends, liberal, conservative</a:t>
            </a:r>
          </a:p>
          <a:p>
            <a:pPr marL="514350" indent="-514350">
              <a:buAutoNum type="arabicPeriod"/>
            </a:pPr>
            <a:r>
              <a:rPr lang="en-PH" dirty="0" smtClean="0"/>
              <a:t>Decision making – price, quality, brand name</a:t>
            </a:r>
            <a:endParaRPr lang="en-PH" dirty="0"/>
          </a:p>
        </p:txBody>
      </p:sp>
    </p:spTree>
    <p:extLst>
      <p:ext uri="{BB962C8B-B14F-4D97-AF65-F5344CB8AC3E}">
        <p14:creationId xmlns:p14="http://schemas.microsoft.com/office/powerpoint/2010/main" val="11261964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smtClean="0"/>
              <a:t>Demographic profile of the customer</a:t>
            </a:r>
            <a:endParaRPr lang="en-PH" dirty="0"/>
          </a:p>
        </p:txBody>
      </p:sp>
      <p:sp>
        <p:nvSpPr>
          <p:cNvPr id="3" name="Content Placeholder 2"/>
          <p:cNvSpPr>
            <a:spLocks noGrp="1"/>
          </p:cNvSpPr>
          <p:nvPr>
            <p:ph idx="1"/>
          </p:nvPr>
        </p:nvSpPr>
        <p:spPr/>
        <p:txBody>
          <a:bodyPr>
            <a:normAutofit fontScale="77500" lnSpcReduction="20000"/>
          </a:bodyPr>
          <a:lstStyle/>
          <a:p>
            <a:pPr marL="514350" indent="-514350">
              <a:buAutoNum type="arabicPeriod"/>
            </a:pPr>
            <a:r>
              <a:rPr lang="en-PH" dirty="0" smtClean="0"/>
              <a:t>Age</a:t>
            </a:r>
          </a:p>
          <a:p>
            <a:pPr marL="514350" indent="-514350">
              <a:buAutoNum type="arabicPeriod"/>
            </a:pPr>
            <a:r>
              <a:rPr lang="en-PH" dirty="0" smtClean="0"/>
              <a:t>Gender</a:t>
            </a:r>
          </a:p>
          <a:p>
            <a:pPr marL="514350" indent="-514350">
              <a:buAutoNum type="arabicPeriod"/>
            </a:pPr>
            <a:r>
              <a:rPr lang="en-PH" dirty="0" smtClean="0"/>
              <a:t>Civil status</a:t>
            </a:r>
          </a:p>
          <a:p>
            <a:pPr marL="514350" indent="-514350">
              <a:buAutoNum type="arabicPeriod"/>
            </a:pPr>
            <a:r>
              <a:rPr lang="en-PH" dirty="0" smtClean="0"/>
              <a:t>Education</a:t>
            </a:r>
          </a:p>
          <a:p>
            <a:pPr marL="514350" indent="-514350">
              <a:buAutoNum type="arabicPeriod"/>
            </a:pPr>
            <a:r>
              <a:rPr lang="en-PH" dirty="0" smtClean="0"/>
              <a:t>profession</a:t>
            </a:r>
          </a:p>
          <a:p>
            <a:pPr marL="514350" indent="-514350">
              <a:buAutoNum type="arabicPeriod"/>
            </a:pPr>
            <a:r>
              <a:rPr lang="en-PH" dirty="0" smtClean="0"/>
              <a:t>Income</a:t>
            </a:r>
          </a:p>
          <a:p>
            <a:pPr marL="514350" indent="-514350">
              <a:buAutoNum type="arabicPeriod"/>
            </a:pPr>
            <a:r>
              <a:rPr lang="en-PH" dirty="0" smtClean="0"/>
              <a:t>Location</a:t>
            </a:r>
          </a:p>
          <a:p>
            <a:pPr marL="514350" indent="-514350">
              <a:buAutoNum type="arabicPeriod"/>
            </a:pPr>
            <a:r>
              <a:rPr lang="en-PH" dirty="0" smtClean="0"/>
              <a:t>Family size</a:t>
            </a:r>
          </a:p>
          <a:p>
            <a:pPr marL="514350" indent="-514350">
              <a:buAutoNum type="arabicPeriod"/>
            </a:pPr>
            <a:r>
              <a:rPr lang="en-PH" dirty="0" smtClean="0"/>
              <a:t>Religion</a:t>
            </a:r>
          </a:p>
          <a:p>
            <a:pPr marL="514350" indent="-514350">
              <a:buAutoNum type="arabicPeriod"/>
            </a:pPr>
            <a:r>
              <a:rPr lang="en-PH" dirty="0" smtClean="0"/>
              <a:t>Nationality </a:t>
            </a:r>
          </a:p>
          <a:p>
            <a:pPr marL="514350" indent="-514350">
              <a:buAutoNum type="arabicPeriod"/>
            </a:pPr>
            <a:r>
              <a:rPr lang="en-PH" dirty="0" smtClean="0"/>
              <a:t>climate</a:t>
            </a:r>
            <a:endParaRPr lang="en-PH" dirty="0"/>
          </a:p>
        </p:txBody>
      </p:sp>
    </p:spTree>
    <p:extLst>
      <p:ext uri="{BB962C8B-B14F-4D97-AF65-F5344CB8AC3E}">
        <p14:creationId xmlns:p14="http://schemas.microsoft.com/office/powerpoint/2010/main" val="13011717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smtClean="0"/>
              <a:t>Factors to consider in a restaurant concept</a:t>
            </a:r>
            <a:endParaRPr lang="en-PH" dirty="0"/>
          </a:p>
        </p:txBody>
      </p:sp>
      <p:sp>
        <p:nvSpPr>
          <p:cNvPr id="3" name="Content Placeholder 2"/>
          <p:cNvSpPr>
            <a:spLocks noGrp="1"/>
          </p:cNvSpPr>
          <p:nvPr>
            <p:ph idx="1"/>
          </p:nvPr>
        </p:nvSpPr>
        <p:spPr/>
        <p:txBody>
          <a:bodyPr>
            <a:normAutofit fontScale="85000" lnSpcReduction="20000"/>
          </a:bodyPr>
          <a:lstStyle/>
          <a:p>
            <a:pPr marL="514350" indent="-514350">
              <a:buAutoNum type="arabicPeriod"/>
            </a:pPr>
            <a:r>
              <a:rPr lang="en-PH" dirty="0" smtClean="0"/>
              <a:t>The site</a:t>
            </a:r>
          </a:p>
          <a:p>
            <a:pPr marL="514350" indent="-514350">
              <a:buAutoNum type="arabicPeriod"/>
            </a:pPr>
            <a:r>
              <a:rPr lang="en-PH" dirty="0" smtClean="0"/>
              <a:t>The size</a:t>
            </a:r>
          </a:p>
          <a:p>
            <a:pPr marL="514350" indent="-514350">
              <a:buAutoNum type="arabicPeriod"/>
            </a:pPr>
            <a:r>
              <a:rPr lang="en-PH" dirty="0" smtClean="0"/>
              <a:t>The menu</a:t>
            </a:r>
          </a:p>
          <a:p>
            <a:pPr marL="514350" indent="-514350">
              <a:buAutoNum type="arabicPeriod"/>
            </a:pPr>
            <a:r>
              <a:rPr lang="en-PH" dirty="0" smtClean="0"/>
              <a:t>Pricing policies</a:t>
            </a:r>
          </a:p>
          <a:p>
            <a:pPr marL="514350" indent="-514350">
              <a:buAutoNum type="arabicPeriod"/>
            </a:pPr>
            <a:r>
              <a:rPr lang="en-PH" dirty="0" smtClean="0"/>
              <a:t>Service</a:t>
            </a:r>
          </a:p>
          <a:p>
            <a:pPr marL="514350" indent="-514350">
              <a:buAutoNum type="arabicPeriod"/>
            </a:pPr>
            <a:r>
              <a:rPr lang="en-PH" dirty="0" smtClean="0"/>
              <a:t>Opening hours</a:t>
            </a:r>
          </a:p>
          <a:p>
            <a:pPr marL="514350" indent="-514350">
              <a:buAutoNum type="arabicPeriod"/>
            </a:pPr>
            <a:r>
              <a:rPr lang="en-PH" dirty="0" smtClean="0"/>
              <a:t>Décor and music</a:t>
            </a:r>
          </a:p>
          <a:p>
            <a:pPr marL="514350" indent="-514350">
              <a:buAutoNum type="arabicPeriod"/>
            </a:pPr>
            <a:r>
              <a:rPr lang="en-PH" dirty="0" smtClean="0"/>
              <a:t>Standards and quality</a:t>
            </a:r>
          </a:p>
          <a:p>
            <a:pPr marL="514350" indent="-514350">
              <a:buAutoNum type="arabicPeriod" startAt="9"/>
            </a:pPr>
            <a:r>
              <a:rPr lang="en-PH" dirty="0" smtClean="0"/>
              <a:t>advertising and merchandising</a:t>
            </a:r>
          </a:p>
          <a:p>
            <a:pPr marL="514350" indent="-514350">
              <a:buAutoNum type="arabicPeriod" startAt="9"/>
            </a:pPr>
            <a:r>
              <a:rPr lang="en-PH" dirty="0" smtClean="0"/>
              <a:t>Meal functions</a:t>
            </a:r>
            <a:endParaRPr lang="en-PH" dirty="0"/>
          </a:p>
        </p:txBody>
      </p:sp>
    </p:spTree>
    <p:extLst>
      <p:ext uri="{BB962C8B-B14F-4D97-AF65-F5344CB8AC3E}">
        <p14:creationId xmlns:p14="http://schemas.microsoft.com/office/powerpoint/2010/main" val="38699094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80729"/>
            <a:ext cx="7772400" cy="1656183"/>
          </a:xfrm>
        </p:spPr>
        <p:txBody>
          <a:bodyPr/>
          <a:lstStyle/>
          <a:p>
            <a:r>
              <a:rPr lang="en-PH" dirty="0" smtClean="0"/>
              <a:t>CHAPTER 2</a:t>
            </a:r>
            <a:endParaRPr lang="en-PH" dirty="0"/>
          </a:p>
        </p:txBody>
      </p:sp>
      <p:sp>
        <p:nvSpPr>
          <p:cNvPr id="3" name="Subtitle 2"/>
          <p:cNvSpPr>
            <a:spLocks noGrp="1"/>
          </p:cNvSpPr>
          <p:nvPr>
            <p:ph type="subTitle" idx="1"/>
          </p:nvPr>
        </p:nvSpPr>
        <p:spPr>
          <a:xfrm>
            <a:off x="1371600" y="2420888"/>
            <a:ext cx="6400800" cy="3600400"/>
          </a:xfrm>
        </p:spPr>
        <p:txBody>
          <a:bodyPr>
            <a:normAutofit/>
          </a:bodyPr>
          <a:lstStyle/>
          <a:p>
            <a:r>
              <a:rPr lang="en-PH" sz="5400" dirty="0" smtClean="0"/>
              <a:t>CLEAN AND TIDY FOOD AND BEVERAGE SERVICE AREAS</a:t>
            </a:r>
          </a:p>
          <a:p>
            <a:r>
              <a:rPr lang="en-PH" sz="5400" dirty="0" err="1" smtClean="0"/>
              <a:t>Delma</a:t>
            </a:r>
            <a:r>
              <a:rPr lang="en-PH" sz="5400" dirty="0" smtClean="0"/>
              <a:t> B. Ortega</a:t>
            </a:r>
          </a:p>
        </p:txBody>
      </p:sp>
    </p:spTree>
    <p:extLst>
      <p:ext uri="{BB962C8B-B14F-4D97-AF65-F5344CB8AC3E}">
        <p14:creationId xmlns:p14="http://schemas.microsoft.com/office/powerpoint/2010/main" val="29111894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4704"/>
            <a:ext cx="8229600" cy="5361459"/>
          </a:xfrm>
        </p:spPr>
        <p:txBody>
          <a:bodyPr>
            <a:normAutofit/>
          </a:bodyPr>
          <a:lstStyle/>
          <a:p>
            <a:pPr marL="0" indent="0">
              <a:buNone/>
            </a:pPr>
            <a:r>
              <a:rPr lang="en-PH" sz="5400" dirty="0" smtClean="0"/>
              <a:t>Element 1 : Identify food and beverage service areas and food and beverage service equipment that may need to be cleaned</a:t>
            </a:r>
            <a:endParaRPr lang="en-PH" sz="5400" dirty="0"/>
          </a:p>
        </p:txBody>
      </p:sp>
    </p:spTree>
    <p:extLst>
      <p:ext uri="{BB962C8B-B14F-4D97-AF65-F5344CB8AC3E}">
        <p14:creationId xmlns:p14="http://schemas.microsoft.com/office/powerpoint/2010/main" val="389472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9036496" cy="6624736"/>
          </a:xfrm>
        </p:spPr>
        <p:txBody>
          <a:bodyPr>
            <a:normAutofit fontScale="62500" lnSpcReduction="20000"/>
          </a:bodyPr>
          <a:lstStyle/>
          <a:p>
            <a:pPr marL="0" indent="0">
              <a:buNone/>
            </a:pPr>
            <a:r>
              <a:rPr lang="en-PH" sz="5100" b="1" dirty="0" smtClean="0"/>
              <a:t>Food and beverage service areas </a:t>
            </a:r>
          </a:p>
          <a:p>
            <a:pPr marL="0" indent="0">
              <a:buNone/>
            </a:pPr>
            <a:r>
              <a:rPr lang="en-PH" dirty="0" smtClean="0"/>
              <a:t>The following areas commonly require cleaning in food and beverage venues: </a:t>
            </a:r>
          </a:p>
          <a:p>
            <a:pPr marL="0" indent="0">
              <a:buNone/>
            </a:pPr>
            <a:r>
              <a:rPr lang="en-PH" sz="3800" dirty="0" smtClean="0"/>
              <a:t>1.        </a:t>
            </a:r>
            <a:r>
              <a:rPr lang="en-PH" sz="3800" b="1" dirty="0" smtClean="0"/>
              <a:t>Bars </a:t>
            </a:r>
            <a:r>
              <a:rPr lang="en-PH" sz="3800" dirty="0" smtClean="0"/>
              <a:t>– public and private; behind the bar and the customers’ side of the bar </a:t>
            </a:r>
          </a:p>
          <a:p>
            <a:pPr marL="0" indent="0">
              <a:buNone/>
            </a:pPr>
            <a:r>
              <a:rPr lang="en-PH" sz="3800" dirty="0" smtClean="0"/>
              <a:t>2.       </a:t>
            </a:r>
            <a:r>
              <a:rPr lang="en-PH" sz="3800" b="1" dirty="0" smtClean="0"/>
              <a:t>Eating areas </a:t>
            </a:r>
            <a:r>
              <a:rPr lang="en-PH" sz="3800" dirty="0" smtClean="0"/>
              <a:t>– such as dining rooms, food courts, restaurants, bistros, cafes, take-away shops and QSR outlets </a:t>
            </a:r>
          </a:p>
          <a:p>
            <a:pPr marL="0" indent="0">
              <a:buNone/>
            </a:pPr>
            <a:r>
              <a:rPr lang="en-PH" sz="3800" dirty="0" smtClean="0"/>
              <a:t>3.       </a:t>
            </a:r>
            <a:r>
              <a:rPr lang="en-PH" sz="3800" b="1" dirty="0" smtClean="0"/>
              <a:t>Gaming areas (as/if permitted by local law) </a:t>
            </a:r>
            <a:r>
              <a:rPr lang="en-PH" sz="3800" dirty="0" smtClean="0"/>
              <a:t>– areas within casinos or other properties where local laws allow gaming to occur. May include the gaming floor as well as specialised F &amp; B outlets within the facility </a:t>
            </a:r>
          </a:p>
          <a:p>
            <a:pPr marL="514350" indent="-514350">
              <a:buAutoNum type="arabicPeriod" startAt="4"/>
            </a:pPr>
            <a:r>
              <a:rPr lang="en-PH" sz="3800" b="1" dirty="0" smtClean="0"/>
              <a:t>Function rooms </a:t>
            </a:r>
            <a:r>
              <a:rPr lang="en-PH" sz="3800" dirty="0" smtClean="0"/>
              <a:t>– these may include conference rooms, and other MICE areas within a venue where large numbers of people meet for a specific reason/function over a limited time </a:t>
            </a:r>
          </a:p>
          <a:p>
            <a:pPr marL="514350" indent="-514350">
              <a:buAutoNum type="arabicPeriod" startAt="4"/>
            </a:pPr>
            <a:r>
              <a:rPr lang="en-PH" sz="3800" b="1" dirty="0" smtClean="0"/>
              <a:t>  Entertainments areas within a property </a:t>
            </a:r>
            <a:r>
              <a:rPr lang="en-PH" sz="3800" dirty="0" smtClean="0"/>
              <a:t>– these may include games rooms, reading rooms, libraries, theatres </a:t>
            </a:r>
          </a:p>
          <a:p>
            <a:pPr marL="514350" indent="-514350">
              <a:buAutoNum type="arabicPeriod" startAt="4"/>
            </a:pPr>
            <a:r>
              <a:rPr lang="en-PH" sz="3800" b="1" dirty="0" smtClean="0"/>
              <a:t>Back-of house areas – </a:t>
            </a:r>
            <a:r>
              <a:rPr lang="en-PH" sz="3800" dirty="0" smtClean="0"/>
              <a:t>which include stores, kitchens, bars, delivery areas  Front-of-house areas ancillary to F &amp; B areas – such as walkways, lobbies, rest rooms, seating areas </a:t>
            </a:r>
          </a:p>
          <a:p>
            <a:pPr marL="514350" indent="-514350">
              <a:buAutoNum type="arabicPeriod" startAt="4"/>
            </a:pPr>
            <a:r>
              <a:rPr lang="en-PH" sz="3800" b="1" dirty="0" smtClean="0"/>
              <a:t>Outside areas </a:t>
            </a:r>
            <a:r>
              <a:rPr lang="en-PH" sz="3800" dirty="0" smtClean="0"/>
              <a:t>– including footpaths, car parks, gardens, sporting areas and pool areas. </a:t>
            </a:r>
            <a:endParaRPr lang="en-PH" sz="3800" dirty="0"/>
          </a:p>
        </p:txBody>
      </p:sp>
    </p:spTree>
    <p:extLst>
      <p:ext uri="{BB962C8B-B14F-4D97-AF65-F5344CB8AC3E}">
        <p14:creationId xmlns:p14="http://schemas.microsoft.com/office/powerpoint/2010/main" val="7068895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Beverage service equipment </a:t>
            </a:r>
            <a:endParaRPr lang="en-PH" dirty="0"/>
          </a:p>
        </p:txBody>
      </p:sp>
      <p:sp>
        <p:nvSpPr>
          <p:cNvPr id="3" name="Content Placeholder 2"/>
          <p:cNvSpPr>
            <a:spLocks noGrp="1"/>
          </p:cNvSpPr>
          <p:nvPr>
            <p:ph idx="1"/>
          </p:nvPr>
        </p:nvSpPr>
        <p:spPr>
          <a:xfrm>
            <a:off x="179512" y="1124744"/>
            <a:ext cx="8856984" cy="5616624"/>
          </a:xfrm>
        </p:spPr>
        <p:txBody>
          <a:bodyPr>
            <a:normAutofit fontScale="55000" lnSpcReduction="20000"/>
          </a:bodyPr>
          <a:lstStyle/>
          <a:p>
            <a:pPr marL="0" indent="0">
              <a:buNone/>
            </a:pPr>
            <a:r>
              <a:rPr lang="en-PH" dirty="0" smtClean="0"/>
              <a:t>These may include: </a:t>
            </a:r>
          </a:p>
          <a:p>
            <a:pPr marL="514350" indent="-514350">
              <a:buAutoNum type="arabicPeriod"/>
            </a:pPr>
            <a:r>
              <a:rPr lang="en-PH" dirty="0" smtClean="0"/>
              <a:t>External components of the draught beer system in use at the venue:</a:t>
            </a:r>
          </a:p>
          <a:p>
            <a:pPr marL="0" indent="0">
              <a:buNone/>
            </a:pPr>
            <a:r>
              <a:rPr lang="en-PH" dirty="0" smtClean="0"/>
              <a:t> - Under-counter units </a:t>
            </a:r>
          </a:p>
          <a:p>
            <a:pPr>
              <a:buFontTx/>
              <a:buChar char="-"/>
            </a:pPr>
            <a:r>
              <a:rPr lang="en-PH" dirty="0" smtClean="0"/>
              <a:t>Fonts </a:t>
            </a:r>
          </a:p>
          <a:p>
            <a:pPr>
              <a:buFontTx/>
              <a:buChar char="-"/>
            </a:pPr>
            <a:r>
              <a:rPr lang="en-PH" dirty="0" smtClean="0"/>
              <a:t>Drip trays </a:t>
            </a:r>
          </a:p>
          <a:p>
            <a:pPr marL="514350" indent="-514350">
              <a:buAutoNum type="arabicPeriod" startAt="2"/>
            </a:pPr>
            <a:r>
              <a:rPr lang="en-PH" dirty="0" smtClean="0"/>
              <a:t>External components the post-mix system: </a:t>
            </a:r>
          </a:p>
          <a:p>
            <a:pPr>
              <a:buFontTx/>
              <a:buChar char="-"/>
            </a:pPr>
            <a:r>
              <a:rPr lang="en-PH" dirty="0" smtClean="0"/>
              <a:t>Nozzles and baffles </a:t>
            </a:r>
          </a:p>
          <a:p>
            <a:pPr>
              <a:buFontTx/>
              <a:buChar char="-"/>
            </a:pPr>
            <a:r>
              <a:rPr lang="en-PH" dirty="0" smtClean="0"/>
              <a:t> Dispensing unit </a:t>
            </a:r>
          </a:p>
          <a:p>
            <a:pPr>
              <a:buFontTx/>
              <a:buChar char="-"/>
            </a:pPr>
            <a:r>
              <a:rPr lang="en-PH" dirty="0" smtClean="0"/>
              <a:t> Drip tray </a:t>
            </a:r>
          </a:p>
          <a:p>
            <a:pPr marL="514350" indent="-514350">
              <a:buAutoNum type="arabicPeriod" startAt="3"/>
            </a:pPr>
            <a:r>
              <a:rPr lang="en-PH" dirty="0" smtClean="0"/>
              <a:t>External components of espresso coffee machines </a:t>
            </a:r>
          </a:p>
          <a:p>
            <a:pPr>
              <a:buFontTx/>
              <a:buChar char="-"/>
            </a:pPr>
            <a:r>
              <a:rPr lang="en-PH" dirty="0" smtClean="0"/>
              <a:t>Port filters </a:t>
            </a:r>
          </a:p>
          <a:p>
            <a:pPr>
              <a:buFontTx/>
              <a:buChar char="-"/>
            </a:pPr>
            <a:r>
              <a:rPr lang="en-PH" dirty="0" smtClean="0"/>
              <a:t>Steam wands </a:t>
            </a:r>
          </a:p>
          <a:p>
            <a:pPr>
              <a:buFontTx/>
              <a:buChar char="-"/>
            </a:pPr>
            <a:r>
              <a:rPr lang="en-PH" dirty="0" smtClean="0"/>
              <a:t>Drip trays </a:t>
            </a:r>
          </a:p>
          <a:p>
            <a:pPr marL="0" indent="0">
              <a:buNone/>
            </a:pPr>
            <a:r>
              <a:rPr lang="en-PH" dirty="0" smtClean="0"/>
              <a:t>4.    Glass washing machines </a:t>
            </a:r>
          </a:p>
          <a:p>
            <a:pPr marL="514350" indent="-514350">
              <a:buAutoNum type="arabicPeriod" startAt="5"/>
            </a:pPr>
            <a:r>
              <a:rPr lang="en-PH" dirty="0" smtClean="0"/>
              <a:t>Glasses, carafes, cups, mugs and saucers </a:t>
            </a:r>
          </a:p>
          <a:p>
            <a:pPr marL="514350" indent="-514350">
              <a:buAutoNum type="arabicPeriod" startAt="5"/>
            </a:pPr>
            <a:r>
              <a:rPr lang="en-PH" dirty="0" smtClean="0"/>
              <a:t> Service trays – used to deliver drinks to guests at tables </a:t>
            </a:r>
          </a:p>
          <a:p>
            <a:pPr marL="514350" indent="-514350">
              <a:buAutoNum type="arabicPeriod" startAt="5"/>
            </a:pPr>
            <a:r>
              <a:rPr lang="en-PH" dirty="0" smtClean="0"/>
              <a:t>Drinks trolleys – used to display and promote beverages for service at the table </a:t>
            </a:r>
          </a:p>
          <a:p>
            <a:pPr marL="514350" indent="-514350">
              <a:buAutoNum type="arabicPeriod" startAt="5"/>
            </a:pPr>
            <a:r>
              <a:rPr lang="en-PH" dirty="0" smtClean="0"/>
              <a:t>Refrigeration and display units – used to chill bottles and glasses for service as well as food items (fruit, cream) for use in drink mixing. </a:t>
            </a:r>
            <a:endParaRPr lang="en-PH" dirty="0"/>
          </a:p>
        </p:txBody>
      </p:sp>
    </p:spTree>
    <p:extLst>
      <p:ext uri="{BB962C8B-B14F-4D97-AF65-F5344CB8AC3E}">
        <p14:creationId xmlns:p14="http://schemas.microsoft.com/office/powerpoint/2010/main" val="10005362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Food service equipment</a:t>
            </a:r>
            <a:endParaRPr lang="en-PH" dirty="0"/>
          </a:p>
        </p:txBody>
      </p:sp>
      <p:sp>
        <p:nvSpPr>
          <p:cNvPr id="3" name="Content Placeholder 2"/>
          <p:cNvSpPr>
            <a:spLocks noGrp="1"/>
          </p:cNvSpPr>
          <p:nvPr>
            <p:ph idx="1"/>
          </p:nvPr>
        </p:nvSpPr>
        <p:spPr>
          <a:xfrm>
            <a:off x="107504" y="1196752"/>
            <a:ext cx="8928992" cy="5544616"/>
          </a:xfrm>
        </p:spPr>
        <p:txBody>
          <a:bodyPr>
            <a:normAutofit fontScale="92500" lnSpcReduction="20000"/>
          </a:bodyPr>
          <a:lstStyle/>
          <a:p>
            <a:pPr marL="0" indent="0">
              <a:buNone/>
            </a:pPr>
            <a:r>
              <a:rPr lang="en-PH" dirty="0" smtClean="0"/>
              <a:t>1. Service trays – used to carry dishes to guests at tables or waiter service stations </a:t>
            </a:r>
          </a:p>
          <a:p>
            <a:pPr marL="0" indent="0">
              <a:buNone/>
            </a:pPr>
            <a:r>
              <a:rPr lang="en-PH" dirty="0" smtClean="0"/>
              <a:t>2. Food trolleys – which may include: </a:t>
            </a:r>
          </a:p>
          <a:p>
            <a:pPr>
              <a:buFontTx/>
              <a:buChar char="-"/>
            </a:pPr>
            <a:r>
              <a:rPr lang="en-PH" dirty="0" smtClean="0"/>
              <a:t>Service trolleys – used to transport a large volume of food from kitchen to a service location: options are two-tier and three-tier trolleys </a:t>
            </a:r>
          </a:p>
          <a:p>
            <a:pPr>
              <a:buFontTx/>
              <a:buChar char="-"/>
            </a:pPr>
            <a:r>
              <a:rPr lang="en-PH" dirty="0" smtClean="0"/>
              <a:t>Roast trolleys and hot carving trolleys – for presenting and carving joints of meat at table </a:t>
            </a:r>
          </a:p>
          <a:p>
            <a:pPr>
              <a:buFontTx/>
              <a:buChar char="-"/>
            </a:pPr>
            <a:r>
              <a:rPr lang="en-PH" dirty="0" smtClean="0"/>
              <a:t>Hors d’oeuvres trolley – used to present hors d’oeuvres to guests at table and allow them to select the items they want </a:t>
            </a:r>
          </a:p>
          <a:p>
            <a:pPr>
              <a:buFontTx/>
              <a:buChar char="-"/>
            </a:pPr>
            <a:r>
              <a:rPr lang="en-PH" dirty="0" smtClean="0"/>
              <a:t>Desserts trolleys – used to display and serve sweets at the table </a:t>
            </a:r>
            <a:endParaRPr lang="en-PH" dirty="0"/>
          </a:p>
        </p:txBody>
      </p:sp>
    </p:spTree>
    <p:extLst>
      <p:ext uri="{BB962C8B-B14F-4D97-AF65-F5344CB8AC3E}">
        <p14:creationId xmlns:p14="http://schemas.microsoft.com/office/powerpoint/2010/main" val="20176532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332656"/>
            <a:ext cx="8856984" cy="6264696"/>
          </a:xfrm>
        </p:spPr>
        <p:txBody>
          <a:bodyPr>
            <a:normAutofit lnSpcReduction="10000"/>
          </a:bodyPr>
          <a:lstStyle/>
          <a:p>
            <a:pPr marL="0" indent="0">
              <a:buNone/>
            </a:pPr>
            <a:r>
              <a:rPr lang="en-PH" dirty="0" smtClean="0"/>
              <a:t>3. </a:t>
            </a:r>
            <a:r>
              <a:rPr lang="en-PH" dirty="0" err="1" smtClean="0"/>
              <a:t>Gueridon</a:t>
            </a:r>
            <a:r>
              <a:rPr lang="en-PH" dirty="0" smtClean="0"/>
              <a:t> equipment – which may include</a:t>
            </a:r>
          </a:p>
          <a:p>
            <a:pPr>
              <a:buFontTx/>
              <a:buChar char="-"/>
            </a:pPr>
            <a:r>
              <a:rPr lang="en-PH" dirty="0" smtClean="0"/>
              <a:t>Flambé trolleys </a:t>
            </a:r>
          </a:p>
          <a:p>
            <a:pPr>
              <a:buFontTx/>
              <a:buChar char="-"/>
            </a:pPr>
            <a:r>
              <a:rPr lang="en-PH" dirty="0" smtClean="0"/>
              <a:t>Lamps and burners </a:t>
            </a:r>
          </a:p>
          <a:p>
            <a:pPr marL="0" indent="0">
              <a:buNone/>
            </a:pPr>
            <a:r>
              <a:rPr lang="en-PH" dirty="0" smtClean="0"/>
              <a:t>4. Waiter’s stations – used by waiting staff to hold dishes prior to service, as a set-down space for dishes and a storage area for meal accoutrements (extra cutlery, napkins, condiments) </a:t>
            </a:r>
          </a:p>
          <a:p>
            <a:pPr marL="0" indent="0">
              <a:buNone/>
            </a:pPr>
            <a:r>
              <a:rPr lang="en-PH" dirty="0" smtClean="0"/>
              <a:t>5. Crockery – commonly: </a:t>
            </a:r>
          </a:p>
          <a:p>
            <a:pPr>
              <a:buFontTx/>
              <a:buChar char="-"/>
            </a:pPr>
            <a:r>
              <a:rPr lang="en-PH" dirty="0" smtClean="0"/>
              <a:t>Plates </a:t>
            </a:r>
          </a:p>
          <a:p>
            <a:pPr>
              <a:buFontTx/>
              <a:buChar char="-"/>
            </a:pPr>
            <a:r>
              <a:rPr lang="en-PH" dirty="0" smtClean="0"/>
              <a:t> Bowls </a:t>
            </a:r>
          </a:p>
          <a:p>
            <a:pPr>
              <a:buFontTx/>
              <a:buChar char="-"/>
            </a:pPr>
            <a:r>
              <a:rPr lang="en-PH" dirty="0" smtClean="0"/>
              <a:t> Saucers </a:t>
            </a:r>
          </a:p>
          <a:p>
            <a:pPr>
              <a:buFontTx/>
              <a:buChar char="-"/>
            </a:pPr>
            <a:r>
              <a:rPr lang="en-PH" dirty="0" smtClean="0"/>
              <a:t>Service salvers </a:t>
            </a:r>
            <a:endParaRPr lang="en-PH" dirty="0"/>
          </a:p>
        </p:txBody>
      </p:sp>
    </p:spTree>
    <p:extLst>
      <p:ext uri="{BB962C8B-B14F-4D97-AF65-F5344CB8AC3E}">
        <p14:creationId xmlns:p14="http://schemas.microsoft.com/office/powerpoint/2010/main" val="7539017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84976" cy="6480720"/>
          </a:xfrm>
        </p:spPr>
        <p:txBody>
          <a:bodyPr/>
          <a:lstStyle/>
          <a:p>
            <a:pPr marL="0" indent="0">
              <a:buNone/>
            </a:pPr>
            <a:r>
              <a:rPr lang="en-PH" dirty="0" smtClean="0"/>
              <a:t>6. Cutlery – commonly: </a:t>
            </a:r>
          </a:p>
          <a:p>
            <a:pPr>
              <a:buFontTx/>
              <a:buChar char="-"/>
            </a:pPr>
            <a:r>
              <a:rPr lang="en-PH" dirty="0" smtClean="0"/>
              <a:t>Knives  </a:t>
            </a:r>
          </a:p>
          <a:p>
            <a:pPr>
              <a:buFontTx/>
              <a:buChar char="-"/>
            </a:pPr>
            <a:r>
              <a:rPr lang="en-PH" dirty="0" smtClean="0"/>
              <a:t> Forks </a:t>
            </a:r>
          </a:p>
          <a:p>
            <a:pPr>
              <a:buFontTx/>
              <a:buChar char="-"/>
            </a:pPr>
            <a:r>
              <a:rPr lang="en-PH" dirty="0" smtClean="0"/>
              <a:t> Spoons </a:t>
            </a:r>
          </a:p>
          <a:p>
            <a:pPr>
              <a:buFontTx/>
              <a:buChar char="-"/>
            </a:pPr>
            <a:r>
              <a:rPr lang="en-PH" dirty="0" smtClean="0"/>
              <a:t>Specialist items as appropriate to the menu and venue – such as crayfish picks, snail tongs, chopsticks.</a:t>
            </a:r>
            <a:endParaRPr lang="en-PH" dirty="0"/>
          </a:p>
        </p:txBody>
      </p:sp>
    </p:spTree>
    <p:extLst>
      <p:ext uri="{BB962C8B-B14F-4D97-AF65-F5344CB8AC3E}">
        <p14:creationId xmlns:p14="http://schemas.microsoft.com/office/powerpoint/2010/main" val="31523878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PH" dirty="0" smtClean="0"/>
              <a:t> 1.2 </a:t>
            </a:r>
            <a:r>
              <a:rPr lang="en-PH" sz="4800" dirty="0" smtClean="0"/>
              <a:t>Identify factors that may impact on the delivery of cleaning in food and beverage service areas </a:t>
            </a:r>
            <a:endParaRPr lang="en-PH" sz="4800" dirty="0"/>
          </a:p>
        </p:txBody>
      </p:sp>
    </p:spTree>
    <p:extLst>
      <p:ext uri="{BB962C8B-B14F-4D97-AF65-F5344CB8AC3E}">
        <p14:creationId xmlns:p14="http://schemas.microsoft.com/office/powerpoint/2010/main" val="7676263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smtClean="0"/>
              <a:t>Factors impacting on cleaning service delivery</a:t>
            </a:r>
            <a:endParaRPr lang="en-PH" dirty="0"/>
          </a:p>
        </p:txBody>
      </p:sp>
      <p:sp>
        <p:nvSpPr>
          <p:cNvPr id="3" name="Content Placeholder 2"/>
          <p:cNvSpPr>
            <a:spLocks noGrp="1"/>
          </p:cNvSpPr>
          <p:nvPr>
            <p:ph idx="1"/>
          </p:nvPr>
        </p:nvSpPr>
        <p:spPr/>
        <p:txBody>
          <a:bodyPr>
            <a:normAutofit fontScale="92500" lnSpcReduction="10000"/>
          </a:bodyPr>
          <a:lstStyle/>
          <a:p>
            <a:pPr marL="514350" indent="-514350">
              <a:buAutoNum type="arabicPeriod"/>
            </a:pPr>
            <a:r>
              <a:rPr lang="en-PH" dirty="0" smtClean="0"/>
              <a:t>Need to minimize disruptions to patrons – remember that cleaning is a job intended to enhance the guest experience not interfere with it.</a:t>
            </a:r>
          </a:p>
          <a:p>
            <a:pPr marL="0" indent="0">
              <a:buNone/>
            </a:pPr>
            <a:r>
              <a:rPr lang="en-PH" dirty="0" smtClean="0"/>
              <a:t>Keys to minimizing disruptions to guests when cleaning are</a:t>
            </a:r>
          </a:p>
          <a:p>
            <a:pPr marL="0" indent="0">
              <a:buNone/>
            </a:pPr>
            <a:r>
              <a:rPr lang="en-PH" dirty="0" smtClean="0"/>
              <a:t>a</a:t>
            </a:r>
            <a:r>
              <a:rPr lang="en-PH" dirty="0"/>
              <a:t>. Always use common sense to determine whether or not cleaning needs to be done – just because cleaning is scheduled does not necessarily mean it has to be done </a:t>
            </a:r>
          </a:p>
        </p:txBody>
      </p:sp>
    </p:spTree>
    <p:extLst>
      <p:ext uri="{BB962C8B-B14F-4D97-AF65-F5344CB8AC3E}">
        <p14:creationId xmlns:p14="http://schemas.microsoft.com/office/powerpoint/2010/main" val="19015938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6264696"/>
          </a:xfrm>
        </p:spPr>
        <p:txBody>
          <a:bodyPr>
            <a:normAutofit fontScale="92500"/>
          </a:bodyPr>
          <a:lstStyle/>
          <a:p>
            <a:pPr marL="0" indent="0">
              <a:buNone/>
            </a:pPr>
            <a:r>
              <a:rPr lang="en-PH" dirty="0"/>
              <a:t>b. Guests must be asked if cleaning can take place – as opposed to imposing cleaning on them and the area they are in </a:t>
            </a:r>
            <a:endParaRPr lang="en-PH" dirty="0" smtClean="0"/>
          </a:p>
          <a:p>
            <a:pPr marL="514350" indent="-514350">
              <a:buAutoNum type="alphaLcPeriod" startAt="3"/>
            </a:pPr>
            <a:r>
              <a:rPr lang="en-PH" dirty="0" smtClean="0"/>
              <a:t>Apologise </a:t>
            </a:r>
            <a:r>
              <a:rPr lang="en-PH" dirty="0"/>
              <a:t>for the interruption and inconvenience </a:t>
            </a:r>
            <a:endParaRPr lang="en-PH" dirty="0" smtClean="0"/>
          </a:p>
          <a:p>
            <a:pPr marL="514350" indent="-514350">
              <a:buAutoNum type="alphaLcPeriod" startAt="3"/>
            </a:pPr>
            <a:r>
              <a:rPr lang="en-PH" dirty="0" smtClean="0"/>
              <a:t> </a:t>
            </a:r>
            <a:r>
              <a:rPr lang="en-PH" dirty="0"/>
              <a:t>Work quickly – this may mean only performing the basics rather than a ‘full’ clean of the area </a:t>
            </a:r>
            <a:endParaRPr lang="en-PH" dirty="0" smtClean="0"/>
          </a:p>
          <a:p>
            <a:pPr marL="514350" indent="-514350">
              <a:buAutoNum type="alphaLcPeriod" startAt="3"/>
            </a:pPr>
            <a:r>
              <a:rPr lang="en-PH" dirty="0" smtClean="0"/>
              <a:t> </a:t>
            </a:r>
            <a:r>
              <a:rPr lang="en-PH" dirty="0"/>
              <a:t>Be prepared to return and clean the area when guests are no longer present </a:t>
            </a:r>
            <a:endParaRPr lang="en-PH" dirty="0" smtClean="0"/>
          </a:p>
          <a:p>
            <a:pPr marL="514350" indent="-514350">
              <a:buAutoNum type="alphaLcPeriod" startAt="3"/>
            </a:pPr>
            <a:r>
              <a:rPr lang="en-PH" dirty="0" smtClean="0"/>
              <a:t> </a:t>
            </a:r>
            <a:r>
              <a:rPr lang="en-PH" dirty="0"/>
              <a:t>Work as quietly as possible </a:t>
            </a:r>
            <a:endParaRPr lang="en-PH" dirty="0" smtClean="0"/>
          </a:p>
          <a:p>
            <a:pPr marL="514350" indent="-514350">
              <a:buAutoNum type="alphaLcPeriod" startAt="3"/>
            </a:pPr>
            <a:r>
              <a:rPr lang="en-PH" dirty="0" smtClean="0"/>
              <a:t> </a:t>
            </a:r>
            <a:r>
              <a:rPr lang="en-PH" dirty="0"/>
              <a:t>Ensure cleaning items do not get in the way of guests</a:t>
            </a:r>
          </a:p>
        </p:txBody>
      </p:sp>
    </p:spTree>
    <p:extLst>
      <p:ext uri="{BB962C8B-B14F-4D97-AF65-F5344CB8AC3E}">
        <p14:creationId xmlns:p14="http://schemas.microsoft.com/office/powerpoint/2010/main" val="615671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6336704"/>
          </a:xfrm>
        </p:spPr>
        <p:txBody>
          <a:bodyPr/>
          <a:lstStyle/>
          <a:p>
            <a:pPr marL="0" indent="0">
              <a:buNone/>
            </a:pPr>
            <a:r>
              <a:rPr lang="en-PH" dirty="0" smtClean="0"/>
              <a:t>2. Timeliness</a:t>
            </a:r>
          </a:p>
          <a:p>
            <a:pPr marL="514350" indent="-514350">
              <a:buAutoNum type="alphaLcPeriod"/>
            </a:pPr>
            <a:r>
              <a:rPr lang="en-PH" dirty="0" smtClean="0"/>
              <a:t>When </a:t>
            </a:r>
            <a:r>
              <a:rPr lang="en-PH" dirty="0"/>
              <a:t>requested by </a:t>
            </a:r>
            <a:r>
              <a:rPr lang="en-PH" dirty="0" smtClean="0"/>
              <a:t>guests</a:t>
            </a:r>
          </a:p>
          <a:p>
            <a:pPr marL="514350" indent="-514350">
              <a:buAutoNum type="alphaLcPeriod"/>
            </a:pPr>
            <a:r>
              <a:rPr lang="en-PH" dirty="0"/>
              <a:t>When spills occur </a:t>
            </a:r>
            <a:endParaRPr lang="en-PH" dirty="0" smtClean="0"/>
          </a:p>
          <a:p>
            <a:pPr marL="514350" indent="-514350">
              <a:buAutoNum type="alphaLcPeriod"/>
            </a:pPr>
            <a:r>
              <a:rPr lang="en-PH" dirty="0" smtClean="0"/>
              <a:t> </a:t>
            </a:r>
            <a:r>
              <a:rPr lang="en-PH" dirty="0"/>
              <a:t>When common sense indicates a need for cleaning exists – for example, when an area looks cluttered, untidy or in need of cleaning </a:t>
            </a:r>
            <a:endParaRPr lang="en-PH" dirty="0" smtClean="0"/>
          </a:p>
          <a:p>
            <a:pPr marL="514350" indent="-514350">
              <a:buAutoNum type="alphaLcPeriod"/>
            </a:pPr>
            <a:r>
              <a:rPr lang="en-PH" dirty="0" smtClean="0"/>
              <a:t> </a:t>
            </a:r>
            <a:r>
              <a:rPr lang="en-PH" dirty="0"/>
              <a:t>When directed by management. </a:t>
            </a:r>
          </a:p>
        </p:txBody>
      </p:sp>
    </p:spTree>
    <p:extLst>
      <p:ext uri="{BB962C8B-B14F-4D97-AF65-F5344CB8AC3E}">
        <p14:creationId xmlns:p14="http://schemas.microsoft.com/office/powerpoint/2010/main" val="2381972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6264696"/>
          </a:xfrm>
        </p:spPr>
        <p:txBody>
          <a:bodyPr>
            <a:normAutofit fontScale="92500" lnSpcReduction="20000"/>
          </a:bodyPr>
          <a:lstStyle/>
          <a:p>
            <a:pPr marL="0" indent="0">
              <a:buNone/>
            </a:pPr>
            <a:r>
              <a:rPr lang="en-PH" dirty="0"/>
              <a:t>3. Need to consult prior to </a:t>
            </a:r>
            <a:r>
              <a:rPr lang="en-PH" dirty="0" smtClean="0"/>
              <a:t>cleaning</a:t>
            </a:r>
          </a:p>
          <a:p>
            <a:pPr marL="514350" indent="-514350">
              <a:buAutoNum type="alphaLcPeriod"/>
            </a:pPr>
            <a:r>
              <a:rPr lang="en-PH" dirty="0" smtClean="0"/>
              <a:t>Whether </a:t>
            </a:r>
            <a:r>
              <a:rPr lang="en-PH" dirty="0"/>
              <a:t>cleaning can commence </a:t>
            </a:r>
            <a:endParaRPr lang="en-PH" dirty="0" smtClean="0"/>
          </a:p>
          <a:p>
            <a:pPr marL="514350" indent="-514350">
              <a:buAutoNum type="alphaLcPeriod"/>
            </a:pPr>
            <a:r>
              <a:rPr lang="en-PH" dirty="0"/>
              <a:t>If there are areas or items which need to be cleaned first or last – sequence and or priority requirements </a:t>
            </a:r>
            <a:endParaRPr lang="en-PH" dirty="0" smtClean="0"/>
          </a:p>
          <a:p>
            <a:pPr marL="514350" indent="-514350">
              <a:buAutoNum type="alphaLcPeriod"/>
            </a:pPr>
            <a:r>
              <a:rPr lang="en-PH" dirty="0" smtClean="0"/>
              <a:t> </a:t>
            </a:r>
            <a:r>
              <a:rPr lang="en-PH" dirty="0"/>
              <a:t>If reduced cleaning is necessary – for example, spot cleaning as opposed to full cleaning </a:t>
            </a:r>
            <a:endParaRPr lang="en-PH" dirty="0" smtClean="0"/>
          </a:p>
          <a:p>
            <a:pPr marL="514350" indent="-514350">
              <a:buAutoNum type="alphaLcPeriod"/>
            </a:pPr>
            <a:r>
              <a:rPr lang="en-PH" dirty="0" smtClean="0"/>
              <a:t> </a:t>
            </a:r>
            <a:r>
              <a:rPr lang="en-PH" dirty="0"/>
              <a:t>Timelines which may apply – such as ‘the area must be finished by 5:00PM’ </a:t>
            </a:r>
            <a:endParaRPr lang="en-PH" dirty="0" smtClean="0"/>
          </a:p>
          <a:p>
            <a:pPr marL="514350" indent="-514350">
              <a:buAutoNum type="alphaLcPeriod"/>
            </a:pPr>
            <a:r>
              <a:rPr lang="en-PH" dirty="0" smtClean="0"/>
              <a:t> </a:t>
            </a:r>
            <a:r>
              <a:rPr lang="en-PH" dirty="0"/>
              <a:t>If there are areas or things which must not be touched or moved </a:t>
            </a:r>
            <a:endParaRPr lang="en-PH" dirty="0" smtClean="0"/>
          </a:p>
          <a:p>
            <a:pPr marL="514350" indent="-514350">
              <a:buAutoNum type="alphaLcPeriod"/>
            </a:pPr>
            <a:r>
              <a:rPr lang="en-PH" dirty="0" smtClean="0"/>
              <a:t> </a:t>
            </a:r>
            <a:r>
              <a:rPr lang="en-PH" dirty="0"/>
              <a:t>Items which need to be covered and protected or removed from cleaning activity </a:t>
            </a:r>
            <a:endParaRPr lang="en-PH" dirty="0" smtClean="0"/>
          </a:p>
          <a:p>
            <a:pPr marL="514350" indent="-514350">
              <a:buAutoNum type="alphaLcPeriod"/>
            </a:pPr>
            <a:r>
              <a:rPr lang="en-PH" dirty="0" smtClean="0"/>
              <a:t> </a:t>
            </a:r>
            <a:r>
              <a:rPr lang="en-PH" dirty="0"/>
              <a:t>Advice about any risks which have emerged since the last cleaning of the area. </a:t>
            </a:r>
          </a:p>
        </p:txBody>
      </p:sp>
    </p:spTree>
    <p:extLst>
      <p:ext uri="{BB962C8B-B14F-4D97-AF65-F5344CB8AC3E}">
        <p14:creationId xmlns:p14="http://schemas.microsoft.com/office/powerpoint/2010/main" val="2752057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a:t>Apply cleaning and tidying techniques to identified cleaning needs in beverage service areas </a:t>
            </a:r>
          </a:p>
        </p:txBody>
      </p:sp>
      <p:sp>
        <p:nvSpPr>
          <p:cNvPr id="3" name="Content Placeholder 2"/>
          <p:cNvSpPr>
            <a:spLocks noGrp="1"/>
          </p:cNvSpPr>
          <p:nvPr>
            <p:ph idx="1"/>
          </p:nvPr>
        </p:nvSpPr>
        <p:spPr>
          <a:xfrm>
            <a:off x="457200" y="1844824"/>
            <a:ext cx="8229600" cy="4824536"/>
          </a:xfrm>
        </p:spPr>
        <p:txBody>
          <a:bodyPr>
            <a:normAutofit lnSpcReduction="10000"/>
          </a:bodyPr>
          <a:lstStyle/>
          <a:p>
            <a:pPr>
              <a:buFontTx/>
              <a:buChar char="-"/>
            </a:pPr>
            <a:r>
              <a:rPr lang="en-PH" dirty="0" smtClean="0"/>
              <a:t>Different </a:t>
            </a:r>
            <a:r>
              <a:rPr lang="en-PH" dirty="0"/>
              <a:t>cleaning needs demand different </a:t>
            </a:r>
            <a:r>
              <a:rPr lang="en-PH" dirty="0" smtClean="0"/>
              <a:t>cleaning techniques</a:t>
            </a:r>
          </a:p>
          <a:p>
            <a:pPr marL="0" indent="0">
              <a:buNone/>
            </a:pPr>
            <a:r>
              <a:rPr lang="en-PH" dirty="0"/>
              <a:t>Cleaning in beverage service area </a:t>
            </a:r>
            <a:endParaRPr lang="en-PH" dirty="0" smtClean="0"/>
          </a:p>
          <a:p>
            <a:pPr marL="514350" indent="-514350">
              <a:buAutoNum type="arabicPeriod"/>
            </a:pPr>
            <a:r>
              <a:rPr lang="en-PH" dirty="0" smtClean="0"/>
              <a:t>Dry </a:t>
            </a:r>
            <a:r>
              <a:rPr lang="en-PH" dirty="0"/>
              <a:t>cleaning activities include: </a:t>
            </a:r>
            <a:endParaRPr lang="en-PH" dirty="0" smtClean="0"/>
          </a:p>
          <a:p>
            <a:pPr>
              <a:buFontTx/>
              <a:buChar char="-"/>
            </a:pPr>
            <a:r>
              <a:rPr lang="en-PH" dirty="0" smtClean="0"/>
              <a:t>Sweeping </a:t>
            </a:r>
          </a:p>
          <a:p>
            <a:pPr>
              <a:buFontTx/>
              <a:buChar char="-"/>
            </a:pPr>
            <a:r>
              <a:rPr lang="en-PH" dirty="0" smtClean="0"/>
              <a:t> </a:t>
            </a:r>
            <a:r>
              <a:rPr lang="en-PH" dirty="0"/>
              <a:t>Dry mopping </a:t>
            </a:r>
            <a:endParaRPr lang="en-PH" dirty="0" smtClean="0"/>
          </a:p>
          <a:p>
            <a:pPr>
              <a:buFontTx/>
              <a:buChar char="-"/>
            </a:pPr>
            <a:r>
              <a:rPr lang="en-PH" dirty="0" smtClean="0"/>
              <a:t> </a:t>
            </a:r>
            <a:r>
              <a:rPr lang="en-PH" dirty="0"/>
              <a:t>Dusting </a:t>
            </a:r>
            <a:endParaRPr lang="en-PH" dirty="0" smtClean="0"/>
          </a:p>
          <a:p>
            <a:pPr>
              <a:buFontTx/>
              <a:buChar char="-"/>
            </a:pPr>
            <a:r>
              <a:rPr lang="en-PH" dirty="0" smtClean="0"/>
              <a:t> </a:t>
            </a:r>
            <a:r>
              <a:rPr lang="en-PH" dirty="0"/>
              <a:t>Wiping down </a:t>
            </a:r>
            <a:endParaRPr lang="en-PH" dirty="0" smtClean="0"/>
          </a:p>
          <a:p>
            <a:pPr>
              <a:buFontTx/>
              <a:buChar char="-"/>
            </a:pPr>
            <a:r>
              <a:rPr lang="en-PH" dirty="0" smtClean="0"/>
              <a:t> </a:t>
            </a:r>
            <a:r>
              <a:rPr lang="en-PH" dirty="0"/>
              <a:t>Dry vacuuming</a:t>
            </a:r>
          </a:p>
        </p:txBody>
      </p:sp>
    </p:spTree>
    <p:extLst>
      <p:ext uri="{BB962C8B-B14F-4D97-AF65-F5344CB8AC3E}">
        <p14:creationId xmlns:p14="http://schemas.microsoft.com/office/powerpoint/2010/main" val="4100314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lstStyle/>
          <a:p>
            <a:pPr marL="0" indent="0">
              <a:buNone/>
            </a:pPr>
            <a:r>
              <a:rPr lang="en-PH" dirty="0"/>
              <a:t>2. Wet cleaning activities include: </a:t>
            </a:r>
            <a:endParaRPr lang="en-PH" dirty="0" smtClean="0"/>
          </a:p>
          <a:p>
            <a:pPr>
              <a:buFontTx/>
              <a:buChar char="-"/>
            </a:pPr>
            <a:r>
              <a:rPr lang="en-PH" dirty="0" smtClean="0"/>
              <a:t>Wet </a:t>
            </a:r>
            <a:r>
              <a:rPr lang="en-PH" dirty="0"/>
              <a:t>mopping </a:t>
            </a:r>
            <a:endParaRPr lang="en-PH" dirty="0" smtClean="0"/>
          </a:p>
          <a:p>
            <a:pPr>
              <a:buFontTx/>
              <a:buChar char="-"/>
            </a:pPr>
            <a:r>
              <a:rPr lang="en-PH" dirty="0" smtClean="0"/>
              <a:t> </a:t>
            </a:r>
            <a:r>
              <a:rPr lang="en-PH" dirty="0"/>
              <a:t>Wet vacuuming </a:t>
            </a:r>
            <a:endParaRPr lang="en-PH" dirty="0" smtClean="0"/>
          </a:p>
          <a:p>
            <a:pPr>
              <a:buFontTx/>
              <a:buChar char="-"/>
            </a:pPr>
            <a:r>
              <a:rPr lang="en-PH" dirty="0" smtClean="0"/>
              <a:t> </a:t>
            </a:r>
            <a:r>
              <a:rPr lang="en-PH" dirty="0"/>
              <a:t>Washing </a:t>
            </a:r>
            <a:endParaRPr lang="en-PH" dirty="0" smtClean="0"/>
          </a:p>
          <a:p>
            <a:pPr>
              <a:buFontTx/>
              <a:buChar char="-"/>
            </a:pPr>
            <a:r>
              <a:rPr lang="en-PH" dirty="0" smtClean="0"/>
              <a:t> </a:t>
            </a:r>
            <a:r>
              <a:rPr lang="en-PH" dirty="0"/>
              <a:t>Polishing. </a:t>
            </a:r>
          </a:p>
        </p:txBody>
      </p:sp>
    </p:spTree>
    <p:extLst>
      <p:ext uri="{BB962C8B-B14F-4D97-AF65-F5344CB8AC3E}">
        <p14:creationId xmlns:p14="http://schemas.microsoft.com/office/powerpoint/2010/main" val="3969989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Cleaning of specific items/areas </a:t>
            </a:r>
          </a:p>
        </p:txBody>
      </p:sp>
      <p:sp>
        <p:nvSpPr>
          <p:cNvPr id="3" name="Content Placeholder 2"/>
          <p:cNvSpPr>
            <a:spLocks noGrp="1"/>
          </p:cNvSpPr>
          <p:nvPr>
            <p:ph idx="1"/>
          </p:nvPr>
        </p:nvSpPr>
        <p:spPr/>
        <p:txBody>
          <a:bodyPr/>
          <a:lstStyle/>
          <a:p>
            <a:pPr marL="0" indent="0">
              <a:buNone/>
            </a:pPr>
            <a:r>
              <a:rPr lang="en-PH" dirty="0" smtClean="0"/>
              <a:t>1. General </a:t>
            </a:r>
            <a:r>
              <a:rPr lang="en-PH" dirty="0"/>
              <a:t>cleaning of bar and service areas – which will entail: </a:t>
            </a:r>
            <a:endParaRPr lang="en-PH" dirty="0" smtClean="0"/>
          </a:p>
          <a:p>
            <a:pPr>
              <a:buFontTx/>
              <a:buChar char="-"/>
            </a:pPr>
            <a:r>
              <a:rPr lang="en-PH" dirty="0" smtClean="0"/>
              <a:t>Removing </a:t>
            </a:r>
            <a:r>
              <a:rPr lang="en-PH" dirty="0"/>
              <a:t>rubbish </a:t>
            </a:r>
            <a:endParaRPr lang="en-PH" dirty="0" smtClean="0"/>
          </a:p>
          <a:p>
            <a:pPr>
              <a:buFontTx/>
              <a:buChar char="-"/>
            </a:pPr>
            <a:r>
              <a:rPr lang="en-PH" dirty="0" smtClean="0"/>
              <a:t> </a:t>
            </a:r>
            <a:r>
              <a:rPr lang="en-PH" dirty="0"/>
              <a:t>Clearing dirty glasses, empty bottles and cans </a:t>
            </a:r>
            <a:endParaRPr lang="en-PH" dirty="0" smtClean="0"/>
          </a:p>
          <a:p>
            <a:pPr>
              <a:buFontTx/>
              <a:buChar char="-"/>
            </a:pPr>
            <a:r>
              <a:rPr lang="en-PH" dirty="0" smtClean="0"/>
              <a:t> </a:t>
            </a:r>
            <a:r>
              <a:rPr lang="en-PH" dirty="0"/>
              <a:t>Wiping tables </a:t>
            </a:r>
            <a:endParaRPr lang="en-PH" dirty="0" smtClean="0"/>
          </a:p>
          <a:p>
            <a:pPr>
              <a:buFontTx/>
              <a:buChar char="-"/>
            </a:pPr>
            <a:r>
              <a:rPr lang="en-PH" dirty="0" smtClean="0"/>
              <a:t> </a:t>
            </a:r>
            <a:r>
              <a:rPr lang="en-PH" dirty="0"/>
              <a:t>Emptying ash trays </a:t>
            </a:r>
            <a:endParaRPr lang="en-PH" dirty="0" smtClean="0"/>
          </a:p>
          <a:p>
            <a:pPr>
              <a:buFontTx/>
              <a:buChar char="-"/>
            </a:pPr>
            <a:r>
              <a:rPr lang="en-PH" dirty="0" smtClean="0"/>
              <a:t> </a:t>
            </a:r>
            <a:r>
              <a:rPr lang="en-PH" dirty="0"/>
              <a:t>Clearing papers and rubbish </a:t>
            </a:r>
          </a:p>
        </p:txBody>
      </p:sp>
    </p:spTree>
    <p:extLst>
      <p:ext uri="{BB962C8B-B14F-4D97-AF65-F5344CB8AC3E}">
        <p14:creationId xmlns:p14="http://schemas.microsoft.com/office/powerpoint/2010/main" val="3192144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lnSpcReduction="10000"/>
          </a:bodyPr>
          <a:lstStyle/>
          <a:p>
            <a:pPr marL="0" indent="0">
              <a:buNone/>
            </a:pPr>
            <a:r>
              <a:rPr lang="en-PH" dirty="0"/>
              <a:t>2. Replacing and replenishing items – such as: </a:t>
            </a:r>
            <a:endParaRPr lang="en-PH" dirty="0" smtClean="0"/>
          </a:p>
          <a:p>
            <a:pPr>
              <a:buFontTx/>
              <a:buChar char="-"/>
            </a:pPr>
            <a:r>
              <a:rPr lang="en-PH" dirty="0" smtClean="0"/>
              <a:t>Drink </a:t>
            </a:r>
            <a:r>
              <a:rPr lang="en-PH" dirty="0"/>
              <a:t>coasters </a:t>
            </a:r>
            <a:endParaRPr lang="en-PH" dirty="0" smtClean="0"/>
          </a:p>
          <a:p>
            <a:pPr>
              <a:buFontTx/>
              <a:buChar char="-"/>
            </a:pPr>
            <a:r>
              <a:rPr lang="en-PH" dirty="0" smtClean="0"/>
              <a:t> </a:t>
            </a:r>
            <a:r>
              <a:rPr lang="en-PH" dirty="0"/>
              <a:t>Tables and chairs </a:t>
            </a:r>
            <a:endParaRPr lang="en-PH" dirty="0" smtClean="0"/>
          </a:p>
          <a:p>
            <a:pPr>
              <a:buFontTx/>
              <a:buChar char="-"/>
            </a:pPr>
            <a:r>
              <a:rPr lang="en-PH" dirty="0" smtClean="0"/>
              <a:t> </a:t>
            </a:r>
            <a:r>
              <a:rPr lang="en-PH" dirty="0"/>
              <a:t>Table accoutrements – table numbers; bud vases; drink lists </a:t>
            </a:r>
            <a:endParaRPr lang="en-PH" dirty="0" smtClean="0"/>
          </a:p>
          <a:p>
            <a:pPr>
              <a:buFontTx/>
              <a:buChar char="-"/>
            </a:pPr>
            <a:r>
              <a:rPr lang="en-PH" dirty="0" smtClean="0"/>
              <a:t> </a:t>
            </a:r>
            <a:r>
              <a:rPr lang="en-PH" dirty="0"/>
              <a:t>Promotional materials </a:t>
            </a:r>
            <a:endParaRPr lang="en-PH" dirty="0" smtClean="0"/>
          </a:p>
          <a:p>
            <a:pPr>
              <a:buFontTx/>
              <a:buChar char="-"/>
            </a:pPr>
            <a:r>
              <a:rPr lang="en-PH" dirty="0" smtClean="0"/>
              <a:t> </a:t>
            </a:r>
            <a:r>
              <a:rPr lang="en-PH" dirty="0"/>
              <a:t>Products – in displays and behind service areas and bars </a:t>
            </a:r>
            <a:endParaRPr lang="en-PH" dirty="0" smtClean="0"/>
          </a:p>
          <a:p>
            <a:pPr>
              <a:buFontTx/>
              <a:buChar char="-"/>
            </a:pPr>
            <a:r>
              <a:rPr lang="en-PH" dirty="0" smtClean="0"/>
              <a:t> </a:t>
            </a:r>
            <a:r>
              <a:rPr lang="en-PH" dirty="0"/>
              <a:t>Give-aways – complimentary nuts, chips, ‘nibbles’ and free sample drinks </a:t>
            </a:r>
            <a:endParaRPr lang="en-PH" dirty="0" smtClean="0"/>
          </a:p>
          <a:p>
            <a:pPr>
              <a:buFontTx/>
              <a:buChar char="-"/>
            </a:pPr>
            <a:r>
              <a:rPr lang="en-PH" dirty="0" smtClean="0"/>
              <a:t> </a:t>
            </a:r>
            <a:r>
              <a:rPr lang="en-PH" dirty="0"/>
              <a:t>Light globes – which have blown </a:t>
            </a:r>
          </a:p>
        </p:txBody>
      </p:sp>
    </p:spTree>
    <p:extLst>
      <p:ext uri="{BB962C8B-B14F-4D97-AF65-F5344CB8AC3E}">
        <p14:creationId xmlns:p14="http://schemas.microsoft.com/office/powerpoint/2010/main" val="1080180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lstStyle/>
          <a:p>
            <a:pPr marL="0" indent="0">
              <a:buNone/>
            </a:pPr>
            <a:r>
              <a:rPr lang="en-PH" dirty="0"/>
              <a:t>3. Cleaning drip trays </a:t>
            </a:r>
            <a:endParaRPr lang="en-PH" dirty="0" smtClean="0"/>
          </a:p>
          <a:p>
            <a:pPr marL="0" indent="0">
              <a:buNone/>
            </a:pPr>
            <a:r>
              <a:rPr lang="en-PH" dirty="0"/>
              <a:t>4. Cleaning and polishing the beer fonts and beer panels </a:t>
            </a:r>
            <a:endParaRPr lang="en-PH" dirty="0" smtClean="0"/>
          </a:p>
          <a:p>
            <a:pPr marL="0" indent="0">
              <a:buNone/>
            </a:pPr>
            <a:r>
              <a:rPr lang="en-PH" dirty="0"/>
              <a:t>5. Cleaning the interiors and exteriors of all refrigeration units including free-standing display units and under-counter units </a:t>
            </a:r>
            <a:endParaRPr lang="en-PH" dirty="0" smtClean="0"/>
          </a:p>
          <a:p>
            <a:pPr marL="0" indent="0">
              <a:buNone/>
            </a:pPr>
            <a:r>
              <a:rPr lang="en-PH" dirty="0"/>
              <a:t>6. Cleaning bar tops and counters </a:t>
            </a:r>
            <a:endParaRPr lang="en-PH" dirty="0" smtClean="0"/>
          </a:p>
          <a:p>
            <a:pPr marL="0" indent="0">
              <a:buNone/>
            </a:pPr>
            <a:r>
              <a:rPr lang="en-PH" dirty="0"/>
              <a:t>7. Cleaning and tidying tables </a:t>
            </a:r>
            <a:endParaRPr lang="en-PH" dirty="0" smtClean="0"/>
          </a:p>
          <a:p>
            <a:pPr marL="0" indent="0">
              <a:buNone/>
            </a:pPr>
            <a:r>
              <a:rPr lang="en-PH" dirty="0"/>
              <a:t>8. Cleaning mirrors </a:t>
            </a:r>
            <a:endParaRPr lang="en-PH" dirty="0" smtClean="0"/>
          </a:p>
          <a:p>
            <a:pPr marL="0" indent="0">
              <a:buNone/>
            </a:pPr>
            <a:r>
              <a:rPr lang="en-PH" dirty="0"/>
              <a:t>9. Cleaning displays </a:t>
            </a:r>
          </a:p>
        </p:txBody>
      </p:sp>
    </p:spTree>
    <p:extLst>
      <p:ext uri="{BB962C8B-B14F-4D97-AF65-F5344CB8AC3E}">
        <p14:creationId xmlns:p14="http://schemas.microsoft.com/office/powerpoint/2010/main" val="1672078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74242"/>
          </a:xfrm>
        </p:spPr>
        <p:txBody>
          <a:bodyPr>
            <a:normAutofit fontScale="90000"/>
          </a:bodyPr>
          <a:lstStyle/>
          <a:p>
            <a:r>
              <a:rPr lang="en-PH" dirty="0"/>
              <a:t>Apply cleaning and tidying techniques to identified cleaning needs in food service areas Introduction </a:t>
            </a:r>
          </a:p>
        </p:txBody>
      </p:sp>
      <p:sp>
        <p:nvSpPr>
          <p:cNvPr id="3" name="Content Placeholder 2"/>
          <p:cNvSpPr>
            <a:spLocks noGrp="1"/>
          </p:cNvSpPr>
          <p:nvPr>
            <p:ph idx="1"/>
          </p:nvPr>
        </p:nvSpPr>
        <p:spPr>
          <a:xfrm>
            <a:off x="457200" y="2492896"/>
            <a:ext cx="8229600" cy="3633267"/>
          </a:xfrm>
        </p:spPr>
        <p:txBody>
          <a:bodyPr/>
          <a:lstStyle/>
          <a:p>
            <a:r>
              <a:rPr lang="en-PH" dirty="0"/>
              <a:t>Need to use ‘the right’ cleaning items </a:t>
            </a:r>
            <a:endParaRPr lang="en-PH" dirty="0" smtClean="0"/>
          </a:p>
          <a:p>
            <a:pPr marL="514350" indent="-514350">
              <a:buAutoNum type="arabicPeriod"/>
            </a:pPr>
            <a:r>
              <a:rPr lang="en-PH" dirty="0" smtClean="0"/>
              <a:t>Red </a:t>
            </a:r>
            <a:r>
              <a:rPr lang="en-PH" dirty="0"/>
              <a:t>is used only for toilets </a:t>
            </a:r>
          </a:p>
          <a:p>
            <a:pPr marL="514350" indent="-514350">
              <a:buAutoNum type="arabicPeriod"/>
            </a:pPr>
            <a:r>
              <a:rPr lang="en-PH" dirty="0" smtClean="0"/>
              <a:t>Green </a:t>
            </a:r>
            <a:r>
              <a:rPr lang="en-PH" dirty="0"/>
              <a:t>is only used in the kitchen and food areas </a:t>
            </a:r>
            <a:endParaRPr lang="en-PH" dirty="0" smtClean="0"/>
          </a:p>
          <a:p>
            <a:pPr marL="514350" indent="-514350">
              <a:buAutoNum type="arabicPeriod"/>
            </a:pPr>
            <a:r>
              <a:rPr lang="en-PH" dirty="0" smtClean="0"/>
              <a:t> </a:t>
            </a:r>
            <a:r>
              <a:rPr lang="en-PH" dirty="0"/>
              <a:t>Blue is for general purpose cleaning</a:t>
            </a:r>
          </a:p>
        </p:txBody>
      </p:sp>
    </p:spTree>
    <p:extLst>
      <p:ext uri="{BB962C8B-B14F-4D97-AF65-F5344CB8AC3E}">
        <p14:creationId xmlns:p14="http://schemas.microsoft.com/office/powerpoint/2010/main" val="1383884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a:t>What needs to be cleaned and sanitised? </a:t>
            </a:r>
          </a:p>
        </p:txBody>
      </p:sp>
      <p:sp>
        <p:nvSpPr>
          <p:cNvPr id="3" name="Content Placeholder 2"/>
          <p:cNvSpPr>
            <a:spLocks noGrp="1"/>
          </p:cNvSpPr>
          <p:nvPr>
            <p:ph idx="1"/>
          </p:nvPr>
        </p:nvSpPr>
        <p:spPr>
          <a:xfrm>
            <a:off x="457200" y="1600200"/>
            <a:ext cx="8229600" cy="5069160"/>
          </a:xfrm>
        </p:spPr>
        <p:txBody>
          <a:bodyPr>
            <a:normAutofit fontScale="92500" lnSpcReduction="10000"/>
          </a:bodyPr>
          <a:lstStyle/>
          <a:p>
            <a:pPr marL="514350" indent="-514350">
              <a:buAutoNum type="arabicPeriod"/>
            </a:pPr>
            <a:r>
              <a:rPr lang="en-PH" dirty="0" smtClean="0"/>
              <a:t>Crockery </a:t>
            </a:r>
          </a:p>
          <a:p>
            <a:pPr marL="514350" indent="-514350">
              <a:buAutoNum type="arabicPeriod"/>
            </a:pPr>
            <a:r>
              <a:rPr lang="en-PH" dirty="0" smtClean="0"/>
              <a:t> </a:t>
            </a:r>
            <a:r>
              <a:rPr lang="en-PH" dirty="0"/>
              <a:t>Glassware </a:t>
            </a:r>
            <a:endParaRPr lang="en-PH" dirty="0" smtClean="0"/>
          </a:p>
          <a:p>
            <a:pPr marL="514350" indent="-514350">
              <a:buAutoNum type="arabicPeriod"/>
            </a:pPr>
            <a:r>
              <a:rPr lang="en-PH" dirty="0" smtClean="0"/>
              <a:t> </a:t>
            </a:r>
            <a:r>
              <a:rPr lang="en-PH" dirty="0"/>
              <a:t>Cutlery </a:t>
            </a:r>
            <a:endParaRPr lang="en-PH" dirty="0" smtClean="0"/>
          </a:p>
          <a:p>
            <a:pPr marL="514350" indent="-514350">
              <a:buAutoNum type="arabicPeriod"/>
            </a:pPr>
            <a:r>
              <a:rPr lang="en-PH" dirty="0" smtClean="0"/>
              <a:t> </a:t>
            </a:r>
            <a:r>
              <a:rPr lang="en-PH" dirty="0"/>
              <a:t>Utensils – such as spatulas, slotted spoons, scoops, lifters </a:t>
            </a:r>
            <a:endParaRPr lang="en-PH" dirty="0" smtClean="0"/>
          </a:p>
          <a:p>
            <a:pPr marL="514350" indent="-514350">
              <a:buAutoNum type="arabicPeriod"/>
            </a:pPr>
            <a:r>
              <a:rPr lang="en-PH" dirty="0" smtClean="0"/>
              <a:t> </a:t>
            </a:r>
            <a:r>
              <a:rPr lang="en-PH" dirty="0"/>
              <a:t>Pieces of food preparation, food storage and food display equipment such as cool rooms, refrigeration units, salamanders, toasters, </a:t>
            </a:r>
            <a:r>
              <a:rPr lang="en-PH" dirty="0" err="1"/>
              <a:t>bratt</a:t>
            </a:r>
            <a:r>
              <a:rPr lang="en-PH" dirty="0"/>
              <a:t> pans, microwaves, salamanders, stoves and ovens, deep fryers, </a:t>
            </a:r>
            <a:r>
              <a:rPr lang="en-PH" dirty="0" err="1"/>
              <a:t>bain-maries</a:t>
            </a:r>
            <a:r>
              <a:rPr lang="en-PH" dirty="0"/>
              <a:t>, pie warmers, salad wells </a:t>
            </a:r>
            <a:endParaRPr lang="en-PH" dirty="0" smtClean="0"/>
          </a:p>
          <a:p>
            <a:pPr marL="514350" indent="-514350">
              <a:buAutoNum type="arabicPeriod"/>
            </a:pPr>
            <a:endParaRPr lang="en-PH" dirty="0"/>
          </a:p>
        </p:txBody>
      </p:sp>
    </p:spTree>
    <p:extLst>
      <p:ext uri="{BB962C8B-B14F-4D97-AF65-F5344CB8AC3E}">
        <p14:creationId xmlns:p14="http://schemas.microsoft.com/office/powerpoint/2010/main" val="39962978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433467"/>
          </a:xfrm>
        </p:spPr>
        <p:txBody>
          <a:bodyPr/>
          <a:lstStyle/>
          <a:p>
            <a:pPr marL="0" indent="0">
              <a:buNone/>
            </a:pPr>
            <a:r>
              <a:rPr lang="en-PH" dirty="0" smtClean="0"/>
              <a:t>6. Chopping </a:t>
            </a:r>
            <a:r>
              <a:rPr lang="en-PH" dirty="0"/>
              <a:t>boards </a:t>
            </a:r>
            <a:endParaRPr lang="en-PH" dirty="0" smtClean="0"/>
          </a:p>
          <a:p>
            <a:pPr marL="0" indent="0">
              <a:buNone/>
            </a:pPr>
            <a:r>
              <a:rPr lang="en-PH" dirty="0" smtClean="0"/>
              <a:t>7.  </a:t>
            </a:r>
            <a:r>
              <a:rPr lang="en-PH" dirty="0"/>
              <a:t>Inside rubbish bins </a:t>
            </a:r>
            <a:endParaRPr lang="en-PH" dirty="0" smtClean="0"/>
          </a:p>
          <a:p>
            <a:pPr marL="0" indent="0">
              <a:buNone/>
            </a:pPr>
            <a:r>
              <a:rPr lang="en-PH" dirty="0" smtClean="0"/>
              <a:t>8.  </a:t>
            </a:r>
            <a:r>
              <a:rPr lang="en-PH" dirty="0"/>
              <a:t>External garbage bins including dumpers or bins rented from outside contractors. </a:t>
            </a:r>
            <a:endParaRPr lang="en-PH" dirty="0" smtClean="0"/>
          </a:p>
          <a:p>
            <a:pPr marL="0" indent="0">
              <a:buNone/>
            </a:pPr>
            <a:r>
              <a:rPr lang="en-PH" dirty="0" smtClean="0"/>
              <a:t>9. Pots</a:t>
            </a:r>
            <a:r>
              <a:rPr lang="en-PH" dirty="0"/>
              <a:t>, pans and other preparation and cooking dishes </a:t>
            </a:r>
          </a:p>
          <a:p>
            <a:pPr marL="0" indent="0">
              <a:buNone/>
            </a:pPr>
            <a:r>
              <a:rPr lang="en-PH" dirty="0" smtClean="0"/>
              <a:t>10.  </a:t>
            </a:r>
            <a:r>
              <a:rPr lang="en-PH" dirty="0"/>
              <a:t>Containers – used for the storage of food under dry, refrigerated and frozen conditions </a:t>
            </a:r>
          </a:p>
          <a:p>
            <a:endParaRPr lang="en-PH" dirty="0" smtClean="0"/>
          </a:p>
          <a:p>
            <a:endParaRPr lang="en-PH" dirty="0"/>
          </a:p>
        </p:txBody>
      </p:sp>
    </p:spTree>
    <p:extLst>
      <p:ext uri="{BB962C8B-B14F-4D97-AF65-F5344CB8AC3E}">
        <p14:creationId xmlns:p14="http://schemas.microsoft.com/office/powerpoint/2010/main" val="698863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a:t>Specific requirements for cleaning food areas </a:t>
            </a:r>
          </a:p>
        </p:txBody>
      </p:sp>
      <p:sp>
        <p:nvSpPr>
          <p:cNvPr id="3" name="Content Placeholder 2"/>
          <p:cNvSpPr>
            <a:spLocks noGrp="1"/>
          </p:cNvSpPr>
          <p:nvPr>
            <p:ph idx="1"/>
          </p:nvPr>
        </p:nvSpPr>
        <p:spPr/>
        <p:txBody>
          <a:bodyPr/>
          <a:lstStyle/>
          <a:p>
            <a:pPr marL="514350" indent="-514350">
              <a:buAutoNum type="arabicPeriod"/>
            </a:pPr>
            <a:r>
              <a:rPr lang="en-PH" dirty="0" smtClean="0"/>
              <a:t>Obtain </a:t>
            </a:r>
            <a:r>
              <a:rPr lang="en-PH" dirty="0"/>
              <a:t>workplace training in cleaning – to identify: </a:t>
            </a:r>
            <a:endParaRPr lang="en-PH" dirty="0" smtClean="0"/>
          </a:p>
          <a:p>
            <a:pPr>
              <a:buFontTx/>
              <a:buChar char="-"/>
            </a:pPr>
            <a:r>
              <a:rPr lang="en-PH" dirty="0" smtClean="0"/>
              <a:t>In-house </a:t>
            </a:r>
            <a:r>
              <a:rPr lang="en-PH" dirty="0"/>
              <a:t>cleaning requirements to be followed, SOPs </a:t>
            </a:r>
            <a:endParaRPr lang="en-PH" dirty="0" smtClean="0"/>
          </a:p>
          <a:p>
            <a:pPr>
              <a:buFontTx/>
              <a:buChar char="-"/>
            </a:pPr>
            <a:r>
              <a:rPr lang="en-PH" dirty="0" smtClean="0"/>
              <a:t> </a:t>
            </a:r>
            <a:r>
              <a:rPr lang="en-PH" dirty="0"/>
              <a:t>Cleaning agents and items used </a:t>
            </a:r>
            <a:endParaRPr lang="en-PH" dirty="0" smtClean="0"/>
          </a:p>
          <a:p>
            <a:pPr>
              <a:buFontTx/>
              <a:buChar char="-"/>
            </a:pPr>
            <a:r>
              <a:rPr lang="en-PH" dirty="0" smtClean="0"/>
              <a:t> </a:t>
            </a:r>
            <a:r>
              <a:rPr lang="en-PH" dirty="0"/>
              <a:t>Frequency of cleaning </a:t>
            </a:r>
            <a:endParaRPr lang="en-PH" dirty="0" smtClean="0"/>
          </a:p>
          <a:p>
            <a:pPr>
              <a:buFontTx/>
              <a:buChar char="-"/>
            </a:pPr>
            <a:r>
              <a:rPr lang="en-PH" dirty="0" smtClean="0"/>
              <a:t> </a:t>
            </a:r>
            <a:r>
              <a:rPr lang="en-PH" dirty="0"/>
              <a:t>Relevant safety requirements </a:t>
            </a:r>
          </a:p>
        </p:txBody>
      </p:sp>
    </p:spTree>
    <p:extLst>
      <p:ext uri="{BB962C8B-B14F-4D97-AF65-F5344CB8AC3E}">
        <p14:creationId xmlns:p14="http://schemas.microsoft.com/office/powerpoint/2010/main" val="4192193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6192688"/>
          </a:xfrm>
        </p:spPr>
        <p:txBody>
          <a:bodyPr>
            <a:normAutofit fontScale="85000" lnSpcReduction="10000"/>
          </a:bodyPr>
          <a:lstStyle/>
          <a:p>
            <a:pPr marL="0" indent="0">
              <a:buNone/>
            </a:pPr>
            <a:r>
              <a:rPr lang="en-PH" dirty="0"/>
              <a:t>2. Cover exposed food when cleaning to prevent contamination by chemicals </a:t>
            </a:r>
          </a:p>
          <a:p>
            <a:pPr marL="0" indent="0">
              <a:buNone/>
            </a:pPr>
            <a:r>
              <a:rPr lang="en-PH" dirty="0" smtClean="0"/>
              <a:t>3. Wash </a:t>
            </a:r>
            <a:r>
              <a:rPr lang="en-PH" dirty="0"/>
              <a:t>hands after handling chemicals or performing chemicals before handling food or food service equipment or utensils </a:t>
            </a:r>
            <a:endParaRPr lang="en-PH" dirty="0" smtClean="0"/>
          </a:p>
          <a:p>
            <a:pPr marL="514350" indent="-514350">
              <a:buAutoNum type="arabicPeriod" startAt="4"/>
            </a:pPr>
            <a:r>
              <a:rPr lang="en-PH" dirty="0" smtClean="0"/>
              <a:t>Make </a:t>
            </a:r>
            <a:r>
              <a:rPr lang="en-PH" dirty="0"/>
              <a:t>sure all food contact surfaces are cleaned at least every four hours </a:t>
            </a:r>
            <a:endParaRPr lang="en-PH" dirty="0" smtClean="0"/>
          </a:p>
          <a:p>
            <a:pPr marL="514350" indent="-514350">
              <a:buAutoNum type="arabicPeriod" startAt="4"/>
            </a:pPr>
            <a:r>
              <a:rPr lang="en-PH" dirty="0" smtClean="0"/>
              <a:t> </a:t>
            </a:r>
            <a:r>
              <a:rPr lang="en-PH" dirty="0"/>
              <a:t>Use only disposable towels for wiping hands or cleaning up spills and immediately discard after use – do not use clothing (such as fronts of jackets, aprons, clothing) or cloth tea towels or swabs </a:t>
            </a:r>
            <a:endParaRPr lang="en-PH" dirty="0" smtClean="0"/>
          </a:p>
          <a:p>
            <a:pPr marL="514350" indent="-514350">
              <a:buAutoNum type="arabicPeriod" startAt="4"/>
            </a:pPr>
            <a:r>
              <a:rPr lang="en-PH" dirty="0" smtClean="0"/>
              <a:t> </a:t>
            </a:r>
            <a:r>
              <a:rPr lang="en-PH" dirty="0"/>
              <a:t>After crockery and cutlery have been cleaned they must be stored to protect them for re-contamination – from flies, dust, airborne contamination </a:t>
            </a:r>
            <a:r>
              <a:rPr lang="en-PH" dirty="0" smtClean="0"/>
              <a:t> </a:t>
            </a:r>
            <a:endParaRPr lang="en-PH" dirty="0"/>
          </a:p>
        </p:txBody>
      </p:sp>
    </p:spTree>
    <p:extLst>
      <p:ext uri="{BB962C8B-B14F-4D97-AF65-F5344CB8AC3E}">
        <p14:creationId xmlns:p14="http://schemas.microsoft.com/office/powerpoint/2010/main" val="824878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92500"/>
          </a:bodyPr>
          <a:lstStyle/>
          <a:p>
            <a:pPr marL="0" indent="0">
              <a:buNone/>
            </a:pPr>
            <a:r>
              <a:rPr lang="en-PH" dirty="0"/>
              <a:t>7. After crockery and cutlery have been cleaned they must be stored to protect them for re-contamination – from flies, dust, airborne contamination </a:t>
            </a:r>
            <a:endParaRPr lang="en-PH" dirty="0" smtClean="0"/>
          </a:p>
          <a:p>
            <a:pPr marL="514350" indent="-514350">
              <a:buAutoNum type="arabicPeriod" startAt="8"/>
            </a:pPr>
            <a:r>
              <a:rPr lang="en-PH" dirty="0" smtClean="0"/>
              <a:t>Clean </a:t>
            </a:r>
            <a:r>
              <a:rPr lang="en-PH" dirty="0"/>
              <a:t>low risk areas and equipment before cleaning high risk areas when the same cleaning items and equipment have to be used </a:t>
            </a:r>
            <a:endParaRPr lang="en-PH" dirty="0" smtClean="0"/>
          </a:p>
          <a:p>
            <a:pPr marL="514350" indent="-514350">
              <a:buAutoNum type="arabicPeriod" startAt="8"/>
            </a:pPr>
            <a:r>
              <a:rPr lang="en-PH" dirty="0" smtClean="0"/>
              <a:t> </a:t>
            </a:r>
            <a:r>
              <a:rPr lang="en-PH" dirty="0"/>
              <a:t>Never use food containers to measure out, or hold, chemicals and cleaning agents </a:t>
            </a:r>
            <a:endParaRPr lang="en-PH" dirty="0" smtClean="0"/>
          </a:p>
          <a:p>
            <a:pPr marL="514350" indent="-514350">
              <a:buAutoNum type="arabicPeriod" startAt="8"/>
            </a:pPr>
            <a:r>
              <a:rPr lang="en-PH" dirty="0" smtClean="0"/>
              <a:t> </a:t>
            </a:r>
            <a:r>
              <a:rPr lang="en-PH" dirty="0"/>
              <a:t>All cleaning agents must be stored away from food </a:t>
            </a:r>
          </a:p>
        </p:txBody>
      </p:sp>
    </p:spTree>
    <p:extLst>
      <p:ext uri="{BB962C8B-B14F-4D97-AF65-F5344CB8AC3E}">
        <p14:creationId xmlns:p14="http://schemas.microsoft.com/office/powerpoint/2010/main" val="1155130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a:t>7-step process </a:t>
            </a:r>
            <a:r>
              <a:rPr lang="en-PH" dirty="0" smtClean="0"/>
              <a:t>suitable </a:t>
            </a:r>
            <a:r>
              <a:rPr lang="en-PH" dirty="0"/>
              <a:t>for cleaning crockery and cutlery: </a:t>
            </a:r>
          </a:p>
        </p:txBody>
      </p:sp>
      <p:sp>
        <p:nvSpPr>
          <p:cNvPr id="3" name="Content Placeholder 2"/>
          <p:cNvSpPr>
            <a:spLocks noGrp="1"/>
          </p:cNvSpPr>
          <p:nvPr>
            <p:ph idx="1"/>
          </p:nvPr>
        </p:nvSpPr>
        <p:spPr/>
        <p:txBody>
          <a:bodyPr>
            <a:normAutofit fontScale="85000" lnSpcReduction="10000"/>
          </a:bodyPr>
          <a:lstStyle/>
          <a:p>
            <a:pPr marL="514350" indent="-514350">
              <a:buAutoNum type="arabicPeriod"/>
            </a:pPr>
            <a:r>
              <a:rPr lang="en-PH" dirty="0" smtClean="0"/>
              <a:t>Remove </a:t>
            </a:r>
            <a:r>
              <a:rPr lang="en-PH" dirty="0"/>
              <a:t>visible food debris – for example, scrape the plates </a:t>
            </a:r>
            <a:endParaRPr lang="en-PH" dirty="0" smtClean="0"/>
          </a:p>
          <a:p>
            <a:pPr marL="514350" indent="-514350">
              <a:buAutoNum type="arabicPeriod"/>
            </a:pPr>
            <a:r>
              <a:rPr lang="en-PH" dirty="0" smtClean="0"/>
              <a:t> </a:t>
            </a:r>
            <a:r>
              <a:rPr lang="en-PH" dirty="0"/>
              <a:t>Rinse with warm water – to remove loose dirt </a:t>
            </a:r>
            <a:endParaRPr lang="en-PH" dirty="0" smtClean="0"/>
          </a:p>
          <a:p>
            <a:pPr marL="514350" indent="-514350">
              <a:buAutoNum type="arabicPeriod"/>
            </a:pPr>
            <a:r>
              <a:rPr lang="en-PH" dirty="0" smtClean="0"/>
              <a:t> </a:t>
            </a:r>
            <a:r>
              <a:rPr lang="en-PH" dirty="0"/>
              <a:t>Wash with a detergent – diluted according to manufacturer’s instructions </a:t>
            </a:r>
            <a:endParaRPr lang="en-PH" dirty="0" smtClean="0"/>
          </a:p>
          <a:p>
            <a:pPr marL="514350" indent="-514350">
              <a:buAutoNum type="arabicPeriod"/>
            </a:pPr>
            <a:r>
              <a:rPr lang="en-PH" dirty="0" smtClean="0"/>
              <a:t> </a:t>
            </a:r>
            <a:r>
              <a:rPr lang="en-PH" dirty="0"/>
              <a:t>Rinse again – to remove the detergent and debris </a:t>
            </a:r>
            <a:endParaRPr lang="en-PH" dirty="0" smtClean="0"/>
          </a:p>
          <a:p>
            <a:pPr marL="514350" indent="-514350">
              <a:buAutoNum type="arabicPeriod"/>
            </a:pPr>
            <a:r>
              <a:rPr lang="en-PH" dirty="0" smtClean="0"/>
              <a:t> </a:t>
            </a:r>
            <a:r>
              <a:rPr lang="en-PH" dirty="0"/>
              <a:t>Apply a </a:t>
            </a:r>
            <a:r>
              <a:rPr lang="en-PH" dirty="0" smtClean="0"/>
              <a:t>sanitizer </a:t>
            </a:r>
            <a:r>
              <a:rPr lang="en-PH" dirty="0"/>
              <a:t>– </a:t>
            </a:r>
            <a:r>
              <a:rPr lang="en-PH" dirty="0" smtClean="0"/>
              <a:t>sanitizers </a:t>
            </a:r>
            <a:r>
              <a:rPr lang="en-PH" dirty="0"/>
              <a:t>are chemicals designed to kill bacteria </a:t>
            </a:r>
          </a:p>
          <a:p>
            <a:pPr marL="514350" indent="-514350">
              <a:buAutoNum type="arabicPeriod"/>
            </a:pPr>
            <a:r>
              <a:rPr lang="en-PH" dirty="0" smtClean="0"/>
              <a:t> </a:t>
            </a:r>
            <a:r>
              <a:rPr lang="en-PH" dirty="0"/>
              <a:t>Rinse – to remove the </a:t>
            </a:r>
            <a:r>
              <a:rPr lang="en-PH" dirty="0" smtClean="0"/>
              <a:t>sanitizer </a:t>
            </a:r>
          </a:p>
          <a:p>
            <a:pPr marL="514350" indent="-514350">
              <a:buAutoNum type="arabicPeriod"/>
            </a:pPr>
            <a:r>
              <a:rPr lang="en-PH" dirty="0" smtClean="0"/>
              <a:t> </a:t>
            </a:r>
            <a:r>
              <a:rPr lang="en-PH" dirty="0"/>
              <a:t>Allow to air dry</a:t>
            </a:r>
          </a:p>
        </p:txBody>
      </p:sp>
    </p:spTree>
    <p:extLst>
      <p:ext uri="{BB962C8B-B14F-4D97-AF65-F5344CB8AC3E}">
        <p14:creationId xmlns:p14="http://schemas.microsoft.com/office/powerpoint/2010/main" val="37380068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Double bowl sinks </a:t>
            </a:r>
          </a:p>
        </p:txBody>
      </p:sp>
      <p:sp>
        <p:nvSpPr>
          <p:cNvPr id="3" name="Content Placeholder 2"/>
          <p:cNvSpPr>
            <a:spLocks noGrp="1"/>
          </p:cNvSpPr>
          <p:nvPr>
            <p:ph idx="1"/>
          </p:nvPr>
        </p:nvSpPr>
        <p:spPr>
          <a:xfrm>
            <a:off x="457200" y="1268760"/>
            <a:ext cx="8229600" cy="5400600"/>
          </a:xfrm>
        </p:spPr>
        <p:txBody>
          <a:bodyPr>
            <a:normAutofit fontScale="92500" lnSpcReduction="10000"/>
          </a:bodyPr>
          <a:lstStyle/>
          <a:p>
            <a:pPr marL="0" indent="0">
              <a:buNone/>
            </a:pPr>
            <a:r>
              <a:rPr lang="en-PH" dirty="0"/>
              <a:t>When using a double bowl sink to wash eating utensils and </a:t>
            </a:r>
            <a:r>
              <a:rPr lang="en-PH" dirty="0" smtClean="0"/>
              <a:t>dishes:</a:t>
            </a:r>
          </a:p>
          <a:p>
            <a:pPr marL="514350" indent="-514350">
              <a:buAutoNum type="arabicPeriod"/>
            </a:pPr>
            <a:r>
              <a:rPr lang="en-PH" dirty="0" smtClean="0"/>
              <a:t>One </a:t>
            </a:r>
            <a:r>
              <a:rPr lang="en-PH" dirty="0"/>
              <a:t>bowl must contain water at 45°C and detergent, for washing </a:t>
            </a:r>
            <a:endParaRPr lang="en-PH" dirty="0" smtClean="0"/>
          </a:p>
          <a:p>
            <a:pPr marL="514350" indent="-514350">
              <a:buAutoNum type="arabicPeriod"/>
            </a:pPr>
            <a:r>
              <a:rPr lang="en-PH" dirty="0" smtClean="0"/>
              <a:t> </a:t>
            </a:r>
            <a:r>
              <a:rPr lang="en-PH" dirty="0"/>
              <a:t>One bowl must contain clean water at a minimum of 77°C for sanitising </a:t>
            </a:r>
            <a:endParaRPr lang="en-PH" dirty="0" smtClean="0"/>
          </a:p>
          <a:p>
            <a:pPr marL="514350" indent="-514350">
              <a:buAutoNum type="arabicPeriod"/>
            </a:pPr>
            <a:r>
              <a:rPr lang="en-PH" dirty="0"/>
              <a:t>Sanitising must involve soaking the items for a minimum of 3 minutes – it is not acceptable to just run hot water over items to remove the suds </a:t>
            </a:r>
            <a:endParaRPr lang="en-PH" dirty="0" smtClean="0"/>
          </a:p>
          <a:p>
            <a:pPr marL="514350" indent="-514350">
              <a:buAutoNum type="arabicPeriod"/>
            </a:pPr>
            <a:r>
              <a:rPr lang="en-PH" dirty="0" smtClean="0"/>
              <a:t> </a:t>
            </a:r>
            <a:r>
              <a:rPr lang="en-PH" dirty="0"/>
              <a:t>A thermometer should be on hand to check water temperature</a:t>
            </a:r>
          </a:p>
        </p:txBody>
      </p:sp>
    </p:spTree>
    <p:extLst>
      <p:ext uri="{BB962C8B-B14F-4D97-AF65-F5344CB8AC3E}">
        <p14:creationId xmlns:p14="http://schemas.microsoft.com/office/powerpoint/2010/main" val="28955125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58218"/>
          </a:xfrm>
        </p:spPr>
        <p:txBody>
          <a:bodyPr>
            <a:normAutofit fontScale="90000"/>
          </a:bodyPr>
          <a:lstStyle/>
          <a:p>
            <a:r>
              <a:rPr lang="en-PH" dirty="0"/>
              <a:t>Identify equipment and items requiring maintenance and report to the appropriate person </a:t>
            </a:r>
          </a:p>
        </p:txBody>
      </p:sp>
      <p:sp>
        <p:nvSpPr>
          <p:cNvPr id="3" name="Content Placeholder 2"/>
          <p:cNvSpPr>
            <a:spLocks noGrp="1"/>
          </p:cNvSpPr>
          <p:nvPr>
            <p:ph idx="1"/>
          </p:nvPr>
        </p:nvSpPr>
        <p:spPr>
          <a:xfrm>
            <a:off x="457200" y="2420888"/>
            <a:ext cx="8229600" cy="3705275"/>
          </a:xfrm>
        </p:spPr>
        <p:txBody>
          <a:bodyPr>
            <a:normAutofit lnSpcReduction="10000"/>
          </a:bodyPr>
          <a:lstStyle/>
          <a:p>
            <a:pPr marL="0" indent="0">
              <a:buNone/>
            </a:pPr>
            <a:r>
              <a:rPr lang="en-PH" dirty="0"/>
              <a:t>Two types of faults/problems </a:t>
            </a:r>
            <a:endParaRPr lang="en-PH" dirty="0" smtClean="0"/>
          </a:p>
          <a:p>
            <a:pPr marL="514350" indent="-514350">
              <a:buAutoNum type="arabicPeriod"/>
            </a:pPr>
            <a:r>
              <a:rPr lang="en-PH" dirty="0" smtClean="0"/>
              <a:t>Breakdowns </a:t>
            </a:r>
            <a:r>
              <a:rPr lang="en-PH" dirty="0"/>
              <a:t>– which occur when items malfunction. </a:t>
            </a:r>
            <a:endParaRPr lang="en-PH" dirty="0" smtClean="0"/>
          </a:p>
          <a:p>
            <a:pPr marL="514350" indent="-514350">
              <a:buAutoNum type="arabicPeriod"/>
            </a:pPr>
            <a:r>
              <a:rPr lang="en-PH" dirty="0" smtClean="0"/>
              <a:t>Damage </a:t>
            </a:r>
            <a:r>
              <a:rPr lang="en-PH" dirty="0"/>
              <a:t>– to parts, surfaces, electrical cords and connections caused by: </a:t>
            </a:r>
          </a:p>
          <a:p>
            <a:pPr>
              <a:buFontTx/>
              <a:buChar char="-"/>
            </a:pPr>
            <a:r>
              <a:rPr lang="en-PH" dirty="0" smtClean="0"/>
              <a:t>Normal </a:t>
            </a:r>
            <a:r>
              <a:rPr lang="en-PH" dirty="0"/>
              <a:t>day-to-day ‘wear and tear’ </a:t>
            </a:r>
            <a:endParaRPr lang="en-PH" dirty="0" smtClean="0"/>
          </a:p>
          <a:p>
            <a:pPr>
              <a:buFontTx/>
              <a:buChar char="-"/>
            </a:pPr>
            <a:r>
              <a:rPr lang="en-PH" dirty="0" smtClean="0"/>
              <a:t> </a:t>
            </a:r>
            <a:r>
              <a:rPr lang="en-PH" dirty="0"/>
              <a:t>Incorrect use. </a:t>
            </a:r>
          </a:p>
        </p:txBody>
      </p:sp>
    </p:spTree>
    <p:extLst>
      <p:ext uri="{BB962C8B-B14F-4D97-AF65-F5344CB8AC3E}">
        <p14:creationId xmlns:p14="http://schemas.microsoft.com/office/powerpoint/2010/main" val="24451942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a:t>Examples of items requiring maintenance </a:t>
            </a:r>
          </a:p>
        </p:txBody>
      </p:sp>
      <p:sp>
        <p:nvSpPr>
          <p:cNvPr id="3" name="Content Placeholder 2"/>
          <p:cNvSpPr>
            <a:spLocks noGrp="1"/>
          </p:cNvSpPr>
          <p:nvPr>
            <p:ph idx="1"/>
          </p:nvPr>
        </p:nvSpPr>
        <p:spPr/>
        <p:txBody>
          <a:bodyPr>
            <a:normAutofit lnSpcReduction="10000"/>
          </a:bodyPr>
          <a:lstStyle/>
          <a:p>
            <a:pPr marL="514350" indent="-514350">
              <a:buAutoNum type="arabicPeriod"/>
            </a:pPr>
            <a:r>
              <a:rPr lang="en-PH" dirty="0" smtClean="0"/>
              <a:t>Frayed </a:t>
            </a:r>
            <a:r>
              <a:rPr lang="en-PH" dirty="0"/>
              <a:t>electrical cords, or bare wires </a:t>
            </a:r>
            <a:endParaRPr lang="en-PH" dirty="0" smtClean="0"/>
          </a:p>
          <a:p>
            <a:pPr marL="514350" indent="-514350">
              <a:buAutoNum type="arabicPeriod"/>
            </a:pPr>
            <a:r>
              <a:rPr lang="en-PH" dirty="0"/>
              <a:t>Smoke or burning smells coming from them </a:t>
            </a:r>
            <a:endParaRPr lang="en-PH" dirty="0" smtClean="0"/>
          </a:p>
          <a:p>
            <a:pPr marL="514350" indent="-514350">
              <a:buAutoNum type="arabicPeriod"/>
            </a:pPr>
            <a:r>
              <a:rPr lang="en-PH" dirty="0" smtClean="0"/>
              <a:t> </a:t>
            </a:r>
            <a:r>
              <a:rPr lang="en-PH" dirty="0"/>
              <a:t>Leaking components </a:t>
            </a:r>
            <a:endParaRPr lang="en-PH" dirty="0" smtClean="0"/>
          </a:p>
          <a:p>
            <a:pPr marL="514350" indent="-514350">
              <a:buAutoNum type="arabicPeriod"/>
            </a:pPr>
            <a:r>
              <a:rPr lang="en-PH" dirty="0" smtClean="0"/>
              <a:t> </a:t>
            </a:r>
            <a:r>
              <a:rPr lang="en-PH" dirty="0"/>
              <a:t>Broken accessories </a:t>
            </a:r>
            <a:endParaRPr lang="en-PH" dirty="0" smtClean="0"/>
          </a:p>
          <a:p>
            <a:pPr marL="514350" indent="-514350">
              <a:buAutoNum type="arabicPeriod"/>
            </a:pPr>
            <a:r>
              <a:rPr lang="en-PH" dirty="0" smtClean="0"/>
              <a:t> </a:t>
            </a:r>
            <a:r>
              <a:rPr lang="en-PH" dirty="0"/>
              <a:t>Broken handles </a:t>
            </a:r>
            <a:endParaRPr lang="en-PH" dirty="0" smtClean="0"/>
          </a:p>
          <a:p>
            <a:pPr marL="514350" indent="-514350">
              <a:buAutoNum type="arabicPeriod"/>
            </a:pPr>
            <a:r>
              <a:rPr lang="en-PH" dirty="0" smtClean="0"/>
              <a:t> </a:t>
            </a:r>
            <a:r>
              <a:rPr lang="en-PH" dirty="0"/>
              <a:t>Worn and torn items </a:t>
            </a:r>
            <a:endParaRPr lang="en-PH" dirty="0" smtClean="0"/>
          </a:p>
          <a:p>
            <a:pPr marL="514350" indent="-514350">
              <a:buAutoNum type="arabicPeriod"/>
            </a:pPr>
            <a:r>
              <a:rPr lang="en-PH" dirty="0" smtClean="0"/>
              <a:t> </a:t>
            </a:r>
            <a:r>
              <a:rPr lang="en-PH" dirty="0"/>
              <a:t>A time or date elapsed by which scheduled preventative maintenance must be provided. </a:t>
            </a:r>
          </a:p>
        </p:txBody>
      </p:sp>
    </p:spTree>
    <p:extLst>
      <p:ext uri="{BB962C8B-B14F-4D97-AF65-F5344CB8AC3E}">
        <p14:creationId xmlns:p14="http://schemas.microsoft.com/office/powerpoint/2010/main" val="31220179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1368152"/>
          </a:xfrm>
        </p:spPr>
        <p:txBody>
          <a:bodyPr>
            <a:normAutofit fontScale="90000"/>
          </a:bodyPr>
          <a:lstStyle/>
          <a:p>
            <a:r>
              <a:rPr lang="en-PH" dirty="0"/>
              <a:t>How do you become aware of items requiring maintenance? </a:t>
            </a:r>
            <a:br>
              <a:rPr lang="en-PH" dirty="0"/>
            </a:br>
            <a:endParaRPr lang="en-PH" dirty="0"/>
          </a:p>
        </p:txBody>
      </p:sp>
      <p:sp>
        <p:nvSpPr>
          <p:cNvPr id="3" name="Content Placeholder 2"/>
          <p:cNvSpPr>
            <a:spLocks noGrp="1"/>
          </p:cNvSpPr>
          <p:nvPr>
            <p:ph idx="1"/>
          </p:nvPr>
        </p:nvSpPr>
        <p:spPr>
          <a:xfrm>
            <a:off x="457200" y="1772816"/>
            <a:ext cx="8229600" cy="4353347"/>
          </a:xfrm>
        </p:spPr>
        <p:txBody>
          <a:bodyPr/>
          <a:lstStyle/>
          <a:p>
            <a:pPr marL="514350" indent="-514350">
              <a:buAutoNum type="arabicPeriod"/>
            </a:pPr>
            <a:r>
              <a:rPr lang="en-PH" dirty="0" smtClean="0"/>
              <a:t>Seeing </a:t>
            </a:r>
            <a:r>
              <a:rPr lang="en-PH" dirty="0"/>
              <a:t>a problem </a:t>
            </a:r>
            <a:endParaRPr lang="en-PH" dirty="0" smtClean="0"/>
          </a:p>
          <a:p>
            <a:pPr marL="514350" indent="-514350">
              <a:buAutoNum type="arabicPeriod"/>
            </a:pPr>
            <a:r>
              <a:rPr lang="en-PH" dirty="0" smtClean="0"/>
              <a:t> </a:t>
            </a:r>
            <a:r>
              <a:rPr lang="en-PH" dirty="0"/>
              <a:t>Hearing something that is not right </a:t>
            </a:r>
            <a:endParaRPr lang="en-PH" dirty="0" smtClean="0"/>
          </a:p>
          <a:p>
            <a:pPr marL="514350" indent="-514350">
              <a:buAutoNum type="arabicPeriod"/>
            </a:pPr>
            <a:r>
              <a:rPr lang="en-PH" dirty="0" smtClean="0"/>
              <a:t> </a:t>
            </a:r>
            <a:r>
              <a:rPr lang="en-PH" dirty="0"/>
              <a:t>Smelling something alarming </a:t>
            </a:r>
            <a:endParaRPr lang="en-PH" dirty="0" smtClean="0"/>
          </a:p>
          <a:p>
            <a:pPr marL="514350" indent="-514350">
              <a:buAutoNum type="arabicPeriod"/>
            </a:pPr>
            <a:r>
              <a:rPr lang="en-PH" dirty="0" smtClean="0"/>
              <a:t> </a:t>
            </a:r>
            <a:r>
              <a:rPr lang="en-PH" dirty="0"/>
              <a:t>Being advised by others – guests or staff. </a:t>
            </a:r>
          </a:p>
        </p:txBody>
      </p:sp>
    </p:spTree>
    <p:extLst>
      <p:ext uri="{BB962C8B-B14F-4D97-AF65-F5344CB8AC3E}">
        <p14:creationId xmlns:p14="http://schemas.microsoft.com/office/powerpoint/2010/main" val="41910508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Reporting the item </a:t>
            </a:r>
          </a:p>
        </p:txBody>
      </p:sp>
      <p:sp>
        <p:nvSpPr>
          <p:cNvPr id="3" name="Content Placeholder 2"/>
          <p:cNvSpPr>
            <a:spLocks noGrp="1"/>
          </p:cNvSpPr>
          <p:nvPr>
            <p:ph idx="1"/>
          </p:nvPr>
        </p:nvSpPr>
        <p:spPr/>
        <p:txBody>
          <a:bodyPr/>
          <a:lstStyle/>
          <a:p>
            <a:pPr>
              <a:buFontTx/>
              <a:buChar char="-"/>
            </a:pPr>
            <a:r>
              <a:rPr lang="en-PH" dirty="0" smtClean="0"/>
              <a:t>Take </a:t>
            </a:r>
            <a:r>
              <a:rPr lang="en-PH" dirty="0"/>
              <a:t>action to fix what you can – if the ‘fix’ is obvious and it is safe to do so or </a:t>
            </a:r>
            <a:endParaRPr lang="en-PH" dirty="0" smtClean="0"/>
          </a:p>
          <a:p>
            <a:pPr>
              <a:buFontTx/>
              <a:buChar char="-"/>
            </a:pPr>
            <a:r>
              <a:rPr lang="en-PH" dirty="0" smtClean="0"/>
              <a:t> </a:t>
            </a:r>
            <a:r>
              <a:rPr lang="en-PH" dirty="0"/>
              <a:t>Report it. </a:t>
            </a:r>
          </a:p>
        </p:txBody>
      </p:sp>
    </p:spTree>
    <p:extLst>
      <p:ext uri="{BB962C8B-B14F-4D97-AF65-F5344CB8AC3E}">
        <p14:creationId xmlns:p14="http://schemas.microsoft.com/office/powerpoint/2010/main" val="34915003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a:t>If you cannot fix the problem, you should: </a:t>
            </a:r>
          </a:p>
        </p:txBody>
      </p:sp>
      <p:sp>
        <p:nvSpPr>
          <p:cNvPr id="3" name="Content Placeholder 2"/>
          <p:cNvSpPr>
            <a:spLocks noGrp="1"/>
          </p:cNvSpPr>
          <p:nvPr>
            <p:ph idx="1"/>
          </p:nvPr>
        </p:nvSpPr>
        <p:spPr>
          <a:xfrm>
            <a:off x="457200" y="1600200"/>
            <a:ext cx="8229600" cy="4997152"/>
          </a:xfrm>
        </p:spPr>
        <p:txBody>
          <a:bodyPr>
            <a:normAutofit fontScale="92500" lnSpcReduction="10000"/>
          </a:bodyPr>
          <a:lstStyle/>
          <a:p>
            <a:pPr marL="514350" indent="-514350">
              <a:buAutoNum type="arabicPeriod"/>
            </a:pPr>
            <a:r>
              <a:rPr lang="en-PH" dirty="0" smtClean="0"/>
              <a:t>Stop </a:t>
            </a:r>
            <a:r>
              <a:rPr lang="en-PH" dirty="0"/>
              <a:t>using the item if it is unsafe – turn it ‘off’ </a:t>
            </a:r>
            <a:endParaRPr lang="en-PH" dirty="0" smtClean="0"/>
          </a:p>
          <a:p>
            <a:pPr marL="514350" indent="-514350">
              <a:buAutoNum type="arabicPeriod"/>
            </a:pPr>
            <a:r>
              <a:rPr lang="en-PH" dirty="0" smtClean="0"/>
              <a:t> </a:t>
            </a:r>
            <a:r>
              <a:rPr lang="en-PH" dirty="0"/>
              <a:t>Remove the item from service  </a:t>
            </a:r>
            <a:endParaRPr lang="en-PH" dirty="0" smtClean="0"/>
          </a:p>
          <a:p>
            <a:pPr marL="514350" indent="-514350">
              <a:buAutoNum type="arabicPeriod"/>
            </a:pPr>
            <a:r>
              <a:rPr lang="en-PH" dirty="0" smtClean="0"/>
              <a:t> </a:t>
            </a:r>
            <a:r>
              <a:rPr lang="en-PH" dirty="0"/>
              <a:t>Tag the item as ‘Out of Service’ – to prevent others using it when it is broken </a:t>
            </a:r>
            <a:endParaRPr lang="en-PH" dirty="0" smtClean="0"/>
          </a:p>
          <a:p>
            <a:pPr marL="514350" indent="-514350">
              <a:buAutoNum type="arabicPeriod"/>
            </a:pPr>
            <a:r>
              <a:rPr lang="en-PH" dirty="0" smtClean="0"/>
              <a:t> </a:t>
            </a:r>
            <a:r>
              <a:rPr lang="en-PH" dirty="0"/>
              <a:t>Store locate the item in the appropriate Out of Service area – especially where the item poses a danger to users (such as electric shocks, jagged edges or unprotected blades) </a:t>
            </a:r>
            <a:endParaRPr lang="en-PH" dirty="0" smtClean="0"/>
          </a:p>
          <a:p>
            <a:pPr marL="514350" indent="-514350">
              <a:buAutoNum type="arabicPeriod"/>
            </a:pPr>
            <a:r>
              <a:rPr lang="en-PH" dirty="0" smtClean="0"/>
              <a:t> </a:t>
            </a:r>
            <a:r>
              <a:rPr lang="en-PH" dirty="0"/>
              <a:t>Complete appropriate ‘Report Fault’ paperwork and submit to the appropriate person or department</a:t>
            </a:r>
          </a:p>
        </p:txBody>
      </p:sp>
    </p:spTree>
    <p:extLst>
      <p:ext uri="{BB962C8B-B14F-4D97-AF65-F5344CB8AC3E}">
        <p14:creationId xmlns:p14="http://schemas.microsoft.com/office/powerpoint/2010/main" val="2801172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a:t>Who should the item be reported to? </a:t>
            </a:r>
          </a:p>
        </p:txBody>
      </p:sp>
      <p:sp>
        <p:nvSpPr>
          <p:cNvPr id="3" name="Content Placeholder 2"/>
          <p:cNvSpPr>
            <a:spLocks noGrp="1"/>
          </p:cNvSpPr>
          <p:nvPr>
            <p:ph idx="1"/>
          </p:nvPr>
        </p:nvSpPr>
        <p:spPr/>
        <p:txBody>
          <a:bodyPr/>
          <a:lstStyle/>
          <a:p>
            <a:pPr marL="514350" indent="-514350">
              <a:buAutoNum type="arabicPeriod"/>
            </a:pPr>
            <a:r>
              <a:rPr lang="en-PH" dirty="0" smtClean="0"/>
              <a:t>Your </a:t>
            </a:r>
            <a:r>
              <a:rPr lang="en-PH" dirty="0"/>
              <a:t>supervisor </a:t>
            </a:r>
            <a:endParaRPr lang="en-PH" dirty="0" smtClean="0"/>
          </a:p>
          <a:p>
            <a:pPr marL="514350" indent="-514350">
              <a:buAutoNum type="arabicPeriod"/>
            </a:pPr>
            <a:r>
              <a:rPr lang="en-PH" dirty="0" smtClean="0"/>
              <a:t> </a:t>
            </a:r>
            <a:r>
              <a:rPr lang="en-PH" dirty="0"/>
              <a:t>The manager </a:t>
            </a:r>
            <a:endParaRPr lang="en-PH" dirty="0" smtClean="0"/>
          </a:p>
          <a:p>
            <a:pPr marL="514350" indent="-514350">
              <a:buAutoNum type="arabicPeriod"/>
            </a:pPr>
            <a:r>
              <a:rPr lang="en-PH" dirty="0" smtClean="0"/>
              <a:t> </a:t>
            </a:r>
            <a:r>
              <a:rPr lang="en-PH" dirty="0"/>
              <a:t>The owner </a:t>
            </a:r>
            <a:endParaRPr lang="en-PH" dirty="0" smtClean="0"/>
          </a:p>
          <a:p>
            <a:pPr marL="514350" indent="-514350">
              <a:buAutoNum type="arabicPeriod"/>
            </a:pPr>
            <a:r>
              <a:rPr lang="en-PH" dirty="0" smtClean="0"/>
              <a:t> </a:t>
            </a:r>
            <a:r>
              <a:rPr lang="en-PH" dirty="0"/>
              <a:t>The Maintenance Department</a:t>
            </a:r>
          </a:p>
        </p:txBody>
      </p:sp>
    </p:spTree>
    <p:extLst>
      <p:ext uri="{BB962C8B-B14F-4D97-AF65-F5344CB8AC3E}">
        <p14:creationId xmlns:p14="http://schemas.microsoft.com/office/powerpoint/2010/main" val="11250974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42194"/>
          </a:xfrm>
        </p:spPr>
        <p:txBody>
          <a:bodyPr>
            <a:normAutofit fontScale="90000"/>
          </a:bodyPr>
          <a:lstStyle/>
          <a:p>
            <a:pPr algn="l"/>
            <a:r>
              <a:rPr lang="en-PH" dirty="0"/>
              <a:t>Identify unusual, suspicious or unruly behaviour and report to the appropriate person  </a:t>
            </a:r>
            <a:br>
              <a:rPr lang="en-PH" dirty="0"/>
            </a:br>
            <a:r>
              <a:rPr lang="en-PH" dirty="0" smtClean="0"/>
              <a:t> </a:t>
            </a:r>
            <a:endParaRPr lang="en-PH" dirty="0"/>
          </a:p>
        </p:txBody>
      </p:sp>
      <p:sp>
        <p:nvSpPr>
          <p:cNvPr id="3" name="Content Placeholder 2"/>
          <p:cNvSpPr>
            <a:spLocks noGrp="1"/>
          </p:cNvSpPr>
          <p:nvPr>
            <p:ph idx="1"/>
          </p:nvPr>
        </p:nvSpPr>
        <p:spPr>
          <a:xfrm>
            <a:off x="457200" y="1772816"/>
            <a:ext cx="8229600" cy="4353347"/>
          </a:xfrm>
        </p:spPr>
        <p:txBody>
          <a:bodyPr>
            <a:normAutofit/>
          </a:bodyPr>
          <a:lstStyle/>
          <a:p>
            <a:r>
              <a:rPr lang="en-PH" dirty="0" smtClean="0"/>
              <a:t>We should </a:t>
            </a:r>
            <a:r>
              <a:rPr lang="en-PH" dirty="0"/>
              <a:t>be alert to all of the following and report them when </a:t>
            </a:r>
            <a:r>
              <a:rPr lang="en-PH" dirty="0" smtClean="0"/>
              <a:t>we</a:t>
            </a:r>
            <a:r>
              <a:rPr lang="en-PH" dirty="0" smtClean="0"/>
              <a:t> </a:t>
            </a:r>
            <a:r>
              <a:rPr lang="en-PH" dirty="0"/>
              <a:t>identify </a:t>
            </a:r>
            <a:r>
              <a:rPr lang="en-PH" dirty="0" smtClean="0"/>
              <a:t>them:</a:t>
            </a:r>
          </a:p>
          <a:p>
            <a:pPr marL="514350" indent="-514350">
              <a:buAutoNum type="arabicPeriod"/>
            </a:pPr>
            <a:r>
              <a:rPr lang="en-PH" dirty="0" smtClean="0"/>
              <a:t>People </a:t>
            </a:r>
            <a:r>
              <a:rPr lang="en-PH" dirty="0"/>
              <a:t>discovered in areas where they have no right to be – for example: </a:t>
            </a:r>
            <a:endParaRPr lang="en-PH" dirty="0" smtClean="0"/>
          </a:p>
          <a:p>
            <a:pPr>
              <a:buFontTx/>
              <a:buChar char="-"/>
            </a:pPr>
            <a:r>
              <a:rPr lang="en-PH" dirty="0" smtClean="0"/>
              <a:t>A </a:t>
            </a:r>
            <a:r>
              <a:rPr lang="en-PH" dirty="0"/>
              <a:t>guest in a back-of-house area would be cause for concern </a:t>
            </a:r>
            <a:endParaRPr lang="en-PH" dirty="0" smtClean="0"/>
          </a:p>
          <a:p>
            <a:pPr>
              <a:buFontTx/>
              <a:buChar char="-"/>
            </a:pPr>
            <a:r>
              <a:rPr lang="en-PH" dirty="0" smtClean="0"/>
              <a:t> </a:t>
            </a:r>
            <a:r>
              <a:rPr lang="en-PH" dirty="0"/>
              <a:t>A guest in a front-of-house area when the area has not yet opened, or after it has closed </a:t>
            </a:r>
            <a:endParaRPr lang="en-PH" dirty="0"/>
          </a:p>
        </p:txBody>
      </p:sp>
    </p:spTree>
    <p:extLst>
      <p:ext uri="{BB962C8B-B14F-4D97-AF65-F5344CB8AC3E}">
        <p14:creationId xmlns:p14="http://schemas.microsoft.com/office/powerpoint/2010/main" val="2715204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lnSpcReduction="10000"/>
          </a:bodyPr>
          <a:lstStyle/>
          <a:p>
            <a:pPr marL="0" indent="0">
              <a:buNone/>
            </a:pPr>
            <a:r>
              <a:rPr lang="en-PH" dirty="0"/>
              <a:t>2. Drunken and disorderly people </a:t>
            </a:r>
            <a:endParaRPr lang="en-PH" dirty="0" smtClean="0"/>
          </a:p>
          <a:p>
            <a:pPr marL="0" indent="0">
              <a:buNone/>
            </a:pPr>
            <a:r>
              <a:rPr lang="en-PH" dirty="0"/>
              <a:t>Drunken and disorderly people can be identified by many factors some of which include: </a:t>
            </a:r>
            <a:endParaRPr lang="en-PH" dirty="0" smtClean="0"/>
          </a:p>
          <a:p>
            <a:pPr>
              <a:buFontTx/>
              <a:buChar char="-"/>
            </a:pPr>
            <a:r>
              <a:rPr lang="en-PH" dirty="0" smtClean="0"/>
              <a:t>Loud </a:t>
            </a:r>
            <a:r>
              <a:rPr lang="en-PH" dirty="0"/>
              <a:t>voices </a:t>
            </a:r>
            <a:endParaRPr lang="en-PH" dirty="0" smtClean="0"/>
          </a:p>
          <a:p>
            <a:pPr>
              <a:buFontTx/>
              <a:buChar char="-"/>
            </a:pPr>
            <a:r>
              <a:rPr lang="en-PH" dirty="0" smtClean="0"/>
              <a:t> </a:t>
            </a:r>
            <a:r>
              <a:rPr lang="en-PH" dirty="0"/>
              <a:t>Swearing </a:t>
            </a:r>
            <a:endParaRPr lang="en-PH" dirty="0" smtClean="0"/>
          </a:p>
          <a:p>
            <a:pPr>
              <a:buFontTx/>
              <a:buChar char="-"/>
            </a:pPr>
            <a:r>
              <a:rPr lang="en-PH" dirty="0" smtClean="0"/>
              <a:t> </a:t>
            </a:r>
            <a:r>
              <a:rPr lang="en-PH" dirty="0"/>
              <a:t>Arguing </a:t>
            </a:r>
            <a:endParaRPr lang="en-PH" dirty="0" smtClean="0"/>
          </a:p>
          <a:p>
            <a:pPr>
              <a:buFontTx/>
              <a:buChar char="-"/>
            </a:pPr>
            <a:r>
              <a:rPr lang="en-PH" dirty="0" smtClean="0"/>
              <a:t> </a:t>
            </a:r>
            <a:r>
              <a:rPr lang="en-PH" dirty="0"/>
              <a:t>Fighting </a:t>
            </a:r>
            <a:endParaRPr lang="en-PH" dirty="0" smtClean="0"/>
          </a:p>
          <a:p>
            <a:pPr>
              <a:buFontTx/>
              <a:buChar char="-"/>
            </a:pPr>
            <a:r>
              <a:rPr lang="en-PH" dirty="0"/>
              <a:t>Threatening others </a:t>
            </a:r>
            <a:endParaRPr lang="en-PH" dirty="0" smtClean="0"/>
          </a:p>
          <a:p>
            <a:pPr>
              <a:buFontTx/>
              <a:buChar char="-"/>
            </a:pPr>
            <a:r>
              <a:rPr lang="en-PH" dirty="0" smtClean="0"/>
              <a:t> </a:t>
            </a:r>
            <a:r>
              <a:rPr lang="en-PH" dirty="0"/>
              <a:t>Anti-social behaviour </a:t>
            </a:r>
            <a:endParaRPr lang="en-PH" dirty="0" smtClean="0"/>
          </a:p>
          <a:p>
            <a:pPr>
              <a:buFontTx/>
              <a:buChar char="-"/>
            </a:pPr>
            <a:r>
              <a:rPr lang="en-PH" dirty="0" smtClean="0"/>
              <a:t> </a:t>
            </a:r>
            <a:r>
              <a:rPr lang="en-PH" dirty="0"/>
              <a:t>Staggering </a:t>
            </a:r>
          </a:p>
        </p:txBody>
      </p:sp>
    </p:spTree>
    <p:extLst>
      <p:ext uri="{BB962C8B-B14F-4D97-AF65-F5344CB8AC3E}">
        <p14:creationId xmlns:p14="http://schemas.microsoft.com/office/powerpoint/2010/main" val="7423383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6264696"/>
          </a:xfrm>
        </p:spPr>
        <p:txBody>
          <a:bodyPr>
            <a:normAutofit fontScale="92500" lnSpcReduction="20000"/>
          </a:bodyPr>
          <a:lstStyle/>
          <a:p>
            <a:pPr marL="0" indent="0">
              <a:buNone/>
            </a:pPr>
            <a:r>
              <a:rPr lang="en-PH" dirty="0"/>
              <a:t>3. Loiterers - Stays in an area without making a purchase </a:t>
            </a:r>
            <a:endParaRPr lang="en-PH" dirty="0" smtClean="0"/>
          </a:p>
          <a:p>
            <a:pPr marL="0" indent="0">
              <a:buNone/>
            </a:pPr>
            <a:r>
              <a:rPr lang="en-PH" dirty="0" smtClean="0"/>
              <a:t>4</a:t>
            </a:r>
            <a:r>
              <a:rPr lang="en-PH" dirty="0"/>
              <a:t>. Barred customers - this means they prohibit them from coming into the premises. Barred customers may be banned for a day, a week, a longer period or permanently</a:t>
            </a:r>
            <a:r>
              <a:rPr lang="en-PH" dirty="0" smtClean="0"/>
              <a:t>.</a:t>
            </a:r>
          </a:p>
          <a:p>
            <a:pPr marL="0" indent="0">
              <a:buNone/>
            </a:pPr>
            <a:r>
              <a:rPr lang="en-PH" dirty="0"/>
              <a:t>5. Under-age people </a:t>
            </a:r>
            <a:endParaRPr lang="en-PH" dirty="0" smtClean="0"/>
          </a:p>
          <a:p>
            <a:pPr marL="0" indent="0">
              <a:buNone/>
            </a:pPr>
            <a:r>
              <a:rPr lang="en-PH" dirty="0"/>
              <a:t>6. Known vagrants or other undesirables -  a vagrant is someone who is homeless and or someone who lives by begging</a:t>
            </a:r>
            <a:r>
              <a:rPr lang="en-PH" dirty="0" smtClean="0"/>
              <a:t>.</a:t>
            </a:r>
          </a:p>
          <a:p>
            <a:pPr marL="0" indent="0">
              <a:buNone/>
            </a:pPr>
            <a:r>
              <a:rPr lang="en-PH" dirty="0"/>
              <a:t>7. Any people who are engaging in intimidating and or other anti-social </a:t>
            </a:r>
            <a:r>
              <a:rPr lang="en-PH" dirty="0" smtClean="0"/>
              <a:t>behaviour – swearing, fighting, using offensive language, </a:t>
            </a:r>
            <a:r>
              <a:rPr lang="en-PH" dirty="0" err="1" smtClean="0"/>
              <a:t>harrasment</a:t>
            </a:r>
            <a:endParaRPr lang="en-PH" dirty="0" smtClean="0"/>
          </a:p>
          <a:p>
            <a:pPr marL="0" indent="0">
              <a:buNone/>
            </a:pPr>
            <a:r>
              <a:rPr lang="en-PH" dirty="0"/>
              <a:t>8. Anyone breaching house rules – this may include ‘dress’ rules. </a:t>
            </a:r>
          </a:p>
        </p:txBody>
      </p:sp>
    </p:spTree>
    <p:extLst>
      <p:ext uri="{BB962C8B-B14F-4D97-AF65-F5344CB8AC3E}">
        <p14:creationId xmlns:p14="http://schemas.microsoft.com/office/powerpoint/2010/main" val="12021129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719064"/>
          </a:xfrm>
        </p:spPr>
        <p:txBody>
          <a:bodyPr>
            <a:normAutofit fontScale="90000"/>
          </a:bodyPr>
          <a:lstStyle/>
          <a:p>
            <a:r>
              <a:rPr lang="en-PH" dirty="0"/>
              <a:t>Use appropriate interpersonal skills when cleaning and tidying to optimise guest experience</a:t>
            </a:r>
          </a:p>
        </p:txBody>
      </p:sp>
      <p:sp>
        <p:nvSpPr>
          <p:cNvPr id="3" name="Content Placeholder 2"/>
          <p:cNvSpPr>
            <a:spLocks noGrp="1"/>
          </p:cNvSpPr>
          <p:nvPr>
            <p:ph idx="1"/>
          </p:nvPr>
        </p:nvSpPr>
        <p:spPr>
          <a:xfrm>
            <a:off x="457200" y="2276872"/>
            <a:ext cx="8229600" cy="4392488"/>
          </a:xfrm>
        </p:spPr>
        <p:txBody>
          <a:bodyPr>
            <a:normAutofit/>
          </a:bodyPr>
          <a:lstStyle/>
          <a:p>
            <a:pPr marL="0" indent="0">
              <a:buNone/>
            </a:pPr>
            <a:r>
              <a:rPr lang="en-PH" dirty="0"/>
              <a:t>Examples of appropriate interpersonal skills </a:t>
            </a:r>
            <a:endParaRPr lang="en-PH" dirty="0" smtClean="0"/>
          </a:p>
          <a:p>
            <a:pPr marL="514350" indent="-514350">
              <a:buAutoNum type="arabicPeriod"/>
            </a:pPr>
            <a:r>
              <a:rPr lang="en-PH" dirty="0" smtClean="0"/>
              <a:t>Greeting </a:t>
            </a:r>
            <a:r>
              <a:rPr lang="en-PH" dirty="0"/>
              <a:t>guests – as they arrive, walk in and sit down </a:t>
            </a:r>
            <a:endParaRPr lang="en-PH" dirty="0" smtClean="0"/>
          </a:p>
          <a:p>
            <a:pPr marL="514350" indent="-514350">
              <a:buAutoNum type="arabicPeriod"/>
            </a:pPr>
            <a:r>
              <a:rPr lang="en-PH" dirty="0" smtClean="0"/>
              <a:t> Fare welling </a:t>
            </a:r>
            <a:r>
              <a:rPr lang="en-PH" dirty="0"/>
              <a:t>guests – as they leave the premises, as they get up from their table or leave the bar </a:t>
            </a:r>
            <a:endParaRPr lang="en-PH" dirty="0" smtClean="0"/>
          </a:p>
          <a:p>
            <a:pPr marL="514350" indent="-514350">
              <a:buAutoNum type="arabicPeriod"/>
            </a:pPr>
            <a:r>
              <a:rPr lang="en-PH" dirty="0" smtClean="0"/>
              <a:t> </a:t>
            </a:r>
            <a:r>
              <a:rPr lang="en-PH" dirty="0"/>
              <a:t>Providing comprehensive and accurate product knowledge</a:t>
            </a:r>
          </a:p>
        </p:txBody>
      </p:sp>
    </p:spTree>
    <p:extLst>
      <p:ext uri="{BB962C8B-B14F-4D97-AF65-F5344CB8AC3E}">
        <p14:creationId xmlns:p14="http://schemas.microsoft.com/office/powerpoint/2010/main" val="23045415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648072"/>
          </a:xfrm>
        </p:spPr>
        <p:txBody>
          <a:bodyPr>
            <a:normAutofit fontScale="90000"/>
          </a:bodyPr>
          <a:lstStyle/>
          <a:p>
            <a:r>
              <a:rPr lang="en-PH" dirty="0"/>
              <a:t>product </a:t>
            </a:r>
            <a:r>
              <a:rPr lang="en-PH" dirty="0" smtClean="0"/>
              <a:t>knowledge includes the following</a:t>
            </a:r>
            <a:r>
              <a:rPr lang="en-PH" dirty="0"/>
              <a:t/>
            </a:r>
            <a:br>
              <a:rPr lang="en-PH" dirty="0"/>
            </a:br>
            <a:endParaRPr lang="en-PH" dirty="0"/>
          </a:p>
        </p:txBody>
      </p:sp>
      <p:sp>
        <p:nvSpPr>
          <p:cNvPr id="3" name="Content Placeholder 2"/>
          <p:cNvSpPr>
            <a:spLocks noGrp="1"/>
          </p:cNvSpPr>
          <p:nvPr>
            <p:ph idx="1"/>
          </p:nvPr>
        </p:nvSpPr>
        <p:spPr>
          <a:xfrm>
            <a:off x="457200" y="908720"/>
            <a:ext cx="8229600" cy="5217443"/>
          </a:xfrm>
        </p:spPr>
        <p:txBody>
          <a:bodyPr/>
          <a:lstStyle/>
          <a:p>
            <a:pPr marL="514350" indent="-514350">
              <a:buAutoNum type="arabicPeriod"/>
            </a:pPr>
            <a:r>
              <a:rPr lang="en-PH" dirty="0" smtClean="0"/>
              <a:t>Names </a:t>
            </a:r>
            <a:r>
              <a:rPr lang="en-PH" dirty="0"/>
              <a:t>of items available </a:t>
            </a:r>
            <a:endParaRPr lang="en-PH" dirty="0" smtClean="0"/>
          </a:p>
          <a:p>
            <a:pPr marL="514350" indent="-514350">
              <a:buAutoNum type="arabicPeriod"/>
            </a:pPr>
            <a:r>
              <a:rPr lang="en-PH" dirty="0" smtClean="0"/>
              <a:t> </a:t>
            </a:r>
            <a:r>
              <a:rPr lang="en-PH" dirty="0"/>
              <a:t>Cost </a:t>
            </a:r>
            <a:endParaRPr lang="en-PH" dirty="0" smtClean="0"/>
          </a:p>
          <a:p>
            <a:pPr marL="514350" indent="-514350">
              <a:buAutoNum type="arabicPeriod"/>
            </a:pPr>
            <a:r>
              <a:rPr lang="en-PH" dirty="0" smtClean="0"/>
              <a:t> </a:t>
            </a:r>
            <a:r>
              <a:rPr lang="en-PH" dirty="0"/>
              <a:t>Taste </a:t>
            </a:r>
            <a:endParaRPr lang="en-PH" dirty="0" smtClean="0"/>
          </a:p>
          <a:p>
            <a:pPr marL="514350" indent="-514350">
              <a:buAutoNum type="arabicPeriod"/>
            </a:pPr>
            <a:r>
              <a:rPr lang="en-PH" dirty="0" smtClean="0"/>
              <a:t> </a:t>
            </a:r>
            <a:r>
              <a:rPr lang="en-PH" dirty="0"/>
              <a:t>Serve size </a:t>
            </a:r>
            <a:endParaRPr lang="en-PH" dirty="0" smtClean="0"/>
          </a:p>
          <a:p>
            <a:pPr marL="514350" indent="-514350">
              <a:buAutoNum type="arabicPeriod"/>
            </a:pPr>
            <a:r>
              <a:rPr lang="en-PH" dirty="0" smtClean="0"/>
              <a:t> </a:t>
            </a:r>
            <a:r>
              <a:rPr lang="en-PH" dirty="0"/>
              <a:t>Ingredients </a:t>
            </a:r>
            <a:endParaRPr lang="en-PH" dirty="0" smtClean="0"/>
          </a:p>
          <a:p>
            <a:pPr marL="514350" indent="-514350">
              <a:buAutoNum type="arabicPeriod"/>
            </a:pPr>
            <a:r>
              <a:rPr lang="en-PH" dirty="0" smtClean="0"/>
              <a:t> </a:t>
            </a:r>
            <a:r>
              <a:rPr lang="en-PH" dirty="0"/>
              <a:t>Cooking style and time for menu items </a:t>
            </a:r>
            <a:endParaRPr lang="en-PH" dirty="0" smtClean="0"/>
          </a:p>
          <a:p>
            <a:pPr marL="514350" indent="-514350">
              <a:buAutoNum type="arabicPeriod"/>
            </a:pPr>
            <a:r>
              <a:rPr lang="en-PH" dirty="0" smtClean="0"/>
              <a:t> </a:t>
            </a:r>
            <a:r>
              <a:rPr lang="en-PH" dirty="0"/>
              <a:t>Brand names and alcohol content of drinks </a:t>
            </a:r>
            <a:endParaRPr lang="en-PH" dirty="0" smtClean="0"/>
          </a:p>
          <a:p>
            <a:pPr marL="514350" indent="-514350">
              <a:buAutoNum type="arabicPeriod"/>
            </a:pPr>
            <a:r>
              <a:rPr lang="en-PH" dirty="0" smtClean="0"/>
              <a:t> </a:t>
            </a:r>
            <a:r>
              <a:rPr lang="en-PH" dirty="0"/>
              <a:t>Options available for those who want to consume a non-alcoholic drink </a:t>
            </a:r>
          </a:p>
        </p:txBody>
      </p:sp>
    </p:spTree>
    <p:extLst>
      <p:ext uri="{BB962C8B-B14F-4D97-AF65-F5344CB8AC3E}">
        <p14:creationId xmlns:p14="http://schemas.microsoft.com/office/powerpoint/2010/main" val="41235971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lstStyle/>
          <a:p>
            <a:pPr marL="0" indent="0">
              <a:buNone/>
            </a:pPr>
            <a:r>
              <a:rPr lang="en-PH" dirty="0"/>
              <a:t>4. Supplying information to customers about a wide range of venue-specific topics such as: </a:t>
            </a:r>
            <a:endParaRPr lang="en-PH" dirty="0" smtClean="0"/>
          </a:p>
          <a:p>
            <a:pPr>
              <a:buFontTx/>
              <a:buChar char="-"/>
            </a:pPr>
            <a:r>
              <a:rPr lang="en-PH" dirty="0" smtClean="0"/>
              <a:t>Opening </a:t>
            </a:r>
            <a:r>
              <a:rPr lang="en-PH" dirty="0"/>
              <a:t>and closing times and days </a:t>
            </a:r>
            <a:endParaRPr lang="en-PH" dirty="0" smtClean="0"/>
          </a:p>
          <a:p>
            <a:pPr>
              <a:buFontTx/>
              <a:buChar char="-"/>
            </a:pPr>
            <a:r>
              <a:rPr lang="en-PH" dirty="0" smtClean="0"/>
              <a:t> </a:t>
            </a:r>
            <a:r>
              <a:rPr lang="en-PH" dirty="0"/>
              <a:t>House policies </a:t>
            </a:r>
            <a:endParaRPr lang="en-PH" dirty="0" smtClean="0"/>
          </a:p>
          <a:p>
            <a:pPr>
              <a:buFontTx/>
              <a:buChar char="-"/>
            </a:pPr>
            <a:r>
              <a:rPr lang="en-PH" dirty="0" smtClean="0"/>
              <a:t> </a:t>
            </a:r>
            <a:r>
              <a:rPr lang="en-PH" dirty="0"/>
              <a:t>Facilities available </a:t>
            </a:r>
            <a:endParaRPr lang="en-PH" dirty="0" smtClean="0"/>
          </a:p>
          <a:p>
            <a:pPr>
              <a:buFontTx/>
              <a:buChar char="-"/>
            </a:pPr>
            <a:r>
              <a:rPr lang="en-PH" dirty="0" smtClean="0"/>
              <a:t> </a:t>
            </a:r>
            <a:r>
              <a:rPr lang="en-PH" dirty="0"/>
              <a:t>Methods of payment accepted </a:t>
            </a:r>
          </a:p>
        </p:txBody>
      </p:sp>
    </p:spTree>
    <p:extLst>
      <p:ext uri="{BB962C8B-B14F-4D97-AF65-F5344CB8AC3E}">
        <p14:creationId xmlns:p14="http://schemas.microsoft.com/office/powerpoint/2010/main" val="7013171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92500" lnSpcReduction="10000"/>
          </a:bodyPr>
          <a:lstStyle/>
          <a:p>
            <a:pPr marL="0" indent="0">
              <a:buNone/>
            </a:pPr>
            <a:r>
              <a:rPr lang="en-PH" dirty="0"/>
              <a:t>5. Selling skills </a:t>
            </a:r>
            <a:endParaRPr lang="en-PH" dirty="0" smtClean="0"/>
          </a:p>
          <a:p>
            <a:pPr>
              <a:buFontTx/>
              <a:buChar char="-"/>
            </a:pPr>
            <a:r>
              <a:rPr lang="en-PH" dirty="0" smtClean="0"/>
              <a:t>Have </a:t>
            </a:r>
            <a:r>
              <a:rPr lang="en-PH" dirty="0"/>
              <a:t>sufficient product knowledge to enable you to make intelligent and relevant recommendations in response to an identified need </a:t>
            </a:r>
            <a:endParaRPr lang="en-PH" dirty="0" smtClean="0"/>
          </a:p>
          <a:p>
            <a:pPr>
              <a:buFontTx/>
              <a:buChar char="-"/>
            </a:pPr>
            <a:r>
              <a:rPr lang="en-PH" dirty="0" smtClean="0"/>
              <a:t> </a:t>
            </a:r>
            <a:r>
              <a:rPr lang="en-PH" dirty="0"/>
              <a:t>Suggest products and services in response to questions asked by guests </a:t>
            </a:r>
            <a:endParaRPr lang="en-PH" dirty="0" smtClean="0"/>
          </a:p>
          <a:p>
            <a:pPr>
              <a:buFontTx/>
              <a:buChar char="-"/>
            </a:pPr>
            <a:r>
              <a:rPr lang="en-PH" dirty="0" smtClean="0"/>
              <a:t> </a:t>
            </a:r>
            <a:r>
              <a:rPr lang="en-PH" dirty="0"/>
              <a:t>Take appropriate opportunities to promote ‘other’ products and services in accordance with responsible service of alcohol guidelines, and in accordance with house rules (such as to avoid placing pressure on customers to buy) </a:t>
            </a:r>
          </a:p>
        </p:txBody>
      </p:sp>
    </p:spTree>
    <p:extLst>
      <p:ext uri="{BB962C8B-B14F-4D97-AF65-F5344CB8AC3E}">
        <p14:creationId xmlns:p14="http://schemas.microsoft.com/office/powerpoint/2010/main" val="39310750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lstStyle/>
          <a:p>
            <a:pPr marL="0" indent="0">
              <a:buNone/>
            </a:pPr>
            <a:r>
              <a:rPr lang="en-PH" dirty="0"/>
              <a:t>6. Assisting guests </a:t>
            </a:r>
            <a:endParaRPr lang="en-PH" dirty="0" smtClean="0"/>
          </a:p>
          <a:p>
            <a:pPr>
              <a:buFontTx/>
              <a:buChar char="-"/>
            </a:pPr>
            <a:r>
              <a:rPr lang="en-PH" dirty="0" smtClean="0"/>
              <a:t>Directing </a:t>
            </a:r>
            <a:r>
              <a:rPr lang="en-PH" dirty="0"/>
              <a:t>them to internal locations within the venue </a:t>
            </a:r>
            <a:endParaRPr lang="en-PH" dirty="0" smtClean="0"/>
          </a:p>
          <a:p>
            <a:pPr>
              <a:buFontTx/>
              <a:buChar char="-"/>
            </a:pPr>
            <a:r>
              <a:rPr lang="en-PH" dirty="0" smtClean="0"/>
              <a:t> </a:t>
            </a:r>
            <a:r>
              <a:rPr lang="en-PH" dirty="0"/>
              <a:t>Giving directions to local destinations and attractions </a:t>
            </a:r>
            <a:endParaRPr lang="en-PH" dirty="0" smtClean="0"/>
          </a:p>
          <a:p>
            <a:pPr>
              <a:buFontTx/>
              <a:buChar char="-"/>
            </a:pPr>
            <a:r>
              <a:rPr lang="en-PH" dirty="0" smtClean="0"/>
              <a:t> </a:t>
            </a:r>
            <a:r>
              <a:rPr lang="en-PH" dirty="0"/>
              <a:t>Helping them with luggage </a:t>
            </a:r>
            <a:endParaRPr lang="en-PH" dirty="0" smtClean="0"/>
          </a:p>
          <a:p>
            <a:pPr>
              <a:buFontTx/>
              <a:buChar char="-"/>
            </a:pPr>
            <a:r>
              <a:rPr lang="en-PH" dirty="0" smtClean="0"/>
              <a:t> </a:t>
            </a:r>
            <a:r>
              <a:rPr lang="en-PH" dirty="0"/>
              <a:t>Making bookings at the venue for guests such as dining rooms/restaurants, spa facilities, sports areas, accommodation </a:t>
            </a:r>
          </a:p>
        </p:txBody>
      </p:sp>
    </p:spTree>
    <p:extLst>
      <p:ext uri="{BB962C8B-B14F-4D97-AF65-F5344CB8AC3E}">
        <p14:creationId xmlns:p14="http://schemas.microsoft.com/office/powerpoint/2010/main" val="25638526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lstStyle/>
          <a:p>
            <a:pPr marL="0" indent="0">
              <a:buNone/>
            </a:pPr>
            <a:r>
              <a:rPr lang="en-PH" dirty="0"/>
              <a:t>7. Arranging for supplementary assistance from other staff to help the guests – this may be necessary when: </a:t>
            </a:r>
            <a:endParaRPr lang="en-PH" dirty="0" smtClean="0"/>
          </a:p>
          <a:p>
            <a:pPr>
              <a:buFontTx/>
              <a:buChar char="-"/>
            </a:pPr>
            <a:r>
              <a:rPr lang="en-PH" dirty="0" smtClean="0"/>
              <a:t>You </a:t>
            </a:r>
            <a:r>
              <a:rPr lang="en-PH" dirty="0"/>
              <a:t>do not know the answer to their question </a:t>
            </a:r>
          </a:p>
          <a:p>
            <a:pPr>
              <a:buFontTx/>
              <a:buChar char="-"/>
            </a:pPr>
            <a:r>
              <a:rPr lang="en-PH" dirty="0" smtClean="0"/>
              <a:t>The </a:t>
            </a:r>
            <a:r>
              <a:rPr lang="en-PH" dirty="0"/>
              <a:t>topic being discussed is outside your personal scope of authority to deal with </a:t>
            </a:r>
            <a:endParaRPr lang="en-PH" dirty="0" smtClean="0"/>
          </a:p>
          <a:p>
            <a:pPr>
              <a:buFontTx/>
              <a:buChar char="-"/>
            </a:pPr>
            <a:r>
              <a:rPr lang="en-PH" dirty="0" smtClean="0"/>
              <a:t> </a:t>
            </a:r>
            <a:r>
              <a:rPr lang="en-PH" dirty="0"/>
              <a:t>You are engaged in activity which prevents you providing the patron with the assistance they are seeking/need</a:t>
            </a:r>
          </a:p>
        </p:txBody>
      </p:sp>
    </p:spTree>
    <p:extLst>
      <p:ext uri="{BB962C8B-B14F-4D97-AF65-F5344CB8AC3E}">
        <p14:creationId xmlns:p14="http://schemas.microsoft.com/office/powerpoint/2010/main" val="39843244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Why apply these skills? </a:t>
            </a:r>
          </a:p>
        </p:txBody>
      </p:sp>
      <p:sp>
        <p:nvSpPr>
          <p:cNvPr id="3" name="Content Placeholder 2"/>
          <p:cNvSpPr>
            <a:spLocks noGrp="1"/>
          </p:cNvSpPr>
          <p:nvPr>
            <p:ph idx="1"/>
          </p:nvPr>
        </p:nvSpPr>
        <p:spPr/>
        <p:txBody>
          <a:bodyPr>
            <a:normAutofit fontScale="92500" lnSpcReduction="10000"/>
          </a:bodyPr>
          <a:lstStyle/>
          <a:p>
            <a:r>
              <a:rPr lang="en-PH" dirty="0"/>
              <a:t>It is important to apply appropriate interpersonal skills in order to: </a:t>
            </a:r>
            <a:endParaRPr lang="en-PH" dirty="0" smtClean="0"/>
          </a:p>
          <a:p>
            <a:pPr marL="514350" indent="-514350">
              <a:buAutoNum type="arabicPeriod"/>
            </a:pPr>
            <a:r>
              <a:rPr lang="en-PH" dirty="0" smtClean="0"/>
              <a:t>Meet </a:t>
            </a:r>
            <a:r>
              <a:rPr lang="en-PH" dirty="0"/>
              <a:t>guest expectations </a:t>
            </a:r>
            <a:endParaRPr lang="en-PH" dirty="0" smtClean="0"/>
          </a:p>
          <a:p>
            <a:pPr marL="514350" indent="-514350">
              <a:buAutoNum type="arabicPeriod"/>
            </a:pPr>
            <a:r>
              <a:rPr lang="en-PH" dirty="0" smtClean="0"/>
              <a:t> </a:t>
            </a:r>
            <a:r>
              <a:rPr lang="en-PH" dirty="0"/>
              <a:t>Respect the guests and demonstrate their value to the venue </a:t>
            </a:r>
            <a:endParaRPr lang="en-PH" dirty="0" smtClean="0"/>
          </a:p>
          <a:p>
            <a:pPr marL="514350" indent="-514350">
              <a:buAutoNum type="arabicPeriod"/>
            </a:pPr>
            <a:r>
              <a:rPr lang="en-PH" dirty="0" smtClean="0"/>
              <a:t> </a:t>
            </a:r>
            <a:r>
              <a:rPr lang="en-PH" dirty="0"/>
              <a:t>Demonstrate customer focus </a:t>
            </a:r>
            <a:endParaRPr lang="en-PH" dirty="0" smtClean="0"/>
          </a:p>
          <a:p>
            <a:pPr marL="514350" indent="-514350">
              <a:buAutoNum type="arabicPeriod"/>
            </a:pPr>
            <a:r>
              <a:rPr lang="en-PH" dirty="0" smtClean="0"/>
              <a:t> </a:t>
            </a:r>
            <a:r>
              <a:rPr lang="en-PH" dirty="0"/>
              <a:t>Encourage repeat business </a:t>
            </a:r>
            <a:endParaRPr lang="en-PH" dirty="0" smtClean="0"/>
          </a:p>
          <a:p>
            <a:pPr marL="514350" indent="-514350">
              <a:buAutoNum type="arabicPeriod"/>
            </a:pPr>
            <a:r>
              <a:rPr lang="en-PH" dirty="0" smtClean="0"/>
              <a:t> </a:t>
            </a:r>
            <a:r>
              <a:rPr lang="en-PH" dirty="0"/>
              <a:t>Enhance/optimise the guest experience at the venue. </a:t>
            </a:r>
          </a:p>
        </p:txBody>
      </p:sp>
    </p:spTree>
    <p:extLst>
      <p:ext uri="{BB962C8B-B14F-4D97-AF65-F5344CB8AC3E}">
        <p14:creationId xmlns:p14="http://schemas.microsoft.com/office/powerpoint/2010/main" val="3779689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600</TotalTime>
  <Words>2782</Words>
  <Application>Microsoft Office PowerPoint</Application>
  <PresentationFormat>On-screen Show (4:3)</PresentationFormat>
  <Paragraphs>341</Paragraphs>
  <Slides>52</Slides>
  <Notes>0</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Office Theme</vt:lpstr>
      <vt:lpstr>Different kinds of Napkin folding</vt:lpstr>
      <vt:lpstr>The seven rules of service</vt:lpstr>
      <vt:lpstr>Proper handling of table appointments</vt:lpstr>
      <vt:lpstr>Different kinds of table service</vt:lpstr>
      <vt:lpstr>Plate technique</vt:lpstr>
      <vt:lpstr>Standards of table set up</vt:lpstr>
      <vt:lpstr>No no’s of service</vt:lpstr>
      <vt:lpstr>Restaurant Layout</vt:lpstr>
      <vt:lpstr>Understanding the customer according to:</vt:lpstr>
      <vt:lpstr>Demographic profile of the customer</vt:lpstr>
      <vt:lpstr>Factors to consider in a restaurant concept</vt:lpstr>
      <vt:lpstr>CHAPTER 2</vt:lpstr>
      <vt:lpstr>PowerPoint Presentation</vt:lpstr>
      <vt:lpstr>PowerPoint Presentation</vt:lpstr>
      <vt:lpstr>Beverage service equipment </vt:lpstr>
      <vt:lpstr>Food service equipment</vt:lpstr>
      <vt:lpstr>PowerPoint Presentation</vt:lpstr>
      <vt:lpstr>PowerPoint Presentation</vt:lpstr>
      <vt:lpstr>PowerPoint Presentation</vt:lpstr>
      <vt:lpstr>Factors impacting on cleaning service delivery</vt:lpstr>
      <vt:lpstr>PowerPoint Presentation</vt:lpstr>
      <vt:lpstr>PowerPoint Presentation</vt:lpstr>
      <vt:lpstr>PowerPoint Presentation</vt:lpstr>
      <vt:lpstr>Apply cleaning and tidying techniques to identified cleaning needs in beverage service areas </vt:lpstr>
      <vt:lpstr>PowerPoint Presentation</vt:lpstr>
      <vt:lpstr>Cleaning of specific items/areas </vt:lpstr>
      <vt:lpstr>PowerPoint Presentation</vt:lpstr>
      <vt:lpstr>PowerPoint Presentation</vt:lpstr>
      <vt:lpstr>Apply cleaning and tidying techniques to identified cleaning needs in food service areas Introduction </vt:lpstr>
      <vt:lpstr>What needs to be cleaned and sanitised? </vt:lpstr>
      <vt:lpstr>PowerPoint Presentation</vt:lpstr>
      <vt:lpstr>Specific requirements for cleaning food areas </vt:lpstr>
      <vt:lpstr>PowerPoint Presentation</vt:lpstr>
      <vt:lpstr>PowerPoint Presentation</vt:lpstr>
      <vt:lpstr>7-step process suitable for cleaning crockery and cutlery: </vt:lpstr>
      <vt:lpstr>Double bowl sinks </vt:lpstr>
      <vt:lpstr>Identify equipment and items requiring maintenance and report to the appropriate person </vt:lpstr>
      <vt:lpstr>Examples of items requiring maintenance </vt:lpstr>
      <vt:lpstr>How do you become aware of items requiring maintenance?  </vt:lpstr>
      <vt:lpstr>Reporting the item </vt:lpstr>
      <vt:lpstr>If you cannot fix the problem, you should: </vt:lpstr>
      <vt:lpstr>Who should the item be reported to? </vt:lpstr>
      <vt:lpstr>Identify unusual, suspicious or unruly behaviour and report to the appropriate person    </vt:lpstr>
      <vt:lpstr>PowerPoint Presentation</vt:lpstr>
      <vt:lpstr>PowerPoint Presentation</vt:lpstr>
      <vt:lpstr>Use appropriate interpersonal skills when cleaning and tidying to optimise guest experience</vt:lpstr>
      <vt:lpstr>product knowledge includes the following </vt:lpstr>
      <vt:lpstr>PowerPoint Presentation</vt:lpstr>
      <vt:lpstr>PowerPoint Presentation</vt:lpstr>
      <vt:lpstr>PowerPoint Presentation</vt:lpstr>
      <vt:lpstr>PowerPoint Presentation</vt:lpstr>
      <vt:lpstr>Why apply these skills?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Delma Ortega</dc:creator>
  <cp:lastModifiedBy>Delma Ortega</cp:lastModifiedBy>
  <cp:revision>24</cp:revision>
  <dcterms:created xsi:type="dcterms:W3CDTF">2018-08-08T04:26:03Z</dcterms:created>
  <dcterms:modified xsi:type="dcterms:W3CDTF">2018-08-21T14:17:04Z</dcterms:modified>
</cp:coreProperties>
</file>