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57" r:id="rId9"/>
    <p:sldId id="258" r:id="rId10"/>
    <p:sldId id="303" r:id="rId11"/>
    <p:sldId id="259" r:id="rId12"/>
    <p:sldId id="297" r:id="rId13"/>
    <p:sldId id="298" r:id="rId14"/>
    <p:sldId id="294" r:id="rId15"/>
    <p:sldId id="299" r:id="rId16"/>
    <p:sldId id="300" r:id="rId17"/>
    <p:sldId id="260" r:id="rId18"/>
    <p:sldId id="295" r:id="rId19"/>
    <p:sldId id="301" r:id="rId20"/>
    <p:sldId id="302" r:id="rId21"/>
    <p:sldId id="296" r:id="rId22"/>
    <p:sldId id="313" r:id="rId23"/>
    <p:sldId id="314" r:id="rId24"/>
    <p:sldId id="315" r:id="rId25"/>
    <p:sldId id="316" r:id="rId26"/>
    <p:sldId id="317" r:id="rId27"/>
    <p:sldId id="318" r:id="rId28"/>
    <p:sldId id="261" r:id="rId29"/>
    <p:sldId id="264" r:id="rId30"/>
    <p:sldId id="262" r:id="rId31"/>
    <p:sldId id="265" r:id="rId32"/>
    <p:sldId id="263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86" r:id="rId42"/>
    <p:sldId id="274" r:id="rId43"/>
    <p:sldId id="275" r:id="rId44"/>
    <p:sldId id="276" r:id="rId45"/>
    <p:sldId id="277" r:id="rId46"/>
    <p:sldId id="278" r:id="rId47"/>
    <p:sldId id="312" r:id="rId48"/>
    <p:sldId id="279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287" r:id="rId58"/>
    <p:sldId id="288" r:id="rId59"/>
    <p:sldId id="289" r:id="rId60"/>
    <p:sldId id="290" r:id="rId61"/>
    <p:sldId id="291" r:id="rId62"/>
    <p:sldId id="292" r:id="rId63"/>
    <p:sldId id="293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8EFFC-5FE0-4DD4-B2AF-03B090E046D8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5ED5D-2382-402E-BE0E-0766BEC0EBA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7552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 err="1" smtClean="0"/>
              <a:t>Commisary</a:t>
            </a:r>
            <a:r>
              <a:rPr lang="en-PH" dirty="0" smtClean="0"/>
              <a:t> for the</a:t>
            </a:r>
            <a:r>
              <a:rPr lang="en-PH" baseline="0" dirty="0" smtClean="0"/>
              <a:t> preparation of fruits and vegetables , portion sizes</a:t>
            </a:r>
          </a:p>
          <a:p>
            <a:r>
              <a:rPr lang="en-PH" baseline="0" dirty="0" smtClean="0"/>
              <a:t>Butchery for meat</a:t>
            </a:r>
          </a:p>
          <a:p>
            <a:r>
              <a:rPr lang="en-PH" baseline="0" dirty="0" smtClean="0"/>
              <a:t>Hot bulk kitchen – stocks, all pre cook, advanced cooking preparation</a:t>
            </a:r>
          </a:p>
          <a:p>
            <a:r>
              <a:rPr lang="en-PH" baseline="0" dirty="0" smtClean="0"/>
              <a:t>Sea food – all kinds of sea food preparation</a:t>
            </a:r>
          </a:p>
          <a:p>
            <a:r>
              <a:rPr lang="en-PH" dirty="0" smtClean="0"/>
              <a:t>Cold kitchen preparing for</a:t>
            </a:r>
            <a:r>
              <a:rPr lang="en-PH" baseline="0" dirty="0" smtClean="0"/>
              <a:t> appetizer, fruit desserts,  all kinds of salad where they get from </a:t>
            </a:r>
            <a:r>
              <a:rPr lang="en-PH" baseline="0" dirty="0" err="1" smtClean="0"/>
              <a:t>commisary</a:t>
            </a:r>
            <a:endParaRPr lang="en-PH" baseline="0" dirty="0" smtClean="0"/>
          </a:p>
          <a:p>
            <a:r>
              <a:rPr lang="en-PH" baseline="0" dirty="0" smtClean="0"/>
              <a:t>Main hot kitchen – all the pre prepared food is being done from the hot main kitchen</a:t>
            </a:r>
          </a:p>
          <a:p>
            <a:r>
              <a:rPr lang="en-PH" baseline="0" dirty="0" smtClean="0"/>
              <a:t>Special cuisine for </a:t>
            </a:r>
            <a:r>
              <a:rPr lang="en-PH" baseline="0" dirty="0" err="1" smtClean="0"/>
              <a:t>chinese</a:t>
            </a:r>
            <a:r>
              <a:rPr lang="en-PH" baseline="0" dirty="0" smtClean="0"/>
              <a:t> foods</a:t>
            </a:r>
          </a:p>
          <a:p>
            <a:r>
              <a:rPr lang="en-PH" baseline="0" dirty="0" smtClean="0"/>
              <a:t>Butchery meat portions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D5ED5D-2382-402E-BE0E-0766BEC0EBA7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6401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85D2A19-59A7-4E40-82BD-0F5AB9DA72D9}" type="datetimeFigureOut">
              <a:rPr lang="en-PH" smtClean="0"/>
              <a:t>03/02/2020</a:t>
            </a:fld>
            <a:endParaRPr lang="en-PH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8C38CE2-AE12-47C7-BB98-30533E71D4CD}" type="slidenum">
              <a:rPr lang="en-PH" smtClean="0"/>
              <a:t>‹#›</a:t>
            </a:fld>
            <a:endParaRPr lang="en-PH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 smtClean="0"/>
              <a:t>BANQUET AND CATERING MANAGEMENT</a:t>
            </a:r>
            <a:endParaRPr lang="en-P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PH" dirty="0" smtClean="0"/>
              <a:t>DELMA B. ORTEGA</a:t>
            </a:r>
          </a:p>
          <a:p>
            <a:r>
              <a:rPr lang="en-PH" dirty="0" smtClean="0"/>
              <a:t>MAE-EM</a:t>
            </a:r>
          </a:p>
          <a:p>
            <a:r>
              <a:rPr lang="en-PH" dirty="0" smtClean="0"/>
              <a:t>ASST PROF IV</a:t>
            </a:r>
          </a:p>
          <a:p>
            <a:r>
              <a:rPr lang="en-PH" dirty="0" smtClean="0"/>
              <a:t>ppt1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2630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Definition of terms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2800" b="1" dirty="0" smtClean="0"/>
              <a:t>Catering </a:t>
            </a:r>
            <a:r>
              <a:rPr lang="en-US" sz="2800" dirty="0" smtClean="0"/>
              <a:t>- </a:t>
            </a:r>
            <a:r>
              <a:rPr lang="en-US" sz="2800" dirty="0"/>
              <a:t>is the prearranged service of food and drinks to clients for different occasions.</a:t>
            </a:r>
            <a:endParaRPr lang="en-PH" sz="2800" dirty="0"/>
          </a:p>
          <a:p>
            <a:pPr marL="0" indent="0">
              <a:buNone/>
              <a:defRPr/>
            </a:pPr>
            <a:r>
              <a:rPr lang="en-US" sz="2800" dirty="0"/>
              <a:t>  -  usually done by prearranged contract – food and drink provided at a certain cost to a specific number of people. </a:t>
            </a:r>
            <a:endParaRPr lang="en-PH" sz="2800" dirty="0"/>
          </a:p>
          <a:p>
            <a:pPr marL="0" indent="0">
              <a:buNone/>
              <a:defRPr/>
            </a:pPr>
            <a:r>
              <a:rPr lang="en-US" sz="2000" dirty="0"/>
              <a:t>  </a:t>
            </a:r>
            <a:r>
              <a:rPr lang="en-US" sz="2800" dirty="0"/>
              <a:t>– </a:t>
            </a:r>
            <a:r>
              <a:rPr lang="en-US" sz="2800" dirty="0" smtClean="0"/>
              <a:t>it means bringing the food and service to the guest/s preferred </a:t>
            </a:r>
          </a:p>
          <a:p>
            <a:pPr marL="0" indent="0">
              <a:buNone/>
              <a:defRPr/>
            </a:pPr>
            <a:r>
              <a:rPr lang="en-US" sz="2800" dirty="0"/>
              <a:t>  </a:t>
            </a:r>
            <a:r>
              <a:rPr lang="en-US" sz="2800" dirty="0" smtClean="0"/>
              <a:t> - it pertains to the services for an event  but in a venue chosen by client which could be his own house, office or</a:t>
            </a:r>
            <a:endParaRPr lang="en-PH" sz="28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0420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Caterer</a:t>
            </a:r>
            <a:r>
              <a:rPr lang="en-US" sz="2800" dirty="0"/>
              <a:t> </a:t>
            </a:r>
            <a:r>
              <a:rPr lang="en-US" sz="2800" dirty="0" smtClean="0"/>
              <a:t>- </a:t>
            </a:r>
            <a:r>
              <a:rPr lang="en-US" sz="2800" dirty="0"/>
              <a:t>is a person who provide catering services to number of people.</a:t>
            </a:r>
            <a:endParaRPr lang="en-PH" sz="2800" dirty="0"/>
          </a:p>
          <a:p>
            <a:pPr marL="0" indent="0">
              <a:buNone/>
            </a:pPr>
            <a:r>
              <a:rPr lang="en-PH" dirty="0" smtClean="0"/>
              <a:t>                - they bundle a package of complementary tangible products and intangible services depending on the clients budget.</a:t>
            </a:r>
          </a:p>
          <a:p>
            <a:pPr marL="0" indent="0">
              <a:buNone/>
            </a:pPr>
            <a:r>
              <a:rPr lang="en-PH" b="1" dirty="0" smtClean="0"/>
              <a:t>Intangible services             Tangible products</a:t>
            </a:r>
          </a:p>
          <a:p>
            <a:pPr marL="0" indent="0"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1. comfort                            1. food</a:t>
            </a:r>
          </a:p>
          <a:p>
            <a:pPr marL="0" indent="0"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2. emotional security         2.  beverages</a:t>
            </a:r>
          </a:p>
          <a:p>
            <a:pPr marL="0" indent="0">
              <a:buNone/>
              <a:defRPr/>
            </a:pPr>
            <a:r>
              <a:rPr lang="en-PH" sz="2800" dirty="0" smtClean="0"/>
              <a:t> 3. hygiene and sanitation</a:t>
            </a:r>
            <a:endParaRPr lang="en-PH" sz="2800" dirty="0"/>
          </a:p>
          <a:p>
            <a:pPr marL="0" indent="0"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4. safety</a:t>
            </a:r>
            <a:endParaRPr lang="en-PH" sz="2800" dirty="0"/>
          </a:p>
          <a:p>
            <a:pPr marL="0" indent="0"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5. efficiency</a:t>
            </a:r>
            <a:endParaRPr lang="en-PH" sz="2800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2602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2400" b="1" dirty="0" smtClean="0"/>
              <a:t>CLIENT/CUSTOMER</a:t>
            </a:r>
          </a:p>
          <a:p>
            <a:pPr marL="0" indent="0">
              <a:buNone/>
              <a:defRPr/>
            </a:pPr>
            <a:r>
              <a:rPr lang="en-US" sz="2400" b="1" dirty="0"/>
              <a:t> </a:t>
            </a:r>
            <a:r>
              <a:rPr lang="en-US" sz="2400" b="1" dirty="0" smtClean="0"/>
              <a:t>           </a:t>
            </a:r>
            <a:r>
              <a:rPr lang="en-US" sz="2400" dirty="0" smtClean="0"/>
              <a:t> </a:t>
            </a:r>
            <a:r>
              <a:rPr lang="en-US" sz="2400" dirty="0"/>
              <a:t>– </a:t>
            </a:r>
            <a:r>
              <a:rPr lang="en-US" sz="2400" dirty="0" smtClean="0"/>
              <a:t>a person or organization using the services of a caterer </a:t>
            </a:r>
          </a:p>
          <a:p>
            <a:pPr marL="0" indent="0">
              <a:buNone/>
              <a:defRPr/>
            </a:pPr>
            <a:r>
              <a:rPr lang="en-US" sz="2400" dirty="0" smtClean="0"/>
              <a:t>             - they are the reason why the business exists</a:t>
            </a:r>
          </a:p>
          <a:p>
            <a:pPr marL="0" indent="0">
              <a:buNone/>
              <a:defRPr/>
            </a:pPr>
            <a:r>
              <a:rPr lang="en-US" sz="2400" b="1" dirty="0"/>
              <a:t>ACCOMMODATORS </a:t>
            </a:r>
            <a:endParaRPr lang="en-US" sz="2400" b="1" dirty="0" smtClean="0"/>
          </a:p>
          <a:p>
            <a:pPr marL="0" indent="0">
              <a:buNone/>
              <a:defRPr/>
            </a:pPr>
            <a:r>
              <a:rPr lang="en-US" sz="2400" b="1" dirty="0"/>
              <a:t> </a:t>
            </a:r>
            <a:r>
              <a:rPr lang="en-US" sz="2400" b="1" dirty="0" smtClean="0"/>
              <a:t>             -  </a:t>
            </a:r>
            <a:r>
              <a:rPr lang="en-US" sz="2400" dirty="0"/>
              <a:t>are person with special skills in cooking, baking, and serving. Usually, the client provides for the facilities, food materials and equipment. </a:t>
            </a:r>
            <a:endParaRPr lang="en-PH" sz="2400" dirty="0"/>
          </a:p>
          <a:p>
            <a:pPr marL="0" indent="0">
              <a:buNone/>
              <a:defRPr/>
            </a:pPr>
            <a:endParaRPr lang="en-PH" sz="2400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8582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CATERING MANAGEMENT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  </a:t>
            </a:r>
            <a:r>
              <a:rPr lang="en-US" sz="2400" dirty="0" smtClean="0"/>
              <a:t>– the task of planning, organizing, influencing, and controlling each activity involved in the preparation and delivery of food and beverages to any related services at a competitive, profitable price that meets and exceeds the customers perception of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/>
              <a:t>CATERING </a:t>
            </a:r>
            <a:r>
              <a:rPr lang="en-US" sz="2400" b="1" dirty="0"/>
              <a:t>CONTROL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  </a:t>
            </a:r>
            <a:r>
              <a:rPr lang="en-US" sz="2400" dirty="0" smtClean="0"/>
              <a:t>– understanding and controlling all aspects of kitchen production as a method of controlling the catering operation.   </a:t>
            </a:r>
            <a:endParaRPr lang="en-PH" sz="24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9541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PH" b="1" dirty="0"/>
              <a:t>BANQUET </a:t>
            </a:r>
            <a:endParaRPr lang="en-PH" b="1" dirty="0" smtClean="0"/>
          </a:p>
          <a:p>
            <a:pPr marL="0" indent="0">
              <a:buNone/>
            </a:pPr>
            <a:r>
              <a:rPr lang="en-PH" dirty="0" smtClean="0"/>
              <a:t>         - is a food and beverage service at a specific time and place, to a given number of people, to an agreed menu and price. </a:t>
            </a:r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        - are special functions for social, professional and state occasions. </a:t>
            </a:r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         - require large halls with kitchens to provide quantity of foods and a banquet brigade who are skilled in the art of handling large bodies of people.</a:t>
            </a:r>
          </a:p>
          <a:p>
            <a:pPr marL="0" indent="0">
              <a:buNone/>
            </a:pPr>
            <a:r>
              <a:rPr lang="en-PH" b="1" dirty="0" smtClean="0"/>
              <a:t>Areas in kitchen where food is prepared</a:t>
            </a:r>
          </a:p>
          <a:p>
            <a:pPr marL="0" indent="0">
              <a:buNone/>
            </a:pPr>
            <a:r>
              <a:rPr lang="en-PH" b="1" dirty="0" smtClean="0"/>
              <a:t> </a:t>
            </a:r>
            <a:r>
              <a:rPr lang="en-PH" dirty="0" smtClean="0"/>
              <a:t>1.  bread and pastry 2.  hot bulk kitchen 3. commissary </a:t>
            </a:r>
          </a:p>
          <a:p>
            <a:pPr marL="0" indent="0">
              <a:buNone/>
            </a:pPr>
            <a:r>
              <a:rPr lang="en-PH" dirty="0" smtClean="0"/>
              <a:t>4. sea food 5.  cold kitchen, 6. main hot kitchen </a:t>
            </a:r>
          </a:p>
          <a:p>
            <a:pPr marL="0" indent="0">
              <a:buNone/>
            </a:pPr>
            <a:r>
              <a:rPr lang="en-PH" dirty="0" smtClean="0"/>
              <a:t>7. special cuisine 8. butchery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1304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476672"/>
            <a:ext cx="9036496" cy="63813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PH" sz="2800" b="1" dirty="0"/>
              <a:t>SOCIAL OCCASSIONS   PROFESSIONAL EVENTS      STATE AFFAIRS</a:t>
            </a:r>
          </a:p>
          <a:p>
            <a:pPr marL="0" indent="0">
              <a:buNone/>
            </a:pPr>
            <a:r>
              <a:rPr lang="en-PH" sz="2800" dirty="0"/>
              <a:t>Wedding receptions             </a:t>
            </a:r>
            <a:r>
              <a:rPr lang="en-PH" sz="2800" dirty="0" smtClean="0"/>
              <a:t>    </a:t>
            </a:r>
            <a:r>
              <a:rPr lang="en-PH" sz="2800" dirty="0"/>
              <a:t>conferences                          state banquets</a:t>
            </a:r>
          </a:p>
          <a:p>
            <a:pPr marL="0" indent="0">
              <a:buNone/>
            </a:pPr>
            <a:r>
              <a:rPr lang="en-PH" sz="2800" dirty="0"/>
              <a:t>Birthday parties                    </a:t>
            </a:r>
            <a:r>
              <a:rPr lang="en-PH" sz="2800" dirty="0" smtClean="0"/>
              <a:t> </a:t>
            </a:r>
            <a:r>
              <a:rPr lang="en-PH" sz="2800" dirty="0"/>
              <a:t>convention         </a:t>
            </a:r>
            <a:r>
              <a:rPr lang="en-PH" sz="2800" dirty="0" smtClean="0"/>
              <a:t>diplomatic </a:t>
            </a:r>
            <a:r>
              <a:rPr lang="en-PH" sz="2800" dirty="0"/>
              <a:t>cocktails </a:t>
            </a:r>
            <a:r>
              <a:rPr lang="en-PH" sz="2800" dirty="0" smtClean="0"/>
              <a:t>dinners</a:t>
            </a:r>
            <a:endParaRPr lang="en-PH" sz="2800" dirty="0"/>
          </a:p>
          <a:p>
            <a:pPr marL="0" indent="0">
              <a:buNone/>
            </a:pPr>
            <a:r>
              <a:rPr lang="en-PH" sz="2800" dirty="0"/>
              <a:t>Cocktail parties                     </a:t>
            </a:r>
            <a:r>
              <a:rPr lang="en-PH" sz="2800" dirty="0" smtClean="0"/>
              <a:t>training </a:t>
            </a:r>
            <a:r>
              <a:rPr lang="en-PH" sz="2800" dirty="0"/>
              <a:t>programs</a:t>
            </a:r>
          </a:p>
          <a:p>
            <a:pPr marL="0" indent="0">
              <a:buNone/>
            </a:pPr>
            <a:r>
              <a:rPr lang="en-PH" sz="2800" dirty="0"/>
              <a:t>Balls                                       meetings of professional bodies</a:t>
            </a:r>
          </a:p>
          <a:p>
            <a:pPr marL="0" indent="0">
              <a:buNone/>
            </a:pPr>
            <a:r>
              <a:rPr lang="en-PH" sz="2800" dirty="0"/>
              <a:t>Alumni get together             </a:t>
            </a:r>
            <a:r>
              <a:rPr lang="en-PH" sz="2800" dirty="0" smtClean="0"/>
              <a:t>board </a:t>
            </a:r>
            <a:r>
              <a:rPr lang="en-PH" sz="2800" dirty="0"/>
              <a:t>meetings</a:t>
            </a:r>
          </a:p>
          <a:p>
            <a:pPr marL="0" indent="0">
              <a:buNone/>
            </a:pPr>
            <a:r>
              <a:rPr lang="en-PH" sz="2800" dirty="0"/>
              <a:t>Annual company staff socials    dealer meetings</a:t>
            </a:r>
          </a:p>
          <a:p>
            <a:pPr marL="0" indent="0">
              <a:buNone/>
            </a:pPr>
            <a:r>
              <a:rPr lang="en-PH" sz="2800" dirty="0"/>
              <a:t>Theme nights                         </a:t>
            </a:r>
            <a:r>
              <a:rPr lang="en-PH" sz="2800" dirty="0" smtClean="0"/>
              <a:t>exhibitions</a:t>
            </a:r>
            <a:endParaRPr lang="en-PH" sz="2800" dirty="0"/>
          </a:p>
          <a:p>
            <a:pPr marL="0" indent="0">
              <a:buNone/>
            </a:pPr>
            <a:r>
              <a:rPr lang="en-PH" sz="2800" dirty="0"/>
              <a:t>Religious and national              fashion shows</a:t>
            </a:r>
          </a:p>
          <a:p>
            <a:pPr marL="0" indent="0">
              <a:buNone/>
            </a:pPr>
            <a:r>
              <a:rPr lang="en-PH" sz="2800" dirty="0"/>
              <a:t>Celebrations                           product launches</a:t>
            </a:r>
          </a:p>
          <a:p>
            <a:pPr marL="0" indent="0">
              <a:buNone/>
            </a:pPr>
            <a:r>
              <a:rPr lang="en-PH" sz="2800" dirty="0"/>
              <a:t>New year parties                    education fairs</a:t>
            </a:r>
          </a:p>
          <a:p>
            <a:pPr marL="0" indent="0">
              <a:buNone/>
            </a:pPr>
            <a:r>
              <a:rPr lang="en-PH" sz="2800" dirty="0"/>
              <a:t>Dinner theatres                       employment fairs</a:t>
            </a:r>
          </a:p>
          <a:p>
            <a:pPr marL="0" indent="0">
              <a:buNone/>
            </a:pPr>
            <a:r>
              <a:rPr lang="en-PH" sz="2800" dirty="0"/>
              <a:t>Sorority and fraternity luncheons   </a:t>
            </a:r>
          </a:p>
          <a:p>
            <a:pPr marL="0" indent="0">
              <a:buNone/>
            </a:pPr>
            <a:r>
              <a:rPr lang="en-PH" sz="2800" dirty="0"/>
              <a:t>Graduation parties                    ceremonial events</a:t>
            </a:r>
          </a:p>
          <a:p>
            <a:pPr marL="0" indent="0">
              <a:buNone/>
            </a:pPr>
            <a:r>
              <a:rPr lang="en-PH" sz="2800" dirty="0"/>
              <a:t>College faculty and staff dinners     political meets</a:t>
            </a:r>
          </a:p>
          <a:p>
            <a:pPr marL="0" indent="0">
              <a:buNone/>
            </a:pPr>
            <a:r>
              <a:rPr lang="en-PH" sz="2800" dirty="0"/>
              <a:t>High school proms</a:t>
            </a:r>
          </a:p>
          <a:p>
            <a:pPr marL="0" indent="0">
              <a:buNone/>
            </a:pPr>
            <a:r>
              <a:rPr lang="en-PH" sz="2800" dirty="0"/>
              <a:t>reunions</a:t>
            </a:r>
          </a:p>
          <a:p>
            <a:pPr marL="0" indent="0">
              <a:buNone/>
            </a:pPr>
            <a:r>
              <a:rPr lang="en-PH" dirty="0" smtClean="0"/>
              <a:t> 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15033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22413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Helvetica" pitchFamily="34" charset="0"/>
              </a:rPr>
              <a:t>Businesses which may need to select a catering system:</a:t>
            </a:r>
            <a:br>
              <a:rPr lang="en-US" sz="3600" dirty="0">
                <a:latin typeface="Helvetica" pitchFamily="34" charset="0"/>
              </a:rPr>
            </a:br>
            <a:endParaRPr lang="en-PH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/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AU" sz="2800" dirty="0" smtClean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 smtClean="0">
                <a:latin typeface="Helvetica" pitchFamily="34" charset="0"/>
              </a:rPr>
              <a:t>Hotels</a:t>
            </a:r>
            <a:r>
              <a:rPr lang="en-AU" sz="2800" dirty="0">
                <a:latin typeface="Helvetica" pitchFamily="34" charset="0"/>
              </a:rPr>
              <a:t>, taverns and bars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Restaurants and cafes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Private, sporting and other clubs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School, universities and other educational institutions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Hospitals, hospices and aged care facilities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1626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83832"/>
          </a:xfrm>
        </p:spPr>
        <p:txBody>
          <a:bodyPr/>
          <a:lstStyle/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Workplace cafeterias and canteens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Military/defence catering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Prisons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Residential caterers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In-flight and other transport catering</a:t>
            </a: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r>
              <a:rPr lang="en-AU" sz="2800" dirty="0">
                <a:latin typeface="Helvetica" pitchFamily="34" charset="0"/>
              </a:rPr>
              <a:t>Meetings, Incentives, Conferences/conventions, and Exhibitions (MICE) catering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0983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15880"/>
          </a:xfrm>
        </p:spPr>
        <p:txBody>
          <a:bodyPr/>
          <a:lstStyle/>
          <a:p>
            <a:r>
              <a:rPr lang="en-US" sz="2400" dirty="0">
                <a:latin typeface="Helvetica" pitchFamily="34" charset="0"/>
              </a:rPr>
              <a:t>Catering system’ = </a:t>
            </a:r>
            <a:r>
              <a:rPr lang="en-AU" sz="2400" dirty="0">
                <a:latin typeface="Helvetica" pitchFamily="34" charset="0"/>
              </a:rPr>
              <a:t>an overall food production and food service system where all components are integrated into a cohesive, effective and efficient operation. </a:t>
            </a:r>
            <a:endParaRPr lang="en-AU" sz="2400" dirty="0" smtClean="0">
              <a:latin typeface="Helvetica" pitchFamily="34" charset="0"/>
            </a:endParaRPr>
          </a:p>
          <a:p>
            <a:pPr marL="0" indent="0">
              <a:buNone/>
            </a:pPr>
            <a:r>
              <a:rPr lang="en-AU" sz="2400" dirty="0" smtClean="0">
                <a:latin typeface="Helvetica" pitchFamily="34" charset="0"/>
              </a:rPr>
              <a:t>5 kinds of catering System</a:t>
            </a:r>
          </a:p>
          <a:p>
            <a:pPr marL="457200" indent="-457200">
              <a:buAutoNum type="arabicPeriod"/>
            </a:pPr>
            <a:r>
              <a:rPr lang="en-AU" sz="2400" dirty="0" smtClean="0">
                <a:latin typeface="Helvetica" pitchFamily="34" charset="0"/>
              </a:rPr>
              <a:t>Conventional</a:t>
            </a:r>
          </a:p>
          <a:p>
            <a:pPr marL="457200" indent="-457200">
              <a:buAutoNum type="arabicPeriod"/>
            </a:pPr>
            <a:r>
              <a:rPr lang="en-AU" sz="2400" dirty="0" smtClean="0">
                <a:latin typeface="Helvetica" pitchFamily="34" charset="0"/>
              </a:rPr>
              <a:t>Cook chill</a:t>
            </a:r>
          </a:p>
          <a:p>
            <a:pPr marL="457200" indent="-457200">
              <a:buAutoNum type="arabicPeriod"/>
            </a:pPr>
            <a:r>
              <a:rPr lang="en-AU" sz="2400" dirty="0" smtClean="0">
                <a:latin typeface="Helvetica" pitchFamily="34" charset="0"/>
              </a:rPr>
              <a:t>Cook freeze</a:t>
            </a:r>
          </a:p>
          <a:p>
            <a:pPr marL="457200" indent="-457200">
              <a:buAutoNum type="arabicPeriod"/>
            </a:pPr>
            <a:r>
              <a:rPr lang="en-AU" sz="2400" dirty="0" smtClean="0">
                <a:latin typeface="Helvetica" pitchFamily="34" charset="0"/>
              </a:rPr>
              <a:t>Commissary</a:t>
            </a:r>
          </a:p>
          <a:p>
            <a:pPr marL="457200" indent="-457200">
              <a:buAutoNum type="arabicPeriod"/>
            </a:pPr>
            <a:r>
              <a:rPr lang="en-AU" sz="2400" dirty="0" smtClean="0">
                <a:latin typeface="Helvetica" pitchFamily="34" charset="0"/>
              </a:rPr>
              <a:t>Assemble serve</a:t>
            </a:r>
          </a:p>
          <a:p>
            <a:pPr marL="457200" indent="-457200">
              <a:buAutoNum type="arabicPeriod"/>
            </a:pPr>
            <a:endParaRPr lang="en-AU" sz="2400" dirty="0" smtClean="0">
              <a:latin typeface="Helvetica" pitchFamily="34" charset="0"/>
            </a:endParaRPr>
          </a:p>
          <a:p>
            <a:pPr marL="457200" indent="-457200">
              <a:buAutoNum type="arabicPeriod"/>
            </a:pPr>
            <a:endParaRPr lang="en-AU" sz="2400" dirty="0">
              <a:latin typeface="Helvetica" pitchFamily="34" charset="0"/>
            </a:endParaRP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8278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048672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800" dirty="0" smtClean="0">
                <a:latin typeface="Helvetica" pitchFamily="34" charset="0"/>
              </a:rPr>
              <a:t>1. </a:t>
            </a:r>
            <a:r>
              <a:rPr lang="en-US" sz="3800" b="1" dirty="0" smtClean="0">
                <a:latin typeface="Helvetica" pitchFamily="34" charset="0"/>
              </a:rPr>
              <a:t>‘Conventional</a:t>
            </a:r>
            <a:r>
              <a:rPr lang="en-US" sz="2800" dirty="0" smtClean="0">
                <a:latin typeface="Helvetica" pitchFamily="34" charset="0"/>
              </a:rPr>
              <a:t>’- </a:t>
            </a:r>
            <a:r>
              <a:rPr lang="en-AU" sz="2800" dirty="0"/>
              <a:t>a system where food is cooked fresh and served at the </a:t>
            </a:r>
            <a:r>
              <a:rPr lang="en-AU" sz="2800" dirty="0" smtClean="0"/>
              <a:t>time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800" dirty="0"/>
              <a:t> </a:t>
            </a:r>
            <a:r>
              <a:rPr lang="en-AU" sz="2800" dirty="0" smtClean="0"/>
              <a:t>                            - cook and serve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800" dirty="0"/>
              <a:t> </a:t>
            </a:r>
            <a:r>
              <a:rPr lang="en-AU" sz="2800" dirty="0" smtClean="0"/>
              <a:t>                            - not all the ingredients used to produce menu items are fresh/raw ingredients.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800" dirty="0"/>
              <a:t> </a:t>
            </a:r>
            <a:r>
              <a:rPr lang="en-AU" sz="2800" dirty="0" smtClean="0"/>
              <a:t>                            - the temperature of hot food after cooking for service should be 60’C or above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3800" dirty="0" smtClean="0"/>
              <a:t>2 kinds of service under conventional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lphaLcPeriod"/>
            </a:pPr>
            <a:r>
              <a:rPr lang="en-AU" sz="2800" dirty="0" smtClean="0"/>
              <a:t>Centralised – food service occurs at or adjacent to the food production area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lphaLcPeriod"/>
            </a:pPr>
            <a:r>
              <a:rPr lang="en-AU" sz="2800" dirty="0" smtClean="0"/>
              <a:t>Decentralised – where the food is transported (by tray, trolley, conveyor belt) to some remote/other location within the same building/business where it is either plated or served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800" dirty="0"/>
              <a:t> </a:t>
            </a:r>
            <a:r>
              <a:rPr lang="en-AU" sz="2800" dirty="0" smtClean="0"/>
              <a:t>              </a:t>
            </a:r>
            <a:endParaRPr lang="en-AU" sz="2800" dirty="0"/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800" dirty="0">
              <a:latin typeface="Helvetica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1200"/>
              </a:spcAft>
            </a:pPr>
            <a:endParaRPr lang="en-US" sz="2800" dirty="0">
              <a:latin typeface="Helvetica" pitchFamily="34" charset="0"/>
            </a:endParaRPr>
          </a:p>
          <a:p>
            <a:endParaRPr lang="en-AU" sz="2800" dirty="0">
              <a:latin typeface="Helvetica" pitchFamily="34" charset="0"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3866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Five advantages of the conventional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805888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AutoNum type="arabicPeriod"/>
            </a:pPr>
            <a:r>
              <a:rPr lang="en-PH" dirty="0" smtClean="0"/>
              <a:t>It produces food of a high quality</a:t>
            </a:r>
          </a:p>
          <a:p>
            <a:pPr marL="514350" indent="-514350">
              <a:buAutoNum type="arabicPeriod"/>
            </a:pPr>
            <a:r>
              <a:rPr lang="en-PH" dirty="0" smtClean="0"/>
              <a:t>The public/customers are well-</a:t>
            </a:r>
            <a:r>
              <a:rPr lang="en-PH" dirty="0"/>
              <a:t>d</a:t>
            </a:r>
            <a:r>
              <a:rPr lang="en-PH" dirty="0" smtClean="0"/>
              <a:t>isposed towards traditional kitchens which cook and serve food in this way.</a:t>
            </a:r>
          </a:p>
          <a:p>
            <a:pPr marL="514350" indent="-514350">
              <a:buAutoNum type="arabicPeriod"/>
            </a:pPr>
            <a:r>
              <a:rPr lang="en-PH" dirty="0" smtClean="0"/>
              <a:t>Most cooks, chefs and kitchen staff are familiar with the operations of a conventional kitchen so there is a wider pool of trained and experienced staff and less need to train staff</a:t>
            </a:r>
          </a:p>
          <a:p>
            <a:pPr marL="514350" indent="-514350">
              <a:buAutoNum type="arabicPeriod"/>
            </a:pPr>
            <a:r>
              <a:rPr lang="en-PH" dirty="0" smtClean="0"/>
              <a:t>The system provides opportunity to be more flexible and responsive to immediate need</a:t>
            </a:r>
          </a:p>
          <a:p>
            <a:pPr marL="514350" indent="-514350">
              <a:buAutoNum type="arabicPeriod"/>
            </a:pPr>
            <a:r>
              <a:rPr lang="en-PH" dirty="0" smtClean="0"/>
              <a:t>Holding/refrigeration and/or freezer space for food is minimised</a:t>
            </a:r>
          </a:p>
          <a:p>
            <a:pPr marL="514350" indent="-514350">
              <a:buAutoNum type="arabicPeriod"/>
            </a:pPr>
            <a:r>
              <a:rPr lang="en-PH" dirty="0" smtClean="0"/>
              <a:t>The equipment available in an existing conventional kitchen can often be used to prepare/produce a large variety of different menu items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3649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5</a:t>
            </a:r>
            <a:r>
              <a:rPr lang="en-PH" dirty="0" smtClean="0"/>
              <a:t> disadvantages of the conventional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PH" dirty="0" smtClean="0"/>
              <a:t>Higher food costs per unit produced</a:t>
            </a:r>
          </a:p>
          <a:p>
            <a:pPr marL="514350" indent="-514350">
              <a:buAutoNum type="arabicPeriod"/>
            </a:pPr>
            <a:r>
              <a:rPr lang="en-PH" dirty="0" smtClean="0"/>
              <a:t>Consistency of quality is sometimes an issue</a:t>
            </a:r>
          </a:p>
          <a:p>
            <a:pPr marL="514350" indent="-514350">
              <a:buAutoNum type="arabicPeriod"/>
            </a:pPr>
            <a:r>
              <a:rPr lang="en-PH" dirty="0" smtClean="0"/>
              <a:t>Higher labour costs</a:t>
            </a:r>
          </a:p>
          <a:p>
            <a:pPr marL="514350" indent="-514350">
              <a:buAutoNum type="arabicPeriod"/>
            </a:pPr>
            <a:r>
              <a:rPr lang="en-PH" dirty="0" smtClean="0"/>
              <a:t>Potential need for extra equipment</a:t>
            </a:r>
          </a:p>
          <a:p>
            <a:pPr marL="514350" indent="-514350">
              <a:buAutoNum type="arabicPeriod"/>
            </a:pPr>
            <a:r>
              <a:rPr lang="en-PH" dirty="0" smtClean="0"/>
              <a:t>Potential for reduced food safety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23367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76064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PH" dirty="0" smtClean="0"/>
              <a:t>2</a:t>
            </a:r>
            <a:r>
              <a:rPr lang="en-PH" b="1" dirty="0" smtClean="0"/>
              <a:t>. </a:t>
            </a:r>
            <a:r>
              <a:rPr lang="en-US" sz="6000" b="1" dirty="0">
                <a:latin typeface="Helvetica" pitchFamily="34" charset="0"/>
              </a:rPr>
              <a:t>‘Cook-chill</a:t>
            </a:r>
            <a:r>
              <a:rPr lang="en-US" sz="6000" dirty="0">
                <a:latin typeface="Helvetica" pitchFamily="34" charset="0"/>
              </a:rPr>
              <a:t>’-  </a:t>
            </a:r>
            <a:r>
              <a:rPr lang="en-AU" sz="6000" dirty="0"/>
              <a:t>where food is cooked and stored under refrigeration </a:t>
            </a:r>
            <a:r>
              <a:rPr lang="en-AU" sz="6000" b="1" dirty="0"/>
              <a:t>for short-term or long-term </a:t>
            </a:r>
            <a:r>
              <a:rPr lang="en-AU" sz="6000" b="1" dirty="0" smtClean="0"/>
              <a:t>storage.</a:t>
            </a:r>
          </a:p>
          <a:p>
            <a:pPr marL="0" indent="0">
              <a:buNone/>
            </a:pPr>
            <a:r>
              <a:rPr lang="en-AU" sz="6000" dirty="0"/>
              <a:t> </a:t>
            </a:r>
            <a:r>
              <a:rPr lang="en-AU" sz="6000" dirty="0" smtClean="0"/>
              <a:t>                       - the temperature range for storing cooked food under refrigeration as part of the cook-chill catering system is </a:t>
            </a:r>
            <a:r>
              <a:rPr lang="en-AU" sz="6000" b="1" dirty="0" smtClean="0"/>
              <a:t>-2’C to 0’C</a:t>
            </a:r>
          </a:p>
          <a:p>
            <a:pPr marL="0" indent="0">
              <a:buNone/>
            </a:pPr>
            <a:r>
              <a:rPr lang="en-AU" sz="6000" dirty="0"/>
              <a:t> </a:t>
            </a:r>
            <a:r>
              <a:rPr lang="en-AU" sz="6000" dirty="0" smtClean="0"/>
              <a:t>                       - at least </a:t>
            </a:r>
            <a:r>
              <a:rPr lang="en-AU" sz="6000" b="1" dirty="0" smtClean="0"/>
              <a:t>7 weeks </a:t>
            </a:r>
            <a:r>
              <a:rPr lang="en-AU" sz="6000" dirty="0" smtClean="0"/>
              <a:t>the cooked food can be stored under refrigeration in the cook-chill system</a:t>
            </a:r>
          </a:p>
          <a:p>
            <a:pPr marL="0" indent="0">
              <a:buNone/>
            </a:pPr>
            <a:endParaRPr lang="en-AU" sz="6000" dirty="0"/>
          </a:p>
          <a:p>
            <a:pPr marL="0" indent="0">
              <a:buNone/>
            </a:pPr>
            <a:endParaRPr lang="en-AU" sz="6000" dirty="0" smtClean="0"/>
          </a:p>
          <a:p>
            <a:pPr marL="0" indent="0">
              <a:buNone/>
            </a:pPr>
            <a:endParaRPr lang="en-AU" sz="6000" dirty="0" smtClean="0"/>
          </a:p>
          <a:p>
            <a:pPr marL="0" indent="0">
              <a:buNone/>
            </a:pPr>
            <a:r>
              <a:rPr lang="en-AU" sz="6000" b="1" dirty="0" smtClean="0"/>
              <a:t>6 stages in the cook-chill catering system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Produces cook food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Packages cooked food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Rapidly chills cooked food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Stores the food under controlled refrigerated conditions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Re-heats the food as required</a:t>
            </a:r>
          </a:p>
          <a:p>
            <a:pPr marL="457200" indent="-457200">
              <a:buAutoNum type="arabicPeriod"/>
            </a:pPr>
            <a:r>
              <a:rPr lang="en-AU" sz="6000" dirty="0" smtClean="0"/>
              <a:t>Holds the food for plating and service</a:t>
            </a:r>
          </a:p>
          <a:p>
            <a:pPr marL="0" indent="0">
              <a:buNone/>
            </a:pPr>
            <a:endParaRPr lang="en-AU" sz="5100" dirty="0"/>
          </a:p>
          <a:p>
            <a:pPr marL="0" indent="0">
              <a:buNone/>
            </a:pPr>
            <a:r>
              <a:rPr lang="en-PH" sz="5100" dirty="0" smtClean="0"/>
              <a:t> </a:t>
            </a:r>
            <a:endParaRPr lang="en-PH" sz="5100" dirty="0"/>
          </a:p>
        </p:txBody>
      </p:sp>
    </p:spTree>
    <p:extLst>
      <p:ext uri="{BB962C8B-B14F-4D97-AF65-F5344CB8AC3E}">
        <p14:creationId xmlns:p14="http://schemas.microsoft.com/office/powerpoint/2010/main" val="1574049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Advantages of the ready-prepared(cook-chill or cook-freeze)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PH" dirty="0" smtClean="0"/>
              <a:t>Reduced costs</a:t>
            </a:r>
          </a:p>
          <a:p>
            <a:pPr marL="514350" indent="-514350">
              <a:buAutoNum type="arabicPeriod"/>
            </a:pPr>
            <a:r>
              <a:rPr lang="en-PH" dirty="0" smtClean="0"/>
              <a:t>Better yield from food items</a:t>
            </a:r>
          </a:p>
          <a:p>
            <a:pPr marL="514350" indent="-514350">
              <a:buAutoNum type="arabicPeriod"/>
            </a:pPr>
            <a:r>
              <a:rPr lang="en-PH" dirty="0" smtClean="0"/>
              <a:t>Addresses shortages of skilled labour</a:t>
            </a:r>
          </a:p>
          <a:p>
            <a:pPr marL="514350" indent="-514350">
              <a:buAutoNum type="arabicPeriod"/>
            </a:pPr>
            <a:r>
              <a:rPr lang="en-PH" dirty="0" smtClean="0"/>
              <a:t>Produces food of a consistent quality/standard</a:t>
            </a:r>
          </a:p>
          <a:p>
            <a:pPr marL="514350" indent="-514350">
              <a:buAutoNum type="arabicPeriod"/>
            </a:pPr>
            <a:r>
              <a:rPr lang="en-PH" dirty="0" smtClean="0"/>
              <a:t>Food service can occur/be available at any time</a:t>
            </a:r>
          </a:p>
          <a:p>
            <a:pPr marL="514350" indent="-514350">
              <a:buAutoNum type="arabicPeriod"/>
            </a:pPr>
            <a:r>
              <a:rPr lang="en-PH" dirty="0" smtClean="0"/>
              <a:t>This provides enormous flexibility in service times and enhances the ability to serve food “on demand’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3348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Disadvantages of the ready-prepared(cook-chill or cook-freeze)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PH" dirty="0" smtClean="0"/>
              <a:t>Adverse customer reaction/response</a:t>
            </a:r>
          </a:p>
          <a:p>
            <a:pPr marL="514350" indent="-514350">
              <a:buAutoNum type="arabicPeriod"/>
            </a:pPr>
            <a:r>
              <a:rPr lang="en-PH" dirty="0" smtClean="0"/>
              <a:t>Decreased levels of food quality</a:t>
            </a:r>
          </a:p>
          <a:p>
            <a:pPr marL="514350" indent="-514350">
              <a:buAutoNum type="arabicPeriod"/>
            </a:pPr>
            <a:r>
              <a:rPr lang="en-PH" dirty="0" smtClean="0"/>
              <a:t>Increased establishment costs</a:t>
            </a:r>
          </a:p>
          <a:p>
            <a:pPr marL="514350" indent="-514350">
              <a:buAutoNum type="arabicPeriod"/>
            </a:pPr>
            <a:r>
              <a:rPr lang="en-PH" dirty="0" smtClean="0"/>
              <a:t>Potential for limited/restricted menu choices</a:t>
            </a:r>
          </a:p>
          <a:p>
            <a:pPr marL="514350" indent="-514350">
              <a:buAutoNum type="arabicPeriod"/>
            </a:pPr>
            <a:r>
              <a:rPr lang="en-PH" dirty="0" smtClean="0"/>
              <a:t>Higher loss (or other damage) potential from an out-of-control food handling event</a:t>
            </a:r>
          </a:p>
          <a:p>
            <a:pPr marL="514350" indent="-514350">
              <a:buAutoNum type="arabicPeriod"/>
            </a:pPr>
            <a:r>
              <a:rPr lang="en-PH" dirty="0" smtClean="0"/>
              <a:t>Need to hire staff with specialist skills or train staff in work roles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72781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>
                <a:latin typeface="Helvetica" pitchFamily="34" charset="0"/>
              </a:rPr>
              <a:t>3. </a:t>
            </a:r>
            <a:r>
              <a:rPr lang="en-US" sz="2800" b="1" dirty="0" smtClean="0">
                <a:latin typeface="Helvetica" pitchFamily="34" charset="0"/>
              </a:rPr>
              <a:t>‘Cook-freeze</a:t>
            </a:r>
            <a:r>
              <a:rPr lang="en-US" sz="2800" dirty="0" smtClean="0">
                <a:latin typeface="Helvetica" pitchFamily="34" charset="0"/>
              </a:rPr>
              <a:t>’ - </a:t>
            </a:r>
            <a:r>
              <a:rPr lang="en-AU" sz="2800" dirty="0" smtClean="0"/>
              <a:t> </a:t>
            </a:r>
            <a:r>
              <a:rPr lang="en-AU" sz="2800" dirty="0"/>
              <a:t>where food is cooked and frozen for later re-</a:t>
            </a:r>
            <a:r>
              <a:rPr lang="en-AU" sz="2800" dirty="0" err="1"/>
              <a:t>thermalisation</a:t>
            </a:r>
            <a:r>
              <a:rPr lang="en-AU" sz="2800" dirty="0"/>
              <a:t> and </a:t>
            </a:r>
            <a:r>
              <a:rPr lang="en-AU" sz="2800" dirty="0" smtClean="0"/>
              <a:t>service</a:t>
            </a: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800" b="1" dirty="0" smtClean="0"/>
              <a:t>7 stages in the cook-freeze catering system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Produces food which is almost cooked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Packages cooked food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Rapidly freezes cooked food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Store the food under controlled freezer conditions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Requires thawing of frozen product(to0’C to 4’C) prior to re-heating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Re-heats the food as required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r>
              <a:rPr lang="en-AU" sz="2400" dirty="0" smtClean="0">
                <a:latin typeface="Helvetica" pitchFamily="34" charset="0"/>
              </a:rPr>
              <a:t>Holds the food for plating and service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AutoNum type="arabicPeriod"/>
            </a:pPr>
            <a:endParaRPr lang="en-US" sz="2800" dirty="0">
              <a:latin typeface="Helvetica" pitchFamily="34" charset="0"/>
            </a:endParaRPr>
          </a:p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endParaRPr lang="en-US" sz="2800" dirty="0">
              <a:latin typeface="Helvetica" pitchFamily="34" charset="0"/>
            </a:endParaRPr>
          </a:p>
          <a:p>
            <a:endParaRPr lang="en-AU" sz="2800" dirty="0"/>
          </a:p>
          <a:p>
            <a:endParaRPr lang="en-US" sz="2800" dirty="0">
              <a:latin typeface="Helvetica" pitchFamily="34" charset="0"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87540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31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Helvetica" pitchFamily="34" charset="0"/>
              </a:rPr>
              <a:t>4. </a:t>
            </a:r>
            <a:r>
              <a:rPr lang="en-US" sz="2400" b="1" dirty="0" smtClean="0">
                <a:latin typeface="Helvetica" pitchFamily="34" charset="0"/>
              </a:rPr>
              <a:t>‘Commissary</a:t>
            </a:r>
            <a:r>
              <a:rPr lang="en-US" sz="2400" dirty="0">
                <a:latin typeface="Helvetica" pitchFamily="34" charset="0"/>
              </a:rPr>
              <a:t>’ - </a:t>
            </a:r>
            <a:r>
              <a:rPr lang="en-AU" sz="2400" dirty="0"/>
              <a:t>featuring transportation of pre-prepared food to satellite kitchens for re-heating and </a:t>
            </a:r>
            <a:r>
              <a:rPr lang="en-AU" sz="2400" dirty="0" smtClean="0"/>
              <a:t>service</a:t>
            </a:r>
          </a:p>
          <a:p>
            <a:pPr marL="0" indent="0">
              <a:buNone/>
            </a:pPr>
            <a:r>
              <a:rPr lang="en-AU" sz="2400" dirty="0"/>
              <a:t> </a:t>
            </a:r>
            <a:r>
              <a:rPr lang="en-AU" sz="2400" dirty="0" smtClean="0"/>
              <a:t>                            - where food is produced in bulk in a central kitchen</a:t>
            </a:r>
          </a:p>
          <a:p>
            <a:pPr marL="0" indent="0">
              <a:buNone/>
            </a:pPr>
            <a:r>
              <a:rPr lang="en-AU" sz="2400" dirty="0"/>
              <a:t> </a:t>
            </a:r>
            <a:r>
              <a:rPr lang="en-AU" sz="2400" dirty="0" smtClean="0"/>
              <a:t>                             - where food is then distributed (usually hot/or cold but may be frozen) to other locations (satellite kitchens, or commissaries) remote from the main kitchen – food may be transported:</a:t>
            </a:r>
          </a:p>
          <a:p>
            <a:pPr marL="0" indent="0">
              <a:buNone/>
            </a:pPr>
            <a:r>
              <a:rPr lang="en-AU" sz="2400" dirty="0"/>
              <a:t> </a:t>
            </a:r>
            <a:r>
              <a:rPr lang="en-AU" sz="2400" dirty="0" smtClean="0"/>
              <a:t>                  a. in bulk</a:t>
            </a:r>
          </a:p>
          <a:p>
            <a:pPr marL="0" indent="0">
              <a:buNone/>
            </a:pPr>
            <a:r>
              <a:rPr lang="en-AU" sz="2400" dirty="0"/>
              <a:t> </a:t>
            </a:r>
            <a:r>
              <a:rPr lang="en-AU" sz="2400" dirty="0" smtClean="0"/>
              <a:t>                  b. portion controlled (individual/single serves) – pre-plated for service</a:t>
            </a:r>
            <a:endParaRPr lang="en-AU" sz="2400" dirty="0"/>
          </a:p>
          <a:p>
            <a:pPr marL="0" indent="0">
              <a:buNone/>
            </a:pPr>
            <a:endParaRPr lang="en-AU" sz="2400" dirty="0"/>
          </a:p>
          <a:p>
            <a:pPr>
              <a:buFont typeface="Arial" pitchFamily="34" charset="0"/>
              <a:buChar char="•"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8314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Advantages of commissary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en-PH" dirty="0" smtClean="0"/>
              <a:t>Central control of quality and standards</a:t>
            </a:r>
          </a:p>
          <a:p>
            <a:pPr marL="514350" indent="-514350">
              <a:buAutoNum type="arabicPeriod"/>
            </a:pPr>
            <a:r>
              <a:rPr lang="en-PH" dirty="0" smtClean="0"/>
              <a:t>Reduced need for skilled/high-cost staff in satellite kitchens</a:t>
            </a:r>
          </a:p>
          <a:p>
            <a:pPr marL="514350" indent="-514350">
              <a:buAutoNum type="arabicPeriod"/>
            </a:pPr>
            <a:r>
              <a:rPr lang="en-PH" dirty="0" smtClean="0"/>
              <a:t>Staff at the main kitchen will operate at high levels of productivity- helping reduce costs per unit </a:t>
            </a:r>
          </a:p>
          <a:p>
            <a:pPr marL="514350" indent="-514350">
              <a:buAutoNum type="arabicPeriod"/>
            </a:pPr>
            <a:r>
              <a:rPr lang="en-PH" dirty="0" smtClean="0"/>
              <a:t>High volume will bring a range of ‘economies of scale’</a:t>
            </a:r>
          </a:p>
          <a:p>
            <a:pPr marL="514350" indent="-514350">
              <a:buAutoNum type="arabicPeriod"/>
            </a:pPr>
            <a:r>
              <a:rPr lang="en-PH" dirty="0" smtClean="0"/>
              <a:t>No/little need for food processing/cooking equipment in satellite kitchens – may only be a need for storage, re-heating and service equipment</a:t>
            </a:r>
          </a:p>
          <a:p>
            <a:pPr marL="514350" indent="-514350">
              <a:buAutoNum type="arabicPeriod"/>
            </a:pPr>
            <a:r>
              <a:rPr lang="en-PH" dirty="0" smtClean="0"/>
              <a:t>Facilitates the operation of multiple outlets and new service points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Allows main kitchen to be built in an area where land and building costs are most competitive – as opposed to buying land and building a central kitchen in high-value geographical location 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32137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Disadvantages of commissary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PH" dirty="0" smtClean="0"/>
              <a:t>Quality related issues – food is not freshly cooked and decrease in food taste, appearance, food safety and nutritional content</a:t>
            </a:r>
          </a:p>
          <a:p>
            <a:pPr marL="514350" indent="-514350">
              <a:buAutoNum type="arabicPeriod"/>
            </a:pPr>
            <a:r>
              <a:rPr lang="en-PH" dirty="0" smtClean="0"/>
              <a:t>Only food produced by central kitchen – or foods bought-in fully prepared – can be offered</a:t>
            </a:r>
          </a:p>
          <a:p>
            <a:pPr marL="514350" indent="-514350">
              <a:buAutoNum type="arabicPeriod"/>
            </a:pPr>
            <a:r>
              <a:rPr lang="en-PH" dirty="0" smtClean="0"/>
              <a:t>Main kitchen requires highly skilled, highly competent staff</a:t>
            </a:r>
          </a:p>
          <a:p>
            <a:pPr marL="514350" indent="-514350">
              <a:buAutoNum type="arabicPeriod"/>
            </a:pPr>
            <a:r>
              <a:rPr lang="en-PH" dirty="0" smtClean="0"/>
              <a:t>Satellite kitchen cannot respond to individual customer demand or preferences- food is essentially presented/offered on a take it or leave it basis</a:t>
            </a:r>
          </a:p>
          <a:p>
            <a:pPr marL="514350" indent="-514350">
              <a:buAutoNum type="arabicPeriod"/>
            </a:pPr>
            <a:r>
              <a:rPr lang="en-PH" dirty="0" smtClean="0"/>
              <a:t>Need for safety protocols to be developed to cover transportation of food especially relating to:</a:t>
            </a:r>
          </a:p>
          <a:p>
            <a:pPr marL="0" indent="0">
              <a:buNone/>
            </a:pPr>
            <a:r>
              <a:rPr lang="en-PH" dirty="0" smtClean="0"/>
              <a:t>     a. Time temperature controls</a:t>
            </a:r>
          </a:p>
          <a:p>
            <a:pPr marL="0" indent="0">
              <a:buNone/>
            </a:pPr>
            <a:r>
              <a:rPr lang="en-PH" dirty="0" smtClean="0"/>
              <a:t>     b. Protection of food from contamination</a:t>
            </a:r>
          </a:p>
          <a:p>
            <a:pPr marL="0" indent="0">
              <a:buNone/>
            </a:pPr>
            <a:r>
              <a:rPr lang="en-PH" dirty="0" smtClean="0"/>
              <a:t>     c. Delivery schedules</a:t>
            </a:r>
          </a:p>
          <a:p>
            <a:pPr marL="0" indent="0">
              <a:buNone/>
            </a:pPr>
            <a:r>
              <a:rPr lang="en-PH" dirty="0" smtClean="0"/>
              <a:t>     d. Servicing/condition of the food transport vehicle</a:t>
            </a:r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    e. Actions of the delivery driver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45518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631904"/>
          </a:xfrm>
        </p:spPr>
        <p:txBody>
          <a:bodyPr/>
          <a:lstStyle/>
          <a:p>
            <a:pPr marL="0" indent="0">
              <a:buNone/>
            </a:pPr>
            <a:r>
              <a:rPr lang="en-PH" dirty="0" smtClean="0"/>
              <a:t>5. </a:t>
            </a:r>
            <a:r>
              <a:rPr lang="en-AU" sz="2800" b="1" dirty="0"/>
              <a:t>Assemble-serve</a:t>
            </a:r>
            <a:r>
              <a:rPr lang="en-AU" sz="2800" dirty="0"/>
              <a:t> – where pre-prepared food is portioned, plated and served: no cooking or other processing is required</a:t>
            </a:r>
            <a:r>
              <a:rPr lang="en-AU" sz="2800" dirty="0" smtClean="0"/>
              <a:t>.</a:t>
            </a:r>
          </a:p>
          <a:p>
            <a:pPr marL="0" indent="0">
              <a:buNone/>
            </a:pPr>
            <a:r>
              <a:rPr lang="en-AU" sz="2800" b="1" dirty="0" smtClean="0"/>
              <a:t>4 basic required in relation to pre-prepared menu items in the assemble serve catering system:</a:t>
            </a:r>
          </a:p>
          <a:p>
            <a:pPr marL="514350" indent="-514350">
              <a:buAutoNum type="arabicPeriod"/>
            </a:pPr>
            <a:r>
              <a:rPr lang="en-AU" sz="2800" dirty="0" smtClean="0"/>
              <a:t>Portioning</a:t>
            </a:r>
          </a:p>
          <a:p>
            <a:pPr marL="514350" indent="-514350">
              <a:buAutoNum type="arabicPeriod"/>
            </a:pPr>
            <a:r>
              <a:rPr lang="en-AU" sz="2800" dirty="0" smtClean="0"/>
              <a:t>Plating</a:t>
            </a:r>
          </a:p>
          <a:p>
            <a:pPr marL="514350" indent="-514350">
              <a:buAutoNum type="arabicPeriod"/>
            </a:pPr>
            <a:r>
              <a:rPr lang="en-AU" sz="2800" dirty="0" smtClean="0"/>
              <a:t>Re-heating</a:t>
            </a:r>
          </a:p>
          <a:p>
            <a:pPr marL="514350" indent="-514350">
              <a:buAutoNum type="arabicPeriod"/>
            </a:pPr>
            <a:r>
              <a:rPr lang="en-AU" sz="2800" dirty="0" smtClean="0"/>
              <a:t>service</a:t>
            </a:r>
            <a:endParaRPr lang="en-AU" sz="2800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50021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Catering/banquet brigade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b="1" dirty="0"/>
              <a:t>1. Director of Catering ( DOC ) </a:t>
            </a:r>
            <a:endParaRPr lang="en-PH" dirty="0"/>
          </a:p>
          <a:p>
            <a:r>
              <a:rPr lang="en-PH" dirty="0"/>
              <a:t>- Oversees all functions and creates menus </a:t>
            </a:r>
          </a:p>
          <a:p>
            <a:pPr>
              <a:buNone/>
            </a:pPr>
            <a:r>
              <a:rPr lang="en-PH" b="1" dirty="0"/>
              <a:t>2. Assistant Catering Director </a:t>
            </a:r>
            <a:endParaRPr lang="en-PH" dirty="0"/>
          </a:p>
          <a:p>
            <a:r>
              <a:rPr lang="en-PH" b="1" dirty="0"/>
              <a:t>- </a:t>
            </a:r>
            <a:r>
              <a:rPr lang="en-PH" dirty="0"/>
              <a:t>Services accounts and helps in marketing </a:t>
            </a:r>
          </a:p>
          <a:p>
            <a:pPr>
              <a:buNone/>
            </a:pPr>
            <a:r>
              <a:rPr lang="en-PH" b="1" dirty="0"/>
              <a:t>3. Catering Manager</a:t>
            </a:r>
            <a:endParaRPr lang="en-PH" dirty="0"/>
          </a:p>
          <a:p>
            <a:r>
              <a:rPr lang="en-PH" b="1" dirty="0"/>
              <a:t>- </a:t>
            </a:r>
            <a:r>
              <a:rPr lang="en-PH" dirty="0"/>
              <a:t>Maintains client contact </a:t>
            </a:r>
            <a:r>
              <a:rPr lang="en-PH" b="1" dirty="0"/>
              <a:t> </a:t>
            </a:r>
            <a:endParaRPr lang="en-PH" dirty="0"/>
          </a:p>
          <a:p>
            <a:pPr>
              <a:buNone/>
            </a:pPr>
            <a:r>
              <a:rPr lang="en-PH" b="1" dirty="0"/>
              <a:t>4. Catering Sales Manager </a:t>
            </a:r>
            <a:endParaRPr lang="en-PH" dirty="0"/>
          </a:p>
          <a:p>
            <a:r>
              <a:rPr lang="en-PH" b="1" dirty="0"/>
              <a:t>- </a:t>
            </a:r>
            <a:r>
              <a:rPr lang="en-PH" dirty="0"/>
              <a:t>Oversees sales efforts and administers sales office.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38066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87888"/>
          </a:xfrm>
        </p:spPr>
        <p:txBody>
          <a:bodyPr>
            <a:normAutofit/>
          </a:bodyPr>
          <a:lstStyle/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5. Catering Sales Representative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Involves in selling and handles inside and outside sales.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6. Director of Convention / Conference Service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 Oversees conference and conventions </a:t>
            </a:r>
            <a:r>
              <a:rPr lang="en-PH" dirty="0" err="1"/>
              <a:t>centers</a:t>
            </a:r>
            <a:endParaRPr lang="en-PH" dirty="0"/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7. Convention / Conference Service Managers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Handles room setup in hotels, conference </a:t>
            </a:r>
            <a:r>
              <a:rPr lang="en-PH" dirty="0" err="1"/>
              <a:t>centers</a:t>
            </a:r>
            <a:r>
              <a:rPr lang="en-PH" dirty="0"/>
              <a:t> and convention </a:t>
            </a:r>
            <a:r>
              <a:rPr lang="en-PH" dirty="0" err="1"/>
              <a:t>centers</a:t>
            </a:r>
            <a:r>
              <a:rPr lang="en-PH" dirty="0"/>
              <a:t>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8. Banquet Manager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Implements request of Director of Catering and supervises all functions in action.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017267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87888"/>
          </a:xfrm>
        </p:spPr>
        <p:txBody>
          <a:bodyPr>
            <a:normAutofit/>
          </a:bodyPr>
          <a:lstStyle/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9. Banquet Setup Manager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Supervises the banquet setup crew ( housemen ) orders tables, chairs and other room equipment / supervises teardown of an event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10. Assistant Banquet manager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reports to Banquet Manager; supervise table setting and decor.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11. Scheduler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Also known as diary clerk; enters bookings in the master log.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12. </a:t>
            </a:r>
            <a:r>
              <a:rPr lang="en-PH" b="1" dirty="0" err="1"/>
              <a:t>Maitre</a:t>
            </a:r>
            <a:r>
              <a:rPr lang="en-PH" b="1" dirty="0"/>
              <a:t> d’ Hotel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Floor manager and in – charge to all service persons.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11955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15880"/>
          </a:xfrm>
        </p:spPr>
        <p:txBody>
          <a:bodyPr>
            <a:normAutofit/>
          </a:bodyPr>
          <a:lstStyle/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13. Captain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In charge for the service at meal functions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14. Server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Food Servers deliver food, wine and non alcoholic beverages </a:t>
            </a:r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dirty="0"/>
              <a:t>- Cocktail Servers perform similar duties but concentrate on serving alcoholic beverages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15. Bartender and Bar back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Concentrates on alcoholic beverage production and service.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16. Sommelier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wine steward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50284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>
            <a:normAutofit/>
          </a:bodyPr>
          <a:lstStyle/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17. Houseman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porter or convention porter and physically sets up rooms.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18. Attendant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refreshed meeting rooms; spot cleaning and removal of trash during break period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19. Clerical Person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types contract and  banquet event order – BEO 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20. Engineer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provides necessary utilities service and handle </a:t>
            </a:r>
            <a:r>
              <a:rPr lang="en-PH" dirty="0" err="1"/>
              <a:t>audiovisual</a:t>
            </a:r>
            <a:r>
              <a:rPr lang="en-PH" dirty="0"/>
              <a:t>, lighting installation, teardown and service.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73696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87888"/>
          </a:xfrm>
        </p:spPr>
        <p:txBody>
          <a:bodyPr>
            <a:normAutofit/>
          </a:bodyPr>
          <a:lstStyle/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21. Cashier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dirty="0"/>
              <a:t>- collects cash and cash bars; sells drink tickets and meal or concession tickets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22.  Food handler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</a:t>
            </a:r>
            <a:r>
              <a:rPr lang="en-PH" dirty="0"/>
              <a:t>also known as the food steward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23. Ticket taker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responsible for collecting tickets from guests before they are allowed to enter a function</a:t>
            </a:r>
          </a:p>
          <a:p>
            <a:pPr marL="438912" indent="-320040">
              <a:spcBef>
                <a:spcPts val="0"/>
              </a:spcBef>
              <a:buNone/>
              <a:defRPr/>
            </a:pPr>
            <a:r>
              <a:rPr lang="en-PH" b="1" dirty="0"/>
              <a:t>24. Steward </a:t>
            </a:r>
            <a:endParaRPr lang="en-PH" dirty="0"/>
          </a:p>
          <a:p>
            <a:pPr marL="438912" indent="-320040">
              <a:spcBef>
                <a:spcPts val="0"/>
              </a:spcBef>
              <a:buFont typeface="Wingdings 2"/>
              <a:buChar char=""/>
              <a:defRPr/>
            </a:pPr>
            <a:r>
              <a:rPr lang="en-PH" b="1" dirty="0"/>
              <a:t>- </a:t>
            </a:r>
            <a:r>
              <a:rPr lang="en-PH" dirty="0"/>
              <a:t>delivers requisitioned china, glass, flatware, salt, pepper shakers, and other similar items to function rooms, kitchen and bar areas.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86404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514432"/>
          </a:xfrm>
        </p:spPr>
        <p:txBody>
          <a:bodyPr>
            <a:normAutofit fontScale="90000"/>
          </a:bodyPr>
          <a:lstStyle/>
          <a:p>
            <a:r>
              <a:rPr lang="en-PH" dirty="0" smtClean="0"/>
              <a:t> skills required for people who will select catering system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 smtClean="0"/>
              <a:t>1. Communication </a:t>
            </a:r>
            <a:r>
              <a:rPr lang="en-AU" sz="2000" b="1" dirty="0"/>
              <a:t>skills</a:t>
            </a:r>
            <a:r>
              <a:rPr lang="en-AU" sz="2000" dirty="0"/>
              <a:t> to consult on system requirements with key personnel – such as: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Other management-level personnel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Boards of Directors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Owners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Government agencies/authorities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Equipment/system providers and suppliers</a:t>
            </a:r>
          </a:p>
          <a:p>
            <a:pPr marL="0" indent="0">
              <a:buNone/>
            </a:pPr>
            <a:r>
              <a:rPr lang="en-AU" sz="2000" dirty="0" smtClean="0"/>
              <a:t>2.  </a:t>
            </a:r>
            <a:r>
              <a:rPr lang="en-AU" sz="2000" b="1" dirty="0"/>
              <a:t>Critical thinking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Analyse and evaluate all aspects of the organisation’s catering operation 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Select a catering system which best suits its characteristics and needs</a:t>
            </a:r>
          </a:p>
          <a:p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1936708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55840"/>
          </a:xfrm>
        </p:spPr>
        <p:txBody>
          <a:bodyPr/>
          <a:lstStyle/>
          <a:p>
            <a:pPr marL="0" indent="0">
              <a:buNone/>
            </a:pPr>
            <a:r>
              <a:rPr lang="en-AU" sz="1200" dirty="0" smtClean="0"/>
              <a:t>3.  </a:t>
            </a:r>
            <a:r>
              <a:rPr lang="en-AU" sz="2000" b="1" dirty="0"/>
              <a:t>Initiative and enterprise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Determine courses of action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Maintain motivation and achieve required objectives/outcomes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Integrate workplace needs with capacity and capability of various catering systems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Select a system with the best cost benefits</a:t>
            </a:r>
          </a:p>
          <a:p>
            <a:pPr marL="0" indent="0">
              <a:buNone/>
            </a:pPr>
            <a:r>
              <a:rPr lang="en-AU" sz="2000" dirty="0" smtClean="0"/>
              <a:t>4.  </a:t>
            </a:r>
            <a:r>
              <a:rPr lang="en-AU" sz="2000" b="1" dirty="0"/>
              <a:t>High level of literacy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Read and interpret detailed product specifications for different catering systems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Research product options for and suppliers of catering systems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Read and interpret recipes and menus</a:t>
            </a:r>
          </a:p>
          <a:p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2797259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200" dirty="0" smtClean="0"/>
              <a:t>5.  </a:t>
            </a:r>
            <a:r>
              <a:rPr lang="en-AU" sz="2000" b="1" dirty="0"/>
              <a:t>High level numeracy skills</a:t>
            </a:r>
            <a:r>
              <a:rPr lang="en-AU" sz="2000" dirty="0"/>
              <a:t> 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Calculate wastage issues and impacts on profitability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Determine cost-benefit analyses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Review complex financial information 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Calculate costs of production and costs for installing a new system</a:t>
            </a:r>
          </a:p>
          <a:p>
            <a:pPr marL="0" indent="0">
              <a:buNone/>
            </a:pPr>
            <a:r>
              <a:rPr lang="en-AU" sz="2000" dirty="0" smtClean="0"/>
              <a:t>6.  </a:t>
            </a:r>
            <a:r>
              <a:rPr lang="en-AU" sz="2000" b="1" dirty="0"/>
              <a:t>Planning, self-management and organising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Access and sort information required to evaluate different catering systems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Coordinate a timely and efficient selection process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Organise personal work and research efforts</a:t>
            </a:r>
          </a:p>
          <a:p>
            <a:pPr marL="0" indent="0">
              <a:buNone/>
            </a:pPr>
            <a:r>
              <a:rPr lang="en-AU" sz="2000" dirty="0" smtClean="0"/>
              <a:t>7.  </a:t>
            </a:r>
            <a:r>
              <a:rPr lang="en-AU" sz="2000" b="1" dirty="0"/>
              <a:t>Problem-solving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Identify organisational operational constraints 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Select a system which complements operations</a:t>
            </a:r>
          </a:p>
          <a:p>
            <a:pPr>
              <a:buFont typeface="Arial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23055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/>
          <a:lstStyle/>
          <a:p>
            <a:pPr marL="0" indent="0">
              <a:buNone/>
            </a:pPr>
            <a:r>
              <a:rPr lang="en-AU" sz="2000" dirty="0" smtClean="0"/>
              <a:t>8.  </a:t>
            </a:r>
            <a:r>
              <a:rPr lang="en-AU" sz="2000" b="1" dirty="0"/>
              <a:t>Teamwork and interpersonal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Invite and coordinate the input of others in the organization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Facilitate liaison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Encourage contributions from, and engagement with, others</a:t>
            </a:r>
          </a:p>
          <a:p>
            <a:pPr marL="0" indent="0">
              <a:buNone/>
            </a:pPr>
            <a:r>
              <a:rPr lang="en-AU" sz="2000" dirty="0" smtClean="0"/>
              <a:t>9.  </a:t>
            </a:r>
            <a:r>
              <a:rPr lang="en-AU" sz="2000" b="1" dirty="0"/>
              <a:t>Communication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Enable questioning of others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Facilitate exchange of ideas and information</a:t>
            </a:r>
          </a:p>
          <a:p>
            <a:pPr marL="0" indent="0">
              <a:buNone/>
            </a:pPr>
            <a:r>
              <a:rPr lang="en-AU" sz="2000" dirty="0" smtClean="0"/>
              <a:t>10  </a:t>
            </a:r>
            <a:r>
              <a:rPr lang="en-AU" sz="2000" b="1" dirty="0"/>
              <a:t>Research skills 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Investigate relevant topics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Capture information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Follow-up information as required.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785905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/>
              <a:t>  people who select catering system should possess the following knowledge: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1</a:t>
            </a:r>
            <a:r>
              <a:rPr lang="en-AU" sz="2400" b="1" dirty="0" smtClean="0"/>
              <a:t>. Methods </a:t>
            </a:r>
            <a:r>
              <a:rPr lang="en-AU" sz="2400" b="1" dirty="0"/>
              <a:t>of cookery </a:t>
            </a:r>
            <a:r>
              <a:rPr lang="en-AU" sz="2400" dirty="0"/>
              <a:t>– for all major food types, including preserved and packaged foods for various types of hospitality and catering organisations </a:t>
            </a:r>
          </a:p>
          <a:p>
            <a:pPr marL="0" indent="0">
              <a:buNone/>
            </a:pPr>
            <a:r>
              <a:rPr lang="en-AU" sz="2400" dirty="0" smtClean="0"/>
              <a:t>2.  </a:t>
            </a:r>
            <a:r>
              <a:rPr lang="en-AU" sz="2400" b="1" dirty="0"/>
              <a:t>Comprehensive details of all food production processes </a:t>
            </a:r>
          </a:p>
          <a:p>
            <a:pPr marL="0" indent="0">
              <a:buNone/>
            </a:pPr>
            <a:r>
              <a:rPr lang="en-AU" sz="2400" dirty="0" smtClean="0"/>
              <a:t>3. </a:t>
            </a:r>
            <a:r>
              <a:rPr lang="en-AU" sz="2400" b="1" dirty="0" smtClean="0"/>
              <a:t>Hazard </a:t>
            </a:r>
            <a:r>
              <a:rPr lang="en-AU" sz="2400" b="1" dirty="0"/>
              <a:t>and Critical Control Points (HACCP) </a:t>
            </a:r>
            <a:r>
              <a:rPr lang="en-AU" sz="2400" dirty="0"/>
              <a:t>– with reference to: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General principles and practices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Specific requirements of the Food Safety Plan/Program (FSP) as it applies to the host venue/kitchens</a:t>
            </a:r>
          </a:p>
          <a:p>
            <a:pPr>
              <a:buFont typeface="Arial" pitchFamily="34" charset="0"/>
              <a:buNone/>
            </a:pPr>
            <a:endParaRPr lang="en-US" sz="2400" dirty="0"/>
          </a:p>
          <a:p>
            <a:pPr>
              <a:buFont typeface="Arial" pitchFamily="34" charset="0"/>
              <a:buNone/>
            </a:pPr>
            <a:endParaRPr lang="en-US" b="1" i="1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40417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rmAutofit fontScale="62500" lnSpcReduction="20000"/>
          </a:bodyPr>
          <a:lstStyle/>
          <a:p>
            <a:pPr>
              <a:buFont typeface="Arial" pitchFamily="34" charset="0"/>
              <a:buNone/>
            </a:pPr>
            <a:r>
              <a:rPr lang="en-US" sz="5800" dirty="0" smtClean="0"/>
              <a:t>stages </a:t>
            </a:r>
            <a:r>
              <a:rPr lang="en-US" sz="5800" dirty="0"/>
              <a:t>in the food production process.</a:t>
            </a:r>
          </a:p>
          <a:p>
            <a:pPr>
              <a:buFont typeface="Arial" pitchFamily="34" charset="0"/>
              <a:buNone/>
            </a:pPr>
            <a:endParaRPr lang="en-US" b="1" i="1" dirty="0"/>
          </a:p>
          <a:p>
            <a:pPr>
              <a:buFont typeface="Arial" pitchFamily="34" charset="0"/>
              <a:buChar char="•"/>
            </a:pPr>
            <a:r>
              <a:rPr lang="en-AU" sz="3400" dirty="0"/>
              <a:t> Receiving – of food into the premises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Undertaking </a:t>
            </a:r>
            <a:r>
              <a:rPr lang="en-AU" sz="3400" i="1" dirty="0" err="1"/>
              <a:t>mise</a:t>
            </a:r>
            <a:r>
              <a:rPr lang="en-AU" sz="3400" i="1" dirty="0"/>
              <a:t> en place</a:t>
            </a:r>
            <a:r>
              <a:rPr lang="en-AU" sz="3400" dirty="0"/>
              <a:t> – organisation of ingredients and equipment/utensils prior to preparing/producing food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Preparing food – ready for cooking/processing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Cooking – the application of a variety of cooking options to produce menu items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Post-cooking storage – of foods for service, display and refrigerated or frozen storage for later use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Reconstituting foods – returning (for example) dehydrated or concentrated food to usable condition, or its natural/original state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Re-heating of previously cooked food – referred to as ‘re-</a:t>
            </a:r>
            <a:r>
              <a:rPr lang="en-AU" sz="3400" dirty="0" err="1"/>
              <a:t>thermalisation</a:t>
            </a:r>
            <a:r>
              <a:rPr lang="en-AU" sz="3400" dirty="0"/>
              <a:t>’ </a:t>
            </a:r>
          </a:p>
          <a:p>
            <a:pPr>
              <a:buFont typeface="Arial" pitchFamily="34" charset="0"/>
              <a:buChar char="•"/>
            </a:pPr>
            <a:r>
              <a:rPr lang="en-AU" sz="3400" dirty="0"/>
              <a:t> Serving food – for internal/on-site eating and/or for take-away consumption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32146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 smtClean="0"/>
              <a:t>4. </a:t>
            </a:r>
            <a:r>
              <a:rPr lang="en-AU" sz="2400" b="1" dirty="0" smtClean="0"/>
              <a:t>Culinary </a:t>
            </a:r>
            <a:r>
              <a:rPr lang="en-AU" sz="2400" b="1" dirty="0"/>
              <a:t>terms </a:t>
            </a:r>
            <a:r>
              <a:rPr lang="en-AU" sz="2400" dirty="0"/>
              <a:t>– commonly used in the industry related to food production systems</a:t>
            </a:r>
          </a:p>
          <a:p>
            <a:pPr marL="0" indent="0">
              <a:buNone/>
            </a:pPr>
            <a:r>
              <a:rPr lang="en-AU" sz="2400" dirty="0" smtClean="0"/>
              <a:t>5.  </a:t>
            </a:r>
            <a:r>
              <a:rPr lang="en-AU" sz="2400" b="1" dirty="0"/>
              <a:t>Costing, yield testing and portion control in quantity food production</a:t>
            </a:r>
          </a:p>
          <a:p>
            <a:pPr marL="0" indent="0">
              <a:buNone/>
            </a:pPr>
            <a:r>
              <a:rPr lang="en-AU" sz="2400" dirty="0" smtClean="0"/>
              <a:t>6.  </a:t>
            </a:r>
            <a:r>
              <a:rPr lang="en-AU" sz="2400" b="1" dirty="0"/>
              <a:t>Nutritional knowledge </a:t>
            </a:r>
            <a:r>
              <a:rPr lang="en-AU" sz="2400" dirty="0"/>
              <a:t>– as applicable to: 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General food stuffs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Specific needs of the workplace for identified customer/target groups</a:t>
            </a:r>
          </a:p>
          <a:p>
            <a:pPr marL="0" indent="0">
              <a:buNone/>
            </a:pPr>
            <a:r>
              <a:rPr lang="en-AU" sz="2400" dirty="0" smtClean="0"/>
              <a:t>7.  </a:t>
            </a:r>
            <a:r>
              <a:rPr lang="en-AU" sz="2400" b="1" dirty="0"/>
              <a:t>Local/host country legislation </a:t>
            </a:r>
            <a:r>
              <a:rPr lang="en-AU" sz="2400" dirty="0"/>
              <a:t>– as it applies to: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Food handling and food safety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Workplace safety and health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Industrial relations.</a:t>
            </a:r>
          </a:p>
          <a:p>
            <a:pPr>
              <a:buFont typeface="Arial" pitchFamily="34" charset="0"/>
              <a:buNone/>
            </a:pPr>
            <a:endParaRPr lang="en-US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6056915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52128"/>
          </a:xfrm>
        </p:spPr>
        <p:txBody>
          <a:bodyPr>
            <a:normAutofit fontScale="90000"/>
          </a:bodyPr>
          <a:lstStyle/>
          <a:p>
            <a:r>
              <a:rPr lang="en-US" sz="2200" dirty="0">
                <a:latin typeface="Helvetica" pitchFamily="34" charset="0"/>
              </a:rPr>
              <a:t/>
            </a:r>
            <a:br>
              <a:rPr lang="en-US" sz="2200" dirty="0">
                <a:latin typeface="Helvetica" pitchFamily="34" charset="0"/>
              </a:rPr>
            </a:br>
            <a:r>
              <a:rPr lang="en-US" sz="2200" dirty="0">
                <a:latin typeface="Helvetica" pitchFamily="34" charset="0"/>
              </a:rPr>
              <a:t/>
            </a:r>
            <a:br>
              <a:rPr lang="en-US" sz="2200" dirty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/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>
                <a:latin typeface="Helvetica" pitchFamily="34" charset="0"/>
              </a:rPr>
              <a:t/>
            </a:r>
            <a:br>
              <a:rPr lang="en-US" sz="2200" dirty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/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2200" dirty="0">
                <a:latin typeface="Helvetica" pitchFamily="34" charset="0"/>
              </a:rPr>
              <a:t/>
            </a:r>
            <a:br>
              <a:rPr lang="en-US" sz="2200" dirty="0">
                <a:latin typeface="Helvetica" pitchFamily="34" charset="0"/>
              </a:rPr>
            </a:br>
            <a:r>
              <a:rPr lang="en-US" sz="2200" dirty="0" smtClean="0">
                <a:latin typeface="Helvetica" pitchFamily="34" charset="0"/>
              </a:rPr>
              <a:t/>
            </a:r>
            <a:br>
              <a:rPr lang="en-US" sz="2200" dirty="0" smtClean="0">
                <a:latin typeface="Helvetica" pitchFamily="34" charset="0"/>
              </a:rPr>
            </a:br>
            <a:r>
              <a:rPr lang="en-US" sz="4000" dirty="0" smtClean="0">
                <a:solidFill>
                  <a:schemeClr val="tx1"/>
                </a:solidFill>
                <a:latin typeface="Helvetica" pitchFamily="34" charset="0"/>
              </a:rPr>
              <a:t>Determining enterprise catering requirements</a:t>
            </a:r>
            <a:endParaRPr lang="en-PH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678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1200" b="1" dirty="0" smtClean="0"/>
              <a:t>1. </a:t>
            </a:r>
            <a:r>
              <a:rPr lang="en-AU" sz="2800" b="1" dirty="0" smtClean="0"/>
              <a:t>Nature </a:t>
            </a:r>
            <a:r>
              <a:rPr lang="en-AU" sz="2800" b="1" dirty="0"/>
              <a:t>of the </a:t>
            </a:r>
            <a:r>
              <a:rPr lang="en-AU" sz="2800" b="1" dirty="0" smtClean="0"/>
              <a:t>operation</a:t>
            </a:r>
            <a:endParaRPr lang="en-AU" sz="2800" b="1" dirty="0"/>
          </a:p>
          <a:p>
            <a:pPr>
              <a:buFont typeface="Arial" pitchFamily="34" charset="0"/>
              <a:buChar char="•"/>
            </a:pPr>
            <a:r>
              <a:rPr lang="en-AU" sz="2000" dirty="0"/>
              <a:t> Whether food is to be: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Produced and served at the same point 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Produced in the one kitchen for service at multiple points/outlets in the same venue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Produced at a central kitchen for distribution for transportation/distribution to multiple points/outlets for service at these off-site locations – centralised food production using a number of supporting satellite kitchens to re-constitute and re-thermalise foods</a:t>
            </a:r>
          </a:p>
          <a:p>
            <a:pPr>
              <a:buFont typeface="Arial" pitchFamily="34" charset="0"/>
              <a:buChar char="•"/>
            </a:pPr>
            <a:r>
              <a:rPr lang="en-AU" sz="2000" dirty="0"/>
              <a:t> The general nature of the business – such as (for example):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Hotel, fine dining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Work canteen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Institutional catering.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000" dirty="0"/>
          </a:p>
          <a:p>
            <a:pPr>
              <a:buFont typeface="Arial" pitchFamily="34" charset="0"/>
              <a:buNone/>
            </a:pPr>
            <a:endParaRPr lang="en-US" sz="2000" dirty="0"/>
          </a:p>
          <a:p>
            <a:pPr marL="0" indent="0">
              <a:buNone/>
            </a:pPr>
            <a:endParaRPr lang="en-US" sz="2800" dirty="0">
              <a:latin typeface="Helvetica" pitchFamily="34" charset="0"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08298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766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b="1" dirty="0" smtClean="0"/>
              <a:t>2. </a:t>
            </a:r>
            <a:r>
              <a:rPr lang="en-AU" sz="2800" b="1" dirty="0" smtClean="0"/>
              <a:t>The menu</a:t>
            </a:r>
            <a:endParaRPr lang="en-AU" sz="2800" dirty="0"/>
          </a:p>
          <a:p>
            <a:pPr>
              <a:buFont typeface="Arial" pitchFamily="34" charset="0"/>
              <a:buChar char="•"/>
            </a:pPr>
            <a:r>
              <a:rPr lang="en-AU" sz="2000" dirty="0"/>
              <a:t> The type of menu – is it: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Rotating/cyclical, as is the case in most hospitals or </a:t>
            </a:r>
            <a:r>
              <a:rPr lang="en-AU" sz="2000" dirty="0" smtClean="0"/>
              <a:t>institutions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A la carte – featuring a need for cooked to order </a:t>
            </a:r>
            <a:r>
              <a:rPr lang="en-AU" sz="2000" dirty="0" smtClean="0"/>
              <a:t>meals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Buffet – requiring smorgasbord style </a:t>
            </a:r>
            <a:r>
              <a:rPr lang="en-AU" sz="2000" dirty="0" smtClean="0"/>
              <a:t>service</a:t>
            </a:r>
            <a:endParaRPr lang="en-AU" sz="2000" dirty="0"/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Functions menus – requiring quantity food production and </a:t>
            </a:r>
            <a:r>
              <a:rPr lang="en-AU" sz="2000" dirty="0" smtClean="0"/>
              <a:t>service</a:t>
            </a:r>
            <a:endParaRPr lang="en-AU" sz="2000" dirty="0"/>
          </a:p>
          <a:p>
            <a:pPr>
              <a:buFont typeface="Arial" pitchFamily="34" charset="0"/>
              <a:buChar char="•"/>
            </a:pPr>
            <a:r>
              <a:rPr lang="en-AU" sz="2000" dirty="0"/>
              <a:t> Menu items being offered/proposed – for example: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Identification of dishes and recipes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Determination of cooking styles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Nomination of number of courses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The intentions of those who plan the menus for the venue/outlets</a:t>
            </a:r>
          </a:p>
          <a:p>
            <a:pPr>
              <a:buFont typeface="Arial" pitchFamily="34" charset="0"/>
              <a:buChar char="•"/>
            </a:pPr>
            <a:r>
              <a:rPr lang="en-AU" sz="2000" dirty="0"/>
              <a:t> The time of day the menu is for – such as, for example: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Breakfast, lunch and/or dinner</a:t>
            </a:r>
          </a:p>
          <a:p>
            <a:pPr lvl="1">
              <a:buFont typeface="Arial" pitchFamily="34" charset="0"/>
              <a:buChar char="•"/>
            </a:pPr>
            <a:r>
              <a:rPr lang="en-AU" sz="2000" dirty="0"/>
              <a:t> Supper.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6677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400" b="1" dirty="0" smtClean="0"/>
              <a:t>3. </a:t>
            </a:r>
            <a:r>
              <a:rPr lang="en-AU" sz="2800" b="1" dirty="0" smtClean="0"/>
              <a:t>Production </a:t>
            </a:r>
            <a:r>
              <a:rPr lang="en-AU" sz="2800" b="1" dirty="0"/>
              <a:t>volume</a:t>
            </a:r>
          </a:p>
          <a:p>
            <a:r>
              <a:rPr lang="en-AU" sz="2400" dirty="0"/>
              <a:t>This relates to demand for food and service and may be related to: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Standard/normal trading and service requirements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Demand at peak times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Variations in demand on a sessional, daily, weekly or seasonal basis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Impact of events/functions on normal food production and service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Nomination of figures/projections (‘number of meals served’) for different trading times/occasions on, as appropriate to the organisation: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An hourly basis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A sessional basis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A daily basis.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400" dirty="0"/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255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2800" b="1" dirty="0" smtClean="0"/>
              <a:t>4. </a:t>
            </a:r>
            <a:r>
              <a:rPr lang="en-AU" sz="3000" b="1" dirty="0" smtClean="0"/>
              <a:t>Service </a:t>
            </a:r>
            <a:r>
              <a:rPr lang="en-AU" sz="3000" b="1" dirty="0"/>
              <a:t>areas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r>
              <a:rPr lang="en-AU" sz="2800" dirty="0"/>
              <a:t> The area/s from which service needs to occur – on- and off-site, as applicable: physical relationship between food production kitchen and service points/outlets – in terms of geography/distance and time to travel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Size of service area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Facilities currently existing in service area/s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Transport (vehicles and staffing) required to move food from production area to service points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Legislated requirements and ‘best practice’ protocols for safe food transportation of hot, refrigerated and/or frozen food</a:t>
            </a:r>
          </a:p>
          <a:p>
            <a:pPr>
              <a:buFont typeface="Arial" pitchFamily="34" charset="0"/>
              <a:buChar char="•"/>
            </a:pPr>
            <a:endParaRPr lang="en-AU" sz="2800" dirty="0"/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21676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775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 smtClean="0"/>
              <a:t>5. </a:t>
            </a:r>
            <a:r>
              <a:rPr lang="en-AU" sz="2800" b="1" dirty="0" smtClean="0"/>
              <a:t>Storage </a:t>
            </a:r>
            <a:r>
              <a:rPr lang="en-AU" sz="2800" b="1" dirty="0"/>
              <a:t>and holding requirements</a:t>
            </a:r>
          </a:p>
          <a:p>
            <a:pPr marL="0" indent="0">
              <a:buNone/>
            </a:pPr>
            <a:endParaRPr lang="en-AU" sz="2400" dirty="0"/>
          </a:p>
          <a:p>
            <a:pPr>
              <a:buFont typeface="Arial" pitchFamily="34" charset="0"/>
              <a:buChar char="•"/>
            </a:pPr>
            <a:r>
              <a:rPr lang="en-AU" sz="2400" dirty="0"/>
              <a:t> Hot and/or cold holding – of prepared food for display and/or service, in terms of: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Demand for (capacity) same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Type of equipment required – </a:t>
            </a:r>
            <a:r>
              <a:rPr lang="en-AU" dirty="0" err="1"/>
              <a:t>bain</a:t>
            </a:r>
            <a:r>
              <a:rPr lang="en-AU" dirty="0"/>
              <a:t> maries, warmers, cabinets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Location and type of existing facilities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Amount of storage space required for: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Refrigerated storage – of raw and prepared foods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Frozen storage – of raw and prepared foods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Type and capacity of existing storage facilities.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400" dirty="0"/>
          </a:p>
          <a:p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188479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1800" b="1" dirty="0" smtClean="0"/>
              <a:t>6</a:t>
            </a:r>
            <a:r>
              <a:rPr lang="en-AU" sz="2800" b="1" dirty="0" smtClean="0"/>
              <a:t>. Nutritional </a:t>
            </a:r>
            <a:r>
              <a:rPr lang="en-AU" sz="2800" b="1" dirty="0"/>
              <a:t>and dietary requirements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 typeface="Arial" pitchFamily="34" charset="0"/>
              <a:buChar char="•"/>
            </a:pPr>
            <a:r>
              <a:rPr lang="en-AU" sz="1800" dirty="0"/>
              <a:t> If there is a need for certain nutritional requirements to be met for: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Certain dishes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Nominated outlets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Identified foods.</a:t>
            </a:r>
          </a:p>
          <a:p>
            <a:pPr>
              <a:buFont typeface="Arial" pitchFamily="34" charset="0"/>
              <a:buChar char="•"/>
            </a:pPr>
            <a:r>
              <a:rPr lang="en-AU" sz="1800" dirty="0"/>
              <a:t> Exactly what the nutritional requirements are – in terms of, for example: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Serve sizes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Vitamins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Energy</a:t>
            </a:r>
          </a:p>
          <a:p>
            <a:pPr>
              <a:buFont typeface="Arial" pitchFamily="34" charset="0"/>
              <a:buChar char="•"/>
            </a:pPr>
            <a:r>
              <a:rPr lang="en-AU" sz="1800" dirty="0"/>
              <a:t> Special need to cater for nominated dietary requirements as they apply, for example, to: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Health-related issues – such as:</a:t>
            </a:r>
          </a:p>
          <a:p>
            <a:pPr lvl="2">
              <a:buFont typeface="Arial" pitchFamily="34" charset="0"/>
              <a:buChar char="•"/>
            </a:pPr>
            <a:r>
              <a:rPr lang="en-AU" sz="1800" dirty="0"/>
              <a:t> Diabetic meals</a:t>
            </a:r>
          </a:p>
          <a:p>
            <a:pPr lvl="2">
              <a:buFont typeface="Arial" pitchFamily="34" charset="0"/>
              <a:buChar char="•"/>
            </a:pPr>
            <a:r>
              <a:rPr lang="en-AU" sz="1800" dirty="0"/>
              <a:t> Low-salt and/or low-fat meals</a:t>
            </a:r>
          </a:p>
          <a:p>
            <a:pPr lvl="2">
              <a:buFont typeface="Arial" pitchFamily="34" charset="0"/>
              <a:buChar char="•"/>
            </a:pPr>
            <a:r>
              <a:rPr lang="en-AU" sz="1800" dirty="0"/>
              <a:t> Allergy-related menu items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Cultural and/or religious requirements</a:t>
            </a:r>
          </a:p>
          <a:p>
            <a:pPr lvl="1">
              <a:buFont typeface="Arial" pitchFamily="34" charset="0"/>
              <a:buChar char="•"/>
            </a:pPr>
            <a:r>
              <a:rPr lang="en-AU" sz="1800" dirty="0"/>
              <a:t> Lifestyle preferences. 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1800" dirty="0"/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51221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r>
              <a:rPr lang="en-US" b="1" dirty="0"/>
              <a:t>Class </a:t>
            </a:r>
            <a:r>
              <a:rPr lang="en-US" b="1" dirty="0" smtClean="0"/>
              <a:t>Assignment:</a:t>
            </a:r>
            <a:endParaRPr lang="en-US" b="1" dirty="0"/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r>
              <a:rPr lang="en-US" dirty="0"/>
              <a:t> Examples of how health-related special needs can influence menu and food requirements</a:t>
            </a:r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r>
              <a:rPr lang="en-US" dirty="0"/>
              <a:t> Examples of how cultural special needs can influence menu and food requirements</a:t>
            </a:r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r>
              <a:rPr lang="en-US" dirty="0"/>
              <a:t> Examples of how religious special needs can influence menu and food requirements</a:t>
            </a:r>
          </a:p>
          <a:p>
            <a:pPr marL="0" indent="0">
              <a:spcBef>
                <a:spcPts val="0"/>
              </a:spcBef>
              <a:buClrTx/>
              <a:buSzTx/>
              <a:buFont typeface="Arial" pitchFamily="34" charset="0"/>
              <a:buChar char="•"/>
              <a:defRPr/>
            </a:pPr>
            <a:r>
              <a:rPr lang="en-US" dirty="0"/>
              <a:t> Examples of how lifestyle special needs can influence menu and food requirements.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6838078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70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 smtClean="0"/>
              <a:t>7. Relevant </a:t>
            </a:r>
            <a:r>
              <a:rPr lang="en-AU" sz="2800" b="1" dirty="0"/>
              <a:t>timeframes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 typeface="Arial" pitchFamily="34" charset="0"/>
              <a:buChar char="•"/>
            </a:pPr>
            <a:r>
              <a:rPr lang="en-AU" sz="2800" dirty="0"/>
              <a:t> Opening times/trading hours of commercial premises – for all service points/outlets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Scheduled service times for meals – in operations such as hospitals, prisons and schools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Lead times – from ordering of raw ingredients/food from suppliers to delivery of food into the premises/kitchen stores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Delivery/transportation times – from central kitchen to satellite kitchens/other service points.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2355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800" b="1" dirty="0" smtClean="0"/>
              <a:t>8. Available </a:t>
            </a:r>
            <a:r>
              <a:rPr lang="en-AU" sz="2800" b="1" dirty="0"/>
              <a:t>space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 typeface="Arial" pitchFamily="34" charset="0"/>
              <a:buChar char="•"/>
            </a:pPr>
            <a:r>
              <a:rPr lang="en-AU" sz="2800" dirty="0"/>
              <a:t> Whether the new/revised system is required to fit within an existing space – or if there is scope to expand production and service areas into additional space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Details of current layout – of existing systems, equipment and facilities including utilities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Amount of:</a:t>
            </a:r>
          </a:p>
          <a:p>
            <a:pPr lvl="1">
              <a:buFont typeface="Arial" pitchFamily="34" charset="0"/>
              <a:buChar char="•"/>
            </a:pPr>
            <a:r>
              <a:rPr lang="en-AU" sz="2800" dirty="0"/>
              <a:t> Additional space available for expansion</a:t>
            </a:r>
          </a:p>
          <a:p>
            <a:pPr lvl="1">
              <a:buFont typeface="Arial" pitchFamily="34" charset="0"/>
              <a:buChar char="•"/>
            </a:pPr>
            <a:r>
              <a:rPr lang="en-AU" sz="2800" dirty="0"/>
              <a:t> Space which is required to be saved as a result of the change/up-date to the catering system.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800" dirty="0"/>
          </a:p>
          <a:p>
            <a:endParaRPr lang="en-PH" sz="2800" dirty="0"/>
          </a:p>
        </p:txBody>
      </p:sp>
    </p:spTree>
    <p:extLst>
      <p:ext uri="{BB962C8B-B14F-4D97-AF65-F5344CB8AC3E}">
        <p14:creationId xmlns:p14="http://schemas.microsoft.com/office/powerpoint/2010/main" val="27053481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/>
          <a:lstStyle/>
          <a:p>
            <a:pPr marL="0" indent="0">
              <a:buNone/>
            </a:pPr>
            <a:r>
              <a:rPr lang="en-AU" sz="2800" b="1" dirty="0" smtClean="0"/>
              <a:t>9. Customer </a:t>
            </a:r>
            <a:r>
              <a:rPr lang="en-AU" sz="2800" b="1" dirty="0"/>
              <a:t>requirements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 typeface="Arial" pitchFamily="34" charset="0"/>
              <a:buChar char="•"/>
            </a:pPr>
            <a:r>
              <a:rPr lang="en-AU" sz="2800" dirty="0"/>
              <a:t> Defining and identifying ‘customers’ or consumers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Describing their identified needs, wants and preferences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Obtaining feedback/input from existing and potential/target.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799522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2400" b="1" dirty="0" smtClean="0"/>
              <a:t>10. Ingredients </a:t>
            </a:r>
            <a:r>
              <a:rPr lang="en-AU" sz="2400" b="1" dirty="0"/>
              <a:t>purchased</a:t>
            </a:r>
          </a:p>
          <a:p>
            <a:r>
              <a:rPr lang="en-AU" sz="2400" dirty="0"/>
              <a:t>In this regard research should address: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The type, style and nature of the foods bought by the kitchen to produce menu items. This is relevant and important as; 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It has implications for the equipment and staff needed to (as appropriate):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Store the food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Prepare the food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Process the food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It needs to align with other factors/issues – such as: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Required quality standards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Customer preferences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Value-for-money</a:t>
            </a:r>
          </a:p>
          <a:p>
            <a:pPr lvl="2">
              <a:buFont typeface="Arial" pitchFamily="34" charset="0"/>
              <a:buChar char="•"/>
            </a:pPr>
            <a:r>
              <a:rPr lang="en-AU" sz="2400" dirty="0"/>
              <a:t> Image and market position of the organisation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4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107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600" b="1" dirty="0" smtClean="0"/>
              <a:t>11. </a:t>
            </a:r>
            <a:r>
              <a:rPr lang="en-AU" sz="2400" b="1" dirty="0" smtClean="0"/>
              <a:t>Enterprise </a:t>
            </a:r>
            <a:r>
              <a:rPr lang="en-AU" sz="2400" b="1" dirty="0"/>
              <a:t>practices and </a:t>
            </a:r>
            <a:r>
              <a:rPr lang="en-AU" sz="2400" b="1" dirty="0" smtClean="0"/>
              <a:t>standards</a:t>
            </a:r>
            <a:endParaRPr lang="en-AU" sz="2400" dirty="0"/>
          </a:p>
          <a:p>
            <a:pPr>
              <a:buFont typeface="Arial" pitchFamily="34" charset="0"/>
              <a:buChar char="•"/>
            </a:pPr>
            <a:r>
              <a:rPr lang="en-AU" sz="1600" dirty="0"/>
              <a:t> </a:t>
            </a:r>
            <a:r>
              <a:rPr lang="en-AU" sz="2400" dirty="0"/>
              <a:t>Understanding options for buying different ingredient/raw materials – and/or pre-prepared and ready-made items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Knowing the contents of public statements the business makes about itself – in terms of: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Mission statement 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Vision statement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Value statement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Understanding Standard Operating Procedures (SOPs) and relevant policies for the operation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Knowing the kitchen (or individual service point/outlet) quality standards for: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Individual menu items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Food service to customers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66035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59896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AU" sz="2400" dirty="0"/>
              <a:t> Identifying the capacity for change within the business – and: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The procedures to achieve such change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The resources available to enable/support such change</a:t>
            </a:r>
          </a:p>
          <a:p>
            <a:pPr>
              <a:buFont typeface="Arial" pitchFamily="34" charset="0"/>
              <a:buChar char="•"/>
            </a:pPr>
            <a:r>
              <a:rPr lang="en-AU" sz="2400" dirty="0"/>
              <a:t> Determining any strategic or competitive advantages enjoyed by the business – in terms of: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Unique selling points – products and/or services that other businesses do not have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Information, experience and/or expertise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Industry knowledge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Internal systems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Supplier contracts</a:t>
            </a:r>
          </a:p>
          <a:p>
            <a:pPr lvl="1">
              <a:buFont typeface="Arial" pitchFamily="34" charset="0"/>
              <a:buChar char="•"/>
            </a:pPr>
            <a:r>
              <a:rPr lang="en-AU" dirty="0"/>
              <a:t> Industry contacts and/or partners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18431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487888"/>
          </a:xfrm>
        </p:spPr>
        <p:txBody>
          <a:bodyPr/>
          <a:lstStyle/>
          <a:p>
            <a:pPr marL="0" indent="0">
              <a:buNone/>
            </a:pPr>
            <a:r>
              <a:rPr lang="en-AU" sz="2800" dirty="0" smtClean="0"/>
              <a:t>13. Utilities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 smtClean="0"/>
              <a:t> </a:t>
            </a:r>
            <a:r>
              <a:rPr lang="en-AU" sz="2800" dirty="0"/>
              <a:t>Availability of:</a:t>
            </a:r>
          </a:p>
          <a:p>
            <a:pPr lvl="1">
              <a:buFont typeface="Arial" pitchFamily="34" charset="0"/>
              <a:buChar char="•"/>
            </a:pPr>
            <a:r>
              <a:rPr lang="en-AU" sz="2800" dirty="0"/>
              <a:t> Electricity</a:t>
            </a:r>
          </a:p>
          <a:p>
            <a:pPr lvl="1">
              <a:buFont typeface="Arial" pitchFamily="34" charset="0"/>
              <a:buChar char="•"/>
            </a:pPr>
            <a:r>
              <a:rPr lang="en-AU" sz="2800" dirty="0"/>
              <a:t> Gas</a:t>
            </a:r>
          </a:p>
          <a:p>
            <a:pPr lvl="1">
              <a:buFont typeface="Arial" pitchFamily="34" charset="0"/>
              <a:buChar char="•"/>
            </a:pPr>
            <a:r>
              <a:rPr lang="en-AU" sz="2800" dirty="0"/>
              <a:t> Water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Continuity and reliability of supply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Cost</a:t>
            </a:r>
          </a:p>
          <a:p>
            <a:pPr>
              <a:buFont typeface="Arial" pitchFamily="34" charset="0"/>
              <a:buChar char="•"/>
            </a:pPr>
            <a:r>
              <a:rPr lang="en-AU" sz="2800" dirty="0"/>
              <a:t> Access.</a:t>
            </a: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endParaRPr lang="en-US" sz="28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6655236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572784"/>
          </a:xfrm>
        </p:spPr>
        <p:txBody>
          <a:bodyPr>
            <a:normAutofit/>
          </a:bodyPr>
          <a:lstStyle/>
          <a:p>
            <a:r>
              <a:rPr lang="en-PH" sz="3200" dirty="0" smtClean="0">
                <a:solidFill>
                  <a:schemeClr val="tx1"/>
                </a:solidFill>
              </a:rPr>
              <a:t>5 general classifications of enterprise constraints which may need to be taken into account when selecting a catering system for a business:</a:t>
            </a:r>
            <a:endParaRPr lang="en-PH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047728"/>
          </a:xfrm>
        </p:spPr>
        <p:txBody>
          <a:bodyPr/>
          <a:lstStyle/>
          <a:p>
            <a:pPr marL="514350" indent="-514350">
              <a:buAutoNum type="arabicPeriod"/>
            </a:pPr>
            <a:endParaRPr lang="en-PH" dirty="0" smtClean="0"/>
          </a:p>
          <a:p>
            <a:pPr marL="514350" indent="-514350">
              <a:buAutoNum type="arabicPeriod"/>
            </a:pPr>
            <a:r>
              <a:rPr lang="en-PH" dirty="0" smtClean="0"/>
              <a:t>Financial constraints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Staff/labour constraints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Space constraints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Compliance constraints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Timing constraints</a:t>
            </a:r>
          </a:p>
          <a:p>
            <a:pPr marL="514350" indent="-514350">
              <a:buAutoNum type="arabicPeriod"/>
            </a:pPr>
            <a:r>
              <a:rPr lang="en-PH" dirty="0" smtClean="0"/>
              <a:t>Existing equipment constraints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88689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15880"/>
          </a:xfrm>
        </p:spPr>
        <p:txBody>
          <a:bodyPr/>
          <a:lstStyle/>
          <a:p>
            <a:pPr marL="0" indent="0">
              <a:buNone/>
            </a:pPr>
            <a:r>
              <a:rPr lang="en-PH" sz="3600" b="1" dirty="0" smtClean="0"/>
              <a:t>Financial constraints </a:t>
            </a:r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-  </a:t>
            </a:r>
            <a:r>
              <a:rPr lang="en-PH" dirty="0"/>
              <a:t>limits on what you can spend </a:t>
            </a:r>
            <a:endParaRPr lang="en-PH" dirty="0" smtClean="0"/>
          </a:p>
          <a:p>
            <a:pPr marL="0" indent="0">
              <a:buNone/>
            </a:pPr>
            <a:r>
              <a:rPr lang="en-PH" dirty="0"/>
              <a:t> -</a:t>
            </a:r>
            <a:r>
              <a:rPr lang="en-PH" dirty="0" smtClean="0"/>
              <a:t> </a:t>
            </a:r>
            <a:r>
              <a:rPr lang="en-PH" dirty="0"/>
              <a:t>there is never total financial freedom </a:t>
            </a:r>
            <a:endParaRPr lang="en-PH" dirty="0" smtClean="0"/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- </a:t>
            </a:r>
            <a:r>
              <a:rPr lang="en-PH" dirty="0"/>
              <a:t>It is vital to talk to management to determine the amount of money available for the project – they may be able to: </a:t>
            </a:r>
          </a:p>
          <a:p>
            <a:pPr marL="0" indent="0">
              <a:buNone/>
            </a:pPr>
            <a:r>
              <a:rPr lang="en-PH" dirty="0" smtClean="0"/>
              <a:t>           a. Move </a:t>
            </a:r>
            <a:r>
              <a:rPr lang="en-PH" dirty="0"/>
              <a:t>money between budgets to allocate more money </a:t>
            </a:r>
          </a:p>
          <a:p>
            <a:pPr marL="0" indent="0">
              <a:buNone/>
            </a:pPr>
            <a:r>
              <a:rPr lang="en-PH" dirty="0" smtClean="0"/>
              <a:t>           b. Raise </a:t>
            </a:r>
            <a:r>
              <a:rPr lang="en-PH" dirty="0"/>
              <a:t>more funds than originally allocated</a:t>
            </a:r>
          </a:p>
        </p:txBody>
      </p:sp>
    </p:spTree>
    <p:extLst>
      <p:ext uri="{BB962C8B-B14F-4D97-AF65-F5344CB8AC3E}">
        <p14:creationId xmlns:p14="http://schemas.microsoft.com/office/powerpoint/2010/main" val="2408382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H" sz="3900" b="1" dirty="0" smtClean="0"/>
              <a:t>Staff constraints</a:t>
            </a:r>
          </a:p>
          <a:p>
            <a:pPr marL="0" indent="0">
              <a:buNone/>
            </a:pPr>
            <a:r>
              <a:rPr lang="en-PH" dirty="0" smtClean="0"/>
              <a:t> </a:t>
            </a:r>
            <a:r>
              <a:rPr lang="en-PH" b="1" dirty="0" smtClean="0"/>
              <a:t>A.  </a:t>
            </a:r>
            <a:r>
              <a:rPr lang="en-PH" b="1" dirty="0"/>
              <a:t>Number of skilled staff required – to operate the system: </a:t>
            </a:r>
            <a:r>
              <a:rPr lang="en-PH" dirty="0"/>
              <a:t>the need for ‘skilled’ staff introduces potential additional expenses in terms of</a:t>
            </a:r>
            <a:r>
              <a:rPr lang="en-PH" dirty="0" smtClean="0"/>
              <a:t>:</a:t>
            </a:r>
          </a:p>
          <a:p>
            <a:pPr marL="0" indent="0">
              <a:buNone/>
            </a:pPr>
            <a:r>
              <a:rPr lang="en-PH" dirty="0" smtClean="0"/>
              <a:t> </a:t>
            </a:r>
            <a:r>
              <a:rPr lang="en-PH" dirty="0" smtClean="0"/>
              <a:t>       -  </a:t>
            </a:r>
            <a:r>
              <a:rPr lang="en-PH" dirty="0"/>
              <a:t>Recruitment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        </a:t>
            </a:r>
            <a:r>
              <a:rPr lang="en-PH" dirty="0" smtClean="0"/>
              <a:t>-  </a:t>
            </a:r>
            <a:r>
              <a:rPr lang="en-PH" dirty="0"/>
              <a:t>Remuneration – higher skilled staff attract higher pay rates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        </a:t>
            </a:r>
            <a:r>
              <a:rPr lang="en-PH" dirty="0" smtClean="0"/>
              <a:t>-  </a:t>
            </a:r>
            <a:r>
              <a:rPr lang="en-PH" dirty="0"/>
              <a:t>Training </a:t>
            </a:r>
            <a:endParaRPr lang="en-PH" dirty="0" smtClean="0"/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b="1" dirty="0" smtClean="0"/>
              <a:t>B. </a:t>
            </a:r>
            <a:r>
              <a:rPr lang="en-PH" b="1" dirty="0"/>
              <a:t>Current skill levels of existing staff </a:t>
            </a:r>
            <a:r>
              <a:rPr lang="en-PH" dirty="0"/>
              <a:t>– in relation </a:t>
            </a:r>
            <a:r>
              <a:rPr lang="en-PH" dirty="0" smtClean="0"/>
              <a:t>to </a:t>
            </a:r>
            <a:r>
              <a:rPr lang="en-PH" dirty="0"/>
              <a:t>issues such as: </a:t>
            </a:r>
          </a:p>
          <a:p>
            <a:pPr marL="0" indent="0">
              <a:buNone/>
            </a:pPr>
            <a:r>
              <a:rPr lang="en-PH" dirty="0" smtClean="0"/>
              <a:t> </a:t>
            </a:r>
            <a:r>
              <a:rPr lang="en-PH" dirty="0" smtClean="0"/>
              <a:t>      - </a:t>
            </a:r>
            <a:r>
              <a:rPr lang="en-PH" dirty="0" smtClean="0"/>
              <a:t>Need </a:t>
            </a:r>
            <a:r>
              <a:rPr lang="en-PH" dirty="0"/>
              <a:t>to recruit additional staff </a:t>
            </a:r>
          </a:p>
          <a:p>
            <a:pPr marL="0" indent="0">
              <a:buNone/>
            </a:pPr>
            <a:r>
              <a:rPr lang="en-PH" dirty="0" smtClean="0"/>
              <a:t>       </a:t>
            </a:r>
            <a:r>
              <a:rPr lang="en-PH" dirty="0" smtClean="0"/>
              <a:t>- Need </a:t>
            </a:r>
            <a:r>
              <a:rPr lang="en-PH" dirty="0"/>
              <a:t>to train staff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       </a:t>
            </a:r>
            <a:r>
              <a:rPr lang="en-PH" dirty="0" smtClean="0"/>
              <a:t>-  </a:t>
            </a:r>
            <a:r>
              <a:rPr lang="en-PH" dirty="0"/>
              <a:t>Need to multi-skill employees. </a:t>
            </a:r>
          </a:p>
        </p:txBody>
      </p:sp>
    </p:spTree>
    <p:extLst>
      <p:ext uri="{BB962C8B-B14F-4D97-AF65-F5344CB8AC3E}">
        <p14:creationId xmlns:p14="http://schemas.microsoft.com/office/powerpoint/2010/main" val="2826512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767808"/>
          </a:xfrm>
        </p:spPr>
        <p:txBody>
          <a:bodyPr/>
          <a:lstStyle/>
          <a:p>
            <a:pPr marL="0" indent="0">
              <a:buNone/>
            </a:pPr>
            <a:r>
              <a:rPr lang="en-PH" sz="3600" b="1" dirty="0"/>
              <a:t>Space </a:t>
            </a:r>
            <a:r>
              <a:rPr lang="en-PH" sz="3600" b="1" dirty="0" smtClean="0"/>
              <a:t>constraints</a:t>
            </a:r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        - </a:t>
            </a:r>
            <a:r>
              <a:rPr lang="en-PH" dirty="0"/>
              <a:t>‘Space’ constraints refer to the amount of room you have available for the new/updated catering system.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         - </a:t>
            </a:r>
            <a:r>
              <a:rPr lang="en-PH" dirty="0"/>
              <a:t>Use of more space results in added ‘opportunity cost’ – that is, the loss of the extra space is a cost to the business because it cannot be used to generate income (through setting extra tables to enable the selling and service of extra meals) 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1358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640871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PH" b="1" dirty="0"/>
              <a:t>The need to position the food production areas to integrate efficiently and effectively with other stages of the flow of food within the kitchen, in relation to activities such as: </a:t>
            </a:r>
            <a:r>
              <a:rPr lang="en-PH" b="1" dirty="0" smtClean="0"/>
              <a:t> </a:t>
            </a:r>
            <a:endParaRPr lang="en-PH" b="1" dirty="0"/>
          </a:p>
          <a:p>
            <a:pPr marL="0" indent="0">
              <a:buNone/>
            </a:pPr>
            <a:r>
              <a:rPr lang="en-PH" dirty="0" smtClean="0"/>
              <a:t>1. </a:t>
            </a:r>
            <a:r>
              <a:rPr lang="en-PH" dirty="0" smtClean="0"/>
              <a:t>‘</a:t>
            </a:r>
            <a:r>
              <a:rPr lang="en-PH" dirty="0"/>
              <a:t>Goods in’ to the kitchen – </a:t>
            </a:r>
            <a:r>
              <a:rPr lang="en-PH" dirty="0" err="1"/>
              <a:t>receival</a:t>
            </a:r>
            <a:r>
              <a:rPr lang="en-PH" dirty="0"/>
              <a:t> of goods from suppliers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2. Storage </a:t>
            </a:r>
            <a:r>
              <a:rPr lang="en-PH" dirty="0"/>
              <a:t>of ingredients – in relation to: </a:t>
            </a:r>
          </a:p>
          <a:p>
            <a:pPr marL="0" indent="0">
              <a:buNone/>
            </a:pPr>
            <a:r>
              <a:rPr lang="en-PH" dirty="0" smtClean="0"/>
              <a:t>             a</a:t>
            </a:r>
            <a:r>
              <a:rPr lang="en-PH" dirty="0" smtClean="0"/>
              <a:t>.  Dry </a:t>
            </a:r>
            <a:r>
              <a:rPr lang="en-PH" dirty="0"/>
              <a:t>goods storage </a:t>
            </a:r>
          </a:p>
          <a:p>
            <a:pPr marL="0" indent="0">
              <a:buNone/>
            </a:pPr>
            <a:r>
              <a:rPr lang="en-PH" dirty="0" smtClean="0"/>
              <a:t>             b</a:t>
            </a:r>
            <a:r>
              <a:rPr lang="en-PH" dirty="0" smtClean="0"/>
              <a:t>.  </a:t>
            </a:r>
            <a:r>
              <a:rPr lang="en-PH" dirty="0"/>
              <a:t>Refrigerated storage </a:t>
            </a:r>
          </a:p>
          <a:p>
            <a:pPr marL="0" indent="0">
              <a:buNone/>
            </a:pPr>
            <a:r>
              <a:rPr lang="en-PH" dirty="0" smtClean="0"/>
              <a:t>             c</a:t>
            </a:r>
            <a:r>
              <a:rPr lang="en-PH" dirty="0" smtClean="0"/>
              <a:t>. Frozen </a:t>
            </a:r>
            <a:r>
              <a:rPr lang="en-PH" dirty="0"/>
              <a:t>storage 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3. Food </a:t>
            </a:r>
            <a:r>
              <a:rPr lang="en-PH" dirty="0"/>
              <a:t>preparation – prior to production/cooking of food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4.  </a:t>
            </a:r>
            <a:r>
              <a:rPr lang="en-PH" dirty="0"/>
              <a:t>Production/cooking – of menu items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5.  </a:t>
            </a:r>
            <a:r>
              <a:rPr lang="en-PH" dirty="0"/>
              <a:t>Post-cooking storage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6.  </a:t>
            </a:r>
            <a:r>
              <a:rPr lang="en-PH" dirty="0"/>
              <a:t>Re-constitution of menu items – where applicable  </a:t>
            </a:r>
          </a:p>
          <a:p>
            <a:pPr marL="0" indent="0">
              <a:buNone/>
            </a:pPr>
            <a:r>
              <a:rPr lang="en-PH" dirty="0" smtClean="0"/>
              <a:t>7. Re-</a:t>
            </a:r>
            <a:r>
              <a:rPr lang="en-PH" dirty="0" err="1" smtClean="0"/>
              <a:t>thermalisation</a:t>
            </a:r>
            <a:r>
              <a:rPr lang="en-PH" dirty="0" smtClean="0"/>
              <a:t> </a:t>
            </a:r>
            <a:r>
              <a:rPr lang="en-PH" dirty="0"/>
              <a:t>– where applicable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8.  </a:t>
            </a:r>
            <a:r>
              <a:rPr lang="en-PH" dirty="0"/>
              <a:t>Distribution to other outlets </a:t>
            </a:r>
            <a:endParaRPr lang="en-PH" dirty="0" smtClean="0"/>
          </a:p>
          <a:p>
            <a:pPr marL="0" indent="0">
              <a:buNone/>
            </a:pPr>
            <a:r>
              <a:rPr lang="en-PH" b="1" dirty="0" smtClean="0"/>
              <a:t>The </a:t>
            </a:r>
            <a:r>
              <a:rPr lang="en-PH" b="1" dirty="0"/>
              <a:t>need to locate food production facilities to facilitate: </a:t>
            </a:r>
            <a:endParaRPr lang="en-PH" b="1" dirty="0" smtClean="0"/>
          </a:p>
          <a:p>
            <a:pPr marL="0" indent="0">
              <a:buNone/>
            </a:pPr>
            <a:r>
              <a:rPr lang="en-PH" dirty="0" smtClean="0"/>
              <a:t>1.  </a:t>
            </a:r>
            <a:r>
              <a:rPr lang="en-PH" dirty="0"/>
              <a:t>Food service </a:t>
            </a:r>
          </a:p>
          <a:p>
            <a:pPr marL="0" indent="0">
              <a:buNone/>
            </a:pPr>
            <a:r>
              <a:rPr lang="en-PH" dirty="0" smtClean="0"/>
              <a:t>2. Access </a:t>
            </a:r>
            <a:r>
              <a:rPr lang="en-PH" dirty="0"/>
              <a:t>by customers and wait staff</a:t>
            </a:r>
            <a:r>
              <a:rPr lang="en-PH" dirty="0" smtClean="0"/>
              <a:t>. 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86037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2784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PH" sz="3900" b="1" dirty="0"/>
              <a:t>Compliance </a:t>
            </a:r>
            <a:r>
              <a:rPr lang="en-PH" sz="3900" b="1" dirty="0" smtClean="0"/>
              <a:t>constraints</a:t>
            </a:r>
          </a:p>
          <a:p>
            <a:pPr marL="0" indent="0">
              <a:buNone/>
            </a:pPr>
            <a:r>
              <a:rPr lang="en-PH" dirty="0" smtClean="0"/>
              <a:t> </a:t>
            </a:r>
            <a:r>
              <a:rPr lang="en-PH" dirty="0"/>
              <a:t>In relation to compliance constraints you need to ensure the catering system/option you choose will: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1. Enable </a:t>
            </a:r>
            <a:r>
              <a:rPr lang="en-PH" dirty="0"/>
              <a:t>compliance with host country food safety legislation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2. Complies </a:t>
            </a:r>
            <a:r>
              <a:rPr lang="en-PH" dirty="0"/>
              <a:t>with all requirements of any HACCP-based Food Safety Plan/Program used by the kitchen – or enables a new HACCP-based </a:t>
            </a:r>
            <a:r>
              <a:rPr lang="en-PH" dirty="0" smtClean="0"/>
              <a:t>FSP(food safety plan) </a:t>
            </a:r>
            <a:r>
              <a:rPr lang="en-PH" dirty="0"/>
              <a:t>to be developed to reflect the new/revised catering system </a:t>
            </a:r>
          </a:p>
          <a:p>
            <a:pPr marL="0" indent="0">
              <a:buNone/>
            </a:pPr>
            <a:r>
              <a:rPr lang="en-PH" dirty="0" smtClean="0"/>
              <a:t>3. Reflect </a:t>
            </a:r>
            <a:r>
              <a:rPr lang="en-PH" dirty="0"/>
              <a:t>industry ‘best practice’ in terms of: </a:t>
            </a:r>
            <a:endParaRPr lang="en-PH" dirty="0" smtClean="0"/>
          </a:p>
          <a:p>
            <a:pPr marL="0" indent="0">
              <a:buNone/>
            </a:pPr>
            <a:r>
              <a:rPr lang="en-PH" dirty="0"/>
              <a:t> </a:t>
            </a:r>
            <a:r>
              <a:rPr lang="en-PH" dirty="0" smtClean="0"/>
              <a:t>  a.  </a:t>
            </a:r>
            <a:r>
              <a:rPr lang="en-PH" dirty="0"/>
              <a:t>Food handling practices, procedures, policies and protocols </a:t>
            </a:r>
          </a:p>
          <a:p>
            <a:pPr marL="0" indent="0">
              <a:buNone/>
            </a:pPr>
            <a:r>
              <a:rPr lang="en-PH" dirty="0" smtClean="0"/>
              <a:t>   b. Food </a:t>
            </a:r>
            <a:r>
              <a:rPr lang="en-PH" dirty="0"/>
              <a:t>production and food service. </a:t>
            </a:r>
          </a:p>
        </p:txBody>
      </p:sp>
    </p:spTree>
    <p:extLst>
      <p:ext uri="{BB962C8B-B14F-4D97-AF65-F5344CB8AC3E}">
        <p14:creationId xmlns:p14="http://schemas.microsoft.com/office/powerpoint/2010/main" val="2243674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1998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H" sz="3900" b="1" dirty="0" smtClean="0"/>
              <a:t>Timing Constraints</a:t>
            </a:r>
          </a:p>
          <a:p>
            <a:r>
              <a:rPr lang="en-PH" dirty="0" smtClean="0"/>
              <a:t>Considerations </a:t>
            </a:r>
            <a:r>
              <a:rPr lang="en-PH" dirty="0"/>
              <a:t>may relate to: </a:t>
            </a:r>
          </a:p>
          <a:p>
            <a:pPr marL="0" indent="0">
              <a:buNone/>
            </a:pPr>
            <a:r>
              <a:rPr lang="en-PH" dirty="0" smtClean="0"/>
              <a:t>1. The </a:t>
            </a:r>
            <a:r>
              <a:rPr lang="en-PH" dirty="0"/>
              <a:t>need to the new or revised system to be fully-functional by a given date – so advanced bookings can be catered for and catering contracts can be fulfilled </a:t>
            </a:r>
            <a:endParaRPr lang="en-PH" dirty="0" smtClean="0"/>
          </a:p>
          <a:p>
            <a:pPr marL="0" indent="0">
              <a:buNone/>
            </a:pPr>
            <a:r>
              <a:rPr lang="en-PH" dirty="0" smtClean="0"/>
              <a:t>2. The </a:t>
            </a:r>
            <a:r>
              <a:rPr lang="en-PH" dirty="0"/>
              <a:t>need for certain stages of the project to be completed by nominated dates – for example, specific timelines may be set for: </a:t>
            </a:r>
            <a:endParaRPr lang="en-PH" dirty="0" smtClean="0"/>
          </a:p>
          <a:p>
            <a:pPr marL="514350" indent="-514350">
              <a:buAutoNum type="alphaLcPeriod"/>
            </a:pPr>
            <a:r>
              <a:rPr lang="en-PH" dirty="0" smtClean="0"/>
              <a:t>Research </a:t>
            </a:r>
            <a:r>
              <a:rPr lang="en-PH" dirty="0"/>
              <a:t>and decision making </a:t>
            </a:r>
            <a:endParaRPr lang="en-PH" dirty="0" smtClean="0"/>
          </a:p>
          <a:p>
            <a:pPr marL="514350" indent="-514350">
              <a:buAutoNum type="alphaLcPeriod"/>
            </a:pPr>
            <a:r>
              <a:rPr lang="en-PH" dirty="0" smtClean="0"/>
              <a:t> </a:t>
            </a:r>
            <a:r>
              <a:rPr lang="en-PH" dirty="0"/>
              <a:t>Releasing Request For Tender (RFT) documentation </a:t>
            </a:r>
            <a:endParaRPr lang="en-PH" dirty="0" smtClean="0"/>
          </a:p>
          <a:p>
            <a:pPr marL="514350" indent="-514350">
              <a:buAutoNum type="alphaLcPeriod"/>
            </a:pPr>
            <a:r>
              <a:rPr lang="en-PH" dirty="0" smtClean="0"/>
              <a:t> </a:t>
            </a:r>
            <a:r>
              <a:rPr lang="en-PH" dirty="0"/>
              <a:t>Awarding the contract </a:t>
            </a:r>
          </a:p>
          <a:p>
            <a:pPr marL="0" indent="0">
              <a:buNone/>
            </a:pPr>
            <a:r>
              <a:rPr lang="en-PH" dirty="0" smtClean="0"/>
              <a:t>3. The </a:t>
            </a:r>
            <a:r>
              <a:rPr lang="en-PH" dirty="0"/>
              <a:t>need for money to be spent by a given date – in order:  </a:t>
            </a:r>
            <a:r>
              <a:rPr lang="en-PH" dirty="0" smtClean="0"/>
              <a:t> </a:t>
            </a:r>
          </a:p>
          <a:p>
            <a:pPr marL="0" indent="0">
              <a:buNone/>
            </a:pPr>
            <a:r>
              <a:rPr lang="en-PH" dirty="0" smtClean="0"/>
              <a:t> - For </a:t>
            </a:r>
            <a:r>
              <a:rPr lang="en-PH" dirty="0"/>
              <a:t>expenditure to qualify for taxation claims </a:t>
            </a:r>
          </a:p>
          <a:p>
            <a:pPr marL="0" indent="0">
              <a:buNone/>
            </a:pPr>
            <a:r>
              <a:rPr lang="en-PH" dirty="0" smtClean="0"/>
              <a:t> - That </a:t>
            </a:r>
            <a:r>
              <a:rPr lang="en-PH" dirty="0"/>
              <a:t>grants are used by the date required. </a:t>
            </a:r>
          </a:p>
        </p:txBody>
      </p:sp>
    </p:spTree>
    <p:extLst>
      <p:ext uri="{BB962C8B-B14F-4D97-AF65-F5344CB8AC3E}">
        <p14:creationId xmlns:p14="http://schemas.microsoft.com/office/powerpoint/2010/main" val="4016337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271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PH" sz="3600" b="1" dirty="0" smtClean="0"/>
              <a:t>Existing Equipment Constraints</a:t>
            </a:r>
          </a:p>
          <a:p>
            <a:r>
              <a:rPr lang="en-PH" dirty="0" smtClean="0"/>
              <a:t>Where </a:t>
            </a:r>
            <a:r>
              <a:rPr lang="en-PH" dirty="0"/>
              <a:t>the project requires you to up-date the catering system in an existing venue, as opposed to introducing a totally new system, there will be constraints in relation to</a:t>
            </a:r>
            <a:r>
              <a:rPr lang="en-PH" dirty="0" smtClean="0"/>
              <a:t>:</a:t>
            </a:r>
          </a:p>
          <a:p>
            <a:pPr marL="514350" indent="-514350">
              <a:buAutoNum type="arabicPeriod"/>
            </a:pPr>
            <a:r>
              <a:rPr lang="en-PH" dirty="0" smtClean="0"/>
              <a:t>Ensuring </a:t>
            </a:r>
            <a:r>
              <a:rPr lang="en-PH" dirty="0"/>
              <a:t>new or up-dated equipment integrates with other existing items </a:t>
            </a:r>
            <a:endParaRPr lang="en-PH" dirty="0" smtClean="0"/>
          </a:p>
          <a:p>
            <a:pPr marL="514350" indent="-514350">
              <a:buAutoNum type="arabicPeriod"/>
            </a:pPr>
            <a:r>
              <a:rPr lang="en-PH" dirty="0" smtClean="0"/>
              <a:t> </a:t>
            </a:r>
            <a:r>
              <a:rPr lang="en-PH" dirty="0"/>
              <a:t>Making sure new technologies are compatible with other technologies which are currently in place </a:t>
            </a:r>
            <a:endParaRPr lang="en-PH" dirty="0" smtClean="0"/>
          </a:p>
          <a:p>
            <a:pPr marL="514350" indent="-514350">
              <a:buAutoNum type="arabicPeriod"/>
            </a:pPr>
            <a:r>
              <a:rPr lang="en-PH" dirty="0" smtClean="0"/>
              <a:t> </a:t>
            </a:r>
            <a:r>
              <a:rPr lang="en-PH" dirty="0"/>
              <a:t>New equipment will physically fit in the space left when old items have been removed. </a:t>
            </a:r>
          </a:p>
        </p:txBody>
      </p:sp>
    </p:spTree>
    <p:extLst>
      <p:ext uri="{BB962C8B-B14F-4D97-AF65-F5344CB8AC3E}">
        <p14:creationId xmlns:p14="http://schemas.microsoft.com/office/powerpoint/2010/main" val="8124780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THREE CATEGORIES OF CATERER: 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US" b="1" dirty="0"/>
              <a:t>1. Party food caterers - </a:t>
            </a:r>
            <a:r>
              <a:rPr lang="en-US" dirty="0"/>
              <a:t> supply only food for an event. They drop off cold foods and leave any last - minute preparation, plus service and cleanup to others. </a:t>
            </a:r>
          </a:p>
          <a:p>
            <a:pPr>
              <a:buNone/>
              <a:defRPr/>
            </a:pPr>
            <a:endParaRPr lang="en-PH" dirty="0"/>
          </a:p>
          <a:p>
            <a:pPr marL="0" indent="0">
              <a:buNone/>
              <a:defRPr/>
            </a:pPr>
            <a:r>
              <a:rPr lang="en-US" dirty="0"/>
              <a:t>2. </a:t>
            </a:r>
            <a:r>
              <a:rPr lang="en-US" b="1" dirty="0"/>
              <a:t>Hot buffet caterers</a:t>
            </a:r>
            <a:r>
              <a:rPr lang="en-US" dirty="0"/>
              <a:t> - provide hot foods that are delivered from their commissaries in insulated containers. They sometimes provide serving personnel at an additional charge. </a:t>
            </a:r>
          </a:p>
          <a:p>
            <a:pPr>
              <a:buNone/>
              <a:defRPr/>
            </a:pPr>
            <a:endParaRPr lang="en-PH" dirty="0"/>
          </a:p>
          <a:p>
            <a:pPr marL="0" indent="0">
              <a:buNone/>
              <a:defRPr/>
            </a:pPr>
            <a:r>
              <a:rPr lang="en-US" dirty="0"/>
              <a:t>3. </a:t>
            </a:r>
            <a:r>
              <a:rPr lang="en-US" b="1" dirty="0"/>
              <a:t>Full service caterers - </a:t>
            </a:r>
            <a:r>
              <a:rPr lang="en-US" dirty="0"/>
              <a:t> not only provide food but frequently cook it to order on  – site. They also provide service personnel at the event, plus all the necessary food related equipment – china, glassware, flatware, tables and tents etc… They can arrange for other services like décor, music. In short they plan the entire event. </a:t>
            </a:r>
            <a:endParaRPr lang="en-PH" dirty="0"/>
          </a:p>
          <a:p>
            <a:pPr>
              <a:buFont typeface="Wingdings 3"/>
              <a:buChar char=""/>
              <a:defRPr/>
            </a:pP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18820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5400" b="1" dirty="0">
                <a:solidFill>
                  <a:schemeClr val="tx1"/>
                </a:solidFill>
              </a:rPr>
              <a:t>TYPES OF CATERING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b="1" dirty="0" smtClean="0"/>
              <a:t>1. ON-PREMISE CATERING - </a:t>
            </a:r>
            <a:r>
              <a:rPr lang="en-US" dirty="0"/>
              <a:t>The caterer has his own dining hall with an attached kitchen or </a:t>
            </a:r>
            <a:r>
              <a:rPr lang="en-US" b="1" dirty="0"/>
              <a:t>  </a:t>
            </a:r>
            <a:r>
              <a:rPr lang="en-US" dirty="0"/>
              <a:t>production area</a:t>
            </a:r>
            <a:endParaRPr lang="en-US" b="1" dirty="0" smtClean="0"/>
          </a:p>
          <a:p>
            <a:pPr marL="0" indent="0">
              <a:buNone/>
              <a:defRPr/>
            </a:pPr>
            <a:endParaRPr lang="en-US" b="1" dirty="0"/>
          </a:p>
          <a:p>
            <a:pPr marL="0" indent="0">
              <a:buNone/>
              <a:defRPr/>
            </a:pPr>
            <a:r>
              <a:rPr lang="en-US" b="1" dirty="0" smtClean="0"/>
              <a:t> TYPES OF ON </a:t>
            </a:r>
            <a:r>
              <a:rPr lang="en-US" b="1" dirty="0"/>
              <a:t>– PREMISE CATERING:</a:t>
            </a:r>
            <a:endParaRPr lang="en-PH" dirty="0"/>
          </a:p>
          <a:p>
            <a:pPr>
              <a:buNone/>
              <a:defRPr/>
            </a:pPr>
            <a:r>
              <a:rPr lang="en-US" b="1" dirty="0"/>
              <a:t>1.1. Hospital catering – </a:t>
            </a:r>
            <a:r>
              <a:rPr lang="en-US" dirty="0"/>
              <a:t>events that occur within a hospital environment.</a:t>
            </a:r>
            <a:endParaRPr lang="en-PH" dirty="0"/>
          </a:p>
          <a:p>
            <a:pPr>
              <a:buNone/>
              <a:defRPr/>
            </a:pPr>
            <a:r>
              <a:rPr lang="en-US" b="1" dirty="0"/>
              <a:t>1.2. High School/Elementary School catering </a:t>
            </a:r>
            <a:r>
              <a:rPr lang="en-US" dirty="0"/>
              <a:t>– events that may occur anywhere in the school property but food preparation is done in the school cafeteria.</a:t>
            </a:r>
            <a:endParaRPr lang="en-PH" dirty="0"/>
          </a:p>
          <a:p>
            <a:pPr>
              <a:buNone/>
              <a:defRPr/>
            </a:pPr>
            <a:r>
              <a:rPr lang="en-US" b="1" dirty="0"/>
              <a:t>1.3.</a:t>
            </a:r>
            <a:r>
              <a:rPr lang="en-US" dirty="0"/>
              <a:t> </a:t>
            </a:r>
            <a:r>
              <a:rPr lang="en-US" b="1" dirty="0"/>
              <a:t>University/College catering</a:t>
            </a:r>
            <a:r>
              <a:rPr lang="en-US" dirty="0"/>
              <a:t> – provides food and related services to students, faculty, administrators and guests.</a:t>
            </a:r>
            <a:endParaRPr lang="en-PH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550996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336704"/>
          </a:xfrm>
        </p:spPr>
        <p:txBody>
          <a:bodyPr>
            <a:normAutofit fontScale="85000" lnSpcReduction="10000"/>
          </a:bodyPr>
          <a:lstStyle/>
          <a:p>
            <a:pPr>
              <a:buNone/>
              <a:defRPr/>
            </a:pPr>
            <a:r>
              <a:rPr lang="en-US" b="1" i="1" u="sng" dirty="0"/>
              <a:t>2. </a:t>
            </a:r>
            <a:r>
              <a:rPr lang="en-US" sz="3300" b="1" u="sng" dirty="0" smtClean="0"/>
              <a:t>OFF – PREMISE CATERING </a:t>
            </a:r>
            <a:r>
              <a:rPr lang="en-US" b="1" u="sng" dirty="0" smtClean="0"/>
              <a:t>- </a:t>
            </a:r>
            <a:r>
              <a:rPr lang="en-US" sz="2800" dirty="0"/>
              <a:t>The caterer brings the complete service to the customer. This may be at a private home, church office, school or any type of outdoor affair. He is provided a kitchen. He brings other facilities and equipment for food production, transport and service</a:t>
            </a:r>
            <a:r>
              <a:rPr lang="en-US" sz="2800" dirty="0" smtClean="0"/>
              <a:t>.</a:t>
            </a:r>
          </a:p>
          <a:p>
            <a:pPr marL="0" indent="0">
              <a:buNone/>
              <a:defRPr/>
            </a:pPr>
            <a:r>
              <a:rPr lang="en-US" sz="2800" b="1" dirty="0"/>
              <a:t>TYPES OF OFF – PREMISE CATERING:</a:t>
            </a:r>
            <a:endParaRPr lang="en-PH" sz="2800" dirty="0"/>
          </a:p>
          <a:p>
            <a:pPr>
              <a:buNone/>
              <a:defRPr/>
            </a:pPr>
            <a:r>
              <a:rPr lang="en-US" sz="2800" b="1" dirty="0"/>
              <a:t>1. Supermarket catering</a:t>
            </a:r>
            <a:r>
              <a:rPr lang="en-US" sz="2800" dirty="0"/>
              <a:t> – provides items that can be picked up and taken home or to another location.</a:t>
            </a:r>
            <a:endParaRPr lang="en-PH" sz="2800" dirty="0"/>
          </a:p>
          <a:p>
            <a:pPr>
              <a:buNone/>
              <a:defRPr/>
            </a:pPr>
            <a:r>
              <a:rPr lang="en-US" sz="2800" b="1" dirty="0"/>
              <a:t>2. Dual restaurant-catering operations</a:t>
            </a:r>
            <a:r>
              <a:rPr lang="en-US" sz="2800" dirty="0"/>
              <a:t> – when a restaurant operator evolves into catering services to strategically increase the efficiencies of the base operation.</a:t>
            </a:r>
            <a:endParaRPr lang="en-PH" sz="2800" dirty="0"/>
          </a:p>
          <a:p>
            <a:pPr>
              <a:buNone/>
              <a:defRPr/>
            </a:pPr>
            <a:r>
              <a:rPr lang="en-US" sz="2800" b="1" dirty="0"/>
              <a:t>3. Conventions and weddings</a:t>
            </a:r>
            <a:r>
              <a:rPr lang="en-US" sz="2800" dirty="0"/>
              <a:t> – provides food service to support professional, business and social activities of a large group of people. </a:t>
            </a:r>
            <a:endParaRPr lang="en-PH" sz="2800" dirty="0"/>
          </a:p>
          <a:p>
            <a:pPr>
              <a:buNone/>
              <a:defRPr/>
            </a:pPr>
            <a:r>
              <a:rPr lang="en-US" sz="2800" b="1" dirty="0"/>
              <a:t>4. Mobile catering</a:t>
            </a:r>
            <a:r>
              <a:rPr lang="en-US" sz="2800" dirty="0"/>
              <a:t> – employs one or a fleet of trucks to support an assortment of food and beverages for customers located at diverse locations.</a:t>
            </a:r>
            <a:endParaRPr lang="en-PH" sz="2800" dirty="0"/>
          </a:p>
          <a:p>
            <a:pPr>
              <a:buNone/>
              <a:defRPr/>
            </a:pPr>
            <a:endParaRPr lang="en-PH" sz="2800" dirty="0"/>
          </a:p>
          <a:p>
            <a:pPr>
              <a:buFont typeface="Wingdings 3"/>
              <a:buChar char=""/>
              <a:defRPr/>
            </a:pPr>
            <a:endParaRPr lang="en-PH" sz="2800" dirty="0"/>
          </a:p>
          <a:p>
            <a:pPr marL="0" indent="0">
              <a:buNone/>
            </a:pP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34842208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CLASSIFICATIONS OF CATERING SEGMENT: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1. Commercial Segment</a:t>
            </a:r>
            <a:r>
              <a:rPr lang="en-US" dirty="0"/>
              <a:t> –for profit operations; financial goals include a profit gained from revenue minus expenses.</a:t>
            </a:r>
            <a:endParaRPr lang="en-PH" dirty="0"/>
          </a:p>
          <a:p>
            <a:pPr>
              <a:buNone/>
            </a:pPr>
            <a:r>
              <a:rPr lang="en-US" b="1" dirty="0"/>
              <a:t>2. Non-commercial Segment</a:t>
            </a:r>
            <a:r>
              <a:rPr lang="en-US" dirty="0"/>
              <a:t> – non-profit oriented operations; operates on a break-even basis/ or very minimal revenue for operation expenses.  Catering services are provided as a complementary service.</a:t>
            </a:r>
            <a:endParaRPr lang="en-PH" dirty="0"/>
          </a:p>
          <a:p>
            <a:pPr>
              <a:buNone/>
            </a:pPr>
            <a:r>
              <a:rPr lang="en-US" b="1" dirty="0"/>
              <a:t>3. Military Segment</a:t>
            </a:r>
            <a:r>
              <a:rPr lang="en-US" dirty="0"/>
              <a:t> – for military or diplomatic events; operates on a break-even basis.</a:t>
            </a:r>
            <a:endParaRPr lang="en-PH" dirty="0"/>
          </a:p>
          <a:p>
            <a:endParaRPr lang="en-PH" dirty="0"/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6551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REQUIREMENTS IN SELECTING A CATERER: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dirty="0"/>
              <a:t>1. </a:t>
            </a:r>
            <a:r>
              <a:rPr lang="en-US" sz="4000" dirty="0"/>
              <a:t>The caterer has a respectable image.</a:t>
            </a:r>
            <a:endParaRPr lang="en-PH" sz="4000" dirty="0"/>
          </a:p>
          <a:p>
            <a:pPr>
              <a:buNone/>
            </a:pPr>
            <a:r>
              <a:rPr lang="en-US" sz="4000" dirty="0"/>
              <a:t>2. Record of past catering services.</a:t>
            </a:r>
            <a:endParaRPr lang="en-PH" sz="4000" dirty="0"/>
          </a:p>
          <a:p>
            <a:pPr>
              <a:buNone/>
            </a:pPr>
            <a:r>
              <a:rPr lang="en-US" sz="4000" dirty="0"/>
              <a:t>3. Availability of catering facilities.</a:t>
            </a:r>
            <a:endParaRPr lang="en-PH" sz="4000" dirty="0"/>
          </a:p>
          <a:p>
            <a:pPr>
              <a:buNone/>
            </a:pPr>
            <a:r>
              <a:rPr lang="en-US" sz="4000" dirty="0"/>
              <a:t>4. Impressive menu offering.</a:t>
            </a:r>
            <a:endParaRPr lang="en-PH" sz="4000" dirty="0"/>
          </a:p>
          <a:p>
            <a:pPr>
              <a:buNone/>
            </a:pPr>
            <a:r>
              <a:rPr lang="en-US" sz="4000" dirty="0"/>
              <a:t>5. Reasonable prices considering the inclusion of services.</a:t>
            </a:r>
            <a:endParaRPr lang="en-PH" sz="4000" dirty="0"/>
          </a:p>
          <a:p>
            <a:pPr marL="0" indent="0">
              <a:buNone/>
            </a:pP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0167721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FACTORS TO A SUCCESSFUL CATERING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  <a:defRPr/>
            </a:pPr>
            <a:r>
              <a:rPr lang="en-US" sz="2800" dirty="0"/>
              <a:t>1. Kind of food provided by caterer</a:t>
            </a:r>
            <a:endParaRPr lang="en-PH" sz="2800" dirty="0"/>
          </a:p>
          <a:p>
            <a:pPr>
              <a:buNone/>
              <a:defRPr/>
            </a:pPr>
            <a:r>
              <a:rPr lang="en-US" sz="2800" dirty="0"/>
              <a:t>2. Promptness and efficiency in dining service</a:t>
            </a:r>
            <a:endParaRPr lang="en-PH" sz="2800" dirty="0"/>
          </a:p>
          <a:p>
            <a:pPr>
              <a:buNone/>
              <a:defRPr/>
            </a:pPr>
            <a:r>
              <a:rPr lang="en-US" sz="2800" dirty="0"/>
              <a:t>3. Dining atmosphere</a:t>
            </a:r>
            <a:endParaRPr lang="en-PH" sz="2800" dirty="0"/>
          </a:p>
          <a:p>
            <a:pPr>
              <a:buNone/>
              <a:defRPr/>
            </a:pPr>
            <a:r>
              <a:rPr lang="en-US" sz="2800" dirty="0"/>
              <a:t>4. Relationship between the caterer and client</a:t>
            </a:r>
            <a:endParaRPr lang="en-PH" sz="2800" dirty="0"/>
          </a:p>
          <a:p>
            <a:pPr>
              <a:buNone/>
              <a:defRPr/>
            </a:pPr>
            <a:r>
              <a:rPr lang="en-US" sz="2800" dirty="0"/>
              <a:t>5. Genuine practice of sanitation and hygiene</a:t>
            </a:r>
            <a:endParaRPr lang="en-PH" sz="2800" dirty="0"/>
          </a:p>
          <a:p>
            <a:pPr>
              <a:buNone/>
              <a:defRPr/>
            </a:pPr>
            <a:r>
              <a:rPr lang="en-PH" sz="2800" dirty="0"/>
              <a:t>6.  </a:t>
            </a:r>
            <a:r>
              <a:rPr lang="en-US" sz="2800" dirty="0"/>
              <a:t>Adequate knowledge on Cost Control and   </a:t>
            </a:r>
          </a:p>
          <a:p>
            <a:pPr>
              <a:buNone/>
              <a:defRPr/>
            </a:pPr>
            <a:r>
              <a:rPr lang="en-US" sz="2800" dirty="0"/>
              <a:t>    Pricing</a:t>
            </a:r>
            <a:endParaRPr lang="en-PH" sz="2800" dirty="0"/>
          </a:p>
          <a:p>
            <a:pPr>
              <a:buNone/>
              <a:defRPr/>
            </a:pPr>
            <a:r>
              <a:rPr lang="en-US" sz="2800" dirty="0"/>
              <a:t>7.  Artistic skills for presentation the includes </a:t>
            </a:r>
          </a:p>
          <a:p>
            <a:pPr>
              <a:buNone/>
              <a:defRPr/>
            </a:pPr>
            <a:r>
              <a:rPr lang="en-US" sz="2800" dirty="0"/>
              <a:t>    skirting, napkin folding and flower arrangement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16793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b="1" dirty="0">
                <a:solidFill>
                  <a:schemeClr val="tx1"/>
                </a:solidFill>
              </a:rPr>
              <a:t>MAJOR CHALLENGES BY A CATERING DEPARTMENT 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  <a:defRPr/>
            </a:pPr>
            <a:r>
              <a:rPr lang="en-PH" sz="2800" dirty="0"/>
              <a:t>1. Marketing the catering department services </a:t>
            </a:r>
          </a:p>
          <a:p>
            <a:pPr>
              <a:buNone/>
              <a:defRPr/>
            </a:pPr>
            <a:r>
              <a:rPr lang="en-PH" sz="2800" dirty="0"/>
              <a:t>2. Excessive amount of time spent with clients</a:t>
            </a:r>
          </a:p>
          <a:p>
            <a:pPr>
              <a:buNone/>
              <a:defRPr/>
            </a:pPr>
            <a:r>
              <a:rPr lang="en-PH" sz="2800" dirty="0"/>
              <a:t>3. Unique demands </a:t>
            </a:r>
          </a:p>
          <a:p>
            <a:pPr>
              <a:buNone/>
              <a:defRPr/>
            </a:pPr>
            <a:r>
              <a:rPr lang="en-PH" sz="2800" dirty="0"/>
              <a:t>4. Difficulty in costing out and pricing certain functions</a:t>
            </a:r>
          </a:p>
          <a:p>
            <a:pPr>
              <a:buNone/>
              <a:defRPr/>
            </a:pPr>
            <a:r>
              <a:rPr lang="en-PH" sz="2800" dirty="0"/>
              <a:t>5. Ethical traps </a:t>
            </a:r>
          </a:p>
          <a:p>
            <a:pPr>
              <a:buNone/>
              <a:defRPr/>
            </a:pPr>
            <a:r>
              <a:rPr lang="en-PH" sz="2800" dirty="0"/>
              <a:t>6. Responsibility  greater than authority </a:t>
            </a:r>
          </a:p>
          <a:p>
            <a:pPr>
              <a:buNone/>
              <a:defRPr/>
            </a:pPr>
            <a:r>
              <a:rPr lang="en-PH" sz="2800" dirty="0"/>
              <a:t>7. Time pressures </a:t>
            </a:r>
          </a:p>
          <a:p>
            <a:pPr>
              <a:buNone/>
              <a:defRPr/>
            </a:pPr>
            <a:r>
              <a:rPr lang="en-PH" sz="2800" dirty="0"/>
              <a:t>8. Maintaining  qualified staff members </a:t>
            </a:r>
          </a:p>
          <a:p>
            <a:pPr>
              <a:buNone/>
              <a:defRPr/>
            </a:pPr>
            <a:r>
              <a:rPr lang="en-PH" sz="2800" dirty="0"/>
              <a:t>9. Lack of technical foodservice skills </a:t>
            </a:r>
          </a:p>
          <a:p>
            <a:pPr>
              <a:buNone/>
              <a:defRPr/>
            </a:pPr>
            <a:r>
              <a:rPr lang="en-PH" dirty="0"/>
              <a:t> </a:t>
            </a:r>
          </a:p>
          <a:p>
            <a:pPr>
              <a:buNone/>
              <a:defRPr/>
            </a:pPr>
            <a:r>
              <a:rPr lang="en-PH" dirty="0"/>
              <a:t> 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152566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1055</TotalTime>
  <Words>4895</Words>
  <Application>Microsoft Office PowerPoint</Application>
  <PresentationFormat>On-screen Show (4:3)</PresentationFormat>
  <Paragraphs>547</Paragraphs>
  <Slides>63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Flow</vt:lpstr>
      <vt:lpstr>BANQUET AND CATERING MANAGEMENT</vt:lpstr>
      <vt:lpstr>Definition of terms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Businesses which may need to select a catering system: </vt:lpstr>
      <vt:lpstr>PowerPoint Presentation</vt:lpstr>
      <vt:lpstr>PowerPoint Presentation</vt:lpstr>
      <vt:lpstr>PowerPoint Presentation</vt:lpstr>
      <vt:lpstr>Five advantages of the conventional catering system</vt:lpstr>
      <vt:lpstr>5 disadvantages of the conventional catering system</vt:lpstr>
      <vt:lpstr>PowerPoint Presentation</vt:lpstr>
      <vt:lpstr>Advantages of the ready-prepared(cook-chill or cook-freeze) catering system</vt:lpstr>
      <vt:lpstr>Disadvantages of the ready-prepared(cook-chill or cook-freeze) catering system</vt:lpstr>
      <vt:lpstr>PowerPoint Presentation</vt:lpstr>
      <vt:lpstr>PowerPoint Presentation</vt:lpstr>
      <vt:lpstr>Advantages of commissary catering system</vt:lpstr>
      <vt:lpstr>Disadvantages of commissary catering system</vt:lpstr>
      <vt:lpstr>PowerPoint Presentation</vt:lpstr>
      <vt:lpstr>Catering/banquet brigade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skills required for people who will select catering system</vt:lpstr>
      <vt:lpstr>PowerPoint Presentation</vt:lpstr>
      <vt:lpstr>PowerPoint Presentation</vt:lpstr>
      <vt:lpstr>PowerPoint Presentation</vt:lpstr>
      <vt:lpstr>  people who select catering system should possess the following knowledge:</vt:lpstr>
      <vt:lpstr>PowerPoint Presentation</vt:lpstr>
      <vt:lpstr>PowerPoint Presentation</vt:lpstr>
      <vt:lpstr>       Determining enterprise catering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 general classifications of enterprise constraints which may need to be taken into account when selecting a catering system for a business: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THREE CATEGORIES OF CATERER: </vt:lpstr>
      <vt:lpstr>TYPES OF CATERING</vt:lpstr>
      <vt:lpstr>PowerPoint Presentation</vt:lpstr>
      <vt:lpstr>CLASSIFICATIONS OF CATERING SEGMENT:</vt:lpstr>
      <vt:lpstr>REQUIREMENTS IN SELECTING A CATERER:</vt:lpstr>
      <vt:lpstr>FACTORS TO A SUCCESSFUL CATERING</vt:lpstr>
      <vt:lpstr>MAJOR CHALLENGES BY A CATERING DEPARTMENT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BANQUET AND CATERING MANAGEMENT</dc:title>
  <dc:creator>Delma Ortega</dc:creator>
  <cp:lastModifiedBy>Delma Ortega</cp:lastModifiedBy>
  <cp:revision>49</cp:revision>
  <dcterms:created xsi:type="dcterms:W3CDTF">2020-01-09T00:57:58Z</dcterms:created>
  <dcterms:modified xsi:type="dcterms:W3CDTF">2020-02-03T08:17:20Z</dcterms:modified>
</cp:coreProperties>
</file>