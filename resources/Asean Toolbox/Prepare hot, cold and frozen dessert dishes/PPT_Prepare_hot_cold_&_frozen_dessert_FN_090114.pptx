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57" r:id="rId4"/>
    <p:sldId id="259" r:id="rId5"/>
    <p:sldId id="313" r:id="rId6"/>
    <p:sldId id="260" r:id="rId7"/>
    <p:sldId id="296" r:id="rId8"/>
    <p:sldId id="261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263" r:id="rId19"/>
    <p:sldId id="308" r:id="rId20"/>
    <p:sldId id="309" r:id="rId21"/>
    <p:sldId id="310" r:id="rId22"/>
    <p:sldId id="311" r:id="rId23"/>
    <p:sldId id="312" r:id="rId24"/>
    <p:sldId id="314" r:id="rId2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35" autoAdjust="0"/>
    <p:restoredTop sz="72085" autoAdjust="0"/>
  </p:normalViewPr>
  <p:slideViewPr>
    <p:cSldViewPr>
      <p:cViewPr varScale="1">
        <p:scale>
          <a:sx n="66" d="100"/>
          <a:sy n="66" d="100"/>
        </p:scale>
        <p:origin x="19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31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E6916107-BD3A-45E2-B124-A5ED60630F4B}" type="datetimeFigureOut">
              <a:rPr lang="en-US" smtClean="0"/>
              <a:pPr/>
              <a:t>4/6/2015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5905CC0A-F53C-4267-913E-3202B6ED95E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434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BC34F173-2430-41D6-9CA5-C9CD3BDF7E96}" type="datetimeFigureOut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59" tIns="47380" rIns="94759" bIns="4738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006CD3C9-0AF2-437D-9D2F-7B6B298CC3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69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 to welcome</a:t>
            </a:r>
            <a:r>
              <a:rPr lang="en-US" baseline="0" dirty="0" smtClean="0"/>
              <a:t> students to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315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</a:t>
            </a:r>
            <a:r>
              <a:rPr lang="en-US" baseline="0" dirty="0" smtClean="0"/>
              <a:t> advises students that assessment for this Unit may take several forms all of which are aimed at verifying they have achieved competency for the Unit as required.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Trainer indicates to students the methods of assessment that will be applied to them for this Unit.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281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 advises students this Unit comprises four Elements, as listed on the slide explaining: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Each Element comprises a number of Performance Criteria which will be identified throughout the class and explained in detail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Students can obtain more detail from their Trainee Manual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The course presents advice and information but where their workplace requirements differ to what is presented, the workplace practices and standards must be 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334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discuss:</a:t>
            </a:r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Performance criteria relating to Element 1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hot, cold and frozen desserts </a:t>
            </a:r>
            <a:r>
              <a:rPr lang="en-US" b="0" baseline="0" dirty="0" smtClean="0"/>
              <a:t>the students must be able to </a:t>
            </a:r>
            <a:r>
              <a:rPr lang="en-US" b="1" baseline="0" dirty="0" smtClean="0"/>
              <a:t>Prepare and produce a range of hot, cold and frozen desserts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students must be able to</a:t>
            </a:r>
            <a:r>
              <a:rPr lang="en-US" b="0" baseline="0" dirty="0" smtClean="0"/>
              <a:t>:</a:t>
            </a:r>
          </a:p>
          <a:p>
            <a:pPr lvl="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2200" dirty="0" smtClean="0"/>
              <a:t>Select required </a:t>
            </a:r>
            <a:r>
              <a:rPr lang="en-AU" sz="2200" i="1" dirty="0" smtClean="0"/>
              <a:t>commodities</a:t>
            </a:r>
            <a:r>
              <a:rPr lang="en-AU" sz="2200" dirty="0" smtClean="0"/>
              <a:t> according to recipe and production requirements</a:t>
            </a:r>
          </a:p>
          <a:p>
            <a:pPr lvl="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2200" dirty="0" smtClean="0"/>
              <a:t>Prepare a</a:t>
            </a:r>
            <a:r>
              <a:rPr lang="en-AU" sz="2200" b="1" dirty="0" smtClean="0"/>
              <a:t> </a:t>
            </a:r>
            <a:r>
              <a:rPr lang="en-AU" sz="2200" dirty="0" smtClean="0"/>
              <a:t>variety of </a:t>
            </a:r>
            <a:r>
              <a:rPr lang="en-AU" sz="2200" i="1" dirty="0" smtClean="0"/>
              <a:t>hot desserts</a:t>
            </a:r>
            <a:r>
              <a:rPr lang="en-AU" sz="2200" dirty="0" smtClean="0"/>
              <a:t> according to standard recipes and enterprise standards</a:t>
            </a:r>
          </a:p>
          <a:p>
            <a:pPr lvl="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2200" dirty="0" smtClean="0"/>
              <a:t>Prepare a range of </a:t>
            </a:r>
            <a:r>
              <a:rPr lang="en-AU" sz="2200" i="1" dirty="0" smtClean="0"/>
              <a:t>cold desserts</a:t>
            </a:r>
            <a:r>
              <a:rPr lang="en-AU" sz="2200" dirty="0" smtClean="0"/>
              <a:t> according to standard recipes and enterprise standards</a:t>
            </a:r>
          </a:p>
          <a:p>
            <a:pPr lvl="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2200" dirty="0" smtClean="0"/>
              <a:t>Prepare a range of </a:t>
            </a:r>
            <a:r>
              <a:rPr lang="en-AU" sz="2200" i="1" dirty="0" smtClean="0"/>
              <a:t>frozen desserts</a:t>
            </a:r>
            <a:r>
              <a:rPr lang="en-AU" sz="2200" dirty="0" smtClean="0"/>
              <a:t> according to standard recipes and enterprise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discuss:</a:t>
            </a:r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Performance criteria relating to Element 1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hot, cold and frozen desserts</a:t>
            </a:r>
            <a:r>
              <a:rPr lang="en-US" b="0" baseline="0" dirty="0" smtClean="0"/>
              <a:t> the students must be able to </a:t>
            </a:r>
            <a:r>
              <a:rPr lang="en-US" b="1" baseline="0" dirty="0" smtClean="0"/>
              <a:t>Prepare and produce a range of hot, cold and frozen desserts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students must be able to: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1200" dirty="0" smtClean="0"/>
              <a:t>Use appropriate </a:t>
            </a:r>
            <a:r>
              <a:rPr lang="en-AU" sz="1200" i="1" dirty="0" smtClean="0"/>
              <a:t>equipment</a:t>
            </a:r>
            <a:r>
              <a:rPr lang="en-AU" sz="1200" dirty="0" smtClean="0"/>
              <a:t> to prepare hot, cold and frozen desserts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1200" dirty="0" smtClean="0"/>
              <a:t>Use correct </a:t>
            </a:r>
            <a:r>
              <a:rPr lang="en-AU" sz="1200" i="1" dirty="0" smtClean="0"/>
              <a:t>techniques</a:t>
            </a:r>
            <a:r>
              <a:rPr lang="en-AU" sz="1200" dirty="0" smtClean="0"/>
              <a:t> to produce hot, cold and frozen desserts to enterprise standards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1200" dirty="0" smtClean="0"/>
              <a:t>Produce hot, cold and frozen desserts to </a:t>
            </a:r>
            <a:r>
              <a:rPr lang="en-AU" sz="1200" i="1" dirty="0" smtClean="0"/>
              <a:t>enterprise requirements and standards</a:t>
            </a:r>
            <a:endParaRPr lang="en-AU" sz="1200" dirty="0" smtClean="0"/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1200" dirty="0" smtClean="0"/>
              <a:t>Select </a:t>
            </a:r>
            <a:r>
              <a:rPr lang="en-AU" sz="1200" i="1" dirty="0" smtClean="0"/>
              <a:t>correct cooking conditions</a:t>
            </a:r>
            <a:r>
              <a:rPr lang="en-AU" sz="1200" dirty="0" smtClean="0"/>
              <a:t> for hot, cold and frozen desserts.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273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b="1" dirty="0" smtClean="0">
                <a:latin typeface="Helvetica" pitchFamily="34" charset="0"/>
              </a:rPr>
              <a:t>Sugar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Caster sugar is the best to use here for its ability to dissolve. Other sugars can be used to add interest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b="1" dirty="0" smtClean="0">
                <a:latin typeface="Helvetica" pitchFamily="34" charset="0"/>
              </a:rPr>
              <a:t>Cream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Thickened cream is most versatile here. It can be whipped, boiled, has better </a:t>
            </a:r>
            <a:r>
              <a:rPr lang="en-US" sz="1200" dirty="0" err="1" smtClean="0">
                <a:latin typeface="Helvetica" pitchFamily="34" charset="0"/>
              </a:rPr>
              <a:t>mouthfeel</a:t>
            </a:r>
            <a:r>
              <a:rPr lang="en-US" sz="1200" dirty="0" smtClean="0">
                <a:latin typeface="Helvetica" pitchFamily="34" charset="0"/>
              </a:rPr>
              <a:t>.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b="1" dirty="0" smtClean="0">
                <a:latin typeface="Helvetica" pitchFamily="34" charset="0"/>
              </a:rPr>
              <a:t>Fruit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Fresh fruits, canned and frozen fruits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b="1" dirty="0" smtClean="0">
                <a:latin typeface="Helvetica" pitchFamily="34" charset="0"/>
              </a:rPr>
              <a:t>Nuts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Any nuts can be used, whole sliced </a:t>
            </a:r>
            <a:r>
              <a:rPr lang="en-US" sz="1200" dirty="0" err="1" smtClean="0">
                <a:latin typeface="Helvetica" pitchFamily="34" charset="0"/>
              </a:rPr>
              <a:t>nibbed</a:t>
            </a:r>
            <a:r>
              <a:rPr lang="en-US" sz="1200" baseline="0" dirty="0" smtClean="0">
                <a:latin typeface="Helvetica" pitchFamily="34" charset="0"/>
              </a:rPr>
              <a:t> slivered ground</a:t>
            </a:r>
            <a:endParaRPr lang="en-US" sz="1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Sponge,</a:t>
            </a:r>
            <a:r>
              <a:rPr lang="en-US" sz="1200" baseline="0" dirty="0" smtClean="0">
                <a:latin typeface="Helvetica" pitchFamily="34" charset="0"/>
              </a:rPr>
              <a:t> </a:t>
            </a:r>
            <a:r>
              <a:rPr lang="en-US" sz="1200" dirty="0" smtClean="0">
                <a:latin typeface="Helvetica" pitchFamily="34" charset="0"/>
              </a:rPr>
              <a:t>Cake,</a:t>
            </a:r>
            <a:r>
              <a:rPr lang="en-US" sz="1200" baseline="0" dirty="0" smtClean="0">
                <a:latin typeface="Helvetica" pitchFamily="34" charset="0"/>
              </a:rPr>
              <a:t> </a:t>
            </a:r>
            <a:r>
              <a:rPr lang="en-US" sz="1200" dirty="0" smtClean="0">
                <a:latin typeface="Helvetica" pitchFamily="34" charset="0"/>
              </a:rPr>
              <a:t>Meringue, </a:t>
            </a:r>
            <a:r>
              <a:rPr lang="en-US" sz="1200" dirty="0" err="1" smtClean="0">
                <a:latin typeface="Helvetica" pitchFamily="34" charset="0"/>
              </a:rPr>
              <a:t>Japonaise</a:t>
            </a:r>
            <a:endParaRPr lang="en-US" sz="1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Collection of these are required not make desserts, not flour, fat sugar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1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b="1" dirty="0" smtClean="0">
                <a:latin typeface="Helvetica" pitchFamily="34" charset="0"/>
              </a:rPr>
              <a:t>Fats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These</a:t>
            </a:r>
            <a:r>
              <a:rPr lang="en-US" sz="1200" baseline="0" dirty="0" smtClean="0">
                <a:latin typeface="Helvetica" pitchFamily="34" charset="0"/>
              </a:rPr>
              <a:t> will be either solid or liquid. Many desserts are deep fried so oil for deep frying becomes a commodity even though it might not be in recipe</a:t>
            </a:r>
            <a:endParaRPr lang="en-US" sz="1200" dirty="0" smtClean="0">
              <a:latin typeface="Helvetica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230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r>
              <a:rPr lang="en-US" dirty="0" smtClean="0"/>
              <a:t>At this stage the </a:t>
            </a:r>
            <a:r>
              <a:rPr lang="en-US" dirty="0" err="1" smtClean="0"/>
              <a:t>pastrycook</a:t>
            </a:r>
            <a:r>
              <a:rPr lang="en-US" dirty="0" smtClean="0"/>
              <a:t> does not look for flour sugar eggs to make bases for desserts , they look for commodities like sponge, cake meringue products</a:t>
            </a:r>
          </a:p>
          <a:p>
            <a:pPr>
              <a:buFont typeface="Arial" pitchFamily="34" charset="0"/>
              <a:buNone/>
            </a:pPr>
            <a:r>
              <a:rPr lang="en-US" dirty="0" smtClean="0"/>
              <a:t>How can this products be ‘value added’ to produce </a:t>
            </a:r>
            <a:r>
              <a:rPr lang="en-US" b="1" dirty="0" smtClean="0"/>
              <a:t>‘a grand finale’ </a:t>
            </a:r>
            <a:r>
              <a:rPr lang="en-US" dirty="0" smtClean="0"/>
              <a:t>that</a:t>
            </a:r>
            <a:r>
              <a:rPr lang="en-US" baseline="0" dirty="0" smtClean="0"/>
              <a:t> will excite the customer.</a:t>
            </a:r>
          </a:p>
          <a:p>
            <a:pPr>
              <a:buFont typeface="Arial" pitchFamily="34" charset="0"/>
              <a:buNone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696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b="1" dirty="0" smtClean="0">
                <a:latin typeface="Helvetica" pitchFamily="34" charset="0"/>
              </a:rPr>
              <a:t>Setting agents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b="0" dirty="0" smtClean="0">
                <a:latin typeface="Helvetica" pitchFamily="34" charset="0"/>
              </a:rPr>
              <a:t>Most cream based desserts will have cream and the cream will have a setting agent to hold shape.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b="0" dirty="0" smtClean="0">
                <a:latin typeface="Helvetica" pitchFamily="34" charset="0"/>
              </a:rPr>
              <a:t>The desserts will have been aerated so the setting agent so the setting agent is imperative to hold shape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18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b="1" dirty="0" smtClean="0">
                <a:latin typeface="Helvetica" pitchFamily="34" charset="0"/>
              </a:rPr>
              <a:t>Gelatin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dirty="0" smtClean="0">
                <a:latin typeface="Helvetica" pitchFamily="34" charset="0"/>
              </a:rPr>
              <a:t>The most</a:t>
            </a:r>
            <a:r>
              <a:rPr lang="en-US" sz="1800" baseline="0" dirty="0" smtClean="0">
                <a:latin typeface="Helvetica" pitchFamily="34" charset="0"/>
              </a:rPr>
              <a:t> common setting agent found in desserts, not just cream desserts.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baseline="0" dirty="0" smtClean="0">
                <a:latin typeface="Helvetica" pitchFamily="34" charset="0"/>
              </a:rPr>
              <a:t>Derived from animal hides and bones it has been the most common gelling or setting agent in European style desserts for many years.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18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b="1" dirty="0" smtClean="0">
                <a:latin typeface="Helvetica" pitchFamily="34" charset="0"/>
              </a:rPr>
              <a:t>Agar </a:t>
            </a:r>
            <a:r>
              <a:rPr lang="en-US" sz="1800" b="1" dirty="0" err="1" smtClean="0">
                <a:latin typeface="Helvetica" pitchFamily="34" charset="0"/>
              </a:rPr>
              <a:t>agar</a:t>
            </a:r>
            <a:endParaRPr lang="en-US" sz="18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dirty="0" smtClean="0">
                <a:latin typeface="Helvetica" pitchFamily="34" charset="0"/>
              </a:rPr>
              <a:t>Derived from seaweed and very strong setting agent. Popular in Asian recipes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18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b="1" dirty="0" smtClean="0">
                <a:latin typeface="Helvetica" pitchFamily="34" charset="0"/>
              </a:rPr>
              <a:t>Vegetable gums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dirty="0" smtClean="0">
                <a:latin typeface="Helvetica" pitchFamily="34" charset="0"/>
              </a:rPr>
              <a:t>Derived from seaweed and other vegetable sources. Becoming</a:t>
            </a:r>
            <a:r>
              <a:rPr lang="en-US" sz="1800" baseline="0" dirty="0" smtClean="0">
                <a:latin typeface="Helvetica" pitchFamily="34" charset="0"/>
              </a:rPr>
              <a:t> more available to the market as new style recipes and techniques are developed for the culinary market.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baseline="0" dirty="0" smtClean="0">
                <a:latin typeface="Helvetica" pitchFamily="34" charset="0"/>
              </a:rPr>
              <a:t>Gels and </a:t>
            </a:r>
            <a:r>
              <a:rPr lang="en-US" sz="1800" baseline="0" dirty="0" err="1" smtClean="0">
                <a:latin typeface="Helvetica" pitchFamily="34" charset="0"/>
              </a:rPr>
              <a:t>spherification</a:t>
            </a:r>
            <a:r>
              <a:rPr lang="en-US" sz="1800" baseline="0" dirty="0" smtClean="0">
                <a:latin typeface="Helvetica" pitchFamily="34" charset="0"/>
              </a:rPr>
              <a:t> powders in </a:t>
            </a:r>
            <a:r>
              <a:rPr lang="en-US" sz="1800" baseline="0" dirty="0" err="1" smtClean="0">
                <a:latin typeface="Helvetica" pitchFamily="34" charset="0"/>
              </a:rPr>
              <a:t>avante</a:t>
            </a:r>
            <a:r>
              <a:rPr lang="en-US" sz="1800" baseline="0" dirty="0" smtClean="0">
                <a:latin typeface="Helvetica" pitchFamily="34" charset="0"/>
              </a:rPr>
              <a:t> </a:t>
            </a:r>
            <a:r>
              <a:rPr lang="en-US" sz="1800" baseline="0" dirty="0" err="1" smtClean="0">
                <a:latin typeface="Helvetica" pitchFamily="34" charset="0"/>
              </a:rPr>
              <a:t>garde</a:t>
            </a:r>
            <a:r>
              <a:rPr lang="en-US" sz="1800" baseline="0" dirty="0" smtClean="0">
                <a:latin typeface="Helvetica" pitchFamily="34" charset="0"/>
              </a:rPr>
              <a:t> cookery are becoming more mainstream</a:t>
            </a:r>
            <a:endParaRPr lang="en-US" sz="18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18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b="1" dirty="0" smtClean="0">
                <a:latin typeface="Helvetica" pitchFamily="34" charset="0"/>
              </a:rPr>
              <a:t>Starches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dirty="0" smtClean="0">
                <a:latin typeface="Helvetica" pitchFamily="34" charset="0"/>
              </a:rPr>
              <a:t>Cooked starches from vegetable matter like wheat, rice and maize.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dirty="0" smtClean="0">
                <a:latin typeface="Helvetica" pitchFamily="34" charset="0"/>
              </a:rPr>
              <a:t>Used as powders and when cooked they will hold liquids in suspension.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dirty="0" smtClean="0">
                <a:latin typeface="Helvetica" pitchFamily="34" charset="0"/>
              </a:rPr>
              <a:t>Care must</a:t>
            </a:r>
            <a:r>
              <a:rPr lang="en-US" sz="1800" baseline="0" dirty="0" smtClean="0">
                <a:latin typeface="Helvetica" pitchFamily="34" charset="0"/>
              </a:rPr>
              <a:t> be taken with wheat starches as some people are ‘gluten intolerant’ and other starches must be used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1800" baseline="0" dirty="0" smtClean="0">
                <a:latin typeface="Helvetica" pitchFamily="34" charset="0"/>
              </a:rPr>
              <a:t>All starches have different strengths so recipe modification may need to be developed.</a:t>
            </a:r>
            <a:endParaRPr lang="en-US" sz="1800" dirty="0" smtClean="0">
              <a:latin typeface="Helvetica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56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Desserts come in many forms, Hot, Cold, Frozen and Room temperature. Some desserts</a:t>
            </a:r>
            <a:r>
              <a:rPr lang="en-US" baseline="0" dirty="0" smtClean="0"/>
              <a:t> can be sold in several guises. Hot and cold. Frozen or chilled. 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Warm or frozen??????? Yes. Italian </a:t>
            </a:r>
            <a:r>
              <a:rPr lang="en-US" baseline="0" dirty="0" err="1" smtClean="0"/>
              <a:t>Zablione</a:t>
            </a:r>
            <a:r>
              <a:rPr lang="en-US" baseline="0" dirty="0" smtClean="0"/>
              <a:t>. This can be served warm for breakfast of frozen as a dessert.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err="1" smtClean="0"/>
              <a:t>Souffle</a:t>
            </a:r>
            <a:r>
              <a:rPr lang="en-US" baseline="0" dirty="0" smtClean="0"/>
              <a:t>, baked or chilled , frozen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Classic French baked </a:t>
            </a:r>
            <a:r>
              <a:rPr lang="en-US" baseline="0" dirty="0" err="1" smtClean="0"/>
              <a:t>souffle</a:t>
            </a:r>
            <a:r>
              <a:rPr lang="en-US" baseline="0" dirty="0" smtClean="0"/>
              <a:t>: Served hot and is very fragile, has a small window to be served, within 30 seconds. After this time product quality diminishes. </a:t>
            </a:r>
          </a:p>
          <a:p>
            <a:pPr>
              <a:buFontTx/>
              <a:buNone/>
            </a:pPr>
            <a:r>
              <a:rPr lang="en-US" baseline="0" dirty="0" smtClean="0"/>
              <a:t>Best profit maker on menu. Minimal ingredients, maximum skill, maximum profit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Chilled or frozen is a </a:t>
            </a:r>
            <a:r>
              <a:rPr lang="en-US" baseline="0" dirty="0" err="1" smtClean="0"/>
              <a:t>flavoured</a:t>
            </a:r>
            <a:r>
              <a:rPr lang="en-US" baseline="0" dirty="0" smtClean="0"/>
              <a:t> and aerated egg and cream dessert engineered to look like a baked </a:t>
            </a:r>
            <a:r>
              <a:rPr lang="en-US" baseline="0" dirty="0" err="1" smtClean="0"/>
              <a:t>souffle</a:t>
            </a:r>
            <a:r>
              <a:rPr lang="en-US" baseline="0" dirty="0" smtClean="0"/>
              <a:t>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Puddings:</a:t>
            </a:r>
          </a:p>
          <a:p>
            <a:pPr>
              <a:buFontTx/>
              <a:buNone/>
            </a:pPr>
            <a:r>
              <a:rPr lang="en-US" baseline="0" dirty="0" smtClean="0"/>
              <a:t>Heavy cake style dessert </a:t>
            </a:r>
            <a:r>
              <a:rPr lang="en-US" baseline="0" dirty="0" err="1" smtClean="0"/>
              <a:t>favoured</a:t>
            </a:r>
            <a:r>
              <a:rPr lang="en-US" baseline="0" dirty="0" smtClean="0"/>
              <a:t> in cold climates as hot desserts are more popular. Generally served with hot sauces or custards.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Pies</a:t>
            </a:r>
          </a:p>
          <a:p>
            <a:pPr>
              <a:buFontTx/>
              <a:buNone/>
            </a:pPr>
            <a:r>
              <a:rPr lang="en-US" baseline="0" dirty="0" smtClean="0"/>
              <a:t>Pastry and fruit desserts can be served hot or cold or room temperature. Popular in most western countries for ease of handling. Most fruits can be used in production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Crepes or French pancake. Very thin and fine in texture hence the name crepe, </a:t>
            </a:r>
            <a:r>
              <a:rPr lang="en-US" baseline="0" dirty="0" err="1" smtClean="0"/>
              <a:t>crepinette</a:t>
            </a:r>
            <a:r>
              <a:rPr lang="en-US" baseline="0" dirty="0" smtClean="0"/>
              <a:t> or </a:t>
            </a:r>
            <a:r>
              <a:rPr lang="en-US" baseline="0" dirty="0" err="1" smtClean="0"/>
              <a:t>caul</a:t>
            </a:r>
            <a:r>
              <a:rPr lang="en-US" baseline="0" dirty="0" smtClean="0"/>
              <a:t>.</a:t>
            </a:r>
          </a:p>
          <a:p>
            <a:pPr>
              <a:buFontTx/>
              <a:buNone/>
            </a:pPr>
            <a:r>
              <a:rPr lang="en-US" baseline="0" dirty="0" smtClean="0"/>
              <a:t>Classic French dessert. Can be soft or crispy. Normandy crepes are crispy. Can be </a:t>
            </a:r>
            <a:r>
              <a:rPr lang="en-US" baseline="0" dirty="0" err="1" smtClean="0"/>
              <a:t>savoury</a:t>
            </a:r>
            <a:r>
              <a:rPr lang="en-US" baseline="0" dirty="0" smtClean="0"/>
              <a:t> or sweet dish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Pancakes</a:t>
            </a:r>
          </a:p>
          <a:p>
            <a:pPr>
              <a:buFontTx/>
              <a:buNone/>
            </a:pPr>
            <a:r>
              <a:rPr lang="en-US" baseline="0" dirty="0" smtClean="0"/>
              <a:t>English style is thicker than the French. American flapjack or pancake served for breakfast or dinner.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002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Fruit pies can be served hot , room temperature or chilled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Shortbread with fruit filling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Some fruit tarts with cream patisserie and fruit on top are popular cold desserts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Summer puddings. Berries encased in stale bread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Apple strudel can be hot or cold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Fruit or fruit</a:t>
            </a:r>
            <a:r>
              <a:rPr lang="en-US" b="0" baseline="0" dirty="0" smtClean="0"/>
              <a:t> </a:t>
            </a:r>
            <a:r>
              <a:rPr lang="en-US" b="0" dirty="0" smtClean="0"/>
              <a:t>salads can be simple and easy to prepare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Flavoured Cream desserts such as </a:t>
            </a:r>
            <a:r>
              <a:rPr lang="en-US" b="0" dirty="0" err="1" smtClean="0"/>
              <a:t>bavarois</a:t>
            </a:r>
            <a:r>
              <a:rPr lang="en-US" b="0" dirty="0" smtClean="0"/>
              <a:t>, mousse. Variations are limitless. Need to be kept chilled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06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Variations of these classic desserts are limitless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Deep Fried Ice cream????? Easy to produce, difficult to execute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Sorbets: sugar water and fruit purees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Parfaits: Aerated</a:t>
            </a:r>
            <a:r>
              <a:rPr lang="en-US" baseline="0" dirty="0" smtClean="0"/>
              <a:t> egg and </a:t>
            </a:r>
            <a:r>
              <a:rPr lang="en-US" baseline="0" dirty="0" err="1" smtClean="0"/>
              <a:t>flavoured</a:t>
            </a:r>
            <a:r>
              <a:rPr lang="en-US" baseline="0" dirty="0" smtClean="0"/>
              <a:t> cream mixtures frozen to shape then cut per serve. Variations are limitless.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916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Equipment for desserts is similar to general patisserie equipment but the freezer</a:t>
            </a:r>
            <a:r>
              <a:rPr lang="en-US" baseline="0" dirty="0" smtClean="0"/>
              <a:t> is </a:t>
            </a:r>
            <a:r>
              <a:rPr lang="en-US" baseline="0" dirty="0" err="1" smtClean="0"/>
              <a:t>utilised</a:t>
            </a:r>
            <a:r>
              <a:rPr lang="en-US" baseline="0" dirty="0" smtClean="0"/>
              <a:t> more for the frozen desserts.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Churning equipment to produce ice creams and sorbets</a:t>
            </a:r>
          </a:p>
          <a:p>
            <a:pPr>
              <a:buFont typeface="Arial" pitchFamily="34" charset="0"/>
              <a:buChar char="•"/>
            </a:pPr>
            <a:endParaRPr lang="en-US" baseline="0" dirty="0" smtClean="0"/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Ingredient still need to be mixed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Product still needs to be baked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Temperature of product is important</a:t>
            </a:r>
          </a:p>
          <a:p>
            <a:pPr>
              <a:buFont typeface="Arial" pitchFamily="34" charset="0"/>
              <a:buChar char="•"/>
            </a:pPr>
            <a:endParaRPr lang="en-US" baseline="0" dirty="0" smtClean="0"/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Freezers for storage of frozen product -18</a:t>
            </a:r>
            <a:r>
              <a:rPr lang="en-US" baseline="0" dirty="0" smtClean="0">
                <a:latin typeface="Helvetica"/>
              </a:rPr>
              <a:t>°C</a:t>
            </a:r>
            <a:endParaRPr lang="en-US" baseline="0" dirty="0" smtClean="0"/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Freezers for serving frozen desserts  -12</a:t>
            </a:r>
            <a:r>
              <a:rPr lang="en-US" baseline="0" dirty="0" smtClean="0">
                <a:latin typeface="Helvetica"/>
              </a:rPr>
              <a:t>°C</a:t>
            </a:r>
          </a:p>
          <a:p>
            <a:pPr>
              <a:buFontTx/>
              <a:buNone/>
            </a:pPr>
            <a:endParaRPr lang="en-US" baseline="0" dirty="0" smtClean="0">
              <a:latin typeface="Helvetica"/>
            </a:endParaRPr>
          </a:p>
          <a:p>
            <a:pPr>
              <a:buFontTx/>
              <a:buNone/>
            </a:pPr>
            <a:r>
              <a:rPr lang="en-US" baseline="0" dirty="0" smtClean="0">
                <a:latin typeface="Helvetica"/>
              </a:rPr>
              <a:t>Refer Students to Work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56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0" dirty="0" smtClean="0"/>
              <a:t>Performance</a:t>
            </a:r>
            <a:r>
              <a:rPr lang="en-US" b="0" baseline="0" dirty="0" smtClean="0"/>
              <a:t> criteria that relates to element 2</a:t>
            </a:r>
            <a:endParaRPr lang="en-US" b="0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hot, cold and frozen desserts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Prepare and store sweet sauces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The student must be able to do;</a:t>
            </a:r>
          </a:p>
          <a:p>
            <a:pPr marL="505206" lvl="0" indent="0"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AU" sz="2200" dirty="0" smtClean="0"/>
              <a:t>Select required commodities according to recipe and production requirements</a:t>
            </a:r>
          </a:p>
          <a:p>
            <a:pPr marL="505206" lvl="0" indent="0"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AU" sz="2200" dirty="0" smtClean="0"/>
              <a:t>Prepare and produce a range of sweet sauces to enterprise requirements and standards</a:t>
            </a:r>
          </a:p>
          <a:p>
            <a:pPr marL="505206" lvl="0" indent="0"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AU" sz="2200" dirty="0" smtClean="0"/>
              <a:t>Store sweet sauces  for use in a service period or for use at another occasion</a:t>
            </a:r>
            <a:endParaRPr lang="en-US" dirty="0" smtClean="0"/>
          </a:p>
          <a:p>
            <a:pPr>
              <a:buFontTx/>
              <a:buNone/>
            </a:pPr>
            <a:endParaRPr lang="en-US" b="0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346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Tx/>
              <a:buNone/>
            </a:pPr>
            <a:r>
              <a:rPr lang="en-US" dirty="0" smtClean="0"/>
              <a:t>All</a:t>
            </a:r>
            <a:r>
              <a:rPr lang="en-US" baseline="0" dirty="0" smtClean="0"/>
              <a:t> sweet sauces will contain sugar. Even fruits will have some sugar included or added.</a:t>
            </a:r>
          </a:p>
          <a:p>
            <a:pPr>
              <a:buFontTx/>
              <a:buNone/>
            </a:pPr>
            <a:r>
              <a:rPr lang="en-US" baseline="0" dirty="0" smtClean="0"/>
              <a:t>Fruit salad (fresh fruit cut to order) is about the only dessert that will not have sugar added. Some people will add sugar syrup to this to keep moist.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Basis of all coulis will be fruit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Starches are used to thicken sauces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Gelling agents will be used to </a:t>
            </a:r>
            <a:r>
              <a:rPr lang="en-US" baseline="0" dirty="0" err="1" smtClean="0"/>
              <a:t>stabilise</a:t>
            </a:r>
            <a:r>
              <a:rPr lang="en-US" baseline="0" dirty="0" smtClean="0"/>
              <a:t> fruits sauces and cream desserts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Spices- might</a:t>
            </a:r>
            <a:r>
              <a:rPr lang="en-US" baseline="0" dirty="0" smtClean="0"/>
              <a:t> be used to </a:t>
            </a:r>
            <a:r>
              <a:rPr lang="en-US" baseline="0" dirty="0" err="1" smtClean="0"/>
              <a:t>flavour</a:t>
            </a:r>
            <a:r>
              <a:rPr lang="en-US" baseline="0" dirty="0" smtClean="0"/>
              <a:t> and may be served in sauce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Aromatics may be used</a:t>
            </a:r>
            <a:r>
              <a:rPr lang="en-US" baseline="0" dirty="0" smtClean="0"/>
              <a:t> to </a:t>
            </a:r>
            <a:r>
              <a:rPr lang="en-US" baseline="0" dirty="0" err="1" smtClean="0"/>
              <a:t>flavour</a:t>
            </a:r>
            <a:r>
              <a:rPr lang="en-US" baseline="0" dirty="0" smtClean="0"/>
              <a:t> but would be removed before sauce is served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E.ggs, used to thicken sauce </a:t>
            </a:r>
            <a:r>
              <a:rPr lang="en-US" baseline="0" dirty="0" err="1" smtClean="0"/>
              <a:t>Anglaise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98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Enterprise standards:</a:t>
            </a:r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Each enterprise will have different standards for different requirement to other enterprises.</a:t>
            </a:r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Standards need to be stated by the enterprise then that level needs to be adhered </a:t>
            </a:r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Enterprise requirements will</a:t>
            </a:r>
            <a:r>
              <a:rPr lang="en-US" baseline="0" dirty="0" smtClean="0"/>
              <a:t> also change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Enterprise requirements will relate to size of product and price charged for portion</a:t>
            </a:r>
          </a:p>
          <a:p>
            <a:pPr>
              <a:buFontTx/>
              <a:buNone/>
            </a:pPr>
            <a:r>
              <a:rPr lang="en-US" baseline="0" dirty="0" smtClean="0"/>
              <a:t>Some enterprises may cut product into 8 portions, others will cut into 12 portions. Same product different requirements.</a:t>
            </a:r>
          </a:p>
          <a:p>
            <a:pPr>
              <a:buFontTx/>
              <a:buNone/>
            </a:pPr>
            <a:r>
              <a:rPr lang="en-US" baseline="0" dirty="0" smtClean="0"/>
              <a:t>May relate to shape, round or square</a:t>
            </a:r>
          </a:p>
          <a:p>
            <a:pPr>
              <a:buFontTx/>
              <a:buNone/>
            </a:pPr>
            <a:r>
              <a:rPr lang="en-US" baseline="0" dirty="0" smtClean="0"/>
              <a:t>How intense is the </a:t>
            </a:r>
            <a:r>
              <a:rPr lang="en-US" baseline="0" dirty="0" err="1" smtClean="0"/>
              <a:t>colour</a:t>
            </a:r>
            <a:r>
              <a:rPr lang="en-US" baseline="0" dirty="0" smtClean="0"/>
              <a:t> red in icing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273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Always use clean food safe containers to store prepared sauces</a:t>
            </a:r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Never put old sauce into new sauce as any fermentation</a:t>
            </a:r>
            <a:r>
              <a:rPr lang="en-US" baseline="0" dirty="0" smtClean="0"/>
              <a:t>  of sugars or bacterial activity will continue in the new sauce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Always store sauces in a controlled environment; chilled below 5 degrees </a:t>
            </a:r>
            <a:r>
              <a:rPr lang="en-US" baseline="0" dirty="0" err="1" smtClean="0"/>
              <a:t>Celcius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86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dirty="0" smtClean="0"/>
              <a:t>Sauce</a:t>
            </a:r>
            <a:r>
              <a:rPr lang="en-US" baseline="0" dirty="0" smtClean="0"/>
              <a:t> tend to be made up in batches and chilled until required.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If they are going to be used at a later date then they may need to be chilled for short time period; frozen for long time period of storage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All store products need to be labeled correctly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180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0" dirty="0" smtClean="0"/>
              <a:t>Performance criteria for element 3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hot, cold and frozen desserts</a:t>
            </a:r>
            <a:r>
              <a:rPr lang="en-US" b="0" baseline="0" dirty="0" smtClean="0"/>
              <a:t> the students must be able to; </a:t>
            </a:r>
            <a:r>
              <a:rPr lang="en-US" b="1" baseline="0" dirty="0" smtClean="0"/>
              <a:t>Prepare accompaniments, garnishes and decorations</a:t>
            </a:r>
          </a:p>
          <a:p>
            <a:pPr>
              <a:buFont typeface="Arial" pitchFamily="34" charset="0"/>
              <a:buNone/>
            </a:pPr>
            <a:endParaRPr lang="en-US" b="0" baseline="0" dirty="0" smtClean="0"/>
          </a:p>
          <a:p>
            <a:pPr marL="660654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AU" sz="1200" dirty="0" smtClean="0"/>
              <a:t>Plan accompaniments, garnishes and decorations for desserts</a:t>
            </a:r>
          </a:p>
          <a:p>
            <a:pPr marL="660654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AU" sz="1200" dirty="0" smtClean="0"/>
              <a:t>Prepare accompaniments, garnishes and decorations for desserts.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9561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1" dirty="0" smtClean="0"/>
              <a:t>Garnishes and decorations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Most garnishes are made to decorate the dessert.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Small shortbreads or biscotti</a:t>
            </a:r>
          </a:p>
          <a:p>
            <a:pPr>
              <a:buFontTx/>
              <a:buNone/>
            </a:pPr>
            <a:r>
              <a:rPr lang="en-US" b="0" dirty="0" smtClean="0"/>
              <a:t>Chocolate</a:t>
            </a:r>
            <a:r>
              <a:rPr lang="en-US" b="0" baseline="0" dirty="0" smtClean="0"/>
              <a:t> shapes</a:t>
            </a:r>
          </a:p>
          <a:p>
            <a:pPr>
              <a:buFontTx/>
              <a:buNone/>
            </a:pPr>
            <a:r>
              <a:rPr lang="en-US" b="0" baseline="0" dirty="0" smtClean="0"/>
              <a:t>Boiled sugar shapes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Garnish can be as simple  strawberry cut in half with mint leaf</a:t>
            </a:r>
          </a:p>
          <a:p>
            <a:pPr>
              <a:buFontTx/>
              <a:buNone/>
            </a:pPr>
            <a:r>
              <a:rPr lang="en-US" b="0" baseline="0" dirty="0" smtClean="0"/>
              <a:t>This is popular due to the </a:t>
            </a:r>
            <a:r>
              <a:rPr lang="en-US" b="0" baseline="0" dirty="0" err="1" smtClean="0"/>
              <a:t>colour</a:t>
            </a:r>
            <a:r>
              <a:rPr lang="en-US" b="0" baseline="0" dirty="0" smtClean="0"/>
              <a:t> contrast on the plate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More elaborate item will take time and skill 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Look in published books as listed in recommended reading has good references  for stencils: The Professional Pastry chef; Author Bo </a:t>
            </a:r>
            <a:r>
              <a:rPr lang="en-US" b="0" baseline="0" dirty="0" err="1" smtClean="0"/>
              <a:t>friberg</a:t>
            </a:r>
            <a:endParaRPr lang="en-US" b="0" dirty="0" smtClean="0"/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034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 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0" dirty="0" smtClean="0"/>
              <a:t>Select a simple recipe and gather as much understanding of the technique required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1" dirty="0" smtClean="0"/>
              <a:t>In beginning: </a:t>
            </a:r>
            <a:r>
              <a:rPr lang="en-US" b="0" dirty="0" smtClean="0"/>
              <a:t>keep it simple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More elaborate garnish the more skill required and more time needed.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Keep simple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3564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Tx/>
              <a:buNone/>
            </a:pPr>
            <a:r>
              <a:rPr lang="en-US" b="1" dirty="0" smtClean="0"/>
              <a:t>Performance Criteria for Element 4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prepare hot, cold and frozen desserts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Store hot, cold and frozen desserts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 do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  <a:p>
            <a:pPr marL="660654" indent="-3600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AU" sz="1200" dirty="0" smtClean="0"/>
              <a:t>Store desserts at appropriate temperature and conditions to maintain quality, freshness and customer appeal</a:t>
            </a:r>
          </a:p>
          <a:p>
            <a:pPr marL="660654" indent="-3600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AU" sz="1200" dirty="0" smtClean="0"/>
              <a:t>Pack down desserts to ensure taste, appearance and textures are maintained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285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0" dirty="0" smtClean="0"/>
              <a:t>All desserts need to be stored in a controlled environment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1" dirty="0" smtClean="0"/>
              <a:t>Controlled environment: 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Room temperature: protected form environment; stored in container, covered, wrapped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Chilled: less</a:t>
            </a:r>
            <a:r>
              <a:rPr lang="en-US" b="0" baseline="0" dirty="0" smtClean="0"/>
              <a:t> than 4ºC. can only be stored at this temperature maximum 3 days. Then discard, do not freeze. Quality is diminished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Frozen: -18ºC for long term storage.</a:t>
            </a:r>
            <a:endParaRPr lang="en-US" b="0" dirty="0" smtClean="0"/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128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Pack down??? Kitchen slang</a:t>
            </a:r>
            <a:r>
              <a:rPr lang="en-US" b="0" baseline="0" dirty="0" smtClean="0"/>
              <a:t> that means to store product to be used at another time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Store product to be used at another time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Integrity need to be in place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Store produce so it is </a:t>
            </a:r>
            <a:r>
              <a:rPr lang="en-US" b="0" baseline="0" smtClean="0"/>
              <a:t>not damaged.</a:t>
            </a:r>
            <a:endParaRPr lang="en-US" b="0" baseline="0" dirty="0" smtClean="0"/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0767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mtClean="0"/>
              <a:t>Thank you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006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675B-16CB-449C-AA64-20E2E057E166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F223-D3A2-44F5-8051-829B2F23C0D4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FE7D-417D-483E-A327-7AED21196679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8DDC-366E-4D96-B475-59755FBFA064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C968-0B16-4ADF-91B3-C8ECABCFDA29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1DEA-061C-49D7-974B-38721BC66A5F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EFC2B-FC2E-46FA-B53A-48A270754B05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3B9F-1886-41EB-8596-DFD2474565B7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A6D77F6-049E-4E03-BBEC-9C9525B9448E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ABC8-BFBF-4030-9C7D-70F812C9AAE4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46A6-0262-42FF-B093-039AED07B7AD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fld id="{60B9F9CF-7D2C-460C-8F3E-F6213A54EF65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Helvetica" pitchFamily="34" charset="0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Helvetica" pitchFamily="34" charset="0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6192" cy="1285884"/>
          </a:xfrm>
        </p:spPr>
        <p:txBody>
          <a:bodyPr>
            <a:noAutofit/>
          </a:bodyPr>
          <a:lstStyle/>
          <a:p>
            <a:r>
              <a:rPr lang="en-AU" sz="4000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PREPARE HOT, COLD AND FROZEN DESSERT</a:t>
            </a:r>
            <a:endParaRPr lang="en-US" sz="4000" dirty="0">
              <a:ln w="5000" cmpd="sng">
                <a:noFill/>
                <a:prstDash val="solid"/>
              </a:ln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80112" y="1916832"/>
            <a:ext cx="2685284" cy="357190"/>
          </a:xfrm>
        </p:spPr>
        <p:txBody>
          <a:bodyPr>
            <a:noAutofit/>
          </a:bodyPr>
          <a:lstStyle/>
          <a:p>
            <a:r>
              <a:rPr lang="en-AU" sz="2400" b="1" dirty="0" smtClean="0">
                <a:latin typeface="Helvetica" pitchFamily="34" charset="0"/>
              </a:rPr>
              <a:t>D1.HCC.CL2.14</a:t>
            </a:r>
            <a:endParaRPr lang="en-US" sz="2400" b="1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26" name="Picture 2" descr="I:\Overseas Projects\PHOTOS\2012\Culinary 2012\Elegant display of a dessert fruit .jpg"/>
          <p:cNvPicPr>
            <a:picLocks noChangeAspect="1" noChangeArrowheads="1"/>
          </p:cNvPicPr>
          <p:nvPr/>
        </p:nvPicPr>
        <p:blipFill>
          <a:blip r:embed="rId3" cstate="print"/>
          <a:srcRect t="3102" b="6930"/>
          <a:stretch>
            <a:fillRect/>
          </a:stretch>
        </p:blipFill>
        <p:spPr bwMode="auto">
          <a:xfrm>
            <a:off x="1259632" y="2348880"/>
            <a:ext cx="2458203" cy="331571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Picture 2" descr="I:\Overseas Projects\PHOTOS\2012\Culinary 2012\Elegant display of a dessert fruit .jpg"/>
          <p:cNvPicPr>
            <a:picLocks noChangeAspect="1" noChangeArrowheads="1"/>
          </p:cNvPicPr>
          <p:nvPr/>
        </p:nvPicPr>
        <p:blipFill>
          <a:blip r:embed="rId3" cstate="print"/>
          <a:srcRect t="3102" b="6930"/>
          <a:stretch>
            <a:fillRect/>
          </a:stretch>
        </p:blipFill>
        <p:spPr bwMode="auto">
          <a:xfrm rot="758361">
            <a:off x="2780045" y="2463118"/>
            <a:ext cx="2458203" cy="331571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848872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hot, cold and frozen dessert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556792"/>
            <a:ext cx="7467600" cy="4104456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Assessment for this Unit may include: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Oral questions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Written questions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 projects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Workplace observation of practical skills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Practical exercises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Formal report from employer/supervisor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050" name="Picture 2" descr="C:\Documents and Settings\jirayut\Local Settings\Temporary Internet Files\Content.IE5\2AEWR0W5\MC900441926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00" y="1412776"/>
            <a:ext cx="2160240" cy="169986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7992888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hot, cold and frozen dessert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84784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This Unit comprises four Elements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Prepare and produce a range of hot, cold and frozen desserts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Prepare and store sweet sauces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Prepare accompaniments,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garnishes and decorations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Store hot cold and frozen desserts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074" name="Picture 2" descr="I:\Overseas Projects\PHOTOS\2012\Culinary 2012\shutterstock_3213833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3501008"/>
            <a:ext cx="2736304" cy="27363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16632"/>
            <a:ext cx="8208912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hot, cold and frozen dessert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96752"/>
            <a:ext cx="7467600" cy="511256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1:Prepare and produce a range of hot, cold and frozen desserts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Select required commodities according to recipe and production requirements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Prepare a</a:t>
            </a:r>
            <a:r>
              <a:rPr lang="en-AU" sz="2200" b="1" dirty="0" smtClean="0"/>
              <a:t> </a:t>
            </a:r>
            <a:r>
              <a:rPr lang="en-AU" sz="2200" dirty="0" smtClean="0"/>
              <a:t>variety of hot desserts according to standard recipes and enterprise standards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Prepare a range of cold desserts according to standard recipes and enterprise standards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Prepare a range of frozen desserts according to standard recipes and enterprise standards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/>
              <a:t>Cont’</a:t>
            </a: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 descr="I:\Overseas Projects\PHOTOS\2012\Culinary 2012\shutterstock_2474037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72200" y="4869160"/>
            <a:ext cx="2319861" cy="183534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07524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hot, cold and frozen dessert</a:t>
            </a:r>
            <a:endParaRPr lang="en-AU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7467600" cy="4713387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 smtClean="0"/>
              <a:t>Element 1:Prepare and produce a range of hot, cold and frozen desserts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Use appropriate equipment to prepare hot, cold and frozen desserts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Use correct techniques to produce hot, cold and frozen desserts to enterprise standards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Produce hot, cold and frozen desserts to enterprise requirements and standards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Select correct cooking conditions for </a:t>
            </a:r>
            <a:br>
              <a:rPr lang="en-AU" sz="2200" dirty="0" smtClean="0"/>
            </a:br>
            <a:r>
              <a:rPr lang="en-AU" sz="2200" dirty="0" smtClean="0"/>
              <a:t>hot, cold and frozen desserts</a:t>
            </a:r>
          </a:p>
          <a:p>
            <a:endParaRPr lang="en-AU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099" name="Picture 3" descr="I:\Overseas Projects\PHOTOS\2012\Culinary 2012\Whipped Cream and whisk.JPG"/>
          <p:cNvPicPr>
            <a:picLocks noChangeAspect="1" noChangeArrowheads="1"/>
          </p:cNvPicPr>
          <p:nvPr/>
        </p:nvPicPr>
        <p:blipFill>
          <a:blip r:embed="rId3" cstate="print"/>
          <a:srcRect b="12018"/>
          <a:stretch>
            <a:fillRect/>
          </a:stretch>
        </p:blipFill>
        <p:spPr bwMode="auto">
          <a:xfrm>
            <a:off x="6732240" y="4581128"/>
            <a:ext cx="1564312" cy="20620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848872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produce a range of hot,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7467600" cy="4536504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Select commodities required: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Sugar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Cream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Eggs 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Milk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Wine 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Fruit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Nuts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Helvetica" pitchFamily="34" charset="0"/>
              </a:rPr>
              <a:t>Butter or fats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123" name="Picture 3" descr="I:\Overseas Projects\PHOTOS\2012\Culinary 2012\Fruit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2636912"/>
            <a:ext cx="3606204" cy="23992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848872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produce a range of hot,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Select commodities required: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Sponge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Cake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Meringue 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Shortbread 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err="1" smtClean="0">
                <a:latin typeface="Helvetica" pitchFamily="34" charset="0"/>
              </a:rPr>
              <a:t>Flavourings</a:t>
            </a: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2060848"/>
            <a:ext cx="2232248" cy="19193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148" name="Picture 4" descr="I:\Overseas Projects\PHOTOS\2012\Culinary 2012\Meringu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984" y="3140968"/>
            <a:ext cx="2592288" cy="17335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992888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produce a range of hot,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Select commodities required: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Setting agents:</a:t>
            </a:r>
          </a:p>
          <a:p>
            <a:pPr marL="661752" lvl="1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Gelatine</a:t>
            </a:r>
          </a:p>
          <a:p>
            <a:pPr marL="661752" lvl="1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Agar </a:t>
            </a:r>
            <a:r>
              <a:rPr lang="en-US" sz="2200" dirty="0" err="1" smtClean="0">
                <a:latin typeface="Helvetica" pitchFamily="34" charset="0"/>
              </a:rPr>
              <a:t>agar</a:t>
            </a:r>
            <a:endParaRPr lang="en-US" sz="2200" dirty="0" smtClean="0">
              <a:latin typeface="Helvetica" pitchFamily="34" charset="0"/>
            </a:endParaRPr>
          </a:p>
          <a:p>
            <a:pPr marL="661752" lvl="1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Vegetable gums</a:t>
            </a:r>
          </a:p>
          <a:p>
            <a:pPr marL="661752" lvl="1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Starches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171" name="Picture 3" descr="I:\Overseas Projects\PHOTOS\2012\Culinary 2012\Gelatin.jpg"/>
          <p:cNvPicPr>
            <a:picLocks noChangeAspect="1" noChangeArrowheads="1"/>
          </p:cNvPicPr>
          <p:nvPr/>
        </p:nvPicPr>
        <p:blipFill>
          <a:blip r:embed="rId3" cstate="print"/>
          <a:srcRect l="8728" t="13097"/>
          <a:stretch>
            <a:fillRect/>
          </a:stretch>
        </p:blipFill>
        <p:spPr bwMode="auto">
          <a:xfrm>
            <a:off x="5292080" y="2283702"/>
            <a:ext cx="2258317" cy="14333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/>
          <p:cNvPicPr/>
          <p:nvPr/>
        </p:nvPicPr>
        <p:blipFill>
          <a:blip r:embed="rId4" cstate="print"/>
          <a:srcRect l="4630" t="6571"/>
          <a:stretch>
            <a:fillRect/>
          </a:stretch>
        </p:blipFill>
        <p:spPr bwMode="auto">
          <a:xfrm rot="5400000">
            <a:off x="5716445" y="3277301"/>
            <a:ext cx="1383518" cy="22322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136904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produce a range of hot,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a range of Hot Desserts: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err="1" smtClean="0">
                <a:latin typeface="Helvetica" pitchFamily="34" charset="0"/>
              </a:rPr>
              <a:t>Souffles</a:t>
            </a: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Puddings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Pies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Crepes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195" name="Picture 3" descr="I:\Overseas Projects\PHOTOS\2012\Culinary 2012\Crep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2204864"/>
            <a:ext cx="2448272" cy="1625806"/>
          </a:xfrm>
          <a:prstGeom prst="rect">
            <a:avLst/>
          </a:prstGeom>
          <a:noFill/>
        </p:spPr>
      </p:pic>
      <p:pic>
        <p:nvPicPr>
          <p:cNvPr id="8194" name="Picture 2" descr="I:\Overseas Projects\PHOTOS\2012\Culinary 2012\Fruit souffl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6016" y="3404658"/>
            <a:ext cx="1656184" cy="22082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7704856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produce a range of hot,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a range of Cold Desserts: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Pies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Fruit salads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Pastries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Mousses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err="1" smtClean="0">
                <a:latin typeface="Helvetica" pitchFamily="34" charset="0"/>
              </a:rPr>
              <a:t>Bavarois</a:t>
            </a: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218" name="Picture 2" descr="I:\Overseas Projects\PHOTOS\2012\Culinary 2012\ChocolateMouss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2780928"/>
            <a:ext cx="3048000" cy="21574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704856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produce a range of hot,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1"/>
            <a:ext cx="7467600" cy="3744416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a range of Frozen Desserts: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Ice cream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Sorbets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Parfaits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050" name="Picture 2" descr="I:\Overseas Projects\PHOTOS\2012\Culinary 2012\Gelat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3356992"/>
            <a:ext cx="3048000" cy="20240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848872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produce a range of hot,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700808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Use Appropriate equipment: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Blast chillers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Ice cream machines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Ovens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Mixers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Freezers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Chillers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 descr="E:\ASEAN RESOURCE FOLDER\Pic for Asean Publications\Equipment\Edited Equipment\Deck Oven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4208" y="3429000"/>
            <a:ext cx="1584176" cy="2110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 descr="I:\Overseas Projects\PHOTOS\2012\Culinary 2012\IcreCreamMachine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8104" y="1628800"/>
            <a:ext cx="1755318" cy="26186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produce hot,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700808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2:</a:t>
            </a:r>
            <a:r>
              <a:rPr lang="en-US" sz="2200" dirty="0" smtClean="0">
                <a:latin typeface="Helvetica" pitchFamily="34" charset="0"/>
              </a:rPr>
              <a:t> Prepare and store sweet sauces</a:t>
            </a:r>
          </a:p>
          <a:p>
            <a:pPr marL="660654" indent="-514350">
              <a:spcBef>
                <a:spcPts val="1200"/>
              </a:spcBef>
              <a:spcAft>
                <a:spcPts val="1200"/>
              </a:spcAft>
            </a:pPr>
            <a:r>
              <a:rPr lang="en-AU" sz="2200" dirty="0" smtClean="0"/>
              <a:t>Select required commodities according to recipe and production requirements</a:t>
            </a:r>
          </a:p>
          <a:p>
            <a:pPr marL="660654" indent="-514350">
              <a:spcBef>
                <a:spcPts val="1200"/>
              </a:spcBef>
              <a:spcAft>
                <a:spcPts val="1200"/>
              </a:spcAft>
            </a:pPr>
            <a:r>
              <a:rPr lang="en-AU" sz="2200" dirty="0" smtClean="0"/>
              <a:t>Prepare and produce a range of sweet sauces to enterprise requirements and standards</a:t>
            </a:r>
          </a:p>
          <a:p>
            <a:pPr marL="660654" indent="-514350">
              <a:spcBef>
                <a:spcPts val="1200"/>
              </a:spcBef>
              <a:spcAft>
                <a:spcPts val="1200"/>
              </a:spcAft>
            </a:pPr>
            <a:r>
              <a:rPr lang="en-AU" sz="2200" dirty="0" smtClean="0"/>
              <a:t>Store sweet sauces  for use in a service period or for use at another occasion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2290" name="Picture 2" descr="I:\Overseas Projects\PHOTOS\2012\Culinary 2012\VanillaCustard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44208" y="5085184"/>
            <a:ext cx="2376264" cy="15854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136904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store sweet sauces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84784"/>
            <a:ext cx="7467600" cy="4525963"/>
          </a:xfrm>
        </p:spPr>
        <p:txBody>
          <a:bodyPr>
            <a:no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Select commodities: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Sugar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Fruits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Starches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Gelling agents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Spices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Eggs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Aromatics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3314" name="Picture 2" descr="I:\Overseas Projects\PHOTOS\2012\Culinary 2012\Berri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2636912"/>
            <a:ext cx="3024773" cy="201244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store sweet sauces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and produce a range of sweet sauces to enterprise requirements and standards: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Enterprise requirements or standards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What is a standard?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What is a requirement?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err="1" smtClean="0">
                <a:latin typeface="Helvetica" pitchFamily="34" charset="0"/>
              </a:rPr>
              <a:t>Flavours</a:t>
            </a:r>
            <a:r>
              <a:rPr lang="en-US" sz="2200" dirty="0" smtClean="0">
                <a:latin typeface="Helvetica" pitchFamily="34" charset="0"/>
              </a:rPr>
              <a:t>: natural or artificial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err="1" smtClean="0">
                <a:latin typeface="Helvetica" pitchFamily="34" charset="0"/>
              </a:rPr>
              <a:t>Coloured</a:t>
            </a:r>
            <a:r>
              <a:rPr lang="en-US" sz="2200" dirty="0" smtClean="0">
                <a:latin typeface="Helvetica" pitchFamily="34" charset="0"/>
              </a:rPr>
              <a:t>: natural or artificial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err="1" smtClean="0">
                <a:latin typeface="Helvetica" pitchFamily="34" charset="0"/>
              </a:rPr>
              <a:t>Colour</a:t>
            </a:r>
            <a:r>
              <a:rPr lang="en-US" sz="2200" dirty="0" smtClean="0">
                <a:latin typeface="Helvetica" pitchFamily="34" charset="0"/>
              </a:rPr>
              <a:t>: intense or light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Slide </a:t>
            </a:r>
            <a:fld id="{90BDF71C-F485-43AE-8825-5070AF1EA8C9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2050" name="Picture 2" descr="I:\Overseas Projects\PHOTOS\2012\Culinary 2012\shutterstock_2059436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511" t="5790" r="17021" b="10254"/>
          <a:stretch>
            <a:fillRect/>
          </a:stretch>
        </p:blipFill>
        <p:spPr bwMode="auto">
          <a:xfrm>
            <a:off x="5652120" y="3212976"/>
            <a:ext cx="2520280" cy="20882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store sweet sauces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Store sweet sauces for use in a service period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Store in clean food safe containers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Keep separate form older sauces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Never top up old sauce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Never put old sauce into new sauce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Keep in controlled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074" name="Picture 2" descr="I:\Overseas Projects\PHOTOS\2012\Culinary 2012\ChocolateSauce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72200" y="4005064"/>
            <a:ext cx="1903443" cy="28529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store sweet sauces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556792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Store sweet sauces for another occasion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Make sauces in batches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Label and date when stored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Attach use by date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Store in controlled environment:</a:t>
            </a:r>
          </a:p>
          <a:p>
            <a:pPr marL="661752" lvl="1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Chilled</a:t>
            </a:r>
          </a:p>
          <a:p>
            <a:pPr marL="661752" lvl="1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Frozen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0" y="2924944"/>
            <a:ext cx="1584176" cy="11561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84168" y="3933056"/>
            <a:ext cx="1584176" cy="113155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40152" y="2027864"/>
            <a:ext cx="1584176" cy="114093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776864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hot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3: Prepare accompaniments, garnishes and decorations</a:t>
            </a:r>
          </a:p>
          <a:p>
            <a:pPr marL="660654" indent="-514350">
              <a:spcBef>
                <a:spcPts val="1200"/>
              </a:spcBef>
              <a:spcAft>
                <a:spcPts val="1200"/>
              </a:spcAft>
            </a:pPr>
            <a:r>
              <a:rPr lang="en-AU" sz="2200" dirty="0" smtClean="0"/>
              <a:t>Plan accompaniments, garnishes and decorations for desserts</a:t>
            </a:r>
          </a:p>
          <a:p>
            <a:pPr marL="660654" indent="-514350">
              <a:spcBef>
                <a:spcPts val="1200"/>
              </a:spcBef>
              <a:spcAft>
                <a:spcPts val="1200"/>
              </a:spcAft>
            </a:pPr>
            <a:r>
              <a:rPr lang="en-AU" sz="2200" dirty="0" smtClean="0"/>
              <a:t>Prepare accompaniments, garnishes and decorations for desserts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124" name="Picture 4" descr="I:\Overseas Projects\PHOTOS\2012\Culinary 2012\shutterstock_1945993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4128" y="4437112"/>
            <a:ext cx="2376264" cy="20099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136904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hot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  Plan accompaniments, garnishes and decorations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Stencils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Shortbread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Fruits</a:t>
            </a:r>
          </a:p>
          <a:p>
            <a:pPr marL="36000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Sugar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147" name="Picture 3" descr="I:\Overseas Projects\PHOTOS\2012\Culinary 2012\shutterstock_5256868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3212976"/>
            <a:ext cx="2471936" cy="2471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992888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hot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700808"/>
            <a:ext cx="7467600" cy="4381947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accompaniments, garnishes and decorations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171" name="Picture 3" descr="I:\Overseas Projects\PHOTOS\2012\Culinary 2012\shutterstock_7791518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5776" y="2924944"/>
            <a:ext cx="3528392" cy="23430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208912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hot cold and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-36000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4: Store Hot, cold and frozen desserts</a:t>
            </a:r>
          </a:p>
          <a:p>
            <a:pPr marL="421200" indent="-360000">
              <a:spcBef>
                <a:spcPts val="1200"/>
              </a:spcBef>
              <a:spcAft>
                <a:spcPts val="1200"/>
              </a:spcAft>
            </a:pPr>
            <a:r>
              <a:rPr lang="en-AU" sz="2200" dirty="0" smtClean="0"/>
              <a:t>Store desserts at appropriate temperature and conditions to maintain quality, freshness and customer appeal</a:t>
            </a:r>
          </a:p>
          <a:p>
            <a:pPr marL="421200" indent="-360000">
              <a:spcBef>
                <a:spcPts val="1200"/>
              </a:spcBef>
              <a:spcAft>
                <a:spcPts val="1200"/>
              </a:spcAft>
            </a:pPr>
            <a:r>
              <a:rPr lang="en-AU" sz="2200" dirty="0" smtClean="0"/>
              <a:t>Pack down desserts to ensure taste, appearance and textures are maintained</a:t>
            </a: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026" name="Picture 2" descr="I:\Overseas Projects\PHOTOS\2012\Culinary 2012\shutterstock_6216251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4437112"/>
            <a:ext cx="2808481" cy="18708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hot cold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7467600" cy="3888432"/>
          </a:xfrm>
        </p:spPr>
        <p:txBody>
          <a:bodyPr>
            <a:normAutofit/>
          </a:bodyPr>
          <a:lstStyle/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Store desserts at appropriate temperatures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Store in controlled environment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Chilled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Frozen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Room temperature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Protected from outside contamination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2" descr="I:\Overseas Projects\PHOTOS\2012\Culinary 2012\shutterstock_64294228.jpg"/>
          <p:cNvPicPr>
            <a:picLocks noChangeAspect="1" noChangeArrowheads="1"/>
          </p:cNvPicPr>
          <p:nvPr/>
        </p:nvPicPr>
        <p:blipFill>
          <a:blip r:embed="rId3" cstate="print"/>
          <a:srcRect l="16537" t="14021"/>
          <a:stretch>
            <a:fillRect/>
          </a:stretch>
        </p:blipFill>
        <p:spPr bwMode="auto">
          <a:xfrm>
            <a:off x="6156176" y="3861048"/>
            <a:ext cx="2543944" cy="17661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hot cold frozen desserts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355600" indent="-3556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Pack down desserts to ensure taste, appearance and   textures are maintained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Store in secure containers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Label:</a:t>
            </a:r>
          </a:p>
          <a:p>
            <a:pPr marL="644652" lvl="1" indent="-3429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Date of manufacture</a:t>
            </a:r>
          </a:p>
          <a:p>
            <a:pPr marL="644652" lvl="1" indent="-3429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Use by date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032" name="Picture 8" descr="I:\Overseas Projects\PHOTOS\2012\Culinary 2012\shutterstock_72658870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508104" y="4437112"/>
            <a:ext cx="3048000" cy="1520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6084168" y="4077072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6">
                    <a:lumMod val="75000"/>
                  </a:schemeClr>
                </a:solidFill>
                <a:latin typeface="Helvetica" pitchFamily="34" charset="0"/>
              </a:rPr>
              <a:t>Label example:</a:t>
            </a:r>
            <a:endParaRPr lang="en-AU" dirty="0">
              <a:solidFill>
                <a:schemeClr val="accent6">
                  <a:lumMod val="75000"/>
                </a:schemeClr>
              </a:solidFill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7764" y="908720"/>
            <a:ext cx="3168352" cy="1143000"/>
          </a:xfrm>
        </p:spPr>
        <p:txBody>
          <a:bodyPr/>
          <a:lstStyle/>
          <a:p>
            <a:r>
              <a:rPr lang="en-AU" b="1" dirty="0" smtClean="0">
                <a:solidFill>
                  <a:srgbClr val="FF6600"/>
                </a:solidFill>
                <a:latin typeface="Helvetica" pitchFamily="34" charset="0"/>
              </a:rPr>
              <a:t>Thank you </a:t>
            </a:r>
            <a:endParaRPr lang="en-AU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027" name="Picture 3" descr="I:\Overseas Projects\PHOTOS\2012\Culinary 2012\shutterstock_63537760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8983"/>
          <a:stretch>
            <a:fillRect/>
          </a:stretch>
        </p:blipFill>
        <p:spPr bwMode="auto">
          <a:xfrm>
            <a:off x="1403648" y="2420887"/>
            <a:ext cx="5256584" cy="32074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SEAN PPT Template 010611 MV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ASEAN PPT Template 010611 MV</Template>
  <TotalTime>2022</TotalTime>
  <Words>2877</Words>
  <Application>Microsoft Office PowerPoint</Application>
  <PresentationFormat>On-screen Show (4:3)</PresentationFormat>
  <Paragraphs>461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Franklin Gothic Book</vt:lpstr>
      <vt:lpstr>Helvetica</vt:lpstr>
      <vt:lpstr>Wingdings 2</vt:lpstr>
      <vt:lpstr>ASEAN PPT Template 010611 MV</vt:lpstr>
      <vt:lpstr>PREPARE HOT, COLD AND FROZEN DESSERT</vt:lpstr>
      <vt:lpstr>Prepare hot, cold and frozen dessert</vt:lpstr>
      <vt:lpstr>Prepare hot, cold and frozen dessert</vt:lpstr>
      <vt:lpstr>Prepare hot, cold and frozen dessert</vt:lpstr>
      <vt:lpstr>Prepare hot, cold and frozen dessert</vt:lpstr>
      <vt:lpstr>Prepare and produce a range of hot, cold and frozen desserts</vt:lpstr>
      <vt:lpstr>Prepare and produce a range of hot, cold and frozen desserts</vt:lpstr>
      <vt:lpstr>Prepare and produce a range of hot, cold and frozen desserts</vt:lpstr>
      <vt:lpstr>Prepare and produce a range of hot, cold and frozen desserts</vt:lpstr>
      <vt:lpstr>Prepare and produce a range of hot, cold and frozen desserts</vt:lpstr>
      <vt:lpstr>Prepare and produce a range of hot, cold and frozen desserts</vt:lpstr>
      <vt:lpstr>Prepare and produce a range of hot, cold and frozen desserts</vt:lpstr>
      <vt:lpstr>Prepare and produce hot, cold and frozen desserts</vt:lpstr>
      <vt:lpstr>Prepare and store sweet sauces</vt:lpstr>
      <vt:lpstr>Prepare and store sweet sauces</vt:lpstr>
      <vt:lpstr>Prepare and store sweet sauces</vt:lpstr>
      <vt:lpstr>Prepare and store sweet sauces</vt:lpstr>
      <vt:lpstr>Prepare hot cold and frozen desserts</vt:lpstr>
      <vt:lpstr>Prepare hot cold and frozen desserts</vt:lpstr>
      <vt:lpstr>Prepare hot cold and frozen desserts</vt:lpstr>
      <vt:lpstr>Prepare hot cold and frozen desserts</vt:lpstr>
      <vt:lpstr>Store hot cold frozen desserts</vt:lpstr>
      <vt:lpstr>Store hot cold frozen desserts</vt:lpstr>
      <vt:lpstr>Thank you </vt:lpstr>
    </vt:vector>
  </TitlesOfParts>
  <Company>William Angliss Institute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PREPARE HOT, COLD AND FROZEN DESSERT</dc:title>
  <dc:creator>Administrator</dc:creator>
  <cp:lastModifiedBy>Carla Angelica Co</cp:lastModifiedBy>
  <cp:revision>129</cp:revision>
  <dcterms:created xsi:type="dcterms:W3CDTF">2012-02-21T03:25:40Z</dcterms:created>
  <dcterms:modified xsi:type="dcterms:W3CDTF">2015-04-06T03:16:21Z</dcterms:modified>
</cp:coreProperties>
</file>