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4"/>
  </p:notesMasterIdLst>
  <p:handoutMasterIdLst>
    <p:handoutMasterId r:id="rId185"/>
  </p:handoutMasterIdLst>
  <p:sldIdLst>
    <p:sldId id="256" r:id="rId2"/>
    <p:sldId id="268" r:id="rId3"/>
    <p:sldId id="269" r:id="rId4"/>
    <p:sldId id="270" r:id="rId5"/>
    <p:sldId id="257"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58" r:id="rId19"/>
    <p:sldId id="298" r:id="rId20"/>
    <p:sldId id="299" r:id="rId21"/>
    <p:sldId id="300" r:id="rId22"/>
    <p:sldId id="301" r:id="rId23"/>
    <p:sldId id="302" r:id="rId24"/>
    <p:sldId id="303" r:id="rId25"/>
    <p:sldId id="304" r:id="rId26"/>
    <p:sldId id="305" r:id="rId27"/>
    <p:sldId id="306" r:id="rId28"/>
    <p:sldId id="307" r:id="rId29"/>
    <p:sldId id="333" r:id="rId30"/>
    <p:sldId id="308" r:id="rId31"/>
    <p:sldId id="309" r:id="rId32"/>
    <p:sldId id="310" r:id="rId33"/>
    <p:sldId id="311" r:id="rId34"/>
    <p:sldId id="312" r:id="rId35"/>
    <p:sldId id="313" r:id="rId36"/>
    <p:sldId id="314" r:id="rId37"/>
    <p:sldId id="315" r:id="rId38"/>
    <p:sldId id="316" r:id="rId39"/>
    <p:sldId id="334" r:id="rId40"/>
    <p:sldId id="317" r:id="rId41"/>
    <p:sldId id="318" r:id="rId42"/>
    <p:sldId id="319" r:id="rId43"/>
    <p:sldId id="320" r:id="rId44"/>
    <p:sldId id="321" r:id="rId45"/>
    <p:sldId id="322" r:id="rId46"/>
    <p:sldId id="323" r:id="rId47"/>
    <p:sldId id="324" r:id="rId48"/>
    <p:sldId id="325" r:id="rId49"/>
    <p:sldId id="326" r:id="rId50"/>
    <p:sldId id="292" r:id="rId51"/>
    <p:sldId id="335" r:id="rId52"/>
    <p:sldId id="336" r:id="rId53"/>
    <p:sldId id="337" r:id="rId54"/>
    <p:sldId id="338" r:id="rId55"/>
    <p:sldId id="339" r:id="rId56"/>
    <p:sldId id="340" r:id="rId57"/>
    <p:sldId id="353" r:id="rId58"/>
    <p:sldId id="293" r:id="rId59"/>
    <p:sldId id="354" r:id="rId60"/>
    <p:sldId id="355" r:id="rId61"/>
    <p:sldId id="356" r:id="rId62"/>
    <p:sldId id="357" r:id="rId63"/>
    <p:sldId id="370" r:id="rId64"/>
    <p:sldId id="294" r:id="rId65"/>
    <p:sldId id="377" r:id="rId66"/>
    <p:sldId id="387" r:id="rId67"/>
    <p:sldId id="392" r:id="rId68"/>
    <p:sldId id="295" r:id="rId69"/>
    <p:sldId id="393" r:id="rId70"/>
    <p:sldId id="394" r:id="rId71"/>
    <p:sldId id="395" r:id="rId72"/>
    <p:sldId id="396" r:id="rId73"/>
    <p:sldId id="397" r:id="rId74"/>
    <p:sldId id="398" r:id="rId75"/>
    <p:sldId id="399" r:id="rId76"/>
    <p:sldId id="400" r:id="rId77"/>
    <p:sldId id="401" r:id="rId78"/>
    <p:sldId id="413" r:id="rId79"/>
    <p:sldId id="414" r:id="rId80"/>
    <p:sldId id="415" r:id="rId81"/>
    <p:sldId id="418" r:id="rId82"/>
    <p:sldId id="416" r:id="rId83"/>
    <p:sldId id="417" r:id="rId84"/>
    <p:sldId id="402" r:id="rId85"/>
    <p:sldId id="403" r:id="rId86"/>
    <p:sldId id="404" r:id="rId87"/>
    <p:sldId id="405" r:id="rId88"/>
    <p:sldId id="406" r:id="rId89"/>
    <p:sldId id="419" r:id="rId90"/>
    <p:sldId id="407" r:id="rId91"/>
    <p:sldId id="408" r:id="rId92"/>
    <p:sldId id="409" r:id="rId93"/>
    <p:sldId id="410" r:id="rId94"/>
    <p:sldId id="411" r:id="rId95"/>
    <p:sldId id="412" r:id="rId96"/>
    <p:sldId id="420" r:id="rId97"/>
    <p:sldId id="421" r:id="rId98"/>
    <p:sldId id="296" r:id="rId99"/>
    <p:sldId id="422" r:id="rId100"/>
    <p:sldId id="423" r:id="rId101"/>
    <p:sldId id="424" r:id="rId102"/>
    <p:sldId id="425" r:id="rId103"/>
    <p:sldId id="426" r:id="rId104"/>
    <p:sldId id="427" r:id="rId105"/>
    <p:sldId id="428" r:id="rId106"/>
    <p:sldId id="429" r:id="rId107"/>
    <p:sldId id="430" r:id="rId108"/>
    <p:sldId id="431" r:id="rId109"/>
    <p:sldId id="432" r:id="rId110"/>
    <p:sldId id="297" r:id="rId111"/>
    <p:sldId id="433" r:id="rId112"/>
    <p:sldId id="434" r:id="rId113"/>
    <p:sldId id="435" r:id="rId114"/>
    <p:sldId id="440" r:id="rId115"/>
    <p:sldId id="371" r:id="rId116"/>
    <p:sldId id="441" r:id="rId117"/>
    <p:sldId id="442" r:id="rId118"/>
    <p:sldId id="372" r:id="rId119"/>
    <p:sldId id="443" r:id="rId120"/>
    <p:sldId id="444" r:id="rId121"/>
    <p:sldId id="445" r:id="rId122"/>
    <p:sldId id="446" r:id="rId123"/>
    <p:sldId id="447" r:id="rId124"/>
    <p:sldId id="448" r:id="rId125"/>
    <p:sldId id="449" r:id="rId126"/>
    <p:sldId id="374" r:id="rId127"/>
    <p:sldId id="456" r:id="rId128"/>
    <p:sldId id="457" r:id="rId129"/>
    <p:sldId id="458" r:id="rId130"/>
    <p:sldId id="459" r:id="rId131"/>
    <p:sldId id="460" r:id="rId132"/>
    <p:sldId id="461" r:id="rId133"/>
    <p:sldId id="462" r:id="rId134"/>
    <p:sldId id="485" r:id="rId135"/>
    <p:sldId id="463" r:id="rId136"/>
    <p:sldId id="464" r:id="rId137"/>
    <p:sldId id="465" r:id="rId138"/>
    <p:sldId id="466" r:id="rId139"/>
    <p:sldId id="467" r:id="rId140"/>
    <p:sldId id="468" r:id="rId141"/>
    <p:sldId id="469" r:id="rId142"/>
    <p:sldId id="470" r:id="rId143"/>
    <p:sldId id="471" r:id="rId144"/>
    <p:sldId id="486" r:id="rId145"/>
    <p:sldId id="472" r:id="rId146"/>
    <p:sldId id="473" r:id="rId147"/>
    <p:sldId id="474" r:id="rId148"/>
    <p:sldId id="476" r:id="rId149"/>
    <p:sldId id="477" r:id="rId150"/>
    <p:sldId id="478" r:id="rId151"/>
    <p:sldId id="479" r:id="rId152"/>
    <p:sldId id="480" r:id="rId153"/>
    <p:sldId id="481" r:id="rId154"/>
    <p:sldId id="482" r:id="rId155"/>
    <p:sldId id="483" r:id="rId156"/>
    <p:sldId id="484" r:id="rId157"/>
    <p:sldId id="487" r:id="rId158"/>
    <p:sldId id="488" r:id="rId159"/>
    <p:sldId id="375" r:id="rId160"/>
    <p:sldId id="489" r:id="rId161"/>
    <p:sldId id="490" r:id="rId162"/>
    <p:sldId id="491" r:id="rId163"/>
    <p:sldId id="492" r:id="rId164"/>
    <p:sldId id="506" r:id="rId165"/>
    <p:sldId id="493" r:id="rId166"/>
    <p:sldId id="510" r:id="rId167"/>
    <p:sldId id="376" r:id="rId168"/>
    <p:sldId id="511" r:id="rId169"/>
    <p:sldId id="512" r:id="rId170"/>
    <p:sldId id="513" r:id="rId171"/>
    <p:sldId id="514" r:id="rId172"/>
    <p:sldId id="515" r:id="rId173"/>
    <p:sldId id="516" r:id="rId174"/>
    <p:sldId id="517" r:id="rId175"/>
    <p:sldId id="518" r:id="rId176"/>
    <p:sldId id="519" r:id="rId177"/>
    <p:sldId id="520" r:id="rId178"/>
    <p:sldId id="450" r:id="rId179"/>
    <p:sldId id="521" r:id="rId180"/>
    <p:sldId id="522" r:id="rId181"/>
    <p:sldId id="523" r:id="rId182"/>
    <p:sldId id="524" r:id="rId183"/>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3031" autoAdjust="0"/>
  </p:normalViewPr>
  <p:slideViewPr>
    <p:cSldViewPr>
      <p:cViewPr varScale="1">
        <p:scale>
          <a:sx n="86" d="100"/>
          <a:sy n="86" d="100"/>
        </p:scale>
        <p:origin x="135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notesMaster" Target="notesMasters/notesMaster1.xml"/><Relationship Id="rId189"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7/19/2016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7/19/2016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outbackcrossing.com.au/FourWheelDrive/Petrol_or_Diesel_4WD.shtml"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www.4x4australia.com.au/drive/road-tests/0808/petrol-versus-diese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lcool.org/technical/diffs/diffs.html"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youtube.com/watch?v=gIGvhvOhLHU"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youtube.com/watch?v=WeLm7wHvdxQ"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youtube.com/watch?v=RcRBYpccP6g"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www.4x4australia.com.au/gear/1004/4x4-steep-slopes-tips/" TargetMode="External"/><Relationship Id="rId2" Type="http://schemas.openxmlformats.org/officeDocument/2006/relationships/slide" Target="../slides/slide31.xml"/><Relationship Id="rId1" Type="http://schemas.openxmlformats.org/officeDocument/2006/relationships/notesMaster" Target="../notesMasters/notesMaster1.xml"/><Relationship Id="rId6" Type="http://schemas.openxmlformats.org/officeDocument/2006/relationships/hyperlink" Target="http://www.iventureclub.com.au/4x4-tips/article.html?k=Jem4UGra2DY" TargetMode="External"/><Relationship Id="rId5" Type="http://schemas.openxmlformats.org/officeDocument/2006/relationships/hyperlink" Target="https://www.youtube.com/watch?v=uTW3H4WBxnY" TargetMode="External"/><Relationship Id="rId4" Type="http://schemas.openxmlformats.org/officeDocument/2006/relationships/hyperlink" Target="http://4xoverland.com/how-do-4x4s-work/4x4-driving/"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www.offroadaussie.com/2013/02/4wd-tips-and-tricks-tyre-pressure/"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4xoverland.com/how-do-4x4s-work/4x4-driving/"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www.youtube.com/watch?v=iT0Zph4h-L4" TargetMode="Externa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youtube.com/watch?v=I2bA6aC4g50"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www.youtube.com/watch?v=KHI_cMrvsrM" TargetMode="Externa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www.outbackcrossing.com.au/FourWheelDrive/How_To_Drive_0n_Sand.shtml"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s://www.youtube.com/watch?v=lnt_D9zKjiY" TargetMode="Externa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www.4-wheeling-in-western-australia.com/rock-crawling.html"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www.iventureclub.com.au/4x4-tips/article.html?k=1ImWwpAqbd0" TargetMode="Externa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www.toughtoys.com.au/how-to-4x4/driving-rocky-terrain/"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www.iventureclub.com.au/4x4-tips/article.html?k=zFA1eN-qEzg" TargetMode="External"/><Relationship Id="rId2" Type="http://schemas.openxmlformats.org/officeDocument/2006/relationships/slide" Target="../slides/slide43.xml"/><Relationship Id="rId1" Type="http://schemas.openxmlformats.org/officeDocument/2006/relationships/notesMaster" Target="../notesMasters/notesMaster1.xml"/><Relationship Id="rId4" Type="http://schemas.openxmlformats.org/officeDocument/2006/relationships/hyperlink" Target="http://www.toughtoys.com.au/how-to-4x4/water-crossings/" TargetMode="Externa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www.youtube.com/watch?v=wNtJNuhIf4I"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www.4-wheeling-in-western-australia.com/river-crossings.html" TargetMode="External"/><Relationship Id="rId4" Type="http://schemas.openxmlformats.org/officeDocument/2006/relationships/hyperlink" Target="http://www.outbacktravelaustralia.com.au/driving-towing-4wd-driving-skills/water-crossings" TargetMode="Externa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www.4wdonline.com/A/Water.html"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www.pps.net.au/4wdencounter/4wdtech/water.html"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4xoverland.com/how-do-4x4s-work/4x4-driving/" TargetMode="External"/><Relationship Id="rId2" Type="http://schemas.openxmlformats.org/officeDocument/2006/relationships/slide" Target="../slides/slide47.xml"/><Relationship Id="rId1" Type="http://schemas.openxmlformats.org/officeDocument/2006/relationships/notesMaster" Target="../notesMasters/notesMaster1.xml"/><Relationship Id="rId4" Type="http://schemas.openxmlformats.org/officeDocument/2006/relationships/hyperlink" Target="https://www.youtube.com/watch?v=O7iqHO8__R8" TargetMode="Externa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4xoverland.com/how-do-4x4s-work/4x4-driving/" TargetMode="External"/><Relationship Id="rId2" Type="http://schemas.openxmlformats.org/officeDocument/2006/relationships/slide" Target="../slides/slide48.xml"/><Relationship Id="rId1" Type="http://schemas.openxmlformats.org/officeDocument/2006/relationships/notesMaster" Target="../notesMasters/notesMaster1.xml"/><Relationship Id="rId4" Type="http://schemas.openxmlformats.org/officeDocument/2006/relationships/hyperlink" Target="https://www.youtube.com/watch?v=O7iqHO8__R8" TargetMode="Externa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3" Type="http://schemas.openxmlformats.org/officeDocument/2006/relationships/hyperlink" Target="https://www.youtube.com/watch?v=CDqu3La1nls" TargetMode="External"/><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3" Type="http://schemas.openxmlformats.org/officeDocument/2006/relationships/hyperlink" Target="http://www.iventureclub.com.au/4x4-tips/article.html?k=cSwbJ7Nu3UQ" TargetMode="External"/><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www.youtube.com/watch?v=-Ire31FrEAI" TargetMode="External"/><Relationship Id="rId2" Type="http://schemas.openxmlformats.org/officeDocument/2006/relationships/slide" Target="../slides/slide76.xml"/><Relationship Id="rId1" Type="http://schemas.openxmlformats.org/officeDocument/2006/relationships/notesMaster" Target="../notesMasters/notesMaster1.xml"/><Relationship Id="rId4" Type="http://schemas.openxmlformats.org/officeDocument/2006/relationships/hyperlink" Target="https://www.youtube.com/watch?v=bRRhfz4tdRg" TargetMode="Externa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www.youtube.com/watch?v=oT6R6yTg6R0" TargetMode="External"/><Relationship Id="rId2" Type="http://schemas.openxmlformats.org/officeDocument/2006/relationships/slide" Target="../slides/slide77.xml"/><Relationship Id="rId1" Type="http://schemas.openxmlformats.org/officeDocument/2006/relationships/notesMaster" Target="../notesMasters/notesMaster1.xml"/><Relationship Id="rId4" Type="http://schemas.openxmlformats.org/officeDocument/2006/relationships/hyperlink" Target="https://www.youtube.com/watch?v=i7GSL3o1pUU" TargetMode="Externa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3" Type="http://schemas.openxmlformats.org/officeDocument/2006/relationships/hyperlink" Target="https://www.youtube.com/watch?v=AKLtDFz5WgU" TargetMode="External"/><Relationship Id="rId2" Type="http://schemas.openxmlformats.org/officeDocument/2006/relationships/slide" Target="../slides/slide79.xml"/><Relationship Id="rId1" Type="http://schemas.openxmlformats.org/officeDocument/2006/relationships/notesMaster" Target="../notesMasters/notesMaster1.xml"/><Relationship Id="rId6" Type="http://schemas.openxmlformats.org/officeDocument/2006/relationships/hyperlink" Target="https://www.youtube.com/watch?v=jatVOGInI64" TargetMode="External"/><Relationship Id="rId5" Type="http://schemas.openxmlformats.org/officeDocument/2006/relationships/hyperlink" Target="https://www.youtube.com/watch?v=StZHlHD09XM" TargetMode="External"/><Relationship Id="rId4" Type="http://schemas.openxmlformats.org/officeDocument/2006/relationships/hyperlink" Target="https://www.youtube.com/watch?v=L2l_-3lpHII" TargetMode="Externa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s://www.youtube.com/watch?v=StZHlHD09XM" TargetMode="External"/><Relationship Id="rId2" Type="http://schemas.openxmlformats.org/officeDocument/2006/relationships/slide" Target="../slides/slide80.xml"/><Relationship Id="rId1" Type="http://schemas.openxmlformats.org/officeDocument/2006/relationships/notesMaster" Target="../notesMasters/notesMaster1.xml"/><Relationship Id="rId6" Type="http://schemas.openxmlformats.org/officeDocument/2006/relationships/hyperlink" Target="https://www.youtube.com/watch?v=Td92wGxvujU" TargetMode="External"/><Relationship Id="rId5" Type="http://schemas.openxmlformats.org/officeDocument/2006/relationships/hyperlink" Target="https://www.youtube.com/watch?v=_4tI3HtgdCY" TargetMode="External"/><Relationship Id="rId4" Type="http://schemas.openxmlformats.org/officeDocument/2006/relationships/hyperlink" Target="https://www.youtube.com/watch?v=F4mXgnll3e4" TargetMode="Externa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www.youtube.com/watch?v=JY4cKc4FKSM" TargetMode="External"/><Relationship Id="rId2" Type="http://schemas.openxmlformats.org/officeDocument/2006/relationships/slide" Target="../slides/slide81.xml"/><Relationship Id="rId1" Type="http://schemas.openxmlformats.org/officeDocument/2006/relationships/notesMaster" Target="../notesMasters/notesMaster1.xml"/><Relationship Id="rId5" Type="http://schemas.openxmlformats.org/officeDocument/2006/relationships/hyperlink" Target="https://www.youtube.com/watch?v=4TtAgDp6VKA" TargetMode="External"/><Relationship Id="rId4" Type="http://schemas.openxmlformats.org/officeDocument/2006/relationships/hyperlink" Target="http://www.outbacktravelaustralia.com.au/driving-towing-recovery-techniques/safe-winching" TargetMode="External"/></Relationships>
</file>

<file path=ppt/notesSlides/_rels/notesSlide82.xml.rels><?xml version="1.0" encoding="UTF-8" standalone="yes"?>
<Relationships xmlns="http://schemas.openxmlformats.org/package/2006/relationships"><Relationship Id="rId3" Type="http://schemas.openxmlformats.org/officeDocument/2006/relationships/hyperlink" Target="https://www.youtube.com/watch?v=xDAzHXkk3LE" TargetMode="External"/><Relationship Id="rId2" Type="http://schemas.openxmlformats.org/officeDocument/2006/relationships/slide" Target="../slides/slide82.xml"/><Relationship Id="rId1" Type="http://schemas.openxmlformats.org/officeDocument/2006/relationships/notesMaster" Target="../notesMasters/notesMaster1.xml"/><Relationship Id="rId6" Type="http://schemas.openxmlformats.org/officeDocument/2006/relationships/hyperlink" Target="http://www.4wdonline.com/Equip/winch-TJM.html" TargetMode="External"/><Relationship Id="rId5" Type="http://schemas.openxmlformats.org/officeDocument/2006/relationships/hyperlink" Target="http://www.4wdonline.com/Equip/winches.html" TargetMode="External"/><Relationship Id="rId4" Type="http://schemas.openxmlformats.org/officeDocument/2006/relationships/hyperlink" Target="https://www.youtube.com/watch?v=GOMZQldEctg" TargetMode="Externa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3" Type="http://schemas.openxmlformats.org/officeDocument/2006/relationships/hyperlink" Target="https://www.youtube.com/watch?v=5UzX3F4Oygw"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3" Type="http://schemas.openxmlformats.org/officeDocument/2006/relationships/hyperlink" Target="https://www.youtube.com/watch?v=k39wFI4MQQg" TargetMode="External"/><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3" Type="http://schemas.openxmlformats.org/officeDocument/2006/relationships/hyperlink" Target="https://www.youtube.com/watch?v=MvU2g4dyKhI" TargetMode="External"/><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s://www.youtube.com/watch?v=DgjqhU5PgkE" TargetMode="External"/><Relationship Id="rId2" Type="http://schemas.openxmlformats.org/officeDocument/2006/relationships/slide" Target="../slides/slide87.xml"/><Relationship Id="rId1" Type="http://schemas.openxmlformats.org/officeDocument/2006/relationships/notesMaster" Target="../notesMasters/notesMaster1.xml"/><Relationship Id="rId4" Type="http://schemas.openxmlformats.org/officeDocument/2006/relationships/hyperlink" Target="https://www.youtube.com/watch?v=1a_5IpDzPPI" TargetMode="External"/></Relationships>
</file>

<file path=ppt/notesSlides/_rels/notesSlide88.xml.rels><?xml version="1.0" encoding="UTF-8" standalone="yes"?>
<Relationships xmlns="http://schemas.openxmlformats.org/package/2006/relationships"><Relationship Id="rId3" Type="http://schemas.openxmlformats.org/officeDocument/2006/relationships/hyperlink" Target="https://www.youtube.com/watch?v=hUL-l9Yi3Ws" TargetMode="External"/><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3" Type="http://schemas.openxmlformats.org/officeDocument/2006/relationships/hyperlink" Target="https://www.youtube.com/watch?v=9FRMK7ZstaY" TargetMode="External"/><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s://www.youtube.com/watch?v=OVY0QQiN93o" TargetMode="External"/><Relationship Id="rId2" Type="http://schemas.openxmlformats.org/officeDocument/2006/relationships/slide" Target="../slides/slide90.xml"/><Relationship Id="rId1" Type="http://schemas.openxmlformats.org/officeDocument/2006/relationships/notesMaster" Target="../notesMasters/notesMaster1.xml"/><Relationship Id="rId5" Type="http://schemas.openxmlformats.org/officeDocument/2006/relationships/hyperlink" Target="https://www.youtube.com/watch?v=pAGp8lizSQU" TargetMode="External"/><Relationship Id="rId4" Type="http://schemas.openxmlformats.org/officeDocument/2006/relationships/hyperlink" Target="https://www.youtube.com/watch?v=bOcQHqLx90g" TargetMode="External"/></Relationships>
</file>

<file path=ppt/notesSlides/_rels/notesSlide91.xml.rels><?xml version="1.0" encoding="UTF-8" standalone="yes"?>
<Relationships xmlns="http://schemas.openxmlformats.org/package/2006/relationships"><Relationship Id="rId3" Type="http://schemas.openxmlformats.org/officeDocument/2006/relationships/hyperlink" Target="https://www.youtube.com/watch?v=aILTlKPu3Zs" TargetMode="External"/><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3" Type="http://schemas.openxmlformats.org/officeDocument/2006/relationships/hyperlink" Target="https://www.youtube.com/watch?v=CqBQ8q2mxuY" TargetMode="External"/><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3" Type="http://schemas.openxmlformats.org/officeDocument/2006/relationships/hyperlink" Target="https://www.youtube.com/watch?v=Hc7Tni99dlQ" TargetMode="External"/><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3" Type="http://schemas.openxmlformats.org/officeDocument/2006/relationships/hyperlink" Target="https://www.youtube.com/watch?v=gmzMx9_TkaU" TargetMode="External"/><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3" Type="http://schemas.openxmlformats.org/officeDocument/2006/relationships/hyperlink" Target="https://www.youtube.com/watch?v=NLe71YjrUkI" TargetMode="External"/><Relationship Id="rId2" Type="http://schemas.openxmlformats.org/officeDocument/2006/relationships/slide" Target="../slides/slide95.xml"/><Relationship Id="rId1" Type="http://schemas.openxmlformats.org/officeDocument/2006/relationships/notesMaster" Target="../notesMasters/notesMaster1.xml"/><Relationship Id="rId4" Type="http://schemas.openxmlformats.org/officeDocument/2006/relationships/hyperlink" Target="https://www.youtube.com/watch?v=kMFa_pylslo" TargetMode="External"/></Relationships>
</file>

<file path=ppt/notesSlides/_rels/notesSlide96.xml.rels><?xml version="1.0" encoding="UTF-8" standalone="yes"?>
<Relationships xmlns="http://schemas.openxmlformats.org/package/2006/relationships"><Relationship Id="rId3" Type="http://schemas.openxmlformats.org/officeDocument/2006/relationships/hyperlink" Target="https://www.youtube.com/watch?v=95m6VHEWvFk" TargetMode="External"/><Relationship Id="rId2" Type="http://schemas.openxmlformats.org/officeDocument/2006/relationships/slide" Target="../slides/slide96.xml"/><Relationship Id="rId1" Type="http://schemas.openxmlformats.org/officeDocument/2006/relationships/notesMaster" Target="../notesMasters/notesMaster1.xml"/><Relationship Id="rId4" Type="http://schemas.openxmlformats.org/officeDocument/2006/relationships/hyperlink" Target="https://www.youtube.com/watch?v=hm_u0wb3kD0" TargetMode="Externa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8" Type="http://schemas.openxmlformats.org/officeDocument/2006/relationships/hyperlink" Target="https://www.youtube.com/watch?v=5F31wzh60zo" TargetMode="External"/><Relationship Id="rId3" Type="http://schemas.openxmlformats.org/officeDocument/2006/relationships/hyperlink" Target="http://www.supercheapauto.com.au/how-to/Outside-the-Car/Checking-and-Changing-an-Automotive-Light-Globe.aspx?id=79" TargetMode="External"/><Relationship Id="rId7" Type="http://schemas.openxmlformats.org/officeDocument/2006/relationships/hyperlink" Target="https://www.youtube.com/watch?v=mgGWFqPe0Ms" TargetMode="External"/><Relationship Id="rId2" Type="http://schemas.openxmlformats.org/officeDocument/2006/relationships/slide" Target="../slides/slide126.xml"/><Relationship Id="rId1" Type="http://schemas.openxmlformats.org/officeDocument/2006/relationships/notesMaster" Target="../notesMasters/notesMaster1.xml"/><Relationship Id="rId6" Type="http://schemas.openxmlformats.org/officeDocument/2006/relationships/hyperlink" Target="https://www.youtube.com/watch?v=cB99QN1AYBU" TargetMode="External"/><Relationship Id="rId5" Type="http://schemas.openxmlformats.org/officeDocument/2006/relationships/hyperlink" Target="https://www.youtube.com/watch?v=jk1kFc56dwk" TargetMode="External"/><Relationship Id="rId4" Type="http://schemas.openxmlformats.org/officeDocument/2006/relationships/hyperlink" Target="https://www.youtube.com/watch?v=6hURsa46t4M" TargetMode="External"/><Relationship Id="rId9" Type="http://schemas.openxmlformats.org/officeDocument/2006/relationships/hyperlink" Target="https://www.youtube.com/watch?v=9POigqpLxQc" TargetMode="Externa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8" Type="http://schemas.openxmlformats.org/officeDocument/2006/relationships/hyperlink" Target="http://www.wikihow.com/Change-an-Automotive-Belt" TargetMode="External"/><Relationship Id="rId3" Type="http://schemas.openxmlformats.org/officeDocument/2006/relationships/hyperlink" Target="https://www.youtube.com/watch?v=4hnOUs9eiN4" TargetMode="External"/><Relationship Id="rId7" Type="http://schemas.openxmlformats.org/officeDocument/2006/relationships/hyperlink" Target="https://www.youtube.com/watch?v=XD0LNkFYPGQ" TargetMode="External"/><Relationship Id="rId2" Type="http://schemas.openxmlformats.org/officeDocument/2006/relationships/slide" Target="../slides/slide128.xml"/><Relationship Id="rId1" Type="http://schemas.openxmlformats.org/officeDocument/2006/relationships/notesMaster" Target="../notesMasters/notesMaster1.xml"/><Relationship Id="rId6" Type="http://schemas.openxmlformats.org/officeDocument/2006/relationships/hyperlink" Target="https://www.youtube.com/watch?v=01J3Fp9_bMA" TargetMode="External"/><Relationship Id="rId5" Type="http://schemas.openxmlformats.org/officeDocument/2006/relationships/hyperlink" Target="https://www.youtube.com/watch?v=Wg1AX77xEBQ" TargetMode="External"/><Relationship Id="rId4" Type="http://schemas.openxmlformats.org/officeDocument/2006/relationships/hyperlink" Target="http://www.supercheapauto.com.au/how-to/Servicing-Mechanical/Replacing-a-Drive-Belt.aspx?id=76" TargetMode="Externa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3" Type="http://schemas.openxmlformats.org/officeDocument/2006/relationships/hyperlink" Target="https://www.youtube.com/watch?v=kOXeo-kqg68" TargetMode="External"/><Relationship Id="rId2" Type="http://schemas.openxmlformats.org/officeDocument/2006/relationships/slide" Target="../slides/slide130.xml"/><Relationship Id="rId1" Type="http://schemas.openxmlformats.org/officeDocument/2006/relationships/notesMaster" Target="../notesMasters/notesMaster1.xml"/><Relationship Id="rId4" Type="http://schemas.openxmlformats.org/officeDocument/2006/relationships/hyperlink" Target="https://www.youtube.com/watch?v=faWZmG0fXy8" TargetMode="Externa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3" Type="http://schemas.openxmlformats.org/officeDocument/2006/relationships/hyperlink" Target="https://www.youtube.com/watch?v=AGmQ50naiGg" TargetMode="External"/><Relationship Id="rId2" Type="http://schemas.openxmlformats.org/officeDocument/2006/relationships/slide" Target="../slides/slide132.xml"/><Relationship Id="rId1" Type="http://schemas.openxmlformats.org/officeDocument/2006/relationships/notesMaster" Target="../notesMasters/notesMaster1.xml"/><Relationship Id="rId5" Type="http://schemas.openxmlformats.org/officeDocument/2006/relationships/hyperlink" Target="https://www.youtube.com/watch?v=xH0D22ITjQU" TargetMode="External"/><Relationship Id="rId4" Type="http://schemas.openxmlformats.org/officeDocument/2006/relationships/hyperlink" Target="https://www.youtube.com/watch?v=C64z0L9816A" TargetMode="Externa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3" Type="http://schemas.openxmlformats.org/officeDocument/2006/relationships/hyperlink" Target="https://www.youtube.com/watch?v=vEdtHZwLKZ8" TargetMode="External"/><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3" Type="http://schemas.openxmlformats.org/officeDocument/2006/relationships/hyperlink" Target="https://www.youtube.com/watch?v=LZ8BZa7d0CQ" TargetMode="External"/><Relationship Id="rId2" Type="http://schemas.openxmlformats.org/officeDocument/2006/relationships/slide" Target="../slides/slide137.xml"/><Relationship Id="rId1" Type="http://schemas.openxmlformats.org/officeDocument/2006/relationships/notesMaster" Target="../notesMasters/notesMaster1.xml"/><Relationship Id="rId4" Type="http://schemas.openxmlformats.org/officeDocument/2006/relationships/hyperlink" Target="https://www.youtube.com/watch?v=nJV0J9kTZ2g" TargetMode="Externa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3" Type="http://schemas.openxmlformats.org/officeDocument/2006/relationships/hyperlink" Target="https://www.youtube.com/watch?v=6IQBZm8DBAw" TargetMode="External"/><Relationship Id="rId2" Type="http://schemas.openxmlformats.org/officeDocument/2006/relationships/slide" Target="../slides/slide142.xml"/><Relationship Id="rId1" Type="http://schemas.openxmlformats.org/officeDocument/2006/relationships/notesMaster" Target="../notesMasters/notesMaster1.xml"/><Relationship Id="rId4" Type="http://schemas.openxmlformats.org/officeDocument/2006/relationships/hyperlink" Target="http://m.supercheapauto.com.au/How-To/Oils-Lubricants/Checking-Topping-Up-Engine-Oil/194" TargetMode="External"/></Relationships>
</file>

<file path=ppt/notesSlides/_rels/notesSlide143.xml.rels><?xml version="1.0" encoding="UTF-8" standalone="yes"?>
<Relationships xmlns="http://schemas.openxmlformats.org/package/2006/relationships"><Relationship Id="rId3" Type="http://schemas.openxmlformats.org/officeDocument/2006/relationships/hyperlink" Target="https://www.youtube.com/watch?v=uvUPsk2bN0A" TargetMode="External"/><Relationship Id="rId2" Type="http://schemas.openxmlformats.org/officeDocument/2006/relationships/slide" Target="../slides/slide143.xml"/><Relationship Id="rId1" Type="http://schemas.openxmlformats.org/officeDocument/2006/relationships/notesMaster" Target="../notesMasters/notesMaster1.xml"/><Relationship Id="rId4" Type="http://schemas.openxmlformats.org/officeDocument/2006/relationships/hyperlink" Target="https://www.youtube.com/watch?v=BSlouL8Ekgw" TargetMode="Externa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3" Type="http://schemas.openxmlformats.org/officeDocument/2006/relationships/hyperlink" Target="https://www.youtube.com/watch?v=ulQmDaqv4F4" TargetMode="External"/><Relationship Id="rId2" Type="http://schemas.openxmlformats.org/officeDocument/2006/relationships/slide" Target="../slides/slide147.xml"/><Relationship Id="rId1" Type="http://schemas.openxmlformats.org/officeDocument/2006/relationships/notesMaster" Target="../notesMasters/notesMaster1.xml"/><Relationship Id="rId5" Type="http://schemas.openxmlformats.org/officeDocument/2006/relationships/hyperlink" Target="http://www.toughtoys.com.au/4wd-recovery/tyre-repair-kits-and-equipment/" TargetMode="External"/><Relationship Id="rId4" Type="http://schemas.openxmlformats.org/officeDocument/2006/relationships/hyperlink" Target="https://www.youtube.com/watch?v=LRQJgTxRhOA" TargetMode="External"/></Relationships>
</file>

<file path=ppt/notesSlides/_rels/notesSlide148.xml.rels><?xml version="1.0" encoding="UTF-8" standalone="yes"?>
<Relationships xmlns="http://schemas.openxmlformats.org/package/2006/relationships"><Relationship Id="rId3" Type="http://schemas.openxmlformats.org/officeDocument/2006/relationships/hyperlink" Target="https://www.youtube.com/watch?v=lPwM2vn3bT0" TargetMode="External"/><Relationship Id="rId2" Type="http://schemas.openxmlformats.org/officeDocument/2006/relationships/slide" Target="../slides/slide148.xml"/><Relationship Id="rId1" Type="http://schemas.openxmlformats.org/officeDocument/2006/relationships/notesMaster" Target="../notesMasters/notesMaster1.xml"/><Relationship Id="rId4" Type="http://schemas.openxmlformats.org/officeDocument/2006/relationships/hyperlink" Target="https://www.youtube.com/watch?v=lkd7iq-dIQ0" TargetMode="Externa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3" Type="http://schemas.openxmlformats.org/officeDocument/2006/relationships/hyperlink" Target="http://www.supercheapauto.com.au/how-to/Servicing-Mechanical/Replacing-Spark-Plugs.aspx?id=68" TargetMode="External"/><Relationship Id="rId2" Type="http://schemas.openxmlformats.org/officeDocument/2006/relationships/slide" Target="../slides/slide154.xml"/><Relationship Id="rId1" Type="http://schemas.openxmlformats.org/officeDocument/2006/relationships/notesMaster" Target="../notesMasters/notesMaster1.xml"/><Relationship Id="rId4" Type="http://schemas.openxmlformats.org/officeDocument/2006/relationships/hyperlink" Target="https://www.youtube.com/watch?v=jj06A6UdHvI" TargetMode="Externa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3" Type="http://schemas.openxmlformats.org/officeDocument/2006/relationships/hyperlink" Target="https://www.youtube.com/watch?v=4Po_1pNHE1Y" TargetMode="External"/><Relationship Id="rId2" Type="http://schemas.openxmlformats.org/officeDocument/2006/relationships/slide" Target="../slides/slide156.xml"/><Relationship Id="rId1" Type="http://schemas.openxmlformats.org/officeDocument/2006/relationships/notesMaster" Target="../notesMasters/notesMaster1.xml"/><Relationship Id="rId4" Type="http://schemas.openxmlformats.org/officeDocument/2006/relationships/hyperlink" Target="http://autorepair.about.com/od/enginerelateddiyjobs/l/aa081404a.htm" TargetMode="External"/></Relationships>
</file>

<file path=ppt/notesSlides/_rels/notesSlide157.xml.rels><?xml version="1.0" encoding="UTF-8" standalone="yes"?>
<Relationships xmlns="http://schemas.openxmlformats.org/package/2006/relationships"><Relationship Id="rId3" Type="http://schemas.openxmlformats.org/officeDocument/2006/relationships/hyperlink" Target="https://www.youtube.com/watch?v=RCcmN-r5Z9M" TargetMode="External"/><Relationship Id="rId2" Type="http://schemas.openxmlformats.org/officeDocument/2006/relationships/slide" Target="../slides/slide157.xml"/><Relationship Id="rId1" Type="http://schemas.openxmlformats.org/officeDocument/2006/relationships/notesMaster" Target="../notesMasters/notesMaster1.xml"/><Relationship Id="rId4" Type="http://schemas.openxmlformats.org/officeDocument/2006/relationships/hyperlink" Target="https://www.youtube.com/watch?v=4Po_1pNHE1Y" TargetMode="Externa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3" Type="http://schemas.openxmlformats.org/officeDocument/2006/relationships/hyperlink" Target="http://www.offroadaussie.com/2013/02/4wd-tips-and-tricks-water-crossings/" TargetMode="External"/><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noProof="0"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267927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388709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912629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baseline="0" dirty="0" smtClean="0"/>
              <a:t>What 4WDs have you driven? </a:t>
            </a:r>
          </a:p>
          <a:p>
            <a:pPr marL="171450" indent="-171450">
              <a:buFont typeface="Arial" pitchFamily="34" charset="0"/>
              <a:buChar char="•"/>
            </a:pPr>
            <a:r>
              <a:rPr lang="en-US" baseline="0" dirty="0" smtClean="0"/>
              <a:t>Where? </a:t>
            </a:r>
          </a:p>
          <a:p>
            <a:pPr marL="171450" indent="-171450">
              <a:buFont typeface="Arial" pitchFamily="34" charset="0"/>
              <a:buChar char="•"/>
            </a:pPr>
            <a:r>
              <a:rPr lang="en-US" baseline="0" dirty="0" smtClean="0"/>
              <a:t>When? </a:t>
            </a:r>
          </a:p>
          <a:p>
            <a:pPr marL="171450" indent="-171450">
              <a:buFont typeface="Arial" pitchFamily="34" charset="0"/>
              <a:buChar char="•"/>
            </a:pPr>
            <a:r>
              <a:rPr lang="en-US" baseline="0" dirty="0" smtClean="0"/>
              <a:t>In what conditions?</a:t>
            </a:r>
          </a:p>
          <a:p>
            <a:pPr>
              <a:buFont typeface="Arial" pitchFamily="34" charset="0"/>
              <a:buChar char="•"/>
            </a:pPr>
            <a:endParaRPr lang="en-US" baseline="0" dirty="0" smtClean="0"/>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202070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noProof="0" dirty="0" smtClean="0"/>
              <a:t>Trainer explains </a:t>
            </a:r>
            <a:r>
              <a:rPr lang="en-AU" sz="1200" kern="1200" dirty="0" smtClean="0">
                <a:solidFill>
                  <a:schemeClr val="tx1"/>
                </a:solidFill>
                <a:latin typeface="+mn-lt"/>
                <a:ea typeface="+mn-ea"/>
                <a:cs typeface="+mn-cs"/>
              </a:rPr>
              <a:t>a wide variety of vehicles are used for four-wheel drive touring – they can include:</a:t>
            </a:r>
          </a:p>
          <a:p>
            <a:pPr marL="171450" indent="-171450">
              <a:buFont typeface="Arial" pitchFamily="34" charset="0"/>
              <a:buChar char="•"/>
            </a:pPr>
            <a:r>
              <a:rPr lang="en-AU" sz="1200" kern="1200" dirty="0" smtClean="0">
                <a:solidFill>
                  <a:schemeClr val="tx1"/>
                </a:solidFill>
                <a:latin typeface="+mn-lt"/>
                <a:ea typeface="+mn-ea"/>
                <a:cs typeface="+mn-cs"/>
              </a:rPr>
              <a:t>Diesel or petrol powered engines – the choice of fuel is very much an individual consideration with access to fuel for re-supply a primary consideration</a:t>
            </a:r>
          </a:p>
          <a:p>
            <a:pPr marL="628650" lvl="1" indent="-171450">
              <a:buFont typeface="Arial" pitchFamily="34" charset="0"/>
              <a:buChar char="•"/>
            </a:pPr>
            <a:r>
              <a:rPr lang="en-AU" sz="1200" kern="1200" dirty="0" smtClean="0">
                <a:solidFill>
                  <a:schemeClr val="tx1"/>
                </a:solidFill>
                <a:latin typeface="+mn-lt"/>
                <a:ea typeface="+mn-ea"/>
                <a:cs typeface="+mn-cs"/>
              </a:rPr>
              <a:t>Personal preference is also a significant factor with many believing ‘diesel is best’ while many others believe the opposite</a:t>
            </a:r>
          </a:p>
          <a:p>
            <a:pPr marL="171450" indent="-171450">
              <a:buFont typeface="Arial" pitchFamily="34" charset="0"/>
              <a:buChar char="•"/>
            </a:pPr>
            <a:r>
              <a:rPr lang="en-AU" sz="1200" kern="1200" dirty="0" smtClean="0">
                <a:solidFill>
                  <a:schemeClr val="tx1"/>
                </a:solidFill>
                <a:latin typeface="+mn-lt"/>
                <a:ea typeface="+mn-ea"/>
                <a:cs typeface="+mn-cs"/>
              </a:rPr>
              <a:t>Standard ‘off-the-shelf’ vehicles – which:</a:t>
            </a:r>
          </a:p>
          <a:p>
            <a:pPr marL="628650" lvl="1" indent="-171450">
              <a:buFont typeface="Arial" pitchFamily="34" charset="0"/>
              <a:buChar char="•"/>
            </a:pPr>
            <a:r>
              <a:rPr lang="en-AU" sz="1200" kern="1200" dirty="0" smtClean="0">
                <a:solidFill>
                  <a:schemeClr val="tx1"/>
                </a:solidFill>
                <a:latin typeface="+mn-lt"/>
                <a:ea typeface="+mn-ea"/>
                <a:cs typeface="+mn-cs"/>
              </a:rPr>
              <a:t>Are produced according to manufacturers’ specifications</a:t>
            </a:r>
          </a:p>
          <a:p>
            <a:pPr marL="628650" lvl="1" indent="-171450">
              <a:buFont typeface="Arial" pitchFamily="34" charset="0"/>
              <a:buChar char="•"/>
            </a:pPr>
            <a:r>
              <a:rPr lang="en-AU" sz="1200" kern="1200" dirty="0" smtClean="0">
                <a:solidFill>
                  <a:schemeClr val="tx1"/>
                </a:solidFill>
                <a:latin typeface="+mn-lt"/>
                <a:ea typeface="+mn-ea"/>
                <a:cs typeface="+mn-cs"/>
              </a:rPr>
              <a:t>May be bought with a wide range of options fitted from the factory</a:t>
            </a:r>
          </a:p>
          <a:p>
            <a:pPr marL="628650" lvl="1" indent="-171450">
              <a:buFont typeface="Arial" pitchFamily="34" charset="0"/>
              <a:buChar char="•"/>
            </a:pPr>
            <a:r>
              <a:rPr lang="en-AU" sz="1200" kern="1200" dirty="0" smtClean="0">
                <a:solidFill>
                  <a:schemeClr val="tx1"/>
                </a:solidFill>
                <a:latin typeface="+mn-lt"/>
                <a:ea typeface="+mn-ea"/>
                <a:cs typeface="+mn-cs"/>
              </a:rPr>
              <a:t>Can be optioned with after-market options to suit individual need </a:t>
            </a:r>
          </a:p>
          <a:p>
            <a:pPr marL="171450" indent="-171450">
              <a:buFont typeface="Arial" pitchFamily="34" charset="0"/>
              <a:buChar char="•"/>
            </a:pPr>
            <a:r>
              <a:rPr lang="en-AU" sz="1200" kern="1200" dirty="0" smtClean="0">
                <a:solidFill>
                  <a:schemeClr val="tx1"/>
                </a:solidFill>
                <a:latin typeface="+mn-lt"/>
                <a:ea typeface="+mn-ea"/>
                <a:cs typeface="+mn-cs"/>
              </a:rPr>
              <a:t>Vehicles produced to Tour Operator specifications – which means they are specially configured</a:t>
            </a:r>
          </a:p>
          <a:p>
            <a:pPr marL="628650" lvl="1" indent="-171450">
              <a:buFont typeface="Arial" pitchFamily="34" charset="0"/>
              <a:buChar char="•"/>
            </a:pPr>
            <a:r>
              <a:rPr lang="en-AU" sz="1200" kern="1200" dirty="0" smtClean="0">
                <a:solidFill>
                  <a:schemeClr val="tx1"/>
                </a:solidFill>
                <a:latin typeface="+mn-lt"/>
                <a:ea typeface="+mn-ea"/>
                <a:cs typeface="+mn-cs"/>
              </a:rPr>
              <a:t>For identified touring conditions</a:t>
            </a:r>
          </a:p>
          <a:p>
            <a:pPr marL="628650" lvl="1" indent="-171450">
              <a:buFont typeface="Arial" pitchFamily="34" charset="0"/>
              <a:buChar char="•"/>
            </a:pPr>
            <a:r>
              <a:rPr lang="en-AU" sz="1200" kern="1200" dirty="0" smtClean="0">
                <a:solidFill>
                  <a:schemeClr val="tx1"/>
                </a:solidFill>
                <a:latin typeface="+mn-lt"/>
                <a:ea typeface="+mn-ea"/>
                <a:cs typeface="+mn-cs"/>
              </a:rPr>
              <a:t>To accommodate the experience the Operator has built up over the years</a:t>
            </a:r>
          </a:p>
          <a:p>
            <a:pPr marL="171450" indent="-171450">
              <a:buFont typeface="Arial" pitchFamily="34" charset="0"/>
              <a:buChar char="•"/>
            </a:pPr>
            <a:r>
              <a:rPr lang="en-AU" sz="1200" kern="1200" dirty="0" smtClean="0">
                <a:solidFill>
                  <a:schemeClr val="tx1"/>
                </a:solidFill>
                <a:latin typeface="+mn-lt"/>
                <a:ea typeface="+mn-ea"/>
                <a:cs typeface="+mn-cs"/>
              </a:rPr>
              <a:t>A range of configurations – including: </a:t>
            </a:r>
          </a:p>
          <a:p>
            <a:pPr marL="628650" lvl="1" indent="-171450">
              <a:buFont typeface="Arial" pitchFamily="34" charset="0"/>
              <a:buChar char="•"/>
            </a:pPr>
            <a:r>
              <a:rPr lang="en-AU" sz="1200" kern="1200" dirty="0" smtClean="0">
                <a:solidFill>
                  <a:schemeClr val="tx1"/>
                </a:solidFill>
                <a:latin typeface="+mn-lt"/>
                <a:ea typeface="+mn-ea"/>
                <a:cs typeface="+mn-cs"/>
              </a:rPr>
              <a:t>Small capacity vehicles (cars, SUVs, utilities, wagons, motor homes) accommodating four to five people </a:t>
            </a:r>
          </a:p>
          <a:p>
            <a:pPr marL="628650" lvl="1" indent="-171450">
              <a:buFont typeface="Arial" pitchFamily="34" charset="0"/>
              <a:buChar char="•"/>
            </a:pPr>
            <a:r>
              <a:rPr lang="en-AU" sz="1200" kern="1200" dirty="0" smtClean="0">
                <a:solidFill>
                  <a:schemeClr val="tx1"/>
                </a:solidFill>
                <a:latin typeface="+mn-lt"/>
                <a:ea typeface="+mn-ea"/>
                <a:cs typeface="+mn-cs"/>
              </a:rPr>
              <a:t>Multi-seat units (people movers, troop carriers) with space for seven to 12 people </a:t>
            </a:r>
          </a:p>
          <a:p>
            <a:pPr marL="628650" lvl="1" indent="-171450">
              <a:buFont typeface="Arial" pitchFamily="34" charset="0"/>
              <a:buChar char="•"/>
            </a:pPr>
            <a:r>
              <a:rPr lang="en-AU" sz="1200" kern="1200" dirty="0" smtClean="0">
                <a:solidFill>
                  <a:schemeClr val="tx1"/>
                </a:solidFill>
                <a:latin typeface="+mn-lt"/>
                <a:ea typeface="+mn-ea"/>
                <a:cs typeface="+mn-cs"/>
              </a:rPr>
              <a:t>Large or small coaches which can seat 20 plus.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http://www.outbackcrossing.com.au/FourWheelDrive/Petrol_or_Diesel_4WD.shtml</a:t>
            </a:r>
            <a:r>
              <a:rPr lang="en-AU" sz="1200" kern="1200" dirty="0" smtClean="0">
                <a:solidFill>
                  <a:schemeClr val="tx1"/>
                </a:solidFill>
                <a:latin typeface="+mn-lt"/>
                <a:ea typeface="+mn-ea"/>
                <a:cs typeface="+mn-cs"/>
              </a:rPr>
              <a:t> - Petrol or diesel 4WD?</a:t>
            </a:r>
          </a:p>
          <a:p>
            <a:r>
              <a:rPr lang="en-AU" sz="1200" u="sng" kern="1200" dirty="0" smtClean="0">
                <a:solidFill>
                  <a:schemeClr val="tx1"/>
                </a:solidFill>
                <a:latin typeface="+mn-lt"/>
                <a:ea typeface="+mn-ea"/>
                <a:cs typeface="+mn-cs"/>
                <a:hlinkClick r:id="rId4"/>
              </a:rPr>
              <a:t>http://www.4x4australia.com.au/drive/road-tests/0808/petrol-versus-diesel/</a:t>
            </a:r>
            <a:r>
              <a:rPr lang="en-AU" sz="1200" kern="1200" dirty="0" smtClean="0">
                <a:solidFill>
                  <a:schemeClr val="tx1"/>
                </a:solidFill>
                <a:latin typeface="+mn-lt"/>
                <a:ea typeface="+mn-ea"/>
                <a:cs typeface="+mn-cs"/>
              </a:rPr>
              <a:t> - Petrol versus diesel.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648734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partial 4WD:</a:t>
            </a:r>
          </a:p>
          <a:p>
            <a:pPr marL="171450" indent="-171450">
              <a:buFont typeface="Arial" pitchFamily="34" charset="0"/>
              <a:buChar char="•"/>
            </a:pPr>
            <a:r>
              <a:rPr lang="en-AU" sz="1200" kern="1200" dirty="0" smtClean="0">
                <a:solidFill>
                  <a:schemeClr val="tx1"/>
                </a:solidFill>
                <a:latin typeface="+mn-lt"/>
                <a:ea typeface="+mn-ea"/>
                <a:cs typeface="+mn-cs"/>
              </a:rPr>
              <a:t>It means the vehicle is usually a 2-wheel drive vehicle when travelling normal roads/highways but has the capacity to become a 4WD when 4WD is activated/selected</a:t>
            </a:r>
          </a:p>
          <a:p>
            <a:pPr marL="171450" indent="-171450">
              <a:buFont typeface="Arial" pitchFamily="34" charset="0"/>
              <a:buChar char="•"/>
            </a:pPr>
            <a:r>
              <a:rPr lang="en-AU" sz="1200" kern="1200" dirty="0" smtClean="0">
                <a:solidFill>
                  <a:schemeClr val="tx1"/>
                </a:solidFill>
                <a:latin typeface="+mn-lt"/>
                <a:ea typeface="+mn-ea"/>
                <a:cs typeface="+mn-cs"/>
              </a:rPr>
              <a:t>The two wheels which are not under power are known as free-wheeling hubs.</a:t>
            </a:r>
          </a:p>
          <a:p>
            <a:r>
              <a:rPr lang="en-AU" sz="1200" b="1" kern="1200" dirty="0" smtClean="0">
                <a:solidFill>
                  <a:schemeClr val="tx1"/>
                </a:solidFill>
                <a:latin typeface="+mn-lt"/>
                <a:ea typeface="+mn-ea"/>
                <a:cs typeface="+mn-cs"/>
              </a:rPr>
              <a:t>High and Low range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Part-time 4WDs generally give the driver the option of selecting ‘High’ or ‘Low’ range 4WD.</a:t>
            </a:r>
          </a:p>
          <a:p>
            <a:r>
              <a:rPr lang="en-AU" sz="1200" kern="1200" dirty="0" smtClean="0">
                <a:solidFill>
                  <a:schemeClr val="tx1"/>
                </a:solidFill>
                <a:latin typeface="+mn-lt"/>
                <a:ea typeface="+mn-ea"/>
                <a:cs typeface="+mn-cs"/>
              </a:rPr>
              <a:t>Low range provides/generates more torque at the wheels through lower gear ratios which is useful for driving difficult terrain at low speeds.</a:t>
            </a:r>
          </a:p>
          <a:p>
            <a:r>
              <a:rPr lang="en-AU" sz="1200" kern="1200" dirty="0" smtClean="0">
                <a:solidFill>
                  <a:schemeClr val="tx1"/>
                </a:solidFill>
                <a:latin typeface="+mn-lt"/>
                <a:ea typeface="+mn-ea"/>
                <a:cs typeface="+mn-cs"/>
              </a:rPr>
              <a:t>High range gives greater control and traction when driving quicker on surfaces such as compacted sand/beaches. </a:t>
            </a:r>
          </a:p>
          <a:p>
            <a:r>
              <a:rPr lang="en-AU" sz="1200" b="1" kern="1200" dirty="0" smtClean="0">
                <a:solidFill>
                  <a:schemeClr val="tx1"/>
                </a:solidFill>
                <a:latin typeface="+mn-lt"/>
                <a:ea typeface="+mn-ea"/>
                <a:cs typeface="+mn-cs"/>
              </a:rPr>
              <a:t>2WD</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vehicle that is only powered by one set of wheels (either front or rear) is known as a two-wheel drive/2WD.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821193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other 4WD vehicle</a:t>
            </a:r>
            <a:r>
              <a:rPr lang="en-AU" baseline="0" noProof="0" dirty="0" smtClean="0"/>
              <a:t> options:</a:t>
            </a:r>
          </a:p>
          <a:p>
            <a:r>
              <a:rPr lang="en-AU" sz="1200" b="1" kern="1200" dirty="0" smtClean="0">
                <a:solidFill>
                  <a:schemeClr val="tx1"/>
                </a:solidFill>
                <a:latin typeface="+mn-lt"/>
                <a:ea typeface="+mn-ea"/>
                <a:cs typeface="+mn-cs"/>
              </a:rPr>
              <a:t>Permanent 4-wheel drive</a:t>
            </a:r>
          </a:p>
          <a:p>
            <a:r>
              <a:rPr lang="en-AU" sz="1200" kern="1200" dirty="0" smtClean="0">
                <a:solidFill>
                  <a:schemeClr val="tx1"/>
                </a:solidFill>
                <a:latin typeface="+mn-lt"/>
                <a:ea typeface="+mn-ea"/>
                <a:cs typeface="+mn-cs"/>
              </a:rPr>
              <a:t>A permanent 4-wheel drive vehicle is normally in 4WD mode.</a:t>
            </a:r>
          </a:p>
          <a:p>
            <a:r>
              <a:rPr lang="en-AU" sz="1200" kern="1200" dirty="0" smtClean="0">
                <a:solidFill>
                  <a:schemeClr val="tx1"/>
                </a:solidFill>
                <a:latin typeface="+mn-lt"/>
                <a:ea typeface="+mn-ea"/>
                <a:cs typeface="+mn-cs"/>
              </a:rPr>
              <a:t>There is therefore no need to engage 4WD because it is always selected.</a:t>
            </a:r>
          </a:p>
          <a:p>
            <a:r>
              <a:rPr lang="en-AU" sz="1200" kern="1200" dirty="0" smtClean="0">
                <a:solidFill>
                  <a:schemeClr val="tx1"/>
                </a:solidFill>
                <a:latin typeface="+mn-lt"/>
                <a:ea typeface="+mn-ea"/>
                <a:cs typeface="+mn-cs"/>
              </a:rPr>
              <a:t>There can be the facility to de-select 4WD and engage 2WD.</a:t>
            </a:r>
          </a:p>
          <a:p>
            <a:r>
              <a:rPr lang="en-AU" sz="1200" kern="1200" dirty="0" smtClean="0">
                <a:solidFill>
                  <a:schemeClr val="tx1"/>
                </a:solidFill>
                <a:latin typeface="+mn-lt"/>
                <a:ea typeface="+mn-ea"/>
                <a:cs typeface="+mn-cs"/>
              </a:rPr>
              <a:t>Permanent 4-wheel drives are also referred to all-wheel drive (AWD) vehicles.</a:t>
            </a:r>
          </a:p>
          <a:p>
            <a:r>
              <a:rPr lang="en-AU" sz="1200" b="1" kern="1200" dirty="0" smtClean="0">
                <a:solidFill>
                  <a:schemeClr val="tx1"/>
                </a:solidFill>
                <a:latin typeface="+mn-lt"/>
                <a:ea typeface="+mn-ea"/>
                <a:cs typeface="+mn-cs"/>
              </a:rPr>
              <a:t>Automatic four-wheel drive</a:t>
            </a:r>
          </a:p>
          <a:p>
            <a:r>
              <a:rPr lang="en-AU" sz="1200" kern="1200" dirty="0" smtClean="0">
                <a:solidFill>
                  <a:schemeClr val="tx1"/>
                </a:solidFill>
                <a:latin typeface="+mn-lt"/>
                <a:ea typeface="+mn-ea"/>
                <a:cs typeface="+mn-cs"/>
              </a:rPr>
              <a:t>This is a system where the vehicle senses different individual wheel speeds and engages 4WD automatically it detects a need to do so.</a:t>
            </a:r>
          </a:p>
          <a:p>
            <a:r>
              <a:rPr lang="en-AU" sz="1200" kern="1200" dirty="0" smtClean="0">
                <a:solidFill>
                  <a:schemeClr val="tx1"/>
                </a:solidFill>
                <a:latin typeface="+mn-lt"/>
                <a:ea typeface="+mn-ea"/>
                <a:cs typeface="+mn-cs"/>
              </a:rPr>
              <a:t>These are known as A4WDs.</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198937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terminology:</a:t>
            </a:r>
          </a:p>
          <a:p>
            <a:r>
              <a:rPr lang="en-AU" sz="1200" b="1" kern="1200" dirty="0" smtClean="0">
                <a:solidFill>
                  <a:schemeClr val="tx1"/>
                </a:solidFill>
                <a:latin typeface="+mn-lt"/>
                <a:ea typeface="+mn-ea"/>
                <a:cs typeface="+mn-cs"/>
              </a:rPr>
              <a:t>4x4 and 4x2</a:t>
            </a:r>
          </a:p>
          <a:p>
            <a:r>
              <a:rPr lang="en-AU" sz="1200" kern="1200" dirty="0" smtClean="0">
                <a:solidFill>
                  <a:schemeClr val="tx1"/>
                </a:solidFill>
                <a:latin typeface="+mn-lt"/>
                <a:ea typeface="+mn-ea"/>
                <a:cs typeface="+mn-cs"/>
              </a:rPr>
              <a:t>4x4 = a vehicle that has four wheels (the first 4) and has drive to all 4 wheels (the second 4)</a:t>
            </a:r>
          </a:p>
          <a:p>
            <a:r>
              <a:rPr lang="en-AU" sz="1200" kern="1200" dirty="0" smtClean="0">
                <a:solidFill>
                  <a:schemeClr val="tx1"/>
                </a:solidFill>
                <a:latin typeface="+mn-lt"/>
                <a:ea typeface="+mn-ea"/>
                <a:cs typeface="+mn-cs"/>
              </a:rPr>
              <a:t>4x2 = a conventional 2WD vehicle with 4 wheels and power only to two of them</a:t>
            </a:r>
          </a:p>
          <a:p>
            <a:r>
              <a:rPr lang="en-AU" sz="1200" kern="1200" dirty="0" smtClean="0">
                <a:solidFill>
                  <a:schemeClr val="tx1"/>
                </a:solidFill>
                <a:latin typeface="+mn-lt"/>
                <a:ea typeface="+mn-ea"/>
                <a:cs typeface="+mn-cs"/>
              </a:rPr>
              <a:t>6x6 = a vehicle that has six wheels and has drive to all 6 wheels.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865461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differentials:</a:t>
            </a:r>
          </a:p>
          <a:p>
            <a:r>
              <a:rPr lang="en-AU" sz="1200" b="1" kern="1200" dirty="0" smtClean="0">
                <a:solidFill>
                  <a:schemeClr val="tx1"/>
                </a:solidFill>
                <a:latin typeface="+mn-lt"/>
                <a:ea typeface="+mn-ea"/>
                <a:cs typeface="+mn-cs"/>
              </a:rPr>
              <a:t>Background</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engine develops power which is transferred to a drive shaft.</a:t>
            </a:r>
          </a:p>
          <a:p>
            <a:r>
              <a:rPr lang="en-AU" sz="1200" kern="1200" dirty="0" smtClean="0">
                <a:solidFill>
                  <a:schemeClr val="tx1"/>
                </a:solidFill>
                <a:latin typeface="+mn-lt"/>
                <a:ea typeface="+mn-ea"/>
                <a:cs typeface="+mn-cs"/>
              </a:rPr>
              <a:t>The drive shaft is connected to the axles using a differential which transfers the power in the drive shaft to axles, and on to the wheels.</a:t>
            </a:r>
          </a:p>
          <a:p>
            <a:r>
              <a:rPr lang="en-AU" sz="1200" kern="1200" dirty="0" smtClean="0">
                <a:solidFill>
                  <a:schemeClr val="tx1"/>
                </a:solidFill>
                <a:latin typeface="+mn-lt"/>
                <a:ea typeface="+mn-ea"/>
                <a:cs typeface="+mn-cs"/>
              </a:rPr>
              <a:t>The gears in the differential allow the drive wheels on opposite sides of the vehicle to rotate at different speeds to accommodate optimum performance when turning corners or in slippery conditions.</a:t>
            </a:r>
          </a:p>
          <a:p>
            <a:r>
              <a:rPr lang="en-AU" sz="1200" kern="1200" dirty="0" smtClean="0">
                <a:solidFill>
                  <a:schemeClr val="tx1"/>
                </a:solidFill>
                <a:latin typeface="+mn-lt"/>
                <a:ea typeface="+mn-ea"/>
                <a:cs typeface="+mn-cs"/>
              </a:rPr>
              <a:t>4WD vehicles have (at least) two diffs – one for the front wheels and one for the rear wheels. </a:t>
            </a:r>
          </a:p>
          <a:p>
            <a:r>
              <a:rPr lang="en-AU" sz="1200" kern="1200" dirty="0" smtClean="0">
                <a:solidFill>
                  <a:schemeClr val="tx1"/>
                </a:solidFill>
                <a:latin typeface="+mn-lt"/>
                <a:ea typeface="+mn-ea"/>
                <a:cs typeface="+mn-cs"/>
              </a:rPr>
              <a:t>Some makes and models also have a third diff (a centre diff) which enables the front and rear drive shafts to also turn at different speeds, as well as letting each wheel rotate/drive at different speeds.</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http://www.lcool.org/technical/diffs/diffs.html</a:t>
            </a:r>
            <a:r>
              <a:rPr lang="en-AU" sz="1200" kern="1200" dirty="0" smtClean="0">
                <a:solidFill>
                  <a:schemeClr val="tx1"/>
                </a:solidFill>
                <a:latin typeface="+mn-lt"/>
                <a:ea typeface="+mn-ea"/>
                <a:cs typeface="+mn-cs"/>
              </a:rPr>
              <a:t> - Land Cruiser Owners Online: Diffs for Dummies</a:t>
            </a:r>
          </a:p>
          <a:p>
            <a:r>
              <a:rPr lang="en-AU" sz="1200" u="sng" kern="1200" dirty="0" smtClean="0">
                <a:solidFill>
                  <a:schemeClr val="tx1"/>
                </a:solidFill>
                <a:latin typeface="+mn-lt"/>
                <a:ea typeface="+mn-ea"/>
                <a:cs typeface="+mn-cs"/>
                <a:hlinkClick r:id="rId4"/>
              </a:rPr>
              <a:t>https://www.youtube.com/watch?v=gIGvhvOhLHU</a:t>
            </a:r>
            <a:r>
              <a:rPr lang="en-AU" sz="1200" kern="1200" dirty="0" smtClean="0">
                <a:solidFill>
                  <a:schemeClr val="tx1"/>
                </a:solidFill>
                <a:latin typeface="+mn-lt"/>
                <a:ea typeface="+mn-ea"/>
                <a:cs typeface="+mn-cs"/>
              </a:rPr>
              <a:t> – How a differential works and types of differentials</a:t>
            </a:r>
          </a:p>
          <a:p>
            <a:pPr>
              <a:buFont typeface="Arial" pitchFamily="34" charset="0"/>
              <a:buNone/>
            </a:pPr>
            <a:endParaRPr lang="en-AU" noProof="0" dirty="0" smtClean="0"/>
          </a:p>
          <a:p>
            <a:pPr>
              <a:buFont typeface="Arial" pitchFamily="34" charset="0"/>
              <a:buNone/>
            </a:pPr>
            <a:r>
              <a:rPr lang="en-AU" b="1" noProof="0" dirty="0" smtClean="0"/>
              <a:t>Classroom Activity (2)</a:t>
            </a:r>
            <a:r>
              <a:rPr lang="en-AU" b="1" baseline="0" noProof="0" dirty="0" smtClean="0"/>
              <a:t> </a:t>
            </a:r>
            <a:r>
              <a:rPr lang="en-AU" b="1" noProof="0" dirty="0" smtClean="0"/>
              <a:t>– Demonstration</a:t>
            </a:r>
          </a:p>
          <a:p>
            <a:pPr>
              <a:buFont typeface="Arial" pitchFamily="34" charset="0"/>
              <a:buNone/>
            </a:pPr>
            <a:r>
              <a:rPr lang="en-AU" b="0" noProof="0" dirty="0" smtClean="0"/>
              <a:t>Trainer shows students 4WD vehicles indicating location of diffs and showing how they operate.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959442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presents further information on</a:t>
            </a:r>
            <a:r>
              <a:rPr lang="en-AU" baseline="0" noProof="0" dirty="0" smtClean="0"/>
              <a:t> differentials:</a:t>
            </a:r>
          </a:p>
          <a:p>
            <a:r>
              <a:rPr lang="en-AU" sz="1200" b="1" kern="1200" dirty="0" smtClean="0">
                <a:solidFill>
                  <a:schemeClr val="tx1"/>
                </a:solidFill>
                <a:latin typeface="+mn-lt"/>
                <a:ea typeface="+mn-ea"/>
                <a:cs typeface="+mn-cs"/>
              </a:rPr>
              <a:t>Limited Slip Diffs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Some vehicles may be fitted with LSDs.</a:t>
            </a:r>
          </a:p>
          <a:p>
            <a:r>
              <a:rPr lang="en-AU" sz="1200" kern="1200" dirty="0" smtClean="0">
                <a:solidFill>
                  <a:schemeClr val="tx1"/>
                </a:solidFill>
                <a:latin typeface="+mn-lt"/>
                <a:ea typeface="+mn-ea"/>
                <a:cs typeface="+mn-cs"/>
              </a:rPr>
              <a:t>A LSD allows more power from the drive shaft to be sent to the wheel with the </a:t>
            </a:r>
            <a:r>
              <a:rPr lang="en-AU" sz="1200" i="1" kern="1200" dirty="0" smtClean="0">
                <a:solidFill>
                  <a:schemeClr val="tx1"/>
                </a:solidFill>
                <a:latin typeface="+mn-lt"/>
                <a:ea typeface="+mn-ea"/>
                <a:cs typeface="+mn-cs"/>
              </a:rPr>
              <a:t>most</a:t>
            </a:r>
            <a:r>
              <a:rPr lang="en-AU" sz="1200" kern="1200" dirty="0" smtClean="0">
                <a:solidFill>
                  <a:schemeClr val="tx1"/>
                </a:solidFill>
                <a:latin typeface="+mn-lt"/>
                <a:ea typeface="+mn-ea"/>
                <a:cs typeface="+mn-cs"/>
              </a:rPr>
              <a:t> traction in a situation where one of the wheels is slipping/spinning.</a:t>
            </a:r>
          </a:p>
          <a:p>
            <a:r>
              <a:rPr lang="en-AU" sz="1200" kern="1200" dirty="0" smtClean="0">
                <a:solidFill>
                  <a:schemeClr val="tx1"/>
                </a:solidFill>
                <a:latin typeface="+mn-lt"/>
                <a:ea typeface="+mn-ea"/>
                <a:cs typeface="+mn-cs"/>
              </a:rPr>
              <a:t>This means extra (but limited) drive can be gained from the vehicle via the wheel which is getting the most purchase on the road/track surface.</a:t>
            </a:r>
          </a:p>
          <a:p>
            <a:r>
              <a:rPr lang="en-AU" sz="1200" b="1" kern="1200" dirty="0" smtClean="0">
                <a:solidFill>
                  <a:schemeClr val="tx1"/>
                </a:solidFill>
                <a:latin typeface="+mn-lt"/>
                <a:ea typeface="+mn-ea"/>
                <a:cs typeface="+mn-cs"/>
              </a:rPr>
              <a:t>Diff locking</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Diff locking is where the differential is locked so it drives both the axles (and hence both the wheels) with the same speed/power regardless of the road surface/condition.</a:t>
            </a:r>
          </a:p>
          <a:p>
            <a:r>
              <a:rPr lang="en-AU" sz="1200" kern="1200" dirty="0" smtClean="0">
                <a:solidFill>
                  <a:schemeClr val="tx1"/>
                </a:solidFill>
                <a:latin typeface="+mn-lt"/>
                <a:ea typeface="+mn-ea"/>
                <a:cs typeface="+mn-cs"/>
              </a:rPr>
              <a:t>Depending on the make/model of the 4WD it can be possible to:</a:t>
            </a:r>
          </a:p>
          <a:p>
            <a:pPr marL="0" indent="0">
              <a:buFont typeface="Arial" pitchFamily="34" charset="0"/>
              <a:buNone/>
            </a:pPr>
            <a:r>
              <a:rPr lang="en-AU" sz="1200" kern="1200" dirty="0" smtClean="0">
                <a:solidFill>
                  <a:schemeClr val="tx1"/>
                </a:solidFill>
                <a:latin typeface="+mn-lt"/>
                <a:ea typeface="+mn-ea"/>
                <a:cs typeface="+mn-cs"/>
              </a:rPr>
              <a:t>Lock the front diff; Lock the rear diff; Lock the centre diff</a:t>
            </a:r>
          </a:p>
          <a:p>
            <a:r>
              <a:rPr lang="en-AU" sz="1200" kern="1200" dirty="0" smtClean="0">
                <a:solidFill>
                  <a:schemeClr val="tx1"/>
                </a:solidFill>
                <a:latin typeface="+mn-lt"/>
                <a:ea typeface="+mn-ea"/>
                <a:cs typeface="+mn-cs"/>
              </a:rPr>
              <a:t>This facility is often a benefit in certain four-wheel driving conditions as it can give much better traction, drive, control and ability to get through sand, bogs and difficult terrain.</a:t>
            </a:r>
          </a:p>
          <a:p>
            <a:r>
              <a:rPr lang="en-AU" sz="1200" kern="1200" dirty="0" smtClean="0">
                <a:solidFill>
                  <a:schemeClr val="tx1"/>
                </a:solidFill>
                <a:latin typeface="+mn-lt"/>
                <a:ea typeface="+mn-ea"/>
                <a:cs typeface="+mn-cs"/>
              </a:rPr>
              <a:t>Some vehicles (A4WDs) are fitted with automatic diff lockers meaning the vehicle senses when they are needed, and turns them on and off as required on the basis of information provided by sensors.</a:t>
            </a:r>
          </a:p>
          <a:p>
            <a:r>
              <a:rPr lang="en-AU" sz="1200" kern="1200" dirty="0" smtClean="0">
                <a:solidFill>
                  <a:schemeClr val="tx1"/>
                </a:solidFill>
                <a:latin typeface="+mn-lt"/>
                <a:ea typeface="+mn-ea"/>
                <a:cs typeface="+mn-cs"/>
              </a:rPr>
              <a:t>It is important to unlock manually applied diff locks when the difficult driving conditions are overcome and the vehicle returns to ‘normal’ use (so the wheels are able to rotate at different speeds as required when turning),</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https://www.youtube.com/watch?v=WeLm7wHvdxQ</a:t>
            </a:r>
            <a:r>
              <a:rPr lang="en-AU" sz="1200" kern="1200" dirty="0" smtClean="0">
                <a:solidFill>
                  <a:schemeClr val="tx1"/>
                </a:solidFill>
                <a:latin typeface="+mn-lt"/>
                <a:ea typeface="+mn-ea"/>
                <a:cs typeface="+mn-cs"/>
              </a:rPr>
              <a:t> – Understanding limited slip differentials</a:t>
            </a:r>
          </a:p>
          <a:p>
            <a:r>
              <a:rPr lang="en-AU" sz="1200" u="sng" kern="1200" dirty="0" smtClean="0">
                <a:solidFill>
                  <a:schemeClr val="tx1"/>
                </a:solidFill>
                <a:latin typeface="+mn-lt"/>
                <a:ea typeface="+mn-ea"/>
                <a:cs typeface="+mn-cs"/>
                <a:hlinkClick r:id="rId4"/>
              </a:rPr>
              <a:t>https://www.youtube.com/watch?v=RcRBYpccP6g</a:t>
            </a:r>
            <a:r>
              <a:rPr lang="en-AU" sz="1200" kern="1200" dirty="0" smtClean="0">
                <a:solidFill>
                  <a:schemeClr val="tx1"/>
                </a:solidFill>
                <a:latin typeface="+mn-lt"/>
                <a:ea typeface="+mn-ea"/>
                <a:cs typeface="+mn-cs"/>
              </a:rPr>
              <a:t> – How diff locks work and when to use it.</a:t>
            </a:r>
            <a:endParaRPr lang="en-AU" noProof="0" dirty="0" smtClean="0"/>
          </a:p>
          <a:p>
            <a:pPr>
              <a:buFont typeface="Arial" pitchFamily="34" charset="0"/>
              <a:buNone/>
            </a:pPr>
            <a:endParaRPr lang="en-AU" b="1" noProof="0" dirty="0" smtClean="0"/>
          </a:p>
          <a:p>
            <a:pPr>
              <a:buFont typeface="Arial" pitchFamily="34" charset="0"/>
              <a:buNone/>
            </a:pPr>
            <a:r>
              <a:rPr lang="en-AU" b="1" noProof="0" dirty="0" smtClean="0"/>
              <a:t>Classroom Activity (2) – Demonstration</a:t>
            </a:r>
          </a:p>
          <a:p>
            <a:pPr>
              <a:buFont typeface="Arial" pitchFamily="34" charset="0"/>
              <a:buNone/>
            </a:pPr>
            <a:r>
              <a:rPr lang="en-AU" b="0" noProof="0" dirty="0" smtClean="0"/>
              <a:t>Trainer shows students 4WD vehicles demonstrating operation of:</a:t>
            </a:r>
          </a:p>
          <a:p>
            <a:pPr marL="171450" indent="-171450">
              <a:buFont typeface="Arial" pitchFamily="34" charset="0"/>
              <a:buChar char="•"/>
            </a:pPr>
            <a:r>
              <a:rPr lang="en-AU" b="0" noProof="0" dirty="0" smtClean="0"/>
              <a:t>Limited slip diff</a:t>
            </a:r>
          </a:p>
          <a:p>
            <a:pPr marL="171450" indent="-171450">
              <a:buFont typeface="Arial" pitchFamily="34" charset="0"/>
              <a:buChar char="•"/>
            </a:pPr>
            <a:r>
              <a:rPr lang="en-AU" b="0" noProof="0" dirty="0" smtClean="0"/>
              <a:t>Diff locking.</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744974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reasons for Tour Operators using 4WDs:</a:t>
            </a:r>
          </a:p>
          <a:p>
            <a:pPr marL="171450" indent="-171450">
              <a:buFont typeface="Arial" pitchFamily="34" charset="0"/>
              <a:buChar char="•"/>
            </a:pPr>
            <a:r>
              <a:rPr lang="en-AU" sz="1200" kern="1200" dirty="0" smtClean="0">
                <a:solidFill>
                  <a:schemeClr val="tx1"/>
                </a:solidFill>
                <a:latin typeface="+mn-lt"/>
                <a:ea typeface="+mn-ea"/>
                <a:cs typeface="+mn-cs"/>
              </a:rPr>
              <a:t>Their customers expect them to be using one</a:t>
            </a:r>
          </a:p>
          <a:p>
            <a:pPr marL="171450" indent="-171450">
              <a:buFont typeface="Arial" pitchFamily="34" charset="0"/>
              <a:buChar char="•"/>
            </a:pPr>
            <a:r>
              <a:rPr lang="en-AU" sz="1200" kern="1200" dirty="0" smtClean="0">
                <a:solidFill>
                  <a:schemeClr val="tx1"/>
                </a:solidFill>
                <a:latin typeface="+mn-lt"/>
                <a:ea typeface="+mn-ea"/>
                <a:cs typeface="+mn-cs"/>
              </a:rPr>
              <a:t>Customers like the often unique nature of an off-road 4WD experience, driving through water and mud </a:t>
            </a:r>
          </a:p>
          <a:p>
            <a:pPr marL="171450" indent="-171450">
              <a:buFont typeface="Arial" pitchFamily="34" charset="0"/>
              <a:buChar char="•"/>
            </a:pPr>
            <a:r>
              <a:rPr lang="en-AU" sz="1200" kern="1200" dirty="0" smtClean="0">
                <a:solidFill>
                  <a:schemeClr val="tx1"/>
                </a:solidFill>
                <a:latin typeface="+mn-lt"/>
                <a:ea typeface="+mn-ea"/>
                <a:cs typeface="+mn-cs"/>
              </a:rPr>
              <a:t>Four-wheel drives give customers confidence in the vehicle and the fact the tour will be a safe and trouble-free one.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405197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reasons for Tour Operators using 4WDs:</a:t>
            </a:r>
          </a:p>
          <a:p>
            <a:pPr marL="171450" indent="-171450">
              <a:buFont typeface="Arial" pitchFamily="34" charset="0"/>
              <a:buChar char="•"/>
            </a:pPr>
            <a:r>
              <a:rPr lang="en-AU" sz="1200" kern="1200" dirty="0" smtClean="0">
                <a:solidFill>
                  <a:schemeClr val="tx1"/>
                </a:solidFill>
                <a:latin typeface="+mn-lt"/>
                <a:ea typeface="+mn-ea"/>
                <a:cs typeface="+mn-cs"/>
              </a:rPr>
              <a:t>They give greater ground clearance and ramp-over angles than conventional vehicles</a:t>
            </a:r>
          </a:p>
          <a:p>
            <a:pPr marL="171450" indent="-171450">
              <a:buFont typeface="Arial" pitchFamily="34" charset="0"/>
              <a:buChar char="•"/>
            </a:pPr>
            <a:r>
              <a:rPr lang="en-AU" sz="1200" kern="1200" dirty="0" smtClean="0">
                <a:solidFill>
                  <a:schemeClr val="tx1"/>
                </a:solidFill>
                <a:latin typeface="+mn-lt"/>
                <a:ea typeface="+mn-ea"/>
                <a:cs typeface="+mn-cs"/>
              </a:rPr>
              <a:t>The allow better approach and departure angles when (for example) approaching river crossing and clearing jump-ups</a:t>
            </a:r>
          </a:p>
          <a:p>
            <a:pPr marL="171450" indent="-171450">
              <a:buFont typeface="Arial" pitchFamily="34" charset="0"/>
              <a:buChar char="•"/>
            </a:pPr>
            <a:r>
              <a:rPr lang="en-AU" sz="1200" kern="1200" dirty="0" smtClean="0">
                <a:solidFill>
                  <a:schemeClr val="tx1"/>
                </a:solidFill>
                <a:latin typeface="+mn-lt"/>
                <a:ea typeface="+mn-ea"/>
                <a:cs typeface="+mn-cs"/>
              </a:rPr>
              <a:t>They enable more dependable manoeuvrability of off-road, difficult and challenging conditions such as loose sand and mud – meaning a 4WD can take people places a conventional 2WD vehicle cannot go.</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421483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provides context relating to four-wheel driving:</a:t>
            </a:r>
          </a:p>
          <a:p>
            <a:pPr marL="171450" indent="-171450">
              <a:buFont typeface="Arial" pitchFamily="34" charset="0"/>
              <a:buChar char="•"/>
            </a:pPr>
            <a:r>
              <a:rPr lang="en-AU" sz="1200" kern="1200" dirty="0" smtClean="0">
                <a:solidFill>
                  <a:schemeClr val="tx1"/>
                </a:solidFill>
                <a:latin typeface="+mn-lt"/>
                <a:ea typeface="+mn-ea"/>
                <a:cs typeface="+mn-cs"/>
              </a:rPr>
              <a:t>Four-wheel drive needs to be selected </a:t>
            </a:r>
            <a:r>
              <a:rPr lang="en-AU" sz="1200" b="1" kern="1200" dirty="0" smtClean="0">
                <a:solidFill>
                  <a:schemeClr val="tx1"/>
                </a:solidFill>
                <a:latin typeface="+mn-lt"/>
                <a:ea typeface="+mn-ea"/>
                <a:cs typeface="+mn-cs"/>
              </a:rPr>
              <a:t>before</a:t>
            </a:r>
            <a:r>
              <a:rPr lang="en-AU" sz="1200" kern="1200" dirty="0" smtClean="0">
                <a:solidFill>
                  <a:schemeClr val="tx1"/>
                </a:solidFill>
                <a:latin typeface="+mn-lt"/>
                <a:ea typeface="+mn-ea"/>
                <a:cs typeface="+mn-cs"/>
              </a:rPr>
              <a:t> it is needed (see below) – based on:</a:t>
            </a:r>
          </a:p>
          <a:p>
            <a:pPr marL="628650" lvl="1" indent="-171450">
              <a:buFont typeface="Arial" pitchFamily="34" charset="0"/>
              <a:buChar char="•"/>
            </a:pPr>
            <a:r>
              <a:rPr lang="en-AU" sz="1200" kern="1200" dirty="0" smtClean="0">
                <a:solidFill>
                  <a:schemeClr val="tx1"/>
                </a:solidFill>
                <a:latin typeface="+mn-lt"/>
                <a:ea typeface="+mn-ea"/>
                <a:cs typeface="+mn-cs"/>
              </a:rPr>
              <a:t>Observation and analysis of the upcoming conditions of the route to be taken</a:t>
            </a:r>
          </a:p>
          <a:p>
            <a:pPr marL="628650" lvl="1" indent="-171450">
              <a:buFont typeface="Arial" pitchFamily="34" charset="0"/>
              <a:buChar char="•"/>
            </a:pPr>
            <a:r>
              <a:rPr lang="en-AU" sz="1200" kern="1200" dirty="0" smtClean="0">
                <a:solidFill>
                  <a:schemeClr val="tx1"/>
                </a:solidFill>
                <a:latin typeface="+mn-lt"/>
                <a:ea typeface="+mn-ea"/>
                <a:cs typeface="+mn-cs"/>
              </a:rPr>
              <a:t>Personal experience</a:t>
            </a:r>
          </a:p>
          <a:p>
            <a:pPr marL="1085850" lvl="2" indent="-171450">
              <a:buFont typeface="Arial" pitchFamily="34" charset="0"/>
              <a:buChar char="•"/>
            </a:pPr>
            <a:r>
              <a:rPr lang="en-AU" sz="1200" kern="1200" dirty="0" smtClean="0">
                <a:solidFill>
                  <a:schemeClr val="tx1"/>
                </a:solidFill>
                <a:latin typeface="+mn-lt"/>
                <a:ea typeface="+mn-ea"/>
                <a:cs typeface="+mn-cs"/>
              </a:rPr>
              <a:t>Getting into trouble and then selecting 4WD is to be avoided – as:</a:t>
            </a:r>
          </a:p>
          <a:p>
            <a:pPr marL="1543050" lvl="3" indent="-171450">
              <a:buFont typeface="Arial" pitchFamily="34" charset="0"/>
              <a:buChar char="•"/>
            </a:pPr>
            <a:r>
              <a:rPr lang="en-AU" sz="1200" kern="1200" dirty="0" smtClean="0">
                <a:solidFill>
                  <a:schemeClr val="tx1"/>
                </a:solidFill>
                <a:latin typeface="+mn-lt"/>
                <a:ea typeface="+mn-ea"/>
                <a:cs typeface="+mn-cs"/>
              </a:rPr>
              <a:t>It may be difficult/impossible to select 4WD when the vehicle is stuck</a:t>
            </a:r>
          </a:p>
          <a:p>
            <a:pPr marL="1543050" lvl="3" indent="-171450">
              <a:buFont typeface="Arial" pitchFamily="34" charset="0"/>
              <a:buChar char="•"/>
            </a:pPr>
            <a:r>
              <a:rPr lang="en-AU" sz="1200" kern="1200" dirty="0" smtClean="0">
                <a:solidFill>
                  <a:schemeClr val="tx1"/>
                </a:solidFill>
                <a:latin typeface="+mn-lt"/>
                <a:ea typeface="+mn-ea"/>
                <a:cs typeface="+mn-cs"/>
              </a:rPr>
              <a:t>It may not resolve the situation</a:t>
            </a:r>
          </a:p>
          <a:p>
            <a:pPr marL="171450" indent="-171450">
              <a:buFont typeface="Arial" pitchFamily="34" charset="0"/>
              <a:buChar char="•"/>
            </a:pPr>
            <a:r>
              <a:rPr lang="en-AU" sz="1200" kern="1200" dirty="0" smtClean="0">
                <a:solidFill>
                  <a:schemeClr val="tx1"/>
                </a:solidFill>
                <a:latin typeface="+mn-lt"/>
                <a:ea typeface="+mn-ea"/>
                <a:cs typeface="+mn-cs"/>
              </a:rPr>
              <a:t>Momentum is important – four-wheel drive </a:t>
            </a:r>
            <a:r>
              <a:rPr lang="en-AU" sz="1200" i="1" kern="1200" dirty="0" smtClean="0">
                <a:solidFill>
                  <a:schemeClr val="tx1"/>
                </a:solidFill>
                <a:latin typeface="+mn-lt"/>
                <a:ea typeface="+mn-ea"/>
                <a:cs typeface="+mn-cs"/>
              </a:rPr>
              <a:t>alone</a:t>
            </a:r>
            <a:r>
              <a:rPr lang="en-AU" sz="1200" kern="1200" dirty="0" smtClean="0">
                <a:solidFill>
                  <a:schemeClr val="tx1"/>
                </a:solidFill>
                <a:latin typeface="+mn-lt"/>
                <a:ea typeface="+mn-ea"/>
                <a:cs typeface="+mn-cs"/>
              </a:rPr>
              <a:t> is insufficient to get a vehicle through some conditions</a:t>
            </a:r>
          </a:p>
          <a:p>
            <a:pPr marL="171450" indent="-171450">
              <a:buFont typeface="Arial" pitchFamily="34" charset="0"/>
              <a:buChar char="•"/>
            </a:pPr>
            <a:r>
              <a:rPr lang="en-AU" sz="1200" kern="1200" dirty="0" smtClean="0">
                <a:solidFill>
                  <a:schemeClr val="tx1"/>
                </a:solidFill>
                <a:latin typeface="+mn-lt"/>
                <a:ea typeface="+mn-ea"/>
                <a:cs typeface="+mn-cs"/>
              </a:rPr>
              <a:t>Tyre pressure is important in some situations – generally, lowering pressure in tyres will result in better traction through an increase in the footprint of the tread of the tyres on the surface</a:t>
            </a:r>
          </a:p>
          <a:p>
            <a:pPr marL="171450" indent="-171450">
              <a:buFont typeface="Arial" pitchFamily="34" charset="0"/>
              <a:buChar char="•"/>
            </a:pPr>
            <a:r>
              <a:rPr lang="en-AU" sz="1200" kern="1200" dirty="0" smtClean="0">
                <a:solidFill>
                  <a:schemeClr val="tx1"/>
                </a:solidFill>
                <a:latin typeface="+mn-lt"/>
                <a:ea typeface="+mn-ea"/>
                <a:cs typeface="+mn-cs"/>
              </a:rPr>
              <a:t>Vehicles should be operated strictly in accordance with any specifications provided for by the manufacturer of the vehicle as stated in the Owner/User manual</a:t>
            </a:r>
          </a:p>
          <a:p>
            <a:pPr marL="171450" indent="-171450">
              <a:buFont typeface="Arial" pitchFamily="34" charset="0"/>
              <a:buChar char="•"/>
            </a:pPr>
            <a:r>
              <a:rPr lang="en-AU" sz="1200" kern="1200" dirty="0" smtClean="0">
                <a:solidFill>
                  <a:schemeClr val="tx1"/>
                </a:solidFill>
                <a:latin typeface="+mn-lt"/>
                <a:ea typeface="+mn-ea"/>
                <a:cs typeface="+mn-cs"/>
              </a:rPr>
              <a:t>There are limits as to what a 4WD can do – they cannot ‘do anything and go anywhere’</a:t>
            </a:r>
          </a:p>
          <a:p>
            <a:pPr marL="171450" indent="-171450">
              <a:buFont typeface="Arial" pitchFamily="34" charset="0"/>
              <a:buChar char="•"/>
            </a:pPr>
            <a:r>
              <a:rPr lang="en-AU" sz="1200" kern="1200" dirty="0" smtClean="0">
                <a:solidFill>
                  <a:schemeClr val="tx1"/>
                </a:solidFill>
                <a:latin typeface="+mn-lt"/>
                <a:ea typeface="+mn-ea"/>
                <a:cs typeface="+mn-cs"/>
              </a:rPr>
              <a:t>Four-wheel drive may need to be supplemented by fitting chains to the tyres in some conditions such as snow or mud – to give added traction and control.</a:t>
            </a:r>
          </a:p>
          <a:p>
            <a:pPr>
              <a:buFont typeface="Arial" pitchFamily="34" charset="0"/>
              <a:buChar char="•"/>
            </a:pPr>
            <a:endParaRPr lang="en-AU" sz="1200"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Classroom Activity – Guest Speaker</a:t>
            </a:r>
          </a:p>
          <a:p>
            <a:pPr>
              <a:buFont typeface="Arial" pitchFamily="34" charset="0"/>
              <a:buNone/>
            </a:pPr>
            <a:r>
              <a:rPr lang="en-AU" sz="1200" b="0" kern="1200" noProof="0" dirty="0" smtClean="0">
                <a:solidFill>
                  <a:schemeClr val="tx1"/>
                </a:solidFill>
                <a:latin typeface="+mn-lt"/>
                <a:ea typeface="+mn-ea"/>
                <a:cs typeface="+mn-cs"/>
              </a:rPr>
              <a:t>Trainer arranges for experienced driver of tour 4WDs to</a:t>
            </a:r>
            <a:r>
              <a:rPr lang="en-AU" sz="1200" b="0" kern="1200" baseline="0" noProof="0" dirty="0" smtClean="0">
                <a:solidFill>
                  <a:schemeClr val="tx1"/>
                </a:solidFill>
                <a:latin typeface="+mn-lt"/>
                <a:ea typeface="+mn-ea"/>
                <a:cs typeface="+mn-cs"/>
              </a:rPr>
              <a:t> attend and:</a:t>
            </a:r>
          </a:p>
          <a:p>
            <a:pPr marL="171450" indent="-171450">
              <a:buFont typeface="Arial" pitchFamily="34" charset="0"/>
              <a:buChar char="•"/>
            </a:pPr>
            <a:r>
              <a:rPr lang="en-AU" sz="1200" b="0" kern="1200" baseline="0" noProof="0" dirty="0" smtClean="0">
                <a:solidFill>
                  <a:schemeClr val="tx1"/>
                </a:solidFill>
                <a:latin typeface="+mn-lt"/>
                <a:ea typeface="+mn-ea"/>
                <a:cs typeface="+mn-cs"/>
              </a:rPr>
              <a:t>Discuss their experience and qualifications</a:t>
            </a:r>
          </a:p>
          <a:p>
            <a:pPr marL="171450" indent="-171450">
              <a:buFont typeface="Arial" pitchFamily="34" charset="0"/>
              <a:buChar char="•"/>
            </a:pPr>
            <a:r>
              <a:rPr lang="en-AU" sz="1200" b="0" kern="1200" baseline="0" noProof="0" dirty="0" smtClean="0">
                <a:solidFill>
                  <a:schemeClr val="tx1"/>
                </a:solidFill>
                <a:latin typeface="+mn-lt"/>
                <a:ea typeface="+mn-ea"/>
                <a:cs typeface="+mn-cs"/>
              </a:rPr>
              <a:t>Explain why 4WDFs are used and how they are used</a:t>
            </a:r>
          </a:p>
          <a:p>
            <a:pPr marL="171450" indent="-171450">
              <a:buFont typeface="Arial" pitchFamily="34" charset="0"/>
              <a:buChar char="•"/>
            </a:pPr>
            <a:r>
              <a:rPr lang="en-AU" sz="1200" b="0" kern="1200" noProof="0" dirty="0" smtClean="0">
                <a:solidFill>
                  <a:schemeClr val="tx1"/>
                </a:solidFill>
                <a:latin typeface="+mn-lt"/>
                <a:ea typeface="+mn-ea"/>
                <a:cs typeface="+mn-cs"/>
              </a:rPr>
              <a:t>Describe benefits of tour 4WDs</a:t>
            </a:r>
          </a:p>
          <a:p>
            <a:pPr marL="171450" indent="-171450">
              <a:buFont typeface="Arial" pitchFamily="34" charset="0"/>
              <a:buChar char="•"/>
            </a:pPr>
            <a:r>
              <a:rPr lang="en-AU" sz="1200" b="0" kern="1200" noProof="0" dirty="0" smtClean="0">
                <a:solidFill>
                  <a:schemeClr val="tx1"/>
                </a:solidFill>
                <a:latin typeface="+mn-lt"/>
                <a:ea typeface="+mn-ea"/>
                <a:cs typeface="+mn-cs"/>
              </a:rPr>
              <a:t>Indicate limitations of vehicles.</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942132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there </a:t>
            </a:r>
            <a:r>
              <a:rPr lang="en-AU" sz="1200" kern="1200" dirty="0" smtClean="0">
                <a:solidFill>
                  <a:schemeClr val="tx1"/>
                </a:solidFill>
                <a:latin typeface="+mn-lt"/>
                <a:ea typeface="+mn-ea"/>
                <a:cs typeface="+mn-cs"/>
              </a:rPr>
              <a:t>can be a need to engage 4WD:</a:t>
            </a:r>
          </a:p>
          <a:p>
            <a:pPr marL="171450" indent="-171450">
              <a:buFont typeface="Arial" pitchFamily="34" charset="0"/>
              <a:buChar char="•"/>
            </a:pPr>
            <a:r>
              <a:rPr lang="en-AU" sz="1200" kern="1200" dirty="0" smtClean="0">
                <a:solidFill>
                  <a:schemeClr val="tx1"/>
                </a:solidFill>
                <a:latin typeface="+mn-lt"/>
                <a:ea typeface="+mn-ea"/>
                <a:cs typeface="+mn-cs"/>
              </a:rPr>
              <a:t>When tracks are muddy/boggy</a:t>
            </a:r>
          </a:p>
          <a:p>
            <a:pPr marL="171450" indent="-171450">
              <a:buFont typeface="Arial" pitchFamily="34" charset="0"/>
              <a:buChar char="•"/>
            </a:pPr>
            <a:r>
              <a:rPr lang="en-AU" sz="1200" kern="1200" dirty="0" smtClean="0">
                <a:solidFill>
                  <a:schemeClr val="tx1"/>
                </a:solidFill>
                <a:latin typeface="+mn-lt"/>
                <a:ea typeface="+mn-ea"/>
                <a:cs typeface="+mn-cs"/>
              </a:rPr>
              <a:t>If the terrain is rough and rocky</a:t>
            </a:r>
          </a:p>
          <a:p>
            <a:pPr marL="171450" indent="-171450">
              <a:buFont typeface="Arial" pitchFamily="34" charset="0"/>
              <a:buChar char="•"/>
            </a:pPr>
            <a:r>
              <a:rPr lang="en-AU" sz="1200" kern="1200" dirty="0" smtClean="0">
                <a:solidFill>
                  <a:schemeClr val="tx1"/>
                </a:solidFill>
                <a:latin typeface="+mn-lt"/>
                <a:ea typeface="+mn-ea"/>
                <a:cs typeface="+mn-cs"/>
              </a:rPr>
              <a:t>Where there is soft sand</a:t>
            </a:r>
          </a:p>
          <a:p>
            <a:pPr marL="171450" indent="-171450">
              <a:buFont typeface="Arial" pitchFamily="34" charset="0"/>
              <a:buChar char="•"/>
            </a:pPr>
            <a:r>
              <a:rPr lang="en-AU" sz="1200" kern="1200" dirty="0" smtClean="0">
                <a:solidFill>
                  <a:schemeClr val="tx1"/>
                </a:solidFill>
                <a:latin typeface="+mn-lt"/>
                <a:ea typeface="+mn-ea"/>
                <a:cs typeface="+mn-cs"/>
              </a:rPr>
              <a:t>In the event of snow and ice</a:t>
            </a:r>
          </a:p>
          <a:p>
            <a:pPr marL="171450" indent="-171450">
              <a:buFont typeface="Arial" pitchFamily="34" charset="0"/>
              <a:buChar char="•"/>
            </a:pPr>
            <a:r>
              <a:rPr lang="en-AU" sz="1200" kern="1200" dirty="0" smtClean="0">
                <a:solidFill>
                  <a:schemeClr val="tx1"/>
                </a:solidFill>
                <a:latin typeface="+mn-lt"/>
                <a:ea typeface="+mn-ea"/>
                <a:cs typeface="+mn-cs"/>
              </a:rPr>
              <a:t>Going up or down steep inclines</a:t>
            </a:r>
          </a:p>
          <a:p>
            <a:pPr marL="171450" indent="-171450">
              <a:buFont typeface="Arial" pitchFamily="34" charset="0"/>
              <a:buChar char="•"/>
            </a:pPr>
            <a:r>
              <a:rPr lang="en-AU" sz="1200" kern="1200" dirty="0" smtClean="0">
                <a:solidFill>
                  <a:schemeClr val="tx1"/>
                </a:solidFill>
                <a:latin typeface="+mn-lt"/>
                <a:ea typeface="+mn-ea"/>
                <a:cs typeface="+mn-cs"/>
              </a:rPr>
              <a:t>When crossing creeks/rivers. </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40864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highlights engaging </a:t>
            </a:r>
            <a:r>
              <a:rPr lang="en-AU" sz="1200" kern="1200" dirty="0" smtClean="0">
                <a:solidFill>
                  <a:schemeClr val="tx1"/>
                </a:solidFill>
                <a:latin typeface="+mn-lt"/>
                <a:ea typeface="+mn-ea"/>
                <a:cs typeface="+mn-cs"/>
              </a:rPr>
              <a:t>four-wheel drive will vary depending on the make and model of the vehicle but always:</a:t>
            </a:r>
          </a:p>
          <a:p>
            <a:pPr marL="171450" indent="-171450">
              <a:buFont typeface="Arial" pitchFamily="34" charset="0"/>
              <a:buChar char="•"/>
            </a:pPr>
            <a:r>
              <a:rPr lang="en-AU" sz="1200" kern="1200" dirty="0" smtClean="0">
                <a:solidFill>
                  <a:schemeClr val="tx1"/>
                </a:solidFill>
                <a:latin typeface="+mn-lt"/>
                <a:ea typeface="+mn-ea"/>
                <a:cs typeface="+mn-cs"/>
              </a:rPr>
              <a:t>Follow manufacturer instructions</a:t>
            </a:r>
          </a:p>
          <a:p>
            <a:pPr marL="171450" indent="-171450">
              <a:buFont typeface="Arial" pitchFamily="34" charset="0"/>
              <a:buChar char="•"/>
            </a:pPr>
            <a:r>
              <a:rPr lang="en-AU" sz="1200" kern="1200" dirty="0" smtClean="0">
                <a:solidFill>
                  <a:schemeClr val="tx1"/>
                </a:solidFill>
                <a:latin typeface="+mn-lt"/>
                <a:ea typeface="+mn-ea"/>
                <a:cs typeface="+mn-cs"/>
              </a:rPr>
              <a:t>Create a comfortable driving/sitting position enabling full operation of all foot and hand-operated controls (knobs and pedals, levers and switches) and clear line of sight around the vehicle through windscreens, windows and mirrors</a:t>
            </a:r>
          </a:p>
          <a:p>
            <a:pPr marL="171450" indent="-171450">
              <a:buFont typeface="Arial" pitchFamily="34" charset="0"/>
              <a:buChar char="•"/>
            </a:pPr>
            <a:r>
              <a:rPr lang="en-AU" sz="1200" kern="1200" dirty="0" smtClean="0">
                <a:solidFill>
                  <a:schemeClr val="tx1"/>
                </a:solidFill>
                <a:latin typeface="+mn-lt"/>
                <a:ea typeface="+mn-ea"/>
                <a:cs typeface="+mn-cs"/>
              </a:rPr>
              <a:t>Practice the procedure before there is a need to implement it in a real-life tour situation</a:t>
            </a:r>
          </a:p>
          <a:p>
            <a:pPr marL="171450" indent="-171450">
              <a:buFont typeface="Arial" pitchFamily="34" charset="0"/>
              <a:buChar char="•"/>
            </a:pPr>
            <a:r>
              <a:rPr lang="en-AU" sz="1200" kern="1200" dirty="0" smtClean="0">
                <a:solidFill>
                  <a:schemeClr val="tx1"/>
                </a:solidFill>
                <a:latin typeface="+mn-lt"/>
                <a:ea typeface="+mn-ea"/>
                <a:cs typeface="+mn-cs"/>
              </a:rPr>
              <a:t>Refrain from engaging optional 4-wheel drive on dry, hard, flat and firm surfaces – as this increases fuel consumption and wear and tear on parts.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455320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indicative actions when engaging 4WD:</a:t>
            </a:r>
          </a:p>
          <a:p>
            <a:pPr marL="171450" indent="-171450">
              <a:buFont typeface="Arial" pitchFamily="34" charset="0"/>
              <a:buChar char="•"/>
            </a:pPr>
            <a:r>
              <a:rPr lang="en-AU" sz="1200" kern="1200" dirty="0" smtClean="0">
                <a:solidFill>
                  <a:schemeClr val="tx1"/>
                </a:solidFill>
                <a:latin typeface="+mn-lt"/>
                <a:ea typeface="+mn-ea"/>
                <a:cs typeface="+mn-cs"/>
              </a:rPr>
              <a:t>Stopping the vehicle – apart from vehicles which have ‘on the fly/move’ 4WD allowing engagement of four-wheel drive while travelling below a nominated speed</a:t>
            </a:r>
          </a:p>
          <a:p>
            <a:pPr marL="171450" indent="-171450">
              <a:buFont typeface="Arial" pitchFamily="34" charset="0"/>
              <a:buChar char="•"/>
            </a:pPr>
            <a:r>
              <a:rPr lang="en-AU" sz="1200" kern="1200" dirty="0" smtClean="0">
                <a:solidFill>
                  <a:schemeClr val="tx1"/>
                </a:solidFill>
                <a:latin typeface="+mn-lt"/>
                <a:ea typeface="+mn-ea"/>
                <a:cs typeface="+mn-cs"/>
              </a:rPr>
              <a:t>Moving gear shift to neutral</a:t>
            </a:r>
          </a:p>
          <a:p>
            <a:pPr marL="171450" indent="-171450">
              <a:buFont typeface="Arial" pitchFamily="34" charset="0"/>
              <a:buChar char="•"/>
            </a:pPr>
            <a:r>
              <a:rPr lang="en-AU" sz="1200" kern="1200" dirty="0" smtClean="0">
                <a:solidFill>
                  <a:schemeClr val="tx1"/>
                </a:solidFill>
                <a:latin typeface="+mn-lt"/>
                <a:ea typeface="+mn-ea"/>
                <a:cs typeface="+mn-cs"/>
              </a:rPr>
              <a:t>Locking in the hubs of the vehicle – by getting out of the vehicle and moving the locking hubs from the ‘Free’ position to the ‘Lock’ position</a:t>
            </a:r>
          </a:p>
          <a:p>
            <a:pPr marL="171450" indent="-171450">
              <a:buFont typeface="Arial" pitchFamily="34" charset="0"/>
              <a:buChar char="•"/>
            </a:pPr>
            <a:r>
              <a:rPr lang="en-AU" sz="1200" kern="1200" dirty="0" smtClean="0">
                <a:solidFill>
                  <a:schemeClr val="tx1"/>
                </a:solidFill>
                <a:latin typeface="+mn-lt"/>
                <a:ea typeface="+mn-ea"/>
                <a:cs typeface="+mn-cs"/>
              </a:rPr>
              <a:t>Moving 4WD selector to either High range or Low range (or Lock) – depending on conditions/torque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4059234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indicative actions when engaging 4WD:</a:t>
            </a:r>
          </a:p>
          <a:p>
            <a:pPr marL="171450" indent="-171450">
              <a:buFont typeface="Arial" pitchFamily="34" charset="0"/>
              <a:buChar char="•"/>
            </a:pPr>
            <a:r>
              <a:rPr lang="en-AU" sz="1200" kern="1200" dirty="0" smtClean="0">
                <a:solidFill>
                  <a:schemeClr val="tx1"/>
                </a:solidFill>
                <a:latin typeface="+mn-lt"/>
                <a:ea typeface="+mn-ea"/>
                <a:cs typeface="+mn-cs"/>
              </a:rPr>
              <a:t>Pushing a designated 4WD button on the dash </a:t>
            </a:r>
          </a:p>
          <a:p>
            <a:pPr marL="171450" indent="-171450">
              <a:buFont typeface="Arial" pitchFamily="34" charset="0"/>
              <a:buChar char="•"/>
            </a:pPr>
            <a:r>
              <a:rPr lang="en-AU" sz="1200" kern="1200" dirty="0" smtClean="0">
                <a:solidFill>
                  <a:schemeClr val="tx1"/>
                </a:solidFill>
                <a:latin typeface="+mn-lt"/>
                <a:ea typeface="+mn-ea"/>
                <a:cs typeface="+mn-cs"/>
              </a:rPr>
              <a:t>Moving a selector knob to the required position</a:t>
            </a:r>
          </a:p>
          <a:p>
            <a:pPr marL="171450" indent="-171450">
              <a:buFont typeface="Arial" pitchFamily="34" charset="0"/>
              <a:buChar char="•"/>
            </a:pPr>
            <a:r>
              <a:rPr lang="en-AU" sz="1200" kern="1200" dirty="0" smtClean="0">
                <a:solidFill>
                  <a:schemeClr val="tx1"/>
                </a:solidFill>
                <a:latin typeface="+mn-lt"/>
                <a:ea typeface="+mn-ea"/>
                <a:cs typeface="+mn-cs"/>
              </a:rPr>
              <a:t>Selecting appropriate gear.</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how to engage 4WD and gives students an opportunity to practice same.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825559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stresses the Golden Keys to successful four-wheel driving are the two related factors of:</a:t>
            </a:r>
          </a:p>
          <a:p>
            <a:pPr marL="171450" indent="-171450">
              <a:buFont typeface="Arial" pitchFamily="34" charset="0"/>
              <a:buChar char="•"/>
            </a:pPr>
            <a:r>
              <a:rPr lang="en-AU" sz="1200" kern="1200" dirty="0" smtClean="0">
                <a:solidFill>
                  <a:schemeClr val="tx1"/>
                </a:solidFill>
                <a:latin typeface="+mn-lt"/>
                <a:ea typeface="+mn-ea"/>
                <a:cs typeface="+mn-cs"/>
              </a:rPr>
              <a:t>Practice</a:t>
            </a:r>
          </a:p>
          <a:p>
            <a:pPr marL="171450" indent="-171450">
              <a:buFont typeface="Arial" pitchFamily="34" charset="0"/>
              <a:buChar char="•"/>
            </a:pPr>
            <a:r>
              <a:rPr lang="en-AU" sz="1200" kern="1200" dirty="0" smtClean="0">
                <a:solidFill>
                  <a:schemeClr val="tx1"/>
                </a:solidFill>
                <a:latin typeface="+mn-lt"/>
                <a:ea typeface="+mn-ea"/>
                <a:cs typeface="+mn-cs"/>
              </a:rPr>
              <a:t>Experience.</a:t>
            </a:r>
          </a:p>
          <a:p>
            <a:r>
              <a:rPr lang="en-AU" sz="1200" kern="1200" dirty="0" smtClean="0">
                <a:solidFill>
                  <a:schemeClr val="tx1"/>
                </a:solidFill>
                <a:latin typeface="+mn-lt"/>
                <a:ea typeface="+mn-ea"/>
                <a:cs typeface="+mn-cs"/>
              </a:rPr>
              <a:t>It is </a:t>
            </a:r>
            <a:r>
              <a:rPr lang="en-AU" sz="1200" b="1" kern="1200" dirty="0" smtClean="0">
                <a:solidFill>
                  <a:schemeClr val="tx1"/>
                </a:solidFill>
                <a:latin typeface="+mn-lt"/>
                <a:ea typeface="+mn-ea"/>
                <a:cs typeface="+mn-cs"/>
              </a:rPr>
              <a:t>critical</a:t>
            </a:r>
            <a:r>
              <a:rPr lang="en-AU" sz="1200" kern="1200" dirty="0" smtClean="0">
                <a:solidFill>
                  <a:schemeClr val="tx1"/>
                </a:solidFill>
                <a:latin typeface="+mn-lt"/>
                <a:ea typeface="+mn-ea"/>
                <a:cs typeface="+mn-cs"/>
              </a:rPr>
              <a:t> drivers of 4WD tour vehicles gain competency in driving their vehicle in all expected on- and off-road conditions </a:t>
            </a:r>
            <a:r>
              <a:rPr lang="en-AU" sz="1200" i="1" kern="1200" dirty="0" smtClean="0">
                <a:solidFill>
                  <a:schemeClr val="tx1"/>
                </a:solidFill>
                <a:latin typeface="+mn-lt"/>
                <a:ea typeface="+mn-ea"/>
                <a:cs typeface="+mn-cs"/>
              </a:rPr>
              <a:t>before</a:t>
            </a:r>
            <a:r>
              <a:rPr lang="en-AU" sz="1200" kern="1200" dirty="0" smtClean="0">
                <a:solidFill>
                  <a:schemeClr val="tx1"/>
                </a:solidFill>
                <a:latin typeface="+mn-lt"/>
                <a:ea typeface="+mn-ea"/>
                <a:cs typeface="+mn-cs"/>
              </a:rPr>
              <a:t> they do so in a real-life touring environment where paying passengers/tour groups are involved.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807462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basic road conditions:</a:t>
            </a:r>
          </a:p>
          <a:p>
            <a:pPr marL="171450" indent="-171450">
              <a:buFont typeface="Arial" pitchFamily="34" charset="0"/>
              <a:buChar char="•"/>
            </a:pPr>
            <a:r>
              <a:rPr lang="en-AU" sz="1200" kern="1200" dirty="0" smtClean="0">
                <a:solidFill>
                  <a:schemeClr val="tx1"/>
                </a:solidFill>
                <a:latin typeface="+mn-lt"/>
                <a:ea typeface="+mn-ea"/>
                <a:cs typeface="+mn-cs"/>
              </a:rPr>
              <a:t>Off-road conditions refer to terrain/ground that is not sealed or paved</a:t>
            </a:r>
          </a:p>
          <a:p>
            <a:pPr marL="171450" indent="-171450">
              <a:buFont typeface="Arial" pitchFamily="34" charset="0"/>
              <a:buChar char="•"/>
            </a:pPr>
            <a:r>
              <a:rPr lang="en-AU" sz="1200" kern="1200" dirty="0" smtClean="0">
                <a:solidFill>
                  <a:schemeClr val="tx1"/>
                </a:solidFill>
                <a:latin typeface="+mn-lt"/>
                <a:ea typeface="+mn-ea"/>
                <a:cs typeface="+mn-cs"/>
              </a:rPr>
              <a:t>On-road conditions refer to driving on sealed roads/highways.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078247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driving </a:t>
            </a:r>
            <a:r>
              <a:rPr lang="en-AU" sz="1200" kern="1200" dirty="0" smtClean="0">
                <a:solidFill>
                  <a:schemeClr val="tx1"/>
                </a:solidFill>
                <a:latin typeface="+mn-lt"/>
                <a:ea typeface="+mn-ea"/>
                <a:cs typeface="+mn-cs"/>
              </a:rPr>
              <a:t>4WDs in on-road conditions may include driving:</a:t>
            </a:r>
          </a:p>
          <a:p>
            <a:pPr marL="171450" indent="-171450">
              <a:buFont typeface="Arial" pitchFamily="34" charset="0"/>
              <a:buChar char="•"/>
            </a:pPr>
            <a:r>
              <a:rPr lang="en-AU" sz="1200" kern="1200" dirty="0" smtClean="0">
                <a:solidFill>
                  <a:schemeClr val="tx1"/>
                </a:solidFill>
                <a:latin typeface="+mn-lt"/>
                <a:ea typeface="+mn-ea"/>
                <a:cs typeface="+mn-cs"/>
              </a:rPr>
              <a:t>In dry conditions – where arguably most driving is done, and the standard approach is to:</a:t>
            </a:r>
          </a:p>
          <a:p>
            <a:pPr marL="628650" lvl="1" indent="-171450">
              <a:buFont typeface="Arial" pitchFamily="34" charset="0"/>
              <a:buChar char="•"/>
            </a:pPr>
            <a:r>
              <a:rPr lang="en-AU" sz="1200" kern="1200" dirty="0" smtClean="0">
                <a:solidFill>
                  <a:schemeClr val="tx1"/>
                </a:solidFill>
                <a:latin typeface="+mn-lt"/>
                <a:ea typeface="+mn-ea"/>
                <a:cs typeface="+mn-cs"/>
              </a:rPr>
              <a:t>Use two-wheel drive/H2 only</a:t>
            </a:r>
          </a:p>
          <a:p>
            <a:pPr marL="628650" lvl="1" indent="-171450">
              <a:buFont typeface="Arial" pitchFamily="34" charset="0"/>
              <a:buChar char="•"/>
            </a:pPr>
            <a:r>
              <a:rPr lang="en-AU" sz="1200" kern="1200" dirty="0" smtClean="0">
                <a:solidFill>
                  <a:schemeClr val="tx1"/>
                </a:solidFill>
                <a:latin typeface="+mn-lt"/>
                <a:ea typeface="+mn-ea"/>
                <a:cs typeface="+mn-cs"/>
              </a:rPr>
              <a:t>Leave extra distance between vehicles to allow for the extra braking distances required for heavier 4WD vehicles</a:t>
            </a:r>
          </a:p>
          <a:p>
            <a:pPr marL="628650" lvl="1" indent="-171450">
              <a:buFont typeface="Arial" pitchFamily="34" charset="0"/>
              <a:buChar char="•"/>
            </a:pPr>
            <a:r>
              <a:rPr lang="en-AU" sz="1200" kern="1200" dirty="0" smtClean="0">
                <a:solidFill>
                  <a:schemeClr val="tx1"/>
                </a:solidFill>
                <a:latin typeface="+mn-lt"/>
                <a:ea typeface="+mn-ea"/>
                <a:cs typeface="+mn-cs"/>
              </a:rPr>
              <a:t>Take tight corners at a lower speed due to the relatively high centre of gravity for 4WDs</a:t>
            </a:r>
          </a:p>
          <a:p>
            <a:pPr marL="628650" lvl="1" indent="-171450">
              <a:buFont typeface="Arial" pitchFamily="34" charset="0"/>
              <a:buChar char="•"/>
            </a:pPr>
            <a:r>
              <a:rPr lang="en-AU" sz="1200" kern="1200" dirty="0" smtClean="0">
                <a:solidFill>
                  <a:schemeClr val="tx1"/>
                </a:solidFill>
                <a:latin typeface="+mn-lt"/>
                <a:ea typeface="+mn-ea"/>
                <a:cs typeface="+mn-cs"/>
              </a:rPr>
              <a:t>Drive with headlights on at all times</a:t>
            </a:r>
          </a:p>
          <a:p>
            <a:pPr marL="171450" indent="-171450">
              <a:buFont typeface="Arial" pitchFamily="34" charset="0"/>
              <a:buChar char="•"/>
            </a:pPr>
            <a:r>
              <a:rPr lang="en-AU" sz="1200" kern="1200" dirty="0" smtClean="0">
                <a:solidFill>
                  <a:schemeClr val="tx1"/>
                </a:solidFill>
                <a:latin typeface="+mn-lt"/>
                <a:ea typeface="+mn-ea"/>
                <a:cs typeface="+mn-cs"/>
              </a:rPr>
              <a:t>In wet conditions such as when there is rain and/or ice – where speed must be reduced and High range 4WD can be used</a:t>
            </a:r>
          </a:p>
          <a:p>
            <a:pPr marL="171450" indent="-171450">
              <a:buFont typeface="Arial" pitchFamily="34" charset="0"/>
              <a:buChar char="•"/>
            </a:pPr>
            <a:r>
              <a:rPr lang="en-AU" sz="1200" kern="1200" dirty="0" smtClean="0">
                <a:solidFill>
                  <a:schemeClr val="tx1"/>
                </a:solidFill>
                <a:latin typeface="+mn-lt"/>
                <a:ea typeface="+mn-ea"/>
                <a:cs typeface="+mn-cs"/>
              </a:rPr>
              <a:t>In snow – where speed must be reduced, chains may need to be fitted and Low range may need to be selected.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5359846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operating a 4WD in off-road conditions can require/involve driving:</a:t>
            </a:r>
          </a:p>
          <a:p>
            <a:pPr marL="171450" indent="-171450">
              <a:buFont typeface="Arial" pitchFamily="34" charset="0"/>
              <a:buChar char="•"/>
            </a:pPr>
            <a:r>
              <a:rPr lang="en-AU" sz="1200" kern="1200" dirty="0" smtClean="0">
                <a:solidFill>
                  <a:schemeClr val="tx1"/>
                </a:solidFill>
                <a:latin typeface="+mn-lt"/>
                <a:ea typeface="+mn-ea"/>
                <a:cs typeface="+mn-cs"/>
              </a:rPr>
              <a:t>Steep inclines – including ascending and descending</a:t>
            </a:r>
          </a:p>
          <a:p>
            <a:pPr marL="171450" indent="-171450">
              <a:buFont typeface="Arial" pitchFamily="34" charset="0"/>
              <a:buChar char="•"/>
            </a:pPr>
            <a:r>
              <a:rPr lang="en-AU" sz="1200" kern="1200" dirty="0" smtClean="0">
                <a:solidFill>
                  <a:schemeClr val="tx1"/>
                </a:solidFill>
                <a:latin typeface="+mn-lt"/>
                <a:ea typeface="+mn-ea"/>
                <a:cs typeface="+mn-cs"/>
              </a:rPr>
              <a:t>Sand</a:t>
            </a:r>
          </a:p>
          <a:p>
            <a:pPr marL="171450" indent="-171450">
              <a:buFont typeface="Arial" pitchFamily="34" charset="0"/>
              <a:buChar char="•"/>
            </a:pPr>
            <a:r>
              <a:rPr lang="en-AU" sz="1200" kern="1200" dirty="0" smtClean="0">
                <a:solidFill>
                  <a:schemeClr val="tx1"/>
                </a:solidFill>
                <a:latin typeface="+mn-lt"/>
                <a:ea typeface="+mn-ea"/>
                <a:cs typeface="+mn-cs"/>
              </a:rPr>
              <a:t>Rocky terrain</a:t>
            </a:r>
          </a:p>
          <a:p>
            <a:pPr marL="171450" indent="-171450">
              <a:buFont typeface="Arial" pitchFamily="34" charset="0"/>
              <a:buChar char="•"/>
            </a:pPr>
            <a:r>
              <a:rPr lang="en-AU" sz="1200" kern="1200" dirty="0" smtClean="0">
                <a:solidFill>
                  <a:schemeClr val="tx1"/>
                </a:solidFill>
                <a:latin typeface="+mn-lt"/>
                <a:ea typeface="+mn-ea"/>
                <a:cs typeface="+mn-cs"/>
              </a:rPr>
              <a:t>Water crossings</a:t>
            </a:r>
          </a:p>
          <a:p>
            <a:pPr marL="171450" indent="-171450">
              <a:buFont typeface="Arial" pitchFamily="34" charset="0"/>
              <a:buChar char="•"/>
            </a:pPr>
            <a:r>
              <a:rPr lang="en-AU" sz="1200" kern="1200" dirty="0" smtClean="0">
                <a:solidFill>
                  <a:schemeClr val="tx1"/>
                </a:solidFill>
                <a:latin typeface="+mn-lt"/>
                <a:ea typeface="+mn-ea"/>
                <a:cs typeface="+mn-cs"/>
              </a:rPr>
              <a:t>Very soft ground</a:t>
            </a:r>
          </a:p>
          <a:p>
            <a:pPr marL="171450" indent="-171450">
              <a:buFont typeface="Arial" pitchFamily="34" charset="0"/>
              <a:buChar char="•"/>
            </a:pPr>
            <a:r>
              <a:rPr lang="en-AU" sz="1200" kern="1200" dirty="0" smtClean="0">
                <a:solidFill>
                  <a:schemeClr val="tx1"/>
                </a:solidFill>
                <a:latin typeface="+mn-lt"/>
                <a:ea typeface="+mn-ea"/>
                <a:cs typeface="+mn-cs"/>
              </a:rPr>
              <a:t>Mud.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9272290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pre-requisites before driving off-road:</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Ensure the vehicle has been properly prepared for the conditions which are known to exist or which are expected on the trip – this may include:</a:t>
            </a:r>
          </a:p>
          <a:p>
            <a:pPr marL="628650" lvl="1" indent="-171450">
              <a:buFont typeface="Arial" pitchFamily="34" charset="0"/>
              <a:buChar char="•"/>
            </a:pPr>
            <a:r>
              <a:rPr lang="en-AU" sz="1200" kern="1200" dirty="0" smtClean="0">
                <a:solidFill>
                  <a:schemeClr val="tx1"/>
                </a:solidFill>
                <a:latin typeface="+mn-lt"/>
                <a:ea typeface="+mn-ea"/>
                <a:cs typeface="+mn-cs"/>
              </a:rPr>
              <a:t>Loading the vehicle with necessary recovery gear</a:t>
            </a:r>
          </a:p>
          <a:p>
            <a:pPr marL="628650" lvl="1" indent="-171450">
              <a:buFont typeface="Arial" pitchFamily="34" charset="0"/>
              <a:buChar char="•"/>
            </a:pPr>
            <a:r>
              <a:rPr lang="en-AU" sz="1200" kern="1200" dirty="0" smtClean="0">
                <a:solidFill>
                  <a:schemeClr val="tx1"/>
                </a:solidFill>
                <a:latin typeface="+mn-lt"/>
                <a:ea typeface="+mn-ea"/>
                <a:cs typeface="+mn-cs"/>
              </a:rPr>
              <a:t>Fitting protection and bash plates to the underside of the vehicle</a:t>
            </a:r>
          </a:p>
          <a:p>
            <a:pPr marL="628650" lvl="1" indent="-171450">
              <a:buFont typeface="Arial" pitchFamily="34" charset="0"/>
              <a:buChar char="•"/>
            </a:pPr>
            <a:r>
              <a:rPr lang="en-AU" sz="1200" kern="1200" dirty="0" smtClean="0">
                <a:solidFill>
                  <a:schemeClr val="tx1"/>
                </a:solidFill>
                <a:latin typeface="+mn-lt"/>
                <a:ea typeface="+mn-ea"/>
                <a:cs typeface="+mn-cs"/>
              </a:rPr>
              <a:t>Fitting appropriate tyres</a:t>
            </a:r>
          </a:p>
          <a:p>
            <a:pPr marL="628650" lvl="1" indent="-171450">
              <a:buFont typeface="Arial" pitchFamily="34" charset="0"/>
              <a:buChar char="•"/>
            </a:pPr>
            <a:r>
              <a:rPr lang="en-AU" sz="1200" kern="1200" dirty="0" smtClean="0">
                <a:solidFill>
                  <a:schemeClr val="tx1"/>
                </a:solidFill>
                <a:latin typeface="+mn-lt"/>
                <a:ea typeface="+mn-ea"/>
                <a:cs typeface="+mn-cs"/>
              </a:rPr>
              <a:t>Having tyre deflators and pumps</a:t>
            </a:r>
          </a:p>
          <a:p>
            <a:pPr marL="628650" lvl="1" indent="-171450">
              <a:buFont typeface="Arial" pitchFamily="34" charset="0"/>
              <a:buChar char="•"/>
            </a:pPr>
            <a:r>
              <a:rPr lang="en-AU" sz="1200" kern="1200" dirty="0" smtClean="0">
                <a:solidFill>
                  <a:schemeClr val="tx1"/>
                </a:solidFill>
                <a:latin typeface="+mn-lt"/>
                <a:ea typeface="+mn-ea"/>
                <a:cs typeface="+mn-cs"/>
              </a:rPr>
              <a:t>Having warning/sand flags </a:t>
            </a:r>
          </a:p>
          <a:p>
            <a:pPr marL="628650" lvl="1" indent="-171450">
              <a:buFont typeface="Arial" pitchFamily="34" charset="0"/>
              <a:buChar char="•"/>
            </a:pPr>
            <a:r>
              <a:rPr lang="en-AU" sz="1200" kern="1200" dirty="0" smtClean="0">
                <a:solidFill>
                  <a:schemeClr val="tx1"/>
                </a:solidFill>
                <a:latin typeface="+mn-lt"/>
                <a:ea typeface="+mn-ea"/>
                <a:cs typeface="+mn-cs"/>
              </a:rPr>
              <a:t>Having chains</a:t>
            </a:r>
          </a:p>
          <a:p>
            <a:pPr marL="628650" lvl="1" indent="-171450">
              <a:buFont typeface="Arial" pitchFamily="34" charset="0"/>
              <a:buChar char="•"/>
            </a:pPr>
            <a:r>
              <a:rPr lang="en-AU" sz="1200" kern="1200" dirty="0" smtClean="0">
                <a:solidFill>
                  <a:schemeClr val="tx1"/>
                </a:solidFill>
                <a:latin typeface="+mn-lt"/>
                <a:ea typeface="+mn-ea"/>
                <a:cs typeface="+mn-cs"/>
              </a:rPr>
              <a:t>Fitting a snorkel</a:t>
            </a:r>
          </a:p>
          <a:p>
            <a:pPr marL="628650" lvl="1" indent="-171450">
              <a:buFont typeface="Arial" pitchFamily="34" charset="0"/>
              <a:buChar char="•"/>
            </a:pPr>
            <a:r>
              <a:rPr lang="en-AU" sz="1200" kern="1200" dirty="0" smtClean="0">
                <a:solidFill>
                  <a:schemeClr val="tx1"/>
                </a:solidFill>
                <a:latin typeface="+mn-lt"/>
                <a:ea typeface="+mn-ea"/>
                <a:cs typeface="+mn-cs"/>
              </a:rPr>
              <a:t>Fitting a viscous fan</a:t>
            </a:r>
          </a:p>
          <a:p>
            <a:pPr marL="628650" lvl="1" indent="-171450">
              <a:buFont typeface="Arial" pitchFamily="34" charset="0"/>
              <a:buChar char="•"/>
            </a:pPr>
            <a:r>
              <a:rPr lang="en-AU" sz="1200" kern="1200" dirty="0" smtClean="0">
                <a:solidFill>
                  <a:schemeClr val="tx1"/>
                </a:solidFill>
                <a:latin typeface="+mn-lt"/>
                <a:ea typeface="+mn-ea"/>
                <a:cs typeface="+mn-cs"/>
              </a:rPr>
              <a:t>Fitting extended differential breathers</a:t>
            </a:r>
          </a:p>
          <a:p>
            <a:pPr marL="171450" indent="-171450">
              <a:buFont typeface="Arial" pitchFamily="34" charset="0"/>
              <a:buChar char="•"/>
            </a:pPr>
            <a:r>
              <a:rPr lang="en-AU" sz="1200" kern="1200" dirty="0" smtClean="0">
                <a:solidFill>
                  <a:schemeClr val="tx1"/>
                </a:solidFill>
                <a:latin typeface="+mn-lt"/>
                <a:ea typeface="+mn-ea"/>
                <a:cs typeface="+mn-cs"/>
              </a:rPr>
              <a:t>Undertake basic checks – to confirm:</a:t>
            </a:r>
          </a:p>
          <a:p>
            <a:pPr marL="628650" lvl="1" indent="-171450">
              <a:buFont typeface="Arial" pitchFamily="34" charset="0"/>
              <a:buChar char="•"/>
            </a:pPr>
            <a:r>
              <a:rPr lang="en-AU" sz="1200" kern="1200" dirty="0" smtClean="0">
                <a:solidFill>
                  <a:schemeClr val="tx1"/>
                </a:solidFill>
                <a:latin typeface="+mn-lt"/>
                <a:ea typeface="+mn-ea"/>
                <a:cs typeface="+mn-cs"/>
              </a:rPr>
              <a:t>The vehicle is fully operational – to the nest extent possible under the circumstances that apply at the time</a:t>
            </a:r>
          </a:p>
          <a:p>
            <a:pPr marL="628650" lvl="1" indent="-171450">
              <a:buFont typeface="Arial" pitchFamily="34" charset="0"/>
              <a:buChar char="•"/>
            </a:pPr>
            <a:r>
              <a:rPr lang="en-AU" sz="1200" kern="1200" dirty="0" smtClean="0">
                <a:solidFill>
                  <a:schemeClr val="tx1"/>
                </a:solidFill>
                <a:latin typeface="+mn-lt"/>
                <a:ea typeface="+mn-ea"/>
                <a:cs typeface="+mn-cs"/>
              </a:rPr>
              <a:t>Safety and recovery gear is available and operational.</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8022899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give pre-requisites before driving off-road:</a:t>
            </a:r>
          </a:p>
          <a:p>
            <a:pPr marL="171450" indent="-171450">
              <a:buFont typeface="Arial" pitchFamily="34" charset="0"/>
              <a:buChar char="•"/>
            </a:pPr>
            <a:r>
              <a:rPr lang="en-AU" sz="1200" kern="1200" dirty="0" smtClean="0">
                <a:solidFill>
                  <a:schemeClr val="tx1"/>
                </a:solidFill>
                <a:latin typeface="+mn-lt"/>
                <a:ea typeface="+mn-ea"/>
                <a:cs typeface="+mn-cs"/>
              </a:rPr>
              <a:t>Inspect or consider the way ahead – to:</a:t>
            </a:r>
          </a:p>
          <a:p>
            <a:pPr marL="628650" lvl="1" indent="-171450">
              <a:buFont typeface="Arial" pitchFamily="34" charset="0"/>
              <a:buChar char="•"/>
            </a:pPr>
            <a:r>
              <a:rPr lang="en-AU" sz="1200" kern="1200" dirty="0" smtClean="0">
                <a:solidFill>
                  <a:schemeClr val="tx1"/>
                </a:solidFill>
                <a:latin typeface="+mn-lt"/>
                <a:ea typeface="+mn-ea"/>
                <a:cs typeface="+mn-cs"/>
              </a:rPr>
              <a:t>Determine the route/path to be taken</a:t>
            </a:r>
          </a:p>
          <a:p>
            <a:pPr marL="628650" lvl="1" indent="-171450">
              <a:buFont typeface="Arial" pitchFamily="34" charset="0"/>
              <a:buChar char="•"/>
            </a:pPr>
            <a:r>
              <a:rPr lang="en-AU" sz="1200" kern="1200" dirty="0" smtClean="0">
                <a:solidFill>
                  <a:schemeClr val="tx1"/>
                </a:solidFill>
                <a:latin typeface="+mn-lt"/>
                <a:ea typeface="+mn-ea"/>
                <a:cs typeface="+mn-cs"/>
              </a:rPr>
              <a:t>Identify potential obstacles/problems</a:t>
            </a:r>
          </a:p>
          <a:p>
            <a:pPr marL="628650" lvl="1" indent="-171450">
              <a:buFont typeface="Arial" pitchFamily="34" charset="0"/>
              <a:buChar char="•"/>
            </a:pPr>
            <a:r>
              <a:rPr lang="en-AU" sz="1200" kern="1200" dirty="0" smtClean="0">
                <a:solidFill>
                  <a:schemeClr val="tx1"/>
                </a:solidFill>
                <a:latin typeface="+mn-lt"/>
                <a:ea typeface="+mn-ea"/>
                <a:cs typeface="+mn-cs"/>
              </a:rPr>
              <a:t>Make the final ‘Go’ or ‘No go’ decision </a:t>
            </a:r>
          </a:p>
          <a:p>
            <a:pPr marL="171450" indent="-171450">
              <a:buFont typeface="Arial" pitchFamily="34" charset="0"/>
              <a:buChar char="•"/>
            </a:pPr>
            <a:r>
              <a:rPr lang="en-AU" sz="1200" kern="1200" dirty="0" smtClean="0">
                <a:solidFill>
                  <a:schemeClr val="tx1"/>
                </a:solidFill>
                <a:latin typeface="+mn-lt"/>
                <a:ea typeface="+mn-ea"/>
                <a:cs typeface="+mn-cs"/>
              </a:rPr>
              <a:t>Always be prepared to, as required:</a:t>
            </a:r>
          </a:p>
          <a:p>
            <a:pPr marL="628650" lvl="1" indent="-171450">
              <a:buFont typeface="Arial" pitchFamily="34" charset="0"/>
              <a:buChar char="•"/>
            </a:pPr>
            <a:r>
              <a:rPr lang="en-AU" sz="1200" kern="1200" dirty="0" smtClean="0">
                <a:solidFill>
                  <a:schemeClr val="tx1"/>
                </a:solidFill>
                <a:latin typeface="+mn-lt"/>
                <a:ea typeface="+mn-ea"/>
                <a:cs typeface="+mn-cs"/>
              </a:rPr>
              <a:t>Choose or find an alternate route</a:t>
            </a:r>
          </a:p>
          <a:p>
            <a:pPr marL="628650" lvl="1" indent="-171450">
              <a:buFont typeface="Arial" pitchFamily="34" charset="0"/>
              <a:buChar char="•"/>
            </a:pPr>
            <a:r>
              <a:rPr lang="en-AU" sz="1200" kern="1200" dirty="0" smtClean="0">
                <a:solidFill>
                  <a:schemeClr val="tx1"/>
                </a:solidFill>
                <a:latin typeface="+mn-lt"/>
                <a:ea typeface="+mn-ea"/>
                <a:cs typeface="+mn-cs"/>
              </a:rPr>
              <a:t>Back-track and go through using another track</a:t>
            </a:r>
          </a:p>
          <a:p>
            <a:pPr marL="628650" lvl="1" indent="-171450">
              <a:buFont typeface="Arial" pitchFamily="34" charset="0"/>
              <a:buChar char="•"/>
            </a:pPr>
            <a:r>
              <a:rPr lang="en-AU" sz="1200" kern="1200" dirty="0" smtClean="0">
                <a:solidFill>
                  <a:schemeClr val="tx1"/>
                </a:solidFill>
                <a:latin typeface="+mn-lt"/>
                <a:ea typeface="+mn-ea"/>
                <a:cs typeface="+mn-cs"/>
              </a:rPr>
              <a:t>Wait for poor conditions (high water levels, high flow rates of rivers, deep snow) to abate/improve before proceeding.</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7775640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give pre-requisites before driving off-road:</a:t>
            </a:r>
          </a:p>
          <a:p>
            <a:pPr marL="171450" indent="-171450">
              <a:buFont typeface="Arial" pitchFamily="34" charset="0"/>
              <a:buChar char="•"/>
            </a:pPr>
            <a:r>
              <a:rPr lang="en-AU" sz="1200" kern="1200" dirty="0" smtClean="0">
                <a:solidFill>
                  <a:schemeClr val="tx1"/>
                </a:solidFill>
                <a:latin typeface="+mn-lt"/>
                <a:ea typeface="+mn-ea"/>
                <a:cs typeface="+mn-cs"/>
              </a:rPr>
              <a:t>Consider passenger safety – which may involve:</a:t>
            </a:r>
          </a:p>
          <a:p>
            <a:pPr marL="628650" lvl="1" indent="-171450">
              <a:buFont typeface="Arial" pitchFamily="34" charset="0"/>
              <a:buChar char="•"/>
            </a:pPr>
            <a:r>
              <a:rPr lang="en-AU" sz="1200" kern="1200" dirty="0" smtClean="0">
                <a:solidFill>
                  <a:schemeClr val="tx1"/>
                </a:solidFill>
                <a:latin typeface="+mn-lt"/>
                <a:ea typeface="+mn-ea"/>
                <a:cs typeface="+mn-cs"/>
              </a:rPr>
              <a:t>Communicating with them to advise them of what to expect</a:t>
            </a:r>
          </a:p>
          <a:p>
            <a:pPr marL="628650" lvl="1" indent="-171450">
              <a:buFont typeface="Arial" pitchFamily="34" charset="0"/>
              <a:buChar char="•"/>
            </a:pPr>
            <a:r>
              <a:rPr lang="en-AU" sz="1200" kern="1200" dirty="0" smtClean="0">
                <a:solidFill>
                  <a:schemeClr val="tx1"/>
                </a:solidFill>
                <a:latin typeface="+mn-lt"/>
                <a:ea typeface="+mn-ea"/>
                <a:cs typeface="+mn-cs"/>
              </a:rPr>
              <a:t>Providing safety information</a:t>
            </a:r>
          </a:p>
          <a:p>
            <a:pPr marL="628650" lvl="1" indent="-171450">
              <a:buFont typeface="Arial" pitchFamily="34" charset="0"/>
              <a:buChar char="•"/>
            </a:pPr>
            <a:r>
              <a:rPr lang="en-AU" sz="1200" kern="1200" dirty="0" smtClean="0">
                <a:solidFill>
                  <a:schemeClr val="tx1"/>
                </a:solidFill>
                <a:latin typeface="+mn-lt"/>
                <a:ea typeface="+mn-ea"/>
                <a:cs typeface="+mn-cs"/>
              </a:rPr>
              <a:t>Keeping them involved and included in the tour experience </a:t>
            </a:r>
          </a:p>
          <a:p>
            <a:pPr marL="1085850" lvl="2" indent="-171450">
              <a:buFont typeface="Arial" pitchFamily="34" charset="0"/>
              <a:buChar char="•"/>
            </a:pPr>
            <a:r>
              <a:rPr lang="en-US" sz="1200" kern="1200" dirty="0" smtClean="0">
                <a:solidFill>
                  <a:schemeClr val="tx1"/>
                </a:solidFill>
                <a:latin typeface="+mn-lt"/>
                <a:ea typeface="+mn-ea"/>
                <a:cs typeface="+mn-cs"/>
              </a:rPr>
              <a:t>Taking </a:t>
            </a:r>
            <a:r>
              <a:rPr lang="en-US" sz="1200" b="1" kern="1200" dirty="0" smtClean="0">
                <a:solidFill>
                  <a:schemeClr val="tx1"/>
                </a:solidFill>
                <a:latin typeface="+mn-lt"/>
                <a:ea typeface="+mn-ea"/>
                <a:cs typeface="+mn-cs"/>
              </a:rPr>
              <a:t>controlled</a:t>
            </a:r>
            <a:r>
              <a:rPr lang="en-US" sz="1200" kern="1200" dirty="0" smtClean="0">
                <a:solidFill>
                  <a:schemeClr val="tx1"/>
                </a:solidFill>
                <a:latin typeface="+mn-lt"/>
                <a:ea typeface="+mn-ea"/>
                <a:cs typeface="+mn-cs"/>
              </a:rPr>
              <a:t> risks can be part of the excitement and experience of a 4WD adventure but they must never be undertaken where they pose an uncontrolled threat to people/passengers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Engage four-wheel drive – as appropriate for the individual vehicle and the nature of the route and terrain to be driven. </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4403671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procedures for ascending steep inclines:</a:t>
            </a:r>
          </a:p>
          <a:p>
            <a:pPr marL="171450" indent="-171450">
              <a:buFont typeface="Arial" pitchFamily="34" charset="0"/>
              <a:buChar char="•"/>
            </a:pPr>
            <a:r>
              <a:rPr lang="en-AU" sz="1200" kern="1200" dirty="0" smtClean="0">
                <a:solidFill>
                  <a:schemeClr val="tx1"/>
                </a:solidFill>
                <a:latin typeface="+mn-lt"/>
                <a:ea typeface="+mn-ea"/>
                <a:cs typeface="+mn-cs"/>
              </a:rPr>
              <a:t>Inspect the path – looking for:</a:t>
            </a:r>
          </a:p>
          <a:p>
            <a:pPr marL="628650" lvl="1" indent="-171450">
              <a:buFont typeface="Arial" pitchFamily="34" charset="0"/>
              <a:buChar char="•"/>
            </a:pPr>
            <a:r>
              <a:rPr lang="en-AU" sz="1200" kern="1200" dirty="0" smtClean="0">
                <a:solidFill>
                  <a:schemeClr val="tx1"/>
                </a:solidFill>
                <a:latin typeface="+mn-lt"/>
                <a:ea typeface="+mn-ea"/>
                <a:cs typeface="+mn-cs"/>
              </a:rPr>
              <a:t>A suitable route through/across the track which presents itself – taking into account, for example, ruts, holes, fallen trees, rocks </a:t>
            </a:r>
          </a:p>
          <a:p>
            <a:pPr marL="628650" lvl="1" indent="-171450">
              <a:buFont typeface="Arial" pitchFamily="34" charset="0"/>
              <a:buChar char="•"/>
            </a:pPr>
            <a:r>
              <a:rPr lang="en-AU" sz="1200" kern="1200" dirty="0" smtClean="0">
                <a:solidFill>
                  <a:schemeClr val="tx1"/>
                </a:solidFill>
                <a:latin typeface="+mn-lt"/>
                <a:ea typeface="+mn-ea"/>
                <a:cs typeface="+mn-cs"/>
              </a:rPr>
              <a:t>Surface condition – in relation to whether the ground is wet or dry and whether it is hard underfoot or soft</a:t>
            </a:r>
          </a:p>
          <a:p>
            <a:pPr marL="628650" lvl="1" indent="-171450">
              <a:buFont typeface="Arial" pitchFamily="34" charset="0"/>
              <a:buChar char="•"/>
            </a:pPr>
            <a:r>
              <a:rPr lang="en-AU" sz="1200" kern="1200" dirty="0" smtClean="0">
                <a:solidFill>
                  <a:schemeClr val="tx1"/>
                </a:solidFill>
                <a:latin typeface="+mn-lt"/>
                <a:ea typeface="+mn-ea"/>
                <a:cs typeface="+mn-cs"/>
              </a:rPr>
              <a:t>Approach angle – to ensure the vehicle can begin the climb and get its wheels onto the incline, and not get ‘beached’/stuck trying to make the climb</a:t>
            </a:r>
          </a:p>
          <a:p>
            <a:pPr marL="628650" lvl="1" indent="-171450">
              <a:buFont typeface="Arial" pitchFamily="34" charset="0"/>
              <a:buChar char="•"/>
            </a:pPr>
            <a:r>
              <a:rPr lang="en-AU" sz="1200" kern="1200" dirty="0" smtClean="0">
                <a:solidFill>
                  <a:schemeClr val="tx1"/>
                </a:solidFill>
                <a:latin typeface="+mn-lt"/>
                <a:ea typeface="+mn-ea"/>
                <a:cs typeface="+mn-cs"/>
              </a:rPr>
              <a:t>General angle/severity of the climb</a:t>
            </a:r>
          </a:p>
          <a:p>
            <a:pPr marL="628650" lvl="1" indent="-171450">
              <a:buFont typeface="Arial" pitchFamily="34" charset="0"/>
              <a:buChar char="•"/>
            </a:pPr>
            <a:r>
              <a:rPr lang="en-AU" sz="1200" kern="1200" dirty="0" smtClean="0">
                <a:solidFill>
                  <a:schemeClr val="tx1"/>
                </a:solidFill>
                <a:latin typeface="+mn-lt"/>
                <a:ea typeface="+mn-ea"/>
                <a:cs typeface="+mn-cs"/>
              </a:rPr>
              <a:t>Length of the incline – in terms of the distance to be covered to compete the climb</a:t>
            </a:r>
          </a:p>
          <a:p>
            <a:pPr marL="628650" lvl="1" indent="-171450">
              <a:buFont typeface="Arial" pitchFamily="34" charset="0"/>
              <a:buChar char="•"/>
            </a:pPr>
            <a:r>
              <a:rPr lang="en-AU" sz="1200" kern="1200" dirty="0" smtClean="0">
                <a:solidFill>
                  <a:schemeClr val="tx1"/>
                </a:solidFill>
                <a:latin typeface="+mn-lt"/>
                <a:ea typeface="+mn-ea"/>
                <a:cs typeface="+mn-cs"/>
              </a:rPr>
              <a:t>Possible recovery points that can be used – if the vehicle becomes stuck</a:t>
            </a:r>
          </a:p>
          <a:p>
            <a:pPr marL="171450" indent="-171450">
              <a:buFont typeface="Arial" pitchFamily="34" charset="0"/>
              <a:buChar char="•"/>
            </a:pPr>
            <a:r>
              <a:rPr lang="en-AU" sz="1200" kern="1200" dirty="0" smtClean="0">
                <a:solidFill>
                  <a:schemeClr val="tx1"/>
                </a:solidFill>
                <a:latin typeface="+mn-lt"/>
                <a:ea typeface="+mn-ea"/>
                <a:cs typeface="+mn-cs"/>
              </a:rPr>
              <a:t>Engage 4WD – which may require locking in hubs</a:t>
            </a:r>
          </a:p>
          <a:p>
            <a:pPr marL="171450" indent="-171450">
              <a:buFont typeface="Arial" pitchFamily="34" charset="0"/>
              <a:buChar char="•"/>
            </a:pPr>
            <a:r>
              <a:rPr lang="en-AU" sz="1200" kern="1200" dirty="0" smtClean="0">
                <a:solidFill>
                  <a:schemeClr val="tx1"/>
                </a:solidFill>
                <a:latin typeface="+mn-lt"/>
                <a:ea typeface="+mn-ea"/>
                <a:cs typeface="+mn-cs"/>
              </a:rPr>
              <a:t>Engage diff locks – if fitted and if necessary</a:t>
            </a:r>
          </a:p>
          <a:p>
            <a:pPr marL="171450" indent="-171450">
              <a:buFont typeface="Arial" pitchFamily="34" charset="0"/>
              <a:buChar char="•"/>
            </a:pPr>
            <a:r>
              <a:rPr lang="en-AU" sz="1200" kern="1200" dirty="0" smtClean="0">
                <a:solidFill>
                  <a:schemeClr val="tx1"/>
                </a:solidFill>
                <a:latin typeface="+mn-lt"/>
                <a:ea typeface="+mn-ea"/>
                <a:cs typeface="+mn-cs"/>
              </a:rPr>
              <a:t>Turn off air conditioner – to avoid inconsistent engine acceleration.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4138480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procedures for ascending steep inclines:</a:t>
            </a:r>
          </a:p>
          <a:p>
            <a:pPr marL="171450" indent="-171450">
              <a:buFont typeface="Arial" pitchFamily="34" charset="0"/>
              <a:buChar char="•"/>
            </a:pPr>
            <a:r>
              <a:rPr lang="en-AU" sz="1200" kern="1200" dirty="0" smtClean="0">
                <a:solidFill>
                  <a:schemeClr val="tx1"/>
                </a:solidFill>
                <a:latin typeface="+mn-lt"/>
                <a:ea typeface="+mn-ea"/>
                <a:cs typeface="+mn-cs"/>
              </a:rPr>
              <a:t>Begin the climb in a manner that reflects the findings of observation of the incline – which may require, as appropriate:</a:t>
            </a:r>
          </a:p>
          <a:p>
            <a:pPr marL="628650" lvl="1" indent="-171450">
              <a:buFont typeface="Arial" pitchFamily="34" charset="0"/>
              <a:buChar char="•"/>
            </a:pPr>
            <a:r>
              <a:rPr lang="en-AU" sz="1200" kern="1200" dirty="0" smtClean="0">
                <a:solidFill>
                  <a:schemeClr val="tx1"/>
                </a:solidFill>
                <a:latin typeface="+mn-lt"/>
                <a:ea typeface="+mn-ea"/>
                <a:cs typeface="+mn-cs"/>
              </a:rPr>
              <a:t>Reversing and taking a run at the incline to gain momentum perhaps in H4 where the ground is solid, the length of the climb is short and the angle of incline is not too steep</a:t>
            </a:r>
          </a:p>
          <a:p>
            <a:pPr marL="628650" lvl="1" indent="-171450">
              <a:buFont typeface="Arial" pitchFamily="34" charset="0"/>
              <a:buChar char="•"/>
            </a:pPr>
            <a:r>
              <a:rPr lang="en-AU" sz="1200" kern="1200" dirty="0" smtClean="0">
                <a:solidFill>
                  <a:schemeClr val="tx1"/>
                </a:solidFill>
                <a:latin typeface="+mn-lt"/>
                <a:ea typeface="+mn-ea"/>
                <a:cs typeface="+mn-cs"/>
              </a:rPr>
              <a:t>Selecting Low range first or second gear and driving slowly up the incline where it is a steep incline, ground is soft sand/or the distance to be covered is significant</a:t>
            </a:r>
          </a:p>
          <a:p>
            <a:pPr marL="171450" indent="-171450">
              <a:buFont typeface="Arial" pitchFamily="34" charset="0"/>
              <a:buChar char="•"/>
            </a:pPr>
            <a:r>
              <a:rPr lang="en-AU" sz="1200" kern="1200" dirty="0" smtClean="0">
                <a:solidFill>
                  <a:schemeClr val="tx1"/>
                </a:solidFill>
                <a:latin typeface="+mn-lt"/>
                <a:ea typeface="+mn-ea"/>
                <a:cs typeface="+mn-cs"/>
              </a:rPr>
              <a:t>Stay square to the incline – climbing at an angle to the rise introduces the potential for the vehicle to roll</a:t>
            </a:r>
          </a:p>
          <a:p>
            <a:pPr marL="171450" indent="-171450">
              <a:buFont typeface="Arial" pitchFamily="34" charset="0"/>
              <a:buChar char="•"/>
            </a:pPr>
            <a:r>
              <a:rPr lang="en-AU" sz="1200" kern="1200" dirty="0" smtClean="0">
                <a:solidFill>
                  <a:schemeClr val="tx1"/>
                </a:solidFill>
                <a:latin typeface="+mn-lt"/>
                <a:ea typeface="+mn-ea"/>
                <a:cs typeface="+mn-cs"/>
              </a:rPr>
              <a:t>Work the wheel a little from side-to-side if the wheels start spinning – in order to use the tread on the sides of the tyres to gain additional purchase/traction</a:t>
            </a:r>
          </a:p>
          <a:p>
            <a:pPr marL="171450" indent="-171450">
              <a:buFont typeface="Arial" pitchFamily="34" charset="0"/>
              <a:buChar char="•"/>
            </a:pPr>
            <a:r>
              <a:rPr lang="en-AU" sz="1200" kern="1200" dirty="0" smtClean="0">
                <a:solidFill>
                  <a:schemeClr val="tx1"/>
                </a:solidFill>
                <a:latin typeface="+mn-lt"/>
                <a:ea typeface="+mn-ea"/>
                <a:cs typeface="+mn-cs"/>
              </a:rPr>
              <a:t>Pause at the top of the incline – in order to:</a:t>
            </a:r>
          </a:p>
          <a:p>
            <a:pPr marL="628650" lvl="1" indent="-171450">
              <a:buFont typeface="Arial" pitchFamily="34" charset="0"/>
              <a:buChar char="•"/>
            </a:pPr>
            <a:r>
              <a:rPr lang="en-AU" sz="1200" kern="1200" dirty="0" smtClean="0">
                <a:solidFill>
                  <a:schemeClr val="tx1"/>
                </a:solidFill>
                <a:latin typeface="+mn-lt"/>
                <a:ea typeface="+mn-ea"/>
                <a:cs typeface="+mn-cs"/>
              </a:rPr>
              <a:t>Check the descent – if there is one</a:t>
            </a:r>
          </a:p>
          <a:p>
            <a:pPr marL="628650" lvl="1" indent="-171450">
              <a:buFont typeface="Arial" pitchFamily="34" charset="0"/>
              <a:buChar char="•"/>
            </a:pPr>
            <a:r>
              <a:rPr lang="en-AU" sz="1200" kern="1200" dirty="0" smtClean="0">
                <a:solidFill>
                  <a:schemeClr val="tx1"/>
                </a:solidFill>
                <a:latin typeface="+mn-lt"/>
                <a:ea typeface="+mn-ea"/>
                <a:cs typeface="+mn-cs"/>
              </a:rPr>
              <a:t>Check for oncoming vehicles. </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how to climb steep incline in 4WD and gives students an opportunity to practice same.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575343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if </a:t>
            </a:r>
            <a:r>
              <a:rPr lang="en-AU" sz="1200" kern="1200" dirty="0" smtClean="0">
                <a:solidFill>
                  <a:schemeClr val="tx1"/>
                </a:solidFill>
                <a:latin typeface="+mn-lt"/>
                <a:ea typeface="+mn-ea"/>
                <a:cs typeface="+mn-cs"/>
              </a:rPr>
              <a:t>the vehicle stalls when climbing a steep incline the procedure for a safe stall recovery is:</a:t>
            </a:r>
          </a:p>
          <a:p>
            <a:pPr marL="171450" indent="-171450">
              <a:buFont typeface="Arial" pitchFamily="34" charset="0"/>
              <a:buChar char="•"/>
            </a:pPr>
            <a:r>
              <a:rPr lang="en-AU" sz="1200" kern="1200" dirty="0" smtClean="0">
                <a:solidFill>
                  <a:schemeClr val="tx1"/>
                </a:solidFill>
                <a:latin typeface="+mn-lt"/>
                <a:ea typeface="+mn-ea"/>
                <a:cs typeface="+mn-cs"/>
              </a:rPr>
              <a:t>Apply foot brake as vehicle stalls</a:t>
            </a:r>
          </a:p>
          <a:p>
            <a:pPr marL="171450" indent="-171450">
              <a:buFont typeface="Arial" pitchFamily="34" charset="0"/>
              <a:buChar char="•"/>
            </a:pPr>
            <a:r>
              <a:rPr lang="en-AU" sz="1200" kern="1200" dirty="0" smtClean="0">
                <a:solidFill>
                  <a:schemeClr val="tx1"/>
                </a:solidFill>
                <a:latin typeface="+mn-lt"/>
                <a:ea typeface="+mn-ea"/>
                <a:cs typeface="+mn-cs"/>
              </a:rPr>
              <a:t>Apply handbrake </a:t>
            </a:r>
          </a:p>
          <a:p>
            <a:pPr marL="171450" indent="-171450">
              <a:buFont typeface="Arial" pitchFamily="34" charset="0"/>
              <a:buChar char="•"/>
            </a:pPr>
            <a:r>
              <a:rPr lang="en-AU" sz="1200" kern="1200" dirty="0" smtClean="0">
                <a:solidFill>
                  <a:schemeClr val="tx1"/>
                </a:solidFill>
                <a:latin typeface="+mn-lt"/>
                <a:ea typeface="+mn-ea"/>
                <a:cs typeface="+mn-cs"/>
              </a:rPr>
              <a:t>Turn ignition off</a:t>
            </a:r>
          </a:p>
          <a:p>
            <a:pPr marL="171450" indent="-171450">
              <a:buFont typeface="Arial" pitchFamily="34" charset="0"/>
              <a:buChar char="•"/>
            </a:pPr>
            <a:r>
              <a:rPr lang="en-AU" sz="1200" kern="1200" dirty="0" smtClean="0">
                <a:solidFill>
                  <a:schemeClr val="tx1"/>
                </a:solidFill>
                <a:latin typeface="+mn-lt"/>
                <a:ea typeface="+mn-ea"/>
                <a:cs typeface="+mn-cs"/>
              </a:rPr>
              <a:t>Depress clutch </a:t>
            </a:r>
          </a:p>
          <a:p>
            <a:pPr marL="171450" indent="-171450">
              <a:buFont typeface="Arial" pitchFamily="34" charset="0"/>
              <a:buChar char="•"/>
            </a:pPr>
            <a:r>
              <a:rPr lang="en-AU" sz="1200" kern="1200" dirty="0" smtClean="0">
                <a:solidFill>
                  <a:schemeClr val="tx1"/>
                </a:solidFill>
                <a:latin typeface="+mn-lt"/>
                <a:ea typeface="+mn-ea"/>
                <a:cs typeface="+mn-cs"/>
              </a:rPr>
              <a:t>Select reverse gear.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5993342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explain ascending stall</a:t>
            </a:r>
            <a:r>
              <a:rPr lang="en-AU" baseline="0" noProof="0" dirty="0" smtClean="0"/>
              <a:t> recovery:</a:t>
            </a:r>
          </a:p>
          <a:p>
            <a:pPr marL="171450" indent="-171450">
              <a:buFont typeface="Arial" pitchFamily="34" charset="0"/>
              <a:buChar char="•"/>
            </a:pPr>
            <a:r>
              <a:rPr lang="en-AU" sz="1200" kern="1200" dirty="0" smtClean="0">
                <a:solidFill>
                  <a:schemeClr val="tx1"/>
                </a:solidFill>
                <a:latin typeface="+mn-lt"/>
                <a:ea typeface="+mn-ea"/>
                <a:cs typeface="+mn-cs"/>
              </a:rPr>
              <a:t>Release clutch </a:t>
            </a:r>
          </a:p>
          <a:p>
            <a:pPr marL="171450" indent="-171450">
              <a:buFont typeface="Arial" pitchFamily="34" charset="0"/>
              <a:buChar char="•"/>
            </a:pPr>
            <a:r>
              <a:rPr lang="en-AU" sz="1200" kern="1200" dirty="0" smtClean="0">
                <a:solidFill>
                  <a:schemeClr val="tx1"/>
                </a:solidFill>
                <a:latin typeface="+mn-lt"/>
                <a:ea typeface="+mn-ea"/>
                <a:cs typeface="+mn-cs"/>
              </a:rPr>
              <a:t>Release handbrake slowly </a:t>
            </a:r>
          </a:p>
          <a:p>
            <a:pPr marL="171450" indent="-171450">
              <a:buFont typeface="Arial" pitchFamily="34" charset="0"/>
              <a:buChar char="•"/>
            </a:pPr>
            <a:r>
              <a:rPr lang="en-AU" sz="1200" kern="1200" dirty="0" smtClean="0">
                <a:solidFill>
                  <a:schemeClr val="tx1"/>
                </a:solidFill>
                <a:latin typeface="+mn-lt"/>
                <a:ea typeface="+mn-ea"/>
                <a:cs typeface="+mn-cs"/>
              </a:rPr>
              <a:t>Turn on ignition and release brakes </a:t>
            </a:r>
          </a:p>
          <a:p>
            <a:pPr marL="171450" indent="-171450">
              <a:buFont typeface="Arial" pitchFamily="34" charset="0"/>
              <a:buChar char="•"/>
            </a:pPr>
            <a:r>
              <a:rPr lang="en-AU" sz="1200" kern="1200" dirty="0" smtClean="0">
                <a:solidFill>
                  <a:schemeClr val="tx1"/>
                </a:solidFill>
                <a:latin typeface="+mn-lt"/>
                <a:ea typeface="+mn-ea"/>
                <a:cs typeface="+mn-cs"/>
              </a:rPr>
              <a:t>Start vehicle allowing it to reverse down the slope</a:t>
            </a:r>
          </a:p>
          <a:p>
            <a:pPr marL="171450" indent="-171450">
              <a:buFont typeface="Arial" pitchFamily="34" charset="0"/>
              <a:buChar char="•"/>
            </a:pPr>
            <a:r>
              <a:rPr lang="en-AU" sz="1200" kern="1200" dirty="0" smtClean="0">
                <a:solidFill>
                  <a:schemeClr val="tx1"/>
                </a:solidFill>
                <a:latin typeface="+mn-lt"/>
                <a:ea typeface="+mn-ea"/>
                <a:cs typeface="+mn-cs"/>
              </a:rPr>
              <a:t>Apply brakes as necessary to control descent.</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how to perform stall recovery when climbing steep incline in 4WD and gives students an opportunity to practice same.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5262694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procedures for descending steep inclines:</a:t>
            </a:r>
          </a:p>
          <a:p>
            <a:pPr marL="171450" indent="-171450">
              <a:buFont typeface="Arial" pitchFamily="34" charset="0"/>
              <a:buChar char="•"/>
            </a:pPr>
            <a:r>
              <a:rPr lang="en-AU" sz="1200" kern="1200" dirty="0" smtClean="0">
                <a:solidFill>
                  <a:schemeClr val="tx1"/>
                </a:solidFill>
                <a:latin typeface="+mn-lt"/>
                <a:ea typeface="+mn-ea"/>
                <a:cs typeface="+mn-cs"/>
              </a:rPr>
              <a:t>Inspect the path – looking for:</a:t>
            </a:r>
          </a:p>
          <a:p>
            <a:pPr marL="628650" lvl="1" indent="-171450">
              <a:buFont typeface="Arial" pitchFamily="34" charset="0"/>
              <a:buChar char="•"/>
            </a:pPr>
            <a:r>
              <a:rPr lang="en-AU" sz="1200" kern="1200" dirty="0" smtClean="0">
                <a:solidFill>
                  <a:schemeClr val="tx1"/>
                </a:solidFill>
                <a:latin typeface="+mn-lt"/>
                <a:ea typeface="+mn-ea"/>
                <a:cs typeface="+mn-cs"/>
              </a:rPr>
              <a:t>A suitable route through/across the track which presents itself – taking into account, for example, ruts, holes, fallen trees, rocks </a:t>
            </a:r>
          </a:p>
          <a:p>
            <a:pPr marL="628650" lvl="1" indent="-171450">
              <a:buFont typeface="Arial" pitchFamily="34" charset="0"/>
              <a:buChar char="•"/>
            </a:pPr>
            <a:r>
              <a:rPr lang="en-AU" sz="1200" kern="1200" dirty="0" smtClean="0">
                <a:solidFill>
                  <a:schemeClr val="tx1"/>
                </a:solidFill>
                <a:latin typeface="+mn-lt"/>
                <a:ea typeface="+mn-ea"/>
                <a:cs typeface="+mn-cs"/>
              </a:rPr>
              <a:t>Surface condition – in relation to whether the ground is wet or dry and whether it is hard underfoot or soft</a:t>
            </a:r>
          </a:p>
          <a:p>
            <a:pPr marL="628650" lvl="1" indent="-171450">
              <a:buFont typeface="Arial" pitchFamily="34" charset="0"/>
              <a:buChar char="•"/>
            </a:pPr>
            <a:r>
              <a:rPr lang="en-AU" sz="1200" kern="1200" dirty="0" smtClean="0">
                <a:solidFill>
                  <a:schemeClr val="tx1"/>
                </a:solidFill>
                <a:latin typeface="+mn-lt"/>
                <a:ea typeface="+mn-ea"/>
                <a:cs typeface="+mn-cs"/>
              </a:rPr>
              <a:t>Departure angle at the end of the incline – to ensure the vehicle can leave the incline and make it to level ground instead of being stuck half-way between the incline and the flat ground</a:t>
            </a:r>
          </a:p>
          <a:p>
            <a:pPr marL="628650" lvl="1" indent="-171450">
              <a:buFont typeface="Arial" pitchFamily="34" charset="0"/>
              <a:buChar char="•"/>
            </a:pPr>
            <a:r>
              <a:rPr lang="en-AU" sz="1200" kern="1200" dirty="0" smtClean="0">
                <a:solidFill>
                  <a:schemeClr val="tx1"/>
                </a:solidFill>
                <a:latin typeface="+mn-lt"/>
                <a:ea typeface="+mn-ea"/>
                <a:cs typeface="+mn-cs"/>
              </a:rPr>
              <a:t>Length of the descent – in terms of the distance to be covered to compete the descent</a:t>
            </a:r>
          </a:p>
          <a:p>
            <a:pPr marL="628650" lvl="1" indent="-171450">
              <a:buFont typeface="Arial" pitchFamily="34" charset="0"/>
              <a:buChar char="•"/>
            </a:pPr>
            <a:r>
              <a:rPr lang="en-AU" sz="1200" kern="1200" dirty="0" smtClean="0">
                <a:solidFill>
                  <a:schemeClr val="tx1"/>
                </a:solidFill>
                <a:latin typeface="+mn-lt"/>
                <a:ea typeface="+mn-ea"/>
                <a:cs typeface="+mn-cs"/>
              </a:rPr>
              <a:t>General angle/severity of the descent</a:t>
            </a:r>
          </a:p>
          <a:p>
            <a:pPr marL="628650" lvl="1" indent="-171450">
              <a:buFont typeface="Arial" pitchFamily="34" charset="0"/>
              <a:buChar char="•"/>
            </a:pPr>
            <a:r>
              <a:rPr lang="en-AU" sz="1200" kern="1200" dirty="0" smtClean="0">
                <a:solidFill>
                  <a:schemeClr val="tx1"/>
                </a:solidFill>
                <a:latin typeface="+mn-lt"/>
                <a:ea typeface="+mn-ea"/>
                <a:cs typeface="+mn-cs"/>
              </a:rPr>
              <a:t>Possible run-off points (into banks, bushes, trees) – in case the descent becomes out-of-control</a:t>
            </a:r>
          </a:p>
          <a:p>
            <a:pPr marL="171450" indent="-171450">
              <a:buFont typeface="Arial" pitchFamily="34" charset="0"/>
              <a:buChar char="•"/>
            </a:pPr>
            <a:r>
              <a:rPr lang="en-AU" sz="1200" kern="1200" dirty="0" smtClean="0">
                <a:solidFill>
                  <a:schemeClr val="tx1"/>
                </a:solidFill>
                <a:latin typeface="+mn-lt"/>
                <a:ea typeface="+mn-ea"/>
                <a:cs typeface="+mn-cs"/>
              </a:rPr>
              <a:t>Engage 4WD – which may require locking in hubs</a:t>
            </a:r>
          </a:p>
          <a:p>
            <a:pPr marL="171450" indent="-171450">
              <a:buFont typeface="Arial" pitchFamily="34" charset="0"/>
              <a:buChar char="•"/>
            </a:pPr>
            <a:r>
              <a:rPr lang="en-AU" sz="1200" kern="1200" dirty="0" smtClean="0">
                <a:solidFill>
                  <a:schemeClr val="tx1"/>
                </a:solidFill>
                <a:latin typeface="+mn-lt"/>
                <a:ea typeface="+mn-ea"/>
                <a:cs typeface="+mn-cs"/>
              </a:rPr>
              <a:t>Engage diff locks – if fitted and if necessary</a:t>
            </a:r>
          </a:p>
          <a:p>
            <a:pPr marL="171450" indent="-171450">
              <a:buFont typeface="Arial" pitchFamily="34" charset="0"/>
              <a:buChar char="•"/>
            </a:pPr>
            <a:r>
              <a:rPr lang="en-AU" sz="1200" kern="1200" dirty="0" smtClean="0">
                <a:solidFill>
                  <a:schemeClr val="tx1"/>
                </a:solidFill>
                <a:latin typeface="+mn-lt"/>
                <a:ea typeface="+mn-ea"/>
                <a:cs typeface="+mn-cs"/>
              </a:rPr>
              <a:t>Turn off air conditioner – to avoid inconsistent engine acceleration.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9816991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procedures for descending</a:t>
            </a:r>
            <a:r>
              <a:rPr lang="en-AU" baseline="0" noProof="0" dirty="0" smtClean="0"/>
              <a:t> </a:t>
            </a:r>
            <a:r>
              <a:rPr lang="en-AU" noProof="0" dirty="0" smtClean="0"/>
              <a:t>steep inclines:</a:t>
            </a:r>
          </a:p>
          <a:p>
            <a:pPr marL="171450" indent="-171450">
              <a:buFont typeface="Arial" pitchFamily="34" charset="0"/>
              <a:buChar char="•"/>
            </a:pPr>
            <a:r>
              <a:rPr lang="en-AU" sz="1200" kern="1200" dirty="0" smtClean="0">
                <a:solidFill>
                  <a:schemeClr val="tx1"/>
                </a:solidFill>
                <a:latin typeface="+mn-lt"/>
                <a:ea typeface="+mn-ea"/>
                <a:cs typeface="+mn-cs"/>
              </a:rPr>
              <a:t>Begin travel in a manner that reflects the findings of observation of the descent – which may include:</a:t>
            </a:r>
          </a:p>
          <a:p>
            <a:pPr marL="171450" indent="-171450">
              <a:buFont typeface="Arial" pitchFamily="34" charset="0"/>
              <a:buChar char="•"/>
            </a:pPr>
            <a:r>
              <a:rPr lang="en-AU" sz="1200" kern="1200" dirty="0" smtClean="0">
                <a:solidFill>
                  <a:schemeClr val="tx1"/>
                </a:solidFill>
                <a:latin typeface="+mn-lt"/>
                <a:ea typeface="+mn-ea"/>
                <a:cs typeface="+mn-cs"/>
              </a:rPr>
              <a:t>Selecting Low range first gear</a:t>
            </a:r>
          </a:p>
          <a:p>
            <a:pPr marL="171450" indent="-171450">
              <a:buFont typeface="Arial" pitchFamily="34" charset="0"/>
              <a:buChar char="•"/>
            </a:pPr>
            <a:r>
              <a:rPr lang="en-AU" sz="1200" kern="1200" dirty="0" smtClean="0">
                <a:solidFill>
                  <a:schemeClr val="tx1"/>
                </a:solidFill>
                <a:latin typeface="+mn-lt"/>
                <a:ea typeface="+mn-ea"/>
                <a:cs typeface="+mn-cs"/>
              </a:rPr>
              <a:t>Allowing vehicle to creep forward under its own power without using the accelerator – letting the engine act as a brake</a:t>
            </a:r>
          </a:p>
          <a:p>
            <a:pPr marL="171450" indent="-171450">
              <a:buFont typeface="Arial" pitchFamily="34" charset="0"/>
              <a:buChar char="•"/>
            </a:pPr>
            <a:r>
              <a:rPr lang="en-AU" sz="1200" kern="1200" dirty="0" smtClean="0">
                <a:solidFill>
                  <a:schemeClr val="tx1"/>
                </a:solidFill>
                <a:latin typeface="+mn-lt"/>
                <a:ea typeface="+mn-ea"/>
                <a:cs typeface="+mn-cs"/>
              </a:rPr>
              <a:t>Applying extra braking as required using either foot brake or hand brake – to keep a safe speed</a:t>
            </a:r>
          </a:p>
          <a:p>
            <a:pPr marL="628650" lvl="1" indent="-171450">
              <a:buFont typeface="Arial" pitchFamily="34" charset="0"/>
              <a:buChar char="•"/>
            </a:pPr>
            <a:r>
              <a:rPr lang="en-AU" sz="1200" kern="1200" dirty="0" smtClean="0">
                <a:solidFill>
                  <a:schemeClr val="tx1"/>
                </a:solidFill>
                <a:latin typeface="+mn-lt"/>
                <a:ea typeface="+mn-ea"/>
                <a:cs typeface="+mn-cs"/>
              </a:rPr>
              <a:t>Minimising use of brake – allowing engine to do the braking</a:t>
            </a:r>
          </a:p>
          <a:p>
            <a:pPr marL="171450" indent="-171450">
              <a:buFont typeface="Arial" pitchFamily="34" charset="0"/>
              <a:buChar char="•"/>
            </a:pPr>
            <a:r>
              <a:rPr lang="en-AU" sz="1200" kern="1200" dirty="0" smtClean="0">
                <a:solidFill>
                  <a:schemeClr val="tx1"/>
                </a:solidFill>
                <a:latin typeface="+mn-lt"/>
                <a:ea typeface="+mn-ea"/>
                <a:cs typeface="+mn-cs"/>
              </a:rPr>
              <a:t>Avoiding locking of wheels – the wheels must continue to rotate in order to retain control/steering</a:t>
            </a:r>
          </a:p>
          <a:p>
            <a:pPr marL="171450" indent="-171450">
              <a:buFont typeface="Arial" pitchFamily="34" charset="0"/>
              <a:buChar char="•"/>
            </a:pPr>
            <a:r>
              <a:rPr lang="en-AU" sz="1200" kern="1200" dirty="0" smtClean="0">
                <a:solidFill>
                  <a:schemeClr val="tx1"/>
                </a:solidFill>
                <a:latin typeface="+mn-lt"/>
                <a:ea typeface="+mn-ea"/>
                <a:cs typeface="+mn-cs"/>
              </a:rPr>
              <a:t>Keeping wheels pointing forward</a:t>
            </a:r>
          </a:p>
          <a:p>
            <a:pPr marL="171450" indent="-171450">
              <a:buFont typeface="Arial" pitchFamily="34" charset="0"/>
              <a:buChar char="•"/>
            </a:pPr>
            <a:r>
              <a:rPr lang="en-AU" sz="1200" kern="1200" dirty="0" smtClean="0">
                <a:solidFill>
                  <a:schemeClr val="tx1"/>
                </a:solidFill>
                <a:latin typeface="+mn-lt"/>
                <a:ea typeface="+mn-ea"/>
                <a:cs typeface="+mn-cs"/>
              </a:rPr>
              <a:t>Stay square on to the incline – to avoid potential for roll-over.</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how to descend steep incline in 4WD and gives students an opportunity to practice same.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314403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if </a:t>
            </a:r>
            <a:r>
              <a:rPr lang="en-AU" sz="1200" kern="1200" dirty="0" smtClean="0">
                <a:solidFill>
                  <a:schemeClr val="tx1"/>
                </a:solidFill>
                <a:latin typeface="+mn-lt"/>
                <a:ea typeface="+mn-ea"/>
                <a:cs typeface="+mn-cs"/>
              </a:rPr>
              <a:t>the vehicle stalls when descending a steep incline the procedure for a safe stall recovery is:</a:t>
            </a:r>
          </a:p>
          <a:p>
            <a:pPr marL="171450" indent="-171450">
              <a:buFont typeface="Arial" pitchFamily="34" charset="0"/>
              <a:buChar char="•"/>
            </a:pPr>
            <a:r>
              <a:rPr lang="en-AU" sz="1200" kern="1200" dirty="0" smtClean="0">
                <a:solidFill>
                  <a:schemeClr val="tx1"/>
                </a:solidFill>
                <a:latin typeface="+mn-lt"/>
                <a:ea typeface="+mn-ea"/>
                <a:cs typeface="+mn-cs"/>
              </a:rPr>
              <a:t>Turn ignition off</a:t>
            </a:r>
          </a:p>
          <a:p>
            <a:pPr marL="171450" indent="-171450">
              <a:buFont typeface="Arial" pitchFamily="34" charset="0"/>
              <a:buChar char="•"/>
            </a:pPr>
            <a:r>
              <a:rPr lang="en-AU" sz="1200" kern="1200" dirty="0" smtClean="0">
                <a:solidFill>
                  <a:schemeClr val="tx1"/>
                </a:solidFill>
                <a:latin typeface="+mn-lt"/>
                <a:ea typeface="+mn-ea"/>
                <a:cs typeface="+mn-cs"/>
              </a:rPr>
              <a:t>Apply foot brake </a:t>
            </a:r>
          </a:p>
          <a:p>
            <a:pPr marL="171450" indent="-171450">
              <a:buFont typeface="Arial" pitchFamily="34" charset="0"/>
              <a:buChar char="•"/>
            </a:pPr>
            <a:r>
              <a:rPr lang="en-AU" sz="1200" kern="1200" dirty="0" smtClean="0">
                <a:solidFill>
                  <a:schemeClr val="tx1"/>
                </a:solidFill>
                <a:latin typeface="+mn-lt"/>
                <a:ea typeface="+mn-ea"/>
                <a:cs typeface="+mn-cs"/>
              </a:rPr>
              <a:t>Engage handbrake </a:t>
            </a:r>
          </a:p>
          <a:p>
            <a:pPr marL="171450" indent="-171450">
              <a:buFont typeface="Arial" pitchFamily="34" charset="0"/>
              <a:buChar char="•"/>
            </a:pPr>
            <a:r>
              <a:rPr lang="en-AU" sz="1200" kern="1200" dirty="0" smtClean="0">
                <a:solidFill>
                  <a:schemeClr val="tx1"/>
                </a:solidFill>
                <a:latin typeface="+mn-lt"/>
                <a:ea typeface="+mn-ea"/>
                <a:cs typeface="+mn-cs"/>
              </a:rPr>
              <a:t>Depress clutch </a:t>
            </a:r>
          </a:p>
          <a:p>
            <a:pPr marL="171450" indent="-171450">
              <a:buFont typeface="Arial" pitchFamily="34" charset="0"/>
              <a:buChar char="•"/>
            </a:pPr>
            <a:r>
              <a:rPr lang="en-AU" sz="1200" kern="1200" dirty="0" smtClean="0">
                <a:solidFill>
                  <a:schemeClr val="tx1"/>
                </a:solidFill>
                <a:latin typeface="+mn-lt"/>
                <a:ea typeface="+mn-ea"/>
                <a:cs typeface="+mn-cs"/>
              </a:rPr>
              <a:t>Select low gear </a:t>
            </a:r>
          </a:p>
          <a:p>
            <a:pPr marL="171450" indent="-171450">
              <a:buFont typeface="Arial" pitchFamily="34" charset="0"/>
              <a:buChar char="•"/>
            </a:pPr>
            <a:r>
              <a:rPr lang="en-AU" sz="1200" kern="1200" dirty="0" smtClean="0">
                <a:solidFill>
                  <a:schemeClr val="tx1"/>
                </a:solidFill>
                <a:latin typeface="+mn-lt"/>
                <a:ea typeface="+mn-ea"/>
                <a:cs typeface="+mn-cs"/>
              </a:rPr>
              <a:t>Release clutch.</a:t>
            </a:r>
          </a:p>
          <a:p>
            <a:endParaRPr lang="en-AU" sz="1200" kern="1200" dirty="0" smtClean="0">
              <a:solidFill>
                <a:schemeClr val="tx1"/>
              </a:solidFill>
              <a:latin typeface="+mn-lt"/>
              <a:ea typeface="+mn-ea"/>
              <a:cs typeface="+mn-cs"/>
            </a:endParaRPr>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http://www.4x4australia.com.au/gear/1004/4x4-steep-slopes-tips/</a:t>
            </a:r>
            <a:r>
              <a:rPr lang="en-AU" sz="1200" kern="1200" dirty="0" smtClean="0">
                <a:solidFill>
                  <a:schemeClr val="tx1"/>
                </a:solidFill>
                <a:latin typeface="+mn-lt"/>
                <a:ea typeface="+mn-ea"/>
                <a:cs typeface="+mn-cs"/>
              </a:rPr>
              <a:t> - 4x4 steep slope tips</a:t>
            </a:r>
          </a:p>
          <a:p>
            <a:r>
              <a:rPr lang="en-AU" sz="1200" u="sng" kern="1200" dirty="0" smtClean="0">
                <a:solidFill>
                  <a:schemeClr val="tx1"/>
                </a:solidFill>
                <a:latin typeface="+mn-lt"/>
                <a:ea typeface="+mn-ea"/>
                <a:cs typeface="+mn-cs"/>
                <a:hlinkClick r:id="rId4"/>
              </a:rPr>
              <a:t>http://4xoverland.com/how-do-4x4s-work/4x4-driving/</a:t>
            </a:r>
            <a:r>
              <a:rPr lang="en-AU" sz="1200" kern="1200" dirty="0" smtClean="0">
                <a:solidFill>
                  <a:schemeClr val="tx1"/>
                </a:solidFill>
                <a:latin typeface="+mn-lt"/>
                <a:ea typeface="+mn-ea"/>
                <a:cs typeface="+mn-cs"/>
              </a:rPr>
              <a:t> - How to drive a 4x4 off road [Steep slopes]</a:t>
            </a:r>
          </a:p>
          <a:p>
            <a:r>
              <a:rPr lang="en-AU" sz="1200" u="sng" kern="1200" dirty="0" smtClean="0">
                <a:solidFill>
                  <a:schemeClr val="tx1"/>
                </a:solidFill>
                <a:latin typeface="+mn-lt"/>
                <a:ea typeface="+mn-ea"/>
                <a:cs typeface="+mn-cs"/>
                <a:hlinkClick r:id="rId5"/>
              </a:rPr>
              <a:t>https://www.youtube.com/watch?v=uTW3H4WBxnY</a:t>
            </a:r>
            <a:r>
              <a:rPr lang="en-AU" sz="1200" kern="1200" dirty="0" smtClean="0">
                <a:solidFill>
                  <a:schemeClr val="tx1"/>
                </a:solidFill>
                <a:latin typeface="+mn-lt"/>
                <a:ea typeface="+mn-ea"/>
                <a:cs typeface="+mn-cs"/>
              </a:rPr>
              <a:t> – 4WD Hill Climb Comparo</a:t>
            </a:r>
          </a:p>
          <a:p>
            <a:r>
              <a:rPr lang="en-AU" sz="1200" u="sng" kern="1200" dirty="0" smtClean="0">
                <a:solidFill>
                  <a:schemeClr val="tx1"/>
                </a:solidFill>
                <a:latin typeface="+mn-lt"/>
                <a:ea typeface="+mn-ea"/>
                <a:cs typeface="+mn-cs"/>
                <a:hlinkClick r:id="rId6"/>
              </a:rPr>
              <a:t>http://www.iventureclub.com.au/4x4-tips/article.html?k=Jem4UGra2DY</a:t>
            </a:r>
            <a:r>
              <a:rPr lang="en-AU" sz="1200" kern="1200" dirty="0" smtClean="0">
                <a:solidFill>
                  <a:schemeClr val="tx1"/>
                </a:solidFill>
                <a:latin typeface="+mn-lt"/>
                <a:ea typeface="+mn-ea"/>
                <a:cs typeface="+mn-cs"/>
              </a:rPr>
              <a:t> – 4x4: Tip- Steep terrain</a:t>
            </a:r>
            <a:br>
              <a:rPr lang="en-AU" sz="1200" kern="1200" dirty="0" smtClean="0">
                <a:solidFill>
                  <a:schemeClr val="tx1"/>
                </a:solidFill>
                <a:latin typeface="+mn-lt"/>
                <a:ea typeface="+mn-ea"/>
                <a:cs typeface="+mn-cs"/>
              </a:rPr>
            </a:b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1238690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explain descending stall</a:t>
            </a:r>
            <a:r>
              <a:rPr lang="en-AU" baseline="0" noProof="0" dirty="0" smtClean="0"/>
              <a:t> recovery:</a:t>
            </a:r>
          </a:p>
          <a:p>
            <a:pPr marL="171450" indent="-171450">
              <a:buFont typeface="Arial" pitchFamily="34" charset="0"/>
              <a:buChar char="•"/>
            </a:pPr>
            <a:r>
              <a:rPr lang="en-AU" sz="1200" kern="1200" dirty="0" smtClean="0">
                <a:solidFill>
                  <a:schemeClr val="tx1"/>
                </a:solidFill>
                <a:latin typeface="+mn-lt"/>
                <a:ea typeface="+mn-ea"/>
                <a:cs typeface="+mn-cs"/>
              </a:rPr>
              <a:t>Slowly release handbrake </a:t>
            </a:r>
          </a:p>
          <a:p>
            <a:pPr marL="171450" indent="-171450">
              <a:buFont typeface="Arial" pitchFamily="34" charset="0"/>
              <a:buChar char="•"/>
            </a:pPr>
            <a:r>
              <a:rPr lang="en-AU" sz="1200" kern="1200" dirty="0" smtClean="0">
                <a:solidFill>
                  <a:schemeClr val="tx1"/>
                </a:solidFill>
                <a:latin typeface="+mn-lt"/>
                <a:ea typeface="+mn-ea"/>
                <a:cs typeface="+mn-cs"/>
              </a:rPr>
              <a:t>Turn ignition on </a:t>
            </a:r>
          </a:p>
          <a:p>
            <a:pPr marL="171450" indent="-171450">
              <a:buFont typeface="Arial" pitchFamily="34" charset="0"/>
              <a:buChar char="•"/>
            </a:pPr>
            <a:r>
              <a:rPr lang="en-AU" sz="1200" kern="1200" dirty="0" smtClean="0">
                <a:solidFill>
                  <a:schemeClr val="tx1"/>
                </a:solidFill>
                <a:latin typeface="+mn-lt"/>
                <a:ea typeface="+mn-ea"/>
                <a:cs typeface="+mn-cs"/>
              </a:rPr>
              <a:t>Release brakes</a:t>
            </a:r>
          </a:p>
          <a:p>
            <a:pPr marL="171450" indent="-171450">
              <a:buFont typeface="Arial" pitchFamily="34" charset="0"/>
              <a:buChar char="•"/>
            </a:pPr>
            <a:r>
              <a:rPr lang="en-AU" sz="1200" kern="1200" dirty="0" smtClean="0">
                <a:solidFill>
                  <a:schemeClr val="tx1"/>
                </a:solidFill>
                <a:latin typeface="+mn-lt"/>
                <a:ea typeface="+mn-ea"/>
                <a:cs typeface="+mn-cs"/>
              </a:rPr>
              <a:t>Start vehicle and allow to continue down the slope</a:t>
            </a:r>
          </a:p>
          <a:p>
            <a:pPr marL="171450" indent="-171450">
              <a:buFont typeface="Arial" pitchFamily="34" charset="0"/>
              <a:buChar char="•"/>
            </a:pPr>
            <a:r>
              <a:rPr lang="en-AU" sz="1200" kern="1200" dirty="0" smtClean="0">
                <a:solidFill>
                  <a:schemeClr val="tx1"/>
                </a:solidFill>
                <a:latin typeface="+mn-lt"/>
                <a:ea typeface="+mn-ea"/>
                <a:cs typeface="+mn-cs"/>
              </a:rPr>
              <a:t>Apply brakes emulating ABS as necessary to control descent </a:t>
            </a:r>
          </a:p>
          <a:p>
            <a:pPr marL="171450" indent="-171450">
              <a:buFont typeface="Arial" pitchFamily="34" charset="0"/>
              <a:buChar char="•"/>
            </a:pPr>
            <a:r>
              <a:rPr lang="en-AU" sz="1200" kern="1200" dirty="0" smtClean="0">
                <a:solidFill>
                  <a:schemeClr val="tx1"/>
                </a:solidFill>
                <a:latin typeface="+mn-lt"/>
                <a:ea typeface="+mn-ea"/>
                <a:cs typeface="+mn-cs"/>
              </a:rPr>
              <a:t>Steer into skids. </a:t>
            </a:r>
          </a:p>
          <a:p>
            <a:pPr>
              <a:buFont typeface="Arial" pitchFamily="34" charset="0"/>
              <a:buNone/>
            </a:pPr>
            <a:endParaRPr lang="en-AU" baseline="0"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how to perform stall recovery when descending steep incline in 4WD and gives students an opportunity to practice same.</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6674507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talks about </a:t>
            </a:r>
            <a:r>
              <a:rPr lang="en-AU" sz="1200" kern="1200" dirty="0" smtClean="0">
                <a:solidFill>
                  <a:schemeClr val="tx1"/>
                </a:solidFill>
                <a:latin typeface="+mn-lt"/>
                <a:ea typeface="+mn-ea"/>
                <a:cs typeface="+mn-cs"/>
              </a:rPr>
              <a:t>preparing for soft sand:</a:t>
            </a:r>
          </a:p>
          <a:p>
            <a:pPr marL="171450" indent="-171450">
              <a:buFont typeface="Arial" pitchFamily="34" charset="0"/>
              <a:buChar char="•"/>
            </a:pPr>
            <a:r>
              <a:rPr lang="en-AU" sz="1200" kern="1200" dirty="0" smtClean="0">
                <a:solidFill>
                  <a:schemeClr val="tx1"/>
                </a:solidFill>
                <a:latin typeface="+mn-lt"/>
                <a:ea typeface="+mn-ea"/>
                <a:cs typeface="+mn-cs"/>
              </a:rPr>
              <a:t>Lower tyre pressure of 4WD vehicle – as a starting point to increase the grip area of the tread and help keep it on top of the sand instead of sinking (or biting) into it:</a:t>
            </a:r>
          </a:p>
          <a:p>
            <a:pPr marL="628650" lvl="1" indent="-171450">
              <a:buFont typeface="Arial" pitchFamily="34" charset="0"/>
              <a:buChar char="•"/>
            </a:pPr>
            <a:r>
              <a:rPr lang="en-AU" sz="1200" kern="1200" dirty="0" smtClean="0">
                <a:solidFill>
                  <a:schemeClr val="tx1"/>
                </a:solidFill>
                <a:latin typeface="+mn-lt"/>
                <a:ea typeface="+mn-ea"/>
                <a:cs typeface="+mn-cs"/>
              </a:rPr>
              <a:t>Reduce by half standard on-road pressure</a:t>
            </a:r>
          </a:p>
          <a:p>
            <a:pPr marL="628650" lvl="1" indent="-171450">
              <a:buFont typeface="Arial" pitchFamily="34" charset="0"/>
              <a:buChar char="•"/>
            </a:pPr>
            <a:r>
              <a:rPr lang="en-AU" sz="1200" kern="1200" dirty="0" smtClean="0">
                <a:solidFill>
                  <a:schemeClr val="tx1"/>
                </a:solidFill>
                <a:latin typeface="+mn-lt"/>
                <a:ea typeface="+mn-ea"/>
                <a:cs typeface="+mn-cs"/>
              </a:rPr>
              <a:t>Reduce more for softer surfaces </a:t>
            </a:r>
          </a:p>
          <a:p>
            <a:pPr marL="171450" indent="-171450">
              <a:buFont typeface="Arial" pitchFamily="34" charset="0"/>
              <a:buChar char="•"/>
            </a:pPr>
            <a:r>
              <a:rPr lang="en-AU" sz="1200" kern="1200" dirty="0" smtClean="0">
                <a:solidFill>
                  <a:schemeClr val="tx1"/>
                </a:solidFill>
                <a:latin typeface="+mn-lt"/>
                <a:ea typeface="+mn-ea"/>
                <a:cs typeface="+mn-cs"/>
              </a:rPr>
              <a:t>Lower tyre pressure of trailer, where appropriate</a:t>
            </a:r>
          </a:p>
          <a:p>
            <a:pPr marL="171450" indent="-171450">
              <a:buFont typeface="Arial" pitchFamily="34" charset="0"/>
              <a:buChar char="•"/>
            </a:pPr>
            <a:r>
              <a:rPr lang="en-AU" sz="1200" kern="1200" dirty="0" smtClean="0">
                <a:solidFill>
                  <a:schemeClr val="tx1"/>
                </a:solidFill>
                <a:latin typeface="+mn-lt"/>
                <a:ea typeface="+mn-ea"/>
                <a:cs typeface="+mn-cs"/>
              </a:rPr>
              <a:t>Use pressure gauge to determine pressures – so there is a known reference point: write the pressures down as they are obtained and trialled</a:t>
            </a:r>
          </a:p>
          <a:p>
            <a:pPr marL="171450" indent="-171450">
              <a:buFont typeface="Arial" pitchFamily="34" charset="0"/>
              <a:buChar char="•"/>
            </a:pPr>
            <a:r>
              <a:rPr lang="en-AU" sz="1200" kern="1200" dirty="0" smtClean="0">
                <a:solidFill>
                  <a:schemeClr val="tx1"/>
                </a:solidFill>
                <a:latin typeface="+mn-lt"/>
                <a:ea typeface="+mn-ea"/>
                <a:cs typeface="+mn-cs"/>
              </a:rPr>
              <a:t>Be prepared to lower pressures further if first decrease appears insufficient – reduce by approx. two to four psi (15 – 30 kPa) each time. </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pPr>
              <a:buFont typeface="Arial" pitchFamily="34" charset="0"/>
              <a:buNone/>
            </a:pPr>
            <a:r>
              <a:rPr lang="en-AU" sz="1200" u="sng" kern="1200" dirty="0" smtClean="0">
                <a:solidFill>
                  <a:schemeClr val="tx1"/>
                </a:solidFill>
                <a:latin typeface="+mn-lt"/>
                <a:ea typeface="+mn-ea"/>
                <a:cs typeface="+mn-cs"/>
                <a:hlinkClick r:id="rId3"/>
              </a:rPr>
              <a:t>http://www.offroadaussie.com/2013/02/4wd-tips-and-tricks-tyre-pressure/</a:t>
            </a:r>
            <a:r>
              <a:rPr lang="en-AU" sz="1200" kern="1200" dirty="0" smtClean="0">
                <a:solidFill>
                  <a:schemeClr val="tx1"/>
                </a:solidFill>
                <a:latin typeface="+mn-lt"/>
                <a:ea typeface="+mn-ea"/>
                <a:cs typeface="+mn-cs"/>
              </a:rPr>
              <a:t> - 4WD tricks and tips: tyre pressure.</a:t>
            </a:r>
          </a:p>
          <a:p>
            <a:pPr>
              <a:buFont typeface="Arial" pitchFamily="34" charset="0"/>
              <a:buNone/>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1" kern="1200" baseline="0" noProof="0" dirty="0" smtClean="0">
                <a:solidFill>
                  <a:schemeClr val="tx1"/>
                </a:solidFill>
                <a:latin typeface="+mn-lt"/>
                <a:ea typeface="+mn-ea"/>
                <a:cs typeface="+mn-cs"/>
              </a:rPr>
              <a:t>Classroom Activity (2)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lower tyre pressures and provides opportunity for them to do the same.</a:t>
            </a: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2720815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driving on hard sand observing it is a bit like driving on sealed roads:</a:t>
            </a:r>
          </a:p>
          <a:p>
            <a:pPr marL="171450" indent="-171450">
              <a:buFont typeface="Arial" pitchFamily="34" charset="0"/>
              <a:buChar char="•"/>
            </a:pPr>
            <a:r>
              <a:rPr lang="en-AU" sz="1200" kern="1200" dirty="0" smtClean="0">
                <a:solidFill>
                  <a:schemeClr val="tx1"/>
                </a:solidFill>
                <a:latin typeface="+mn-lt"/>
                <a:ea typeface="+mn-ea"/>
                <a:cs typeface="+mn-cs"/>
              </a:rPr>
              <a:t>Reduce tyre pressure slightly – to increase surface area of tread that makes contact with the sand</a:t>
            </a:r>
          </a:p>
          <a:p>
            <a:pPr marL="171450" indent="-171450">
              <a:buFont typeface="Arial" pitchFamily="34" charset="0"/>
              <a:buChar char="•"/>
            </a:pPr>
            <a:r>
              <a:rPr lang="en-AU" sz="1200" kern="1200" dirty="0" smtClean="0">
                <a:solidFill>
                  <a:schemeClr val="tx1"/>
                </a:solidFill>
                <a:latin typeface="+mn-lt"/>
                <a:ea typeface="+mn-ea"/>
                <a:cs typeface="+mn-cs"/>
              </a:rPr>
              <a:t>Engage 4WD – which may require locking in hubs</a:t>
            </a:r>
          </a:p>
          <a:p>
            <a:pPr marL="171450" indent="-171450">
              <a:buFont typeface="Arial" pitchFamily="34" charset="0"/>
              <a:buChar char="•"/>
            </a:pPr>
            <a:r>
              <a:rPr lang="en-AU" sz="1200" kern="1200" dirty="0" smtClean="0">
                <a:solidFill>
                  <a:schemeClr val="tx1"/>
                </a:solidFill>
                <a:latin typeface="+mn-lt"/>
                <a:ea typeface="+mn-ea"/>
                <a:cs typeface="+mn-cs"/>
              </a:rPr>
              <a:t>Select High range</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Drive off choosing gear/s appropriate to conditions, weight of vehicle, route being used and desired speed of travel</a:t>
            </a:r>
          </a:p>
          <a:p>
            <a:pPr marL="171450" indent="-171450">
              <a:buFont typeface="Arial" pitchFamily="34" charset="0"/>
              <a:buChar char="•"/>
            </a:pPr>
            <a:r>
              <a:rPr lang="en-AU" sz="1200" kern="1200" dirty="0" smtClean="0">
                <a:solidFill>
                  <a:schemeClr val="tx1"/>
                </a:solidFill>
                <a:latin typeface="+mn-lt"/>
                <a:ea typeface="+mn-ea"/>
                <a:cs typeface="+mn-cs"/>
              </a:rPr>
              <a:t>Travel at a reduced speed – that is, slower than on the open highway</a:t>
            </a:r>
          </a:p>
          <a:p>
            <a:pPr marL="171450" indent="-171450">
              <a:buFont typeface="Arial" pitchFamily="34" charset="0"/>
              <a:buChar char="•"/>
            </a:pPr>
            <a:r>
              <a:rPr lang="en-AU" sz="1200" kern="1200" dirty="0" smtClean="0">
                <a:solidFill>
                  <a:schemeClr val="tx1"/>
                </a:solidFill>
                <a:latin typeface="+mn-lt"/>
                <a:ea typeface="+mn-ea"/>
                <a:cs typeface="+mn-cs"/>
              </a:rPr>
              <a:t>Avoid contact with salt water wherever possible – to prevent potential of vehicle being damaged by rust: always wash any vehicle as soon as possible that has been contacted by salt water</a:t>
            </a:r>
          </a:p>
          <a:p>
            <a:pPr marL="171450" indent="-171450">
              <a:buFont typeface="Arial" pitchFamily="34" charset="0"/>
              <a:buChar char="•"/>
            </a:pPr>
            <a:r>
              <a:rPr lang="en-AU" sz="1200" kern="1200" dirty="0" smtClean="0">
                <a:solidFill>
                  <a:schemeClr val="tx1"/>
                </a:solidFill>
                <a:latin typeface="+mn-lt"/>
                <a:ea typeface="+mn-ea"/>
                <a:cs typeface="+mn-cs"/>
              </a:rPr>
              <a:t>Re-inflate tyres when sand driving is completed – if they have been tyre pressure was initially reduced. </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http://4xoverland.com/how-do-4x4s-work/4x4-driving/</a:t>
            </a:r>
            <a:r>
              <a:rPr lang="en-AU" sz="1200" kern="1200" dirty="0" smtClean="0">
                <a:solidFill>
                  <a:schemeClr val="tx1"/>
                </a:solidFill>
                <a:latin typeface="+mn-lt"/>
                <a:ea typeface="+mn-ea"/>
                <a:cs typeface="+mn-cs"/>
              </a:rPr>
              <a:t> - How to drive a 4x4 off road [Sand driving]</a:t>
            </a:r>
          </a:p>
          <a:p>
            <a:r>
              <a:rPr lang="en-AU" sz="1200" u="sng" kern="1200" dirty="0" smtClean="0">
                <a:solidFill>
                  <a:schemeClr val="tx1"/>
                </a:solidFill>
                <a:latin typeface="+mn-lt"/>
                <a:ea typeface="+mn-ea"/>
                <a:cs typeface="+mn-cs"/>
                <a:hlinkClick r:id="rId4"/>
              </a:rPr>
              <a:t>https://www.youtube.com/watch?v=iT0Zph4h-L4</a:t>
            </a:r>
            <a:r>
              <a:rPr lang="en-AU" sz="1200" kern="1200" dirty="0" smtClean="0">
                <a:solidFill>
                  <a:schemeClr val="tx1"/>
                </a:solidFill>
                <a:latin typeface="+mn-lt"/>
                <a:ea typeface="+mn-ea"/>
                <a:cs typeface="+mn-cs"/>
              </a:rPr>
              <a:t> – ExpeditionOz 4WD Skills: Sand driving</a:t>
            </a:r>
          </a:p>
          <a:p>
            <a:pPr>
              <a:buFont typeface="Arial" pitchFamily="34" charset="0"/>
              <a:buNone/>
            </a:pPr>
            <a:endParaRPr lang="en-AU" sz="1200" b="1" kern="1200" baseline="0" noProof="0" dirty="0" smtClean="0">
              <a:solidFill>
                <a:schemeClr val="tx1"/>
              </a:solidFill>
              <a:latin typeface="+mn-lt"/>
              <a:ea typeface="+mn-ea"/>
              <a:cs typeface="+mn-cs"/>
            </a:endParaRPr>
          </a:p>
          <a:p>
            <a:pPr>
              <a:buFont typeface="Arial" pitchFamily="34" charset="0"/>
              <a:buNone/>
            </a:pPr>
            <a:r>
              <a:rPr lang="en-AU" sz="1200" b="1" kern="1200" baseline="0" noProof="0" dirty="0" smtClean="0">
                <a:solidFill>
                  <a:schemeClr val="tx1"/>
                </a:solidFill>
                <a:latin typeface="+mn-lt"/>
                <a:ea typeface="+mn-ea"/>
                <a:cs typeface="+mn-cs"/>
              </a:rPr>
              <a:t>Classroom Activity (2)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drive on hard sand and provides opportunity for them to do the same.</a:t>
            </a:r>
            <a:endParaRPr lang="en-US" b="0"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42090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driving on soft sand:</a:t>
            </a:r>
          </a:p>
          <a:p>
            <a:pPr marL="171450" indent="-171450">
              <a:buFont typeface="Arial" pitchFamily="34" charset="0"/>
              <a:buChar char="•"/>
            </a:pPr>
            <a:r>
              <a:rPr lang="en-AU" sz="1200" kern="1200" dirty="0" smtClean="0">
                <a:solidFill>
                  <a:schemeClr val="tx1"/>
                </a:solidFill>
                <a:latin typeface="+mn-lt"/>
                <a:ea typeface="+mn-ea"/>
                <a:cs typeface="+mn-cs"/>
              </a:rPr>
              <a:t>Deflate tyres – to around 16 psi/110kPa or lower depending on sand depth/condition</a:t>
            </a:r>
          </a:p>
          <a:p>
            <a:pPr marL="171450" indent="-171450">
              <a:buFont typeface="Arial" pitchFamily="34" charset="0"/>
              <a:buChar char="•"/>
            </a:pPr>
            <a:r>
              <a:rPr lang="en-AU" sz="1200" kern="1200" dirty="0" smtClean="0">
                <a:solidFill>
                  <a:schemeClr val="tx1"/>
                </a:solidFill>
                <a:latin typeface="+mn-lt"/>
                <a:ea typeface="+mn-ea"/>
                <a:cs typeface="+mn-cs"/>
              </a:rPr>
              <a:t>Attach sand/warning flags to the vehicle if driving in areas where there are hills/dunes – to hep indicate location of the vehicle to others in the area</a:t>
            </a:r>
          </a:p>
          <a:p>
            <a:pPr marL="171450" indent="-171450">
              <a:buFont typeface="Arial" pitchFamily="34" charset="0"/>
              <a:buChar char="•"/>
            </a:pPr>
            <a:r>
              <a:rPr lang="en-AU" sz="1200" kern="1200" dirty="0" smtClean="0">
                <a:solidFill>
                  <a:schemeClr val="tx1"/>
                </a:solidFill>
                <a:latin typeface="+mn-lt"/>
                <a:ea typeface="+mn-ea"/>
                <a:cs typeface="+mn-cs"/>
              </a:rPr>
              <a:t>Check recovery gear is available – to use should the vehicle become stuck</a:t>
            </a:r>
          </a:p>
          <a:p>
            <a:pPr marL="171450" indent="-171450">
              <a:buFont typeface="Arial" pitchFamily="34" charset="0"/>
              <a:buChar char="•"/>
            </a:pPr>
            <a:r>
              <a:rPr lang="en-AU" sz="1200" kern="1200" dirty="0" smtClean="0">
                <a:solidFill>
                  <a:schemeClr val="tx1"/>
                </a:solidFill>
                <a:latin typeface="+mn-lt"/>
                <a:ea typeface="+mn-ea"/>
                <a:cs typeface="+mn-cs"/>
              </a:rPr>
              <a:t>Engage 4WD – which may require locking in hubs</a:t>
            </a:r>
          </a:p>
          <a:p>
            <a:pPr marL="171450" indent="-171450">
              <a:buFont typeface="Arial" pitchFamily="34" charset="0"/>
              <a:buChar char="•"/>
            </a:pPr>
            <a:r>
              <a:rPr lang="en-AU" sz="1200" kern="1200" dirty="0" smtClean="0">
                <a:solidFill>
                  <a:schemeClr val="tx1"/>
                </a:solidFill>
                <a:latin typeface="+mn-lt"/>
                <a:ea typeface="+mn-ea"/>
                <a:cs typeface="+mn-cs"/>
              </a:rPr>
              <a:t>Select Low range – second gear is a good starting point.</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https://www.youtube.com/watch?v=I2bA6aC4g50</a:t>
            </a:r>
            <a:r>
              <a:rPr lang="en-AU" sz="1200" kern="1200" dirty="0" smtClean="0">
                <a:solidFill>
                  <a:schemeClr val="tx1"/>
                </a:solidFill>
                <a:latin typeface="+mn-lt"/>
                <a:ea typeface="+mn-ea"/>
                <a:cs typeface="+mn-cs"/>
              </a:rPr>
              <a:t> – Soft sand driving</a:t>
            </a:r>
          </a:p>
          <a:p>
            <a:r>
              <a:rPr lang="en-AU" sz="1200" u="sng" kern="1200" dirty="0" smtClean="0">
                <a:solidFill>
                  <a:schemeClr val="tx1"/>
                </a:solidFill>
                <a:latin typeface="+mn-lt"/>
                <a:ea typeface="+mn-ea"/>
                <a:cs typeface="+mn-cs"/>
                <a:hlinkClick r:id="rId4"/>
              </a:rPr>
              <a:t>https://www.youtube.com/watch?v=KHI_cMrvsrM</a:t>
            </a:r>
            <a:r>
              <a:rPr lang="en-AU" sz="1200" kern="1200" dirty="0" smtClean="0">
                <a:solidFill>
                  <a:schemeClr val="tx1"/>
                </a:solidFill>
                <a:latin typeface="+mn-lt"/>
                <a:ea typeface="+mn-ea"/>
                <a:cs typeface="+mn-cs"/>
              </a:rPr>
              <a:t> – 4x4: How to drive on sand tracks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1321373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driving on soft sand:</a:t>
            </a:r>
          </a:p>
          <a:p>
            <a:pPr marL="171450" indent="-171450">
              <a:buFont typeface="Arial" pitchFamily="34" charset="0"/>
              <a:buChar char="•"/>
            </a:pPr>
            <a:r>
              <a:rPr lang="en-AU" sz="1200" kern="1200" dirty="0" smtClean="0">
                <a:solidFill>
                  <a:schemeClr val="tx1"/>
                </a:solidFill>
                <a:latin typeface="+mn-lt"/>
                <a:ea typeface="+mn-ea"/>
                <a:cs typeface="+mn-cs"/>
              </a:rPr>
              <a:t>Start slowly – to avoid wheel spin and digging in</a:t>
            </a:r>
          </a:p>
          <a:p>
            <a:pPr marL="171450" indent="-171450">
              <a:buFont typeface="Arial" pitchFamily="34" charset="0"/>
              <a:buChar char="•"/>
            </a:pPr>
            <a:r>
              <a:rPr lang="en-AU" sz="1200" kern="1200" dirty="0" smtClean="0">
                <a:solidFill>
                  <a:schemeClr val="tx1"/>
                </a:solidFill>
                <a:latin typeface="+mn-lt"/>
                <a:ea typeface="+mn-ea"/>
                <a:cs typeface="+mn-cs"/>
              </a:rPr>
              <a:t>Drive slowly but maintain momentum</a:t>
            </a:r>
          </a:p>
          <a:p>
            <a:pPr marL="171450" indent="-171450">
              <a:buFont typeface="Arial" pitchFamily="34" charset="0"/>
              <a:buChar char="•"/>
            </a:pPr>
            <a:r>
              <a:rPr lang="en-AU" sz="1200" kern="1200" dirty="0" smtClean="0">
                <a:solidFill>
                  <a:schemeClr val="tx1"/>
                </a:solidFill>
                <a:latin typeface="+mn-lt"/>
                <a:ea typeface="+mn-ea"/>
                <a:cs typeface="+mn-cs"/>
              </a:rPr>
              <a:t>Avoid sudden turns</a:t>
            </a:r>
          </a:p>
          <a:p>
            <a:pPr marL="171450" indent="-171450">
              <a:buFont typeface="Arial" pitchFamily="34" charset="0"/>
              <a:buChar char="•"/>
            </a:pPr>
            <a:r>
              <a:rPr lang="en-AU" sz="1200" kern="1200" dirty="0" smtClean="0">
                <a:solidFill>
                  <a:schemeClr val="tx1"/>
                </a:solidFill>
                <a:latin typeface="+mn-lt"/>
                <a:ea typeface="+mn-ea"/>
                <a:cs typeface="+mn-cs"/>
              </a:rPr>
              <a:t>Drive in established tracks – where the sand will be more compacted by the vehicles which have previously used that route</a:t>
            </a:r>
          </a:p>
          <a:p>
            <a:pPr marL="171450" indent="-171450">
              <a:buFont typeface="Arial" pitchFamily="34" charset="0"/>
              <a:buChar char="•"/>
            </a:pPr>
            <a:r>
              <a:rPr lang="en-AU" sz="1200" kern="1200" dirty="0" smtClean="0">
                <a:solidFill>
                  <a:schemeClr val="tx1"/>
                </a:solidFill>
                <a:latin typeface="+mn-lt"/>
                <a:ea typeface="+mn-ea"/>
                <a:cs typeface="+mn-cs"/>
              </a:rPr>
              <a:t>Be prepared for less feedback from the steering wheel – due to the depth of the sand.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1" baseline="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Classroom Activity – Internet research </a:t>
            </a:r>
          </a:p>
          <a:p>
            <a:r>
              <a:rPr lang="en-AU" sz="1200" u="sng" kern="1200" dirty="0" smtClean="0">
                <a:solidFill>
                  <a:schemeClr val="tx1"/>
                </a:solidFill>
                <a:latin typeface="+mn-lt"/>
                <a:ea typeface="+mn-ea"/>
                <a:cs typeface="+mn-cs"/>
                <a:hlinkClick r:id="rId3"/>
              </a:rPr>
              <a:t>http://www.outbackcrossing.com.au/FourWheelDrive/How_To_Drive_0n_Sand.shtml</a:t>
            </a:r>
            <a:r>
              <a:rPr lang="en-AU" sz="1200" kern="1200" dirty="0" smtClean="0">
                <a:solidFill>
                  <a:schemeClr val="tx1"/>
                </a:solidFill>
                <a:latin typeface="+mn-lt"/>
                <a:ea typeface="+mn-ea"/>
                <a:cs typeface="+mn-cs"/>
              </a:rPr>
              <a:t> - How to drive on sand</a:t>
            </a:r>
          </a:p>
          <a:p>
            <a:r>
              <a:rPr lang="en-AU" sz="1200" u="sng" kern="1200" dirty="0" smtClean="0">
                <a:solidFill>
                  <a:schemeClr val="tx1"/>
                </a:solidFill>
                <a:latin typeface="+mn-lt"/>
                <a:ea typeface="+mn-ea"/>
                <a:cs typeface="+mn-cs"/>
                <a:hlinkClick r:id="rId4"/>
              </a:rPr>
              <a:t>https://www.youtube.com/watch?v=lnt_D9zKjiY</a:t>
            </a:r>
            <a:r>
              <a:rPr lang="en-AU" sz="1200" kern="1200" dirty="0" smtClean="0">
                <a:solidFill>
                  <a:schemeClr val="tx1"/>
                </a:solidFill>
                <a:latin typeface="+mn-lt"/>
                <a:ea typeface="+mn-ea"/>
                <a:cs typeface="+mn-cs"/>
              </a:rPr>
              <a:t> – Tips for beginners: Driving on sand, dunes and beaches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499896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driving on soft sand:</a:t>
            </a:r>
          </a:p>
          <a:p>
            <a:pPr marL="171450" indent="-171450">
              <a:buFont typeface="Arial" pitchFamily="34" charset="0"/>
              <a:buChar char="•"/>
            </a:pPr>
            <a:r>
              <a:rPr lang="en-AU" sz="1200" kern="1200" dirty="0" smtClean="0">
                <a:solidFill>
                  <a:schemeClr val="tx1"/>
                </a:solidFill>
                <a:latin typeface="+mn-lt"/>
                <a:ea typeface="+mn-ea"/>
                <a:cs typeface="+mn-cs"/>
              </a:rPr>
              <a:t>Approach any dunes head on/square on if possible – to avoid potential for roll-over</a:t>
            </a:r>
          </a:p>
          <a:p>
            <a:pPr marL="171450" indent="-171450">
              <a:buFont typeface="Arial" pitchFamily="34" charset="0"/>
              <a:buChar char="•"/>
            </a:pPr>
            <a:r>
              <a:rPr lang="en-AU" sz="1200" kern="1200" dirty="0" smtClean="0">
                <a:solidFill>
                  <a:schemeClr val="tx1"/>
                </a:solidFill>
                <a:latin typeface="+mn-lt"/>
                <a:ea typeface="+mn-ea"/>
                <a:cs typeface="+mn-cs"/>
              </a:rPr>
              <a:t>Stay alert for oncoming traffic over the top of dunes</a:t>
            </a:r>
          </a:p>
          <a:p>
            <a:pPr marL="171450" indent="-171450">
              <a:buFont typeface="Arial" pitchFamily="34" charset="0"/>
              <a:buChar char="•"/>
            </a:pPr>
            <a:r>
              <a:rPr lang="en-AU" sz="1200" kern="1200" dirty="0" smtClean="0">
                <a:solidFill>
                  <a:schemeClr val="tx1"/>
                </a:solidFill>
                <a:latin typeface="+mn-lt"/>
                <a:ea typeface="+mn-ea"/>
                <a:cs typeface="+mn-cs"/>
              </a:rPr>
              <a:t>Never assume the drop off on the other side of a dune is the same as the climb up the dune – drop-offs on the other side can be substantially different due to wind action which may have created a sheer fall/drop away on the other side </a:t>
            </a:r>
          </a:p>
          <a:p>
            <a:pPr marL="171450" indent="-171450">
              <a:buFont typeface="Arial" pitchFamily="34" charset="0"/>
              <a:buChar char="•"/>
            </a:pPr>
            <a:r>
              <a:rPr lang="en-AU" sz="1200" kern="1200" dirty="0" smtClean="0">
                <a:solidFill>
                  <a:schemeClr val="tx1"/>
                </a:solidFill>
                <a:latin typeface="+mn-lt"/>
                <a:ea typeface="+mn-ea"/>
                <a:cs typeface="+mn-cs"/>
              </a:rPr>
              <a:t>Use the brake gently – to avoid sand building up in front of the tyres</a:t>
            </a:r>
          </a:p>
          <a:p>
            <a:pPr marL="171450" indent="-171450">
              <a:buFont typeface="Arial" pitchFamily="34" charset="0"/>
              <a:buChar char="•"/>
            </a:pPr>
            <a:r>
              <a:rPr lang="en-AU" sz="1200" kern="1200" dirty="0" smtClean="0">
                <a:solidFill>
                  <a:schemeClr val="tx1"/>
                </a:solidFill>
                <a:latin typeface="+mn-lt"/>
                <a:ea typeface="+mn-ea"/>
                <a:cs typeface="+mn-cs"/>
              </a:rPr>
              <a:t>Be prepared to reverse back over the tracks made by the vehicle if stuck – as these will be more compacted and may provide sufficient traction to develop the required traction and momentum to move forward</a:t>
            </a:r>
          </a:p>
          <a:p>
            <a:pPr marL="171450" indent="-171450">
              <a:buFont typeface="Arial" pitchFamily="34" charset="0"/>
              <a:buChar char="•"/>
            </a:pPr>
            <a:r>
              <a:rPr lang="en-AU" sz="1200" kern="1200" dirty="0" smtClean="0">
                <a:solidFill>
                  <a:schemeClr val="tx1"/>
                </a:solidFill>
                <a:latin typeface="+mn-lt"/>
                <a:ea typeface="+mn-ea"/>
                <a:cs typeface="+mn-cs"/>
              </a:rPr>
              <a:t>Re-inflate tyres when sand driving is completed – if they have been tyre pressure was initially reduced.</a:t>
            </a:r>
          </a:p>
          <a:p>
            <a:pPr>
              <a:buFont typeface="Arial" pitchFamily="34" charset="0"/>
              <a:buNone/>
            </a:pPr>
            <a:endParaRPr lang="en-AU"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drive on soft sand and provides opportunity for them to do the same.</a:t>
            </a:r>
            <a:endParaRPr lang="en-US" b="0"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7362720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base information for driving rocky terrain:</a:t>
            </a:r>
          </a:p>
          <a:p>
            <a:pPr marL="171450" indent="-171450">
              <a:buFont typeface="Arial" pitchFamily="34" charset="0"/>
              <a:buChar char="•"/>
            </a:pPr>
            <a:r>
              <a:rPr lang="en-AU" sz="1200" kern="1200" dirty="0" smtClean="0">
                <a:solidFill>
                  <a:schemeClr val="tx1"/>
                </a:solidFill>
                <a:latin typeface="+mn-lt"/>
                <a:ea typeface="+mn-ea"/>
                <a:cs typeface="+mn-cs"/>
              </a:rPr>
              <a:t>In general, rocky terrain should be avoided wherever possible as it poses lots of risks in terms of:</a:t>
            </a:r>
          </a:p>
          <a:p>
            <a:pPr marL="628650" lvl="1" indent="-171450">
              <a:buFont typeface="Arial" pitchFamily="34" charset="0"/>
              <a:buChar char="•"/>
            </a:pPr>
            <a:r>
              <a:rPr lang="en-AU" sz="1200" kern="1200" dirty="0" smtClean="0">
                <a:solidFill>
                  <a:schemeClr val="tx1"/>
                </a:solidFill>
                <a:latin typeface="+mn-lt"/>
                <a:ea typeface="+mn-ea"/>
                <a:cs typeface="+mn-cs"/>
              </a:rPr>
              <a:t>Uncomfortable ride for passengers</a:t>
            </a:r>
          </a:p>
          <a:p>
            <a:pPr marL="628650" lvl="1" indent="-171450">
              <a:buFont typeface="Arial" pitchFamily="34" charset="0"/>
              <a:buChar char="•"/>
            </a:pPr>
            <a:r>
              <a:rPr lang="en-AU" sz="1200" kern="1200" dirty="0" smtClean="0">
                <a:solidFill>
                  <a:schemeClr val="tx1"/>
                </a:solidFill>
                <a:latin typeface="+mn-lt"/>
                <a:ea typeface="+mn-ea"/>
                <a:cs typeface="+mn-cs"/>
              </a:rPr>
              <a:t>Slow travel times – which may negatively impact itinerary</a:t>
            </a:r>
          </a:p>
          <a:p>
            <a:pPr marL="628650" lvl="1" indent="-171450">
              <a:buFont typeface="Arial" pitchFamily="34" charset="0"/>
              <a:buChar char="•"/>
            </a:pPr>
            <a:r>
              <a:rPr lang="en-AU" sz="1200" kern="1200" dirty="0" smtClean="0">
                <a:solidFill>
                  <a:schemeClr val="tx1"/>
                </a:solidFill>
                <a:latin typeface="+mn-lt"/>
                <a:ea typeface="+mn-ea"/>
                <a:cs typeface="+mn-cs"/>
              </a:rPr>
              <a:t>Punctures</a:t>
            </a:r>
          </a:p>
          <a:p>
            <a:pPr marL="628650" lvl="1" indent="-171450">
              <a:buFont typeface="Arial" pitchFamily="34" charset="0"/>
              <a:buChar char="•"/>
            </a:pPr>
            <a:r>
              <a:rPr lang="en-AU" sz="1200" kern="1200" dirty="0" smtClean="0">
                <a:solidFill>
                  <a:schemeClr val="tx1"/>
                </a:solidFill>
                <a:latin typeface="+mn-lt"/>
                <a:ea typeface="+mn-ea"/>
                <a:cs typeface="+mn-cs"/>
              </a:rPr>
              <a:t>Damage to the vehicle especially the chassis and sub-structure/under-side parts of the vehicle such as diffs and fuel tanks.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3354793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driving on rocky terrain:</a:t>
            </a:r>
          </a:p>
          <a:p>
            <a:pPr marL="171450" indent="-171450">
              <a:buFont typeface="Arial" pitchFamily="34" charset="0"/>
              <a:buChar char="•"/>
            </a:pPr>
            <a:r>
              <a:rPr lang="en-AU" sz="1200" kern="1200" dirty="0" smtClean="0">
                <a:solidFill>
                  <a:schemeClr val="tx1"/>
                </a:solidFill>
                <a:latin typeface="+mn-lt"/>
                <a:ea typeface="+mn-ea"/>
                <a:cs typeface="+mn-cs"/>
              </a:rPr>
              <a:t>Inspect the path – as described previously</a:t>
            </a:r>
          </a:p>
          <a:p>
            <a:pPr marL="171450" indent="-171450">
              <a:buFont typeface="Arial" pitchFamily="34" charset="0"/>
              <a:buChar char="•"/>
            </a:pPr>
            <a:r>
              <a:rPr lang="en-AU" sz="1200" kern="1200" dirty="0" smtClean="0">
                <a:solidFill>
                  <a:schemeClr val="tx1"/>
                </a:solidFill>
                <a:latin typeface="+mn-lt"/>
                <a:ea typeface="+mn-ea"/>
                <a:cs typeface="+mn-cs"/>
              </a:rPr>
              <a:t>Reduce pressures in tyres</a:t>
            </a:r>
          </a:p>
          <a:p>
            <a:pPr marL="171450" indent="-171450">
              <a:buFont typeface="Arial" pitchFamily="34" charset="0"/>
              <a:buChar char="•"/>
            </a:pPr>
            <a:r>
              <a:rPr lang="en-AU" sz="1200" kern="1200" dirty="0" smtClean="0">
                <a:solidFill>
                  <a:schemeClr val="tx1"/>
                </a:solidFill>
                <a:latin typeface="+mn-lt"/>
                <a:ea typeface="+mn-ea"/>
                <a:cs typeface="+mn-cs"/>
              </a:rPr>
              <a:t>Engage 4WD – which may require locking in hubs</a:t>
            </a:r>
          </a:p>
          <a:p>
            <a:pPr marL="171450" indent="-171450">
              <a:buFont typeface="Arial" pitchFamily="34" charset="0"/>
              <a:buChar char="•"/>
            </a:pPr>
            <a:r>
              <a:rPr lang="en-AU" sz="1200" kern="1200" dirty="0" smtClean="0">
                <a:solidFill>
                  <a:schemeClr val="tx1"/>
                </a:solidFill>
                <a:latin typeface="+mn-lt"/>
                <a:ea typeface="+mn-ea"/>
                <a:cs typeface="+mn-cs"/>
              </a:rPr>
              <a:t>Engage diff locks – if fitted and if necessary</a:t>
            </a:r>
          </a:p>
          <a:p>
            <a:pPr marL="171450" indent="-171450">
              <a:buFont typeface="Arial" pitchFamily="34" charset="0"/>
              <a:buChar char="•"/>
            </a:pPr>
            <a:r>
              <a:rPr lang="en-AU" sz="1200" kern="1200" dirty="0" smtClean="0">
                <a:solidFill>
                  <a:schemeClr val="tx1"/>
                </a:solidFill>
                <a:latin typeface="+mn-lt"/>
                <a:ea typeface="+mn-ea"/>
                <a:cs typeface="+mn-cs"/>
              </a:rPr>
              <a:t>Turn off air conditioner – to avoid inconsistent engine acceleration</a:t>
            </a:r>
          </a:p>
          <a:p>
            <a:pPr marL="171450" indent="-171450">
              <a:buFont typeface="Arial" pitchFamily="34" charset="0"/>
              <a:buChar char="•"/>
            </a:pPr>
            <a:r>
              <a:rPr lang="en-AU" sz="1200" kern="1200" dirty="0" smtClean="0">
                <a:solidFill>
                  <a:schemeClr val="tx1"/>
                </a:solidFill>
                <a:latin typeface="+mn-lt"/>
                <a:ea typeface="+mn-ea"/>
                <a:cs typeface="+mn-cs"/>
              </a:rPr>
              <a:t>Begin in a manner that reflects the findings of observation – which may require, as appropriate:</a:t>
            </a:r>
          </a:p>
          <a:p>
            <a:pPr marL="628650" lvl="1" indent="-171450">
              <a:buFont typeface="Arial" pitchFamily="34" charset="0"/>
              <a:buChar char="•"/>
            </a:pPr>
            <a:r>
              <a:rPr lang="en-AU" sz="1200" kern="1200" dirty="0" smtClean="0">
                <a:solidFill>
                  <a:schemeClr val="tx1"/>
                </a:solidFill>
                <a:latin typeface="+mn-lt"/>
                <a:ea typeface="+mn-ea"/>
                <a:cs typeface="+mn-cs"/>
              </a:rPr>
              <a:t>Selecting Low range first or second gear </a:t>
            </a:r>
          </a:p>
          <a:p>
            <a:pPr marL="628650" lvl="1" indent="-171450">
              <a:buFont typeface="Arial" pitchFamily="34" charset="0"/>
              <a:buChar char="•"/>
            </a:pPr>
            <a:r>
              <a:rPr lang="en-AU" sz="1200" kern="1200" dirty="0" smtClean="0">
                <a:solidFill>
                  <a:schemeClr val="tx1"/>
                </a:solidFill>
                <a:latin typeface="+mn-lt"/>
                <a:ea typeface="+mn-ea"/>
                <a:cs typeface="+mn-cs"/>
              </a:rPr>
              <a:t>Driving slowly (‘crawling’) and smoothly to avoid wheel spin</a:t>
            </a:r>
          </a:p>
          <a:p>
            <a:pPr marL="628650" lvl="1" indent="-171450">
              <a:buFont typeface="Arial" pitchFamily="34" charset="0"/>
              <a:buChar char="•"/>
            </a:pPr>
            <a:r>
              <a:rPr lang="en-AU" sz="1200" kern="1200" dirty="0" smtClean="0">
                <a:solidFill>
                  <a:schemeClr val="tx1"/>
                </a:solidFill>
                <a:latin typeface="+mn-lt"/>
                <a:ea typeface="+mn-ea"/>
                <a:cs typeface="+mn-cs"/>
              </a:rPr>
              <a:t>Intelligently choosing the path to take to avoid traps, rocks and beaching of the vehicle.</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http://www.4-wheeling-in-western-australia.com/rock-crawling.html</a:t>
            </a:r>
            <a:r>
              <a:rPr lang="en-AU" sz="1200" kern="1200" dirty="0" smtClean="0">
                <a:solidFill>
                  <a:schemeClr val="tx1"/>
                </a:solidFill>
                <a:latin typeface="+mn-lt"/>
                <a:ea typeface="+mn-ea"/>
                <a:cs typeface="+mn-cs"/>
              </a:rPr>
              <a:t> - Rock crawling and rocky obstacles (including viewing of all videos linked to this site)</a:t>
            </a:r>
          </a:p>
          <a:p>
            <a:r>
              <a:rPr lang="en-AU" sz="1200" u="sng" kern="1200" dirty="0" smtClean="0">
                <a:solidFill>
                  <a:schemeClr val="tx1"/>
                </a:solidFill>
                <a:latin typeface="+mn-lt"/>
                <a:ea typeface="+mn-ea"/>
                <a:cs typeface="+mn-cs"/>
                <a:hlinkClick r:id="rId4"/>
              </a:rPr>
              <a:t>http://www.iventureclub.com.au/4x4-tips/article.html?k=1ImWwpAqbd0</a:t>
            </a:r>
            <a:r>
              <a:rPr lang="en-AU" sz="1200" kern="1200" dirty="0" smtClean="0">
                <a:solidFill>
                  <a:schemeClr val="tx1"/>
                </a:solidFill>
                <a:latin typeface="+mn-lt"/>
                <a:ea typeface="+mn-ea"/>
                <a:cs typeface="+mn-cs"/>
              </a:rPr>
              <a:t> – 4x4 tip: Rocks and ruts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9773958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driving on rocky terrain:</a:t>
            </a:r>
          </a:p>
          <a:p>
            <a:pPr marL="171450" indent="-171450">
              <a:buFont typeface="Arial" pitchFamily="34" charset="0"/>
              <a:buChar char="•"/>
            </a:pPr>
            <a:r>
              <a:rPr lang="en-AU" sz="1200" kern="1200" dirty="0" smtClean="0">
                <a:solidFill>
                  <a:schemeClr val="tx1"/>
                </a:solidFill>
                <a:latin typeface="+mn-lt"/>
                <a:ea typeface="+mn-ea"/>
                <a:cs typeface="+mn-cs"/>
              </a:rPr>
              <a:t>Be prepared to ask passengers to get out of the vehicle – if patches of the route are dangerous</a:t>
            </a:r>
          </a:p>
          <a:p>
            <a:pPr marL="171450" indent="-171450">
              <a:buFont typeface="Arial" pitchFamily="34" charset="0"/>
              <a:buChar char="•"/>
            </a:pPr>
            <a:r>
              <a:rPr lang="en-AU" sz="1200" kern="1200" dirty="0" smtClean="0">
                <a:solidFill>
                  <a:schemeClr val="tx1"/>
                </a:solidFill>
                <a:latin typeface="+mn-lt"/>
                <a:ea typeface="+mn-ea"/>
                <a:cs typeface="+mn-cs"/>
              </a:rPr>
              <a:t>Be prepared to ask passengers to act as spotters – to assist with providing directions on where to position wheels</a:t>
            </a:r>
          </a:p>
          <a:p>
            <a:pPr marL="171450" indent="-171450">
              <a:buFont typeface="Arial" pitchFamily="34" charset="0"/>
              <a:buChar char="•"/>
            </a:pPr>
            <a:r>
              <a:rPr lang="en-AU" sz="1200" kern="1200" dirty="0" smtClean="0">
                <a:solidFill>
                  <a:schemeClr val="tx1"/>
                </a:solidFill>
                <a:latin typeface="+mn-lt"/>
                <a:ea typeface="+mn-ea"/>
                <a:cs typeface="+mn-cs"/>
              </a:rPr>
              <a:t>Try to stay on the high parts – straddling any ruts which may be present</a:t>
            </a:r>
          </a:p>
          <a:p>
            <a:pPr marL="171450" indent="-171450">
              <a:buFont typeface="Arial" pitchFamily="34" charset="0"/>
              <a:buChar char="•"/>
            </a:pPr>
            <a:r>
              <a:rPr lang="en-AU" sz="1200" kern="1200" dirty="0" smtClean="0">
                <a:solidFill>
                  <a:schemeClr val="tx1"/>
                </a:solidFill>
                <a:latin typeface="+mn-lt"/>
                <a:ea typeface="+mn-ea"/>
                <a:cs typeface="+mn-cs"/>
              </a:rPr>
              <a:t>Re-inflate tyres when the rocky terrain has been negotiated.</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http://www.toughtoys.com.au/how-to-4x4/driving-rocky-terrain/</a:t>
            </a:r>
            <a:r>
              <a:rPr lang="en-AU" sz="1200" kern="1200" dirty="0" smtClean="0">
                <a:solidFill>
                  <a:schemeClr val="tx1"/>
                </a:solidFill>
                <a:latin typeface="+mn-lt"/>
                <a:ea typeface="+mn-ea"/>
                <a:cs typeface="+mn-cs"/>
              </a:rPr>
              <a:t> - Driving rocky terrain.</a:t>
            </a:r>
          </a:p>
          <a:p>
            <a:pPr>
              <a:buFont typeface="Arial" pitchFamily="34" charset="0"/>
              <a:buNone/>
            </a:pPr>
            <a:endParaRPr lang="en-US" b="0" baseline="0"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(2)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drive on rocky terrain and provides opportunity for them to do the same.</a:t>
            </a:r>
            <a:endParaRPr lang="en-US" b="0" baseline="0" noProof="0" dirty="0" smtClean="0"/>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471403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discuses preparation for water crossings:</a:t>
            </a:r>
          </a:p>
          <a:p>
            <a:pPr marL="171450" indent="-171450">
              <a:buFont typeface="Arial" pitchFamily="34" charset="0"/>
              <a:buChar char="•"/>
            </a:pPr>
            <a:r>
              <a:rPr lang="en-AU" sz="1200" kern="1200" dirty="0" smtClean="0">
                <a:solidFill>
                  <a:schemeClr val="tx1"/>
                </a:solidFill>
                <a:latin typeface="+mn-lt"/>
                <a:ea typeface="+mn-ea"/>
                <a:cs typeface="+mn-cs"/>
              </a:rPr>
              <a:t>Know the vehicle and how deep water the water can be before the vehicle begins to float</a:t>
            </a:r>
          </a:p>
          <a:p>
            <a:pPr marL="171450" indent="-171450">
              <a:buFont typeface="Arial" pitchFamily="34" charset="0"/>
              <a:buChar char="•"/>
            </a:pPr>
            <a:r>
              <a:rPr lang="en-AU" sz="1200" kern="1200" dirty="0" smtClean="0">
                <a:solidFill>
                  <a:schemeClr val="tx1"/>
                </a:solidFill>
                <a:latin typeface="+mn-lt"/>
                <a:ea typeface="+mn-ea"/>
                <a:cs typeface="+mn-cs"/>
              </a:rPr>
              <a:t>Know how fast the water is flowing – to determine safety and work out speed required and angle of attack </a:t>
            </a:r>
          </a:p>
          <a:p>
            <a:pPr marL="171450" indent="-171450">
              <a:buFont typeface="Arial" pitchFamily="34" charset="0"/>
              <a:buChar char="•"/>
            </a:pPr>
            <a:r>
              <a:rPr lang="en-AU" sz="1200" kern="1200" dirty="0" smtClean="0">
                <a:solidFill>
                  <a:schemeClr val="tx1"/>
                </a:solidFill>
                <a:latin typeface="+mn-lt"/>
                <a:ea typeface="+mn-ea"/>
                <a:cs typeface="+mn-cs"/>
              </a:rPr>
              <a:t>Know the surface to be travelled – on the bottom of the river and on exit from the crossing</a:t>
            </a:r>
          </a:p>
          <a:p>
            <a:pPr marL="171450" indent="-171450">
              <a:buFont typeface="Arial" pitchFamily="34" charset="0"/>
              <a:buChar char="•"/>
            </a:pPr>
            <a:r>
              <a:rPr lang="en-AU" sz="1200" kern="1200" dirty="0" smtClean="0">
                <a:solidFill>
                  <a:schemeClr val="tx1"/>
                </a:solidFill>
                <a:latin typeface="+mn-lt"/>
                <a:ea typeface="+mn-ea"/>
                <a:cs typeface="+mn-cs"/>
              </a:rPr>
              <a:t>Know where the air intake is – to make sure the vehicle does not ingest water</a:t>
            </a:r>
          </a:p>
          <a:p>
            <a:pPr marL="171450" indent="-171450">
              <a:buFont typeface="Arial" pitchFamily="34" charset="0"/>
              <a:buChar char="•"/>
            </a:pPr>
            <a:r>
              <a:rPr lang="en-AU" sz="1200" kern="1200" dirty="0" smtClean="0">
                <a:solidFill>
                  <a:schemeClr val="tx1"/>
                </a:solidFill>
                <a:latin typeface="+mn-lt"/>
                <a:ea typeface="+mn-ea"/>
                <a:cs typeface="+mn-cs"/>
              </a:rPr>
              <a:t>Check-out the crossing – walk through the crossing to determine depth, identify obstacles and work out the path to be taken</a:t>
            </a:r>
          </a:p>
          <a:p>
            <a:pPr marL="628650" lvl="1" indent="-171450">
              <a:buFont typeface="Arial" pitchFamily="34" charset="0"/>
              <a:buChar char="•"/>
            </a:pPr>
            <a:r>
              <a:rPr lang="en-AU" sz="1200" kern="1200" dirty="0" smtClean="0">
                <a:solidFill>
                  <a:schemeClr val="tx1"/>
                </a:solidFill>
                <a:latin typeface="+mn-lt"/>
                <a:ea typeface="+mn-ea"/>
                <a:cs typeface="+mn-cs"/>
              </a:rPr>
              <a:t>Walk across the river where the left-hand wheel will go</a:t>
            </a:r>
          </a:p>
          <a:p>
            <a:pPr marL="628650" lvl="1" indent="-171450">
              <a:buFont typeface="Arial" pitchFamily="34" charset="0"/>
              <a:buChar char="•"/>
            </a:pPr>
            <a:r>
              <a:rPr lang="en-AU" sz="1200" kern="1200" dirty="0" smtClean="0">
                <a:solidFill>
                  <a:schemeClr val="tx1"/>
                </a:solidFill>
                <a:latin typeface="+mn-lt"/>
                <a:ea typeface="+mn-ea"/>
                <a:cs typeface="+mn-cs"/>
              </a:rPr>
              <a:t>Walk back where the right-hand wheel will go</a:t>
            </a:r>
          </a:p>
          <a:p>
            <a:pPr marL="171450" indent="-171450">
              <a:buFont typeface="Arial" pitchFamily="34" charset="0"/>
              <a:buChar char="•"/>
            </a:pPr>
            <a:r>
              <a:rPr lang="en-AU" sz="1200" kern="1200" dirty="0" smtClean="0">
                <a:solidFill>
                  <a:schemeClr val="tx1"/>
                </a:solidFill>
                <a:latin typeface="+mn-lt"/>
                <a:ea typeface="+mn-ea"/>
                <a:cs typeface="+mn-cs"/>
              </a:rPr>
              <a:t>If in doubt, avoid the crossing.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262877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issues standard cautions for water crossing saying got be </a:t>
            </a:r>
            <a:r>
              <a:rPr lang="en-AU" sz="1200" kern="1200" dirty="0" smtClean="0">
                <a:solidFill>
                  <a:schemeClr val="tx1"/>
                </a:solidFill>
                <a:latin typeface="+mn-lt"/>
                <a:ea typeface="+mn-ea"/>
                <a:cs typeface="+mn-cs"/>
              </a:rPr>
              <a:t>prepared to avoid the crossing if:</a:t>
            </a:r>
          </a:p>
          <a:p>
            <a:pPr marL="171450" indent="-171450">
              <a:buFont typeface="Arial" pitchFamily="34" charset="0"/>
              <a:buChar char="•"/>
            </a:pPr>
            <a:r>
              <a:rPr lang="en-AU" sz="1200" kern="1200" dirty="0" smtClean="0">
                <a:solidFill>
                  <a:schemeClr val="tx1"/>
                </a:solidFill>
                <a:latin typeface="+mn-lt"/>
                <a:ea typeface="+mn-ea"/>
                <a:cs typeface="+mn-cs"/>
              </a:rPr>
              <a:t>The current is too fast </a:t>
            </a:r>
          </a:p>
          <a:p>
            <a:pPr marL="171450" indent="-171450">
              <a:buFont typeface="Arial" pitchFamily="34" charset="0"/>
              <a:buChar char="•"/>
            </a:pPr>
            <a:r>
              <a:rPr lang="en-AU" sz="1200" kern="1200" dirty="0" smtClean="0">
                <a:solidFill>
                  <a:schemeClr val="tx1"/>
                </a:solidFill>
                <a:latin typeface="+mn-lt"/>
                <a:ea typeface="+mn-ea"/>
                <a:cs typeface="+mn-cs"/>
              </a:rPr>
              <a:t>The water is too deep</a:t>
            </a:r>
          </a:p>
          <a:p>
            <a:pPr marL="171450" indent="-171450">
              <a:buFont typeface="Arial" pitchFamily="34" charset="0"/>
              <a:buChar char="•"/>
            </a:pPr>
            <a:r>
              <a:rPr lang="en-AU" sz="1200" kern="1200" dirty="0" smtClean="0">
                <a:solidFill>
                  <a:schemeClr val="tx1"/>
                </a:solidFill>
                <a:latin typeface="+mn-lt"/>
                <a:ea typeface="+mn-ea"/>
                <a:cs typeface="+mn-cs"/>
              </a:rPr>
              <a:t>The approach or departure angles are too steep</a:t>
            </a:r>
          </a:p>
          <a:p>
            <a:pPr marL="171450" indent="-171450">
              <a:buFont typeface="Arial" pitchFamily="34" charset="0"/>
              <a:buChar char="•"/>
            </a:pPr>
            <a:r>
              <a:rPr lang="en-AU" sz="1200" kern="1200" dirty="0" smtClean="0">
                <a:solidFill>
                  <a:schemeClr val="tx1"/>
                </a:solidFill>
                <a:latin typeface="+mn-lt"/>
                <a:ea typeface="+mn-ea"/>
                <a:cs typeface="+mn-cs"/>
              </a:rPr>
              <a:t>The approach or departure are too soft or otherwise too difficult</a:t>
            </a:r>
          </a:p>
          <a:p>
            <a:pPr marL="171450" indent="-171450">
              <a:buFont typeface="Arial" pitchFamily="34" charset="0"/>
              <a:buChar char="•"/>
            </a:pPr>
            <a:r>
              <a:rPr lang="en-AU" sz="1200" kern="1200" dirty="0" smtClean="0">
                <a:solidFill>
                  <a:schemeClr val="tx1"/>
                </a:solidFill>
                <a:latin typeface="+mn-lt"/>
                <a:ea typeface="+mn-ea"/>
                <a:cs typeface="+mn-cs"/>
              </a:rPr>
              <a:t>The vehicle is not/cannot be adequately prepared.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5280566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driving techniques for water crossings:</a:t>
            </a:r>
          </a:p>
          <a:p>
            <a:pPr marL="171450" indent="-171450">
              <a:buFont typeface="Arial" pitchFamily="34" charset="0"/>
              <a:buChar char="•"/>
            </a:pPr>
            <a:r>
              <a:rPr lang="en-AU" sz="1200" kern="1200" dirty="0" smtClean="0">
                <a:solidFill>
                  <a:schemeClr val="tx1"/>
                </a:solidFill>
                <a:latin typeface="+mn-lt"/>
                <a:ea typeface="+mn-ea"/>
                <a:cs typeface="+mn-cs"/>
              </a:rPr>
              <a:t>Let the engine cool down first – the steps below will assist with this</a:t>
            </a:r>
          </a:p>
          <a:p>
            <a:pPr marL="171450" indent="-171450">
              <a:buFont typeface="Arial" pitchFamily="34" charset="0"/>
              <a:buChar char="•"/>
            </a:pPr>
            <a:r>
              <a:rPr lang="en-AU" sz="1200" kern="1200" dirty="0" smtClean="0">
                <a:solidFill>
                  <a:schemeClr val="tx1"/>
                </a:solidFill>
                <a:latin typeface="+mn-lt"/>
                <a:ea typeface="+mn-ea"/>
                <a:cs typeface="+mn-cs"/>
              </a:rPr>
              <a:t>Tie a tarpaulin across the front of the vehicle – to help create a bow wave</a:t>
            </a:r>
          </a:p>
          <a:p>
            <a:pPr marL="171450" indent="-171450">
              <a:buFont typeface="Arial" pitchFamily="34" charset="0"/>
              <a:buChar char="•"/>
            </a:pPr>
            <a:r>
              <a:rPr lang="en-AU" sz="1200" kern="1200" dirty="0" smtClean="0">
                <a:solidFill>
                  <a:schemeClr val="tx1"/>
                </a:solidFill>
                <a:latin typeface="+mn-lt"/>
                <a:ea typeface="+mn-ea"/>
                <a:cs typeface="+mn-cs"/>
              </a:rPr>
              <a:t>Loosen the fan belt – to prevent damage to the radiator (unless vehicle is fitted with a viscous fan)</a:t>
            </a:r>
          </a:p>
          <a:p>
            <a:pPr marL="171450" indent="-171450">
              <a:buFont typeface="Arial" pitchFamily="34" charset="0"/>
              <a:buChar char="•"/>
            </a:pPr>
            <a:r>
              <a:rPr lang="en-AU" sz="1200" kern="1200" dirty="0" smtClean="0">
                <a:solidFill>
                  <a:schemeClr val="tx1"/>
                </a:solidFill>
                <a:latin typeface="+mn-lt"/>
                <a:ea typeface="+mn-ea"/>
                <a:cs typeface="+mn-cs"/>
              </a:rPr>
              <a:t>Spray the motor with water repellent (WD-40) to help preserve the electrics.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http://www.iventureclub.com.au/4x4-tips/article.html?k=zFA1eN-qEzg</a:t>
            </a:r>
            <a:r>
              <a:rPr lang="en-AU" sz="1200" kern="1200" dirty="0" smtClean="0">
                <a:solidFill>
                  <a:schemeClr val="tx1"/>
                </a:solidFill>
                <a:latin typeface="+mn-lt"/>
                <a:ea typeface="+mn-ea"/>
                <a:cs typeface="+mn-cs"/>
              </a:rPr>
              <a:t> – 4x4 Tip: Water</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crossing</a:t>
            </a:r>
          </a:p>
          <a:p>
            <a:r>
              <a:rPr lang="en-AU" sz="1200" u="sng" kern="1200" dirty="0" smtClean="0">
                <a:solidFill>
                  <a:schemeClr val="tx1"/>
                </a:solidFill>
                <a:latin typeface="+mn-lt"/>
                <a:ea typeface="+mn-ea"/>
                <a:cs typeface="+mn-cs"/>
                <a:hlinkClick r:id="rId4"/>
              </a:rPr>
              <a:t>http://www.toughtoys.com.au/how-to-4x4/water-crossings/</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Water crossings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4276333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driving techniques for water crossings:</a:t>
            </a:r>
          </a:p>
          <a:p>
            <a:pPr marL="171450" indent="-171450">
              <a:buFont typeface="Arial" pitchFamily="34" charset="0"/>
              <a:buChar char="•"/>
            </a:pPr>
            <a:r>
              <a:rPr lang="en-AU" sz="1200" kern="1200" dirty="0" smtClean="0">
                <a:solidFill>
                  <a:schemeClr val="tx1"/>
                </a:solidFill>
                <a:latin typeface="+mn-lt"/>
                <a:ea typeface="+mn-ea"/>
                <a:cs typeface="+mn-cs"/>
              </a:rPr>
              <a:t>Attach recovery straps to the vehicle – in case there is a need to recover the vehicle from the middle of the river: make sure these straps are secured above the water line</a:t>
            </a:r>
          </a:p>
          <a:p>
            <a:pPr marL="171450" indent="-171450">
              <a:buFont typeface="Arial" pitchFamily="34" charset="0"/>
              <a:buChar char="•"/>
            </a:pPr>
            <a:r>
              <a:rPr lang="en-AU" sz="1200" kern="1200" dirty="0" smtClean="0">
                <a:solidFill>
                  <a:schemeClr val="tx1"/>
                </a:solidFill>
                <a:latin typeface="+mn-lt"/>
                <a:ea typeface="+mn-ea"/>
                <a:cs typeface="+mn-cs"/>
              </a:rPr>
              <a:t>Lower windows – as a safety factor</a:t>
            </a:r>
          </a:p>
          <a:p>
            <a:pPr marL="171450" indent="-171450">
              <a:buFont typeface="Arial" pitchFamily="34" charset="0"/>
              <a:buChar char="•"/>
            </a:pPr>
            <a:r>
              <a:rPr lang="en-AU" sz="1200" kern="1200" dirty="0" smtClean="0">
                <a:solidFill>
                  <a:schemeClr val="tx1"/>
                </a:solidFill>
                <a:latin typeface="+mn-lt"/>
                <a:ea typeface="+mn-ea"/>
                <a:cs typeface="+mn-cs"/>
              </a:rPr>
              <a:t>Advise passengers not to wear seat belts</a:t>
            </a:r>
          </a:p>
          <a:p>
            <a:pPr marL="171450" indent="-171450">
              <a:buFont typeface="Arial" pitchFamily="34" charset="0"/>
              <a:buChar char="•"/>
            </a:pPr>
            <a:r>
              <a:rPr lang="en-AU" sz="1200" kern="1200" dirty="0" smtClean="0">
                <a:solidFill>
                  <a:schemeClr val="tx1"/>
                </a:solidFill>
                <a:latin typeface="+mn-lt"/>
                <a:ea typeface="+mn-ea"/>
                <a:cs typeface="+mn-cs"/>
              </a:rPr>
              <a:t>Lower pressure in tyres – if exit is sandy/soft.</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https://www.youtube.com/watch?v=wNtJNuhIf4I</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ARB Water crossing techniques</a:t>
            </a:r>
            <a:r>
              <a:rPr lang="en-AU" sz="1200" u="sng"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4"/>
              </a:rPr>
              <a:t>http://www.outbacktravelaustralia.com.au/driving-towing-4wd-driving-skills/water-crossings</a:t>
            </a:r>
            <a:r>
              <a:rPr lang="en-AU" sz="1200" kern="1200" dirty="0" smtClean="0">
                <a:solidFill>
                  <a:schemeClr val="tx1"/>
                </a:solidFill>
                <a:latin typeface="+mn-lt"/>
                <a:ea typeface="+mn-ea"/>
                <a:cs typeface="+mn-cs"/>
              </a:rPr>
              <a:t> -</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Water crossings</a:t>
            </a:r>
          </a:p>
          <a:p>
            <a:r>
              <a:rPr lang="en-AU" sz="1200" u="sng" kern="1200" dirty="0" smtClean="0">
                <a:solidFill>
                  <a:schemeClr val="tx1"/>
                </a:solidFill>
                <a:latin typeface="+mn-lt"/>
                <a:ea typeface="+mn-ea"/>
                <a:cs typeface="+mn-cs"/>
                <a:hlinkClick r:id="rId5"/>
              </a:rPr>
              <a:t>http://www.4-wheeling-in-western-australia.com/river-crossings.html</a:t>
            </a:r>
            <a:r>
              <a:rPr lang="en-AU" sz="1200" kern="1200" dirty="0" smtClean="0">
                <a:solidFill>
                  <a:schemeClr val="tx1"/>
                </a:solidFill>
                <a:latin typeface="+mn-lt"/>
                <a:ea typeface="+mn-ea"/>
                <a:cs typeface="+mn-cs"/>
              </a:rPr>
              <a:t> - River crossings [including videos on this page]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40012606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driving techniques for water crossings:</a:t>
            </a:r>
          </a:p>
          <a:p>
            <a:pPr marL="171450" indent="-171450">
              <a:buFont typeface="Arial" pitchFamily="34" charset="0"/>
              <a:buChar char="•"/>
            </a:pPr>
            <a:r>
              <a:rPr lang="en-AU" sz="1200" kern="1200" dirty="0" smtClean="0">
                <a:solidFill>
                  <a:schemeClr val="tx1"/>
                </a:solidFill>
                <a:latin typeface="+mn-lt"/>
                <a:ea typeface="+mn-ea"/>
                <a:cs typeface="+mn-cs"/>
              </a:rPr>
              <a:t>Select 4WD, low range – first or second gear depending on type and size of engine</a:t>
            </a:r>
          </a:p>
          <a:p>
            <a:pPr marL="171450" indent="-171450">
              <a:buFont typeface="Arial" pitchFamily="34" charset="0"/>
              <a:buChar char="•"/>
            </a:pPr>
            <a:r>
              <a:rPr lang="en-AU" sz="1200" kern="1200" dirty="0" smtClean="0">
                <a:solidFill>
                  <a:schemeClr val="tx1"/>
                </a:solidFill>
                <a:latin typeface="+mn-lt"/>
                <a:ea typeface="+mn-ea"/>
                <a:cs typeface="+mn-cs"/>
              </a:rPr>
              <a:t>Lock the diffs</a:t>
            </a:r>
          </a:p>
          <a:p>
            <a:pPr marL="171450" indent="-171450">
              <a:buFont typeface="Arial" pitchFamily="34" charset="0"/>
              <a:buChar char="•"/>
            </a:pPr>
            <a:r>
              <a:rPr lang="en-AU" sz="1200" kern="1200" dirty="0" smtClean="0">
                <a:solidFill>
                  <a:schemeClr val="tx1"/>
                </a:solidFill>
                <a:latin typeface="+mn-lt"/>
                <a:ea typeface="+mn-ea"/>
                <a:cs typeface="+mn-cs"/>
              </a:rPr>
              <a:t>Enter the water at a slow to moderate speed – so as to create a bow wave but not a ‘splash’ which will throw water up and over the bonnet/vehicle.</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http://www.4wdonline.com/A/Water.html</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Water crossing</a:t>
            </a:r>
          </a:p>
          <a:p>
            <a:r>
              <a:rPr lang="en-AU" sz="1200" u="sng" kern="1200" dirty="0" smtClean="0">
                <a:solidFill>
                  <a:schemeClr val="tx1"/>
                </a:solidFill>
                <a:latin typeface="+mn-lt"/>
                <a:ea typeface="+mn-ea"/>
                <a:cs typeface="+mn-cs"/>
                <a:hlinkClick r:id="rId4"/>
              </a:rPr>
              <a:t>http://www.pps.net.au/4wdencounter/4wdtech/water.html</a:t>
            </a:r>
            <a:r>
              <a:rPr lang="en-AU" sz="1200" kern="1200" dirty="0" smtClean="0">
                <a:solidFill>
                  <a:schemeClr val="tx1"/>
                </a:solidFill>
                <a:latin typeface="+mn-lt"/>
                <a:ea typeface="+mn-ea"/>
                <a:cs typeface="+mn-cs"/>
              </a:rPr>
              <a:t> - 4WD Encounter Australia: River crossings.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1822054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driving techniques for water crossings:</a:t>
            </a:r>
          </a:p>
          <a:p>
            <a:pPr marL="171450" indent="-171450">
              <a:buFont typeface="Arial" pitchFamily="34" charset="0"/>
              <a:buChar char="•"/>
            </a:pPr>
            <a:r>
              <a:rPr lang="en-AU" sz="1200" kern="1200" dirty="0" smtClean="0">
                <a:solidFill>
                  <a:schemeClr val="tx1"/>
                </a:solidFill>
                <a:latin typeface="+mn-lt"/>
                <a:ea typeface="+mn-ea"/>
                <a:cs typeface="+mn-cs"/>
              </a:rPr>
              <a:t>Drive slowly and evenly</a:t>
            </a:r>
          </a:p>
          <a:p>
            <a:pPr marL="171450" indent="-171450">
              <a:buFont typeface="Arial" pitchFamily="34" charset="0"/>
              <a:buChar char="•"/>
            </a:pPr>
            <a:r>
              <a:rPr lang="en-AU" sz="1200" kern="1200" dirty="0" smtClean="0">
                <a:solidFill>
                  <a:schemeClr val="tx1"/>
                </a:solidFill>
                <a:latin typeface="+mn-lt"/>
                <a:ea typeface="+mn-ea"/>
                <a:cs typeface="+mn-cs"/>
              </a:rPr>
              <a:t>Avoid using the clutch – as water will enter the housing and cause damage, slippage</a:t>
            </a:r>
          </a:p>
          <a:p>
            <a:pPr marL="171450" indent="-171450">
              <a:buFont typeface="Arial" pitchFamily="34" charset="0"/>
              <a:buChar char="•"/>
            </a:pPr>
            <a:r>
              <a:rPr lang="en-AU" sz="1200" kern="1200" dirty="0" smtClean="0">
                <a:solidFill>
                  <a:schemeClr val="tx1"/>
                </a:solidFill>
                <a:latin typeface="+mn-lt"/>
                <a:ea typeface="+mn-ea"/>
                <a:cs typeface="+mn-cs"/>
              </a:rPr>
              <a:t>Dry brakes after exiting the water.</a:t>
            </a:r>
          </a:p>
          <a:p>
            <a:pPr>
              <a:buFont typeface="Arial" pitchFamily="34" charset="0"/>
              <a:buNone/>
            </a:pPr>
            <a:endParaRPr lang="en-AU"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drive water crossings and provides opportunity for them to do the same.</a:t>
            </a:r>
            <a:endParaRPr lang="en-US" b="0" baseline="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4859239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driving on very soft ground/mud:</a:t>
            </a:r>
          </a:p>
          <a:p>
            <a:pPr marL="171450" indent="-171450">
              <a:buFont typeface="Arial" pitchFamily="34" charset="0"/>
              <a:buChar char="•"/>
            </a:pPr>
            <a:r>
              <a:rPr lang="en-AU" sz="1200" kern="1200" dirty="0" smtClean="0">
                <a:solidFill>
                  <a:schemeClr val="tx1"/>
                </a:solidFill>
                <a:latin typeface="+mn-lt"/>
                <a:ea typeface="+mn-ea"/>
                <a:cs typeface="+mn-cs"/>
              </a:rPr>
              <a:t>Inspecting the route – looking for:</a:t>
            </a:r>
          </a:p>
          <a:p>
            <a:pPr marL="628650" lvl="1" indent="-171450">
              <a:buFont typeface="Arial" pitchFamily="34" charset="0"/>
              <a:buChar char="•"/>
            </a:pPr>
            <a:r>
              <a:rPr lang="en-AU" sz="1200" kern="1200" dirty="0" smtClean="0">
                <a:solidFill>
                  <a:schemeClr val="tx1"/>
                </a:solidFill>
                <a:latin typeface="+mn-lt"/>
                <a:ea typeface="+mn-ea"/>
                <a:cs typeface="+mn-cs"/>
              </a:rPr>
              <a:t>Ruts and obstacles</a:t>
            </a:r>
          </a:p>
          <a:p>
            <a:pPr marL="628650" lvl="1" indent="-171450">
              <a:buFont typeface="Arial" pitchFamily="34" charset="0"/>
              <a:buChar char="•"/>
            </a:pPr>
            <a:r>
              <a:rPr lang="en-AU" sz="1200" kern="1200" dirty="0" smtClean="0">
                <a:solidFill>
                  <a:schemeClr val="tx1"/>
                </a:solidFill>
                <a:latin typeface="+mn-lt"/>
                <a:ea typeface="+mn-ea"/>
                <a:cs typeface="+mn-cs"/>
              </a:rPr>
              <a:t>Condition of the bottom under the surface mud/depth of the mud</a:t>
            </a:r>
          </a:p>
          <a:p>
            <a:pPr marL="628650" lvl="1" indent="-171450">
              <a:buFont typeface="Arial" pitchFamily="34" charset="0"/>
              <a:buChar char="•"/>
            </a:pPr>
            <a:r>
              <a:rPr lang="en-AU" sz="1200" kern="1200" dirty="0" smtClean="0">
                <a:solidFill>
                  <a:schemeClr val="tx1"/>
                </a:solidFill>
                <a:latin typeface="+mn-lt"/>
                <a:ea typeface="+mn-ea"/>
                <a:cs typeface="+mn-cs"/>
              </a:rPr>
              <a:t>Distance to be covered</a:t>
            </a:r>
          </a:p>
          <a:p>
            <a:pPr marL="628650" lvl="1" indent="-171450">
              <a:buFont typeface="Arial" pitchFamily="34" charset="0"/>
              <a:buChar char="•"/>
            </a:pPr>
            <a:r>
              <a:rPr lang="en-AU" sz="1200" kern="1200" dirty="0" smtClean="0">
                <a:solidFill>
                  <a:schemeClr val="tx1"/>
                </a:solidFill>
                <a:latin typeface="+mn-lt"/>
                <a:ea typeface="+mn-ea"/>
                <a:cs typeface="+mn-cs"/>
              </a:rPr>
              <a:t>Recovery points</a:t>
            </a:r>
          </a:p>
          <a:p>
            <a:pPr marL="171450" indent="-171450">
              <a:buFont typeface="Arial" pitchFamily="34" charset="0"/>
              <a:buChar char="•"/>
            </a:pPr>
            <a:r>
              <a:rPr lang="en-AU" sz="1200" kern="1200" dirty="0" smtClean="0">
                <a:solidFill>
                  <a:schemeClr val="tx1"/>
                </a:solidFill>
                <a:latin typeface="+mn-lt"/>
                <a:ea typeface="+mn-ea"/>
                <a:cs typeface="+mn-cs"/>
              </a:rPr>
              <a:t>Dropping tyre pressure – to around 24 psi/165kPa</a:t>
            </a:r>
          </a:p>
          <a:p>
            <a:pPr marL="171450" indent="-171450">
              <a:buFont typeface="Arial" pitchFamily="34" charset="0"/>
              <a:buChar char="•"/>
            </a:pPr>
            <a:r>
              <a:rPr lang="en-AU" sz="1200" kern="1200" dirty="0" smtClean="0">
                <a:solidFill>
                  <a:schemeClr val="tx1"/>
                </a:solidFill>
                <a:latin typeface="+mn-lt"/>
                <a:ea typeface="+mn-ea"/>
                <a:cs typeface="+mn-cs"/>
              </a:rPr>
              <a:t>Engaging 4WD.</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http://4xoverland.com/how-do-4x4s-work/4x4-driving/</a:t>
            </a:r>
            <a:r>
              <a:rPr lang="en-AU" sz="1200" kern="1200" dirty="0" smtClean="0">
                <a:solidFill>
                  <a:schemeClr val="tx1"/>
                </a:solidFill>
                <a:latin typeface="+mn-lt"/>
                <a:ea typeface="+mn-ea"/>
                <a:cs typeface="+mn-cs"/>
              </a:rPr>
              <a:t> - How to drive a 4x4 off road [Mud driving]</a:t>
            </a:r>
          </a:p>
          <a:p>
            <a:r>
              <a:rPr lang="en-AU" sz="1200" u="sng" kern="1200" dirty="0" smtClean="0">
                <a:solidFill>
                  <a:schemeClr val="tx1"/>
                </a:solidFill>
                <a:latin typeface="+mn-lt"/>
                <a:ea typeface="+mn-ea"/>
                <a:cs typeface="+mn-cs"/>
                <a:hlinkClick r:id="rId4"/>
              </a:rPr>
              <a:t>https://www.youtube.com/watch?v=O7iqHO8__R8</a:t>
            </a:r>
            <a:r>
              <a:rPr lang="en-AU" sz="1200" kern="1200" dirty="0" smtClean="0">
                <a:solidFill>
                  <a:schemeClr val="tx1"/>
                </a:solidFill>
                <a:latin typeface="+mn-lt"/>
                <a:ea typeface="+mn-ea"/>
                <a:cs typeface="+mn-cs"/>
              </a:rPr>
              <a:t> – Mud driving the right and wrong way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4236697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driving on very soft ground/mud:</a:t>
            </a:r>
          </a:p>
          <a:p>
            <a:pPr marL="171450" indent="-171450">
              <a:buFont typeface="Arial" pitchFamily="34" charset="0"/>
              <a:buChar char="•"/>
            </a:pPr>
            <a:r>
              <a:rPr lang="en-AU" sz="1200" kern="1200" dirty="0" smtClean="0">
                <a:solidFill>
                  <a:schemeClr val="tx1"/>
                </a:solidFill>
                <a:latin typeface="+mn-lt"/>
                <a:ea typeface="+mn-ea"/>
                <a:cs typeface="+mn-cs"/>
              </a:rPr>
              <a:t>Locking diffs</a:t>
            </a:r>
          </a:p>
          <a:p>
            <a:pPr marL="171450" indent="-171450">
              <a:buFont typeface="Arial" pitchFamily="34" charset="0"/>
              <a:buChar char="•"/>
            </a:pPr>
            <a:r>
              <a:rPr lang="en-AU" sz="1200" kern="1200" dirty="0" smtClean="0">
                <a:solidFill>
                  <a:schemeClr val="tx1"/>
                </a:solidFill>
                <a:latin typeface="+mn-lt"/>
                <a:ea typeface="+mn-ea"/>
                <a:cs typeface="+mn-cs"/>
              </a:rPr>
              <a:t>Selecting Low range – first or second gear</a:t>
            </a:r>
          </a:p>
          <a:p>
            <a:pPr marL="171450" indent="-171450">
              <a:buFont typeface="Arial" pitchFamily="34" charset="0"/>
              <a:buChar char="•"/>
            </a:pPr>
            <a:r>
              <a:rPr lang="en-AU" sz="1200" kern="1200" dirty="0" smtClean="0">
                <a:solidFill>
                  <a:schemeClr val="tx1"/>
                </a:solidFill>
                <a:latin typeface="+mn-lt"/>
                <a:ea typeface="+mn-ea"/>
                <a:cs typeface="+mn-cs"/>
              </a:rPr>
              <a:t>Entering the mud at a slow to moderate speed – avoiding excessive speed</a:t>
            </a:r>
          </a:p>
          <a:p>
            <a:pPr marL="171450" indent="-171450">
              <a:buFont typeface="Arial" pitchFamily="34" charset="0"/>
              <a:buChar char="•"/>
            </a:pPr>
            <a:r>
              <a:rPr lang="en-AU" sz="1200" kern="1200" dirty="0" smtClean="0">
                <a:solidFill>
                  <a:schemeClr val="tx1"/>
                </a:solidFill>
                <a:latin typeface="+mn-lt"/>
                <a:ea typeface="+mn-ea"/>
                <a:cs typeface="+mn-cs"/>
              </a:rPr>
              <a:t>Using or not using ruts as appropriate – sometimes it is best to drive in the ruts and sometimes it is best to avoid them, for example:</a:t>
            </a:r>
          </a:p>
          <a:p>
            <a:pPr marL="628650" lvl="1" indent="-171450">
              <a:buFont typeface="Arial" pitchFamily="34" charset="0"/>
              <a:buChar char="•"/>
            </a:pPr>
            <a:r>
              <a:rPr lang="en-AU" sz="1200" kern="1200" dirty="0" smtClean="0">
                <a:solidFill>
                  <a:schemeClr val="tx1"/>
                </a:solidFill>
                <a:latin typeface="+mn-lt"/>
                <a:ea typeface="+mn-ea"/>
                <a:cs typeface="+mn-cs"/>
              </a:rPr>
              <a:t>Driving in ruts (which can provide a more compacted surface and therefore increase traction) if there is sufficient clearance for the bottom of the vehicle </a:t>
            </a:r>
          </a:p>
          <a:p>
            <a:pPr marL="628650" lvl="1" indent="-171450">
              <a:buFont typeface="Arial" pitchFamily="34" charset="0"/>
              <a:buChar char="•"/>
            </a:pPr>
            <a:r>
              <a:rPr lang="en-AU" sz="1200" kern="1200" dirty="0" smtClean="0">
                <a:solidFill>
                  <a:schemeClr val="tx1"/>
                </a:solidFill>
                <a:latin typeface="+mn-lt"/>
                <a:ea typeface="+mn-ea"/>
                <a:cs typeface="+mn-cs"/>
              </a:rPr>
              <a:t>Straddling the ruts – where the </a:t>
            </a:r>
            <a:r>
              <a:rPr lang="en-AU" sz="1200" i="1" kern="1200" dirty="0" smtClean="0">
                <a:solidFill>
                  <a:schemeClr val="tx1"/>
                </a:solidFill>
                <a:latin typeface="+mn-lt"/>
                <a:ea typeface="+mn-ea"/>
                <a:cs typeface="+mn-cs"/>
              </a:rPr>
              <a:t>adjacent</a:t>
            </a:r>
            <a:r>
              <a:rPr lang="en-AU" sz="1200" kern="1200" dirty="0" smtClean="0">
                <a:solidFill>
                  <a:schemeClr val="tx1"/>
                </a:solidFill>
                <a:latin typeface="+mn-lt"/>
                <a:ea typeface="+mn-ea"/>
                <a:cs typeface="+mn-cs"/>
              </a:rPr>
              <a:t> ground is firmer and will give better traction.</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http://4xoverland.com/how-do-4x4s-work/4x4-driving/</a:t>
            </a:r>
            <a:r>
              <a:rPr lang="en-AU" sz="1200" kern="1200" dirty="0" smtClean="0">
                <a:solidFill>
                  <a:schemeClr val="tx1"/>
                </a:solidFill>
                <a:latin typeface="+mn-lt"/>
                <a:ea typeface="+mn-ea"/>
                <a:cs typeface="+mn-cs"/>
              </a:rPr>
              <a:t> - How to drive a 4x4 off road [Mud driving]</a:t>
            </a:r>
          </a:p>
          <a:p>
            <a:r>
              <a:rPr lang="en-AU" sz="1200" u="sng" kern="1200" dirty="0" smtClean="0">
                <a:solidFill>
                  <a:schemeClr val="tx1"/>
                </a:solidFill>
                <a:latin typeface="+mn-lt"/>
                <a:ea typeface="+mn-ea"/>
                <a:cs typeface="+mn-cs"/>
                <a:hlinkClick r:id="rId4"/>
              </a:rPr>
              <a:t>https://www.youtube.com/watch?v=O7iqHO8__R8</a:t>
            </a:r>
            <a:r>
              <a:rPr lang="en-AU" sz="1200" kern="1200" dirty="0" smtClean="0">
                <a:solidFill>
                  <a:schemeClr val="tx1"/>
                </a:solidFill>
                <a:latin typeface="+mn-lt"/>
                <a:ea typeface="+mn-ea"/>
                <a:cs typeface="+mn-cs"/>
              </a:rPr>
              <a:t> – Mud driving the right and wrong way</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28134371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driving on very soft ground/mud:</a:t>
            </a:r>
          </a:p>
          <a:p>
            <a:pPr marL="171450" indent="-171450">
              <a:buFont typeface="Arial" pitchFamily="34" charset="0"/>
              <a:buChar char="•"/>
            </a:pPr>
            <a:r>
              <a:rPr lang="en-AU" sz="1200" kern="1200" dirty="0" smtClean="0">
                <a:solidFill>
                  <a:schemeClr val="tx1"/>
                </a:solidFill>
                <a:latin typeface="+mn-lt"/>
                <a:ea typeface="+mn-ea"/>
                <a:cs typeface="+mn-cs"/>
              </a:rPr>
              <a:t>Maintaining momentum – by applying acceleration </a:t>
            </a:r>
          </a:p>
          <a:p>
            <a:pPr marL="171450" indent="-171450">
              <a:buFont typeface="Arial" pitchFamily="34" charset="0"/>
              <a:buChar char="•"/>
            </a:pPr>
            <a:r>
              <a:rPr lang="en-AU" sz="1200" kern="1200" dirty="0" smtClean="0">
                <a:solidFill>
                  <a:schemeClr val="tx1"/>
                </a:solidFill>
                <a:latin typeface="+mn-lt"/>
                <a:ea typeface="+mn-ea"/>
                <a:cs typeface="+mn-cs"/>
              </a:rPr>
              <a:t>Spinning tyres – where mud tyres are fitted to help clean the tread</a:t>
            </a:r>
          </a:p>
          <a:p>
            <a:pPr marL="171450" indent="-171450">
              <a:buFont typeface="Arial" pitchFamily="34" charset="0"/>
              <a:buChar char="•"/>
            </a:pPr>
            <a:r>
              <a:rPr lang="en-AU" sz="1200" kern="1200" dirty="0" smtClean="0">
                <a:solidFill>
                  <a:schemeClr val="tx1"/>
                </a:solidFill>
                <a:latin typeface="+mn-lt"/>
                <a:ea typeface="+mn-ea"/>
                <a:cs typeface="+mn-cs"/>
              </a:rPr>
              <a:t>Being prepare to stop, reverse and re-try a route if progress is halted – as this may give extra traction through the more compacted bottom surface</a:t>
            </a:r>
          </a:p>
          <a:p>
            <a:pPr marL="171450" indent="-171450">
              <a:buFont typeface="Arial" pitchFamily="34" charset="0"/>
              <a:buChar char="•"/>
            </a:pPr>
            <a:r>
              <a:rPr lang="en-AU" sz="1200" kern="1200" dirty="0" smtClean="0">
                <a:solidFill>
                  <a:schemeClr val="tx1"/>
                </a:solidFill>
                <a:latin typeface="+mn-lt"/>
                <a:ea typeface="+mn-ea"/>
                <a:cs typeface="+mn-cs"/>
              </a:rPr>
              <a:t>Moving the steering wheel left-to-right – to allow side lugs of tyres to bite the mud.</a:t>
            </a:r>
          </a:p>
          <a:p>
            <a:pPr>
              <a:buFont typeface="Arial" pitchFamily="34" charset="0"/>
              <a:buNone/>
            </a:pPr>
            <a:endParaRPr lang="en-AU"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very soft ground/mud and provides opportunity for them to do the same.</a:t>
            </a:r>
            <a:endParaRPr lang="en-US" b="0" baseline="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4088218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Duty of Care noting </a:t>
            </a:r>
            <a:r>
              <a:rPr lang="en-AU" sz="1200" kern="1200" dirty="0" smtClean="0">
                <a:solidFill>
                  <a:schemeClr val="tx1"/>
                </a:solidFill>
                <a:latin typeface="+mn-lt"/>
                <a:ea typeface="+mn-ea"/>
                <a:cs typeface="+mn-cs"/>
              </a:rPr>
              <a:t>Common law imposes an obligation on all vehicle drivers to:</a:t>
            </a:r>
          </a:p>
          <a:p>
            <a:pPr marL="171450" indent="-171450">
              <a:buFont typeface="Arial" pitchFamily="34" charset="0"/>
              <a:buChar char="•"/>
            </a:pPr>
            <a:r>
              <a:rPr lang="en-AU" sz="1200" kern="1200" dirty="0" smtClean="0">
                <a:solidFill>
                  <a:schemeClr val="tx1"/>
                </a:solidFill>
                <a:latin typeface="+mn-lt"/>
                <a:ea typeface="+mn-ea"/>
                <a:cs typeface="+mn-cs"/>
              </a:rPr>
              <a:t>Create and maintain a touring environment that does not pose a risk to people (staff, members of the public, customers)</a:t>
            </a:r>
          </a:p>
          <a:p>
            <a:pPr marL="171450" indent="-171450">
              <a:buFont typeface="Arial" pitchFamily="34" charset="0"/>
              <a:buChar char="•"/>
            </a:pPr>
            <a:r>
              <a:rPr lang="en-AU" sz="1200" kern="1200" dirty="0" smtClean="0">
                <a:solidFill>
                  <a:schemeClr val="tx1"/>
                </a:solidFill>
                <a:latin typeface="+mn-lt"/>
                <a:ea typeface="+mn-ea"/>
                <a:cs typeface="+mn-cs"/>
              </a:rPr>
              <a:t>Take action to avoid causing foreseeable harm to people/customers/tour group members or their property/belongings while they are on tour</a:t>
            </a:r>
          </a:p>
          <a:p>
            <a:pPr marL="171450" indent="-171450">
              <a:buFont typeface="Arial" pitchFamily="34" charset="0"/>
              <a:buChar char="•"/>
            </a:pPr>
            <a:r>
              <a:rPr lang="en-AU" sz="1200" kern="1200" dirty="0" smtClean="0">
                <a:solidFill>
                  <a:schemeClr val="tx1"/>
                </a:solidFill>
                <a:latin typeface="+mn-lt"/>
                <a:ea typeface="+mn-ea"/>
                <a:cs typeface="+mn-cs"/>
              </a:rPr>
              <a:t>Avoid engaging in risky behaviour or actions which will pose a threat to anyone.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8359516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a:t>
            </a:r>
            <a:r>
              <a:rPr lang="en-AU" sz="1200" kern="1200" dirty="0" smtClean="0">
                <a:solidFill>
                  <a:schemeClr val="tx1"/>
                </a:solidFill>
                <a:latin typeface="+mn-lt"/>
                <a:ea typeface="+mn-ea"/>
                <a:cs typeface="+mn-cs"/>
              </a:rPr>
              <a:t>in practice this means the driver needs to/has responsibility for ensuring:</a:t>
            </a:r>
          </a:p>
          <a:p>
            <a:pPr marL="171450" indent="-171450">
              <a:buFont typeface="Arial" pitchFamily="34" charset="0"/>
              <a:buChar char="•"/>
            </a:pPr>
            <a:r>
              <a:rPr lang="en-AU" sz="1200" kern="1200" dirty="0" smtClean="0">
                <a:solidFill>
                  <a:schemeClr val="tx1"/>
                </a:solidFill>
                <a:latin typeface="+mn-lt"/>
                <a:ea typeface="+mn-ea"/>
                <a:cs typeface="+mn-cs"/>
              </a:rPr>
              <a:t>The vehicle is safe/roadworthy when the tour departs</a:t>
            </a:r>
          </a:p>
          <a:p>
            <a:pPr marL="171450" indent="-171450">
              <a:buFont typeface="Arial" pitchFamily="34" charset="0"/>
              <a:buChar char="•"/>
            </a:pPr>
            <a:r>
              <a:rPr lang="en-AU" sz="1200" kern="1200" dirty="0" smtClean="0">
                <a:solidFill>
                  <a:schemeClr val="tx1"/>
                </a:solidFill>
                <a:latin typeface="+mn-lt"/>
                <a:ea typeface="+mn-ea"/>
                <a:cs typeface="+mn-cs"/>
              </a:rPr>
              <a:t>The safety/roadworthiness of the vehicle is maintained through the trip</a:t>
            </a:r>
          </a:p>
          <a:p>
            <a:pPr marL="171450" indent="-171450">
              <a:buFont typeface="Arial" pitchFamily="34" charset="0"/>
              <a:buChar char="•"/>
            </a:pPr>
            <a:r>
              <a:rPr lang="en-AU" sz="1200" kern="1200" dirty="0" smtClean="0">
                <a:solidFill>
                  <a:schemeClr val="tx1"/>
                </a:solidFill>
                <a:latin typeface="+mn-lt"/>
                <a:ea typeface="+mn-ea"/>
                <a:cs typeface="+mn-cs"/>
              </a:rPr>
              <a:t>All road rules and speed limits are obeyed </a:t>
            </a:r>
          </a:p>
          <a:p>
            <a:pPr marL="171450" indent="-171450">
              <a:buFont typeface="Arial" pitchFamily="34" charset="0"/>
              <a:buChar char="•"/>
            </a:pPr>
            <a:r>
              <a:rPr lang="en-AU" sz="1200" kern="1200" dirty="0" smtClean="0">
                <a:solidFill>
                  <a:schemeClr val="tx1"/>
                </a:solidFill>
                <a:latin typeface="+mn-lt"/>
                <a:ea typeface="+mn-ea"/>
                <a:cs typeface="+mn-cs"/>
              </a:rPr>
              <a:t>The vehicle is driven in a safe and responsible manner.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0587874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discussing Duty of Care obligations imposed</a:t>
            </a:r>
            <a:r>
              <a:rPr lang="en-AU" baseline="0" noProof="0" dirty="0" smtClean="0"/>
              <a:t> on tour drivers:</a:t>
            </a:r>
          </a:p>
          <a:p>
            <a:pPr marL="171450" indent="-171450">
              <a:buFont typeface="Arial" pitchFamily="34" charset="0"/>
              <a:buChar char="•"/>
            </a:pPr>
            <a:r>
              <a:rPr lang="en-AU" sz="1200" kern="1200" dirty="0" smtClean="0">
                <a:solidFill>
                  <a:schemeClr val="tx1"/>
                </a:solidFill>
                <a:latin typeface="+mn-lt"/>
                <a:ea typeface="+mn-ea"/>
                <a:cs typeface="+mn-cs"/>
              </a:rPr>
              <a:t>Obvious risks are avoided or controlled</a:t>
            </a:r>
          </a:p>
          <a:p>
            <a:pPr marL="171450" indent="-171450">
              <a:buFont typeface="Arial" pitchFamily="34" charset="0"/>
              <a:buChar char="•"/>
            </a:pPr>
            <a:r>
              <a:rPr lang="en-AU" sz="1200" kern="1200" dirty="0" smtClean="0">
                <a:solidFill>
                  <a:schemeClr val="tx1"/>
                </a:solidFill>
                <a:latin typeface="+mn-lt"/>
                <a:ea typeface="+mn-ea"/>
                <a:cs typeface="+mn-cs"/>
              </a:rPr>
              <a:t>Passengers are informed about potential risks/hazards</a:t>
            </a:r>
          </a:p>
          <a:p>
            <a:pPr marL="171450" indent="-171450">
              <a:buFont typeface="Arial" pitchFamily="34" charset="0"/>
              <a:buChar char="•"/>
            </a:pPr>
            <a:r>
              <a:rPr lang="en-AU" sz="1200" kern="1200" dirty="0" smtClean="0">
                <a:solidFill>
                  <a:schemeClr val="tx1"/>
                </a:solidFill>
                <a:latin typeface="+mn-lt"/>
                <a:ea typeface="+mn-ea"/>
                <a:cs typeface="+mn-cs"/>
              </a:rPr>
              <a:t>Passengers comply with safety rules</a:t>
            </a:r>
          </a:p>
          <a:p>
            <a:pPr marL="171450" indent="-171450">
              <a:buFont typeface="Arial" pitchFamily="34" charset="0"/>
              <a:buChar char="•"/>
            </a:pPr>
            <a:r>
              <a:rPr lang="en-AU" sz="1200" kern="1200" dirty="0" smtClean="0">
                <a:solidFill>
                  <a:schemeClr val="tx1"/>
                </a:solidFill>
                <a:latin typeface="+mn-lt"/>
                <a:ea typeface="+mn-ea"/>
                <a:cs typeface="+mn-cs"/>
              </a:rPr>
              <a:t>Cargo is stored/stowed appropriately – which may require:</a:t>
            </a:r>
          </a:p>
          <a:p>
            <a:pPr marL="628650" lvl="1" indent="-171450">
              <a:buFont typeface="Arial" pitchFamily="34" charset="0"/>
              <a:buChar char="•"/>
            </a:pPr>
            <a:r>
              <a:rPr lang="en-AU" sz="1200" kern="1200" dirty="0" smtClean="0">
                <a:solidFill>
                  <a:schemeClr val="tx1"/>
                </a:solidFill>
                <a:latin typeface="+mn-lt"/>
                <a:ea typeface="+mn-ea"/>
                <a:cs typeface="+mn-cs"/>
              </a:rPr>
              <a:t>Re-packing/re-locating items for off-road 4-wheel drive travel to attain a lower centre of gravity for the vehicle</a:t>
            </a:r>
          </a:p>
          <a:p>
            <a:pPr marL="628650" lvl="1" indent="-171450">
              <a:buFont typeface="Arial" pitchFamily="34" charset="0"/>
              <a:buChar char="•"/>
            </a:pPr>
            <a:r>
              <a:rPr lang="en-AU" sz="1200" kern="1200" dirty="0" smtClean="0">
                <a:solidFill>
                  <a:schemeClr val="tx1"/>
                </a:solidFill>
                <a:latin typeface="+mn-lt"/>
                <a:ea typeface="+mn-ea"/>
                <a:cs typeface="+mn-cs"/>
              </a:rPr>
              <a:t>Placing items behind physical protection barriers – or otherwise securing them to prevent injuring people or causing vehicle damage.</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6744045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on consequences </a:t>
            </a:r>
            <a:r>
              <a:rPr lang="en-AU" sz="1200" b="0" kern="1200" dirty="0" smtClean="0">
                <a:solidFill>
                  <a:schemeClr val="tx1"/>
                </a:solidFill>
                <a:latin typeface="+mn-lt"/>
                <a:ea typeface="+mn-ea"/>
                <a:cs typeface="+mn-cs"/>
              </a:rPr>
              <a:t>of failing to meet Duty of Care obligations stating if </a:t>
            </a:r>
            <a:r>
              <a:rPr lang="en-AU" sz="1200" kern="1200" dirty="0" smtClean="0">
                <a:solidFill>
                  <a:schemeClr val="tx1"/>
                </a:solidFill>
                <a:latin typeface="+mn-lt"/>
                <a:ea typeface="+mn-ea"/>
                <a:cs typeface="+mn-cs"/>
              </a:rPr>
              <a:t>drivers of 4WDs fail to meet their Duty of Care obligations:</a:t>
            </a:r>
          </a:p>
          <a:p>
            <a:pPr marL="171450" indent="-171450">
              <a:buFont typeface="Arial" pitchFamily="34" charset="0"/>
              <a:buChar char="•"/>
            </a:pPr>
            <a:r>
              <a:rPr lang="en-AU" sz="1200" kern="1200" dirty="0" smtClean="0">
                <a:solidFill>
                  <a:schemeClr val="tx1"/>
                </a:solidFill>
                <a:latin typeface="+mn-lt"/>
                <a:ea typeface="+mn-ea"/>
                <a:cs typeface="+mn-cs"/>
              </a:rPr>
              <a:t>They may be sued by passengers/those they injure or who lose property for negligence </a:t>
            </a:r>
          </a:p>
          <a:p>
            <a:pPr marL="171450" indent="-171450">
              <a:buFont typeface="Arial" pitchFamily="34" charset="0"/>
              <a:buChar char="•"/>
            </a:pPr>
            <a:r>
              <a:rPr lang="en-AU" sz="1200" kern="1200" dirty="0" smtClean="0">
                <a:solidFill>
                  <a:schemeClr val="tx1"/>
                </a:solidFill>
                <a:latin typeface="+mn-lt"/>
                <a:ea typeface="+mn-ea"/>
                <a:cs typeface="+mn-cs"/>
              </a:rPr>
              <a:t>The Tour Operator they work may be sued for not discharging their Due Diligence obligations by properly training their drivers</a:t>
            </a:r>
          </a:p>
          <a:p>
            <a:pPr marL="171450" indent="-171450">
              <a:buFont typeface="Arial" pitchFamily="34" charset="0"/>
              <a:buChar char="•"/>
            </a:pPr>
            <a:r>
              <a:rPr lang="en-AU" sz="1200" kern="1200" dirty="0" smtClean="0">
                <a:solidFill>
                  <a:schemeClr val="tx1"/>
                </a:solidFill>
                <a:latin typeface="+mn-lt"/>
                <a:ea typeface="+mn-ea"/>
                <a:cs typeface="+mn-cs"/>
              </a:rPr>
              <a:t>The outcomes of successful civil claims for negligence are commonly the awarding of money (‘damages’) to the person who has been injured or suffered loss.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2437131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states drivers must discuss safety with passengers and this may be done:</a:t>
            </a:r>
          </a:p>
          <a:p>
            <a:pPr marL="171450" indent="-171450">
              <a:buFont typeface="Arial" pitchFamily="34" charset="0"/>
              <a:buChar char="•"/>
            </a:pPr>
            <a:r>
              <a:rPr lang="en-AU" sz="1200" kern="1200" dirty="0" smtClean="0">
                <a:solidFill>
                  <a:schemeClr val="tx1"/>
                </a:solidFill>
                <a:latin typeface="+mn-lt"/>
                <a:ea typeface="+mn-ea"/>
                <a:cs typeface="+mn-cs"/>
              </a:rPr>
              <a:t>Verbally – in terms of:</a:t>
            </a:r>
          </a:p>
          <a:p>
            <a:pPr marL="628650" lvl="1" indent="-171450">
              <a:buFont typeface="Arial" pitchFamily="34" charset="0"/>
              <a:buChar char="•"/>
            </a:pPr>
            <a:r>
              <a:rPr lang="en-AU" sz="1200" kern="1200" dirty="0" smtClean="0">
                <a:solidFill>
                  <a:schemeClr val="tx1"/>
                </a:solidFill>
                <a:latin typeface="+mn-lt"/>
                <a:ea typeface="+mn-ea"/>
                <a:cs typeface="+mn-cs"/>
              </a:rPr>
              <a:t>Being part of the standard tour briefing prior to departure of the tour from the Tour Operator’s office</a:t>
            </a:r>
          </a:p>
          <a:p>
            <a:pPr marL="628650" lvl="1" indent="-171450">
              <a:buFont typeface="Arial" pitchFamily="34" charset="0"/>
              <a:buChar char="•"/>
            </a:pPr>
            <a:r>
              <a:rPr lang="en-AU" sz="1200" kern="1200" dirty="0" smtClean="0">
                <a:solidFill>
                  <a:schemeClr val="tx1"/>
                </a:solidFill>
                <a:latin typeface="+mn-lt"/>
                <a:ea typeface="+mn-ea"/>
                <a:cs typeface="+mn-cs"/>
              </a:rPr>
              <a:t>Being mentioned at the daily tour briefing (held every morning before the tour heads off for the day) on the first day there is expectation four-wheel drive will need to be engaged</a:t>
            </a:r>
          </a:p>
          <a:p>
            <a:pPr marL="171450" indent="-171450">
              <a:buFont typeface="Arial" pitchFamily="34" charset="0"/>
              <a:buChar char="•"/>
            </a:pPr>
            <a:r>
              <a:rPr lang="en-AU" sz="1200" kern="1200" dirty="0" smtClean="0">
                <a:solidFill>
                  <a:schemeClr val="tx1"/>
                </a:solidFill>
                <a:latin typeface="+mn-lt"/>
                <a:ea typeface="+mn-ea"/>
                <a:cs typeface="+mn-cs"/>
              </a:rPr>
              <a:t>In written form – by: </a:t>
            </a:r>
          </a:p>
          <a:p>
            <a:pPr marL="628650" lvl="1" indent="-171450">
              <a:buFont typeface="Arial" pitchFamily="34" charset="0"/>
              <a:buChar char="•"/>
            </a:pPr>
            <a:r>
              <a:rPr lang="en-AU" sz="1200" kern="1200" dirty="0" smtClean="0">
                <a:solidFill>
                  <a:schemeClr val="tx1"/>
                </a:solidFill>
                <a:latin typeface="+mn-lt"/>
                <a:ea typeface="+mn-ea"/>
                <a:cs typeface="+mn-cs"/>
              </a:rPr>
              <a:t>Providing a handout sheet</a:t>
            </a:r>
          </a:p>
          <a:p>
            <a:pPr marL="628650" lvl="1" indent="-171450">
              <a:buFont typeface="Arial" pitchFamily="34" charset="0"/>
              <a:buChar char="•"/>
            </a:pPr>
            <a:r>
              <a:rPr lang="en-AU" sz="1200" kern="1200" dirty="0" smtClean="0">
                <a:solidFill>
                  <a:schemeClr val="tx1"/>
                </a:solidFill>
                <a:latin typeface="+mn-lt"/>
                <a:ea typeface="+mn-ea"/>
                <a:cs typeface="+mn-cs"/>
              </a:rPr>
              <a:t>Including vehicle/passenger safety as a heading in the standard tour advice/information provided to all passengers when they buy their tickets</a:t>
            </a:r>
          </a:p>
          <a:p>
            <a:pPr marL="628650" lvl="1" indent="-171450">
              <a:buFont typeface="Arial" pitchFamily="34" charset="0"/>
              <a:buChar char="•"/>
            </a:pPr>
            <a:r>
              <a:rPr lang="en-AU" sz="1200" kern="1200" dirty="0" smtClean="0">
                <a:solidFill>
                  <a:schemeClr val="tx1"/>
                </a:solidFill>
                <a:latin typeface="+mn-lt"/>
                <a:ea typeface="+mn-ea"/>
                <a:cs typeface="+mn-cs"/>
              </a:rPr>
              <a:t>Detailing safety requirements on the business website</a:t>
            </a:r>
          </a:p>
          <a:p>
            <a:pPr marL="171450" indent="-171450">
              <a:buFont typeface="Arial" pitchFamily="34" charset="0"/>
              <a:buChar char="•"/>
            </a:pPr>
            <a:r>
              <a:rPr lang="en-AU" sz="1200" kern="1200" dirty="0" smtClean="0">
                <a:solidFill>
                  <a:schemeClr val="tx1"/>
                </a:solidFill>
                <a:latin typeface="+mn-lt"/>
                <a:ea typeface="+mn-ea"/>
                <a:cs typeface="+mn-cs"/>
              </a:rPr>
              <a:t>By screening a video – showing:</a:t>
            </a:r>
          </a:p>
          <a:p>
            <a:pPr marL="628650" lvl="1" indent="-171450">
              <a:buFont typeface="Arial" pitchFamily="34" charset="0"/>
              <a:buChar char="•"/>
            </a:pPr>
            <a:r>
              <a:rPr lang="en-AU" sz="1200" kern="1200" dirty="0" smtClean="0">
                <a:solidFill>
                  <a:schemeClr val="tx1"/>
                </a:solidFill>
                <a:latin typeface="+mn-lt"/>
                <a:ea typeface="+mn-ea"/>
                <a:cs typeface="+mn-cs"/>
              </a:rPr>
              <a:t>Aspects of vehicle/passenger safety</a:t>
            </a:r>
          </a:p>
          <a:p>
            <a:pPr marL="628650" lvl="1" indent="-171450">
              <a:buFont typeface="Arial" pitchFamily="34" charset="0"/>
              <a:buChar char="•"/>
            </a:pPr>
            <a:r>
              <a:rPr lang="en-AU" sz="1200" kern="1200" dirty="0" smtClean="0">
                <a:solidFill>
                  <a:schemeClr val="tx1"/>
                </a:solidFill>
                <a:latin typeface="+mn-lt"/>
                <a:ea typeface="+mn-ea"/>
                <a:cs typeface="+mn-cs"/>
              </a:rPr>
              <a:t>Expected touring conditions</a:t>
            </a:r>
          </a:p>
          <a:p>
            <a:pPr marL="628650" lvl="1" indent="-171450">
              <a:buFont typeface="Arial" pitchFamily="34" charset="0"/>
              <a:buChar char="•"/>
            </a:pPr>
            <a:r>
              <a:rPr lang="en-AU" sz="1200" kern="1200" dirty="0" smtClean="0">
                <a:solidFill>
                  <a:schemeClr val="tx1"/>
                </a:solidFill>
                <a:latin typeface="+mn-lt"/>
                <a:ea typeface="+mn-ea"/>
                <a:cs typeface="+mn-cs"/>
              </a:rPr>
              <a:t>How 4WDs perform in certain conditions.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a Tour Guide/Driver</a:t>
            </a:r>
            <a:r>
              <a:rPr lang="en-AU" b="0" baseline="0" noProof="0" dirty="0" smtClean="0"/>
              <a:t> to attend and:</a:t>
            </a:r>
          </a:p>
          <a:p>
            <a:pPr>
              <a:buFont typeface="Arial" pitchFamily="34" charset="0"/>
              <a:buChar char="•"/>
            </a:pPr>
            <a:r>
              <a:rPr lang="en-AU" b="0" noProof="0" dirty="0" smtClean="0"/>
              <a:t>Discuss how and when they communicate safety advice to passengers</a:t>
            </a:r>
          </a:p>
          <a:p>
            <a:pPr>
              <a:buFont typeface="Arial" pitchFamily="34" charset="0"/>
              <a:buChar char="•"/>
            </a:pPr>
            <a:r>
              <a:rPr lang="en-AU" b="0" noProof="0" dirty="0" smtClean="0"/>
              <a:t>Identify topics which are covered</a:t>
            </a:r>
            <a:r>
              <a:rPr lang="en-AU" b="0" baseline="0" noProof="0" dirty="0" smtClean="0"/>
              <a:t> by safety discussions with tour group members</a:t>
            </a:r>
          </a:p>
          <a:p>
            <a:pPr>
              <a:buFont typeface="Arial" pitchFamily="34" charset="0"/>
              <a:buChar char="•"/>
            </a:pPr>
            <a:r>
              <a:rPr lang="en-AU" b="0" noProof="0" dirty="0" smtClean="0"/>
              <a:t>Provide examples of handouts and information supplied to tourists.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0323332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safety information may include advising passengers: </a:t>
            </a:r>
          </a:p>
          <a:p>
            <a:pPr marL="171450" indent="-171450">
              <a:buFont typeface="Arial" pitchFamily="34" charset="0"/>
              <a:buChar char="•"/>
            </a:pPr>
            <a:r>
              <a:rPr lang="en-AU" sz="1200" kern="1200" dirty="0" smtClean="0">
                <a:solidFill>
                  <a:schemeClr val="tx1"/>
                </a:solidFill>
                <a:latin typeface="+mn-lt"/>
                <a:ea typeface="+mn-ea"/>
                <a:cs typeface="+mn-cs"/>
              </a:rPr>
              <a:t>To use/wear seat belts at all times – except when river/creek crossings are being undertaken  </a:t>
            </a:r>
          </a:p>
          <a:p>
            <a:pPr marL="171450" indent="-171450">
              <a:buFont typeface="Arial" pitchFamily="34" charset="0"/>
              <a:buChar char="•"/>
            </a:pPr>
            <a:r>
              <a:rPr lang="en-AU" sz="1200" kern="1200" dirty="0" smtClean="0">
                <a:solidFill>
                  <a:schemeClr val="tx1"/>
                </a:solidFill>
                <a:latin typeface="+mn-lt"/>
                <a:ea typeface="+mn-ea"/>
                <a:cs typeface="+mn-cs"/>
              </a:rPr>
              <a:t>To stay completely inside the vehicle at all times when the vehicle is moving – with specific reference to ensuring arms, hands and heads are kept inside the vehicle</a:t>
            </a:r>
          </a:p>
          <a:p>
            <a:pPr marL="171450" indent="-171450">
              <a:buFont typeface="Arial" pitchFamily="34" charset="0"/>
              <a:buChar char="•"/>
            </a:pPr>
            <a:r>
              <a:rPr lang="en-AU" sz="1200" kern="1200" dirty="0" smtClean="0">
                <a:solidFill>
                  <a:schemeClr val="tx1"/>
                </a:solidFill>
                <a:latin typeface="+mn-lt"/>
                <a:ea typeface="+mn-ea"/>
                <a:cs typeface="+mn-cs"/>
              </a:rPr>
              <a:t>To keep windows wound up when travelling through bush – to prevent branches flicking people in the head as they brush against trees and bushes</a:t>
            </a:r>
          </a:p>
          <a:p>
            <a:pPr marL="171450" indent="-171450">
              <a:buFont typeface="Arial" pitchFamily="34" charset="0"/>
              <a:buChar char="•"/>
            </a:pPr>
            <a:r>
              <a:rPr lang="en-AU" sz="1200" kern="1200" dirty="0" smtClean="0">
                <a:solidFill>
                  <a:schemeClr val="tx1"/>
                </a:solidFill>
                <a:latin typeface="+mn-lt"/>
                <a:ea typeface="+mn-ea"/>
                <a:cs typeface="+mn-cs"/>
              </a:rPr>
              <a:t>To wind windows down when undertaking river/creek crossings – to facilitate easier egress from the vehicle if there is a problem.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6282213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safety information may include advising passengers:</a:t>
            </a:r>
          </a:p>
          <a:p>
            <a:pPr marL="171450" indent="-171450">
              <a:buFont typeface="Arial" pitchFamily="34" charset="0"/>
              <a:buChar char="•"/>
            </a:pPr>
            <a:r>
              <a:rPr lang="en-AU" sz="1200" kern="1200" dirty="0" smtClean="0">
                <a:solidFill>
                  <a:schemeClr val="tx1"/>
                </a:solidFill>
                <a:latin typeface="+mn-lt"/>
                <a:ea typeface="+mn-ea"/>
                <a:cs typeface="+mn-cs"/>
              </a:rPr>
              <a:t>To use hand straps/holds when the vehicle is traversing uneven ground</a:t>
            </a:r>
          </a:p>
          <a:p>
            <a:pPr marL="171450" indent="-171450">
              <a:buFont typeface="Arial" pitchFamily="34" charset="0"/>
              <a:buChar char="•"/>
            </a:pPr>
            <a:r>
              <a:rPr lang="en-AU" sz="1200" kern="1200" dirty="0" smtClean="0">
                <a:solidFill>
                  <a:schemeClr val="tx1"/>
                </a:solidFill>
                <a:latin typeface="+mn-lt"/>
                <a:ea typeface="+mn-ea"/>
                <a:cs typeface="+mn-cs"/>
              </a:rPr>
              <a:t>To follow the driver’s instructions/directions at all times – fully and promptly</a:t>
            </a:r>
          </a:p>
          <a:p>
            <a:pPr marL="171450" indent="-171450">
              <a:buFont typeface="Arial" pitchFamily="34" charset="0"/>
              <a:buChar char="•"/>
            </a:pPr>
            <a:r>
              <a:rPr lang="en-AU" sz="1200" kern="1200" dirty="0" smtClean="0">
                <a:solidFill>
                  <a:schemeClr val="tx1"/>
                </a:solidFill>
                <a:latin typeface="+mn-lt"/>
                <a:ea typeface="+mn-ea"/>
                <a:cs typeface="+mn-cs"/>
              </a:rPr>
              <a:t>To refrain from altering any vehicle settings – or tampering with/touching any of the controls of the vehicle</a:t>
            </a:r>
          </a:p>
          <a:p>
            <a:pPr marL="171450" indent="-171450">
              <a:buFont typeface="Arial" pitchFamily="34" charset="0"/>
              <a:buChar char="•"/>
            </a:pPr>
            <a:r>
              <a:rPr lang="en-AU" sz="1200" kern="1200" dirty="0" smtClean="0">
                <a:solidFill>
                  <a:schemeClr val="tx1"/>
                </a:solidFill>
                <a:latin typeface="+mn-lt"/>
                <a:ea typeface="+mn-ea"/>
                <a:cs typeface="+mn-cs"/>
              </a:rPr>
              <a:t>To secure loose personal items when the vehicle is in motion – advising how and where this may be done.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7872467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safety information may include advising passengers:</a:t>
            </a:r>
          </a:p>
          <a:p>
            <a:pPr marL="171450" indent="-171450">
              <a:buFont typeface="Arial" pitchFamily="34" charset="0"/>
              <a:buChar char="•"/>
            </a:pPr>
            <a:r>
              <a:rPr lang="en-AU" sz="1200" kern="1200" dirty="0" smtClean="0">
                <a:solidFill>
                  <a:schemeClr val="tx1"/>
                </a:solidFill>
                <a:latin typeface="+mn-lt"/>
                <a:ea typeface="+mn-ea"/>
                <a:cs typeface="+mn-cs"/>
              </a:rPr>
              <a:t>To refrain from throwing items/litter from the vehicle</a:t>
            </a:r>
          </a:p>
          <a:p>
            <a:pPr marL="171450" indent="-171450">
              <a:buFont typeface="Arial" pitchFamily="34" charset="0"/>
              <a:buChar char="•"/>
            </a:pPr>
            <a:r>
              <a:rPr lang="en-AU" sz="1200" kern="1200" dirty="0" smtClean="0">
                <a:solidFill>
                  <a:schemeClr val="tx1"/>
                </a:solidFill>
                <a:latin typeface="+mn-lt"/>
                <a:ea typeface="+mn-ea"/>
                <a:cs typeface="+mn-cs"/>
              </a:rPr>
              <a:t>To refrain from behaviour that would be distracting to the driver of the vehicle</a:t>
            </a:r>
          </a:p>
          <a:p>
            <a:pPr marL="171450" indent="-171450">
              <a:buFont typeface="Arial" pitchFamily="34" charset="0"/>
              <a:buChar char="•"/>
            </a:pPr>
            <a:r>
              <a:rPr lang="en-AU" sz="1200" kern="1200" dirty="0" smtClean="0">
                <a:solidFill>
                  <a:schemeClr val="tx1"/>
                </a:solidFill>
                <a:latin typeface="+mn-lt"/>
                <a:ea typeface="+mn-ea"/>
                <a:cs typeface="+mn-cs"/>
              </a:rPr>
              <a:t>To only get in and out of the vehicle when it has come to a full stop</a:t>
            </a:r>
          </a:p>
          <a:p>
            <a:pPr marL="171450" indent="-171450">
              <a:buFont typeface="Arial" pitchFamily="34" charset="0"/>
              <a:buChar char="•"/>
            </a:pPr>
            <a:r>
              <a:rPr lang="en-AU" sz="1200" kern="1200" dirty="0" smtClean="0">
                <a:solidFill>
                  <a:schemeClr val="tx1"/>
                </a:solidFill>
                <a:latin typeface="+mn-lt"/>
                <a:ea typeface="+mn-ea"/>
                <a:cs typeface="+mn-cs"/>
              </a:rPr>
              <a:t>About on-board emergency items, first aid kits, recovery equipment, communication systems and emergency exits </a:t>
            </a:r>
          </a:p>
          <a:p>
            <a:pPr marL="171450" indent="-171450">
              <a:buFont typeface="Arial" pitchFamily="34" charset="0"/>
              <a:buChar char="•"/>
            </a:pPr>
            <a:r>
              <a:rPr lang="en-AU" sz="1200" kern="1200" dirty="0" smtClean="0">
                <a:solidFill>
                  <a:schemeClr val="tx1"/>
                </a:solidFill>
                <a:latin typeface="+mn-lt"/>
                <a:ea typeface="+mn-ea"/>
                <a:cs typeface="+mn-cs"/>
              </a:rPr>
              <a:t>About Emergency Management Plans which have been developed – to guide action in the event of an emergency or accident.</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EMPs.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770168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it </a:t>
            </a:r>
            <a:r>
              <a:rPr lang="en-AU" sz="1200" kern="1200" dirty="0" smtClean="0">
                <a:solidFill>
                  <a:schemeClr val="tx1"/>
                </a:solidFill>
                <a:latin typeface="+mn-lt"/>
                <a:ea typeface="+mn-ea"/>
                <a:cs typeface="+mn-cs"/>
              </a:rPr>
              <a:t>is possible 4WDs may impact the environment in the following ways:</a:t>
            </a:r>
          </a:p>
          <a:p>
            <a:pPr marL="171450" indent="-171450">
              <a:buFont typeface="Arial" pitchFamily="34" charset="0"/>
              <a:buChar char="•"/>
            </a:pPr>
            <a:r>
              <a:rPr lang="en-AU" sz="1200" kern="1200" dirty="0" smtClean="0">
                <a:solidFill>
                  <a:schemeClr val="tx1"/>
                </a:solidFill>
                <a:latin typeface="+mn-lt"/>
                <a:ea typeface="+mn-ea"/>
                <a:cs typeface="+mn-cs"/>
              </a:rPr>
              <a:t>Disturbing local communities – and other visitors in the area</a:t>
            </a:r>
          </a:p>
          <a:p>
            <a:pPr marL="171450" indent="-171450">
              <a:buFont typeface="Arial" pitchFamily="34" charset="0"/>
              <a:buChar char="•"/>
            </a:pPr>
            <a:r>
              <a:rPr lang="en-AU" sz="1200" kern="1200" dirty="0" smtClean="0">
                <a:solidFill>
                  <a:schemeClr val="tx1"/>
                </a:solidFill>
                <a:latin typeface="+mn-lt"/>
                <a:ea typeface="+mn-ea"/>
                <a:cs typeface="+mn-cs"/>
              </a:rPr>
              <a:t>Damaging/destroying flora – which can also lead to erosion of the land</a:t>
            </a:r>
          </a:p>
          <a:p>
            <a:pPr marL="171450" indent="-171450">
              <a:buFont typeface="Arial" pitchFamily="34" charset="0"/>
              <a:buChar char="•"/>
            </a:pPr>
            <a:r>
              <a:rPr lang="en-AU" sz="1200" kern="1200" dirty="0" smtClean="0">
                <a:solidFill>
                  <a:schemeClr val="tx1"/>
                </a:solidFill>
                <a:latin typeface="+mn-lt"/>
                <a:ea typeface="+mn-ea"/>
                <a:cs typeface="+mn-cs"/>
              </a:rPr>
              <a:t>Causing noise pollution.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2168608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possible environmental damage caused by 4WDs:</a:t>
            </a:r>
          </a:p>
          <a:p>
            <a:pPr marL="171450" indent="-171450">
              <a:buFont typeface="Arial" pitchFamily="34" charset="0"/>
              <a:buChar char="•"/>
            </a:pPr>
            <a:r>
              <a:rPr lang="en-AU" sz="1200" kern="1200" dirty="0" smtClean="0">
                <a:solidFill>
                  <a:schemeClr val="tx1"/>
                </a:solidFill>
                <a:latin typeface="+mn-lt"/>
                <a:ea typeface="+mn-ea"/>
                <a:cs typeface="+mn-cs"/>
              </a:rPr>
              <a:t>Contaminating fresh water sources</a:t>
            </a:r>
          </a:p>
          <a:p>
            <a:pPr marL="171450" indent="-171450">
              <a:buFont typeface="Arial" pitchFamily="34" charset="0"/>
              <a:buChar char="•"/>
            </a:pPr>
            <a:r>
              <a:rPr lang="en-AU" sz="1200" kern="1200" dirty="0" smtClean="0">
                <a:solidFill>
                  <a:schemeClr val="tx1"/>
                </a:solidFill>
                <a:latin typeface="+mn-lt"/>
                <a:ea typeface="+mn-ea"/>
                <a:cs typeface="+mn-cs"/>
              </a:rPr>
              <a:t>Harming soil structure – by compacting, dislodging it and/or causing pot-holes  </a:t>
            </a:r>
          </a:p>
          <a:p>
            <a:pPr marL="171450" indent="-171450">
              <a:buFont typeface="Arial" pitchFamily="34" charset="0"/>
              <a:buChar char="•"/>
            </a:pPr>
            <a:r>
              <a:rPr lang="en-AU" sz="1200" kern="1200" dirty="0" smtClean="0">
                <a:solidFill>
                  <a:schemeClr val="tx1"/>
                </a:solidFill>
                <a:latin typeface="+mn-lt"/>
                <a:ea typeface="+mn-ea"/>
                <a:cs typeface="+mn-cs"/>
              </a:rPr>
              <a:t>Scaring, injuring or killing local wildlife.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29468830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techniques to minimise environmental damage:</a:t>
            </a:r>
          </a:p>
          <a:p>
            <a:pPr marL="171450" indent="-171450">
              <a:buFont typeface="Arial" pitchFamily="34" charset="0"/>
              <a:buChar char="•"/>
            </a:pPr>
            <a:r>
              <a:rPr lang="en-AU" sz="1200" kern="1200" dirty="0" smtClean="0">
                <a:solidFill>
                  <a:schemeClr val="tx1"/>
                </a:solidFill>
                <a:latin typeface="+mn-lt"/>
                <a:ea typeface="+mn-ea"/>
                <a:cs typeface="+mn-cs"/>
              </a:rPr>
              <a:t>Adhering to designated tracks and routes in sensitive areas, parks or other prescribed areas – as opposed to creating new tracks and driving off-road</a:t>
            </a:r>
          </a:p>
          <a:p>
            <a:pPr marL="171450" indent="-171450">
              <a:buFont typeface="Arial" pitchFamily="34" charset="0"/>
              <a:buChar char="•"/>
            </a:pPr>
            <a:r>
              <a:rPr lang="en-AU" sz="1200" kern="1200" dirty="0" smtClean="0">
                <a:solidFill>
                  <a:schemeClr val="tx1"/>
                </a:solidFill>
                <a:latin typeface="+mn-lt"/>
                <a:ea typeface="+mn-ea"/>
                <a:cs typeface="+mn-cs"/>
              </a:rPr>
              <a:t>Assessing quality of tracks or intended routes before travelling on them – and not travelling on tracks which are:</a:t>
            </a:r>
          </a:p>
          <a:p>
            <a:pPr marL="628650" lvl="1" indent="-171450">
              <a:buFont typeface="Arial" pitchFamily="34" charset="0"/>
              <a:buChar char="•"/>
            </a:pPr>
            <a:r>
              <a:rPr lang="en-AU" sz="1200" kern="1200" dirty="0" smtClean="0">
                <a:solidFill>
                  <a:schemeClr val="tx1"/>
                </a:solidFill>
                <a:latin typeface="+mn-lt"/>
                <a:ea typeface="+mn-ea"/>
                <a:cs typeface="+mn-cs"/>
              </a:rPr>
              <a:t>Closed</a:t>
            </a:r>
          </a:p>
          <a:p>
            <a:pPr marL="628650" lvl="1" indent="-171450">
              <a:buFont typeface="Arial" pitchFamily="34" charset="0"/>
              <a:buChar char="•"/>
            </a:pPr>
            <a:r>
              <a:rPr lang="en-AU" sz="1200" kern="1200" dirty="0" smtClean="0">
                <a:solidFill>
                  <a:schemeClr val="tx1"/>
                </a:solidFill>
                <a:latin typeface="+mn-lt"/>
                <a:ea typeface="+mn-ea"/>
                <a:cs typeface="+mn-cs"/>
              </a:rPr>
              <a:t>Degraded or boggy</a:t>
            </a:r>
          </a:p>
          <a:p>
            <a:pPr marL="171450" indent="-171450">
              <a:buFont typeface="Arial" pitchFamily="34" charset="0"/>
              <a:buChar char="•"/>
            </a:pPr>
            <a:r>
              <a:rPr lang="en-AU" sz="1200" kern="1200" dirty="0" smtClean="0">
                <a:solidFill>
                  <a:schemeClr val="tx1"/>
                </a:solidFill>
                <a:latin typeface="+mn-lt"/>
                <a:ea typeface="+mn-ea"/>
                <a:cs typeface="+mn-cs"/>
              </a:rPr>
              <a:t>Minimising the effects of noise – by:</a:t>
            </a:r>
          </a:p>
          <a:p>
            <a:pPr marL="628650" lvl="1" indent="-171450">
              <a:buFont typeface="Arial" pitchFamily="34" charset="0"/>
              <a:buChar char="•"/>
            </a:pPr>
            <a:r>
              <a:rPr lang="en-AU" sz="1200" kern="1200" dirty="0" smtClean="0">
                <a:solidFill>
                  <a:schemeClr val="tx1"/>
                </a:solidFill>
                <a:latin typeface="+mn-lt"/>
                <a:ea typeface="+mn-ea"/>
                <a:cs typeface="+mn-cs"/>
              </a:rPr>
              <a:t>Ensuring exhaust and muffler system is effective </a:t>
            </a:r>
          </a:p>
          <a:p>
            <a:pPr marL="628650" lvl="1" indent="-171450">
              <a:buFont typeface="Arial" pitchFamily="34" charset="0"/>
              <a:buChar char="•"/>
            </a:pPr>
            <a:r>
              <a:rPr lang="en-AU" sz="1200" kern="1200" dirty="0" smtClean="0">
                <a:solidFill>
                  <a:schemeClr val="tx1"/>
                </a:solidFill>
                <a:latin typeface="+mn-lt"/>
                <a:ea typeface="+mn-ea"/>
                <a:cs typeface="+mn-cs"/>
              </a:rPr>
              <a:t>Avoiding revving/racing engines</a:t>
            </a:r>
          </a:p>
          <a:p>
            <a:pPr marL="628650" lvl="1" indent="-171450">
              <a:buFont typeface="Arial" pitchFamily="34" charset="0"/>
              <a:buChar char="•"/>
            </a:pPr>
            <a:r>
              <a:rPr lang="en-AU" sz="1200" kern="1200" dirty="0" smtClean="0">
                <a:solidFill>
                  <a:schemeClr val="tx1"/>
                </a:solidFill>
                <a:latin typeface="+mn-lt"/>
                <a:ea typeface="+mn-ea"/>
                <a:cs typeface="+mn-cs"/>
              </a:rPr>
              <a:t>Staying clear of other users</a:t>
            </a:r>
          </a:p>
          <a:p>
            <a:pPr marL="171450" indent="-171450">
              <a:buFont typeface="Arial" pitchFamily="34" charset="0"/>
              <a:buChar char="•"/>
            </a:pPr>
            <a:r>
              <a:rPr lang="en-AU" sz="1200" kern="1200" dirty="0" smtClean="0">
                <a:solidFill>
                  <a:schemeClr val="tx1"/>
                </a:solidFill>
                <a:latin typeface="+mn-lt"/>
                <a:ea typeface="+mn-ea"/>
                <a:cs typeface="+mn-cs"/>
              </a:rPr>
              <a:t>Ensuring all required permits (including payment of fees), authorities and advice have been obtained – and their requirements have been understood and complied with.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42922564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techniques to minimise environmental damage:</a:t>
            </a:r>
          </a:p>
          <a:p>
            <a:pPr marL="171450" indent="-171450">
              <a:buFont typeface="Arial" pitchFamily="34" charset="0"/>
              <a:buChar char="•"/>
            </a:pPr>
            <a:r>
              <a:rPr lang="en-AU" sz="1200" kern="1200" dirty="0" smtClean="0">
                <a:solidFill>
                  <a:schemeClr val="tx1"/>
                </a:solidFill>
                <a:latin typeface="+mn-lt"/>
                <a:ea typeface="+mn-ea"/>
                <a:cs typeface="+mn-cs"/>
              </a:rPr>
              <a:t>Abiding by local prohibitions – regarding, for example:</a:t>
            </a:r>
          </a:p>
          <a:p>
            <a:pPr marL="628650" lvl="1" indent="-171450">
              <a:buFont typeface="Arial" pitchFamily="34" charset="0"/>
              <a:buChar char="•"/>
            </a:pPr>
            <a:r>
              <a:rPr lang="en-AU" sz="1200" kern="1200" dirty="0" smtClean="0">
                <a:solidFill>
                  <a:schemeClr val="tx1"/>
                </a:solidFill>
                <a:latin typeface="+mn-lt"/>
                <a:ea typeface="+mn-ea"/>
                <a:cs typeface="+mn-cs"/>
              </a:rPr>
              <a:t>Entry by vehicles into nominated areas </a:t>
            </a:r>
          </a:p>
          <a:p>
            <a:pPr marL="628650" lvl="1" indent="-171450">
              <a:buFont typeface="Arial" pitchFamily="34" charset="0"/>
              <a:buChar char="•"/>
            </a:pPr>
            <a:r>
              <a:rPr lang="en-AU" sz="1200" kern="1200" dirty="0" smtClean="0">
                <a:solidFill>
                  <a:schemeClr val="tx1"/>
                </a:solidFill>
                <a:latin typeface="+mn-lt"/>
                <a:ea typeface="+mn-ea"/>
                <a:cs typeface="+mn-cs"/>
              </a:rPr>
              <a:t>Use of tracks under certain weather conditions</a:t>
            </a:r>
          </a:p>
          <a:p>
            <a:pPr marL="171450" indent="-171450">
              <a:buFont typeface="Arial" pitchFamily="34" charset="0"/>
              <a:buChar char="•"/>
            </a:pPr>
            <a:r>
              <a:rPr lang="en-AU" sz="1200" kern="1200" dirty="0" smtClean="0">
                <a:solidFill>
                  <a:schemeClr val="tx1"/>
                </a:solidFill>
                <a:latin typeface="+mn-lt"/>
                <a:ea typeface="+mn-ea"/>
                <a:cs typeface="+mn-cs"/>
              </a:rPr>
              <a:t>Being vigilant when preparing, planning and driving – so as to avoid causing damage to:</a:t>
            </a:r>
          </a:p>
          <a:p>
            <a:pPr marL="628650" lvl="1" indent="-171450">
              <a:buFont typeface="Arial" pitchFamily="34" charset="0"/>
              <a:buChar char="•"/>
            </a:pPr>
            <a:r>
              <a:rPr lang="en-AU" sz="1200" kern="1200" dirty="0" smtClean="0">
                <a:solidFill>
                  <a:schemeClr val="tx1"/>
                </a:solidFill>
                <a:latin typeface="+mn-lt"/>
                <a:ea typeface="+mn-ea"/>
                <a:cs typeface="+mn-cs"/>
              </a:rPr>
              <a:t>Property and structures</a:t>
            </a:r>
          </a:p>
          <a:p>
            <a:pPr marL="628650" lvl="1" indent="-171450">
              <a:buFont typeface="Arial" pitchFamily="34" charset="0"/>
              <a:buChar char="•"/>
            </a:pPr>
            <a:r>
              <a:rPr lang="en-AU" sz="1200" kern="1200" dirty="0" smtClean="0">
                <a:solidFill>
                  <a:schemeClr val="tx1"/>
                </a:solidFill>
                <a:latin typeface="+mn-lt"/>
                <a:ea typeface="+mn-ea"/>
                <a:cs typeface="+mn-cs"/>
              </a:rPr>
              <a:t>Natural habitats of animals</a:t>
            </a:r>
          </a:p>
          <a:p>
            <a:pPr marL="628650" lvl="1" indent="-171450">
              <a:buFont typeface="Arial" pitchFamily="34" charset="0"/>
              <a:buChar char="•"/>
            </a:pPr>
            <a:r>
              <a:rPr lang="en-AU" sz="1200" kern="1200" dirty="0" smtClean="0">
                <a:solidFill>
                  <a:schemeClr val="tx1"/>
                </a:solidFill>
                <a:latin typeface="+mn-lt"/>
                <a:ea typeface="+mn-ea"/>
                <a:cs typeface="+mn-cs"/>
              </a:rPr>
              <a:t>Natural assets</a:t>
            </a:r>
          </a:p>
          <a:p>
            <a:pPr marL="171450" indent="-171450">
              <a:buFont typeface="Arial" pitchFamily="34" charset="0"/>
              <a:buChar char="•"/>
            </a:pPr>
            <a:r>
              <a:rPr lang="en-AU" sz="1200" kern="1200" dirty="0" smtClean="0">
                <a:solidFill>
                  <a:schemeClr val="tx1"/>
                </a:solidFill>
                <a:latin typeface="+mn-lt"/>
                <a:ea typeface="+mn-ea"/>
                <a:cs typeface="+mn-cs"/>
              </a:rPr>
              <a:t>Ensuring proper behaviour of passengers – in relation to applicable Codes of conduct which may require:</a:t>
            </a:r>
          </a:p>
          <a:p>
            <a:pPr marL="628650" lvl="1" indent="-171450">
              <a:buFont typeface="Arial" pitchFamily="34" charset="0"/>
              <a:buChar char="•"/>
            </a:pPr>
            <a:r>
              <a:rPr lang="en-AU" sz="1200" kern="1200" dirty="0" smtClean="0">
                <a:solidFill>
                  <a:schemeClr val="tx1"/>
                </a:solidFill>
                <a:latin typeface="+mn-lt"/>
                <a:ea typeface="+mn-ea"/>
                <a:cs typeface="+mn-cs"/>
              </a:rPr>
              <a:t>They do not litter the route and areas travelled</a:t>
            </a:r>
          </a:p>
          <a:p>
            <a:pPr marL="628650" lvl="1" indent="-171450">
              <a:buFont typeface="Arial" pitchFamily="34" charset="0"/>
              <a:buChar char="•"/>
            </a:pPr>
            <a:r>
              <a:rPr lang="en-AU" sz="1200" kern="1200" dirty="0" smtClean="0">
                <a:solidFill>
                  <a:schemeClr val="tx1"/>
                </a:solidFill>
                <a:latin typeface="+mn-lt"/>
                <a:ea typeface="+mn-ea"/>
                <a:cs typeface="+mn-cs"/>
              </a:rPr>
              <a:t>They do not remove flora and/or fauna from the area</a:t>
            </a:r>
          </a:p>
          <a:p>
            <a:pPr marL="628650" lvl="1" indent="-171450">
              <a:buFont typeface="Arial" pitchFamily="34" charset="0"/>
              <a:buChar char="•"/>
            </a:pPr>
            <a:r>
              <a:rPr lang="en-AU" sz="1200" kern="1200" dirty="0" smtClean="0">
                <a:solidFill>
                  <a:schemeClr val="tx1"/>
                </a:solidFill>
                <a:latin typeface="+mn-lt"/>
                <a:ea typeface="+mn-ea"/>
                <a:cs typeface="+mn-cs"/>
              </a:rPr>
              <a:t>They do not use firearms</a:t>
            </a:r>
          </a:p>
          <a:p>
            <a:pPr marL="171450" indent="-171450">
              <a:buFont typeface="Arial" pitchFamily="34" charset="0"/>
              <a:buChar char="•"/>
            </a:pPr>
            <a:r>
              <a:rPr lang="en-AU" sz="1200" kern="1200" dirty="0" smtClean="0">
                <a:solidFill>
                  <a:schemeClr val="tx1"/>
                </a:solidFill>
                <a:latin typeface="+mn-lt"/>
                <a:ea typeface="+mn-ea"/>
                <a:cs typeface="+mn-cs"/>
              </a:rPr>
              <a:t>Being patient – and:</a:t>
            </a:r>
          </a:p>
          <a:p>
            <a:pPr marL="628650" lvl="1" indent="-171450">
              <a:buFont typeface="Arial" pitchFamily="34" charset="0"/>
              <a:buChar char="•"/>
            </a:pPr>
            <a:r>
              <a:rPr lang="en-AU" sz="1200" kern="1200" dirty="0" smtClean="0">
                <a:solidFill>
                  <a:schemeClr val="tx1"/>
                </a:solidFill>
                <a:latin typeface="+mn-lt"/>
                <a:ea typeface="+mn-ea"/>
                <a:cs typeface="+mn-cs"/>
              </a:rPr>
              <a:t>Not speeding</a:t>
            </a:r>
          </a:p>
          <a:p>
            <a:pPr marL="628650" lvl="1" indent="-171450">
              <a:buFont typeface="Arial" pitchFamily="34" charset="0"/>
              <a:buChar char="•"/>
            </a:pPr>
            <a:r>
              <a:rPr lang="en-AU" sz="1200" kern="1200" dirty="0" smtClean="0">
                <a:solidFill>
                  <a:schemeClr val="tx1"/>
                </a:solidFill>
                <a:latin typeface="+mn-lt"/>
                <a:ea typeface="+mn-ea"/>
                <a:cs typeface="+mn-cs"/>
              </a:rPr>
              <a:t>Using passing bays, where provided, rather than driving off-road and creating new tracks in order to get passed other vehicles</a:t>
            </a:r>
          </a:p>
          <a:p>
            <a:pPr marL="628650" lvl="1" indent="-171450">
              <a:buFont typeface="Arial" pitchFamily="34" charset="0"/>
              <a:buChar char="•"/>
            </a:pPr>
            <a:r>
              <a:rPr lang="en-AU" sz="1200" kern="1200" dirty="0" smtClean="0">
                <a:solidFill>
                  <a:schemeClr val="tx1"/>
                </a:solidFill>
                <a:latin typeface="+mn-lt"/>
                <a:ea typeface="+mn-ea"/>
                <a:cs typeface="+mn-cs"/>
              </a:rPr>
              <a:t>Taking the time to close gates which had to be opened – standard protocol is to leave all gates as they were found.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6798770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techniques to minimise environmental damage:</a:t>
            </a:r>
          </a:p>
          <a:p>
            <a:pPr marL="171450" indent="-171450">
              <a:buFont typeface="Arial" pitchFamily="34" charset="0"/>
              <a:buChar char="•"/>
            </a:pPr>
            <a:r>
              <a:rPr lang="en-AU" sz="1200" kern="1200" dirty="0" smtClean="0">
                <a:solidFill>
                  <a:schemeClr val="tx1"/>
                </a:solidFill>
                <a:latin typeface="+mn-lt"/>
                <a:ea typeface="+mn-ea"/>
                <a:cs typeface="+mn-cs"/>
              </a:rPr>
              <a:t>Removing obstructions on tracks – as opposed to driving round them and creating new tracks</a:t>
            </a:r>
          </a:p>
          <a:p>
            <a:pPr marL="171450" indent="-171450">
              <a:buFont typeface="Arial" pitchFamily="34" charset="0"/>
              <a:buChar char="•"/>
            </a:pPr>
            <a:r>
              <a:rPr lang="en-AU" sz="1200" kern="1200" dirty="0" smtClean="0">
                <a:solidFill>
                  <a:schemeClr val="tx1"/>
                </a:solidFill>
                <a:latin typeface="+mn-lt"/>
                <a:ea typeface="+mn-ea"/>
                <a:cs typeface="+mn-cs"/>
              </a:rPr>
              <a:t>Not using trees as winch points if a recovery is required – or using tree protectors if no other suitable point is available</a:t>
            </a:r>
          </a:p>
          <a:p>
            <a:pPr marL="171450" indent="-171450">
              <a:buFont typeface="Arial" pitchFamily="34" charset="0"/>
              <a:buChar char="•"/>
            </a:pPr>
            <a:r>
              <a:rPr lang="en-AU" sz="1200" kern="1200" dirty="0" smtClean="0">
                <a:solidFill>
                  <a:schemeClr val="tx1"/>
                </a:solidFill>
                <a:latin typeface="+mn-lt"/>
                <a:ea typeface="+mn-ea"/>
                <a:cs typeface="+mn-cs"/>
              </a:rPr>
              <a:t>Giving way to foot traffic on tracks – and allowing animals to have right of way.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6562326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techniques to minimise environmental damage:</a:t>
            </a:r>
          </a:p>
          <a:p>
            <a:pPr marL="171450" indent="-171450">
              <a:buFont typeface="Arial" pitchFamily="34" charset="0"/>
              <a:buChar char="•"/>
            </a:pPr>
            <a:r>
              <a:rPr lang="en-AU" sz="1200" kern="1200" dirty="0" smtClean="0">
                <a:solidFill>
                  <a:schemeClr val="tx1"/>
                </a:solidFill>
                <a:latin typeface="+mn-lt"/>
                <a:ea typeface="+mn-ea"/>
                <a:cs typeface="+mn-cs"/>
              </a:rPr>
              <a:t>Driving on beaches only on the firm sand below high water marks – so high tide will remove vehicle marks </a:t>
            </a:r>
          </a:p>
          <a:p>
            <a:pPr marL="628650" lvl="1" indent="-171450">
              <a:buFont typeface="Arial" pitchFamily="34" charset="0"/>
              <a:buChar char="•"/>
            </a:pPr>
            <a:r>
              <a:rPr lang="en-AU" sz="1200" b="1" kern="1200" dirty="0" smtClean="0">
                <a:solidFill>
                  <a:schemeClr val="tx1"/>
                </a:solidFill>
                <a:latin typeface="+mn-lt"/>
                <a:ea typeface="+mn-ea"/>
                <a:cs typeface="+mn-cs"/>
              </a:rPr>
              <a:t>Note: </a:t>
            </a:r>
            <a:r>
              <a:rPr lang="en-AU" sz="1200" kern="1200" dirty="0" smtClean="0">
                <a:solidFill>
                  <a:schemeClr val="tx1"/>
                </a:solidFill>
                <a:latin typeface="+mn-lt"/>
                <a:ea typeface="+mn-ea"/>
                <a:cs typeface="+mn-cs"/>
              </a:rPr>
              <a:t>while driving below the high tide mark will reduce 4WD impact many people recommend this is not done in case the vehicle becomes stuck/breaks down in which case it may be swamped with water when the tide comes in</a:t>
            </a:r>
          </a:p>
          <a:p>
            <a:pPr marL="171450" indent="-171450">
              <a:buFont typeface="Arial" pitchFamily="34" charset="0"/>
              <a:buChar char="•"/>
            </a:pPr>
            <a:r>
              <a:rPr lang="en-AU" sz="1200" kern="1200" dirty="0" smtClean="0">
                <a:solidFill>
                  <a:schemeClr val="tx1"/>
                </a:solidFill>
                <a:latin typeface="+mn-lt"/>
                <a:ea typeface="+mn-ea"/>
                <a:cs typeface="+mn-cs"/>
              </a:rPr>
              <a:t>Adhering to weight limits for vehicles and trailers – to avoid extra depression of ruts/soil</a:t>
            </a:r>
          </a:p>
          <a:p>
            <a:pPr marL="171450" indent="-171450">
              <a:buFont typeface="Arial" pitchFamily="34" charset="0"/>
              <a:buChar char="•"/>
            </a:pPr>
            <a:r>
              <a:rPr lang="en-AU" sz="1200" kern="1200" dirty="0" smtClean="0">
                <a:solidFill>
                  <a:schemeClr val="tx1"/>
                </a:solidFill>
                <a:latin typeface="+mn-lt"/>
                <a:ea typeface="+mn-ea"/>
                <a:cs typeface="+mn-cs"/>
              </a:rPr>
              <a:t>Taking care when driving through dry grass – that the vehicle’s exhaust system does not start fires</a:t>
            </a:r>
          </a:p>
          <a:p>
            <a:pPr marL="171450" indent="-171450">
              <a:buFont typeface="Arial" pitchFamily="34" charset="0"/>
              <a:buChar char="•"/>
            </a:pPr>
            <a:r>
              <a:rPr lang="en-AU" sz="1200" kern="1200" dirty="0" smtClean="0">
                <a:solidFill>
                  <a:schemeClr val="tx1"/>
                </a:solidFill>
                <a:latin typeface="+mn-lt"/>
                <a:ea typeface="+mn-ea"/>
                <a:cs typeface="+mn-cs"/>
              </a:rPr>
              <a:t>Not travelling at night – when there is greater danger of hitting wildlife.</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6189032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drivers </a:t>
            </a:r>
            <a:r>
              <a:rPr lang="en-AU" sz="1200" kern="1200" dirty="0" smtClean="0">
                <a:solidFill>
                  <a:schemeClr val="tx1"/>
                </a:solidFill>
                <a:latin typeface="+mn-lt"/>
                <a:ea typeface="+mn-ea"/>
                <a:cs typeface="+mn-cs"/>
              </a:rPr>
              <a:t>of four-wheel drive vehicles are required to:</a:t>
            </a:r>
          </a:p>
          <a:p>
            <a:pPr marL="171450" indent="-171450">
              <a:buFont typeface="Arial" pitchFamily="34" charset="0"/>
              <a:buChar char="•"/>
            </a:pPr>
            <a:r>
              <a:rPr lang="en-AU" sz="1200" kern="1200" dirty="0" smtClean="0">
                <a:solidFill>
                  <a:schemeClr val="tx1"/>
                </a:solidFill>
                <a:latin typeface="+mn-lt"/>
                <a:ea typeface="+mn-ea"/>
                <a:cs typeface="+mn-cs"/>
              </a:rPr>
              <a:t>Be properly licensed – according to:</a:t>
            </a:r>
          </a:p>
          <a:p>
            <a:pPr marL="628650" lvl="1" indent="-171450">
              <a:buFont typeface="Arial" pitchFamily="34" charset="0"/>
              <a:buChar char="•"/>
            </a:pPr>
            <a:r>
              <a:rPr lang="en-AU" sz="1200" kern="1200" dirty="0" smtClean="0">
                <a:solidFill>
                  <a:schemeClr val="tx1"/>
                </a:solidFill>
                <a:latin typeface="+mn-lt"/>
                <a:ea typeface="+mn-ea"/>
                <a:cs typeface="+mn-cs"/>
              </a:rPr>
              <a:t>The size of the vehicle</a:t>
            </a:r>
          </a:p>
          <a:p>
            <a:pPr marL="628650" lvl="1" indent="-171450">
              <a:buFont typeface="Arial" pitchFamily="34" charset="0"/>
              <a:buChar char="•"/>
            </a:pPr>
            <a:r>
              <a:rPr lang="en-AU" sz="1200" kern="1200" dirty="0" smtClean="0">
                <a:solidFill>
                  <a:schemeClr val="tx1"/>
                </a:solidFill>
                <a:latin typeface="+mn-lt"/>
                <a:ea typeface="+mn-ea"/>
                <a:cs typeface="+mn-cs"/>
              </a:rPr>
              <a:t>Type/class of vehicle</a:t>
            </a:r>
          </a:p>
          <a:p>
            <a:pPr marL="628650" lvl="1" indent="-171450">
              <a:buFont typeface="Arial" pitchFamily="34" charset="0"/>
              <a:buChar char="•"/>
            </a:pPr>
            <a:r>
              <a:rPr lang="en-AU" sz="1200" kern="1200" dirty="0" smtClean="0">
                <a:solidFill>
                  <a:schemeClr val="tx1"/>
                </a:solidFill>
                <a:latin typeface="+mn-lt"/>
                <a:ea typeface="+mn-ea"/>
                <a:cs typeface="+mn-cs"/>
              </a:rPr>
              <a:t>Whether it is manual or automatic</a:t>
            </a:r>
          </a:p>
          <a:p>
            <a:pPr marL="171450" indent="-171450">
              <a:buFont typeface="Arial" pitchFamily="34" charset="0"/>
              <a:buChar char="•"/>
            </a:pPr>
            <a:r>
              <a:rPr lang="en-AU" sz="1200" kern="1200" dirty="0" smtClean="0">
                <a:solidFill>
                  <a:schemeClr val="tx1"/>
                </a:solidFill>
                <a:latin typeface="+mn-lt"/>
                <a:ea typeface="+mn-ea"/>
                <a:cs typeface="+mn-cs"/>
              </a:rPr>
              <a:t>Carry their licence – and present it on demand to authorities</a:t>
            </a:r>
          </a:p>
          <a:p>
            <a:pPr marL="171450" indent="-171450">
              <a:buFont typeface="Arial" pitchFamily="34" charset="0"/>
              <a:buChar char="•"/>
            </a:pPr>
            <a:r>
              <a:rPr lang="en-AU" sz="1200" kern="1200" dirty="0" smtClean="0">
                <a:solidFill>
                  <a:schemeClr val="tx1"/>
                </a:solidFill>
                <a:latin typeface="+mn-lt"/>
                <a:ea typeface="+mn-ea"/>
                <a:cs typeface="+mn-cs"/>
              </a:rPr>
              <a:t>Ensure the vehicle is correctly registered – in accordance with:</a:t>
            </a:r>
          </a:p>
          <a:p>
            <a:pPr marL="628650" lvl="1" indent="-171450">
              <a:buFont typeface="Arial" pitchFamily="34" charset="0"/>
              <a:buChar char="•"/>
            </a:pPr>
            <a:r>
              <a:rPr lang="en-AU" sz="1200" kern="1200" dirty="0" smtClean="0">
                <a:solidFill>
                  <a:schemeClr val="tx1"/>
                </a:solidFill>
                <a:latin typeface="+mn-lt"/>
                <a:ea typeface="+mn-ea"/>
                <a:cs typeface="+mn-cs"/>
              </a:rPr>
              <a:t>The type/class of vehicle being used</a:t>
            </a:r>
          </a:p>
          <a:p>
            <a:pPr marL="628650" lvl="1" indent="-171450">
              <a:buFont typeface="Arial" pitchFamily="34" charset="0"/>
              <a:buChar char="•"/>
            </a:pPr>
            <a:r>
              <a:rPr lang="en-AU" sz="1200" kern="1200" dirty="0" smtClean="0">
                <a:solidFill>
                  <a:schemeClr val="tx1"/>
                </a:solidFill>
                <a:latin typeface="+mn-lt"/>
                <a:ea typeface="+mn-ea"/>
                <a:cs typeface="+mn-cs"/>
              </a:rPr>
              <a:t>The commercial nature of the vehicle</a:t>
            </a:r>
          </a:p>
          <a:p>
            <a:pPr marL="171450" indent="-171450">
              <a:buFont typeface="Arial" pitchFamily="34" charset="0"/>
              <a:buChar char="•"/>
            </a:pPr>
            <a:r>
              <a:rPr lang="en-AU" sz="1200" kern="1200" dirty="0" smtClean="0">
                <a:solidFill>
                  <a:schemeClr val="tx1"/>
                </a:solidFill>
                <a:latin typeface="+mn-lt"/>
                <a:ea typeface="+mn-ea"/>
                <a:cs typeface="+mn-cs"/>
              </a:rPr>
              <a:t>Display proof of registration – to demonstrate current and relevant registration.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9364946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obligations imposed on drivers:</a:t>
            </a:r>
          </a:p>
          <a:p>
            <a:pPr marL="171450" indent="-171450">
              <a:buFont typeface="Arial" pitchFamily="34" charset="0"/>
              <a:buChar char="•"/>
            </a:pPr>
            <a:r>
              <a:rPr lang="en-AU" sz="1200" kern="1200" dirty="0" smtClean="0">
                <a:solidFill>
                  <a:schemeClr val="tx1"/>
                </a:solidFill>
                <a:latin typeface="+mn-lt"/>
                <a:ea typeface="+mn-ea"/>
                <a:cs typeface="+mn-cs"/>
              </a:rPr>
              <a:t>Ensure the vehicle complies with roadworthy requirements – as these apply to:</a:t>
            </a:r>
          </a:p>
          <a:p>
            <a:pPr marL="628650" lvl="1" indent="-171450">
              <a:buFont typeface="Arial" pitchFamily="34" charset="0"/>
              <a:buChar char="•"/>
            </a:pPr>
            <a:r>
              <a:rPr lang="en-AU" sz="1200" kern="1200" dirty="0" smtClean="0">
                <a:solidFill>
                  <a:schemeClr val="tx1"/>
                </a:solidFill>
                <a:latin typeface="+mn-lt"/>
                <a:ea typeface="+mn-ea"/>
                <a:cs typeface="+mn-cs"/>
              </a:rPr>
              <a:t>Vehicle safety</a:t>
            </a:r>
          </a:p>
          <a:p>
            <a:pPr marL="628650" lvl="1" indent="-171450">
              <a:buFont typeface="Arial" pitchFamily="34" charset="0"/>
              <a:buChar char="•"/>
            </a:pPr>
            <a:r>
              <a:rPr lang="en-AU" sz="1200" kern="1200" dirty="0" smtClean="0">
                <a:solidFill>
                  <a:schemeClr val="tx1"/>
                </a:solidFill>
                <a:latin typeface="+mn-lt"/>
                <a:ea typeface="+mn-ea"/>
                <a:cs typeface="+mn-cs"/>
              </a:rPr>
              <a:t>Passenger safety</a:t>
            </a:r>
          </a:p>
          <a:p>
            <a:pPr marL="171450" indent="-171450">
              <a:buFont typeface="Arial" pitchFamily="34" charset="0"/>
              <a:buChar char="•"/>
            </a:pPr>
            <a:r>
              <a:rPr lang="en-AU" sz="1200" kern="1200" dirty="0" smtClean="0">
                <a:solidFill>
                  <a:schemeClr val="tx1"/>
                </a:solidFill>
                <a:latin typeface="+mn-lt"/>
                <a:ea typeface="+mn-ea"/>
                <a:cs typeface="+mn-cs"/>
              </a:rPr>
              <a:t>Obtain, display and comply with applicable special permits as/if required by local laws – for use of designated:</a:t>
            </a:r>
          </a:p>
          <a:p>
            <a:pPr marL="628650" lvl="1" indent="-171450">
              <a:buFont typeface="Arial" pitchFamily="34" charset="0"/>
              <a:buChar char="•"/>
            </a:pPr>
            <a:r>
              <a:rPr lang="en-AU" sz="1200" kern="1200" dirty="0" smtClean="0">
                <a:solidFill>
                  <a:schemeClr val="tx1"/>
                </a:solidFill>
                <a:latin typeface="+mn-lt"/>
                <a:ea typeface="+mn-ea"/>
                <a:cs typeface="+mn-cs"/>
              </a:rPr>
              <a:t>Parks </a:t>
            </a:r>
          </a:p>
          <a:p>
            <a:pPr marL="628650" lvl="1" indent="-171450">
              <a:buFont typeface="Arial" pitchFamily="34" charset="0"/>
              <a:buChar char="•"/>
            </a:pPr>
            <a:r>
              <a:rPr lang="en-AU" sz="1200" kern="1200" dirty="0" smtClean="0">
                <a:solidFill>
                  <a:schemeClr val="tx1"/>
                </a:solidFill>
                <a:latin typeface="+mn-lt"/>
                <a:ea typeface="+mn-ea"/>
                <a:cs typeface="+mn-cs"/>
              </a:rPr>
              <a:t>Tracks </a:t>
            </a:r>
          </a:p>
          <a:p>
            <a:pPr marL="628650" lvl="1" indent="-171450">
              <a:buFont typeface="Arial" pitchFamily="34" charset="0"/>
              <a:buChar char="•"/>
            </a:pPr>
            <a:r>
              <a:rPr lang="en-AU" sz="1200" kern="1200" dirty="0" smtClean="0">
                <a:solidFill>
                  <a:schemeClr val="tx1"/>
                </a:solidFill>
                <a:latin typeface="+mn-lt"/>
                <a:ea typeface="+mn-ea"/>
                <a:cs typeface="+mn-cs"/>
              </a:rPr>
              <a:t>Local roads </a:t>
            </a:r>
          </a:p>
          <a:p>
            <a:pPr marL="628650" lvl="1" indent="-171450">
              <a:buFont typeface="Arial" pitchFamily="34" charset="0"/>
              <a:buChar char="•"/>
            </a:pPr>
            <a:r>
              <a:rPr lang="en-AU" sz="1200" kern="1200" dirty="0" smtClean="0">
                <a:solidFill>
                  <a:schemeClr val="tx1"/>
                </a:solidFill>
                <a:latin typeface="+mn-lt"/>
                <a:ea typeface="+mn-ea"/>
                <a:cs typeface="+mn-cs"/>
              </a:rPr>
              <a:t>Beaches </a:t>
            </a:r>
          </a:p>
          <a:p>
            <a:pPr marL="628650" lvl="1" indent="-171450">
              <a:buFont typeface="Arial" pitchFamily="34" charset="0"/>
              <a:buChar char="•"/>
            </a:pPr>
            <a:r>
              <a:rPr lang="en-AU" sz="1200" kern="1200" dirty="0" smtClean="0">
                <a:solidFill>
                  <a:schemeClr val="tx1"/>
                </a:solidFill>
                <a:latin typeface="+mn-lt"/>
                <a:ea typeface="+mn-ea"/>
                <a:cs typeface="+mn-cs"/>
              </a:rPr>
              <a:t>Other routes/locations</a:t>
            </a:r>
          </a:p>
          <a:p>
            <a:pPr marL="171450" indent="-171450">
              <a:buFont typeface="Arial" pitchFamily="34" charset="0"/>
              <a:buChar char="•"/>
            </a:pPr>
            <a:r>
              <a:rPr lang="en-AU" sz="1200" kern="1200" dirty="0" smtClean="0">
                <a:solidFill>
                  <a:schemeClr val="tx1"/>
                </a:solidFill>
                <a:latin typeface="+mn-lt"/>
                <a:ea typeface="+mn-ea"/>
                <a:cs typeface="+mn-cs"/>
              </a:rPr>
              <a:t>Comply with all applicable road rules – as these apply to:</a:t>
            </a:r>
          </a:p>
          <a:p>
            <a:pPr marL="628650" lvl="1" indent="-171450">
              <a:buFont typeface="Arial" pitchFamily="34" charset="0"/>
              <a:buChar char="•"/>
            </a:pPr>
            <a:r>
              <a:rPr lang="en-AU" sz="1200" kern="1200" dirty="0" smtClean="0">
                <a:solidFill>
                  <a:schemeClr val="tx1"/>
                </a:solidFill>
                <a:latin typeface="+mn-lt"/>
                <a:ea typeface="+mn-ea"/>
                <a:cs typeface="+mn-cs"/>
              </a:rPr>
              <a:t>Adhering to speed limits</a:t>
            </a:r>
          </a:p>
          <a:p>
            <a:pPr marL="628650" lvl="1" indent="-171450">
              <a:buFont typeface="Arial" pitchFamily="34" charset="0"/>
              <a:buChar char="•"/>
            </a:pPr>
            <a:r>
              <a:rPr lang="en-AU" sz="1200" kern="1200" dirty="0" smtClean="0">
                <a:solidFill>
                  <a:schemeClr val="tx1"/>
                </a:solidFill>
                <a:latin typeface="+mn-lt"/>
                <a:ea typeface="+mn-ea"/>
                <a:cs typeface="+mn-cs"/>
              </a:rPr>
              <a:t>Obeying traffic signs</a:t>
            </a:r>
          </a:p>
          <a:p>
            <a:pPr marL="628650" lvl="1" indent="-171450">
              <a:buFont typeface="Arial" pitchFamily="34" charset="0"/>
              <a:buChar char="•"/>
            </a:pPr>
            <a:r>
              <a:rPr lang="en-AU" sz="1200" kern="1200" dirty="0" smtClean="0">
                <a:solidFill>
                  <a:schemeClr val="tx1"/>
                </a:solidFill>
                <a:latin typeface="+mn-lt"/>
                <a:ea typeface="+mn-ea"/>
                <a:cs typeface="+mn-cs"/>
              </a:rPr>
              <a:t>Giving right of way to pedestrians and other vehicles – and passing and over-taking </a:t>
            </a:r>
          </a:p>
          <a:p>
            <a:pPr marL="628650" lvl="1" indent="-171450">
              <a:buFont typeface="Arial" pitchFamily="34" charset="0"/>
              <a:buChar char="•"/>
            </a:pPr>
            <a:r>
              <a:rPr lang="en-AU" sz="1200" kern="1200" dirty="0" smtClean="0">
                <a:solidFill>
                  <a:schemeClr val="tx1"/>
                </a:solidFill>
                <a:latin typeface="+mn-lt"/>
                <a:ea typeface="+mn-ea"/>
                <a:cs typeface="+mn-cs"/>
              </a:rPr>
              <a:t>Using indicators, lights and warning and safety devices</a:t>
            </a:r>
          </a:p>
          <a:p>
            <a:pPr marL="628650" lvl="1" indent="-171450">
              <a:buFont typeface="Arial" pitchFamily="34" charset="0"/>
              <a:buChar char="•"/>
            </a:pPr>
            <a:r>
              <a:rPr lang="en-AU" sz="1200" kern="1200" dirty="0" smtClean="0">
                <a:solidFill>
                  <a:schemeClr val="tx1"/>
                </a:solidFill>
                <a:latin typeface="+mn-lt"/>
                <a:ea typeface="+mn-ea"/>
                <a:cs typeface="+mn-cs"/>
              </a:rPr>
              <a:t>Demonstrating consideration and tolerance for other road users.</a:t>
            </a:r>
          </a:p>
          <a:p>
            <a:r>
              <a:rPr lang="en-AU" sz="1200" kern="1200" dirty="0" smtClean="0">
                <a:solidFill>
                  <a:schemeClr val="tx1"/>
                </a:solidFill>
                <a:latin typeface="+mn-lt"/>
                <a:ea typeface="+mn-ea"/>
                <a:cs typeface="+mn-cs"/>
              </a:rPr>
              <a:t/>
            </a:r>
            <a:br>
              <a:rPr lang="en-AU" sz="1200"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7333228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obligations imposed on drivers:</a:t>
            </a:r>
          </a:p>
          <a:p>
            <a:pPr marL="171450" indent="-171450">
              <a:buFont typeface="Arial" pitchFamily="34" charset="0"/>
              <a:buChar char="•"/>
            </a:pPr>
            <a:r>
              <a:rPr lang="en-AU" sz="1200" kern="1200" dirty="0" smtClean="0">
                <a:solidFill>
                  <a:schemeClr val="tx1"/>
                </a:solidFill>
                <a:latin typeface="+mn-lt"/>
                <a:ea typeface="+mn-ea"/>
                <a:cs typeface="+mn-cs"/>
              </a:rPr>
              <a:t>Comply with applicable fatigue management regulations – so the driver has sufficient:</a:t>
            </a:r>
          </a:p>
          <a:p>
            <a:pPr marL="628650" lvl="1" indent="-171450">
              <a:buFont typeface="Arial" pitchFamily="34" charset="0"/>
              <a:buChar char="•"/>
            </a:pPr>
            <a:r>
              <a:rPr lang="en-AU" sz="1200" kern="1200" dirty="0" smtClean="0">
                <a:solidFill>
                  <a:schemeClr val="tx1"/>
                </a:solidFill>
                <a:latin typeface="+mn-lt"/>
                <a:ea typeface="+mn-ea"/>
                <a:cs typeface="+mn-cs"/>
              </a:rPr>
              <a:t>Rest/sleep </a:t>
            </a:r>
          </a:p>
          <a:p>
            <a:pPr marL="628650" lvl="1" indent="-171450">
              <a:buFont typeface="Arial" pitchFamily="34" charset="0"/>
              <a:buChar char="•"/>
            </a:pPr>
            <a:r>
              <a:rPr lang="en-AU" sz="1200" kern="1200" dirty="0" smtClean="0">
                <a:solidFill>
                  <a:schemeClr val="tx1"/>
                </a:solidFill>
                <a:latin typeface="+mn-lt"/>
                <a:ea typeface="+mn-ea"/>
                <a:cs typeface="+mn-cs"/>
              </a:rPr>
              <a:t>Breaks from driving</a:t>
            </a:r>
          </a:p>
          <a:p>
            <a:pPr marL="171450" indent="-171450">
              <a:buFont typeface="Arial" pitchFamily="34" charset="0"/>
              <a:buChar char="•"/>
            </a:pPr>
            <a:r>
              <a:rPr lang="en-AU" sz="1200" kern="1200" dirty="0" smtClean="0">
                <a:solidFill>
                  <a:schemeClr val="tx1"/>
                </a:solidFill>
                <a:latin typeface="+mn-lt"/>
                <a:ea typeface="+mn-ea"/>
                <a:cs typeface="+mn-cs"/>
              </a:rPr>
              <a:t>Comply with applicable environmental protection legislation – as this applies to:</a:t>
            </a:r>
          </a:p>
          <a:p>
            <a:pPr marL="628650" lvl="1" indent="-171450">
              <a:buFont typeface="Arial" pitchFamily="34" charset="0"/>
              <a:buChar char="•"/>
            </a:pPr>
            <a:r>
              <a:rPr lang="en-AU" sz="1200" kern="1200" dirty="0" smtClean="0">
                <a:solidFill>
                  <a:schemeClr val="tx1"/>
                </a:solidFill>
                <a:latin typeface="+mn-lt"/>
                <a:ea typeface="+mn-ea"/>
                <a:cs typeface="+mn-cs"/>
              </a:rPr>
              <a:t>Smoke emissions</a:t>
            </a:r>
          </a:p>
          <a:p>
            <a:pPr marL="628650" lvl="1" indent="-171450">
              <a:buFont typeface="Arial" pitchFamily="34" charset="0"/>
              <a:buChar char="•"/>
            </a:pPr>
            <a:r>
              <a:rPr lang="en-AU" sz="1200" kern="1200" dirty="0" smtClean="0">
                <a:solidFill>
                  <a:schemeClr val="tx1"/>
                </a:solidFill>
                <a:latin typeface="+mn-lt"/>
                <a:ea typeface="+mn-ea"/>
                <a:cs typeface="+mn-cs"/>
              </a:rPr>
              <a:t>Noise pollution</a:t>
            </a:r>
          </a:p>
          <a:p>
            <a:pPr marL="171450" indent="-171450">
              <a:buFont typeface="Arial" pitchFamily="34" charset="0"/>
              <a:buChar char="•"/>
            </a:pPr>
            <a:r>
              <a:rPr lang="en-AU" sz="1200" kern="1200" dirty="0" smtClean="0">
                <a:solidFill>
                  <a:schemeClr val="tx1"/>
                </a:solidFill>
                <a:latin typeface="+mn-lt"/>
                <a:ea typeface="+mn-ea"/>
                <a:cs typeface="+mn-cs"/>
              </a:rPr>
              <a:t>Comply with relevant drink-driving legislation – and does not drive contrary blood alcohol limits as these apply to:</a:t>
            </a:r>
          </a:p>
          <a:p>
            <a:pPr marL="628650" lvl="1" indent="-171450">
              <a:buFont typeface="Arial" pitchFamily="34" charset="0"/>
              <a:buChar char="•"/>
            </a:pPr>
            <a:r>
              <a:rPr lang="en-AU" sz="1200" kern="1200" dirty="0" smtClean="0">
                <a:solidFill>
                  <a:schemeClr val="tx1"/>
                </a:solidFill>
                <a:latin typeface="+mn-lt"/>
                <a:ea typeface="+mn-ea"/>
                <a:cs typeface="+mn-cs"/>
              </a:rPr>
              <a:t>Age of the driver</a:t>
            </a:r>
          </a:p>
          <a:p>
            <a:pPr marL="628650" lvl="1" indent="-171450">
              <a:buFont typeface="Arial" pitchFamily="34" charset="0"/>
              <a:buChar char="•"/>
            </a:pPr>
            <a:r>
              <a:rPr lang="en-AU" sz="1200" kern="1200" dirty="0" smtClean="0">
                <a:solidFill>
                  <a:schemeClr val="tx1"/>
                </a:solidFill>
                <a:latin typeface="+mn-lt"/>
                <a:ea typeface="+mn-ea"/>
                <a:cs typeface="+mn-cs"/>
              </a:rPr>
              <a:t>Licence status</a:t>
            </a:r>
          </a:p>
          <a:p>
            <a:pPr marL="628650" lvl="1" indent="-171450">
              <a:buFont typeface="Arial" pitchFamily="34" charset="0"/>
              <a:buChar char="•"/>
            </a:pPr>
            <a:r>
              <a:rPr lang="en-AU" sz="1200" kern="1200" dirty="0" smtClean="0">
                <a:solidFill>
                  <a:schemeClr val="tx1"/>
                </a:solidFill>
                <a:latin typeface="+mn-lt"/>
                <a:ea typeface="+mn-ea"/>
                <a:cs typeface="+mn-cs"/>
              </a:rPr>
              <a:t>Type/class of vehicle being driven</a:t>
            </a:r>
          </a:p>
          <a:p>
            <a:pPr marL="171450" indent="-171450">
              <a:buFont typeface="Arial" pitchFamily="34" charset="0"/>
              <a:buChar char="•"/>
            </a:pPr>
            <a:r>
              <a:rPr lang="en-AU" sz="1200" kern="1200" dirty="0" smtClean="0">
                <a:solidFill>
                  <a:schemeClr val="tx1"/>
                </a:solidFill>
                <a:latin typeface="+mn-lt"/>
                <a:ea typeface="+mn-ea"/>
                <a:cs typeface="+mn-cs"/>
              </a:rPr>
              <a:t>Comply with legislation prohibiting driving while under the influence of drugs.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official from local Transport Agency to attend and:</a:t>
            </a:r>
          </a:p>
          <a:p>
            <a:pPr marL="171450" indent="-171450">
              <a:buFont typeface="Arial" pitchFamily="34" charset="0"/>
              <a:buChar char="•"/>
            </a:pPr>
            <a:r>
              <a:rPr lang="en-AU" b="0" noProof="0" dirty="0" smtClean="0"/>
              <a:t>Discuss driver licensing and vehicle registration requirements for tour 4WDs</a:t>
            </a:r>
          </a:p>
          <a:p>
            <a:pPr marL="171450" indent="-171450">
              <a:buFont typeface="Arial" pitchFamily="34" charset="0"/>
              <a:buChar char="•"/>
            </a:pPr>
            <a:r>
              <a:rPr lang="en-AU" b="0" noProof="0" dirty="0" smtClean="0"/>
              <a:t>Explain ways in which Tour Operators and 4WD drivers can optimise compliance with obligations</a:t>
            </a:r>
          </a:p>
          <a:p>
            <a:pPr marL="171450" indent="-171450">
              <a:buFont typeface="Arial" pitchFamily="34" charset="0"/>
              <a:buChar char="•"/>
            </a:pPr>
            <a:r>
              <a:rPr lang="en-AU" b="0" noProof="0" dirty="0" smtClean="0"/>
              <a:t>Describe consequences for non-compliance</a:t>
            </a:r>
          </a:p>
          <a:p>
            <a:pPr marL="171450" indent="-171450">
              <a:buFont typeface="Arial" pitchFamily="34" charset="0"/>
              <a:buChar char="•"/>
            </a:pPr>
            <a:r>
              <a:rPr lang="en-AU" b="0" noProof="0" dirty="0" smtClean="0"/>
              <a:t>Provide assistance to enable/encourage compliance.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7112407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does ‘recovery of a vehicle’ mean?</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situations might give rise to the need for a recovery?</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might recoveries be undertaken?</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experience do you have with recovering vehicles?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99177023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identifies Golden Keys to successful recovery of four-wheel drive vehicles are the two factors identified earlier:</a:t>
            </a:r>
          </a:p>
          <a:p>
            <a:pPr marL="171450" indent="-171450">
              <a:buFont typeface="Arial" pitchFamily="34" charset="0"/>
              <a:buChar char="•"/>
            </a:pPr>
            <a:r>
              <a:rPr lang="en-AU" sz="1200" kern="1200" dirty="0" smtClean="0">
                <a:solidFill>
                  <a:schemeClr val="tx1"/>
                </a:solidFill>
                <a:latin typeface="+mn-lt"/>
                <a:ea typeface="+mn-ea"/>
                <a:cs typeface="+mn-cs"/>
              </a:rPr>
              <a:t>Practice</a:t>
            </a:r>
          </a:p>
          <a:p>
            <a:pPr marL="171450" indent="-171450">
              <a:buFont typeface="Arial" pitchFamily="34" charset="0"/>
              <a:buChar char="•"/>
            </a:pPr>
            <a:r>
              <a:rPr lang="en-AU" sz="1200" kern="1200" dirty="0" smtClean="0">
                <a:solidFill>
                  <a:schemeClr val="tx1"/>
                </a:solidFill>
                <a:latin typeface="+mn-lt"/>
                <a:ea typeface="+mn-ea"/>
                <a:cs typeface="+mn-cs"/>
              </a:rPr>
              <a:t>Experience.</a:t>
            </a:r>
          </a:p>
          <a:p>
            <a:r>
              <a:rPr lang="en-AU" sz="1200" kern="1200" dirty="0" smtClean="0">
                <a:solidFill>
                  <a:schemeClr val="tx1"/>
                </a:solidFill>
                <a:latin typeface="+mn-lt"/>
                <a:ea typeface="+mn-ea"/>
                <a:cs typeface="+mn-cs"/>
              </a:rPr>
              <a:t>It is </a:t>
            </a:r>
            <a:r>
              <a:rPr lang="en-AU" sz="1200" b="1" kern="1200" dirty="0" smtClean="0">
                <a:solidFill>
                  <a:schemeClr val="tx1"/>
                </a:solidFill>
                <a:latin typeface="+mn-lt"/>
                <a:ea typeface="+mn-ea"/>
                <a:cs typeface="+mn-cs"/>
              </a:rPr>
              <a:t>critical</a:t>
            </a:r>
            <a:r>
              <a:rPr lang="en-AU" sz="1200" kern="1200" dirty="0" smtClean="0">
                <a:solidFill>
                  <a:schemeClr val="tx1"/>
                </a:solidFill>
                <a:latin typeface="+mn-lt"/>
                <a:ea typeface="+mn-ea"/>
                <a:cs typeface="+mn-cs"/>
              </a:rPr>
              <a:t> drivers of 4WD tour vehicles gain competency in vehicle recovery in all expected on- and off-road conditions </a:t>
            </a:r>
            <a:r>
              <a:rPr lang="en-AU" sz="1200" i="1" kern="1200" dirty="0" smtClean="0">
                <a:solidFill>
                  <a:schemeClr val="tx1"/>
                </a:solidFill>
                <a:latin typeface="+mn-lt"/>
                <a:ea typeface="+mn-ea"/>
                <a:cs typeface="+mn-cs"/>
              </a:rPr>
              <a:t>before</a:t>
            </a:r>
            <a:r>
              <a:rPr lang="en-AU" sz="1200" kern="1200" dirty="0" smtClean="0">
                <a:solidFill>
                  <a:schemeClr val="tx1"/>
                </a:solidFill>
                <a:latin typeface="+mn-lt"/>
                <a:ea typeface="+mn-ea"/>
                <a:cs typeface="+mn-cs"/>
              </a:rPr>
              <a:t> they do so in a real-life touring environment where paying passengers/tour groups are involved.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4421975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there </a:t>
            </a:r>
            <a:r>
              <a:rPr lang="en-AU" sz="1200" kern="1200" dirty="0" smtClean="0">
                <a:solidFill>
                  <a:schemeClr val="tx1"/>
                </a:solidFill>
                <a:latin typeface="+mn-lt"/>
                <a:ea typeface="+mn-ea"/>
                <a:cs typeface="+mn-cs"/>
              </a:rPr>
              <a:t>can be a need to recover vehicles from situations where they have become bogged, beached or otherwise trapped:</a:t>
            </a:r>
          </a:p>
          <a:p>
            <a:pPr marL="171450" indent="-171450">
              <a:buFont typeface="Arial" pitchFamily="34" charset="0"/>
              <a:buChar char="•"/>
            </a:pPr>
            <a:r>
              <a:rPr lang="en-AU" sz="1200" kern="1200" dirty="0" smtClean="0">
                <a:solidFill>
                  <a:schemeClr val="tx1"/>
                </a:solidFill>
                <a:latin typeface="+mn-lt"/>
                <a:ea typeface="+mn-ea"/>
                <a:cs typeface="+mn-cs"/>
              </a:rPr>
              <a:t>In sand</a:t>
            </a:r>
          </a:p>
          <a:p>
            <a:pPr marL="171450" indent="-171450">
              <a:buFont typeface="Arial" pitchFamily="34" charset="0"/>
              <a:buChar char="•"/>
            </a:pPr>
            <a:r>
              <a:rPr lang="en-AU" sz="1200" kern="1200" dirty="0" smtClean="0">
                <a:solidFill>
                  <a:schemeClr val="tx1"/>
                </a:solidFill>
                <a:latin typeface="+mn-lt"/>
                <a:ea typeface="+mn-ea"/>
                <a:cs typeface="+mn-cs"/>
              </a:rPr>
              <a:t>In mud/soft ground</a:t>
            </a:r>
          </a:p>
          <a:p>
            <a:pPr marL="171450" indent="-171450">
              <a:buFont typeface="Arial" pitchFamily="34" charset="0"/>
              <a:buChar char="•"/>
            </a:pPr>
            <a:r>
              <a:rPr lang="en-AU" sz="1200" kern="1200" dirty="0" smtClean="0">
                <a:solidFill>
                  <a:schemeClr val="tx1"/>
                </a:solidFill>
                <a:latin typeface="+mn-lt"/>
                <a:ea typeface="+mn-ea"/>
                <a:cs typeface="+mn-cs"/>
              </a:rPr>
              <a:t>In water</a:t>
            </a:r>
          </a:p>
          <a:p>
            <a:pPr marL="171450" indent="-171450">
              <a:buFont typeface="Arial" pitchFamily="34" charset="0"/>
              <a:buChar char="•"/>
            </a:pPr>
            <a:r>
              <a:rPr lang="en-AU" sz="1200" kern="1200" dirty="0" smtClean="0">
                <a:solidFill>
                  <a:schemeClr val="tx1"/>
                </a:solidFill>
                <a:latin typeface="+mn-lt"/>
                <a:ea typeface="+mn-ea"/>
                <a:cs typeface="+mn-cs"/>
              </a:rPr>
              <a:t>On rocky surfaces.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63816783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recovery gear knowledge stressing </a:t>
            </a:r>
            <a:r>
              <a:rPr lang="en-AU" sz="1200" kern="1200" dirty="0" smtClean="0">
                <a:solidFill>
                  <a:schemeClr val="tx1"/>
                </a:solidFill>
                <a:latin typeface="+mn-lt"/>
                <a:ea typeface="+mn-ea"/>
                <a:cs typeface="+mn-cs"/>
              </a:rPr>
              <a:t>vehicle driver must:</a:t>
            </a:r>
          </a:p>
          <a:p>
            <a:pPr marL="171450" indent="-171450">
              <a:buFont typeface="Arial" pitchFamily="34" charset="0"/>
              <a:buChar char="•"/>
            </a:pPr>
            <a:r>
              <a:rPr lang="en-AU" sz="1200" kern="1200" dirty="0" smtClean="0">
                <a:solidFill>
                  <a:schemeClr val="tx1"/>
                </a:solidFill>
                <a:latin typeface="+mn-lt"/>
                <a:ea typeface="+mn-ea"/>
                <a:cs typeface="+mn-cs"/>
              </a:rPr>
              <a:t>Be aware of the gear available on/in the vehicle for recovery situations</a:t>
            </a:r>
          </a:p>
          <a:p>
            <a:pPr marL="171450" indent="-171450">
              <a:buFont typeface="Arial" pitchFamily="34" charset="0"/>
              <a:buChar char="•"/>
            </a:pPr>
            <a:r>
              <a:rPr lang="en-AU" sz="1200" kern="1200" dirty="0" smtClean="0">
                <a:solidFill>
                  <a:schemeClr val="tx1"/>
                </a:solidFill>
                <a:latin typeface="+mn-lt"/>
                <a:ea typeface="+mn-ea"/>
                <a:cs typeface="+mn-cs"/>
              </a:rPr>
              <a:t>Know where the recovery gear is located</a:t>
            </a:r>
          </a:p>
          <a:p>
            <a:pPr marL="171450" indent="-171450">
              <a:buFont typeface="Arial" pitchFamily="34" charset="0"/>
              <a:buChar char="•"/>
            </a:pPr>
            <a:r>
              <a:rPr lang="en-AU" sz="1200" kern="1200" dirty="0" smtClean="0">
                <a:solidFill>
                  <a:schemeClr val="tx1"/>
                </a:solidFill>
                <a:latin typeface="+mn-lt"/>
                <a:ea typeface="+mn-ea"/>
                <a:cs typeface="+mn-cs"/>
              </a:rPr>
              <a:t>Know the recovery points/hooks and mounting features/points of the vehicle – which are connected directly to the vehicle chassis to give optimum strength</a:t>
            </a:r>
          </a:p>
          <a:p>
            <a:pPr marL="171450" indent="-171450">
              <a:buFont typeface="Arial" pitchFamily="34" charset="0"/>
              <a:buChar char="•"/>
            </a:pPr>
            <a:r>
              <a:rPr lang="en-AU" sz="1200" kern="1200" dirty="0" smtClean="0">
                <a:solidFill>
                  <a:schemeClr val="tx1"/>
                </a:solidFill>
                <a:latin typeface="+mn-lt"/>
                <a:ea typeface="+mn-ea"/>
                <a:cs typeface="+mn-cs"/>
              </a:rPr>
              <a:t>Prepare/attach any gear which is deemed necessary/possibly required for an upcoming situation</a:t>
            </a:r>
          </a:p>
          <a:p>
            <a:pPr marL="171450" indent="-171450">
              <a:buFont typeface="Arial" pitchFamily="34" charset="0"/>
              <a:buChar char="•"/>
            </a:pPr>
            <a:r>
              <a:rPr lang="en-AU" sz="1200" kern="1200" dirty="0" smtClean="0">
                <a:solidFill>
                  <a:schemeClr val="tx1"/>
                </a:solidFill>
                <a:latin typeface="+mn-lt"/>
                <a:ea typeface="+mn-ea"/>
                <a:cs typeface="+mn-cs"/>
              </a:rPr>
              <a:t>Check the gear for safety and readiness for use – especially:</a:t>
            </a:r>
          </a:p>
          <a:p>
            <a:pPr marL="628650" lvl="1" indent="-171450">
              <a:buFont typeface="Arial" pitchFamily="34" charset="0"/>
              <a:buChar char="•"/>
            </a:pPr>
            <a:r>
              <a:rPr lang="en-US" sz="1200" kern="1200" dirty="0" smtClean="0">
                <a:solidFill>
                  <a:schemeClr val="tx1"/>
                </a:solidFill>
                <a:latin typeface="+mn-lt"/>
                <a:ea typeface="+mn-ea"/>
                <a:cs typeface="+mn-cs"/>
              </a:rPr>
              <a:t>Checking for frayed cables and straps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Verifying winches which have been immersed in water on previous tours have been checked and serviced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Making sure items which may be required are readily accessible.</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511271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‘rating’ of recovery gear stating:</a:t>
            </a:r>
          </a:p>
          <a:p>
            <a:pPr marL="171450" indent="-171450">
              <a:buFont typeface="Arial" pitchFamily="34" charset="0"/>
              <a:buChar char="•"/>
            </a:pPr>
            <a:r>
              <a:rPr lang="en-AU" sz="1200" kern="1200" dirty="0" smtClean="0">
                <a:solidFill>
                  <a:schemeClr val="tx1"/>
                </a:solidFill>
                <a:latin typeface="+mn-lt"/>
                <a:ea typeface="+mn-ea"/>
                <a:cs typeface="+mn-cs"/>
              </a:rPr>
              <a:t>It is important to use recovery gear that is rated correctly for the vehicle and the recovery situation</a:t>
            </a:r>
          </a:p>
          <a:p>
            <a:pPr marL="171450" indent="-171450">
              <a:buFont typeface="Arial" pitchFamily="34" charset="0"/>
              <a:buChar char="•"/>
            </a:pPr>
            <a:r>
              <a:rPr lang="en-AU" sz="1200" kern="1200" dirty="0" smtClean="0">
                <a:solidFill>
                  <a:schemeClr val="tx1"/>
                </a:solidFill>
                <a:latin typeface="+mn-lt"/>
                <a:ea typeface="+mn-ea"/>
                <a:cs typeface="+mn-cs"/>
              </a:rPr>
              <a:t>If incorrect/insufficiently rated gear (cables, straps, mounting points, winches, jacks) is used there is danger posed through:</a:t>
            </a:r>
          </a:p>
          <a:p>
            <a:pPr marL="628650" lvl="1" indent="-171450">
              <a:buFont typeface="Arial" pitchFamily="34" charset="0"/>
              <a:buChar char="•"/>
            </a:pPr>
            <a:r>
              <a:rPr lang="en-AU" sz="1200" kern="1200" dirty="0" smtClean="0">
                <a:solidFill>
                  <a:schemeClr val="tx1"/>
                </a:solidFill>
                <a:latin typeface="+mn-lt"/>
                <a:ea typeface="+mn-ea"/>
                <a:cs typeface="+mn-cs"/>
              </a:rPr>
              <a:t>The snapping/breaking of items</a:t>
            </a:r>
          </a:p>
          <a:p>
            <a:pPr marL="628650" lvl="1" indent="-171450">
              <a:buFont typeface="Arial" pitchFamily="34" charset="0"/>
              <a:buChar char="•"/>
            </a:pPr>
            <a:r>
              <a:rPr lang="en-AU" sz="1200" kern="1200" dirty="0" smtClean="0">
                <a:solidFill>
                  <a:schemeClr val="tx1"/>
                </a:solidFill>
                <a:latin typeface="+mn-lt"/>
                <a:ea typeface="+mn-ea"/>
                <a:cs typeface="+mn-cs"/>
              </a:rPr>
              <a:t>Items being ripped off vehicles</a:t>
            </a:r>
          </a:p>
          <a:p>
            <a:pPr marL="628650" lvl="1" indent="-171450">
              <a:buFont typeface="Arial" pitchFamily="34" charset="0"/>
              <a:buChar char="•"/>
            </a:pPr>
            <a:r>
              <a:rPr lang="en-AU" sz="1200" kern="1200" dirty="0" smtClean="0">
                <a:solidFill>
                  <a:schemeClr val="tx1"/>
                </a:solidFill>
                <a:latin typeface="+mn-lt"/>
                <a:ea typeface="+mn-ea"/>
                <a:cs typeface="+mn-cs"/>
              </a:rPr>
              <a:t>Jacks collapsing under weight</a:t>
            </a:r>
          </a:p>
          <a:p>
            <a:pPr marL="628650" lvl="1" indent="-171450">
              <a:buFont typeface="Arial" pitchFamily="34" charset="0"/>
              <a:buChar char="•"/>
            </a:pPr>
            <a:r>
              <a:rPr lang="en-AU" sz="1200" kern="1200" dirty="0" smtClean="0">
                <a:solidFill>
                  <a:schemeClr val="tx1"/>
                </a:solidFill>
                <a:latin typeface="+mn-lt"/>
                <a:ea typeface="+mn-ea"/>
                <a:cs typeface="+mn-cs"/>
              </a:rPr>
              <a:t>Winches failing under load </a:t>
            </a:r>
          </a:p>
          <a:p>
            <a:pPr marL="171450" indent="-171450">
              <a:buFont typeface="Arial" pitchFamily="34" charset="0"/>
              <a:buChar char="•"/>
            </a:pPr>
            <a:r>
              <a:rPr lang="en-AU" sz="1200" kern="1200" dirty="0" smtClean="0">
                <a:solidFill>
                  <a:schemeClr val="tx1"/>
                </a:solidFill>
                <a:latin typeface="+mn-lt"/>
                <a:ea typeface="+mn-ea"/>
                <a:cs typeface="+mn-cs"/>
              </a:rPr>
              <a:t>Rating refers to the weight (in tons or tonnes) of the vehicle being recovered known as Minimum Breaking Strength (MBS)</a:t>
            </a:r>
          </a:p>
          <a:p>
            <a:pPr marL="171450" indent="-171450">
              <a:buFont typeface="Arial" pitchFamily="34" charset="0"/>
              <a:buChar char="•"/>
            </a:pPr>
            <a:r>
              <a:rPr lang="en-AU" sz="1200" kern="1200" dirty="0" smtClean="0">
                <a:solidFill>
                  <a:schemeClr val="tx1"/>
                </a:solidFill>
                <a:latin typeface="+mn-lt"/>
                <a:ea typeface="+mn-ea"/>
                <a:cs typeface="+mn-cs"/>
              </a:rPr>
              <a:t>Manufacturers may also rate their products in generic classifications such as:</a:t>
            </a:r>
          </a:p>
          <a:p>
            <a:pPr marL="628650" lvl="1" indent="-171450">
              <a:buFont typeface="Arial" pitchFamily="34" charset="0"/>
              <a:buChar char="•"/>
            </a:pPr>
            <a:r>
              <a:rPr lang="en-AU" sz="1200" kern="1200" dirty="0" smtClean="0">
                <a:solidFill>
                  <a:schemeClr val="tx1"/>
                </a:solidFill>
                <a:latin typeface="+mn-lt"/>
                <a:ea typeface="+mn-ea"/>
                <a:cs typeface="+mn-cs"/>
              </a:rPr>
              <a:t>Standard</a:t>
            </a:r>
          </a:p>
          <a:p>
            <a:pPr marL="628650" lvl="1" indent="-171450">
              <a:buFont typeface="Arial" pitchFamily="34" charset="0"/>
              <a:buChar char="•"/>
            </a:pPr>
            <a:r>
              <a:rPr lang="en-AU" sz="1200" kern="1200" dirty="0" smtClean="0">
                <a:solidFill>
                  <a:schemeClr val="tx1"/>
                </a:solidFill>
                <a:latin typeface="+mn-lt"/>
                <a:ea typeface="+mn-ea"/>
                <a:cs typeface="+mn-cs"/>
              </a:rPr>
              <a:t>Heavy Duty</a:t>
            </a:r>
          </a:p>
          <a:p>
            <a:pPr marL="628650" lvl="1" indent="-171450">
              <a:buFont typeface="Arial" pitchFamily="34" charset="0"/>
              <a:buChar char="•"/>
            </a:pPr>
            <a:r>
              <a:rPr lang="en-AU" sz="1200" kern="1200" dirty="0" smtClean="0">
                <a:solidFill>
                  <a:schemeClr val="tx1"/>
                </a:solidFill>
                <a:latin typeface="+mn-lt"/>
                <a:ea typeface="+mn-ea"/>
                <a:cs typeface="+mn-cs"/>
              </a:rPr>
              <a:t>Extra heavy duty.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7466532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recovery gear may include:</a:t>
            </a:r>
          </a:p>
          <a:p>
            <a:pPr marL="171450" indent="-171450">
              <a:buFont typeface="Arial" pitchFamily="34" charset="0"/>
              <a:buChar char="•"/>
            </a:pPr>
            <a:r>
              <a:rPr lang="en-AU" sz="1200" kern="1200" dirty="0" smtClean="0">
                <a:solidFill>
                  <a:schemeClr val="tx1"/>
                </a:solidFill>
                <a:latin typeface="+mn-lt"/>
                <a:ea typeface="+mn-ea"/>
                <a:cs typeface="+mn-cs"/>
              </a:rPr>
              <a:t>A shovel – traditionally a basic long-handled shovel</a:t>
            </a:r>
          </a:p>
          <a:p>
            <a:pPr marL="171450" indent="-171450">
              <a:buFont typeface="Arial" pitchFamily="34" charset="0"/>
              <a:buChar char="•"/>
            </a:pPr>
            <a:r>
              <a:rPr lang="en-AU" sz="1200" kern="1200" dirty="0" smtClean="0">
                <a:solidFill>
                  <a:schemeClr val="tx1"/>
                </a:solidFill>
                <a:latin typeface="+mn-lt"/>
                <a:ea typeface="+mn-ea"/>
                <a:cs typeface="+mn-cs"/>
              </a:rPr>
              <a:t>Tyre deflators – to lower tyre pressures before attempting to drive out of a bogged/trapped situation</a:t>
            </a:r>
          </a:p>
          <a:p>
            <a:pPr marL="171450" indent="-171450">
              <a:buFont typeface="Arial" pitchFamily="34" charset="0"/>
              <a:buChar char="•"/>
            </a:pPr>
            <a:r>
              <a:rPr lang="en-AU" sz="1200" kern="1200" dirty="0" smtClean="0">
                <a:solidFill>
                  <a:schemeClr val="tx1"/>
                </a:solidFill>
                <a:latin typeface="+mn-lt"/>
                <a:ea typeface="+mn-ea"/>
                <a:cs typeface="+mn-cs"/>
              </a:rPr>
              <a:t>Rated shackles (‘D’ shackles or ‘Bow’ shackles) appropriately rated to the weight to be handled – used to attach recovery cables/straps to vehicle mounting points and to attach snatch straps to tree protectors. Never use these to connect two snatch straps together</a:t>
            </a:r>
          </a:p>
          <a:p>
            <a:pPr marL="171450" indent="-171450">
              <a:buFont typeface="Arial" pitchFamily="34" charset="0"/>
              <a:buChar char="•"/>
            </a:pPr>
            <a:r>
              <a:rPr lang="en-AU" sz="1200" kern="1200" dirty="0" smtClean="0">
                <a:solidFill>
                  <a:schemeClr val="tx1"/>
                </a:solidFill>
                <a:latin typeface="+mn-lt"/>
                <a:ea typeface="+mn-ea"/>
                <a:cs typeface="+mn-cs"/>
              </a:rPr>
              <a:t>Drag chains – used to tow another vehicle or to remove (for example, fallen trees) from the track.</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u="sng" kern="1200" dirty="0" smtClean="0">
                <a:solidFill>
                  <a:schemeClr val="tx1"/>
                </a:solidFill>
                <a:latin typeface="+mn-lt"/>
                <a:ea typeface="+mn-ea"/>
                <a:cs typeface="+mn-cs"/>
                <a:hlinkClick r:id="rId3"/>
              </a:rPr>
              <a:t>https://www.youtube.com/watch?v=CDqu3La1nls</a:t>
            </a:r>
            <a:r>
              <a:rPr lang="en-US" sz="1200" kern="1200" dirty="0" smtClean="0">
                <a:solidFill>
                  <a:schemeClr val="tx1"/>
                </a:solidFill>
                <a:latin typeface="+mn-lt"/>
                <a:ea typeface="+mn-ea"/>
                <a:cs typeface="+mn-cs"/>
              </a:rPr>
              <a:t> – 4WD Recovery series Part 1: The essential gear </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(2) – Samples</a:t>
            </a:r>
          </a:p>
          <a:p>
            <a:pPr>
              <a:buFont typeface="Arial" pitchFamily="34" charset="0"/>
              <a:buNone/>
            </a:pPr>
            <a:r>
              <a:rPr lang="en-AU" b="0" noProof="0" dirty="0" smtClean="0"/>
              <a:t>Trainer shows students examples and explains use of recovery items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11140233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recovery gear may include:</a:t>
            </a:r>
          </a:p>
          <a:p>
            <a:pPr marL="171450" indent="-171450">
              <a:buFont typeface="Arial" pitchFamily="34" charset="0"/>
              <a:buChar char="•"/>
            </a:pPr>
            <a:r>
              <a:rPr lang="en-AU" sz="1200" kern="1200" dirty="0" smtClean="0">
                <a:solidFill>
                  <a:schemeClr val="tx1"/>
                </a:solidFill>
                <a:latin typeface="+mn-lt"/>
                <a:ea typeface="+mn-ea"/>
                <a:cs typeface="+mn-cs"/>
              </a:rPr>
              <a:t>Snatch straps – which are used in combination with another vehicle to extricate (‘snatch’) a trapped vehicle free from sand or mud</a:t>
            </a:r>
          </a:p>
          <a:p>
            <a:pPr marL="171450" indent="-171450">
              <a:buFont typeface="Arial" pitchFamily="34" charset="0"/>
              <a:buChar char="•"/>
            </a:pPr>
            <a:r>
              <a:rPr lang="en-AU" sz="1200" kern="1200" dirty="0" smtClean="0">
                <a:solidFill>
                  <a:schemeClr val="tx1"/>
                </a:solidFill>
                <a:latin typeface="+mn-lt"/>
                <a:ea typeface="+mn-ea"/>
                <a:cs typeface="+mn-cs"/>
              </a:rPr>
              <a:t>Winches and cables – including electric winches, PTO winches, hydraulic winches, capstan (‘wheel’) winches, hand-operated winches and snatch blocks</a:t>
            </a:r>
          </a:p>
          <a:p>
            <a:pPr marL="171450" indent="-171450">
              <a:buFont typeface="Arial" pitchFamily="34" charset="0"/>
              <a:buChar char="•"/>
            </a:pPr>
            <a:r>
              <a:rPr lang="en-AU" sz="1200" kern="1200" dirty="0" smtClean="0">
                <a:solidFill>
                  <a:schemeClr val="tx1"/>
                </a:solidFill>
                <a:latin typeface="+mn-lt"/>
                <a:ea typeface="+mn-ea"/>
                <a:cs typeface="+mn-cs"/>
              </a:rPr>
              <a:t>Inflatable bags – inflated by pumps or the exhaust   </a:t>
            </a:r>
          </a:p>
          <a:p>
            <a:pPr marL="171450" indent="-171450">
              <a:buFont typeface="Arial" pitchFamily="34" charset="0"/>
              <a:buChar char="•"/>
            </a:pPr>
            <a:r>
              <a:rPr lang="en-AU" sz="1200" kern="1200" dirty="0" smtClean="0">
                <a:solidFill>
                  <a:schemeClr val="tx1"/>
                </a:solidFill>
                <a:latin typeface="+mn-lt"/>
                <a:ea typeface="+mn-ea"/>
                <a:cs typeface="+mn-cs"/>
              </a:rPr>
              <a:t>Jacks – including standard scissor and bottle jacks as well as high-lift jacks (also known as ‘kangaroo jacks’)</a:t>
            </a:r>
          </a:p>
          <a:p>
            <a:pPr marL="171450" indent="-171450">
              <a:buFont typeface="Arial" pitchFamily="34" charset="0"/>
              <a:buChar char="•"/>
            </a:pPr>
            <a:r>
              <a:rPr lang="en-AU" sz="1200" kern="1200" dirty="0" smtClean="0">
                <a:solidFill>
                  <a:schemeClr val="tx1"/>
                </a:solidFill>
                <a:latin typeface="+mn-lt"/>
                <a:ea typeface="+mn-ea"/>
                <a:cs typeface="+mn-cs"/>
              </a:rPr>
              <a:t>Recovery tracks and/or sand ladders – for sand and bog recoveries as well as for bridging gaps.</a:t>
            </a: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Samples</a:t>
            </a:r>
          </a:p>
          <a:p>
            <a:pPr>
              <a:buFont typeface="Arial" pitchFamily="34" charset="0"/>
              <a:buNone/>
            </a:pPr>
            <a:r>
              <a:rPr lang="en-AU" b="0" noProof="0" dirty="0" smtClean="0"/>
              <a:t>Trainer shows students examples and explains use of recovery items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1794062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recovery gear may include:</a:t>
            </a:r>
          </a:p>
          <a:p>
            <a:pPr marL="171450" indent="-171450">
              <a:buFont typeface="Arial" pitchFamily="34" charset="0"/>
              <a:buChar char="•"/>
            </a:pPr>
            <a:r>
              <a:rPr lang="en-AU" sz="1200" kern="1200" dirty="0" smtClean="0">
                <a:solidFill>
                  <a:schemeClr val="tx1"/>
                </a:solidFill>
                <a:latin typeface="+mn-lt"/>
                <a:ea typeface="+mn-ea"/>
                <a:cs typeface="+mn-cs"/>
              </a:rPr>
              <a:t>Accessories – such as:</a:t>
            </a:r>
          </a:p>
          <a:p>
            <a:pPr marL="628650" lvl="1" indent="-171450">
              <a:buFont typeface="Arial" pitchFamily="34" charset="0"/>
              <a:buChar char="•"/>
            </a:pPr>
            <a:r>
              <a:rPr lang="en-US" sz="1200" kern="1200" dirty="0" smtClean="0">
                <a:solidFill>
                  <a:schemeClr val="tx1"/>
                </a:solidFill>
                <a:latin typeface="+mn-lt"/>
                <a:ea typeface="+mn-ea"/>
                <a:cs typeface="+mn-cs"/>
              </a:rPr>
              <a:t>Winch gloves – to protect hands when handing winch cables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Winch extensions – to give extra length to winch cables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Extension straps – to give extra length to snatch straps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Snatch strap joiners – to assist in the joining of snatch straps so they can be easily disconnected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Tree protectors – to wrap around tress to protect them when winching out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Equaliser straps – effectively allows snatch straps to be connected to two recovery points on the vehicle being recovered instead of just one thereby spreading the load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Recovery blankets/dampers (also known as a cable dampener) – placed over cables and snatch straps when winching or snatching to absorb energy and protect by-standers in the event a winch cable or strap breaks when under load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Ground anchors – used to help recover a vehicle where there are no natural recovery points/trees to attach a winch cable to.</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Samples</a:t>
            </a:r>
          </a:p>
          <a:p>
            <a:pPr>
              <a:buFont typeface="Arial" pitchFamily="34" charset="0"/>
              <a:buNone/>
            </a:pPr>
            <a:r>
              <a:rPr lang="en-AU" b="0" noProof="0" dirty="0" smtClean="0"/>
              <a:t>Trainer shows students examples and explains use of recovery items identified on the slide.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40598438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recovery techniques:</a:t>
            </a:r>
          </a:p>
          <a:p>
            <a:r>
              <a:rPr lang="en-AU" sz="1200" b="1" kern="1200" dirty="0" smtClean="0">
                <a:solidFill>
                  <a:schemeClr val="tx1"/>
                </a:solidFill>
                <a:latin typeface="+mn-lt"/>
                <a:ea typeface="+mn-ea"/>
                <a:cs typeface="+mn-cs"/>
              </a:rPr>
              <a:t>Using long-handled shovel</a:t>
            </a:r>
          </a:p>
          <a:p>
            <a:r>
              <a:rPr lang="en-AU" sz="1200" kern="1200" dirty="0" smtClean="0">
                <a:solidFill>
                  <a:schemeClr val="tx1"/>
                </a:solidFill>
                <a:latin typeface="+mn-lt"/>
                <a:ea typeface="+mn-ea"/>
                <a:cs typeface="+mn-cs"/>
              </a:rPr>
              <a:t>The long-handled shovel is a basic recovery tool often used as a first-response when vehicles are stuck, or to even out tracks to prevent vehicles </a:t>
            </a:r>
            <a:r>
              <a:rPr lang="en-AU" sz="1200" i="1" kern="1200" dirty="0" smtClean="0">
                <a:solidFill>
                  <a:schemeClr val="tx1"/>
                </a:solidFill>
                <a:latin typeface="+mn-lt"/>
                <a:ea typeface="+mn-ea"/>
                <a:cs typeface="+mn-cs"/>
              </a:rPr>
              <a:t>becoming</a:t>
            </a:r>
            <a:r>
              <a:rPr lang="en-AU" sz="1200" kern="1200" dirty="0" smtClean="0">
                <a:solidFill>
                  <a:schemeClr val="tx1"/>
                </a:solidFill>
                <a:latin typeface="+mn-lt"/>
                <a:ea typeface="+mn-ea"/>
                <a:cs typeface="+mn-cs"/>
              </a:rPr>
              <a:t> trapped.</a:t>
            </a:r>
          </a:p>
          <a:p>
            <a:r>
              <a:rPr lang="en-AU" sz="1200" kern="1200" dirty="0" smtClean="0">
                <a:solidFill>
                  <a:schemeClr val="tx1"/>
                </a:solidFill>
                <a:latin typeface="+mn-lt"/>
                <a:ea typeface="+mn-ea"/>
                <a:cs typeface="+mn-cs"/>
              </a:rPr>
              <a:t>They are used for:</a:t>
            </a:r>
          </a:p>
          <a:p>
            <a:pPr marL="171450" indent="-171450">
              <a:buFont typeface="Arial" pitchFamily="34" charset="0"/>
              <a:buChar char="•"/>
            </a:pPr>
            <a:r>
              <a:rPr lang="en-AU" sz="1200" kern="1200" dirty="0" smtClean="0">
                <a:solidFill>
                  <a:schemeClr val="tx1"/>
                </a:solidFill>
                <a:latin typeface="+mn-lt"/>
                <a:ea typeface="+mn-ea"/>
                <a:cs typeface="+mn-cs"/>
              </a:rPr>
              <a:t>Digging away sand or dirt – from under the wheels of vehicles </a:t>
            </a:r>
          </a:p>
          <a:p>
            <a:pPr marL="171450" indent="-171450">
              <a:buFont typeface="Arial" pitchFamily="34" charset="0"/>
              <a:buChar char="•"/>
            </a:pPr>
            <a:r>
              <a:rPr lang="en-AU" sz="1200" kern="1200" dirty="0" smtClean="0">
                <a:solidFill>
                  <a:schemeClr val="tx1"/>
                </a:solidFill>
                <a:latin typeface="+mn-lt"/>
                <a:ea typeface="+mn-ea"/>
                <a:cs typeface="+mn-cs"/>
              </a:rPr>
              <a:t>Getting rid of debris from tracks/routes</a:t>
            </a:r>
          </a:p>
          <a:p>
            <a:pPr marL="171450" indent="-171450">
              <a:buFont typeface="Arial" pitchFamily="34" charset="0"/>
              <a:buChar char="•"/>
            </a:pPr>
            <a:r>
              <a:rPr lang="en-AU" sz="1200" kern="1200" dirty="0" smtClean="0">
                <a:solidFill>
                  <a:schemeClr val="tx1"/>
                </a:solidFill>
                <a:latin typeface="+mn-lt"/>
                <a:ea typeface="+mn-ea"/>
                <a:cs typeface="+mn-cs"/>
              </a:rPr>
              <a:t>Removing unwanted soil or material from approach and departure angles of river crossings and steep inclines.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a:buFont typeface="Arial" pitchFamily="34" charset="0"/>
              <a:buNone/>
            </a:pPr>
            <a:r>
              <a:rPr lang="en-AU" sz="1200" u="sng" kern="1200" dirty="0" smtClean="0">
                <a:solidFill>
                  <a:schemeClr val="tx1"/>
                </a:solidFill>
                <a:latin typeface="+mn-lt"/>
                <a:ea typeface="+mn-ea"/>
                <a:cs typeface="+mn-cs"/>
                <a:hlinkClick r:id="rId3"/>
              </a:rPr>
              <a:t>http://www.iventureclub.com.au/4x4-tips/article.html?k=cSwbJ7Nu3UQ</a:t>
            </a:r>
            <a:r>
              <a:rPr lang="en-AU" sz="1200" kern="1200" dirty="0" smtClean="0">
                <a:solidFill>
                  <a:schemeClr val="tx1"/>
                </a:solidFill>
                <a:latin typeface="+mn-lt"/>
                <a:ea typeface="+mn-ea"/>
                <a:cs typeface="+mn-cs"/>
              </a:rPr>
              <a:t> 4x4: Solo recovery.</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21062554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snatch strap recovery:</a:t>
            </a:r>
          </a:p>
          <a:p>
            <a:pPr marL="171450" indent="-171450">
              <a:buFont typeface="Arial" pitchFamily="34" charset="0"/>
              <a:buChar char="•"/>
            </a:pPr>
            <a:r>
              <a:rPr lang="en-AU" sz="1200" kern="1200" dirty="0" smtClean="0">
                <a:solidFill>
                  <a:schemeClr val="tx1"/>
                </a:solidFill>
                <a:latin typeface="+mn-lt"/>
                <a:ea typeface="+mn-ea"/>
                <a:cs typeface="+mn-cs"/>
              </a:rPr>
              <a:t>Attaching strap to vehicle mounting/recovery points only on both vehicles – and not to tow ball, bull bar or bumper bar</a:t>
            </a:r>
          </a:p>
          <a:p>
            <a:pPr marL="171450" indent="-171450">
              <a:buFont typeface="Arial" pitchFamily="34" charset="0"/>
              <a:buChar char="•"/>
            </a:pPr>
            <a:r>
              <a:rPr lang="en-AU" sz="1200" kern="1200" dirty="0" smtClean="0">
                <a:solidFill>
                  <a:schemeClr val="tx1"/>
                </a:solidFill>
                <a:latin typeface="+mn-lt"/>
                <a:ea typeface="+mn-ea"/>
                <a:cs typeface="+mn-cs"/>
              </a:rPr>
              <a:t>Unrolling the strap between the two vehicles making sure the strap is straight, not twisted and clear between the vehicles – and is not kinked or blocked by obstacles</a:t>
            </a:r>
          </a:p>
          <a:p>
            <a:pPr marL="171450" indent="-171450">
              <a:buFont typeface="Arial" pitchFamily="34" charset="0"/>
              <a:buChar char="•"/>
            </a:pPr>
            <a:r>
              <a:rPr lang="en-AU" sz="1200" kern="1200" dirty="0" smtClean="0">
                <a:solidFill>
                  <a:schemeClr val="tx1"/>
                </a:solidFill>
                <a:latin typeface="+mn-lt"/>
                <a:ea typeface="+mn-ea"/>
                <a:cs typeface="+mn-cs"/>
              </a:rPr>
              <a:t>Adding another snatch strap – where extra length is required between the recovery vehicle and the trapped/bogged vehicle</a:t>
            </a:r>
          </a:p>
          <a:p>
            <a:pPr marL="171450" indent="-171450">
              <a:buFont typeface="Arial" pitchFamily="34" charset="0"/>
              <a:buChar char="•"/>
            </a:pPr>
            <a:r>
              <a:rPr lang="en-AU" sz="1200" kern="1200" dirty="0" smtClean="0">
                <a:solidFill>
                  <a:schemeClr val="tx1"/>
                </a:solidFill>
                <a:latin typeface="+mn-lt"/>
                <a:ea typeface="+mn-ea"/>
                <a:cs typeface="+mn-cs"/>
              </a:rPr>
              <a:t>Attaching strap to vehicles:</a:t>
            </a:r>
          </a:p>
          <a:p>
            <a:pPr marL="628650" lvl="1" indent="-171450">
              <a:buFont typeface="Arial" pitchFamily="34" charset="0"/>
              <a:buChar char="•"/>
            </a:pPr>
            <a:r>
              <a:rPr lang="en-US" sz="1200" kern="1200" dirty="0" smtClean="0">
                <a:solidFill>
                  <a:schemeClr val="tx1"/>
                </a:solidFill>
                <a:latin typeface="+mn-lt"/>
                <a:ea typeface="+mn-ea"/>
                <a:cs typeface="+mn-cs"/>
              </a:rPr>
              <a:t>Using a rated shackle – as opposed to simply looping over an attachment point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Securing to central mounting/recovery points on both vehicles.</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https://www.youtube.com/watch?v=-Ire31FrEAI</a:t>
            </a:r>
            <a:r>
              <a:rPr lang="en-AU" sz="1200" kern="1200" dirty="0" smtClean="0">
                <a:solidFill>
                  <a:schemeClr val="tx1"/>
                </a:solidFill>
                <a:latin typeface="+mn-lt"/>
                <a:ea typeface="+mn-ea"/>
                <a:cs typeface="+mn-cs"/>
              </a:rPr>
              <a:t> – Snatch strap recovery technique</a:t>
            </a:r>
          </a:p>
          <a:p>
            <a:r>
              <a:rPr lang="en-AU" sz="1200" u="sng" kern="1200" dirty="0" smtClean="0">
                <a:solidFill>
                  <a:schemeClr val="tx1"/>
                </a:solidFill>
                <a:latin typeface="+mn-lt"/>
                <a:ea typeface="+mn-ea"/>
                <a:cs typeface="+mn-cs"/>
                <a:hlinkClick r:id="rId4"/>
              </a:rPr>
              <a:t>https://www.youtube.com/watch?v=bRRhfz4tdRg</a:t>
            </a:r>
            <a:r>
              <a:rPr lang="en-AU" sz="1200" kern="1200" dirty="0" smtClean="0">
                <a:solidFill>
                  <a:schemeClr val="tx1"/>
                </a:solidFill>
                <a:latin typeface="+mn-lt"/>
                <a:ea typeface="+mn-ea"/>
                <a:cs typeface="+mn-cs"/>
              </a:rPr>
              <a:t> – Ask an expert 031: Attaching a snatch strap</a:t>
            </a:r>
          </a:p>
          <a:p>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00929875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snatch strap recovery:</a:t>
            </a:r>
          </a:p>
          <a:p>
            <a:pPr marL="171450" indent="-171450">
              <a:buFont typeface="Arial" pitchFamily="34" charset="0"/>
              <a:buChar char="•"/>
            </a:pPr>
            <a:r>
              <a:rPr lang="en-AU" sz="1200" kern="1200" dirty="0" smtClean="0">
                <a:solidFill>
                  <a:schemeClr val="tx1"/>
                </a:solidFill>
                <a:latin typeface="+mn-lt"/>
                <a:ea typeface="+mn-ea"/>
                <a:cs typeface="+mn-cs"/>
              </a:rPr>
              <a:t>Using long-handled shovel to remove build up in front of the wheels – in the direction the recovery will occur</a:t>
            </a:r>
          </a:p>
          <a:p>
            <a:pPr marL="171450" indent="-171450">
              <a:buFont typeface="Arial" pitchFamily="34" charset="0"/>
              <a:buChar char="•"/>
            </a:pPr>
            <a:r>
              <a:rPr lang="en-AU" sz="1200" kern="1200" dirty="0" smtClean="0">
                <a:solidFill>
                  <a:schemeClr val="tx1"/>
                </a:solidFill>
                <a:latin typeface="+mn-lt"/>
                <a:ea typeface="+mn-ea"/>
                <a:cs typeface="+mn-cs"/>
              </a:rPr>
              <a:t>Position the recovery vehicle so there is about three metres of slack in the snatch strap – to allow for a run-up to ‘snatch’ the trapped vehicle from its position</a:t>
            </a:r>
          </a:p>
          <a:p>
            <a:pPr marL="171450" indent="-171450">
              <a:buFont typeface="Arial" pitchFamily="34" charset="0"/>
              <a:buChar char="•"/>
            </a:pPr>
            <a:r>
              <a:rPr lang="en-AU" sz="1200" kern="1200" dirty="0" smtClean="0">
                <a:solidFill>
                  <a:schemeClr val="tx1"/>
                </a:solidFill>
                <a:latin typeface="+mn-lt"/>
                <a:ea typeface="+mn-ea"/>
                <a:cs typeface="+mn-cs"/>
              </a:rPr>
              <a:t>Placing recovery damper/blanket across snatch strap in the middle third part of the strap – for safety reasons</a:t>
            </a:r>
          </a:p>
          <a:p>
            <a:pPr marL="171450" indent="-171450">
              <a:buFont typeface="Arial" pitchFamily="34" charset="0"/>
              <a:buChar char="•"/>
            </a:pPr>
            <a:r>
              <a:rPr lang="en-AU" sz="1200" kern="1200" dirty="0" smtClean="0">
                <a:solidFill>
                  <a:schemeClr val="tx1"/>
                </a:solidFill>
                <a:latin typeface="+mn-lt"/>
                <a:ea typeface="+mn-ea"/>
                <a:cs typeface="+mn-cs"/>
              </a:rPr>
              <a:t>Ensuring effective communication between the recovery vehicle and the trapped vehicle – so the two drivers can coordinate their actions</a:t>
            </a:r>
          </a:p>
          <a:p>
            <a:pPr marL="171450" indent="-171450">
              <a:buFont typeface="Arial" pitchFamily="34" charset="0"/>
              <a:buChar char="•"/>
            </a:pPr>
            <a:r>
              <a:rPr lang="en-AU" sz="1200" kern="1200" dirty="0" smtClean="0">
                <a:solidFill>
                  <a:schemeClr val="tx1"/>
                </a:solidFill>
                <a:latin typeface="+mn-lt"/>
                <a:ea typeface="+mn-ea"/>
                <a:cs typeface="+mn-cs"/>
              </a:rPr>
              <a:t>Starting the trapped/vehicle and engaging 4WD, Low range, first gear.</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https://www.youtube.com/watch?v=oT6R6yTg6R0</a:t>
            </a:r>
            <a:r>
              <a:rPr lang="en-AU" sz="1200" kern="1200" dirty="0" smtClean="0">
                <a:solidFill>
                  <a:schemeClr val="tx1"/>
                </a:solidFill>
                <a:latin typeface="+mn-lt"/>
                <a:ea typeface="+mn-ea"/>
                <a:cs typeface="+mn-cs"/>
              </a:rPr>
              <a:t> – Mad Matt’s Snatch Strap Recovery Tips </a:t>
            </a:r>
          </a:p>
          <a:p>
            <a:r>
              <a:rPr lang="en-AU" sz="1200" u="sng" kern="1200" dirty="0" smtClean="0">
                <a:solidFill>
                  <a:schemeClr val="tx1"/>
                </a:solidFill>
                <a:latin typeface="+mn-lt"/>
                <a:ea typeface="+mn-ea"/>
                <a:cs typeface="+mn-cs"/>
                <a:hlinkClick r:id="rId4"/>
              </a:rPr>
              <a:t>https://www.youtube.com/watch?v=i7GSL3o1pUU</a:t>
            </a:r>
            <a:r>
              <a:rPr lang="en-AU" sz="1200" kern="1200" dirty="0" smtClean="0">
                <a:solidFill>
                  <a:schemeClr val="tx1"/>
                </a:solidFill>
                <a:latin typeface="+mn-lt"/>
                <a:ea typeface="+mn-ea"/>
                <a:cs typeface="+mn-cs"/>
              </a:rPr>
              <a:t> – 4WDRecovery series Part 2: Snatch strap recovery technique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77707779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snatch strap recovery:</a:t>
            </a:r>
          </a:p>
          <a:p>
            <a:pPr marL="171450" indent="-171450">
              <a:buFont typeface="Arial" pitchFamily="34" charset="0"/>
              <a:buChar char="•"/>
            </a:pPr>
            <a:r>
              <a:rPr lang="en-AU" sz="1200" kern="1200" dirty="0" smtClean="0">
                <a:solidFill>
                  <a:schemeClr val="tx1"/>
                </a:solidFill>
                <a:latin typeface="+mn-lt"/>
                <a:ea typeface="+mn-ea"/>
                <a:cs typeface="+mn-cs"/>
              </a:rPr>
              <a:t>Confirming between drivers their readiness to start the procedure</a:t>
            </a:r>
          </a:p>
          <a:p>
            <a:pPr marL="171450" indent="-171450">
              <a:buFont typeface="Arial" pitchFamily="34" charset="0"/>
              <a:buChar char="•"/>
            </a:pPr>
            <a:r>
              <a:rPr lang="en-AU" sz="1200" kern="1200" dirty="0" smtClean="0">
                <a:solidFill>
                  <a:schemeClr val="tx1"/>
                </a:solidFill>
                <a:latin typeface="+mn-lt"/>
                <a:ea typeface="+mn-ea"/>
                <a:cs typeface="+mn-cs"/>
              </a:rPr>
              <a:t>Driving the recovery vehicle forward at a medium/moderate rate in 4WD, Low range, second gear – as opposed to racing forward quickly at high speed</a:t>
            </a:r>
          </a:p>
          <a:p>
            <a:pPr marL="171450" indent="-171450">
              <a:buFont typeface="Arial" pitchFamily="34" charset="0"/>
              <a:buChar char="•"/>
            </a:pPr>
            <a:r>
              <a:rPr lang="en-AU" sz="1200" kern="1200" dirty="0" smtClean="0">
                <a:solidFill>
                  <a:schemeClr val="tx1"/>
                </a:solidFill>
                <a:latin typeface="+mn-lt"/>
                <a:ea typeface="+mn-ea"/>
                <a:cs typeface="+mn-cs"/>
              </a:rPr>
              <a:t>Accelerating the trapped vehicle so it can assist the recovery vehicle when the snatch strap takes effect</a:t>
            </a:r>
          </a:p>
          <a:p>
            <a:pPr marL="171450" indent="-171450">
              <a:buFont typeface="Arial" pitchFamily="34" charset="0"/>
              <a:buChar char="•"/>
            </a:pPr>
            <a:r>
              <a:rPr lang="en-AU" sz="1200" kern="1200" dirty="0" smtClean="0">
                <a:solidFill>
                  <a:schemeClr val="tx1"/>
                </a:solidFill>
                <a:latin typeface="+mn-lt"/>
                <a:ea typeface="+mn-ea"/>
                <a:cs typeface="+mn-cs"/>
              </a:rPr>
              <a:t>Realising the vehicle does not have to be recovered/freed on the first attempt – it is possible/may be necessary to repeat and repeat to free the trapped vehicle.</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shows students how to recover a vehicle using a snatch strap and provides an opportunity for students</a:t>
            </a:r>
            <a:r>
              <a:rPr lang="en-AU" b="0" baseline="0" noProof="0" dirty="0" smtClean="0"/>
              <a:t> to do the same</a:t>
            </a:r>
            <a:r>
              <a:rPr lang="en-AU" b="0" noProof="0" dirty="0" smtClean="0"/>
              <a: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5654069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recovery techniques:</a:t>
            </a:r>
          </a:p>
          <a:p>
            <a:r>
              <a:rPr lang="en-AU" b="1" noProof="0" dirty="0" smtClean="0"/>
              <a:t>Using electric winch</a:t>
            </a:r>
          </a:p>
          <a:p>
            <a:pPr marL="171450" indent="-171450">
              <a:buFont typeface="Arial" pitchFamily="34" charset="0"/>
              <a:buChar char="•"/>
            </a:pPr>
            <a:r>
              <a:rPr lang="en-AU" sz="1200" kern="1200" dirty="0" smtClean="0">
                <a:solidFill>
                  <a:schemeClr val="tx1"/>
                </a:solidFill>
                <a:latin typeface="+mn-lt"/>
                <a:ea typeface="+mn-ea"/>
                <a:cs typeface="+mn-cs"/>
              </a:rPr>
              <a:t>Always wear gloves</a:t>
            </a:r>
          </a:p>
          <a:p>
            <a:pPr marL="171450" indent="-171450">
              <a:buFont typeface="Arial" pitchFamily="34" charset="0"/>
              <a:buChar char="•"/>
            </a:pPr>
            <a:r>
              <a:rPr lang="en-AU" sz="1200" kern="1200" dirty="0" smtClean="0">
                <a:solidFill>
                  <a:schemeClr val="tx1"/>
                </a:solidFill>
                <a:latin typeface="+mn-lt"/>
                <a:ea typeface="+mn-ea"/>
                <a:cs typeface="+mn-cs"/>
              </a:rPr>
              <a:t>Always follow manufacturer’s instructions – especially as these apply to:</a:t>
            </a:r>
          </a:p>
          <a:p>
            <a:pPr marL="628650" lvl="1" indent="-171450">
              <a:buFont typeface="Arial" pitchFamily="34" charset="0"/>
              <a:buChar char="•"/>
            </a:pPr>
            <a:r>
              <a:rPr lang="en-US" sz="1200" kern="1200" dirty="0" smtClean="0">
                <a:solidFill>
                  <a:schemeClr val="tx1"/>
                </a:solidFill>
                <a:latin typeface="+mn-lt"/>
                <a:ea typeface="+mn-ea"/>
                <a:cs typeface="+mn-cs"/>
              </a:rPr>
              <a:t>Safety issues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the winch</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Use of attachments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Unwind the cable off the winch – giving sufficient length to attach to the recovery point: add extra lengths of cable if necessary</a:t>
            </a:r>
          </a:p>
          <a:p>
            <a:pPr marL="171450" indent="-171450">
              <a:buFont typeface="Arial" pitchFamily="34" charset="0"/>
              <a:buChar char="•"/>
            </a:pPr>
            <a:r>
              <a:rPr lang="en-AU" sz="1200" kern="1200" dirty="0" smtClean="0">
                <a:solidFill>
                  <a:schemeClr val="tx1"/>
                </a:solidFill>
                <a:latin typeface="+mn-lt"/>
                <a:ea typeface="+mn-ea"/>
                <a:cs typeface="+mn-cs"/>
              </a:rPr>
              <a:t>Place  tree protector around the tree – and attach the winch cable with a rated shackle.</a:t>
            </a:r>
          </a:p>
          <a:p>
            <a:endParaRPr lang="en-AU" b="1"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https://www.youtube.com/watch?v=AKLtDFz5WgU</a:t>
            </a:r>
            <a:r>
              <a:rPr lang="en-AU" sz="1200" kern="1200" dirty="0" smtClean="0">
                <a:solidFill>
                  <a:schemeClr val="tx1"/>
                </a:solidFill>
                <a:latin typeface="+mn-lt"/>
                <a:ea typeface="+mn-ea"/>
                <a:cs typeface="+mn-cs"/>
              </a:rPr>
              <a:t> – 4WDRecovery series Part 3: Basic winching techniques</a:t>
            </a:r>
          </a:p>
          <a:p>
            <a:r>
              <a:rPr lang="en-AU" sz="1200" u="sng" kern="1200" dirty="0" smtClean="0">
                <a:solidFill>
                  <a:schemeClr val="tx1"/>
                </a:solidFill>
                <a:latin typeface="+mn-lt"/>
                <a:ea typeface="+mn-ea"/>
                <a:cs typeface="+mn-cs"/>
                <a:hlinkClick r:id="rId4"/>
              </a:rPr>
              <a:t>https://www.youtube.com/watch?v=L2l_-3lpHII</a:t>
            </a:r>
            <a:r>
              <a:rPr lang="en-AU" sz="1200" kern="1200" dirty="0" smtClean="0">
                <a:solidFill>
                  <a:schemeClr val="tx1"/>
                </a:solidFill>
                <a:latin typeface="+mn-lt"/>
                <a:ea typeface="+mn-ea"/>
                <a:cs typeface="+mn-cs"/>
              </a:rPr>
              <a:t> – 4WDRecovery series Part 4: Advanced winching techniques   </a:t>
            </a:r>
          </a:p>
          <a:p>
            <a:r>
              <a:rPr lang="en-AU" sz="1200" u="sng" kern="1200" dirty="0" smtClean="0">
                <a:solidFill>
                  <a:schemeClr val="tx1"/>
                </a:solidFill>
                <a:latin typeface="+mn-lt"/>
                <a:ea typeface="+mn-ea"/>
                <a:cs typeface="+mn-cs"/>
                <a:hlinkClick r:id="rId5"/>
              </a:rPr>
              <a:t>https://www.youtube.com/watch?v=StZHlHD09XM</a:t>
            </a:r>
            <a:r>
              <a:rPr lang="en-AU" sz="1200" kern="1200" dirty="0" smtClean="0">
                <a:solidFill>
                  <a:schemeClr val="tx1"/>
                </a:solidFill>
                <a:latin typeface="+mn-lt"/>
                <a:ea typeface="+mn-ea"/>
                <a:cs typeface="+mn-cs"/>
              </a:rPr>
              <a:t> – 4x4 The basic guide to winching techniques</a:t>
            </a:r>
          </a:p>
          <a:p>
            <a:r>
              <a:rPr lang="en-AU" sz="1200" u="sng" kern="1200" dirty="0" smtClean="0">
                <a:solidFill>
                  <a:schemeClr val="tx1"/>
                </a:solidFill>
                <a:latin typeface="+mn-lt"/>
                <a:ea typeface="+mn-ea"/>
                <a:cs typeface="+mn-cs"/>
                <a:hlinkClick r:id="rId6"/>
              </a:rPr>
              <a:t>https://www.youtube.com/watch?v=jatVOGInI64</a:t>
            </a:r>
            <a:r>
              <a:rPr lang="en-AU" sz="1200" kern="1200" dirty="0" smtClean="0">
                <a:solidFill>
                  <a:schemeClr val="tx1"/>
                </a:solidFill>
                <a:latin typeface="+mn-lt"/>
                <a:ea typeface="+mn-ea"/>
                <a:cs typeface="+mn-cs"/>
              </a:rPr>
              <a:t> – 4WD winching techniques with Pat Callinan – Ray’s Outdoor</a:t>
            </a:r>
            <a:endParaRPr lang="en-AU" b="1"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7414223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electric winch recovery:</a:t>
            </a:r>
          </a:p>
          <a:p>
            <a:pPr marL="171450" indent="-171450">
              <a:buFont typeface="Arial" pitchFamily="34" charset="0"/>
              <a:buChar char="•"/>
            </a:pPr>
            <a:r>
              <a:rPr lang="en-AU" sz="1200" kern="1200" dirty="0" smtClean="0">
                <a:solidFill>
                  <a:schemeClr val="tx1"/>
                </a:solidFill>
                <a:latin typeface="+mn-lt"/>
                <a:ea typeface="+mn-ea"/>
                <a:cs typeface="+mn-cs"/>
              </a:rPr>
              <a:t>Drape a winch dampener over the cable – as a safety precaution</a:t>
            </a:r>
          </a:p>
          <a:p>
            <a:pPr marL="171450" indent="-171450">
              <a:buFont typeface="Arial" pitchFamily="34" charset="0"/>
              <a:buChar char="•"/>
            </a:pPr>
            <a:r>
              <a:rPr lang="en-AU" sz="1200" kern="1200" dirty="0" smtClean="0">
                <a:solidFill>
                  <a:schemeClr val="tx1"/>
                </a:solidFill>
                <a:latin typeface="+mn-lt"/>
                <a:ea typeface="+mn-ea"/>
                <a:cs typeface="+mn-cs"/>
              </a:rPr>
              <a:t>Take up the slack on the cable between the tree and the trapped vehicle – guide the cable as it winds back on to the winch to ensure it rolls on evenly and smoothly</a:t>
            </a:r>
          </a:p>
          <a:p>
            <a:pPr marL="171450" indent="-171450">
              <a:buFont typeface="Arial" pitchFamily="34" charset="0"/>
              <a:buChar char="•"/>
            </a:pPr>
            <a:r>
              <a:rPr lang="en-AU" sz="1200" kern="1200" dirty="0" smtClean="0">
                <a:solidFill>
                  <a:schemeClr val="tx1"/>
                </a:solidFill>
                <a:latin typeface="+mn-lt"/>
                <a:ea typeface="+mn-ea"/>
                <a:cs typeface="+mn-cs"/>
              </a:rPr>
              <a:t>Verify passengers are out of danger</a:t>
            </a:r>
          </a:p>
          <a:p>
            <a:pPr marL="171450" indent="-171450">
              <a:buFont typeface="Arial" pitchFamily="34" charset="0"/>
              <a:buChar char="•"/>
            </a:pPr>
            <a:r>
              <a:rPr lang="en-AU" sz="1200" kern="1200" dirty="0" smtClean="0">
                <a:solidFill>
                  <a:schemeClr val="tx1"/>
                </a:solidFill>
                <a:latin typeface="+mn-lt"/>
                <a:ea typeface="+mn-ea"/>
                <a:cs typeface="+mn-cs"/>
              </a:rPr>
              <a:t>Start the recovery by engaging the winch – opinions vary and there are two basic options:</a:t>
            </a:r>
          </a:p>
          <a:p>
            <a:pPr marL="628650" lvl="1" indent="-171450">
              <a:buFont typeface="Arial" pitchFamily="34" charset="0"/>
              <a:buChar char="•"/>
            </a:pPr>
            <a:r>
              <a:rPr lang="en-US" sz="1200" kern="1200" dirty="0" smtClean="0">
                <a:solidFill>
                  <a:schemeClr val="tx1"/>
                </a:solidFill>
                <a:latin typeface="+mn-lt"/>
                <a:ea typeface="+mn-ea"/>
                <a:cs typeface="+mn-cs"/>
              </a:rPr>
              <a:t>Allow the winch to do all the work and recover the vehicle on its own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Put the vehicle in 4WD Low range first or second gear and gently accelerate to assist the action of the winch.</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https://www.youtube.com/watch?v=StZHlHD09XM</a:t>
            </a:r>
            <a:r>
              <a:rPr lang="en-AU" sz="1200" kern="1200" dirty="0" smtClean="0">
                <a:solidFill>
                  <a:schemeClr val="tx1"/>
                </a:solidFill>
                <a:latin typeface="+mn-lt"/>
                <a:ea typeface="+mn-ea"/>
                <a:cs typeface="+mn-cs"/>
              </a:rPr>
              <a:t> – The basic guide to winching techniques [for electric winches]</a:t>
            </a:r>
          </a:p>
          <a:p>
            <a:r>
              <a:rPr lang="en-AU" sz="1200" u="sng" kern="1200" dirty="0" smtClean="0">
                <a:solidFill>
                  <a:schemeClr val="tx1"/>
                </a:solidFill>
                <a:latin typeface="+mn-lt"/>
                <a:ea typeface="+mn-ea"/>
                <a:cs typeface="+mn-cs"/>
                <a:hlinkClick r:id="rId4"/>
              </a:rPr>
              <a:t>https://www.youtube.com/watch?v=F4mXgnll3e4</a:t>
            </a:r>
            <a:r>
              <a:rPr lang="en-AU" sz="1200" kern="1200" dirty="0" smtClean="0">
                <a:solidFill>
                  <a:schemeClr val="tx1"/>
                </a:solidFill>
                <a:latin typeface="+mn-lt"/>
                <a:ea typeface="+mn-ea"/>
                <a:cs typeface="+mn-cs"/>
              </a:rPr>
              <a:t> – How to winch a 4x4</a:t>
            </a:r>
          </a:p>
          <a:p>
            <a:r>
              <a:rPr lang="en-AU" sz="1200" u="sng" kern="1200" dirty="0" smtClean="0">
                <a:solidFill>
                  <a:schemeClr val="tx1"/>
                </a:solidFill>
                <a:latin typeface="+mn-lt"/>
                <a:ea typeface="+mn-ea"/>
                <a:cs typeface="+mn-cs"/>
                <a:hlinkClick r:id="rId5"/>
              </a:rPr>
              <a:t>https://www.youtube.com/watch?v=_4tI3HtgdCY</a:t>
            </a:r>
            <a:r>
              <a:rPr lang="en-AU" sz="1200" kern="1200" dirty="0" smtClean="0">
                <a:solidFill>
                  <a:schemeClr val="tx1"/>
                </a:solidFill>
                <a:latin typeface="+mn-lt"/>
                <a:ea typeface="+mn-ea"/>
                <a:cs typeface="+mn-cs"/>
              </a:rPr>
              <a:t> – Reverse winch</a:t>
            </a:r>
          </a:p>
          <a:p>
            <a:r>
              <a:rPr lang="en-AU" sz="1200" u="sng" kern="1200" dirty="0" smtClean="0">
                <a:solidFill>
                  <a:schemeClr val="tx1"/>
                </a:solidFill>
                <a:latin typeface="+mn-lt"/>
                <a:ea typeface="+mn-ea"/>
                <a:cs typeface="+mn-cs"/>
                <a:hlinkClick r:id="rId6"/>
              </a:rPr>
              <a:t>https://www.youtube.com/watch?v=Td92wGxvujU</a:t>
            </a:r>
            <a:r>
              <a:rPr lang="en-AU" sz="1200" kern="1200" dirty="0" smtClean="0">
                <a:solidFill>
                  <a:schemeClr val="tx1"/>
                </a:solidFill>
                <a:latin typeface="+mn-lt"/>
                <a:ea typeface="+mn-ea"/>
                <a:cs typeface="+mn-cs"/>
              </a:rPr>
              <a:t> – Snatch block in action</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422853992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electric winch recovery:</a:t>
            </a:r>
          </a:p>
          <a:p>
            <a:pPr marL="171450" indent="-171450">
              <a:buFont typeface="Arial" pitchFamily="34" charset="0"/>
              <a:buChar char="•"/>
            </a:pPr>
            <a:r>
              <a:rPr lang="en-AU" sz="1200" kern="1200" dirty="0" smtClean="0">
                <a:solidFill>
                  <a:schemeClr val="tx1"/>
                </a:solidFill>
                <a:latin typeface="+mn-lt"/>
                <a:ea typeface="+mn-ea"/>
                <a:cs typeface="+mn-cs"/>
              </a:rPr>
              <a:t>Have person (tour crew member) monitor the take up of the cable on the winch spool/drum – to ensure an even wind on</a:t>
            </a:r>
          </a:p>
          <a:p>
            <a:pPr marL="171450" indent="-171450">
              <a:buFont typeface="Arial" pitchFamily="34" charset="0"/>
              <a:buChar char="•"/>
            </a:pPr>
            <a:r>
              <a:rPr lang="en-AU" sz="1200" kern="1200" dirty="0" smtClean="0">
                <a:solidFill>
                  <a:schemeClr val="tx1"/>
                </a:solidFill>
                <a:latin typeface="+mn-lt"/>
                <a:ea typeface="+mn-ea"/>
                <a:cs typeface="+mn-cs"/>
              </a:rPr>
              <a:t>Be aware of the heavy draw on electric power of the winch – so:</a:t>
            </a:r>
          </a:p>
          <a:p>
            <a:pPr marL="628650" lvl="1" indent="-171450">
              <a:buFont typeface="Arial" pitchFamily="34" charset="0"/>
              <a:buChar char="•"/>
            </a:pPr>
            <a:r>
              <a:rPr lang="en-US" sz="1200" kern="1200" dirty="0" smtClean="0">
                <a:solidFill>
                  <a:schemeClr val="tx1"/>
                </a:solidFill>
                <a:latin typeface="+mn-lt"/>
                <a:ea typeface="+mn-ea"/>
                <a:cs typeface="+mn-cs"/>
              </a:rPr>
              <a:t>Leave engine running throughout the recovery operation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Minimise its use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 prepared to use it in small bursts, stopping in between to run the engine and re-charge the battery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Use a pulley block at the anchor point (‘double line pull’) to assist where necessary – which will halve the load on the winch: put a dampener over both cables.</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https://www.youtube.com/watch?v=JY4cKc4FKSM</a:t>
            </a:r>
            <a:r>
              <a:rPr lang="en-AU" sz="1200" kern="1200" dirty="0" smtClean="0">
                <a:solidFill>
                  <a:schemeClr val="tx1"/>
                </a:solidFill>
                <a:latin typeface="+mn-lt"/>
                <a:ea typeface="+mn-ea"/>
                <a:cs typeface="+mn-cs"/>
              </a:rPr>
              <a:t> – Going 4WD: The Bush Winch/Wheel Winch</a:t>
            </a:r>
          </a:p>
          <a:p>
            <a:r>
              <a:rPr lang="en-AU" sz="1200" u="sng" kern="1200" dirty="0" smtClean="0">
                <a:solidFill>
                  <a:schemeClr val="tx1"/>
                </a:solidFill>
                <a:latin typeface="+mn-lt"/>
                <a:ea typeface="+mn-ea"/>
                <a:cs typeface="+mn-cs"/>
                <a:hlinkClick r:id="rId4"/>
              </a:rPr>
              <a:t>http://www.outbacktravelaustralia.com.au/driving-towing-recovery-techniques/safe-winching</a:t>
            </a:r>
            <a:r>
              <a:rPr lang="en-AU" sz="1200" kern="1200" dirty="0" smtClean="0">
                <a:solidFill>
                  <a:schemeClr val="tx1"/>
                </a:solidFill>
                <a:latin typeface="+mn-lt"/>
                <a:ea typeface="+mn-ea"/>
                <a:cs typeface="+mn-cs"/>
              </a:rPr>
              <a:t> - Safe winching</a:t>
            </a:r>
          </a:p>
          <a:p>
            <a:r>
              <a:rPr lang="en-AU" sz="1200" u="sng" kern="1200" dirty="0" smtClean="0">
                <a:solidFill>
                  <a:schemeClr val="tx1"/>
                </a:solidFill>
                <a:latin typeface="+mn-lt"/>
                <a:ea typeface="+mn-ea"/>
                <a:cs typeface="+mn-cs"/>
                <a:hlinkClick r:id="rId5"/>
              </a:rPr>
              <a:t>https://www.youtube.com/watch?v=4TtAgDp6VKA</a:t>
            </a:r>
            <a:r>
              <a:rPr lang="en-AU" sz="1200" kern="1200" dirty="0" smtClean="0">
                <a:solidFill>
                  <a:schemeClr val="tx1"/>
                </a:solidFill>
                <a:latin typeface="+mn-lt"/>
                <a:ea typeface="+mn-ea"/>
                <a:cs typeface="+mn-cs"/>
              </a:rPr>
              <a:t> – The intelligent winch: 4x4. </a:t>
            </a:r>
            <a:endParaRPr lang="en-AU" noProof="0" dirty="0" smtClean="0"/>
          </a:p>
          <a:p>
            <a:pPr>
              <a:buFont typeface="Arial" pitchFamily="34" charset="0"/>
              <a:buNone/>
            </a:pPr>
            <a:endParaRPr lang="en-AU" b="1" noProof="0" dirty="0" smtClean="0"/>
          </a:p>
          <a:p>
            <a:pPr>
              <a:buFont typeface="Arial" pitchFamily="34" charset="0"/>
              <a:buNone/>
            </a:pPr>
            <a:r>
              <a:rPr lang="en-AU" b="1" noProof="0" dirty="0" smtClean="0"/>
              <a:t>Classroom Activity (2) – Demonstration and Practical</a:t>
            </a:r>
          </a:p>
          <a:p>
            <a:pPr>
              <a:buFont typeface="Arial" pitchFamily="34" charset="0"/>
              <a:buNone/>
            </a:pPr>
            <a:r>
              <a:rPr lang="en-AU" b="0" noProof="0" dirty="0" smtClean="0"/>
              <a:t>Trainer shows students how to recover a vehicle using an electric winch and provides an opportunity for students</a:t>
            </a:r>
            <a:r>
              <a:rPr lang="en-AU" b="0" baseline="0" noProof="0" dirty="0" smtClean="0"/>
              <a:t> to do the same</a:t>
            </a:r>
            <a:r>
              <a:rPr lang="en-AU" b="0" noProof="0" dirty="0" smtClean="0"/>
              <a:t>.</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76964612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identifies alternate recovery winches:</a:t>
            </a:r>
          </a:p>
          <a:p>
            <a:r>
              <a:rPr lang="en-AU" sz="1200" b="1" kern="1200" dirty="0" smtClean="0">
                <a:solidFill>
                  <a:schemeClr val="tx1"/>
                </a:solidFill>
                <a:latin typeface="+mn-lt"/>
                <a:ea typeface="+mn-ea"/>
                <a:cs typeface="+mn-cs"/>
              </a:rPr>
              <a:t>The PTO winch</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PTO winch is driven by engine of 4WD and operates winch drum/spool through gearbox via a power take-off.</a:t>
            </a:r>
          </a:p>
          <a:p>
            <a:r>
              <a:rPr lang="en-AU" sz="1200" kern="1200" dirty="0" smtClean="0">
                <a:solidFill>
                  <a:schemeClr val="tx1"/>
                </a:solidFill>
                <a:latin typeface="+mn-lt"/>
                <a:ea typeface="+mn-ea"/>
                <a:cs typeface="+mn-cs"/>
              </a:rPr>
              <a:t>PTO winches are also mounted at the front of the vehicle.</a:t>
            </a:r>
          </a:p>
          <a:p>
            <a:r>
              <a:rPr lang="en-AU" sz="1200" kern="1200" dirty="0" smtClean="0">
                <a:solidFill>
                  <a:schemeClr val="tx1"/>
                </a:solidFill>
                <a:latin typeface="+mn-lt"/>
                <a:ea typeface="+mn-ea"/>
                <a:cs typeface="+mn-cs"/>
              </a:rPr>
              <a:t>They are a good option where long, heavy wincing work is expected but have one major short-coming in that they cannot be used if the engine of the vehicle is dead/will not start.</a:t>
            </a:r>
          </a:p>
          <a:p>
            <a:r>
              <a:rPr lang="en-AU" sz="1200" kern="1200" dirty="0" smtClean="0">
                <a:solidFill>
                  <a:schemeClr val="tx1"/>
                </a:solidFill>
                <a:latin typeface="+mn-lt"/>
                <a:ea typeface="+mn-ea"/>
                <a:cs typeface="+mn-cs"/>
              </a:rPr>
              <a:t>The same protocols described for the use of the electric winch apply to the use of the PTO winch. </a:t>
            </a:r>
          </a:p>
          <a:p>
            <a:r>
              <a:rPr lang="en-AU" sz="1200" b="1" kern="1200" dirty="0" smtClean="0">
                <a:solidFill>
                  <a:schemeClr val="tx1"/>
                </a:solidFill>
                <a:latin typeface="+mn-lt"/>
                <a:ea typeface="+mn-ea"/>
                <a:cs typeface="+mn-cs"/>
              </a:rPr>
              <a:t>Hydraulic winch</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Hydraulic winches are powered by a hydraulic motor/pump which is, in turn, powered by the engine of the vehicle.</a:t>
            </a:r>
          </a:p>
          <a:p>
            <a:r>
              <a:rPr lang="en-AU" sz="1200" kern="1200" dirty="0" smtClean="0">
                <a:solidFill>
                  <a:schemeClr val="tx1"/>
                </a:solidFill>
                <a:latin typeface="+mn-lt"/>
                <a:ea typeface="+mn-ea"/>
                <a:cs typeface="+mn-cs"/>
              </a:rPr>
              <a:t>This style of winch is not a common option but seen by many as one of the best options in that it:</a:t>
            </a:r>
          </a:p>
          <a:p>
            <a:pPr marL="171450" indent="-171450">
              <a:buFont typeface="Arial" pitchFamily="34" charset="0"/>
              <a:buChar char="•"/>
            </a:pPr>
            <a:r>
              <a:rPr lang="en-AU" sz="1200" kern="1200" dirty="0" smtClean="0">
                <a:solidFill>
                  <a:schemeClr val="tx1"/>
                </a:solidFill>
                <a:latin typeface="+mn-lt"/>
                <a:ea typeface="+mn-ea"/>
                <a:cs typeface="+mn-cs"/>
              </a:rPr>
              <a:t>Allows the same control over the winch as for an electric winch</a:t>
            </a:r>
          </a:p>
          <a:p>
            <a:pPr marL="171450" indent="-171450">
              <a:buFont typeface="Arial" pitchFamily="34" charset="0"/>
              <a:buChar char="•"/>
            </a:pPr>
            <a:r>
              <a:rPr lang="en-AU" sz="1200" kern="1200" dirty="0" smtClean="0">
                <a:solidFill>
                  <a:schemeClr val="tx1"/>
                </a:solidFill>
                <a:latin typeface="+mn-lt"/>
                <a:ea typeface="+mn-ea"/>
                <a:cs typeface="+mn-cs"/>
              </a:rPr>
              <a:t>Does not pose the same problem with flattening the battery so it can be used for extensive lengths of time</a:t>
            </a:r>
          </a:p>
          <a:p>
            <a:pPr marL="171450" indent="-171450">
              <a:buFont typeface="Arial" pitchFamily="34" charset="0"/>
              <a:buChar char="•"/>
            </a:pPr>
            <a:r>
              <a:rPr lang="en-AU" sz="1200" kern="1200" dirty="0" smtClean="0">
                <a:solidFill>
                  <a:schemeClr val="tx1"/>
                </a:solidFill>
                <a:latin typeface="+mn-lt"/>
                <a:ea typeface="+mn-ea"/>
                <a:cs typeface="+mn-cs"/>
              </a:rPr>
              <a:t>The down-side is the engine of the 4WD needs to be operational meaning it will not work if the engine cannot be started. </a:t>
            </a:r>
          </a:p>
          <a:p>
            <a:r>
              <a:rPr lang="en-AU" sz="1200" b="1" kern="1200" dirty="0" smtClean="0">
                <a:solidFill>
                  <a:schemeClr val="tx1"/>
                </a:solidFill>
                <a:latin typeface="+mn-lt"/>
                <a:ea typeface="+mn-ea"/>
                <a:cs typeface="+mn-cs"/>
              </a:rPr>
              <a:t>Capstan winch</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capstan winch features a drum/spool plus a capstan around which cable/winch rope is fed when recovering the vehicle.</a:t>
            </a:r>
          </a:p>
          <a:p>
            <a:r>
              <a:rPr lang="en-AU" sz="1200" kern="1200" dirty="0" smtClean="0">
                <a:solidFill>
                  <a:schemeClr val="tx1"/>
                </a:solidFill>
                <a:latin typeface="+mn-lt"/>
                <a:ea typeface="+mn-ea"/>
                <a:cs typeface="+mn-cs"/>
              </a:rPr>
              <a:t>The use of a capstan means vehicle recovery points can be ‘at an angle’ to the vehicle without this causing a problem. </a:t>
            </a:r>
          </a:p>
          <a:p>
            <a:r>
              <a:rPr lang="en-AU" sz="1200" kern="1200" dirty="0" smtClean="0">
                <a:solidFill>
                  <a:schemeClr val="tx1"/>
                </a:solidFill>
                <a:latin typeface="+mn-lt"/>
                <a:ea typeface="+mn-ea"/>
                <a:cs typeface="+mn-cs"/>
              </a:rPr>
              <a:t>They are generally powered off the engine of the vehicle and not via an electric motor.</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https://www.youtube.com/watch?v=xDAzHXkk3LE</a:t>
            </a:r>
            <a:r>
              <a:rPr lang="en-AU" sz="1200" kern="1200" dirty="0" smtClean="0">
                <a:solidFill>
                  <a:schemeClr val="tx1"/>
                </a:solidFill>
                <a:latin typeface="+mn-lt"/>
                <a:ea typeface="+mn-ea"/>
                <a:cs typeface="+mn-cs"/>
              </a:rPr>
              <a:t> – PTO winches</a:t>
            </a:r>
          </a:p>
          <a:p>
            <a:r>
              <a:rPr lang="en-AU" sz="1200" u="sng" kern="1200" dirty="0" smtClean="0">
                <a:solidFill>
                  <a:schemeClr val="tx1"/>
                </a:solidFill>
                <a:latin typeface="+mn-lt"/>
                <a:ea typeface="+mn-ea"/>
                <a:cs typeface="+mn-cs"/>
                <a:hlinkClick r:id="rId4"/>
              </a:rPr>
              <a:t>https://www.youtube.com/watch?v=GOMZQldEctg</a:t>
            </a:r>
            <a:r>
              <a:rPr lang="en-AU" sz="1200" kern="1200" dirty="0" smtClean="0">
                <a:solidFill>
                  <a:schemeClr val="tx1"/>
                </a:solidFill>
                <a:latin typeface="+mn-lt"/>
                <a:ea typeface="+mn-ea"/>
                <a:cs typeface="+mn-cs"/>
              </a:rPr>
              <a:t> – Red Warrior hydraulic winch with PTO power</a:t>
            </a:r>
          </a:p>
          <a:p>
            <a:r>
              <a:rPr lang="en-AU" sz="1200" u="sng" kern="1200" dirty="0" smtClean="0">
                <a:solidFill>
                  <a:schemeClr val="tx1"/>
                </a:solidFill>
                <a:latin typeface="+mn-lt"/>
                <a:ea typeface="+mn-ea"/>
                <a:cs typeface="+mn-cs"/>
                <a:hlinkClick r:id="rId5"/>
              </a:rPr>
              <a:t>http://www.4wdonline.com/Equip/winches.html</a:t>
            </a:r>
            <a:r>
              <a:rPr lang="en-AU" sz="1200" kern="1200" dirty="0" smtClean="0">
                <a:solidFill>
                  <a:schemeClr val="tx1"/>
                </a:solidFill>
                <a:latin typeface="+mn-lt"/>
                <a:ea typeface="+mn-ea"/>
                <a:cs typeface="+mn-cs"/>
              </a:rPr>
              <a:t> - 4WD Online: Winches</a:t>
            </a:r>
          </a:p>
          <a:p>
            <a:r>
              <a:rPr lang="en-AU" sz="1200" u="sng" kern="1200" dirty="0" smtClean="0">
                <a:solidFill>
                  <a:schemeClr val="tx1"/>
                </a:solidFill>
                <a:latin typeface="+mn-lt"/>
                <a:ea typeface="+mn-ea"/>
                <a:cs typeface="+mn-cs"/>
                <a:hlinkClick r:id="rId6"/>
              </a:rPr>
              <a:t>http://www.4wdonline.com/Equip/winch-TJM.html</a:t>
            </a:r>
            <a:r>
              <a:rPr lang="en-AU" sz="1200" kern="1200" dirty="0" smtClean="0">
                <a:solidFill>
                  <a:schemeClr val="tx1"/>
                </a:solidFill>
                <a:latin typeface="+mn-lt"/>
                <a:ea typeface="+mn-ea"/>
                <a:cs typeface="+mn-cs"/>
              </a:rPr>
              <a:t> - TJM hydraulic winch</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7540858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recovery techniques:</a:t>
            </a:r>
          </a:p>
          <a:p>
            <a:r>
              <a:rPr lang="en-AU" sz="1200" b="1" kern="1200" dirty="0" smtClean="0">
                <a:solidFill>
                  <a:schemeClr val="tx1"/>
                </a:solidFill>
                <a:latin typeface="+mn-lt"/>
                <a:ea typeface="+mn-ea"/>
                <a:cs typeface="+mn-cs"/>
              </a:rPr>
              <a:t>Hand-operated winch</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Some vehicles may carry a hand-operated winch but they are uncommon as:</a:t>
            </a:r>
          </a:p>
          <a:p>
            <a:pPr marL="171450" indent="-171450">
              <a:buFont typeface="Arial" pitchFamily="34" charset="0"/>
              <a:buChar char="•"/>
            </a:pPr>
            <a:r>
              <a:rPr lang="en-AU" sz="1200" kern="1200" dirty="0" smtClean="0">
                <a:solidFill>
                  <a:schemeClr val="tx1"/>
                </a:solidFill>
                <a:latin typeface="+mn-lt"/>
                <a:ea typeface="+mn-ea"/>
                <a:cs typeface="+mn-cs"/>
              </a:rPr>
              <a:t>They are bulky to carry </a:t>
            </a:r>
          </a:p>
          <a:p>
            <a:pPr marL="171450" indent="-171450">
              <a:buFont typeface="Arial" pitchFamily="34" charset="0"/>
              <a:buChar char="•"/>
            </a:pPr>
            <a:r>
              <a:rPr lang="en-AU" sz="1200" kern="1200" dirty="0" smtClean="0">
                <a:solidFill>
                  <a:schemeClr val="tx1"/>
                </a:solidFill>
                <a:latin typeface="+mn-lt"/>
                <a:ea typeface="+mn-ea"/>
                <a:cs typeface="+mn-cs"/>
              </a:rPr>
              <a:t>Take more time to use when recovering a vehicle than other options</a:t>
            </a:r>
          </a:p>
          <a:p>
            <a:pPr marL="171450" indent="-171450">
              <a:buFont typeface="Arial" pitchFamily="34" charset="0"/>
              <a:buChar char="•"/>
            </a:pPr>
            <a:r>
              <a:rPr lang="en-AU" sz="1200" kern="1200" dirty="0" smtClean="0">
                <a:solidFill>
                  <a:schemeClr val="tx1"/>
                </a:solidFill>
                <a:latin typeface="+mn-lt"/>
                <a:ea typeface="+mn-ea"/>
                <a:cs typeface="+mn-cs"/>
              </a:rPr>
              <a:t>Are limited in the length of cable that is available for use in a recovery.</a:t>
            </a:r>
          </a:p>
          <a:p>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338673474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technique for operating hand winch for vehicle recovery:</a:t>
            </a:r>
          </a:p>
          <a:p>
            <a:pPr marL="171450" indent="-171450">
              <a:buFont typeface="Arial" pitchFamily="34" charset="0"/>
              <a:buChar char="•"/>
            </a:pPr>
            <a:r>
              <a:rPr lang="en-AU" sz="1200" kern="1200" dirty="0" smtClean="0">
                <a:solidFill>
                  <a:schemeClr val="tx1"/>
                </a:solidFill>
                <a:latin typeface="+mn-lt"/>
                <a:ea typeface="+mn-ea"/>
                <a:cs typeface="+mn-cs"/>
              </a:rPr>
              <a:t>Follow manufacturer’s instructions</a:t>
            </a:r>
          </a:p>
          <a:p>
            <a:pPr marL="171450" indent="-171450">
              <a:buFont typeface="Arial" pitchFamily="34" charset="0"/>
              <a:buChar char="•"/>
            </a:pPr>
            <a:r>
              <a:rPr lang="en-AU" sz="1200" kern="1200" dirty="0" smtClean="0">
                <a:solidFill>
                  <a:schemeClr val="tx1"/>
                </a:solidFill>
                <a:latin typeface="+mn-lt"/>
                <a:ea typeface="+mn-ea"/>
                <a:cs typeface="+mn-cs"/>
              </a:rPr>
              <a:t>Wear gloves</a:t>
            </a:r>
          </a:p>
          <a:p>
            <a:pPr marL="171450" indent="-171450">
              <a:buFont typeface="Arial" pitchFamily="34" charset="0"/>
              <a:buChar char="•"/>
            </a:pPr>
            <a:r>
              <a:rPr lang="en-AU" sz="1200" kern="1200" dirty="0" smtClean="0">
                <a:solidFill>
                  <a:schemeClr val="tx1"/>
                </a:solidFill>
                <a:latin typeface="+mn-lt"/>
                <a:ea typeface="+mn-ea"/>
                <a:cs typeface="+mn-cs"/>
              </a:rPr>
              <a:t>Attach cable hook to recovery mounting on vehicle</a:t>
            </a:r>
          </a:p>
          <a:p>
            <a:pPr marL="171450" indent="-171450">
              <a:buFont typeface="Arial" pitchFamily="34" charset="0"/>
              <a:buChar char="•"/>
            </a:pPr>
            <a:r>
              <a:rPr lang="en-AU" sz="1200" kern="1200" dirty="0" smtClean="0">
                <a:solidFill>
                  <a:schemeClr val="tx1"/>
                </a:solidFill>
                <a:latin typeface="+mn-lt"/>
                <a:ea typeface="+mn-ea"/>
                <a:cs typeface="+mn-cs"/>
              </a:rPr>
              <a:t>Run out the cable to the tree which is to be used as the recovery point.</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https://www.youtube.com/watch?v=5UzX3F4Oygw</a:t>
            </a:r>
            <a:r>
              <a:rPr lang="en-AU" sz="1200" kern="1200" dirty="0" smtClean="0">
                <a:solidFill>
                  <a:schemeClr val="tx1"/>
                </a:solidFill>
                <a:latin typeface="+mn-lt"/>
                <a:ea typeface="+mn-ea"/>
                <a:cs typeface="+mn-cs"/>
              </a:rPr>
              <a:t> – 4WD Action: 114 Terrain Tamer Hand Winch</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17027813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technique for operating hand winch for vehicle recovery:</a:t>
            </a:r>
          </a:p>
          <a:p>
            <a:pPr marL="171450" indent="-171450">
              <a:buFont typeface="Arial" pitchFamily="34" charset="0"/>
              <a:buChar char="•"/>
            </a:pPr>
            <a:r>
              <a:rPr lang="en-AU" sz="1200" kern="1200" dirty="0" smtClean="0">
                <a:solidFill>
                  <a:schemeClr val="tx1"/>
                </a:solidFill>
                <a:latin typeface="+mn-lt"/>
                <a:ea typeface="+mn-ea"/>
                <a:cs typeface="+mn-cs"/>
              </a:rPr>
              <a:t>Attach tree protector to recovery point with rated shackle</a:t>
            </a:r>
          </a:p>
          <a:p>
            <a:pPr marL="171450" indent="-171450">
              <a:buFont typeface="Arial" pitchFamily="34" charset="0"/>
              <a:buChar char="•"/>
            </a:pPr>
            <a:r>
              <a:rPr lang="en-AU" sz="1200" kern="1200" dirty="0" smtClean="0">
                <a:solidFill>
                  <a:schemeClr val="tx1"/>
                </a:solidFill>
                <a:latin typeface="+mn-lt"/>
                <a:ea typeface="+mn-ea"/>
                <a:cs typeface="+mn-cs"/>
              </a:rPr>
              <a:t>Thread cable through the winch – setting levers in the correct position to allow the cable to be fed through the winch</a:t>
            </a:r>
          </a:p>
          <a:p>
            <a:pPr marL="171450" indent="-171450">
              <a:buFont typeface="Arial" pitchFamily="34" charset="0"/>
              <a:buChar char="•"/>
            </a:pPr>
            <a:r>
              <a:rPr lang="en-AU" sz="1200" kern="1200" dirty="0" smtClean="0">
                <a:solidFill>
                  <a:schemeClr val="tx1"/>
                </a:solidFill>
                <a:latin typeface="+mn-lt"/>
                <a:ea typeface="+mn-ea"/>
                <a:cs typeface="+mn-cs"/>
              </a:rPr>
              <a:t>Attach the winch to the tree protector using the shackle</a:t>
            </a:r>
          </a:p>
          <a:p>
            <a:pPr marL="171450" indent="-171450">
              <a:buFont typeface="Arial" pitchFamily="34" charset="0"/>
              <a:buChar char="•"/>
            </a:pPr>
            <a:r>
              <a:rPr lang="en-AU" sz="1200" kern="1200" dirty="0" smtClean="0">
                <a:solidFill>
                  <a:schemeClr val="tx1"/>
                </a:solidFill>
                <a:latin typeface="+mn-lt"/>
                <a:ea typeface="+mn-ea"/>
                <a:cs typeface="+mn-cs"/>
              </a:rPr>
              <a:t>Clamp the winch onto the cable – by moving the appropriate lever on the winch.</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https://www.youtube.com/watch?v=k39wFI4MQQg</a:t>
            </a:r>
            <a:r>
              <a:rPr lang="en-AU" sz="1200" kern="1200" dirty="0" smtClean="0">
                <a:solidFill>
                  <a:schemeClr val="tx1"/>
                </a:solidFill>
                <a:latin typeface="+mn-lt"/>
                <a:ea typeface="+mn-ea"/>
                <a:cs typeface="+mn-cs"/>
              </a:rPr>
              <a:t> – ask an expert: hand winching</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09041123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technique for operating hand winch for vehicle recovery:</a:t>
            </a:r>
          </a:p>
          <a:p>
            <a:pPr marL="171450" indent="-171450">
              <a:buFont typeface="Arial" pitchFamily="34" charset="0"/>
              <a:buChar char="•"/>
            </a:pPr>
            <a:r>
              <a:rPr lang="en-AU" sz="1200" kern="1200" dirty="0" smtClean="0">
                <a:solidFill>
                  <a:schemeClr val="tx1"/>
                </a:solidFill>
                <a:latin typeface="+mn-lt"/>
                <a:ea typeface="+mn-ea"/>
                <a:cs typeface="+mn-cs"/>
              </a:rPr>
              <a:t>Drape cable damper over the winch cable</a:t>
            </a:r>
          </a:p>
          <a:p>
            <a:pPr marL="171450" indent="-171450">
              <a:buFont typeface="Arial" pitchFamily="34" charset="0"/>
              <a:buChar char="•"/>
            </a:pPr>
            <a:r>
              <a:rPr lang="en-AU" sz="1200" kern="1200" dirty="0" smtClean="0">
                <a:solidFill>
                  <a:schemeClr val="tx1"/>
                </a:solidFill>
                <a:latin typeface="+mn-lt"/>
                <a:ea typeface="+mn-ea"/>
                <a:cs typeface="+mn-cs"/>
              </a:rPr>
              <a:t>Insert handle into winch</a:t>
            </a:r>
          </a:p>
          <a:p>
            <a:pPr marL="171450" indent="-171450">
              <a:buFont typeface="Arial" pitchFamily="34" charset="0"/>
              <a:buChar char="•"/>
            </a:pPr>
            <a:r>
              <a:rPr lang="en-AU" sz="1200" kern="1200" dirty="0" smtClean="0">
                <a:solidFill>
                  <a:schemeClr val="tx1"/>
                </a:solidFill>
                <a:latin typeface="+mn-lt"/>
                <a:ea typeface="+mn-ea"/>
                <a:cs typeface="+mn-cs"/>
              </a:rPr>
              <a:t>Pump/move the handle to commence the winching process.</a:t>
            </a:r>
          </a:p>
          <a:p>
            <a:r>
              <a:rPr lang="en-AU" sz="1200" kern="1200" dirty="0" smtClean="0">
                <a:solidFill>
                  <a:schemeClr val="tx1"/>
                </a:solidFill>
                <a:latin typeface="+mn-lt"/>
                <a:ea typeface="+mn-ea"/>
                <a:cs typeface="+mn-cs"/>
              </a:rPr>
              <a:t>Note: snatch blocks/pulleys can be used in combination with hand winches in the same way they can be used with other winches.</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pPr>
              <a:buFont typeface="Arial" pitchFamily="34" charset="0"/>
              <a:buNone/>
            </a:pPr>
            <a:r>
              <a:rPr lang="en-AU" sz="1200" u="sng" kern="1200" dirty="0" smtClean="0">
                <a:solidFill>
                  <a:schemeClr val="tx1"/>
                </a:solidFill>
                <a:latin typeface="+mn-lt"/>
                <a:ea typeface="+mn-ea"/>
                <a:cs typeface="+mn-cs"/>
                <a:hlinkClick r:id="rId3"/>
              </a:rPr>
              <a:t>https://www.youtube.com/watch?v=MvU2g4dyKhI</a:t>
            </a:r>
            <a:r>
              <a:rPr lang="en-AU" sz="1200" kern="1200" dirty="0" smtClean="0">
                <a:solidFill>
                  <a:schemeClr val="tx1"/>
                </a:solidFill>
                <a:latin typeface="+mn-lt"/>
                <a:ea typeface="+mn-ea"/>
                <a:cs typeface="+mn-cs"/>
              </a:rPr>
              <a:t> – Exacta hand winch</a:t>
            </a:r>
          </a:p>
          <a:p>
            <a:pPr>
              <a:buFont typeface="Arial" pitchFamily="34" charset="0"/>
              <a:buNone/>
            </a:pPr>
            <a:endParaRPr lang="en-AU" noProof="0" dirty="0" smtClean="0"/>
          </a:p>
          <a:p>
            <a:pPr>
              <a:buFont typeface="Arial" pitchFamily="34" charset="0"/>
              <a:buNone/>
            </a:pPr>
            <a:r>
              <a:rPr lang="en-AU" b="1" noProof="0" dirty="0" smtClean="0"/>
              <a:t>Classroom Activity (2) – Demonstration and Practical</a:t>
            </a:r>
          </a:p>
          <a:p>
            <a:pPr>
              <a:buFont typeface="Arial" pitchFamily="34" charset="0"/>
              <a:buNone/>
            </a:pPr>
            <a:r>
              <a:rPr lang="en-AU" b="0" noProof="0" dirty="0" smtClean="0"/>
              <a:t>Trainer shows students how to recover a vehicle using a hand-operated winch and provides an opportunity for students</a:t>
            </a:r>
            <a:r>
              <a:rPr lang="en-AU" b="0" baseline="0" noProof="0" dirty="0" smtClean="0"/>
              <a:t> to do the same</a:t>
            </a:r>
            <a:r>
              <a:rPr lang="en-AU" b="0" noProof="0" dirty="0" smtClean="0"/>
              <a: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264338268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technique for using hi-lift jack</a:t>
            </a:r>
            <a:r>
              <a:rPr lang="en-AU" baseline="0" noProof="0" dirty="0" smtClean="0"/>
              <a:t> </a:t>
            </a:r>
            <a:r>
              <a:rPr lang="en-AU" noProof="0" dirty="0" smtClean="0"/>
              <a:t>for vehicle recovery:</a:t>
            </a:r>
          </a:p>
          <a:p>
            <a:pPr marL="171450" indent="-171450">
              <a:buFont typeface="Arial" pitchFamily="34" charset="0"/>
              <a:buChar char="•"/>
            </a:pPr>
            <a:r>
              <a:rPr lang="en-AU" sz="1200" kern="1200" dirty="0" smtClean="0">
                <a:solidFill>
                  <a:schemeClr val="tx1"/>
                </a:solidFill>
                <a:latin typeface="+mn-lt"/>
                <a:ea typeface="+mn-ea"/>
                <a:cs typeface="+mn-cs"/>
              </a:rPr>
              <a:t>Clean and spray with WD-40 – as these jacks are usually carried on the outside of the vehicle and become dirty </a:t>
            </a:r>
          </a:p>
          <a:p>
            <a:pPr marL="171450" indent="-171450">
              <a:buFont typeface="Arial" pitchFamily="34" charset="0"/>
              <a:buChar char="•"/>
            </a:pPr>
            <a:r>
              <a:rPr lang="en-AU" sz="1200" kern="1200" dirty="0" smtClean="0">
                <a:solidFill>
                  <a:schemeClr val="tx1"/>
                </a:solidFill>
                <a:latin typeface="+mn-lt"/>
                <a:ea typeface="+mn-ea"/>
                <a:cs typeface="+mn-cs"/>
              </a:rPr>
              <a:t>Follow manufacturer’s instructions</a:t>
            </a:r>
          </a:p>
          <a:p>
            <a:pPr marL="171450" indent="-171450">
              <a:buFont typeface="Arial" pitchFamily="34" charset="0"/>
              <a:buChar char="•"/>
            </a:pPr>
            <a:r>
              <a:rPr lang="en-AU" sz="1200" kern="1200" dirty="0" smtClean="0">
                <a:solidFill>
                  <a:schemeClr val="tx1"/>
                </a:solidFill>
                <a:latin typeface="+mn-lt"/>
                <a:ea typeface="+mn-ea"/>
                <a:cs typeface="+mn-cs"/>
              </a:rPr>
              <a:t>Fit jack into base plate – if base is separate</a:t>
            </a:r>
          </a:p>
          <a:p>
            <a:pPr marL="171450" indent="-171450">
              <a:buFont typeface="Arial" pitchFamily="34" charset="0"/>
              <a:buChar char="•"/>
            </a:pPr>
            <a:r>
              <a:rPr lang="en-AU" sz="1200" kern="1200" dirty="0" smtClean="0">
                <a:solidFill>
                  <a:schemeClr val="tx1"/>
                </a:solidFill>
                <a:latin typeface="+mn-lt"/>
                <a:ea typeface="+mn-ea"/>
                <a:cs typeface="+mn-cs"/>
              </a:rPr>
              <a:t>Provide solid surface on which to locate the base of the jack – as best as possible given the conditions.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US" sz="1200" u="sng" kern="1200" dirty="0" smtClean="0">
                <a:solidFill>
                  <a:schemeClr val="tx1"/>
                </a:solidFill>
                <a:latin typeface="+mn-lt"/>
                <a:ea typeface="+mn-ea"/>
                <a:cs typeface="+mn-cs"/>
                <a:hlinkClick r:id="rId3"/>
              </a:rPr>
              <a:t>https://www.youtube.com/watch?v=DgjqhU5PgkE</a:t>
            </a:r>
            <a:r>
              <a:rPr lang="en-US" sz="1200" kern="1200" dirty="0" smtClean="0">
                <a:solidFill>
                  <a:schemeClr val="tx1"/>
                </a:solidFill>
                <a:latin typeface="+mn-lt"/>
                <a:ea typeface="+mn-ea"/>
                <a:cs typeface="+mn-cs"/>
              </a:rPr>
              <a:t> – ARB hi-lift jack demo</a:t>
            </a:r>
            <a:endParaRPr lang="en-AU" sz="1200" kern="1200" dirty="0" smtClean="0">
              <a:solidFill>
                <a:schemeClr val="tx1"/>
              </a:solidFill>
              <a:latin typeface="+mn-lt"/>
              <a:ea typeface="+mn-ea"/>
              <a:cs typeface="+mn-cs"/>
            </a:endParaRPr>
          </a:p>
          <a:p>
            <a:r>
              <a:rPr lang="en-US" sz="1200" u="sng" kern="1200" dirty="0" smtClean="0">
                <a:solidFill>
                  <a:schemeClr val="tx1"/>
                </a:solidFill>
                <a:latin typeface="+mn-lt"/>
                <a:ea typeface="+mn-ea"/>
                <a:cs typeface="+mn-cs"/>
                <a:hlinkClick r:id="rId4"/>
              </a:rPr>
              <a:t>https://www.youtube.com/watch?v=1a_5IpDzPPI</a:t>
            </a:r>
            <a:r>
              <a:rPr lang="en-US" sz="1200" kern="1200" dirty="0" smtClean="0">
                <a:solidFill>
                  <a:schemeClr val="tx1"/>
                </a:solidFill>
                <a:latin typeface="+mn-lt"/>
                <a:ea typeface="+mn-ea"/>
                <a:cs typeface="+mn-cs"/>
              </a:rPr>
              <a:t> – How to use a hi-lift jack safely</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209445293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technique for using hi-lift jack for vehicle recovery:</a:t>
            </a:r>
          </a:p>
          <a:p>
            <a:pPr marL="171450" indent="-171450">
              <a:buFont typeface="Arial" pitchFamily="34" charset="0"/>
              <a:buChar char="•"/>
            </a:pPr>
            <a:r>
              <a:rPr lang="en-AU" sz="1200" kern="1200" dirty="0" smtClean="0">
                <a:solidFill>
                  <a:schemeClr val="tx1"/>
                </a:solidFill>
                <a:latin typeface="+mn-lt"/>
                <a:ea typeface="+mn-ea"/>
                <a:cs typeface="+mn-cs"/>
              </a:rPr>
              <a:t>Flip out the lift plate/bar on the jack – which will be used to take the weight when the vehicle is lifted</a:t>
            </a:r>
          </a:p>
          <a:p>
            <a:pPr marL="171450" indent="-171450">
              <a:buFont typeface="Arial" pitchFamily="34" charset="0"/>
              <a:buChar char="•"/>
            </a:pPr>
            <a:r>
              <a:rPr lang="en-AU" sz="1200" kern="1200" dirty="0" smtClean="0">
                <a:solidFill>
                  <a:schemeClr val="tx1"/>
                </a:solidFill>
                <a:latin typeface="+mn-lt"/>
                <a:ea typeface="+mn-ea"/>
                <a:cs typeface="+mn-cs"/>
              </a:rPr>
              <a:t>Locate jack as required near lifting point, which may be:</a:t>
            </a:r>
          </a:p>
          <a:p>
            <a:pPr marL="628650" lvl="1" indent="-171450">
              <a:buFont typeface="Arial" pitchFamily="34" charset="0"/>
              <a:buChar char="•"/>
            </a:pPr>
            <a:r>
              <a:rPr lang="en-US" sz="1200" kern="1200" dirty="0" smtClean="0">
                <a:solidFill>
                  <a:schemeClr val="tx1"/>
                </a:solidFill>
                <a:latin typeface="+mn-lt"/>
                <a:ea typeface="+mn-ea"/>
                <a:cs typeface="+mn-cs"/>
              </a:rPr>
              <a:t>Solid part of the vehicle such as a steel bull bar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hole/lug into which the lift bar is inserted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Adjacent to the bogged wheel – where a lift strap (‘lift mate’) can be attached to the wheel, instead of to a vehicle lift point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Move selector/lever to ‘lift’</a:t>
            </a:r>
          </a:p>
          <a:p>
            <a:pPr marL="171450" indent="-171450">
              <a:buFont typeface="Arial" pitchFamily="34" charset="0"/>
              <a:buChar char="•"/>
            </a:pPr>
            <a:r>
              <a:rPr lang="en-AU" sz="1200" kern="1200" dirty="0" smtClean="0">
                <a:solidFill>
                  <a:schemeClr val="tx1"/>
                </a:solidFill>
                <a:latin typeface="+mn-lt"/>
                <a:ea typeface="+mn-ea"/>
                <a:cs typeface="+mn-cs"/>
              </a:rPr>
              <a:t>Insert jack handle and pump to lift vehicle – taking care:</a:t>
            </a:r>
          </a:p>
          <a:p>
            <a:pPr marL="628650" lvl="1" indent="-171450">
              <a:buFont typeface="Arial" pitchFamily="34" charset="0"/>
              <a:buChar char="•"/>
            </a:pPr>
            <a:r>
              <a:rPr lang="en-US" sz="1200" kern="1200" dirty="0" smtClean="0">
                <a:solidFill>
                  <a:schemeClr val="tx1"/>
                </a:solidFill>
                <a:latin typeface="+mn-lt"/>
                <a:ea typeface="+mn-ea"/>
                <a:cs typeface="+mn-cs"/>
              </a:rPr>
              <a:t>To lift slowly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 use both hands to optimise control over the handle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 not allow head to be positioned above the handle – which can kick back and cause injury to the operator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 keep the jack stable – and not allow it to topple.</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u="sng" kern="1200" dirty="0" smtClean="0">
                <a:solidFill>
                  <a:schemeClr val="tx1"/>
                </a:solidFill>
                <a:latin typeface="+mn-lt"/>
                <a:ea typeface="+mn-ea"/>
                <a:cs typeface="+mn-cs"/>
                <a:hlinkClick r:id="rId3"/>
              </a:rPr>
              <a:t>https://www.youtube.com/watch?v=hUL-l9Yi3Ws</a:t>
            </a:r>
            <a:r>
              <a:rPr lang="en-US" sz="1200" kern="1200" dirty="0" smtClean="0">
                <a:solidFill>
                  <a:schemeClr val="tx1"/>
                </a:solidFill>
                <a:latin typeface="+mn-lt"/>
                <a:ea typeface="+mn-ea"/>
                <a:cs typeface="+mn-cs"/>
              </a:rPr>
              <a:t> – How to use the high-lift jack</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55358302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technique for using hi-lift jack for vehicle recovery:</a:t>
            </a:r>
          </a:p>
          <a:p>
            <a:pPr marL="171450" indent="-171450">
              <a:buFont typeface="Arial" pitchFamily="34" charset="0"/>
              <a:buChar char="•"/>
            </a:pPr>
            <a:r>
              <a:rPr lang="en-AU" sz="1200" kern="1200" dirty="0" smtClean="0">
                <a:solidFill>
                  <a:schemeClr val="tx1"/>
                </a:solidFill>
                <a:latin typeface="+mn-lt"/>
                <a:ea typeface="+mn-ea"/>
                <a:cs typeface="+mn-cs"/>
              </a:rPr>
              <a:t>Apply pressure to the end of the handle – for maximum leverage</a:t>
            </a:r>
          </a:p>
          <a:p>
            <a:pPr marL="171450" indent="-171450">
              <a:buFont typeface="Arial" pitchFamily="34" charset="0"/>
              <a:buChar char="•"/>
            </a:pPr>
            <a:r>
              <a:rPr lang="en-AU" sz="1200" kern="1200" dirty="0" smtClean="0">
                <a:solidFill>
                  <a:schemeClr val="tx1"/>
                </a:solidFill>
                <a:latin typeface="+mn-lt"/>
                <a:ea typeface="+mn-ea"/>
                <a:cs typeface="+mn-cs"/>
              </a:rPr>
              <a:t>Listen for the ‘click’ of the mechanism to indicate end of one stroke and need to start next pump</a:t>
            </a:r>
          </a:p>
          <a:p>
            <a:pPr marL="171450" indent="-171450">
              <a:buFont typeface="Arial" pitchFamily="34" charset="0"/>
              <a:buChar char="•"/>
            </a:pPr>
            <a:r>
              <a:rPr lang="en-AU" sz="1200" kern="1200" dirty="0" smtClean="0">
                <a:solidFill>
                  <a:schemeClr val="tx1"/>
                </a:solidFill>
                <a:latin typeface="+mn-lt"/>
                <a:ea typeface="+mn-ea"/>
                <a:cs typeface="+mn-cs"/>
              </a:rPr>
              <a:t>Lift vehicle until it is clear of obstruction/out of the trapped situation</a:t>
            </a:r>
          </a:p>
          <a:p>
            <a:pPr marL="171450" indent="-171450">
              <a:buFont typeface="Arial" pitchFamily="34" charset="0"/>
              <a:buChar char="•"/>
            </a:pPr>
            <a:r>
              <a:rPr lang="en-AU" sz="1200" kern="1200" dirty="0" smtClean="0">
                <a:solidFill>
                  <a:schemeClr val="tx1"/>
                </a:solidFill>
                <a:latin typeface="+mn-lt"/>
                <a:ea typeface="+mn-ea"/>
                <a:cs typeface="+mn-cs"/>
              </a:rPr>
              <a:t>Insert rocks, wood or proprietary products (portable tracks and/or sand ladders) under wheel and in direction of travel</a:t>
            </a:r>
          </a:p>
          <a:p>
            <a:pPr marL="171450" indent="-171450">
              <a:buFont typeface="Arial" pitchFamily="34" charset="0"/>
              <a:buChar char="•"/>
            </a:pPr>
            <a:r>
              <a:rPr lang="en-AU" sz="1200" kern="1200" dirty="0" smtClean="0">
                <a:solidFill>
                  <a:schemeClr val="tx1"/>
                </a:solidFill>
                <a:latin typeface="+mn-lt"/>
                <a:ea typeface="+mn-ea"/>
                <a:cs typeface="+mn-cs"/>
              </a:rPr>
              <a:t>Lower jack – by:</a:t>
            </a:r>
          </a:p>
          <a:p>
            <a:pPr marL="628650" lvl="1" indent="-171450">
              <a:buFont typeface="Arial" pitchFamily="34" charset="0"/>
              <a:buChar char="•"/>
            </a:pPr>
            <a:r>
              <a:rPr lang="en-US" sz="1200" kern="1200" dirty="0" smtClean="0">
                <a:solidFill>
                  <a:schemeClr val="tx1"/>
                </a:solidFill>
                <a:latin typeface="+mn-lt"/>
                <a:ea typeface="+mn-ea"/>
                <a:cs typeface="+mn-cs"/>
              </a:rPr>
              <a:t>Shifting lever to reverse position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Pumping the handle slowly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Keeping head away from handle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Taking greater care as the handle/jack is not fully weighted and can provide a greater danger of causing injury should it become out-of-control during the lowering process.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pPr>
              <a:buFont typeface="Arial" pitchFamily="34" charset="0"/>
              <a:buNone/>
            </a:pPr>
            <a:r>
              <a:rPr lang="en-AU" sz="1200" u="sng" kern="1200" dirty="0" smtClean="0">
                <a:solidFill>
                  <a:schemeClr val="tx1"/>
                </a:solidFill>
                <a:latin typeface="+mn-lt"/>
                <a:ea typeface="+mn-ea"/>
                <a:cs typeface="+mn-cs"/>
                <a:hlinkClick r:id="rId3"/>
              </a:rPr>
              <a:t>https://www.youtube.com/watch?v=9FRMK7ZstaY</a:t>
            </a:r>
            <a:r>
              <a:rPr lang="en-AU" sz="1200" kern="1200" dirty="0" smtClean="0">
                <a:solidFill>
                  <a:schemeClr val="tx1"/>
                </a:solidFill>
                <a:latin typeface="+mn-lt"/>
                <a:ea typeface="+mn-ea"/>
                <a:cs typeface="+mn-cs"/>
              </a:rPr>
              <a:t> – High lift jack recovery: off road recovery</a:t>
            </a:r>
          </a:p>
          <a:p>
            <a:pPr>
              <a:buFont typeface="Arial" pitchFamily="34" charset="0"/>
              <a:buNone/>
            </a:pPr>
            <a:endParaRPr lang="en-AU" noProof="0" dirty="0" smtClean="0"/>
          </a:p>
          <a:p>
            <a:pPr>
              <a:buFont typeface="Arial" pitchFamily="34" charset="0"/>
              <a:buNone/>
            </a:pPr>
            <a:r>
              <a:rPr lang="en-AU" b="1" noProof="0" dirty="0" smtClean="0"/>
              <a:t>Classroom Activity (2) – Demonstration and Practical</a:t>
            </a:r>
          </a:p>
          <a:p>
            <a:pPr>
              <a:buFont typeface="Arial" pitchFamily="34" charset="0"/>
              <a:buNone/>
            </a:pPr>
            <a:r>
              <a:rPr lang="en-AU" b="0" noProof="0" dirty="0" smtClean="0"/>
              <a:t>Trainer shows students how to recover a vehicle using a hi-lift jack and provides an opportunity for students</a:t>
            </a:r>
            <a:r>
              <a:rPr lang="en-AU" b="0" baseline="0" noProof="0" dirty="0" smtClean="0"/>
              <a:t> to do the same</a:t>
            </a:r>
            <a:r>
              <a:rPr lang="en-AU" b="0" noProof="0" dirty="0" smtClean="0"/>
              <a: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177413763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US" sz="1200" kern="1200" dirty="0" smtClean="0">
                <a:solidFill>
                  <a:schemeClr val="tx1"/>
                </a:solidFill>
                <a:latin typeface="+mn-lt"/>
                <a:ea typeface="+mn-ea"/>
                <a:cs typeface="+mn-cs"/>
              </a:rPr>
              <a:t>it is also possible to use the high-lift jack as a hand winch for some recoveries.</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r>
              <a:rPr lang="en-US" sz="1200" u="sng" kern="1200" dirty="0" smtClean="0">
                <a:solidFill>
                  <a:schemeClr val="tx1"/>
                </a:solidFill>
                <a:latin typeface="+mn-lt"/>
                <a:ea typeface="+mn-ea"/>
                <a:cs typeface="+mn-cs"/>
                <a:hlinkClick r:id="rId3"/>
              </a:rPr>
              <a:t>https://www.youtube.com/watch?v=OVY0QQiN93o</a:t>
            </a:r>
            <a:r>
              <a:rPr lang="en-US" sz="1200" kern="1200" dirty="0" smtClean="0">
                <a:solidFill>
                  <a:schemeClr val="tx1"/>
                </a:solidFill>
                <a:latin typeface="+mn-lt"/>
                <a:ea typeface="+mn-ea"/>
                <a:cs typeface="+mn-cs"/>
              </a:rPr>
              <a:t> – Using high-lift jack as winch to get Discovery out</a:t>
            </a:r>
            <a:endParaRPr lang="en-AU" sz="1200" kern="1200" dirty="0" smtClean="0">
              <a:solidFill>
                <a:schemeClr val="tx1"/>
              </a:solidFill>
              <a:latin typeface="+mn-lt"/>
              <a:ea typeface="+mn-ea"/>
              <a:cs typeface="+mn-cs"/>
            </a:endParaRPr>
          </a:p>
          <a:p>
            <a:r>
              <a:rPr lang="en-US" sz="1200" u="sng" kern="1200" dirty="0" smtClean="0">
                <a:solidFill>
                  <a:schemeClr val="tx1"/>
                </a:solidFill>
                <a:latin typeface="+mn-lt"/>
                <a:ea typeface="+mn-ea"/>
                <a:cs typeface="+mn-cs"/>
                <a:hlinkClick r:id="rId4"/>
              </a:rPr>
              <a:t>https://www.youtube.com/watch?v=bOcQHqLx90g</a:t>
            </a:r>
            <a:r>
              <a:rPr lang="en-US" sz="1200" kern="1200" dirty="0" smtClean="0">
                <a:solidFill>
                  <a:schemeClr val="tx1"/>
                </a:solidFill>
                <a:latin typeface="+mn-lt"/>
                <a:ea typeface="+mn-ea"/>
                <a:cs typeface="+mn-cs"/>
              </a:rPr>
              <a:t> – Hi-lift as a winch</a:t>
            </a:r>
            <a:endParaRPr lang="en-AU" sz="1200" kern="1200" dirty="0" smtClean="0">
              <a:solidFill>
                <a:schemeClr val="tx1"/>
              </a:solidFill>
              <a:latin typeface="+mn-lt"/>
              <a:ea typeface="+mn-ea"/>
              <a:cs typeface="+mn-cs"/>
            </a:endParaRPr>
          </a:p>
          <a:p>
            <a:r>
              <a:rPr lang="en-US" sz="1200" u="sng" kern="1200" dirty="0" smtClean="0">
                <a:solidFill>
                  <a:schemeClr val="tx1"/>
                </a:solidFill>
                <a:latin typeface="+mn-lt"/>
                <a:ea typeface="+mn-ea"/>
                <a:cs typeface="+mn-cs"/>
                <a:hlinkClick r:id="rId5"/>
              </a:rPr>
              <a:t>https://www.youtube.com/watch?v=pAGp8lizSQU</a:t>
            </a:r>
            <a:r>
              <a:rPr lang="en-US" sz="1200" kern="1200" dirty="0" smtClean="0">
                <a:solidFill>
                  <a:schemeClr val="tx1"/>
                </a:solidFill>
                <a:latin typeface="+mn-lt"/>
                <a:ea typeface="+mn-ea"/>
                <a:cs typeface="+mn-cs"/>
              </a:rPr>
              <a:t> – Basic self recovery using a hilift.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(2) – Demonstration and Practical</a:t>
            </a:r>
          </a:p>
          <a:p>
            <a:pPr>
              <a:buFont typeface="Arial" pitchFamily="34" charset="0"/>
              <a:buNone/>
            </a:pPr>
            <a:r>
              <a:rPr lang="en-AU" b="0" noProof="0" dirty="0" smtClean="0"/>
              <a:t>Trainer shows students how to use hi-lift</a:t>
            </a:r>
            <a:r>
              <a:rPr lang="en-AU" b="0" baseline="0" noProof="0" dirty="0" smtClean="0"/>
              <a:t> jack as a recovery winch to </a:t>
            </a:r>
            <a:r>
              <a:rPr lang="en-AU" b="0" noProof="0" dirty="0" smtClean="0"/>
              <a:t>recover a vehicle and provides an opportunity for students</a:t>
            </a:r>
            <a:r>
              <a:rPr lang="en-AU" b="0" baseline="0" noProof="0" dirty="0" smtClean="0"/>
              <a:t> to do the same</a:t>
            </a:r>
            <a:r>
              <a:rPr lang="en-AU" b="0" noProof="0" dirty="0" smtClean="0"/>
              <a:t>.</a:t>
            </a:r>
          </a:p>
          <a:p>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35899204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under-vehicle inflatable bags are available to help raise bogged/trapped vehicles, or to use an alternative to a scissor or bottle jack when changing a wheel and these bags may be inflated:</a:t>
            </a:r>
          </a:p>
          <a:p>
            <a:pPr marL="171450" indent="-171450">
              <a:buFont typeface="Arial" pitchFamily="34" charset="0"/>
              <a:buChar char="•"/>
            </a:pPr>
            <a:r>
              <a:rPr lang="en-AU" sz="1200" kern="1200" dirty="0" smtClean="0">
                <a:solidFill>
                  <a:schemeClr val="tx1"/>
                </a:solidFill>
                <a:latin typeface="+mn-lt"/>
                <a:ea typeface="+mn-ea"/>
                <a:cs typeface="+mn-cs"/>
              </a:rPr>
              <a:t>Using the exhaust gases of the vehicle/engine</a:t>
            </a:r>
          </a:p>
          <a:p>
            <a:pPr marL="171450" indent="-171450">
              <a:buFont typeface="Arial" pitchFamily="34" charset="0"/>
              <a:buChar char="•"/>
            </a:pPr>
            <a:r>
              <a:rPr lang="en-AU" sz="1200" kern="1200" dirty="0" smtClean="0">
                <a:solidFill>
                  <a:schemeClr val="tx1"/>
                </a:solidFill>
                <a:latin typeface="+mn-lt"/>
                <a:ea typeface="+mn-ea"/>
                <a:cs typeface="+mn-cs"/>
              </a:rPr>
              <a:t>Using an air compressor.</a:t>
            </a:r>
          </a:p>
          <a:p>
            <a:r>
              <a:rPr lang="en-AU" sz="1200" kern="1200" dirty="0" smtClean="0">
                <a:solidFill>
                  <a:schemeClr val="tx1"/>
                </a:solidFill>
                <a:latin typeface="+mn-lt"/>
                <a:ea typeface="+mn-ea"/>
                <a:cs typeface="+mn-cs"/>
              </a:rPr>
              <a:t>They need to be used in combination with rocks, wood or proprietary products (portable tracks and/or sand ladders) under wheel/s and in direction of travel for them to be really useful: simply lifting a trapped vehicle is not of much use – it needs to be able to move forward and the rocks, wood, tracks or ladders will allow this to happen.</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https://www.youtube.com/watch?v=aILTlKPu3Zs</a:t>
            </a:r>
            <a:r>
              <a:rPr lang="en-AU" sz="1200" kern="1200" dirty="0" smtClean="0">
                <a:solidFill>
                  <a:schemeClr val="tx1"/>
                </a:solidFill>
                <a:latin typeface="+mn-lt"/>
                <a:ea typeface="+mn-ea"/>
                <a:cs typeface="+mn-cs"/>
              </a:rPr>
              <a:t> – Exhaust jack</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87649821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instruction on how to use inflatable</a:t>
            </a:r>
            <a:r>
              <a:rPr lang="en-AU" baseline="0" noProof="0" dirty="0" smtClean="0"/>
              <a:t> bag to lift trapped vehicle:</a:t>
            </a:r>
          </a:p>
          <a:p>
            <a:pPr marL="171450" indent="-171450">
              <a:buFont typeface="Arial" pitchFamily="34" charset="0"/>
              <a:buChar char="•"/>
            </a:pPr>
            <a:r>
              <a:rPr lang="en-AU" sz="1200" kern="1200" dirty="0" smtClean="0">
                <a:solidFill>
                  <a:schemeClr val="tx1"/>
                </a:solidFill>
                <a:latin typeface="+mn-lt"/>
                <a:ea typeface="+mn-ea"/>
                <a:cs typeface="+mn-cs"/>
              </a:rPr>
              <a:t>Unpack the bag from its carrier</a:t>
            </a:r>
          </a:p>
          <a:p>
            <a:pPr marL="171450" indent="-171450">
              <a:buFont typeface="Arial" pitchFamily="34" charset="0"/>
              <a:buChar char="•"/>
            </a:pPr>
            <a:r>
              <a:rPr lang="en-AU" sz="1200" kern="1200" dirty="0" smtClean="0">
                <a:solidFill>
                  <a:schemeClr val="tx1"/>
                </a:solidFill>
                <a:latin typeface="+mn-lt"/>
                <a:ea typeface="+mn-ea"/>
                <a:cs typeface="+mn-cs"/>
              </a:rPr>
              <a:t>Locate in appropriate position under the vehicle</a:t>
            </a:r>
          </a:p>
          <a:p>
            <a:pPr marL="171450" indent="-171450">
              <a:buFont typeface="Arial" pitchFamily="34" charset="0"/>
              <a:buChar char="•"/>
            </a:pPr>
            <a:r>
              <a:rPr lang="en-AU" sz="1200" kern="1200" dirty="0" smtClean="0">
                <a:solidFill>
                  <a:schemeClr val="tx1"/>
                </a:solidFill>
                <a:latin typeface="+mn-lt"/>
                <a:ea typeface="+mn-ea"/>
                <a:cs typeface="+mn-cs"/>
              </a:rPr>
              <a:t>Check to ensure:</a:t>
            </a:r>
          </a:p>
          <a:p>
            <a:pPr marL="628650" lvl="1" indent="-171450">
              <a:buFont typeface="Arial" pitchFamily="34" charset="0"/>
              <a:buChar char="•"/>
            </a:pPr>
            <a:r>
              <a:rPr lang="en-US" sz="1200" kern="1200" dirty="0" smtClean="0">
                <a:solidFill>
                  <a:schemeClr val="tx1"/>
                </a:solidFill>
                <a:latin typeface="+mn-lt"/>
                <a:ea typeface="+mn-ea"/>
                <a:cs typeface="+mn-cs"/>
              </a:rPr>
              <a:t>No jagged edges/protrusions which can harm or hoe the bag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Bag is away from hot exhausts and engine parts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Attach hose to bag. </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https://www.youtube.com/watch?v=CqBQ8q2mxuY</a:t>
            </a:r>
            <a:r>
              <a:rPr lang="en-AU" sz="1200" kern="1200" dirty="0" smtClean="0">
                <a:solidFill>
                  <a:schemeClr val="tx1"/>
                </a:solidFill>
                <a:latin typeface="+mn-lt"/>
                <a:ea typeface="+mn-ea"/>
                <a:cs typeface="+mn-cs"/>
              </a:rPr>
              <a:t> – X-Jack and X-Trax</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90051010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a:t>
            </a:r>
            <a:r>
              <a:rPr lang="en-AU" baseline="0" noProof="0" dirty="0" smtClean="0"/>
              <a:t> use of inflatable bag to lift vehicle:</a:t>
            </a:r>
          </a:p>
          <a:p>
            <a:pPr marL="171450" indent="-171450">
              <a:buFont typeface="Arial" pitchFamily="34" charset="0"/>
              <a:buChar char="•"/>
            </a:pPr>
            <a:r>
              <a:rPr lang="en-AU" sz="1200" kern="1200" dirty="0" smtClean="0">
                <a:solidFill>
                  <a:schemeClr val="tx1"/>
                </a:solidFill>
                <a:latin typeface="+mn-lt"/>
                <a:ea typeface="+mn-ea"/>
                <a:cs typeface="+mn-cs"/>
              </a:rPr>
              <a:t>Start vehicle engine in neutral – if using exhaust to lift the vehicle</a:t>
            </a:r>
          </a:p>
          <a:p>
            <a:pPr marL="171450" indent="-171450">
              <a:buFont typeface="Arial" pitchFamily="34" charset="0"/>
              <a:buChar char="•"/>
            </a:pPr>
            <a:r>
              <a:rPr lang="en-AU" sz="1200" kern="1200" dirty="0" smtClean="0">
                <a:solidFill>
                  <a:schemeClr val="tx1"/>
                </a:solidFill>
                <a:latin typeface="+mn-lt"/>
                <a:ea typeface="+mn-ea"/>
                <a:cs typeface="+mn-cs"/>
              </a:rPr>
              <a:t>Take other end of hose to exhaust pipe and jam/hold the cone of this end in position over end of the exhaust pipe</a:t>
            </a:r>
          </a:p>
          <a:p>
            <a:pPr marL="171450" indent="-171450">
              <a:buFont typeface="Arial" pitchFamily="34" charset="0"/>
              <a:buChar char="•"/>
            </a:pPr>
            <a:r>
              <a:rPr lang="en-AU" sz="1200" kern="1200" dirty="0" smtClean="0">
                <a:solidFill>
                  <a:schemeClr val="tx1"/>
                </a:solidFill>
                <a:latin typeface="+mn-lt"/>
                <a:ea typeface="+mn-ea"/>
                <a:cs typeface="+mn-cs"/>
              </a:rPr>
              <a:t>Watch as bag inflates.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https://www.youtube.com/watch?v=Hc7Tni99dlQ</a:t>
            </a:r>
            <a:r>
              <a:rPr lang="en-AU" sz="1200" kern="1200" dirty="0" smtClean="0">
                <a:solidFill>
                  <a:schemeClr val="tx1"/>
                </a:solidFill>
                <a:latin typeface="+mn-lt"/>
                <a:ea typeface="+mn-ea"/>
                <a:cs typeface="+mn-cs"/>
              </a:rPr>
              <a:t> – LROTV High lift jack versus Air jack</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413498388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a:t>
            </a:r>
            <a:r>
              <a:rPr lang="en-AU" baseline="0" noProof="0" dirty="0" smtClean="0"/>
              <a:t> use of inflatable bag to lift vehicle:</a:t>
            </a:r>
          </a:p>
          <a:p>
            <a:pPr marL="171450" indent="-171450">
              <a:buFont typeface="Arial" pitchFamily="34" charset="0"/>
              <a:buChar char="•"/>
            </a:pPr>
            <a:r>
              <a:rPr lang="en-AU" sz="1200" kern="1200" dirty="0" smtClean="0">
                <a:solidFill>
                  <a:schemeClr val="tx1"/>
                </a:solidFill>
                <a:latin typeface="+mn-lt"/>
                <a:ea typeface="+mn-ea"/>
                <a:cs typeface="+mn-cs"/>
              </a:rPr>
              <a:t>Remove hose from exhaust pipe when bag is inflated</a:t>
            </a:r>
          </a:p>
          <a:p>
            <a:pPr marL="171450" indent="-171450">
              <a:buFont typeface="Arial" pitchFamily="34" charset="0"/>
              <a:buChar char="•"/>
            </a:pPr>
            <a:r>
              <a:rPr lang="en-AU" sz="1200" kern="1200" dirty="0" smtClean="0">
                <a:solidFill>
                  <a:schemeClr val="tx1"/>
                </a:solidFill>
                <a:latin typeface="+mn-lt"/>
                <a:ea typeface="+mn-ea"/>
                <a:cs typeface="+mn-cs"/>
              </a:rPr>
              <a:t>Insert rocks, wood or proprietary products (portable tracks and/or sand ladders) under wheel and in direction of travel</a:t>
            </a:r>
          </a:p>
          <a:p>
            <a:pPr marL="171450" indent="-171450">
              <a:buFont typeface="Arial" pitchFamily="34" charset="0"/>
              <a:buChar char="•"/>
            </a:pPr>
            <a:r>
              <a:rPr lang="en-AU" sz="1200" kern="1200" dirty="0" smtClean="0">
                <a:solidFill>
                  <a:schemeClr val="tx1"/>
                </a:solidFill>
                <a:latin typeface="+mn-lt"/>
                <a:ea typeface="+mn-ea"/>
                <a:cs typeface="+mn-cs"/>
              </a:rPr>
              <a:t>Loosen hose connected to bag – to deflate the bag slowly and lower the vehicle. </a:t>
            </a:r>
          </a:p>
          <a:p>
            <a:pPr>
              <a:buFont typeface="Arial" pitchFamily="34" charset="0"/>
              <a:buNone/>
            </a:pPr>
            <a:endParaRPr lang="en-AU" sz="1200" kern="1200" noProof="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https://www.youtube.com/watch?v=gmzMx9_TkaU</a:t>
            </a:r>
            <a:r>
              <a:rPr lang="en-AU" sz="1200" kern="1200" dirty="0" smtClean="0">
                <a:solidFill>
                  <a:schemeClr val="tx1"/>
                </a:solidFill>
                <a:latin typeface="+mn-lt"/>
                <a:ea typeface="+mn-ea"/>
                <a:cs typeface="+mn-cs"/>
              </a:rPr>
              <a:t> – How to use an exhaust air-jack for recovery.</a:t>
            </a:r>
          </a:p>
          <a:p>
            <a:pPr>
              <a:buFont typeface="Arial" pitchFamily="34" charset="0"/>
              <a:buNone/>
            </a:pPr>
            <a:endParaRPr lang="en-AU" noProof="0" dirty="0" smtClean="0"/>
          </a:p>
          <a:p>
            <a:pPr>
              <a:buFont typeface="Arial" pitchFamily="34" charset="0"/>
              <a:buNone/>
            </a:pPr>
            <a:r>
              <a:rPr lang="en-AU" b="1" noProof="0" dirty="0" smtClean="0"/>
              <a:t>Classroom Activity (2) – Demonstration and Practical</a:t>
            </a:r>
          </a:p>
          <a:p>
            <a:pPr>
              <a:buFont typeface="Arial" pitchFamily="34" charset="0"/>
              <a:buNone/>
            </a:pPr>
            <a:r>
              <a:rPr lang="en-AU" b="0" noProof="0" dirty="0" smtClean="0"/>
              <a:t>Trainer shows students how to lift a vehicle using an inflatable bag and provides an opportunity for students</a:t>
            </a:r>
            <a:r>
              <a:rPr lang="en-AU" b="0" baseline="0" noProof="0" dirty="0" smtClean="0"/>
              <a:t> to do the same</a:t>
            </a:r>
            <a:r>
              <a:rPr lang="en-AU" b="0" noProof="0" dirty="0" smtClean="0"/>
              <a: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51350411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use of </a:t>
            </a:r>
            <a:r>
              <a:rPr lang="en-AU" sz="1200" kern="1200" dirty="0" smtClean="0">
                <a:solidFill>
                  <a:schemeClr val="tx1"/>
                </a:solidFill>
                <a:latin typeface="+mn-lt"/>
                <a:ea typeface="+mn-ea"/>
                <a:cs typeface="+mn-cs"/>
              </a:rPr>
              <a:t>sand ladders and other proprietary light-weight tracks for four-wheel driving</a:t>
            </a:r>
            <a:r>
              <a:rPr lang="en-AU" sz="1200" kern="1200" baseline="0" dirty="0" smtClean="0">
                <a:solidFill>
                  <a:schemeClr val="tx1"/>
                </a:solidFill>
                <a:latin typeface="+mn-lt"/>
                <a:ea typeface="+mn-ea"/>
                <a:cs typeface="+mn-cs"/>
              </a:rPr>
              <a:t> and recovery observing they </a:t>
            </a:r>
            <a:r>
              <a:rPr lang="en-AU" sz="1200" kern="1200" dirty="0" smtClean="0">
                <a:solidFill>
                  <a:schemeClr val="tx1"/>
                </a:solidFill>
                <a:latin typeface="+mn-lt"/>
                <a:ea typeface="+mn-ea"/>
                <a:cs typeface="+mn-cs"/>
              </a:rPr>
              <a:t>can be:</a:t>
            </a:r>
          </a:p>
          <a:p>
            <a:pPr marL="171450" indent="-171450">
              <a:buFont typeface="Arial" pitchFamily="34" charset="0"/>
              <a:buChar char="•"/>
            </a:pPr>
            <a:r>
              <a:rPr lang="en-AU" sz="1200" kern="1200" dirty="0" smtClean="0">
                <a:solidFill>
                  <a:schemeClr val="tx1"/>
                </a:solidFill>
                <a:latin typeface="+mn-lt"/>
                <a:ea typeface="+mn-ea"/>
                <a:cs typeface="+mn-cs"/>
              </a:rPr>
              <a:t>Placed under the wheels of stranded vehicles to give the wheels better purchase when trying to un-stick the vehicle by either towing/winching it out or driving it out</a:t>
            </a:r>
          </a:p>
          <a:p>
            <a:pPr marL="171450" indent="-171450">
              <a:buFont typeface="Arial" pitchFamily="34" charset="0"/>
              <a:buChar char="•"/>
            </a:pPr>
            <a:r>
              <a:rPr lang="en-AU" sz="1200" kern="1200" dirty="0" smtClean="0">
                <a:solidFill>
                  <a:schemeClr val="tx1"/>
                </a:solidFill>
                <a:latin typeface="+mn-lt"/>
                <a:ea typeface="+mn-ea"/>
                <a:cs typeface="+mn-cs"/>
              </a:rPr>
              <a:t>Used to provide a bridge to allow a vehicle to travel across an otherwise insurmountable gap.</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https://www.youtube.com/watch?v=NLe71YjrUkI</a:t>
            </a:r>
            <a:r>
              <a:rPr lang="en-AU" sz="1200" kern="1200" dirty="0" smtClean="0">
                <a:solidFill>
                  <a:schemeClr val="tx1"/>
                </a:solidFill>
                <a:latin typeface="+mn-lt"/>
                <a:ea typeface="+mn-ea"/>
                <a:cs typeface="+mn-cs"/>
              </a:rPr>
              <a:t> – Muputrax: multi-purpose recovery tracks/sand ladders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4"/>
              </a:rPr>
              <a:t>https://www.youtube.com/watch?v=kMFa_pylslo</a:t>
            </a:r>
            <a:r>
              <a:rPr lang="en-AU" sz="1200" kern="1200" dirty="0" smtClean="0">
                <a:solidFill>
                  <a:schemeClr val="tx1"/>
                </a:solidFill>
                <a:latin typeface="+mn-lt"/>
                <a:ea typeface="+mn-ea"/>
                <a:cs typeface="+mn-cs"/>
              </a:rPr>
              <a:t> – LROTV: Sand ladders demonstration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65125047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use of sand ladders/tracks:</a:t>
            </a:r>
          </a:p>
          <a:p>
            <a:pPr marL="171450" indent="-171450">
              <a:buFont typeface="Arial" pitchFamily="34" charset="0"/>
              <a:buChar char="•"/>
            </a:pPr>
            <a:r>
              <a:rPr lang="en-AU" sz="1200" kern="1200" dirty="0" smtClean="0">
                <a:solidFill>
                  <a:schemeClr val="tx1"/>
                </a:solidFill>
                <a:latin typeface="+mn-lt"/>
                <a:ea typeface="+mn-ea"/>
                <a:cs typeface="+mn-cs"/>
              </a:rPr>
              <a:t>Shovel away build up from in front of the tyre/s – if possible</a:t>
            </a:r>
          </a:p>
          <a:p>
            <a:pPr marL="171450" indent="-171450">
              <a:buFont typeface="Arial" pitchFamily="34" charset="0"/>
              <a:buChar char="•"/>
            </a:pPr>
            <a:r>
              <a:rPr lang="en-AU" sz="1200" kern="1200" dirty="0" smtClean="0">
                <a:solidFill>
                  <a:schemeClr val="tx1"/>
                </a:solidFill>
                <a:latin typeface="+mn-lt"/>
                <a:ea typeface="+mn-ea"/>
                <a:cs typeface="+mn-cs"/>
              </a:rPr>
              <a:t>Raise the vehicle – if possible</a:t>
            </a:r>
          </a:p>
          <a:p>
            <a:pPr marL="171450" indent="-171450">
              <a:buFont typeface="Arial" pitchFamily="34" charset="0"/>
              <a:buChar char="•"/>
            </a:pPr>
            <a:r>
              <a:rPr lang="en-AU" sz="1200" kern="1200" dirty="0" smtClean="0">
                <a:solidFill>
                  <a:schemeClr val="tx1"/>
                </a:solidFill>
                <a:latin typeface="+mn-lt"/>
                <a:ea typeface="+mn-ea"/>
                <a:cs typeface="+mn-cs"/>
              </a:rPr>
              <a:t>Position the ladders/tracks under and in front of the wheels.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https://www.youtube.com/watch?v=95m6VHEWvFk</a:t>
            </a:r>
            <a:r>
              <a:rPr lang="en-AU" sz="1200" kern="1200" dirty="0" smtClean="0">
                <a:solidFill>
                  <a:schemeClr val="tx1"/>
                </a:solidFill>
                <a:latin typeface="+mn-lt"/>
                <a:ea typeface="+mn-ea"/>
                <a:cs typeface="+mn-cs"/>
              </a:rPr>
              <a:t> – Overland journal: sand ladder test</a:t>
            </a:r>
          </a:p>
          <a:p>
            <a:r>
              <a:rPr lang="en-AU" sz="1200" u="sng" kern="1200" dirty="0" smtClean="0">
                <a:solidFill>
                  <a:schemeClr val="tx1"/>
                </a:solidFill>
                <a:latin typeface="+mn-lt"/>
                <a:ea typeface="+mn-ea"/>
                <a:cs typeface="+mn-cs"/>
                <a:hlinkClick r:id="rId4"/>
              </a:rPr>
              <a:t>https://www.youtube.com/watch?v=hm_u0wb3kD0</a:t>
            </a:r>
            <a:r>
              <a:rPr lang="en-AU" sz="1200" kern="1200" dirty="0" smtClean="0">
                <a:solidFill>
                  <a:schemeClr val="tx1"/>
                </a:solidFill>
                <a:latin typeface="+mn-lt"/>
                <a:ea typeface="+mn-ea"/>
                <a:cs typeface="+mn-cs"/>
              </a:rPr>
              <a:t> – Terra Trax sand ladders demo.</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261446267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use of sand ladders/tracks:</a:t>
            </a:r>
          </a:p>
          <a:p>
            <a:pPr marL="171450" indent="-171450">
              <a:buFont typeface="Arial" pitchFamily="34" charset="0"/>
              <a:buChar char="•"/>
            </a:pPr>
            <a:r>
              <a:rPr lang="en-AU" sz="1200" kern="1200" dirty="0" smtClean="0">
                <a:solidFill>
                  <a:schemeClr val="tx1"/>
                </a:solidFill>
                <a:latin typeface="+mn-lt"/>
                <a:ea typeface="+mn-ea"/>
                <a:cs typeface="+mn-cs"/>
              </a:rPr>
              <a:t>Lower the vehicle onto the ladders/tracks</a:t>
            </a:r>
          </a:p>
          <a:p>
            <a:pPr marL="171450" indent="-171450">
              <a:buFont typeface="Arial" pitchFamily="34" charset="0"/>
              <a:buChar char="•"/>
            </a:pPr>
            <a:r>
              <a:rPr lang="en-AU" sz="1200" kern="1200" dirty="0" smtClean="0">
                <a:solidFill>
                  <a:schemeClr val="tx1"/>
                </a:solidFill>
                <a:latin typeface="+mn-lt"/>
                <a:ea typeface="+mn-ea"/>
                <a:cs typeface="+mn-cs"/>
              </a:rPr>
              <a:t>Make sure vehicle is in 4WD Low range first gear</a:t>
            </a:r>
          </a:p>
          <a:p>
            <a:pPr marL="171450" indent="-171450">
              <a:buFont typeface="Arial" pitchFamily="34" charset="0"/>
              <a:buChar char="•"/>
            </a:pPr>
            <a:r>
              <a:rPr lang="en-AU" sz="1200" kern="1200" dirty="0" smtClean="0">
                <a:solidFill>
                  <a:schemeClr val="tx1"/>
                </a:solidFill>
                <a:latin typeface="+mn-lt"/>
                <a:ea typeface="+mn-ea"/>
                <a:cs typeface="+mn-cs"/>
              </a:rPr>
              <a:t>Drive forward</a:t>
            </a:r>
          </a:p>
          <a:p>
            <a:pPr marL="171450" indent="-171450">
              <a:buFont typeface="Arial" pitchFamily="34" charset="0"/>
              <a:buChar char="•"/>
            </a:pPr>
            <a:r>
              <a:rPr lang="en-AU" sz="1200" kern="1200" dirty="0" smtClean="0">
                <a:solidFill>
                  <a:schemeClr val="tx1"/>
                </a:solidFill>
                <a:latin typeface="+mn-lt"/>
                <a:ea typeface="+mn-ea"/>
                <a:cs typeface="+mn-cs"/>
              </a:rPr>
              <a:t>Repeat as required until vehicle is free.</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shows students how to use sand ladders/tracks to recover a trapped vehicle and provides an opportunity for students</a:t>
            </a:r>
            <a:r>
              <a:rPr lang="en-AU" b="0" baseline="0" noProof="0" dirty="0" smtClean="0"/>
              <a:t> to do the same</a:t>
            </a:r>
            <a:r>
              <a:rPr lang="en-AU" b="0" noProof="0" dirty="0" smtClean="0"/>
              <a: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65881942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recovering </a:t>
            </a:r>
            <a:r>
              <a:rPr lang="en-AU" sz="1200" kern="1200" dirty="0" smtClean="0">
                <a:solidFill>
                  <a:schemeClr val="tx1"/>
                </a:solidFill>
                <a:latin typeface="+mn-lt"/>
                <a:ea typeface="+mn-ea"/>
                <a:cs typeface="+mn-cs"/>
              </a:rPr>
              <a:t>a trapped vehicle can present various risks/dangers depending on where and how the vehicle is stuck with possible dangers including:</a:t>
            </a:r>
          </a:p>
          <a:p>
            <a:pPr marL="171450" indent="-171450">
              <a:buFont typeface="Arial" pitchFamily="34" charset="0"/>
              <a:buChar char="•"/>
            </a:pPr>
            <a:r>
              <a:rPr lang="en-AU" sz="1200" kern="1200" dirty="0" smtClean="0">
                <a:solidFill>
                  <a:schemeClr val="tx1"/>
                </a:solidFill>
                <a:latin typeface="+mn-lt"/>
                <a:ea typeface="+mn-ea"/>
                <a:cs typeface="+mn-cs"/>
              </a:rPr>
              <a:t>Risk of the vehicle becoming flooded in a tidal river or beach situation as the water rises </a:t>
            </a:r>
          </a:p>
          <a:p>
            <a:pPr marL="171450" indent="-171450">
              <a:buFont typeface="Arial" pitchFamily="34" charset="0"/>
              <a:buChar char="•"/>
            </a:pPr>
            <a:r>
              <a:rPr lang="en-AU" sz="1200" kern="1200" dirty="0" smtClean="0">
                <a:solidFill>
                  <a:schemeClr val="tx1"/>
                </a:solidFill>
                <a:latin typeface="+mn-lt"/>
                <a:ea typeface="+mn-ea"/>
                <a:cs typeface="+mn-cs"/>
              </a:rPr>
              <a:t>Danger of the vehicle slipping and rolling forward, backwards or sideways.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65200301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possible dangers when recovering vehicles:</a:t>
            </a:r>
          </a:p>
          <a:p>
            <a:pPr marL="171450" indent="-171450">
              <a:buFont typeface="Arial" pitchFamily="34" charset="0"/>
              <a:buChar char="•"/>
            </a:pPr>
            <a:r>
              <a:rPr lang="en-AU" sz="1200" kern="1200" dirty="0" smtClean="0">
                <a:solidFill>
                  <a:schemeClr val="tx1"/>
                </a:solidFill>
                <a:latin typeface="+mn-lt"/>
                <a:ea typeface="+mn-ea"/>
                <a:cs typeface="+mn-cs"/>
              </a:rPr>
              <a:t>Chance of vehicle trapped in water being pushed over by the force of the water (current/flow) against its side</a:t>
            </a:r>
          </a:p>
          <a:p>
            <a:pPr marL="171450" indent="-171450">
              <a:buFont typeface="Arial" pitchFamily="34" charset="0"/>
              <a:buChar char="•"/>
            </a:pPr>
            <a:r>
              <a:rPr lang="en-AU" sz="1200" kern="1200" dirty="0" smtClean="0">
                <a:solidFill>
                  <a:schemeClr val="tx1"/>
                </a:solidFill>
                <a:latin typeface="+mn-lt"/>
                <a:ea typeface="+mn-ea"/>
                <a:cs typeface="+mn-cs"/>
              </a:rPr>
              <a:t>Possibility of winch cable, snatch strap or tow rope breaking and springing back causing injury to people in vehicle or by-standers </a:t>
            </a:r>
          </a:p>
          <a:p>
            <a:pPr marL="171450" indent="-171450">
              <a:buFont typeface="Arial" pitchFamily="34" charset="0"/>
              <a:buChar char="•"/>
            </a:pPr>
            <a:r>
              <a:rPr lang="en-AU" sz="1200" kern="1200" dirty="0" smtClean="0">
                <a:solidFill>
                  <a:schemeClr val="tx1"/>
                </a:solidFill>
                <a:latin typeface="+mn-lt"/>
                <a:ea typeface="+mn-ea"/>
                <a:cs typeface="+mn-cs"/>
              </a:rPr>
              <a:t>Passengers injuring themselves as they leave/get out of a stranded vehicle – and slip/slide on muddy, wet or otherwise slippery surfaces.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98435687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latin typeface="+mn-lt"/>
                <a:ea typeface="+mn-ea"/>
                <a:cs typeface="+mn-cs"/>
              </a:rPr>
              <a:t>it is useful to consider the concept of ‘Danger Zone’ when recovering a trapped vehicle.</a:t>
            </a:r>
          </a:p>
          <a:p>
            <a:pPr marL="171450" indent="-171450">
              <a:buFont typeface="Arial" pitchFamily="34" charset="0"/>
              <a:buChar char="•"/>
            </a:pPr>
            <a:r>
              <a:rPr lang="en-AU" sz="1200" kern="1200" dirty="0" smtClean="0">
                <a:solidFill>
                  <a:schemeClr val="tx1"/>
                </a:solidFill>
                <a:latin typeface="+mn-lt"/>
                <a:ea typeface="+mn-ea"/>
                <a:cs typeface="+mn-cs"/>
              </a:rPr>
              <a:t>The Danger Zone is the area in which passengers/people could be injured if something goes wrong with the recovery</a:t>
            </a:r>
          </a:p>
          <a:p>
            <a:pPr marL="171450" indent="-171450">
              <a:buFont typeface="Arial" pitchFamily="34" charset="0"/>
              <a:buChar char="•"/>
            </a:pPr>
            <a:r>
              <a:rPr lang="en-AU" sz="1200" kern="1200" dirty="0" smtClean="0">
                <a:solidFill>
                  <a:schemeClr val="tx1"/>
                </a:solidFill>
                <a:latin typeface="+mn-lt"/>
                <a:ea typeface="+mn-ea"/>
                <a:cs typeface="+mn-cs"/>
              </a:rPr>
              <a:t>Standard practice is to consider the factors which impact on defining the Danger Zone for each recovery situation and then:</a:t>
            </a:r>
          </a:p>
          <a:p>
            <a:pPr marL="628650" lvl="1" indent="-171450">
              <a:buFont typeface="Arial" pitchFamily="34" charset="0"/>
              <a:buChar char="•"/>
            </a:pPr>
            <a:r>
              <a:rPr lang="en-AU" sz="1200" kern="1200" dirty="0" smtClean="0">
                <a:solidFill>
                  <a:schemeClr val="tx1"/>
                </a:solidFill>
                <a:latin typeface="+mn-lt"/>
                <a:ea typeface="+mn-ea"/>
                <a:cs typeface="+mn-cs"/>
              </a:rPr>
              <a:t>Move everyone out of that zone</a:t>
            </a:r>
          </a:p>
          <a:p>
            <a:pPr marL="628650" lvl="1" indent="-171450">
              <a:buFont typeface="Arial" pitchFamily="34" charset="0"/>
              <a:buChar char="•"/>
            </a:pPr>
            <a:r>
              <a:rPr lang="en-AU" sz="1200" kern="1200" dirty="0" smtClean="0">
                <a:solidFill>
                  <a:schemeClr val="tx1"/>
                </a:solidFill>
                <a:latin typeface="+mn-lt"/>
                <a:ea typeface="+mn-ea"/>
                <a:cs typeface="+mn-cs"/>
              </a:rPr>
              <a:t>Position them behind walls, rocks or other suitable protection.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17321477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factors to be considered when determining the Danger Zone for a recovery can include:</a:t>
            </a:r>
          </a:p>
          <a:p>
            <a:pPr marL="171450" indent="-171450">
              <a:buFont typeface="Arial" pitchFamily="34" charset="0"/>
              <a:buChar char="•"/>
            </a:pPr>
            <a:r>
              <a:rPr lang="en-AU" sz="1200" kern="1200" dirty="0" smtClean="0">
                <a:solidFill>
                  <a:schemeClr val="tx1"/>
                </a:solidFill>
                <a:latin typeface="+mn-lt"/>
                <a:ea typeface="+mn-ea"/>
                <a:cs typeface="+mn-cs"/>
              </a:rPr>
              <a:t>Type of recovery equipment used – which indicates possibility of (cable or rope or other) failure/s</a:t>
            </a:r>
          </a:p>
          <a:p>
            <a:pPr marL="171450" indent="-171450">
              <a:buFont typeface="Arial" pitchFamily="34" charset="0"/>
              <a:buChar char="•"/>
            </a:pPr>
            <a:r>
              <a:rPr lang="en-AU" sz="1200" kern="1200" dirty="0" smtClean="0">
                <a:solidFill>
                  <a:schemeClr val="tx1"/>
                </a:solidFill>
                <a:latin typeface="+mn-lt"/>
                <a:ea typeface="+mn-ea"/>
                <a:cs typeface="+mn-cs"/>
              </a:rPr>
              <a:t>Direction of recovery to be attempted for the trapped vehicle</a:t>
            </a:r>
          </a:p>
          <a:p>
            <a:pPr marL="171450" indent="-171450">
              <a:buFont typeface="Arial" pitchFamily="34" charset="0"/>
              <a:buChar char="•"/>
            </a:pPr>
            <a:r>
              <a:rPr lang="en-AU" sz="1200" kern="1200" dirty="0" smtClean="0">
                <a:solidFill>
                  <a:schemeClr val="tx1"/>
                </a:solidFill>
                <a:latin typeface="+mn-lt"/>
                <a:ea typeface="+mn-ea"/>
                <a:cs typeface="+mn-cs"/>
              </a:rPr>
              <a:t>Potential for vehicle to roll, slip, topple or fall – which may be related to:</a:t>
            </a:r>
          </a:p>
          <a:p>
            <a:pPr marL="628650" lvl="1" indent="-171450">
              <a:buFont typeface="Arial" pitchFamily="34" charset="0"/>
              <a:buChar char="•"/>
            </a:pPr>
            <a:r>
              <a:rPr lang="en-US" sz="1200" kern="1200" dirty="0" smtClean="0">
                <a:solidFill>
                  <a:schemeClr val="tx1"/>
                </a:solidFill>
                <a:latin typeface="+mn-lt"/>
                <a:ea typeface="+mn-ea"/>
                <a:cs typeface="+mn-cs"/>
              </a:rPr>
              <a:t>Fall/lay of the land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Surface conditions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Physical position of the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Effect of suction on cable/winch capacity</a:t>
            </a:r>
          </a:p>
          <a:p>
            <a:pPr marL="171450" indent="-171450">
              <a:buFont typeface="Arial" pitchFamily="34" charset="0"/>
              <a:buChar char="•"/>
            </a:pPr>
            <a:r>
              <a:rPr lang="en-AU" sz="1200" kern="1200" dirty="0" smtClean="0">
                <a:solidFill>
                  <a:schemeClr val="tx1"/>
                </a:solidFill>
                <a:latin typeface="+mn-lt"/>
                <a:ea typeface="+mn-ea"/>
                <a:cs typeface="+mn-cs"/>
              </a:rPr>
              <a:t>Level of difficulty of the recovery.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318327497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a:t>
            </a:r>
            <a:r>
              <a:rPr lang="en-AU" sz="1200" kern="1200" dirty="0" smtClean="0">
                <a:solidFill>
                  <a:schemeClr val="tx1"/>
                </a:solidFill>
                <a:latin typeface="+mn-lt"/>
                <a:ea typeface="+mn-ea"/>
                <a:cs typeface="+mn-cs"/>
              </a:rPr>
              <a:t>the Golden Rule when conducting a recovery or driving a four-wheel drive is ‘people safety is paramount’ explaining this means:</a:t>
            </a:r>
          </a:p>
          <a:p>
            <a:pPr marL="171450" indent="-171450">
              <a:buFont typeface="Arial" pitchFamily="34" charset="0"/>
              <a:buChar char="•"/>
            </a:pPr>
            <a:r>
              <a:rPr lang="en-AU" sz="1200" kern="1200" dirty="0" smtClean="0">
                <a:solidFill>
                  <a:schemeClr val="tx1"/>
                </a:solidFill>
                <a:latin typeface="+mn-lt"/>
                <a:ea typeface="+mn-ea"/>
                <a:cs typeface="+mn-cs"/>
              </a:rPr>
              <a:t>Doing nothing to jeopardise the safety of humans</a:t>
            </a:r>
          </a:p>
          <a:p>
            <a:pPr marL="171450" indent="-171450">
              <a:buFont typeface="Arial" pitchFamily="34" charset="0"/>
              <a:buChar char="•"/>
            </a:pPr>
            <a:r>
              <a:rPr lang="en-AU" sz="1200" kern="1200" dirty="0" smtClean="0">
                <a:solidFill>
                  <a:schemeClr val="tx1"/>
                </a:solidFill>
                <a:latin typeface="+mn-lt"/>
                <a:ea typeface="+mn-ea"/>
                <a:cs typeface="+mn-cs"/>
              </a:rPr>
              <a:t>Safety of people comes before protecting their property.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334242457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practical aspects of passenger safety when doing a vehicle recovery:</a:t>
            </a:r>
          </a:p>
          <a:p>
            <a:pPr marL="171450" indent="-171450">
              <a:buFont typeface="Arial" pitchFamily="34" charset="0"/>
              <a:buChar char="•"/>
            </a:pPr>
            <a:r>
              <a:rPr lang="en-AU" sz="1200" kern="1200" dirty="0" smtClean="0">
                <a:solidFill>
                  <a:schemeClr val="tx1"/>
                </a:solidFill>
                <a:latin typeface="+mn-lt"/>
                <a:ea typeface="+mn-ea"/>
                <a:cs typeface="+mn-cs"/>
              </a:rPr>
              <a:t>Safety of people comes before the safety of animals</a:t>
            </a:r>
          </a:p>
          <a:p>
            <a:pPr marL="171450" indent="-171450">
              <a:buFont typeface="Arial" pitchFamily="34" charset="0"/>
              <a:buChar char="•"/>
            </a:pPr>
            <a:r>
              <a:rPr lang="en-AU" sz="1200" kern="1200" dirty="0" smtClean="0">
                <a:solidFill>
                  <a:schemeClr val="tx1"/>
                </a:solidFill>
                <a:latin typeface="+mn-lt"/>
                <a:ea typeface="+mn-ea"/>
                <a:cs typeface="+mn-cs"/>
              </a:rPr>
              <a:t>Passengers must be protected before the safety of the tour vehicle</a:t>
            </a:r>
          </a:p>
          <a:p>
            <a:pPr marL="171450" indent="-171450">
              <a:buFont typeface="Arial" pitchFamily="34" charset="0"/>
              <a:buChar char="•"/>
            </a:pPr>
            <a:r>
              <a:rPr lang="en-AU" sz="1200" kern="1200" dirty="0" smtClean="0">
                <a:solidFill>
                  <a:schemeClr val="tx1"/>
                </a:solidFill>
                <a:latin typeface="+mn-lt"/>
                <a:ea typeface="+mn-ea"/>
                <a:cs typeface="+mn-cs"/>
              </a:rPr>
              <a:t>Not allowing time pressures of a tour itinerary to impact on decisions and actions required to safely address a recovery situation</a:t>
            </a:r>
          </a:p>
          <a:p>
            <a:pPr marL="171450" indent="-171450">
              <a:buFont typeface="Arial" pitchFamily="34" charset="0"/>
              <a:buChar char="•"/>
            </a:pPr>
            <a:r>
              <a:rPr lang="en-AU" sz="1200" kern="1200" dirty="0" smtClean="0">
                <a:solidFill>
                  <a:schemeClr val="tx1"/>
                </a:solidFill>
                <a:latin typeface="+mn-lt"/>
                <a:ea typeface="+mn-ea"/>
                <a:cs typeface="+mn-cs"/>
              </a:rPr>
              <a:t>Not allowing financial considerations to dictate an unsafe course of action is chosen over a known, more expensive but safer recovery option.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0220668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preparation for situations where the vehicle could become trapped may include:</a:t>
            </a:r>
          </a:p>
          <a:p>
            <a:pPr marL="171450" indent="-171450">
              <a:buFont typeface="Arial" pitchFamily="34" charset="0"/>
              <a:buChar char="•"/>
            </a:pPr>
            <a:r>
              <a:rPr lang="en-AU" sz="1200" kern="1200" dirty="0" smtClean="0">
                <a:solidFill>
                  <a:schemeClr val="tx1"/>
                </a:solidFill>
                <a:latin typeface="+mn-lt"/>
                <a:ea typeface="+mn-ea"/>
                <a:cs typeface="+mn-cs"/>
              </a:rPr>
              <a:t>Check and prepare recovery gear which may be required – to ensure it is:</a:t>
            </a:r>
          </a:p>
          <a:p>
            <a:pPr marL="628650" lvl="1" indent="-171450">
              <a:buFont typeface="Arial" pitchFamily="34" charset="0"/>
              <a:buChar char="•"/>
            </a:pPr>
            <a:r>
              <a:rPr lang="en-AU" sz="1200" kern="1200" dirty="0" smtClean="0">
                <a:solidFill>
                  <a:schemeClr val="tx1"/>
                </a:solidFill>
                <a:latin typeface="+mn-lt"/>
                <a:ea typeface="+mn-ea"/>
                <a:cs typeface="+mn-cs"/>
              </a:rPr>
              <a:t>Quickly available </a:t>
            </a:r>
          </a:p>
          <a:p>
            <a:pPr marL="628650" lvl="1" indent="-171450">
              <a:buFont typeface="Arial" pitchFamily="34" charset="0"/>
              <a:buChar char="•"/>
            </a:pPr>
            <a:r>
              <a:rPr lang="en-AU" sz="1200" kern="1200" dirty="0" smtClean="0">
                <a:solidFill>
                  <a:schemeClr val="tx1"/>
                </a:solidFill>
                <a:latin typeface="+mn-lt"/>
                <a:ea typeface="+mn-ea"/>
                <a:cs typeface="+mn-cs"/>
              </a:rPr>
              <a:t>Fit for use should it be needed</a:t>
            </a:r>
          </a:p>
          <a:p>
            <a:pPr marL="171450" indent="-171450">
              <a:buFont typeface="Arial" pitchFamily="34" charset="0"/>
              <a:buChar char="•"/>
            </a:pPr>
            <a:r>
              <a:rPr lang="en-AU" sz="1200" kern="1200" dirty="0" smtClean="0">
                <a:solidFill>
                  <a:schemeClr val="tx1"/>
                </a:solidFill>
                <a:latin typeface="+mn-lt"/>
                <a:ea typeface="+mn-ea"/>
                <a:cs typeface="+mn-cs"/>
              </a:rPr>
              <a:t>Check out/walk or otherwise inspect the route</a:t>
            </a:r>
          </a:p>
          <a:p>
            <a:pPr marL="171450" indent="-171450">
              <a:buFont typeface="Arial" pitchFamily="34" charset="0"/>
              <a:buChar char="•"/>
            </a:pPr>
            <a:r>
              <a:rPr lang="en-AU" sz="1200" kern="1200" dirty="0" smtClean="0">
                <a:solidFill>
                  <a:schemeClr val="tx1"/>
                </a:solidFill>
                <a:latin typeface="+mn-lt"/>
                <a:ea typeface="+mn-ea"/>
                <a:cs typeface="+mn-cs"/>
              </a:rPr>
              <a:t>Re-locate items in the vehicle – in order to:</a:t>
            </a:r>
          </a:p>
          <a:p>
            <a:pPr marL="628650" lvl="1" indent="-171450">
              <a:buFont typeface="Arial" pitchFamily="34" charset="0"/>
              <a:buChar char="•"/>
            </a:pPr>
            <a:r>
              <a:rPr lang="en-US" sz="1200" kern="1200" dirty="0" smtClean="0">
                <a:solidFill>
                  <a:schemeClr val="tx1"/>
                </a:solidFill>
                <a:latin typeface="+mn-lt"/>
                <a:ea typeface="+mn-ea"/>
                <a:cs typeface="+mn-cs"/>
              </a:rPr>
              <a:t>Alter the balance/weight distribution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Secure items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Give ready access to certain gear</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Advise passengers of identified threats </a:t>
            </a:r>
          </a:p>
          <a:p>
            <a:pPr marL="171450" indent="-171450">
              <a:buFont typeface="Arial" pitchFamily="34" charset="0"/>
              <a:buChar char="•"/>
            </a:pPr>
            <a:r>
              <a:rPr lang="en-AU" sz="1200" kern="1200" dirty="0" smtClean="0">
                <a:solidFill>
                  <a:schemeClr val="tx1"/>
                </a:solidFill>
                <a:latin typeface="+mn-lt"/>
                <a:ea typeface="+mn-ea"/>
                <a:cs typeface="+mn-cs"/>
              </a:rPr>
              <a:t>Give necessary safety advice – such as:</a:t>
            </a:r>
          </a:p>
          <a:p>
            <a:pPr marL="628650" lvl="1" indent="-171450">
              <a:buFont typeface="Arial" pitchFamily="34" charset="0"/>
              <a:buChar char="•"/>
            </a:pPr>
            <a:r>
              <a:rPr lang="en-AU" sz="1200" kern="1200" dirty="0" smtClean="0">
                <a:solidFill>
                  <a:schemeClr val="tx1"/>
                </a:solidFill>
                <a:latin typeface="+mn-lt"/>
                <a:ea typeface="+mn-ea"/>
                <a:cs typeface="+mn-cs"/>
              </a:rPr>
              <a:t>Wind windows down </a:t>
            </a:r>
          </a:p>
          <a:p>
            <a:pPr marL="628650" lvl="1" indent="-171450">
              <a:buFont typeface="Arial" pitchFamily="34" charset="0"/>
              <a:buChar char="•"/>
            </a:pPr>
            <a:r>
              <a:rPr lang="en-AU" sz="1200" kern="1200" dirty="0" smtClean="0">
                <a:solidFill>
                  <a:schemeClr val="tx1"/>
                </a:solidFill>
                <a:latin typeface="+mn-lt"/>
                <a:ea typeface="+mn-ea"/>
                <a:cs typeface="+mn-cs"/>
              </a:rPr>
              <a:t>Keep doors unlocked</a:t>
            </a:r>
          </a:p>
          <a:p>
            <a:pPr marL="628650" lvl="1" indent="-171450">
              <a:buFont typeface="Arial" pitchFamily="34" charset="0"/>
              <a:buChar char="•"/>
            </a:pPr>
            <a:r>
              <a:rPr lang="en-AU" sz="1200" kern="1200" dirty="0" smtClean="0">
                <a:solidFill>
                  <a:schemeClr val="tx1"/>
                </a:solidFill>
                <a:latin typeface="+mn-lt"/>
                <a:ea typeface="+mn-ea"/>
                <a:cs typeface="+mn-cs"/>
              </a:rPr>
              <a:t>Keep seat belts on or off – depending on the situation.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78288718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if </a:t>
            </a:r>
            <a:r>
              <a:rPr lang="en-AU" sz="1200" kern="1200" dirty="0" smtClean="0">
                <a:solidFill>
                  <a:schemeClr val="tx1"/>
                </a:solidFill>
                <a:latin typeface="+mn-lt"/>
                <a:ea typeface="+mn-ea"/>
                <a:cs typeface="+mn-cs"/>
              </a:rPr>
              <a:t>the tour vehicle becomes trapped the driver/tour crew must:</a:t>
            </a:r>
          </a:p>
          <a:p>
            <a:pPr marL="171450" indent="-171450">
              <a:buFont typeface="Arial" pitchFamily="34" charset="0"/>
              <a:buChar char="•"/>
            </a:pPr>
            <a:r>
              <a:rPr lang="en-AU" sz="1200" kern="1200" dirty="0" smtClean="0">
                <a:solidFill>
                  <a:schemeClr val="tx1"/>
                </a:solidFill>
                <a:latin typeface="+mn-lt"/>
                <a:ea typeface="+mn-ea"/>
                <a:cs typeface="+mn-cs"/>
              </a:rPr>
              <a:t>Take control of the situation</a:t>
            </a:r>
          </a:p>
          <a:p>
            <a:pPr marL="171450" indent="-171450">
              <a:buFont typeface="Arial" pitchFamily="34" charset="0"/>
              <a:buChar char="•"/>
            </a:pPr>
            <a:r>
              <a:rPr lang="en-AU" sz="1200" kern="1200" dirty="0" smtClean="0">
                <a:solidFill>
                  <a:schemeClr val="tx1"/>
                </a:solidFill>
                <a:latin typeface="+mn-lt"/>
                <a:ea typeface="+mn-ea"/>
                <a:cs typeface="+mn-cs"/>
              </a:rPr>
              <a:t>Show leadership and confidence regarding the situation</a:t>
            </a:r>
          </a:p>
          <a:p>
            <a:pPr marL="171450" indent="-171450">
              <a:buFont typeface="Arial" pitchFamily="34" charset="0"/>
              <a:buChar char="•"/>
            </a:pPr>
            <a:r>
              <a:rPr lang="en-AU" sz="1200" kern="1200" dirty="0" smtClean="0">
                <a:solidFill>
                  <a:schemeClr val="tx1"/>
                </a:solidFill>
                <a:latin typeface="+mn-lt"/>
                <a:ea typeface="+mn-ea"/>
                <a:cs typeface="+mn-cs"/>
              </a:rPr>
              <a:t>Avoid panic.</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140778480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advice of what driver/tour crew must do when vehicle gets trapped:</a:t>
            </a:r>
          </a:p>
          <a:p>
            <a:pPr marL="171450" indent="-171450">
              <a:buFont typeface="Arial" pitchFamily="34" charset="0"/>
              <a:buChar char="•"/>
            </a:pPr>
            <a:r>
              <a:rPr lang="en-AU" sz="1200" kern="1200" dirty="0" smtClean="0">
                <a:solidFill>
                  <a:schemeClr val="tx1"/>
                </a:solidFill>
                <a:latin typeface="+mn-lt"/>
                <a:ea typeface="+mn-ea"/>
                <a:cs typeface="+mn-cs"/>
              </a:rPr>
              <a:t>Inspect the situation to determine and gain first-hand knowledge and an understanding of the situation – rather than guess at what it might be</a:t>
            </a:r>
          </a:p>
          <a:p>
            <a:pPr marL="171450" indent="-171450">
              <a:buFont typeface="Arial" pitchFamily="34" charset="0"/>
              <a:buChar char="•"/>
            </a:pPr>
            <a:r>
              <a:rPr lang="en-AU" sz="1200" kern="1200" dirty="0" smtClean="0">
                <a:solidFill>
                  <a:schemeClr val="tx1"/>
                </a:solidFill>
                <a:latin typeface="+mn-lt"/>
                <a:ea typeface="+mn-ea"/>
                <a:cs typeface="+mn-cs"/>
              </a:rPr>
              <a:t>Work out a plan of action</a:t>
            </a:r>
          </a:p>
          <a:p>
            <a:pPr marL="171450" indent="-171450">
              <a:buFont typeface="Arial" pitchFamily="34" charset="0"/>
              <a:buChar char="•"/>
            </a:pPr>
            <a:r>
              <a:rPr lang="en-AU" sz="1200" kern="1200" dirty="0" smtClean="0">
                <a:solidFill>
                  <a:schemeClr val="tx1"/>
                </a:solidFill>
                <a:latin typeface="+mn-lt"/>
                <a:ea typeface="+mn-ea"/>
                <a:cs typeface="+mn-cs"/>
              </a:rPr>
              <a:t>Not rush – but take a deep breath and think things through</a:t>
            </a:r>
          </a:p>
          <a:p>
            <a:pPr marL="171450" indent="-171450">
              <a:buFont typeface="Arial" pitchFamily="34" charset="0"/>
              <a:buChar char="•"/>
            </a:pPr>
            <a:r>
              <a:rPr lang="en-AU" sz="1200" kern="1200" dirty="0" smtClean="0">
                <a:solidFill>
                  <a:schemeClr val="tx1"/>
                </a:solidFill>
                <a:latin typeface="+mn-lt"/>
                <a:ea typeface="+mn-ea"/>
                <a:cs typeface="+mn-cs"/>
              </a:rPr>
              <a:t>Act – rather than react.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156301999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depending </a:t>
            </a:r>
            <a:r>
              <a:rPr lang="en-AU" sz="1200" kern="1200" dirty="0" smtClean="0">
                <a:solidFill>
                  <a:schemeClr val="tx1"/>
                </a:solidFill>
                <a:latin typeface="+mn-lt"/>
                <a:ea typeface="+mn-ea"/>
                <a:cs typeface="+mn-cs"/>
              </a:rPr>
              <a:t>on the rescue situation, there may be a need to:</a:t>
            </a:r>
          </a:p>
          <a:p>
            <a:pPr marL="171450" indent="-171450">
              <a:buFont typeface="Arial" pitchFamily="34" charset="0"/>
              <a:buChar char="•"/>
            </a:pPr>
            <a:r>
              <a:rPr lang="en-AU" sz="1200" kern="1200" dirty="0" smtClean="0">
                <a:solidFill>
                  <a:schemeClr val="tx1"/>
                </a:solidFill>
                <a:latin typeface="+mn-lt"/>
                <a:ea typeface="+mn-ea"/>
                <a:cs typeface="+mn-cs"/>
              </a:rPr>
              <a:t>Remove passenger belongings from the vehicle and/or trailer – and remove to a safer position</a:t>
            </a:r>
          </a:p>
          <a:p>
            <a:pPr marL="171450" indent="-171450">
              <a:buFont typeface="Arial" pitchFamily="34" charset="0"/>
              <a:buChar char="•"/>
            </a:pPr>
            <a:r>
              <a:rPr lang="en-AU" sz="1200" kern="1200" dirty="0" smtClean="0">
                <a:solidFill>
                  <a:schemeClr val="tx1"/>
                </a:solidFill>
                <a:latin typeface="+mn-lt"/>
                <a:ea typeface="+mn-ea"/>
                <a:cs typeface="+mn-cs"/>
              </a:rPr>
              <a:t>Instruct passengers to leave the vehicle – this may be:</a:t>
            </a:r>
          </a:p>
          <a:p>
            <a:pPr marL="628650" lvl="1" indent="-171450">
              <a:buFont typeface="Arial" pitchFamily="34" charset="0"/>
              <a:buChar char="•"/>
            </a:pPr>
            <a:r>
              <a:rPr lang="en-US" sz="1200" kern="1200" dirty="0" smtClean="0">
                <a:solidFill>
                  <a:schemeClr val="tx1"/>
                </a:solidFill>
                <a:latin typeface="+mn-lt"/>
                <a:ea typeface="+mn-ea"/>
                <a:cs typeface="+mn-cs"/>
              </a:rPr>
              <a:t>In a sequence determined by the driver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Via a nominated door/exit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Carry other items from the vehicle – to (for example):</a:t>
            </a:r>
          </a:p>
          <a:p>
            <a:pPr marL="628650" lvl="1" indent="-171450">
              <a:buFont typeface="Arial" pitchFamily="34" charset="0"/>
              <a:buChar char="•"/>
            </a:pPr>
            <a:r>
              <a:rPr lang="en-US" sz="1200" kern="1200" dirty="0" smtClean="0">
                <a:solidFill>
                  <a:schemeClr val="tx1"/>
                </a:solidFill>
                <a:latin typeface="+mn-lt"/>
                <a:ea typeface="+mn-ea"/>
                <a:cs typeface="+mn-cs"/>
              </a:rPr>
              <a:t>Provide shelter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Provide food and drink to group</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Lighten load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Direct passengers to a safe location (out of ’Danger Zone’) – so they:</a:t>
            </a:r>
          </a:p>
          <a:p>
            <a:pPr marL="628650" lvl="1" indent="-171450">
              <a:buFont typeface="Arial" pitchFamily="34" charset="0"/>
              <a:buChar char="•"/>
            </a:pPr>
            <a:r>
              <a:rPr lang="en-US" sz="1200" kern="1200" dirty="0" smtClean="0">
                <a:solidFill>
                  <a:schemeClr val="tx1"/>
                </a:solidFill>
                <a:latin typeface="+mn-lt"/>
                <a:ea typeface="+mn-ea"/>
                <a:cs typeface="+mn-cs"/>
              </a:rPr>
              <a:t>Can observe proceedings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Are safe – in the event there is a malfunction during the recovery process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Are not located beneath/below the vehicle – in case it rolls or topples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Are not positioned in the path of intended travel of the recovery vehicle, the trapped vehicle and/or the proposed exit route.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220170786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involvement of passengers with vehicle recovery noting:</a:t>
            </a:r>
          </a:p>
          <a:p>
            <a:pPr marL="171450" indent="-171450">
              <a:buFont typeface="Arial" pitchFamily="34" charset="0"/>
              <a:buChar char="•"/>
            </a:pPr>
            <a:r>
              <a:rPr lang="en-AU" sz="1200" kern="1200" dirty="0" smtClean="0">
                <a:solidFill>
                  <a:schemeClr val="tx1"/>
                </a:solidFill>
                <a:latin typeface="+mn-lt"/>
                <a:ea typeface="+mn-ea"/>
                <a:cs typeface="+mn-cs"/>
              </a:rPr>
              <a:t>It may be necessary or part of the tour experience to ask a passenger to assist with the recovery of a vehicle</a:t>
            </a:r>
          </a:p>
          <a:p>
            <a:pPr marL="171450" indent="-171450">
              <a:buFont typeface="Arial" pitchFamily="34" charset="0"/>
              <a:buChar char="•"/>
            </a:pPr>
            <a:r>
              <a:rPr lang="en-AU" sz="1200" kern="1200" dirty="0" smtClean="0">
                <a:solidFill>
                  <a:schemeClr val="tx1"/>
                </a:solidFill>
                <a:latin typeface="+mn-lt"/>
                <a:ea typeface="+mn-ea"/>
                <a:cs typeface="+mn-cs"/>
              </a:rPr>
              <a:t>Always follow Tour Operator SOPs in this regard as some operators may prohibit the involvement of passengers in recoveries</a:t>
            </a:r>
          </a:p>
          <a:p>
            <a:pPr marL="171450" indent="-171450">
              <a:buFont typeface="Arial" pitchFamily="34" charset="0"/>
              <a:buChar char="•"/>
            </a:pPr>
            <a:r>
              <a:rPr lang="en-AU" sz="1200" kern="1200" dirty="0" smtClean="0">
                <a:solidFill>
                  <a:schemeClr val="tx1"/>
                </a:solidFill>
                <a:latin typeface="+mn-lt"/>
                <a:ea typeface="+mn-ea"/>
                <a:cs typeface="+mn-cs"/>
              </a:rPr>
              <a:t>In practice, some passengers regard involvement in such activities as part of the fun and experience of their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56697153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tasks passengers may be involved in when recovering a vehicle:</a:t>
            </a:r>
          </a:p>
          <a:p>
            <a:pPr marL="171450" indent="-171450">
              <a:buFont typeface="Arial" pitchFamily="34" charset="0"/>
              <a:buChar char="•"/>
            </a:pPr>
            <a:r>
              <a:rPr lang="en-AU" sz="1200" kern="1200" dirty="0" smtClean="0">
                <a:solidFill>
                  <a:schemeClr val="tx1"/>
                </a:solidFill>
                <a:latin typeface="+mn-lt"/>
                <a:ea typeface="+mn-ea"/>
                <a:cs typeface="+mn-cs"/>
              </a:rPr>
              <a:t>Act as spotters for the recovery – which may relate to:</a:t>
            </a:r>
          </a:p>
          <a:p>
            <a:pPr marL="628650" lvl="1" indent="-171450">
              <a:buFont typeface="Arial" pitchFamily="34" charset="0"/>
              <a:buChar char="•"/>
            </a:pPr>
            <a:r>
              <a:rPr lang="en-US" sz="1200" kern="1200" dirty="0" smtClean="0">
                <a:solidFill>
                  <a:schemeClr val="tx1"/>
                </a:solidFill>
                <a:latin typeface="+mn-lt"/>
                <a:ea typeface="+mn-ea"/>
                <a:cs typeface="+mn-cs"/>
              </a:rPr>
              <a:t>Giving directions regarding wheel placement and turn of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Advising of take-up of slack</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Notifying of progress using hand signals, or verbal advice including two-way radio</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Help with shovel work</a:t>
            </a:r>
          </a:p>
          <a:p>
            <a:pPr marL="171450" indent="-171450">
              <a:buFont typeface="Arial" pitchFamily="34" charset="0"/>
              <a:buChar char="•"/>
            </a:pPr>
            <a:r>
              <a:rPr lang="en-AU" sz="1200" kern="1200" dirty="0" smtClean="0">
                <a:solidFill>
                  <a:schemeClr val="tx1"/>
                </a:solidFill>
                <a:latin typeface="+mn-lt"/>
                <a:ea typeface="+mn-ea"/>
                <a:cs typeface="+mn-cs"/>
              </a:rPr>
              <a:t>Assist with removing obstacles</a:t>
            </a:r>
          </a:p>
          <a:p>
            <a:pPr marL="171450" indent="-171450">
              <a:buFont typeface="Arial" pitchFamily="34" charset="0"/>
              <a:buChar char="•"/>
            </a:pPr>
            <a:r>
              <a:rPr lang="en-AU" sz="1200" kern="1200" dirty="0" smtClean="0">
                <a:solidFill>
                  <a:schemeClr val="tx1"/>
                </a:solidFill>
                <a:latin typeface="+mn-lt"/>
                <a:ea typeface="+mn-ea"/>
                <a:cs typeface="+mn-cs"/>
              </a:rPr>
              <a:t>Aid in moving property to and from the vehicle.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132679283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it </a:t>
            </a:r>
            <a:r>
              <a:rPr lang="en-AU" sz="1200" kern="1200" dirty="0" smtClean="0">
                <a:solidFill>
                  <a:schemeClr val="tx1"/>
                </a:solidFill>
                <a:latin typeface="+mn-lt"/>
                <a:ea typeface="+mn-ea"/>
                <a:cs typeface="+mn-cs"/>
              </a:rPr>
              <a:t>is important to understand: </a:t>
            </a:r>
          </a:p>
          <a:p>
            <a:pPr marL="171450" indent="-171450">
              <a:buFont typeface="Arial" pitchFamily="34" charset="0"/>
              <a:buChar char="•"/>
            </a:pPr>
            <a:r>
              <a:rPr lang="en-AU" sz="1200" kern="1200" dirty="0" smtClean="0">
                <a:solidFill>
                  <a:schemeClr val="tx1"/>
                </a:solidFill>
                <a:latin typeface="+mn-lt"/>
                <a:ea typeface="+mn-ea"/>
                <a:cs typeface="+mn-cs"/>
              </a:rPr>
              <a:t>The greatest potential for maintenance and repairs follow water crossings and situations where the vehicle has been immersed in water</a:t>
            </a:r>
          </a:p>
          <a:p>
            <a:pPr marL="171450" indent="-171450">
              <a:buFont typeface="Arial" pitchFamily="34" charset="0"/>
              <a:buChar char="•"/>
            </a:pPr>
            <a:r>
              <a:rPr lang="en-AU" sz="1200" kern="1200" dirty="0" smtClean="0">
                <a:solidFill>
                  <a:schemeClr val="tx1"/>
                </a:solidFill>
                <a:latin typeface="+mn-lt"/>
                <a:ea typeface="+mn-ea"/>
                <a:cs typeface="+mn-cs"/>
              </a:rPr>
              <a:t>The future safety and performance of the tour vehicle may depend on immediate action being taken after the recovery to ‘clear and clean’ the vehicle</a:t>
            </a:r>
          </a:p>
          <a:p>
            <a:pPr marL="171450" indent="-171450">
              <a:buFont typeface="Arial" pitchFamily="34" charset="0"/>
              <a:buChar char="•"/>
            </a:pPr>
            <a:r>
              <a:rPr lang="en-AU" sz="1200" kern="1200" dirty="0" smtClean="0">
                <a:solidFill>
                  <a:schemeClr val="tx1"/>
                </a:solidFill>
                <a:latin typeface="+mn-lt"/>
                <a:ea typeface="+mn-ea"/>
                <a:cs typeface="+mn-cs"/>
              </a:rPr>
              <a:t>Tourism Operators may provide a list of checks to be undertaken – as part of their SOPs or Emergency Management planning</a:t>
            </a:r>
          </a:p>
          <a:p>
            <a:pPr marL="171450" indent="-171450">
              <a:buFont typeface="Arial" pitchFamily="34" charset="0"/>
              <a:buChar char="•"/>
            </a:pPr>
            <a:r>
              <a:rPr lang="en-AU" sz="1200" kern="1200" dirty="0" smtClean="0">
                <a:solidFill>
                  <a:schemeClr val="tx1"/>
                </a:solidFill>
                <a:latin typeface="+mn-lt"/>
                <a:ea typeface="+mn-ea"/>
                <a:cs typeface="+mn-cs"/>
              </a:rPr>
              <a:t>Many service tasks are not undertaken immediately after the vehicle has been recovered – but may be: </a:t>
            </a:r>
          </a:p>
          <a:p>
            <a:pPr marL="628650" lvl="1" indent="-171450">
              <a:buFont typeface="Arial" pitchFamily="34" charset="0"/>
              <a:buChar char="•"/>
            </a:pPr>
            <a:r>
              <a:rPr lang="en-AU" sz="1200" kern="1200" dirty="0" smtClean="0">
                <a:solidFill>
                  <a:schemeClr val="tx1"/>
                </a:solidFill>
                <a:latin typeface="+mn-lt"/>
                <a:ea typeface="+mn-ea"/>
                <a:cs typeface="+mn-cs"/>
              </a:rPr>
              <a:t>Delayed/deferred until the vehicle returns to base</a:t>
            </a:r>
          </a:p>
          <a:p>
            <a:pPr marL="628650" lvl="1" indent="-171450">
              <a:buFont typeface="Arial" pitchFamily="34" charset="0"/>
              <a:buChar char="•"/>
            </a:pPr>
            <a:r>
              <a:rPr lang="en-AU" sz="1200" kern="1200" dirty="0" smtClean="0">
                <a:solidFill>
                  <a:schemeClr val="tx1"/>
                </a:solidFill>
                <a:latin typeface="+mn-lt"/>
                <a:ea typeface="+mn-ea"/>
                <a:cs typeface="+mn-cs"/>
              </a:rPr>
              <a:t>Undertaken only when an authorised dealer/repair agency is available.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34630141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action/checks may include:</a:t>
            </a:r>
          </a:p>
          <a:p>
            <a:pPr marL="171450" indent="-171450">
              <a:buFont typeface="Arial" pitchFamily="34" charset="0"/>
              <a:buChar char="•"/>
            </a:pPr>
            <a:r>
              <a:rPr lang="en-AU" sz="1200" kern="1200" dirty="0" smtClean="0">
                <a:solidFill>
                  <a:schemeClr val="tx1"/>
                </a:solidFill>
                <a:latin typeface="+mn-lt"/>
                <a:ea typeface="+mn-ea"/>
                <a:cs typeface="+mn-cs"/>
              </a:rPr>
              <a:t>Checking there is no water in the air intake</a:t>
            </a:r>
          </a:p>
          <a:p>
            <a:pPr marL="171450" indent="-171450">
              <a:buFont typeface="Arial" pitchFamily="34" charset="0"/>
              <a:buChar char="•"/>
            </a:pPr>
            <a:r>
              <a:rPr lang="en-AU" sz="1200" kern="1200" dirty="0" smtClean="0">
                <a:solidFill>
                  <a:schemeClr val="tx1"/>
                </a:solidFill>
                <a:latin typeface="+mn-lt"/>
                <a:ea typeface="+mn-ea"/>
                <a:cs typeface="+mn-cs"/>
              </a:rPr>
              <a:t>Inspecting tyres – for damage to tread and/or sidewalls</a:t>
            </a:r>
          </a:p>
          <a:p>
            <a:pPr marL="171450" indent="-171450">
              <a:buFont typeface="Arial" pitchFamily="34" charset="0"/>
              <a:buChar char="•"/>
            </a:pPr>
            <a:r>
              <a:rPr lang="en-AU" sz="1200" kern="1200" dirty="0" smtClean="0">
                <a:solidFill>
                  <a:schemeClr val="tx1"/>
                </a:solidFill>
                <a:latin typeface="+mn-lt"/>
                <a:ea typeface="+mn-ea"/>
                <a:cs typeface="+mn-cs"/>
              </a:rPr>
              <a:t>Re-inflating tyres which have had pressure reduced </a:t>
            </a:r>
          </a:p>
          <a:p>
            <a:pPr marL="171450" indent="-171450">
              <a:buFont typeface="Arial" pitchFamily="34" charset="0"/>
              <a:buChar char="•"/>
            </a:pPr>
            <a:r>
              <a:rPr lang="en-AU" sz="1200" kern="1200" dirty="0" smtClean="0">
                <a:solidFill>
                  <a:schemeClr val="tx1"/>
                </a:solidFill>
                <a:latin typeface="+mn-lt"/>
                <a:ea typeface="+mn-ea"/>
                <a:cs typeface="+mn-cs"/>
              </a:rPr>
              <a:t>Removing spark plugs, or injectors and turning the engine over to remove water</a:t>
            </a:r>
          </a:p>
          <a:p>
            <a:pPr marL="171450" indent="-171450">
              <a:buFont typeface="Arial" pitchFamily="34" charset="0"/>
              <a:buChar char="•"/>
            </a:pPr>
            <a:r>
              <a:rPr lang="en-AU" sz="1200" kern="1200" dirty="0" smtClean="0">
                <a:solidFill>
                  <a:schemeClr val="tx1"/>
                </a:solidFill>
                <a:latin typeface="+mn-lt"/>
                <a:ea typeface="+mn-ea"/>
                <a:cs typeface="+mn-cs"/>
              </a:rPr>
              <a:t>Allowing and encouraging brakes to dry out.</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shows students how to perform tasks listed on the slide and gives them opportunity to practice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112504193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action/checks:</a:t>
            </a:r>
          </a:p>
          <a:p>
            <a:pPr marL="171450" indent="-171450">
              <a:buFont typeface="Arial" pitchFamily="34" charset="0"/>
              <a:buChar char="•"/>
            </a:pPr>
            <a:r>
              <a:rPr lang="en-AU" sz="1200" kern="1200" dirty="0" smtClean="0">
                <a:solidFill>
                  <a:schemeClr val="tx1"/>
                </a:solidFill>
                <a:latin typeface="+mn-lt"/>
                <a:ea typeface="+mn-ea"/>
                <a:cs typeface="+mn-cs"/>
              </a:rPr>
              <a:t>Testing operation of systems and instruments</a:t>
            </a:r>
          </a:p>
          <a:p>
            <a:pPr marL="171450" indent="-171450">
              <a:buFont typeface="Arial" pitchFamily="34" charset="0"/>
              <a:buChar char="•"/>
            </a:pPr>
            <a:r>
              <a:rPr lang="en-AU" sz="1200" kern="1200" dirty="0" smtClean="0">
                <a:solidFill>
                  <a:schemeClr val="tx1"/>
                </a:solidFill>
                <a:latin typeface="+mn-lt"/>
                <a:ea typeface="+mn-ea"/>
                <a:cs typeface="+mn-cs"/>
              </a:rPr>
              <a:t>Cleaning vehicle windscreen, mirrors and windows</a:t>
            </a:r>
          </a:p>
          <a:p>
            <a:pPr marL="171450" indent="-171450">
              <a:buFont typeface="Arial" pitchFamily="34" charset="0"/>
              <a:buChar char="•"/>
            </a:pPr>
            <a:r>
              <a:rPr lang="en-AU" sz="1200" kern="1200" dirty="0" smtClean="0">
                <a:solidFill>
                  <a:schemeClr val="tx1"/>
                </a:solidFill>
                <a:latin typeface="+mn-lt"/>
                <a:ea typeface="+mn-ea"/>
                <a:cs typeface="+mn-cs"/>
              </a:rPr>
              <a:t>Replacing plugs, or injectors</a:t>
            </a:r>
          </a:p>
          <a:p>
            <a:pPr marL="171450" indent="-171450">
              <a:buFont typeface="Arial" pitchFamily="34" charset="0"/>
              <a:buChar char="•"/>
            </a:pPr>
            <a:r>
              <a:rPr lang="en-AU" sz="1200" kern="1200" dirty="0" smtClean="0">
                <a:solidFill>
                  <a:schemeClr val="tx1"/>
                </a:solidFill>
                <a:latin typeface="+mn-lt"/>
                <a:ea typeface="+mn-ea"/>
                <a:cs typeface="+mn-cs"/>
              </a:rPr>
              <a:t>Applying water displacement products (such as WD-40) to dry out high and low tension electrical circuits.</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shows students how to perform tasks listed on the slide and gives them opportunity to practice the same.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319924980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present action/checks:</a:t>
            </a:r>
          </a:p>
          <a:p>
            <a:pPr marL="171450" indent="-171450">
              <a:buFont typeface="Arial" pitchFamily="34" charset="0"/>
              <a:buChar char="•"/>
            </a:pPr>
            <a:r>
              <a:rPr lang="en-AU" sz="1200" kern="1200" dirty="0" smtClean="0">
                <a:solidFill>
                  <a:schemeClr val="tx1"/>
                </a:solidFill>
                <a:latin typeface="+mn-lt"/>
                <a:ea typeface="+mn-ea"/>
                <a:cs typeface="+mn-cs"/>
              </a:rPr>
              <a:t>Re-aligning panel damage to enable free movement of wheels and steering</a:t>
            </a:r>
          </a:p>
          <a:p>
            <a:pPr marL="171450" indent="-171450">
              <a:buFont typeface="Arial" pitchFamily="34" charset="0"/>
              <a:buChar char="•"/>
            </a:pPr>
            <a:r>
              <a:rPr lang="en-AU" sz="1200" kern="1200" dirty="0" smtClean="0">
                <a:solidFill>
                  <a:schemeClr val="tx1"/>
                </a:solidFill>
                <a:latin typeface="+mn-lt"/>
                <a:ea typeface="+mn-ea"/>
                <a:cs typeface="+mn-cs"/>
              </a:rPr>
              <a:t>Making note to have differential and transmission checked (for water) and/or serviced at nearest opportunity</a:t>
            </a:r>
          </a:p>
          <a:p>
            <a:pPr marL="171450" indent="-171450">
              <a:buFont typeface="Arial" pitchFamily="34" charset="0"/>
              <a:buChar char="•"/>
            </a:pPr>
            <a:r>
              <a:rPr lang="en-AU" sz="1200" kern="1200" dirty="0" smtClean="0">
                <a:solidFill>
                  <a:schemeClr val="tx1"/>
                </a:solidFill>
                <a:latin typeface="+mn-lt"/>
                <a:ea typeface="+mn-ea"/>
                <a:cs typeface="+mn-cs"/>
              </a:rPr>
              <a:t>Rolling cables and ropes back onto spools of winches</a:t>
            </a:r>
          </a:p>
          <a:p>
            <a:pPr marL="171450" indent="-171450">
              <a:buFont typeface="Arial" pitchFamily="34" charset="0"/>
              <a:buChar char="•"/>
            </a:pPr>
            <a:r>
              <a:rPr lang="en-AU" sz="1200" kern="1200" dirty="0" smtClean="0">
                <a:solidFill>
                  <a:schemeClr val="tx1"/>
                </a:solidFill>
                <a:latin typeface="+mn-lt"/>
                <a:ea typeface="+mn-ea"/>
                <a:cs typeface="+mn-cs"/>
              </a:rPr>
              <a:t>Greasing and oiling nominated parts</a:t>
            </a:r>
          </a:p>
          <a:p>
            <a:pPr marL="171450" indent="-171450">
              <a:buFont typeface="Arial" pitchFamily="34" charset="0"/>
              <a:buChar char="•"/>
            </a:pPr>
            <a:r>
              <a:rPr lang="en-AU" sz="1200" kern="1200" dirty="0" smtClean="0">
                <a:solidFill>
                  <a:schemeClr val="tx1"/>
                </a:solidFill>
                <a:latin typeface="+mn-lt"/>
                <a:ea typeface="+mn-ea"/>
                <a:cs typeface="+mn-cs"/>
              </a:rPr>
              <a:t>Removing visible debris – from areas and parts such as:</a:t>
            </a:r>
          </a:p>
          <a:p>
            <a:pPr marL="628650" lvl="1" indent="-171450">
              <a:buFont typeface="Arial" pitchFamily="34" charset="0"/>
              <a:buChar char="•"/>
            </a:pPr>
            <a:r>
              <a:rPr lang="en-AU" sz="1200" kern="1200" dirty="0" smtClean="0">
                <a:solidFill>
                  <a:schemeClr val="tx1"/>
                </a:solidFill>
                <a:latin typeface="+mn-lt"/>
                <a:ea typeface="+mn-ea"/>
                <a:cs typeface="+mn-cs"/>
              </a:rPr>
              <a:t>Winches </a:t>
            </a:r>
          </a:p>
          <a:p>
            <a:pPr marL="628650" lvl="1" indent="-171450">
              <a:buFont typeface="Arial" pitchFamily="34" charset="0"/>
              <a:buChar char="•"/>
            </a:pPr>
            <a:r>
              <a:rPr lang="en-AU" sz="1200" kern="1200" dirty="0" smtClean="0">
                <a:solidFill>
                  <a:schemeClr val="tx1"/>
                </a:solidFill>
                <a:latin typeface="+mn-lt"/>
                <a:ea typeface="+mn-ea"/>
                <a:cs typeface="+mn-cs"/>
              </a:rPr>
              <a:t>Winch cables </a:t>
            </a:r>
          </a:p>
          <a:p>
            <a:pPr marL="628650" lvl="1" indent="-171450">
              <a:buFont typeface="Arial" pitchFamily="34" charset="0"/>
              <a:buChar char="•"/>
            </a:pPr>
            <a:r>
              <a:rPr lang="en-AU" sz="1200" kern="1200" dirty="0" smtClean="0">
                <a:solidFill>
                  <a:schemeClr val="tx1"/>
                </a:solidFill>
                <a:latin typeface="+mn-lt"/>
                <a:ea typeface="+mn-ea"/>
                <a:cs typeface="+mn-cs"/>
              </a:rPr>
              <a:t>Radiator </a:t>
            </a:r>
          </a:p>
          <a:p>
            <a:pPr marL="628650" lvl="1" indent="-171450">
              <a:buFont typeface="Arial" pitchFamily="34" charset="0"/>
              <a:buChar char="•"/>
            </a:pPr>
            <a:r>
              <a:rPr lang="en-AU" sz="1200" kern="1200" dirty="0" smtClean="0">
                <a:solidFill>
                  <a:schemeClr val="tx1"/>
                </a:solidFill>
                <a:latin typeface="+mn-lt"/>
                <a:ea typeface="+mn-ea"/>
                <a:cs typeface="+mn-cs"/>
              </a:rPr>
              <a:t>Front of vehicle </a:t>
            </a:r>
          </a:p>
          <a:p>
            <a:pPr marL="628650" lvl="1" indent="-171450">
              <a:buFont typeface="Arial" pitchFamily="34" charset="0"/>
              <a:buChar char="•"/>
            </a:pPr>
            <a:r>
              <a:rPr lang="en-AU" sz="1200" kern="1200" dirty="0" smtClean="0">
                <a:solidFill>
                  <a:schemeClr val="tx1"/>
                </a:solidFill>
                <a:latin typeface="+mn-lt"/>
                <a:ea typeface="+mn-ea"/>
                <a:cs typeface="+mn-cs"/>
              </a:rPr>
              <a:t>Engine bay </a:t>
            </a:r>
          </a:p>
          <a:p>
            <a:pPr marL="628650" lvl="1" indent="-171450">
              <a:buFont typeface="Arial" pitchFamily="34" charset="0"/>
              <a:buChar char="•"/>
            </a:pPr>
            <a:r>
              <a:rPr lang="en-AU" sz="1200" kern="1200" dirty="0" smtClean="0">
                <a:solidFill>
                  <a:schemeClr val="tx1"/>
                </a:solidFill>
                <a:latin typeface="+mn-lt"/>
                <a:ea typeface="+mn-ea"/>
                <a:cs typeface="+mn-cs"/>
              </a:rPr>
              <a:t>Wheel arches </a:t>
            </a:r>
          </a:p>
          <a:p>
            <a:pPr marL="628650" lvl="1" indent="-171450">
              <a:buFont typeface="Arial" pitchFamily="34" charset="0"/>
              <a:buChar char="•"/>
            </a:pPr>
            <a:r>
              <a:rPr lang="en-AU" sz="1200" kern="1200" dirty="0" smtClean="0">
                <a:solidFill>
                  <a:schemeClr val="tx1"/>
                </a:solidFill>
                <a:latin typeface="+mn-lt"/>
                <a:ea typeface="+mn-ea"/>
                <a:cs typeface="+mn-cs"/>
              </a:rPr>
              <a:t>Suspension/under vehicle areas.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shows students how to perform tasks listed on the slide and gives them opportunity to practice the same.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8490358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are examples of minor repairs?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vehicle repairs and maintenance have you undertaken?</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types of vehicle shave you worked on? When? Where?</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preventative maintenance?</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127358269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presents ways to identify vehicle faults:</a:t>
            </a:r>
          </a:p>
          <a:p>
            <a:pPr marL="171450" indent="-171450">
              <a:buFont typeface="Arial" pitchFamily="34" charset="0"/>
              <a:buChar char="•"/>
            </a:pPr>
            <a:r>
              <a:rPr lang="en-AU" sz="1200" kern="1200" dirty="0" smtClean="0">
                <a:solidFill>
                  <a:schemeClr val="tx1"/>
                </a:solidFill>
                <a:latin typeface="+mn-lt"/>
                <a:ea typeface="+mn-ea"/>
                <a:cs typeface="+mn-cs"/>
              </a:rPr>
              <a:t>Talking with those who have operated/driven or been in a vehicle. Actions required include:</a:t>
            </a:r>
          </a:p>
          <a:p>
            <a:pPr marL="628650" lvl="1" indent="-171450">
              <a:buFont typeface="Arial" pitchFamily="34" charset="0"/>
              <a:buChar char="•"/>
            </a:pPr>
            <a:r>
              <a:rPr lang="en-AU" sz="1200" kern="1200" dirty="0" smtClean="0">
                <a:solidFill>
                  <a:schemeClr val="tx1"/>
                </a:solidFill>
                <a:latin typeface="+mn-lt"/>
                <a:ea typeface="+mn-ea"/>
                <a:cs typeface="+mn-cs"/>
              </a:rPr>
              <a:t>Asking open and closed questions</a:t>
            </a:r>
          </a:p>
          <a:p>
            <a:pPr marL="628650" lvl="1" indent="-171450">
              <a:buFont typeface="Arial" pitchFamily="34" charset="0"/>
              <a:buChar char="•"/>
            </a:pPr>
            <a:r>
              <a:rPr lang="en-AU" sz="1200" kern="1200" dirty="0" smtClean="0">
                <a:solidFill>
                  <a:schemeClr val="tx1"/>
                </a:solidFill>
                <a:latin typeface="+mn-lt"/>
                <a:ea typeface="+mn-ea"/>
                <a:cs typeface="+mn-cs"/>
              </a:rPr>
              <a:t>Asking probing questions</a:t>
            </a:r>
          </a:p>
          <a:p>
            <a:pPr marL="628650" lvl="1" indent="-171450">
              <a:buFont typeface="Arial" pitchFamily="34" charset="0"/>
              <a:buChar char="•"/>
            </a:pPr>
            <a:r>
              <a:rPr lang="en-AU" sz="1200" kern="1200" dirty="0" smtClean="0">
                <a:solidFill>
                  <a:schemeClr val="tx1"/>
                </a:solidFill>
                <a:latin typeface="+mn-lt"/>
                <a:ea typeface="+mn-ea"/>
                <a:cs typeface="+mn-cs"/>
              </a:rPr>
              <a:t>Using terminology appropriate to the individual – avoiding complex terms if the person does not understand them</a:t>
            </a:r>
          </a:p>
          <a:p>
            <a:pPr marL="628650" lvl="1" indent="-171450">
              <a:buFont typeface="Arial" pitchFamily="34" charset="0"/>
              <a:buChar char="•"/>
            </a:pPr>
            <a:r>
              <a:rPr lang="en-AU" sz="1200" kern="1200" dirty="0" smtClean="0">
                <a:solidFill>
                  <a:schemeClr val="tx1"/>
                </a:solidFill>
                <a:latin typeface="+mn-lt"/>
                <a:ea typeface="+mn-ea"/>
                <a:cs typeface="+mn-cs"/>
              </a:rPr>
              <a:t>Listening to what is said</a:t>
            </a:r>
          </a:p>
          <a:p>
            <a:pPr marL="628650" lvl="1" indent="-171450">
              <a:buFont typeface="Arial" pitchFamily="34" charset="0"/>
              <a:buChar char="•"/>
            </a:pPr>
            <a:r>
              <a:rPr lang="en-AU" sz="1200" kern="1200" dirty="0" smtClean="0">
                <a:solidFill>
                  <a:schemeClr val="tx1"/>
                </a:solidFill>
                <a:latin typeface="+mn-lt"/>
                <a:ea typeface="+mn-ea"/>
                <a:cs typeface="+mn-cs"/>
              </a:rPr>
              <a:t>Getting them to point to locations of problems they have identified</a:t>
            </a:r>
          </a:p>
          <a:p>
            <a:pPr marL="1085850" lvl="2" indent="-171450">
              <a:buFont typeface="Arial" pitchFamily="34" charset="0"/>
              <a:buChar char="•"/>
            </a:pPr>
            <a:r>
              <a:rPr lang="en-AU" sz="1200" kern="1200" dirty="0" smtClean="0">
                <a:solidFill>
                  <a:schemeClr val="tx1"/>
                </a:solidFill>
                <a:latin typeface="+mn-lt"/>
                <a:ea typeface="+mn-ea"/>
                <a:cs typeface="+mn-cs"/>
              </a:rPr>
              <a:t>The discussion should aim to:</a:t>
            </a:r>
          </a:p>
          <a:p>
            <a:pPr marL="1543050" lvl="3" indent="-171450">
              <a:buFont typeface="Arial" pitchFamily="34" charset="0"/>
              <a:buChar char="•"/>
            </a:pPr>
            <a:r>
              <a:rPr lang="en-AU" sz="1200" kern="1200" dirty="0" smtClean="0">
                <a:solidFill>
                  <a:schemeClr val="tx1"/>
                </a:solidFill>
                <a:latin typeface="+mn-lt"/>
                <a:ea typeface="+mn-ea"/>
                <a:cs typeface="+mn-cs"/>
              </a:rPr>
              <a:t>Identify type and nature of fault </a:t>
            </a:r>
          </a:p>
          <a:p>
            <a:pPr marL="1543050" lvl="3" indent="-171450">
              <a:buFont typeface="Arial" pitchFamily="34" charset="0"/>
              <a:buChar char="•"/>
            </a:pPr>
            <a:r>
              <a:rPr lang="en-AU" sz="1200" kern="1200" dirty="0" smtClean="0">
                <a:solidFill>
                  <a:schemeClr val="tx1"/>
                </a:solidFill>
                <a:latin typeface="+mn-lt"/>
                <a:ea typeface="+mn-ea"/>
                <a:cs typeface="+mn-cs"/>
              </a:rPr>
              <a:t>Describe the fault if it cannot be identified</a:t>
            </a:r>
          </a:p>
          <a:p>
            <a:pPr marL="1543050" lvl="3" indent="-171450">
              <a:buFont typeface="Arial" pitchFamily="34" charset="0"/>
              <a:buChar char="•"/>
            </a:pPr>
            <a:r>
              <a:rPr lang="en-AU" sz="1200" kern="1200" dirty="0" smtClean="0">
                <a:solidFill>
                  <a:schemeClr val="tx1"/>
                </a:solidFill>
                <a:latin typeface="+mn-lt"/>
                <a:ea typeface="+mn-ea"/>
                <a:cs typeface="+mn-cs"/>
              </a:rPr>
              <a:t>Explain whereabouts it is located (if appropriate)</a:t>
            </a:r>
          </a:p>
          <a:p>
            <a:pPr marL="1543050" lvl="3" indent="-171450">
              <a:buFont typeface="Arial" pitchFamily="34" charset="0"/>
              <a:buChar char="•"/>
            </a:pPr>
            <a:r>
              <a:rPr lang="en-AU" sz="1200" kern="1200" dirty="0" smtClean="0">
                <a:solidFill>
                  <a:schemeClr val="tx1"/>
                </a:solidFill>
                <a:latin typeface="+mn-lt"/>
                <a:ea typeface="+mn-ea"/>
                <a:cs typeface="+mn-cs"/>
              </a:rPr>
              <a:t>Describe symptoms and indicators </a:t>
            </a:r>
          </a:p>
          <a:p>
            <a:pPr marL="1543050" lvl="3" indent="-171450">
              <a:buFont typeface="Arial" pitchFamily="34" charset="0"/>
              <a:buChar char="•"/>
            </a:pPr>
            <a:r>
              <a:rPr lang="en-AU" sz="1200" kern="1200" dirty="0" smtClean="0">
                <a:solidFill>
                  <a:schemeClr val="tx1"/>
                </a:solidFill>
                <a:latin typeface="+mn-lt"/>
                <a:ea typeface="+mn-ea"/>
                <a:cs typeface="+mn-cs"/>
              </a:rPr>
              <a:t>Give an idea of frequency of the problem</a:t>
            </a:r>
          </a:p>
          <a:p>
            <a:pPr marL="1543050" lvl="3" indent="-171450">
              <a:buFont typeface="Arial" pitchFamily="34" charset="0"/>
              <a:buChar char="•"/>
            </a:pPr>
            <a:r>
              <a:rPr lang="en-AU" sz="1200" kern="1200" dirty="0" smtClean="0">
                <a:solidFill>
                  <a:schemeClr val="tx1"/>
                </a:solidFill>
                <a:latin typeface="+mn-lt"/>
                <a:ea typeface="+mn-ea"/>
                <a:cs typeface="+mn-cs"/>
              </a:rPr>
              <a:t>Identify conditions under which fault occurs/presents</a:t>
            </a:r>
          </a:p>
          <a:p>
            <a:pPr marL="171450" indent="-171450">
              <a:buFont typeface="Arial" pitchFamily="34" charset="0"/>
              <a:buChar char="•"/>
            </a:pPr>
            <a:r>
              <a:rPr lang="en-AU" sz="1200" kern="1200" dirty="0" smtClean="0">
                <a:solidFill>
                  <a:schemeClr val="tx1"/>
                </a:solidFill>
                <a:latin typeface="+mn-lt"/>
                <a:ea typeface="+mn-ea"/>
                <a:cs typeface="+mn-cs"/>
              </a:rPr>
              <a:t>Test driving the vehicle – to:</a:t>
            </a:r>
          </a:p>
          <a:p>
            <a:pPr marL="628650" lvl="1" indent="-171450">
              <a:buFont typeface="Arial" pitchFamily="34" charset="0"/>
              <a:buChar char="•"/>
            </a:pPr>
            <a:r>
              <a:rPr lang="en-AU" sz="1200" kern="1200" dirty="0" smtClean="0">
                <a:solidFill>
                  <a:schemeClr val="tx1"/>
                </a:solidFill>
                <a:latin typeface="+mn-lt"/>
                <a:ea typeface="+mn-ea"/>
                <a:cs typeface="+mn-cs"/>
              </a:rPr>
              <a:t>Attempt to induce the fault – which can often be a frustrating experience as a problem ‘on tour’ often fails to manifest itself on return</a:t>
            </a:r>
          </a:p>
          <a:p>
            <a:pPr marL="628650" lvl="1" indent="-171450">
              <a:buFont typeface="Arial" pitchFamily="34" charset="0"/>
              <a:buChar char="•"/>
            </a:pPr>
            <a:r>
              <a:rPr lang="en-AU" sz="1200" kern="1200" dirty="0" smtClean="0">
                <a:solidFill>
                  <a:schemeClr val="tx1"/>
                </a:solidFill>
                <a:latin typeface="+mn-lt"/>
                <a:ea typeface="+mn-ea"/>
                <a:cs typeface="+mn-cs"/>
              </a:rPr>
              <a:t>Listen to sounds made by the vehicle</a:t>
            </a:r>
          </a:p>
          <a:p>
            <a:pPr marL="628650" lvl="1" indent="-171450">
              <a:buFont typeface="Arial" pitchFamily="34" charset="0"/>
              <a:buChar char="•"/>
            </a:pPr>
            <a:r>
              <a:rPr lang="en-AU" sz="1200" kern="1200" dirty="0" smtClean="0">
                <a:solidFill>
                  <a:schemeClr val="tx1"/>
                </a:solidFill>
                <a:latin typeface="+mn-lt"/>
                <a:ea typeface="+mn-ea"/>
                <a:cs typeface="+mn-cs"/>
              </a:rPr>
              <a:t>Get a feel for the vehicle – and how it handles and responds</a:t>
            </a:r>
          </a:p>
          <a:p>
            <a:pPr marL="628650" lvl="1" indent="-171450">
              <a:buFont typeface="Arial" pitchFamily="34" charset="0"/>
              <a:buChar char="•"/>
            </a:pPr>
            <a:r>
              <a:rPr lang="en-AU" sz="1200" kern="1200" dirty="0" smtClean="0">
                <a:solidFill>
                  <a:schemeClr val="tx1"/>
                </a:solidFill>
                <a:latin typeface="+mn-lt"/>
                <a:ea typeface="+mn-ea"/>
                <a:cs typeface="+mn-cs"/>
              </a:rPr>
              <a:t>Smell any odour which may be generated by the fault</a:t>
            </a:r>
          </a:p>
          <a:p>
            <a:pPr marL="628650" lvl="1" indent="-171450">
              <a:buFont typeface="Arial" pitchFamily="34" charset="0"/>
              <a:buChar char="•"/>
            </a:pPr>
            <a:r>
              <a:rPr lang="en-AU" sz="1200" kern="1200" dirty="0" smtClean="0">
                <a:solidFill>
                  <a:schemeClr val="tx1"/>
                </a:solidFill>
                <a:latin typeface="+mn-lt"/>
                <a:ea typeface="+mn-ea"/>
                <a:cs typeface="+mn-cs"/>
              </a:rPr>
              <a:t>Duplicate causal conditions which were known to trigger the problem</a:t>
            </a:r>
          </a:p>
          <a:p>
            <a:pPr marL="628650" lvl="1" indent="-171450">
              <a:buFont typeface="Arial" pitchFamily="34" charset="0"/>
              <a:buChar char="•"/>
            </a:pPr>
            <a:r>
              <a:rPr lang="en-AU" sz="1200" kern="1200" dirty="0" smtClean="0">
                <a:solidFill>
                  <a:schemeClr val="tx1"/>
                </a:solidFill>
                <a:latin typeface="+mn-lt"/>
                <a:ea typeface="+mn-ea"/>
                <a:cs typeface="+mn-cs"/>
              </a:rPr>
              <a:t>Compare the way it is ‘now’ to how it normally behaves – in some cases a ‘fault’ with a vehicle as identified by someone else can simply be a ‘lack of performance’ which is really not a </a:t>
            </a:r>
            <a:r>
              <a:rPr lang="en-AU" sz="1200" i="1" kern="1200" dirty="0" smtClean="0">
                <a:solidFill>
                  <a:schemeClr val="tx1"/>
                </a:solidFill>
                <a:latin typeface="+mn-lt"/>
                <a:ea typeface="+mn-ea"/>
                <a:cs typeface="+mn-cs"/>
              </a:rPr>
              <a:t>fault</a:t>
            </a:r>
            <a:r>
              <a:rPr lang="en-AU" sz="1200" kern="1200" dirty="0" smtClean="0">
                <a:solidFill>
                  <a:schemeClr val="tx1"/>
                </a:solidFill>
                <a:latin typeface="+mn-lt"/>
                <a:ea typeface="+mn-ea"/>
                <a:cs typeface="+mn-cs"/>
              </a:rPr>
              <a:t> but simply the standard operating parameters of the vehicle.</a:t>
            </a:r>
          </a:p>
          <a:p>
            <a:pPr lvl="1">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79561147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ways to identify vehicle faults:</a:t>
            </a:r>
          </a:p>
          <a:p>
            <a:pPr marL="171450" indent="-171450">
              <a:buFont typeface="Arial" pitchFamily="34" charset="0"/>
              <a:buChar char="•"/>
            </a:pPr>
            <a:r>
              <a:rPr lang="en-AU" sz="1200" kern="1200" dirty="0" smtClean="0">
                <a:solidFill>
                  <a:schemeClr val="tx1"/>
                </a:solidFill>
                <a:latin typeface="+mn-lt"/>
                <a:ea typeface="+mn-ea"/>
                <a:cs typeface="+mn-cs"/>
              </a:rPr>
              <a:t>Running stationary vehicle to induce fault – which may involve:</a:t>
            </a:r>
          </a:p>
          <a:p>
            <a:pPr marL="628650" lvl="1" indent="-171450">
              <a:buFont typeface="Arial" pitchFamily="34" charset="0"/>
              <a:buChar char="•"/>
            </a:pPr>
            <a:r>
              <a:rPr lang="en-AU" sz="1200" kern="1200" dirty="0" smtClean="0">
                <a:solidFill>
                  <a:schemeClr val="tx1"/>
                </a:solidFill>
                <a:latin typeface="+mn-lt"/>
                <a:ea typeface="+mn-ea"/>
                <a:cs typeface="+mn-cs"/>
              </a:rPr>
              <a:t>Applying handbrake and/or chocking vehicle</a:t>
            </a:r>
          </a:p>
          <a:p>
            <a:pPr marL="628650" lvl="1" indent="-171450">
              <a:buFont typeface="Arial" pitchFamily="34" charset="0"/>
              <a:buChar char="•"/>
            </a:pPr>
            <a:r>
              <a:rPr lang="en-AU" sz="1200" kern="1200" dirty="0" smtClean="0">
                <a:solidFill>
                  <a:schemeClr val="tx1"/>
                </a:solidFill>
                <a:latin typeface="+mn-lt"/>
                <a:ea typeface="+mn-ea"/>
                <a:cs typeface="+mn-cs"/>
              </a:rPr>
              <a:t>Running vehicle from a cold start</a:t>
            </a:r>
          </a:p>
          <a:p>
            <a:pPr marL="628650" lvl="1" indent="-171450">
              <a:buFont typeface="Arial" pitchFamily="34" charset="0"/>
              <a:buChar char="•"/>
            </a:pPr>
            <a:r>
              <a:rPr lang="en-AU" sz="1200" kern="1200" dirty="0" smtClean="0">
                <a:solidFill>
                  <a:schemeClr val="tx1"/>
                </a:solidFill>
                <a:latin typeface="+mn-lt"/>
                <a:ea typeface="+mn-ea"/>
                <a:cs typeface="+mn-cs"/>
              </a:rPr>
              <a:t>Starting vehicle from a hot start</a:t>
            </a:r>
          </a:p>
          <a:p>
            <a:pPr marL="628650" lvl="1" indent="-171450">
              <a:buFont typeface="Arial" pitchFamily="34" charset="0"/>
              <a:buChar char="•"/>
            </a:pPr>
            <a:r>
              <a:rPr lang="en-AU" sz="1200" kern="1200" dirty="0" smtClean="0">
                <a:solidFill>
                  <a:schemeClr val="tx1"/>
                </a:solidFill>
                <a:latin typeface="+mn-lt"/>
                <a:ea typeface="+mn-ea"/>
                <a:cs typeface="+mn-cs"/>
              </a:rPr>
              <a:t>Running vehicle with nominated accessories turned ’on’ (and/or ‘off’) as required</a:t>
            </a:r>
          </a:p>
          <a:p>
            <a:pPr marL="628650" lvl="1" indent="-171450">
              <a:buFont typeface="Arial" pitchFamily="34" charset="0"/>
              <a:buChar char="•"/>
            </a:pPr>
            <a:r>
              <a:rPr lang="en-AU" sz="1200" kern="1200" dirty="0" smtClean="0">
                <a:solidFill>
                  <a:schemeClr val="tx1"/>
                </a:solidFill>
                <a:latin typeface="+mn-lt"/>
                <a:ea typeface="+mn-ea"/>
                <a:cs typeface="+mn-cs"/>
              </a:rPr>
              <a:t>Running vehicle for nominated period of time</a:t>
            </a:r>
          </a:p>
          <a:p>
            <a:pPr marL="628650" lvl="1" indent="-171450">
              <a:buFont typeface="Arial" pitchFamily="34" charset="0"/>
              <a:buChar char="•"/>
            </a:pPr>
            <a:r>
              <a:rPr lang="en-AU" sz="1200" kern="1200" dirty="0" smtClean="0">
                <a:solidFill>
                  <a:schemeClr val="tx1"/>
                </a:solidFill>
                <a:latin typeface="+mn-lt"/>
                <a:ea typeface="+mn-ea"/>
                <a:cs typeface="+mn-cs"/>
              </a:rPr>
              <a:t>Monitoring/observing vehicle from inside and/or outside of the vehicle</a:t>
            </a:r>
          </a:p>
          <a:p>
            <a:pPr marL="171450" indent="-171450">
              <a:buFont typeface="Arial" pitchFamily="34" charset="0"/>
              <a:buChar char="•"/>
            </a:pPr>
            <a:r>
              <a:rPr lang="en-AU" sz="1200" kern="1200" dirty="0" smtClean="0">
                <a:solidFill>
                  <a:schemeClr val="tx1"/>
                </a:solidFill>
                <a:latin typeface="+mn-lt"/>
                <a:ea typeface="+mn-ea"/>
                <a:cs typeface="+mn-cs"/>
              </a:rPr>
              <a:t>Reading reports which have been prepared on the vehicle – such as:</a:t>
            </a:r>
          </a:p>
          <a:p>
            <a:pPr marL="628650" lvl="1" indent="-171450">
              <a:buFont typeface="Arial" pitchFamily="34" charset="0"/>
              <a:buChar char="•"/>
            </a:pPr>
            <a:r>
              <a:rPr lang="en-AU" sz="1200" kern="1200" dirty="0" smtClean="0">
                <a:solidFill>
                  <a:schemeClr val="tx1"/>
                </a:solidFill>
                <a:latin typeface="+mn-lt"/>
                <a:ea typeface="+mn-ea"/>
                <a:cs typeface="+mn-cs"/>
              </a:rPr>
              <a:t>Roadworthy/unroadworthy certificates</a:t>
            </a:r>
          </a:p>
          <a:p>
            <a:pPr marL="628650" lvl="1" indent="-171450">
              <a:buFont typeface="Arial" pitchFamily="34" charset="0"/>
              <a:buChar char="•"/>
            </a:pPr>
            <a:r>
              <a:rPr lang="en-AU" sz="1200" kern="1200" dirty="0" smtClean="0">
                <a:solidFill>
                  <a:schemeClr val="tx1"/>
                </a:solidFill>
                <a:latin typeface="+mn-lt"/>
                <a:ea typeface="+mn-ea"/>
                <a:cs typeface="+mn-cs"/>
              </a:rPr>
              <a:t>Vehicle defect notices</a:t>
            </a:r>
          </a:p>
          <a:p>
            <a:pPr marL="628650" lvl="1" indent="-171450">
              <a:buFont typeface="Arial" pitchFamily="34" charset="0"/>
              <a:buChar char="•"/>
            </a:pPr>
            <a:r>
              <a:rPr lang="en-AU" sz="1200" kern="1200" dirty="0" smtClean="0">
                <a:solidFill>
                  <a:schemeClr val="tx1"/>
                </a:solidFill>
                <a:latin typeface="+mn-lt"/>
                <a:ea typeface="+mn-ea"/>
                <a:cs typeface="+mn-cs"/>
              </a:rPr>
              <a:t>Service reports</a:t>
            </a:r>
          </a:p>
          <a:p>
            <a:pPr marL="628650" lvl="1" indent="-171450">
              <a:buFont typeface="Arial" pitchFamily="34" charset="0"/>
              <a:buChar char="•"/>
            </a:pPr>
            <a:r>
              <a:rPr lang="en-AU" sz="1200" kern="1200" dirty="0" smtClean="0">
                <a:solidFill>
                  <a:schemeClr val="tx1"/>
                </a:solidFill>
                <a:latin typeface="+mn-lt"/>
                <a:ea typeface="+mn-ea"/>
                <a:cs typeface="+mn-cs"/>
              </a:rPr>
              <a:t>Daily (‘Start of Day’) vehicle inspection checklists</a:t>
            </a:r>
          </a:p>
          <a:p>
            <a:pPr marL="628650" lvl="1" indent="-171450">
              <a:buFont typeface="Arial" pitchFamily="34" charset="0"/>
              <a:buChar char="•"/>
            </a:pPr>
            <a:r>
              <a:rPr lang="en-AU" sz="1200" kern="1200" dirty="0" smtClean="0">
                <a:solidFill>
                  <a:schemeClr val="tx1"/>
                </a:solidFill>
                <a:latin typeface="+mn-lt"/>
                <a:ea typeface="+mn-ea"/>
                <a:cs typeface="+mn-cs"/>
              </a:rPr>
              <a:t>End of Tour reports</a:t>
            </a:r>
          </a:p>
          <a:p>
            <a:pPr marL="628650" lvl="1" indent="-171450">
              <a:buFont typeface="Arial" pitchFamily="34" charset="0"/>
              <a:buChar char="•"/>
            </a:pPr>
            <a:r>
              <a:rPr lang="en-AU" sz="1200" kern="1200" dirty="0" smtClean="0">
                <a:solidFill>
                  <a:schemeClr val="tx1"/>
                </a:solidFill>
                <a:latin typeface="+mn-lt"/>
                <a:ea typeface="+mn-ea"/>
                <a:cs typeface="+mn-cs"/>
              </a:rPr>
              <a:t>Damage reports</a:t>
            </a:r>
          </a:p>
          <a:p>
            <a:pPr marL="628650" lvl="1" indent="-171450">
              <a:buFont typeface="Arial" pitchFamily="34" charset="0"/>
              <a:buChar char="•"/>
            </a:pPr>
            <a:r>
              <a:rPr lang="en-AU" sz="1200" kern="1200" dirty="0" smtClean="0">
                <a:solidFill>
                  <a:schemeClr val="tx1"/>
                </a:solidFill>
                <a:latin typeface="+mn-lt"/>
                <a:ea typeface="+mn-ea"/>
                <a:cs typeface="+mn-cs"/>
              </a:rPr>
              <a:t>Maintenance requests</a:t>
            </a:r>
          </a:p>
          <a:p>
            <a:pPr marL="628650" lvl="1" indent="-171450">
              <a:buFont typeface="Arial" pitchFamily="34" charset="0"/>
              <a:buChar char="•"/>
            </a:pPr>
            <a:r>
              <a:rPr lang="en-AU" sz="1200" kern="1200" dirty="0" smtClean="0">
                <a:solidFill>
                  <a:schemeClr val="tx1"/>
                </a:solidFill>
                <a:latin typeface="+mn-lt"/>
                <a:ea typeface="+mn-ea"/>
                <a:cs typeface="+mn-cs"/>
              </a:rPr>
              <a:t>Usage log.</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57796831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provides context stating:</a:t>
            </a:r>
          </a:p>
          <a:p>
            <a:pPr marL="171450" indent="-171450">
              <a:buFont typeface="Arial" pitchFamily="34" charset="0"/>
              <a:buChar char="•"/>
            </a:pPr>
            <a:r>
              <a:rPr lang="en-AU" sz="1200" kern="1200" dirty="0" smtClean="0">
                <a:solidFill>
                  <a:schemeClr val="tx1"/>
                </a:solidFill>
                <a:latin typeface="+mn-lt"/>
                <a:ea typeface="+mn-ea"/>
                <a:cs typeface="+mn-cs"/>
              </a:rPr>
              <a:t>Identifying the cause of faults may also be known as:</a:t>
            </a:r>
          </a:p>
          <a:p>
            <a:pPr marL="628650" lvl="1" indent="-171450">
              <a:buFont typeface="Arial" pitchFamily="34" charset="0"/>
              <a:buChar char="•"/>
            </a:pPr>
            <a:r>
              <a:rPr lang="en-AU" sz="1200" kern="1200" dirty="0" smtClean="0">
                <a:solidFill>
                  <a:schemeClr val="tx1"/>
                </a:solidFill>
                <a:latin typeface="+mn-lt"/>
                <a:ea typeface="+mn-ea"/>
                <a:cs typeface="+mn-cs"/>
              </a:rPr>
              <a:t>‘Diagnosing’ faults</a:t>
            </a:r>
          </a:p>
          <a:p>
            <a:pPr marL="628650" lvl="1" indent="-171450">
              <a:buFont typeface="Arial" pitchFamily="34" charset="0"/>
              <a:buChar char="•"/>
            </a:pPr>
            <a:r>
              <a:rPr lang="en-AU" sz="1200" kern="1200" dirty="0" smtClean="0">
                <a:solidFill>
                  <a:schemeClr val="tx1"/>
                </a:solidFill>
                <a:latin typeface="+mn-lt"/>
                <a:ea typeface="+mn-ea"/>
                <a:cs typeface="+mn-cs"/>
              </a:rPr>
              <a:t>‘Troubleshooting’</a:t>
            </a:r>
          </a:p>
          <a:p>
            <a:pPr marL="171450" indent="-171450">
              <a:buFont typeface="Arial" pitchFamily="34" charset="0"/>
              <a:buChar char="•"/>
            </a:pPr>
            <a:r>
              <a:rPr lang="en-AU" sz="1200" kern="1200" dirty="0" smtClean="0">
                <a:solidFill>
                  <a:schemeClr val="tx1"/>
                </a:solidFill>
                <a:latin typeface="+mn-lt"/>
                <a:ea typeface="+mn-ea"/>
                <a:cs typeface="+mn-cs"/>
              </a:rPr>
              <a:t>In many cases the reality of this stage is:</a:t>
            </a:r>
          </a:p>
          <a:p>
            <a:pPr marL="628650" lvl="1" indent="-171450">
              <a:buFont typeface="Arial" pitchFamily="34" charset="0"/>
              <a:buChar char="•"/>
            </a:pPr>
            <a:r>
              <a:rPr lang="en-AU" sz="1200" kern="1200" dirty="0" smtClean="0">
                <a:solidFill>
                  <a:schemeClr val="tx1"/>
                </a:solidFill>
                <a:latin typeface="+mn-lt"/>
                <a:ea typeface="+mn-ea"/>
                <a:cs typeface="+mn-cs"/>
              </a:rPr>
              <a:t>It is not straight-forward</a:t>
            </a:r>
          </a:p>
          <a:p>
            <a:pPr marL="628650" lvl="1" indent="-171450">
              <a:buFont typeface="Arial" pitchFamily="34" charset="0"/>
              <a:buChar char="•"/>
            </a:pPr>
            <a:r>
              <a:rPr lang="en-AU" sz="1200" kern="1200" dirty="0" smtClean="0">
                <a:solidFill>
                  <a:schemeClr val="tx1"/>
                </a:solidFill>
                <a:latin typeface="+mn-lt"/>
                <a:ea typeface="+mn-ea"/>
                <a:cs typeface="+mn-cs"/>
              </a:rPr>
              <a:t>The process can be very time consuming</a:t>
            </a:r>
          </a:p>
          <a:p>
            <a:pPr marL="628650" lvl="1" indent="-171450">
              <a:buFont typeface="Arial" pitchFamily="34" charset="0"/>
              <a:buChar char="•"/>
            </a:pPr>
            <a:r>
              <a:rPr lang="en-AU" sz="1200" kern="1200" dirty="0" smtClean="0">
                <a:solidFill>
                  <a:schemeClr val="tx1"/>
                </a:solidFill>
                <a:latin typeface="+mn-lt"/>
                <a:ea typeface="+mn-ea"/>
                <a:cs typeface="+mn-cs"/>
              </a:rPr>
              <a:t>It is difficult to re-produce the fault so the cause can be found</a:t>
            </a:r>
          </a:p>
          <a:p>
            <a:pPr marL="628650" lvl="1" indent="-171450">
              <a:buFont typeface="Arial" pitchFamily="34" charset="0"/>
              <a:buChar char="•"/>
            </a:pPr>
            <a:r>
              <a:rPr lang="en-AU" sz="1200" kern="1200" dirty="0" smtClean="0">
                <a:solidFill>
                  <a:schemeClr val="tx1"/>
                </a:solidFill>
                <a:latin typeface="+mn-lt"/>
                <a:ea typeface="+mn-ea"/>
                <a:cs typeface="+mn-cs"/>
              </a:rPr>
              <a:t>It can be harder to determine the cause than it is to fix the fault.</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Guest Speaker (or Excursion to garage)</a:t>
            </a:r>
          </a:p>
          <a:p>
            <a:pPr>
              <a:buFont typeface="Arial" pitchFamily="34" charset="0"/>
              <a:buNone/>
            </a:pPr>
            <a:r>
              <a:rPr lang="en-US" b="0" noProof="0" dirty="0" smtClean="0"/>
              <a:t>Trainer arranges for qualified mechanic to attend and:</a:t>
            </a:r>
          </a:p>
          <a:p>
            <a:pPr marL="171450" indent="-171450">
              <a:buFont typeface="Arial" pitchFamily="34" charset="0"/>
              <a:buChar char="•"/>
            </a:pPr>
            <a:r>
              <a:rPr lang="en-US" b="0" noProof="0" dirty="0" smtClean="0"/>
              <a:t>Explain option for fault identification</a:t>
            </a:r>
          </a:p>
          <a:p>
            <a:pPr marL="171450" indent="-171450">
              <a:buFont typeface="Arial" pitchFamily="34" charset="0"/>
              <a:buChar char="•"/>
            </a:pPr>
            <a:r>
              <a:rPr lang="en-US" b="0" noProof="0" dirty="0" smtClean="0"/>
              <a:t>Give hints and tips for identifying faults</a:t>
            </a:r>
          </a:p>
          <a:p>
            <a:pPr marL="171450" indent="-171450">
              <a:buFont typeface="Arial" pitchFamily="34" charset="0"/>
              <a:buChar char="•"/>
            </a:pPr>
            <a:r>
              <a:rPr lang="en-US" b="0" noProof="0" dirty="0" smtClean="0"/>
              <a:t>Demonstrate fault diagnoses.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347864914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practices for diagnosing vehicle faults:</a:t>
            </a:r>
          </a:p>
          <a:p>
            <a:pPr marL="171450" indent="-171450">
              <a:buFont typeface="Arial" pitchFamily="34" charset="0"/>
              <a:buChar char="•"/>
            </a:pPr>
            <a:r>
              <a:rPr lang="en-AU" sz="1200" kern="1200" dirty="0" smtClean="0">
                <a:solidFill>
                  <a:schemeClr val="tx1"/>
                </a:solidFill>
                <a:latin typeface="+mn-lt"/>
                <a:ea typeface="+mn-ea"/>
                <a:cs typeface="+mn-cs"/>
              </a:rPr>
              <a:t>Analysing available information (‘evidence’) obtained from the fault identification process to provide a list of tests to perform in order to:</a:t>
            </a:r>
          </a:p>
          <a:p>
            <a:pPr marL="628650" lvl="1" indent="-171450">
              <a:buFont typeface="Arial" pitchFamily="34" charset="0"/>
              <a:buChar char="•"/>
            </a:pPr>
            <a:r>
              <a:rPr lang="en-AU" sz="1200" kern="1200" dirty="0" smtClean="0">
                <a:solidFill>
                  <a:schemeClr val="tx1"/>
                </a:solidFill>
                <a:latin typeface="+mn-lt"/>
                <a:ea typeface="+mn-ea"/>
                <a:cs typeface="+mn-cs"/>
              </a:rPr>
              <a:t>Generate/cause the fault</a:t>
            </a:r>
          </a:p>
          <a:p>
            <a:pPr marL="628650" lvl="1" indent="-171450">
              <a:buFont typeface="Arial" pitchFamily="34" charset="0"/>
              <a:buChar char="•"/>
            </a:pPr>
            <a:r>
              <a:rPr lang="en-AU" sz="1200" kern="1200" dirty="0" smtClean="0">
                <a:solidFill>
                  <a:schemeClr val="tx1"/>
                </a:solidFill>
                <a:latin typeface="+mn-lt"/>
                <a:ea typeface="+mn-ea"/>
                <a:cs typeface="+mn-cs"/>
              </a:rPr>
              <a:t>Test options regarding what might be causing the problem</a:t>
            </a:r>
          </a:p>
          <a:p>
            <a:pPr marL="628650" lvl="1" indent="-171450">
              <a:buFont typeface="Arial" pitchFamily="34" charset="0"/>
              <a:buChar char="•"/>
            </a:pPr>
            <a:r>
              <a:rPr lang="en-AU" sz="1200" kern="1200" dirty="0" smtClean="0">
                <a:solidFill>
                  <a:schemeClr val="tx1"/>
                </a:solidFill>
                <a:latin typeface="+mn-lt"/>
                <a:ea typeface="+mn-ea"/>
                <a:cs typeface="+mn-cs"/>
              </a:rPr>
              <a:t>Eliminate possible causes in a structured and sequential, one-at-a-time basis</a:t>
            </a:r>
          </a:p>
          <a:p>
            <a:pPr marL="628650" lvl="1" indent="-171450">
              <a:buFont typeface="Arial" pitchFamily="34" charset="0"/>
              <a:buChar char="•"/>
            </a:pPr>
            <a:r>
              <a:rPr lang="en-AU" sz="1200" kern="1200" dirty="0" smtClean="0">
                <a:solidFill>
                  <a:schemeClr val="tx1"/>
                </a:solidFill>
                <a:latin typeface="+mn-lt"/>
                <a:ea typeface="+mn-ea"/>
                <a:cs typeface="+mn-cs"/>
              </a:rPr>
              <a:t>Identify causes</a:t>
            </a:r>
          </a:p>
          <a:p>
            <a:pPr marL="171450" indent="-171450">
              <a:buFont typeface="Arial" pitchFamily="34" charset="0"/>
              <a:buChar char="•"/>
            </a:pPr>
            <a:r>
              <a:rPr lang="en-AU" sz="1200" kern="1200" dirty="0" smtClean="0">
                <a:solidFill>
                  <a:schemeClr val="tx1"/>
                </a:solidFill>
                <a:latin typeface="+mn-lt"/>
                <a:ea typeface="+mn-ea"/>
                <a:cs typeface="+mn-cs"/>
              </a:rPr>
              <a:t>Using diagnostic flowcharts – as provided by manufacturers for different parts/components of the vehicle</a:t>
            </a:r>
          </a:p>
          <a:p>
            <a:pPr marL="171450" indent="-171450">
              <a:buFont typeface="Arial" pitchFamily="34" charset="0"/>
              <a:buChar char="•"/>
            </a:pPr>
            <a:r>
              <a:rPr lang="en-AU" sz="1200" kern="1200" dirty="0" smtClean="0">
                <a:solidFill>
                  <a:schemeClr val="tx1"/>
                </a:solidFill>
                <a:latin typeface="+mn-lt"/>
                <a:ea typeface="+mn-ea"/>
                <a:cs typeface="+mn-cs"/>
              </a:rPr>
              <a:t>Using on-board diagnostics (OBD) – which require a purpose-built scanning tool to (reader) be plugged into the on-board computer to display and interpret a Diagnostic Trouble Code (DTC) which describes the fault.</a:t>
            </a:r>
          </a:p>
          <a:p>
            <a:pPr>
              <a:buFont typeface="Arial" pitchFamily="34" charset="0"/>
              <a:buNone/>
            </a:pPr>
            <a:endParaRPr lang="en-AU"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36177410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practices for diagnosing vehicle faults:</a:t>
            </a:r>
          </a:p>
          <a:p>
            <a:pPr marL="171450" indent="-171450">
              <a:buFont typeface="Arial" pitchFamily="34" charset="0"/>
              <a:buChar char="•"/>
            </a:pPr>
            <a:r>
              <a:rPr lang="en-AU" sz="1200" kern="1200" dirty="0" smtClean="0">
                <a:solidFill>
                  <a:schemeClr val="tx1"/>
                </a:solidFill>
                <a:latin typeface="+mn-lt"/>
                <a:ea typeface="+mn-ea"/>
                <a:cs typeface="+mn-cs"/>
              </a:rPr>
              <a:t>Referring to service and operator manuals – as most </a:t>
            </a:r>
            <a:r>
              <a:rPr lang="en-AU" sz="1200" i="1" kern="1200" dirty="0" smtClean="0">
                <a:solidFill>
                  <a:schemeClr val="tx1"/>
                </a:solidFill>
                <a:latin typeface="+mn-lt"/>
                <a:ea typeface="+mn-ea"/>
                <a:cs typeface="+mn-cs"/>
              </a:rPr>
              <a:t>minor</a:t>
            </a:r>
            <a:r>
              <a:rPr lang="en-AU" sz="1200" kern="1200" dirty="0" smtClean="0">
                <a:solidFill>
                  <a:schemeClr val="tx1"/>
                </a:solidFill>
                <a:latin typeface="+mn-lt"/>
                <a:ea typeface="+mn-ea"/>
                <a:cs typeface="+mn-cs"/>
              </a:rPr>
              <a:t> faults can be determined with reference to these books</a:t>
            </a:r>
          </a:p>
          <a:p>
            <a:pPr marL="171450" indent="-171450">
              <a:buFont typeface="Arial" pitchFamily="34" charset="0"/>
              <a:buChar char="•"/>
            </a:pPr>
            <a:r>
              <a:rPr lang="en-AU" sz="1200" kern="1200" dirty="0" smtClean="0">
                <a:solidFill>
                  <a:schemeClr val="tx1"/>
                </a:solidFill>
                <a:latin typeface="+mn-lt"/>
                <a:ea typeface="+mn-ea"/>
                <a:cs typeface="+mn-cs"/>
              </a:rPr>
              <a:t>Seeking additional advice from the manufacturer – which may take the form of:</a:t>
            </a:r>
          </a:p>
          <a:p>
            <a:pPr marL="628650" lvl="1" indent="-171450">
              <a:buFont typeface="Arial" pitchFamily="34" charset="0"/>
              <a:buChar char="•"/>
            </a:pPr>
            <a:r>
              <a:rPr lang="en-AU" sz="1200" kern="1200" dirty="0" smtClean="0">
                <a:solidFill>
                  <a:schemeClr val="tx1"/>
                </a:solidFill>
                <a:latin typeface="+mn-lt"/>
                <a:ea typeface="+mn-ea"/>
                <a:cs typeface="+mn-cs"/>
              </a:rPr>
              <a:t>On-line advice – using:</a:t>
            </a:r>
          </a:p>
          <a:p>
            <a:pPr marL="1085850" lvl="2" indent="-171450">
              <a:buFont typeface="Arial" pitchFamily="34" charset="0"/>
              <a:buChar char="•"/>
            </a:pPr>
            <a:r>
              <a:rPr lang="en-AU" sz="1200" kern="1200" dirty="0" smtClean="0">
                <a:solidFill>
                  <a:schemeClr val="tx1"/>
                </a:solidFill>
                <a:latin typeface="+mn-lt"/>
                <a:ea typeface="+mn-ea"/>
                <a:cs typeface="+mn-cs"/>
              </a:rPr>
              <a:t>Free, password protected access to contracted assistance provided as part of new vehicle purchase</a:t>
            </a:r>
          </a:p>
          <a:p>
            <a:pPr marL="1085850" lvl="2" indent="-171450">
              <a:buFont typeface="Arial" pitchFamily="34" charset="0"/>
              <a:buChar char="•"/>
            </a:pPr>
            <a:r>
              <a:rPr lang="en-AU" sz="1200" kern="1200" dirty="0" smtClean="0">
                <a:solidFill>
                  <a:schemeClr val="tx1"/>
                </a:solidFill>
                <a:latin typeface="+mn-lt"/>
                <a:ea typeface="+mn-ea"/>
                <a:cs typeface="+mn-cs"/>
              </a:rPr>
              <a:t>Fee-for-service specialist advice</a:t>
            </a:r>
          </a:p>
          <a:p>
            <a:pPr marL="628650" lvl="1" indent="-171450">
              <a:buFont typeface="Arial" pitchFamily="34" charset="0"/>
              <a:buChar char="•"/>
            </a:pPr>
            <a:r>
              <a:rPr lang="en-AU" sz="1200" kern="1200" dirty="0" smtClean="0">
                <a:solidFill>
                  <a:schemeClr val="tx1"/>
                </a:solidFill>
                <a:latin typeface="+mn-lt"/>
                <a:ea typeface="+mn-ea"/>
                <a:cs typeface="+mn-cs"/>
              </a:rPr>
              <a:t>Over the phone assistance – from the manufacturer or the agent/business that sold the vehicle </a:t>
            </a:r>
          </a:p>
          <a:p>
            <a:pPr marL="628650" lvl="1" indent="-171450">
              <a:buFont typeface="Arial" pitchFamily="34" charset="0"/>
              <a:buChar char="•"/>
            </a:pPr>
            <a:r>
              <a:rPr lang="en-AU" sz="1200" kern="1200" dirty="0" smtClean="0">
                <a:solidFill>
                  <a:schemeClr val="tx1"/>
                </a:solidFill>
                <a:latin typeface="+mn-lt"/>
                <a:ea typeface="+mn-ea"/>
                <a:cs typeface="+mn-cs"/>
              </a:rPr>
              <a:t>In-person help – which may include:</a:t>
            </a:r>
          </a:p>
          <a:p>
            <a:pPr marL="1085850" lvl="2" indent="-171450">
              <a:buFont typeface="Arial" pitchFamily="34" charset="0"/>
              <a:buChar char="•"/>
            </a:pPr>
            <a:r>
              <a:rPr lang="en-AU" sz="1200" kern="1200" dirty="0" smtClean="0">
                <a:solidFill>
                  <a:schemeClr val="tx1"/>
                </a:solidFill>
                <a:latin typeface="+mn-lt"/>
                <a:ea typeface="+mn-ea"/>
                <a:cs typeface="+mn-cs"/>
              </a:rPr>
              <a:t>Talking with the Service Manager at the agency</a:t>
            </a:r>
          </a:p>
          <a:p>
            <a:pPr marL="1085850" lvl="2" indent="-171450">
              <a:buFont typeface="Arial" pitchFamily="34" charset="0"/>
              <a:buChar char="•"/>
            </a:pPr>
            <a:r>
              <a:rPr lang="en-AU" sz="1200" kern="1200" dirty="0" smtClean="0">
                <a:solidFill>
                  <a:schemeClr val="tx1"/>
                </a:solidFill>
                <a:latin typeface="+mn-lt"/>
                <a:ea typeface="+mn-ea"/>
                <a:cs typeface="+mn-cs"/>
              </a:rPr>
              <a:t>Taking the vehicle in to the business for one of the mechanics to look at and give free-of-charge advice on – this is a viable option where the organisation purchases significant vehicles from the one car dealership and/or where a ‘preferred supplier’ arrangement exists with the business</a:t>
            </a:r>
          </a:p>
          <a:p>
            <a:pPr marL="171450" indent="-171450">
              <a:buFont typeface="Arial" pitchFamily="34" charset="0"/>
              <a:buChar char="•"/>
            </a:pPr>
            <a:r>
              <a:rPr lang="en-AU" sz="1200" kern="1200" dirty="0" smtClean="0">
                <a:solidFill>
                  <a:schemeClr val="tx1"/>
                </a:solidFill>
                <a:latin typeface="+mn-lt"/>
                <a:ea typeface="+mn-ea"/>
                <a:cs typeface="+mn-cs"/>
              </a:rPr>
              <a:t>Referring to personal experience – the more experience a person has in diagnosing faults, the greater their pool of experience becomes</a:t>
            </a:r>
          </a:p>
          <a:p>
            <a:pPr marL="628650" lvl="1" indent="-171450">
              <a:buFont typeface="Arial" pitchFamily="34" charset="0"/>
              <a:buChar char="•"/>
            </a:pPr>
            <a:r>
              <a:rPr lang="en-AU" sz="1200" kern="1200" dirty="0" smtClean="0">
                <a:solidFill>
                  <a:schemeClr val="tx1"/>
                </a:solidFill>
                <a:latin typeface="+mn-lt"/>
                <a:ea typeface="+mn-ea"/>
                <a:cs typeface="+mn-cs"/>
              </a:rPr>
              <a:t>This personal experience generates a useful source of information as it is based on ‘legitimate’, first-hand practice.</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77541551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continues to present practices for diagnosing vehicle faults:</a:t>
            </a:r>
          </a:p>
          <a:p>
            <a:pPr marL="171450" indent="-171450">
              <a:buFont typeface="Arial" pitchFamily="34" charset="0"/>
              <a:buChar char="•"/>
            </a:pPr>
            <a:r>
              <a:rPr lang="en-AU" sz="1200" kern="1200" dirty="0" smtClean="0">
                <a:solidFill>
                  <a:schemeClr val="tx1"/>
                </a:solidFill>
                <a:latin typeface="+mn-lt"/>
                <a:ea typeface="+mn-ea"/>
                <a:cs typeface="+mn-cs"/>
              </a:rPr>
              <a:t>Loading vehicle onto jacks, stands or a hydraulic lift – in order to:</a:t>
            </a:r>
          </a:p>
          <a:p>
            <a:pPr marL="628650" lvl="1" indent="-171450">
              <a:buFont typeface="Arial" pitchFamily="34" charset="0"/>
              <a:buChar char="•"/>
            </a:pPr>
            <a:r>
              <a:rPr lang="en-AU" sz="1200" kern="1200" dirty="0" smtClean="0">
                <a:solidFill>
                  <a:schemeClr val="tx1"/>
                </a:solidFill>
                <a:latin typeface="+mn-lt"/>
                <a:ea typeface="+mn-ea"/>
                <a:cs typeface="+mn-cs"/>
              </a:rPr>
              <a:t>Get a better look at the vehicle and be able to see ‘up and under’ it and the engine bay. Certainly, raised vehicles always make it easier to identify the location of leaks and drips</a:t>
            </a:r>
          </a:p>
          <a:p>
            <a:pPr marL="628650" lvl="1" indent="-171450">
              <a:buFont typeface="Arial" pitchFamily="34" charset="0"/>
              <a:buChar char="•"/>
            </a:pPr>
            <a:r>
              <a:rPr lang="en-AU" sz="1200" kern="1200" dirty="0" smtClean="0">
                <a:solidFill>
                  <a:schemeClr val="tx1"/>
                </a:solidFill>
                <a:latin typeface="+mn-lt"/>
                <a:ea typeface="+mn-ea"/>
                <a:cs typeface="+mn-cs"/>
              </a:rPr>
              <a:t>Free up certain suspension components </a:t>
            </a:r>
          </a:p>
          <a:p>
            <a:pPr marL="628650" lvl="1" indent="-171450">
              <a:buFont typeface="Arial" pitchFamily="34" charset="0"/>
              <a:buChar char="•"/>
            </a:pPr>
            <a:r>
              <a:rPr lang="en-AU" sz="1200" kern="1200" dirty="0" smtClean="0">
                <a:solidFill>
                  <a:schemeClr val="tx1"/>
                </a:solidFill>
                <a:latin typeface="+mn-lt"/>
                <a:ea typeface="+mn-ea"/>
                <a:cs typeface="+mn-cs"/>
              </a:rPr>
              <a:t>Make it easier to manipulate other parts of the vehicle</a:t>
            </a:r>
          </a:p>
          <a:p>
            <a:pPr marL="171450" indent="-171450">
              <a:buFont typeface="Arial" pitchFamily="34" charset="0"/>
              <a:buChar char="•"/>
            </a:pPr>
            <a:r>
              <a:rPr lang="en-AU" sz="1200" kern="1200" dirty="0" smtClean="0">
                <a:solidFill>
                  <a:schemeClr val="tx1"/>
                </a:solidFill>
                <a:latin typeface="+mn-lt"/>
                <a:ea typeface="+mn-ea"/>
                <a:cs typeface="+mn-cs"/>
              </a:rPr>
              <a:t>Using applicable sensory appraisal to help determine cause – this is similar to using the senses to help identify a fault in the first place, and can (depending on the issue) rely on:</a:t>
            </a:r>
          </a:p>
          <a:p>
            <a:pPr marL="628650" lvl="1" indent="-171450">
              <a:buFont typeface="Arial" pitchFamily="34" charset="0"/>
              <a:buChar char="•"/>
            </a:pPr>
            <a:r>
              <a:rPr lang="en-AU" sz="1200" kern="1200" dirty="0" smtClean="0">
                <a:solidFill>
                  <a:schemeClr val="tx1"/>
                </a:solidFill>
                <a:latin typeface="+mn-lt"/>
                <a:ea typeface="+mn-ea"/>
                <a:cs typeface="+mn-cs"/>
              </a:rPr>
              <a:t>Sight – for noting smoke emissions, loose connections and broken and missing parts </a:t>
            </a:r>
          </a:p>
          <a:p>
            <a:pPr marL="628650" lvl="1" indent="-171450">
              <a:buFont typeface="Arial" pitchFamily="34" charset="0"/>
              <a:buChar char="•"/>
            </a:pPr>
            <a:r>
              <a:rPr lang="en-AU" sz="1200" kern="1200" dirty="0" smtClean="0">
                <a:solidFill>
                  <a:schemeClr val="tx1"/>
                </a:solidFill>
                <a:latin typeface="+mn-lt"/>
                <a:ea typeface="+mn-ea"/>
                <a:cs typeface="+mn-cs"/>
              </a:rPr>
              <a:t>Feel – for identifying vibrations</a:t>
            </a:r>
          </a:p>
          <a:p>
            <a:pPr marL="628650" lvl="1" indent="-171450">
              <a:buFont typeface="Arial" pitchFamily="34" charset="0"/>
              <a:buChar char="•"/>
            </a:pPr>
            <a:r>
              <a:rPr lang="en-AU" sz="1200" kern="1200" dirty="0" smtClean="0">
                <a:solidFill>
                  <a:schemeClr val="tx1"/>
                </a:solidFill>
                <a:latin typeface="+mn-lt"/>
                <a:ea typeface="+mn-ea"/>
                <a:cs typeface="+mn-cs"/>
              </a:rPr>
              <a:t>Smell – for detecting unusual odours from the vehicle such as running rich, ‘electrical’ and rubber smells</a:t>
            </a:r>
          </a:p>
          <a:p>
            <a:pPr marL="628650" lvl="1" indent="-171450">
              <a:buFont typeface="Arial" pitchFamily="34" charset="0"/>
              <a:buChar char="•"/>
            </a:pPr>
            <a:r>
              <a:rPr lang="en-AU" sz="1200" kern="1200" dirty="0" smtClean="0">
                <a:solidFill>
                  <a:schemeClr val="tx1"/>
                </a:solidFill>
                <a:latin typeface="+mn-lt"/>
                <a:ea typeface="+mn-ea"/>
                <a:cs typeface="+mn-cs"/>
              </a:rPr>
              <a:t>Hearing – for perceiving exhaust (‘noise emissions’) and engine problems (‘mis-fires’, ‘racing’, ‘knocks’) when the vehicle is running</a:t>
            </a:r>
          </a:p>
          <a:p>
            <a:pPr marL="171450" indent="-171450">
              <a:buFont typeface="Arial" pitchFamily="34" charset="0"/>
              <a:buChar char="•"/>
            </a:pPr>
            <a:r>
              <a:rPr lang="en-AU" sz="1200" kern="1200" dirty="0" smtClean="0">
                <a:solidFill>
                  <a:schemeClr val="tx1"/>
                </a:solidFill>
                <a:latin typeface="+mn-lt"/>
                <a:ea typeface="+mn-ea"/>
                <a:cs typeface="+mn-cs"/>
              </a:rPr>
              <a:t>Monitoring on-board instrument panel – which can mean watching and interpreting the readings of:</a:t>
            </a:r>
          </a:p>
          <a:p>
            <a:pPr marL="628650" lvl="1" indent="-171450">
              <a:buFont typeface="Arial" pitchFamily="34" charset="0"/>
              <a:buChar char="•"/>
            </a:pPr>
            <a:r>
              <a:rPr lang="en-AU" sz="1200" kern="1200" dirty="0" smtClean="0">
                <a:solidFill>
                  <a:schemeClr val="tx1"/>
                </a:solidFill>
                <a:latin typeface="+mn-lt"/>
                <a:ea typeface="+mn-ea"/>
                <a:cs typeface="+mn-cs"/>
              </a:rPr>
              <a:t>Temperature gauges </a:t>
            </a:r>
          </a:p>
          <a:p>
            <a:pPr marL="628650" lvl="1" indent="-171450">
              <a:buFont typeface="Arial" pitchFamily="34" charset="0"/>
              <a:buChar char="•"/>
            </a:pPr>
            <a:r>
              <a:rPr lang="en-AU" sz="1200" kern="1200" dirty="0" smtClean="0">
                <a:solidFill>
                  <a:schemeClr val="tx1"/>
                </a:solidFill>
                <a:latin typeface="+mn-lt"/>
                <a:ea typeface="+mn-ea"/>
                <a:cs typeface="+mn-cs"/>
              </a:rPr>
              <a:t>Tachometers</a:t>
            </a:r>
          </a:p>
          <a:p>
            <a:pPr marL="628650" lvl="1" indent="-171450">
              <a:buFont typeface="Arial" pitchFamily="34" charset="0"/>
              <a:buChar char="•"/>
            </a:pPr>
            <a:r>
              <a:rPr lang="en-AU" sz="1200" kern="1200" dirty="0" smtClean="0">
                <a:solidFill>
                  <a:schemeClr val="tx1"/>
                </a:solidFill>
                <a:latin typeface="+mn-lt"/>
                <a:ea typeface="+mn-ea"/>
                <a:cs typeface="+mn-cs"/>
              </a:rPr>
              <a:t>Oil pressure</a:t>
            </a:r>
          </a:p>
          <a:p>
            <a:pPr marL="628650" lvl="1" indent="-171450">
              <a:buFont typeface="Arial" pitchFamily="34" charset="0"/>
              <a:buChar char="•"/>
            </a:pPr>
            <a:r>
              <a:rPr lang="en-AU" sz="1200" kern="1200" dirty="0" smtClean="0">
                <a:solidFill>
                  <a:schemeClr val="tx1"/>
                </a:solidFill>
                <a:latin typeface="+mn-lt"/>
                <a:ea typeface="+mn-ea"/>
                <a:cs typeface="+mn-cs"/>
              </a:rPr>
              <a:t>Battery charge</a:t>
            </a:r>
          </a:p>
          <a:p>
            <a:pPr marL="171450" indent="-171450">
              <a:buFont typeface="Arial" pitchFamily="34" charset="0"/>
              <a:buChar char="•"/>
            </a:pPr>
            <a:r>
              <a:rPr lang="en-AU" sz="1200" kern="1200" dirty="0" smtClean="0">
                <a:solidFill>
                  <a:schemeClr val="tx1"/>
                </a:solidFill>
                <a:latin typeface="+mn-lt"/>
                <a:ea typeface="+mn-ea"/>
                <a:cs typeface="+mn-cs"/>
              </a:rPr>
              <a:t>Monitoring externally attached equipment – such as:</a:t>
            </a:r>
          </a:p>
          <a:p>
            <a:pPr marL="628650" lvl="1" indent="-171450">
              <a:buFont typeface="Arial" pitchFamily="34" charset="0"/>
              <a:buChar char="•"/>
            </a:pPr>
            <a:r>
              <a:rPr lang="en-AU" sz="1200" kern="1200" dirty="0" smtClean="0">
                <a:solidFill>
                  <a:schemeClr val="tx1"/>
                </a:solidFill>
                <a:latin typeface="+mn-lt"/>
                <a:ea typeface="+mn-ea"/>
                <a:cs typeface="+mn-cs"/>
              </a:rPr>
              <a:t>Various diagnostic tools</a:t>
            </a:r>
          </a:p>
          <a:p>
            <a:pPr marL="628650" lvl="1" indent="-171450">
              <a:buFont typeface="Arial" pitchFamily="34" charset="0"/>
              <a:buChar char="•"/>
            </a:pPr>
            <a:r>
              <a:rPr lang="en-AU" sz="1200" kern="1200" dirty="0" smtClean="0">
                <a:solidFill>
                  <a:schemeClr val="tx1"/>
                </a:solidFill>
                <a:latin typeface="+mn-lt"/>
                <a:ea typeface="+mn-ea"/>
                <a:cs typeface="+mn-cs"/>
              </a:rPr>
              <a:t>Battery/alternator testers</a:t>
            </a:r>
          </a:p>
          <a:p>
            <a:pPr marL="628650" lvl="1" indent="-171450">
              <a:buFont typeface="Arial" pitchFamily="34" charset="0"/>
              <a:buChar char="•"/>
            </a:pPr>
            <a:r>
              <a:rPr lang="en-AU" sz="1200" kern="1200" dirty="0" smtClean="0">
                <a:solidFill>
                  <a:schemeClr val="tx1"/>
                </a:solidFill>
                <a:latin typeface="+mn-lt"/>
                <a:ea typeface="+mn-ea"/>
                <a:cs typeface="+mn-cs"/>
              </a:rPr>
              <a:t>Vacuum and fuel pump testers</a:t>
            </a:r>
          </a:p>
          <a:p>
            <a:pPr marL="628650" lvl="1" indent="-171450">
              <a:buFont typeface="Arial" pitchFamily="34" charset="0"/>
              <a:buChar char="•"/>
            </a:pPr>
            <a:r>
              <a:rPr lang="en-AU" sz="1200" kern="1200" dirty="0" smtClean="0">
                <a:solidFill>
                  <a:schemeClr val="tx1"/>
                </a:solidFill>
                <a:latin typeface="+mn-lt"/>
                <a:ea typeface="+mn-ea"/>
                <a:cs typeface="+mn-cs"/>
              </a:rPr>
              <a:t>Electronic brake service tool</a:t>
            </a:r>
          </a:p>
          <a:p>
            <a:pPr marL="628650" lvl="1" indent="-171450">
              <a:buFont typeface="Arial" pitchFamily="34" charset="0"/>
              <a:buChar char="•"/>
            </a:pPr>
            <a:r>
              <a:rPr lang="en-AU" sz="1200" kern="1200" dirty="0" smtClean="0">
                <a:solidFill>
                  <a:schemeClr val="tx1"/>
                </a:solidFill>
                <a:latin typeface="+mn-lt"/>
                <a:ea typeface="+mn-ea"/>
                <a:cs typeface="+mn-cs"/>
              </a:rPr>
              <a:t>Compression test </a:t>
            </a:r>
          </a:p>
          <a:p>
            <a:pPr marL="628650" lvl="1" indent="-171450">
              <a:buFont typeface="Arial" pitchFamily="34" charset="0"/>
              <a:buChar char="•"/>
            </a:pPr>
            <a:r>
              <a:rPr lang="en-AU" sz="1200" kern="1200" dirty="0" smtClean="0">
                <a:solidFill>
                  <a:schemeClr val="tx1"/>
                </a:solidFill>
                <a:latin typeface="+mn-lt"/>
                <a:ea typeface="+mn-ea"/>
                <a:cs typeface="+mn-cs"/>
              </a:rPr>
              <a:t>Circuit testers and multi-meters.</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23259891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describes activities involved in the inspection process:</a:t>
            </a:r>
          </a:p>
          <a:p>
            <a:pPr marL="171450" indent="-171450">
              <a:buFont typeface="Arial" pitchFamily="34" charset="0"/>
              <a:buChar char="•"/>
            </a:pPr>
            <a:r>
              <a:rPr lang="en-AU" sz="1200" kern="1200" dirty="0" smtClean="0">
                <a:solidFill>
                  <a:schemeClr val="tx1"/>
                </a:solidFill>
                <a:latin typeface="+mn-lt"/>
                <a:ea typeface="+mn-ea"/>
                <a:cs typeface="+mn-cs"/>
              </a:rPr>
              <a:t>Looking at and under the vehicle and closely checking all aspects of the vehicle – while it is:</a:t>
            </a:r>
          </a:p>
          <a:p>
            <a:pPr marL="628650" lvl="1" indent="-171450">
              <a:buFont typeface="Arial" pitchFamily="34" charset="0"/>
              <a:buChar char="•"/>
            </a:pPr>
            <a:r>
              <a:rPr lang="en-AU" sz="1200" kern="1200" dirty="0" smtClean="0">
                <a:solidFill>
                  <a:schemeClr val="tx1"/>
                </a:solidFill>
                <a:latin typeface="+mn-lt"/>
                <a:ea typeface="+mn-ea"/>
                <a:cs typeface="+mn-cs"/>
              </a:rPr>
              <a:t>On the ground, and/or</a:t>
            </a:r>
          </a:p>
          <a:p>
            <a:pPr marL="628650" lvl="1" indent="-171450">
              <a:buFont typeface="Arial" pitchFamily="34" charset="0"/>
              <a:buChar char="•"/>
            </a:pPr>
            <a:r>
              <a:rPr lang="en-AU" sz="1200" kern="1200" dirty="0" smtClean="0">
                <a:solidFill>
                  <a:schemeClr val="tx1"/>
                </a:solidFill>
                <a:latin typeface="+mn-lt"/>
                <a:ea typeface="+mn-ea"/>
                <a:cs typeface="+mn-cs"/>
              </a:rPr>
              <a:t>On a hoist or over an inspection pit – if a hoist or inspection pit is not available the inspection can occur by using:</a:t>
            </a:r>
          </a:p>
          <a:p>
            <a:pPr marL="628650" lvl="1" indent="-171450">
              <a:buFont typeface="Arial" pitchFamily="34" charset="0"/>
              <a:buChar char="•"/>
            </a:pPr>
            <a:r>
              <a:rPr lang="en-AU" sz="1200" kern="1200" dirty="0" smtClean="0">
                <a:solidFill>
                  <a:schemeClr val="tx1"/>
                </a:solidFill>
                <a:latin typeface="+mn-lt"/>
                <a:ea typeface="+mn-ea"/>
                <a:cs typeface="+mn-cs"/>
              </a:rPr>
              <a:t>Trolley jacks</a:t>
            </a:r>
          </a:p>
          <a:p>
            <a:pPr marL="628650" lvl="1" indent="-171450">
              <a:buFont typeface="Arial" pitchFamily="34" charset="0"/>
              <a:buChar char="•"/>
            </a:pPr>
            <a:r>
              <a:rPr lang="en-AU" sz="1200" kern="1200" dirty="0" smtClean="0">
                <a:solidFill>
                  <a:schemeClr val="tx1"/>
                </a:solidFill>
                <a:latin typeface="+mn-lt"/>
                <a:ea typeface="+mn-ea"/>
                <a:cs typeface="+mn-cs"/>
              </a:rPr>
              <a:t>Car stands</a:t>
            </a:r>
          </a:p>
          <a:p>
            <a:pPr marL="628650" lvl="1" indent="-171450">
              <a:buFont typeface="Arial" pitchFamily="34" charset="0"/>
              <a:buChar char="•"/>
            </a:pPr>
            <a:r>
              <a:rPr lang="en-AU" sz="1200" kern="1200" dirty="0" smtClean="0">
                <a:solidFill>
                  <a:schemeClr val="tx1"/>
                </a:solidFill>
                <a:latin typeface="+mn-lt"/>
                <a:ea typeface="+mn-ea"/>
                <a:cs typeface="+mn-cs"/>
              </a:rPr>
              <a:t>Under-vehicle car trolleys/creepers</a:t>
            </a:r>
          </a:p>
          <a:p>
            <a:pPr marL="171450" indent="-171450">
              <a:buFont typeface="Arial" pitchFamily="34" charset="0"/>
              <a:buChar char="•"/>
            </a:pPr>
            <a:r>
              <a:rPr lang="en-AU" sz="1200" kern="1200" dirty="0" smtClean="0">
                <a:solidFill>
                  <a:schemeClr val="tx1"/>
                </a:solidFill>
                <a:latin typeface="+mn-lt"/>
                <a:ea typeface="+mn-ea"/>
                <a:cs typeface="+mn-cs"/>
              </a:rPr>
              <a:t>Lighting the areas being inspected – with:</a:t>
            </a:r>
          </a:p>
          <a:p>
            <a:pPr marL="628650" lvl="1" indent="-171450">
              <a:buFont typeface="Arial" pitchFamily="34" charset="0"/>
              <a:buChar char="•"/>
            </a:pPr>
            <a:r>
              <a:rPr lang="en-US" sz="1200" kern="1200" dirty="0" smtClean="0">
                <a:solidFill>
                  <a:schemeClr val="tx1"/>
                </a:solidFill>
                <a:latin typeface="+mn-lt"/>
                <a:ea typeface="+mn-ea"/>
                <a:cs typeface="+mn-cs"/>
              </a:rPr>
              <a:t>Inspection lights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Torches.</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Classroom Activity – Demonstration and Practical </a:t>
            </a:r>
          </a:p>
          <a:p>
            <a:pPr>
              <a:buFont typeface="Arial" pitchFamily="34" charset="0"/>
              <a:buNone/>
            </a:pPr>
            <a:r>
              <a:rPr lang="en-AU" sz="1200" b="0" kern="1200" dirty="0" smtClean="0">
                <a:solidFill>
                  <a:schemeClr val="tx1"/>
                </a:solidFill>
                <a:latin typeface="+mn-lt"/>
                <a:ea typeface="+mn-ea"/>
                <a:cs typeface="+mn-cs"/>
              </a:rPr>
              <a:t>Trainer demonstrates and explains the vehicle inspection activities shown on the slide and provides opportunity for students to do the same.</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112875837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activities involved in the inspection process:</a:t>
            </a:r>
          </a:p>
          <a:p>
            <a:pPr marL="171450" indent="-171450">
              <a:buFont typeface="Arial" pitchFamily="34" charset="0"/>
              <a:buChar char="•"/>
            </a:pPr>
            <a:r>
              <a:rPr lang="en-AU" sz="1200" kern="1200" dirty="0" smtClean="0">
                <a:solidFill>
                  <a:schemeClr val="tx1"/>
                </a:solidFill>
                <a:latin typeface="+mn-lt"/>
                <a:ea typeface="+mn-ea"/>
                <a:cs typeface="+mn-cs"/>
              </a:rPr>
              <a:t>Using a checklist – to:</a:t>
            </a:r>
          </a:p>
          <a:p>
            <a:pPr marL="628650" lvl="1" indent="-171450">
              <a:buFont typeface="Arial" pitchFamily="34" charset="0"/>
              <a:buChar char="•"/>
            </a:pPr>
            <a:r>
              <a:rPr lang="en-AU" sz="1200" kern="1200" dirty="0" smtClean="0">
                <a:solidFill>
                  <a:schemeClr val="tx1"/>
                </a:solidFill>
                <a:latin typeface="+mn-lt"/>
                <a:ea typeface="+mn-ea"/>
                <a:cs typeface="+mn-cs"/>
              </a:rPr>
              <a:t>Provide evidence the inspection occurred</a:t>
            </a:r>
          </a:p>
          <a:p>
            <a:pPr marL="628650" lvl="1" indent="-171450">
              <a:buFont typeface="Arial" pitchFamily="34" charset="0"/>
              <a:buChar char="•"/>
            </a:pPr>
            <a:r>
              <a:rPr lang="en-US" sz="1200" kern="1200" dirty="0" smtClean="0">
                <a:solidFill>
                  <a:schemeClr val="tx1"/>
                </a:solidFill>
                <a:latin typeface="+mn-lt"/>
                <a:ea typeface="+mn-ea"/>
                <a:cs typeface="+mn-cs"/>
              </a:rPr>
              <a:t>Note defects and matters requiring attention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Inspecting the vehicle in pairs – so that:</a:t>
            </a:r>
          </a:p>
          <a:p>
            <a:pPr marL="628650" lvl="1" indent="-171450">
              <a:buFont typeface="Arial" pitchFamily="34" charset="0"/>
              <a:buChar char="•"/>
            </a:pPr>
            <a:r>
              <a:rPr lang="en-AU" sz="1200" kern="1200" dirty="0" smtClean="0">
                <a:solidFill>
                  <a:schemeClr val="tx1"/>
                </a:solidFill>
                <a:latin typeface="+mn-lt"/>
                <a:ea typeface="+mn-ea"/>
                <a:cs typeface="+mn-cs"/>
              </a:rPr>
              <a:t>Issues can be analysed/discussed</a:t>
            </a:r>
          </a:p>
          <a:p>
            <a:pPr marL="628650" lvl="1" indent="-171450">
              <a:buFont typeface="Arial" pitchFamily="34" charset="0"/>
              <a:buChar char="•"/>
            </a:pPr>
            <a:r>
              <a:rPr lang="en-AU" sz="1200" kern="1200" dirty="0" smtClean="0">
                <a:solidFill>
                  <a:schemeClr val="tx1"/>
                </a:solidFill>
                <a:latin typeface="+mn-lt"/>
                <a:ea typeface="+mn-ea"/>
                <a:cs typeface="+mn-cs"/>
              </a:rPr>
              <a:t>A more effective inspection takes place – that is, there is less chance something will be missed if two people do the inspection.</a:t>
            </a:r>
          </a:p>
          <a:p>
            <a:pPr>
              <a:buFont typeface="Arial" pitchFamily="34" charset="0"/>
              <a:buNone/>
            </a:pPr>
            <a:endParaRPr lang="en-US" noProof="0" dirty="0" smtClean="0"/>
          </a:p>
          <a:p>
            <a:pPr>
              <a:buFont typeface="Arial" pitchFamily="34" charset="0"/>
              <a:buNone/>
            </a:pPr>
            <a:r>
              <a:rPr lang="en-AU" sz="1200" b="1" kern="1200" dirty="0" smtClean="0">
                <a:solidFill>
                  <a:schemeClr val="tx1"/>
                </a:solidFill>
                <a:latin typeface="+mn-lt"/>
                <a:ea typeface="+mn-ea"/>
                <a:cs typeface="+mn-cs"/>
              </a:rPr>
              <a:t>Classroom Activity – Handout</a:t>
            </a:r>
          </a:p>
          <a:p>
            <a:pPr>
              <a:buFont typeface="Arial" pitchFamily="34" charset="0"/>
              <a:buNone/>
            </a:pPr>
            <a:r>
              <a:rPr lang="en-AU" sz="1200" b="0" kern="1200" dirty="0" smtClean="0">
                <a:solidFill>
                  <a:schemeClr val="tx1"/>
                </a:solidFill>
                <a:latin typeface="+mn-lt"/>
                <a:ea typeface="+mn-ea"/>
                <a:cs typeface="+mn-cs"/>
              </a:rPr>
              <a:t>Trainer distributes and discusses use of sample vehicle inspection checklist.</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317983488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activities involved in the inspection process:</a:t>
            </a:r>
          </a:p>
          <a:p>
            <a:pPr marL="171450" indent="-171450">
              <a:buFont typeface="Arial" pitchFamily="34" charset="0"/>
              <a:buChar char="•"/>
            </a:pPr>
            <a:r>
              <a:rPr lang="en-AU" sz="1200" kern="1200" dirty="0" smtClean="0">
                <a:solidFill>
                  <a:schemeClr val="tx1"/>
                </a:solidFill>
                <a:latin typeface="+mn-lt"/>
                <a:ea typeface="+mn-ea"/>
                <a:cs typeface="+mn-cs"/>
              </a:rPr>
              <a:t>Looking for signs of damage to the vehicle – as these signs can indicate:</a:t>
            </a:r>
          </a:p>
          <a:p>
            <a:pPr marL="628650" lvl="1" indent="-171450">
              <a:buFont typeface="Arial" pitchFamily="34" charset="0"/>
              <a:buChar char="•"/>
            </a:pPr>
            <a:r>
              <a:rPr lang="en-AU" sz="1200" kern="1200" dirty="0" smtClean="0">
                <a:solidFill>
                  <a:schemeClr val="tx1"/>
                </a:solidFill>
                <a:latin typeface="+mn-lt"/>
                <a:ea typeface="+mn-ea"/>
                <a:cs typeface="+mn-cs"/>
              </a:rPr>
              <a:t>Where a more detailed inspection needs to occur to determine:</a:t>
            </a:r>
          </a:p>
          <a:p>
            <a:pPr marL="1085850" lvl="2" indent="-171450">
              <a:buFont typeface="Arial" pitchFamily="34" charset="0"/>
              <a:buChar char="•"/>
            </a:pPr>
            <a:r>
              <a:rPr lang="en-AU" sz="1200" kern="1200" dirty="0" smtClean="0">
                <a:solidFill>
                  <a:schemeClr val="tx1"/>
                </a:solidFill>
                <a:latin typeface="+mn-lt"/>
                <a:ea typeface="+mn-ea"/>
                <a:cs typeface="+mn-cs"/>
              </a:rPr>
              <a:t>If the damage </a:t>
            </a:r>
            <a:r>
              <a:rPr lang="en-AU" sz="1200" i="1" kern="1200" dirty="0" smtClean="0">
                <a:solidFill>
                  <a:schemeClr val="tx1"/>
                </a:solidFill>
                <a:latin typeface="+mn-lt"/>
                <a:ea typeface="+mn-ea"/>
                <a:cs typeface="+mn-cs"/>
              </a:rPr>
              <a:t>has caused a problem</a:t>
            </a:r>
            <a:r>
              <a:rPr lang="en-AU" sz="1200" kern="1200" dirty="0" smtClean="0">
                <a:solidFill>
                  <a:schemeClr val="tx1"/>
                </a:solidFill>
                <a:latin typeface="+mn-lt"/>
                <a:ea typeface="+mn-ea"/>
                <a:cs typeface="+mn-cs"/>
              </a:rPr>
              <a:t>/further problem</a:t>
            </a:r>
          </a:p>
          <a:p>
            <a:pPr marL="1085850" lvl="2" indent="-171450">
              <a:buFont typeface="Arial" pitchFamily="34" charset="0"/>
              <a:buChar char="•"/>
            </a:pPr>
            <a:r>
              <a:rPr lang="en-AU" sz="1200" kern="1200" dirty="0" smtClean="0">
                <a:solidFill>
                  <a:schemeClr val="tx1"/>
                </a:solidFill>
                <a:latin typeface="+mn-lt"/>
                <a:ea typeface="+mn-ea"/>
                <a:cs typeface="+mn-cs"/>
              </a:rPr>
              <a:t>Whether </a:t>
            </a:r>
            <a:r>
              <a:rPr lang="en-AU" sz="1200" i="1" kern="1200" dirty="0" smtClean="0">
                <a:solidFill>
                  <a:schemeClr val="tx1"/>
                </a:solidFill>
                <a:latin typeface="+mn-lt"/>
                <a:ea typeface="+mn-ea"/>
                <a:cs typeface="+mn-cs"/>
              </a:rPr>
              <a:t>the damage is a result</a:t>
            </a:r>
            <a:r>
              <a:rPr lang="en-AU" sz="1200" kern="1200" dirty="0" smtClean="0">
                <a:solidFill>
                  <a:schemeClr val="tx1"/>
                </a:solidFill>
                <a:latin typeface="+mn-lt"/>
                <a:ea typeface="+mn-ea"/>
                <a:cs typeface="+mn-cs"/>
              </a:rPr>
              <a:t> of another issue</a:t>
            </a:r>
          </a:p>
          <a:p>
            <a:pPr marL="628650" lvl="1" indent="-171450">
              <a:buFont typeface="Arial" pitchFamily="34" charset="0"/>
              <a:buChar char="•"/>
            </a:pPr>
            <a:r>
              <a:rPr lang="en-AU" sz="1200" kern="1200" dirty="0" smtClean="0">
                <a:solidFill>
                  <a:schemeClr val="tx1"/>
                </a:solidFill>
                <a:latin typeface="+mn-lt"/>
                <a:ea typeface="+mn-ea"/>
                <a:cs typeface="+mn-cs"/>
              </a:rPr>
              <a:t>Need for immediate action – to:</a:t>
            </a:r>
          </a:p>
          <a:p>
            <a:pPr marL="1085850" lvl="2" indent="-171450">
              <a:buFont typeface="Arial" pitchFamily="34" charset="0"/>
              <a:buChar char="•"/>
            </a:pPr>
            <a:r>
              <a:rPr lang="en-AU" sz="1200" kern="1200" dirty="0" smtClean="0">
                <a:solidFill>
                  <a:schemeClr val="tx1"/>
                </a:solidFill>
                <a:latin typeface="+mn-lt"/>
                <a:ea typeface="+mn-ea"/>
                <a:cs typeface="+mn-cs"/>
              </a:rPr>
              <a:t>Fix the cause</a:t>
            </a:r>
          </a:p>
          <a:p>
            <a:pPr marL="1085850" lvl="2" indent="-171450">
              <a:buFont typeface="Arial" pitchFamily="34" charset="0"/>
              <a:buChar char="•"/>
            </a:pPr>
            <a:r>
              <a:rPr lang="en-AU" sz="1200" kern="1200" dirty="0" smtClean="0">
                <a:solidFill>
                  <a:schemeClr val="tx1"/>
                </a:solidFill>
                <a:latin typeface="+mn-lt"/>
                <a:ea typeface="+mn-ea"/>
                <a:cs typeface="+mn-cs"/>
              </a:rPr>
              <a:t>Take temporary action to reduce/prevent further damage</a:t>
            </a:r>
          </a:p>
          <a:p>
            <a:pPr marL="1085850" lvl="2" indent="-171450">
              <a:buFont typeface="Arial" pitchFamily="34" charset="0"/>
              <a:buChar char="•"/>
            </a:pPr>
            <a:r>
              <a:rPr lang="en-AU" sz="1200" kern="1200" dirty="0" smtClean="0">
                <a:solidFill>
                  <a:schemeClr val="tx1"/>
                </a:solidFill>
                <a:latin typeface="+mn-lt"/>
                <a:ea typeface="+mn-ea"/>
                <a:cs typeface="+mn-cs"/>
              </a:rPr>
              <a:t>Keep the vehicle on-the-road/operational</a:t>
            </a:r>
          </a:p>
          <a:p>
            <a:pPr marL="628650" lvl="1" indent="-171450">
              <a:buFont typeface="Arial" pitchFamily="34" charset="0"/>
              <a:buChar char="•"/>
            </a:pPr>
            <a:r>
              <a:rPr lang="en-AU" sz="1200" kern="1200" dirty="0" smtClean="0">
                <a:solidFill>
                  <a:schemeClr val="tx1"/>
                </a:solidFill>
                <a:latin typeface="+mn-lt"/>
                <a:ea typeface="+mn-ea"/>
                <a:cs typeface="+mn-cs"/>
              </a:rPr>
              <a:t>Need to take later action – which may not be </a:t>
            </a:r>
            <a:r>
              <a:rPr lang="en-AU" sz="1200" i="1" kern="1200" dirty="0" smtClean="0">
                <a:solidFill>
                  <a:schemeClr val="tx1"/>
                </a:solidFill>
                <a:latin typeface="+mn-lt"/>
                <a:ea typeface="+mn-ea"/>
                <a:cs typeface="+mn-cs"/>
              </a:rPr>
              <a:t>immediately</a:t>
            </a:r>
            <a:r>
              <a:rPr lang="en-AU" sz="1200" kern="1200" dirty="0" smtClean="0">
                <a:solidFill>
                  <a:schemeClr val="tx1"/>
                </a:solidFill>
                <a:latin typeface="+mn-lt"/>
                <a:ea typeface="+mn-ea"/>
                <a:cs typeface="+mn-cs"/>
              </a:rPr>
              <a:t> necessary to </a:t>
            </a:r>
          </a:p>
          <a:p>
            <a:pPr marL="628650" lvl="1" indent="-171450">
              <a:buFont typeface="Arial" pitchFamily="34" charset="0"/>
              <a:buChar char="•"/>
            </a:pPr>
            <a:r>
              <a:rPr lang="en-AU" sz="1200" kern="1200" dirty="0" smtClean="0">
                <a:solidFill>
                  <a:schemeClr val="tx1"/>
                </a:solidFill>
                <a:latin typeface="+mn-lt"/>
                <a:ea typeface="+mn-ea"/>
                <a:cs typeface="+mn-cs"/>
              </a:rPr>
              <a:t>Possible cause or source of the damage</a:t>
            </a:r>
          </a:p>
          <a:p>
            <a:pPr marL="628650" lvl="1" indent="-171450">
              <a:buFont typeface="Arial" pitchFamily="34" charset="0"/>
              <a:buChar char="•"/>
            </a:pPr>
            <a:r>
              <a:rPr lang="en-AU" sz="1200" kern="1200" dirty="0" smtClean="0">
                <a:solidFill>
                  <a:schemeClr val="tx1"/>
                </a:solidFill>
                <a:latin typeface="+mn-lt"/>
                <a:ea typeface="+mn-ea"/>
                <a:cs typeface="+mn-cs"/>
              </a:rPr>
              <a:t>What  may be needed/possible to prevent recurrence</a:t>
            </a:r>
          </a:p>
          <a:p>
            <a:pPr marL="171450" indent="-171450">
              <a:buFont typeface="Arial" pitchFamily="34" charset="0"/>
              <a:buChar char="•"/>
            </a:pPr>
            <a:r>
              <a:rPr lang="en-AU" sz="1200" kern="1200" dirty="0" smtClean="0">
                <a:solidFill>
                  <a:schemeClr val="tx1"/>
                </a:solidFill>
                <a:latin typeface="+mn-lt"/>
                <a:ea typeface="+mn-ea"/>
                <a:cs typeface="+mn-cs"/>
              </a:rPr>
              <a:t>Checking for missing parts – from:</a:t>
            </a:r>
          </a:p>
          <a:p>
            <a:pPr marL="628650" lvl="1" indent="-171450">
              <a:buFont typeface="Arial" pitchFamily="34" charset="0"/>
              <a:buChar char="•"/>
            </a:pPr>
            <a:r>
              <a:rPr lang="en-US" sz="1200" kern="1200" dirty="0" smtClean="0">
                <a:solidFill>
                  <a:schemeClr val="tx1"/>
                </a:solidFill>
                <a:latin typeface="+mn-lt"/>
                <a:ea typeface="+mn-ea"/>
                <a:cs typeface="+mn-cs"/>
              </a:rPr>
              <a:t>Inside the cabin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Inside the passenger area</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 the exterior of the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Under the hood/bonnet.</a:t>
            </a: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None/>
            </a:pPr>
            <a:r>
              <a:rPr lang="en-AU" sz="1200" b="1" kern="1200" dirty="0" smtClean="0">
                <a:solidFill>
                  <a:schemeClr val="tx1"/>
                </a:solidFill>
                <a:latin typeface="+mn-lt"/>
                <a:ea typeface="+mn-ea"/>
                <a:cs typeface="+mn-cs"/>
              </a:rPr>
              <a:t>Classroom Activity – Demonstration and Practical </a:t>
            </a:r>
          </a:p>
          <a:p>
            <a:pPr>
              <a:buFont typeface="Arial" pitchFamily="34" charset="0"/>
              <a:buNone/>
            </a:pPr>
            <a:r>
              <a:rPr lang="en-AU" sz="1200" b="0" kern="1200" dirty="0" smtClean="0">
                <a:solidFill>
                  <a:schemeClr val="tx1"/>
                </a:solidFill>
                <a:latin typeface="+mn-lt"/>
                <a:ea typeface="+mn-ea"/>
                <a:cs typeface="+mn-cs"/>
              </a:rPr>
              <a:t>Trainer demonstrates and explains the vehicle inspection activities shown on the slide and provides opportunity for students to do the same.</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82329831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noProof="0" dirty="0" smtClean="0"/>
              <a:t>Trainer continues describing activities involved in the inspection process:</a:t>
            </a:r>
          </a:p>
          <a:p>
            <a:pPr marL="171450" indent="-171450">
              <a:buFont typeface="Arial" pitchFamily="34" charset="0"/>
              <a:buChar char="•"/>
            </a:pPr>
            <a:r>
              <a:rPr lang="en-AU" sz="1200" kern="1200" dirty="0" smtClean="0">
                <a:solidFill>
                  <a:schemeClr val="tx1"/>
                </a:solidFill>
                <a:latin typeface="+mn-lt"/>
                <a:ea typeface="+mn-ea"/>
                <a:cs typeface="+mn-cs"/>
              </a:rPr>
              <a:t>Noting leaking fluids – as this can:</a:t>
            </a:r>
          </a:p>
          <a:p>
            <a:pPr marL="628650" lvl="1" indent="-171450">
              <a:buFont typeface="Arial" pitchFamily="34" charset="0"/>
              <a:buChar char="•"/>
            </a:pPr>
            <a:r>
              <a:rPr lang="en-US" sz="1200" kern="1200" dirty="0" smtClean="0">
                <a:solidFill>
                  <a:schemeClr val="tx1"/>
                </a:solidFill>
                <a:latin typeface="+mn-lt"/>
                <a:ea typeface="+mn-ea"/>
                <a:cs typeface="+mn-cs"/>
              </a:rPr>
              <a:t>Identify type of fluid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 location of leak</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Indicate severity of problem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Determine, to an extent, the type of problem needing to be addressed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Identifying projections from the vehicle – this relates to:</a:t>
            </a:r>
          </a:p>
          <a:p>
            <a:pPr marL="628650" lvl="1" indent="-171450">
              <a:buFont typeface="Arial" pitchFamily="34" charset="0"/>
              <a:buChar char="•"/>
            </a:pPr>
            <a:r>
              <a:rPr lang="en-US" sz="1200" kern="1200" dirty="0" smtClean="0">
                <a:solidFill>
                  <a:schemeClr val="tx1"/>
                </a:solidFill>
                <a:latin typeface="+mn-lt"/>
                <a:ea typeface="+mn-ea"/>
                <a:cs typeface="+mn-cs"/>
              </a:rPr>
              <a:t>Body parts which have been worked loose, damaged or snagged and are hanging loose or sticking out from beyond the normal dimensions of the vehicle presenting a danger to other vehicles, people or structures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Items caught up under the vehicle or under wheel wells, around wheels and brake lines, in the engine bay or from vehicle protection bars or lighting bars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Taking immediate action to rectify problems – which can be quickly and easily fixed on-the-spot, such as:</a:t>
            </a:r>
          </a:p>
          <a:p>
            <a:pPr marL="628650" lvl="1" indent="-171450">
              <a:buFont typeface="Arial" pitchFamily="34" charset="0"/>
              <a:buChar char="•"/>
            </a:pPr>
            <a:r>
              <a:rPr lang="en-US" sz="1200" kern="1200" dirty="0" smtClean="0">
                <a:solidFill>
                  <a:schemeClr val="tx1"/>
                </a:solidFill>
                <a:latin typeface="+mn-lt"/>
                <a:ea typeface="+mn-ea"/>
                <a:cs typeface="+mn-cs"/>
              </a:rPr>
              <a:t>Clearing blockages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Tightening screws, nuts, bolts and fittings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Checking the condition/appearance of critical components of the vehicle (which may involve physical touching, moving, squeezing and removing of parts) such as:</a:t>
            </a:r>
          </a:p>
          <a:p>
            <a:pPr marL="628650" lvl="1" indent="-171450">
              <a:buFont typeface="Arial" pitchFamily="34" charset="0"/>
              <a:buChar char="•"/>
            </a:pPr>
            <a:r>
              <a:rPr lang="en-AU" sz="1200" kern="1200" dirty="0" smtClean="0">
                <a:solidFill>
                  <a:schemeClr val="tx1"/>
                </a:solidFill>
                <a:latin typeface="+mn-lt"/>
                <a:ea typeface="+mn-ea"/>
                <a:cs typeface="+mn-cs"/>
              </a:rPr>
              <a:t>Radiator hoses</a:t>
            </a:r>
          </a:p>
          <a:p>
            <a:pPr marL="628650" lvl="1" indent="-171450">
              <a:buFont typeface="Arial" pitchFamily="34" charset="0"/>
              <a:buChar char="•"/>
            </a:pPr>
            <a:r>
              <a:rPr lang="en-AU" sz="1200" kern="1200" dirty="0" smtClean="0">
                <a:solidFill>
                  <a:schemeClr val="tx1"/>
                </a:solidFill>
                <a:latin typeface="+mn-lt"/>
                <a:ea typeface="+mn-ea"/>
                <a:cs typeface="+mn-cs"/>
              </a:rPr>
              <a:t>Timing belts</a:t>
            </a:r>
          </a:p>
          <a:p>
            <a:pPr marL="628650" lvl="1" indent="-171450">
              <a:buFont typeface="Arial" pitchFamily="34" charset="0"/>
              <a:buChar char="•"/>
            </a:pPr>
            <a:r>
              <a:rPr lang="en-AU" sz="1200" kern="1200" dirty="0" smtClean="0">
                <a:solidFill>
                  <a:schemeClr val="tx1"/>
                </a:solidFill>
                <a:latin typeface="+mn-lt"/>
                <a:ea typeface="+mn-ea"/>
                <a:cs typeface="+mn-cs"/>
              </a:rPr>
              <a:t>Fan belts</a:t>
            </a:r>
          </a:p>
          <a:p>
            <a:pPr marL="628650" lvl="1" indent="-171450">
              <a:buFont typeface="Arial" pitchFamily="34" charset="0"/>
              <a:buChar char="•"/>
            </a:pPr>
            <a:r>
              <a:rPr lang="en-AU" sz="1200" kern="1200" dirty="0" smtClean="0">
                <a:solidFill>
                  <a:schemeClr val="tx1"/>
                </a:solidFill>
                <a:latin typeface="+mn-lt"/>
                <a:ea typeface="+mn-ea"/>
                <a:cs typeface="+mn-cs"/>
              </a:rPr>
              <a:t>Tyres including all spares</a:t>
            </a:r>
          </a:p>
          <a:p>
            <a:pPr marL="628650" lvl="1" indent="-171450">
              <a:buFont typeface="Arial" pitchFamily="34" charset="0"/>
              <a:buChar char="•"/>
            </a:pPr>
            <a:r>
              <a:rPr lang="en-AU" sz="1200" kern="1200" dirty="0" smtClean="0">
                <a:solidFill>
                  <a:schemeClr val="tx1"/>
                </a:solidFill>
                <a:latin typeface="+mn-lt"/>
                <a:ea typeface="+mn-ea"/>
                <a:cs typeface="+mn-cs"/>
              </a:rPr>
              <a:t>Oil, air and fuel filters</a:t>
            </a:r>
          </a:p>
          <a:p>
            <a:pPr marL="628650" lvl="1" indent="-171450">
              <a:buFont typeface="Arial" pitchFamily="34" charset="0"/>
              <a:buChar char="•"/>
            </a:pPr>
            <a:r>
              <a:rPr lang="en-AU" sz="1200" kern="1200" dirty="0" smtClean="0">
                <a:solidFill>
                  <a:schemeClr val="tx1"/>
                </a:solidFill>
                <a:latin typeface="+mn-lt"/>
                <a:ea typeface="+mn-ea"/>
                <a:cs typeface="+mn-cs"/>
              </a:rPr>
              <a:t>Battery/batteries, battery leads, posts, connections, brackets and mountings </a:t>
            </a:r>
          </a:p>
          <a:p>
            <a:pPr marL="171450" indent="-171450">
              <a:buFont typeface="Arial" pitchFamily="34" charset="0"/>
              <a:buChar char="•"/>
            </a:pPr>
            <a:r>
              <a:rPr lang="en-AU" sz="1200" kern="1200" dirty="0" smtClean="0">
                <a:solidFill>
                  <a:schemeClr val="tx1"/>
                </a:solidFill>
                <a:latin typeface="+mn-lt"/>
                <a:ea typeface="+mn-ea"/>
                <a:cs typeface="+mn-cs"/>
              </a:rPr>
              <a:t>Checking fluid levels – of:</a:t>
            </a:r>
          </a:p>
          <a:p>
            <a:pPr marL="628650" lvl="1" indent="-171450">
              <a:buFont typeface="Arial" pitchFamily="34" charset="0"/>
              <a:buChar char="•"/>
            </a:pPr>
            <a:r>
              <a:rPr lang="en-AU" sz="1200" kern="1200" dirty="0" smtClean="0">
                <a:solidFill>
                  <a:schemeClr val="tx1"/>
                </a:solidFill>
                <a:latin typeface="+mn-lt"/>
                <a:ea typeface="+mn-ea"/>
                <a:cs typeface="+mn-cs"/>
              </a:rPr>
              <a:t>Water – radiator and battery/ies </a:t>
            </a:r>
          </a:p>
          <a:p>
            <a:pPr marL="628650" lvl="1" indent="-171450">
              <a:buFont typeface="Arial" pitchFamily="34" charset="0"/>
              <a:buChar char="•"/>
            </a:pPr>
            <a:r>
              <a:rPr lang="en-AU" sz="1200" kern="1200" dirty="0" smtClean="0">
                <a:solidFill>
                  <a:schemeClr val="tx1"/>
                </a:solidFill>
                <a:latin typeface="+mn-lt"/>
                <a:ea typeface="+mn-ea"/>
                <a:cs typeface="+mn-cs"/>
              </a:rPr>
              <a:t>Engine oil</a:t>
            </a:r>
          </a:p>
          <a:p>
            <a:pPr marL="628650" lvl="1" indent="-171450">
              <a:buFont typeface="Arial" pitchFamily="34" charset="0"/>
              <a:buChar char="•"/>
            </a:pPr>
            <a:r>
              <a:rPr lang="en-AU" sz="1200" kern="1200" dirty="0" smtClean="0">
                <a:solidFill>
                  <a:schemeClr val="tx1"/>
                </a:solidFill>
                <a:latin typeface="+mn-lt"/>
                <a:ea typeface="+mn-ea"/>
                <a:cs typeface="+mn-cs"/>
              </a:rPr>
              <a:t>Transmission fluid</a:t>
            </a:r>
          </a:p>
          <a:p>
            <a:pPr marL="628650" lvl="1" indent="-171450">
              <a:buFont typeface="Arial" pitchFamily="34" charset="0"/>
              <a:buChar char="•"/>
            </a:pPr>
            <a:r>
              <a:rPr lang="en-AU" sz="1200" kern="1200" dirty="0" smtClean="0">
                <a:solidFill>
                  <a:schemeClr val="tx1"/>
                </a:solidFill>
                <a:latin typeface="+mn-lt"/>
                <a:ea typeface="+mn-ea"/>
                <a:cs typeface="+mn-cs"/>
              </a:rPr>
              <a:t>Brake fluid</a:t>
            </a:r>
          </a:p>
          <a:p>
            <a:pPr marL="628650" lvl="1" indent="-171450">
              <a:buFont typeface="Arial" pitchFamily="34" charset="0"/>
              <a:buChar char="•"/>
            </a:pPr>
            <a:r>
              <a:rPr lang="en-AU" sz="1200" kern="1200" dirty="0" smtClean="0">
                <a:solidFill>
                  <a:schemeClr val="tx1"/>
                </a:solidFill>
                <a:latin typeface="+mn-lt"/>
                <a:ea typeface="+mn-ea"/>
                <a:cs typeface="+mn-cs"/>
              </a:rPr>
              <a:t>Power steering fluid.</a:t>
            </a:r>
          </a:p>
          <a:p>
            <a:pPr>
              <a:buFont typeface="Arial" pitchFamily="34" charset="0"/>
              <a:buNone/>
            </a:pPr>
            <a:endParaRPr lang="en-US" noProof="0" dirty="0" smtClean="0"/>
          </a:p>
          <a:p>
            <a:pPr>
              <a:buFont typeface="Arial" pitchFamily="34" charset="0"/>
              <a:buNone/>
            </a:pPr>
            <a:r>
              <a:rPr lang="en-AU" sz="1200" b="1" kern="1200" dirty="0" smtClean="0">
                <a:solidFill>
                  <a:schemeClr val="tx1"/>
                </a:solidFill>
                <a:latin typeface="+mn-lt"/>
                <a:ea typeface="+mn-ea"/>
                <a:cs typeface="+mn-cs"/>
              </a:rPr>
              <a:t>Classroom Activity – Demonstration and Practical </a:t>
            </a:r>
          </a:p>
          <a:p>
            <a:pPr>
              <a:buFont typeface="Arial" pitchFamily="34" charset="0"/>
              <a:buNone/>
            </a:pPr>
            <a:r>
              <a:rPr lang="en-AU" sz="1200" b="0" kern="1200" dirty="0" smtClean="0">
                <a:solidFill>
                  <a:schemeClr val="tx1"/>
                </a:solidFill>
                <a:latin typeface="+mn-lt"/>
                <a:ea typeface="+mn-ea"/>
                <a:cs typeface="+mn-cs"/>
              </a:rPr>
              <a:t>Trainer demonstrates and explains the vehicle inspection activities shown on the slide and provides opportunity for students to do the same.</a:t>
            </a:r>
          </a:p>
          <a:p>
            <a:pPr>
              <a:buFont typeface="Arial" pitchFamily="34" charset="0"/>
              <a:buNone/>
            </a:pPr>
            <a:endParaRPr lang="en-AU"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70695485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basic tests to conduct:</a:t>
            </a:r>
          </a:p>
          <a:p>
            <a:pPr marL="171450" indent="-171450">
              <a:buFont typeface="Arial" pitchFamily="34" charset="0"/>
              <a:buChar char="•"/>
            </a:pPr>
            <a:r>
              <a:rPr lang="en-AU" sz="1200" kern="1200" dirty="0" smtClean="0">
                <a:solidFill>
                  <a:schemeClr val="tx1"/>
                </a:solidFill>
                <a:latin typeface="+mn-lt"/>
                <a:ea typeface="+mn-ea"/>
                <a:cs typeface="+mn-cs"/>
              </a:rPr>
              <a:t>Lights – in terms of:</a:t>
            </a:r>
          </a:p>
          <a:p>
            <a:pPr marL="628650" lvl="1" indent="-171450">
              <a:buFont typeface="Arial" pitchFamily="34" charset="0"/>
              <a:buChar char="•"/>
            </a:pPr>
            <a:r>
              <a:rPr lang="en-AU" sz="1200" kern="1200" dirty="0" smtClean="0">
                <a:solidFill>
                  <a:schemeClr val="tx1"/>
                </a:solidFill>
                <a:latin typeface="+mn-lt"/>
                <a:ea typeface="+mn-ea"/>
                <a:cs typeface="+mn-cs"/>
              </a:rPr>
              <a:t>Right and left indicator lights – front and rear (including trailers)l Headlights – left and right, low beam and high beam; Driving lights and fog lights – on and off; driving lights turn off when low beam selected; Parking lights – front and rear; Tail lights; Reversing lights; Brake lights; Number plate light – front and rear; Side marker lights; Hazard warning lights; Reflectors; Internal vehicle/cabin lights; Instrument lights and signals</a:t>
            </a:r>
          </a:p>
          <a:p>
            <a:pPr marL="1085850" lvl="2" indent="-171450">
              <a:buFont typeface="Arial" pitchFamily="34" charset="0"/>
              <a:buChar char="•"/>
            </a:pPr>
            <a:r>
              <a:rPr lang="en-AU" sz="1200" kern="1200" dirty="0" smtClean="0">
                <a:solidFill>
                  <a:schemeClr val="tx1"/>
                </a:solidFill>
                <a:latin typeface="+mn-lt"/>
                <a:ea typeface="+mn-ea"/>
                <a:cs typeface="+mn-cs"/>
              </a:rPr>
              <a:t>Lights should be:</a:t>
            </a:r>
          </a:p>
          <a:p>
            <a:pPr marL="1543050" lvl="3" indent="-171450">
              <a:buFont typeface="Arial" pitchFamily="34" charset="0"/>
              <a:buChar char="•"/>
            </a:pPr>
            <a:r>
              <a:rPr lang="en-AU" sz="1200" kern="1200" dirty="0" smtClean="0">
                <a:solidFill>
                  <a:schemeClr val="tx1"/>
                </a:solidFill>
                <a:latin typeface="+mn-lt"/>
                <a:ea typeface="+mn-ea"/>
                <a:cs typeface="+mn-cs"/>
              </a:rPr>
              <a:t>Clean and clear; Without cracks or damage; Correct colour; Firmly and correctly fitted  </a:t>
            </a:r>
          </a:p>
          <a:p>
            <a:pPr marL="171450" indent="-171450">
              <a:buFont typeface="Arial" pitchFamily="34" charset="0"/>
              <a:buChar char="•"/>
            </a:pPr>
            <a:r>
              <a:rPr lang="en-AU" sz="1200" kern="1200" dirty="0" smtClean="0">
                <a:solidFill>
                  <a:schemeClr val="tx1"/>
                </a:solidFill>
                <a:latin typeface="+mn-lt"/>
                <a:ea typeface="+mn-ea"/>
                <a:cs typeface="+mn-cs"/>
              </a:rPr>
              <a:t>Condition of vehicle pedals – for example:</a:t>
            </a:r>
          </a:p>
          <a:p>
            <a:pPr marL="628650" lvl="1" indent="-171450">
              <a:buFont typeface="Arial" pitchFamily="34" charset="0"/>
              <a:buChar char="•"/>
            </a:pPr>
            <a:r>
              <a:rPr lang="en-AU" sz="1200" kern="1200" dirty="0" smtClean="0">
                <a:solidFill>
                  <a:schemeClr val="tx1"/>
                </a:solidFill>
                <a:latin typeface="+mn-lt"/>
                <a:ea typeface="+mn-ea"/>
                <a:cs typeface="+mn-cs"/>
              </a:rPr>
              <a:t>Checking engagement point of brake and clutch pedals</a:t>
            </a:r>
          </a:p>
          <a:p>
            <a:pPr marL="628650" lvl="1" indent="-171450">
              <a:buFont typeface="Arial" pitchFamily="34" charset="0"/>
              <a:buChar char="•"/>
            </a:pPr>
            <a:r>
              <a:rPr lang="en-AU" sz="1200" kern="1200" dirty="0" smtClean="0">
                <a:solidFill>
                  <a:schemeClr val="tx1"/>
                </a:solidFill>
                <a:latin typeface="+mn-lt"/>
                <a:ea typeface="+mn-ea"/>
                <a:cs typeface="+mn-cs"/>
              </a:rPr>
              <a:t>Confirming travel of pedals and freedom from blockages/interference</a:t>
            </a:r>
          </a:p>
          <a:p>
            <a:pPr marL="628650" lvl="1" indent="-171450">
              <a:buFont typeface="Arial" pitchFamily="34" charset="0"/>
              <a:buChar char="•"/>
            </a:pPr>
            <a:r>
              <a:rPr lang="en-AU" sz="1200" kern="1200" dirty="0" smtClean="0">
                <a:solidFill>
                  <a:schemeClr val="tx1"/>
                </a:solidFill>
                <a:latin typeface="+mn-lt"/>
                <a:ea typeface="+mn-ea"/>
                <a:cs typeface="+mn-cs"/>
              </a:rPr>
              <a:t>Activating knobs and switches and confirming they function as required</a:t>
            </a:r>
          </a:p>
          <a:p>
            <a:pPr marL="171450" indent="-171450">
              <a:buFont typeface="Arial" pitchFamily="34" charset="0"/>
              <a:buChar char="•"/>
            </a:pPr>
            <a:r>
              <a:rPr lang="en-AU" sz="1200" kern="1200" dirty="0" smtClean="0">
                <a:solidFill>
                  <a:schemeClr val="tx1"/>
                </a:solidFill>
                <a:latin typeface="+mn-lt"/>
                <a:ea typeface="+mn-ea"/>
                <a:cs typeface="+mn-cs"/>
              </a:rPr>
              <a:t>Operation of parking brake (also known as the ‘hand brake’) – to confirm:</a:t>
            </a:r>
          </a:p>
          <a:p>
            <a:pPr marL="628650" lvl="1" indent="-171450">
              <a:buFont typeface="Arial" pitchFamily="34" charset="0"/>
              <a:buChar char="•"/>
            </a:pPr>
            <a:r>
              <a:rPr lang="en-AU" sz="1200" kern="1200" dirty="0" smtClean="0">
                <a:solidFill>
                  <a:schemeClr val="tx1"/>
                </a:solidFill>
                <a:latin typeface="+mn-lt"/>
                <a:ea typeface="+mn-ea"/>
                <a:cs typeface="+mn-cs"/>
              </a:rPr>
              <a:t> Hand brake can be pulled on and will hold the vehicle on a nominated gradient (say, 12% gradient)</a:t>
            </a:r>
          </a:p>
          <a:p>
            <a:pPr marL="628650" lvl="1" indent="-171450">
              <a:buFont typeface="Arial" pitchFamily="34" charset="0"/>
              <a:buChar char="•"/>
            </a:pPr>
            <a:r>
              <a:rPr lang="en-AU" sz="1200" kern="1200" dirty="0" smtClean="0">
                <a:solidFill>
                  <a:schemeClr val="tx1"/>
                </a:solidFill>
                <a:latin typeface="+mn-lt"/>
                <a:ea typeface="+mn-ea"/>
                <a:cs typeface="+mn-cs"/>
              </a:rPr>
              <a:t>Hand brake can be easily and comfortably released to the full ‘off’ position.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94809392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describes how to change light globe in vehicle:</a:t>
            </a:r>
          </a:p>
          <a:p>
            <a:pPr marL="171450" indent="-171450">
              <a:buFont typeface="Arial" pitchFamily="34" charset="0"/>
              <a:buChar char="•"/>
            </a:pPr>
            <a:r>
              <a:rPr lang="en-AU" sz="1200" kern="1200" dirty="0" smtClean="0">
                <a:solidFill>
                  <a:schemeClr val="tx1"/>
                </a:solidFill>
                <a:latin typeface="+mn-lt"/>
                <a:ea typeface="+mn-ea"/>
                <a:cs typeface="+mn-cs"/>
              </a:rPr>
              <a:t>Identify the light to be replaced</a:t>
            </a:r>
          </a:p>
          <a:p>
            <a:pPr marL="171450" indent="-171450">
              <a:buFont typeface="Arial" pitchFamily="34" charset="0"/>
              <a:buChar char="•"/>
            </a:pPr>
            <a:r>
              <a:rPr lang="en-AU" sz="1200" kern="1200" dirty="0" smtClean="0">
                <a:solidFill>
                  <a:schemeClr val="tx1"/>
                </a:solidFill>
                <a:latin typeface="+mn-lt"/>
                <a:ea typeface="+mn-ea"/>
                <a:cs typeface="+mn-cs"/>
              </a:rPr>
              <a:t>Obtain correct globe for the job – sealed units will require the entire headlamp to be replaced; semi-sealed units only require the light globe</a:t>
            </a:r>
          </a:p>
          <a:p>
            <a:pPr marL="171450" indent="-171450">
              <a:buFont typeface="Arial" pitchFamily="34" charset="0"/>
              <a:buChar char="•"/>
            </a:pPr>
            <a:r>
              <a:rPr lang="en-AU" sz="1200" kern="1200" dirty="0" smtClean="0">
                <a:solidFill>
                  <a:schemeClr val="tx1"/>
                </a:solidFill>
                <a:latin typeface="+mn-lt"/>
                <a:ea typeface="+mn-ea"/>
                <a:cs typeface="+mn-cs"/>
              </a:rPr>
              <a:t>Remove the light cover/dust cover</a:t>
            </a:r>
          </a:p>
          <a:p>
            <a:pPr marL="171450" indent="-171450">
              <a:buFont typeface="Arial" pitchFamily="34" charset="0"/>
              <a:buChar char="•"/>
            </a:pPr>
            <a:r>
              <a:rPr lang="en-AU" sz="1200" kern="1200" dirty="0" smtClean="0">
                <a:solidFill>
                  <a:schemeClr val="tx1"/>
                </a:solidFill>
                <a:latin typeface="+mn-lt"/>
                <a:ea typeface="+mn-ea"/>
                <a:cs typeface="+mn-cs"/>
              </a:rPr>
              <a:t>Unplug electrical connector</a:t>
            </a:r>
          </a:p>
          <a:p>
            <a:pPr marL="171450" indent="-171450">
              <a:buFont typeface="Arial" pitchFamily="34" charset="0"/>
              <a:buChar char="•"/>
            </a:pPr>
            <a:r>
              <a:rPr lang="en-AU" sz="1200" kern="1200" dirty="0" smtClean="0">
                <a:solidFill>
                  <a:schemeClr val="tx1"/>
                </a:solidFill>
                <a:latin typeface="+mn-lt"/>
                <a:ea typeface="+mn-ea"/>
                <a:cs typeface="+mn-cs"/>
              </a:rPr>
              <a:t>In some cases there is a need to remove the entire light assembly to replace a light globe.</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http://www.supercheapauto.com.au/how-to/Outside-the-Car/Checking-and-Changing-an-Automotive-Light-Globe.aspx?id=79</a:t>
            </a:r>
            <a:r>
              <a:rPr lang="en-AU" sz="1200" kern="1200" dirty="0" smtClean="0">
                <a:solidFill>
                  <a:schemeClr val="tx1"/>
                </a:solidFill>
                <a:latin typeface="+mn-lt"/>
                <a:ea typeface="+mn-ea"/>
                <a:cs typeface="+mn-cs"/>
              </a:rPr>
              <a:t> – Checking and changing an automotive light globe</a:t>
            </a:r>
          </a:p>
          <a:p>
            <a:r>
              <a:rPr lang="en-AU" sz="1200" u="sng" kern="1200" dirty="0" smtClean="0">
                <a:solidFill>
                  <a:schemeClr val="tx1"/>
                </a:solidFill>
                <a:latin typeface="+mn-lt"/>
                <a:ea typeface="+mn-ea"/>
                <a:cs typeface="+mn-cs"/>
                <a:hlinkClick r:id="rId4"/>
              </a:rPr>
              <a:t>https://www.youtube.com/watch?v=6hURsa46t4M</a:t>
            </a:r>
            <a:r>
              <a:rPr lang="en-AU" sz="1200" kern="1200" dirty="0" smtClean="0">
                <a:solidFill>
                  <a:schemeClr val="tx1"/>
                </a:solidFill>
                <a:latin typeface="+mn-lt"/>
                <a:ea typeface="+mn-ea"/>
                <a:cs typeface="+mn-cs"/>
              </a:rPr>
              <a:t> – How to change a headlight bulb </a:t>
            </a:r>
          </a:p>
          <a:p>
            <a:r>
              <a:rPr lang="en-AU" sz="1200" u="sng" kern="1200" dirty="0" smtClean="0">
                <a:solidFill>
                  <a:schemeClr val="tx1"/>
                </a:solidFill>
                <a:latin typeface="+mn-lt"/>
                <a:ea typeface="+mn-ea"/>
                <a:cs typeface="+mn-cs"/>
                <a:hlinkClick r:id="rId5"/>
              </a:rPr>
              <a:t>https://www.youtube.com/watch?v=jk1kFc56dwk</a:t>
            </a:r>
            <a:r>
              <a:rPr lang="en-AU" sz="1200" kern="1200" dirty="0" smtClean="0">
                <a:solidFill>
                  <a:schemeClr val="tx1"/>
                </a:solidFill>
                <a:latin typeface="+mn-lt"/>
                <a:ea typeface="+mn-ea"/>
                <a:cs typeface="+mn-cs"/>
              </a:rPr>
              <a:t> – How to replace headlight bulbs</a:t>
            </a:r>
          </a:p>
          <a:p>
            <a:r>
              <a:rPr lang="en-AU" sz="1200" u="sng" kern="1200" dirty="0" smtClean="0">
                <a:solidFill>
                  <a:schemeClr val="tx1"/>
                </a:solidFill>
                <a:latin typeface="+mn-lt"/>
                <a:ea typeface="+mn-ea"/>
                <a:cs typeface="+mn-cs"/>
                <a:hlinkClick r:id="rId6"/>
              </a:rPr>
              <a:t>https://www.youtube.com/watch?v=cB99QN1AYBU</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How to install replace front lower side reflector</a:t>
            </a:r>
          </a:p>
          <a:p>
            <a:r>
              <a:rPr lang="en-AU" sz="1200" u="sng" kern="1200" dirty="0" smtClean="0">
                <a:solidFill>
                  <a:schemeClr val="tx1"/>
                </a:solidFill>
                <a:latin typeface="+mn-lt"/>
                <a:ea typeface="+mn-ea"/>
                <a:cs typeface="+mn-cs"/>
                <a:hlinkClick r:id="rId7"/>
              </a:rPr>
              <a:t>https://www.youtube.com/watch?v=mgGWFqPe0Ms</a:t>
            </a:r>
            <a:r>
              <a:rPr lang="en-AU" sz="1200" kern="1200" dirty="0" smtClean="0">
                <a:solidFill>
                  <a:schemeClr val="tx1"/>
                </a:solidFill>
                <a:latin typeface="+mn-lt"/>
                <a:ea typeface="+mn-ea"/>
                <a:cs typeface="+mn-cs"/>
              </a:rPr>
              <a:t> – Headlight bulb replacement service: 2005 Honda CRV</a:t>
            </a:r>
            <a:r>
              <a:rPr lang="en-AU" sz="1200" u="sng"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8"/>
              </a:rPr>
              <a:t>https://www.youtube.com/watch?v=5F31wzh60zo</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How to replace taillight</a:t>
            </a:r>
          </a:p>
          <a:p>
            <a:r>
              <a:rPr lang="en-AU" sz="1200" u="sng" kern="1200" dirty="0" smtClean="0">
                <a:solidFill>
                  <a:schemeClr val="tx1"/>
                </a:solidFill>
                <a:latin typeface="+mn-lt"/>
                <a:ea typeface="+mn-ea"/>
                <a:cs typeface="+mn-cs"/>
                <a:hlinkClick r:id="rId9"/>
              </a:rPr>
              <a:t>https://www.youtube.com/watch?v=9POigqpLxQc</a:t>
            </a:r>
            <a:r>
              <a:rPr lang="en-AU" sz="1200" kern="1200" dirty="0" smtClean="0">
                <a:solidFill>
                  <a:schemeClr val="tx1"/>
                </a:solidFill>
                <a:latin typeface="+mn-lt"/>
                <a:ea typeface="+mn-ea"/>
                <a:cs typeface="+mn-cs"/>
              </a:rPr>
              <a:t> – How to replace fog light and bulb.</a:t>
            </a:r>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32244668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describe how to change light globe in vehicle:</a:t>
            </a:r>
          </a:p>
          <a:p>
            <a:pPr marL="171450" indent="-171450">
              <a:buFont typeface="Arial" pitchFamily="34" charset="0"/>
              <a:buChar char="•"/>
            </a:pPr>
            <a:r>
              <a:rPr lang="en-AU" sz="1200" kern="1200" dirty="0" smtClean="0">
                <a:solidFill>
                  <a:schemeClr val="tx1"/>
                </a:solidFill>
                <a:latin typeface="+mn-lt"/>
                <a:ea typeface="+mn-ea"/>
                <a:cs typeface="+mn-cs"/>
              </a:rPr>
              <a:t>Disconnect whatever mechanism is used to keep the old globe in place</a:t>
            </a:r>
          </a:p>
          <a:p>
            <a:pPr marL="171450" indent="-171450">
              <a:buFont typeface="Arial" pitchFamily="34" charset="0"/>
              <a:buChar char="•"/>
            </a:pPr>
            <a:r>
              <a:rPr lang="en-AU" sz="1200" kern="1200" dirty="0" smtClean="0">
                <a:solidFill>
                  <a:schemeClr val="tx1"/>
                </a:solidFill>
                <a:latin typeface="+mn-lt"/>
                <a:ea typeface="+mn-ea"/>
                <a:cs typeface="+mn-cs"/>
              </a:rPr>
              <a:t>Remove the old globe noting how it sits – bayonet globes are removed by rotating them anti-clockwise</a:t>
            </a:r>
          </a:p>
          <a:p>
            <a:pPr marL="171450" indent="-171450">
              <a:buFont typeface="Arial" pitchFamily="34" charset="0"/>
              <a:buChar char="•"/>
            </a:pPr>
            <a:r>
              <a:rPr lang="en-AU" sz="1200" kern="1200" dirty="0" smtClean="0">
                <a:solidFill>
                  <a:schemeClr val="tx1"/>
                </a:solidFill>
                <a:latin typeface="+mn-lt"/>
                <a:ea typeface="+mn-ea"/>
                <a:cs typeface="+mn-cs"/>
              </a:rPr>
              <a:t>Put the new globe in position taking care not to touch the glass part of the globe with the fingers</a:t>
            </a:r>
          </a:p>
          <a:p>
            <a:pPr marL="171450" indent="-171450">
              <a:buFont typeface="Arial" pitchFamily="34" charset="0"/>
              <a:buChar char="•"/>
            </a:pPr>
            <a:r>
              <a:rPr lang="en-AU" sz="1200" kern="1200" dirty="0" smtClean="0">
                <a:solidFill>
                  <a:schemeClr val="tx1"/>
                </a:solidFill>
                <a:latin typeface="+mn-lt"/>
                <a:ea typeface="+mn-ea"/>
                <a:cs typeface="+mn-cs"/>
              </a:rPr>
              <a:t>Re-attach the mechanism, electrical connection and cover</a:t>
            </a:r>
          </a:p>
          <a:p>
            <a:pPr marL="171450" indent="-171450">
              <a:buFont typeface="Arial" pitchFamily="34" charset="0"/>
              <a:buChar char="•"/>
            </a:pPr>
            <a:r>
              <a:rPr lang="en-AU" sz="1200" kern="1200" dirty="0" smtClean="0">
                <a:solidFill>
                  <a:schemeClr val="tx1"/>
                </a:solidFill>
                <a:latin typeface="+mn-lt"/>
                <a:ea typeface="+mn-ea"/>
                <a:cs typeface="+mn-cs"/>
              </a:rPr>
              <a:t>Test the light to make sure it is working.</a:t>
            </a:r>
          </a:p>
          <a:p>
            <a:endParaRPr lang="en-AU"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change a variety of vehicle globes </a:t>
            </a:r>
            <a:r>
              <a:rPr lang="en-US" b="0" baseline="0" noProof="0" dirty="0" smtClean="0"/>
              <a:t>and provides an opportunity for them to do the same</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139674247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describes how to change fan belt in vehicle:</a:t>
            </a:r>
          </a:p>
          <a:p>
            <a:pPr marL="171450" indent="-171450">
              <a:buFont typeface="Arial" pitchFamily="34" charset="0"/>
              <a:buChar char="•"/>
            </a:pPr>
            <a:r>
              <a:rPr lang="en-AU" sz="1200" kern="1200" dirty="0" smtClean="0">
                <a:solidFill>
                  <a:schemeClr val="tx1"/>
                </a:solidFill>
                <a:latin typeface="+mn-lt"/>
                <a:ea typeface="+mn-ea"/>
                <a:cs typeface="+mn-cs"/>
              </a:rPr>
              <a:t>Release tension on old belt at bolt on tensioner rail</a:t>
            </a:r>
          </a:p>
          <a:p>
            <a:pPr marL="171450" indent="-171450">
              <a:buFont typeface="Arial" pitchFamily="34" charset="0"/>
              <a:buChar char="•"/>
            </a:pPr>
            <a:r>
              <a:rPr lang="en-AU" sz="1200" kern="1200" dirty="0" smtClean="0">
                <a:solidFill>
                  <a:schemeClr val="tx1"/>
                </a:solidFill>
                <a:latin typeface="+mn-lt"/>
                <a:ea typeface="+mn-ea"/>
                <a:cs typeface="+mn-cs"/>
              </a:rPr>
              <a:t>Move alternator to allow free play in old belt</a:t>
            </a:r>
          </a:p>
          <a:p>
            <a:pPr marL="171450" indent="-171450">
              <a:buFont typeface="Arial" pitchFamily="34" charset="0"/>
              <a:buChar char="•"/>
            </a:pPr>
            <a:r>
              <a:rPr lang="en-AU" sz="1200" kern="1200" dirty="0" smtClean="0">
                <a:solidFill>
                  <a:schemeClr val="tx1"/>
                </a:solidFill>
                <a:latin typeface="+mn-lt"/>
                <a:ea typeface="+mn-ea"/>
                <a:cs typeface="+mn-cs"/>
              </a:rPr>
              <a:t>Remove old belt.</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https://www.youtube.com/watch?v=4hnOUs9eiN4</a:t>
            </a:r>
            <a:r>
              <a:rPr lang="en-AU" sz="1200" kern="1200" dirty="0" smtClean="0">
                <a:solidFill>
                  <a:schemeClr val="tx1"/>
                </a:solidFill>
                <a:latin typeface="+mn-lt"/>
                <a:ea typeface="+mn-ea"/>
                <a:cs typeface="+mn-cs"/>
              </a:rPr>
              <a:t> – Change a fan belt</a:t>
            </a:r>
          </a:p>
          <a:p>
            <a:r>
              <a:rPr lang="en-AU" sz="1200" u="sng" kern="1200" dirty="0" smtClean="0">
                <a:solidFill>
                  <a:schemeClr val="tx1"/>
                </a:solidFill>
                <a:latin typeface="+mn-lt"/>
                <a:ea typeface="+mn-ea"/>
                <a:cs typeface="+mn-cs"/>
                <a:hlinkClick r:id="rId4"/>
              </a:rPr>
              <a:t>http://www.supercheapauto.com.au/how-to/Servicing-Mechanical/Replacing-a-Drive-Belt.aspx?id=76</a:t>
            </a:r>
            <a:r>
              <a:rPr lang="en-AU" sz="1200" kern="1200" dirty="0" smtClean="0">
                <a:solidFill>
                  <a:schemeClr val="tx1"/>
                </a:solidFill>
                <a:latin typeface="+mn-lt"/>
                <a:ea typeface="+mn-ea"/>
                <a:cs typeface="+mn-cs"/>
              </a:rPr>
              <a:t> – Replacing a drive belt</a:t>
            </a:r>
          </a:p>
          <a:p>
            <a:r>
              <a:rPr lang="en-AU" sz="1200" u="sng" kern="1200" dirty="0" smtClean="0">
                <a:solidFill>
                  <a:schemeClr val="tx1"/>
                </a:solidFill>
                <a:latin typeface="+mn-lt"/>
                <a:ea typeface="+mn-ea"/>
                <a:cs typeface="+mn-cs"/>
                <a:hlinkClick r:id="rId5"/>
              </a:rPr>
              <a:t>https://www.youtube.com/watch?v=Wg1AX77xEBQ</a:t>
            </a:r>
            <a:r>
              <a:rPr lang="en-AU" sz="1200" kern="1200" dirty="0" smtClean="0">
                <a:solidFill>
                  <a:schemeClr val="tx1"/>
                </a:solidFill>
                <a:latin typeface="+mn-lt"/>
                <a:ea typeface="+mn-ea"/>
                <a:cs typeface="+mn-cs"/>
              </a:rPr>
              <a:t> – How to replace a serpentine belt</a:t>
            </a:r>
          </a:p>
          <a:p>
            <a:r>
              <a:rPr lang="en-AU" sz="1200" u="sng" kern="1200" dirty="0" smtClean="0">
                <a:solidFill>
                  <a:schemeClr val="tx1"/>
                </a:solidFill>
                <a:latin typeface="+mn-lt"/>
                <a:ea typeface="+mn-ea"/>
                <a:cs typeface="+mn-cs"/>
                <a:hlinkClick r:id="rId6"/>
              </a:rPr>
              <a:t>https://www.youtube.com/watch?v=01J3Fp9_bMA</a:t>
            </a:r>
            <a:r>
              <a:rPr lang="en-AU" sz="1200" kern="1200" dirty="0" smtClean="0">
                <a:solidFill>
                  <a:schemeClr val="tx1"/>
                </a:solidFill>
                <a:latin typeface="+mn-lt"/>
                <a:ea typeface="+mn-ea"/>
                <a:cs typeface="+mn-cs"/>
              </a:rPr>
              <a:t> – How to replace a serpentine belt: Toyota Corolla</a:t>
            </a:r>
          </a:p>
          <a:p>
            <a:r>
              <a:rPr lang="en-AU" sz="1200" u="sng" kern="1200" dirty="0" smtClean="0">
                <a:solidFill>
                  <a:schemeClr val="tx1"/>
                </a:solidFill>
                <a:latin typeface="+mn-lt"/>
                <a:ea typeface="+mn-ea"/>
                <a:cs typeface="+mn-cs"/>
                <a:hlinkClick r:id="rId7"/>
              </a:rPr>
              <a:t>https://www.youtube.com/watch?v=XD0LNkFYPGQ</a:t>
            </a:r>
            <a:r>
              <a:rPr lang="en-AU" sz="1200" kern="1200" dirty="0" smtClean="0">
                <a:solidFill>
                  <a:schemeClr val="tx1"/>
                </a:solidFill>
                <a:latin typeface="+mn-lt"/>
                <a:ea typeface="+mn-ea"/>
                <a:cs typeface="+mn-cs"/>
              </a:rPr>
              <a:t> – Toyota timing belt</a:t>
            </a:r>
          </a:p>
          <a:p>
            <a:r>
              <a:rPr lang="en-AU" sz="1200" u="sng" kern="1200" dirty="0" smtClean="0">
                <a:solidFill>
                  <a:schemeClr val="tx1"/>
                </a:solidFill>
                <a:latin typeface="+mn-lt"/>
                <a:ea typeface="+mn-ea"/>
                <a:cs typeface="+mn-cs"/>
                <a:hlinkClick r:id="rId8"/>
              </a:rPr>
              <a:t>http://www.wikihow.com/Change-an-Automotive-Belt</a:t>
            </a:r>
            <a:r>
              <a:rPr lang="en-AU" sz="1200" kern="1200" dirty="0" smtClean="0">
                <a:solidFill>
                  <a:schemeClr val="tx1"/>
                </a:solidFill>
                <a:latin typeface="+mn-lt"/>
                <a:ea typeface="+mn-ea"/>
                <a:cs typeface="+mn-cs"/>
              </a:rPr>
              <a: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342798062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describe how to change fan belt</a:t>
            </a:r>
            <a:r>
              <a:rPr lang="en-AU" baseline="0" noProof="0" dirty="0" smtClean="0"/>
              <a:t> </a:t>
            </a:r>
            <a:r>
              <a:rPr lang="en-AU" noProof="0" dirty="0" smtClean="0"/>
              <a:t>in vehicle:</a:t>
            </a:r>
          </a:p>
          <a:p>
            <a:pPr marL="171450" indent="-171450">
              <a:buFont typeface="Arial" pitchFamily="34" charset="0"/>
              <a:buChar char="•"/>
            </a:pPr>
            <a:r>
              <a:rPr lang="en-AU" sz="1200" kern="1200" dirty="0" smtClean="0">
                <a:solidFill>
                  <a:schemeClr val="tx1"/>
                </a:solidFill>
                <a:latin typeface="+mn-lt"/>
                <a:ea typeface="+mn-ea"/>
                <a:cs typeface="+mn-cs"/>
              </a:rPr>
              <a:t>Fit new belt by looping it over alternator and water pump pulleys</a:t>
            </a:r>
          </a:p>
          <a:p>
            <a:pPr marL="171450" indent="-171450">
              <a:buFont typeface="Arial" pitchFamily="34" charset="0"/>
              <a:buChar char="•"/>
            </a:pPr>
            <a:r>
              <a:rPr lang="en-AU" sz="1200" kern="1200" dirty="0" smtClean="0">
                <a:solidFill>
                  <a:schemeClr val="tx1"/>
                </a:solidFill>
                <a:latin typeface="+mn-lt"/>
                <a:ea typeface="+mn-ea"/>
                <a:cs typeface="+mn-cs"/>
              </a:rPr>
              <a:t>Re-locate the alternator to bring tension on the new belt</a:t>
            </a:r>
          </a:p>
          <a:p>
            <a:pPr marL="171450" indent="-171450">
              <a:buFont typeface="Arial" pitchFamily="34" charset="0"/>
              <a:buChar char="•"/>
            </a:pPr>
            <a:r>
              <a:rPr lang="en-AU" sz="1200" kern="1200" dirty="0" smtClean="0">
                <a:solidFill>
                  <a:schemeClr val="tx1"/>
                </a:solidFill>
                <a:latin typeface="+mn-lt"/>
                <a:ea typeface="+mn-ea"/>
                <a:cs typeface="+mn-cs"/>
              </a:rPr>
              <a:t>Tighten the bolt on the tensioner rail</a:t>
            </a:r>
          </a:p>
          <a:p>
            <a:pPr marL="171450" indent="-171450">
              <a:buFont typeface="Arial" pitchFamily="34" charset="0"/>
              <a:buChar char="•"/>
            </a:pPr>
            <a:r>
              <a:rPr lang="en-AU" sz="1200" kern="1200" dirty="0" smtClean="0">
                <a:solidFill>
                  <a:schemeClr val="tx1"/>
                </a:solidFill>
                <a:latin typeface="+mn-lt"/>
                <a:ea typeface="+mn-ea"/>
                <a:cs typeface="+mn-cs"/>
              </a:rPr>
              <a:t>Run the engine to test for:</a:t>
            </a:r>
          </a:p>
          <a:p>
            <a:pPr marL="628650" lvl="1" indent="-171450">
              <a:buFont typeface="Arial" pitchFamily="34" charset="0"/>
              <a:buChar char="•"/>
            </a:pPr>
            <a:r>
              <a:rPr lang="en-AU" sz="1200" kern="1200" dirty="0" smtClean="0">
                <a:solidFill>
                  <a:schemeClr val="tx1"/>
                </a:solidFill>
                <a:latin typeface="+mn-lt"/>
                <a:ea typeface="+mn-ea"/>
                <a:cs typeface="+mn-cs"/>
              </a:rPr>
              <a:t>Squealing noise – indicating belt is slipping and needs to be re-tensioned</a:t>
            </a:r>
          </a:p>
          <a:p>
            <a:pPr marL="628650" lvl="1" indent="-171450">
              <a:buFont typeface="Arial" pitchFamily="34" charset="0"/>
              <a:buChar char="•"/>
            </a:pPr>
            <a:r>
              <a:rPr lang="en-AU" sz="1200" kern="1200" dirty="0" smtClean="0">
                <a:solidFill>
                  <a:schemeClr val="tx1"/>
                </a:solidFill>
                <a:latin typeface="+mn-lt"/>
                <a:ea typeface="+mn-ea"/>
                <a:cs typeface="+mn-cs"/>
              </a:rPr>
              <a:t>Dashboard warning lights – which may indicate a problem.</a:t>
            </a:r>
          </a:p>
          <a:p>
            <a:pPr>
              <a:buFont typeface="Arial" pitchFamily="34" charset="0"/>
              <a:buNone/>
            </a:pPr>
            <a:endParaRPr lang="en-AU"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change a fan belt </a:t>
            </a:r>
            <a:r>
              <a:rPr lang="en-US" b="0" baseline="0" noProof="0" dirty="0" smtClean="0"/>
              <a:t>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27078173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describes how to change/replace a fuse in vehicle:</a:t>
            </a:r>
          </a:p>
          <a:p>
            <a:pPr marL="171450" indent="-171450">
              <a:buFont typeface="Arial" pitchFamily="34" charset="0"/>
              <a:buChar char="•"/>
            </a:pPr>
            <a:r>
              <a:rPr lang="en-AU" sz="1200" kern="1200" dirty="0" smtClean="0">
                <a:solidFill>
                  <a:schemeClr val="tx1"/>
                </a:solidFill>
                <a:latin typeface="+mn-lt"/>
                <a:ea typeface="+mn-ea"/>
                <a:cs typeface="+mn-cs"/>
              </a:rPr>
              <a:t>Locate fuse box/block</a:t>
            </a:r>
          </a:p>
          <a:p>
            <a:pPr marL="171450" indent="-171450">
              <a:buFont typeface="Arial" pitchFamily="34" charset="0"/>
              <a:buChar char="•"/>
            </a:pPr>
            <a:r>
              <a:rPr lang="en-AU" sz="1200" kern="1200" dirty="0" smtClean="0">
                <a:solidFill>
                  <a:schemeClr val="tx1"/>
                </a:solidFill>
                <a:latin typeface="+mn-lt"/>
                <a:ea typeface="+mn-ea"/>
                <a:cs typeface="+mn-cs"/>
              </a:rPr>
              <a:t>Remove cover</a:t>
            </a:r>
          </a:p>
          <a:p>
            <a:pPr marL="171450" indent="-171450">
              <a:buFont typeface="Arial" pitchFamily="34" charset="0"/>
              <a:buChar char="•"/>
            </a:pPr>
            <a:r>
              <a:rPr lang="en-AU" sz="1200" kern="1200" dirty="0" smtClean="0">
                <a:solidFill>
                  <a:schemeClr val="tx1"/>
                </a:solidFill>
                <a:latin typeface="+mn-lt"/>
                <a:ea typeface="+mn-ea"/>
                <a:cs typeface="+mn-cs"/>
              </a:rPr>
              <a:t>Read key on cover (or in manual) to determine the fuse to replace</a:t>
            </a:r>
          </a:p>
          <a:p>
            <a:pPr marL="171450" indent="-171450">
              <a:buFont typeface="Arial" pitchFamily="34" charset="0"/>
              <a:buChar char="•"/>
            </a:pPr>
            <a:r>
              <a:rPr lang="en-AU" sz="1200" kern="1200" dirty="0" smtClean="0">
                <a:solidFill>
                  <a:schemeClr val="tx1"/>
                </a:solidFill>
                <a:latin typeface="+mn-lt"/>
                <a:ea typeface="+mn-ea"/>
                <a:cs typeface="+mn-cs"/>
              </a:rPr>
              <a:t>Remove fuse to be replaced.</a:t>
            </a:r>
          </a:p>
          <a:p>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https://www.youtube.com/watch?v=kOXeo-kqg68</a:t>
            </a:r>
            <a:r>
              <a:rPr lang="en-AU" sz="1200" kern="1200" dirty="0" smtClean="0">
                <a:solidFill>
                  <a:schemeClr val="tx1"/>
                </a:solidFill>
                <a:latin typeface="+mn-lt"/>
                <a:ea typeface="+mn-ea"/>
                <a:cs typeface="+mn-cs"/>
              </a:rPr>
              <a:t> – How to replace a blown fuse in a car</a:t>
            </a:r>
          </a:p>
          <a:p>
            <a:r>
              <a:rPr lang="en-AU" sz="1200" u="sng" kern="1200" dirty="0" smtClean="0">
                <a:solidFill>
                  <a:schemeClr val="tx1"/>
                </a:solidFill>
                <a:latin typeface="+mn-lt"/>
                <a:ea typeface="+mn-ea"/>
                <a:cs typeface="+mn-cs"/>
                <a:hlinkClick r:id="rId4"/>
              </a:rPr>
              <a:t>https://www.youtube.com/watch?v=faWZmG0fXy8</a:t>
            </a:r>
            <a:r>
              <a:rPr lang="en-AU" sz="1200" kern="1200" dirty="0" smtClean="0">
                <a:solidFill>
                  <a:schemeClr val="tx1"/>
                </a:solidFill>
                <a:latin typeface="+mn-lt"/>
                <a:ea typeface="+mn-ea"/>
                <a:cs typeface="+mn-cs"/>
              </a:rPr>
              <a:t> – How to find and replace a blown fuse in your car or truck.</a:t>
            </a:r>
          </a:p>
          <a:p>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125802251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describe how to change/replace a fuse in vehicle:</a:t>
            </a:r>
          </a:p>
          <a:p>
            <a:pPr marL="171450" indent="-171450">
              <a:buFont typeface="Arial" pitchFamily="34" charset="0"/>
              <a:buChar char="•"/>
            </a:pPr>
            <a:r>
              <a:rPr lang="en-AU" sz="1200" kern="1200" dirty="0" smtClean="0">
                <a:solidFill>
                  <a:schemeClr val="tx1"/>
                </a:solidFill>
                <a:latin typeface="+mn-lt"/>
                <a:ea typeface="+mn-ea"/>
                <a:cs typeface="+mn-cs"/>
              </a:rPr>
              <a:t>Insert new fuse – press in position with finger</a:t>
            </a:r>
          </a:p>
          <a:p>
            <a:pPr marL="171450" indent="-171450">
              <a:buFont typeface="Arial" pitchFamily="34" charset="0"/>
              <a:buChar char="•"/>
            </a:pPr>
            <a:r>
              <a:rPr lang="en-AU" sz="1200" kern="1200" dirty="0" smtClean="0">
                <a:solidFill>
                  <a:schemeClr val="tx1"/>
                </a:solidFill>
                <a:latin typeface="+mn-lt"/>
                <a:ea typeface="+mn-ea"/>
                <a:cs typeface="+mn-cs"/>
              </a:rPr>
              <a:t>Verify spare fuses are available for emergency use – where space provided to store them</a:t>
            </a:r>
          </a:p>
          <a:p>
            <a:pPr marL="171450" indent="-171450">
              <a:buFont typeface="Arial" pitchFamily="34" charset="0"/>
              <a:buChar char="•"/>
            </a:pPr>
            <a:r>
              <a:rPr lang="en-AU" sz="1200" kern="1200" dirty="0" smtClean="0">
                <a:solidFill>
                  <a:schemeClr val="tx1"/>
                </a:solidFill>
                <a:latin typeface="+mn-lt"/>
                <a:ea typeface="+mn-ea"/>
                <a:cs typeface="+mn-cs"/>
              </a:rPr>
              <a:t>Test vehicle/accessory/light which was operating on this fuse</a:t>
            </a:r>
          </a:p>
          <a:p>
            <a:pPr marL="628650" lvl="1" indent="-171450">
              <a:buFont typeface="Arial" pitchFamily="34" charset="0"/>
              <a:buChar char="•"/>
            </a:pPr>
            <a:r>
              <a:rPr lang="en-AU" sz="1200" kern="1200" dirty="0" smtClean="0">
                <a:solidFill>
                  <a:schemeClr val="tx1"/>
                </a:solidFill>
                <a:latin typeface="+mn-lt"/>
                <a:ea typeface="+mn-ea"/>
                <a:cs typeface="+mn-cs"/>
              </a:rPr>
              <a:t>If fuse blows immediately then this usually indicates another problem (a short) and the vehicle may need to be taken to an auto-electrician</a:t>
            </a:r>
          </a:p>
          <a:p>
            <a:pPr marL="171450" indent="-171450">
              <a:buFont typeface="Arial" pitchFamily="34" charset="0"/>
              <a:buChar char="•"/>
            </a:pPr>
            <a:r>
              <a:rPr lang="en-AU" sz="1200" kern="1200" dirty="0" smtClean="0">
                <a:solidFill>
                  <a:schemeClr val="tx1"/>
                </a:solidFill>
                <a:latin typeface="+mn-lt"/>
                <a:ea typeface="+mn-ea"/>
                <a:cs typeface="+mn-cs"/>
              </a:rPr>
              <a:t>If light/accessory functions as required, replace fuse box/block cover.</a:t>
            </a:r>
          </a:p>
          <a:p>
            <a:pPr>
              <a:buFont typeface="Arial" pitchFamily="34" charset="0"/>
              <a:buNone/>
            </a:pPr>
            <a:endParaRPr lang="en-AU"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replace a fuse </a:t>
            </a:r>
            <a:r>
              <a:rPr lang="en-US" b="0" baseline="0" noProof="0" dirty="0" smtClean="0"/>
              <a:t>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426884512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describes how to change coolant/radiator</a:t>
            </a:r>
            <a:r>
              <a:rPr lang="en-AU" baseline="0" noProof="0" dirty="0" smtClean="0"/>
              <a:t> hose </a:t>
            </a:r>
            <a:r>
              <a:rPr lang="en-AU" noProof="0" dirty="0" smtClean="0"/>
              <a:t>in vehicle:</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Ensure engine has cooled before removing radiator cap</a:t>
            </a:r>
          </a:p>
          <a:p>
            <a:pPr marL="171450" indent="-171450">
              <a:buFont typeface="Arial" pitchFamily="34" charset="0"/>
              <a:buChar char="•"/>
            </a:pPr>
            <a:r>
              <a:rPr lang="en-AU" sz="1200" kern="1200" dirty="0" smtClean="0">
                <a:solidFill>
                  <a:schemeClr val="tx1"/>
                </a:solidFill>
                <a:latin typeface="+mn-lt"/>
                <a:ea typeface="+mn-ea"/>
                <a:cs typeface="+mn-cs"/>
              </a:rPr>
              <a:t>Drain radiator – if necessary, using drain plug if fitted: there may be a requirement to retain the fluid to put back in the radiator</a:t>
            </a:r>
          </a:p>
          <a:p>
            <a:pPr marL="628650" lvl="1" indent="-171450">
              <a:buFont typeface="Arial" pitchFamily="34" charset="0"/>
              <a:buChar char="•"/>
            </a:pPr>
            <a:r>
              <a:rPr lang="en-AU" sz="1200" kern="1200" dirty="0" smtClean="0">
                <a:solidFill>
                  <a:schemeClr val="tx1"/>
                </a:solidFill>
                <a:latin typeface="+mn-lt"/>
                <a:ea typeface="+mn-ea"/>
                <a:cs typeface="+mn-cs"/>
              </a:rPr>
              <a:t>Remove bottom radiator hose from radiator if there is no drain plug – use </a:t>
            </a:r>
          </a:p>
          <a:p>
            <a:pPr marL="171450" indent="-171450">
              <a:buFont typeface="Arial" pitchFamily="34" charset="0"/>
              <a:buChar char="•"/>
            </a:pPr>
            <a:r>
              <a:rPr lang="en-AU" sz="1200" kern="1200" dirty="0" smtClean="0">
                <a:solidFill>
                  <a:schemeClr val="tx1"/>
                </a:solidFill>
                <a:latin typeface="+mn-lt"/>
                <a:ea typeface="+mn-ea"/>
                <a:cs typeface="+mn-cs"/>
              </a:rPr>
              <a:t>Use pliers to release clamp holding hose in place – at front and back of top and bottom hose (if changing both hoses)</a:t>
            </a:r>
          </a:p>
          <a:p>
            <a:pPr marL="171450" indent="-171450">
              <a:buFont typeface="Arial" pitchFamily="34" charset="0"/>
              <a:buChar char="•"/>
            </a:pPr>
            <a:r>
              <a:rPr lang="en-AU" sz="1200" kern="1200" dirty="0" smtClean="0">
                <a:solidFill>
                  <a:schemeClr val="tx1"/>
                </a:solidFill>
                <a:latin typeface="+mn-lt"/>
                <a:ea typeface="+mn-ea"/>
                <a:cs typeface="+mn-cs"/>
              </a:rPr>
              <a:t>It may be a good time to replace the thermostat while the top hose is off the vehicle.</a:t>
            </a:r>
          </a:p>
          <a:p>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https://www.youtube.com/watch?v=AGmQ50naiGg</a:t>
            </a:r>
            <a:r>
              <a:rPr lang="en-AU" sz="1200" kern="1200" dirty="0" smtClean="0">
                <a:solidFill>
                  <a:schemeClr val="tx1"/>
                </a:solidFill>
                <a:latin typeface="+mn-lt"/>
                <a:ea typeface="+mn-ea"/>
                <a:cs typeface="+mn-cs"/>
              </a:rPr>
              <a:t> – How to replace a radiator hose (upper and lower)</a:t>
            </a:r>
          </a:p>
          <a:p>
            <a:r>
              <a:rPr lang="en-AU" sz="1200" u="sng" kern="1200" dirty="0" smtClean="0">
                <a:solidFill>
                  <a:schemeClr val="tx1"/>
                </a:solidFill>
                <a:latin typeface="+mn-lt"/>
                <a:ea typeface="+mn-ea"/>
                <a:cs typeface="+mn-cs"/>
                <a:hlinkClick r:id="rId4"/>
              </a:rPr>
              <a:t>https://www.youtube.com/watch?v=C64z0L9816A</a:t>
            </a:r>
            <a:r>
              <a:rPr lang="en-AU" sz="1200" kern="1200" dirty="0" smtClean="0">
                <a:solidFill>
                  <a:schemeClr val="tx1"/>
                </a:solidFill>
                <a:latin typeface="+mn-lt"/>
                <a:ea typeface="+mn-ea"/>
                <a:cs typeface="+mn-cs"/>
              </a:rPr>
              <a:t> – Replacing radiator hose</a:t>
            </a:r>
          </a:p>
          <a:p>
            <a:r>
              <a:rPr lang="en-AU" sz="1200" u="sng" kern="1200" dirty="0" smtClean="0">
                <a:solidFill>
                  <a:schemeClr val="tx1"/>
                </a:solidFill>
                <a:latin typeface="+mn-lt"/>
                <a:ea typeface="+mn-ea"/>
                <a:cs typeface="+mn-cs"/>
                <a:hlinkClick r:id="rId5"/>
              </a:rPr>
              <a:t>https://www.youtube.com/watch?v=xH0D22ITjQU</a:t>
            </a:r>
            <a:r>
              <a:rPr lang="en-AU" sz="1200" kern="1200" dirty="0" smtClean="0">
                <a:solidFill>
                  <a:schemeClr val="tx1"/>
                </a:solidFill>
                <a:latin typeface="+mn-lt"/>
                <a:ea typeface="+mn-ea"/>
                <a:cs typeface="+mn-cs"/>
              </a:rPr>
              <a:t> – How to replace the upper radiator hose.</a:t>
            </a:r>
          </a:p>
          <a:p>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187277050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describe how to change coolant/radiator</a:t>
            </a:r>
            <a:r>
              <a:rPr lang="en-AU" baseline="0" noProof="0" dirty="0" smtClean="0"/>
              <a:t> hose </a:t>
            </a:r>
            <a:r>
              <a:rPr lang="en-AU" noProof="0" dirty="0" smtClean="0"/>
              <a:t>in vehicle:</a:t>
            </a:r>
          </a:p>
          <a:p>
            <a:pPr marL="171450" indent="-171450">
              <a:buFont typeface="Arial" pitchFamily="34" charset="0"/>
              <a:buChar char="•"/>
            </a:pPr>
            <a:r>
              <a:rPr lang="en-AU" sz="1200" kern="1200" dirty="0" smtClean="0">
                <a:solidFill>
                  <a:schemeClr val="tx1"/>
                </a:solidFill>
                <a:latin typeface="+mn-lt"/>
                <a:ea typeface="+mn-ea"/>
                <a:cs typeface="+mn-cs"/>
              </a:rPr>
              <a:t>Clean the parts to which the hose ends were secured – to remove visible debris</a:t>
            </a:r>
          </a:p>
          <a:p>
            <a:pPr marL="171450" indent="-171450">
              <a:buFont typeface="Arial" pitchFamily="34" charset="0"/>
              <a:buChar char="•"/>
            </a:pPr>
            <a:r>
              <a:rPr lang="en-AU" sz="1200" kern="1200" dirty="0" smtClean="0">
                <a:solidFill>
                  <a:schemeClr val="tx1"/>
                </a:solidFill>
                <a:latin typeface="+mn-lt"/>
                <a:ea typeface="+mn-ea"/>
                <a:cs typeface="+mn-cs"/>
              </a:rPr>
              <a:t>Determine if new hose clamps need to be used to fit the new hose/s – use new clamps where indicated</a:t>
            </a:r>
          </a:p>
          <a:p>
            <a:pPr marL="171450" indent="-171450">
              <a:buFont typeface="Arial" pitchFamily="34" charset="0"/>
              <a:buChar char="•"/>
            </a:pPr>
            <a:r>
              <a:rPr lang="en-AU" sz="1200" kern="1200" dirty="0" smtClean="0">
                <a:solidFill>
                  <a:schemeClr val="tx1"/>
                </a:solidFill>
                <a:latin typeface="+mn-lt"/>
                <a:ea typeface="+mn-ea"/>
                <a:cs typeface="+mn-cs"/>
              </a:rPr>
              <a:t>Position clamps (using pliers to open them up) near end of new hoses and replace hoses. </a:t>
            </a:r>
          </a:p>
          <a:p>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92361347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describe how to change coolant/radiator</a:t>
            </a:r>
            <a:r>
              <a:rPr lang="en-AU" baseline="0" noProof="0" dirty="0" smtClean="0"/>
              <a:t> hose </a:t>
            </a:r>
            <a:r>
              <a:rPr lang="en-AU" noProof="0" dirty="0" smtClean="0"/>
              <a:t>in vehicle:</a:t>
            </a:r>
          </a:p>
          <a:p>
            <a:pPr marL="171450" indent="-171450">
              <a:buFont typeface="Arial" pitchFamily="34" charset="0"/>
              <a:buChar char="•"/>
            </a:pPr>
            <a:r>
              <a:rPr lang="en-AU" sz="1200" kern="1200" dirty="0" smtClean="0">
                <a:solidFill>
                  <a:schemeClr val="tx1"/>
                </a:solidFill>
                <a:latin typeface="+mn-lt"/>
                <a:ea typeface="+mn-ea"/>
                <a:cs typeface="+mn-cs"/>
              </a:rPr>
              <a:t>Re-attach clamps</a:t>
            </a:r>
          </a:p>
          <a:p>
            <a:pPr marL="171450" indent="-171450">
              <a:buFont typeface="Arial" pitchFamily="34" charset="0"/>
              <a:buChar char="•"/>
            </a:pPr>
            <a:r>
              <a:rPr lang="en-AU" sz="1200" kern="1200" dirty="0" smtClean="0">
                <a:solidFill>
                  <a:schemeClr val="tx1"/>
                </a:solidFill>
                <a:latin typeface="+mn-lt"/>
                <a:ea typeface="+mn-ea"/>
                <a:cs typeface="+mn-cs"/>
              </a:rPr>
              <a:t>Fill radiator</a:t>
            </a:r>
          </a:p>
          <a:p>
            <a:pPr marL="171450" indent="-171450">
              <a:buFont typeface="Arial" pitchFamily="34" charset="0"/>
              <a:buChar char="•"/>
            </a:pPr>
            <a:r>
              <a:rPr lang="en-AU" sz="1200" kern="1200" dirty="0" smtClean="0">
                <a:solidFill>
                  <a:schemeClr val="tx1"/>
                </a:solidFill>
                <a:latin typeface="+mn-lt"/>
                <a:ea typeface="+mn-ea"/>
                <a:cs typeface="+mn-cs"/>
              </a:rPr>
              <a:t>Run and check for leaks. </a:t>
            </a:r>
          </a:p>
          <a:p>
            <a:endParaRPr lang="en-AU"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change a radiator hose </a:t>
            </a:r>
            <a:r>
              <a:rPr lang="en-US" b="0" baseline="0" noProof="0" dirty="0" smtClean="0"/>
              <a:t>and provides an opportunity for them to do the same</a:t>
            </a:r>
            <a:endParaRPr lang="en-AU" noProof="0" dirty="0" smtClean="0"/>
          </a:p>
          <a:p>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179668935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checking and topping up radiator water stating important </a:t>
            </a:r>
            <a:r>
              <a:rPr lang="en-AU" sz="1200" kern="1200" dirty="0" smtClean="0">
                <a:solidFill>
                  <a:schemeClr val="tx1"/>
                </a:solidFill>
                <a:latin typeface="+mn-lt"/>
                <a:ea typeface="+mn-ea"/>
                <a:cs typeface="+mn-cs"/>
              </a:rPr>
              <a:t>points to note:</a:t>
            </a:r>
          </a:p>
          <a:p>
            <a:pPr marL="171450" indent="-171450">
              <a:buFont typeface="Arial" pitchFamily="34" charset="0"/>
              <a:buChar char="•"/>
            </a:pPr>
            <a:r>
              <a:rPr lang="en-AU" sz="1200" kern="1200" dirty="0" smtClean="0">
                <a:solidFill>
                  <a:schemeClr val="tx1"/>
                </a:solidFill>
                <a:latin typeface="+mn-lt"/>
                <a:ea typeface="+mn-ea"/>
                <a:cs typeface="+mn-cs"/>
              </a:rPr>
              <a:t>Engines should be cold when checking and replenishing water in the radiator to avoid safety issues associated with high temperatures and water under pressure</a:t>
            </a:r>
          </a:p>
          <a:p>
            <a:pPr marL="171450" indent="-171450">
              <a:buFont typeface="Arial" pitchFamily="34" charset="0"/>
              <a:buChar char="•"/>
            </a:pPr>
            <a:r>
              <a:rPr lang="en-AU" sz="1200" kern="1200" dirty="0" smtClean="0">
                <a:solidFill>
                  <a:schemeClr val="tx1"/>
                </a:solidFill>
                <a:latin typeface="+mn-lt"/>
                <a:ea typeface="+mn-ea"/>
                <a:cs typeface="+mn-cs"/>
              </a:rPr>
              <a:t>Check fluid levels on level ground</a:t>
            </a:r>
          </a:p>
          <a:p>
            <a:pPr marL="171450" indent="-171450">
              <a:buFont typeface="Arial" pitchFamily="34" charset="0"/>
              <a:buChar char="•"/>
            </a:pPr>
            <a:r>
              <a:rPr lang="en-AU" sz="1200" kern="1200" dirty="0" smtClean="0">
                <a:solidFill>
                  <a:schemeClr val="tx1"/>
                </a:solidFill>
                <a:latin typeface="+mn-lt"/>
                <a:ea typeface="+mn-ea"/>
                <a:cs typeface="+mn-cs"/>
              </a:rPr>
              <a:t>Many radiators require the addition of coolant to the water when replenishing radiator levels – this may be pre-mixed, or require mixing as part of the process. Always follow instructions on the product when adding/mixing coolant</a:t>
            </a:r>
          </a:p>
          <a:p>
            <a:pPr marL="171450" indent="-171450">
              <a:buFont typeface="Arial" pitchFamily="34" charset="0"/>
              <a:buChar char="•"/>
            </a:pPr>
            <a:r>
              <a:rPr lang="en-AU" sz="1200" kern="1200" dirty="0" smtClean="0">
                <a:solidFill>
                  <a:schemeClr val="tx1"/>
                </a:solidFill>
                <a:latin typeface="+mn-lt"/>
                <a:ea typeface="+mn-ea"/>
                <a:cs typeface="+mn-cs"/>
              </a:rPr>
              <a:t>Wear protective eyewear when handing coolant.</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248065679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topping up radiator </a:t>
            </a:r>
            <a:r>
              <a:rPr lang="en-AU" sz="1200" kern="1200" dirty="0" smtClean="0">
                <a:solidFill>
                  <a:schemeClr val="tx1"/>
                </a:solidFill>
                <a:latin typeface="+mn-lt"/>
                <a:ea typeface="+mn-ea"/>
                <a:cs typeface="+mn-cs"/>
              </a:rPr>
              <a:t>may entail:</a:t>
            </a:r>
          </a:p>
          <a:p>
            <a:pPr marL="171450" indent="-171450">
              <a:buFont typeface="Arial" pitchFamily="34" charset="0"/>
              <a:buChar char="•"/>
            </a:pPr>
            <a:r>
              <a:rPr lang="en-AU" sz="1200" kern="1200" dirty="0" smtClean="0">
                <a:solidFill>
                  <a:schemeClr val="tx1"/>
                </a:solidFill>
                <a:latin typeface="+mn-lt"/>
                <a:ea typeface="+mn-ea"/>
                <a:cs typeface="+mn-cs"/>
              </a:rPr>
              <a:t>Removing cover/cap from engine coolant/water tank or reservoir</a:t>
            </a:r>
          </a:p>
          <a:p>
            <a:pPr marL="171450" indent="-171450">
              <a:buFont typeface="Arial" pitchFamily="34" charset="0"/>
              <a:buChar char="•"/>
            </a:pPr>
            <a:r>
              <a:rPr lang="en-AU" sz="1200" kern="1200" dirty="0" smtClean="0">
                <a:solidFill>
                  <a:schemeClr val="tx1"/>
                </a:solidFill>
                <a:latin typeface="+mn-lt"/>
                <a:ea typeface="+mn-ea"/>
                <a:cs typeface="+mn-cs"/>
              </a:rPr>
              <a:t>Mixing coolant with water according to manufacturer’s recommendations (say, 50:50) if product is not pre-mixed – the preference is to use distilled water for this purpose</a:t>
            </a:r>
          </a:p>
          <a:p>
            <a:pPr marL="171450" indent="-171450">
              <a:buFont typeface="Arial" pitchFamily="34" charset="0"/>
              <a:buChar char="•"/>
            </a:pPr>
            <a:r>
              <a:rPr lang="en-AU" sz="1200" kern="1200" dirty="0" smtClean="0">
                <a:solidFill>
                  <a:schemeClr val="tx1"/>
                </a:solidFill>
                <a:latin typeface="+mn-lt"/>
                <a:ea typeface="+mn-ea"/>
                <a:cs typeface="+mn-cs"/>
              </a:rPr>
              <a:t>Adding mixed coolant to engine coolant/water tank or reservoir – observe ‘Min – Max’ marks on the tank/reservoir and do not over-fill</a:t>
            </a:r>
          </a:p>
          <a:p>
            <a:pPr marL="171450" indent="-171450">
              <a:buFont typeface="Arial" pitchFamily="34" charset="0"/>
              <a:buChar char="•"/>
            </a:pPr>
            <a:r>
              <a:rPr lang="en-AU" sz="1200" kern="1200" dirty="0" smtClean="0">
                <a:solidFill>
                  <a:schemeClr val="tx1"/>
                </a:solidFill>
                <a:latin typeface="+mn-lt"/>
                <a:ea typeface="+mn-ea"/>
                <a:cs typeface="+mn-cs"/>
              </a:rPr>
              <a:t>Replacing and securing cover/cap</a:t>
            </a:r>
          </a:p>
          <a:p>
            <a:pPr marL="171450" indent="-171450">
              <a:buFont typeface="Arial" pitchFamily="34" charset="0"/>
              <a:buChar char="•"/>
            </a:pPr>
            <a:r>
              <a:rPr lang="en-AU" sz="1200" kern="1200" dirty="0" smtClean="0">
                <a:solidFill>
                  <a:schemeClr val="tx1"/>
                </a:solidFill>
                <a:latin typeface="+mn-lt"/>
                <a:ea typeface="+mn-ea"/>
                <a:cs typeface="+mn-cs"/>
              </a:rPr>
              <a:t>In some situations it may be necessary (or even acceptable) to simply top-off the engine coolant/water tank or reservoir with tap water. </a:t>
            </a:r>
          </a:p>
          <a:p>
            <a:endParaRPr lang="en-AU" sz="1200" kern="1200" dirty="0" smtClean="0">
              <a:solidFill>
                <a:schemeClr val="tx1"/>
              </a:solidFill>
              <a:latin typeface="+mn-lt"/>
              <a:ea typeface="+mn-ea"/>
              <a:cs typeface="+mn-cs"/>
            </a:endParaRPr>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https://www.youtube.com/watch?v=vEdtHZwLKZ8</a:t>
            </a:r>
            <a:r>
              <a:rPr lang="en-AU" sz="1200" kern="1200" dirty="0" smtClean="0">
                <a:solidFill>
                  <a:schemeClr val="tx1"/>
                </a:solidFill>
                <a:latin typeface="+mn-lt"/>
                <a:ea typeface="+mn-ea"/>
                <a:cs typeface="+mn-cs"/>
              </a:rPr>
              <a:t> – Basic car care and maintenance: checking car radiator coolant level</a:t>
            </a:r>
          </a:p>
          <a:p>
            <a:pPr>
              <a:buFont typeface="Arial" pitchFamily="34" charset="0"/>
              <a:buNone/>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1" kern="1200" baseline="0" noProof="0" dirty="0" smtClean="0">
                <a:solidFill>
                  <a:schemeClr val="tx1"/>
                </a:solidFill>
                <a:latin typeface="+mn-lt"/>
                <a:ea typeface="+mn-ea"/>
                <a:cs typeface="+mn-cs"/>
              </a:rPr>
              <a:t>Classroom Activity (2)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top-up radiator and provides opportunity for them to do the same.</a:t>
            </a: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293761557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topping up brake fluid </a:t>
            </a:r>
            <a:r>
              <a:rPr lang="en-AU" sz="1200" kern="1200" dirty="0" smtClean="0">
                <a:solidFill>
                  <a:schemeClr val="tx1"/>
                </a:solidFill>
                <a:latin typeface="+mn-lt"/>
                <a:ea typeface="+mn-ea"/>
                <a:cs typeface="+mn-cs"/>
              </a:rPr>
              <a:t>may entail:</a:t>
            </a:r>
          </a:p>
          <a:p>
            <a:pPr marL="171450" indent="-171450">
              <a:buFont typeface="Arial" pitchFamily="34" charset="0"/>
              <a:buChar char="•"/>
            </a:pPr>
            <a:r>
              <a:rPr lang="en-AU" sz="1200" kern="1200" dirty="0" smtClean="0">
                <a:solidFill>
                  <a:schemeClr val="tx1"/>
                </a:solidFill>
                <a:latin typeface="+mn-lt"/>
                <a:ea typeface="+mn-ea"/>
                <a:cs typeface="+mn-cs"/>
              </a:rPr>
              <a:t>Wear protective eyewear and gloves</a:t>
            </a:r>
          </a:p>
          <a:p>
            <a:pPr marL="171450" indent="-171450">
              <a:buFont typeface="Arial" pitchFamily="34" charset="0"/>
              <a:buChar char="•"/>
            </a:pPr>
            <a:r>
              <a:rPr lang="en-AU" sz="1200" kern="1200" dirty="0" smtClean="0">
                <a:solidFill>
                  <a:schemeClr val="tx1"/>
                </a:solidFill>
                <a:latin typeface="+mn-lt"/>
                <a:ea typeface="+mn-ea"/>
                <a:cs typeface="+mn-cs"/>
              </a:rPr>
              <a:t>Identify the level of the brake fluid in the brake fluid reservoir – top-up when level is below the ‘Min’ mark </a:t>
            </a:r>
          </a:p>
          <a:p>
            <a:pPr marL="171450" indent="-171450">
              <a:buFont typeface="Arial" pitchFamily="34" charset="0"/>
              <a:buChar char="•"/>
            </a:pPr>
            <a:r>
              <a:rPr lang="en-AU" sz="1200" kern="1200" dirty="0" smtClean="0">
                <a:solidFill>
                  <a:schemeClr val="tx1"/>
                </a:solidFill>
                <a:latin typeface="+mn-lt"/>
                <a:ea typeface="+mn-ea"/>
                <a:cs typeface="+mn-cs"/>
              </a:rPr>
              <a:t>Clean the top of, and around, the cap of the brake fluid reservoir prior to opening the unit – to make sure no debris falls in.</a:t>
            </a:r>
          </a:p>
          <a:p>
            <a:endParaRPr lang="en-AU" sz="1200" kern="1200" dirty="0" smtClean="0">
              <a:solidFill>
                <a:schemeClr val="tx1"/>
              </a:solidFill>
              <a:latin typeface="+mn-lt"/>
              <a:ea typeface="+mn-ea"/>
              <a:cs typeface="+mn-cs"/>
            </a:endParaRPr>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https://www.youtube.com/watch?v=LZ8BZa7d0CQ</a:t>
            </a:r>
            <a:r>
              <a:rPr lang="en-AU" sz="1200" kern="1200" dirty="0" smtClean="0">
                <a:solidFill>
                  <a:schemeClr val="tx1"/>
                </a:solidFill>
                <a:latin typeface="+mn-lt"/>
                <a:ea typeface="+mn-ea"/>
                <a:cs typeface="+mn-cs"/>
              </a:rPr>
              <a:t> – How to check and top-up brake fluid: Nulon</a:t>
            </a:r>
          </a:p>
          <a:p>
            <a:r>
              <a:rPr lang="en-AU" sz="1200" u="sng" kern="1200" dirty="0" smtClean="0">
                <a:solidFill>
                  <a:schemeClr val="tx1"/>
                </a:solidFill>
                <a:latin typeface="+mn-lt"/>
                <a:ea typeface="+mn-ea"/>
                <a:cs typeface="+mn-cs"/>
                <a:hlinkClick r:id="rId4"/>
              </a:rPr>
              <a:t>https://www.youtube.com/watch?v=nJV0J9kTZ2g</a:t>
            </a:r>
            <a:r>
              <a:rPr lang="en-AU" sz="1200" kern="1200" dirty="0" smtClean="0">
                <a:solidFill>
                  <a:schemeClr val="tx1"/>
                </a:solidFill>
                <a:latin typeface="+mn-lt"/>
                <a:ea typeface="+mn-ea"/>
                <a:cs typeface="+mn-cs"/>
              </a:rPr>
              <a:t> – Top up your car’s brake fluid.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58018036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explain topping up brake fluid </a:t>
            </a:r>
            <a:r>
              <a:rPr lang="en-AU" sz="1200" kern="1200" dirty="0" smtClean="0">
                <a:solidFill>
                  <a:schemeClr val="tx1"/>
                </a:solidFill>
                <a:latin typeface="+mn-lt"/>
                <a:ea typeface="+mn-ea"/>
                <a:cs typeface="+mn-cs"/>
              </a:rPr>
              <a:t>may entail:</a:t>
            </a:r>
          </a:p>
          <a:p>
            <a:pPr marL="171450" indent="-171450">
              <a:buFont typeface="Arial" pitchFamily="34" charset="0"/>
              <a:buChar char="•"/>
            </a:pPr>
            <a:r>
              <a:rPr lang="en-AU" sz="1200" kern="1200" dirty="0" smtClean="0">
                <a:solidFill>
                  <a:schemeClr val="tx1"/>
                </a:solidFill>
                <a:latin typeface="+mn-lt"/>
                <a:ea typeface="+mn-ea"/>
                <a:cs typeface="+mn-cs"/>
              </a:rPr>
              <a:t>Pour brake fluid direct from container into the brake fluid reservoir – take care not to spill, and use fresh product where possible</a:t>
            </a:r>
          </a:p>
          <a:p>
            <a:pPr marL="171450" indent="-171450">
              <a:buFont typeface="Arial" pitchFamily="34" charset="0"/>
              <a:buChar char="•"/>
            </a:pPr>
            <a:r>
              <a:rPr lang="en-AU" sz="1200" kern="1200" dirty="0" smtClean="0">
                <a:solidFill>
                  <a:schemeClr val="tx1"/>
                </a:solidFill>
                <a:latin typeface="+mn-lt"/>
                <a:ea typeface="+mn-ea"/>
                <a:cs typeface="+mn-cs"/>
              </a:rPr>
              <a:t>Fill only to ‘Max’ line/level on the brake fluid reservoir – do not over-fill</a:t>
            </a:r>
          </a:p>
          <a:p>
            <a:pPr marL="171450" indent="-171450">
              <a:buFont typeface="Arial" pitchFamily="34" charset="0"/>
              <a:buChar char="•"/>
            </a:pPr>
            <a:r>
              <a:rPr lang="en-AU" sz="1200" kern="1200" dirty="0" smtClean="0">
                <a:solidFill>
                  <a:schemeClr val="tx1"/>
                </a:solidFill>
                <a:latin typeface="+mn-lt"/>
                <a:ea typeface="+mn-ea"/>
                <a:cs typeface="+mn-cs"/>
              </a:rPr>
              <a:t>Replace and secure the cap of the brake fluid reservoir</a:t>
            </a:r>
          </a:p>
          <a:p>
            <a:pPr marL="171450" indent="-171450">
              <a:buFont typeface="Arial" pitchFamily="34" charset="0"/>
              <a:buChar char="•"/>
            </a:pPr>
            <a:r>
              <a:rPr lang="en-AU" sz="1200" kern="1200" dirty="0" smtClean="0">
                <a:solidFill>
                  <a:schemeClr val="tx1"/>
                </a:solidFill>
                <a:latin typeface="+mn-lt"/>
                <a:ea typeface="+mn-ea"/>
                <a:cs typeface="+mn-cs"/>
              </a:rPr>
              <a:t>Wipe away any spills.</a:t>
            </a:r>
          </a:p>
          <a:p>
            <a:endParaRPr lang="en-AU" sz="1200" kern="1200" dirty="0" smtClean="0">
              <a:solidFill>
                <a:schemeClr val="tx1"/>
              </a:solidFill>
              <a:latin typeface="+mn-lt"/>
              <a:ea typeface="+mn-ea"/>
              <a:cs typeface="+mn-cs"/>
            </a:endParaRPr>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top-up brake fluid and provides opportunity for them to do the same.</a:t>
            </a:r>
            <a:endParaRPr lang="en-US" b="0" baseline="0" noProof="0" dirty="0" smtClean="0"/>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231404103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checking automatic transmission fluid noting:</a:t>
            </a:r>
          </a:p>
          <a:p>
            <a:pPr marL="171450" indent="-171450">
              <a:buFont typeface="Arial" pitchFamily="34" charset="0"/>
              <a:buChar char="•"/>
            </a:pPr>
            <a:r>
              <a:rPr lang="en-AU" sz="1200" kern="1200" dirty="0" smtClean="0">
                <a:solidFill>
                  <a:schemeClr val="tx1"/>
                </a:solidFill>
                <a:latin typeface="+mn-lt"/>
                <a:ea typeface="+mn-ea"/>
                <a:cs typeface="+mn-cs"/>
              </a:rPr>
              <a:t>Wear protective eyewear when handing transmission fluid</a:t>
            </a:r>
          </a:p>
          <a:p>
            <a:pPr marL="171450" indent="-171450">
              <a:buFont typeface="Arial" pitchFamily="34" charset="0"/>
              <a:buChar char="•"/>
            </a:pPr>
            <a:r>
              <a:rPr lang="en-AU" sz="1200" kern="1200" dirty="0" smtClean="0">
                <a:solidFill>
                  <a:schemeClr val="tx1"/>
                </a:solidFill>
                <a:latin typeface="+mn-lt"/>
                <a:ea typeface="+mn-ea"/>
                <a:cs typeface="+mn-cs"/>
              </a:rPr>
              <a:t>Park on flat/level ground</a:t>
            </a:r>
          </a:p>
          <a:p>
            <a:pPr marL="171450" indent="-171450">
              <a:buFont typeface="Arial" pitchFamily="34" charset="0"/>
              <a:buChar char="•"/>
            </a:pPr>
            <a:r>
              <a:rPr lang="en-AU" sz="1200" kern="1200" dirty="0" smtClean="0">
                <a:solidFill>
                  <a:schemeClr val="tx1"/>
                </a:solidFill>
                <a:latin typeface="+mn-lt"/>
                <a:ea typeface="+mn-ea"/>
                <a:cs typeface="+mn-cs"/>
              </a:rPr>
              <a:t>Make sure engine is at operating temperature when checking the fluid – not cold</a:t>
            </a:r>
          </a:p>
          <a:p>
            <a:pPr marL="171450" indent="-171450">
              <a:buFont typeface="Arial" pitchFamily="34" charset="0"/>
              <a:buChar char="•"/>
            </a:pPr>
            <a:r>
              <a:rPr lang="en-AU" sz="1200" kern="1200" dirty="0" smtClean="0">
                <a:solidFill>
                  <a:schemeClr val="tx1"/>
                </a:solidFill>
                <a:latin typeface="+mn-lt"/>
                <a:ea typeface="+mn-ea"/>
                <a:cs typeface="+mn-cs"/>
              </a:rPr>
              <a:t>Some makes and models may need to be checked when engine is running and some do not need the engine to be running – follow requirements in Owner Manual.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360043591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topping-up automatic transmission fluid:</a:t>
            </a:r>
          </a:p>
          <a:p>
            <a:pPr marL="171450" indent="-171450">
              <a:buFont typeface="Arial" pitchFamily="34" charset="0"/>
              <a:buChar char="•"/>
            </a:pPr>
            <a:r>
              <a:rPr lang="en-AU" sz="1200" kern="1200" dirty="0" smtClean="0">
                <a:solidFill>
                  <a:schemeClr val="tx1"/>
                </a:solidFill>
                <a:latin typeface="+mn-lt"/>
                <a:ea typeface="+mn-ea"/>
                <a:cs typeface="+mn-cs"/>
              </a:rPr>
              <a:t>Locate the dipstick for the transmission fluid in the engine bay – ensure the dipstick is not the one for the engine oil</a:t>
            </a:r>
          </a:p>
          <a:p>
            <a:pPr marL="171450" indent="-171450">
              <a:buFont typeface="Arial" pitchFamily="34" charset="0"/>
              <a:buChar char="•"/>
            </a:pPr>
            <a:r>
              <a:rPr lang="en-AU" sz="1200" kern="1200" dirty="0" smtClean="0">
                <a:solidFill>
                  <a:schemeClr val="tx1"/>
                </a:solidFill>
                <a:latin typeface="+mn-lt"/>
                <a:ea typeface="+mn-ea"/>
                <a:cs typeface="+mn-cs"/>
              </a:rPr>
              <a:t>Remove the dipstick</a:t>
            </a:r>
          </a:p>
          <a:p>
            <a:pPr marL="171450" indent="-171450">
              <a:buFont typeface="Arial" pitchFamily="34" charset="0"/>
              <a:buChar char="•"/>
            </a:pPr>
            <a:r>
              <a:rPr lang="en-AU" sz="1200" kern="1200" dirty="0" smtClean="0">
                <a:solidFill>
                  <a:schemeClr val="tx1"/>
                </a:solidFill>
                <a:latin typeface="+mn-lt"/>
                <a:ea typeface="+mn-ea"/>
                <a:cs typeface="+mn-cs"/>
              </a:rPr>
              <a:t>Wipe clean with paper towel or clean rag</a:t>
            </a:r>
          </a:p>
          <a:p>
            <a:pPr marL="171450" indent="-171450">
              <a:buFont typeface="Arial" pitchFamily="34" charset="0"/>
              <a:buChar char="•"/>
            </a:pPr>
            <a:r>
              <a:rPr lang="en-AU" sz="1200" kern="1200" dirty="0" smtClean="0">
                <a:solidFill>
                  <a:schemeClr val="tx1"/>
                </a:solidFill>
                <a:latin typeface="+mn-lt"/>
                <a:ea typeface="+mn-ea"/>
                <a:cs typeface="+mn-cs"/>
              </a:rPr>
              <a:t>Re-insert dipstick – to get reading</a:t>
            </a:r>
          </a:p>
          <a:p>
            <a:pPr marL="171450" indent="-171450">
              <a:buFont typeface="Arial" pitchFamily="34" charset="0"/>
              <a:buChar char="•"/>
            </a:pPr>
            <a:r>
              <a:rPr lang="en-AU" sz="1200" kern="1200" dirty="0" smtClean="0">
                <a:solidFill>
                  <a:schemeClr val="tx1"/>
                </a:solidFill>
                <a:latin typeface="+mn-lt"/>
                <a:ea typeface="+mn-ea"/>
                <a:cs typeface="+mn-cs"/>
              </a:rPr>
              <a:t>Remove dipstick.</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1653948198"/>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topping-up automatic transmission fluid:</a:t>
            </a:r>
          </a:p>
          <a:p>
            <a:pPr marL="171450" indent="-171450">
              <a:buFont typeface="Arial" pitchFamily="34" charset="0"/>
              <a:buChar char="•"/>
            </a:pPr>
            <a:r>
              <a:rPr lang="en-AU" sz="1200" kern="1200" dirty="0" smtClean="0">
                <a:solidFill>
                  <a:schemeClr val="tx1"/>
                </a:solidFill>
                <a:latin typeface="+mn-lt"/>
                <a:ea typeface="+mn-ea"/>
                <a:cs typeface="+mn-cs"/>
              </a:rPr>
              <a:t>Read level of fluid on the dipstick – if level is below ‘Min’ it needs to be topped-up</a:t>
            </a:r>
          </a:p>
          <a:p>
            <a:pPr marL="171450" indent="-171450">
              <a:buFont typeface="Arial" pitchFamily="34" charset="0"/>
              <a:buChar char="•"/>
            </a:pPr>
            <a:r>
              <a:rPr lang="en-AU" sz="1200" kern="1200" dirty="0" smtClean="0">
                <a:solidFill>
                  <a:schemeClr val="tx1"/>
                </a:solidFill>
                <a:latin typeface="+mn-lt"/>
                <a:ea typeface="+mn-ea"/>
                <a:cs typeface="+mn-cs"/>
              </a:rPr>
              <a:t>Top-up by inserting funnel into dipstick hole and pouring fluid slowly into funnel – base amount added on reading from dipstick but add small amounts </a:t>
            </a:r>
          </a:p>
          <a:p>
            <a:pPr marL="171450" indent="-171450">
              <a:buFont typeface="Arial" pitchFamily="34" charset="0"/>
              <a:buChar char="•"/>
            </a:pPr>
            <a:r>
              <a:rPr lang="en-AU" sz="1200" kern="1200" dirty="0" smtClean="0">
                <a:solidFill>
                  <a:schemeClr val="tx1"/>
                </a:solidFill>
                <a:latin typeface="+mn-lt"/>
                <a:ea typeface="+mn-ea"/>
                <a:cs typeface="+mn-cs"/>
              </a:rPr>
              <a:t>Re-check level after each addition – avoid over-filling</a:t>
            </a:r>
          </a:p>
          <a:p>
            <a:pPr marL="171450" indent="-171450">
              <a:buFont typeface="Arial" pitchFamily="34" charset="0"/>
              <a:buChar char="•"/>
            </a:pPr>
            <a:r>
              <a:rPr lang="en-AU" sz="1200" kern="1200" dirty="0" smtClean="0">
                <a:solidFill>
                  <a:schemeClr val="tx1"/>
                </a:solidFill>
                <a:latin typeface="+mn-lt"/>
                <a:ea typeface="+mn-ea"/>
                <a:cs typeface="+mn-cs"/>
              </a:rPr>
              <a:t>Wipe up any spills</a:t>
            </a:r>
          </a:p>
          <a:p>
            <a:pPr marL="171450" indent="-171450">
              <a:buFont typeface="Arial" pitchFamily="34" charset="0"/>
              <a:buChar char="•"/>
            </a:pPr>
            <a:r>
              <a:rPr lang="en-AU" sz="1200" kern="1200" dirty="0" smtClean="0">
                <a:solidFill>
                  <a:schemeClr val="tx1"/>
                </a:solidFill>
                <a:latin typeface="+mn-lt"/>
                <a:ea typeface="+mn-ea"/>
                <a:cs typeface="+mn-cs"/>
              </a:rPr>
              <a:t>Replace and secure dipstick when ‘Normal’ level is attained.</a:t>
            </a:r>
          </a:p>
          <a:p>
            <a:pPr>
              <a:buFont typeface="Arial" pitchFamily="34" charset="0"/>
              <a:buNone/>
            </a:pPr>
            <a:endParaRPr lang="en-AU"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top-up automatic transmission fluid and provides opportunity for them to do the same</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1502902498"/>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checking and topping-up engine oil:</a:t>
            </a:r>
          </a:p>
          <a:p>
            <a:pPr marL="171450" indent="-171450">
              <a:buFont typeface="Arial" pitchFamily="34" charset="0"/>
              <a:buChar char="•"/>
            </a:pPr>
            <a:r>
              <a:rPr lang="en-AU" sz="1200" kern="1200" dirty="0" smtClean="0">
                <a:solidFill>
                  <a:schemeClr val="tx1"/>
                </a:solidFill>
                <a:latin typeface="+mn-lt"/>
                <a:ea typeface="+mn-ea"/>
                <a:cs typeface="+mn-cs"/>
              </a:rPr>
              <a:t>Park on flat/level ground</a:t>
            </a:r>
          </a:p>
          <a:p>
            <a:pPr marL="171450" indent="-171450">
              <a:buFont typeface="Arial" pitchFamily="34" charset="0"/>
              <a:buChar char="•"/>
            </a:pPr>
            <a:r>
              <a:rPr lang="en-AU" sz="1200" kern="1200" dirty="0" smtClean="0">
                <a:solidFill>
                  <a:schemeClr val="tx1"/>
                </a:solidFill>
                <a:latin typeface="+mn-lt"/>
                <a:ea typeface="+mn-ea"/>
                <a:cs typeface="+mn-cs"/>
              </a:rPr>
              <a:t>Check the engine oil with motor turned off and cold – do not check when engine is running and/or when it is hot</a:t>
            </a:r>
          </a:p>
          <a:p>
            <a:pPr marL="171450" indent="-171450">
              <a:buFont typeface="Arial" pitchFamily="34" charset="0"/>
              <a:buChar char="•"/>
            </a:pPr>
            <a:r>
              <a:rPr lang="en-AU" sz="1200" kern="1200" dirty="0" smtClean="0">
                <a:solidFill>
                  <a:schemeClr val="tx1"/>
                </a:solidFill>
                <a:latin typeface="+mn-lt"/>
                <a:ea typeface="+mn-ea"/>
                <a:cs typeface="+mn-cs"/>
              </a:rPr>
              <a:t>Locate the dipstick for the engine oil in the engine bay</a:t>
            </a:r>
          </a:p>
          <a:p>
            <a:pPr marL="171450" indent="-171450">
              <a:buFont typeface="Arial" pitchFamily="34" charset="0"/>
              <a:buChar char="•"/>
            </a:pPr>
            <a:r>
              <a:rPr lang="en-AU" sz="1200" kern="1200" dirty="0" smtClean="0">
                <a:solidFill>
                  <a:schemeClr val="tx1"/>
                </a:solidFill>
                <a:latin typeface="+mn-lt"/>
                <a:ea typeface="+mn-ea"/>
                <a:cs typeface="+mn-cs"/>
              </a:rPr>
              <a:t>Remove the dipstick.</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https://www.youtube.com/watch?v=6IQBZm8DBAw</a:t>
            </a:r>
            <a:r>
              <a:rPr lang="en-AU" sz="1200" kern="1200" dirty="0" smtClean="0">
                <a:solidFill>
                  <a:schemeClr val="tx1"/>
                </a:solidFill>
                <a:latin typeface="+mn-lt"/>
                <a:ea typeface="+mn-ea"/>
                <a:cs typeface="+mn-cs"/>
              </a:rPr>
              <a:t> – Checking and adding oil to your vehicle for beginners</a:t>
            </a:r>
          </a:p>
          <a:p>
            <a:r>
              <a:rPr lang="en-AU" sz="1200" u="sng" kern="1200" dirty="0" smtClean="0">
                <a:solidFill>
                  <a:schemeClr val="tx1"/>
                </a:solidFill>
                <a:latin typeface="+mn-lt"/>
                <a:ea typeface="+mn-ea"/>
                <a:cs typeface="+mn-cs"/>
                <a:hlinkClick r:id="rId4"/>
              </a:rPr>
              <a:t>http://m.supercheapauto.com.au/How-To/Oils-Lubricants/Checking-Topping-Up-Engine-Oil/194</a:t>
            </a:r>
            <a:r>
              <a:rPr lang="en-AU" sz="1200" kern="1200" dirty="0" smtClean="0">
                <a:solidFill>
                  <a:schemeClr val="tx1"/>
                </a:solidFill>
                <a:latin typeface="+mn-lt"/>
                <a:ea typeface="+mn-ea"/>
                <a:cs typeface="+mn-cs"/>
              </a:rPr>
              <a:t> - Checking and topping up engine oil</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42074118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checking and topping-up engine oil:</a:t>
            </a:r>
          </a:p>
          <a:p>
            <a:pPr marL="171450" indent="-171450">
              <a:buFont typeface="Arial" pitchFamily="34" charset="0"/>
              <a:buChar char="•"/>
            </a:pPr>
            <a:r>
              <a:rPr lang="en-AU" sz="1200" kern="1200" dirty="0" smtClean="0">
                <a:solidFill>
                  <a:schemeClr val="tx1"/>
                </a:solidFill>
                <a:latin typeface="+mn-lt"/>
                <a:ea typeface="+mn-ea"/>
                <a:cs typeface="+mn-cs"/>
              </a:rPr>
              <a:t>Wipe clean with paper towel or clean rag</a:t>
            </a:r>
          </a:p>
          <a:p>
            <a:pPr marL="171450" indent="-171450">
              <a:buFont typeface="Arial" pitchFamily="34" charset="0"/>
              <a:buChar char="•"/>
            </a:pPr>
            <a:r>
              <a:rPr lang="en-AU" sz="1200" kern="1200" dirty="0" smtClean="0">
                <a:solidFill>
                  <a:schemeClr val="tx1"/>
                </a:solidFill>
                <a:latin typeface="+mn-lt"/>
                <a:ea typeface="+mn-ea"/>
                <a:cs typeface="+mn-cs"/>
              </a:rPr>
              <a:t>Re-insert dipstick – to get reading</a:t>
            </a:r>
          </a:p>
          <a:p>
            <a:pPr marL="171450" indent="-171450">
              <a:buFont typeface="Arial" pitchFamily="34" charset="0"/>
              <a:buChar char="•"/>
            </a:pPr>
            <a:r>
              <a:rPr lang="en-AU" sz="1200" kern="1200" dirty="0" smtClean="0">
                <a:solidFill>
                  <a:schemeClr val="tx1"/>
                </a:solidFill>
                <a:latin typeface="+mn-lt"/>
                <a:ea typeface="+mn-ea"/>
                <a:cs typeface="+mn-cs"/>
              </a:rPr>
              <a:t>Remove dipstick</a:t>
            </a:r>
          </a:p>
          <a:p>
            <a:pPr marL="171450" indent="-171450">
              <a:buFont typeface="Arial" pitchFamily="34" charset="0"/>
              <a:buChar char="•"/>
            </a:pPr>
            <a:r>
              <a:rPr lang="en-AU" sz="1200" kern="1200" dirty="0" smtClean="0">
                <a:solidFill>
                  <a:schemeClr val="tx1"/>
                </a:solidFill>
                <a:latin typeface="+mn-lt"/>
                <a:ea typeface="+mn-ea"/>
                <a:cs typeface="+mn-cs"/>
              </a:rPr>
              <a:t>Read level of oil on the dipstick – if level is below ‘Min’ it needs to be topped-up</a:t>
            </a:r>
          </a:p>
          <a:p>
            <a:pPr marL="171450" indent="-171450">
              <a:buFont typeface="Arial" pitchFamily="34" charset="0"/>
              <a:buChar char="•"/>
            </a:pPr>
            <a:r>
              <a:rPr lang="en-AU" sz="1200" kern="1200" dirty="0" smtClean="0">
                <a:solidFill>
                  <a:schemeClr val="tx1"/>
                </a:solidFill>
                <a:latin typeface="+mn-lt"/>
                <a:ea typeface="+mn-ea"/>
                <a:cs typeface="+mn-cs"/>
              </a:rPr>
              <a:t>Locate oil filler cap on top of motor – clean around the cap before removing it.</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https://www.youtube.com/watch?v=uvUPsk2bN0A</a:t>
            </a:r>
            <a:r>
              <a:rPr lang="en-AU" sz="1200" kern="1200" dirty="0" smtClean="0">
                <a:solidFill>
                  <a:schemeClr val="tx1"/>
                </a:solidFill>
                <a:latin typeface="+mn-lt"/>
                <a:ea typeface="+mn-ea"/>
                <a:cs typeface="+mn-cs"/>
              </a:rPr>
              <a:t> – Check your fluids, engine oil, transmission fluid, power steering, coolant etc …</a:t>
            </a:r>
          </a:p>
          <a:p>
            <a:r>
              <a:rPr lang="en-AU" sz="1200" u="sng" kern="1200" dirty="0" smtClean="0">
                <a:solidFill>
                  <a:schemeClr val="tx1"/>
                </a:solidFill>
                <a:latin typeface="+mn-lt"/>
                <a:ea typeface="+mn-ea"/>
                <a:cs typeface="+mn-cs"/>
                <a:hlinkClick r:id="rId4"/>
              </a:rPr>
              <a:t>https://www.youtube.com/watch?v=BSlouL8Ekgw</a:t>
            </a:r>
            <a:r>
              <a:rPr lang="en-AU" sz="1200" kern="1200" dirty="0" smtClean="0">
                <a:solidFill>
                  <a:schemeClr val="tx1"/>
                </a:solidFill>
                <a:latin typeface="+mn-lt"/>
                <a:ea typeface="+mn-ea"/>
                <a:cs typeface="+mn-cs"/>
              </a:rPr>
              <a:t> – How to check car fluids, belts and perform full underhood inspection</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70186420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checking and topping-up engine oil:</a:t>
            </a:r>
          </a:p>
          <a:p>
            <a:pPr marL="171450" indent="-171450">
              <a:buFont typeface="Arial" pitchFamily="34" charset="0"/>
              <a:buChar char="•"/>
            </a:pPr>
            <a:r>
              <a:rPr lang="en-AU" sz="1200" kern="1200" dirty="0" smtClean="0">
                <a:solidFill>
                  <a:schemeClr val="tx1"/>
                </a:solidFill>
                <a:latin typeface="+mn-lt"/>
                <a:ea typeface="+mn-ea"/>
                <a:cs typeface="+mn-cs"/>
              </a:rPr>
              <a:t>Top-up oil by inserting funnel into hole and pouring fluid slowly into funnel – base amount added on reading from dipstick </a:t>
            </a:r>
          </a:p>
          <a:p>
            <a:pPr marL="171450" indent="-171450">
              <a:buFont typeface="Arial" pitchFamily="34" charset="0"/>
              <a:buChar char="•"/>
            </a:pPr>
            <a:r>
              <a:rPr lang="en-AU" sz="1200" kern="1200" dirty="0" smtClean="0">
                <a:solidFill>
                  <a:schemeClr val="tx1"/>
                </a:solidFill>
                <a:latin typeface="+mn-lt"/>
                <a:ea typeface="+mn-ea"/>
                <a:cs typeface="+mn-cs"/>
              </a:rPr>
              <a:t>Add small amounts each time</a:t>
            </a:r>
          </a:p>
          <a:p>
            <a:pPr marL="171450" indent="-171450">
              <a:buFont typeface="Arial" pitchFamily="34" charset="0"/>
              <a:buChar char="•"/>
            </a:pPr>
            <a:r>
              <a:rPr lang="en-AU" sz="1200" kern="1200" dirty="0" smtClean="0">
                <a:solidFill>
                  <a:schemeClr val="tx1"/>
                </a:solidFill>
                <a:latin typeface="+mn-lt"/>
                <a:ea typeface="+mn-ea"/>
                <a:cs typeface="+mn-cs"/>
              </a:rPr>
              <a:t>Only use oil recommended by vehicle manufacturer.</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164165327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checking and topping-up engine oil:</a:t>
            </a:r>
          </a:p>
          <a:p>
            <a:pPr marL="171450" indent="-171450">
              <a:buFont typeface="Arial" pitchFamily="34" charset="0"/>
              <a:buChar char="•"/>
            </a:pPr>
            <a:r>
              <a:rPr lang="en-AU" sz="1200" kern="1200" dirty="0" smtClean="0">
                <a:solidFill>
                  <a:schemeClr val="tx1"/>
                </a:solidFill>
                <a:latin typeface="+mn-lt"/>
                <a:ea typeface="+mn-ea"/>
                <a:cs typeface="+mn-cs"/>
              </a:rPr>
              <a:t>Re-check level after each addition</a:t>
            </a:r>
          </a:p>
          <a:p>
            <a:pPr marL="171450" indent="-171450">
              <a:buFont typeface="Arial" pitchFamily="34" charset="0"/>
              <a:buChar char="•"/>
            </a:pPr>
            <a:r>
              <a:rPr lang="en-AU" sz="1200" kern="1200" dirty="0" smtClean="0">
                <a:solidFill>
                  <a:schemeClr val="tx1"/>
                </a:solidFill>
                <a:latin typeface="+mn-lt"/>
                <a:ea typeface="+mn-ea"/>
                <a:cs typeface="+mn-cs"/>
              </a:rPr>
              <a:t>Do not overfill</a:t>
            </a:r>
          </a:p>
          <a:p>
            <a:pPr marL="171450" indent="-171450">
              <a:buFont typeface="Arial" pitchFamily="34" charset="0"/>
              <a:buChar char="•"/>
            </a:pPr>
            <a:r>
              <a:rPr lang="en-AU" sz="1200" kern="1200" dirty="0" smtClean="0">
                <a:solidFill>
                  <a:schemeClr val="tx1"/>
                </a:solidFill>
                <a:latin typeface="+mn-lt"/>
                <a:ea typeface="+mn-ea"/>
                <a:cs typeface="+mn-cs"/>
              </a:rPr>
              <a:t>Clean away any spills/drips</a:t>
            </a:r>
          </a:p>
          <a:p>
            <a:pPr marL="171450" indent="-171450">
              <a:buFont typeface="Arial" pitchFamily="34" charset="0"/>
              <a:buChar char="•"/>
            </a:pPr>
            <a:r>
              <a:rPr lang="en-AU" sz="1200" kern="1200" dirty="0" smtClean="0">
                <a:solidFill>
                  <a:schemeClr val="tx1"/>
                </a:solidFill>
                <a:latin typeface="+mn-lt"/>
                <a:ea typeface="+mn-ea"/>
                <a:cs typeface="+mn-cs"/>
              </a:rPr>
              <a:t>Replace and secure dipstick and oil filler cap when required level is attained – between ‘Min’ and ‘Max’ indicators on the dipstick.</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top-up engine oil and provides opportunity for them to do the same</a:t>
            </a:r>
            <a:endParaRPr lang="en-AU" noProof="0" dirty="0" smtClean="0"/>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388591275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addressing punctures to a tour vehicle stating if </a:t>
            </a:r>
            <a:r>
              <a:rPr lang="en-AU" sz="1200" kern="1200" dirty="0" smtClean="0">
                <a:solidFill>
                  <a:schemeClr val="tx1"/>
                </a:solidFill>
                <a:latin typeface="+mn-lt"/>
                <a:ea typeface="+mn-ea"/>
                <a:cs typeface="+mn-cs"/>
              </a:rPr>
              <a:t>a tour vehicle suffers a puncture while on tour the standard responses are to:</a:t>
            </a:r>
          </a:p>
          <a:p>
            <a:pPr marL="171450" indent="-171450">
              <a:buFont typeface="Arial" pitchFamily="34" charset="0"/>
              <a:buChar char="•"/>
            </a:pPr>
            <a:r>
              <a:rPr lang="en-AU" sz="1200" kern="1200" dirty="0" smtClean="0">
                <a:solidFill>
                  <a:schemeClr val="tx1"/>
                </a:solidFill>
                <a:latin typeface="+mn-lt"/>
                <a:ea typeface="+mn-ea"/>
                <a:cs typeface="+mn-cs"/>
              </a:rPr>
              <a:t>Remove the punctured tyre and replace with one of the spares carried on the vehicle</a:t>
            </a:r>
          </a:p>
          <a:p>
            <a:pPr marL="171450" indent="-171450">
              <a:buFont typeface="Arial" pitchFamily="34" charset="0"/>
              <a:buChar char="•"/>
            </a:pPr>
            <a:r>
              <a:rPr lang="en-AU" sz="1200" kern="1200" dirty="0" smtClean="0">
                <a:solidFill>
                  <a:schemeClr val="tx1"/>
                </a:solidFill>
                <a:latin typeface="+mn-lt"/>
                <a:ea typeface="+mn-ea"/>
                <a:cs typeface="+mn-cs"/>
              </a:rPr>
              <a:t>Call in to a repair centre, tyre agency or garage as soon as possible to have the punctured tyre repaired</a:t>
            </a:r>
          </a:p>
          <a:p>
            <a:pPr marL="171450" indent="-171450">
              <a:buFont typeface="Arial" pitchFamily="34" charset="0"/>
              <a:buChar char="•"/>
            </a:pPr>
            <a:r>
              <a:rPr lang="en-AU" sz="1200" kern="1200" dirty="0" smtClean="0">
                <a:solidFill>
                  <a:schemeClr val="tx1"/>
                </a:solidFill>
                <a:latin typeface="+mn-lt"/>
                <a:ea typeface="+mn-ea"/>
                <a:cs typeface="+mn-cs"/>
              </a:rPr>
              <a:t>Never try to repair a tyre where the sidewall is damaged</a:t>
            </a:r>
          </a:p>
          <a:p>
            <a:pPr marL="171450" indent="-171450">
              <a:buFont typeface="Arial" pitchFamily="34" charset="0"/>
              <a:buChar char="•"/>
            </a:pPr>
            <a:r>
              <a:rPr lang="en-AU" sz="1200" kern="1200" dirty="0" smtClean="0">
                <a:solidFill>
                  <a:schemeClr val="tx1"/>
                </a:solidFill>
                <a:latin typeface="+mn-lt"/>
                <a:ea typeface="+mn-ea"/>
                <a:cs typeface="+mn-cs"/>
              </a:rPr>
              <a:t>The standard response to a puncture is, therefore, not to repair the puncture until it becomes absolutely necessary to do so.</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2160985200"/>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noProof="0" dirty="0" smtClean="0"/>
              <a:t>Trainer identifies and explains two options for puncture repair:</a:t>
            </a:r>
          </a:p>
          <a:p>
            <a:pPr marL="171450" indent="-171450">
              <a:buFont typeface="Arial" pitchFamily="34" charset="0"/>
              <a:buChar char="•"/>
            </a:pPr>
            <a:r>
              <a:rPr lang="en-AU" sz="1200" kern="1200" dirty="0" smtClean="0">
                <a:solidFill>
                  <a:schemeClr val="tx1"/>
                </a:solidFill>
                <a:latin typeface="+mn-lt"/>
                <a:ea typeface="+mn-ea"/>
                <a:cs typeface="+mn-cs"/>
              </a:rPr>
              <a:t>Use a pressurised commercial can of tyre adhesive to provide a short-term solution:</a:t>
            </a:r>
          </a:p>
          <a:p>
            <a:pPr marL="628650" lvl="1" indent="-171450">
              <a:buFont typeface="Arial" pitchFamily="34" charset="0"/>
              <a:buChar char="•"/>
            </a:pPr>
            <a:r>
              <a:rPr lang="en-AU" sz="1200" kern="1200" dirty="0" smtClean="0">
                <a:solidFill>
                  <a:schemeClr val="tx1"/>
                </a:solidFill>
                <a:latin typeface="+mn-lt"/>
                <a:ea typeface="+mn-ea"/>
                <a:cs typeface="+mn-cs"/>
              </a:rPr>
              <a:t>Following the instructions on the can</a:t>
            </a:r>
          </a:p>
          <a:p>
            <a:pPr marL="628650" lvl="1" indent="-171450">
              <a:buFont typeface="Arial" pitchFamily="34" charset="0"/>
              <a:buChar char="•"/>
            </a:pPr>
            <a:r>
              <a:rPr lang="en-AU" sz="1200" kern="1200" dirty="0" smtClean="0">
                <a:solidFill>
                  <a:schemeClr val="tx1"/>
                </a:solidFill>
                <a:latin typeface="+mn-lt"/>
                <a:ea typeface="+mn-ea"/>
                <a:cs typeface="+mn-cs"/>
              </a:rPr>
              <a:t>Reducing driving speed until a professional repair can be made</a:t>
            </a:r>
          </a:p>
          <a:p>
            <a:pPr marL="628650" lvl="1" indent="-171450">
              <a:buFont typeface="Arial" pitchFamily="34" charset="0"/>
              <a:buChar char="•"/>
            </a:pPr>
            <a:r>
              <a:rPr lang="en-AU" sz="1200" kern="1200" dirty="0" smtClean="0">
                <a:solidFill>
                  <a:schemeClr val="tx1"/>
                </a:solidFill>
                <a:latin typeface="+mn-lt"/>
                <a:ea typeface="+mn-ea"/>
                <a:cs typeface="+mn-cs"/>
              </a:rPr>
              <a:t>Getting the tyre repaired professionally at the earliest opportunity</a:t>
            </a:r>
          </a:p>
          <a:p>
            <a:pPr marL="171450" indent="-171450">
              <a:buFont typeface="Arial" pitchFamily="34" charset="0"/>
              <a:buChar char="•"/>
            </a:pPr>
            <a:r>
              <a:rPr lang="en-AU" sz="1200" kern="1200" dirty="0" smtClean="0">
                <a:solidFill>
                  <a:schemeClr val="tx1"/>
                </a:solidFill>
                <a:latin typeface="+mn-lt"/>
                <a:ea typeface="+mn-ea"/>
                <a:cs typeface="+mn-cs"/>
              </a:rPr>
              <a:t>Use a tyre repair kit to plug the hole following the instructions which come with the kit – for example:</a:t>
            </a:r>
          </a:p>
          <a:p>
            <a:pPr marL="628650" lvl="1" indent="-171450">
              <a:buFont typeface="Arial" pitchFamily="34" charset="0"/>
              <a:buChar char="•"/>
            </a:pPr>
            <a:r>
              <a:rPr lang="en-AU" sz="1200" kern="1200" dirty="0" smtClean="0">
                <a:solidFill>
                  <a:schemeClr val="tx1"/>
                </a:solidFill>
                <a:latin typeface="+mn-lt"/>
                <a:ea typeface="+mn-ea"/>
                <a:cs typeface="+mn-cs"/>
              </a:rPr>
              <a:t>Remove the cause of the puncture</a:t>
            </a:r>
          </a:p>
          <a:p>
            <a:pPr marL="628650" lvl="1" indent="-171450">
              <a:buFont typeface="Arial" pitchFamily="34" charset="0"/>
              <a:buChar char="•"/>
            </a:pPr>
            <a:r>
              <a:rPr lang="en-AU" sz="1200" kern="1200" dirty="0" smtClean="0">
                <a:solidFill>
                  <a:schemeClr val="tx1"/>
                </a:solidFill>
                <a:latin typeface="+mn-lt"/>
                <a:ea typeface="+mn-ea"/>
                <a:cs typeface="+mn-cs"/>
              </a:rPr>
              <a:t>Lubricate reaming tool and ream out hole with the tool in the kit – to make the hole big enough to take a the plug</a:t>
            </a:r>
          </a:p>
          <a:p>
            <a:pPr marL="628650" lvl="1" indent="-171450">
              <a:buFont typeface="Arial" pitchFamily="34" charset="0"/>
              <a:buChar char="•"/>
            </a:pPr>
            <a:r>
              <a:rPr lang="en-AU" sz="1200" kern="1200" dirty="0" smtClean="0">
                <a:solidFill>
                  <a:schemeClr val="tx1"/>
                </a:solidFill>
                <a:latin typeface="+mn-lt"/>
                <a:ea typeface="+mn-ea"/>
                <a:cs typeface="+mn-cs"/>
              </a:rPr>
              <a:t>Lubricate the plug with some rubber adhesive – and fix into the insertion tool</a:t>
            </a:r>
          </a:p>
          <a:p>
            <a:pPr marL="628650" lvl="1" indent="-171450">
              <a:buFont typeface="Arial" pitchFamily="34" charset="0"/>
              <a:buChar char="•"/>
            </a:pPr>
            <a:r>
              <a:rPr lang="en-AU" sz="1200" kern="1200" dirty="0" smtClean="0">
                <a:solidFill>
                  <a:schemeClr val="tx1"/>
                </a:solidFill>
                <a:latin typeface="+mn-lt"/>
                <a:ea typeface="+mn-ea"/>
                <a:cs typeface="+mn-cs"/>
              </a:rPr>
              <a:t>Use the insertion tool to locate the plug into the hole- - and withdraw the insertion tool</a:t>
            </a:r>
          </a:p>
          <a:p>
            <a:pPr marL="628650" lvl="1" indent="-171450">
              <a:buFont typeface="Arial" pitchFamily="34" charset="0"/>
              <a:buChar char="•"/>
            </a:pPr>
            <a:r>
              <a:rPr lang="en-AU" sz="1200" kern="1200" dirty="0" smtClean="0">
                <a:solidFill>
                  <a:schemeClr val="tx1"/>
                </a:solidFill>
                <a:latin typeface="+mn-lt"/>
                <a:ea typeface="+mn-ea"/>
                <a:cs typeface="+mn-cs"/>
              </a:rPr>
              <a:t>Cut off excess plug protruding from the tread of the tyre</a:t>
            </a:r>
          </a:p>
          <a:p>
            <a:pPr marL="628650" lvl="1" indent="-171450">
              <a:buFont typeface="Arial" pitchFamily="34" charset="0"/>
              <a:buChar char="•"/>
            </a:pPr>
            <a:r>
              <a:rPr lang="en-AU" sz="1200" kern="1200" dirty="0" smtClean="0">
                <a:solidFill>
                  <a:schemeClr val="tx1"/>
                </a:solidFill>
                <a:latin typeface="+mn-lt"/>
                <a:ea typeface="+mn-ea"/>
                <a:cs typeface="+mn-cs"/>
              </a:rPr>
              <a:t>Inflate the tyre as required.</a:t>
            </a:r>
          </a:p>
          <a:p>
            <a:pPr>
              <a:buFont typeface="Arial" pitchFamily="34" charset="0"/>
              <a:buNone/>
            </a:pPr>
            <a:endParaRPr lang="en-AU" noProof="0" dirty="0" smtClean="0"/>
          </a:p>
          <a:p>
            <a:pPr>
              <a:buFont typeface="Arial" pitchFamily="34" charset="0"/>
              <a:buNone/>
            </a:pPr>
            <a:r>
              <a:rPr lang="en-US" b="1" baseline="0" noProof="0" dirty="0" smtClean="0"/>
              <a:t>Classroom Activity (1)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https://www.youtube.com/watch?v=ulQmDaqv4F4</a:t>
            </a:r>
            <a:r>
              <a:rPr lang="en-AU" sz="1200" kern="1200" dirty="0" smtClean="0">
                <a:solidFill>
                  <a:schemeClr val="tx1"/>
                </a:solidFill>
                <a:latin typeface="+mn-lt"/>
                <a:ea typeface="+mn-ea"/>
                <a:cs typeface="+mn-cs"/>
              </a:rPr>
              <a:t> – Best tire repair video</a:t>
            </a:r>
          </a:p>
          <a:p>
            <a:r>
              <a:rPr lang="en-AU" sz="1200" u="sng" kern="1200" dirty="0" smtClean="0">
                <a:solidFill>
                  <a:schemeClr val="tx1"/>
                </a:solidFill>
                <a:latin typeface="+mn-lt"/>
                <a:ea typeface="+mn-ea"/>
                <a:cs typeface="+mn-cs"/>
                <a:hlinkClick r:id="rId4"/>
              </a:rPr>
              <a:t>https://www.youtube.com/watch?v=LRQJgTxRhOA</a:t>
            </a:r>
            <a:r>
              <a:rPr lang="en-AU" sz="1200" kern="1200" dirty="0" smtClean="0">
                <a:solidFill>
                  <a:schemeClr val="tx1"/>
                </a:solidFill>
                <a:latin typeface="+mn-lt"/>
                <a:ea typeface="+mn-ea"/>
                <a:cs typeface="+mn-cs"/>
              </a:rPr>
              <a:t> – How to repair a puncture in a tyre with a repair plug/string</a:t>
            </a:r>
          </a:p>
          <a:p>
            <a:r>
              <a:rPr lang="en-AU" sz="1200" u="sng" kern="1200" dirty="0" smtClean="0">
                <a:solidFill>
                  <a:schemeClr val="tx1"/>
                </a:solidFill>
                <a:latin typeface="+mn-lt"/>
                <a:ea typeface="+mn-ea"/>
                <a:cs typeface="+mn-cs"/>
                <a:hlinkClick r:id="rId5"/>
              </a:rPr>
              <a:t>http://www.toughtoys.com.au/4wd-recovery/tyre-repair-kits-and-equipment/</a:t>
            </a:r>
            <a:r>
              <a:rPr lang="en-AU" sz="1200" kern="1200" dirty="0" smtClean="0">
                <a:solidFill>
                  <a:schemeClr val="tx1"/>
                </a:solidFill>
                <a:latin typeface="+mn-lt"/>
                <a:ea typeface="+mn-ea"/>
                <a:cs typeface="+mn-cs"/>
              </a:rPr>
              <a:t> - Tyre repair kits and equipment.</a:t>
            </a:r>
          </a:p>
          <a:p>
            <a:pPr>
              <a:buFont typeface="Arial" pitchFamily="34" charset="0"/>
              <a:buNone/>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1" kern="1200" baseline="0" noProof="0" dirty="0" smtClean="0">
                <a:solidFill>
                  <a:schemeClr val="tx1"/>
                </a:solidFill>
                <a:latin typeface="+mn-lt"/>
                <a:ea typeface="+mn-ea"/>
                <a:cs typeface="+mn-cs"/>
              </a:rPr>
              <a:t>Classroom Activity (2)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plug a hole in a tyre using a tyre plug kit and provides opportunity for them to do the same.</a:t>
            </a:r>
            <a:endParaRPr lang="en-US" b="0"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412724034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bleeding brakes observing:</a:t>
            </a:r>
          </a:p>
          <a:p>
            <a:pPr marL="171450" indent="-171450">
              <a:buFont typeface="Arial" pitchFamily="34" charset="0"/>
              <a:buChar char="•"/>
            </a:pPr>
            <a:r>
              <a:rPr lang="en-AU" sz="1200" kern="1200" dirty="0" smtClean="0">
                <a:solidFill>
                  <a:schemeClr val="tx1"/>
                </a:solidFill>
                <a:latin typeface="+mn-lt"/>
                <a:ea typeface="+mn-ea"/>
                <a:cs typeface="+mn-cs"/>
              </a:rPr>
              <a:t>If brakes become spongy, soft or ineffective on tour they may require bleeding to remove air in the brake lines</a:t>
            </a:r>
          </a:p>
          <a:p>
            <a:pPr marL="171450" indent="-171450">
              <a:buFont typeface="Arial" pitchFamily="34" charset="0"/>
              <a:buChar char="•"/>
            </a:pPr>
            <a:r>
              <a:rPr lang="en-AU" sz="1200" kern="1200" dirty="0" smtClean="0">
                <a:solidFill>
                  <a:schemeClr val="tx1"/>
                </a:solidFill>
                <a:latin typeface="+mn-lt"/>
                <a:ea typeface="+mn-ea"/>
                <a:cs typeface="+mn-cs"/>
              </a:rPr>
              <a:t>This can be a two-person job – one person sitting in the vehicle and pumping the brake pedal and the other handling the brake bleeder bottle and the spanner to open and close the bleeder nipple/valve</a:t>
            </a:r>
          </a:p>
          <a:p>
            <a:pPr marL="171450" indent="-171450">
              <a:buFont typeface="Arial" pitchFamily="34" charset="0"/>
              <a:buChar char="•"/>
            </a:pPr>
            <a:r>
              <a:rPr lang="en-AU" sz="1200" kern="1200" dirty="0" smtClean="0">
                <a:solidFill>
                  <a:schemeClr val="tx1"/>
                </a:solidFill>
                <a:latin typeface="+mn-lt"/>
                <a:ea typeface="+mn-ea"/>
                <a:cs typeface="+mn-cs"/>
              </a:rPr>
              <a:t>When bleeding the brakes, all four wheels have to be bled: common practice is to start the process at the wheel furthest from the master cylinder and work through all four wheels finishing with the wheel closest to the master cylinder</a:t>
            </a:r>
          </a:p>
          <a:p>
            <a:pPr marL="171450" indent="-171450">
              <a:buFont typeface="Arial" pitchFamily="34" charset="0"/>
              <a:buChar char="•"/>
            </a:pPr>
            <a:r>
              <a:rPr lang="en-AU" sz="1200" kern="1200" dirty="0" smtClean="0">
                <a:solidFill>
                  <a:schemeClr val="tx1"/>
                </a:solidFill>
                <a:latin typeface="+mn-lt"/>
                <a:ea typeface="+mn-ea"/>
                <a:cs typeface="+mn-cs"/>
              </a:rPr>
              <a:t>As brake fluid is corrosive this means it is dangerous so appropriate protective gloves and eyewear should be used.</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b="0" u="sng" kern="1200" dirty="0" smtClean="0">
                <a:solidFill>
                  <a:schemeClr val="tx1"/>
                </a:solidFill>
                <a:latin typeface="+mn-lt"/>
                <a:ea typeface="+mn-ea"/>
                <a:cs typeface="+mn-cs"/>
                <a:hlinkClick r:id="rId3"/>
              </a:rPr>
              <a:t>https://www.youtube.com/watch?v=lPwM2vn3bT0</a:t>
            </a:r>
            <a:r>
              <a:rPr lang="en-AU" sz="1200" b="0" kern="1200" dirty="0" smtClean="0">
                <a:solidFill>
                  <a:schemeClr val="tx1"/>
                </a:solidFill>
                <a:latin typeface="+mn-lt"/>
                <a:ea typeface="+mn-ea"/>
                <a:cs typeface="+mn-cs"/>
              </a:rPr>
              <a:t> – How to bleed disc brakes</a:t>
            </a:r>
            <a:endParaRPr lang="en-AU" sz="1200" b="1" kern="1200" dirty="0" smtClean="0">
              <a:solidFill>
                <a:schemeClr val="tx1"/>
              </a:solidFill>
              <a:latin typeface="+mn-lt"/>
              <a:ea typeface="+mn-ea"/>
              <a:cs typeface="+mn-cs"/>
            </a:endParaRPr>
          </a:p>
          <a:p>
            <a:r>
              <a:rPr lang="en-AU" sz="1200" b="0" u="sng" kern="1200" dirty="0" smtClean="0">
                <a:solidFill>
                  <a:schemeClr val="tx1"/>
                </a:solidFill>
                <a:latin typeface="+mn-lt"/>
                <a:ea typeface="+mn-ea"/>
                <a:cs typeface="+mn-cs"/>
                <a:hlinkClick r:id="rId4"/>
              </a:rPr>
              <a:t>https://www.youtube.com/watch?v=lkd7iq-dIQ0</a:t>
            </a:r>
            <a:r>
              <a:rPr lang="en-AU" sz="1200" b="0" kern="1200" dirty="0" smtClean="0">
                <a:solidFill>
                  <a:schemeClr val="tx1"/>
                </a:solidFill>
                <a:latin typeface="+mn-lt"/>
                <a:ea typeface="+mn-ea"/>
                <a:cs typeface="+mn-cs"/>
              </a:rPr>
              <a:t> – Bleeding the brake system.</a:t>
            </a:r>
            <a:endParaRPr lang="en-AU" sz="1200" b="1"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353592289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how to bleed the brakes:</a:t>
            </a:r>
          </a:p>
          <a:p>
            <a:pPr marL="171450" indent="-171450">
              <a:buFont typeface="Arial" pitchFamily="34" charset="0"/>
              <a:buChar char="•"/>
            </a:pPr>
            <a:r>
              <a:rPr lang="en-AU" sz="1200" kern="1200" dirty="0" smtClean="0">
                <a:solidFill>
                  <a:schemeClr val="tx1"/>
                </a:solidFill>
                <a:latin typeface="+mn-lt"/>
                <a:ea typeface="+mn-ea"/>
                <a:cs typeface="+mn-cs"/>
              </a:rPr>
              <a:t>Check the brake fluid reservoir – to make sure there is sufficient brake fluid available in the reservoir before starting the process</a:t>
            </a:r>
          </a:p>
          <a:p>
            <a:pPr marL="171450" indent="-171450">
              <a:buFont typeface="Arial" pitchFamily="34" charset="0"/>
              <a:buChar char="•"/>
            </a:pPr>
            <a:r>
              <a:rPr lang="en-AU" sz="1200" kern="1200" dirty="0" smtClean="0">
                <a:solidFill>
                  <a:schemeClr val="tx1"/>
                </a:solidFill>
                <a:latin typeface="+mn-lt"/>
                <a:ea typeface="+mn-ea"/>
                <a:cs typeface="+mn-cs"/>
              </a:rPr>
              <a:t>Make sure the level is monitored throughout the process so air is not re-introduced into the brake system</a:t>
            </a:r>
          </a:p>
          <a:p>
            <a:pPr marL="171450" indent="-171450">
              <a:buFont typeface="Arial" pitchFamily="34" charset="0"/>
              <a:buChar char="•"/>
            </a:pPr>
            <a:r>
              <a:rPr lang="en-AU" sz="1200" kern="1200" dirty="0" smtClean="0">
                <a:solidFill>
                  <a:schemeClr val="tx1"/>
                </a:solidFill>
                <a:latin typeface="+mn-lt"/>
                <a:ea typeface="+mn-ea"/>
                <a:cs typeface="+mn-cs"/>
              </a:rPr>
              <a:t>Have replacement/new brake fluid on hand – to top-up the reservoir as required</a:t>
            </a:r>
          </a:p>
          <a:p>
            <a:pPr marL="171450" indent="-171450">
              <a:buFont typeface="Arial" pitchFamily="34" charset="0"/>
              <a:buChar char="•"/>
            </a:pPr>
            <a:r>
              <a:rPr lang="en-AU" sz="1200" kern="1200" dirty="0" smtClean="0">
                <a:solidFill>
                  <a:schemeClr val="tx1"/>
                </a:solidFill>
                <a:latin typeface="+mn-lt"/>
                <a:ea typeface="+mn-ea"/>
                <a:cs typeface="+mn-cs"/>
              </a:rPr>
              <a:t>Jack the vehicle up and remove the wheels – optional in some cases</a:t>
            </a:r>
          </a:p>
          <a:p>
            <a:pPr marL="171450" indent="-171450">
              <a:buFont typeface="Arial" pitchFamily="34" charset="0"/>
              <a:buChar char="•"/>
            </a:pPr>
            <a:r>
              <a:rPr lang="en-AU" sz="1200" kern="1200" dirty="0" smtClean="0">
                <a:solidFill>
                  <a:schemeClr val="tx1"/>
                </a:solidFill>
                <a:latin typeface="+mn-lt"/>
                <a:ea typeface="+mn-ea"/>
                <a:cs typeface="+mn-cs"/>
              </a:rPr>
              <a:t>Attach brake bleeder bottle to brake nipple.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1695168055"/>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how to bleed the brakes:</a:t>
            </a:r>
          </a:p>
          <a:p>
            <a:pPr marL="171450" indent="-171450">
              <a:buFont typeface="Arial" pitchFamily="34" charset="0"/>
              <a:buChar char="•"/>
            </a:pPr>
            <a:r>
              <a:rPr lang="en-AU" sz="1200" kern="1200" dirty="0" smtClean="0">
                <a:solidFill>
                  <a:schemeClr val="tx1"/>
                </a:solidFill>
                <a:latin typeface="+mn-lt"/>
                <a:ea typeface="+mn-ea"/>
                <a:cs typeface="+mn-cs"/>
              </a:rPr>
              <a:t>Open valve and depress brake pedal four to five times</a:t>
            </a:r>
          </a:p>
          <a:p>
            <a:pPr marL="171450" indent="-171450">
              <a:buFont typeface="Arial" pitchFamily="34" charset="0"/>
              <a:buChar char="•"/>
            </a:pPr>
            <a:r>
              <a:rPr lang="en-AU" sz="1200" kern="1200" dirty="0" smtClean="0">
                <a:solidFill>
                  <a:schemeClr val="tx1"/>
                </a:solidFill>
                <a:latin typeface="+mn-lt"/>
                <a:ea typeface="+mn-ea"/>
                <a:cs typeface="+mn-cs"/>
              </a:rPr>
              <a:t>Close valve and tighten – top up reservoir with brake fluid</a:t>
            </a:r>
          </a:p>
          <a:p>
            <a:pPr marL="171450" indent="-171450">
              <a:buFont typeface="Arial" pitchFamily="34" charset="0"/>
              <a:buChar char="•"/>
            </a:pPr>
            <a:r>
              <a:rPr lang="en-AU" sz="1200" kern="1200" dirty="0" smtClean="0">
                <a:solidFill>
                  <a:schemeClr val="tx1"/>
                </a:solidFill>
                <a:latin typeface="+mn-lt"/>
                <a:ea typeface="+mn-ea"/>
                <a:cs typeface="+mn-cs"/>
              </a:rPr>
              <a:t>Check for leaks by pressing brake pedal hard – re-tighten valve/nipple if there is a leak</a:t>
            </a:r>
          </a:p>
          <a:p>
            <a:pPr marL="171450" indent="-171450">
              <a:buFont typeface="Arial" pitchFamily="34" charset="0"/>
              <a:buChar char="•"/>
            </a:pPr>
            <a:r>
              <a:rPr lang="en-AU" sz="1200" kern="1200" dirty="0" smtClean="0">
                <a:solidFill>
                  <a:schemeClr val="tx1"/>
                </a:solidFill>
                <a:latin typeface="+mn-lt"/>
                <a:ea typeface="+mn-ea"/>
                <a:cs typeface="+mn-cs"/>
              </a:rPr>
              <a:t>Remove brake bleeder bottle – discard fluid</a:t>
            </a:r>
          </a:p>
          <a:p>
            <a:pPr marL="171450" indent="-171450">
              <a:buFont typeface="Arial" pitchFamily="34" charset="0"/>
              <a:buChar char="•"/>
            </a:pPr>
            <a:r>
              <a:rPr lang="en-AU" sz="1200" kern="1200" dirty="0" smtClean="0">
                <a:solidFill>
                  <a:schemeClr val="tx1"/>
                </a:solidFill>
                <a:latin typeface="+mn-lt"/>
                <a:ea typeface="+mn-ea"/>
                <a:cs typeface="+mn-cs"/>
              </a:rPr>
              <a:t>Repeat for remaining three wheels – monitoring level of brake fluid in brake fluid reservoir and topping-up as necessary.</a:t>
            </a:r>
          </a:p>
          <a:p>
            <a:pPr>
              <a:buFont typeface="Arial" pitchFamily="34" charset="0"/>
              <a:buNone/>
            </a:pPr>
            <a:endParaRPr lang="en-AU"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bleed the brakes and provides opportunity for them to do the same.</a:t>
            </a:r>
            <a:endParaRPr lang="en-US" b="0" baseline="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181269164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bleeding an engine stating:</a:t>
            </a:r>
          </a:p>
          <a:p>
            <a:pPr marL="171450" indent="-171450">
              <a:buFont typeface="Arial" pitchFamily="34" charset="0"/>
              <a:buChar char="•"/>
            </a:pPr>
            <a:r>
              <a:rPr lang="en-AU" sz="1200" kern="1200" dirty="0" smtClean="0">
                <a:solidFill>
                  <a:schemeClr val="tx1"/>
                </a:solidFill>
                <a:latin typeface="+mn-lt"/>
                <a:ea typeface="+mn-ea"/>
                <a:cs typeface="+mn-cs"/>
              </a:rPr>
              <a:t>Bleeding a diesel engine refers to removing air from the lines so the engine will re-start after, for example, the engine has run out of fuel or there has been a need to replace the fuel filter</a:t>
            </a:r>
          </a:p>
          <a:p>
            <a:pPr marL="171450" indent="-171450">
              <a:buFont typeface="Arial" pitchFamily="34" charset="0"/>
              <a:buChar char="•"/>
            </a:pPr>
            <a:r>
              <a:rPr lang="en-AU" sz="1200" kern="1200" dirty="0" smtClean="0">
                <a:solidFill>
                  <a:schemeClr val="tx1"/>
                </a:solidFill>
                <a:latin typeface="+mn-lt"/>
                <a:ea typeface="+mn-ea"/>
                <a:cs typeface="+mn-cs"/>
              </a:rPr>
              <a:t>If the engine/fuel lines are not bled, the air in the lines blocks the flow of fuel and the engine will not start (or will run roughly)</a:t>
            </a:r>
          </a:p>
          <a:p>
            <a:pPr marL="171450" indent="-171450">
              <a:buFont typeface="Arial" pitchFamily="34" charset="0"/>
              <a:buChar char="•"/>
            </a:pPr>
            <a:r>
              <a:rPr lang="en-AU" sz="1200" kern="1200" dirty="0" smtClean="0">
                <a:solidFill>
                  <a:schemeClr val="tx1"/>
                </a:solidFill>
                <a:latin typeface="+mn-lt"/>
                <a:ea typeface="+mn-ea"/>
                <a:cs typeface="+mn-cs"/>
              </a:rPr>
              <a:t>Refer to the Owner’s manual/Operator’s manual for the vehicle to obtain manufacturer’s instructions in this regard as there are different requirements and vehicle components for different makes and models of vehicles and engines</a:t>
            </a:r>
          </a:p>
          <a:p>
            <a:pPr marL="171450" indent="-171450">
              <a:buFont typeface="Arial" pitchFamily="34" charset="0"/>
              <a:buChar char="•"/>
            </a:pPr>
            <a:r>
              <a:rPr lang="en-AU" sz="1200" kern="1200" dirty="0" smtClean="0">
                <a:solidFill>
                  <a:schemeClr val="tx1"/>
                </a:solidFill>
                <a:latin typeface="+mn-lt"/>
                <a:ea typeface="+mn-ea"/>
                <a:cs typeface="+mn-cs"/>
              </a:rPr>
              <a:t>More modern engines feature alternate (more simple-to-use) systems such as bleed screws whereby the screw is opened, the engine is cranked and then the screw is closed.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32894641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actions to bleed an engine:</a:t>
            </a:r>
          </a:p>
          <a:p>
            <a:pPr marL="171450" indent="-171450">
              <a:buFont typeface="Arial" pitchFamily="34" charset="0"/>
              <a:buChar char="•"/>
            </a:pPr>
            <a:r>
              <a:rPr lang="en-AU" sz="1200" kern="1200" dirty="0" smtClean="0">
                <a:solidFill>
                  <a:schemeClr val="tx1"/>
                </a:solidFill>
                <a:latin typeface="+mn-lt"/>
                <a:ea typeface="+mn-ea"/>
                <a:cs typeface="+mn-cs"/>
              </a:rPr>
              <a:t>Filling the vehicle with fuel – to prevent recurrence of the problem if the problem was caused by running out of fuel</a:t>
            </a:r>
          </a:p>
          <a:p>
            <a:pPr marL="171450" indent="-171450">
              <a:buFont typeface="Arial" pitchFamily="34" charset="0"/>
              <a:buChar char="•"/>
            </a:pPr>
            <a:r>
              <a:rPr lang="en-AU" sz="1200" kern="1200" dirty="0" smtClean="0">
                <a:solidFill>
                  <a:schemeClr val="tx1"/>
                </a:solidFill>
                <a:latin typeface="+mn-lt"/>
                <a:ea typeface="+mn-ea"/>
                <a:cs typeface="+mn-cs"/>
              </a:rPr>
              <a:t>Confirming the new fuel filter is properly fitted – and was filled with fuel prior to being re-fitted</a:t>
            </a:r>
          </a:p>
          <a:p>
            <a:pPr marL="171450" indent="-171450">
              <a:buFont typeface="Arial" pitchFamily="34" charset="0"/>
              <a:buChar char="•"/>
            </a:pPr>
            <a:r>
              <a:rPr lang="en-AU" sz="1200" kern="1200" dirty="0" smtClean="0">
                <a:solidFill>
                  <a:schemeClr val="tx1"/>
                </a:solidFill>
                <a:latin typeface="+mn-lt"/>
                <a:ea typeface="+mn-ea"/>
                <a:cs typeface="+mn-cs"/>
              </a:rPr>
              <a:t>Prime the lift pump – by activating the level attached to move fuel to the injector</a:t>
            </a:r>
          </a:p>
          <a:p>
            <a:pPr marL="171450" indent="-171450">
              <a:buFont typeface="Arial" pitchFamily="34" charset="0"/>
              <a:buChar char="•"/>
            </a:pPr>
            <a:r>
              <a:rPr lang="en-AU" sz="1200" kern="1200" dirty="0" smtClean="0">
                <a:solidFill>
                  <a:schemeClr val="tx1"/>
                </a:solidFill>
                <a:latin typeface="+mn-lt"/>
                <a:ea typeface="+mn-ea"/>
                <a:cs typeface="+mn-cs"/>
              </a:rPr>
              <a:t>Open the line to the injector furthest away from the pump – and allow air to escape </a:t>
            </a:r>
          </a:p>
          <a:p>
            <a:pPr marL="171450" indent="-171450">
              <a:buFont typeface="Arial" pitchFamily="34" charset="0"/>
              <a:buChar char="•"/>
            </a:pPr>
            <a:r>
              <a:rPr lang="en-AU" sz="1200" kern="1200" dirty="0" smtClean="0">
                <a:solidFill>
                  <a:schemeClr val="tx1"/>
                </a:solidFill>
                <a:latin typeface="+mn-lt"/>
                <a:ea typeface="+mn-ea"/>
                <a:cs typeface="+mn-cs"/>
              </a:rPr>
              <a:t>Tighten the line when there is a steady flow of diesel – and clean away spilt fuel</a:t>
            </a:r>
          </a:p>
          <a:p>
            <a:pPr marL="171450" indent="-171450">
              <a:buFont typeface="Arial" pitchFamily="34" charset="0"/>
              <a:buChar char="•"/>
            </a:pPr>
            <a:r>
              <a:rPr lang="en-AU" sz="1200" kern="1200" dirty="0" smtClean="0">
                <a:solidFill>
                  <a:schemeClr val="tx1"/>
                </a:solidFill>
                <a:latin typeface="+mn-lt"/>
                <a:ea typeface="+mn-ea"/>
                <a:cs typeface="+mn-cs"/>
              </a:rPr>
              <a:t>Repeat for each cylinder.</a:t>
            </a:r>
          </a:p>
          <a:p>
            <a:pPr>
              <a:buFont typeface="Arial" pitchFamily="34" charset="0"/>
              <a:buNone/>
            </a:pPr>
            <a:endParaRPr lang="en-AU"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bleed an engine and provides opportunity for them to do the same.</a:t>
            </a:r>
            <a:endParaRPr lang="en-US" b="0" baseline="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2424400084"/>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process for replacing spark plugs:</a:t>
            </a:r>
          </a:p>
          <a:p>
            <a:pPr marL="171450" indent="-171450">
              <a:buFont typeface="Arial" pitchFamily="34" charset="0"/>
              <a:buChar char="•"/>
            </a:pPr>
            <a:r>
              <a:rPr lang="en-AU" sz="1200" kern="1200" dirty="0" smtClean="0">
                <a:solidFill>
                  <a:schemeClr val="tx1"/>
                </a:solidFill>
                <a:latin typeface="+mn-lt"/>
                <a:ea typeface="+mn-ea"/>
                <a:cs typeface="+mn-cs"/>
              </a:rPr>
              <a:t>Disconnect the HT lead to the spark plug</a:t>
            </a:r>
          </a:p>
          <a:p>
            <a:pPr marL="171450" indent="-171450">
              <a:buFont typeface="Arial" pitchFamily="34" charset="0"/>
              <a:buChar char="•"/>
            </a:pPr>
            <a:r>
              <a:rPr lang="en-AU" sz="1200" kern="1200" dirty="0" smtClean="0">
                <a:solidFill>
                  <a:schemeClr val="tx1"/>
                </a:solidFill>
                <a:latin typeface="+mn-lt"/>
                <a:ea typeface="+mn-ea"/>
                <a:cs typeface="+mn-cs"/>
              </a:rPr>
              <a:t>Use a spark plug socket attached to a wrench in an anti-clockwise direction to loosen the used spark plug – many plugs can be hard to shift so a long handle will provide the necessary extra pressure</a:t>
            </a:r>
          </a:p>
          <a:p>
            <a:pPr marL="171450" indent="-171450">
              <a:buFont typeface="Arial" pitchFamily="34" charset="0"/>
              <a:buChar char="•"/>
            </a:pPr>
            <a:r>
              <a:rPr lang="en-AU" sz="1200" kern="1200" dirty="0" smtClean="0">
                <a:solidFill>
                  <a:schemeClr val="tx1"/>
                </a:solidFill>
                <a:latin typeface="+mn-lt"/>
                <a:ea typeface="+mn-ea"/>
                <a:cs typeface="+mn-cs"/>
              </a:rPr>
              <a:t>Use the fingers to unscrew the old spark plug and remove it once it has been freed</a:t>
            </a:r>
          </a:p>
          <a:p>
            <a:pPr marL="171450" indent="-171450">
              <a:buFont typeface="Arial" pitchFamily="34" charset="0"/>
              <a:buChar char="•"/>
            </a:pPr>
            <a:r>
              <a:rPr lang="en-AU" sz="1200" kern="1200" dirty="0" smtClean="0">
                <a:solidFill>
                  <a:schemeClr val="tx1"/>
                </a:solidFill>
                <a:latin typeface="+mn-lt"/>
                <a:ea typeface="+mn-ea"/>
                <a:cs typeface="+mn-cs"/>
              </a:rPr>
              <a:t>Take care not to allow any debris to fall into the cylinder.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317712501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process for replacing spark plugs:</a:t>
            </a:r>
          </a:p>
          <a:p>
            <a:pPr marL="171450" indent="-171450">
              <a:buFont typeface="Arial" pitchFamily="34" charset="0"/>
              <a:buChar char="•"/>
            </a:pPr>
            <a:r>
              <a:rPr lang="en-AU" sz="1200" kern="1200" dirty="0" smtClean="0">
                <a:solidFill>
                  <a:schemeClr val="tx1"/>
                </a:solidFill>
                <a:latin typeface="+mn-lt"/>
                <a:ea typeface="+mn-ea"/>
                <a:cs typeface="+mn-cs"/>
              </a:rPr>
              <a:t>Clean the plug with a wire brush and check the condition of the plug to determine:</a:t>
            </a:r>
          </a:p>
          <a:p>
            <a:pPr marL="628650" lvl="1" indent="-171450">
              <a:buFont typeface="Arial" pitchFamily="34" charset="0"/>
              <a:buChar char="•"/>
            </a:pPr>
            <a:r>
              <a:rPr lang="en-AU" sz="1200" kern="1200" dirty="0" smtClean="0">
                <a:solidFill>
                  <a:schemeClr val="tx1"/>
                </a:solidFill>
                <a:latin typeface="+mn-lt"/>
                <a:ea typeface="+mn-ea"/>
                <a:cs typeface="+mn-cs"/>
              </a:rPr>
              <a:t>If a new plug is required</a:t>
            </a:r>
          </a:p>
          <a:p>
            <a:pPr marL="628650" lvl="1" indent="-171450">
              <a:buFont typeface="Arial" pitchFamily="34" charset="0"/>
              <a:buChar char="•"/>
            </a:pPr>
            <a:r>
              <a:rPr lang="en-AU" sz="1200" kern="1200" dirty="0" smtClean="0">
                <a:solidFill>
                  <a:schemeClr val="tx1"/>
                </a:solidFill>
                <a:latin typeface="+mn-lt"/>
                <a:ea typeface="+mn-ea"/>
                <a:cs typeface="+mn-cs"/>
              </a:rPr>
              <a:t>If there is evidence of another problem which should be investigated</a:t>
            </a:r>
          </a:p>
          <a:p>
            <a:pPr marL="171450" indent="-171450">
              <a:buFont typeface="Arial" pitchFamily="34" charset="0"/>
              <a:buChar char="•"/>
            </a:pPr>
            <a:r>
              <a:rPr lang="en-AU" sz="1200" kern="1200" dirty="0" smtClean="0">
                <a:solidFill>
                  <a:schemeClr val="tx1"/>
                </a:solidFill>
                <a:latin typeface="+mn-lt"/>
                <a:ea typeface="+mn-ea"/>
                <a:cs typeface="+mn-cs"/>
              </a:rPr>
              <a:t>Use a feeler gauge to set the correct gap for the old or new spark plug to be fitted</a:t>
            </a:r>
          </a:p>
          <a:p>
            <a:pPr marL="171450" indent="-171450">
              <a:buFont typeface="Arial" pitchFamily="34" charset="0"/>
              <a:buChar char="•"/>
            </a:pPr>
            <a:r>
              <a:rPr lang="en-AU" sz="1200" kern="1200" dirty="0" smtClean="0">
                <a:solidFill>
                  <a:schemeClr val="tx1"/>
                </a:solidFill>
                <a:latin typeface="+mn-lt"/>
                <a:ea typeface="+mn-ea"/>
                <a:cs typeface="+mn-cs"/>
              </a:rPr>
              <a:t>Use fingers to re-seat the plug into the block.</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http://www.supercheapauto.com.au/how-to/Servicing-Mechanical/Replacing-Spark-Plugs.aspx?id=68</a:t>
            </a:r>
            <a:r>
              <a:rPr lang="en-AU" sz="1200" kern="1200" dirty="0" smtClean="0">
                <a:solidFill>
                  <a:schemeClr val="tx1"/>
                </a:solidFill>
                <a:latin typeface="+mn-lt"/>
                <a:ea typeface="+mn-ea"/>
                <a:cs typeface="+mn-cs"/>
              </a:rPr>
              <a:t> – Replacing spark plugs</a:t>
            </a:r>
          </a:p>
          <a:p>
            <a:r>
              <a:rPr lang="en-AU" sz="1200" u="sng" kern="1200" dirty="0" smtClean="0">
                <a:solidFill>
                  <a:schemeClr val="tx1"/>
                </a:solidFill>
                <a:latin typeface="+mn-lt"/>
                <a:ea typeface="+mn-ea"/>
                <a:cs typeface="+mn-cs"/>
                <a:hlinkClick r:id="rId4"/>
              </a:rPr>
              <a:t>https://www.youtube.com/watch?v=jj06A6UdHvI</a:t>
            </a:r>
            <a:r>
              <a:rPr lang="en-AU" sz="1200" kern="1200" dirty="0" smtClean="0">
                <a:solidFill>
                  <a:schemeClr val="tx1"/>
                </a:solidFill>
                <a:latin typeface="+mn-lt"/>
                <a:ea typeface="+mn-ea"/>
                <a:cs typeface="+mn-cs"/>
              </a:rPr>
              <a:t> – Changing spark plugs and replacing plug wires.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110562278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process for replacing spark plugs:</a:t>
            </a:r>
          </a:p>
          <a:p>
            <a:pPr marL="171450" indent="-171450">
              <a:buFont typeface="Arial" pitchFamily="34" charset="0"/>
              <a:buChar char="•"/>
            </a:pPr>
            <a:r>
              <a:rPr lang="en-AU" sz="1200" kern="1200" dirty="0" smtClean="0">
                <a:solidFill>
                  <a:schemeClr val="tx1"/>
                </a:solidFill>
                <a:latin typeface="+mn-lt"/>
                <a:ea typeface="+mn-ea"/>
                <a:cs typeface="+mn-cs"/>
              </a:rPr>
              <a:t>Tighten gently until finger tight and ensure thread is not crossed</a:t>
            </a:r>
          </a:p>
          <a:p>
            <a:pPr marL="171450" indent="-171450">
              <a:buFont typeface="Arial" pitchFamily="34" charset="0"/>
              <a:buChar char="•"/>
            </a:pPr>
            <a:r>
              <a:rPr lang="en-AU" sz="1200" kern="1200" dirty="0" smtClean="0">
                <a:solidFill>
                  <a:schemeClr val="tx1"/>
                </a:solidFill>
                <a:latin typeface="+mn-lt"/>
                <a:ea typeface="+mn-ea"/>
                <a:cs typeface="+mn-cs"/>
              </a:rPr>
              <a:t>Finish tightening with spark plug socket attached to a torque wrench to required torque specification</a:t>
            </a:r>
          </a:p>
          <a:p>
            <a:pPr marL="171450" indent="-171450">
              <a:buFont typeface="Arial" pitchFamily="34" charset="0"/>
              <a:buChar char="•"/>
            </a:pPr>
            <a:r>
              <a:rPr lang="en-AU" sz="1200" kern="1200" dirty="0" smtClean="0">
                <a:solidFill>
                  <a:schemeClr val="tx1"/>
                </a:solidFill>
                <a:latin typeface="+mn-lt"/>
                <a:ea typeface="+mn-ea"/>
                <a:cs typeface="+mn-cs"/>
              </a:rPr>
              <a:t>Re-attach HT lead</a:t>
            </a:r>
          </a:p>
          <a:p>
            <a:pPr marL="171450" indent="-171450">
              <a:buFont typeface="Arial" pitchFamily="34" charset="0"/>
              <a:buChar char="•"/>
            </a:pPr>
            <a:r>
              <a:rPr lang="en-AU" sz="1200" kern="1200" dirty="0" smtClean="0">
                <a:solidFill>
                  <a:schemeClr val="tx1"/>
                </a:solidFill>
                <a:latin typeface="+mn-lt"/>
                <a:ea typeface="+mn-ea"/>
                <a:cs typeface="+mn-cs"/>
              </a:rPr>
              <a:t>Start and run motor to test.</a:t>
            </a:r>
          </a:p>
          <a:p>
            <a:pPr>
              <a:buFont typeface="Arial" pitchFamily="34" charset="0"/>
              <a:buNone/>
            </a:pPr>
            <a:endParaRPr lang="en-AU"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change spark plugs and provides opportunity for them to do the same.</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73303729"/>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process for replacing glow plugs:</a:t>
            </a:r>
          </a:p>
          <a:p>
            <a:pPr marL="171450" indent="-171450">
              <a:buFont typeface="Arial" pitchFamily="34" charset="0"/>
              <a:buChar char="•"/>
            </a:pPr>
            <a:r>
              <a:rPr lang="en-AU" sz="1200" kern="1200" dirty="0" smtClean="0">
                <a:solidFill>
                  <a:schemeClr val="tx1"/>
                </a:solidFill>
                <a:latin typeface="+mn-lt"/>
                <a:ea typeface="+mn-ea"/>
                <a:cs typeface="+mn-cs"/>
              </a:rPr>
              <a:t>Remove any visible debris around the plugs which may fall into the cylinders – use of compressed air is recommended</a:t>
            </a:r>
          </a:p>
          <a:p>
            <a:pPr marL="171450" indent="-171450">
              <a:buFont typeface="Arial" pitchFamily="34" charset="0"/>
              <a:buChar char="•"/>
            </a:pPr>
            <a:r>
              <a:rPr lang="en-AU" sz="1200" kern="1200" dirty="0" smtClean="0">
                <a:solidFill>
                  <a:schemeClr val="tx1"/>
                </a:solidFill>
                <a:latin typeface="+mn-lt"/>
                <a:ea typeface="+mn-ea"/>
                <a:cs typeface="+mn-cs"/>
              </a:rPr>
              <a:t>Disconnect the (negative) battery terminal</a:t>
            </a:r>
          </a:p>
          <a:p>
            <a:pPr marL="171450" indent="-171450">
              <a:buFont typeface="Arial" pitchFamily="34" charset="0"/>
              <a:buChar char="•"/>
            </a:pPr>
            <a:r>
              <a:rPr lang="en-AU" sz="1200" kern="1200" dirty="0" smtClean="0">
                <a:solidFill>
                  <a:schemeClr val="tx1"/>
                </a:solidFill>
                <a:latin typeface="+mn-lt"/>
                <a:ea typeface="+mn-ea"/>
                <a:cs typeface="+mn-cs"/>
              </a:rPr>
              <a:t>Use a spanner to remove the nuts holding the bridging strap to the plugs </a:t>
            </a:r>
          </a:p>
          <a:p>
            <a:pPr marL="171450" indent="-171450">
              <a:buFont typeface="Arial" pitchFamily="34" charset="0"/>
              <a:buChar char="•"/>
            </a:pPr>
            <a:r>
              <a:rPr lang="en-AU" sz="1200" kern="1200" dirty="0" smtClean="0">
                <a:solidFill>
                  <a:schemeClr val="tx1"/>
                </a:solidFill>
                <a:latin typeface="+mn-lt"/>
                <a:ea typeface="+mn-ea"/>
                <a:cs typeface="+mn-cs"/>
              </a:rPr>
              <a:t>Remove the bridging strap.</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https://www.youtube.com/watch?v=4Po_1pNHE1Y</a:t>
            </a:r>
            <a:r>
              <a:rPr lang="en-AU" sz="1200" kern="1200" dirty="0" smtClean="0">
                <a:solidFill>
                  <a:schemeClr val="tx1"/>
                </a:solidFill>
                <a:latin typeface="+mn-lt"/>
                <a:ea typeface="+mn-ea"/>
                <a:cs typeface="+mn-cs"/>
              </a:rPr>
              <a:t> – Easy and complete glow plug test.</a:t>
            </a:r>
          </a:p>
          <a:p>
            <a:r>
              <a:rPr lang="en-AU" sz="1200" u="sng" kern="1200" dirty="0" smtClean="0">
                <a:solidFill>
                  <a:schemeClr val="tx1"/>
                </a:solidFill>
                <a:latin typeface="+mn-lt"/>
                <a:ea typeface="+mn-ea"/>
                <a:cs typeface="+mn-cs"/>
                <a:hlinkClick r:id="rId4"/>
              </a:rPr>
              <a:t>http://autorepair.about.com/od/enginerelateddiyjobs/l/aa081404a.htm</a:t>
            </a:r>
            <a:r>
              <a:rPr lang="en-AU" sz="1200" kern="1200" dirty="0" smtClean="0">
                <a:solidFill>
                  <a:schemeClr val="tx1"/>
                </a:solidFill>
                <a:latin typeface="+mn-lt"/>
                <a:ea typeface="+mn-ea"/>
                <a:cs typeface="+mn-cs"/>
              </a:rPr>
              <a:t> - How to replace your diesel glow plugs.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1252853306"/>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process for replacing glow plugs:</a:t>
            </a:r>
          </a:p>
          <a:p>
            <a:pPr marL="171450" indent="-171450">
              <a:buFont typeface="Arial" pitchFamily="34" charset="0"/>
              <a:buChar char="•"/>
            </a:pPr>
            <a:r>
              <a:rPr lang="en-AU" sz="1200" kern="1200" dirty="0" smtClean="0">
                <a:solidFill>
                  <a:schemeClr val="tx1"/>
                </a:solidFill>
                <a:latin typeface="+mn-lt"/>
                <a:ea typeface="+mn-ea"/>
                <a:cs typeface="+mn-cs"/>
              </a:rPr>
              <a:t>Use a spanner to untighten the glow plug and remove with fingers</a:t>
            </a:r>
          </a:p>
          <a:p>
            <a:pPr marL="171450" indent="-171450">
              <a:buFont typeface="Arial" pitchFamily="34" charset="0"/>
              <a:buChar char="•"/>
            </a:pPr>
            <a:r>
              <a:rPr lang="en-AU" sz="1200" kern="1200" dirty="0" smtClean="0">
                <a:solidFill>
                  <a:schemeClr val="tx1"/>
                </a:solidFill>
                <a:latin typeface="+mn-lt"/>
                <a:ea typeface="+mn-ea"/>
                <a:cs typeface="+mn-cs"/>
              </a:rPr>
              <a:t>Test the new glow plug to be fitted </a:t>
            </a:r>
          </a:p>
          <a:p>
            <a:pPr marL="171450" indent="-171450">
              <a:buFont typeface="Arial" pitchFamily="34" charset="0"/>
              <a:buChar char="•"/>
            </a:pPr>
            <a:r>
              <a:rPr lang="en-AU" sz="1200" kern="1200" dirty="0" smtClean="0">
                <a:solidFill>
                  <a:schemeClr val="tx1"/>
                </a:solidFill>
                <a:latin typeface="+mn-lt"/>
                <a:ea typeface="+mn-ea"/>
                <a:cs typeface="+mn-cs"/>
              </a:rPr>
              <a:t>Ensure plug and thread is clean</a:t>
            </a:r>
          </a:p>
          <a:p>
            <a:pPr marL="171450" indent="-171450">
              <a:buFont typeface="Arial" pitchFamily="34" charset="0"/>
              <a:buChar char="•"/>
            </a:pPr>
            <a:r>
              <a:rPr lang="en-AU" sz="1200" kern="1200" dirty="0" smtClean="0">
                <a:solidFill>
                  <a:schemeClr val="tx1"/>
                </a:solidFill>
                <a:latin typeface="+mn-lt"/>
                <a:ea typeface="+mn-ea"/>
                <a:cs typeface="+mn-cs"/>
              </a:rPr>
              <a:t>Screw new plug in by hand until seated in cylinder head.</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r>
              <a:rPr lang="en-AU" sz="1200" u="sng" kern="1200" dirty="0" smtClean="0">
                <a:solidFill>
                  <a:schemeClr val="tx1"/>
                </a:solidFill>
                <a:latin typeface="+mn-lt"/>
                <a:ea typeface="+mn-ea"/>
                <a:cs typeface="+mn-cs"/>
                <a:hlinkClick r:id="rId3"/>
              </a:rPr>
              <a:t>https://www.youtube.com/watch?v=RCcmN-r5Z9M</a:t>
            </a:r>
            <a:r>
              <a:rPr lang="en-AU" sz="1200" kern="1200" dirty="0" smtClean="0">
                <a:solidFill>
                  <a:schemeClr val="tx1"/>
                </a:solidFill>
                <a:latin typeface="+mn-lt"/>
                <a:ea typeface="+mn-ea"/>
                <a:cs typeface="+mn-cs"/>
              </a:rPr>
              <a:t> – Replacing glow plugs in a Mitsubishi Delica L400</a:t>
            </a:r>
          </a:p>
          <a:p>
            <a:r>
              <a:rPr lang="en-AU" sz="1200" u="sng" kern="1200" dirty="0" smtClean="0">
                <a:solidFill>
                  <a:schemeClr val="tx1"/>
                </a:solidFill>
                <a:latin typeface="+mn-lt"/>
                <a:ea typeface="+mn-ea"/>
                <a:cs typeface="+mn-cs"/>
                <a:hlinkClick r:id="rId4"/>
              </a:rPr>
              <a:t>https://www.youtube.com/watch?v=4Po_1pNHE1Y</a:t>
            </a:r>
            <a:r>
              <a:rPr lang="en-AU" sz="1200" kern="1200" dirty="0" smtClean="0">
                <a:solidFill>
                  <a:schemeClr val="tx1"/>
                </a:solidFill>
                <a:latin typeface="+mn-lt"/>
                <a:ea typeface="+mn-ea"/>
                <a:cs typeface="+mn-cs"/>
              </a:rPr>
              <a:t> – Glow plug change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3261894779"/>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process for replacing glow plugs:</a:t>
            </a:r>
          </a:p>
          <a:p>
            <a:pPr marL="171450" indent="-171450">
              <a:buFont typeface="Arial" pitchFamily="34" charset="0"/>
              <a:buChar char="•"/>
            </a:pPr>
            <a:r>
              <a:rPr lang="en-AU" sz="1200" kern="1200" dirty="0" smtClean="0">
                <a:solidFill>
                  <a:schemeClr val="tx1"/>
                </a:solidFill>
                <a:latin typeface="+mn-lt"/>
                <a:ea typeface="+mn-ea"/>
                <a:cs typeface="+mn-cs"/>
              </a:rPr>
              <a:t>Tighten with torque wrench to torque specification according to the individual plug</a:t>
            </a:r>
          </a:p>
          <a:p>
            <a:pPr marL="171450" indent="-171450">
              <a:buFont typeface="Arial" pitchFamily="34" charset="0"/>
              <a:buChar char="•"/>
            </a:pPr>
            <a:r>
              <a:rPr lang="en-AU" sz="1200" kern="1200" dirty="0" smtClean="0">
                <a:solidFill>
                  <a:schemeClr val="tx1"/>
                </a:solidFill>
                <a:latin typeface="+mn-lt"/>
                <a:ea typeface="+mn-ea"/>
                <a:cs typeface="+mn-cs"/>
              </a:rPr>
              <a:t>Replace bridging strap securing with nuts</a:t>
            </a:r>
          </a:p>
          <a:p>
            <a:pPr marL="171450" indent="-171450">
              <a:buFont typeface="Arial" pitchFamily="34" charset="0"/>
              <a:buChar char="•"/>
            </a:pPr>
            <a:r>
              <a:rPr lang="en-AU" sz="1200" kern="1200" dirty="0" smtClean="0">
                <a:solidFill>
                  <a:schemeClr val="tx1"/>
                </a:solidFill>
                <a:latin typeface="+mn-lt"/>
                <a:ea typeface="+mn-ea"/>
                <a:cs typeface="+mn-cs"/>
              </a:rPr>
              <a:t>Re-connect battery</a:t>
            </a:r>
          </a:p>
          <a:p>
            <a:pPr marL="171450" indent="-171450">
              <a:buFont typeface="Arial" pitchFamily="34" charset="0"/>
              <a:buChar char="•"/>
            </a:pPr>
            <a:r>
              <a:rPr lang="en-AU" sz="1200" kern="1200" dirty="0" smtClean="0">
                <a:solidFill>
                  <a:schemeClr val="tx1"/>
                </a:solidFill>
                <a:latin typeface="+mn-lt"/>
                <a:ea typeface="+mn-ea"/>
                <a:cs typeface="+mn-cs"/>
              </a:rPr>
              <a:t>Test.</a:t>
            </a:r>
          </a:p>
          <a:p>
            <a:pPr>
              <a:buFont typeface="Arial" pitchFamily="34" charset="0"/>
              <a:buNone/>
            </a:pPr>
            <a:endParaRPr lang="en-AU" noProof="0" dirty="0" smtClean="0"/>
          </a:p>
          <a:p>
            <a:pPr>
              <a:buFont typeface="Arial" pitchFamily="34" charset="0"/>
              <a:buNone/>
            </a:pPr>
            <a:r>
              <a:rPr lang="en-AU" sz="1200" b="1" kern="1200" baseline="0" noProof="0" dirty="0" smtClean="0">
                <a:solidFill>
                  <a:schemeClr val="tx1"/>
                </a:solidFill>
                <a:latin typeface="+mn-lt"/>
                <a:ea typeface="+mn-ea"/>
                <a:cs typeface="+mn-cs"/>
              </a:rPr>
              <a:t>Classroom Activity – Demonstration and Practical</a:t>
            </a:r>
          </a:p>
          <a:p>
            <a:pPr>
              <a:buFont typeface="Arial" pitchFamily="34" charset="0"/>
              <a:buNone/>
            </a:pPr>
            <a:r>
              <a:rPr lang="en-AU" sz="1200" b="0" kern="1200" baseline="0" noProof="0" dirty="0" smtClean="0">
                <a:solidFill>
                  <a:schemeClr val="tx1"/>
                </a:solidFill>
                <a:latin typeface="+mn-lt"/>
                <a:ea typeface="+mn-ea"/>
                <a:cs typeface="+mn-cs"/>
              </a:rPr>
              <a:t>Trainer shows students how to change glow plugs and provides opportunity for them to do the same.</a:t>
            </a: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2566706077"/>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provision </a:t>
            </a:r>
            <a:r>
              <a:rPr lang="en-AU" sz="1200" kern="1200" dirty="0" smtClean="0">
                <a:solidFill>
                  <a:schemeClr val="tx1"/>
                </a:solidFill>
                <a:latin typeface="+mn-lt"/>
                <a:ea typeface="+mn-ea"/>
                <a:cs typeface="+mn-cs"/>
              </a:rPr>
              <a:t>of regular service and maintenance to tour vehicles will/can:</a:t>
            </a:r>
          </a:p>
          <a:p>
            <a:pPr marL="171450" indent="-171450">
              <a:buFont typeface="Arial" pitchFamily="34" charset="0"/>
              <a:buChar char="•"/>
            </a:pPr>
            <a:r>
              <a:rPr lang="en-AU" sz="1200" kern="1200" dirty="0" smtClean="0">
                <a:solidFill>
                  <a:schemeClr val="tx1"/>
                </a:solidFill>
                <a:latin typeface="+mn-lt"/>
                <a:ea typeface="+mn-ea"/>
                <a:cs typeface="+mn-cs"/>
              </a:rPr>
              <a:t>Help extend working life of the vehicle</a:t>
            </a:r>
          </a:p>
          <a:p>
            <a:pPr marL="171450" indent="-171450">
              <a:buFont typeface="Arial" pitchFamily="34" charset="0"/>
              <a:buChar char="•"/>
            </a:pPr>
            <a:r>
              <a:rPr lang="en-AU" sz="1200" kern="1200" dirty="0" smtClean="0">
                <a:solidFill>
                  <a:schemeClr val="tx1"/>
                </a:solidFill>
                <a:latin typeface="+mn-lt"/>
                <a:ea typeface="+mn-ea"/>
                <a:cs typeface="+mn-cs"/>
              </a:rPr>
              <a:t>Increase reliability of the vehicle</a:t>
            </a:r>
          </a:p>
          <a:p>
            <a:pPr marL="171450" indent="-171450">
              <a:buFont typeface="Arial" pitchFamily="34" charset="0"/>
              <a:buChar char="•"/>
            </a:pPr>
            <a:r>
              <a:rPr lang="en-AU" sz="1200" kern="1200" dirty="0" smtClean="0">
                <a:solidFill>
                  <a:schemeClr val="tx1"/>
                </a:solidFill>
                <a:latin typeface="+mn-lt"/>
                <a:ea typeface="+mn-ea"/>
                <a:cs typeface="+mn-cs"/>
              </a:rPr>
              <a:t>Reduce operating costs</a:t>
            </a:r>
          </a:p>
          <a:p>
            <a:pPr marL="171450" indent="-171450">
              <a:buFont typeface="Arial" pitchFamily="34" charset="0"/>
              <a:buChar char="•"/>
            </a:pPr>
            <a:r>
              <a:rPr lang="en-AU" sz="1200" kern="1200" dirty="0" smtClean="0">
                <a:solidFill>
                  <a:schemeClr val="tx1"/>
                </a:solidFill>
                <a:latin typeface="+mn-lt"/>
                <a:ea typeface="+mn-ea"/>
                <a:cs typeface="+mn-cs"/>
              </a:rPr>
              <a:t>Present a better-looking vehicle to tour groups – which increases confidence in the tour staff and tour operator.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3656341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ways to determine preventative maintenance requirements:</a:t>
            </a:r>
          </a:p>
          <a:p>
            <a:pPr marL="342900" indent="-342900">
              <a:buFont typeface="Arial" pitchFamily="34" charset="0"/>
              <a:buChar char="•"/>
            </a:pPr>
            <a:r>
              <a:rPr kumimoji="0" lang="en-AU" sz="2200" kern="1200" dirty="0" smtClean="0">
                <a:solidFill>
                  <a:schemeClr val="tx1"/>
                </a:solidFill>
                <a:latin typeface="Helvetica" pitchFamily="34" charset="0"/>
                <a:ea typeface="+mn-ea"/>
                <a:cs typeface="+mn-cs"/>
              </a:rPr>
              <a:t>Take</a:t>
            </a:r>
            <a:r>
              <a:rPr lang="en-AU" sz="1200" kern="1200" dirty="0" smtClean="0">
                <a:solidFill>
                  <a:schemeClr val="tx1"/>
                </a:solidFill>
                <a:latin typeface="+mn-lt"/>
                <a:ea typeface="+mn-ea"/>
                <a:cs typeface="+mn-cs"/>
              </a:rPr>
              <a:t> into account distance travelled and number of hours the vehicle has been used – there is a direct relationship between extensive/long use’ and the need to provide preventative maintenance</a:t>
            </a:r>
          </a:p>
          <a:p>
            <a:pPr marL="171450" indent="-171450">
              <a:buFont typeface="Arial" pitchFamily="34" charset="0"/>
              <a:buChar char="•"/>
            </a:pPr>
            <a:r>
              <a:rPr lang="en-AU" sz="1200" kern="1200" dirty="0" smtClean="0">
                <a:solidFill>
                  <a:schemeClr val="tx1"/>
                </a:solidFill>
                <a:latin typeface="+mn-lt"/>
                <a:ea typeface="+mn-ea"/>
                <a:cs typeface="+mn-cs"/>
              </a:rPr>
              <a:t>Conduct and note response to pre-start checks – as designated by vehicle manufacturers specific to individual makes and models of 4WDs which may indicate need for maintenance. These checks commonly involving checks of:</a:t>
            </a:r>
          </a:p>
          <a:p>
            <a:pPr marL="628650" lvl="1" indent="-171450">
              <a:buFont typeface="Arial" pitchFamily="34" charset="0"/>
              <a:buChar char="•"/>
            </a:pPr>
            <a:r>
              <a:rPr lang="en-AU" sz="1200" kern="1200" dirty="0" smtClean="0">
                <a:solidFill>
                  <a:schemeClr val="tx1"/>
                </a:solidFill>
                <a:latin typeface="+mn-lt"/>
                <a:ea typeface="+mn-ea"/>
                <a:cs typeface="+mn-cs"/>
              </a:rPr>
              <a:t>Fuel, water and oil; Brake and transmission fluid levels; Battery water levels and electrolyte checks; Tyres; Belts; Leads; Hydraulic lines and connections; Air cleaners; Air-conditioners; Brakes</a:t>
            </a:r>
          </a:p>
          <a:p>
            <a:pPr marL="171450" indent="-171450">
              <a:buFont typeface="Arial" pitchFamily="34" charset="0"/>
              <a:buChar char="•"/>
            </a:pPr>
            <a:r>
              <a:rPr lang="en-AU" sz="1200" kern="1200" dirty="0" smtClean="0">
                <a:solidFill>
                  <a:schemeClr val="tx1"/>
                </a:solidFill>
                <a:latin typeface="+mn-lt"/>
                <a:ea typeface="+mn-ea"/>
                <a:cs typeface="+mn-cs"/>
              </a:rPr>
              <a:t>Comply with internal organisational SOPs – many Tour Operators will provide a ‘Start of day’ checklist for each tour vehicle which needs to be followed before the vehicle is used every day. These lists:</a:t>
            </a:r>
          </a:p>
          <a:p>
            <a:pPr marL="628650" lvl="1" indent="-171450">
              <a:buFont typeface="Arial" pitchFamily="34" charset="0"/>
              <a:buChar char="•"/>
            </a:pPr>
            <a:r>
              <a:rPr lang="en-AU" sz="1200" kern="1200" dirty="0" smtClean="0">
                <a:solidFill>
                  <a:schemeClr val="tx1"/>
                </a:solidFill>
                <a:latin typeface="+mn-lt"/>
                <a:ea typeface="+mn-ea"/>
                <a:cs typeface="+mn-cs"/>
              </a:rPr>
              <a:t>Differ between vehicle types to reflect their individual need </a:t>
            </a:r>
          </a:p>
          <a:p>
            <a:pPr marL="628650" lvl="1" indent="-171450">
              <a:buFont typeface="Arial" pitchFamily="34" charset="0"/>
              <a:buChar char="•"/>
            </a:pPr>
            <a:r>
              <a:rPr lang="en-AU" sz="1200" kern="1200" dirty="0" smtClean="0">
                <a:solidFill>
                  <a:schemeClr val="tx1"/>
                </a:solidFill>
                <a:latin typeface="+mn-lt"/>
                <a:ea typeface="+mn-ea"/>
                <a:cs typeface="+mn-cs"/>
              </a:rPr>
              <a:t>Provide a record of the inspection to prove the check was undertaken as required</a:t>
            </a:r>
          </a:p>
          <a:p>
            <a:pPr marL="628650" lvl="1" indent="-171450">
              <a:buFont typeface="Arial" pitchFamily="34" charset="0"/>
              <a:buChar char="•"/>
            </a:pPr>
            <a:r>
              <a:rPr lang="en-AU" sz="1200" kern="1200" dirty="0" smtClean="0">
                <a:solidFill>
                  <a:schemeClr val="tx1"/>
                </a:solidFill>
                <a:latin typeface="+mn-lt"/>
                <a:ea typeface="+mn-ea"/>
                <a:cs typeface="+mn-cs"/>
              </a:rPr>
              <a:t>Record work done as part of the daily inspection</a:t>
            </a:r>
          </a:p>
          <a:p>
            <a:pPr marL="628650" lvl="1" indent="-171450">
              <a:buFont typeface="Arial" pitchFamily="34" charset="0"/>
              <a:buChar char="•"/>
            </a:pPr>
            <a:r>
              <a:rPr lang="en-AU" sz="1200" kern="1200" dirty="0" smtClean="0">
                <a:solidFill>
                  <a:schemeClr val="tx1"/>
                </a:solidFill>
                <a:latin typeface="+mn-lt"/>
                <a:ea typeface="+mn-ea"/>
                <a:cs typeface="+mn-cs"/>
              </a:rPr>
              <a:t>Note where items may require further attention at a later stage/at conclusion of the tour.</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365152898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ways to determine preventative maintenance requirements:</a:t>
            </a:r>
          </a:p>
          <a:p>
            <a:pPr marL="171450" indent="-171450">
              <a:buFont typeface="Arial" pitchFamily="34" charset="0"/>
              <a:buChar char="•"/>
            </a:pPr>
            <a:r>
              <a:rPr lang="en-AU" sz="1200" kern="1200" dirty="0" smtClean="0">
                <a:solidFill>
                  <a:schemeClr val="tx1"/>
                </a:solidFill>
                <a:latin typeface="+mn-lt"/>
                <a:ea typeface="+mn-ea"/>
                <a:cs typeface="+mn-cs"/>
              </a:rPr>
              <a:t>Factor in the nature of roads/tracks travelled – some surfaces are more punishing than others and will impose a more urgent need for attention to the vehicle</a:t>
            </a:r>
          </a:p>
          <a:p>
            <a:pPr marL="628650" lvl="1" indent="-171450">
              <a:buFont typeface="Arial" pitchFamily="34" charset="0"/>
              <a:buChar char="•"/>
            </a:pPr>
            <a:r>
              <a:rPr lang="en-AU" sz="1200" kern="1200" dirty="0" smtClean="0">
                <a:solidFill>
                  <a:schemeClr val="tx1"/>
                </a:solidFill>
                <a:latin typeface="+mn-lt"/>
                <a:ea typeface="+mn-ea"/>
                <a:cs typeface="+mn-cs"/>
              </a:rPr>
              <a:t>Surfaces where there has been lots of sand, rocks, water crossings and/or mud are all indicators for some extra inspection/maintenance</a:t>
            </a:r>
          </a:p>
          <a:p>
            <a:pPr marL="171450" indent="-171450">
              <a:buFont typeface="Arial" pitchFamily="34" charset="0"/>
              <a:buChar char="•"/>
            </a:pPr>
            <a:r>
              <a:rPr lang="en-AU" sz="1200" kern="1200" dirty="0" smtClean="0">
                <a:solidFill>
                  <a:schemeClr val="tx1"/>
                </a:solidFill>
                <a:latin typeface="+mn-lt"/>
                <a:ea typeface="+mn-ea"/>
                <a:cs typeface="+mn-cs"/>
              </a:rPr>
              <a:t>Use personal observation – in terms of:</a:t>
            </a:r>
          </a:p>
          <a:p>
            <a:pPr marL="628650" lvl="1" indent="-171450">
              <a:buFont typeface="Arial" pitchFamily="34" charset="0"/>
              <a:buChar char="•"/>
            </a:pPr>
            <a:r>
              <a:rPr lang="en-AU" sz="1200" kern="1200" dirty="0" smtClean="0">
                <a:solidFill>
                  <a:schemeClr val="tx1"/>
                </a:solidFill>
                <a:latin typeface="+mn-lt"/>
                <a:ea typeface="+mn-ea"/>
                <a:cs typeface="+mn-cs"/>
              </a:rPr>
              <a:t>The way the vehicle is performing/responding</a:t>
            </a:r>
          </a:p>
          <a:p>
            <a:pPr marL="628650" lvl="1" indent="-171450">
              <a:buFont typeface="Arial" pitchFamily="34" charset="0"/>
              <a:buChar char="•"/>
            </a:pPr>
            <a:r>
              <a:rPr lang="en-AU" sz="1200" kern="1200" dirty="0" smtClean="0">
                <a:solidFill>
                  <a:schemeClr val="tx1"/>
                </a:solidFill>
                <a:latin typeface="+mn-lt"/>
                <a:ea typeface="+mn-ea"/>
                <a:cs typeface="+mn-cs"/>
              </a:rPr>
              <a:t>Sensory awareness of changes in noises, vibration and/or smells from the vehicle</a:t>
            </a:r>
          </a:p>
          <a:p>
            <a:pPr marL="628650" lvl="1" indent="-171450">
              <a:buFont typeface="Arial" pitchFamily="34" charset="0"/>
              <a:buChar char="•"/>
            </a:pPr>
            <a:r>
              <a:rPr lang="en-AU" sz="1200" kern="1200" dirty="0" smtClean="0">
                <a:solidFill>
                  <a:schemeClr val="tx1"/>
                </a:solidFill>
                <a:latin typeface="+mn-lt"/>
                <a:ea typeface="+mn-ea"/>
                <a:cs typeface="+mn-cs"/>
              </a:rPr>
              <a:t>Noticing damaged items on the vehicle</a:t>
            </a:r>
          </a:p>
          <a:p>
            <a:pPr marL="628650" lvl="1" indent="-171450">
              <a:buFont typeface="Arial" pitchFamily="34" charset="0"/>
              <a:buChar char="•"/>
            </a:pPr>
            <a:r>
              <a:rPr lang="en-AU" sz="1200" kern="1200" dirty="0" smtClean="0">
                <a:solidFill>
                  <a:schemeClr val="tx1"/>
                </a:solidFill>
                <a:latin typeface="+mn-lt"/>
                <a:ea typeface="+mn-ea"/>
                <a:cs typeface="+mn-cs"/>
              </a:rPr>
              <a:t>Noting alerts from on-board warning lights or instruments, </a:t>
            </a:r>
          </a:p>
          <a:p>
            <a:pPr marL="171450" indent="-171450">
              <a:buFont typeface="Arial" pitchFamily="34" charset="0"/>
              <a:buChar char="•"/>
            </a:pPr>
            <a:r>
              <a:rPr lang="en-AU" sz="1200" kern="1200" dirty="0" smtClean="0">
                <a:solidFill>
                  <a:schemeClr val="tx1"/>
                </a:solidFill>
                <a:latin typeface="+mn-lt"/>
                <a:ea typeface="+mn-ea"/>
                <a:cs typeface="+mn-cs"/>
              </a:rPr>
              <a:t>Refer to personal experience – related to previous incidents which have been experienced with similar vehicles under similar conditions</a:t>
            </a:r>
          </a:p>
          <a:p>
            <a:pPr marL="171450" indent="-171450">
              <a:buFont typeface="Arial" pitchFamily="34" charset="0"/>
              <a:buChar char="•"/>
            </a:pPr>
            <a:r>
              <a:rPr lang="en-AU" sz="1200" kern="1200" dirty="0" smtClean="0">
                <a:solidFill>
                  <a:schemeClr val="tx1"/>
                </a:solidFill>
                <a:latin typeface="+mn-lt"/>
                <a:ea typeface="+mn-ea"/>
                <a:cs typeface="+mn-cs"/>
              </a:rPr>
              <a:t>Research/read manufacturer requirements in relation to routine servicing and preventative maintenance – in:</a:t>
            </a:r>
          </a:p>
          <a:p>
            <a:pPr marL="628650" lvl="1" indent="-171450">
              <a:buFont typeface="Arial" pitchFamily="34" charset="0"/>
              <a:buChar char="•"/>
            </a:pPr>
            <a:r>
              <a:rPr lang="en-AU" sz="1200" kern="1200" dirty="0" smtClean="0">
                <a:solidFill>
                  <a:schemeClr val="tx1"/>
                </a:solidFill>
                <a:latin typeface="+mn-lt"/>
                <a:ea typeface="+mn-ea"/>
                <a:cs typeface="+mn-cs"/>
              </a:rPr>
              <a:t>Service manuals</a:t>
            </a:r>
          </a:p>
          <a:p>
            <a:pPr marL="628650" lvl="1" indent="-171450">
              <a:buFont typeface="Arial" pitchFamily="34" charset="0"/>
              <a:buChar char="•"/>
            </a:pPr>
            <a:r>
              <a:rPr lang="en-AU" sz="1200" kern="1200" dirty="0" smtClean="0">
                <a:solidFill>
                  <a:schemeClr val="tx1"/>
                </a:solidFill>
                <a:latin typeface="+mn-lt"/>
                <a:ea typeface="+mn-ea"/>
                <a:cs typeface="+mn-cs"/>
              </a:rPr>
              <a:t>Owner manuals</a:t>
            </a:r>
          </a:p>
          <a:p>
            <a:pPr marL="628650" lvl="1" indent="-171450">
              <a:buFont typeface="Arial" pitchFamily="34" charset="0"/>
              <a:buChar char="•"/>
            </a:pPr>
            <a:r>
              <a:rPr lang="en-AU" sz="1200" kern="1200" dirty="0" smtClean="0">
                <a:solidFill>
                  <a:schemeClr val="tx1"/>
                </a:solidFill>
                <a:latin typeface="+mn-lt"/>
                <a:ea typeface="+mn-ea"/>
                <a:cs typeface="+mn-cs"/>
              </a:rPr>
              <a:t>Repair manuals.</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2858182334"/>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possible preventative maintenance required for on-tour vehicles:</a:t>
            </a:r>
          </a:p>
          <a:p>
            <a:pPr marL="171450" indent="-171450">
              <a:buFont typeface="Arial" pitchFamily="34" charset="0"/>
              <a:buChar char="•"/>
            </a:pPr>
            <a:r>
              <a:rPr lang="en-AU" sz="1200" kern="1200" dirty="0" smtClean="0">
                <a:solidFill>
                  <a:schemeClr val="tx1"/>
                </a:solidFill>
                <a:latin typeface="+mn-lt"/>
                <a:ea typeface="+mn-ea"/>
                <a:cs typeface="+mn-cs"/>
              </a:rPr>
              <a:t>Cleaning the vehicle – the value of cleaning on tour must never be under-estimated. Cleaning in this context involves:</a:t>
            </a:r>
          </a:p>
          <a:p>
            <a:pPr marL="628650" lvl="1" indent="-171450">
              <a:buFont typeface="Arial" pitchFamily="34" charset="0"/>
              <a:buChar char="•"/>
            </a:pPr>
            <a:r>
              <a:rPr lang="en-AU" sz="1200" kern="1200" dirty="0" smtClean="0">
                <a:solidFill>
                  <a:schemeClr val="tx1"/>
                </a:solidFill>
                <a:latin typeface="+mn-lt"/>
                <a:ea typeface="+mn-ea"/>
                <a:cs typeface="+mn-cs"/>
              </a:rPr>
              <a:t>Removing dirt, sand, mud and grit and grime; Cleaning the engine bay; Cleaning out under the wheel arches; Cleaning the winch; Cleaning lights and reflectors; Cleaning the windscreen and windows</a:t>
            </a:r>
          </a:p>
          <a:p>
            <a:pPr marL="171450" indent="-171450">
              <a:buFont typeface="Arial" pitchFamily="34" charset="0"/>
              <a:buChar char="•"/>
            </a:pPr>
            <a:r>
              <a:rPr lang="en-AU" sz="1200" kern="1200" dirty="0" smtClean="0">
                <a:solidFill>
                  <a:schemeClr val="tx1"/>
                </a:solidFill>
                <a:latin typeface="+mn-lt"/>
                <a:ea typeface="+mn-ea"/>
                <a:cs typeface="+mn-cs"/>
              </a:rPr>
              <a:t>Undertaking scheduled service tasks as recommended by the manufacturer – tour vehicles will generally be fully serviced prior to departing on tours but there is always the potential for ‘scheduled servicing’ to have to be provided while on tour</a:t>
            </a:r>
          </a:p>
          <a:p>
            <a:pPr marL="628650" lvl="1" indent="-171450">
              <a:buFont typeface="Arial" pitchFamily="34" charset="0"/>
              <a:buChar char="•"/>
            </a:pPr>
            <a:r>
              <a:rPr lang="en-AU" sz="1200" kern="1200" dirty="0" smtClean="0">
                <a:solidFill>
                  <a:schemeClr val="tx1"/>
                </a:solidFill>
                <a:latin typeface="+mn-lt"/>
                <a:ea typeface="+mn-ea"/>
                <a:cs typeface="+mn-cs"/>
              </a:rPr>
              <a:t>There may be a preference for this service to be undertaken along the route at a qualified service provider but this is not always possible</a:t>
            </a:r>
          </a:p>
          <a:p>
            <a:pPr marL="628650" lvl="1" indent="-171450">
              <a:buFont typeface="Arial" pitchFamily="34" charset="0"/>
              <a:buChar char="•"/>
            </a:pPr>
            <a:r>
              <a:rPr lang="en-AU" sz="1200" kern="1200" dirty="0" smtClean="0">
                <a:solidFill>
                  <a:schemeClr val="tx1"/>
                </a:solidFill>
                <a:latin typeface="+mn-lt"/>
                <a:ea typeface="+mn-ea"/>
                <a:cs typeface="+mn-cs"/>
              </a:rPr>
              <a:t>Where it is not possible, the requirements of the Owner’s manual for the specific time period/distance travelled need to be accommodated to the best extent possible</a:t>
            </a:r>
          </a:p>
          <a:p>
            <a:pPr marL="628650" lvl="1" indent="-171450">
              <a:buFont typeface="Arial" pitchFamily="34" charset="0"/>
              <a:buChar char="•"/>
            </a:pPr>
            <a:r>
              <a:rPr lang="en-AU" sz="1200" kern="1200" dirty="0" smtClean="0">
                <a:solidFill>
                  <a:schemeClr val="tx1"/>
                </a:solidFill>
                <a:latin typeface="+mn-lt"/>
                <a:ea typeface="+mn-ea"/>
                <a:cs typeface="+mn-cs"/>
              </a:rPr>
              <a:t>Indicative tasks include:</a:t>
            </a:r>
          </a:p>
          <a:p>
            <a:pPr marL="1085850" lvl="2" indent="-171450">
              <a:buFont typeface="Arial" pitchFamily="34" charset="0"/>
              <a:buChar char="•"/>
            </a:pPr>
            <a:r>
              <a:rPr lang="en-AU" sz="1200" kern="1200" dirty="0" smtClean="0">
                <a:solidFill>
                  <a:schemeClr val="tx1"/>
                </a:solidFill>
                <a:latin typeface="+mn-lt"/>
                <a:ea typeface="+mn-ea"/>
                <a:cs typeface="+mn-cs"/>
              </a:rPr>
              <a:t>Replacing belts; Replacing plugs; Draining and replacing fluids and oils; Replacing filters.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2449847556"/>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indicate possible preventative maintenance required for on-tour vehicles:</a:t>
            </a:r>
          </a:p>
          <a:p>
            <a:pPr marL="171450" indent="-171450">
              <a:buFont typeface="Arial" pitchFamily="34" charset="0"/>
              <a:buChar char="•"/>
            </a:pPr>
            <a:r>
              <a:rPr lang="en-AU" sz="1200" kern="1200" dirty="0" smtClean="0">
                <a:solidFill>
                  <a:schemeClr val="tx1"/>
                </a:solidFill>
                <a:latin typeface="+mn-lt"/>
                <a:ea typeface="+mn-ea"/>
                <a:cs typeface="+mn-cs"/>
              </a:rPr>
              <a:t>Undertaking specified additional service tasks as required by the host enterprise – these can be prescribed by the Tour Operator on the basis of previous experience with vehicles and routes. Normally these will require:</a:t>
            </a:r>
          </a:p>
          <a:p>
            <a:pPr marL="628650" lvl="1" indent="-171450">
              <a:buFont typeface="Arial" pitchFamily="34" charset="0"/>
              <a:buChar char="•"/>
            </a:pPr>
            <a:r>
              <a:rPr lang="en-AU" sz="1200" kern="1200" dirty="0" smtClean="0">
                <a:solidFill>
                  <a:schemeClr val="tx1"/>
                </a:solidFill>
                <a:latin typeface="+mn-lt"/>
                <a:ea typeface="+mn-ea"/>
                <a:cs typeface="+mn-cs"/>
              </a:rPr>
              <a:t>The same attention being paid to the same parts as for a scheduled service but with greater frequency</a:t>
            </a:r>
          </a:p>
          <a:p>
            <a:pPr marL="628650" lvl="1" indent="-171450">
              <a:buFont typeface="Arial" pitchFamily="34" charset="0"/>
              <a:buChar char="•"/>
            </a:pPr>
            <a:r>
              <a:rPr lang="en-AU" sz="1200" kern="1200" dirty="0" smtClean="0">
                <a:solidFill>
                  <a:schemeClr val="tx1"/>
                </a:solidFill>
                <a:latin typeface="+mn-lt"/>
                <a:ea typeface="+mn-ea"/>
                <a:cs typeface="+mn-cs"/>
              </a:rPr>
              <a:t>Attention to specific parts of the vehicle as a result of activities undertaken</a:t>
            </a:r>
          </a:p>
          <a:p>
            <a:pPr marL="171450" indent="-171450">
              <a:buFont typeface="Arial" pitchFamily="34" charset="0"/>
              <a:buChar char="•"/>
            </a:pPr>
            <a:r>
              <a:rPr lang="en-AU" sz="1200" kern="1200" dirty="0" smtClean="0">
                <a:solidFill>
                  <a:schemeClr val="tx1"/>
                </a:solidFill>
                <a:latin typeface="+mn-lt"/>
                <a:ea typeface="+mn-ea"/>
                <a:cs typeface="+mn-cs"/>
              </a:rPr>
              <a:t>Replacing specific component parts – according to a nominated schedule </a:t>
            </a:r>
          </a:p>
          <a:p>
            <a:pPr marL="171450" indent="-171450">
              <a:buFont typeface="Arial" pitchFamily="34" charset="0"/>
              <a:buChar char="•"/>
            </a:pPr>
            <a:r>
              <a:rPr lang="en-AU" sz="1200" kern="1200" dirty="0" smtClean="0">
                <a:solidFill>
                  <a:schemeClr val="tx1"/>
                </a:solidFill>
                <a:latin typeface="+mn-lt"/>
                <a:ea typeface="+mn-ea"/>
                <a:cs typeface="+mn-cs"/>
              </a:rPr>
              <a:t>Examining the tyres – and checking and/or adjusting the tyre pressures.</a:t>
            </a:r>
          </a:p>
          <a:p>
            <a:pPr>
              <a:buFont typeface="Arial" pitchFamily="34" charset="0"/>
              <a:buNone/>
            </a:pPr>
            <a:endParaRPr lang="en-AU" noProof="0" dirty="0" smtClean="0"/>
          </a:p>
          <a:p>
            <a:pPr>
              <a:buFont typeface="Arial" pitchFamily="34" charset="0"/>
              <a:buNone/>
            </a:pPr>
            <a:r>
              <a:rPr lang="en-US" b="1" baseline="0" noProof="0" dirty="0" smtClean="0"/>
              <a:t>Classroom Activity – Internet research </a:t>
            </a:r>
          </a:p>
          <a:p>
            <a:pPr>
              <a:buFont typeface="Arial" pitchFamily="34" charset="0"/>
              <a:buNone/>
            </a:pPr>
            <a:r>
              <a:rPr lang="en-US" b="0" baseline="0" noProof="0" dirty="0" smtClean="0"/>
              <a:t>Trainer supervises internet research on relevant websites such as: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http://www.offroadaussie.com/2013/02/4wd-tips-and-tricks-water-crossings/</a:t>
            </a:r>
            <a:r>
              <a:rPr lang="en-AU" sz="1200" kern="1200" dirty="0" smtClean="0">
                <a:solidFill>
                  <a:schemeClr val="tx1"/>
                </a:solidFill>
                <a:latin typeface="+mn-lt"/>
                <a:ea typeface="+mn-ea"/>
                <a:cs typeface="+mn-cs"/>
              </a:rPr>
              <a:t> - 4WD tricks and tips: water crossing.</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423023465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indicate possible preventative maintenance required for on-tour vehicles:</a:t>
            </a:r>
          </a:p>
          <a:p>
            <a:pPr marL="171450" indent="-171450">
              <a:buFont typeface="Arial" pitchFamily="34" charset="0"/>
              <a:buChar char="•"/>
            </a:pPr>
            <a:r>
              <a:rPr lang="en-AU" sz="1200" kern="1200" dirty="0" smtClean="0">
                <a:solidFill>
                  <a:schemeClr val="tx1"/>
                </a:solidFill>
                <a:latin typeface="+mn-lt"/>
                <a:ea typeface="+mn-ea"/>
                <a:cs typeface="+mn-cs"/>
              </a:rPr>
              <a:t>Topping up of fluids – as required based on inspection</a:t>
            </a:r>
          </a:p>
          <a:p>
            <a:pPr marL="171450" indent="-171450">
              <a:buFont typeface="Arial" pitchFamily="34" charset="0"/>
              <a:buChar char="•"/>
            </a:pPr>
            <a:r>
              <a:rPr lang="en-AU" sz="1200" kern="1200" dirty="0" smtClean="0">
                <a:solidFill>
                  <a:schemeClr val="tx1"/>
                </a:solidFill>
                <a:latin typeface="+mn-lt"/>
                <a:ea typeface="+mn-ea"/>
                <a:cs typeface="+mn-cs"/>
              </a:rPr>
              <a:t>Tightening loose connections and fittings</a:t>
            </a:r>
          </a:p>
          <a:p>
            <a:pPr marL="171450" indent="-171450">
              <a:buFont typeface="Arial" pitchFamily="34" charset="0"/>
              <a:buChar char="•"/>
            </a:pPr>
            <a:r>
              <a:rPr lang="en-AU" sz="1200" kern="1200" dirty="0" smtClean="0">
                <a:solidFill>
                  <a:schemeClr val="tx1"/>
                </a:solidFill>
                <a:latin typeface="+mn-lt"/>
                <a:ea typeface="+mn-ea"/>
                <a:cs typeface="+mn-cs"/>
              </a:rPr>
              <a:t>Replacing damaged or worn parts.</a:t>
            </a:r>
          </a:p>
          <a:p>
            <a:pPr>
              <a:buFont typeface="Arial" pitchFamily="34" charset="0"/>
              <a:buNone/>
            </a:pPr>
            <a:endParaRPr lang="en-AU" noProof="0" dirty="0" smtClean="0"/>
          </a:p>
          <a:p>
            <a:pPr>
              <a:buFont typeface="Arial" pitchFamily="34" charset="0"/>
              <a:buNone/>
            </a:pPr>
            <a:r>
              <a:rPr lang="en-AU" b="1" noProof="0" dirty="0" smtClean="0"/>
              <a:t>Classroom Activity – Excursion</a:t>
            </a:r>
          </a:p>
          <a:p>
            <a:pPr>
              <a:buFont typeface="Arial" pitchFamily="34" charset="0"/>
              <a:buNone/>
            </a:pPr>
            <a:r>
              <a:rPr lang="en-AU" b="0" noProof="0" dirty="0" smtClean="0"/>
              <a:t>Trainer arranges visit to local Tour Operator to:</a:t>
            </a:r>
          </a:p>
          <a:p>
            <a:pPr marL="171450" indent="-171450">
              <a:buFont typeface="Arial" pitchFamily="34" charset="0"/>
              <a:buChar char="•"/>
            </a:pPr>
            <a:r>
              <a:rPr lang="en-AU" b="0" noProof="0" dirty="0" smtClean="0"/>
              <a:t>Talk to operators regarding operation and maintenance</a:t>
            </a:r>
            <a:r>
              <a:rPr lang="en-AU" b="0" baseline="0" noProof="0" dirty="0" smtClean="0"/>
              <a:t> of 4WD vehicles for use on tours</a:t>
            </a:r>
            <a:endParaRPr lang="en-AU" b="0" noProof="0" dirty="0" smtClean="0"/>
          </a:p>
          <a:p>
            <a:pPr marL="171450" indent="-171450">
              <a:buFont typeface="Arial" pitchFamily="34" charset="0"/>
              <a:buChar char="•"/>
            </a:pPr>
            <a:r>
              <a:rPr lang="en-AU" b="0" noProof="0" dirty="0" smtClean="0"/>
              <a:t>View preventative maintenance being delivered to tour vehicles</a:t>
            </a:r>
          </a:p>
          <a:p>
            <a:pPr marL="171450" indent="-171450">
              <a:buFont typeface="Arial" pitchFamily="34" charset="0"/>
              <a:buChar char="•"/>
            </a:pPr>
            <a:r>
              <a:rPr lang="en-AU" b="0" noProof="0" dirty="0" smtClean="0"/>
              <a:t>Obtain supporting documentation relating to operation and maintenance </a:t>
            </a:r>
            <a:r>
              <a:rPr lang="en-AU" b="0" baseline="0" noProof="0" dirty="0" smtClean="0"/>
              <a:t>of tour 4WD vehicles. </a:t>
            </a:r>
            <a:r>
              <a:rPr lang="en-AU" b="0" noProof="0" dirty="0" smtClean="0"/>
              <a:t> </a:t>
            </a:r>
          </a:p>
          <a:p>
            <a:pPr>
              <a:buFont typeface="Arial" pitchFamily="34" charset="0"/>
              <a:buChar char="•"/>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193424067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there </a:t>
            </a:r>
            <a:r>
              <a:rPr lang="en-AU" sz="1200" kern="1200" dirty="0" smtClean="0">
                <a:solidFill>
                  <a:schemeClr val="tx1"/>
                </a:solidFill>
                <a:latin typeface="+mn-lt"/>
                <a:ea typeface="+mn-ea"/>
                <a:cs typeface="+mn-cs"/>
              </a:rPr>
              <a:t>may be a need to prepare tour vehicles in advance for known or anticipated conditions such as water and sand noting the required preparations may be:</a:t>
            </a:r>
          </a:p>
          <a:p>
            <a:pPr marL="171450" indent="-171450">
              <a:buFont typeface="Arial" pitchFamily="34" charset="0"/>
              <a:buChar char="•"/>
            </a:pPr>
            <a:r>
              <a:rPr lang="en-AU" sz="1200" kern="1200" dirty="0" smtClean="0">
                <a:solidFill>
                  <a:schemeClr val="tx1"/>
                </a:solidFill>
                <a:latin typeface="+mn-lt"/>
                <a:ea typeface="+mn-ea"/>
                <a:cs typeface="+mn-cs"/>
              </a:rPr>
              <a:t>Dictated by Tour Operator SOPs – as developed/provided by the tour organisation</a:t>
            </a:r>
          </a:p>
          <a:p>
            <a:pPr marL="171450" indent="-171450">
              <a:buFont typeface="Arial" pitchFamily="34" charset="0"/>
              <a:buChar char="•"/>
            </a:pPr>
            <a:r>
              <a:rPr lang="en-AU" sz="1200" kern="1200" dirty="0" smtClean="0">
                <a:solidFill>
                  <a:schemeClr val="tx1"/>
                </a:solidFill>
                <a:latin typeface="+mn-lt"/>
                <a:ea typeface="+mn-ea"/>
                <a:cs typeface="+mn-cs"/>
              </a:rPr>
              <a:t>Determined by the tour crew/vehicle driver – based on the knowledge, experience and expertise.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763662039"/>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sz="1200" kern="1200" baseline="0" dirty="0" smtClean="0">
                <a:solidFill>
                  <a:schemeClr val="tx1"/>
                </a:solidFill>
                <a:ea typeface="+mn-ea"/>
                <a:cs typeface="+mn-cs"/>
              </a:rPr>
              <a:t>What documentation has to be completed?</a:t>
            </a:r>
          </a:p>
          <a:p>
            <a:pPr marL="171450" indent="-171450">
              <a:buFont typeface="Arial" pitchFamily="34" charset="0"/>
              <a:buChar char="•"/>
            </a:pPr>
            <a:r>
              <a:rPr lang="en-US" sz="1200" kern="1200" baseline="0" dirty="0" smtClean="0">
                <a:solidFill>
                  <a:schemeClr val="tx1"/>
                </a:solidFill>
                <a:ea typeface="+mn-ea"/>
                <a:cs typeface="+mn-cs"/>
              </a:rPr>
              <a:t>Who completes it?</a:t>
            </a:r>
          </a:p>
          <a:p>
            <a:pPr marL="171450" indent="-171450">
              <a:buFont typeface="Arial" pitchFamily="34" charset="0"/>
              <a:buChar char="•"/>
            </a:pPr>
            <a:r>
              <a:rPr lang="en-US" sz="1200" kern="1200" baseline="0" dirty="0" smtClean="0">
                <a:solidFill>
                  <a:schemeClr val="tx1"/>
                </a:solidFill>
                <a:ea typeface="+mn-ea"/>
                <a:cs typeface="+mn-cs"/>
              </a:rPr>
              <a:t>When and where?</a:t>
            </a:r>
          </a:p>
          <a:p>
            <a:pPr marL="171450" indent="-171450">
              <a:buFont typeface="Arial" pitchFamily="34" charset="0"/>
              <a:buChar char="•"/>
            </a:pPr>
            <a:r>
              <a:rPr lang="en-US" sz="1200" kern="1200" baseline="0" dirty="0" smtClean="0">
                <a:solidFill>
                  <a:schemeClr val="tx1"/>
                </a:solidFill>
                <a:ea typeface="+mn-ea"/>
                <a:cs typeface="+mn-cs"/>
              </a:rPr>
              <a:t>Why does it need to be completed?</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38563881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need for Tour Operators to have documentation completed to record services and repairs undertaken to tour vehicles when on-tour:</a:t>
            </a:r>
          </a:p>
          <a:p>
            <a:pPr marL="171450" indent="-171450">
              <a:buFont typeface="Arial" pitchFamily="34" charset="0"/>
              <a:buChar char="•"/>
            </a:pPr>
            <a:r>
              <a:rPr lang="en-AU" sz="1200" kern="1200" dirty="0" smtClean="0">
                <a:solidFill>
                  <a:schemeClr val="tx1"/>
                </a:solidFill>
                <a:latin typeface="+mn-lt"/>
                <a:ea typeface="+mn-ea"/>
                <a:cs typeface="+mn-cs"/>
              </a:rPr>
              <a:t>Provide proof of inspections performed on vehicles while on tour</a:t>
            </a:r>
          </a:p>
          <a:p>
            <a:pPr marL="171450" indent="-171450">
              <a:buFont typeface="Arial" pitchFamily="34" charset="0"/>
              <a:buChar char="•"/>
            </a:pPr>
            <a:r>
              <a:rPr lang="en-AU" sz="1200" kern="1200" dirty="0" smtClean="0">
                <a:solidFill>
                  <a:schemeClr val="tx1"/>
                </a:solidFill>
                <a:latin typeface="+mn-lt"/>
                <a:ea typeface="+mn-ea"/>
                <a:cs typeface="+mn-cs"/>
              </a:rPr>
              <a:t>Give a reference point for work which has to be performed on tour vehicles</a:t>
            </a:r>
          </a:p>
          <a:p>
            <a:pPr marL="171450" indent="-171450">
              <a:buFont typeface="Arial" pitchFamily="34" charset="0"/>
              <a:buChar char="•"/>
            </a:pPr>
            <a:r>
              <a:rPr lang="en-AU" sz="1200" kern="1200" dirty="0" smtClean="0">
                <a:solidFill>
                  <a:schemeClr val="tx1"/>
                </a:solidFill>
                <a:latin typeface="+mn-lt"/>
                <a:ea typeface="+mn-ea"/>
                <a:cs typeface="+mn-cs"/>
              </a:rPr>
              <a:t>Allow comprehensive and accurate operational records to be maintained for each vehicle</a:t>
            </a:r>
          </a:p>
          <a:p>
            <a:pPr marL="171450" indent="-171450">
              <a:buFont typeface="Arial" pitchFamily="34" charset="0"/>
              <a:buChar char="•"/>
            </a:pPr>
            <a:r>
              <a:rPr lang="en-AU" sz="1200" kern="1200" dirty="0" smtClean="0">
                <a:solidFill>
                  <a:schemeClr val="tx1"/>
                </a:solidFill>
                <a:latin typeface="+mn-lt"/>
                <a:ea typeface="+mn-ea"/>
                <a:cs typeface="+mn-cs"/>
              </a:rPr>
              <a:t>Enable accurate costing to be undertaken relating to the cost of operation of individual vehicles and types of vehicles.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3145471238"/>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need to complete documentation:</a:t>
            </a:r>
          </a:p>
          <a:p>
            <a:pPr marL="171450" indent="-171450">
              <a:buFont typeface="Arial" pitchFamily="34" charset="0"/>
              <a:buChar char="•"/>
            </a:pPr>
            <a:r>
              <a:rPr lang="en-AU" sz="1200" kern="1200" dirty="0" smtClean="0">
                <a:solidFill>
                  <a:schemeClr val="tx1"/>
                </a:solidFill>
                <a:latin typeface="+mn-lt"/>
                <a:ea typeface="+mn-ea"/>
                <a:cs typeface="+mn-cs"/>
              </a:rPr>
              <a:t>Supply a database of information which can be provided to buyers when the tour vehicle is on-sold at the end of its useful life – to assist with proving regular maintenance and optimise re-sale value</a:t>
            </a:r>
          </a:p>
          <a:p>
            <a:pPr marL="171450" indent="-171450">
              <a:buFont typeface="Arial" pitchFamily="34" charset="0"/>
              <a:buChar char="•"/>
            </a:pPr>
            <a:r>
              <a:rPr lang="en-AU" sz="1200" kern="1200" dirty="0" smtClean="0">
                <a:solidFill>
                  <a:schemeClr val="tx1"/>
                </a:solidFill>
                <a:latin typeface="+mn-lt"/>
                <a:ea typeface="+mn-ea"/>
                <a:cs typeface="+mn-cs"/>
              </a:rPr>
              <a:t>Help determine future repairs and maintenance which need to be provided to individual vehicles – based on the work they have done, and any service/maintenance performed on them</a:t>
            </a:r>
          </a:p>
          <a:p>
            <a:pPr marL="171450" indent="-171450">
              <a:buFont typeface="Arial" pitchFamily="34" charset="0"/>
              <a:buChar char="•"/>
            </a:pPr>
            <a:r>
              <a:rPr lang="en-AU" sz="1200" kern="1200" dirty="0" smtClean="0">
                <a:solidFill>
                  <a:schemeClr val="tx1"/>
                </a:solidFill>
                <a:latin typeface="+mn-lt"/>
                <a:ea typeface="+mn-ea"/>
                <a:cs typeface="+mn-cs"/>
              </a:rPr>
              <a:t>Demonstrate tour crew/vehicle drivers’ compliance with internal requirements – regarding daily inspections and scheduled/required maintenance and service</a:t>
            </a:r>
          </a:p>
          <a:p>
            <a:pPr marL="171450" indent="-171450">
              <a:buFont typeface="Arial" pitchFamily="34" charset="0"/>
              <a:buChar char="•"/>
            </a:pPr>
            <a:r>
              <a:rPr lang="en-AU" sz="1200" kern="1200" dirty="0" smtClean="0">
                <a:solidFill>
                  <a:schemeClr val="tx1"/>
                </a:solidFill>
                <a:latin typeface="+mn-lt"/>
                <a:ea typeface="+mn-ea"/>
                <a:cs typeface="+mn-cs"/>
              </a:rPr>
              <a:t>Allow administration/management of the Tour Operator to reconcile receipts and invoices from external providers for vehicle expenses.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152935951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a:t>
            </a:r>
          </a:p>
          <a:p>
            <a:pPr marL="171450" indent="-171450">
              <a:buFont typeface="Arial" pitchFamily="34" charset="0"/>
              <a:buChar char="•"/>
            </a:pPr>
            <a:r>
              <a:rPr lang="en-AU" sz="1200" kern="1200" dirty="0" smtClean="0">
                <a:solidFill>
                  <a:schemeClr val="tx1"/>
                </a:solidFill>
                <a:latin typeface="+mn-lt"/>
                <a:ea typeface="+mn-ea"/>
                <a:cs typeface="+mn-cs"/>
              </a:rPr>
              <a:t>A wallet of folder is usually provided in all vehicles for the purposes of storing required documentation to facilitate the submission and processing of paperwork at the end of the tour</a:t>
            </a:r>
          </a:p>
          <a:p>
            <a:pPr marL="171450" indent="-171450">
              <a:buFont typeface="Arial" pitchFamily="34" charset="0"/>
              <a:buChar char="•"/>
            </a:pPr>
            <a:r>
              <a:rPr lang="en-AU" sz="1200" kern="1200" dirty="0" smtClean="0">
                <a:solidFill>
                  <a:schemeClr val="tx1"/>
                </a:solidFill>
                <a:latin typeface="+mn-lt"/>
                <a:ea typeface="+mn-ea"/>
                <a:cs typeface="+mn-cs"/>
              </a:rPr>
              <a:t>This may contain the fuel card for the vehicle.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36466413"/>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a:t>
            </a:r>
            <a:r>
              <a:rPr lang="en-AU" sz="1200" kern="1200" dirty="0" smtClean="0">
                <a:solidFill>
                  <a:schemeClr val="tx1"/>
                </a:solidFill>
                <a:latin typeface="+mn-lt"/>
                <a:ea typeface="+mn-ea"/>
                <a:cs typeface="+mn-cs"/>
              </a:rPr>
              <a:t>keys in the documentation process are:</a:t>
            </a:r>
          </a:p>
          <a:p>
            <a:pPr marL="171450" indent="-171450">
              <a:buFont typeface="Arial" pitchFamily="34" charset="0"/>
              <a:buChar char="•"/>
            </a:pPr>
            <a:r>
              <a:rPr lang="en-AU" sz="1200" kern="1200" dirty="0" smtClean="0">
                <a:solidFill>
                  <a:schemeClr val="tx1"/>
                </a:solidFill>
                <a:latin typeface="+mn-lt"/>
                <a:ea typeface="+mn-ea"/>
                <a:cs typeface="+mn-cs"/>
              </a:rPr>
              <a:t>Write clearly</a:t>
            </a:r>
          </a:p>
          <a:p>
            <a:pPr marL="171450" indent="-171450">
              <a:buFont typeface="Arial" pitchFamily="34" charset="0"/>
              <a:buChar char="•"/>
            </a:pPr>
            <a:r>
              <a:rPr lang="en-AU" sz="1200" kern="1200" dirty="0" smtClean="0">
                <a:solidFill>
                  <a:schemeClr val="tx1"/>
                </a:solidFill>
                <a:latin typeface="+mn-lt"/>
                <a:ea typeface="+mn-ea"/>
                <a:cs typeface="+mn-cs"/>
              </a:rPr>
              <a:t>Be honest</a:t>
            </a:r>
          </a:p>
          <a:p>
            <a:pPr marL="171450" indent="-171450">
              <a:buFont typeface="Arial" pitchFamily="34" charset="0"/>
              <a:buChar char="•"/>
            </a:pPr>
            <a:r>
              <a:rPr lang="en-AU" sz="1200" kern="1200" dirty="0" smtClean="0">
                <a:solidFill>
                  <a:schemeClr val="tx1"/>
                </a:solidFill>
                <a:latin typeface="+mn-lt"/>
                <a:ea typeface="+mn-ea"/>
                <a:cs typeface="+mn-cs"/>
              </a:rPr>
              <a:t>Cover all work done – be comprehensive</a:t>
            </a:r>
          </a:p>
          <a:p>
            <a:pPr marL="171450" indent="-171450">
              <a:buFont typeface="Arial" pitchFamily="34" charset="0"/>
              <a:buChar char="•"/>
            </a:pPr>
            <a:r>
              <a:rPr lang="en-AU" sz="1200" kern="1200" dirty="0" smtClean="0">
                <a:solidFill>
                  <a:schemeClr val="tx1"/>
                </a:solidFill>
                <a:latin typeface="+mn-lt"/>
                <a:ea typeface="+mn-ea"/>
                <a:cs typeface="+mn-cs"/>
              </a:rPr>
              <a:t>Use only recognised abbreviations and acronyms</a:t>
            </a:r>
          </a:p>
          <a:p>
            <a:pPr marL="171450" indent="-171450">
              <a:buFont typeface="Arial" pitchFamily="34" charset="0"/>
              <a:buChar char="•"/>
            </a:pPr>
            <a:r>
              <a:rPr lang="en-AU" sz="1200" kern="1200" dirty="0" smtClean="0">
                <a:solidFill>
                  <a:schemeClr val="tx1"/>
                </a:solidFill>
                <a:latin typeface="+mn-lt"/>
                <a:ea typeface="+mn-ea"/>
                <a:cs typeface="+mn-cs"/>
              </a:rPr>
              <a:t>Complete required documentation ‘at the time’ – as opposed to relying on memory to complete it at a later time.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1567886244"/>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Daily Vehicle Inspection Checklists stating:</a:t>
            </a:r>
          </a:p>
          <a:p>
            <a:pPr marL="171450" indent="-171450">
              <a:buFont typeface="Arial" pitchFamily="34" charset="0"/>
              <a:buChar char="•"/>
            </a:pPr>
            <a:r>
              <a:rPr lang="en-AU" sz="1200" kern="1200" dirty="0" smtClean="0">
                <a:solidFill>
                  <a:schemeClr val="tx1"/>
                </a:solidFill>
                <a:latin typeface="+mn-lt"/>
                <a:ea typeface="+mn-ea"/>
                <a:cs typeface="+mn-cs"/>
              </a:rPr>
              <a:t>These are the ‘Start of Day’ lists to be completed for each vehicle on every day of the tour before the vehicle is used. The checklist is used to:</a:t>
            </a:r>
          </a:p>
          <a:p>
            <a:pPr marL="628650" lvl="1" indent="-171450">
              <a:buFont typeface="Arial" pitchFamily="34" charset="0"/>
              <a:buChar char="•"/>
            </a:pPr>
            <a:r>
              <a:rPr lang="en-AU" sz="1200" kern="1200" dirty="0" smtClean="0">
                <a:solidFill>
                  <a:schemeClr val="tx1"/>
                </a:solidFill>
                <a:latin typeface="+mn-lt"/>
                <a:ea typeface="+mn-ea"/>
                <a:cs typeface="+mn-cs"/>
              </a:rPr>
              <a:t>Provide a record of the inspection to prove the check was undertaken as required</a:t>
            </a:r>
          </a:p>
          <a:p>
            <a:pPr marL="628650" lvl="1" indent="-171450">
              <a:buFont typeface="Arial" pitchFamily="34" charset="0"/>
              <a:buChar char="•"/>
            </a:pPr>
            <a:r>
              <a:rPr lang="en-AU" sz="1200" kern="1200" dirty="0" smtClean="0">
                <a:solidFill>
                  <a:schemeClr val="tx1"/>
                </a:solidFill>
                <a:latin typeface="+mn-lt"/>
                <a:ea typeface="+mn-ea"/>
                <a:cs typeface="+mn-cs"/>
              </a:rPr>
              <a:t>Record work done (service, repairs and maintenance) as part of the daily inspection</a:t>
            </a:r>
          </a:p>
          <a:p>
            <a:pPr marL="628650" lvl="1" indent="-171450">
              <a:buFont typeface="Arial" pitchFamily="34" charset="0"/>
              <a:buChar char="•"/>
            </a:pPr>
            <a:r>
              <a:rPr lang="en-AU" sz="1200" kern="1200" dirty="0" smtClean="0">
                <a:solidFill>
                  <a:schemeClr val="tx1"/>
                </a:solidFill>
                <a:latin typeface="+mn-lt"/>
                <a:ea typeface="+mn-ea"/>
                <a:cs typeface="+mn-cs"/>
              </a:rPr>
              <a:t>Note where items may require further attention at a later stage/at conclusion of the tour.</a:t>
            </a:r>
          </a:p>
          <a:p>
            <a:pPr lvl="1">
              <a:buFont typeface="Arial" pitchFamily="34" charset="0"/>
              <a:buNone/>
            </a:pPr>
            <a:endParaRPr lang="en-AU" noProof="0" dirty="0" smtClean="0"/>
          </a:p>
          <a:p>
            <a:pPr lvl="0">
              <a:buFont typeface="Arial" pitchFamily="34" charset="0"/>
              <a:buNone/>
            </a:pPr>
            <a:r>
              <a:rPr lang="en-AU" b="1" noProof="0" dirty="0" smtClean="0"/>
              <a:t>Classroom Activity – Handout</a:t>
            </a:r>
          </a:p>
          <a:p>
            <a:pPr lvl="0">
              <a:buFont typeface="Arial" pitchFamily="34" charset="0"/>
              <a:buNone/>
            </a:pPr>
            <a:r>
              <a:rPr lang="en-AU" b="0" noProof="0" dirty="0" smtClean="0"/>
              <a:t>Trainer distributes and discusses sample </a:t>
            </a:r>
            <a:r>
              <a:rPr lang="en-AU" noProof="0" dirty="0" smtClean="0"/>
              <a:t>Daily Vehicle Inspection Checklist.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3859559340"/>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activities inherent in</a:t>
            </a:r>
            <a:r>
              <a:rPr lang="en-AU" baseline="0" noProof="0" dirty="0" smtClean="0"/>
              <a:t> completing a Daily Vehicle Inspection Checklist:</a:t>
            </a:r>
          </a:p>
          <a:p>
            <a:pPr marL="171450" indent="-171450">
              <a:buFont typeface="Arial" pitchFamily="34" charset="0"/>
              <a:buChar char="•"/>
            </a:pPr>
            <a:r>
              <a:rPr lang="en-AU" sz="1200" kern="1200" dirty="0" smtClean="0">
                <a:solidFill>
                  <a:schemeClr val="tx1"/>
                </a:solidFill>
                <a:latin typeface="+mn-lt"/>
                <a:ea typeface="+mn-ea"/>
                <a:cs typeface="+mn-cs"/>
              </a:rPr>
              <a:t>A walk-around of the vehicle</a:t>
            </a:r>
          </a:p>
          <a:p>
            <a:pPr marL="171450" indent="-171450">
              <a:buFont typeface="Arial" pitchFamily="34" charset="0"/>
              <a:buChar char="•"/>
            </a:pPr>
            <a:r>
              <a:rPr lang="en-AU" sz="1200" kern="1200" dirty="0" smtClean="0">
                <a:solidFill>
                  <a:schemeClr val="tx1"/>
                </a:solidFill>
                <a:latin typeface="+mn-lt"/>
                <a:ea typeface="+mn-ea"/>
                <a:cs typeface="+mn-cs"/>
              </a:rPr>
              <a:t>Physical inspection of the vehicle</a:t>
            </a:r>
          </a:p>
          <a:p>
            <a:pPr marL="171450" indent="-171450">
              <a:buFont typeface="Arial" pitchFamily="34" charset="0"/>
              <a:buChar char="•"/>
            </a:pPr>
            <a:r>
              <a:rPr lang="en-AU" sz="1200" kern="1200" dirty="0" smtClean="0">
                <a:solidFill>
                  <a:schemeClr val="tx1"/>
                </a:solidFill>
                <a:latin typeface="+mn-lt"/>
                <a:ea typeface="+mn-ea"/>
                <a:cs typeface="+mn-cs"/>
              </a:rPr>
              <a:t>Starting of the engine and running the vehicle.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296226048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activities involved in completing a Daily Vehicle Inspection Checklist:</a:t>
            </a:r>
          </a:p>
          <a:p>
            <a:pPr marL="171450" indent="-171450">
              <a:buFont typeface="Arial" pitchFamily="34" charset="0"/>
              <a:buChar char="•"/>
            </a:pPr>
            <a:r>
              <a:rPr lang="en-AU" sz="1200" kern="1200" dirty="0" smtClean="0">
                <a:solidFill>
                  <a:schemeClr val="tx1"/>
                </a:solidFill>
                <a:latin typeface="+mn-lt"/>
                <a:ea typeface="+mn-ea"/>
                <a:cs typeface="+mn-cs"/>
              </a:rPr>
              <a:t>Monitoring gauges/instruments</a:t>
            </a:r>
          </a:p>
          <a:p>
            <a:pPr marL="171450" indent="-171450">
              <a:buFont typeface="Arial" pitchFamily="34" charset="0"/>
              <a:buChar char="•"/>
            </a:pPr>
            <a:r>
              <a:rPr lang="en-AU" sz="1200" kern="1200" dirty="0" smtClean="0">
                <a:solidFill>
                  <a:schemeClr val="tx1"/>
                </a:solidFill>
                <a:latin typeface="+mn-lt"/>
                <a:ea typeface="+mn-ea"/>
                <a:cs typeface="+mn-cs"/>
              </a:rPr>
              <a:t>Checking leads and connections</a:t>
            </a:r>
          </a:p>
          <a:p>
            <a:pPr marL="171450" indent="-171450">
              <a:buFont typeface="Arial" pitchFamily="34" charset="0"/>
              <a:buChar char="•"/>
            </a:pPr>
            <a:r>
              <a:rPr lang="en-AU" sz="1200" kern="1200" dirty="0" smtClean="0">
                <a:solidFill>
                  <a:schemeClr val="tx1"/>
                </a:solidFill>
                <a:latin typeface="+mn-lt"/>
                <a:ea typeface="+mn-ea"/>
                <a:cs typeface="+mn-cs"/>
              </a:rPr>
              <a:t>Testing the operation of certain systems and/or items of equipment.</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shows students how to complete a </a:t>
            </a:r>
            <a:r>
              <a:rPr lang="en-AU" noProof="0" dirty="0" smtClean="0"/>
              <a:t>Daily Vehicle Inspection Checklist and provides opportunity for them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3919998484"/>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a:t>
            </a:r>
          </a:p>
          <a:p>
            <a:pPr marL="171450" indent="-171450">
              <a:buFont typeface="Arial" pitchFamily="34" charset="0"/>
              <a:buChar char="•"/>
            </a:pPr>
            <a:r>
              <a:rPr lang="en-AU" sz="1200" kern="1200" dirty="0" smtClean="0">
                <a:solidFill>
                  <a:schemeClr val="tx1"/>
                </a:solidFill>
                <a:latin typeface="+mn-lt"/>
                <a:ea typeface="+mn-ea"/>
                <a:cs typeface="+mn-cs"/>
              </a:rPr>
              <a:t>The Vehicle Log/Vehicle Usage Log records basic travel information for each vehicle on a day-by-day basis</a:t>
            </a:r>
          </a:p>
          <a:p>
            <a:pPr marL="171450" indent="-171450">
              <a:buFont typeface="Arial" pitchFamily="34" charset="0"/>
              <a:buChar char="•"/>
            </a:pPr>
            <a:r>
              <a:rPr lang="en-AU" sz="1200" kern="1200" dirty="0" smtClean="0">
                <a:solidFill>
                  <a:schemeClr val="tx1"/>
                </a:solidFill>
                <a:latin typeface="+mn-lt"/>
                <a:ea typeface="+mn-ea"/>
                <a:cs typeface="+mn-cs"/>
              </a:rPr>
              <a:t>It commonly has to be filled in:</a:t>
            </a:r>
          </a:p>
          <a:p>
            <a:pPr marL="628650" lvl="1" indent="-171450">
              <a:buFont typeface="Arial" pitchFamily="34" charset="0"/>
              <a:buChar char="•"/>
            </a:pPr>
            <a:r>
              <a:rPr lang="en-AU" sz="1200" kern="1200" dirty="0" smtClean="0">
                <a:solidFill>
                  <a:schemeClr val="tx1"/>
                </a:solidFill>
                <a:latin typeface="+mn-lt"/>
                <a:ea typeface="+mn-ea"/>
                <a:cs typeface="+mn-cs"/>
              </a:rPr>
              <a:t>At the start of the day</a:t>
            </a:r>
          </a:p>
          <a:p>
            <a:pPr marL="628650" lvl="1" indent="-171450">
              <a:buFont typeface="Arial" pitchFamily="34" charset="0"/>
              <a:buChar char="•"/>
            </a:pPr>
            <a:r>
              <a:rPr lang="en-AU" sz="1200" kern="1200" dirty="0" smtClean="0">
                <a:solidFill>
                  <a:schemeClr val="tx1"/>
                </a:solidFill>
                <a:latin typeface="+mn-lt"/>
                <a:ea typeface="+mn-ea"/>
                <a:cs typeface="+mn-cs"/>
              </a:rPr>
              <a:t>At the end of the day.</a:t>
            </a:r>
          </a:p>
          <a:p>
            <a:pPr>
              <a:buFont typeface="Arial" pitchFamily="34" charset="0"/>
              <a:buNone/>
            </a:pPr>
            <a:endParaRPr lang="en-AU" noProof="0" dirty="0" smtClean="0"/>
          </a:p>
          <a:p>
            <a:pPr lvl="0">
              <a:buFont typeface="Arial" pitchFamily="34" charset="0"/>
              <a:buNone/>
            </a:pPr>
            <a:r>
              <a:rPr lang="en-AU" b="1" noProof="0" dirty="0" smtClean="0"/>
              <a:t>Classroom Activity – Handout</a:t>
            </a:r>
          </a:p>
          <a:p>
            <a:pPr lvl="0">
              <a:buFont typeface="Arial" pitchFamily="34" charset="0"/>
              <a:buNone/>
            </a:pPr>
            <a:r>
              <a:rPr lang="en-AU" b="0" noProof="0" dirty="0" smtClean="0"/>
              <a:t>Trainer distributes and discusses sample </a:t>
            </a:r>
            <a:r>
              <a:rPr lang="en-AU" sz="1200" kern="1200" dirty="0" smtClean="0">
                <a:solidFill>
                  <a:schemeClr val="tx1"/>
                </a:solidFill>
                <a:latin typeface="+mn-lt"/>
                <a:ea typeface="+mn-ea"/>
                <a:cs typeface="+mn-cs"/>
              </a:rPr>
              <a:t>Vehicle Log/Vehicle Usage Log </a:t>
            </a:r>
            <a:r>
              <a:rPr lang="en-AU" noProof="0" dirty="0" smtClean="0"/>
              <a: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2501849034"/>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information required when completing a </a:t>
            </a:r>
            <a:r>
              <a:rPr lang="en-AU" sz="1200" kern="1200" dirty="0" smtClean="0">
                <a:solidFill>
                  <a:schemeClr val="tx1"/>
                </a:solidFill>
                <a:latin typeface="+mn-lt"/>
                <a:ea typeface="+mn-ea"/>
                <a:cs typeface="+mn-cs"/>
              </a:rPr>
              <a:t>Vehicle Log/Vehicle Usage Log:</a:t>
            </a:r>
          </a:p>
          <a:p>
            <a:pPr marL="171450" indent="-171450">
              <a:buFont typeface="Arial" pitchFamily="34" charset="0"/>
              <a:buChar char="•"/>
            </a:pPr>
            <a:r>
              <a:rPr lang="en-AU" sz="1200" kern="1200" dirty="0" smtClean="0">
                <a:solidFill>
                  <a:schemeClr val="tx1"/>
                </a:solidFill>
                <a:latin typeface="+mn-lt"/>
                <a:ea typeface="+mn-ea"/>
                <a:cs typeface="+mn-cs"/>
              </a:rPr>
              <a:t>Name/title of tour</a:t>
            </a:r>
          </a:p>
          <a:p>
            <a:pPr marL="171450" indent="-171450">
              <a:buFont typeface="Arial" pitchFamily="34" charset="0"/>
              <a:buChar char="•"/>
            </a:pPr>
            <a:r>
              <a:rPr lang="en-AU" sz="1200" kern="1200" dirty="0" smtClean="0">
                <a:solidFill>
                  <a:schemeClr val="tx1"/>
                </a:solidFill>
                <a:latin typeface="+mn-lt"/>
                <a:ea typeface="+mn-ea"/>
                <a:cs typeface="+mn-cs"/>
              </a:rPr>
              <a:t>Details of vehicle – usually by registration number, make and model</a:t>
            </a:r>
          </a:p>
          <a:p>
            <a:pPr marL="171450" indent="-171450">
              <a:buFont typeface="Arial" pitchFamily="34" charset="0"/>
              <a:buChar char="•"/>
            </a:pPr>
            <a:r>
              <a:rPr lang="en-AU" sz="1200" kern="1200" dirty="0" smtClean="0">
                <a:solidFill>
                  <a:schemeClr val="tx1"/>
                </a:solidFill>
                <a:latin typeface="+mn-lt"/>
                <a:ea typeface="+mn-ea"/>
                <a:cs typeface="+mn-cs"/>
              </a:rPr>
              <a:t>Odometer reading/s – start and end of day</a:t>
            </a:r>
          </a:p>
          <a:p>
            <a:pPr marL="171450" indent="-171450">
              <a:buFont typeface="Arial" pitchFamily="34" charset="0"/>
              <a:buChar char="•"/>
            </a:pPr>
            <a:r>
              <a:rPr lang="en-AU" sz="1200" kern="1200" dirty="0" smtClean="0">
                <a:solidFill>
                  <a:schemeClr val="tx1"/>
                </a:solidFill>
                <a:latin typeface="+mn-lt"/>
                <a:ea typeface="+mn-ea"/>
                <a:cs typeface="+mn-cs"/>
              </a:rPr>
              <a:t>Distance travelled – calculated from odometer readings.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1777359565"/>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information required when completing a </a:t>
            </a:r>
            <a:r>
              <a:rPr lang="en-AU" sz="1200" kern="1200" dirty="0" smtClean="0">
                <a:solidFill>
                  <a:schemeClr val="tx1"/>
                </a:solidFill>
                <a:latin typeface="+mn-lt"/>
                <a:ea typeface="+mn-ea"/>
                <a:cs typeface="+mn-cs"/>
              </a:rPr>
              <a:t>Vehicle Log/Vehicle Usage Log:</a:t>
            </a:r>
          </a:p>
          <a:p>
            <a:pPr marL="171450" indent="-171450">
              <a:buFont typeface="Arial" pitchFamily="34" charset="0"/>
              <a:buChar char="•"/>
            </a:pPr>
            <a:r>
              <a:rPr lang="en-AU" sz="1200" kern="1200" dirty="0" smtClean="0">
                <a:solidFill>
                  <a:schemeClr val="tx1"/>
                </a:solidFill>
                <a:latin typeface="+mn-lt"/>
                <a:ea typeface="+mn-ea"/>
                <a:cs typeface="+mn-cs"/>
              </a:rPr>
              <a:t>Date/s</a:t>
            </a:r>
          </a:p>
          <a:p>
            <a:pPr marL="171450" indent="-171450">
              <a:buFont typeface="Arial" pitchFamily="34" charset="0"/>
              <a:buChar char="•"/>
            </a:pPr>
            <a:r>
              <a:rPr lang="en-AU" sz="1200" kern="1200" dirty="0" smtClean="0">
                <a:solidFill>
                  <a:schemeClr val="tx1"/>
                </a:solidFill>
                <a:latin typeface="+mn-lt"/>
                <a:ea typeface="+mn-ea"/>
                <a:cs typeface="+mn-cs"/>
              </a:rPr>
              <a:t>Destinations and/or route taken – listing towns/locations: some Tour Operators may require odometer readings between nominated locations/destinations</a:t>
            </a:r>
          </a:p>
          <a:p>
            <a:pPr marL="171450" indent="-171450">
              <a:buFont typeface="Arial" pitchFamily="34" charset="0"/>
              <a:buChar char="•"/>
            </a:pPr>
            <a:r>
              <a:rPr lang="en-AU" sz="1200" kern="1200" dirty="0" smtClean="0">
                <a:solidFill>
                  <a:schemeClr val="tx1"/>
                </a:solidFill>
                <a:latin typeface="+mn-lt"/>
                <a:ea typeface="+mn-ea"/>
                <a:cs typeface="+mn-cs"/>
              </a:rPr>
              <a:t>Name of driver/s – and signature</a:t>
            </a:r>
          </a:p>
          <a:p>
            <a:pPr marL="171450" indent="-171450">
              <a:buFont typeface="Arial" pitchFamily="34" charset="0"/>
              <a:buChar char="•"/>
            </a:pPr>
            <a:r>
              <a:rPr lang="en-AU" sz="1200" kern="1200" dirty="0" smtClean="0">
                <a:solidFill>
                  <a:schemeClr val="tx1"/>
                </a:solidFill>
                <a:latin typeface="+mn-lt"/>
                <a:ea typeface="+mn-ea"/>
                <a:cs typeface="+mn-cs"/>
              </a:rPr>
              <a:t>Time/s – for travel (start and finish).</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shows students how to complete a </a:t>
            </a:r>
            <a:r>
              <a:rPr lang="en-AU" sz="1200" kern="1200" dirty="0" smtClean="0">
                <a:solidFill>
                  <a:schemeClr val="tx1"/>
                </a:solidFill>
                <a:latin typeface="+mn-lt"/>
                <a:ea typeface="+mn-ea"/>
                <a:cs typeface="+mn-cs"/>
              </a:rPr>
              <a:t>Vehicle Log/Vehicle Usage Log</a:t>
            </a:r>
            <a:r>
              <a:rPr lang="en-AU" noProof="0" dirty="0" smtClean="0"/>
              <a:t> and provides opportunity for them to do the same.</a:t>
            </a:r>
            <a:endParaRPr lang="en-AU" b="0" noProof="0" dirty="0" smtClean="0"/>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1082034030"/>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where </a:t>
            </a:r>
            <a:r>
              <a:rPr lang="en-AU" sz="1200" kern="1200" dirty="0" smtClean="0">
                <a:solidFill>
                  <a:schemeClr val="tx1"/>
                </a:solidFill>
                <a:latin typeface="+mn-lt"/>
                <a:ea typeface="+mn-ea"/>
                <a:cs typeface="+mn-cs"/>
              </a:rPr>
              <a:t>money is spent on the tour vehicle during the tour for service the documentation supplied by the third party provider must be maintained for later reconciliation highlighting these documents (may) include quotations, receipts, service reports and invoices and they can relate to: </a:t>
            </a:r>
          </a:p>
          <a:p>
            <a:pPr marL="171450" indent="-171450">
              <a:buFont typeface="Arial" pitchFamily="34" charset="0"/>
              <a:buChar char="•"/>
            </a:pPr>
            <a:r>
              <a:rPr lang="en-AU" sz="1200" kern="1200" dirty="0" smtClean="0">
                <a:solidFill>
                  <a:schemeClr val="tx1"/>
                </a:solidFill>
                <a:latin typeface="+mn-lt"/>
                <a:ea typeface="+mn-ea"/>
                <a:cs typeface="+mn-cs"/>
              </a:rPr>
              <a:t>Work performed on the vehicle while on tour – such as repairs, service and maintenance</a:t>
            </a:r>
          </a:p>
          <a:p>
            <a:pPr marL="171450" indent="-171450">
              <a:buFont typeface="Arial" pitchFamily="34" charset="0"/>
              <a:buChar char="•"/>
            </a:pPr>
            <a:r>
              <a:rPr lang="en-AU" sz="1200" kern="1200" dirty="0" smtClean="0">
                <a:solidFill>
                  <a:schemeClr val="tx1"/>
                </a:solidFill>
                <a:latin typeface="+mn-lt"/>
                <a:ea typeface="+mn-ea"/>
                <a:cs typeface="+mn-cs"/>
              </a:rPr>
              <a:t>Vehicle-related purchases/consumables – such as fuel, oil, tyres.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3297585138"/>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it </a:t>
            </a:r>
            <a:r>
              <a:rPr lang="en-AU" sz="1200" kern="1200" dirty="0" smtClean="0">
                <a:solidFill>
                  <a:schemeClr val="tx1"/>
                </a:solidFill>
                <a:latin typeface="+mn-lt"/>
                <a:ea typeface="+mn-ea"/>
                <a:cs typeface="+mn-cs"/>
              </a:rPr>
              <a:t>is important to advise management of all vehicle issues which require future attention by an external service provider so as they can:</a:t>
            </a:r>
          </a:p>
          <a:p>
            <a:pPr marL="171450" indent="-171450">
              <a:buFont typeface="Arial" pitchFamily="34" charset="0"/>
              <a:buChar char="•"/>
            </a:pPr>
            <a:r>
              <a:rPr lang="en-AU" sz="1200" kern="1200" dirty="0" smtClean="0">
                <a:solidFill>
                  <a:schemeClr val="tx1"/>
                </a:solidFill>
                <a:latin typeface="+mn-lt"/>
                <a:ea typeface="+mn-ea"/>
                <a:cs typeface="+mn-cs"/>
              </a:rPr>
              <a:t>Decide if they want to have the matter attended to or not – in some cases they may make an intentional decision </a:t>
            </a:r>
            <a:r>
              <a:rPr lang="en-AU" sz="1200" i="1" kern="1200" dirty="0" smtClean="0">
                <a:solidFill>
                  <a:schemeClr val="tx1"/>
                </a:solidFill>
                <a:latin typeface="+mn-lt"/>
                <a:ea typeface="+mn-ea"/>
                <a:cs typeface="+mn-cs"/>
              </a:rPr>
              <a:t>not</a:t>
            </a:r>
            <a:r>
              <a:rPr lang="en-AU" sz="1200" kern="1200" dirty="0" smtClean="0">
                <a:solidFill>
                  <a:schemeClr val="tx1"/>
                </a:solidFill>
                <a:latin typeface="+mn-lt"/>
                <a:ea typeface="+mn-ea"/>
                <a:cs typeface="+mn-cs"/>
              </a:rPr>
              <a:t> to fix an identified problem</a:t>
            </a:r>
          </a:p>
          <a:p>
            <a:pPr marL="171450" indent="-171450">
              <a:buFont typeface="Arial" pitchFamily="34" charset="0"/>
              <a:buChar char="•"/>
            </a:pPr>
            <a:r>
              <a:rPr lang="en-AU" sz="1200" kern="1200" dirty="0" smtClean="0">
                <a:solidFill>
                  <a:schemeClr val="tx1"/>
                </a:solidFill>
                <a:latin typeface="+mn-lt"/>
                <a:ea typeface="+mn-ea"/>
                <a:cs typeface="+mn-cs"/>
              </a:rPr>
              <a:t>Obtain quotations – for work which has to be done so the best/most competitive price is obtained</a:t>
            </a:r>
          </a:p>
          <a:p>
            <a:pPr marL="171450" indent="-171450">
              <a:buFont typeface="Arial" pitchFamily="34" charset="0"/>
              <a:buChar char="•"/>
            </a:pPr>
            <a:r>
              <a:rPr lang="en-AU" sz="1200" kern="1200" dirty="0" smtClean="0">
                <a:solidFill>
                  <a:schemeClr val="tx1"/>
                </a:solidFill>
                <a:latin typeface="+mn-lt"/>
                <a:ea typeface="+mn-ea"/>
                <a:cs typeface="+mn-cs"/>
              </a:rPr>
              <a:t>Make sure the work to be done is best/most efficiently integrated into the known tour schedule – of the business.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extLst>
      <p:ext uri="{BB962C8B-B14F-4D97-AF65-F5344CB8AC3E}">
        <p14:creationId xmlns:p14="http://schemas.microsoft.com/office/powerpoint/2010/main" val="2806167564"/>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reasons why matters needing external attention need to be communicated to management – so they can:</a:t>
            </a:r>
          </a:p>
          <a:p>
            <a:pPr marL="171450" indent="-171450">
              <a:buFont typeface="Arial" pitchFamily="34" charset="0"/>
              <a:buChar char="•"/>
            </a:pPr>
            <a:r>
              <a:rPr lang="en-AU" sz="1200" kern="1200" dirty="0" smtClean="0">
                <a:solidFill>
                  <a:schemeClr val="tx1"/>
                </a:solidFill>
                <a:latin typeface="+mn-lt"/>
                <a:ea typeface="+mn-ea"/>
                <a:cs typeface="+mn-cs"/>
              </a:rPr>
              <a:t>Make arrangements for a replacement vehicle – where necessary</a:t>
            </a:r>
          </a:p>
          <a:p>
            <a:pPr marL="171450" indent="-171450">
              <a:buFont typeface="Arial" pitchFamily="34" charset="0"/>
              <a:buChar char="•"/>
            </a:pPr>
            <a:r>
              <a:rPr lang="en-AU" sz="1200" kern="1200" dirty="0" smtClean="0">
                <a:solidFill>
                  <a:schemeClr val="tx1"/>
                </a:solidFill>
                <a:latin typeface="+mn-lt"/>
                <a:ea typeface="+mn-ea"/>
                <a:cs typeface="+mn-cs"/>
              </a:rPr>
              <a:t>Ensure all tour vehicles are maintained in a safe and reliable condition – to discharge Duty of Care responsibilities and avoid preventable break-downs and delays </a:t>
            </a:r>
          </a:p>
          <a:p>
            <a:pPr marL="171450" indent="-171450">
              <a:buFont typeface="Arial" pitchFamily="34" charset="0"/>
              <a:buChar char="•"/>
            </a:pPr>
            <a:r>
              <a:rPr lang="en-AU" sz="1200" kern="1200" dirty="0" smtClean="0">
                <a:solidFill>
                  <a:schemeClr val="tx1"/>
                </a:solidFill>
                <a:latin typeface="+mn-lt"/>
                <a:ea typeface="+mn-ea"/>
                <a:cs typeface="+mn-cs"/>
              </a:rPr>
              <a:t>Factor this knowledge into other tour-related planning decisions – such as, for example:</a:t>
            </a:r>
          </a:p>
          <a:p>
            <a:pPr marL="628650" lvl="1" indent="-171450">
              <a:buFont typeface="Arial" pitchFamily="34" charset="0"/>
              <a:buChar char="•"/>
            </a:pPr>
            <a:r>
              <a:rPr lang="en-AU" sz="1200" kern="1200" dirty="0" smtClean="0">
                <a:solidFill>
                  <a:schemeClr val="tx1"/>
                </a:solidFill>
                <a:latin typeface="+mn-lt"/>
                <a:ea typeface="+mn-ea"/>
                <a:cs typeface="+mn-cs"/>
              </a:rPr>
              <a:t>Decisions about whether or not to increase tour price based on increased vehicle-related costs</a:t>
            </a:r>
          </a:p>
          <a:p>
            <a:pPr marL="628650" lvl="1" indent="-171450">
              <a:buFont typeface="Arial" pitchFamily="34" charset="0"/>
              <a:buChar char="•"/>
            </a:pPr>
            <a:r>
              <a:rPr lang="en-AU" sz="1200" kern="1200" dirty="0" smtClean="0">
                <a:solidFill>
                  <a:schemeClr val="tx1"/>
                </a:solidFill>
                <a:latin typeface="+mn-lt"/>
                <a:ea typeface="+mn-ea"/>
                <a:cs typeface="+mn-cs"/>
              </a:rPr>
              <a:t>Decisions about whether or not to change routes and/or destinations because of damage caused to vehicles</a:t>
            </a:r>
          </a:p>
          <a:p>
            <a:pPr marL="628650" lvl="1" indent="-171450">
              <a:buFont typeface="Arial" pitchFamily="34" charset="0"/>
              <a:buChar char="•"/>
            </a:pPr>
            <a:r>
              <a:rPr lang="en-AU" sz="1200" kern="1200" dirty="0" smtClean="0">
                <a:solidFill>
                  <a:schemeClr val="tx1"/>
                </a:solidFill>
                <a:latin typeface="+mn-lt"/>
                <a:ea typeface="+mn-ea"/>
                <a:cs typeface="+mn-cs"/>
              </a:rPr>
              <a:t>Provision of increased or different training for drivers – such as driver training or mechanical training.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extLst>
      <p:ext uri="{BB962C8B-B14F-4D97-AF65-F5344CB8AC3E}">
        <p14:creationId xmlns:p14="http://schemas.microsoft.com/office/powerpoint/2010/main" val="211726202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advises on-tour notification of issues requiring external attention usually</a:t>
            </a:r>
            <a:r>
              <a:rPr lang="en-AU" baseline="0" noProof="0" dirty="0" smtClean="0"/>
              <a:t> relates to:</a:t>
            </a:r>
          </a:p>
          <a:p>
            <a:pPr marL="171450" indent="-171450">
              <a:buFont typeface="Arial" pitchFamily="34" charset="0"/>
              <a:buChar char="•"/>
            </a:pPr>
            <a:r>
              <a:rPr lang="en-AU" sz="1200" kern="1200" dirty="0" smtClean="0">
                <a:solidFill>
                  <a:schemeClr val="tx1"/>
                </a:solidFill>
                <a:latin typeface="+mn-lt"/>
                <a:ea typeface="+mn-ea"/>
                <a:cs typeface="+mn-cs"/>
              </a:rPr>
              <a:t>Major repairs (which are usually defined in monetary terms, such as ‘work in excess of X value) – must be notified </a:t>
            </a:r>
            <a:r>
              <a:rPr lang="en-AU" sz="1200" b="1" kern="1200" dirty="0" smtClean="0">
                <a:solidFill>
                  <a:schemeClr val="tx1"/>
                </a:solidFill>
                <a:latin typeface="+mn-lt"/>
                <a:ea typeface="+mn-ea"/>
                <a:cs typeface="+mn-cs"/>
              </a:rPr>
              <a:t>prior to getting work done</a:t>
            </a:r>
            <a:r>
              <a:rPr lang="en-AU" sz="1200" kern="1200" dirty="0" smtClean="0">
                <a:solidFill>
                  <a:schemeClr val="tx1"/>
                </a:solidFill>
                <a:latin typeface="+mn-lt"/>
                <a:ea typeface="+mn-ea"/>
                <a:cs typeface="+mn-cs"/>
              </a:rPr>
              <a:t> so that:</a:t>
            </a:r>
          </a:p>
          <a:p>
            <a:pPr marL="628650" lvl="1" indent="-171450">
              <a:buFont typeface="Arial" pitchFamily="34" charset="0"/>
              <a:buChar char="•"/>
            </a:pPr>
            <a:r>
              <a:rPr lang="en-AU" sz="1200" kern="1200" dirty="0" smtClean="0">
                <a:solidFill>
                  <a:schemeClr val="tx1"/>
                </a:solidFill>
                <a:latin typeface="+mn-lt"/>
                <a:ea typeface="+mn-ea"/>
                <a:cs typeface="+mn-cs"/>
              </a:rPr>
              <a:t>Authorisation to proceed can be obtained – because the Tour Operator may elect not to proceed with repairs</a:t>
            </a:r>
          </a:p>
          <a:p>
            <a:pPr marL="628650" lvl="1" indent="-171450">
              <a:buFont typeface="Arial" pitchFamily="34" charset="0"/>
              <a:buChar char="•"/>
            </a:pPr>
            <a:r>
              <a:rPr lang="en-AU" sz="1200" kern="1200" dirty="0" smtClean="0">
                <a:solidFill>
                  <a:schemeClr val="tx1"/>
                </a:solidFill>
                <a:latin typeface="+mn-lt"/>
                <a:ea typeface="+mn-ea"/>
                <a:cs typeface="+mn-cs"/>
              </a:rPr>
              <a:t>Arrangements for payment can be made – between the Tour Operator and the service provider</a:t>
            </a:r>
          </a:p>
          <a:p>
            <a:pPr marL="171450" indent="-171450">
              <a:buFont typeface="Arial" pitchFamily="34" charset="0"/>
              <a:buChar char="•"/>
            </a:pPr>
            <a:r>
              <a:rPr lang="en-AU" sz="1200" kern="1200" dirty="0" smtClean="0">
                <a:solidFill>
                  <a:schemeClr val="tx1"/>
                </a:solidFill>
                <a:latin typeface="+mn-lt"/>
                <a:ea typeface="+mn-ea"/>
                <a:cs typeface="+mn-cs"/>
              </a:rPr>
              <a:t>Significant other work/expenses which have been incurred need to be communicated on the day they were incurred – as part of the standard </a:t>
            </a:r>
            <a:r>
              <a:rPr lang="en-AU" sz="1200" i="1" kern="1200" dirty="0" smtClean="0">
                <a:solidFill>
                  <a:schemeClr val="tx1"/>
                </a:solidFill>
                <a:latin typeface="+mn-lt"/>
                <a:ea typeface="+mn-ea"/>
                <a:cs typeface="+mn-cs"/>
              </a:rPr>
              <a:t>daily</a:t>
            </a:r>
            <a:r>
              <a:rPr lang="en-AU" sz="1200" kern="1200" dirty="0" smtClean="0">
                <a:solidFill>
                  <a:schemeClr val="tx1"/>
                </a:solidFill>
                <a:latin typeface="+mn-lt"/>
                <a:ea typeface="+mn-ea"/>
                <a:cs typeface="+mn-cs"/>
              </a:rPr>
              <a:t> check in/tour report that the Tour Leader may be required to make, so the Tour Operator is kept informed of issues and progress.</a:t>
            </a:r>
          </a:p>
          <a:p>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extLst>
      <p:ext uri="{BB962C8B-B14F-4D97-AF65-F5344CB8AC3E}">
        <p14:creationId xmlns:p14="http://schemas.microsoft.com/office/powerpoint/2010/main" val="3058753147"/>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on-tour notification/</a:t>
            </a:r>
            <a:r>
              <a:rPr lang="en-AU" sz="1200" kern="1200" dirty="0" smtClean="0">
                <a:solidFill>
                  <a:schemeClr val="tx1"/>
                </a:solidFill>
                <a:latin typeface="+mn-lt"/>
                <a:ea typeface="+mn-ea"/>
                <a:cs typeface="+mn-cs"/>
              </a:rPr>
              <a:t>reports may be made:</a:t>
            </a:r>
          </a:p>
          <a:p>
            <a:pPr marL="171450" indent="-171450">
              <a:buFont typeface="Arial" pitchFamily="34" charset="0"/>
              <a:buChar char="•"/>
            </a:pPr>
            <a:r>
              <a:rPr lang="en-AU" sz="1200" kern="1200" dirty="0" smtClean="0">
                <a:solidFill>
                  <a:schemeClr val="tx1"/>
                </a:solidFill>
                <a:latin typeface="+mn-lt"/>
                <a:ea typeface="+mn-ea"/>
                <a:cs typeface="+mn-cs"/>
              </a:rPr>
              <a:t>Via two-way radio</a:t>
            </a:r>
          </a:p>
          <a:p>
            <a:pPr marL="171450" indent="-171450">
              <a:buFont typeface="Arial" pitchFamily="34" charset="0"/>
              <a:buChar char="•"/>
            </a:pPr>
            <a:r>
              <a:rPr lang="en-AU" sz="1200" kern="1200" dirty="0" smtClean="0">
                <a:solidFill>
                  <a:schemeClr val="tx1"/>
                </a:solidFill>
                <a:latin typeface="+mn-lt"/>
                <a:ea typeface="+mn-ea"/>
                <a:cs typeface="+mn-cs"/>
              </a:rPr>
              <a:t>Using cell phone</a:t>
            </a:r>
          </a:p>
          <a:p>
            <a:pPr marL="171450" indent="-171450">
              <a:buFont typeface="Arial" pitchFamily="34" charset="0"/>
              <a:buChar char="•"/>
            </a:pPr>
            <a:r>
              <a:rPr lang="en-AU" sz="1200" kern="1200" dirty="0" smtClean="0">
                <a:solidFill>
                  <a:schemeClr val="tx1"/>
                </a:solidFill>
                <a:latin typeface="+mn-lt"/>
                <a:ea typeface="+mn-ea"/>
                <a:cs typeface="+mn-cs"/>
              </a:rPr>
              <a:t>Via a mobile device.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extLst>
      <p:ext uri="{BB962C8B-B14F-4D97-AF65-F5344CB8AC3E}">
        <p14:creationId xmlns:p14="http://schemas.microsoft.com/office/powerpoint/2010/main" val="1307354309"/>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notification may also occur when </a:t>
            </a:r>
            <a:r>
              <a:rPr lang="en-AU" sz="1200" kern="1200" dirty="0" smtClean="0">
                <a:solidFill>
                  <a:schemeClr val="tx1"/>
                </a:solidFill>
                <a:latin typeface="+mn-lt"/>
                <a:ea typeface="+mn-ea"/>
                <a:cs typeface="+mn-cs"/>
              </a:rPr>
              <a:t>the tour concludes and there can be a need for the vehicle driver to:</a:t>
            </a:r>
          </a:p>
          <a:p>
            <a:pPr marL="171450" indent="-171450">
              <a:buFont typeface="Arial" pitchFamily="34" charset="0"/>
              <a:buChar char="•"/>
            </a:pPr>
            <a:r>
              <a:rPr lang="en-AU" sz="1200" kern="1200" dirty="0" smtClean="0">
                <a:solidFill>
                  <a:schemeClr val="tx1"/>
                </a:solidFill>
                <a:latin typeface="+mn-lt"/>
                <a:ea typeface="+mn-ea"/>
                <a:cs typeface="+mn-cs"/>
              </a:rPr>
              <a:t>Provide a comprehensive verbal report on relevant issues – as part of the Tour de-briefing/end-of-tour report, supplemented by and with reference to relevant documentation (if any) from service providers gathered throughout the tour</a:t>
            </a:r>
          </a:p>
          <a:p>
            <a:pPr marL="171450" indent="-171450">
              <a:buFont typeface="Arial" pitchFamily="34" charset="0"/>
              <a:buChar char="•"/>
            </a:pPr>
            <a:r>
              <a:rPr lang="en-AU" sz="1200" kern="1200" dirty="0" smtClean="0">
                <a:solidFill>
                  <a:schemeClr val="tx1"/>
                </a:solidFill>
                <a:latin typeface="+mn-lt"/>
                <a:ea typeface="+mn-ea"/>
                <a:cs typeface="+mn-cs"/>
              </a:rPr>
              <a:t>Complete a vehicle maintenance requisition – specifying:</a:t>
            </a:r>
          </a:p>
          <a:p>
            <a:pPr marL="628650" lvl="1" indent="-171450">
              <a:buFont typeface="Arial" pitchFamily="34" charset="0"/>
              <a:buChar char="•"/>
            </a:pPr>
            <a:r>
              <a:rPr lang="en-AU" sz="1200" kern="1200" dirty="0" smtClean="0">
                <a:solidFill>
                  <a:schemeClr val="tx1"/>
                </a:solidFill>
                <a:latin typeface="+mn-lt"/>
                <a:ea typeface="+mn-ea"/>
                <a:cs typeface="+mn-cs"/>
              </a:rPr>
              <a:t>Identification of vehicle to be maintained</a:t>
            </a:r>
          </a:p>
          <a:p>
            <a:pPr marL="628650" lvl="1" indent="-171450">
              <a:buFont typeface="Arial" pitchFamily="34" charset="0"/>
              <a:buChar char="•"/>
            </a:pPr>
            <a:r>
              <a:rPr lang="en-AU" sz="1200" kern="1200" dirty="0" smtClean="0">
                <a:solidFill>
                  <a:schemeClr val="tx1"/>
                </a:solidFill>
                <a:latin typeface="+mn-lt"/>
                <a:ea typeface="+mn-ea"/>
                <a:cs typeface="+mn-cs"/>
              </a:rPr>
              <a:t>Nature of the problem</a:t>
            </a:r>
          </a:p>
          <a:p>
            <a:pPr marL="628650" lvl="1" indent="-171450">
              <a:buFont typeface="Arial" pitchFamily="34" charset="0"/>
              <a:buChar char="•"/>
            </a:pPr>
            <a:r>
              <a:rPr lang="en-AU" sz="1200" kern="1200" dirty="0" smtClean="0">
                <a:solidFill>
                  <a:schemeClr val="tx1"/>
                </a:solidFill>
                <a:latin typeface="+mn-lt"/>
                <a:ea typeface="+mn-ea"/>
                <a:cs typeface="+mn-cs"/>
              </a:rPr>
              <a:t>Cause of the problem, if known</a:t>
            </a:r>
          </a:p>
          <a:p>
            <a:pPr marL="628650" lvl="1" indent="-171450">
              <a:buFont typeface="Arial" pitchFamily="34" charset="0"/>
              <a:buChar char="•"/>
            </a:pPr>
            <a:r>
              <a:rPr lang="en-AU" sz="1200" kern="1200" dirty="0" smtClean="0">
                <a:solidFill>
                  <a:schemeClr val="tx1"/>
                </a:solidFill>
                <a:latin typeface="+mn-lt"/>
                <a:ea typeface="+mn-ea"/>
                <a:cs typeface="+mn-cs"/>
              </a:rPr>
              <a:t>Work already done</a:t>
            </a:r>
          </a:p>
          <a:p>
            <a:pPr marL="628650" lvl="1" indent="-171450">
              <a:buFont typeface="Arial" pitchFamily="34" charset="0"/>
              <a:buChar char="•"/>
            </a:pPr>
            <a:r>
              <a:rPr lang="en-AU" sz="1200" kern="1200" dirty="0" smtClean="0">
                <a:solidFill>
                  <a:schemeClr val="tx1"/>
                </a:solidFill>
                <a:latin typeface="+mn-lt"/>
                <a:ea typeface="+mn-ea"/>
                <a:cs typeface="+mn-cs"/>
              </a:rPr>
              <a:t>Suggestions for maintenance made by professional third party providers </a:t>
            </a:r>
            <a:r>
              <a:rPr lang="en-AU" sz="1200" i="1" kern="1200" dirty="0" smtClean="0">
                <a:solidFill>
                  <a:schemeClr val="tx1"/>
                </a:solidFill>
                <a:latin typeface="+mn-lt"/>
                <a:ea typeface="+mn-ea"/>
                <a:cs typeface="+mn-cs"/>
              </a:rPr>
              <a:t>en route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Discussing the problem with specialists – which is best done:</a:t>
            </a:r>
          </a:p>
          <a:p>
            <a:pPr marL="628650" lvl="1" indent="-171450">
              <a:buFont typeface="Arial" pitchFamily="34" charset="0"/>
              <a:buChar char="•"/>
            </a:pPr>
            <a:r>
              <a:rPr lang="en-AU" sz="1200" kern="1200" dirty="0" smtClean="0">
                <a:solidFill>
                  <a:schemeClr val="tx1"/>
                </a:solidFill>
                <a:latin typeface="+mn-lt"/>
                <a:ea typeface="+mn-ea"/>
                <a:cs typeface="+mn-cs"/>
              </a:rPr>
              <a:t>Face-to-face</a:t>
            </a:r>
          </a:p>
          <a:p>
            <a:pPr marL="628650" lvl="1" indent="-171450">
              <a:buFont typeface="Arial" pitchFamily="34" charset="0"/>
              <a:buChar char="•"/>
            </a:pPr>
            <a:r>
              <a:rPr lang="en-AU" sz="1200" kern="1200" dirty="0" smtClean="0">
                <a:solidFill>
                  <a:schemeClr val="tx1"/>
                </a:solidFill>
                <a:latin typeface="+mn-lt"/>
                <a:ea typeface="+mn-ea"/>
                <a:cs typeface="+mn-cs"/>
              </a:rPr>
              <a:t>While the vehicle is present – so specific points/parts can be indicated and problems replicated in front of mechanics/service providers.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extLst>
      <p:ext uri="{BB962C8B-B14F-4D97-AF65-F5344CB8AC3E}">
        <p14:creationId xmlns:p14="http://schemas.microsoft.com/office/powerpoint/2010/main" val="3062560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7/19/2016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400" b="1">
                <a:solidFill>
                  <a:srgbClr val="FF6600"/>
                </a:solidFill>
                <a:latin typeface="Helvetica" panose="020B0604020202020204" pitchFamily="34" charset="0"/>
                <a:cs typeface="Helvetica" panose="020B0604020202020204" pitchFamily="34" charset="0"/>
              </a:defRPr>
            </a:lvl1pPr>
          </a:lstStyle>
          <a:p>
            <a:r>
              <a:rPr kumimoji="0" lang="en-US" dirty="0" smtClean="0"/>
              <a:t>Click to edit Master title style</a:t>
            </a:r>
            <a:endParaRPr kumimoji="0" lang="en-US" dirty="0"/>
          </a:p>
        </p:txBody>
      </p:sp>
      <p:sp>
        <p:nvSpPr>
          <p:cNvPr id="3" name="Content Placeholder 2"/>
          <p:cNvSpPr>
            <a:spLocks noGrp="1"/>
          </p:cNvSpPr>
          <p:nvPr>
            <p:ph idx="1"/>
          </p:nvPr>
        </p:nvSpPr>
        <p:spPr>
          <a:xfrm>
            <a:off x="457200" y="1988840"/>
            <a:ext cx="4114800" cy="4137323"/>
          </a:xfrm>
        </p:spPr>
        <p:txBody>
          <a:bodyPr>
            <a:normAutofit/>
          </a:bodyPr>
          <a:lstStyle>
            <a:lvl1pPr>
              <a:spcBef>
                <a:spcPts val="600"/>
              </a:spcBef>
              <a:spcAft>
                <a:spcPts val="600"/>
              </a:spcAft>
              <a:defRPr sz="2000">
                <a:latin typeface="Helvetica" panose="020B0604020202020204" pitchFamily="34" charset="0"/>
                <a:cs typeface="Helvetica" panose="020B0604020202020204" pitchFamily="34" charset="0"/>
              </a:defRPr>
            </a:lvl1pPr>
            <a:lvl2pPr>
              <a:spcBef>
                <a:spcPts val="600"/>
              </a:spcBef>
              <a:spcAft>
                <a:spcPts val="600"/>
              </a:spcAft>
              <a:defRPr sz="2000">
                <a:latin typeface="Helvetica" panose="020B0604020202020204" pitchFamily="34" charset="0"/>
                <a:cs typeface="Helvetica" panose="020B0604020202020204" pitchFamily="34" charset="0"/>
              </a:defRPr>
            </a:lvl2pPr>
            <a:lvl3pPr>
              <a:spcBef>
                <a:spcPts val="600"/>
              </a:spcBef>
              <a:spcAft>
                <a:spcPts val="600"/>
              </a:spcAft>
              <a:defRPr sz="2000">
                <a:latin typeface="Helvetica" panose="020B0604020202020204" pitchFamily="34" charset="0"/>
                <a:cs typeface="Helvetica" panose="020B0604020202020204" pitchFamily="34" charset="0"/>
              </a:defRPr>
            </a:lvl3pPr>
            <a:lvl4pPr>
              <a:spcBef>
                <a:spcPts val="600"/>
              </a:spcBef>
              <a:spcAft>
                <a:spcPts val="600"/>
              </a:spcAft>
              <a:defRPr sz="2000">
                <a:latin typeface="Helvetica" panose="020B0604020202020204" pitchFamily="34" charset="0"/>
                <a:cs typeface="Helvetica" panose="020B0604020202020204" pitchFamily="34" charset="0"/>
              </a:defRPr>
            </a:lvl4pPr>
            <a:lvl5pPr>
              <a:spcBef>
                <a:spcPts val="600"/>
              </a:spcBef>
              <a:spcAft>
                <a:spcPts val="600"/>
              </a:spcAft>
              <a:defRPr sz="2000">
                <a:latin typeface="Helvetica" panose="020B0604020202020204" pitchFamily="34" charset="0"/>
                <a:cs typeface="Helvetica" panose="020B0604020202020204"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0646F223-D3A2-44F5-8051-829B2F23C0D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normAutofit/>
          </a:bodyPr>
          <a:lstStyle>
            <a:lvl1pPr algn="l">
              <a:defRPr sz="3400" b="1">
                <a:solidFill>
                  <a:srgbClr val="FF6600"/>
                </a:solidFill>
                <a:latin typeface="Helvetica" panose="020B0604020202020204" pitchFamily="34" charset="0"/>
                <a:cs typeface="Helvetica" panose="020B0604020202020204" pitchFamily="34" charset="0"/>
              </a:defRPr>
            </a:lvl1pPr>
          </a:lstStyle>
          <a:p>
            <a:r>
              <a:rPr kumimoji="0" lang="en-US" dirty="0" smtClean="0"/>
              <a:t>Click to edit Master title style</a:t>
            </a:r>
            <a:endParaRPr kumimoji="0" lang="en-US" dirty="0"/>
          </a:p>
        </p:txBody>
      </p:sp>
      <p:sp>
        <p:nvSpPr>
          <p:cNvPr id="7" name="Date Placeholder 6"/>
          <p:cNvSpPr>
            <a:spLocks noGrp="1"/>
          </p:cNvSpPr>
          <p:nvPr>
            <p:ph type="dt" sz="half" idx="10"/>
          </p:nvPr>
        </p:nvSpPr>
        <p:spPr/>
        <p:txBody>
          <a:bodyPr/>
          <a:lstStyle/>
          <a:p>
            <a:fld id="{F3921DEA-061C-49D7-974B-38721BC66A5F}" type="datetime1">
              <a:rPr lang="en-US" smtClean="0"/>
              <a:pPr/>
              <a:t>7/19/2016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
        <p:nvSpPr>
          <p:cNvPr id="6" name="Text Placeholder 29"/>
          <p:cNvSpPr>
            <a:spLocks noGrp="1"/>
          </p:cNvSpPr>
          <p:nvPr>
            <p:ph idx="1"/>
          </p:nvPr>
        </p:nvSpPr>
        <p:spPr>
          <a:xfrm>
            <a:off x="457200" y="1988840"/>
            <a:ext cx="4114800" cy="4137323"/>
          </a:xfrm>
          <a:prstGeom prst="rect">
            <a:avLst/>
          </a:prstGeom>
        </p:spPr>
        <p:txBody>
          <a:bodyPr vert="horz">
            <a:normAutofit/>
          </a:bodyPr>
          <a:lstStyle>
            <a:lvl1pPr>
              <a:spcBef>
                <a:spcPts val="600"/>
              </a:spcBef>
              <a:spcAft>
                <a:spcPts val="600"/>
              </a:spcAft>
              <a:defRPr sz="2000">
                <a:latin typeface="Helvetica" panose="020B0604020202020204" pitchFamily="34" charset="0"/>
                <a:cs typeface="Helvetica" panose="020B0604020202020204" pitchFamily="34" charset="0"/>
              </a:defRPr>
            </a:lvl1pPr>
            <a:lvl2pPr>
              <a:spcBef>
                <a:spcPts val="600"/>
              </a:spcBef>
              <a:spcAft>
                <a:spcPts val="600"/>
              </a:spcAft>
              <a:defRPr sz="2000">
                <a:latin typeface="Helvetica" panose="020B0604020202020204" pitchFamily="34" charset="0"/>
                <a:cs typeface="Helvetica" panose="020B0604020202020204" pitchFamily="34" charset="0"/>
              </a:defRPr>
            </a:lvl2pPr>
            <a:lvl3pPr>
              <a:spcBef>
                <a:spcPts val="600"/>
              </a:spcBef>
              <a:spcAft>
                <a:spcPts val="600"/>
              </a:spcAft>
              <a:defRPr sz="2000">
                <a:latin typeface="Helvetica" panose="020B0604020202020204" pitchFamily="34" charset="0"/>
                <a:cs typeface="Helvetica" panose="020B0604020202020204" pitchFamily="34" charset="0"/>
              </a:defRPr>
            </a:lvl3pPr>
            <a:lvl4pPr>
              <a:spcBef>
                <a:spcPts val="600"/>
              </a:spcBef>
              <a:spcAft>
                <a:spcPts val="600"/>
              </a:spcAft>
              <a:defRPr sz="2000">
                <a:latin typeface="Helvetica" panose="020B0604020202020204" pitchFamily="34" charset="0"/>
                <a:cs typeface="Helvetica" panose="020B0604020202020204" pitchFamily="34" charset="0"/>
              </a:defRPr>
            </a:lvl4pPr>
            <a:lvl5pPr>
              <a:spcBef>
                <a:spcPts val="600"/>
              </a:spcBef>
              <a:spcAft>
                <a:spcPts val="600"/>
              </a:spcAft>
              <a:defRPr sz="2000">
                <a:latin typeface="Helvetica" panose="020B0604020202020204" pitchFamily="34" charset="0"/>
                <a:cs typeface="Helvetica" panose="020B0604020202020204" pitchFamily="34" charset="0"/>
              </a:defRPr>
            </a:lvl5p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988840"/>
            <a:ext cx="4114800" cy="413732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7/19/2016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4" r:id="rId3"/>
  </p:sldLayoutIdLst>
  <p:hf hdr="0" ftr="0" dt="0"/>
  <p:txStyles>
    <p:titleStyle>
      <a:lvl1pPr algn="l" rtl="0" eaLnBrk="1" latinLnBrk="0" hangingPunct="1">
        <a:spcBef>
          <a:spcPct val="0"/>
        </a:spcBef>
        <a:buNone/>
        <a:defRPr kumimoji="0" sz="3400" b="1" kern="1200">
          <a:solidFill>
            <a:srgbClr val="FF6600"/>
          </a:solidFill>
          <a:latin typeface="Helvetica" panose="020B0604020202020204" pitchFamily="34" charset="0"/>
          <a:ea typeface="+mj-ea"/>
          <a:cs typeface="Helvetica" panose="020B0604020202020204" pitchFamily="34" charset="0"/>
        </a:defRPr>
      </a:lvl1pPr>
    </p:titleStyle>
    <p:bodyStyle>
      <a:lvl1pPr marL="420624" indent="-384048" algn="l" rtl="0" eaLnBrk="1" latinLnBrk="0" hangingPunct="1">
        <a:spcBef>
          <a:spcPts val="600"/>
        </a:spcBef>
        <a:spcAft>
          <a:spcPts val="600"/>
        </a:spcAft>
        <a:buClr>
          <a:schemeClr val="accent1"/>
        </a:buClr>
        <a:buSzPct val="80000"/>
        <a:buFont typeface="Wingdings 2"/>
        <a:buChar char=""/>
        <a:defRPr kumimoji="0" sz="2000" kern="1200">
          <a:solidFill>
            <a:schemeClr val="tx1"/>
          </a:solidFill>
          <a:latin typeface="Helvetica" panose="020B0604020202020204" pitchFamily="34" charset="0"/>
          <a:ea typeface="+mn-ea"/>
          <a:cs typeface="Helvetica" panose="020B0604020202020204" pitchFamily="34" charset="0"/>
        </a:defRPr>
      </a:lvl1pPr>
      <a:lvl2pPr marL="722376" indent="-274320" algn="l" rtl="0" eaLnBrk="1" latinLnBrk="0" hangingPunct="1">
        <a:spcBef>
          <a:spcPts val="600"/>
        </a:spcBef>
        <a:spcAft>
          <a:spcPts val="600"/>
        </a:spcAft>
        <a:buClr>
          <a:schemeClr val="accent1"/>
        </a:buClr>
        <a:buSzPct val="90000"/>
        <a:buFont typeface="Wingdings 2"/>
        <a:buChar char=""/>
        <a:defRPr kumimoji="0" sz="2000" kern="1200">
          <a:solidFill>
            <a:schemeClr val="tx1"/>
          </a:solidFill>
          <a:latin typeface="Helvetica" panose="020B0604020202020204" pitchFamily="34" charset="0"/>
          <a:ea typeface="+mn-ea"/>
          <a:cs typeface="Helvetica" panose="020B0604020202020204" pitchFamily="34" charset="0"/>
        </a:defRPr>
      </a:lvl2pPr>
      <a:lvl3pPr marL="1005840" indent="-256032" algn="l" rtl="0" eaLnBrk="1" latinLnBrk="0" hangingPunct="1">
        <a:spcBef>
          <a:spcPts val="600"/>
        </a:spcBef>
        <a:spcAft>
          <a:spcPts val="600"/>
        </a:spcAft>
        <a:buClr>
          <a:schemeClr val="accent2"/>
        </a:buClr>
        <a:buSzPct val="85000"/>
        <a:buFont typeface="Arial"/>
        <a:buChar char="○"/>
        <a:defRPr kumimoji="0" sz="2000" kern="1200">
          <a:solidFill>
            <a:schemeClr val="tx1"/>
          </a:solidFill>
          <a:latin typeface="Helvetica" panose="020B0604020202020204" pitchFamily="34" charset="0"/>
          <a:ea typeface="+mn-ea"/>
          <a:cs typeface="Helvetica" panose="020B0604020202020204" pitchFamily="34" charset="0"/>
        </a:defRPr>
      </a:lvl3pPr>
      <a:lvl4pPr marL="1280160" indent="-237744" algn="l" rtl="0" eaLnBrk="1" latinLnBrk="0" hangingPunct="1">
        <a:spcBef>
          <a:spcPts val="600"/>
        </a:spcBef>
        <a:spcAft>
          <a:spcPts val="600"/>
        </a:spcAft>
        <a:buClr>
          <a:schemeClr val="accent3"/>
        </a:buClr>
        <a:buSzPct val="90000"/>
        <a:buFont typeface="Wingdings 2"/>
        <a:buChar char=""/>
        <a:defRPr kumimoji="0" sz="2000" kern="1200">
          <a:solidFill>
            <a:schemeClr val="tx1"/>
          </a:solidFill>
          <a:latin typeface="Helvetica" panose="020B0604020202020204" pitchFamily="34" charset="0"/>
          <a:ea typeface="+mn-ea"/>
          <a:cs typeface="Helvetica" panose="020B0604020202020204" pitchFamily="34" charset="0"/>
        </a:defRPr>
      </a:lvl4pPr>
      <a:lvl5pPr marL="1490472" indent="-182880" algn="l" rtl="0" eaLnBrk="1" latinLnBrk="0" hangingPunct="1">
        <a:spcBef>
          <a:spcPts val="600"/>
        </a:spcBef>
        <a:spcAft>
          <a:spcPts val="600"/>
        </a:spcAft>
        <a:buClr>
          <a:schemeClr val="accent4"/>
        </a:buClr>
        <a:buSzPct val="100000"/>
        <a:buFont typeface="Arial"/>
        <a:buChar char="-"/>
        <a:defRPr kumimoji="0" sz="2000" kern="1200">
          <a:solidFill>
            <a:schemeClr val="tx1"/>
          </a:solidFill>
          <a:latin typeface="Helvetica" panose="020B0604020202020204" pitchFamily="34" charset="0"/>
          <a:ea typeface="+mn-ea"/>
          <a:cs typeface="Helvetica" panose="020B0604020202020204" pitchFamily="34" charset="0"/>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microsoft.com/office/2007/relationships/hdphoto" Target="../media/hdphoto2.wdp"/></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microsoft.com/office/2007/relationships/hdphoto" Target="../media/hdphoto3.wdp"/></Relationships>
</file>

<file path=ppt/slides/_rels/slide4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microsoft.com/office/2007/relationships/hdphoto" Target="../media/hdphoto4.wdp"/></Relationships>
</file>

<file path=ppt/slides/_rels/slide6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microsoft.com/office/2007/relationships/hdphoto" Target="../media/hdphoto5.wdp"/></Relationships>
</file>

<file path=ppt/slides/_rels/slide6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microsoft.com/office/2007/relationships/hdphoto" Target="../media/hdphoto6.wdp"/></Relationships>
</file>

<file path=ppt/slides/_rels/slide6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microsoft.com/office/2007/relationships/hdphoto" Target="../media/hdphoto7.wdp"/></Relationships>
</file>

<file path=ppt/slides/_rels/slide74.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microsoft.com/office/2007/relationships/hdphoto" Target="../media/hdphoto8.wdp"/></Relationships>
</file>

<file path=ppt/slides/_rels/slide7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microsoft.com/office/2007/relationships/hdphoto" Target="../media/hdphoto9.wdp"/></Relationships>
</file>

<file path=ppt/slides/_rels/slide8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microsoft.com/office/2007/relationships/hdphoto" Target="../media/hdphoto10.wdp"/></Relationships>
</file>

<file path=ppt/slides/_rels/slide91.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1.xml"/><Relationship Id="rId1" Type="http://schemas.openxmlformats.org/officeDocument/2006/relationships/slideLayout" Target="../slideLayouts/slideLayout2.xml"/><Relationship Id="rId4" Type="http://schemas.microsoft.com/office/2007/relationships/hdphoto" Target="../media/hdphoto2.wdp"/></Relationships>
</file>

<file path=ppt/slides/_rels/slide1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2.xml"/><Relationship Id="rId1" Type="http://schemas.openxmlformats.org/officeDocument/2006/relationships/slideLayout" Target="../slideLayouts/slideLayout2.xml"/><Relationship Id="rId4" Type="http://schemas.microsoft.com/office/2007/relationships/hdphoto" Target="../media/hdphoto3.wdp"/></Relationships>
</file>

<file path=ppt/slides/_rels/slide113.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openxmlformats.org/officeDocument/2006/relationships/image" Target="../media/image102.jpeg"/></Relationships>
</file>

<file path=ppt/slides/_rels/slide12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24.xml"/><Relationship Id="rId1" Type="http://schemas.openxmlformats.org/officeDocument/2006/relationships/slideLayout" Target="../slideLayouts/slideLayout2.xml"/><Relationship Id="rId4" Type="http://schemas.microsoft.com/office/2007/relationships/hdphoto" Target="../media/hdphoto11.wdp"/></Relationships>
</file>

<file path=ppt/slides/_rels/slide12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25.xml"/><Relationship Id="rId1" Type="http://schemas.openxmlformats.org/officeDocument/2006/relationships/slideLayout" Target="../slideLayouts/slideLayout2.xml"/><Relationship Id="rId4" Type="http://schemas.microsoft.com/office/2007/relationships/hdphoto" Target="../media/hdphoto12.wdp"/></Relationships>
</file>

<file path=ppt/slides/_rels/slide126.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40.xml"/><Relationship Id="rId1" Type="http://schemas.openxmlformats.org/officeDocument/2006/relationships/slideLayout" Target="../slideLayouts/slideLayout2.xml"/><Relationship Id="rId4" Type="http://schemas.microsoft.com/office/2007/relationships/hdphoto" Target="../media/hdphoto13.wdp"/></Relationships>
</file>

<file path=ppt/slides/_rels/slide14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41.xml"/><Relationship Id="rId1" Type="http://schemas.openxmlformats.org/officeDocument/2006/relationships/slideLayout" Target="../slideLayouts/slideLayout2.xml"/><Relationship Id="rId4" Type="http://schemas.microsoft.com/office/2007/relationships/hdphoto" Target="../media/hdphoto14.wdp"/></Relationships>
</file>

<file path=ppt/slides/_rels/slide142.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43.xml"/><Relationship Id="rId1" Type="http://schemas.openxmlformats.org/officeDocument/2006/relationships/slideLayout" Target="../slideLayouts/slideLayout2.xml"/><Relationship Id="rId4" Type="http://schemas.microsoft.com/office/2007/relationships/hdphoto" Target="../media/hdphoto15.wdp"/></Relationships>
</file>

<file path=ppt/slides/_rels/slide14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44.xml"/><Relationship Id="rId1" Type="http://schemas.openxmlformats.org/officeDocument/2006/relationships/slideLayout" Target="../slideLayouts/slideLayout2.xml"/><Relationship Id="rId4" Type="http://schemas.microsoft.com/office/2007/relationships/hdphoto" Target="../media/hdphoto16.wdp"/></Relationships>
</file>

<file path=ppt/slides/_rels/slide14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microsoft.com/office/2007/relationships/hdphoto" Target="../media/hdphoto9.wdp"/></Relationships>
</file>

<file path=ppt/slides/_rels/slide146.xml.rels><?xml version="1.0" encoding="UTF-8" standalone="yes"?>
<Relationships xmlns="http://schemas.openxmlformats.org/package/2006/relationships"><Relationship Id="rId3" Type="http://schemas.openxmlformats.org/officeDocument/2006/relationships/image" Target="../media/image119.jp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58.xml"/><Relationship Id="rId1" Type="http://schemas.openxmlformats.org/officeDocument/2006/relationships/slideLayout" Target="../slideLayouts/slideLayout2.xml"/><Relationship Id="rId4" Type="http://schemas.microsoft.com/office/2007/relationships/hdphoto" Target="../media/hdphoto10.wdp"/></Relationships>
</file>

<file path=ppt/slides/_rels/slide15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0.xml"/><Relationship Id="rId1" Type="http://schemas.openxmlformats.org/officeDocument/2006/relationships/slideLayout" Target="../slideLayouts/slideLayout2.xml"/><Relationship Id="rId4" Type="http://schemas.microsoft.com/office/2007/relationships/hdphoto" Target="../media/hdphoto2.wdp"/></Relationships>
</file>

<file path=ppt/slides/_rels/slide1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1.xml"/><Relationship Id="rId1" Type="http://schemas.openxmlformats.org/officeDocument/2006/relationships/slideLayout" Target="../slideLayouts/slideLayout2.xml"/><Relationship Id="rId4" Type="http://schemas.microsoft.com/office/2007/relationships/hdphoto" Target="../media/hdphoto3.wdp"/></Relationships>
</file>

<file path=ppt/slides/_rels/slide18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88640"/>
            <a:ext cx="7704184" cy="1080120"/>
          </a:xfrm>
        </p:spPr>
        <p:txBody>
          <a:bodyPr>
            <a:noAutofit/>
          </a:bodyPr>
          <a:lstStyle/>
          <a:p>
            <a:r>
              <a:rPr lang="en-AU" sz="3200" dirty="0">
                <a:ln w="5000" cmpd="sng">
                  <a:noFill/>
                  <a:prstDash val="solid"/>
                </a:ln>
                <a:solidFill>
                  <a:srgbClr val="FF6600"/>
                </a:solidFill>
                <a:latin typeface="Helvetica" pitchFamily="34" charset="0"/>
              </a:rPr>
              <a:t>OPERATE AND MAINTAIN A 4-WD VEHICLE IN SAFE WORKING </a:t>
            </a:r>
            <a:r>
              <a:rPr lang="en-AU" sz="3200" dirty="0" smtClean="0">
                <a:ln w="5000" cmpd="sng">
                  <a:noFill/>
                  <a:prstDash val="solid"/>
                </a:ln>
                <a:solidFill>
                  <a:srgbClr val="FF6600"/>
                </a:solidFill>
                <a:latin typeface="Helvetica" pitchFamily="34" charset="0"/>
              </a:rPr>
              <a:t>CONDITION</a:t>
            </a:r>
            <a:endParaRPr lang="en-AU" sz="32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884116"/>
            <a:ext cx="2541268" cy="288032"/>
          </a:xfrm>
        </p:spPr>
        <p:txBody>
          <a:bodyPr>
            <a:normAutofit lnSpcReduction="10000"/>
          </a:bodyPr>
          <a:lstStyle/>
          <a:p>
            <a:r>
              <a:rPr lang="en-AU" b="1" dirty="0">
                <a:latin typeface="Helvetica" pitchFamily="34" charset="0"/>
              </a:rPr>
              <a:t>D2.TTO.CL4.14</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733490" y="1885826"/>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Operate and maintain a 4-WD vehicle in safe working condition</a:t>
            </a:r>
            <a:endParaRPr lang="en-US" dirty="0"/>
          </a:p>
        </p:txBody>
      </p:sp>
      <p:sp>
        <p:nvSpPr>
          <p:cNvPr id="3" name="Content Placeholder 2"/>
          <p:cNvSpPr>
            <a:spLocks noGrp="1"/>
          </p:cNvSpPr>
          <p:nvPr>
            <p:ph idx="1"/>
          </p:nvPr>
        </p:nvSpPr>
        <p:spPr/>
        <p:txBody>
          <a:bodyPr/>
          <a:lstStyle/>
          <a:p>
            <a:pPr marL="36576" indent="0">
              <a:buNone/>
            </a:pPr>
            <a:r>
              <a:rPr lang="en-US" dirty="0" smtClean="0"/>
              <a:t>This Unit comprises four Elements:</a:t>
            </a:r>
          </a:p>
          <a:p>
            <a:pPr marL="493776" indent="-457200">
              <a:buClr>
                <a:schemeClr val="tx1"/>
              </a:buClr>
              <a:buSzPct val="100000"/>
              <a:buFont typeface="+mj-lt"/>
              <a:buAutoNum type="arabicPeriod"/>
            </a:pPr>
            <a:r>
              <a:rPr lang="en-AU" dirty="0" smtClean="0"/>
              <a:t>Operate a 4-wheel drive vehicle</a:t>
            </a:r>
            <a:endParaRPr lang="en-US" dirty="0" smtClean="0"/>
          </a:p>
          <a:p>
            <a:pPr marL="493776" indent="-457200">
              <a:buClr>
                <a:schemeClr val="tx1"/>
              </a:buClr>
              <a:buSzPct val="100000"/>
              <a:buFont typeface="+mj-lt"/>
              <a:buAutoNum type="arabicPeriod"/>
            </a:pPr>
            <a:r>
              <a:rPr lang="en-AU" dirty="0" smtClean="0"/>
              <a:t>Recover a 4-wheel drive vehicle</a:t>
            </a:r>
            <a:endParaRPr lang="en-US" dirty="0" smtClean="0"/>
          </a:p>
          <a:p>
            <a:pPr marL="493776" indent="-457200">
              <a:buClr>
                <a:schemeClr val="tx1"/>
              </a:buClr>
              <a:buSzPct val="100000"/>
              <a:buFont typeface="+mj-lt"/>
              <a:buAutoNum type="arabicPeriod"/>
            </a:pPr>
            <a:r>
              <a:rPr lang="en-AU" dirty="0" smtClean="0"/>
              <a:t>Provide basic maintenance for a 4-wheel drive vehicle</a:t>
            </a:r>
            <a:endParaRPr lang="en-US" dirty="0" smtClean="0"/>
          </a:p>
          <a:p>
            <a:pPr marL="493776" indent="-457200">
              <a:buClr>
                <a:schemeClr val="tx1"/>
              </a:buClr>
              <a:buSzPct val="100000"/>
              <a:buFont typeface="+mj-lt"/>
              <a:buAutoNum type="arabicPeriod"/>
            </a:pPr>
            <a:r>
              <a:rPr lang="en-AU" dirty="0" smtClean="0"/>
              <a:t>Report on 4-wheel drive operations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3268" y="2024485"/>
            <a:ext cx="3048000" cy="203301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Assessment</a:t>
            </a:r>
            <a:endParaRPr lang="en-US" dirty="0"/>
          </a:p>
        </p:txBody>
      </p:sp>
      <p:sp>
        <p:nvSpPr>
          <p:cNvPr id="3" name="Content Placeholder 2"/>
          <p:cNvSpPr>
            <a:spLocks noGrp="1"/>
          </p:cNvSpPr>
          <p:nvPr>
            <p:ph idx="1"/>
          </p:nvPr>
        </p:nvSpPr>
        <p:spPr/>
        <p:txBody>
          <a:bodyPr/>
          <a:lstStyle/>
          <a:p>
            <a:pPr marL="36576" indent="0">
              <a:buNone/>
            </a:pPr>
            <a:r>
              <a:rPr lang="en-US" dirty="0" smtClean="0"/>
              <a:t>Assessment for this unit may include:</a:t>
            </a:r>
          </a:p>
          <a:p>
            <a:r>
              <a:rPr lang="en-US" dirty="0" smtClean="0"/>
              <a:t>Oral questions</a:t>
            </a:r>
          </a:p>
          <a:p>
            <a:r>
              <a:rPr lang="en-US" dirty="0" smtClean="0"/>
              <a:t>Written questions</a:t>
            </a:r>
          </a:p>
          <a:p>
            <a:r>
              <a:rPr lang="en-US" dirty="0" smtClean="0"/>
              <a:t>Work projects</a:t>
            </a:r>
          </a:p>
          <a:p>
            <a:r>
              <a:rPr lang="en-US" dirty="0" smtClean="0"/>
              <a:t>Workplace observation of practical skills</a:t>
            </a:r>
          </a:p>
          <a:p>
            <a:r>
              <a:rPr lang="en-US" dirty="0" smtClean="0"/>
              <a:t>Practical exercises</a:t>
            </a:r>
          </a:p>
          <a:p>
            <a:r>
              <a:rPr lang="en-US" dirty="0" smtClean="0"/>
              <a:t>Formal report from employer/supervisor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593080" y="2010569"/>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1 – operate a 4-wheel drive vehicle</a:t>
            </a:r>
            <a:endParaRPr lang="en-US" dirty="0"/>
          </a:p>
        </p:txBody>
      </p:sp>
      <p:sp>
        <p:nvSpPr>
          <p:cNvPr id="3" name="Content Placeholder 2"/>
          <p:cNvSpPr>
            <a:spLocks noGrp="1"/>
          </p:cNvSpPr>
          <p:nvPr>
            <p:ph idx="1"/>
          </p:nvPr>
        </p:nvSpPr>
        <p:spPr>
          <a:xfrm>
            <a:off x="457200" y="1988840"/>
            <a:ext cx="5554960" cy="4536504"/>
          </a:xfrm>
        </p:spPr>
        <p:txBody>
          <a:bodyPr>
            <a:normAutofit/>
          </a:bodyPr>
          <a:lstStyle/>
          <a:p>
            <a:pPr marL="36576" indent="0">
              <a:buNone/>
            </a:pPr>
            <a:r>
              <a:rPr lang="en-US" dirty="0" smtClean="0"/>
              <a:t>Performance Criteria for this Element are:</a:t>
            </a:r>
          </a:p>
          <a:p>
            <a:r>
              <a:rPr lang="en-AU" dirty="0" smtClean="0"/>
              <a:t>Engage 4-wheel drive correctly and when appropriate</a:t>
            </a:r>
            <a:endParaRPr lang="en-US" dirty="0" smtClean="0"/>
          </a:p>
          <a:p>
            <a:r>
              <a:rPr lang="en-AU" dirty="0" smtClean="0"/>
              <a:t>Drive 4-wheel drive vehicle in a variety of on-road conditions and off-road conditions</a:t>
            </a:r>
          </a:p>
          <a:p>
            <a:r>
              <a:rPr lang="en-AU" dirty="0" smtClean="0"/>
              <a:t>Provide safety and explanatory advice to passengers</a:t>
            </a:r>
          </a:p>
          <a:p>
            <a:r>
              <a:rPr lang="en-AU" dirty="0" smtClean="0"/>
              <a:t>Ensure minimal environmental impact when driving a 4-wheel drive vehicle</a:t>
            </a:r>
          </a:p>
          <a:p>
            <a:r>
              <a:rPr lang="en-AU" dirty="0" smtClean="0"/>
              <a:t>Comply with road safety and road use rules and regulations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a:t>
            </a:fld>
            <a:endParaRPr lang="en-US" dirty="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42913"/>
          <a:stretch/>
        </p:blipFill>
        <p:spPr>
          <a:xfrm>
            <a:off x="5996335" y="1988840"/>
            <a:ext cx="2157065" cy="25202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Four-wheel drives may be:</a:t>
            </a:r>
          </a:p>
          <a:p>
            <a:r>
              <a:rPr lang="en-US" dirty="0" smtClean="0"/>
              <a:t>Diesel or petrol</a:t>
            </a:r>
          </a:p>
          <a:p>
            <a:r>
              <a:rPr lang="en-US" dirty="0" smtClean="0"/>
              <a:t>Standard models</a:t>
            </a:r>
          </a:p>
          <a:p>
            <a:r>
              <a:rPr lang="en-US" dirty="0" smtClean="0"/>
              <a:t>Built to specifications</a:t>
            </a:r>
          </a:p>
          <a:p>
            <a:r>
              <a:rPr lang="en-US" dirty="0" smtClean="0"/>
              <a:t>Configured to seat a range of passengers up to 20+</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286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Partial 4WD:</a:t>
            </a:r>
          </a:p>
          <a:p>
            <a:r>
              <a:rPr lang="en-US" dirty="0" smtClean="0"/>
              <a:t>Is two-wheel drive when on sealed roads/under normal conditions</a:t>
            </a:r>
          </a:p>
          <a:p>
            <a:r>
              <a:rPr lang="en-US" dirty="0" smtClean="0"/>
              <a:t>Becomes 4WD when the other  two wheels/hubs are ‘locked in’</a:t>
            </a:r>
          </a:p>
          <a:p>
            <a:r>
              <a:rPr lang="en-US" dirty="0" smtClean="0"/>
              <a:t>Generally give High and Low range options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a:t>
            </a:fld>
            <a:endParaRPr lang="en-US" dirty="0"/>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6650" r="20114"/>
          <a:stretch/>
        </p:blipFill>
        <p:spPr>
          <a:xfrm>
            <a:off x="4795695" y="2019284"/>
            <a:ext cx="3365376" cy="2297609"/>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Vehicles may also be:</a:t>
            </a:r>
          </a:p>
          <a:p>
            <a:r>
              <a:rPr lang="en-US" dirty="0" smtClean="0"/>
              <a:t>AWD = permanent 4WD where vehicle is always in four-wheel drive</a:t>
            </a:r>
          </a:p>
          <a:p>
            <a:r>
              <a:rPr lang="en-US" dirty="0" smtClean="0"/>
              <a:t>A4WD = where vehicle senses conditions and automatically selects/engages 4WD when necessary</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8758" y="2006098"/>
            <a:ext cx="3048000" cy="202387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Terminology:</a:t>
            </a:r>
          </a:p>
          <a:p>
            <a:r>
              <a:rPr lang="en-US" dirty="0" smtClean="0"/>
              <a:t>4x4 = vehicle with 4 wheels and drive to all 4 wheels</a:t>
            </a:r>
          </a:p>
          <a:p>
            <a:r>
              <a:rPr lang="en-US" dirty="0" smtClean="0"/>
              <a:t>4x2 = vehicle with 4 wheels and drive to only 2 wheels</a:t>
            </a:r>
          </a:p>
          <a:p>
            <a:r>
              <a:rPr lang="en-US" dirty="0" smtClean="0"/>
              <a:t>6x6 = vehicle with 6 wheels and drive to all 6 wheels</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45686"/>
            <a:ext cx="3048000" cy="201472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Differentials:</a:t>
            </a:r>
          </a:p>
          <a:p>
            <a:r>
              <a:rPr lang="en-US" dirty="0" smtClean="0"/>
              <a:t>Part of the drive train which transfers/converts power from the drive shaft to the wheels</a:t>
            </a:r>
          </a:p>
          <a:p>
            <a:r>
              <a:rPr lang="en-US" dirty="0" smtClean="0"/>
              <a:t>Gears in the diff allow wheels on opposite sides of the vehicle to turn at different speeds</a:t>
            </a:r>
          </a:p>
          <a:p>
            <a:r>
              <a:rPr lang="en-US" dirty="0" smtClean="0"/>
              <a:t>4WDs can have 2 (front and rear) or 3 diffs (</a:t>
            </a:r>
            <a:r>
              <a:rPr lang="en-US" dirty="0" err="1" smtClean="0"/>
              <a:t>centre</a:t>
            </a:r>
            <a:r>
              <a:rPr lang="en-US" dirty="0" smtClean="0"/>
              <a: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2232248" cy="335172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Differentials may also feature:</a:t>
            </a:r>
          </a:p>
          <a:p>
            <a:r>
              <a:rPr lang="en-US" dirty="0" smtClean="0"/>
              <a:t>Limited slip diffs</a:t>
            </a:r>
          </a:p>
          <a:p>
            <a:r>
              <a:rPr lang="en-US" dirty="0" smtClean="0"/>
              <a:t>Diff locking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a:t>
            </a:fld>
            <a:endParaRPr lang="en-US" dirty="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28742"/>
          <a:stretch/>
        </p:blipFill>
        <p:spPr>
          <a:xfrm>
            <a:off x="5076056" y="1957481"/>
            <a:ext cx="2677830" cy="276961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Tour Operators use 4WDs because:</a:t>
            </a:r>
          </a:p>
          <a:p>
            <a:r>
              <a:rPr lang="en-US" dirty="0" smtClean="0"/>
              <a:t>Customers expect them</a:t>
            </a:r>
          </a:p>
          <a:p>
            <a:r>
              <a:rPr lang="en-US" dirty="0" smtClean="0"/>
              <a:t>Customers like the 4WD experience</a:t>
            </a:r>
          </a:p>
          <a:p>
            <a:r>
              <a:rPr lang="en-US" dirty="0" smtClean="0"/>
              <a:t>They give customers confidence and a feeling of safety</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4563"/>
          <a:stretch/>
        </p:blipFill>
        <p:spPr>
          <a:xfrm>
            <a:off x="4355976" y="1421897"/>
            <a:ext cx="3176748" cy="4069143"/>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r>
              <a:rPr lang="en-US" dirty="0" smtClean="0"/>
              <a:t>They give greater ground clearance and ramp-over</a:t>
            </a:r>
          </a:p>
          <a:p>
            <a:r>
              <a:rPr lang="en-US" dirty="0" smtClean="0"/>
              <a:t>They allow better approach and departure angles</a:t>
            </a:r>
          </a:p>
          <a:p>
            <a:r>
              <a:rPr lang="en-US" dirty="0" smtClean="0"/>
              <a:t>They handle off-road conditions better</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4589" y="1988840"/>
            <a:ext cx="3048000" cy="30480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Context for four-wheel driving:</a:t>
            </a:r>
          </a:p>
          <a:p>
            <a:r>
              <a:rPr lang="en-US" dirty="0" smtClean="0"/>
              <a:t>Engage 4WD before it is needed</a:t>
            </a:r>
          </a:p>
          <a:p>
            <a:r>
              <a:rPr lang="en-US" dirty="0" smtClean="0"/>
              <a:t>Momentum is important</a:t>
            </a:r>
          </a:p>
          <a:p>
            <a:r>
              <a:rPr lang="en-US" dirty="0" err="1" smtClean="0"/>
              <a:t>Tyre</a:t>
            </a:r>
            <a:r>
              <a:rPr lang="en-US" dirty="0" smtClean="0"/>
              <a:t> pressures should often be lowered</a:t>
            </a:r>
          </a:p>
          <a:p>
            <a:r>
              <a:rPr lang="en-US" dirty="0" smtClean="0"/>
              <a:t>Follow manufacturer’s instructions</a:t>
            </a:r>
          </a:p>
          <a:p>
            <a:r>
              <a:rPr lang="en-US" dirty="0" smtClean="0"/>
              <a:t>There are limits to what 4WD can do</a:t>
            </a:r>
          </a:p>
          <a:p>
            <a:r>
              <a:rPr lang="en-US" dirty="0" smtClean="0"/>
              <a:t>Chains may be required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3606" y="2024485"/>
            <a:ext cx="3048000" cy="203301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Four-wheel drive may need to be engaged:</a:t>
            </a:r>
          </a:p>
          <a:p>
            <a:r>
              <a:rPr lang="en-US" dirty="0" smtClean="0"/>
              <a:t>In muddy conditions</a:t>
            </a:r>
          </a:p>
          <a:p>
            <a:r>
              <a:rPr lang="en-US" dirty="0" smtClean="0"/>
              <a:t>In rough/rocky terrain</a:t>
            </a:r>
          </a:p>
          <a:p>
            <a:r>
              <a:rPr lang="en-US" dirty="0" smtClean="0"/>
              <a:t>In soft sand</a:t>
            </a:r>
          </a:p>
          <a:p>
            <a:r>
              <a:rPr lang="en-US" dirty="0" smtClean="0"/>
              <a:t>In snow and ice</a:t>
            </a:r>
          </a:p>
          <a:p>
            <a:r>
              <a:rPr lang="en-US" dirty="0" smtClean="0"/>
              <a:t>On steep slopes</a:t>
            </a:r>
          </a:p>
          <a:p>
            <a:r>
              <a:rPr lang="en-US" dirty="0" smtClean="0"/>
              <a:t>When crossing through water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48180"/>
            <a:ext cx="3048000" cy="203301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When engaging 4WD always:</a:t>
            </a:r>
          </a:p>
          <a:p>
            <a:r>
              <a:rPr lang="en-US" dirty="0" smtClean="0"/>
              <a:t>Follow manufacturer’s instructions</a:t>
            </a:r>
          </a:p>
          <a:p>
            <a:r>
              <a:rPr lang="en-US" dirty="0" smtClean="0"/>
              <a:t>Set a comfortable driving position</a:t>
            </a:r>
          </a:p>
          <a:p>
            <a:r>
              <a:rPr lang="en-US" dirty="0" smtClean="0"/>
              <a:t>Practice</a:t>
            </a:r>
          </a:p>
          <a:p>
            <a:r>
              <a:rPr lang="en-US" dirty="0" smtClean="0"/>
              <a:t>Avoid 4WD where long, fast travel is intended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1227" y="2024485"/>
            <a:ext cx="3048000" cy="203301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pPr marL="36576" indent="0">
              <a:buNone/>
            </a:pPr>
            <a:r>
              <a:rPr lang="en-US" dirty="0" smtClean="0"/>
              <a:t>Indicative actions when engaging 4WD may require:</a:t>
            </a:r>
          </a:p>
          <a:p>
            <a:r>
              <a:rPr lang="en-US" dirty="0" smtClean="0"/>
              <a:t>Stop the vehicle</a:t>
            </a:r>
          </a:p>
          <a:p>
            <a:r>
              <a:rPr lang="en-US" dirty="0" smtClean="0"/>
              <a:t>Move gear shift to neutral</a:t>
            </a:r>
          </a:p>
          <a:p>
            <a:r>
              <a:rPr lang="en-US" dirty="0" smtClean="0"/>
              <a:t>Lock in hubs</a:t>
            </a:r>
          </a:p>
          <a:p>
            <a:r>
              <a:rPr lang="en-US" dirty="0" smtClean="0"/>
              <a:t>Move selector to High or Low range, or</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Engage 4-wheel drive correctly and when appropriate</a:t>
            </a:r>
            <a:endParaRPr lang="en-US" dirty="0"/>
          </a:p>
        </p:txBody>
      </p:sp>
      <p:sp>
        <p:nvSpPr>
          <p:cNvPr id="3" name="Content Placeholder 2"/>
          <p:cNvSpPr>
            <a:spLocks noGrp="1"/>
          </p:cNvSpPr>
          <p:nvPr>
            <p:ph idx="1"/>
          </p:nvPr>
        </p:nvSpPr>
        <p:spPr/>
        <p:txBody>
          <a:bodyPr/>
          <a:lstStyle/>
          <a:p>
            <a:r>
              <a:rPr lang="en-US" dirty="0" smtClean="0"/>
              <a:t>Push a designated button on the dash, or</a:t>
            </a:r>
          </a:p>
          <a:p>
            <a:r>
              <a:rPr lang="en-US" dirty="0" smtClean="0"/>
              <a:t>Move a selector knob</a:t>
            </a:r>
          </a:p>
          <a:p>
            <a:r>
              <a:rPr lang="en-US" dirty="0" smtClean="0"/>
              <a:t>Select the appropriate gear for the work/travel required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032" y="1988840"/>
            <a:ext cx="3293367" cy="247002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AU" dirty="0" smtClean="0"/>
              <a:t>Golden Keys to successful four-wheel driving</a:t>
            </a:r>
            <a:r>
              <a:rPr lang="en-US" dirty="0" smtClean="0"/>
              <a:t>:</a:t>
            </a:r>
          </a:p>
          <a:p>
            <a:r>
              <a:rPr lang="en-US" dirty="0" smtClean="0"/>
              <a:t>Practice</a:t>
            </a:r>
          </a:p>
          <a:p>
            <a:r>
              <a:rPr lang="en-US" dirty="0" smtClean="0"/>
              <a:t>Experience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35604"/>
            <a:ext cx="3048000" cy="2033016"/>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Basic conditions:</a:t>
            </a:r>
          </a:p>
          <a:p>
            <a:r>
              <a:rPr lang="en-US" dirty="0" smtClean="0"/>
              <a:t>Off-road = terrain that is not sealed</a:t>
            </a:r>
          </a:p>
          <a:p>
            <a:r>
              <a:rPr lang="en-US" dirty="0" smtClean="0"/>
              <a:t>On-road = sealed roads/highways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024484"/>
            <a:ext cx="3552412" cy="236945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AU" dirty="0" smtClean="0"/>
              <a:t>Driving 4WDs in on-road conditions may include driving</a:t>
            </a:r>
            <a:r>
              <a:rPr lang="en-US" dirty="0" smtClean="0"/>
              <a:t>:</a:t>
            </a:r>
          </a:p>
          <a:p>
            <a:r>
              <a:rPr lang="en-US" dirty="0" smtClean="0"/>
              <a:t>In dry conditions/weather (H2)</a:t>
            </a:r>
          </a:p>
          <a:p>
            <a:r>
              <a:rPr lang="en-US" dirty="0" smtClean="0"/>
              <a:t>In the wet/rain (H4)</a:t>
            </a:r>
          </a:p>
          <a:p>
            <a:r>
              <a:rPr lang="en-US" dirty="0" smtClean="0"/>
              <a:t>In snow and ice (Low range)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4618" y="2012535"/>
            <a:ext cx="3048000" cy="203301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Off-road 4WDing may involve:</a:t>
            </a:r>
          </a:p>
          <a:p>
            <a:r>
              <a:rPr lang="en-US" dirty="0" smtClean="0"/>
              <a:t>Steep inclines</a:t>
            </a:r>
          </a:p>
          <a:p>
            <a:r>
              <a:rPr lang="en-US" dirty="0" smtClean="0"/>
              <a:t>Sand</a:t>
            </a:r>
          </a:p>
          <a:p>
            <a:r>
              <a:rPr lang="en-US" dirty="0" smtClean="0"/>
              <a:t>Rocky terrain</a:t>
            </a:r>
          </a:p>
          <a:p>
            <a:r>
              <a:rPr lang="en-US" dirty="0" smtClean="0"/>
              <a:t>Water</a:t>
            </a:r>
          </a:p>
          <a:p>
            <a:r>
              <a:rPr lang="en-US" dirty="0" smtClean="0"/>
              <a:t>Soft ground</a:t>
            </a:r>
          </a:p>
          <a:p>
            <a:r>
              <a:rPr lang="en-US" dirty="0" smtClean="0"/>
              <a:t>Mud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071626"/>
            <a:ext cx="3548042" cy="2348804"/>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Before driving off-road:</a:t>
            </a:r>
          </a:p>
          <a:p>
            <a:r>
              <a:rPr lang="en-US" dirty="0" smtClean="0"/>
              <a:t>Prepare the vehicle for expected conditions</a:t>
            </a:r>
          </a:p>
          <a:p>
            <a:r>
              <a:rPr lang="en-US" dirty="0" smtClean="0"/>
              <a:t>Undertake basic checks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268" y="2024484"/>
            <a:ext cx="3617132" cy="2412627"/>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Inspect the route</a:t>
            </a:r>
          </a:p>
          <a:p>
            <a:r>
              <a:rPr lang="en-US" dirty="0" smtClean="0"/>
              <a:t>Be prepared to choose another route (or wait)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23</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6016" y="1916832"/>
            <a:ext cx="3177931" cy="28800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Make passenger safety a primary consideration</a:t>
            </a:r>
          </a:p>
          <a:p>
            <a:r>
              <a:rPr lang="en-US" dirty="0" smtClean="0"/>
              <a:t>Engage 4WD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2091"/>
            <a:ext cx="3048000" cy="2033016"/>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Ascending steep inclines:</a:t>
            </a:r>
          </a:p>
          <a:p>
            <a:r>
              <a:rPr lang="en-US" dirty="0" smtClean="0"/>
              <a:t>Inspect the path/route</a:t>
            </a:r>
          </a:p>
          <a:p>
            <a:r>
              <a:rPr lang="en-US" dirty="0" smtClean="0"/>
              <a:t>Engage 4WD</a:t>
            </a:r>
          </a:p>
          <a:p>
            <a:r>
              <a:rPr lang="en-US" dirty="0" smtClean="0"/>
              <a:t>Engage diff locks</a:t>
            </a:r>
          </a:p>
          <a:p>
            <a:r>
              <a:rPr lang="en-US" dirty="0" smtClean="0"/>
              <a:t>Turn off A/C</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9952" y="2040897"/>
            <a:ext cx="4013448" cy="267697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Begin climbing in a manner reflecting the slope and conditions</a:t>
            </a:r>
          </a:p>
          <a:p>
            <a:r>
              <a:rPr lang="en-US" dirty="0" smtClean="0"/>
              <a:t>Stay square on</a:t>
            </a:r>
          </a:p>
          <a:p>
            <a:r>
              <a:rPr lang="en-US" dirty="0" smtClean="0"/>
              <a:t>Work wheel side-to-side to get extra grip if needed</a:t>
            </a:r>
          </a:p>
          <a:p>
            <a:r>
              <a:rPr lang="en-US" dirty="0" smtClean="0"/>
              <a:t>Pause at the top</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26</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932040" y="2636912"/>
            <a:ext cx="2158637" cy="28800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Stall recovery of steep ascent:</a:t>
            </a:r>
          </a:p>
          <a:p>
            <a:r>
              <a:rPr lang="en-US" dirty="0" smtClean="0"/>
              <a:t>Apply foot brake</a:t>
            </a:r>
          </a:p>
          <a:p>
            <a:r>
              <a:rPr lang="en-US" dirty="0" smtClean="0"/>
              <a:t>Apply handbrake</a:t>
            </a:r>
          </a:p>
          <a:p>
            <a:r>
              <a:rPr lang="en-US" dirty="0" smtClean="0"/>
              <a:t>Turn ignition off</a:t>
            </a:r>
          </a:p>
          <a:p>
            <a:r>
              <a:rPr lang="en-US" dirty="0" smtClean="0"/>
              <a:t>Depress clutch</a:t>
            </a:r>
          </a:p>
          <a:p>
            <a:r>
              <a:rPr lang="en-US" dirty="0" smtClean="0"/>
              <a:t>Select reverse gear</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AU" dirty="0" smtClean="0"/>
              <a:t>Release clutch </a:t>
            </a:r>
          </a:p>
          <a:p>
            <a:r>
              <a:rPr lang="en-AU" dirty="0" smtClean="0"/>
              <a:t>Release handbrake slowly </a:t>
            </a:r>
          </a:p>
          <a:p>
            <a:r>
              <a:rPr lang="en-AU" dirty="0" smtClean="0"/>
              <a:t>Turn on ignition and release brakes </a:t>
            </a:r>
          </a:p>
          <a:p>
            <a:r>
              <a:rPr lang="en-AU" dirty="0" smtClean="0"/>
              <a:t>Start vehicle allowing it to reverse down the slope</a:t>
            </a:r>
          </a:p>
          <a:p>
            <a:r>
              <a:rPr lang="en-AU" dirty="0" smtClean="0"/>
              <a:t>Apply brakes as necessary to control descent</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412" y="2048046"/>
            <a:ext cx="3048000" cy="2036064"/>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Descending steep inclines:</a:t>
            </a:r>
          </a:p>
          <a:p>
            <a:r>
              <a:rPr lang="en-US" dirty="0" smtClean="0"/>
              <a:t>Inspect the path/route</a:t>
            </a:r>
          </a:p>
          <a:p>
            <a:r>
              <a:rPr lang="en-US" dirty="0" smtClean="0"/>
              <a:t>Engage 4WD</a:t>
            </a:r>
          </a:p>
          <a:p>
            <a:r>
              <a:rPr lang="en-US" dirty="0" smtClean="0"/>
              <a:t>Engage diff locks</a:t>
            </a:r>
          </a:p>
          <a:p>
            <a:r>
              <a:rPr lang="en-US" dirty="0" smtClean="0"/>
              <a:t>Turn off A/C</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29</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04048" y="1988840"/>
            <a:ext cx="2002833" cy="28800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Begin descent to reflect conditions</a:t>
            </a:r>
          </a:p>
          <a:p>
            <a:r>
              <a:rPr lang="en-US" dirty="0" smtClean="0"/>
              <a:t>Select Low range, first gear</a:t>
            </a:r>
          </a:p>
          <a:p>
            <a:r>
              <a:rPr lang="en-US" dirty="0" smtClean="0"/>
              <a:t>Allow vehicle to creep forward</a:t>
            </a:r>
          </a:p>
          <a:p>
            <a:r>
              <a:rPr lang="en-US" dirty="0" err="1" smtClean="0"/>
              <a:t>Minimise</a:t>
            </a:r>
            <a:r>
              <a:rPr lang="en-US" dirty="0" smtClean="0"/>
              <a:t> braking – let engine do the braking</a:t>
            </a:r>
          </a:p>
          <a:p>
            <a:r>
              <a:rPr lang="en-US" dirty="0" smtClean="0"/>
              <a:t>Keep wheels straight/pointing forward</a:t>
            </a:r>
          </a:p>
          <a:p>
            <a:r>
              <a:rPr lang="en-US" dirty="0" smtClean="0"/>
              <a:t>Stay square 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30</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527995" y="2482096"/>
            <a:ext cx="2602525" cy="28800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Stall recovery of steep descent:</a:t>
            </a:r>
          </a:p>
          <a:p>
            <a:r>
              <a:rPr lang="en-AU" dirty="0" smtClean="0"/>
              <a:t>Turn ignition off</a:t>
            </a:r>
          </a:p>
          <a:p>
            <a:r>
              <a:rPr lang="en-AU" dirty="0" smtClean="0"/>
              <a:t>Apply foot brake </a:t>
            </a:r>
          </a:p>
          <a:p>
            <a:r>
              <a:rPr lang="en-AU" dirty="0" smtClean="0"/>
              <a:t>Engage handbrake </a:t>
            </a:r>
          </a:p>
          <a:p>
            <a:r>
              <a:rPr lang="en-AU" dirty="0" smtClean="0"/>
              <a:t>Depress clutch </a:t>
            </a:r>
          </a:p>
          <a:p>
            <a:r>
              <a:rPr lang="en-AU" dirty="0" smtClean="0"/>
              <a:t>Select low gear </a:t>
            </a:r>
          </a:p>
          <a:p>
            <a:r>
              <a:rPr lang="en-AU" dirty="0" smtClean="0"/>
              <a:t>Release clutch </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968980"/>
            <a:ext cx="2376264" cy="355728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AU" dirty="0" smtClean="0"/>
              <a:t>Slowly release handbrake </a:t>
            </a:r>
          </a:p>
          <a:p>
            <a:r>
              <a:rPr lang="en-AU" dirty="0" smtClean="0"/>
              <a:t>Turn ignition on </a:t>
            </a:r>
          </a:p>
          <a:p>
            <a:r>
              <a:rPr lang="en-AU" dirty="0" smtClean="0"/>
              <a:t>Release brakes</a:t>
            </a:r>
          </a:p>
          <a:p>
            <a:r>
              <a:rPr lang="en-AU" dirty="0" smtClean="0"/>
              <a:t>Start vehicle and allow to continue down the slope</a:t>
            </a:r>
          </a:p>
          <a:p>
            <a:r>
              <a:rPr lang="en-AU" dirty="0" smtClean="0"/>
              <a:t>Apply brakes emulating ABS as necessary to control descent </a:t>
            </a:r>
          </a:p>
          <a:p>
            <a:r>
              <a:rPr lang="en-AU" dirty="0" smtClean="0"/>
              <a:t>Steer into skids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32</a:t>
            </a:fld>
            <a:endParaRPr lang="en-US" dirty="0"/>
          </a:p>
        </p:txBody>
      </p:sp>
      <p:pic>
        <p:nvPicPr>
          <p:cNvPr id="8" name="Picture 7"/>
          <p:cNvPicPr>
            <a:picLocks noChangeAspect="1"/>
          </p:cNvPicPr>
          <p:nvPr/>
        </p:nvPicPr>
        <p:blipFill rotWithShape="1">
          <a:blip r:embed="rId3" cstate="screen">
            <a:clrChange>
              <a:clrFrom>
                <a:srgbClr val="FCFDFF"/>
              </a:clrFrom>
              <a:clrTo>
                <a:srgbClr val="FCFDFF">
                  <a:alpha val="0"/>
                </a:srgbClr>
              </a:clrTo>
            </a:clrChange>
            <a:extLst>
              <a:ext uri="{28A0092B-C50C-407E-A947-70E740481C1C}">
                <a14:useLocalDpi xmlns:a14="http://schemas.microsoft.com/office/drawing/2010/main" val="0"/>
              </a:ext>
            </a:extLst>
          </a:blip>
          <a:srcRect/>
          <a:stretch/>
        </p:blipFill>
        <p:spPr>
          <a:xfrm>
            <a:off x="4550542" y="1988840"/>
            <a:ext cx="2277032" cy="37440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Preparing for soft sand 4WD driving:</a:t>
            </a:r>
          </a:p>
          <a:p>
            <a:r>
              <a:rPr lang="en-US" dirty="0" smtClean="0"/>
              <a:t>Lower </a:t>
            </a:r>
            <a:r>
              <a:rPr lang="en-US" dirty="0" err="1" smtClean="0"/>
              <a:t>tyre</a:t>
            </a:r>
            <a:r>
              <a:rPr lang="en-US" dirty="0" smtClean="0"/>
              <a:t> pressure of vehicle</a:t>
            </a:r>
          </a:p>
          <a:p>
            <a:r>
              <a:rPr lang="en-US" dirty="0" smtClean="0"/>
              <a:t>Lower </a:t>
            </a:r>
            <a:r>
              <a:rPr lang="en-US" dirty="0" err="1" smtClean="0"/>
              <a:t>tyre</a:t>
            </a:r>
            <a:r>
              <a:rPr lang="en-US" dirty="0" smtClean="0"/>
              <a:t> pressure of trailer</a:t>
            </a:r>
          </a:p>
          <a:p>
            <a:r>
              <a:rPr lang="en-US" dirty="0" smtClean="0"/>
              <a:t>Use </a:t>
            </a:r>
            <a:r>
              <a:rPr lang="en-US" dirty="0" err="1" smtClean="0"/>
              <a:t>tyre</a:t>
            </a:r>
            <a:r>
              <a:rPr lang="en-US" dirty="0" smtClean="0"/>
              <a:t> pressure gauge</a:t>
            </a:r>
          </a:p>
          <a:p>
            <a:r>
              <a:rPr lang="en-US" dirty="0" smtClean="0"/>
              <a:t>Be prepared to lower pressure a number of times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33</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8338" y="1988840"/>
            <a:ext cx="2871319" cy="208823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When driving on hard sand:</a:t>
            </a:r>
          </a:p>
          <a:p>
            <a:r>
              <a:rPr lang="en-US" dirty="0" smtClean="0"/>
              <a:t>Lower </a:t>
            </a:r>
            <a:r>
              <a:rPr lang="en-US" dirty="0" err="1" smtClean="0"/>
              <a:t>tyre</a:t>
            </a:r>
            <a:r>
              <a:rPr lang="en-US" dirty="0" smtClean="0"/>
              <a:t> pressure slightly</a:t>
            </a:r>
          </a:p>
          <a:p>
            <a:r>
              <a:rPr lang="en-US" dirty="0" smtClean="0"/>
              <a:t>Engage 4WD, High range</a:t>
            </a:r>
          </a:p>
          <a:p>
            <a:r>
              <a:rPr lang="en-US" dirty="0" smtClean="0"/>
              <a:t>Decide on gear use with reference to conditions and vehicle</a:t>
            </a:r>
          </a:p>
          <a:p>
            <a:r>
              <a:rPr lang="en-US" dirty="0" smtClean="0"/>
              <a:t>Travel at reduced speed</a:t>
            </a:r>
          </a:p>
          <a:p>
            <a:r>
              <a:rPr lang="en-US" dirty="0" smtClean="0"/>
              <a:t>Do not contact salt water</a:t>
            </a:r>
          </a:p>
          <a:p>
            <a:r>
              <a:rPr lang="en-US" dirty="0" smtClean="0"/>
              <a:t>Re-inflate </a:t>
            </a:r>
            <a:r>
              <a:rPr lang="en-US" dirty="0" err="1" smtClean="0"/>
              <a:t>tyres</a:t>
            </a:r>
            <a:r>
              <a:rPr lang="en-US" dirty="0" smtClean="0"/>
              <a:t> when sand travel is completed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34</a:t>
            </a:fld>
            <a:endParaRPr lang="en-US" dirty="0"/>
          </a:p>
        </p:txBody>
      </p:sp>
      <p:pic>
        <p:nvPicPr>
          <p:cNvPr id="9" name="Picture 8"/>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228784" y="1988840"/>
            <a:ext cx="2750484" cy="375591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When driving on soft sand:</a:t>
            </a:r>
          </a:p>
          <a:p>
            <a:r>
              <a:rPr lang="en-US" dirty="0" smtClean="0"/>
              <a:t>Lower </a:t>
            </a:r>
            <a:r>
              <a:rPr lang="en-US" dirty="0" err="1" smtClean="0"/>
              <a:t>tyre</a:t>
            </a:r>
            <a:r>
              <a:rPr lang="en-US" dirty="0" smtClean="0"/>
              <a:t> pressures</a:t>
            </a:r>
          </a:p>
          <a:p>
            <a:r>
              <a:rPr lang="en-US" dirty="0" smtClean="0"/>
              <a:t>Attach sand warning flags</a:t>
            </a:r>
          </a:p>
          <a:p>
            <a:r>
              <a:rPr lang="en-US" dirty="0" smtClean="0"/>
              <a:t>Check/ensure recovery gear is available</a:t>
            </a:r>
          </a:p>
          <a:p>
            <a:r>
              <a:rPr lang="en-US" dirty="0" smtClean="0"/>
              <a:t>Engage 4WD, Low range, 2nd gear</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011079"/>
            <a:ext cx="3581400" cy="238879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Start slowly and drive slowly</a:t>
            </a:r>
          </a:p>
          <a:p>
            <a:r>
              <a:rPr lang="en-US" dirty="0" smtClean="0"/>
              <a:t>Avoid sudden turns</a:t>
            </a:r>
          </a:p>
          <a:p>
            <a:r>
              <a:rPr lang="en-US" dirty="0" smtClean="0"/>
              <a:t>Drive in established tracks</a:t>
            </a:r>
          </a:p>
          <a:p>
            <a:r>
              <a:rPr lang="en-US" dirty="0" smtClean="0"/>
              <a:t>Be ready for less feedback through the steering wheel</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36</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858354" y="1988840"/>
            <a:ext cx="1850288" cy="367204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Approach dunes square on</a:t>
            </a:r>
          </a:p>
          <a:p>
            <a:r>
              <a:rPr lang="en-US" dirty="0" smtClean="0"/>
              <a:t>Stay alert for oncoming traffic over dunes</a:t>
            </a:r>
          </a:p>
          <a:p>
            <a:r>
              <a:rPr lang="en-US" dirty="0" smtClean="0"/>
              <a:t>Never assume ‘down’ side of dunes will be the same as the ‘up’ side</a:t>
            </a:r>
          </a:p>
          <a:p>
            <a:r>
              <a:rPr lang="en-US" dirty="0" smtClean="0"/>
              <a:t>Be prepared to back-up and repeat a failed attempt with more momentum</a:t>
            </a:r>
          </a:p>
          <a:p>
            <a:r>
              <a:rPr lang="en-US" dirty="0" smtClean="0"/>
              <a:t>Re-inflate </a:t>
            </a:r>
            <a:r>
              <a:rPr lang="en-US" dirty="0" err="1" smtClean="0"/>
              <a:t>tyres</a:t>
            </a:r>
            <a:r>
              <a:rPr lang="en-US" dirty="0" smtClean="0"/>
              <a:t> when sand travel is completed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37</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048" y="2010544"/>
            <a:ext cx="3145904" cy="22119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When there is a need to drive rocky terrain re-consider the route is possible because it poses risks in terms of:</a:t>
            </a:r>
          </a:p>
          <a:p>
            <a:r>
              <a:rPr lang="en-US" dirty="0" smtClean="0"/>
              <a:t>Uncomfortable ride for passengers</a:t>
            </a:r>
          </a:p>
          <a:p>
            <a:r>
              <a:rPr lang="en-US" dirty="0" smtClean="0"/>
              <a:t>Slow travel times</a:t>
            </a:r>
          </a:p>
          <a:p>
            <a:r>
              <a:rPr lang="en-US" dirty="0" smtClean="0"/>
              <a:t>Punctures</a:t>
            </a:r>
          </a:p>
          <a:p>
            <a:r>
              <a:rPr lang="en-US" dirty="0" smtClean="0"/>
              <a:t>Damage to the vehicle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38</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2348880"/>
            <a:ext cx="2977234" cy="270356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When driving rocky terrain:</a:t>
            </a:r>
          </a:p>
          <a:p>
            <a:r>
              <a:rPr lang="en-US" dirty="0" smtClean="0"/>
              <a:t>Inspect the route</a:t>
            </a:r>
          </a:p>
          <a:p>
            <a:r>
              <a:rPr lang="en-US" dirty="0" smtClean="0"/>
              <a:t>Lower </a:t>
            </a:r>
            <a:r>
              <a:rPr lang="en-US" dirty="0" err="1" smtClean="0"/>
              <a:t>tyre</a:t>
            </a:r>
            <a:r>
              <a:rPr lang="en-US" dirty="0" smtClean="0"/>
              <a:t> pressures</a:t>
            </a:r>
          </a:p>
          <a:p>
            <a:r>
              <a:rPr lang="en-US" dirty="0" smtClean="0"/>
              <a:t>Engage 4WD and diff locks</a:t>
            </a:r>
          </a:p>
          <a:p>
            <a:r>
              <a:rPr lang="en-US" dirty="0" smtClean="0"/>
              <a:t>Turn off air conditioner</a:t>
            </a:r>
          </a:p>
          <a:p>
            <a:r>
              <a:rPr lang="en-US" dirty="0" smtClean="0"/>
              <a:t>Begin in a manner that reflects the inspection of the route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029968" cy="304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Be prepared to ask passengers to get out of the vehicle where there are dangerous parts</a:t>
            </a:r>
          </a:p>
          <a:p>
            <a:r>
              <a:rPr lang="en-US" dirty="0" smtClean="0"/>
              <a:t>Get passengers to act as ‘spotters’</a:t>
            </a:r>
          </a:p>
          <a:p>
            <a:r>
              <a:rPr lang="en-US" dirty="0" smtClean="0"/>
              <a:t>Try to stay on ‘high parts’ of the ground</a:t>
            </a:r>
          </a:p>
          <a:p>
            <a:r>
              <a:rPr lang="en-US" dirty="0" smtClean="0"/>
              <a:t>Re-inflate </a:t>
            </a:r>
            <a:r>
              <a:rPr lang="en-US" dirty="0" err="1" smtClean="0"/>
              <a:t>tyres</a:t>
            </a:r>
            <a:r>
              <a:rPr lang="en-US" dirty="0" smtClean="0"/>
              <a:t> when travel is completed</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40</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88024" y="1340983"/>
            <a:ext cx="2736304" cy="410240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Preparing for water crossings:</a:t>
            </a:r>
          </a:p>
          <a:p>
            <a:r>
              <a:rPr lang="en-US" dirty="0" smtClean="0"/>
              <a:t>Know when the vehicle will float</a:t>
            </a:r>
          </a:p>
          <a:p>
            <a:r>
              <a:rPr lang="en-US" dirty="0" smtClean="0"/>
              <a:t>Know how fast the water is flowing</a:t>
            </a:r>
          </a:p>
          <a:p>
            <a:r>
              <a:rPr lang="en-US" dirty="0" smtClean="0"/>
              <a:t>Know the bottom surface</a:t>
            </a:r>
          </a:p>
          <a:p>
            <a:r>
              <a:rPr lang="en-US" dirty="0" smtClean="0"/>
              <a:t>Know where the air intake</a:t>
            </a:r>
          </a:p>
          <a:p>
            <a:r>
              <a:rPr lang="en-US" dirty="0" smtClean="0"/>
              <a:t>Check out/walk the crossing</a:t>
            </a:r>
          </a:p>
          <a:p>
            <a:r>
              <a:rPr lang="en-US" dirty="0" smtClean="0"/>
              <a:t>If in doubt – wait or avoid it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7398"/>
            <a:ext cx="3048000" cy="203301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Avoid the crossing if:</a:t>
            </a:r>
          </a:p>
          <a:p>
            <a:r>
              <a:rPr lang="en-US" dirty="0" smtClean="0"/>
              <a:t>Current is too fast</a:t>
            </a:r>
          </a:p>
          <a:p>
            <a:r>
              <a:rPr lang="en-US" dirty="0" smtClean="0"/>
              <a:t>Water is too deep</a:t>
            </a:r>
          </a:p>
          <a:p>
            <a:r>
              <a:rPr lang="en-US" dirty="0" smtClean="0"/>
              <a:t>Approach angles are too steep</a:t>
            </a:r>
          </a:p>
          <a:p>
            <a:r>
              <a:rPr lang="en-US" dirty="0" smtClean="0"/>
              <a:t>Departure angle is too steep or the ground is too soft</a:t>
            </a:r>
          </a:p>
          <a:p>
            <a:r>
              <a:rPr lang="en-US" dirty="0" smtClean="0"/>
              <a:t>Vehicle is not properly prepared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Making water crossings:</a:t>
            </a:r>
          </a:p>
          <a:p>
            <a:r>
              <a:rPr lang="en-US" dirty="0" smtClean="0"/>
              <a:t>Allow motor to cool</a:t>
            </a:r>
          </a:p>
          <a:p>
            <a:r>
              <a:rPr lang="en-US" dirty="0" smtClean="0"/>
              <a:t>Tie tarpaulin across front of vehicle</a:t>
            </a:r>
          </a:p>
          <a:p>
            <a:r>
              <a:rPr lang="en-US" dirty="0" smtClean="0"/>
              <a:t>Loosen fan belt</a:t>
            </a:r>
          </a:p>
          <a:p>
            <a:r>
              <a:rPr lang="en-US" dirty="0" smtClean="0"/>
              <a:t>Spray engine with water repellant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43</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7367" b="100000" l="9816" r="76687"/>
                    </a14:imgEffect>
                  </a14:imgLayer>
                </a14:imgProps>
              </a:ext>
              <a:ext uri="{28A0092B-C50C-407E-A947-70E740481C1C}">
                <a14:useLocalDpi xmlns:a14="http://schemas.microsoft.com/office/drawing/2010/main" val="0"/>
              </a:ext>
            </a:extLst>
          </a:blip>
          <a:stretch>
            <a:fillRect/>
          </a:stretch>
        </p:blipFill>
        <p:spPr>
          <a:xfrm>
            <a:off x="4572000" y="1556792"/>
            <a:ext cx="2592288" cy="388648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Attach recovery straps to vehicle</a:t>
            </a:r>
          </a:p>
          <a:p>
            <a:r>
              <a:rPr lang="en-US" dirty="0" smtClean="0"/>
              <a:t>Lower vehicle windows</a:t>
            </a:r>
          </a:p>
          <a:p>
            <a:r>
              <a:rPr lang="en-US" dirty="0" smtClean="0"/>
              <a:t>Adviser passengers to un-do seat belts</a:t>
            </a:r>
          </a:p>
          <a:p>
            <a:r>
              <a:rPr lang="en-US" dirty="0" smtClean="0"/>
              <a:t>Lower </a:t>
            </a:r>
            <a:r>
              <a:rPr lang="en-US" dirty="0" err="1" smtClean="0"/>
              <a:t>tyre</a:t>
            </a:r>
            <a:r>
              <a:rPr lang="en-US" dirty="0" smtClean="0"/>
              <a:t> pressures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44</a:t>
            </a:fld>
            <a:endParaRPr lang="en-US" dirty="0"/>
          </a:p>
        </p:txBody>
      </p:sp>
      <p:pic>
        <p:nvPicPr>
          <p:cNvPr id="5" name="Picture 4"/>
          <p:cNvPicPr>
            <a:picLocks noChangeAspect="1"/>
          </p:cNvPicPr>
          <p:nvPr/>
        </p:nvPicPr>
        <p:blipFill rotWithShape="1">
          <a:blip r:embed="rId3" cstate="print">
            <a:clrChange>
              <a:clrFrom>
                <a:srgbClr val="FFFDFF"/>
              </a:clrFrom>
              <a:clrTo>
                <a:srgbClr val="FFFDFF">
                  <a:alpha val="0"/>
                </a:srgbClr>
              </a:clrTo>
            </a:clrChange>
            <a:extLst>
              <a:ext uri="{28A0092B-C50C-407E-A947-70E740481C1C}">
                <a14:useLocalDpi xmlns:a14="http://schemas.microsoft.com/office/drawing/2010/main" val="0"/>
              </a:ext>
            </a:extLst>
          </a:blip>
          <a:srcRect/>
          <a:stretch/>
        </p:blipFill>
        <p:spPr>
          <a:xfrm>
            <a:off x="5292080" y="1988840"/>
            <a:ext cx="1548967" cy="338437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Select 4WFD, Low range – 1st or 2nd gear</a:t>
            </a:r>
          </a:p>
          <a:p>
            <a:r>
              <a:rPr lang="en-US" dirty="0" smtClean="0"/>
              <a:t>Lock the diffs</a:t>
            </a:r>
          </a:p>
          <a:p>
            <a:r>
              <a:rPr lang="en-US" dirty="0" smtClean="0"/>
              <a:t>Enter at slow to moderate speed</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45</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5048" b="100000" l="9816" r="96115">
                        <a14:foregroundMark x1="48875" y1="46385" x2="48875" y2="46385"/>
                        <a14:foregroundMark x1="47035" y1="43247" x2="47035" y2="43247"/>
                        <a14:foregroundMark x1="51738" y1="49250" x2="51738" y2="49250"/>
                        <a14:foregroundMark x1="56442" y1="57162" x2="56442" y2="57162"/>
                        <a14:foregroundMark x1="61145" y1="64666" x2="61145" y2="64666"/>
                      </a14:backgroundRemoval>
                    </a14:imgEffect>
                  </a14:imgLayer>
                </a14:imgProps>
              </a:ext>
              <a:ext uri="{28A0092B-C50C-407E-A947-70E740481C1C}">
                <a14:useLocalDpi xmlns:a14="http://schemas.microsoft.com/office/drawing/2010/main" val="0"/>
              </a:ext>
            </a:extLst>
          </a:blip>
          <a:stretch>
            <a:fillRect/>
          </a:stretch>
        </p:blipFill>
        <p:spPr>
          <a:xfrm>
            <a:off x="4860032" y="1772816"/>
            <a:ext cx="2541240" cy="380995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Drive slowly and evenly</a:t>
            </a:r>
          </a:p>
          <a:p>
            <a:r>
              <a:rPr lang="en-US" dirty="0" smtClean="0"/>
              <a:t>Avoid using clutch</a:t>
            </a:r>
          </a:p>
          <a:p>
            <a:r>
              <a:rPr lang="en-US" dirty="0" smtClean="0"/>
              <a:t>Dry brakes after exiting</a:t>
            </a:r>
          </a:p>
          <a:p>
            <a:r>
              <a:rPr lang="en-US" dirty="0" smtClean="0"/>
              <a:t>Re-inflate </a:t>
            </a:r>
            <a:r>
              <a:rPr lang="en-US" dirty="0" err="1" smtClean="0"/>
              <a:t>tyres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46</a:t>
            </a:fld>
            <a:endParaRPr lang="en-US" dirty="0"/>
          </a:p>
        </p:txBody>
      </p:sp>
      <p:pic>
        <p:nvPicPr>
          <p:cNvPr id="8" name="Picture 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349" b="99700" l="4677" r="93764"/>
                    </a14:imgEffect>
                  </a14:imgLayer>
                </a14:imgProps>
              </a:ext>
              <a:ext uri="{28A0092B-C50C-407E-A947-70E740481C1C}">
                <a14:useLocalDpi xmlns:a14="http://schemas.microsoft.com/office/drawing/2010/main" val="0"/>
              </a:ext>
            </a:extLst>
          </a:blip>
          <a:srcRect/>
          <a:stretch/>
        </p:blipFill>
        <p:spPr>
          <a:xfrm>
            <a:off x="4572000" y="1918854"/>
            <a:ext cx="2448272" cy="363802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pPr marL="36576" indent="0">
              <a:buNone/>
            </a:pPr>
            <a:r>
              <a:rPr lang="en-US" dirty="0" smtClean="0"/>
              <a:t>Driving through mud:</a:t>
            </a:r>
          </a:p>
          <a:p>
            <a:r>
              <a:rPr lang="en-US" dirty="0" smtClean="0"/>
              <a:t>Inspect the route</a:t>
            </a:r>
          </a:p>
          <a:p>
            <a:r>
              <a:rPr lang="en-US" dirty="0" smtClean="0"/>
              <a:t>Drop </a:t>
            </a:r>
            <a:r>
              <a:rPr lang="en-US" dirty="0" err="1" smtClean="0"/>
              <a:t>tyre</a:t>
            </a:r>
            <a:r>
              <a:rPr lang="en-US" dirty="0" smtClean="0"/>
              <a:t> pressure</a:t>
            </a:r>
          </a:p>
          <a:p>
            <a:r>
              <a:rPr lang="en-US" dirty="0" smtClean="0"/>
              <a:t>Engage 4WD</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988840"/>
            <a:ext cx="3581400" cy="26860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Lock diffs</a:t>
            </a:r>
          </a:p>
          <a:p>
            <a:r>
              <a:rPr lang="en-US" dirty="0" smtClean="0"/>
              <a:t>Select Low range – 1st or 2nd gear</a:t>
            </a:r>
          </a:p>
          <a:p>
            <a:r>
              <a:rPr lang="en-US" dirty="0" smtClean="0"/>
              <a:t>Enter at slow to moderate speed</a:t>
            </a:r>
          </a:p>
          <a:p>
            <a:r>
              <a:rPr lang="en-US" dirty="0" smtClean="0"/>
              <a:t>Use/do not use ruts as appropriate to surface and terrain</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48</a:t>
            </a:fld>
            <a:endParaRPr lang="en-US" dirty="0"/>
          </a:p>
        </p:txBody>
      </p:sp>
      <p:pic>
        <p:nvPicPr>
          <p:cNvPr id="8" name="Picture 7"/>
          <p:cNvPicPr>
            <a:picLocks noChangeAspect="1"/>
          </p:cNvPicPr>
          <p:nvPr/>
        </p:nvPicPr>
        <p:blipFill rotWithShape="1">
          <a:blip r:embed="rId3" cstate="print">
            <a:clrChange>
              <a:clrFrom>
                <a:srgbClr val="FFFDFF"/>
              </a:clrFrom>
              <a:clrTo>
                <a:srgbClr val="FFFDFF">
                  <a:alpha val="0"/>
                </a:srgbClr>
              </a:clrTo>
            </a:clrChange>
            <a:extLst>
              <a:ext uri="{28A0092B-C50C-407E-A947-70E740481C1C}">
                <a14:useLocalDpi xmlns:a14="http://schemas.microsoft.com/office/drawing/2010/main" val="0"/>
              </a:ext>
            </a:extLst>
          </a:blip>
          <a:srcRect/>
          <a:stretch/>
        </p:blipFill>
        <p:spPr>
          <a:xfrm>
            <a:off x="5292080" y="1988840"/>
            <a:ext cx="1548967" cy="338437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Drive 4WD in a variety of on-road conditions and off-road conditions</a:t>
            </a:r>
            <a:endParaRPr lang="en-US" dirty="0"/>
          </a:p>
        </p:txBody>
      </p:sp>
      <p:sp>
        <p:nvSpPr>
          <p:cNvPr id="3" name="Content Placeholder 2"/>
          <p:cNvSpPr>
            <a:spLocks noGrp="1"/>
          </p:cNvSpPr>
          <p:nvPr>
            <p:ph idx="1"/>
          </p:nvPr>
        </p:nvSpPr>
        <p:spPr/>
        <p:txBody>
          <a:bodyPr/>
          <a:lstStyle/>
          <a:p>
            <a:r>
              <a:rPr lang="en-US" dirty="0" smtClean="0"/>
              <a:t>Maintain momentum</a:t>
            </a:r>
          </a:p>
          <a:p>
            <a:r>
              <a:rPr lang="en-US" dirty="0" smtClean="0"/>
              <a:t>Spin </a:t>
            </a:r>
            <a:r>
              <a:rPr lang="en-US" dirty="0" err="1" smtClean="0"/>
              <a:t>tyres</a:t>
            </a:r>
            <a:r>
              <a:rPr lang="en-US" dirty="0" smtClean="0"/>
              <a:t> – if mud </a:t>
            </a:r>
            <a:r>
              <a:rPr lang="en-US" dirty="0" err="1" smtClean="0"/>
              <a:t>tyres</a:t>
            </a:r>
            <a:r>
              <a:rPr lang="en-US" dirty="0" smtClean="0"/>
              <a:t> are fitted</a:t>
            </a:r>
          </a:p>
          <a:p>
            <a:r>
              <a:rPr lang="en-US" dirty="0" smtClean="0"/>
              <a:t>Be prepared to reverse and try again</a:t>
            </a:r>
          </a:p>
          <a:p>
            <a:r>
              <a:rPr lang="en-US" dirty="0" smtClean="0"/>
              <a:t>Move steering from left-to-right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49</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724128" y="1917338"/>
            <a:ext cx="2880320" cy="287526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safety and explanatory advice to passengers</a:t>
            </a:r>
            <a:endParaRPr lang="en-US" dirty="0"/>
          </a:p>
        </p:txBody>
      </p:sp>
      <p:sp>
        <p:nvSpPr>
          <p:cNvPr id="3" name="Content Placeholder 2"/>
          <p:cNvSpPr>
            <a:spLocks noGrp="1"/>
          </p:cNvSpPr>
          <p:nvPr>
            <p:ph idx="1"/>
          </p:nvPr>
        </p:nvSpPr>
        <p:spPr/>
        <p:txBody>
          <a:bodyPr/>
          <a:lstStyle/>
          <a:p>
            <a:pPr marL="36576" indent="0">
              <a:buNone/>
            </a:pPr>
            <a:r>
              <a:rPr lang="en-US" dirty="0" smtClean="0"/>
              <a:t>Common law imposes Duty of Care obligations on drivers to:</a:t>
            </a:r>
          </a:p>
          <a:p>
            <a:r>
              <a:rPr lang="en-AU" dirty="0" smtClean="0"/>
              <a:t>Create and maintain a touring environment that does not pose a risk to people</a:t>
            </a:r>
            <a:endParaRPr lang="en-US" dirty="0" smtClean="0"/>
          </a:p>
          <a:p>
            <a:r>
              <a:rPr lang="en-AU" dirty="0" smtClean="0"/>
              <a:t>Take action to avoid causing foreseeable harm </a:t>
            </a:r>
          </a:p>
          <a:p>
            <a:r>
              <a:rPr lang="en-AU" dirty="0" smtClean="0"/>
              <a:t>Avoid engaging in risky behaviour</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50</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04048" y="1852913"/>
            <a:ext cx="3109819" cy="338408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safety and explanatory advice to passengers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Practical actions to discharge Duty of Care obligations:</a:t>
            </a:r>
          </a:p>
          <a:p>
            <a:r>
              <a:rPr lang="en-US" dirty="0" smtClean="0"/>
              <a:t>Vehicle is safe/roadworthy before departure</a:t>
            </a:r>
          </a:p>
          <a:p>
            <a:r>
              <a:rPr lang="en-US" dirty="0" smtClean="0"/>
              <a:t>Vehicle is maintained in a safe/roadworthy condition on tour</a:t>
            </a:r>
          </a:p>
          <a:p>
            <a:r>
              <a:rPr lang="en-US" dirty="0" smtClean="0"/>
              <a:t>All road rules are obeyed</a:t>
            </a:r>
          </a:p>
          <a:p>
            <a:r>
              <a:rPr lang="en-US" dirty="0" smtClean="0"/>
              <a:t>Vehicles are driven in a safe and responsible manner</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51</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1988840"/>
            <a:ext cx="2987552" cy="276234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safety and explanatory advice to passengers</a:t>
            </a:r>
            <a:endParaRPr lang="en-US" dirty="0"/>
          </a:p>
        </p:txBody>
      </p:sp>
      <p:sp>
        <p:nvSpPr>
          <p:cNvPr id="3" name="Content Placeholder 2"/>
          <p:cNvSpPr>
            <a:spLocks noGrp="1"/>
          </p:cNvSpPr>
          <p:nvPr>
            <p:ph idx="1"/>
          </p:nvPr>
        </p:nvSpPr>
        <p:spPr/>
        <p:txBody>
          <a:bodyPr/>
          <a:lstStyle/>
          <a:p>
            <a:r>
              <a:rPr lang="en-US" dirty="0" smtClean="0"/>
              <a:t>Obvious risks are avoided or controlled </a:t>
            </a:r>
          </a:p>
          <a:p>
            <a:r>
              <a:rPr lang="en-US" dirty="0" smtClean="0"/>
              <a:t>Passengers are advised of risks</a:t>
            </a:r>
          </a:p>
          <a:p>
            <a:r>
              <a:rPr lang="en-US" dirty="0" smtClean="0"/>
              <a:t>Passengers comply with safety requirements</a:t>
            </a:r>
          </a:p>
          <a:p>
            <a:r>
              <a:rPr lang="en-US" dirty="0" smtClean="0"/>
              <a:t>Cargo is safely stowed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52</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6232" y="2000790"/>
            <a:ext cx="3048000" cy="203301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safety and explanatory advice to passengers</a:t>
            </a:r>
            <a:endParaRPr lang="en-US" dirty="0"/>
          </a:p>
        </p:txBody>
      </p:sp>
      <p:sp>
        <p:nvSpPr>
          <p:cNvPr id="3" name="Content Placeholder 2"/>
          <p:cNvSpPr>
            <a:spLocks noGrp="1"/>
          </p:cNvSpPr>
          <p:nvPr>
            <p:ph idx="1"/>
          </p:nvPr>
        </p:nvSpPr>
        <p:spPr/>
        <p:txBody>
          <a:bodyPr/>
          <a:lstStyle/>
          <a:p>
            <a:pPr marL="36576" indent="0">
              <a:buNone/>
            </a:pPr>
            <a:r>
              <a:rPr lang="en-US" dirty="0" smtClean="0"/>
              <a:t>Failure to meet ‘Duty of Care ‘ obligations can result in:</a:t>
            </a:r>
          </a:p>
          <a:p>
            <a:r>
              <a:rPr lang="en-US" dirty="0" smtClean="0"/>
              <a:t>Drivers being sued</a:t>
            </a:r>
          </a:p>
          <a:p>
            <a:r>
              <a:rPr lang="en-US" dirty="0" smtClean="0"/>
              <a:t>Tour Operators being sued</a:t>
            </a:r>
          </a:p>
          <a:p>
            <a:r>
              <a:rPr lang="en-US" dirty="0" smtClean="0"/>
              <a:t>The awarding of ‘damages’ to anyone who is injured or who has suffered loss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53</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6299"/>
          <a:stretch/>
        </p:blipFill>
        <p:spPr>
          <a:xfrm>
            <a:off x="5076056" y="2001757"/>
            <a:ext cx="2029000" cy="3659171"/>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safety and explanatory advice to passengers</a:t>
            </a:r>
            <a:endParaRPr lang="en-US" dirty="0"/>
          </a:p>
        </p:txBody>
      </p:sp>
      <p:sp>
        <p:nvSpPr>
          <p:cNvPr id="3" name="Content Placeholder 2"/>
          <p:cNvSpPr>
            <a:spLocks noGrp="1"/>
          </p:cNvSpPr>
          <p:nvPr>
            <p:ph idx="1"/>
          </p:nvPr>
        </p:nvSpPr>
        <p:spPr/>
        <p:txBody>
          <a:bodyPr/>
          <a:lstStyle/>
          <a:p>
            <a:pPr marL="36576" indent="0">
              <a:buNone/>
            </a:pPr>
            <a:r>
              <a:rPr lang="en-US" dirty="0" smtClean="0"/>
              <a:t>Safety information may be communicated:</a:t>
            </a:r>
          </a:p>
          <a:p>
            <a:r>
              <a:rPr lang="en-US" dirty="0" smtClean="0"/>
              <a:t>Verbally – at pre-tour and daily tour briefings</a:t>
            </a:r>
          </a:p>
          <a:p>
            <a:r>
              <a:rPr lang="en-US" dirty="0" smtClean="0"/>
              <a:t>In written form – using handouts</a:t>
            </a:r>
          </a:p>
          <a:p>
            <a:r>
              <a:rPr lang="en-US" dirty="0" smtClean="0"/>
              <a:t>By screening a safety video</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54</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148064" y="2016371"/>
            <a:ext cx="1621824" cy="316835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safety and explanatory advice to passengers</a:t>
            </a:r>
            <a:endParaRPr lang="en-US" dirty="0"/>
          </a:p>
        </p:txBody>
      </p:sp>
      <p:sp>
        <p:nvSpPr>
          <p:cNvPr id="3" name="Content Placeholder 2"/>
          <p:cNvSpPr>
            <a:spLocks noGrp="1"/>
          </p:cNvSpPr>
          <p:nvPr>
            <p:ph idx="1"/>
          </p:nvPr>
        </p:nvSpPr>
        <p:spPr/>
        <p:txBody>
          <a:bodyPr/>
          <a:lstStyle/>
          <a:p>
            <a:pPr marL="36576" indent="0">
              <a:buNone/>
            </a:pPr>
            <a:r>
              <a:rPr lang="en-US" dirty="0" smtClean="0"/>
              <a:t>Safety information may include advising passengers:</a:t>
            </a:r>
          </a:p>
          <a:p>
            <a:r>
              <a:rPr lang="en-US" dirty="0" smtClean="0"/>
              <a:t>To use/wear seat belts</a:t>
            </a:r>
          </a:p>
          <a:p>
            <a:r>
              <a:rPr lang="en-US" dirty="0" smtClean="0"/>
              <a:t>To stay inside the vehicle</a:t>
            </a:r>
          </a:p>
          <a:p>
            <a:r>
              <a:rPr lang="en-US" dirty="0" smtClean="0"/>
              <a:t>To keep windows wound up when travelling through bush</a:t>
            </a:r>
          </a:p>
          <a:p>
            <a:r>
              <a:rPr lang="en-US" dirty="0" smtClean="0"/>
              <a:t>To wind windows down when doing water crossing</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55</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436712" y="1988840"/>
            <a:ext cx="2871592" cy="37799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safety and explanatory advice to passengers</a:t>
            </a:r>
            <a:endParaRPr lang="en-US" dirty="0"/>
          </a:p>
        </p:txBody>
      </p:sp>
      <p:sp>
        <p:nvSpPr>
          <p:cNvPr id="3" name="Content Placeholder 2"/>
          <p:cNvSpPr>
            <a:spLocks noGrp="1"/>
          </p:cNvSpPr>
          <p:nvPr>
            <p:ph idx="1"/>
          </p:nvPr>
        </p:nvSpPr>
        <p:spPr/>
        <p:txBody>
          <a:bodyPr/>
          <a:lstStyle/>
          <a:p>
            <a:r>
              <a:rPr lang="en-US" dirty="0" smtClean="0"/>
              <a:t>To use hand straps</a:t>
            </a:r>
          </a:p>
          <a:p>
            <a:r>
              <a:rPr lang="en-US" dirty="0" smtClean="0"/>
              <a:t>To follow driver instructions</a:t>
            </a:r>
          </a:p>
          <a:p>
            <a:r>
              <a:rPr lang="en-US" dirty="0" smtClean="0"/>
              <a:t>To not alter vehicle settings</a:t>
            </a:r>
          </a:p>
          <a:p>
            <a:r>
              <a:rPr lang="en-US" dirty="0" smtClean="0"/>
              <a:t>To secure loose personal items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56</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88024" y="2062786"/>
            <a:ext cx="2376264" cy="4378176"/>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safety and explanatory advice to passengers</a:t>
            </a:r>
            <a:endParaRPr lang="en-US" dirty="0"/>
          </a:p>
        </p:txBody>
      </p:sp>
      <p:sp>
        <p:nvSpPr>
          <p:cNvPr id="3" name="Content Placeholder 2"/>
          <p:cNvSpPr>
            <a:spLocks noGrp="1"/>
          </p:cNvSpPr>
          <p:nvPr>
            <p:ph idx="1"/>
          </p:nvPr>
        </p:nvSpPr>
        <p:spPr/>
        <p:txBody>
          <a:bodyPr/>
          <a:lstStyle/>
          <a:p>
            <a:r>
              <a:rPr lang="en-US" dirty="0" smtClean="0"/>
              <a:t>To not throw rubbish from vehicle</a:t>
            </a:r>
          </a:p>
          <a:p>
            <a:r>
              <a:rPr lang="en-US" dirty="0" smtClean="0"/>
              <a:t>To refrain from poor/distracting </a:t>
            </a:r>
            <a:r>
              <a:rPr lang="en-US" dirty="0" err="1" smtClean="0"/>
              <a:t>behaviour</a:t>
            </a:r>
            <a:endParaRPr lang="en-US" dirty="0" smtClean="0"/>
          </a:p>
          <a:p>
            <a:r>
              <a:rPr lang="en-US" dirty="0" smtClean="0"/>
              <a:t>To wait until vehicle stops before getting on/off</a:t>
            </a:r>
          </a:p>
          <a:p>
            <a:r>
              <a:rPr lang="en-US" dirty="0" smtClean="0"/>
              <a:t>About on-board emergence items and recovery gear</a:t>
            </a:r>
          </a:p>
          <a:p>
            <a:r>
              <a:rPr lang="en-US" dirty="0" smtClean="0"/>
              <a:t>About EMPs for the tour/trip</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57</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36959" y="1988840"/>
            <a:ext cx="3997441" cy="2557511"/>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Ensure minimal environmental impact when driving a 4-wheel drive vehicle</a:t>
            </a:r>
            <a:endParaRPr lang="en-US" dirty="0"/>
          </a:p>
        </p:txBody>
      </p:sp>
      <p:sp>
        <p:nvSpPr>
          <p:cNvPr id="3" name="Content Placeholder 2"/>
          <p:cNvSpPr>
            <a:spLocks noGrp="1"/>
          </p:cNvSpPr>
          <p:nvPr>
            <p:ph idx="1"/>
          </p:nvPr>
        </p:nvSpPr>
        <p:spPr/>
        <p:txBody>
          <a:bodyPr/>
          <a:lstStyle/>
          <a:p>
            <a:pPr marL="36576" indent="0">
              <a:buNone/>
            </a:pPr>
            <a:r>
              <a:rPr lang="en-US" dirty="0" smtClean="0"/>
              <a:t>4WDs may cause environmental damage by:</a:t>
            </a:r>
          </a:p>
          <a:p>
            <a:r>
              <a:rPr lang="en-US" dirty="0" smtClean="0"/>
              <a:t>Disturbing local communities</a:t>
            </a:r>
          </a:p>
          <a:p>
            <a:r>
              <a:rPr lang="en-US" dirty="0" smtClean="0"/>
              <a:t>Damaging/destroying flora</a:t>
            </a:r>
          </a:p>
          <a:p>
            <a:r>
              <a:rPr lang="en-US" dirty="0" smtClean="0"/>
              <a:t>Causing noise pollution</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2734" y="2054142"/>
            <a:ext cx="3048000" cy="202996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Ensure minimal environmental impact when driving a 4-wheel drive vehicle</a:t>
            </a:r>
            <a:endParaRPr lang="en-US" dirty="0"/>
          </a:p>
        </p:txBody>
      </p:sp>
      <p:sp>
        <p:nvSpPr>
          <p:cNvPr id="3" name="Content Placeholder 2"/>
          <p:cNvSpPr>
            <a:spLocks noGrp="1"/>
          </p:cNvSpPr>
          <p:nvPr>
            <p:ph idx="1"/>
          </p:nvPr>
        </p:nvSpPr>
        <p:spPr/>
        <p:txBody>
          <a:bodyPr/>
          <a:lstStyle/>
          <a:p>
            <a:r>
              <a:rPr lang="en-US" dirty="0" smtClean="0"/>
              <a:t>Contaminating water</a:t>
            </a:r>
          </a:p>
          <a:p>
            <a:r>
              <a:rPr lang="en-US" dirty="0" smtClean="0"/>
              <a:t>Harming soil structure</a:t>
            </a:r>
          </a:p>
          <a:p>
            <a:r>
              <a:rPr lang="en-US" dirty="0" smtClean="0"/>
              <a:t>Scaring and/or injuring wildlife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59</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79" y="1988840"/>
            <a:ext cx="2006793" cy="3240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Ensure minimal environmental impact when driving a 4-wheel drive vehicle</a:t>
            </a:r>
            <a:endParaRPr lang="en-US" dirty="0"/>
          </a:p>
        </p:txBody>
      </p:sp>
      <p:sp>
        <p:nvSpPr>
          <p:cNvPr id="3" name="Content Placeholder 2"/>
          <p:cNvSpPr>
            <a:spLocks noGrp="1"/>
          </p:cNvSpPr>
          <p:nvPr>
            <p:ph idx="1"/>
          </p:nvPr>
        </p:nvSpPr>
        <p:spPr/>
        <p:txBody>
          <a:bodyPr/>
          <a:lstStyle/>
          <a:p>
            <a:pPr marL="36576" indent="0">
              <a:buNone/>
            </a:pPr>
            <a:r>
              <a:rPr lang="en-US" dirty="0" smtClean="0"/>
              <a:t>Techniques to </a:t>
            </a:r>
            <a:r>
              <a:rPr lang="en-US" dirty="0" err="1" smtClean="0"/>
              <a:t>minimise</a:t>
            </a:r>
            <a:r>
              <a:rPr lang="en-US" dirty="0" smtClean="0"/>
              <a:t> environmental damage:</a:t>
            </a:r>
          </a:p>
          <a:p>
            <a:r>
              <a:rPr lang="en-AU" dirty="0" smtClean="0"/>
              <a:t>Adhering to designated tracks </a:t>
            </a:r>
            <a:endParaRPr lang="en-US" dirty="0" smtClean="0"/>
          </a:p>
          <a:p>
            <a:r>
              <a:rPr lang="en-AU" dirty="0" smtClean="0"/>
              <a:t>Assessing quality of tracks before travelling on them </a:t>
            </a:r>
            <a:endParaRPr lang="en-US" dirty="0" smtClean="0"/>
          </a:p>
          <a:p>
            <a:r>
              <a:rPr lang="en-AU" dirty="0" smtClean="0"/>
              <a:t>Minimising the effects of noise </a:t>
            </a:r>
          </a:p>
          <a:p>
            <a:r>
              <a:rPr lang="en-AU" dirty="0" smtClean="0"/>
              <a:t>Ensuring required permits have been obtained </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60</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1584"/>
          <a:stretch/>
        </p:blipFill>
        <p:spPr>
          <a:xfrm>
            <a:off x="5580112" y="2132856"/>
            <a:ext cx="2341260" cy="322438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Ensure minimal environmental impact when driving a 4-wheel drive vehicle</a:t>
            </a:r>
            <a:endParaRPr lang="en-US" dirty="0"/>
          </a:p>
        </p:txBody>
      </p:sp>
      <p:sp>
        <p:nvSpPr>
          <p:cNvPr id="3" name="Content Placeholder 2"/>
          <p:cNvSpPr>
            <a:spLocks noGrp="1"/>
          </p:cNvSpPr>
          <p:nvPr>
            <p:ph idx="1"/>
          </p:nvPr>
        </p:nvSpPr>
        <p:spPr/>
        <p:txBody>
          <a:bodyPr/>
          <a:lstStyle/>
          <a:p>
            <a:r>
              <a:rPr lang="en-US" dirty="0" smtClean="0"/>
              <a:t>Abiding by local prohibitions</a:t>
            </a:r>
          </a:p>
          <a:p>
            <a:r>
              <a:rPr lang="en-US" dirty="0" smtClean="0"/>
              <a:t>Being vigilant at all times</a:t>
            </a:r>
          </a:p>
          <a:p>
            <a:r>
              <a:rPr lang="en-US" dirty="0" smtClean="0"/>
              <a:t>Ensuring passenger </a:t>
            </a:r>
            <a:r>
              <a:rPr lang="en-US" dirty="0" err="1" smtClean="0"/>
              <a:t>behaviour</a:t>
            </a:r>
            <a:r>
              <a:rPr lang="en-US" dirty="0" smtClean="0"/>
              <a:t> is proper</a:t>
            </a:r>
          </a:p>
          <a:p>
            <a:r>
              <a:rPr lang="en-US" dirty="0" smtClean="0"/>
              <a:t>Being patient </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61</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372343" y="1844825"/>
            <a:ext cx="4174909" cy="3018984"/>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Ensure minimal environmental impact when driving a 4-wheel drive vehicle</a:t>
            </a:r>
            <a:endParaRPr lang="en-US" dirty="0"/>
          </a:p>
        </p:txBody>
      </p:sp>
      <p:sp>
        <p:nvSpPr>
          <p:cNvPr id="3" name="Content Placeholder 2"/>
          <p:cNvSpPr>
            <a:spLocks noGrp="1"/>
          </p:cNvSpPr>
          <p:nvPr>
            <p:ph idx="1"/>
          </p:nvPr>
        </p:nvSpPr>
        <p:spPr/>
        <p:txBody>
          <a:bodyPr/>
          <a:lstStyle/>
          <a:p>
            <a:r>
              <a:rPr lang="en-US" dirty="0" smtClean="0"/>
              <a:t>Removing obstructions from tracks rather than driving around them and creating fresh tracks</a:t>
            </a:r>
          </a:p>
          <a:p>
            <a:r>
              <a:rPr lang="en-US" dirty="0" smtClean="0"/>
              <a:t>Not using trees as recovery points if alternatives exist</a:t>
            </a:r>
          </a:p>
          <a:p>
            <a:r>
              <a:rPr lang="en-US" dirty="0" smtClean="0"/>
              <a:t>Giving way to foot traffic and animals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62</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6016" y="1445536"/>
            <a:ext cx="1913482" cy="506219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Ensure minimal environmental impact when driving a 4-wheel drive vehicle</a:t>
            </a:r>
            <a:endParaRPr lang="en-US" dirty="0"/>
          </a:p>
        </p:txBody>
      </p:sp>
      <p:sp>
        <p:nvSpPr>
          <p:cNvPr id="3" name="Content Placeholder 2"/>
          <p:cNvSpPr>
            <a:spLocks noGrp="1"/>
          </p:cNvSpPr>
          <p:nvPr>
            <p:ph idx="1"/>
          </p:nvPr>
        </p:nvSpPr>
        <p:spPr/>
        <p:txBody>
          <a:bodyPr/>
          <a:lstStyle/>
          <a:p>
            <a:r>
              <a:rPr lang="en-US" dirty="0" smtClean="0"/>
              <a:t>Driving on sand below high water marks</a:t>
            </a:r>
          </a:p>
          <a:p>
            <a:r>
              <a:rPr lang="en-US" dirty="0" smtClean="0"/>
              <a:t>Adhering to weight limits</a:t>
            </a:r>
          </a:p>
          <a:p>
            <a:r>
              <a:rPr lang="en-US" dirty="0" smtClean="0"/>
              <a:t>Taking care not to start fires when driving on grass</a:t>
            </a:r>
          </a:p>
          <a:p>
            <a:r>
              <a:rPr lang="en-US" dirty="0" smtClean="0"/>
              <a:t>Not travelling at night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63</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88023" y="2060848"/>
            <a:ext cx="2673977" cy="3456384"/>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Comply with road safety and road use rules and regulations</a:t>
            </a:r>
            <a:endParaRPr lang="en-US" dirty="0"/>
          </a:p>
        </p:txBody>
      </p:sp>
      <p:sp>
        <p:nvSpPr>
          <p:cNvPr id="3" name="Content Placeholder 2"/>
          <p:cNvSpPr>
            <a:spLocks noGrp="1"/>
          </p:cNvSpPr>
          <p:nvPr>
            <p:ph idx="1"/>
          </p:nvPr>
        </p:nvSpPr>
        <p:spPr/>
        <p:txBody>
          <a:bodyPr/>
          <a:lstStyle/>
          <a:p>
            <a:pPr marL="36576" indent="0">
              <a:buNone/>
            </a:pPr>
            <a:r>
              <a:rPr lang="en-US" dirty="0" smtClean="0"/>
              <a:t>Compliance requirements imposed on drivers include:</a:t>
            </a:r>
          </a:p>
          <a:p>
            <a:r>
              <a:rPr lang="en-US" dirty="0" smtClean="0"/>
              <a:t>Be properly licensed</a:t>
            </a:r>
          </a:p>
          <a:p>
            <a:r>
              <a:rPr lang="en-US" dirty="0" smtClean="0"/>
              <a:t>Carry their </a:t>
            </a:r>
            <a:r>
              <a:rPr lang="en-US" dirty="0" err="1" smtClean="0"/>
              <a:t>licence</a:t>
            </a:r>
            <a:endParaRPr lang="en-US" dirty="0" smtClean="0"/>
          </a:p>
          <a:p>
            <a:r>
              <a:rPr lang="en-US" dirty="0" smtClean="0"/>
              <a:t>Ensure vehicle is registered</a:t>
            </a:r>
          </a:p>
          <a:p>
            <a:r>
              <a:rPr lang="en-US" dirty="0" smtClean="0"/>
              <a:t>Display/carry proof of registration</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64</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76056" y="1417638"/>
            <a:ext cx="1656184" cy="500742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Comply with road safety and road use rules and regulations</a:t>
            </a:r>
            <a:endParaRPr lang="en-US" dirty="0"/>
          </a:p>
        </p:txBody>
      </p:sp>
      <p:sp>
        <p:nvSpPr>
          <p:cNvPr id="3" name="Content Placeholder 2"/>
          <p:cNvSpPr>
            <a:spLocks noGrp="1"/>
          </p:cNvSpPr>
          <p:nvPr>
            <p:ph idx="1"/>
          </p:nvPr>
        </p:nvSpPr>
        <p:spPr/>
        <p:txBody>
          <a:bodyPr/>
          <a:lstStyle/>
          <a:p>
            <a:r>
              <a:rPr lang="en-US" dirty="0" smtClean="0"/>
              <a:t>Ensure vehicle compliance with roadworthiness</a:t>
            </a:r>
          </a:p>
          <a:p>
            <a:r>
              <a:rPr lang="en-US" dirty="0" smtClean="0"/>
              <a:t>Obtain and display relevant permits</a:t>
            </a:r>
          </a:p>
          <a:p>
            <a:r>
              <a:rPr lang="en-US" dirty="0" smtClean="0"/>
              <a:t>Comply with road rules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65</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76056" y="1954915"/>
            <a:ext cx="2448272" cy="354151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Comply with road safety and road use rules and regulations</a:t>
            </a:r>
            <a:endParaRPr lang="en-US" dirty="0"/>
          </a:p>
        </p:txBody>
      </p:sp>
      <p:sp>
        <p:nvSpPr>
          <p:cNvPr id="3" name="Content Placeholder 2"/>
          <p:cNvSpPr>
            <a:spLocks noGrp="1"/>
          </p:cNvSpPr>
          <p:nvPr>
            <p:ph idx="1"/>
          </p:nvPr>
        </p:nvSpPr>
        <p:spPr/>
        <p:txBody>
          <a:bodyPr/>
          <a:lstStyle/>
          <a:p>
            <a:r>
              <a:rPr lang="en-US" dirty="0" smtClean="0"/>
              <a:t>Comply with fatigue management protocols</a:t>
            </a:r>
          </a:p>
          <a:p>
            <a:r>
              <a:rPr lang="en-US" dirty="0" smtClean="0"/>
              <a:t>Comply with environment protection legislation</a:t>
            </a:r>
          </a:p>
          <a:p>
            <a:r>
              <a:rPr lang="en-US" dirty="0" smtClean="0"/>
              <a:t>Comply with drink-driving and drug-related requirements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66</a:t>
            </a:fld>
            <a:endParaRPr lang="en-US" dirty="0"/>
          </a:p>
        </p:txBody>
      </p:sp>
      <p:pic>
        <p:nvPicPr>
          <p:cNvPr id="8" name="Picture 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6276" b="100000" l="9816" r="89980"/>
                    </a14:imgEffect>
                  </a14:imgLayer>
                </a14:imgProps>
              </a:ext>
              <a:ext uri="{28A0092B-C50C-407E-A947-70E740481C1C}">
                <a14:useLocalDpi xmlns:a14="http://schemas.microsoft.com/office/drawing/2010/main" val="0"/>
              </a:ext>
            </a:extLst>
          </a:blip>
          <a:srcRect l="16618" t="5845" r="19117"/>
          <a:stretch/>
        </p:blipFill>
        <p:spPr>
          <a:xfrm>
            <a:off x="4840135" y="1988840"/>
            <a:ext cx="1748089" cy="3839764"/>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2 – Recover a 4WD vehicle</a:t>
            </a:r>
            <a:endParaRPr lang="en-US" dirty="0"/>
          </a:p>
        </p:txBody>
      </p:sp>
      <p:sp>
        <p:nvSpPr>
          <p:cNvPr id="3" name="Content Placeholder 2"/>
          <p:cNvSpPr>
            <a:spLocks noGrp="1"/>
          </p:cNvSpPr>
          <p:nvPr>
            <p:ph idx="1"/>
          </p:nvPr>
        </p:nvSpPr>
        <p:spPr>
          <a:xfrm>
            <a:off x="457200" y="1988840"/>
            <a:ext cx="4114800" cy="4433224"/>
          </a:xfrm>
        </p:spPr>
        <p:txBody>
          <a:bodyPr>
            <a:normAutofit/>
          </a:bodyPr>
          <a:lstStyle/>
          <a:p>
            <a:pPr marL="36576" indent="0">
              <a:buNone/>
            </a:pPr>
            <a:r>
              <a:rPr lang="en-US" dirty="0" smtClean="0"/>
              <a:t>Performance Criteria for this Element are:</a:t>
            </a:r>
          </a:p>
          <a:p>
            <a:r>
              <a:rPr lang="en-AU" dirty="0" smtClean="0"/>
              <a:t>Use a variety of techniques to recover 4-wheel drive vehicle from bogged or trapped situations</a:t>
            </a:r>
          </a:p>
          <a:p>
            <a:r>
              <a:rPr lang="en-AU" dirty="0" smtClean="0"/>
              <a:t>Optimise safety for passengers and protection of property</a:t>
            </a:r>
          </a:p>
          <a:p>
            <a:r>
              <a:rPr lang="en-AU" dirty="0" smtClean="0"/>
              <a:t>Inspect vehicle after recovery and perform necessary maintenance and repairs before proceeding</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67</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4775" b="99318" l="9816" r="89980">
                        <a14:foregroundMark x1="34356" y1="38608" x2="34356" y2="38608"/>
                        <a14:foregroundMark x1="38855" y1="33970" x2="38855" y2="33970"/>
                      </a14:backgroundRemoval>
                    </a14:imgEffect>
                  </a14:imgLayer>
                </a14:imgProps>
              </a:ext>
              <a:ext uri="{28A0092B-C50C-407E-A947-70E740481C1C}">
                <a14:useLocalDpi xmlns:a14="http://schemas.microsoft.com/office/drawing/2010/main" val="0"/>
              </a:ext>
            </a:extLst>
          </a:blip>
          <a:stretch>
            <a:fillRect/>
          </a:stretch>
        </p:blipFill>
        <p:spPr>
          <a:xfrm>
            <a:off x="4531158" y="1988841"/>
            <a:ext cx="2561122" cy="3839764"/>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Golden Keys to successful vehicle recovery:</a:t>
            </a:r>
          </a:p>
          <a:p>
            <a:r>
              <a:rPr lang="en-US" dirty="0" smtClean="0"/>
              <a:t>Practice</a:t>
            </a:r>
          </a:p>
          <a:p>
            <a:r>
              <a:rPr lang="en-US" dirty="0" smtClean="0"/>
              <a:t>Experience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68</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355976" y="1556792"/>
            <a:ext cx="2664296" cy="3994447"/>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Vehicles may need to be recovered from:</a:t>
            </a:r>
          </a:p>
          <a:p>
            <a:r>
              <a:rPr lang="en-US" dirty="0" smtClean="0"/>
              <a:t>Sand</a:t>
            </a:r>
          </a:p>
          <a:p>
            <a:r>
              <a:rPr lang="en-US" dirty="0" smtClean="0"/>
              <a:t>Mud</a:t>
            </a:r>
          </a:p>
          <a:p>
            <a:r>
              <a:rPr lang="en-US" dirty="0" smtClean="0"/>
              <a:t>Water</a:t>
            </a:r>
          </a:p>
          <a:p>
            <a:r>
              <a:rPr lang="en-US" dirty="0" smtClean="0"/>
              <a:t>Rocky terrain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74869" y="1988840"/>
            <a:ext cx="3778531" cy="252028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Vehicle driver must:</a:t>
            </a:r>
          </a:p>
          <a:p>
            <a:r>
              <a:rPr lang="en-US" dirty="0" smtClean="0"/>
              <a:t>Know the recovery gear provided with the vehicle</a:t>
            </a:r>
          </a:p>
          <a:p>
            <a:r>
              <a:rPr lang="en-US" dirty="0" smtClean="0"/>
              <a:t>Know where in/on the vehicle the recovery gear is located</a:t>
            </a:r>
          </a:p>
          <a:p>
            <a:r>
              <a:rPr lang="en-US" dirty="0" smtClean="0"/>
              <a:t>Know the mounting points on the vehicle for recovery gear</a:t>
            </a:r>
          </a:p>
          <a:p>
            <a:r>
              <a:rPr lang="en-US" dirty="0" smtClean="0"/>
              <a:t>Prepare/attach recovery gear in advance</a:t>
            </a:r>
          </a:p>
          <a:p>
            <a:r>
              <a:rPr lang="en-US" dirty="0" smtClean="0"/>
              <a:t>Check recovery gear for safety and readiness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19034" y="1988840"/>
            <a:ext cx="3131840" cy="208891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Recovery gear must be correctly ‘rated’ so it will withstand weights to be applied during recoveries – with reference to:</a:t>
            </a:r>
          </a:p>
          <a:p>
            <a:r>
              <a:rPr lang="en-US" dirty="0" smtClean="0"/>
              <a:t>Snapping breaking of items especially shackles and cables, ropes and straps</a:t>
            </a:r>
          </a:p>
          <a:p>
            <a:r>
              <a:rPr lang="en-US" dirty="0" smtClean="0"/>
              <a:t>Jacks</a:t>
            </a:r>
          </a:p>
          <a:p>
            <a:r>
              <a:rPr lang="en-US" dirty="0" smtClean="0"/>
              <a:t>Winches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Recovery gear might include:</a:t>
            </a:r>
          </a:p>
          <a:p>
            <a:r>
              <a:rPr lang="en-US" dirty="0" smtClean="0"/>
              <a:t>Long-handled shovel</a:t>
            </a:r>
          </a:p>
          <a:p>
            <a:r>
              <a:rPr lang="en-US" dirty="0" err="1" smtClean="0"/>
              <a:t>Tyre</a:t>
            </a:r>
            <a:r>
              <a:rPr lang="en-US" dirty="0" smtClean="0"/>
              <a:t> deflators</a:t>
            </a:r>
          </a:p>
          <a:p>
            <a:r>
              <a:rPr lang="en-US" dirty="0" smtClean="0"/>
              <a:t>Shackles</a:t>
            </a:r>
          </a:p>
          <a:p>
            <a:r>
              <a:rPr lang="en-US" dirty="0" smtClean="0"/>
              <a:t>Drag chains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72</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008165"/>
            <a:ext cx="3096344" cy="3096344"/>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Snatch straps</a:t>
            </a:r>
          </a:p>
          <a:p>
            <a:r>
              <a:rPr lang="en-US" dirty="0" smtClean="0"/>
              <a:t>Winches</a:t>
            </a:r>
          </a:p>
          <a:p>
            <a:r>
              <a:rPr lang="en-US" dirty="0" smtClean="0"/>
              <a:t>Inflatable bags</a:t>
            </a:r>
          </a:p>
          <a:p>
            <a:r>
              <a:rPr lang="en-US" dirty="0" smtClean="0"/>
              <a:t>Jacks</a:t>
            </a:r>
          </a:p>
          <a:p>
            <a:r>
              <a:rPr lang="en-US" dirty="0" smtClean="0"/>
              <a:t>Recovery tracks/sand ladders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73</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3667">
                        <a14:foregroundMark x1="73167" y1="29444" x2="73167" y2="29444"/>
                        <a14:foregroundMark x1="72083" y1="21556" x2="72083" y2="21556"/>
                        <a14:foregroundMark x1="68667" y1="17000" x2="68667" y2="17000"/>
                        <a14:foregroundMark x1="64333" y1="17889" x2="64333" y2="17889"/>
                        <a14:foregroundMark x1="59083" y1="23000" x2="59083" y2="23000"/>
                        <a14:foregroundMark x1="58667" y1="32444" x2="58667" y2="32444"/>
                        <a14:foregroundMark x1="60917" y1="20556" x2="60917" y2="20556"/>
                        <a14:foregroundMark x1="61167" y1="36667" x2="61167" y2="36667"/>
                        <a14:foregroundMark x1="62083" y1="42111" x2="62083" y2="42111"/>
                        <a14:foregroundMark x1="59750" y1="47889" x2="59750" y2="47889"/>
                        <a14:foregroundMark x1="69583" y1="45778" x2="69583" y2="45778"/>
                        <a14:foregroundMark x1="71167" y1="40000" x2="71167" y2="40000"/>
                        <a14:foregroundMark x1="86583" y1="45111" x2="86583" y2="45111"/>
                        <a14:foregroundMark x1="76333" y1="36667" x2="76333" y2="36667"/>
                        <a14:foregroundMark x1="67250" y1="39444" x2="67250" y2="39444"/>
                        <a14:foregroundMark x1="75917" y1="49444" x2="75917" y2="49444"/>
                        <a14:foregroundMark x1="83167" y1="62111" x2="83167" y2="62111"/>
                        <a14:foregroundMark x1="85000" y1="66111" x2="85000" y2="66111"/>
                        <a14:foregroundMark x1="84083" y1="78444" x2="84083" y2="78444"/>
                        <a14:foregroundMark x1="87917" y1="49444" x2="87917" y2="49444"/>
                        <a14:foregroundMark x1="83417" y1="39444" x2="83417" y2="39444"/>
                        <a14:foregroundMark x1="76833" y1="25444" x2="76833" y2="25444"/>
                        <a14:foregroundMark x1="83417" y1="20333" x2="83417" y2="20333"/>
                        <a14:foregroundMark x1="84333" y1="75111" x2="84333" y2="75111"/>
                        <a14:foregroundMark x1="82083" y1="78444" x2="82083" y2="78444"/>
                        <a14:foregroundMark x1="84083" y1="43333" x2="84083" y2="43333"/>
                        <a14:foregroundMark x1="85250" y1="50000" x2="85250" y2="50000"/>
                        <a14:foregroundMark x1="83833" y1="48444" x2="83833" y2="48444"/>
                      </a14:backgroundRemoval>
                    </a14:imgEffect>
                  </a14:imgLayer>
                </a14:imgProps>
              </a:ext>
              <a:ext uri="{28A0092B-C50C-407E-A947-70E740481C1C}">
                <a14:useLocalDpi xmlns:a14="http://schemas.microsoft.com/office/drawing/2010/main" val="0"/>
              </a:ext>
            </a:extLst>
          </a:blip>
          <a:stretch>
            <a:fillRect/>
          </a:stretch>
        </p:blipFill>
        <p:spPr>
          <a:xfrm>
            <a:off x="4067944" y="1974110"/>
            <a:ext cx="4716016" cy="3537012"/>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Accessories:</a:t>
            </a:r>
          </a:p>
          <a:p>
            <a:r>
              <a:rPr lang="en-US" dirty="0" smtClean="0"/>
              <a:t>Winch gloves</a:t>
            </a:r>
          </a:p>
          <a:p>
            <a:r>
              <a:rPr lang="en-US" dirty="0" smtClean="0"/>
              <a:t>Winch extensions</a:t>
            </a:r>
          </a:p>
          <a:p>
            <a:r>
              <a:rPr lang="en-US" dirty="0" smtClean="0"/>
              <a:t>Extension straps</a:t>
            </a:r>
          </a:p>
          <a:p>
            <a:r>
              <a:rPr lang="en-US" dirty="0" smtClean="0"/>
              <a:t>Snatch strap joiners</a:t>
            </a:r>
          </a:p>
          <a:p>
            <a:r>
              <a:rPr lang="en-US" dirty="0" err="1" smtClean="0"/>
              <a:t>Equaliser</a:t>
            </a:r>
            <a:r>
              <a:rPr lang="en-US" dirty="0" smtClean="0"/>
              <a:t> straps</a:t>
            </a:r>
          </a:p>
          <a:p>
            <a:r>
              <a:rPr lang="en-US" dirty="0" smtClean="0"/>
              <a:t>Cable blankets/dampers</a:t>
            </a:r>
          </a:p>
          <a:p>
            <a:r>
              <a:rPr lang="en-US" dirty="0" smtClean="0"/>
              <a:t>Ground anchors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74</a:t>
            </a:fld>
            <a:endParaRPr lang="en-US" dirty="0"/>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4300" t="26901" r="14300" b="23750"/>
          <a:stretch/>
        </p:blipFill>
        <p:spPr>
          <a:xfrm>
            <a:off x="4038359" y="1988840"/>
            <a:ext cx="4104456" cy="283690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Long-handled shovels may be used for:</a:t>
            </a:r>
          </a:p>
          <a:p>
            <a:r>
              <a:rPr lang="en-AU" dirty="0" smtClean="0"/>
              <a:t>Digging away sand or dirt</a:t>
            </a:r>
            <a:endParaRPr lang="en-US" dirty="0" smtClean="0"/>
          </a:p>
          <a:p>
            <a:r>
              <a:rPr lang="en-AU" dirty="0" smtClean="0"/>
              <a:t>Getting rid of debris from tracks/routes</a:t>
            </a:r>
          </a:p>
          <a:p>
            <a:r>
              <a:rPr lang="en-AU" dirty="0" smtClean="0"/>
              <a:t>Removing unwanted soil or material from approach and departure angles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60994" y="1988840"/>
            <a:ext cx="3492406" cy="2329408"/>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Using a snatch strap:</a:t>
            </a:r>
          </a:p>
          <a:p>
            <a:r>
              <a:rPr lang="en-US" dirty="0" smtClean="0"/>
              <a:t>Attach strap to vehicle mounting point/s</a:t>
            </a:r>
          </a:p>
          <a:p>
            <a:r>
              <a:rPr lang="en-US" dirty="0" smtClean="0"/>
              <a:t>Unroll strap/s between vehicles</a:t>
            </a:r>
          </a:p>
          <a:p>
            <a:r>
              <a:rPr lang="en-US" dirty="0" smtClean="0"/>
              <a:t>Add extra strap – if more length is required</a:t>
            </a:r>
          </a:p>
          <a:p>
            <a:r>
              <a:rPr lang="en-US" dirty="0" smtClean="0"/>
              <a:t>Attach strap to retrieving vehicle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76</a:t>
            </a:fld>
            <a:endParaRPr lang="en-US" dirty="0"/>
          </a:p>
        </p:txBody>
      </p:sp>
      <p:pic>
        <p:nvPicPr>
          <p:cNvPr id="8" name="Picture 7"/>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30069" y="1700808"/>
            <a:ext cx="4876800" cy="36576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normAutofit lnSpcReduction="10000"/>
          </a:bodyPr>
          <a:lstStyle/>
          <a:p>
            <a:r>
              <a:rPr lang="en-US" dirty="0" smtClean="0"/>
              <a:t>Use shovel to remove build-up from in front of wheels</a:t>
            </a:r>
          </a:p>
          <a:p>
            <a:r>
              <a:rPr lang="en-US" dirty="0" smtClean="0"/>
              <a:t>Position recovery vehicle in front of trapped vehicle</a:t>
            </a:r>
          </a:p>
          <a:p>
            <a:r>
              <a:rPr lang="en-US" dirty="0" smtClean="0"/>
              <a:t>Place damping blanket over strap</a:t>
            </a:r>
          </a:p>
          <a:p>
            <a:r>
              <a:rPr lang="en-US" dirty="0" smtClean="0"/>
              <a:t>Ensure </a:t>
            </a:r>
            <a:r>
              <a:rPr lang="en-US" dirty="0" err="1" smtClean="0"/>
              <a:t>comms</a:t>
            </a:r>
            <a:r>
              <a:rPr lang="en-US" dirty="0" smtClean="0"/>
              <a:t> between drivers of two vehicles</a:t>
            </a:r>
          </a:p>
          <a:p>
            <a:r>
              <a:rPr lang="en-US" dirty="0" smtClean="0"/>
              <a:t>Start trapped vehicle – 4WD, Low range, first gear </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77</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8996" y="2015836"/>
            <a:ext cx="3617979" cy="271348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Confirm ‘good to go’</a:t>
            </a:r>
          </a:p>
          <a:p>
            <a:r>
              <a:rPr lang="en-US" dirty="0" smtClean="0"/>
              <a:t>Drive recovery vehicle forward at medium/moderate speed – 4WD, Low range, 2nd gear</a:t>
            </a:r>
          </a:p>
          <a:p>
            <a:r>
              <a:rPr lang="en-US" dirty="0" smtClean="0"/>
              <a:t>Accelerate trapped vehicle to assist recovery</a:t>
            </a:r>
          </a:p>
          <a:p>
            <a:r>
              <a:rPr lang="en-US" dirty="0" smtClean="0"/>
              <a:t>Repeat if necessary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78</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6412" b="100000" l="9816" r="89980"/>
                    </a14:imgEffect>
                  </a14:imgLayer>
                </a14:imgProps>
              </a:ext>
              <a:ext uri="{28A0092B-C50C-407E-A947-70E740481C1C}">
                <a14:useLocalDpi xmlns:a14="http://schemas.microsoft.com/office/drawing/2010/main" val="0"/>
              </a:ext>
            </a:extLst>
          </a:blip>
          <a:stretch>
            <a:fillRect/>
          </a:stretch>
        </p:blipFill>
        <p:spPr>
          <a:xfrm>
            <a:off x="4570009" y="1772816"/>
            <a:ext cx="2623433" cy="393318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Using electric winch:</a:t>
            </a:r>
          </a:p>
          <a:p>
            <a:r>
              <a:rPr lang="en-US" dirty="0" smtClean="0"/>
              <a:t>Always wear gloves when using winch</a:t>
            </a:r>
          </a:p>
          <a:p>
            <a:r>
              <a:rPr lang="en-US" dirty="0" smtClean="0"/>
              <a:t>Follow winch manufacturer’s instructions</a:t>
            </a:r>
          </a:p>
          <a:p>
            <a:r>
              <a:rPr lang="en-US" dirty="0" smtClean="0"/>
              <a:t>Unwind cable off the winch</a:t>
            </a:r>
          </a:p>
          <a:p>
            <a:r>
              <a:rPr lang="en-US" dirty="0" smtClean="0"/>
              <a:t>Place tree protector around tree to be used as recovery point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6379" y="2042353"/>
            <a:ext cx="3048000" cy="2033016"/>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Put winch/cable dampener over cable</a:t>
            </a:r>
          </a:p>
          <a:p>
            <a:r>
              <a:rPr lang="en-US" dirty="0" smtClean="0"/>
              <a:t>Take up the slack on the cable</a:t>
            </a:r>
          </a:p>
          <a:p>
            <a:r>
              <a:rPr lang="en-US" dirty="0" smtClean="0"/>
              <a:t>Verify passengers are out of danger (‘Danger Zone’)</a:t>
            </a:r>
          </a:p>
          <a:p>
            <a:r>
              <a:rPr lang="en-US" dirty="0" smtClean="0"/>
              <a:t>Start recovery by engaging winch</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80</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3820" b="100000" l="9816" r="89980">
                        <a14:foregroundMark x1="42945" y1="24420" x2="42945" y2="24420"/>
                      </a14:backgroundRemoval>
                    </a14:imgEffect>
                  </a14:imgLayer>
                </a14:imgProps>
              </a:ext>
              <a:ext uri="{28A0092B-C50C-407E-A947-70E740481C1C}">
                <a14:useLocalDpi xmlns:a14="http://schemas.microsoft.com/office/drawing/2010/main" val="0"/>
              </a:ext>
            </a:extLst>
          </a:blip>
          <a:stretch>
            <a:fillRect/>
          </a:stretch>
        </p:blipFill>
        <p:spPr>
          <a:xfrm>
            <a:off x="4765509" y="1844825"/>
            <a:ext cx="2470787" cy="3704328"/>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Monitor take up of cable on spool of winch</a:t>
            </a:r>
          </a:p>
          <a:p>
            <a:r>
              <a:rPr lang="en-US" dirty="0" smtClean="0"/>
              <a:t>Operate winch to preserve battery of vehicle</a:t>
            </a:r>
          </a:p>
          <a:p>
            <a:r>
              <a:rPr lang="en-US" dirty="0" smtClean="0"/>
              <a:t>Use pulley/snatch blocks to assist if necessary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81</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860032" y="1844824"/>
            <a:ext cx="2736304" cy="3751592"/>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Alternate recovery winches include:</a:t>
            </a:r>
          </a:p>
          <a:p>
            <a:r>
              <a:rPr lang="en-US" dirty="0" smtClean="0"/>
              <a:t>PTO winch</a:t>
            </a:r>
          </a:p>
          <a:p>
            <a:r>
              <a:rPr lang="en-US" dirty="0" smtClean="0"/>
              <a:t>Hydraulic winch</a:t>
            </a:r>
          </a:p>
          <a:p>
            <a:r>
              <a:rPr lang="en-US" dirty="0" smtClean="0"/>
              <a:t>Capstan winch</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2009220"/>
            <a:ext cx="2435984" cy="3436004"/>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Hand-operated winches are available but not commonly used because:</a:t>
            </a:r>
          </a:p>
          <a:p>
            <a:r>
              <a:rPr lang="en-US" dirty="0" smtClean="0"/>
              <a:t>They are bulky to carry</a:t>
            </a:r>
          </a:p>
          <a:p>
            <a:r>
              <a:rPr lang="en-US" dirty="0" smtClean="0"/>
              <a:t>They take time to use</a:t>
            </a:r>
          </a:p>
          <a:p>
            <a:r>
              <a:rPr lang="en-US" dirty="0" smtClean="0"/>
              <a:t>They have limited cable length</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6096" y="1988138"/>
            <a:ext cx="2376264" cy="314073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Using a hand-operated winch:</a:t>
            </a:r>
          </a:p>
          <a:p>
            <a:r>
              <a:rPr lang="en-US" dirty="0" smtClean="0"/>
              <a:t>Follow manufacturer’s instructions</a:t>
            </a:r>
          </a:p>
          <a:p>
            <a:r>
              <a:rPr lang="en-US" dirty="0" smtClean="0"/>
              <a:t>Wear gloves</a:t>
            </a:r>
          </a:p>
          <a:p>
            <a:r>
              <a:rPr lang="en-US" dirty="0" smtClean="0"/>
              <a:t>Attach cable hook to vehicle mounting point on trapped vehicle</a:t>
            </a:r>
          </a:p>
          <a:p>
            <a:r>
              <a:rPr lang="en-US" dirty="0" smtClean="0"/>
              <a:t>Run out cable to recovery point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84</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20072" y="1973941"/>
            <a:ext cx="2017486" cy="3110881"/>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Attach tree protector</a:t>
            </a:r>
          </a:p>
          <a:p>
            <a:r>
              <a:rPr lang="en-US" dirty="0" smtClean="0"/>
              <a:t>Thread cable through winch</a:t>
            </a:r>
          </a:p>
          <a:p>
            <a:r>
              <a:rPr lang="en-US" dirty="0" smtClean="0"/>
              <a:t>Attach winch to tree protector with shackle</a:t>
            </a:r>
          </a:p>
          <a:p>
            <a:r>
              <a:rPr lang="en-US" dirty="0" smtClean="0"/>
              <a:t>Clamp winch onto cable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85</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79" y="1988840"/>
            <a:ext cx="2006793" cy="3240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Drape dampener/blanket over cable</a:t>
            </a:r>
          </a:p>
          <a:p>
            <a:r>
              <a:rPr lang="en-US" dirty="0" smtClean="0"/>
              <a:t>Insert handle into winch</a:t>
            </a:r>
          </a:p>
          <a:p>
            <a:r>
              <a:rPr lang="en-US" dirty="0" smtClean="0"/>
              <a:t>Pump/move handle to start the winching process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86</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1988840"/>
            <a:ext cx="2335431" cy="3420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Using hi-lift jack:</a:t>
            </a:r>
          </a:p>
          <a:p>
            <a:r>
              <a:rPr lang="en-US" dirty="0" smtClean="0"/>
              <a:t>Spray with WD-40</a:t>
            </a:r>
          </a:p>
          <a:p>
            <a:r>
              <a:rPr lang="en-US" dirty="0" smtClean="0"/>
              <a:t>Follow manufacturer’s instructions</a:t>
            </a:r>
          </a:p>
          <a:p>
            <a:r>
              <a:rPr lang="en-US" dirty="0" smtClean="0"/>
              <a:t>Fit jack into base plate</a:t>
            </a:r>
          </a:p>
          <a:p>
            <a:r>
              <a:rPr lang="en-US" dirty="0" smtClean="0"/>
              <a:t>Provide solid surface for lift – to best extent possible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87</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1988840"/>
            <a:ext cx="1828623" cy="3240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Flip out lift plate/bar</a:t>
            </a:r>
          </a:p>
          <a:p>
            <a:r>
              <a:rPr lang="en-US" dirty="0" smtClean="0"/>
              <a:t>Position jack and fit/fix lift plate/bar to vehicle</a:t>
            </a:r>
          </a:p>
          <a:p>
            <a:r>
              <a:rPr lang="en-US" dirty="0" smtClean="0"/>
              <a:t>Move selector to ‘Lift’</a:t>
            </a:r>
          </a:p>
          <a:p>
            <a:r>
              <a:rPr lang="en-US" dirty="0" smtClean="0"/>
              <a:t>Insert jack handle – lift slowly keeping head out of the way</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88</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36959" y="1988840"/>
            <a:ext cx="3997441" cy="2557511"/>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Apply pressure at tip of handle for maximum leverage</a:t>
            </a:r>
          </a:p>
          <a:p>
            <a:r>
              <a:rPr lang="en-US" dirty="0" smtClean="0"/>
              <a:t>Listen for ‘click’ as lift climbs</a:t>
            </a:r>
          </a:p>
          <a:p>
            <a:r>
              <a:rPr lang="en-US" dirty="0" smtClean="0"/>
              <a:t>Lift vehicle clear of obstruction</a:t>
            </a:r>
          </a:p>
          <a:p>
            <a:r>
              <a:rPr lang="en-US" dirty="0" smtClean="0"/>
              <a:t>Insert rocks, timber, tracks or sand ladders</a:t>
            </a:r>
          </a:p>
          <a:p>
            <a:r>
              <a:rPr lang="en-US" dirty="0" smtClean="0"/>
              <a:t>Lower jack – selecting ‘Down’ and operating slowly and using both hands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89</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6016" y="1916832"/>
            <a:ext cx="3177931" cy="2880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Note:</a:t>
            </a:r>
          </a:p>
          <a:p>
            <a:r>
              <a:rPr lang="en-US" dirty="0" smtClean="0"/>
              <a:t>It is also possible to use the hi-lift jack as a winch to recovery a vehicle if no other ‘proper’ or more suitable winch is available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90</a:t>
            </a:fld>
            <a:endParaRPr lang="en-US" dirty="0"/>
          </a:p>
        </p:txBody>
      </p:sp>
      <p:pic>
        <p:nvPicPr>
          <p:cNvPr id="8" name="Picture 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5317" b="100000" l="52797" r="94543">
                        <a14:foregroundMark x1="71487" y1="47444" x2="71487" y2="47444"/>
                        <a14:foregroundMark x1="69168" y1="41513" x2="69168" y2="41513"/>
                        <a14:foregroundMark x1="77353" y1="70143" x2="77353" y2="70143"/>
                        <a14:foregroundMark x1="78308" y1="95910" x2="78308" y2="95910"/>
                      </a14:backgroundRemoval>
                    </a14:imgEffect>
                  </a14:imgLayer>
                </a14:imgProps>
              </a:ext>
              <a:ext uri="{28A0092B-C50C-407E-A947-70E740481C1C}">
                <a14:useLocalDpi xmlns:a14="http://schemas.microsoft.com/office/drawing/2010/main" val="0"/>
              </a:ext>
            </a:extLst>
          </a:blip>
          <a:srcRect l="47637"/>
          <a:stretch/>
        </p:blipFill>
        <p:spPr>
          <a:xfrm>
            <a:off x="5148064" y="1982973"/>
            <a:ext cx="2374239" cy="3024336"/>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Inflatable bags may be used to recover trapped vehicles – by:</a:t>
            </a:r>
          </a:p>
          <a:p>
            <a:r>
              <a:rPr lang="en-US" dirty="0" smtClean="0"/>
              <a:t>Using exhaust gases of the vehicle</a:t>
            </a:r>
          </a:p>
          <a:p>
            <a:r>
              <a:rPr lang="en-US" dirty="0" smtClean="0"/>
              <a:t>Using an air compressor.</a:t>
            </a:r>
          </a:p>
          <a:p>
            <a:r>
              <a:rPr lang="en-US" dirty="0" smtClean="0"/>
              <a:t>Once the vehicle is raised, other items will be required to finish the recovery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91</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312514" y="1977534"/>
            <a:ext cx="2494276" cy="352839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Using inflatable bag:</a:t>
            </a:r>
          </a:p>
          <a:p>
            <a:r>
              <a:rPr lang="en-US" dirty="0" smtClean="0"/>
              <a:t>Unpack bag from carrier</a:t>
            </a:r>
          </a:p>
          <a:p>
            <a:r>
              <a:rPr lang="en-US" dirty="0" smtClean="0"/>
              <a:t>Locate under the vehicle in appropriate position</a:t>
            </a:r>
          </a:p>
          <a:p>
            <a:r>
              <a:rPr lang="en-US" dirty="0" smtClean="0"/>
              <a:t>Check to ensure bag will not be damaged by the vehicle/the lift</a:t>
            </a:r>
          </a:p>
          <a:p>
            <a:r>
              <a:rPr lang="en-US" dirty="0" smtClean="0"/>
              <a:t>Attach inflation hose to bag</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92</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6299"/>
          <a:stretch/>
        </p:blipFill>
        <p:spPr>
          <a:xfrm>
            <a:off x="5148064" y="1988840"/>
            <a:ext cx="1944216" cy="3506268"/>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Start vehicle engine</a:t>
            </a:r>
          </a:p>
          <a:p>
            <a:r>
              <a:rPr lang="en-US" dirty="0" smtClean="0"/>
              <a:t>Attach cone of inflation hose to end of exhaust pipe</a:t>
            </a:r>
          </a:p>
          <a:p>
            <a:r>
              <a:rPr lang="en-US" dirty="0" smtClean="0"/>
              <a:t>Watch as bag inflates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93</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435"/>
          <a:stretch/>
        </p:blipFill>
        <p:spPr>
          <a:xfrm>
            <a:off x="5251783" y="1916832"/>
            <a:ext cx="2265191" cy="3383124"/>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Remove hose from exhaust when bag inflates sufficiently</a:t>
            </a:r>
          </a:p>
          <a:p>
            <a:r>
              <a:rPr lang="en-US" dirty="0" smtClean="0"/>
              <a:t>Insert rocks, wood, tracks or ladder under wheel</a:t>
            </a:r>
          </a:p>
          <a:p>
            <a:r>
              <a:rPr lang="en-US" dirty="0" smtClean="0"/>
              <a:t>Loosen hose connected to bag to lower vehicle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94</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572000" y="2060848"/>
            <a:ext cx="2944000" cy="28800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Sand ladders and other proprietary vehicle tracks can be carried and can be:</a:t>
            </a:r>
          </a:p>
          <a:p>
            <a:r>
              <a:rPr lang="en-US" dirty="0" smtClean="0"/>
              <a:t>Placed under wheel to give better purchase when trying to recover a vehicle</a:t>
            </a:r>
          </a:p>
          <a:p>
            <a:r>
              <a:rPr lang="en-US" dirty="0" smtClean="0"/>
              <a:t>Used to build a ‘bridge’ (or ramp) to help cover otherwise insurmountable rises or gaps</a:t>
            </a:r>
          </a:p>
          <a:p>
            <a:pPr marL="36576" indent="0">
              <a:buNone/>
            </a:pPr>
            <a:r>
              <a:rPr lang="en-US" sz="16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95</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961965" y="2276872"/>
            <a:ext cx="3089757" cy="2923184"/>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pPr marL="36576" indent="0">
              <a:buNone/>
            </a:pPr>
            <a:r>
              <a:rPr lang="en-US" dirty="0" smtClean="0"/>
              <a:t>Using sand ladders/tracks:</a:t>
            </a:r>
          </a:p>
          <a:p>
            <a:r>
              <a:rPr lang="en-US" dirty="0" smtClean="0"/>
              <a:t>Shovel away build-up from in front of </a:t>
            </a:r>
            <a:r>
              <a:rPr lang="en-US" dirty="0" err="1" smtClean="0"/>
              <a:t>tyres</a:t>
            </a:r>
            <a:endParaRPr lang="en-US" dirty="0" smtClean="0"/>
          </a:p>
          <a:p>
            <a:r>
              <a:rPr lang="en-US" dirty="0" smtClean="0"/>
              <a:t>Raise the vehicle/jack up the vehicle</a:t>
            </a:r>
          </a:p>
          <a:p>
            <a:r>
              <a:rPr lang="en-US" dirty="0" smtClean="0"/>
              <a:t>Position ladders/tracks in front of </a:t>
            </a:r>
            <a:r>
              <a:rPr lang="en-US" dirty="0" err="1" smtClean="0"/>
              <a:t>tyres</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96</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364088" y="1961692"/>
            <a:ext cx="1732744" cy="345418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Use a variety of techniques to recover 4-wheel drive vehicles</a:t>
            </a:r>
            <a:endParaRPr lang="en-US" dirty="0"/>
          </a:p>
        </p:txBody>
      </p:sp>
      <p:sp>
        <p:nvSpPr>
          <p:cNvPr id="3" name="Content Placeholder 2"/>
          <p:cNvSpPr>
            <a:spLocks noGrp="1"/>
          </p:cNvSpPr>
          <p:nvPr>
            <p:ph idx="1"/>
          </p:nvPr>
        </p:nvSpPr>
        <p:spPr/>
        <p:txBody>
          <a:bodyPr/>
          <a:lstStyle/>
          <a:p>
            <a:r>
              <a:rPr lang="en-US" dirty="0" smtClean="0"/>
              <a:t>Lower vehicle onto ladder/tracks</a:t>
            </a:r>
          </a:p>
          <a:p>
            <a:r>
              <a:rPr lang="en-US" dirty="0" smtClean="0"/>
              <a:t>Engage 4WD, Low range, 1st gear</a:t>
            </a:r>
          </a:p>
          <a:p>
            <a:r>
              <a:rPr lang="en-US" dirty="0" smtClean="0"/>
              <a:t>Drive slowly forward</a:t>
            </a:r>
          </a:p>
          <a:p>
            <a:r>
              <a:rPr lang="en-US" dirty="0" smtClean="0"/>
              <a:t>Repeat placement of ladders/tracks as many number of times as needed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97</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76056" y="1918770"/>
            <a:ext cx="2158637" cy="2880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r>
              <a:rPr lang="en-US" dirty="0" smtClean="0"/>
              <a:t>Vehicle recoveries often pose risks to passengers and property</a:t>
            </a:r>
          </a:p>
          <a:p>
            <a:r>
              <a:rPr lang="en-US" dirty="0" smtClean="0"/>
              <a:t>Dangers may relate to:</a:t>
            </a:r>
          </a:p>
          <a:p>
            <a:pPr lvl="1"/>
            <a:r>
              <a:rPr lang="en-US" dirty="0" smtClean="0"/>
              <a:t>Risk of vehicle being flooded if trapped in tidal river or beach</a:t>
            </a:r>
          </a:p>
          <a:p>
            <a:pPr lvl="1"/>
            <a:r>
              <a:rPr lang="en-US" dirty="0" smtClean="0"/>
              <a:t>Risk of vehicle slipping, rolling, toppling or moving unexpectedly</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98</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2132856"/>
            <a:ext cx="2002833" cy="28800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r>
              <a:rPr lang="en-US" dirty="0" smtClean="0"/>
              <a:t>Chance of vehicle trapped in water being  pushed over/swept away</a:t>
            </a:r>
          </a:p>
          <a:p>
            <a:r>
              <a:rPr lang="en-US" dirty="0" smtClean="0"/>
              <a:t>Winch cable/recovery rope or strap breaking and springing back to injure people or damage property</a:t>
            </a:r>
          </a:p>
          <a:p>
            <a:r>
              <a:rPr lang="en-US" dirty="0" smtClean="0"/>
              <a:t>Passengers leaving a stranded vehicle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99</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88024" y="2132856"/>
            <a:ext cx="2602525" cy="2880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pPr marL="36576" indent="0">
              <a:buNone/>
            </a:pPr>
            <a:r>
              <a:rPr lang="en-US" dirty="0" smtClean="0"/>
              <a:t>Recovery ‘Danger Zone’:</a:t>
            </a:r>
          </a:p>
          <a:p>
            <a:r>
              <a:rPr lang="en-US" dirty="0" smtClean="0"/>
              <a:t>Area in which passengers/people may be injured when vehicle recovery is being undertaken if something goes wrong</a:t>
            </a:r>
          </a:p>
          <a:p>
            <a:r>
              <a:rPr lang="en-US" dirty="0" smtClean="0"/>
              <a:t>SOP is:</a:t>
            </a:r>
          </a:p>
          <a:p>
            <a:pPr lvl="1"/>
            <a:r>
              <a:rPr lang="en-US" dirty="0" smtClean="0"/>
              <a:t>Remove everyone from the Danger Zone</a:t>
            </a:r>
          </a:p>
          <a:p>
            <a:pPr lvl="1"/>
            <a:r>
              <a:rPr lang="en-US" dirty="0" smtClean="0"/>
              <a:t>Protect them behind a solid barrier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100</a:t>
            </a:fld>
            <a:endParaRPr lang="en-US" dirty="0"/>
          </a:p>
        </p:txBody>
      </p:sp>
      <p:pic>
        <p:nvPicPr>
          <p:cNvPr id="8" name="Picture 7"/>
          <p:cNvPicPr>
            <a:picLocks noChangeAspect="1"/>
          </p:cNvPicPr>
          <p:nvPr/>
        </p:nvPicPr>
        <p:blipFill rotWithShape="1">
          <a:blip r:embed="rId3" cstate="screen">
            <a:clrChange>
              <a:clrFrom>
                <a:srgbClr val="FCFDFF"/>
              </a:clrFrom>
              <a:clrTo>
                <a:srgbClr val="FCFDFF">
                  <a:alpha val="0"/>
                </a:srgbClr>
              </a:clrTo>
            </a:clrChange>
            <a:extLst>
              <a:ext uri="{28A0092B-C50C-407E-A947-70E740481C1C}">
                <a14:useLocalDpi xmlns:a14="http://schemas.microsoft.com/office/drawing/2010/main" val="0"/>
              </a:ext>
            </a:extLst>
          </a:blip>
          <a:srcRect/>
          <a:stretch/>
        </p:blipFill>
        <p:spPr>
          <a:xfrm>
            <a:off x="5220071" y="1916832"/>
            <a:ext cx="2102055" cy="3456384"/>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Factors influencing determination of Danger Zone:</a:t>
            </a:r>
          </a:p>
          <a:p>
            <a:r>
              <a:rPr lang="en-US" dirty="0" smtClean="0"/>
              <a:t>Type of recovery gear being used</a:t>
            </a:r>
          </a:p>
          <a:p>
            <a:r>
              <a:rPr lang="en-AU" dirty="0" smtClean="0"/>
              <a:t>Direction of recovery to be attempted</a:t>
            </a:r>
            <a:endParaRPr lang="en-US" dirty="0" smtClean="0"/>
          </a:p>
          <a:p>
            <a:r>
              <a:rPr lang="en-AU" dirty="0" smtClean="0"/>
              <a:t>Potential for vehicle to roll, slip, topple or fall</a:t>
            </a:r>
            <a:endParaRPr lang="en-US" dirty="0" smtClean="0"/>
          </a:p>
          <a:p>
            <a:r>
              <a:rPr lang="en-AU" dirty="0" smtClean="0"/>
              <a:t>Effect of suction on cable/winch capacity</a:t>
            </a:r>
          </a:p>
          <a:p>
            <a:r>
              <a:rPr lang="en-AU" dirty="0" smtClean="0"/>
              <a:t>Level of difficulty of the recovery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101</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148064" y="1977019"/>
            <a:ext cx="2592288" cy="3539893"/>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pPr marL="36576" indent="0">
              <a:buNone/>
            </a:pPr>
            <a:r>
              <a:rPr lang="en-US" dirty="0" smtClean="0"/>
              <a:t>‘People safety is paramount’ during all recoveries – this means:</a:t>
            </a:r>
          </a:p>
          <a:p>
            <a:r>
              <a:rPr lang="en-AU" dirty="0" smtClean="0"/>
              <a:t>Doing nothing to jeopardise safety of humans</a:t>
            </a:r>
            <a:endParaRPr lang="en-US" dirty="0" smtClean="0"/>
          </a:p>
          <a:p>
            <a:r>
              <a:rPr lang="en-AU" dirty="0" smtClean="0"/>
              <a:t>People take priority over property</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102</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796136" y="1939314"/>
            <a:ext cx="1632586" cy="3240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r>
              <a:rPr lang="en-US" dirty="0" smtClean="0"/>
              <a:t>Passengers safety takes precedence over animals</a:t>
            </a:r>
          </a:p>
          <a:p>
            <a:r>
              <a:rPr lang="en-US" dirty="0" smtClean="0"/>
              <a:t>Passengers take priority over the tour vehicle</a:t>
            </a:r>
          </a:p>
          <a:p>
            <a:r>
              <a:rPr lang="en-US" dirty="0" smtClean="0"/>
              <a:t>The itinerary must not determine safety decisions and actions</a:t>
            </a:r>
          </a:p>
          <a:p>
            <a:r>
              <a:rPr lang="en-US" dirty="0" smtClean="0"/>
              <a:t>Financial considerations must not dictate action taken to ensure safety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103</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989559" y="2204863"/>
            <a:ext cx="3294422" cy="2991601"/>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Preparation for recovery may include:</a:t>
            </a:r>
          </a:p>
          <a:p>
            <a:r>
              <a:rPr lang="en-US" dirty="0" smtClean="0"/>
              <a:t>Check and prepare recovery gear</a:t>
            </a:r>
          </a:p>
          <a:p>
            <a:r>
              <a:rPr lang="en-US" dirty="0" smtClean="0"/>
              <a:t>Check/inspect the recovery route</a:t>
            </a:r>
          </a:p>
          <a:p>
            <a:r>
              <a:rPr lang="en-US" dirty="0" smtClean="0"/>
              <a:t>Check/re-locate/secure items in the vehicle</a:t>
            </a:r>
          </a:p>
          <a:p>
            <a:r>
              <a:rPr lang="en-US" dirty="0" smtClean="0"/>
              <a:t>Advise passengers of identified threats</a:t>
            </a:r>
          </a:p>
          <a:p>
            <a:r>
              <a:rPr lang="en-US" dirty="0" smtClean="0"/>
              <a:t>Give necessary safety advice</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104</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6016" y="1916832"/>
            <a:ext cx="3177931" cy="28800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pPr marL="36576" indent="0">
              <a:buNone/>
            </a:pPr>
            <a:r>
              <a:rPr lang="en-US" dirty="0" smtClean="0"/>
              <a:t>If tour vehicle becomes trapped/stuck, driver and/or tour crew must:</a:t>
            </a:r>
          </a:p>
          <a:p>
            <a:r>
              <a:rPr lang="en-US" dirty="0" smtClean="0"/>
              <a:t>Take control</a:t>
            </a:r>
          </a:p>
          <a:p>
            <a:r>
              <a:rPr lang="en-US" dirty="0" smtClean="0"/>
              <a:t>Show leadership and display confidence</a:t>
            </a:r>
          </a:p>
          <a:p>
            <a:r>
              <a:rPr lang="en-US" dirty="0" smtClean="0"/>
              <a:t>Avoid panic</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105</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1988839"/>
            <a:ext cx="1872208" cy="3657495"/>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r>
              <a:rPr lang="en-US" dirty="0" smtClean="0"/>
              <a:t>Check out the situation the vehicle is in</a:t>
            </a:r>
          </a:p>
          <a:p>
            <a:r>
              <a:rPr lang="en-US" dirty="0" smtClean="0"/>
              <a:t>Work out a plan</a:t>
            </a:r>
          </a:p>
          <a:p>
            <a:r>
              <a:rPr lang="en-US" dirty="0" smtClean="0"/>
              <a:t>Do not rush</a:t>
            </a:r>
          </a:p>
          <a:p>
            <a:r>
              <a:rPr lang="en-US" dirty="0" smtClean="0"/>
              <a:t>Act – rather than react</a:t>
            </a:r>
          </a:p>
          <a:p>
            <a:pPr marL="36576" indent="0">
              <a:buNone/>
            </a:pPr>
            <a:r>
              <a:rPr lang="en-US" sz="16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106</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6016" y="1787780"/>
            <a:ext cx="2880320" cy="3791463"/>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pPr marL="36576" indent="0">
              <a:buNone/>
            </a:pPr>
            <a:r>
              <a:rPr lang="en-US" dirty="0" smtClean="0"/>
              <a:t>Suring a recovery there may be a need to:</a:t>
            </a:r>
          </a:p>
          <a:p>
            <a:r>
              <a:rPr lang="en-US" dirty="0" smtClean="0"/>
              <a:t>Instruct passengers to leave the vehicle</a:t>
            </a:r>
          </a:p>
          <a:p>
            <a:r>
              <a:rPr lang="en-US" dirty="0" smtClean="0"/>
              <a:t>Carry items from the vehicle</a:t>
            </a:r>
          </a:p>
          <a:p>
            <a:r>
              <a:rPr lang="en-US" dirty="0" smtClean="0"/>
              <a:t>Direct passengers to a safe location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107</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572000" y="1867512"/>
            <a:ext cx="2592288" cy="4776192"/>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pPr marL="36576" indent="0">
              <a:buNone/>
            </a:pPr>
            <a:r>
              <a:rPr lang="en-US" dirty="0" smtClean="0"/>
              <a:t>Regarding the involvement of passengers with the actual vehicle recovery process:</a:t>
            </a:r>
          </a:p>
          <a:p>
            <a:r>
              <a:rPr lang="en-US" dirty="0" smtClean="0"/>
              <a:t>Follow Tour Operators SOPs in relation to this – some allow it; some do not</a:t>
            </a:r>
          </a:p>
          <a:p>
            <a:r>
              <a:rPr lang="en-US" dirty="0" smtClean="0"/>
              <a:t>Passengers may see their involvement in the recovery as part of the experience and excitement of the tour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108</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76056" y="2060848"/>
            <a:ext cx="2664296" cy="3318368"/>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Optimise safety for passengers and protection of property</a:t>
            </a:r>
            <a:endParaRPr lang="en-US" dirty="0"/>
          </a:p>
        </p:txBody>
      </p:sp>
      <p:sp>
        <p:nvSpPr>
          <p:cNvPr id="3" name="Content Placeholder 2"/>
          <p:cNvSpPr>
            <a:spLocks noGrp="1"/>
          </p:cNvSpPr>
          <p:nvPr>
            <p:ph idx="1"/>
          </p:nvPr>
        </p:nvSpPr>
        <p:spPr/>
        <p:txBody>
          <a:bodyPr/>
          <a:lstStyle/>
          <a:p>
            <a:pPr marL="36576" indent="0">
              <a:buNone/>
            </a:pPr>
            <a:r>
              <a:rPr lang="en-US" dirty="0" smtClean="0"/>
              <a:t>Passengers may be involved in terms of:</a:t>
            </a:r>
          </a:p>
          <a:p>
            <a:r>
              <a:rPr lang="en-US" dirty="0" smtClean="0"/>
              <a:t>Being spotters and giving directions</a:t>
            </a:r>
          </a:p>
          <a:p>
            <a:r>
              <a:rPr lang="en-US" dirty="0" smtClean="0"/>
              <a:t>Helping with shovel work</a:t>
            </a:r>
          </a:p>
          <a:p>
            <a:r>
              <a:rPr lang="en-US" dirty="0" smtClean="0"/>
              <a:t>Assisting with removal of obstacles</a:t>
            </a:r>
          </a:p>
          <a:p>
            <a:r>
              <a:rPr lang="en-US" dirty="0" smtClean="0"/>
              <a:t>Moving items from and back to the vehicle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109</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88024" y="1772815"/>
            <a:ext cx="2448272" cy="3670573"/>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Inspect vehicle after recovery and perform maintenance/repairs before proceeding</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It is vital to understand:</a:t>
            </a:r>
          </a:p>
          <a:p>
            <a:r>
              <a:rPr lang="en-US" dirty="0" smtClean="0"/>
              <a:t>Greatest potential for repair or maintenance is after a water crossing</a:t>
            </a:r>
          </a:p>
          <a:p>
            <a:r>
              <a:rPr lang="en-US" dirty="0" smtClean="0"/>
              <a:t>Future safety and performance of the vehicle depends on this type of attention</a:t>
            </a:r>
          </a:p>
          <a:p>
            <a:r>
              <a:rPr lang="en-US" dirty="0" smtClean="0"/>
              <a:t>Tourist Operators may prescribe required checks</a:t>
            </a:r>
          </a:p>
          <a:p>
            <a:r>
              <a:rPr lang="en-US" dirty="0" smtClean="0"/>
              <a:t>Many tasks are deferred until vehicle returns at the end of the trip/tour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110</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7367" b="100000" l="9816" r="76687"/>
                    </a14:imgEffect>
                  </a14:imgLayer>
                </a14:imgProps>
              </a:ext>
              <a:ext uri="{28A0092B-C50C-407E-A947-70E740481C1C}">
                <a14:useLocalDpi xmlns:a14="http://schemas.microsoft.com/office/drawing/2010/main" val="0"/>
              </a:ext>
            </a:extLst>
          </a:blip>
          <a:stretch>
            <a:fillRect/>
          </a:stretch>
        </p:blipFill>
        <p:spPr>
          <a:xfrm>
            <a:off x="4788024" y="1700807"/>
            <a:ext cx="2592288" cy="3886489"/>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Inspect vehicle after recovery and perform maintenance/repairs before proceeding</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Checks/action may include:</a:t>
            </a:r>
          </a:p>
          <a:p>
            <a:r>
              <a:rPr lang="en-US" dirty="0" smtClean="0"/>
              <a:t>Checking there is no water in air intake/engine</a:t>
            </a:r>
          </a:p>
          <a:p>
            <a:r>
              <a:rPr lang="en-US" dirty="0" smtClean="0"/>
              <a:t>Inspecting </a:t>
            </a:r>
            <a:r>
              <a:rPr lang="en-US" dirty="0" err="1" smtClean="0"/>
              <a:t>tyres</a:t>
            </a:r>
            <a:r>
              <a:rPr lang="en-US" dirty="0" smtClean="0"/>
              <a:t> for damage (tread and sidewalls)</a:t>
            </a:r>
          </a:p>
          <a:p>
            <a:r>
              <a:rPr lang="en-US" dirty="0" smtClean="0"/>
              <a:t>Re-inflating </a:t>
            </a:r>
            <a:r>
              <a:rPr lang="en-US" dirty="0" err="1" smtClean="0"/>
              <a:t>tyres</a:t>
            </a:r>
            <a:endParaRPr lang="en-US" dirty="0" smtClean="0"/>
          </a:p>
          <a:p>
            <a:r>
              <a:rPr lang="en-US" dirty="0" smtClean="0"/>
              <a:t>Removing spark plugs or injectors and turning engine over</a:t>
            </a:r>
          </a:p>
          <a:p>
            <a:r>
              <a:rPr lang="en-US" dirty="0" smtClean="0"/>
              <a:t>Drying out the brakes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111</a:t>
            </a:fld>
            <a:endParaRPr lang="en-US" dirty="0"/>
          </a:p>
        </p:txBody>
      </p:sp>
      <p:pic>
        <p:nvPicPr>
          <p:cNvPr id="8" name="Picture 7"/>
          <p:cNvPicPr>
            <a:picLocks noChangeAspect="1"/>
          </p:cNvPicPr>
          <p:nvPr/>
        </p:nvPicPr>
        <p:blipFill>
          <a:blip r:embed="rId3" cstate="print">
            <a:extLst>
              <a:ext uri="{BEBA8EAE-BF5A-486C-A8C5-ECC9F3942E4B}">
                <a14:imgProps xmlns:a14="http://schemas.microsoft.com/office/drawing/2010/main">
                  <a14:imgLayer r:embed="rId4">
                    <a14:imgEffect>
                      <a14:backgroundRemoval t="5048" b="100000" l="9816" r="96115">
                        <a14:foregroundMark x1="48875" y1="46385" x2="48875" y2="46385"/>
                        <a14:foregroundMark x1="47035" y1="43247" x2="47035" y2="43247"/>
                        <a14:foregroundMark x1="51738" y1="49250" x2="51738" y2="49250"/>
                        <a14:foregroundMark x1="56442" y1="57162" x2="56442" y2="57162"/>
                        <a14:foregroundMark x1="61145" y1="64666" x2="61145" y2="64666"/>
                      </a14:backgroundRemoval>
                    </a14:imgEffect>
                  </a14:imgLayer>
                </a14:imgProps>
              </a:ext>
              <a:ext uri="{28A0092B-C50C-407E-A947-70E740481C1C}">
                <a14:useLocalDpi xmlns:a14="http://schemas.microsoft.com/office/drawing/2010/main" val="0"/>
              </a:ext>
            </a:extLst>
          </a:blip>
          <a:stretch>
            <a:fillRect/>
          </a:stretch>
        </p:blipFill>
        <p:spPr>
          <a:xfrm>
            <a:off x="4427984" y="1844824"/>
            <a:ext cx="2541240" cy="3809955"/>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Inspect vehicle after recovery and perform maintenance/repairs before proceeding</a:t>
            </a:r>
            <a:endParaRPr lang="en-US" dirty="0"/>
          </a:p>
        </p:txBody>
      </p:sp>
      <p:sp>
        <p:nvSpPr>
          <p:cNvPr id="3" name="Content Placeholder 2"/>
          <p:cNvSpPr>
            <a:spLocks noGrp="1"/>
          </p:cNvSpPr>
          <p:nvPr>
            <p:ph idx="1"/>
          </p:nvPr>
        </p:nvSpPr>
        <p:spPr/>
        <p:txBody>
          <a:bodyPr/>
          <a:lstStyle/>
          <a:p>
            <a:r>
              <a:rPr lang="en-US" dirty="0" smtClean="0"/>
              <a:t>Testing systems and instruments</a:t>
            </a:r>
          </a:p>
          <a:p>
            <a:r>
              <a:rPr lang="en-US" dirty="0" smtClean="0"/>
              <a:t>Cleaning vehicle glass</a:t>
            </a:r>
          </a:p>
          <a:p>
            <a:r>
              <a:rPr lang="en-US" dirty="0" smtClean="0"/>
              <a:t>Replacing plugs or injectors</a:t>
            </a:r>
          </a:p>
          <a:p>
            <a:r>
              <a:rPr lang="en-US" dirty="0" smtClean="0"/>
              <a:t>Applying water displacement products/sprays (WD-40) to electrical parts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112</a:t>
            </a:fld>
            <a:endParaRPr lang="en-US" dirty="0"/>
          </a:p>
        </p:txBody>
      </p:sp>
      <p:pic>
        <p:nvPicPr>
          <p:cNvPr id="8" name="Picture 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349" b="99700" l="4677" r="93764"/>
                    </a14:imgEffect>
                  </a14:imgLayer>
                </a14:imgProps>
              </a:ext>
              <a:ext uri="{28A0092B-C50C-407E-A947-70E740481C1C}">
                <a14:useLocalDpi xmlns:a14="http://schemas.microsoft.com/office/drawing/2010/main" val="0"/>
              </a:ext>
            </a:extLst>
          </a:blip>
          <a:srcRect/>
          <a:stretch/>
        </p:blipFill>
        <p:spPr>
          <a:xfrm>
            <a:off x="4572000" y="1918854"/>
            <a:ext cx="2448272" cy="3638029"/>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Inspect vehicle after recovery and perform maintenance/repairs before proceeding</a:t>
            </a:r>
            <a:endParaRPr lang="en-US" dirty="0"/>
          </a:p>
        </p:txBody>
      </p:sp>
      <p:sp>
        <p:nvSpPr>
          <p:cNvPr id="3" name="Content Placeholder 2"/>
          <p:cNvSpPr>
            <a:spLocks noGrp="1"/>
          </p:cNvSpPr>
          <p:nvPr>
            <p:ph idx="1"/>
          </p:nvPr>
        </p:nvSpPr>
        <p:spPr/>
        <p:txBody>
          <a:bodyPr/>
          <a:lstStyle/>
          <a:p>
            <a:r>
              <a:rPr lang="en-US" dirty="0" smtClean="0"/>
              <a:t>Fixing panel damage</a:t>
            </a:r>
          </a:p>
          <a:p>
            <a:r>
              <a:rPr lang="en-US" dirty="0" smtClean="0"/>
              <a:t>Noting diffs and transmission needs to be checked after immersion in water (to remove any water which may be present)</a:t>
            </a:r>
          </a:p>
          <a:p>
            <a:r>
              <a:rPr lang="en-US" dirty="0" smtClean="0"/>
              <a:t>Rolling recovery cables back onto winch spools</a:t>
            </a:r>
          </a:p>
          <a:p>
            <a:r>
              <a:rPr lang="en-US" dirty="0" smtClean="0"/>
              <a:t>Greasing and oiling parts</a:t>
            </a:r>
          </a:p>
          <a:p>
            <a:r>
              <a:rPr lang="en-US" dirty="0" smtClean="0"/>
              <a:t>Removing physical debris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2098"/>
            <a:ext cx="3048000" cy="2033016"/>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3 – Provide basic maintenance for a 4-WD vehicle</a:t>
            </a:r>
            <a:endParaRPr lang="en-US" dirty="0"/>
          </a:p>
        </p:txBody>
      </p:sp>
      <p:sp>
        <p:nvSpPr>
          <p:cNvPr id="3" name="Content Placeholder 2"/>
          <p:cNvSpPr>
            <a:spLocks noGrp="1"/>
          </p:cNvSpPr>
          <p:nvPr>
            <p:ph idx="1"/>
          </p:nvPr>
        </p:nvSpPr>
        <p:spPr/>
        <p:txBody>
          <a:bodyPr/>
          <a:lstStyle/>
          <a:p>
            <a:pPr marL="36576" indent="0">
              <a:buNone/>
            </a:pPr>
            <a:r>
              <a:rPr lang="en-US" dirty="0" smtClean="0"/>
              <a:t>Performance Criteria for this Element are:</a:t>
            </a:r>
          </a:p>
          <a:p>
            <a:r>
              <a:rPr lang="en-US" dirty="0" smtClean="0"/>
              <a:t>Identify minor faults</a:t>
            </a:r>
          </a:p>
          <a:p>
            <a:r>
              <a:rPr lang="en-US" dirty="0" smtClean="0"/>
              <a:t>Determine cause of faults</a:t>
            </a:r>
          </a:p>
          <a:p>
            <a:r>
              <a:rPr lang="en-US" dirty="0" smtClean="0"/>
              <a:t>Conduct visual inspection of and operational tests on vehicle</a:t>
            </a:r>
          </a:p>
          <a:p>
            <a:r>
              <a:rPr lang="en-US" dirty="0" smtClean="0"/>
              <a:t>Effect necessary repairs</a:t>
            </a:r>
          </a:p>
          <a:p>
            <a:r>
              <a:rPr lang="en-US" dirty="0" smtClean="0"/>
              <a:t>Effect necessary preventative maintenance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114</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48064" y="1988839"/>
            <a:ext cx="2776736" cy="3519311"/>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minor faults</a:t>
            </a:r>
            <a:endParaRPr lang="en-US" dirty="0"/>
          </a:p>
        </p:txBody>
      </p:sp>
      <p:sp>
        <p:nvSpPr>
          <p:cNvPr id="3" name="Content Placeholder 2"/>
          <p:cNvSpPr>
            <a:spLocks noGrp="1"/>
          </p:cNvSpPr>
          <p:nvPr>
            <p:ph idx="1"/>
          </p:nvPr>
        </p:nvSpPr>
        <p:spPr/>
        <p:txBody>
          <a:bodyPr/>
          <a:lstStyle/>
          <a:p>
            <a:pPr marL="36576" indent="0">
              <a:buNone/>
            </a:pPr>
            <a:r>
              <a:rPr lang="en-US" dirty="0" smtClean="0"/>
              <a:t>Ways to identify vehicle faults:</a:t>
            </a:r>
          </a:p>
          <a:p>
            <a:r>
              <a:rPr lang="en-US" dirty="0" smtClean="0"/>
              <a:t>Talk with those who have driven or been in the vehicle:</a:t>
            </a:r>
          </a:p>
          <a:p>
            <a:r>
              <a:rPr lang="en-US" dirty="0" smtClean="0"/>
              <a:t>Asking questions</a:t>
            </a:r>
          </a:p>
          <a:p>
            <a:r>
              <a:rPr lang="en-US" dirty="0" smtClean="0"/>
              <a:t>Listening to what they say</a:t>
            </a:r>
          </a:p>
          <a:p>
            <a:r>
              <a:rPr lang="en-US" dirty="0" smtClean="0"/>
              <a:t>Getting them to indicate problems</a:t>
            </a:r>
          </a:p>
          <a:p>
            <a:r>
              <a:rPr lang="en-US" dirty="0" smtClean="0"/>
              <a:t>Test driving the vehicle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115</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1448639"/>
            <a:ext cx="3168352" cy="4120093"/>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minor faults</a:t>
            </a:r>
            <a:endParaRPr lang="en-US" dirty="0"/>
          </a:p>
        </p:txBody>
      </p:sp>
      <p:sp>
        <p:nvSpPr>
          <p:cNvPr id="3" name="Content Placeholder 2"/>
          <p:cNvSpPr>
            <a:spLocks noGrp="1"/>
          </p:cNvSpPr>
          <p:nvPr>
            <p:ph idx="1"/>
          </p:nvPr>
        </p:nvSpPr>
        <p:spPr/>
        <p:txBody>
          <a:bodyPr/>
          <a:lstStyle/>
          <a:p>
            <a:r>
              <a:rPr lang="en-US" dirty="0" smtClean="0"/>
              <a:t>Running the vehicle in a stationary position</a:t>
            </a:r>
          </a:p>
          <a:p>
            <a:r>
              <a:rPr lang="en-US" dirty="0" smtClean="0"/>
              <a:t>Reading vehicle reports and logs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116</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15954"/>
            <a:ext cx="2494276" cy="3528392"/>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cause of faults</a:t>
            </a:r>
            <a:endParaRPr lang="en-US" dirty="0"/>
          </a:p>
        </p:txBody>
      </p:sp>
      <p:sp>
        <p:nvSpPr>
          <p:cNvPr id="3" name="Content Placeholder 2"/>
          <p:cNvSpPr>
            <a:spLocks noGrp="1"/>
          </p:cNvSpPr>
          <p:nvPr>
            <p:ph idx="1"/>
          </p:nvPr>
        </p:nvSpPr>
        <p:spPr/>
        <p:txBody>
          <a:bodyPr/>
          <a:lstStyle/>
          <a:p>
            <a:pPr marL="36576" indent="0">
              <a:buNone/>
            </a:pPr>
            <a:r>
              <a:rPr lang="en-US" dirty="0" smtClean="0"/>
              <a:t>In reality the process of identifying cause of faults (‘diagnosing faults’ or ‘troubleshooting’):</a:t>
            </a:r>
          </a:p>
          <a:p>
            <a:r>
              <a:rPr lang="en-US" dirty="0" smtClean="0"/>
              <a:t>Is often not straight-forward</a:t>
            </a:r>
          </a:p>
          <a:p>
            <a:r>
              <a:rPr lang="en-US" dirty="0" smtClean="0"/>
              <a:t>Can be very time consuming</a:t>
            </a:r>
          </a:p>
          <a:p>
            <a:r>
              <a:rPr lang="en-US" dirty="0" smtClean="0"/>
              <a:t>Can be difficult in terms of replicating the problem so the  fault/cause can be identified</a:t>
            </a:r>
          </a:p>
          <a:p>
            <a:r>
              <a:rPr lang="en-US" dirty="0" smtClean="0"/>
              <a:t>Can be more difficult than actually fixing the problem</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117</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b="-6299"/>
          <a:stretch/>
        </p:blipFill>
        <p:spPr>
          <a:xfrm>
            <a:off x="5148064" y="1988840"/>
            <a:ext cx="2016224" cy="363613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cause of faults</a:t>
            </a:r>
            <a:endParaRPr lang="en-US" dirty="0"/>
          </a:p>
        </p:txBody>
      </p:sp>
      <p:sp>
        <p:nvSpPr>
          <p:cNvPr id="3" name="Content Placeholder 2"/>
          <p:cNvSpPr>
            <a:spLocks noGrp="1"/>
          </p:cNvSpPr>
          <p:nvPr>
            <p:ph idx="1"/>
          </p:nvPr>
        </p:nvSpPr>
        <p:spPr/>
        <p:txBody>
          <a:bodyPr/>
          <a:lstStyle/>
          <a:p>
            <a:pPr marL="36576" indent="0">
              <a:buNone/>
            </a:pPr>
            <a:r>
              <a:rPr lang="en-US" dirty="0" smtClean="0"/>
              <a:t>Practices for diagnosing faults:</a:t>
            </a:r>
          </a:p>
          <a:p>
            <a:r>
              <a:rPr lang="en-US" dirty="0" err="1" smtClean="0"/>
              <a:t>Analysing</a:t>
            </a:r>
            <a:r>
              <a:rPr lang="en-US" dirty="0" smtClean="0"/>
              <a:t> information gained from fault identification process</a:t>
            </a:r>
          </a:p>
          <a:p>
            <a:r>
              <a:rPr lang="en-US" dirty="0" smtClean="0"/>
              <a:t>Using diagnostic flowcharts</a:t>
            </a:r>
          </a:p>
          <a:p>
            <a:r>
              <a:rPr lang="en-US" dirty="0" smtClean="0"/>
              <a:t>Using on-board diagnostics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118</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b="-435"/>
          <a:stretch/>
        </p:blipFill>
        <p:spPr>
          <a:xfrm>
            <a:off x="5251783" y="1916832"/>
            <a:ext cx="2265191" cy="3383124"/>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cause of faults</a:t>
            </a:r>
            <a:endParaRPr lang="en-US" dirty="0"/>
          </a:p>
        </p:txBody>
      </p:sp>
      <p:sp>
        <p:nvSpPr>
          <p:cNvPr id="3" name="Content Placeholder 2"/>
          <p:cNvSpPr>
            <a:spLocks noGrp="1"/>
          </p:cNvSpPr>
          <p:nvPr>
            <p:ph idx="1"/>
          </p:nvPr>
        </p:nvSpPr>
        <p:spPr/>
        <p:txBody>
          <a:bodyPr/>
          <a:lstStyle/>
          <a:p>
            <a:r>
              <a:rPr lang="en-US" dirty="0" smtClean="0"/>
              <a:t>Referring to service, owner, operator manuals</a:t>
            </a:r>
          </a:p>
          <a:p>
            <a:r>
              <a:rPr lang="en-US" dirty="0" smtClean="0"/>
              <a:t>Seeking advice from vehicle manufacturer</a:t>
            </a:r>
          </a:p>
          <a:p>
            <a:r>
              <a:rPr lang="en-US" dirty="0" smtClean="0"/>
              <a:t>Referring to personal experience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119</a:t>
            </a:fld>
            <a:endParaRPr lang="en-US" dirty="0"/>
          </a:p>
        </p:txBody>
      </p:sp>
      <p:grpSp>
        <p:nvGrpSpPr>
          <p:cNvPr id="8" name="Group 7"/>
          <p:cNvGrpSpPr/>
          <p:nvPr/>
        </p:nvGrpSpPr>
        <p:grpSpPr>
          <a:xfrm>
            <a:off x="5182515" y="2154143"/>
            <a:ext cx="2698498" cy="2394788"/>
            <a:chOff x="4755216" y="2367762"/>
            <a:chExt cx="2698498" cy="2394788"/>
          </a:xfrm>
        </p:grpSpPr>
        <p:pic>
          <p:nvPicPr>
            <p:cNvPr id="9" name="Picture 2" descr="http://workshoprepairmanual.com.au/media/ecom/prodlg/Mitsubishi-Pajero-4WD-Petrol-Diesel11-m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5216" y="2492896"/>
              <a:ext cx="1752629" cy="226965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orkshoprepairmanual.com.au/media/ecom/prodlg/Hi-Lux-4Runner-Petrol-Repair-Workshop-Manua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85241">
              <a:off x="5609815" y="2367762"/>
              <a:ext cx="1843899" cy="2304874"/>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cause of faults</a:t>
            </a:r>
            <a:endParaRPr lang="en-US" dirty="0"/>
          </a:p>
        </p:txBody>
      </p:sp>
      <p:sp>
        <p:nvSpPr>
          <p:cNvPr id="3" name="Content Placeholder 2"/>
          <p:cNvSpPr>
            <a:spLocks noGrp="1"/>
          </p:cNvSpPr>
          <p:nvPr>
            <p:ph idx="1"/>
          </p:nvPr>
        </p:nvSpPr>
        <p:spPr/>
        <p:txBody>
          <a:bodyPr/>
          <a:lstStyle/>
          <a:p>
            <a:r>
              <a:rPr lang="en-US" dirty="0" smtClean="0"/>
              <a:t>Loading vehicle onto jacks or stands</a:t>
            </a:r>
          </a:p>
          <a:p>
            <a:r>
              <a:rPr lang="en-US" dirty="0" smtClean="0"/>
              <a:t>Using sensory appraisal</a:t>
            </a:r>
          </a:p>
          <a:p>
            <a:r>
              <a:rPr lang="en-US" dirty="0" smtClean="0"/>
              <a:t>Monitoring on-board instrument panel</a:t>
            </a:r>
          </a:p>
          <a:p>
            <a:r>
              <a:rPr lang="en-US" dirty="0" smtClean="0"/>
              <a:t>Monitoring externally-attached testing equipment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120</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572000" y="2060848"/>
            <a:ext cx="2944000" cy="2880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Conduct visual inspection of and operational tests on vehicle</a:t>
            </a:r>
            <a:endParaRPr lang="en-US" dirty="0"/>
          </a:p>
        </p:txBody>
      </p:sp>
      <p:sp>
        <p:nvSpPr>
          <p:cNvPr id="3" name="Content Placeholder 2"/>
          <p:cNvSpPr>
            <a:spLocks noGrp="1"/>
          </p:cNvSpPr>
          <p:nvPr>
            <p:ph idx="1"/>
          </p:nvPr>
        </p:nvSpPr>
        <p:spPr/>
        <p:txBody>
          <a:bodyPr/>
          <a:lstStyle/>
          <a:p>
            <a:pPr marL="36576" indent="0">
              <a:buNone/>
            </a:pPr>
            <a:r>
              <a:rPr lang="en-US" dirty="0" smtClean="0"/>
              <a:t>Activities in the visual inspection process:</a:t>
            </a:r>
          </a:p>
          <a:p>
            <a:r>
              <a:rPr lang="en-US" dirty="0" smtClean="0"/>
              <a:t>Look at and under the vehicle – lift the vehicle off the ground if possible</a:t>
            </a:r>
          </a:p>
          <a:p>
            <a:r>
              <a:rPr lang="en-US" dirty="0" smtClean="0"/>
              <a:t>Light the areas being inspected</a:t>
            </a:r>
          </a:p>
          <a:p>
            <a:pPr marL="36576" indent="0">
              <a:buNone/>
            </a:pPr>
            <a:r>
              <a:rPr lang="en-US" sz="1400" b="1" dirty="0" smtClean="0"/>
              <a:t>(Continued)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Conduct visual inspection of and operational tests on vehicle</a:t>
            </a:r>
            <a:endParaRPr lang="en-US" dirty="0"/>
          </a:p>
        </p:txBody>
      </p:sp>
      <p:sp>
        <p:nvSpPr>
          <p:cNvPr id="3" name="Content Placeholder 2"/>
          <p:cNvSpPr>
            <a:spLocks noGrp="1"/>
          </p:cNvSpPr>
          <p:nvPr>
            <p:ph idx="1"/>
          </p:nvPr>
        </p:nvSpPr>
        <p:spPr/>
        <p:txBody>
          <a:bodyPr/>
          <a:lstStyle/>
          <a:p>
            <a:r>
              <a:rPr lang="en-US" dirty="0" smtClean="0"/>
              <a:t>Use a ‘Vehicle Inspection Checklist’</a:t>
            </a:r>
          </a:p>
          <a:p>
            <a:r>
              <a:rPr lang="en-US" dirty="0" smtClean="0"/>
              <a:t>Inspect the vehicle in pairs</a:t>
            </a:r>
          </a:p>
          <a:p>
            <a:pPr marL="36576" indent="0">
              <a:buNone/>
            </a:pPr>
            <a:r>
              <a:rPr lang="en-US" sz="1400" b="1" dirty="0" smtClean="0"/>
              <a:t>(Continued)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6344" y="1772816"/>
            <a:ext cx="2438400" cy="24384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Conduct visual inspection of and operational tests on vehicle</a:t>
            </a:r>
            <a:endParaRPr lang="en-US" dirty="0"/>
          </a:p>
        </p:txBody>
      </p:sp>
      <p:sp>
        <p:nvSpPr>
          <p:cNvPr id="3" name="Content Placeholder 2"/>
          <p:cNvSpPr>
            <a:spLocks noGrp="1"/>
          </p:cNvSpPr>
          <p:nvPr>
            <p:ph idx="1"/>
          </p:nvPr>
        </p:nvSpPr>
        <p:spPr/>
        <p:txBody>
          <a:bodyPr/>
          <a:lstStyle/>
          <a:p>
            <a:r>
              <a:rPr lang="en-US" dirty="0" smtClean="0"/>
              <a:t>Look for signs of damage</a:t>
            </a:r>
          </a:p>
          <a:p>
            <a:r>
              <a:rPr lang="en-US" dirty="0" smtClean="0"/>
              <a:t>Look for missing parts</a:t>
            </a:r>
          </a:p>
          <a:p>
            <a:pPr marL="36576" indent="0">
              <a:buNone/>
            </a:pPr>
            <a:r>
              <a:rPr lang="en-US" sz="1400" b="1" dirty="0" smtClean="0"/>
              <a:t>(Continued)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Conduct visual inspection of and operational tests on vehicle</a:t>
            </a:r>
            <a:endParaRPr lang="en-US" dirty="0"/>
          </a:p>
        </p:txBody>
      </p:sp>
      <p:sp>
        <p:nvSpPr>
          <p:cNvPr id="3" name="Content Placeholder 2"/>
          <p:cNvSpPr>
            <a:spLocks noGrp="1"/>
          </p:cNvSpPr>
          <p:nvPr>
            <p:ph idx="1"/>
          </p:nvPr>
        </p:nvSpPr>
        <p:spPr/>
        <p:txBody>
          <a:bodyPr/>
          <a:lstStyle/>
          <a:p>
            <a:r>
              <a:rPr lang="en-US" dirty="0" smtClean="0"/>
              <a:t>Note leaking fluids</a:t>
            </a:r>
          </a:p>
          <a:p>
            <a:r>
              <a:rPr lang="en-US" dirty="0" smtClean="0"/>
              <a:t>Identify projections from the vehicle</a:t>
            </a:r>
          </a:p>
          <a:p>
            <a:r>
              <a:rPr lang="en-US" dirty="0" smtClean="0"/>
              <a:t>Take on-the-spot action to fix simple problems</a:t>
            </a:r>
          </a:p>
          <a:p>
            <a:r>
              <a:rPr lang="en-US" dirty="0" smtClean="0"/>
              <a:t>Check condition of vehicle components</a:t>
            </a:r>
          </a:p>
          <a:p>
            <a:r>
              <a:rPr lang="en-US" dirty="0" smtClean="0"/>
              <a:t>Check fluid levels</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124</a:t>
            </a:fld>
            <a:endParaRPr lang="en-US" dirty="0"/>
          </a:p>
        </p:txBody>
      </p:sp>
      <p:pic>
        <p:nvPicPr>
          <p:cNvPr id="8" name="Picture 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232" b="75989" l="20810" r="100000">
                        <a14:foregroundMark x1="52855" y1="72988" x2="52855" y2="72988"/>
                        <a14:foregroundMark x1="56906" y1="67804" x2="56906" y2="67804"/>
                        <a14:foregroundMark x1="60958" y1="72988" x2="60958" y2="72988"/>
                      </a14:backgroundRemoval>
                    </a14:imgEffect>
                  </a14:imgLayer>
                </a14:imgProps>
              </a:ext>
              <a:ext uri="{28A0092B-C50C-407E-A947-70E740481C1C}">
                <a14:useLocalDpi xmlns:a14="http://schemas.microsoft.com/office/drawing/2010/main" val="0"/>
              </a:ext>
            </a:extLst>
          </a:blip>
          <a:srcRect l="21267" t="9837" b="24013"/>
          <a:stretch/>
        </p:blipFill>
        <p:spPr>
          <a:xfrm>
            <a:off x="5004048" y="1975290"/>
            <a:ext cx="2421992" cy="2749854"/>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Conduct visual inspection of and operational tests on vehicle</a:t>
            </a:r>
            <a:endParaRPr lang="en-US" dirty="0"/>
          </a:p>
        </p:txBody>
      </p:sp>
      <p:sp>
        <p:nvSpPr>
          <p:cNvPr id="3" name="Content Placeholder 2"/>
          <p:cNvSpPr>
            <a:spLocks noGrp="1"/>
          </p:cNvSpPr>
          <p:nvPr>
            <p:ph idx="1"/>
          </p:nvPr>
        </p:nvSpPr>
        <p:spPr/>
        <p:txBody>
          <a:bodyPr/>
          <a:lstStyle/>
          <a:p>
            <a:pPr marL="36576" indent="0">
              <a:buNone/>
            </a:pPr>
            <a:r>
              <a:rPr lang="en-US" dirty="0" smtClean="0"/>
              <a:t>Basic tests to conduct:</a:t>
            </a:r>
          </a:p>
          <a:p>
            <a:r>
              <a:rPr lang="en-US" dirty="0" smtClean="0"/>
              <a:t>Operation and condition of lights</a:t>
            </a:r>
          </a:p>
          <a:p>
            <a:r>
              <a:rPr lang="en-US" dirty="0" smtClean="0"/>
              <a:t>Condition and travel of vehicle pedals</a:t>
            </a:r>
          </a:p>
          <a:p>
            <a:r>
              <a:rPr lang="en-US" dirty="0" smtClean="0"/>
              <a:t>Operation of parking brake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125</a:t>
            </a:fld>
            <a:endParaRPr lang="en-US" dirty="0"/>
          </a:p>
        </p:txBody>
      </p:sp>
      <p:pic>
        <p:nvPicPr>
          <p:cNvPr id="8" name="Picture 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4200" r="30200" b="22563"/>
          <a:stretch/>
        </p:blipFill>
        <p:spPr>
          <a:xfrm>
            <a:off x="5007635" y="1772816"/>
            <a:ext cx="2437505" cy="2760902"/>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 change light globe:</a:t>
            </a:r>
          </a:p>
          <a:p>
            <a:r>
              <a:rPr lang="en-US" dirty="0" smtClean="0"/>
              <a:t>Identify light to be changed</a:t>
            </a:r>
          </a:p>
          <a:p>
            <a:r>
              <a:rPr lang="en-US" dirty="0" smtClean="0"/>
              <a:t>Obtain correct globe (or unit)</a:t>
            </a:r>
          </a:p>
          <a:p>
            <a:r>
              <a:rPr lang="en-US" dirty="0" smtClean="0"/>
              <a:t>Remove light cover</a:t>
            </a:r>
          </a:p>
          <a:p>
            <a:r>
              <a:rPr lang="en-US" dirty="0" smtClean="0"/>
              <a:t>Unplug electrical connector</a:t>
            </a:r>
          </a:p>
          <a:p>
            <a:r>
              <a:rPr lang="en-US" dirty="0" smtClean="0"/>
              <a:t>Remove entire unit, if necessary</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126</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60032" y="1968920"/>
            <a:ext cx="2520280" cy="3652579"/>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Disconnect globe from holder</a:t>
            </a:r>
          </a:p>
          <a:p>
            <a:r>
              <a:rPr lang="en-US" dirty="0" smtClean="0"/>
              <a:t>Remove old globe noting how it sits</a:t>
            </a:r>
          </a:p>
          <a:p>
            <a:r>
              <a:rPr lang="en-US" dirty="0" smtClean="0"/>
              <a:t>Insert new globe – avoid glass contact with fingers</a:t>
            </a:r>
          </a:p>
          <a:p>
            <a:r>
              <a:rPr lang="en-US" dirty="0" smtClean="0"/>
              <a:t>Re-attach connectors and fittings</a:t>
            </a:r>
          </a:p>
          <a:p>
            <a:r>
              <a:rPr lang="en-US" dirty="0" smtClean="0"/>
              <a:t>Test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127</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60032" y="1968920"/>
            <a:ext cx="2520280" cy="3652579"/>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 change fan belt:</a:t>
            </a:r>
          </a:p>
          <a:p>
            <a:r>
              <a:rPr lang="en-US" dirty="0" smtClean="0"/>
              <a:t>Release tension on old belt at bolt on tensioner rail</a:t>
            </a:r>
          </a:p>
          <a:p>
            <a:r>
              <a:rPr lang="en-US" dirty="0" smtClean="0"/>
              <a:t>Move alternator to allow free play in old belt</a:t>
            </a:r>
          </a:p>
          <a:p>
            <a:r>
              <a:rPr lang="en-US" dirty="0" smtClean="0"/>
              <a:t>Remove old belt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128</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508104" y="2204864"/>
            <a:ext cx="2592288" cy="2587734"/>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Fit new belt looping it over alternator and water pump pulleys</a:t>
            </a:r>
          </a:p>
          <a:p>
            <a:r>
              <a:rPr lang="en-US" dirty="0" smtClean="0"/>
              <a:t>Re-locate alternator to bring tension on the belt</a:t>
            </a:r>
          </a:p>
          <a:p>
            <a:r>
              <a:rPr lang="en-US" dirty="0" smtClean="0"/>
              <a:t>Tighten bolt on tensioner rail</a:t>
            </a:r>
          </a:p>
          <a:p>
            <a:r>
              <a:rPr lang="en-US" dirty="0" smtClean="0"/>
              <a:t>Run engine and adjust belt if/as required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129</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369689" y="2250801"/>
            <a:ext cx="2744178" cy="2986192"/>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 change/replace a fuse:</a:t>
            </a:r>
          </a:p>
          <a:p>
            <a:r>
              <a:rPr lang="en-US" dirty="0" smtClean="0"/>
              <a:t>Locate fuse box/block</a:t>
            </a:r>
          </a:p>
          <a:p>
            <a:r>
              <a:rPr lang="en-US" dirty="0" smtClean="0"/>
              <a:t>Remove cover</a:t>
            </a:r>
          </a:p>
          <a:p>
            <a:r>
              <a:rPr lang="en-US" dirty="0" smtClean="0"/>
              <a:t>Read key to fuses</a:t>
            </a:r>
          </a:p>
          <a:p>
            <a:r>
              <a:rPr lang="en-US" dirty="0" smtClean="0"/>
              <a:t>Remove old fuse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06189"/>
            <a:ext cx="3048000" cy="2033016"/>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Insert new fuse</a:t>
            </a:r>
          </a:p>
          <a:p>
            <a:r>
              <a:rPr lang="en-US" dirty="0" smtClean="0"/>
              <a:t>Verify spare fuses remain available for later use</a:t>
            </a:r>
          </a:p>
          <a:p>
            <a:r>
              <a:rPr lang="en-US" dirty="0" smtClean="0"/>
              <a:t>Test vehicle to verify new fuse is working</a:t>
            </a:r>
          </a:p>
          <a:p>
            <a:r>
              <a:rPr lang="en-US" dirty="0" smtClean="0"/>
              <a:t>Replace fuse box/block cover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131</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481638" y="2420888"/>
            <a:ext cx="2520280" cy="2330295"/>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 change radiator hose:</a:t>
            </a:r>
          </a:p>
          <a:p>
            <a:r>
              <a:rPr lang="en-US" dirty="0" smtClean="0"/>
              <a:t>Allow motor to cool – remove radiator cap</a:t>
            </a:r>
          </a:p>
          <a:p>
            <a:r>
              <a:rPr lang="en-US" dirty="0" smtClean="0"/>
              <a:t>Drain radiator – by plug or removing bottom hose</a:t>
            </a:r>
          </a:p>
          <a:p>
            <a:r>
              <a:rPr lang="en-US" dirty="0" smtClean="0"/>
              <a:t>Use pliers to release clamp holding hose in place</a:t>
            </a:r>
          </a:p>
          <a:p>
            <a:r>
              <a:rPr lang="en-US" dirty="0" smtClean="0"/>
              <a:t>Replace thermostat at this time too?</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17629"/>
            <a:ext cx="3048000" cy="2033016"/>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Clean parts to which hose was clamped</a:t>
            </a:r>
          </a:p>
          <a:p>
            <a:r>
              <a:rPr lang="en-US" dirty="0" smtClean="0"/>
              <a:t>Determine if new hose clamps are needed</a:t>
            </a:r>
          </a:p>
          <a:p>
            <a:r>
              <a:rPr lang="en-US" dirty="0" smtClean="0"/>
              <a:t>Position clamps near end of hose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133</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580112" y="2132856"/>
            <a:ext cx="2016224" cy="3479188"/>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Re-attach hose to radiator tightening clamps</a:t>
            </a:r>
          </a:p>
          <a:p>
            <a:r>
              <a:rPr lang="en-US" dirty="0" smtClean="0"/>
              <a:t>Fill radiator</a:t>
            </a:r>
          </a:p>
          <a:p>
            <a:r>
              <a:rPr lang="en-US" dirty="0" smtClean="0"/>
              <a:t>Run and check for leaks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134</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364088" y="1988839"/>
            <a:ext cx="2664296" cy="2874969"/>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Points to note when checking/topping up radiator:</a:t>
            </a:r>
          </a:p>
          <a:p>
            <a:r>
              <a:rPr lang="en-US" dirty="0" smtClean="0"/>
              <a:t>Allow engine to cool</a:t>
            </a:r>
          </a:p>
          <a:p>
            <a:r>
              <a:rPr lang="en-US" dirty="0" smtClean="0"/>
              <a:t>Check on level ground</a:t>
            </a:r>
          </a:p>
          <a:p>
            <a:r>
              <a:rPr lang="en-US" dirty="0" smtClean="0"/>
              <a:t>Add coolant if required</a:t>
            </a:r>
          </a:p>
          <a:p>
            <a:r>
              <a:rPr lang="en-US" dirty="0" smtClean="0"/>
              <a:t>Wear protective eyewear</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135</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6016" y="1445536"/>
            <a:ext cx="1913482" cy="5062192"/>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Topping-up radiator:</a:t>
            </a:r>
          </a:p>
          <a:p>
            <a:r>
              <a:rPr lang="en-US" dirty="0" smtClean="0"/>
              <a:t>Remove cap from radiator or water reservoir/tank</a:t>
            </a:r>
          </a:p>
          <a:p>
            <a:r>
              <a:rPr lang="en-US" dirty="0" smtClean="0"/>
              <a:t>Mix coolant and water</a:t>
            </a:r>
          </a:p>
          <a:p>
            <a:r>
              <a:rPr lang="en-US" dirty="0" smtClean="0"/>
              <a:t>Add mixture observing ‘Min-Max’ levels</a:t>
            </a:r>
          </a:p>
          <a:p>
            <a:r>
              <a:rPr lang="en-US" dirty="0" smtClean="0"/>
              <a:t>Replace cap/cover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136</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88023" y="2060848"/>
            <a:ext cx="2673977" cy="3456384"/>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 top-up brake fluid:</a:t>
            </a:r>
          </a:p>
          <a:p>
            <a:r>
              <a:rPr lang="en-US" dirty="0" smtClean="0"/>
              <a:t>Wear protective gloves and eyewear</a:t>
            </a:r>
          </a:p>
          <a:p>
            <a:r>
              <a:rPr lang="en-US" dirty="0" smtClean="0"/>
              <a:t>Identify level of brake fluid in brake fluid reservoir</a:t>
            </a:r>
          </a:p>
          <a:p>
            <a:r>
              <a:rPr lang="en-US" dirty="0" smtClean="0"/>
              <a:t>Clean top and around cap of brake fluid reservoir before removing it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02714"/>
            <a:ext cx="3048000" cy="228600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Pour brake fluid directly into brake fluid reservoir</a:t>
            </a:r>
          </a:p>
          <a:p>
            <a:r>
              <a:rPr lang="en-US" dirty="0" smtClean="0"/>
              <a:t>Fill only to ‘Max’ line</a:t>
            </a:r>
          </a:p>
          <a:p>
            <a:r>
              <a:rPr lang="en-US" dirty="0" smtClean="0"/>
              <a:t>Replace and secure cap of brake fluid reservoir</a:t>
            </a:r>
          </a:p>
          <a:p>
            <a:r>
              <a:rPr lang="en-US" dirty="0" smtClean="0"/>
              <a:t>Wipe away any spills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138</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76056" y="1417638"/>
            <a:ext cx="1656184" cy="5007429"/>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Points to note when checking auto transmission fluid:</a:t>
            </a:r>
          </a:p>
          <a:p>
            <a:r>
              <a:rPr lang="en-US" dirty="0" smtClean="0"/>
              <a:t>Wear protective eyewear</a:t>
            </a:r>
          </a:p>
          <a:p>
            <a:r>
              <a:rPr lang="en-US" dirty="0" smtClean="0"/>
              <a:t>Park on flat ground</a:t>
            </a:r>
          </a:p>
          <a:p>
            <a:r>
              <a:rPr lang="en-US" dirty="0" smtClean="0"/>
              <a:t>Make sure engine is at operating temperature</a:t>
            </a:r>
          </a:p>
          <a:p>
            <a:r>
              <a:rPr lang="en-US" dirty="0" smtClean="0"/>
              <a:t>Check to see if engine needs to be running or not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139</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76056" y="1954915"/>
            <a:ext cx="2448272" cy="3541511"/>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Topping-up automatic transmission fluid:</a:t>
            </a:r>
          </a:p>
          <a:p>
            <a:r>
              <a:rPr lang="en-US" dirty="0" smtClean="0"/>
              <a:t>Locate correct dipstick</a:t>
            </a:r>
          </a:p>
          <a:p>
            <a:r>
              <a:rPr lang="en-US" dirty="0" smtClean="0"/>
              <a:t>Remove dipstick</a:t>
            </a:r>
          </a:p>
          <a:p>
            <a:r>
              <a:rPr lang="en-US" dirty="0" smtClean="0"/>
              <a:t>Wipe dipstick clean</a:t>
            </a:r>
          </a:p>
          <a:p>
            <a:r>
              <a:rPr lang="en-US" dirty="0" smtClean="0"/>
              <a:t>Re-insert dipstick</a:t>
            </a:r>
          </a:p>
          <a:p>
            <a:r>
              <a:rPr lang="en-US" dirty="0" smtClean="0"/>
              <a:t>Remove dipstick</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140</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6276" b="100000" l="9816" r="89980"/>
                    </a14:imgEffect>
                  </a14:imgLayer>
                </a14:imgProps>
              </a:ext>
              <a:ext uri="{28A0092B-C50C-407E-A947-70E740481C1C}">
                <a14:useLocalDpi xmlns:a14="http://schemas.microsoft.com/office/drawing/2010/main" val="0"/>
              </a:ext>
            </a:extLst>
          </a:blip>
          <a:srcRect l="16618" t="5845" r="19117"/>
          <a:stretch/>
        </p:blipFill>
        <p:spPr>
          <a:xfrm>
            <a:off x="5004047" y="2348880"/>
            <a:ext cx="1584177" cy="3479724"/>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Read level on dipstick</a:t>
            </a:r>
          </a:p>
          <a:p>
            <a:r>
              <a:rPr lang="en-US" dirty="0" smtClean="0"/>
              <a:t>Top-up as required (small amounts) using funnel</a:t>
            </a:r>
          </a:p>
          <a:p>
            <a:r>
              <a:rPr lang="en-US" dirty="0" smtClean="0"/>
              <a:t>Check level after each filling – avoid over-filling</a:t>
            </a:r>
          </a:p>
          <a:p>
            <a:r>
              <a:rPr lang="en-US" dirty="0" smtClean="0"/>
              <a:t>Wipe up spills</a:t>
            </a:r>
          </a:p>
          <a:p>
            <a:r>
              <a:rPr lang="en-US" dirty="0" smtClean="0"/>
              <a:t>Replace and secure dipstick</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141</a:t>
            </a:fld>
            <a:endParaRPr lang="en-US" dirty="0"/>
          </a:p>
        </p:txBody>
      </p:sp>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ackgroundRemoval t="4775" b="99318" l="9816" r="89980">
                        <a14:foregroundMark x1="34356" y1="38608" x2="34356" y2="38608"/>
                        <a14:foregroundMark x1="38855" y1="33970" x2="38855" y2="33970"/>
                      </a14:backgroundRemoval>
                    </a14:imgEffect>
                  </a14:imgLayer>
                </a14:imgProps>
              </a:ext>
              <a:ext uri="{28A0092B-C50C-407E-A947-70E740481C1C}">
                <a14:useLocalDpi xmlns:a14="http://schemas.microsoft.com/office/drawing/2010/main" val="0"/>
              </a:ext>
            </a:extLst>
          </a:blip>
          <a:stretch>
            <a:fillRect/>
          </a:stretch>
        </p:blipFill>
        <p:spPr>
          <a:xfrm>
            <a:off x="4644008" y="2158031"/>
            <a:ext cx="2448272" cy="3670573"/>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 check and top-up engine oil:</a:t>
            </a:r>
          </a:p>
          <a:p>
            <a:r>
              <a:rPr lang="en-US" dirty="0" smtClean="0"/>
              <a:t>Park on level ground</a:t>
            </a:r>
          </a:p>
          <a:p>
            <a:r>
              <a:rPr lang="en-US" dirty="0" smtClean="0"/>
              <a:t>Check oil with engine ‘off’ and cold</a:t>
            </a:r>
          </a:p>
          <a:p>
            <a:r>
              <a:rPr lang="en-US" dirty="0" smtClean="0"/>
              <a:t>Locate dipstick</a:t>
            </a:r>
          </a:p>
          <a:p>
            <a:r>
              <a:rPr lang="en-US" dirty="0" smtClean="0"/>
              <a:t>Remove dipstick</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75615"/>
            <a:ext cx="3048000" cy="2033016"/>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Wipe dipstick clean</a:t>
            </a:r>
          </a:p>
          <a:p>
            <a:r>
              <a:rPr lang="en-US" dirty="0" smtClean="0"/>
              <a:t>Re-insert dipstick</a:t>
            </a:r>
          </a:p>
          <a:p>
            <a:r>
              <a:rPr lang="en-US" dirty="0" smtClean="0"/>
              <a:t>Remove dipstick</a:t>
            </a:r>
          </a:p>
          <a:p>
            <a:r>
              <a:rPr lang="en-US" dirty="0" smtClean="0"/>
              <a:t>Read dipstick</a:t>
            </a:r>
          </a:p>
          <a:p>
            <a:r>
              <a:rPr lang="en-US" dirty="0" smtClean="0"/>
              <a:t>Locate and clean around filler cover</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143</a:t>
            </a:fld>
            <a:endParaRPr lang="en-US" dirty="0"/>
          </a:p>
        </p:txBody>
      </p:sp>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355976" y="1556792"/>
            <a:ext cx="2664296" cy="3994447"/>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Use funnel to pour oil into engine</a:t>
            </a:r>
          </a:p>
          <a:p>
            <a:r>
              <a:rPr lang="en-US" dirty="0" smtClean="0"/>
              <a:t>Add small amounts each time</a:t>
            </a:r>
          </a:p>
          <a:p>
            <a:r>
              <a:rPr lang="en-US" dirty="0" smtClean="0"/>
              <a:t>Only use oil recommended by manufacturer </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144</a:t>
            </a:fld>
            <a:endParaRPr lang="en-US" dirty="0"/>
          </a:p>
        </p:txBody>
      </p:sp>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ackgroundRemoval t="6412" b="100000" l="9816" r="89980"/>
                    </a14:imgEffect>
                  </a14:imgLayer>
                </a14:imgProps>
              </a:ext>
              <a:ext uri="{28A0092B-C50C-407E-A947-70E740481C1C}">
                <a14:useLocalDpi xmlns:a14="http://schemas.microsoft.com/office/drawing/2010/main" val="0"/>
              </a:ext>
            </a:extLst>
          </a:blip>
          <a:stretch>
            <a:fillRect/>
          </a:stretch>
        </p:blipFill>
        <p:spPr>
          <a:xfrm>
            <a:off x="4180814" y="1772815"/>
            <a:ext cx="2623433" cy="3933183"/>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Check level after each addition </a:t>
            </a:r>
          </a:p>
          <a:p>
            <a:r>
              <a:rPr lang="en-US" dirty="0" smtClean="0"/>
              <a:t>Avoid over-filling</a:t>
            </a:r>
          </a:p>
          <a:p>
            <a:r>
              <a:rPr lang="en-US" dirty="0" smtClean="0"/>
              <a:t>Clean spills</a:t>
            </a:r>
          </a:p>
          <a:p>
            <a:r>
              <a:rPr lang="en-US" dirty="0" smtClean="0"/>
              <a:t>Replace and secure dipstick</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145</a:t>
            </a:fld>
            <a:endParaRPr lang="en-US" dirty="0"/>
          </a:p>
        </p:txBody>
      </p:sp>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ackgroundRemoval t="3820" b="100000" l="9816" r="89980">
                        <a14:foregroundMark x1="42945" y1="24420" x2="42945" y2="24420"/>
                      </a14:backgroundRemoval>
                    </a14:imgEffect>
                  </a14:imgLayer>
                </a14:imgProps>
              </a:ext>
              <a:ext uri="{28A0092B-C50C-407E-A947-70E740481C1C}">
                <a14:useLocalDpi xmlns:a14="http://schemas.microsoft.com/office/drawing/2010/main" val="0"/>
              </a:ext>
            </a:extLst>
          </a:blip>
          <a:stretch>
            <a:fillRect/>
          </a:stretch>
        </p:blipFill>
        <p:spPr>
          <a:xfrm>
            <a:off x="4765509" y="1844825"/>
            <a:ext cx="2470787" cy="3704328"/>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SOP if a tour vehicle gets a puncture:</a:t>
            </a:r>
          </a:p>
          <a:p>
            <a:r>
              <a:rPr lang="en-US" dirty="0" smtClean="0"/>
              <a:t>Remove and replace with spare</a:t>
            </a:r>
          </a:p>
          <a:p>
            <a:r>
              <a:rPr lang="en-US" dirty="0" smtClean="0"/>
              <a:t>Call in to a repair </a:t>
            </a:r>
            <a:r>
              <a:rPr lang="en-US" dirty="0" err="1" smtClean="0"/>
              <a:t>centre</a:t>
            </a:r>
            <a:r>
              <a:rPr lang="en-US" dirty="0" smtClean="0"/>
              <a:t> to have puncture repaired</a:t>
            </a:r>
          </a:p>
          <a:p>
            <a:r>
              <a:rPr lang="en-US" dirty="0" smtClean="0"/>
              <a:t>Do not repair </a:t>
            </a:r>
            <a:r>
              <a:rPr lang="en-US" dirty="0" err="1" smtClean="0"/>
              <a:t>tyre</a:t>
            </a:r>
            <a:r>
              <a:rPr lang="en-US" dirty="0" smtClean="0"/>
              <a:t> with damaged sidewall</a:t>
            </a:r>
          </a:p>
          <a:p>
            <a:r>
              <a:rPr lang="en-US" dirty="0" smtClean="0"/>
              <a:t>Do not undertake own repair of puncture unless it is necessary to do so</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146</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3126" y="1998503"/>
            <a:ext cx="3150274" cy="2075648"/>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Options for repairing punctures:</a:t>
            </a:r>
          </a:p>
          <a:p>
            <a:r>
              <a:rPr lang="en-US" dirty="0" smtClean="0"/>
              <a:t>Use a </a:t>
            </a:r>
            <a:r>
              <a:rPr lang="en-US" dirty="0" err="1" smtClean="0"/>
              <a:t>pressurised</a:t>
            </a:r>
            <a:r>
              <a:rPr lang="en-US" dirty="0" smtClean="0"/>
              <a:t> can of </a:t>
            </a:r>
            <a:r>
              <a:rPr lang="en-US" dirty="0" err="1" smtClean="0"/>
              <a:t>tyre</a:t>
            </a:r>
            <a:r>
              <a:rPr lang="en-US" dirty="0" smtClean="0"/>
              <a:t> adhesive</a:t>
            </a:r>
          </a:p>
          <a:p>
            <a:r>
              <a:rPr lang="en-US" dirty="0" smtClean="0"/>
              <a:t>Use a </a:t>
            </a:r>
            <a:r>
              <a:rPr lang="en-US" dirty="0" err="1" smtClean="0"/>
              <a:t>tyre</a:t>
            </a:r>
            <a:r>
              <a:rPr lang="en-US" dirty="0" smtClean="0"/>
              <a:t> repair kit to plug the hole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147</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1638003"/>
            <a:ext cx="2187812" cy="4167261"/>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Bleeding brakes:</a:t>
            </a:r>
          </a:p>
          <a:p>
            <a:r>
              <a:rPr lang="en-US" dirty="0" smtClean="0"/>
              <a:t>May need to occur if they become soft/spongy</a:t>
            </a:r>
          </a:p>
          <a:p>
            <a:r>
              <a:rPr lang="en-US" dirty="0" smtClean="0"/>
              <a:t>Can be a two-person job</a:t>
            </a:r>
          </a:p>
          <a:p>
            <a:r>
              <a:rPr lang="en-US" dirty="0" smtClean="0"/>
              <a:t>All four wheels have to be bled</a:t>
            </a:r>
          </a:p>
          <a:p>
            <a:r>
              <a:rPr lang="en-US" dirty="0" smtClean="0"/>
              <a:t>Brake fluid is corrosive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148</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860032" y="1844824"/>
            <a:ext cx="2736304" cy="3751592"/>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a:xfrm>
            <a:off x="457200" y="1988840"/>
            <a:ext cx="4114800" cy="4536504"/>
          </a:xfrm>
        </p:spPr>
        <p:txBody>
          <a:bodyPr>
            <a:normAutofit lnSpcReduction="10000"/>
          </a:bodyPr>
          <a:lstStyle/>
          <a:p>
            <a:pPr marL="36576" indent="0">
              <a:buNone/>
            </a:pPr>
            <a:r>
              <a:rPr lang="en-US" dirty="0" smtClean="0"/>
              <a:t>To bleed the brakes:</a:t>
            </a:r>
          </a:p>
          <a:p>
            <a:r>
              <a:rPr lang="en-US" dirty="0" smtClean="0"/>
              <a:t>Check brake fluid reservoir to ensure sufficient fluid</a:t>
            </a:r>
          </a:p>
          <a:p>
            <a:r>
              <a:rPr lang="en-US" dirty="0" smtClean="0"/>
              <a:t>Monitor fluid level throughout procedure</a:t>
            </a:r>
          </a:p>
          <a:p>
            <a:r>
              <a:rPr lang="en-US" dirty="0" smtClean="0"/>
              <a:t>Have replacement fluid on hand</a:t>
            </a:r>
          </a:p>
          <a:p>
            <a:r>
              <a:rPr lang="en-US" dirty="0" smtClean="0"/>
              <a:t>Jack the vehicle up and remove wheels (optional)</a:t>
            </a:r>
          </a:p>
          <a:p>
            <a:r>
              <a:rPr lang="en-US" dirty="0" smtClean="0"/>
              <a:t>Attach brake bleeder bottle to brake nipple</a:t>
            </a:r>
          </a:p>
          <a:p>
            <a:pPr marL="36576" indent="0">
              <a:buNone/>
            </a:pPr>
            <a:r>
              <a:rPr lang="en-US" sz="15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2009220"/>
            <a:ext cx="2435984" cy="3436004"/>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Open valve and depress brake 4 – 5 times</a:t>
            </a:r>
          </a:p>
          <a:p>
            <a:r>
              <a:rPr lang="en-US" dirty="0" smtClean="0"/>
              <a:t>Close valve and tighten – top up brake fluid reservoir</a:t>
            </a:r>
          </a:p>
          <a:p>
            <a:r>
              <a:rPr lang="en-US" dirty="0" smtClean="0"/>
              <a:t>Check for leaks by pressing brake pedal hard</a:t>
            </a:r>
          </a:p>
          <a:p>
            <a:r>
              <a:rPr lang="en-US" dirty="0" smtClean="0"/>
              <a:t>Remove bleeder bottle – discard fluid</a:t>
            </a:r>
          </a:p>
          <a:p>
            <a:r>
              <a:rPr lang="en-US" dirty="0" smtClean="0"/>
              <a:t>Repeat for other 3 wheels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6096" y="1988138"/>
            <a:ext cx="2376264" cy="3140732"/>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Bleeding a diesel engine:</a:t>
            </a:r>
          </a:p>
          <a:p>
            <a:r>
              <a:rPr lang="en-US" dirty="0" smtClean="0"/>
              <a:t>Refers to removing air from the fuel lines</a:t>
            </a:r>
          </a:p>
          <a:p>
            <a:r>
              <a:rPr lang="en-US" dirty="0" smtClean="0"/>
              <a:t>Air locks will prevent the engine starting or running smoothly</a:t>
            </a:r>
          </a:p>
          <a:p>
            <a:r>
              <a:rPr lang="en-US" dirty="0" smtClean="0"/>
              <a:t>Always follow directions in Owner manual</a:t>
            </a:r>
          </a:p>
          <a:p>
            <a:r>
              <a:rPr lang="en-US" dirty="0" smtClean="0"/>
              <a:t>Modern vehicles may feature easy-to-use ‘bleed screws’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151</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20072" y="1973941"/>
            <a:ext cx="2017486" cy="3110881"/>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a:xfrm>
            <a:off x="457200" y="1772816"/>
            <a:ext cx="4546848" cy="4824536"/>
          </a:xfrm>
        </p:spPr>
        <p:txBody>
          <a:bodyPr>
            <a:normAutofit/>
          </a:bodyPr>
          <a:lstStyle/>
          <a:p>
            <a:pPr marL="36576" indent="0">
              <a:buNone/>
            </a:pPr>
            <a:r>
              <a:rPr lang="en-US" dirty="0" smtClean="0"/>
              <a:t>To bleed an engine:</a:t>
            </a:r>
          </a:p>
          <a:p>
            <a:r>
              <a:rPr lang="en-US" dirty="0" smtClean="0"/>
              <a:t>Fill with fuel</a:t>
            </a:r>
          </a:p>
          <a:p>
            <a:r>
              <a:rPr lang="en-US" dirty="0" smtClean="0"/>
              <a:t>Confirm new fuel filter is correctly fitted</a:t>
            </a:r>
          </a:p>
          <a:p>
            <a:r>
              <a:rPr lang="en-US" dirty="0" smtClean="0"/>
              <a:t>Prime the lift pump</a:t>
            </a:r>
          </a:p>
          <a:p>
            <a:r>
              <a:rPr lang="en-US" dirty="0" smtClean="0"/>
              <a:t>Open line to injector furthest from pump and allow air to escape</a:t>
            </a:r>
          </a:p>
          <a:p>
            <a:r>
              <a:rPr lang="en-US" dirty="0" smtClean="0"/>
              <a:t>Tighten line when steady flow of diesel appears</a:t>
            </a:r>
          </a:p>
          <a:p>
            <a:r>
              <a:rPr lang="en-US" dirty="0" smtClean="0"/>
              <a:t>Clean up spilled fuel</a:t>
            </a:r>
          </a:p>
          <a:p>
            <a:r>
              <a:rPr lang="en-US" dirty="0" smtClean="0"/>
              <a:t>Repeat for each cylinder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79" y="1988840"/>
            <a:ext cx="2006793" cy="324000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 change spark plugs:</a:t>
            </a:r>
          </a:p>
          <a:p>
            <a:r>
              <a:rPr lang="en-US" dirty="0" smtClean="0"/>
              <a:t>Disconnect HT lead to plug</a:t>
            </a:r>
          </a:p>
          <a:p>
            <a:r>
              <a:rPr lang="en-US" dirty="0" smtClean="0"/>
              <a:t>Loosen plug with spark plug socket</a:t>
            </a:r>
          </a:p>
          <a:p>
            <a:r>
              <a:rPr lang="en-US" dirty="0" smtClean="0"/>
              <a:t>Use fingers to remove spark plug </a:t>
            </a:r>
          </a:p>
          <a:p>
            <a:r>
              <a:rPr lang="en-US" dirty="0" smtClean="0"/>
              <a:t>Take care to not let debris fall into cylinder</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2692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Clean or obtain new plug</a:t>
            </a:r>
          </a:p>
          <a:p>
            <a:r>
              <a:rPr lang="en-US" dirty="0" smtClean="0"/>
              <a:t>Use feeler gauge to set correct gap</a:t>
            </a:r>
          </a:p>
          <a:p>
            <a:r>
              <a:rPr lang="en-US" dirty="0" smtClean="0"/>
              <a:t>Use fingers to re-seat plug into block</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154</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1988840"/>
            <a:ext cx="2335431" cy="3420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Tighten finger tight</a:t>
            </a:r>
          </a:p>
          <a:p>
            <a:r>
              <a:rPr lang="en-US" dirty="0" smtClean="0"/>
              <a:t>Secure with socket to torque specification</a:t>
            </a:r>
          </a:p>
          <a:p>
            <a:r>
              <a:rPr lang="en-US" dirty="0" smtClean="0"/>
              <a:t>Re-attach HT lead</a:t>
            </a:r>
          </a:p>
          <a:p>
            <a:r>
              <a:rPr lang="en-US" dirty="0" smtClean="0"/>
              <a:t>Start and run engine to test</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155</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1988840"/>
            <a:ext cx="1828623" cy="3240000"/>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pPr marL="36576" indent="0">
              <a:buNone/>
            </a:pPr>
            <a:r>
              <a:rPr lang="en-US" dirty="0" smtClean="0"/>
              <a:t>To replace glow plugs:</a:t>
            </a:r>
          </a:p>
          <a:p>
            <a:r>
              <a:rPr lang="en-US" dirty="0" smtClean="0"/>
              <a:t>Remove visible debris around plugs</a:t>
            </a:r>
          </a:p>
          <a:p>
            <a:r>
              <a:rPr lang="en-US" dirty="0" smtClean="0"/>
              <a:t>Disconnect battery</a:t>
            </a:r>
          </a:p>
          <a:p>
            <a:r>
              <a:rPr lang="en-US" dirty="0" smtClean="0"/>
              <a:t>Use spanner to remove nuts holding bridging strap to plugs</a:t>
            </a:r>
          </a:p>
          <a:p>
            <a:r>
              <a:rPr lang="en-US" dirty="0" smtClean="0"/>
              <a:t>Remove bridging strap </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156</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36959" y="1988840"/>
            <a:ext cx="3997441" cy="2557511"/>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Use spanner to loosen plugs and remove with fingers</a:t>
            </a:r>
          </a:p>
          <a:p>
            <a:r>
              <a:rPr lang="en-US" dirty="0" smtClean="0"/>
              <a:t>Test new plug to be fitted</a:t>
            </a:r>
          </a:p>
          <a:p>
            <a:r>
              <a:rPr lang="en-US" dirty="0" smtClean="0"/>
              <a:t>Ensure plug and thread is clean</a:t>
            </a:r>
          </a:p>
          <a:p>
            <a:r>
              <a:rPr lang="en-US" dirty="0" smtClean="0"/>
              <a:t>Screw new plug in by hand until seated in cylinder head</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157</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6016" y="1916832"/>
            <a:ext cx="3177931" cy="2880000"/>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repairs</a:t>
            </a:r>
            <a:endParaRPr lang="en-US" dirty="0"/>
          </a:p>
        </p:txBody>
      </p:sp>
      <p:sp>
        <p:nvSpPr>
          <p:cNvPr id="3" name="Content Placeholder 2"/>
          <p:cNvSpPr>
            <a:spLocks noGrp="1"/>
          </p:cNvSpPr>
          <p:nvPr>
            <p:ph idx="1"/>
          </p:nvPr>
        </p:nvSpPr>
        <p:spPr/>
        <p:txBody>
          <a:bodyPr/>
          <a:lstStyle/>
          <a:p>
            <a:r>
              <a:rPr lang="en-US" dirty="0" smtClean="0"/>
              <a:t>Tighten with torque wrench to required specification</a:t>
            </a:r>
          </a:p>
          <a:p>
            <a:r>
              <a:rPr lang="en-US" dirty="0" smtClean="0"/>
              <a:t>Replace bridging strap and nuts</a:t>
            </a:r>
          </a:p>
          <a:p>
            <a:r>
              <a:rPr lang="en-US" dirty="0" smtClean="0"/>
              <a:t>Re-connect battery</a:t>
            </a:r>
          </a:p>
          <a:p>
            <a:r>
              <a:rPr lang="en-US" dirty="0" smtClean="0"/>
              <a:t>Test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158</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5317" b="100000" l="52797" r="94543">
                        <a14:foregroundMark x1="71487" y1="47444" x2="71487" y2="47444"/>
                        <a14:foregroundMark x1="69168" y1="41513" x2="69168" y2="41513"/>
                        <a14:foregroundMark x1="77353" y1="70143" x2="77353" y2="70143"/>
                        <a14:foregroundMark x1="78308" y1="95910" x2="78308" y2="95910"/>
                      </a14:backgroundRemoval>
                    </a14:imgEffect>
                  </a14:imgLayer>
                </a14:imgProps>
              </a:ext>
              <a:ext uri="{28A0092B-C50C-407E-A947-70E740481C1C}">
                <a14:useLocalDpi xmlns:a14="http://schemas.microsoft.com/office/drawing/2010/main" val="0"/>
              </a:ext>
            </a:extLst>
          </a:blip>
          <a:srcRect l="47637"/>
          <a:stretch/>
        </p:blipFill>
        <p:spPr>
          <a:xfrm>
            <a:off x="5148064" y="1982973"/>
            <a:ext cx="2374239" cy="3024336"/>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preventative maintenance</a:t>
            </a:r>
            <a:endParaRPr lang="en-US" dirty="0"/>
          </a:p>
        </p:txBody>
      </p:sp>
      <p:sp>
        <p:nvSpPr>
          <p:cNvPr id="3" name="Content Placeholder 2"/>
          <p:cNvSpPr>
            <a:spLocks noGrp="1"/>
          </p:cNvSpPr>
          <p:nvPr>
            <p:ph idx="1"/>
          </p:nvPr>
        </p:nvSpPr>
        <p:spPr/>
        <p:txBody>
          <a:bodyPr/>
          <a:lstStyle/>
          <a:p>
            <a:pPr marL="36576" indent="0">
              <a:buNone/>
            </a:pPr>
            <a:r>
              <a:rPr lang="en-AU" dirty="0" smtClean="0"/>
              <a:t>Provision of regular service and maintenance to tour vehicles will/can</a:t>
            </a:r>
            <a:r>
              <a:rPr lang="en-US" dirty="0" smtClean="0"/>
              <a:t>:</a:t>
            </a:r>
          </a:p>
          <a:p>
            <a:r>
              <a:rPr lang="en-AU" dirty="0" smtClean="0"/>
              <a:t>Help extend working life of the vehicle</a:t>
            </a:r>
          </a:p>
          <a:p>
            <a:r>
              <a:rPr lang="en-AU" dirty="0" smtClean="0"/>
              <a:t>Increase reliability of the vehicle</a:t>
            </a:r>
          </a:p>
          <a:p>
            <a:r>
              <a:rPr lang="en-AU" dirty="0" smtClean="0"/>
              <a:t>Reduce operating costs</a:t>
            </a:r>
          </a:p>
          <a:p>
            <a:r>
              <a:rPr lang="en-AU" dirty="0" smtClean="0"/>
              <a:t>Present a better-looking vehicle to tour groups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159</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312514" y="1977534"/>
            <a:ext cx="2494276" cy="3528392"/>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preventative maintenance</a:t>
            </a:r>
            <a:endParaRPr lang="en-US" dirty="0"/>
          </a:p>
        </p:txBody>
      </p:sp>
      <p:sp>
        <p:nvSpPr>
          <p:cNvPr id="3" name="Content Placeholder 2"/>
          <p:cNvSpPr>
            <a:spLocks noGrp="1"/>
          </p:cNvSpPr>
          <p:nvPr>
            <p:ph idx="1"/>
          </p:nvPr>
        </p:nvSpPr>
        <p:spPr/>
        <p:txBody>
          <a:bodyPr/>
          <a:lstStyle/>
          <a:p>
            <a:pPr marL="36576" indent="0">
              <a:buNone/>
            </a:pPr>
            <a:r>
              <a:rPr lang="en-AU" dirty="0" smtClean="0"/>
              <a:t>Ways to determine preventative maintenance requirements</a:t>
            </a:r>
            <a:r>
              <a:rPr lang="en-US" dirty="0" smtClean="0"/>
              <a:t>:</a:t>
            </a:r>
          </a:p>
          <a:p>
            <a:r>
              <a:rPr lang="en-AU" dirty="0" smtClean="0"/>
              <a:t>Take into account distance travelled and hours vehicle has been used</a:t>
            </a:r>
            <a:endParaRPr lang="en-US" dirty="0" smtClean="0"/>
          </a:p>
          <a:p>
            <a:r>
              <a:rPr lang="en-AU" dirty="0" smtClean="0"/>
              <a:t>Conduct and note response to pre-start checks </a:t>
            </a:r>
          </a:p>
          <a:p>
            <a:r>
              <a:rPr lang="en-AU" dirty="0" smtClean="0"/>
              <a:t>Comply with internal organisational SOPs</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160</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6299"/>
          <a:stretch/>
        </p:blipFill>
        <p:spPr>
          <a:xfrm>
            <a:off x="5148064" y="1988840"/>
            <a:ext cx="2088232" cy="3765992"/>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preventative maintenance</a:t>
            </a:r>
            <a:endParaRPr lang="en-US" dirty="0"/>
          </a:p>
        </p:txBody>
      </p:sp>
      <p:sp>
        <p:nvSpPr>
          <p:cNvPr id="3" name="Content Placeholder 2"/>
          <p:cNvSpPr>
            <a:spLocks noGrp="1"/>
          </p:cNvSpPr>
          <p:nvPr>
            <p:ph idx="1"/>
          </p:nvPr>
        </p:nvSpPr>
        <p:spPr/>
        <p:txBody>
          <a:bodyPr/>
          <a:lstStyle/>
          <a:p>
            <a:r>
              <a:rPr lang="en-AU" dirty="0" smtClean="0"/>
              <a:t>Factor in the nature of roads/tracks travelled </a:t>
            </a:r>
            <a:endParaRPr lang="en-US" dirty="0" smtClean="0"/>
          </a:p>
          <a:p>
            <a:r>
              <a:rPr lang="en-AU" dirty="0" smtClean="0"/>
              <a:t>Use personal observation </a:t>
            </a:r>
          </a:p>
          <a:p>
            <a:r>
              <a:rPr lang="en-AU" dirty="0" smtClean="0"/>
              <a:t>Refer to personal experience</a:t>
            </a:r>
          </a:p>
          <a:p>
            <a:r>
              <a:rPr lang="en-AU" dirty="0" smtClean="0"/>
              <a:t>Research/read manufacturer requirements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161</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435"/>
          <a:stretch/>
        </p:blipFill>
        <p:spPr>
          <a:xfrm>
            <a:off x="5251784" y="1916831"/>
            <a:ext cx="2410670" cy="3600401"/>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preventative maintenance</a:t>
            </a:r>
            <a:endParaRPr lang="en-US" dirty="0"/>
          </a:p>
        </p:txBody>
      </p:sp>
      <p:sp>
        <p:nvSpPr>
          <p:cNvPr id="3" name="Content Placeholder 2"/>
          <p:cNvSpPr>
            <a:spLocks noGrp="1"/>
          </p:cNvSpPr>
          <p:nvPr>
            <p:ph idx="1"/>
          </p:nvPr>
        </p:nvSpPr>
        <p:spPr/>
        <p:txBody>
          <a:bodyPr/>
          <a:lstStyle/>
          <a:p>
            <a:pPr marL="36576" indent="0">
              <a:buNone/>
            </a:pPr>
            <a:r>
              <a:rPr lang="en-US" dirty="0" smtClean="0"/>
              <a:t>Examples of preventative maintenance which may be required for on-tour vehicles:</a:t>
            </a:r>
          </a:p>
          <a:p>
            <a:r>
              <a:rPr lang="en-US" dirty="0" smtClean="0"/>
              <a:t>Cleaning</a:t>
            </a:r>
          </a:p>
          <a:p>
            <a:r>
              <a:rPr lang="en-AU" dirty="0" smtClean="0"/>
              <a:t>Undertaking scheduled service tasks as recommended by the manufacturer </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572000" y="2060848"/>
            <a:ext cx="2944000" cy="2880000"/>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preventative maintenance</a:t>
            </a:r>
            <a:endParaRPr lang="en-US" dirty="0"/>
          </a:p>
        </p:txBody>
      </p:sp>
      <p:sp>
        <p:nvSpPr>
          <p:cNvPr id="3" name="Content Placeholder 2"/>
          <p:cNvSpPr>
            <a:spLocks noGrp="1"/>
          </p:cNvSpPr>
          <p:nvPr>
            <p:ph idx="1"/>
          </p:nvPr>
        </p:nvSpPr>
        <p:spPr/>
        <p:txBody>
          <a:bodyPr/>
          <a:lstStyle/>
          <a:p>
            <a:r>
              <a:rPr lang="en-US" dirty="0" smtClean="0"/>
              <a:t>Undertaking specified tasks as nominated by Tour Operator</a:t>
            </a:r>
          </a:p>
          <a:p>
            <a:r>
              <a:rPr lang="en-US" dirty="0" smtClean="0"/>
              <a:t>Replacing specific component parts</a:t>
            </a:r>
          </a:p>
          <a:p>
            <a:r>
              <a:rPr lang="en-US" dirty="0" smtClean="0"/>
              <a:t>Examining </a:t>
            </a:r>
            <a:r>
              <a:rPr lang="en-US" dirty="0" err="1" smtClean="0"/>
              <a:t>tyres</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961965" y="2276872"/>
            <a:ext cx="3089757" cy="2923184"/>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preventative maintenance</a:t>
            </a:r>
            <a:endParaRPr lang="en-US" dirty="0"/>
          </a:p>
        </p:txBody>
      </p:sp>
      <p:sp>
        <p:nvSpPr>
          <p:cNvPr id="3" name="Content Placeholder 2"/>
          <p:cNvSpPr>
            <a:spLocks noGrp="1"/>
          </p:cNvSpPr>
          <p:nvPr>
            <p:ph idx="1"/>
          </p:nvPr>
        </p:nvSpPr>
        <p:spPr/>
        <p:txBody>
          <a:bodyPr/>
          <a:lstStyle/>
          <a:p>
            <a:r>
              <a:rPr lang="en-US" dirty="0" smtClean="0"/>
              <a:t>Topping-up fluids</a:t>
            </a:r>
          </a:p>
          <a:p>
            <a:r>
              <a:rPr lang="en-US" dirty="0" smtClean="0"/>
              <a:t>Tightening loose connections and fittings</a:t>
            </a:r>
          </a:p>
          <a:p>
            <a:r>
              <a:rPr lang="en-US" dirty="0" smtClean="0"/>
              <a:t>Replacing damaged/worn parts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164</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1916832"/>
            <a:ext cx="2160240" cy="3279964"/>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Effect necessary preventative maintenance</a:t>
            </a:r>
            <a:endParaRPr lang="en-US" dirty="0"/>
          </a:p>
        </p:txBody>
      </p:sp>
      <p:sp>
        <p:nvSpPr>
          <p:cNvPr id="3" name="Content Placeholder 2"/>
          <p:cNvSpPr>
            <a:spLocks noGrp="1"/>
          </p:cNvSpPr>
          <p:nvPr>
            <p:ph idx="1"/>
          </p:nvPr>
        </p:nvSpPr>
        <p:spPr/>
        <p:txBody>
          <a:bodyPr/>
          <a:lstStyle/>
          <a:p>
            <a:pPr marL="36576" indent="0">
              <a:buNone/>
            </a:pPr>
            <a:r>
              <a:rPr lang="en-US" dirty="0" smtClean="0"/>
              <a:t>Most tour vehicles need to be prepared in advance of tours – as:</a:t>
            </a:r>
          </a:p>
          <a:p>
            <a:r>
              <a:rPr lang="en-US" dirty="0" smtClean="0"/>
              <a:t>Dictated by Tour Operator SOPs</a:t>
            </a:r>
          </a:p>
          <a:p>
            <a:r>
              <a:rPr lang="en-US" dirty="0" smtClean="0"/>
              <a:t>Determined by driver/tour crew – with reference to known itinerary</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165</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364088" y="1961692"/>
            <a:ext cx="1732744" cy="3454185"/>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4 – Report on 4-wheel drive operation</a:t>
            </a:r>
            <a:endParaRPr lang="en-US" dirty="0"/>
          </a:p>
        </p:txBody>
      </p:sp>
      <p:sp>
        <p:nvSpPr>
          <p:cNvPr id="3" name="Content Placeholder 2"/>
          <p:cNvSpPr>
            <a:spLocks noGrp="1"/>
          </p:cNvSpPr>
          <p:nvPr>
            <p:ph idx="1"/>
          </p:nvPr>
        </p:nvSpPr>
        <p:spPr/>
        <p:txBody>
          <a:bodyPr/>
          <a:lstStyle/>
          <a:p>
            <a:pPr marL="36576" indent="0">
              <a:buNone/>
            </a:pPr>
            <a:r>
              <a:rPr lang="en-US" dirty="0" smtClean="0"/>
              <a:t>Performance Criteria for this Element are:</a:t>
            </a:r>
          </a:p>
          <a:p>
            <a:r>
              <a:rPr lang="en-US" dirty="0" smtClean="0"/>
              <a:t>Complete documentation to record services and repair undertaken</a:t>
            </a:r>
          </a:p>
          <a:p>
            <a:r>
              <a:rPr lang="en-US" dirty="0" smtClean="0"/>
              <a:t>Notify management of issues that require external attention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166</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76056" y="1918770"/>
            <a:ext cx="2158637" cy="2880000"/>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pPr marL="36576" indent="0">
              <a:buNone/>
            </a:pPr>
            <a:r>
              <a:rPr lang="en-US" dirty="0" smtClean="0"/>
              <a:t>Reasons documentation needs to be completed:</a:t>
            </a:r>
          </a:p>
          <a:p>
            <a:r>
              <a:rPr lang="en-US" dirty="0" smtClean="0"/>
              <a:t>Provide proof of daily vehicle inspections</a:t>
            </a:r>
          </a:p>
          <a:p>
            <a:r>
              <a:rPr lang="en-US" dirty="0" smtClean="0"/>
              <a:t>Give a reference point for work performed</a:t>
            </a:r>
          </a:p>
          <a:p>
            <a:r>
              <a:rPr lang="en-US" dirty="0" smtClean="0"/>
              <a:t>Allow accurate/comprehensive vehicle records to be kept</a:t>
            </a:r>
          </a:p>
          <a:p>
            <a:r>
              <a:rPr lang="en-US" dirty="0" smtClean="0"/>
              <a:t>Enable accurate costings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167</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2132856"/>
            <a:ext cx="2002833" cy="2880000"/>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r>
              <a:rPr lang="en-US" dirty="0" smtClean="0"/>
              <a:t>Supply service history when vehicle is sold</a:t>
            </a:r>
          </a:p>
          <a:p>
            <a:r>
              <a:rPr lang="en-US" dirty="0" smtClean="0"/>
              <a:t>Help determine future repairs/services</a:t>
            </a:r>
          </a:p>
          <a:p>
            <a:r>
              <a:rPr lang="en-US" dirty="0" smtClean="0"/>
              <a:t>Demonstrate compliance with service requirements</a:t>
            </a:r>
          </a:p>
          <a:p>
            <a:r>
              <a:rPr lang="en-US" dirty="0" smtClean="0"/>
              <a:t>Allow reconciliation of receipts, invoices and related paperwork</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168</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860032" y="1988840"/>
            <a:ext cx="2602525" cy="2880000"/>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pPr marL="36576" indent="0">
              <a:buNone/>
            </a:pPr>
            <a:r>
              <a:rPr lang="en-US" dirty="0" smtClean="0"/>
              <a:t>A wallet or folder:</a:t>
            </a:r>
          </a:p>
          <a:p>
            <a:r>
              <a:rPr lang="en-US" dirty="0" smtClean="0"/>
              <a:t>Is usually provided in each vehicle for holding relevant documents</a:t>
            </a:r>
          </a:p>
          <a:p>
            <a:r>
              <a:rPr lang="en-US" dirty="0" smtClean="0"/>
              <a:t>May also contain the fuel card for the vehicle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169</a:t>
            </a:fld>
            <a:endParaRPr lang="en-US" dirty="0"/>
          </a:p>
        </p:txBody>
      </p:sp>
      <p:pic>
        <p:nvPicPr>
          <p:cNvPr id="5" name="Picture 4"/>
          <p:cNvPicPr>
            <a:picLocks noChangeAspect="1"/>
          </p:cNvPicPr>
          <p:nvPr/>
        </p:nvPicPr>
        <p:blipFill rotWithShape="1">
          <a:blip r:embed="rId3" cstate="screen">
            <a:clrChange>
              <a:clrFrom>
                <a:srgbClr val="FCFDFF"/>
              </a:clrFrom>
              <a:clrTo>
                <a:srgbClr val="FCFDFF">
                  <a:alpha val="0"/>
                </a:srgbClr>
              </a:clrTo>
            </a:clrChange>
            <a:extLst>
              <a:ext uri="{28A0092B-C50C-407E-A947-70E740481C1C}">
                <a14:useLocalDpi xmlns:a14="http://schemas.microsoft.com/office/drawing/2010/main" val="0"/>
              </a:ext>
            </a:extLst>
          </a:blip>
          <a:srcRect/>
          <a:stretch/>
        </p:blipFill>
        <p:spPr>
          <a:xfrm>
            <a:off x="5220072" y="1916832"/>
            <a:ext cx="1751518" cy="288000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pPr marL="36576" indent="0">
              <a:buNone/>
            </a:pPr>
            <a:r>
              <a:rPr lang="en-US" dirty="0" smtClean="0"/>
              <a:t>Keys when documenting services and repairs:</a:t>
            </a:r>
          </a:p>
          <a:p>
            <a:r>
              <a:rPr lang="en-US" dirty="0" smtClean="0"/>
              <a:t>Write clearly</a:t>
            </a:r>
          </a:p>
          <a:p>
            <a:r>
              <a:rPr lang="en-US" dirty="0" smtClean="0"/>
              <a:t>Be honest</a:t>
            </a:r>
          </a:p>
          <a:p>
            <a:r>
              <a:rPr lang="en-US" dirty="0" smtClean="0"/>
              <a:t>Cover all work done</a:t>
            </a:r>
          </a:p>
          <a:p>
            <a:r>
              <a:rPr lang="en-US" dirty="0" smtClean="0"/>
              <a:t>Use </a:t>
            </a:r>
            <a:r>
              <a:rPr lang="en-US" dirty="0" err="1" smtClean="0"/>
              <a:t>recognised</a:t>
            </a:r>
            <a:r>
              <a:rPr lang="en-US" dirty="0" smtClean="0"/>
              <a:t> abbreviations and acronyms</a:t>
            </a:r>
          </a:p>
          <a:p>
            <a:r>
              <a:rPr lang="en-US" dirty="0" smtClean="0"/>
              <a:t>Complete documentation ‘at the time’ work is done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170</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148064" y="1977019"/>
            <a:ext cx="2592288" cy="3539893"/>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pPr marL="36576" indent="0">
              <a:buNone/>
            </a:pPr>
            <a:r>
              <a:rPr lang="en-US" dirty="0" smtClean="0"/>
              <a:t>Daily Vehicle Inspection Checklist – is completed at start of each day for each on-tour vehicle and is used to:</a:t>
            </a:r>
          </a:p>
          <a:p>
            <a:r>
              <a:rPr lang="en-US" dirty="0" smtClean="0"/>
              <a:t>Record the inspection and prove it took place</a:t>
            </a:r>
          </a:p>
          <a:p>
            <a:r>
              <a:rPr lang="en-US" dirty="0" smtClean="0"/>
              <a:t>Record work done as part of the check</a:t>
            </a:r>
          </a:p>
          <a:p>
            <a:r>
              <a:rPr lang="en-US" dirty="0" smtClean="0"/>
              <a:t>Note items which require further/later attention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171</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796136" y="1939314"/>
            <a:ext cx="1632586" cy="3240000"/>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pPr marL="36576" indent="0">
              <a:buNone/>
            </a:pPr>
            <a:r>
              <a:rPr lang="en-US" dirty="0" smtClean="0"/>
              <a:t>Activities in completing a Daily Vehicle Inspection Checklist:</a:t>
            </a:r>
          </a:p>
          <a:p>
            <a:r>
              <a:rPr lang="en-US" dirty="0" smtClean="0"/>
              <a:t>A ‘walk around’ of the vehicle</a:t>
            </a:r>
          </a:p>
          <a:p>
            <a:r>
              <a:rPr lang="en-US" dirty="0" smtClean="0"/>
              <a:t>Physical inspection of the vehicle</a:t>
            </a:r>
          </a:p>
          <a:p>
            <a:r>
              <a:rPr lang="en-US" dirty="0" smtClean="0"/>
              <a:t>Starting engine and running the vehicle</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989559" y="2204863"/>
            <a:ext cx="3294422" cy="2991601"/>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r>
              <a:rPr lang="en-US" dirty="0" smtClean="0"/>
              <a:t>Monitoring gauges/instrument panel</a:t>
            </a:r>
          </a:p>
          <a:p>
            <a:r>
              <a:rPr lang="en-US" dirty="0" smtClean="0"/>
              <a:t>Checking leads and connections</a:t>
            </a:r>
          </a:p>
          <a:p>
            <a:r>
              <a:rPr lang="en-US" dirty="0" smtClean="0"/>
              <a:t>Testing operation of systems and equipment</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716016" y="1916832"/>
            <a:ext cx="3177931" cy="2880000"/>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pPr marL="36576" indent="0">
              <a:buNone/>
            </a:pPr>
            <a:r>
              <a:rPr lang="en-AU" dirty="0" smtClean="0"/>
              <a:t>Vehicle Log/Vehicle Usage Log</a:t>
            </a:r>
            <a:r>
              <a:rPr lang="en-US" dirty="0" smtClean="0"/>
              <a:t>:</a:t>
            </a:r>
          </a:p>
          <a:p>
            <a:r>
              <a:rPr lang="en-US" dirty="0" smtClean="0"/>
              <a:t>Records basic details of vehicle use on a daily basis</a:t>
            </a:r>
          </a:p>
          <a:p>
            <a:r>
              <a:rPr lang="en-US" dirty="0" smtClean="0"/>
              <a:t>Usually has to be completed:</a:t>
            </a:r>
          </a:p>
          <a:p>
            <a:r>
              <a:rPr lang="en-US" dirty="0" smtClean="0"/>
              <a:t>At start of day</a:t>
            </a:r>
          </a:p>
          <a:p>
            <a:r>
              <a:rPr lang="en-US" dirty="0" smtClean="0"/>
              <a:t>At end of day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174</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292080" y="1988839"/>
            <a:ext cx="1872208" cy="3657495"/>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pPr marL="36576" indent="0">
              <a:buNone/>
            </a:pPr>
            <a:r>
              <a:rPr lang="en-US" dirty="0" smtClean="0"/>
              <a:t>Information required in </a:t>
            </a:r>
            <a:r>
              <a:rPr lang="en-AU" dirty="0" smtClean="0"/>
              <a:t>Vehicle Log/Vehicle Usage Log</a:t>
            </a:r>
            <a:r>
              <a:rPr lang="en-US" dirty="0" smtClean="0"/>
              <a:t>:</a:t>
            </a:r>
          </a:p>
          <a:p>
            <a:r>
              <a:rPr lang="en-US" dirty="0" smtClean="0"/>
              <a:t>Name of tour</a:t>
            </a:r>
          </a:p>
          <a:p>
            <a:r>
              <a:rPr lang="en-US" dirty="0" smtClean="0"/>
              <a:t>Vehicle details/identification</a:t>
            </a:r>
          </a:p>
          <a:p>
            <a:r>
              <a:rPr lang="en-US" dirty="0" smtClean="0"/>
              <a:t>Odometer reading – start and end of day</a:t>
            </a:r>
          </a:p>
          <a:p>
            <a:r>
              <a:rPr lang="en-US" dirty="0" smtClean="0"/>
              <a:t>Distance travelled </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175</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860032" y="1977353"/>
            <a:ext cx="2736304" cy="3601890"/>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r>
              <a:rPr lang="en-US" dirty="0" smtClean="0"/>
              <a:t>Date/s</a:t>
            </a:r>
          </a:p>
          <a:p>
            <a:r>
              <a:rPr lang="en-US" dirty="0" smtClean="0"/>
              <a:t>Destination/s and route/s</a:t>
            </a:r>
          </a:p>
          <a:p>
            <a:r>
              <a:rPr lang="en-US" dirty="0" smtClean="0"/>
              <a:t>Driver name and signature</a:t>
            </a:r>
          </a:p>
          <a:p>
            <a:r>
              <a:rPr lang="en-US" dirty="0" smtClean="0"/>
              <a:t>Travel time/s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176</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04048" y="1867512"/>
            <a:ext cx="2160240" cy="3980160"/>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documentation to record services and repair undertaken</a:t>
            </a:r>
            <a:endParaRPr lang="en-US" dirty="0"/>
          </a:p>
        </p:txBody>
      </p:sp>
      <p:sp>
        <p:nvSpPr>
          <p:cNvPr id="3" name="Content Placeholder 2"/>
          <p:cNvSpPr>
            <a:spLocks noGrp="1"/>
          </p:cNvSpPr>
          <p:nvPr>
            <p:ph idx="1"/>
          </p:nvPr>
        </p:nvSpPr>
        <p:spPr/>
        <p:txBody>
          <a:bodyPr/>
          <a:lstStyle/>
          <a:p>
            <a:pPr marL="36576" indent="0">
              <a:buNone/>
            </a:pPr>
            <a:r>
              <a:rPr lang="en-US" dirty="0" smtClean="0"/>
              <a:t>Receipts and invoices:</a:t>
            </a:r>
          </a:p>
          <a:p>
            <a:r>
              <a:rPr lang="en-US" dirty="0" smtClean="0"/>
              <a:t>Need to be kept and forwarded at end of tour</a:t>
            </a:r>
          </a:p>
          <a:p>
            <a:r>
              <a:rPr lang="en-US" dirty="0" smtClean="0"/>
              <a:t>Show services provided by third party providers – such as repairs, maintenance, service</a:t>
            </a:r>
          </a:p>
          <a:p>
            <a:r>
              <a:rPr lang="en-US" dirty="0" smtClean="0"/>
              <a:t>Identify items supplied by third party providers – such as fuel, oil, </a:t>
            </a:r>
            <a:r>
              <a:rPr lang="en-US" dirty="0" err="1" smtClean="0"/>
              <a:t>tyres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177</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076056" y="2060848"/>
            <a:ext cx="2664296" cy="3318368"/>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Notify management of issues that require external attention</a:t>
            </a:r>
            <a:endParaRPr lang="en-US" dirty="0"/>
          </a:p>
        </p:txBody>
      </p:sp>
      <p:sp>
        <p:nvSpPr>
          <p:cNvPr id="3" name="Content Placeholder 2"/>
          <p:cNvSpPr>
            <a:spLocks noGrp="1"/>
          </p:cNvSpPr>
          <p:nvPr>
            <p:ph idx="1"/>
          </p:nvPr>
        </p:nvSpPr>
        <p:spPr/>
        <p:txBody>
          <a:bodyPr/>
          <a:lstStyle/>
          <a:p>
            <a:pPr marL="36576" indent="0">
              <a:buNone/>
            </a:pPr>
            <a:r>
              <a:rPr lang="en-US" dirty="0" smtClean="0"/>
              <a:t>Reasons to report issues requiring attention – so management can:</a:t>
            </a:r>
          </a:p>
          <a:p>
            <a:r>
              <a:rPr lang="en-AU" dirty="0" smtClean="0"/>
              <a:t>Decide if they want to have the matter attended to or not</a:t>
            </a:r>
            <a:endParaRPr lang="en-US" dirty="0" smtClean="0"/>
          </a:p>
          <a:p>
            <a:r>
              <a:rPr lang="en-AU" dirty="0" smtClean="0"/>
              <a:t>Obtain quotations </a:t>
            </a:r>
          </a:p>
          <a:p>
            <a:r>
              <a:rPr lang="en-AU" dirty="0" smtClean="0"/>
              <a:t>Make sure work to be done is best/most efficiently integrated into known tour schedule</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178</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88024" y="1772815"/>
            <a:ext cx="2448272" cy="3670573"/>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Notify management of issues that require external attention</a:t>
            </a:r>
            <a:endParaRPr lang="en-US" dirty="0"/>
          </a:p>
        </p:txBody>
      </p:sp>
      <p:sp>
        <p:nvSpPr>
          <p:cNvPr id="3" name="Content Placeholder 2"/>
          <p:cNvSpPr>
            <a:spLocks noGrp="1"/>
          </p:cNvSpPr>
          <p:nvPr>
            <p:ph idx="1"/>
          </p:nvPr>
        </p:nvSpPr>
        <p:spPr/>
        <p:txBody>
          <a:bodyPr/>
          <a:lstStyle/>
          <a:p>
            <a:r>
              <a:rPr lang="en-AU" dirty="0" smtClean="0"/>
              <a:t>Make arrangements for a replacement vehicle </a:t>
            </a:r>
            <a:endParaRPr lang="en-US" dirty="0" smtClean="0"/>
          </a:p>
          <a:p>
            <a:r>
              <a:rPr lang="en-AU" dirty="0" smtClean="0"/>
              <a:t>Ensure all tour vehicles are maintained in a safe and reliable condition </a:t>
            </a:r>
          </a:p>
          <a:p>
            <a:r>
              <a:rPr lang="en-AU" dirty="0" smtClean="0"/>
              <a:t>Factor this knowledge into other tour-related planning decisions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179</a:t>
            </a:fld>
            <a:endParaRPr lang="en-US" dirty="0"/>
          </a:p>
        </p:txBody>
      </p:sp>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ackgroundRemoval t="7367" b="100000" l="9816" r="76687"/>
                    </a14:imgEffect>
                  </a14:imgLayer>
                </a14:imgProps>
              </a:ext>
              <a:ext uri="{28A0092B-C50C-407E-A947-70E740481C1C}">
                <a14:useLocalDpi xmlns:a14="http://schemas.microsoft.com/office/drawing/2010/main" val="0"/>
              </a:ext>
            </a:extLst>
          </a:blip>
          <a:stretch>
            <a:fillRect/>
          </a:stretch>
        </p:blipFill>
        <p:spPr>
          <a:xfrm>
            <a:off x="4788024" y="1700807"/>
            <a:ext cx="2592288" cy="3886489"/>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Notify management of issues that require external attention</a:t>
            </a:r>
            <a:endParaRPr lang="en-US" dirty="0"/>
          </a:p>
        </p:txBody>
      </p:sp>
      <p:sp>
        <p:nvSpPr>
          <p:cNvPr id="3" name="Content Placeholder 2"/>
          <p:cNvSpPr>
            <a:spLocks noGrp="1"/>
          </p:cNvSpPr>
          <p:nvPr>
            <p:ph idx="1"/>
          </p:nvPr>
        </p:nvSpPr>
        <p:spPr/>
        <p:txBody>
          <a:bodyPr/>
          <a:lstStyle/>
          <a:p>
            <a:pPr marL="36576" indent="0">
              <a:buNone/>
            </a:pPr>
            <a:r>
              <a:rPr lang="en-US" dirty="0" smtClean="0"/>
              <a:t>Communication to management while on-tour of tour vehicle issues which will require external attention usually relate to:</a:t>
            </a:r>
          </a:p>
          <a:p>
            <a:r>
              <a:rPr lang="en-US" dirty="0" smtClean="0"/>
              <a:t>Major repairs</a:t>
            </a:r>
          </a:p>
          <a:p>
            <a:r>
              <a:rPr lang="en-AU" dirty="0" smtClean="0"/>
              <a:t>Significant other work/expenses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180</a:t>
            </a:fld>
            <a:endParaRPr lang="en-US" dirty="0"/>
          </a:p>
        </p:txBody>
      </p:sp>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ackgroundRemoval t="5048" b="100000" l="9816" r="96115">
                        <a14:foregroundMark x1="48875" y1="46385" x2="48875" y2="46385"/>
                        <a14:foregroundMark x1="47035" y1="43247" x2="47035" y2="43247"/>
                        <a14:foregroundMark x1="51738" y1="49250" x2="51738" y2="49250"/>
                        <a14:foregroundMark x1="56442" y1="57162" x2="56442" y2="57162"/>
                        <a14:foregroundMark x1="61145" y1="64666" x2="61145" y2="64666"/>
                      </a14:backgroundRemoval>
                    </a14:imgEffect>
                  </a14:imgLayer>
                </a14:imgProps>
              </a:ext>
              <a:ext uri="{28A0092B-C50C-407E-A947-70E740481C1C}">
                <a14:useLocalDpi xmlns:a14="http://schemas.microsoft.com/office/drawing/2010/main" val="0"/>
              </a:ext>
            </a:extLst>
          </a:blip>
          <a:stretch>
            <a:fillRect/>
          </a:stretch>
        </p:blipFill>
        <p:spPr>
          <a:xfrm>
            <a:off x="4427984" y="1844824"/>
            <a:ext cx="2541240" cy="3809955"/>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Notify management of issues that require external attention</a:t>
            </a:r>
            <a:endParaRPr lang="en-US" dirty="0"/>
          </a:p>
        </p:txBody>
      </p:sp>
      <p:sp>
        <p:nvSpPr>
          <p:cNvPr id="3" name="Content Placeholder 2"/>
          <p:cNvSpPr>
            <a:spLocks noGrp="1"/>
          </p:cNvSpPr>
          <p:nvPr>
            <p:ph idx="1"/>
          </p:nvPr>
        </p:nvSpPr>
        <p:spPr/>
        <p:txBody>
          <a:bodyPr/>
          <a:lstStyle/>
          <a:p>
            <a:pPr marL="36576" indent="0">
              <a:buNone/>
            </a:pPr>
            <a:r>
              <a:rPr lang="en-US" dirty="0" smtClean="0"/>
              <a:t>On-tour notification may occur:</a:t>
            </a:r>
          </a:p>
          <a:p>
            <a:r>
              <a:rPr lang="en-US" dirty="0" smtClean="0"/>
              <a:t>Via two-way radio</a:t>
            </a:r>
          </a:p>
          <a:p>
            <a:r>
              <a:rPr lang="en-US" dirty="0" smtClean="0"/>
              <a:t>Using cell phone</a:t>
            </a:r>
          </a:p>
          <a:p>
            <a:r>
              <a:rPr lang="en-US" dirty="0" smtClean="0"/>
              <a:t>Via a mobile device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181</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349" b="99700" l="4677" r="93764"/>
                    </a14:imgEffect>
                  </a14:imgLayer>
                </a14:imgProps>
              </a:ext>
              <a:ext uri="{28A0092B-C50C-407E-A947-70E740481C1C}">
                <a14:useLocalDpi xmlns:a14="http://schemas.microsoft.com/office/drawing/2010/main" val="0"/>
              </a:ext>
            </a:extLst>
          </a:blip>
          <a:srcRect/>
          <a:stretch/>
        </p:blipFill>
        <p:spPr>
          <a:xfrm>
            <a:off x="4572000" y="1918854"/>
            <a:ext cx="2448272" cy="3638029"/>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Notify management of issues that require external attention</a:t>
            </a:r>
            <a:endParaRPr lang="en-US" dirty="0"/>
          </a:p>
        </p:txBody>
      </p:sp>
      <p:sp>
        <p:nvSpPr>
          <p:cNvPr id="3" name="Content Placeholder 2"/>
          <p:cNvSpPr>
            <a:spLocks noGrp="1"/>
          </p:cNvSpPr>
          <p:nvPr>
            <p:ph idx="1"/>
          </p:nvPr>
        </p:nvSpPr>
        <p:spPr/>
        <p:txBody>
          <a:bodyPr/>
          <a:lstStyle/>
          <a:p>
            <a:pPr marL="36576" indent="0">
              <a:buNone/>
            </a:pPr>
            <a:r>
              <a:rPr lang="en-US" dirty="0" smtClean="0"/>
              <a:t>Report/notification may also occur at end of tour:</a:t>
            </a:r>
          </a:p>
          <a:p>
            <a:r>
              <a:rPr lang="en-US" dirty="0" smtClean="0"/>
              <a:t>By providing a verbal report</a:t>
            </a:r>
          </a:p>
          <a:p>
            <a:r>
              <a:rPr lang="en-US" dirty="0" smtClean="0"/>
              <a:t>By completing a vehicle maintenance requisition</a:t>
            </a:r>
          </a:p>
          <a:p>
            <a:r>
              <a:rPr lang="en-US" dirty="0" smtClean="0"/>
              <a:t>By discussing the problem/issue with specialist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182</a:t>
            </a:fld>
            <a:endParaRPr lang="en-US" dirty="0"/>
          </a:p>
        </p:txBody>
      </p:sp>
      <p:pic>
        <p:nvPicPr>
          <p:cNvPr id="5" name="Picture 4"/>
          <p:cNvPicPr>
            <a:picLocks noChangeAspect="1"/>
          </p:cNvPicPr>
          <p:nvPr/>
        </p:nvPicPr>
        <p:blipFill rotWithShape="1">
          <a:blip r:embed="rId3" cstate="print">
            <a:clrChange>
              <a:clrFrom>
                <a:srgbClr val="FFFDFF"/>
              </a:clrFrom>
              <a:clrTo>
                <a:srgbClr val="FFFDFF">
                  <a:alpha val="0"/>
                </a:srgbClr>
              </a:clrTo>
            </a:clrChange>
            <a:extLst>
              <a:ext uri="{28A0092B-C50C-407E-A947-70E740481C1C}">
                <a14:useLocalDpi xmlns:a14="http://schemas.microsoft.com/office/drawing/2010/main" val="0"/>
              </a:ext>
            </a:extLst>
          </a:blip>
          <a:srcRect/>
          <a:stretch/>
        </p:blipFill>
        <p:spPr>
          <a:xfrm>
            <a:off x="4932040" y="1960277"/>
            <a:ext cx="1728192" cy="3775969"/>
          </a:xfrm>
          <a:prstGeom prst="rect">
            <a:avLst/>
          </a:prstGeom>
        </p:spPr>
      </p:pic>
    </p:spTree>
  </p:cSld>
  <p:clrMapOvr>
    <a:masterClrMapping/>
  </p:clrMapOvr>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2368</TotalTime>
  <Words>26198</Words>
  <Application>Microsoft Office PowerPoint</Application>
  <PresentationFormat>On-screen Show (4:3)</PresentationFormat>
  <Paragraphs>3123</Paragraphs>
  <Slides>182</Slides>
  <Notes>182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182</vt:i4>
      </vt:variant>
    </vt:vector>
  </HeadingPairs>
  <TitlesOfParts>
    <vt:vector size="187" baseType="lpstr">
      <vt:lpstr>Arial</vt:lpstr>
      <vt:lpstr>Calibri</vt:lpstr>
      <vt:lpstr>Helvetica</vt:lpstr>
      <vt:lpstr>Wingdings 2</vt:lpstr>
      <vt:lpstr>PPT_Tour_operation_templates_130214</vt:lpstr>
      <vt:lpstr>OPERATE AND MAINTAIN A 4-WD VEHICLE IN SAFE WORKING CONDITION</vt:lpstr>
      <vt:lpstr>Operate and maintain a 4-WD vehicle in safe working condition</vt:lpstr>
      <vt:lpstr>Assessment</vt:lpstr>
      <vt:lpstr>Element 1 – operate a 4-wheel drive vehicle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Engage 4-wheel drive correctly and when appropriate</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Drive 4WD in a variety of on-road conditions and off-road conditions</vt:lpstr>
      <vt:lpstr>Provide safety and explanatory advice to passengers</vt:lpstr>
      <vt:lpstr>Provide safety and explanatory advice to passengers</vt:lpstr>
      <vt:lpstr>Provide safety and explanatory advice to passengers</vt:lpstr>
      <vt:lpstr>Provide safety and explanatory advice to passengers</vt:lpstr>
      <vt:lpstr>Provide safety and explanatory advice to passengers</vt:lpstr>
      <vt:lpstr>Provide safety and explanatory advice to passengers</vt:lpstr>
      <vt:lpstr>Provide safety and explanatory advice to passengers</vt:lpstr>
      <vt:lpstr>Provide safety and explanatory advice to passengers</vt:lpstr>
      <vt:lpstr>Ensure minimal environmental impact when driving a 4-wheel drive vehicle</vt:lpstr>
      <vt:lpstr>Ensure minimal environmental impact when driving a 4-wheel drive vehicle</vt:lpstr>
      <vt:lpstr>Ensure minimal environmental impact when driving a 4-wheel drive vehicle</vt:lpstr>
      <vt:lpstr>Ensure minimal environmental impact when driving a 4-wheel drive vehicle</vt:lpstr>
      <vt:lpstr>Ensure minimal environmental impact when driving a 4-wheel drive vehicle</vt:lpstr>
      <vt:lpstr>Ensure minimal environmental impact when driving a 4-wheel drive vehicle</vt:lpstr>
      <vt:lpstr>Comply with road safety and road use rules and regulations</vt:lpstr>
      <vt:lpstr>Comply with road safety and road use rules and regulations</vt:lpstr>
      <vt:lpstr>Comply with road safety and road use rules and regulations</vt:lpstr>
      <vt:lpstr>Element 2 – Recover a 4WD vehicle</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Use a variety of techniques to recover 4-wheel drive vehicles</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Optimise safety for passengers and protection of property</vt:lpstr>
      <vt:lpstr>Inspect vehicle after recovery and perform maintenance/repairs before proceeding</vt:lpstr>
      <vt:lpstr>Inspect vehicle after recovery and perform maintenance/repairs before proceeding</vt:lpstr>
      <vt:lpstr>Inspect vehicle after recovery and perform maintenance/repairs before proceeding</vt:lpstr>
      <vt:lpstr>Inspect vehicle after recovery and perform maintenance/repairs before proceeding</vt:lpstr>
      <vt:lpstr>Element 3 – Provide basic maintenance for a 4-WD vehicle</vt:lpstr>
      <vt:lpstr>Identify minor faults</vt:lpstr>
      <vt:lpstr>Identify minor faults</vt:lpstr>
      <vt:lpstr>Determine cause of faults</vt:lpstr>
      <vt:lpstr>Determine cause of faults</vt:lpstr>
      <vt:lpstr>Determine cause of faults</vt:lpstr>
      <vt:lpstr>Determine cause of faults</vt:lpstr>
      <vt:lpstr>Conduct visual inspection of and operational tests on vehicle</vt:lpstr>
      <vt:lpstr>Conduct visual inspection of and operational tests on vehicle</vt:lpstr>
      <vt:lpstr>Conduct visual inspection of and operational tests on vehicle</vt:lpstr>
      <vt:lpstr>Conduct visual inspection of and operational tests on vehicle</vt:lpstr>
      <vt:lpstr>Conduct visual inspection of and operational tests on vehicle</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repairs</vt:lpstr>
      <vt:lpstr>Effect necessary preventative maintenance</vt:lpstr>
      <vt:lpstr>Effect necessary preventative maintenance</vt:lpstr>
      <vt:lpstr>Effect necessary preventative maintenance</vt:lpstr>
      <vt:lpstr>Effect necessary preventative maintenance</vt:lpstr>
      <vt:lpstr>Effect necessary preventative maintenance</vt:lpstr>
      <vt:lpstr>Effect necessary preventative maintenance</vt:lpstr>
      <vt:lpstr>Effect necessary preventative maintenance</vt:lpstr>
      <vt:lpstr>Element 4 – Report on 4-wheel drive operation</vt:lpstr>
      <vt:lpstr>Complete documentation to record services and repair undertaken</vt:lpstr>
      <vt:lpstr>Complete documentation to record services and repair undertaken</vt:lpstr>
      <vt:lpstr>Complete documentation to record services and repair undertaken</vt:lpstr>
      <vt:lpstr>Complete documentation to record services and repair undertaken</vt:lpstr>
      <vt:lpstr>Complete documentation to record services and repair undertaken</vt:lpstr>
      <vt:lpstr>Complete documentation to record services and repair undertaken</vt:lpstr>
      <vt:lpstr>Complete documentation to record services and repair undertaken</vt:lpstr>
      <vt:lpstr>Complete documentation to record services and repair undertaken</vt:lpstr>
      <vt:lpstr>Complete documentation to record services and repair undertaken</vt:lpstr>
      <vt:lpstr>Complete documentation to record services and repair undertaken</vt:lpstr>
      <vt:lpstr>Complete documentation to record services and repair undertaken</vt:lpstr>
      <vt:lpstr>Notify management of issues that require external attention</vt:lpstr>
      <vt:lpstr>Notify management of issues that require external attention</vt:lpstr>
      <vt:lpstr>Notify management of issues that require external attention</vt:lpstr>
      <vt:lpstr>Notify management of issues that require external attention</vt:lpstr>
      <vt:lpstr>Notify management of issues that require external attention</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OPERATE AND MAINTAIN A 4-WD VEHICLE IN SAFE WORKING CONDITION</dc:title>
  <dc:creator>Mai Vu</dc:creator>
  <cp:lastModifiedBy>Carla Angelica Co</cp:lastModifiedBy>
  <cp:revision>115</cp:revision>
  <dcterms:created xsi:type="dcterms:W3CDTF">2014-03-25T05:53:11Z</dcterms:created>
  <dcterms:modified xsi:type="dcterms:W3CDTF">2016-07-19T02:01:29Z</dcterms:modified>
</cp:coreProperties>
</file>