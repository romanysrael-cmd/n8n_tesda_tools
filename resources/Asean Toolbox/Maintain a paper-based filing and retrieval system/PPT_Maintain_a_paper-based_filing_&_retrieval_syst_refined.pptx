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2"/>
  </p:notesMasterIdLst>
  <p:handoutMasterIdLst>
    <p:handoutMasterId r:id="rId83"/>
  </p:handoutMasterIdLst>
  <p:sldIdLst>
    <p:sldId id="256" r:id="rId2"/>
    <p:sldId id="257" r:id="rId3"/>
    <p:sldId id="258" r:id="rId4"/>
    <p:sldId id="259" r:id="rId5"/>
    <p:sldId id="260" r:id="rId6"/>
    <p:sldId id="267" r:id="rId7"/>
    <p:sldId id="268" r:id="rId8"/>
    <p:sldId id="269" r:id="rId9"/>
    <p:sldId id="271" r:id="rId10"/>
    <p:sldId id="270"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61" r:id="rId28"/>
    <p:sldId id="262" r:id="rId29"/>
    <p:sldId id="288" r:id="rId30"/>
    <p:sldId id="289" r:id="rId31"/>
    <p:sldId id="290" r:id="rId32"/>
    <p:sldId id="291" r:id="rId33"/>
    <p:sldId id="292" r:id="rId34"/>
    <p:sldId id="293" r:id="rId35"/>
    <p:sldId id="294" r:id="rId36"/>
    <p:sldId id="297" r:id="rId37"/>
    <p:sldId id="296" r:id="rId38"/>
    <p:sldId id="298" r:id="rId39"/>
    <p:sldId id="299" r:id="rId40"/>
    <p:sldId id="300" r:id="rId41"/>
    <p:sldId id="301" r:id="rId42"/>
    <p:sldId id="302" r:id="rId43"/>
    <p:sldId id="303" r:id="rId44"/>
    <p:sldId id="304" r:id="rId45"/>
    <p:sldId id="263" r:id="rId46"/>
    <p:sldId id="264" r:id="rId47"/>
    <p:sldId id="265" r:id="rId48"/>
    <p:sldId id="266"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6" r:id="rId80"/>
    <p:sldId id="335" r:id="rId8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5990" autoAdjust="0"/>
  </p:normalViewPr>
  <p:slideViewPr>
    <p:cSldViewPr>
      <p:cViewPr varScale="1">
        <p:scale>
          <a:sx n="40" d="100"/>
          <a:sy n="40" d="100"/>
        </p:scale>
        <p:origin x="54" y="9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3/28/2015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6468446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3/28/2015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445601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287281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three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674650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354634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What is an information system?</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89249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725564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386572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reasons for hard copy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783594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416504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315284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215714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and show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use of each type of hard copy information</a:t>
            </a:r>
          </a:p>
          <a:p>
            <a:pPr>
              <a:buFont typeface="Arial" pitchFamily="34" charset="0"/>
              <a:buChar char="•"/>
            </a:pPr>
            <a:r>
              <a:rPr lang="en-AU" sz="1200" b="0" kern="1200" baseline="0" dirty="0" smtClean="0">
                <a:solidFill>
                  <a:schemeClr val="tx1"/>
                </a:solidFill>
                <a:latin typeface="+mn-lt"/>
                <a:ea typeface="+mn-ea"/>
                <a:cs typeface="+mn-cs"/>
              </a:rPr>
              <a:t>Show examples where possible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46175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and show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use of each type of hard copy information</a:t>
            </a:r>
          </a:p>
          <a:p>
            <a:pPr>
              <a:buFont typeface="Arial" pitchFamily="34" charset="0"/>
              <a:buChar char="•"/>
            </a:pPr>
            <a:r>
              <a:rPr lang="en-AU" sz="1200" b="0" kern="1200" baseline="0" dirty="0" smtClean="0">
                <a:solidFill>
                  <a:schemeClr val="tx1"/>
                </a:solidFill>
                <a:latin typeface="+mn-lt"/>
                <a:ea typeface="+mn-ea"/>
                <a:cs typeface="+mn-cs"/>
              </a:rPr>
              <a:t>Show examples where possible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704039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and show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use of each type of hard copy information</a:t>
            </a:r>
          </a:p>
          <a:p>
            <a:pPr>
              <a:buFont typeface="Arial" pitchFamily="34" charset="0"/>
              <a:buChar char="•"/>
            </a:pPr>
            <a:r>
              <a:rPr lang="en-AU" sz="1200" b="0" kern="1200" baseline="0" dirty="0" smtClean="0">
                <a:solidFill>
                  <a:schemeClr val="tx1"/>
                </a:solidFill>
                <a:latin typeface="+mn-lt"/>
                <a:ea typeface="+mn-ea"/>
                <a:cs typeface="+mn-cs"/>
              </a:rPr>
              <a:t>Show examples where possible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947356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244744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requirements.</a:t>
            </a:r>
          </a:p>
          <a:p>
            <a:pPr>
              <a:buFont typeface="Arial" pitchFamily="34" charset="0"/>
              <a:buChar char="•"/>
            </a:pPr>
            <a:r>
              <a:rPr lang="en-AU" sz="1200" b="0" kern="1200" baseline="0" dirty="0" smtClean="0">
                <a:solidFill>
                  <a:schemeClr val="tx1"/>
                </a:solidFill>
                <a:latin typeface="+mn-lt"/>
                <a:ea typeface="+mn-ea"/>
                <a:cs typeface="+mn-cs"/>
              </a:rPr>
              <a:t>Identify what some potential policies or procedures that may be established to protect hard copy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846017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requirements.</a:t>
            </a:r>
          </a:p>
          <a:p>
            <a:pPr>
              <a:buFont typeface="Arial" pitchFamily="34" charset="0"/>
              <a:buChar char="•"/>
            </a:pPr>
            <a:r>
              <a:rPr lang="en-AU" sz="1200" b="0" kern="1200" baseline="0" dirty="0" smtClean="0">
                <a:solidFill>
                  <a:schemeClr val="tx1"/>
                </a:solidFill>
                <a:latin typeface="+mn-lt"/>
                <a:ea typeface="+mn-ea"/>
                <a:cs typeface="+mn-cs"/>
              </a:rPr>
              <a:t>Identify what some potential policies or procedures that may be established to protect hard copy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026404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When are they considered to be ‘inactive’ or dead’?</a:t>
            </a:r>
            <a:endParaRPr lang="en-US" b="0" dirty="0" smtClean="0"/>
          </a:p>
          <a:p>
            <a:pPr>
              <a:buFont typeface="Arial" pitchFamily="34" charset="0"/>
              <a:buChar char="•"/>
            </a:pPr>
            <a:r>
              <a:rPr lang="en-AU" sz="1200" b="0" kern="1200" baseline="0" dirty="0" smtClean="0">
                <a:solidFill>
                  <a:schemeClr val="tx1"/>
                </a:solidFill>
                <a:latin typeface="+mn-lt"/>
                <a:ea typeface="+mn-ea"/>
                <a:cs typeface="+mn-cs"/>
              </a:rPr>
              <a:t>What is done with these files?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891843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829768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ask others for input when setting up new files?</a:t>
            </a:r>
          </a:p>
          <a:p>
            <a:pPr>
              <a:buFont typeface="Arial" pitchFamily="34" charset="0"/>
              <a:buChar char="•"/>
            </a:pPr>
            <a:r>
              <a:rPr lang="en-AU" sz="1200" b="0" kern="1200" baseline="0" dirty="0" smtClean="0">
                <a:solidFill>
                  <a:schemeClr val="tx1"/>
                </a:solidFill>
                <a:latin typeface="+mn-lt"/>
                <a:ea typeface="+mn-ea"/>
                <a:cs typeface="+mn-cs"/>
              </a:rPr>
              <a:t>Who should you ask?</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646929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Group activity</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audience to list different categories and sub-categories for different positions in different hospitality departments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38924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Group activity</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Get audience to list different categories for different positions in different hospitality departments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6735609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this procedure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491945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guidelines would you have to make filing of documents easier?</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1541266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different types of systems.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248128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different types of systems.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6986880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different types of systems.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6587713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actions are required when retrieving files from appropriate storage locations?</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22426162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4083063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044019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Show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files, their uses, who uses them</a:t>
            </a:r>
          </a:p>
          <a:p>
            <a:pPr>
              <a:buFont typeface="Arial" pitchFamily="34" charset="0"/>
              <a:buChar char="•"/>
            </a:pPr>
            <a:r>
              <a:rPr lang="en-AU" sz="1200" b="0" kern="1200" baseline="0" dirty="0" smtClean="0">
                <a:solidFill>
                  <a:schemeClr val="tx1"/>
                </a:solidFill>
                <a:latin typeface="+mn-lt"/>
                <a:ea typeface="+mn-ea"/>
                <a:cs typeface="+mn-cs"/>
              </a:rPr>
              <a:t>Show examples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570358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Show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files, their uses, who uses them</a:t>
            </a:r>
          </a:p>
          <a:p>
            <a:pPr>
              <a:buFont typeface="Arial" pitchFamily="34" charset="0"/>
              <a:buChar char="•"/>
            </a:pPr>
            <a:r>
              <a:rPr lang="en-AU" sz="1200" b="0" kern="1200" baseline="0" dirty="0" smtClean="0">
                <a:solidFill>
                  <a:schemeClr val="tx1"/>
                </a:solidFill>
                <a:latin typeface="+mn-lt"/>
                <a:ea typeface="+mn-ea"/>
                <a:cs typeface="+mn-cs"/>
              </a:rPr>
              <a:t>Show examples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375131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Provide examples of each</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Filing cabinets: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3-drawer, 4-drawer, 2-drawer</a:t>
            </a:r>
          </a:p>
          <a:p>
            <a:pPr>
              <a:buFont typeface="Arial" pitchFamily="34" charset="0"/>
              <a:buChar char="•"/>
            </a:pPr>
            <a:r>
              <a:rPr lang="en-AU" sz="1200" kern="1200" dirty="0" smtClean="0">
                <a:solidFill>
                  <a:schemeClr val="tx1"/>
                </a:solidFill>
                <a:latin typeface="+mn-lt"/>
                <a:ea typeface="+mn-ea"/>
                <a:cs typeface="+mn-cs"/>
              </a:rPr>
              <a:t>Flat Boxes: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Flat box file, horizontal plan file</a:t>
            </a:r>
          </a:p>
          <a:p>
            <a:pPr>
              <a:buFont typeface="Arial" pitchFamily="34" charset="0"/>
              <a:buChar char="•"/>
            </a:pPr>
            <a:r>
              <a:rPr lang="en-AU" sz="1200" kern="1200" dirty="0" smtClean="0">
                <a:solidFill>
                  <a:schemeClr val="tx1"/>
                </a:solidFill>
                <a:latin typeface="+mn-lt"/>
                <a:ea typeface="+mn-ea"/>
                <a:cs typeface="+mn-cs"/>
              </a:rPr>
              <a:t>Lever arches: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Binder</a:t>
            </a:r>
          </a:p>
          <a:p>
            <a:pPr>
              <a:buFont typeface="Arial" pitchFamily="34" charset="0"/>
              <a:buChar char="•"/>
            </a:pPr>
            <a:r>
              <a:rPr lang="en-AU" sz="1200" kern="1200" dirty="0" smtClean="0">
                <a:solidFill>
                  <a:schemeClr val="tx1"/>
                </a:solidFill>
                <a:latin typeface="+mn-lt"/>
                <a:ea typeface="+mn-ea"/>
                <a:cs typeface="+mn-cs"/>
              </a:rPr>
              <a:t>Suspension folders: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Hanging files</a:t>
            </a:r>
          </a:p>
          <a:p>
            <a:pPr>
              <a:buFont typeface="Arial" pitchFamily="34" charset="0"/>
              <a:buChar char="•"/>
            </a:pPr>
            <a:r>
              <a:rPr lang="en-AU" sz="1200" kern="1200" dirty="0" smtClean="0">
                <a:solidFill>
                  <a:schemeClr val="tx1"/>
                </a:solidFill>
                <a:latin typeface="+mn-lt"/>
                <a:ea typeface="+mn-ea"/>
                <a:cs typeface="+mn-cs"/>
              </a:rPr>
              <a:t>Shelving: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Lateral cabinets, compactus</a:t>
            </a:r>
          </a:p>
          <a:p>
            <a:pPr>
              <a:buFont typeface="Arial" pitchFamily="34" charset="0"/>
              <a:buChar char="•"/>
            </a:pPr>
            <a:r>
              <a:rPr lang="en-AU" sz="1200" kern="1200" dirty="0" smtClean="0">
                <a:solidFill>
                  <a:schemeClr val="tx1"/>
                </a:solidFill>
                <a:latin typeface="+mn-lt"/>
                <a:ea typeface="+mn-ea"/>
                <a:cs typeface="+mn-cs"/>
              </a:rPr>
              <a:t>Other: Trolley, spike file, rotary file, concertina file</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9152544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Why is this important?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2477110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Why is a file out book important?</a:t>
            </a:r>
          </a:p>
          <a:p>
            <a:pPr>
              <a:buFont typeface="Arial" pitchFamily="34" charset="0"/>
              <a:buChar char="•"/>
            </a:pPr>
            <a:r>
              <a:rPr lang="en-US" b="0" dirty="0" smtClean="0"/>
              <a:t>What</a:t>
            </a:r>
            <a:r>
              <a:rPr lang="en-US" b="0" baseline="0" dirty="0" smtClean="0"/>
              <a:t> other information should be recorded in it?</a:t>
            </a:r>
          </a:p>
          <a:p>
            <a:pPr>
              <a:buFont typeface="Arial" pitchFamily="34" charset="0"/>
              <a:buChar char="•"/>
            </a:pPr>
            <a:r>
              <a:rPr lang="en-US" b="0" baseline="0" dirty="0" smtClean="0"/>
              <a:t>Who should have control of this book?</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89356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Why is a file out card important?</a:t>
            </a:r>
          </a:p>
          <a:p>
            <a:pPr>
              <a:buFont typeface="Arial" pitchFamily="34" charset="0"/>
              <a:buChar char="•"/>
            </a:pPr>
            <a:r>
              <a:rPr lang="en-US" b="0" dirty="0" smtClean="0"/>
              <a:t>What</a:t>
            </a:r>
            <a:r>
              <a:rPr lang="en-US" b="0" baseline="0" dirty="0" smtClean="0"/>
              <a:t> other information should be recorded in it?</a:t>
            </a:r>
          </a:p>
          <a:p>
            <a:pPr>
              <a:buFont typeface="Arial" pitchFamily="34" charset="0"/>
              <a:buChar char="•"/>
            </a:pPr>
            <a:r>
              <a:rPr lang="en-US" b="0" baseline="0" dirty="0" smtClean="0"/>
              <a:t>Who should have control of this book?</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2621785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Discuss</a:t>
            </a:r>
            <a:r>
              <a:rPr lang="en-US" b="0" baseline="0" dirty="0" smtClean="0"/>
              <a:t> these benefits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7936255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Discuss</a:t>
            </a:r>
            <a:r>
              <a:rPr lang="en-US" b="0" baseline="0" dirty="0" smtClean="0"/>
              <a:t> these regular movements.</a:t>
            </a:r>
          </a:p>
          <a:p>
            <a:pPr>
              <a:buFont typeface="Arial" pitchFamily="34" charset="0"/>
              <a:buChar char="•"/>
            </a:pPr>
            <a:r>
              <a:rPr lang="en-US" b="0" baseline="0" dirty="0" smtClean="0"/>
              <a:t>Who normally makes them?</a:t>
            </a:r>
          </a:p>
          <a:p>
            <a:pPr>
              <a:buFont typeface="Arial" pitchFamily="34" charset="0"/>
              <a:buChar char="•"/>
            </a:pPr>
            <a:r>
              <a:rPr lang="en-US" b="0" baseline="0" dirty="0" smtClean="0"/>
              <a:t>What is involved?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818150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What other ways can you record movements?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7391712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What other benefits are there?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6855081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What are examples of confidential files?</a:t>
            </a:r>
          </a:p>
          <a:p>
            <a:pPr>
              <a:buFont typeface="Arial" pitchFamily="34" charset="0"/>
              <a:buChar char="•"/>
            </a:pPr>
            <a:r>
              <a:rPr lang="en-US" b="0" dirty="0" smtClean="0"/>
              <a:t>How can you maintain security and confidentiality?</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2354986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What do you do with this information?</a:t>
            </a:r>
          </a:p>
          <a:p>
            <a:pPr>
              <a:buFont typeface="Arial" pitchFamily="34" charset="0"/>
              <a:buChar char="•"/>
            </a:pPr>
            <a:r>
              <a:rPr lang="en-US" b="0" dirty="0" smtClean="0"/>
              <a:t>How can you protect it?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0834207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What do you do with this information?</a:t>
            </a:r>
          </a:p>
          <a:p>
            <a:pPr>
              <a:buFont typeface="Arial" pitchFamily="34" charset="0"/>
              <a:buChar char="•"/>
            </a:pPr>
            <a:r>
              <a:rPr lang="en-US" b="0" dirty="0" smtClean="0"/>
              <a:t>How can you protect it?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4503879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Why</a:t>
            </a:r>
            <a:r>
              <a:rPr lang="en-US" b="0" baseline="0" dirty="0" smtClean="0"/>
              <a:t> is this important?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7596949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US" b="0" dirty="0" smtClean="0"/>
              <a:t>Discuss these measures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2631571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When a</a:t>
            </a:r>
            <a:r>
              <a:rPr lang="en-AU" sz="1200" kern="1200" baseline="0" dirty="0" smtClean="0">
                <a:solidFill>
                  <a:schemeClr val="tx1"/>
                </a:solidFill>
                <a:latin typeface="+mn-lt"/>
                <a:ea typeface="+mn-ea"/>
                <a:cs typeface="+mn-cs"/>
              </a:rPr>
              <a:t> business has large volumes of hard copy files, how can you maintain these systems?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630072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22734057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8663114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5703470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How</a:t>
            </a:r>
            <a:r>
              <a:rPr lang="en-AU" sz="1200" baseline="0" dirty="0" smtClean="0">
                <a:latin typeface="Helvetica" pitchFamily="34" charset="0"/>
              </a:rPr>
              <a:t> can you</a:t>
            </a:r>
            <a:r>
              <a:rPr lang="en-AU" sz="1200" dirty="0" smtClean="0">
                <a:latin typeface="Helvetica" pitchFamily="34" charset="0"/>
              </a:rPr>
              <a:t> maintain, modify and update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1574309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What other legal</a:t>
            </a:r>
            <a:r>
              <a:rPr lang="en-AU" sz="1200" baseline="0" dirty="0" smtClean="0">
                <a:latin typeface="Helvetica" pitchFamily="34" charset="0"/>
              </a:rPr>
              <a:t> information needs to be retained and maintained?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339995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What other operational reports </a:t>
            </a:r>
            <a:r>
              <a:rPr lang="en-AU" sz="1200" baseline="0" dirty="0" smtClean="0">
                <a:latin typeface="Helvetica" pitchFamily="34" charset="0"/>
              </a:rPr>
              <a:t>need to be retained and maintained?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2191540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Where would these</a:t>
            </a:r>
            <a:r>
              <a:rPr lang="en-AU" sz="1200" baseline="0" dirty="0" smtClean="0">
                <a:latin typeface="Helvetica" pitchFamily="34" charset="0"/>
              </a:rPr>
              <a:t> different techniques be appropriate?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9430011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How can you control this?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4076585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How can you control this?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767178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Discuss the importance</a:t>
            </a:r>
            <a:r>
              <a:rPr lang="en-AU" sz="1200" baseline="0" dirty="0" smtClean="0">
                <a:latin typeface="Helvetica" pitchFamily="34" charset="0"/>
              </a:rPr>
              <a:t> of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7018724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Where do files get archived to?</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2006609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When is it time to identify</a:t>
            </a:r>
            <a:r>
              <a:rPr lang="en-AU" sz="1200" baseline="0" dirty="0" smtClean="0">
                <a:latin typeface="Helvetica" pitchFamily="34" charset="0"/>
              </a:rPr>
              <a:t> and remove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1486260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What other options exist?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4283428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Discuss</a:t>
            </a:r>
            <a:r>
              <a:rPr lang="en-AU" sz="1200" baseline="0" dirty="0" smtClean="0">
                <a:latin typeface="Helvetica" pitchFamily="34" charset="0"/>
              </a:rPr>
              <a:t> these options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0300155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Discuss</a:t>
            </a:r>
            <a:r>
              <a:rPr lang="en-AU" sz="1200" baseline="0" dirty="0" smtClean="0">
                <a:latin typeface="Helvetica" pitchFamily="34" charset="0"/>
              </a:rPr>
              <a:t>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0314642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Discuss</a:t>
            </a:r>
            <a:r>
              <a:rPr lang="en-AU" sz="1200" baseline="0" dirty="0" smtClean="0">
                <a:latin typeface="Helvetica" pitchFamily="34" charset="0"/>
              </a:rPr>
              <a:t>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75631581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Discuss</a:t>
            </a:r>
            <a:r>
              <a:rPr lang="en-AU" sz="1200" baseline="0" dirty="0" smtClean="0">
                <a:latin typeface="Helvetica" pitchFamily="34" charset="0"/>
              </a:rPr>
              <a:t>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6638767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latin typeface="Helvetica" pitchFamily="34" charset="0"/>
              </a:rPr>
              <a:t>What other factors need to be taken into account?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5798896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a:t>
            </a:r>
            <a:r>
              <a:rPr lang="en-AU" sz="1200" b="0" baseline="0" dirty="0" smtClean="0">
                <a:latin typeface="Helvetica" pitchFamily="34" charset="0"/>
              </a:rPr>
              <a:t> the questions in this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20140299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24351383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these points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3990601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else can you do to maintain</a:t>
            </a:r>
            <a:r>
              <a:rPr lang="en-AU" sz="1200" b="0" baseline="0" dirty="0" smtClean="0">
                <a:latin typeface="Helvetica" pitchFamily="34" charset="0"/>
              </a:rPr>
              <a:t> a clean and tidy work area?</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5924513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the questions in this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20901535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are other types of general files for different departments?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60011224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are examples of files in these categories?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12854248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7621620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5747291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1553010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04149078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3823770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42126418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&amp;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Discuss confidential</a:t>
            </a:r>
            <a:r>
              <a:rPr lang="en-AU" sz="1200" b="0" baseline="0" dirty="0" smtClean="0">
                <a:latin typeface="Helvetica" pitchFamily="34" charset="0"/>
              </a:rPr>
              <a:t> information contained within these files?</a:t>
            </a:r>
          </a:p>
          <a:p>
            <a:pPr>
              <a:buFont typeface="Arial" pitchFamily="34" charset="0"/>
              <a:buChar char="•"/>
            </a:pPr>
            <a:r>
              <a:rPr lang="en-AU" sz="1200" b="0" baseline="0" dirty="0" smtClean="0">
                <a:latin typeface="Helvetica" pitchFamily="34" charset="0"/>
              </a:rPr>
              <a:t>Who controls these files?</a:t>
            </a:r>
          </a:p>
          <a:p>
            <a:pPr>
              <a:buFont typeface="Arial" pitchFamily="34" charset="0"/>
              <a:buChar char="•"/>
            </a:pPr>
            <a:r>
              <a:rPr lang="en-AU" sz="1200" b="0" baseline="0" dirty="0" smtClean="0">
                <a:latin typeface="Helvetica" pitchFamily="34" charset="0"/>
              </a:rPr>
              <a:t>Who has access to these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38807153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else can</a:t>
            </a:r>
            <a:r>
              <a:rPr lang="en-AU" sz="1200" b="0" baseline="0" dirty="0" smtClean="0">
                <a:latin typeface="Helvetica" pitchFamily="34" charset="0"/>
              </a:rPr>
              <a:t> you do to improve authorisation of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4080005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else can</a:t>
            </a:r>
            <a:r>
              <a:rPr lang="en-AU" sz="1200" b="0" baseline="0" dirty="0" smtClean="0">
                <a:latin typeface="Helvetica" pitchFamily="34" charset="0"/>
              </a:rPr>
              <a:t> you do to trace and secure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425258332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Class 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dirty="0" smtClean="0">
                <a:latin typeface="Helvetica" pitchFamily="34" charset="0"/>
              </a:rPr>
              <a:t>What else can</a:t>
            </a:r>
            <a:r>
              <a:rPr lang="en-AU" sz="1200" b="0" baseline="0" dirty="0" smtClean="0">
                <a:latin typeface="Helvetica" pitchFamily="34" charset="0"/>
              </a:rPr>
              <a:t> you do to trace and secure files?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2211034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3/28/2015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3/28/2015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3/28/2015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3/28/2015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3/28/2015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3/28/2015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3/28/2015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20688"/>
            <a:ext cx="7776192" cy="1285884"/>
          </a:xfrm>
        </p:spPr>
        <p:txBody>
          <a:bodyPr>
            <a:normAutofit fontScale="90000"/>
          </a:bodyPr>
          <a:lstStyle/>
          <a:p>
            <a:r>
              <a:rPr lang="en-AU" sz="4000" dirty="0" smtClean="0">
                <a:ln w="5000" cmpd="sng">
                  <a:noFill/>
                  <a:prstDash val="solid"/>
                </a:ln>
                <a:solidFill>
                  <a:srgbClr val="FF6600"/>
                </a:solidFill>
                <a:latin typeface="Helvetica" pitchFamily="34" charset="0"/>
              </a:rPr>
              <a:t>MAINTAIN A PAPER-BASED FILING AND RETRIEVAL SYSTEM</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004048" y="1988840"/>
            <a:ext cx="3333356" cy="1081830"/>
          </a:xfrm>
        </p:spPr>
        <p:txBody>
          <a:bodyPr>
            <a:noAutofit/>
          </a:bodyPr>
          <a:lstStyle/>
          <a:p>
            <a:r>
              <a:rPr lang="en-AU" sz="2400" b="1" dirty="0" smtClean="0">
                <a:latin typeface="Helvetica" pitchFamily="34" charset="0"/>
              </a:rPr>
              <a:t>D1.HGE.CL7.03</a:t>
            </a:r>
            <a:br>
              <a:rPr lang="en-AU" sz="2400" b="1" dirty="0" smtClean="0">
                <a:latin typeface="Helvetica" pitchFamily="34" charset="0"/>
              </a:rPr>
            </a:br>
            <a:r>
              <a:rPr lang="en-AU" sz="2400" b="1" dirty="0" smtClean="0">
                <a:latin typeface="Helvetica" pitchFamily="34" charset="0"/>
              </a:rPr>
              <a:t>D1.HGA.CL6.03</a:t>
            </a:r>
            <a:endParaRPr lang="en-AU"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latin typeface="Helvetica" pitchFamily="34" charset="0"/>
              </a:rPr>
              <a:t> Slide </a:t>
            </a:r>
            <a:fld id="{90BDF71C-F485-43AE-8825-5070AF1EA8C9}" type="slidenum">
              <a:rPr lang="en-AU" smtClean="0">
                <a:latin typeface="Helvetica" pitchFamily="34" charset="0"/>
              </a:rPr>
              <a:pPr/>
              <a:t>1</a:t>
            </a:fld>
            <a:endParaRPr lang="en-AU" dirty="0">
              <a:latin typeface="Helvetica" pitchFamily="34" charset="0"/>
            </a:endParaRPr>
          </a:p>
        </p:txBody>
      </p:sp>
      <p:pic>
        <p:nvPicPr>
          <p:cNvPr id="8" name="Picture 7" descr="Front Cover - Front Office.jpg"/>
          <p:cNvPicPr>
            <a:picLocks noChangeAspect="1"/>
          </p:cNvPicPr>
          <p:nvPr/>
        </p:nvPicPr>
        <p:blipFill>
          <a:blip r:embed="rId3" cstate="print"/>
          <a:stretch>
            <a:fillRect/>
          </a:stretch>
        </p:blipFill>
        <p:spPr>
          <a:xfrm>
            <a:off x="827584" y="2132856"/>
            <a:ext cx="4777646" cy="3923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517232"/>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a:spcBef>
                <a:spcPts val="600"/>
              </a:spcBef>
              <a:spcAft>
                <a:spcPts val="1200"/>
              </a:spcAft>
            </a:pPr>
            <a:r>
              <a:rPr lang="en-AU" sz="2200" dirty="0" smtClean="0">
                <a:latin typeface="Helvetica" pitchFamily="34" charset="0"/>
              </a:rPr>
              <a:t>Maintain information systems</a:t>
            </a:r>
          </a:p>
          <a:p>
            <a:pPr>
              <a:spcBef>
                <a:spcPts val="600"/>
              </a:spcBef>
              <a:spcAft>
                <a:spcPts val="1200"/>
              </a:spcAft>
            </a:pPr>
            <a:r>
              <a:rPr lang="en-AU" sz="2200" dirty="0" smtClean="0">
                <a:latin typeface="Helvetica" pitchFamily="34" charset="0"/>
              </a:rPr>
              <a:t>Retrieve files in response to information requests</a:t>
            </a:r>
          </a:p>
          <a:p>
            <a:pPr>
              <a:spcBef>
                <a:spcPts val="600"/>
              </a:spcBef>
              <a:spcAft>
                <a:spcPts val="1200"/>
              </a:spcAft>
            </a:pPr>
            <a:r>
              <a:rPr lang="en-AU" sz="2200" dirty="0" smtClean="0">
                <a:latin typeface="Helvetica" pitchFamily="34" charset="0"/>
              </a:rPr>
              <a:t>Maintain existing recording and filing systems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MP900399552[1].JPG"/>
          <p:cNvPicPr>
            <a:picLocks noChangeAspect="1"/>
          </p:cNvPicPr>
          <p:nvPr/>
        </p:nvPicPr>
        <p:blipFill>
          <a:blip r:embed="rId3" cstate="print"/>
          <a:stretch>
            <a:fillRect/>
          </a:stretch>
        </p:blipFill>
        <p:spPr>
          <a:xfrm>
            <a:off x="7020272" y="3573016"/>
            <a:ext cx="1382001" cy="1727923"/>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698.jpg"/>
          <p:cNvPicPr>
            <a:picLocks noChangeAspect="1"/>
          </p:cNvPicPr>
          <p:nvPr/>
        </p:nvPicPr>
        <p:blipFill>
          <a:blip r:embed="rId3" cstate="print"/>
          <a:stretch>
            <a:fillRect/>
          </a:stretch>
        </p:blipFill>
        <p:spPr>
          <a:xfrm>
            <a:off x="5652120" y="4005064"/>
            <a:ext cx="2752076" cy="1315962"/>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632848" cy="2376264"/>
          </a:xfrm>
        </p:spPr>
        <p:txBody>
          <a:bodyPr>
            <a:normAutofit/>
          </a:bodyPr>
          <a:lstStyle/>
          <a:p>
            <a:pPr marL="0">
              <a:buNone/>
            </a:pPr>
            <a:r>
              <a:rPr lang="en-AU" sz="3600" b="1" dirty="0" smtClean="0">
                <a:solidFill>
                  <a:srgbClr val="FF6600"/>
                </a:solidFill>
                <a:latin typeface="Helvetica" pitchFamily="34" charset="0"/>
              </a:rPr>
              <a:t>Element 1:</a:t>
            </a:r>
          </a:p>
          <a:p>
            <a:pPr marL="0">
              <a:spcBef>
                <a:spcPts val="600"/>
              </a:spcBef>
              <a:spcAft>
                <a:spcPts val="1200"/>
              </a:spcAft>
              <a:buNone/>
            </a:pPr>
            <a:r>
              <a:rPr lang="en-AU" sz="3600" b="1" i="1" dirty="0" smtClean="0">
                <a:solidFill>
                  <a:srgbClr val="FF6600"/>
                </a:solidFill>
                <a:latin typeface="Helvetica" pitchFamily="34" charset="0"/>
              </a:rPr>
              <a:t>Maintain information systems</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MP900400167.JPG"/>
          <p:cNvPicPr>
            <a:picLocks noChangeAspect="1"/>
          </p:cNvPicPr>
          <p:nvPr/>
        </p:nvPicPr>
        <p:blipFill>
          <a:blip r:embed="rId3" cstate="print"/>
          <a:stretch>
            <a:fillRect/>
          </a:stretch>
        </p:blipFill>
        <p:spPr>
          <a:xfrm>
            <a:off x="2771800" y="2852936"/>
            <a:ext cx="2629301" cy="1754237"/>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92088"/>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Maintain information systems</a:t>
            </a: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Information and filing systems are maintained in accordance with organisational requirements</a:t>
            </a:r>
          </a:p>
          <a:p>
            <a:pPr>
              <a:spcBef>
                <a:spcPts val="600"/>
              </a:spcBef>
              <a:spcAft>
                <a:spcPts val="1200"/>
              </a:spcAft>
            </a:pPr>
            <a:r>
              <a:rPr lang="en-AU" sz="2200" dirty="0" smtClean="0">
                <a:latin typeface="Helvetica" pitchFamily="34" charset="0"/>
              </a:rPr>
              <a:t>Inactive or dead files are identified, removed and/or relocated in accordance with organisational requirements</a:t>
            </a:r>
          </a:p>
          <a:p>
            <a:pPr>
              <a:spcBef>
                <a:spcPts val="600"/>
              </a:spcBef>
              <a:spcAft>
                <a:spcPts val="1200"/>
              </a:spcAft>
            </a:pPr>
            <a:r>
              <a:rPr lang="en-AU" sz="2200" dirty="0" smtClean="0">
                <a:latin typeface="Helvetica" pitchFamily="34" charset="0"/>
              </a:rPr>
              <a:t>New files are established and assembled in accordance with organisational requirements</a:t>
            </a:r>
          </a:p>
          <a:p>
            <a:pPr>
              <a:spcBef>
                <a:spcPts val="600"/>
              </a:spcBef>
              <a:spcAft>
                <a:spcPts val="1200"/>
              </a:spcAft>
            </a:pPr>
            <a:r>
              <a:rPr lang="en-AU" sz="2200" dirty="0" smtClean="0">
                <a:latin typeface="Helvetica" pitchFamily="34" charset="0"/>
              </a:rPr>
              <a:t>Reference and index systems are updated in accordance with organisational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MP900227700.JPG"/>
          <p:cNvPicPr>
            <a:picLocks noChangeAspect="1"/>
          </p:cNvPicPr>
          <p:nvPr/>
        </p:nvPicPr>
        <p:blipFill>
          <a:blip r:embed="rId3" cstate="print"/>
          <a:stretch>
            <a:fillRect/>
          </a:stretch>
        </p:blipFill>
        <p:spPr>
          <a:xfrm>
            <a:off x="6804248" y="4149080"/>
            <a:ext cx="1611690" cy="1069088"/>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 information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Importance of hard copy information</a:t>
            </a:r>
          </a:p>
          <a:p>
            <a:pPr marL="0">
              <a:spcBef>
                <a:spcPts val="600"/>
              </a:spcBef>
              <a:spcAft>
                <a:spcPts val="1200"/>
              </a:spcAft>
              <a:buNone/>
            </a:pPr>
            <a:r>
              <a:rPr lang="en-AU" sz="2200" dirty="0" smtClean="0">
                <a:latin typeface="Helvetica" pitchFamily="34" charset="0"/>
              </a:rPr>
              <a:t>Whilst technology is having a greater impact in the way we conduct business activities including the production, transfer and storage of information, there will always be a need to maintain hard copy information.</a:t>
            </a:r>
          </a:p>
          <a:p>
            <a:pPr>
              <a:spcBef>
                <a:spcPts val="600"/>
              </a:spcBef>
              <a:spcAft>
                <a:spcPts val="1200"/>
              </a:spcAft>
            </a:pPr>
            <a:r>
              <a:rPr lang="en-AU" sz="2200" dirty="0" smtClean="0">
                <a:latin typeface="Helvetica" pitchFamily="34" charset="0"/>
              </a:rPr>
              <a:t>What is hard copy information?</a:t>
            </a:r>
          </a:p>
          <a:p>
            <a:pPr>
              <a:spcBef>
                <a:spcPts val="600"/>
              </a:spcBef>
              <a:spcAft>
                <a:spcPts val="1200"/>
              </a:spcAft>
            </a:pPr>
            <a:r>
              <a:rPr lang="en-AU" sz="2200" dirty="0" smtClean="0">
                <a:latin typeface="Helvetica" pitchFamily="34" charset="0"/>
              </a:rPr>
              <a:t>What are examples of it kept in the </a:t>
            </a:r>
            <a:br>
              <a:rPr lang="en-AU" sz="2200" dirty="0" smtClean="0">
                <a:latin typeface="Helvetica" pitchFamily="34" charset="0"/>
              </a:rPr>
            </a:br>
            <a:r>
              <a:rPr lang="en-AU" sz="2200" dirty="0" smtClean="0">
                <a:latin typeface="Helvetica" pitchFamily="34" charset="0"/>
              </a:rPr>
              <a:t>hospitality industry?</a:t>
            </a:r>
          </a:p>
          <a:p>
            <a:pPr>
              <a:spcBef>
                <a:spcPts val="600"/>
              </a:spcBef>
              <a:spcAft>
                <a:spcPts val="1200"/>
              </a:spcAft>
            </a:pPr>
            <a:r>
              <a:rPr lang="en-AU" sz="2200" dirty="0" smtClean="0">
                <a:latin typeface="Helvetica" pitchFamily="34" charset="0"/>
              </a:rPr>
              <a:t>Why is it important to store hard                                         copy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7" name="Picture 6" descr="MP900178425.JPG"/>
          <p:cNvPicPr>
            <a:picLocks noChangeAspect="1"/>
          </p:cNvPicPr>
          <p:nvPr/>
        </p:nvPicPr>
        <p:blipFill>
          <a:blip r:embed="rId3" cstate="print"/>
          <a:stretch>
            <a:fillRect/>
          </a:stretch>
        </p:blipFill>
        <p:spPr>
          <a:xfrm>
            <a:off x="6660232" y="4077072"/>
            <a:ext cx="1720788" cy="114719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 information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Need for hard copy information</a:t>
            </a:r>
          </a:p>
          <a:p>
            <a:pPr>
              <a:spcBef>
                <a:spcPts val="600"/>
              </a:spcBef>
              <a:spcAft>
                <a:spcPts val="1200"/>
              </a:spcAft>
            </a:pPr>
            <a:r>
              <a:rPr lang="en-AU" sz="2200" dirty="0" smtClean="0">
                <a:latin typeface="Helvetica" pitchFamily="34" charset="0"/>
              </a:rPr>
              <a:t>Legal reasons</a:t>
            </a:r>
          </a:p>
          <a:p>
            <a:pPr>
              <a:spcBef>
                <a:spcPts val="600"/>
              </a:spcBef>
              <a:spcAft>
                <a:spcPts val="1200"/>
              </a:spcAft>
            </a:pPr>
            <a:r>
              <a:rPr lang="en-AU" sz="2200" dirty="0" smtClean="0">
                <a:latin typeface="Helvetica" pitchFamily="34" charset="0"/>
              </a:rPr>
              <a:t>Form of ‘evidence’</a:t>
            </a:r>
          </a:p>
          <a:p>
            <a:pPr>
              <a:spcBef>
                <a:spcPts val="600"/>
              </a:spcBef>
              <a:spcAft>
                <a:spcPts val="1200"/>
              </a:spcAft>
            </a:pPr>
            <a:r>
              <a:rPr lang="en-AU" sz="2200" dirty="0" smtClean="0">
                <a:latin typeface="Helvetica" pitchFamily="34" charset="0"/>
              </a:rPr>
              <a:t>Back up copy</a:t>
            </a:r>
          </a:p>
          <a:p>
            <a:pPr>
              <a:spcBef>
                <a:spcPts val="600"/>
              </a:spcBef>
              <a:spcAft>
                <a:spcPts val="1200"/>
              </a:spcAft>
            </a:pPr>
            <a:r>
              <a:rPr lang="en-AU" sz="2200" dirty="0" smtClean="0">
                <a:latin typeface="Helvetica" pitchFamily="34" charset="0"/>
              </a:rPr>
              <a:t>Contains original signatures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MP900175435.JPG"/>
          <p:cNvPicPr>
            <a:picLocks noChangeAspect="1"/>
          </p:cNvPicPr>
          <p:nvPr/>
        </p:nvPicPr>
        <p:blipFill>
          <a:blip r:embed="rId3" cstate="print"/>
          <a:stretch>
            <a:fillRect/>
          </a:stretch>
        </p:blipFill>
        <p:spPr>
          <a:xfrm>
            <a:off x="6444208" y="3933056"/>
            <a:ext cx="1936008" cy="130035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 information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Hard copy VS Electronic information</a:t>
            </a:r>
          </a:p>
          <a:p>
            <a:pPr>
              <a:spcBef>
                <a:spcPts val="600"/>
              </a:spcBef>
              <a:spcAft>
                <a:spcPts val="1200"/>
              </a:spcAft>
            </a:pPr>
            <a:r>
              <a:rPr lang="en-AU" sz="2200" dirty="0" smtClean="0">
                <a:latin typeface="Helvetica" pitchFamily="34" charset="0"/>
              </a:rPr>
              <a:t>What are the advantages of hard copy information?</a:t>
            </a:r>
          </a:p>
          <a:p>
            <a:pPr>
              <a:spcBef>
                <a:spcPts val="600"/>
              </a:spcBef>
              <a:spcAft>
                <a:spcPts val="1200"/>
              </a:spcAft>
            </a:pPr>
            <a:r>
              <a:rPr lang="en-AU" sz="2200" dirty="0" smtClean="0">
                <a:latin typeface="Helvetica" pitchFamily="34" charset="0"/>
              </a:rPr>
              <a:t>What are the disadvantages of hard copy information?</a:t>
            </a:r>
          </a:p>
          <a:p>
            <a:pPr>
              <a:spcBef>
                <a:spcPts val="600"/>
              </a:spcBef>
              <a:spcAft>
                <a:spcPts val="1200"/>
              </a:spcAft>
            </a:pPr>
            <a:r>
              <a:rPr lang="en-AU" sz="2200" dirty="0" smtClean="0">
                <a:latin typeface="Helvetica" pitchFamily="34" charset="0"/>
              </a:rPr>
              <a:t>What are the advantages of electronic information?</a:t>
            </a:r>
          </a:p>
          <a:p>
            <a:pPr>
              <a:spcBef>
                <a:spcPts val="600"/>
              </a:spcBef>
              <a:spcAft>
                <a:spcPts val="1200"/>
              </a:spcAft>
            </a:pPr>
            <a:r>
              <a:rPr lang="en-AU" sz="2200" dirty="0" smtClean="0">
                <a:latin typeface="Helvetica" pitchFamily="34" charset="0"/>
              </a:rPr>
              <a:t>What are the disadvantages of electronic information?</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descr="MP900305765.JPG"/>
          <p:cNvPicPr/>
          <p:nvPr/>
        </p:nvPicPr>
        <p:blipFill>
          <a:blip r:embed="rId3" cstate="print"/>
          <a:stretch>
            <a:fillRect/>
          </a:stretch>
        </p:blipFill>
        <p:spPr>
          <a:xfrm>
            <a:off x="3419872" y="4437112"/>
            <a:ext cx="1609725" cy="154305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 information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Filing systems</a:t>
            </a:r>
          </a:p>
          <a:p>
            <a:pPr>
              <a:spcBef>
                <a:spcPts val="600"/>
              </a:spcBef>
              <a:spcAft>
                <a:spcPts val="1200"/>
              </a:spcAft>
            </a:pPr>
            <a:r>
              <a:rPr lang="en-AU" sz="2200" dirty="0" smtClean="0">
                <a:latin typeface="Helvetica" pitchFamily="34" charset="0"/>
              </a:rPr>
              <a:t>What filing systems are used?</a:t>
            </a:r>
          </a:p>
          <a:p>
            <a:pPr>
              <a:spcBef>
                <a:spcPts val="600"/>
              </a:spcBef>
              <a:spcAft>
                <a:spcPts val="1200"/>
              </a:spcAft>
            </a:pPr>
            <a:r>
              <a:rPr lang="en-AU" sz="2200" dirty="0" smtClean="0">
                <a:latin typeface="Helvetica" pitchFamily="34" charset="0"/>
              </a:rPr>
              <a:t>Why is it important to have a good filing system?</a:t>
            </a:r>
          </a:p>
          <a:p>
            <a:pPr>
              <a:spcBef>
                <a:spcPts val="600"/>
              </a:spcBef>
              <a:spcAft>
                <a:spcPts val="1200"/>
              </a:spcAft>
            </a:pPr>
            <a:r>
              <a:rPr lang="en-AU" sz="2200" dirty="0" smtClean="0">
                <a:latin typeface="Helvetica" pitchFamily="34" charset="0"/>
              </a:rPr>
              <a:t>What are the characteristics of a good filing system?</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descr="MP900409031.JPG"/>
          <p:cNvPicPr/>
          <p:nvPr/>
        </p:nvPicPr>
        <p:blipFill>
          <a:blip r:embed="rId3" cstate="print"/>
          <a:stretch>
            <a:fillRect/>
          </a:stretch>
        </p:blipFill>
        <p:spPr>
          <a:xfrm>
            <a:off x="6804248" y="3789040"/>
            <a:ext cx="1613148" cy="146913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Maintain information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Personnel handing hard copy documentation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manner of personnel is required to handle hard copy documentation. </a:t>
            </a:r>
          </a:p>
          <a:p>
            <a:pPr>
              <a:spcBef>
                <a:spcPts val="600"/>
              </a:spcBef>
              <a:spcAft>
                <a:spcPts val="1200"/>
              </a:spcAft>
            </a:pPr>
            <a:r>
              <a:rPr lang="en-AU" sz="2200" dirty="0" smtClean="0">
                <a:latin typeface="Helvetica" pitchFamily="34" charset="0"/>
              </a:rPr>
              <a:t>Who normally handles hard copy information?</a:t>
            </a:r>
          </a:p>
          <a:p>
            <a:pPr>
              <a:spcBef>
                <a:spcPts val="600"/>
              </a:spcBef>
              <a:spcAft>
                <a:spcPts val="1200"/>
              </a:spcAft>
            </a:pPr>
            <a:r>
              <a:rPr lang="en-AU" sz="2200" dirty="0" smtClean="0">
                <a:latin typeface="Helvetica" pitchFamily="34" charset="0"/>
              </a:rPr>
              <a:t>What specific information do they need?</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MP900442356.JPG"/>
          <p:cNvPicPr/>
          <p:nvPr/>
        </p:nvPicPr>
        <p:blipFill>
          <a:blip r:embed="rId3" cstate="print"/>
          <a:stretch>
            <a:fillRect/>
          </a:stretch>
        </p:blipFill>
        <p:spPr>
          <a:xfrm>
            <a:off x="6732240" y="3933056"/>
            <a:ext cx="1684015" cy="127863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Hard copy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a:spcBef>
                <a:spcPts val="600"/>
              </a:spcBef>
              <a:spcAft>
                <a:spcPts val="1200"/>
              </a:spcAft>
              <a:buNone/>
            </a:pPr>
            <a:r>
              <a:rPr lang="en-AU" sz="2200" b="1" dirty="0" smtClean="0">
                <a:latin typeface="Helvetica" pitchFamily="34" charset="0"/>
              </a:rPr>
              <a:t>Types of generic hard copy information</a:t>
            </a:r>
          </a:p>
          <a:p>
            <a:pPr lvl="0">
              <a:spcBef>
                <a:spcPts val="600"/>
              </a:spcBef>
              <a:spcAft>
                <a:spcPts val="1200"/>
              </a:spcAft>
            </a:pPr>
            <a:r>
              <a:rPr lang="en-AU" sz="2200" dirty="0" smtClean="0">
                <a:latin typeface="Helvetica" pitchFamily="34" charset="0"/>
              </a:rPr>
              <a:t>Correspondence, such as faxes, memos, letters, email and other documents</a:t>
            </a:r>
          </a:p>
          <a:p>
            <a:pPr lvl="0">
              <a:spcBef>
                <a:spcPts val="600"/>
              </a:spcBef>
              <a:spcAft>
                <a:spcPts val="1200"/>
              </a:spcAft>
            </a:pPr>
            <a:r>
              <a:rPr lang="en-AU" sz="2200" dirty="0" smtClean="0">
                <a:latin typeface="Helvetica" pitchFamily="34" charset="0"/>
              </a:rPr>
              <a:t>Computer databases, such as library catalogue, customer records</a:t>
            </a:r>
          </a:p>
          <a:p>
            <a:pPr lvl="0">
              <a:spcBef>
                <a:spcPts val="600"/>
              </a:spcBef>
              <a:spcAft>
                <a:spcPts val="1200"/>
              </a:spcAft>
            </a:pPr>
            <a:r>
              <a:rPr lang="en-AU" sz="2200" dirty="0" smtClean="0">
                <a:latin typeface="Helvetica" pitchFamily="34" charset="0"/>
              </a:rPr>
              <a:t>Sales records, including monthly forecasts, </a:t>
            </a:r>
            <a:br>
              <a:rPr lang="en-AU" sz="2200" dirty="0" smtClean="0">
                <a:latin typeface="Helvetica" pitchFamily="34" charset="0"/>
              </a:rPr>
            </a:br>
            <a:r>
              <a:rPr lang="en-AU" sz="2200" dirty="0" smtClean="0">
                <a:latin typeface="Helvetica" pitchFamily="34" charset="0"/>
              </a:rPr>
              <a:t>targets achieved</a:t>
            </a:r>
          </a:p>
          <a:p>
            <a:pPr lvl="0">
              <a:spcBef>
                <a:spcPts val="600"/>
              </a:spcBef>
              <a:spcAft>
                <a:spcPts val="1200"/>
              </a:spcAft>
            </a:pPr>
            <a:r>
              <a:rPr lang="en-AU" sz="2200" dirty="0" smtClean="0">
                <a:latin typeface="Helvetica" pitchFamily="34" charset="0"/>
              </a:rPr>
              <a:t>Forms, including insurance forms, </a:t>
            </a:r>
            <a:br>
              <a:rPr lang="en-AU" sz="2200" dirty="0" smtClean="0">
                <a:latin typeface="Helvetica" pitchFamily="34" charset="0"/>
              </a:rPr>
            </a:br>
            <a:r>
              <a:rPr lang="en-AU" sz="2200" dirty="0" smtClean="0">
                <a:latin typeface="Helvetica" pitchFamily="34" charset="0"/>
              </a:rPr>
              <a:t>membership forms</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Picture 5" descr="MP900442211.JPG"/>
          <p:cNvPicPr>
            <a:picLocks noChangeAspect="1"/>
          </p:cNvPicPr>
          <p:nvPr/>
        </p:nvPicPr>
        <p:blipFill>
          <a:blip r:embed="rId3" cstate="print"/>
          <a:stretch>
            <a:fillRect/>
          </a:stretch>
        </p:blipFill>
        <p:spPr>
          <a:xfrm>
            <a:off x="7164288" y="3429000"/>
            <a:ext cx="1205880" cy="180882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Hard copy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a:spcBef>
                <a:spcPts val="600"/>
              </a:spcBef>
              <a:spcAft>
                <a:spcPts val="1200"/>
              </a:spcAft>
              <a:buNone/>
            </a:pPr>
            <a:r>
              <a:rPr lang="en-AU" sz="2200" b="1" dirty="0" smtClean="0">
                <a:latin typeface="Helvetica" pitchFamily="34" charset="0"/>
              </a:rPr>
              <a:t>Types of generic hard copy information</a:t>
            </a:r>
          </a:p>
          <a:p>
            <a:pPr lvl="0">
              <a:spcBef>
                <a:spcPts val="600"/>
              </a:spcBef>
              <a:spcAft>
                <a:spcPts val="1200"/>
              </a:spcAft>
            </a:pPr>
            <a:r>
              <a:rPr lang="en-AU" sz="2200" dirty="0" smtClean="0">
                <a:latin typeface="Helvetica" pitchFamily="34" charset="0"/>
              </a:rPr>
              <a:t>Invoices, such as from suppliers, to debtors</a:t>
            </a:r>
          </a:p>
          <a:p>
            <a:pPr lvl="0">
              <a:spcBef>
                <a:spcPts val="600"/>
              </a:spcBef>
              <a:spcAft>
                <a:spcPts val="1200"/>
              </a:spcAft>
            </a:pPr>
            <a:r>
              <a:rPr lang="en-AU" sz="2200" dirty="0" smtClean="0">
                <a:latin typeface="Helvetica" pitchFamily="34" charset="0"/>
              </a:rPr>
              <a:t>Personnel records, including personal details, salary rates</a:t>
            </a:r>
          </a:p>
          <a:p>
            <a:pPr lvl="0">
              <a:spcBef>
                <a:spcPts val="600"/>
              </a:spcBef>
              <a:spcAft>
                <a:spcPts val="1200"/>
              </a:spcAft>
            </a:pPr>
            <a:r>
              <a:rPr lang="en-AU" sz="2200" dirty="0" smtClean="0">
                <a:latin typeface="Helvetica" pitchFamily="34" charset="0"/>
              </a:rPr>
              <a:t>Information on training needs</a:t>
            </a:r>
          </a:p>
          <a:p>
            <a:pPr lvl="0">
              <a:spcBef>
                <a:spcPts val="600"/>
              </a:spcBef>
              <a:spcAft>
                <a:spcPts val="1200"/>
              </a:spcAft>
            </a:pPr>
            <a:r>
              <a:rPr lang="en-AU" sz="2200" dirty="0" smtClean="0">
                <a:latin typeface="Helvetica" pitchFamily="34" charset="0"/>
              </a:rPr>
              <a:t>Marketing reports, plans, budgets</a:t>
            </a:r>
          </a:p>
          <a:p>
            <a:pPr lvl="0">
              <a:spcBef>
                <a:spcPts val="600"/>
              </a:spcBef>
              <a:spcAft>
                <a:spcPts val="1200"/>
              </a:spcAft>
            </a:pPr>
            <a:r>
              <a:rPr lang="en-AU" sz="2200" dirty="0" smtClean="0">
                <a:latin typeface="Helvetica" pitchFamily="34" charset="0"/>
              </a:rPr>
              <a:t>Financial figures </a:t>
            </a:r>
          </a:p>
          <a:p>
            <a:pPr lvl="0">
              <a:spcBef>
                <a:spcPts val="600"/>
              </a:spcBef>
              <a:spcAft>
                <a:spcPts val="1200"/>
              </a:spcAft>
            </a:pPr>
            <a:r>
              <a:rPr lang="en-AU" sz="2200" dirty="0" smtClean="0">
                <a:latin typeface="Helvetica" pitchFamily="34" charset="0"/>
              </a:rPr>
              <a:t>Production targets</a:t>
            </a:r>
          </a:p>
          <a:p>
            <a:pPr lvl="0"/>
            <a:endParaRPr lang="en-AU" sz="2400" dirty="0" smtClean="0"/>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descr="MP900409469.JPG"/>
          <p:cNvPicPr/>
          <p:nvPr/>
        </p:nvPicPr>
        <p:blipFill>
          <a:blip r:embed="rId3" cstate="print"/>
          <a:stretch>
            <a:fillRect/>
          </a:stretch>
        </p:blipFill>
        <p:spPr>
          <a:xfrm>
            <a:off x="6732240" y="4005064"/>
            <a:ext cx="1625089" cy="1231007"/>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Hard copy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Financial source documents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Cheques </a:t>
            </a:r>
          </a:p>
          <a:p>
            <a:pPr lvl="0">
              <a:spcBef>
                <a:spcPts val="600"/>
              </a:spcBef>
              <a:spcAft>
                <a:spcPts val="1200"/>
              </a:spcAft>
            </a:pPr>
            <a:r>
              <a:rPr lang="en-AU" sz="2200" dirty="0" smtClean="0">
                <a:latin typeface="Helvetica" pitchFamily="34" charset="0"/>
              </a:rPr>
              <a:t>Deposit books </a:t>
            </a:r>
          </a:p>
          <a:p>
            <a:pPr lvl="0">
              <a:spcBef>
                <a:spcPts val="600"/>
              </a:spcBef>
              <a:spcAft>
                <a:spcPts val="1200"/>
              </a:spcAft>
            </a:pPr>
            <a:r>
              <a:rPr lang="en-AU" sz="2200" dirty="0" smtClean="0">
                <a:latin typeface="Helvetica" pitchFamily="34" charset="0"/>
              </a:rPr>
              <a:t>Cheque requisitions</a:t>
            </a:r>
          </a:p>
          <a:p>
            <a:pPr lvl="0">
              <a:spcBef>
                <a:spcPts val="600"/>
              </a:spcBef>
              <a:spcAft>
                <a:spcPts val="1200"/>
              </a:spcAft>
            </a:pPr>
            <a:r>
              <a:rPr lang="en-AU" sz="2200" dirty="0" smtClean="0">
                <a:latin typeface="Helvetica" pitchFamily="34" charset="0"/>
              </a:rPr>
              <a:t>Tax invoices </a:t>
            </a:r>
          </a:p>
          <a:p>
            <a:pPr lvl="0">
              <a:spcBef>
                <a:spcPts val="600"/>
              </a:spcBef>
              <a:spcAft>
                <a:spcPts val="1200"/>
              </a:spcAft>
            </a:pPr>
            <a:r>
              <a:rPr lang="en-AU" sz="2200" dirty="0" smtClean="0">
                <a:latin typeface="Helvetica" pitchFamily="34" charset="0"/>
              </a:rPr>
              <a:t>Credit notes </a:t>
            </a:r>
          </a:p>
          <a:p>
            <a:pPr lvl="0">
              <a:spcBef>
                <a:spcPts val="600"/>
              </a:spcBef>
              <a:spcAft>
                <a:spcPts val="1200"/>
              </a:spcAft>
            </a:pPr>
            <a:r>
              <a:rPr lang="en-AU" sz="2200" dirty="0" smtClean="0">
                <a:latin typeface="Helvetica" pitchFamily="34" charset="0"/>
              </a:rPr>
              <a:t>Expense vouchers</a:t>
            </a:r>
          </a:p>
          <a:p>
            <a:pPr lvl="0">
              <a:spcBef>
                <a:spcPts val="600"/>
              </a:spcBef>
              <a:spcAft>
                <a:spcPts val="1200"/>
              </a:spcAft>
            </a:pPr>
            <a:r>
              <a:rPr lang="en-AU" sz="2200" dirty="0" smtClean="0">
                <a:latin typeface="Helvetica" pitchFamily="34" charset="0"/>
              </a:rPr>
              <a:t>Petty cash vouchers </a:t>
            </a:r>
          </a:p>
          <a:p>
            <a:pPr>
              <a:spcBef>
                <a:spcPts val="600"/>
              </a:spcBef>
              <a:spcAft>
                <a:spcPts val="1200"/>
              </a:spcAft>
            </a:pPr>
            <a:r>
              <a:rPr lang="en-AU" sz="2200" dirty="0" smtClean="0">
                <a:latin typeface="Helvetica" pitchFamily="34" charset="0"/>
              </a:rPr>
              <a:t>Bank statements </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 name="Picture 5" descr="MP900309293.JPG"/>
          <p:cNvPicPr/>
          <p:nvPr/>
        </p:nvPicPr>
        <p:blipFill>
          <a:blip r:embed="rId3" cstate="print"/>
          <a:stretch>
            <a:fillRect/>
          </a:stretch>
        </p:blipFill>
        <p:spPr>
          <a:xfrm>
            <a:off x="6372200" y="4005064"/>
            <a:ext cx="1976487" cy="135825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Organisational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Importance of having organisational requirements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Given that many of these documents are not only of a sensitive nature, but need to be stored in a logical and easy to locate manner, each organisation is likely to have a number of requirements that must be followed when handling them: </a:t>
            </a:r>
          </a:p>
          <a:p>
            <a:pPr>
              <a:spcBef>
                <a:spcPts val="600"/>
              </a:spcBef>
              <a:spcAft>
                <a:spcPts val="1200"/>
              </a:spcAft>
            </a:pPr>
            <a:r>
              <a:rPr lang="en-AU" sz="2200" dirty="0" smtClean="0">
                <a:latin typeface="Helvetica" pitchFamily="34" charset="0"/>
              </a:rPr>
              <a:t>What types of requirements do organisations have?</a:t>
            </a:r>
          </a:p>
          <a:p>
            <a:pPr>
              <a:spcBef>
                <a:spcPts val="600"/>
              </a:spcBef>
              <a:spcAft>
                <a:spcPts val="1200"/>
              </a:spcAft>
            </a:pPr>
            <a:endParaRPr lang="en-AU" sz="2200" dirty="0" smtClean="0">
              <a:latin typeface="Helvetica" pitchFamily="34" charset="0"/>
            </a:endParaRP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8" name="Picture 7" descr="MP900411789[1].JPG"/>
          <p:cNvPicPr>
            <a:picLocks noChangeAspect="1"/>
          </p:cNvPicPr>
          <p:nvPr/>
        </p:nvPicPr>
        <p:blipFill>
          <a:blip r:embed="rId3" cstate="print"/>
          <a:stretch>
            <a:fillRect/>
          </a:stretch>
        </p:blipFill>
        <p:spPr>
          <a:xfrm>
            <a:off x="6372200" y="4149080"/>
            <a:ext cx="1978783" cy="1318673"/>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Organisational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organisational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Security and confidentiality requirements</a:t>
            </a:r>
          </a:p>
          <a:p>
            <a:pPr lvl="0">
              <a:spcBef>
                <a:spcPts val="600"/>
              </a:spcBef>
              <a:spcAft>
                <a:spcPts val="1200"/>
              </a:spcAft>
            </a:pPr>
            <a:r>
              <a:rPr lang="en-AU" sz="2200" dirty="0" smtClean="0">
                <a:latin typeface="Helvetica" pitchFamily="34" charset="0"/>
              </a:rPr>
              <a:t>Legal and organizational policy, guidelines and requirements</a:t>
            </a:r>
          </a:p>
          <a:p>
            <a:pPr lvl="0">
              <a:spcBef>
                <a:spcPts val="600"/>
              </a:spcBef>
              <a:spcAft>
                <a:spcPts val="1200"/>
              </a:spcAft>
            </a:pPr>
            <a:r>
              <a:rPr lang="en-AU" sz="2200" dirty="0" smtClean="0">
                <a:latin typeface="Helvetica" pitchFamily="34" charset="0"/>
              </a:rPr>
              <a:t>Management and accountability channels</a:t>
            </a:r>
          </a:p>
          <a:p>
            <a:pPr lvl="0">
              <a:spcBef>
                <a:spcPts val="600"/>
              </a:spcBef>
              <a:spcAft>
                <a:spcPts val="1200"/>
              </a:spcAft>
            </a:pPr>
            <a:r>
              <a:rPr lang="en-AU" sz="2200" dirty="0" smtClean="0">
                <a:latin typeface="Helvetica" pitchFamily="34" charset="0"/>
              </a:rPr>
              <a:t>Code of Conduct, Code of Ethics</a:t>
            </a:r>
          </a:p>
          <a:p>
            <a:pPr lvl="0">
              <a:spcBef>
                <a:spcPts val="600"/>
              </a:spcBef>
              <a:spcAft>
                <a:spcPts val="1200"/>
              </a:spcAft>
            </a:pPr>
            <a:r>
              <a:rPr lang="en-AU" sz="2200" dirty="0" smtClean="0">
                <a:latin typeface="Helvetica" pitchFamily="34" charset="0"/>
              </a:rPr>
              <a:t>Procedures for updating records</a:t>
            </a:r>
          </a:p>
          <a:p>
            <a:pPr lvl="0">
              <a:spcBef>
                <a:spcPts val="600"/>
              </a:spcBef>
              <a:spcAft>
                <a:spcPts val="1200"/>
              </a:spcAft>
            </a:pPr>
            <a:r>
              <a:rPr lang="en-AU" sz="2200" dirty="0" smtClean="0">
                <a:latin typeface="Helvetica" pitchFamily="34" charset="0"/>
              </a:rPr>
              <a:t>Information protocols</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7" name="Picture 6" descr="MP900410059[1].JPG"/>
          <p:cNvPicPr>
            <a:picLocks noChangeAspect="1"/>
          </p:cNvPicPr>
          <p:nvPr/>
        </p:nvPicPr>
        <p:blipFill>
          <a:blip r:embed="rId3" cstate="print"/>
          <a:stretch>
            <a:fillRect/>
          </a:stretch>
        </p:blipFill>
        <p:spPr>
          <a:xfrm>
            <a:off x="6444208" y="3981099"/>
            <a:ext cx="1909727" cy="127414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Organisational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organisational requirements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Who has responsibility for producing and handling documents </a:t>
            </a:r>
          </a:p>
          <a:p>
            <a:pPr lvl="0">
              <a:spcBef>
                <a:spcPts val="600"/>
              </a:spcBef>
              <a:spcAft>
                <a:spcPts val="1200"/>
              </a:spcAft>
            </a:pPr>
            <a:r>
              <a:rPr lang="en-AU" sz="2200" dirty="0" smtClean="0">
                <a:latin typeface="Helvetica" pitchFamily="34" charset="0"/>
              </a:rPr>
              <a:t>Who has authority for authorising documents and signing them prior to despatch</a:t>
            </a:r>
          </a:p>
          <a:p>
            <a:pPr lvl="0">
              <a:spcBef>
                <a:spcPts val="600"/>
              </a:spcBef>
              <a:spcAft>
                <a:spcPts val="1200"/>
              </a:spcAft>
            </a:pPr>
            <a:r>
              <a:rPr lang="en-AU" sz="2200" dirty="0" smtClean="0">
                <a:latin typeface="Helvetica" pitchFamily="34" charset="0"/>
              </a:rPr>
              <a:t>Filing and storing copies of documents</a:t>
            </a:r>
          </a:p>
          <a:p>
            <a:pPr>
              <a:spcBef>
                <a:spcPts val="600"/>
              </a:spcBef>
              <a:spcAft>
                <a:spcPts val="1200"/>
              </a:spcAft>
            </a:pPr>
            <a:r>
              <a:rPr lang="en-AU" sz="2200" dirty="0" smtClean="0">
                <a:latin typeface="Helvetica" pitchFamily="34" charset="0"/>
              </a:rPr>
              <a:t>Identification of (blank and pro forma) </a:t>
            </a:r>
            <a:br>
              <a:rPr lang="en-AU" sz="2200" dirty="0" smtClean="0">
                <a:latin typeface="Helvetica" pitchFamily="34" charset="0"/>
              </a:rPr>
            </a:br>
            <a:r>
              <a:rPr lang="en-AU" sz="2200" dirty="0" smtClean="0">
                <a:latin typeface="Helvetica" pitchFamily="34" charset="0"/>
              </a:rPr>
              <a:t>documents that need to be prepared </a:t>
            </a:r>
            <a:br>
              <a:rPr lang="en-AU" sz="2200" dirty="0" smtClean="0">
                <a:latin typeface="Helvetica" pitchFamily="34" charset="0"/>
              </a:rPr>
            </a:br>
            <a:r>
              <a:rPr lang="en-AU" sz="2200" dirty="0" smtClean="0">
                <a:latin typeface="Helvetica" pitchFamily="34" charset="0"/>
              </a:rPr>
              <a:t>on a regular basis</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MP900316770.JPG"/>
          <p:cNvPicPr/>
          <p:nvPr/>
        </p:nvPicPr>
        <p:blipFill>
          <a:blip r:embed="rId3" cstate="print"/>
          <a:stretch>
            <a:fillRect/>
          </a:stretch>
        </p:blipFill>
        <p:spPr>
          <a:xfrm>
            <a:off x="6516216" y="4005064"/>
            <a:ext cx="1864360" cy="123825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Handle inactive or dead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184576"/>
          </a:xfrm>
        </p:spPr>
        <p:txBody>
          <a:bodyPr>
            <a:normAutofit/>
          </a:bodyPr>
          <a:lstStyle/>
          <a:p>
            <a:pPr>
              <a:spcBef>
                <a:spcPts val="600"/>
              </a:spcBef>
              <a:spcAft>
                <a:spcPts val="1200"/>
              </a:spcAft>
              <a:buNone/>
            </a:pPr>
            <a:r>
              <a:rPr lang="en-AU" sz="2200" b="1" dirty="0" smtClean="0">
                <a:latin typeface="Helvetica" pitchFamily="34" charset="0"/>
              </a:rPr>
              <a:t>Types of inactive or dead files</a:t>
            </a:r>
          </a:p>
          <a:p>
            <a:pPr>
              <a:spcBef>
                <a:spcPts val="600"/>
              </a:spcBef>
              <a:spcAft>
                <a:spcPts val="1200"/>
              </a:spcAft>
              <a:buNone/>
            </a:pPr>
            <a:r>
              <a:rPr lang="en-AU" sz="2200" dirty="0" smtClean="0">
                <a:latin typeface="Helvetica" pitchFamily="34" charset="0"/>
              </a:rPr>
              <a:t>Inactive or dead files may include:</a:t>
            </a:r>
          </a:p>
          <a:p>
            <a:pPr lvl="0">
              <a:spcBef>
                <a:spcPts val="600"/>
              </a:spcBef>
              <a:spcAft>
                <a:spcPts val="1200"/>
              </a:spcAft>
            </a:pPr>
            <a:r>
              <a:rPr lang="en-AU" sz="2200" dirty="0" smtClean="0">
                <a:latin typeface="Helvetica" pitchFamily="34" charset="0"/>
              </a:rPr>
              <a:t>Completed projects or events</a:t>
            </a:r>
          </a:p>
          <a:p>
            <a:pPr lvl="0">
              <a:spcBef>
                <a:spcPts val="600"/>
              </a:spcBef>
              <a:spcAft>
                <a:spcPts val="1200"/>
              </a:spcAft>
            </a:pPr>
            <a:r>
              <a:rPr lang="en-AU" sz="2200" dirty="0" smtClean="0">
                <a:latin typeface="Helvetica" pitchFamily="34" charset="0"/>
              </a:rPr>
              <a:t>Old clients</a:t>
            </a:r>
          </a:p>
          <a:p>
            <a:pPr lvl="0">
              <a:spcBef>
                <a:spcPts val="600"/>
              </a:spcBef>
              <a:spcAft>
                <a:spcPts val="1200"/>
              </a:spcAft>
            </a:pPr>
            <a:r>
              <a:rPr lang="en-AU" sz="2200" dirty="0" smtClean="0">
                <a:latin typeface="Helvetica" pitchFamily="34" charset="0"/>
              </a:rPr>
              <a:t>Paid accounts</a:t>
            </a:r>
          </a:p>
          <a:p>
            <a:pPr lvl="0">
              <a:spcBef>
                <a:spcPts val="600"/>
              </a:spcBef>
              <a:spcAft>
                <a:spcPts val="1200"/>
              </a:spcAft>
            </a:pPr>
            <a:r>
              <a:rPr lang="en-AU" sz="2200" dirty="0" smtClean="0">
                <a:latin typeface="Helvetica" pitchFamily="34" charset="0"/>
              </a:rPr>
              <a:t>Ex employee information</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6" name="Picture 5" descr="MP900422117.JPG"/>
          <p:cNvPicPr/>
          <p:nvPr/>
        </p:nvPicPr>
        <p:blipFill>
          <a:blip r:embed="rId3" cstate="print"/>
          <a:stretch>
            <a:fillRect/>
          </a:stretch>
        </p:blipFill>
        <p:spPr>
          <a:xfrm>
            <a:off x="7058173" y="3501008"/>
            <a:ext cx="1330251" cy="17844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Handle inactive or dead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184576"/>
          </a:xfrm>
        </p:spPr>
        <p:txBody>
          <a:bodyPr>
            <a:normAutofit/>
          </a:bodyPr>
          <a:lstStyle/>
          <a:p>
            <a:pPr>
              <a:spcBef>
                <a:spcPts val="600"/>
              </a:spcBef>
              <a:spcAft>
                <a:spcPts val="1200"/>
              </a:spcAft>
              <a:buNone/>
            </a:pPr>
            <a:r>
              <a:rPr lang="en-AU" sz="2200" b="1" dirty="0" smtClean="0">
                <a:latin typeface="Helvetica" pitchFamily="34" charset="0"/>
              </a:rPr>
              <a:t>Handling inactive or dead files</a:t>
            </a:r>
          </a:p>
          <a:p>
            <a:pPr>
              <a:spcBef>
                <a:spcPts val="600"/>
              </a:spcBef>
              <a:spcAft>
                <a:spcPts val="1200"/>
              </a:spcAft>
              <a:buNone/>
            </a:pPr>
            <a:r>
              <a:rPr lang="en-AU" sz="2200" dirty="0" smtClean="0">
                <a:latin typeface="Helvetica" pitchFamily="34" charset="0"/>
              </a:rPr>
              <a:t>How should you:</a:t>
            </a:r>
          </a:p>
          <a:p>
            <a:pPr lvl="0">
              <a:spcBef>
                <a:spcPts val="600"/>
              </a:spcBef>
              <a:spcAft>
                <a:spcPts val="1200"/>
              </a:spcAft>
            </a:pPr>
            <a:r>
              <a:rPr lang="en-AU" sz="2200" dirty="0" smtClean="0">
                <a:latin typeface="Helvetica" pitchFamily="34" charset="0"/>
              </a:rPr>
              <a:t>Remove files</a:t>
            </a:r>
          </a:p>
          <a:p>
            <a:pPr lvl="0">
              <a:spcBef>
                <a:spcPts val="600"/>
              </a:spcBef>
              <a:spcAft>
                <a:spcPts val="1200"/>
              </a:spcAft>
            </a:pPr>
            <a:r>
              <a:rPr lang="en-AU" sz="2200" dirty="0" smtClean="0">
                <a:latin typeface="Helvetica" pitchFamily="34" charset="0"/>
              </a:rPr>
              <a:t>Destroy files</a:t>
            </a:r>
          </a:p>
          <a:p>
            <a:pPr>
              <a:spcBef>
                <a:spcPts val="600"/>
              </a:spcBef>
              <a:spcAft>
                <a:spcPts val="1200"/>
              </a:spcAft>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7" name="Picture 6" descr="MP900422446.JPG"/>
          <p:cNvPicPr/>
          <p:nvPr/>
        </p:nvPicPr>
        <p:blipFill>
          <a:blip r:embed="rId3" cstate="print"/>
          <a:stretch>
            <a:fillRect/>
          </a:stretch>
        </p:blipFill>
        <p:spPr>
          <a:xfrm>
            <a:off x="6516216" y="3933056"/>
            <a:ext cx="1904033" cy="133977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Establish and assemble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Solicit input from users</a:t>
            </a:r>
          </a:p>
          <a:p>
            <a:pPr marL="0">
              <a:spcBef>
                <a:spcPts val="600"/>
              </a:spcBef>
              <a:spcAft>
                <a:spcPts val="1200"/>
              </a:spcAft>
              <a:buNone/>
            </a:pPr>
            <a:r>
              <a:rPr lang="en-AU" sz="2200" dirty="0" smtClean="0">
                <a:latin typeface="Helvetica" pitchFamily="34" charset="0"/>
              </a:rPr>
              <a:t>When establishing and assembling new files it is important that the end user understands:</a:t>
            </a:r>
          </a:p>
          <a:p>
            <a:pPr lvl="0">
              <a:spcBef>
                <a:spcPts val="600"/>
              </a:spcBef>
              <a:spcAft>
                <a:spcPts val="1200"/>
              </a:spcAft>
            </a:pPr>
            <a:r>
              <a:rPr lang="en-AU" sz="2200" dirty="0" smtClean="0">
                <a:latin typeface="Helvetica" pitchFamily="34" charset="0"/>
              </a:rPr>
              <a:t>How files will be filed</a:t>
            </a:r>
          </a:p>
          <a:p>
            <a:pPr lvl="0">
              <a:spcBef>
                <a:spcPts val="600"/>
              </a:spcBef>
              <a:spcAft>
                <a:spcPts val="1200"/>
              </a:spcAft>
            </a:pPr>
            <a:r>
              <a:rPr lang="en-AU" sz="2200" dirty="0" smtClean="0">
                <a:latin typeface="Helvetica" pitchFamily="34" charset="0"/>
              </a:rPr>
              <a:t>Methods of identifying files</a:t>
            </a:r>
          </a:p>
          <a:p>
            <a:pPr lvl="0">
              <a:spcBef>
                <a:spcPts val="600"/>
              </a:spcBef>
              <a:spcAft>
                <a:spcPts val="1200"/>
              </a:spcAft>
            </a:pPr>
            <a:r>
              <a:rPr lang="en-AU" sz="2200" dirty="0" smtClean="0">
                <a:latin typeface="Helvetica" pitchFamily="34" charset="0"/>
              </a:rPr>
              <a:t>Where they will be located</a:t>
            </a:r>
          </a:p>
          <a:p>
            <a:pPr>
              <a:spcBef>
                <a:spcPts val="600"/>
              </a:spcBef>
              <a:spcAft>
                <a:spcPts val="1200"/>
              </a:spcAft>
            </a:pPr>
            <a:r>
              <a:rPr lang="en-AU" sz="2200" dirty="0" smtClean="0">
                <a:latin typeface="Helvetica" pitchFamily="34" charset="0"/>
              </a:rPr>
              <a:t>How they can be accessed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MP900400167.JPG"/>
          <p:cNvPicPr/>
          <p:nvPr/>
        </p:nvPicPr>
        <p:blipFill>
          <a:blip r:embed="rId3" cstate="print"/>
          <a:stretch>
            <a:fillRect/>
          </a:stretch>
        </p:blipFill>
        <p:spPr>
          <a:xfrm>
            <a:off x="6588224" y="3861048"/>
            <a:ext cx="1826890" cy="134111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Establish and assemble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Establishing file categories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To make a filing system more effective it is essential to group files into ‘categories’. A category is a group or a collection of files or documents that belong together.</a:t>
            </a:r>
          </a:p>
          <a:p>
            <a:pPr>
              <a:spcBef>
                <a:spcPts val="600"/>
              </a:spcBef>
              <a:spcAft>
                <a:spcPts val="1200"/>
              </a:spcAft>
            </a:pPr>
            <a:r>
              <a:rPr lang="en-AU" sz="2200" dirty="0" smtClean="0">
                <a:latin typeface="Helvetica" pitchFamily="34" charset="0"/>
              </a:rPr>
              <a:t>What are examples of categories for different departments within a hotel?</a:t>
            </a:r>
          </a:p>
          <a:p>
            <a:pPr>
              <a:spcBef>
                <a:spcPts val="600"/>
              </a:spcBef>
              <a:spcAft>
                <a:spcPts val="1200"/>
              </a:spcAft>
            </a:pPr>
            <a:r>
              <a:rPr lang="en-AU" sz="2200" dirty="0" smtClean="0">
                <a:latin typeface="Helvetica" pitchFamily="34" charset="0"/>
              </a:rPr>
              <a:t>What are sub-categories with these?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7" name="Picture 6" descr="MP900409031.JPG"/>
          <p:cNvPicPr/>
          <p:nvPr/>
        </p:nvPicPr>
        <p:blipFill>
          <a:blip r:embed="rId3" cstate="print"/>
          <a:stretch>
            <a:fillRect/>
          </a:stretch>
        </p:blipFill>
        <p:spPr>
          <a:xfrm>
            <a:off x="7020272" y="3861048"/>
            <a:ext cx="1381125" cy="138112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Establish and assemble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Forming categories</a:t>
            </a:r>
          </a:p>
          <a:p>
            <a:pPr>
              <a:spcBef>
                <a:spcPts val="600"/>
              </a:spcBef>
              <a:spcAft>
                <a:spcPts val="1200"/>
              </a:spcAft>
              <a:buNone/>
            </a:pPr>
            <a:r>
              <a:rPr lang="en-AU" sz="2200" dirty="0" smtClean="0">
                <a:latin typeface="Helvetica" pitchFamily="34" charset="0"/>
              </a:rPr>
              <a:t>Some easy to follow suggestions include:</a:t>
            </a:r>
          </a:p>
          <a:p>
            <a:pPr lvl="0">
              <a:spcBef>
                <a:spcPts val="600"/>
              </a:spcBef>
              <a:spcAft>
                <a:spcPts val="1200"/>
              </a:spcAft>
            </a:pPr>
            <a:r>
              <a:rPr lang="en-AU" sz="2200" dirty="0" smtClean="0">
                <a:latin typeface="Helvetica" pitchFamily="34" charset="0"/>
              </a:rPr>
              <a:t>Sort all your documents out into piles that you think belong together</a:t>
            </a:r>
          </a:p>
          <a:p>
            <a:pPr lvl="0">
              <a:spcBef>
                <a:spcPts val="600"/>
              </a:spcBef>
              <a:spcAft>
                <a:spcPts val="1200"/>
              </a:spcAft>
            </a:pPr>
            <a:r>
              <a:rPr lang="en-AU" sz="2200" dirty="0" smtClean="0">
                <a:latin typeface="Helvetica" pitchFamily="34" charset="0"/>
              </a:rPr>
              <a:t>Give each pile a category name</a:t>
            </a:r>
          </a:p>
          <a:p>
            <a:pPr lvl="0">
              <a:spcBef>
                <a:spcPts val="600"/>
              </a:spcBef>
              <a:spcAft>
                <a:spcPts val="1200"/>
              </a:spcAft>
            </a:pPr>
            <a:r>
              <a:rPr lang="en-AU" sz="2200" dirty="0" smtClean="0">
                <a:latin typeface="Helvetica" pitchFamily="34" charset="0"/>
              </a:rPr>
              <a:t>Make a list of categories</a:t>
            </a:r>
          </a:p>
          <a:p>
            <a:pPr lvl="0">
              <a:spcBef>
                <a:spcPts val="600"/>
              </a:spcBef>
              <a:spcAft>
                <a:spcPts val="1200"/>
              </a:spcAft>
            </a:pPr>
            <a:r>
              <a:rPr lang="en-AU" sz="2200" dirty="0" smtClean="0">
                <a:latin typeface="Helvetica" pitchFamily="34" charset="0"/>
              </a:rPr>
              <a:t>Look at your list critically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dirty="0" smtClean="0">
                <a:latin typeface="Helvetica" pitchFamily="34" charset="0"/>
              </a:rPr>
              <a:pPr/>
              <a:t>21</a:t>
            </a:fld>
            <a:endParaRPr lang="en-US" dirty="0" smtClean="0">
              <a:latin typeface="Helvetica" pitchFamily="34" charset="0"/>
            </a:endParaRPr>
          </a:p>
        </p:txBody>
      </p:sp>
      <p:pic>
        <p:nvPicPr>
          <p:cNvPr id="6" name="Picture 5" descr="MP900422611.JPG"/>
          <p:cNvPicPr>
            <a:picLocks noChangeAspect="1"/>
          </p:cNvPicPr>
          <p:nvPr/>
        </p:nvPicPr>
        <p:blipFill>
          <a:blip r:embed="rId3" cstate="print"/>
          <a:stretch>
            <a:fillRect/>
          </a:stretch>
        </p:blipFill>
        <p:spPr>
          <a:xfrm>
            <a:off x="6297772" y="3861048"/>
            <a:ext cx="2115551" cy="142634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Establish and assemble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Filing procedure</a:t>
            </a:r>
          </a:p>
          <a:p>
            <a:pPr>
              <a:spcBef>
                <a:spcPts val="600"/>
              </a:spcBef>
              <a:spcAft>
                <a:spcPts val="1200"/>
              </a:spcAft>
            </a:pPr>
            <a:r>
              <a:rPr lang="en-AU" sz="2200" dirty="0" smtClean="0">
                <a:latin typeface="Helvetica" pitchFamily="34" charset="0"/>
              </a:rPr>
              <a:t>Step 1: Receiving the document</a:t>
            </a:r>
          </a:p>
          <a:p>
            <a:pPr>
              <a:spcBef>
                <a:spcPts val="600"/>
              </a:spcBef>
              <a:spcAft>
                <a:spcPts val="1200"/>
              </a:spcAft>
            </a:pPr>
            <a:r>
              <a:rPr lang="en-AU" sz="2200" dirty="0" smtClean="0">
                <a:latin typeface="Helvetica" pitchFamily="34" charset="0"/>
              </a:rPr>
              <a:t>Step 2: Action</a:t>
            </a:r>
          </a:p>
          <a:p>
            <a:pPr>
              <a:spcBef>
                <a:spcPts val="600"/>
              </a:spcBef>
              <a:spcAft>
                <a:spcPts val="1200"/>
              </a:spcAft>
            </a:pPr>
            <a:r>
              <a:rPr lang="en-AU" sz="2200" dirty="0" smtClean="0">
                <a:latin typeface="Helvetica" pitchFamily="34" charset="0"/>
              </a:rPr>
              <a:t>Step 3: Follow up</a:t>
            </a:r>
          </a:p>
          <a:p>
            <a:pPr>
              <a:spcBef>
                <a:spcPts val="600"/>
              </a:spcBef>
              <a:spcAft>
                <a:spcPts val="1200"/>
              </a:spcAft>
            </a:pPr>
            <a:r>
              <a:rPr lang="en-AU" sz="2200" dirty="0" smtClean="0">
                <a:latin typeface="Helvetica" pitchFamily="34" charset="0"/>
              </a:rPr>
              <a:t>Step 4: Collecting Documents to be filed</a:t>
            </a:r>
          </a:p>
          <a:p>
            <a:pPr>
              <a:spcBef>
                <a:spcPts val="600"/>
              </a:spcBef>
              <a:spcAft>
                <a:spcPts val="1200"/>
              </a:spcAft>
            </a:pPr>
            <a:r>
              <a:rPr lang="en-AU" sz="2200" dirty="0" smtClean="0">
                <a:latin typeface="Helvetica" pitchFamily="34" charset="0"/>
              </a:rPr>
              <a:t>Step 5: Filing</a:t>
            </a: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7" name="Picture 6" descr="MP900407500.JPG"/>
          <p:cNvPicPr/>
          <p:nvPr/>
        </p:nvPicPr>
        <p:blipFill>
          <a:blip r:embed="rId3" cstate="print"/>
          <a:stretch>
            <a:fillRect/>
          </a:stretch>
        </p:blipFill>
        <p:spPr>
          <a:xfrm>
            <a:off x="7164288" y="4005064"/>
            <a:ext cx="1219200" cy="120967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Establish and assemble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Guidelines</a:t>
            </a:r>
          </a:p>
          <a:p>
            <a:pPr>
              <a:spcBef>
                <a:spcPts val="600"/>
              </a:spcBef>
              <a:spcAft>
                <a:spcPts val="1200"/>
              </a:spcAft>
            </a:pPr>
            <a:r>
              <a:rPr lang="en-AU" sz="2200" dirty="0" smtClean="0">
                <a:latin typeface="Helvetica" pitchFamily="34" charset="0"/>
              </a:rPr>
              <a:t>Have easily identifiable files and folders</a:t>
            </a:r>
          </a:p>
          <a:p>
            <a:pPr>
              <a:spcBef>
                <a:spcPts val="600"/>
              </a:spcBef>
              <a:spcAft>
                <a:spcPts val="1200"/>
              </a:spcAft>
            </a:pPr>
            <a:r>
              <a:rPr lang="en-AU" sz="2200" dirty="0" smtClean="0">
                <a:latin typeface="Helvetica" pitchFamily="34" charset="0"/>
              </a:rPr>
              <a:t>File documents immediately</a:t>
            </a:r>
          </a:p>
          <a:p>
            <a:pPr>
              <a:spcBef>
                <a:spcPts val="600"/>
              </a:spcBef>
              <a:spcAft>
                <a:spcPts val="1200"/>
              </a:spcAft>
            </a:pPr>
            <a:r>
              <a:rPr lang="en-US" sz="2200" dirty="0" smtClean="0">
                <a:latin typeface="Helvetica" pitchFamily="34" charset="0"/>
              </a:rPr>
              <a:t>Have consistency amongst filing systems</a:t>
            </a:r>
            <a:endParaRPr lang="en-AU" sz="2200" dirty="0" smtClean="0">
              <a:latin typeface="Helvetica" pitchFamily="34" charset="0"/>
            </a:endParaRP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6" name="Picture 5" descr="MP900422138.JPG"/>
          <p:cNvPicPr/>
          <p:nvPr/>
        </p:nvPicPr>
        <p:blipFill>
          <a:blip r:embed="rId3" cstate="print"/>
          <a:stretch>
            <a:fillRect/>
          </a:stretch>
        </p:blipFill>
        <p:spPr>
          <a:xfrm>
            <a:off x="6372200" y="3789040"/>
            <a:ext cx="2023864" cy="139407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Update reference and index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Role of the reference and index systems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Implementing a reference and index system enables you to file and then readily access paper-based documents:</a:t>
            </a:r>
          </a:p>
          <a:p>
            <a:pPr>
              <a:spcBef>
                <a:spcPts val="600"/>
              </a:spcBef>
              <a:spcAft>
                <a:spcPts val="1200"/>
              </a:spcAft>
            </a:pPr>
            <a:r>
              <a:rPr lang="en-AU" sz="2200" dirty="0" smtClean="0">
                <a:latin typeface="Helvetica" pitchFamily="34" charset="0"/>
              </a:rPr>
              <a:t>What reference and index systems can you use</a:t>
            </a:r>
            <a:r>
              <a:rPr lang="en-AU" sz="2400" dirty="0" smtClean="0"/>
              <a:t>?</a:t>
            </a: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7" name="Picture 6" descr="MP900308916.JPG"/>
          <p:cNvPicPr/>
          <p:nvPr/>
        </p:nvPicPr>
        <p:blipFill>
          <a:blip r:embed="rId3" cstate="print"/>
          <a:stretch>
            <a:fillRect/>
          </a:stretch>
        </p:blipFill>
        <p:spPr>
          <a:xfrm>
            <a:off x="6372200" y="3933056"/>
            <a:ext cx="1989882" cy="1393304"/>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Update reference and index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reference and index systems</a:t>
            </a:r>
          </a:p>
          <a:p>
            <a:pPr>
              <a:spcBef>
                <a:spcPts val="600"/>
              </a:spcBef>
              <a:spcAft>
                <a:spcPts val="1200"/>
              </a:spcAft>
              <a:buNone/>
            </a:pPr>
            <a:r>
              <a:rPr lang="en-AU" sz="2200" dirty="0" smtClean="0">
                <a:latin typeface="Helvetica" pitchFamily="34" charset="0"/>
              </a:rPr>
              <a:t>Reference and index systems may relate to:</a:t>
            </a:r>
          </a:p>
          <a:p>
            <a:pPr lvl="0">
              <a:spcBef>
                <a:spcPts val="600"/>
              </a:spcBef>
              <a:spcAft>
                <a:spcPts val="1200"/>
              </a:spcAft>
            </a:pPr>
            <a:r>
              <a:rPr lang="en-AU" sz="2200" dirty="0" smtClean="0">
                <a:latin typeface="Helvetica" pitchFamily="34" charset="0"/>
              </a:rPr>
              <a:t>Alphabetic</a:t>
            </a:r>
          </a:p>
          <a:p>
            <a:pPr lvl="0">
              <a:spcBef>
                <a:spcPts val="600"/>
              </a:spcBef>
              <a:spcAft>
                <a:spcPts val="1200"/>
              </a:spcAft>
            </a:pPr>
            <a:r>
              <a:rPr lang="en-AU" sz="2200" dirty="0" smtClean="0">
                <a:latin typeface="Helvetica" pitchFamily="34" charset="0"/>
              </a:rPr>
              <a:t>Numeric</a:t>
            </a:r>
          </a:p>
          <a:p>
            <a:pPr lvl="0">
              <a:spcBef>
                <a:spcPts val="600"/>
              </a:spcBef>
              <a:spcAft>
                <a:spcPts val="1200"/>
              </a:spcAft>
            </a:pPr>
            <a:r>
              <a:rPr lang="en-AU" sz="2200" dirty="0" smtClean="0">
                <a:latin typeface="Helvetica" pitchFamily="34" charset="0"/>
              </a:rPr>
              <a:t>Alpha-numeric</a:t>
            </a:r>
          </a:p>
          <a:p>
            <a:pPr lvl="0">
              <a:spcBef>
                <a:spcPts val="600"/>
              </a:spcBef>
              <a:spcAft>
                <a:spcPts val="1200"/>
              </a:spcAft>
            </a:pPr>
            <a:r>
              <a:rPr lang="en-AU" sz="2200" dirty="0" smtClean="0">
                <a:latin typeface="Helvetica" pitchFamily="34" charset="0"/>
              </a:rPr>
              <a:t>Topic</a:t>
            </a:r>
          </a:p>
          <a:p>
            <a:pPr lvl="0">
              <a:spcBef>
                <a:spcPts val="600"/>
              </a:spcBef>
              <a:spcAft>
                <a:spcPts val="1200"/>
              </a:spcAft>
            </a:pPr>
            <a:r>
              <a:rPr lang="en-AU" sz="2200" dirty="0" smtClean="0">
                <a:latin typeface="Helvetica" pitchFamily="34" charset="0"/>
              </a:rPr>
              <a:t>Subject</a:t>
            </a: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6" name="Picture 5" descr="MP900400969.JPG"/>
          <p:cNvPicPr/>
          <p:nvPr/>
        </p:nvPicPr>
        <p:blipFill>
          <a:blip r:embed="rId3" cstate="print"/>
          <a:stretch>
            <a:fillRect/>
          </a:stretch>
        </p:blipFill>
        <p:spPr>
          <a:xfrm>
            <a:off x="6876256" y="3356992"/>
            <a:ext cx="1512367" cy="187126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Update reference and index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Types of reference and index systems</a:t>
            </a:r>
          </a:p>
          <a:p>
            <a:pPr>
              <a:spcBef>
                <a:spcPts val="600"/>
              </a:spcBef>
              <a:spcAft>
                <a:spcPts val="1200"/>
              </a:spcAft>
              <a:buNone/>
            </a:pPr>
            <a:r>
              <a:rPr lang="en-AU" sz="2200" dirty="0" smtClean="0">
                <a:latin typeface="Helvetica" pitchFamily="34" charset="0"/>
              </a:rPr>
              <a:t>Reference and index systems may relate to:</a:t>
            </a:r>
          </a:p>
          <a:p>
            <a:pPr lvl="0">
              <a:spcBef>
                <a:spcPts val="600"/>
              </a:spcBef>
              <a:spcAft>
                <a:spcPts val="1200"/>
              </a:spcAft>
            </a:pPr>
            <a:r>
              <a:rPr lang="en-AU" sz="2200" dirty="0" smtClean="0">
                <a:latin typeface="Helvetica" pitchFamily="34" charset="0"/>
              </a:rPr>
              <a:t>Alphabetic</a:t>
            </a:r>
          </a:p>
          <a:p>
            <a:pPr lvl="0">
              <a:spcBef>
                <a:spcPts val="600"/>
              </a:spcBef>
              <a:spcAft>
                <a:spcPts val="1200"/>
              </a:spcAft>
            </a:pPr>
            <a:r>
              <a:rPr lang="en-AU" sz="2200" dirty="0" smtClean="0">
                <a:latin typeface="Helvetica" pitchFamily="34" charset="0"/>
              </a:rPr>
              <a:t>Numeric</a:t>
            </a:r>
          </a:p>
          <a:p>
            <a:pPr lvl="0">
              <a:spcBef>
                <a:spcPts val="600"/>
              </a:spcBef>
              <a:spcAft>
                <a:spcPts val="1200"/>
              </a:spcAft>
            </a:pPr>
            <a:r>
              <a:rPr lang="en-AU" sz="2200" dirty="0" smtClean="0">
                <a:latin typeface="Helvetica" pitchFamily="34" charset="0"/>
              </a:rPr>
              <a:t>Alpha-numeric</a:t>
            </a:r>
          </a:p>
          <a:p>
            <a:pPr lvl="0">
              <a:spcBef>
                <a:spcPts val="600"/>
              </a:spcBef>
              <a:spcAft>
                <a:spcPts val="1200"/>
              </a:spcAft>
            </a:pPr>
            <a:r>
              <a:rPr lang="en-AU" sz="2200" dirty="0" smtClean="0">
                <a:latin typeface="Helvetica" pitchFamily="34" charset="0"/>
              </a:rPr>
              <a:t>Topic</a:t>
            </a:r>
          </a:p>
          <a:p>
            <a:pPr lvl="0">
              <a:spcBef>
                <a:spcPts val="600"/>
              </a:spcBef>
              <a:spcAft>
                <a:spcPts val="1200"/>
              </a:spcAft>
            </a:pPr>
            <a:r>
              <a:rPr lang="en-AU" sz="2200" dirty="0" smtClean="0">
                <a:latin typeface="Helvetica" pitchFamily="34" charset="0"/>
              </a:rPr>
              <a:t>Subject</a:t>
            </a: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6" name="Picture 5" descr="MP900400969.JPG"/>
          <p:cNvPicPr/>
          <p:nvPr/>
        </p:nvPicPr>
        <p:blipFill>
          <a:blip r:embed="rId3" cstate="print"/>
          <a:stretch>
            <a:fillRect/>
          </a:stretch>
        </p:blipFill>
        <p:spPr>
          <a:xfrm>
            <a:off x="6876256" y="3501008"/>
            <a:ext cx="1512367" cy="179925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632848" cy="4896544"/>
          </a:xfrm>
        </p:spPr>
        <p:txBody>
          <a:bodyPr>
            <a:normAutofit/>
          </a:bodyPr>
          <a:lstStyle/>
          <a:p>
            <a:pPr marL="0">
              <a:buNone/>
            </a:pPr>
            <a:r>
              <a:rPr lang="en-AU" sz="3600" b="1" dirty="0" smtClean="0">
                <a:solidFill>
                  <a:srgbClr val="FF6600"/>
                </a:solidFill>
              </a:rPr>
              <a:t>Element 2:</a:t>
            </a:r>
          </a:p>
          <a:p>
            <a:pPr marL="0">
              <a:spcBef>
                <a:spcPts val="600"/>
              </a:spcBef>
              <a:spcAft>
                <a:spcPts val="1200"/>
              </a:spcAft>
              <a:buNone/>
            </a:pPr>
            <a:r>
              <a:rPr lang="en-AU" sz="3600" b="1" i="1" dirty="0" smtClean="0">
                <a:solidFill>
                  <a:srgbClr val="FF6600"/>
                </a:solidFill>
                <a:latin typeface="Helvetica" pitchFamily="34" charset="0"/>
              </a:rPr>
              <a:t>Retrieve files in response to information requests</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MP900409659.JPG"/>
          <p:cNvPicPr>
            <a:picLocks noChangeAspect="1"/>
          </p:cNvPicPr>
          <p:nvPr/>
        </p:nvPicPr>
        <p:blipFill>
          <a:blip r:embed="rId3" cstate="print"/>
          <a:stretch>
            <a:fillRect/>
          </a:stretch>
        </p:blipFill>
        <p:spPr>
          <a:xfrm>
            <a:off x="3131840" y="3429000"/>
            <a:ext cx="2055443" cy="206148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Retrieve files in response to information requests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Locate specified files or records within designated timelines</a:t>
            </a:r>
          </a:p>
          <a:p>
            <a:pPr>
              <a:spcBef>
                <a:spcPts val="600"/>
              </a:spcBef>
              <a:spcAft>
                <a:spcPts val="1200"/>
              </a:spcAft>
            </a:pPr>
            <a:r>
              <a:rPr lang="en-AU" sz="2200" dirty="0" smtClean="0">
                <a:latin typeface="Helvetica" pitchFamily="34" charset="0"/>
              </a:rPr>
              <a:t>Retrieve relevant file</a:t>
            </a:r>
          </a:p>
          <a:p>
            <a:pPr>
              <a:spcBef>
                <a:spcPts val="600"/>
              </a:spcBef>
              <a:spcAft>
                <a:spcPts val="1200"/>
              </a:spcAft>
            </a:pPr>
            <a:r>
              <a:rPr lang="en-AU" sz="2200" dirty="0" smtClean="0">
                <a:latin typeface="Helvetica" pitchFamily="34" charset="0"/>
              </a:rPr>
              <a:t>Record movements of documentation according </a:t>
            </a:r>
            <a:br>
              <a:rPr lang="en-AU" sz="2200" dirty="0" smtClean="0">
                <a:latin typeface="Helvetica" pitchFamily="34" charset="0"/>
              </a:rPr>
            </a:br>
            <a:r>
              <a:rPr lang="en-AU" sz="2200" dirty="0" smtClean="0">
                <a:latin typeface="Helvetica" pitchFamily="34" charset="0"/>
              </a:rPr>
              <a:t>to enterprise policies and procedures</a:t>
            </a:r>
          </a:p>
          <a:p>
            <a:pPr>
              <a:spcBef>
                <a:spcPts val="600"/>
              </a:spcBef>
              <a:spcAft>
                <a:spcPts val="1200"/>
              </a:spcAft>
            </a:pPr>
            <a:r>
              <a:rPr lang="en-AU" sz="2200" dirty="0" smtClean="0">
                <a:latin typeface="Helvetica" pitchFamily="34" charset="0"/>
              </a:rPr>
              <a:t>Follow security and confidentiality </a:t>
            </a:r>
            <a:br>
              <a:rPr lang="en-AU" sz="2200" dirty="0" smtClean="0">
                <a:latin typeface="Helvetica" pitchFamily="34" charset="0"/>
              </a:rPr>
            </a:br>
            <a:r>
              <a:rPr lang="en-AU" sz="2200" dirty="0" smtClean="0">
                <a:latin typeface="Helvetica" pitchFamily="34" charset="0"/>
              </a:rPr>
              <a:t>procedures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descr="MP900174878.JPG"/>
          <p:cNvPicPr>
            <a:picLocks noChangeAspect="1"/>
          </p:cNvPicPr>
          <p:nvPr/>
        </p:nvPicPr>
        <p:blipFill>
          <a:blip r:embed="rId3" cstate="print"/>
          <a:stretch>
            <a:fillRect/>
          </a:stretch>
        </p:blipFill>
        <p:spPr>
          <a:xfrm>
            <a:off x="6660232" y="4077072"/>
            <a:ext cx="1720788" cy="114719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Locate files within timelines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184576"/>
          </a:xfrm>
        </p:spPr>
        <p:txBody>
          <a:bodyPr>
            <a:normAutofit/>
          </a:bodyPr>
          <a:lstStyle/>
          <a:p>
            <a:pPr>
              <a:spcBef>
                <a:spcPts val="600"/>
              </a:spcBef>
              <a:spcAft>
                <a:spcPts val="1200"/>
              </a:spcAft>
              <a:buNone/>
            </a:pPr>
            <a:r>
              <a:rPr lang="en-AU" sz="2200" b="1" dirty="0" smtClean="0">
                <a:latin typeface="Helvetica" pitchFamily="34" charset="0"/>
              </a:rPr>
              <a:t>Locating files</a:t>
            </a:r>
          </a:p>
          <a:p>
            <a:pPr marL="0">
              <a:spcBef>
                <a:spcPts val="600"/>
              </a:spcBef>
              <a:spcAft>
                <a:spcPts val="1200"/>
              </a:spcAft>
              <a:buNone/>
            </a:pPr>
            <a:r>
              <a:rPr lang="en-AU" sz="2200" dirty="0" smtClean="0">
                <a:latin typeface="Helvetica" pitchFamily="34" charset="0"/>
              </a:rPr>
              <a:t>One of the main priorities of using a filing system is to ensure that files and documents can be: </a:t>
            </a:r>
          </a:p>
          <a:p>
            <a:pPr>
              <a:spcBef>
                <a:spcPts val="600"/>
              </a:spcBef>
              <a:spcAft>
                <a:spcPts val="1200"/>
              </a:spcAft>
            </a:pPr>
            <a:r>
              <a:rPr lang="en-AU" sz="2200" dirty="0" smtClean="0">
                <a:latin typeface="Helvetica" pitchFamily="34" charset="0"/>
              </a:rPr>
              <a:t>Located</a:t>
            </a:r>
          </a:p>
          <a:p>
            <a:pPr>
              <a:spcBef>
                <a:spcPts val="600"/>
              </a:spcBef>
              <a:spcAft>
                <a:spcPts val="1200"/>
              </a:spcAft>
            </a:pPr>
            <a:r>
              <a:rPr lang="en-AU" sz="2200" dirty="0" smtClean="0">
                <a:latin typeface="Helvetica" pitchFamily="34" charset="0"/>
              </a:rPr>
              <a:t>Identified</a:t>
            </a:r>
          </a:p>
          <a:p>
            <a:pPr>
              <a:spcBef>
                <a:spcPts val="600"/>
              </a:spcBef>
              <a:spcAft>
                <a:spcPts val="1200"/>
              </a:spcAft>
            </a:pPr>
            <a:r>
              <a:rPr lang="en-AU" sz="2200" dirty="0" smtClean="0">
                <a:latin typeface="Helvetica" pitchFamily="34" charset="0"/>
              </a:rPr>
              <a:t>Retrieved in a timely and efficient manner</a:t>
            </a: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7" name="Picture 6" descr="MP900422118.JPG"/>
          <p:cNvPicPr/>
          <p:nvPr/>
        </p:nvPicPr>
        <p:blipFill>
          <a:blip r:embed="rId3" cstate="print"/>
          <a:stretch>
            <a:fillRect/>
          </a:stretch>
        </p:blipFill>
        <p:spPr>
          <a:xfrm>
            <a:off x="7236296" y="3501008"/>
            <a:ext cx="1193800" cy="17907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Types of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hospitality files and documents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Guest mail </a:t>
            </a:r>
          </a:p>
          <a:p>
            <a:pPr>
              <a:spcBef>
                <a:spcPts val="600"/>
              </a:spcBef>
              <a:spcAft>
                <a:spcPts val="1200"/>
              </a:spcAft>
            </a:pPr>
            <a:r>
              <a:rPr lang="en-AU" sz="2200" dirty="0" smtClean="0">
                <a:latin typeface="Helvetica" pitchFamily="34" charset="0"/>
              </a:rPr>
              <a:t>Customer records </a:t>
            </a:r>
          </a:p>
          <a:p>
            <a:pPr>
              <a:spcBef>
                <a:spcPts val="600"/>
              </a:spcBef>
              <a:spcAft>
                <a:spcPts val="1200"/>
              </a:spcAft>
            </a:pPr>
            <a:r>
              <a:rPr lang="en-AU" sz="2200" dirty="0" smtClean="0">
                <a:latin typeface="Helvetica" pitchFamily="34" charset="0"/>
              </a:rPr>
              <a:t>Incoming and outgoing correspondence</a:t>
            </a:r>
          </a:p>
          <a:p>
            <a:pPr>
              <a:spcBef>
                <a:spcPts val="600"/>
              </a:spcBef>
              <a:spcAft>
                <a:spcPts val="1200"/>
              </a:spcAft>
            </a:pPr>
            <a:r>
              <a:rPr lang="en-AU" sz="2200" dirty="0" smtClean="0">
                <a:latin typeface="Helvetica" pitchFamily="34" charset="0"/>
              </a:rPr>
              <a:t>Files</a:t>
            </a:r>
          </a:p>
          <a:p>
            <a:pPr>
              <a:spcBef>
                <a:spcPts val="600"/>
              </a:spcBef>
              <a:spcAft>
                <a:spcPts val="1200"/>
              </a:spcAft>
            </a:pPr>
            <a:r>
              <a:rPr lang="en-AU" sz="2200" dirty="0" smtClean="0">
                <a:latin typeface="Helvetica" pitchFamily="34" charset="0"/>
              </a:rPr>
              <a:t>Letters</a:t>
            </a:r>
          </a:p>
          <a:p>
            <a:pPr>
              <a:spcBef>
                <a:spcPts val="600"/>
              </a:spcBef>
              <a:spcAft>
                <a:spcPts val="1200"/>
              </a:spcAft>
            </a:pPr>
            <a:r>
              <a:rPr lang="en-AU" sz="2200" dirty="0" smtClean="0">
                <a:latin typeface="Helvetica" pitchFamily="34" charset="0"/>
              </a:rPr>
              <a:t>Facsimiles (faxes) </a:t>
            </a:r>
          </a:p>
          <a:p>
            <a:endParaRPr lang="en-AU" sz="2200" dirty="0" smtClean="0">
              <a:latin typeface="Helvetica" pitchFamily="34" charset="0"/>
            </a:endParaRP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MP900409012.JPG"/>
          <p:cNvPicPr/>
          <p:nvPr/>
        </p:nvPicPr>
        <p:blipFill>
          <a:blip r:embed="rId3" cstate="print"/>
          <a:stretch>
            <a:fillRect/>
          </a:stretch>
        </p:blipFill>
        <p:spPr>
          <a:xfrm>
            <a:off x="6804248" y="3789040"/>
            <a:ext cx="1613148" cy="1622673"/>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Types of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hospitality files and documents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Memos </a:t>
            </a:r>
          </a:p>
          <a:p>
            <a:pPr>
              <a:spcBef>
                <a:spcPts val="600"/>
              </a:spcBef>
              <a:spcAft>
                <a:spcPts val="1200"/>
              </a:spcAft>
            </a:pPr>
            <a:r>
              <a:rPr lang="en-AU" sz="2200" dirty="0" smtClean="0">
                <a:latin typeface="Helvetica" pitchFamily="34" charset="0"/>
              </a:rPr>
              <a:t>Reports</a:t>
            </a:r>
          </a:p>
          <a:p>
            <a:pPr>
              <a:spcBef>
                <a:spcPts val="600"/>
              </a:spcBef>
              <a:spcAft>
                <a:spcPts val="1200"/>
              </a:spcAft>
            </a:pPr>
            <a:r>
              <a:rPr lang="en-AU" sz="2200" dirty="0" smtClean="0">
                <a:latin typeface="Helvetica" pitchFamily="34" charset="0"/>
              </a:rPr>
              <a:t>Menus</a:t>
            </a:r>
          </a:p>
          <a:p>
            <a:pPr lvl="0">
              <a:spcBef>
                <a:spcPts val="600"/>
              </a:spcBef>
              <a:spcAft>
                <a:spcPts val="1200"/>
              </a:spcAft>
            </a:pPr>
            <a:r>
              <a:rPr lang="en-AU" sz="2200" dirty="0" smtClean="0">
                <a:latin typeface="Helvetica" pitchFamily="34" charset="0"/>
              </a:rPr>
              <a:t>Banquet orders </a:t>
            </a:r>
          </a:p>
          <a:p>
            <a:pPr lvl="0">
              <a:spcBef>
                <a:spcPts val="600"/>
              </a:spcBef>
              <a:spcAft>
                <a:spcPts val="1200"/>
              </a:spcAft>
            </a:pPr>
            <a:r>
              <a:rPr lang="en-AU" sz="2200" dirty="0" smtClean="0">
                <a:latin typeface="Helvetica" pitchFamily="34" charset="0"/>
              </a:rPr>
              <a:t>Financial records </a:t>
            </a:r>
          </a:p>
          <a:p>
            <a:pPr lvl="0">
              <a:spcBef>
                <a:spcPts val="600"/>
              </a:spcBef>
              <a:spcAft>
                <a:spcPts val="1200"/>
              </a:spcAft>
            </a:pPr>
            <a:r>
              <a:rPr lang="en-AU" sz="2200" dirty="0" smtClean="0">
                <a:latin typeface="Helvetica" pitchFamily="34" charset="0"/>
              </a:rPr>
              <a:t>Invoices </a:t>
            </a:r>
          </a:p>
          <a:p>
            <a:pPr>
              <a:spcBef>
                <a:spcPts val="600"/>
              </a:spcBef>
              <a:spcAft>
                <a:spcPts val="1200"/>
              </a:spcAft>
            </a:pPr>
            <a:r>
              <a:rPr lang="en-AU" sz="2200" dirty="0" smtClean="0">
                <a:latin typeface="Helvetica" pitchFamily="34" charset="0"/>
              </a:rPr>
              <a:t>Receipts </a:t>
            </a:r>
          </a:p>
          <a:p>
            <a:endParaRPr lang="en-AU" sz="2400" b="1" dirty="0" smtClean="0"/>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7" name="Picture 6" descr="MP900175372.JPG"/>
          <p:cNvPicPr/>
          <p:nvPr/>
        </p:nvPicPr>
        <p:blipFill>
          <a:blip r:embed="rId3" cstate="print"/>
          <a:stretch>
            <a:fillRect/>
          </a:stretch>
        </p:blipFill>
        <p:spPr>
          <a:xfrm>
            <a:off x="6444208" y="3933056"/>
            <a:ext cx="1934066" cy="133558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Types of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paper based filing systems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Filing cabinets</a:t>
            </a:r>
          </a:p>
          <a:p>
            <a:pPr>
              <a:spcBef>
                <a:spcPts val="600"/>
              </a:spcBef>
              <a:spcAft>
                <a:spcPts val="1200"/>
              </a:spcAft>
            </a:pPr>
            <a:r>
              <a:rPr lang="en-AU" sz="2200" dirty="0" smtClean="0">
                <a:latin typeface="Helvetica" pitchFamily="34" charset="0"/>
              </a:rPr>
              <a:t>Flat Boxes</a:t>
            </a:r>
          </a:p>
          <a:p>
            <a:pPr>
              <a:spcBef>
                <a:spcPts val="600"/>
              </a:spcBef>
              <a:spcAft>
                <a:spcPts val="1200"/>
              </a:spcAft>
            </a:pPr>
            <a:r>
              <a:rPr lang="en-AU" sz="2200" dirty="0" smtClean="0">
                <a:latin typeface="Helvetica" pitchFamily="34" charset="0"/>
              </a:rPr>
              <a:t>Lever arches</a:t>
            </a:r>
          </a:p>
          <a:p>
            <a:pPr>
              <a:spcBef>
                <a:spcPts val="600"/>
              </a:spcBef>
              <a:spcAft>
                <a:spcPts val="1200"/>
              </a:spcAft>
            </a:pPr>
            <a:r>
              <a:rPr lang="en-AU" sz="2200" dirty="0" smtClean="0">
                <a:latin typeface="Helvetica" pitchFamily="34" charset="0"/>
              </a:rPr>
              <a:t>Suspension folders</a:t>
            </a:r>
          </a:p>
          <a:p>
            <a:pPr>
              <a:spcBef>
                <a:spcPts val="600"/>
              </a:spcBef>
              <a:spcAft>
                <a:spcPts val="1200"/>
              </a:spcAft>
            </a:pPr>
            <a:r>
              <a:rPr lang="en-AU" sz="2200" dirty="0" smtClean="0">
                <a:latin typeface="Helvetica" pitchFamily="34" charset="0"/>
              </a:rPr>
              <a:t>Shelving</a:t>
            </a:r>
          </a:p>
          <a:p>
            <a:pPr>
              <a:spcBef>
                <a:spcPts val="600"/>
              </a:spcBef>
              <a:spcAft>
                <a:spcPts val="1200"/>
              </a:spcAft>
            </a:pPr>
            <a:r>
              <a:rPr lang="en-AU" sz="2200" dirty="0" smtClean="0">
                <a:latin typeface="Helvetica" pitchFamily="34" charset="0"/>
              </a:rPr>
              <a:t>Other</a:t>
            </a:r>
            <a:endParaRPr lang="en-AU" sz="2200" b="1" dirty="0" smtClean="0">
              <a:latin typeface="Helvetica" pitchFamily="34" charset="0"/>
            </a:endParaRP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6" name="Picture 5" descr="MP900305764.JPG"/>
          <p:cNvPicPr>
            <a:picLocks noChangeAspect="1"/>
          </p:cNvPicPr>
          <p:nvPr/>
        </p:nvPicPr>
        <p:blipFill>
          <a:blip r:embed="rId3" cstate="print"/>
          <a:stretch>
            <a:fillRect/>
          </a:stretch>
        </p:blipFill>
        <p:spPr>
          <a:xfrm>
            <a:off x="6732240" y="2780928"/>
            <a:ext cx="1546780" cy="2188840"/>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Retrieve relevant file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00600"/>
          </a:xfrm>
        </p:spPr>
        <p:txBody>
          <a:bodyPr>
            <a:normAutofit/>
          </a:bodyPr>
          <a:lstStyle/>
          <a:p>
            <a:pPr>
              <a:spcBef>
                <a:spcPts val="600"/>
              </a:spcBef>
              <a:spcAft>
                <a:spcPts val="1200"/>
              </a:spcAft>
              <a:buNone/>
            </a:pPr>
            <a:r>
              <a:rPr lang="en-AU" sz="2200" b="1" dirty="0" smtClean="0">
                <a:latin typeface="Helvetica" pitchFamily="34" charset="0"/>
              </a:rPr>
              <a:t>Importance of documenting file retrieval</a:t>
            </a:r>
          </a:p>
          <a:p>
            <a:pPr marL="0">
              <a:spcBef>
                <a:spcPts val="600"/>
              </a:spcBef>
              <a:spcAft>
                <a:spcPts val="1200"/>
              </a:spcAft>
              <a:buNone/>
            </a:pPr>
            <a:r>
              <a:rPr lang="en-AU" sz="2200" dirty="0" smtClean="0">
                <a:latin typeface="Helvetica" pitchFamily="34" charset="0"/>
              </a:rPr>
              <a:t>Once the specific file has been found, it is time to retrieve it. In many cases files have been kept for a specific reason. </a:t>
            </a:r>
          </a:p>
          <a:p>
            <a:pPr marL="0">
              <a:spcBef>
                <a:spcPts val="600"/>
              </a:spcBef>
              <a:spcAft>
                <a:spcPts val="1200"/>
              </a:spcAft>
              <a:buNone/>
            </a:pPr>
            <a:r>
              <a:rPr lang="en-AU" sz="2200" dirty="0" smtClean="0">
                <a:latin typeface="Helvetica" pitchFamily="34" charset="0"/>
              </a:rPr>
              <a:t>It is therefore important that is files are removed for whatever reason, that:</a:t>
            </a:r>
          </a:p>
          <a:p>
            <a:pPr>
              <a:spcBef>
                <a:spcPts val="600"/>
              </a:spcBef>
              <a:spcAft>
                <a:spcPts val="1200"/>
              </a:spcAft>
            </a:pPr>
            <a:r>
              <a:rPr lang="en-AU" sz="2200" dirty="0" smtClean="0">
                <a:latin typeface="Helvetica" pitchFamily="34" charset="0"/>
              </a:rPr>
              <a:t>There is a written record of this removal</a:t>
            </a:r>
          </a:p>
          <a:p>
            <a:pPr>
              <a:spcBef>
                <a:spcPts val="600"/>
              </a:spcBef>
              <a:spcAft>
                <a:spcPts val="1200"/>
              </a:spcAft>
            </a:pPr>
            <a:r>
              <a:rPr lang="en-AU" sz="2200" dirty="0" smtClean="0">
                <a:latin typeface="Helvetica" pitchFamily="34" charset="0"/>
              </a:rPr>
              <a:t>Files are returned</a:t>
            </a: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7" name="Picture 6" descr="MP900409659.JPG"/>
          <p:cNvPicPr/>
          <p:nvPr/>
        </p:nvPicPr>
        <p:blipFill>
          <a:blip r:embed="rId3" cstate="print"/>
          <a:stretch>
            <a:fillRect/>
          </a:stretch>
        </p:blipFill>
        <p:spPr>
          <a:xfrm>
            <a:off x="6876256" y="3861048"/>
            <a:ext cx="1526654" cy="1387401"/>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Retrieve relevant file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Ensuring files are not lost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File Out Book:</a:t>
            </a:r>
          </a:p>
          <a:p>
            <a:pPr>
              <a:spcBef>
                <a:spcPts val="600"/>
              </a:spcBef>
              <a:spcAft>
                <a:spcPts val="1200"/>
              </a:spcAft>
            </a:pPr>
            <a:r>
              <a:rPr lang="en-AU" sz="2200" dirty="0" smtClean="0">
                <a:latin typeface="Helvetica" pitchFamily="34" charset="0"/>
              </a:rPr>
              <a:t>A file-out book is simply a book in which we write</a:t>
            </a:r>
          </a:p>
          <a:p>
            <a:pPr lvl="0">
              <a:spcBef>
                <a:spcPts val="600"/>
              </a:spcBef>
              <a:spcAft>
                <a:spcPts val="1200"/>
              </a:spcAft>
            </a:pPr>
            <a:r>
              <a:rPr lang="en-AU" sz="2200" dirty="0" smtClean="0">
                <a:latin typeface="Helvetica" pitchFamily="34" charset="0"/>
              </a:rPr>
              <a:t>Who borrowed the file or document </a:t>
            </a:r>
          </a:p>
          <a:p>
            <a:pPr lvl="0">
              <a:spcBef>
                <a:spcPts val="600"/>
              </a:spcBef>
              <a:spcAft>
                <a:spcPts val="1200"/>
              </a:spcAft>
            </a:pPr>
            <a:r>
              <a:rPr lang="en-AU" sz="2200" dirty="0" smtClean="0">
                <a:latin typeface="Helvetica" pitchFamily="34" charset="0"/>
              </a:rPr>
              <a:t>Name of the file or document </a:t>
            </a:r>
          </a:p>
          <a:p>
            <a:pPr lvl="0">
              <a:spcBef>
                <a:spcPts val="600"/>
              </a:spcBef>
              <a:spcAft>
                <a:spcPts val="1200"/>
              </a:spcAft>
            </a:pPr>
            <a:r>
              <a:rPr lang="en-AU" sz="2200" dirty="0" smtClean="0">
                <a:latin typeface="Helvetica" pitchFamily="34" charset="0"/>
              </a:rPr>
              <a:t>When they borrowed it </a:t>
            </a:r>
          </a:p>
          <a:p>
            <a:pPr lvl="0">
              <a:spcBef>
                <a:spcPts val="600"/>
              </a:spcBef>
              <a:spcAft>
                <a:spcPts val="1200"/>
              </a:spcAft>
            </a:pPr>
            <a:r>
              <a:rPr lang="en-AU" sz="2200" dirty="0" smtClean="0">
                <a:latin typeface="Helvetica" pitchFamily="34" charset="0"/>
              </a:rPr>
              <a:t>When they returned it</a:t>
            </a: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6" name="Picture 5" descr="MP900405070.JPG"/>
          <p:cNvPicPr/>
          <p:nvPr/>
        </p:nvPicPr>
        <p:blipFill>
          <a:blip r:embed="rId3" cstate="print"/>
          <a:stretch>
            <a:fillRect/>
          </a:stretch>
        </p:blipFill>
        <p:spPr>
          <a:xfrm>
            <a:off x="7020272" y="3356992"/>
            <a:ext cx="1231007" cy="1625724"/>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20080"/>
          </a:xfrm>
        </p:spPr>
        <p:txBody>
          <a:bodyPr>
            <a:normAutofit/>
          </a:bodyPr>
          <a:lstStyle/>
          <a:p>
            <a:r>
              <a:rPr lang="en-AU" sz="3400" b="1" dirty="0" smtClean="0">
                <a:solidFill>
                  <a:srgbClr val="FF6600"/>
                </a:solidFill>
                <a:latin typeface="Helvetica" pitchFamily="34" charset="0"/>
              </a:rPr>
              <a:t>Retrieve relevant file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00600"/>
          </a:xfrm>
        </p:spPr>
        <p:txBody>
          <a:bodyPr>
            <a:normAutofit/>
          </a:bodyPr>
          <a:lstStyle/>
          <a:p>
            <a:pPr>
              <a:spcBef>
                <a:spcPts val="600"/>
              </a:spcBef>
              <a:spcAft>
                <a:spcPts val="1200"/>
              </a:spcAft>
              <a:buNone/>
            </a:pPr>
            <a:r>
              <a:rPr lang="en-AU" sz="2200" b="1" dirty="0" smtClean="0">
                <a:latin typeface="Helvetica" pitchFamily="34" charset="0"/>
              </a:rPr>
              <a:t>Ensuring files are not lost</a:t>
            </a:r>
            <a:endParaRPr lang="en-AU" sz="2200" dirty="0" smtClean="0">
              <a:latin typeface="Helvetica" pitchFamily="34" charset="0"/>
            </a:endParaRPr>
          </a:p>
          <a:p>
            <a:pPr>
              <a:spcBef>
                <a:spcPts val="600"/>
              </a:spcBef>
              <a:spcAft>
                <a:spcPts val="1200"/>
              </a:spcAft>
              <a:buNone/>
            </a:pPr>
            <a:r>
              <a:rPr lang="en-AU" sz="2200" u="sng" dirty="0" smtClean="0">
                <a:latin typeface="Helvetica" pitchFamily="34" charset="0"/>
              </a:rPr>
              <a:t>File Out Card</a:t>
            </a:r>
          </a:p>
          <a:p>
            <a:pPr marL="0">
              <a:spcBef>
                <a:spcPts val="600"/>
              </a:spcBef>
              <a:spcAft>
                <a:spcPts val="1200"/>
              </a:spcAft>
              <a:buNone/>
            </a:pPr>
            <a:r>
              <a:rPr lang="en-AU" sz="2200" dirty="0" smtClean="0">
                <a:latin typeface="Helvetica" pitchFamily="34" charset="0"/>
              </a:rPr>
              <a:t>File-out cards are used in a filing cabinet. They are the same size as the files and are put in the place of the file, which has been borrowed:</a:t>
            </a:r>
          </a:p>
          <a:p>
            <a:pPr lvl="0">
              <a:spcBef>
                <a:spcPts val="600"/>
              </a:spcBef>
              <a:spcAft>
                <a:spcPts val="1200"/>
              </a:spcAft>
            </a:pPr>
            <a:r>
              <a:rPr lang="en-AU" sz="2200" dirty="0" smtClean="0">
                <a:latin typeface="Helvetica" pitchFamily="34" charset="0"/>
              </a:rPr>
              <a:t>Who borrowed the file or document </a:t>
            </a:r>
          </a:p>
          <a:p>
            <a:pPr lvl="0">
              <a:spcBef>
                <a:spcPts val="600"/>
              </a:spcBef>
              <a:spcAft>
                <a:spcPts val="1200"/>
              </a:spcAft>
            </a:pPr>
            <a:r>
              <a:rPr lang="en-AU" sz="2200" dirty="0" smtClean="0">
                <a:latin typeface="Helvetica" pitchFamily="34" charset="0"/>
              </a:rPr>
              <a:t>Name of the file or document </a:t>
            </a:r>
          </a:p>
          <a:p>
            <a:pPr lvl="0">
              <a:spcBef>
                <a:spcPts val="600"/>
              </a:spcBef>
              <a:spcAft>
                <a:spcPts val="1200"/>
              </a:spcAft>
            </a:pPr>
            <a:r>
              <a:rPr lang="en-AU" sz="2200" dirty="0" smtClean="0">
                <a:latin typeface="Helvetica" pitchFamily="34" charset="0"/>
              </a:rPr>
              <a:t>When they borrowed it </a:t>
            </a:r>
          </a:p>
          <a:p>
            <a:pPr lvl="0">
              <a:spcBef>
                <a:spcPts val="600"/>
              </a:spcBef>
              <a:spcAft>
                <a:spcPts val="1200"/>
              </a:spcAft>
            </a:pPr>
            <a:r>
              <a:rPr lang="en-AU" sz="2200" dirty="0" smtClean="0">
                <a:latin typeface="Helvetica" pitchFamily="34" charset="0"/>
              </a:rPr>
              <a:t>When they returned it</a:t>
            </a: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7" name="Picture 6" descr="MP900422118.JPG"/>
          <p:cNvPicPr>
            <a:picLocks noChangeAspect="1"/>
          </p:cNvPicPr>
          <p:nvPr/>
        </p:nvPicPr>
        <p:blipFill>
          <a:blip r:embed="rId3" cstate="print"/>
          <a:stretch>
            <a:fillRect/>
          </a:stretch>
        </p:blipFill>
        <p:spPr>
          <a:xfrm>
            <a:off x="7205548" y="3455752"/>
            <a:ext cx="1182876" cy="177344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Record document movements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Benefits of recording movement of documents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helps to identify:</a:t>
            </a:r>
          </a:p>
          <a:p>
            <a:pPr lvl="0">
              <a:spcBef>
                <a:spcPts val="600"/>
              </a:spcBef>
              <a:spcAft>
                <a:spcPts val="1200"/>
              </a:spcAft>
            </a:pPr>
            <a:r>
              <a:rPr lang="en-AU" sz="2200" dirty="0" smtClean="0">
                <a:latin typeface="Helvetica" pitchFamily="34" charset="0"/>
              </a:rPr>
              <a:t>Who has the physical document</a:t>
            </a:r>
          </a:p>
          <a:p>
            <a:pPr lvl="0">
              <a:spcBef>
                <a:spcPts val="600"/>
              </a:spcBef>
              <a:spcAft>
                <a:spcPts val="1200"/>
              </a:spcAft>
            </a:pPr>
            <a:r>
              <a:rPr lang="en-AU" sz="2200" dirty="0" smtClean="0">
                <a:latin typeface="Helvetica" pitchFamily="34" charset="0"/>
              </a:rPr>
              <a:t>Who issues or authorised the movement of the document</a:t>
            </a:r>
          </a:p>
          <a:p>
            <a:pPr lvl="0">
              <a:spcBef>
                <a:spcPts val="600"/>
              </a:spcBef>
              <a:spcAft>
                <a:spcPts val="1200"/>
              </a:spcAft>
            </a:pPr>
            <a:r>
              <a:rPr lang="en-AU" sz="2200" dirty="0" smtClean="0">
                <a:latin typeface="Helvetica" pitchFamily="34" charset="0"/>
              </a:rPr>
              <a:t>Where the document is currently located</a:t>
            </a:r>
          </a:p>
          <a:p>
            <a:endParaRPr lang="en-AU" sz="2400" b="1" dirty="0" smtClean="0"/>
          </a:p>
          <a:p>
            <a:endParaRPr lang="en-AU"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6" name="Picture 5" descr="MP900402285.JPG"/>
          <p:cNvPicPr/>
          <p:nvPr/>
        </p:nvPicPr>
        <p:blipFill>
          <a:blip r:embed="rId3" cstate="print"/>
          <a:stretch>
            <a:fillRect/>
          </a:stretch>
        </p:blipFill>
        <p:spPr>
          <a:xfrm>
            <a:off x="6732240" y="4005064"/>
            <a:ext cx="1669157" cy="117690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Record document movements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600"/>
              </a:spcAft>
              <a:buNone/>
            </a:pPr>
            <a:r>
              <a:rPr lang="en-AU" sz="2200" b="1" dirty="0" smtClean="0">
                <a:latin typeface="Helvetica" pitchFamily="34" charset="0"/>
              </a:rPr>
              <a:t>Types of document movements</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There are endless types of movements involving documents including:</a:t>
            </a:r>
          </a:p>
          <a:p>
            <a:pPr>
              <a:spcBef>
                <a:spcPts val="600"/>
              </a:spcBef>
              <a:spcAft>
                <a:spcPts val="600"/>
              </a:spcAft>
            </a:pPr>
            <a:r>
              <a:rPr lang="en-AU" sz="2200" dirty="0" smtClean="0">
                <a:latin typeface="Helvetica" pitchFamily="34" charset="0"/>
              </a:rPr>
              <a:t>Recording incoming or outgoing documents </a:t>
            </a:r>
          </a:p>
          <a:p>
            <a:pPr>
              <a:spcBef>
                <a:spcPts val="600"/>
              </a:spcBef>
              <a:spcAft>
                <a:spcPts val="600"/>
              </a:spcAft>
            </a:pPr>
            <a:r>
              <a:rPr lang="en-AU" sz="2200" dirty="0" smtClean="0">
                <a:latin typeface="Helvetica" pitchFamily="34" charset="0"/>
              </a:rPr>
              <a:t>Filing including electronic filing of correspondence</a:t>
            </a:r>
          </a:p>
          <a:p>
            <a:pPr>
              <a:spcBef>
                <a:spcPts val="600"/>
              </a:spcBef>
              <a:spcAft>
                <a:spcPts val="600"/>
              </a:spcAft>
            </a:pPr>
            <a:r>
              <a:rPr lang="en-AU" sz="2200" dirty="0" smtClean="0">
                <a:latin typeface="Helvetica" pitchFamily="34" charset="0"/>
              </a:rPr>
              <a:t>Mailing</a:t>
            </a:r>
            <a:endParaRPr lang="en-AU" sz="2200" b="1" dirty="0" smtClean="0">
              <a:latin typeface="Helvetica" pitchFamily="34" charset="0"/>
            </a:endParaRPr>
          </a:p>
          <a:p>
            <a:pPr>
              <a:spcBef>
                <a:spcPts val="600"/>
              </a:spcBef>
              <a:spcAft>
                <a:spcPts val="600"/>
              </a:spcAft>
            </a:pPr>
            <a:r>
              <a:rPr lang="en-AU" sz="2200" dirty="0" smtClean="0">
                <a:latin typeface="Helvetica" pitchFamily="34" charset="0"/>
              </a:rPr>
              <a:t>Photocopying</a:t>
            </a:r>
          </a:p>
          <a:p>
            <a:pPr>
              <a:spcBef>
                <a:spcPts val="600"/>
              </a:spcBef>
              <a:spcAft>
                <a:spcPts val="600"/>
              </a:spcAft>
            </a:pPr>
            <a:r>
              <a:rPr lang="en-AU" sz="2200" dirty="0" smtClean="0">
                <a:latin typeface="Helvetica" pitchFamily="34" charset="0"/>
              </a:rPr>
              <a:t>Faxing</a:t>
            </a:r>
          </a:p>
          <a:p>
            <a:pPr>
              <a:spcBef>
                <a:spcPts val="600"/>
              </a:spcBef>
              <a:spcAft>
                <a:spcPts val="600"/>
              </a:spcAft>
            </a:pPr>
            <a:r>
              <a:rPr lang="en-AU" sz="2200" dirty="0" smtClean="0">
                <a:latin typeface="Helvetica" pitchFamily="34" charset="0"/>
              </a:rPr>
              <a:t>Emailing</a:t>
            </a:r>
          </a:p>
          <a:p>
            <a:pPr>
              <a:spcBef>
                <a:spcPts val="600"/>
              </a:spcBef>
              <a:spcAft>
                <a:spcPts val="600"/>
              </a:spcAft>
            </a:pPr>
            <a:r>
              <a:rPr lang="en-AU" sz="2200" dirty="0" smtClean="0">
                <a:latin typeface="Helvetica" pitchFamily="34" charset="0"/>
              </a:rPr>
              <a:t>Binding </a:t>
            </a:r>
          </a:p>
          <a:p>
            <a:pPr>
              <a:spcBef>
                <a:spcPts val="600"/>
              </a:spcBef>
              <a:spcAft>
                <a:spcPts val="600"/>
              </a:spcAft>
            </a:pPr>
            <a:r>
              <a:rPr lang="en-AU" sz="2200" dirty="0" smtClean="0">
                <a:latin typeface="Helvetica" pitchFamily="34" charset="0"/>
              </a:rPr>
              <a:t>Distribution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MP900401008.JPG"/>
          <p:cNvPicPr/>
          <p:nvPr/>
        </p:nvPicPr>
        <p:blipFill>
          <a:blip r:embed="rId3" cstate="print"/>
          <a:stretch>
            <a:fillRect/>
          </a:stretch>
        </p:blipFill>
        <p:spPr>
          <a:xfrm>
            <a:off x="7020272" y="3429000"/>
            <a:ext cx="1360165" cy="185546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20080"/>
          </a:xfrm>
        </p:spPr>
        <p:txBody>
          <a:bodyPr>
            <a:normAutofit/>
          </a:bodyPr>
          <a:lstStyle/>
          <a:p>
            <a:r>
              <a:rPr lang="en-AU" sz="3400" b="1" dirty="0" smtClean="0">
                <a:solidFill>
                  <a:srgbClr val="FF6600"/>
                </a:solidFill>
                <a:latin typeface="Helvetica" pitchFamily="34" charset="0"/>
              </a:rPr>
              <a:t>Record document movements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Ways to record movements</a:t>
            </a:r>
          </a:p>
          <a:p>
            <a:pPr>
              <a:spcBef>
                <a:spcPts val="600"/>
              </a:spcBef>
              <a:spcAft>
                <a:spcPts val="1200"/>
              </a:spcAft>
              <a:buNone/>
            </a:pPr>
            <a:r>
              <a:rPr lang="en-AU" sz="2200" dirty="0" smtClean="0">
                <a:latin typeface="Helvetica" pitchFamily="34" charset="0"/>
              </a:rPr>
              <a:t>Ways to record movements may include:</a:t>
            </a:r>
          </a:p>
          <a:p>
            <a:pPr lvl="0">
              <a:spcBef>
                <a:spcPts val="600"/>
              </a:spcBef>
              <a:spcAft>
                <a:spcPts val="1200"/>
              </a:spcAft>
            </a:pPr>
            <a:r>
              <a:rPr lang="en-AU" sz="2200" dirty="0" smtClean="0">
                <a:latin typeface="Helvetica" pitchFamily="34" charset="0"/>
              </a:rPr>
              <a:t>Updating file register </a:t>
            </a:r>
          </a:p>
          <a:p>
            <a:pPr lvl="0">
              <a:spcBef>
                <a:spcPts val="600"/>
              </a:spcBef>
              <a:spcAft>
                <a:spcPts val="1200"/>
              </a:spcAft>
            </a:pPr>
            <a:r>
              <a:rPr lang="en-AU" sz="2200" dirty="0" smtClean="0">
                <a:latin typeface="Helvetica" pitchFamily="34" charset="0"/>
              </a:rPr>
              <a:t>Updating records management system </a:t>
            </a:r>
          </a:p>
          <a:p>
            <a:pPr lvl="0">
              <a:spcBef>
                <a:spcPts val="600"/>
              </a:spcBef>
              <a:spcAft>
                <a:spcPts val="1200"/>
              </a:spcAft>
            </a:pPr>
            <a:r>
              <a:rPr lang="en-AU" sz="2200" dirty="0" smtClean="0">
                <a:latin typeface="Helvetica" pitchFamily="34" charset="0"/>
              </a:rPr>
              <a:t>Temporary or permanent transfer of records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MP900409672.JPG"/>
          <p:cNvPicPr/>
          <p:nvPr/>
        </p:nvPicPr>
        <p:blipFill>
          <a:blip r:embed="rId3" cstate="print"/>
          <a:stretch>
            <a:fillRect/>
          </a:stretch>
        </p:blipFill>
        <p:spPr>
          <a:xfrm>
            <a:off x="6876256" y="3717032"/>
            <a:ext cx="1488554" cy="156056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Record document movements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Benefits of recording document movements</a:t>
            </a:r>
          </a:p>
          <a:p>
            <a:pPr lvl="0">
              <a:spcBef>
                <a:spcPts val="600"/>
              </a:spcBef>
              <a:spcAft>
                <a:spcPts val="1200"/>
              </a:spcAft>
            </a:pPr>
            <a:r>
              <a:rPr lang="en-AU" sz="2200" dirty="0" smtClean="0">
                <a:latin typeface="Helvetica" pitchFamily="34" charset="0"/>
              </a:rPr>
              <a:t>Establishes a transparent record of who has the document and where it has gone</a:t>
            </a:r>
          </a:p>
          <a:p>
            <a:pPr lvl="0">
              <a:spcBef>
                <a:spcPts val="600"/>
              </a:spcBef>
              <a:spcAft>
                <a:spcPts val="1200"/>
              </a:spcAft>
            </a:pPr>
            <a:r>
              <a:rPr lang="en-AU" sz="2200" dirty="0" smtClean="0">
                <a:latin typeface="Helvetica" pitchFamily="34" charset="0"/>
              </a:rPr>
              <a:t>Requires authorisation to receive documents</a:t>
            </a:r>
          </a:p>
          <a:p>
            <a:pPr lvl="0">
              <a:spcBef>
                <a:spcPts val="600"/>
              </a:spcBef>
              <a:spcAft>
                <a:spcPts val="1200"/>
              </a:spcAft>
            </a:pPr>
            <a:r>
              <a:rPr lang="en-AU" sz="2200" dirty="0" smtClean="0">
                <a:latin typeface="Helvetica" pitchFamily="34" charset="0"/>
              </a:rPr>
              <a:t>Easy to see who has received and had the opportunity to read documents</a:t>
            </a:r>
          </a:p>
          <a:p>
            <a:pPr>
              <a:spcBef>
                <a:spcPts val="600"/>
              </a:spcBef>
              <a:spcAft>
                <a:spcPts val="1200"/>
              </a:spcAft>
            </a:pPr>
            <a:r>
              <a:rPr lang="en-AU" sz="2200" dirty="0" smtClean="0">
                <a:latin typeface="Helvetica" pitchFamily="34" charset="0"/>
              </a:rPr>
              <a:t>Records the time and date in which a specific </a:t>
            </a:r>
            <a:br>
              <a:rPr lang="en-AU" sz="2200" dirty="0" smtClean="0">
                <a:latin typeface="Helvetica" pitchFamily="34" charset="0"/>
              </a:rPr>
            </a:br>
            <a:r>
              <a:rPr lang="en-AU" sz="2200" dirty="0" smtClean="0">
                <a:latin typeface="Helvetica" pitchFamily="34" charset="0"/>
              </a:rPr>
              <a:t>person has physically received a document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6" name="Picture 5" descr="MP900387512.JPG"/>
          <p:cNvPicPr/>
          <p:nvPr/>
        </p:nvPicPr>
        <p:blipFill>
          <a:blip r:embed="rId3" cstate="print"/>
          <a:stretch>
            <a:fillRect/>
          </a:stretch>
        </p:blipFill>
        <p:spPr>
          <a:xfrm>
            <a:off x="7164288" y="3717032"/>
            <a:ext cx="1239897" cy="162153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Follow security and confidentiality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Need for security and confidentiality</a:t>
            </a:r>
          </a:p>
          <a:p>
            <a:pPr>
              <a:spcBef>
                <a:spcPts val="600"/>
              </a:spcBef>
              <a:spcAft>
                <a:spcPts val="1200"/>
              </a:spcAft>
            </a:pPr>
            <a:r>
              <a:rPr lang="en-AU" sz="2200" dirty="0" smtClean="0">
                <a:latin typeface="Helvetica" pitchFamily="34" charset="0"/>
              </a:rPr>
              <a:t>Many hard copy files and documents contain information of a sensitive and confidential nature </a:t>
            </a:r>
          </a:p>
          <a:p>
            <a:pPr>
              <a:spcBef>
                <a:spcPts val="600"/>
              </a:spcBef>
              <a:spcAft>
                <a:spcPts val="1200"/>
              </a:spcAft>
            </a:pPr>
            <a:r>
              <a:rPr lang="en-AU" sz="2200" dirty="0" smtClean="0">
                <a:latin typeface="Helvetica" pitchFamily="34" charset="0"/>
              </a:rPr>
              <a:t>It is essential that this information is protected in a manner that ensures that only authorised persons have access to them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7" name="Picture 6" descr="MP900178425.JPG"/>
          <p:cNvPicPr/>
          <p:nvPr/>
        </p:nvPicPr>
        <p:blipFill>
          <a:blip r:embed="rId3" cstate="print"/>
          <a:stretch>
            <a:fillRect/>
          </a:stretch>
        </p:blipFill>
        <p:spPr>
          <a:xfrm>
            <a:off x="6372200" y="4077072"/>
            <a:ext cx="2033642" cy="1211957"/>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Follow security and confidentiality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confidential and sensitive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Information that may be considered confidential or sensitive may include:</a:t>
            </a:r>
          </a:p>
          <a:p>
            <a:pPr lvl="0">
              <a:spcBef>
                <a:spcPts val="600"/>
              </a:spcBef>
              <a:spcAft>
                <a:spcPts val="1200"/>
              </a:spcAft>
            </a:pPr>
            <a:r>
              <a:rPr lang="en-AU" sz="2200" dirty="0" smtClean="0">
                <a:latin typeface="Helvetica" pitchFamily="34" charset="0"/>
              </a:rPr>
              <a:t>Personal information relating to both personnel and guests</a:t>
            </a:r>
          </a:p>
          <a:p>
            <a:pPr lvl="0">
              <a:spcBef>
                <a:spcPts val="600"/>
              </a:spcBef>
              <a:spcAft>
                <a:spcPts val="1200"/>
              </a:spcAft>
            </a:pPr>
            <a:r>
              <a:rPr lang="en-AU" sz="2200" dirty="0" smtClean="0">
                <a:latin typeface="Helvetica" pitchFamily="34" charset="0"/>
              </a:rPr>
              <a:t>Credit card information</a:t>
            </a:r>
          </a:p>
          <a:p>
            <a:pPr lvl="0">
              <a:spcBef>
                <a:spcPts val="600"/>
              </a:spcBef>
              <a:spcAft>
                <a:spcPts val="1200"/>
              </a:spcAft>
            </a:pPr>
            <a:r>
              <a:rPr lang="en-AU" sz="2200" dirty="0" smtClean="0">
                <a:latin typeface="Helvetica" pitchFamily="34" charset="0"/>
              </a:rPr>
              <a:t>Salary and benefits entitled to personnel</a:t>
            </a:r>
          </a:p>
          <a:p>
            <a:pPr lvl="0">
              <a:spcBef>
                <a:spcPts val="600"/>
              </a:spcBef>
              <a:spcAft>
                <a:spcPts val="1200"/>
              </a:spcAft>
            </a:pPr>
            <a:r>
              <a:rPr lang="en-AU" sz="2200" dirty="0" smtClean="0">
                <a:latin typeface="Helvetica" pitchFamily="34" charset="0"/>
              </a:rPr>
              <a:t>Personnel performance appraisal information</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Picture 5" descr="efpos machine.JPG"/>
          <p:cNvPicPr/>
          <p:nvPr/>
        </p:nvPicPr>
        <p:blipFill>
          <a:blip r:embed="rId3" cstate="print"/>
          <a:stretch>
            <a:fillRect/>
          </a:stretch>
        </p:blipFill>
        <p:spPr>
          <a:xfrm>
            <a:off x="7164288" y="4077072"/>
            <a:ext cx="1219200" cy="121920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Follow security and confidentiality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confidential and sensitive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Complaints</a:t>
            </a:r>
          </a:p>
          <a:p>
            <a:pPr lvl="0">
              <a:spcBef>
                <a:spcPts val="600"/>
              </a:spcBef>
              <a:spcAft>
                <a:spcPts val="1200"/>
              </a:spcAft>
            </a:pPr>
            <a:r>
              <a:rPr lang="en-AU" sz="2200" dirty="0" smtClean="0">
                <a:latin typeface="Helvetica" pitchFamily="34" charset="0"/>
              </a:rPr>
              <a:t>Claims of harassment or discrimination</a:t>
            </a:r>
          </a:p>
          <a:p>
            <a:pPr lvl="0">
              <a:spcBef>
                <a:spcPts val="600"/>
              </a:spcBef>
              <a:spcAft>
                <a:spcPts val="1200"/>
              </a:spcAft>
            </a:pPr>
            <a:r>
              <a:rPr lang="en-AU" sz="2200" dirty="0" smtClean="0">
                <a:latin typeface="Helvetica" pitchFamily="34" charset="0"/>
              </a:rPr>
              <a:t>Financial information</a:t>
            </a:r>
          </a:p>
          <a:p>
            <a:pPr lvl="0">
              <a:spcBef>
                <a:spcPts val="600"/>
              </a:spcBef>
              <a:spcAft>
                <a:spcPts val="1200"/>
              </a:spcAft>
            </a:pPr>
            <a:r>
              <a:rPr lang="en-AU" sz="2200" dirty="0" smtClean="0">
                <a:latin typeface="Helvetica" pitchFamily="34" charset="0"/>
              </a:rPr>
              <a:t>Strategic information</a:t>
            </a:r>
          </a:p>
          <a:p>
            <a:pPr lvl="0">
              <a:spcBef>
                <a:spcPts val="600"/>
              </a:spcBef>
              <a:spcAft>
                <a:spcPts val="1200"/>
              </a:spcAft>
            </a:pPr>
            <a:r>
              <a:rPr lang="en-AU" sz="2200" dirty="0" smtClean="0">
                <a:latin typeface="Helvetica" pitchFamily="34" charset="0"/>
              </a:rPr>
              <a:t>Notes left by clients at a conference</a:t>
            </a:r>
          </a:p>
          <a:p>
            <a:pPr lvl="0">
              <a:spcBef>
                <a:spcPts val="600"/>
              </a:spcBef>
              <a:spcAft>
                <a:spcPts val="1200"/>
              </a:spcAft>
            </a:pPr>
            <a:r>
              <a:rPr lang="en-AU" sz="2200" dirty="0" smtClean="0">
                <a:latin typeface="Helvetica" pitchFamily="34" charset="0"/>
              </a:rPr>
              <a:t>Notes left by guests in hotel rooms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descr="MP900443367[1].JPG"/>
          <p:cNvPicPr>
            <a:picLocks noChangeAspect="1"/>
          </p:cNvPicPr>
          <p:nvPr/>
        </p:nvPicPr>
        <p:blipFill>
          <a:blip r:embed="rId3" cstate="print"/>
          <a:stretch>
            <a:fillRect/>
          </a:stretch>
        </p:blipFill>
        <p:spPr>
          <a:xfrm>
            <a:off x="7076008" y="3356992"/>
            <a:ext cx="1314195" cy="1894992"/>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MP900305761.JPG"/>
          <p:cNvPicPr/>
          <p:nvPr/>
        </p:nvPicPr>
        <p:blipFill>
          <a:blip r:embed="rId3" cstate="print"/>
          <a:stretch>
            <a:fillRect/>
          </a:stretch>
        </p:blipFill>
        <p:spPr>
          <a:xfrm>
            <a:off x="4716016" y="4149080"/>
            <a:ext cx="1224136" cy="1512168"/>
          </a:xfrm>
          <a:prstGeom prst="rect">
            <a:avLst/>
          </a:prstGeom>
        </p:spPr>
      </p:pic>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Follow security and confidentiality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security</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Security of documents on file is important and must be ensured to: </a:t>
            </a:r>
          </a:p>
          <a:p>
            <a:pPr lvl="0">
              <a:spcBef>
                <a:spcPts val="600"/>
              </a:spcBef>
              <a:spcAft>
                <a:spcPts val="1200"/>
              </a:spcAft>
            </a:pPr>
            <a:r>
              <a:rPr lang="en-AU" sz="2200" dirty="0" smtClean="0">
                <a:latin typeface="Helvetica" pitchFamily="34" charset="0"/>
              </a:rPr>
              <a:t>Protect the confidential nature of business documents </a:t>
            </a:r>
          </a:p>
          <a:p>
            <a:pPr lvl="0">
              <a:spcBef>
                <a:spcPts val="600"/>
              </a:spcBef>
              <a:spcAft>
                <a:spcPts val="1200"/>
              </a:spcAft>
            </a:pPr>
            <a:r>
              <a:rPr lang="en-AU" sz="2200" dirty="0" smtClean="0">
                <a:latin typeface="Helvetica" pitchFamily="34" charset="0"/>
              </a:rPr>
              <a:t>Provide back-up information in the case of computer crash </a:t>
            </a:r>
          </a:p>
          <a:p>
            <a:pPr lvl="0">
              <a:spcBef>
                <a:spcPts val="600"/>
              </a:spcBef>
              <a:spcAft>
                <a:spcPts val="1200"/>
              </a:spcAft>
            </a:pPr>
            <a:r>
              <a:rPr lang="en-AU" sz="2200" dirty="0" smtClean="0">
                <a:latin typeface="Helvetica" pitchFamily="34" charset="0"/>
              </a:rPr>
              <a:t>Provide hard copy evidence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Follow security and confidentiality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rmAutofit/>
          </a:bodyPr>
          <a:lstStyle/>
          <a:p>
            <a:pPr>
              <a:spcBef>
                <a:spcPts val="600"/>
              </a:spcBef>
              <a:spcAft>
                <a:spcPts val="1200"/>
              </a:spcAft>
              <a:buNone/>
            </a:pPr>
            <a:r>
              <a:rPr lang="en-AU" sz="2200" b="1" dirty="0" smtClean="0">
                <a:latin typeface="Helvetica" pitchFamily="34" charset="0"/>
              </a:rPr>
              <a:t>Types of security and confidentiality procedures</a:t>
            </a:r>
          </a:p>
          <a:p>
            <a:pPr>
              <a:spcBef>
                <a:spcPts val="600"/>
              </a:spcBef>
              <a:spcAft>
                <a:spcPts val="1200"/>
              </a:spcAft>
              <a:buNone/>
            </a:pPr>
            <a:r>
              <a:rPr lang="en-AU" sz="2200" dirty="0" smtClean="0">
                <a:latin typeface="Helvetica" pitchFamily="34" charset="0"/>
              </a:rPr>
              <a:t>Security and confidentiality procedures may include:</a:t>
            </a:r>
          </a:p>
          <a:p>
            <a:pPr lvl="0">
              <a:spcBef>
                <a:spcPts val="600"/>
              </a:spcBef>
              <a:spcAft>
                <a:spcPts val="1200"/>
              </a:spcAft>
            </a:pPr>
            <a:r>
              <a:rPr lang="en-AU" sz="2200" dirty="0" smtClean="0">
                <a:latin typeface="Helvetica" pitchFamily="34" charset="0"/>
              </a:rPr>
              <a:t>Access authority</a:t>
            </a:r>
          </a:p>
          <a:p>
            <a:pPr lvl="0">
              <a:spcBef>
                <a:spcPts val="600"/>
              </a:spcBef>
              <a:spcAft>
                <a:spcPts val="1200"/>
              </a:spcAft>
            </a:pPr>
            <a:r>
              <a:rPr lang="en-AU" sz="2200" dirty="0" smtClean="0">
                <a:latin typeface="Helvetica" pitchFamily="34" charset="0"/>
              </a:rPr>
              <a:t>Lockable files or cabinets </a:t>
            </a:r>
          </a:p>
          <a:p>
            <a:pPr lvl="0">
              <a:spcBef>
                <a:spcPts val="600"/>
              </a:spcBef>
              <a:spcAft>
                <a:spcPts val="1200"/>
              </a:spcAft>
            </a:pPr>
            <a:r>
              <a:rPr lang="en-AU" sz="2200" dirty="0" smtClean="0">
                <a:latin typeface="Helvetica" pitchFamily="34" charset="0"/>
              </a:rPr>
              <a:t>Confidentiality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7" name="Picture 6" descr="MP900178425.JPG"/>
          <p:cNvPicPr/>
          <p:nvPr/>
        </p:nvPicPr>
        <p:blipFill>
          <a:blip r:embed="rId3" cstate="print"/>
          <a:stretch>
            <a:fillRect/>
          </a:stretch>
        </p:blipFill>
        <p:spPr>
          <a:xfrm>
            <a:off x="6588224" y="3933056"/>
            <a:ext cx="1793925" cy="1315963"/>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632848" cy="4896544"/>
          </a:xfrm>
        </p:spPr>
        <p:txBody>
          <a:bodyPr>
            <a:normAutofit/>
          </a:bodyPr>
          <a:lstStyle/>
          <a:p>
            <a:pPr marL="0">
              <a:buNone/>
            </a:pPr>
            <a:r>
              <a:rPr lang="en-AU" sz="3600" b="1" dirty="0" smtClean="0">
                <a:solidFill>
                  <a:srgbClr val="FF6600"/>
                </a:solidFill>
              </a:rPr>
              <a:t>Element 3:</a:t>
            </a:r>
          </a:p>
          <a:p>
            <a:pPr marL="0">
              <a:buNone/>
            </a:pPr>
            <a:r>
              <a:rPr lang="en-AU" sz="3600" b="1" i="1" dirty="0" smtClean="0">
                <a:solidFill>
                  <a:srgbClr val="FF6600"/>
                </a:solidFill>
                <a:latin typeface="Helvetica" pitchFamily="34" charset="0"/>
              </a:rPr>
              <a:t>Maintain existing recording and filing systems</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MP900227700.JPG"/>
          <p:cNvPicPr>
            <a:picLocks noChangeAspect="1"/>
          </p:cNvPicPr>
          <p:nvPr/>
        </p:nvPicPr>
        <p:blipFill>
          <a:blip r:embed="rId3" cstate="print"/>
          <a:stretch>
            <a:fillRect/>
          </a:stretch>
        </p:blipFill>
        <p:spPr>
          <a:xfrm>
            <a:off x="2627784" y="3501008"/>
            <a:ext cx="2371574" cy="157314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r>
              <a:rPr lang="en-AU" sz="3400" b="1" dirty="0" smtClean="0">
                <a:solidFill>
                  <a:srgbClr val="FF6600"/>
                </a:solidFill>
                <a:latin typeface="Helvetica" pitchFamily="34" charset="0"/>
              </a:rPr>
              <a:t>Maintain existing recording and filing systems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Maintain recording and filing systems according to enterprise policies and procedures</a:t>
            </a:r>
          </a:p>
          <a:p>
            <a:pPr>
              <a:spcBef>
                <a:spcPts val="600"/>
              </a:spcBef>
              <a:spcAft>
                <a:spcPts val="1200"/>
              </a:spcAft>
            </a:pPr>
            <a:r>
              <a:rPr lang="en-AU" sz="2200" dirty="0" smtClean="0">
                <a:latin typeface="Helvetica" pitchFamily="34" charset="0"/>
              </a:rPr>
              <a:t>Allocate new documents to designated category</a:t>
            </a:r>
          </a:p>
          <a:p>
            <a:pPr>
              <a:spcBef>
                <a:spcPts val="600"/>
              </a:spcBef>
              <a:spcAft>
                <a:spcPts val="1200"/>
              </a:spcAft>
            </a:pPr>
            <a:r>
              <a:rPr lang="en-AU" sz="2200" dirty="0" smtClean="0">
                <a:latin typeface="Helvetica" pitchFamily="34" charset="0"/>
              </a:rPr>
              <a:t>Monitor the issue and return of documents </a:t>
            </a:r>
            <a:br>
              <a:rPr lang="en-AU" sz="2200" dirty="0" smtClean="0">
                <a:latin typeface="Helvetica" pitchFamily="34" charset="0"/>
              </a:rPr>
            </a:br>
            <a:r>
              <a:rPr lang="en-AU" sz="2200" dirty="0" smtClean="0">
                <a:latin typeface="Helvetica" pitchFamily="34" charset="0"/>
              </a:rPr>
              <a:t>to ensure the integrity of the system is </a:t>
            </a:r>
            <a:br>
              <a:rPr lang="en-AU" sz="2200" dirty="0" smtClean="0">
                <a:latin typeface="Helvetica" pitchFamily="34" charset="0"/>
              </a:rPr>
            </a:br>
            <a:r>
              <a:rPr lang="en-AU" sz="2200" dirty="0" smtClean="0">
                <a:latin typeface="Helvetica" pitchFamily="34" charset="0"/>
              </a:rPr>
              <a:t>maintained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MP900401619.JPG"/>
          <p:cNvPicPr>
            <a:picLocks noChangeAspect="1"/>
          </p:cNvPicPr>
          <p:nvPr/>
        </p:nvPicPr>
        <p:blipFill>
          <a:blip r:embed="rId3" cstate="print"/>
          <a:stretch>
            <a:fillRect/>
          </a:stretch>
        </p:blipFill>
        <p:spPr>
          <a:xfrm>
            <a:off x="7164288" y="3429000"/>
            <a:ext cx="1233007" cy="1848608"/>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r>
              <a:rPr lang="en-AU" sz="3400" b="1" dirty="0" smtClean="0">
                <a:solidFill>
                  <a:srgbClr val="FF6600"/>
                </a:solidFill>
                <a:latin typeface="Helvetica" pitchFamily="34" charset="0"/>
              </a:rPr>
              <a:t>Maintain existing recording and filing systems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Archive, remove and update documents to ensure appropriate space available for current records</a:t>
            </a:r>
          </a:p>
          <a:p>
            <a:pPr>
              <a:spcBef>
                <a:spcPts val="600"/>
              </a:spcBef>
              <a:spcAft>
                <a:spcPts val="1200"/>
              </a:spcAft>
            </a:pPr>
            <a:r>
              <a:rPr lang="en-AU" sz="2200" dirty="0" smtClean="0">
                <a:latin typeface="Helvetica" pitchFamily="34" charset="0"/>
              </a:rPr>
              <a:t>Identify and locate required files and dispatch to nominated person or section within designated </a:t>
            </a:r>
            <a:br>
              <a:rPr lang="en-AU" sz="2200" dirty="0" smtClean="0">
                <a:latin typeface="Helvetica" pitchFamily="34" charset="0"/>
              </a:rPr>
            </a:br>
            <a:r>
              <a:rPr lang="en-AU" sz="2200" dirty="0" smtClean="0">
                <a:latin typeface="Helvetica" pitchFamily="34" charset="0"/>
              </a:rPr>
              <a:t>time limits</a:t>
            </a:r>
          </a:p>
          <a:p>
            <a:pPr>
              <a:spcBef>
                <a:spcPts val="600"/>
              </a:spcBef>
              <a:spcAft>
                <a:spcPts val="1200"/>
              </a:spcAft>
            </a:pPr>
            <a:r>
              <a:rPr lang="en-AU" sz="2200" dirty="0" smtClean="0">
                <a:latin typeface="Helvetica" pitchFamily="34" charset="0"/>
              </a:rPr>
              <a:t>Monitor and record file and document </a:t>
            </a:r>
            <a:br>
              <a:rPr lang="en-AU" sz="2200" dirty="0" smtClean="0">
                <a:latin typeface="Helvetica" pitchFamily="34" charset="0"/>
              </a:rPr>
            </a:br>
            <a:r>
              <a:rPr lang="en-AU" sz="2200" dirty="0" smtClean="0">
                <a:latin typeface="Helvetica" pitchFamily="34" charset="0"/>
              </a:rPr>
              <a:t>movements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descr="MP900305765.JPG"/>
          <p:cNvPicPr>
            <a:picLocks noChangeAspect="1"/>
          </p:cNvPicPr>
          <p:nvPr/>
        </p:nvPicPr>
        <p:blipFill>
          <a:blip r:embed="rId3" cstate="print"/>
          <a:stretch>
            <a:fillRect/>
          </a:stretch>
        </p:blipFill>
        <p:spPr>
          <a:xfrm>
            <a:off x="6804248" y="3645024"/>
            <a:ext cx="1453106" cy="139256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r>
              <a:rPr lang="en-AU" sz="3400" b="1" dirty="0" smtClean="0">
                <a:solidFill>
                  <a:srgbClr val="FF6600"/>
                </a:solidFill>
                <a:latin typeface="Helvetica" pitchFamily="34" charset="0"/>
              </a:rPr>
              <a:t>Maintain existing recording and filing systems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Maintain documents in good condition and in correct location</a:t>
            </a:r>
          </a:p>
          <a:p>
            <a:pPr>
              <a:spcBef>
                <a:spcPts val="600"/>
              </a:spcBef>
              <a:spcAft>
                <a:spcPts val="1200"/>
              </a:spcAft>
            </a:pPr>
            <a:r>
              <a:rPr lang="en-AU" sz="2200" dirty="0" smtClean="0">
                <a:latin typeface="Helvetica" pitchFamily="34" charset="0"/>
              </a:rPr>
              <a:t>Separate confidential files from general files, with access available to nominated personnel only</a:t>
            </a:r>
          </a:p>
          <a:p>
            <a:pPr>
              <a:spcBef>
                <a:spcPts val="600"/>
              </a:spcBef>
              <a:spcAft>
                <a:spcPts val="1200"/>
              </a:spcAft>
            </a:pPr>
            <a:r>
              <a:rPr lang="en-AU" sz="2200" dirty="0" smtClean="0">
                <a:latin typeface="Helvetica" pitchFamily="34" charset="0"/>
              </a:rPr>
              <a:t>Monitor security system to ensure issued </a:t>
            </a:r>
            <a:br>
              <a:rPr lang="en-AU" sz="2200" dirty="0" smtClean="0">
                <a:latin typeface="Helvetica" pitchFamily="34" charset="0"/>
              </a:rPr>
            </a:br>
            <a:r>
              <a:rPr lang="en-AU" sz="2200" dirty="0" smtClean="0">
                <a:latin typeface="Helvetica" pitchFamily="34" charset="0"/>
              </a:rPr>
              <a:t>files are traceable at all times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MP900174878.JPG"/>
          <p:cNvPicPr>
            <a:picLocks noChangeAspect="1"/>
          </p:cNvPicPr>
          <p:nvPr/>
        </p:nvPicPr>
        <p:blipFill>
          <a:blip r:embed="rId3" cstate="print"/>
          <a:stretch>
            <a:fillRect/>
          </a:stretch>
        </p:blipFill>
        <p:spPr>
          <a:xfrm>
            <a:off x="6552220" y="4077072"/>
            <a:ext cx="1828800" cy="1219200"/>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existing recording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Maintain systems</a:t>
            </a:r>
          </a:p>
          <a:p>
            <a:pPr>
              <a:spcBef>
                <a:spcPts val="600"/>
              </a:spcBef>
              <a:spcAft>
                <a:spcPts val="1200"/>
              </a:spcAft>
            </a:pPr>
            <a:r>
              <a:rPr lang="en-AU" sz="2200" dirty="0" smtClean="0">
                <a:latin typeface="Helvetica" pitchFamily="34" charset="0"/>
              </a:rPr>
              <a:t>Some documentation is kept on file because the establishment has identified a potential need for it</a:t>
            </a:r>
          </a:p>
          <a:p>
            <a:pPr>
              <a:spcBef>
                <a:spcPts val="600"/>
              </a:spcBef>
              <a:spcAft>
                <a:spcPts val="1200"/>
              </a:spcAft>
            </a:pPr>
            <a:r>
              <a:rPr lang="en-AU" sz="2200" dirty="0" smtClean="0">
                <a:latin typeface="Helvetica" pitchFamily="34" charset="0"/>
              </a:rPr>
              <a:t>It is therefore important to maintain, modify and update whatever reference systems the establishment has decided to keep</a:t>
            </a:r>
          </a:p>
          <a:p>
            <a:pPr>
              <a:spcBef>
                <a:spcPts val="600"/>
              </a:spcBef>
              <a:spcAft>
                <a:spcPts val="1200"/>
              </a:spcAft>
            </a:pPr>
            <a:r>
              <a:rPr lang="en-AU" sz="2200" dirty="0" smtClean="0">
                <a:latin typeface="Helvetica" pitchFamily="34" charset="0"/>
              </a:rPr>
              <a:t>This means ensuring the information contained </a:t>
            </a:r>
            <a:br>
              <a:rPr lang="en-AU" sz="2200" dirty="0" smtClean="0">
                <a:latin typeface="Helvetica" pitchFamily="34" charset="0"/>
              </a:rPr>
            </a:br>
            <a:r>
              <a:rPr lang="en-AU" sz="2200" dirty="0" smtClean="0">
                <a:latin typeface="Helvetica" pitchFamily="34" charset="0"/>
              </a:rPr>
              <a:t>within reports is current and accurate as much </a:t>
            </a:r>
            <a:br>
              <a:rPr lang="en-AU" sz="2200" dirty="0" smtClean="0">
                <a:latin typeface="Helvetica" pitchFamily="34" charset="0"/>
              </a:rPr>
            </a:br>
            <a:r>
              <a:rPr lang="en-AU" sz="2200" dirty="0" smtClean="0">
                <a:latin typeface="Helvetica" pitchFamily="34" charset="0"/>
              </a:rPr>
              <a:t>as possible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8" name="Picture 7" descr="MP900409031.JPG"/>
          <p:cNvPicPr>
            <a:picLocks noChangeAspect="1"/>
          </p:cNvPicPr>
          <p:nvPr/>
        </p:nvPicPr>
        <p:blipFill>
          <a:blip r:embed="rId3" cstate="print"/>
          <a:stretch>
            <a:fillRect/>
          </a:stretch>
        </p:blipFill>
        <p:spPr>
          <a:xfrm>
            <a:off x="7191672" y="4032448"/>
            <a:ext cx="1196752" cy="1196752"/>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existing recording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Legally required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also a legal requirement to keep certain files in storage in case an individual needs to be located because of a criminal or civil law action, which may include: </a:t>
            </a:r>
          </a:p>
          <a:p>
            <a:pPr lvl="0">
              <a:spcBef>
                <a:spcPts val="600"/>
              </a:spcBef>
              <a:spcAft>
                <a:spcPts val="1200"/>
              </a:spcAft>
            </a:pPr>
            <a:r>
              <a:rPr lang="en-AU" sz="2200" dirty="0" smtClean="0">
                <a:latin typeface="Helvetica" pitchFamily="34" charset="0"/>
              </a:rPr>
              <a:t>An insurance claim being lodged</a:t>
            </a:r>
          </a:p>
          <a:p>
            <a:pPr lvl="0">
              <a:spcBef>
                <a:spcPts val="600"/>
              </a:spcBef>
              <a:spcAft>
                <a:spcPts val="1200"/>
              </a:spcAft>
            </a:pPr>
            <a:r>
              <a:rPr lang="en-AU" sz="2200" dirty="0" smtClean="0">
                <a:latin typeface="Helvetica" pitchFamily="34" charset="0"/>
              </a:rPr>
              <a:t>A theft from the guest’s room</a:t>
            </a:r>
          </a:p>
          <a:p>
            <a:pPr lvl="0">
              <a:spcBef>
                <a:spcPts val="600"/>
              </a:spcBef>
              <a:spcAft>
                <a:spcPts val="1200"/>
              </a:spcAft>
            </a:pPr>
            <a:r>
              <a:rPr lang="en-AU" sz="2200" dirty="0" smtClean="0">
                <a:latin typeface="Helvetica" pitchFamily="34" charset="0"/>
              </a:rPr>
              <a:t>A fire in the hotel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MP900431821.JPG"/>
          <p:cNvPicPr/>
          <p:nvPr/>
        </p:nvPicPr>
        <p:blipFill>
          <a:blip r:embed="rId3" cstate="print"/>
          <a:stretch>
            <a:fillRect/>
          </a:stretch>
        </p:blipFill>
        <p:spPr>
          <a:xfrm>
            <a:off x="6948264" y="3573016"/>
            <a:ext cx="1477888" cy="1693912"/>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existing recording and filing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Operational reports</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Other documentation that may need to be modified and updated may include: </a:t>
            </a:r>
          </a:p>
          <a:p>
            <a:pPr lvl="0">
              <a:spcBef>
                <a:spcPts val="600"/>
              </a:spcBef>
              <a:spcAft>
                <a:spcPts val="600"/>
              </a:spcAft>
            </a:pPr>
            <a:r>
              <a:rPr lang="en-AU" sz="2200" dirty="0" smtClean="0">
                <a:latin typeface="Helvetica" pitchFamily="34" charset="0"/>
              </a:rPr>
              <a:t>Arrival and departure reports</a:t>
            </a:r>
          </a:p>
          <a:p>
            <a:pPr lvl="0">
              <a:spcBef>
                <a:spcPts val="600"/>
              </a:spcBef>
              <a:spcAft>
                <a:spcPts val="600"/>
              </a:spcAft>
            </a:pPr>
            <a:r>
              <a:rPr lang="en-AU" sz="2200" dirty="0" smtClean="0">
                <a:latin typeface="Helvetica" pitchFamily="34" charset="0"/>
              </a:rPr>
              <a:t>Revenue reports</a:t>
            </a:r>
          </a:p>
          <a:p>
            <a:pPr lvl="0">
              <a:spcBef>
                <a:spcPts val="600"/>
              </a:spcBef>
              <a:spcAft>
                <a:spcPts val="600"/>
              </a:spcAft>
            </a:pPr>
            <a:r>
              <a:rPr lang="en-AU" sz="2200" dirty="0" smtClean="0">
                <a:latin typeface="Helvetica" pitchFamily="34" charset="0"/>
              </a:rPr>
              <a:t>In-house activity reports</a:t>
            </a:r>
          </a:p>
          <a:p>
            <a:pPr lvl="0">
              <a:spcBef>
                <a:spcPts val="600"/>
              </a:spcBef>
              <a:spcAft>
                <a:spcPts val="600"/>
              </a:spcAft>
            </a:pPr>
            <a:r>
              <a:rPr lang="en-AU" sz="2200" dirty="0" smtClean="0">
                <a:latin typeface="Helvetica" pitchFamily="34" charset="0"/>
              </a:rPr>
              <a:t>Staff timesheets</a:t>
            </a:r>
          </a:p>
          <a:p>
            <a:pPr lvl="0">
              <a:spcBef>
                <a:spcPts val="600"/>
              </a:spcBef>
              <a:spcAft>
                <a:spcPts val="600"/>
              </a:spcAft>
            </a:pPr>
            <a:r>
              <a:rPr lang="en-AU" sz="2200" dirty="0" smtClean="0">
                <a:latin typeface="Helvetica" pitchFamily="34" charset="0"/>
              </a:rPr>
              <a:t>Work claim forms</a:t>
            </a:r>
          </a:p>
          <a:p>
            <a:pPr lvl="0">
              <a:spcBef>
                <a:spcPts val="600"/>
              </a:spcBef>
              <a:spcAft>
                <a:spcPts val="600"/>
              </a:spcAft>
            </a:pPr>
            <a:r>
              <a:rPr lang="en-AU" sz="2200" dirty="0" smtClean="0">
                <a:latin typeface="Helvetica" pitchFamily="34" charset="0"/>
              </a:rPr>
              <a:t>Accident reports</a:t>
            </a:r>
          </a:p>
          <a:p>
            <a:pPr lvl="0">
              <a:spcBef>
                <a:spcPts val="600"/>
              </a:spcBef>
              <a:spcAft>
                <a:spcPts val="600"/>
              </a:spcAft>
            </a:pPr>
            <a:r>
              <a:rPr lang="en-AU" sz="2200" dirty="0" smtClean="0">
                <a:latin typeface="Helvetica" pitchFamily="34" charset="0"/>
              </a:rPr>
              <a:t>Staff rosters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7" name="Picture 6" descr="MP900227700.JPG"/>
          <p:cNvPicPr/>
          <p:nvPr/>
        </p:nvPicPr>
        <p:blipFill>
          <a:blip r:embed="rId3" cstate="print"/>
          <a:stretch>
            <a:fillRect/>
          </a:stretch>
        </p:blipFill>
        <p:spPr>
          <a:xfrm>
            <a:off x="6516216" y="4005064"/>
            <a:ext cx="1868041" cy="1287016"/>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Allocate new documents to designated category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Techniques to organise information</a:t>
            </a:r>
          </a:p>
          <a:p>
            <a:pPr>
              <a:spcBef>
                <a:spcPts val="600"/>
              </a:spcBef>
              <a:spcAft>
                <a:spcPts val="1200"/>
              </a:spcAft>
            </a:pPr>
            <a:r>
              <a:rPr lang="en-AU" sz="2200" dirty="0" smtClean="0">
                <a:latin typeface="Helvetica" pitchFamily="34" charset="0"/>
              </a:rPr>
              <a:t>Alphabetical </a:t>
            </a:r>
          </a:p>
          <a:p>
            <a:pPr>
              <a:spcBef>
                <a:spcPts val="600"/>
              </a:spcBef>
              <a:spcAft>
                <a:spcPts val="1200"/>
              </a:spcAft>
            </a:pPr>
            <a:r>
              <a:rPr lang="en-AU" sz="2200" dirty="0" smtClean="0">
                <a:latin typeface="Helvetica" pitchFamily="34" charset="0"/>
              </a:rPr>
              <a:t>Numerical </a:t>
            </a:r>
          </a:p>
          <a:p>
            <a:pPr>
              <a:spcBef>
                <a:spcPts val="600"/>
              </a:spcBef>
              <a:spcAft>
                <a:spcPts val="1200"/>
              </a:spcAft>
            </a:pPr>
            <a:r>
              <a:rPr lang="en-AU" sz="2200" dirty="0" smtClean="0">
                <a:latin typeface="Helvetica" pitchFamily="34" charset="0"/>
              </a:rPr>
              <a:t>Geographical </a:t>
            </a:r>
          </a:p>
          <a:p>
            <a:pPr>
              <a:spcBef>
                <a:spcPts val="600"/>
              </a:spcBef>
              <a:spcAft>
                <a:spcPts val="1200"/>
              </a:spcAft>
            </a:pPr>
            <a:r>
              <a:rPr lang="en-AU" sz="2200" dirty="0" smtClean="0">
                <a:latin typeface="Helvetica" pitchFamily="34" charset="0"/>
              </a:rPr>
              <a:t>Subject </a:t>
            </a:r>
          </a:p>
          <a:p>
            <a:pPr>
              <a:spcBef>
                <a:spcPts val="600"/>
              </a:spcBef>
              <a:spcAft>
                <a:spcPts val="1200"/>
              </a:spcAft>
            </a:pPr>
            <a:r>
              <a:rPr lang="en-AU" sz="2200" dirty="0" smtClean="0">
                <a:latin typeface="Helvetica" pitchFamily="34" charset="0"/>
              </a:rPr>
              <a:t>Key word </a:t>
            </a:r>
          </a:p>
          <a:p>
            <a:pPr>
              <a:spcBef>
                <a:spcPts val="600"/>
              </a:spcBef>
              <a:spcAft>
                <a:spcPts val="1200"/>
              </a:spcAft>
            </a:pPr>
            <a:r>
              <a:rPr lang="en-AU" sz="2200" dirty="0" smtClean="0">
                <a:latin typeface="Helvetica" pitchFamily="34" charset="0"/>
              </a:rPr>
              <a:t>Chronological </a:t>
            </a:r>
          </a:p>
          <a:p>
            <a:pPr>
              <a:spcBef>
                <a:spcPts val="600"/>
              </a:spcBef>
              <a:spcAft>
                <a:spcPts val="1200"/>
              </a:spcAft>
            </a:pPr>
            <a:r>
              <a:rPr lang="en-AU" sz="2200" dirty="0" smtClean="0">
                <a:latin typeface="Helvetica" pitchFamily="34" charset="0"/>
              </a:rPr>
              <a:t>Colour Coding</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MP900308916.JPG"/>
          <p:cNvPicPr/>
          <p:nvPr/>
        </p:nvPicPr>
        <p:blipFill>
          <a:blip r:embed="rId3" cstate="print"/>
          <a:stretch>
            <a:fillRect/>
          </a:stretch>
        </p:blipFill>
        <p:spPr>
          <a:xfrm>
            <a:off x="6480001" y="3933056"/>
            <a:ext cx="1908423" cy="133159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Monitor the issue and return of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pPr>
            <a:r>
              <a:rPr lang="en-AU" sz="2200" dirty="0" smtClean="0">
                <a:latin typeface="Helvetica" pitchFamily="34" charset="0"/>
              </a:rPr>
              <a:t>Files are kept in specific locations for the benefit of all staff, to help them conduct day to day activities. It is therefore important that staff has access to these files when required</a:t>
            </a:r>
          </a:p>
          <a:p>
            <a:pPr>
              <a:spcBef>
                <a:spcPts val="600"/>
              </a:spcBef>
              <a:spcAft>
                <a:spcPts val="1200"/>
              </a:spcAft>
            </a:pPr>
            <a:r>
              <a:rPr lang="en-AU" sz="2200" dirty="0" smtClean="0">
                <a:latin typeface="Helvetica" pitchFamily="34" charset="0"/>
              </a:rPr>
              <a:t>If files go missing, not only does this make it inconvenient for other staff seeking information, </a:t>
            </a:r>
            <a:br>
              <a:rPr lang="en-AU" sz="2200" dirty="0" smtClean="0">
                <a:latin typeface="Helvetica" pitchFamily="34" charset="0"/>
              </a:rPr>
            </a:br>
            <a:r>
              <a:rPr lang="en-AU" sz="2200" dirty="0" smtClean="0">
                <a:latin typeface="Helvetica" pitchFamily="34" charset="0"/>
              </a:rPr>
              <a:t>it may also have serious confidential concerns </a:t>
            </a:r>
            <a:br>
              <a:rPr lang="en-AU" sz="2200" dirty="0" smtClean="0">
                <a:latin typeface="Helvetica" pitchFamily="34" charset="0"/>
              </a:rPr>
            </a:br>
            <a:r>
              <a:rPr lang="en-AU" sz="2200" dirty="0" smtClean="0">
                <a:latin typeface="Helvetica" pitchFamily="34" charset="0"/>
              </a:rPr>
              <a:t>if lost</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7" name="Picture 6" descr="MP900387512.JPG"/>
          <p:cNvPicPr/>
          <p:nvPr/>
        </p:nvPicPr>
        <p:blipFill>
          <a:blip r:embed="rId3" cstate="print"/>
          <a:stretch>
            <a:fillRect/>
          </a:stretch>
        </p:blipFill>
        <p:spPr>
          <a:xfrm>
            <a:off x="7308304" y="3717032"/>
            <a:ext cx="1066165" cy="1495425"/>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Monitor the issue and return of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a:spcBef>
                <a:spcPts val="600"/>
              </a:spcBef>
              <a:spcAft>
                <a:spcPts val="1200"/>
              </a:spcAft>
              <a:buNone/>
            </a:pPr>
            <a:r>
              <a:rPr lang="en-AU" sz="2200" dirty="0" smtClean="0">
                <a:latin typeface="Helvetica" pitchFamily="34" charset="0"/>
              </a:rPr>
              <a:t>Management must place a priority to monitor that any files issued have been:</a:t>
            </a:r>
          </a:p>
          <a:p>
            <a:pPr>
              <a:spcBef>
                <a:spcPts val="600"/>
              </a:spcBef>
              <a:spcAft>
                <a:spcPts val="1200"/>
              </a:spcAft>
            </a:pPr>
            <a:r>
              <a:rPr lang="en-AU" sz="2200" dirty="0" smtClean="0">
                <a:latin typeface="Helvetica" pitchFamily="34" charset="0"/>
              </a:rPr>
              <a:t>Returned</a:t>
            </a:r>
          </a:p>
          <a:p>
            <a:pPr>
              <a:spcBef>
                <a:spcPts val="600"/>
              </a:spcBef>
              <a:spcAft>
                <a:spcPts val="1200"/>
              </a:spcAft>
            </a:pPr>
            <a:r>
              <a:rPr lang="en-AU" sz="2200" dirty="0" smtClean="0">
                <a:latin typeface="Helvetica" pitchFamily="34" charset="0"/>
              </a:rPr>
              <a:t>In a complete format</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descr="MP900409672.JPG"/>
          <p:cNvPicPr/>
          <p:nvPr/>
        </p:nvPicPr>
        <p:blipFill>
          <a:blip r:embed="rId3" cstate="print"/>
          <a:stretch>
            <a:fillRect/>
          </a:stretch>
        </p:blipFill>
        <p:spPr>
          <a:xfrm>
            <a:off x="6588224" y="3645024"/>
            <a:ext cx="1771824" cy="155580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Monitor the issue and return of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Check recording systems and files</a:t>
            </a:r>
          </a:p>
          <a:p>
            <a:pPr marL="0">
              <a:spcBef>
                <a:spcPts val="600"/>
              </a:spcBef>
              <a:spcAft>
                <a:spcPts val="1200"/>
              </a:spcAft>
              <a:buNone/>
            </a:pPr>
            <a:r>
              <a:rPr lang="en-AU" sz="2200" dirty="0" smtClean="0">
                <a:latin typeface="Helvetica" pitchFamily="34" charset="0"/>
              </a:rPr>
              <a:t>This can be achieved by ensuring the above mentioned recording systems are: </a:t>
            </a:r>
          </a:p>
          <a:p>
            <a:pPr lvl="0">
              <a:spcBef>
                <a:spcPts val="600"/>
              </a:spcBef>
              <a:spcAft>
                <a:spcPts val="1200"/>
              </a:spcAft>
            </a:pPr>
            <a:r>
              <a:rPr lang="en-AU" sz="2200" dirty="0" smtClean="0">
                <a:latin typeface="Helvetica" pitchFamily="34" charset="0"/>
              </a:rPr>
              <a:t>Are checked on a regular basis</a:t>
            </a:r>
          </a:p>
          <a:p>
            <a:pPr lvl="0">
              <a:spcBef>
                <a:spcPts val="600"/>
              </a:spcBef>
              <a:spcAft>
                <a:spcPts val="1200"/>
              </a:spcAft>
            </a:pPr>
            <a:r>
              <a:rPr lang="en-AU" sz="2200" dirty="0" smtClean="0">
                <a:latin typeface="Helvetica" pitchFamily="34" charset="0"/>
              </a:rPr>
              <a:t>Following up outstanding files with relevant persons</a:t>
            </a:r>
          </a:p>
          <a:p>
            <a:pPr lvl="0">
              <a:spcBef>
                <a:spcPts val="600"/>
              </a:spcBef>
              <a:spcAft>
                <a:spcPts val="1200"/>
              </a:spcAft>
            </a:pPr>
            <a:r>
              <a:rPr lang="en-AU" sz="2200" dirty="0" smtClean="0">
                <a:latin typeface="Helvetica" pitchFamily="34" charset="0"/>
              </a:rPr>
              <a:t>Conducting a ‘stock take’ of files where possible</a:t>
            </a:r>
          </a:p>
          <a:p>
            <a:pPr lvl="0">
              <a:spcBef>
                <a:spcPts val="600"/>
              </a:spcBef>
              <a:spcAft>
                <a:spcPts val="1200"/>
              </a:spcAft>
            </a:pPr>
            <a:r>
              <a:rPr lang="en-AU" sz="2200" dirty="0" smtClean="0">
                <a:latin typeface="Helvetica" pitchFamily="34" charset="0"/>
              </a:rPr>
              <a:t>Remind staff of the importance of returning                           files to original locations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6" name="Picture 5" descr="MP900408931.JPG"/>
          <p:cNvPicPr/>
          <p:nvPr/>
        </p:nvPicPr>
        <p:blipFill>
          <a:blip r:embed="rId3" cstate="print"/>
          <a:stretch>
            <a:fillRect/>
          </a:stretch>
        </p:blipFill>
        <p:spPr>
          <a:xfrm>
            <a:off x="7236296" y="4077072"/>
            <a:ext cx="1402457" cy="1402457"/>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Archive, remove and update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Archiving</a:t>
            </a:r>
          </a:p>
          <a:p>
            <a:pPr>
              <a:spcBef>
                <a:spcPts val="600"/>
              </a:spcBef>
              <a:spcAft>
                <a:spcPts val="1200"/>
              </a:spcAft>
            </a:pPr>
            <a:r>
              <a:rPr lang="en-AU" sz="2200" dirty="0" smtClean="0">
                <a:latin typeface="Helvetica" pitchFamily="34" charset="0"/>
              </a:rPr>
              <a:t>Where files or documents pass a certain time such as 12 months after their date, they may be removed and stored in a secure location for a nominated time</a:t>
            </a:r>
          </a:p>
          <a:p>
            <a:pPr>
              <a:spcBef>
                <a:spcPts val="600"/>
              </a:spcBef>
              <a:spcAft>
                <a:spcPts val="1200"/>
              </a:spcAft>
            </a:pPr>
            <a:r>
              <a:rPr lang="en-AU" sz="2200" dirty="0" smtClean="0">
                <a:latin typeface="Helvetica" pitchFamily="34" charset="0"/>
              </a:rPr>
              <a:t>This time is usually 5 to 7 years</a:t>
            </a:r>
            <a:endParaRPr lang="en-AU" sz="2200" b="1" dirty="0" smtClean="0">
              <a:latin typeface="Helvetica" pitchFamily="34" charset="0"/>
            </a:endParaRPr>
          </a:p>
          <a:p>
            <a:pPr>
              <a:spcBef>
                <a:spcPts val="600"/>
              </a:spcBef>
              <a:spcAft>
                <a:spcPts val="1200"/>
              </a:spcAft>
            </a:pPr>
            <a:r>
              <a:rPr lang="en-AU" sz="2200" dirty="0" smtClean="0">
                <a:latin typeface="Helvetica" pitchFamily="34" charset="0"/>
              </a:rPr>
              <a:t>This called ‘archiving’</a:t>
            </a:r>
            <a:endParaRPr lang="en-AU" sz="2200" b="1"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7" name="Picture 6" descr="MP900422118.JPG"/>
          <p:cNvPicPr/>
          <p:nvPr/>
        </p:nvPicPr>
        <p:blipFill>
          <a:blip r:embed="rId3" cstate="print"/>
          <a:stretch>
            <a:fillRect/>
          </a:stretch>
        </p:blipFill>
        <p:spPr>
          <a:xfrm>
            <a:off x="7164288" y="3429000"/>
            <a:ext cx="1247775" cy="18669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Archive, remove and update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a:spcBef>
                <a:spcPts val="600"/>
              </a:spcBef>
              <a:spcAft>
                <a:spcPts val="1200"/>
              </a:spcAft>
              <a:buNone/>
            </a:pPr>
            <a:r>
              <a:rPr lang="en-AU" sz="2200" b="1" dirty="0" smtClean="0">
                <a:latin typeface="Helvetica" pitchFamily="34" charset="0"/>
              </a:rPr>
              <a:t>Removing designated inactive files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Periodically, files may need to be culled or archived</a:t>
            </a:r>
          </a:p>
          <a:p>
            <a:pPr>
              <a:spcBef>
                <a:spcPts val="600"/>
              </a:spcBef>
              <a:spcAft>
                <a:spcPts val="1200"/>
              </a:spcAft>
            </a:pPr>
            <a:r>
              <a:rPr lang="en-AU" sz="2200" dirty="0" smtClean="0">
                <a:latin typeface="Helvetica" pitchFamily="34" charset="0"/>
              </a:rPr>
              <a:t>These files are commonly known as ‘inactive files’</a:t>
            </a:r>
          </a:p>
          <a:p>
            <a:pPr>
              <a:spcBef>
                <a:spcPts val="600"/>
              </a:spcBef>
              <a:spcAft>
                <a:spcPts val="1200"/>
              </a:spcAft>
            </a:pPr>
            <a:r>
              <a:rPr lang="en-AU" sz="2200" dirty="0" smtClean="0">
                <a:latin typeface="Helvetica" pitchFamily="34" charset="0"/>
              </a:rPr>
              <a:t>Clearing the inactive files frees up more space </a:t>
            </a:r>
            <a:br>
              <a:rPr lang="en-AU" sz="2200" dirty="0" smtClean="0">
                <a:latin typeface="Helvetica" pitchFamily="34" charset="0"/>
              </a:rPr>
            </a:br>
            <a:r>
              <a:rPr lang="en-AU" sz="2200" dirty="0" smtClean="0">
                <a:latin typeface="Helvetica" pitchFamily="34" charset="0"/>
              </a:rPr>
              <a:t>for current or active files </a:t>
            </a:r>
            <a:endParaRPr lang="en-AU" sz="2200" b="1"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6" name="Picture 5" descr="MP900422117.JPG"/>
          <p:cNvPicPr>
            <a:picLocks noChangeAspect="1"/>
          </p:cNvPicPr>
          <p:nvPr/>
        </p:nvPicPr>
        <p:blipFill>
          <a:blip r:embed="rId3" cstate="print"/>
          <a:stretch>
            <a:fillRect/>
          </a:stretch>
        </p:blipFill>
        <p:spPr>
          <a:xfrm>
            <a:off x="7092280" y="3861048"/>
            <a:ext cx="1273722" cy="1844824"/>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Archive, remove and update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Options to remove inactive files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Physically work through the files and remove anything older than a certain time</a:t>
            </a:r>
          </a:p>
          <a:p>
            <a:pPr>
              <a:spcBef>
                <a:spcPts val="600"/>
              </a:spcBef>
              <a:spcAft>
                <a:spcPts val="1200"/>
              </a:spcAft>
            </a:pPr>
            <a:r>
              <a:rPr lang="en-AU" sz="2200" dirty="0" smtClean="0">
                <a:latin typeface="Helvetica" pitchFamily="34" charset="0"/>
              </a:rPr>
              <a:t>Shred anything that is remotely likely to be personal or confidential in nature</a:t>
            </a:r>
          </a:p>
          <a:p>
            <a:pPr>
              <a:spcBef>
                <a:spcPts val="600"/>
              </a:spcBef>
              <a:spcAft>
                <a:spcPts val="1200"/>
              </a:spcAft>
            </a:pPr>
            <a:r>
              <a:rPr lang="en-AU" sz="2200" dirty="0" smtClean="0">
                <a:latin typeface="Helvetica" pitchFamily="34" charset="0"/>
              </a:rPr>
              <a:t>Documents may need to be archived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8" name="Picture 7" descr="MP900449114.JPG"/>
          <p:cNvPicPr>
            <a:picLocks noChangeAspect="1"/>
          </p:cNvPicPr>
          <p:nvPr/>
        </p:nvPicPr>
        <p:blipFill>
          <a:blip r:embed="rId3" cstate="print"/>
          <a:stretch>
            <a:fillRect/>
          </a:stretch>
        </p:blipFill>
        <p:spPr>
          <a:xfrm>
            <a:off x="6516216" y="3789040"/>
            <a:ext cx="1883701" cy="1412776"/>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Archive, remove and update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Methods to archive</a:t>
            </a:r>
          </a:p>
          <a:p>
            <a:pPr>
              <a:spcBef>
                <a:spcPts val="600"/>
              </a:spcBef>
              <a:spcAft>
                <a:spcPts val="1200"/>
              </a:spcAft>
              <a:buNone/>
            </a:pPr>
            <a:r>
              <a:rPr lang="en-AU" sz="2200" dirty="0" smtClean="0">
                <a:latin typeface="Helvetica" pitchFamily="34" charset="0"/>
              </a:rPr>
              <a:t>Archive may refer to:</a:t>
            </a:r>
          </a:p>
          <a:p>
            <a:pPr lvl="0">
              <a:spcBef>
                <a:spcPts val="600"/>
              </a:spcBef>
              <a:spcAft>
                <a:spcPts val="1200"/>
              </a:spcAft>
            </a:pPr>
            <a:r>
              <a:rPr lang="en-AU" sz="2200" dirty="0" smtClean="0">
                <a:latin typeface="Helvetica" pitchFamily="34" charset="0"/>
              </a:rPr>
              <a:t>Handling completed and closed files in accordance with the organization’s policy, procedure and system</a:t>
            </a:r>
          </a:p>
          <a:p>
            <a:pPr lvl="0">
              <a:spcBef>
                <a:spcPts val="600"/>
              </a:spcBef>
              <a:spcAft>
                <a:spcPts val="1200"/>
              </a:spcAft>
            </a:pPr>
            <a:r>
              <a:rPr lang="en-AU" sz="2200" dirty="0" smtClean="0">
                <a:latin typeface="Helvetica" pitchFamily="34" charset="0"/>
              </a:rPr>
              <a:t>Storing confidential files in an internal or external repository</a:t>
            </a:r>
          </a:p>
          <a:p>
            <a:pPr lvl="0">
              <a:spcBef>
                <a:spcPts val="600"/>
              </a:spcBef>
              <a:spcAft>
                <a:spcPts val="1200"/>
              </a:spcAft>
            </a:pPr>
            <a:r>
              <a:rPr lang="en-AU" sz="2200" dirty="0" smtClean="0">
                <a:latin typeface="Helvetica" pitchFamily="34" charset="0"/>
              </a:rPr>
              <a:t>Being able to retrieve archived files from </a:t>
            </a:r>
            <a:br>
              <a:rPr lang="en-AU" sz="2200" dirty="0" smtClean="0">
                <a:latin typeface="Helvetica" pitchFamily="34" charset="0"/>
              </a:rPr>
            </a:br>
            <a:r>
              <a:rPr lang="en-AU" sz="2200" dirty="0" smtClean="0">
                <a:latin typeface="Helvetica" pitchFamily="34" charset="0"/>
              </a:rPr>
              <a:t>storage, when required</a:t>
            </a:r>
          </a:p>
          <a:p>
            <a:pPr lvl="0">
              <a:spcBef>
                <a:spcPts val="600"/>
              </a:spcBef>
              <a:spcAft>
                <a:spcPts val="1200"/>
              </a:spcAft>
            </a:pPr>
            <a:r>
              <a:rPr lang="en-AU" sz="2200" dirty="0" smtClean="0">
                <a:latin typeface="Helvetica" pitchFamily="34" charset="0"/>
              </a:rPr>
              <a:t>Off-site storage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MP900402285.JPG"/>
          <p:cNvPicPr/>
          <p:nvPr/>
        </p:nvPicPr>
        <p:blipFill>
          <a:blip r:embed="rId3" cstate="print"/>
          <a:stretch>
            <a:fillRect/>
          </a:stretch>
        </p:blipFill>
        <p:spPr>
          <a:xfrm>
            <a:off x="6948264" y="4077072"/>
            <a:ext cx="1425699" cy="1187574"/>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Identify and dispatch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112568"/>
          </a:xfrm>
        </p:spPr>
        <p:txBody>
          <a:bodyPr>
            <a:normAutofit/>
          </a:bodyPr>
          <a:lstStyle/>
          <a:p>
            <a:pPr>
              <a:spcBef>
                <a:spcPts val="600"/>
              </a:spcBef>
              <a:spcAft>
                <a:spcPts val="1200"/>
              </a:spcAft>
              <a:buNone/>
            </a:pPr>
            <a:r>
              <a:rPr lang="en-AU" sz="2200" b="1" dirty="0" smtClean="0">
                <a:latin typeface="Helvetica" pitchFamily="34" charset="0"/>
              </a:rPr>
              <a:t>Sharing hard copy files with others</a:t>
            </a:r>
          </a:p>
          <a:p>
            <a:pPr>
              <a:spcBef>
                <a:spcPts val="600"/>
              </a:spcBef>
              <a:spcAft>
                <a:spcPts val="1200"/>
              </a:spcAft>
            </a:pPr>
            <a:r>
              <a:rPr lang="en-AU" sz="2200" dirty="0" smtClean="0">
                <a:latin typeface="Helvetica" pitchFamily="34" charset="0"/>
              </a:rPr>
              <a:t>At times personnel within the hospitality organisation will seek information or access to files that may be in your possession</a:t>
            </a:r>
          </a:p>
          <a:p>
            <a:pPr>
              <a:spcBef>
                <a:spcPts val="600"/>
              </a:spcBef>
              <a:spcAft>
                <a:spcPts val="1200"/>
              </a:spcAft>
            </a:pPr>
            <a:r>
              <a:rPr lang="en-AU" sz="2200" dirty="0" smtClean="0">
                <a:latin typeface="Helvetica" pitchFamily="34" charset="0"/>
              </a:rPr>
              <a:t>It is normal procedure for files to be distributed </a:t>
            </a:r>
            <a:br>
              <a:rPr lang="en-AU" sz="2200" dirty="0" smtClean="0">
                <a:latin typeface="Helvetica" pitchFamily="34" charset="0"/>
              </a:rPr>
            </a:br>
            <a:r>
              <a:rPr lang="en-AU" sz="2200" dirty="0" smtClean="0">
                <a:latin typeface="Helvetica" pitchFamily="34" charset="0"/>
              </a:rPr>
              <a:t>to others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7" name="Picture 6" descr="MP900409012.JPG"/>
          <p:cNvPicPr/>
          <p:nvPr/>
        </p:nvPicPr>
        <p:blipFill>
          <a:blip r:embed="rId3" cstate="print"/>
          <a:stretch>
            <a:fillRect/>
          </a:stretch>
        </p:blipFill>
        <p:spPr>
          <a:xfrm>
            <a:off x="6948264" y="3861048"/>
            <a:ext cx="1450519" cy="1454646"/>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Identify and dispatch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Sharing hard copy files with others</a:t>
            </a:r>
          </a:p>
          <a:p>
            <a:pPr>
              <a:spcBef>
                <a:spcPts val="600"/>
              </a:spcBef>
              <a:spcAft>
                <a:spcPts val="1200"/>
              </a:spcAft>
            </a:pPr>
            <a:r>
              <a:rPr lang="en-AU" sz="2200" dirty="0" smtClean="0">
                <a:latin typeface="Helvetica" pitchFamily="34" charset="0"/>
              </a:rPr>
              <a:t>Each organisation will have their own policies and procedures for transporting hard copy files to other personnel</a:t>
            </a:r>
          </a:p>
          <a:p>
            <a:pPr>
              <a:spcBef>
                <a:spcPts val="600"/>
              </a:spcBef>
              <a:spcAft>
                <a:spcPts val="1200"/>
              </a:spcAft>
            </a:pPr>
            <a:r>
              <a:rPr lang="en-AU" sz="2200" dirty="0" smtClean="0">
                <a:latin typeface="Helvetica" pitchFamily="34" charset="0"/>
              </a:rPr>
              <a:t>When transporting files, the security of the files themselves and the information contained </a:t>
            </a:r>
            <a:br>
              <a:rPr lang="en-AU" sz="2200" dirty="0" smtClean="0">
                <a:latin typeface="Helvetica" pitchFamily="34" charset="0"/>
              </a:rPr>
            </a:br>
            <a:r>
              <a:rPr lang="en-AU" sz="2200" dirty="0" smtClean="0">
                <a:latin typeface="Helvetica" pitchFamily="34" charset="0"/>
              </a:rPr>
              <a:t>within must be maintained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MP900408884.JPG"/>
          <p:cNvPicPr>
            <a:picLocks noChangeAspect="1"/>
          </p:cNvPicPr>
          <p:nvPr/>
        </p:nvPicPr>
        <p:blipFill>
          <a:blip r:embed="rId3" cstate="print"/>
          <a:stretch>
            <a:fillRect/>
          </a:stretch>
        </p:blipFill>
        <p:spPr>
          <a:xfrm>
            <a:off x="6804248" y="3573016"/>
            <a:ext cx="1628800" cy="162880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Identify and dispatch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Issuing files to others</a:t>
            </a:r>
          </a:p>
          <a:p>
            <a:pPr marL="0">
              <a:spcBef>
                <a:spcPts val="600"/>
              </a:spcBef>
              <a:spcAft>
                <a:spcPts val="1200"/>
              </a:spcAft>
              <a:buNone/>
            </a:pPr>
            <a:r>
              <a:rPr lang="en-AU" sz="2200" dirty="0" smtClean="0">
                <a:latin typeface="Helvetica" pitchFamily="34" charset="0"/>
              </a:rPr>
              <a:t>When issuing files to others it is important that you ensure:</a:t>
            </a:r>
          </a:p>
          <a:p>
            <a:pPr lvl="0">
              <a:spcBef>
                <a:spcPts val="600"/>
              </a:spcBef>
              <a:spcAft>
                <a:spcPts val="1200"/>
              </a:spcAft>
            </a:pPr>
            <a:r>
              <a:rPr lang="en-AU" sz="2200" dirty="0" smtClean="0">
                <a:latin typeface="Helvetica" pitchFamily="34" charset="0"/>
              </a:rPr>
              <a:t>These files can easily be identified</a:t>
            </a:r>
          </a:p>
          <a:p>
            <a:pPr lvl="0">
              <a:spcBef>
                <a:spcPts val="600"/>
              </a:spcBef>
              <a:spcAft>
                <a:spcPts val="1200"/>
              </a:spcAft>
            </a:pPr>
            <a:r>
              <a:rPr lang="en-AU" sz="2200" dirty="0" smtClean="0">
                <a:latin typeface="Helvetica" pitchFamily="34" charset="0"/>
              </a:rPr>
              <a:t>The persons seeking the files have the </a:t>
            </a:r>
            <a:br>
              <a:rPr lang="en-AU" sz="2200" dirty="0" smtClean="0">
                <a:latin typeface="Helvetica" pitchFamily="34" charset="0"/>
              </a:rPr>
            </a:br>
            <a:r>
              <a:rPr lang="en-AU" sz="2200" dirty="0" smtClean="0">
                <a:latin typeface="Helvetica" pitchFamily="34" charset="0"/>
              </a:rPr>
              <a:t>authority to be given them</a:t>
            </a:r>
          </a:p>
          <a:p>
            <a:pPr lvl="0">
              <a:spcBef>
                <a:spcPts val="600"/>
              </a:spcBef>
              <a:spcAft>
                <a:spcPts val="1200"/>
              </a:spcAft>
            </a:pPr>
            <a:r>
              <a:rPr lang="en-AU" sz="2200" dirty="0" smtClean="0">
                <a:latin typeface="Helvetica" pitchFamily="34" charset="0"/>
              </a:rPr>
              <a:t>The files are given to them in a timely manner</a:t>
            </a:r>
          </a:p>
          <a:p>
            <a:pPr lvl="0">
              <a:spcBef>
                <a:spcPts val="600"/>
              </a:spcBef>
              <a:spcAft>
                <a:spcPts val="1200"/>
              </a:spcAft>
            </a:pPr>
            <a:r>
              <a:rPr lang="en-AU" sz="2200" dirty="0" smtClean="0">
                <a:latin typeface="Helvetica" pitchFamily="34" charset="0"/>
              </a:rPr>
              <a:t>They are informed that files must be  </a:t>
            </a:r>
            <a:br>
              <a:rPr lang="en-AU" sz="2200" dirty="0" smtClean="0">
                <a:latin typeface="Helvetica" pitchFamily="34" charset="0"/>
              </a:rPr>
            </a:br>
            <a:r>
              <a:rPr lang="en-AU" sz="2200" dirty="0" smtClean="0">
                <a:latin typeface="Helvetica" pitchFamily="34" charset="0"/>
              </a:rPr>
              <a:t>recorded or signed for</a:t>
            </a:r>
          </a:p>
          <a:p>
            <a:pPr>
              <a:spcBef>
                <a:spcPts val="600"/>
              </a:spcBef>
              <a:spcAft>
                <a:spcPts val="1200"/>
              </a:spcAft>
            </a:pPr>
            <a:r>
              <a:rPr lang="en-AU" sz="2200" dirty="0" smtClean="0">
                <a:latin typeface="Helvetica" pitchFamily="34" charset="0"/>
              </a:rPr>
              <a:t>Files are returned if applicable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6" name="Picture 5" descr="MP900405074.JPG"/>
          <p:cNvPicPr>
            <a:picLocks noChangeAspect="1"/>
          </p:cNvPicPr>
          <p:nvPr/>
        </p:nvPicPr>
        <p:blipFill>
          <a:blip r:embed="rId3" cstate="print"/>
          <a:stretch>
            <a:fillRect/>
          </a:stretch>
        </p:blipFill>
        <p:spPr>
          <a:xfrm>
            <a:off x="6948264" y="2996952"/>
            <a:ext cx="1349896" cy="2017645"/>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Identify and dispatch documents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256584"/>
          </a:xfrm>
        </p:spPr>
        <p:txBody>
          <a:bodyPr>
            <a:normAutofit/>
          </a:bodyPr>
          <a:lstStyle/>
          <a:p>
            <a:pPr>
              <a:spcBef>
                <a:spcPts val="600"/>
              </a:spcBef>
              <a:spcAft>
                <a:spcPts val="1200"/>
              </a:spcAft>
              <a:buNone/>
            </a:pPr>
            <a:r>
              <a:rPr lang="en-AU" sz="2200" b="1" dirty="0" smtClean="0">
                <a:latin typeface="Helvetica" pitchFamily="34" charset="0"/>
              </a:rPr>
              <a:t>Factors to consider when issuing files to others</a:t>
            </a:r>
          </a:p>
          <a:p>
            <a:pPr lvl="0">
              <a:spcBef>
                <a:spcPts val="600"/>
              </a:spcBef>
              <a:spcAft>
                <a:spcPts val="1200"/>
              </a:spcAft>
            </a:pPr>
            <a:r>
              <a:rPr lang="en-AU" sz="2200" dirty="0" smtClean="0">
                <a:latin typeface="Helvetica" pitchFamily="34" charset="0"/>
              </a:rPr>
              <a:t>Practicality of sending documents</a:t>
            </a:r>
          </a:p>
          <a:p>
            <a:pPr lvl="0">
              <a:spcBef>
                <a:spcPts val="600"/>
              </a:spcBef>
              <a:spcAft>
                <a:spcPts val="1200"/>
              </a:spcAft>
            </a:pPr>
            <a:r>
              <a:rPr lang="en-AU" sz="2200" dirty="0" smtClean="0">
                <a:latin typeface="Helvetica" pitchFamily="34" charset="0"/>
              </a:rPr>
              <a:t>Urgency of document to be delivered</a:t>
            </a:r>
          </a:p>
          <a:p>
            <a:pPr lvl="0">
              <a:spcBef>
                <a:spcPts val="600"/>
              </a:spcBef>
              <a:spcAft>
                <a:spcPts val="1200"/>
              </a:spcAft>
            </a:pPr>
            <a:r>
              <a:rPr lang="en-AU" sz="2200" dirty="0" smtClean="0">
                <a:latin typeface="Helvetica" pitchFamily="34" charset="0"/>
              </a:rPr>
              <a:t>Size of documents or files</a:t>
            </a:r>
          </a:p>
          <a:p>
            <a:pPr lvl="0">
              <a:spcBef>
                <a:spcPts val="600"/>
              </a:spcBef>
              <a:spcAft>
                <a:spcPts val="1200"/>
              </a:spcAft>
            </a:pPr>
            <a:r>
              <a:rPr lang="en-AU" sz="2200" dirty="0" smtClean="0">
                <a:latin typeface="Helvetica" pitchFamily="34" charset="0"/>
              </a:rPr>
              <a:t>Level of confidentiality or security required</a:t>
            </a:r>
          </a:p>
          <a:p>
            <a:pPr>
              <a:spcBef>
                <a:spcPts val="600"/>
              </a:spcBef>
              <a:spcAft>
                <a:spcPts val="1200"/>
              </a:spcAft>
            </a:pPr>
            <a:r>
              <a:rPr lang="en-AU" sz="2200" dirty="0" smtClean="0">
                <a:latin typeface="Helvetica" pitchFamily="34" charset="0"/>
              </a:rPr>
              <a:t>Cost of delivery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7" name="Picture 6" descr="MP900411662.JPG"/>
          <p:cNvPicPr>
            <a:picLocks noChangeAspect="1"/>
          </p:cNvPicPr>
          <p:nvPr/>
        </p:nvPicPr>
        <p:blipFill>
          <a:blip r:embed="rId3" cstate="print"/>
          <a:stretch>
            <a:fillRect/>
          </a:stretch>
        </p:blipFill>
        <p:spPr>
          <a:xfrm>
            <a:off x="7092280" y="3501008"/>
            <a:ext cx="1300520" cy="1700808"/>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documents in good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marL="0">
              <a:spcBef>
                <a:spcPts val="600"/>
              </a:spcBef>
              <a:spcAft>
                <a:spcPts val="1200"/>
              </a:spcAft>
              <a:buNone/>
            </a:pPr>
            <a:r>
              <a:rPr lang="en-AU" sz="2200" dirty="0" smtClean="0">
                <a:latin typeface="Helvetica" pitchFamily="34" charset="0"/>
              </a:rPr>
              <a:t>Given that hard copy files are in fact physical pieces of information, it is essential that these files are looked after and kept in good working condition as much as possible.</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Who is responsible for it?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8" name="Picture 7" descr="MP900409026.JPG"/>
          <p:cNvPicPr>
            <a:picLocks noChangeAspect="1"/>
          </p:cNvPicPr>
          <p:nvPr/>
        </p:nvPicPr>
        <p:blipFill>
          <a:blip r:embed="rId3" cstate="print"/>
          <a:stretch>
            <a:fillRect/>
          </a:stretch>
        </p:blipFill>
        <p:spPr>
          <a:xfrm>
            <a:off x="6804248" y="3645024"/>
            <a:ext cx="1628800" cy="16288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documents in good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Maintaining the filing system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Keep documents that are waiting to be filed in trays, do not leave them lying about on desks or shelves. </a:t>
            </a:r>
          </a:p>
          <a:p>
            <a:pPr lvl="0">
              <a:spcBef>
                <a:spcPts val="600"/>
              </a:spcBef>
              <a:spcAft>
                <a:spcPts val="1200"/>
              </a:spcAft>
            </a:pPr>
            <a:r>
              <a:rPr lang="en-AU" sz="2200" dirty="0" smtClean="0">
                <a:latin typeface="Helvetica" pitchFamily="34" charset="0"/>
              </a:rPr>
              <a:t>File documents away at least once a day, or if your organisation is very small you can do it once a week</a:t>
            </a:r>
          </a:p>
          <a:p>
            <a:pPr lvl="0">
              <a:spcBef>
                <a:spcPts val="600"/>
              </a:spcBef>
              <a:spcAft>
                <a:spcPts val="1200"/>
              </a:spcAft>
            </a:pPr>
            <a:r>
              <a:rPr lang="en-AU" sz="2200" dirty="0" smtClean="0">
                <a:latin typeface="Helvetica" pitchFamily="34" charset="0"/>
              </a:rPr>
              <a:t>Do not put too much in files or folders </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6" name="Picture 5" descr="MP900305764.JPG"/>
          <p:cNvPicPr/>
          <p:nvPr/>
        </p:nvPicPr>
        <p:blipFill>
          <a:blip r:embed="rId3" cstate="print"/>
          <a:stretch>
            <a:fillRect/>
          </a:stretch>
        </p:blipFill>
        <p:spPr>
          <a:xfrm>
            <a:off x="4932040" y="4437112"/>
            <a:ext cx="1097280" cy="1552575"/>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documents in good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Maintaining the filing system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Put new covers on old files which get a lot of use and have become worn or torn</a:t>
            </a:r>
          </a:p>
          <a:p>
            <a:pPr lvl="0">
              <a:spcBef>
                <a:spcPts val="600"/>
              </a:spcBef>
              <a:spcAft>
                <a:spcPts val="1200"/>
              </a:spcAft>
            </a:pPr>
            <a:r>
              <a:rPr lang="en-AU" sz="2200" dirty="0" smtClean="0">
                <a:latin typeface="Helvetica" pitchFamily="34" charset="0"/>
              </a:rPr>
              <a:t>Box files and lever arch files can hold more than simple folders</a:t>
            </a:r>
          </a:p>
          <a:p>
            <a:pPr lvl="0">
              <a:spcBef>
                <a:spcPts val="600"/>
              </a:spcBef>
              <a:spcAft>
                <a:spcPts val="1200"/>
              </a:spcAft>
            </a:pPr>
            <a:r>
              <a:rPr lang="en-AU" sz="2200" dirty="0" smtClean="0">
                <a:latin typeface="Helvetica" pitchFamily="34" charset="0"/>
              </a:rPr>
              <a:t>Never allow filing drawers or shelves to </a:t>
            </a:r>
            <a:br>
              <a:rPr lang="en-AU" sz="2200" dirty="0" smtClean="0">
                <a:latin typeface="Helvetica" pitchFamily="34" charset="0"/>
              </a:rPr>
            </a:br>
            <a:r>
              <a:rPr lang="en-AU" sz="2200" dirty="0" smtClean="0">
                <a:latin typeface="Helvetica" pitchFamily="34" charset="0"/>
              </a:rPr>
              <a:t>become too full. Acquire new filing cabinets </a:t>
            </a:r>
            <a:br>
              <a:rPr lang="en-AU" sz="2200" dirty="0" smtClean="0">
                <a:latin typeface="Helvetica" pitchFamily="34" charset="0"/>
              </a:rPr>
            </a:br>
            <a:r>
              <a:rPr lang="en-AU" sz="2200" dirty="0" smtClean="0">
                <a:latin typeface="Helvetica" pitchFamily="34" charset="0"/>
              </a:rPr>
              <a:t>when necessary</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descr="MP900175573.JPG"/>
          <p:cNvPicPr>
            <a:picLocks noChangeAspect="1"/>
          </p:cNvPicPr>
          <p:nvPr/>
        </p:nvPicPr>
        <p:blipFill>
          <a:blip r:embed="rId3" cstate="print"/>
          <a:stretch>
            <a:fillRect/>
          </a:stretch>
        </p:blipFill>
        <p:spPr>
          <a:xfrm>
            <a:off x="6660232" y="4078960"/>
            <a:ext cx="1721057" cy="115024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Maintain documents in good condition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Good housekeeping and safety</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At the end of every day you should:</a:t>
            </a:r>
          </a:p>
          <a:p>
            <a:pPr lvl="0">
              <a:spcBef>
                <a:spcPts val="600"/>
              </a:spcBef>
              <a:spcAft>
                <a:spcPts val="1200"/>
              </a:spcAft>
            </a:pPr>
            <a:r>
              <a:rPr lang="en-AU" sz="2200" dirty="0" smtClean="0">
                <a:latin typeface="Helvetica" pitchFamily="34" charset="0"/>
              </a:rPr>
              <a:t>File all the documents you can </a:t>
            </a:r>
          </a:p>
          <a:p>
            <a:pPr lvl="0">
              <a:spcBef>
                <a:spcPts val="600"/>
              </a:spcBef>
              <a:spcAft>
                <a:spcPts val="1200"/>
              </a:spcAft>
            </a:pPr>
            <a:r>
              <a:rPr lang="en-AU" sz="2200" dirty="0" smtClean="0">
                <a:latin typeface="Helvetica" pitchFamily="34" charset="0"/>
              </a:rPr>
              <a:t>Put away those you cannot file in filing trays </a:t>
            </a:r>
          </a:p>
          <a:p>
            <a:pPr lvl="0">
              <a:spcBef>
                <a:spcPts val="600"/>
              </a:spcBef>
              <a:spcAft>
                <a:spcPts val="1200"/>
              </a:spcAft>
            </a:pPr>
            <a:r>
              <a:rPr lang="en-AU" sz="2200" dirty="0" smtClean="0">
                <a:latin typeface="Helvetica" pitchFamily="34" charset="0"/>
              </a:rPr>
              <a:t>Lock up all confidential documents </a:t>
            </a:r>
          </a:p>
          <a:p>
            <a:pPr lvl="0">
              <a:spcBef>
                <a:spcPts val="600"/>
              </a:spcBef>
              <a:spcAft>
                <a:spcPts val="1200"/>
              </a:spcAft>
            </a:pPr>
            <a:r>
              <a:rPr lang="en-AU" sz="2200" dirty="0" smtClean="0">
                <a:latin typeface="Helvetica" pitchFamily="34" charset="0"/>
              </a:rPr>
              <a:t>Place all waste paper in rubbish bins </a:t>
            </a:r>
          </a:p>
          <a:p>
            <a:pPr>
              <a:spcBef>
                <a:spcPts val="600"/>
              </a:spcBef>
              <a:spcAft>
                <a:spcPts val="1200"/>
              </a:spcAft>
            </a:pPr>
            <a:r>
              <a:rPr lang="en-AU" sz="2200" dirty="0" smtClean="0">
                <a:latin typeface="Helvetica" pitchFamily="34" charset="0"/>
              </a:rPr>
              <a:t>Leave desks tidy</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MP900422611.JPG"/>
          <p:cNvPicPr/>
          <p:nvPr/>
        </p:nvPicPr>
        <p:blipFill>
          <a:blip r:embed="rId3" cstate="print"/>
          <a:stretch>
            <a:fillRect/>
          </a:stretch>
        </p:blipFill>
        <p:spPr>
          <a:xfrm>
            <a:off x="6622876" y="3973810"/>
            <a:ext cx="1765548" cy="1255390"/>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Separate confidential files from general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Confidentiality</a:t>
            </a:r>
          </a:p>
          <a:p>
            <a:pPr marL="0">
              <a:spcBef>
                <a:spcPts val="600"/>
              </a:spcBef>
              <a:spcAft>
                <a:spcPts val="1200"/>
              </a:spcAft>
              <a:buNone/>
            </a:pPr>
            <a:r>
              <a:rPr lang="en-AU" sz="2200" dirty="0" smtClean="0">
                <a:latin typeface="Helvetica" pitchFamily="34" charset="0"/>
              </a:rPr>
              <a:t>Confidentiality is a set of rules or a promise that limits access or places restrictions on certain types of information:</a:t>
            </a:r>
          </a:p>
          <a:p>
            <a:pPr>
              <a:spcBef>
                <a:spcPts val="600"/>
              </a:spcBef>
              <a:spcAft>
                <a:spcPts val="1200"/>
              </a:spcAft>
            </a:pPr>
            <a:r>
              <a:rPr lang="en-AU" sz="2200" dirty="0" smtClean="0">
                <a:latin typeface="Helvetica" pitchFamily="34" charset="0"/>
              </a:rPr>
              <a:t>What are examples of ‘general’ files?</a:t>
            </a:r>
          </a:p>
          <a:p>
            <a:pPr>
              <a:spcBef>
                <a:spcPts val="600"/>
              </a:spcBef>
              <a:spcAft>
                <a:spcPts val="1200"/>
              </a:spcAft>
            </a:pPr>
            <a:r>
              <a:rPr lang="en-AU" sz="2200" dirty="0" smtClean="0">
                <a:latin typeface="Helvetica" pitchFamily="34" charset="0"/>
              </a:rPr>
              <a:t>What are examples of ‘confidential’ files?</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 name="Picture 6" descr="MP900443225[1].JPG"/>
          <p:cNvPicPr>
            <a:picLocks noChangeAspect="1"/>
          </p:cNvPicPr>
          <p:nvPr/>
        </p:nvPicPr>
        <p:blipFill>
          <a:blip r:embed="rId3" cstate="print"/>
          <a:stretch>
            <a:fillRect/>
          </a:stretch>
        </p:blipFill>
        <p:spPr>
          <a:xfrm>
            <a:off x="6300192" y="4005064"/>
            <a:ext cx="2051681" cy="136537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Separate confidential files from general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000"/>
              </a:spcAft>
              <a:buNone/>
            </a:pPr>
            <a:r>
              <a:rPr lang="en-AU" sz="2200" b="1" dirty="0" smtClean="0">
                <a:latin typeface="Helvetica" pitchFamily="34" charset="0"/>
              </a:rPr>
              <a:t>Types of general files</a:t>
            </a:r>
          </a:p>
          <a:p>
            <a:pPr marL="0">
              <a:spcBef>
                <a:spcPts val="600"/>
              </a:spcBef>
              <a:spcAft>
                <a:spcPts val="1000"/>
              </a:spcAft>
              <a:buNone/>
            </a:pPr>
            <a:r>
              <a:rPr lang="en-AU" sz="2200" dirty="0" smtClean="0">
                <a:latin typeface="Helvetica" pitchFamily="34" charset="0"/>
              </a:rPr>
              <a:t>These files are considered to be ‘general’ and contain information that helps to clarify and address operational needs including:</a:t>
            </a:r>
          </a:p>
          <a:p>
            <a:pPr lvl="0">
              <a:spcBef>
                <a:spcPts val="600"/>
              </a:spcBef>
              <a:spcAft>
                <a:spcPts val="1000"/>
              </a:spcAft>
            </a:pPr>
            <a:r>
              <a:rPr lang="en-AU" sz="2200" dirty="0" smtClean="0">
                <a:latin typeface="Helvetica" pitchFamily="34" charset="0"/>
              </a:rPr>
              <a:t>Expected arrivals and departures</a:t>
            </a:r>
          </a:p>
          <a:p>
            <a:pPr lvl="0">
              <a:spcBef>
                <a:spcPts val="600"/>
              </a:spcBef>
              <a:spcAft>
                <a:spcPts val="1000"/>
              </a:spcAft>
            </a:pPr>
            <a:r>
              <a:rPr lang="en-AU" sz="2200" dirty="0" smtClean="0">
                <a:latin typeface="Helvetica" pitchFamily="34" charset="0"/>
              </a:rPr>
              <a:t>Timing of banqueting activities</a:t>
            </a:r>
          </a:p>
          <a:p>
            <a:pPr lvl="0">
              <a:spcBef>
                <a:spcPts val="600"/>
              </a:spcBef>
              <a:spcAft>
                <a:spcPts val="1000"/>
              </a:spcAft>
            </a:pPr>
            <a:r>
              <a:rPr lang="en-AU" sz="2200" dirty="0" smtClean="0">
                <a:latin typeface="Helvetica" pitchFamily="34" charset="0"/>
              </a:rPr>
              <a:t>Expected VIP’s</a:t>
            </a:r>
          </a:p>
          <a:p>
            <a:pPr lvl="0">
              <a:spcBef>
                <a:spcPts val="600"/>
              </a:spcBef>
              <a:spcAft>
                <a:spcPts val="1000"/>
              </a:spcAft>
            </a:pPr>
            <a:r>
              <a:rPr lang="en-AU" sz="2200" dirty="0" smtClean="0">
                <a:latin typeface="Helvetica" pitchFamily="34" charset="0"/>
              </a:rPr>
              <a:t>Staff movements</a:t>
            </a:r>
          </a:p>
          <a:p>
            <a:pPr lvl="0">
              <a:spcBef>
                <a:spcPts val="600"/>
              </a:spcBef>
              <a:spcAft>
                <a:spcPts val="1000"/>
              </a:spcAft>
            </a:pPr>
            <a:r>
              <a:rPr lang="en-AU" sz="2200" dirty="0" smtClean="0">
                <a:latin typeface="Helvetica" pitchFamily="34" charset="0"/>
              </a:rPr>
              <a:t>Updated information or facts</a:t>
            </a:r>
          </a:p>
          <a:p>
            <a:pPr lvl="0">
              <a:spcBef>
                <a:spcPts val="600"/>
              </a:spcBef>
              <a:spcAft>
                <a:spcPts val="1000"/>
              </a:spcAft>
            </a:pPr>
            <a:r>
              <a:rPr lang="en-AU" sz="2200" dirty="0" smtClean="0">
                <a:latin typeface="Helvetica" pitchFamily="34" charset="0"/>
              </a:rPr>
              <a:t>Explanation of in-house promotions or menus</a:t>
            </a:r>
          </a:p>
          <a:p>
            <a:pPr>
              <a:spcAft>
                <a:spcPts val="1000"/>
              </a:spcAft>
            </a:pPr>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6" name="Picture 5" descr="MP900387512.JPG"/>
          <p:cNvPicPr/>
          <p:nvPr/>
        </p:nvPicPr>
        <p:blipFill>
          <a:blip r:embed="rId3" cstate="print"/>
          <a:stretch>
            <a:fillRect/>
          </a:stretch>
        </p:blipFill>
        <p:spPr>
          <a:xfrm>
            <a:off x="7164288" y="3429000"/>
            <a:ext cx="1273101" cy="1751633"/>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AU" sz="3400" b="1" dirty="0" smtClean="0">
                <a:solidFill>
                  <a:srgbClr val="FF6600"/>
                </a:solidFill>
                <a:latin typeface="Helvetica" pitchFamily="34" charset="0"/>
              </a:rPr>
              <a:t>Separate confidential files from general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24536"/>
          </a:xfrm>
        </p:spPr>
        <p:txBody>
          <a:bodyPr>
            <a:normAutofit/>
          </a:bodyPr>
          <a:lstStyle/>
          <a:p>
            <a:pPr>
              <a:spcBef>
                <a:spcPts val="600"/>
              </a:spcBef>
              <a:spcAft>
                <a:spcPts val="1200"/>
              </a:spcAft>
              <a:buNone/>
            </a:pPr>
            <a:r>
              <a:rPr lang="en-AU" sz="2200" b="1" dirty="0" smtClean="0">
                <a:latin typeface="Helvetica" pitchFamily="34" charset="0"/>
              </a:rPr>
              <a:t>Types of confidential files</a:t>
            </a:r>
          </a:p>
          <a:p>
            <a:pPr lvl="0">
              <a:spcBef>
                <a:spcPts val="600"/>
              </a:spcBef>
              <a:spcAft>
                <a:spcPts val="1200"/>
              </a:spcAft>
            </a:pPr>
            <a:r>
              <a:rPr lang="en-AU" sz="2200" dirty="0" smtClean="0">
                <a:latin typeface="Helvetica" pitchFamily="34" charset="0"/>
              </a:rPr>
              <a:t>Staff personnel files</a:t>
            </a:r>
          </a:p>
          <a:p>
            <a:pPr lvl="0">
              <a:spcBef>
                <a:spcPts val="600"/>
              </a:spcBef>
              <a:spcAft>
                <a:spcPts val="1200"/>
              </a:spcAft>
            </a:pPr>
            <a:r>
              <a:rPr lang="en-AU" sz="2200" dirty="0" smtClean="0">
                <a:latin typeface="Helvetica" pitchFamily="34" charset="0"/>
              </a:rPr>
              <a:t>Financial information</a:t>
            </a:r>
          </a:p>
          <a:p>
            <a:pPr lvl="0">
              <a:spcBef>
                <a:spcPts val="600"/>
              </a:spcBef>
              <a:spcAft>
                <a:spcPts val="1200"/>
              </a:spcAft>
            </a:pPr>
            <a:r>
              <a:rPr lang="en-AU" sz="2200" dirty="0" smtClean="0">
                <a:latin typeface="Helvetica" pitchFamily="34" charset="0"/>
              </a:rPr>
              <a:t>Operational information</a:t>
            </a:r>
          </a:p>
          <a:p>
            <a:pPr lvl="0">
              <a:spcBef>
                <a:spcPts val="600"/>
              </a:spcBef>
              <a:spcAft>
                <a:spcPts val="1200"/>
              </a:spcAft>
            </a:pPr>
            <a:r>
              <a:rPr lang="en-AU" sz="2200" dirty="0" smtClean="0">
                <a:latin typeface="Helvetica" pitchFamily="34" charset="0"/>
              </a:rPr>
              <a:t>Commercial in confidence</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7" name="Picture 6" descr="MP900409469[1].JPG"/>
          <p:cNvPicPr>
            <a:picLocks noChangeAspect="1"/>
          </p:cNvPicPr>
          <p:nvPr/>
        </p:nvPicPr>
        <p:blipFill>
          <a:blip r:embed="rId3" cstate="print"/>
          <a:stretch>
            <a:fillRect/>
          </a:stretch>
        </p:blipFill>
        <p:spPr>
          <a:xfrm>
            <a:off x="6372200" y="3861048"/>
            <a:ext cx="2017486" cy="1346042"/>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Staff personnel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Personnel files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Current employees in alphabetical order </a:t>
            </a:r>
          </a:p>
          <a:p>
            <a:pPr lvl="0">
              <a:spcBef>
                <a:spcPts val="600"/>
              </a:spcBef>
              <a:spcAft>
                <a:spcPts val="1200"/>
              </a:spcAft>
            </a:pPr>
            <a:r>
              <a:rPr lang="en-AU" sz="2200" dirty="0" smtClean="0">
                <a:latin typeface="Helvetica" pitchFamily="34" charset="0"/>
              </a:rPr>
              <a:t>Personal information</a:t>
            </a:r>
          </a:p>
          <a:p>
            <a:pPr lvl="0">
              <a:spcBef>
                <a:spcPts val="600"/>
              </a:spcBef>
              <a:spcAft>
                <a:spcPts val="1200"/>
              </a:spcAft>
            </a:pPr>
            <a:r>
              <a:rPr lang="en-AU" sz="2200" dirty="0" smtClean="0">
                <a:latin typeface="Helvetica" pitchFamily="34" charset="0"/>
              </a:rPr>
              <a:t>Testimonials</a:t>
            </a:r>
          </a:p>
          <a:p>
            <a:pPr lvl="0">
              <a:spcBef>
                <a:spcPts val="600"/>
              </a:spcBef>
              <a:spcAft>
                <a:spcPts val="1200"/>
              </a:spcAft>
            </a:pPr>
            <a:r>
              <a:rPr lang="en-AU" sz="2200" dirty="0" smtClean="0">
                <a:latin typeface="Helvetica" pitchFamily="34" charset="0"/>
              </a:rPr>
              <a:t>Job applications</a:t>
            </a:r>
          </a:p>
          <a:p>
            <a:pPr lvl="0">
              <a:spcBef>
                <a:spcPts val="600"/>
              </a:spcBef>
              <a:spcAft>
                <a:spcPts val="1200"/>
              </a:spcAft>
            </a:pPr>
            <a:r>
              <a:rPr lang="en-AU" sz="2200" dirty="0" smtClean="0">
                <a:latin typeface="Helvetica" pitchFamily="34" charset="0"/>
              </a:rPr>
              <a:t>Banking Details</a:t>
            </a:r>
          </a:p>
          <a:p>
            <a:pPr lvl="0">
              <a:spcBef>
                <a:spcPts val="600"/>
              </a:spcBef>
              <a:spcAft>
                <a:spcPts val="1200"/>
              </a:spcAft>
            </a:pPr>
            <a:r>
              <a:rPr lang="en-AU" sz="2200" dirty="0" smtClean="0">
                <a:latin typeface="Helvetica" pitchFamily="34" charset="0"/>
              </a:rPr>
              <a:t>Medical information</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6" name="Picture 5" descr="2.jpg"/>
          <p:cNvPicPr/>
          <p:nvPr/>
        </p:nvPicPr>
        <p:blipFill>
          <a:blip r:embed="rId3" cstate="print"/>
          <a:stretch>
            <a:fillRect/>
          </a:stretch>
        </p:blipFill>
        <p:spPr>
          <a:xfrm>
            <a:off x="7092280" y="3429000"/>
            <a:ext cx="1345307" cy="1797174"/>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Staff personnel files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600"/>
              </a:spcAft>
              <a:buNone/>
            </a:pPr>
            <a:r>
              <a:rPr lang="en-AU" sz="2200" b="1" dirty="0" smtClean="0">
                <a:latin typeface="Helvetica" pitchFamily="34" charset="0"/>
              </a:rPr>
              <a:t>Staff Procedures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Personnel Procedures</a:t>
            </a:r>
          </a:p>
          <a:p>
            <a:pPr lvl="0">
              <a:spcBef>
                <a:spcPts val="600"/>
              </a:spcBef>
              <a:spcAft>
                <a:spcPts val="600"/>
              </a:spcAft>
            </a:pPr>
            <a:r>
              <a:rPr lang="en-AU" sz="2200" dirty="0" smtClean="0">
                <a:latin typeface="Helvetica" pitchFamily="34" charset="0"/>
              </a:rPr>
              <a:t>Conditions of Employment</a:t>
            </a:r>
          </a:p>
          <a:p>
            <a:pPr lvl="0">
              <a:spcBef>
                <a:spcPts val="600"/>
              </a:spcBef>
              <a:spcAft>
                <a:spcPts val="600"/>
              </a:spcAft>
            </a:pPr>
            <a:r>
              <a:rPr lang="en-AU" sz="2200" dirty="0" smtClean="0">
                <a:latin typeface="Helvetica" pitchFamily="34" charset="0"/>
              </a:rPr>
              <a:t>Contract of Employment</a:t>
            </a:r>
          </a:p>
          <a:p>
            <a:pPr lvl="0">
              <a:spcBef>
                <a:spcPts val="600"/>
              </a:spcBef>
              <a:spcAft>
                <a:spcPts val="600"/>
              </a:spcAft>
            </a:pPr>
            <a:r>
              <a:rPr lang="en-AU" sz="2200" dirty="0" smtClean="0">
                <a:latin typeface="Helvetica" pitchFamily="34" charset="0"/>
              </a:rPr>
              <a:t>Salary Information</a:t>
            </a:r>
          </a:p>
          <a:p>
            <a:pPr lvl="0">
              <a:spcBef>
                <a:spcPts val="600"/>
              </a:spcBef>
              <a:spcAft>
                <a:spcPts val="600"/>
              </a:spcAft>
            </a:pPr>
            <a:r>
              <a:rPr lang="en-AU" sz="2200" dirty="0" smtClean="0">
                <a:latin typeface="Helvetica" pitchFamily="34" charset="0"/>
              </a:rPr>
              <a:t>Induction</a:t>
            </a:r>
          </a:p>
          <a:p>
            <a:pPr lvl="0">
              <a:spcBef>
                <a:spcPts val="600"/>
              </a:spcBef>
              <a:spcAft>
                <a:spcPts val="600"/>
              </a:spcAft>
            </a:pPr>
            <a:r>
              <a:rPr lang="en-AU" sz="2200" dirty="0" smtClean="0">
                <a:latin typeface="Helvetica" pitchFamily="34" charset="0"/>
              </a:rPr>
              <a:t>Job descriptions</a:t>
            </a:r>
          </a:p>
          <a:p>
            <a:pPr lvl="0">
              <a:spcBef>
                <a:spcPts val="600"/>
              </a:spcBef>
              <a:spcAft>
                <a:spcPts val="600"/>
              </a:spcAft>
            </a:pPr>
            <a:r>
              <a:rPr lang="en-AU" sz="2200" dirty="0" smtClean="0">
                <a:latin typeface="Helvetica" pitchFamily="34" charset="0"/>
              </a:rPr>
              <a:t>Performance Appraisals</a:t>
            </a:r>
          </a:p>
          <a:p>
            <a:pPr lvl="0">
              <a:spcBef>
                <a:spcPts val="600"/>
              </a:spcBef>
              <a:spcAft>
                <a:spcPts val="600"/>
              </a:spcAft>
            </a:pPr>
            <a:r>
              <a:rPr lang="en-AU" sz="2200" dirty="0" smtClean="0">
                <a:latin typeface="Helvetica" pitchFamily="34" charset="0"/>
              </a:rPr>
              <a:t>Staff Training</a:t>
            </a:r>
          </a:p>
          <a:p>
            <a:pPr lvl="0">
              <a:spcBef>
                <a:spcPts val="600"/>
              </a:spcBef>
              <a:spcAft>
                <a:spcPts val="600"/>
              </a:spcAft>
            </a:pPr>
            <a:r>
              <a:rPr lang="en-AU" sz="2200" dirty="0" smtClean="0">
                <a:latin typeface="Helvetica" pitchFamily="34" charset="0"/>
              </a:rPr>
              <a:t> Leave</a:t>
            </a:r>
          </a:p>
          <a:p>
            <a:endParaRPr lang="en-AU"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7" name="Picture 6" descr="21.jpg"/>
          <p:cNvPicPr/>
          <p:nvPr/>
        </p:nvPicPr>
        <p:blipFill>
          <a:blip r:embed="rId3" cstate="print"/>
          <a:stretch>
            <a:fillRect/>
          </a:stretch>
        </p:blipFill>
        <p:spPr>
          <a:xfrm>
            <a:off x="6804248" y="4149080"/>
            <a:ext cx="1620391" cy="1072133"/>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20080"/>
          </a:xfrm>
        </p:spPr>
        <p:txBody>
          <a:bodyPr>
            <a:normAutofit/>
          </a:bodyPr>
          <a:lstStyle/>
          <a:p>
            <a:r>
              <a:rPr lang="en-AU" sz="3400" b="1" dirty="0" smtClean="0">
                <a:solidFill>
                  <a:srgbClr val="FF6600"/>
                </a:solidFill>
                <a:latin typeface="Helvetica" pitchFamily="34" charset="0"/>
              </a:rPr>
              <a:t>Financial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052736"/>
            <a:ext cx="7467600" cy="5616624"/>
          </a:xfrm>
        </p:spPr>
        <p:txBody>
          <a:bodyPr>
            <a:normAutofit/>
          </a:bodyPr>
          <a:lstStyle/>
          <a:p>
            <a:pPr>
              <a:spcBef>
                <a:spcPts val="600"/>
              </a:spcBef>
              <a:spcAft>
                <a:spcPts val="600"/>
              </a:spcAft>
              <a:buNone/>
            </a:pPr>
            <a:r>
              <a:rPr lang="en-AU" sz="2200" b="1" dirty="0" smtClean="0">
                <a:latin typeface="Helvetica" pitchFamily="34" charset="0"/>
              </a:rPr>
              <a:t>Types of financial information</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Budget</a:t>
            </a:r>
          </a:p>
          <a:p>
            <a:pPr lvl="0">
              <a:spcBef>
                <a:spcPts val="600"/>
              </a:spcBef>
              <a:spcAft>
                <a:spcPts val="600"/>
              </a:spcAft>
            </a:pPr>
            <a:r>
              <a:rPr lang="en-AU" sz="2200" dirty="0" smtClean="0">
                <a:latin typeface="Helvetica" pitchFamily="34" charset="0"/>
              </a:rPr>
              <a:t>Salaries</a:t>
            </a:r>
          </a:p>
          <a:p>
            <a:pPr lvl="0">
              <a:spcBef>
                <a:spcPts val="600"/>
              </a:spcBef>
              <a:spcAft>
                <a:spcPts val="600"/>
              </a:spcAft>
            </a:pPr>
            <a:r>
              <a:rPr lang="en-AU" sz="2200" dirty="0" smtClean="0">
                <a:latin typeface="Helvetica" pitchFamily="34" charset="0"/>
              </a:rPr>
              <a:t>Financial Statements</a:t>
            </a:r>
          </a:p>
          <a:p>
            <a:pPr lvl="0">
              <a:spcBef>
                <a:spcPts val="600"/>
              </a:spcBef>
              <a:spcAft>
                <a:spcPts val="600"/>
              </a:spcAft>
            </a:pPr>
            <a:r>
              <a:rPr lang="en-AU" sz="2200" dirty="0" smtClean="0">
                <a:latin typeface="Helvetica" pitchFamily="34" charset="0"/>
              </a:rPr>
              <a:t>Petty Cash</a:t>
            </a:r>
          </a:p>
          <a:p>
            <a:pPr lvl="0">
              <a:spcBef>
                <a:spcPts val="600"/>
              </a:spcBef>
              <a:spcAft>
                <a:spcPts val="600"/>
              </a:spcAft>
            </a:pPr>
            <a:r>
              <a:rPr lang="en-AU" sz="2200" dirty="0" smtClean="0">
                <a:latin typeface="Helvetica" pitchFamily="34" charset="0"/>
              </a:rPr>
              <a:t>Auditor's Statements</a:t>
            </a:r>
          </a:p>
          <a:p>
            <a:pPr lvl="0">
              <a:spcBef>
                <a:spcPts val="600"/>
              </a:spcBef>
              <a:spcAft>
                <a:spcPts val="600"/>
              </a:spcAft>
            </a:pPr>
            <a:r>
              <a:rPr lang="en-AU" sz="2200" dirty="0" smtClean="0">
                <a:latin typeface="Helvetica" pitchFamily="34" charset="0"/>
              </a:rPr>
              <a:t>Tax</a:t>
            </a:r>
          </a:p>
          <a:p>
            <a:pPr lvl="0">
              <a:spcBef>
                <a:spcPts val="600"/>
              </a:spcBef>
              <a:spcAft>
                <a:spcPts val="600"/>
              </a:spcAft>
            </a:pPr>
            <a:r>
              <a:rPr lang="en-AU" sz="2200" dirty="0" smtClean="0">
                <a:latin typeface="Helvetica" pitchFamily="34" charset="0"/>
              </a:rPr>
              <a:t>Strategies</a:t>
            </a:r>
          </a:p>
          <a:p>
            <a:pPr lvl="0">
              <a:spcBef>
                <a:spcPts val="600"/>
              </a:spcBef>
              <a:spcAft>
                <a:spcPts val="600"/>
              </a:spcAft>
            </a:pPr>
            <a:r>
              <a:rPr lang="en-AU" sz="2200" dirty="0" smtClean="0">
                <a:latin typeface="Helvetica" pitchFamily="34" charset="0"/>
              </a:rPr>
              <a:t>Bank</a:t>
            </a:r>
          </a:p>
          <a:p>
            <a:pPr lvl="0">
              <a:spcBef>
                <a:spcPts val="600"/>
              </a:spcBef>
              <a:spcAft>
                <a:spcPts val="600"/>
              </a:spcAft>
            </a:pPr>
            <a:r>
              <a:rPr lang="en-AU" sz="2200" dirty="0" smtClean="0">
                <a:latin typeface="Helvetica" pitchFamily="34" charset="0"/>
              </a:rPr>
              <a:t>Debtors</a:t>
            </a:r>
          </a:p>
          <a:p>
            <a:pPr>
              <a:spcBef>
                <a:spcPts val="600"/>
              </a:spcBef>
              <a:spcAft>
                <a:spcPts val="600"/>
              </a:spcAft>
            </a:pPr>
            <a:r>
              <a:rPr lang="en-AU" sz="2200" dirty="0" smtClean="0">
                <a:latin typeface="Helvetica" pitchFamily="34" charset="0"/>
              </a:rPr>
              <a:t>Bookkeeping</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6" name="Picture 5" descr="884071_budget_cuts.jpg"/>
          <p:cNvPicPr/>
          <p:nvPr/>
        </p:nvPicPr>
        <p:blipFill>
          <a:blip r:embed="rId3" cstate="print"/>
          <a:stretch>
            <a:fillRect/>
          </a:stretch>
        </p:blipFill>
        <p:spPr>
          <a:xfrm>
            <a:off x="7092280" y="3356992"/>
            <a:ext cx="1335584" cy="1856978"/>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864096"/>
          </a:xfrm>
        </p:spPr>
        <p:txBody>
          <a:bodyPr>
            <a:normAutofit/>
          </a:bodyPr>
          <a:lstStyle/>
          <a:p>
            <a:r>
              <a:rPr lang="en-AU" sz="3400" b="1" dirty="0" smtClean="0">
                <a:solidFill>
                  <a:srgbClr val="FF6600"/>
                </a:solidFill>
                <a:latin typeface="Helvetica" pitchFamily="34" charset="0"/>
              </a:rPr>
              <a:t>Operational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operational information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Arrivals Report, Arrivals List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Departures Report, Departures List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No Show Report</a:t>
            </a:r>
          </a:p>
          <a:p>
            <a:pPr>
              <a:spcBef>
                <a:spcPts val="600"/>
              </a:spcBef>
              <a:spcAft>
                <a:spcPts val="1200"/>
              </a:spcAft>
            </a:pPr>
            <a:r>
              <a:rPr lang="en-GB" sz="2200" dirty="0" smtClean="0">
                <a:latin typeface="Helvetica" pitchFamily="34" charset="0"/>
              </a:rPr>
              <a:t>Room Status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Special Requests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Occupancy Forecast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Average Room Rates Report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7" name="Picture 6" descr="Hotel receptionist.jpg"/>
          <p:cNvPicPr/>
          <p:nvPr/>
        </p:nvPicPr>
        <p:blipFill>
          <a:blip r:embed="rId3" cstate="print"/>
          <a:stretch>
            <a:fillRect/>
          </a:stretch>
        </p:blipFill>
        <p:spPr>
          <a:xfrm>
            <a:off x="6948264" y="3313931"/>
            <a:ext cx="1417687" cy="1915269"/>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Operational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operational information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Multiple or Double Room Occupancy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Guest List by Name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Guest List by Room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Travel Agents’ Commission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Special Packages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Market Segment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Rooms Out of Order Report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6" name="Picture 5" descr="Hotel receptionist accept payment.jpg"/>
          <p:cNvPicPr/>
          <p:nvPr/>
        </p:nvPicPr>
        <p:blipFill>
          <a:blip r:embed="rId3" cstate="print"/>
          <a:stretch>
            <a:fillRect/>
          </a:stretch>
        </p:blipFill>
        <p:spPr>
          <a:xfrm>
            <a:off x="6516216" y="4005064"/>
            <a:ext cx="1885950" cy="12573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Operational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Types of operational information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Daily Room Revenue Summary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Daily Revenue Summary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Weekly Trading Summary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Monthly Trading Summary</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Year-to-Date Report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In-house Activity Report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7" name="Picture 6" descr="11111.jpg"/>
          <p:cNvPicPr/>
          <p:nvPr/>
        </p:nvPicPr>
        <p:blipFill>
          <a:blip r:embed="rId3" cstate="print"/>
          <a:stretch>
            <a:fillRect/>
          </a:stretch>
        </p:blipFill>
        <p:spPr>
          <a:xfrm>
            <a:off x="7073974" y="3284984"/>
            <a:ext cx="1314450" cy="1971675"/>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Commercial in confidence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00600"/>
          </a:xfrm>
        </p:spPr>
        <p:txBody>
          <a:bodyPr>
            <a:normAutofit/>
          </a:bodyPr>
          <a:lstStyle/>
          <a:p>
            <a:pPr marL="0">
              <a:spcBef>
                <a:spcPts val="600"/>
              </a:spcBef>
              <a:spcAft>
                <a:spcPts val="1200"/>
              </a:spcAft>
              <a:buNone/>
            </a:pPr>
            <a:r>
              <a:rPr lang="en-AU" sz="2200" dirty="0" smtClean="0">
                <a:latin typeface="Helvetica" pitchFamily="34" charset="0"/>
              </a:rPr>
              <a:t>There are also other types of information that are commonly not for public viewing.</a:t>
            </a:r>
          </a:p>
          <a:p>
            <a:pPr>
              <a:spcBef>
                <a:spcPts val="600"/>
              </a:spcBef>
              <a:spcAft>
                <a:spcPts val="1200"/>
              </a:spcAft>
              <a:buNone/>
            </a:pPr>
            <a:r>
              <a:rPr lang="en-AU" sz="2200" dirty="0" smtClean="0">
                <a:latin typeface="Helvetica" pitchFamily="34" charset="0"/>
              </a:rPr>
              <a:t>Some of these include, but certainly not limited to:</a:t>
            </a:r>
          </a:p>
          <a:p>
            <a:pPr lvl="0">
              <a:spcBef>
                <a:spcPts val="600"/>
              </a:spcBef>
              <a:spcAft>
                <a:spcPts val="1200"/>
              </a:spcAft>
            </a:pPr>
            <a:r>
              <a:rPr lang="en-AU" sz="2200" dirty="0" smtClean="0">
                <a:latin typeface="Helvetica" pitchFamily="34" charset="0"/>
              </a:rPr>
              <a:t>Ownership Agreements</a:t>
            </a:r>
          </a:p>
          <a:p>
            <a:pPr lvl="0">
              <a:spcBef>
                <a:spcPts val="600"/>
              </a:spcBef>
              <a:spcAft>
                <a:spcPts val="1200"/>
              </a:spcAft>
            </a:pPr>
            <a:r>
              <a:rPr lang="en-AU" sz="2200" dirty="0" smtClean="0">
                <a:latin typeface="Helvetica" pitchFamily="34" charset="0"/>
              </a:rPr>
              <a:t>Management Agreements</a:t>
            </a:r>
          </a:p>
          <a:p>
            <a:pPr lvl="0">
              <a:spcBef>
                <a:spcPts val="600"/>
              </a:spcBef>
              <a:spcAft>
                <a:spcPts val="1200"/>
              </a:spcAft>
            </a:pPr>
            <a:r>
              <a:rPr lang="en-AU" sz="2200" dirty="0" smtClean="0">
                <a:latin typeface="Helvetica" pitchFamily="34" charset="0"/>
              </a:rPr>
              <a:t>Trademark information</a:t>
            </a:r>
          </a:p>
          <a:p>
            <a:pPr lvl="0">
              <a:spcBef>
                <a:spcPts val="600"/>
              </a:spcBef>
              <a:spcAft>
                <a:spcPts val="1200"/>
              </a:spcAft>
            </a:pPr>
            <a:r>
              <a:rPr lang="en-AU" sz="2200" dirty="0" smtClean="0">
                <a:latin typeface="Helvetica" pitchFamily="34" charset="0"/>
              </a:rPr>
              <a:t>Strategic information</a:t>
            </a:r>
          </a:p>
          <a:p>
            <a:pPr lvl="0">
              <a:spcBef>
                <a:spcPts val="600"/>
              </a:spcBef>
              <a:spcAft>
                <a:spcPts val="1200"/>
              </a:spcAft>
            </a:pPr>
            <a:r>
              <a:rPr lang="en-AU" sz="2200" dirty="0" smtClean="0">
                <a:latin typeface="Helvetica" pitchFamily="34" charset="0"/>
              </a:rPr>
              <a:t>Contracts</a:t>
            </a:r>
          </a:p>
          <a:p>
            <a:pPr lvl="0">
              <a:spcBef>
                <a:spcPts val="600"/>
              </a:spcBef>
              <a:spcAft>
                <a:spcPts val="1200"/>
              </a:spcAft>
            </a:pPr>
            <a:r>
              <a:rPr lang="en-AU" sz="2200" dirty="0" smtClean="0">
                <a:latin typeface="Helvetica" pitchFamily="34" charset="0"/>
              </a:rPr>
              <a:t>Recipes</a:t>
            </a:r>
          </a:p>
          <a:p>
            <a:pPr>
              <a:spcBef>
                <a:spcPts val="600"/>
              </a:spcBef>
              <a:spcAft>
                <a:spcPts val="1200"/>
              </a:spcAft>
            </a:pPr>
            <a:r>
              <a:rPr lang="en-AU" sz="2200" dirty="0" smtClean="0">
                <a:latin typeface="Helvetica" pitchFamily="34" charset="0"/>
              </a:rPr>
              <a:t>Business proposals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6" name="Picture 5" descr="MP900316770.JPG"/>
          <p:cNvPicPr/>
          <p:nvPr/>
        </p:nvPicPr>
        <p:blipFill>
          <a:blip r:embed="rId3" cstate="print"/>
          <a:stretch>
            <a:fillRect/>
          </a:stretch>
        </p:blipFill>
        <p:spPr>
          <a:xfrm>
            <a:off x="6372200" y="3861048"/>
            <a:ext cx="1995924" cy="1447031"/>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Authorised access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400600"/>
          </a:xfrm>
        </p:spPr>
        <p:txBody>
          <a:bodyPr>
            <a:normAutofit/>
          </a:bodyPr>
          <a:lstStyle/>
          <a:p>
            <a:pPr marL="0">
              <a:spcBef>
                <a:spcPts val="600"/>
              </a:spcBef>
              <a:spcAft>
                <a:spcPts val="1200"/>
              </a:spcAft>
              <a:buNone/>
            </a:pPr>
            <a:r>
              <a:rPr lang="en-AU" sz="2200" dirty="0" smtClean="0">
                <a:latin typeface="Helvetica" pitchFamily="34" charset="0"/>
              </a:rPr>
              <a:t>It is important that an authorisation system, including the physical distribution of documents and access to filing cabinets is established.</a:t>
            </a:r>
          </a:p>
          <a:p>
            <a:pPr>
              <a:spcBef>
                <a:spcPts val="600"/>
              </a:spcBef>
              <a:spcAft>
                <a:spcPts val="1200"/>
              </a:spcAft>
              <a:buNone/>
            </a:pPr>
            <a:r>
              <a:rPr lang="en-AU" sz="2200" dirty="0" smtClean="0">
                <a:latin typeface="Helvetica" pitchFamily="34" charset="0"/>
              </a:rPr>
              <a:t>Security considerations include: </a:t>
            </a:r>
          </a:p>
          <a:p>
            <a:pPr lvl="0">
              <a:spcBef>
                <a:spcPts val="600"/>
              </a:spcBef>
              <a:spcAft>
                <a:spcPts val="1200"/>
              </a:spcAft>
            </a:pPr>
            <a:r>
              <a:rPr lang="en-AU" sz="2200" dirty="0" smtClean="0">
                <a:latin typeface="Helvetica" pitchFamily="34" charset="0"/>
              </a:rPr>
              <a:t>Keep office doors locked from the inside to protect against entry by unauthorised staff and members of the public </a:t>
            </a:r>
          </a:p>
          <a:p>
            <a:pPr lvl="0">
              <a:spcBef>
                <a:spcPts val="600"/>
              </a:spcBef>
              <a:spcAft>
                <a:spcPts val="1200"/>
              </a:spcAft>
            </a:pPr>
            <a:r>
              <a:rPr lang="en-AU" sz="2200" dirty="0" smtClean="0">
                <a:latin typeface="Helvetica" pitchFamily="34" charset="0"/>
              </a:rPr>
              <a:t>Don’t leave paperwork, documentation and </a:t>
            </a:r>
            <a:br>
              <a:rPr lang="en-AU" sz="2200" dirty="0" smtClean="0">
                <a:latin typeface="Helvetica" pitchFamily="34" charset="0"/>
              </a:rPr>
            </a:br>
            <a:r>
              <a:rPr lang="en-AU" sz="2200" dirty="0" smtClean="0">
                <a:latin typeface="Helvetica" pitchFamily="34" charset="0"/>
              </a:rPr>
              <a:t>records lying around where they may be </a:t>
            </a:r>
            <a:br>
              <a:rPr lang="en-AU" sz="2200" dirty="0" smtClean="0">
                <a:latin typeface="Helvetica" pitchFamily="34" charset="0"/>
              </a:rPr>
            </a:br>
            <a:r>
              <a:rPr lang="en-AU" sz="2200" dirty="0" smtClean="0">
                <a:latin typeface="Helvetica" pitchFamily="34" charset="0"/>
              </a:rPr>
              <a:t>visible to others </a:t>
            </a:r>
          </a:p>
          <a:p>
            <a:pPr lvl="0">
              <a:spcBef>
                <a:spcPts val="600"/>
              </a:spcBef>
              <a:spcAft>
                <a:spcPts val="1200"/>
              </a:spcAft>
            </a:pPr>
            <a:r>
              <a:rPr lang="en-AU" sz="2200" dirty="0" smtClean="0">
                <a:latin typeface="Helvetica" pitchFamily="34" charset="0"/>
              </a:rPr>
              <a:t>Keep ‘private’ and ‘confidential’ files locked</a:t>
            </a: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7" name="Picture 6" descr="MP900442356.JPG"/>
          <p:cNvPicPr/>
          <p:nvPr/>
        </p:nvPicPr>
        <p:blipFill>
          <a:blip r:embed="rId3" cstate="print"/>
          <a:stretch>
            <a:fillRect/>
          </a:stretch>
        </p:blipFill>
        <p:spPr>
          <a:xfrm>
            <a:off x="6948264" y="4149080"/>
            <a:ext cx="1443608" cy="1100708"/>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Monitor security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Methods to trace and secure files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 file movement recording documentation</a:t>
            </a:r>
          </a:p>
          <a:p>
            <a:pPr lvl="0">
              <a:spcBef>
                <a:spcPts val="600"/>
              </a:spcBef>
              <a:spcAft>
                <a:spcPts val="1200"/>
              </a:spcAft>
            </a:pPr>
            <a:r>
              <a:rPr lang="en-AU" sz="2200" dirty="0" smtClean="0">
                <a:latin typeface="Helvetica" pitchFamily="34" charset="0"/>
              </a:rPr>
              <a:t>Follow up with staff deemed to have files at regular intervals to list on a file census form all the files held by that person</a:t>
            </a:r>
          </a:p>
          <a:p>
            <a:pPr lvl="0">
              <a:spcBef>
                <a:spcPts val="600"/>
              </a:spcBef>
              <a:spcAft>
                <a:spcPts val="1200"/>
              </a:spcAft>
            </a:pPr>
            <a:r>
              <a:rPr lang="en-AU" sz="2200" dirty="0" smtClean="0">
                <a:latin typeface="Helvetica" pitchFamily="34" charset="0"/>
              </a:rPr>
              <a:t>Keep a centralised record of file movements</a:t>
            </a:r>
          </a:p>
          <a:p>
            <a:pPr lvl="0">
              <a:spcBef>
                <a:spcPts val="600"/>
              </a:spcBef>
              <a:spcAft>
                <a:spcPts val="1200"/>
              </a:spcAft>
            </a:pPr>
            <a:r>
              <a:rPr lang="en-AU" sz="2200" dirty="0" smtClean="0">
                <a:latin typeface="Helvetica" pitchFamily="34" charset="0"/>
              </a:rPr>
              <a:t>Conduct a physical stock take of files in </a:t>
            </a:r>
            <a:br>
              <a:rPr lang="en-AU" sz="2200" dirty="0" smtClean="0">
                <a:latin typeface="Helvetica" pitchFamily="34" charset="0"/>
              </a:rPr>
            </a:br>
            <a:r>
              <a:rPr lang="en-AU" sz="2200" dirty="0" smtClean="0">
                <a:latin typeface="Helvetica" pitchFamily="34" charset="0"/>
              </a:rPr>
              <a:t>specific locations </a:t>
            </a:r>
          </a:p>
          <a:p>
            <a:pPr lvl="0">
              <a:spcBef>
                <a:spcPts val="600"/>
              </a:spcBef>
              <a:spcAft>
                <a:spcPts val="1200"/>
              </a:spcAft>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6" name="Picture 5" descr="MP900408931.JPG"/>
          <p:cNvPicPr/>
          <p:nvPr/>
        </p:nvPicPr>
        <p:blipFill>
          <a:blip r:embed="rId3" cstate="print"/>
          <a:stretch>
            <a:fillRect/>
          </a:stretch>
        </p:blipFill>
        <p:spPr>
          <a:xfrm>
            <a:off x="6876256" y="3861048"/>
            <a:ext cx="1503040" cy="1359024"/>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792088"/>
          </a:xfrm>
        </p:spPr>
        <p:txBody>
          <a:bodyPr>
            <a:normAutofit/>
          </a:bodyPr>
          <a:lstStyle/>
          <a:p>
            <a:r>
              <a:rPr lang="en-AU" sz="3400" b="1" dirty="0" smtClean="0">
                <a:solidFill>
                  <a:srgbClr val="FF6600"/>
                </a:solidFill>
                <a:latin typeface="Helvetica" pitchFamily="34" charset="0"/>
              </a:rPr>
              <a:t>Monitor security systems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328592"/>
          </a:xfrm>
        </p:spPr>
        <p:txBody>
          <a:bodyPr>
            <a:normAutofit/>
          </a:bodyPr>
          <a:lstStyle/>
          <a:p>
            <a:pPr>
              <a:spcBef>
                <a:spcPts val="600"/>
              </a:spcBef>
              <a:spcAft>
                <a:spcPts val="1200"/>
              </a:spcAft>
              <a:buNone/>
            </a:pPr>
            <a:r>
              <a:rPr lang="en-AU" sz="2200" b="1" dirty="0" smtClean="0">
                <a:latin typeface="Helvetica" pitchFamily="34" charset="0"/>
              </a:rPr>
              <a:t>Methods to trace and secure files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Issue and sign in important documents at the start and end of shift</a:t>
            </a:r>
          </a:p>
          <a:p>
            <a:pPr lvl="0">
              <a:spcBef>
                <a:spcPts val="600"/>
              </a:spcBef>
              <a:spcAft>
                <a:spcPts val="1200"/>
              </a:spcAft>
            </a:pPr>
            <a:r>
              <a:rPr lang="en-AU" sz="2200" dirty="0" smtClean="0">
                <a:latin typeface="Helvetica" pitchFamily="34" charset="0"/>
              </a:rPr>
              <a:t>Ask security to conduct locker or bag searches </a:t>
            </a:r>
            <a:br>
              <a:rPr lang="en-AU" sz="2200" dirty="0" smtClean="0">
                <a:latin typeface="Helvetica" pitchFamily="34" charset="0"/>
              </a:rPr>
            </a:br>
            <a:r>
              <a:rPr lang="en-AU" sz="2200" dirty="0" smtClean="0">
                <a:latin typeface="Helvetica" pitchFamily="34" charset="0"/>
              </a:rPr>
              <a:t>where highly sensitive information is not </a:t>
            </a:r>
            <a:br>
              <a:rPr lang="en-AU" sz="2200" dirty="0" smtClean="0">
                <a:latin typeface="Helvetica" pitchFamily="34" charset="0"/>
              </a:rPr>
            </a:br>
            <a:r>
              <a:rPr lang="en-AU" sz="2200" dirty="0" smtClean="0">
                <a:latin typeface="Helvetica" pitchFamily="34" charset="0"/>
              </a:rPr>
              <a:t>permitted to leave the premises</a:t>
            </a:r>
          </a:p>
          <a:p>
            <a:pPr lvl="0">
              <a:spcBef>
                <a:spcPts val="600"/>
              </a:spcBef>
              <a:spcAft>
                <a:spcPts val="1200"/>
              </a:spcAft>
              <a:buNone/>
            </a:pPr>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8" name="Picture 7" descr="MP900405074.JPG"/>
          <p:cNvPicPr/>
          <p:nvPr/>
        </p:nvPicPr>
        <p:blipFill>
          <a:blip r:embed="rId3" cstate="print"/>
          <a:stretch>
            <a:fillRect/>
          </a:stretch>
        </p:blipFill>
        <p:spPr>
          <a:xfrm>
            <a:off x="6876256" y="2996952"/>
            <a:ext cx="1421879" cy="1952799"/>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4066</TotalTime>
  <Words>4626</Words>
  <Application>Microsoft Office PowerPoint</Application>
  <PresentationFormat>On-screen Show (4:3)</PresentationFormat>
  <Paragraphs>992</Paragraphs>
  <Slides>80</Slides>
  <Notes>80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Arial</vt:lpstr>
      <vt:lpstr>Calibri</vt:lpstr>
      <vt:lpstr>Franklin Gothic Book</vt:lpstr>
      <vt:lpstr>Helvetica</vt:lpstr>
      <vt:lpstr>Wingdings 2</vt:lpstr>
      <vt:lpstr>ASEAN PPT Template 010611 MV</vt:lpstr>
      <vt:lpstr>MAINTAIN A PAPER-BASED FILING AND RETRIEVAL SYSTEM</vt:lpstr>
      <vt:lpstr>Subject Elements</vt:lpstr>
      <vt:lpstr>Assessment</vt:lpstr>
      <vt:lpstr>PowerPoint Presentation</vt:lpstr>
      <vt:lpstr>Maintain information systems</vt:lpstr>
      <vt:lpstr>Maintain information and filing systems</vt:lpstr>
      <vt:lpstr>Maintain information and filing systems</vt:lpstr>
      <vt:lpstr>Maintain information and filing systems</vt:lpstr>
      <vt:lpstr>Maintain information and filing systems</vt:lpstr>
      <vt:lpstr>Maintain information and filing systems</vt:lpstr>
      <vt:lpstr>Hard copy information</vt:lpstr>
      <vt:lpstr>Hard copy information</vt:lpstr>
      <vt:lpstr>Hard copy information</vt:lpstr>
      <vt:lpstr>Organisational requirements</vt:lpstr>
      <vt:lpstr>Organisational requirements</vt:lpstr>
      <vt:lpstr>Organisational requirements</vt:lpstr>
      <vt:lpstr>Handle inactive or dead files</vt:lpstr>
      <vt:lpstr>Handle inactive or dead files</vt:lpstr>
      <vt:lpstr>Establish and assemble files</vt:lpstr>
      <vt:lpstr>Establish and assemble files</vt:lpstr>
      <vt:lpstr>Establish and assemble files</vt:lpstr>
      <vt:lpstr>Establish and assemble files</vt:lpstr>
      <vt:lpstr>Establish and assemble files</vt:lpstr>
      <vt:lpstr>Update reference and index systems</vt:lpstr>
      <vt:lpstr>Update reference and index systems</vt:lpstr>
      <vt:lpstr>Update reference and index systems</vt:lpstr>
      <vt:lpstr>PowerPoint Presentation</vt:lpstr>
      <vt:lpstr>Retrieve files in response to information requests</vt:lpstr>
      <vt:lpstr>Locate files within timelines</vt:lpstr>
      <vt:lpstr>Types of files</vt:lpstr>
      <vt:lpstr>Types of files</vt:lpstr>
      <vt:lpstr>Types of systems</vt:lpstr>
      <vt:lpstr>Retrieve relevant file</vt:lpstr>
      <vt:lpstr>Retrieve relevant file</vt:lpstr>
      <vt:lpstr>Retrieve relevant file</vt:lpstr>
      <vt:lpstr>Record document movements</vt:lpstr>
      <vt:lpstr>Record document movements</vt:lpstr>
      <vt:lpstr>Record document movements</vt:lpstr>
      <vt:lpstr>Record document movements</vt:lpstr>
      <vt:lpstr>Follow security and confidentiality procedures</vt:lpstr>
      <vt:lpstr>Follow security and confidentiality procedures</vt:lpstr>
      <vt:lpstr>Follow security and confidentiality procedures</vt:lpstr>
      <vt:lpstr>Follow security and confidentiality procedures</vt:lpstr>
      <vt:lpstr>Follow security and confidentiality procedures</vt:lpstr>
      <vt:lpstr>PowerPoint Presentation</vt:lpstr>
      <vt:lpstr>Maintain existing recording and filing systems</vt:lpstr>
      <vt:lpstr>Maintain existing recording and filing systems</vt:lpstr>
      <vt:lpstr>Maintain existing recording and filing systems</vt:lpstr>
      <vt:lpstr>Maintain existing recording and filing systems</vt:lpstr>
      <vt:lpstr>Maintain existing recording and filing systems</vt:lpstr>
      <vt:lpstr>Maintain existing recording and filing systems</vt:lpstr>
      <vt:lpstr>Allocate new documents to designated category</vt:lpstr>
      <vt:lpstr>Monitor the issue and return of documents</vt:lpstr>
      <vt:lpstr>Monitor the issue and return of documents</vt:lpstr>
      <vt:lpstr>Monitor the issue and return of documents</vt:lpstr>
      <vt:lpstr>Archive, remove and update documents</vt:lpstr>
      <vt:lpstr>Archive, remove and update documents</vt:lpstr>
      <vt:lpstr>Archive, remove and update documents</vt:lpstr>
      <vt:lpstr>Archive, remove and update documents</vt:lpstr>
      <vt:lpstr>Identify and dispatch documents</vt:lpstr>
      <vt:lpstr>Identify and dispatch documents</vt:lpstr>
      <vt:lpstr>Identify and dispatch documents</vt:lpstr>
      <vt:lpstr>Identify and dispatch documents</vt:lpstr>
      <vt:lpstr>Maintain documents in good condition</vt:lpstr>
      <vt:lpstr>Maintain documents in good condition</vt:lpstr>
      <vt:lpstr>Maintain documents in good condition</vt:lpstr>
      <vt:lpstr>Maintain documents in good condition</vt:lpstr>
      <vt:lpstr>Separate confidential files from general files</vt:lpstr>
      <vt:lpstr>Separate confidential files from general files</vt:lpstr>
      <vt:lpstr>Separate confidential files from general files</vt:lpstr>
      <vt:lpstr>Staff personnel files</vt:lpstr>
      <vt:lpstr>Staff personnel files</vt:lpstr>
      <vt:lpstr>Financial information</vt:lpstr>
      <vt:lpstr>Operational information</vt:lpstr>
      <vt:lpstr>Operational information</vt:lpstr>
      <vt:lpstr>Operational information</vt:lpstr>
      <vt:lpstr>Commercial in confidence</vt:lpstr>
      <vt:lpstr>Authorised access</vt:lpstr>
      <vt:lpstr>Monitor security systems</vt:lpstr>
      <vt:lpstr>Monitor security systems</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MAINTAIN A PAPER-BASED FILING AND RETRIEVAL SYSTEM</dc:title>
  <dc:creator>Administrator</dc:creator>
  <cp:lastModifiedBy>Carla Angelica Co</cp:lastModifiedBy>
  <cp:revision>105</cp:revision>
  <dcterms:created xsi:type="dcterms:W3CDTF">2012-04-04T06:25:04Z</dcterms:created>
  <dcterms:modified xsi:type="dcterms:W3CDTF">2015-03-28T08:27:07Z</dcterms:modified>
</cp:coreProperties>
</file>