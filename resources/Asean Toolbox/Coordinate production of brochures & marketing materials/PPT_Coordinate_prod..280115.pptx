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38"/>
  </p:notesMasterIdLst>
  <p:handoutMasterIdLst>
    <p:handoutMasterId r:id="rId139"/>
  </p:handoutMasterIdLst>
  <p:sldIdLst>
    <p:sldId id="256" r:id="rId2"/>
    <p:sldId id="269" r:id="rId3"/>
    <p:sldId id="270" r:id="rId4"/>
    <p:sldId id="271" r:id="rId5"/>
    <p:sldId id="257" r:id="rId6"/>
    <p:sldId id="272" r:id="rId7"/>
    <p:sldId id="273" r:id="rId8"/>
    <p:sldId id="274" r:id="rId9"/>
    <p:sldId id="275" r:id="rId10"/>
    <p:sldId id="277" r:id="rId11"/>
    <p:sldId id="278" r:id="rId12"/>
    <p:sldId id="279" r:id="rId13"/>
    <p:sldId id="262" r:id="rId14"/>
    <p:sldId id="280" r:id="rId15"/>
    <p:sldId id="281" r:id="rId16"/>
    <p:sldId id="282" r:id="rId17"/>
    <p:sldId id="283" r:id="rId18"/>
    <p:sldId id="263" r:id="rId19"/>
    <p:sldId id="284" r:id="rId20"/>
    <p:sldId id="285" r:id="rId21"/>
    <p:sldId id="286" r:id="rId22"/>
    <p:sldId id="287" r:id="rId23"/>
    <p:sldId id="288" r:id="rId24"/>
    <p:sldId id="289" r:id="rId25"/>
    <p:sldId id="290" r:id="rId26"/>
    <p:sldId id="264" r:id="rId27"/>
    <p:sldId id="291" r:id="rId28"/>
    <p:sldId id="292" r:id="rId29"/>
    <p:sldId id="265" r:id="rId30"/>
    <p:sldId id="293" r:id="rId31"/>
    <p:sldId id="294" r:id="rId32"/>
    <p:sldId id="295" r:id="rId33"/>
    <p:sldId id="296" r:id="rId34"/>
    <p:sldId id="297" r:id="rId35"/>
    <p:sldId id="266" r:id="rId36"/>
    <p:sldId id="267" r:id="rId37"/>
    <p:sldId id="298" r:id="rId38"/>
    <p:sldId id="299" r:id="rId39"/>
    <p:sldId id="300" r:id="rId40"/>
    <p:sldId id="301" r:id="rId41"/>
    <p:sldId id="302" r:id="rId42"/>
    <p:sldId id="268" r:id="rId43"/>
    <p:sldId id="303" r:id="rId44"/>
    <p:sldId id="304" r:id="rId45"/>
    <p:sldId id="258" r:id="rId46"/>
    <p:sldId id="305" r:id="rId47"/>
    <p:sldId id="306" r:id="rId48"/>
    <p:sldId id="307" r:id="rId49"/>
    <p:sldId id="259" r:id="rId50"/>
    <p:sldId id="319" r:id="rId51"/>
    <p:sldId id="320" r:id="rId52"/>
    <p:sldId id="321" r:id="rId53"/>
    <p:sldId id="322" r:id="rId54"/>
    <p:sldId id="333" r:id="rId55"/>
    <p:sldId id="334" r:id="rId56"/>
    <p:sldId id="335" r:id="rId57"/>
    <p:sldId id="323" r:id="rId58"/>
    <p:sldId id="324" r:id="rId59"/>
    <p:sldId id="325" r:id="rId60"/>
    <p:sldId id="326" r:id="rId61"/>
    <p:sldId id="336" r:id="rId62"/>
    <p:sldId id="337" r:id="rId63"/>
    <p:sldId id="338" r:id="rId64"/>
    <p:sldId id="339" r:id="rId65"/>
    <p:sldId id="260" r:id="rId66"/>
    <p:sldId id="340" r:id="rId67"/>
    <p:sldId id="350" r:id="rId68"/>
    <p:sldId id="351" r:id="rId69"/>
    <p:sldId id="261" r:id="rId70"/>
    <p:sldId id="352" r:id="rId71"/>
    <p:sldId id="353" r:id="rId72"/>
    <p:sldId id="354" r:id="rId73"/>
    <p:sldId id="355" r:id="rId74"/>
    <p:sldId id="313" r:id="rId75"/>
    <p:sldId id="356" r:id="rId76"/>
    <p:sldId id="357" r:id="rId77"/>
    <p:sldId id="358" r:id="rId78"/>
    <p:sldId id="359" r:id="rId79"/>
    <p:sldId id="314" r:id="rId80"/>
    <p:sldId id="360" r:id="rId81"/>
    <p:sldId id="361" r:id="rId82"/>
    <p:sldId id="362" r:id="rId83"/>
    <p:sldId id="363" r:id="rId84"/>
    <p:sldId id="364" r:id="rId85"/>
    <p:sldId id="365" r:id="rId86"/>
    <p:sldId id="366" r:id="rId87"/>
    <p:sldId id="380" r:id="rId88"/>
    <p:sldId id="370" r:id="rId89"/>
    <p:sldId id="371" r:id="rId90"/>
    <p:sldId id="372" r:id="rId91"/>
    <p:sldId id="373" r:id="rId92"/>
    <p:sldId id="374" r:id="rId93"/>
    <p:sldId id="316" r:id="rId94"/>
    <p:sldId id="381" r:id="rId95"/>
    <p:sldId id="382" r:id="rId96"/>
    <p:sldId id="383" r:id="rId97"/>
    <p:sldId id="384" r:id="rId98"/>
    <p:sldId id="317" r:id="rId99"/>
    <p:sldId id="385" r:id="rId100"/>
    <p:sldId id="386" r:id="rId101"/>
    <p:sldId id="387" r:id="rId102"/>
    <p:sldId id="367" r:id="rId103"/>
    <p:sldId id="388" r:id="rId104"/>
    <p:sldId id="389" r:id="rId105"/>
    <p:sldId id="390" r:id="rId106"/>
    <p:sldId id="368" r:id="rId107"/>
    <p:sldId id="400" r:id="rId108"/>
    <p:sldId id="401" r:id="rId109"/>
    <p:sldId id="402" r:id="rId110"/>
    <p:sldId id="403" r:id="rId111"/>
    <p:sldId id="404" r:id="rId112"/>
    <p:sldId id="405" r:id="rId113"/>
    <p:sldId id="406" r:id="rId114"/>
    <p:sldId id="407" r:id="rId115"/>
    <p:sldId id="408" r:id="rId116"/>
    <p:sldId id="369" r:id="rId117"/>
    <p:sldId id="409" r:id="rId118"/>
    <p:sldId id="318" r:id="rId119"/>
    <p:sldId id="410" r:id="rId120"/>
    <p:sldId id="411" r:id="rId121"/>
    <p:sldId id="394" r:id="rId122"/>
    <p:sldId id="412" r:id="rId123"/>
    <p:sldId id="395" r:id="rId124"/>
    <p:sldId id="413" r:id="rId125"/>
    <p:sldId id="414" r:id="rId126"/>
    <p:sldId id="415" r:id="rId127"/>
    <p:sldId id="396" r:id="rId128"/>
    <p:sldId id="416" r:id="rId129"/>
    <p:sldId id="397" r:id="rId130"/>
    <p:sldId id="417" r:id="rId131"/>
    <p:sldId id="418" r:id="rId132"/>
    <p:sldId id="419" r:id="rId133"/>
    <p:sldId id="420" r:id="rId134"/>
    <p:sldId id="421" r:id="rId135"/>
    <p:sldId id="424" r:id="rId136"/>
    <p:sldId id="425" r:id="rId137"/>
  </p:sldIdLst>
  <p:sldSz cx="9144000" cy="6858000" type="screen4x3"/>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958" autoAdjust="0"/>
    <p:restoredTop sz="72239" autoAdjust="0"/>
  </p:normalViewPr>
  <p:slideViewPr>
    <p:cSldViewPr>
      <p:cViewPr>
        <p:scale>
          <a:sx n="80" d="100"/>
          <a:sy n="80" d="100"/>
        </p:scale>
        <p:origin x="-2490" y="-4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38" Type="http://schemas.openxmlformats.org/officeDocument/2006/relationships/notesMaster" Target="notesMasters/notes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openxmlformats.org/officeDocument/2006/relationships/slide" Target="slides/slide123.xml"/><Relationship Id="rId129" Type="http://schemas.openxmlformats.org/officeDocument/2006/relationships/slide" Target="slides/slide128.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32" Type="http://schemas.openxmlformats.org/officeDocument/2006/relationships/slide" Target="slides/slide131.xml"/><Relationship Id="rId14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slide" Target="slides/slide118.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30" Type="http://schemas.openxmlformats.org/officeDocument/2006/relationships/slide" Target="slides/slide129.xml"/><Relationship Id="rId135" Type="http://schemas.openxmlformats.org/officeDocument/2006/relationships/slide" Target="slides/slide134.xml"/><Relationship Id="rId14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313"/>
          </a:xfrm>
          <a:prstGeom prst="rect">
            <a:avLst/>
          </a:prstGeom>
        </p:spPr>
        <p:txBody>
          <a:bodyPr vert="horz" lIns="94759" tIns="47380" rIns="94759" bIns="47380" rtlCol="0"/>
          <a:lstStyle>
            <a:lvl1pPr algn="l">
              <a:defRPr sz="1200"/>
            </a:lvl1pPr>
          </a:lstStyle>
          <a:p>
            <a:endParaRPr lang="en-GB" dirty="0">
              <a:latin typeface="Helvetica" pitchFamily="34" charset="0"/>
            </a:endParaRPr>
          </a:p>
        </p:txBody>
      </p:sp>
      <p:sp>
        <p:nvSpPr>
          <p:cNvPr id="3" name="Date Placeholder 2"/>
          <p:cNvSpPr>
            <a:spLocks noGrp="1"/>
          </p:cNvSpPr>
          <p:nvPr>
            <p:ph type="dt" sz="quarter" idx="1"/>
          </p:nvPr>
        </p:nvSpPr>
        <p:spPr>
          <a:xfrm>
            <a:off x="4021295" y="1"/>
            <a:ext cx="3076363" cy="511313"/>
          </a:xfrm>
          <a:prstGeom prst="rect">
            <a:avLst/>
          </a:prstGeom>
        </p:spPr>
        <p:txBody>
          <a:bodyPr vert="horz" lIns="94759" tIns="47380" rIns="94759" bIns="47380" rtlCol="0"/>
          <a:lstStyle>
            <a:lvl1pPr algn="r">
              <a:defRPr sz="1200"/>
            </a:lvl1pPr>
          </a:lstStyle>
          <a:p>
            <a:fld id="{E6916107-BD3A-45E2-B124-A5ED60630F4B}" type="datetimeFigureOut">
              <a:rPr lang="en-US" smtClean="0">
                <a:latin typeface="Helvetica" pitchFamily="34" charset="0"/>
              </a:rPr>
              <a:pPr/>
              <a:t>1/29/2015</a:t>
            </a:fld>
            <a:endParaRPr lang="en-GB" dirty="0">
              <a:latin typeface="Helvetica" pitchFamily="34" charset="0"/>
            </a:endParaRPr>
          </a:p>
        </p:txBody>
      </p:sp>
      <p:sp>
        <p:nvSpPr>
          <p:cNvPr id="4" name="Footer Placeholder 3"/>
          <p:cNvSpPr>
            <a:spLocks noGrp="1"/>
          </p:cNvSpPr>
          <p:nvPr>
            <p:ph type="ftr" sz="quarter" idx="2"/>
          </p:nvPr>
        </p:nvSpPr>
        <p:spPr>
          <a:xfrm>
            <a:off x="1" y="9721629"/>
            <a:ext cx="3076363" cy="511313"/>
          </a:xfrm>
          <a:prstGeom prst="rect">
            <a:avLst/>
          </a:prstGeom>
        </p:spPr>
        <p:txBody>
          <a:bodyPr vert="horz" lIns="94759" tIns="47380" rIns="94759" bIns="47380" rtlCol="0" anchor="b"/>
          <a:lstStyle>
            <a:lvl1pPr algn="l">
              <a:defRPr sz="1200"/>
            </a:lvl1pPr>
          </a:lstStyle>
          <a:p>
            <a:endParaRPr lang="en-GB" dirty="0">
              <a:latin typeface="Helvetica" pitchFamily="34" charset="0"/>
            </a:endParaRPr>
          </a:p>
        </p:txBody>
      </p:sp>
      <p:sp>
        <p:nvSpPr>
          <p:cNvPr id="5" name="Slide Number Placeholder 4"/>
          <p:cNvSpPr>
            <a:spLocks noGrp="1"/>
          </p:cNvSpPr>
          <p:nvPr>
            <p:ph type="sldNum" sz="quarter" idx="3"/>
          </p:nvPr>
        </p:nvSpPr>
        <p:spPr>
          <a:xfrm>
            <a:off x="4021295" y="9721629"/>
            <a:ext cx="3076363" cy="511313"/>
          </a:xfrm>
          <a:prstGeom prst="rect">
            <a:avLst/>
          </a:prstGeom>
        </p:spPr>
        <p:txBody>
          <a:bodyPr vert="horz" lIns="94759" tIns="47380" rIns="94759" bIns="47380" rtlCol="0" anchor="b"/>
          <a:lstStyle>
            <a:lvl1pPr algn="r">
              <a:defRPr sz="1200"/>
            </a:lvl1pPr>
          </a:lstStyle>
          <a:p>
            <a:fld id="{5905CC0A-F53C-4267-913E-3202B6ED95E3}" type="slidenum">
              <a:rPr lang="en-GB" smtClean="0">
                <a:latin typeface="Helvetica" pitchFamily="34" charset="0"/>
              </a:rPr>
              <a:pPr/>
              <a:t>‹#›</a:t>
            </a:fld>
            <a:endParaRPr lang="en-GB" dirty="0">
              <a:latin typeface="Helvetica" pitchFamily="34" charset="0"/>
            </a:endParaRPr>
          </a:p>
        </p:txBody>
      </p:sp>
    </p:spTree>
    <p:extLst>
      <p:ext uri="{BB962C8B-B14F-4D97-AF65-F5344CB8AC3E}">
        <p14:creationId xmlns:p14="http://schemas.microsoft.com/office/powerpoint/2010/main" val="1493299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1"/>
            <a:ext cx="3076363" cy="511730"/>
          </a:xfrm>
          <a:prstGeom prst="rect">
            <a:avLst/>
          </a:prstGeom>
        </p:spPr>
        <p:txBody>
          <a:bodyPr vert="horz" lIns="94759" tIns="47380" rIns="94759" bIns="47380" rtlCol="0"/>
          <a:lstStyle>
            <a:lvl1pPr algn="l">
              <a:defRPr sz="1200">
                <a:latin typeface="Helvetica" pitchFamily="34" charset="0"/>
              </a:defRPr>
            </a:lvl1pPr>
          </a:lstStyle>
          <a:p>
            <a:endParaRPr lang="en-US" dirty="0"/>
          </a:p>
        </p:txBody>
      </p:sp>
      <p:sp>
        <p:nvSpPr>
          <p:cNvPr id="3" name="Date Placeholder 2"/>
          <p:cNvSpPr>
            <a:spLocks noGrp="1"/>
          </p:cNvSpPr>
          <p:nvPr>
            <p:ph type="dt" idx="1"/>
          </p:nvPr>
        </p:nvSpPr>
        <p:spPr>
          <a:xfrm>
            <a:off x="4021295" y="1"/>
            <a:ext cx="3076363" cy="511730"/>
          </a:xfrm>
          <a:prstGeom prst="rect">
            <a:avLst/>
          </a:prstGeom>
        </p:spPr>
        <p:txBody>
          <a:bodyPr vert="horz" lIns="94759" tIns="47380" rIns="94759" bIns="47380" rtlCol="0"/>
          <a:lstStyle>
            <a:lvl1pPr algn="r">
              <a:defRPr sz="1200">
                <a:latin typeface="Helvetica" pitchFamily="34" charset="0"/>
              </a:defRPr>
            </a:lvl1pPr>
          </a:lstStyle>
          <a:p>
            <a:fld id="{BC34F173-2430-41D6-9CA5-C9CD3BDF7E96}" type="datetimeFigureOut">
              <a:rPr lang="en-US" smtClean="0"/>
              <a:pPr/>
              <a:t>1/29/2015</a:t>
            </a:fld>
            <a:endParaRPr lang="en-US" dirty="0"/>
          </a:p>
        </p:txBody>
      </p:sp>
      <p:sp>
        <p:nvSpPr>
          <p:cNvPr id="4" name="Slide Image Placeholder 3"/>
          <p:cNvSpPr>
            <a:spLocks noGrp="1" noRot="1" noChangeAspect="1"/>
          </p:cNvSpPr>
          <p:nvPr>
            <p:ph type="sldImg" idx="2"/>
          </p:nvPr>
        </p:nvSpPr>
        <p:spPr>
          <a:xfrm>
            <a:off x="990600" y="766763"/>
            <a:ext cx="5118100" cy="3838575"/>
          </a:xfrm>
          <a:prstGeom prst="rect">
            <a:avLst/>
          </a:prstGeom>
          <a:noFill/>
          <a:ln w="12700">
            <a:solidFill>
              <a:prstClr val="black"/>
            </a:solidFill>
          </a:ln>
        </p:spPr>
        <p:txBody>
          <a:bodyPr vert="horz" lIns="94759" tIns="47380" rIns="94759" bIns="47380" rtlCol="0" anchor="ctr"/>
          <a:lstStyle/>
          <a:p>
            <a:endParaRPr lang="en-US" dirty="0"/>
          </a:p>
        </p:txBody>
      </p:sp>
      <p:sp>
        <p:nvSpPr>
          <p:cNvPr id="5" name="Notes Placeholder 4"/>
          <p:cNvSpPr>
            <a:spLocks noGrp="1"/>
          </p:cNvSpPr>
          <p:nvPr>
            <p:ph type="body" sz="quarter" idx="3"/>
          </p:nvPr>
        </p:nvSpPr>
        <p:spPr>
          <a:xfrm>
            <a:off x="709931" y="4861442"/>
            <a:ext cx="5679440" cy="4605576"/>
          </a:xfrm>
          <a:prstGeom prst="rect">
            <a:avLst/>
          </a:prstGeom>
        </p:spPr>
        <p:txBody>
          <a:bodyPr vert="horz" lIns="94759" tIns="47380" rIns="94759" bIns="4738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1" y="9721106"/>
            <a:ext cx="3076363" cy="511730"/>
          </a:xfrm>
          <a:prstGeom prst="rect">
            <a:avLst/>
          </a:prstGeom>
        </p:spPr>
        <p:txBody>
          <a:bodyPr vert="horz" lIns="94759" tIns="47380" rIns="94759" bIns="47380" rtlCol="0" anchor="b"/>
          <a:lstStyle>
            <a:lvl1pPr algn="l">
              <a:defRPr sz="1200">
                <a:latin typeface="Helvetica" pitchFamily="34" charset="0"/>
              </a:defRPr>
            </a:lvl1pPr>
          </a:lstStyle>
          <a:p>
            <a:endParaRPr lang="en-US" dirty="0"/>
          </a:p>
        </p:txBody>
      </p:sp>
      <p:sp>
        <p:nvSpPr>
          <p:cNvPr id="7" name="Slide Number Placeholder 6"/>
          <p:cNvSpPr>
            <a:spLocks noGrp="1"/>
          </p:cNvSpPr>
          <p:nvPr>
            <p:ph type="sldNum" sz="quarter" idx="5"/>
          </p:nvPr>
        </p:nvSpPr>
        <p:spPr>
          <a:xfrm>
            <a:off x="4021295" y="9721106"/>
            <a:ext cx="3076363" cy="511730"/>
          </a:xfrm>
          <a:prstGeom prst="rect">
            <a:avLst/>
          </a:prstGeom>
        </p:spPr>
        <p:txBody>
          <a:bodyPr vert="horz" lIns="94759" tIns="47380" rIns="94759" bIns="47380" rtlCol="0" anchor="b"/>
          <a:lstStyle>
            <a:lvl1pPr algn="r">
              <a:defRPr sz="1200">
                <a:latin typeface="Helvetica" pitchFamily="34" charset="0"/>
              </a:defRPr>
            </a:lvl1pPr>
          </a:lstStyle>
          <a:p>
            <a:fld id="{006CD3C9-0AF2-437D-9D2F-7B6B298CC32F}" type="slidenum">
              <a:rPr lang="en-US" smtClean="0"/>
              <a:pPr/>
              <a:t>‹#›</a:t>
            </a:fld>
            <a:endParaRPr lang="en-US" dirty="0"/>
          </a:p>
        </p:txBody>
      </p:sp>
    </p:spTree>
    <p:extLst>
      <p:ext uri="{BB962C8B-B14F-4D97-AF65-F5344CB8AC3E}">
        <p14:creationId xmlns:p14="http://schemas.microsoft.com/office/powerpoint/2010/main" val="3155990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Helvetica" pitchFamily="34" charset="0"/>
        <a:ea typeface="+mn-ea"/>
        <a:cs typeface="+mn-cs"/>
      </a:defRPr>
    </a:lvl1pPr>
    <a:lvl2pPr marL="457200" algn="l" defTabSz="914400" rtl="0" eaLnBrk="1" latinLnBrk="0" hangingPunct="1">
      <a:defRPr sz="1200" kern="1200">
        <a:solidFill>
          <a:schemeClr val="tx1"/>
        </a:solidFill>
        <a:latin typeface="Helvetica" pitchFamily="34" charset="0"/>
        <a:ea typeface="+mn-ea"/>
        <a:cs typeface="+mn-cs"/>
      </a:defRPr>
    </a:lvl2pPr>
    <a:lvl3pPr marL="914400" algn="l" defTabSz="914400" rtl="0" eaLnBrk="1" latinLnBrk="0" hangingPunct="1">
      <a:defRPr sz="1200" kern="1200">
        <a:solidFill>
          <a:schemeClr val="tx1"/>
        </a:solidFill>
        <a:latin typeface="Helvetica" pitchFamily="34" charset="0"/>
        <a:ea typeface="+mn-ea"/>
        <a:cs typeface="+mn-cs"/>
      </a:defRPr>
    </a:lvl3pPr>
    <a:lvl4pPr marL="1371600" algn="l" defTabSz="914400" rtl="0" eaLnBrk="1" latinLnBrk="0" hangingPunct="1">
      <a:defRPr sz="1200" kern="1200">
        <a:solidFill>
          <a:schemeClr val="tx1"/>
        </a:solidFill>
        <a:latin typeface="Helvetica" pitchFamily="34" charset="0"/>
        <a:ea typeface="+mn-ea"/>
        <a:cs typeface="+mn-cs"/>
      </a:defRPr>
    </a:lvl4pPr>
    <a:lvl5pPr marL="1828800" algn="l" defTabSz="914400" rtl="0" eaLnBrk="1" latinLnBrk="0" hangingPunct="1">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8" Type="http://schemas.openxmlformats.org/officeDocument/2006/relationships/hyperlink" Target="http://www.ehow.com/how_6754029_make-good-travel-brochure.html" TargetMode="External"/><Relationship Id="rId3" Type="http://schemas.openxmlformats.org/officeDocument/2006/relationships/hyperlink" Target="http://latitudetravelservices.com.au/wholesale-travel-brochure/" TargetMode="External"/><Relationship Id="rId7" Type="http://schemas.openxmlformats.org/officeDocument/2006/relationships/hyperlink" Target="http://www.offtherack.com.au/effective-brochure-tips.html" TargetMode="External"/><Relationship Id="rId2" Type="http://schemas.openxmlformats.org/officeDocument/2006/relationships/slide" Target="../slides/slide9.xml"/><Relationship Id="rId1" Type="http://schemas.openxmlformats.org/officeDocument/2006/relationships/notesMaster" Target="../notesMasters/notesMaster1.xml"/><Relationship Id="rId6" Type="http://schemas.openxmlformats.org/officeDocument/2006/relationships/hyperlink" Target="http://aspiringbackpacker.com/2012/11/good-travel-brochure/" TargetMode="External"/><Relationship Id="rId5" Type="http://schemas.openxmlformats.org/officeDocument/2006/relationships/hyperlink" Target="http://businessbreaks.takeabreak.com.au/FrontDoor/LoungeRoom/Articles/TourismArticles/producing-a-tourism-brochure" TargetMode="External"/><Relationship Id="rId10" Type="http://schemas.openxmlformats.org/officeDocument/2006/relationships/hyperlink" Target="http://solihull-sustain.org.uk/uploads/leaflets-and-flyers.pdf" TargetMode="External"/><Relationship Id="rId4" Type="http://schemas.openxmlformats.org/officeDocument/2006/relationships/hyperlink" Target="http://en.wikipedia.org/wiki/Brochure" TargetMode="External"/><Relationship Id="rId9" Type="http://schemas.openxmlformats.org/officeDocument/2006/relationships/hyperlink" Target="http://travelinsider.qantas.com.au/destination-guides-index.htm"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www10.iadb.org/intal/intalcdi/PE/2012/10151.pdf" TargetMode="External"/><Relationship Id="rId7" Type="http://schemas.openxmlformats.org/officeDocument/2006/relationships/hyperlink" Target="http://www.tcr.gov.nl.ca/tcr/tourism/tourism_marketing/target_markets.html" TargetMode="External"/><Relationship Id="rId2" Type="http://schemas.openxmlformats.org/officeDocument/2006/relationships/slide" Target="../slides/slide27.xml"/><Relationship Id="rId1" Type="http://schemas.openxmlformats.org/officeDocument/2006/relationships/notesMaster" Target="../notesMasters/notesMaster1.xml"/><Relationship Id="rId6" Type="http://schemas.openxmlformats.org/officeDocument/2006/relationships/hyperlink" Target="http://www.tourism.australia.com/markets/market-regions.aspx" TargetMode="External"/><Relationship Id="rId5" Type="http://schemas.openxmlformats.org/officeDocument/2006/relationships/hyperlink" Target="http://www.tourism.australia.com/markets/youth-markets.aspx" TargetMode="External"/><Relationship Id="rId4" Type="http://schemas.openxmlformats.org/officeDocument/2006/relationships/hyperlink" Target="http://www.tourism.australia.com/markets/our-target-consumers.aspx" TargetMode="Externa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3" Type="http://schemas.openxmlformats.org/officeDocument/2006/relationships/hyperlink" Target="http://mywebwriters.wordpres.com/2011/08/29/marketing-content-for-brochures/" TargetMode="External"/><Relationship Id="rId7" Type="http://schemas.openxmlformats.org/officeDocument/2006/relationships/hyperlink" Target="http://www.smallbusiness.wa.gov.au/TourismBoost/marketing-tips-and-tricks/brochures/" TargetMode="External"/><Relationship Id="rId2" Type="http://schemas.openxmlformats.org/officeDocument/2006/relationships/slide" Target="../slides/slide33.xml"/><Relationship Id="rId1" Type="http://schemas.openxmlformats.org/officeDocument/2006/relationships/notesMaster" Target="../notesMasters/notesMaster1.xml"/><Relationship Id="rId6" Type="http://schemas.openxmlformats.org/officeDocument/2006/relationships/hyperlink" Target="http://marketing.about.com/od/directmarketin1/a/brochmktg.htm" TargetMode="External"/><Relationship Id="rId5" Type="http://schemas.openxmlformats.org/officeDocument/2006/relationships/hyperlink" Target="http://dorightmarketing.com/tag/brochure-content-writing/" TargetMode="External"/><Relationship Id="rId4" Type="http://schemas.openxmlformats.org/officeDocument/2006/relationships/hyperlink" Target="http://www.text-centric.com/brochure-copywriting-cheat-sheet/" TargetMode="Externa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3" Type="http://schemas.openxmlformats.org/officeDocument/2006/relationships/hyperlink" Target="http://www.brochureprinting.com/brochure-templates.html" TargetMode="External"/><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3" Type="http://schemas.openxmlformats.org/officeDocument/2006/relationships/hyperlink" Target="http://www.stocklayouts.com/Templates/Free-Templates/Free-Sample-Brochure-Template-Design.aspx" TargetMode="External"/><Relationship Id="rId7" Type="http://schemas.openxmlformats.org/officeDocument/2006/relationships/hyperlink" Target="http://www.wikihow.com/Design-Brochures" TargetMode="External"/><Relationship Id="rId2" Type="http://schemas.openxmlformats.org/officeDocument/2006/relationships/slide" Target="../slides/slide41.xml"/><Relationship Id="rId1" Type="http://schemas.openxmlformats.org/officeDocument/2006/relationships/notesMaster" Target="../notesMasters/notesMaster1.xml"/><Relationship Id="rId6" Type="http://schemas.openxmlformats.org/officeDocument/2006/relationships/hyperlink" Target="http://www.vtaide.com/gleanings/BrochureLayout.htm" TargetMode="External"/><Relationship Id="rId5" Type="http://schemas.openxmlformats.org/officeDocument/2006/relationships/hyperlink" Target="http://all-free-download.com/free-vector/brochure-layout-template.html" TargetMode="External"/><Relationship Id="rId4" Type="http://schemas.openxmlformats.org/officeDocument/2006/relationships/hyperlink" Target="http://www.stocklayouts.com/Templates/Brochure/Brochure-Templates-Designs.aspx" TargetMode="Externa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3" Type="http://schemas.openxmlformats.org/officeDocument/2006/relationships/hyperlink" Target="http://travel.cnn.com/explorations/life/deciphering-travel-marketing-lingo-911627" TargetMode="External"/><Relationship Id="rId2" Type="http://schemas.openxmlformats.org/officeDocument/2006/relationships/slide" Target="../slides/slide44.xml"/><Relationship Id="rId1" Type="http://schemas.openxmlformats.org/officeDocument/2006/relationships/notesMaster" Target="../notesMasters/notesMaster1.xml"/><Relationship Id="rId5" Type="http://schemas.openxmlformats.org/officeDocument/2006/relationships/hyperlink" Target="http://www.cms-cmck.com/Hubbard.FileSystem/files/Publication/50afd4a2-e2aa-4f0c-87be-073ab6b6a63f/Presentation/PublicationAttachment/b19a0c04-85a1-4106-8011-07c8ae8bcb51/HotelsJargonBrochure.pdf" TargetMode="External"/><Relationship Id="rId4" Type="http://schemas.openxmlformats.org/officeDocument/2006/relationships/hyperlink" Target="http://www.swallowtailprint.co.uk/news/articles/post/34-why-you-should-avoid-jargon-in-your-business-brochure" TargetMode="Externa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3" Type="http://schemas.openxmlformats.org/officeDocument/2006/relationships/hyperlink" Target="http://writing.wisc.edu/Handbook/Proofreading.html" TargetMode="External"/><Relationship Id="rId2" Type="http://schemas.openxmlformats.org/officeDocument/2006/relationships/slide" Target="../slides/slide73.xml"/><Relationship Id="rId1" Type="http://schemas.openxmlformats.org/officeDocument/2006/relationships/notesMaster" Target="../notesMasters/notesMaster1.xml"/><Relationship Id="rId5" Type="http://schemas.openxmlformats.org/officeDocument/2006/relationships/hyperlink" Target="http://www.wikihow.com/Copyedit-and-Proofread-Written-Work" TargetMode="External"/><Relationship Id="rId4" Type="http://schemas.openxmlformats.org/officeDocument/2006/relationships/hyperlink" Target="http://grammar.about.com/od/improveyourwriting/a/tipsproofreading.htm" TargetMode="Externa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3" Type="http://schemas.openxmlformats.org/officeDocument/2006/relationships/hyperlink" Target="http://www.bestprintingonline.com/brochure-printing-quote.asp" TargetMode="External"/><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3" Type="http://schemas.openxmlformats.org/officeDocument/2006/relationships/hyperlink" Target="http://www.sgflyerking.com/price.html" TargetMode="External"/><Relationship Id="rId2" Type="http://schemas.openxmlformats.org/officeDocument/2006/relationships/slide" Target="../slides/slide132.xml"/><Relationship Id="rId1" Type="http://schemas.openxmlformats.org/officeDocument/2006/relationships/notesMaster" Target="../notesMasters/notesMaster1.xml"/><Relationship Id="rId5" Type="http://schemas.openxmlformats.org/officeDocument/2006/relationships/hyperlink" Target="http://philippineflyerdistributor.webs.com/" TargetMode="External"/><Relationship Id="rId4" Type="http://schemas.openxmlformats.org/officeDocument/2006/relationships/hyperlink" Target="http://www.asiaprintmart.com/flyers_distributions.html" TargetMode="Externa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Trainer welcomes students to class.</a:t>
            </a:r>
          </a:p>
          <a:p>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a:t>
            </a:fld>
            <a:endParaRPr lang="en-US" dirty="0"/>
          </a:p>
        </p:txBody>
      </p:sp>
    </p:spTree>
    <p:extLst>
      <p:ext uri="{BB962C8B-B14F-4D97-AF65-F5344CB8AC3E}">
        <p14:creationId xmlns:p14="http://schemas.microsoft.com/office/powerpoint/2010/main" val="4264925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this Unit comprises five Elements, as listed on the slide explaining:</a:t>
            </a:r>
          </a:p>
          <a:p>
            <a:pPr marL="171450" indent="-171450">
              <a:buFont typeface="Arial" panose="020B0604020202020204" pitchFamily="34" charset="0"/>
              <a:buChar char="•"/>
            </a:pPr>
            <a:r>
              <a:rPr lang="en-AU" sz="1200" kern="1200" baseline="0" dirty="0" smtClean="0">
                <a:solidFill>
                  <a:schemeClr val="tx1"/>
                </a:solidFill>
                <a:ea typeface="+mn-ea"/>
                <a:cs typeface="+mn-cs"/>
              </a:rPr>
              <a:t>Each Element comprises a number of Performance Criteria which will be identified throughout the class and explained in detail</a:t>
            </a:r>
          </a:p>
          <a:p>
            <a:pPr marL="171450" indent="-171450">
              <a:buFont typeface="Arial" panose="020B0604020202020204" pitchFamily="34" charset="0"/>
              <a:buChar char="•"/>
            </a:pPr>
            <a:r>
              <a:rPr lang="en-AU" sz="1200" kern="1200" baseline="0" dirty="0" smtClean="0">
                <a:solidFill>
                  <a:schemeClr val="tx1"/>
                </a:solidFill>
                <a:ea typeface="+mn-ea"/>
                <a:cs typeface="+mn-cs"/>
              </a:rPr>
              <a:t>Trainees can obtain more detail from their Trainee Manual</a:t>
            </a:r>
          </a:p>
          <a:p>
            <a:pPr marL="171450" indent="-171450">
              <a:buFont typeface="Arial" panose="020B0604020202020204" pitchFamily="34" charset="0"/>
              <a:buChar char="•"/>
            </a:pPr>
            <a:r>
              <a:rPr lang="en-AU" sz="1200" kern="1200" baseline="0" dirty="0" smtClean="0">
                <a:solidFill>
                  <a:schemeClr val="tx1"/>
                </a:solidFill>
                <a:ea typeface="+mn-ea"/>
                <a:cs typeface="+mn-cs"/>
              </a:rPr>
              <a:t>At times the course presents advice and information about various protocols but where their workplace requirements differ to what is presented, the workplace practices and standards, as well as policies and procedures must be observed.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a:t>
            </a:fld>
            <a:endParaRPr lang="en-US" dirty="0"/>
          </a:p>
        </p:txBody>
      </p:sp>
    </p:spTree>
    <p:extLst>
      <p:ext uri="{BB962C8B-B14F-4D97-AF65-F5344CB8AC3E}">
        <p14:creationId xmlns:p14="http://schemas.microsoft.com/office/powerpoint/2010/main" val="594980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AU" sz="1200" kern="1200" baseline="0" dirty="0" smtClean="0">
                <a:solidFill>
                  <a:schemeClr val="tx1"/>
                </a:solidFill>
                <a:ea typeface="+mn-ea"/>
                <a:cs typeface="+mn-cs"/>
              </a:rPr>
              <a:t>Trainer advises trainees that assessment for this Unit may take several forms, all of which are aimed at verifying they have achieved competency for the Unit as required.</a:t>
            </a:r>
          </a:p>
          <a:p>
            <a:endParaRPr lang="en-AU" sz="1200" kern="1200" baseline="0" dirty="0" smtClean="0">
              <a:solidFill>
                <a:schemeClr val="tx1"/>
              </a:solidFill>
              <a:ea typeface="+mn-ea"/>
              <a:cs typeface="+mn-cs"/>
            </a:endParaRPr>
          </a:p>
          <a:p>
            <a:r>
              <a:rPr lang="en-AU" sz="1200" kern="1200" baseline="0" dirty="0" smtClean="0">
                <a:solidFill>
                  <a:schemeClr val="tx1"/>
                </a:solidFill>
                <a:ea typeface="+mn-ea"/>
                <a:cs typeface="+mn-cs"/>
              </a:rPr>
              <a:t>Trainer indicates to trainees the methods of assessment that will be applied to them for this Unit.</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a:t>
            </a:fld>
            <a:endParaRPr lang="en-US" dirty="0"/>
          </a:p>
        </p:txBody>
      </p:sp>
    </p:spTree>
    <p:extLst>
      <p:ext uri="{BB962C8B-B14F-4D97-AF65-F5344CB8AC3E}">
        <p14:creationId xmlns:p14="http://schemas.microsoft.com/office/powerpoint/2010/main" val="26577185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baseline="0" dirty="0" smtClean="0"/>
              <a:t>What do you know about travel and tourism brochures?</a:t>
            </a:r>
          </a:p>
          <a:p>
            <a:pPr marL="171450" indent="-171450">
              <a:buFont typeface="Arial" pitchFamily="34" charset="0"/>
              <a:buChar char="•"/>
            </a:pPr>
            <a:r>
              <a:rPr lang="en-US" baseline="0" dirty="0" smtClean="0"/>
              <a:t>When and why are they used?</a:t>
            </a:r>
          </a:p>
          <a:p>
            <a:pPr marL="171450" indent="-171450">
              <a:buFont typeface="Arial" pitchFamily="34" charset="0"/>
              <a:buChar char="•"/>
            </a:pPr>
            <a:r>
              <a:rPr lang="en-US" baseline="0" dirty="0" smtClean="0"/>
              <a:t>What is contained in them?</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baseline="0" dirty="0" smtClean="0"/>
              <a:t>What are ‘marketing materials’?</a:t>
            </a:r>
          </a:p>
          <a:p>
            <a:pPr>
              <a:buFont typeface="Arial" pitchFamily="34" charset="0"/>
              <a:buChar char="•"/>
            </a:pPr>
            <a:endParaRPr lang="en-US" baseline="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a:t>
            </a:fld>
            <a:endParaRPr lang="en-US" dirty="0"/>
          </a:p>
        </p:txBody>
      </p:sp>
    </p:spTree>
    <p:extLst>
      <p:ext uri="{BB962C8B-B14F-4D97-AF65-F5344CB8AC3E}">
        <p14:creationId xmlns:p14="http://schemas.microsoft.com/office/powerpoint/2010/main" val="33153847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indicates </a:t>
            </a:r>
            <a:r>
              <a:rPr lang="en-AU" sz="1200" kern="1200" dirty="0" smtClean="0">
                <a:solidFill>
                  <a:schemeClr val="tx1"/>
                </a:solidFill>
                <a:ea typeface="+mn-ea"/>
                <a:cs typeface="+mn-cs"/>
              </a:rPr>
              <a:t>the phrase ‘brochures and marketing materials’ is a generic term referring to any form of items used by a business to promote their travel agency or tour operation business:</a:t>
            </a:r>
          </a:p>
          <a:p>
            <a:pPr marL="171450" indent="-171450">
              <a:buFont typeface="Arial" pitchFamily="34" charset="0"/>
              <a:buChar char="•"/>
            </a:pPr>
            <a:r>
              <a:rPr lang="en-AU" sz="1200" kern="1200" dirty="0" smtClean="0">
                <a:solidFill>
                  <a:schemeClr val="tx1"/>
                </a:solidFill>
                <a:ea typeface="+mn-ea"/>
                <a:cs typeface="+mn-cs"/>
              </a:rPr>
              <a:t>Often these items are paper-based but the definition also embraces other items used to advertise and promote the organisation and what it has to offer.</a:t>
            </a:r>
          </a:p>
          <a:p>
            <a:pPr marL="171450" indent="-171450">
              <a:buFont typeface="Arial" pitchFamily="34" charset="0"/>
              <a:buChar char="•"/>
            </a:pPr>
            <a:r>
              <a:rPr lang="en-AU" sz="1200" kern="1200" dirty="0" smtClean="0">
                <a:solidFill>
                  <a:schemeClr val="tx1"/>
                </a:solidFill>
                <a:ea typeface="+mn-ea"/>
                <a:cs typeface="+mn-cs"/>
              </a:rPr>
              <a:t>The items may be produced:</a:t>
            </a:r>
          </a:p>
          <a:p>
            <a:pPr marL="628650" lvl="1" indent="-171450">
              <a:buFont typeface="Arial" pitchFamily="34" charset="0"/>
              <a:buChar char="•"/>
            </a:pPr>
            <a:r>
              <a:rPr lang="en-AU" sz="1200" kern="1200" dirty="0" smtClean="0">
                <a:solidFill>
                  <a:schemeClr val="tx1"/>
                </a:solidFill>
                <a:ea typeface="+mn-ea"/>
                <a:cs typeface="+mn-cs"/>
              </a:rPr>
              <a:t>Solely by the business – operating entirely on its own</a:t>
            </a:r>
          </a:p>
          <a:p>
            <a:pPr marL="628650" lvl="1" indent="-171450">
              <a:buFont typeface="Arial" pitchFamily="34" charset="0"/>
              <a:buChar char="•"/>
            </a:pPr>
            <a:r>
              <a:rPr lang="en-AU" sz="1200" kern="1200" dirty="0" smtClean="0">
                <a:solidFill>
                  <a:schemeClr val="tx1"/>
                </a:solidFill>
                <a:ea typeface="+mn-ea"/>
                <a:cs typeface="+mn-cs"/>
              </a:rPr>
              <a:t>As a partnership arrangement with a joint-venture partner – such as when materials are prepared in cooperation with a carrier, destination, attraction or other business</a:t>
            </a:r>
          </a:p>
          <a:p>
            <a:pPr marL="628650" lvl="1" indent="-171450">
              <a:buFont typeface="Arial" pitchFamily="34" charset="0"/>
              <a:buChar char="•"/>
            </a:pPr>
            <a:r>
              <a:rPr lang="en-AU" sz="1200" kern="1200" dirty="0" smtClean="0">
                <a:solidFill>
                  <a:schemeClr val="tx1"/>
                </a:solidFill>
                <a:ea typeface="+mn-ea"/>
                <a:cs typeface="+mn-cs"/>
              </a:rPr>
              <a:t>For the wholesale market – for other businesses, agencies, sales staff and partners operating as co-partners in the industry and advising them of what is available: the materials provided to this sector contains commercially confidential information/detail (prices, terms, facts, figures) not released to the general public</a:t>
            </a:r>
          </a:p>
          <a:p>
            <a:pPr marL="628650" lvl="1" indent="-171450">
              <a:buFont typeface="Arial" pitchFamily="34" charset="0"/>
              <a:buChar char="•"/>
            </a:pPr>
            <a:r>
              <a:rPr lang="en-AU" sz="1200" kern="1200" dirty="0" smtClean="0">
                <a:solidFill>
                  <a:schemeClr val="tx1"/>
                </a:solidFill>
                <a:ea typeface="+mn-ea"/>
                <a:cs typeface="+mn-cs"/>
              </a:rPr>
              <a:t>For the retail market – these are the materials generated for distribution/release to the general public/the paying customers who will buy the tours and purchase the travel.</a:t>
            </a:r>
          </a:p>
          <a:p>
            <a:pPr lvl="1">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a:t>
            </a:fld>
            <a:endParaRPr lang="en-US" dirty="0"/>
          </a:p>
        </p:txBody>
      </p:sp>
    </p:spTree>
    <p:extLst>
      <p:ext uri="{BB962C8B-B14F-4D97-AF65-F5344CB8AC3E}">
        <p14:creationId xmlns:p14="http://schemas.microsoft.com/office/powerpoint/2010/main" val="37425902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noProof="0" dirty="0" smtClean="0"/>
              <a:t>Trainer introduces examples of </a:t>
            </a:r>
            <a:r>
              <a:rPr lang="en-AU" sz="1200" b="0" kern="1200" dirty="0" smtClean="0">
                <a:solidFill>
                  <a:schemeClr val="tx1"/>
                </a:solidFill>
                <a:ea typeface="+mn-ea"/>
                <a:cs typeface="+mn-cs"/>
              </a:rPr>
              <a:t>brochures and marketing materials stating </a:t>
            </a:r>
            <a:r>
              <a:rPr lang="en-AU" sz="1200" kern="1200" dirty="0" smtClean="0">
                <a:solidFill>
                  <a:schemeClr val="tx1"/>
                </a:solidFill>
                <a:ea typeface="+mn-ea"/>
                <a:cs typeface="+mn-cs"/>
              </a:rPr>
              <a:t>travel agencies and tour operators have traditionally used the following items:</a:t>
            </a:r>
          </a:p>
          <a:p>
            <a:pPr marL="171450" indent="-171450">
              <a:buFont typeface="Arial" pitchFamily="34" charset="0"/>
              <a:buChar char="•"/>
            </a:pPr>
            <a:r>
              <a:rPr lang="en-AU" sz="1200" kern="1200" dirty="0" smtClean="0">
                <a:solidFill>
                  <a:schemeClr val="tx1"/>
                </a:solidFill>
                <a:ea typeface="+mn-ea"/>
                <a:cs typeface="+mn-cs"/>
              </a:rPr>
              <a:t>Product and service brochures – these are ‘general purpose’ items which give an indication of (for example):</a:t>
            </a:r>
          </a:p>
          <a:p>
            <a:pPr marL="628650" lvl="1" indent="-171450">
              <a:buFont typeface="Arial" pitchFamily="34" charset="0"/>
              <a:buChar char="•"/>
            </a:pPr>
            <a:r>
              <a:rPr lang="en-US" sz="1200" kern="1200" dirty="0" smtClean="0">
                <a:solidFill>
                  <a:schemeClr val="tx1"/>
                </a:solidFill>
                <a:ea typeface="+mn-ea"/>
                <a:cs typeface="+mn-cs"/>
              </a:rPr>
              <a:t>Who the business is, what is does, where it is located and how to make contact with it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How long it has been in operation, the quality and credentials of its staff, special awards the business has won and testimonies from happy/satisfied customers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 the products available (such as all the different tours and packages) giving sufficient detail (departure dates, names of destinations and inclusions but not giving all the detail of accommodation, side-tours, activities and options) to enable an understanding of the </a:t>
            </a:r>
            <a:r>
              <a:rPr lang="en-US" sz="1200" i="1" kern="1200" dirty="0" smtClean="0">
                <a:solidFill>
                  <a:schemeClr val="tx1"/>
                </a:solidFill>
                <a:ea typeface="+mn-ea"/>
                <a:cs typeface="+mn-cs"/>
              </a:rPr>
              <a:t>basics</a:t>
            </a:r>
            <a:r>
              <a:rPr lang="en-US" sz="1200" kern="1200" dirty="0" smtClean="0">
                <a:solidFill>
                  <a:schemeClr val="tx1"/>
                </a:solidFill>
                <a:ea typeface="+mn-ea"/>
                <a:cs typeface="+mn-cs"/>
              </a:rPr>
              <a:t> of the product so comparisons can be made with other products listed in the same document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 the services available again limiting information provided just to the generalities but sufficient to give an impression of what is able to be purchased</a:t>
            </a:r>
            <a:endParaRPr lang="en-AU" sz="1200" kern="1200" dirty="0" smtClean="0">
              <a:solidFill>
                <a:schemeClr val="tx1"/>
              </a:solidFill>
              <a:ea typeface="+mn-ea"/>
              <a:cs typeface="+mn-cs"/>
            </a:endParaRPr>
          </a:p>
          <a:p>
            <a:pPr marL="1085850" lvl="2" indent="-171450">
              <a:buFont typeface="Arial" pitchFamily="34" charset="0"/>
              <a:buChar char="•"/>
            </a:pPr>
            <a:r>
              <a:rPr lang="en-AU" sz="1200" kern="1200" dirty="0" smtClean="0">
                <a:solidFill>
                  <a:schemeClr val="tx1"/>
                </a:solidFill>
                <a:ea typeface="+mn-ea"/>
                <a:cs typeface="+mn-cs"/>
              </a:rPr>
              <a:t>These brochures are designed to attract attention and spike the interest of customers so they make further enquiries and/or obtain a copy of a tour-specific or travel-specific item to gain extra detail about the product/service they are interested in.</a:t>
            </a:r>
          </a:p>
          <a:p>
            <a:pPr marL="171450" indent="-171450">
              <a:buFont typeface="Arial" pitchFamily="34" charset="0"/>
              <a:buChar char="•"/>
            </a:pPr>
            <a:r>
              <a:rPr lang="en-AU" sz="1200" kern="1200" dirty="0" smtClean="0">
                <a:solidFill>
                  <a:schemeClr val="tx1"/>
                </a:solidFill>
                <a:ea typeface="+mn-ea"/>
                <a:cs typeface="+mn-cs"/>
              </a:rPr>
              <a:t>Destination guides – these are detailed guides providing information and advice about one (or more) destinations.</a:t>
            </a:r>
          </a:p>
          <a:p>
            <a:pPr marL="628650" lvl="1" indent="-171450">
              <a:buFont typeface="Arial" pitchFamily="34" charset="0"/>
              <a:buChar char="•"/>
            </a:pPr>
            <a:r>
              <a:rPr lang="en-AU" sz="1200" kern="1200" dirty="0" smtClean="0">
                <a:solidFill>
                  <a:schemeClr val="tx1"/>
                </a:solidFill>
                <a:ea typeface="+mn-ea"/>
                <a:cs typeface="+mn-cs"/>
              </a:rPr>
              <a:t>The brochure may cover all the destinations which will be visited on a trip/tour.</a:t>
            </a:r>
          </a:p>
          <a:p>
            <a:pPr marL="628650" lvl="1" indent="-171450">
              <a:buFont typeface="Arial" pitchFamily="34" charset="0"/>
              <a:buChar char="•"/>
            </a:pPr>
            <a:r>
              <a:rPr lang="en-AU" sz="1200" kern="1200" dirty="0" smtClean="0">
                <a:solidFill>
                  <a:schemeClr val="tx1"/>
                </a:solidFill>
                <a:ea typeface="+mn-ea"/>
                <a:cs typeface="+mn-cs"/>
              </a:rPr>
              <a:t>It is designed to create interest and generate enthusiasm for travel.</a:t>
            </a:r>
          </a:p>
          <a:p>
            <a:pPr marL="171450" indent="-171450">
              <a:buFont typeface="Arial" pitchFamily="34" charset="0"/>
              <a:buChar char="•"/>
            </a:pPr>
            <a:r>
              <a:rPr lang="en-AU" sz="1200" kern="1200" dirty="0" smtClean="0">
                <a:solidFill>
                  <a:schemeClr val="tx1"/>
                </a:solidFill>
                <a:ea typeface="+mn-ea"/>
                <a:cs typeface="+mn-cs"/>
              </a:rPr>
              <a:t>Promotional flyers (or ‘fliers’) and leaflets – these are handbills or circulars commonly (but not always) consisting simply of a single page containing basic information designed and intended:</a:t>
            </a:r>
          </a:p>
          <a:p>
            <a:pPr marL="628650" lvl="1" indent="-171450">
              <a:buFont typeface="Arial" pitchFamily="34" charset="0"/>
              <a:buChar char="•"/>
            </a:pPr>
            <a:r>
              <a:rPr lang="en-US" sz="1200" kern="1200" dirty="0" smtClean="0">
                <a:solidFill>
                  <a:schemeClr val="tx1"/>
                </a:solidFill>
                <a:ea typeface="+mn-ea"/>
                <a:cs typeface="+mn-cs"/>
              </a:rPr>
              <a:t>To be relatively inexpensive – these are perhaps the least expensive form of ‘brochure and marketing material’ created by a business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For mass distribution – that is they are handed out to ‘everyone’ instead of being targeted to a defined market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To create attention and raise interest in the topic which if the focus of the flyer/leaflet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To direct interested customers to another source for more information – such as a website, an office/agency or a telephone number</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examples of</a:t>
            </a:r>
            <a:r>
              <a:rPr lang="en-US" b="0" baseline="0" noProof="0" dirty="0" smtClean="0"/>
              <a:t> items as described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a:t>
            </a:fld>
            <a:endParaRPr lang="en-US" dirty="0"/>
          </a:p>
        </p:txBody>
      </p:sp>
    </p:spTree>
    <p:extLst>
      <p:ext uri="{BB962C8B-B14F-4D97-AF65-F5344CB8AC3E}">
        <p14:creationId xmlns:p14="http://schemas.microsoft.com/office/powerpoint/2010/main" val="12840712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US" noProof="0" dirty="0" smtClean="0"/>
              <a:t>Trainer continues giving examples of items:</a:t>
            </a:r>
          </a:p>
          <a:p>
            <a:pPr marL="171450" indent="-171450">
              <a:buFont typeface="Arial" pitchFamily="34" charset="0"/>
              <a:buChar char="•"/>
            </a:pPr>
            <a:r>
              <a:rPr lang="en-AU" sz="1200" kern="1200" dirty="0" smtClean="0">
                <a:solidFill>
                  <a:schemeClr val="tx1"/>
                </a:solidFill>
                <a:ea typeface="+mn-ea"/>
                <a:cs typeface="+mn-cs"/>
              </a:rPr>
              <a:t>Conference programs, registration/advertorial forms and event prospectus – this relates specifically to advertising aimed at those who are/will be attending events (MICE). The materials may be:</a:t>
            </a:r>
          </a:p>
          <a:p>
            <a:pPr marL="628650" lvl="1" indent="-171450">
              <a:buFont typeface="Arial" pitchFamily="34" charset="0"/>
              <a:buChar char="•"/>
            </a:pPr>
            <a:r>
              <a:rPr lang="en-US" sz="1200" kern="1200" dirty="0" smtClean="0">
                <a:solidFill>
                  <a:schemeClr val="tx1"/>
                </a:solidFill>
                <a:ea typeface="+mn-ea"/>
                <a:cs typeface="+mn-cs"/>
              </a:rPr>
              <a:t>Integrated into the physical MICE program or prospectus handed out to people who attend – and may entail the tour/travel business paying for the printing of the programs in return for promoting their business and having sole access to attendees via this medium</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Integrated into the registration forms sent to attendees to pre-register for MICE – thereby gaining direct and targeted access to people who will/might be attending and may need the products and/or services being promoted by the travel/tour organisation.</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Display material – this refers to items used in the office to display the trips, tours and travel) products and services) the business has for sale. They are frequently used:</a:t>
            </a:r>
          </a:p>
          <a:p>
            <a:pPr marL="628650" lvl="1" indent="-171450">
              <a:buFont typeface="Arial" pitchFamily="34" charset="0"/>
              <a:buChar char="•"/>
            </a:pPr>
            <a:r>
              <a:rPr lang="en-US" sz="1200" kern="1200" dirty="0" smtClean="0">
                <a:solidFill>
                  <a:schemeClr val="tx1"/>
                </a:solidFill>
                <a:ea typeface="+mn-ea"/>
                <a:cs typeface="+mn-cs"/>
              </a:rPr>
              <a:t>In or at (outside) the office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 an agency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 the office of a joint venture partner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At a sales event – such as a travel and tourism exhibition or to support a stand/display at a shopping centre or some other ‘pop-up’ event or location.</a:t>
            </a:r>
            <a:endParaRPr lang="en-AU" sz="1200" kern="1200" dirty="0" smtClean="0">
              <a:solidFill>
                <a:schemeClr val="tx1"/>
              </a:solidFill>
              <a:ea typeface="+mn-ea"/>
              <a:cs typeface="+mn-cs"/>
            </a:endParaRPr>
          </a:p>
          <a:p>
            <a:pPr marL="1085850" lvl="2" indent="-171450">
              <a:buFont typeface="Arial" pitchFamily="34" charset="0"/>
              <a:buChar char="•"/>
            </a:pPr>
            <a:r>
              <a:rPr lang="en-AU" sz="1200" kern="1200" dirty="0" smtClean="0">
                <a:solidFill>
                  <a:schemeClr val="tx1"/>
                </a:solidFill>
                <a:ea typeface="+mn-ea"/>
                <a:cs typeface="+mn-cs"/>
              </a:rPr>
              <a:t>They:</a:t>
            </a:r>
          </a:p>
          <a:p>
            <a:pPr marL="1543050" lvl="3" indent="-171450">
              <a:buFont typeface="Arial" pitchFamily="34" charset="0"/>
              <a:buChar char="•"/>
            </a:pPr>
            <a:r>
              <a:rPr lang="en-US" sz="1200" kern="1200" dirty="0" smtClean="0">
                <a:solidFill>
                  <a:schemeClr val="tx1"/>
                </a:solidFill>
                <a:ea typeface="+mn-ea"/>
                <a:cs typeface="+mn-cs"/>
              </a:rPr>
              <a:t>Need to remain current</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Must be eye-catching</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Often need to support a certain sales/marketing campaign</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examples of</a:t>
            </a:r>
            <a:r>
              <a:rPr lang="en-US" b="0" baseline="0" noProof="0" dirty="0" smtClean="0"/>
              <a:t> items as described on the slide.</a:t>
            </a:r>
            <a:endParaRPr lang="en-AU" b="0" noProof="0" dirty="0" smtClean="0"/>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a:t>
            </a:fld>
            <a:endParaRPr lang="en-US" dirty="0"/>
          </a:p>
        </p:txBody>
      </p:sp>
    </p:spTree>
    <p:extLst>
      <p:ext uri="{BB962C8B-B14F-4D97-AF65-F5344CB8AC3E}">
        <p14:creationId xmlns:p14="http://schemas.microsoft.com/office/powerpoint/2010/main" val="30543778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noProof="0" dirty="0" smtClean="0"/>
              <a:t>Trainer continues giving examples of items:</a:t>
            </a:r>
          </a:p>
          <a:p>
            <a:pPr marL="171450" indent="-171450">
              <a:buFont typeface="Arial" pitchFamily="34" charset="0"/>
              <a:buChar char="•"/>
            </a:pPr>
            <a:r>
              <a:rPr lang="en-AU" sz="1200" kern="1200" dirty="0" smtClean="0">
                <a:solidFill>
                  <a:schemeClr val="tx1"/>
                </a:solidFill>
                <a:ea typeface="+mn-ea"/>
                <a:cs typeface="+mn-cs"/>
              </a:rPr>
              <a:t>Information kits – these are develop for various reasons such as to: </a:t>
            </a:r>
          </a:p>
          <a:p>
            <a:pPr marL="628650" lvl="1" indent="-171450">
              <a:buFont typeface="Arial" pitchFamily="34" charset="0"/>
              <a:buChar char="•"/>
            </a:pPr>
            <a:r>
              <a:rPr lang="en-US" sz="1200" kern="1200" dirty="0" smtClean="0">
                <a:solidFill>
                  <a:schemeClr val="tx1"/>
                </a:solidFill>
                <a:ea typeface="+mn-ea"/>
                <a:cs typeface="+mn-cs"/>
              </a:rPr>
              <a:t>Give to people who visit displays/stands at an exhibition or some other sales/promotional event – these kits may feature information about the company and generic items on different carriers, destinations, packages, schedules, price lists as well as some lower-grade/value merchandise (pens, pencils, rulers, caps)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Provide potential customers with detailed information about an intended trip, tour, destination or itinerary – the idea being to supply more compelling reasons for the people to purchase the ticket (trip, tour/product/service)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Supply actual customers (that is, people who have actually bought a product/service) with even more detail and information about the destinations, countries, attractions they are going to see, visit and experience. This is all part of building the excitement and anticipation as well as demonstrating professionalism in terms of customer service.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Product support materials – these items are developed to assist users/customers make the most of the products and services they have purchased. They are frequently used by sales staff to help </a:t>
            </a:r>
            <a:r>
              <a:rPr lang="en-AU" sz="1200" i="1" kern="1200" dirty="0" smtClean="0">
                <a:solidFill>
                  <a:schemeClr val="tx1"/>
                </a:solidFill>
                <a:ea typeface="+mn-ea"/>
                <a:cs typeface="+mn-cs"/>
              </a:rPr>
              <a:t>make</a:t>
            </a:r>
            <a:r>
              <a:rPr lang="en-AU" sz="1200" kern="1200" dirty="0" smtClean="0">
                <a:solidFill>
                  <a:schemeClr val="tx1"/>
                </a:solidFill>
                <a:ea typeface="+mn-ea"/>
                <a:cs typeface="+mn-cs"/>
              </a:rPr>
              <a:t> the sale but are predominantly intended for use by the purchase so they can:</a:t>
            </a:r>
          </a:p>
          <a:p>
            <a:pPr marL="628650" lvl="1" indent="-171450">
              <a:buFont typeface="Arial" pitchFamily="34" charset="0"/>
              <a:buChar char="•"/>
            </a:pPr>
            <a:r>
              <a:rPr lang="en-US" sz="1200" kern="1200" dirty="0" smtClean="0">
                <a:solidFill>
                  <a:schemeClr val="tx1"/>
                </a:solidFill>
                <a:ea typeface="+mn-ea"/>
                <a:cs typeface="+mn-cs"/>
              </a:rPr>
              <a:t>Learn about the product/service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Instruct customers on what to do and what not to do</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Give tips and advice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Show diagrams and photos of actual use of products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Explain aspects and parts of items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Direct people to other sources for even more information or advice.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Advertising materials – this is a very wide classification of marketing materials. Advertising is communication with customers and/or potential customers which is paid for by the business (as opposed to similar communication which is </a:t>
            </a:r>
            <a:r>
              <a:rPr lang="en-AU" sz="1200" i="1" kern="1200" dirty="0" smtClean="0">
                <a:solidFill>
                  <a:schemeClr val="tx1"/>
                </a:solidFill>
                <a:ea typeface="+mn-ea"/>
                <a:cs typeface="+mn-cs"/>
              </a:rPr>
              <a:t>unpaid</a:t>
            </a:r>
            <a:r>
              <a:rPr lang="en-AU" sz="1200" kern="1200" dirty="0" smtClean="0">
                <a:solidFill>
                  <a:schemeClr val="tx1"/>
                </a:solidFill>
                <a:ea typeface="+mn-ea"/>
                <a:cs typeface="+mn-cs"/>
              </a:rPr>
              <a:t> – such as PR). Advertising materials can therefore cover things such as: </a:t>
            </a:r>
          </a:p>
          <a:p>
            <a:pPr marL="628650" lvl="1" indent="-171450">
              <a:buFont typeface="Arial" pitchFamily="34" charset="0"/>
              <a:buChar char="•"/>
            </a:pPr>
            <a:r>
              <a:rPr lang="en-US" sz="1200" kern="1200" dirty="0" smtClean="0">
                <a:solidFill>
                  <a:schemeClr val="tx1"/>
                </a:solidFill>
                <a:ea typeface="+mn-ea"/>
                <a:cs typeface="+mn-cs"/>
              </a:rPr>
              <a:t>Media advertisements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CDs and DVDs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Posters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Billboards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examples of</a:t>
            </a:r>
            <a:r>
              <a:rPr lang="en-US" b="0" baseline="0" noProof="0" dirty="0" smtClean="0"/>
              <a:t> items as described on the slide.</a:t>
            </a:r>
            <a:endParaRPr lang="en-AU" b="0" noProof="0" dirty="0" smtClean="0"/>
          </a:p>
          <a:p>
            <a:pPr>
              <a:buFont typeface="Arial" pitchFamily="34" charset="0"/>
              <a:buNone/>
            </a:pP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8</a:t>
            </a:fld>
            <a:endParaRPr lang="en-US" dirty="0"/>
          </a:p>
        </p:txBody>
      </p:sp>
    </p:spTree>
    <p:extLst>
      <p:ext uri="{BB962C8B-B14F-4D97-AF65-F5344CB8AC3E}">
        <p14:creationId xmlns:p14="http://schemas.microsoft.com/office/powerpoint/2010/main" val="37612772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giving examples of items:</a:t>
            </a:r>
          </a:p>
          <a:p>
            <a:pPr marL="171450" indent="-171450">
              <a:buFont typeface="Arial" pitchFamily="34" charset="0"/>
              <a:buChar char="•"/>
            </a:pPr>
            <a:r>
              <a:rPr lang="en-AU" sz="1200" kern="1200" dirty="0" smtClean="0">
                <a:solidFill>
                  <a:schemeClr val="tx1"/>
                </a:solidFill>
                <a:ea typeface="+mn-ea"/>
                <a:cs typeface="+mn-cs"/>
              </a:rPr>
              <a:t>Direct mail items – these are items sent directly to:   </a:t>
            </a:r>
          </a:p>
          <a:p>
            <a:pPr marL="628650" lvl="1" indent="-171450">
              <a:buFont typeface="Arial" pitchFamily="34" charset="0"/>
              <a:buChar char="•"/>
            </a:pPr>
            <a:r>
              <a:rPr lang="en-US" sz="1200" kern="1200" dirty="0" smtClean="0">
                <a:solidFill>
                  <a:schemeClr val="tx1"/>
                </a:solidFill>
                <a:ea typeface="+mn-ea"/>
                <a:cs typeface="+mn-cs"/>
              </a:rPr>
              <a:t>Those who request them</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Targetted recipients on the company database – when the organisation has a new product/service they believe will be of interest to the individual.</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The direct mail items will generally include:</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A covering letter explaining the offer/product/service</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Additional items as appropriate to the nature of the product/service as listed in this section (flyers, information kits, merchandising goods).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Invitations – these may be sent to people when the organisation wishes to:</a:t>
            </a:r>
          </a:p>
          <a:p>
            <a:pPr marL="628650" lvl="1" indent="-171450">
              <a:buFont typeface="Arial" pitchFamily="34" charset="0"/>
              <a:buChar char="•"/>
            </a:pPr>
            <a:r>
              <a:rPr lang="en-US" sz="1200" kern="1200" dirty="0" smtClean="0">
                <a:solidFill>
                  <a:schemeClr val="tx1"/>
                </a:solidFill>
                <a:ea typeface="+mn-ea"/>
                <a:cs typeface="+mn-cs"/>
              </a:rPr>
              <a:t>Make them aware of a new product/service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Ask them to participate in a feedback session or focus group</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Reward them for certain levels of buying/loyalty.</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Invitations may be sent to:</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Regular customers</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People who have never bought from the business but have made an enquiry or shown interest/expressed an interest in what is available</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Individuals, families, groups and clubs, companies, government bodies and the media</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Merchandising goods – this relates to products the organisation produces which: </a:t>
            </a:r>
          </a:p>
          <a:p>
            <a:pPr marL="628650" lvl="1" indent="-171450">
              <a:buFont typeface="Arial" pitchFamily="34" charset="0"/>
              <a:buChar char="•"/>
            </a:pPr>
            <a:r>
              <a:rPr lang="en-US" sz="1200" kern="1200" dirty="0" smtClean="0">
                <a:solidFill>
                  <a:schemeClr val="tx1"/>
                </a:solidFill>
                <a:ea typeface="+mn-ea"/>
                <a:cs typeface="+mn-cs"/>
              </a:rPr>
              <a:t>Carry its name/logo</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Are offered as inducements to make sales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Are distributed to promote the company and products/services it offers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Are given away to customers who make a purchase – as part of the inclusions for a trip/tour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May be available for people to purchase as separate/stand-alone items.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These need to change from time-to-time as/when:</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New/revised products/services are developed and offered for sale</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The orgnisation enters into new partnerships with other businesses</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Re-branding of the business occurs</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A new sales campaign starts.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(1) – Handouts</a:t>
            </a:r>
          </a:p>
          <a:p>
            <a:pPr>
              <a:buFont typeface="Arial" pitchFamily="34" charset="0"/>
              <a:buNone/>
            </a:pPr>
            <a:r>
              <a:rPr lang="en-US" b="0" noProof="0" dirty="0" smtClean="0"/>
              <a:t>Trainer distributes and discusses examples of</a:t>
            </a:r>
            <a:r>
              <a:rPr lang="en-US" b="0" baseline="0" noProof="0" dirty="0" smtClean="0"/>
              <a:t> items as described on the slide.</a:t>
            </a:r>
          </a:p>
          <a:p>
            <a:pPr>
              <a:buFont typeface="Arial" pitchFamily="34" charset="0"/>
              <a:buNone/>
            </a:pPr>
            <a:endParaRPr lang="en-US" b="0" baseline="0" noProof="0" dirty="0" smtClean="0"/>
          </a:p>
          <a:p>
            <a:pPr>
              <a:buFont typeface="Arial" pitchFamily="34" charset="0"/>
              <a:buNone/>
            </a:pPr>
            <a:r>
              <a:rPr lang="en-US" b="1" baseline="0" noProof="0" dirty="0" smtClean="0"/>
              <a:t>Classroom Activity (2) – Internet Research</a:t>
            </a:r>
          </a:p>
          <a:p>
            <a:pPr>
              <a:buFont typeface="Arial" pitchFamily="34" charset="0"/>
              <a:buNone/>
            </a:pPr>
            <a:r>
              <a:rPr lang="en-US" b="0" noProof="0" dirty="0" smtClean="0"/>
              <a:t>Trainer facilitates online research and discussion relating to relevant sites such as:</a:t>
            </a:r>
          </a:p>
          <a:p>
            <a:pPr marL="171450" indent="-171450">
              <a:buFont typeface="Arial" pitchFamily="34" charset="0"/>
              <a:buChar char="•"/>
            </a:pPr>
            <a:r>
              <a:rPr lang="en-AU" sz="1200" kern="1200" dirty="0" smtClean="0">
                <a:solidFill>
                  <a:schemeClr val="tx1"/>
                </a:solidFill>
                <a:ea typeface="+mn-ea"/>
                <a:cs typeface="+mn-cs"/>
              </a:rPr>
              <a:t>Wholesale travel brochure at </a:t>
            </a:r>
            <a:r>
              <a:rPr lang="en-AU" sz="1200" u="sng" kern="1200" dirty="0" smtClean="0">
                <a:solidFill>
                  <a:schemeClr val="tx1"/>
                </a:solidFill>
                <a:ea typeface="+mn-ea"/>
                <a:cs typeface="+mn-cs"/>
                <a:hlinkClick r:id="rId3"/>
              </a:rPr>
              <a:t>http://latitudetravelservices.com.au/wholesale-travel-brochure/</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Brochure at </a:t>
            </a:r>
            <a:r>
              <a:rPr lang="en-AU" sz="1200" u="sng" kern="1200" dirty="0" smtClean="0">
                <a:solidFill>
                  <a:schemeClr val="tx1"/>
                </a:solidFill>
                <a:ea typeface="+mn-ea"/>
                <a:cs typeface="+mn-cs"/>
                <a:hlinkClick r:id="rId4"/>
              </a:rPr>
              <a:t>http://en.wikipedia.org/wiki/Brochure</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Producing a tourism brochure at </a:t>
            </a:r>
            <a:r>
              <a:rPr lang="en-AU" sz="1200" u="sng" kern="1200" dirty="0" smtClean="0">
                <a:solidFill>
                  <a:schemeClr val="tx1"/>
                </a:solidFill>
                <a:ea typeface="+mn-ea"/>
                <a:cs typeface="+mn-cs"/>
                <a:hlinkClick r:id="rId5"/>
              </a:rPr>
              <a:t>http://businessbreaks.takeabreak.com.au/FrontDoor/LoungeRoom/Articles/TourismArticles/producing-a-tourism-brochure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How to create an effective travel brochure at </a:t>
            </a:r>
            <a:r>
              <a:rPr lang="en-AU" sz="1200" u="sng" kern="1200" dirty="0" smtClean="0">
                <a:solidFill>
                  <a:schemeClr val="tx1"/>
                </a:solidFill>
                <a:ea typeface="+mn-ea"/>
                <a:cs typeface="+mn-cs"/>
                <a:hlinkClick r:id="rId6"/>
              </a:rPr>
              <a:t>http://aspiringbackpacker.com/2012/11/good-travel-brochure/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Tips for an effective tourist brochure at </a:t>
            </a:r>
            <a:r>
              <a:rPr lang="en-AU" sz="1200" u="sng" kern="1200" dirty="0" smtClean="0">
                <a:solidFill>
                  <a:schemeClr val="tx1"/>
                </a:solidFill>
                <a:ea typeface="+mn-ea"/>
                <a:cs typeface="+mn-cs"/>
                <a:hlinkClick r:id="rId7"/>
              </a:rPr>
              <a:t>http://www.offtherack.com.au/effective-brochure-tips.html</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How to make a good travel brochure at </a:t>
            </a:r>
            <a:r>
              <a:rPr lang="en-AU" sz="1200" u="sng" kern="1200" dirty="0" smtClean="0">
                <a:solidFill>
                  <a:schemeClr val="tx1"/>
                </a:solidFill>
                <a:ea typeface="+mn-ea"/>
                <a:cs typeface="+mn-cs"/>
                <a:hlinkClick r:id="rId8"/>
              </a:rPr>
              <a:t>http://www.ehow.com/how_6754029_make-good-travel-brochure.html</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Destination guides at </a:t>
            </a:r>
            <a:r>
              <a:rPr lang="en-AU" sz="1200" u="sng" kern="1200" dirty="0" smtClean="0">
                <a:solidFill>
                  <a:schemeClr val="tx1"/>
                </a:solidFill>
                <a:ea typeface="+mn-ea"/>
                <a:cs typeface="+mn-cs"/>
                <a:hlinkClick r:id="rId9"/>
              </a:rPr>
              <a:t>http://travelinsider.qantas.com.au/destination-guides-index.htm</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Leaflets and flyers at </a:t>
            </a:r>
            <a:r>
              <a:rPr lang="en-AU" sz="1200" u="sng" kern="1200" dirty="0" smtClean="0">
                <a:solidFill>
                  <a:schemeClr val="tx1"/>
                </a:solidFill>
                <a:ea typeface="+mn-ea"/>
                <a:cs typeface="+mn-cs"/>
                <a:hlinkClick r:id="rId10"/>
              </a:rPr>
              <a:t>http://solihull-sustain.org.uk/uploads/leaflets-and-flyers.pdf</a:t>
            </a:r>
            <a:r>
              <a:rPr lang="en-AU" sz="1200" kern="1200" dirty="0" smtClean="0">
                <a:solidFill>
                  <a:schemeClr val="tx1"/>
                </a:solidFill>
                <a:ea typeface="+mn-ea"/>
                <a:cs typeface="+mn-cs"/>
              </a:rPr>
              <a:t>  </a:t>
            </a:r>
          </a:p>
          <a:p>
            <a:pPr>
              <a:buFont typeface="Arial" pitchFamily="34" charset="0"/>
              <a:buChar char="•"/>
            </a:pPr>
            <a:endParaRPr lang="en-AU" b="0" noProof="0" dirty="0" smtClean="0"/>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a:t>
            </a:fld>
            <a:endParaRPr lang="en-US" dirty="0"/>
          </a:p>
        </p:txBody>
      </p:sp>
    </p:spTree>
    <p:extLst>
      <p:ext uri="{BB962C8B-B14F-4D97-AF65-F5344CB8AC3E}">
        <p14:creationId xmlns:p14="http://schemas.microsoft.com/office/powerpoint/2010/main" val="5672254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introduces and explains </a:t>
            </a:r>
            <a:r>
              <a:rPr lang="en-AU" sz="1200" kern="1200" dirty="0" smtClean="0">
                <a:solidFill>
                  <a:schemeClr val="tx1"/>
                </a:solidFill>
                <a:ea typeface="+mn-ea"/>
                <a:cs typeface="+mn-cs"/>
              </a:rPr>
              <a:t>factors need to be taken into account when considering new marketing materials to be produced:</a:t>
            </a:r>
          </a:p>
          <a:p>
            <a:pPr marL="171450" indent="-171450">
              <a:buFont typeface="Arial" pitchFamily="34" charset="0"/>
              <a:buChar char="•"/>
            </a:pPr>
            <a:r>
              <a:rPr lang="en-AU" sz="1200" kern="1200" dirty="0" smtClean="0">
                <a:solidFill>
                  <a:schemeClr val="tx1"/>
                </a:solidFill>
                <a:ea typeface="+mn-ea"/>
                <a:cs typeface="+mn-cs"/>
              </a:rPr>
              <a:t>Objectives – these will change over time and relate to what the business wants to achieve by producing the brochures and/or marketing materials. Examples of standard objectives can be to:</a:t>
            </a:r>
          </a:p>
          <a:p>
            <a:pPr marL="628650" lvl="1" indent="-171450">
              <a:buFont typeface="Arial" pitchFamily="34" charset="0"/>
              <a:buChar char="•"/>
            </a:pPr>
            <a:r>
              <a:rPr lang="en-US" sz="1200" kern="1200" dirty="0" smtClean="0">
                <a:solidFill>
                  <a:schemeClr val="tx1"/>
                </a:solidFill>
                <a:ea typeface="+mn-ea"/>
                <a:cs typeface="+mn-cs"/>
              </a:rPr>
              <a:t>Support a specific advertising/marketing campaign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Generate interest from nominated markets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Encourage responses/queries from potential customers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Increase market share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Enhance public awareness of the business or a product/service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Target market/s – these are the cohorts of people/organisations the business wishes to target/attract through the use of certain marketing materials. Target markets are commonly based on one of more demographic characteristics such as:</a:t>
            </a:r>
          </a:p>
          <a:p>
            <a:pPr marL="628650" lvl="1" indent="-171450">
              <a:buFont typeface="Arial" pitchFamily="34" charset="0"/>
              <a:buChar char="•"/>
            </a:pPr>
            <a:r>
              <a:rPr lang="en-US" sz="1200" kern="1200" dirty="0" smtClean="0">
                <a:solidFill>
                  <a:schemeClr val="tx1"/>
                </a:solidFill>
                <a:ea typeface="+mn-ea"/>
                <a:cs typeface="+mn-cs"/>
              </a:rPr>
              <a:t>Age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Gender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Income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Type of employment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Education level</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Race/nationality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Marital status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Home country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Preferred activity/reason for travel or tourism</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a:t>
            </a:fld>
            <a:endParaRPr lang="en-US" dirty="0"/>
          </a:p>
        </p:txBody>
      </p:sp>
    </p:spTree>
    <p:extLst>
      <p:ext uri="{BB962C8B-B14F-4D97-AF65-F5344CB8AC3E}">
        <p14:creationId xmlns:p14="http://schemas.microsoft.com/office/powerpoint/2010/main" val="357665163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a:t>
            </a:r>
            <a:r>
              <a:rPr lang="en-AU" sz="1200" kern="1200" dirty="0" smtClean="0">
                <a:solidFill>
                  <a:schemeClr val="tx1"/>
                </a:solidFill>
                <a:ea typeface="+mn-ea"/>
                <a:cs typeface="+mn-cs"/>
              </a:rPr>
              <a:t>factors which need to be taken into account when considering new marketing materials to be produced:</a:t>
            </a:r>
          </a:p>
          <a:p>
            <a:pPr marL="171450" indent="-171450">
              <a:buFont typeface="Arial" pitchFamily="34" charset="0"/>
              <a:buChar char="•"/>
            </a:pPr>
            <a:r>
              <a:rPr lang="en-AU" sz="1200" kern="1200" dirty="0" smtClean="0">
                <a:solidFill>
                  <a:schemeClr val="tx1"/>
                </a:solidFill>
                <a:ea typeface="+mn-ea"/>
                <a:cs typeface="+mn-cs"/>
              </a:rPr>
              <a:t>Required type and style of materials – as appropriate to the identified objectives and the identified roles marketing materials will be expected to fulfil when employed by end-users of the materials. For example:</a:t>
            </a:r>
          </a:p>
          <a:p>
            <a:pPr marL="628650" lvl="1" indent="-171450">
              <a:buFont typeface="Arial" pitchFamily="34" charset="0"/>
              <a:buChar char="•"/>
            </a:pPr>
            <a:r>
              <a:rPr lang="en-US" sz="1200" kern="1200" dirty="0" smtClean="0">
                <a:solidFill>
                  <a:schemeClr val="tx1"/>
                </a:solidFill>
                <a:ea typeface="+mn-ea"/>
                <a:cs typeface="+mn-cs"/>
              </a:rPr>
              <a:t>Some sales staff will require Fact Sheets about destinations while others may want more detail on costs, prices, options and packages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Some target market customers prefer to get their information online while others prefer a DVD and other want a hard copy brochure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Time parameters – this can relate to:</a:t>
            </a:r>
          </a:p>
          <a:p>
            <a:pPr marL="628650" lvl="1" indent="-171450">
              <a:buFont typeface="Arial" pitchFamily="34" charset="0"/>
              <a:buChar char="•"/>
            </a:pPr>
            <a:r>
              <a:rPr lang="en-US" sz="1200" kern="1200" dirty="0" smtClean="0">
                <a:solidFill>
                  <a:schemeClr val="tx1"/>
                </a:solidFill>
                <a:ea typeface="+mn-ea"/>
                <a:cs typeface="+mn-cs"/>
              </a:rPr>
              <a:t>Seasonal considerations of trips/tours being offered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Dates/times of festivals, MICE and sporting events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Need for materials to be ready in time to support campaigns and/or products and services being offered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Budget – there will always be limitations placed on the amount of funds available to generate marketing materials. The budget may be:</a:t>
            </a:r>
          </a:p>
          <a:p>
            <a:pPr marL="628650" lvl="1" indent="-171450">
              <a:buFont typeface="Arial" pitchFamily="34" charset="0"/>
              <a:buChar char="•"/>
            </a:pPr>
            <a:r>
              <a:rPr lang="en-US" sz="1200" kern="1200" dirty="0" smtClean="0">
                <a:solidFill>
                  <a:schemeClr val="tx1"/>
                </a:solidFill>
                <a:ea typeface="+mn-ea"/>
                <a:cs typeface="+mn-cs"/>
              </a:rPr>
              <a:t>Formulated in terms of cash plus ‘in kind’ resources – that is, money plus help and assistance from other sources (partners, joint venture associates, other businesses likely to benefit from the overall initiative) in terms of (for example) product, help from </a:t>
            </a:r>
            <a:r>
              <a:rPr lang="en-US" sz="1200" i="1" kern="1200" dirty="0" smtClean="0">
                <a:solidFill>
                  <a:schemeClr val="tx1"/>
                </a:solidFill>
                <a:ea typeface="+mn-ea"/>
                <a:cs typeface="+mn-cs"/>
              </a:rPr>
              <a:t>their</a:t>
            </a:r>
            <a:r>
              <a:rPr lang="en-US" sz="1200" kern="1200" dirty="0" smtClean="0">
                <a:solidFill>
                  <a:schemeClr val="tx1"/>
                </a:solidFill>
                <a:ea typeface="+mn-ea"/>
                <a:cs typeface="+mn-cs"/>
              </a:rPr>
              <a:t> staff (advice, market research data, loan of materials and items) and exposure,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Specific to one individual/specific marketing initiative or generic to a department, business or campaign.</a:t>
            </a:r>
            <a:endParaRPr lang="en-AU" sz="1200" kern="1200" dirty="0" smtClean="0">
              <a:solidFill>
                <a:schemeClr val="tx1"/>
              </a:solidFill>
              <a:ea typeface="+mn-ea"/>
              <a:cs typeface="+mn-cs"/>
            </a:endParaRPr>
          </a:p>
          <a:p>
            <a:pPr marL="171450" indent="-171450">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a:t>
            </a:fld>
            <a:endParaRPr lang="en-US" dirty="0"/>
          </a:p>
        </p:txBody>
      </p:sp>
    </p:spTree>
    <p:extLst>
      <p:ext uri="{BB962C8B-B14F-4D97-AF65-F5344CB8AC3E}">
        <p14:creationId xmlns:p14="http://schemas.microsoft.com/office/powerpoint/2010/main" val="5779479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discussing </a:t>
            </a:r>
            <a:r>
              <a:rPr lang="en-AU" sz="1200" kern="1200" dirty="0" smtClean="0">
                <a:solidFill>
                  <a:schemeClr val="tx1"/>
                </a:solidFill>
                <a:ea typeface="+mn-ea"/>
                <a:cs typeface="+mn-cs"/>
              </a:rPr>
              <a:t>factors which need to be taken into account when considering new marketing materials to be produced:</a:t>
            </a:r>
          </a:p>
          <a:p>
            <a:pPr marL="171450" indent="-171450">
              <a:buFont typeface="Arial" pitchFamily="34" charset="0"/>
              <a:buChar char="•"/>
            </a:pPr>
            <a:r>
              <a:rPr lang="en-AU" sz="1200" kern="1200" dirty="0" smtClean="0">
                <a:solidFill>
                  <a:schemeClr val="tx1"/>
                </a:solidFill>
                <a:ea typeface="+mn-ea"/>
                <a:cs typeface="+mn-cs"/>
              </a:rPr>
              <a:t>In-house production capabilities of the organisation – and associated issues such as:</a:t>
            </a:r>
          </a:p>
          <a:p>
            <a:pPr marL="628650" lvl="1" indent="-171450">
              <a:buFont typeface="Arial" pitchFamily="34" charset="0"/>
              <a:buChar char="•"/>
            </a:pPr>
            <a:r>
              <a:rPr lang="en-US" sz="1200" kern="1200" dirty="0" smtClean="0">
                <a:solidFill>
                  <a:schemeClr val="tx1"/>
                </a:solidFill>
                <a:ea typeface="+mn-ea"/>
                <a:cs typeface="+mn-cs"/>
              </a:rPr>
              <a:t>Availability of the capability to focus on what is required at the time required – the internal expertise may be busy working on something else which cannot be re-scheduled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Expertise to deliver what is required – most internal production departments have limitations on what they can do in terms of the experience they have, the equipment they own and the technology they have access to. </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An internal marketing production department is no guarantee all required marketing items can be prepared within the organisation.</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Distribution of final materials/items – when marketing items have been produced there is often a need for them to be distributed. Considerations in this regard may be:</a:t>
            </a:r>
          </a:p>
          <a:p>
            <a:pPr marL="628650" lvl="1" indent="-171450">
              <a:buFont typeface="Arial" pitchFamily="34" charset="0"/>
              <a:buChar char="•"/>
            </a:pPr>
            <a:r>
              <a:rPr lang="en-US" sz="1200" kern="1200" dirty="0" smtClean="0">
                <a:solidFill>
                  <a:schemeClr val="tx1"/>
                </a:solidFill>
                <a:ea typeface="+mn-ea"/>
                <a:cs typeface="+mn-cs"/>
              </a:rPr>
              <a:t>Cost to distribute to all required targets, outlets, clients/customers, agencies, destinations, partners and similar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Identification of how materials will be physically moved from printers/production houses to end user destinations such as Visitor Information Centres, other agencies, hotels and identified other locations where the materials are required/need to be sent (locally and internationally)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Determination of quantities of materials required in order to accommodate the distribution schedules identified for each item</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 intermediaries in the distribution chain – for large businesses there can be a need to develop variations on certain marketing materials such that </a:t>
            </a:r>
            <a:r>
              <a:rPr lang="en-US" sz="1200" i="1" kern="1200" dirty="0" smtClean="0">
                <a:solidFill>
                  <a:schemeClr val="tx1"/>
                </a:solidFill>
                <a:ea typeface="+mn-ea"/>
                <a:cs typeface="+mn-cs"/>
              </a:rPr>
              <a:t>wholesale</a:t>
            </a:r>
            <a:r>
              <a:rPr lang="en-US" sz="1200" kern="1200" dirty="0" smtClean="0">
                <a:solidFill>
                  <a:schemeClr val="tx1"/>
                </a:solidFill>
                <a:ea typeface="+mn-ea"/>
                <a:cs typeface="+mn-cs"/>
              </a:rPr>
              <a:t> outlets receive a different marketing product to retail offices/agencies who, in turn, receive something different to the end user/customer</a:t>
            </a:r>
            <a:endParaRPr lang="en-AU" sz="1200" kern="1200" dirty="0" smtClean="0">
              <a:solidFill>
                <a:schemeClr val="tx1"/>
              </a:solidFill>
              <a:ea typeface="+mn-ea"/>
              <a:cs typeface="+mn-cs"/>
            </a:endParaRPr>
          </a:p>
          <a:p>
            <a:pPr lvl="1">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a:t>
            </a:fld>
            <a:endParaRPr lang="en-US" dirty="0"/>
          </a:p>
        </p:txBody>
      </p:sp>
    </p:spTree>
    <p:extLst>
      <p:ext uri="{BB962C8B-B14F-4D97-AF65-F5344CB8AC3E}">
        <p14:creationId xmlns:p14="http://schemas.microsoft.com/office/powerpoint/2010/main" val="34383081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highlights the importance of developing marketing items stating </a:t>
            </a:r>
            <a:r>
              <a:rPr lang="en-AU" sz="1200" kern="1200" dirty="0" smtClean="0">
                <a:solidFill>
                  <a:schemeClr val="tx1"/>
                </a:solidFill>
                <a:ea typeface="+mn-ea"/>
                <a:cs typeface="+mn-cs"/>
              </a:rPr>
              <a:t>the entire procedure of developing brochures and marketing materials is important because:</a:t>
            </a:r>
          </a:p>
          <a:p>
            <a:pPr marL="171450" indent="-171450">
              <a:buFont typeface="Arial" pitchFamily="34" charset="0"/>
              <a:buChar char="•"/>
            </a:pPr>
            <a:r>
              <a:rPr lang="en-AU" sz="1200" kern="1200" dirty="0" smtClean="0">
                <a:solidFill>
                  <a:schemeClr val="tx1"/>
                </a:solidFill>
                <a:ea typeface="+mn-ea"/>
                <a:cs typeface="+mn-cs"/>
              </a:rPr>
              <a:t>It is a complex activity – there is a lot involved in doing this and getting it right</a:t>
            </a:r>
          </a:p>
          <a:p>
            <a:pPr marL="171450" indent="-171450">
              <a:buFont typeface="Arial" pitchFamily="34" charset="0"/>
              <a:buChar char="•"/>
            </a:pPr>
            <a:r>
              <a:rPr lang="en-AU" sz="1200" kern="1200" dirty="0" smtClean="0">
                <a:solidFill>
                  <a:schemeClr val="tx1"/>
                </a:solidFill>
                <a:ea typeface="+mn-ea"/>
                <a:cs typeface="+mn-cs"/>
              </a:rPr>
              <a:t>It often involves the expenditure of substantial amounts of money</a:t>
            </a:r>
          </a:p>
          <a:p>
            <a:pPr marL="171450" indent="-171450">
              <a:buFont typeface="Arial" pitchFamily="34" charset="0"/>
              <a:buChar char="•"/>
            </a:pPr>
            <a:r>
              <a:rPr lang="en-AU" sz="1200" kern="1200" dirty="0" smtClean="0">
                <a:solidFill>
                  <a:schemeClr val="tx1"/>
                </a:solidFill>
                <a:ea typeface="+mn-ea"/>
                <a:cs typeface="+mn-cs"/>
              </a:rPr>
              <a:t>There is frequently a need to liaise with numerous other business/stakeholders to coordinate the final/finished product</a:t>
            </a:r>
          </a:p>
          <a:p>
            <a:pPr marL="171450" indent="-171450">
              <a:buFont typeface="Arial" pitchFamily="34" charset="0"/>
              <a:buChar char="•"/>
            </a:pPr>
            <a:r>
              <a:rPr lang="en-AU" sz="1200" kern="1200" dirty="0" smtClean="0">
                <a:solidFill>
                  <a:schemeClr val="tx1"/>
                </a:solidFill>
                <a:ea typeface="+mn-ea"/>
                <a:cs typeface="+mn-cs"/>
              </a:rPr>
              <a:t>The end product is an essential sales tool for the organisation and the revenue of the business (and the jobs of the staff) rely on these items to a significant extent</a:t>
            </a:r>
          </a:p>
          <a:p>
            <a:pPr marL="171450" indent="-171450">
              <a:buFont typeface="Arial" pitchFamily="34" charset="0"/>
              <a:buChar char="•"/>
            </a:pPr>
            <a:r>
              <a:rPr lang="en-AU" sz="1200" kern="1200" dirty="0" smtClean="0">
                <a:solidFill>
                  <a:schemeClr val="tx1"/>
                </a:solidFill>
                <a:ea typeface="+mn-ea"/>
                <a:cs typeface="+mn-cs"/>
              </a:rPr>
              <a:t>What is produced must be correct – there is no room for errors or omissions</a:t>
            </a:r>
          </a:p>
          <a:p>
            <a:pPr marL="171450" indent="-171450">
              <a:buFont typeface="Arial" pitchFamily="34" charset="0"/>
              <a:buChar char="•"/>
            </a:pPr>
            <a:r>
              <a:rPr lang="en-AU" sz="1200" kern="1200" dirty="0" smtClean="0">
                <a:solidFill>
                  <a:schemeClr val="tx1"/>
                </a:solidFill>
                <a:ea typeface="+mn-ea"/>
                <a:cs typeface="+mn-cs"/>
              </a:rPr>
              <a:t>All items must reflect the image, standards and reputation the organisation wants to portray for the specific item for a given target market.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a:t>
            </a:fld>
            <a:endParaRPr lang="en-US" dirty="0"/>
          </a:p>
        </p:txBody>
      </p:sp>
    </p:spTree>
    <p:extLst>
      <p:ext uri="{BB962C8B-B14F-4D97-AF65-F5344CB8AC3E}">
        <p14:creationId xmlns:p14="http://schemas.microsoft.com/office/powerpoint/2010/main" val="22975474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discusses keys to planning explaining </a:t>
            </a:r>
            <a:r>
              <a:rPr lang="en-AU" sz="1200" kern="1200" dirty="0" smtClean="0">
                <a:solidFill>
                  <a:schemeClr val="tx1"/>
                </a:solidFill>
                <a:ea typeface="+mn-ea"/>
                <a:cs typeface="+mn-cs"/>
              </a:rPr>
              <a:t>in this job there must be realisation of the following:</a:t>
            </a:r>
          </a:p>
          <a:p>
            <a:pPr marL="171450" indent="-171450">
              <a:buFont typeface="Arial" pitchFamily="34" charset="0"/>
              <a:buChar char="•"/>
            </a:pPr>
            <a:r>
              <a:rPr lang="en-AU" sz="1200" kern="1200" dirty="0" smtClean="0">
                <a:solidFill>
                  <a:schemeClr val="tx1"/>
                </a:solidFill>
                <a:ea typeface="+mn-ea"/>
                <a:cs typeface="+mn-cs"/>
              </a:rPr>
              <a:t>Planned action always stands a much higher chance of success than unplanned action</a:t>
            </a:r>
          </a:p>
          <a:p>
            <a:pPr marL="171450" indent="-171450">
              <a:buFont typeface="Arial" pitchFamily="34" charset="0"/>
              <a:buChar char="•"/>
            </a:pPr>
            <a:r>
              <a:rPr lang="en-AU" sz="1200" kern="1200" dirty="0" smtClean="0">
                <a:solidFill>
                  <a:schemeClr val="tx1"/>
                </a:solidFill>
                <a:ea typeface="+mn-ea"/>
                <a:cs typeface="+mn-cs"/>
              </a:rPr>
              <a:t>Planning underpins coordination – and developing these items demands coordination with many other people and organisations</a:t>
            </a:r>
          </a:p>
          <a:p>
            <a:pPr marL="171450" indent="-171450">
              <a:buFont typeface="Arial" pitchFamily="34" charset="0"/>
              <a:buChar char="•"/>
            </a:pPr>
            <a:r>
              <a:rPr lang="en-AU" sz="1200" kern="1200" dirty="0" smtClean="0">
                <a:solidFill>
                  <a:schemeClr val="tx1"/>
                </a:solidFill>
                <a:ea typeface="+mn-ea"/>
                <a:cs typeface="+mn-cs"/>
              </a:rPr>
              <a:t>Plans need to be in writing – so others can see them and they can be shared with others for their information, comment, feedback and for them to follow</a:t>
            </a:r>
          </a:p>
          <a:p>
            <a:pPr marL="171450" indent="-171450">
              <a:buFont typeface="Arial" pitchFamily="34" charset="0"/>
              <a:buChar char="•"/>
            </a:pPr>
            <a:r>
              <a:rPr lang="en-AU" sz="1200" kern="1200" dirty="0" smtClean="0">
                <a:solidFill>
                  <a:schemeClr val="tx1"/>
                </a:solidFill>
                <a:ea typeface="+mn-ea"/>
                <a:cs typeface="+mn-cs"/>
              </a:rPr>
              <a:t>‘If you fail to plan, you plan to fail’</a:t>
            </a:r>
          </a:p>
          <a:p>
            <a:pPr marL="171450" indent="-171450">
              <a:buFont typeface="Arial" pitchFamily="34" charset="0"/>
              <a:buChar char="•"/>
            </a:pPr>
            <a:r>
              <a:rPr lang="en-AU" sz="1200" kern="1200" dirty="0" smtClean="0">
                <a:solidFill>
                  <a:schemeClr val="tx1"/>
                </a:solidFill>
                <a:ea typeface="+mn-ea"/>
                <a:cs typeface="+mn-cs"/>
              </a:rPr>
              <a:t>All plans which are developed need to be flexible – plans need to be ‘set in jelly and not in concrete’.</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14</a:t>
            </a:fld>
            <a:endParaRPr lang="en-US" dirty="0"/>
          </a:p>
        </p:txBody>
      </p:sp>
    </p:spTree>
    <p:extLst>
      <p:ext uri="{BB962C8B-B14F-4D97-AF65-F5344CB8AC3E}">
        <p14:creationId xmlns:p14="http://schemas.microsoft.com/office/powerpoint/2010/main" val="27471880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noProof="0" dirty="0" smtClean="0"/>
              <a:t>Trainer presents activities essential to the overall planning process:</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b="1" kern="1200" dirty="0" smtClean="0">
                <a:solidFill>
                  <a:schemeClr val="tx1"/>
                </a:solidFill>
                <a:ea typeface="+mn-ea"/>
                <a:cs typeface="+mn-cs"/>
              </a:rPr>
              <a:t>Identifying what needs to be produced </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basic way of determining the need for brochures and marketing materials is to keep a check of the stock on hand. Other factors to take into account are:</a:t>
            </a:r>
          </a:p>
          <a:p>
            <a:pPr marL="628650" lvl="1" indent="-171450">
              <a:buFont typeface="Arial" pitchFamily="34" charset="0"/>
              <a:buChar char="•"/>
            </a:pPr>
            <a:r>
              <a:rPr lang="en-AU" sz="1200" kern="1200" dirty="0" smtClean="0">
                <a:solidFill>
                  <a:schemeClr val="tx1"/>
                </a:solidFill>
                <a:ea typeface="+mn-ea"/>
                <a:cs typeface="+mn-cs"/>
              </a:rPr>
              <a:t>Time of the year; Age/currency of brochures and other materials; Level of brochures and materials present in agencies and other outlets where brochures and materials are normally available; Available alternatives; Special promotions or campaigns being undertaken; Extent of organisational participation in exhibitions to promote the business; Extent of sales presentations scheduled for the future.</a:t>
            </a:r>
          </a:p>
          <a:p>
            <a:pPr marL="171450" indent="-171450">
              <a:buFont typeface="Arial" pitchFamily="34" charset="0"/>
              <a:buChar char="•"/>
            </a:pPr>
            <a:r>
              <a:rPr lang="en-AU" sz="1200" kern="1200" dirty="0" smtClean="0">
                <a:solidFill>
                  <a:schemeClr val="tx1"/>
                </a:solidFill>
                <a:ea typeface="+mn-ea"/>
                <a:cs typeface="+mn-cs"/>
              </a:rPr>
              <a:t>Analysis of the above should enable identification of:</a:t>
            </a:r>
          </a:p>
          <a:p>
            <a:pPr marL="628650" lvl="1" indent="-171450">
              <a:buFont typeface="Arial" pitchFamily="34" charset="0"/>
              <a:buChar char="•"/>
            </a:pPr>
            <a:r>
              <a:rPr lang="en-AU" sz="1200" kern="1200" dirty="0" smtClean="0">
                <a:solidFill>
                  <a:schemeClr val="tx1"/>
                </a:solidFill>
                <a:ea typeface="+mn-ea"/>
                <a:cs typeface="+mn-cs"/>
              </a:rPr>
              <a:t>Type of items/materials to be produced; Nature of the items; Volumes needed; Dates by which they are required.</a:t>
            </a:r>
          </a:p>
          <a:p>
            <a:r>
              <a:rPr lang="en-AU" sz="1200" b="1" kern="1200" dirty="0" smtClean="0">
                <a:solidFill>
                  <a:schemeClr val="tx1"/>
                </a:solidFill>
                <a:ea typeface="+mn-ea"/>
                <a:cs typeface="+mn-cs"/>
              </a:rPr>
              <a:t>Integrating materials produced</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It is important the development of brochures and marketing materials does not take place in isolation from everything else which is taking place within the organisation.</a:t>
            </a:r>
          </a:p>
          <a:p>
            <a:pPr marL="171450" indent="-171450">
              <a:buFont typeface="Arial" pitchFamily="34" charset="0"/>
              <a:buChar char="•"/>
            </a:pPr>
            <a:r>
              <a:rPr lang="en-AU" sz="1200" kern="1200" dirty="0" smtClean="0">
                <a:solidFill>
                  <a:schemeClr val="tx1"/>
                </a:solidFill>
                <a:ea typeface="+mn-ea"/>
                <a:cs typeface="+mn-cs"/>
              </a:rPr>
              <a:t>After all, the tile of this unit is ‘</a:t>
            </a:r>
            <a:r>
              <a:rPr lang="en-AU" sz="1200" i="1" kern="1200" dirty="0" smtClean="0">
                <a:solidFill>
                  <a:schemeClr val="tx1"/>
                </a:solidFill>
                <a:ea typeface="+mn-ea"/>
                <a:cs typeface="+mn-cs"/>
              </a:rPr>
              <a:t>Coordinate</a:t>
            </a:r>
            <a:r>
              <a:rPr lang="en-AU" sz="1200" kern="1200" dirty="0" smtClean="0">
                <a:solidFill>
                  <a:schemeClr val="tx1"/>
                </a:solidFill>
                <a:ea typeface="+mn-ea"/>
                <a:cs typeface="+mn-cs"/>
              </a:rPr>
              <a:t> production...’. This highlights the need to:</a:t>
            </a:r>
          </a:p>
          <a:p>
            <a:pPr marL="628650" lvl="1" indent="-171450">
              <a:buFont typeface="Arial" pitchFamily="34" charset="0"/>
              <a:buChar char="•"/>
            </a:pPr>
            <a:r>
              <a:rPr lang="en-AU" sz="1200" kern="1200" dirty="0" smtClean="0">
                <a:solidFill>
                  <a:schemeClr val="tx1"/>
                </a:solidFill>
                <a:ea typeface="+mn-ea"/>
                <a:cs typeface="+mn-cs"/>
              </a:rPr>
              <a:t>Determine and respond to the demands/objectives of other higher level organisational plans</a:t>
            </a:r>
          </a:p>
          <a:p>
            <a:pPr marL="628650" lvl="1" indent="-171450">
              <a:buFont typeface="Arial" pitchFamily="34" charset="0"/>
              <a:buChar char="•"/>
            </a:pPr>
            <a:r>
              <a:rPr lang="en-AU" sz="1200" kern="1200" dirty="0" smtClean="0">
                <a:solidFill>
                  <a:schemeClr val="tx1"/>
                </a:solidFill>
                <a:ea typeface="+mn-ea"/>
                <a:cs typeface="+mn-cs"/>
              </a:rPr>
              <a:t>Ensure the brochures and marketing materials produced assist the organisation achieve its identified goals and objectives</a:t>
            </a:r>
          </a:p>
          <a:p>
            <a:pPr marL="628650" lvl="1" indent="-171450">
              <a:buFont typeface="Arial" pitchFamily="34" charset="0"/>
              <a:buChar char="•"/>
            </a:pPr>
            <a:r>
              <a:rPr lang="en-AU" sz="1200" kern="1200" dirty="0" smtClean="0">
                <a:solidFill>
                  <a:schemeClr val="tx1"/>
                </a:solidFill>
                <a:ea typeface="+mn-ea"/>
                <a:cs typeface="+mn-cs"/>
              </a:rPr>
              <a:t>Liaise with people to track potential future needs of the company so these can be researched </a:t>
            </a:r>
            <a:r>
              <a:rPr lang="en-AU" sz="1200" i="1" kern="1200" dirty="0" smtClean="0">
                <a:solidFill>
                  <a:schemeClr val="tx1"/>
                </a:solidFill>
                <a:ea typeface="+mn-ea"/>
                <a:cs typeface="+mn-cs"/>
              </a:rPr>
              <a:t>now</a:t>
            </a:r>
            <a:r>
              <a:rPr lang="en-AU" sz="1200" kern="1200" dirty="0" smtClean="0">
                <a:solidFill>
                  <a:schemeClr val="tx1"/>
                </a:solidFill>
                <a:ea typeface="+mn-ea"/>
                <a:cs typeface="+mn-cs"/>
              </a:rPr>
              <a:t> for development into products/services </a:t>
            </a:r>
            <a:r>
              <a:rPr lang="en-AU" sz="1200" i="1" kern="1200" dirty="0" smtClean="0">
                <a:solidFill>
                  <a:schemeClr val="tx1"/>
                </a:solidFill>
                <a:ea typeface="+mn-ea"/>
                <a:cs typeface="+mn-cs"/>
              </a:rPr>
              <a:t>in the future.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Integration of these marketing-related activities also needs to occur in order to:</a:t>
            </a:r>
          </a:p>
          <a:p>
            <a:pPr marL="628650" lvl="1" indent="-171450">
              <a:buFont typeface="Arial" pitchFamily="34" charset="0"/>
              <a:buChar char="•"/>
            </a:pPr>
            <a:r>
              <a:rPr lang="en-AU" sz="1200" kern="1200" dirty="0" smtClean="0">
                <a:solidFill>
                  <a:schemeClr val="tx1"/>
                </a:solidFill>
                <a:ea typeface="+mn-ea"/>
                <a:cs typeface="+mn-cs"/>
              </a:rPr>
              <a:t>Take advantage of any ‘economies of scale’ which may emerge when producing materials</a:t>
            </a:r>
          </a:p>
          <a:p>
            <a:pPr marL="628650" lvl="1" indent="-171450">
              <a:buFont typeface="Arial" pitchFamily="34" charset="0"/>
              <a:buChar char="•"/>
            </a:pPr>
            <a:r>
              <a:rPr lang="en-AU" sz="1200" kern="1200" dirty="0" smtClean="0">
                <a:solidFill>
                  <a:schemeClr val="tx1"/>
                </a:solidFill>
                <a:ea typeface="+mn-ea"/>
                <a:cs typeface="+mn-cs"/>
              </a:rPr>
              <a:t>Allow cross-promotion of products/services where appropriate to do so</a:t>
            </a:r>
          </a:p>
          <a:p>
            <a:pPr marL="628650" lvl="1" indent="-171450">
              <a:buFont typeface="Arial" pitchFamily="34" charset="0"/>
              <a:buChar char="•"/>
            </a:pPr>
            <a:r>
              <a:rPr lang="en-AU" sz="1200" kern="1200" dirty="0" smtClean="0">
                <a:solidFill>
                  <a:schemeClr val="tx1"/>
                </a:solidFill>
                <a:ea typeface="+mn-ea"/>
                <a:cs typeface="+mn-cs"/>
              </a:rPr>
              <a:t>Ensure the entire organisation sends a consistent message and portrays a uniform image to nominated target markets</a:t>
            </a:r>
          </a:p>
          <a:p>
            <a:pPr marL="628650" lvl="1" indent="-171450">
              <a:buFont typeface="Arial" pitchFamily="34" charset="0"/>
              <a:buChar char="•"/>
            </a:pPr>
            <a:r>
              <a:rPr lang="en-AU" sz="1200" kern="1200" dirty="0" smtClean="0">
                <a:solidFill>
                  <a:schemeClr val="tx1"/>
                </a:solidFill>
                <a:ea typeface="+mn-ea"/>
                <a:cs typeface="+mn-cs"/>
              </a:rPr>
              <a:t>Make sure brochures and marketing materials are available to support actions being taken by other departments (especially Sales) within the business.</a:t>
            </a:r>
          </a:p>
          <a:p>
            <a:pPr>
              <a:buFont typeface="Arial" pitchFamily="34" charset="0"/>
              <a:buNone/>
            </a:pPr>
            <a:endParaRPr lang="en-US" noProof="0" dirty="0" smtClean="0"/>
          </a:p>
          <a:p>
            <a:pPr>
              <a:buFont typeface="Arial" pitchFamily="34" charset="0"/>
              <a:buNone/>
            </a:pPr>
            <a:r>
              <a:rPr lang="en-US" b="1" noProof="0" dirty="0" smtClean="0"/>
              <a:t>Classroom Activity – Guest Speaker</a:t>
            </a:r>
          </a:p>
          <a:p>
            <a:pPr>
              <a:buFont typeface="Arial" pitchFamily="34" charset="0"/>
              <a:buNone/>
            </a:pPr>
            <a:r>
              <a:rPr lang="en-US" b="0" noProof="0" dirty="0" smtClean="0"/>
              <a:t>Trainer arranges for an experienced person to attend and discuss the planning processes/activities involved in developing/producing brochures and marketing materials.</a:t>
            </a:r>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15</a:t>
            </a:fld>
            <a:endParaRPr lang="en-US" dirty="0"/>
          </a:p>
        </p:txBody>
      </p:sp>
    </p:spTree>
    <p:extLst>
      <p:ext uri="{BB962C8B-B14F-4D97-AF65-F5344CB8AC3E}">
        <p14:creationId xmlns:p14="http://schemas.microsoft.com/office/powerpoint/2010/main" val="36388039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7500" lnSpcReduction="20000"/>
          </a:bodyPr>
          <a:lstStyle/>
          <a:p>
            <a:pPr>
              <a:buFont typeface="Arial" pitchFamily="34" charset="0"/>
              <a:buNone/>
            </a:pPr>
            <a:r>
              <a:rPr lang="en-US" noProof="0" dirty="0" smtClean="0"/>
              <a:t>Trainer continues presenting activities essential to the overall planning process:</a:t>
            </a:r>
          </a:p>
          <a:p>
            <a:r>
              <a:rPr lang="en-AU" sz="1200" b="1" kern="1200" dirty="0" smtClean="0">
                <a:solidFill>
                  <a:schemeClr val="tx1"/>
                </a:solidFill>
                <a:ea typeface="+mn-ea"/>
                <a:cs typeface="+mn-cs"/>
              </a:rPr>
              <a:t>Developing expected outcomes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There can be a need to identify what the brochures and marketing materials being developed are expected to achieve. This is not always the case, but sometimes it is. Standard outcomes are:</a:t>
            </a:r>
          </a:p>
          <a:p>
            <a:pPr marL="171450" indent="-171450">
              <a:buFont typeface="Arial" pitchFamily="34" charset="0"/>
              <a:buChar char="•"/>
            </a:pPr>
            <a:r>
              <a:rPr lang="en-AU" sz="1200" kern="1200" dirty="0" smtClean="0">
                <a:solidFill>
                  <a:schemeClr val="tx1"/>
                </a:solidFill>
                <a:ea typeface="+mn-ea"/>
                <a:cs typeface="+mn-cs"/>
              </a:rPr>
              <a:t>Increase or generate sales; Increase/generate enquiries; Build database contacts; Build awareness of the organisation and/or a specific aspect of the business. </a:t>
            </a:r>
          </a:p>
          <a:p>
            <a:pPr marL="171450" indent="-171450">
              <a:buFont typeface="Arial" pitchFamily="34" charset="0"/>
              <a:buChar char="•"/>
            </a:pPr>
            <a:r>
              <a:rPr lang="en-AU" sz="1200" kern="1200" dirty="0" smtClean="0">
                <a:solidFill>
                  <a:schemeClr val="tx1"/>
                </a:solidFill>
                <a:ea typeface="+mn-ea"/>
                <a:cs typeface="+mn-cs"/>
              </a:rPr>
              <a:t>It is useful in this context to: </a:t>
            </a:r>
          </a:p>
          <a:p>
            <a:pPr marL="171450" indent="-171450">
              <a:buFont typeface="Arial" pitchFamily="34" charset="0"/>
              <a:buChar char="•"/>
            </a:pPr>
            <a:r>
              <a:rPr lang="en-AU" sz="1200" kern="1200" dirty="0" smtClean="0">
                <a:solidFill>
                  <a:schemeClr val="tx1"/>
                </a:solidFill>
                <a:ea typeface="+mn-ea"/>
                <a:cs typeface="+mn-cs"/>
              </a:rPr>
              <a:t>Whether </a:t>
            </a:r>
            <a:r>
              <a:rPr lang="en-AU" sz="1200" i="1" kern="1200" dirty="0" smtClean="0">
                <a:solidFill>
                  <a:schemeClr val="tx1"/>
                </a:solidFill>
                <a:ea typeface="+mn-ea"/>
                <a:cs typeface="+mn-cs"/>
              </a:rPr>
              <a:t>existing</a:t>
            </a:r>
            <a:r>
              <a:rPr lang="en-AU" sz="1200" kern="1200" dirty="0" smtClean="0">
                <a:solidFill>
                  <a:schemeClr val="tx1"/>
                </a:solidFill>
                <a:ea typeface="+mn-ea"/>
                <a:cs typeface="+mn-cs"/>
              </a:rPr>
              <a:t> brochures/materials should be re-ordered to replenish exhausted/depleted stock levels, or</a:t>
            </a:r>
          </a:p>
          <a:p>
            <a:pPr marL="171450" indent="-171450">
              <a:buFont typeface="Arial" pitchFamily="34" charset="0"/>
              <a:buChar char="•"/>
            </a:pPr>
            <a:r>
              <a:rPr lang="en-AU" sz="1200" kern="1200" dirty="0" smtClean="0">
                <a:solidFill>
                  <a:schemeClr val="tx1"/>
                </a:solidFill>
                <a:ea typeface="+mn-ea"/>
                <a:cs typeface="+mn-cs"/>
              </a:rPr>
              <a:t>Whether there is another specific focus for the materials and there need to be new materials created.</a:t>
            </a:r>
          </a:p>
          <a:p>
            <a:pPr marL="628650" lvl="1" indent="-171450">
              <a:buFont typeface="Arial" pitchFamily="34" charset="0"/>
              <a:buChar char="•"/>
            </a:pPr>
            <a:r>
              <a:rPr lang="en-AU" sz="1200" kern="1200" dirty="0" smtClean="0">
                <a:solidFill>
                  <a:schemeClr val="tx1"/>
                </a:solidFill>
                <a:ea typeface="+mn-ea"/>
                <a:cs typeface="+mn-cs"/>
              </a:rPr>
              <a:t>Where items are replenishing supplies, process would be contact people who produced previous items and re-order</a:t>
            </a:r>
          </a:p>
          <a:p>
            <a:pPr marL="628650" lvl="1" indent="-171450">
              <a:buFont typeface="Arial" pitchFamily="34" charset="0"/>
              <a:buChar char="•"/>
            </a:pPr>
            <a:r>
              <a:rPr lang="en-AU" sz="1200" kern="1200" dirty="0" smtClean="0">
                <a:solidFill>
                  <a:schemeClr val="tx1"/>
                </a:solidFill>
                <a:ea typeface="+mn-ea"/>
                <a:cs typeface="+mn-cs"/>
              </a:rPr>
              <a:t>Where there is a new focus for the materials there is a need to:</a:t>
            </a:r>
          </a:p>
          <a:p>
            <a:pPr marL="1085850" lvl="2" indent="-171450">
              <a:buFont typeface="Arial" pitchFamily="34" charset="0"/>
              <a:buChar char="•"/>
            </a:pPr>
            <a:r>
              <a:rPr lang="en-AU" sz="1200" kern="1200" dirty="0" smtClean="0">
                <a:solidFill>
                  <a:schemeClr val="tx1"/>
                </a:solidFill>
                <a:ea typeface="+mn-ea"/>
                <a:cs typeface="+mn-cs"/>
              </a:rPr>
              <a:t>Identify the new focus</a:t>
            </a:r>
          </a:p>
          <a:p>
            <a:pPr marL="628650" lvl="1" indent="-171450">
              <a:buFont typeface="Arial" pitchFamily="34" charset="0"/>
              <a:buChar char="•"/>
            </a:pPr>
            <a:r>
              <a:rPr lang="en-AU" sz="1200" kern="1200" dirty="0" smtClean="0">
                <a:solidFill>
                  <a:schemeClr val="tx1"/>
                </a:solidFill>
                <a:ea typeface="+mn-ea"/>
                <a:cs typeface="+mn-cs"/>
              </a:rPr>
              <a:t>Where changes need to be made to existing brochures and marketing materials, they can be seen as:</a:t>
            </a:r>
          </a:p>
          <a:p>
            <a:pPr marL="1085850" lvl="2" indent="-171450">
              <a:buFont typeface="Arial" pitchFamily="34" charset="0"/>
              <a:buChar char="•"/>
            </a:pPr>
            <a:r>
              <a:rPr lang="en-AU" sz="1200" kern="1200" dirty="0" smtClean="0">
                <a:solidFill>
                  <a:schemeClr val="tx1"/>
                </a:solidFill>
                <a:ea typeface="+mn-ea"/>
                <a:cs typeface="+mn-cs"/>
              </a:rPr>
              <a:t>Updates; Revisions; Introduction of a new product or service.</a:t>
            </a:r>
          </a:p>
          <a:p>
            <a:pPr marL="171450" indent="-171450">
              <a:buFont typeface="Arial" pitchFamily="34" charset="0"/>
              <a:buChar char="•"/>
            </a:pPr>
            <a:r>
              <a:rPr lang="en-AU" sz="1200" kern="1200" dirty="0" smtClean="0">
                <a:solidFill>
                  <a:schemeClr val="tx1"/>
                </a:solidFill>
                <a:ea typeface="+mn-ea"/>
                <a:cs typeface="+mn-cs"/>
              </a:rPr>
              <a:t>A new item may be needed for a variety of reasons, including:</a:t>
            </a:r>
          </a:p>
          <a:p>
            <a:pPr marL="628650" lvl="1" indent="-171450">
              <a:buFont typeface="Arial" pitchFamily="34" charset="0"/>
              <a:buChar char="•"/>
            </a:pPr>
            <a:r>
              <a:rPr lang="en-AU" sz="1200" kern="1200" dirty="0" smtClean="0">
                <a:solidFill>
                  <a:schemeClr val="tx1"/>
                </a:solidFill>
                <a:ea typeface="+mn-ea"/>
                <a:cs typeface="+mn-cs"/>
              </a:rPr>
              <a:t>Addition or removal of products or services; Development of new items to target new markets; </a:t>
            </a:r>
          </a:p>
          <a:p>
            <a:pPr marL="628650" lvl="1" indent="-171450">
              <a:buFont typeface="Arial" pitchFamily="34" charset="0"/>
              <a:buChar char="•"/>
            </a:pPr>
            <a:r>
              <a:rPr lang="en-AU" sz="1200" kern="1200" dirty="0" smtClean="0">
                <a:solidFill>
                  <a:schemeClr val="tx1"/>
                </a:solidFill>
                <a:ea typeface="+mn-ea"/>
                <a:cs typeface="+mn-cs"/>
              </a:rPr>
              <a:t>Production of materials in new language; Support for new campaign; Inclusion of material relating to an award won or accreditation received; Changing items to reflect new image or change of ownership/management.</a:t>
            </a:r>
          </a:p>
          <a:p>
            <a:pPr marL="171450" indent="-171450">
              <a:buFont typeface="Arial" panose="020B0604020202020204" pitchFamily="34" charset="0"/>
              <a:buChar char="•"/>
            </a:pPr>
            <a:r>
              <a:rPr lang="en-AU" sz="1200" b="1" kern="1200" dirty="0" smtClean="0">
                <a:solidFill>
                  <a:schemeClr val="tx1"/>
                </a:solidFill>
                <a:ea typeface="+mn-ea"/>
                <a:cs typeface="+mn-cs"/>
              </a:rPr>
              <a:t>Identifying evaluation methods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Sometimes there is a requirement to determine in advance what will be used to determine whether or not the brochures and items produced have achieved there expected outcomes or not.</a:t>
            </a:r>
          </a:p>
          <a:p>
            <a:r>
              <a:rPr lang="en-AU" sz="1200" kern="1200" dirty="0" smtClean="0">
                <a:solidFill>
                  <a:schemeClr val="tx1"/>
                </a:solidFill>
                <a:ea typeface="+mn-ea"/>
                <a:cs typeface="+mn-cs"/>
              </a:rPr>
              <a:t>This relates to identifying what KPIs will be used to judge how effective certain brochures/items have been – such ass:</a:t>
            </a:r>
          </a:p>
          <a:p>
            <a:pPr marL="171450" indent="-171450">
              <a:buFont typeface="Arial" pitchFamily="34" charset="0"/>
              <a:buChar char="•"/>
            </a:pPr>
            <a:r>
              <a:rPr lang="en-AU" sz="1200" kern="1200" dirty="0" smtClean="0">
                <a:solidFill>
                  <a:schemeClr val="tx1"/>
                </a:solidFill>
                <a:ea typeface="+mn-ea"/>
                <a:cs typeface="+mn-cs"/>
              </a:rPr>
              <a:t>To increase or generate sales:</a:t>
            </a:r>
          </a:p>
          <a:p>
            <a:pPr marL="628650" lvl="1" indent="-171450">
              <a:buFont typeface="Arial" pitchFamily="34" charset="0"/>
              <a:buChar char="•"/>
            </a:pPr>
            <a:r>
              <a:rPr lang="en-US" sz="1200" kern="1200" dirty="0" smtClean="0">
                <a:solidFill>
                  <a:schemeClr val="tx1"/>
                </a:solidFill>
                <a:ea typeface="+mn-ea"/>
                <a:cs typeface="+mn-cs"/>
              </a:rPr>
              <a:t>Setting a certain </a:t>
            </a:r>
            <a:r>
              <a:rPr lang="en-US" sz="1200" i="1" kern="1200" dirty="0" smtClean="0">
                <a:solidFill>
                  <a:schemeClr val="tx1"/>
                </a:solidFill>
                <a:ea typeface="+mn-ea"/>
                <a:cs typeface="+mn-cs"/>
              </a:rPr>
              <a:t>percentage</a:t>
            </a:r>
            <a:r>
              <a:rPr lang="en-US" sz="1200" kern="1200" dirty="0" smtClean="0">
                <a:solidFill>
                  <a:schemeClr val="tx1"/>
                </a:solidFill>
                <a:ea typeface="+mn-ea"/>
                <a:cs typeface="+mn-cs"/>
              </a:rPr>
              <a:t> increase in revenue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Nominating a certain </a:t>
            </a:r>
            <a:r>
              <a:rPr lang="en-US" sz="1200" i="1" kern="1200" dirty="0" smtClean="0">
                <a:solidFill>
                  <a:schemeClr val="tx1"/>
                </a:solidFill>
                <a:ea typeface="+mn-ea"/>
                <a:cs typeface="+mn-cs"/>
              </a:rPr>
              <a:t>amount</a:t>
            </a:r>
            <a:r>
              <a:rPr lang="en-US" sz="1200" kern="1200" dirty="0" smtClean="0">
                <a:solidFill>
                  <a:schemeClr val="tx1"/>
                </a:solidFill>
                <a:ea typeface="+mn-ea"/>
                <a:cs typeface="+mn-cs"/>
              </a:rPr>
              <a:t>/target of sales to be achieved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To increase/generate enquiries:</a:t>
            </a:r>
          </a:p>
          <a:p>
            <a:pPr marL="628650" lvl="1" indent="-171450">
              <a:buFont typeface="Arial" pitchFamily="34" charset="0"/>
              <a:buChar char="•"/>
            </a:pPr>
            <a:r>
              <a:rPr lang="en-US" sz="1200" kern="1200" dirty="0" smtClean="0">
                <a:solidFill>
                  <a:schemeClr val="tx1"/>
                </a:solidFill>
                <a:ea typeface="+mn-ea"/>
                <a:cs typeface="+mn-cs"/>
              </a:rPr>
              <a:t>Setting a certain </a:t>
            </a:r>
            <a:r>
              <a:rPr lang="en-US" sz="1200" i="1" kern="1200" dirty="0" smtClean="0">
                <a:solidFill>
                  <a:schemeClr val="tx1"/>
                </a:solidFill>
                <a:ea typeface="+mn-ea"/>
                <a:cs typeface="+mn-cs"/>
              </a:rPr>
              <a:t>percentage</a:t>
            </a:r>
            <a:r>
              <a:rPr lang="en-US" sz="1200" kern="1200" dirty="0" smtClean="0">
                <a:solidFill>
                  <a:schemeClr val="tx1"/>
                </a:solidFill>
                <a:ea typeface="+mn-ea"/>
                <a:cs typeface="+mn-cs"/>
              </a:rPr>
              <a:t> increase enquiries from nominated sources (telephone, online, walk-in)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Nominating a certain number of enquiries to be received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To build database contacts:</a:t>
            </a:r>
          </a:p>
          <a:p>
            <a:pPr marL="628650" lvl="1" indent="-171450">
              <a:buFont typeface="Arial" pitchFamily="34" charset="0"/>
              <a:buChar char="•"/>
            </a:pPr>
            <a:r>
              <a:rPr lang="en-US" sz="1200" kern="1200" dirty="0" smtClean="0">
                <a:solidFill>
                  <a:schemeClr val="tx1"/>
                </a:solidFill>
                <a:ea typeface="+mn-ea"/>
                <a:cs typeface="+mn-cs"/>
              </a:rPr>
              <a:t>Setting a certain </a:t>
            </a:r>
            <a:r>
              <a:rPr lang="en-US" sz="1200" i="1" kern="1200" dirty="0" smtClean="0">
                <a:solidFill>
                  <a:schemeClr val="tx1"/>
                </a:solidFill>
                <a:ea typeface="+mn-ea"/>
                <a:cs typeface="+mn-cs"/>
              </a:rPr>
              <a:t>percentage</a:t>
            </a:r>
            <a:r>
              <a:rPr lang="en-US" sz="1200" kern="1200" dirty="0" smtClean="0">
                <a:solidFill>
                  <a:schemeClr val="tx1"/>
                </a:solidFill>
                <a:ea typeface="+mn-ea"/>
                <a:cs typeface="+mn-cs"/>
              </a:rPr>
              <a:t> increase in numbers for identified target markets/database classifications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Nominating a certain number of new contacts for a new classification of customers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Identifying specific new/updated data required for given database contacts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To build awareness of the organisation and/or a specific aspect of the business:</a:t>
            </a:r>
          </a:p>
          <a:p>
            <a:pPr marL="628650" lvl="1" indent="-171450">
              <a:buFont typeface="Arial" pitchFamily="34" charset="0"/>
              <a:buChar char="•"/>
            </a:pPr>
            <a:r>
              <a:rPr lang="en-US" sz="1200" kern="1200" dirty="0" smtClean="0">
                <a:solidFill>
                  <a:schemeClr val="tx1"/>
                </a:solidFill>
                <a:ea typeface="+mn-ea"/>
                <a:cs typeface="+mn-cs"/>
              </a:rPr>
              <a:t>Setting figures for the numbers of brochures to be given away/taken by the public. </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16</a:t>
            </a:fld>
            <a:endParaRPr lang="en-US" dirty="0"/>
          </a:p>
        </p:txBody>
      </p:sp>
    </p:spTree>
    <p:extLst>
      <p:ext uri="{BB962C8B-B14F-4D97-AF65-F5344CB8AC3E}">
        <p14:creationId xmlns:p14="http://schemas.microsoft.com/office/powerpoint/2010/main" val="2696127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 continues presenting activities essential to the overall planning process:</a:t>
            </a:r>
          </a:p>
          <a:p>
            <a:r>
              <a:rPr lang="en-AU" sz="1200" b="1" kern="1200" dirty="0" smtClean="0">
                <a:solidFill>
                  <a:schemeClr val="tx1"/>
                </a:solidFill>
                <a:ea typeface="+mn-ea"/>
                <a:cs typeface="+mn-cs"/>
              </a:rPr>
              <a:t>Identifying relevant others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Stakeholders who need to be included will vary between organisations, campaigns and the individual item being produced. Those possibly needing to be involved could be:</a:t>
            </a:r>
          </a:p>
          <a:p>
            <a:pPr marL="171450" indent="-171450">
              <a:buFont typeface="Arial" pitchFamily="34" charset="0"/>
              <a:buChar char="•"/>
            </a:pPr>
            <a:r>
              <a:rPr lang="en-AU" sz="1200" kern="1200" dirty="0" smtClean="0">
                <a:solidFill>
                  <a:schemeClr val="tx1"/>
                </a:solidFill>
                <a:ea typeface="+mn-ea"/>
                <a:cs typeface="+mn-cs"/>
              </a:rPr>
              <a:t>Senior or more experienced Sales and Marketing personnel; Management; Head office; Department heads; Housekeeping; – where the venue has accommodation facilities marketing materials are often placed in guest rooms; Hospitality venues targeted by the organisation: such as local hotels; Agencies with whom the venue has a business relationship; </a:t>
            </a:r>
          </a:p>
          <a:p>
            <a:pPr marL="171450" indent="-171450">
              <a:buFont typeface="Arial" pitchFamily="34" charset="0"/>
              <a:buChar char="•"/>
            </a:pPr>
            <a:r>
              <a:rPr lang="en-AU" sz="1200" kern="1200" dirty="0" smtClean="0">
                <a:solidFill>
                  <a:schemeClr val="tx1"/>
                </a:solidFill>
                <a:ea typeface="+mn-ea"/>
                <a:cs typeface="+mn-cs"/>
              </a:rPr>
              <a:t>Airlines, bus/coach companies and other carriers; Inbound and local tour operators; Tourist information centres; Other tourist attractions ‘ Any business, location, or organisation where the venue traditionally places brochures and materials.</a:t>
            </a:r>
          </a:p>
          <a:p>
            <a:r>
              <a:rPr lang="en-AU" sz="1200" b="1" kern="1200" dirty="0" smtClean="0">
                <a:solidFill>
                  <a:schemeClr val="tx1"/>
                </a:solidFill>
                <a:ea typeface="+mn-ea"/>
                <a:cs typeface="+mn-cs"/>
              </a:rPr>
              <a:t>Clarifying resources available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Resources refer to:</a:t>
            </a:r>
          </a:p>
          <a:p>
            <a:pPr marL="171450" indent="-171450">
              <a:buFont typeface="Arial" pitchFamily="34" charset="0"/>
              <a:buChar char="•"/>
            </a:pPr>
            <a:r>
              <a:rPr lang="en-AU" sz="1200" kern="1200" dirty="0" smtClean="0">
                <a:solidFill>
                  <a:schemeClr val="tx1"/>
                </a:solidFill>
                <a:ea typeface="+mn-ea"/>
                <a:cs typeface="+mn-cs"/>
              </a:rPr>
              <a:t>Financial resources – the cash/money available</a:t>
            </a:r>
          </a:p>
          <a:p>
            <a:pPr marL="171450" indent="-171450">
              <a:buFont typeface="Arial" pitchFamily="34" charset="0"/>
              <a:buChar char="•"/>
            </a:pPr>
            <a:r>
              <a:rPr lang="en-AU" sz="1200" kern="1200" dirty="0" smtClean="0">
                <a:solidFill>
                  <a:schemeClr val="tx1"/>
                </a:solidFill>
                <a:ea typeface="+mn-ea"/>
                <a:cs typeface="+mn-cs"/>
              </a:rPr>
              <a:t>Human resources – staff/hours available</a:t>
            </a:r>
          </a:p>
          <a:p>
            <a:pPr marL="171450" indent="-171450">
              <a:buFont typeface="Arial" pitchFamily="34" charset="0"/>
              <a:buChar char="•"/>
            </a:pPr>
            <a:r>
              <a:rPr lang="en-AU" sz="1200" kern="1200" dirty="0" smtClean="0">
                <a:solidFill>
                  <a:schemeClr val="tx1"/>
                </a:solidFill>
                <a:ea typeface="+mn-ea"/>
                <a:cs typeface="+mn-cs"/>
              </a:rPr>
              <a:t>Physical resources – equipment, technology and stock</a:t>
            </a:r>
          </a:p>
          <a:p>
            <a:pPr marL="171450" indent="-171450">
              <a:buFont typeface="Arial" pitchFamily="34" charset="0"/>
              <a:buChar char="•"/>
            </a:pPr>
            <a:r>
              <a:rPr lang="en-AU" sz="1200" kern="1200" dirty="0" smtClean="0">
                <a:solidFill>
                  <a:schemeClr val="tx1"/>
                </a:solidFill>
                <a:ea typeface="+mn-ea"/>
                <a:cs typeface="+mn-cs"/>
              </a:rPr>
              <a:t>Information – about business plans and goals, products and services, venues, carriers, destinations and all related topics.</a:t>
            </a:r>
          </a:p>
          <a:p>
            <a:pPr marL="628650" lvl="1" indent="-171450">
              <a:buFont typeface="Arial" pitchFamily="34" charset="0"/>
              <a:buChar char="•"/>
            </a:pPr>
            <a:r>
              <a:rPr lang="en-AU" sz="1200" kern="1200" dirty="0" smtClean="0">
                <a:solidFill>
                  <a:schemeClr val="tx1"/>
                </a:solidFill>
                <a:ea typeface="+mn-ea"/>
                <a:cs typeface="+mn-cs"/>
              </a:rPr>
              <a:t>It may be possible resources can be obtained from a variety/mix of sources – such as:</a:t>
            </a:r>
          </a:p>
          <a:p>
            <a:pPr marL="1085850" lvl="2" indent="-171450">
              <a:buFont typeface="Arial" pitchFamily="34" charset="0"/>
              <a:buChar char="•"/>
            </a:pPr>
            <a:r>
              <a:rPr lang="en-AU" sz="1200" kern="1200" dirty="0" smtClean="0">
                <a:solidFill>
                  <a:schemeClr val="tx1"/>
                </a:solidFill>
                <a:ea typeface="+mn-ea"/>
                <a:cs typeface="+mn-cs"/>
              </a:rPr>
              <a:t>The host organisation – often (but not always) the primary source; Joint venture partners; Carriers; Destinations and attractions; Industry groups, associations and bodies; Government agencies.</a:t>
            </a:r>
          </a:p>
          <a:p>
            <a:r>
              <a:rPr lang="en-AU" sz="1200" b="1" kern="1200" dirty="0" smtClean="0">
                <a:solidFill>
                  <a:schemeClr val="tx1"/>
                </a:solidFill>
                <a:ea typeface="+mn-ea"/>
                <a:cs typeface="+mn-cs"/>
              </a:rPr>
              <a:t>Identifying potential problems</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planning process should always seek to identify issues that may impact on developing and producing materials.</a:t>
            </a:r>
          </a:p>
          <a:p>
            <a:r>
              <a:rPr lang="en-AU" sz="1200" kern="1200" dirty="0" smtClean="0">
                <a:solidFill>
                  <a:schemeClr val="tx1"/>
                </a:solidFill>
                <a:ea typeface="+mn-ea"/>
                <a:cs typeface="+mn-cs"/>
              </a:rPr>
              <a:t>The aim of doing this is to identify plans for effectively addressing the issues which have been identified.</a:t>
            </a:r>
          </a:p>
          <a:p>
            <a:r>
              <a:rPr lang="en-AU" sz="1200" kern="1200" dirty="0" smtClean="0">
                <a:solidFill>
                  <a:schemeClr val="tx1"/>
                </a:solidFill>
                <a:ea typeface="+mn-ea"/>
                <a:cs typeface="+mn-cs"/>
              </a:rPr>
              <a:t>There is no comprehensive list of what these may be but the following is an indicative list:</a:t>
            </a:r>
          </a:p>
          <a:p>
            <a:pPr marL="171450" indent="-171450">
              <a:buFont typeface="Arial" pitchFamily="34" charset="0"/>
              <a:buChar char="•"/>
            </a:pPr>
            <a:r>
              <a:rPr lang="en-AU" sz="1200" kern="1200" dirty="0" smtClean="0">
                <a:solidFill>
                  <a:schemeClr val="tx1"/>
                </a:solidFill>
                <a:ea typeface="+mn-ea"/>
                <a:cs typeface="+mn-cs"/>
              </a:rPr>
              <a:t>Absence of sufficient funds</a:t>
            </a:r>
          </a:p>
          <a:p>
            <a:pPr marL="171450" indent="-171450">
              <a:buFont typeface="Arial" pitchFamily="34" charset="0"/>
              <a:buChar char="•"/>
            </a:pPr>
            <a:r>
              <a:rPr lang="en-AU" sz="1200" kern="1200" dirty="0" smtClean="0">
                <a:solidFill>
                  <a:schemeClr val="tx1"/>
                </a:solidFill>
                <a:ea typeface="+mn-ea"/>
                <a:cs typeface="+mn-cs"/>
              </a:rPr>
              <a:t>Clash of demand on personnel required to participate/contribute</a:t>
            </a:r>
          </a:p>
          <a:p>
            <a:pPr marL="171450" indent="-171450">
              <a:buFont typeface="Arial" pitchFamily="34" charset="0"/>
              <a:buChar char="•"/>
            </a:pPr>
            <a:r>
              <a:rPr lang="en-AU" sz="1200" kern="1200" dirty="0" smtClean="0">
                <a:solidFill>
                  <a:schemeClr val="tx1"/>
                </a:solidFill>
                <a:ea typeface="+mn-ea"/>
                <a:cs typeface="+mn-cs"/>
              </a:rPr>
              <a:t>Limits on availability or presence of required information/data</a:t>
            </a:r>
          </a:p>
          <a:p>
            <a:pPr marL="171450" indent="-171450">
              <a:buFont typeface="Arial" pitchFamily="34" charset="0"/>
              <a:buChar char="•"/>
            </a:pPr>
            <a:r>
              <a:rPr lang="en-AU" sz="1200" kern="1200" dirty="0" smtClean="0">
                <a:solidFill>
                  <a:schemeClr val="tx1"/>
                </a:solidFill>
                <a:ea typeface="+mn-ea"/>
                <a:cs typeface="+mn-cs"/>
              </a:rPr>
              <a:t>Timelines for production are too tight or unrealistic.</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17</a:t>
            </a:fld>
            <a:endParaRPr lang="en-US" dirty="0"/>
          </a:p>
        </p:txBody>
      </p:sp>
    </p:spTree>
    <p:extLst>
      <p:ext uri="{BB962C8B-B14F-4D97-AF65-F5344CB8AC3E}">
        <p14:creationId xmlns:p14="http://schemas.microsoft.com/office/powerpoint/2010/main" val="11697535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a:t>
            </a:r>
            <a:r>
              <a:rPr lang="en-AU" sz="1200" kern="1200" dirty="0" smtClean="0">
                <a:solidFill>
                  <a:schemeClr val="tx1"/>
                </a:solidFill>
                <a:ea typeface="+mn-ea"/>
                <a:cs typeface="+mn-cs"/>
              </a:rPr>
              <a:t>action plans are needed for each individual item to be produced because:</a:t>
            </a:r>
          </a:p>
          <a:p>
            <a:pPr marL="171450" indent="-171450">
              <a:buFont typeface="Arial" pitchFamily="34" charset="0"/>
              <a:buChar char="•"/>
            </a:pPr>
            <a:r>
              <a:rPr lang="en-AU" sz="1200" kern="1200" dirty="0" smtClean="0">
                <a:solidFill>
                  <a:schemeClr val="tx1"/>
                </a:solidFill>
                <a:ea typeface="+mn-ea"/>
                <a:cs typeface="+mn-cs"/>
              </a:rPr>
              <a:t>The needs of each item (content, prices, information, dates, times) are usually different</a:t>
            </a:r>
          </a:p>
          <a:p>
            <a:pPr marL="171450" indent="-171450">
              <a:buFont typeface="Arial" pitchFamily="34" charset="0"/>
              <a:buChar char="•"/>
            </a:pPr>
            <a:r>
              <a:rPr lang="en-AU" sz="1200" kern="1200" dirty="0" smtClean="0">
                <a:solidFill>
                  <a:schemeClr val="tx1"/>
                </a:solidFill>
                <a:ea typeface="+mn-ea"/>
                <a:cs typeface="+mn-cs"/>
              </a:rPr>
              <a:t>The factors (budget, timelines, quantities required) impacting each item vary</a:t>
            </a:r>
          </a:p>
          <a:p>
            <a:pPr marL="171450" indent="-171450">
              <a:buFont typeface="Arial" pitchFamily="34" charset="0"/>
              <a:buChar char="•"/>
            </a:pPr>
            <a:r>
              <a:rPr lang="en-AU" sz="1200" kern="1200" dirty="0" smtClean="0">
                <a:solidFill>
                  <a:schemeClr val="tx1"/>
                </a:solidFill>
                <a:ea typeface="+mn-ea"/>
                <a:cs typeface="+mn-cs"/>
              </a:rPr>
              <a:t>Individual plans enable better control and optimise the likelihood of a more effective/successful outcome – this allows better tracking of progress</a:t>
            </a:r>
          </a:p>
          <a:p>
            <a:pPr marL="171450" indent="-171450">
              <a:buFont typeface="Arial" pitchFamily="34" charset="0"/>
              <a:buChar char="•"/>
            </a:pPr>
            <a:r>
              <a:rPr lang="en-AU" sz="1200" kern="1200" dirty="0" smtClean="0">
                <a:solidFill>
                  <a:schemeClr val="tx1"/>
                </a:solidFill>
                <a:ea typeface="+mn-ea"/>
                <a:cs typeface="+mn-cs"/>
              </a:rPr>
              <a:t>Different items are often produced by different external providers – so a plan for each product facilitates more effective management of the process for each item</a:t>
            </a:r>
          </a:p>
          <a:p>
            <a:pPr marL="171450" indent="-171450">
              <a:buFont typeface="Arial" pitchFamily="34" charset="0"/>
              <a:buChar char="•"/>
            </a:pPr>
            <a:r>
              <a:rPr lang="en-AU" sz="1200" kern="1200" dirty="0" smtClean="0">
                <a:solidFill>
                  <a:schemeClr val="tx1"/>
                </a:solidFill>
                <a:ea typeface="+mn-ea"/>
                <a:cs typeface="+mn-cs"/>
              </a:rPr>
              <a:t>It enables more efficient management of resources for each item</a:t>
            </a:r>
          </a:p>
          <a:p>
            <a:pPr marL="171450" indent="-171450">
              <a:buFont typeface="Arial" pitchFamily="34" charset="0"/>
              <a:buChar char="•"/>
            </a:pPr>
            <a:r>
              <a:rPr lang="en-AU" sz="1200" kern="1200" dirty="0" smtClean="0">
                <a:solidFill>
                  <a:schemeClr val="tx1"/>
                </a:solidFill>
                <a:ea typeface="+mn-ea"/>
                <a:cs typeface="+mn-cs"/>
              </a:rPr>
              <a:t>This approach supports better evaluation of outcomes.</a:t>
            </a:r>
          </a:p>
          <a:p>
            <a:pPr>
              <a:buFont typeface="Arial" pitchFamily="34" charset="0"/>
              <a:buNone/>
            </a:pPr>
            <a:r>
              <a:rPr lang="en-US" noProof="0" dirty="0" smtClean="0"/>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18</a:t>
            </a:fld>
            <a:endParaRPr lang="en-US" dirty="0"/>
          </a:p>
        </p:txBody>
      </p:sp>
    </p:spTree>
    <p:extLst>
      <p:ext uri="{BB962C8B-B14F-4D97-AF65-F5344CB8AC3E}">
        <p14:creationId xmlns:p14="http://schemas.microsoft.com/office/powerpoint/2010/main" val="42039408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suggests </a:t>
            </a:r>
            <a:r>
              <a:rPr lang="en-AU" sz="1200" kern="1200" dirty="0" smtClean="0">
                <a:solidFill>
                  <a:schemeClr val="tx1"/>
                </a:solidFill>
                <a:ea typeface="+mn-ea"/>
                <a:cs typeface="+mn-cs"/>
              </a:rPr>
              <a:t>considerations which have emerged as relevant to the development of action plans for developing/producing marketing items include:</a:t>
            </a:r>
          </a:p>
          <a:p>
            <a:pPr marL="171450" indent="-171450">
              <a:buFont typeface="Arial" pitchFamily="34" charset="0"/>
              <a:buChar char="•"/>
            </a:pPr>
            <a:r>
              <a:rPr lang="en-AU" sz="1200" kern="1200" dirty="0" smtClean="0">
                <a:solidFill>
                  <a:schemeClr val="tx1"/>
                </a:solidFill>
                <a:ea typeface="+mn-ea"/>
                <a:cs typeface="+mn-cs"/>
              </a:rPr>
              <a:t>Identifying, detailing and clarifying individual steps to be undertaken in the development and production phases – these may include:</a:t>
            </a:r>
          </a:p>
          <a:p>
            <a:pPr marL="628650" lvl="1" indent="-171450">
              <a:buFont typeface="Arial" pitchFamily="34" charset="0"/>
              <a:buChar char="•"/>
            </a:pPr>
            <a:r>
              <a:rPr lang="en-US" sz="1200" kern="1200" dirty="0" smtClean="0">
                <a:solidFill>
                  <a:schemeClr val="tx1"/>
                </a:solidFill>
                <a:ea typeface="+mn-ea"/>
                <a:cs typeface="+mn-cs"/>
              </a:rPr>
              <a:t>Determining stakeholders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Working out content and objectives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Settling timelines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Producing KPIs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Allocating roles and responsibilities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Allocating resources to the development and production phases – in terms of:</a:t>
            </a:r>
          </a:p>
          <a:p>
            <a:pPr marL="628650" lvl="1" indent="-171450">
              <a:buFont typeface="Arial" pitchFamily="34" charset="0"/>
              <a:buChar char="•"/>
            </a:pPr>
            <a:r>
              <a:rPr lang="en-US" sz="1200" kern="1200" dirty="0" smtClean="0">
                <a:solidFill>
                  <a:schemeClr val="tx1"/>
                </a:solidFill>
                <a:ea typeface="+mn-ea"/>
                <a:cs typeface="+mn-cs"/>
              </a:rPr>
              <a:t>Individual internal staff and the work they are expected to undertake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Allocation of labour/hours to the project/plan/item</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Working out needs and requirements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Canvassing all types of resource needs (financial, human, physical, information)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Sourcing supplementary/complementary funding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Identifying individual responsibilities – for:</a:t>
            </a:r>
          </a:p>
          <a:p>
            <a:pPr marL="628650" lvl="1" indent="-171450">
              <a:buFont typeface="Arial" pitchFamily="34" charset="0"/>
              <a:buChar char="•"/>
            </a:pPr>
            <a:r>
              <a:rPr lang="en-US" sz="1200" kern="1200" dirty="0" smtClean="0">
                <a:solidFill>
                  <a:schemeClr val="tx1"/>
                </a:solidFill>
                <a:ea typeface="+mn-ea"/>
                <a:cs typeface="+mn-cs"/>
              </a:rPr>
              <a:t>The activities necessary as part of the pre-development phase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Work needed in the production phases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Internal and external people</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19</a:t>
            </a:fld>
            <a:endParaRPr lang="en-US" dirty="0"/>
          </a:p>
        </p:txBody>
      </p:sp>
    </p:spTree>
    <p:extLst>
      <p:ext uri="{BB962C8B-B14F-4D97-AF65-F5344CB8AC3E}">
        <p14:creationId xmlns:p14="http://schemas.microsoft.com/office/powerpoint/2010/main" val="15596199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identifying considerations for plans:</a:t>
            </a:r>
          </a:p>
          <a:p>
            <a:pPr marL="171450" indent="-171450">
              <a:buFont typeface="Arial" pitchFamily="34" charset="0"/>
              <a:buChar char="•"/>
            </a:pPr>
            <a:r>
              <a:rPr lang="en-AU" sz="1200" kern="1200" dirty="0" smtClean="0">
                <a:solidFill>
                  <a:schemeClr val="tx1"/>
                </a:solidFill>
                <a:ea typeface="+mn-ea"/>
                <a:cs typeface="+mn-cs"/>
              </a:rPr>
              <a:t>Specifying parameters for the plan – in terms of:</a:t>
            </a:r>
          </a:p>
          <a:p>
            <a:pPr marL="628650" lvl="1" indent="-171450">
              <a:buFont typeface="Arial" pitchFamily="34" charset="0"/>
              <a:buChar char="•"/>
            </a:pPr>
            <a:r>
              <a:rPr lang="en-US" sz="1200" kern="1200" dirty="0" smtClean="0">
                <a:solidFill>
                  <a:schemeClr val="tx1"/>
                </a:solidFill>
                <a:ea typeface="+mn-ea"/>
                <a:cs typeface="+mn-cs"/>
              </a:rPr>
              <a:t>Timelines and target dates for the completion of components of each plan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Quality standards and criteria</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Costs/expenditure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Hours worked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Incorporating relevant data – which may require:</a:t>
            </a:r>
          </a:p>
          <a:p>
            <a:pPr marL="628650" lvl="1" indent="-171450">
              <a:buFont typeface="Arial" pitchFamily="34" charset="0"/>
              <a:buChar char="•"/>
            </a:pPr>
            <a:r>
              <a:rPr lang="en-US" sz="1200" kern="1200" dirty="0" smtClean="0">
                <a:solidFill>
                  <a:schemeClr val="tx1"/>
                </a:solidFill>
                <a:ea typeface="+mn-ea"/>
                <a:cs typeface="+mn-cs"/>
              </a:rPr>
              <a:t>Referring to previous marketing activities as a basis for future marketing activities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Seeking input and comment from relevant stakeholders as appropriate to individual project requirements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Generating new market research data</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Communicating the contents of action plans:</a:t>
            </a:r>
          </a:p>
          <a:p>
            <a:pPr marL="628650" lvl="1" indent="-171450">
              <a:buFont typeface="Arial" pitchFamily="34" charset="0"/>
              <a:buChar char="•"/>
            </a:pPr>
            <a:r>
              <a:rPr lang="en-US" sz="1200" kern="1200" dirty="0" smtClean="0">
                <a:solidFill>
                  <a:schemeClr val="tx1"/>
                </a:solidFill>
                <a:ea typeface="+mn-ea"/>
                <a:cs typeface="+mn-cs"/>
              </a:rPr>
              <a:t>With relevant stakeholders – to keep them informed and seek their feedback/comment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To explain specific requirements and responsibilities that apply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So those with roles and responsibilities under the plan are aware of what they are expected to do, when they are expected to have it competed and the standard that apply to the work they have to do.</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Small Group Exercise</a:t>
            </a:r>
          </a:p>
          <a:p>
            <a:pPr>
              <a:buFont typeface="Arial" pitchFamily="34" charset="0"/>
              <a:buNone/>
            </a:pPr>
            <a:r>
              <a:rPr lang="en-US" b="0" noProof="0" dirty="0" smtClean="0"/>
              <a:t>Trainer asks students to identify a target/focus for a marketing item and develop an action plan for the development of same.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20</a:t>
            </a:fld>
            <a:endParaRPr lang="en-US" dirty="0"/>
          </a:p>
        </p:txBody>
      </p:sp>
    </p:spTree>
    <p:extLst>
      <p:ext uri="{BB962C8B-B14F-4D97-AF65-F5344CB8AC3E}">
        <p14:creationId xmlns:p14="http://schemas.microsoft.com/office/powerpoint/2010/main" val="275929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the </a:t>
            </a:r>
            <a:r>
              <a:rPr lang="en-AU" sz="1200" kern="1200" dirty="0" smtClean="0">
                <a:solidFill>
                  <a:schemeClr val="tx1"/>
                </a:solidFill>
                <a:ea typeface="+mn-ea"/>
                <a:cs typeface="+mn-cs"/>
              </a:rPr>
              <a:t>extent to which each of the factors identified will impact/influence the process will vary considerably based on:</a:t>
            </a:r>
          </a:p>
          <a:p>
            <a:pPr marL="171450" indent="-171450">
              <a:buFont typeface="Arial" pitchFamily="34" charset="0"/>
              <a:buChar char="•"/>
            </a:pPr>
            <a:r>
              <a:rPr lang="en-AU" sz="1200" kern="1200" dirty="0" smtClean="0">
                <a:solidFill>
                  <a:schemeClr val="tx1"/>
                </a:solidFill>
                <a:ea typeface="+mn-ea"/>
                <a:cs typeface="+mn-cs"/>
              </a:rPr>
              <a:t>The urgency associated with producing each item – the timelines which apply</a:t>
            </a:r>
          </a:p>
          <a:p>
            <a:pPr marL="171450" indent="-171450">
              <a:buFont typeface="Arial" pitchFamily="34" charset="0"/>
              <a:buChar char="•"/>
            </a:pPr>
            <a:r>
              <a:rPr lang="en-AU" sz="1200" kern="1200" dirty="0" smtClean="0">
                <a:solidFill>
                  <a:schemeClr val="tx1"/>
                </a:solidFill>
                <a:ea typeface="+mn-ea"/>
                <a:cs typeface="+mn-cs"/>
              </a:rPr>
              <a:t>The focus of the item – in terms of whether it is as critical/central element of a campaign or merely a peripheral item supplementing something bigger </a:t>
            </a:r>
          </a:p>
          <a:p>
            <a:pPr marL="171450" indent="-171450">
              <a:buFont typeface="Arial" pitchFamily="34" charset="0"/>
              <a:buChar char="•"/>
            </a:pPr>
            <a:r>
              <a:rPr lang="en-AU" sz="1200" kern="1200" dirty="0" smtClean="0">
                <a:solidFill>
                  <a:schemeClr val="tx1"/>
                </a:solidFill>
                <a:ea typeface="+mn-ea"/>
                <a:cs typeface="+mn-cs"/>
              </a:rPr>
              <a:t>The amount of money involved – the more money involved, the greater the need for detailed planning</a:t>
            </a:r>
          </a:p>
          <a:p>
            <a:pPr marL="171450" indent="-171450">
              <a:buFont typeface="Arial" pitchFamily="34" charset="0"/>
              <a:buChar char="•"/>
            </a:pPr>
            <a:r>
              <a:rPr lang="en-AU" sz="1200" kern="1200" dirty="0" smtClean="0">
                <a:solidFill>
                  <a:schemeClr val="tx1"/>
                </a:solidFill>
                <a:ea typeface="+mn-ea"/>
                <a:cs typeface="+mn-cs"/>
              </a:rPr>
              <a:t>Previous experience with the same thing/similar items.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21</a:t>
            </a:fld>
            <a:endParaRPr lang="en-US" dirty="0"/>
          </a:p>
        </p:txBody>
      </p:sp>
    </p:spTree>
    <p:extLst>
      <p:ext uri="{BB962C8B-B14F-4D97-AF65-F5344CB8AC3E}">
        <p14:creationId xmlns:p14="http://schemas.microsoft.com/office/powerpoint/2010/main" val="170750680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22</a:t>
            </a:fld>
            <a:endParaRPr lang="en-US" dirty="0"/>
          </a:p>
        </p:txBody>
      </p:sp>
    </p:spTree>
    <p:extLst>
      <p:ext uri="{BB962C8B-B14F-4D97-AF65-F5344CB8AC3E}">
        <p14:creationId xmlns:p14="http://schemas.microsoft.com/office/powerpoint/2010/main" val="37452319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23</a:t>
            </a:fld>
            <a:endParaRPr lang="en-US" dirty="0"/>
          </a:p>
        </p:txBody>
      </p:sp>
    </p:spTree>
    <p:extLst>
      <p:ext uri="{BB962C8B-B14F-4D97-AF65-F5344CB8AC3E}">
        <p14:creationId xmlns:p14="http://schemas.microsoft.com/office/powerpoint/2010/main" val="21943615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24</a:t>
            </a:fld>
            <a:endParaRPr lang="en-US" dirty="0"/>
          </a:p>
        </p:txBody>
      </p:sp>
    </p:spTree>
    <p:extLst>
      <p:ext uri="{BB962C8B-B14F-4D97-AF65-F5344CB8AC3E}">
        <p14:creationId xmlns:p14="http://schemas.microsoft.com/office/powerpoint/2010/main" val="25279135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are inclusions’?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is there a need to determine these?</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Who might be involved in the process?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When would this work be done?</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endParaRPr lang="en-AU" sz="1200" kern="1200" baseline="0" dirty="0" smtClean="0">
              <a:solidFill>
                <a:schemeClr val="tx1"/>
              </a:solidFill>
              <a:ea typeface="+mn-ea"/>
              <a:cs typeface="+mn-cs"/>
            </a:endParaRP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25</a:t>
            </a:fld>
            <a:endParaRPr lang="en-US" dirty="0"/>
          </a:p>
        </p:txBody>
      </p:sp>
    </p:spTree>
    <p:extLst>
      <p:ext uri="{BB962C8B-B14F-4D97-AF65-F5344CB8AC3E}">
        <p14:creationId xmlns:p14="http://schemas.microsoft.com/office/powerpoint/2010/main" val="25238391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noProof="0" dirty="0" smtClean="0"/>
              <a:t>Trainer advises </a:t>
            </a:r>
            <a:r>
              <a:rPr lang="en-AU" sz="1200" kern="1200" dirty="0" smtClean="0">
                <a:solidFill>
                  <a:schemeClr val="tx1"/>
                </a:solidFill>
                <a:ea typeface="+mn-ea"/>
                <a:cs typeface="+mn-cs"/>
              </a:rPr>
              <a:t>‘Targets’ refers to ‘target markets’ as defined by the individual organisation and these definitions vary between operators emphasising it is important to note:</a:t>
            </a:r>
          </a:p>
          <a:p>
            <a:pPr marL="171450" indent="-171450">
              <a:buFont typeface="Arial" pitchFamily="34" charset="0"/>
              <a:buChar char="•"/>
            </a:pPr>
            <a:r>
              <a:rPr lang="en-AU" sz="1200" kern="1200" dirty="0" smtClean="0">
                <a:solidFill>
                  <a:schemeClr val="tx1"/>
                </a:solidFill>
                <a:ea typeface="+mn-ea"/>
                <a:cs typeface="+mn-cs"/>
              </a:rPr>
              <a:t>There is no limit to the type/nature of targets</a:t>
            </a:r>
          </a:p>
          <a:p>
            <a:pPr marL="628650" lvl="1" indent="-171450">
              <a:buFont typeface="Arial" pitchFamily="34" charset="0"/>
              <a:buChar char="•"/>
            </a:pPr>
            <a:r>
              <a:rPr lang="en-AU" sz="1200" kern="1200" dirty="0" smtClean="0">
                <a:solidFill>
                  <a:schemeClr val="tx1"/>
                </a:solidFill>
                <a:ea typeface="+mn-ea"/>
                <a:cs typeface="+mn-cs"/>
              </a:rPr>
              <a:t>A brochure/marketing item may be targeted at one or more than one market/target</a:t>
            </a:r>
          </a:p>
          <a:p>
            <a:pPr marL="171450" indent="-171450">
              <a:buFont typeface="Arial" pitchFamily="34" charset="0"/>
              <a:buChar char="•"/>
            </a:pPr>
            <a:r>
              <a:rPr lang="en-AU" sz="1200" kern="1200" dirty="0" smtClean="0">
                <a:solidFill>
                  <a:schemeClr val="tx1"/>
                </a:solidFill>
                <a:ea typeface="+mn-ea"/>
                <a:cs typeface="+mn-cs"/>
              </a:rPr>
              <a:t>The anticipated/expected outcome for the item need to correspond to what is produced and to align with the  target (market) the item is aimed at</a:t>
            </a:r>
          </a:p>
          <a:p>
            <a:pPr marL="171450" indent="-171450">
              <a:buFont typeface="Arial" pitchFamily="34" charset="0"/>
              <a:buChar char="•"/>
            </a:pPr>
            <a:r>
              <a:rPr lang="en-AU" sz="1200" kern="1200" dirty="0" smtClean="0">
                <a:solidFill>
                  <a:schemeClr val="tx1"/>
                </a:solidFill>
                <a:ea typeface="+mn-ea"/>
                <a:cs typeface="+mn-cs"/>
              </a:rPr>
              <a:t>Market research data should guide/govern production – in terms of (for example):</a:t>
            </a:r>
          </a:p>
          <a:p>
            <a:pPr marL="628650" lvl="1" indent="-171450">
              <a:buFont typeface="Arial" pitchFamily="34" charset="0"/>
              <a:buChar char="•"/>
            </a:pPr>
            <a:r>
              <a:rPr lang="en-US" sz="1200" kern="1200" dirty="0" smtClean="0">
                <a:solidFill>
                  <a:schemeClr val="tx1"/>
                </a:solidFill>
                <a:ea typeface="+mn-ea"/>
                <a:cs typeface="+mn-cs"/>
              </a:rPr>
              <a:t>How markets prefer to receive their information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What they want/need to know.</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Target markets for are likely to change over time as the organisation grows, expand their business, introduce new products/services. In reality a business may seek to:</a:t>
            </a:r>
          </a:p>
          <a:p>
            <a:pPr marL="628650" lvl="1" indent="-171450">
              <a:buFont typeface="Arial" pitchFamily="34" charset="0"/>
              <a:buChar char="•"/>
            </a:pPr>
            <a:r>
              <a:rPr lang="en-US" sz="1200" kern="1200" dirty="0" smtClean="0">
                <a:solidFill>
                  <a:schemeClr val="tx1"/>
                </a:solidFill>
                <a:ea typeface="+mn-ea"/>
                <a:cs typeface="+mn-cs"/>
              </a:rPr>
              <a:t>Expand the number of target markets it has – to capitalise on an identified opportunity, to cater for an emerging trend, to capture additional market share, to enter a new market or to respond to data uncovered by market research</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Reduce existing target markets – where it has identified a declining and unprofitable previous target market, or where it seeks to alter its image by moving </a:t>
            </a:r>
            <a:r>
              <a:rPr lang="en-US" sz="1200" i="1" kern="1200" dirty="0" smtClean="0">
                <a:solidFill>
                  <a:schemeClr val="tx1"/>
                </a:solidFill>
                <a:ea typeface="+mn-ea"/>
                <a:cs typeface="+mn-cs"/>
              </a:rPr>
              <a:t>out</a:t>
            </a:r>
            <a:r>
              <a:rPr lang="en-US" sz="1200" kern="1200" dirty="0" smtClean="0">
                <a:solidFill>
                  <a:schemeClr val="tx1"/>
                </a:solidFill>
                <a:ea typeface="+mn-ea"/>
                <a:cs typeface="+mn-cs"/>
              </a:rPr>
              <a:t> of an existing market.</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Guest Speaker</a:t>
            </a:r>
          </a:p>
          <a:p>
            <a:pPr>
              <a:buFont typeface="Arial" pitchFamily="34" charset="0"/>
              <a:buNone/>
            </a:pPr>
            <a:r>
              <a:rPr lang="en-US" b="0" noProof="0" dirty="0" smtClean="0"/>
              <a:t>Trainer arranges for manager/suitable person to attend and discuss:</a:t>
            </a:r>
          </a:p>
          <a:p>
            <a:pPr marL="171450" indent="-171450">
              <a:buFont typeface="Arial" pitchFamily="34" charset="0"/>
              <a:buChar char="•"/>
            </a:pPr>
            <a:r>
              <a:rPr lang="en-US" b="0" noProof="0" dirty="0" smtClean="0"/>
              <a:t>Target markets for their organisations describing their demographics</a:t>
            </a:r>
          </a:p>
          <a:p>
            <a:pPr marL="171450" indent="-171450">
              <a:buFont typeface="Arial" pitchFamily="34" charset="0"/>
              <a:buChar char="•"/>
            </a:pPr>
            <a:r>
              <a:rPr lang="en-US" b="0" noProof="0" dirty="0" smtClean="0"/>
              <a:t>How</a:t>
            </a:r>
            <a:r>
              <a:rPr lang="en-US" b="0" baseline="0" noProof="0" dirty="0" smtClean="0"/>
              <a:t> they determined what their markets would be</a:t>
            </a:r>
          </a:p>
          <a:p>
            <a:pPr marL="171450" indent="-171450">
              <a:buFont typeface="Arial" pitchFamily="34" charset="0"/>
              <a:buChar char="•"/>
            </a:pPr>
            <a:r>
              <a:rPr lang="en-US" b="0" baseline="0" noProof="0" dirty="0" smtClean="0"/>
              <a:t>The market research they employ to discover what their target markets are and what they want</a:t>
            </a:r>
          </a:p>
          <a:p>
            <a:pPr marL="171450" indent="-171450">
              <a:buFont typeface="Arial" pitchFamily="34" charset="0"/>
              <a:buChar char="•"/>
            </a:pPr>
            <a:r>
              <a:rPr lang="en-US" b="0" baseline="0" noProof="0" dirty="0" smtClean="0"/>
              <a:t>Why they use the concept of target markets</a:t>
            </a:r>
          </a:p>
          <a:p>
            <a:pPr marL="171450" indent="-171450">
              <a:buFont typeface="Arial" pitchFamily="34" charset="0"/>
              <a:buChar char="•"/>
            </a:pPr>
            <a:r>
              <a:rPr lang="en-US" b="0" baseline="0" noProof="0" dirty="0" smtClean="0"/>
              <a:t>How their marketing items vary to suit their different target markets</a:t>
            </a:r>
            <a:endParaRPr lang="en-US"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26</a:t>
            </a:fld>
            <a:endParaRPr lang="en-US" dirty="0"/>
          </a:p>
        </p:txBody>
      </p:sp>
    </p:spTree>
    <p:extLst>
      <p:ext uri="{BB962C8B-B14F-4D97-AF65-F5344CB8AC3E}">
        <p14:creationId xmlns:p14="http://schemas.microsoft.com/office/powerpoint/2010/main" val="2116952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noProof="0" dirty="0" smtClean="0"/>
              <a:t>Trainer gives examples of target markets:</a:t>
            </a:r>
          </a:p>
          <a:p>
            <a:pPr marL="171450" indent="-171450">
              <a:buFont typeface="Arial" pitchFamily="34" charset="0"/>
              <a:buChar char="•"/>
            </a:pPr>
            <a:r>
              <a:rPr lang="en-AU" sz="1200" kern="1200" dirty="0" smtClean="0">
                <a:solidFill>
                  <a:schemeClr val="tx1"/>
                </a:solidFill>
                <a:ea typeface="+mn-ea"/>
                <a:cs typeface="+mn-cs"/>
              </a:rPr>
              <a:t>Internal users – this refers to items aimed at: </a:t>
            </a:r>
          </a:p>
          <a:p>
            <a:pPr marL="628650" lvl="1" indent="-171450">
              <a:buFont typeface="Arial" pitchFamily="34" charset="0"/>
              <a:buChar char="•"/>
            </a:pPr>
            <a:r>
              <a:rPr lang="en-AU" sz="1200" kern="1200" dirty="0" smtClean="0">
                <a:solidFill>
                  <a:schemeClr val="tx1"/>
                </a:solidFill>
                <a:ea typeface="+mn-ea"/>
                <a:cs typeface="+mn-cs"/>
              </a:rPr>
              <a:t>Sales staff working within the business; Middle men in the sales process; Joint venture partners</a:t>
            </a:r>
          </a:p>
          <a:p>
            <a:pPr marL="628650" lvl="1" indent="-171450">
              <a:buFont typeface="Arial" pitchFamily="34" charset="0"/>
              <a:buChar char="•"/>
            </a:pPr>
            <a:r>
              <a:rPr lang="en-AU" sz="1200" kern="1200" dirty="0" smtClean="0">
                <a:solidFill>
                  <a:schemeClr val="tx1"/>
                </a:solidFill>
                <a:ea typeface="+mn-ea"/>
                <a:cs typeface="+mn-cs"/>
              </a:rPr>
              <a:t>Agencies working with/on behalf of the organisation; Operational staff</a:t>
            </a:r>
          </a:p>
          <a:p>
            <a:pPr marL="171450" indent="-171450">
              <a:buFont typeface="Arial" pitchFamily="34" charset="0"/>
              <a:buChar char="•"/>
            </a:pPr>
            <a:r>
              <a:rPr lang="en-AU" sz="1200" kern="1200" dirty="0" smtClean="0">
                <a:solidFill>
                  <a:schemeClr val="tx1"/>
                </a:solidFill>
                <a:ea typeface="+mn-ea"/>
                <a:cs typeface="+mn-cs"/>
              </a:rPr>
              <a:t>Media – in order to:</a:t>
            </a:r>
          </a:p>
          <a:p>
            <a:pPr marL="628650" lvl="1" indent="-171450">
              <a:buFont typeface="Arial" pitchFamily="34" charset="0"/>
              <a:buChar char="•"/>
            </a:pPr>
            <a:r>
              <a:rPr lang="en-AU" sz="1200" kern="1200" dirty="0" smtClean="0">
                <a:solidFill>
                  <a:schemeClr val="tx1"/>
                </a:solidFill>
                <a:ea typeface="+mn-ea"/>
                <a:cs typeface="+mn-cs"/>
              </a:rPr>
              <a:t>Provide information for publicity articles; Generate interest in an initiative; Support advertising efforts</a:t>
            </a:r>
          </a:p>
          <a:p>
            <a:pPr marL="171450" indent="-171450">
              <a:buFont typeface="Arial" pitchFamily="34" charset="0"/>
              <a:buChar char="•"/>
            </a:pPr>
            <a:r>
              <a:rPr lang="en-AU" sz="1200" kern="1200" dirty="0" smtClean="0">
                <a:solidFill>
                  <a:schemeClr val="tx1"/>
                </a:solidFill>
                <a:ea typeface="+mn-ea"/>
                <a:cs typeface="+mn-cs"/>
              </a:rPr>
              <a:t>Local people – who may be further categorised into sub-sections such as:</a:t>
            </a:r>
          </a:p>
          <a:p>
            <a:pPr marL="628650" lvl="1" indent="-171450">
              <a:buFont typeface="Arial" pitchFamily="34" charset="0"/>
              <a:buChar char="•"/>
            </a:pPr>
            <a:r>
              <a:rPr lang="en-AU" sz="1200" kern="1200" dirty="0" smtClean="0">
                <a:solidFill>
                  <a:schemeClr val="tx1"/>
                </a:solidFill>
                <a:ea typeface="+mn-ea"/>
                <a:cs typeface="+mn-cs"/>
              </a:rPr>
              <a:t>Individuals; Groups, clubs and associations; Families; Business people</a:t>
            </a:r>
          </a:p>
          <a:p>
            <a:pPr marL="171450" indent="-171450">
              <a:buFont typeface="Arial" pitchFamily="34" charset="0"/>
              <a:buChar char="•"/>
            </a:pPr>
            <a:r>
              <a:rPr lang="en-AU" sz="1200" kern="1200" dirty="0" smtClean="0">
                <a:solidFill>
                  <a:schemeClr val="tx1"/>
                </a:solidFill>
                <a:ea typeface="+mn-ea"/>
                <a:cs typeface="+mn-cs"/>
              </a:rPr>
              <a:t>International customers – who may be divided/classified by (a combination of factors) such as:</a:t>
            </a:r>
          </a:p>
          <a:p>
            <a:pPr marL="628650" lvl="1" indent="-171450">
              <a:buFont typeface="Arial" pitchFamily="34" charset="0"/>
              <a:buChar char="•"/>
            </a:pPr>
            <a:r>
              <a:rPr lang="en-AU" sz="1200" kern="1200" dirty="0" smtClean="0">
                <a:solidFill>
                  <a:schemeClr val="tx1"/>
                </a:solidFill>
                <a:ea typeface="+mn-ea"/>
                <a:cs typeface="+mn-cs"/>
              </a:rPr>
              <a:t>Country; Reason for travel; Gender; Age</a:t>
            </a:r>
          </a:p>
          <a:p>
            <a:pPr marL="171450" indent="-171450">
              <a:buFont typeface="Arial" pitchFamily="34" charset="0"/>
              <a:buChar char="•"/>
            </a:pPr>
            <a:r>
              <a:rPr lang="en-AU" sz="1200" kern="1200" dirty="0" smtClean="0">
                <a:solidFill>
                  <a:schemeClr val="tx1"/>
                </a:solidFill>
                <a:ea typeface="+mn-ea"/>
                <a:cs typeface="+mn-cs"/>
              </a:rPr>
              <a:t>Personal interests – which may give rise to classifications/distinctions such as:</a:t>
            </a:r>
          </a:p>
          <a:p>
            <a:pPr marL="628650" lvl="1" indent="-171450">
              <a:buFont typeface="Arial" pitchFamily="34" charset="0"/>
              <a:buChar char="•"/>
            </a:pPr>
            <a:r>
              <a:rPr lang="en-AU" sz="1200" kern="1200" dirty="0" smtClean="0">
                <a:solidFill>
                  <a:schemeClr val="tx1"/>
                </a:solidFill>
                <a:ea typeface="+mn-ea"/>
                <a:cs typeface="+mn-cs"/>
              </a:rPr>
              <a:t>Action tourists – those seeling excitement and action; Medical tourists – who seek operations of various types</a:t>
            </a:r>
          </a:p>
          <a:p>
            <a:pPr marL="628650" lvl="1" indent="-171450">
              <a:buFont typeface="Arial" pitchFamily="34" charset="0"/>
              <a:buChar char="•"/>
            </a:pPr>
            <a:r>
              <a:rPr lang="en-AU" sz="1200" kern="1200" dirty="0" smtClean="0">
                <a:solidFill>
                  <a:schemeClr val="tx1"/>
                </a:solidFill>
                <a:ea typeface="+mn-ea"/>
                <a:cs typeface="+mn-cs"/>
              </a:rPr>
              <a:t>Historical tours – focussing on history and wars; Experiential tourists – who want to immerse themselves into the experiences and culture of different regions/countries; Food and beverage tours – where the emphasis is on local foods, cooking, drinks and eating/dining facilities</a:t>
            </a:r>
          </a:p>
          <a:p>
            <a:pPr marL="171450" indent="-171450">
              <a:buFont typeface="Arial" pitchFamily="34" charset="0"/>
              <a:buChar char="•"/>
            </a:pPr>
            <a:r>
              <a:rPr lang="en-AU" sz="1200" kern="1200" dirty="0" smtClean="0">
                <a:solidFill>
                  <a:schemeClr val="tx1"/>
                </a:solidFill>
                <a:ea typeface="+mn-ea"/>
                <a:cs typeface="+mn-cs"/>
              </a:rPr>
              <a:t>Previous users – this is any person or organisation who has used the services of the business before.</a:t>
            </a:r>
          </a:p>
          <a:p>
            <a:pPr>
              <a:buFont typeface="Arial" pitchFamily="34" charset="0"/>
              <a:buChar char="•"/>
            </a:pPr>
            <a:endParaRPr lang="en-US" noProof="0" dirty="0" smtClean="0"/>
          </a:p>
          <a:p>
            <a:pPr>
              <a:buFont typeface="Arial" pitchFamily="34" charset="0"/>
              <a:buNone/>
            </a:pPr>
            <a:r>
              <a:rPr lang="en-US" b="1" baseline="0" noProof="0" dirty="0" smtClean="0"/>
              <a:t>Classroom Activity – Internet Research</a:t>
            </a:r>
          </a:p>
          <a:p>
            <a:pPr>
              <a:buFont typeface="Arial" pitchFamily="34" charset="0"/>
              <a:buNone/>
            </a:pPr>
            <a:r>
              <a:rPr lang="en-US" b="0" noProof="0" dirty="0" smtClean="0"/>
              <a:t>Trainer facilitates online research and discussion relating to relevant sites such as:</a:t>
            </a:r>
          </a:p>
          <a:p>
            <a:pPr marL="171450" indent="-171450">
              <a:buFont typeface="Arial" pitchFamily="34" charset="0"/>
              <a:buChar char="•"/>
            </a:pPr>
            <a:r>
              <a:rPr lang="en-AU" sz="1200" kern="1200" dirty="0" smtClean="0">
                <a:solidFill>
                  <a:schemeClr val="tx1"/>
                </a:solidFill>
                <a:ea typeface="+mn-ea"/>
                <a:cs typeface="+mn-cs"/>
              </a:rPr>
              <a:t>‘ASEAN Tourism Marketing Strategy 2012-2015 (especially Chapter 3) at </a:t>
            </a:r>
            <a:r>
              <a:rPr lang="en-AU" sz="1200" u="sng" kern="1200" dirty="0" smtClean="0">
                <a:solidFill>
                  <a:schemeClr val="tx1"/>
                </a:solidFill>
                <a:ea typeface="+mn-ea"/>
                <a:cs typeface="+mn-cs"/>
                <a:hlinkClick r:id="rId3"/>
              </a:rPr>
              <a:t>http://www10.iadb.org/intal/intalcdi/PE/2012/10151.pdf</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‘Tourism Australia: our target market’ at </a:t>
            </a:r>
            <a:r>
              <a:rPr lang="en-AU" sz="1200" u="sng" kern="1200" dirty="0" smtClean="0">
                <a:solidFill>
                  <a:schemeClr val="tx1"/>
                </a:solidFill>
                <a:ea typeface="+mn-ea"/>
                <a:cs typeface="+mn-cs"/>
                <a:hlinkClick r:id="rId4"/>
              </a:rPr>
              <a:t>http://www.tourism.australia.com/markets/our-target-consumers.aspx</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‘Tourism Australia: youth’ at </a:t>
            </a:r>
            <a:r>
              <a:rPr lang="en-AU" sz="1200" u="sng" kern="1200" dirty="0" smtClean="0">
                <a:solidFill>
                  <a:schemeClr val="tx1"/>
                </a:solidFill>
                <a:ea typeface="+mn-ea"/>
                <a:cs typeface="+mn-cs"/>
                <a:hlinkClick r:id="rId5"/>
              </a:rPr>
              <a:t>http://www.tourism.australia.com/markets/youth-markets.aspx</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‘Tourism Australia: market regions’ at </a:t>
            </a:r>
            <a:r>
              <a:rPr lang="en-AU" sz="1200" u="sng" kern="1200" dirty="0" smtClean="0">
                <a:solidFill>
                  <a:schemeClr val="tx1"/>
                </a:solidFill>
                <a:ea typeface="+mn-ea"/>
                <a:cs typeface="+mn-cs"/>
                <a:hlinkClick r:id="rId6"/>
              </a:rPr>
              <a:t>http://www.tourism.australia.com/markets/market-regions.aspx</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‘Newfoundland Canada, Dept of Tourism, Culture and Recreation ‘Target markets’ at </a:t>
            </a:r>
            <a:r>
              <a:rPr lang="en-AU" sz="1200" u="sng" kern="1200" dirty="0" smtClean="0">
                <a:solidFill>
                  <a:schemeClr val="tx1"/>
                </a:solidFill>
                <a:ea typeface="+mn-ea"/>
                <a:cs typeface="+mn-cs"/>
                <a:hlinkClick r:id="rId7"/>
              </a:rPr>
              <a:t>http://www.tcr.gov.nl.ca/tcr/tourism/tourism_marketing/target_markets.html</a:t>
            </a:r>
            <a:r>
              <a:rPr lang="en-AU" sz="1200" kern="1200" dirty="0" smtClean="0">
                <a:solidFill>
                  <a:schemeClr val="tx1"/>
                </a:solidFill>
                <a:ea typeface="+mn-ea"/>
                <a:cs typeface="+mn-cs"/>
              </a:rPr>
              <a:t>  </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27</a:t>
            </a:fld>
            <a:endParaRPr lang="en-US" dirty="0"/>
          </a:p>
        </p:txBody>
      </p:sp>
    </p:spTree>
    <p:extLst>
      <p:ext uri="{BB962C8B-B14F-4D97-AF65-F5344CB8AC3E}">
        <p14:creationId xmlns:p14="http://schemas.microsoft.com/office/powerpoint/2010/main" val="3715726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indicates </a:t>
            </a:r>
            <a:r>
              <a:rPr lang="en-AU" sz="1200" kern="1200" dirty="0" smtClean="0">
                <a:solidFill>
                  <a:schemeClr val="tx1"/>
                </a:solidFill>
                <a:ea typeface="+mn-ea"/>
                <a:cs typeface="+mn-cs"/>
              </a:rPr>
              <a:t>ways to identify the target/s for items include:</a:t>
            </a:r>
          </a:p>
          <a:p>
            <a:pPr marL="171450" indent="-171450">
              <a:buFont typeface="Arial" pitchFamily="34" charset="0"/>
              <a:buChar char="•"/>
            </a:pPr>
            <a:r>
              <a:rPr lang="en-AU" sz="1200" kern="1200" dirty="0" smtClean="0">
                <a:solidFill>
                  <a:schemeClr val="tx1"/>
                </a:solidFill>
                <a:ea typeface="+mn-ea"/>
                <a:cs typeface="+mn-cs"/>
              </a:rPr>
              <a:t>Talking to management – to get their input</a:t>
            </a:r>
          </a:p>
          <a:p>
            <a:pPr marL="171450" indent="-171450">
              <a:buFont typeface="Arial" pitchFamily="34" charset="0"/>
              <a:buChar char="•"/>
            </a:pPr>
            <a:r>
              <a:rPr lang="en-AU" sz="1200" kern="1200" dirty="0" smtClean="0">
                <a:solidFill>
                  <a:schemeClr val="tx1"/>
                </a:solidFill>
                <a:ea typeface="+mn-ea"/>
                <a:cs typeface="+mn-cs"/>
              </a:rPr>
              <a:t>Talking with relevant stakeholders – to obtain their comment and to coordinate and align organisational items with items </a:t>
            </a:r>
            <a:r>
              <a:rPr lang="en-AU" sz="1200" i="1" kern="1200" dirty="0" smtClean="0">
                <a:solidFill>
                  <a:schemeClr val="tx1"/>
                </a:solidFill>
                <a:ea typeface="+mn-ea"/>
                <a:cs typeface="+mn-cs"/>
              </a:rPr>
              <a:t>they</a:t>
            </a:r>
            <a:r>
              <a:rPr lang="en-AU" sz="1200" kern="1200" dirty="0" smtClean="0">
                <a:solidFill>
                  <a:schemeClr val="tx1"/>
                </a:solidFill>
                <a:ea typeface="+mn-ea"/>
                <a:cs typeface="+mn-cs"/>
              </a:rPr>
              <a:t> may be producing</a:t>
            </a:r>
          </a:p>
          <a:p>
            <a:pPr marL="171450" indent="-171450">
              <a:buFont typeface="Arial" pitchFamily="34" charset="0"/>
              <a:buChar char="•"/>
            </a:pPr>
            <a:r>
              <a:rPr lang="en-AU" sz="1200" kern="1200" dirty="0" smtClean="0">
                <a:solidFill>
                  <a:schemeClr val="tx1"/>
                </a:solidFill>
                <a:ea typeface="+mn-ea"/>
                <a:cs typeface="+mn-cs"/>
              </a:rPr>
              <a:t>Referring to relevant plans – to identify the targets as described in those documents which will indicate the direction the business wants to take in this regard</a:t>
            </a:r>
          </a:p>
          <a:p>
            <a:pPr marL="171450" indent="-171450">
              <a:buFont typeface="Arial" pitchFamily="34" charset="0"/>
              <a:buChar char="•"/>
            </a:pPr>
            <a:r>
              <a:rPr lang="en-AU" sz="1200" kern="1200" dirty="0" smtClean="0">
                <a:solidFill>
                  <a:schemeClr val="tx1"/>
                </a:solidFill>
                <a:ea typeface="+mn-ea"/>
                <a:cs typeface="+mn-cs"/>
              </a:rPr>
              <a:t>Analysing market research data – to identify emerging markets and to refresh knowledge regarding changing and/or ongoing requirements as they apply to existing/established markets.</a:t>
            </a:r>
          </a:p>
          <a:p>
            <a:pPr>
              <a:buFont typeface="Arial" pitchFamily="34" charset="0"/>
              <a:buNone/>
            </a:pPr>
            <a:endParaRPr lang="en-US" noProof="0" dirty="0" smtClean="0"/>
          </a:p>
          <a:p>
            <a:pPr>
              <a:buFont typeface="Arial" pitchFamily="34" charset="0"/>
              <a:buNone/>
            </a:pPr>
            <a:r>
              <a:rPr lang="en-US" b="1" noProof="0" dirty="0" smtClean="0"/>
              <a:t>Classroom Activity – Small Group Exercise</a:t>
            </a:r>
          </a:p>
          <a:p>
            <a:pPr>
              <a:buFont typeface="Arial" pitchFamily="34" charset="0"/>
              <a:buNone/>
            </a:pPr>
            <a:r>
              <a:rPr lang="en-US" b="0" noProof="0" dirty="0" smtClean="0"/>
              <a:t>Trainers asks students to develop a suite</a:t>
            </a:r>
            <a:r>
              <a:rPr lang="en-US" b="0" baseline="0" noProof="0" dirty="0" smtClean="0"/>
              <a:t> of target markets for a nominated business/industry/sector and specify the descriptors of each.</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28</a:t>
            </a:fld>
            <a:endParaRPr lang="en-US" dirty="0"/>
          </a:p>
        </p:txBody>
      </p:sp>
    </p:spTree>
    <p:extLst>
      <p:ext uri="{BB962C8B-B14F-4D97-AF65-F5344CB8AC3E}">
        <p14:creationId xmlns:p14="http://schemas.microsoft.com/office/powerpoint/2010/main" val="331995599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stresses </a:t>
            </a:r>
            <a:r>
              <a:rPr lang="en-AU" sz="1200" kern="1200" dirty="0" smtClean="0">
                <a:solidFill>
                  <a:schemeClr val="tx1"/>
                </a:solidFill>
                <a:ea typeface="+mn-ea"/>
                <a:cs typeface="+mn-cs"/>
              </a:rPr>
              <a:t>it is vital to understand:</a:t>
            </a:r>
          </a:p>
          <a:p>
            <a:pPr marL="171450" indent="-171450">
              <a:buFont typeface="Arial" pitchFamily="34" charset="0"/>
              <a:buChar char="•"/>
            </a:pPr>
            <a:r>
              <a:rPr lang="en-AU" sz="1200" kern="1200" dirty="0" smtClean="0">
                <a:solidFill>
                  <a:schemeClr val="tx1"/>
                </a:solidFill>
                <a:ea typeface="+mn-ea"/>
                <a:cs typeface="+mn-cs"/>
              </a:rPr>
              <a:t>Some materials will be generic in nature – this means there will be </a:t>
            </a:r>
            <a:r>
              <a:rPr lang="en-AU" sz="1200" i="1" kern="1200" dirty="0" smtClean="0">
                <a:solidFill>
                  <a:schemeClr val="tx1"/>
                </a:solidFill>
                <a:ea typeface="+mn-ea"/>
                <a:cs typeface="+mn-cs"/>
              </a:rPr>
              <a:t>little</a:t>
            </a:r>
            <a:r>
              <a:rPr lang="en-AU" sz="1200" kern="1200" dirty="0" smtClean="0">
                <a:solidFill>
                  <a:schemeClr val="tx1"/>
                </a:solidFill>
                <a:ea typeface="+mn-ea"/>
                <a:cs typeface="+mn-cs"/>
              </a:rPr>
              <a:t> in the way of </a:t>
            </a:r>
            <a:r>
              <a:rPr lang="en-AU" sz="1200" i="1" kern="1200" dirty="0" smtClean="0">
                <a:solidFill>
                  <a:schemeClr val="tx1"/>
                </a:solidFill>
                <a:ea typeface="+mn-ea"/>
                <a:cs typeface="+mn-cs"/>
              </a:rPr>
              <a:t>specifics</a:t>
            </a:r>
            <a:r>
              <a:rPr lang="en-AU" sz="1200" kern="1200" dirty="0" smtClean="0">
                <a:solidFill>
                  <a:schemeClr val="tx1"/>
                </a:solidFill>
                <a:ea typeface="+mn-ea"/>
                <a:cs typeface="+mn-cs"/>
              </a:rPr>
              <a:t> in terms of promoting a nominated trip/tour, or a certain product or service. This will apply to items such as:</a:t>
            </a:r>
          </a:p>
          <a:p>
            <a:pPr marL="628650" lvl="1" indent="-171450">
              <a:buFont typeface="Arial" pitchFamily="34" charset="0"/>
              <a:buChar char="•"/>
            </a:pPr>
            <a:r>
              <a:rPr lang="en-US" sz="1200" kern="1200" dirty="0" smtClean="0">
                <a:solidFill>
                  <a:schemeClr val="tx1"/>
                </a:solidFill>
                <a:ea typeface="+mn-ea"/>
                <a:cs typeface="+mn-cs"/>
              </a:rPr>
              <a:t>Travel bags; T-shirts; Key rings; Pens; Luggage tags; Give-away merchandising items; Any item intended for the mass market</a:t>
            </a:r>
            <a:endParaRPr lang="en-AU" sz="1200" kern="1200" dirty="0" smtClean="0">
              <a:solidFill>
                <a:schemeClr val="tx1"/>
              </a:solidFill>
              <a:ea typeface="+mn-ea"/>
              <a:cs typeface="+mn-cs"/>
            </a:endParaRPr>
          </a:p>
          <a:p>
            <a:pPr marL="628650" lvl="1" indent="-171450">
              <a:buFont typeface="Arial" pitchFamily="34" charset="0"/>
              <a:buChar char="•"/>
            </a:pPr>
            <a:r>
              <a:rPr lang="en-AU" sz="1200" kern="1200" dirty="0" smtClean="0">
                <a:solidFill>
                  <a:schemeClr val="tx1"/>
                </a:solidFill>
                <a:ea typeface="+mn-ea"/>
                <a:cs typeface="+mn-cs"/>
              </a:rPr>
              <a:t>The content in these cases will just concentrate on:</a:t>
            </a:r>
          </a:p>
          <a:p>
            <a:pPr marL="1085850" lvl="2" indent="-171450">
              <a:buFont typeface="Arial" pitchFamily="34" charset="0"/>
              <a:buChar char="•"/>
            </a:pPr>
            <a:r>
              <a:rPr lang="en-US" sz="1200" kern="1200" dirty="0" smtClean="0">
                <a:solidFill>
                  <a:schemeClr val="tx1"/>
                </a:solidFill>
                <a:ea typeface="+mn-ea"/>
                <a:cs typeface="+mn-cs"/>
              </a:rPr>
              <a:t>Providing an overview of what the organisation does/provides – such as:</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Highlighting the business in travel, tours, trips or other identified major/priority products and services</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Emphasising the name of the company – which often also includes their primary focus (‘Atlas Tours’, ‘Worldwide Travel’)</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Giving the basis contact details for the business – in terms of:</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Street address; Web address; Telephone number</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Other items will demand a </a:t>
            </a:r>
            <a:r>
              <a:rPr lang="en-AU" sz="1200" i="1" kern="1200" dirty="0" smtClean="0">
                <a:solidFill>
                  <a:schemeClr val="tx1"/>
                </a:solidFill>
                <a:ea typeface="+mn-ea"/>
                <a:cs typeface="+mn-cs"/>
              </a:rPr>
              <a:t>high-degree of focus</a:t>
            </a:r>
            <a:r>
              <a:rPr lang="en-AU" sz="1200" kern="1200" dirty="0" smtClean="0">
                <a:solidFill>
                  <a:schemeClr val="tx1"/>
                </a:solidFill>
                <a:ea typeface="+mn-ea"/>
                <a:cs typeface="+mn-cs"/>
              </a:rPr>
              <a:t> and emphasis on a given product or service – or a selection of nominated products or services. This is the case for items such as:</a:t>
            </a:r>
          </a:p>
          <a:p>
            <a:pPr marL="628650" lvl="1" indent="-171450">
              <a:buFont typeface="Arial" pitchFamily="34" charset="0"/>
              <a:buChar char="•"/>
            </a:pPr>
            <a:r>
              <a:rPr lang="en-US" sz="1200" kern="1200" dirty="0" smtClean="0">
                <a:solidFill>
                  <a:schemeClr val="tx1"/>
                </a:solidFill>
                <a:ea typeface="+mn-ea"/>
                <a:cs typeface="+mn-cs"/>
              </a:rPr>
              <a:t>Tour brochures; Destination information; Travel services; Individual products.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examples of items listed on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29</a:t>
            </a:fld>
            <a:endParaRPr lang="en-US" dirty="0"/>
          </a:p>
        </p:txBody>
      </p:sp>
    </p:spTree>
    <p:extLst>
      <p:ext uri="{BB962C8B-B14F-4D97-AF65-F5344CB8AC3E}">
        <p14:creationId xmlns:p14="http://schemas.microsoft.com/office/powerpoint/2010/main" val="7284115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details content for travel bags explaining the </a:t>
            </a:r>
            <a:r>
              <a:rPr lang="en-AU" sz="1200" kern="1200" dirty="0" smtClean="0">
                <a:solidFill>
                  <a:schemeClr val="tx1"/>
                </a:solidFill>
                <a:ea typeface="+mn-ea"/>
                <a:cs typeface="+mn-cs"/>
              </a:rPr>
              <a:t>content on a travel bag may be quite simple/basic, consisting of:</a:t>
            </a:r>
          </a:p>
          <a:p>
            <a:pPr marL="171450" indent="-171450">
              <a:buFont typeface="Arial" pitchFamily="34" charset="0"/>
              <a:buChar char="•"/>
            </a:pPr>
            <a:r>
              <a:rPr lang="en-AU" sz="1200" kern="1200" dirty="0" smtClean="0">
                <a:solidFill>
                  <a:schemeClr val="tx1"/>
                </a:solidFill>
                <a:ea typeface="+mn-ea"/>
                <a:cs typeface="+mn-cs"/>
              </a:rPr>
              <a:t>Name of the organisation</a:t>
            </a:r>
          </a:p>
          <a:p>
            <a:pPr marL="171450" indent="-171450">
              <a:buFont typeface="Arial" pitchFamily="34" charset="0"/>
              <a:buChar char="•"/>
            </a:pPr>
            <a:r>
              <a:rPr lang="en-AU" sz="1200" kern="1200" dirty="0" smtClean="0">
                <a:solidFill>
                  <a:schemeClr val="tx1"/>
                </a:solidFill>
                <a:ea typeface="+mn-ea"/>
                <a:cs typeface="+mn-cs"/>
              </a:rPr>
              <a:t>Logo</a:t>
            </a:r>
          </a:p>
          <a:p>
            <a:pPr marL="171450" indent="-171450">
              <a:buFont typeface="Arial" pitchFamily="34" charset="0"/>
              <a:buChar char="•"/>
            </a:pPr>
            <a:r>
              <a:rPr lang="en-AU" sz="1200" kern="1200" dirty="0" smtClean="0">
                <a:solidFill>
                  <a:schemeClr val="tx1"/>
                </a:solidFill>
                <a:ea typeface="+mn-ea"/>
                <a:cs typeface="+mn-cs"/>
              </a:rPr>
              <a:t>Web site address. </a:t>
            </a:r>
          </a:p>
          <a:p>
            <a:pPr>
              <a:buFont typeface="Arial" pitchFamily="34" charset="0"/>
              <a:buNone/>
            </a:pPr>
            <a:endParaRPr lang="en-US" noProof="0" dirty="0" smtClean="0"/>
          </a:p>
          <a:p>
            <a:pPr>
              <a:buFont typeface="Arial" pitchFamily="34" charset="0"/>
              <a:buNone/>
            </a:pPr>
            <a:r>
              <a:rPr lang="en-US" b="1" noProof="0" dirty="0" smtClean="0"/>
              <a:t>Classroom Activity – Presentation of Sample/s</a:t>
            </a:r>
          </a:p>
          <a:p>
            <a:pPr>
              <a:buFont typeface="Arial" pitchFamily="34" charset="0"/>
              <a:buNone/>
            </a:pPr>
            <a:r>
              <a:rPr lang="en-US" b="0" noProof="0" dirty="0" smtClean="0"/>
              <a:t>Trainer uses sample bag to illustrate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30</a:t>
            </a:fld>
            <a:endParaRPr lang="en-US" dirty="0"/>
          </a:p>
        </p:txBody>
      </p:sp>
    </p:spTree>
    <p:extLst>
      <p:ext uri="{BB962C8B-B14F-4D97-AF65-F5344CB8AC3E}">
        <p14:creationId xmlns:p14="http://schemas.microsoft.com/office/powerpoint/2010/main" val="191632107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details </a:t>
            </a:r>
            <a:r>
              <a:rPr lang="en-AU" sz="1200" kern="1200" dirty="0" smtClean="0">
                <a:solidFill>
                  <a:schemeClr val="tx1"/>
                </a:solidFill>
                <a:ea typeface="+mn-ea"/>
                <a:cs typeface="+mn-cs"/>
              </a:rPr>
              <a:t>information included on Conference programs, registration/advertorial forms and event prospectus will be limited due to the restricted space available to promote the business so primary content only will be mentioned, such as:</a:t>
            </a:r>
          </a:p>
          <a:p>
            <a:pPr marL="171450" indent="-171450">
              <a:buFont typeface="Arial" pitchFamily="34" charset="0"/>
              <a:buChar char="•"/>
            </a:pPr>
            <a:r>
              <a:rPr lang="en-AU" sz="1200" kern="1200" dirty="0" smtClean="0">
                <a:solidFill>
                  <a:schemeClr val="tx1"/>
                </a:solidFill>
                <a:ea typeface="+mn-ea"/>
                <a:cs typeface="+mn-cs"/>
              </a:rPr>
              <a:t>‘This event is sponsored by XYZ’ or a similar statement of support for the event/conference</a:t>
            </a:r>
          </a:p>
          <a:p>
            <a:pPr marL="171450" indent="-171450">
              <a:buFont typeface="Arial" pitchFamily="34" charset="0"/>
              <a:buChar char="•"/>
            </a:pPr>
            <a:r>
              <a:rPr lang="en-AU" sz="1200" kern="1200" dirty="0" smtClean="0">
                <a:solidFill>
                  <a:schemeClr val="tx1"/>
                </a:solidFill>
                <a:ea typeface="+mn-ea"/>
                <a:cs typeface="+mn-cs"/>
              </a:rPr>
              <a:t>Name of the organisation</a:t>
            </a:r>
          </a:p>
          <a:p>
            <a:pPr marL="171450" indent="-171450">
              <a:buFont typeface="Arial" pitchFamily="34" charset="0"/>
              <a:buChar char="•"/>
            </a:pPr>
            <a:r>
              <a:rPr lang="en-AU" sz="1200" kern="1200" dirty="0" smtClean="0">
                <a:solidFill>
                  <a:schemeClr val="tx1"/>
                </a:solidFill>
                <a:ea typeface="+mn-ea"/>
                <a:cs typeface="+mn-cs"/>
              </a:rPr>
              <a:t>Brief description/overview of the services provided</a:t>
            </a:r>
          </a:p>
          <a:p>
            <a:pPr marL="171450" indent="-171450">
              <a:buFont typeface="Arial" pitchFamily="34" charset="0"/>
              <a:buChar char="•"/>
            </a:pPr>
            <a:r>
              <a:rPr lang="en-AU" sz="1200" kern="1200" dirty="0" smtClean="0">
                <a:solidFill>
                  <a:schemeClr val="tx1"/>
                </a:solidFill>
                <a:ea typeface="+mn-ea"/>
                <a:cs typeface="+mn-cs"/>
              </a:rPr>
              <a:t>Street address/es</a:t>
            </a:r>
          </a:p>
          <a:p>
            <a:pPr marL="171450" indent="-171450">
              <a:buFont typeface="Arial" pitchFamily="34" charset="0"/>
              <a:buChar char="•"/>
            </a:pPr>
            <a:r>
              <a:rPr lang="en-AU" sz="1200" kern="1200" dirty="0" smtClean="0">
                <a:solidFill>
                  <a:schemeClr val="tx1"/>
                </a:solidFill>
                <a:ea typeface="+mn-ea"/>
                <a:cs typeface="+mn-cs"/>
              </a:rPr>
              <a:t>Telephone number/s</a:t>
            </a:r>
          </a:p>
          <a:p>
            <a:pPr marL="171450" indent="-171450">
              <a:buFont typeface="Arial" pitchFamily="34" charset="0"/>
              <a:buChar char="•"/>
            </a:pPr>
            <a:r>
              <a:rPr lang="en-AU" sz="1200" kern="1200" dirty="0" smtClean="0">
                <a:solidFill>
                  <a:schemeClr val="tx1"/>
                </a:solidFill>
                <a:ea typeface="+mn-ea"/>
                <a:cs typeface="+mn-cs"/>
              </a:rPr>
              <a:t>Web site.  </a:t>
            </a: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materials identified on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31</a:t>
            </a:fld>
            <a:endParaRPr lang="en-US" dirty="0"/>
          </a:p>
        </p:txBody>
      </p:sp>
    </p:spTree>
    <p:extLst>
      <p:ext uri="{BB962C8B-B14F-4D97-AF65-F5344CB8AC3E}">
        <p14:creationId xmlns:p14="http://schemas.microsoft.com/office/powerpoint/2010/main" val="14646005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details </a:t>
            </a:r>
            <a:r>
              <a:rPr lang="en-AU" sz="1200" kern="1200" dirty="0" smtClean="0">
                <a:solidFill>
                  <a:schemeClr val="tx1"/>
                </a:solidFill>
                <a:ea typeface="+mn-ea"/>
                <a:cs typeface="+mn-cs"/>
              </a:rPr>
              <a:t>information/content of Destination Guides will usually be generic in nature but include tailored information to suit the identified needs, wants and preferences of target markets the Guide is being pitched at:</a:t>
            </a:r>
          </a:p>
          <a:p>
            <a:pPr marL="171450" indent="-171450">
              <a:buFont typeface="Arial" pitchFamily="34" charset="0"/>
              <a:buChar char="•"/>
            </a:pPr>
            <a:r>
              <a:rPr lang="en-AU" sz="1200" kern="1200" dirty="0" smtClean="0">
                <a:solidFill>
                  <a:schemeClr val="tx1"/>
                </a:solidFill>
                <a:ea typeface="+mn-ea"/>
                <a:cs typeface="+mn-cs"/>
              </a:rPr>
              <a:t>History and culture of the destination and/or country</a:t>
            </a:r>
          </a:p>
          <a:p>
            <a:pPr marL="171450" indent="-171450">
              <a:buFont typeface="Arial" pitchFamily="34" charset="0"/>
              <a:buChar char="•"/>
            </a:pPr>
            <a:r>
              <a:rPr lang="en-AU" sz="1200" kern="1200" dirty="0" smtClean="0">
                <a:solidFill>
                  <a:schemeClr val="tx1"/>
                </a:solidFill>
                <a:ea typeface="+mn-ea"/>
                <a:cs typeface="+mn-cs"/>
              </a:rPr>
              <a:t>Weather information/overview</a:t>
            </a:r>
          </a:p>
          <a:p>
            <a:pPr marL="171450" indent="-171450">
              <a:buFont typeface="Arial" pitchFamily="34" charset="0"/>
              <a:buChar char="•"/>
            </a:pPr>
            <a:r>
              <a:rPr lang="en-AU" sz="1200" kern="1200" dirty="0" smtClean="0">
                <a:solidFill>
                  <a:schemeClr val="tx1"/>
                </a:solidFill>
                <a:ea typeface="+mn-ea"/>
                <a:cs typeface="+mn-cs"/>
              </a:rPr>
              <a:t>Currency details</a:t>
            </a:r>
          </a:p>
          <a:p>
            <a:pPr marL="171450" indent="-171450">
              <a:buFont typeface="Arial" pitchFamily="34" charset="0"/>
              <a:buChar char="•"/>
            </a:pPr>
            <a:r>
              <a:rPr lang="en-AU" sz="1200" kern="1200" dirty="0" smtClean="0">
                <a:solidFill>
                  <a:schemeClr val="tx1"/>
                </a:solidFill>
                <a:ea typeface="+mn-ea"/>
                <a:cs typeface="+mn-cs"/>
              </a:rPr>
              <a:t>Customs and visa information</a:t>
            </a:r>
          </a:p>
          <a:p>
            <a:pPr marL="171450" indent="-171450">
              <a:buFont typeface="Arial" pitchFamily="34" charset="0"/>
              <a:buChar char="•"/>
            </a:pPr>
            <a:r>
              <a:rPr lang="en-AU" sz="1200" kern="1200" dirty="0" smtClean="0">
                <a:solidFill>
                  <a:schemeClr val="tx1"/>
                </a:solidFill>
                <a:ea typeface="+mn-ea"/>
                <a:cs typeface="+mn-cs"/>
              </a:rPr>
              <a:t>Photographs of attractions, interesting sites, landmarks, popular precincts</a:t>
            </a:r>
          </a:p>
          <a:p>
            <a:pPr marL="171450" indent="-171450">
              <a:buFont typeface="Arial" pitchFamily="34" charset="0"/>
              <a:buChar char="•"/>
            </a:pPr>
            <a:r>
              <a:rPr lang="en-AU" sz="1200" kern="1200" dirty="0" smtClean="0">
                <a:solidFill>
                  <a:schemeClr val="tx1"/>
                </a:solidFill>
                <a:ea typeface="+mn-ea"/>
                <a:cs typeface="+mn-cs"/>
              </a:rPr>
              <a:t>Local map and local transport</a:t>
            </a:r>
          </a:p>
          <a:p>
            <a:pPr marL="171450" indent="-171450">
              <a:buFont typeface="Arial" pitchFamily="34" charset="0"/>
              <a:buChar char="•"/>
            </a:pPr>
            <a:r>
              <a:rPr lang="en-AU" sz="1200" kern="1200" dirty="0" smtClean="0">
                <a:solidFill>
                  <a:schemeClr val="tx1"/>
                </a:solidFill>
                <a:ea typeface="+mn-ea"/>
                <a:cs typeface="+mn-cs"/>
              </a:rPr>
              <a:t>Time zone</a:t>
            </a:r>
          </a:p>
          <a:p>
            <a:pPr marL="171450" indent="-171450">
              <a:buFont typeface="Arial" pitchFamily="34" charset="0"/>
              <a:buChar char="•"/>
            </a:pPr>
            <a:r>
              <a:rPr lang="en-AU" sz="1200" kern="1200" dirty="0" smtClean="0">
                <a:solidFill>
                  <a:schemeClr val="tx1"/>
                </a:solidFill>
                <a:ea typeface="+mn-ea"/>
                <a:cs typeface="+mn-cs"/>
              </a:rPr>
              <a:t>Electricity information – for domestic/personal appliances</a:t>
            </a:r>
          </a:p>
          <a:p>
            <a:pPr marL="171450" indent="-171450">
              <a:buFont typeface="Arial" pitchFamily="34" charset="0"/>
              <a:buChar char="•"/>
            </a:pPr>
            <a:r>
              <a:rPr lang="en-AU" sz="1200" kern="1200" dirty="0" smtClean="0">
                <a:solidFill>
                  <a:schemeClr val="tx1"/>
                </a:solidFill>
                <a:ea typeface="+mn-ea"/>
                <a:cs typeface="+mn-cs"/>
              </a:rPr>
              <a:t>Country telephone code and city code/s</a:t>
            </a:r>
          </a:p>
          <a:p>
            <a:pPr marL="171450" indent="-171450">
              <a:buFont typeface="Arial" pitchFamily="34" charset="0"/>
              <a:buChar char="•"/>
            </a:pPr>
            <a:r>
              <a:rPr lang="en-AU" sz="1200" kern="1200" dirty="0" smtClean="0">
                <a:solidFill>
                  <a:schemeClr val="tx1"/>
                </a:solidFill>
                <a:ea typeface="+mn-ea"/>
                <a:cs typeface="+mn-cs"/>
              </a:rPr>
              <a:t>Highlights – in relation to sporting events, religious festivals, seasonal occurrences</a:t>
            </a:r>
          </a:p>
          <a:p>
            <a:pPr marL="171450" indent="-171450">
              <a:buFont typeface="Arial" pitchFamily="34" charset="0"/>
              <a:buChar char="•"/>
            </a:pPr>
            <a:r>
              <a:rPr lang="en-AU" sz="1200" kern="1200" dirty="0" smtClean="0">
                <a:solidFill>
                  <a:schemeClr val="tx1"/>
                </a:solidFill>
                <a:ea typeface="+mn-ea"/>
                <a:cs typeface="+mn-cs"/>
              </a:rPr>
              <a:t>Suggestions for walks and activities – specific to the target market/s. </a:t>
            </a: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materials identified on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32</a:t>
            </a:fld>
            <a:endParaRPr lang="en-US" dirty="0"/>
          </a:p>
        </p:txBody>
      </p:sp>
    </p:spTree>
    <p:extLst>
      <p:ext uri="{BB962C8B-B14F-4D97-AF65-F5344CB8AC3E}">
        <p14:creationId xmlns:p14="http://schemas.microsoft.com/office/powerpoint/2010/main" val="276174721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noProof="0" dirty="0" smtClean="0"/>
              <a:t>Trainer</a:t>
            </a:r>
            <a:r>
              <a:rPr lang="en-US" baseline="0" noProof="0" dirty="0" smtClean="0"/>
              <a:t> states when </a:t>
            </a:r>
            <a:r>
              <a:rPr lang="en-AU" sz="1200" kern="1200" dirty="0" smtClean="0">
                <a:solidFill>
                  <a:schemeClr val="tx1"/>
                </a:solidFill>
                <a:ea typeface="+mn-ea"/>
                <a:cs typeface="+mn-cs"/>
              </a:rPr>
              <a:t>determining content for brochures and marketing materials the following need to be taken into account and accommodated:</a:t>
            </a:r>
          </a:p>
          <a:p>
            <a:pPr marL="171450" indent="-171450">
              <a:buFont typeface="Arial" pitchFamily="34" charset="0"/>
              <a:buChar char="•"/>
            </a:pPr>
            <a:r>
              <a:rPr lang="en-AU" sz="1200" kern="1200" dirty="0" smtClean="0">
                <a:solidFill>
                  <a:schemeClr val="tx1"/>
                </a:solidFill>
                <a:ea typeface="+mn-ea"/>
                <a:cs typeface="+mn-cs"/>
              </a:rPr>
              <a:t>There needs to be identification of the exact nature of all the </a:t>
            </a:r>
            <a:r>
              <a:rPr lang="en-AU" sz="1200" i="1" kern="1200" dirty="0" smtClean="0">
                <a:solidFill>
                  <a:schemeClr val="tx1"/>
                </a:solidFill>
                <a:ea typeface="+mn-ea"/>
                <a:cs typeface="+mn-cs"/>
              </a:rPr>
              <a:t>products and services</a:t>
            </a:r>
            <a:r>
              <a:rPr lang="en-AU" sz="1200" kern="1200" dirty="0" smtClean="0">
                <a:solidFill>
                  <a:schemeClr val="tx1"/>
                </a:solidFill>
                <a:ea typeface="+mn-ea"/>
                <a:cs typeface="+mn-cs"/>
              </a:rPr>
              <a:t> to be targeted in the material – this is the case where materials are being developed to promote one or specific trips or tours, or one or more services the business can provide. This means detailing:</a:t>
            </a:r>
          </a:p>
          <a:p>
            <a:pPr marL="628650" lvl="1" indent="-171450">
              <a:buFont typeface="Arial" pitchFamily="34" charset="0"/>
              <a:buChar char="•"/>
            </a:pPr>
            <a:r>
              <a:rPr lang="en-US" sz="1200" kern="1200" dirty="0" smtClean="0">
                <a:solidFill>
                  <a:schemeClr val="tx1"/>
                </a:solidFill>
                <a:ea typeface="+mn-ea"/>
                <a:cs typeface="+mn-cs"/>
              </a:rPr>
              <a:t>Names and costs of products and services; Relevant times and dates; Inclusions; Packages; Terms and conditions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Alignment with stated objectives for the organisation and/or individual departmental or operational plan – this means ensuring what is written, included or otherwise indicated in or on the materials/items:</a:t>
            </a:r>
          </a:p>
          <a:p>
            <a:pPr marL="628650" lvl="1" indent="-171450">
              <a:buFont typeface="Arial" pitchFamily="34" charset="0"/>
              <a:buChar char="•"/>
            </a:pPr>
            <a:r>
              <a:rPr lang="en-US" sz="1200" kern="1200" dirty="0" smtClean="0">
                <a:solidFill>
                  <a:schemeClr val="tx1"/>
                </a:solidFill>
                <a:ea typeface="+mn-ea"/>
                <a:cs typeface="+mn-cs"/>
              </a:rPr>
              <a:t>Matches the direction the business wants to take; Helps the business achieve its strategic and business goals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Targets the people who are in identified target market/s; Maintains image and reputation of the organisation</a:t>
            </a:r>
            <a:endParaRPr lang="en-AU" sz="1200" kern="1200" dirty="0" smtClean="0">
              <a:solidFill>
                <a:schemeClr val="tx1"/>
              </a:solidFill>
              <a:ea typeface="+mn-ea"/>
              <a:cs typeface="+mn-cs"/>
            </a:endParaRP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There is a need to provide information which has been identified as being required by/important to the identified users of the items – this may have been determined as a result of verbal feedback, focus groups, market research or as a result of input from staff who have spoken with tour group members/travellers, or contributions from joint venture partners</a:t>
            </a:r>
          </a:p>
          <a:p>
            <a:pPr marL="171450" indent="-171450">
              <a:buFont typeface="Arial" pitchFamily="34" charset="0"/>
              <a:buChar char="•"/>
            </a:pPr>
            <a:r>
              <a:rPr lang="en-AU" sz="1200" kern="1200" dirty="0" smtClean="0">
                <a:solidFill>
                  <a:schemeClr val="tx1"/>
                </a:solidFill>
                <a:ea typeface="+mn-ea"/>
                <a:cs typeface="+mn-cs"/>
              </a:rPr>
              <a:t>Input from all relevant stakeholders – in this context this means seeking and accommodating (as/where appropriate) contributions from:</a:t>
            </a:r>
          </a:p>
          <a:p>
            <a:pPr marL="628650" lvl="1" indent="-171450">
              <a:buFont typeface="Arial" pitchFamily="34" charset="0"/>
              <a:buChar char="•"/>
            </a:pPr>
            <a:r>
              <a:rPr lang="en-US" sz="1200" kern="1200" dirty="0" smtClean="0">
                <a:solidFill>
                  <a:schemeClr val="tx1"/>
                </a:solidFill>
                <a:ea typeface="+mn-ea"/>
                <a:cs typeface="+mn-cs"/>
              </a:rPr>
              <a:t>Internal personnel and the different departments within the larger organisation; Sub-agents and joint venture partners; Related carriers and major attractions, destinations and third party providers.</a:t>
            </a:r>
            <a:endParaRPr lang="en-AU" sz="1200" kern="1200" dirty="0" smtClean="0">
              <a:solidFill>
                <a:schemeClr val="tx1"/>
              </a:solidFill>
              <a:ea typeface="+mn-ea"/>
              <a:cs typeface="+mn-cs"/>
            </a:endParaRP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US" b="1" baseline="0" noProof="0" dirty="0" smtClean="0"/>
              <a:t>Classroom Activity – Internet Research</a:t>
            </a:r>
          </a:p>
          <a:p>
            <a:pPr>
              <a:buFont typeface="Arial" pitchFamily="34" charset="0"/>
              <a:buNone/>
            </a:pPr>
            <a:r>
              <a:rPr lang="en-US" b="0" noProof="0" dirty="0" smtClean="0"/>
              <a:t>Trainer facilitates online research and discussion relating to relevant sites such as:</a:t>
            </a:r>
          </a:p>
          <a:p>
            <a:pPr marL="171450" indent="-171450">
              <a:buFont typeface="Arial" pitchFamily="34" charset="0"/>
              <a:buChar char="•"/>
            </a:pPr>
            <a:r>
              <a:rPr lang="en-AU" sz="1200" kern="1200" dirty="0" smtClean="0">
                <a:solidFill>
                  <a:schemeClr val="tx1"/>
                </a:solidFill>
                <a:ea typeface="+mn-ea"/>
                <a:cs typeface="+mn-cs"/>
              </a:rPr>
              <a:t>‘Marketing content for brochures’ at </a:t>
            </a:r>
            <a:r>
              <a:rPr lang="en-AU" sz="1200" u="sng" kern="1200" dirty="0" smtClean="0">
                <a:solidFill>
                  <a:schemeClr val="tx1"/>
                </a:solidFill>
                <a:ea typeface="+mn-ea"/>
                <a:cs typeface="+mn-cs"/>
                <a:hlinkClick r:id="rId3"/>
              </a:rPr>
              <a:t>http://mywebwriters.wordpres.com/2011/08/29/marketing-content-for-brochures/</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‘How to Write a Brochure Your Customers Will Want to Read – The Brochure Copywriting Cheat Sheet’ at </a:t>
            </a:r>
            <a:r>
              <a:rPr lang="en-AU" sz="1200" u="sng" kern="1200" dirty="0" smtClean="0">
                <a:solidFill>
                  <a:schemeClr val="tx1"/>
                </a:solidFill>
                <a:ea typeface="+mn-ea"/>
                <a:cs typeface="+mn-cs"/>
                <a:hlinkClick r:id="rId4"/>
              </a:rPr>
              <a:t>http://www.text-centric.com/brochure-copywriting-cheat-sheet/</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‘Brochure content writing’ at </a:t>
            </a:r>
            <a:r>
              <a:rPr lang="en-AU" sz="1200" u="sng" kern="1200" dirty="0" smtClean="0">
                <a:solidFill>
                  <a:schemeClr val="tx1"/>
                </a:solidFill>
                <a:ea typeface="+mn-ea"/>
                <a:cs typeface="+mn-cs"/>
                <a:hlinkClick r:id="rId5"/>
              </a:rPr>
              <a:t>http://dorightmarketing.com/tag/brochure-content-writing/</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‘Brochure marketing: 12 tips on how to do it effectively’ at </a:t>
            </a:r>
            <a:r>
              <a:rPr lang="en-AU" sz="1200" u="sng" kern="1200" dirty="0" smtClean="0">
                <a:solidFill>
                  <a:schemeClr val="tx1"/>
                </a:solidFill>
                <a:ea typeface="+mn-ea"/>
                <a:cs typeface="+mn-cs"/>
                <a:hlinkClick r:id="rId6"/>
              </a:rPr>
              <a:t>http://marketing.about.com/od/directmarketin1/a/brochmktg.htm</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‘Marketing tips and trips: Brochures’ at</a:t>
            </a:r>
            <a:r>
              <a:rPr lang="en-AU" sz="1200" u="sng" kern="1200" dirty="0" smtClean="0">
                <a:solidFill>
                  <a:schemeClr val="tx1"/>
                </a:solidFill>
                <a:ea typeface="+mn-ea"/>
                <a:cs typeface="+mn-cs"/>
                <a:hlinkClick r:id="rId7"/>
              </a:rPr>
              <a:t>http://www.smallbusiness.wa.gov.au/TourismBoost/marketing-tips-and-tricks/brochures/</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33</a:t>
            </a:fld>
            <a:endParaRPr lang="en-US" dirty="0"/>
          </a:p>
        </p:txBody>
      </p:sp>
    </p:spTree>
    <p:extLst>
      <p:ext uri="{BB962C8B-B14F-4D97-AF65-F5344CB8AC3E}">
        <p14:creationId xmlns:p14="http://schemas.microsoft.com/office/powerpoint/2010/main" val="294333444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a:t>
            </a:r>
            <a:r>
              <a:rPr lang="en-US" baseline="0" noProof="0" dirty="0" smtClean="0"/>
              <a:t> continues discussing considerations when determining content:</a:t>
            </a:r>
          </a:p>
          <a:p>
            <a:pPr marL="171450" indent="-171450">
              <a:buFont typeface="Arial" pitchFamily="34" charset="0"/>
              <a:buChar char="•"/>
            </a:pPr>
            <a:r>
              <a:rPr lang="en-AU" sz="1200" kern="1200" dirty="0" smtClean="0">
                <a:solidFill>
                  <a:schemeClr val="tx1"/>
                </a:solidFill>
                <a:ea typeface="+mn-ea"/>
                <a:cs typeface="+mn-cs"/>
              </a:rPr>
              <a:t>Physical inclusions must be addressed – for example:</a:t>
            </a:r>
          </a:p>
          <a:p>
            <a:pPr marL="628650" lvl="1" indent="-171450">
              <a:buFont typeface="Arial" pitchFamily="34" charset="0"/>
              <a:buChar char="•"/>
            </a:pPr>
            <a:r>
              <a:rPr lang="en-US" sz="1200" kern="1200" dirty="0" smtClean="0">
                <a:solidFill>
                  <a:schemeClr val="tx1"/>
                </a:solidFill>
                <a:ea typeface="+mn-ea"/>
                <a:cs typeface="+mn-cs"/>
              </a:rPr>
              <a:t>All the Style Guide specifications for individual item need to be complied with – these requirements will be presented in the Style Guide for </a:t>
            </a:r>
            <a:r>
              <a:rPr lang="en-US" sz="1200" i="1" kern="1200" dirty="0" smtClean="0">
                <a:solidFill>
                  <a:schemeClr val="tx1"/>
                </a:solidFill>
                <a:ea typeface="+mn-ea"/>
                <a:cs typeface="+mn-cs"/>
              </a:rPr>
              <a:t>all brochures</a:t>
            </a:r>
            <a:r>
              <a:rPr lang="en-US" sz="1200" kern="1200" dirty="0" smtClean="0">
                <a:solidFill>
                  <a:schemeClr val="tx1"/>
                </a:solidFill>
                <a:ea typeface="+mn-ea"/>
                <a:cs typeface="+mn-cs"/>
              </a:rPr>
              <a:t> and </a:t>
            </a:r>
            <a:r>
              <a:rPr lang="en-US" sz="1200" i="1" kern="1200" dirty="0" smtClean="0">
                <a:solidFill>
                  <a:schemeClr val="tx1"/>
                </a:solidFill>
                <a:ea typeface="+mn-ea"/>
                <a:cs typeface="+mn-cs"/>
              </a:rPr>
              <a:t>all marketing materials</a:t>
            </a:r>
            <a:r>
              <a:rPr lang="en-US" sz="1200" kern="1200" dirty="0" smtClean="0">
                <a:solidFill>
                  <a:schemeClr val="tx1"/>
                </a:solidFill>
                <a:ea typeface="+mn-ea"/>
                <a:cs typeface="+mn-cs"/>
              </a:rPr>
              <a:t> produced by the business.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 specifications will differ between items in relation to matters such as: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Use, size and position of logos on physical items (merchandise) and on brochures and other paper-based materials as well as electronic formats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Font</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Use of colour – stipulating what colour is to be used and in what position</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Material to be used as basis for each product/item being produced – this dictates the type of paper, card or stock to be used for print-based materials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Type of, positioning and size of graphics, art work and photographs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Mandatory inclusions – making sure all compulsory inclusions as determined by management are included: </a:t>
            </a:r>
          </a:p>
          <a:p>
            <a:pPr marL="628650" lvl="1" indent="-171450">
              <a:buFont typeface="Arial" pitchFamily="34" charset="0"/>
              <a:buChar char="•"/>
            </a:pPr>
            <a:r>
              <a:rPr lang="en-US" sz="1200" kern="1200" dirty="0" smtClean="0">
                <a:solidFill>
                  <a:schemeClr val="tx1"/>
                </a:solidFill>
                <a:ea typeface="+mn-ea"/>
                <a:cs typeface="+mn-cs"/>
              </a:rPr>
              <a:t>Need to include nominated statements on certain documents/items such as: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Mission statement; Vision statement; Value statement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Contact details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Affiliations the business has with other organisations, agencies, carriers, associations, industry groups/bodies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Indications the organisation aligns with/subscribes to QA schemes or industry schemes, or Codes of Practice.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Details of nominated guarantees and/or warranties offered by the operator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Terms and Conditions of the organisation</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materials illustrating the points identified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34</a:t>
            </a:fld>
            <a:endParaRPr lang="en-US" dirty="0"/>
          </a:p>
        </p:txBody>
      </p:sp>
    </p:spTree>
    <p:extLst>
      <p:ext uri="{BB962C8B-B14F-4D97-AF65-F5344CB8AC3E}">
        <p14:creationId xmlns:p14="http://schemas.microsoft.com/office/powerpoint/2010/main" val="19006077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explains </a:t>
            </a:r>
            <a:r>
              <a:rPr lang="en-AU" sz="1200" kern="1200" dirty="0" smtClean="0">
                <a:solidFill>
                  <a:schemeClr val="tx1"/>
                </a:solidFill>
                <a:ea typeface="+mn-ea"/>
                <a:cs typeface="+mn-cs"/>
              </a:rPr>
              <a:t>it is possible for the word ‘format’ to have two meanings in common usage:</a:t>
            </a:r>
          </a:p>
          <a:p>
            <a:pPr marL="171450" indent="-171450">
              <a:buFont typeface="Arial" pitchFamily="34" charset="0"/>
              <a:buChar char="•"/>
            </a:pPr>
            <a:r>
              <a:rPr lang="en-AU" sz="1200" kern="1200" dirty="0" smtClean="0">
                <a:solidFill>
                  <a:schemeClr val="tx1"/>
                </a:solidFill>
                <a:ea typeface="+mn-ea"/>
                <a:cs typeface="+mn-cs"/>
              </a:rPr>
              <a:t>First – it can mean the underlying basis of the item. For example, advertising/promotional/marketing material can come in several formats – it can be:</a:t>
            </a:r>
          </a:p>
          <a:p>
            <a:pPr marL="628650" lvl="1" indent="-171450">
              <a:buFont typeface="Arial" pitchFamily="34" charset="0"/>
              <a:buChar char="•"/>
            </a:pPr>
            <a:r>
              <a:rPr lang="en-US" sz="1200" kern="1200" dirty="0" smtClean="0">
                <a:solidFill>
                  <a:schemeClr val="tx1"/>
                </a:solidFill>
                <a:ea typeface="+mn-ea"/>
                <a:cs typeface="+mn-cs"/>
              </a:rPr>
              <a:t>Paper-based (such as brochures, flyer, mail-outs, newspaper and magazine adverts and hard copy schedules, price lists and itineraries)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Electronic – such as SMS texts, websites, Facebook posts, blogs or tweets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Merchandise – such as travel bags, caps and T-shirts.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Second – it can refer to the formatting of a page. This includes the layout of the page (that is the physical position of items on a page) but also includes several other features of what appears on the page such as:</a:t>
            </a:r>
          </a:p>
          <a:p>
            <a:pPr marL="628650" lvl="1" indent="-171450">
              <a:buFont typeface="Arial" pitchFamily="34" charset="0"/>
              <a:buChar char="•"/>
            </a:pPr>
            <a:r>
              <a:rPr lang="en-US" sz="1200" kern="1200" dirty="0" smtClean="0">
                <a:solidFill>
                  <a:schemeClr val="tx1"/>
                </a:solidFill>
                <a:ea typeface="+mn-ea"/>
                <a:cs typeface="+mn-cs"/>
              </a:rPr>
              <a:t>Fonts which are used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Choice of font sizes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Whether photographs are used or whether pictures/graphics are used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Selection and use of colour.</a:t>
            </a:r>
            <a:endParaRPr lang="en-AU" sz="1200" kern="1200" dirty="0" smtClean="0">
              <a:solidFill>
                <a:schemeClr val="tx1"/>
              </a:solidFill>
              <a:ea typeface="+mn-ea"/>
              <a:cs typeface="+mn-cs"/>
            </a:endParaRPr>
          </a:p>
          <a:p>
            <a:pPr>
              <a:buFont typeface="Arial" pitchFamily="34" charset="0"/>
              <a:buNone/>
            </a:pPr>
            <a:r>
              <a:rPr lang="en-US" sz="1200" kern="1200" dirty="0" smtClean="0">
                <a:solidFill>
                  <a:schemeClr val="tx1"/>
                </a:solidFill>
                <a:ea typeface="+mn-ea"/>
                <a:cs typeface="+mn-cs"/>
              </a:rPr>
              <a:t>This section relates to the second of these definitions/interpretations.  </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35</a:t>
            </a:fld>
            <a:endParaRPr lang="en-US" dirty="0"/>
          </a:p>
        </p:txBody>
      </p:sp>
    </p:spTree>
    <p:extLst>
      <p:ext uri="{BB962C8B-B14F-4D97-AF65-F5344CB8AC3E}">
        <p14:creationId xmlns:p14="http://schemas.microsoft.com/office/powerpoint/2010/main" val="27742364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noProof="0" dirty="0" smtClean="0"/>
              <a:t>Trainer explains a </a:t>
            </a:r>
            <a:r>
              <a:rPr lang="en-AU" sz="1200" kern="1200" dirty="0" smtClean="0">
                <a:solidFill>
                  <a:schemeClr val="tx1"/>
                </a:solidFill>
                <a:ea typeface="+mn-ea"/>
                <a:cs typeface="+mn-cs"/>
              </a:rPr>
              <a:t>main requirement is to determine the page layout/format for the item. Basic options are:</a:t>
            </a:r>
          </a:p>
          <a:p>
            <a:pPr marL="171450" indent="-171450">
              <a:buFont typeface="Arial" pitchFamily="34" charset="0"/>
              <a:buChar char="•"/>
            </a:pPr>
            <a:r>
              <a:rPr lang="en-AU" sz="1200" kern="1200" dirty="0" smtClean="0">
                <a:solidFill>
                  <a:schemeClr val="tx1"/>
                </a:solidFill>
                <a:ea typeface="+mn-ea"/>
                <a:cs typeface="+mn-cs"/>
              </a:rPr>
              <a:t>Using multi-page brochure – stapled or bound in some way.</a:t>
            </a:r>
          </a:p>
          <a:p>
            <a:pPr marL="628650" lvl="1" indent="-171450">
              <a:buFont typeface="Arial" pitchFamily="34" charset="0"/>
              <a:buChar char="•"/>
            </a:pPr>
            <a:r>
              <a:rPr lang="en-AU" sz="1200" kern="1200" dirty="0" smtClean="0">
                <a:solidFill>
                  <a:schemeClr val="tx1"/>
                </a:solidFill>
                <a:ea typeface="+mn-ea"/>
                <a:cs typeface="+mn-cs"/>
              </a:rPr>
              <a:t>Most A4-sized marketing materials are produced in multiples of four, due to the rolls of paper commonly used by printers, and are therefore generally 8, 12, 16, 20, 24, or 28 pages long.</a:t>
            </a:r>
          </a:p>
          <a:p>
            <a:pPr marL="171450" indent="-171450">
              <a:buFont typeface="Arial" pitchFamily="34" charset="0"/>
              <a:buChar char="•"/>
            </a:pPr>
            <a:r>
              <a:rPr lang="en-AU" sz="1200" kern="1200" dirty="0" smtClean="0">
                <a:solidFill>
                  <a:schemeClr val="tx1"/>
                </a:solidFill>
                <a:ea typeface="+mn-ea"/>
                <a:cs typeface="+mn-cs"/>
              </a:rPr>
              <a:t>Selecting single unfolded page leaflets</a:t>
            </a:r>
          </a:p>
          <a:p>
            <a:pPr marL="171450" indent="-171450">
              <a:buFont typeface="Arial" pitchFamily="34" charset="0"/>
              <a:buChar char="•"/>
            </a:pPr>
            <a:r>
              <a:rPr lang="en-AU" sz="1200" kern="1200" dirty="0" smtClean="0">
                <a:solidFill>
                  <a:schemeClr val="tx1"/>
                </a:solidFill>
                <a:ea typeface="+mn-ea"/>
                <a:cs typeface="+mn-cs"/>
              </a:rPr>
              <a:t>Electing to use a single page which is folded in one of several ways traditionally used for promotional materials – these include:</a:t>
            </a:r>
          </a:p>
          <a:p>
            <a:pPr marL="628650" lvl="1" indent="-171450">
              <a:buFont typeface="Arial" pitchFamily="34" charset="0"/>
              <a:buChar char="•"/>
            </a:pPr>
            <a:r>
              <a:rPr lang="en-US" sz="1200" kern="1200" dirty="0" smtClean="0">
                <a:solidFill>
                  <a:schemeClr val="tx1"/>
                </a:solidFill>
                <a:ea typeface="+mn-ea"/>
                <a:cs typeface="+mn-cs"/>
              </a:rPr>
              <a:t>Half-fold/bi-fold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Tri-fold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Accordion fold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Z-fold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Accordion fold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Quarter fold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Gate fold</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baseline="0" noProof="0" dirty="0" smtClean="0"/>
              <a:t>Classroom Activity (1) – Internet Research</a:t>
            </a:r>
          </a:p>
          <a:p>
            <a:pPr>
              <a:buFont typeface="Arial" pitchFamily="34" charset="0"/>
              <a:buNone/>
            </a:pPr>
            <a:r>
              <a:rPr lang="en-US" b="0" noProof="0" dirty="0" smtClean="0"/>
              <a:t>Trainer facilitates online research and discussion relating to relevant sites such as:</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kern="1200" dirty="0" smtClean="0">
                <a:solidFill>
                  <a:schemeClr val="tx1"/>
                </a:solidFill>
                <a:ea typeface="+mn-ea"/>
                <a:cs typeface="+mn-cs"/>
              </a:rPr>
              <a:t>‘Brochure templates’ at </a:t>
            </a:r>
            <a:r>
              <a:rPr lang="en-AU" sz="1200" u="sng" kern="1200" dirty="0" smtClean="0">
                <a:solidFill>
                  <a:schemeClr val="tx1"/>
                </a:solidFill>
                <a:ea typeface="+mn-ea"/>
                <a:cs typeface="+mn-cs"/>
                <a:hlinkClick r:id="rId3"/>
              </a:rPr>
              <a:t>http://www.brochureprinting.com/brochure-templates.html</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(2) – Exercise</a:t>
            </a:r>
          </a:p>
          <a:p>
            <a:pPr>
              <a:buFont typeface="Arial" pitchFamily="34" charset="0"/>
              <a:buNone/>
            </a:pPr>
            <a:r>
              <a:rPr lang="en-US" b="0" noProof="0" dirty="0" smtClean="0"/>
              <a:t>Trainer provides students with card/stock</a:t>
            </a:r>
            <a:r>
              <a:rPr lang="en-US" b="0" baseline="0" noProof="0" dirty="0" smtClean="0"/>
              <a:t> and asks them to fold into the different brochure folds identified on the slide.</a:t>
            </a:r>
            <a:endParaRPr lang="en-US" b="0" noProof="0" dirty="0" smtClean="0"/>
          </a:p>
          <a:p>
            <a:pPr>
              <a:buFont typeface="Arial" pitchFamily="34" charset="0"/>
              <a:buNone/>
            </a:pPr>
            <a:endParaRPr lang="en-AU" b="1"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36</a:t>
            </a:fld>
            <a:endParaRPr lang="en-US" dirty="0"/>
          </a:p>
        </p:txBody>
      </p:sp>
    </p:spTree>
    <p:extLst>
      <p:ext uri="{BB962C8B-B14F-4D97-AF65-F5344CB8AC3E}">
        <p14:creationId xmlns:p14="http://schemas.microsoft.com/office/powerpoint/2010/main" val="174406540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lang="en-US" noProof="0" dirty="0" smtClean="0"/>
              <a:t>Trainer </a:t>
            </a:r>
            <a:r>
              <a:rPr lang="en-AU" sz="1200" kern="1200" dirty="0" smtClean="0">
                <a:solidFill>
                  <a:schemeClr val="tx1"/>
                </a:solidFill>
                <a:ea typeface="+mn-ea"/>
                <a:cs typeface="+mn-cs"/>
              </a:rPr>
              <a:t>states there is always a need to determine the font to be used throughout or in defined sections of the items explaining generally:</a:t>
            </a:r>
          </a:p>
          <a:p>
            <a:pPr marL="171450" indent="-171450">
              <a:buFont typeface="Arial" pitchFamily="34" charset="0"/>
              <a:buChar char="•"/>
            </a:pPr>
            <a:r>
              <a:rPr lang="en-AU" sz="1200" kern="1200" dirty="0" smtClean="0">
                <a:solidFill>
                  <a:schemeClr val="tx1"/>
                </a:solidFill>
                <a:ea typeface="+mn-ea"/>
                <a:cs typeface="+mn-cs"/>
              </a:rPr>
              <a:t>Type face and size will change for text/copy at different physical locations on/in each brochure and marketing items</a:t>
            </a:r>
          </a:p>
          <a:p>
            <a:pPr marL="171450" indent="-171450">
              <a:buFont typeface="Arial" pitchFamily="34" charset="0"/>
              <a:buChar char="•"/>
            </a:pPr>
            <a:r>
              <a:rPr lang="en-AU" sz="1200" kern="1200" dirty="0" smtClean="0">
                <a:solidFill>
                  <a:schemeClr val="tx1"/>
                </a:solidFill>
                <a:ea typeface="+mn-ea"/>
                <a:cs typeface="+mn-cs"/>
              </a:rPr>
              <a:t>The Style Guide will govern what is used</a:t>
            </a:r>
          </a:p>
          <a:p>
            <a:pPr marL="171450" indent="-171450">
              <a:buFont typeface="Arial" pitchFamily="34" charset="0"/>
              <a:buChar char="•"/>
            </a:pPr>
            <a:r>
              <a:rPr lang="en-AU" sz="1200" kern="1200" dirty="0" smtClean="0">
                <a:solidFill>
                  <a:schemeClr val="tx1"/>
                </a:solidFill>
                <a:ea typeface="+mn-ea"/>
                <a:cs typeface="+mn-cs"/>
              </a:rPr>
              <a:t>The font type should relate to the target market – for example:</a:t>
            </a:r>
          </a:p>
          <a:p>
            <a:pPr marL="628650" lvl="1" indent="-171450">
              <a:buFont typeface="Arial" pitchFamily="34" charset="0"/>
              <a:buChar char="•"/>
            </a:pPr>
            <a:r>
              <a:rPr lang="en-US" sz="1200" kern="1200" dirty="0" smtClean="0">
                <a:solidFill>
                  <a:schemeClr val="tx1"/>
                </a:solidFill>
                <a:ea typeface="+mn-ea"/>
                <a:cs typeface="+mn-cs"/>
              </a:rPr>
              <a:t>Traditional typefaces for traditional markets (Arial, Helvetica, Calibri, Verdana)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Items aimed at younger/active/adventure seeking target markets may feature typefaces which are more ‘creative’/different (Mistral, Freestyle Script, Impact)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The font may be chosen to reflect the nature of the trip/tour being promoted – for example a product such as a ‘romantic get-away’ might use French Script or Monotype Corsiva or Lucinda Handwriting</a:t>
            </a:r>
          </a:p>
          <a:p>
            <a:pPr marL="171450" indent="-171450">
              <a:buFont typeface="Arial" pitchFamily="34" charset="0"/>
              <a:buChar char="•"/>
            </a:pPr>
            <a:r>
              <a:rPr lang="en-AU" sz="1200" kern="1200" dirty="0" smtClean="0">
                <a:solidFill>
                  <a:schemeClr val="tx1"/>
                </a:solidFill>
                <a:ea typeface="+mn-ea"/>
                <a:cs typeface="+mn-cs"/>
              </a:rPr>
              <a:t>Attention needs to be paid to legibility – type faces selected must (usually) be easy to read so customers can quickly scan the materials and obtain the information they need and the detail the organisation wants to convey</a:t>
            </a:r>
          </a:p>
          <a:p>
            <a:pPr marL="171450" indent="-171450">
              <a:buFont typeface="Arial" pitchFamily="34" charset="0"/>
              <a:buChar char="•"/>
            </a:pPr>
            <a:r>
              <a:rPr lang="en-AU" sz="1200" kern="1200" dirty="0" smtClean="0">
                <a:solidFill>
                  <a:schemeClr val="tx1"/>
                </a:solidFill>
                <a:ea typeface="+mn-ea"/>
                <a:cs typeface="+mn-cs"/>
              </a:rPr>
              <a:t>Font size will:</a:t>
            </a:r>
          </a:p>
          <a:p>
            <a:pPr marL="628650" lvl="1" indent="-171450">
              <a:buFont typeface="Arial" pitchFamily="34" charset="0"/>
              <a:buChar char="•"/>
            </a:pPr>
            <a:r>
              <a:rPr lang="en-US" sz="1200" kern="1200" dirty="0" smtClean="0">
                <a:solidFill>
                  <a:schemeClr val="tx1"/>
                </a:solidFill>
                <a:ea typeface="+mn-ea"/>
                <a:cs typeface="+mn-cs"/>
              </a:rPr>
              <a:t>Be dictated by the Style Guide in many cases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Vary between locations/positions in the item in order to:</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Introduce difference in appearance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Help differentiate segments of information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Change to suit ‘available space’ – where there is lots of white space/room then type sizes can increase, and where room is scarce there is often the option of decreasing font size.</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 and discusses sample material illustrating points made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37</a:t>
            </a:fld>
            <a:endParaRPr lang="en-US" dirty="0"/>
          </a:p>
        </p:txBody>
      </p:sp>
    </p:spTree>
    <p:extLst>
      <p:ext uri="{BB962C8B-B14F-4D97-AF65-F5344CB8AC3E}">
        <p14:creationId xmlns:p14="http://schemas.microsoft.com/office/powerpoint/2010/main" val="290409896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a:buFont typeface="Arial" pitchFamily="34" charset="0"/>
              <a:buNone/>
            </a:pPr>
            <a:r>
              <a:rPr lang="en-US" noProof="0" dirty="0" smtClean="0"/>
              <a:t>Trainer discusses colour stating:</a:t>
            </a:r>
          </a:p>
          <a:p>
            <a:pPr marL="171450" indent="-171450">
              <a:buFont typeface="Arial" pitchFamily="34" charset="0"/>
              <a:buChar char="•"/>
            </a:pPr>
            <a:r>
              <a:rPr lang="en-AU" sz="1200" kern="1200" dirty="0" smtClean="0">
                <a:solidFill>
                  <a:schemeClr val="tx1"/>
                </a:solidFill>
                <a:ea typeface="+mn-ea"/>
                <a:cs typeface="+mn-cs"/>
              </a:rPr>
              <a:t>While most materials will seek to convey the standard ‘colours of the company’ there is also a need to determine the use of colour in individual brochures. This point forces consideration of black and white, limited colour or full-colour options.</a:t>
            </a:r>
          </a:p>
          <a:p>
            <a:pPr marL="171450" indent="-171450">
              <a:buFont typeface="Arial" pitchFamily="34" charset="0"/>
              <a:buChar char="•"/>
            </a:pPr>
            <a:r>
              <a:rPr lang="en-AU" sz="1200" kern="1200" dirty="0" smtClean="0">
                <a:solidFill>
                  <a:schemeClr val="tx1"/>
                </a:solidFill>
                <a:ea typeface="+mn-ea"/>
                <a:cs typeface="+mn-cs"/>
              </a:rPr>
              <a:t>It is important to realise colour costs money.</a:t>
            </a:r>
          </a:p>
          <a:p>
            <a:pPr marL="628650" lvl="1" indent="-171450">
              <a:buFont typeface="Arial" pitchFamily="34" charset="0"/>
              <a:buChar char="•"/>
            </a:pPr>
            <a:r>
              <a:rPr lang="en-AU" sz="1200" kern="1200" dirty="0" smtClean="0">
                <a:solidFill>
                  <a:schemeClr val="tx1"/>
                </a:solidFill>
                <a:ea typeface="+mn-ea"/>
                <a:cs typeface="+mn-cs"/>
              </a:rPr>
              <a:t>Black and white is cheapest, a limited number of colours (two or three) is next and the most expensive is full-colour printing. </a:t>
            </a:r>
          </a:p>
          <a:p>
            <a:pPr marL="628650" lvl="1" indent="-171450">
              <a:buFont typeface="Arial" pitchFamily="34" charset="0"/>
              <a:buChar char="•"/>
            </a:pPr>
            <a:r>
              <a:rPr lang="en-AU" sz="1200" kern="1200" dirty="0" smtClean="0">
                <a:solidFill>
                  <a:schemeClr val="tx1"/>
                </a:solidFill>
                <a:ea typeface="+mn-ea"/>
                <a:cs typeface="+mn-cs"/>
              </a:rPr>
              <a:t>The more colour used, the more expensive the end price</a:t>
            </a:r>
          </a:p>
          <a:p>
            <a:pPr marL="171450" indent="-171450">
              <a:buFont typeface="Arial" pitchFamily="34" charset="0"/>
              <a:buChar char="•"/>
            </a:pPr>
            <a:r>
              <a:rPr lang="en-AU" sz="1200" kern="1200" dirty="0" smtClean="0">
                <a:solidFill>
                  <a:schemeClr val="tx1"/>
                </a:solidFill>
                <a:ea typeface="+mn-ea"/>
                <a:cs typeface="+mn-cs"/>
              </a:rPr>
              <a:t>Before deciding on colour for brochures it is useful to ask:</a:t>
            </a:r>
          </a:p>
          <a:p>
            <a:pPr marL="628650" lvl="1" indent="-171450">
              <a:buFont typeface="Arial" pitchFamily="34" charset="0"/>
              <a:buChar char="•"/>
            </a:pPr>
            <a:r>
              <a:rPr lang="en-AU" sz="1200" kern="1200" dirty="0" smtClean="0">
                <a:solidFill>
                  <a:schemeClr val="tx1"/>
                </a:solidFill>
                <a:ea typeface="+mn-ea"/>
                <a:cs typeface="+mn-cs"/>
              </a:rPr>
              <a:t>What will the use of colour achieve?</a:t>
            </a:r>
          </a:p>
          <a:p>
            <a:pPr marL="628650" lvl="1" indent="-171450">
              <a:buFont typeface="Arial" pitchFamily="34" charset="0"/>
              <a:buChar char="•"/>
            </a:pPr>
            <a:r>
              <a:rPr lang="en-AU" sz="1200" kern="1200" dirty="0" smtClean="0">
                <a:solidFill>
                  <a:schemeClr val="tx1"/>
                </a:solidFill>
                <a:ea typeface="+mn-ea"/>
                <a:cs typeface="+mn-cs"/>
              </a:rPr>
              <a:t>How many colours will be needed to create the desired effect?</a:t>
            </a:r>
          </a:p>
          <a:p>
            <a:pPr marL="628650" lvl="1" indent="-171450">
              <a:buFont typeface="Arial" pitchFamily="34" charset="0"/>
              <a:buChar char="•"/>
            </a:pPr>
            <a:r>
              <a:rPr lang="en-AU" sz="1200" kern="1200" dirty="0" smtClean="0">
                <a:solidFill>
                  <a:schemeClr val="tx1"/>
                </a:solidFill>
                <a:ea typeface="+mn-ea"/>
                <a:cs typeface="+mn-cs"/>
              </a:rPr>
              <a:t>Is the cost of full-colour printing within budget?</a:t>
            </a:r>
          </a:p>
          <a:p>
            <a:pPr marL="628650" lvl="1" indent="-171450">
              <a:buFont typeface="Arial" pitchFamily="34" charset="0"/>
              <a:buChar char="•"/>
            </a:pPr>
            <a:r>
              <a:rPr lang="en-AU" sz="1200" kern="1200" dirty="0" smtClean="0">
                <a:solidFill>
                  <a:schemeClr val="tx1"/>
                </a:solidFill>
                <a:ea typeface="+mn-ea"/>
                <a:cs typeface="+mn-cs"/>
              </a:rPr>
              <a:t>Does use of colour align with objectives and intentions for </a:t>
            </a:r>
            <a:r>
              <a:rPr lang="en-AU" sz="1200" b="1" i="1" kern="1200" dirty="0" smtClean="0">
                <a:solidFill>
                  <a:schemeClr val="tx1"/>
                </a:solidFill>
                <a:ea typeface="+mn-ea"/>
                <a:cs typeface="+mn-cs"/>
              </a:rPr>
              <a:t>this</a:t>
            </a:r>
            <a:r>
              <a:rPr lang="en-AU" sz="1200" kern="1200" dirty="0" smtClean="0">
                <a:solidFill>
                  <a:schemeClr val="tx1"/>
                </a:solidFill>
                <a:ea typeface="+mn-ea"/>
                <a:cs typeface="+mn-cs"/>
              </a:rPr>
              <a:t> product?</a:t>
            </a:r>
          </a:p>
          <a:p>
            <a:pPr marL="171450" indent="-171450">
              <a:buFont typeface="Arial" pitchFamily="34" charset="0"/>
              <a:buChar char="•"/>
            </a:pPr>
            <a:r>
              <a:rPr lang="en-AU" sz="1200" kern="1200" dirty="0" smtClean="0">
                <a:solidFill>
                  <a:schemeClr val="tx1"/>
                </a:solidFill>
                <a:ea typeface="+mn-ea"/>
                <a:cs typeface="+mn-cs"/>
              </a:rPr>
              <a:t>It is also important/necessary to take into account the paper on which the final product will be printed – for example lighter paper is slightly cheaper, but the quality of print material can become bad because colour can ‘bleed’ through the thin pages. </a:t>
            </a:r>
          </a:p>
          <a:p>
            <a:pPr marL="171450" indent="-171450">
              <a:buFont typeface="Arial" pitchFamily="34" charset="0"/>
              <a:buChar char="•"/>
            </a:pPr>
            <a:r>
              <a:rPr lang="en-AU" sz="1200" kern="1200" dirty="0" smtClean="0">
                <a:solidFill>
                  <a:schemeClr val="tx1"/>
                </a:solidFill>
                <a:ea typeface="+mn-ea"/>
                <a:cs typeface="+mn-cs"/>
              </a:rPr>
              <a:t>Key points are:</a:t>
            </a:r>
          </a:p>
          <a:p>
            <a:pPr marL="628650" lvl="1" indent="-171450">
              <a:buFont typeface="Arial" pitchFamily="34" charset="0"/>
              <a:buChar char="•"/>
            </a:pPr>
            <a:r>
              <a:rPr lang="en-AU" sz="1200" kern="1200" dirty="0" smtClean="0">
                <a:solidFill>
                  <a:schemeClr val="tx1"/>
                </a:solidFill>
                <a:ea typeface="+mn-ea"/>
                <a:cs typeface="+mn-cs"/>
              </a:rPr>
              <a:t>Full-colour or four-colour printing (that is, colours derived from the four primary colours) is the most expensive choice; however, it will generally create a more lasting impression.</a:t>
            </a:r>
          </a:p>
          <a:p>
            <a:pPr marL="628650" lvl="1" indent="-171450">
              <a:buFont typeface="Arial" pitchFamily="34" charset="0"/>
              <a:buChar char="•"/>
            </a:pPr>
            <a:r>
              <a:rPr lang="en-AU" sz="1200" kern="1200" dirty="0" smtClean="0">
                <a:solidFill>
                  <a:schemeClr val="tx1"/>
                </a:solidFill>
                <a:ea typeface="+mn-ea"/>
                <a:cs typeface="+mn-cs"/>
              </a:rPr>
              <a:t>One-, two- and three-colour printing can also be used effectively. If the budget will allow only one colour, remember there are numerous </a:t>
            </a:r>
            <a:r>
              <a:rPr lang="en-AU" sz="1200" b="1" kern="1200" dirty="0" smtClean="0">
                <a:solidFill>
                  <a:schemeClr val="tx1"/>
                </a:solidFill>
                <a:ea typeface="+mn-ea"/>
                <a:cs typeface="+mn-cs"/>
              </a:rPr>
              <a:t>shades and hues</a:t>
            </a:r>
            <a:r>
              <a:rPr lang="en-AU" sz="1200" kern="1200" dirty="0" smtClean="0">
                <a:solidFill>
                  <a:schemeClr val="tx1"/>
                </a:solidFill>
                <a:ea typeface="+mn-ea"/>
                <a:cs typeface="+mn-cs"/>
              </a:rPr>
              <a:t> for each colour so (in reality) this expands available colour options. </a:t>
            </a:r>
          </a:p>
          <a:p>
            <a:pPr marL="628650" lvl="1" indent="-171450">
              <a:buFont typeface="Arial" pitchFamily="34" charset="0"/>
              <a:buChar char="•"/>
            </a:pPr>
            <a:r>
              <a:rPr lang="en-AU" sz="1200" kern="1200" dirty="0" smtClean="0">
                <a:solidFill>
                  <a:schemeClr val="tx1"/>
                </a:solidFill>
                <a:ea typeface="+mn-ea"/>
                <a:cs typeface="+mn-cs"/>
              </a:rPr>
              <a:t>The nature of the industry is such that colour needs to be used in all/most marketing materials.</a:t>
            </a:r>
          </a:p>
          <a:p>
            <a:pPr>
              <a:buFont typeface="Arial" pitchFamily="34" charset="0"/>
              <a:buNone/>
            </a:pPr>
            <a:endParaRPr lang="en-US" noProof="0" dirty="0" smtClean="0"/>
          </a:p>
          <a:p>
            <a:pPr>
              <a:buFont typeface="Arial" pitchFamily="34" charset="0"/>
              <a:buNone/>
            </a:pPr>
            <a:r>
              <a:rPr lang="en-US" b="1" noProof="0" dirty="0" smtClean="0"/>
              <a:t>Classroom Activity – Guest Speaker</a:t>
            </a:r>
          </a:p>
          <a:p>
            <a:pPr>
              <a:buFont typeface="Arial" pitchFamily="34" charset="0"/>
              <a:buNone/>
            </a:pPr>
            <a:r>
              <a:rPr lang="en-US" b="0" noProof="0" dirty="0" smtClean="0"/>
              <a:t>Trainer arranges for printer to attend and discuss:</a:t>
            </a:r>
          </a:p>
          <a:p>
            <a:pPr marL="171450" indent="-171450">
              <a:buFont typeface="Arial" pitchFamily="34" charset="0"/>
              <a:buChar char="•"/>
            </a:pPr>
            <a:r>
              <a:rPr lang="en-US" b="0" noProof="0" dirty="0" smtClean="0"/>
              <a:t>Printing of brochures</a:t>
            </a:r>
          </a:p>
          <a:p>
            <a:pPr marL="171450" indent="-171450">
              <a:buFont typeface="Arial" pitchFamily="34" charset="0"/>
              <a:buChar char="•"/>
            </a:pPr>
            <a:r>
              <a:rPr lang="en-US" b="0" noProof="0" dirty="0" smtClean="0"/>
              <a:t>Options available</a:t>
            </a:r>
          </a:p>
          <a:p>
            <a:pPr marL="171450" indent="-171450">
              <a:buFont typeface="Arial" pitchFamily="34" charset="0"/>
              <a:buChar char="•"/>
            </a:pPr>
            <a:r>
              <a:rPr lang="en-US" b="0" noProof="0" dirty="0" smtClean="0"/>
              <a:t>Use of colour</a:t>
            </a:r>
          </a:p>
          <a:p>
            <a:pPr marL="171450" indent="-171450">
              <a:buFont typeface="Arial" pitchFamily="34" charset="0"/>
              <a:buChar char="•"/>
            </a:pPr>
            <a:r>
              <a:rPr lang="en-US" b="0" noProof="0" dirty="0" smtClean="0"/>
              <a:t>Finishing</a:t>
            </a:r>
            <a:r>
              <a:rPr lang="en-US" b="0" baseline="0" noProof="0" dirty="0" smtClean="0"/>
              <a:t> options</a:t>
            </a:r>
          </a:p>
          <a:p>
            <a:pPr marL="171450" indent="-171450">
              <a:buFont typeface="Arial" pitchFamily="34" charset="0"/>
              <a:buChar char="•"/>
            </a:pPr>
            <a:r>
              <a:rPr lang="en-US" b="0" baseline="0" noProof="0" dirty="0" smtClean="0"/>
              <a:t>Nature of relationship between client and printer</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38</a:t>
            </a:fld>
            <a:endParaRPr lang="en-US" dirty="0"/>
          </a:p>
        </p:txBody>
      </p:sp>
    </p:spTree>
    <p:extLst>
      <p:ext uri="{BB962C8B-B14F-4D97-AF65-F5344CB8AC3E}">
        <p14:creationId xmlns:p14="http://schemas.microsoft.com/office/powerpoint/2010/main" val="213318866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mentions </a:t>
            </a:r>
            <a:r>
              <a:rPr lang="en-AU" sz="1200" kern="1200" dirty="0" smtClean="0">
                <a:solidFill>
                  <a:schemeClr val="tx1"/>
                </a:solidFill>
                <a:ea typeface="+mn-ea"/>
                <a:cs typeface="+mn-cs"/>
              </a:rPr>
              <a:t>length of the final item in term of number of pages will be determined by a combination of factors such as:</a:t>
            </a:r>
          </a:p>
          <a:p>
            <a:pPr marL="171450" indent="-171450">
              <a:buFont typeface="Arial" pitchFamily="34" charset="0"/>
              <a:buChar char="•"/>
            </a:pPr>
            <a:r>
              <a:rPr lang="en-AU" sz="1200" kern="1200" dirty="0" smtClean="0">
                <a:solidFill>
                  <a:schemeClr val="tx1"/>
                </a:solidFill>
                <a:ea typeface="+mn-ea"/>
                <a:cs typeface="+mn-cs"/>
              </a:rPr>
              <a:t>Input stakeholders want to make – the desire/need for stakeholders to contribute nearly always has to be accommodated</a:t>
            </a:r>
          </a:p>
          <a:p>
            <a:pPr marL="171450" indent="-171450">
              <a:buFont typeface="Arial" pitchFamily="34" charset="0"/>
              <a:buChar char="•"/>
            </a:pPr>
            <a:r>
              <a:rPr lang="en-AU" sz="1200" kern="1200" dirty="0" smtClean="0">
                <a:solidFill>
                  <a:schemeClr val="tx1"/>
                </a:solidFill>
                <a:ea typeface="+mn-ea"/>
                <a:cs typeface="+mn-cs"/>
              </a:rPr>
              <a:t>Budget – in relation to:</a:t>
            </a:r>
          </a:p>
          <a:p>
            <a:pPr marL="628650" lvl="1" indent="-171450">
              <a:buFont typeface="Arial" pitchFamily="34" charset="0"/>
              <a:buChar char="•"/>
            </a:pPr>
            <a:r>
              <a:rPr lang="en-US" sz="1200" kern="1200" dirty="0" smtClean="0">
                <a:solidFill>
                  <a:schemeClr val="tx1"/>
                </a:solidFill>
                <a:ea typeface="+mn-ea"/>
                <a:cs typeface="+mn-cs"/>
              </a:rPr>
              <a:t>Production – lengthier items are more expensive to produce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Distribution – bigger/weightier items cost more to mail or send out</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Market research about the amount of detail customers/consumers want – some items will seek only to give brief pieces of information while others will be produced to supply extra/comprehensive details</a:t>
            </a:r>
          </a:p>
          <a:p>
            <a:pPr marL="171450" indent="-171450">
              <a:buFont typeface="Arial" pitchFamily="34" charset="0"/>
              <a:buChar char="•"/>
            </a:pPr>
            <a:r>
              <a:rPr lang="en-AU" sz="1200" kern="1200" dirty="0" smtClean="0">
                <a:solidFill>
                  <a:schemeClr val="tx1"/>
                </a:solidFill>
                <a:ea typeface="+mn-ea"/>
                <a:cs typeface="+mn-cs"/>
              </a:rPr>
              <a:t>End use of the item – for example, some promotional materials will be required to be single page, bi-fold or tri-fold where they are to be included in/added to a pre-existing range/rack/stocking and display option of other advertising items (such as in a pre-existing facility in a hotel lobby or a Visitor Information Centre).</a:t>
            </a:r>
          </a:p>
          <a:p>
            <a:pPr marL="628650" lvl="1" indent="-171450">
              <a:buFont typeface="Arial" pitchFamily="34" charset="0"/>
              <a:buChar char="•"/>
            </a:pPr>
            <a:r>
              <a:rPr lang="en-AU" sz="1200" kern="1200" dirty="0" smtClean="0">
                <a:solidFill>
                  <a:schemeClr val="tx1"/>
                </a:solidFill>
                <a:ea typeface="+mn-ea"/>
                <a:cs typeface="+mn-cs"/>
              </a:rPr>
              <a:t>When deciding on the format and size of print material, make sure it is appropriate for purpose and easy to distribute. For example, make sure the final product fits easily into brochure display stands or they can be mailed out in standard size envelopes.</a:t>
            </a:r>
          </a:p>
          <a:p>
            <a:pPr marL="628650" lvl="1" indent="-171450">
              <a:buFont typeface="Arial" pitchFamily="34" charset="0"/>
              <a:buChar char="•"/>
            </a:pPr>
            <a:r>
              <a:rPr lang="en-AU" sz="1200" kern="1200" dirty="0" smtClean="0">
                <a:solidFill>
                  <a:schemeClr val="tx1"/>
                </a:solidFill>
                <a:ea typeface="+mn-ea"/>
                <a:cs typeface="+mn-cs"/>
              </a:rPr>
              <a:t>A standard size leaflet such as A4 folded down to one third A4 (gatefold) is easiest to use as it fits into standard brochure racks and envelopes.</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39</a:t>
            </a:fld>
            <a:endParaRPr lang="en-US" dirty="0"/>
          </a:p>
        </p:txBody>
      </p:sp>
    </p:spTree>
    <p:extLst>
      <p:ext uri="{BB962C8B-B14F-4D97-AF65-F5344CB8AC3E}">
        <p14:creationId xmlns:p14="http://schemas.microsoft.com/office/powerpoint/2010/main" val="217755207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observes stock </a:t>
            </a:r>
            <a:r>
              <a:rPr lang="en-AU" sz="1200" kern="1200" dirty="0" smtClean="0">
                <a:solidFill>
                  <a:schemeClr val="tx1"/>
                </a:solidFill>
                <a:ea typeface="+mn-ea"/>
                <a:cs typeface="+mn-cs"/>
              </a:rPr>
              <a:t>size, quality and colour will depend on:</a:t>
            </a:r>
          </a:p>
          <a:p>
            <a:pPr marL="171450" indent="-171450">
              <a:buFont typeface="Arial" pitchFamily="34" charset="0"/>
              <a:buChar char="•"/>
            </a:pPr>
            <a:r>
              <a:rPr lang="en-AU" sz="1200" kern="1200" dirty="0" smtClean="0">
                <a:solidFill>
                  <a:schemeClr val="tx1"/>
                </a:solidFill>
                <a:ea typeface="+mn-ea"/>
                <a:cs typeface="+mn-cs"/>
              </a:rPr>
              <a:t>Demands/requirements of those who are going to display the item – see previous slide</a:t>
            </a:r>
          </a:p>
          <a:p>
            <a:pPr marL="171450" indent="-171450">
              <a:buFont typeface="Arial" pitchFamily="34" charset="0"/>
              <a:buChar char="•"/>
            </a:pPr>
            <a:r>
              <a:rPr lang="en-AU" sz="1200" kern="1200" dirty="0" smtClean="0">
                <a:solidFill>
                  <a:schemeClr val="tx1"/>
                </a:solidFill>
                <a:ea typeface="+mn-ea"/>
                <a:cs typeface="+mn-cs"/>
              </a:rPr>
              <a:t>Type of product/item being developed – for example, there are certain higher expectations of quality for a brochure that do not exist for a flyer</a:t>
            </a:r>
          </a:p>
          <a:p>
            <a:pPr marL="171450" indent="-171450">
              <a:buFont typeface="Arial" pitchFamily="34" charset="0"/>
              <a:buChar char="•"/>
            </a:pPr>
            <a:r>
              <a:rPr lang="en-AU" sz="1200" kern="1200" dirty="0" smtClean="0">
                <a:solidFill>
                  <a:schemeClr val="tx1"/>
                </a:solidFill>
                <a:ea typeface="+mn-ea"/>
                <a:cs typeface="+mn-cs"/>
              </a:rPr>
              <a:t>Overall ‘look’ to be achieved by the item</a:t>
            </a:r>
          </a:p>
          <a:p>
            <a:pPr marL="171450" indent="-171450">
              <a:buFont typeface="Arial" pitchFamily="34" charset="0"/>
              <a:buChar char="•"/>
            </a:pPr>
            <a:r>
              <a:rPr lang="en-AU" sz="1200" kern="1200" dirty="0" smtClean="0">
                <a:solidFill>
                  <a:schemeClr val="tx1"/>
                </a:solidFill>
                <a:ea typeface="+mn-ea"/>
                <a:cs typeface="+mn-cs"/>
              </a:rPr>
              <a:t>Traditional/non-negotiable requirements of the organisation and stakeholders involved in the initiative</a:t>
            </a:r>
          </a:p>
          <a:p>
            <a:pPr marL="171450" indent="-171450">
              <a:buFont typeface="Arial" pitchFamily="34" charset="0"/>
              <a:buChar char="•"/>
            </a:pPr>
            <a:r>
              <a:rPr lang="en-AU" sz="1200" kern="1200" dirty="0" smtClean="0">
                <a:solidFill>
                  <a:schemeClr val="tx1"/>
                </a:solidFill>
                <a:ea typeface="+mn-ea"/>
                <a:cs typeface="+mn-cs"/>
              </a:rPr>
              <a:t>Budget</a:t>
            </a:r>
          </a:p>
          <a:p>
            <a:pPr marL="171450" indent="-171450">
              <a:buFont typeface="Arial" pitchFamily="34" charset="0"/>
              <a:buChar char="•"/>
            </a:pPr>
            <a:r>
              <a:rPr lang="en-AU" sz="1200" kern="1200" dirty="0" smtClean="0">
                <a:solidFill>
                  <a:schemeClr val="tx1"/>
                </a:solidFill>
                <a:ea typeface="+mn-ea"/>
                <a:cs typeface="+mn-cs"/>
              </a:rPr>
              <a:t>End-use of the finished product – if the item is to be used by staff inside the business or at another organisation/agency then the emphasis must be on practicality and ‘useability’ of the item rather than ‘show and appearance’ </a:t>
            </a:r>
          </a:p>
          <a:p>
            <a:pPr marL="171450" indent="-171450">
              <a:buFont typeface="Arial" pitchFamily="34" charset="0"/>
              <a:buChar char="•"/>
            </a:pPr>
            <a:r>
              <a:rPr lang="en-AU" sz="1200" kern="1200" dirty="0" smtClean="0">
                <a:solidFill>
                  <a:schemeClr val="tx1"/>
                </a:solidFill>
                <a:ea typeface="+mn-ea"/>
                <a:cs typeface="+mn-cs"/>
              </a:rPr>
              <a:t>The theme of the product/service – there needs to be a resonance between </a:t>
            </a:r>
            <a:r>
              <a:rPr lang="en-AU" sz="1200" i="1" kern="1200" dirty="0" smtClean="0">
                <a:solidFill>
                  <a:schemeClr val="tx1"/>
                </a:solidFill>
                <a:ea typeface="+mn-ea"/>
                <a:cs typeface="+mn-cs"/>
              </a:rPr>
              <a:t>what</a:t>
            </a:r>
            <a:r>
              <a:rPr lang="en-AU" sz="1200" kern="1200" dirty="0" smtClean="0">
                <a:solidFill>
                  <a:schemeClr val="tx1"/>
                </a:solidFill>
                <a:ea typeface="+mn-ea"/>
                <a:cs typeface="+mn-cs"/>
              </a:rPr>
              <a:t> is being promoted (in terms of quality, value, reliability and other emotional criteria/factors) and the </a:t>
            </a:r>
            <a:r>
              <a:rPr lang="en-AU" sz="1200" i="1" kern="1200" dirty="0" smtClean="0">
                <a:solidFill>
                  <a:schemeClr val="tx1"/>
                </a:solidFill>
                <a:ea typeface="+mn-ea"/>
                <a:cs typeface="+mn-cs"/>
              </a:rPr>
              <a:t>way</a:t>
            </a:r>
            <a:r>
              <a:rPr lang="en-AU" sz="1200" kern="1200" dirty="0" smtClean="0">
                <a:solidFill>
                  <a:schemeClr val="tx1"/>
                </a:solidFill>
                <a:ea typeface="+mn-ea"/>
                <a:cs typeface="+mn-cs"/>
              </a:rPr>
              <a:t> it is promoted.</a:t>
            </a:r>
          </a:p>
          <a:p>
            <a:pPr>
              <a:buFont typeface="Arial" pitchFamily="34" charset="0"/>
              <a:buNone/>
            </a:pPr>
            <a:endParaRPr lang="en-US"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 distributes</a:t>
            </a:r>
            <a:r>
              <a:rPr lang="en-US" b="0" baseline="0" noProof="0" dirty="0" smtClean="0"/>
              <a:t> and discusses samples of stock as described on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40</a:t>
            </a:fld>
            <a:endParaRPr lang="en-US" dirty="0"/>
          </a:p>
        </p:txBody>
      </p:sp>
    </p:spTree>
    <p:extLst>
      <p:ext uri="{BB962C8B-B14F-4D97-AF65-F5344CB8AC3E}">
        <p14:creationId xmlns:p14="http://schemas.microsoft.com/office/powerpoint/2010/main" val="30669277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noProof="0" dirty="0" smtClean="0"/>
              <a:t>Trainer states positioning of content </a:t>
            </a:r>
            <a:r>
              <a:rPr lang="en-AU" sz="1200" kern="1200" dirty="0" smtClean="0">
                <a:solidFill>
                  <a:schemeClr val="tx1"/>
                </a:solidFill>
                <a:ea typeface="+mn-ea"/>
                <a:cs typeface="+mn-cs"/>
              </a:rPr>
              <a:t>relates to locating text, graphics, photographs on the stock or marketing item and involves activities and considerations such as:</a:t>
            </a:r>
          </a:p>
          <a:p>
            <a:pPr marL="171450" indent="-171450">
              <a:buFont typeface="Arial" pitchFamily="34" charset="0"/>
              <a:buChar char="•"/>
            </a:pPr>
            <a:r>
              <a:rPr lang="en-AU" sz="1200" kern="1200" dirty="0" smtClean="0">
                <a:solidFill>
                  <a:schemeClr val="tx1"/>
                </a:solidFill>
                <a:ea typeface="+mn-ea"/>
                <a:cs typeface="+mn-cs"/>
              </a:rPr>
              <a:t>Enabling sufficient space for required text and information – this is important to ensure:</a:t>
            </a:r>
          </a:p>
          <a:p>
            <a:pPr marL="628650" lvl="1" indent="-171450">
              <a:buFont typeface="Arial" pitchFamily="34" charset="0"/>
              <a:buChar char="•"/>
            </a:pPr>
            <a:r>
              <a:rPr lang="en-US" sz="1200" kern="1200" dirty="0" smtClean="0">
                <a:solidFill>
                  <a:schemeClr val="tx1"/>
                </a:solidFill>
                <a:ea typeface="+mn-ea"/>
                <a:cs typeface="+mn-cs"/>
              </a:rPr>
              <a:t>Items do not look too cluttered or ‘busy’; There is enough space to communicate what needs to be communicated;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 type face is legible and is not too small</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Sequencing of material in a logical manner – so it is easy-to-follow/find or otherwise presented in a </a:t>
            </a:r>
            <a:r>
              <a:rPr lang="en-AU" sz="1200" i="1" kern="1200" dirty="0" smtClean="0">
                <a:solidFill>
                  <a:schemeClr val="tx1"/>
                </a:solidFill>
                <a:ea typeface="+mn-ea"/>
                <a:cs typeface="+mn-cs"/>
              </a:rPr>
              <a:t>planned</a:t>
            </a:r>
            <a:r>
              <a:rPr lang="en-AU" sz="1200" kern="1200" dirty="0" smtClean="0">
                <a:solidFill>
                  <a:schemeClr val="tx1"/>
                </a:solidFill>
                <a:ea typeface="+mn-ea"/>
                <a:cs typeface="+mn-cs"/>
              </a:rPr>
              <a:t> order</a:t>
            </a:r>
          </a:p>
          <a:p>
            <a:pPr marL="171450" indent="-171450">
              <a:buFont typeface="Arial" pitchFamily="34" charset="0"/>
              <a:buChar char="•"/>
            </a:pPr>
            <a:r>
              <a:rPr lang="en-AU" sz="1200" kern="1200" dirty="0" smtClean="0">
                <a:solidFill>
                  <a:schemeClr val="tx1"/>
                </a:solidFill>
                <a:ea typeface="+mn-ea"/>
                <a:cs typeface="+mn-cs"/>
              </a:rPr>
              <a:t>Liaising with professionals – these are people with expertise in brochure design and development and include:</a:t>
            </a:r>
          </a:p>
          <a:p>
            <a:pPr marL="628650" lvl="1" indent="-171450">
              <a:buFont typeface="Arial" pitchFamily="34" charset="0"/>
              <a:buChar char="•"/>
            </a:pPr>
            <a:r>
              <a:rPr lang="en-US" sz="1200" kern="1200" dirty="0" smtClean="0">
                <a:solidFill>
                  <a:schemeClr val="tx1"/>
                </a:solidFill>
                <a:ea typeface="+mn-ea"/>
                <a:cs typeface="+mn-cs"/>
              </a:rPr>
              <a:t>Graphic artists – it is always good to get their input about layout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Printers – where materials have to be printed by an external printer it is vital to meet with the printer and see what they have to offer and find out what they suggest in terms of what is needed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Applying basic design principles – this is often a matter of taste/personal judgement and subjectivity about:</a:t>
            </a:r>
          </a:p>
          <a:p>
            <a:pPr marL="628650" lvl="1" indent="-171450">
              <a:buFont typeface="Arial" pitchFamily="34" charset="0"/>
              <a:buChar char="•"/>
            </a:pPr>
            <a:r>
              <a:rPr lang="en-US" sz="1200" kern="1200" dirty="0" smtClean="0">
                <a:solidFill>
                  <a:schemeClr val="tx1"/>
                </a:solidFill>
                <a:ea typeface="+mn-ea"/>
                <a:cs typeface="+mn-cs"/>
              </a:rPr>
              <a:t>Aesthetic appeal; Harmony of content; Flow and sequencing of information and content; Balance of the final product/page; Spacing between lines, paragraphs, tables, information, sections and so on; Hierarchy of headings/sub-headings; Cover shots and other ‘visuals’.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noProof="0" dirty="0" smtClean="0"/>
              <a:t>Classroom Activity (1) – Handouts</a:t>
            </a:r>
          </a:p>
          <a:p>
            <a:pPr>
              <a:buFont typeface="Arial" pitchFamily="34" charset="0"/>
              <a:buNone/>
            </a:pPr>
            <a:r>
              <a:rPr lang="en-US" b="0" noProof="0" dirty="0" smtClean="0"/>
              <a:t>Trainer distributes</a:t>
            </a:r>
            <a:r>
              <a:rPr lang="en-US" b="0" baseline="0" noProof="0" dirty="0" smtClean="0"/>
              <a:t> and discusses samples of materials to illustrate points described on slide.</a:t>
            </a:r>
          </a:p>
          <a:p>
            <a:pPr>
              <a:buFont typeface="Arial" pitchFamily="34" charset="0"/>
              <a:buNone/>
            </a:pPr>
            <a:endParaRPr lang="en-US" b="0" baseline="0" noProof="0" dirty="0" smtClean="0"/>
          </a:p>
          <a:p>
            <a:pPr>
              <a:buFont typeface="Arial" pitchFamily="34" charset="0"/>
              <a:buNone/>
            </a:pPr>
            <a:r>
              <a:rPr lang="en-US" b="1" baseline="0" noProof="0" dirty="0" smtClean="0"/>
              <a:t>Classroom Activity (2) – Internet Research</a:t>
            </a:r>
          </a:p>
          <a:p>
            <a:pPr>
              <a:buFont typeface="Arial" pitchFamily="34" charset="0"/>
              <a:buNone/>
            </a:pPr>
            <a:r>
              <a:rPr lang="en-US" b="0" noProof="0" dirty="0" smtClean="0"/>
              <a:t>Trainer facilitates online research and discussion relating to relevant sites such as:</a:t>
            </a:r>
          </a:p>
          <a:p>
            <a:pPr marL="171450" indent="-171450">
              <a:buFont typeface="Arial" pitchFamily="34" charset="0"/>
              <a:buChar char="•"/>
            </a:pPr>
            <a:r>
              <a:rPr lang="en-AU" sz="1200" kern="1200" dirty="0" smtClean="0">
                <a:solidFill>
                  <a:schemeClr val="tx1"/>
                </a:solidFill>
                <a:ea typeface="+mn-ea"/>
                <a:cs typeface="+mn-cs"/>
              </a:rPr>
              <a:t>‘Ready-made free design templates’ at </a:t>
            </a:r>
            <a:r>
              <a:rPr lang="en-AU" sz="1200" u="sng" kern="1200" dirty="0" smtClean="0">
                <a:solidFill>
                  <a:schemeClr val="tx1"/>
                </a:solidFill>
                <a:ea typeface="+mn-ea"/>
                <a:cs typeface="+mn-cs"/>
                <a:hlinkClick r:id="rId3"/>
              </a:rPr>
              <a:t>http://www.stocklayouts.com/Templates/Free-Templates/Free-Sample-Brochure-Template-Design.aspx</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‘Make an impression with colourful brochures’ at </a:t>
            </a:r>
            <a:r>
              <a:rPr lang="en-AU" sz="1200" u="sng" kern="1200" dirty="0" smtClean="0">
                <a:solidFill>
                  <a:schemeClr val="tx1"/>
                </a:solidFill>
                <a:ea typeface="+mn-ea"/>
                <a:cs typeface="+mn-cs"/>
                <a:hlinkClick r:id="rId4"/>
              </a:rPr>
              <a:t>http://www.stocklayouts.com/Templates/Brochure/Brochure-Templates-Designs.aspx</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‘Brochure layout template’ at </a:t>
            </a:r>
            <a:r>
              <a:rPr lang="en-AU" sz="1200" u="sng" kern="1200" dirty="0" smtClean="0">
                <a:solidFill>
                  <a:schemeClr val="tx1"/>
                </a:solidFill>
                <a:ea typeface="+mn-ea"/>
                <a:cs typeface="+mn-cs"/>
                <a:hlinkClick r:id="rId5"/>
              </a:rPr>
              <a:t>http://all-free-download.com/free-vector/brochure-layout-template.html</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‘Layout of a promotional brochure’ at </a:t>
            </a:r>
            <a:r>
              <a:rPr lang="en-AU" sz="1200" u="sng" kern="1200" dirty="0" smtClean="0">
                <a:solidFill>
                  <a:schemeClr val="tx1"/>
                </a:solidFill>
                <a:ea typeface="+mn-ea"/>
                <a:cs typeface="+mn-cs"/>
                <a:hlinkClick r:id="rId6"/>
              </a:rPr>
              <a:t>http://www.vtaide.com/gleanings/BrochureLayout.htm</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 ‘How to design brochures’ at </a:t>
            </a:r>
            <a:r>
              <a:rPr lang="en-AU" sz="1200" u="sng" kern="1200" dirty="0" smtClean="0">
                <a:solidFill>
                  <a:schemeClr val="tx1"/>
                </a:solidFill>
                <a:ea typeface="+mn-ea"/>
                <a:cs typeface="+mn-cs"/>
                <a:hlinkClick r:id="rId7"/>
              </a:rPr>
              <a:t>http://www.wikihow.com/Design-Brochures</a:t>
            </a:r>
            <a:r>
              <a:rPr lang="en-AU" sz="1200" kern="1200" dirty="0" smtClean="0">
                <a:solidFill>
                  <a:schemeClr val="tx1"/>
                </a:solidFill>
                <a:ea typeface="+mn-ea"/>
                <a:cs typeface="+mn-cs"/>
              </a:rPr>
              <a:t>. </a:t>
            </a:r>
          </a:p>
          <a:p>
            <a:pPr>
              <a:buFont typeface="Arial" pitchFamily="34" charset="0"/>
              <a:buNone/>
            </a:pPr>
            <a:endParaRPr lang="en-AU" b="0"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41</a:t>
            </a:fld>
            <a:endParaRPr lang="en-US" dirty="0"/>
          </a:p>
        </p:txBody>
      </p:sp>
    </p:spTree>
    <p:extLst>
      <p:ext uri="{BB962C8B-B14F-4D97-AF65-F5344CB8AC3E}">
        <p14:creationId xmlns:p14="http://schemas.microsoft.com/office/powerpoint/2010/main" val="228281311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observes the</a:t>
            </a:r>
            <a:r>
              <a:rPr lang="en-AU" sz="1200" b="0" kern="1200" dirty="0" smtClean="0">
                <a:solidFill>
                  <a:schemeClr val="tx1"/>
                </a:solidFill>
                <a:ea typeface="+mn-ea"/>
                <a:cs typeface="+mn-cs"/>
              </a:rPr>
              <a:t> most basic decision to be made about brochures and items is about the language to be used:</a:t>
            </a:r>
            <a:endParaRPr lang="en-AU" sz="1200" b="1" kern="1200" dirty="0" smtClean="0">
              <a:solidFill>
                <a:schemeClr val="tx1"/>
              </a:solidFill>
              <a:ea typeface="+mn-ea"/>
              <a:cs typeface="+mn-cs"/>
            </a:endParaRPr>
          </a:p>
          <a:p>
            <a:pPr marL="171450" indent="-171450">
              <a:buFont typeface="Arial" pitchFamily="34" charset="0"/>
              <a:buChar char="•"/>
            </a:pPr>
            <a:r>
              <a:rPr lang="en-AU" sz="1200" b="0" kern="1200" dirty="0" smtClean="0">
                <a:solidFill>
                  <a:schemeClr val="tx1"/>
                </a:solidFill>
                <a:ea typeface="+mn-ea"/>
                <a:cs typeface="+mn-cs"/>
              </a:rPr>
              <a:t>The language must be appropriate to the user/target market and in lots of cases this can mean using a ‘foreign’ language.</a:t>
            </a:r>
            <a:endParaRPr lang="en-AU" sz="1200" b="1" kern="1200" dirty="0" smtClean="0">
              <a:solidFill>
                <a:schemeClr val="tx1"/>
              </a:solidFill>
              <a:ea typeface="+mn-ea"/>
              <a:cs typeface="+mn-cs"/>
            </a:endParaRPr>
          </a:p>
          <a:p>
            <a:pPr marL="628650" lvl="1" indent="-171450">
              <a:buFont typeface="Arial" pitchFamily="34" charset="0"/>
              <a:buChar char="•"/>
            </a:pPr>
            <a:r>
              <a:rPr lang="en-AU" sz="1200" b="0" kern="1200" dirty="0" smtClean="0">
                <a:solidFill>
                  <a:schemeClr val="tx1"/>
                </a:solidFill>
                <a:ea typeface="+mn-ea"/>
                <a:cs typeface="+mn-cs"/>
              </a:rPr>
              <a:t>There is little point producing a magnificent brochure if the people it is aimed at are unable to read and understand it.</a:t>
            </a:r>
            <a:endParaRPr lang="en-AU" sz="1200" b="1" kern="1200" dirty="0" smtClean="0">
              <a:solidFill>
                <a:schemeClr val="tx1"/>
              </a:solidFill>
              <a:ea typeface="+mn-ea"/>
              <a:cs typeface="+mn-cs"/>
            </a:endParaRPr>
          </a:p>
          <a:p>
            <a:pPr marL="171450" indent="-171450">
              <a:buFont typeface="Arial" pitchFamily="34" charset="0"/>
              <a:buChar char="•"/>
            </a:pPr>
            <a:r>
              <a:rPr lang="en-AU" sz="1200" b="0" kern="1200" dirty="0" smtClean="0">
                <a:solidFill>
                  <a:schemeClr val="tx1"/>
                </a:solidFill>
                <a:ea typeface="+mn-ea"/>
                <a:cs typeface="+mn-cs"/>
              </a:rPr>
              <a:t>If the target market is English-speaking then the item must be written in English.</a:t>
            </a:r>
            <a:endParaRPr lang="en-AU" sz="1200" b="1" kern="1200" dirty="0" smtClean="0">
              <a:solidFill>
                <a:schemeClr val="tx1"/>
              </a:solidFill>
              <a:ea typeface="+mn-ea"/>
              <a:cs typeface="+mn-cs"/>
            </a:endParaRPr>
          </a:p>
          <a:p>
            <a:pPr marL="171450" indent="-171450">
              <a:buFont typeface="Arial" pitchFamily="34" charset="0"/>
              <a:buChar char="•"/>
            </a:pPr>
            <a:r>
              <a:rPr lang="en-AU" sz="1200" b="0" kern="1200" dirty="0" smtClean="0">
                <a:solidFill>
                  <a:schemeClr val="tx1"/>
                </a:solidFill>
                <a:ea typeface="+mn-ea"/>
                <a:cs typeface="+mn-cs"/>
              </a:rPr>
              <a:t>Indeed, in some cases the only change that needs to be made to some marketing materials is for there to be a translation of existing materials into another language. This means some organisations have the same brochure but produce it in six or seven different languages.</a:t>
            </a:r>
            <a:endParaRPr lang="en-AU" sz="1200" b="1" kern="1200" dirty="0" smtClean="0">
              <a:solidFill>
                <a:schemeClr val="tx1"/>
              </a:solidFill>
              <a:ea typeface="+mn-ea"/>
              <a:cs typeface="+mn-cs"/>
            </a:endParaRPr>
          </a:p>
          <a:p>
            <a:pPr marL="628650" lvl="1" indent="-171450">
              <a:buFont typeface="Arial" pitchFamily="34" charset="0"/>
              <a:buChar char="•"/>
            </a:pPr>
            <a:r>
              <a:rPr lang="en-AU" sz="1200" b="0" kern="1200" dirty="0" smtClean="0">
                <a:solidFill>
                  <a:schemeClr val="tx1"/>
                </a:solidFill>
                <a:ea typeface="+mn-ea"/>
                <a:cs typeface="+mn-cs"/>
              </a:rPr>
              <a:t>Where a foreign language is used it is ESSENTIAL a person whose mother tongue is that language is employed to proof read and amend the draft version of the item before it is approved for final printing in order to avoid unintended linguistic gaffs.</a:t>
            </a:r>
            <a:endParaRPr lang="en-AU" sz="1200" b="1"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42</a:t>
            </a:fld>
            <a:endParaRPr lang="en-US" dirty="0"/>
          </a:p>
        </p:txBody>
      </p:sp>
    </p:spTree>
    <p:extLst>
      <p:ext uri="{BB962C8B-B14F-4D97-AF65-F5344CB8AC3E}">
        <p14:creationId xmlns:p14="http://schemas.microsoft.com/office/powerpoint/2010/main" val="37992543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10000"/>
          </a:bodyPr>
          <a:lstStyle/>
          <a:p>
            <a:r>
              <a:rPr lang="en-US" noProof="0" dirty="0" smtClean="0"/>
              <a:t>Trainer</a:t>
            </a:r>
            <a:r>
              <a:rPr lang="en-US" baseline="0" noProof="0" dirty="0" smtClean="0"/>
              <a:t> advises words </a:t>
            </a:r>
            <a:r>
              <a:rPr lang="en-AU" sz="1200" b="0" kern="1200" dirty="0" smtClean="0">
                <a:solidFill>
                  <a:schemeClr val="tx1"/>
                </a:solidFill>
                <a:ea typeface="+mn-ea"/>
                <a:cs typeface="+mn-cs"/>
              </a:rPr>
              <a:t>and phrases used in marketing materials are extremely influential in conveying meaning to readers but they must be correct and they need to be appropriate to the reader/target market:</a:t>
            </a:r>
            <a:endParaRPr lang="en-AU" sz="1200" b="1"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Using local idiom can be a positive thing to do for local readers but confusing and meaningless to those from other countries and cultures. For example:</a:t>
            </a:r>
          </a:p>
          <a:p>
            <a:pPr marL="628650" lvl="1" indent="-171450">
              <a:buFont typeface="Arial" pitchFamily="34" charset="0"/>
              <a:buChar char="•"/>
            </a:pPr>
            <a:r>
              <a:rPr lang="en-AU" sz="1200" kern="1200" dirty="0" smtClean="0">
                <a:solidFill>
                  <a:schemeClr val="tx1"/>
                </a:solidFill>
                <a:ea typeface="+mn-ea"/>
                <a:cs typeface="+mn-cs"/>
              </a:rPr>
              <a:t>If the brochure reads ‘You will be over the moon when you take one of our cruises’ will readers understand this does not mean the ship is sailing past the moon?!</a:t>
            </a:r>
          </a:p>
          <a:p>
            <a:pPr marL="628650" lvl="1" indent="-171450">
              <a:buFont typeface="Arial" pitchFamily="34" charset="0"/>
              <a:buChar char="•"/>
            </a:pPr>
            <a:r>
              <a:rPr lang="en-AU" sz="1200" kern="1200" dirty="0" smtClean="0">
                <a:solidFill>
                  <a:schemeClr val="tx1"/>
                </a:solidFill>
                <a:ea typeface="+mn-ea"/>
                <a:cs typeface="+mn-cs"/>
              </a:rPr>
              <a:t>An Australian would understand if the brochure stated ‘Come to Vietnam and we will give you the drum about our food’ (meaning we will tell you all about the great local food)</a:t>
            </a:r>
          </a:p>
          <a:p>
            <a:pPr marL="171450" indent="-171450">
              <a:buFont typeface="Arial" pitchFamily="34" charset="0"/>
              <a:buChar char="•"/>
            </a:pPr>
            <a:r>
              <a:rPr lang="en-AU" sz="1200" kern="1200" dirty="0" smtClean="0">
                <a:solidFill>
                  <a:schemeClr val="tx1"/>
                </a:solidFill>
                <a:ea typeface="+mn-ea"/>
                <a:cs typeface="+mn-cs"/>
              </a:rPr>
              <a:t>Using idiom of other countries is fraught with danger – as there is always a real danger:</a:t>
            </a:r>
          </a:p>
          <a:p>
            <a:pPr marL="628650" lvl="1" indent="-171450">
              <a:buFont typeface="Arial" pitchFamily="34" charset="0"/>
              <a:buChar char="•"/>
            </a:pPr>
            <a:r>
              <a:rPr lang="en-US" sz="1200" kern="1200" dirty="0" smtClean="0">
                <a:solidFill>
                  <a:schemeClr val="tx1"/>
                </a:solidFill>
                <a:ea typeface="+mn-ea"/>
                <a:cs typeface="+mn-cs"/>
              </a:rPr>
              <a:t>It will be used in the wrong content/inappropriately – and give the impression the business is ‘out of touch’ with the very country/culture it is trying to connect with</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Of using sayings which are out-of-date and no longer in common usage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Of including phrases not commonly used by the target market who the brochure is being aimed at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Using local terms is also something to be undertaken with care where the audience is not local – this is not to say local terms are to be avoided but they must be:</a:t>
            </a:r>
          </a:p>
          <a:p>
            <a:pPr marL="628650" lvl="1" indent="-171450">
              <a:buFont typeface="Arial" pitchFamily="34" charset="0"/>
              <a:buChar char="•"/>
            </a:pPr>
            <a:r>
              <a:rPr lang="en-AU" sz="1200" kern="1200" dirty="0" smtClean="0">
                <a:solidFill>
                  <a:schemeClr val="tx1"/>
                </a:solidFill>
                <a:ea typeface="+mn-ea"/>
                <a:cs typeface="+mn-cs"/>
              </a:rPr>
              <a:t>Explained </a:t>
            </a:r>
          </a:p>
          <a:p>
            <a:pPr marL="628650" lvl="1" indent="-171450">
              <a:buFont typeface="Arial" pitchFamily="34" charset="0"/>
              <a:buChar char="•"/>
            </a:pPr>
            <a:r>
              <a:rPr lang="en-AU" sz="1200" kern="1200" dirty="0" smtClean="0">
                <a:solidFill>
                  <a:schemeClr val="tx1"/>
                </a:solidFill>
                <a:ea typeface="+mn-ea"/>
                <a:cs typeface="+mn-cs"/>
              </a:rPr>
              <a:t>Put into context</a:t>
            </a:r>
          </a:p>
          <a:p>
            <a:pPr marL="628650" lvl="1" indent="-171450">
              <a:buFont typeface="Arial" pitchFamily="34" charset="0"/>
              <a:buChar char="•"/>
            </a:pPr>
            <a:r>
              <a:rPr lang="en-AU" sz="1200" kern="1200" dirty="0" smtClean="0">
                <a:solidFill>
                  <a:schemeClr val="tx1"/>
                </a:solidFill>
                <a:ea typeface="+mn-ea"/>
                <a:cs typeface="+mn-cs"/>
              </a:rPr>
              <a:t>Used sparingly.</a:t>
            </a:r>
          </a:p>
          <a:p>
            <a:pPr marL="1085850" lvl="2" indent="-171450">
              <a:buFont typeface="Arial" pitchFamily="34" charset="0"/>
              <a:buChar char="•"/>
            </a:pPr>
            <a:r>
              <a:rPr lang="en-AU" sz="1200" kern="1200" dirty="0" smtClean="0">
                <a:solidFill>
                  <a:schemeClr val="tx1"/>
                </a:solidFill>
                <a:ea typeface="+mn-ea"/>
                <a:cs typeface="+mn-cs"/>
              </a:rPr>
              <a:t>Local terms can be used as/wherever needed when marketing materials are aimed at locals but if the readers are foreigners the use of ‘too many’ local terms has been shown to:</a:t>
            </a:r>
          </a:p>
          <a:p>
            <a:pPr marL="1543050" lvl="3" indent="-171450">
              <a:buFont typeface="Arial" pitchFamily="34" charset="0"/>
              <a:buChar char="•"/>
            </a:pPr>
            <a:r>
              <a:rPr lang="en-US" sz="1200" kern="1200" dirty="0" smtClean="0">
                <a:solidFill>
                  <a:schemeClr val="tx1"/>
                </a:solidFill>
                <a:ea typeface="+mn-ea"/>
                <a:cs typeface="+mn-cs"/>
              </a:rPr>
              <a:t>Confuse the reader</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Produce negative feelings about the material</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Fail to fully describe/convey what is intended to the target.</a:t>
            </a:r>
            <a:endParaRPr lang="en-AU" sz="1200" kern="1200" dirty="0" smtClean="0">
              <a:solidFill>
                <a:schemeClr val="tx1"/>
              </a:solidFill>
              <a:ea typeface="+mn-ea"/>
              <a:cs typeface="+mn-cs"/>
            </a:endParaRPr>
          </a:p>
          <a:p>
            <a:pPr>
              <a:buFont typeface="Arial" pitchFamily="34" charset="0"/>
              <a:buChar char="•"/>
            </a:pPr>
            <a:endParaRPr lang="en-US" b="1" noProof="0" dirty="0" smtClean="0"/>
          </a:p>
          <a:p>
            <a:pPr>
              <a:buFont typeface="Arial" pitchFamily="34" charset="0"/>
              <a:buNone/>
            </a:pPr>
            <a:r>
              <a:rPr lang="en-US" b="1" noProof="0" dirty="0" smtClean="0"/>
              <a:t>Classroom Activity – Handouts</a:t>
            </a:r>
          </a:p>
          <a:p>
            <a:pPr>
              <a:buFont typeface="Arial" pitchFamily="34" charset="0"/>
              <a:buNone/>
            </a:pPr>
            <a:r>
              <a:rPr lang="en-US" b="0" noProof="0" dirty="0" smtClean="0"/>
              <a:t>Trainer</a:t>
            </a:r>
            <a:r>
              <a:rPr lang="en-US" b="0" baseline="0" noProof="0" dirty="0" smtClean="0"/>
              <a:t> distributes and discusses examples of materials to illustrate the points made on the slide.</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43</a:t>
            </a:fld>
            <a:endParaRPr lang="en-US" dirty="0"/>
          </a:p>
        </p:txBody>
      </p:sp>
    </p:spTree>
    <p:extLst>
      <p:ext uri="{BB962C8B-B14F-4D97-AF65-F5344CB8AC3E}">
        <p14:creationId xmlns:p14="http://schemas.microsoft.com/office/powerpoint/2010/main" val="249842997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noProof="0" dirty="0" smtClean="0"/>
              <a:t>Trainer</a:t>
            </a:r>
            <a:r>
              <a:rPr lang="en-US" baseline="0" noProof="0" dirty="0" smtClean="0"/>
              <a:t> discusses use of ‘jargon’ advising j</a:t>
            </a:r>
            <a:r>
              <a:rPr lang="en-AU" sz="1200" kern="1200" dirty="0" smtClean="0">
                <a:solidFill>
                  <a:schemeClr val="tx1"/>
                </a:solidFill>
                <a:ea typeface="+mn-ea"/>
                <a:cs typeface="+mn-cs"/>
              </a:rPr>
              <a:t>argon</a:t>
            </a:r>
            <a:r>
              <a:rPr lang="en-AU" sz="1200" kern="1200" baseline="0" dirty="0" smtClean="0">
                <a:solidFill>
                  <a:schemeClr val="tx1"/>
                </a:solidFill>
                <a:ea typeface="+mn-ea"/>
                <a:cs typeface="+mn-cs"/>
              </a:rPr>
              <a:t> refers to:</a:t>
            </a:r>
          </a:p>
          <a:p>
            <a:pPr marL="628650" lvl="1" indent="-171450">
              <a:buFont typeface="Arial" pitchFamily="34" charset="0"/>
              <a:buChar char="•"/>
            </a:pPr>
            <a:r>
              <a:rPr lang="en-AU" sz="1200" kern="1200" dirty="0" smtClean="0">
                <a:solidFill>
                  <a:schemeClr val="tx1"/>
                </a:solidFill>
                <a:ea typeface="+mn-ea"/>
                <a:cs typeface="+mn-cs"/>
              </a:rPr>
              <a:t>Industry terminology specific to a certain industry type/sector and understood (generally) only by those in that industry</a:t>
            </a:r>
          </a:p>
          <a:p>
            <a:pPr marL="628650" lvl="1" indent="-171450">
              <a:buFont typeface="Arial" pitchFamily="34" charset="0"/>
              <a:buChar char="•"/>
            </a:pPr>
            <a:r>
              <a:rPr lang="en-AU" sz="1200" kern="1200" dirty="0" smtClean="0">
                <a:solidFill>
                  <a:schemeClr val="tx1"/>
                </a:solidFill>
                <a:ea typeface="+mn-ea"/>
                <a:cs typeface="+mn-cs"/>
              </a:rPr>
              <a:t>Terminology, words, phrases and/or abbreviations used by an organisation and not commonly understood by anyone outside the organisation.</a:t>
            </a:r>
          </a:p>
          <a:p>
            <a:pPr marL="171450" indent="-171450">
              <a:buFont typeface="Arial" pitchFamily="34" charset="0"/>
              <a:buChar char="•"/>
            </a:pPr>
            <a:r>
              <a:rPr lang="en-AU" sz="1200" kern="1200" dirty="0" smtClean="0">
                <a:solidFill>
                  <a:schemeClr val="tx1"/>
                </a:solidFill>
                <a:ea typeface="+mn-ea"/>
                <a:cs typeface="+mn-cs"/>
              </a:rPr>
              <a:t>The following ‘rules’ apply to the use of jargon in marketing materials:</a:t>
            </a:r>
          </a:p>
          <a:p>
            <a:pPr marL="171450" indent="-171450">
              <a:buFont typeface="Arial" pitchFamily="34" charset="0"/>
              <a:buChar char="•"/>
            </a:pPr>
            <a:r>
              <a:rPr lang="en-AU" sz="1200" kern="1200" dirty="0" smtClean="0">
                <a:solidFill>
                  <a:schemeClr val="tx1"/>
                </a:solidFill>
                <a:ea typeface="+mn-ea"/>
                <a:cs typeface="+mn-cs"/>
              </a:rPr>
              <a:t>Avoid it – for use where the target is ‘the public’. If it is deemed necessary to use jargon in a marketing item aimed at any public/target market it needs to be explained – never assume the reader:</a:t>
            </a:r>
          </a:p>
          <a:p>
            <a:pPr marL="628650" lvl="1" indent="-171450">
              <a:buFont typeface="Arial" pitchFamily="34" charset="0"/>
              <a:buChar char="•"/>
            </a:pPr>
            <a:r>
              <a:rPr lang="en-US" sz="1200" kern="1200" dirty="0" smtClean="0">
                <a:solidFill>
                  <a:schemeClr val="tx1"/>
                </a:solidFill>
                <a:ea typeface="+mn-ea"/>
                <a:cs typeface="+mn-cs"/>
              </a:rPr>
              <a:t>Knows what it means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Will interpret it the way the material wants/needs it to be interpreted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It is customary to use accepted industry terms and abbreviations for ‘internal’ marketing materials – this means it is acceptable to use jargon in documents:</a:t>
            </a:r>
          </a:p>
          <a:p>
            <a:pPr marL="628650" lvl="1" indent="-171450">
              <a:buFont typeface="Arial" pitchFamily="34" charset="0"/>
              <a:buChar char="•"/>
            </a:pPr>
            <a:r>
              <a:rPr lang="en-US" sz="1200" kern="1200" dirty="0" smtClean="0">
                <a:solidFill>
                  <a:schemeClr val="tx1"/>
                </a:solidFill>
                <a:ea typeface="+mn-ea"/>
                <a:cs typeface="+mn-cs"/>
              </a:rPr>
              <a:t>For use by organisational staff such as sales staff, members of the marketing department, consultants and counter staff</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For use by employees at other branches, agencies, intermediary organisations or support service providers.</a:t>
            </a:r>
            <a:endParaRPr lang="en-AU" sz="1200" kern="1200" dirty="0" smtClean="0">
              <a:solidFill>
                <a:schemeClr val="tx1"/>
              </a:solidFill>
              <a:ea typeface="+mn-ea"/>
              <a:cs typeface="+mn-cs"/>
            </a:endParaRPr>
          </a:p>
          <a:p>
            <a:pPr>
              <a:buFont typeface="Arial" pitchFamily="34" charset="0"/>
              <a:buNone/>
            </a:pPr>
            <a:endParaRPr lang="en-US" noProof="0" dirty="0" smtClean="0"/>
          </a:p>
          <a:p>
            <a:pPr>
              <a:buFont typeface="Arial" pitchFamily="34" charset="0"/>
              <a:buNone/>
            </a:pPr>
            <a:r>
              <a:rPr lang="en-US" b="1" baseline="0" noProof="0" dirty="0" smtClean="0"/>
              <a:t>Classroom Activity – Internet Research</a:t>
            </a:r>
          </a:p>
          <a:p>
            <a:pPr>
              <a:buFont typeface="Arial" pitchFamily="34" charset="0"/>
              <a:buNone/>
            </a:pPr>
            <a:r>
              <a:rPr lang="en-US" b="0" noProof="0" dirty="0" smtClean="0"/>
              <a:t>Trainer facilitates online research and discussion relating to relevant sites such as:</a:t>
            </a:r>
          </a:p>
          <a:p>
            <a:pPr marL="171450" indent="-171450">
              <a:buFont typeface="Arial" pitchFamily="34" charset="0"/>
              <a:buChar char="•"/>
            </a:pPr>
            <a:r>
              <a:rPr lang="en-AU" sz="1200" kern="1200" dirty="0" smtClean="0">
                <a:solidFill>
                  <a:schemeClr val="tx1"/>
                </a:solidFill>
                <a:ea typeface="+mn-ea"/>
                <a:cs typeface="+mn-cs"/>
              </a:rPr>
              <a:t>‘Travel jargon: what hotels say vs what they mean’ at </a:t>
            </a:r>
            <a:r>
              <a:rPr lang="en-AU" sz="1200" u="sng" kern="1200" dirty="0" smtClean="0">
                <a:solidFill>
                  <a:schemeClr val="tx1"/>
                </a:solidFill>
                <a:ea typeface="+mn-ea"/>
                <a:cs typeface="+mn-cs"/>
                <a:hlinkClick r:id="rId3"/>
              </a:rPr>
              <a:t>http://travel.cnn.com/explorations/life/deciphering-travel-marketing-lingo-911627</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‘Why you should avoid jargon in your business brochure’ at </a:t>
            </a:r>
            <a:r>
              <a:rPr lang="en-AU" sz="1200" u="sng" kern="1200" dirty="0" smtClean="0">
                <a:solidFill>
                  <a:schemeClr val="tx1"/>
                </a:solidFill>
                <a:ea typeface="+mn-ea"/>
                <a:cs typeface="+mn-cs"/>
                <a:hlinkClick r:id="rId4"/>
              </a:rPr>
              <a:t>http://www.swallowtailprint.co.uk/news/articles/post/34-why-you-should-avoid-jargon-in-your-business-brochure</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‘Hotel</a:t>
            </a:r>
            <a:r>
              <a:rPr lang="en-AU" sz="1200" b="1" kern="1200" dirty="0" smtClean="0">
                <a:solidFill>
                  <a:schemeClr val="tx1"/>
                </a:solidFill>
                <a:ea typeface="+mn-ea"/>
                <a:cs typeface="+mn-cs"/>
              </a:rPr>
              <a:t> </a:t>
            </a:r>
            <a:r>
              <a:rPr lang="en-AU" sz="1200" kern="1200" dirty="0" smtClean="0">
                <a:solidFill>
                  <a:schemeClr val="tx1"/>
                </a:solidFill>
                <a:ea typeface="+mn-ea"/>
                <a:cs typeface="+mn-cs"/>
              </a:rPr>
              <a:t>industry jargon buster’ at</a:t>
            </a:r>
            <a:r>
              <a:rPr lang="en-AU" sz="1200" b="1" kern="1200" dirty="0" smtClean="0">
                <a:solidFill>
                  <a:schemeClr val="tx1"/>
                </a:solidFill>
                <a:ea typeface="+mn-ea"/>
                <a:cs typeface="+mn-cs"/>
              </a:rPr>
              <a:t> </a:t>
            </a:r>
            <a:r>
              <a:rPr lang="en-AU" sz="1200" u="sng" kern="1200" dirty="0" smtClean="0">
                <a:solidFill>
                  <a:schemeClr val="tx1"/>
                </a:solidFill>
                <a:ea typeface="+mn-ea"/>
                <a:cs typeface="+mn-cs"/>
                <a:hlinkClick r:id="rId5"/>
              </a:rPr>
              <a:t>http://www.cms-cmck.com/Hubbard.FileSystem/files/Publication/50afd4a2-e2aa-4f0c-87be-073ab6b6a63f/Presentation/PublicationAttachment/b19a0c04-85a1-4106-8011-07c8ae8bcb51/HotelsJargonBrochure.pdf</a:t>
            </a:r>
            <a:r>
              <a:rPr lang="en-AU" sz="1200" kern="1200" dirty="0" smtClean="0">
                <a:solidFill>
                  <a:schemeClr val="tx1"/>
                </a:solidFill>
                <a:ea typeface="+mn-ea"/>
                <a:cs typeface="+mn-cs"/>
              </a:rPr>
              <a:t>. </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44</a:t>
            </a:fld>
            <a:endParaRPr lang="en-US" dirty="0"/>
          </a:p>
        </p:txBody>
      </p:sp>
    </p:spTree>
    <p:extLst>
      <p:ext uri="{BB962C8B-B14F-4D97-AF65-F5344CB8AC3E}">
        <p14:creationId xmlns:p14="http://schemas.microsoft.com/office/powerpoint/2010/main" val="3308570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 explains in </a:t>
            </a:r>
            <a:r>
              <a:rPr lang="en-AU" sz="1200" kern="1200" dirty="0" smtClean="0">
                <a:solidFill>
                  <a:schemeClr val="tx1"/>
                </a:solidFill>
                <a:ea typeface="+mn-ea"/>
                <a:cs typeface="+mn-cs"/>
              </a:rPr>
              <a:t>the context of this unit this section ‘Determining prices’ does not relate to:</a:t>
            </a:r>
          </a:p>
          <a:p>
            <a:pPr marL="171450" indent="-171450">
              <a:buFont typeface="Arial" pitchFamily="34" charset="0"/>
              <a:buChar char="•"/>
            </a:pPr>
            <a:r>
              <a:rPr lang="en-AU" sz="1200" kern="1200" dirty="0" smtClean="0">
                <a:solidFill>
                  <a:schemeClr val="tx1"/>
                </a:solidFill>
                <a:ea typeface="+mn-ea"/>
                <a:cs typeface="+mn-cs"/>
              </a:rPr>
              <a:t>Actually calculating the selling prices to be listed in brochures</a:t>
            </a:r>
          </a:p>
          <a:p>
            <a:pPr marL="171450" indent="-171450">
              <a:buFont typeface="Arial" pitchFamily="34" charset="0"/>
              <a:buChar char="•"/>
            </a:pPr>
            <a:r>
              <a:rPr lang="en-AU" sz="1200" kern="1200" dirty="0" smtClean="0">
                <a:solidFill>
                  <a:schemeClr val="tx1"/>
                </a:solidFill>
                <a:ea typeface="+mn-ea"/>
                <a:cs typeface="+mn-cs"/>
              </a:rPr>
              <a:t>Determining what the prices listed in materials should be</a:t>
            </a:r>
          </a:p>
          <a:p>
            <a:pPr marL="171450" indent="-171450">
              <a:buFont typeface="Arial" pitchFamily="34" charset="0"/>
              <a:buChar char="•"/>
            </a:pPr>
            <a:r>
              <a:rPr lang="en-AU" sz="1200" kern="1200" dirty="0" smtClean="0">
                <a:solidFill>
                  <a:schemeClr val="tx1"/>
                </a:solidFill>
                <a:ea typeface="+mn-ea"/>
                <a:cs typeface="+mn-cs"/>
              </a:rPr>
              <a:t>This is the responsibility of management or a mix of financial personnel/accountants and the marketing and sales departments.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45</a:t>
            </a:fld>
            <a:endParaRPr lang="en-US" dirty="0"/>
          </a:p>
        </p:txBody>
      </p:sp>
    </p:spTree>
    <p:extLst>
      <p:ext uri="{BB962C8B-B14F-4D97-AF65-F5344CB8AC3E}">
        <p14:creationId xmlns:p14="http://schemas.microsoft.com/office/powerpoint/2010/main" val="303911274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noProof="0" dirty="0" smtClean="0"/>
              <a:t>Trainer states when </a:t>
            </a:r>
            <a:r>
              <a:rPr lang="en-AU" sz="1200" kern="1200" dirty="0" smtClean="0">
                <a:solidFill>
                  <a:schemeClr val="tx1"/>
                </a:solidFill>
                <a:ea typeface="+mn-ea"/>
                <a:cs typeface="+mn-cs"/>
              </a:rPr>
              <a:t>including prices in any form of marketing materials it is important to:</a:t>
            </a:r>
          </a:p>
          <a:p>
            <a:pPr marL="171450" indent="-171450">
              <a:buFont typeface="Arial" pitchFamily="34" charset="0"/>
              <a:buChar char="•"/>
            </a:pPr>
            <a:r>
              <a:rPr lang="en-AU" sz="1200" kern="1200" dirty="0" smtClean="0">
                <a:solidFill>
                  <a:schemeClr val="tx1"/>
                </a:solidFill>
                <a:ea typeface="+mn-ea"/>
                <a:cs typeface="+mn-cs"/>
              </a:rPr>
              <a:t>Ensure the accuracy of prices quoted – this means making sure the prices listed are the prices that should be there. It means double-checking to ensure (for example):</a:t>
            </a:r>
          </a:p>
          <a:p>
            <a:pPr marL="628650" lvl="1" indent="-171450">
              <a:buFont typeface="Arial" pitchFamily="34" charset="0"/>
              <a:buChar char="•"/>
            </a:pPr>
            <a:r>
              <a:rPr lang="en-US" sz="1200" kern="1200" dirty="0" smtClean="0">
                <a:solidFill>
                  <a:schemeClr val="tx1"/>
                </a:solidFill>
                <a:ea typeface="+mn-ea"/>
                <a:cs typeface="+mn-cs"/>
              </a:rPr>
              <a:t>Figures have been correctly copied from the original/source document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No figures have been accidentally transposed – so 915 has not become 195</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Ensure prices listed are comprehensive – in practice (because it is illegal and unethical to be misleading and deceptive) this means:</a:t>
            </a:r>
          </a:p>
          <a:p>
            <a:pPr marL="628650" lvl="1" indent="-171450">
              <a:buFont typeface="Arial" pitchFamily="34" charset="0"/>
              <a:buChar char="•"/>
            </a:pPr>
            <a:r>
              <a:rPr lang="en-US" sz="1200" kern="1200" dirty="0" smtClean="0">
                <a:solidFill>
                  <a:schemeClr val="tx1"/>
                </a:solidFill>
                <a:ea typeface="+mn-ea"/>
                <a:cs typeface="+mn-cs"/>
              </a:rPr>
              <a:t>All prices and charges should be listed – if the traveler/purchaser is going to be levied a charge/fee for anything it should be listed.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There should be no ‘surprises’ after the initial decision to purchase has been made.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Prices/charges imposed by other businesses or government agencies should be listed as such</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 decision may need to be made about whether selling prices are ‘flagged’ or ‘final’:</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‘Flagged’ means a listed price is flagged with an asterisk (*) indicating other fees and charges apply (such as taxes, transfers and potentially a host of other on-costs)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‘Final’ means the quoted price is inclusive of all fees and charges and the buyer has nothing else to pay </a:t>
            </a:r>
          </a:p>
          <a:p>
            <a:pPr lvl="2">
              <a:buFont typeface="Arial" pitchFamily="34" charset="0"/>
              <a:buChar char="•"/>
            </a:pPr>
            <a:endParaRPr lang="en-US" sz="1200" kern="1200" dirty="0" smtClean="0">
              <a:solidFill>
                <a:schemeClr val="tx1"/>
              </a:solidFill>
              <a:ea typeface="+mn-ea"/>
              <a:cs typeface="+mn-cs"/>
            </a:endParaRPr>
          </a:p>
          <a:p>
            <a:pPr lvl="0">
              <a:buFont typeface="Arial" pitchFamily="34" charset="0"/>
              <a:buNone/>
            </a:pPr>
            <a:r>
              <a:rPr lang="en-US" sz="1200" b="1" kern="1200" dirty="0" smtClean="0">
                <a:solidFill>
                  <a:schemeClr val="tx1"/>
                </a:solidFill>
                <a:ea typeface="+mn-ea"/>
                <a:cs typeface="+mn-cs"/>
              </a:rPr>
              <a:t>Classroom Activity – Handouts</a:t>
            </a:r>
          </a:p>
          <a:p>
            <a:pPr lvl="0">
              <a:buFont typeface="Arial" pitchFamily="34" charset="0"/>
              <a:buNone/>
            </a:pPr>
            <a:r>
              <a:rPr lang="en-US" sz="1200" b="0" kern="1200" dirty="0" smtClean="0">
                <a:solidFill>
                  <a:schemeClr val="tx1"/>
                </a:solidFill>
                <a:ea typeface="+mn-ea"/>
                <a:cs typeface="+mn-cs"/>
              </a:rPr>
              <a:t>Trainer distributes and discusses sample brochures which illustrate points on the slide.</a:t>
            </a:r>
            <a:endParaRPr lang="en-AU" sz="1200" b="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46</a:t>
            </a:fld>
            <a:endParaRPr lang="en-US" dirty="0"/>
          </a:p>
        </p:txBody>
      </p:sp>
    </p:spTree>
    <p:extLst>
      <p:ext uri="{BB962C8B-B14F-4D97-AF65-F5344CB8AC3E}">
        <p14:creationId xmlns:p14="http://schemas.microsoft.com/office/powerpoint/2010/main" val="286931808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discussing points about prices on brochures:</a:t>
            </a:r>
          </a:p>
          <a:p>
            <a:pPr marL="171450" indent="-171450">
              <a:buFont typeface="Arial" pitchFamily="34" charset="0"/>
              <a:buChar char="•"/>
            </a:pPr>
            <a:r>
              <a:rPr lang="en-AU" sz="1200" kern="1200" dirty="0" smtClean="0">
                <a:solidFill>
                  <a:schemeClr val="tx1"/>
                </a:solidFill>
                <a:ea typeface="+mn-ea"/>
                <a:cs typeface="+mn-cs"/>
              </a:rPr>
              <a:t>Ensure time limitations for stated prices – this means including a statement in the brochure indicating prices, tariffs and similar are valid only until a stated date</a:t>
            </a:r>
          </a:p>
          <a:p>
            <a:pPr marL="171450" indent="-171450">
              <a:buFont typeface="Arial" pitchFamily="34" charset="0"/>
              <a:buChar char="•"/>
            </a:pPr>
            <a:r>
              <a:rPr lang="en-AU" sz="1200" kern="1200" dirty="0" smtClean="0">
                <a:solidFill>
                  <a:schemeClr val="tx1"/>
                </a:solidFill>
                <a:ea typeface="+mn-ea"/>
                <a:cs typeface="+mn-cs"/>
              </a:rPr>
              <a:t>Determine organisational requirements regarding need to include a statement highlighting prices and charges are subject to change without notification – this can be a standard inclusion in most/all advertising materials</a:t>
            </a:r>
          </a:p>
          <a:p>
            <a:pPr marL="171450" indent="-171450">
              <a:buFont typeface="Arial" pitchFamily="34" charset="0"/>
              <a:buChar char="•"/>
            </a:pPr>
            <a:r>
              <a:rPr lang="en-AU" sz="1200" kern="1200" dirty="0" smtClean="0">
                <a:solidFill>
                  <a:schemeClr val="tx1"/>
                </a:solidFill>
                <a:ea typeface="+mn-ea"/>
                <a:cs typeface="+mn-cs"/>
              </a:rPr>
              <a:t>Incorporate prices relevant to the specific target audiences of the brochures or marketing materials – this means:</a:t>
            </a:r>
          </a:p>
          <a:p>
            <a:pPr marL="628650" lvl="1" indent="-171450">
              <a:buFont typeface="Arial" pitchFamily="34" charset="0"/>
              <a:buChar char="•"/>
            </a:pPr>
            <a:r>
              <a:rPr lang="en-US" sz="1200" kern="1200" dirty="0" smtClean="0">
                <a:solidFill>
                  <a:schemeClr val="tx1"/>
                </a:solidFill>
                <a:ea typeface="+mn-ea"/>
                <a:cs typeface="+mn-cs"/>
              </a:rPr>
              <a:t>Including details for sales staff and agencies appropriate to their needs – such as wholesale prices, commissions, available discounts for trade audiences but not for retail customers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Stating retail process for end-users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Varying prices where materials are being generated for different segments (sub-sections) of certain target markets – for example, the ‘local’ target market maybe differentiated into ‘corporate’, ‘clubs and groups’ and ‘families’ with each group having a different price point</a:t>
            </a:r>
            <a:endParaRPr lang="en-AU" sz="1200" kern="1200" dirty="0" smtClean="0">
              <a:solidFill>
                <a:schemeClr val="tx1"/>
              </a:solidFill>
              <a:ea typeface="+mn-ea"/>
              <a:cs typeface="+mn-cs"/>
            </a:endParaRPr>
          </a:p>
          <a:p>
            <a:pPr>
              <a:buFont typeface="Arial" pitchFamily="34" charset="0"/>
              <a:buNone/>
            </a:pPr>
            <a:endParaRPr lang="en-US" noProof="0" dirty="0" smtClean="0"/>
          </a:p>
          <a:p>
            <a:pPr lvl="0">
              <a:buFont typeface="Arial" pitchFamily="34" charset="0"/>
              <a:buNone/>
            </a:pPr>
            <a:r>
              <a:rPr lang="en-US" sz="1200" b="1" kern="1200" dirty="0" smtClean="0">
                <a:solidFill>
                  <a:schemeClr val="tx1"/>
                </a:solidFill>
                <a:ea typeface="+mn-ea"/>
                <a:cs typeface="+mn-cs"/>
              </a:rPr>
              <a:t>Classroom Activity – Handouts</a:t>
            </a:r>
          </a:p>
          <a:p>
            <a:pPr lvl="0">
              <a:buFont typeface="Arial" pitchFamily="34" charset="0"/>
              <a:buNone/>
            </a:pPr>
            <a:r>
              <a:rPr lang="en-US" sz="1200" b="0" kern="1200" dirty="0" smtClean="0">
                <a:solidFill>
                  <a:schemeClr val="tx1"/>
                </a:solidFill>
                <a:ea typeface="+mn-ea"/>
                <a:cs typeface="+mn-cs"/>
              </a:rPr>
              <a:t>Trainer distributes and discusses sample brochures which illustrate points on the slide.</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47</a:t>
            </a:fld>
            <a:endParaRPr lang="en-US" dirty="0"/>
          </a:p>
        </p:txBody>
      </p:sp>
    </p:spTree>
    <p:extLst>
      <p:ext uri="{BB962C8B-B14F-4D97-AF65-F5344CB8AC3E}">
        <p14:creationId xmlns:p14="http://schemas.microsoft.com/office/powerpoint/2010/main" val="20959702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 continues discussing points about prices on brochures:</a:t>
            </a:r>
          </a:p>
          <a:p>
            <a:pPr marL="171450" indent="-171450">
              <a:buFont typeface="Arial" pitchFamily="34" charset="0"/>
              <a:buChar char="•"/>
            </a:pPr>
            <a:r>
              <a:rPr lang="en-AU" sz="1200" kern="1200" dirty="0" smtClean="0">
                <a:solidFill>
                  <a:schemeClr val="tx1"/>
                </a:solidFill>
                <a:ea typeface="+mn-ea"/>
                <a:cs typeface="+mn-cs"/>
              </a:rPr>
              <a:t>Ensure the currency used in the items is relevant to the language being used and/or target market audiences or destinations – the price stated/listed needs to ‘mean something to those who read it.</a:t>
            </a:r>
          </a:p>
          <a:p>
            <a:pPr marL="628650" lvl="1" indent="-171450">
              <a:buFont typeface="Arial" pitchFamily="34" charset="0"/>
              <a:buChar char="•"/>
            </a:pPr>
            <a:r>
              <a:rPr lang="en-AU" sz="1200" kern="1200" dirty="0" smtClean="0">
                <a:solidFill>
                  <a:schemeClr val="tx1"/>
                </a:solidFill>
                <a:ea typeface="+mn-ea"/>
                <a:cs typeface="+mn-cs"/>
              </a:rPr>
              <a:t>Using Rupiah, Dong, Singapore dollars or Ringgit may mean a lot to those who produce the materials but is likely to mean nothing to the people it is pitched at: all prices should be:</a:t>
            </a:r>
          </a:p>
          <a:p>
            <a:pPr marL="1085850" lvl="2" indent="-171450">
              <a:buFont typeface="Arial" pitchFamily="34" charset="0"/>
              <a:buChar char="•"/>
            </a:pPr>
            <a:r>
              <a:rPr lang="en-US" sz="1200" kern="1200" dirty="0" smtClean="0">
                <a:solidFill>
                  <a:schemeClr val="tx1"/>
                </a:solidFill>
                <a:ea typeface="+mn-ea"/>
                <a:cs typeface="+mn-cs"/>
              </a:rPr>
              <a:t>Given in local currency</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Converted to the currency of the country of the target customers – meaning there may be a need to list prices in five or six currencies.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Highlight the value-for-money represented by the price being charged – by referencing:</a:t>
            </a:r>
          </a:p>
          <a:p>
            <a:pPr marL="628650" lvl="1" indent="-171450">
              <a:buFont typeface="Arial" pitchFamily="34" charset="0"/>
              <a:buChar char="•"/>
            </a:pPr>
            <a:r>
              <a:rPr lang="en-US" sz="1200" kern="1200" dirty="0" smtClean="0">
                <a:solidFill>
                  <a:schemeClr val="tx1"/>
                </a:solidFill>
                <a:ea typeface="+mn-ea"/>
                <a:cs typeface="+mn-cs"/>
              </a:rPr>
              <a:t>Unique nature of the offer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Special features being offered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Items/inclusions of the package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Verify with management prices to be included in items are correct – as part of standard procedure for proof reading and authorisation to proceed to printing and distribution.</a:t>
            </a:r>
          </a:p>
          <a:p>
            <a:pPr marL="628650" lvl="1" indent="-171450">
              <a:buFont typeface="Arial" pitchFamily="34" charset="0"/>
              <a:buChar char="•"/>
            </a:pPr>
            <a:r>
              <a:rPr lang="en-AU" sz="1200" kern="1200" dirty="0" smtClean="0">
                <a:solidFill>
                  <a:schemeClr val="tx1"/>
                </a:solidFill>
                <a:ea typeface="+mn-ea"/>
                <a:cs typeface="+mn-cs"/>
              </a:rPr>
              <a:t>It should be mandatory for management to sign-off on all items at these stages.</a:t>
            </a:r>
          </a:p>
          <a:p>
            <a:pPr>
              <a:buFont typeface="Arial" pitchFamily="34" charset="0"/>
              <a:buNone/>
            </a:pPr>
            <a:endParaRPr lang="en-US" noProof="0" dirty="0" smtClean="0"/>
          </a:p>
          <a:p>
            <a:pPr lvl="0">
              <a:buFont typeface="Arial" pitchFamily="34" charset="0"/>
              <a:buNone/>
            </a:pPr>
            <a:r>
              <a:rPr lang="en-US" sz="1200" b="1" kern="1200" dirty="0" smtClean="0">
                <a:solidFill>
                  <a:schemeClr val="tx1"/>
                </a:solidFill>
                <a:ea typeface="+mn-ea"/>
                <a:cs typeface="+mn-cs"/>
              </a:rPr>
              <a:t>Classroom Activity – Handouts</a:t>
            </a:r>
          </a:p>
          <a:p>
            <a:pPr lvl="0">
              <a:buFont typeface="Arial" pitchFamily="34" charset="0"/>
              <a:buNone/>
            </a:pPr>
            <a:r>
              <a:rPr lang="en-US" sz="1200" b="0" kern="1200" dirty="0" smtClean="0">
                <a:solidFill>
                  <a:schemeClr val="tx1"/>
                </a:solidFill>
                <a:ea typeface="+mn-ea"/>
                <a:cs typeface="+mn-cs"/>
              </a:rPr>
              <a:t>Trainer distributes and discusses sample brochures which illustrate points on the slide.</a:t>
            </a:r>
            <a:endParaRPr lang="en-US"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48</a:t>
            </a:fld>
            <a:endParaRPr lang="en-US" dirty="0"/>
          </a:p>
        </p:txBody>
      </p:sp>
    </p:spTree>
    <p:extLst>
      <p:ext uri="{BB962C8B-B14F-4D97-AF65-F5344CB8AC3E}">
        <p14:creationId xmlns:p14="http://schemas.microsoft.com/office/powerpoint/2010/main" val="77941393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reminds students it is important to take into account the requirements of any Style Guide which may be used by the organisation in terms of things such as:</a:t>
            </a:r>
          </a:p>
          <a:p>
            <a:pPr marL="171450" indent="-171450">
              <a:buFont typeface="Arial" pitchFamily="34" charset="0"/>
              <a:buChar char="•"/>
            </a:pPr>
            <a:r>
              <a:rPr lang="en-AU" sz="1200" kern="1200" dirty="0" smtClean="0">
                <a:solidFill>
                  <a:schemeClr val="tx1"/>
                </a:solidFill>
                <a:ea typeface="+mn-ea"/>
                <a:cs typeface="+mn-cs"/>
              </a:rPr>
              <a:t>Headings</a:t>
            </a:r>
          </a:p>
          <a:p>
            <a:pPr marL="171450" indent="-171450">
              <a:buFont typeface="Arial" pitchFamily="34" charset="0"/>
              <a:buChar char="•"/>
            </a:pPr>
            <a:r>
              <a:rPr lang="en-AU" sz="1200" kern="1200" dirty="0" smtClean="0">
                <a:solidFill>
                  <a:schemeClr val="tx1"/>
                </a:solidFill>
                <a:ea typeface="+mn-ea"/>
                <a:cs typeface="+mn-cs"/>
              </a:rPr>
              <a:t>Headlines</a:t>
            </a:r>
          </a:p>
          <a:p>
            <a:pPr marL="171450" indent="-171450">
              <a:buFont typeface="Arial" pitchFamily="34" charset="0"/>
              <a:buChar char="•"/>
            </a:pPr>
            <a:r>
              <a:rPr lang="en-AU" sz="1200" kern="1200" dirty="0" smtClean="0">
                <a:solidFill>
                  <a:schemeClr val="tx1"/>
                </a:solidFill>
                <a:ea typeface="+mn-ea"/>
                <a:cs typeface="+mn-cs"/>
              </a:rPr>
              <a:t>Headers </a:t>
            </a:r>
          </a:p>
          <a:p>
            <a:pPr marL="171450" indent="-171450">
              <a:buFont typeface="Arial" pitchFamily="34" charset="0"/>
              <a:buChar char="•"/>
            </a:pPr>
            <a:r>
              <a:rPr lang="en-AU" sz="1200" kern="1200" dirty="0" smtClean="0">
                <a:solidFill>
                  <a:schemeClr val="tx1"/>
                </a:solidFill>
                <a:ea typeface="+mn-ea"/>
                <a:cs typeface="+mn-cs"/>
              </a:rPr>
              <a:t>Footers</a:t>
            </a:r>
          </a:p>
          <a:p>
            <a:pPr marL="171450" indent="-171450">
              <a:buFont typeface="Arial" pitchFamily="34" charset="0"/>
              <a:buChar char="•"/>
            </a:pPr>
            <a:r>
              <a:rPr lang="en-AU" sz="1200" kern="1200" dirty="0" smtClean="0">
                <a:solidFill>
                  <a:schemeClr val="tx1"/>
                </a:solidFill>
                <a:ea typeface="+mn-ea"/>
                <a:cs typeface="+mn-cs"/>
              </a:rPr>
              <a:t>Font types</a:t>
            </a:r>
          </a:p>
          <a:p>
            <a:pPr marL="171450" indent="-171450">
              <a:buFont typeface="Arial" pitchFamily="34" charset="0"/>
              <a:buChar char="•"/>
            </a:pPr>
            <a:r>
              <a:rPr lang="en-AU" sz="1200" kern="1200" dirty="0" smtClean="0">
                <a:solidFill>
                  <a:schemeClr val="tx1"/>
                </a:solidFill>
                <a:ea typeface="+mn-ea"/>
                <a:cs typeface="+mn-cs"/>
              </a:rPr>
              <a:t>Font sizes.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49</a:t>
            </a:fld>
            <a:endParaRPr lang="en-US" dirty="0"/>
          </a:p>
        </p:txBody>
      </p:sp>
    </p:spTree>
    <p:extLst>
      <p:ext uri="{BB962C8B-B14F-4D97-AF65-F5344CB8AC3E}">
        <p14:creationId xmlns:p14="http://schemas.microsoft.com/office/powerpoint/2010/main" val="31651131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noProof="0" dirty="0" smtClean="0"/>
              <a:t>Trainer</a:t>
            </a:r>
            <a:r>
              <a:rPr lang="en-US" baseline="0" noProof="0" dirty="0" smtClean="0"/>
              <a:t> introduces ‘copy style’ stating </a:t>
            </a:r>
            <a:r>
              <a:rPr lang="en-AU" sz="1200" kern="1200" dirty="0" smtClean="0">
                <a:solidFill>
                  <a:schemeClr val="tx1"/>
                </a:solidFill>
                <a:ea typeface="+mn-ea"/>
                <a:cs typeface="+mn-cs"/>
              </a:rPr>
              <a:t>it is worth remembering the words and images used in brochures get the attention of a potential customer within the brief </a:t>
            </a:r>
            <a:r>
              <a:rPr lang="en-AU" sz="1200" b="1" kern="1200" dirty="0" smtClean="0">
                <a:solidFill>
                  <a:schemeClr val="tx1"/>
                </a:solidFill>
                <a:ea typeface="+mn-ea"/>
                <a:cs typeface="+mn-cs"/>
              </a:rPr>
              <a:t>two to three seconds</a:t>
            </a:r>
            <a:r>
              <a:rPr lang="en-AU" sz="1200" kern="1200" dirty="0" smtClean="0">
                <a:solidFill>
                  <a:schemeClr val="tx1"/>
                </a:solidFill>
                <a:ea typeface="+mn-ea"/>
                <a:cs typeface="+mn-cs"/>
              </a:rPr>
              <a:t> their eyes focus on the headline, picture, or cover page when they browse a brochure display.</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headline, headings, sub-headings and photos are often the first point of contact between the brochure and the customer and is important because it:</a:t>
            </a:r>
          </a:p>
          <a:p>
            <a:pPr marL="171450" indent="-171450">
              <a:buFont typeface="Arial" pitchFamily="34" charset="0"/>
              <a:buChar char="•"/>
            </a:pPr>
            <a:r>
              <a:rPr lang="en-AU" sz="1200" kern="1200" dirty="0" smtClean="0">
                <a:solidFill>
                  <a:schemeClr val="tx1"/>
                </a:solidFill>
                <a:ea typeface="+mn-ea"/>
                <a:cs typeface="+mn-cs"/>
              </a:rPr>
              <a:t>Creates an impression</a:t>
            </a:r>
          </a:p>
          <a:p>
            <a:pPr marL="171450" indent="-171450">
              <a:buFont typeface="Arial" pitchFamily="34" charset="0"/>
              <a:buChar char="•"/>
            </a:pPr>
            <a:r>
              <a:rPr lang="en-AU" sz="1200" kern="1200" dirty="0" smtClean="0">
                <a:solidFill>
                  <a:schemeClr val="tx1"/>
                </a:solidFill>
                <a:ea typeface="+mn-ea"/>
                <a:cs typeface="+mn-cs"/>
              </a:rPr>
              <a:t>Sets the scene</a:t>
            </a:r>
          </a:p>
          <a:p>
            <a:pPr marL="171450" indent="-171450">
              <a:buFont typeface="Arial" pitchFamily="34" charset="0"/>
              <a:buChar char="•"/>
            </a:pPr>
            <a:r>
              <a:rPr lang="en-AU" sz="1200" kern="1200" dirty="0" smtClean="0">
                <a:solidFill>
                  <a:schemeClr val="tx1"/>
                </a:solidFill>
                <a:ea typeface="+mn-ea"/>
                <a:cs typeface="+mn-cs"/>
              </a:rPr>
              <a:t>Creates expectations.</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Headlines are all about attracting attention and they must link to the first sentence of the body of the copy. </a:t>
            </a:r>
          </a:p>
          <a:p>
            <a:r>
              <a:rPr lang="en-AU" sz="1200" kern="1200" dirty="0" smtClean="0">
                <a:solidFill>
                  <a:schemeClr val="tx1"/>
                </a:solidFill>
                <a:ea typeface="+mn-ea"/>
                <a:cs typeface="+mn-cs"/>
              </a:rPr>
              <a:t>It can be worth starting with something different, or a surprising fact, rather than a standard introduction – be prepared to be different.</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50</a:t>
            </a:fld>
            <a:endParaRPr lang="en-US" dirty="0"/>
          </a:p>
        </p:txBody>
      </p:sp>
    </p:spTree>
    <p:extLst>
      <p:ext uri="{BB962C8B-B14F-4D97-AF65-F5344CB8AC3E}">
        <p14:creationId xmlns:p14="http://schemas.microsoft.com/office/powerpoint/2010/main" val="14419050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a:t>
            </a:r>
            <a:r>
              <a:rPr lang="en-US" baseline="0" noProof="0" dirty="0" smtClean="0"/>
              <a:t> continues talking about ‘copy style’ saying </a:t>
            </a:r>
            <a:r>
              <a:rPr lang="en-AU" sz="1200" kern="1200" dirty="0" smtClean="0">
                <a:solidFill>
                  <a:schemeClr val="tx1"/>
                </a:solidFill>
                <a:ea typeface="+mn-ea"/>
                <a:cs typeface="+mn-cs"/>
              </a:rPr>
              <a:t>the writing style chosen needs to fit with the objective of the brochure indicating the most commonly used writing styles are:</a:t>
            </a:r>
          </a:p>
          <a:p>
            <a:pPr marL="171450" indent="-171450">
              <a:buFont typeface="Arial" pitchFamily="34" charset="0"/>
              <a:buChar char="•"/>
            </a:pPr>
            <a:r>
              <a:rPr lang="en-AU" sz="1200" kern="1200" dirty="0" smtClean="0">
                <a:solidFill>
                  <a:schemeClr val="tx1"/>
                </a:solidFill>
                <a:ea typeface="+mn-ea"/>
                <a:cs typeface="+mn-cs"/>
              </a:rPr>
              <a:t>Factual</a:t>
            </a:r>
          </a:p>
          <a:p>
            <a:pPr marL="171450" indent="-171450">
              <a:buFont typeface="Arial" pitchFamily="34" charset="0"/>
              <a:buChar char="•"/>
            </a:pPr>
            <a:r>
              <a:rPr lang="en-AU" sz="1200" kern="1200" dirty="0" smtClean="0">
                <a:solidFill>
                  <a:schemeClr val="tx1"/>
                </a:solidFill>
                <a:ea typeface="+mn-ea"/>
                <a:cs typeface="+mn-cs"/>
              </a:rPr>
              <a:t>Imaginative </a:t>
            </a:r>
          </a:p>
          <a:p>
            <a:pPr marL="171450" indent="-171450">
              <a:buFont typeface="Arial" pitchFamily="34" charset="0"/>
              <a:buChar char="•"/>
            </a:pPr>
            <a:r>
              <a:rPr lang="en-AU" sz="1200" kern="1200" dirty="0" smtClean="0">
                <a:solidFill>
                  <a:schemeClr val="tx1"/>
                </a:solidFill>
                <a:ea typeface="+mn-ea"/>
                <a:cs typeface="+mn-cs"/>
              </a:rPr>
              <a:t>Authoritative</a:t>
            </a:r>
          </a:p>
          <a:p>
            <a:pPr marL="171450" indent="-171450">
              <a:buFont typeface="Arial" pitchFamily="34" charset="0"/>
              <a:buChar char="•"/>
            </a:pPr>
            <a:r>
              <a:rPr lang="en-AU" sz="1200" kern="1200" dirty="0" smtClean="0">
                <a:solidFill>
                  <a:schemeClr val="tx1"/>
                </a:solidFill>
                <a:ea typeface="+mn-ea"/>
                <a:cs typeface="+mn-cs"/>
              </a:rPr>
              <a:t>Whimsical </a:t>
            </a:r>
          </a:p>
          <a:p>
            <a:pPr marL="171450" indent="-171450">
              <a:buFont typeface="Arial" pitchFamily="34" charset="0"/>
              <a:buChar char="•"/>
            </a:pPr>
            <a:r>
              <a:rPr lang="en-AU" sz="1200" kern="1200" dirty="0" smtClean="0">
                <a:solidFill>
                  <a:schemeClr val="tx1"/>
                </a:solidFill>
                <a:ea typeface="+mn-ea"/>
                <a:cs typeface="+mn-cs"/>
              </a:rPr>
              <a:t>Contemporary</a:t>
            </a:r>
          </a:p>
          <a:p>
            <a:pPr marL="171450" indent="-171450">
              <a:buFont typeface="Arial" pitchFamily="34" charset="0"/>
              <a:buChar char="•"/>
            </a:pPr>
            <a:r>
              <a:rPr lang="en-AU" sz="1200" kern="1200" dirty="0" smtClean="0">
                <a:solidFill>
                  <a:schemeClr val="tx1"/>
                </a:solidFill>
                <a:ea typeface="+mn-ea"/>
                <a:cs typeface="+mn-cs"/>
              </a:rPr>
              <a:t>Emotional.</a:t>
            </a:r>
          </a:p>
          <a:p>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The one writing style can be used for the </a:t>
            </a:r>
            <a:r>
              <a:rPr lang="en-AU" sz="1200" i="1" kern="1200" dirty="0" smtClean="0">
                <a:solidFill>
                  <a:schemeClr val="tx1"/>
                </a:solidFill>
                <a:ea typeface="+mn-ea"/>
                <a:cs typeface="+mn-cs"/>
              </a:rPr>
              <a:t>entire brochure</a:t>
            </a:r>
            <a:r>
              <a:rPr lang="en-AU" sz="1200" kern="1200" dirty="0" smtClean="0">
                <a:solidFill>
                  <a:schemeClr val="tx1"/>
                </a:solidFill>
                <a:ea typeface="+mn-ea"/>
                <a:cs typeface="+mn-cs"/>
              </a:rPr>
              <a:t> or a combination of styles may be used throughout the item: many brochures alter styles depending on the focus of the description for individual points/sections. </a:t>
            </a:r>
          </a:p>
          <a:p>
            <a:pPr marL="628650" lvl="1" indent="-171450">
              <a:buFont typeface="Arial" pitchFamily="34" charset="0"/>
              <a:buChar char="•"/>
            </a:pPr>
            <a:r>
              <a:rPr lang="en-AU" sz="1200" kern="1200" dirty="0" smtClean="0">
                <a:solidFill>
                  <a:schemeClr val="tx1"/>
                </a:solidFill>
                <a:ea typeface="+mn-ea"/>
                <a:cs typeface="+mn-cs"/>
              </a:rPr>
              <a:t>For example, a brochure for a zoo may adopt a ‘learning’ style; a brochure for a sports venue may use an ‘action’ orientation; a brochure for a theme park would feature a ‘fun’ style and descriptions for cultures, religion and wars would more respectful and objective.</a:t>
            </a:r>
          </a:p>
          <a:p>
            <a:pPr>
              <a:buFont typeface="Arial" pitchFamily="34" charset="0"/>
              <a:buNone/>
            </a:pPr>
            <a:endParaRPr lang="en-US" noProof="0" dirty="0" smtClean="0"/>
          </a:p>
          <a:p>
            <a:pPr>
              <a:buFont typeface="Arial" pitchFamily="34" charset="0"/>
              <a:buNone/>
            </a:pPr>
            <a:r>
              <a:rPr lang="en-US" b="1" noProof="0" dirty="0" smtClean="0"/>
              <a:t>Classroom Activity (1) – Group Exercise</a:t>
            </a:r>
          </a:p>
          <a:p>
            <a:pPr>
              <a:buFont typeface="Arial" pitchFamily="34" charset="0"/>
              <a:buNone/>
            </a:pPr>
            <a:r>
              <a:rPr lang="en-US" b="0" noProof="0" dirty="0" smtClean="0"/>
              <a:t>Trainer presents class with a set of brochures and asks students to analyse them</a:t>
            </a:r>
            <a:r>
              <a:rPr lang="en-US" b="0" baseline="0" noProof="0" dirty="0" smtClean="0"/>
              <a:t> and identify the different copy/writing styles used and explain </a:t>
            </a:r>
            <a:r>
              <a:rPr lang="en-US" b="0" i="1" baseline="0" noProof="0" dirty="0" smtClean="0"/>
              <a:t>why </a:t>
            </a:r>
            <a:r>
              <a:rPr lang="en-US" b="0" baseline="0" noProof="0" dirty="0" smtClean="0"/>
              <a:t>those styles are used.</a:t>
            </a:r>
          </a:p>
          <a:p>
            <a:pPr>
              <a:buFont typeface="Arial" pitchFamily="34" charset="0"/>
              <a:buNone/>
            </a:pPr>
            <a:endParaRPr lang="en-US" b="0" baseline="0" noProof="0" dirty="0" smtClean="0"/>
          </a:p>
          <a:p>
            <a:pPr>
              <a:buFont typeface="Arial" pitchFamily="34" charset="0"/>
              <a:buNone/>
            </a:pPr>
            <a:r>
              <a:rPr lang="en-US" b="1" noProof="0" dirty="0" smtClean="0"/>
              <a:t>Classroom Activity (2) – Individual Exercise</a:t>
            </a:r>
          </a:p>
          <a:p>
            <a:pPr>
              <a:buFont typeface="Arial" pitchFamily="34" charset="0"/>
              <a:buNone/>
            </a:pPr>
            <a:r>
              <a:rPr lang="en-US" b="0" noProof="0" dirty="0" smtClean="0"/>
              <a:t>Trainer asks students to write copy for a nominated product/service to be pitched at a nominated target</a:t>
            </a:r>
            <a:r>
              <a:rPr lang="en-US" b="0" baseline="0" noProof="0" dirty="0" smtClean="0"/>
              <a:t> market.</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51</a:t>
            </a:fld>
            <a:endParaRPr lang="en-US" dirty="0"/>
          </a:p>
        </p:txBody>
      </p:sp>
    </p:spTree>
    <p:extLst>
      <p:ext uri="{BB962C8B-B14F-4D97-AF65-F5344CB8AC3E}">
        <p14:creationId xmlns:p14="http://schemas.microsoft.com/office/powerpoint/2010/main" val="1473361074"/>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identifies many copy writers use the concept of AIDA, where:</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A = grabs Attention</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I = appeals to the peoples’ self-Interest</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D = arouses the Desire to buy</a:t>
            </a:r>
          </a:p>
          <a:p>
            <a:pPr marL="171450" marR="0"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AU" sz="1200" b="0" kern="1200" dirty="0" smtClean="0">
                <a:solidFill>
                  <a:schemeClr val="tx1"/>
                </a:solidFill>
                <a:ea typeface="+mn-ea"/>
                <a:cs typeface="+mn-cs"/>
              </a:rPr>
              <a:t>A = urges people to take Action</a:t>
            </a:r>
          </a:p>
          <a:p>
            <a:pPr>
              <a:buFont typeface="Arial" pitchFamily="34" charset="0"/>
              <a:buNone/>
            </a:pPr>
            <a:endParaRPr lang="en-US" noProof="0"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52</a:t>
            </a:fld>
            <a:endParaRPr lang="en-US" dirty="0"/>
          </a:p>
        </p:txBody>
      </p:sp>
    </p:spTree>
    <p:extLst>
      <p:ext uri="{BB962C8B-B14F-4D97-AF65-F5344CB8AC3E}">
        <p14:creationId xmlns:p14="http://schemas.microsoft.com/office/powerpoint/2010/main" val="193964312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continues discussing AIDA stating:</a:t>
            </a:r>
          </a:p>
          <a:p>
            <a:r>
              <a:rPr lang="en-AU" sz="1200" b="1" kern="1200" dirty="0" smtClean="0">
                <a:solidFill>
                  <a:schemeClr val="tx1"/>
                </a:solidFill>
                <a:ea typeface="+mn-ea"/>
                <a:cs typeface="+mn-cs"/>
              </a:rPr>
              <a:t>A = grabs Attention</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highlights the need for the brochure to:</a:t>
            </a:r>
          </a:p>
          <a:p>
            <a:pPr marL="171450" indent="-171450">
              <a:buFont typeface="Arial" pitchFamily="34" charset="0"/>
              <a:buChar char="•"/>
            </a:pPr>
            <a:r>
              <a:rPr lang="en-AU" sz="1200" kern="1200" dirty="0" smtClean="0">
                <a:solidFill>
                  <a:schemeClr val="tx1"/>
                </a:solidFill>
                <a:ea typeface="+mn-ea"/>
                <a:cs typeface="+mn-cs"/>
              </a:rPr>
              <a:t>Catch the reader’s attention and get them to pick up the brochure</a:t>
            </a:r>
          </a:p>
          <a:p>
            <a:pPr marL="171450" indent="-171450">
              <a:buFont typeface="Arial" pitchFamily="34" charset="0"/>
              <a:buChar char="•"/>
            </a:pPr>
            <a:r>
              <a:rPr lang="en-AU" sz="1200" kern="1200" dirty="0" smtClean="0">
                <a:solidFill>
                  <a:schemeClr val="tx1"/>
                </a:solidFill>
                <a:ea typeface="+mn-ea"/>
                <a:cs typeface="+mn-cs"/>
              </a:rPr>
              <a:t>Make the reader open the first page</a:t>
            </a:r>
          </a:p>
          <a:p>
            <a:pPr marL="171450" indent="-171450">
              <a:buFont typeface="Arial" pitchFamily="34" charset="0"/>
              <a:buChar char="•"/>
            </a:pPr>
            <a:r>
              <a:rPr lang="en-AU" sz="1200" kern="1200" dirty="0" smtClean="0">
                <a:solidFill>
                  <a:schemeClr val="tx1"/>
                </a:solidFill>
                <a:ea typeface="+mn-ea"/>
                <a:cs typeface="+mn-cs"/>
              </a:rPr>
              <a:t>Make the reader keep reading the brochure until all the information is absorbed.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53</a:t>
            </a:fld>
            <a:endParaRPr lang="en-US" dirty="0"/>
          </a:p>
        </p:txBody>
      </p:sp>
    </p:spTree>
    <p:extLst>
      <p:ext uri="{BB962C8B-B14F-4D97-AF65-F5344CB8AC3E}">
        <p14:creationId xmlns:p14="http://schemas.microsoft.com/office/powerpoint/2010/main" val="399129133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continues discussing AIDA stating:</a:t>
            </a:r>
          </a:p>
          <a:p>
            <a:r>
              <a:rPr lang="en-AU" sz="1200" b="1" kern="1200" dirty="0" smtClean="0">
                <a:solidFill>
                  <a:schemeClr val="tx1"/>
                </a:solidFill>
                <a:ea typeface="+mn-ea"/>
                <a:cs typeface="+mn-cs"/>
              </a:rPr>
              <a:t>I = appeals to the peoples’ self-Interest</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means:</a:t>
            </a:r>
          </a:p>
          <a:p>
            <a:pPr marL="171450" indent="-171450">
              <a:buFont typeface="Arial" pitchFamily="34" charset="0"/>
              <a:buChar char="•"/>
            </a:pPr>
            <a:r>
              <a:rPr lang="en-AU" sz="1200" kern="1200" dirty="0" smtClean="0">
                <a:solidFill>
                  <a:schemeClr val="tx1"/>
                </a:solidFill>
                <a:ea typeface="+mn-ea"/>
                <a:cs typeface="+mn-cs"/>
              </a:rPr>
              <a:t>The brochure must </a:t>
            </a:r>
            <a:r>
              <a:rPr lang="en-AU" sz="1200" i="1" kern="1200" dirty="0" smtClean="0">
                <a:solidFill>
                  <a:schemeClr val="tx1"/>
                </a:solidFill>
                <a:ea typeface="+mn-ea"/>
                <a:cs typeface="+mn-cs"/>
              </a:rPr>
              <a:t>look</a:t>
            </a:r>
            <a:r>
              <a:rPr lang="en-AU" sz="1200" kern="1200" dirty="0" smtClean="0">
                <a:solidFill>
                  <a:schemeClr val="tx1"/>
                </a:solidFill>
                <a:ea typeface="+mn-ea"/>
                <a:cs typeface="+mn-cs"/>
              </a:rPr>
              <a:t> interesting to the reader</a:t>
            </a:r>
          </a:p>
          <a:p>
            <a:pPr marL="171450" indent="-171450">
              <a:buFont typeface="Arial" pitchFamily="34" charset="0"/>
              <a:buChar char="•"/>
            </a:pPr>
            <a:r>
              <a:rPr lang="en-AU" sz="1200" kern="1200" dirty="0" smtClean="0">
                <a:solidFill>
                  <a:schemeClr val="tx1"/>
                </a:solidFill>
                <a:ea typeface="+mn-ea"/>
                <a:cs typeface="+mn-cs"/>
              </a:rPr>
              <a:t>The brochure must </a:t>
            </a:r>
            <a:r>
              <a:rPr lang="en-AU" sz="1200" i="1" kern="1200" dirty="0" smtClean="0">
                <a:solidFill>
                  <a:schemeClr val="tx1"/>
                </a:solidFill>
                <a:ea typeface="+mn-ea"/>
                <a:cs typeface="+mn-cs"/>
              </a:rPr>
              <a:t>be</a:t>
            </a:r>
            <a:r>
              <a:rPr lang="en-AU" sz="1200" kern="1200" dirty="0" smtClean="0">
                <a:solidFill>
                  <a:schemeClr val="tx1"/>
                </a:solidFill>
                <a:ea typeface="+mn-ea"/>
                <a:cs typeface="+mn-cs"/>
              </a:rPr>
              <a:t> interesting to the reader</a:t>
            </a:r>
          </a:p>
          <a:p>
            <a:pPr marL="171450" indent="-171450">
              <a:buFont typeface="Arial" pitchFamily="34" charset="0"/>
              <a:buChar char="•"/>
            </a:pPr>
            <a:r>
              <a:rPr lang="en-AU" sz="1200" kern="1200" dirty="0" smtClean="0">
                <a:solidFill>
                  <a:schemeClr val="tx1"/>
                </a:solidFill>
                <a:ea typeface="+mn-ea"/>
                <a:cs typeface="+mn-cs"/>
              </a:rPr>
              <a:t>The brochure should be easy to read and understand.</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54</a:t>
            </a:fld>
            <a:endParaRPr lang="en-US" dirty="0"/>
          </a:p>
        </p:txBody>
      </p:sp>
    </p:spTree>
    <p:extLst>
      <p:ext uri="{BB962C8B-B14F-4D97-AF65-F5344CB8AC3E}">
        <p14:creationId xmlns:p14="http://schemas.microsoft.com/office/powerpoint/2010/main" val="356125975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continues discussing AIDA stating:</a:t>
            </a:r>
          </a:p>
          <a:p>
            <a:r>
              <a:rPr lang="en-AU" sz="1200" b="1" kern="1200" dirty="0" smtClean="0">
                <a:solidFill>
                  <a:schemeClr val="tx1"/>
                </a:solidFill>
                <a:ea typeface="+mn-ea"/>
                <a:cs typeface="+mn-cs"/>
              </a:rPr>
              <a:t>D = arouses the Desire to buy</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Keys at this stage are:</a:t>
            </a:r>
          </a:p>
          <a:p>
            <a:pPr marL="171450" indent="-171450">
              <a:buFont typeface="Arial" pitchFamily="34" charset="0"/>
              <a:buChar char="•"/>
            </a:pPr>
            <a:r>
              <a:rPr lang="en-AU" sz="1200" kern="1200" dirty="0" smtClean="0">
                <a:solidFill>
                  <a:schemeClr val="tx1"/>
                </a:solidFill>
                <a:ea typeface="+mn-ea"/>
                <a:cs typeface="+mn-cs"/>
              </a:rPr>
              <a:t>The brochure needs to make sure the reader distinguishes what is being offered from other offers or similar offers</a:t>
            </a:r>
          </a:p>
          <a:p>
            <a:pPr marL="171450" indent="-171450">
              <a:buFont typeface="Arial" pitchFamily="34" charset="0"/>
              <a:buChar char="•"/>
            </a:pPr>
            <a:r>
              <a:rPr lang="en-AU" sz="1200" kern="1200" dirty="0" smtClean="0">
                <a:solidFill>
                  <a:schemeClr val="tx1"/>
                </a:solidFill>
                <a:ea typeface="+mn-ea"/>
                <a:cs typeface="+mn-cs"/>
              </a:rPr>
              <a:t>The brochure should demonstrate why the organisation and what it is offering is better than or different to what the opposition is offering</a:t>
            </a:r>
          </a:p>
          <a:p>
            <a:pPr marL="171450" indent="-171450">
              <a:buFont typeface="Arial" pitchFamily="34" charset="0"/>
              <a:buChar char="•"/>
            </a:pPr>
            <a:r>
              <a:rPr lang="en-AU" sz="1200" kern="1200" dirty="0" smtClean="0">
                <a:solidFill>
                  <a:schemeClr val="tx1"/>
                </a:solidFill>
                <a:ea typeface="+mn-ea"/>
                <a:cs typeface="+mn-cs"/>
              </a:rPr>
              <a:t>The brochure should persuade the reader to agree that ‘it’ (what is being offered/promoted) is the only one for them.</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55</a:t>
            </a:fld>
            <a:endParaRPr lang="en-US" dirty="0"/>
          </a:p>
        </p:txBody>
      </p:sp>
    </p:spTree>
    <p:extLst>
      <p:ext uri="{BB962C8B-B14F-4D97-AF65-F5344CB8AC3E}">
        <p14:creationId xmlns:p14="http://schemas.microsoft.com/office/powerpoint/2010/main" val="29382408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a:t>
            </a:r>
            <a:r>
              <a:rPr lang="en-US" baseline="0" noProof="0" dirty="0" smtClean="0"/>
              <a:t> continues discussing AIDA stating:</a:t>
            </a:r>
          </a:p>
          <a:p>
            <a:r>
              <a:rPr lang="en-AU" sz="1200" b="1" kern="1200" dirty="0" smtClean="0">
                <a:solidFill>
                  <a:schemeClr val="tx1"/>
                </a:solidFill>
                <a:ea typeface="+mn-ea"/>
                <a:cs typeface="+mn-cs"/>
              </a:rPr>
              <a:t>A = urges people to take Action</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This means the brochure has to:</a:t>
            </a:r>
          </a:p>
          <a:p>
            <a:pPr marL="171450" indent="-171450">
              <a:buFont typeface="Arial" pitchFamily="34" charset="0"/>
              <a:buChar char="•"/>
            </a:pPr>
            <a:r>
              <a:rPr lang="en-AU" sz="1200" kern="1200" dirty="0" smtClean="0">
                <a:solidFill>
                  <a:schemeClr val="tx1"/>
                </a:solidFill>
                <a:ea typeface="+mn-ea"/>
                <a:cs typeface="+mn-cs"/>
              </a:rPr>
              <a:t>Explain what the potential buyer needs to do in order to take the next step – for example:</a:t>
            </a:r>
          </a:p>
          <a:p>
            <a:pPr marL="171450" indent="-171450">
              <a:buFont typeface="Arial" pitchFamily="34" charset="0"/>
              <a:buChar char="•"/>
            </a:pPr>
            <a:r>
              <a:rPr lang="en-US" sz="1200" kern="1200" dirty="0" smtClean="0">
                <a:solidFill>
                  <a:schemeClr val="tx1"/>
                </a:solidFill>
                <a:ea typeface="+mn-ea"/>
                <a:cs typeface="+mn-cs"/>
              </a:rPr>
              <a:t>‘Call now for more information’ </a:t>
            </a:r>
            <a:endParaRPr lang="en-AU" sz="1200" kern="1200" dirty="0" smtClean="0">
              <a:solidFill>
                <a:schemeClr val="tx1"/>
              </a:solidFill>
              <a:ea typeface="+mn-ea"/>
              <a:cs typeface="+mn-cs"/>
            </a:endParaRPr>
          </a:p>
          <a:p>
            <a:pPr marL="171450" indent="-171450">
              <a:buFont typeface="Arial" pitchFamily="34" charset="0"/>
              <a:buChar char="•"/>
            </a:pPr>
            <a:r>
              <a:rPr lang="en-US" sz="1200" kern="1200" dirty="0" smtClean="0">
                <a:solidFill>
                  <a:schemeClr val="tx1"/>
                </a:solidFill>
                <a:ea typeface="+mn-ea"/>
                <a:cs typeface="+mn-cs"/>
              </a:rPr>
              <a:t>‘Visit our website’</a:t>
            </a:r>
            <a:endParaRPr lang="en-AU" sz="1200" kern="1200" dirty="0" smtClean="0">
              <a:solidFill>
                <a:schemeClr val="tx1"/>
              </a:solidFill>
              <a:ea typeface="+mn-ea"/>
              <a:cs typeface="+mn-cs"/>
            </a:endParaRPr>
          </a:p>
          <a:p>
            <a:pPr marL="171450" indent="-171450">
              <a:buFont typeface="Arial" pitchFamily="34" charset="0"/>
              <a:buChar char="•"/>
            </a:pPr>
            <a:r>
              <a:rPr lang="en-US" sz="1200" kern="1200" dirty="0" smtClean="0">
                <a:solidFill>
                  <a:schemeClr val="tx1"/>
                </a:solidFill>
                <a:ea typeface="+mn-ea"/>
                <a:cs typeface="+mn-cs"/>
              </a:rPr>
              <a:t>‘Phone for free quote’</a:t>
            </a:r>
            <a:endParaRPr lang="en-AU" sz="1200" kern="1200" dirty="0" smtClean="0">
              <a:solidFill>
                <a:schemeClr val="tx1"/>
              </a:solidFill>
              <a:ea typeface="+mn-ea"/>
              <a:cs typeface="+mn-cs"/>
            </a:endParaRPr>
          </a:p>
          <a:p>
            <a:r>
              <a:rPr lang="en-AU" sz="1200" kern="1200" dirty="0" smtClean="0">
                <a:solidFill>
                  <a:schemeClr val="tx1"/>
                </a:solidFill>
                <a:ea typeface="+mn-ea"/>
                <a:cs typeface="+mn-cs"/>
              </a:rPr>
              <a:t>Make this important step as simple as possible for the customer to follow.</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56</a:t>
            </a:fld>
            <a:endParaRPr lang="en-US" dirty="0"/>
          </a:p>
        </p:txBody>
      </p:sp>
    </p:spTree>
    <p:extLst>
      <p:ext uri="{BB962C8B-B14F-4D97-AF65-F5344CB8AC3E}">
        <p14:creationId xmlns:p14="http://schemas.microsoft.com/office/powerpoint/2010/main" val="49120239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noProof="0" dirty="0" smtClean="0"/>
              <a:t>Trainer</a:t>
            </a:r>
            <a:r>
              <a:rPr lang="en-US" baseline="0" noProof="0" dirty="0" smtClean="0"/>
              <a:t> </a:t>
            </a:r>
            <a:r>
              <a:rPr lang="en-AU" sz="1200" kern="1200" dirty="0" smtClean="0">
                <a:solidFill>
                  <a:schemeClr val="tx1"/>
                </a:solidFill>
                <a:ea typeface="+mn-ea"/>
                <a:cs typeface="+mn-cs"/>
              </a:rPr>
              <a:t>provides tips on writing copy:</a:t>
            </a:r>
          </a:p>
          <a:p>
            <a:pPr marL="171450" indent="-171450">
              <a:buFont typeface="Arial" pitchFamily="34" charset="0"/>
              <a:buChar char="•"/>
            </a:pPr>
            <a:r>
              <a:rPr lang="en-AU" sz="1200" kern="1200" dirty="0" smtClean="0">
                <a:solidFill>
                  <a:schemeClr val="tx1"/>
                </a:solidFill>
                <a:ea typeface="+mn-ea"/>
                <a:cs typeface="+mn-cs"/>
              </a:rPr>
              <a:t>Read lots of other brochures from a range of other businesses – to get a feel for what they include and how they write</a:t>
            </a:r>
          </a:p>
          <a:p>
            <a:pPr marL="171450" lvl="0" indent="-171450">
              <a:buFont typeface="Arial" pitchFamily="34" charset="0"/>
              <a:buChar char="•"/>
            </a:pPr>
            <a:r>
              <a:rPr lang="en-AU" sz="1200" kern="1200" dirty="0" smtClean="0">
                <a:solidFill>
                  <a:schemeClr val="tx1"/>
                </a:solidFill>
                <a:ea typeface="+mn-ea"/>
                <a:cs typeface="+mn-cs"/>
              </a:rPr>
              <a:t>Write to an identified customer (the target customer/group as determined by the objective/s for the brochure) in ordinary everyday language – read what is written out loud to check if it flows smoothly </a:t>
            </a:r>
          </a:p>
          <a:p>
            <a:pPr marL="628650" lvl="1" indent="-171450">
              <a:buFont typeface="Arial" pitchFamily="34" charset="0"/>
              <a:buChar char="•"/>
            </a:pPr>
            <a:r>
              <a:rPr lang="en-AU" sz="1200" kern="1200" dirty="0" smtClean="0">
                <a:solidFill>
                  <a:schemeClr val="tx1"/>
                </a:solidFill>
                <a:ea typeface="+mn-ea"/>
                <a:cs typeface="+mn-cs"/>
              </a:rPr>
              <a:t>More persuasive copy will be written if there is one typical reader in mind. This will help in ‘speaking’ to them. </a:t>
            </a:r>
          </a:p>
          <a:p>
            <a:pPr marL="628650" lvl="1" indent="-171450">
              <a:buFont typeface="Arial" pitchFamily="34" charset="0"/>
              <a:buChar char="•"/>
            </a:pPr>
            <a:r>
              <a:rPr lang="en-AU" sz="1200" kern="1200" dirty="0" smtClean="0">
                <a:solidFill>
                  <a:schemeClr val="tx1"/>
                </a:solidFill>
                <a:ea typeface="+mn-ea"/>
                <a:cs typeface="+mn-cs"/>
              </a:rPr>
              <a:t>Use words the reader might like to read – for example:</a:t>
            </a:r>
          </a:p>
          <a:p>
            <a:pPr marL="1085850" lvl="2" indent="-171450">
              <a:buFont typeface="Arial" pitchFamily="34" charset="0"/>
              <a:buChar char="•"/>
            </a:pPr>
            <a:r>
              <a:rPr lang="en-US" sz="1200" kern="1200" dirty="0" smtClean="0">
                <a:solidFill>
                  <a:schemeClr val="tx1"/>
                </a:solidFill>
                <a:ea typeface="+mn-ea"/>
                <a:cs typeface="+mn-cs"/>
              </a:rPr>
              <a:t>Parents will like to see words such as ‘fun’, ‘educational’, and ‘safe’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Younger people can respond best to words such as ‘exciting’ and ‘full of action’</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Older travelers want to read about ‘safety’, ‘security’, ‘established’ and ‘traditional’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Identify one key message the brochure is to carry – for example the key message might be:</a:t>
            </a:r>
          </a:p>
          <a:p>
            <a:pPr marL="628650" lvl="1" indent="-171450">
              <a:buFont typeface="Arial" pitchFamily="34" charset="0"/>
              <a:buChar char="•"/>
            </a:pPr>
            <a:r>
              <a:rPr lang="en-US" sz="1200" kern="1200" dirty="0" smtClean="0">
                <a:solidFill>
                  <a:schemeClr val="tx1"/>
                </a:solidFill>
                <a:ea typeface="+mn-ea"/>
                <a:cs typeface="+mn-cs"/>
              </a:rPr>
              <a:t>Quality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Relaxation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Experiential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Value-for-money.</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Note the benefits to be sold – and think about the reasons the typical reader might want to come to buy.</a:t>
            </a:r>
          </a:p>
          <a:p>
            <a:pPr marL="171450" indent="-171450">
              <a:buFont typeface="Arial" pitchFamily="34" charset="0"/>
              <a:buChar char="•"/>
            </a:pPr>
            <a:r>
              <a:rPr lang="en-AU" sz="1200" kern="1200" dirty="0" smtClean="0">
                <a:solidFill>
                  <a:schemeClr val="tx1"/>
                </a:solidFill>
                <a:ea typeface="+mn-ea"/>
                <a:cs typeface="+mn-cs"/>
              </a:rPr>
              <a:t>What is it that will motivate the purchase of the product/service? Perfume manufacturers do not sell smell – they promise romance. Car advertisers do not sell a means of transport – they offer excitement or a very powerful, manly image. Theme parks do not sell rides and games – they offer an experience.</a:t>
            </a:r>
          </a:p>
          <a:p>
            <a:pPr marL="171450" indent="-171450">
              <a:buFont typeface="Arial" pitchFamily="34" charset="0"/>
              <a:buChar char="•"/>
            </a:pPr>
            <a:r>
              <a:rPr lang="en-AU" sz="1200" kern="1200" dirty="0" smtClean="0">
                <a:solidFill>
                  <a:schemeClr val="tx1"/>
                </a:solidFill>
                <a:ea typeface="+mn-ea"/>
                <a:cs typeface="+mn-cs"/>
              </a:rPr>
              <a:t>This highlights the use of trigger words (words that carry special ideas or feelings)  – </a:t>
            </a:r>
            <a:r>
              <a:rPr lang="en-US" sz="1200" kern="1200" dirty="0" smtClean="0">
                <a:solidFill>
                  <a:schemeClr val="tx1"/>
                </a:solidFill>
                <a:ea typeface="+mn-ea"/>
                <a:cs typeface="+mn-cs"/>
              </a:rPr>
              <a:t>such as: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‘Free’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‘Fun’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‘Exciting’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‘New’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‘Safe’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‘Unique’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‘Save’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‘Extra’</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‘Limited offer’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‘Special’</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57</a:t>
            </a:fld>
            <a:endParaRPr lang="en-US" dirty="0"/>
          </a:p>
        </p:txBody>
      </p:sp>
    </p:spTree>
    <p:extLst>
      <p:ext uri="{BB962C8B-B14F-4D97-AF65-F5344CB8AC3E}">
        <p14:creationId xmlns:p14="http://schemas.microsoft.com/office/powerpoint/2010/main" val="283334284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buFont typeface="Arial" pitchFamily="34" charset="0"/>
              <a:buNone/>
            </a:pPr>
            <a:r>
              <a:rPr lang="en-US" noProof="0" dirty="0" smtClean="0"/>
              <a:t>Trainer</a:t>
            </a:r>
            <a:r>
              <a:rPr lang="en-US" baseline="0" noProof="0" dirty="0" smtClean="0"/>
              <a:t> continues </a:t>
            </a:r>
            <a:r>
              <a:rPr lang="en-AU" sz="1200" kern="1200" dirty="0" smtClean="0">
                <a:solidFill>
                  <a:schemeClr val="tx1"/>
                </a:solidFill>
                <a:ea typeface="+mn-ea"/>
                <a:cs typeface="+mn-cs"/>
              </a:rPr>
              <a:t>providing tips on writing copy:</a:t>
            </a:r>
            <a:endParaRPr lang="en-US" baseline="0" noProof="0" dirty="0" smtClean="0"/>
          </a:p>
          <a:p>
            <a:pPr marL="171450" indent="-171450">
              <a:buFont typeface="Arial" pitchFamily="34" charset="0"/>
              <a:buChar char="•"/>
            </a:pPr>
            <a:r>
              <a:rPr lang="en-AU" sz="1200" kern="1200" dirty="0" smtClean="0">
                <a:solidFill>
                  <a:schemeClr val="tx1"/>
                </a:solidFill>
                <a:ea typeface="+mn-ea"/>
                <a:cs typeface="+mn-cs"/>
              </a:rPr>
              <a:t>Do not crowd the brochure with words and explanations – the best copy is often the shortest: ‘less is more’</a:t>
            </a:r>
          </a:p>
          <a:p>
            <a:pPr marL="171450" indent="-171450">
              <a:buFont typeface="Arial" pitchFamily="34" charset="0"/>
              <a:buChar char="•"/>
            </a:pPr>
            <a:r>
              <a:rPr lang="en-AU" sz="1200" kern="1200" dirty="0" smtClean="0">
                <a:solidFill>
                  <a:schemeClr val="tx1"/>
                </a:solidFill>
                <a:ea typeface="+mn-ea"/>
                <a:cs typeface="+mn-cs"/>
              </a:rPr>
              <a:t>Use the word ‘you’ – this instantly grabs attention and really personalises the message/communication. </a:t>
            </a:r>
          </a:p>
          <a:p>
            <a:pPr marL="628650" lvl="1" indent="-171450">
              <a:buFont typeface="Arial" pitchFamily="34" charset="0"/>
              <a:buChar char="•"/>
            </a:pPr>
            <a:r>
              <a:rPr lang="en-AU" sz="1200" kern="1200" dirty="0" smtClean="0">
                <a:solidFill>
                  <a:schemeClr val="tx1"/>
                </a:solidFill>
                <a:ea typeface="+mn-ea"/>
                <a:cs typeface="+mn-cs"/>
              </a:rPr>
              <a:t>Readers identify with it and instinctively assume it means them.</a:t>
            </a:r>
          </a:p>
          <a:p>
            <a:pPr marL="628650" lvl="1" indent="-171450">
              <a:buFont typeface="Arial" pitchFamily="34" charset="0"/>
              <a:buChar char="•"/>
            </a:pPr>
            <a:r>
              <a:rPr lang="en-AU" sz="1200" kern="1200" dirty="0" smtClean="0">
                <a:solidFill>
                  <a:schemeClr val="tx1"/>
                </a:solidFill>
                <a:ea typeface="+mn-ea"/>
                <a:cs typeface="+mn-cs"/>
              </a:rPr>
              <a:t>Sentences should be turned around to make them more appealing, for example:</a:t>
            </a:r>
          </a:p>
          <a:p>
            <a:pPr marL="1085850" lvl="2" indent="-171450">
              <a:buFont typeface="Arial" pitchFamily="34" charset="0"/>
              <a:buChar char="•"/>
            </a:pPr>
            <a:r>
              <a:rPr lang="en-AU" sz="1200" kern="1200" dirty="0" smtClean="0">
                <a:solidFill>
                  <a:schemeClr val="tx1"/>
                </a:solidFill>
                <a:ea typeface="+mn-ea"/>
                <a:cs typeface="+mn-cs"/>
              </a:rPr>
              <a:t>‘All our tours are exciting, fun and safe’</a:t>
            </a:r>
          </a:p>
          <a:p>
            <a:pPr marL="1085850" lvl="2" indent="-171450">
              <a:buFont typeface="Arial" pitchFamily="34" charset="0"/>
              <a:buChar char="•"/>
            </a:pPr>
            <a:r>
              <a:rPr lang="en-AU" sz="1200" kern="1200" dirty="0" smtClean="0">
                <a:solidFill>
                  <a:schemeClr val="tx1"/>
                </a:solidFill>
                <a:ea typeface="+mn-ea"/>
                <a:cs typeface="+mn-cs"/>
              </a:rPr>
              <a:t>should become</a:t>
            </a:r>
          </a:p>
          <a:p>
            <a:pPr marL="1085850" lvl="2" indent="-171450">
              <a:buFont typeface="Arial" pitchFamily="34" charset="0"/>
              <a:buChar char="•"/>
            </a:pPr>
            <a:r>
              <a:rPr lang="en-AU" sz="1200" kern="1200" dirty="0" smtClean="0">
                <a:solidFill>
                  <a:schemeClr val="tx1"/>
                </a:solidFill>
                <a:ea typeface="+mn-ea"/>
                <a:cs typeface="+mn-cs"/>
              </a:rPr>
              <a:t>‘You’ll be able to enjoy the fun and excitement of our tours in total safety’.</a:t>
            </a:r>
          </a:p>
          <a:p>
            <a:pPr marL="171450" indent="-171450">
              <a:buFont typeface="Arial" pitchFamily="34" charset="0"/>
              <a:buChar char="•"/>
            </a:pPr>
            <a:r>
              <a:rPr lang="en-AU" sz="1200" kern="1200" dirty="0" smtClean="0">
                <a:solidFill>
                  <a:schemeClr val="tx1"/>
                </a:solidFill>
                <a:ea typeface="+mn-ea"/>
                <a:cs typeface="+mn-cs"/>
              </a:rPr>
              <a:t>Use questions – using questions helps to involve the reader, particularly if the answer is almost certainly ‘yes’, for example:</a:t>
            </a:r>
          </a:p>
          <a:p>
            <a:pPr marL="628650" lvl="1" indent="-171450">
              <a:buFont typeface="Arial" pitchFamily="34" charset="0"/>
              <a:buChar char="•"/>
            </a:pPr>
            <a:r>
              <a:rPr lang="en-AU" sz="1200" kern="1200" dirty="0" smtClean="0">
                <a:solidFill>
                  <a:schemeClr val="tx1"/>
                </a:solidFill>
                <a:ea typeface="+mn-ea"/>
                <a:cs typeface="+mn-cs"/>
              </a:rPr>
              <a:t>‘Wouldn’t you just love to escape the pressures of everyday life and spend a day thrilling your senses? XYZ offers the perfect opportunity to live life as you thought it should be’.</a:t>
            </a:r>
          </a:p>
          <a:p>
            <a:pPr marL="1085850" lvl="2" indent="-171450">
              <a:buFont typeface="Arial" pitchFamily="34" charset="0"/>
              <a:buChar char="•"/>
            </a:pPr>
            <a:r>
              <a:rPr lang="en-AU" sz="1200" kern="1200" dirty="0" smtClean="0">
                <a:solidFill>
                  <a:schemeClr val="tx1"/>
                </a:solidFill>
                <a:ea typeface="+mn-ea"/>
                <a:cs typeface="+mn-cs"/>
              </a:rPr>
              <a:t>The benefits and features offered are the real reason people will buy. </a:t>
            </a:r>
          </a:p>
          <a:p>
            <a:pPr marL="1085850" lvl="2" indent="-171450">
              <a:buFont typeface="Arial" pitchFamily="34" charset="0"/>
              <a:buChar char="•"/>
            </a:pPr>
            <a:r>
              <a:rPr lang="en-AU" sz="1200" kern="1200" dirty="0" smtClean="0">
                <a:solidFill>
                  <a:schemeClr val="tx1"/>
                </a:solidFill>
                <a:ea typeface="+mn-ea"/>
                <a:cs typeface="+mn-cs"/>
              </a:rPr>
              <a:t>If prospects read ‘You’ll feel challenged and exhilarated, enjoying a true family experience at XYZ’, they would be even more likely to purchase. </a:t>
            </a:r>
          </a:p>
          <a:p>
            <a:pPr marL="171450" indent="-171450">
              <a:buFont typeface="Arial" pitchFamily="34" charset="0"/>
              <a:buChar char="•"/>
            </a:pPr>
            <a:r>
              <a:rPr lang="en-AU" sz="1200" kern="1200" dirty="0" smtClean="0">
                <a:solidFill>
                  <a:schemeClr val="tx1"/>
                </a:solidFill>
                <a:ea typeface="+mn-ea"/>
                <a:cs typeface="+mn-cs"/>
              </a:rPr>
              <a:t>Avoid using long passages of text – loads of print appears dull and uninteresting.</a:t>
            </a:r>
          </a:p>
          <a:p>
            <a:pPr marL="628650" lvl="1" indent="-171450">
              <a:buFont typeface="Arial" pitchFamily="34" charset="0"/>
              <a:buChar char="•"/>
            </a:pPr>
            <a:r>
              <a:rPr lang="en-AU" sz="1200" kern="1200" dirty="0" smtClean="0">
                <a:solidFill>
                  <a:schemeClr val="tx1"/>
                </a:solidFill>
                <a:ea typeface="+mn-ea"/>
                <a:cs typeface="+mn-cs"/>
              </a:rPr>
              <a:t>Short everyday words, short paragraphs, and short sentences are easier to read. </a:t>
            </a:r>
          </a:p>
          <a:p>
            <a:pPr marL="628650" lvl="1" indent="-171450">
              <a:buFont typeface="Arial" pitchFamily="34" charset="0"/>
              <a:buChar char="•"/>
            </a:pPr>
            <a:r>
              <a:rPr lang="en-AU" sz="1200" kern="1200" dirty="0" smtClean="0">
                <a:solidFill>
                  <a:schemeClr val="tx1"/>
                </a:solidFill>
                <a:ea typeface="+mn-ea"/>
                <a:cs typeface="+mn-cs"/>
              </a:rPr>
              <a:t>Short sentences have more impact – remember it is brochure that is being written and not a book. </a:t>
            </a: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58</a:t>
            </a:fld>
            <a:endParaRPr lang="en-US" dirty="0"/>
          </a:p>
        </p:txBody>
      </p:sp>
    </p:spTree>
    <p:extLst>
      <p:ext uri="{BB962C8B-B14F-4D97-AF65-F5344CB8AC3E}">
        <p14:creationId xmlns:p14="http://schemas.microsoft.com/office/powerpoint/2010/main" val="4161906986"/>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pPr>
              <a:buFont typeface="Arial" pitchFamily="34" charset="0"/>
              <a:buNone/>
            </a:pPr>
            <a:r>
              <a:rPr lang="en-US" noProof="0" dirty="0" smtClean="0"/>
              <a:t>Trainer</a:t>
            </a:r>
            <a:r>
              <a:rPr lang="en-US" baseline="0" noProof="0" dirty="0" smtClean="0"/>
              <a:t> continues </a:t>
            </a:r>
            <a:r>
              <a:rPr lang="en-AU" sz="1200" kern="1200" dirty="0" smtClean="0">
                <a:solidFill>
                  <a:schemeClr val="tx1"/>
                </a:solidFill>
                <a:ea typeface="+mn-ea"/>
                <a:cs typeface="+mn-cs"/>
              </a:rPr>
              <a:t>providing tips on writing copy:</a:t>
            </a:r>
          </a:p>
          <a:p>
            <a:pPr marL="171450" indent="-171450">
              <a:buFont typeface="Arial" pitchFamily="34" charset="0"/>
              <a:buChar char="•"/>
            </a:pPr>
            <a:r>
              <a:rPr lang="en-AU" sz="1200" kern="1200" dirty="0" smtClean="0">
                <a:solidFill>
                  <a:schemeClr val="tx1"/>
                </a:solidFill>
                <a:ea typeface="+mn-ea"/>
                <a:cs typeface="+mn-cs"/>
              </a:rPr>
              <a:t>Consider a slogan – a slogan is a brief message with an idea or image that people can instantly recognise, relate to and understand/form a connection with.  If the organisation (or a destination or attraction) has a slogan, it is usual for this slogan to be included on all promotional materials, including brochures. </a:t>
            </a:r>
          </a:p>
          <a:p>
            <a:pPr marL="628650" lvl="1" indent="-171450">
              <a:buFont typeface="Arial" pitchFamily="34" charset="0"/>
              <a:buChar char="•"/>
            </a:pPr>
            <a:r>
              <a:rPr lang="en-AU" sz="1200" kern="1200" dirty="0" smtClean="0">
                <a:solidFill>
                  <a:schemeClr val="tx1"/>
                </a:solidFill>
                <a:ea typeface="+mn-ea"/>
                <a:cs typeface="+mn-cs"/>
              </a:rPr>
              <a:t>Examples may include:</a:t>
            </a:r>
          </a:p>
          <a:p>
            <a:pPr marL="1085850" lvl="2" indent="-171450">
              <a:buFont typeface="Arial" pitchFamily="34" charset="0"/>
              <a:buChar char="•"/>
            </a:pPr>
            <a:r>
              <a:rPr lang="en-US" sz="1200" kern="1200" dirty="0" smtClean="0">
                <a:solidFill>
                  <a:schemeClr val="tx1"/>
                </a:solidFill>
                <a:ea typeface="+mn-ea"/>
                <a:cs typeface="+mn-cs"/>
              </a:rPr>
              <a:t>‘XYZ zoo – fun in learning’</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‘XYZ park – challenge yourself!’</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‘XYZ museum – take a step into the past’.</a:t>
            </a:r>
            <a:endParaRPr lang="en-AU" sz="1200" kern="1200" dirty="0" smtClean="0">
              <a:solidFill>
                <a:schemeClr val="tx1"/>
              </a:solidFill>
              <a:ea typeface="+mn-ea"/>
              <a:cs typeface="+mn-cs"/>
            </a:endParaRPr>
          </a:p>
          <a:p>
            <a:pPr marL="628650" lvl="1" indent="-171450">
              <a:buFont typeface="Arial" pitchFamily="34" charset="0"/>
              <a:buChar char="•"/>
            </a:pPr>
            <a:r>
              <a:rPr lang="en-AU" sz="1200" kern="1200" dirty="0" smtClean="0">
                <a:solidFill>
                  <a:schemeClr val="tx1"/>
                </a:solidFill>
                <a:ea typeface="+mn-ea"/>
                <a:cs typeface="+mn-cs"/>
              </a:rPr>
              <a:t>Successful slogans aim to:</a:t>
            </a:r>
          </a:p>
          <a:p>
            <a:pPr marL="1085850" lvl="2" indent="-171450">
              <a:buFont typeface="Arial" pitchFamily="34" charset="0"/>
              <a:buChar char="•"/>
            </a:pPr>
            <a:r>
              <a:rPr lang="en-US" sz="1200" kern="1200" dirty="0" smtClean="0">
                <a:solidFill>
                  <a:schemeClr val="tx1"/>
                </a:solidFill>
                <a:ea typeface="+mn-ea"/>
                <a:cs typeface="+mn-cs"/>
              </a:rPr>
              <a:t>Create a ‘brand’ name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Describe the product or service available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Create or support a recognisable image.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Include a map – to show relative locations, landmarks and distances</a:t>
            </a:r>
          </a:p>
          <a:p>
            <a:pPr marL="171450" indent="-171450">
              <a:buFont typeface="Arial" pitchFamily="34" charset="0"/>
              <a:buChar char="•"/>
            </a:pPr>
            <a:r>
              <a:rPr lang="en-AU" sz="1200" kern="1200" dirty="0" smtClean="0">
                <a:solidFill>
                  <a:schemeClr val="tx1"/>
                </a:solidFill>
                <a:ea typeface="+mn-ea"/>
                <a:cs typeface="+mn-cs"/>
              </a:rPr>
              <a:t>Be sure to include ‘required’ information from joint venture or sponsorship partners – there are often expectations (or contractual requirements) to include certain statements or other inclusions (logos, facts, details) from stakeholders </a:t>
            </a:r>
          </a:p>
          <a:p>
            <a:pPr marL="171450" indent="-171450">
              <a:buFont typeface="Arial" pitchFamily="34" charset="0"/>
              <a:buChar char="•"/>
            </a:pPr>
            <a:r>
              <a:rPr lang="en-AU" sz="1200" kern="1200" dirty="0" smtClean="0">
                <a:solidFill>
                  <a:schemeClr val="tx1"/>
                </a:solidFill>
                <a:ea typeface="+mn-ea"/>
                <a:cs typeface="+mn-cs"/>
              </a:rPr>
              <a:t>Include statements the organisation insists are included on all brochure materials – these may include words to the effect of:</a:t>
            </a:r>
          </a:p>
          <a:p>
            <a:pPr marL="628650" lvl="1" indent="-171450">
              <a:buFont typeface="Arial" pitchFamily="34" charset="0"/>
              <a:buChar char="•"/>
            </a:pPr>
            <a:r>
              <a:rPr lang="en-US" sz="1200" kern="1200" dirty="0" smtClean="0">
                <a:solidFill>
                  <a:schemeClr val="tx1"/>
                </a:solidFill>
                <a:ea typeface="+mn-ea"/>
                <a:cs typeface="+mn-cs"/>
              </a:rPr>
              <a:t>‘Offer valid until XX/XX/XX’</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‘Prices subject to change without notice’ – this allows brochures with prices to continue to be used even where there have been price increases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‘Some attractions and inclusions may be unavailable due to weather conditions, maintenance or other causes’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‘Information contained in this brochure was accurate at the time of printing’.</a:t>
            </a:r>
            <a:endParaRPr lang="en-AU" sz="1200" kern="1200" dirty="0" smtClean="0">
              <a:solidFill>
                <a:schemeClr val="tx1"/>
              </a:solidFill>
              <a:ea typeface="+mn-ea"/>
              <a:cs typeface="+mn-cs"/>
            </a:endParaRPr>
          </a:p>
          <a:p>
            <a:pPr marL="171450" indent="-171450">
              <a:buFont typeface="Arial" pitchFamily="34" charset="0"/>
              <a:buChar char="•"/>
            </a:pPr>
            <a:endParaRPr lang="en-US" baseline="0" noProof="0"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59</a:t>
            </a:fld>
            <a:endParaRPr lang="en-US" dirty="0"/>
          </a:p>
        </p:txBody>
      </p:sp>
    </p:spTree>
    <p:extLst>
      <p:ext uri="{BB962C8B-B14F-4D97-AF65-F5344CB8AC3E}">
        <p14:creationId xmlns:p14="http://schemas.microsoft.com/office/powerpoint/2010/main" val="345830584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pPr>
              <a:buFont typeface="Arial" pitchFamily="34" charset="0"/>
              <a:buNone/>
            </a:pPr>
            <a:r>
              <a:rPr lang="en-US" noProof="0" dirty="0" smtClean="0"/>
              <a:t>Trainer</a:t>
            </a:r>
            <a:r>
              <a:rPr lang="en-US" baseline="0" noProof="0" dirty="0" smtClean="0"/>
              <a:t> continues </a:t>
            </a:r>
            <a:r>
              <a:rPr lang="en-AU" sz="1200" kern="1200" dirty="0" smtClean="0">
                <a:solidFill>
                  <a:schemeClr val="tx1"/>
                </a:solidFill>
                <a:ea typeface="+mn-ea"/>
                <a:cs typeface="+mn-cs"/>
              </a:rPr>
              <a:t>providing tips on writing copy:</a:t>
            </a:r>
          </a:p>
          <a:p>
            <a:pPr marL="171450" indent="-171450">
              <a:buFont typeface="Arial" pitchFamily="34" charset="0"/>
              <a:buChar char="•"/>
            </a:pPr>
            <a:r>
              <a:rPr lang="en-AU" sz="1200" kern="1200" dirty="0" smtClean="0">
                <a:solidFill>
                  <a:schemeClr val="tx1"/>
                </a:solidFill>
                <a:ea typeface="+mn-ea"/>
                <a:cs typeface="+mn-cs"/>
              </a:rPr>
              <a:t>Confirm all material written is either copyright free or copyrighted material has been granted permission for use – never copy anything directly from another source without getting permission to use it.</a:t>
            </a:r>
          </a:p>
          <a:p>
            <a:pPr marL="628650" lvl="1" indent="-171450">
              <a:buFont typeface="Arial" pitchFamily="34" charset="0"/>
              <a:buChar char="•"/>
            </a:pPr>
            <a:r>
              <a:rPr lang="en-AU" sz="1200" kern="1200" dirty="0" smtClean="0">
                <a:solidFill>
                  <a:schemeClr val="tx1"/>
                </a:solidFill>
                <a:ea typeface="+mn-ea"/>
                <a:cs typeface="+mn-cs"/>
              </a:rPr>
              <a:t>Most brochures produced are covered by copyright, so a business cannot legally copy text and photos found in other brochures from other organisations and use them in their own.</a:t>
            </a:r>
          </a:p>
          <a:p>
            <a:pPr marL="628650" lvl="1" indent="-171450">
              <a:buFont typeface="Arial" pitchFamily="34" charset="0"/>
              <a:buChar char="•"/>
            </a:pPr>
            <a:r>
              <a:rPr lang="en-AU" sz="1200" kern="1200" dirty="0" smtClean="0">
                <a:solidFill>
                  <a:schemeClr val="tx1"/>
                </a:solidFill>
                <a:ea typeface="+mn-ea"/>
                <a:cs typeface="+mn-cs"/>
              </a:rPr>
              <a:t>Note, too, most of the information on the Internet is also covered by (inferred) copyright or express copyright.</a:t>
            </a:r>
          </a:p>
          <a:p>
            <a:pPr marL="628650" lvl="1" indent="-171450">
              <a:buFont typeface="Arial" pitchFamily="34" charset="0"/>
              <a:buChar char="•"/>
            </a:pPr>
            <a:r>
              <a:rPr lang="en-AU" sz="1200" kern="1200" dirty="0" smtClean="0">
                <a:solidFill>
                  <a:schemeClr val="tx1"/>
                </a:solidFill>
                <a:ea typeface="+mn-ea"/>
                <a:cs typeface="+mn-cs"/>
              </a:rPr>
              <a:t>The © symbol indicates material is protected by copyright, but there is </a:t>
            </a:r>
            <a:r>
              <a:rPr lang="en-AU" sz="1200" b="1" kern="1200" dirty="0" smtClean="0">
                <a:solidFill>
                  <a:schemeClr val="tx1"/>
                </a:solidFill>
                <a:ea typeface="+mn-ea"/>
                <a:cs typeface="+mn-cs"/>
              </a:rPr>
              <a:t>no legal requirement</a:t>
            </a:r>
            <a:r>
              <a:rPr lang="en-AU" sz="1200" kern="1200" dirty="0" smtClean="0">
                <a:solidFill>
                  <a:schemeClr val="tx1"/>
                </a:solidFill>
                <a:ea typeface="+mn-ea"/>
                <a:cs typeface="+mn-cs"/>
              </a:rPr>
              <a:t> for this to be present for the work to be covered by copyright protection.</a:t>
            </a:r>
          </a:p>
          <a:p>
            <a:pPr marL="628650" lvl="1" indent="-171450">
              <a:buFont typeface="Arial" pitchFamily="34" charset="0"/>
              <a:buChar char="•"/>
            </a:pPr>
            <a:r>
              <a:rPr lang="en-AU" sz="1200" kern="1200" dirty="0" smtClean="0">
                <a:solidFill>
                  <a:schemeClr val="tx1"/>
                </a:solidFill>
                <a:ea typeface="+mn-ea"/>
                <a:cs typeface="+mn-cs"/>
              </a:rPr>
              <a:t>The message is simple: do not copy someone else’s work and use it as if it is original work – because it can be an offence.</a:t>
            </a:r>
          </a:p>
          <a:p>
            <a:pPr marL="171450" indent="-171450">
              <a:buFont typeface="Arial" pitchFamily="34" charset="0"/>
              <a:buChar char="•"/>
            </a:pPr>
            <a:r>
              <a:rPr lang="en-AU" sz="1200" kern="1200" dirty="0" smtClean="0">
                <a:solidFill>
                  <a:schemeClr val="tx1"/>
                </a:solidFill>
                <a:ea typeface="+mn-ea"/>
                <a:cs typeface="+mn-cs"/>
              </a:rPr>
              <a:t>Use/consider photographs – photographs can be used for different things/in different ways.</a:t>
            </a:r>
          </a:p>
          <a:p>
            <a:pPr marL="628650" lvl="1" indent="-171450">
              <a:buFont typeface="Arial" pitchFamily="34" charset="0"/>
              <a:buChar char="•"/>
            </a:pPr>
            <a:r>
              <a:rPr lang="en-AU" sz="1200" kern="1200" dirty="0" smtClean="0">
                <a:solidFill>
                  <a:schemeClr val="tx1"/>
                </a:solidFill>
                <a:ea typeface="+mn-ea"/>
                <a:cs typeface="+mn-cs"/>
              </a:rPr>
              <a:t>Photographs of customers/visitors are common in brochures and are used to:</a:t>
            </a:r>
          </a:p>
          <a:p>
            <a:pPr marL="1085850" lvl="2" indent="-171450">
              <a:buFont typeface="Arial" pitchFamily="34" charset="0"/>
              <a:buChar char="•"/>
            </a:pPr>
            <a:r>
              <a:rPr lang="en-US" sz="1200" kern="1200" dirty="0" smtClean="0">
                <a:solidFill>
                  <a:schemeClr val="tx1"/>
                </a:solidFill>
                <a:ea typeface="+mn-ea"/>
                <a:cs typeface="+mn-cs"/>
              </a:rPr>
              <a:t>Encourage identification by potential customers who recognise the service or product is being targeted at their age or social status group</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Reinforce benefits (fun, safety, excitement, a family experience, action) being offered</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Create expectations.</a:t>
            </a:r>
            <a:endParaRPr lang="en-AU" sz="1200" kern="1200" dirty="0" smtClean="0">
              <a:solidFill>
                <a:schemeClr val="tx1"/>
              </a:solidFill>
              <a:ea typeface="+mn-ea"/>
              <a:cs typeface="+mn-cs"/>
            </a:endParaRPr>
          </a:p>
          <a:p>
            <a:pPr marL="628650" lvl="1" indent="-171450">
              <a:buFont typeface="Arial" pitchFamily="34" charset="0"/>
              <a:buChar char="•"/>
            </a:pPr>
            <a:r>
              <a:rPr lang="en-AU" sz="1200" kern="1200" dirty="0" smtClean="0">
                <a:solidFill>
                  <a:schemeClr val="tx1"/>
                </a:solidFill>
                <a:ea typeface="+mn-ea"/>
                <a:cs typeface="+mn-cs"/>
              </a:rPr>
              <a:t>Photographs of the environment are used to:</a:t>
            </a:r>
          </a:p>
          <a:p>
            <a:pPr marL="1085850" lvl="2" indent="-171450">
              <a:buFont typeface="Arial" pitchFamily="34" charset="0"/>
              <a:buChar char="•"/>
            </a:pPr>
            <a:r>
              <a:rPr lang="en-US" sz="1200" kern="1200" dirty="0" smtClean="0">
                <a:solidFill>
                  <a:schemeClr val="tx1"/>
                </a:solidFill>
                <a:ea typeface="+mn-ea"/>
                <a:cs typeface="+mn-cs"/>
              </a:rPr>
              <a:t>Validate claims made in the text about the existence, quality, safety of a particular aspect of the trip, tour or destination</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Create a sense of atmosphere/ambience </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Motivate and inspire the viewer to come or seek further information.</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Tell the truth – be creative but always remain honest. It is acceptable to embellish but not to tell deliberate untruths</a:t>
            </a:r>
          </a:p>
          <a:p>
            <a:pPr marL="171450" indent="-171450">
              <a:buFont typeface="Arial" pitchFamily="34" charset="0"/>
              <a:buChar char="•"/>
            </a:pPr>
            <a:r>
              <a:rPr lang="en-AU" sz="1200" kern="1200" dirty="0" smtClean="0">
                <a:solidFill>
                  <a:schemeClr val="tx1"/>
                </a:solidFill>
                <a:ea typeface="+mn-ea"/>
                <a:cs typeface="+mn-cs"/>
              </a:rPr>
              <a:t>Write a draft – and be prepared to revise and re-write many times</a:t>
            </a:r>
          </a:p>
          <a:p>
            <a:pPr>
              <a:buFont typeface="Arial" pitchFamily="34" charset="0"/>
              <a:buNone/>
            </a:pPr>
            <a:endParaRPr lang="en-US" baseline="0" noProof="0" dirty="0" smtClean="0"/>
          </a:p>
          <a:p>
            <a:pPr>
              <a:buFont typeface="Arial" pitchFamily="34" charset="0"/>
              <a:buNone/>
            </a:pPr>
            <a:r>
              <a:rPr lang="en-US" b="1" baseline="0" noProof="0" dirty="0" smtClean="0"/>
              <a:t>Classroom Activity – Guest Speaker</a:t>
            </a:r>
          </a:p>
          <a:p>
            <a:pPr>
              <a:buFont typeface="Arial" pitchFamily="34" charset="0"/>
              <a:buNone/>
            </a:pPr>
            <a:r>
              <a:rPr lang="en-US" b="0" baseline="0" noProof="0" dirty="0" smtClean="0"/>
              <a:t>Trainer arranges for copy writer to attend and discuss:</a:t>
            </a:r>
          </a:p>
          <a:p>
            <a:pPr marL="171450" indent="-171450">
              <a:buFont typeface="Arial" pitchFamily="34" charset="0"/>
              <a:buChar char="•"/>
            </a:pPr>
            <a:r>
              <a:rPr lang="en-US" b="0" baseline="0" noProof="0" dirty="0" smtClean="0"/>
              <a:t>Tips/advice on copy writing</a:t>
            </a:r>
          </a:p>
          <a:p>
            <a:pPr marL="171450" indent="-171450">
              <a:buFont typeface="Arial" pitchFamily="34" charset="0"/>
              <a:buChar char="•"/>
            </a:pPr>
            <a:r>
              <a:rPr lang="en-US" b="0" baseline="0" noProof="0" dirty="0" smtClean="0"/>
              <a:t>Examples of copy</a:t>
            </a:r>
          </a:p>
          <a:p>
            <a:pPr marL="171450" indent="-171450">
              <a:buFont typeface="Arial" pitchFamily="34" charset="0"/>
              <a:buChar char="•"/>
            </a:pPr>
            <a:r>
              <a:rPr lang="en-US" b="0" baseline="0" noProof="0" dirty="0" smtClean="0"/>
              <a:t>Determining ideas for copy</a:t>
            </a:r>
          </a:p>
          <a:p>
            <a:pPr marL="171450" indent="-171450">
              <a:buFont typeface="Arial" pitchFamily="34" charset="0"/>
              <a:buChar char="•"/>
            </a:pPr>
            <a:r>
              <a:rPr lang="en-US" b="0" baseline="0" noProof="0" dirty="0" smtClean="0"/>
              <a:t>The process of copy writing</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60</a:t>
            </a:fld>
            <a:endParaRPr lang="en-US" dirty="0"/>
          </a:p>
        </p:txBody>
      </p:sp>
    </p:spTree>
    <p:extLst>
      <p:ext uri="{BB962C8B-B14F-4D97-AF65-F5344CB8AC3E}">
        <p14:creationId xmlns:p14="http://schemas.microsoft.com/office/powerpoint/2010/main" val="376950337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61</a:t>
            </a:fld>
            <a:endParaRPr lang="en-US" dirty="0"/>
          </a:p>
        </p:txBody>
      </p:sp>
    </p:spTree>
    <p:extLst>
      <p:ext uri="{BB962C8B-B14F-4D97-AF65-F5344CB8AC3E}">
        <p14:creationId xmlns:p14="http://schemas.microsoft.com/office/powerpoint/2010/main" val="23037576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62</a:t>
            </a:fld>
            <a:endParaRPr lang="en-US" dirty="0"/>
          </a:p>
        </p:txBody>
      </p:sp>
    </p:spTree>
    <p:extLst>
      <p:ext uri="{BB962C8B-B14F-4D97-AF65-F5344CB8AC3E}">
        <p14:creationId xmlns:p14="http://schemas.microsoft.com/office/powerpoint/2010/main" val="23188137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63</a:t>
            </a:fld>
            <a:endParaRPr lang="en-US" dirty="0"/>
          </a:p>
        </p:txBody>
      </p:sp>
    </p:spTree>
    <p:extLst>
      <p:ext uri="{BB962C8B-B14F-4D97-AF65-F5344CB8AC3E}">
        <p14:creationId xmlns:p14="http://schemas.microsoft.com/office/powerpoint/2010/main" val="261574016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sz="1200" kern="1200" baseline="0" dirty="0" smtClean="0">
              <a:solidFill>
                <a:schemeClr val="tx1"/>
              </a:solidFill>
              <a:ea typeface="+mn-ea"/>
              <a:cs typeface="+mn-cs"/>
            </a:endParaRPr>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resources may be required to support the production of brochures and marketing materials?</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What is proof reading?</a:t>
            </a:r>
          </a:p>
          <a:p>
            <a:pPr marL="1714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US" sz="1200" kern="1200" baseline="0" dirty="0" smtClean="0">
                <a:solidFill>
                  <a:schemeClr val="tx1"/>
                </a:solidFill>
                <a:ea typeface="+mn-ea"/>
                <a:cs typeface="+mn-cs"/>
              </a:rPr>
              <a:t>Why is proof reading done?</a:t>
            </a:r>
          </a:p>
        </p:txBody>
      </p:sp>
      <p:sp>
        <p:nvSpPr>
          <p:cNvPr id="4" name="Slide Number Placeholder 3"/>
          <p:cNvSpPr>
            <a:spLocks noGrp="1"/>
          </p:cNvSpPr>
          <p:nvPr>
            <p:ph type="sldNum" sz="quarter" idx="10"/>
          </p:nvPr>
        </p:nvSpPr>
        <p:spPr/>
        <p:txBody>
          <a:bodyPr/>
          <a:lstStyle/>
          <a:p>
            <a:fld id="{006CD3C9-0AF2-437D-9D2F-7B6B298CC32F}" type="slidenum">
              <a:rPr lang="en-US" smtClean="0"/>
              <a:pPr/>
              <a:t>64</a:t>
            </a:fld>
            <a:endParaRPr lang="en-US" dirty="0"/>
          </a:p>
        </p:txBody>
      </p:sp>
    </p:spTree>
    <p:extLst>
      <p:ext uri="{BB962C8B-B14F-4D97-AF65-F5344CB8AC3E}">
        <p14:creationId xmlns:p14="http://schemas.microsoft.com/office/powerpoint/2010/main" val="35062926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explains resources required for production of items:</a:t>
            </a:r>
          </a:p>
          <a:p>
            <a:pPr marL="171450" indent="-171450">
              <a:buFont typeface="Arial" pitchFamily="34" charset="0"/>
              <a:buChar char="•"/>
            </a:pPr>
            <a:r>
              <a:rPr lang="en-AU" sz="1200" kern="1200" dirty="0" smtClean="0">
                <a:solidFill>
                  <a:schemeClr val="tx1"/>
                </a:solidFill>
                <a:ea typeface="+mn-ea"/>
                <a:cs typeface="+mn-cs"/>
              </a:rPr>
              <a:t>Funding – this is the money, cash or credit authorised and allocated by management for each individual item.</a:t>
            </a:r>
          </a:p>
          <a:p>
            <a:pPr marL="628650" lvl="1" indent="-171450">
              <a:buFont typeface="Arial" pitchFamily="34" charset="0"/>
              <a:buChar char="•"/>
            </a:pPr>
            <a:r>
              <a:rPr lang="en-AU" sz="1200" kern="1200" dirty="0" smtClean="0">
                <a:solidFill>
                  <a:schemeClr val="tx1"/>
                </a:solidFill>
                <a:ea typeface="+mn-ea"/>
                <a:cs typeface="+mn-cs"/>
              </a:rPr>
              <a:t>There is </a:t>
            </a:r>
            <a:r>
              <a:rPr lang="en-AU" sz="1200" i="1" kern="1200" dirty="0" smtClean="0">
                <a:solidFill>
                  <a:schemeClr val="tx1"/>
                </a:solidFill>
                <a:ea typeface="+mn-ea"/>
                <a:cs typeface="+mn-cs"/>
              </a:rPr>
              <a:t>always</a:t>
            </a:r>
            <a:r>
              <a:rPr lang="en-AU" sz="1200" kern="1200" dirty="0" smtClean="0">
                <a:solidFill>
                  <a:schemeClr val="tx1"/>
                </a:solidFill>
                <a:ea typeface="+mn-ea"/>
                <a:cs typeface="+mn-cs"/>
              </a:rPr>
              <a:t> a limit as to what is available.</a:t>
            </a:r>
          </a:p>
          <a:p>
            <a:pPr marL="628650" lvl="1" indent="-171450">
              <a:buFont typeface="Arial" pitchFamily="34" charset="0"/>
              <a:buChar char="•"/>
            </a:pPr>
            <a:r>
              <a:rPr lang="en-AU" sz="1200" kern="1200" dirty="0" smtClean="0">
                <a:solidFill>
                  <a:schemeClr val="tx1"/>
                </a:solidFill>
                <a:ea typeface="+mn-ea"/>
                <a:cs typeface="+mn-cs"/>
              </a:rPr>
              <a:t>Financial resources may be allocated:</a:t>
            </a:r>
          </a:p>
          <a:p>
            <a:pPr marL="1085850" lvl="2" indent="-171450">
              <a:buFont typeface="Arial" pitchFamily="34" charset="0"/>
              <a:buChar char="•"/>
            </a:pPr>
            <a:r>
              <a:rPr lang="en-US" sz="1200" kern="1200" dirty="0" smtClean="0">
                <a:solidFill>
                  <a:schemeClr val="tx1"/>
                </a:solidFill>
                <a:ea typeface="+mn-ea"/>
                <a:cs typeface="+mn-cs"/>
              </a:rPr>
              <a:t>To a department – and it is up to the department how they spend this money</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On a project-by-project basis – for individual items</a:t>
            </a:r>
            <a:endParaRPr lang="en-AU" sz="1200" kern="1200" dirty="0" smtClean="0">
              <a:solidFill>
                <a:schemeClr val="tx1"/>
              </a:solidFill>
              <a:ea typeface="+mn-ea"/>
              <a:cs typeface="+mn-cs"/>
            </a:endParaRPr>
          </a:p>
          <a:p>
            <a:pPr marL="628650" lvl="1" indent="-171450">
              <a:buFont typeface="Arial" pitchFamily="34" charset="0"/>
              <a:buChar char="•"/>
            </a:pPr>
            <a:r>
              <a:rPr lang="en-AU" sz="1200" kern="1200" dirty="0" smtClean="0">
                <a:solidFill>
                  <a:schemeClr val="tx1"/>
                </a:solidFill>
                <a:ea typeface="+mn-ea"/>
                <a:cs typeface="+mn-cs"/>
              </a:rPr>
              <a:t>Attention should be paid to trying to obtain external funding for marketing materials – this may be available from:</a:t>
            </a:r>
          </a:p>
          <a:p>
            <a:pPr marL="1085850" lvl="2" indent="-171450">
              <a:buFont typeface="Arial" pitchFamily="34" charset="0"/>
              <a:buChar char="•"/>
            </a:pPr>
            <a:r>
              <a:rPr lang="en-US" sz="1200" kern="1200" dirty="0" smtClean="0">
                <a:solidFill>
                  <a:schemeClr val="tx1"/>
                </a:solidFill>
                <a:ea typeface="+mn-ea"/>
                <a:cs typeface="+mn-cs"/>
              </a:rPr>
              <a:t>Carriers who are to be used</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Attractions named in the items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Government agencies such as tourism bodies interested in securing visitors to the country.</a:t>
            </a:r>
            <a:endParaRPr lang="en-AU" sz="1200" kern="1200" dirty="0" smtClean="0">
              <a:solidFill>
                <a:schemeClr val="tx1"/>
              </a:solidFill>
              <a:ea typeface="+mn-ea"/>
              <a:cs typeface="+mn-cs"/>
            </a:endParaRPr>
          </a:p>
          <a:p>
            <a:pPr marL="1543050" lvl="3" indent="-171450">
              <a:buFont typeface="Arial" pitchFamily="34" charset="0"/>
              <a:buChar char="•"/>
            </a:pPr>
            <a:r>
              <a:rPr lang="en-US" sz="1200" kern="1200" dirty="0" smtClean="0">
                <a:solidFill>
                  <a:schemeClr val="tx1"/>
                </a:solidFill>
                <a:ea typeface="+mn-ea"/>
                <a:cs typeface="+mn-cs"/>
              </a:rPr>
              <a:t>Where funds are obtained from other sources there is usually a trade-off in that they will normally require some input to the text or insist they/their logo is included.</a:t>
            </a:r>
            <a:endParaRPr lang="en-AU" sz="1200" kern="1200" dirty="0" smtClean="0">
              <a:solidFill>
                <a:schemeClr val="tx1"/>
              </a:solidFill>
              <a:ea typeface="+mn-ea"/>
              <a:cs typeface="+mn-cs"/>
            </a:endParaRPr>
          </a:p>
          <a:p>
            <a:pPr>
              <a:buFont typeface="Arial" pitchFamily="34" charset="0"/>
              <a:buChar char="•"/>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65</a:t>
            </a:fld>
            <a:endParaRPr lang="en-US" dirty="0"/>
          </a:p>
        </p:txBody>
      </p:sp>
    </p:spTree>
    <p:extLst>
      <p:ext uri="{BB962C8B-B14F-4D97-AF65-F5344CB8AC3E}">
        <p14:creationId xmlns:p14="http://schemas.microsoft.com/office/powerpoint/2010/main" val="3545156706"/>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explaining resources required for production of items:</a:t>
            </a:r>
          </a:p>
          <a:p>
            <a:pPr marL="171450" indent="-171450">
              <a:buFont typeface="Arial" pitchFamily="34" charset="0"/>
              <a:buChar char="•"/>
            </a:pPr>
            <a:r>
              <a:rPr lang="en-AU" sz="1200" kern="1200" dirty="0" smtClean="0">
                <a:solidFill>
                  <a:schemeClr val="tx1"/>
                </a:solidFill>
                <a:ea typeface="+mn-ea"/>
                <a:cs typeface="+mn-cs"/>
              </a:rPr>
              <a:t>Physical resources – which may relate to:</a:t>
            </a:r>
          </a:p>
          <a:p>
            <a:pPr marL="628650" lvl="1" indent="-171450">
              <a:buFont typeface="Arial" pitchFamily="34" charset="0"/>
              <a:buChar char="•"/>
            </a:pPr>
            <a:r>
              <a:rPr lang="en-US" sz="1200" kern="1200" dirty="0" smtClean="0">
                <a:solidFill>
                  <a:schemeClr val="tx1"/>
                </a:solidFill>
                <a:ea typeface="+mn-ea"/>
                <a:cs typeface="+mn-cs"/>
              </a:rPr>
              <a:t>Photographs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Sample brochures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Maps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Copies of previous items the organisation has produced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DTP technology and facilities – there has been a significant growth in the availability of desktop publishing packages over recent years: many businesses now conduct their own in-house desktop publishing. Common publishing packages include: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Adobe InDesign – a more sophisticated option than Pagemaker</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Adobe Pagemaker</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FrameMaker – now owned by Adobe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Microsoft Office Publisher</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PagePlus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PageStream</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QuarkXPress. </a:t>
            </a:r>
            <a:endParaRPr lang="en-AU" sz="1200" kern="1200" dirty="0" smtClean="0">
              <a:solidFill>
                <a:schemeClr val="tx1"/>
              </a:solidFill>
              <a:ea typeface="+mn-ea"/>
              <a:cs typeface="+mn-cs"/>
            </a:endParaRPr>
          </a:p>
          <a:p>
            <a:pPr lvl="0">
              <a:buFont typeface="Arial" pitchFamily="34" charset="0"/>
              <a:buNone/>
            </a:pPr>
            <a:endParaRPr lang="en-US" noProof="0" dirty="0" smtClean="0"/>
          </a:p>
          <a:p>
            <a:pPr lvl="0">
              <a:buFont typeface="Arial" pitchFamily="34" charset="0"/>
              <a:buNone/>
            </a:pPr>
            <a:r>
              <a:rPr lang="en-US" b="1" noProof="0" dirty="0" smtClean="0"/>
              <a:t>Classroom Activity – Demonstrations</a:t>
            </a:r>
          </a:p>
          <a:p>
            <a:pPr lvl="0">
              <a:buFont typeface="Arial" pitchFamily="34" charset="0"/>
              <a:buNone/>
            </a:pPr>
            <a:r>
              <a:rPr lang="en-US" b="0" noProof="0" dirty="0" smtClean="0"/>
              <a:t>Trainer demonstrates how to use a range of DTP software/options.</a:t>
            </a:r>
            <a:endParaRPr lang="en-AU" b="0"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66</a:t>
            </a:fld>
            <a:endParaRPr lang="en-US" dirty="0"/>
          </a:p>
        </p:txBody>
      </p:sp>
    </p:spTree>
    <p:extLst>
      <p:ext uri="{BB962C8B-B14F-4D97-AF65-F5344CB8AC3E}">
        <p14:creationId xmlns:p14="http://schemas.microsoft.com/office/powerpoint/2010/main" val="144481209"/>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explaining resources required for production of items:</a:t>
            </a:r>
          </a:p>
          <a:p>
            <a:pPr marL="171450" indent="-171450">
              <a:buFont typeface="Arial" pitchFamily="34" charset="0"/>
              <a:buChar char="•"/>
            </a:pPr>
            <a:r>
              <a:rPr lang="en-AU" sz="1200" kern="1200" dirty="0" smtClean="0">
                <a:solidFill>
                  <a:schemeClr val="tx1"/>
                </a:solidFill>
                <a:ea typeface="+mn-ea"/>
                <a:cs typeface="+mn-cs"/>
              </a:rPr>
              <a:t>Staff – which relates to:</a:t>
            </a:r>
          </a:p>
          <a:p>
            <a:pPr marL="628650" lvl="1" indent="-171450">
              <a:buFont typeface="Arial" pitchFamily="34" charset="0"/>
              <a:buChar char="•"/>
            </a:pPr>
            <a:r>
              <a:rPr lang="en-US" sz="1200" kern="1200" dirty="0" smtClean="0">
                <a:solidFill>
                  <a:schemeClr val="tx1"/>
                </a:solidFill>
                <a:ea typeface="+mn-ea"/>
                <a:cs typeface="+mn-cs"/>
              </a:rPr>
              <a:t>Allocation of individual employees with certain knowledge and specific skills to assist in the production process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Allocation of hours/time for the development and production process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Possible need to arrange for back-filling of staff who are seconded from their normal duties to participate in the development process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Specification of external professionals who:</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May be used</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Can be used </a:t>
            </a:r>
            <a:endParaRPr lang="en-AU" sz="1200" kern="1200" dirty="0" smtClean="0">
              <a:solidFill>
                <a:schemeClr val="tx1"/>
              </a:solidFill>
              <a:ea typeface="+mn-ea"/>
              <a:cs typeface="+mn-cs"/>
            </a:endParaRP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67</a:t>
            </a:fld>
            <a:endParaRPr lang="en-US" dirty="0"/>
          </a:p>
        </p:txBody>
      </p:sp>
    </p:spTree>
    <p:extLst>
      <p:ext uri="{BB962C8B-B14F-4D97-AF65-F5344CB8AC3E}">
        <p14:creationId xmlns:p14="http://schemas.microsoft.com/office/powerpoint/2010/main" val="224553060"/>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noProof="0" dirty="0" smtClean="0"/>
              <a:t>Trainer continues explaining resources required for production of items:</a:t>
            </a:r>
          </a:p>
          <a:p>
            <a:pPr marL="171450" indent="-171450">
              <a:buFont typeface="Arial" pitchFamily="34" charset="0"/>
              <a:buChar char="•"/>
            </a:pPr>
            <a:r>
              <a:rPr lang="en-AU" sz="1200" kern="1200" dirty="0" smtClean="0">
                <a:solidFill>
                  <a:schemeClr val="tx1"/>
                </a:solidFill>
                <a:ea typeface="+mn-ea"/>
                <a:cs typeface="+mn-cs"/>
              </a:rPr>
              <a:t>Information – this is arguably the single biggest/most important primary resource requirement for all marketing materials.</a:t>
            </a:r>
          </a:p>
          <a:p>
            <a:pPr marL="628650" lvl="1" indent="-171450">
              <a:buFont typeface="Arial" pitchFamily="34" charset="0"/>
              <a:buChar char="•"/>
            </a:pPr>
            <a:r>
              <a:rPr lang="en-AU" sz="1200" kern="1200" dirty="0" smtClean="0">
                <a:solidFill>
                  <a:schemeClr val="tx1"/>
                </a:solidFill>
                <a:ea typeface="+mn-ea"/>
                <a:cs typeface="+mn-cs"/>
              </a:rPr>
              <a:t>Common needs relate to an endless list of information such as detail relating to:</a:t>
            </a:r>
          </a:p>
          <a:p>
            <a:pPr marL="1085850" lvl="2" indent="-171450">
              <a:buFont typeface="Arial" pitchFamily="34" charset="0"/>
              <a:buChar char="•"/>
            </a:pPr>
            <a:r>
              <a:rPr lang="en-AU" sz="1200" kern="1200" dirty="0" smtClean="0">
                <a:solidFill>
                  <a:schemeClr val="tx1"/>
                </a:solidFill>
                <a:ea typeface="+mn-ea"/>
                <a:cs typeface="+mn-cs"/>
              </a:rPr>
              <a:t>Times </a:t>
            </a:r>
          </a:p>
          <a:p>
            <a:pPr marL="1085850" lvl="2" indent="-171450">
              <a:buFont typeface="Arial" pitchFamily="34" charset="0"/>
              <a:buChar char="•"/>
            </a:pPr>
            <a:r>
              <a:rPr lang="en-AU" sz="1200" kern="1200" dirty="0" smtClean="0">
                <a:solidFill>
                  <a:schemeClr val="tx1"/>
                </a:solidFill>
                <a:ea typeface="+mn-ea"/>
                <a:cs typeface="+mn-cs"/>
              </a:rPr>
              <a:t>Dates</a:t>
            </a:r>
          </a:p>
          <a:p>
            <a:pPr marL="1085850" lvl="2" indent="-171450">
              <a:buFont typeface="Arial" pitchFamily="34" charset="0"/>
              <a:buChar char="•"/>
            </a:pPr>
            <a:r>
              <a:rPr lang="en-AU" sz="1200" kern="1200" dirty="0" smtClean="0">
                <a:solidFill>
                  <a:schemeClr val="tx1"/>
                </a:solidFill>
                <a:ea typeface="+mn-ea"/>
                <a:cs typeface="+mn-cs"/>
              </a:rPr>
              <a:t>What is available in/at destinations and attractions</a:t>
            </a:r>
          </a:p>
          <a:p>
            <a:pPr marL="1085850" lvl="2" indent="-171450">
              <a:buFont typeface="Arial" pitchFamily="34" charset="0"/>
              <a:buChar char="•"/>
            </a:pPr>
            <a:r>
              <a:rPr lang="en-AU" sz="1200" kern="1200" dirty="0" smtClean="0">
                <a:solidFill>
                  <a:schemeClr val="tx1"/>
                </a:solidFill>
                <a:ea typeface="+mn-ea"/>
                <a:cs typeface="+mn-cs"/>
              </a:rPr>
              <a:t>Prices </a:t>
            </a:r>
          </a:p>
          <a:p>
            <a:pPr marL="1085850" lvl="2" indent="-171450">
              <a:buFont typeface="Arial" pitchFamily="34" charset="0"/>
              <a:buChar char="•"/>
            </a:pPr>
            <a:r>
              <a:rPr lang="en-AU" sz="1200" kern="1200" dirty="0" smtClean="0">
                <a:solidFill>
                  <a:schemeClr val="tx1"/>
                </a:solidFill>
                <a:ea typeface="+mn-ea"/>
                <a:cs typeface="+mn-cs"/>
              </a:rPr>
              <a:t>Facts and figures </a:t>
            </a:r>
          </a:p>
          <a:p>
            <a:pPr marL="1085850" lvl="2" indent="-171450">
              <a:buFont typeface="Arial" pitchFamily="34" charset="0"/>
              <a:buChar char="•"/>
            </a:pPr>
            <a:r>
              <a:rPr lang="en-AU" sz="1200" kern="1200" dirty="0" smtClean="0">
                <a:solidFill>
                  <a:schemeClr val="tx1"/>
                </a:solidFill>
                <a:ea typeface="+mn-ea"/>
                <a:cs typeface="+mn-cs"/>
              </a:rPr>
              <a:t>Taxes </a:t>
            </a:r>
          </a:p>
          <a:p>
            <a:pPr marL="1085850" lvl="2" indent="-171450">
              <a:buFont typeface="Arial" pitchFamily="34" charset="0"/>
              <a:buChar char="•"/>
            </a:pPr>
            <a:r>
              <a:rPr lang="en-AU" sz="1200" kern="1200" dirty="0" smtClean="0">
                <a:solidFill>
                  <a:schemeClr val="tx1"/>
                </a:solidFill>
                <a:ea typeface="+mn-ea"/>
                <a:cs typeface="+mn-cs"/>
              </a:rPr>
              <a:t>Immigration and customs requirements </a:t>
            </a:r>
          </a:p>
          <a:p>
            <a:pPr marL="1085850" lvl="2" indent="-171450">
              <a:buFont typeface="Arial" pitchFamily="34" charset="0"/>
              <a:buChar char="•"/>
            </a:pPr>
            <a:r>
              <a:rPr lang="en-AU" sz="1200" kern="1200" dirty="0" smtClean="0">
                <a:solidFill>
                  <a:schemeClr val="tx1"/>
                </a:solidFill>
                <a:ea typeface="+mn-ea"/>
                <a:cs typeface="+mn-cs"/>
              </a:rPr>
              <a:t>Geographical and historic features</a:t>
            </a:r>
          </a:p>
          <a:p>
            <a:pPr marL="1085850" lvl="2" indent="-171450">
              <a:buFont typeface="Arial" pitchFamily="34" charset="0"/>
              <a:buChar char="•"/>
            </a:pPr>
            <a:r>
              <a:rPr lang="en-AU" sz="1200" kern="1200" dirty="0" smtClean="0">
                <a:solidFill>
                  <a:schemeClr val="tx1"/>
                </a:solidFill>
                <a:ea typeface="+mn-ea"/>
                <a:cs typeface="+mn-cs"/>
              </a:rPr>
              <a:t>Company policies </a:t>
            </a:r>
          </a:p>
          <a:p>
            <a:pPr marL="1543050" lvl="3" indent="-171450">
              <a:buFont typeface="Arial" pitchFamily="34" charset="0"/>
              <a:buChar char="•"/>
            </a:pPr>
            <a:r>
              <a:rPr lang="en-AU" sz="1200" kern="1200" dirty="0" smtClean="0">
                <a:solidFill>
                  <a:schemeClr val="tx1"/>
                </a:solidFill>
                <a:ea typeface="+mn-ea"/>
                <a:cs typeface="+mn-cs"/>
              </a:rPr>
              <a:t>Terms and Conditions</a:t>
            </a:r>
          </a:p>
          <a:p>
            <a:pPr marL="1543050" lvl="3" indent="-171450">
              <a:buFont typeface="Arial" pitchFamily="34" charset="0"/>
              <a:buChar char="•"/>
            </a:pPr>
            <a:r>
              <a:rPr lang="en-AU" sz="1200" kern="1200" dirty="0" smtClean="0">
                <a:solidFill>
                  <a:schemeClr val="tx1"/>
                </a:solidFill>
                <a:ea typeface="+mn-ea"/>
                <a:cs typeface="+mn-cs"/>
              </a:rPr>
              <a:t>Guarantees and Warranties.</a:t>
            </a:r>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68</a:t>
            </a:fld>
            <a:endParaRPr lang="en-US" dirty="0"/>
          </a:p>
        </p:txBody>
      </p:sp>
    </p:spTree>
    <p:extLst>
      <p:ext uri="{BB962C8B-B14F-4D97-AF65-F5344CB8AC3E}">
        <p14:creationId xmlns:p14="http://schemas.microsoft.com/office/powerpoint/2010/main" val="4045542193"/>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explains </a:t>
            </a:r>
            <a:r>
              <a:rPr lang="en-AU" sz="1200" kern="1200" dirty="0" smtClean="0">
                <a:solidFill>
                  <a:schemeClr val="tx1"/>
                </a:solidFill>
                <a:ea typeface="+mn-ea"/>
                <a:cs typeface="+mn-cs"/>
              </a:rPr>
              <a:t>proof reading is checking the material to ensure everything is ‘right’.</a:t>
            </a:r>
          </a:p>
          <a:p>
            <a:pPr marL="171450" indent="-171450">
              <a:buFont typeface="Arial" pitchFamily="34" charset="0"/>
              <a:buChar char="•"/>
            </a:pPr>
            <a:r>
              <a:rPr lang="en-AU" sz="1200" kern="1200" dirty="0" smtClean="0">
                <a:solidFill>
                  <a:schemeClr val="tx1"/>
                </a:solidFill>
                <a:ea typeface="+mn-ea"/>
                <a:cs typeface="+mn-cs"/>
              </a:rPr>
              <a:t>It is a serious part of the development process for marketing materials because if there is a mistake in anything that is produced: </a:t>
            </a:r>
          </a:p>
          <a:p>
            <a:pPr marL="628650" lvl="1" indent="-171450">
              <a:buFont typeface="Arial" pitchFamily="34" charset="0"/>
              <a:buChar char="•"/>
            </a:pPr>
            <a:r>
              <a:rPr lang="en-AU" sz="1200" kern="1200" dirty="0" smtClean="0">
                <a:solidFill>
                  <a:schemeClr val="tx1"/>
                </a:solidFill>
                <a:ea typeface="+mn-ea"/>
                <a:cs typeface="+mn-cs"/>
              </a:rPr>
              <a:t>It will reflect badly on the organisation </a:t>
            </a:r>
          </a:p>
          <a:p>
            <a:pPr marL="628650" lvl="1" indent="-171450">
              <a:buFont typeface="Arial" pitchFamily="34" charset="0"/>
              <a:buChar char="•"/>
            </a:pPr>
            <a:r>
              <a:rPr lang="en-AU" sz="1200" kern="1200" dirty="0" smtClean="0">
                <a:solidFill>
                  <a:schemeClr val="tx1"/>
                </a:solidFill>
                <a:ea typeface="+mn-ea"/>
                <a:cs typeface="+mn-cs"/>
              </a:rPr>
              <a:t>It can give potential customers grounds to believe the organisation is unprofessional in other aspects of its business – such as taking care of its customers.</a:t>
            </a:r>
          </a:p>
          <a:p>
            <a:pPr marL="171450" indent="-171450">
              <a:buFont typeface="Arial" pitchFamily="34" charset="0"/>
              <a:buChar char="•"/>
            </a:pPr>
            <a:r>
              <a:rPr lang="en-AU" sz="1200" kern="1200" dirty="0" smtClean="0">
                <a:solidFill>
                  <a:schemeClr val="tx1"/>
                </a:solidFill>
                <a:ea typeface="+mn-ea"/>
                <a:cs typeface="+mn-cs"/>
              </a:rPr>
              <a:t>Note: proof reading will be looked at again later when there is a need to check materials from the printer.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69</a:t>
            </a:fld>
            <a:endParaRPr lang="en-US" dirty="0"/>
          </a:p>
        </p:txBody>
      </p:sp>
    </p:spTree>
    <p:extLst>
      <p:ext uri="{BB962C8B-B14F-4D97-AF65-F5344CB8AC3E}">
        <p14:creationId xmlns:p14="http://schemas.microsoft.com/office/powerpoint/2010/main" val="22512681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identifies things to be checked:</a:t>
            </a:r>
          </a:p>
          <a:p>
            <a:pPr marL="171450" indent="-171450">
              <a:buFont typeface="Arial" pitchFamily="34" charset="0"/>
              <a:buChar char="•"/>
            </a:pPr>
            <a:r>
              <a:rPr lang="en-AU" sz="1200" kern="1200" dirty="0" smtClean="0">
                <a:solidFill>
                  <a:schemeClr val="tx1"/>
                </a:solidFill>
                <a:ea typeface="+mn-ea"/>
                <a:cs typeface="+mn-cs"/>
              </a:rPr>
              <a:t>Grammatical errors </a:t>
            </a:r>
          </a:p>
          <a:p>
            <a:pPr marL="171450" indent="-171450">
              <a:buFont typeface="Arial" pitchFamily="34" charset="0"/>
              <a:buChar char="•"/>
            </a:pPr>
            <a:r>
              <a:rPr lang="en-AU" sz="1200" kern="1200" dirty="0" smtClean="0">
                <a:solidFill>
                  <a:schemeClr val="tx1"/>
                </a:solidFill>
                <a:ea typeface="+mn-ea"/>
                <a:cs typeface="+mn-cs"/>
              </a:rPr>
              <a:t>Spelling mistakes </a:t>
            </a:r>
          </a:p>
          <a:p>
            <a:pPr marL="171450" indent="-171450">
              <a:buFont typeface="Arial" pitchFamily="34" charset="0"/>
              <a:buChar char="•"/>
            </a:pPr>
            <a:r>
              <a:rPr lang="en-AU" sz="1200" kern="1200" dirty="0" smtClean="0">
                <a:solidFill>
                  <a:schemeClr val="tx1"/>
                </a:solidFill>
                <a:ea typeface="+mn-ea"/>
                <a:cs typeface="+mn-cs"/>
              </a:rPr>
              <a:t>Typographical errors</a:t>
            </a:r>
          </a:p>
          <a:p>
            <a:pPr marL="171450" indent="-171450">
              <a:buFont typeface="Arial" pitchFamily="34" charset="0"/>
              <a:buChar char="•"/>
            </a:pPr>
            <a:r>
              <a:rPr lang="en-AU" sz="1200" kern="1200" dirty="0" smtClean="0">
                <a:solidFill>
                  <a:schemeClr val="tx1"/>
                </a:solidFill>
                <a:ea typeface="+mn-ea"/>
                <a:cs typeface="+mn-cs"/>
              </a:rPr>
              <a:t>Omissions (things left out)</a:t>
            </a:r>
          </a:p>
          <a:p>
            <a:pPr marL="171450" indent="-171450">
              <a:buFont typeface="Arial" pitchFamily="34" charset="0"/>
              <a:buChar char="•"/>
            </a:pPr>
            <a:r>
              <a:rPr lang="en-AU" sz="1200" kern="1200" dirty="0" smtClean="0">
                <a:solidFill>
                  <a:schemeClr val="tx1"/>
                </a:solidFill>
                <a:ea typeface="+mn-ea"/>
                <a:cs typeface="+mn-cs"/>
              </a:rPr>
              <a:t>Language used </a:t>
            </a:r>
          </a:p>
          <a:p>
            <a:pPr marL="171450" indent="-171450">
              <a:buFont typeface="Arial" pitchFamily="34" charset="0"/>
              <a:buChar char="•"/>
            </a:pPr>
            <a:r>
              <a:rPr lang="en-AU" sz="1200" kern="1200" dirty="0" smtClean="0">
                <a:solidFill>
                  <a:schemeClr val="tx1"/>
                </a:solidFill>
                <a:ea typeface="+mn-ea"/>
                <a:cs typeface="+mn-cs"/>
              </a:rPr>
              <a:t>Inaccuracies </a:t>
            </a:r>
          </a:p>
          <a:p>
            <a:pPr marL="171450" indent="-171450">
              <a:buFont typeface="Arial" pitchFamily="34" charset="0"/>
              <a:buChar char="•"/>
            </a:pPr>
            <a:r>
              <a:rPr lang="en-AU" sz="1200" kern="1200" dirty="0" smtClean="0">
                <a:solidFill>
                  <a:schemeClr val="tx1"/>
                </a:solidFill>
                <a:ea typeface="+mn-ea"/>
                <a:cs typeface="+mn-cs"/>
              </a:rPr>
              <a:t>Mistakes </a:t>
            </a:r>
          </a:p>
          <a:p>
            <a:pPr marL="171450" indent="-171450">
              <a:buFont typeface="Arial" pitchFamily="34" charset="0"/>
              <a:buChar char="•"/>
            </a:pPr>
            <a:r>
              <a:rPr lang="en-AU" sz="1200" kern="1200" dirty="0" smtClean="0">
                <a:solidFill>
                  <a:schemeClr val="tx1"/>
                </a:solidFill>
                <a:ea typeface="+mn-ea"/>
                <a:cs typeface="+mn-cs"/>
              </a:rPr>
              <a:t>Flow </a:t>
            </a:r>
          </a:p>
          <a:p>
            <a:pPr marL="171450" indent="-171450">
              <a:buFont typeface="Arial" pitchFamily="34" charset="0"/>
              <a:buChar char="•"/>
            </a:pPr>
            <a:r>
              <a:rPr lang="en-AU" sz="1200" kern="1200" dirty="0" smtClean="0">
                <a:solidFill>
                  <a:schemeClr val="tx1"/>
                </a:solidFill>
                <a:ea typeface="+mn-ea"/>
                <a:cs typeface="+mn-cs"/>
              </a:rPr>
              <a:t>Readability </a:t>
            </a:r>
          </a:p>
          <a:p>
            <a:pPr marL="171450" indent="-171450">
              <a:buFont typeface="Arial" pitchFamily="34" charset="0"/>
              <a:buChar char="•"/>
            </a:pPr>
            <a:r>
              <a:rPr lang="en-AU" sz="1200" kern="1200" dirty="0" smtClean="0">
                <a:solidFill>
                  <a:schemeClr val="tx1"/>
                </a:solidFill>
                <a:ea typeface="+mn-ea"/>
                <a:cs typeface="+mn-cs"/>
              </a:rPr>
              <a:t>Clarity.</a:t>
            </a:r>
          </a:p>
          <a:p>
            <a:pPr>
              <a:buFont typeface="Arial" pitchFamily="34" charset="0"/>
              <a:buNone/>
            </a:pPr>
            <a:endParaRPr lang="en-US" dirty="0" smtClean="0"/>
          </a:p>
          <a:p>
            <a:pPr>
              <a:buFont typeface="Arial" pitchFamily="34" charset="0"/>
              <a:buNone/>
            </a:pPr>
            <a:r>
              <a:rPr lang="en-US" b="1" dirty="0" smtClean="0"/>
              <a:t>Classroom Activity – Handouts/Exercise</a:t>
            </a:r>
          </a:p>
          <a:p>
            <a:pPr>
              <a:buFont typeface="Arial" pitchFamily="34" charset="0"/>
              <a:buNone/>
            </a:pPr>
            <a:r>
              <a:rPr lang="en-US" b="0" dirty="0" smtClean="0"/>
              <a:t>Trainer provides students with a range of mock brochures containing intentional errors and omissions and asks students to:</a:t>
            </a:r>
          </a:p>
          <a:p>
            <a:pPr marL="171450" indent="-171450">
              <a:buFont typeface="Arial" pitchFamily="34" charset="0"/>
              <a:buChar char="•"/>
            </a:pPr>
            <a:r>
              <a:rPr lang="en-US" b="0" dirty="0" smtClean="0"/>
              <a:t>Identify them</a:t>
            </a:r>
          </a:p>
          <a:p>
            <a:pPr marL="171450" indent="-171450">
              <a:buFont typeface="Arial" pitchFamily="34" charset="0"/>
              <a:buChar char="•"/>
            </a:pPr>
            <a:r>
              <a:rPr lang="en-US" b="0" dirty="0" smtClean="0"/>
              <a:t>Correct them.</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70</a:t>
            </a:fld>
            <a:endParaRPr lang="en-US" dirty="0"/>
          </a:p>
        </p:txBody>
      </p:sp>
    </p:spTree>
    <p:extLst>
      <p:ext uri="{BB962C8B-B14F-4D97-AF65-F5344CB8AC3E}">
        <p14:creationId xmlns:p14="http://schemas.microsoft.com/office/powerpoint/2010/main" val="376413653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adds other points to check when proofing documents:</a:t>
            </a:r>
          </a:p>
          <a:p>
            <a:pPr marL="171450" indent="-171450">
              <a:buFont typeface="Arial" pitchFamily="34" charset="0"/>
              <a:buChar char="•"/>
            </a:pPr>
            <a:r>
              <a:rPr lang="en-AU" sz="1200" kern="1200" dirty="0" smtClean="0">
                <a:solidFill>
                  <a:schemeClr val="tx1"/>
                </a:solidFill>
                <a:ea typeface="+mn-ea"/>
                <a:cs typeface="+mn-cs"/>
              </a:rPr>
              <a:t>Prices </a:t>
            </a:r>
          </a:p>
          <a:p>
            <a:pPr marL="171450" indent="-171450">
              <a:buFont typeface="Arial" pitchFamily="34" charset="0"/>
              <a:buChar char="•"/>
            </a:pPr>
            <a:r>
              <a:rPr lang="en-AU" sz="1200" kern="1200" dirty="0" smtClean="0">
                <a:solidFill>
                  <a:schemeClr val="tx1"/>
                </a:solidFill>
                <a:ea typeface="+mn-ea"/>
                <a:cs typeface="+mn-cs"/>
              </a:rPr>
              <a:t>Figures/numbers </a:t>
            </a:r>
          </a:p>
          <a:p>
            <a:pPr marL="171450" indent="-171450">
              <a:buFont typeface="Arial" pitchFamily="34" charset="0"/>
              <a:buChar char="•"/>
            </a:pPr>
            <a:r>
              <a:rPr lang="en-AU" sz="1200" kern="1200" dirty="0" smtClean="0">
                <a:solidFill>
                  <a:schemeClr val="tx1"/>
                </a:solidFill>
                <a:ea typeface="+mn-ea"/>
                <a:cs typeface="+mn-cs"/>
              </a:rPr>
              <a:t>Addresses, telephone numbers, and email addresses </a:t>
            </a:r>
          </a:p>
          <a:p>
            <a:pPr marL="171450" indent="-171450">
              <a:buFont typeface="Arial" pitchFamily="34" charset="0"/>
              <a:buChar char="•"/>
            </a:pPr>
            <a:r>
              <a:rPr lang="en-AU" sz="1200" kern="1200" dirty="0" smtClean="0">
                <a:solidFill>
                  <a:schemeClr val="tx1"/>
                </a:solidFill>
                <a:ea typeface="+mn-ea"/>
                <a:cs typeface="+mn-cs"/>
              </a:rPr>
              <a:t>Names of people to contact.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71</a:t>
            </a:fld>
            <a:endParaRPr lang="en-US" dirty="0"/>
          </a:p>
        </p:txBody>
      </p:sp>
    </p:spTree>
    <p:extLst>
      <p:ext uri="{BB962C8B-B14F-4D97-AF65-F5344CB8AC3E}">
        <p14:creationId xmlns:p14="http://schemas.microsoft.com/office/powerpoint/2010/main" val="313013231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informs </a:t>
            </a:r>
            <a:r>
              <a:rPr lang="en-AU" sz="1200" kern="1200" dirty="0" smtClean="0">
                <a:solidFill>
                  <a:schemeClr val="tx1"/>
                </a:solidFill>
                <a:ea typeface="+mn-ea"/>
                <a:cs typeface="+mn-cs"/>
              </a:rPr>
              <a:t>in addition the proof reading is intended to: </a:t>
            </a:r>
          </a:p>
          <a:p>
            <a:pPr marL="171450" indent="-171450">
              <a:buFont typeface="Arial" pitchFamily="34" charset="0"/>
              <a:buChar char="•"/>
            </a:pPr>
            <a:r>
              <a:rPr lang="en-AU" sz="1200" kern="1200" dirty="0" smtClean="0">
                <a:solidFill>
                  <a:schemeClr val="tx1"/>
                </a:solidFill>
                <a:ea typeface="+mn-ea"/>
                <a:cs typeface="+mn-cs"/>
              </a:rPr>
              <a:t>Check to ensure materials do not give unintended offence</a:t>
            </a:r>
          </a:p>
          <a:p>
            <a:pPr marL="171450" indent="-171450">
              <a:buFont typeface="Arial" pitchFamily="34" charset="0"/>
              <a:buChar char="•"/>
            </a:pPr>
            <a:r>
              <a:rPr lang="en-AU" sz="1200" kern="1200" dirty="0" smtClean="0">
                <a:solidFill>
                  <a:schemeClr val="tx1"/>
                </a:solidFill>
                <a:ea typeface="+mn-ea"/>
                <a:cs typeface="+mn-cs"/>
              </a:rPr>
              <a:t>Verify the inclusion of all required information</a:t>
            </a:r>
          </a:p>
          <a:p>
            <a:pPr marL="171450" indent="-171450">
              <a:buFont typeface="Arial" pitchFamily="34" charset="0"/>
              <a:buChar char="•"/>
            </a:pPr>
            <a:r>
              <a:rPr lang="en-AU" sz="1200" kern="1200" dirty="0" smtClean="0">
                <a:solidFill>
                  <a:schemeClr val="tx1"/>
                </a:solidFill>
                <a:ea typeface="+mn-ea"/>
                <a:cs typeface="+mn-cs"/>
              </a:rPr>
              <a:t>Check facts and figures contained in the item are accurate, current, relevant and comprehensive</a:t>
            </a:r>
          </a:p>
          <a:p>
            <a:pPr marL="171450" indent="-171450">
              <a:buFont typeface="Arial" pitchFamily="34" charset="0"/>
              <a:buChar char="•"/>
            </a:pPr>
            <a:r>
              <a:rPr lang="en-AU" sz="1200" kern="1200" dirty="0" smtClean="0">
                <a:solidFill>
                  <a:schemeClr val="tx1"/>
                </a:solidFill>
                <a:ea typeface="+mn-ea"/>
                <a:cs typeface="+mn-cs"/>
              </a:rPr>
              <a:t>Ensure there are no last-minute changes to the information contained within the items – such as:</a:t>
            </a:r>
          </a:p>
          <a:p>
            <a:pPr marL="628650" lvl="1" indent="-171450">
              <a:buFont typeface="Arial" pitchFamily="34" charset="0"/>
              <a:buChar char="•"/>
            </a:pPr>
            <a:r>
              <a:rPr lang="en-US" sz="1200" kern="1200" dirty="0" smtClean="0">
                <a:solidFill>
                  <a:schemeClr val="tx1"/>
                </a:solidFill>
                <a:ea typeface="+mn-ea"/>
                <a:cs typeface="+mn-cs"/>
              </a:rPr>
              <a:t>Price fluctuations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Amendments to legislation or travel schedules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Unavailability of destinations or attractions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72</a:t>
            </a:fld>
            <a:endParaRPr lang="en-US" dirty="0"/>
          </a:p>
        </p:txBody>
      </p:sp>
    </p:spTree>
    <p:extLst>
      <p:ext uri="{BB962C8B-B14F-4D97-AF65-F5344CB8AC3E}">
        <p14:creationId xmlns:p14="http://schemas.microsoft.com/office/powerpoint/2010/main" val="128317105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states when </a:t>
            </a:r>
            <a:r>
              <a:rPr lang="en-AU" sz="1200" kern="1200" dirty="0" smtClean="0">
                <a:solidFill>
                  <a:schemeClr val="tx1"/>
                </a:solidFill>
                <a:ea typeface="+mn-ea"/>
                <a:cs typeface="+mn-cs"/>
              </a:rPr>
              <a:t>proof reading/as part of the proof reading process:</a:t>
            </a:r>
          </a:p>
          <a:p>
            <a:pPr marL="171450" indent="-171450">
              <a:buFont typeface="Arial" pitchFamily="34" charset="0"/>
              <a:buChar char="•"/>
            </a:pPr>
            <a:r>
              <a:rPr lang="en-AU" sz="1200" kern="1200" dirty="0" smtClean="0">
                <a:solidFill>
                  <a:schemeClr val="tx1"/>
                </a:solidFill>
                <a:ea typeface="+mn-ea"/>
                <a:cs typeface="+mn-cs"/>
              </a:rPr>
              <a:t>Allocate time for it – do not rush this step and never skip it</a:t>
            </a:r>
          </a:p>
          <a:p>
            <a:pPr marL="171450" indent="-171450">
              <a:buFont typeface="Arial" pitchFamily="34" charset="0"/>
              <a:buChar char="•"/>
            </a:pPr>
            <a:r>
              <a:rPr lang="en-AU" sz="1200" kern="1200" dirty="0" smtClean="0">
                <a:solidFill>
                  <a:schemeClr val="tx1"/>
                </a:solidFill>
                <a:ea typeface="+mn-ea"/>
                <a:cs typeface="+mn-cs"/>
              </a:rPr>
              <a:t>Do it more than once – never believe one reading will identify errors and/or omissions</a:t>
            </a:r>
          </a:p>
          <a:p>
            <a:pPr marL="171450" indent="-171450">
              <a:buFont typeface="Arial" pitchFamily="34" charset="0"/>
              <a:buChar char="•"/>
            </a:pPr>
            <a:r>
              <a:rPr lang="en-AU" sz="1200" kern="1200" dirty="0" smtClean="0">
                <a:solidFill>
                  <a:schemeClr val="tx1"/>
                </a:solidFill>
                <a:ea typeface="+mn-ea"/>
                <a:cs typeface="+mn-cs"/>
              </a:rPr>
              <a:t>Leave time between readings – proof read this morning and then tomorrow, not straight away after the first reading</a:t>
            </a:r>
          </a:p>
          <a:p>
            <a:pPr marL="171450" indent="-171450">
              <a:buFont typeface="Arial" pitchFamily="34" charset="0"/>
              <a:buChar char="•"/>
            </a:pPr>
            <a:r>
              <a:rPr lang="en-AU" sz="1200" kern="1200" dirty="0" smtClean="0">
                <a:solidFill>
                  <a:schemeClr val="tx1"/>
                </a:solidFill>
                <a:ea typeface="+mn-ea"/>
                <a:cs typeface="+mn-cs"/>
              </a:rPr>
              <a:t>Get more than one person to do it – a second (and third or fourth) pair of eyes is a good idea to gain different perspectives and optimise the likelihood of issues being detected</a:t>
            </a:r>
          </a:p>
          <a:p>
            <a:pPr marL="171450" indent="-171450">
              <a:buFont typeface="Arial" pitchFamily="34" charset="0"/>
              <a:buChar char="•"/>
            </a:pPr>
            <a:r>
              <a:rPr lang="en-AU" sz="1200" kern="1200" dirty="0" smtClean="0">
                <a:solidFill>
                  <a:schemeClr val="tx1"/>
                </a:solidFill>
                <a:ea typeface="+mn-ea"/>
                <a:cs typeface="+mn-cs"/>
              </a:rPr>
              <a:t>Have someone who has not been involved in the development process read the materials – they will approach it with a more open mind</a:t>
            </a:r>
          </a:p>
          <a:p>
            <a:pPr marL="171450" indent="-171450">
              <a:buFont typeface="Arial" pitchFamily="34" charset="0"/>
              <a:buChar char="•"/>
            </a:pPr>
            <a:r>
              <a:rPr lang="en-AU" sz="1200" kern="1200" dirty="0" smtClean="0">
                <a:solidFill>
                  <a:schemeClr val="tx1"/>
                </a:solidFill>
                <a:ea typeface="+mn-ea"/>
                <a:cs typeface="+mn-cs"/>
              </a:rPr>
              <a:t>If funding allows, use the services of a professional proof reader and editor.</a:t>
            </a:r>
          </a:p>
          <a:p>
            <a:pPr>
              <a:buFont typeface="Arial" pitchFamily="34" charset="0"/>
              <a:buNone/>
            </a:pPr>
            <a:endParaRPr lang="en-US" dirty="0" smtClean="0"/>
          </a:p>
          <a:p>
            <a:pPr>
              <a:buFont typeface="Arial" pitchFamily="34" charset="0"/>
              <a:buNone/>
            </a:pPr>
            <a:r>
              <a:rPr lang="en-US" b="1" baseline="0" noProof="0" dirty="0" smtClean="0"/>
              <a:t>Classroom Activity  – Internet Research</a:t>
            </a:r>
          </a:p>
          <a:p>
            <a:pPr>
              <a:buFont typeface="Arial" pitchFamily="34" charset="0"/>
              <a:buNone/>
            </a:pPr>
            <a:r>
              <a:rPr lang="en-US" b="0" noProof="0" dirty="0" smtClean="0"/>
              <a:t>Trainer facilitates online research and discussion relating to relevant sites such as:</a:t>
            </a:r>
          </a:p>
          <a:p>
            <a:pPr marL="171450" indent="-171450">
              <a:buFont typeface="Arial" pitchFamily="34" charset="0"/>
              <a:buChar char="•"/>
            </a:pPr>
            <a:r>
              <a:rPr lang="en-AU" sz="1200" kern="1200" dirty="0" smtClean="0">
                <a:solidFill>
                  <a:schemeClr val="tx1"/>
                </a:solidFill>
                <a:ea typeface="+mn-ea"/>
                <a:cs typeface="+mn-cs"/>
              </a:rPr>
              <a:t>‘Proofreading’ at </a:t>
            </a:r>
            <a:r>
              <a:rPr lang="en-AU" sz="1200" u="sng" kern="1200" dirty="0" smtClean="0">
                <a:solidFill>
                  <a:schemeClr val="tx1"/>
                </a:solidFill>
                <a:ea typeface="+mn-ea"/>
                <a:cs typeface="+mn-cs"/>
                <a:hlinkClick r:id="rId3"/>
              </a:rPr>
              <a:t>http://writing.wisc.edu/Handbook/Proofreading.html</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‘Top 10 proofreading tips’ at </a:t>
            </a:r>
            <a:r>
              <a:rPr lang="en-AU" sz="1200" u="sng" kern="1200" dirty="0" smtClean="0">
                <a:solidFill>
                  <a:schemeClr val="tx1"/>
                </a:solidFill>
                <a:ea typeface="+mn-ea"/>
                <a:cs typeface="+mn-cs"/>
                <a:hlinkClick r:id="rId4"/>
              </a:rPr>
              <a:t>http://grammar.about.com/od/improveyourwriting/a/tipsproofreading.htm</a:t>
            </a:r>
            <a:r>
              <a:rPr lang="en-AU" sz="1200" kern="1200" dirty="0" smtClean="0">
                <a:solidFill>
                  <a:schemeClr val="tx1"/>
                </a:solidFill>
                <a:ea typeface="+mn-ea"/>
                <a:cs typeface="+mn-cs"/>
              </a:rPr>
              <a:t> </a:t>
            </a:r>
          </a:p>
          <a:p>
            <a:pPr marL="171450" indent="-171450">
              <a:buFont typeface="Arial" pitchFamily="34" charset="0"/>
              <a:buChar char="•"/>
            </a:pPr>
            <a:r>
              <a:rPr lang="en-AU" sz="1200" kern="1200" dirty="0" smtClean="0">
                <a:solidFill>
                  <a:schemeClr val="tx1"/>
                </a:solidFill>
                <a:ea typeface="+mn-ea"/>
                <a:cs typeface="+mn-cs"/>
              </a:rPr>
              <a:t>‘How to copyedit and proofread written work’ at </a:t>
            </a:r>
            <a:r>
              <a:rPr lang="en-AU" sz="1200" u="sng" kern="1200" dirty="0" smtClean="0">
                <a:solidFill>
                  <a:schemeClr val="tx1"/>
                </a:solidFill>
                <a:ea typeface="+mn-ea"/>
                <a:cs typeface="+mn-cs"/>
                <a:hlinkClick r:id="rId5"/>
              </a:rPr>
              <a:t>http://www.wikihow.com/Copyedit-and-Proofread-Written-Work</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73</a:t>
            </a:fld>
            <a:endParaRPr lang="en-US" dirty="0"/>
          </a:p>
        </p:txBody>
      </p:sp>
    </p:spTree>
    <p:extLst>
      <p:ext uri="{BB962C8B-B14F-4D97-AF65-F5344CB8AC3E}">
        <p14:creationId xmlns:p14="http://schemas.microsoft.com/office/powerpoint/2010/main" val="341632812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need </a:t>
            </a:r>
            <a:r>
              <a:rPr lang="en-AU" sz="1200" kern="1200" dirty="0" smtClean="0">
                <a:solidFill>
                  <a:schemeClr val="tx1"/>
                </a:solidFill>
                <a:ea typeface="+mn-ea"/>
                <a:cs typeface="+mn-cs"/>
              </a:rPr>
              <a:t>to circulate items at this stage is required to:</a:t>
            </a:r>
          </a:p>
          <a:p>
            <a:pPr marL="171450" indent="-171450">
              <a:buFont typeface="Arial" pitchFamily="34" charset="0"/>
              <a:buChar char="•"/>
            </a:pPr>
            <a:r>
              <a:rPr lang="en-AU" sz="1200" kern="1200" dirty="0" smtClean="0">
                <a:solidFill>
                  <a:schemeClr val="tx1"/>
                </a:solidFill>
                <a:ea typeface="+mn-ea"/>
                <a:cs typeface="+mn-cs"/>
              </a:rPr>
              <a:t>Keep management informed and up-to-date – this is necessary to:</a:t>
            </a:r>
          </a:p>
          <a:p>
            <a:pPr marL="628650" lvl="1" indent="-171450">
              <a:buFont typeface="Arial" pitchFamily="34" charset="0"/>
              <a:buChar char="•"/>
            </a:pPr>
            <a:r>
              <a:rPr lang="en-US" sz="1200" kern="1200" dirty="0" smtClean="0">
                <a:solidFill>
                  <a:schemeClr val="tx1"/>
                </a:solidFill>
                <a:ea typeface="+mn-ea"/>
                <a:cs typeface="+mn-cs"/>
              </a:rPr>
              <a:t>Inform them about what is happening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Keep them appraised on what is being developed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Allow them to actively monitor progress on plans of which they are commonly aware/have prepared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 approval to proceed with the proposed items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Give those involved in the development process an opportunity to check what has been produced – so they can:</a:t>
            </a:r>
          </a:p>
          <a:p>
            <a:pPr marL="628650" lvl="1" indent="-171450">
              <a:buFont typeface="Arial" pitchFamily="34" charset="0"/>
              <a:buChar char="•"/>
            </a:pPr>
            <a:r>
              <a:rPr lang="en-US" sz="1200" kern="1200" dirty="0" smtClean="0">
                <a:solidFill>
                  <a:schemeClr val="tx1"/>
                </a:solidFill>
                <a:ea typeface="+mn-ea"/>
                <a:cs typeface="+mn-cs"/>
              </a:rPr>
              <a:t>Verify the material which has been prepared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and/or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Make recommendations for improvement</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Get input from those who may not have been involved in the development process – this can:</a:t>
            </a:r>
          </a:p>
          <a:p>
            <a:pPr marL="628650" lvl="1" indent="-171450">
              <a:buFont typeface="Arial" pitchFamily="34" charset="0"/>
              <a:buChar char="•"/>
            </a:pPr>
            <a:r>
              <a:rPr lang="en-US" sz="1200" kern="1200" dirty="0" smtClean="0">
                <a:solidFill>
                  <a:schemeClr val="tx1"/>
                </a:solidFill>
                <a:ea typeface="+mn-ea"/>
                <a:cs typeface="+mn-cs"/>
              </a:rPr>
              <a:t>Enable thoughts from people outside the ‘development team’ who may have legitimate concerns to air and/or contributions to make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Let them know what is being prepared and what they can expect in the near future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Add another opportunity/dimension for: </a:t>
            </a:r>
          </a:p>
          <a:p>
            <a:pPr marL="628650" lvl="1" indent="-171450">
              <a:buFont typeface="Arial" pitchFamily="34" charset="0"/>
              <a:buChar char="•"/>
            </a:pPr>
            <a:r>
              <a:rPr lang="en-US" sz="1200" kern="1200" dirty="0" smtClean="0">
                <a:solidFill>
                  <a:schemeClr val="tx1"/>
                </a:solidFill>
                <a:ea typeface="+mn-ea"/>
                <a:cs typeface="+mn-cs"/>
              </a:rPr>
              <a:t>Proof reading</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Fact checking</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Identification of errors and omissions.</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74</a:t>
            </a:fld>
            <a:endParaRPr lang="en-US" dirty="0"/>
          </a:p>
        </p:txBody>
      </p:sp>
    </p:spTree>
    <p:extLst>
      <p:ext uri="{BB962C8B-B14F-4D97-AF65-F5344CB8AC3E}">
        <p14:creationId xmlns:p14="http://schemas.microsoft.com/office/powerpoint/2010/main" val="291490348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stresses it </a:t>
            </a:r>
            <a:r>
              <a:rPr lang="en-AU" sz="1200" kern="1200" dirty="0" smtClean="0">
                <a:solidFill>
                  <a:schemeClr val="tx1"/>
                </a:solidFill>
                <a:ea typeface="+mn-ea"/>
                <a:cs typeface="+mn-cs"/>
              </a:rPr>
              <a:t>is important to understand whenever materials are circulated to others for their comment or feedback there will invariably </a:t>
            </a:r>
            <a:r>
              <a:rPr lang="en-AU" sz="1200" b="1" i="1" kern="1200" dirty="0" smtClean="0">
                <a:solidFill>
                  <a:schemeClr val="tx1"/>
                </a:solidFill>
                <a:ea typeface="+mn-ea"/>
                <a:cs typeface="+mn-cs"/>
              </a:rPr>
              <a:t>be</a:t>
            </a:r>
            <a:r>
              <a:rPr lang="en-AU" sz="1200" kern="1200" dirty="0" smtClean="0">
                <a:solidFill>
                  <a:schemeClr val="tx1"/>
                </a:solidFill>
                <a:ea typeface="+mn-ea"/>
                <a:cs typeface="+mn-cs"/>
              </a:rPr>
              <a:t> comment or feedback.</a:t>
            </a:r>
          </a:p>
          <a:p>
            <a:pPr marL="171450" indent="-171450">
              <a:buFont typeface="Arial" pitchFamily="34" charset="0"/>
              <a:buChar char="•"/>
            </a:pPr>
            <a:r>
              <a:rPr lang="en-AU" sz="1200" kern="1200" dirty="0" smtClean="0">
                <a:solidFill>
                  <a:schemeClr val="tx1"/>
                </a:solidFill>
                <a:ea typeface="+mn-ea"/>
                <a:cs typeface="+mn-cs"/>
              </a:rPr>
              <a:t>The problem is not all comment or feedback will result in </a:t>
            </a:r>
            <a:r>
              <a:rPr lang="en-AU" sz="1200" i="1" kern="1200" dirty="0" smtClean="0">
                <a:solidFill>
                  <a:schemeClr val="tx1"/>
                </a:solidFill>
                <a:ea typeface="+mn-ea"/>
                <a:cs typeface="+mn-cs"/>
              </a:rPr>
              <a:t>improvement</a:t>
            </a:r>
            <a:r>
              <a:rPr lang="en-AU" sz="1200" kern="1200" dirty="0" smtClean="0">
                <a:solidFill>
                  <a:schemeClr val="tx1"/>
                </a:solidFill>
                <a:ea typeface="+mn-ea"/>
                <a:cs typeface="+mn-cs"/>
              </a:rPr>
              <a:t> to what was originally prepared.</a:t>
            </a:r>
          </a:p>
          <a:p>
            <a:pPr marL="171450" indent="-171450">
              <a:buFont typeface="Arial" pitchFamily="34" charset="0"/>
              <a:buChar char="•"/>
            </a:pPr>
            <a:r>
              <a:rPr lang="en-AU" sz="1200" kern="1200" dirty="0" smtClean="0">
                <a:solidFill>
                  <a:schemeClr val="tx1"/>
                </a:solidFill>
                <a:ea typeface="+mn-ea"/>
                <a:cs typeface="+mn-cs"/>
              </a:rPr>
              <a:t>Many comments are simply ‘changes’ which do nothing to genuinely improve the end product and it is </a:t>
            </a:r>
            <a:r>
              <a:rPr lang="en-AU" sz="1200" i="1" kern="1200" dirty="0" smtClean="0">
                <a:solidFill>
                  <a:schemeClr val="tx1"/>
                </a:solidFill>
                <a:ea typeface="+mn-ea"/>
                <a:cs typeface="+mn-cs"/>
              </a:rPr>
              <a:t>improvement</a:t>
            </a:r>
            <a:r>
              <a:rPr lang="en-AU" sz="1200" kern="1200" dirty="0" smtClean="0">
                <a:solidFill>
                  <a:schemeClr val="tx1"/>
                </a:solidFill>
                <a:ea typeface="+mn-ea"/>
                <a:cs typeface="+mn-cs"/>
              </a:rPr>
              <a:t> to the final item that should be the guiding principle by which all contributions are made.</a:t>
            </a:r>
          </a:p>
          <a:p>
            <a:pPr marL="171450" indent="-171450">
              <a:buFont typeface="Arial" pitchFamily="34" charset="0"/>
              <a:buChar char="•"/>
            </a:pPr>
            <a:r>
              <a:rPr lang="en-AU" sz="1200" kern="1200" dirty="0" smtClean="0">
                <a:solidFill>
                  <a:schemeClr val="tx1"/>
                </a:solidFill>
                <a:ea typeface="+mn-ea"/>
                <a:cs typeface="+mn-cs"/>
              </a:rPr>
              <a:t>Change just for the sake of change should be ignored and avoided.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75</a:t>
            </a:fld>
            <a:endParaRPr lang="en-US" dirty="0"/>
          </a:p>
        </p:txBody>
      </p:sp>
    </p:spTree>
    <p:extLst>
      <p:ext uri="{BB962C8B-B14F-4D97-AF65-F5344CB8AC3E}">
        <p14:creationId xmlns:p14="http://schemas.microsoft.com/office/powerpoint/2010/main" val="343787595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notes the </a:t>
            </a:r>
            <a:r>
              <a:rPr lang="en-AU" sz="1200" kern="1200" dirty="0" smtClean="0">
                <a:solidFill>
                  <a:schemeClr val="tx1"/>
                </a:solidFill>
                <a:ea typeface="+mn-ea"/>
                <a:cs typeface="+mn-cs"/>
              </a:rPr>
              <a:t>draft materials (which should have been proof read) should be circulated to designated personnel as specified by a ‘Distribution List’ for these materials. This Distribution List can vary over time and change depending on the content and focus of various marketing items but will frequently contain require circulation of items to the following:</a:t>
            </a:r>
          </a:p>
          <a:p>
            <a:pPr marL="171450" indent="-171450">
              <a:buFont typeface="Arial" pitchFamily="34" charset="0"/>
              <a:buChar char="•"/>
            </a:pPr>
            <a:r>
              <a:rPr lang="en-AU" sz="1200" kern="1200" dirty="0" smtClean="0">
                <a:solidFill>
                  <a:schemeClr val="tx1"/>
                </a:solidFill>
                <a:ea typeface="+mn-ea"/>
                <a:cs typeface="+mn-cs"/>
              </a:rPr>
              <a:t>Management</a:t>
            </a:r>
          </a:p>
          <a:p>
            <a:pPr marL="171450" indent="-171450">
              <a:buFont typeface="Arial" pitchFamily="34" charset="0"/>
              <a:buChar char="•"/>
            </a:pPr>
            <a:r>
              <a:rPr lang="en-AU" sz="1200" kern="1200" dirty="0" smtClean="0">
                <a:solidFill>
                  <a:schemeClr val="tx1"/>
                </a:solidFill>
                <a:ea typeface="+mn-ea"/>
                <a:cs typeface="+mn-cs"/>
              </a:rPr>
              <a:t>Business and strategic partners</a:t>
            </a:r>
          </a:p>
          <a:p>
            <a:pPr marL="171450" indent="-171450">
              <a:buFont typeface="Arial" pitchFamily="34" charset="0"/>
              <a:buChar char="•"/>
            </a:pPr>
            <a:r>
              <a:rPr lang="en-AU" sz="1200" kern="1200" dirty="0" smtClean="0">
                <a:solidFill>
                  <a:schemeClr val="tx1"/>
                </a:solidFill>
                <a:ea typeface="+mn-ea"/>
                <a:cs typeface="+mn-cs"/>
              </a:rPr>
              <a:t>Agencies and sub-branches</a:t>
            </a:r>
          </a:p>
          <a:p>
            <a:pPr marL="171450" indent="-171450">
              <a:buFont typeface="Arial" pitchFamily="34" charset="0"/>
              <a:buChar char="•"/>
            </a:pPr>
            <a:r>
              <a:rPr lang="en-AU" sz="1200" kern="1200" dirty="0" smtClean="0">
                <a:solidFill>
                  <a:schemeClr val="tx1"/>
                </a:solidFill>
                <a:ea typeface="+mn-ea"/>
                <a:cs typeface="+mn-cs"/>
              </a:rPr>
              <a:t>Intermediaries who will be involved in promoting/selling the product/service being featured</a:t>
            </a:r>
          </a:p>
          <a:p>
            <a:pPr marL="171450" indent="-171450">
              <a:buFont typeface="Arial" pitchFamily="34" charset="0"/>
              <a:buChar char="•"/>
            </a:pPr>
            <a:r>
              <a:rPr lang="en-AU" sz="1200" kern="1200" dirty="0" smtClean="0">
                <a:solidFill>
                  <a:schemeClr val="tx1"/>
                </a:solidFill>
                <a:ea typeface="+mn-ea"/>
                <a:cs typeface="+mn-cs"/>
              </a:rPr>
              <a:t>Sales staff within the organisation</a:t>
            </a:r>
          </a:p>
          <a:p>
            <a:pPr marL="171450" indent="-171450">
              <a:buFont typeface="Arial" pitchFamily="34" charset="0"/>
              <a:buChar char="•"/>
            </a:pPr>
            <a:r>
              <a:rPr lang="en-AU" sz="1200" kern="1200" dirty="0" smtClean="0">
                <a:solidFill>
                  <a:schemeClr val="tx1"/>
                </a:solidFill>
                <a:ea typeface="+mn-ea"/>
                <a:cs typeface="+mn-cs"/>
              </a:rPr>
              <a:t>Accounts and financial department.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76</a:t>
            </a:fld>
            <a:endParaRPr lang="en-US" dirty="0"/>
          </a:p>
        </p:txBody>
      </p:sp>
    </p:spTree>
    <p:extLst>
      <p:ext uri="{BB962C8B-B14F-4D97-AF65-F5344CB8AC3E}">
        <p14:creationId xmlns:p14="http://schemas.microsoft.com/office/powerpoint/2010/main" val="81544073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Trainer highlights when </a:t>
            </a:r>
            <a:r>
              <a:rPr lang="en-AU" sz="1200" kern="1200" dirty="0" smtClean="0">
                <a:solidFill>
                  <a:schemeClr val="tx1"/>
                </a:solidFill>
                <a:ea typeface="+mn-ea"/>
                <a:cs typeface="+mn-cs"/>
              </a:rPr>
              <a:t>forwarding these items for comment it is necessary to:</a:t>
            </a:r>
          </a:p>
          <a:p>
            <a:pPr marL="171450" indent="-171450">
              <a:buFont typeface="Arial" pitchFamily="34" charset="0"/>
              <a:buChar char="•"/>
            </a:pPr>
            <a:r>
              <a:rPr lang="en-AU" sz="1200" kern="1200" dirty="0" smtClean="0">
                <a:solidFill>
                  <a:schemeClr val="tx1"/>
                </a:solidFill>
                <a:ea typeface="+mn-ea"/>
                <a:cs typeface="+mn-cs"/>
              </a:rPr>
              <a:t>Provide a </a:t>
            </a:r>
            <a:r>
              <a:rPr lang="en-AU" sz="1200" b="1" kern="1200" dirty="0" smtClean="0">
                <a:solidFill>
                  <a:schemeClr val="tx1"/>
                </a:solidFill>
                <a:ea typeface="+mn-ea"/>
                <a:cs typeface="+mn-cs"/>
              </a:rPr>
              <a:t>hard copy</a:t>
            </a:r>
            <a:r>
              <a:rPr lang="en-AU" sz="1200" kern="1200" dirty="0" smtClean="0">
                <a:solidFill>
                  <a:schemeClr val="tx1"/>
                </a:solidFill>
                <a:ea typeface="+mn-ea"/>
                <a:cs typeface="+mn-cs"/>
              </a:rPr>
              <a:t> mock-up – so readers get a genuine feel for the ‘real thing’ rather than asking them to provide feedback on an electronic /soft copy version. </a:t>
            </a:r>
          </a:p>
          <a:p>
            <a:pPr marL="628650" lvl="1" indent="-171450">
              <a:buFont typeface="Arial" pitchFamily="34" charset="0"/>
              <a:buChar char="•"/>
            </a:pPr>
            <a:r>
              <a:rPr lang="en-AU" sz="1200" kern="1200" dirty="0" smtClean="0">
                <a:solidFill>
                  <a:schemeClr val="tx1"/>
                </a:solidFill>
                <a:ea typeface="+mn-ea"/>
                <a:cs typeface="+mn-cs"/>
              </a:rPr>
              <a:t>Nothing replaces the presence of an </a:t>
            </a:r>
            <a:r>
              <a:rPr lang="en-AU" sz="1200" i="1" kern="1200" dirty="0" smtClean="0">
                <a:solidFill>
                  <a:schemeClr val="tx1"/>
                </a:solidFill>
                <a:ea typeface="+mn-ea"/>
                <a:cs typeface="+mn-cs"/>
              </a:rPr>
              <a:t>actual</a:t>
            </a:r>
            <a:r>
              <a:rPr lang="en-AU" sz="1200" kern="1200" dirty="0" smtClean="0">
                <a:solidFill>
                  <a:schemeClr val="tx1"/>
                </a:solidFill>
                <a:ea typeface="+mn-ea"/>
                <a:cs typeface="+mn-cs"/>
              </a:rPr>
              <a:t> document/item to provide realism and generate responses</a:t>
            </a:r>
          </a:p>
          <a:p>
            <a:pPr marL="171450" indent="-171450">
              <a:buFont typeface="Arial" pitchFamily="34" charset="0"/>
              <a:buChar char="•"/>
            </a:pPr>
            <a:r>
              <a:rPr lang="en-AU" sz="1200" kern="1200" dirty="0" smtClean="0">
                <a:solidFill>
                  <a:schemeClr val="tx1"/>
                </a:solidFill>
                <a:ea typeface="+mn-ea"/>
                <a:cs typeface="+mn-cs"/>
              </a:rPr>
              <a:t>Give the context for the item – that is:</a:t>
            </a:r>
          </a:p>
          <a:p>
            <a:pPr marL="628650" lvl="1" indent="-171450">
              <a:buFont typeface="Arial" pitchFamily="34" charset="0"/>
              <a:buChar char="•"/>
            </a:pPr>
            <a:r>
              <a:rPr lang="en-US" sz="1200" kern="1200" dirty="0" smtClean="0">
                <a:solidFill>
                  <a:schemeClr val="tx1"/>
                </a:solidFill>
                <a:ea typeface="+mn-ea"/>
                <a:cs typeface="+mn-cs"/>
              </a:rPr>
              <a:t>Advise those on the List of the focus and intent of the sales/marketing campaign that the item is part of</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Identify the target market/s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Tell them of the objectives and targets it is hoped will be achieved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Give them relevant start and finish dates for promotions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Explain when, how and where the item will be used as a marketing tool</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Indicate the costs involved in relation to development/production of the item and other associated costs (which will differ according to the type of item but may [for example] include distribution costs, cost of buying advertising space)</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Background the development process – by:</a:t>
            </a:r>
          </a:p>
          <a:p>
            <a:pPr marL="628650" lvl="1" indent="-171450">
              <a:buFont typeface="Arial" pitchFamily="34" charset="0"/>
              <a:buChar char="•"/>
            </a:pPr>
            <a:r>
              <a:rPr lang="en-US" sz="1200" kern="1200" dirty="0" smtClean="0">
                <a:solidFill>
                  <a:schemeClr val="tx1"/>
                </a:solidFill>
                <a:ea typeface="+mn-ea"/>
                <a:cs typeface="+mn-cs"/>
              </a:rPr>
              <a:t>Giving the rationale behind the item and/or the content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Naming those involved in the development process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Referencing research undertaken which underpins the tactics/content of the item</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Explain how comments need to be made – for example:</a:t>
            </a:r>
          </a:p>
          <a:p>
            <a:pPr marL="628650" lvl="1" indent="-171450">
              <a:buFont typeface="Arial" pitchFamily="34" charset="0"/>
              <a:buChar char="•"/>
            </a:pPr>
            <a:r>
              <a:rPr lang="en-US" sz="1200" kern="1200" dirty="0" smtClean="0">
                <a:solidFill>
                  <a:schemeClr val="tx1"/>
                </a:solidFill>
                <a:ea typeface="+mn-ea"/>
                <a:cs typeface="+mn-cs"/>
              </a:rPr>
              <a:t>“Mark-up the included hard copy”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“Send suggestions for change by email to me by 4:00PM on XX/XX/2017”</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“Attend the Marketing meeting at 2:30 XX/XX/2017 in the Board Room to provide your feedback”</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Set a time and date for comments/feedback to be returned – never leave the time/date open-ended. People always perform better when given a deadline to meet!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77</a:t>
            </a:fld>
            <a:endParaRPr lang="en-US" dirty="0"/>
          </a:p>
        </p:txBody>
      </p:sp>
    </p:spTree>
    <p:extLst>
      <p:ext uri="{BB962C8B-B14F-4D97-AF65-F5344CB8AC3E}">
        <p14:creationId xmlns:p14="http://schemas.microsoft.com/office/powerpoint/2010/main" val="3969913308"/>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a:t>
            </a:r>
            <a:r>
              <a:rPr lang="en-AU" sz="1200" kern="1200" dirty="0" smtClean="0">
                <a:solidFill>
                  <a:schemeClr val="tx1"/>
                </a:solidFill>
                <a:ea typeface="+mn-ea"/>
                <a:cs typeface="+mn-cs"/>
              </a:rPr>
              <a:t>it needs to be stressed:</a:t>
            </a:r>
          </a:p>
          <a:p>
            <a:pPr marL="171450" indent="-171450">
              <a:buFont typeface="Arial" pitchFamily="34" charset="0"/>
              <a:buChar char="•"/>
            </a:pPr>
            <a:r>
              <a:rPr lang="en-AU" sz="1200" kern="1200" dirty="0" smtClean="0">
                <a:solidFill>
                  <a:schemeClr val="tx1"/>
                </a:solidFill>
                <a:ea typeface="+mn-ea"/>
                <a:cs typeface="+mn-cs"/>
              </a:rPr>
              <a:t>That at this stage most of the details contained in these marketing materials are deemed to be commercial-in-confidence.</a:t>
            </a:r>
          </a:p>
          <a:p>
            <a:pPr marL="171450" indent="-171450">
              <a:buFont typeface="Arial" pitchFamily="34" charset="0"/>
              <a:buChar char="•"/>
            </a:pPr>
            <a:r>
              <a:rPr lang="en-AU" sz="1200" kern="1200" dirty="0" smtClean="0">
                <a:solidFill>
                  <a:schemeClr val="tx1"/>
                </a:solidFill>
                <a:ea typeface="+mn-ea"/>
                <a:cs typeface="+mn-cs"/>
              </a:rPr>
              <a:t>This means they are private/secret and should not be revealed to anyone outside the organisation/outside the Distribution List.</a:t>
            </a:r>
          </a:p>
          <a:p>
            <a:pPr marL="171450" indent="-171450">
              <a:buFont typeface="Arial" pitchFamily="34" charset="0"/>
              <a:buChar char="•"/>
            </a:pPr>
            <a:r>
              <a:rPr lang="en-AU" sz="1200" kern="1200" dirty="0" smtClean="0">
                <a:solidFill>
                  <a:schemeClr val="tx1"/>
                </a:solidFill>
                <a:ea typeface="+mn-ea"/>
                <a:cs typeface="+mn-cs"/>
              </a:rPr>
              <a:t>While the marketing materials/items will eventually be released to the public, </a:t>
            </a:r>
            <a:r>
              <a:rPr lang="en-AU" sz="1200" b="1" kern="1200" dirty="0" smtClean="0">
                <a:solidFill>
                  <a:schemeClr val="tx1"/>
                </a:solidFill>
                <a:ea typeface="+mn-ea"/>
                <a:cs typeface="+mn-cs"/>
              </a:rPr>
              <a:t>at this point</a:t>
            </a:r>
            <a:r>
              <a:rPr lang="en-AU" sz="1200" kern="1200" dirty="0" smtClean="0">
                <a:solidFill>
                  <a:schemeClr val="tx1"/>
                </a:solidFill>
                <a:ea typeface="+mn-ea"/>
                <a:cs typeface="+mn-cs"/>
              </a:rPr>
              <a:t> they are commercial-in-confidence and it is vital to remember this.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78</a:t>
            </a:fld>
            <a:endParaRPr lang="en-US" dirty="0"/>
          </a:p>
        </p:txBody>
      </p:sp>
    </p:spTree>
    <p:extLst>
      <p:ext uri="{BB962C8B-B14F-4D97-AF65-F5344CB8AC3E}">
        <p14:creationId xmlns:p14="http://schemas.microsoft.com/office/powerpoint/2010/main" val="299909100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this </a:t>
            </a:r>
            <a:r>
              <a:rPr lang="en-AU" sz="1200" kern="1200" dirty="0" smtClean="0">
                <a:solidFill>
                  <a:schemeClr val="tx1"/>
                </a:solidFill>
                <a:ea typeface="+mn-ea"/>
                <a:cs typeface="+mn-cs"/>
              </a:rPr>
              <a:t>stage of the process is extremely important because the final product produced as a result of this step:</a:t>
            </a:r>
          </a:p>
          <a:p>
            <a:pPr marL="171450" indent="-171450">
              <a:buFont typeface="Arial" pitchFamily="34" charset="0"/>
              <a:buChar char="•"/>
            </a:pPr>
            <a:r>
              <a:rPr lang="en-AU" sz="1200" kern="1200" dirty="0" smtClean="0">
                <a:solidFill>
                  <a:schemeClr val="tx1"/>
                </a:solidFill>
                <a:ea typeface="+mn-ea"/>
                <a:cs typeface="+mn-cs"/>
              </a:rPr>
              <a:t>Will be the one sent to the printer/provider for a quotation</a:t>
            </a:r>
          </a:p>
          <a:p>
            <a:pPr marL="171450" indent="-171450">
              <a:buFont typeface="Arial" pitchFamily="34" charset="0"/>
              <a:buChar char="•"/>
            </a:pPr>
            <a:r>
              <a:rPr lang="en-AU" sz="1200" kern="1200" dirty="0" smtClean="0">
                <a:solidFill>
                  <a:schemeClr val="tx1"/>
                </a:solidFill>
                <a:ea typeface="+mn-ea"/>
                <a:cs typeface="+mn-cs"/>
              </a:rPr>
              <a:t>Will represent what the organisation wants to say publicly to its various target markets</a:t>
            </a:r>
          </a:p>
          <a:p>
            <a:pPr marL="171450" indent="-171450">
              <a:buFont typeface="Arial" pitchFamily="34" charset="0"/>
              <a:buChar char="•"/>
            </a:pPr>
            <a:r>
              <a:rPr lang="en-AU" sz="1200" kern="1200" dirty="0" smtClean="0">
                <a:solidFill>
                  <a:schemeClr val="tx1"/>
                </a:solidFill>
                <a:ea typeface="+mn-ea"/>
                <a:cs typeface="+mn-cs"/>
              </a:rPr>
              <a:t>Is potentially legally binding on the business</a:t>
            </a:r>
          </a:p>
          <a:p>
            <a:pPr marL="171450" indent="-171450">
              <a:buFont typeface="Arial" pitchFamily="34" charset="0"/>
              <a:buChar char="•"/>
            </a:pPr>
            <a:r>
              <a:rPr lang="en-AU" sz="1200" kern="1200" dirty="0" smtClean="0">
                <a:solidFill>
                  <a:schemeClr val="tx1"/>
                </a:solidFill>
                <a:ea typeface="+mn-ea"/>
                <a:cs typeface="+mn-cs"/>
              </a:rPr>
              <a:t>Creates the foundation for future sales</a:t>
            </a:r>
          </a:p>
          <a:p>
            <a:pPr marL="171450" indent="-171450">
              <a:buFont typeface="Arial" pitchFamily="34" charset="0"/>
              <a:buChar char="•"/>
            </a:pPr>
            <a:r>
              <a:rPr lang="en-AU" sz="1200" kern="1200" dirty="0" smtClean="0">
                <a:solidFill>
                  <a:schemeClr val="tx1"/>
                </a:solidFill>
                <a:ea typeface="+mn-ea"/>
                <a:cs typeface="+mn-cs"/>
              </a:rPr>
              <a:t>Represents and reinforces the brand and image of the company</a:t>
            </a:r>
          </a:p>
          <a:p>
            <a:pPr marL="171450" indent="-171450">
              <a:buFont typeface="Arial" pitchFamily="34" charset="0"/>
              <a:buChar char="•"/>
            </a:pPr>
            <a:r>
              <a:rPr lang="en-AU" sz="1200" kern="1200" dirty="0" smtClean="0">
                <a:solidFill>
                  <a:schemeClr val="tx1"/>
                </a:solidFill>
                <a:ea typeface="+mn-ea"/>
                <a:cs typeface="+mn-cs"/>
              </a:rPr>
              <a:t>Is likely to cost the organisation significant money to produce – so it needs to be right.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79</a:t>
            </a:fld>
            <a:endParaRPr lang="en-US" dirty="0"/>
          </a:p>
        </p:txBody>
      </p:sp>
    </p:spTree>
    <p:extLst>
      <p:ext uri="{BB962C8B-B14F-4D97-AF65-F5344CB8AC3E}">
        <p14:creationId xmlns:p14="http://schemas.microsoft.com/office/powerpoint/2010/main" val="68513491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explains that given </a:t>
            </a:r>
            <a:r>
              <a:rPr lang="en-AU" sz="1200" kern="1200" dirty="0" smtClean="0">
                <a:solidFill>
                  <a:schemeClr val="tx1"/>
                </a:solidFill>
                <a:ea typeface="+mn-ea"/>
                <a:cs typeface="+mn-cs"/>
              </a:rPr>
              <a:t>the production of the </a:t>
            </a:r>
            <a:r>
              <a:rPr lang="en-AU" sz="1200" i="1" kern="1200" dirty="0" smtClean="0">
                <a:solidFill>
                  <a:schemeClr val="tx1"/>
                </a:solidFill>
                <a:ea typeface="+mn-ea"/>
                <a:cs typeface="+mn-cs"/>
              </a:rPr>
              <a:t>original</a:t>
            </a:r>
            <a:r>
              <a:rPr lang="en-AU" sz="1200" kern="1200" dirty="0" smtClean="0">
                <a:solidFill>
                  <a:schemeClr val="tx1"/>
                </a:solidFill>
                <a:ea typeface="+mn-ea"/>
                <a:cs typeface="+mn-cs"/>
              </a:rPr>
              <a:t> item is the result of much thought and deliberation, alterations should only be made:</a:t>
            </a:r>
          </a:p>
          <a:p>
            <a:pPr marL="171450" indent="-171450">
              <a:buFont typeface="Arial" pitchFamily="34" charset="0"/>
              <a:buChar char="•"/>
            </a:pPr>
            <a:r>
              <a:rPr lang="en-AU" sz="1200" kern="1200" dirty="0" smtClean="0">
                <a:solidFill>
                  <a:schemeClr val="tx1"/>
                </a:solidFill>
                <a:ea typeface="+mn-ea"/>
                <a:cs typeface="+mn-cs"/>
              </a:rPr>
              <a:t>If there is an identified error – for example, in terms of:</a:t>
            </a:r>
          </a:p>
          <a:p>
            <a:pPr marL="628650" lvl="1" indent="-171450">
              <a:buFont typeface="Arial" pitchFamily="34" charset="0"/>
              <a:buChar char="•"/>
            </a:pPr>
            <a:r>
              <a:rPr lang="en-US" sz="1200" kern="1200" dirty="0" smtClean="0">
                <a:solidFill>
                  <a:schemeClr val="tx1"/>
                </a:solidFill>
                <a:ea typeface="+mn-ea"/>
                <a:cs typeface="+mn-cs"/>
              </a:rPr>
              <a:t>Costs, prices, dates, times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Destinations, activities, inclusions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Facts and figures, advice and information provided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If an major point has been omitted – which may relate to:</a:t>
            </a:r>
          </a:p>
          <a:p>
            <a:pPr marL="628650" lvl="1" indent="-171450">
              <a:buFont typeface="Arial" pitchFamily="34" charset="0"/>
              <a:buChar char="•"/>
            </a:pPr>
            <a:r>
              <a:rPr lang="en-US" sz="1200" kern="1200" dirty="0" smtClean="0">
                <a:solidFill>
                  <a:schemeClr val="tx1"/>
                </a:solidFill>
                <a:ea typeface="+mn-ea"/>
                <a:cs typeface="+mn-cs"/>
              </a:rPr>
              <a:t>How to make a booking or the need to pay a deposit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Limited vacancies/opportunities/seats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 piece of legal advice/information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 unique/important selling point</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If something has changed in the time between production of the draft and ‘now’ – such as:</a:t>
            </a:r>
          </a:p>
          <a:p>
            <a:pPr marL="628650" lvl="1" indent="-171450">
              <a:buFont typeface="Arial" pitchFamily="34" charset="0"/>
              <a:buChar char="•"/>
            </a:pPr>
            <a:r>
              <a:rPr lang="en-US" sz="1200" kern="1200" dirty="0" smtClean="0">
                <a:solidFill>
                  <a:schemeClr val="tx1"/>
                </a:solidFill>
                <a:ea typeface="+mn-ea"/>
                <a:cs typeface="+mn-cs"/>
              </a:rPr>
              <a:t>A new tax has been introduced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 tax rate for a service has changed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Legislation impacting the product/service has been introduced or amended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Political or other factors have arisen which impact the trip/tour/product/service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If someone can present a compelling argument there needs to be change – which can be based on factors such as. </a:t>
            </a:r>
          </a:p>
          <a:p>
            <a:pPr marL="628650" lvl="1" indent="-171450">
              <a:buFont typeface="Arial" pitchFamily="34" charset="0"/>
              <a:buChar char="•"/>
            </a:pPr>
            <a:r>
              <a:rPr lang="en-US" sz="1200" kern="1200" dirty="0" smtClean="0">
                <a:solidFill>
                  <a:schemeClr val="tx1"/>
                </a:solidFill>
                <a:ea typeface="+mn-ea"/>
                <a:cs typeface="+mn-cs"/>
              </a:rPr>
              <a:t>New market research findings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New information about what the opposition are doing in relation to their promotion/marketing</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Emergence of a new market.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80</a:t>
            </a:fld>
            <a:endParaRPr lang="en-US" dirty="0"/>
          </a:p>
        </p:txBody>
      </p:sp>
    </p:spTree>
    <p:extLst>
      <p:ext uri="{BB962C8B-B14F-4D97-AF65-F5344CB8AC3E}">
        <p14:creationId xmlns:p14="http://schemas.microsoft.com/office/powerpoint/2010/main" val="2157480736"/>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the </a:t>
            </a:r>
            <a:r>
              <a:rPr lang="en-AU" sz="1200" kern="1200" dirty="0" smtClean="0">
                <a:solidFill>
                  <a:schemeClr val="tx1"/>
                </a:solidFill>
                <a:ea typeface="+mn-ea"/>
                <a:cs typeface="+mn-cs"/>
              </a:rPr>
              <a:t>following are essentials when revising materials: </a:t>
            </a:r>
          </a:p>
          <a:p>
            <a:pPr marL="171450" indent="-171450">
              <a:buFont typeface="Arial" pitchFamily="34" charset="0"/>
              <a:buChar char="•"/>
            </a:pPr>
            <a:r>
              <a:rPr lang="en-AU" sz="1200" kern="1200" dirty="0" smtClean="0">
                <a:solidFill>
                  <a:schemeClr val="tx1"/>
                </a:solidFill>
                <a:ea typeface="+mn-ea"/>
                <a:cs typeface="+mn-cs"/>
              </a:rPr>
              <a:t>There should be a face-to-face meeting of the stakeholders – this is the best way to deal with this stage of proceedings</a:t>
            </a:r>
          </a:p>
          <a:p>
            <a:pPr marL="171450" indent="-171450">
              <a:buFont typeface="Arial" pitchFamily="34" charset="0"/>
              <a:buChar char="•"/>
            </a:pPr>
            <a:r>
              <a:rPr lang="en-AU" sz="1200" kern="1200" dirty="0" smtClean="0">
                <a:solidFill>
                  <a:schemeClr val="tx1"/>
                </a:solidFill>
                <a:ea typeface="+mn-ea"/>
                <a:cs typeface="+mn-cs"/>
              </a:rPr>
              <a:t>Everyone should have an opportunity to present their case for change – and explain, defend and justify it</a:t>
            </a:r>
          </a:p>
          <a:p>
            <a:pPr marL="171450" indent="-171450">
              <a:buFont typeface="Arial" pitchFamily="34" charset="0"/>
              <a:buChar char="•"/>
            </a:pPr>
            <a:r>
              <a:rPr lang="en-AU" sz="1200" kern="1200" dirty="0" smtClean="0">
                <a:solidFill>
                  <a:schemeClr val="tx1"/>
                </a:solidFill>
                <a:ea typeface="+mn-ea"/>
                <a:cs typeface="+mn-cs"/>
              </a:rPr>
              <a:t>No idea/suggestion should be ignored – this does not mean all ideas have to be accepted; it just means if someone believes they have a valid point to raise it should (at least) be aired and listened to even if it is subsequently dismissed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81</a:t>
            </a:fld>
            <a:endParaRPr lang="en-US" dirty="0"/>
          </a:p>
        </p:txBody>
      </p:sp>
    </p:spTree>
    <p:extLst>
      <p:ext uri="{BB962C8B-B14F-4D97-AF65-F5344CB8AC3E}">
        <p14:creationId xmlns:p14="http://schemas.microsoft.com/office/powerpoint/2010/main" val="3128200026"/>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identifying </a:t>
            </a:r>
            <a:r>
              <a:rPr lang="en-AU" sz="1200" kern="1200" dirty="0" smtClean="0">
                <a:solidFill>
                  <a:schemeClr val="tx1"/>
                </a:solidFill>
                <a:ea typeface="+mn-ea"/>
                <a:cs typeface="+mn-cs"/>
              </a:rPr>
              <a:t>essentials when revising materials: </a:t>
            </a:r>
          </a:p>
          <a:p>
            <a:pPr marL="171450" indent="-171450">
              <a:buFont typeface="Arial" pitchFamily="34" charset="0"/>
              <a:buChar char="•"/>
            </a:pPr>
            <a:r>
              <a:rPr lang="en-AU" sz="1200" kern="1200" dirty="0" smtClean="0">
                <a:solidFill>
                  <a:schemeClr val="tx1"/>
                </a:solidFill>
                <a:ea typeface="+mn-ea"/>
                <a:cs typeface="+mn-cs"/>
              </a:rPr>
              <a:t>Agreed suggestions for revisions need to be undertaken, circulated and considered in the same way the original item was – there needs to be another ‘review’ process of the revised draft material/item</a:t>
            </a:r>
          </a:p>
          <a:p>
            <a:pPr marL="171450" indent="-171450">
              <a:buFont typeface="Arial" pitchFamily="34" charset="0"/>
              <a:buChar char="•"/>
            </a:pPr>
            <a:r>
              <a:rPr lang="en-AU" sz="1200" kern="1200" dirty="0" smtClean="0">
                <a:solidFill>
                  <a:schemeClr val="tx1"/>
                </a:solidFill>
                <a:ea typeface="+mn-ea"/>
                <a:cs typeface="+mn-cs"/>
              </a:rPr>
              <a:t>There can be a need to revise the revisions – there is no guarantee the revised version will be the final version: there can be a need for several draft versions to be created before the approved final version is developed</a:t>
            </a:r>
          </a:p>
          <a:p>
            <a:pPr marL="171450" indent="-171450">
              <a:buFont typeface="Arial" pitchFamily="34" charset="0"/>
              <a:buChar char="•"/>
            </a:pPr>
            <a:r>
              <a:rPr lang="en-AU" sz="1200" kern="1200" dirty="0" smtClean="0">
                <a:solidFill>
                  <a:schemeClr val="tx1"/>
                </a:solidFill>
                <a:ea typeface="+mn-ea"/>
                <a:cs typeface="+mn-cs"/>
              </a:rPr>
              <a:t>The final approved version needs to be signed off by management – as authorising the item for further action/production and release.</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82</a:t>
            </a:fld>
            <a:endParaRPr lang="en-US" dirty="0"/>
          </a:p>
        </p:txBody>
      </p:sp>
    </p:spTree>
    <p:extLst>
      <p:ext uri="{BB962C8B-B14F-4D97-AF65-F5344CB8AC3E}">
        <p14:creationId xmlns:p14="http://schemas.microsoft.com/office/powerpoint/2010/main" val="38836876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83</a:t>
            </a:fld>
            <a:endParaRPr lang="en-US" dirty="0"/>
          </a:p>
        </p:txBody>
      </p:sp>
    </p:spTree>
    <p:extLst>
      <p:ext uri="{BB962C8B-B14F-4D97-AF65-F5344CB8AC3E}">
        <p14:creationId xmlns:p14="http://schemas.microsoft.com/office/powerpoint/2010/main" val="102656946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84</a:t>
            </a:fld>
            <a:endParaRPr lang="en-US" dirty="0"/>
          </a:p>
        </p:txBody>
      </p:sp>
    </p:spTree>
    <p:extLst>
      <p:ext uri="{BB962C8B-B14F-4D97-AF65-F5344CB8AC3E}">
        <p14:creationId xmlns:p14="http://schemas.microsoft.com/office/powerpoint/2010/main" val="113323565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85</a:t>
            </a:fld>
            <a:endParaRPr lang="en-US" dirty="0"/>
          </a:p>
        </p:txBody>
      </p:sp>
    </p:spTree>
    <p:extLst>
      <p:ext uri="{BB962C8B-B14F-4D97-AF65-F5344CB8AC3E}">
        <p14:creationId xmlns:p14="http://schemas.microsoft.com/office/powerpoint/2010/main" val="15711024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sz="1200" kern="1200" baseline="0" dirty="0" smtClean="0">
                <a:solidFill>
                  <a:schemeClr val="tx1"/>
                </a:solidFill>
                <a:ea typeface="+mn-ea"/>
                <a:cs typeface="+mn-cs"/>
              </a:rPr>
              <a:t>What might be included in specifications of work to be done in relation to the production of brochures and marketing materials?</a:t>
            </a:r>
          </a:p>
          <a:p>
            <a:pPr marL="171450" indent="-171450">
              <a:buFont typeface="Arial" pitchFamily="34" charset="0"/>
              <a:buChar char="•"/>
            </a:pPr>
            <a:r>
              <a:rPr lang="en-US" sz="1200" kern="1200" baseline="0" dirty="0" smtClean="0">
                <a:solidFill>
                  <a:schemeClr val="tx1"/>
                </a:solidFill>
                <a:ea typeface="+mn-ea"/>
                <a:cs typeface="+mn-cs"/>
              </a:rPr>
              <a:t>What are quotations?</a:t>
            </a:r>
          </a:p>
          <a:p>
            <a:pPr marL="171450" indent="-171450">
              <a:buFont typeface="Arial" pitchFamily="34" charset="0"/>
              <a:buChar char="•"/>
            </a:pPr>
            <a:r>
              <a:rPr lang="en-US" sz="1200" kern="1200" baseline="0" dirty="0" smtClean="0">
                <a:solidFill>
                  <a:schemeClr val="tx1"/>
                </a:solidFill>
                <a:ea typeface="+mn-ea"/>
                <a:cs typeface="+mn-cs"/>
              </a:rPr>
              <a:t>Why are they obtained?</a:t>
            </a:r>
          </a:p>
          <a:p>
            <a:pPr marL="171450" indent="-171450">
              <a:buFont typeface="Arial" pitchFamily="34" charset="0"/>
              <a:buChar char="•"/>
            </a:pPr>
            <a:r>
              <a:rPr lang="en-US" sz="1200" kern="1200" baseline="0" dirty="0" smtClean="0">
                <a:solidFill>
                  <a:schemeClr val="tx1"/>
                </a:solidFill>
                <a:ea typeface="+mn-ea"/>
                <a:cs typeface="+mn-cs"/>
              </a:rPr>
              <a:t>How are they obtained?</a:t>
            </a:r>
          </a:p>
          <a:p>
            <a:pPr>
              <a:buFont typeface="Arial" pitchFamily="34" charset="0"/>
              <a:buChar char="•"/>
            </a:pPr>
            <a:endParaRPr lang="en-AU" sz="1200" kern="1200" baseline="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86</a:t>
            </a:fld>
            <a:endParaRPr lang="en-US" dirty="0"/>
          </a:p>
        </p:txBody>
      </p:sp>
    </p:spTree>
    <p:extLst>
      <p:ext uri="{BB962C8B-B14F-4D97-AF65-F5344CB8AC3E}">
        <p14:creationId xmlns:p14="http://schemas.microsoft.com/office/powerpoint/2010/main" val="2427154795"/>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Trainers </a:t>
            </a:r>
            <a:r>
              <a:rPr lang="en-AU" sz="1200" kern="1200" dirty="0" smtClean="0">
                <a:solidFill>
                  <a:schemeClr val="tx1"/>
                </a:solidFill>
                <a:ea typeface="+mn-ea"/>
                <a:cs typeface="+mn-cs"/>
              </a:rPr>
              <a:t>states there is a need to meet and discuss the requirements for the final production of brochures and marketing materials with providers in order to:</a:t>
            </a:r>
          </a:p>
          <a:p>
            <a:pPr marL="171450" indent="-171450">
              <a:buFont typeface="Arial" pitchFamily="34" charset="0"/>
              <a:buChar char="•"/>
            </a:pPr>
            <a:r>
              <a:rPr lang="en-AU" sz="1200" kern="1200" dirty="0" smtClean="0">
                <a:solidFill>
                  <a:schemeClr val="tx1"/>
                </a:solidFill>
                <a:ea typeface="+mn-ea"/>
                <a:cs typeface="+mn-cs"/>
              </a:rPr>
              <a:t>Determine who/which businesses are available to provide the goods and services required</a:t>
            </a:r>
          </a:p>
          <a:p>
            <a:pPr marL="171450" indent="-171450">
              <a:buFont typeface="Arial" pitchFamily="34" charset="0"/>
              <a:buChar char="•"/>
            </a:pPr>
            <a:r>
              <a:rPr lang="en-AU" sz="1200" kern="1200" dirty="0" smtClean="0">
                <a:solidFill>
                  <a:schemeClr val="tx1"/>
                </a:solidFill>
                <a:ea typeface="+mn-ea"/>
                <a:cs typeface="+mn-cs"/>
              </a:rPr>
              <a:t>Assess the experience of third party providers in producing what is needed for other similar organisations</a:t>
            </a:r>
          </a:p>
          <a:p>
            <a:pPr marL="171450" indent="-171450">
              <a:buFont typeface="Arial" pitchFamily="34" charset="0"/>
              <a:buChar char="•"/>
            </a:pPr>
            <a:r>
              <a:rPr lang="en-AU" sz="1200" kern="1200" dirty="0" smtClean="0">
                <a:solidFill>
                  <a:schemeClr val="tx1"/>
                </a:solidFill>
                <a:ea typeface="+mn-ea"/>
                <a:cs typeface="+mn-cs"/>
              </a:rPr>
              <a:t>Evaluate the options available to the organisation – the options may be local or international and there may be an internal/organisational requirement to focus on the use of (only) ‘preferred providers.</a:t>
            </a:r>
          </a:p>
          <a:p>
            <a:pPr marL="171450" indent="-171450">
              <a:buFont typeface="Arial" pitchFamily="34" charset="0"/>
              <a:buChar char="•"/>
            </a:pPr>
            <a:r>
              <a:rPr lang="en-AU" sz="1200" kern="1200" dirty="0" smtClean="0">
                <a:solidFill>
                  <a:schemeClr val="tx1"/>
                </a:solidFill>
                <a:ea typeface="+mn-ea"/>
                <a:cs typeface="+mn-cs"/>
              </a:rPr>
              <a:t>Investigate the timelines applicable to the production of what is required</a:t>
            </a:r>
          </a:p>
          <a:p>
            <a:pPr marL="171450" indent="-171450">
              <a:buFont typeface="Arial" pitchFamily="34" charset="0"/>
              <a:buChar char="•"/>
            </a:pPr>
            <a:r>
              <a:rPr lang="en-AU" sz="1200" kern="1200" dirty="0" smtClean="0">
                <a:solidFill>
                  <a:schemeClr val="tx1"/>
                </a:solidFill>
                <a:ea typeface="+mn-ea"/>
                <a:cs typeface="+mn-cs"/>
              </a:rPr>
              <a:t>Identify specifically the particular services which each potential provider can supply</a:t>
            </a:r>
          </a:p>
          <a:p>
            <a:pPr marL="171450" indent="-171450">
              <a:buFont typeface="Arial" pitchFamily="34" charset="0"/>
              <a:buChar char="•"/>
            </a:pPr>
            <a:r>
              <a:rPr lang="en-AU" sz="1200" kern="1200" dirty="0" smtClean="0">
                <a:solidFill>
                  <a:schemeClr val="tx1"/>
                </a:solidFill>
                <a:ea typeface="+mn-ea"/>
                <a:cs typeface="+mn-cs"/>
              </a:rPr>
              <a:t>Initiate discussions which will form the basis of obtaining a formal quotation for the work to be done – see next section. </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87</a:t>
            </a:fld>
            <a:endParaRPr lang="en-US" dirty="0"/>
          </a:p>
        </p:txBody>
      </p:sp>
    </p:spTree>
    <p:extLst>
      <p:ext uri="{BB962C8B-B14F-4D97-AF65-F5344CB8AC3E}">
        <p14:creationId xmlns:p14="http://schemas.microsoft.com/office/powerpoint/2010/main" val="161812494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a:t>
            </a:r>
          </a:p>
          <a:p>
            <a:pPr marL="171450" indent="-171450">
              <a:buFont typeface="Arial" panose="020B0604020202020204" pitchFamily="34" charset="0"/>
              <a:buChar char="•"/>
            </a:pPr>
            <a:r>
              <a:rPr lang="en-AU" sz="1200" kern="1200" dirty="0" smtClean="0">
                <a:solidFill>
                  <a:schemeClr val="tx1"/>
                </a:solidFill>
                <a:ea typeface="+mn-ea"/>
                <a:cs typeface="+mn-cs"/>
              </a:rPr>
              <a:t>Many (but certainly not all) organisations have a ‘preferred providers’ (or ‘preferred suppliers’)  list.</a:t>
            </a:r>
          </a:p>
          <a:p>
            <a:pPr marL="171450" indent="-171450">
              <a:buFont typeface="Arial" panose="020B0604020202020204" pitchFamily="34" charset="0"/>
              <a:buChar char="•"/>
            </a:pPr>
            <a:r>
              <a:rPr lang="en-AU" sz="1200" kern="1200" dirty="0" smtClean="0">
                <a:solidFill>
                  <a:schemeClr val="tx1"/>
                </a:solidFill>
                <a:ea typeface="+mn-ea"/>
                <a:cs typeface="+mn-cs"/>
              </a:rPr>
              <a:t>Companies on this list are providers the organisation prefers to do business with and the expectation is these are the businesses to be dealt with when producing marketing brochures/materials.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88</a:t>
            </a:fld>
            <a:endParaRPr lang="en-US" dirty="0"/>
          </a:p>
        </p:txBody>
      </p:sp>
    </p:spTree>
    <p:extLst>
      <p:ext uri="{BB962C8B-B14F-4D97-AF65-F5344CB8AC3E}">
        <p14:creationId xmlns:p14="http://schemas.microsoft.com/office/powerpoint/2010/main" val="1549894887"/>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business </a:t>
            </a:r>
            <a:r>
              <a:rPr lang="en-AU" sz="1200" kern="1200" dirty="0" smtClean="0">
                <a:solidFill>
                  <a:schemeClr val="tx1"/>
                </a:solidFill>
                <a:ea typeface="+mn-ea"/>
                <a:cs typeface="+mn-cs"/>
              </a:rPr>
              <a:t>on a preferred providers list have been chosen to be on the list as a result of various reasons such as:</a:t>
            </a:r>
          </a:p>
          <a:p>
            <a:pPr marL="171450" indent="-171450">
              <a:buFont typeface="Arial" pitchFamily="34" charset="0"/>
              <a:buChar char="•"/>
            </a:pPr>
            <a:r>
              <a:rPr lang="en-AU" sz="1200" kern="1200" dirty="0" smtClean="0">
                <a:solidFill>
                  <a:schemeClr val="tx1"/>
                </a:solidFill>
                <a:ea typeface="+mn-ea"/>
                <a:cs typeface="+mn-cs"/>
              </a:rPr>
              <a:t>Their previous demonstrated ability to produce satisfactory work for the organisation</a:t>
            </a:r>
          </a:p>
          <a:p>
            <a:pPr marL="171450" indent="-171450">
              <a:buFont typeface="Arial" pitchFamily="34" charset="0"/>
              <a:buChar char="•"/>
            </a:pPr>
            <a:r>
              <a:rPr lang="en-AU" sz="1200" kern="1200" dirty="0" smtClean="0">
                <a:solidFill>
                  <a:schemeClr val="tx1"/>
                </a:solidFill>
                <a:ea typeface="+mn-ea"/>
                <a:cs typeface="+mn-cs"/>
              </a:rPr>
              <a:t>Their capacity to quote good prices</a:t>
            </a:r>
          </a:p>
          <a:p>
            <a:pPr marL="171450" indent="-171450">
              <a:buFont typeface="Arial" pitchFamily="34" charset="0"/>
              <a:buChar char="•"/>
            </a:pPr>
            <a:r>
              <a:rPr lang="en-AU" sz="1200" kern="1200" dirty="0" smtClean="0">
                <a:solidFill>
                  <a:schemeClr val="tx1"/>
                </a:solidFill>
                <a:ea typeface="+mn-ea"/>
                <a:cs typeface="+mn-cs"/>
              </a:rPr>
              <a:t>Their willingness to work with the organisation to produce what is required and meet imposed deadlines</a:t>
            </a:r>
          </a:p>
          <a:p>
            <a:pPr marL="171450" indent="-171450">
              <a:buFont typeface="Arial" pitchFamily="34" charset="0"/>
              <a:buChar char="•"/>
            </a:pPr>
            <a:r>
              <a:rPr lang="en-AU" sz="1200" kern="1200" dirty="0" smtClean="0">
                <a:solidFill>
                  <a:schemeClr val="tx1"/>
                </a:solidFill>
                <a:ea typeface="+mn-ea"/>
                <a:cs typeface="+mn-cs"/>
              </a:rPr>
              <a:t>Their ability to provide assistance in the development and/or post-production phases for brochures and other materials (such as distribution; securing advertising space or ‘exposure’)</a:t>
            </a:r>
          </a:p>
          <a:p>
            <a:pPr marL="171450" indent="-171450">
              <a:buFont typeface="Arial" pitchFamily="34" charset="0"/>
              <a:buChar char="•"/>
            </a:pPr>
            <a:r>
              <a:rPr lang="en-AU" sz="1200" kern="1200" dirty="0" smtClean="0">
                <a:solidFill>
                  <a:schemeClr val="tx1"/>
                </a:solidFill>
                <a:ea typeface="+mn-ea"/>
                <a:cs typeface="+mn-cs"/>
              </a:rPr>
              <a:t>Totality of services included in/as part of the quotation </a:t>
            </a:r>
          </a:p>
          <a:p>
            <a:pPr marL="171450" indent="-171450">
              <a:buFont typeface="Arial" pitchFamily="34" charset="0"/>
              <a:buChar char="•"/>
            </a:pPr>
            <a:r>
              <a:rPr lang="en-AU" sz="1200" kern="1200" dirty="0" smtClean="0">
                <a:solidFill>
                  <a:schemeClr val="tx1"/>
                </a:solidFill>
                <a:ea typeface="+mn-ea"/>
                <a:cs typeface="+mn-cs"/>
              </a:rPr>
              <a:t>Contra deals established by the business owner</a:t>
            </a:r>
          </a:p>
          <a:p>
            <a:pPr marL="171450" indent="-171450">
              <a:buFont typeface="Arial" pitchFamily="34" charset="0"/>
              <a:buChar char="•"/>
            </a:pPr>
            <a:r>
              <a:rPr lang="en-AU" sz="1200" kern="1200" dirty="0" smtClean="0">
                <a:solidFill>
                  <a:schemeClr val="tx1"/>
                </a:solidFill>
                <a:ea typeface="+mn-ea"/>
                <a:cs typeface="+mn-cs"/>
              </a:rPr>
              <a:t>Obligations imposed on the organisation by way of other contracts the business has entered into – which may oblige the company to use nominated businesses for certain services.</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89</a:t>
            </a:fld>
            <a:endParaRPr lang="en-US" dirty="0"/>
          </a:p>
        </p:txBody>
      </p:sp>
    </p:spTree>
    <p:extLst>
      <p:ext uri="{BB962C8B-B14F-4D97-AF65-F5344CB8AC3E}">
        <p14:creationId xmlns:p14="http://schemas.microsoft.com/office/powerpoint/2010/main" val="3009583554"/>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a:t>
            </a:r>
            <a:r>
              <a:rPr lang="en-AU" sz="1200" kern="1200" dirty="0" smtClean="0">
                <a:solidFill>
                  <a:schemeClr val="tx1"/>
                </a:solidFill>
                <a:ea typeface="+mn-ea"/>
                <a:cs typeface="+mn-cs"/>
              </a:rPr>
              <a:t>organisations who may be involved in this stage of the process there can be a need to consult internally and/or externally with:</a:t>
            </a:r>
          </a:p>
          <a:p>
            <a:pPr marL="171450" indent="-171450">
              <a:buFont typeface="Arial" pitchFamily="34" charset="0"/>
              <a:buChar char="•"/>
            </a:pPr>
            <a:r>
              <a:rPr lang="en-AU" sz="1200" kern="1200" dirty="0" smtClean="0">
                <a:solidFill>
                  <a:schemeClr val="tx1"/>
                </a:solidFill>
                <a:ea typeface="+mn-ea"/>
                <a:cs typeface="+mn-cs"/>
              </a:rPr>
              <a:t>Graphic artists</a:t>
            </a:r>
          </a:p>
          <a:p>
            <a:pPr marL="171450" indent="-171450">
              <a:buFont typeface="Arial" pitchFamily="34" charset="0"/>
              <a:buChar char="•"/>
            </a:pPr>
            <a:r>
              <a:rPr lang="en-AU" sz="1200" kern="1200" dirty="0" smtClean="0">
                <a:solidFill>
                  <a:schemeClr val="tx1"/>
                </a:solidFill>
                <a:ea typeface="+mn-ea"/>
                <a:cs typeface="+mn-cs"/>
              </a:rPr>
              <a:t>Graphic designers</a:t>
            </a:r>
          </a:p>
          <a:p>
            <a:pPr marL="171450" indent="-171450">
              <a:buFont typeface="Arial" pitchFamily="34" charset="0"/>
              <a:buChar char="•"/>
            </a:pPr>
            <a:r>
              <a:rPr lang="en-AU" sz="1200" kern="1200" dirty="0" smtClean="0">
                <a:solidFill>
                  <a:schemeClr val="tx1"/>
                </a:solidFill>
                <a:ea typeface="+mn-ea"/>
                <a:cs typeface="+mn-cs"/>
              </a:rPr>
              <a:t>Printers</a:t>
            </a:r>
          </a:p>
          <a:p>
            <a:pPr marL="171450" indent="-171450">
              <a:buFont typeface="Arial" pitchFamily="34" charset="0"/>
              <a:buChar char="•"/>
            </a:pPr>
            <a:r>
              <a:rPr lang="en-AU" sz="1200" kern="1200" dirty="0" smtClean="0">
                <a:solidFill>
                  <a:schemeClr val="tx1"/>
                </a:solidFill>
                <a:ea typeface="+mn-ea"/>
                <a:cs typeface="+mn-cs"/>
              </a:rPr>
              <a:t>Stock/paper suppliers</a:t>
            </a:r>
          </a:p>
          <a:p>
            <a:pPr marL="171450" indent="-171450">
              <a:buFont typeface="Arial" pitchFamily="34" charset="0"/>
              <a:buChar char="•"/>
            </a:pPr>
            <a:r>
              <a:rPr lang="en-AU" sz="1200" kern="1200" dirty="0" smtClean="0">
                <a:solidFill>
                  <a:schemeClr val="tx1"/>
                </a:solidFill>
                <a:ea typeface="+mn-ea"/>
                <a:cs typeface="+mn-cs"/>
              </a:rPr>
              <a:t>Colourists/colour coordinators</a:t>
            </a:r>
          </a:p>
          <a:p>
            <a:pPr marL="171450" indent="-171450">
              <a:buFont typeface="Arial" pitchFamily="34" charset="0"/>
              <a:buChar char="•"/>
            </a:pPr>
            <a:r>
              <a:rPr lang="en-AU" sz="1200" kern="1200" dirty="0" smtClean="0">
                <a:solidFill>
                  <a:schemeClr val="tx1"/>
                </a:solidFill>
                <a:ea typeface="+mn-ea"/>
                <a:cs typeface="+mn-cs"/>
              </a:rPr>
              <a:t>Image makers/consultants </a:t>
            </a:r>
          </a:p>
          <a:p>
            <a:pPr marL="171450" indent="-171450">
              <a:buFont typeface="Arial" pitchFamily="34" charset="0"/>
              <a:buChar char="•"/>
            </a:pPr>
            <a:r>
              <a:rPr lang="en-AU" sz="1200" kern="1200" dirty="0" smtClean="0">
                <a:solidFill>
                  <a:schemeClr val="tx1"/>
                </a:solidFill>
                <a:ea typeface="+mn-ea"/>
                <a:cs typeface="+mn-cs"/>
              </a:rPr>
              <a:t>Brand strategists</a:t>
            </a:r>
          </a:p>
          <a:p>
            <a:pPr marL="171450" indent="-171450">
              <a:buFont typeface="Arial" pitchFamily="34" charset="0"/>
              <a:buChar char="•"/>
            </a:pPr>
            <a:r>
              <a:rPr lang="en-AU" sz="1200" kern="1200" dirty="0" smtClean="0">
                <a:solidFill>
                  <a:schemeClr val="tx1"/>
                </a:solidFill>
                <a:ea typeface="+mn-ea"/>
                <a:cs typeface="+mn-cs"/>
              </a:rPr>
              <a:t>Brand managers.</a:t>
            </a:r>
          </a:p>
          <a:p>
            <a:pPr>
              <a:buFont typeface="Arial" pitchFamily="34" charset="0"/>
              <a:buNone/>
            </a:pPr>
            <a:endParaRPr lang="en-US" dirty="0" smtClean="0"/>
          </a:p>
          <a:p>
            <a:pPr>
              <a:buFont typeface="Arial" pitchFamily="34" charset="0"/>
              <a:buNone/>
            </a:pPr>
            <a:r>
              <a:rPr lang="en-US" b="1" dirty="0" smtClean="0"/>
              <a:t>Classroom Activity -= Guest Speakers</a:t>
            </a:r>
          </a:p>
          <a:p>
            <a:pPr>
              <a:buFont typeface="Arial" pitchFamily="34" charset="0"/>
              <a:buNone/>
            </a:pPr>
            <a:r>
              <a:rPr lang="en-US" b="0" dirty="0" smtClean="0"/>
              <a:t>Trainer arranges for a selection of the service providers, identified on the slide, to</a:t>
            </a:r>
            <a:r>
              <a:rPr lang="en-US" b="0" baseline="0" dirty="0" smtClean="0"/>
              <a:t> </a:t>
            </a:r>
            <a:r>
              <a:rPr lang="en-US" b="0" dirty="0" smtClean="0"/>
              <a:t>attend and discuss the services they can provide in relation to the production of brochures and marketing materials.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90</a:t>
            </a:fld>
            <a:endParaRPr lang="en-US" dirty="0"/>
          </a:p>
        </p:txBody>
      </p:sp>
    </p:spTree>
    <p:extLst>
      <p:ext uri="{BB962C8B-B14F-4D97-AF65-F5344CB8AC3E}">
        <p14:creationId xmlns:p14="http://schemas.microsoft.com/office/powerpoint/2010/main" val="904747324"/>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important considerations </a:t>
            </a:r>
            <a:r>
              <a:rPr lang="en-AU" sz="1200" kern="1200" dirty="0" smtClean="0">
                <a:solidFill>
                  <a:schemeClr val="tx1"/>
                </a:solidFill>
                <a:ea typeface="+mn-ea"/>
                <a:cs typeface="+mn-cs"/>
              </a:rPr>
              <a:t>at this stage are to:</a:t>
            </a:r>
          </a:p>
          <a:p>
            <a:pPr marL="171450" indent="-171450">
              <a:buFont typeface="Arial" pitchFamily="34" charset="0"/>
              <a:buChar char="•"/>
            </a:pPr>
            <a:r>
              <a:rPr lang="en-AU" sz="1200" kern="1200" dirty="0" smtClean="0">
                <a:solidFill>
                  <a:schemeClr val="tx1"/>
                </a:solidFill>
                <a:ea typeface="+mn-ea"/>
                <a:cs typeface="+mn-cs"/>
              </a:rPr>
              <a:t>Schedule sufficient time for this stage of the operation – it is an essential aspect of what is occurring and merits sufficient time</a:t>
            </a:r>
          </a:p>
          <a:p>
            <a:pPr marL="171450" indent="-171450">
              <a:buFont typeface="Arial" pitchFamily="34" charset="0"/>
              <a:buChar char="•"/>
            </a:pPr>
            <a:r>
              <a:rPr lang="en-AU" sz="1200" kern="1200" dirty="0" smtClean="0">
                <a:solidFill>
                  <a:schemeClr val="tx1"/>
                </a:solidFill>
                <a:ea typeface="+mn-ea"/>
                <a:cs typeface="+mn-cs"/>
              </a:rPr>
              <a:t>Make sure the organisation has clearly and fully explained to the other party exactly what it wants to achieve – there needs to be full disclosure about all relevant factors (such as but not limited to target market/s; objectives and goals; sales targets’ budget)</a:t>
            </a:r>
          </a:p>
          <a:p>
            <a:pPr marL="171450" indent="-171450">
              <a:buFont typeface="Arial" pitchFamily="34" charset="0"/>
              <a:buChar char="•"/>
            </a:pPr>
            <a:r>
              <a:rPr lang="en-AU" sz="1200" kern="1200" dirty="0" smtClean="0">
                <a:solidFill>
                  <a:schemeClr val="tx1"/>
                </a:solidFill>
                <a:ea typeface="+mn-ea"/>
                <a:cs typeface="+mn-cs"/>
              </a:rPr>
              <a:t>Involve relevant others from the organisation in the discussions – so they are aware of what is taking place and the options being generated/sourced for the project</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91</a:t>
            </a:fld>
            <a:endParaRPr lang="en-US" dirty="0"/>
          </a:p>
        </p:txBody>
      </p:sp>
    </p:spTree>
    <p:extLst>
      <p:ext uri="{BB962C8B-B14F-4D97-AF65-F5344CB8AC3E}">
        <p14:creationId xmlns:p14="http://schemas.microsoft.com/office/powerpoint/2010/main" val="1018778746"/>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a:t>
            </a:r>
            <a:r>
              <a:rPr lang="en-US" dirty="0" smtClean="0"/>
              <a:t>continues advising important considerations </a:t>
            </a:r>
            <a:r>
              <a:rPr lang="en-AU" sz="1200" kern="1200" dirty="0" smtClean="0">
                <a:solidFill>
                  <a:schemeClr val="tx1"/>
                </a:solidFill>
                <a:ea typeface="+mn-ea"/>
                <a:cs typeface="+mn-cs"/>
              </a:rPr>
              <a:t>at this stage are to:</a:t>
            </a:r>
          </a:p>
          <a:p>
            <a:pPr marL="171450" indent="-171450">
              <a:buFont typeface="Arial" pitchFamily="34" charset="0"/>
              <a:buChar char="•"/>
            </a:pPr>
            <a:r>
              <a:rPr lang="en-AU" sz="1200" kern="1200" dirty="0" smtClean="0">
                <a:solidFill>
                  <a:schemeClr val="tx1"/>
                </a:solidFill>
                <a:ea typeface="+mn-ea"/>
                <a:cs typeface="+mn-cs"/>
              </a:rPr>
              <a:t>Obtain samples of previous work done by potential providers – it is always a good idea to select possible providers from organisations who have demonstrated experience and a successful track-record/history in the same market/industry/sector </a:t>
            </a:r>
          </a:p>
          <a:p>
            <a:pPr marL="171450" indent="-171450">
              <a:buFont typeface="Arial" pitchFamily="34" charset="0"/>
              <a:buChar char="•"/>
            </a:pPr>
            <a:r>
              <a:rPr lang="en-AU" sz="1200" kern="1200" dirty="0" smtClean="0">
                <a:solidFill>
                  <a:schemeClr val="tx1"/>
                </a:solidFill>
                <a:ea typeface="+mn-ea"/>
                <a:cs typeface="+mn-cs"/>
              </a:rPr>
              <a:t>Evaluate the samples/previous work done by the potential suppliers – to assess how good it is and to check the ‘actual’ items meet the stated promises made by the company</a:t>
            </a:r>
          </a:p>
          <a:p>
            <a:pPr marL="171450" indent="-171450">
              <a:buFont typeface="Arial" pitchFamily="34" charset="0"/>
              <a:buChar char="•"/>
            </a:pPr>
            <a:r>
              <a:rPr lang="en-AU" sz="1200" kern="1200" dirty="0" smtClean="0">
                <a:solidFill>
                  <a:schemeClr val="tx1"/>
                </a:solidFill>
                <a:ea typeface="+mn-ea"/>
                <a:cs typeface="+mn-cs"/>
              </a:rPr>
              <a:t>Develop a personal relationship/rapport with the businesses – as this tends to elicit more cooperation and commitment to the job.</a:t>
            </a:r>
          </a:p>
          <a:p>
            <a:endParaRPr lang="en-AU" sz="1200"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92</a:t>
            </a:fld>
            <a:endParaRPr lang="en-US" dirty="0"/>
          </a:p>
        </p:txBody>
      </p:sp>
    </p:spTree>
    <p:extLst>
      <p:ext uri="{BB962C8B-B14F-4D97-AF65-F5344CB8AC3E}">
        <p14:creationId xmlns:p14="http://schemas.microsoft.com/office/powerpoint/2010/main" val="427827269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advises before </a:t>
            </a:r>
            <a:r>
              <a:rPr lang="en-AU" sz="1200" kern="1200" dirty="0" smtClean="0">
                <a:solidFill>
                  <a:schemeClr val="tx1"/>
                </a:solidFill>
                <a:ea typeface="+mn-ea"/>
                <a:cs typeface="+mn-cs"/>
              </a:rPr>
              <a:t>committing to the printing/production of brochures and marketing materials, it is standard practice to obtain a quotation.</a:t>
            </a:r>
          </a:p>
          <a:p>
            <a:pPr marL="171450" indent="-171450">
              <a:buFont typeface="Arial" pitchFamily="34" charset="0"/>
              <a:buChar char="•"/>
            </a:pPr>
            <a:r>
              <a:rPr lang="en-AU" sz="1200" kern="1200" dirty="0" smtClean="0">
                <a:solidFill>
                  <a:schemeClr val="tx1"/>
                </a:solidFill>
                <a:ea typeface="+mn-ea"/>
                <a:cs typeface="+mn-cs"/>
              </a:rPr>
              <a:t>A quotation (or ‘quote’) is an estimated cost provided by the supplier for the items ordered. </a:t>
            </a:r>
          </a:p>
          <a:p>
            <a:pPr marL="171450" indent="-171450">
              <a:buFont typeface="Arial" pitchFamily="34" charset="0"/>
              <a:buChar char="•"/>
            </a:pPr>
            <a:r>
              <a:rPr lang="en-AU" sz="1200" kern="1200" dirty="0" smtClean="0">
                <a:solidFill>
                  <a:schemeClr val="tx1"/>
                </a:solidFill>
                <a:ea typeface="+mn-ea"/>
                <a:cs typeface="+mn-cs"/>
              </a:rPr>
              <a:t>It may be required even where previous successful business has been transacted with the provider.</a:t>
            </a:r>
          </a:p>
          <a:p>
            <a:pPr marL="171450" indent="-171450">
              <a:buFont typeface="Arial" pitchFamily="34" charset="0"/>
              <a:buChar char="•"/>
            </a:pPr>
            <a:r>
              <a:rPr lang="en-AU" sz="1200" kern="1200" dirty="0" smtClean="0">
                <a:solidFill>
                  <a:schemeClr val="tx1"/>
                </a:solidFill>
                <a:ea typeface="+mn-ea"/>
                <a:cs typeface="+mn-cs"/>
              </a:rPr>
              <a:t>Multiple quotations may be required for jobs over a set value – internal company policies or management preferences will determine what applies in this regard.</a:t>
            </a:r>
          </a:p>
          <a:p>
            <a:pPr marL="171450" indent="-171450">
              <a:buFont typeface="Arial" pitchFamily="34" charset="0"/>
              <a:buChar char="•"/>
            </a:pPr>
            <a:r>
              <a:rPr lang="en-AU" sz="1200" kern="1200" dirty="0" smtClean="0">
                <a:solidFill>
                  <a:schemeClr val="tx1"/>
                </a:solidFill>
                <a:ea typeface="+mn-ea"/>
                <a:cs typeface="+mn-cs"/>
              </a:rPr>
              <a:t>A quote is also needed because it forms an important part of the contract between the organisation and the printer/provider.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93</a:t>
            </a:fld>
            <a:endParaRPr lang="en-US" dirty="0"/>
          </a:p>
        </p:txBody>
      </p:sp>
    </p:spTree>
    <p:extLst>
      <p:ext uri="{BB962C8B-B14F-4D97-AF65-F5344CB8AC3E}">
        <p14:creationId xmlns:p14="http://schemas.microsoft.com/office/powerpoint/2010/main" val="5733570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discusses provision of specifications observing </a:t>
            </a:r>
            <a:r>
              <a:rPr lang="en-AU" sz="1200" kern="1200" dirty="0" smtClean="0">
                <a:solidFill>
                  <a:schemeClr val="tx1"/>
                </a:solidFill>
                <a:ea typeface="+mn-ea"/>
                <a:cs typeface="+mn-cs"/>
              </a:rPr>
              <a:t>to obtain a quotation there is a need to provide the third party provider with a range of detailed information called ‘project/job specifications’ which can cover:</a:t>
            </a:r>
          </a:p>
          <a:p>
            <a:pPr marL="171450" indent="-171450">
              <a:buFont typeface="Arial" pitchFamily="34" charset="0"/>
              <a:buChar char="•"/>
            </a:pPr>
            <a:r>
              <a:rPr lang="en-AU" sz="1200" kern="1200" dirty="0" smtClean="0">
                <a:solidFill>
                  <a:schemeClr val="tx1"/>
                </a:solidFill>
                <a:ea typeface="+mn-ea"/>
                <a:cs typeface="+mn-cs"/>
              </a:rPr>
              <a:t>Quantity required </a:t>
            </a:r>
          </a:p>
          <a:p>
            <a:pPr marL="171450" indent="-171450">
              <a:buFont typeface="Arial" pitchFamily="34" charset="0"/>
              <a:buChar char="•"/>
            </a:pPr>
            <a:r>
              <a:rPr lang="en-AU" sz="1200" kern="1200" dirty="0" smtClean="0">
                <a:solidFill>
                  <a:schemeClr val="tx1"/>
                </a:solidFill>
                <a:ea typeface="+mn-ea"/>
                <a:cs typeface="+mn-cs"/>
              </a:rPr>
              <a:t>Size and weight of finished brochure </a:t>
            </a:r>
          </a:p>
          <a:p>
            <a:pPr marL="171450" indent="-171450">
              <a:buFont typeface="Arial" pitchFamily="34" charset="0"/>
              <a:buChar char="•"/>
            </a:pPr>
            <a:r>
              <a:rPr lang="en-AU" sz="1200" kern="1200" dirty="0" smtClean="0">
                <a:solidFill>
                  <a:schemeClr val="tx1"/>
                </a:solidFill>
                <a:ea typeface="+mn-ea"/>
                <a:cs typeface="+mn-cs"/>
              </a:rPr>
              <a:t>Type or weight of paper to be used </a:t>
            </a:r>
          </a:p>
          <a:p>
            <a:pPr marL="171450" indent="-171450">
              <a:buFont typeface="Arial" pitchFamily="34" charset="0"/>
              <a:buChar char="•"/>
            </a:pPr>
            <a:r>
              <a:rPr lang="en-AU" sz="1200" kern="1200" dirty="0" smtClean="0">
                <a:solidFill>
                  <a:schemeClr val="tx1"/>
                </a:solidFill>
                <a:ea typeface="+mn-ea"/>
                <a:cs typeface="+mn-cs"/>
              </a:rPr>
              <a:t>Number of colours</a:t>
            </a:r>
          </a:p>
          <a:p>
            <a:pPr marL="171450" indent="-171450">
              <a:buFont typeface="Arial" pitchFamily="34" charset="0"/>
              <a:buChar char="•"/>
            </a:pPr>
            <a:r>
              <a:rPr lang="en-AU" sz="1200" kern="1200" dirty="0" smtClean="0">
                <a:solidFill>
                  <a:schemeClr val="tx1"/>
                </a:solidFill>
                <a:ea typeface="+mn-ea"/>
                <a:cs typeface="+mn-cs"/>
              </a:rPr>
              <a:t>Number of photographs</a:t>
            </a:r>
          </a:p>
          <a:p>
            <a:pPr>
              <a:buFont typeface="Arial" pitchFamily="34" charset="0"/>
              <a:buNone/>
            </a:pP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94</a:t>
            </a:fld>
            <a:endParaRPr lang="en-US" dirty="0"/>
          </a:p>
        </p:txBody>
      </p:sp>
    </p:spTree>
    <p:extLst>
      <p:ext uri="{BB962C8B-B14F-4D97-AF65-F5344CB8AC3E}">
        <p14:creationId xmlns:p14="http://schemas.microsoft.com/office/powerpoint/2010/main" val="214815517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contents of specifications:</a:t>
            </a:r>
          </a:p>
          <a:p>
            <a:pPr marL="171450" indent="-171450">
              <a:buFont typeface="Arial" pitchFamily="34" charset="0"/>
              <a:buChar char="•"/>
            </a:pPr>
            <a:r>
              <a:rPr lang="en-AU" sz="1200" kern="1200" dirty="0" smtClean="0">
                <a:solidFill>
                  <a:schemeClr val="tx1"/>
                </a:solidFill>
                <a:ea typeface="+mn-ea"/>
                <a:cs typeface="+mn-cs"/>
              </a:rPr>
              <a:t>Layout and style of text</a:t>
            </a:r>
          </a:p>
          <a:p>
            <a:pPr marL="171450" indent="-171450">
              <a:buFont typeface="Arial" pitchFamily="34" charset="0"/>
              <a:buChar char="•"/>
            </a:pPr>
            <a:r>
              <a:rPr lang="en-AU" sz="1200" kern="1200" dirty="0" smtClean="0">
                <a:solidFill>
                  <a:schemeClr val="tx1"/>
                </a:solidFill>
                <a:ea typeface="+mn-ea"/>
                <a:cs typeface="+mn-cs"/>
              </a:rPr>
              <a:t>Whether brochure is to be printed on one or both sides </a:t>
            </a:r>
          </a:p>
          <a:p>
            <a:pPr marL="171450" indent="-171450">
              <a:buFont typeface="Arial" pitchFamily="34" charset="0"/>
              <a:buChar char="•"/>
            </a:pPr>
            <a:r>
              <a:rPr lang="en-AU" sz="1200" kern="1200" dirty="0" smtClean="0">
                <a:solidFill>
                  <a:schemeClr val="tx1"/>
                </a:solidFill>
                <a:ea typeface="+mn-ea"/>
                <a:cs typeface="+mn-cs"/>
              </a:rPr>
              <a:t>Number of pages</a:t>
            </a:r>
          </a:p>
          <a:p>
            <a:pPr marL="171450" indent="-171450">
              <a:buFont typeface="Arial" pitchFamily="34" charset="0"/>
              <a:buChar char="•"/>
            </a:pPr>
            <a:r>
              <a:rPr lang="en-AU" sz="1200" kern="1200" dirty="0" smtClean="0">
                <a:solidFill>
                  <a:schemeClr val="tx1"/>
                </a:solidFill>
                <a:ea typeface="+mn-ea"/>
                <a:cs typeface="+mn-cs"/>
              </a:rPr>
              <a:t>Requirement for proofs to be forwarded – this should be a mandatory and non-negotiable requirement</a:t>
            </a:r>
          </a:p>
          <a:p>
            <a:pPr marL="171450" indent="-171450">
              <a:buFont typeface="Arial" pitchFamily="34" charset="0"/>
              <a:buChar char="•"/>
            </a:pPr>
            <a:r>
              <a:rPr lang="en-AU" sz="1200" kern="1200" dirty="0" smtClean="0">
                <a:solidFill>
                  <a:schemeClr val="tx1"/>
                </a:solidFill>
                <a:ea typeface="+mn-ea"/>
                <a:cs typeface="+mn-cs"/>
              </a:rPr>
              <a:t>How the original material is going to be provided to the printer/producer– for example, on disk or in hard (mock-up) copy form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95</a:t>
            </a:fld>
            <a:endParaRPr lang="en-US" dirty="0"/>
          </a:p>
        </p:txBody>
      </p:sp>
    </p:spTree>
    <p:extLst>
      <p:ext uri="{BB962C8B-B14F-4D97-AF65-F5344CB8AC3E}">
        <p14:creationId xmlns:p14="http://schemas.microsoft.com/office/powerpoint/2010/main" val="36225358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contents of specifications:</a:t>
            </a:r>
          </a:p>
          <a:p>
            <a:pPr marL="171450" indent="-171450">
              <a:buFont typeface="Arial" pitchFamily="34" charset="0"/>
              <a:buChar char="•"/>
            </a:pPr>
            <a:r>
              <a:rPr lang="en-AU" sz="1200" kern="1200" dirty="0" smtClean="0">
                <a:solidFill>
                  <a:schemeClr val="tx1"/>
                </a:solidFill>
                <a:ea typeface="+mn-ea"/>
                <a:cs typeface="+mn-cs"/>
              </a:rPr>
              <a:t>Additional requirements required for the job – such as finishing and/or distribution</a:t>
            </a:r>
          </a:p>
          <a:p>
            <a:pPr marL="171450" indent="-171450">
              <a:buFont typeface="Arial" pitchFamily="34" charset="0"/>
              <a:buChar char="•"/>
            </a:pPr>
            <a:r>
              <a:rPr lang="en-AU" sz="1200" kern="1200" dirty="0" smtClean="0">
                <a:solidFill>
                  <a:schemeClr val="tx1"/>
                </a:solidFill>
                <a:ea typeface="+mn-ea"/>
                <a:cs typeface="+mn-cs"/>
              </a:rPr>
              <a:t>Deadline for delivery of proofs</a:t>
            </a:r>
          </a:p>
          <a:p>
            <a:pPr marL="171450" indent="-171450">
              <a:buFont typeface="Arial" pitchFamily="34" charset="0"/>
              <a:buChar char="•"/>
            </a:pPr>
            <a:r>
              <a:rPr lang="en-AU" sz="1200" kern="1200" dirty="0" smtClean="0">
                <a:solidFill>
                  <a:schemeClr val="tx1"/>
                </a:solidFill>
                <a:ea typeface="+mn-ea"/>
                <a:cs typeface="+mn-cs"/>
              </a:rPr>
              <a:t>Deadline for delivery of finished product</a:t>
            </a:r>
          </a:p>
          <a:p>
            <a:pPr marL="171450" indent="-171450">
              <a:buFont typeface="Arial" pitchFamily="34" charset="0"/>
              <a:buChar char="•"/>
            </a:pPr>
            <a:r>
              <a:rPr lang="en-AU" sz="1200" kern="1200" dirty="0" smtClean="0">
                <a:solidFill>
                  <a:schemeClr val="tx1"/>
                </a:solidFill>
                <a:ea typeface="+mn-ea"/>
                <a:cs typeface="+mn-cs"/>
              </a:rPr>
              <a:t>Budget limitations/parameters</a:t>
            </a:r>
          </a:p>
          <a:p>
            <a:pPr marL="171450" indent="-171450">
              <a:buFont typeface="Arial" pitchFamily="34" charset="0"/>
              <a:buChar char="•"/>
            </a:pPr>
            <a:r>
              <a:rPr lang="en-AU" sz="1200" kern="1200" dirty="0" smtClean="0">
                <a:solidFill>
                  <a:schemeClr val="tx1"/>
                </a:solidFill>
                <a:ea typeface="+mn-ea"/>
                <a:cs typeface="+mn-cs"/>
              </a:rPr>
              <a:t>Delivery </a:t>
            </a:r>
            <a:r>
              <a:rPr lang="en-AU" sz="1200" i="1" kern="1200" dirty="0" smtClean="0">
                <a:solidFill>
                  <a:schemeClr val="tx1"/>
                </a:solidFill>
                <a:ea typeface="+mn-ea"/>
                <a:cs typeface="+mn-cs"/>
              </a:rPr>
              <a:t>location/s</a:t>
            </a:r>
            <a:r>
              <a:rPr lang="en-AU" sz="1200" kern="1200" dirty="0" smtClean="0">
                <a:solidFill>
                  <a:schemeClr val="tx1"/>
                </a:solidFill>
                <a:ea typeface="+mn-ea"/>
                <a:cs typeface="+mn-cs"/>
              </a:rPr>
              <a:t> for drafts/proofs and finished products.</a:t>
            </a:r>
          </a:p>
          <a:p>
            <a:pPr>
              <a:buFont typeface="Arial" pitchFamily="34" charset="0"/>
              <a:buNone/>
            </a:pP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96</a:t>
            </a:fld>
            <a:endParaRPr lang="en-US" dirty="0"/>
          </a:p>
        </p:txBody>
      </p:sp>
    </p:spTree>
    <p:extLst>
      <p:ext uri="{BB962C8B-B14F-4D97-AF65-F5344CB8AC3E}">
        <p14:creationId xmlns:p14="http://schemas.microsoft.com/office/powerpoint/2010/main" val="1039274384"/>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contents of specifications:</a:t>
            </a:r>
          </a:p>
          <a:p>
            <a:pPr marL="171450" indent="-171450">
              <a:buFont typeface="Arial" pitchFamily="34" charset="0"/>
              <a:buChar char="•"/>
            </a:pPr>
            <a:r>
              <a:rPr lang="en-AU" sz="1200" kern="1200" dirty="0" smtClean="0">
                <a:solidFill>
                  <a:schemeClr val="tx1"/>
                </a:solidFill>
                <a:ea typeface="+mn-ea"/>
                <a:cs typeface="+mn-cs"/>
              </a:rPr>
              <a:t>Terms and conditions – relating to issues such as:</a:t>
            </a:r>
          </a:p>
          <a:p>
            <a:pPr marL="628650" lvl="1" indent="-171450">
              <a:buFont typeface="Arial" pitchFamily="34" charset="0"/>
              <a:buChar char="•"/>
            </a:pPr>
            <a:r>
              <a:rPr lang="en-US" sz="1200" kern="1200" dirty="0" smtClean="0">
                <a:solidFill>
                  <a:schemeClr val="tx1"/>
                </a:solidFill>
                <a:ea typeface="+mn-ea"/>
                <a:cs typeface="+mn-cs"/>
              </a:rPr>
              <a:t>Payment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Rectification/redressing of problems.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Production of and prices for additional materials if more items are subsequently required</a:t>
            </a:r>
            <a:endParaRPr lang="en-AU" sz="1200" kern="1200" dirty="0" smtClean="0">
              <a:solidFill>
                <a:schemeClr val="tx1"/>
              </a:solidFill>
              <a:ea typeface="+mn-ea"/>
              <a:cs typeface="+mn-cs"/>
            </a:endParaRPr>
          </a:p>
          <a:p>
            <a:pPr marL="628650" lvl="1" indent="-171450">
              <a:buFont typeface="Arial" pitchFamily="34" charset="0"/>
              <a:buChar char="•"/>
            </a:pPr>
            <a:r>
              <a:rPr lang="en-AU" sz="1200" kern="1200" dirty="0" smtClean="0">
                <a:solidFill>
                  <a:schemeClr val="tx1"/>
                </a:solidFill>
                <a:ea typeface="+mn-ea"/>
                <a:cs typeface="+mn-cs"/>
              </a:rPr>
              <a:t>Time period for which the quotation is to be valid</a:t>
            </a:r>
            <a:endParaRPr lang="en-US" dirty="0" smtClean="0"/>
          </a:p>
        </p:txBody>
      </p:sp>
      <p:sp>
        <p:nvSpPr>
          <p:cNvPr id="4" name="Slide Number Placeholder 3"/>
          <p:cNvSpPr>
            <a:spLocks noGrp="1"/>
          </p:cNvSpPr>
          <p:nvPr>
            <p:ph type="sldNum" sz="quarter" idx="10"/>
          </p:nvPr>
        </p:nvSpPr>
        <p:spPr/>
        <p:txBody>
          <a:bodyPr/>
          <a:lstStyle/>
          <a:p>
            <a:fld id="{006CD3C9-0AF2-437D-9D2F-7B6B298CC32F}" type="slidenum">
              <a:rPr lang="en-US" smtClean="0"/>
              <a:pPr/>
              <a:t>97</a:t>
            </a:fld>
            <a:endParaRPr lang="en-US" dirty="0"/>
          </a:p>
        </p:txBody>
      </p:sp>
    </p:spTree>
    <p:extLst>
      <p:ext uri="{BB962C8B-B14F-4D97-AF65-F5344CB8AC3E}">
        <p14:creationId xmlns:p14="http://schemas.microsoft.com/office/powerpoint/2010/main" val="1397261978"/>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explains </a:t>
            </a:r>
            <a:r>
              <a:rPr lang="en-AU" sz="1200" kern="1200" dirty="0" smtClean="0">
                <a:solidFill>
                  <a:schemeClr val="tx1"/>
                </a:solidFill>
                <a:ea typeface="+mn-ea"/>
                <a:cs typeface="+mn-cs"/>
              </a:rPr>
              <a:t>quotes are commonly obtained in one of the following ways:</a:t>
            </a:r>
          </a:p>
          <a:p>
            <a:pPr marL="171450" indent="-171450">
              <a:buFont typeface="Arial" pitchFamily="34" charset="0"/>
              <a:buChar char="•"/>
            </a:pPr>
            <a:r>
              <a:rPr lang="en-AU" sz="1200" kern="1200" dirty="0" smtClean="0">
                <a:solidFill>
                  <a:schemeClr val="tx1"/>
                </a:solidFill>
                <a:ea typeface="+mn-ea"/>
                <a:cs typeface="+mn-cs"/>
              </a:rPr>
              <a:t>Asking the providers who have already been contacted and with whom the work has already been discussed to submit a quote based on the specifications developed (as described). This request for a quotation may be made through:</a:t>
            </a:r>
          </a:p>
          <a:p>
            <a:pPr marL="628650" lvl="1" indent="-171450">
              <a:buFont typeface="Arial" pitchFamily="34" charset="0"/>
              <a:buChar char="•"/>
            </a:pPr>
            <a:r>
              <a:rPr lang="en-US" sz="1200" kern="1200" dirty="0" smtClean="0">
                <a:solidFill>
                  <a:schemeClr val="tx1"/>
                </a:solidFill>
                <a:ea typeface="+mn-ea"/>
                <a:cs typeface="+mn-cs"/>
              </a:rPr>
              <a:t>A formal letter requesting a quote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An email</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An informal telephone call</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An in-person face-to-face request</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Offering a tender and releasing an RFT document – this offer asks ‘interested parties/providers’ to submit tender/quotes for the work and contains the details of the specifications for the work required. The RFT document may be:</a:t>
            </a:r>
          </a:p>
          <a:p>
            <a:pPr marL="628650" lvl="1" indent="-171450">
              <a:buFont typeface="Arial" pitchFamily="34" charset="0"/>
              <a:buChar char="•"/>
            </a:pPr>
            <a:r>
              <a:rPr lang="en-US" sz="1200" kern="1200" dirty="0" smtClean="0">
                <a:solidFill>
                  <a:schemeClr val="tx1"/>
                </a:solidFill>
                <a:ea typeface="+mn-ea"/>
                <a:cs typeface="+mn-cs"/>
              </a:rPr>
              <a:t>Circulated generally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Targeted only to certain organisations the company wishes to do business with.</a:t>
            </a:r>
            <a:endParaRPr lang="en-AU" sz="1200" kern="1200" dirty="0" smtClean="0">
              <a:solidFill>
                <a:schemeClr val="tx1"/>
              </a:solidFill>
              <a:ea typeface="+mn-ea"/>
              <a:cs typeface="+mn-cs"/>
            </a:endParaRPr>
          </a:p>
          <a:p>
            <a:pPr>
              <a:buFont typeface="Arial" pitchFamily="34" charset="0"/>
              <a:buNone/>
            </a:pPr>
            <a:endParaRPr lang="en-US" dirty="0" smtClean="0"/>
          </a:p>
          <a:p>
            <a:pPr>
              <a:buFont typeface="Arial" pitchFamily="34" charset="0"/>
              <a:buNone/>
            </a:pPr>
            <a:r>
              <a:rPr lang="en-US" b="1" dirty="0" smtClean="0"/>
              <a:t>Classroom Activity (1) – Handout</a:t>
            </a:r>
          </a:p>
          <a:p>
            <a:pPr>
              <a:buFont typeface="Arial" pitchFamily="34" charset="0"/>
              <a:buNone/>
            </a:pPr>
            <a:r>
              <a:rPr lang="en-US" b="0" dirty="0" smtClean="0"/>
              <a:t>Trainer distributes and discusses a sample RFT document.</a:t>
            </a:r>
          </a:p>
          <a:p>
            <a:pPr>
              <a:buFont typeface="Arial" pitchFamily="34" charset="0"/>
              <a:buNone/>
            </a:pPr>
            <a:endParaRPr lang="en-US" b="0" dirty="0" smtClean="0"/>
          </a:p>
          <a:p>
            <a:pPr>
              <a:buFont typeface="Arial" pitchFamily="34" charset="0"/>
              <a:buNone/>
            </a:pPr>
            <a:r>
              <a:rPr lang="en-US" b="1" baseline="0" noProof="0" dirty="0" smtClean="0"/>
              <a:t>Classroom Activity (2) – Internet Research</a:t>
            </a:r>
          </a:p>
          <a:p>
            <a:pPr>
              <a:buFont typeface="Arial" pitchFamily="34" charset="0"/>
              <a:buNone/>
            </a:pPr>
            <a:r>
              <a:rPr lang="en-US" b="0" noProof="0" dirty="0" smtClean="0"/>
              <a:t>Trainer facilitates online research and discussion relating to relevant sites such as:</a:t>
            </a:r>
          </a:p>
          <a:p>
            <a:pPr marL="0" indent="0">
              <a:buFont typeface="Arial" pitchFamily="34" charset="0"/>
              <a:buNone/>
            </a:pPr>
            <a:r>
              <a:rPr lang="en-AU" sz="1200" u="sng" kern="1200" dirty="0" smtClean="0">
                <a:solidFill>
                  <a:schemeClr val="tx1"/>
                </a:solidFill>
                <a:ea typeface="+mn-ea"/>
                <a:cs typeface="+mn-cs"/>
                <a:hlinkClick r:id="rId3"/>
              </a:rPr>
              <a:t>http://www.bestprintingonline.com/brochure-printing-quote.asp</a:t>
            </a:r>
            <a:r>
              <a:rPr lang="en-AU" sz="1200" kern="1200" dirty="0" smtClean="0">
                <a:solidFill>
                  <a:schemeClr val="tx1"/>
                </a:solidFill>
                <a:ea typeface="+mn-ea"/>
                <a:cs typeface="+mn-cs"/>
              </a:rPr>
              <a:t> </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98</a:t>
            </a:fld>
            <a:endParaRPr lang="en-US" dirty="0"/>
          </a:p>
        </p:txBody>
      </p:sp>
    </p:spTree>
    <p:extLst>
      <p:ext uri="{BB962C8B-B14F-4D97-AF65-F5344CB8AC3E}">
        <p14:creationId xmlns:p14="http://schemas.microsoft.com/office/powerpoint/2010/main" val="3868951483"/>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indicates as </a:t>
            </a:r>
            <a:r>
              <a:rPr lang="en-AU" sz="1200" kern="1200" dirty="0" smtClean="0">
                <a:solidFill>
                  <a:schemeClr val="tx1"/>
                </a:solidFill>
                <a:ea typeface="+mn-ea"/>
                <a:cs typeface="+mn-cs"/>
              </a:rPr>
              <a:t>part of the process of obtaining quotations:</a:t>
            </a:r>
          </a:p>
          <a:p>
            <a:pPr marL="171450" indent="-171450">
              <a:buFont typeface="Arial" pitchFamily="34" charset="0"/>
              <a:buChar char="•"/>
            </a:pPr>
            <a:r>
              <a:rPr lang="en-AU" sz="1200" kern="1200" dirty="0" smtClean="0">
                <a:solidFill>
                  <a:schemeClr val="tx1"/>
                </a:solidFill>
                <a:ea typeface="+mn-ea"/>
                <a:cs typeface="+mn-cs"/>
              </a:rPr>
              <a:t>Ensure management has approved drafts internally for this stage of the process – make sure they have agreed/signed off on what is required and what is to be produced</a:t>
            </a:r>
          </a:p>
          <a:p>
            <a:pPr marL="171450" indent="-171450">
              <a:buFont typeface="Arial" pitchFamily="34" charset="0"/>
              <a:buChar char="•"/>
            </a:pPr>
            <a:r>
              <a:rPr lang="en-AU" sz="1200" kern="1200" dirty="0" smtClean="0">
                <a:solidFill>
                  <a:schemeClr val="tx1"/>
                </a:solidFill>
                <a:ea typeface="+mn-ea"/>
                <a:cs typeface="+mn-cs"/>
              </a:rPr>
              <a:t>Give the same detail/information to every business asked to provide a quotation – this applies to:</a:t>
            </a:r>
          </a:p>
          <a:p>
            <a:pPr marL="628650" lvl="1" indent="-171450">
              <a:buFont typeface="Arial" pitchFamily="34" charset="0"/>
              <a:buChar char="•"/>
            </a:pPr>
            <a:r>
              <a:rPr lang="en-US" sz="1200" kern="1200" dirty="0" smtClean="0">
                <a:solidFill>
                  <a:schemeClr val="tx1"/>
                </a:solidFill>
                <a:ea typeface="+mn-ea"/>
                <a:cs typeface="+mn-cs"/>
              </a:rPr>
              <a:t>Provision of initial information/specifications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Additional information supplied as a result (for example) of a query by one potential provider</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Ensure quotations are received from a number of different service providers – in keeping with internal requirements to obtain a variety of quotations prior to making a purchasing decision</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99</a:t>
            </a:fld>
            <a:endParaRPr lang="en-US" dirty="0"/>
          </a:p>
        </p:txBody>
      </p:sp>
    </p:spTree>
    <p:extLst>
      <p:ext uri="{BB962C8B-B14F-4D97-AF65-F5344CB8AC3E}">
        <p14:creationId xmlns:p14="http://schemas.microsoft.com/office/powerpoint/2010/main" val="380725674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US" dirty="0" smtClean="0"/>
              <a:t>Trainer</a:t>
            </a:r>
            <a:r>
              <a:rPr lang="en-US" baseline="0" dirty="0" smtClean="0"/>
              <a:t> continues highlighting important aspects to note</a:t>
            </a:r>
            <a:r>
              <a:rPr lang="en-AU" sz="1200" kern="1200" dirty="0" smtClean="0">
                <a:solidFill>
                  <a:schemeClr val="tx1"/>
                </a:solidFill>
                <a:ea typeface="+mn-ea"/>
                <a:cs typeface="+mn-cs"/>
              </a:rPr>
              <a:t>:</a:t>
            </a:r>
          </a:p>
          <a:p>
            <a:pPr marL="171450" indent="-171450">
              <a:buFont typeface="Arial" pitchFamily="34" charset="0"/>
              <a:buChar char="•"/>
            </a:pPr>
            <a:r>
              <a:rPr lang="en-AU" sz="1200" kern="1200" dirty="0" smtClean="0">
                <a:solidFill>
                  <a:schemeClr val="tx1"/>
                </a:solidFill>
                <a:ea typeface="+mn-ea"/>
                <a:cs typeface="+mn-cs"/>
              </a:rPr>
              <a:t>Establish a file for all quotes – so they do not get lost and are readily available for reference and comparison purposes</a:t>
            </a:r>
          </a:p>
          <a:p>
            <a:pPr marL="171450" indent="-171450">
              <a:buFont typeface="Arial" pitchFamily="34" charset="0"/>
              <a:buChar char="•"/>
            </a:pPr>
            <a:r>
              <a:rPr lang="en-AU" sz="1200" kern="1200" dirty="0" smtClean="0">
                <a:solidFill>
                  <a:schemeClr val="tx1"/>
                </a:solidFill>
                <a:ea typeface="+mn-ea"/>
                <a:cs typeface="+mn-cs"/>
              </a:rPr>
              <a:t>Be available to providers – in order to provide further information to them and/or clarify issues as/if required</a:t>
            </a:r>
          </a:p>
          <a:p>
            <a:pPr marL="171450" indent="-171450">
              <a:buFont typeface="Arial" pitchFamily="34" charset="0"/>
              <a:buChar char="•"/>
            </a:pPr>
            <a:r>
              <a:rPr lang="en-AU" sz="1200" kern="1200" dirty="0" smtClean="0">
                <a:solidFill>
                  <a:schemeClr val="tx1"/>
                </a:solidFill>
                <a:ea typeface="+mn-ea"/>
                <a:cs typeface="+mn-cs"/>
              </a:rPr>
              <a:t>Follow-up – as/if required. Be prepared to make a telephone call of contact a business that has been asked to provide a quote if a quotation has not been received from them.</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AU" sz="1200" kern="1200" dirty="0" smtClean="0">
              <a:solidFill>
                <a:schemeClr val="tx1"/>
              </a:solidFill>
              <a:ea typeface="+mn-ea"/>
              <a:cs typeface="+mn-cs"/>
            </a:endParaRPr>
          </a:p>
          <a:p>
            <a:pPr>
              <a:buFont typeface="Arial" pitchFamily="34" charset="0"/>
              <a:buNone/>
            </a:pPr>
            <a:r>
              <a:rPr lang="en-US" b="1" dirty="0" smtClean="0"/>
              <a:t>Classroom Activity – Guest Speaker</a:t>
            </a:r>
          </a:p>
          <a:p>
            <a:pPr>
              <a:buFont typeface="Arial" pitchFamily="34" charset="0"/>
              <a:buNone/>
            </a:pPr>
            <a:r>
              <a:rPr lang="en-US" b="0" dirty="0" smtClean="0"/>
              <a:t>Trainer arranges for an experienced industry person to attend and discuss what they do to obtain quotes for service</a:t>
            </a:r>
            <a:r>
              <a:rPr lang="en-US" b="0" baseline="0" dirty="0" smtClean="0"/>
              <a:t> providers.</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100</a:t>
            </a:fld>
            <a:endParaRPr lang="en-US" dirty="0"/>
          </a:p>
        </p:txBody>
      </p:sp>
    </p:spTree>
    <p:extLst>
      <p:ext uri="{BB962C8B-B14F-4D97-AF65-F5344CB8AC3E}">
        <p14:creationId xmlns:p14="http://schemas.microsoft.com/office/powerpoint/2010/main" val="1696845229"/>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explains </a:t>
            </a:r>
            <a:r>
              <a:rPr lang="en-AU" sz="1200" kern="1200" dirty="0" smtClean="0">
                <a:solidFill>
                  <a:schemeClr val="tx1"/>
                </a:solidFill>
                <a:ea typeface="+mn-ea"/>
                <a:cs typeface="+mn-cs"/>
              </a:rPr>
              <a:t>‘Finishing’ may be required for certain marketing materials/brochures and not for others.</a:t>
            </a:r>
          </a:p>
          <a:p>
            <a:pPr marL="171450" indent="-171450">
              <a:buFont typeface="Arial" pitchFamily="34" charset="0"/>
              <a:buChar char="•"/>
            </a:pPr>
            <a:r>
              <a:rPr lang="en-AU" sz="1200" kern="1200" dirty="0" smtClean="0">
                <a:solidFill>
                  <a:schemeClr val="tx1"/>
                </a:solidFill>
                <a:ea typeface="+mn-ea"/>
                <a:cs typeface="+mn-cs"/>
              </a:rPr>
              <a:t>Finishing is a generic term referring to work the producer may need to undertake to completely ‘finish’ the product/item.</a:t>
            </a:r>
          </a:p>
          <a:p>
            <a:pPr marL="171450" indent="-171450">
              <a:buFont typeface="Arial" pitchFamily="34" charset="0"/>
              <a:buChar char="•"/>
            </a:pPr>
            <a:r>
              <a:rPr lang="en-AU" sz="1200" kern="1200" dirty="0" smtClean="0">
                <a:solidFill>
                  <a:schemeClr val="tx1"/>
                </a:solidFill>
                <a:ea typeface="+mn-ea"/>
                <a:cs typeface="+mn-cs"/>
              </a:rPr>
              <a:t>Finishing highlights that simply printing/producing a page/pages of an item is not of itself sufficient to complete the job. </a:t>
            </a:r>
          </a:p>
          <a:p>
            <a:pPr marL="171450" indent="-171450">
              <a:buFont typeface="Arial" pitchFamily="34" charset="0"/>
              <a:buChar char="•"/>
            </a:pPr>
            <a:r>
              <a:rPr lang="en-AU" sz="1200" kern="1200" dirty="0" smtClean="0">
                <a:solidFill>
                  <a:schemeClr val="tx1"/>
                </a:solidFill>
                <a:ea typeface="+mn-ea"/>
                <a:cs typeface="+mn-cs"/>
              </a:rPr>
              <a:t>In practice ‘finishing’ of brochures can involve:</a:t>
            </a:r>
          </a:p>
          <a:p>
            <a:pPr marL="628650" lvl="1" indent="-171450">
              <a:buFont typeface="Arial" pitchFamily="34" charset="0"/>
              <a:buChar char="•"/>
            </a:pPr>
            <a:r>
              <a:rPr lang="en-AU" sz="1200" kern="1200" dirty="0" smtClean="0">
                <a:solidFill>
                  <a:schemeClr val="tx1"/>
                </a:solidFill>
                <a:ea typeface="+mn-ea"/>
                <a:cs typeface="+mn-cs"/>
              </a:rPr>
              <a:t>Folding</a:t>
            </a:r>
          </a:p>
          <a:p>
            <a:pPr marL="628650" lvl="1" indent="-171450">
              <a:buFont typeface="Arial" pitchFamily="34" charset="0"/>
              <a:buChar char="•"/>
            </a:pPr>
            <a:r>
              <a:rPr lang="en-AU" sz="1200" kern="1200" dirty="0" smtClean="0">
                <a:solidFill>
                  <a:schemeClr val="tx1"/>
                </a:solidFill>
                <a:ea typeface="+mn-ea"/>
                <a:cs typeface="+mn-cs"/>
              </a:rPr>
              <a:t>Trimming</a:t>
            </a:r>
          </a:p>
          <a:p>
            <a:pPr marL="628650" lvl="1" indent="-171450">
              <a:buFont typeface="Arial" pitchFamily="34" charset="0"/>
              <a:buChar char="•"/>
            </a:pPr>
            <a:r>
              <a:rPr lang="en-AU" sz="1200" kern="1200" dirty="0" smtClean="0">
                <a:solidFill>
                  <a:schemeClr val="tx1"/>
                </a:solidFill>
                <a:ea typeface="+mn-ea"/>
                <a:cs typeface="+mn-cs"/>
              </a:rPr>
              <a:t>Stitching</a:t>
            </a:r>
          </a:p>
          <a:p>
            <a:pPr marL="628650" lvl="1" indent="-171450">
              <a:buFont typeface="Arial" pitchFamily="34" charset="0"/>
              <a:buChar char="•"/>
            </a:pPr>
            <a:r>
              <a:rPr lang="en-AU" sz="1200" kern="1200" dirty="0" smtClean="0">
                <a:solidFill>
                  <a:schemeClr val="tx1"/>
                </a:solidFill>
                <a:ea typeface="+mn-ea"/>
                <a:cs typeface="+mn-cs"/>
              </a:rPr>
              <a:t>Stapling.</a:t>
            </a:r>
          </a:p>
          <a:p>
            <a:pPr marL="171450" indent="-171450">
              <a:buFont typeface="Arial" pitchFamily="34" charset="0"/>
              <a:buChar char="•"/>
            </a:pPr>
            <a:r>
              <a:rPr lang="en-AU" sz="1200" kern="1200" dirty="0" smtClean="0">
                <a:solidFill>
                  <a:schemeClr val="tx1"/>
                </a:solidFill>
                <a:ea typeface="+mn-ea"/>
                <a:cs typeface="+mn-cs"/>
              </a:rPr>
              <a:t>It is important to ensure specifications for what is required in this regard is included in the RFT as producers/printers will seek to levy additional charges for each of these tasks.  </a:t>
            </a:r>
          </a:p>
          <a:p>
            <a:pPr>
              <a:buFont typeface="Arial" pitchFamily="34" charset="0"/>
              <a:buNone/>
            </a:pPr>
            <a:endParaRPr lang="en-US" dirty="0" smtClean="0"/>
          </a:p>
          <a:p>
            <a:pPr>
              <a:buFont typeface="Arial" pitchFamily="34" charset="0"/>
              <a:buNone/>
            </a:pPr>
            <a:r>
              <a:rPr lang="en-US" b="1" dirty="0" smtClean="0"/>
              <a:t>Classroom Activity – Guest Speaker</a:t>
            </a:r>
          </a:p>
          <a:p>
            <a:pPr>
              <a:buFont typeface="Arial" pitchFamily="34" charset="0"/>
              <a:buNone/>
            </a:pPr>
            <a:r>
              <a:rPr lang="en-US" b="0" dirty="0" smtClean="0"/>
              <a:t>Trainer arranges for printer/service provider to attend and:</a:t>
            </a:r>
          </a:p>
          <a:p>
            <a:pPr marL="171450" indent="-171450">
              <a:buFont typeface="Arial" pitchFamily="34" charset="0"/>
              <a:buChar char="•"/>
            </a:pPr>
            <a:r>
              <a:rPr lang="en-US" b="0" dirty="0" smtClean="0"/>
              <a:t>What they need (information and other details) in order to provide a realistic quote for brochures and marketing materials</a:t>
            </a:r>
          </a:p>
          <a:p>
            <a:pPr marL="171450" indent="-171450">
              <a:buFont typeface="Arial" pitchFamily="34" charset="0"/>
              <a:buChar char="•"/>
            </a:pPr>
            <a:r>
              <a:rPr lang="en-US" b="0" dirty="0" smtClean="0"/>
              <a:t>Describe the elements and need for ‘finishing’.</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101</a:t>
            </a:fld>
            <a:endParaRPr lang="en-US" dirty="0"/>
          </a:p>
        </p:txBody>
      </p:sp>
    </p:spTree>
    <p:extLst>
      <p:ext uri="{BB962C8B-B14F-4D97-AF65-F5344CB8AC3E}">
        <p14:creationId xmlns:p14="http://schemas.microsoft.com/office/powerpoint/2010/main" val="3183291125"/>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presents the </a:t>
            </a:r>
            <a:r>
              <a:rPr lang="en-AU" sz="1200" kern="1200" dirty="0" smtClean="0">
                <a:solidFill>
                  <a:schemeClr val="tx1"/>
                </a:solidFill>
                <a:ea typeface="+mn-ea"/>
                <a:cs typeface="+mn-cs"/>
              </a:rPr>
              <a:t>evaluation of quotations can be seen as AAA:</a:t>
            </a:r>
          </a:p>
          <a:p>
            <a:pPr marL="171450" indent="-171450">
              <a:buFont typeface="Arial" pitchFamily="34" charset="0"/>
              <a:buChar char="•"/>
            </a:pPr>
            <a:r>
              <a:rPr lang="en-AU" sz="1200" kern="1200" dirty="0" smtClean="0">
                <a:solidFill>
                  <a:schemeClr val="tx1"/>
                </a:solidFill>
                <a:ea typeface="+mn-ea"/>
                <a:cs typeface="+mn-cs"/>
              </a:rPr>
              <a:t>Acknowledging</a:t>
            </a:r>
          </a:p>
          <a:p>
            <a:pPr marL="171450" indent="-171450">
              <a:buFont typeface="Arial" pitchFamily="34" charset="0"/>
              <a:buChar char="•"/>
            </a:pPr>
            <a:r>
              <a:rPr lang="en-AU" sz="1200" kern="1200" dirty="0" smtClean="0">
                <a:solidFill>
                  <a:schemeClr val="tx1"/>
                </a:solidFill>
                <a:ea typeface="+mn-ea"/>
                <a:cs typeface="+mn-cs"/>
              </a:rPr>
              <a:t>Assessing </a:t>
            </a:r>
          </a:p>
          <a:p>
            <a:pPr marL="171450" indent="-171450">
              <a:buFont typeface="Arial" pitchFamily="34" charset="0"/>
              <a:buChar char="•"/>
            </a:pPr>
            <a:r>
              <a:rPr lang="en-AU" sz="1200" kern="1200" dirty="0" smtClean="0">
                <a:solidFill>
                  <a:schemeClr val="tx1"/>
                </a:solidFill>
                <a:ea typeface="+mn-ea"/>
                <a:cs typeface="+mn-cs"/>
              </a:rPr>
              <a:t>Accepting – covered in the next section.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102</a:t>
            </a:fld>
            <a:endParaRPr lang="en-US" dirty="0"/>
          </a:p>
        </p:txBody>
      </p:sp>
    </p:spTree>
    <p:extLst>
      <p:ext uri="{BB962C8B-B14F-4D97-AF65-F5344CB8AC3E}">
        <p14:creationId xmlns:p14="http://schemas.microsoft.com/office/powerpoint/2010/main" val="2147600412"/>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a:t>
            </a:r>
            <a:r>
              <a:rPr lang="en-US" baseline="0" dirty="0" smtClean="0"/>
              <a:t> discusses Acknowledging stating:</a:t>
            </a:r>
          </a:p>
          <a:p>
            <a:pPr marL="171450" indent="-171450">
              <a:buFont typeface="Arial" pitchFamily="34" charset="0"/>
              <a:buChar char="•"/>
            </a:pPr>
            <a:r>
              <a:rPr lang="en-AU" sz="1200" kern="1200" dirty="0" smtClean="0">
                <a:solidFill>
                  <a:schemeClr val="tx1"/>
                </a:solidFill>
                <a:ea typeface="+mn-ea"/>
                <a:cs typeface="+mn-cs"/>
              </a:rPr>
              <a:t>It should be standard practice to acknowledge receipt of all quotations received. This:</a:t>
            </a:r>
          </a:p>
          <a:p>
            <a:pPr marL="628650" lvl="1" indent="-171450">
              <a:buFont typeface="Arial" pitchFamily="34" charset="0"/>
              <a:buChar char="•"/>
            </a:pPr>
            <a:r>
              <a:rPr lang="en-AU" sz="1200" kern="1200" dirty="0" smtClean="0">
                <a:solidFill>
                  <a:schemeClr val="tx1"/>
                </a:solidFill>
                <a:ea typeface="+mn-ea"/>
                <a:cs typeface="+mn-cs"/>
              </a:rPr>
              <a:t>Is polite</a:t>
            </a:r>
          </a:p>
          <a:p>
            <a:pPr marL="628650" lvl="1" indent="-171450">
              <a:buFont typeface="Arial" pitchFamily="34" charset="0"/>
              <a:buChar char="•"/>
            </a:pPr>
            <a:r>
              <a:rPr lang="en-AU" sz="1200" kern="1200" dirty="0" smtClean="0">
                <a:solidFill>
                  <a:schemeClr val="tx1"/>
                </a:solidFill>
                <a:ea typeface="+mn-ea"/>
                <a:cs typeface="+mn-cs"/>
              </a:rPr>
              <a:t>Is good business practice</a:t>
            </a:r>
          </a:p>
          <a:p>
            <a:pPr marL="628650" lvl="1" indent="-171450">
              <a:buFont typeface="Arial" pitchFamily="34" charset="0"/>
              <a:buChar char="•"/>
            </a:pPr>
            <a:r>
              <a:rPr lang="en-AU" sz="1200" kern="1200" dirty="0" smtClean="0">
                <a:solidFill>
                  <a:schemeClr val="tx1"/>
                </a:solidFill>
                <a:ea typeface="+mn-ea"/>
                <a:cs typeface="+mn-cs"/>
              </a:rPr>
              <a:t>Helps develop the relationship already established with the provider.</a:t>
            </a:r>
          </a:p>
          <a:p>
            <a:pPr marL="171450" indent="-171450">
              <a:buFont typeface="Arial" pitchFamily="34" charset="0"/>
              <a:buChar char="•"/>
            </a:pPr>
            <a:r>
              <a:rPr lang="en-AU" sz="1200" kern="1200" dirty="0" smtClean="0">
                <a:solidFill>
                  <a:schemeClr val="tx1"/>
                </a:solidFill>
                <a:ea typeface="+mn-ea"/>
                <a:cs typeface="+mn-cs"/>
              </a:rPr>
              <a:t>Acknowledging may simply take the form of:</a:t>
            </a:r>
          </a:p>
          <a:p>
            <a:pPr marL="628650" lvl="1" indent="-171450">
              <a:buFont typeface="Arial" pitchFamily="34" charset="0"/>
              <a:buChar char="•"/>
            </a:pPr>
            <a:r>
              <a:rPr lang="en-AU" sz="1200" kern="1200" dirty="0" smtClean="0">
                <a:solidFill>
                  <a:schemeClr val="tx1"/>
                </a:solidFill>
                <a:ea typeface="+mn-ea"/>
                <a:cs typeface="+mn-cs"/>
              </a:rPr>
              <a:t>An email to show their email has been received – even a ‘Read Report’ response can reassure potential suppliers their quote has (at least) been received</a:t>
            </a:r>
          </a:p>
          <a:p>
            <a:pPr marL="628650" lvl="1" indent="-171450">
              <a:buFont typeface="Arial" pitchFamily="34" charset="0"/>
              <a:buChar char="•"/>
            </a:pPr>
            <a:r>
              <a:rPr lang="en-AU" sz="1200" kern="1200" dirty="0" smtClean="0">
                <a:solidFill>
                  <a:schemeClr val="tx1"/>
                </a:solidFill>
                <a:ea typeface="+mn-ea"/>
                <a:cs typeface="+mn-cs"/>
              </a:rPr>
              <a:t>A phone call to say the quote has arrived.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103</a:t>
            </a:fld>
            <a:endParaRPr lang="en-US" dirty="0"/>
          </a:p>
        </p:txBody>
      </p:sp>
    </p:spTree>
    <p:extLst>
      <p:ext uri="{BB962C8B-B14F-4D97-AF65-F5344CB8AC3E}">
        <p14:creationId xmlns:p14="http://schemas.microsoft.com/office/powerpoint/2010/main" val="1262660306"/>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discusses ‘Assessing’ saying this </a:t>
            </a:r>
            <a:r>
              <a:rPr lang="en-AU" sz="1200" kern="1200" dirty="0" smtClean="0">
                <a:solidFill>
                  <a:schemeClr val="tx1"/>
                </a:solidFill>
                <a:ea typeface="+mn-ea"/>
                <a:cs typeface="+mn-cs"/>
              </a:rPr>
              <a:t>is the crux of the process and should involve:</a:t>
            </a:r>
          </a:p>
          <a:p>
            <a:pPr marL="171450" indent="-171450">
              <a:buFont typeface="Arial" pitchFamily="34" charset="0"/>
              <a:buChar char="•"/>
            </a:pPr>
            <a:r>
              <a:rPr lang="en-AU" sz="1200" kern="1200" dirty="0" smtClean="0">
                <a:solidFill>
                  <a:schemeClr val="tx1"/>
                </a:solidFill>
                <a:ea typeface="+mn-ea"/>
                <a:cs typeface="+mn-cs"/>
              </a:rPr>
              <a:t>Developing a selection team who will evaluate all quotes received – this team should comprise a representative from all stakeholders and meet formally to discuss and analyse all submissions received. Using a team approach:</a:t>
            </a:r>
          </a:p>
          <a:p>
            <a:pPr marL="628650" lvl="1" indent="-171450">
              <a:buFont typeface="Arial" pitchFamily="34" charset="0"/>
              <a:buChar char="•"/>
            </a:pPr>
            <a:r>
              <a:rPr lang="en-US" sz="1200" kern="1200" dirty="0" smtClean="0">
                <a:solidFill>
                  <a:schemeClr val="tx1"/>
                </a:solidFill>
                <a:ea typeface="+mn-ea"/>
                <a:cs typeface="+mn-cs"/>
              </a:rPr>
              <a:t>Relieves one person of the responsibility of making a decisions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Keeps people involved and aware of the development process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Ensures different points of views and opinions are factored into the final decision about which provider to use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Achieves a more balanced and comprehensive review of all proposals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Assessing quotations against identified criteria for the production of items as contained in the specifications supplied – just to check the provider is able to provide and is quoting on the requirements for the job.</a:t>
            </a:r>
          </a:p>
          <a:p>
            <a:pPr marL="628650" lvl="1" indent="-171450">
              <a:buFont typeface="Arial" pitchFamily="34" charset="0"/>
              <a:buChar char="•"/>
            </a:pPr>
            <a:r>
              <a:rPr lang="en-AU" sz="1200" kern="1200" dirty="0" smtClean="0">
                <a:solidFill>
                  <a:schemeClr val="tx1"/>
                </a:solidFill>
                <a:ea typeface="+mn-ea"/>
                <a:cs typeface="+mn-cs"/>
              </a:rPr>
              <a:t>Never assume the provider:</a:t>
            </a:r>
          </a:p>
          <a:p>
            <a:pPr marL="1085850" lvl="2" indent="-171450">
              <a:buFont typeface="Arial" pitchFamily="34" charset="0"/>
              <a:buChar char="•"/>
            </a:pPr>
            <a:r>
              <a:rPr lang="en-US" sz="1200" kern="1200" dirty="0" smtClean="0">
                <a:solidFill>
                  <a:schemeClr val="tx1"/>
                </a:solidFill>
                <a:ea typeface="+mn-ea"/>
                <a:cs typeface="+mn-cs"/>
              </a:rPr>
              <a:t>Has interpreted the requirements as intended</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Is quoting on what was required</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Can deliver what is needed</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104</a:t>
            </a:fld>
            <a:endParaRPr lang="en-US" dirty="0"/>
          </a:p>
        </p:txBody>
      </p:sp>
    </p:spTree>
    <p:extLst>
      <p:ext uri="{BB962C8B-B14F-4D97-AF65-F5344CB8AC3E}">
        <p14:creationId xmlns:p14="http://schemas.microsoft.com/office/powerpoint/2010/main" val="129466733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a:t>
            </a:r>
            <a:r>
              <a:rPr lang="en-US" baseline="0" dirty="0" smtClean="0"/>
              <a:t> continues discussing ‘Assessing’ quotations:</a:t>
            </a:r>
          </a:p>
          <a:p>
            <a:pPr marL="171450" indent="-171450">
              <a:buFont typeface="Arial" pitchFamily="34" charset="0"/>
              <a:buChar char="•"/>
            </a:pPr>
            <a:r>
              <a:rPr lang="en-AU" sz="1200" kern="1200" dirty="0" smtClean="0">
                <a:solidFill>
                  <a:schemeClr val="tx1"/>
                </a:solidFill>
                <a:ea typeface="+mn-ea"/>
                <a:cs typeface="+mn-cs"/>
              </a:rPr>
              <a:t>Generating a check list or ‘scoring sheet’ to use when comparing options – so distinct and agreed topics (which commonly relate to/reflect the initial specifications) can be determined and analysis/assessment can be made on an objective basis for each quote</a:t>
            </a:r>
          </a:p>
          <a:p>
            <a:pPr marL="171450" indent="-171450">
              <a:buFont typeface="Arial" pitchFamily="34" charset="0"/>
              <a:buChar char="•"/>
            </a:pPr>
            <a:r>
              <a:rPr lang="en-AU" sz="1200" kern="1200" dirty="0" smtClean="0">
                <a:solidFill>
                  <a:schemeClr val="tx1"/>
                </a:solidFill>
                <a:ea typeface="+mn-ea"/>
                <a:cs typeface="+mn-cs"/>
              </a:rPr>
              <a:t>Following-up as required – this can entail:</a:t>
            </a:r>
          </a:p>
          <a:p>
            <a:pPr marL="628650" lvl="1" indent="-171450">
              <a:buFont typeface="Arial" pitchFamily="34" charset="0"/>
              <a:buChar char="•"/>
            </a:pPr>
            <a:r>
              <a:rPr lang="en-US" sz="1200" kern="1200" dirty="0" smtClean="0">
                <a:solidFill>
                  <a:schemeClr val="tx1"/>
                </a:solidFill>
                <a:ea typeface="+mn-ea"/>
                <a:cs typeface="+mn-cs"/>
              </a:rPr>
              <a:t>Asking a provider for more information</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Getting a provider to clarify a term/part of their quote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Obtaining more examples of their work</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Enquiring if a company who has not yet submitted a quote is actually going to forward one (especially if they were a favoured option) </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Providing an opportunity for those who provided submissions to ‘speak to’ their proposals – in many cases a quotation on its own never gives the full picture about a job.</a:t>
            </a:r>
          </a:p>
          <a:p>
            <a:pPr marL="628650" lvl="1" indent="-171450">
              <a:buFont typeface="Arial" pitchFamily="34" charset="0"/>
              <a:buChar char="•"/>
            </a:pPr>
            <a:r>
              <a:rPr lang="en-AU" sz="1200" kern="1200" dirty="0" smtClean="0">
                <a:solidFill>
                  <a:schemeClr val="tx1"/>
                </a:solidFill>
                <a:ea typeface="+mn-ea"/>
                <a:cs typeface="+mn-cs"/>
              </a:rPr>
              <a:t>There is often a need for the company by submitting the quote to attend and explain their submission, discuss their approach and illustrate their rationale: this session also allows questions to be asked and answered.</a:t>
            </a:r>
          </a:p>
          <a:p>
            <a:pPr>
              <a:buFont typeface="Arial" pitchFamily="34" charset="0"/>
              <a:buChar char="•"/>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105</a:t>
            </a:fld>
            <a:endParaRPr lang="en-US" dirty="0"/>
          </a:p>
        </p:txBody>
      </p:sp>
    </p:spTree>
    <p:extLst>
      <p:ext uri="{BB962C8B-B14F-4D97-AF65-F5344CB8AC3E}">
        <p14:creationId xmlns:p14="http://schemas.microsoft.com/office/powerpoint/2010/main" val="4068745447"/>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highlights when </a:t>
            </a:r>
            <a:r>
              <a:rPr lang="en-AU" sz="1200" kern="1200" dirty="0" smtClean="0">
                <a:solidFill>
                  <a:schemeClr val="tx1"/>
                </a:solidFill>
                <a:ea typeface="+mn-ea"/>
                <a:cs typeface="+mn-cs"/>
              </a:rPr>
              <a:t>a comprehensive and careful assessment of all quotations has been completed the successful tendered will be selected explaining factors </a:t>
            </a:r>
            <a:r>
              <a:rPr lang="en-AU" sz="1200" b="0" kern="1200" dirty="0" smtClean="0">
                <a:solidFill>
                  <a:schemeClr val="tx1"/>
                </a:solidFill>
                <a:ea typeface="+mn-ea"/>
                <a:cs typeface="+mn-cs"/>
              </a:rPr>
              <a:t>which are critical in this decision relate directly to the specifications given to all companies who presented a tender – in essence final selection will be based on a combination of factors such as:</a:t>
            </a:r>
            <a:endParaRPr lang="en-AU" sz="1200" b="1"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Quality of the finished product</a:t>
            </a:r>
          </a:p>
          <a:p>
            <a:pPr marL="171450" indent="-171450">
              <a:buFont typeface="Arial" pitchFamily="34" charset="0"/>
              <a:buChar char="•"/>
            </a:pPr>
            <a:r>
              <a:rPr lang="en-AU" sz="1200" kern="1200" dirty="0" smtClean="0">
                <a:solidFill>
                  <a:schemeClr val="tx1"/>
                </a:solidFill>
                <a:ea typeface="+mn-ea"/>
                <a:cs typeface="+mn-cs"/>
              </a:rPr>
              <a:t>Ability of the tenderer to deliver the product by the required timeline</a:t>
            </a:r>
          </a:p>
          <a:p>
            <a:pPr marL="171450" indent="-171450">
              <a:buFont typeface="Arial" pitchFamily="34" charset="0"/>
              <a:buChar char="•"/>
            </a:pPr>
            <a:r>
              <a:rPr lang="en-AU" sz="1200" kern="1200" dirty="0" smtClean="0">
                <a:solidFill>
                  <a:schemeClr val="tx1"/>
                </a:solidFill>
                <a:ea typeface="+mn-ea"/>
                <a:cs typeface="+mn-cs"/>
              </a:rPr>
              <a:t>Cost</a:t>
            </a:r>
          </a:p>
          <a:p>
            <a:pPr marL="171450" indent="-171450">
              <a:buFont typeface="Arial" pitchFamily="34" charset="0"/>
              <a:buChar char="•"/>
            </a:pPr>
            <a:r>
              <a:rPr lang="en-AU" sz="1200" kern="1200" dirty="0" smtClean="0">
                <a:solidFill>
                  <a:schemeClr val="tx1"/>
                </a:solidFill>
                <a:ea typeface="+mn-ea"/>
                <a:cs typeface="+mn-cs"/>
              </a:rPr>
              <a:t>Terms and conditions – such as:</a:t>
            </a:r>
          </a:p>
          <a:p>
            <a:pPr marL="628650" lvl="1" indent="-171450">
              <a:buFont typeface="Arial" pitchFamily="34" charset="0"/>
              <a:buChar char="•"/>
            </a:pPr>
            <a:r>
              <a:rPr lang="en-US" sz="1200" kern="1200" dirty="0" smtClean="0">
                <a:solidFill>
                  <a:schemeClr val="tx1"/>
                </a:solidFill>
                <a:ea typeface="+mn-ea"/>
                <a:cs typeface="+mn-cs"/>
              </a:rPr>
              <a:t>Amount of deposit (if any) required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When first and/or final payment is required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Guarantees of work quality</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Capacity of the business to provide any identified additional work (such as finishing, distribution, securing access to displays or gaining exposure to target markets). </a:t>
            </a:r>
            <a:endParaRPr lang="en-AU" sz="1200" kern="1200" dirty="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106</a:t>
            </a:fld>
            <a:endParaRPr lang="en-US" dirty="0"/>
          </a:p>
        </p:txBody>
      </p:sp>
    </p:spTree>
    <p:extLst>
      <p:ext uri="{BB962C8B-B14F-4D97-AF65-F5344CB8AC3E}">
        <p14:creationId xmlns:p14="http://schemas.microsoft.com/office/powerpoint/2010/main" val="1544036314"/>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activities involved in accepting </a:t>
            </a:r>
            <a:r>
              <a:rPr lang="en-AU" sz="1200" b="0" kern="1200" dirty="0" smtClean="0">
                <a:solidFill>
                  <a:schemeClr val="tx1"/>
                </a:solidFill>
                <a:ea typeface="+mn-ea"/>
                <a:cs typeface="+mn-cs"/>
              </a:rPr>
              <a:t>a tender/quotation can include the following:</a:t>
            </a:r>
            <a:endParaRPr lang="en-AU" sz="1200" b="1"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Consensus agreement among selection team – as to:</a:t>
            </a:r>
          </a:p>
          <a:p>
            <a:pPr marL="628650" lvl="1" indent="-171450">
              <a:buFont typeface="Arial" pitchFamily="34" charset="0"/>
              <a:buChar char="•"/>
            </a:pPr>
            <a:r>
              <a:rPr lang="en-US" sz="1200" kern="1200" dirty="0" smtClean="0">
                <a:solidFill>
                  <a:schemeClr val="tx1"/>
                </a:solidFill>
                <a:ea typeface="+mn-ea"/>
                <a:cs typeface="+mn-cs"/>
              </a:rPr>
              <a:t>Who is the successful bidder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Why they are being chosen</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Notifying the successful tenderer about the decision which has been made. The way this is done will depend on the existing relationship with the other business and the value of the work to be done. Notification may involve/require:</a:t>
            </a:r>
          </a:p>
          <a:p>
            <a:pPr marL="628650" lvl="1" indent="-171450">
              <a:buFont typeface="Arial" pitchFamily="34" charset="0"/>
              <a:buChar char="•"/>
            </a:pPr>
            <a:r>
              <a:rPr lang="en-US" sz="1200" kern="1200" dirty="0" smtClean="0">
                <a:solidFill>
                  <a:schemeClr val="tx1"/>
                </a:solidFill>
                <a:ea typeface="+mn-ea"/>
                <a:cs typeface="+mn-cs"/>
              </a:rPr>
              <a:t>A telephone call to advise them</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An email</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 formal meeting</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 handshake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Raising of a Purchase Order for the work – see following</a:t>
            </a:r>
            <a:r>
              <a:rPr lang="en-US" sz="1200" kern="1200" baseline="0" dirty="0" smtClean="0">
                <a:solidFill>
                  <a:schemeClr val="tx1"/>
                </a:solidFill>
                <a:ea typeface="+mn-ea"/>
                <a:cs typeface="+mn-cs"/>
              </a:rPr>
              <a:t> slide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Creation and signing of a legally binding contract.</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Communicating the decision to others – this will involve:</a:t>
            </a:r>
          </a:p>
          <a:p>
            <a:pPr marL="628650" lvl="1" indent="-171450">
              <a:buFont typeface="Arial" pitchFamily="34" charset="0"/>
              <a:buChar char="•"/>
            </a:pPr>
            <a:r>
              <a:rPr lang="en-US" sz="1200" kern="1200" dirty="0" smtClean="0">
                <a:solidFill>
                  <a:schemeClr val="tx1"/>
                </a:solidFill>
                <a:ea typeface="+mn-ea"/>
                <a:cs typeface="+mn-cs"/>
              </a:rPr>
              <a:t>Notifying other internal employees/personnel who were not part of the selection team</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Advising interested joint venture partners and other external stakeholders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internally – to relevant other personnel</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107</a:t>
            </a:fld>
            <a:endParaRPr lang="en-US" dirty="0"/>
          </a:p>
        </p:txBody>
      </p:sp>
    </p:spTree>
    <p:extLst>
      <p:ext uri="{BB962C8B-B14F-4D97-AF65-F5344CB8AC3E}">
        <p14:creationId xmlns:p14="http://schemas.microsoft.com/office/powerpoint/2010/main" val="1991116735"/>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continues presenting activities involved in accepting </a:t>
            </a:r>
            <a:r>
              <a:rPr lang="en-AU" sz="1200" b="0" kern="1200" dirty="0" smtClean="0">
                <a:solidFill>
                  <a:schemeClr val="tx1"/>
                </a:solidFill>
                <a:ea typeface="+mn-ea"/>
                <a:cs typeface="+mn-cs"/>
              </a:rPr>
              <a:t>a tender/quotation:</a:t>
            </a:r>
          </a:p>
          <a:p>
            <a:pPr marL="171450" indent="-171450">
              <a:buFont typeface="Arial" pitchFamily="34" charset="0"/>
              <a:buChar char="•"/>
            </a:pPr>
            <a:r>
              <a:rPr lang="en-AU" sz="1200" kern="1200" dirty="0" smtClean="0">
                <a:solidFill>
                  <a:schemeClr val="tx1"/>
                </a:solidFill>
                <a:ea typeface="+mn-ea"/>
                <a:cs typeface="+mn-cs"/>
              </a:rPr>
              <a:t>Advising the unsuccessful tenderers – this may involve:</a:t>
            </a:r>
          </a:p>
          <a:p>
            <a:pPr marL="628650" lvl="1" indent="-171450">
              <a:buFont typeface="Arial" pitchFamily="34" charset="0"/>
              <a:buChar char="•"/>
            </a:pPr>
            <a:r>
              <a:rPr lang="en-US" sz="1200" kern="1200" dirty="0" smtClean="0">
                <a:solidFill>
                  <a:schemeClr val="tx1"/>
                </a:solidFill>
                <a:ea typeface="+mn-ea"/>
                <a:cs typeface="+mn-cs"/>
              </a:rPr>
              <a:t>Thanking them for their interest – again, this is sound business practice</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Returning items forwarded as part of the submission process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Explaining rationale for the decision – this can be a useful thing to do as it gives the businesses a better idea of what is needed should they elect to present future tender submissions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Paying a deposit – this may be a requirement for some jobs and not for others.</a:t>
            </a:r>
          </a:p>
          <a:p>
            <a:pPr marL="628650" lvl="1" indent="-171450">
              <a:buFont typeface="Arial" pitchFamily="34" charset="0"/>
              <a:buChar char="•"/>
            </a:pPr>
            <a:r>
              <a:rPr lang="en-AU" sz="1200" kern="1200" dirty="0" smtClean="0">
                <a:solidFill>
                  <a:schemeClr val="tx1"/>
                </a:solidFill>
                <a:ea typeface="+mn-ea"/>
                <a:cs typeface="+mn-cs"/>
              </a:rPr>
              <a:t>Different suppliers/providers have different requirements in this regard and their individual orientations are spelled out in their general/standing Terms and Conditions or in the terms and conditions for the individual job/contract.</a:t>
            </a:r>
          </a:p>
          <a:p>
            <a:pPr marL="628650" lvl="1" indent="-171450">
              <a:buFont typeface="Arial" pitchFamily="34" charset="0"/>
              <a:buChar char="•"/>
            </a:pPr>
            <a:r>
              <a:rPr lang="en-AU" sz="1200" kern="1200" dirty="0" smtClean="0">
                <a:solidFill>
                  <a:schemeClr val="tx1"/>
                </a:solidFill>
                <a:ea typeface="+mn-ea"/>
                <a:cs typeface="+mn-cs"/>
              </a:rPr>
              <a:t>A percentage of the full price for the job is frequently used as the figure for a deposit with 10% being a commonly used figure.</a:t>
            </a:r>
          </a:p>
          <a:p>
            <a:pPr marL="171450" indent="-171450">
              <a:buFont typeface="Arial" pitchFamily="34" charset="0"/>
              <a:buChar char="•"/>
            </a:pPr>
            <a:r>
              <a:rPr lang="en-AU" sz="1200" kern="1200" dirty="0" smtClean="0">
                <a:solidFill>
                  <a:schemeClr val="tx1"/>
                </a:solidFill>
                <a:ea typeface="+mn-ea"/>
                <a:cs typeface="+mn-cs"/>
              </a:rPr>
              <a:t>Finalising last-minute issues – even where a detailed analysis of various tenders has been carried out there are frequently last-minute details which need to be settled before the work can begin/be completed.</a:t>
            </a:r>
          </a:p>
          <a:p>
            <a:pPr marL="628650" lvl="1" indent="-171450">
              <a:buFont typeface="Arial" pitchFamily="34" charset="0"/>
              <a:buChar char="•"/>
            </a:pPr>
            <a:r>
              <a:rPr lang="en-AU" sz="1200" kern="1200" dirty="0" smtClean="0">
                <a:solidFill>
                  <a:schemeClr val="tx1"/>
                </a:solidFill>
                <a:ea typeface="+mn-ea"/>
                <a:cs typeface="+mn-cs"/>
              </a:rPr>
              <a:t>This highlights many decisions made about the printed/producer to use:</a:t>
            </a:r>
          </a:p>
          <a:p>
            <a:pPr marL="1085850" lvl="2" indent="-171450">
              <a:buFont typeface="Arial" pitchFamily="34" charset="0"/>
              <a:buChar char="•"/>
            </a:pPr>
            <a:r>
              <a:rPr lang="en-US" sz="1200" kern="1200" dirty="0" smtClean="0">
                <a:solidFill>
                  <a:schemeClr val="tx1"/>
                </a:solidFill>
                <a:ea typeface="+mn-ea"/>
                <a:cs typeface="+mn-cs"/>
              </a:rPr>
              <a:t>Are made before all final details are known</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Are often made on decisions other than the ‘final product’ which will be produced.</a:t>
            </a:r>
            <a:endParaRPr lang="en-AU" sz="1200" kern="1200" dirty="0" smtClean="0">
              <a:solidFill>
                <a:schemeClr val="tx1"/>
              </a:solidFill>
              <a:ea typeface="+mn-ea"/>
              <a:cs typeface="+mn-cs"/>
            </a:endParaRPr>
          </a:p>
          <a:p>
            <a:endParaRPr lang="en-AU" sz="1200" b="1" kern="1200" dirty="0" smtClean="0">
              <a:solidFill>
                <a:schemeClr val="tx1"/>
              </a:solidFill>
              <a:ea typeface="+mn-ea"/>
              <a:cs typeface="+mn-cs"/>
            </a:endParaRPr>
          </a:p>
        </p:txBody>
      </p:sp>
      <p:sp>
        <p:nvSpPr>
          <p:cNvPr id="4" name="Slide Number Placeholder 3"/>
          <p:cNvSpPr>
            <a:spLocks noGrp="1"/>
          </p:cNvSpPr>
          <p:nvPr>
            <p:ph type="sldNum" sz="quarter" idx="10"/>
          </p:nvPr>
        </p:nvSpPr>
        <p:spPr/>
        <p:txBody>
          <a:bodyPr/>
          <a:lstStyle/>
          <a:p>
            <a:fld id="{006CD3C9-0AF2-437D-9D2F-7B6B298CC32F}" type="slidenum">
              <a:rPr lang="en-US" smtClean="0"/>
              <a:pPr/>
              <a:t>108</a:t>
            </a:fld>
            <a:endParaRPr lang="en-US" dirty="0"/>
          </a:p>
        </p:txBody>
      </p:sp>
    </p:spTree>
    <p:extLst>
      <p:ext uri="{BB962C8B-B14F-4D97-AF65-F5344CB8AC3E}">
        <p14:creationId xmlns:p14="http://schemas.microsoft.com/office/powerpoint/2010/main" val="3768269070"/>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a:t>
            </a:r>
            <a:r>
              <a:rPr lang="en-US" baseline="0" dirty="0" smtClean="0"/>
              <a:t> role of Purchase Order stating:</a:t>
            </a:r>
          </a:p>
          <a:p>
            <a:pPr marL="171450" indent="-171450">
              <a:buFont typeface="Arial" pitchFamily="34" charset="0"/>
              <a:buChar char="•"/>
            </a:pPr>
            <a:r>
              <a:rPr lang="en-AU" sz="1200" kern="1200" dirty="0" smtClean="0">
                <a:solidFill>
                  <a:schemeClr val="tx1"/>
                </a:solidFill>
                <a:ea typeface="+mn-ea"/>
                <a:cs typeface="+mn-cs"/>
              </a:rPr>
              <a:t>When the printer/supplier has been notified they have been awarded the job there </a:t>
            </a:r>
            <a:r>
              <a:rPr lang="en-AU" sz="1200" b="1" kern="1200" dirty="0" smtClean="0">
                <a:solidFill>
                  <a:schemeClr val="tx1"/>
                </a:solidFill>
                <a:ea typeface="+mn-ea"/>
                <a:cs typeface="+mn-cs"/>
              </a:rPr>
              <a:t>may </a:t>
            </a:r>
            <a:r>
              <a:rPr lang="en-AU" sz="1200" kern="1200" dirty="0" smtClean="0">
                <a:solidFill>
                  <a:schemeClr val="tx1"/>
                </a:solidFill>
                <a:ea typeface="+mn-ea"/>
                <a:cs typeface="+mn-cs"/>
              </a:rPr>
              <a:t>be a need to raise a Purchase Order</a:t>
            </a:r>
          </a:p>
          <a:p>
            <a:pPr marL="171450" indent="-171450">
              <a:buFont typeface="Arial" pitchFamily="34" charset="0"/>
              <a:buChar char="•"/>
            </a:pPr>
            <a:r>
              <a:rPr lang="en-US" sz="1200" kern="1200" dirty="0" smtClean="0">
                <a:solidFill>
                  <a:schemeClr val="tx1"/>
                </a:solidFill>
                <a:ea typeface="+mn-ea"/>
                <a:cs typeface="+mn-cs"/>
              </a:rPr>
              <a:t>Not all arrangements between organisations and providers will require a Purchase Order to be raised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 Purchase Order is a document issued by the organisation and made out to the supplier authorising the supply of the products or services detailed in the document </a:t>
            </a:r>
          </a:p>
          <a:p>
            <a:pPr marL="171450" indent="-171450">
              <a:buFont typeface="Arial" pitchFamily="34" charset="0"/>
              <a:buChar char="•"/>
            </a:pPr>
            <a:r>
              <a:rPr lang="en-AU" sz="1200" kern="1200" dirty="0" smtClean="0">
                <a:solidFill>
                  <a:schemeClr val="tx1"/>
                </a:solidFill>
                <a:ea typeface="+mn-ea"/>
                <a:cs typeface="+mn-cs"/>
              </a:rPr>
              <a:t>It confirms the organisation will pay the amount stated for the items listed.</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109</a:t>
            </a:fld>
            <a:endParaRPr lang="en-US" dirty="0"/>
          </a:p>
        </p:txBody>
      </p:sp>
    </p:spTree>
    <p:extLst>
      <p:ext uri="{BB962C8B-B14F-4D97-AF65-F5344CB8AC3E}">
        <p14:creationId xmlns:p14="http://schemas.microsoft.com/office/powerpoint/2010/main" val="1588868063"/>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provides more information on Purchase Orders stating:</a:t>
            </a:r>
          </a:p>
          <a:p>
            <a:pPr marL="171450" indent="-171450">
              <a:buFont typeface="Arial" pitchFamily="34" charset="0"/>
              <a:buChar char="•"/>
            </a:pPr>
            <a:r>
              <a:rPr lang="en-AU" sz="1200" kern="1200" dirty="0" smtClean="0">
                <a:solidFill>
                  <a:schemeClr val="tx1"/>
                </a:solidFill>
                <a:ea typeface="+mn-ea"/>
                <a:cs typeface="+mn-cs"/>
              </a:rPr>
              <a:t>The Purchase Order may be forwarded to the supplier by mail, fax, or email. </a:t>
            </a:r>
          </a:p>
          <a:p>
            <a:pPr marL="171450" indent="-171450">
              <a:buFont typeface="Arial" pitchFamily="34" charset="0"/>
              <a:buChar char="•"/>
            </a:pPr>
            <a:r>
              <a:rPr lang="en-AU" sz="1200" kern="1200" dirty="0" smtClean="0">
                <a:solidFill>
                  <a:schemeClr val="tx1"/>
                </a:solidFill>
                <a:ea typeface="+mn-ea"/>
                <a:cs typeface="+mn-cs"/>
              </a:rPr>
              <a:t>A copy of the Purchase Order will traditionally remain in the Purchase Order book to serve as reference for the business, or the original may be photocopied and placed in a file.</a:t>
            </a:r>
          </a:p>
          <a:p>
            <a:pPr marL="171450" indent="-171450">
              <a:buFont typeface="Arial" pitchFamily="34" charset="0"/>
              <a:buChar char="•"/>
            </a:pPr>
            <a:r>
              <a:rPr lang="en-AU" sz="1200" kern="1200" dirty="0" smtClean="0">
                <a:solidFill>
                  <a:schemeClr val="tx1"/>
                </a:solidFill>
                <a:ea typeface="+mn-ea"/>
                <a:cs typeface="+mn-cs"/>
              </a:rPr>
              <a:t>It is also becoming more common today for purchasing with preferred suppliers to be carried out over the Internet, known as e-Purchasing.</a:t>
            </a:r>
          </a:p>
          <a:p>
            <a:pPr marL="171450" indent="-171450">
              <a:buFont typeface="Arial" pitchFamily="34" charset="0"/>
              <a:buChar char="•"/>
            </a:pPr>
            <a:r>
              <a:rPr lang="en-AU" sz="1200" kern="1200" dirty="0" smtClean="0">
                <a:solidFill>
                  <a:schemeClr val="tx1"/>
                </a:solidFill>
                <a:ea typeface="+mn-ea"/>
                <a:cs typeface="+mn-cs"/>
              </a:rPr>
              <a:t>Raising a Purchase Order can require:</a:t>
            </a:r>
          </a:p>
          <a:p>
            <a:pPr marL="628650" lvl="1" indent="-171450">
              <a:buFont typeface="Arial" pitchFamily="34" charset="0"/>
              <a:buChar char="•"/>
            </a:pPr>
            <a:r>
              <a:rPr lang="en-AU" sz="1200" kern="1200" dirty="0" smtClean="0">
                <a:solidFill>
                  <a:schemeClr val="tx1"/>
                </a:solidFill>
                <a:ea typeface="+mn-ea"/>
                <a:cs typeface="+mn-cs"/>
              </a:rPr>
              <a:t>Providing necessary details to the accounts or purchasing department </a:t>
            </a:r>
          </a:p>
          <a:p>
            <a:pPr marL="628650" lvl="1" indent="-171450">
              <a:buFont typeface="Arial" pitchFamily="34" charset="0"/>
              <a:buChar char="•"/>
            </a:pPr>
            <a:r>
              <a:rPr lang="en-AU" sz="1200" kern="1200" dirty="0" smtClean="0">
                <a:solidFill>
                  <a:schemeClr val="tx1"/>
                </a:solidFill>
                <a:ea typeface="+mn-ea"/>
                <a:cs typeface="+mn-cs"/>
              </a:rPr>
              <a:t>Physically writing out the details of the purchase on a pro-forma Purchase Order document.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110</a:t>
            </a:fld>
            <a:endParaRPr lang="en-US" dirty="0"/>
          </a:p>
        </p:txBody>
      </p:sp>
    </p:spTree>
    <p:extLst>
      <p:ext uri="{BB962C8B-B14F-4D97-AF65-F5344CB8AC3E}">
        <p14:creationId xmlns:p14="http://schemas.microsoft.com/office/powerpoint/2010/main" val="421651676"/>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explains content of Purchase Order as being:</a:t>
            </a:r>
          </a:p>
          <a:p>
            <a:pPr marL="171450" indent="-171450">
              <a:buFont typeface="Arial" pitchFamily="34" charset="0"/>
              <a:buChar char="•"/>
            </a:pPr>
            <a:r>
              <a:rPr lang="en-AU" sz="1200" kern="1200" dirty="0" smtClean="0">
                <a:solidFill>
                  <a:schemeClr val="tx1"/>
                </a:solidFill>
                <a:ea typeface="+mn-ea"/>
                <a:cs typeface="+mn-cs"/>
              </a:rPr>
              <a:t>Name and contact details for the organisation buying the product/service</a:t>
            </a:r>
          </a:p>
          <a:p>
            <a:pPr marL="171450" indent="-171450">
              <a:buFont typeface="Arial" pitchFamily="34" charset="0"/>
              <a:buChar char="•"/>
            </a:pPr>
            <a:r>
              <a:rPr lang="en-AU" sz="1200" kern="1200" dirty="0" smtClean="0">
                <a:solidFill>
                  <a:schemeClr val="tx1"/>
                </a:solidFill>
                <a:ea typeface="+mn-ea"/>
                <a:cs typeface="+mn-cs"/>
              </a:rPr>
              <a:t>Name of the supplier from whom the purchase is to be made</a:t>
            </a:r>
          </a:p>
          <a:p>
            <a:pPr marL="171450" indent="-171450">
              <a:buFont typeface="Arial" pitchFamily="34" charset="0"/>
              <a:buChar char="•"/>
            </a:pPr>
            <a:r>
              <a:rPr lang="en-AU" sz="1200" kern="1200" dirty="0" smtClean="0">
                <a:solidFill>
                  <a:schemeClr val="tx1"/>
                </a:solidFill>
                <a:ea typeface="+mn-ea"/>
                <a:cs typeface="+mn-cs"/>
              </a:rPr>
              <a:t>Details of what is being ordered </a:t>
            </a:r>
          </a:p>
          <a:p>
            <a:pPr marL="171450" indent="-171450">
              <a:buFont typeface="Arial" pitchFamily="34" charset="0"/>
              <a:buChar char="•"/>
            </a:pPr>
            <a:r>
              <a:rPr lang="en-AU" sz="1200" kern="1200" dirty="0" smtClean="0">
                <a:solidFill>
                  <a:schemeClr val="tx1"/>
                </a:solidFill>
                <a:ea typeface="+mn-ea"/>
                <a:cs typeface="+mn-cs"/>
              </a:rPr>
              <a:t>Quantities involved</a:t>
            </a:r>
          </a:p>
          <a:p>
            <a:pPr marL="171450" indent="-171450">
              <a:buFont typeface="Arial" pitchFamily="34" charset="0"/>
              <a:buChar char="•"/>
            </a:pPr>
            <a:r>
              <a:rPr lang="en-AU" sz="1200" kern="1200" dirty="0" smtClean="0">
                <a:solidFill>
                  <a:schemeClr val="tx1"/>
                </a:solidFill>
                <a:ea typeface="+mn-ea"/>
                <a:cs typeface="+mn-cs"/>
              </a:rPr>
              <a:t>Price </a:t>
            </a:r>
          </a:p>
          <a:p>
            <a:pPr marL="171450" indent="-171450">
              <a:buFont typeface="Arial" pitchFamily="34" charset="0"/>
              <a:buChar char="•"/>
            </a:pPr>
            <a:r>
              <a:rPr lang="en-AU" sz="1200" kern="1200" dirty="0" smtClean="0">
                <a:solidFill>
                  <a:schemeClr val="tx1"/>
                </a:solidFill>
                <a:ea typeface="+mn-ea"/>
                <a:cs typeface="+mn-cs"/>
              </a:rPr>
              <a:t>Signature of authorised representative/s from the organisation</a:t>
            </a:r>
          </a:p>
          <a:p>
            <a:pPr marL="171450" indent="-171450">
              <a:buFont typeface="Arial" pitchFamily="34" charset="0"/>
              <a:buChar char="•"/>
            </a:pPr>
            <a:r>
              <a:rPr lang="en-AU" sz="1200" kern="1200" dirty="0" smtClean="0">
                <a:solidFill>
                  <a:schemeClr val="tx1"/>
                </a:solidFill>
                <a:ea typeface="+mn-ea"/>
                <a:cs typeface="+mn-cs"/>
              </a:rPr>
              <a:t>A number – for reference purposes.</a:t>
            </a:r>
          </a:p>
          <a:p>
            <a:pPr>
              <a:buFont typeface="Arial" pitchFamily="34" charset="0"/>
              <a:buNone/>
            </a:pPr>
            <a:endParaRPr lang="en-US" dirty="0" smtClean="0"/>
          </a:p>
          <a:p>
            <a:pPr>
              <a:buFont typeface="Arial" pitchFamily="34" charset="0"/>
              <a:buNone/>
            </a:pPr>
            <a:r>
              <a:rPr lang="en-US" b="1" dirty="0" smtClean="0"/>
              <a:t>Classroom Activity – Handout</a:t>
            </a:r>
          </a:p>
          <a:p>
            <a:pPr>
              <a:buFont typeface="Arial" pitchFamily="34" charset="0"/>
              <a:buNone/>
            </a:pPr>
            <a:r>
              <a:rPr lang="en-US" b="0" dirty="0" smtClean="0"/>
              <a:t>Trainer distributes and discusses sample Purchase Order.</a:t>
            </a: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111</a:t>
            </a:fld>
            <a:endParaRPr lang="en-US" dirty="0"/>
          </a:p>
        </p:txBody>
      </p:sp>
    </p:spTree>
    <p:extLst>
      <p:ext uri="{BB962C8B-B14F-4D97-AF65-F5344CB8AC3E}">
        <p14:creationId xmlns:p14="http://schemas.microsoft.com/office/powerpoint/2010/main" val="407213182"/>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112</a:t>
            </a:fld>
            <a:endParaRPr lang="en-US" dirty="0"/>
          </a:p>
        </p:txBody>
      </p:sp>
    </p:spTree>
    <p:extLst>
      <p:ext uri="{BB962C8B-B14F-4D97-AF65-F5344CB8AC3E}">
        <p14:creationId xmlns:p14="http://schemas.microsoft.com/office/powerpoint/2010/main" val="2296076077"/>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113</a:t>
            </a:fld>
            <a:endParaRPr lang="en-US" dirty="0"/>
          </a:p>
        </p:txBody>
      </p:sp>
    </p:spTree>
    <p:extLst>
      <p:ext uri="{BB962C8B-B14F-4D97-AF65-F5344CB8AC3E}">
        <p14:creationId xmlns:p14="http://schemas.microsoft.com/office/powerpoint/2010/main" val="3895923897"/>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114</a:t>
            </a:fld>
            <a:endParaRPr lang="en-US" dirty="0"/>
          </a:p>
        </p:txBody>
      </p:sp>
    </p:spTree>
    <p:extLst>
      <p:ext uri="{BB962C8B-B14F-4D97-AF65-F5344CB8AC3E}">
        <p14:creationId xmlns:p14="http://schemas.microsoft.com/office/powerpoint/2010/main" val="2686384797"/>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1"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identifies for trainees the Performance Criteria for this Element, as listed on the slide.</a:t>
            </a:r>
          </a:p>
          <a:p>
            <a:pPr>
              <a:buFont typeface="Arial" pitchFamily="34" charset="0"/>
              <a:buNone/>
            </a:pPr>
            <a:endParaRPr lang="en-US" noProof="0" dirty="0" smtClean="0"/>
          </a:p>
          <a:p>
            <a:r>
              <a:rPr lang="en-AU" sz="1200" b="1" kern="1200" baseline="0" dirty="0" smtClean="0">
                <a:solidFill>
                  <a:schemeClr val="tx1"/>
                </a:solidFill>
                <a:ea typeface="+mn-ea"/>
                <a:cs typeface="+mn-cs"/>
              </a:rPr>
              <a:t>Class Activity – General Discussion</a:t>
            </a:r>
          </a:p>
          <a:p>
            <a:r>
              <a:rPr lang="en-AU" sz="1200" kern="1200" baseline="0" dirty="0" smtClean="0">
                <a:solidFill>
                  <a:schemeClr val="tx1"/>
                </a:solidFill>
                <a:ea typeface="+mn-ea"/>
                <a:cs typeface="+mn-cs"/>
              </a:rPr>
              <a:t>Trainer leads a general class discussion by asking questions such as:</a:t>
            </a:r>
          </a:p>
          <a:p>
            <a:pPr marL="171450" indent="-171450">
              <a:buFont typeface="Arial" pitchFamily="34" charset="0"/>
              <a:buChar char="•"/>
            </a:pPr>
            <a:r>
              <a:rPr lang="en-US" noProof="0" dirty="0" smtClean="0"/>
              <a:t>What activities might be involved in this phase of the process?</a:t>
            </a:r>
          </a:p>
          <a:p>
            <a:pPr marL="171450" indent="-171450">
              <a:buFont typeface="Arial" pitchFamily="34" charset="0"/>
              <a:buChar char="•"/>
            </a:pPr>
            <a:r>
              <a:rPr lang="en-US" noProof="0" dirty="0" smtClean="0"/>
              <a:t>Why are these activities important?</a:t>
            </a:r>
          </a:p>
          <a:p>
            <a:pPr marL="171450" indent="-171450">
              <a:buFont typeface="Arial" pitchFamily="34" charset="0"/>
              <a:buChar char="•"/>
            </a:pPr>
            <a:r>
              <a:rPr lang="en-US" noProof="0" dirty="0" smtClean="0"/>
              <a:t>Who may be involved?</a:t>
            </a:r>
          </a:p>
          <a:p>
            <a:pPr marL="171450" indent="-171450">
              <a:buFont typeface="Arial" pitchFamily="34" charset="0"/>
              <a:buChar char="•"/>
            </a:pPr>
            <a:r>
              <a:rPr lang="en-US" noProof="0" dirty="0" smtClean="0"/>
              <a:t>What is meant by ‘Plan B’?</a:t>
            </a: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115</a:t>
            </a:fld>
            <a:endParaRPr lang="en-US" dirty="0"/>
          </a:p>
        </p:txBody>
      </p:sp>
    </p:spTree>
    <p:extLst>
      <p:ext uri="{BB962C8B-B14F-4D97-AF65-F5344CB8AC3E}">
        <p14:creationId xmlns:p14="http://schemas.microsoft.com/office/powerpoint/2010/main" val="1054807649"/>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lang="en-US" dirty="0" smtClean="0"/>
              <a:t>Trainer indicates once </a:t>
            </a:r>
            <a:r>
              <a:rPr lang="en-AU" sz="1200" kern="1200" dirty="0" smtClean="0">
                <a:solidFill>
                  <a:schemeClr val="tx1"/>
                </a:solidFill>
                <a:ea typeface="+mn-ea"/>
                <a:cs typeface="+mn-cs"/>
              </a:rPr>
              <a:t>the provider/printer has been informed they have secured the job (and supporting documentation/payments have been completed) there is commonly a need to:</a:t>
            </a:r>
          </a:p>
          <a:p>
            <a:pPr marL="171450" indent="-171450">
              <a:buFont typeface="Arial" pitchFamily="34" charset="0"/>
              <a:buChar char="•"/>
            </a:pPr>
            <a:r>
              <a:rPr lang="en-AU" sz="1200" kern="1200" dirty="0" smtClean="0">
                <a:solidFill>
                  <a:schemeClr val="tx1"/>
                </a:solidFill>
                <a:ea typeface="+mn-ea"/>
                <a:cs typeface="+mn-cs"/>
              </a:rPr>
              <a:t>Be available as required – to:</a:t>
            </a:r>
          </a:p>
          <a:p>
            <a:pPr marL="628650" lvl="1" indent="-171450">
              <a:buFont typeface="Arial" pitchFamily="34" charset="0"/>
              <a:buChar char="•"/>
            </a:pPr>
            <a:r>
              <a:rPr lang="en-AU" sz="1200" kern="1200" dirty="0" smtClean="0">
                <a:solidFill>
                  <a:schemeClr val="tx1"/>
                </a:solidFill>
                <a:ea typeface="+mn-ea"/>
                <a:cs typeface="+mn-cs"/>
              </a:rPr>
              <a:t>Answer questions about the project </a:t>
            </a:r>
          </a:p>
          <a:p>
            <a:pPr marL="628650" lvl="1" indent="-171450">
              <a:buFont typeface="Arial" pitchFamily="34" charset="0"/>
              <a:buChar char="•"/>
            </a:pPr>
            <a:r>
              <a:rPr lang="en-AU" sz="1200" kern="1200" dirty="0" smtClean="0">
                <a:solidFill>
                  <a:schemeClr val="tx1"/>
                </a:solidFill>
                <a:ea typeface="+mn-ea"/>
                <a:cs typeface="+mn-cs"/>
              </a:rPr>
              <a:t>Provide direction or guidance in relation to matters raised</a:t>
            </a:r>
          </a:p>
          <a:p>
            <a:pPr marL="171450" indent="-171450">
              <a:buFont typeface="Arial" pitchFamily="34" charset="0"/>
              <a:buChar char="•"/>
            </a:pPr>
            <a:r>
              <a:rPr lang="en-AU" sz="1200" kern="1200" dirty="0" smtClean="0">
                <a:solidFill>
                  <a:schemeClr val="tx1"/>
                </a:solidFill>
                <a:ea typeface="+mn-ea"/>
                <a:cs typeface="+mn-cs"/>
              </a:rPr>
              <a:t>Meet with service providers on a regular basis – this can be at their premises or elsewhere but these meetings are important to:</a:t>
            </a:r>
          </a:p>
          <a:p>
            <a:pPr marL="628650" lvl="1" indent="-171450">
              <a:buFont typeface="Arial" pitchFamily="34" charset="0"/>
              <a:buChar char="•"/>
            </a:pPr>
            <a:r>
              <a:rPr lang="en-AU" sz="1200" kern="1200" dirty="0" smtClean="0">
                <a:solidFill>
                  <a:schemeClr val="tx1"/>
                </a:solidFill>
                <a:ea typeface="+mn-ea"/>
                <a:cs typeface="+mn-cs"/>
              </a:rPr>
              <a:t>Keep them focussed on delivering what has been promised/agreed</a:t>
            </a:r>
          </a:p>
          <a:p>
            <a:pPr marL="628650" lvl="1" indent="-171450">
              <a:buFont typeface="Arial" pitchFamily="34" charset="0"/>
              <a:buChar char="•"/>
            </a:pPr>
            <a:r>
              <a:rPr lang="en-AU" sz="1200" kern="1200" dirty="0" smtClean="0">
                <a:solidFill>
                  <a:schemeClr val="tx1"/>
                </a:solidFill>
                <a:ea typeface="+mn-ea"/>
                <a:cs typeface="+mn-cs"/>
              </a:rPr>
              <a:t>Maintain their awareness deadlines agreed on remain important and necessary</a:t>
            </a:r>
          </a:p>
          <a:p>
            <a:pPr marL="628650" lvl="1" indent="-171450">
              <a:buFont typeface="Arial" pitchFamily="34" charset="0"/>
              <a:buChar char="•"/>
            </a:pPr>
            <a:r>
              <a:rPr lang="en-AU" sz="1200" kern="1200" dirty="0" smtClean="0">
                <a:solidFill>
                  <a:schemeClr val="tx1"/>
                </a:solidFill>
                <a:ea typeface="+mn-ea"/>
                <a:cs typeface="+mn-cs"/>
              </a:rPr>
              <a:t>Enable emerging problems/issues to be addressed and resolved</a:t>
            </a:r>
          </a:p>
          <a:p>
            <a:pPr marL="628650" lvl="1" indent="-171450">
              <a:buFont typeface="Arial" pitchFamily="34" charset="0"/>
              <a:buChar char="•"/>
            </a:pPr>
            <a:r>
              <a:rPr lang="en-AU" sz="1200" kern="1200" dirty="0" smtClean="0">
                <a:solidFill>
                  <a:schemeClr val="tx1"/>
                </a:solidFill>
                <a:ea typeface="+mn-ea"/>
                <a:cs typeface="+mn-cs"/>
              </a:rPr>
              <a:t>Cultivate a positive relationship.</a:t>
            </a:r>
          </a:p>
          <a:p>
            <a:pPr marL="1085850" lvl="2" indent="-171450">
              <a:buFont typeface="Arial" pitchFamily="34" charset="0"/>
              <a:buChar char="•"/>
            </a:pPr>
            <a:r>
              <a:rPr lang="en-AU" sz="1200" kern="1200" dirty="0" smtClean="0">
                <a:solidFill>
                  <a:schemeClr val="tx1"/>
                </a:solidFill>
                <a:ea typeface="+mn-ea"/>
                <a:cs typeface="+mn-cs"/>
              </a:rPr>
              <a:t>These meetings should be face-to-face as opposed to telephone meetings as it is harder for a provider to avoid questions and answer ‘difficult’ questions when talking in-person rather than over the phone.</a:t>
            </a:r>
          </a:p>
          <a:p>
            <a:pPr marL="171450" indent="-171450">
              <a:buFont typeface="Arial" pitchFamily="34" charset="0"/>
              <a:buChar char="•"/>
            </a:pPr>
            <a:r>
              <a:rPr lang="en-AU" sz="1200" kern="1200" dirty="0" smtClean="0">
                <a:solidFill>
                  <a:schemeClr val="tx1"/>
                </a:solidFill>
                <a:ea typeface="+mn-ea"/>
                <a:cs typeface="+mn-cs"/>
              </a:rPr>
              <a:t>Make production-related decisions to move the project forward – as may be required for individual projects, for example:</a:t>
            </a:r>
          </a:p>
          <a:p>
            <a:pPr marL="628650" lvl="1" indent="-171450">
              <a:buFont typeface="Arial" pitchFamily="34" charset="0"/>
              <a:buChar char="•"/>
            </a:pPr>
            <a:r>
              <a:rPr lang="en-AU" sz="1200" kern="1200" dirty="0" smtClean="0">
                <a:solidFill>
                  <a:schemeClr val="tx1"/>
                </a:solidFill>
                <a:ea typeface="+mn-ea"/>
                <a:cs typeface="+mn-cs"/>
              </a:rPr>
              <a:t>Decisions regarding production variations to product which may be required during the production phase</a:t>
            </a:r>
          </a:p>
          <a:p>
            <a:pPr marL="628650" lvl="1" indent="-171450">
              <a:buFont typeface="Arial" pitchFamily="34" charset="0"/>
              <a:buChar char="•"/>
            </a:pPr>
            <a:r>
              <a:rPr lang="en-AU" sz="1200" kern="1200" dirty="0" smtClean="0">
                <a:solidFill>
                  <a:schemeClr val="tx1"/>
                </a:solidFill>
                <a:ea typeface="+mn-ea"/>
                <a:cs typeface="+mn-cs"/>
              </a:rPr>
              <a:t>Questions about revised deadlines – commonly relating to a need to a need to move ‘due by’ dates forward</a:t>
            </a:r>
          </a:p>
          <a:p>
            <a:pPr marL="628650" lvl="1" indent="-171450">
              <a:buFont typeface="Arial" pitchFamily="34" charset="0"/>
              <a:buChar char="•"/>
            </a:pPr>
            <a:r>
              <a:rPr lang="en-AU" sz="1200" kern="1200" dirty="0" smtClean="0">
                <a:solidFill>
                  <a:schemeClr val="tx1"/>
                </a:solidFill>
                <a:ea typeface="+mn-ea"/>
                <a:cs typeface="+mn-cs"/>
              </a:rPr>
              <a:t>Requirements to alter initial quantities ordered – given this may be an upward or downward movement</a:t>
            </a:r>
          </a:p>
          <a:p>
            <a:pPr marL="628650" lvl="1" indent="-171450">
              <a:buFont typeface="Arial" pitchFamily="34" charset="0"/>
              <a:buChar char="•"/>
            </a:pPr>
            <a:r>
              <a:rPr lang="en-AU" sz="1200" kern="1200" dirty="0" smtClean="0">
                <a:solidFill>
                  <a:schemeClr val="tx1"/>
                </a:solidFill>
                <a:ea typeface="+mn-ea"/>
                <a:cs typeface="+mn-cs"/>
              </a:rPr>
              <a:t>Decisions to alter copy – which can often relate to:</a:t>
            </a:r>
          </a:p>
          <a:p>
            <a:pPr marL="1085850" lvl="2" indent="-171450">
              <a:buFont typeface="Arial" pitchFamily="34" charset="0"/>
              <a:buChar char="•"/>
            </a:pPr>
            <a:r>
              <a:rPr lang="en-AU" sz="1200" kern="1200" dirty="0" smtClean="0">
                <a:solidFill>
                  <a:schemeClr val="tx1"/>
                </a:solidFill>
                <a:ea typeface="+mn-ea"/>
                <a:cs typeface="+mn-cs"/>
              </a:rPr>
              <a:t>Changes to dates, times and prices</a:t>
            </a:r>
          </a:p>
          <a:p>
            <a:pPr marL="1085850" lvl="2" indent="-171450">
              <a:buFont typeface="Arial" pitchFamily="34" charset="0"/>
              <a:buChar char="•"/>
            </a:pPr>
            <a:r>
              <a:rPr lang="en-AU" sz="1200" kern="1200" dirty="0" smtClean="0">
                <a:solidFill>
                  <a:schemeClr val="tx1"/>
                </a:solidFill>
                <a:ea typeface="+mn-ea"/>
                <a:cs typeface="+mn-cs"/>
              </a:rPr>
              <a:t>Inclusion alterations </a:t>
            </a:r>
          </a:p>
          <a:p>
            <a:pPr marL="1085850" lvl="2" indent="-171450">
              <a:buFont typeface="Arial" pitchFamily="34" charset="0"/>
              <a:buChar char="•"/>
            </a:pPr>
            <a:r>
              <a:rPr lang="en-AU" sz="1200" kern="1200" dirty="0" smtClean="0">
                <a:solidFill>
                  <a:schemeClr val="tx1"/>
                </a:solidFill>
                <a:ea typeface="+mn-ea"/>
                <a:cs typeface="+mn-cs"/>
              </a:rPr>
              <a:t>Need to produce the same thing (brochure or item) but in a different language</a:t>
            </a:r>
          </a:p>
          <a:p>
            <a:pPr marL="1085850" lvl="2" indent="-171450">
              <a:buFont typeface="Arial" pitchFamily="34" charset="0"/>
              <a:buChar char="•"/>
            </a:pPr>
            <a:r>
              <a:rPr lang="en-AU" sz="1200" kern="1200" dirty="0" smtClean="0">
                <a:solidFill>
                  <a:schemeClr val="tx1"/>
                </a:solidFill>
                <a:ea typeface="+mn-ea"/>
                <a:cs typeface="+mn-cs"/>
              </a:rPr>
              <a:t>Need to add supplementary services to the initial agreement/contract.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116</a:t>
            </a:fld>
            <a:endParaRPr lang="en-US" dirty="0"/>
          </a:p>
        </p:txBody>
      </p:sp>
    </p:spTree>
    <p:extLst>
      <p:ext uri="{BB962C8B-B14F-4D97-AF65-F5344CB8AC3E}">
        <p14:creationId xmlns:p14="http://schemas.microsoft.com/office/powerpoint/2010/main" val="2798566752"/>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presents </a:t>
            </a:r>
            <a:r>
              <a:rPr lang="en-AU" sz="1200" kern="1200" dirty="0" smtClean="0">
                <a:solidFill>
                  <a:schemeClr val="tx1"/>
                </a:solidFill>
                <a:ea typeface="+mn-ea"/>
                <a:cs typeface="+mn-cs"/>
              </a:rPr>
              <a:t>key points to note at this stage of the process:</a:t>
            </a:r>
          </a:p>
          <a:p>
            <a:pPr marL="171450" indent="-171450">
              <a:buFont typeface="Arial" pitchFamily="34" charset="0"/>
              <a:buChar char="•"/>
            </a:pPr>
            <a:r>
              <a:rPr lang="en-AU" sz="1200" kern="1200" dirty="0" smtClean="0">
                <a:solidFill>
                  <a:schemeClr val="tx1"/>
                </a:solidFill>
                <a:ea typeface="+mn-ea"/>
                <a:cs typeface="+mn-cs"/>
              </a:rPr>
              <a:t>Never ignore problems – as soon as an issue is identified (by either party) it must be addressed so it can be resolved.</a:t>
            </a:r>
          </a:p>
          <a:p>
            <a:pPr marL="628650" lvl="1" indent="-171450">
              <a:buFont typeface="Arial" pitchFamily="34" charset="0"/>
              <a:buChar char="•"/>
            </a:pPr>
            <a:r>
              <a:rPr lang="en-AU" sz="1200" kern="1200" dirty="0" smtClean="0">
                <a:solidFill>
                  <a:schemeClr val="tx1"/>
                </a:solidFill>
                <a:ea typeface="+mn-ea"/>
                <a:cs typeface="+mn-cs"/>
              </a:rPr>
              <a:t>These problems tend not to resolve themselves – they have to be addressed, talked about and a plan of action determined for addressing whatever is causing the problem.</a:t>
            </a:r>
          </a:p>
          <a:p>
            <a:pPr marL="628650" lvl="1" indent="-171450">
              <a:buFont typeface="Arial" pitchFamily="34" charset="0"/>
              <a:buChar char="•"/>
            </a:pPr>
            <a:r>
              <a:rPr lang="en-AU" sz="1200" kern="1200" dirty="0" smtClean="0">
                <a:solidFill>
                  <a:schemeClr val="tx1"/>
                </a:solidFill>
                <a:ea typeface="+mn-ea"/>
                <a:cs typeface="+mn-cs"/>
              </a:rPr>
              <a:t>It is worth bearing in mind few if any jobs of this nature exist in isolation from everything else.</a:t>
            </a:r>
          </a:p>
          <a:p>
            <a:pPr marL="171450" indent="-171450">
              <a:buFont typeface="Arial" pitchFamily="34" charset="0"/>
              <a:buChar char="•"/>
            </a:pPr>
            <a:r>
              <a:rPr lang="en-AU" sz="1200" kern="1200" dirty="0" smtClean="0">
                <a:solidFill>
                  <a:schemeClr val="tx1"/>
                </a:solidFill>
                <a:ea typeface="+mn-ea"/>
                <a:cs typeface="+mn-cs"/>
              </a:rPr>
              <a:t>Respond promptly – to questions and issues raised by the printer.</a:t>
            </a:r>
          </a:p>
          <a:p>
            <a:pPr marL="628650" lvl="1" indent="-171450">
              <a:buFont typeface="Arial" pitchFamily="34" charset="0"/>
              <a:buChar char="•"/>
            </a:pPr>
            <a:r>
              <a:rPr lang="en-AU" sz="1200" kern="1200" dirty="0" smtClean="0">
                <a:solidFill>
                  <a:schemeClr val="tx1"/>
                </a:solidFill>
                <a:ea typeface="+mn-ea"/>
                <a:cs typeface="+mn-cs"/>
              </a:rPr>
              <a:t>This helps indicate the urgency of the work/the need for the job to be completed by the promised date, and helps avoid giving the provider an ‘excuse’ for slow delivery.</a:t>
            </a:r>
          </a:p>
          <a:p>
            <a:pPr marL="171450" indent="-171450">
              <a:buFont typeface="Arial" pitchFamily="34" charset="0"/>
              <a:buChar char="•"/>
            </a:pPr>
            <a:r>
              <a:rPr lang="en-AU" sz="1200" kern="1200" dirty="0" smtClean="0">
                <a:solidFill>
                  <a:schemeClr val="tx1"/>
                </a:solidFill>
                <a:ea typeface="+mn-ea"/>
                <a:cs typeface="+mn-cs"/>
              </a:rPr>
              <a:t>Keep providers on their toes – this revolves around keeping them accountable and means:</a:t>
            </a:r>
          </a:p>
          <a:p>
            <a:pPr marL="628650" lvl="1" indent="-171450">
              <a:buFont typeface="Arial" pitchFamily="34" charset="0"/>
              <a:buChar char="•"/>
            </a:pPr>
            <a:r>
              <a:rPr lang="en-US" sz="1200" kern="1200" dirty="0" smtClean="0">
                <a:solidFill>
                  <a:schemeClr val="tx1"/>
                </a:solidFill>
                <a:ea typeface="+mn-ea"/>
                <a:cs typeface="+mn-cs"/>
              </a:rPr>
              <a:t>Insisting they attend scheduled meetings with an account of what progress has been made since last meeting</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Obtaining proof materials as soon as they are ready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Telling them action will be taken if they do not deliver on time and/or otherwise as required – this action may include: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Taking legal action to recover damages</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Taking the business elsewhere to an alternate provider – see section 5.3</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Telling other organisations/industry groups about their failure to deliver.</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117</a:t>
            </a:fld>
            <a:endParaRPr lang="en-US" dirty="0"/>
          </a:p>
        </p:txBody>
      </p:sp>
    </p:spTree>
    <p:extLst>
      <p:ext uri="{BB962C8B-B14F-4D97-AF65-F5344CB8AC3E}">
        <p14:creationId xmlns:p14="http://schemas.microsoft.com/office/powerpoint/2010/main" val="2159588406"/>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emphasises </a:t>
            </a:r>
            <a:r>
              <a:rPr lang="en-AU" sz="1200" kern="1200" dirty="0" smtClean="0">
                <a:solidFill>
                  <a:schemeClr val="tx1"/>
                </a:solidFill>
                <a:ea typeface="+mn-ea"/>
                <a:cs typeface="+mn-cs"/>
              </a:rPr>
              <a:t>the importance of paying providers and printers explaining there are three main reasons to pay these people:</a:t>
            </a:r>
          </a:p>
          <a:p>
            <a:pPr marL="171450" indent="-171450">
              <a:buFont typeface="Arial" pitchFamily="34" charset="0"/>
              <a:buChar char="•"/>
            </a:pPr>
            <a:r>
              <a:rPr lang="en-AU" sz="1200" kern="1200" dirty="0" smtClean="0">
                <a:solidFill>
                  <a:schemeClr val="tx1"/>
                </a:solidFill>
                <a:ea typeface="+mn-ea"/>
                <a:cs typeface="+mn-cs"/>
              </a:rPr>
              <a:t>If the organisation wants to deal with them again it has to have developed a reputation as a ‘good payer’ – this means having in full and on time</a:t>
            </a:r>
          </a:p>
          <a:p>
            <a:pPr marL="171450" indent="-171450">
              <a:buFont typeface="Arial" pitchFamily="34" charset="0"/>
              <a:buChar char="•"/>
            </a:pPr>
            <a:r>
              <a:rPr lang="en-AU" sz="1200" kern="1200" dirty="0" smtClean="0">
                <a:solidFill>
                  <a:schemeClr val="tx1"/>
                </a:solidFill>
                <a:ea typeface="+mn-ea"/>
                <a:cs typeface="+mn-cs"/>
              </a:rPr>
              <a:t>If they are not paid they will tell other providers/printers about the situation – and the reputation of the organisation will suffer as a consequence. It may even suffer to the extent no other business will want to deal with it.</a:t>
            </a:r>
          </a:p>
          <a:p>
            <a:pPr marL="171450" indent="-171450">
              <a:buFont typeface="Arial" pitchFamily="34" charset="0"/>
              <a:buChar char="•"/>
            </a:pPr>
            <a:r>
              <a:rPr lang="en-AU" sz="1200" kern="1200" dirty="0" smtClean="0">
                <a:solidFill>
                  <a:schemeClr val="tx1"/>
                </a:solidFill>
                <a:ea typeface="+mn-ea"/>
                <a:cs typeface="+mn-cs"/>
              </a:rPr>
              <a:t>If they are not paid they may/will take legal action to recover the money they are owed – and the legal costs can add much more to what the organisation would have had to originally pay.</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118</a:t>
            </a:fld>
            <a:endParaRPr lang="en-US" dirty="0"/>
          </a:p>
        </p:txBody>
      </p:sp>
    </p:spTree>
    <p:extLst>
      <p:ext uri="{BB962C8B-B14F-4D97-AF65-F5344CB8AC3E}">
        <p14:creationId xmlns:p14="http://schemas.microsoft.com/office/powerpoint/2010/main" val="2563899285"/>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dirty="0" smtClean="0"/>
              <a:t>Trainer stresses </a:t>
            </a:r>
            <a:r>
              <a:rPr lang="en-AU" sz="1200" kern="1200" dirty="0" smtClean="0">
                <a:solidFill>
                  <a:schemeClr val="tx1"/>
                </a:solidFill>
                <a:ea typeface="+mn-ea"/>
                <a:cs typeface="+mn-cs"/>
              </a:rPr>
              <a:t>payment needs to be made:</a:t>
            </a:r>
          </a:p>
          <a:p>
            <a:pPr marL="171450" indent="-171450">
              <a:buFont typeface="Arial" pitchFamily="34" charset="0"/>
              <a:buChar char="•"/>
            </a:pPr>
            <a:r>
              <a:rPr lang="en-AU" sz="1200" kern="1200" dirty="0" smtClean="0">
                <a:solidFill>
                  <a:schemeClr val="tx1"/>
                </a:solidFill>
                <a:ea typeface="+mn-ea"/>
                <a:cs typeface="+mn-cs"/>
              </a:rPr>
              <a:t>On or before the agreed date – there can be one or multiple dates for payment which need to be observed, for example:</a:t>
            </a:r>
          </a:p>
          <a:p>
            <a:pPr marL="628650" lvl="1" indent="-171450">
              <a:buFont typeface="Arial" pitchFamily="34" charset="0"/>
              <a:buChar char="•"/>
            </a:pPr>
            <a:r>
              <a:rPr lang="en-US" sz="1200" kern="1200" dirty="0" smtClean="0">
                <a:solidFill>
                  <a:schemeClr val="tx1"/>
                </a:solidFill>
                <a:ea typeface="+mn-ea"/>
                <a:cs typeface="+mn-cs"/>
              </a:rPr>
              <a:t>Date for payment of a nominated deposit – to show ‘good faith’ and an ability to pay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Initial payment – this may be the first of several payment and is often a given percentage of the total job</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Progress payment/s – due at set times throughout the duration of an extended job</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Final payment – an end-of-job payment paid on completion of the work when the final product has been accepted and signed off on.</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For many small jobs a single payment is made and often required, say ‘within 14 days’, ‘within 30 days’ or otherwise according to the standard terms and conditions of the business.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 the amount specified – this means:</a:t>
            </a:r>
          </a:p>
          <a:p>
            <a:pPr marL="628650" lvl="1" indent="-171450">
              <a:buFont typeface="Arial" pitchFamily="34" charset="0"/>
              <a:buChar char="•"/>
            </a:pPr>
            <a:r>
              <a:rPr lang="en-US" sz="1200" kern="1200" dirty="0" smtClean="0">
                <a:solidFill>
                  <a:schemeClr val="tx1"/>
                </a:solidFill>
                <a:ea typeface="+mn-ea"/>
                <a:cs typeface="+mn-cs"/>
              </a:rPr>
              <a:t>Amounts detailed and agreed to in a contract or other agreement must be paid without withholding any amount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Allowable discounts may be deducted – these may be available (for instance):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If early payment is made</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If the organisation belongs to a body/group that normally attracts an industry or other discount</a:t>
            </a:r>
            <a:endParaRPr lang="en-AU" sz="1200" kern="1200" dirty="0" smtClean="0">
              <a:solidFill>
                <a:schemeClr val="tx1"/>
              </a:solidFill>
              <a:ea typeface="+mn-ea"/>
              <a:cs typeface="+mn-cs"/>
            </a:endParaRPr>
          </a:p>
          <a:p>
            <a:pPr marL="1085850" lvl="2" indent="-171450">
              <a:buFont typeface="Arial" pitchFamily="34" charset="0"/>
              <a:buChar char="•"/>
            </a:pPr>
            <a:r>
              <a:rPr lang="en-US" sz="1200" kern="1200" dirty="0" smtClean="0">
                <a:solidFill>
                  <a:schemeClr val="tx1"/>
                </a:solidFill>
                <a:ea typeface="+mn-ea"/>
                <a:cs typeface="+mn-cs"/>
              </a:rPr>
              <a:t>For repeat orders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 the manner specified/agreed to – commonly local providers will pay in the currency of the home country and payment may be made in cash or by cheque.</a:t>
            </a:r>
          </a:p>
          <a:p>
            <a:pPr marL="628650" lvl="1" indent="-171450">
              <a:buFont typeface="Arial" pitchFamily="34" charset="0"/>
              <a:buChar char="•"/>
            </a:pPr>
            <a:r>
              <a:rPr lang="en-AU" sz="1200" kern="1200" dirty="0" smtClean="0">
                <a:solidFill>
                  <a:schemeClr val="tx1"/>
                </a:solidFill>
                <a:ea typeface="+mn-ea"/>
                <a:cs typeface="+mn-cs"/>
              </a:rPr>
              <a:t>Foreign companies may have insisted payment is made in a stipulated currency.</a:t>
            </a:r>
          </a:p>
          <a:p>
            <a:pPr marL="628650" lvl="1" indent="-171450">
              <a:buFont typeface="Arial" pitchFamily="34" charset="0"/>
              <a:buChar char="•"/>
            </a:pPr>
            <a:r>
              <a:rPr lang="en-AU" sz="1200" kern="1200" dirty="0" smtClean="0">
                <a:solidFill>
                  <a:schemeClr val="tx1"/>
                </a:solidFill>
                <a:ea typeface="+mn-ea"/>
                <a:cs typeface="+mn-cs"/>
              </a:rPr>
              <a:t>Other operators may require electronic payment (funds transfer) of some form.</a:t>
            </a:r>
          </a:p>
          <a:p>
            <a:pPr>
              <a:buFont typeface="Arial" pitchFamily="34" charset="0"/>
              <a:buNone/>
            </a:pPr>
            <a:r>
              <a:rPr lang="en-US" dirty="0" smtClean="0"/>
              <a:t> </a:t>
            </a: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119</a:t>
            </a:fld>
            <a:endParaRPr lang="en-US" dirty="0"/>
          </a:p>
        </p:txBody>
      </p:sp>
    </p:spTree>
    <p:extLst>
      <p:ext uri="{BB962C8B-B14F-4D97-AF65-F5344CB8AC3E}">
        <p14:creationId xmlns:p14="http://schemas.microsoft.com/office/powerpoint/2010/main" val="131610234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adds it </a:t>
            </a:r>
            <a:r>
              <a:rPr lang="en-AU" sz="1200" b="0" kern="1200" dirty="0" smtClean="0">
                <a:solidFill>
                  <a:schemeClr val="tx1"/>
                </a:solidFill>
                <a:ea typeface="+mn-ea"/>
                <a:cs typeface="+mn-cs"/>
              </a:rPr>
              <a:t>is also worthwhile noting:</a:t>
            </a:r>
            <a:endParaRPr lang="en-AU" sz="1200" b="1"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Matters where the organisation believes there should be a reduction in the quoted price (for example, due to lack of quality, mistakes, not meeting timelines) need to be raised with the supplier – it is never acceptable/sufficient to deduct an amount and tell the provider why this was done.</a:t>
            </a:r>
          </a:p>
          <a:p>
            <a:pPr marL="628650" lvl="1" indent="-171450">
              <a:buFont typeface="Arial" pitchFamily="34" charset="0"/>
              <a:buChar char="•"/>
            </a:pPr>
            <a:r>
              <a:rPr lang="en-AU" sz="1200" kern="1200" dirty="0" smtClean="0">
                <a:solidFill>
                  <a:schemeClr val="tx1"/>
                </a:solidFill>
                <a:ea typeface="+mn-ea"/>
                <a:cs typeface="+mn-cs"/>
              </a:rPr>
              <a:t>The deduction needs to be discussed and an acceptable arrangement reached.</a:t>
            </a:r>
          </a:p>
          <a:p>
            <a:pPr marL="171450" indent="-171450">
              <a:buFont typeface="Arial" pitchFamily="34" charset="0"/>
              <a:buChar char="•"/>
            </a:pPr>
            <a:r>
              <a:rPr lang="en-AU" sz="1200" kern="1200" dirty="0" smtClean="0">
                <a:solidFill>
                  <a:schemeClr val="tx1"/>
                </a:solidFill>
                <a:ea typeface="+mn-ea"/>
                <a:cs typeface="+mn-cs"/>
              </a:rPr>
              <a:t>Receipts should be requested and filed for all payments</a:t>
            </a:r>
          </a:p>
          <a:p>
            <a:pPr marL="171450" indent="-171450">
              <a:buFont typeface="Arial" pitchFamily="34" charset="0"/>
              <a:buChar char="•"/>
            </a:pPr>
            <a:r>
              <a:rPr lang="en-AU" sz="1200" kern="1200" dirty="0" smtClean="0">
                <a:solidFill>
                  <a:schemeClr val="tx1"/>
                </a:solidFill>
                <a:ea typeface="+mn-ea"/>
                <a:cs typeface="+mn-cs"/>
              </a:rPr>
              <a:t>Payment should be raised as a topic in meetings – so providers have an opportunity to query what they have been paid and/or raise issues in relation to payment so they may be quickly addressed</a:t>
            </a:r>
          </a:p>
          <a:p>
            <a:pPr marL="171450" indent="-171450">
              <a:buFont typeface="Arial" pitchFamily="34" charset="0"/>
              <a:buChar char="•"/>
            </a:pPr>
            <a:r>
              <a:rPr lang="en-AU" sz="1200" kern="1200" dirty="0" smtClean="0">
                <a:solidFill>
                  <a:schemeClr val="tx1"/>
                </a:solidFill>
                <a:ea typeface="+mn-ea"/>
                <a:cs typeface="+mn-cs"/>
              </a:rPr>
              <a:t>Failure to pay as agreed/promised/expected is one of the biggest causes of ill will among businesses – and has the potential to causes significant damage to business reputations</a:t>
            </a:r>
          </a:p>
          <a:p>
            <a:pPr marL="171450" indent="-171450">
              <a:buFont typeface="Arial" pitchFamily="34" charset="0"/>
              <a:buChar char="•"/>
            </a:pPr>
            <a:r>
              <a:rPr lang="en-AU" sz="1200" kern="1200" dirty="0" smtClean="0">
                <a:solidFill>
                  <a:schemeClr val="tx1"/>
                </a:solidFill>
                <a:ea typeface="+mn-ea"/>
                <a:cs typeface="+mn-cs"/>
              </a:rPr>
              <a:t>Issues/problems relating to payment should be immediately forwarded to management for their attention</a:t>
            </a:r>
          </a:p>
          <a:p>
            <a:pPr marL="171450" indent="-171450">
              <a:buFont typeface="Arial" pitchFamily="34" charset="0"/>
              <a:buChar char="•"/>
            </a:pPr>
            <a:r>
              <a:rPr lang="en-AU" sz="1200" kern="1200" dirty="0" smtClean="0">
                <a:solidFill>
                  <a:schemeClr val="tx1"/>
                </a:solidFill>
                <a:ea typeface="+mn-ea"/>
                <a:cs typeface="+mn-cs"/>
              </a:rPr>
              <a:t>An organisation that is a ‘good payer’ will elicit more cooperation and willingness to be flexible from the businesses it deals.</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120</a:t>
            </a:fld>
            <a:endParaRPr lang="en-US" dirty="0"/>
          </a:p>
        </p:txBody>
      </p:sp>
    </p:spTree>
    <p:extLst>
      <p:ext uri="{BB962C8B-B14F-4D97-AF65-F5344CB8AC3E}">
        <p14:creationId xmlns:p14="http://schemas.microsoft.com/office/powerpoint/2010/main" val="156013605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discusses ‘Plan B’ explaining</a:t>
            </a:r>
            <a:r>
              <a:rPr lang="en-AU" sz="1200" kern="1200" dirty="0" smtClean="0">
                <a:solidFill>
                  <a:schemeClr val="tx1"/>
                </a:solidFill>
                <a:ea typeface="+mn-ea"/>
                <a:cs typeface="+mn-cs"/>
              </a:rPr>
              <a:t> this is an alternate plan, the plan to be followed when the main/primary plan fails or cannot be implemented.  In this context Plan B may be required:</a:t>
            </a:r>
          </a:p>
          <a:p>
            <a:pPr marL="171450" indent="-171450">
              <a:buFont typeface="Arial" pitchFamily="34" charset="0"/>
              <a:buChar char="•"/>
            </a:pPr>
            <a:r>
              <a:rPr lang="en-AU" sz="1200" kern="1200" dirty="0" smtClean="0">
                <a:solidFill>
                  <a:schemeClr val="tx1"/>
                </a:solidFill>
                <a:ea typeface="+mn-ea"/>
                <a:cs typeface="+mn-cs"/>
              </a:rPr>
              <a:t>Because the original printer/producer advises they cannot meet the deadline/s they promised they could meet</a:t>
            </a:r>
          </a:p>
          <a:p>
            <a:pPr marL="171450" indent="-171450">
              <a:buFont typeface="Arial" pitchFamily="34" charset="0"/>
              <a:buChar char="•"/>
            </a:pPr>
            <a:r>
              <a:rPr lang="en-AU" sz="1200" kern="1200" dirty="0" smtClean="0">
                <a:solidFill>
                  <a:schemeClr val="tx1"/>
                </a:solidFill>
                <a:ea typeface="+mn-ea"/>
                <a:cs typeface="+mn-cs"/>
              </a:rPr>
              <a:t>If the printer/producer has a major accident/event in their business and the effect is their capacity to manufacture items is reduced or has been lost</a:t>
            </a:r>
          </a:p>
          <a:p>
            <a:pPr marL="171450" indent="-171450">
              <a:buFont typeface="Arial" pitchFamily="34" charset="0"/>
              <a:buChar char="•"/>
            </a:pPr>
            <a:r>
              <a:rPr lang="en-AU" sz="1200" kern="1200" dirty="0" smtClean="0">
                <a:solidFill>
                  <a:schemeClr val="tx1"/>
                </a:solidFill>
                <a:ea typeface="+mn-ea"/>
                <a:cs typeface="+mn-cs"/>
              </a:rPr>
              <a:t>When disputes and disagreements occur between the parties making continuation of the original agreement impossible</a:t>
            </a:r>
          </a:p>
          <a:p>
            <a:pPr marL="171450" indent="-171450">
              <a:buFont typeface="Arial" pitchFamily="34" charset="0"/>
              <a:buChar char="•"/>
            </a:pPr>
            <a:r>
              <a:rPr lang="en-AU" sz="1200" kern="1200" dirty="0" smtClean="0">
                <a:solidFill>
                  <a:schemeClr val="tx1"/>
                </a:solidFill>
                <a:ea typeface="+mn-ea"/>
                <a:cs typeface="+mn-cs"/>
              </a:rPr>
              <a:t>In circumstances where the producer meets/experiences unexpected problems which cannot be effectively addressed in a cost-effective and timely manner.</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121</a:t>
            </a:fld>
            <a:endParaRPr lang="en-US" dirty="0"/>
          </a:p>
        </p:txBody>
      </p:sp>
    </p:spTree>
    <p:extLst>
      <p:ext uri="{BB962C8B-B14F-4D97-AF65-F5344CB8AC3E}">
        <p14:creationId xmlns:p14="http://schemas.microsoft.com/office/powerpoint/2010/main" val="2154529240"/>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organisations </a:t>
            </a:r>
            <a:r>
              <a:rPr lang="en-AU" sz="1200" kern="1200" dirty="0" smtClean="0">
                <a:solidFill>
                  <a:schemeClr val="tx1"/>
                </a:solidFill>
                <a:ea typeface="+mn-ea"/>
                <a:cs typeface="+mn-cs"/>
              </a:rPr>
              <a:t>are well-advised to have a Plan B for major jobs involving the production of brochures and marketing materials because there are nearly always </a:t>
            </a:r>
            <a:r>
              <a:rPr lang="en-AU" sz="1200" b="1" kern="1200" dirty="0" smtClean="0">
                <a:solidFill>
                  <a:schemeClr val="tx1"/>
                </a:solidFill>
                <a:ea typeface="+mn-ea"/>
                <a:cs typeface="+mn-cs"/>
              </a:rPr>
              <a:t>other activities </a:t>
            </a:r>
            <a:r>
              <a:rPr lang="en-AU" sz="1200" kern="1200" dirty="0" smtClean="0">
                <a:solidFill>
                  <a:schemeClr val="tx1"/>
                </a:solidFill>
                <a:ea typeface="+mn-ea"/>
                <a:cs typeface="+mn-cs"/>
              </a:rPr>
              <a:t>which depend on or are based on the physical/actual presence of the brochures/items in given numbers by a nominated date. That is, the production of brochures/items rarely stand/exist on their own – for example:</a:t>
            </a:r>
          </a:p>
          <a:p>
            <a:pPr marL="171450" indent="-171450">
              <a:buFont typeface="Arial" pitchFamily="34" charset="0"/>
              <a:buChar char="•"/>
            </a:pPr>
            <a:r>
              <a:rPr lang="en-AU" sz="1200" kern="1200" dirty="0" smtClean="0">
                <a:solidFill>
                  <a:schemeClr val="tx1"/>
                </a:solidFill>
                <a:ea typeface="+mn-ea"/>
                <a:cs typeface="+mn-cs"/>
              </a:rPr>
              <a:t>Partners/agencies may be waiting for items by a given date – so they can distribute them/use them</a:t>
            </a:r>
          </a:p>
          <a:p>
            <a:pPr marL="171450" indent="-171450">
              <a:buFont typeface="Arial" pitchFamily="34" charset="0"/>
              <a:buChar char="•"/>
            </a:pPr>
            <a:r>
              <a:rPr lang="en-AU" sz="1200" kern="1200" dirty="0" smtClean="0">
                <a:solidFill>
                  <a:schemeClr val="tx1"/>
                </a:solidFill>
                <a:ea typeface="+mn-ea"/>
                <a:cs typeface="+mn-cs"/>
              </a:rPr>
              <a:t>Media advertising space which relies directly on these items may have already been bought or booked – so the materials are required to underpin this advertising</a:t>
            </a:r>
          </a:p>
          <a:p>
            <a:pPr marL="171450" indent="-171450">
              <a:buFont typeface="Arial" pitchFamily="34" charset="0"/>
              <a:buChar char="•"/>
            </a:pPr>
            <a:r>
              <a:rPr lang="en-AU" sz="1200" kern="1200" dirty="0" smtClean="0">
                <a:solidFill>
                  <a:schemeClr val="tx1"/>
                </a:solidFill>
                <a:ea typeface="+mn-ea"/>
                <a:cs typeface="+mn-cs"/>
              </a:rPr>
              <a:t>A wider promotion or advertising campaign could be jeopardised – as the materials are central to the central thrust of the initiative</a:t>
            </a:r>
          </a:p>
          <a:p>
            <a:pPr marL="171450" indent="-171450">
              <a:buFont typeface="Arial" pitchFamily="34" charset="0"/>
              <a:buChar char="•"/>
            </a:pPr>
            <a:r>
              <a:rPr lang="en-AU" sz="1200" kern="1200" dirty="0" smtClean="0">
                <a:solidFill>
                  <a:schemeClr val="tx1"/>
                </a:solidFill>
                <a:ea typeface="+mn-ea"/>
                <a:cs typeface="+mn-cs"/>
              </a:rPr>
              <a:t>Action being taken by a competitor may be allowed to continue un-met without these brochures/items – as the organisation is unable to mount an effective ‘counter-offensive’ without them.</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122</a:t>
            </a:fld>
            <a:endParaRPr lang="en-US" dirty="0"/>
          </a:p>
        </p:txBody>
      </p:sp>
    </p:spTree>
    <p:extLst>
      <p:ext uri="{BB962C8B-B14F-4D97-AF65-F5344CB8AC3E}">
        <p14:creationId xmlns:p14="http://schemas.microsoft.com/office/powerpoint/2010/main" val="358709515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explains when </a:t>
            </a:r>
            <a:r>
              <a:rPr lang="en-AU" sz="1200" kern="1200" dirty="0" smtClean="0">
                <a:solidFill>
                  <a:schemeClr val="tx1"/>
                </a:solidFill>
                <a:ea typeface="+mn-ea"/>
                <a:cs typeface="+mn-cs"/>
              </a:rPr>
              <a:t>the printer/producer has been decided on they will work with the organisation to create a draft of the item/s required:</a:t>
            </a:r>
          </a:p>
          <a:p>
            <a:pPr marL="171450" indent="-171450">
              <a:buFont typeface="Arial" pitchFamily="34" charset="0"/>
              <a:buChar char="•"/>
            </a:pPr>
            <a:r>
              <a:rPr lang="en-AU" sz="1200" kern="1200" dirty="0" smtClean="0">
                <a:solidFill>
                  <a:schemeClr val="tx1"/>
                </a:solidFill>
                <a:ea typeface="+mn-ea"/>
                <a:cs typeface="+mn-cs"/>
              </a:rPr>
              <a:t>This is called a ‘proof’.</a:t>
            </a:r>
          </a:p>
          <a:p>
            <a:pPr marL="628650" lvl="1" indent="-171450">
              <a:buFont typeface="Arial" pitchFamily="34" charset="0"/>
              <a:buChar char="•"/>
            </a:pPr>
            <a:r>
              <a:rPr lang="en-AU" sz="1200" kern="1200" dirty="0" smtClean="0">
                <a:solidFill>
                  <a:schemeClr val="tx1"/>
                </a:solidFill>
                <a:ea typeface="+mn-ea"/>
                <a:cs typeface="+mn-cs"/>
              </a:rPr>
              <a:t>The proof will be forwarded to the organisation so:</a:t>
            </a:r>
          </a:p>
          <a:p>
            <a:pPr marL="1085850" lvl="2" indent="-171450">
              <a:buFont typeface="Arial" pitchFamily="34" charset="0"/>
              <a:buChar char="•"/>
            </a:pPr>
            <a:r>
              <a:rPr lang="en-AU" sz="1200" kern="1200" dirty="0" smtClean="0">
                <a:solidFill>
                  <a:schemeClr val="tx1"/>
                </a:solidFill>
                <a:ea typeface="+mn-ea"/>
                <a:cs typeface="+mn-cs"/>
              </a:rPr>
              <a:t>The draft can be checked and reviewed</a:t>
            </a:r>
          </a:p>
          <a:p>
            <a:pPr marL="1085850" lvl="2" indent="-171450">
              <a:buFont typeface="Arial" pitchFamily="34" charset="0"/>
              <a:buChar char="•"/>
            </a:pPr>
            <a:r>
              <a:rPr lang="en-AU" sz="1200" kern="1200" dirty="0" smtClean="0">
                <a:solidFill>
                  <a:schemeClr val="tx1"/>
                </a:solidFill>
                <a:ea typeface="+mn-ea"/>
                <a:cs typeface="+mn-cs"/>
              </a:rPr>
              <a:t>It can be approved for final production.</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123</a:t>
            </a:fld>
            <a:endParaRPr lang="en-US" dirty="0"/>
          </a:p>
        </p:txBody>
      </p:sp>
    </p:spTree>
    <p:extLst>
      <p:ext uri="{BB962C8B-B14F-4D97-AF65-F5344CB8AC3E}">
        <p14:creationId xmlns:p14="http://schemas.microsoft.com/office/powerpoint/2010/main" val="221947328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gives </a:t>
            </a:r>
            <a:r>
              <a:rPr lang="en-AU" sz="1200" kern="1200" dirty="0" smtClean="0">
                <a:solidFill>
                  <a:schemeClr val="tx1"/>
                </a:solidFill>
                <a:ea typeface="+mn-ea"/>
                <a:cs typeface="+mn-cs"/>
              </a:rPr>
              <a:t>two important points in relation to these proofs:</a:t>
            </a:r>
          </a:p>
          <a:p>
            <a:pPr marL="171450" indent="-171450">
              <a:buFont typeface="Arial" pitchFamily="34" charset="0"/>
              <a:buChar char="•"/>
            </a:pPr>
            <a:r>
              <a:rPr lang="en-AU" sz="1200" kern="1200" dirty="0" smtClean="0">
                <a:solidFill>
                  <a:schemeClr val="tx1"/>
                </a:solidFill>
                <a:ea typeface="+mn-ea"/>
                <a:cs typeface="+mn-cs"/>
              </a:rPr>
              <a:t>The printer/producer will make changes to the proof as/if required by the client/organisation</a:t>
            </a:r>
          </a:p>
          <a:p>
            <a:pPr marL="171450" indent="-171450">
              <a:buFont typeface="Arial" pitchFamily="34" charset="0"/>
              <a:buChar char="•"/>
            </a:pPr>
            <a:r>
              <a:rPr lang="en-AU" sz="1200" kern="1200" dirty="0" smtClean="0">
                <a:solidFill>
                  <a:schemeClr val="tx1"/>
                </a:solidFill>
                <a:ea typeface="+mn-ea"/>
                <a:cs typeface="+mn-cs"/>
              </a:rPr>
              <a:t>The organisation will be responsible for the correctness of the final proof once they have approved it for production.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124</a:t>
            </a:fld>
            <a:endParaRPr lang="en-US" dirty="0"/>
          </a:p>
        </p:txBody>
      </p:sp>
    </p:spTree>
    <p:extLst>
      <p:ext uri="{BB962C8B-B14F-4D97-AF65-F5344CB8AC3E}">
        <p14:creationId xmlns:p14="http://schemas.microsoft.com/office/powerpoint/2010/main" val="4061246344"/>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presents normal practice </a:t>
            </a:r>
            <a:r>
              <a:rPr lang="en-US" baseline="0" dirty="0" smtClean="0"/>
              <a:t>in relation to ‘proofing’:</a:t>
            </a:r>
          </a:p>
          <a:p>
            <a:pPr marL="171450" indent="-171450">
              <a:buFont typeface="Arial" pitchFamily="34" charset="0"/>
              <a:buChar char="•"/>
            </a:pPr>
            <a:r>
              <a:rPr lang="en-US" baseline="0" dirty="0" smtClean="0"/>
              <a:t> </a:t>
            </a:r>
            <a:r>
              <a:rPr lang="en-AU" sz="1200" kern="1200" dirty="0" smtClean="0">
                <a:solidFill>
                  <a:schemeClr val="tx1"/>
                </a:solidFill>
                <a:ea typeface="+mn-ea"/>
                <a:cs typeface="+mn-cs"/>
              </a:rPr>
              <a:t>Check the proofs – for accuracy and compliance with the specifications for the job and alignment with any draft materials supplied as part of the original arrangement</a:t>
            </a:r>
          </a:p>
          <a:p>
            <a:pPr marL="171450" indent="-171450">
              <a:buFont typeface="Arial" pitchFamily="34" charset="0"/>
              <a:buChar char="•"/>
            </a:pPr>
            <a:r>
              <a:rPr lang="en-AU" sz="1200" kern="1200" dirty="0" smtClean="0">
                <a:solidFill>
                  <a:schemeClr val="tx1"/>
                </a:solidFill>
                <a:ea typeface="+mn-ea"/>
                <a:cs typeface="+mn-cs"/>
              </a:rPr>
              <a:t>Advise service providers of changes which need to be made – these may be:</a:t>
            </a:r>
          </a:p>
          <a:p>
            <a:pPr marL="628650" lvl="1" indent="-171450">
              <a:buFont typeface="Arial" pitchFamily="34" charset="0"/>
              <a:buChar char="•"/>
            </a:pPr>
            <a:r>
              <a:rPr lang="en-US" sz="1200" kern="1200" dirty="0" smtClean="0">
                <a:solidFill>
                  <a:schemeClr val="tx1"/>
                </a:solidFill>
                <a:ea typeface="+mn-ea"/>
                <a:cs typeface="+mn-cs"/>
              </a:rPr>
              <a:t>Errors that have been identified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Omissions</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Things that need to be removed/taken out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Changes or updates needing to be made to proofs prior to final production.</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In this context proof reading is the reading of ‘the proof’ as provided by the printer to check for errors and to make sure it complies with stated/agreed requirements.</a:t>
            </a:r>
          </a:p>
          <a:p>
            <a:pPr marL="171450" indent="-171450">
              <a:buFont typeface="Arial" pitchFamily="34" charset="0"/>
              <a:buChar char="•"/>
            </a:pPr>
            <a:r>
              <a:rPr lang="en-AU" sz="1200" kern="1200" dirty="0" smtClean="0">
                <a:solidFill>
                  <a:schemeClr val="tx1"/>
                </a:solidFill>
                <a:ea typeface="+mn-ea"/>
                <a:cs typeface="+mn-cs"/>
              </a:rPr>
              <a:t>Once the proof has been accepted the brochures will be printed and/or the materials will be produced so it is important the proof is 100% correct.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125</a:t>
            </a:fld>
            <a:endParaRPr lang="en-US" dirty="0"/>
          </a:p>
        </p:txBody>
      </p:sp>
    </p:spTree>
    <p:extLst>
      <p:ext uri="{BB962C8B-B14F-4D97-AF65-F5344CB8AC3E}">
        <p14:creationId xmlns:p14="http://schemas.microsoft.com/office/powerpoint/2010/main" val="1244908275"/>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identifies specifics of proofing:</a:t>
            </a:r>
          </a:p>
          <a:p>
            <a:pPr marL="171450" indent="-171450">
              <a:buFont typeface="Arial" pitchFamily="34" charset="0"/>
              <a:buChar char="•"/>
            </a:pPr>
            <a:r>
              <a:rPr lang="en-AU" sz="1200" kern="1200" dirty="0" smtClean="0">
                <a:solidFill>
                  <a:schemeClr val="tx1"/>
                </a:solidFill>
                <a:ea typeface="+mn-ea"/>
                <a:cs typeface="+mn-cs"/>
              </a:rPr>
              <a:t>Proof-read everything – everything that is to be produced MUST be proofed prior to official approval</a:t>
            </a:r>
          </a:p>
          <a:p>
            <a:pPr marL="171450" indent="-171450">
              <a:buFont typeface="Arial" pitchFamily="34" charset="0"/>
              <a:buChar char="•"/>
            </a:pPr>
            <a:r>
              <a:rPr lang="en-AU" sz="1200" kern="1200" dirty="0" smtClean="0">
                <a:solidFill>
                  <a:schemeClr val="tx1"/>
                </a:solidFill>
                <a:ea typeface="+mn-ea"/>
                <a:cs typeface="+mn-cs"/>
              </a:rPr>
              <a:t>Proof-read more than once – never just proof the article once: it is easy to miss/overlook an error or omission if things are read just once</a:t>
            </a:r>
          </a:p>
          <a:p>
            <a:pPr marL="171450" indent="-171450">
              <a:buFont typeface="Arial" pitchFamily="34" charset="0"/>
              <a:buChar char="•"/>
            </a:pPr>
            <a:r>
              <a:rPr lang="en-AU" sz="1200" kern="1200" dirty="0" smtClean="0">
                <a:solidFill>
                  <a:schemeClr val="tx1"/>
                </a:solidFill>
                <a:ea typeface="+mn-ea"/>
                <a:cs typeface="+mn-cs"/>
              </a:rPr>
              <a:t>Get more than one person to proof the item – involve other staff, people from other departments and people from outside the organisation</a:t>
            </a:r>
          </a:p>
          <a:p>
            <a:pPr marL="171450" indent="-171450">
              <a:buFont typeface="Arial" pitchFamily="34" charset="0"/>
              <a:buChar char="•"/>
            </a:pPr>
            <a:r>
              <a:rPr lang="en-AU" sz="1200" kern="1200" dirty="0" smtClean="0">
                <a:solidFill>
                  <a:schemeClr val="tx1"/>
                </a:solidFill>
                <a:ea typeface="+mn-ea"/>
                <a:cs typeface="+mn-cs"/>
              </a:rPr>
              <a:t>Compare material against the specifications provided – never rely on memory: always match questionable issues against the certainty of the material contained in the specifications</a:t>
            </a:r>
          </a:p>
          <a:p>
            <a:pPr marL="171450" indent="-171450">
              <a:buFont typeface="Arial" pitchFamily="34" charset="0"/>
              <a:buChar char="•"/>
            </a:pPr>
            <a:r>
              <a:rPr lang="en-AU" sz="1200" kern="1200" dirty="0" smtClean="0">
                <a:solidFill>
                  <a:schemeClr val="tx1"/>
                </a:solidFill>
                <a:ea typeface="+mn-ea"/>
                <a:cs typeface="+mn-cs"/>
              </a:rPr>
              <a:t>Involve the printer/producer – the closer the relationship between the organisation and the printer/producer the better the final outcome of the whole process and the clearer the understanding about the problems and the results required </a:t>
            </a:r>
          </a:p>
          <a:p>
            <a:pPr marL="171450" indent="-171450">
              <a:buFont typeface="Arial" pitchFamily="34" charset="0"/>
              <a:buChar char="•"/>
            </a:pPr>
            <a:r>
              <a:rPr lang="en-AU" sz="1200" kern="1200" dirty="0" smtClean="0">
                <a:solidFill>
                  <a:schemeClr val="tx1"/>
                </a:solidFill>
                <a:ea typeface="+mn-ea"/>
                <a:cs typeface="+mn-cs"/>
              </a:rPr>
              <a:t>Make sure the key points are perfect – while attention will have been paid to ensure content/copy is correct it is especially important to ensure:</a:t>
            </a:r>
          </a:p>
          <a:p>
            <a:pPr marL="628650" lvl="1" indent="-171450">
              <a:buFont typeface="Arial" pitchFamily="34" charset="0"/>
              <a:buChar char="•"/>
            </a:pPr>
            <a:r>
              <a:rPr lang="en-US" sz="1200" kern="1200" dirty="0" smtClean="0">
                <a:solidFill>
                  <a:schemeClr val="tx1"/>
                </a:solidFill>
                <a:ea typeface="+mn-ea"/>
                <a:cs typeface="+mn-cs"/>
              </a:rPr>
              <a:t>Telephone numbers are correct – and no digits have been transposed or are incorrect</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The business name has been correctly spelled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Street and web addresses are correct.</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126</a:t>
            </a:fld>
            <a:endParaRPr lang="en-US" dirty="0"/>
          </a:p>
        </p:txBody>
      </p:sp>
    </p:spTree>
    <p:extLst>
      <p:ext uri="{BB962C8B-B14F-4D97-AF65-F5344CB8AC3E}">
        <p14:creationId xmlns:p14="http://schemas.microsoft.com/office/powerpoint/2010/main" val="122258813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identifies </a:t>
            </a:r>
            <a:r>
              <a:rPr lang="en-AU" sz="1200" kern="1200" dirty="0" smtClean="0">
                <a:solidFill>
                  <a:schemeClr val="tx1"/>
                </a:solidFill>
                <a:ea typeface="+mn-ea"/>
                <a:cs typeface="+mn-cs"/>
              </a:rPr>
              <a:t>in order to authorise production it may be necessary to:</a:t>
            </a:r>
          </a:p>
          <a:p>
            <a:pPr marL="171450" indent="-171450">
              <a:buFont typeface="Arial" pitchFamily="34" charset="0"/>
              <a:buChar char="•"/>
            </a:pPr>
            <a:r>
              <a:rPr lang="en-AU" sz="1200" kern="1200" dirty="0" smtClean="0">
                <a:solidFill>
                  <a:schemeClr val="tx1"/>
                </a:solidFill>
                <a:ea typeface="+mn-ea"/>
                <a:cs typeface="+mn-cs"/>
              </a:rPr>
              <a:t>Check revised proofs if this was required = to ensure revisions meet with requirements/specifications</a:t>
            </a:r>
          </a:p>
          <a:p>
            <a:pPr marL="171450" indent="-171450">
              <a:buFont typeface="Arial" pitchFamily="34" charset="0"/>
              <a:buChar char="•"/>
            </a:pPr>
            <a:r>
              <a:rPr lang="en-AU" sz="1200" kern="1200" dirty="0" smtClean="0">
                <a:solidFill>
                  <a:schemeClr val="tx1"/>
                </a:solidFill>
                <a:ea typeface="+mn-ea"/>
                <a:cs typeface="+mn-cs"/>
              </a:rPr>
              <a:t>Organise additional changes – if/where this is necessary</a:t>
            </a:r>
          </a:p>
          <a:p>
            <a:pPr marL="171450" indent="-171450">
              <a:buFont typeface="Arial" pitchFamily="34" charset="0"/>
              <a:buChar char="•"/>
            </a:pPr>
            <a:r>
              <a:rPr lang="en-AU" sz="1200" kern="1200" dirty="0" smtClean="0">
                <a:solidFill>
                  <a:schemeClr val="tx1"/>
                </a:solidFill>
                <a:ea typeface="+mn-ea"/>
                <a:cs typeface="+mn-cs"/>
              </a:rPr>
              <a:t>Obtain official authorisation from designated management to proceed – this may involve:</a:t>
            </a:r>
          </a:p>
          <a:p>
            <a:pPr marL="628650" lvl="1" indent="-171450">
              <a:buFont typeface="Arial" pitchFamily="34" charset="0"/>
              <a:buChar char="•"/>
            </a:pPr>
            <a:r>
              <a:rPr lang="en-US" sz="1200" kern="1200" dirty="0" smtClean="0">
                <a:solidFill>
                  <a:schemeClr val="tx1"/>
                </a:solidFill>
                <a:ea typeface="+mn-ea"/>
                <a:cs typeface="+mn-cs"/>
              </a:rPr>
              <a:t>Meeting with management to view/check the final draft/proof</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Receiving verbal permission to proceed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Obtaining their signature on appropriate internal documentation</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Sign-off on a document provided by the printer/producer – giving them authority to proceed and confirming the provided proofs have been checked and are correct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127</a:t>
            </a:fld>
            <a:endParaRPr lang="en-US" dirty="0"/>
          </a:p>
        </p:txBody>
      </p:sp>
    </p:spTree>
    <p:extLst>
      <p:ext uri="{BB962C8B-B14F-4D97-AF65-F5344CB8AC3E}">
        <p14:creationId xmlns:p14="http://schemas.microsoft.com/office/powerpoint/2010/main" val="2896816932"/>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discussing practices in authorising final production of items:</a:t>
            </a:r>
          </a:p>
          <a:p>
            <a:pPr marL="171450" indent="-171450">
              <a:buFont typeface="Arial" pitchFamily="34" charset="0"/>
              <a:buChar char="•"/>
            </a:pPr>
            <a:r>
              <a:rPr lang="en-AU" sz="1200" kern="1200" dirty="0" smtClean="0">
                <a:solidFill>
                  <a:schemeClr val="tx1"/>
                </a:solidFill>
                <a:ea typeface="+mn-ea"/>
                <a:cs typeface="+mn-cs"/>
              </a:rPr>
              <a:t>Confirm certain details – these are always issues identified in the specifications and this process is an opportunity to:</a:t>
            </a:r>
          </a:p>
          <a:p>
            <a:pPr marL="628650" lvl="1" indent="-171450">
              <a:buFont typeface="Arial" pitchFamily="34" charset="0"/>
              <a:buChar char="•"/>
            </a:pPr>
            <a:r>
              <a:rPr lang="en-US" sz="1200" kern="1200" dirty="0" smtClean="0">
                <a:solidFill>
                  <a:schemeClr val="tx1"/>
                </a:solidFill>
                <a:ea typeface="+mn-ea"/>
                <a:cs typeface="+mn-cs"/>
              </a:rPr>
              <a:t>Make sure required dates, quantities and other needs remain as arranged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Negotiate necessary changes</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Make an agreed payment – there is often a contracted requirement money needs to be paid to the printer/producer after final proofs have been agreed and before actual production starts.</a:t>
            </a:r>
          </a:p>
          <a:p>
            <a:pPr marL="628650" lvl="1" indent="-171450">
              <a:buFont typeface="Arial" pitchFamily="34" charset="0"/>
              <a:buChar char="•"/>
            </a:pPr>
            <a:r>
              <a:rPr lang="en-AU" sz="1200" kern="1200" dirty="0" smtClean="0">
                <a:solidFill>
                  <a:schemeClr val="tx1"/>
                </a:solidFill>
                <a:ea typeface="+mn-ea"/>
                <a:cs typeface="+mn-cs"/>
              </a:rPr>
              <a:t>In many cases the printer/producer will not proceed with production until this money has been received so this is an important step in order to get materials produced by the time/deadline needed.</a:t>
            </a:r>
          </a:p>
          <a:p>
            <a:pPr marL="171450" indent="-171450">
              <a:buFont typeface="Arial" pitchFamily="34" charset="0"/>
              <a:buChar char="•"/>
            </a:pPr>
            <a:r>
              <a:rPr lang="en-AU" sz="1200" kern="1200" dirty="0" smtClean="0">
                <a:solidFill>
                  <a:schemeClr val="tx1"/>
                </a:solidFill>
                <a:ea typeface="+mn-ea"/>
                <a:cs typeface="+mn-cs"/>
              </a:rPr>
              <a:t>Note any communication pertinent to requirements for changes – so there is a record of negotiations and arrangements for future reference</a:t>
            </a:r>
          </a:p>
          <a:p>
            <a:pPr marL="171450" indent="-171450">
              <a:buFont typeface="Arial" pitchFamily="34" charset="0"/>
              <a:buChar char="•"/>
            </a:pPr>
            <a:r>
              <a:rPr lang="en-AU" sz="1200" kern="1200" dirty="0" smtClean="0">
                <a:solidFill>
                  <a:schemeClr val="tx1"/>
                </a:solidFill>
                <a:ea typeface="+mn-ea"/>
                <a:cs typeface="+mn-cs"/>
              </a:rPr>
              <a:t>File all documentation – in-keeping with standard business practice and for future reference.</a:t>
            </a:r>
          </a:p>
          <a:p>
            <a:pPr>
              <a:buFont typeface="Arial" pitchFamily="34" charset="0"/>
              <a:buNone/>
            </a:pPr>
            <a:endParaRPr lang="en-US" dirty="0" smtClean="0"/>
          </a:p>
          <a:p>
            <a:pPr>
              <a:buFont typeface="Arial" pitchFamily="34" charset="0"/>
              <a:buNone/>
            </a:pPr>
            <a:r>
              <a:rPr lang="en-US" b="1" dirty="0" smtClean="0"/>
              <a:t>Class Activity – Guest Speaker</a:t>
            </a:r>
          </a:p>
          <a:p>
            <a:pPr>
              <a:buFont typeface="Arial" pitchFamily="34" charset="0"/>
              <a:buNone/>
            </a:pPr>
            <a:r>
              <a:rPr lang="en-US" b="0" dirty="0" smtClean="0"/>
              <a:t>Trainer arranges for a printer/producer to attend and:</a:t>
            </a:r>
          </a:p>
          <a:p>
            <a:pPr marL="171450" indent="-171450">
              <a:buFont typeface="Arial" pitchFamily="34" charset="0"/>
              <a:buChar char="•"/>
            </a:pPr>
            <a:r>
              <a:rPr lang="en-US" b="0" dirty="0" smtClean="0"/>
              <a:t>Discuss process of providing proofs</a:t>
            </a:r>
          </a:p>
          <a:p>
            <a:pPr marL="171450" indent="-171450">
              <a:buFont typeface="Arial" pitchFamily="34" charset="0"/>
              <a:buChar char="•"/>
            </a:pPr>
            <a:r>
              <a:rPr lang="en-US" b="0" dirty="0" smtClean="0"/>
              <a:t>Explain negotiations relating to changes required to proofs</a:t>
            </a:r>
          </a:p>
          <a:p>
            <a:pPr marL="171450" indent="-171450">
              <a:buFont typeface="Arial" pitchFamily="34" charset="0"/>
              <a:buChar char="•"/>
            </a:pPr>
            <a:r>
              <a:rPr lang="en-US" b="0" dirty="0" smtClean="0"/>
              <a:t>Detail how additional requirements are factored into original quotations.</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128</a:t>
            </a:fld>
            <a:endParaRPr lang="en-US" dirty="0"/>
          </a:p>
        </p:txBody>
      </p:sp>
    </p:spTree>
    <p:extLst>
      <p:ext uri="{BB962C8B-B14F-4D97-AF65-F5344CB8AC3E}">
        <p14:creationId xmlns:p14="http://schemas.microsoft.com/office/powerpoint/2010/main" val="1026708562"/>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Instructs the </a:t>
            </a:r>
            <a:r>
              <a:rPr lang="en-AU" sz="1200" kern="1200" dirty="0" smtClean="0">
                <a:solidFill>
                  <a:schemeClr val="tx1"/>
                </a:solidFill>
                <a:ea typeface="+mn-ea"/>
                <a:cs typeface="+mn-cs"/>
              </a:rPr>
              <a:t>activities below are necessary when checking items supplied:</a:t>
            </a:r>
          </a:p>
          <a:p>
            <a:pPr marL="171450" indent="-171450">
              <a:buFont typeface="Arial" pitchFamily="34" charset="0"/>
              <a:buChar char="•"/>
            </a:pPr>
            <a:r>
              <a:rPr lang="en-AU" sz="1200" kern="1200" dirty="0" smtClean="0">
                <a:solidFill>
                  <a:schemeClr val="tx1"/>
                </a:solidFill>
                <a:ea typeface="+mn-ea"/>
                <a:cs typeface="+mn-cs"/>
              </a:rPr>
              <a:t>Use a team to do the checking – as opposed to doing the job alone.</a:t>
            </a:r>
          </a:p>
          <a:p>
            <a:pPr marL="628650" lvl="1" indent="-171450">
              <a:buFont typeface="Arial" pitchFamily="34" charset="0"/>
              <a:buChar char="•"/>
            </a:pPr>
            <a:r>
              <a:rPr lang="en-AU" sz="1200" kern="1200" dirty="0" smtClean="0">
                <a:solidFill>
                  <a:schemeClr val="tx1"/>
                </a:solidFill>
                <a:ea typeface="+mn-ea"/>
                <a:cs typeface="+mn-cs"/>
              </a:rPr>
              <a:t>This speeds up the process and optimises the likelihood of problems being identified.</a:t>
            </a:r>
          </a:p>
          <a:p>
            <a:pPr marL="171450" indent="-171450">
              <a:buFont typeface="Arial" pitchFamily="34" charset="0"/>
              <a:buChar char="•"/>
            </a:pPr>
            <a:r>
              <a:rPr lang="en-AU" sz="1200" kern="1200" dirty="0" smtClean="0">
                <a:solidFill>
                  <a:schemeClr val="tx1"/>
                </a:solidFill>
                <a:ea typeface="+mn-ea"/>
                <a:cs typeface="+mn-cs"/>
              </a:rPr>
              <a:t>Compare the finished product/s to the specifications and the approved proof/s – to make sure what has been delivered complies with what was needed/requested/paid for</a:t>
            </a:r>
          </a:p>
          <a:p>
            <a:pPr marL="628650" lvl="1" indent="-171450">
              <a:buFont typeface="Arial" pitchFamily="34" charset="0"/>
              <a:buChar char="•"/>
            </a:pPr>
            <a:r>
              <a:rPr lang="en-AU" sz="1200" kern="1200" dirty="0" smtClean="0">
                <a:solidFill>
                  <a:schemeClr val="tx1"/>
                </a:solidFill>
                <a:ea typeface="+mn-ea"/>
                <a:cs typeface="+mn-cs"/>
              </a:rPr>
              <a:t>Check the quality of the final product – for example, with brochures there is a need to:</a:t>
            </a:r>
          </a:p>
          <a:p>
            <a:pPr marL="628650" lvl="1" indent="-171450">
              <a:buFont typeface="Arial" pitchFamily="34" charset="0"/>
              <a:buChar char="•"/>
            </a:pPr>
            <a:r>
              <a:rPr lang="en-US" sz="1200" kern="1200" dirty="0" smtClean="0">
                <a:solidFill>
                  <a:schemeClr val="tx1"/>
                </a:solidFill>
                <a:ea typeface="+mn-ea"/>
                <a:cs typeface="+mn-cs"/>
              </a:rPr>
              <a:t>Check colours used match what was required/agreed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Check there is no ‘colour bleed’</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Check print clarity</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Check required finishing has been applied</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129</a:t>
            </a:fld>
            <a:endParaRPr lang="en-US" dirty="0"/>
          </a:p>
        </p:txBody>
      </p:sp>
    </p:spTree>
    <p:extLst>
      <p:ext uri="{BB962C8B-B14F-4D97-AF65-F5344CB8AC3E}">
        <p14:creationId xmlns:p14="http://schemas.microsoft.com/office/powerpoint/2010/main" val="1231007613"/>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buFont typeface="Arial" pitchFamily="34" charset="0"/>
              <a:buNone/>
            </a:pPr>
            <a:r>
              <a:rPr lang="en-US" dirty="0" smtClean="0"/>
              <a:t>Trainer continues listing activities necessary for checking final items:</a:t>
            </a:r>
          </a:p>
          <a:p>
            <a:pPr marL="171450" indent="-171450">
              <a:buFont typeface="Arial" pitchFamily="34" charset="0"/>
              <a:buChar char="•"/>
            </a:pPr>
            <a:r>
              <a:rPr lang="en-AU" sz="1200" kern="1200" dirty="0" smtClean="0">
                <a:solidFill>
                  <a:schemeClr val="tx1"/>
                </a:solidFill>
                <a:ea typeface="+mn-ea"/>
                <a:cs typeface="+mn-cs"/>
              </a:rPr>
              <a:t>Check the quantities supplied – to make sure the numbers provided are actually the numbers ordered/required</a:t>
            </a:r>
          </a:p>
          <a:p>
            <a:pPr marL="171450" indent="-171450">
              <a:buFont typeface="Arial" pitchFamily="34" charset="0"/>
              <a:buChar char="•"/>
            </a:pPr>
            <a:r>
              <a:rPr lang="en-AU" sz="1200" kern="1200" dirty="0" smtClean="0">
                <a:solidFill>
                  <a:schemeClr val="tx1"/>
                </a:solidFill>
                <a:ea typeface="+mn-ea"/>
                <a:cs typeface="+mn-cs"/>
              </a:rPr>
              <a:t>Confirm the paperwork for the job is correct – this may mean:</a:t>
            </a:r>
          </a:p>
          <a:p>
            <a:pPr marL="628650" lvl="1" indent="-171450">
              <a:buFont typeface="Arial" pitchFamily="34" charset="0"/>
              <a:buChar char="•"/>
            </a:pPr>
            <a:r>
              <a:rPr lang="en-US" sz="1200" kern="1200" dirty="0" smtClean="0">
                <a:solidFill>
                  <a:schemeClr val="tx1"/>
                </a:solidFill>
                <a:ea typeface="+mn-ea"/>
                <a:cs typeface="+mn-cs"/>
              </a:rPr>
              <a:t>Verifying invoice matches the quotation </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Ensuring invoice/statement aligns with purchase order</a:t>
            </a:r>
            <a:endParaRPr lang="en-AU" sz="1200" kern="1200" dirty="0" smtClean="0">
              <a:solidFill>
                <a:schemeClr val="tx1"/>
              </a:solidFill>
              <a:ea typeface="+mn-ea"/>
              <a:cs typeface="+mn-cs"/>
            </a:endParaRPr>
          </a:p>
          <a:p>
            <a:pPr marL="628650" lvl="1" indent="-171450">
              <a:buFont typeface="Arial" pitchFamily="34" charset="0"/>
              <a:buChar char="•"/>
            </a:pPr>
            <a:r>
              <a:rPr lang="en-US" sz="1200" kern="1200" dirty="0" smtClean="0">
                <a:solidFill>
                  <a:schemeClr val="tx1"/>
                </a:solidFill>
                <a:ea typeface="+mn-ea"/>
                <a:cs typeface="+mn-cs"/>
              </a:rPr>
              <a:t>Making sure there are no charges for services not requested or not provided</a:t>
            </a:r>
            <a:endParaRPr lang="en-AU" sz="1200" kern="1200" dirty="0" smtClean="0">
              <a:solidFill>
                <a:schemeClr val="tx1"/>
              </a:solidFill>
              <a:ea typeface="+mn-ea"/>
              <a:cs typeface="+mn-cs"/>
            </a:endParaRPr>
          </a:p>
          <a:p>
            <a:pPr marL="171450" indent="-171450">
              <a:buFont typeface="Arial" pitchFamily="34" charset="0"/>
              <a:buChar char="•"/>
            </a:pPr>
            <a:r>
              <a:rPr lang="en-AU" sz="1200" kern="1200" dirty="0" smtClean="0">
                <a:solidFill>
                  <a:schemeClr val="tx1"/>
                </a:solidFill>
                <a:ea typeface="+mn-ea"/>
                <a:cs typeface="+mn-cs"/>
              </a:rPr>
              <a:t>Authorise final payment – to the service providers. </a:t>
            </a:r>
          </a:p>
          <a:p>
            <a:pPr marL="628650" lvl="1" indent="-171450">
              <a:buFont typeface="Arial" pitchFamily="34" charset="0"/>
              <a:buChar char="•"/>
            </a:pPr>
            <a:r>
              <a:rPr lang="en-AU" sz="1200" kern="1200" dirty="0" smtClean="0">
                <a:solidFill>
                  <a:schemeClr val="tx1"/>
                </a:solidFill>
                <a:ea typeface="+mn-ea"/>
                <a:cs typeface="+mn-cs"/>
              </a:rPr>
              <a:t>It is important to pay promptly and as agreed in order for the organisation to remain a ‘good corporate citizen’ and to help create a positive relationship for the next time similar work needs to be done/negotiated. </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130</a:t>
            </a:fld>
            <a:endParaRPr lang="en-US" dirty="0"/>
          </a:p>
        </p:txBody>
      </p:sp>
    </p:spTree>
    <p:extLst>
      <p:ext uri="{BB962C8B-B14F-4D97-AF65-F5344CB8AC3E}">
        <p14:creationId xmlns:p14="http://schemas.microsoft.com/office/powerpoint/2010/main" val="525806356"/>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a:t>
            </a:r>
            <a:r>
              <a:rPr lang="en-AU" sz="1200" kern="1200" dirty="0" smtClean="0">
                <a:solidFill>
                  <a:schemeClr val="tx1"/>
                </a:solidFill>
                <a:ea typeface="+mn-ea"/>
                <a:cs typeface="+mn-cs"/>
              </a:rPr>
              <a:t>where the finished product does not comply with the proof or other quality criteria, it is standard practice to:</a:t>
            </a:r>
          </a:p>
          <a:p>
            <a:pPr marL="171450" indent="-171450">
              <a:buFont typeface="Arial" pitchFamily="34" charset="0"/>
              <a:buChar char="•"/>
            </a:pPr>
            <a:r>
              <a:rPr lang="en-AU" sz="1200" kern="1200" dirty="0" smtClean="0">
                <a:solidFill>
                  <a:schemeClr val="tx1"/>
                </a:solidFill>
                <a:ea typeface="+mn-ea"/>
                <a:cs typeface="+mn-cs"/>
              </a:rPr>
              <a:t>Inform management – so they can follow up with the printer/producer</a:t>
            </a:r>
          </a:p>
          <a:p>
            <a:pPr marL="0" indent="0">
              <a:buFont typeface="Arial" pitchFamily="34" charset="0"/>
              <a:buNone/>
            </a:pPr>
            <a:r>
              <a:rPr lang="en-AU" sz="1200" kern="1200" dirty="0" smtClean="0">
                <a:solidFill>
                  <a:schemeClr val="tx1"/>
                </a:solidFill>
                <a:ea typeface="+mn-ea"/>
                <a:cs typeface="+mn-cs"/>
              </a:rPr>
              <a:t>or</a:t>
            </a:r>
          </a:p>
          <a:p>
            <a:pPr marL="171450" indent="-171450">
              <a:buFont typeface="Arial" pitchFamily="34" charset="0"/>
              <a:buChar char="•"/>
            </a:pPr>
            <a:r>
              <a:rPr lang="en-AU" sz="1200" kern="1200" dirty="0" smtClean="0">
                <a:solidFill>
                  <a:schemeClr val="tx1"/>
                </a:solidFill>
                <a:ea typeface="+mn-ea"/>
                <a:cs typeface="+mn-cs"/>
              </a:rPr>
              <a:t>Immediately contact the provider and discuss the situation with them.</a:t>
            </a:r>
          </a:p>
          <a:p>
            <a:pPr marL="171450" indent="-171450">
              <a:buFont typeface="Arial" pitchFamily="34" charset="0"/>
              <a:buChar char="•"/>
            </a:pPr>
            <a:r>
              <a:rPr lang="en-AU" sz="1200" kern="1200" dirty="0" smtClean="0">
                <a:solidFill>
                  <a:schemeClr val="tx1"/>
                </a:solidFill>
                <a:ea typeface="+mn-ea"/>
                <a:cs typeface="+mn-cs"/>
              </a:rPr>
              <a:t>It is at this stage a file copy of the quotation and the proofs become very important.</a:t>
            </a: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131</a:t>
            </a:fld>
            <a:endParaRPr lang="en-US" dirty="0"/>
          </a:p>
        </p:txBody>
      </p:sp>
    </p:spTree>
    <p:extLst>
      <p:ext uri="{BB962C8B-B14F-4D97-AF65-F5344CB8AC3E}">
        <p14:creationId xmlns:p14="http://schemas.microsoft.com/office/powerpoint/2010/main" val="789293402"/>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Trainer states </a:t>
            </a:r>
            <a:r>
              <a:rPr lang="en-AU" sz="1200" kern="1200" dirty="0" smtClean="0">
                <a:solidFill>
                  <a:schemeClr val="tx1"/>
                </a:solidFill>
                <a:ea typeface="+mn-ea"/>
                <a:cs typeface="+mn-cs"/>
              </a:rPr>
              <a:t>distribution options for materials are:</a:t>
            </a:r>
          </a:p>
          <a:p>
            <a:pPr marL="171450" indent="-171450">
              <a:buFont typeface="Arial" pitchFamily="34" charset="0"/>
              <a:buChar char="•"/>
            </a:pPr>
            <a:r>
              <a:rPr lang="en-AU" sz="1200" kern="1200" dirty="0" smtClean="0">
                <a:solidFill>
                  <a:schemeClr val="tx1"/>
                </a:solidFill>
                <a:ea typeface="+mn-ea"/>
                <a:cs typeface="+mn-cs"/>
              </a:rPr>
              <a:t>The organisation distributes items themselves – this means the organisation maintains sole </a:t>
            </a:r>
            <a:r>
              <a:rPr lang="en-AU" sz="1200" i="1" kern="1200" dirty="0" smtClean="0">
                <a:solidFill>
                  <a:schemeClr val="tx1"/>
                </a:solidFill>
                <a:ea typeface="+mn-ea"/>
                <a:cs typeface="+mn-cs"/>
              </a:rPr>
              <a:t>control</a:t>
            </a:r>
            <a:r>
              <a:rPr lang="en-AU" sz="1200" kern="1200" dirty="0" smtClean="0">
                <a:solidFill>
                  <a:schemeClr val="tx1"/>
                </a:solidFill>
                <a:ea typeface="+mn-ea"/>
                <a:cs typeface="+mn-cs"/>
              </a:rPr>
              <a:t> over the process but also has sole </a:t>
            </a:r>
            <a:r>
              <a:rPr lang="en-AU" sz="1200" i="1" kern="1200" dirty="0" smtClean="0">
                <a:solidFill>
                  <a:schemeClr val="tx1"/>
                </a:solidFill>
                <a:ea typeface="+mn-ea"/>
                <a:cs typeface="+mn-cs"/>
              </a:rPr>
              <a:t>responsibility</a:t>
            </a:r>
            <a:r>
              <a:rPr lang="en-AU" sz="1200" kern="1200" dirty="0" smtClean="0">
                <a:solidFill>
                  <a:schemeClr val="tx1"/>
                </a:solidFill>
                <a:ea typeface="+mn-ea"/>
                <a:cs typeface="+mn-cs"/>
              </a:rPr>
              <a:t> for organising the work to be done.</a:t>
            </a:r>
          </a:p>
          <a:p>
            <a:pPr marL="171450" indent="-171450">
              <a:buFont typeface="Arial" pitchFamily="34" charset="0"/>
              <a:buChar char="•"/>
            </a:pPr>
            <a:r>
              <a:rPr lang="en-AU" sz="1200" kern="1200" dirty="0" smtClean="0">
                <a:solidFill>
                  <a:schemeClr val="tx1"/>
                </a:solidFill>
                <a:ea typeface="+mn-ea"/>
                <a:cs typeface="+mn-cs"/>
              </a:rPr>
              <a:t>The printer/producer distributes them for an additional charge – according to a distribution schedule provided by the organisation</a:t>
            </a:r>
          </a:p>
          <a:p>
            <a:pPr marL="171450" indent="-171450">
              <a:buFont typeface="Arial" pitchFamily="34" charset="0"/>
              <a:buChar char="•"/>
            </a:pPr>
            <a:r>
              <a:rPr lang="en-AU" sz="1200" kern="1200" dirty="0" smtClean="0">
                <a:solidFill>
                  <a:schemeClr val="tx1"/>
                </a:solidFill>
                <a:ea typeface="+mn-ea"/>
                <a:cs typeface="+mn-cs"/>
              </a:rPr>
              <a:t>Use a different business to handle distribution – such as a distribution house, distributor or courier service. </a:t>
            </a:r>
          </a:p>
          <a:p>
            <a:pPr>
              <a:buFont typeface="Arial" pitchFamily="34" charset="0"/>
              <a:buNone/>
            </a:pPr>
            <a:endParaRPr lang="en-US" dirty="0" smtClean="0"/>
          </a:p>
          <a:p>
            <a:pPr>
              <a:buFont typeface="Arial" pitchFamily="34" charset="0"/>
              <a:buNone/>
            </a:pPr>
            <a:r>
              <a:rPr lang="en-US" b="1" baseline="0" noProof="0" dirty="0" smtClean="0"/>
              <a:t>Classroom Activity – Internet Research</a:t>
            </a:r>
          </a:p>
          <a:p>
            <a:pPr>
              <a:buFont typeface="Arial" pitchFamily="34" charset="0"/>
              <a:buNone/>
            </a:pPr>
            <a:r>
              <a:rPr lang="en-US" b="0" noProof="0" dirty="0" smtClean="0"/>
              <a:t>Trainer facilitates online research and discussion relating to relevant sites such as:</a:t>
            </a:r>
          </a:p>
          <a:p>
            <a:pPr marL="171450" indent="-171450">
              <a:buFont typeface="Arial" pitchFamily="34" charset="0"/>
              <a:buChar char="•"/>
            </a:pPr>
            <a:r>
              <a:rPr lang="en-AU" sz="1200" u="sng" kern="1200" dirty="0" smtClean="0">
                <a:solidFill>
                  <a:schemeClr val="tx1"/>
                </a:solidFill>
                <a:ea typeface="+mn-ea"/>
                <a:cs typeface="+mn-cs"/>
                <a:hlinkClick r:id="rId3"/>
              </a:rPr>
              <a:t>http://www.sgflyerking.com/price.html</a:t>
            </a:r>
            <a:r>
              <a:rPr lang="en-AU" sz="1200" kern="1200" dirty="0" smtClean="0">
                <a:solidFill>
                  <a:schemeClr val="tx1"/>
                </a:solidFill>
                <a:ea typeface="+mn-ea"/>
                <a:cs typeface="+mn-cs"/>
              </a:rPr>
              <a:t> </a:t>
            </a:r>
          </a:p>
          <a:p>
            <a:pPr marL="171450" indent="-171450">
              <a:buFont typeface="Arial" pitchFamily="34" charset="0"/>
              <a:buChar char="•"/>
            </a:pPr>
            <a:r>
              <a:rPr lang="en-AU" sz="1200" u="sng" kern="1200" dirty="0" smtClean="0">
                <a:solidFill>
                  <a:schemeClr val="tx1"/>
                </a:solidFill>
                <a:ea typeface="+mn-ea"/>
                <a:cs typeface="+mn-cs"/>
                <a:hlinkClick r:id="rId4"/>
              </a:rPr>
              <a:t>http://www.asiaprintmart.com/flyers_distributions.html</a:t>
            </a:r>
            <a:endParaRPr lang="en-AU" sz="1200" kern="1200" dirty="0" smtClean="0">
              <a:solidFill>
                <a:schemeClr val="tx1"/>
              </a:solidFill>
              <a:ea typeface="+mn-ea"/>
              <a:cs typeface="+mn-cs"/>
            </a:endParaRPr>
          </a:p>
          <a:p>
            <a:pPr marL="171450" indent="-171450">
              <a:buFont typeface="Arial" pitchFamily="34" charset="0"/>
              <a:buChar char="•"/>
            </a:pPr>
            <a:r>
              <a:rPr lang="en-AU" sz="1200" u="sng" kern="1200" dirty="0" smtClean="0">
                <a:solidFill>
                  <a:schemeClr val="tx1"/>
                </a:solidFill>
                <a:ea typeface="+mn-ea"/>
                <a:cs typeface="+mn-cs"/>
                <a:hlinkClick r:id="rId5"/>
              </a:rPr>
              <a:t>http://philippineflyerdistributor.webs.com/</a:t>
            </a:r>
            <a:endParaRPr lang="en-AU" sz="1200" kern="1200" dirty="0" smtClean="0">
              <a:solidFill>
                <a:schemeClr val="tx1"/>
              </a:solidFill>
              <a:ea typeface="+mn-ea"/>
              <a:cs typeface="+mn-cs"/>
            </a:endParaRPr>
          </a:p>
          <a:p>
            <a:pPr>
              <a:buFont typeface="Arial" pitchFamily="34" charset="0"/>
              <a:buNone/>
            </a:pPr>
            <a:endParaRPr lang="en-US"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132</a:t>
            </a:fld>
            <a:endParaRPr lang="en-US" dirty="0"/>
          </a:p>
        </p:txBody>
      </p:sp>
    </p:spTree>
    <p:extLst>
      <p:ext uri="{BB962C8B-B14F-4D97-AF65-F5344CB8AC3E}">
        <p14:creationId xmlns:p14="http://schemas.microsoft.com/office/powerpoint/2010/main" val="1059774087"/>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US" dirty="0" smtClean="0"/>
              <a:t>Trainer adds that:</a:t>
            </a:r>
          </a:p>
          <a:p>
            <a:pPr marL="171450" indent="-171450">
              <a:buFont typeface="Arial" pitchFamily="34" charset="0"/>
              <a:buChar char="•"/>
            </a:pPr>
            <a:r>
              <a:rPr lang="en-US" dirty="0" smtClean="0"/>
              <a:t>As </a:t>
            </a:r>
            <a:r>
              <a:rPr lang="en-AU" sz="1200" kern="1200" dirty="0" smtClean="0">
                <a:solidFill>
                  <a:schemeClr val="tx1"/>
                </a:solidFill>
                <a:ea typeface="+mn-ea"/>
                <a:cs typeface="+mn-cs"/>
              </a:rPr>
              <a:t>a guide, once the cost of design and print/production have been calculated an additional one third extra should be allowed for distribution costs </a:t>
            </a:r>
          </a:p>
          <a:p>
            <a:pPr marL="171450" indent="-171450">
              <a:buFont typeface="Arial" pitchFamily="34" charset="0"/>
              <a:buChar char="•"/>
            </a:pPr>
            <a:r>
              <a:rPr lang="en-AU" sz="1200" kern="1200" dirty="0" smtClean="0">
                <a:solidFill>
                  <a:schemeClr val="tx1"/>
                </a:solidFill>
                <a:ea typeface="+mn-ea"/>
                <a:cs typeface="+mn-cs"/>
              </a:rPr>
              <a:t>Attention should be paid to consideration of how many brochures the business will distribute:</a:t>
            </a:r>
          </a:p>
          <a:p>
            <a:pPr marL="628650" lvl="1" indent="-171450">
              <a:buFont typeface="Arial" pitchFamily="34" charset="0"/>
              <a:buChar char="•"/>
            </a:pPr>
            <a:r>
              <a:rPr lang="en-AU" sz="1200" kern="1200" dirty="0" smtClean="0">
                <a:solidFill>
                  <a:schemeClr val="tx1"/>
                </a:solidFill>
                <a:ea typeface="+mn-ea"/>
                <a:cs typeface="+mn-cs"/>
              </a:rPr>
              <a:t>By direct mail </a:t>
            </a:r>
          </a:p>
          <a:p>
            <a:pPr marL="628650" lvl="1" indent="-171450">
              <a:buFont typeface="Arial" pitchFamily="34" charset="0"/>
              <a:buChar char="•"/>
            </a:pPr>
            <a:r>
              <a:rPr lang="en-AU" sz="1200" kern="1200" dirty="0" smtClean="0">
                <a:solidFill>
                  <a:schemeClr val="tx1"/>
                </a:solidFill>
                <a:ea typeface="+mn-ea"/>
                <a:cs typeface="+mn-cs"/>
              </a:rPr>
              <a:t>At exhibitions and other events where the business will have a presence (display/stand) </a:t>
            </a:r>
          </a:p>
          <a:p>
            <a:pPr marL="628650" lvl="1" indent="-171450">
              <a:buFont typeface="Arial" pitchFamily="34" charset="0"/>
              <a:buChar char="•"/>
            </a:pPr>
            <a:r>
              <a:rPr lang="en-AU" sz="1200" kern="1200" dirty="0" smtClean="0">
                <a:solidFill>
                  <a:schemeClr val="tx1"/>
                </a:solidFill>
                <a:ea typeface="+mn-ea"/>
                <a:cs typeface="+mn-cs"/>
              </a:rPr>
              <a:t>Through brochure racks at information centres, carriers, accommodation facilities</a:t>
            </a:r>
          </a:p>
          <a:p>
            <a:pPr marL="628650" lvl="1" indent="-171450">
              <a:buFont typeface="Arial" pitchFamily="34" charset="0"/>
              <a:buChar char="•"/>
            </a:pPr>
            <a:r>
              <a:rPr lang="en-AU" sz="1200" kern="1200" dirty="0" smtClean="0">
                <a:solidFill>
                  <a:schemeClr val="tx1"/>
                </a:solidFill>
                <a:ea typeface="+mn-ea"/>
                <a:cs typeface="+mn-cs"/>
              </a:rPr>
              <a:t>Through overseas offices.</a:t>
            </a:r>
          </a:p>
          <a:p>
            <a:pPr>
              <a:buFont typeface="Arial" pitchFamily="34" charset="0"/>
              <a:buNone/>
            </a:pPr>
            <a:endParaRPr lang="en-US" dirty="0" smtClean="0"/>
          </a:p>
          <a:p>
            <a:pPr>
              <a:buFont typeface="Arial" pitchFamily="34" charset="0"/>
              <a:buNone/>
            </a:pPr>
            <a:r>
              <a:rPr lang="en-US" b="1" dirty="0" smtClean="0"/>
              <a:t>Classroom Activity (1) Guest Speaker</a:t>
            </a:r>
          </a:p>
          <a:p>
            <a:pPr>
              <a:buFont typeface="Arial" pitchFamily="34" charset="0"/>
              <a:buNone/>
            </a:pPr>
            <a:r>
              <a:rPr lang="en-US" b="0" dirty="0" smtClean="0"/>
              <a:t>Trainer arranges for representative from Distributor company to attend and:</a:t>
            </a:r>
          </a:p>
          <a:p>
            <a:pPr marL="171450" indent="-171450">
              <a:buFont typeface="Arial" pitchFamily="34" charset="0"/>
              <a:buChar char="•"/>
            </a:pPr>
            <a:r>
              <a:rPr lang="en-US" b="0" dirty="0" smtClean="0"/>
              <a:t>Describe services they provide</a:t>
            </a:r>
          </a:p>
          <a:p>
            <a:pPr marL="171450" indent="-171450">
              <a:buFont typeface="Arial" pitchFamily="34" charset="0"/>
              <a:buChar char="•"/>
            </a:pPr>
            <a:r>
              <a:rPr lang="en-US" b="0" dirty="0" smtClean="0"/>
              <a:t>Explain costs</a:t>
            </a:r>
          </a:p>
          <a:p>
            <a:pPr marL="171450" indent="-171450">
              <a:buFont typeface="Arial" pitchFamily="34" charset="0"/>
              <a:buChar char="•"/>
            </a:pPr>
            <a:r>
              <a:rPr lang="en-US" b="0" dirty="0" smtClean="0"/>
              <a:t>Provide tips and points to note when distributing</a:t>
            </a:r>
          </a:p>
          <a:p>
            <a:pPr>
              <a:buFont typeface="Arial" pitchFamily="34" charset="0"/>
              <a:buNone/>
            </a:pPr>
            <a:endParaRPr lang="en-US" b="0" dirty="0" smtClean="0"/>
          </a:p>
          <a:p>
            <a:pPr>
              <a:buFont typeface="Arial" pitchFamily="34" charset="0"/>
              <a:buNone/>
            </a:pPr>
            <a:r>
              <a:rPr lang="en-US" b="1" dirty="0" smtClean="0"/>
              <a:t>Classroom Activity (2) Guest Speaker</a:t>
            </a:r>
          </a:p>
          <a:p>
            <a:pPr>
              <a:buFont typeface="Arial" pitchFamily="34" charset="0"/>
              <a:buNone/>
            </a:pPr>
            <a:r>
              <a:rPr lang="en-US" b="0" dirty="0" smtClean="0"/>
              <a:t>Trainer arranges for management of a relevant travel/tour business to attend and:</a:t>
            </a:r>
          </a:p>
          <a:p>
            <a:pPr marL="171450" indent="-171450">
              <a:buFont typeface="Arial" pitchFamily="34" charset="0"/>
              <a:buChar char="•"/>
            </a:pPr>
            <a:r>
              <a:rPr lang="en-US" b="0" dirty="0" smtClean="0"/>
              <a:t>Discuss their distribution of materials explaining:</a:t>
            </a:r>
          </a:p>
          <a:p>
            <a:pPr marL="628650" lvl="1" indent="-171450">
              <a:buFont typeface="Arial" pitchFamily="34" charset="0"/>
              <a:buChar char="•"/>
            </a:pPr>
            <a:r>
              <a:rPr lang="en-US" b="0" dirty="0" smtClean="0"/>
              <a:t>How they distribute </a:t>
            </a:r>
          </a:p>
          <a:p>
            <a:pPr marL="628650" lvl="1" indent="-171450">
              <a:buFont typeface="Arial" pitchFamily="34" charset="0"/>
              <a:buChar char="•"/>
            </a:pPr>
            <a:r>
              <a:rPr lang="en-US" b="0" dirty="0" smtClean="0"/>
              <a:t>Where they distribute</a:t>
            </a:r>
          </a:p>
          <a:p>
            <a:pPr marL="628650" lvl="1" indent="-171450">
              <a:buFont typeface="Arial" pitchFamily="34" charset="0"/>
              <a:buChar char="•"/>
            </a:pPr>
            <a:r>
              <a:rPr lang="en-US" b="0" dirty="0" smtClean="0"/>
              <a:t>Who they use and why</a:t>
            </a:r>
          </a:p>
          <a:p>
            <a:pPr marL="628650" lvl="1" indent="-171450">
              <a:buFont typeface="Arial" pitchFamily="34" charset="0"/>
              <a:buChar char="•"/>
            </a:pPr>
            <a:r>
              <a:rPr lang="en-US" b="0" dirty="0" smtClean="0"/>
              <a:t>Costs</a:t>
            </a:r>
          </a:p>
          <a:p>
            <a:pPr marL="171450" lvl="0" indent="-171450">
              <a:buFont typeface="Arial" pitchFamily="34" charset="0"/>
              <a:buChar char="•"/>
            </a:pPr>
            <a:r>
              <a:rPr lang="en-US" b="0" dirty="0" smtClean="0"/>
              <a:t>Suggest advice for future distribution of items for students.</a:t>
            </a:r>
          </a:p>
          <a:p>
            <a:pPr>
              <a:buFont typeface="Arial" pitchFamily="34" charset="0"/>
              <a:buNone/>
            </a:pPr>
            <a:endParaRPr lang="en-US" b="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133</a:t>
            </a:fld>
            <a:endParaRPr lang="en-US" dirty="0"/>
          </a:p>
        </p:txBody>
      </p:sp>
    </p:spTree>
    <p:extLst>
      <p:ext uri="{BB962C8B-B14F-4D97-AF65-F5344CB8AC3E}">
        <p14:creationId xmlns:p14="http://schemas.microsoft.com/office/powerpoint/2010/main" val="1874338002"/>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134</a:t>
            </a:fld>
            <a:endParaRPr lang="en-US" dirty="0"/>
          </a:p>
        </p:txBody>
      </p:sp>
    </p:spTree>
    <p:extLst>
      <p:ext uri="{BB962C8B-B14F-4D97-AF65-F5344CB8AC3E}">
        <p14:creationId xmlns:p14="http://schemas.microsoft.com/office/powerpoint/2010/main" val="4180956916"/>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135</a:t>
            </a:fld>
            <a:endParaRPr lang="en-US" dirty="0"/>
          </a:p>
        </p:txBody>
      </p:sp>
    </p:spTree>
    <p:extLst>
      <p:ext uri="{BB962C8B-B14F-4D97-AF65-F5344CB8AC3E}">
        <p14:creationId xmlns:p14="http://schemas.microsoft.com/office/powerpoint/2010/main" val="3560864844"/>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provides a recap of the Element asking questions to check trainee understanding and responding to questions from trainees, as required.</a:t>
            </a:r>
            <a:endParaRPr lang="en-US" dirty="0" smtClean="0"/>
          </a:p>
          <a:p>
            <a:pPr>
              <a:buFont typeface="Arial" pitchFamily="34" charset="0"/>
              <a:buNone/>
            </a:pPr>
            <a:endParaRPr lang="en-US" noProof="0" dirty="0" smtClean="0"/>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r>
              <a:rPr lang="en-AU" sz="1200" kern="1200" baseline="0" dirty="0" smtClean="0">
                <a:solidFill>
                  <a:schemeClr val="tx1"/>
                </a:solidFill>
                <a:ea typeface="+mn-ea"/>
                <a:cs typeface="+mn-cs"/>
              </a:rPr>
              <a:t>Trainer thanks trainees for their attention and encourages them to apply course content as required in their workplace activities.</a:t>
            </a:r>
            <a:endParaRPr lang="en-US" dirty="0" smtClean="0"/>
          </a:p>
          <a:p>
            <a:pPr>
              <a:buFont typeface="Arial" pitchFamily="34" charset="0"/>
              <a:buNone/>
            </a:pPr>
            <a:endParaRPr lang="en-AU" noProof="0" dirty="0"/>
          </a:p>
        </p:txBody>
      </p:sp>
      <p:sp>
        <p:nvSpPr>
          <p:cNvPr id="4" name="Slide Number Placeholder 3"/>
          <p:cNvSpPr>
            <a:spLocks noGrp="1"/>
          </p:cNvSpPr>
          <p:nvPr>
            <p:ph type="sldNum" sz="quarter" idx="10"/>
          </p:nvPr>
        </p:nvSpPr>
        <p:spPr/>
        <p:txBody>
          <a:bodyPr/>
          <a:lstStyle/>
          <a:p>
            <a:fld id="{006CD3C9-0AF2-437D-9D2F-7B6B298CC32F}" type="slidenum">
              <a:rPr lang="en-US" smtClean="0"/>
              <a:pPr/>
              <a:t>136</a:t>
            </a:fld>
            <a:endParaRPr lang="en-US" dirty="0"/>
          </a:p>
        </p:txBody>
      </p:sp>
    </p:spTree>
    <p:extLst>
      <p:ext uri="{BB962C8B-B14F-4D97-AF65-F5344CB8AC3E}">
        <p14:creationId xmlns:p14="http://schemas.microsoft.com/office/powerpoint/2010/main" val="3789584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3F96675B-16CB-449C-AA64-20E2E057E166}" type="datetime1">
              <a:rPr lang="en-US" smtClean="0"/>
              <a:pPr/>
              <a:t>1/29/2015</a:t>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dirty="0" smtClean="0"/>
              <a:t>Click to edit Master text styles</a:t>
            </a:r>
          </a:p>
          <a:p>
            <a:pPr lvl="1" eaLnBrk="1" latinLnBrk="0" hangingPunct="1"/>
            <a:r>
              <a:rPr lang="en-US" dirty="0" smtClean="0"/>
              <a:t>Second level</a:t>
            </a:r>
          </a:p>
          <a:p>
            <a:pPr lvl="2" eaLnBrk="1" latinLnBrk="0" hangingPunct="1"/>
            <a:r>
              <a:rPr lang="en-US" dirty="0" smtClean="0"/>
              <a:t>Third level</a:t>
            </a:r>
          </a:p>
          <a:p>
            <a:pPr lvl="3" eaLnBrk="1" latinLnBrk="0" hangingPunct="1"/>
            <a:r>
              <a:rPr lang="en-US" dirty="0" smtClean="0"/>
              <a:t>Fourth level</a:t>
            </a:r>
          </a:p>
          <a:p>
            <a:pPr lvl="4" eaLnBrk="1" latinLnBrk="0" hangingPunct="1"/>
            <a:r>
              <a:rPr lang="en-US" dirty="0" smtClean="0"/>
              <a:t>Fifth level</a:t>
            </a:r>
            <a:endParaRPr kumimoji="0" lang="en-US" dirty="0"/>
          </a:p>
        </p:txBody>
      </p:sp>
      <p:sp>
        <p:nvSpPr>
          <p:cNvPr id="4" name="Date Placeholder 3"/>
          <p:cNvSpPr>
            <a:spLocks noGrp="1"/>
          </p:cNvSpPr>
          <p:nvPr>
            <p:ph type="dt" sz="half" idx="10"/>
          </p:nvPr>
        </p:nvSpPr>
        <p:spPr/>
        <p:txBody>
          <a:bodyPr/>
          <a:lstStyle/>
          <a:p>
            <a:fld id="{0646F223-D3A2-44F5-8051-829B2F23C0D4}" type="datetime1">
              <a:rPr lang="en-US" smtClean="0"/>
              <a:pPr/>
              <a:t>1/29/2015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9A33FE7D-417D-483E-A327-7AED21196679}" type="datetime1">
              <a:rPr lang="en-US" smtClean="0"/>
              <a:pPr/>
              <a:t>1/29/2015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FBBE8DDC-366E-4D96-B475-59755FBFA064}" type="datetime1">
              <a:rPr lang="en-US" smtClean="0"/>
              <a:pPr/>
              <a:t>1/29/2015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AFB5C968-0B16-4ADF-91B3-C8ECABCFDA29}" type="datetime1">
              <a:rPr lang="en-US" smtClean="0"/>
              <a:pPr/>
              <a:t>1/29/2015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F3921DEA-061C-49D7-974B-38721BC66A5F}" type="datetime1">
              <a:rPr lang="en-US" smtClean="0"/>
              <a:pPr/>
              <a:t>1/29/2015</a:t>
            </a:fld>
            <a:endParaRPr lang="en-US" dirty="0"/>
          </a:p>
        </p:txBody>
      </p:sp>
      <p:sp>
        <p:nvSpPr>
          <p:cNvPr id="8" name="Slide Number Placeholder 7"/>
          <p:cNvSpPr>
            <a:spLocks noGrp="1"/>
          </p:cNvSpPr>
          <p:nvPr>
            <p:ph type="sldNum" sz="quarter" idx="11"/>
          </p:nvPr>
        </p:nvSpPr>
        <p:spPr/>
        <p:txBody>
          <a:bodyPr/>
          <a:lstStyle/>
          <a:p>
            <a:fld id="{90BDF71C-F485-43AE-8825-5070AF1EA8C9}"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7EFC2B-FC2E-46FA-B53A-48A270754B05}" type="datetime1">
              <a:rPr lang="en-US" smtClean="0"/>
              <a:pPr/>
              <a:t>1/29/2015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1873B9F-1886-41EB-8596-DFD2474565B7}" type="datetime1">
              <a:rPr lang="en-US" smtClean="0"/>
              <a:pPr/>
              <a:t>1/29/2015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156448" y="6422064"/>
            <a:ext cx="762000" cy="365125"/>
          </a:xfrm>
        </p:spPr>
        <p:txBody>
          <a:bodyPr/>
          <a:lstStyle/>
          <a:p>
            <a:fld id="{90BDF71C-F485-43AE-8825-5070AF1EA8C9}"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dirty="0"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5A6D77F6-049E-4E03-BBEC-9C9525B9448E}" type="datetime1">
              <a:rPr lang="en-US" smtClean="0"/>
              <a:pPr/>
              <a:t>1/29/2015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DC8BABC8-BFBF-4030-9C7D-70F812C9AAE4}" type="datetime1">
              <a:rPr lang="en-US" smtClean="0"/>
              <a:pPr/>
              <a:t>1/29/2015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88CF46A6-0262-42FF-B093-039AED07B7AD}" type="datetime1">
              <a:rPr lang="en-US" smtClean="0"/>
              <a:pPr/>
              <a:t>1/29/2015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0BDF71C-F485-43AE-8825-5070AF1EA8C9}"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dirty="0">
              <a:latin typeface="Helvetica" pitchFamily="34" charset="0"/>
            </a:endParaRPr>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dirty="0" smtClean="0"/>
              <a:t>Click to edit Master title style</a:t>
            </a:r>
            <a:endParaRPr kumimoji="0" lang="en-US" dirty="0"/>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dirty="0" smtClean="0"/>
              <a:t>Click to edit Master text styles</a:t>
            </a:r>
          </a:p>
          <a:p>
            <a:pPr lvl="1" eaLnBrk="1" latinLnBrk="0" hangingPunct="1"/>
            <a:r>
              <a:rPr kumimoji="0" lang="en-US" dirty="0" smtClean="0"/>
              <a:t>Second level</a:t>
            </a:r>
          </a:p>
          <a:p>
            <a:pPr lvl="2" eaLnBrk="1" latinLnBrk="0" hangingPunct="1"/>
            <a:r>
              <a:rPr kumimoji="0" lang="en-US" dirty="0" smtClean="0"/>
              <a:t>Third level</a:t>
            </a:r>
          </a:p>
          <a:p>
            <a:pPr lvl="3" eaLnBrk="1" latinLnBrk="0" hangingPunct="1"/>
            <a:r>
              <a:rPr kumimoji="0" lang="en-US" dirty="0" smtClean="0"/>
              <a:t>Fourth level</a:t>
            </a:r>
          </a:p>
          <a:p>
            <a:pPr lvl="4" eaLnBrk="1" latinLnBrk="0" hangingPunct="1"/>
            <a:r>
              <a:rPr kumimoji="0" lang="en-US" dirty="0" smtClean="0"/>
              <a:t>Fifth level</a:t>
            </a:r>
            <a:endParaRPr kumimoji="0" lang="en-US" dirty="0"/>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latin typeface="Helvetica" pitchFamily="34" charset="0"/>
              </a:defRPr>
            </a:lvl1pPr>
          </a:lstStyle>
          <a:p>
            <a:fld id="{60B9F9CF-7D2C-460C-8F3E-F6213A54EF65}" type="datetime1">
              <a:rPr lang="en-US" smtClean="0"/>
              <a:pPr/>
              <a:t>1/29/2015</a:t>
            </a:fld>
            <a:endParaRPr lang="en-US" dirty="0"/>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latin typeface="Helvetica" pitchFamily="34" charset="0"/>
              </a:defRPr>
            </a:lvl1pPr>
          </a:lstStyle>
          <a:p>
            <a:endParaRPr lang="en-US" dirty="0"/>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latin typeface="Helvetica" pitchFamily="34" charset="0"/>
              </a:defRPr>
            </a:lvl1pPr>
          </a:lstStyle>
          <a:p>
            <a:fld id="{90BDF71C-F485-43AE-8825-5070AF1EA8C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rtl="0" eaLnBrk="1" latinLnBrk="0" hangingPunct="1">
        <a:spcBef>
          <a:spcPct val="0"/>
        </a:spcBef>
        <a:buNone/>
        <a:defRPr kumimoji="0" sz="4600" kern="1200">
          <a:solidFill>
            <a:schemeClr val="tx1"/>
          </a:solidFill>
          <a:latin typeface="Helvetica" pitchFamily="34" charset="0"/>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2000" kern="1200">
          <a:solidFill>
            <a:schemeClr val="tx1"/>
          </a:solidFill>
          <a:latin typeface="Helvetica" pitchFamily="34" charset="0"/>
          <a:ea typeface="+mn-ea"/>
          <a:cs typeface="+mn-cs"/>
        </a:defRPr>
      </a:lvl1pPr>
      <a:lvl2pPr marL="722376" indent="-274320" algn="l" rtl="0" eaLnBrk="1" latinLnBrk="0" hangingPunct="1">
        <a:spcBef>
          <a:spcPct val="20000"/>
        </a:spcBef>
        <a:buClr>
          <a:schemeClr val="accent1"/>
        </a:buClr>
        <a:buSzPct val="90000"/>
        <a:buFont typeface="Wingdings 2"/>
        <a:buChar char=""/>
        <a:defRPr kumimoji="0" sz="1800" kern="1200">
          <a:solidFill>
            <a:schemeClr val="tx1"/>
          </a:solidFill>
          <a:latin typeface="Helvetica" pitchFamily="34" charset="0"/>
          <a:ea typeface="+mn-ea"/>
          <a:cs typeface="+mn-cs"/>
        </a:defRPr>
      </a:lvl2pPr>
      <a:lvl3pPr marL="1005840" indent="-256032" algn="l" rtl="0" eaLnBrk="1" latinLnBrk="0" hangingPunct="1">
        <a:spcBef>
          <a:spcPct val="20000"/>
        </a:spcBef>
        <a:buClr>
          <a:schemeClr val="accent2"/>
        </a:buClr>
        <a:buSzPct val="85000"/>
        <a:buFont typeface="Arial"/>
        <a:buChar char="○"/>
        <a:defRPr kumimoji="0" sz="1600" kern="1200">
          <a:solidFill>
            <a:schemeClr val="tx1"/>
          </a:solidFill>
          <a:latin typeface="Helvetica" pitchFamily="34" charset="0"/>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1400" kern="1200">
          <a:solidFill>
            <a:schemeClr val="tx1"/>
          </a:solidFill>
          <a:latin typeface="Helvetica" pitchFamily="34" charset="0"/>
          <a:ea typeface="+mn-ea"/>
          <a:cs typeface="+mn-cs"/>
        </a:defRPr>
      </a:lvl4pPr>
      <a:lvl5pPr marL="1490472" indent="-182880" algn="l" rtl="0" eaLnBrk="1" latinLnBrk="0" hangingPunct="1">
        <a:spcBef>
          <a:spcPct val="20000"/>
        </a:spcBef>
        <a:buClr>
          <a:schemeClr val="accent4"/>
        </a:buClr>
        <a:buSzPct val="100000"/>
        <a:buFont typeface="Arial"/>
        <a:buChar char="-"/>
        <a:defRPr kumimoji="0" sz="1400" kern="1200">
          <a:solidFill>
            <a:schemeClr val="tx1"/>
          </a:solidFill>
          <a:latin typeface="Helvetica" pitchFamily="34" charset="0"/>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57.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9.jpeg"/><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62.jpe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63.jpe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5.jpe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8.jpe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69.jpe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2.jpe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74.jpe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87.jpeg"/><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8.jpeg"/><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91.jpe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97.xml"/><Relationship Id="rId1" Type="http://schemas.openxmlformats.org/officeDocument/2006/relationships/slideLayout" Target="../slideLayouts/slideLayout2.xml"/><Relationship Id="rId4" Type="http://schemas.microsoft.com/office/2007/relationships/hdphoto" Target="../media/hdphoto1.wdp"/></Relationships>
</file>

<file path=ppt/slides/_rels/slide98.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98.xml"/><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8.jpeg"/><Relationship Id="rId2" Type="http://schemas.openxmlformats.org/officeDocument/2006/relationships/notesSlide" Target="../notesSlides/notesSlide99.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90.jpeg"/><Relationship Id="rId2" Type="http://schemas.openxmlformats.org/officeDocument/2006/relationships/notesSlide" Target="../notesSlides/notesSlide100.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1.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02.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04.xml"/><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05.xm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102.jpeg"/><Relationship Id="rId2" Type="http://schemas.openxmlformats.org/officeDocument/2006/relationships/notesSlide" Target="../notesSlides/notesSlide106.xml"/><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07.xml"/><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notesSlide" Target="../notesSlides/notesSlide108.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09.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10.xml"/><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12.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13.xml"/><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114.xml"/><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16.xml"/><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08.jpeg"/><Relationship Id="rId2" Type="http://schemas.openxmlformats.org/officeDocument/2006/relationships/notesSlide" Target="../notesSlides/notesSlide117.xml"/><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3" Type="http://schemas.openxmlformats.org/officeDocument/2006/relationships/image" Target="../media/image109.jpeg"/><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119.xml"/><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3" Type="http://schemas.openxmlformats.org/officeDocument/2006/relationships/image" Target="../media/image110.jpeg"/><Relationship Id="rId2" Type="http://schemas.openxmlformats.org/officeDocument/2006/relationships/notesSlide" Target="../notesSlides/notesSlide121.xml"/><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3" Type="http://schemas.openxmlformats.org/officeDocument/2006/relationships/image" Target="../media/image111.jpeg"/><Relationship Id="rId2" Type="http://schemas.openxmlformats.org/officeDocument/2006/relationships/notesSlide" Target="../notesSlides/notesSlide122.xml"/><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3" Type="http://schemas.openxmlformats.org/officeDocument/2006/relationships/image" Target="../media/image112.jpeg"/><Relationship Id="rId2" Type="http://schemas.openxmlformats.org/officeDocument/2006/relationships/notesSlide" Target="../notesSlides/notesSlide123.xml"/><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3" Type="http://schemas.openxmlformats.org/officeDocument/2006/relationships/image" Target="../media/image114.jpeg"/><Relationship Id="rId2" Type="http://schemas.openxmlformats.org/officeDocument/2006/relationships/notesSlide" Target="../notesSlides/notesSlide125.xml"/><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3" Type="http://schemas.openxmlformats.org/officeDocument/2006/relationships/image" Target="../media/image115.jpeg"/><Relationship Id="rId2" Type="http://schemas.openxmlformats.org/officeDocument/2006/relationships/notesSlide" Target="../notesSlides/notesSlide126.xml"/><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127.xml"/><Relationship Id="rId1" Type="http://schemas.openxmlformats.org/officeDocument/2006/relationships/slideLayout" Target="../slideLayouts/slideLayout2.xml"/><Relationship Id="rId4" Type="http://schemas.openxmlformats.org/officeDocument/2006/relationships/image" Target="../media/image117.jpeg"/></Relationships>
</file>

<file path=ppt/slides/_rels/slide128.xml.rels><?xml version="1.0" encoding="UTF-8" standalone="yes"?>
<Relationships xmlns="http://schemas.openxmlformats.org/package/2006/relationships"><Relationship Id="rId3" Type="http://schemas.openxmlformats.org/officeDocument/2006/relationships/image" Target="../media/image118.jpeg"/><Relationship Id="rId2" Type="http://schemas.openxmlformats.org/officeDocument/2006/relationships/notesSlide" Target="../notesSlides/notesSlide128.xml"/><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3" Type="http://schemas.openxmlformats.org/officeDocument/2006/relationships/image" Target="../media/image119.jpeg"/><Relationship Id="rId2" Type="http://schemas.openxmlformats.org/officeDocument/2006/relationships/notesSlide" Target="../notesSlides/notesSlide129.xml"/><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3" Type="http://schemas.openxmlformats.org/officeDocument/2006/relationships/image" Target="../media/image120.jpeg"/><Relationship Id="rId2" Type="http://schemas.openxmlformats.org/officeDocument/2006/relationships/notesSlide" Target="../notesSlides/notesSlide130.xml"/><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3" Type="http://schemas.openxmlformats.org/officeDocument/2006/relationships/image" Target="../media/image121.jpeg"/><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32.xml"/><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3" Type="http://schemas.openxmlformats.org/officeDocument/2006/relationships/image" Target="../media/image122.jpeg"/><Relationship Id="rId2" Type="http://schemas.openxmlformats.org/officeDocument/2006/relationships/notesSlide" Target="../notesSlides/notesSlide133.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3" Type="http://schemas.openxmlformats.org/officeDocument/2006/relationships/image" Target="../media/image123.jpeg"/><Relationship Id="rId2" Type="http://schemas.openxmlformats.org/officeDocument/2006/relationships/notesSlide" Target="../notesSlides/notesSlide134.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3" Type="http://schemas.openxmlformats.org/officeDocument/2006/relationships/image" Target="../media/image61.jpeg"/><Relationship Id="rId2" Type="http://schemas.openxmlformats.org/officeDocument/2006/relationships/notesSlide" Target="../notesSlides/notesSlide135.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3" Type="http://schemas.openxmlformats.org/officeDocument/2006/relationships/image" Target="../media/image113.jpeg"/><Relationship Id="rId2" Type="http://schemas.openxmlformats.org/officeDocument/2006/relationships/notesSlide" Target="../notesSlides/notesSlide13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07704" y="548680"/>
            <a:ext cx="6480048" cy="936104"/>
          </a:xfrm>
        </p:spPr>
        <p:txBody>
          <a:bodyPr>
            <a:normAutofit fontScale="90000"/>
          </a:bodyPr>
          <a:lstStyle/>
          <a:p>
            <a:r>
              <a:rPr lang="en-AU" sz="4000" dirty="0" smtClean="0">
                <a:ln w="5000" cmpd="sng">
                  <a:noFill/>
                  <a:prstDash val="solid"/>
                </a:ln>
                <a:solidFill>
                  <a:srgbClr val="FF6600"/>
                </a:solidFill>
                <a:latin typeface="Helvetica" pitchFamily="34" charset="0"/>
              </a:rPr>
              <a:t>Coordinate </a:t>
            </a:r>
            <a:r>
              <a:rPr lang="en-AU" sz="4000" dirty="0">
                <a:ln w="5000" cmpd="sng">
                  <a:noFill/>
                  <a:prstDash val="solid"/>
                </a:ln>
                <a:solidFill>
                  <a:srgbClr val="FF6600"/>
                </a:solidFill>
                <a:latin typeface="Helvetica" pitchFamily="34" charset="0"/>
              </a:rPr>
              <a:t>production of brochures and marketing materials</a:t>
            </a:r>
          </a:p>
        </p:txBody>
      </p:sp>
      <p:sp>
        <p:nvSpPr>
          <p:cNvPr id="3" name="Subtitle 2"/>
          <p:cNvSpPr>
            <a:spLocks noGrp="1"/>
          </p:cNvSpPr>
          <p:nvPr>
            <p:ph type="subTitle" idx="1"/>
          </p:nvPr>
        </p:nvSpPr>
        <p:spPr>
          <a:xfrm>
            <a:off x="5847156" y="2275162"/>
            <a:ext cx="2541268" cy="433758"/>
          </a:xfrm>
        </p:spPr>
        <p:txBody>
          <a:bodyPr>
            <a:normAutofit/>
          </a:bodyPr>
          <a:lstStyle/>
          <a:p>
            <a:r>
              <a:rPr lang="en-AU" b="1" dirty="0">
                <a:latin typeface="Helvetica" pitchFamily="34" charset="0"/>
              </a:rPr>
              <a:t>D2.TCS.CL5.06</a:t>
            </a:r>
          </a:p>
        </p:txBody>
      </p:sp>
      <p:sp>
        <p:nvSpPr>
          <p:cNvPr id="4" name="Slide Number Placeholder 3"/>
          <p:cNvSpPr>
            <a:spLocks noGrp="1"/>
          </p:cNvSpPr>
          <p:nvPr>
            <p:ph type="sldNum" sz="quarter" idx="12"/>
          </p:nvPr>
        </p:nvSpPr>
        <p:spPr/>
        <p:txBody>
          <a:bodyPr/>
          <a:lstStyle/>
          <a:p>
            <a:r>
              <a:rPr lang="en-AU" dirty="0" smtClean="0"/>
              <a:t> </a:t>
            </a:r>
            <a:r>
              <a:rPr lang="en-AU" dirty="0" smtClean="0">
                <a:latin typeface="Helvetica" pitchFamily="34" charset="0"/>
              </a:rPr>
              <a:t>Slide </a:t>
            </a:r>
            <a:fld id="{90BDF71C-F485-43AE-8825-5070AF1EA8C9}" type="slidenum">
              <a:rPr lang="en-AU" smtClean="0">
                <a:latin typeface="Helvetica" pitchFamily="34" charset="0"/>
              </a:rPr>
              <a:pPr/>
              <a:t>1</a:t>
            </a:fld>
            <a:endParaRPr lang="en-AU" dirty="0">
              <a:latin typeface="Helvetica" pitchFamily="34" charset="0"/>
            </a:endParaRPr>
          </a:p>
        </p:txBody>
      </p:sp>
      <p:grpSp>
        <p:nvGrpSpPr>
          <p:cNvPr id="21" name="Group 20"/>
          <p:cNvGrpSpPr/>
          <p:nvPr/>
        </p:nvGrpSpPr>
        <p:grpSpPr>
          <a:xfrm>
            <a:off x="662584" y="2460960"/>
            <a:ext cx="5565600" cy="4208400"/>
            <a:chOff x="0" y="0"/>
            <a:chExt cx="7585544" cy="6098650"/>
          </a:xfrm>
        </p:grpSpPr>
        <p:pic>
          <p:nvPicPr>
            <p:cNvPr id="22" name="Picture 21"/>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bwMode="auto">
            <a:xfrm>
              <a:off x="4468633" y="1502797"/>
              <a:ext cx="3069203" cy="3053300"/>
            </a:xfrm>
            <a:prstGeom prst="rect">
              <a:avLst/>
            </a:prstGeom>
            <a:ln>
              <a:noFill/>
            </a:ln>
            <a:extLst>
              <a:ext uri="{53640926-AAD7-44D8-BBD7-CCE9431645EC}">
                <a14:shadowObscured xmlns:a14="http://schemas.microsoft.com/office/drawing/2010/main"/>
              </a:ext>
            </a:extLst>
          </p:spPr>
        </p:pic>
        <p:pic>
          <p:nvPicPr>
            <p:cNvPr id="23" name="Picture 22"/>
            <p:cNvPicPr>
              <a:picLocks noChangeAspect="1"/>
            </p:cNvPicPr>
            <p:nvPr/>
          </p:nvPicPr>
          <p:blipFill rotWithShape="1">
            <a:blip r:embed="rId4" cstate="print">
              <a:extLst>
                <a:ext uri="{28A0092B-C50C-407E-A947-70E740481C1C}">
                  <a14:useLocalDpi xmlns:a14="http://schemas.microsoft.com/office/drawing/2010/main"/>
                </a:ext>
              </a:extLst>
            </a:blip>
            <a:srcRect/>
            <a:stretch/>
          </p:blipFill>
          <p:spPr bwMode="auto">
            <a:xfrm>
              <a:off x="4643562" y="4269850"/>
              <a:ext cx="2910177" cy="1812898"/>
            </a:xfrm>
            <a:prstGeom prst="rect">
              <a:avLst/>
            </a:prstGeom>
            <a:ln>
              <a:noFill/>
            </a:ln>
            <a:extLst>
              <a:ext uri="{53640926-AAD7-44D8-BBD7-CCE9431645EC}">
                <a14:shadowObscured xmlns:a14="http://schemas.microsoft.com/office/drawing/2010/main"/>
              </a:ext>
            </a:extLst>
          </p:spPr>
        </p:pic>
        <p:pic>
          <p:nvPicPr>
            <p:cNvPr id="24" name="Picture 23"/>
            <p:cNvPicPr>
              <a:picLocks noChangeAspect="1"/>
            </p:cNvPicPr>
            <p:nvPr/>
          </p:nvPicPr>
          <p:blipFill rotWithShape="1">
            <a:blip r:embed="rId5" cstate="print">
              <a:extLst>
                <a:ext uri="{28A0092B-C50C-407E-A947-70E740481C1C}">
                  <a14:useLocalDpi xmlns:a14="http://schemas.microsoft.com/office/drawing/2010/main"/>
                </a:ext>
              </a:extLst>
            </a:blip>
            <a:srcRect/>
            <a:stretch/>
          </p:blipFill>
          <p:spPr bwMode="auto">
            <a:xfrm>
              <a:off x="4643562" y="0"/>
              <a:ext cx="2941982" cy="1828800"/>
            </a:xfrm>
            <a:prstGeom prst="rect">
              <a:avLst/>
            </a:prstGeom>
            <a:ln>
              <a:noFill/>
            </a:ln>
            <a:extLst>
              <a:ext uri="{53640926-AAD7-44D8-BBD7-CCE9431645EC}">
                <a14:shadowObscured xmlns:a14="http://schemas.microsoft.com/office/drawing/2010/main"/>
              </a:ext>
            </a:extLst>
          </p:spPr>
        </p:pic>
        <p:pic>
          <p:nvPicPr>
            <p:cNvPr id="25" name="Picture 24"/>
            <p:cNvPicPr>
              <a:picLocks noChangeAspect="1"/>
            </p:cNvPicPr>
            <p:nvPr/>
          </p:nvPicPr>
          <p:blipFill rotWithShape="1">
            <a:blip r:embed="rId6" cstate="print">
              <a:extLst>
                <a:ext uri="{28A0092B-C50C-407E-A947-70E740481C1C}">
                  <a14:useLocalDpi xmlns:a14="http://schemas.microsoft.com/office/drawing/2010/main"/>
                </a:ext>
              </a:extLst>
            </a:blip>
            <a:srcRect/>
            <a:stretch/>
          </p:blipFill>
          <p:spPr bwMode="auto">
            <a:xfrm>
              <a:off x="0" y="0"/>
              <a:ext cx="4651513" cy="6098650"/>
            </a:xfrm>
            <a:prstGeom prst="rect">
              <a:avLst/>
            </a:prstGeom>
            <a:noFill/>
            <a:ln>
              <a:noFill/>
            </a:ln>
            <a:extLst>
              <a:ext uri="{53640926-AAD7-44D8-BBD7-CCE9431645EC}">
                <a14:shadowObscured xmlns:a14="http://schemas.microsoft.com/office/drawing/2010/main"/>
              </a:ext>
            </a:extLst>
          </p:spPr>
        </p:pic>
      </p:gr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Coordinate production of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71472" y="1988840"/>
            <a:ext cx="4864624" cy="4798349"/>
          </a:xfrm>
        </p:spPr>
        <p:txBody>
          <a:bodyPr>
            <a:normAutofit/>
          </a:bodyPr>
          <a:lstStyle/>
          <a:p>
            <a:pPr marL="266700" indent="-266700">
              <a:spcBef>
                <a:spcPts val="600"/>
              </a:spcBef>
              <a:spcAft>
                <a:spcPts val="1200"/>
              </a:spcAft>
              <a:buNone/>
            </a:pPr>
            <a:r>
              <a:rPr lang="en-US" dirty="0" smtClean="0">
                <a:latin typeface="Helvetica" pitchFamily="34" charset="0"/>
              </a:rPr>
              <a:t>This </a:t>
            </a:r>
            <a:r>
              <a:rPr lang="en-US" dirty="0">
                <a:latin typeface="Helvetica" pitchFamily="34" charset="0"/>
              </a:rPr>
              <a:t>u</a:t>
            </a:r>
            <a:r>
              <a:rPr lang="en-US" dirty="0" smtClean="0">
                <a:latin typeface="Helvetica" pitchFamily="34" charset="0"/>
              </a:rPr>
              <a:t>nit comprises five elements:</a:t>
            </a:r>
          </a:p>
          <a:p>
            <a:pPr marL="266700" indent="-266700">
              <a:spcBef>
                <a:spcPts val="600"/>
              </a:spcBef>
              <a:spcAft>
                <a:spcPts val="600"/>
              </a:spcAft>
              <a:buNone/>
            </a:pPr>
            <a:r>
              <a:rPr lang="en-US" dirty="0" smtClean="0">
                <a:solidFill>
                  <a:srgbClr val="92D050"/>
                </a:solidFill>
                <a:latin typeface="Helvetica" pitchFamily="34" charset="0"/>
              </a:rPr>
              <a:t>1. </a:t>
            </a:r>
            <a:r>
              <a:rPr lang="en-US" dirty="0" smtClean="0">
                <a:latin typeface="Helvetica" pitchFamily="34" charset="0"/>
              </a:rPr>
              <a:t>Identify the context for brochures and marketing materials</a:t>
            </a:r>
          </a:p>
          <a:p>
            <a:pPr marL="266700" indent="-266700">
              <a:spcBef>
                <a:spcPts val="600"/>
              </a:spcBef>
              <a:spcAft>
                <a:spcPts val="600"/>
              </a:spcAft>
              <a:buNone/>
            </a:pPr>
            <a:r>
              <a:rPr lang="en-US" dirty="0" smtClean="0">
                <a:solidFill>
                  <a:srgbClr val="92D050"/>
                </a:solidFill>
                <a:latin typeface="Helvetica" pitchFamily="34" charset="0"/>
              </a:rPr>
              <a:t>2. </a:t>
            </a:r>
            <a:r>
              <a:rPr lang="en-US" dirty="0" smtClean="0">
                <a:latin typeface="Helvetica" pitchFamily="34" charset="0"/>
              </a:rPr>
              <a:t>Manage inclusions for brochures and marketing materials</a:t>
            </a:r>
          </a:p>
          <a:p>
            <a:pPr marL="266700" indent="-266700">
              <a:spcBef>
                <a:spcPts val="600"/>
              </a:spcBef>
              <a:spcAft>
                <a:spcPts val="600"/>
              </a:spcAft>
              <a:buNone/>
            </a:pPr>
            <a:r>
              <a:rPr lang="en-US" dirty="0" smtClean="0">
                <a:solidFill>
                  <a:srgbClr val="92D050"/>
                </a:solidFill>
                <a:latin typeface="Helvetica" pitchFamily="34" charset="0"/>
              </a:rPr>
              <a:t>3. </a:t>
            </a:r>
            <a:r>
              <a:rPr lang="en-US" dirty="0" smtClean="0">
                <a:latin typeface="Helvetica" pitchFamily="34" charset="0"/>
              </a:rPr>
              <a:t>Administer activities relating to the production of draft items</a:t>
            </a:r>
          </a:p>
          <a:p>
            <a:pPr marL="266700" indent="-266700">
              <a:spcBef>
                <a:spcPts val="600"/>
              </a:spcBef>
              <a:spcAft>
                <a:spcPts val="600"/>
              </a:spcAft>
              <a:buNone/>
            </a:pPr>
            <a:r>
              <a:rPr lang="en-US" dirty="0" smtClean="0">
                <a:solidFill>
                  <a:srgbClr val="92D050"/>
                </a:solidFill>
                <a:latin typeface="Helvetica" pitchFamily="34" charset="0"/>
              </a:rPr>
              <a:t>4. </a:t>
            </a:r>
            <a:r>
              <a:rPr lang="en-US" dirty="0" smtClean="0">
                <a:latin typeface="Helvetica" pitchFamily="34" charset="0"/>
              </a:rPr>
              <a:t>Obtain quotations for production of brochures and marketing materials</a:t>
            </a:r>
          </a:p>
          <a:p>
            <a:pPr marL="266700" indent="-266700">
              <a:spcBef>
                <a:spcPts val="600"/>
              </a:spcBef>
              <a:spcAft>
                <a:spcPts val="600"/>
              </a:spcAft>
              <a:buNone/>
            </a:pPr>
            <a:r>
              <a:rPr lang="en-US" dirty="0" smtClean="0">
                <a:solidFill>
                  <a:srgbClr val="92D050"/>
                </a:solidFill>
                <a:latin typeface="Helvetica" pitchFamily="34" charset="0"/>
              </a:rPr>
              <a:t>5.</a:t>
            </a:r>
            <a:r>
              <a:rPr lang="en-US" dirty="0" smtClean="0">
                <a:latin typeface="Helvetica" pitchFamily="34" charset="0"/>
              </a:rPr>
              <a:t> Administer activities relating to the production of final 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436096" y="2348880"/>
            <a:ext cx="1632937" cy="3240000"/>
          </a:xfrm>
          <a:prstGeom prst="rect">
            <a:avLst/>
          </a:prstGeom>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Assessment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093915"/>
          </a:xfrm>
        </p:spPr>
        <p:txBody>
          <a:bodyPr>
            <a:normAutofit fontScale="92500" lnSpcReduction="10000"/>
          </a:bodyPr>
          <a:lstStyle/>
          <a:p>
            <a:pPr marL="0" indent="0">
              <a:spcBef>
                <a:spcPts val="600"/>
              </a:spcBef>
              <a:spcAft>
                <a:spcPts val="1200"/>
              </a:spcAft>
              <a:buNone/>
            </a:pPr>
            <a:r>
              <a:rPr lang="en-US" sz="2200" dirty="0" smtClean="0"/>
              <a:t>Assessment for this unit may include:</a:t>
            </a:r>
          </a:p>
          <a:p>
            <a:pPr marL="360000" indent="-360000">
              <a:spcBef>
                <a:spcPts val="600"/>
              </a:spcBef>
              <a:spcAft>
                <a:spcPts val="1200"/>
              </a:spcAft>
              <a:buClr>
                <a:schemeClr val="accent1">
                  <a:lumMod val="75000"/>
                </a:schemeClr>
              </a:buClr>
            </a:pPr>
            <a:r>
              <a:rPr lang="en-US" sz="2200" dirty="0" smtClean="0"/>
              <a:t>Oral questions</a:t>
            </a:r>
          </a:p>
          <a:p>
            <a:pPr marL="360000" indent="-360000">
              <a:spcBef>
                <a:spcPts val="600"/>
              </a:spcBef>
              <a:spcAft>
                <a:spcPts val="1200"/>
              </a:spcAft>
              <a:buClr>
                <a:schemeClr val="accent1">
                  <a:lumMod val="75000"/>
                </a:schemeClr>
              </a:buClr>
            </a:pPr>
            <a:r>
              <a:rPr lang="en-US" sz="2200" dirty="0" smtClean="0"/>
              <a:t>Written questions</a:t>
            </a:r>
          </a:p>
          <a:p>
            <a:pPr marL="360000" indent="-360000">
              <a:spcBef>
                <a:spcPts val="600"/>
              </a:spcBef>
              <a:spcAft>
                <a:spcPts val="1200"/>
              </a:spcAft>
              <a:buClr>
                <a:schemeClr val="accent1">
                  <a:lumMod val="75000"/>
                </a:schemeClr>
              </a:buClr>
            </a:pPr>
            <a:r>
              <a:rPr lang="en-US" sz="2200" dirty="0" smtClean="0"/>
              <a:t>Work projects</a:t>
            </a:r>
          </a:p>
          <a:p>
            <a:pPr marL="360000" indent="-360000">
              <a:spcBef>
                <a:spcPts val="600"/>
              </a:spcBef>
              <a:spcAft>
                <a:spcPts val="1200"/>
              </a:spcAft>
              <a:buClr>
                <a:schemeClr val="accent1">
                  <a:lumMod val="75000"/>
                </a:schemeClr>
              </a:buClr>
            </a:pPr>
            <a:r>
              <a:rPr lang="en-US" sz="2200" dirty="0" smtClean="0"/>
              <a:t>Workplace observation of practical skills</a:t>
            </a:r>
          </a:p>
          <a:p>
            <a:pPr marL="360000" indent="-360000">
              <a:spcBef>
                <a:spcPts val="600"/>
              </a:spcBef>
              <a:spcAft>
                <a:spcPts val="1200"/>
              </a:spcAft>
              <a:buClr>
                <a:schemeClr val="accent1">
                  <a:lumMod val="75000"/>
                </a:schemeClr>
              </a:buClr>
            </a:pPr>
            <a:r>
              <a:rPr lang="en-US" sz="2200" dirty="0" smtClean="0"/>
              <a:t>Practical exercises</a:t>
            </a:r>
          </a:p>
          <a:p>
            <a:pPr marL="360000" indent="-360000">
              <a:spcBef>
                <a:spcPts val="600"/>
              </a:spcBef>
              <a:spcAft>
                <a:spcPts val="1200"/>
              </a:spcAft>
              <a:buClr>
                <a:schemeClr val="accent1">
                  <a:lumMod val="75000"/>
                </a:schemeClr>
              </a:buClr>
            </a:pPr>
            <a:r>
              <a:rPr lang="en-US" sz="2200" dirty="0" smtClean="0"/>
              <a:t>Formal report from employer/supervisor.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Slide </a:t>
            </a:r>
            <a:fld id="{90BDF71C-F485-43AE-8825-5070AF1EA8C9}" type="slidenum">
              <a:rPr lang="en-US" smtClean="0"/>
              <a:pPr/>
              <a:t>3</a:t>
            </a:fld>
            <a:endParaRPr lang="en-US" dirty="0"/>
          </a:p>
        </p:txBody>
      </p:sp>
      <p:pic>
        <p:nvPicPr>
          <p:cNvPr id="5" name="Picture 2" descr="C:\Documents and Settings\danielc\Local Settings\Temporary Internet Files\Content.IE5\7NII6ZZT\MP900439533[1].jpg"/>
          <p:cNvPicPr>
            <a:picLocks noChangeAspect="1" noChangeArrowheads="1"/>
          </p:cNvPicPr>
          <p:nvPr/>
        </p:nvPicPr>
        <p:blipFill>
          <a:blip r:embed="rId3" cstate="print"/>
          <a:srcRect/>
          <a:stretch>
            <a:fillRect/>
          </a:stretch>
        </p:blipFill>
        <p:spPr bwMode="auto">
          <a:xfrm>
            <a:off x="5624284" y="2001044"/>
            <a:ext cx="2560320" cy="170444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1 – Identify the context for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a:latin typeface="Helvetica" pitchFamily="34" charset="0"/>
              </a:rPr>
              <a:t>Performance Criteria for this Element are:</a:t>
            </a:r>
          </a:p>
          <a:p>
            <a:pPr marL="360000" indent="-360000">
              <a:spcBef>
                <a:spcPts val="600"/>
              </a:spcBef>
              <a:spcAft>
                <a:spcPts val="600"/>
              </a:spcAft>
            </a:pPr>
            <a:r>
              <a:rPr lang="en-US" dirty="0">
                <a:latin typeface="Helvetica" pitchFamily="34" charset="0"/>
              </a:rPr>
              <a:t>Determine the factors that apply to the production of brochures and marketing materials</a:t>
            </a:r>
          </a:p>
          <a:p>
            <a:pPr marL="360000" indent="-360000">
              <a:spcBef>
                <a:spcPts val="600"/>
              </a:spcBef>
              <a:spcAft>
                <a:spcPts val="600"/>
              </a:spcAft>
            </a:pPr>
            <a:r>
              <a:rPr lang="en-US" dirty="0">
                <a:latin typeface="Helvetica" pitchFamily="34" charset="0"/>
              </a:rPr>
              <a:t>Plan the production of items</a:t>
            </a:r>
          </a:p>
          <a:p>
            <a:pPr marL="360000" indent="-360000">
              <a:spcBef>
                <a:spcPts val="600"/>
              </a:spcBef>
              <a:spcAft>
                <a:spcPts val="600"/>
              </a:spcAft>
            </a:pPr>
            <a:r>
              <a:rPr lang="en-US" dirty="0">
                <a:latin typeface="Helvetica" pitchFamily="34" charset="0"/>
              </a:rPr>
              <a:t>Develop action plans for individual brochures and marketing materials.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436096" y="2276872"/>
            <a:ext cx="1360781" cy="32400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Determine factors that apply to production of brochures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a:t>
            </a:r>
            <a:r>
              <a:rPr lang="en-US" dirty="0">
                <a:latin typeface="Helvetica" pitchFamily="34" charset="0"/>
              </a:rPr>
              <a:t>Brochures</a:t>
            </a:r>
            <a:r>
              <a:rPr lang="en-US" dirty="0" smtClean="0">
                <a:latin typeface="Helvetica" pitchFamily="34" charset="0"/>
              </a:rPr>
              <a:t> and marketing materials’ is a generic term:</a:t>
            </a:r>
          </a:p>
          <a:p>
            <a:pPr marL="360000" indent="-360000">
              <a:spcBef>
                <a:spcPts val="600"/>
              </a:spcBef>
              <a:spcAft>
                <a:spcPts val="1200"/>
              </a:spcAft>
            </a:pPr>
            <a:r>
              <a:rPr lang="en-US" dirty="0">
                <a:latin typeface="Helvetica" pitchFamily="34" charset="0"/>
              </a:rPr>
              <a:t>Refers to paper-based and other items</a:t>
            </a:r>
          </a:p>
          <a:p>
            <a:pPr marL="360000" indent="-360000">
              <a:spcBef>
                <a:spcPts val="600"/>
              </a:spcBef>
              <a:spcAft>
                <a:spcPts val="1200"/>
              </a:spcAft>
            </a:pPr>
            <a:r>
              <a:rPr lang="en-US" dirty="0">
                <a:latin typeface="Helvetica" pitchFamily="34" charset="0"/>
              </a:rPr>
              <a:t>Can be produced by the individual business or in partnership with others</a:t>
            </a:r>
          </a:p>
          <a:p>
            <a:pPr marL="360000" indent="-360000">
              <a:spcBef>
                <a:spcPts val="600"/>
              </a:spcBef>
              <a:spcAft>
                <a:spcPts val="1200"/>
              </a:spcAft>
            </a:pPr>
            <a:r>
              <a:rPr lang="en-US" dirty="0">
                <a:latin typeface="Helvetica" pitchFamily="34" charset="0"/>
              </a:rPr>
              <a:t>May be directed at wholesale and/or retail users.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199160" y="2009056"/>
            <a:ext cx="288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Determine factors that apply to production of brochures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Items include:</a:t>
            </a:r>
          </a:p>
          <a:p>
            <a:pPr marL="360000" indent="-360000">
              <a:spcBef>
                <a:spcPts val="600"/>
              </a:spcBef>
              <a:spcAft>
                <a:spcPts val="1200"/>
              </a:spcAft>
            </a:pPr>
            <a:r>
              <a:rPr lang="en-US" dirty="0" smtClean="0">
                <a:latin typeface="Helvetica" pitchFamily="34" charset="0"/>
              </a:rPr>
              <a:t>Product and service brochures</a:t>
            </a:r>
          </a:p>
          <a:p>
            <a:pPr marL="360000" indent="-360000">
              <a:spcBef>
                <a:spcPts val="600"/>
              </a:spcBef>
              <a:spcAft>
                <a:spcPts val="1200"/>
              </a:spcAft>
            </a:pPr>
            <a:r>
              <a:rPr lang="en-US" dirty="0" smtClean="0">
                <a:latin typeface="Helvetica" pitchFamily="34" charset="0"/>
              </a:rPr>
              <a:t>Destination guides</a:t>
            </a:r>
          </a:p>
          <a:p>
            <a:pPr marL="360000" indent="-360000">
              <a:spcBef>
                <a:spcPts val="600"/>
              </a:spcBef>
              <a:spcAft>
                <a:spcPts val="1200"/>
              </a:spcAft>
            </a:pPr>
            <a:r>
              <a:rPr lang="en-US" dirty="0" smtClean="0">
                <a:latin typeface="Helvetica" pitchFamily="34" charset="0"/>
              </a:rPr>
              <a:t>Promotional flyers/leaflets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5004048" y="1988840"/>
            <a:ext cx="288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Determine factors that apply to production of brochures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Conference programs </a:t>
            </a:r>
          </a:p>
          <a:p>
            <a:pPr marL="360000" indent="-360000">
              <a:spcBef>
                <a:spcPts val="600"/>
              </a:spcBef>
              <a:spcAft>
                <a:spcPts val="1200"/>
              </a:spcAft>
            </a:pPr>
            <a:r>
              <a:rPr lang="en-US" dirty="0" smtClean="0">
                <a:latin typeface="Helvetica" pitchFamily="34" charset="0"/>
              </a:rPr>
              <a:t>Registration/advertorial forms </a:t>
            </a:r>
          </a:p>
          <a:p>
            <a:pPr marL="360000" indent="-360000">
              <a:spcBef>
                <a:spcPts val="600"/>
              </a:spcBef>
              <a:spcAft>
                <a:spcPts val="1200"/>
              </a:spcAft>
            </a:pPr>
            <a:r>
              <a:rPr lang="en-US" dirty="0" smtClean="0">
                <a:latin typeface="Helvetica" pitchFamily="34" charset="0"/>
              </a:rPr>
              <a:t>Event prospectus</a:t>
            </a:r>
          </a:p>
          <a:p>
            <a:pPr marL="360000" indent="-360000">
              <a:spcBef>
                <a:spcPts val="600"/>
              </a:spcBef>
              <a:spcAft>
                <a:spcPts val="1200"/>
              </a:spcAft>
            </a:pPr>
            <a:r>
              <a:rPr lang="en-US" dirty="0" smtClean="0">
                <a:latin typeface="Helvetica" pitchFamily="34" charset="0"/>
              </a:rPr>
              <a:t>Display material</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148064" y="2005856"/>
            <a:ext cx="2376264" cy="248427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Determine factors that apply to production of brochures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Information kits</a:t>
            </a:r>
          </a:p>
          <a:p>
            <a:pPr marL="360000" indent="-360000">
              <a:spcBef>
                <a:spcPts val="600"/>
              </a:spcBef>
              <a:spcAft>
                <a:spcPts val="1200"/>
              </a:spcAft>
            </a:pPr>
            <a:r>
              <a:rPr lang="en-US" dirty="0" smtClean="0">
                <a:latin typeface="Helvetica" pitchFamily="34" charset="0"/>
              </a:rPr>
              <a:t>Product support materials</a:t>
            </a:r>
          </a:p>
          <a:p>
            <a:pPr marL="360000" indent="-360000">
              <a:spcBef>
                <a:spcPts val="600"/>
              </a:spcBef>
              <a:spcAft>
                <a:spcPts val="1200"/>
              </a:spcAft>
            </a:pPr>
            <a:r>
              <a:rPr lang="en-US" dirty="0" smtClean="0">
                <a:latin typeface="Helvetica" pitchFamily="34" charset="0"/>
              </a:rPr>
              <a:t>Advertising materials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16016" y="1954560"/>
            <a:ext cx="270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Determine factors that apply to production of brochures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Direct mail items</a:t>
            </a:r>
          </a:p>
          <a:p>
            <a:pPr marL="360000" indent="-360000">
              <a:spcBef>
                <a:spcPts val="600"/>
              </a:spcBef>
              <a:spcAft>
                <a:spcPts val="1200"/>
              </a:spcAft>
            </a:pPr>
            <a:r>
              <a:rPr lang="en-US" dirty="0" smtClean="0">
                <a:latin typeface="Helvetica" pitchFamily="34" charset="0"/>
              </a:rPr>
              <a:t>Invitations</a:t>
            </a:r>
          </a:p>
          <a:p>
            <a:pPr marL="360000" indent="-360000">
              <a:spcBef>
                <a:spcPts val="600"/>
              </a:spcBef>
              <a:spcAft>
                <a:spcPts val="1200"/>
              </a:spcAft>
            </a:pPr>
            <a:r>
              <a:rPr lang="en-US" dirty="0" smtClean="0">
                <a:latin typeface="Helvetica" pitchFamily="34" charset="0"/>
              </a:rPr>
              <a:t>Merchandising goods.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004048" y="1984276"/>
            <a:ext cx="2356364"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Determine factors that apply to production of brochures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Factors to be considered when new marketing materials need to be produced:</a:t>
            </a:r>
          </a:p>
          <a:p>
            <a:pPr marL="360000" indent="-360000">
              <a:spcBef>
                <a:spcPts val="600"/>
              </a:spcBef>
              <a:spcAft>
                <a:spcPts val="1200"/>
              </a:spcAft>
            </a:pPr>
            <a:r>
              <a:rPr lang="en-US" dirty="0" smtClean="0">
                <a:latin typeface="Helvetica" pitchFamily="34" charset="0"/>
              </a:rPr>
              <a:t>Objectives</a:t>
            </a:r>
          </a:p>
          <a:p>
            <a:pPr marL="360000" indent="-360000">
              <a:spcBef>
                <a:spcPts val="600"/>
              </a:spcBef>
              <a:spcAft>
                <a:spcPts val="1200"/>
              </a:spcAft>
            </a:pPr>
            <a:r>
              <a:rPr lang="en-US" dirty="0" smtClean="0">
                <a:latin typeface="Helvetica" pitchFamily="34" charset="0"/>
              </a:rPr>
              <a:t>Target market/s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59321" y="2017440"/>
            <a:ext cx="3252135"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Determine factors that apply to production of brochures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Required type and style of materials</a:t>
            </a:r>
          </a:p>
          <a:p>
            <a:pPr marL="360000" indent="-360000">
              <a:spcBef>
                <a:spcPts val="600"/>
              </a:spcBef>
              <a:spcAft>
                <a:spcPts val="1200"/>
              </a:spcAft>
            </a:pPr>
            <a:r>
              <a:rPr lang="en-US" dirty="0" smtClean="0">
                <a:latin typeface="Helvetica" pitchFamily="34" charset="0"/>
              </a:rPr>
              <a:t>Time parameters</a:t>
            </a:r>
          </a:p>
          <a:p>
            <a:pPr marL="360000" indent="-360000">
              <a:spcBef>
                <a:spcPts val="600"/>
              </a:spcBef>
              <a:spcAft>
                <a:spcPts val="1200"/>
              </a:spcAft>
            </a:pPr>
            <a:r>
              <a:rPr lang="en-US" dirty="0" smtClean="0">
                <a:latin typeface="Helvetica" pitchFamily="34" charset="0"/>
              </a:rPr>
              <a:t>Budget</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06325" y="1988840"/>
            <a:ext cx="3252135"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Determine factors that apply to production of brochures and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In-house production capabilities of the organisation</a:t>
            </a:r>
          </a:p>
          <a:p>
            <a:pPr marL="360000" indent="-360000">
              <a:spcBef>
                <a:spcPts val="600"/>
              </a:spcBef>
              <a:spcAft>
                <a:spcPts val="1200"/>
              </a:spcAft>
            </a:pPr>
            <a:r>
              <a:rPr lang="en-US" dirty="0" smtClean="0">
                <a:latin typeface="Helvetica" pitchFamily="34" charset="0"/>
              </a:rPr>
              <a:t>Distribution of final materials/items.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01265" y="1983408"/>
            <a:ext cx="3252135"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production of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Planning/developing materials is important because:</a:t>
            </a:r>
          </a:p>
          <a:p>
            <a:pPr marL="360000" indent="-360000">
              <a:spcBef>
                <a:spcPts val="600"/>
              </a:spcBef>
              <a:spcAft>
                <a:spcPts val="1200"/>
              </a:spcAft>
            </a:pPr>
            <a:r>
              <a:rPr lang="en-US" sz="2200" dirty="0" smtClean="0">
                <a:latin typeface="Helvetica" pitchFamily="34" charset="0"/>
              </a:rPr>
              <a:t>It is a usually a complex and costly activity</a:t>
            </a:r>
          </a:p>
          <a:p>
            <a:pPr marL="360000" indent="-360000">
              <a:spcBef>
                <a:spcPts val="600"/>
              </a:spcBef>
              <a:spcAft>
                <a:spcPts val="1200"/>
              </a:spcAft>
            </a:pPr>
            <a:r>
              <a:rPr lang="en-US" sz="2200" dirty="0" smtClean="0">
                <a:latin typeface="Helvetica" pitchFamily="34" charset="0"/>
              </a:rPr>
              <a:t>There is often a need to liaise with many others</a:t>
            </a:r>
          </a:p>
          <a:p>
            <a:pPr marL="360000" indent="-360000">
              <a:spcBef>
                <a:spcPts val="600"/>
              </a:spcBef>
              <a:spcAft>
                <a:spcPts val="1200"/>
              </a:spcAft>
            </a:pPr>
            <a:r>
              <a:rPr lang="en-US" sz="2200" dirty="0" smtClean="0">
                <a:latin typeface="Helvetica" pitchFamily="34" charset="0"/>
              </a:rPr>
              <a:t>The final product is a sales tool for the business</a:t>
            </a:r>
          </a:p>
          <a:p>
            <a:pPr marL="360000" indent="-360000">
              <a:spcBef>
                <a:spcPts val="600"/>
              </a:spcBef>
              <a:spcAft>
                <a:spcPts val="1200"/>
              </a:spcAft>
            </a:pPr>
            <a:r>
              <a:rPr lang="en-US" sz="2200" dirty="0" smtClean="0">
                <a:latin typeface="Helvetica" pitchFamily="34" charset="0"/>
              </a:rPr>
              <a:t>Promises made must be correct</a:t>
            </a:r>
          </a:p>
          <a:p>
            <a:pPr marL="360000" indent="-360000">
              <a:spcBef>
                <a:spcPts val="600"/>
              </a:spcBef>
              <a:spcAft>
                <a:spcPts val="1200"/>
              </a:spcAft>
            </a:pPr>
            <a:r>
              <a:rPr lang="en-US" sz="2200" dirty="0" smtClean="0">
                <a:latin typeface="Helvetica" pitchFamily="34" charset="0"/>
              </a:rPr>
              <a:t>There is a need for items to reflect the organisation accurately.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1920000" cy="288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production of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2060848"/>
            <a:ext cx="4032448" cy="4021907"/>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Keys to planning:</a:t>
            </a:r>
          </a:p>
          <a:p>
            <a:pPr marL="360000" indent="-360000">
              <a:spcBef>
                <a:spcPts val="600"/>
              </a:spcBef>
              <a:spcAft>
                <a:spcPts val="1200"/>
              </a:spcAft>
            </a:pPr>
            <a:r>
              <a:rPr lang="en-US" sz="2200" dirty="0" smtClean="0">
                <a:latin typeface="Helvetica" pitchFamily="34" charset="0"/>
              </a:rPr>
              <a:t>Planned action stands a better chance of success</a:t>
            </a:r>
          </a:p>
          <a:p>
            <a:pPr marL="360000" indent="-360000">
              <a:spcBef>
                <a:spcPts val="600"/>
              </a:spcBef>
              <a:spcAft>
                <a:spcPts val="1200"/>
              </a:spcAft>
            </a:pPr>
            <a:r>
              <a:rPr lang="en-US" sz="2200" dirty="0" smtClean="0">
                <a:latin typeface="Helvetica" pitchFamily="34" charset="0"/>
              </a:rPr>
              <a:t>Planning underpins the coordination required</a:t>
            </a:r>
          </a:p>
          <a:p>
            <a:pPr marL="360000" indent="-360000">
              <a:spcBef>
                <a:spcPts val="600"/>
              </a:spcBef>
              <a:spcAft>
                <a:spcPts val="1200"/>
              </a:spcAft>
            </a:pPr>
            <a:r>
              <a:rPr lang="en-US" sz="2200" dirty="0" smtClean="0">
                <a:latin typeface="Helvetica" pitchFamily="34" charset="0"/>
              </a:rPr>
              <a:t>Plans must be in writing</a:t>
            </a:r>
          </a:p>
          <a:p>
            <a:pPr marL="360000" indent="-360000">
              <a:spcBef>
                <a:spcPts val="600"/>
              </a:spcBef>
              <a:spcAft>
                <a:spcPts val="1200"/>
              </a:spcAft>
            </a:pPr>
            <a:r>
              <a:rPr lang="en-US" sz="2200" dirty="0" smtClean="0">
                <a:latin typeface="Helvetica" pitchFamily="34" charset="0"/>
              </a:rPr>
              <a:t>“If you fail to plan, you plan to fail”</a:t>
            </a:r>
          </a:p>
          <a:p>
            <a:pPr marL="360000" indent="-360000">
              <a:spcBef>
                <a:spcPts val="600"/>
              </a:spcBef>
              <a:spcAft>
                <a:spcPts val="1200"/>
              </a:spcAft>
            </a:pPr>
            <a:r>
              <a:rPr lang="en-US" sz="2200" dirty="0" smtClean="0">
                <a:latin typeface="Helvetica" pitchFamily="34" charset="0"/>
              </a:rPr>
              <a:t>Plans must be flexible.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14</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2179151" cy="3268725"/>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production of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Planning activities:</a:t>
            </a:r>
          </a:p>
          <a:p>
            <a:pPr marL="360000" indent="-360000">
              <a:spcBef>
                <a:spcPts val="600"/>
              </a:spcBef>
              <a:spcAft>
                <a:spcPts val="1200"/>
              </a:spcAft>
            </a:pPr>
            <a:r>
              <a:rPr lang="en-US" dirty="0" smtClean="0">
                <a:latin typeface="Helvetica" pitchFamily="34" charset="0"/>
              </a:rPr>
              <a:t>Identifying what needs to be produced</a:t>
            </a:r>
          </a:p>
          <a:p>
            <a:pPr marL="360000" indent="-360000">
              <a:spcBef>
                <a:spcPts val="600"/>
              </a:spcBef>
              <a:spcAft>
                <a:spcPts val="1200"/>
              </a:spcAft>
            </a:pPr>
            <a:r>
              <a:rPr lang="en-US" dirty="0" smtClean="0">
                <a:latin typeface="Helvetica" pitchFamily="34" charset="0"/>
              </a:rPr>
              <a:t>Integrating materials produced</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2160000" cy="3240000"/>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production of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Developing expected outcomes</a:t>
            </a:r>
          </a:p>
          <a:p>
            <a:pPr marL="360000" indent="-360000">
              <a:spcBef>
                <a:spcPts val="600"/>
              </a:spcBef>
              <a:spcAft>
                <a:spcPts val="1200"/>
              </a:spcAft>
            </a:pPr>
            <a:r>
              <a:rPr lang="en-US" dirty="0" smtClean="0">
                <a:latin typeface="Helvetica" pitchFamily="34" charset="0"/>
              </a:rPr>
              <a:t>Identifying evaluation methods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16</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Plan the production of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Identifying relevant others</a:t>
            </a:r>
          </a:p>
          <a:p>
            <a:pPr marL="360000" indent="-360000">
              <a:spcBef>
                <a:spcPts val="600"/>
              </a:spcBef>
              <a:spcAft>
                <a:spcPts val="1200"/>
              </a:spcAft>
            </a:pPr>
            <a:r>
              <a:rPr lang="en-US" dirty="0" smtClean="0">
                <a:latin typeface="Helvetica" pitchFamily="34" charset="0"/>
              </a:rPr>
              <a:t>Clarifying resources available</a:t>
            </a:r>
          </a:p>
          <a:p>
            <a:pPr marL="360000" indent="-360000">
              <a:spcBef>
                <a:spcPts val="600"/>
              </a:spcBef>
              <a:spcAft>
                <a:spcPts val="1200"/>
              </a:spcAft>
            </a:pPr>
            <a:r>
              <a:rPr lang="en-US" dirty="0" smtClean="0">
                <a:latin typeface="Helvetica" pitchFamily="34" charset="0"/>
              </a:rPr>
              <a:t>Identifying potential problems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92412"/>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action plans for individual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5800" cy="468052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Actions plans needed for individual items because:</a:t>
            </a:r>
          </a:p>
          <a:p>
            <a:pPr marL="360000" indent="-360000">
              <a:spcBef>
                <a:spcPts val="600"/>
              </a:spcBef>
              <a:spcAft>
                <a:spcPts val="1200"/>
              </a:spcAft>
            </a:pPr>
            <a:r>
              <a:rPr lang="en-US" sz="2200" dirty="0" smtClean="0">
                <a:latin typeface="Helvetica" pitchFamily="34" charset="0"/>
              </a:rPr>
              <a:t>Needs for every item are different</a:t>
            </a:r>
          </a:p>
          <a:p>
            <a:pPr marL="360000" indent="-360000">
              <a:spcBef>
                <a:spcPts val="600"/>
              </a:spcBef>
              <a:spcAft>
                <a:spcPts val="1200"/>
              </a:spcAft>
            </a:pPr>
            <a:r>
              <a:rPr lang="en-US" sz="2200" dirty="0" smtClean="0">
                <a:latin typeface="Helvetica" pitchFamily="34" charset="0"/>
              </a:rPr>
              <a:t>Factors impacting items are different</a:t>
            </a:r>
          </a:p>
          <a:p>
            <a:pPr marL="360000" indent="-360000">
              <a:spcBef>
                <a:spcPts val="600"/>
              </a:spcBef>
              <a:spcAft>
                <a:spcPts val="1200"/>
              </a:spcAft>
            </a:pPr>
            <a:r>
              <a:rPr lang="en-US" sz="2200" dirty="0" smtClean="0">
                <a:latin typeface="Helvetica" pitchFamily="34" charset="0"/>
              </a:rPr>
              <a:t>Individual plans enable better control</a:t>
            </a:r>
          </a:p>
          <a:p>
            <a:pPr marL="360000" indent="-360000">
              <a:spcBef>
                <a:spcPts val="600"/>
              </a:spcBef>
              <a:spcAft>
                <a:spcPts val="1200"/>
              </a:spcAft>
            </a:pPr>
            <a:r>
              <a:rPr lang="en-US" sz="2200" dirty="0" smtClean="0">
                <a:latin typeface="Helvetica" pitchFamily="34" charset="0"/>
              </a:rPr>
              <a:t>Different items are often produced by different providers</a:t>
            </a:r>
          </a:p>
          <a:p>
            <a:pPr marL="360000" indent="-360000">
              <a:spcBef>
                <a:spcPts val="600"/>
              </a:spcBef>
              <a:spcAft>
                <a:spcPts val="1200"/>
              </a:spcAft>
            </a:pPr>
            <a:r>
              <a:rPr lang="en-US" sz="2200" dirty="0" smtClean="0">
                <a:latin typeface="Helvetica" pitchFamily="34" charset="0"/>
              </a:rPr>
              <a:t>This approach enables more efficient management of resources and supports better evaluation of results.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37360" y="1988840"/>
            <a:ext cx="3240324"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action plans for individual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39"/>
            <a:ext cx="4032448" cy="4798349"/>
          </a:xfrm>
        </p:spPr>
        <p:txBody>
          <a:bodyPr>
            <a:normAutofit/>
          </a:bodyPr>
          <a:lstStyle/>
          <a:p>
            <a:pPr marL="0" indent="0">
              <a:spcBef>
                <a:spcPts val="600"/>
              </a:spcBef>
              <a:spcAft>
                <a:spcPts val="1200"/>
              </a:spcAft>
              <a:buNone/>
            </a:pPr>
            <a:r>
              <a:rPr lang="en-US" dirty="0" smtClean="0">
                <a:latin typeface="Helvetica" pitchFamily="34" charset="0"/>
              </a:rPr>
              <a:t>Considerations </a:t>
            </a:r>
            <a:r>
              <a:rPr lang="en-AU" dirty="0" smtClean="0">
                <a:latin typeface="Helvetica" pitchFamily="34" charset="0"/>
              </a:rPr>
              <a:t>relevant to development of action plans for developing/producing marketing items include</a:t>
            </a:r>
            <a:r>
              <a:rPr lang="en-US" dirty="0" smtClean="0">
                <a:latin typeface="Helvetica" pitchFamily="34" charset="0"/>
              </a:rPr>
              <a:t>:</a:t>
            </a:r>
          </a:p>
          <a:p>
            <a:pPr marL="360000" indent="-360000">
              <a:spcBef>
                <a:spcPts val="600"/>
              </a:spcBef>
              <a:spcAft>
                <a:spcPts val="1200"/>
              </a:spcAft>
            </a:pPr>
            <a:r>
              <a:rPr lang="en-AU" dirty="0" smtClean="0">
                <a:latin typeface="Helvetica" pitchFamily="34" charset="0"/>
              </a:rPr>
              <a:t>Identifying, detailing and clarifying individual steps to be undertaken in each phase</a:t>
            </a:r>
          </a:p>
          <a:p>
            <a:pPr marL="360000" indent="-360000">
              <a:spcBef>
                <a:spcPts val="600"/>
              </a:spcBef>
              <a:spcAft>
                <a:spcPts val="1200"/>
              </a:spcAft>
            </a:pPr>
            <a:r>
              <a:rPr lang="en-AU" dirty="0" smtClean="0">
                <a:latin typeface="Helvetica" pitchFamily="34" charset="0"/>
              </a:rPr>
              <a:t>Allocating resources to phases</a:t>
            </a:r>
          </a:p>
          <a:p>
            <a:pPr marL="360000" indent="-360000">
              <a:spcBef>
                <a:spcPts val="600"/>
              </a:spcBef>
              <a:spcAft>
                <a:spcPts val="1200"/>
              </a:spcAft>
            </a:pPr>
            <a:r>
              <a:rPr lang="en-AU" dirty="0" smtClean="0"/>
              <a:t>Identifying individual responsibilities</a:t>
            </a:r>
            <a:endParaRPr lang="en-US"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action plans for individual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AU" dirty="0" smtClean="0">
                <a:latin typeface="Helvetica" pitchFamily="34" charset="0"/>
              </a:rPr>
              <a:t>Specifying parameters for the plans</a:t>
            </a:r>
          </a:p>
          <a:p>
            <a:pPr marL="360000" indent="-360000">
              <a:spcBef>
                <a:spcPts val="600"/>
              </a:spcBef>
              <a:spcAft>
                <a:spcPts val="1200"/>
              </a:spcAft>
            </a:pPr>
            <a:r>
              <a:rPr lang="en-AU" dirty="0" smtClean="0">
                <a:latin typeface="Helvetica" pitchFamily="34" charset="0"/>
              </a:rPr>
              <a:t>Incorporating relevant data</a:t>
            </a:r>
          </a:p>
          <a:p>
            <a:pPr marL="360000" indent="-360000">
              <a:spcBef>
                <a:spcPts val="600"/>
              </a:spcBef>
              <a:spcAft>
                <a:spcPts val="1200"/>
              </a:spcAft>
            </a:pPr>
            <a:r>
              <a:rPr lang="en-AU" dirty="0" smtClean="0">
                <a:latin typeface="Helvetica" pitchFamily="34" charset="0"/>
              </a:rPr>
              <a:t>Communicating contents of action plans.</a:t>
            </a:r>
            <a:endParaRPr lang="en-US"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Develop action plans for individual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320480"/>
          </a:xfrm>
        </p:spPr>
        <p:txBody>
          <a:bodyPr>
            <a:normAutofit fontScale="92500"/>
          </a:bodyPr>
          <a:lstStyle/>
          <a:p>
            <a:pPr marL="0" indent="0">
              <a:spcBef>
                <a:spcPts val="600"/>
              </a:spcBef>
              <a:spcAft>
                <a:spcPts val="1200"/>
              </a:spcAft>
              <a:buNone/>
            </a:pPr>
            <a:r>
              <a:rPr lang="en-US" sz="2200" dirty="0" smtClean="0">
                <a:latin typeface="Helvetica" pitchFamily="34" charset="0"/>
              </a:rPr>
              <a:t>The extent to which each consideration will impact the planning process will vary based on:</a:t>
            </a:r>
          </a:p>
          <a:p>
            <a:pPr marL="360000" indent="-360000">
              <a:spcBef>
                <a:spcPts val="600"/>
              </a:spcBef>
              <a:spcAft>
                <a:spcPts val="1200"/>
              </a:spcAft>
            </a:pPr>
            <a:r>
              <a:rPr lang="en-AU" sz="2200" dirty="0" smtClean="0">
                <a:latin typeface="Helvetica" pitchFamily="34" charset="0"/>
              </a:rPr>
              <a:t>The urgency associated with producing each item</a:t>
            </a:r>
          </a:p>
          <a:p>
            <a:pPr marL="360000" indent="-360000">
              <a:spcBef>
                <a:spcPts val="600"/>
              </a:spcBef>
              <a:spcAft>
                <a:spcPts val="1200"/>
              </a:spcAft>
            </a:pPr>
            <a:r>
              <a:rPr lang="en-AU" sz="2200" dirty="0" smtClean="0">
                <a:latin typeface="Helvetica" pitchFamily="34" charset="0"/>
              </a:rPr>
              <a:t>The focus of the item</a:t>
            </a:r>
          </a:p>
          <a:p>
            <a:pPr marL="360000" indent="-360000">
              <a:spcBef>
                <a:spcPts val="600"/>
              </a:spcBef>
              <a:spcAft>
                <a:spcPts val="1200"/>
              </a:spcAft>
            </a:pPr>
            <a:r>
              <a:rPr lang="en-AU" sz="2200" dirty="0" smtClean="0">
                <a:latin typeface="Helvetica" pitchFamily="34" charset="0"/>
              </a:rPr>
              <a:t>The amount of money involved</a:t>
            </a:r>
          </a:p>
          <a:p>
            <a:pPr marL="360000" indent="-360000">
              <a:spcBef>
                <a:spcPts val="600"/>
              </a:spcBef>
              <a:spcAft>
                <a:spcPts val="1200"/>
              </a:spcAft>
            </a:pPr>
            <a:r>
              <a:rPr lang="en-AU" sz="2200" dirty="0" smtClean="0">
                <a:latin typeface="Helvetica" pitchFamily="34" charset="0"/>
              </a:rPr>
              <a:t>Previous experience with the same thing/similar items</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908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39"/>
            <a:ext cx="4032448" cy="4798349"/>
          </a:xfrm>
        </p:spPr>
        <p:txBody>
          <a:bodyPr>
            <a:normAutofit lnSpcReduction="10000"/>
          </a:bodyPr>
          <a:lstStyle/>
          <a:p>
            <a:pPr marL="0" indent="0">
              <a:lnSpc>
                <a:spcPct val="110000"/>
              </a:lnSpc>
              <a:spcBef>
                <a:spcPts val="400"/>
              </a:spcBef>
              <a:spcAft>
                <a:spcPts val="400"/>
              </a:spcAft>
              <a:buNone/>
            </a:pPr>
            <a:r>
              <a:rPr lang="en-US" dirty="0" smtClean="0">
                <a:latin typeface="Helvetica" pitchFamily="34" charset="0"/>
              </a:rPr>
              <a:t>When </a:t>
            </a:r>
            <a:r>
              <a:rPr lang="en-AU" dirty="0" smtClean="0">
                <a:latin typeface="Helvetica" pitchFamily="34" charset="0"/>
              </a:rPr>
              <a:t>identifying the context for brochures and marketing materials</a:t>
            </a:r>
            <a:r>
              <a:rPr lang="en-US" dirty="0" smtClean="0">
                <a:latin typeface="Helvetica" pitchFamily="34" charset="0"/>
              </a:rPr>
              <a:t>:</a:t>
            </a:r>
          </a:p>
          <a:p>
            <a:pPr lvl="0">
              <a:lnSpc>
                <a:spcPct val="110000"/>
              </a:lnSpc>
              <a:spcBef>
                <a:spcPts val="400"/>
              </a:spcBef>
              <a:spcAft>
                <a:spcPts val="400"/>
              </a:spcAft>
            </a:pPr>
            <a:r>
              <a:rPr lang="en-AU" dirty="0" smtClean="0">
                <a:latin typeface="Helvetica" pitchFamily="34" charset="0"/>
              </a:rPr>
              <a:t>Identify the options available for marketing purposes</a:t>
            </a:r>
          </a:p>
          <a:p>
            <a:pPr lvl="0">
              <a:lnSpc>
                <a:spcPct val="110000"/>
              </a:lnSpc>
              <a:spcBef>
                <a:spcPts val="400"/>
              </a:spcBef>
              <a:spcAft>
                <a:spcPts val="400"/>
              </a:spcAft>
            </a:pPr>
            <a:r>
              <a:rPr lang="en-AU" dirty="0" smtClean="0">
                <a:latin typeface="Helvetica" pitchFamily="34" charset="0"/>
              </a:rPr>
              <a:t>View materials produced/used by other organisations</a:t>
            </a:r>
          </a:p>
          <a:p>
            <a:pPr lvl="0">
              <a:lnSpc>
                <a:spcPct val="110000"/>
              </a:lnSpc>
              <a:spcBef>
                <a:spcPts val="400"/>
              </a:spcBef>
              <a:spcAft>
                <a:spcPts val="400"/>
              </a:spcAft>
            </a:pPr>
            <a:r>
              <a:rPr lang="en-AU" dirty="0" smtClean="0">
                <a:latin typeface="Helvetica" pitchFamily="34" charset="0"/>
              </a:rPr>
              <a:t>Be sure to understand what the materials are being expected to achieve</a:t>
            </a:r>
          </a:p>
          <a:p>
            <a:pPr lvl="0">
              <a:lnSpc>
                <a:spcPct val="110000"/>
              </a:lnSpc>
              <a:spcBef>
                <a:spcPts val="400"/>
              </a:spcBef>
              <a:spcAft>
                <a:spcPts val="400"/>
              </a:spcAft>
            </a:pPr>
            <a:r>
              <a:rPr lang="en-AU" dirty="0" smtClean="0">
                <a:latin typeface="Helvetica" pitchFamily="34" charset="0"/>
              </a:rPr>
              <a:t>Take into account the target market/s at which materials will be aimed</a:t>
            </a:r>
          </a:p>
          <a:p>
            <a:pPr>
              <a:buNone/>
            </a:pPr>
            <a:r>
              <a:rPr lang="en-US" sz="15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988840"/>
            <a:ext cx="4071966" cy="4093915"/>
          </a:xfrm>
        </p:spPr>
        <p:txBody>
          <a:bodyPr>
            <a:normAutofit/>
          </a:bodyPr>
          <a:lstStyle/>
          <a:p>
            <a:pPr lvl="0"/>
            <a:r>
              <a:rPr lang="en-AU" dirty="0" smtClean="0">
                <a:latin typeface="Helvetica" pitchFamily="34" charset="0"/>
              </a:rPr>
              <a:t>Always be aware of limitations and resource constraints</a:t>
            </a:r>
          </a:p>
          <a:p>
            <a:pPr lvl="0"/>
            <a:r>
              <a:rPr lang="en-AU" dirty="0" smtClean="0">
                <a:latin typeface="Helvetica" pitchFamily="34" charset="0"/>
              </a:rPr>
              <a:t>Factor in the need to distribute the materials</a:t>
            </a:r>
          </a:p>
          <a:p>
            <a:pPr lvl="0"/>
            <a:r>
              <a:rPr lang="en-AU" dirty="0" smtClean="0">
                <a:latin typeface="Helvetica" pitchFamily="34" charset="0"/>
              </a:rPr>
              <a:t>Take time to research and develop what will work</a:t>
            </a:r>
          </a:p>
          <a:p>
            <a:pPr lvl="0"/>
            <a:r>
              <a:rPr lang="en-AU" dirty="0" smtClean="0">
                <a:latin typeface="Helvetica" pitchFamily="34" charset="0"/>
              </a:rPr>
              <a:t>Check to see if the materials can be integrated with other initiatives </a:t>
            </a:r>
          </a:p>
          <a:p>
            <a:pPr lvl="0">
              <a:buNone/>
            </a:pPr>
            <a:r>
              <a:rPr lang="en-US" sz="1400" dirty="0" smtClean="0">
                <a:latin typeface="Helvetica" pitchFamily="34" charset="0"/>
              </a:rPr>
              <a:t>(Continued)</a:t>
            </a:r>
            <a:endParaRPr lang="en-AU" sz="14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23</a:t>
            </a:fld>
            <a:endParaRPr lang="en-US" dirty="0">
              <a:latin typeface="Helvetica" pitchFamily="34" charset="0"/>
            </a:endParaRPr>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99992" y="2023083"/>
            <a:ext cx="3996680" cy="3119313"/>
          </a:xfrm>
          <a:prstGeom prst="rect">
            <a:avLst/>
          </a:prstGeo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1</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r>
              <a:rPr lang="en-AU" dirty="0" smtClean="0">
                <a:latin typeface="Helvetica" pitchFamily="34" charset="0"/>
              </a:rPr>
              <a:t>Determine how to evaluate the effectiveness of materials produced</a:t>
            </a:r>
          </a:p>
          <a:p>
            <a:r>
              <a:rPr lang="en-AU" dirty="0" smtClean="0">
                <a:latin typeface="Helvetica" pitchFamily="34" charset="0"/>
              </a:rPr>
              <a:t>Involve others and seek their input and opinion</a:t>
            </a:r>
          </a:p>
          <a:p>
            <a:r>
              <a:rPr lang="en-AU" dirty="0" smtClean="0">
                <a:latin typeface="Helvetica" pitchFamily="34" charset="0"/>
              </a:rPr>
              <a:t>Plan the production – this does not just ‘happen’</a:t>
            </a:r>
          </a:p>
          <a:p>
            <a:r>
              <a:rPr lang="en-AU" dirty="0" smtClean="0">
                <a:latin typeface="Helvetica" pitchFamily="34" charset="0"/>
              </a:rPr>
              <a:t>Develop action plans for each item.</a:t>
            </a:r>
            <a:endParaRPr lang="en-US"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784206" y="1988840"/>
            <a:ext cx="4369194" cy="3240000"/>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Element 2 – Manage inclusions for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39"/>
            <a:ext cx="4536504" cy="4798350"/>
          </a:xfrm>
        </p:spPr>
        <p:txBody>
          <a:bodyPr>
            <a:normAutofit fontScale="70000" lnSpcReduction="20000"/>
          </a:bodyPr>
          <a:lstStyle/>
          <a:p>
            <a:pPr marL="0" indent="0">
              <a:lnSpc>
                <a:spcPct val="120000"/>
              </a:lnSpc>
              <a:spcBef>
                <a:spcPts val="600"/>
              </a:spcBef>
              <a:spcAft>
                <a:spcPts val="600"/>
              </a:spcAft>
              <a:buNone/>
            </a:pPr>
            <a:r>
              <a:rPr lang="en-US" sz="2900" dirty="0" smtClean="0">
                <a:latin typeface="Helvetica" pitchFamily="34" charset="0"/>
              </a:rPr>
              <a:t>Performance Criteria for this Element are:</a:t>
            </a:r>
          </a:p>
          <a:p>
            <a:pPr marL="360000" indent="-360000">
              <a:lnSpc>
                <a:spcPct val="120000"/>
              </a:lnSpc>
              <a:spcBef>
                <a:spcPts val="600"/>
              </a:spcBef>
              <a:spcAft>
                <a:spcPts val="600"/>
              </a:spcAft>
            </a:pPr>
            <a:r>
              <a:rPr lang="en-US" sz="2900" dirty="0" smtClean="0">
                <a:latin typeface="Helvetica" pitchFamily="34" charset="0"/>
              </a:rPr>
              <a:t>Determine the target(s) for the items</a:t>
            </a:r>
          </a:p>
          <a:p>
            <a:pPr marL="360000" indent="-360000">
              <a:lnSpc>
                <a:spcPct val="120000"/>
              </a:lnSpc>
              <a:spcBef>
                <a:spcPts val="600"/>
              </a:spcBef>
              <a:spcAft>
                <a:spcPts val="600"/>
              </a:spcAft>
            </a:pPr>
            <a:r>
              <a:rPr lang="en-US" sz="2900" dirty="0" smtClean="0">
                <a:latin typeface="Helvetica" pitchFamily="34" charset="0"/>
              </a:rPr>
              <a:t>Determine the content for the items</a:t>
            </a:r>
          </a:p>
          <a:p>
            <a:pPr marL="360000" indent="-360000">
              <a:lnSpc>
                <a:spcPct val="120000"/>
              </a:lnSpc>
              <a:spcBef>
                <a:spcPts val="600"/>
              </a:spcBef>
              <a:spcAft>
                <a:spcPts val="600"/>
              </a:spcAft>
            </a:pPr>
            <a:r>
              <a:rPr lang="en-US" sz="2900" dirty="0" smtClean="0">
                <a:latin typeface="Helvetica" pitchFamily="34" charset="0"/>
              </a:rPr>
              <a:t>Determine format and layout for the items</a:t>
            </a:r>
          </a:p>
          <a:p>
            <a:pPr marL="360000" indent="-360000">
              <a:lnSpc>
                <a:spcPct val="120000"/>
              </a:lnSpc>
              <a:spcBef>
                <a:spcPts val="600"/>
              </a:spcBef>
              <a:spcAft>
                <a:spcPts val="600"/>
              </a:spcAft>
            </a:pPr>
            <a:r>
              <a:rPr lang="en-US" sz="2900" dirty="0" smtClean="0">
                <a:latin typeface="Helvetica" pitchFamily="34" charset="0"/>
              </a:rPr>
              <a:t>Determine language for the items</a:t>
            </a:r>
          </a:p>
          <a:p>
            <a:pPr marL="360000" indent="-360000">
              <a:lnSpc>
                <a:spcPct val="120000"/>
              </a:lnSpc>
              <a:spcBef>
                <a:spcPts val="600"/>
              </a:spcBef>
              <a:spcAft>
                <a:spcPts val="600"/>
              </a:spcAft>
            </a:pPr>
            <a:r>
              <a:rPr lang="en-US" sz="2900" dirty="0" smtClean="0">
                <a:latin typeface="Helvetica" pitchFamily="34" charset="0"/>
              </a:rPr>
              <a:t>Determine the prices to be stated in the items</a:t>
            </a:r>
          </a:p>
          <a:p>
            <a:pPr marL="360000" indent="-360000">
              <a:lnSpc>
                <a:spcPct val="120000"/>
              </a:lnSpc>
              <a:spcBef>
                <a:spcPts val="600"/>
              </a:spcBef>
              <a:spcAft>
                <a:spcPts val="600"/>
              </a:spcAft>
            </a:pPr>
            <a:r>
              <a:rPr lang="en-US" sz="2900" dirty="0" smtClean="0">
                <a:latin typeface="Helvetica" pitchFamily="34" charset="0"/>
              </a:rPr>
              <a:t>Determine the copy for the items.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25</a:t>
            </a:fld>
            <a:endParaRPr lang="en-US" dirty="0">
              <a:latin typeface="Helvetica" pitchFamily="34" charset="0"/>
            </a:endParaRP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148064" y="2219134"/>
            <a:ext cx="3360000" cy="2160000"/>
          </a:xfrm>
          <a:prstGeom prst="rect">
            <a:avLst/>
          </a:prstGeom>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target(s)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104456" cy="4798349"/>
          </a:xfrm>
        </p:spPr>
        <p:txBody>
          <a:bodyPr>
            <a:normAutofit fontScale="92500" lnSpcReduction="10000"/>
          </a:bodyPr>
          <a:lstStyle/>
          <a:p>
            <a:pPr marL="0" indent="0">
              <a:lnSpc>
                <a:spcPct val="110000"/>
              </a:lnSpc>
              <a:spcBef>
                <a:spcPts val="600"/>
              </a:spcBef>
              <a:spcAft>
                <a:spcPts val="600"/>
              </a:spcAft>
              <a:buNone/>
            </a:pPr>
            <a:r>
              <a:rPr lang="en-US" sz="2200" dirty="0" smtClean="0">
                <a:latin typeface="Helvetica" pitchFamily="34" charset="0"/>
              </a:rPr>
              <a:t>‘Targets’ = ‘Target markets:</a:t>
            </a:r>
          </a:p>
          <a:p>
            <a:pPr marL="360000" indent="-360000">
              <a:lnSpc>
                <a:spcPct val="110000"/>
              </a:lnSpc>
              <a:spcBef>
                <a:spcPts val="600"/>
              </a:spcBef>
              <a:spcAft>
                <a:spcPts val="600"/>
              </a:spcAft>
            </a:pPr>
            <a:r>
              <a:rPr lang="en-US" sz="2200" dirty="0" smtClean="0">
                <a:latin typeface="Helvetica" pitchFamily="34" charset="0"/>
              </a:rPr>
              <a:t>Businesses can have more than one</a:t>
            </a:r>
          </a:p>
          <a:p>
            <a:pPr marL="360000" indent="-360000">
              <a:lnSpc>
                <a:spcPct val="110000"/>
              </a:lnSpc>
              <a:spcBef>
                <a:spcPts val="600"/>
              </a:spcBef>
              <a:spcAft>
                <a:spcPts val="600"/>
              </a:spcAft>
            </a:pPr>
            <a:r>
              <a:rPr lang="en-US" sz="2200" dirty="0" smtClean="0">
                <a:latin typeface="Helvetica" pitchFamily="34" charset="0"/>
              </a:rPr>
              <a:t>Items can be targetted at ‘one’ or </a:t>
            </a:r>
            <a:r>
              <a:rPr lang="en-US" sz="2200" i="1" dirty="0" smtClean="0">
                <a:latin typeface="Helvetica" pitchFamily="34" charset="0"/>
              </a:rPr>
              <a:t>more </a:t>
            </a:r>
            <a:r>
              <a:rPr lang="en-US" sz="2200" dirty="0" smtClean="0">
                <a:latin typeface="Helvetica" pitchFamily="34" charset="0"/>
              </a:rPr>
              <a:t>than one</a:t>
            </a:r>
          </a:p>
          <a:p>
            <a:pPr marL="360000" indent="-360000">
              <a:lnSpc>
                <a:spcPct val="110000"/>
              </a:lnSpc>
              <a:spcBef>
                <a:spcPts val="600"/>
              </a:spcBef>
              <a:spcAft>
                <a:spcPts val="600"/>
              </a:spcAft>
            </a:pPr>
            <a:r>
              <a:rPr lang="en-US" sz="2200" dirty="0" smtClean="0">
                <a:latin typeface="Helvetica" pitchFamily="34" charset="0"/>
              </a:rPr>
              <a:t>Expected outcomes for items need to align with target market needs, wants and preferences</a:t>
            </a:r>
          </a:p>
          <a:p>
            <a:pPr marL="360000" indent="-360000">
              <a:lnSpc>
                <a:spcPct val="110000"/>
              </a:lnSpc>
              <a:spcBef>
                <a:spcPts val="600"/>
              </a:spcBef>
              <a:spcAft>
                <a:spcPts val="600"/>
              </a:spcAft>
            </a:pPr>
            <a:r>
              <a:rPr lang="en-US" sz="2200" dirty="0" smtClean="0">
                <a:latin typeface="Helvetica" pitchFamily="34" charset="0"/>
              </a:rPr>
              <a:t>Market research should be influential</a:t>
            </a:r>
          </a:p>
          <a:p>
            <a:pPr marL="360000" indent="-360000">
              <a:lnSpc>
                <a:spcPct val="110000"/>
              </a:lnSpc>
              <a:spcBef>
                <a:spcPts val="600"/>
              </a:spcBef>
              <a:spcAft>
                <a:spcPts val="600"/>
              </a:spcAft>
            </a:pPr>
            <a:r>
              <a:rPr lang="en-US" sz="2200" dirty="0" smtClean="0">
                <a:latin typeface="Helvetica" pitchFamily="34" charset="0"/>
              </a:rPr>
              <a:t>Target markets for a business change over time.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29052" y="2009056"/>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target(s)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Examples of target markets (there are many more):</a:t>
            </a:r>
          </a:p>
          <a:p>
            <a:pPr marL="360000" indent="-360000">
              <a:spcBef>
                <a:spcPts val="600"/>
              </a:spcBef>
              <a:spcAft>
                <a:spcPts val="1200"/>
              </a:spcAft>
            </a:pPr>
            <a:r>
              <a:rPr lang="en-US" dirty="0" smtClean="0">
                <a:latin typeface="Helvetica" pitchFamily="34" charset="0"/>
              </a:rPr>
              <a:t>Internal users</a:t>
            </a:r>
          </a:p>
          <a:p>
            <a:pPr marL="360000" indent="-360000">
              <a:spcBef>
                <a:spcPts val="600"/>
              </a:spcBef>
              <a:spcAft>
                <a:spcPts val="1200"/>
              </a:spcAft>
            </a:pPr>
            <a:r>
              <a:rPr lang="en-US" dirty="0" smtClean="0">
                <a:latin typeface="Helvetica" pitchFamily="34" charset="0"/>
              </a:rPr>
              <a:t>Media</a:t>
            </a:r>
          </a:p>
          <a:p>
            <a:pPr marL="360000" indent="-360000">
              <a:spcBef>
                <a:spcPts val="600"/>
              </a:spcBef>
              <a:spcAft>
                <a:spcPts val="1200"/>
              </a:spcAft>
            </a:pPr>
            <a:r>
              <a:rPr lang="en-US" dirty="0" smtClean="0">
                <a:latin typeface="Helvetica" pitchFamily="34" charset="0"/>
              </a:rPr>
              <a:t>Local people</a:t>
            </a:r>
          </a:p>
          <a:p>
            <a:pPr marL="360000" indent="-360000">
              <a:spcBef>
                <a:spcPts val="600"/>
              </a:spcBef>
              <a:spcAft>
                <a:spcPts val="1200"/>
              </a:spcAft>
            </a:pPr>
            <a:r>
              <a:rPr lang="en-US" dirty="0" smtClean="0">
                <a:latin typeface="Helvetica" pitchFamily="34" charset="0"/>
              </a:rPr>
              <a:t>International customers</a:t>
            </a:r>
          </a:p>
          <a:p>
            <a:pPr marL="360000" indent="-360000">
              <a:spcBef>
                <a:spcPts val="600"/>
              </a:spcBef>
              <a:spcAft>
                <a:spcPts val="1200"/>
              </a:spcAft>
            </a:pPr>
            <a:r>
              <a:rPr lang="en-US" dirty="0" smtClean="0">
                <a:latin typeface="Helvetica" pitchFamily="34" charset="0"/>
              </a:rPr>
              <a:t>Personal interests</a:t>
            </a:r>
          </a:p>
          <a:p>
            <a:pPr marL="360000" indent="-360000">
              <a:spcBef>
                <a:spcPts val="600"/>
              </a:spcBef>
              <a:spcAft>
                <a:spcPts val="1200"/>
              </a:spcAft>
            </a:pPr>
            <a:r>
              <a:rPr lang="en-US" dirty="0" smtClean="0">
                <a:latin typeface="Helvetica" pitchFamily="34" charset="0"/>
              </a:rPr>
              <a:t>Previous users.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target(s)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AU" dirty="0" smtClean="0">
                <a:latin typeface="Helvetica" pitchFamily="34" charset="0"/>
              </a:rPr>
              <a:t>Ways to identify the target/s for items include</a:t>
            </a:r>
            <a:r>
              <a:rPr lang="en-US" dirty="0" smtClean="0">
                <a:latin typeface="Helvetica" pitchFamily="34" charset="0"/>
              </a:rPr>
              <a:t>:</a:t>
            </a:r>
          </a:p>
          <a:p>
            <a:pPr marL="360000" indent="-360000">
              <a:spcBef>
                <a:spcPts val="600"/>
              </a:spcBef>
              <a:spcAft>
                <a:spcPts val="1200"/>
              </a:spcAft>
            </a:pPr>
            <a:r>
              <a:rPr lang="en-US" dirty="0" smtClean="0">
                <a:latin typeface="Helvetica" pitchFamily="34" charset="0"/>
              </a:rPr>
              <a:t>Talking to management</a:t>
            </a:r>
          </a:p>
          <a:p>
            <a:pPr marL="360000" indent="-360000">
              <a:spcBef>
                <a:spcPts val="600"/>
              </a:spcBef>
              <a:spcAft>
                <a:spcPts val="1200"/>
              </a:spcAft>
            </a:pPr>
            <a:r>
              <a:rPr lang="en-US" dirty="0" smtClean="0">
                <a:latin typeface="Helvetica" pitchFamily="34" charset="0"/>
              </a:rPr>
              <a:t>Talking to stakeholders</a:t>
            </a:r>
          </a:p>
          <a:p>
            <a:pPr marL="360000" indent="-360000">
              <a:spcBef>
                <a:spcPts val="600"/>
              </a:spcBef>
              <a:spcAft>
                <a:spcPts val="1200"/>
              </a:spcAft>
            </a:pPr>
            <a:r>
              <a:rPr lang="en-US" dirty="0" smtClean="0">
                <a:latin typeface="Helvetica" pitchFamily="34" charset="0"/>
              </a:rPr>
              <a:t>Referring to relevant plans</a:t>
            </a:r>
          </a:p>
          <a:p>
            <a:pPr marL="360000" indent="-360000">
              <a:spcBef>
                <a:spcPts val="600"/>
              </a:spcBef>
              <a:spcAft>
                <a:spcPts val="1200"/>
              </a:spcAft>
            </a:pPr>
            <a:r>
              <a:rPr lang="en-US" dirty="0" smtClean="0">
                <a:latin typeface="Helvetica" pitchFamily="34" charset="0"/>
              </a:rPr>
              <a:t>Analysing market research data.</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09952" y="1971576"/>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content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Marketing materials may be:</a:t>
            </a:r>
          </a:p>
          <a:p>
            <a:pPr marL="360000" indent="-360000">
              <a:spcBef>
                <a:spcPts val="600"/>
              </a:spcBef>
              <a:spcAft>
                <a:spcPts val="1200"/>
              </a:spcAft>
            </a:pPr>
            <a:r>
              <a:rPr lang="en-US" dirty="0" smtClean="0">
                <a:latin typeface="Helvetica" pitchFamily="34" charset="0"/>
              </a:rPr>
              <a:t>Generic in nature:</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Giving only basic/general information</a:t>
            </a:r>
          </a:p>
          <a:p>
            <a:pPr marL="360000" indent="-360000">
              <a:spcBef>
                <a:spcPts val="600"/>
              </a:spcBef>
              <a:spcAft>
                <a:spcPts val="1200"/>
              </a:spcAft>
            </a:pPr>
            <a:r>
              <a:rPr lang="en-US" dirty="0" smtClean="0">
                <a:latin typeface="Helvetica" pitchFamily="34" charset="0"/>
              </a:rPr>
              <a:t>Specific in focus: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Requiring loads of detail about one or more trips/tours, products and/or services.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29</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788024" y="1772816"/>
            <a:ext cx="288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content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Travel bags – may just contain:</a:t>
            </a:r>
          </a:p>
          <a:p>
            <a:pPr marL="360000" indent="-360000">
              <a:spcBef>
                <a:spcPts val="600"/>
              </a:spcBef>
              <a:spcAft>
                <a:spcPts val="1200"/>
              </a:spcAft>
            </a:pPr>
            <a:r>
              <a:rPr lang="en-US" dirty="0" smtClean="0">
                <a:latin typeface="Helvetica" pitchFamily="34" charset="0"/>
              </a:rPr>
              <a:t>Organisation name</a:t>
            </a:r>
          </a:p>
          <a:p>
            <a:pPr marL="360000" indent="-360000">
              <a:spcBef>
                <a:spcPts val="600"/>
              </a:spcBef>
              <a:spcAft>
                <a:spcPts val="1200"/>
              </a:spcAft>
            </a:pPr>
            <a:r>
              <a:rPr lang="en-US" dirty="0" smtClean="0">
                <a:latin typeface="Helvetica" pitchFamily="34" charset="0"/>
              </a:rPr>
              <a:t>Logo</a:t>
            </a:r>
          </a:p>
          <a:p>
            <a:pPr marL="360000" indent="-360000">
              <a:spcBef>
                <a:spcPts val="600"/>
              </a:spcBef>
              <a:spcAft>
                <a:spcPts val="1200"/>
              </a:spcAft>
            </a:pPr>
            <a:r>
              <a:rPr lang="en-US" dirty="0" smtClean="0">
                <a:latin typeface="Helvetica" pitchFamily="34" charset="0"/>
              </a:rPr>
              <a:t>Website address.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30</a:t>
            </a:fld>
            <a:endParaRPr lang="en-US" dirty="0">
              <a:latin typeface="Helvetica" pitchFamily="34" charset="0"/>
            </a:endParaRPr>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364088" y="1988840"/>
            <a:ext cx="2151940" cy="3240000"/>
          </a:xfrm>
          <a:prstGeom prst="rect">
            <a:avLst/>
          </a:prstGeom>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content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8580" y="1806277"/>
            <a:ext cx="4303253" cy="4798349"/>
          </a:xfrm>
        </p:spPr>
        <p:txBody>
          <a:bodyPr>
            <a:normAutofit fontScale="92500" lnSpcReduction="10000"/>
          </a:bodyPr>
          <a:lstStyle/>
          <a:p>
            <a:pPr marL="0" indent="0">
              <a:lnSpc>
                <a:spcPct val="110000"/>
              </a:lnSpc>
              <a:spcBef>
                <a:spcPts val="600"/>
              </a:spcBef>
              <a:spcAft>
                <a:spcPts val="600"/>
              </a:spcAft>
              <a:buNone/>
            </a:pPr>
            <a:r>
              <a:rPr lang="en-AU" sz="2200" dirty="0" smtClean="0">
                <a:latin typeface="Helvetica" pitchFamily="34" charset="0"/>
              </a:rPr>
              <a:t>Conference programs, registration/advertorial forms and event prospectus </a:t>
            </a:r>
            <a:r>
              <a:rPr lang="en-US" sz="2200" dirty="0" smtClean="0">
                <a:latin typeface="Helvetica" pitchFamily="34" charset="0"/>
              </a:rPr>
              <a:t>may contain:</a:t>
            </a:r>
          </a:p>
          <a:p>
            <a:pPr marL="360000" indent="-360000">
              <a:lnSpc>
                <a:spcPct val="110000"/>
              </a:lnSpc>
              <a:spcBef>
                <a:spcPts val="600"/>
              </a:spcBef>
              <a:spcAft>
                <a:spcPts val="600"/>
              </a:spcAft>
            </a:pPr>
            <a:r>
              <a:rPr lang="en-AU" sz="2200" dirty="0" smtClean="0">
                <a:latin typeface="Helvetica" pitchFamily="34" charset="0"/>
              </a:rPr>
              <a:t>‘This event is sponsored by XYZ’ or a similar statement of support for the event/conference</a:t>
            </a:r>
          </a:p>
          <a:p>
            <a:pPr marL="360000" indent="-360000">
              <a:lnSpc>
                <a:spcPct val="110000"/>
              </a:lnSpc>
              <a:spcBef>
                <a:spcPts val="600"/>
              </a:spcBef>
              <a:spcAft>
                <a:spcPts val="600"/>
              </a:spcAft>
            </a:pPr>
            <a:r>
              <a:rPr lang="en-AU" sz="2200" dirty="0" smtClean="0">
                <a:latin typeface="Helvetica" pitchFamily="34" charset="0"/>
              </a:rPr>
              <a:t>Name of the organisation</a:t>
            </a:r>
          </a:p>
          <a:p>
            <a:pPr marL="360000" indent="-360000">
              <a:lnSpc>
                <a:spcPct val="110000"/>
              </a:lnSpc>
              <a:spcBef>
                <a:spcPts val="600"/>
              </a:spcBef>
              <a:spcAft>
                <a:spcPts val="600"/>
              </a:spcAft>
            </a:pPr>
            <a:r>
              <a:rPr lang="en-AU" sz="2200" dirty="0" smtClean="0">
                <a:latin typeface="Helvetica" pitchFamily="34" charset="0"/>
              </a:rPr>
              <a:t>Brief description/overview of the services provided</a:t>
            </a:r>
          </a:p>
          <a:p>
            <a:pPr marL="360000" indent="-360000">
              <a:lnSpc>
                <a:spcPct val="110000"/>
              </a:lnSpc>
              <a:spcBef>
                <a:spcPts val="600"/>
              </a:spcBef>
              <a:spcAft>
                <a:spcPts val="600"/>
              </a:spcAft>
            </a:pPr>
            <a:r>
              <a:rPr lang="en-AU" sz="2200" dirty="0" smtClean="0">
                <a:latin typeface="Helvetica" pitchFamily="34" charset="0"/>
              </a:rPr>
              <a:t>Street address/es</a:t>
            </a:r>
          </a:p>
          <a:p>
            <a:pPr marL="360000" indent="-360000">
              <a:lnSpc>
                <a:spcPct val="110000"/>
              </a:lnSpc>
              <a:spcBef>
                <a:spcPts val="600"/>
              </a:spcBef>
              <a:spcAft>
                <a:spcPts val="600"/>
              </a:spcAft>
            </a:pPr>
            <a:r>
              <a:rPr lang="en-AU" sz="2200" dirty="0" smtClean="0">
                <a:latin typeface="Helvetica" pitchFamily="34" charset="0"/>
              </a:rPr>
              <a:t>Telephone number/s</a:t>
            </a:r>
          </a:p>
          <a:p>
            <a:pPr marL="360000" indent="-360000">
              <a:lnSpc>
                <a:spcPct val="110000"/>
              </a:lnSpc>
              <a:spcBef>
                <a:spcPts val="600"/>
              </a:spcBef>
              <a:spcAft>
                <a:spcPts val="600"/>
              </a:spcAft>
            </a:pPr>
            <a:r>
              <a:rPr lang="en-AU" sz="2200" dirty="0" smtClean="0">
                <a:latin typeface="Helvetica" pitchFamily="34" charset="0"/>
              </a:rPr>
              <a:t>Web site.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31</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950953" y="1988839"/>
            <a:ext cx="3237471" cy="2160000"/>
          </a:xfrm>
          <a:prstGeom prst="rect">
            <a:avLst/>
          </a:prstGeom>
        </p:spPr>
      </p:pic>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content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184576" cy="4608512"/>
          </a:xfrm>
        </p:spPr>
        <p:txBody>
          <a:bodyPr>
            <a:normAutofit fontScale="77500" lnSpcReduction="20000"/>
          </a:bodyPr>
          <a:lstStyle/>
          <a:p>
            <a:pPr marL="0" indent="0">
              <a:lnSpc>
                <a:spcPct val="120000"/>
              </a:lnSpc>
              <a:spcBef>
                <a:spcPts val="600"/>
              </a:spcBef>
              <a:spcAft>
                <a:spcPts val="600"/>
              </a:spcAft>
              <a:buNone/>
            </a:pPr>
            <a:r>
              <a:rPr lang="en-AU" sz="2600" dirty="0" smtClean="0">
                <a:latin typeface="Helvetica" pitchFamily="34" charset="0"/>
              </a:rPr>
              <a:t>Destination Guides = generic but include tailored information to suit target markets</a:t>
            </a:r>
            <a:r>
              <a:rPr lang="en-US" sz="2600" dirty="0" smtClean="0">
                <a:latin typeface="Helvetica" pitchFamily="34" charset="0"/>
              </a:rPr>
              <a:t>:</a:t>
            </a:r>
          </a:p>
          <a:p>
            <a:pPr marL="360000" indent="-360000">
              <a:lnSpc>
                <a:spcPct val="120000"/>
              </a:lnSpc>
              <a:spcBef>
                <a:spcPts val="400"/>
              </a:spcBef>
              <a:spcAft>
                <a:spcPts val="400"/>
              </a:spcAft>
            </a:pPr>
            <a:r>
              <a:rPr lang="en-AU" sz="2600" dirty="0" smtClean="0">
                <a:latin typeface="Helvetica" pitchFamily="34" charset="0"/>
              </a:rPr>
              <a:t>History and culture of the destination </a:t>
            </a:r>
            <a:br>
              <a:rPr lang="en-AU" sz="2600" dirty="0" smtClean="0">
                <a:latin typeface="Helvetica" pitchFamily="34" charset="0"/>
              </a:rPr>
            </a:br>
            <a:r>
              <a:rPr lang="en-AU" sz="2600" dirty="0" smtClean="0">
                <a:latin typeface="Helvetica" pitchFamily="34" charset="0"/>
              </a:rPr>
              <a:t>and/or country</a:t>
            </a:r>
          </a:p>
          <a:p>
            <a:pPr marL="360000" indent="-360000">
              <a:lnSpc>
                <a:spcPct val="120000"/>
              </a:lnSpc>
              <a:spcBef>
                <a:spcPts val="400"/>
              </a:spcBef>
              <a:spcAft>
                <a:spcPts val="400"/>
              </a:spcAft>
            </a:pPr>
            <a:r>
              <a:rPr lang="en-AU" sz="2600" dirty="0" smtClean="0">
                <a:latin typeface="Helvetica" pitchFamily="34" charset="0"/>
              </a:rPr>
              <a:t>Weather information/overview and </a:t>
            </a:r>
            <a:br>
              <a:rPr lang="en-AU" sz="2600" dirty="0" smtClean="0">
                <a:latin typeface="Helvetica" pitchFamily="34" charset="0"/>
              </a:rPr>
            </a:br>
            <a:r>
              <a:rPr lang="en-AU" sz="2600" dirty="0" smtClean="0">
                <a:latin typeface="Helvetica" pitchFamily="34" charset="0"/>
              </a:rPr>
              <a:t>currency details</a:t>
            </a:r>
          </a:p>
          <a:p>
            <a:pPr marL="360000" indent="-360000">
              <a:lnSpc>
                <a:spcPct val="120000"/>
              </a:lnSpc>
              <a:spcBef>
                <a:spcPts val="400"/>
              </a:spcBef>
              <a:spcAft>
                <a:spcPts val="400"/>
              </a:spcAft>
            </a:pPr>
            <a:r>
              <a:rPr lang="en-AU" sz="2600" dirty="0" smtClean="0">
                <a:latin typeface="Helvetica" pitchFamily="34" charset="0"/>
              </a:rPr>
              <a:t>Customs and visa information</a:t>
            </a:r>
          </a:p>
          <a:p>
            <a:pPr marL="360000" indent="-360000">
              <a:lnSpc>
                <a:spcPct val="120000"/>
              </a:lnSpc>
              <a:spcBef>
                <a:spcPts val="400"/>
              </a:spcBef>
              <a:spcAft>
                <a:spcPts val="400"/>
              </a:spcAft>
            </a:pPr>
            <a:r>
              <a:rPr lang="en-AU" sz="2600" dirty="0" smtClean="0">
                <a:latin typeface="Helvetica" pitchFamily="34" charset="0"/>
              </a:rPr>
              <a:t>Photographs of attractions and local map </a:t>
            </a:r>
          </a:p>
          <a:p>
            <a:pPr marL="360000" indent="-360000">
              <a:lnSpc>
                <a:spcPct val="120000"/>
              </a:lnSpc>
              <a:spcBef>
                <a:spcPts val="400"/>
              </a:spcBef>
              <a:spcAft>
                <a:spcPts val="400"/>
              </a:spcAft>
            </a:pPr>
            <a:r>
              <a:rPr lang="en-AU" sz="2600" dirty="0" smtClean="0">
                <a:latin typeface="Helvetica" pitchFamily="34" charset="0"/>
              </a:rPr>
              <a:t>Time zone and Electricity information</a:t>
            </a:r>
          </a:p>
          <a:p>
            <a:pPr marL="360000" indent="-360000">
              <a:lnSpc>
                <a:spcPct val="120000"/>
              </a:lnSpc>
              <a:spcBef>
                <a:spcPts val="400"/>
              </a:spcBef>
              <a:spcAft>
                <a:spcPts val="400"/>
              </a:spcAft>
            </a:pPr>
            <a:r>
              <a:rPr lang="en-AU" sz="2600" dirty="0" smtClean="0">
                <a:latin typeface="Helvetica" pitchFamily="34" charset="0"/>
              </a:rPr>
              <a:t>Country telephone code and city code/s</a:t>
            </a:r>
          </a:p>
          <a:p>
            <a:pPr marL="360000" indent="-360000">
              <a:lnSpc>
                <a:spcPct val="120000"/>
              </a:lnSpc>
              <a:spcBef>
                <a:spcPts val="400"/>
              </a:spcBef>
              <a:spcAft>
                <a:spcPts val="400"/>
              </a:spcAft>
            </a:pPr>
            <a:r>
              <a:rPr lang="en-AU" sz="2600" dirty="0" smtClean="0">
                <a:latin typeface="Helvetica" pitchFamily="34" charset="0"/>
              </a:rPr>
              <a:t>Suggestions for walks and activities.</a:t>
            </a:r>
            <a:endParaRPr lang="en-US" sz="26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652120" y="1988840"/>
            <a:ext cx="2501280" cy="166752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content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lnSpcReduction="10000"/>
          </a:bodyPr>
          <a:lstStyle/>
          <a:p>
            <a:pPr marL="0" indent="0">
              <a:spcBef>
                <a:spcPts val="600"/>
              </a:spcBef>
              <a:spcAft>
                <a:spcPts val="1200"/>
              </a:spcAft>
              <a:buNone/>
            </a:pPr>
            <a:r>
              <a:rPr lang="en-US" dirty="0" smtClean="0">
                <a:latin typeface="Helvetica" pitchFamily="34" charset="0"/>
              </a:rPr>
              <a:t>Following has to be considered when determining content:</a:t>
            </a:r>
          </a:p>
          <a:p>
            <a:pPr marL="360000" indent="-360000">
              <a:spcBef>
                <a:spcPts val="600"/>
              </a:spcBef>
              <a:spcAft>
                <a:spcPts val="1200"/>
              </a:spcAft>
            </a:pPr>
            <a:r>
              <a:rPr lang="en-US" dirty="0" smtClean="0">
                <a:latin typeface="Helvetica" pitchFamily="34" charset="0"/>
              </a:rPr>
              <a:t>Exact nature of products and services</a:t>
            </a:r>
          </a:p>
          <a:p>
            <a:pPr marL="360000" indent="-360000">
              <a:spcBef>
                <a:spcPts val="600"/>
              </a:spcBef>
              <a:spcAft>
                <a:spcPts val="1200"/>
              </a:spcAft>
            </a:pPr>
            <a:r>
              <a:rPr lang="en-US" dirty="0" smtClean="0">
                <a:latin typeface="Helvetica" pitchFamily="34" charset="0"/>
              </a:rPr>
              <a:t>Alignment with organisational objectives</a:t>
            </a:r>
          </a:p>
          <a:p>
            <a:pPr marL="360000" indent="-360000">
              <a:spcBef>
                <a:spcPts val="600"/>
              </a:spcBef>
              <a:spcAft>
                <a:spcPts val="1200"/>
              </a:spcAft>
            </a:pPr>
            <a:r>
              <a:rPr lang="en-US" dirty="0" smtClean="0">
                <a:latin typeface="Helvetica" pitchFamily="34" charset="0"/>
              </a:rPr>
              <a:t>Identified use information will be put to by readers/users</a:t>
            </a:r>
          </a:p>
          <a:p>
            <a:pPr marL="360000" indent="-360000">
              <a:spcBef>
                <a:spcPts val="600"/>
              </a:spcBef>
              <a:spcAft>
                <a:spcPts val="1200"/>
              </a:spcAft>
            </a:pPr>
            <a:r>
              <a:rPr lang="en-US" dirty="0" smtClean="0">
                <a:latin typeface="Helvetica" pitchFamily="34" charset="0"/>
              </a:rPr>
              <a:t>Input from stakeholders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33</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26802" y="1988840"/>
            <a:ext cx="330353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content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Physical inclusions for copy/text and other content as specified by the Style Guide for the organisation</a:t>
            </a:r>
          </a:p>
          <a:p>
            <a:pPr marL="360000" indent="-360000">
              <a:spcBef>
                <a:spcPts val="600"/>
              </a:spcBef>
              <a:spcAft>
                <a:spcPts val="1200"/>
              </a:spcAft>
            </a:pPr>
            <a:r>
              <a:rPr lang="en-US" dirty="0" smtClean="0">
                <a:latin typeface="Helvetica" pitchFamily="34" charset="0"/>
              </a:rPr>
              <a:t>Mandatory inclusions – as specified by organisational policies.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0208"/>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format and layout for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‘Format’ can mean:</a:t>
            </a:r>
          </a:p>
          <a:p>
            <a:pPr marL="360000" indent="-360000">
              <a:spcBef>
                <a:spcPts val="600"/>
              </a:spcBef>
              <a:spcAft>
                <a:spcPts val="1200"/>
              </a:spcAft>
            </a:pPr>
            <a:r>
              <a:rPr lang="en-US" dirty="0" smtClean="0">
                <a:latin typeface="Helvetica" pitchFamily="34" charset="0"/>
              </a:rPr>
              <a:t>How material is presented – paper-based, electronic, merchandise</a:t>
            </a:r>
          </a:p>
          <a:p>
            <a:pPr marL="360000" indent="-360000">
              <a:spcBef>
                <a:spcPts val="600"/>
              </a:spcBef>
              <a:spcAft>
                <a:spcPts val="1200"/>
              </a:spcAft>
            </a:pPr>
            <a:r>
              <a:rPr lang="en-US" dirty="0" smtClean="0">
                <a:latin typeface="Helvetica" pitchFamily="34" charset="0"/>
              </a:rPr>
              <a:t>Details of how content is laid out on the page.</a:t>
            </a:r>
          </a:p>
          <a:p>
            <a:pPr marL="0" indent="0">
              <a:spcBef>
                <a:spcPts val="600"/>
              </a:spcBef>
              <a:spcAft>
                <a:spcPts val="1200"/>
              </a:spcAft>
              <a:buNone/>
            </a:pPr>
            <a:r>
              <a:rPr lang="en-US" i="1" dirty="0" smtClean="0">
                <a:latin typeface="Helvetica" pitchFamily="34" charset="0"/>
              </a:rPr>
              <a:t>This section relates to the second interpretation or definition.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35</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292080" y="1988839"/>
            <a:ext cx="2861320" cy="2647543"/>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format and layout for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Basic options for brochures are:</a:t>
            </a:r>
          </a:p>
          <a:p>
            <a:pPr marL="360000" indent="-360000">
              <a:spcBef>
                <a:spcPts val="600"/>
              </a:spcBef>
              <a:spcAft>
                <a:spcPts val="1200"/>
              </a:spcAft>
            </a:pPr>
            <a:r>
              <a:rPr lang="en-US" dirty="0" smtClean="0">
                <a:latin typeface="Helvetica" pitchFamily="34" charset="0"/>
              </a:rPr>
              <a:t>Multi-page</a:t>
            </a:r>
          </a:p>
          <a:p>
            <a:pPr marL="360000" indent="-360000">
              <a:spcBef>
                <a:spcPts val="600"/>
              </a:spcBef>
              <a:spcAft>
                <a:spcPts val="1200"/>
              </a:spcAft>
            </a:pPr>
            <a:r>
              <a:rPr lang="en-US" dirty="0" smtClean="0">
                <a:latin typeface="Helvetica" pitchFamily="34" charset="0"/>
              </a:rPr>
              <a:t>Single page – unfolded</a:t>
            </a:r>
          </a:p>
          <a:p>
            <a:pPr marL="360000" indent="-360000">
              <a:spcBef>
                <a:spcPts val="600"/>
              </a:spcBef>
              <a:spcAft>
                <a:spcPts val="1200"/>
              </a:spcAft>
            </a:pPr>
            <a:r>
              <a:rPr lang="en-US" dirty="0" smtClean="0">
                <a:latin typeface="Helvetica" pitchFamily="34" charset="0"/>
              </a:rPr>
              <a:t>Single page – folded into one of a variety of different fold types.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36</a:t>
            </a:fld>
            <a:endParaRPr lang="en-US" dirty="0">
              <a:latin typeface="Helvetica" pitchFamily="34" charset="0"/>
            </a:endParaRPr>
          </a:p>
        </p:txBody>
      </p:sp>
      <p:pic>
        <p:nvPicPr>
          <p:cNvPr id="5" name="Picture 4"/>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4998268" y="1988840"/>
            <a:ext cx="3147120" cy="2517696"/>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format and layout for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‘Font’ to be used:</a:t>
            </a:r>
          </a:p>
          <a:p>
            <a:pPr marL="360000" indent="-360000">
              <a:spcBef>
                <a:spcPts val="600"/>
              </a:spcBef>
              <a:spcAft>
                <a:spcPts val="1200"/>
              </a:spcAft>
            </a:pPr>
            <a:r>
              <a:rPr lang="en-US" sz="2200" dirty="0" smtClean="0">
                <a:latin typeface="Helvetica" pitchFamily="34" charset="0"/>
              </a:rPr>
              <a:t>Will vary throughout the brochure at different points</a:t>
            </a:r>
          </a:p>
          <a:p>
            <a:pPr marL="360000" indent="-360000">
              <a:spcBef>
                <a:spcPts val="600"/>
              </a:spcBef>
              <a:spcAft>
                <a:spcPts val="1200"/>
              </a:spcAft>
            </a:pPr>
            <a:r>
              <a:rPr lang="en-US" sz="2200" dirty="0" smtClean="0">
                <a:latin typeface="Helvetica" pitchFamily="34" charset="0"/>
              </a:rPr>
              <a:t>Will be governed by Style Guide</a:t>
            </a:r>
          </a:p>
          <a:p>
            <a:pPr marL="360000" indent="-360000">
              <a:spcBef>
                <a:spcPts val="600"/>
              </a:spcBef>
              <a:spcAft>
                <a:spcPts val="1200"/>
              </a:spcAft>
            </a:pPr>
            <a:r>
              <a:rPr lang="en-US" sz="2200" dirty="0" smtClean="0">
                <a:latin typeface="Helvetica" pitchFamily="34" charset="0"/>
              </a:rPr>
              <a:t>Should reflect the target market/focus of the material</a:t>
            </a:r>
          </a:p>
          <a:p>
            <a:pPr marL="360000" indent="-360000">
              <a:spcBef>
                <a:spcPts val="600"/>
              </a:spcBef>
              <a:spcAft>
                <a:spcPts val="1200"/>
              </a:spcAft>
            </a:pPr>
            <a:r>
              <a:rPr lang="en-US" sz="2200" dirty="0" smtClean="0">
                <a:latin typeface="Helvetica" pitchFamily="34" charset="0"/>
              </a:rPr>
              <a:t>Must be easy to read</a:t>
            </a:r>
          </a:p>
          <a:p>
            <a:pPr marL="360000" indent="-360000">
              <a:spcBef>
                <a:spcPts val="600"/>
              </a:spcBef>
              <a:spcAft>
                <a:spcPts val="1200"/>
              </a:spcAft>
            </a:pPr>
            <a:r>
              <a:rPr lang="en-US" sz="2200" dirty="0" smtClean="0">
                <a:latin typeface="Helvetica" pitchFamily="34" charset="0"/>
              </a:rPr>
              <a:t>‘Size’ will also vary and be dictated by Style Guide.</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37188" y="201300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format and layout for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In relation to colour:</a:t>
            </a:r>
          </a:p>
          <a:p>
            <a:pPr marL="360000" indent="-360000">
              <a:spcBef>
                <a:spcPts val="600"/>
              </a:spcBef>
              <a:spcAft>
                <a:spcPts val="1200"/>
              </a:spcAft>
            </a:pPr>
            <a:r>
              <a:rPr lang="en-US" sz="2200" dirty="0" smtClean="0">
                <a:latin typeface="Helvetica" pitchFamily="34" charset="0"/>
              </a:rPr>
              <a:t>Black and white is cheapest</a:t>
            </a:r>
          </a:p>
          <a:p>
            <a:pPr marL="360000" indent="-360000">
              <a:spcBef>
                <a:spcPts val="600"/>
              </a:spcBef>
              <a:spcAft>
                <a:spcPts val="1200"/>
              </a:spcAft>
            </a:pPr>
            <a:r>
              <a:rPr lang="en-US" sz="2200" dirty="0" smtClean="0">
                <a:latin typeface="Helvetica" pitchFamily="34" charset="0"/>
              </a:rPr>
              <a:t>Colour costs money</a:t>
            </a:r>
          </a:p>
          <a:p>
            <a:pPr marL="360000" indent="-360000">
              <a:spcBef>
                <a:spcPts val="600"/>
              </a:spcBef>
              <a:spcAft>
                <a:spcPts val="1200"/>
              </a:spcAft>
            </a:pPr>
            <a:r>
              <a:rPr lang="en-US" sz="2200" dirty="0" smtClean="0">
                <a:latin typeface="Helvetica" pitchFamily="34" charset="0"/>
              </a:rPr>
              <a:t>There should be a definite reason to use colour</a:t>
            </a:r>
          </a:p>
          <a:p>
            <a:pPr marL="360000" indent="-360000">
              <a:spcBef>
                <a:spcPts val="600"/>
              </a:spcBef>
              <a:spcAft>
                <a:spcPts val="1200"/>
              </a:spcAft>
            </a:pPr>
            <a:r>
              <a:rPr lang="en-US" sz="2200" dirty="0" smtClean="0">
                <a:latin typeface="Helvetica" pitchFamily="34" charset="0"/>
              </a:rPr>
              <a:t>Most/many brochures will have to feature use of full colour because customers expect it and </a:t>
            </a:r>
            <a:r>
              <a:rPr lang="en-US" sz="2200" b="1" dirty="0" smtClean="0">
                <a:latin typeface="Helvetica" pitchFamily="34" charset="0"/>
              </a:rPr>
              <a:t>not using </a:t>
            </a:r>
            <a:r>
              <a:rPr lang="en-US" sz="2200" dirty="0" smtClean="0">
                <a:latin typeface="Helvetica" pitchFamily="34" charset="0"/>
              </a:rPr>
              <a:t>it reflects badly on the image of the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20544"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format and layout for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32048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Length of finished brochures will depend on:</a:t>
            </a:r>
          </a:p>
          <a:p>
            <a:pPr marL="360000" indent="-360000">
              <a:lnSpc>
                <a:spcPct val="120000"/>
              </a:lnSpc>
              <a:spcBef>
                <a:spcPts val="600"/>
              </a:spcBef>
              <a:spcAft>
                <a:spcPts val="600"/>
              </a:spcAft>
            </a:pPr>
            <a:r>
              <a:rPr lang="en-US" sz="2200" dirty="0" smtClean="0">
                <a:latin typeface="Helvetica" pitchFamily="34" charset="0"/>
              </a:rPr>
              <a:t>Stakeholder input and what they want to include</a:t>
            </a:r>
          </a:p>
          <a:p>
            <a:pPr marL="360000" indent="-360000">
              <a:lnSpc>
                <a:spcPct val="120000"/>
              </a:lnSpc>
              <a:spcBef>
                <a:spcPts val="600"/>
              </a:spcBef>
              <a:spcAft>
                <a:spcPts val="600"/>
              </a:spcAft>
            </a:pPr>
            <a:r>
              <a:rPr lang="en-US" sz="2200" dirty="0" smtClean="0">
                <a:latin typeface="Helvetica" pitchFamily="34" charset="0"/>
              </a:rPr>
              <a:t>Budget</a:t>
            </a:r>
          </a:p>
          <a:p>
            <a:pPr marL="360000" indent="-360000">
              <a:lnSpc>
                <a:spcPct val="120000"/>
              </a:lnSpc>
              <a:spcBef>
                <a:spcPts val="600"/>
              </a:spcBef>
              <a:spcAft>
                <a:spcPts val="600"/>
              </a:spcAft>
            </a:pPr>
            <a:r>
              <a:rPr lang="en-US" sz="2200" dirty="0" smtClean="0">
                <a:latin typeface="Helvetica" pitchFamily="34" charset="0"/>
              </a:rPr>
              <a:t>Market research about the information required by readers/users</a:t>
            </a:r>
          </a:p>
          <a:p>
            <a:pPr marL="360000" indent="-360000">
              <a:lnSpc>
                <a:spcPct val="120000"/>
              </a:lnSpc>
              <a:spcBef>
                <a:spcPts val="600"/>
              </a:spcBef>
              <a:spcAft>
                <a:spcPts val="600"/>
              </a:spcAft>
            </a:pPr>
            <a:r>
              <a:rPr lang="en-US" sz="2200" dirty="0" smtClean="0">
                <a:latin typeface="Helvetica" pitchFamily="34" charset="0"/>
              </a:rPr>
              <a:t>End use of the item/requirements imposed by those who will display the items.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39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214400" y="1997100"/>
            <a:ext cx="4320000" cy="2880000"/>
          </a:xfrm>
          <a:prstGeom prst="rect">
            <a:avLst/>
          </a:prstGeom>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format and layout for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736484"/>
            <a:ext cx="5904656" cy="4680520"/>
          </a:xfrm>
        </p:spPr>
        <p:txBody>
          <a:bodyPr>
            <a:noAutofit/>
          </a:bodyPr>
          <a:lstStyle/>
          <a:p>
            <a:pPr marL="0" indent="0">
              <a:spcBef>
                <a:spcPts val="600"/>
              </a:spcBef>
              <a:spcAft>
                <a:spcPts val="1200"/>
              </a:spcAft>
              <a:buNone/>
            </a:pPr>
            <a:r>
              <a:rPr lang="en-US" dirty="0" smtClean="0">
                <a:latin typeface="Helvetica" pitchFamily="34" charset="0"/>
              </a:rPr>
              <a:t>Stock size, quality and colour will depend on:</a:t>
            </a:r>
          </a:p>
          <a:p>
            <a:pPr marL="360000" indent="-360000">
              <a:lnSpc>
                <a:spcPct val="120000"/>
              </a:lnSpc>
              <a:spcBef>
                <a:spcPts val="600"/>
              </a:spcBef>
              <a:spcAft>
                <a:spcPts val="600"/>
              </a:spcAft>
            </a:pPr>
            <a:r>
              <a:rPr lang="en-US" dirty="0" smtClean="0">
                <a:latin typeface="Helvetica" pitchFamily="34" charset="0"/>
              </a:rPr>
              <a:t>Demands made by those who will display the materials</a:t>
            </a:r>
          </a:p>
          <a:p>
            <a:pPr marL="360000" indent="-360000">
              <a:lnSpc>
                <a:spcPct val="120000"/>
              </a:lnSpc>
              <a:spcBef>
                <a:spcPts val="600"/>
              </a:spcBef>
              <a:spcAft>
                <a:spcPts val="600"/>
              </a:spcAft>
            </a:pPr>
            <a:r>
              <a:rPr lang="en-US" dirty="0" smtClean="0">
                <a:latin typeface="Helvetica" pitchFamily="34" charset="0"/>
              </a:rPr>
              <a:t>Type of item being developed</a:t>
            </a:r>
          </a:p>
          <a:p>
            <a:pPr marL="360000" indent="-360000">
              <a:lnSpc>
                <a:spcPct val="120000"/>
              </a:lnSpc>
              <a:spcBef>
                <a:spcPts val="600"/>
              </a:spcBef>
              <a:spcAft>
                <a:spcPts val="600"/>
              </a:spcAft>
            </a:pPr>
            <a:r>
              <a:rPr lang="en-US" dirty="0" smtClean="0">
                <a:latin typeface="Helvetica" pitchFamily="34" charset="0"/>
              </a:rPr>
              <a:t>Overall ‘look’ required</a:t>
            </a:r>
          </a:p>
          <a:p>
            <a:pPr marL="360000" indent="-360000">
              <a:lnSpc>
                <a:spcPct val="120000"/>
              </a:lnSpc>
              <a:spcBef>
                <a:spcPts val="600"/>
              </a:spcBef>
              <a:spcAft>
                <a:spcPts val="600"/>
              </a:spcAft>
            </a:pPr>
            <a:r>
              <a:rPr lang="en-US" dirty="0" smtClean="0">
                <a:latin typeface="Helvetica" pitchFamily="34" charset="0"/>
              </a:rPr>
              <a:t>Traditional organisational requirements</a:t>
            </a:r>
          </a:p>
          <a:p>
            <a:pPr marL="360000" indent="-360000">
              <a:lnSpc>
                <a:spcPct val="120000"/>
              </a:lnSpc>
              <a:spcBef>
                <a:spcPts val="600"/>
              </a:spcBef>
              <a:spcAft>
                <a:spcPts val="600"/>
              </a:spcAft>
            </a:pPr>
            <a:r>
              <a:rPr lang="en-US" dirty="0" smtClean="0">
                <a:latin typeface="Helvetica" pitchFamily="34" charset="0"/>
              </a:rPr>
              <a:t>Budget</a:t>
            </a:r>
          </a:p>
          <a:p>
            <a:pPr marL="360000" indent="-360000">
              <a:lnSpc>
                <a:spcPct val="120000"/>
              </a:lnSpc>
              <a:spcBef>
                <a:spcPts val="600"/>
              </a:spcBef>
              <a:spcAft>
                <a:spcPts val="600"/>
              </a:spcAft>
            </a:pPr>
            <a:r>
              <a:rPr lang="en-US" dirty="0" smtClean="0">
                <a:latin typeface="Helvetica" pitchFamily="34" charset="0"/>
              </a:rPr>
              <a:t>End use of the brochure</a:t>
            </a:r>
          </a:p>
          <a:p>
            <a:pPr marL="360000" indent="-360000">
              <a:lnSpc>
                <a:spcPct val="120000"/>
              </a:lnSpc>
              <a:spcBef>
                <a:spcPts val="600"/>
              </a:spcBef>
              <a:spcAft>
                <a:spcPts val="600"/>
              </a:spcAft>
            </a:pPr>
            <a:r>
              <a:rPr lang="en-US" dirty="0" smtClean="0">
                <a:latin typeface="Helvetica" pitchFamily="34" charset="0"/>
              </a:rPr>
              <a:t>Theme of the product/service being promoted.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40</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364088" y="2708920"/>
            <a:ext cx="2304256" cy="2452919"/>
          </a:xfrm>
          <a:prstGeom prst="rect">
            <a:avLst/>
          </a:prstGeom>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format and layout for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lnSpcReduction="10000"/>
          </a:bodyPr>
          <a:lstStyle/>
          <a:p>
            <a:pPr marL="0" indent="0">
              <a:spcBef>
                <a:spcPts val="600"/>
              </a:spcBef>
              <a:spcAft>
                <a:spcPts val="1200"/>
              </a:spcAft>
              <a:buNone/>
            </a:pPr>
            <a:r>
              <a:rPr lang="en-US" dirty="0" smtClean="0">
                <a:latin typeface="Helvetica" pitchFamily="34" charset="0"/>
              </a:rPr>
              <a:t>Positioning content is about locating text, graphics and photographs and needs to consider:</a:t>
            </a:r>
          </a:p>
          <a:p>
            <a:pPr marL="360000" indent="-360000">
              <a:spcBef>
                <a:spcPts val="600"/>
              </a:spcBef>
              <a:spcAft>
                <a:spcPts val="1200"/>
              </a:spcAft>
            </a:pPr>
            <a:r>
              <a:rPr lang="en-US" dirty="0" smtClean="0">
                <a:latin typeface="Helvetica" pitchFamily="34" charset="0"/>
              </a:rPr>
              <a:t>‘Sufficient’ space</a:t>
            </a:r>
          </a:p>
          <a:p>
            <a:pPr marL="360000" indent="-360000">
              <a:spcBef>
                <a:spcPts val="600"/>
              </a:spcBef>
              <a:spcAft>
                <a:spcPts val="1200"/>
              </a:spcAft>
            </a:pPr>
            <a:r>
              <a:rPr lang="en-US" dirty="0" smtClean="0">
                <a:latin typeface="Helvetica" pitchFamily="34" charset="0"/>
              </a:rPr>
              <a:t>Logical/planned sequence of content</a:t>
            </a:r>
          </a:p>
          <a:p>
            <a:pPr marL="360000" indent="-360000">
              <a:spcBef>
                <a:spcPts val="600"/>
              </a:spcBef>
              <a:spcAft>
                <a:spcPts val="1200"/>
              </a:spcAft>
            </a:pPr>
            <a:r>
              <a:rPr lang="en-US" dirty="0" smtClean="0">
                <a:latin typeface="Helvetica" pitchFamily="34" charset="0"/>
              </a:rPr>
              <a:t>Liaison with professionals</a:t>
            </a:r>
          </a:p>
          <a:p>
            <a:pPr marL="360000" indent="-360000">
              <a:spcBef>
                <a:spcPts val="600"/>
              </a:spcBef>
              <a:spcAft>
                <a:spcPts val="1200"/>
              </a:spcAft>
            </a:pPr>
            <a:r>
              <a:rPr lang="en-US" dirty="0" smtClean="0">
                <a:latin typeface="Helvetica" pitchFamily="34" charset="0"/>
              </a:rPr>
              <a:t>Application of basic design principles.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40995" y="2000052"/>
            <a:ext cx="3235697"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language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The language used:</a:t>
            </a:r>
          </a:p>
          <a:p>
            <a:pPr marL="360000" indent="-360000">
              <a:spcBef>
                <a:spcPts val="600"/>
              </a:spcBef>
              <a:spcAft>
                <a:spcPts val="1200"/>
              </a:spcAft>
            </a:pPr>
            <a:r>
              <a:rPr lang="en-US" dirty="0" smtClean="0">
                <a:latin typeface="Helvetica" pitchFamily="34" charset="0"/>
              </a:rPr>
              <a:t>Must be appropriate to the market/users/readers</a:t>
            </a:r>
          </a:p>
          <a:p>
            <a:pPr marL="360000" indent="-360000">
              <a:spcBef>
                <a:spcPts val="600"/>
              </a:spcBef>
              <a:spcAft>
                <a:spcPts val="1200"/>
              </a:spcAft>
            </a:pPr>
            <a:r>
              <a:rPr lang="en-US" dirty="0" smtClean="0">
                <a:latin typeface="Helvetica" pitchFamily="34" charset="0"/>
              </a:rPr>
              <a:t>Might be the only change required to some marketing materials</a:t>
            </a:r>
          </a:p>
          <a:p>
            <a:pPr marL="360000" indent="-360000">
              <a:spcBef>
                <a:spcPts val="600"/>
              </a:spcBef>
              <a:spcAft>
                <a:spcPts val="1200"/>
              </a:spcAft>
            </a:pPr>
            <a:r>
              <a:rPr lang="en-US" dirty="0" smtClean="0">
                <a:latin typeface="Helvetica" pitchFamily="34" charset="0"/>
              </a:rPr>
              <a:t>May need to be a foreign language.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32996" y="19793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language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Words and phrases are very influential so they need to be ‘correct’ and ‘appropriate’:</a:t>
            </a:r>
          </a:p>
          <a:p>
            <a:pPr marL="360000" indent="-360000">
              <a:spcBef>
                <a:spcPts val="600"/>
              </a:spcBef>
              <a:spcAft>
                <a:spcPts val="1200"/>
              </a:spcAft>
            </a:pPr>
            <a:r>
              <a:rPr lang="en-AU" sz="2200" dirty="0" smtClean="0">
                <a:latin typeface="Helvetica" pitchFamily="34" charset="0"/>
              </a:rPr>
              <a:t>Using local idiom can be positive for local readers but confusing/meaningless to others</a:t>
            </a:r>
            <a:endParaRPr lang="en-US" sz="2200" dirty="0" smtClean="0">
              <a:latin typeface="Helvetica" pitchFamily="34" charset="0"/>
            </a:endParaRPr>
          </a:p>
          <a:p>
            <a:pPr marL="360000" indent="-360000">
              <a:spcBef>
                <a:spcPts val="600"/>
              </a:spcBef>
              <a:spcAft>
                <a:spcPts val="1200"/>
              </a:spcAft>
            </a:pPr>
            <a:r>
              <a:rPr lang="en-AU" sz="2200" dirty="0" smtClean="0">
                <a:latin typeface="Helvetica" pitchFamily="34" charset="0"/>
              </a:rPr>
              <a:t>Using idiom of </a:t>
            </a:r>
            <a:r>
              <a:rPr lang="en-AU" sz="2200" i="1" dirty="0" smtClean="0">
                <a:latin typeface="Helvetica" pitchFamily="34" charset="0"/>
              </a:rPr>
              <a:t>other countries </a:t>
            </a:r>
            <a:r>
              <a:rPr lang="en-AU" sz="2200" dirty="0" smtClean="0">
                <a:latin typeface="Helvetica" pitchFamily="34" charset="0"/>
              </a:rPr>
              <a:t>is fraught with danger</a:t>
            </a:r>
          </a:p>
          <a:p>
            <a:pPr marL="360000" indent="-360000">
              <a:spcBef>
                <a:spcPts val="600"/>
              </a:spcBef>
              <a:spcAft>
                <a:spcPts val="1200"/>
              </a:spcAft>
            </a:pPr>
            <a:r>
              <a:rPr lang="en-AU" sz="2200" dirty="0" smtClean="0">
                <a:latin typeface="Helvetica" pitchFamily="34" charset="0"/>
              </a:rPr>
              <a:t>Using local terms is also something to be undertaken with care where the audience is not local</a:t>
            </a:r>
            <a:r>
              <a:rPr lang="en-US" sz="2200" dirty="0" smtClean="0">
                <a:latin typeface="Helvetica" pitchFamily="34" charset="0"/>
              </a:rPr>
              <a: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94896" y="1996356"/>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language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‘Jargon’:</a:t>
            </a:r>
          </a:p>
          <a:p>
            <a:pPr marL="360000" indent="-360000">
              <a:spcBef>
                <a:spcPts val="600"/>
              </a:spcBef>
              <a:spcAft>
                <a:spcPts val="1200"/>
              </a:spcAft>
            </a:pPr>
            <a:r>
              <a:rPr lang="en-US" sz="2200" dirty="0" smtClean="0">
                <a:latin typeface="Helvetica" pitchFamily="34" charset="0"/>
              </a:rPr>
              <a:t>Is </a:t>
            </a:r>
            <a:r>
              <a:rPr lang="en-US" sz="2200" b="1" dirty="0" smtClean="0">
                <a:latin typeface="Helvetica" pitchFamily="34" charset="0"/>
              </a:rPr>
              <a:t>industry </a:t>
            </a:r>
            <a:r>
              <a:rPr lang="en-US" sz="2200" dirty="0" smtClean="0">
                <a:latin typeface="Helvetica" pitchFamily="34" charset="0"/>
              </a:rPr>
              <a:t>terms, phrases and acronyms</a:t>
            </a:r>
          </a:p>
          <a:p>
            <a:pPr marL="360000" indent="-360000">
              <a:spcBef>
                <a:spcPts val="600"/>
              </a:spcBef>
              <a:spcAft>
                <a:spcPts val="1200"/>
              </a:spcAft>
            </a:pPr>
            <a:r>
              <a:rPr lang="en-US" sz="2200" dirty="0" smtClean="0">
                <a:latin typeface="Helvetica" pitchFamily="34" charset="0"/>
              </a:rPr>
              <a:t>Should (generally) be avoided/not used for paying customers but can/should be used for marketing purposes within the organisation and/or by partners</a:t>
            </a:r>
          </a:p>
          <a:p>
            <a:pPr marL="360000" indent="-360000">
              <a:spcBef>
                <a:spcPts val="600"/>
              </a:spcBef>
              <a:spcAft>
                <a:spcPts val="1200"/>
              </a:spcAft>
            </a:pPr>
            <a:r>
              <a:rPr lang="en-US" sz="2200" dirty="0" smtClean="0">
                <a:latin typeface="Helvetica" pitchFamily="34" charset="0"/>
              </a:rPr>
              <a:t>Must be properly explained if it is used.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prices to be stated in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‘Determining prices’ in the context of this unit does not relate to:</a:t>
            </a:r>
          </a:p>
          <a:p>
            <a:pPr marL="360000" indent="-360000">
              <a:spcBef>
                <a:spcPts val="600"/>
              </a:spcBef>
              <a:spcAft>
                <a:spcPts val="1200"/>
              </a:spcAft>
            </a:pPr>
            <a:r>
              <a:rPr lang="en-US" dirty="0" smtClean="0">
                <a:latin typeface="Helvetica" pitchFamily="34" charset="0"/>
              </a:rPr>
              <a:t>Calculation of selling prices for tickets, tours or trips</a:t>
            </a:r>
          </a:p>
          <a:p>
            <a:pPr marL="360000" indent="-360000">
              <a:spcBef>
                <a:spcPts val="600"/>
              </a:spcBef>
              <a:spcAft>
                <a:spcPts val="1200"/>
              </a:spcAft>
            </a:pPr>
            <a:r>
              <a:rPr lang="en-US" dirty="0" smtClean="0">
                <a:latin typeface="Helvetica" pitchFamily="34" charset="0"/>
              </a:rPr>
              <a:t>Identifying exactly what the prices listed in the brochures and marketing materials will be.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486620" y="1988840"/>
            <a:ext cx="26865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prices to be stated in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including prices in any form of marketing materials it is important to</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Ensure accuracy</a:t>
            </a:r>
          </a:p>
          <a:p>
            <a:pPr marL="360000" indent="-360000">
              <a:spcBef>
                <a:spcPts val="600"/>
              </a:spcBef>
              <a:spcAft>
                <a:spcPts val="1200"/>
              </a:spcAft>
            </a:pPr>
            <a:r>
              <a:rPr lang="en-US" sz="2200" dirty="0" smtClean="0">
                <a:latin typeface="Helvetica" pitchFamily="34" charset="0"/>
              </a:rPr>
              <a:t>Ensure they are comprehensive – should be no ‘surprises’ or tricks. Options are for: </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‘Flagged’ prices, or</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‘Final prices’</a:t>
            </a:r>
          </a:p>
          <a:p>
            <a:pPr marL="360000" indent="-360000">
              <a:spcBef>
                <a:spcPts val="600"/>
              </a:spcBef>
              <a:spcAft>
                <a:spcPts val="1200"/>
              </a:spcAft>
              <a:buNone/>
            </a:pPr>
            <a:r>
              <a:rPr lang="en-US" sz="14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36692" y="2012876"/>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prices to be stated in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Ensure any time restrictions are stated</a:t>
            </a:r>
          </a:p>
          <a:p>
            <a:pPr marL="360000" indent="-360000">
              <a:spcBef>
                <a:spcPts val="600"/>
              </a:spcBef>
              <a:spcAft>
                <a:spcPts val="1200"/>
              </a:spcAft>
            </a:pPr>
            <a:r>
              <a:rPr lang="en-US" dirty="0" smtClean="0">
                <a:latin typeface="Helvetica" pitchFamily="34" charset="0"/>
              </a:rPr>
              <a:t>Mention prices are ‘Subject to change without notice’</a:t>
            </a:r>
          </a:p>
          <a:p>
            <a:pPr marL="360000" indent="-360000">
              <a:spcBef>
                <a:spcPts val="600"/>
              </a:spcBef>
              <a:spcAft>
                <a:spcPts val="1200"/>
              </a:spcAft>
            </a:pPr>
            <a:r>
              <a:rPr lang="en-US" dirty="0" smtClean="0">
                <a:latin typeface="Helvetica" pitchFamily="34" charset="0"/>
              </a:rPr>
              <a:t>Cover price details/information appropriate to specific end-user requirements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723" y="1988840"/>
            <a:ext cx="3239677"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prices to be stated in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Ensure the relevant currency unit is used</a:t>
            </a:r>
          </a:p>
          <a:p>
            <a:pPr marL="360000" indent="-360000">
              <a:spcBef>
                <a:spcPts val="600"/>
              </a:spcBef>
              <a:spcAft>
                <a:spcPts val="1200"/>
              </a:spcAft>
            </a:pPr>
            <a:r>
              <a:rPr lang="en-US" dirty="0" smtClean="0">
                <a:latin typeface="Helvetica" pitchFamily="34" charset="0"/>
              </a:rPr>
              <a:t>Highlight value-for-money represented by the price stated</a:t>
            </a:r>
          </a:p>
          <a:p>
            <a:pPr marL="360000" indent="-360000">
              <a:spcBef>
                <a:spcPts val="600"/>
              </a:spcBef>
              <a:spcAft>
                <a:spcPts val="1200"/>
              </a:spcAft>
            </a:pPr>
            <a:r>
              <a:rPr lang="en-US" dirty="0" smtClean="0">
                <a:latin typeface="Helvetica" pitchFamily="34" charset="0"/>
              </a:rPr>
              <a:t>Have management verify/sign-off on all prices used.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2013000"/>
            <a:ext cx="1920000" cy="288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The ‘Style Guide’ for the organisation will always dictate matters relating to:</a:t>
            </a:r>
          </a:p>
          <a:p>
            <a:pPr marL="360000" indent="-360000">
              <a:spcBef>
                <a:spcPts val="600"/>
              </a:spcBef>
              <a:spcAft>
                <a:spcPts val="1200"/>
              </a:spcAft>
            </a:pPr>
            <a:r>
              <a:rPr lang="en-US" dirty="0" smtClean="0">
                <a:latin typeface="Helvetica" pitchFamily="34" charset="0"/>
              </a:rPr>
              <a:t>Headings and headlines</a:t>
            </a:r>
          </a:p>
          <a:p>
            <a:pPr marL="360000" indent="-360000">
              <a:spcBef>
                <a:spcPts val="600"/>
              </a:spcBef>
              <a:spcAft>
                <a:spcPts val="1200"/>
              </a:spcAft>
            </a:pPr>
            <a:r>
              <a:rPr lang="en-US" dirty="0" smtClean="0">
                <a:latin typeface="Helvetica" pitchFamily="34" charset="0"/>
              </a:rPr>
              <a:t>Headers and footers</a:t>
            </a:r>
          </a:p>
          <a:p>
            <a:pPr marL="360000" indent="-360000">
              <a:spcBef>
                <a:spcPts val="600"/>
              </a:spcBef>
              <a:spcAft>
                <a:spcPts val="1200"/>
              </a:spcAft>
            </a:pPr>
            <a:r>
              <a:rPr lang="en-US" dirty="0" smtClean="0">
                <a:latin typeface="Helvetica" pitchFamily="34" charset="0"/>
              </a:rPr>
              <a:t>Font types and sizes.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49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1700808"/>
            <a:ext cx="2275723" cy="2880000"/>
          </a:xfrm>
          <a:prstGeom prst="rect">
            <a:avLst/>
          </a:prstGeom>
        </p:spPr>
      </p:pic>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In terms of ‘copy style’:</a:t>
            </a:r>
          </a:p>
          <a:p>
            <a:pPr marL="360000" indent="-360000">
              <a:spcBef>
                <a:spcPts val="600"/>
              </a:spcBef>
              <a:spcAft>
                <a:spcPts val="1200"/>
              </a:spcAft>
            </a:pPr>
            <a:r>
              <a:rPr lang="en-US" sz="2200" dirty="0" smtClean="0">
                <a:latin typeface="Helvetica" pitchFamily="34" charset="0"/>
              </a:rPr>
              <a:t>It is VITAL to grab the reader in 2 – 3 seconds</a:t>
            </a:r>
          </a:p>
          <a:p>
            <a:pPr marL="360000" indent="-360000">
              <a:spcBef>
                <a:spcPts val="600"/>
              </a:spcBef>
              <a:spcAft>
                <a:spcPts val="1200"/>
              </a:spcAft>
            </a:pPr>
            <a:r>
              <a:rPr lang="en-US" sz="2200" dirty="0" smtClean="0">
                <a:latin typeface="Helvetica" pitchFamily="34" charset="0"/>
              </a:rPr>
              <a:t>Headlines, headings and photos need to</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Create an impression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Set the scene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Create expectations</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3995936" y="2492896"/>
            <a:ext cx="3812886" cy="2880000"/>
          </a:xfrm>
          <a:prstGeom prst="rect">
            <a:avLst/>
          </a:prstGeom>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Writing styles can be the same for an </a:t>
            </a:r>
            <a:r>
              <a:rPr lang="en-US" sz="2200" i="1" dirty="0" smtClean="0">
                <a:latin typeface="Helvetica" pitchFamily="34" charset="0"/>
              </a:rPr>
              <a:t>entire </a:t>
            </a:r>
            <a:r>
              <a:rPr lang="en-US" sz="2200" dirty="0" smtClean="0">
                <a:latin typeface="Helvetica" pitchFamily="34" charset="0"/>
              </a:rPr>
              <a:t>brochure or vary within a brochure according to need/content – options include:</a:t>
            </a:r>
          </a:p>
          <a:p>
            <a:pPr marL="360000" indent="-360000">
              <a:spcBef>
                <a:spcPts val="600"/>
              </a:spcBef>
              <a:spcAft>
                <a:spcPts val="1200"/>
              </a:spcAft>
            </a:pPr>
            <a:r>
              <a:rPr lang="en-AU" sz="2200" dirty="0" smtClean="0">
                <a:latin typeface="Helvetica" pitchFamily="34" charset="0"/>
              </a:rPr>
              <a:t>Factual</a:t>
            </a:r>
          </a:p>
          <a:p>
            <a:pPr marL="360000" indent="-360000">
              <a:spcBef>
                <a:spcPts val="600"/>
              </a:spcBef>
              <a:spcAft>
                <a:spcPts val="1200"/>
              </a:spcAft>
            </a:pPr>
            <a:r>
              <a:rPr lang="en-AU" sz="2200" dirty="0" smtClean="0">
                <a:latin typeface="Helvetica" pitchFamily="34" charset="0"/>
              </a:rPr>
              <a:t>Imaginative </a:t>
            </a:r>
          </a:p>
          <a:p>
            <a:pPr marL="360000" indent="-360000">
              <a:spcBef>
                <a:spcPts val="600"/>
              </a:spcBef>
              <a:spcAft>
                <a:spcPts val="1200"/>
              </a:spcAft>
            </a:pPr>
            <a:r>
              <a:rPr lang="en-AU" sz="2200" dirty="0" smtClean="0">
                <a:latin typeface="Helvetica" pitchFamily="34" charset="0"/>
              </a:rPr>
              <a:t>Authoritative</a:t>
            </a:r>
          </a:p>
          <a:p>
            <a:pPr marL="360000" indent="-360000">
              <a:spcBef>
                <a:spcPts val="600"/>
              </a:spcBef>
              <a:spcAft>
                <a:spcPts val="1200"/>
              </a:spcAft>
            </a:pPr>
            <a:r>
              <a:rPr lang="en-AU" sz="2200" dirty="0" smtClean="0">
                <a:latin typeface="Helvetica" pitchFamily="34" charset="0"/>
              </a:rPr>
              <a:t>Whimsical </a:t>
            </a:r>
          </a:p>
          <a:p>
            <a:pPr marL="360000" indent="-360000">
              <a:spcBef>
                <a:spcPts val="600"/>
              </a:spcBef>
              <a:spcAft>
                <a:spcPts val="1200"/>
              </a:spcAft>
            </a:pPr>
            <a:r>
              <a:rPr lang="en-AU" sz="2200" dirty="0" smtClean="0">
                <a:latin typeface="Helvetica" pitchFamily="34" charset="0"/>
              </a:rPr>
              <a:t>Contemporary</a:t>
            </a:r>
          </a:p>
          <a:p>
            <a:pPr marL="360000" indent="-360000">
              <a:spcBef>
                <a:spcPts val="600"/>
              </a:spcBef>
              <a:spcAft>
                <a:spcPts val="1200"/>
              </a:spcAft>
            </a:pPr>
            <a:r>
              <a:rPr lang="en-AU" sz="2200" dirty="0" smtClean="0">
                <a:latin typeface="Helvetica" pitchFamily="34" charset="0"/>
              </a:rPr>
              <a:t>Emotional.</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44008" y="2708920"/>
            <a:ext cx="2458800" cy="2880000"/>
          </a:xfrm>
          <a:prstGeom prst="rect">
            <a:avLst/>
          </a:prstGeom>
        </p:spPr>
      </p:pic>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a:bodyPr>
          <a:lstStyle/>
          <a:p>
            <a:pPr marL="0" indent="0">
              <a:spcBef>
                <a:spcPts val="600"/>
              </a:spcBef>
              <a:spcAft>
                <a:spcPts val="1200"/>
              </a:spcAft>
              <a:buNone/>
            </a:pPr>
            <a:r>
              <a:rPr lang="en-US" sz="2200" dirty="0" smtClean="0">
                <a:latin typeface="Helvetica" pitchFamily="34" charset="0"/>
              </a:rPr>
              <a:t>Many copy writers employ the concept/principle/s of AIDA, where:</a:t>
            </a:r>
          </a:p>
          <a:p>
            <a:pPr marL="360000" indent="-360000">
              <a:spcBef>
                <a:spcPts val="600"/>
              </a:spcBef>
              <a:spcAft>
                <a:spcPts val="1200"/>
              </a:spcAft>
            </a:pPr>
            <a:r>
              <a:rPr lang="en-AU" sz="2200" dirty="0" smtClean="0">
                <a:latin typeface="Helvetica" pitchFamily="34" charset="0"/>
              </a:rPr>
              <a:t>A = grabs </a:t>
            </a:r>
            <a:r>
              <a:rPr lang="en-AU" sz="2200" b="1" dirty="0" smtClean="0">
                <a:latin typeface="Helvetica" pitchFamily="34" charset="0"/>
              </a:rPr>
              <a:t>A</a:t>
            </a:r>
            <a:r>
              <a:rPr lang="en-AU" sz="2200" dirty="0" smtClean="0">
                <a:latin typeface="Helvetica" pitchFamily="34" charset="0"/>
              </a:rPr>
              <a:t>ttention</a:t>
            </a:r>
          </a:p>
          <a:p>
            <a:pPr marL="360000" indent="-360000">
              <a:spcBef>
                <a:spcPts val="600"/>
              </a:spcBef>
              <a:spcAft>
                <a:spcPts val="1200"/>
              </a:spcAft>
            </a:pPr>
            <a:r>
              <a:rPr lang="en-AU" sz="2200" dirty="0" smtClean="0">
                <a:latin typeface="Helvetica" pitchFamily="34" charset="0"/>
              </a:rPr>
              <a:t>I = appeals to the peoples’ self-</a:t>
            </a:r>
            <a:r>
              <a:rPr lang="en-AU" sz="2200" b="1" dirty="0" smtClean="0">
                <a:latin typeface="Helvetica" pitchFamily="34" charset="0"/>
              </a:rPr>
              <a:t>I</a:t>
            </a:r>
            <a:r>
              <a:rPr lang="en-AU" sz="2200" dirty="0" smtClean="0">
                <a:latin typeface="Helvetica" pitchFamily="34" charset="0"/>
              </a:rPr>
              <a:t>nterest</a:t>
            </a:r>
          </a:p>
          <a:p>
            <a:pPr marL="360000" indent="-360000">
              <a:spcBef>
                <a:spcPts val="600"/>
              </a:spcBef>
              <a:spcAft>
                <a:spcPts val="1200"/>
              </a:spcAft>
            </a:pPr>
            <a:r>
              <a:rPr lang="en-AU" sz="2200" dirty="0" smtClean="0">
                <a:latin typeface="Helvetica" pitchFamily="34" charset="0"/>
              </a:rPr>
              <a:t>D = arouses the </a:t>
            </a:r>
            <a:r>
              <a:rPr lang="en-AU" sz="2200" b="1" dirty="0" smtClean="0">
                <a:latin typeface="Helvetica" pitchFamily="34" charset="0"/>
              </a:rPr>
              <a:t>D</a:t>
            </a:r>
            <a:r>
              <a:rPr lang="en-AU" sz="2200" dirty="0" smtClean="0">
                <a:latin typeface="Helvetica" pitchFamily="34" charset="0"/>
              </a:rPr>
              <a:t>esire to buy</a:t>
            </a:r>
          </a:p>
          <a:p>
            <a:pPr marL="360000" indent="-360000">
              <a:spcBef>
                <a:spcPts val="600"/>
              </a:spcBef>
              <a:spcAft>
                <a:spcPts val="1200"/>
              </a:spcAft>
            </a:pPr>
            <a:r>
              <a:rPr lang="en-AU" sz="2200" dirty="0" smtClean="0">
                <a:latin typeface="Helvetica" pitchFamily="34" charset="0"/>
              </a:rPr>
              <a:t>A = urges people to take </a:t>
            </a:r>
            <a:r>
              <a:rPr lang="en-AU" sz="2200" b="1" dirty="0" smtClean="0">
                <a:latin typeface="Helvetica" pitchFamily="34" charset="0"/>
              </a:rPr>
              <a:t>A</a:t>
            </a:r>
            <a:r>
              <a:rPr lang="en-AU" sz="2200" dirty="0" smtClean="0">
                <a:latin typeface="Helvetica" pitchFamily="34" charset="0"/>
              </a:rPr>
              <a:t>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66208" y="2415797"/>
            <a:ext cx="2617920" cy="3240000"/>
          </a:xfrm>
          <a:prstGeom prst="rect">
            <a:avLst/>
          </a:prstGeom>
        </p:spPr>
      </p:pic>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a:bodyPr>
          <a:lstStyle/>
          <a:p>
            <a:pPr marL="0" indent="0">
              <a:spcBef>
                <a:spcPts val="600"/>
              </a:spcBef>
              <a:spcAft>
                <a:spcPts val="1200"/>
              </a:spcAft>
              <a:buNone/>
            </a:pPr>
            <a:r>
              <a:rPr lang="en-AU" dirty="0" smtClean="0">
                <a:latin typeface="Helvetica" pitchFamily="34" charset="0"/>
              </a:rPr>
              <a:t>A = grabs </a:t>
            </a:r>
            <a:r>
              <a:rPr lang="en-AU" b="1" dirty="0" smtClean="0">
                <a:latin typeface="Helvetica" pitchFamily="34" charset="0"/>
              </a:rPr>
              <a:t>A</a:t>
            </a:r>
            <a:r>
              <a:rPr lang="en-AU" dirty="0" smtClean="0">
                <a:latin typeface="Helvetica" pitchFamily="34" charset="0"/>
              </a:rPr>
              <a:t>ttention</a:t>
            </a:r>
            <a:r>
              <a:rPr lang="en-US" dirty="0" smtClean="0">
                <a:latin typeface="Helvetica" pitchFamily="34" charset="0"/>
              </a:rPr>
              <a:t>:</a:t>
            </a:r>
          </a:p>
          <a:p>
            <a:pPr marL="360000" indent="-360000">
              <a:spcBef>
                <a:spcPts val="600"/>
              </a:spcBef>
              <a:spcAft>
                <a:spcPts val="1200"/>
              </a:spcAft>
            </a:pPr>
            <a:r>
              <a:rPr lang="en-AU" dirty="0" smtClean="0">
                <a:latin typeface="Helvetica" pitchFamily="34" charset="0"/>
              </a:rPr>
              <a:t>Catch the reader’s attention and get them to pick up the brochure</a:t>
            </a:r>
          </a:p>
          <a:p>
            <a:pPr marL="360000" indent="-360000">
              <a:spcBef>
                <a:spcPts val="600"/>
              </a:spcBef>
              <a:spcAft>
                <a:spcPts val="1200"/>
              </a:spcAft>
            </a:pPr>
            <a:r>
              <a:rPr lang="en-AU" dirty="0" smtClean="0">
                <a:latin typeface="Helvetica" pitchFamily="34" charset="0"/>
              </a:rPr>
              <a:t>Make the reader open the first page</a:t>
            </a:r>
          </a:p>
          <a:p>
            <a:pPr marL="360000" indent="-360000">
              <a:spcBef>
                <a:spcPts val="600"/>
              </a:spcBef>
              <a:spcAft>
                <a:spcPts val="1200"/>
              </a:spcAft>
            </a:pPr>
            <a:r>
              <a:rPr lang="en-AU" dirty="0" smtClean="0">
                <a:latin typeface="Helvetica" pitchFamily="34" charset="0"/>
              </a:rPr>
              <a:t>Make the reader keep reading the brochure until all the information is absorbed.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967663" y="1452712"/>
            <a:ext cx="2110629" cy="3240000"/>
          </a:xfrm>
          <a:prstGeom prst="rect">
            <a:avLst/>
          </a:prstGeom>
        </p:spPr>
      </p:pic>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AU" dirty="0" smtClean="0">
                <a:latin typeface="Helvetica" pitchFamily="34" charset="0"/>
              </a:rPr>
              <a:t>I = appeals to the peoples’ self-</a:t>
            </a:r>
            <a:r>
              <a:rPr lang="en-AU" b="1" dirty="0" smtClean="0">
                <a:latin typeface="Helvetica" pitchFamily="34" charset="0"/>
              </a:rPr>
              <a:t>I</a:t>
            </a:r>
            <a:r>
              <a:rPr lang="en-AU" dirty="0" smtClean="0">
                <a:latin typeface="Helvetica" pitchFamily="34" charset="0"/>
              </a:rPr>
              <a:t>nterest</a:t>
            </a:r>
            <a:r>
              <a:rPr lang="en-US" dirty="0" smtClean="0">
                <a:latin typeface="Helvetica" pitchFamily="34" charset="0"/>
              </a:rPr>
              <a:t>:</a:t>
            </a:r>
          </a:p>
          <a:p>
            <a:pPr marL="360000" indent="-360000">
              <a:spcBef>
                <a:spcPts val="600"/>
              </a:spcBef>
              <a:spcAft>
                <a:spcPts val="1200"/>
              </a:spcAft>
            </a:pPr>
            <a:r>
              <a:rPr lang="en-AU" dirty="0" smtClean="0">
                <a:latin typeface="Helvetica" pitchFamily="34" charset="0"/>
              </a:rPr>
              <a:t>The brochure must look interesting to the reader</a:t>
            </a:r>
          </a:p>
          <a:p>
            <a:pPr marL="360000" indent="-360000">
              <a:spcBef>
                <a:spcPts val="600"/>
              </a:spcBef>
              <a:spcAft>
                <a:spcPts val="1200"/>
              </a:spcAft>
            </a:pPr>
            <a:r>
              <a:rPr lang="en-AU" dirty="0" smtClean="0">
                <a:latin typeface="Helvetica" pitchFamily="34" charset="0"/>
              </a:rPr>
              <a:t>The brochure must be interesting to the reader</a:t>
            </a:r>
          </a:p>
          <a:p>
            <a:pPr marL="360000" indent="-360000">
              <a:spcBef>
                <a:spcPts val="600"/>
              </a:spcBef>
              <a:spcAft>
                <a:spcPts val="1200"/>
              </a:spcAft>
            </a:pPr>
            <a:r>
              <a:rPr lang="en-AU" dirty="0" smtClean="0">
                <a:latin typeface="Helvetica" pitchFamily="34" charset="0"/>
              </a:rPr>
              <a:t>The brochure should be easy to read and understand.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540309" y="1505372"/>
            <a:ext cx="2341252" cy="3240000"/>
          </a:xfrm>
          <a:prstGeom prst="rect">
            <a:avLst/>
          </a:prstGeom>
        </p:spPr>
      </p:pic>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536504"/>
          </a:xfrm>
        </p:spPr>
        <p:txBody>
          <a:bodyPr>
            <a:normAutofit fontScale="92500" lnSpcReduction="20000"/>
          </a:bodyPr>
          <a:lstStyle/>
          <a:p>
            <a:pPr marL="0" indent="0">
              <a:spcBef>
                <a:spcPts val="600"/>
              </a:spcBef>
              <a:spcAft>
                <a:spcPts val="1200"/>
              </a:spcAft>
              <a:buNone/>
            </a:pPr>
            <a:r>
              <a:rPr lang="en-AU" sz="2200" dirty="0" smtClean="0">
                <a:latin typeface="Helvetica" pitchFamily="34" charset="0"/>
              </a:rPr>
              <a:t>D = arouses the </a:t>
            </a:r>
            <a:r>
              <a:rPr lang="en-AU" sz="2200" b="1" dirty="0" smtClean="0">
                <a:latin typeface="Helvetica" pitchFamily="34" charset="0"/>
              </a:rPr>
              <a:t>D</a:t>
            </a:r>
            <a:r>
              <a:rPr lang="en-AU" sz="2200" dirty="0" smtClean="0">
                <a:latin typeface="Helvetica" pitchFamily="34" charset="0"/>
              </a:rPr>
              <a:t>esire to buy</a:t>
            </a:r>
            <a:r>
              <a:rPr lang="en-US" sz="2200" dirty="0" smtClean="0">
                <a:latin typeface="Helvetica" pitchFamily="34" charset="0"/>
              </a:rPr>
              <a:t>:</a:t>
            </a:r>
          </a:p>
          <a:p>
            <a:pPr marL="360000" indent="-360000">
              <a:spcBef>
                <a:spcPts val="600"/>
              </a:spcBef>
              <a:spcAft>
                <a:spcPts val="1200"/>
              </a:spcAft>
            </a:pPr>
            <a:r>
              <a:rPr lang="en-AU" sz="2200" dirty="0" smtClean="0">
                <a:latin typeface="Helvetica" pitchFamily="34" charset="0"/>
              </a:rPr>
              <a:t>Brochure needs to make sure the reader distinguishes what is being offered from other offers or similar offers</a:t>
            </a:r>
          </a:p>
          <a:p>
            <a:pPr marL="360000" indent="-360000">
              <a:spcBef>
                <a:spcPts val="600"/>
              </a:spcBef>
              <a:spcAft>
                <a:spcPts val="1200"/>
              </a:spcAft>
            </a:pPr>
            <a:r>
              <a:rPr lang="en-AU" sz="2200" dirty="0" smtClean="0">
                <a:latin typeface="Helvetica" pitchFamily="34" charset="0"/>
              </a:rPr>
              <a:t>Brochure should demonstrate why the organisation and what it is offering is better than or different to what the opposition is offering</a:t>
            </a:r>
          </a:p>
          <a:p>
            <a:pPr marL="360000" indent="-360000">
              <a:spcBef>
                <a:spcPts val="600"/>
              </a:spcBef>
              <a:spcAft>
                <a:spcPts val="1200"/>
              </a:spcAft>
            </a:pPr>
            <a:r>
              <a:rPr lang="en-AU" sz="2200" dirty="0" smtClean="0">
                <a:latin typeface="Helvetica" pitchFamily="34" charset="0"/>
              </a:rPr>
              <a:t>Brochure should persuade the reader to agree that ‘it’ (what is being offered/promoted) is the only one for them.</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540309" y="1452712"/>
            <a:ext cx="2613091" cy="3633589"/>
          </a:xfrm>
          <a:prstGeom prst="rect">
            <a:avLst/>
          </a:prstGeom>
        </p:spPr>
      </p:pic>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AU" dirty="0" smtClean="0">
                <a:latin typeface="Helvetica" pitchFamily="34" charset="0"/>
              </a:rPr>
              <a:t>A = urges people to take </a:t>
            </a:r>
            <a:r>
              <a:rPr lang="en-AU" b="1" dirty="0" smtClean="0">
                <a:latin typeface="Helvetica" pitchFamily="34" charset="0"/>
              </a:rPr>
              <a:t>A</a:t>
            </a:r>
            <a:r>
              <a:rPr lang="en-AU" dirty="0" smtClean="0">
                <a:latin typeface="Helvetica" pitchFamily="34" charset="0"/>
              </a:rPr>
              <a:t>ction</a:t>
            </a:r>
            <a:r>
              <a:rPr lang="en-US" dirty="0" smtClean="0">
                <a:latin typeface="Helvetica" pitchFamily="34" charset="0"/>
              </a:rPr>
              <a:t>:</a:t>
            </a:r>
          </a:p>
          <a:p>
            <a:pPr marL="360000" indent="-360000">
              <a:spcBef>
                <a:spcPts val="600"/>
              </a:spcBef>
              <a:spcAft>
                <a:spcPts val="1200"/>
              </a:spcAft>
            </a:pPr>
            <a:r>
              <a:rPr lang="en-AU" dirty="0" smtClean="0">
                <a:latin typeface="Helvetica" pitchFamily="34" charset="0"/>
              </a:rPr>
              <a:t>Explain what the potential buyer needs to do in order to take the next step</a:t>
            </a:r>
          </a:p>
          <a:p>
            <a:r>
              <a:rPr lang="en-AU" dirty="0" smtClean="0">
                <a:latin typeface="Helvetica" pitchFamily="34" charset="0"/>
              </a:rPr>
              <a:t>Make this important step as simple as possible for the customer to follow.</a:t>
            </a:r>
          </a:p>
          <a:p>
            <a:pPr marL="360000" indent="-360000">
              <a:spcBef>
                <a:spcPts val="600"/>
              </a:spcBef>
              <a:spcAft>
                <a:spcPts val="1200"/>
              </a:spcAft>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700808"/>
            <a:ext cx="2160000" cy="3240000"/>
          </a:xfrm>
          <a:prstGeom prst="rect">
            <a:avLst/>
          </a:prstGeom>
        </p:spPr>
      </p:pic>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Tips on writing copy:</a:t>
            </a:r>
          </a:p>
          <a:p>
            <a:pPr marL="360000" indent="-360000">
              <a:spcBef>
                <a:spcPts val="600"/>
              </a:spcBef>
              <a:spcAft>
                <a:spcPts val="1200"/>
              </a:spcAft>
            </a:pPr>
            <a:r>
              <a:rPr lang="en-US" sz="2200" dirty="0" smtClean="0">
                <a:latin typeface="Helvetica" pitchFamily="34" charset="0"/>
              </a:rPr>
              <a:t>Read lots of brochures – to learn from them</a:t>
            </a:r>
          </a:p>
          <a:p>
            <a:pPr marL="360000" indent="-360000">
              <a:spcBef>
                <a:spcPts val="600"/>
              </a:spcBef>
              <a:spcAft>
                <a:spcPts val="1200"/>
              </a:spcAft>
            </a:pPr>
            <a:r>
              <a:rPr lang="en-US" sz="2200" dirty="0" smtClean="0">
                <a:latin typeface="Helvetica" pitchFamily="34" charset="0"/>
              </a:rPr>
              <a:t>Write with a customer in mind – write to someone</a:t>
            </a:r>
          </a:p>
          <a:p>
            <a:pPr marL="360000" indent="-360000">
              <a:spcBef>
                <a:spcPts val="600"/>
              </a:spcBef>
              <a:spcAft>
                <a:spcPts val="1200"/>
              </a:spcAft>
            </a:pPr>
            <a:r>
              <a:rPr lang="en-US" sz="2200" dirty="0" smtClean="0">
                <a:latin typeface="Helvetica" pitchFamily="34" charset="0"/>
              </a:rPr>
              <a:t>Identify one key message – to be the focus</a:t>
            </a:r>
          </a:p>
          <a:p>
            <a:pPr marL="360000" indent="-360000">
              <a:spcBef>
                <a:spcPts val="600"/>
              </a:spcBef>
              <a:spcAft>
                <a:spcPts val="1200"/>
              </a:spcAft>
            </a:pPr>
            <a:r>
              <a:rPr lang="en-US" sz="2200" dirty="0" smtClean="0">
                <a:latin typeface="Helvetica" pitchFamily="34" charset="0"/>
              </a:rPr>
              <a:t>Highlight the benefit – use ‘trigger’ words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60032" y="2204864"/>
            <a:ext cx="2505168" cy="3240000"/>
          </a:xfrm>
          <a:prstGeom prst="rect">
            <a:avLst/>
          </a:prstGeom>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Do not over-crowd the page – less is more</a:t>
            </a:r>
          </a:p>
          <a:p>
            <a:pPr marL="360000" indent="-360000">
              <a:spcBef>
                <a:spcPts val="600"/>
              </a:spcBef>
              <a:spcAft>
                <a:spcPts val="1200"/>
              </a:spcAft>
            </a:pPr>
            <a:r>
              <a:rPr lang="en-US" dirty="0" smtClean="0">
                <a:latin typeface="Helvetica" pitchFamily="34" charset="0"/>
              </a:rPr>
              <a:t>Use ‘you’ – it personalises the message</a:t>
            </a:r>
          </a:p>
          <a:p>
            <a:pPr marL="360000" indent="-360000">
              <a:spcBef>
                <a:spcPts val="600"/>
              </a:spcBef>
              <a:spcAft>
                <a:spcPts val="1200"/>
              </a:spcAft>
            </a:pPr>
            <a:r>
              <a:rPr lang="en-US" dirty="0" smtClean="0">
                <a:latin typeface="Helvetica" pitchFamily="34" charset="0"/>
              </a:rPr>
              <a:t>Raise questions – to engage the reader</a:t>
            </a:r>
          </a:p>
          <a:p>
            <a:pPr marL="360000" indent="-360000">
              <a:spcBef>
                <a:spcPts val="600"/>
              </a:spcBef>
              <a:spcAft>
                <a:spcPts val="1200"/>
              </a:spcAft>
            </a:pPr>
            <a:r>
              <a:rPr lang="en-US" dirty="0" smtClean="0">
                <a:latin typeface="Helvetica" pitchFamily="34" charset="0"/>
              </a:rPr>
              <a:t>Avoid long passages of text – they are boring</a:t>
            </a:r>
          </a:p>
          <a:p>
            <a:pPr marL="360000" indent="-360000">
              <a:spcBef>
                <a:spcPts val="600"/>
              </a:spcBef>
              <a:spcAft>
                <a:spcPts val="1200"/>
              </a:spcAft>
              <a:buNone/>
            </a:pPr>
            <a:r>
              <a:rPr lang="en-US" sz="1400" dirty="0" smtClean="0">
                <a:latin typeface="Helvetica" pitchFamily="34" charset="0"/>
              </a:rPr>
              <a:t>(Continued)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52777" y="1705170"/>
            <a:ext cx="2494800" cy="3240000"/>
          </a:xfrm>
          <a:prstGeom prst="rect">
            <a:avLst/>
          </a:prstGeom>
        </p:spPr>
      </p:pic>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360000" indent="-360000">
              <a:spcBef>
                <a:spcPts val="600"/>
              </a:spcBef>
              <a:spcAft>
                <a:spcPts val="1200"/>
              </a:spcAft>
            </a:pPr>
            <a:r>
              <a:rPr lang="en-US" sz="2200" dirty="0" smtClean="0">
                <a:latin typeface="Helvetica" pitchFamily="34" charset="0"/>
              </a:rPr>
              <a:t>Consider a slogan – they can be ’catchy’ and memorable</a:t>
            </a:r>
          </a:p>
          <a:p>
            <a:pPr marL="360000" indent="-360000">
              <a:spcBef>
                <a:spcPts val="600"/>
              </a:spcBef>
              <a:spcAft>
                <a:spcPts val="1200"/>
              </a:spcAft>
            </a:pPr>
            <a:r>
              <a:rPr lang="en-US" sz="2200" dirty="0" smtClean="0">
                <a:latin typeface="Helvetica" pitchFamily="34" charset="0"/>
              </a:rPr>
              <a:t>Put in a map – to show relative locations and distances</a:t>
            </a:r>
          </a:p>
          <a:p>
            <a:pPr marL="360000" indent="-360000">
              <a:spcBef>
                <a:spcPts val="600"/>
              </a:spcBef>
              <a:spcAft>
                <a:spcPts val="1200"/>
              </a:spcAft>
            </a:pPr>
            <a:r>
              <a:rPr lang="en-US" sz="2200" dirty="0" smtClean="0">
                <a:latin typeface="Helvetica" pitchFamily="34" charset="0"/>
              </a:rPr>
              <a:t>Include required detail from partners</a:t>
            </a:r>
          </a:p>
          <a:p>
            <a:pPr marL="360000" indent="-360000">
              <a:spcBef>
                <a:spcPts val="600"/>
              </a:spcBef>
              <a:spcAft>
                <a:spcPts val="1200"/>
              </a:spcAft>
            </a:pPr>
            <a:r>
              <a:rPr lang="en-US" sz="2200" dirty="0" smtClean="0">
                <a:latin typeface="Helvetica" pitchFamily="34" charset="0"/>
              </a:rPr>
              <a:t>Make sure ‘required’ organisational statements are included  </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59</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35170" y="1705170"/>
            <a:ext cx="2711256" cy="3392462"/>
          </a:xfrm>
          <a:prstGeom prst="rect">
            <a:avLst/>
          </a:prstGeom>
        </p:spPr>
      </p:pic>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Determine the copy for the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Confirm material is copyright free – check ©, obtain copyright clearance if needed</a:t>
            </a:r>
          </a:p>
          <a:p>
            <a:pPr marL="360000" indent="-360000">
              <a:spcBef>
                <a:spcPts val="600"/>
              </a:spcBef>
              <a:spcAft>
                <a:spcPts val="1200"/>
              </a:spcAft>
            </a:pPr>
            <a:r>
              <a:rPr lang="en-US" dirty="0" smtClean="0">
                <a:latin typeface="Helvetica" pitchFamily="34" charset="0"/>
              </a:rPr>
              <a:t>Use photographs – to show happy customers and the local area/attractions</a:t>
            </a:r>
          </a:p>
          <a:p>
            <a:pPr marL="360000" indent="-360000">
              <a:spcBef>
                <a:spcPts val="600"/>
              </a:spcBef>
              <a:spcAft>
                <a:spcPts val="1200"/>
              </a:spcAft>
            </a:pPr>
            <a:r>
              <a:rPr lang="en-US" dirty="0" smtClean="0">
                <a:latin typeface="Helvetica" pitchFamily="34" charset="0"/>
              </a:rPr>
              <a:t>Tell the truth – be honest</a:t>
            </a:r>
          </a:p>
          <a:p>
            <a:pPr marL="360000" indent="-360000">
              <a:spcBef>
                <a:spcPts val="600"/>
              </a:spcBef>
              <a:spcAft>
                <a:spcPts val="1200"/>
              </a:spcAft>
            </a:pPr>
            <a:r>
              <a:rPr lang="en-US" dirty="0" smtClean="0">
                <a:latin typeface="Helvetica" pitchFamily="34" charset="0"/>
              </a:rPr>
              <a:t>Write a draft – and revise, revise, revise.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60</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602819"/>
            <a:ext cx="2880003" cy="3469883"/>
          </a:xfrm>
          <a:prstGeom prst="rect">
            <a:avLst/>
          </a:prstGeom>
        </p:spPr>
      </p:pic>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3960440" cy="4525963"/>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managing inclusions for brochures and marketing materials</a:t>
            </a:r>
            <a:r>
              <a:rPr lang="en-US" sz="2200" dirty="0" smtClean="0">
                <a:latin typeface="Helvetica" pitchFamily="34" charset="0"/>
              </a:rPr>
              <a:t>:</a:t>
            </a:r>
          </a:p>
          <a:p>
            <a:pPr>
              <a:spcBef>
                <a:spcPts val="600"/>
              </a:spcBef>
              <a:spcAft>
                <a:spcPts val="600"/>
              </a:spcAft>
            </a:pPr>
            <a:r>
              <a:rPr lang="en-AU" sz="2200" dirty="0" smtClean="0">
                <a:latin typeface="Helvetica" pitchFamily="34" charset="0"/>
              </a:rPr>
              <a:t>Identify and describe the markets being targeted</a:t>
            </a:r>
          </a:p>
          <a:p>
            <a:pPr>
              <a:spcBef>
                <a:spcPts val="600"/>
              </a:spcBef>
              <a:spcAft>
                <a:spcPts val="600"/>
              </a:spcAft>
            </a:pPr>
            <a:r>
              <a:rPr lang="en-AU" sz="2200" dirty="0" smtClean="0">
                <a:latin typeface="Helvetica" pitchFamily="34" charset="0"/>
              </a:rPr>
              <a:t>Match content and means to the market/s</a:t>
            </a:r>
          </a:p>
          <a:p>
            <a:pPr>
              <a:spcBef>
                <a:spcPts val="600"/>
              </a:spcBef>
              <a:spcAft>
                <a:spcPts val="600"/>
              </a:spcAft>
            </a:pPr>
            <a:r>
              <a:rPr lang="en-AU" sz="2200" dirty="0" smtClean="0">
                <a:latin typeface="Helvetica" pitchFamily="34" charset="0"/>
              </a:rPr>
              <a:t>Realise there can be many and diverse markets </a:t>
            </a:r>
          </a:p>
          <a:p>
            <a:pPr>
              <a:spcBef>
                <a:spcPts val="600"/>
              </a:spcBef>
              <a:spcAft>
                <a:spcPts val="600"/>
              </a:spcAft>
            </a:pPr>
            <a:r>
              <a:rPr lang="en-AU" sz="2200" dirty="0" smtClean="0">
                <a:latin typeface="Helvetica" pitchFamily="34" charset="0"/>
              </a:rPr>
              <a:t>Spend time determining exact content</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44008" y="1610544"/>
            <a:ext cx="4168543" cy="3240000"/>
          </a:xfrm>
          <a:prstGeom prst="rect">
            <a:avLst/>
          </a:prstGeom>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a:spcBef>
                <a:spcPts val="600"/>
              </a:spcBef>
              <a:spcAft>
                <a:spcPts val="600"/>
              </a:spcAft>
            </a:pPr>
            <a:r>
              <a:rPr lang="en-AU" sz="2200" dirty="0" smtClean="0">
                <a:latin typeface="Helvetica" pitchFamily="34" charset="0"/>
              </a:rPr>
              <a:t>Align content with identified market need and organisational objectives</a:t>
            </a:r>
          </a:p>
          <a:p>
            <a:pPr>
              <a:spcBef>
                <a:spcPts val="600"/>
              </a:spcBef>
              <a:spcAft>
                <a:spcPts val="600"/>
              </a:spcAft>
            </a:pPr>
            <a:r>
              <a:rPr lang="en-AU" sz="2200" dirty="0" smtClean="0">
                <a:latin typeface="Helvetica" pitchFamily="34" charset="0"/>
              </a:rPr>
              <a:t>Use a format and layout appropriate to the item and the audience</a:t>
            </a:r>
          </a:p>
          <a:p>
            <a:pPr>
              <a:spcBef>
                <a:spcPts val="600"/>
              </a:spcBef>
              <a:spcAft>
                <a:spcPts val="600"/>
              </a:spcAft>
            </a:pPr>
            <a:r>
              <a:rPr lang="en-AU" sz="2200" dirty="0" smtClean="0">
                <a:latin typeface="Helvetica" pitchFamily="34" charset="0"/>
              </a:rPr>
              <a:t>Write copy in terms easily understood by intended readers</a:t>
            </a:r>
          </a:p>
          <a:p>
            <a:pPr>
              <a:spcBef>
                <a:spcPts val="600"/>
              </a:spcBef>
              <a:spcAft>
                <a:spcPts val="600"/>
              </a:spcAft>
            </a:pPr>
            <a:r>
              <a:rPr lang="en-AU" sz="2200" dirty="0" smtClean="0">
                <a:latin typeface="Helvetica" pitchFamily="34" charset="0"/>
              </a:rPr>
              <a:t>Avoid jargon for items aimed at customers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283968" y="1653362"/>
            <a:ext cx="4299617" cy="3240000"/>
          </a:xfrm>
          <a:prstGeom prst="rect">
            <a:avLst/>
          </a:prstGeom>
        </p:spPr>
      </p:pic>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2</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r>
              <a:rPr lang="en-AU" dirty="0" smtClean="0">
                <a:latin typeface="Helvetica" pitchFamily="34" charset="0"/>
              </a:rPr>
              <a:t>Make sure all details, facts and prices are correct and current</a:t>
            </a:r>
          </a:p>
          <a:p>
            <a:r>
              <a:rPr lang="en-AU" dirty="0" smtClean="0">
                <a:latin typeface="Helvetica" pitchFamily="34" charset="0"/>
              </a:rPr>
              <a:t>Be honest and never seek to mislead</a:t>
            </a:r>
          </a:p>
          <a:p>
            <a:r>
              <a:rPr lang="en-AU" dirty="0" smtClean="0">
                <a:latin typeface="Helvetica" pitchFamily="34" charset="0"/>
              </a:rPr>
              <a:t>Consider using the AIDA principle</a:t>
            </a:r>
          </a:p>
          <a:p>
            <a:r>
              <a:rPr lang="en-AU" dirty="0" smtClean="0">
                <a:latin typeface="Helvetica" pitchFamily="34" charset="0"/>
              </a:rPr>
              <a:t>Observe copyright.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63</a:t>
            </a:fld>
            <a:endParaRPr lang="en-US" dirty="0">
              <a:latin typeface="Helvetica" pitchFamily="34" charset="0"/>
            </a:endParaRPr>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355976" y="1628800"/>
            <a:ext cx="4289970" cy="3240000"/>
          </a:xfrm>
          <a:prstGeom prst="rect">
            <a:avLst/>
          </a:prstGeom>
        </p:spPr>
      </p:pic>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Element 3 – Administer activities relating to the production of draft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Performance Criteria for this Element are:</a:t>
            </a:r>
          </a:p>
          <a:p>
            <a:pPr marL="360000" indent="-360000">
              <a:spcBef>
                <a:spcPts val="600"/>
              </a:spcBef>
              <a:spcAft>
                <a:spcPts val="1200"/>
              </a:spcAft>
            </a:pPr>
            <a:r>
              <a:rPr lang="en-US" dirty="0" smtClean="0">
                <a:latin typeface="Helvetica" pitchFamily="34" charset="0"/>
              </a:rPr>
              <a:t>Provide resources for the production of draft items</a:t>
            </a:r>
          </a:p>
          <a:p>
            <a:pPr marL="360000" indent="-360000">
              <a:spcBef>
                <a:spcPts val="600"/>
              </a:spcBef>
              <a:spcAft>
                <a:spcPts val="1200"/>
              </a:spcAft>
            </a:pPr>
            <a:r>
              <a:rPr lang="en-US" dirty="0" smtClean="0">
                <a:latin typeface="Helvetica" pitchFamily="34" charset="0"/>
              </a:rPr>
              <a:t>Proof read material</a:t>
            </a:r>
          </a:p>
          <a:p>
            <a:pPr marL="360000" indent="-360000">
              <a:spcBef>
                <a:spcPts val="600"/>
              </a:spcBef>
              <a:spcAft>
                <a:spcPts val="1200"/>
              </a:spcAft>
            </a:pPr>
            <a:r>
              <a:rPr lang="en-US" dirty="0" smtClean="0">
                <a:latin typeface="Helvetica" pitchFamily="34" charset="0"/>
              </a:rPr>
              <a:t>Circulate items for comment and feedback.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772816"/>
            <a:ext cx="2160000" cy="3240000"/>
          </a:xfrm>
          <a:prstGeom prst="rect">
            <a:avLst/>
          </a:prstGeom>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resources for the production of draft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Resources required:</a:t>
            </a:r>
          </a:p>
          <a:p>
            <a:pPr marL="360000" indent="-360000">
              <a:spcBef>
                <a:spcPts val="600"/>
              </a:spcBef>
              <a:spcAft>
                <a:spcPts val="1200"/>
              </a:spcAft>
            </a:pPr>
            <a:r>
              <a:rPr lang="en-US" dirty="0" smtClean="0">
                <a:latin typeface="Helvetica" pitchFamily="34" charset="0"/>
              </a:rPr>
              <a:t>Financial resources: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There is ALWAYS a limit</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Money be allocated to items or departments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Funding may be available from external sources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65</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resources for the production of draft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Physical resources: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Photographs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Sample brochures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Maps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DTP technology</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1252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resources for the production of draft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Human resources: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Staff to assist with work</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Employees with specialist knowledge/expertise</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Workers to back-fill those working on the materials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May include external professionals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67</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200030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resources for the production of draft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544616" cy="4608512"/>
          </a:xfrm>
        </p:spPr>
        <p:txBody>
          <a:bodyPr>
            <a:noAutofit/>
          </a:bodyPr>
          <a:lstStyle/>
          <a:p>
            <a:pPr marL="360000" indent="-360000">
              <a:spcBef>
                <a:spcPts val="400"/>
              </a:spcBef>
              <a:spcAft>
                <a:spcPts val="400"/>
              </a:spcAft>
            </a:pPr>
            <a:r>
              <a:rPr lang="en-US" dirty="0" smtClean="0">
                <a:latin typeface="Helvetica" pitchFamily="34" charset="0"/>
              </a:rPr>
              <a:t>Information:</a:t>
            </a:r>
          </a:p>
          <a:p>
            <a:pPr marL="720000" indent="-360000">
              <a:spcBef>
                <a:spcPts val="400"/>
              </a:spcBef>
              <a:spcAft>
                <a:spcPts val="400"/>
              </a:spcAft>
              <a:buClr>
                <a:schemeClr val="accent1">
                  <a:lumMod val="75000"/>
                </a:schemeClr>
              </a:buClr>
              <a:buSzPct val="100000"/>
              <a:buFont typeface="Arial" pitchFamily="34" charset="0"/>
              <a:buChar char="•"/>
            </a:pPr>
            <a:r>
              <a:rPr lang="en-US" dirty="0" smtClean="0">
                <a:latin typeface="Helvetica" pitchFamily="34" charset="0"/>
              </a:rPr>
              <a:t>A key element/resource for </a:t>
            </a:r>
            <a:br>
              <a:rPr lang="en-US" dirty="0" smtClean="0">
                <a:latin typeface="Helvetica" pitchFamily="34" charset="0"/>
              </a:rPr>
            </a:br>
            <a:r>
              <a:rPr lang="en-US" dirty="0" smtClean="0">
                <a:latin typeface="Helvetica" pitchFamily="34" charset="0"/>
              </a:rPr>
              <a:t>all brochures</a:t>
            </a:r>
          </a:p>
          <a:p>
            <a:pPr marL="720000" indent="-360000">
              <a:spcBef>
                <a:spcPts val="400"/>
              </a:spcBef>
              <a:spcAft>
                <a:spcPts val="400"/>
              </a:spcAft>
              <a:buClr>
                <a:schemeClr val="accent1">
                  <a:lumMod val="75000"/>
                </a:schemeClr>
              </a:buClr>
              <a:buSzPct val="100000"/>
              <a:buFont typeface="Arial" pitchFamily="34" charset="0"/>
              <a:buChar char="•"/>
            </a:pPr>
            <a:r>
              <a:rPr lang="en-US" dirty="0" smtClean="0">
                <a:latin typeface="Helvetica" pitchFamily="34" charset="0"/>
              </a:rPr>
              <a:t>Times, dates and prices</a:t>
            </a:r>
          </a:p>
          <a:p>
            <a:pPr marL="720000" indent="-360000">
              <a:spcBef>
                <a:spcPts val="400"/>
              </a:spcBef>
              <a:spcAft>
                <a:spcPts val="400"/>
              </a:spcAft>
              <a:buClr>
                <a:schemeClr val="accent1">
                  <a:lumMod val="75000"/>
                </a:schemeClr>
              </a:buClr>
              <a:buSzPct val="100000"/>
              <a:buFont typeface="Arial" pitchFamily="34" charset="0"/>
              <a:buChar char="•"/>
            </a:pPr>
            <a:r>
              <a:rPr lang="en-US" dirty="0" smtClean="0">
                <a:latin typeface="Helvetica" pitchFamily="34" charset="0"/>
              </a:rPr>
              <a:t>Inclusions, destinations and </a:t>
            </a:r>
            <a:br>
              <a:rPr lang="en-US" dirty="0" smtClean="0">
                <a:latin typeface="Helvetica" pitchFamily="34" charset="0"/>
              </a:rPr>
            </a:br>
            <a:r>
              <a:rPr lang="en-US" dirty="0" smtClean="0">
                <a:latin typeface="Helvetica" pitchFamily="34" charset="0"/>
              </a:rPr>
              <a:t>attractions</a:t>
            </a:r>
          </a:p>
          <a:p>
            <a:pPr marL="720000" indent="-360000">
              <a:spcBef>
                <a:spcPts val="400"/>
              </a:spcBef>
              <a:spcAft>
                <a:spcPts val="400"/>
              </a:spcAft>
              <a:buClr>
                <a:schemeClr val="accent1">
                  <a:lumMod val="75000"/>
                </a:schemeClr>
              </a:buClr>
              <a:buSzPct val="100000"/>
              <a:buFont typeface="Arial" pitchFamily="34" charset="0"/>
              <a:buChar char="•"/>
            </a:pPr>
            <a:r>
              <a:rPr lang="en-US" dirty="0" smtClean="0">
                <a:latin typeface="Helvetica" pitchFamily="34" charset="0"/>
              </a:rPr>
              <a:t>Facts and figures</a:t>
            </a:r>
          </a:p>
          <a:p>
            <a:pPr marL="720000" indent="-360000">
              <a:spcBef>
                <a:spcPts val="400"/>
              </a:spcBef>
              <a:spcAft>
                <a:spcPts val="400"/>
              </a:spcAft>
              <a:buClr>
                <a:schemeClr val="accent1">
                  <a:lumMod val="75000"/>
                </a:schemeClr>
              </a:buClr>
              <a:buSzPct val="100000"/>
              <a:buFont typeface="Arial" pitchFamily="34" charset="0"/>
              <a:buChar char="•"/>
            </a:pPr>
            <a:r>
              <a:rPr lang="en-US" dirty="0" smtClean="0">
                <a:latin typeface="Helvetica" pitchFamily="34" charset="0"/>
              </a:rPr>
              <a:t>Immigration, customs and </a:t>
            </a:r>
            <a:br>
              <a:rPr lang="en-US" dirty="0" smtClean="0">
                <a:latin typeface="Helvetica" pitchFamily="34" charset="0"/>
              </a:rPr>
            </a:br>
            <a:r>
              <a:rPr lang="en-US" dirty="0" smtClean="0">
                <a:latin typeface="Helvetica" pitchFamily="34" charset="0"/>
              </a:rPr>
              <a:t>taxes</a:t>
            </a:r>
          </a:p>
          <a:p>
            <a:pPr marL="720000" indent="-360000">
              <a:spcBef>
                <a:spcPts val="400"/>
              </a:spcBef>
              <a:spcAft>
                <a:spcPts val="400"/>
              </a:spcAft>
              <a:buClr>
                <a:schemeClr val="accent1">
                  <a:lumMod val="75000"/>
                </a:schemeClr>
              </a:buClr>
              <a:buSzPct val="100000"/>
              <a:buFont typeface="Arial" pitchFamily="34" charset="0"/>
              <a:buChar char="•"/>
            </a:pPr>
            <a:r>
              <a:rPr lang="en-US" dirty="0" smtClean="0">
                <a:latin typeface="Helvetica" pitchFamily="34" charset="0"/>
              </a:rPr>
              <a:t>Geographic and historical information</a:t>
            </a:r>
          </a:p>
          <a:p>
            <a:pPr marL="720000" indent="-360000">
              <a:spcBef>
                <a:spcPts val="400"/>
              </a:spcBef>
              <a:spcAft>
                <a:spcPts val="400"/>
              </a:spcAft>
              <a:buClr>
                <a:schemeClr val="accent1">
                  <a:lumMod val="75000"/>
                </a:schemeClr>
              </a:buClr>
              <a:buSzPct val="100000"/>
              <a:buFont typeface="Arial" pitchFamily="34" charset="0"/>
              <a:buChar char="•"/>
            </a:pPr>
            <a:r>
              <a:rPr lang="en-US" dirty="0" smtClean="0">
                <a:latin typeface="Helvetica" pitchFamily="34" charset="0"/>
              </a:rPr>
              <a:t>Company policies, terms and </a:t>
            </a:r>
            <a:br>
              <a:rPr lang="en-US" dirty="0" smtClean="0">
                <a:latin typeface="Helvetica" pitchFamily="34" charset="0"/>
              </a:rPr>
            </a:br>
            <a:r>
              <a:rPr lang="en-US" dirty="0" smtClean="0">
                <a:latin typeface="Helvetica" pitchFamily="34" charset="0"/>
              </a:rPr>
              <a:t>conditions.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68</a:t>
            </a:fld>
            <a:endParaRPr lang="en-US" dirty="0">
              <a:latin typeface="Helvetica" pitchFamily="34" charset="0"/>
            </a:endParaRPr>
          </a:p>
        </p:txBody>
      </p:sp>
      <p:pic>
        <p:nvPicPr>
          <p:cNvPr id="6" name="Picture 5"/>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2012876"/>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32048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Proof reading = </a:t>
            </a:r>
            <a:r>
              <a:rPr lang="en-AU" sz="2200" dirty="0" smtClean="0">
                <a:latin typeface="Helvetica" pitchFamily="34" charset="0"/>
              </a:rPr>
              <a:t>checking the material to ensure everything is ‘right’</a:t>
            </a:r>
            <a:r>
              <a:rPr lang="en-US" sz="2200" dirty="0" smtClean="0">
                <a:latin typeface="Helvetica" pitchFamily="34" charset="0"/>
              </a:rPr>
              <a:t>:</a:t>
            </a:r>
          </a:p>
          <a:p>
            <a:pPr marL="360000" indent="-360000">
              <a:spcBef>
                <a:spcPts val="600"/>
              </a:spcBef>
              <a:spcAft>
                <a:spcPts val="1200"/>
              </a:spcAft>
            </a:pPr>
            <a:r>
              <a:rPr lang="en-US" sz="2200" dirty="0" smtClean="0">
                <a:latin typeface="Helvetica" pitchFamily="34" charset="0"/>
              </a:rPr>
              <a:t>A vital and serious element of the process</a:t>
            </a:r>
          </a:p>
          <a:p>
            <a:pPr marL="360000" indent="-360000">
              <a:spcBef>
                <a:spcPts val="600"/>
              </a:spcBef>
              <a:spcAft>
                <a:spcPts val="1200"/>
              </a:spcAft>
            </a:pPr>
            <a:r>
              <a:rPr lang="en-US" sz="2200" dirty="0" smtClean="0">
                <a:latin typeface="Helvetica" pitchFamily="34" charset="0"/>
              </a:rPr>
              <a:t>Lack of proof reading can:</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Reflect badly on the business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Give a bad impression of the service and the organisation</a:t>
            </a:r>
          </a:p>
          <a:p>
            <a:pPr marL="360000" indent="-360000">
              <a:spcBef>
                <a:spcPts val="600"/>
              </a:spcBef>
              <a:spcAft>
                <a:spcPts val="1200"/>
              </a:spcAft>
              <a:buNone/>
            </a:pPr>
            <a:r>
              <a:rPr lang="en-US" sz="1400" dirty="0" smtClean="0">
                <a:latin typeface="Helvetica" pitchFamily="34" charset="0"/>
              </a:rPr>
              <a:t>(Continued)</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69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17840" y="1988840"/>
            <a:ext cx="2861320" cy="2560937"/>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Things to check when proof reading:</a:t>
            </a:r>
          </a:p>
          <a:p>
            <a:pPr marL="360000" indent="-360000">
              <a:spcBef>
                <a:spcPts val="600"/>
              </a:spcBef>
              <a:spcAft>
                <a:spcPts val="1200"/>
              </a:spcAft>
            </a:pPr>
            <a:r>
              <a:rPr lang="en-US" sz="2200" dirty="0" smtClean="0">
                <a:latin typeface="Helvetica" pitchFamily="34" charset="0"/>
              </a:rPr>
              <a:t>Grammatical errors and spelling mistakes</a:t>
            </a:r>
          </a:p>
          <a:p>
            <a:pPr marL="360000" indent="-360000">
              <a:spcBef>
                <a:spcPts val="600"/>
              </a:spcBef>
              <a:spcAft>
                <a:spcPts val="1200"/>
              </a:spcAft>
            </a:pPr>
            <a:r>
              <a:rPr lang="en-US" sz="2200" dirty="0" smtClean="0">
                <a:latin typeface="Helvetica" pitchFamily="34" charset="0"/>
              </a:rPr>
              <a:t>Typos</a:t>
            </a:r>
          </a:p>
          <a:p>
            <a:pPr marL="360000" indent="-360000">
              <a:spcBef>
                <a:spcPts val="600"/>
              </a:spcBef>
              <a:spcAft>
                <a:spcPts val="1200"/>
              </a:spcAft>
            </a:pPr>
            <a:r>
              <a:rPr lang="en-US" sz="2200" dirty="0" smtClean="0">
                <a:latin typeface="Helvetica" pitchFamily="34" charset="0"/>
              </a:rPr>
              <a:t>Omissions</a:t>
            </a:r>
          </a:p>
          <a:p>
            <a:pPr marL="360000" indent="-360000">
              <a:spcBef>
                <a:spcPts val="600"/>
              </a:spcBef>
              <a:spcAft>
                <a:spcPts val="1200"/>
              </a:spcAft>
            </a:pPr>
            <a:r>
              <a:rPr lang="en-US" sz="2200" dirty="0" smtClean="0">
                <a:latin typeface="Helvetica" pitchFamily="34" charset="0"/>
              </a:rPr>
              <a:t>Language used</a:t>
            </a:r>
          </a:p>
          <a:p>
            <a:pPr marL="360000" indent="-360000">
              <a:spcBef>
                <a:spcPts val="600"/>
              </a:spcBef>
              <a:spcAft>
                <a:spcPts val="1200"/>
              </a:spcAft>
            </a:pPr>
            <a:r>
              <a:rPr lang="en-US" sz="2200" dirty="0" smtClean="0">
                <a:latin typeface="Helvetica" pitchFamily="34" charset="0"/>
              </a:rPr>
              <a:t>Inaccuracies and mistakes</a:t>
            </a:r>
          </a:p>
          <a:p>
            <a:pPr marL="360000" indent="-360000">
              <a:spcBef>
                <a:spcPts val="600"/>
              </a:spcBef>
              <a:spcAft>
                <a:spcPts val="1200"/>
              </a:spcAft>
            </a:pPr>
            <a:r>
              <a:rPr lang="en-US" sz="2200" dirty="0" smtClean="0">
                <a:latin typeface="Helvetica" pitchFamily="34" charset="0"/>
              </a:rPr>
              <a:t>Flow, readability and clarity.</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70</a:t>
            </a:fld>
            <a:endParaRPr lang="en-US" dirty="0">
              <a:latin typeface="Helvetica" pitchFamily="34" charset="0"/>
            </a:endParaRP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4639084" y="1988840"/>
            <a:ext cx="3514316"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42910" y="1988840"/>
            <a:ext cx="3929090" cy="4037297"/>
          </a:xfrm>
        </p:spPr>
        <p:txBody>
          <a:bodyPr>
            <a:normAutofit/>
          </a:bodyPr>
          <a:lstStyle/>
          <a:p>
            <a:pPr marL="0" indent="0">
              <a:spcBef>
                <a:spcPts val="600"/>
              </a:spcBef>
              <a:spcAft>
                <a:spcPts val="1200"/>
              </a:spcAft>
              <a:buNone/>
            </a:pPr>
            <a:r>
              <a:rPr lang="en-US" dirty="0" smtClean="0">
                <a:latin typeface="Helvetica" pitchFamily="34" charset="0"/>
              </a:rPr>
              <a:t>Special attention also needs to be paid to:</a:t>
            </a:r>
          </a:p>
          <a:p>
            <a:pPr marL="360000" indent="-360000">
              <a:spcBef>
                <a:spcPts val="600"/>
              </a:spcBef>
              <a:spcAft>
                <a:spcPts val="1200"/>
              </a:spcAft>
            </a:pPr>
            <a:r>
              <a:rPr lang="en-US" dirty="0" smtClean="0">
                <a:latin typeface="Helvetica" pitchFamily="34" charset="0"/>
              </a:rPr>
              <a:t>Prices</a:t>
            </a:r>
          </a:p>
          <a:p>
            <a:pPr marL="360000" indent="-360000">
              <a:spcBef>
                <a:spcPts val="600"/>
              </a:spcBef>
              <a:spcAft>
                <a:spcPts val="1200"/>
              </a:spcAft>
            </a:pPr>
            <a:r>
              <a:rPr lang="en-US" dirty="0" smtClean="0">
                <a:latin typeface="Helvetica" pitchFamily="34" charset="0"/>
              </a:rPr>
              <a:t>Figures/numbers</a:t>
            </a:r>
          </a:p>
          <a:p>
            <a:pPr marL="360000" indent="-360000">
              <a:spcBef>
                <a:spcPts val="600"/>
              </a:spcBef>
              <a:spcAft>
                <a:spcPts val="1200"/>
              </a:spcAft>
            </a:pPr>
            <a:r>
              <a:rPr lang="en-US" dirty="0" smtClean="0">
                <a:latin typeface="Helvetica" pitchFamily="34" charset="0"/>
              </a:rPr>
              <a:t>Addresses, telephone numbers, email addresses</a:t>
            </a:r>
          </a:p>
          <a:p>
            <a:pPr marL="360000" indent="-360000">
              <a:spcBef>
                <a:spcPts val="600"/>
              </a:spcBef>
              <a:spcAft>
                <a:spcPts val="1200"/>
              </a:spcAft>
            </a:pPr>
            <a:r>
              <a:rPr lang="en-US" dirty="0" smtClean="0">
                <a:latin typeface="Helvetica" pitchFamily="34" charset="0"/>
              </a:rPr>
              <a:t>Names of people.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1988840"/>
            <a:ext cx="2332800" cy="3240000"/>
          </a:xfrm>
          <a:prstGeom prst="rect">
            <a:avLst/>
          </a:prstGeom>
        </p:spPr>
      </p:pic>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Proof reading is intended to:</a:t>
            </a:r>
          </a:p>
          <a:p>
            <a:pPr marL="360000" indent="-360000">
              <a:spcBef>
                <a:spcPts val="600"/>
              </a:spcBef>
              <a:spcAft>
                <a:spcPts val="1200"/>
              </a:spcAft>
            </a:pPr>
            <a:r>
              <a:rPr lang="en-US" sz="2200" dirty="0" smtClean="0">
                <a:latin typeface="Helvetica" pitchFamily="34" charset="0"/>
              </a:rPr>
              <a:t>Check material does not give unintended offence</a:t>
            </a:r>
          </a:p>
          <a:p>
            <a:pPr marL="360000" indent="-360000">
              <a:spcBef>
                <a:spcPts val="600"/>
              </a:spcBef>
              <a:spcAft>
                <a:spcPts val="1200"/>
              </a:spcAft>
            </a:pPr>
            <a:r>
              <a:rPr lang="en-US" sz="2200" dirty="0" smtClean="0">
                <a:latin typeface="Helvetica" pitchFamily="34" charset="0"/>
              </a:rPr>
              <a:t>Verify all required information has been included</a:t>
            </a:r>
          </a:p>
          <a:p>
            <a:pPr marL="360000" indent="-360000">
              <a:spcBef>
                <a:spcPts val="600"/>
              </a:spcBef>
              <a:spcAft>
                <a:spcPts val="1200"/>
              </a:spcAft>
            </a:pPr>
            <a:r>
              <a:rPr lang="en-US" sz="2200" dirty="0" smtClean="0">
                <a:latin typeface="Helvetica" pitchFamily="34" charset="0"/>
              </a:rPr>
              <a:t>Check accuracy and currency of facts and figures</a:t>
            </a:r>
          </a:p>
          <a:p>
            <a:pPr marL="360000" indent="-360000">
              <a:spcBef>
                <a:spcPts val="600"/>
              </a:spcBef>
              <a:spcAft>
                <a:spcPts val="1200"/>
              </a:spcAft>
            </a:pPr>
            <a:r>
              <a:rPr lang="en-US" sz="2200" dirty="0" smtClean="0">
                <a:latin typeface="Helvetica" pitchFamily="34" charset="0"/>
              </a:rPr>
              <a:t>Ensure there is no need for any ‘last minute’ changes.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32048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Keys to proof reading:</a:t>
            </a:r>
          </a:p>
          <a:p>
            <a:pPr marL="360000" indent="-360000">
              <a:spcBef>
                <a:spcPts val="600"/>
              </a:spcBef>
              <a:spcAft>
                <a:spcPts val="1200"/>
              </a:spcAft>
            </a:pPr>
            <a:r>
              <a:rPr lang="en-US" sz="2200" dirty="0" smtClean="0">
                <a:latin typeface="Helvetica" pitchFamily="34" charset="0"/>
              </a:rPr>
              <a:t>Allocate time for doing it</a:t>
            </a:r>
          </a:p>
          <a:p>
            <a:pPr marL="360000" indent="-360000">
              <a:spcBef>
                <a:spcPts val="600"/>
              </a:spcBef>
              <a:spcAft>
                <a:spcPts val="1200"/>
              </a:spcAft>
            </a:pPr>
            <a:r>
              <a:rPr lang="en-US" sz="2200" dirty="0" smtClean="0">
                <a:latin typeface="Helvetica" pitchFamily="34" charset="0"/>
              </a:rPr>
              <a:t>Do it more than once</a:t>
            </a:r>
          </a:p>
          <a:p>
            <a:pPr marL="360000" indent="-360000">
              <a:spcBef>
                <a:spcPts val="600"/>
              </a:spcBef>
              <a:spcAft>
                <a:spcPts val="1200"/>
              </a:spcAft>
            </a:pPr>
            <a:r>
              <a:rPr lang="en-US" sz="2200" dirty="0" smtClean="0">
                <a:latin typeface="Helvetica" pitchFamily="34" charset="0"/>
              </a:rPr>
              <a:t>Leave time between readings</a:t>
            </a:r>
          </a:p>
          <a:p>
            <a:pPr marL="360000" indent="-360000">
              <a:spcBef>
                <a:spcPts val="600"/>
              </a:spcBef>
              <a:spcAft>
                <a:spcPts val="1200"/>
              </a:spcAft>
            </a:pPr>
            <a:r>
              <a:rPr lang="en-US" sz="2200" dirty="0" smtClean="0">
                <a:latin typeface="Helvetica" pitchFamily="34" charset="0"/>
              </a:rPr>
              <a:t>Get more than one person to do it</a:t>
            </a:r>
          </a:p>
          <a:p>
            <a:pPr marL="360000" indent="-360000">
              <a:spcBef>
                <a:spcPts val="600"/>
              </a:spcBef>
              <a:spcAft>
                <a:spcPts val="1200"/>
              </a:spcAft>
            </a:pPr>
            <a:r>
              <a:rPr lang="en-US" sz="2200" dirty="0" smtClean="0">
                <a:latin typeface="Helvetica" pitchFamily="34" charset="0"/>
              </a:rPr>
              <a:t>Involve someone not previously involved </a:t>
            </a:r>
          </a:p>
          <a:p>
            <a:pPr marL="360000" indent="-360000">
              <a:spcBef>
                <a:spcPts val="600"/>
              </a:spcBef>
              <a:spcAft>
                <a:spcPts val="1200"/>
              </a:spcAft>
            </a:pPr>
            <a:r>
              <a:rPr lang="en-US" sz="2200" dirty="0" smtClean="0">
                <a:latin typeface="Helvetica" pitchFamily="34" charset="0"/>
              </a:rPr>
              <a:t>Consider use of a professional proof reader/editor.</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Circulate items for comment and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Circulations at this stage is required to:</a:t>
            </a:r>
          </a:p>
          <a:p>
            <a:pPr marL="360000" indent="-360000">
              <a:spcBef>
                <a:spcPts val="600"/>
              </a:spcBef>
              <a:spcAft>
                <a:spcPts val="1200"/>
              </a:spcAft>
            </a:pPr>
            <a:r>
              <a:rPr lang="en-AU" sz="2200" dirty="0" smtClean="0">
                <a:latin typeface="Helvetica" pitchFamily="34" charset="0"/>
              </a:rPr>
              <a:t>Keep management informed and up-to-date</a:t>
            </a:r>
            <a:endParaRPr lang="en-US" sz="2200" dirty="0" smtClean="0">
              <a:latin typeface="Helvetica" pitchFamily="34" charset="0"/>
            </a:endParaRPr>
          </a:p>
          <a:p>
            <a:pPr marL="360000" indent="-360000">
              <a:spcBef>
                <a:spcPts val="600"/>
              </a:spcBef>
              <a:spcAft>
                <a:spcPts val="1200"/>
              </a:spcAft>
            </a:pPr>
            <a:r>
              <a:rPr lang="en-AU" sz="2000" dirty="0" smtClean="0">
                <a:latin typeface="Helvetica" pitchFamily="34" charset="0"/>
              </a:rPr>
              <a:t>Give those who were involved in the development process an opportunity to check what has been produced</a:t>
            </a:r>
          </a:p>
          <a:p>
            <a:pPr marL="360000" indent="-360000">
              <a:spcBef>
                <a:spcPts val="600"/>
              </a:spcBef>
              <a:spcAft>
                <a:spcPts val="1200"/>
              </a:spcAft>
            </a:pPr>
            <a:r>
              <a:rPr lang="en-AU" sz="2200" dirty="0" smtClean="0">
                <a:latin typeface="Helvetica" pitchFamily="34" charset="0"/>
              </a:rPr>
              <a:t>Get input from those who may not have been involved in the development process</a:t>
            </a:r>
          </a:p>
          <a:p>
            <a:pPr marL="360000" indent="-360000">
              <a:spcBef>
                <a:spcPts val="600"/>
              </a:spcBef>
              <a:spcAft>
                <a:spcPts val="1200"/>
              </a:spcAft>
            </a:pPr>
            <a:r>
              <a:rPr lang="en-AU" sz="2200" dirty="0" smtClean="0">
                <a:latin typeface="Helvetica" pitchFamily="34" charset="0"/>
              </a:rPr>
              <a:t>Add another opportunity for checking and proof reading.</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67920" y="2276872"/>
            <a:ext cx="2380725" cy="3240000"/>
          </a:xfrm>
          <a:prstGeom prst="rect">
            <a:avLst/>
          </a:prstGeom>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Circulate items for comment and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‘Change’ or ‘improvement’?:</a:t>
            </a:r>
          </a:p>
          <a:p>
            <a:pPr marL="360000" indent="-360000">
              <a:spcBef>
                <a:spcPts val="600"/>
              </a:spcBef>
              <a:spcAft>
                <a:spcPts val="1200"/>
              </a:spcAft>
            </a:pPr>
            <a:r>
              <a:rPr lang="en-US" dirty="0" smtClean="0">
                <a:latin typeface="Helvetica" pitchFamily="34" charset="0"/>
              </a:rPr>
              <a:t>Revisions should be made to drafts in order to </a:t>
            </a:r>
            <a:r>
              <a:rPr lang="en-US" b="1" dirty="0" smtClean="0">
                <a:latin typeface="Helvetica" pitchFamily="34" charset="0"/>
              </a:rPr>
              <a:t>improve </a:t>
            </a:r>
            <a:r>
              <a:rPr lang="en-US" dirty="0" smtClean="0">
                <a:latin typeface="Helvetica" pitchFamily="34" charset="0"/>
              </a:rPr>
              <a:t>them</a:t>
            </a:r>
          </a:p>
          <a:p>
            <a:pPr marL="360000" indent="-360000">
              <a:spcBef>
                <a:spcPts val="600"/>
              </a:spcBef>
              <a:spcAft>
                <a:spcPts val="1200"/>
              </a:spcAft>
            </a:pPr>
            <a:r>
              <a:rPr lang="en-US" dirty="0" smtClean="0">
                <a:latin typeface="Helvetica" pitchFamily="34" charset="0"/>
              </a:rPr>
              <a:t>Care should be taken to guard against simply making changes ‘for the sake of change’.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436096" y="1772816"/>
            <a:ext cx="2160000" cy="3240000"/>
          </a:xfrm>
          <a:prstGeom prst="rect">
            <a:avLst/>
          </a:prstGeom>
        </p:spPr>
      </p:pic>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Circulate items for comment and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Circulation should occur according to a Distribution </a:t>
            </a:r>
            <a:br>
              <a:rPr lang="en-US" sz="2200" dirty="0" smtClean="0">
                <a:latin typeface="Helvetica" pitchFamily="34" charset="0"/>
              </a:rPr>
            </a:br>
            <a:r>
              <a:rPr lang="en-US" sz="2200" dirty="0" smtClean="0">
                <a:latin typeface="Helvetica" pitchFamily="34" charset="0"/>
              </a:rPr>
              <a:t>List which may require </a:t>
            </a:r>
            <a:br>
              <a:rPr lang="en-US" sz="2200" dirty="0" smtClean="0">
                <a:latin typeface="Helvetica" pitchFamily="34" charset="0"/>
              </a:rPr>
            </a:br>
            <a:r>
              <a:rPr lang="en-US" sz="2200" dirty="0" smtClean="0">
                <a:latin typeface="Helvetica" pitchFamily="34" charset="0"/>
              </a:rPr>
              <a:t>materials are given to:</a:t>
            </a:r>
          </a:p>
          <a:p>
            <a:pPr marL="360000" indent="-360000">
              <a:spcBef>
                <a:spcPts val="600"/>
              </a:spcBef>
              <a:spcAft>
                <a:spcPts val="1200"/>
              </a:spcAft>
            </a:pPr>
            <a:r>
              <a:rPr lang="en-US" sz="2200" dirty="0" smtClean="0">
                <a:latin typeface="Helvetica" pitchFamily="34" charset="0"/>
              </a:rPr>
              <a:t>Management</a:t>
            </a:r>
          </a:p>
          <a:p>
            <a:pPr marL="360000" indent="-360000">
              <a:spcBef>
                <a:spcPts val="600"/>
              </a:spcBef>
              <a:spcAft>
                <a:spcPts val="1200"/>
              </a:spcAft>
            </a:pPr>
            <a:r>
              <a:rPr lang="en-US" sz="2200" dirty="0" smtClean="0">
                <a:latin typeface="Helvetica" pitchFamily="34" charset="0"/>
              </a:rPr>
              <a:t>Business and strategic partners</a:t>
            </a:r>
          </a:p>
          <a:p>
            <a:pPr marL="360000" indent="-360000">
              <a:spcBef>
                <a:spcPts val="600"/>
              </a:spcBef>
              <a:spcAft>
                <a:spcPts val="1200"/>
              </a:spcAft>
            </a:pPr>
            <a:r>
              <a:rPr lang="en-US" sz="2200" dirty="0" smtClean="0">
                <a:latin typeface="Helvetica" pitchFamily="34" charset="0"/>
              </a:rPr>
              <a:t>Agencies and sub-branches</a:t>
            </a:r>
          </a:p>
          <a:p>
            <a:pPr marL="360000" indent="-360000">
              <a:spcBef>
                <a:spcPts val="600"/>
              </a:spcBef>
              <a:spcAft>
                <a:spcPts val="1200"/>
              </a:spcAft>
            </a:pPr>
            <a:r>
              <a:rPr lang="en-US" sz="2200" dirty="0" smtClean="0">
                <a:latin typeface="Helvetica" pitchFamily="34" charset="0"/>
              </a:rPr>
              <a:t>Intermediaries</a:t>
            </a:r>
          </a:p>
          <a:p>
            <a:pPr marL="360000" indent="-360000">
              <a:spcBef>
                <a:spcPts val="600"/>
              </a:spcBef>
              <a:spcAft>
                <a:spcPts val="1200"/>
              </a:spcAft>
            </a:pPr>
            <a:r>
              <a:rPr lang="en-US" sz="2200" dirty="0" smtClean="0">
                <a:latin typeface="Helvetica" pitchFamily="34" charset="0"/>
              </a:rPr>
              <a:t>Sales staff</a:t>
            </a:r>
          </a:p>
          <a:p>
            <a:pPr marL="360000" indent="-360000">
              <a:spcBef>
                <a:spcPts val="600"/>
              </a:spcBef>
              <a:spcAft>
                <a:spcPts val="1200"/>
              </a:spcAft>
            </a:pPr>
            <a:r>
              <a:rPr lang="en-US" sz="2200" dirty="0" smtClean="0">
                <a:latin typeface="Helvetica" pitchFamily="34" charset="0"/>
              </a:rPr>
              <a:t>Accounts and finance department.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484803" y="1988840"/>
            <a:ext cx="3667233"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Circulate items for comment and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093915"/>
          </a:xfrm>
        </p:spPr>
        <p:txBody>
          <a:bodyPr>
            <a:normAutofit/>
          </a:bodyPr>
          <a:lstStyle/>
          <a:p>
            <a:pPr marL="0" indent="0">
              <a:spcBef>
                <a:spcPts val="600"/>
              </a:spcBef>
              <a:spcAft>
                <a:spcPts val="1200"/>
              </a:spcAft>
              <a:buNone/>
            </a:pPr>
            <a:r>
              <a:rPr lang="en-US" dirty="0" smtClean="0">
                <a:latin typeface="Helvetica" pitchFamily="34" charset="0"/>
              </a:rPr>
              <a:t>As part of this process:</a:t>
            </a:r>
          </a:p>
          <a:p>
            <a:pPr marL="360000" indent="-360000">
              <a:spcBef>
                <a:spcPts val="600"/>
              </a:spcBef>
              <a:spcAft>
                <a:spcPts val="1200"/>
              </a:spcAft>
            </a:pPr>
            <a:r>
              <a:rPr lang="en-US" dirty="0" smtClean="0">
                <a:latin typeface="Helvetica" pitchFamily="34" charset="0"/>
              </a:rPr>
              <a:t>Include a hard copy mock-up</a:t>
            </a:r>
          </a:p>
          <a:p>
            <a:pPr marL="360000" indent="-360000">
              <a:spcBef>
                <a:spcPts val="600"/>
              </a:spcBef>
              <a:spcAft>
                <a:spcPts val="1200"/>
              </a:spcAft>
            </a:pPr>
            <a:r>
              <a:rPr lang="en-US" dirty="0" smtClean="0">
                <a:latin typeface="Helvetica" pitchFamily="34" charset="0"/>
              </a:rPr>
              <a:t>Give the context</a:t>
            </a:r>
          </a:p>
          <a:p>
            <a:pPr marL="360000" indent="-360000">
              <a:spcBef>
                <a:spcPts val="600"/>
              </a:spcBef>
              <a:spcAft>
                <a:spcPts val="1200"/>
              </a:spcAft>
            </a:pPr>
            <a:r>
              <a:rPr lang="en-US" dirty="0" smtClean="0">
                <a:latin typeface="Helvetica" pitchFamily="34" charset="0"/>
              </a:rPr>
              <a:t>Background the development process</a:t>
            </a:r>
          </a:p>
          <a:p>
            <a:pPr marL="360000" indent="-360000">
              <a:spcBef>
                <a:spcPts val="600"/>
              </a:spcBef>
              <a:spcAft>
                <a:spcPts val="1200"/>
              </a:spcAft>
            </a:pPr>
            <a:r>
              <a:rPr lang="en-US" dirty="0" smtClean="0">
                <a:latin typeface="Helvetica" pitchFamily="34" charset="0"/>
              </a:rPr>
              <a:t>Explain how comments/feedback are to be made</a:t>
            </a:r>
          </a:p>
          <a:p>
            <a:pPr marL="360000" indent="-360000">
              <a:spcBef>
                <a:spcPts val="600"/>
              </a:spcBef>
              <a:spcAft>
                <a:spcPts val="1200"/>
              </a:spcAft>
            </a:pPr>
            <a:r>
              <a:rPr lang="en-US" dirty="0" smtClean="0">
                <a:latin typeface="Helvetica" pitchFamily="34" charset="0"/>
              </a:rPr>
              <a:t>Set a time and date for feedback.</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77</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076056" y="2348880"/>
            <a:ext cx="1989732" cy="3240000"/>
          </a:xfrm>
          <a:prstGeom prst="rect">
            <a:avLst/>
          </a:prstGeom>
        </p:spPr>
      </p:pic>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Circulate items for comment and feedback</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Materials at this stage:</a:t>
            </a:r>
          </a:p>
          <a:p>
            <a:pPr marL="360000" indent="-360000">
              <a:spcBef>
                <a:spcPts val="600"/>
              </a:spcBef>
              <a:spcAft>
                <a:spcPts val="1200"/>
              </a:spcAft>
            </a:pPr>
            <a:r>
              <a:rPr lang="en-US" dirty="0" smtClean="0">
                <a:latin typeface="Helvetica" pitchFamily="34" charset="0"/>
              </a:rPr>
              <a:t>Must not be discussed with people outside the organisation</a:t>
            </a:r>
          </a:p>
          <a:p>
            <a:pPr marL="360000" indent="-360000">
              <a:spcBef>
                <a:spcPts val="600"/>
              </a:spcBef>
              <a:spcAft>
                <a:spcPts val="1200"/>
              </a:spcAft>
            </a:pPr>
            <a:r>
              <a:rPr lang="en-US" dirty="0" smtClean="0">
                <a:latin typeface="Helvetica" pitchFamily="34" charset="0"/>
              </a:rPr>
              <a:t>Must be regarded as being ‘commercial-in-confidence’.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78</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1700808"/>
            <a:ext cx="2160000" cy="3240000"/>
          </a:xfrm>
          <a:prstGeom prst="rect">
            <a:avLst/>
          </a:prstGeom>
        </p:spPr>
      </p:pic>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Revise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39"/>
            <a:ext cx="7541840" cy="4798349"/>
          </a:xfrm>
        </p:spPr>
        <p:txBody>
          <a:bodyPr>
            <a:normAutofit fontScale="92500"/>
          </a:bodyPr>
          <a:lstStyle/>
          <a:p>
            <a:pPr marL="0" indent="0">
              <a:spcBef>
                <a:spcPts val="600"/>
              </a:spcBef>
              <a:spcAft>
                <a:spcPts val="1200"/>
              </a:spcAft>
              <a:buNone/>
            </a:pPr>
            <a:r>
              <a:rPr lang="en-AU" sz="2200" dirty="0" smtClean="0">
                <a:latin typeface="Helvetica" pitchFamily="34" charset="0"/>
              </a:rPr>
              <a:t>This stage of the process is extremely important because the final product produced as a result of this step</a:t>
            </a:r>
            <a:r>
              <a:rPr lang="en-US" sz="2200" dirty="0" smtClean="0">
                <a:latin typeface="Helvetica" pitchFamily="34" charset="0"/>
              </a:rPr>
              <a:t>:</a:t>
            </a:r>
          </a:p>
          <a:p>
            <a:pPr marL="360000" indent="-360000">
              <a:lnSpc>
                <a:spcPct val="120000"/>
              </a:lnSpc>
              <a:spcBef>
                <a:spcPts val="600"/>
              </a:spcBef>
              <a:spcAft>
                <a:spcPts val="600"/>
              </a:spcAft>
            </a:pPr>
            <a:r>
              <a:rPr lang="en-AU" sz="2200" dirty="0" smtClean="0">
                <a:latin typeface="Helvetica" pitchFamily="34" charset="0"/>
              </a:rPr>
              <a:t>Will be the one sent to the printer/provider for a quotation</a:t>
            </a:r>
          </a:p>
          <a:p>
            <a:pPr marL="360000" indent="-360000">
              <a:lnSpc>
                <a:spcPct val="120000"/>
              </a:lnSpc>
              <a:spcBef>
                <a:spcPts val="600"/>
              </a:spcBef>
              <a:spcAft>
                <a:spcPts val="600"/>
              </a:spcAft>
            </a:pPr>
            <a:r>
              <a:rPr lang="en-AU" sz="2200" dirty="0" smtClean="0">
                <a:latin typeface="Helvetica" pitchFamily="34" charset="0"/>
              </a:rPr>
              <a:t>Will represent what the organisation wants to say publicly</a:t>
            </a:r>
          </a:p>
          <a:p>
            <a:pPr marL="360000" indent="-360000">
              <a:lnSpc>
                <a:spcPct val="120000"/>
              </a:lnSpc>
              <a:spcBef>
                <a:spcPts val="600"/>
              </a:spcBef>
              <a:spcAft>
                <a:spcPts val="600"/>
              </a:spcAft>
            </a:pPr>
            <a:r>
              <a:rPr lang="en-AU" sz="2200" dirty="0" smtClean="0">
                <a:latin typeface="Helvetica" pitchFamily="34" charset="0"/>
              </a:rPr>
              <a:t>Is potentially legally binding on the business</a:t>
            </a:r>
          </a:p>
          <a:p>
            <a:pPr marL="360000" indent="-360000">
              <a:lnSpc>
                <a:spcPct val="120000"/>
              </a:lnSpc>
              <a:spcBef>
                <a:spcPts val="600"/>
              </a:spcBef>
              <a:spcAft>
                <a:spcPts val="600"/>
              </a:spcAft>
            </a:pPr>
            <a:r>
              <a:rPr lang="en-AU" sz="2200" dirty="0" smtClean="0">
                <a:latin typeface="Helvetica" pitchFamily="34" charset="0"/>
              </a:rPr>
              <a:t>Creates the foundation for future sales</a:t>
            </a:r>
          </a:p>
          <a:p>
            <a:pPr marL="360000" indent="-360000">
              <a:lnSpc>
                <a:spcPct val="120000"/>
              </a:lnSpc>
              <a:spcBef>
                <a:spcPts val="600"/>
              </a:spcBef>
              <a:spcAft>
                <a:spcPts val="600"/>
              </a:spcAft>
            </a:pPr>
            <a:r>
              <a:rPr lang="en-AU" sz="2200" dirty="0" smtClean="0">
                <a:latin typeface="Helvetica" pitchFamily="34" charset="0"/>
              </a:rPr>
              <a:t>Represents and reinforces brand and image of the company</a:t>
            </a:r>
          </a:p>
          <a:p>
            <a:pPr marL="360000" indent="-360000">
              <a:lnSpc>
                <a:spcPct val="120000"/>
              </a:lnSpc>
              <a:spcBef>
                <a:spcPts val="600"/>
              </a:spcBef>
              <a:spcAft>
                <a:spcPts val="600"/>
              </a:spcAft>
            </a:pPr>
            <a:r>
              <a:rPr lang="en-AU" sz="2200" dirty="0" smtClean="0">
                <a:latin typeface="Helvetica" pitchFamily="34" charset="0"/>
              </a:rPr>
              <a:t>Is likely to cost the organisation significant money </a:t>
            </a:r>
            <a:br>
              <a:rPr lang="en-AU" sz="2200" dirty="0" smtClean="0">
                <a:latin typeface="Helvetica" pitchFamily="34" charset="0"/>
              </a:rPr>
            </a:br>
            <a:r>
              <a:rPr lang="en-AU" sz="2200" dirty="0" smtClean="0">
                <a:latin typeface="Helvetica" pitchFamily="34" charset="0"/>
              </a:rPr>
              <a:t>to produce.</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79</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Revise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Changes should only be made:</a:t>
            </a:r>
          </a:p>
          <a:p>
            <a:pPr marL="360000" indent="-360000">
              <a:spcBef>
                <a:spcPts val="600"/>
              </a:spcBef>
              <a:spcAft>
                <a:spcPts val="1200"/>
              </a:spcAft>
            </a:pPr>
            <a:r>
              <a:rPr lang="en-AU" dirty="0" smtClean="0">
                <a:latin typeface="Helvetica" pitchFamily="34" charset="0"/>
              </a:rPr>
              <a:t>If there is an identified error</a:t>
            </a:r>
          </a:p>
          <a:p>
            <a:pPr marL="360000" indent="-360000">
              <a:spcBef>
                <a:spcPts val="600"/>
              </a:spcBef>
              <a:spcAft>
                <a:spcPts val="1200"/>
              </a:spcAft>
            </a:pPr>
            <a:r>
              <a:rPr lang="en-AU" dirty="0" smtClean="0">
                <a:latin typeface="Helvetica" pitchFamily="34" charset="0"/>
              </a:rPr>
              <a:t>If an major point has been omitted</a:t>
            </a:r>
          </a:p>
          <a:p>
            <a:pPr marL="360000" indent="-360000">
              <a:spcBef>
                <a:spcPts val="600"/>
              </a:spcBef>
              <a:spcAft>
                <a:spcPts val="1200"/>
              </a:spcAft>
            </a:pPr>
            <a:r>
              <a:rPr lang="en-AU" dirty="0" smtClean="0">
                <a:latin typeface="Helvetica" pitchFamily="34" charset="0"/>
              </a:rPr>
              <a:t>If something has changed in the time between production of the draft and ‘now’</a:t>
            </a:r>
          </a:p>
          <a:p>
            <a:pPr marL="360000" indent="-360000">
              <a:spcBef>
                <a:spcPts val="600"/>
              </a:spcBef>
              <a:spcAft>
                <a:spcPts val="1200"/>
              </a:spcAft>
            </a:pPr>
            <a:r>
              <a:rPr lang="en-AU" dirty="0" smtClean="0">
                <a:latin typeface="Helvetica" pitchFamily="34" charset="0"/>
              </a:rPr>
              <a:t>If someone can present a compelling argument there needs to be change</a:t>
            </a:r>
            <a:r>
              <a:rPr lang="en-US" dirty="0" smtClean="0">
                <a:latin typeface="Helvetica" pitchFamily="34" charset="0"/>
              </a:rPr>
              <a: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Revise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608512"/>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Important points when making changes:</a:t>
            </a:r>
          </a:p>
          <a:p>
            <a:pPr marL="360000" indent="-360000">
              <a:spcBef>
                <a:spcPts val="600"/>
              </a:spcBef>
              <a:spcAft>
                <a:spcPts val="1200"/>
              </a:spcAft>
            </a:pPr>
            <a:r>
              <a:rPr lang="en-AU" sz="2200" dirty="0" smtClean="0">
                <a:latin typeface="Helvetica" pitchFamily="34" charset="0"/>
              </a:rPr>
              <a:t>There should be a face-to-face meeting of the stakeholders</a:t>
            </a:r>
          </a:p>
          <a:p>
            <a:pPr marL="360000" indent="-360000">
              <a:spcBef>
                <a:spcPts val="600"/>
              </a:spcBef>
              <a:spcAft>
                <a:spcPts val="1200"/>
              </a:spcAft>
            </a:pPr>
            <a:r>
              <a:rPr lang="en-AU" sz="2200" dirty="0" smtClean="0">
                <a:latin typeface="Helvetica" pitchFamily="34" charset="0"/>
              </a:rPr>
              <a:t>Everyone should have an opportunity to present their case for change</a:t>
            </a:r>
          </a:p>
          <a:p>
            <a:pPr marL="360000" indent="-360000">
              <a:spcBef>
                <a:spcPts val="600"/>
              </a:spcBef>
              <a:spcAft>
                <a:spcPts val="1200"/>
              </a:spcAft>
            </a:pPr>
            <a:r>
              <a:rPr lang="en-AU" sz="2200" dirty="0" smtClean="0">
                <a:latin typeface="Helvetica" pitchFamily="34" charset="0"/>
              </a:rPr>
              <a:t>No idea/suggestion should be ignored</a:t>
            </a:r>
          </a:p>
          <a:p>
            <a:pPr marL="360000" indent="-360000">
              <a:spcBef>
                <a:spcPts val="600"/>
              </a:spcBef>
              <a:spcAft>
                <a:spcPts val="1200"/>
              </a:spcAft>
            </a:pPr>
            <a:r>
              <a:rPr lang="en-AU" sz="2200" dirty="0" smtClean="0">
                <a:latin typeface="Helvetica" pitchFamily="34" charset="0"/>
              </a:rPr>
              <a:t>Revisions must be based on a legitimate reason to do so</a:t>
            </a:r>
            <a:endParaRPr lang="en-US" sz="22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09506" y="2004864"/>
            <a:ext cx="3246102"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Revise brochures and marketing materials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AU" dirty="0" smtClean="0">
                <a:latin typeface="Helvetica" pitchFamily="34" charset="0"/>
              </a:rPr>
              <a:t>Agreed suggestions for revisions need to be undertaken, circulated and considered in the same way the original item was</a:t>
            </a:r>
          </a:p>
          <a:p>
            <a:pPr marL="360000" indent="-360000">
              <a:spcBef>
                <a:spcPts val="600"/>
              </a:spcBef>
              <a:spcAft>
                <a:spcPts val="1200"/>
              </a:spcAft>
            </a:pPr>
            <a:r>
              <a:rPr lang="en-AU" dirty="0" smtClean="0">
                <a:latin typeface="Helvetica" pitchFamily="34" charset="0"/>
              </a:rPr>
              <a:t>There can be a need to revise the revisions</a:t>
            </a:r>
          </a:p>
          <a:p>
            <a:pPr marL="360000" indent="-360000">
              <a:spcBef>
                <a:spcPts val="600"/>
              </a:spcBef>
              <a:spcAft>
                <a:spcPts val="1200"/>
              </a:spcAft>
            </a:pPr>
            <a:r>
              <a:rPr lang="en-AU" dirty="0" smtClean="0">
                <a:latin typeface="Helvetica" pitchFamily="34" charset="0"/>
              </a:rPr>
              <a:t>The final approved version needs to be signed off by management</a:t>
            </a:r>
            <a:r>
              <a:rPr lang="en-US" dirty="0" smtClean="0">
                <a:latin typeface="Helvetica" pitchFamily="34" charset="0"/>
              </a:rPr>
              <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84478" y="2000300"/>
            <a:ext cx="3246102"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When </a:t>
            </a:r>
            <a:r>
              <a:rPr lang="en-AU" dirty="0" smtClean="0">
                <a:latin typeface="Helvetica" pitchFamily="34" charset="0"/>
              </a:rPr>
              <a:t>administering activities relating to the production of draft items</a:t>
            </a:r>
            <a:r>
              <a:rPr lang="en-US" dirty="0" smtClean="0">
                <a:latin typeface="Helvetica" pitchFamily="34" charset="0"/>
              </a:rPr>
              <a:t>:</a:t>
            </a:r>
          </a:p>
          <a:p>
            <a:r>
              <a:rPr lang="en-AU" dirty="0" smtClean="0">
                <a:latin typeface="Helvetica" pitchFamily="34" charset="0"/>
              </a:rPr>
              <a:t>Provide or obtain necessary physical and information resources</a:t>
            </a:r>
          </a:p>
          <a:p>
            <a:r>
              <a:rPr lang="en-AU" dirty="0" smtClean="0">
                <a:latin typeface="Helvetica" pitchFamily="34" charset="0"/>
              </a:rPr>
              <a:t>Gain funding/finances</a:t>
            </a:r>
          </a:p>
          <a:p>
            <a:r>
              <a:rPr lang="en-AU" dirty="0" smtClean="0">
                <a:latin typeface="Helvetica" pitchFamily="34" charset="0"/>
              </a:rPr>
              <a:t>Allocate or obtain suitable and sufficient human resources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220072" y="1988840"/>
            <a:ext cx="2151940" cy="3240000"/>
          </a:xfrm>
          <a:prstGeom prst="rect">
            <a:avLst/>
          </a:prstGeom>
        </p:spPr>
      </p:pic>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a:bodyPr>
          <a:lstStyle/>
          <a:p>
            <a:pPr>
              <a:spcBef>
                <a:spcPts val="600"/>
              </a:spcBef>
              <a:spcAft>
                <a:spcPts val="600"/>
              </a:spcAft>
            </a:pPr>
            <a:r>
              <a:rPr lang="en-AU" dirty="0" smtClean="0">
                <a:latin typeface="Helvetica" pitchFamily="34" charset="0"/>
              </a:rPr>
              <a:t>Be prepared to use external expertise if affordable</a:t>
            </a:r>
          </a:p>
          <a:p>
            <a:pPr>
              <a:spcBef>
                <a:spcPts val="600"/>
              </a:spcBef>
              <a:spcAft>
                <a:spcPts val="600"/>
              </a:spcAft>
            </a:pPr>
            <a:r>
              <a:rPr lang="en-AU" dirty="0" smtClean="0">
                <a:latin typeface="Helvetica" pitchFamily="34" charset="0"/>
              </a:rPr>
              <a:t>Prepare a draft</a:t>
            </a:r>
          </a:p>
          <a:p>
            <a:pPr>
              <a:spcBef>
                <a:spcPts val="600"/>
              </a:spcBef>
              <a:spcAft>
                <a:spcPts val="600"/>
              </a:spcAft>
            </a:pPr>
            <a:r>
              <a:rPr lang="en-AU" dirty="0" smtClean="0">
                <a:latin typeface="Helvetica" pitchFamily="34" charset="0"/>
              </a:rPr>
              <a:t>Revise and refine as required – be prepared to make changes which improve the draft</a:t>
            </a:r>
          </a:p>
          <a:p>
            <a:pPr>
              <a:spcBef>
                <a:spcPts val="600"/>
              </a:spcBef>
              <a:spcAft>
                <a:spcPts val="600"/>
              </a:spcAft>
            </a:pPr>
            <a:r>
              <a:rPr lang="en-AU" dirty="0" smtClean="0">
                <a:latin typeface="Helvetica" pitchFamily="34" charset="0"/>
              </a:rPr>
              <a:t>Proof read materials to check for spelling and grammar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84</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796136" y="1628800"/>
            <a:ext cx="1292742" cy="3240000"/>
          </a:xfrm>
          <a:prstGeom prst="rect">
            <a:avLst/>
          </a:prstGeom>
        </p:spPr>
      </p:pic>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3</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a:spcBef>
                <a:spcPts val="600"/>
              </a:spcBef>
              <a:spcAft>
                <a:spcPts val="600"/>
              </a:spcAft>
            </a:pPr>
            <a:r>
              <a:rPr lang="en-AU" dirty="0" smtClean="0">
                <a:latin typeface="Helvetica" pitchFamily="34" charset="0"/>
              </a:rPr>
              <a:t>Actively look for errors and omissions</a:t>
            </a:r>
          </a:p>
          <a:p>
            <a:pPr>
              <a:spcBef>
                <a:spcPts val="600"/>
              </a:spcBef>
              <a:spcAft>
                <a:spcPts val="600"/>
              </a:spcAft>
            </a:pPr>
            <a:r>
              <a:rPr lang="en-AU" dirty="0" smtClean="0">
                <a:latin typeface="Helvetica" pitchFamily="34" charset="0"/>
              </a:rPr>
              <a:t>Strive for clarity</a:t>
            </a:r>
          </a:p>
          <a:p>
            <a:pPr>
              <a:spcBef>
                <a:spcPts val="600"/>
              </a:spcBef>
              <a:spcAft>
                <a:spcPts val="600"/>
              </a:spcAft>
            </a:pPr>
            <a:r>
              <a:rPr lang="en-AU" dirty="0" smtClean="0">
                <a:latin typeface="Helvetica" pitchFamily="34" charset="0"/>
              </a:rPr>
              <a:t>Circulate drafts to others for their contribution and feedback</a:t>
            </a:r>
          </a:p>
          <a:p>
            <a:pPr>
              <a:spcBef>
                <a:spcPts val="600"/>
              </a:spcBef>
              <a:spcAft>
                <a:spcPts val="600"/>
              </a:spcAft>
            </a:pPr>
            <a:r>
              <a:rPr lang="en-AU" dirty="0" smtClean="0">
                <a:latin typeface="Helvetica" pitchFamily="34" charset="0"/>
              </a:rPr>
              <a:t>Involve others in the proof reading process.</a:t>
            </a:r>
          </a:p>
          <a:p>
            <a:endParaRPr lang="en-AU"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85</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364088" y="1772816"/>
            <a:ext cx="1518416" cy="3240000"/>
          </a:xfrm>
          <a:prstGeom prst="rect">
            <a:avLst/>
          </a:prstGeom>
        </p:spPr>
      </p:pic>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Autofit/>
          </a:bodyPr>
          <a:lstStyle/>
          <a:p>
            <a:r>
              <a:rPr lang="en-US" sz="2800" b="1" dirty="0" smtClean="0">
                <a:solidFill>
                  <a:srgbClr val="FF6600"/>
                </a:solidFill>
                <a:latin typeface="Helvetica" pitchFamily="34" charset="0"/>
              </a:rPr>
              <a:t>Element 4 – Obtain quotations for production of brochures and marketing materials</a:t>
            </a:r>
            <a:endParaRPr lang="en-US" sz="28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760640"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Performance Criteria for this Element are:</a:t>
            </a:r>
          </a:p>
          <a:p>
            <a:pPr marL="360000" indent="-360000">
              <a:lnSpc>
                <a:spcPct val="110000"/>
              </a:lnSpc>
              <a:spcBef>
                <a:spcPts val="600"/>
              </a:spcBef>
              <a:spcAft>
                <a:spcPts val="600"/>
              </a:spcAft>
            </a:pPr>
            <a:r>
              <a:rPr lang="en-US" sz="2200" dirty="0" smtClean="0">
                <a:latin typeface="Helvetica" pitchFamily="34" charset="0"/>
              </a:rPr>
              <a:t>Meet and discuss </a:t>
            </a:r>
            <a:r>
              <a:rPr lang="en-AU" sz="2200" dirty="0" smtClean="0">
                <a:latin typeface="Helvetica" pitchFamily="34" charset="0"/>
              </a:rPr>
              <a:t>the proposal with service providers</a:t>
            </a:r>
            <a:endParaRPr lang="en-US" sz="2200" dirty="0" smtClean="0">
              <a:latin typeface="Helvetica" pitchFamily="34" charset="0"/>
            </a:endParaRPr>
          </a:p>
          <a:p>
            <a:pPr marL="360000" indent="-360000">
              <a:lnSpc>
                <a:spcPct val="110000"/>
              </a:lnSpc>
              <a:spcBef>
                <a:spcPts val="600"/>
              </a:spcBef>
              <a:spcAft>
                <a:spcPts val="600"/>
              </a:spcAft>
            </a:pPr>
            <a:r>
              <a:rPr lang="en-AU" sz="2200" dirty="0" smtClean="0">
                <a:latin typeface="Helvetica" pitchFamily="34" charset="0"/>
              </a:rPr>
              <a:t>Provide detailed specifications as the basis for obtaining a quotation for work to be done</a:t>
            </a:r>
            <a:endParaRPr lang="en-US" sz="2200" dirty="0" smtClean="0">
              <a:latin typeface="Helvetica" pitchFamily="34" charset="0"/>
            </a:endParaRPr>
          </a:p>
          <a:p>
            <a:pPr marL="360000" indent="-360000">
              <a:lnSpc>
                <a:spcPct val="110000"/>
              </a:lnSpc>
              <a:spcBef>
                <a:spcPts val="600"/>
              </a:spcBef>
              <a:spcAft>
                <a:spcPts val="600"/>
              </a:spcAft>
            </a:pPr>
            <a:r>
              <a:rPr lang="en-AU" sz="2200" dirty="0" smtClean="0">
                <a:latin typeface="Helvetica" pitchFamily="34" charset="0"/>
              </a:rPr>
              <a:t>Obtain quotations from a range of service providers</a:t>
            </a:r>
          </a:p>
          <a:p>
            <a:pPr marL="360000" indent="-360000">
              <a:lnSpc>
                <a:spcPct val="110000"/>
              </a:lnSpc>
              <a:spcBef>
                <a:spcPts val="600"/>
              </a:spcBef>
              <a:spcAft>
                <a:spcPts val="600"/>
              </a:spcAft>
            </a:pPr>
            <a:r>
              <a:rPr lang="en-AU" sz="2200" dirty="0" smtClean="0">
                <a:latin typeface="Helvetica" pitchFamily="34" charset="0"/>
              </a:rPr>
              <a:t>Evaluate quotations received to make a purchasing decision</a:t>
            </a:r>
          </a:p>
          <a:p>
            <a:pPr marL="360000" indent="-360000">
              <a:lnSpc>
                <a:spcPct val="110000"/>
              </a:lnSpc>
              <a:spcBef>
                <a:spcPts val="600"/>
              </a:spcBef>
              <a:spcAft>
                <a:spcPts val="600"/>
              </a:spcAft>
            </a:pPr>
            <a:r>
              <a:rPr lang="en-AU" sz="2200" dirty="0" smtClean="0">
                <a:latin typeface="Helvetica" pitchFamily="34" charset="0"/>
              </a:rPr>
              <a:t>Select the service provider(s) to supply services and lodge official order.</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86</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438657" y="2132856"/>
            <a:ext cx="1723003" cy="3240000"/>
          </a:xfrm>
          <a:prstGeom prst="rect">
            <a:avLst/>
          </a:prstGeom>
        </p:spPr>
      </p:pic>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discuss the proposal with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428596" y="1988840"/>
            <a:ext cx="5583564"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Reasons to meet and discuss requirements for final production:</a:t>
            </a:r>
          </a:p>
          <a:p>
            <a:pPr marL="360000" indent="-360000">
              <a:lnSpc>
                <a:spcPct val="110000"/>
              </a:lnSpc>
              <a:spcBef>
                <a:spcPts val="600"/>
              </a:spcBef>
              <a:spcAft>
                <a:spcPts val="600"/>
              </a:spcAft>
            </a:pPr>
            <a:r>
              <a:rPr lang="en-AU" sz="2200" dirty="0" smtClean="0">
                <a:latin typeface="Helvetica" pitchFamily="34" charset="0"/>
              </a:rPr>
              <a:t>Determine businesses available </a:t>
            </a:r>
          </a:p>
          <a:p>
            <a:pPr marL="360000" indent="-360000">
              <a:lnSpc>
                <a:spcPct val="110000"/>
              </a:lnSpc>
              <a:spcBef>
                <a:spcPts val="600"/>
              </a:spcBef>
              <a:spcAft>
                <a:spcPts val="600"/>
              </a:spcAft>
            </a:pPr>
            <a:r>
              <a:rPr lang="en-AU" sz="2200" dirty="0" smtClean="0">
                <a:latin typeface="Helvetica" pitchFamily="34" charset="0"/>
              </a:rPr>
              <a:t>Assess the experience of third party providers</a:t>
            </a:r>
          </a:p>
          <a:p>
            <a:pPr marL="360000" indent="-360000">
              <a:lnSpc>
                <a:spcPct val="110000"/>
              </a:lnSpc>
              <a:spcBef>
                <a:spcPts val="600"/>
              </a:spcBef>
              <a:spcAft>
                <a:spcPts val="600"/>
              </a:spcAft>
            </a:pPr>
            <a:r>
              <a:rPr lang="en-AU" sz="2200" dirty="0" smtClean="0">
                <a:latin typeface="Helvetica" pitchFamily="34" charset="0"/>
              </a:rPr>
              <a:t>Evaluate the options available</a:t>
            </a:r>
          </a:p>
          <a:p>
            <a:pPr marL="360000" indent="-360000">
              <a:lnSpc>
                <a:spcPct val="110000"/>
              </a:lnSpc>
              <a:spcBef>
                <a:spcPts val="600"/>
              </a:spcBef>
              <a:spcAft>
                <a:spcPts val="600"/>
              </a:spcAft>
            </a:pPr>
            <a:r>
              <a:rPr lang="en-AU" sz="2200" dirty="0" smtClean="0">
                <a:latin typeface="Helvetica" pitchFamily="34" charset="0"/>
              </a:rPr>
              <a:t>Investigate timelines for production of what is required</a:t>
            </a:r>
          </a:p>
          <a:p>
            <a:pPr marL="360000" indent="-360000">
              <a:lnSpc>
                <a:spcPct val="110000"/>
              </a:lnSpc>
              <a:spcBef>
                <a:spcPts val="600"/>
              </a:spcBef>
              <a:spcAft>
                <a:spcPts val="600"/>
              </a:spcAft>
            </a:pPr>
            <a:r>
              <a:rPr lang="en-AU" sz="2200" dirty="0" smtClean="0">
                <a:latin typeface="Helvetica" pitchFamily="34" charset="0"/>
              </a:rPr>
              <a:t>Identify services which each potential provider can supply</a:t>
            </a:r>
          </a:p>
          <a:p>
            <a:pPr marL="360000" indent="-360000">
              <a:lnSpc>
                <a:spcPct val="110000"/>
              </a:lnSpc>
              <a:spcBef>
                <a:spcPts val="600"/>
              </a:spcBef>
              <a:spcAft>
                <a:spcPts val="600"/>
              </a:spcAft>
            </a:pPr>
            <a:r>
              <a:rPr lang="en-AU" sz="2200" dirty="0" smtClean="0">
                <a:latin typeface="Helvetica" pitchFamily="34" charset="0"/>
              </a:rPr>
              <a:t>Initiate discussions which will form the basis of obtaining a formal quotation</a:t>
            </a:r>
            <a:r>
              <a:rPr lang="en-US" sz="2200" dirty="0" smtClean="0">
                <a:latin typeface="Helvetica" pitchFamily="34" charset="0"/>
              </a:rPr>
              <a: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87</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6012160" y="2348880"/>
            <a:ext cx="1373805" cy="3240000"/>
          </a:xfrm>
          <a:prstGeom prst="rect">
            <a:avLst/>
          </a:prstGeom>
        </p:spPr>
      </p:pic>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discuss the proposal with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lnSpcReduction="10000"/>
          </a:bodyPr>
          <a:lstStyle/>
          <a:p>
            <a:pPr marL="0" indent="0">
              <a:spcBef>
                <a:spcPts val="600"/>
              </a:spcBef>
              <a:spcAft>
                <a:spcPts val="1200"/>
              </a:spcAft>
              <a:buNone/>
            </a:pPr>
            <a:r>
              <a:rPr lang="en-US" dirty="0" smtClean="0">
                <a:latin typeface="Helvetica" pitchFamily="34" charset="0"/>
              </a:rPr>
              <a:t>It is important to note:</a:t>
            </a:r>
          </a:p>
          <a:p>
            <a:pPr marL="360000" indent="-360000">
              <a:spcBef>
                <a:spcPts val="600"/>
              </a:spcBef>
              <a:spcAft>
                <a:spcPts val="1200"/>
              </a:spcAft>
            </a:pPr>
            <a:r>
              <a:rPr lang="en-US" dirty="0" smtClean="0">
                <a:latin typeface="Helvetica" pitchFamily="34" charset="0"/>
              </a:rPr>
              <a:t>Many business use ‘preferred providers’ (also known as ‘preferred suppliers’)</a:t>
            </a:r>
          </a:p>
          <a:p>
            <a:pPr marL="360000" indent="-360000">
              <a:spcBef>
                <a:spcPts val="600"/>
              </a:spcBef>
              <a:spcAft>
                <a:spcPts val="1200"/>
              </a:spcAft>
            </a:pPr>
            <a:r>
              <a:rPr lang="en-US" dirty="0" smtClean="0">
                <a:latin typeface="Helvetica" pitchFamily="34" charset="0"/>
              </a:rPr>
              <a:t>This is not the case for all organisations for all products/services they purchase</a:t>
            </a:r>
          </a:p>
          <a:p>
            <a:pPr marL="360000" indent="-360000">
              <a:spcBef>
                <a:spcPts val="600"/>
              </a:spcBef>
              <a:spcAft>
                <a:spcPts val="1200"/>
              </a:spcAft>
            </a:pPr>
            <a:r>
              <a:rPr lang="en-US" dirty="0" smtClean="0">
                <a:latin typeface="Helvetica" pitchFamily="34" charset="0"/>
              </a:rPr>
              <a:t>Preferred providers are companies the organisations prefers to business with.</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32823" y="1996108"/>
            <a:ext cx="3239677"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discuss the proposal with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544616" cy="4869160"/>
          </a:xfrm>
        </p:spPr>
        <p:txBody>
          <a:bodyPr>
            <a:normAutofit/>
          </a:bodyPr>
          <a:lstStyle/>
          <a:p>
            <a:pPr marL="0" indent="0">
              <a:lnSpc>
                <a:spcPct val="120000"/>
              </a:lnSpc>
              <a:spcBef>
                <a:spcPts val="400"/>
              </a:spcBef>
              <a:spcAft>
                <a:spcPts val="400"/>
              </a:spcAft>
              <a:buNone/>
            </a:pPr>
            <a:r>
              <a:rPr lang="en-US" dirty="0" smtClean="0">
                <a:latin typeface="Helvetica" pitchFamily="34" charset="0"/>
              </a:rPr>
              <a:t>‘Preferred providers’ are chosen </a:t>
            </a:r>
            <a:br>
              <a:rPr lang="en-US" dirty="0" smtClean="0">
                <a:latin typeface="Helvetica" pitchFamily="34" charset="0"/>
              </a:rPr>
            </a:br>
            <a:r>
              <a:rPr lang="en-US" dirty="0" smtClean="0">
                <a:latin typeface="Helvetica" pitchFamily="34" charset="0"/>
              </a:rPr>
              <a:t>based on:</a:t>
            </a:r>
          </a:p>
          <a:p>
            <a:pPr marL="360000" indent="-360000">
              <a:lnSpc>
                <a:spcPct val="120000"/>
              </a:lnSpc>
              <a:spcBef>
                <a:spcPts val="400"/>
              </a:spcBef>
              <a:spcAft>
                <a:spcPts val="400"/>
              </a:spcAft>
            </a:pPr>
            <a:r>
              <a:rPr lang="en-US" dirty="0" smtClean="0">
                <a:latin typeface="Helvetica" pitchFamily="34" charset="0"/>
              </a:rPr>
              <a:t>Demonstrated capacity to deliver products/services</a:t>
            </a:r>
          </a:p>
          <a:p>
            <a:pPr marL="360000" indent="-360000">
              <a:lnSpc>
                <a:spcPct val="120000"/>
              </a:lnSpc>
              <a:spcBef>
                <a:spcPts val="400"/>
              </a:spcBef>
              <a:spcAft>
                <a:spcPts val="400"/>
              </a:spcAft>
            </a:pPr>
            <a:r>
              <a:rPr lang="en-US" dirty="0" smtClean="0">
                <a:latin typeface="Helvetica" pitchFamily="34" charset="0"/>
              </a:rPr>
              <a:t>Prices charged</a:t>
            </a:r>
          </a:p>
          <a:p>
            <a:pPr marL="360000" indent="-360000">
              <a:lnSpc>
                <a:spcPct val="120000"/>
              </a:lnSpc>
              <a:spcBef>
                <a:spcPts val="400"/>
              </a:spcBef>
              <a:spcAft>
                <a:spcPts val="400"/>
              </a:spcAft>
            </a:pPr>
            <a:r>
              <a:rPr lang="en-US" dirty="0" smtClean="0">
                <a:latin typeface="Helvetica" pitchFamily="34" charset="0"/>
              </a:rPr>
              <a:t>Existing working relationship </a:t>
            </a:r>
          </a:p>
          <a:p>
            <a:pPr marL="360000" indent="-360000">
              <a:lnSpc>
                <a:spcPct val="120000"/>
              </a:lnSpc>
              <a:spcBef>
                <a:spcPts val="400"/>
              </a:spcBef>
              <a:spcAft>
                <a:spcPts val="400"/>
              </a:spcAft>
            </a:pPr>
            <a:r>
              <a:rPr lang="en-US" dirty="0" smtClean="0">
                <a:latin typeface="Helvetica" pitchFamily="34" charset="0"/>
              </a:rPr>
              <a:t>Ability to assist/contribute</a:t>
            </a:r>
          </a:p>
          <a:p>
            <a:pPr marL="360000" indent="-360000">
              <a:lnSpc>
                <a:spcPct val="120000"/>
              </a:lnSpc>
              <a:spcBef>
                <a:spcPts val="400"/>
              </a:spcBef>
              <a:spcAft>
                <a:spcPts val="400"/>
              </a:spcAft>
            </a:pPr>
            <a:r>
              <a:rPr lang="en-US" dirty="0" smtClean="0">
                <a:latin typeface="Helvetica" pitchFamily="34" charset="0"/>
              </a:rPr>
              <a:t>Totality of services/products available</a:t>
            </a:r>
          </a:p>
          <a:p>
            <a:pPr marL="360000" indent="-360000">
              <a:lnSpc>
                <a:spcPct val="120000"/>
              </a:lnSpc>
              <a:spcBef>
                <a:spcPts val="400"/>
              </a:spcBef>
              <a:spcAft>
                <a:spcPts val="400"/>
              </a:spcAft>
            </a:pPr>
            <a:r>
              <a:rPr lang="en-US" dirty="0" smtClean="0">
                <a:latin typeface="Helvetica" pitchFamily="34" charset="0"/>
              </a:rPr>
              <a:t>Contra deals</a:t>
            </a:r>
          </a:p>
          <a:p>
            <a:pPr marL="360000" indent="-360000">
              <a:lnSpc>
                <a:spcPct val="120000"/>
              </a:lnSpc>
              <a:spcBef>
                <a:spcPts val="400"/>
              </a:spcBef>
              <a:spcAft>
                <a:spcPts val="400"/>
              </a:spcAft>
            </a:pPr>
            <a:r>
              <a:rPr lang="en-US" dirty="0" smtClean="0">
                <a:latin typeface="Helvetica" pitchFamily="34" charset="0"/>
              </a:rPr>
              <a:t>Contractual obligations.</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89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73400" y="1988840"/>
            <a:ext cx="288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discuss the proposal with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680520" cy="4093915"/>
          </a:xfrm>
        </p:spPr>
        <p:txBody>
          <a:bodyPr>
            <a:normAutofit/>
          </a:bodyPr>
          <a:lstStyle/>
          <a:p>
            <a:pPr marL="0" indent="0">
              <a:spcBef>
                <a:spcPts val="600"/>
              </a:spcBef>
              <a:spcAft>
                <a:spcPts val="1200"/>
              </a:spcAft>
              <a:buNone/>
            </a:pPr>
            <a:r>
              <a:rPr lang="en-US" dirty="0" smtClean="0">
                <a:latin typeface="Helvetica" pitchFamily="34" charset="0"/>
              </a:rPr>
              <a:t>Service providers may include:</a:t>
            </a:r>
          </a:p>
          <a:p>
            <a:pPr marL="360000" indent="-360000">
              <a:spcBef>
                <a:spcPts val="600"/>
              </a:spcBef>
              <a:spcAft>
                <a:spcPts val="1200"/>
              </a:spcAft>
            </a:pPr>
            <a:r>
              <a:rPr lang="en-US" dirty="0" smtClean="0">
                <a:latin typeface="Helvetica" pitchFamily="34" charset="0"/>
              </a:rPr>
              <a:t>Graphic designers and artists</a:t>
            </a:r>
          </a:p>
          <a:p>
            <a:pPr marL="360000" indent="-360000">
              <a:spcBef>
                <a:spcPts val="600"/>
              </a:spcBef>
              <a:spcAft>
                <a:spcPts val="1200"/>
              </a:spcAft>
            </a:pPr>
            <a:r>
              <a:rPr lang="en-US" dirty="0" smtClean="0">
                <a:latin typeface="Helvetica" pitchFamily="34" charset="0"/>
              </a:rPr>
              <a:t>Printers</a:t>
            </a:r>
          </a:p>
          <a:p>
            <a:pPr marL="360000" indent="-360000">
              <a:spcBef>
                <a:spcPts val="600"/>
              </a:spcBef>
              <a:spcAft>
                <a:spcPts val="1200"/>
              </a:spcAft>
            </a:pPr>
            <a:r>
              <a:rPr lang="en-US" dirty="0" smtClean="0">
                <a:latin typeface="Helvetica" pitchFamily="34" charset="0"/>
              </a:rPr>
              <a:t>Stock/paper suppliers</a:t>
            </a:r>
          </a:p>
          <a:p>
            <a:pPr marL="360000" indent="-360000">
              <a:spcBef>
                <a:spcPts val="600"/>
              </a:spcBef>
              <a:spcAft>
                <a:spcPts val="1200"/>
              </a:spcAft>
            </a:pPr>
            <a:r>
              <a:rPr lang="en-US" dirty="0" smtClean="0">
                <a:latin typeface="Helvetica" pitchFamily="34" charset="0"/>
              </a:rPr>
              <a:t>Colourists</a:t>
            </a:r>
          </a:p>
          <a:p>
            <a:pPr marL="360000" indent="-360000">
              <a:spcBef>
                <a:spcPts val="600"/>
              </a:spcBef>
              <a:spcAft>
                <a:spcPts val="1200"/>
              </a:spcAft>
            </a:pPr>
            <a:r>
              <a:rPr lang="en-US" dirty="0" smtClean="0">
                <a:latin typeface="Helvetica" pitchFamily="34" charset="0"/>
              </a:rPr>
              <a:t>Image makers</a:t>
            </a:r>
          </a:p>
          <a:p>
            <a:pPr marL="360000" indent="-360000">
              <a:spcBef>
                <a:spcPts val="600"/>
              </a:spcBef>
              <a:spcAft>
                <a:spcPts val="1200"/>
              </a:spcAft>
            </a:pPr>
            <a:r>
              <a:rPr lang="en-US" dirty="0" smtClean="0">
                <a:latin typeface="Helvetica" pitchFamily="34" charset="0"/>
              </a:rPr>
              <a:t>Brand strategists and brand managers.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508104" y="1988840"/>
            <a:ext cx="2083909"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discuss the proposal with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680520"/>
          </a:xfrm>
        </p:spPr>
        <p:txBody>
          <a:bodyPr>
            <a:normAutofit lnSpcReduction="10000"/>
          </a:bodyPr>
          <a:lstStyle/>
          <a:p>
            <a:pPr marL="0" indent="0">
              <a:spcBef>
                <a:spcPts val="600"/>
              </a:spcBef>
              <a:spcAft>
                <a:spcPts val="1200"/>
              </a:spcAft>
              <a:buNone/>
            </a:pPr>
            <a:r>
              <a:rPr lang="en-US" dirty="0" smtClean="0">
                <a:latin typeface="Helvetica" pitchFamily="34" charset="0"/>
              </a:rPr>
              <a:t>Important considerations at this </a:t>
            </a:r>
            <a:br>
              <a:rPr lang="en-US" dirty="0" smtClean="0">
                <a:latin typeface="Helvetica" pitchFamily="34" charset="0"/>
              </a:rPr>
            </a:br>
            <a:r>
              <a:rPr lang="en-US" dirty="0" smtClean="0">
                <a:latin typeface="Helvetica" pitchFamily="34" charset="0"/>
              </a:rPr>
              <a:t>stage:</a:t>
            </a:r>
          </a:p>
          <a:p>
            <a:pPr marL="360000" indent="-360000">
              <a:spcBef>
                <a:spcPts val="600"/>
              </a:spcBef>
              <a:spcAft>
                <a:spcPts val="1200"/>
              </a:spcAft>
            </a:pPr>
            <a:r>
              <a:rPr lang="en-AU" dirty="0" smtClean="0">
                <a:latin typeface="Helvetica" pitchFamily="34" charset="0"/>
              </a:rPr>
              <a:t>Schedule sufficient time for this stage</a:t>
            </a:r>
          </a:p>
          <a:p>
            <a:pPr marL="360000" indent="-360000">
              <a:spcBef>
                <a:spcPts val="600"/>
              </a:spcBef>
              <a:spcAft>
                <a:spcPts val="1200"/>
              </a:spcAft>
            </a:pPr>
            <a:r>
              <a:rPr lang="en-AU" dirty="0" smtClean="0">
                <a:latin typeface="Helvetica" pitchFamily="34" charset="0"/>
              </a:rPr>
              <a:t>Make sure the organisation has clearly and fully explained to the other party exactly what it wants </a:t>
            </a:r>
            <a:br>
              <a:rPr lang="en-AU" dirty="0" smtClean="0">
                <a:latin typeface="Helvetica" pitchFamily="34" charset="0"/>
              </a:rPr>
            </a:br>
            <a:r>
              <a:rPr lang="en-AU" dirty="0" smtClean="0">
                <a:latin typeface="Helvetica" pitchFamily="34" charset="0"/>
              </a:rPr>
              <a:t>to achieve</a:t>
            </a:r>
          </a:p>
          <a:p>
            <a:pPr marL="360000" indent="-360000">
              <a:spcBef>
                <a:spcPts val="600"/>
              </a:spcBef>
              <a:spcAft>
                <a:spcPts val="1200"/>
              </a:spcAft>
            </a:pPr>
            <a:r>
              <a:rPr lang="en-AU" dirty="0" smtClean="0">
                <a:latin typeface="Helvetica" pitchFamily="34" charset="0"/>
              </a:rPr>
              <a:t>Involve relevant others from the organisation in the discussions</a:t>
            </a:r>
            <a:endParaRPr lang="en-US"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49870" y="1959000"/>
            <a:ext cx="330353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Meet and discuss the proposal with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AU" dirty="0" smtClean="0">
                <a:latin typeface="Helvetica" pitchFamily="34" charset="0"/>
              </a:rPr>
              <a:t>Obtain samples of previous work done by potential providers</a:t>
            </a:r>
          </a:p>
          <a:p>
            <a:pPr marL="360000" indent="-360000">
              <a:spcBef>
                <a:spcPts val="600"/>
              </a:spcBef>
              <a:spcAft>
                <a:spcPts val="1200"/>
              </a:spcAft>
            </a:pPr>
            <a:r>
              <a:rPr lang="en-AU" dirty="0" smtClean="0">
                <a:latin typeface="Helvetica" pitchFamily="34" charset="0"/>
              </a:rPr>
              <a:t>Evaluate the samples/previous work done by the potential suppliers</a:t>
            </a:r>
          </a:p>
          <a:p>
            <a:pPr marL="360000" indent="-360000">
              <a:spcBef>
                <a:spcPts val="600"/>
              </a:spcBef>
              <a:spcAft>
                <a:spcPts val="1200"/>
              </a:spcAft>
            </a:pPr>
            <a:r>
              <a:rPr lang="en-AU" dirty="0" smtClean="0">
                <a:latin typeface="Helvetica" pitchFamily="34" charset="0"/>
              </a:rPr>
              <a:t>Develop a personal relationship/rapport with the businesses</a:t>
            </a:r>
            <a:r>
              <a:rPr lang="en-US" dirty="0" smtClean="0">
                <a:latin typeface="Helvetica" pitchFamily="34" charset="0"/>
              </a:rPr>
              <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340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specifications as basis for obtaining a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Standard practice is to obtain quotations:</a:t>
            </a:r>
          </a:p>
          <a:p>
            <a:pPr marL="360000" indent="-360000">
              <a:spcBef>
                <a:spcPts val="600"/>
              </a:spcBef>
              <a:spcAft>
                <a:spcPts val="1200"/>
              </a:spcAft>
            </a:pPr>
            <a:r>
              <a:rPr lang="en-US" sz="2200" dirty="0" smtClean="0">
                <a:latin typeface="Helvetica" pitchFamily="34" charset="0"/>
              </a:rPr>
              <a:t>A ‘quote’ is an estimated cost to do work/provide products</a:t>
            </a:r>
          </a:p>
          <a:p>
            <a:pPr marL="360000" indent="-360000">
              <a:spcBef>
                <a:spcPts val="600"/>
              </a:spcBef>
              <a:spcAft>
                <a:spcPts val="1200"/>
              </a:spcAft>
            </a:pPr>
            <a:r>
              <a:rPr lang="en-US" sz="2200" dirty="0" smtClean="0">
                <a:latin typeface="Helvetica" pitchFamily="34" charset="0"/>
              </a:rPr>
              <a:t>Even where a previous provider is used</a:t>
            </a:r>
          </a:p>
          <a:p>
            <a:pPr marL="360000" indent="-360000">
              <a:spcBef>
                <a:spcPts val="600"/>
              </a:spcBef>
              <a:spcAft>
                <a:spcPts val="1200"/>
              </a:spcAft>
            </a:pPr>
            <a:r>
              <a:rPr lang="en-US" sz="2200" dirty="0" smtClean="0">
                <a:latin typeface="Helvetica" pitchFamily="34" charset="0"/>
              </a:rPr>
              <a:t>Multiple quotes may be required for all jobs or for jobs above a given value</a:t>
            </a:r>
          </a:p>
          <a:p>
            <a:pPr marL="360000" indent="-360000">
              <a:spcBef>
                <a:spcPts val="600"/>
              </a:spcBef>
              <a:spcAft>
                <a:spcPts val="1200"/>
              </a:spcAft>
            </a:pPr>
            <a:r>
              <a:rPr lang="en-US" sz="2200" dirty="0" smtClean="0">
                <a:latin typeface="Helvetica" pitchFamily="34" charset="0"/>
              </a:rPr>
              <a:t>They can form part of a contract.</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77508"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specifications as basis for obtaining a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Job/project specifications can address/include:</a:t>
            </a:r>
          </a:p>
          <a:p>
            <a:pPr marL="360000" indent="-360000">
              <a:spcBef>
                <a:spcPts val="600"/>
              </a:spcBef>
              <a:spcAft>
                <a:spcPts val="1200"/>
              </a:spcAft>
            </a:pPr>
            <a:r>
              <a:rPr lang="en-US" sz="2200" dirty="0" smtClean="0">
                <a:latin typeface="Helvetica" pitchFamily="34" charset="0"/>
              </a:rPr>
              <a:t>Quantity required</a:t>
            </a:r>
          </a:p>
          <a:p>
            <a:pPr marL="360000" indent="-360000">
              <a:spcBef>
                <a:spcPts val="600"/>
              </a:spcBef>
              <a:spcAft>
                <a:spcPts val="1200"/>
              </a:spcAft>
            </a:pPr>
            <a:r>
              <a:rPr lang="en-US" sz="2200" dirty="0" smtClean="0">
                <a:latin typeface="Helvetica" pitchFamily="34" charset="0"/>
              </a:rPr>
              <a:t>Size and weight of finished </a:t>
            </a:r>
            <a:br>
              <a:rPr lang="en-US" sz="2200" dirty="0" smtClean="0">
                <a:latin typeface="Helvetica" pitchFamily="34" charset="0"/>
              </a:rPr>
            </a:br>
            <a:r>
              <a:rPr lang="en-US" sz="2200" dirty="0" smtClean="0">
                <a:latin typeface="Helvetica" pitchFamily="34" charset="0"/>
              </a:rPr>
              <a:t>product</a:t>
            </a:r>
          </a:p>
          <a:p>
            <a:pPr marL="360000" indent="-360000">
              <a:spcBef>
                <a:spcPts val="600"/>
              </a:spcBef>
              <a:spcAft>
                <a:spcPts val="1200"/>
              </a:spcAft>
            </a:pPr>
            <a:r>
              <a:rPr lang="en-US" sz="2200" dirty="0" smtClean="0">
                <a:latin typeface="Helvetica" pitchFamily="34" charset="0"/>
              </a:rPr>
              <a:t>Type and weight of paper </a:t>
            </a:r>
            <a:br>
              <a:rPr lang="en-US" sz="2200" dirty="0" smtClean="0">
                <a:latin typeface="Helvetica" pitchFamily="34" charset="0"/>
              </a:rPr>
            </a:br>
            <a:r>
              <a:rPr lang="en-US" sz="2200" dirty="0" smtClean="0">
                <a:latin typeface="Helvetica" pitchFamily="34" charset="0"/>
              </a:rPr>
              <a:t>used</a:t>
            </a:r>
          </a:p>
          <a:p>
            <a:pPr marL="360000" indent="-360000">
              <a:spcBef>
                <a:spcPts val="600"/>
              </a:spcBef>
              <a:spcAft>
                <a:spcPts val="1200"/>
              </a:spcAft>
            </a:pPr>
            <a:r>
              <a:rPr lang="en-US" sz="2200" dirty="0" smtClean="0">
                <a:latin typeface="Helvetica" pitchFamily="34" charset="0"/>
              </a:rPr>
              <a:t>Number of colours</a:t>
            </a:r>
          </a:p>
          <a:p>
            <a:pPr marL="360000" indent="-360000">
              <a:spcBef>
                <a:spcPts val="600"/>
              </a:spcBef>
              <a:spcAft>
                <a:spcPts val="1200"/>
              </a:spcAft>
            </a:pPr>
            <a:r>
              <a:rPr lang="en-US" sz="2200" dirty="0" smtClean="0">
                <a:latin typeface="Helvetica" pitchFamily="34" charset="0"/>
              </a:rPr>
              <a:t>Number of photographs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49392" y="2008684"/>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specifications as basis for obtaining a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Layout and style of text</a:t>
            </a:r>
          </a:p>
          <a:p>
            <a:pPr marL="360000" indent="-360000">
              <a:spcBef>
                <a:spcPts val="600"/>
              </a:spcBef>
              <a:spcAft>
                <a:spcPts val="1200"/>
              </a:spcAft>
            </a:pPr>
            <a:r>
              <a:rPr lang="en-US" dirty="0" smtClean="0">
                <a:latin typeface="Helvetica" pitchFamily="34" charset="0"/>
              </a:rPr>
              <a:t>Single- or double-sided printing</a:t>
            </a:r>
          </a:p>
          <a:p>
            <a:pPr marL="360000" indent="-360000">
              <a:spcBef>
                <a:spcPts val="600"/>
              </a:spcBef>
              <a:spcAft>
                <a:spcPts val="1200"/>
              </a:spcAft>
            </a:pPr>
            <a:r>
              <a:rPr lang="en-US" dirty="0" smtClean="0">
                <a:latin typeface="Helvetica" pitchFamily="34" charset="0"/>
              </a:rPr>
              <a:t>Number of pages</a:t>
            </a:r>
          </a:p>
          <a:p>
            <a:pPr marL="360000" indent="-360000">
              <a:spcBef>
                <a:spcPts val="600"/>
              </a:spcBef>
              <a:spcAft>
                <a:spcPts val="1200"/>
              </a:spcAft>
            </a:pPr>
            <a:r>
              <a:rPr lang="en-US" dirty="0" smtClean="0">
                <a:latin typeface="Helvetica" pitchFamily="34" charset="0"/>
              </a:rPr>
              <a:t>Requirement for proofs to be forwarded</a:t>
            </a:r>
          </a:p>
          <a:p>
            <a:pPr marL="360000" indent="-360000">
              <a:spcBef>
                <a:spcPts val="600"/>
              </a:spcBef>
              <a:spcAft>
                <a:spcPts val="1200"/>
              </a:spcAft>
            </a:pPr>
            <a:r>
              <a:rPr lang="en-US" dirty="0" smtClean="0">
                <a:latin typeface="Helvetica" pitchFamily="34" charset="0"/>
              </a:rPr>
              <a:t>How original material is to be provided to supplier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95</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292080" y="1996852"/>
            <a:ext cx="2515697"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specifications as basis for obtaining a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Extra work/services required</a:t>
            </a:r>
          </a:p>
          <a:p>
            <a:pPr marL="360000" indent="-360000">
              <a:spcBef>
                <a:spcPts val="600"/>
              </a:spcBef>
              <a:spcAft>
                <a:spcPts val="1200"/>
              </a:spcAft>
            </a:pPr>
            <a:r>
              <a:rPr lang="en-US" dirty="0" smtClean="0">
                <a:latin typeface="Helvetica" pitchFamily="34" charset="0"/>
              </a:rPr>
              <a:t>Deadline for proofs</a:t>
            </a:r>
          </a:p>
          <a:p>
            <a:pPr marL="360000" indent="-360000">
              <a:spcBef>
                <a:spcPts val="600"/>
              </a:spcBef>
              <a:spcAft>
                <a:spcPts val="1200"/>
              </a:spcAft>
            </a:pPr>
            <a:r>
              <a:rPr lang="en-US" dirty="0" smtClean="0">
                <a:latin typeface="Helvetica" pitchFamily="34" charset="0"/>
              </a:rPr>
              <a:t>Deadline for delivery</a:t>
            </a:r>
          </a:p>
          <a:p>
            <a:pPr marL="360000" indent="-360000">
              <a:spcBef>
                <a:spcPts val="600"/>
              </a:spcBef>
              <a:spcAft>
                <a:spcPts val="1200"/>
              </a:spcAft>
            </a:pPr>
            <a:r>
              <a:rPr lang="en-US" dirty="0" smtClean="0">
                <a:latin typeface="Helvetica" pitchFamily="34" charset="0"/>
              </a:rPr>
              <a:t>Budget </a:t>
            </a:r>
          </a:p>
          <a:p>
            <a:pPr marL="360000" indent="-360000">
              <a:spcBef>
                <a:spcPts val="600"/>
              </a:spcBef>
              <a:spcAft>
                <a:spcPts val="1200"/>
              </a:spcAft>
            </a:pPr>
            <a:r>
              <a:rPr lang="en-US" dirty="0" smtClean="0">
                <a:latin typeface="Helvetica" pitchFamily="34" charset="0"/>
              </a:rPr>
              <a:t>Delivery location/s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Provide specifications as basis for obtaining a quotation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Terms and conditions – such as: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Payment</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Rectification of problems</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Details regarding additional items which may be required</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Duration of validity of quote.</a:t>
            </a:r>
          </a:p>
          <a:p>
            <a:pPr marL="720000" indent="-360000">
              <a:spcBef>
                <a:spcPts val="600"/>
              </a:spcBef>
              <a:spcAft>
                <a:spcPts val="1200"/>
              </a:spcAft>
              <a:buClr>
                <a:schemeClr val="accent1">
                  <a:lumMod val="75000"/>
                </a:schemeClr>
              </a:buClr>
              <a:buSzPct val="100000"/>
              <a:buFont typeface="Arial" pitchFamily="34" charset="0"/>
              <a:buChar char="•"/>
            </a:pPr>
            <a:endParaRPr lang="en-US" sz="22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97</a:t>
            </a:fld>
            <a:endParaRPr lang="en-US" dirty="0">
              <a:latin typeface="Helvetica" pitchFamily="34" charset="0"/>
            </a:endParaRPr>
          </a:p>
        </p:txBody>
      </p:sp>
      <p:pic>
        <p:nvPicPr>
          <p:cNvPr id="5" name="Picture 4"/>
          <p:cNvPicPr>
            <a:picLocks noChangeAspect="1"/>
          </p:cNvPicPr>
          <p:nvPr/>
        </p:nvPicPr>
        <p:blipFill>
          <a:blip r:embed="rId3" cstate="print">
            <a:extLst>
              <a:ext uri="{BEBA8EAE-BF5A-486C-A8C5-ECC9F3942E4B}">
                <a14:imgProps xmlns:a14="http://schemas.microsoft.com/office/drawing/2010/main">
                  <a14:imgLayer r:embed="rId4">
                    <a14:imgEffect>
                      <a14:backgroundRemoval t="4248" b="100000" l="0" r="81063">
                        <a14:foregroundMark x1="50198" y1="97209" x2="50198" y2="97209"/>
                        <a14:foregroundMark x1="59129" y1="97209" x2="59129" y2="97209"/>
                        <a14:foregroundMark x1="63086" y1="96481" x2="63086" y2="96481"/>
                        <a14:foregroundMark x1="67948" y1="95934" x2="67948" y2="95934"/>
                        <a14:foregroundMark x1="71057" y1="92779" x2="71057" y2="92779"/>
                        <a14:foregroundMark x1="74336" y1="92051" x2="74336" y2="92051"/>
                        <a14:foregroundMark x1="77614" y1="91869" x2="77614" y2="91869"/>
                        <a14:foregroundMark x1="79706" y1="91323" x2="79706" y2="91323"/>
                        <a14:foregroundMark x1="81063" y1="95752" x2="81063" y2="95752"/>
                      </a14:backgroundRemoval>
                    </a14:imgEffect>
                  </a14:imgLayer>
                </a14:imgProps>
              </a:ext>
              <a:ext uri="{28A0092B-C50C-407E-A947-70E740481C1C}">
                <a14:useLocalDpi xmlns:a14="http://schemas.microsoft.com/office/drawing/2010/main"/>
              </a:ext>
            </a:extLst>
          </a:blip>
          <a:stretch>
            <a:fillRect/>
          </a:stretch>
        </p:blipFill>
        <p:spPr>
          <a:xfrm>
            <a:off x="4610596" y="1988840"/>
            <a:ext cx="3477249" cy="3240000"/>
          </a:xfrm>
          <a:prstGeom prst="rect">
            <a:avLst/>
          </a:prstGeom>
        </p:spPr>
      </p:pic>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quotations from a range of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Two main ways of obtaining quotes:</a:t>
            </a:r>
          </a:p>
          <a:p>
            <a:pPr marL="360000" indent="-360000">
              <a:spcBef>
                <a:spcPts val="600"/>
              </a:spcBef>
              <a:spcAft>
                <a:spcPts val="1200"/>
              </a:spcAft>
            </a:pPr>
            <a:r>
              <a:rPr lang="en-US" dirty="0" smtClean="0">
                <a:latin typeface="Helvetica" pitchFamily="34" charset="0"/>
              </a:rPr>
              <a:t>Ask for them:</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Verbally; by letter or email</a:t>
            </a:r>
          </a:p>
          <a:p>
            <a:pPr marL="360000" indent="-360000">
              <a:spcBef>
                <a:spcPts val="600"/>
              </a:spcBef>
              <a:spcAft>
                <a:spcPts val="1200"/>
              </a:spcAft>
            </a:pPr>
            <a:r>
              <a:rPr lang="en-US" dirty="0" smtClean="0">
                <a:latin typeface="Helvetica" pitchFamily="34" charset="0"/>
              </a:rPr>
              <a:t>Issue a formal RFT to ‘everyone’ or ‘selected businesses’.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98</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220072" y="1988840"/>
            <a:ext cx="2448272" cy="266946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quotations from a range of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Important points to note:</a:t>
            </a:r>
          </a:p>
          <a:p>
            <a:pPr marL="360000" indent="-360000">
              <a:spcBef>
                <a:spcPts val="600"/>
              </a:spcBef>
              <a:spcAft>
                <a:spcPts val="1200"/>
              </a:spcAft>
            </a:pPr>
            <a:r>
              <a:rPr lang="en-AU" sz="2200" dirty="0" smtClean="0">
                <a:latin typeface="Helvetica" pitchFamily="34" charset="0"/>
              </a:rPr>
              <a:t>Ensure management has approved drafts internally</a:t>
            </a:r>
          </a:p>
          <a:p>
            <a:pPr marL="360000" indent="-360000">
              <a:spcBef>
                <a:spcPts val="600"/>
              </a:spcBef>
              <a:spcAft>
                <a:spcPts val="1200"/>
              </a:spcAft>
            </a:pPr>
            <a:r>
              <a:rPr lang="en-AU" sz="2200" dirty="0" smtClean="0">
                <a:latin typeface="Helvetica" pitchFamily="34" charset="0"/>
              </a:rPr>
              <a:t>Give the same detail/information to every business asked to provide a quotation</a:t>
            </a:r>
          </a:p>
          <a:p>
            <a:pPr marL="360000" indent="-360000">
              <a:spcBef>
                <a:spcPts val="600"/>
              </a:spcBef>
              <a:spcAft>
                <a:spcPts val="1200"/>
              </a:spcAft>
            </a:pPr>
            <a:r>
              <a:rPr lang="en-AU" sz="2200" dirty="0" smtClean="0">
                <a:latin typeface="Helvetica" pitchFamily="34" charset="0"/>
              </a:rPr>
              <a:t>Ensure quotations are received from a number of different service providers</a:t>
            </a:r>
            <a:endParaRPr lang="en-US" sz="2200" dirty="0" smtClean="0">
              <a:latin typeface="Helvetica" pitchFamily="34" charset="0"/>
            </a:endParaRP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99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342730" y="1988840"/>
            <a:ext cx="281067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quotations from a range of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AU" dirty="0" smtClean="0">
                <a:latin typeface="Helvetica" pitchFamily="34" charset="0"/>
              </a:rPr>
              <a:t>Establish a file for all quotes</a:t>
            </a:r>
          </a:p>
          <a:p>
            <a:pPr marL="360000" indent="-360000">
              <a:spcBef>
                <a:spcPts val="600"/>
              </a:spcBef>
              <a:spcAft>
                <a:spcPts val="1200"/>
              </a:spcAft>
            </a:pPr>
            <a:r>
              <a:rPr lang="en-AU" dirty="0" smtClean="0">
                <a:latin typeface="Helvetica" pitchFamily="34" charset="0"/>
              </a:rPr>
              <a:t>Be available to providers</a:t>
            </a:r>
          </a:p>
          <a:p>
            <a:pPr marL="360000" indent="-360000">
              <a:spcBef>
                <a:spcPts val="600"/>
              </a:spcBef>
              <a:spcAft>
                <a:spcPts val="1200"/>
              </a:spcAft>
            </a:pPr>
            <a:r>
              <a:rPr lang="en-AU" dirty="0" smtClean="0">
                <a:latin typeface="Helvetica" pitchFamily="34" charset="0"/>
              </a:rPr>
              <a:t>Follow-up</a:t>
            </a:r>
            <a:r>
              <a:rPr lang="en-US" dirty="0" smtClean="0">
                <a:latin typeface="Helvetica" pitchFamily="34" charset="0"/>
              </a:rPr>
              <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100</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88840"/>
            <a:ext cx="2083909"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Obtain quotations from a range of service providers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‘Finishing’:</a:t>
            </a:r>
          </a:p>
          <a:p>
            <a:pPr marL="360000" indent="-360000">
              <a:spcBef>
                <a:spcPts val="600"/>
              </a:spcBef>
              <a:spcAft>
                <a:spcPts val="1200"/>
              </a:spcAft>
            </a:pPr>
            <a:r>
              <a:rPr lang="en-US" dirty="0" smtClean="0">
                <a:latin typeface="Helvetica" pitchFamily="34" charset="0"/>
              </a:rPr>
              <a:t>A generic term for completing brochure work</a:t>
            </a:r>
          </a:p>
          <a:p>
            <a:pPr marL="360000" indent="-360000">
              <a:spcBef>
                <a:spcPts val="600"/>
              </a:spcBef>
              <a:spcAft>
                <a:spcPts val="1200"/>
              </a:spcAft>
            </a:pPr>
            <a:r>
              <a:rPr lang="en-US" dirty="0" smtClean="0">
                <a:latin typeface="Helvetica" pitchFamily="34" charset="0"/>
              </a:rPr>
              <a:t>May involve:</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Folding and trimming</a:t>
            </a:r>
          </a:p>
          <a:p>
            <a:pPr marL="720000" indent="-360000">
              <a:spcBef>
                <a:spcPts val="600"/>
              </a:spcBef>
              <a:spcAft>
                <a:spcPts val="1200"/>
              </a:spcAft>
              <a:buClr>
                <a:schemeClr val="accent1">
                  <a:lumMod val="75000"/>
                </a:schemeClr>
              </a:buClr>
              <a:buSzPct val="100000"/>
              <a:buFont typeface="Arial" pitchFamily="34" charset="0"/>
              <a:buChar char="•"/>
            </a:pPr>
            <a:r>
              <a:rPr lang="en-US" dirty="0" smtClean="0">
                <a:latin typeface="Helvetica" pitchFamily="34" charset="0"/>
              </a:rPr>
              <a:t>Stitching and stapling</a:t>
            </a:r>
          </a:p>
          <a:p>
            <a:pPr marL="360000" indent="-360000">
              <a:spcBef>
                <a:spcPts val="600"/>
              </a:spcBef>
              <a:spcAft>
                <a:spcPts val="1200"/>
              </a:spcAft>
            </a:pPr>
            <a:r>
              <a:rPr lang="en-US" dirty="0" smtClean="0">
                <a:latin typeface="Helvetica" pitchFamily="34" charset="0"/>
              </a:rPr>
              <a:t>Requirements for finishing must be included in RFT.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44008" y="2415797"/>
            <a:ext cx="2297025" cy="3240000"/>
          </a:xfrm>
          <a:prstGeom prst="rect">
            <a:avLst/>
          </a:prstGeom>
        </p:spPr>
      </p:pic>
    </p:spTree>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quotations received to make a purchasing decision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Evaluation of quotations should follow the AAA approach:</a:t>
            </a:r>
          </a:p>
          <a:p>
            <a:pPr marL="360000" indent="-360000">
              <a:spcBef>
                <a:spcPts val="600"/>
              </a:spcBef>
              <a:spcAft>
                <a:spcPts val="1200"/>
              </a:spcAft>
            </a:pPr>
            <a:r>
              <a:rPr lang="en-US" dirty="0" smtClean="0">
                <a:latin typeface="Helvetica" pitchFamily="34" charset="0"/>
              </a:rPr>
              <a:t>Acknowledging</a:t>
            </a:r>
          </a:p>
          <a:p>
            <a:pPr marL="360000" indent="-360000">
              <a:spcBef>
                <a:spcPts val="600"/>
              </a:spcBef>
              <a:spcAft>
                <a:spcPts val="1200"/>
              </a:spcAft>
            </a:pPr>
            <a:r>
              <a:rPr lang="en-US" dirty="0" smtClean="0">
                <a:latin typeface="Helvetica" pitchFamily="34" charset="0"/>
              </a:rPr>
              <a:t>Assessing</a:t>
            </a:r>
          </a:p>
          <a:p>
            <a:pPr marL="360000" indent="-360000">
              <a:spcBef>
                <a:spcPts val="600"/>
              </a:spcBef>
              <a:spcAft>
                <a:spcPts val="1200"/>
              </a:spcAft>
            </a:pPr>
            <a:r>
              <a:rPr lang="en-US" dirty="0" smtClean="0">
                <a:latin typeface="Helvetica" pitchFamily="34" charset="0"/>
              </a:rPr>
              <a:t>Accepting.</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102</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86835" y="2016696"/>
            <a:ext cx="3239677"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quotations received to make a purchasing decision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‘Acknowledging’:</a:t>
            </a:r>
          </a:p>
          <a:p>
            <a:pPr marL="360000" indent="-360000">
              <a:spcBef>
                <a:spcPts val="600"/>
              </a:spcBef>
              <a:spcAft>
                <a:spcPts val="1200"/>
              </a:spcAft>
            </a:pPr>
            <a:r>
              <a:rPr lang="en-US" dirty="0" smtClean="0">
                <a:latin typeface="Helvetica" pitchFamily="34" charset="0"/>
              </a:rPr>
              <a:t>Is standard and good business practice</a:t>
            </a:r>
          </a:p>
          <a:p>
            <a:pPr marL="360000" indent="-360000">
              <a:spcBef>
                <a:spcPts val="600"/>
              </a:spcBef>
              <a:spcAft>
                <a:spcPts val="1200"/>
              </a:spcAft>
            </a:pPr>
            <a:r>
              <a:rPr lang="en-US" dirty="0" smtClean="0">
                <a:latin typeface="Helvetica" pitchFamily="34" charset="0"/>
              </a:rPr>
              <a:t>Helps cultivate relationships</a:t>
            </a:r>
          </a:p>
          <a:p>
            <a:pPr marL="360000" indent="-360000">
              <a:spcBef>
                <a:spcPts val="600"/>
              </a:spcBef>
              <a:spcAft>
                <a:spcPts val="1200"/>
              </a:spcAft>
            </a:pPr>
            <a:r>
              <a:rPr lang="en-US" dirty="0" smtClean="0">
                <a:latin typeface="Helvetica" pitchFamily="34" charset="0"/>
              </a:rPr>
              <a:t>Can be a simple email or phone call</a:t>
            </a:r>
          </a:p>
          <a:p>
            <a:pPr marL="360000" indent="-360000">
              <a:spcBef>
                <a:spcPts val="600"/>
              </a:spcBef>
              <a:spcAft>
                <a:spcPts val="1200"/>
              </a:spcAft>
            </a:pPr>
            <a:r>
              <a:rPr lang="en-US" dirty="0" smtClean="0">
                <a:latin typeface="Helvetica" pitchFamily="34" charset="0"/>
              </a:rPr>
              <a:t>Re-assures those who have submitted a quote.</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103</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292080" y="1992164"/>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quotations received to make a purchasing decision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‘Assessing’:</a:t>
            </a:r>
          </a:p>
          <a:p>
            <a:pPr marL="360000" indent="-360000">
              <a:spcBef>
                <a:spcPts val="600"/>
              </a:spcBef>
              <a:spcAft>
                <a:spcPts val="1200"/>
              </a:spcAft>
            </a:pPr>
            <a:r>
              <a:rPr lang="en-US" sz="2200" dirty="0" smtClean="0">
                <a:latin typeface="Helvetica" pitchFamily="34" charset="0"/>
              </a:rPr>
              <a:t>Is the essence of the whole process</a:t>
            </a:r>
          </a:p>
          <a:p>
            <a:pPr marL="360000" indent="-360000">
              <a:spcBef>
                <a:spcPts val="600"/>
              </a:spcBef>
              <a:spcAft>
                <a:spcPts val="1200"/>
              </a:spcAft>
            </a:pPr>
            <a:r>
              <a:rPr lang="en-US" sz="2200" dirty="0" smtClean="0">
                <a:latin typeface="Helvetica" pitchFamily="34" charset="0"/>
              </a:rPr>
              <a:t>Should be done using a team to obtain a more comprehensive and balanced analysis</a:t>
            </a:r>
          </a:p>
          <a:p>
            <a:pPr marL="360000" indent="-360000">
              <a:spcBef>
                <a:spcPts val="600"/>
              </a:spcBef>
              <a:spcAft>
                <a:spcPts val="1200"/>
              </a:spcAft>
            </a:pPr>
            <a:r>
              <a:rPr lang="en-US" sz="2200" dirty="0" smtClean="0">
                <a:latin typeface="Helvetica" pitchFamily="34" charset="0"/>
              </a:rPr>
              <a:t>Must be done against the identified criteria/specifications for the job</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104</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17703" y="2029396"/>
            <a:ext cx="3235697"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Evaluate quotations received to make a purchasing decision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Should use </a:t>
            </a:r>
            <a:r>
              <a:rPr lang="en-AU" dirty="0" smtClean="0">
                <a:latin typeface="Helvetica" pitchFamily="34" charset="0"/>
              </a:rPr>
              <a:t>a check list or ‘scoring sheet’ to use when comparing options</a:t>
            </a:r>
            <a:endParaRPr lang="en-US" dirty="0" smtClean="0">
              <a:latin typeface="Helvetica" pitchFamily="34" charset="0"/>
            </a:endParaRPr>
          </a:p>
          <a:p>
            <a:pPr marL="360000" indent="-360000">
              <a:spcBef>
                <a:spcPts val="600"/>
              </a:spcBef>
              <a:spcAft>
                <a:spcPts val="1200"/>
              </a:spcAft>
            </a:pPr>
            <a:r>
              <a:rPr lang="en-US" dirty="0" smtClean="0">
                <a:latin typeface="Helvetica" pitchFamily="34" charset="0"/>
              </a:rPr>
              <a:t>Will often require additional work/follow-up in order to do a proper assessment</a:t>
            </a:r>
          </a:p>
          <a:p>
            <a:pPr marL="360000" indent="-360000">
              <a:spcBef>
                <a:spcPts val="600"/>
              </a:spcBef>
              <a:spcAft>
                <a:spcPts val="1200"/>
              </a:spcAft>
            </a:pPr>
            <a:r>
              <a:rPr lang="en-US" dirty="0" smtClean="0">
                <a:latin typeface="Helvetica" pitchFamily="34" charset="0"/>
              </a:rPr>
              <a:t>May include provision of opportunity for providers to attend and ‘speak to’ (explain/expand on) their proposals.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76056" y="2415797"/>
            <a:ext cx="2460269" cy="3240000"/>
          </a:xfrm>
          <a:prstGeom prst="rect">
            <a:avLst/>
          </a:prstGeom>
        </p:spPr>
      </p:pic>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Select the service provider(s) to supply services and lodge official order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988840"/>
            <a:ext cx="4792046"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Factors critical in the decision of selecting service provider/s:</a:t>
            </a:r>
          </a:p>
          <a:p>
            <a:pPr marL="360000" indent="-360000">
              <a:spcBef>
                <a:spcPts val="600"/>
              </a:spcBef>
              <a:spcAft>
                <a:spcPts val="1200"/>
              </a:spcAft>
            </a:pPr>
            <a:r>
              <a:rPr lang="en-AU" sz="2200" dirty="0" smtClean="0">
                <a:latin typeface="Helvetica" pitchFamily="34" charset="0"/>
              </a:rPr>
              <a:t>Quality of the finished product</a:t>
            </a:r>
          </a:p>
          <a:p>
            <a:pPr marL="360000" indent="-360000">
              <a:spcBef>
                <a:spcPts val="600"/>
              </a:spcBef>
              <a:spcAft>
                <a:spcPts val="1200"/>
              </a:spcAft>
            </a:pPr>
            <a:r>
              <a:rPr lang="en-AU" sz="2200" dirty="0" smtClean="0">
                <a:latin typeface="Helvetica" pitchFamily="34" charset="0"/>
              </a:rPr>
              <a:t>Ability of the tenderer to deliver the product by the required timeline</a:t>
            </a:r>
          </a:p>
          <a:p>
            <a:pPr marL="360000" indent="-360000">
              <a:spcBef>
                <a:spcPts val="600"/>
              </a:spcBef>
              <a:spcAft>
                <a:spcPts val="1200"/>
              </a:spcAft>
            </a:pPr>
            <a:r>
              <a:rPr lang="en-US" sz="2200" dirty="0" smtClean="0">
                <a:latin typeface="Helvetica" pitchFamily="34" charset="0"/>
              </a:rPr>
              <a:t>Cost</a:t>
            </a:r>
          </a:p>
          <a:p>
            <a:pPr marL="360000" indent="-360000">
              <a:spcBef>
                <a:spcPts val="600"/>
              </a:spcBef>
              <a:spcAft>
                <a:spcPts val="1200"/>
              </a:spcAft>
            </a:pPr>
            <a:r>
              <a:rPr lang="en-AU" sz="2200" dirty="0" smtClean="0">
                <a:latin typeface="Helvetica" pitchFamily="34" charset="0"/>
              </a:rPr>
              <a:t>Terms and conditions</a:t>
            </a:r>
          </a:p>
          <a:p>
            <a:pPr marL="360000" indent="-360000">
              <a:spcBef>
                <a:spcPts val="600"/>
              </a:spcBef>
              <a:spcAft>
                <a:spcPts val="1200"/>
              </a:spcAft>
            </a:pPr>
            <a:r>
              <a:rPr lang="en-AU" sz="2200" dirty="0" smtClean="0">
                <a:latin typeface="Helvetica" pitchFamily="34" charset="0"/>
              </a:rPr>
              <a:t>Capacity of the business to provide any identified additional work</a:t>
            </a:r>
            <a:r>
              <a:rPr lang="en-US" sz="2200" dirty="0" smtClean="0">
                <a:latin typeface="Helvetica" pitchFamily="34" charset="0"/>
              </a:rPr>
              <a: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2348880"/>
            <a:ext cx="2451370" cy="3240000"/>
          </a:xfrm>
          <a:prstGeom prst="rect">
            <a:avLst/>
          </a:prstGeom>
        </p:spPr>
      </p:pic>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Select the service provider(s) to supply services and lodge official order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Activities in accepting a quote:</a:t>
            </a:r>
          </a:p>
          <a:p>
            <a:pPr marL="360000" indent="-360000">
              <a:spcBef>
                <a:spcPts val="600"/>
              </a:spcBef>
              <a:spcAft>
                <a:spcPts val="1200"/>
              </a:spcAft>
            </a:pPr>
            <a:r>
              <a:rPr lang="en-US" dirty="0" smtClean="0">
                <a:latin typeface="Helvetica" pitchFamily="34" charset="0"/>
              </a:rPr>
              <a:t>Obtain consensus about which provider is to be used</a:t>
            </a:r>
          </a:p>
          <a:p>
            <a:pPr marL="360000" indent="-360000">
              <a:spcBef>
                <a:spcPts val="600"/>
              </a:spcBef>
              <a:spcAft>
                <a:spcPts val="1200"/>
              </a:spcAft>
            </a:pPr>
            <a:r>
              <a:rPr lang="en-US" dirty="0" smtClean="0">
                <a:latin typeface="Helvetica" pitchFamily="34" charset="0"/>
              </a:rPr>
              <a:t>Notify the successful tenderer</a:t>
            </a:r>
          </a:p>
          <a:p>
            <a:pPr marL="360000" indent="-360000">
              <a:spcBef>
                <a:spcPts val="600"/>
              </a:spcBef>
              <a:spcAft>
                <a:spcPts val="1200"/>
              </a:spcAft>
            </a:pPr>
            <a:r>
              <a:rPr lang="en-US" dirty="0" smtClean="0">
                <a:latin typeface="Helvetica" pitchFamily="34" charset="0"/>
              </a:rPr>
              <a:t>Communicate the decision to relevant others</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107</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04048" y="1844824"/>
            <a:ext cx="2297025" cy="3240000"/>
          </a:xfrm>
          <a:prstGeom prst="rect">
            <a:avLst/>
          </a:prstGeom>
        </p:spPr>
      </p:pic>
    </p:spTree>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Select the service provider(s) to supply services and lodge official order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Advise unsuccessful tenderers</a:t>
            </a:r>
          </a:p>
          <a:p>
            <a:pPr marL="360000" indent="-360000">
              <a:spcBef>
                <a:spcPts val="600"/>
              </a:spcBef>
              <a:spcAft>
                <a:spcPts val="1200"/>
              </a:spcAft>
            </a:pPr>
            <a:r>
              <a:rPr lang="en-US" dirty="0" smtClean="0">
                <a:latin typeface="Helvetica" pitchFamily="34" charset="0"/>
              </a:rPr>
              <a:t>Pay a deposit</a:t>
            </a:r>
          </a:p>
          <a:p>
            <a:pPr marL="360000" indent="-360000">
              <a:spcBef>
                <a:spcPts val="600"/>
              </a:spcBef>
              <a:spcAft>
                <a:spcPts val="1200"/>
              </a:spcAft>
            </a:pPr>
            <a:r>
              <a:rPr lang="en-US" dirty="0" smtClean="0">
                <a:latin typeface="Helvetica" pitchFamily="34" charset="0"/>
              </a:rPr>
              <a:t>Finalise ‘last minute’ issues.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108</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86140"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Select the service provider(s) to supply services and lodge official order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600400" cy="4798349"/>
          </a:xfrm>
        </p:spPr>
        <p:txBody>
          <a:bodyPr>
            <a:normAutofit/>
          </a:bodyPr>
          <a:lstStyle/>
          <a:p>
            <a:pPr marL="0" indent="0">
              <a:spcBef>
                <a:spcPts val="400"/>
              </a:spcBef>
              <a:spcAft>
                <a:spcPts val="400"/>
              </a:spcAft>
              <a:buNone/>
            </a:pPr>
            <a:r>
              <a:rPr lang="en-US" dirty="0" smtClean="0">
                <a:latin typeface="Helvetica" pitchFamily="34" charset="0"/>
              </a:rPr>
              <a:t>A ‘Purchase Order’:</a:t>
            </a:r>
          </a:p>
          <a:p>
            <a:pPr marL="360000" indent="-360000">
              <a:spcBef>
                <a:spcPts val="400"/>
              </a:spcBef>
              <a:spcAft>
                <a:spcPts val="400"/>
              </a:spcAft>
            </a:pPr>
            <a:r>
              <a:rPr lang="en-US" dirty="0" smtClean="0">
                <a:latin typeface="Helvetica" pitchFamily="34" charset="0"/>
              </a:rPr>
              <a:t>Is raised by the buyer to formalise, authorise and legitimise the purchase with the supplier/provider</a:t>
            </a:r>
          </a:p>
          <a:p>
            <a:pPr marL="360000" indent="-360000">
              <a:spcBef>
                <a:spcPts val="400"/>
              </a:spcBef>
              <a:spcAft>
                <a:spcPts val="400"/>
              </a:spcAft>
            </a:pPr>
            <a:r>
              <a:rPr lang="en-US" dirty="0" smtClean="0">
                <a:latin typeface="Helvetica" pitchFamily="34" charset="0"/>
              </a:rPr>
              <a:t>Is not used/required in every instance</a:t>
            </a:r>
          </a:p>
          <a:p>
            <a:pPr marL="360000" indent="-360000">
              <a:spcBef>
                <a:spcPts val="400"/>
              </a:spcBef>
              <a:spcAft>
                <a:spcPts val="400"/>
              </a:spcAft>
            </a:pPr>
            <a:r>
              <a:rPr lang="en-US" dirty="0" smtClean="0">
                <a:latin typeface="Helvetica" pitchFamily="34" charset="0"/>
              </a:rPr>
              <a:t>Confirms/verifies the organisation will pay for the goods and services listed on the document</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109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954465" y="1992040"/>
            <a:ext cx="3226667"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Select the service provider(s) to supply services and lodge official order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360000" indent="-360000">
              <a:spcBef>
                <a:spcPts val="600"/>
              </a:spcBef>
              <a:spcAft>
                <a:spcPts val="1200"/>
              </a:spcAft>
            </a:pPr>
            <a:r>
              <a:rPr lang="en-US" dirty="0" smtClean="0">
                <a:latin typeface="Helvetica" pitchFamily="34" charset="0"/>
              </a:rPr>
              <a:t>May be forwarded by mail, fax or email</a:t>
            </a:r>
          </a:p>
          <a:p>
            <a:pPr marL="360000" indent="-360000">
              <a:spcBef>
                <a:spcPts val="600"/>
              </a:spcBef>
              <a:spcAft>
                <a:spcPts val="1200"/>
              </a:spcAft>
            </a:pPr>
            <a:r>
              <a:rPr lang="en-US" dirty="0" smtClean="0">
                <a:latin typeface="Helvetica" pitchFamily="34" charset="0"/>
              </a:rPr>
              <a:t>Copy of the Purchase Order is retained ‘on file’</a:t>
            </a:r>
          </a:p>
          <a:p>
            <a:pPr marL="360000" indent="-360000">
              <a:spcBef>
                <a:spcPts val="600"/>
              </a:spcBef>
              <a:spcAft>
                <a:spcPts val="1200"/>
              </a:spcAft>
            </a:pPr>
            <a:r>
              <a:rPr lang="en-US" dirty="0" smtClean="0">
                <a:latin typeface="Helvetica" pitchFamily="34" charset="0"/>
              </a:rPr>
              <a:t>Can be replaced through the use of e-purchasing</a:t>
            </a:r>
          </a:p>
          <a:p>
            <a:pPr marL="360000" indent="-360000">
              <a:spcBef>
                <a:spcPts val="600"/>
              </a:spcBef>
              <a:spcAft>
                <a:spcPts val="1200"/>
              </a:spcAft>
            </a:pPr>
            <a:r>
              <a:rPr lang="en-US" dirty="0" smtClean="0">
                <a:latin typeface="Helvetica" pitchFamily="34" charset="0"/>
              </a:rPr>
              <a:t>Will require authorisation and action by management and/or internal administration.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110</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325602" y="1988840"/>
            <a:ext cx="272285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Select the service provider(s) to supply services and lodge official order</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752528" cy="453650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Standard detail on a Purchase order are:</a:t>
            </a:r>
          </a:p>
          <a:p>
            <a:pPr marL="360000" indent="-360000">
              <a:lnSpc>
                <a:spcPct val="120000"/>
              </a:lnSpc>
              <a:spcBef>
                <a:spcPts val="600"/>
              </a:spcBef>
              <a:spcAft>
                <a:spcPts val="600"/>
              </a:spcAft>
            </a:pPr>
            <a:r>
              <a:rPr lang="en-US" sz="2200" dirty="0" smtClean="0">
                <a:latin typeface="Helvetica" pitchFamily="34" charset="0"/>
              </a:rPr>
              <a:t>Name and contact details of the organisation</a:t>
            </a:r>
          </a:p>
          <a:p>
            <a:pPr marL="360000" indent="-360000">
              <a:lnSpc>
                <a:spcPct val="120000"/>
              </a:lnSpc>
              <a:spcBef>
                <a:spcPts val="600"/>
              </a:spcBef>
              <a:spcAft>
                <a:spcPts val="600"/>
              </a:spcAft>
            </a:pPr>
            <a:r>
              <a:rPr lang="en-US" sz="2200" dirty="0" smtClean="0">
                <a:latin typeface="Helvetica" pitchFamily="34" charset="0"/>
              </a:rPr>
              <a:t>Name of supplier</a:t>
            </a:r>
          </a:p>
          <a:p>
            <a:pPr marL="360000" indent="-360000">
              <a:lnSpc>
                <a:spcPct val="120000"/>
              </a:lnSpc>
              <a:spcBef>
                <a:spcPts val="600"/>
              </a:spcBef>
              <a:spcAft>
                <a:spcPts val="600"/>
              </a:spcAft>
            </a:pPr>
            <a:r>
              <a:rPr lang="en-US" sz="2200" dirty="0" smtClean="0">
                <a:latin typeface="Helvetica" pitchFamily="34" charset="0"/>
              </a:rPr>
              <a:t>Details of what is ordered/authorised/will be paid for</a:t>
            </a:r>
          </a:p>
          <a:p>
            <a:pPr marL="360000" indent="-360000">
              <a:lnSpc>
                <a:spcPct val="120000"/>
              </a:lnSpc>
              <a:spcBef>
                <a:spcPts val="600"/>
              </a:spcBef>
              <a:spcAft>
                <a:spcPts val="600"/>
              </a:spcAft>
            </a:pPr>
            <a:r>
              <a:rPr lang="en-US" sz="2200" dirty="0" smtClean="0">
                <a:latin typeface="Helvetica" pitchFamily="34" charset="0"/>
              </a:rPr>
              <a:t>Quantities</a:t>
            </a:r>
          </a:p>
          <a:p>
            <a:pPr marL="360000" indent="-360000">
              <a:lnSpc>
                <a:spcPct val="120000"/>
              </a:lnSpc>
              <a:spcBef>
                <a:spcPts val="600"/>
              </a:spcBef>
              <a:spcAft>
                <a:spcPts val="600"/>
              </a:spcAft>
            </a:pPr>
            <a:r>
              <a:rPr lang="en-US" sz="2200" dirty="0" smtClean="0">
                <a:latin typeface="Helvetica" pitchFamily="34" charset="0"/>
              </a:rPr>
              <a:t>Price</a:t>
            </a:r>
          </a:p>
          <a:p>
            <a:pPr marL="360000" indent="-360000">
              <a:lnSpc>
                <a:spcPct val="120000"/>
              </a:lnSpc>
              <a:spcBef>
                <a:spcPts val="600"/>
              </a:spcBef>
              <a:spcAft>
                <a:spcPts val="600"/>
              </a:spcAft>
            </a:pPr>
            <a:r>
              <a:rPr lang="en-US" sz="2200" dirty="0" smtClean="0">
                <a:latin typeface="Helvetica" pitchFamily="34" charset="0"/>
              </a:rPr>
              <a:t>Authorising signature</a:t>
            </a:r>
          </a:p>
          <a:p>
            <a:pPr marL="360000" indent="-360000">
              <a:lnSpc>
                <a:spcPct val="120000"/>
              </a:lnSpc>
              <a:spcBef>
                <a:spcPts val="600"/>
              </a:spcBef>
              <a:spcAft>
                <a:spcPts val="600"/>
              </a:spcAft>
            </a:pPr>
            <a:r>
              <a:rPr lang="en-US" sz="2200" dirty="0" smtClean="0">
                <a:latin typeface="Helvetica" pitchFamily="34" charset="0"/>
              </a:rPr>
              <a:t>Reference number.</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111</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644340" y="1988840"/>
            <a:ext cx="2160000" cy="324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556792"/>
            <a:ext cx="3960440" cy="4525963"/>
          </a:xfrm>
        </p:spPr>
        <p:txBody>
          <a:bodyPr>
            <a:normAutofit fontScale="92500"/>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obtaining quotations for production of brochures and marketing materials</a:t>
            </a:r>
            <a:r>
              <a:rPr lang="en-US" sz="2200" dirty="0" smtClean="0">
                <a:latin typeface="Helvetica" pitchFamily="34" charset="0"/>
              </a:rPr>
              <a:t>:</a:t>
            </a:r>
          </a:p>
          <a:p>
            <a:pPr>
              <a:spcBef>
                <a:spcPts val="600"/>
              </a:spcBef>
              <a:spcAft>
                <a:spcPts val="600"/>
              </a:spcAft>
            </a:pPr>
            <a:r>
              <a:rPr lang="en-AU" sz="2200" dirty="0" smtClean="0">
                <a:latin typeface="Helvetica" pitchFamily="34" charset="0"/>
              </a:rPr>
              <a:t>Meet with external providers and get to know them and their capacity</a:t>
            </a:r>
          </a:p>
          <a:p>
            <a:pPr>
              <a:spcBef>
                <a:spcPts val="600"/>
              </a:spcBef>
              <a:spcAft>
                <a:spcPts val="600"/>
              </a:spcAft>
            </a:pPr>
            <a:r>
              <a:rPr lang="en-AU" sz="2200" dirty="0" smtClean="0">
                <a:latin typeface="Helvetica" pitchFamily="34" charset="0"/>
              </a:rPr>
              <a:t>Meet and speak face-to-face</a:t>
            </a:r>
          </a:p>
          <a:p>
            <a:pPr>
              <a:spcBef>
                <a:spcPts val="600"/>
              </a:spcBef>
              <a:spcAft>
                <a:spcPts val="600"/>
              </a:spcAft>
            </a:pPr>
            <a:r>
              <a:rPr lang="en-AU" sz="2200" dirty="0" smtClean="0">
                <a:latin typeface="Helvetica" pitchFamily="34" charset="0"/>
              </a:rPr>
              <a:t>Look at previous work providers have done</a:t>
            </a:r>
          </a:p>
          <a:p>
            <a:pPr>
              <a:spcBef>
                <a:spcPts val="600"/>
              </a:spcBef>
              <a:spcAft>
                <a:spcPts val="600"/>
              </a:spcAft>
            </a:pPr>
            <a:r>
              <a:rPr lang="en-AU" sz="2200" dirty="0" smtClean="0">
                <a:latin typeface="Helvetica" pitchFamily="34" charset="0"/>
              </a:rPr>
              <a:t>Generate clear specifications about what is required</a:t>
            </a:r>
          </a:p>
          <a:p>
            <a:pPr lvl="0">
              <a:buNone/>
            </a:pPr>
            <a:r>
              <a:rPr lang="en-US" sz="1400" dirty="0" smtClean="0">
                <a:latin typeface="Helvetica" pitchFamily="34" charset="0"/>
              </a:rPr>
              <a:t>(Continued)</a:t>
            </a:r>
            <a:endParaRPr lang="en-AU" sz="1400"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112</a:t>
            </a:fld>
            <a:endParaRPr lang="en-US" dirty="0">
              <a:latin typeface="Helvetica" pitchFamily="34" charset="0"/>
            </a:endParaRPr>
          </a:p>
        </p:txBody>
      </p:sp>
      <p:pic>
        <p:nvPicPr>
          <p:cNvPr id="9" name="Picture 8"/>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029160" y="2181641"/>
            <a:ext cx="3898670" cy="3240000"/>
          </a:xfrm>
          <a:prstGeom prst="rect">
            <a:avLst/>
          </a:prstGeom>
        </p:spPr>
      </p:pic>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r>
              <a:rPr lang="en-AU" sz="2200" dirty="0" smtClean="0">
                <a:latin typeface="Helvetica" pitchFamily="34" charset="0"/>
              </a:rPr>
              <a:t>Be aware of the possible need to involve/use ‘preferred suppliers</a:t>
            </a:r>
            <a:r>
              <a:rPr lang="en-AU" sz="2400" dirty="0" smtClean="0"/>
              <a:t>’</a:t>
            </a:r>
            <a:endParaRPr lang="en-AU" sz="2200" dirty="0" smtClean="0">
              <a:latin typeface="Helvetica" pitchFamily="34" charset="0"/>
            </a:endParaRPr>
          </a:p>
          <a:p>
            <a:r>
              <a:rPr lang="en-AU" sz="2200" dirty="0" smtClean="0">
                <a:latin typeface="Helvetica" pitchFamily="34" charset="0"/>
              </a:rPr>
              <a:t>Use these specifications as criteria for deciding which supplier/printer to use</a:t>
            </a:r>
          </a:p>
          <a:p>
            <a:r>
              <a:rPr lang="en-AU" sz="2200" dirty="0" smtClean="0">
                <a:latin typeface="Helvetica" pitchFamily="34" charset="0"/>
              </a:rPr>
              <a:t>Ensure all requirements for the job arte included in the specifications</a:t>
            </a:r>
          </a:p>
          <a:p>
            <a:r>
              <a:rPr lang="en-AU" sz="2200" dirty="0" smtClean="0">
                <a:latin typeface="Helvetica" pitchFamily="34" charset="0"/>
              </a:rPr>
              <a:t>Develop a working relationship with any external businesses to be used</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903484" y="2181641"/>
            <a:ext cx="4257556" cy="3240000"/>
          </a:xfrm>
          <a:prstGeom prst="rect">
            <a:avLst/>
          </a:prstGeom>
        </p:spPr>
      </p:pic>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4</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10000"/>
          </a:bodyPr>
          <a:lstStyle/>
          <a:p>
            <a:r>
              <a:rPr lang="en-AU" sz="2200" dirty="0" smtClean="0">
                <a:latin typeface="Helvetica" pitchFamily="34" charset="0"/>
              </a:rPr>
              <a:t>Seek quotations for work to be done</a:t>
            </a:r>
          </a:p>
          <a:p>
            <a:r>
              <a:rPr lang="en-AU" sz="2200" dirty="0" smtClean="0">
                <a:latin typeface="Helvetica" pitchFamily="34" charset="0"/>
              </a:rPr>
              <a:t>Acknowledge receipt of all quotations/tenders</a:t>
            </a:r>
          </a:p>
          <a:p>
            <a:r>
              <a:rPr lang="en-AU" sz="2200" dirty="0" smtClean="0">
                <a:latin typeface="Helvetica" pitchFamily="34" charset="0"/>
              </a:rPr>
              <a:t>Form a team to assess/analyse options</a:t>
            </a:r>
          </a:p>
          <a:p>
            <a:r>
              <a:rPr lang="en-AU" sz="2200" dirty="0" smtClean="0">
                <a:latin typeface="Helvetica" pitchFamily="34" charset="0"/>
              </a:rPr>
              <a:t>Base selection of successful tenderers on the specifications for the job</a:t>
            </a:r>
          </a:p>
          <a:p>
            <a:r>
              <a:rPr lang="en-AU" sz="2200" dirty="0" smtClean="0">
                <a:latin typeface="Helvetica" pitchFamily="34" charset="0"/>
              </a:rPr>
              <a:t>Advise the successful applicant and initiate action to begin production of what is required.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29160" y="2199773"/>
            <a:ext cx="4050000" cy="3240000"/>
          </a:xfrm>
          <a:prstGeom prst="rect">
            <a:avLst/>
          </a:prstGeom>
        </p:spPr>
      </p:pic>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fontScale="90000"/>
          </a:bodyPr>
          <a:lstStyle/>
          <a:p>
            <a:r>
              <a:rPr lang="en-US" sz="3400" b="1" dirty="0" smtClean="0">
                <a:solidFill>
                  <a:srgbClr val="FF6600"/>
                </a:solidFill>
                <a:latin typeface="Helvetica" pitchFamily="34" charset="0"/>
              </a:rPr>
              <a:t>Element 5 – Administer activities relating to the production of final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500034" y="1628800"/>
            <a:ext cx="7653366" cy="4433224"/>
          </a:xfrm>
        </p:spPr>
        <p:txBody>
          <a:bodyPr>
            <a:normAutofit lnSpcReduction="10000"/>
          </a:bodyPr>
          <a:lstStyle/>
          <a:p>
            <a:pPr marL="0" indent="0">
              <a:spcBef>
                <a:spcPts val="600"/>
              </a:spcBef>
              <a:spcAft>
                <a:spcPts val="1200"/>
              </a:spcAft>
              <a:buNone/>
            </a:pPr>
            <a:r>
              <a:rPr lang="en-US" dirty="0" smtClean="0">
                <a:latin typeface="Helvetica" pitchFamily="34" charset="0"/>
              </a:rPr>
              <a:t>Performance Criteria for this Element are:</a:t>
            </a:r>
          </a:p>
          <a:p>
            <a:pPr marL="360000" indent="-360000">
              <a:lnSpc>
                <a:spcPct val="110000"/>
              </a:lnSpc>
              <a:spcBef>
                <a:spcPts val="600"/>
              </a:spcBef>
              <a:spcAft>
                <a:spcPts val="600"/>
              </a:spcAft>
            </a:pPr>
            <a:r>
              <a:rPr lang="en-AU" dirty="0" smtClean="0">
                <a:latin typeface="Helvetica" pitchFamily="34" charset="0"/>
              </a:rPr>
              <a:t>Monitor production activities undertaken by selected service providers</a:t>
            </a:r>
            <a:endParaRPr lang="en-US" dirty="0" smtClean="0">
              <a:latin typeface="Helvetica" pitchFamily="34" charset="0"/>
            </a:endParaRPr>
          </a:p>
          <a:p>
            <a:pPr marL="360000" indent="-360000">
              <a:lnSpc>
                <a:spcPct val="110000"/>
              </a:lnSpc>
              <a:spcBef>
                <a:spcPts val="600"/>
              </a:spcBef>
              <a:spcAft>
                <a:spcPts val="600"/>
              </a:spcAft>
            </a:pPr>
            <a:r>
              <a:rPr lang="en-AU" dirty="0" smtClean="0">
                <a:latin typeface="Helvetica" pitchFamily="34" charset="0"/>
              </a:rPr>
              <a:t>Ensure payment to service providers, as agreed</a:t>
            </a:r>
          </a:p>
          <a:p>
            <a:pPr marL="360000" indent="-360000">
              <a:lnSpc>
                <a:spcPct val="110000"/>
              </a:lnSpc>
              <a:spcBef>
                <a:spcPts val="600"/>
              </a:spcBef>
              <a:spcAft>
                <a:spcPts val="600"/>
              </a:spcAft>
            </a:pPr>
            <a:r>
              <a:rPr lang="en-AU" dirty="0" smtClean="0">
                <a:latin typeface="Helvetica" pitchFamily="34" charset="0"/>
              </a:rPr>
              <a:t>Identify and use alternative service providers where production timelines are not being met</a:t>
            </a:r>
          </a:p>
          <a:p>
            <a:pPr marL="360000" indent="-360000">
              <a:lnSpc>
                <a:spcPct val="110000"/>
              </a:lnSpc>
              <a:spcBef>
                <a:spcPts val="600"/>
              </a:spcBef>
              <a:spcAft>
                <a:spcPts val="600"/>
              </a:spcAft>
            </a:pPr>
            <a:r>
              <a:rPr lang="en-AU" dirty="0" smtClean="0">
                <a:latin typeface="Helvetica" pitchFamily="34" charset="0"/>
              </a:rPr>
              <a:t>Proof read material that is produced as final items for approval prior to full production</a:t>
            </a:r>
          </a:p>
          <a:p>
            <a:pPr marL="360000" indent="-360000">
              <a:lnSpc>
                <a:spcPct val="110000"/>
              </a:lnSpc>
              <a:spcBef>
                <a:spcPts val="600"/>
              </a:spcBef>
              <a:spcAft>
                <a:spcPts val="600"/>
              </a:spcAft>
            </a:pPr>
            <a:r>
              <a:rPr lang="en-AU" dirty="0" smtClean="0">
                <a:latin typeface="Helvetica" pitchFamily="34" charset="0"/>
              </a:rPr>
              <a:t>Authorise production of final items</a:t>
            </a:r>
          </a:p>
          <a:p>
            <a:pPr marL="360000" indent="-360000">
              <a:lnSpc>
                <a:spcPct val="110000"/>
              </a:lnSpc>
              <a:spcBef>
                <a:spcPts val="600"/>
              </a:spcBef>
              <a:spcAft>
                <a:spcPts val="600"/>
              </a:spcAft>
            </a:pPr>
            <a:r>
              <a:rPr lang="en-AU" dirty="0" smtClean="0">
                <a:latin typeface="Helvetica" pitchFamily="34" charset="0"/>
              </a:rPr>
              <a:t>Check items supplied by service providers as </a:t>
            </a:r>
            <a:br>
              <a:rPr lang="en-AU" dirty="0" smtClean="0">
                <a:latin typeface="Helvetica" pitchFamily="34" charset="0"/>
              </a:rPr>
            </a:br>
            <a:r>
              <a:rPr lang="en-AU" dirty="0" smtClean="0">
                <a:latin typeface="Helvetica" pitchFamily="34" charset="0"/>
              </a:rPr>
              <a:t>final items</a:t>
            </a:r>
            <a:r>
              <a:rPr lang="en-US" dirty="0" smtClean="0">
                <a:latin typeface="Helvetica" pitchFamily="34" charset="0"/>
              </a:rPr>
              <a:t>. </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115</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8072494" cy="1143000"/>
          </a:xfrm>
        </p:spPr>
        <p:txBody>
          <a:bodyPr>
            <a:noAutofit/>
          </a:bodyPr>
          <a:lstStyle/>
          <a:p>
            <a:r>
              <a:rPr lang="en-AU" sz="3200" b="1" dirty="0" smtClean="0">
                <a:solidFill>
                  <a:srgbClr val="FF6600"/>
                </a:solidFill>
                <a:latin typeface="Helvetica" pitchFamily="34" charset="0"/>
              </a:rPr>
              <a:t>Monitor production activities undertaken by selected service providers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After provider has been notified they have the job there is a need to:</a:t>
            </a:r>
          </a:p>
          <a:p>
            <a:pPr marL="360000" indent="-360000">
              <a:spcBef>
                <a:spcPts val="600"/>
              </a:spcBef>
              <a:spcAft>
                <a:spcPts val="1200"/>
              </a:spcAft>
            </a:pPr>
            <a:r>
              <a:rPr lang="en-US" dirty="0" smtClean="0">
                <a:latin typeface="Helvetica" pitchFamily="34" charset="0"/>
              </a:rPr>
              <a:t>Be available to them, as/if required</a:t>
            </a:r>
          </a:p>
          <a:p>
            <a:pPr marL="360000" indent="-360000">
              <a:spcBef>
                <a:spcPts val="600"/>
              </a:spcBef>
              <a:spcAft>
                <a:spcPts val="1200"/>
              </a:spcAft>
            </a:pPr>
            <a:r>
              <a:rPr lang="en-US" dirty="0" smtClean="0">
                <a:latin typeface="Helvetica" pitchFamily="34" charset="0"/>
              </a:rPr>
              <a:t>Meet with them on a regular basis</a:t>
            </a:r>
          </a:p>
          <a:p>
            <a:pPr marL="360000" indent="-360000">
              <a:spcBef>
                <a:spcPts val="600"/>
              </a:spcBef>
              <a:spcAft>
                <a:spcPts val="1200"/>
              </a:spcAft>
            </a:pPr>
            <a:r>
              <a:rPr lang="en-US" dirty="0" smtClean="0">
                <a:latin typeface="Helvetica" pitchFamily="34" charset="0"/>
              </a:rPr>
              <a:t>Make decisions as needed to move the project forward.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2415797"/>
            <a:ext cx="2505168" cy="3240000"/>
          </a:xfrm>
          <a:prstGeom prst="rect">
            <a:avLst/>
          </a:prstGeom>
        </p:spPr>
      </p:pic>
    </p:spTree>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8072494" cy="1143000"/>
          </a:xfrm>
        </p:spPr>
        <p:txBody>
          <a:bodyPr>
            <a:noAutofit/>
          </a:bodyPr>
          <a:lstStyle/>
          <a:p>
            <a:r>
              <a:rPr lang="en-AU" sz="3200" b="1" dirty="0" smtClean="0">
                <a:solidFill>
                  <a:srgbClr val="FF6600"/>
                </a:solidFill>
                <a:latin typeface="Helvetica" pitchFamily="34" charset="0"/>
              </a:rPr>
              <a:t>Monitor production activities undertaken by selected service providers</a:t>
            </a:r>
            <a:endParaRPr lang="en-US" sz="32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Other key at this stage:</a:t>
            </a:r>
          </a:p>
          <a:p>
            <a:pPr marL="360000" indent="-360000">
              <a:spcBef>
                <a:spcPts val="600"/>
              </a:spcBef>
              <a:spcAft>
                <a:spcPts val="1200"/>
              </a:spcAft>
            </a:pPr>
            <a:r>
              <a:rPr lang="en-US" dirty="0" smtClean="0">
                <a:latin typeface="Helvetica" pitchFamily="34" charset="0"/>
              </a:rPr>
              <a:t>Never ignore problems</a:t>
            </a:r>
          </a:p>
          <a:p>
            <a:pPr marL="360000" indent="-360000">
              <a:spcBef>
                <a:spcPts val="600"/>
              </a:spcBef>
              <a:spcAft>
                <a:spcPts val="1200"/>
              </a:spcAft>
            </a:pPr>
            <a:r>
              <a:rPr lang="en-US" dirty="0" smtClean="0">
                <a:latin typeface="Helvetica" pitchFamily="34" charset="0"/>
              </a:rPr>
              <a:t>Respond promptly to providers</a:t>
            </a:r>
          </a:p>
          <a:p>
            <a:pPr marL="360000" indent="-360000">
              <a:spcBef>
                <a:spcPts val="600"/>
              </a:spcBef>
              <a:spcAft>
                <a:spcPts val="1200"/>
              </a:spcAft>
            </a:pPr>
            <a:r>
              <a:rPr lang="en-US" dirty="0" smtClean="0">
                <a:latin typeface="Helvetica" pitchFamily="34" charset="0"/>
              </a:rPr>
              <a:t>Take whatever action is appropriate to keep providers ‘on their toes’.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117</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4788024" y="1996976"/>
            <a:ext cx="3192142" cy="2880000"/>
          </a:xfrm>
          <a:prstGeom prst="rect">
            <a:avLst/>
          </a:prstGeom>
        </p:spPr>
      </p:pic>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payment to service providers, as agreed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20480" cy="4320480"/>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Three main reasons to pay providers:</a:t>
            </a:r>
          </a:p>
          <a:p>
            <a:pPr marL="360000" indent="-360000">
              <a:spcBef>
                <a:spcPts val="600"/>
              </a:spcBef>
              <a:spcAft>
                <a:spcPts val="1200"/>
              </a:spcAft>
            </a:pPr>
            <a:r>
              <a:rPr lang="en-US" sz="2200" dirty="0" smtClean="0">
                <a:latin typeface="Helvetica" pitchFamily="34" charset="0"/>
              </a:rPr>
              <a:t>To make things easier if the organisation wants to deal with the provider again</a:t>
            </a:r>
          </a:p>
          <a:p>
            <a:pPr marL="360000" indent="-360000">
              <a:spcBef>
                <a:spcPts val="600"/>
              </a:spcBef>
              <a:spcAft>
                <a:spcPts val="1200"/>
              </a:spcAft>
            </a:pPr>
            <a:r>
              <a:rPr lang="en-US" sz="2200" dirty="0" smtClean="0">
                <a:latin typeface="Helvetica" pitchFamily="34" charset="0"/>
              </a:rPr>
              <a:t>To make sure providers are unable to spread negative information among other providers about the organisation being a ‘bad’ or ‘slow’ payer – to maintain business reputation</a:t>
            </a:r>
          </a:p>
          <a:p>
            <a:pPr marL="360000" indent="-360000">
              <a:spcBef>
                <a:spcPts val="600"/>
              </a:spcBef>
              <a:spcAft>
                <a:spcPts val="1200"/>
              </a:spcAft>
            </a:pPr>
            <a:r>
              <a:rPr lang="en-US" sz="2200" dirty="0" smtClean="0">
                <a:latin typeface="Helvetica" pitchFamily="34" charset="0"/>
              </a:rPr>
              <a:t>To avoid legal action.</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118</a:t>
            </a:fld>
            <a:endParaRPr lang="en-US" dirty="0">
              <a:latin typeface="Helvetica" pitchFamily="34" charset="0"/>
            </a:endParaRPr>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a:ext>
            </a:extLst>
          </a:blip>
          <a:srcRect/>
          <a:stretch/>
        </p:blipFill>
        <p:spPr>
          <a:xfrm>
            <a:off x="5292080" y="1979712"/>
            <a:ext cx="2829783" cy="2385392"/>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payment to service providers, as agreed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Payment needs to be made:</a:t>
            </a:r>
          </a:p>
          <a:p>
            <a:pPr marL="360000" indent="-360000">
              <a:spcBef>
                <a:spcPts val="600"/>
              </a:spcBef>
              <a:spcAft>
                <a:spcPts val="1200"/>
              </a:spcAft>
            </a:pPr>
            <a:r>
              <a:rPr lang="en-US" dirty="0" smtClean="0">
                <a:latin typeface="Helvetica" pitchFamily="34" charset="0"/>
              </a:rPr>
              <a:t>On or before dates specified/agreed</a:t>
            </a:r>
          </a:p>
          <a:p>
            <a:pPr marL="360000" indent="-360000">
              <a:spcBef>
                <a:spcPts val="600"/>
              </a:spcBef>
              <a:spcAft>
                <a:spcPts val="1200"/>
              </a:spcAft>
            </a:pPr>
            <a:r>
              <a:rPr lang="en-US" dirty="0" smtClean="0">
                <a:latin typeface="Helvetica" pitchFamily="34" charset="0"/>
              </a:rPr>
              <a:t>In the amount/s agreed/specified</a:t>
            </a:r>
          </a:p>
          <a:p>
            <a:pPr marL="360000" indent="-360000">
              <a:spcBef>
                <a:spcPts val="600"/>
              </a:spcBef>
              <a:spcAft>
                <a:spcPts val="1200"/>
              </a:spcAft>
            </a:pPr>
            <a:r>
              <a:rPr lang="en-US" dirty="0" smtClean="0">
                <a:latin typeface="Helvetica" pitchFamily="34" charset="0"/>
              </a:rPr>
              <a:t>In the manner specified/agreed.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119</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4833108" y="1988840"/>
            <a:ext cx="3240000"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Ensure payment to service providers, as agreed</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7056784" cy="4608512"/>
          </a:xfrm>
        </p:spPr>
        <p:txBody>
          <a:bodyPr>
            <a:normAutofit/>
          </a:bodyPr>
          <a:lstStyle/>
          <a:p>
            <a:pPr marL="0" indent="0">
              <a:spcBef>
                <a:spcPts val="600"/>
              </a:spcBef>
              <a:spcAft>
                <a:spcPts val="1200"/>
              </a:spcAft>
              <a:buNone/>
            </a:pPr>
            <a:r>
              <a:rPr lang="en-US" dirty="0" smtClean="0">
                <a:latin typeface="Helvetica" pitchFamily="34" charset="0"/>
              </a:rPr>
              <a:t>In addition:</a:t>
            </a:r>
          </a:p>
          <a:p>
            <a:pPr marL="360000" indent="-360000">
              <a:lnSpc>
                <a:spcPct val="110000"/>
              </a:lnSpc>
              <a:spcBef>
                <a:spcPts val="600"/>
              </a:spcBef>
              <a:spcAft>
                <a:spcPts val="600"/>
              </a:spcAft>
            </a:pPr>
            <a:r>
              <a:rPr lang="en-US" dirty="0" smtClean="0">
                <a:latin typeface="Helvetica" pitchFamily="34" charset="0"/>
              </a:rPr>
              <a:t>Always address issues where a reduction in quoted price appears legitimate</a:t>
            </a:r>
          </a:p>
          <a:p>
            <a:pPr marL="360000" indent="-360000">
              <a:lnSpc>
                <a:spcPct val="110000"/>
              </a:lnSpc>
              <a:spcBef>
                <a:spcPts val="600"/>
              </a:spcBef>
              <a:spcAft>
                <a:spcPts val="600"/>
              </a:spcAft>
            </a:pPr>
            <a:r>
              <a:rPr lang="en-US" dirty="0" smtClean="0">
                <a:latin typeface="Helvetica" pitchFamily="34" charset="0"/>
              </a:rPr>
              <a:t>Receipts for payment/s should be requested</a:t>
            </a:r>
          </a:p>
          <a:p>
            <a:pPr marL="360000" indent="-360000">
              <a:lnSpc>
                <a:spcPct val="110000"/>
              </a:lnSpc>
              <a:spcBef>
                <a:spcPts val="600"/>
              </a:spcBef>
              <a:spcAft>
                <a:spcPts val="600"/>
              </a:spcAft>
            </a:pPr>
            <a:r>
              <a:rPr lang="en-US" dirty="0" smtClean="0">
                <a:latin typeface="Helvetica" pitchFamily="34" charset="0"/>
              </a:rPr>
              <a:t>‘Payment’ should be a topic at meetings of stakeholders</a:t>
            </a:r>
          </a:p>
          <a:p>
            <a:pPr marL="360000" indent="-360000">
              <a:lnSpc>
                <a:spcPct val="110000"/>
              </a:lnSpc>
              <a:spcBef>
                <a:spcPts val="600"/>
              </a:spcBef>
              <a:spcAft>
                <a:spcPts val="600"/>
              </a:spcAft>
            </a:pPr>
            <a:r>
              <a:rPr lang="en-US" dirty="0" smtClean="0">
                <a:latin typeface="Helvetica" pitchFamily="34" charset="0"/>
              </a:rPr>
              <a:t>Be aware ‘failure to pay’ is one of the biggest causes of ill will between businesses</a:t>
            </a:r>
          </a:p>
          <a:p>
            <a:pPr marL="360000" indent="-360000">
              <a:lnSpc>
                <a:spcPct val="110000"/>
              </a:lnSpc>
              <a:spcBef>
                <a:spcPts val="600"/>
              </a:spcBef>
              <a:spcAft>
                <a:spcPts val="600"/>
              </a:spcAft>
            </a:pPr>
            <a:r>
              <a:rPr lang="en-US" dirty="0" smtClean="0">
                <a:latin typeface="Helvetica" pitchFamily="34" charset="0"/>
              </a:rPr>
              <a:t>Management need to be involved where issues exist</a:t>
            </a:r>
          </a:p>
          <a:p>
            <a:pPr marL="360000" indent="-360000">
              <a:lnSpc>
                <a:spcPct val="110000"/>
              </a:lnSpc>
              <a:spcBef>
                <a:spcPts val="600"/>
              </a:spcBef>
              <a:spcAft>
                <a:spcPts val="600"/>
              </a:spcAft>
            </a:pPr>
            <a:r>
              <a:rPr lang="en-US" dirty="0" smtClean="0">
                <a:latin typeface="Helvetica" pitchFamily="34" charset="0"/>
              </a:rPr>
              <a:t>‘Good payers’ elicit more cooperation from </a:t>
            </a:r>
            <a:br>
              <a:rPr lang="en-US" dirty="0" smtClean="0">
                <a:latin typeface="Helvetica" pitchFamily="34" charset="0"/>
              </a:rPr>
            </a:br>
            <a:r>
              <a:rPr lang="en-US" dirty="0" smtClean="0">
                <a:latin typeface="Helvetica" pitchFamily="34" charset="0"/>
              </a:rPr>
              <a:t>providers.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120</a:t>
            </a:fld>
            <a:endParaRPr lang="en-US" dirty="0">
              <a:latin typeface="Helvetica" pitchFamily="34" charset="0"/>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8143932" cy="1143000"/>
          </a:xfrm>
        </p:spPr>
        <p:txBody>
          <a:bodyPr>
            <a:normAutofit/>
          </a:bodyPr>
          <a:lstStyle/>
          <a:p>
            <a:r>
              <a:rPr lang="en-US" sz="3400" b="1" dirty="0" smtClean="0">
                <a:solidFill>
                  <a:srgbClr val="FF6600"/>
                </a:solidFill>
                <a:latin typeface="Helvetica" pitchFamily="34" charset="0"/>
              </a:rPr>
              <a:t>Identify and use alternative suppliers where timelines are not being met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400600" cy="4433224"/>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‘Plan B’ = an alternate plan which may be required:</a:t>
            </a:r>
          </a:p>
          <a:p>
            <a:pPr marL="360000" indent="-360000">
              <a:spcBef>
                <a:spcPts val="600"/>
              </a:spcBef>
              <a:spcAft>
                <a:spcPts val="1200"/>
              </a:spcAft>
            </a:pPr>
            <a:r>
              <a:rPr lang="en-AU" sz="2200" dirty="0" smtClean="0">
                <a:latin typeface="Helvetica" pitchFamily="34" charset="0"/>
              </a:rPr>
              <a:t>Because the original printer/producer advises they cannot meet the deadline/s promised</a:t>
            </a:r>
          </a:p>
          <a:p>
            <a:pPr marL="360000" indent="-360000">
              <a:spcBef>
                <a:spcPts val="600"/>
              </a:spcBef>
              <a:spcAft>
                <a:spcPts val="1200"/>
              </a:spcAft>
            </a:pPr>
            <a:r>
              <a:rPr lang="en-AU" sz="2200" dirty="0" smtClean="0">
                <a:latin typeface="Helvetica" pitchFamily="34" charset="0"/>
              </a:rPr>
              <a:t>If the printer/producer has a major accident/event</a:t>
            </a:r>
          </a:p>
          <a:p>
            <a:pPr marL="360000" indent="-360000">
              <a:spcBef>
                <a:spcPts val="600"/>
              </a:spcBef>
              <a:spcAft>
                <a:spcPts val="1200"/>
              </a:spcAft>
            </a:pPr>
            <a:r>
              <a:rPr lang="en-AU" sz="2200" dirty="0" smtClean="0">
                <a:latin typeface="Helvetica" pitchFamily="34" charset="0"/>
              </a:rPr>
              <a:t>When disputes and disagreements occur making continuation of the original agreement impossible</a:t>
            </a:r>
          </a:p>
          <a:p>
            <a:pPr marL="360000" indent="-360000">
              <a:spcBef>
                <a:spcPts val="600"/>
              </a:spcBef>
              <a:spcAft>
                <a:spcPts val="1200"/>
              </a:spcAft>
            </a:pPr>
            <a:r>
              <a:rPr lang="en-AU" sz="2200" dirty="0" smtClean="0">
                <a:latin typeface="Helvetica" pitchFamily="34" charset="0"/>
              </a:rPr>
              <a:t>In circumstances where producer experiences unexpected problems which cannot be addressed in a cost-effective and timely manner.</a:t>
            </a: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121</a:t>
            </a:fld>
            <a:endParaRPr lang="en-US" dirty="0">
              <a:latin typeface="Helvetica" pitchFamily="34" charset="0"/>
            </a:endParaRPr>
          </a:p>
        </p:txBody>
      </p:sp>
      <p:pic>
        <p:nvPicPr>
          <p:cNvPr id="6" name="Picture 5"/>
          <p:cNvPicPr>
            <a:picLocks noChangeAspect="1"/>
          </p:cNvPicPr>
          <p:nvPr/>
        </p:nvPicPr>
        <p:blipFill>
          <a:blip r:embed="rId3" cstate="print">
            <a:clrChange>
              <a:clrFrom>
                <a:srgbClr val="FAF9F7"/>
              </a:clrFrom>
              <a:clrTo>
                <a:srgbClr val="FAF9F7">
                  <a:alpha val="0"/>
                </a:srgbClr>
              </a:clrTo>
            </a:clrChange>
            <a:extLst>
              <a:ext uri="{28A0092B-C50C-407E-A947-70E740481C1C}">
                <a14:useLocalDpi xmlns:a14="http://schemas.microsoft.com/office/drawing/2010/main"/>
              </a:ext>
            </a:extLst>
          </a:blip>
          <a:stretch>
            <a:fillRect/>
          </a:stretch>
        </p:blipFill>
        <p:spPr>
          <a:xfrm>
            <a:off x="5171398" y="2780928"/>
            <a:ext cx="3216786" cy="2144524"/>
          </a:xfrm>
          <a:prstGeom prst="rect">
            <a:avLst/>
          </a:prstGeom>
        </p:spPr>
      </p:pic>
    </p:spTree>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0034" y="332656"/>
            <a:ext cx="8143932" cy="1143000"/>
          </a:xfrm>
        </p:spPr>
        <p:txBody>
          <a:bodyPr>
            <a:normAutofit/>
          </a:bodyPr>
          <a:lstStyle/>
          <a:p>
            <a:r>
              <a:rPr lang="en-US" sz="3400" b="1" dirty="0" smtClean="0">
                <a:solidFill>
                  <a:srgbClr val="FF6600"/>
                </a:solidFill>
                <a:latin typeface="Helvetica" pitchFamily="34" charset="0"/>
              </a:rPr>
              <a:t>Identify and use alternative suppliers where timelines are not being met</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976664" cy="4320480"/>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Having a Plan B is important because many other activities can depend on/be integrated with production of these materials, such as:</a:t>
            </a:r>
          </a:p>
          <a:p>
            <a:pPr marL="360000" indent="-360000">
              <a:lnSpc>
                <a:spcPct val="120000"/>
              </a:lnSpc>
              <a:spcBef>
                <a:spcPts val="600"/>
              </a:spcBef>
              <a:spcAft>
                <a:spcPts val="600"/>
              </a:spcAft>
            </a:pPr>
            <a:r>
              <a:rPr lang="en-US" sz="2200" dirty="0" smtClean="0">
                <a:latin typeface="Helvetica" pitchFamily="34" charset="0"/>
              </a:rPr>
              <a:t>Partners/agencies may be waiting on the items</a:t>
            </a:r>
          </a:p>
          <a:p>
            <a:pPr marL="360000" indent="-360000">
              <a:lnSpc>
                <a:spcPct val="120000"/>
              </a:lnSpc>
              <a:spcBef>
                <a:spcPts val="600"/>
              </a:spcBef>
              <a:spcAft>
                <a:spcPts val="600"/>
              </a:spcAft>
            </a:pPr>
            <a:r>
              <a:rPr lang="en-US" sz="2200" dirty="0" smtClean="0">
                <a:latin typeface="Helvetica" pitchFamily="34" charset="0"/>
              </a:rPr>
              <a:t>Media advertisements may have been booked or may have stated these materials are available</a:t>
            </a:r>
          </a:p>
          <a:p>
            <a:pPr marL="360000" indent="-360000">
              <a:lnSpc>
                <a:spcPct val="120000"/>
              </a:lnSpc>
              <a:spcBef>
                <a:spcPts val="600"/>
              </a:spcBef>
              <a:spcAft>
                <a:spcPts val="600"/>
              </a:spcAft>
            </a:pPr>
            <a:r>
              <a:rPr lang="en-US" sz="2200" dirty="0" smtClean="0">
                <a:latin typeface="Helvetica" pitchFamily="34" charset="0"/>
              </a:rPr>
              <a:t>Wider advertising/promotional campaigns may depend on these items</a:t>
            </a:r>
          </a:p>
          <a:p>
            <a:pPr marL="360000" indent="-360000">
              <a:lnSpc>
                <a:spcPct val="120000"/>
              </a:lnSpc>
              <a:spcBef>
                <a:spcPts val="600"/>
              </a:spcBef>
              <a:spcAft>
                <a:spcPts val="600"/>
              </a:spcAft>
            </a:pPr>
            <a:r>
              <a:rPr lang="en-US" sz="2200" dirty="0" smtClean="0">
                <a:latin typeface="Helvetica" pitchFamily="34" charset="0"/>
              </a:rPr>
              <a:t>Failure to obtain the items can mean the opposition action continues unaddressed/uncontested.</a:t>
            </a: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BFAF8"/>
              </a:clrFrom>
              <a:clrTo>
                <a:srgbClr val="FBFAF8">
                  <a:alpha val="0"/>
                </a:srgbClr>
              </a:clrTo>
            </a:clrChange>
            <a:extLst>
              <a:ext uri="{28A0092B-C50C-407E-A947-70E740481C1C}">
                <a14:useLocalDpi xmlns:a14="http://schemas.microsoft.com/office/drawing/2010/main"/>
              </a:ext>
            </a:extLst>
          </a:blip>
          <a:stretch>
            <a:fillRect/>
          </a:stretch>
        </p:blipFill>
        <p:spPr>
          <a:xfrm>
            <a:off x="5542724" y="2780928"/>
            <a:ext cx="3132228" cy="2088152"/>
          </a:xfrm>
          <a:prstGeom prst="rect">
            <a:avLst/>
          </a:prstGeom>
        </p:spPr>
      </p:pic>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 produced </a:t>
            </a:r>
            <a:r>
              <a:rPr lang="en-AU" sz="3400" b="1" dirty="0" smtClean="0">
                <a:solidFill>
                  <a:srgbClr val="FF6600"/>
                </a:solidFill>
                <a:latin typeface="Helvetica" pitchFamily="34" charset="0"/>
              </a:rPr>
              <a:t>for approval prior to full production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392488" cy="4093915"/>
          </a:xfrm>
        </p:spPr>
        <p:txBody>
          <a:bodyPr>
            <a:normAutofit fontScale="92500"/>
          </a:bodyPr>
          <a:lstStyle/>
          <a:p>
            <a:pPr marL="0" indent="0">
              <a:spcBef>
                <a:spcPts val="600"/>
              </a:spcBef>
              <a:spcAft>
                <a:spcPts val="1200"/>
              </a:spcAft>
              <a:buNone/>
            </a:pPr>
            <a:r>
              <a:rPr lang="en-US" sz="2200" dirty="0" smtClean="0">
                <a:latin typeface="Helvetica" pitchFamily="34" charset="0"/>
              </a:rPr>
              <a:t>Printers/producers will provide a ‘proof’:</a:t>
            </a:r>
          </a:p>
          <a:p>
            <a:pPr marL="360000" indent="-360000">
              <a:spcBef>
                <a:spcPts val="600"/>
              </a:spcBef>
              <a:spcAft>
                <a:spcPts val="1200"/>
              </a:spcAft>
            </a:pPr>
            <a:r>
              <a:rPr lang="en-US" sz="2200" dirty="0" smtClean="0">
                <a:latin typeface="Helvetica" pitchFamily="34" charset="0"/>
              </a:rPr>
              <a:t>This is standard industry practice</a:t>
            </a:r>
          </a:p>
          <a:p>
            <a:pPr marL="360000" indent="-360000">
              <a:spcBef>
                <a:spcPts val="600"/>
              </a:spcBef>
              <a:spcAft>
                <a:spcPts val="1200"/>
              </a:spcAft>
            </a:pPr>
            <a:r>
              <a:rPr lang="en-US" sz="2200" dirty="0" smtClean="0">
                <a:latin typeface="Helvetica" pitchFamily="34" charset="0"/>
              </a:rPr>
              <a:t>It is the draft of what will be finally produced</a:t>
            </a:r>
          </a:p>
          <a:p>
            <a:pPr marL="360000" indent="-360000">
              <a:spcBef>
                <a:spcPts val="600"/>
              </a:spcBef>
              <a:spcAft>
                <a:spcPts val="1200"/>
              </a:spcAft>
            </a:pPr>
            <a:r>
              <a:rPr lang="en-US" sz="2200" dirty="0" smtClean="0">
                <a:latin typeface="Helvetica" pitchFamily="34" charset="0"/>
              </a:rPr>
              <a:t>The proof needs to be checked, reviewed and revised, if required</a:t>
            </a:r>
          </a:p>
          <a:p>
            <a:pPr marL="360000" indent="-360000">
              <a:spcBef>
                <a:spcPts val="600"/>
              </a:spcBef>
              <a:spcAft>
                <a:spcPts val="1200"/>
              </a:spcAft>
            </a:pPr>
            <a:r>
              <a:rPr lang="en-US" sz="2200" dirty="0" smtClean="0">
                <a:latin typeface="Helvetica" pitchFamily="34" charset="0"/>
              </a:rPr>
              <a:t>Approval of the proof gives the ‘go ahead’ for final production.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123</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148064" y="2415797"/>
            <a:ext cx="2689200" cy="3240000"/>
          </a:xfrm>
          <a:prstGeom prst="rect">
            <a:avLst/>
          </a:prstGeom>
        </p:spPr>
      </p:pic>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 produced </a:t>
            </a:r>
            <a:r>
              <a:rPr lang="en-AU" sz="3400" b="1" dirty="0" smtClean="0">
                <a:solidFill>
                  <a:srgbClr val="FF6600"/>
                </a:solidFill>
                <a:latin typeface="Helvetica" pitchFamily="34" charset="0"/>
              </a:rPr>
              <a:t>for approval prior to full production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marL="0" indent="0">
              <a:spcBef>
                <a:spcPts val="600"/>
              </a:spcBef>
              <a:spcAft>
                <a:spcPts val="1200"/>
              </a:spcAft>
              <a:buNone/>
            </a:pPr>
            <a:r>
              <a:rPr lang="en-US" dirty="0" smtClean="0">
                <a:latin typeface="Helvetica" pitchFamily="34" charset="0"/>
              </a:rPr>
              <a:t>Important points:</a:t>
            </a:r>
          </a:p>
          <a:p>
            <a:pPr marL="360000" indent="-360000">
              <a:spcBef>
                <a:spcPts val="600"/>
              </a:spcBef>
              <a:spcAft>
                <a:spcPts val="1200"/>
              </a:spcAft>
            </a:pPr>
            <a:r>
              <a:rPr lang="en-US" dirty="0" smtClean="0">
                <a:latin typeface="Helvetica" pitchFamily="34" charset="0"/>
              </a:rPr>
              <a:t>Printers/producers will make changes to proofs as/if required</a:t>
            </a:r>
          </a:p>
          <a:p>
            <a:pPr marL="360000" indent="-360000">
              <a:spcBef>
                <a:spcPts val="600"/>
              </a:spcBef>
              <a:spcAft>
                <a:spcPts val="1200"/>
              </a:spcAft>
            </a:pPr>
            <a:r>
              <a:rPr lang="en-US" dirty="0" smtClean="0">
                <a:latin typeface="Helvetica" pitchFamily="34" charset="0"/>
              </a:rPr>
              <a:t>Organisations are responsible for the text/copy (look, content, layout and format) once they have OK’d the proofs.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124</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5076056" y="2348880"/>
            <a:ext cx="2589408" cy="3240000"/>
          </a:xfrm>
          <a:prstGeom prst="rect">
            <a:avLst/>
          </a:prstGeom>
        </p:spPr>
      </p:pic>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 produced </a:t>
            </a:r>
            <a:r>
              <a:rPr lang="en-AU" sz="3400" b="1" dirty="0" smtClean="0">
                <a:solidFill>
                  <a:srgbClr val="FF6600"/>
                </a:solidFill>
                <a:latin typeface="Helvetica" pitchFamily="34" charset="0"/>
              </a:rPr>
              <a:t>for approval prior to full production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Normal practice when approving proofs:</a:t>
            </a:r>
          </a:p>
          <a:p>
            <a:pPr marL="360000" indent="-360000">
              <a:spcBef>
                <a:spcPts val="600"/>
              </a:spcBef>
              <a:spcAft>
                <a:spcPts val="1200"/>
              </a:spcAft>
            </a:pPr>
            <a:r>
              <a:rPr lang="en-US" sz="2200" dirty="0" smtClean="0">
                <a:latin typeface="Helvetica" pitchFamily="34" charset="0"/>
              </a:rPr>
              <a:t>Check the proofs</a:t>
            </a:r>
          </a:p>
          <a:p>
            <a:pPr marL="360000" indent="-360000">
              <a:spcBef>
                <a:spcPts val="600"/>
              </a:spcBef>
              <a:spcAft>
                <a:spcPts val="1200"/>
              </a:spcAft>
            </a:pPr>
            <a:r>
              <a:rPr lang="en-US" sz="2200" dirty="0" smtClean="0">
                <a:latin typeface="Helvetica" pitchFamily="34" charset="0"/>
              </a:rPr>
              <a:t>Advise producers of changes to be made:</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Errors and omissions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Deletions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Changes and/or updates.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572000" y="2348880"/>
            <a:ext cx="2716085" cy="3240000"/>
          </a:xfrm>
          <a:prstGeom prst="rect">
            <a:avLst/>
          </a:prstGeom>
        </p:spPr>
      </p:pic>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Proof read material produced </a:t>
            </a:r>
            <a:r>
              <a:rPr lang="en-AU" sz="3400" b="1" dirty="0" smtClean="0">
                <a:solidFill>
                  <a:srgbClr val="FF6600"/>
                </a:solidFill>
                <a:latin typeface="Helvetica" pitchFamily="34" charset="0"/>
              </a:rPr>
              <a:t>for approval prior to full production</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112568" cy="4433224"/>
          </a:xfrm>
        </p:spPr>
        <p:txBody>
          <a:bodyPr>
            <a:normAutofit fontScale="92500"/>
          </a:bodyPr>
          <a:lstStyle/>
          <a:p>
            <a:pPr marL="0" indent="0">
              <a:spcBef>
                <a:spcPts val="600"/>
              </a:spcBef>
              <a:spcAft>
                <a:spcPts val="1200"/>
              </a:spcAft>
              <a:buNone/>
            </a:pPr>
            <a:r>
              <a:rPr lang="en-US" sz="2200" dirty="0" smtClean="0">
                <a:latin typeface="Helvetica" pitchFamily="34" charset="0"/>
              </a:rPr>
              <a:t>Specifics of proofing:</a:t>
            </a:r>
          </a:p>
          <a:p>
            <a:pPr marL="360000" indent="-360000">
              <a:spcBef>
                <a:spcPts val="600"/>
              </a:spcBef>
              <a:spcAft>
                <a:spcPts val="1200"/>
              </a:spcAft>
            </a:pPr>
            <a:r>
              <a:rPr lang="en-US" sz="2200" dirty="0" smtClean="0">
                <a:latin typeface="Helvetica" pitchFamily="34" charset="0"/>
              </a:rPr>
              <a:t>Proof read EVERYTHING</a:t>
            </a:r>
          </a:p>
          <a:p>
            <a:pPr marL="360000" indent="-360000">
              <a:spcBef>
                <a:spcPts val="600"/>
              </a:spcBef>
              <a:spcAft>
                <a:spcPts val="1200"/>
              </a:spcAft>
            </a:pPr>
            <a:r>
              <a:rPr lang="en-US" sz="2200" dirty="0" smtClean="0">
                <a:latin typeface="Helvetica" pitchFamily="34" charset="0"/>
              </a:rPr>
              <a:t>Proof read more than once</a:t>
            </a:r>
          </a:p>
          <a:p>
            <a:pPr marL="360000" indent="-360000">
              <a:spcBef>
                <a:spcPts val="600"/>
              </a:spcBef>
              <a:spcAft>
                <a:spcPts val="1200"/>
              </a:spcAft>
            </a:pPr>
            <a:r>
              <a:rPr lang="en-US" sz="2200" dirty="0" smtClean="0">
                <a:latin typeface="Helvetica" pitchFamily="34" charset="0"/>
              </a:rPr>
              <a:t>Use more than one person to proof read </a:t>
            </a:r>
          </a:p>
          <a:p>
            <a:pPr marL="360000" indent="-360000">
              <a:spcBef>
                <a:spcPts val="600"/>
              </a:spcBef>
              <a:spcAft>
                <a:spcPts val="1200"/>
              </a:spcAft>
            </a:pPr>
            <a:r>
              <a:rPr lang="en-US" sz="2200" dirty="0" smtClean="0">
                <a:latin typeface="Helvetica" pitchFamily="34" charset="0"/>
              </a:rPr>
              <a:t>Compare material against specifications</a:t>
            </a:r>
          </a:p>
          <a:p>
            <a:pPr marL="360000" indent="-360000">
              <a:spcBef>
                <a:spcPts val="600"/>
              </a:spcBef>
              <a:spcAft>
                <a:spcPts val="1200"/>
              </a:spcAft>
            </a:pPr>
            <a:r>
              <a:rPr lang="en-US" sz="2200" dirty="0" smtClean="0">
                <a:latin typeface="Helvetica" pitchFamily="34" charset="0"/>
              </a:rPr>
              <a:t>Involve the printer/producer in the process</a:t>
            </a:r>
          </a:p>
          <a:p>
            <a:pPr marL="360000" indent="-360000">
              <a:spcBef>
                <a:spcPts val="600"/>
              </a:spcBef>
              <a:spcAft>
                <a:spcPts val="1200"/>
              </a:spcAft>
            </a:pPr>
            <a:r>
              <a:rPr lang="en-US" sz="2200" dirty="0" smtClean="0">
                <a:latin typeface="Helvetica" pitchFamily="34" charset="0"/>
              </a:rPr>
              <a:t>Verify/double/triple-check key points are PERFECT.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126</a:t>
            </a:fld>
            <a:endParaRPr lang="en-US" dirty="0">
              <a:latin typeface="Helvetica" pitchFamily="34" charset="0"/>
            </a:endParaRPr>
          </a:p>
        </p:txBody>
      </p:sp>
      <p:pic>
        <p:nvPicPr>
          <p:cNvPr id="5" name="Picture 4"/>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5740045" y="1988840"/>
            <a:ext cx="2413355" cy="2160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Authorise production of final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To authorise production:</a:t>
            </a:r>
          </a:p>
          <a:p>
            <a:pPr marL="360000" indent="-360000">
              <a:spcBef>
                <a:spcPts val="600"/>
              </a:spcBef>
              <a:spcAft>
                <a:spcPts val="1200"/>
              </a:spcAft>
            </a:pPr>
            <a:r>
              <a:rPr lang="en-US" sz="2200" dirty="0" smtClean="0">
                <a:latin typeface="Helvetica" pitchFamily="34" charset="0"/>
              </a:rPr>
              <a:t>Check </a:t>
            </a:r>
            <a:r>
              <a:rPr lang="en-US" sz="2200" b="1" i="1" dirty="0" smtClean="0">
                <a:latin typeface="Helvetica" pitchFamily="34" charset="0"/>
              </a:rPr>
              <a:t>revised </a:t>
            </a:r>
            <a:r>
              <a:rPr lang="en-US" sz="2200" dirty="0" smtClean="0">
                <a:latin typeface="Helvetica" pitchFamily="34" charset="0"/>
              </a:rPr>
              <a:t>proofs – where needed</a:t>
            </a:r>
          </a:p>
          <a:p>
            <a:pPr marL="360000" indent="-360000">
              <a:spcBef>
                <a:spcPts val="600"/>
              </a:spcBef>
              <a:spcAft>
                <a:spcPts val="1200"/>
              </a:spcAft>
            </a:pPr>
            <a:r>
              <a:rPr lang="en-US" sz="2200" dirty="0" smtClean="0">
                <a:latin typeface="Helvetica" pitchFamily="34" charset="0"/>
              </a:rPr>
              <a:t>Organise additional changes – if required</a:t>
            </a:r>
          </a:p>
          <a:p>
            <a:pPr marL="360000" indent="-360000">
              <a:spcBef>
                <a:spcPts val="600"/>
              </a:spcBef>
              <a:spcAft>
                <a:spcPts val="1200"/>
              </a:spcAft>
            </a:pPr>
            <a:r>
              <a:rPr lang="en-US" sz="2200" dirty="0" smtClean="0">
                <a:latin typeface="Helvetica" pitchFamily="34" charset="0"/>
              </a:rPr>
              <a:t>Obtain internal management permission to proceed</a:t>
            </a:r>
          </a:p>
          <a:p>
            <a:pPr marL="360000" indent="-360000">
              <a:spcBef>
                <a:spcPts val="600"/>
              </a:spcBef>
              <a:spcAft>
                <a:spcPts val="1200"/>
              </a:spcAft>
            </a:pPr>
            <a:r>
              <a:rPr lang="en-US" sz="2200" dirty="0" smtClean="0">
                <a:latin typeface="Helvetica" pitchFamily="34" charset="0"/>
              </a:rPr>
              <a:t>Sign-off on printer/producer documentation</a:t>
            </a:r>
          </a:p>
          <a:p>
            <a:pPr marL="360000" indent="-360000">
              <a:spcBef>
                <a:spcPts val="600"/>
              </a:spcBef>
              <a:spcAft>
                <a:spcPts val="1200"/>
              </a:spcAft>
              <a:buNone/>
            </a:pPr>
            <a:r>
              <a:rPr lang="en-US"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127</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rot="20562311">
            <a:off x="5056224" y="2130801"/>
            <a:ext cx="2520000" cy="734255"/>
          </a:xfrm>
          <a:prstGeom prst="rect">
            <a:avLst/>
          </a:prstGeom>
        </p:spPr>
      </p:pic>
      <p:pic>
        <p:nvPicPr>
          <p:cNvPr id="6" name="Picture 5"/>
          <p:cNvPicPr>
            <a:picLocks noChangeAspect="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981972" y="2280956"/>
            <a:ext cx="2398340" cy="3759245"/>
          </a:xfrm>
          <a:prstGeom prst="rect">
            <a:avLst/>
          </a:prstGeom>
        </p:spPr>
      </p:pic>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Authorise production of final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Confirm certain details – as relevant to each job</a:t>
            </a:r>
          </a:p>
          <a:p>
            <a:pPr marL="360000" indent="-360000">
              <a:spcBef>
                <a:spcPts val="600"/>
              </a:spcBef>
              <a:spcAft>
                <a:spcPts val="1200"/>
              </a:spcAft>
            </a:pPr>
            <a:r>
              <a:rPr lang="en-US" dirty="0" smtClean="0">
                <a:latin typeface="Helvetica" pitchFamily="34" charset="0"/>
              </a:rPr>
              <a:t>Make an agreement to pay</a:t>
            </a:r>
          </a:p>
          <a:p>
            <a:pPr marL="360000" indent="-360000">
              <a:spcBef>
                <a:spcPts val="600"/>
              </a:spcBef>
              <a:spcAft>
                <a:spcPts val="1200"/>
              </a:spcAft>
            </a:pPr>
            <a:r>
              <a:rPr lang="en-US" dirty="0" smtClean="0">
                <a:latin typeface="Helvetica" pitchFamily="34" charset="0"/>
              </a:rPr>
              <a:t>Record details of any negotiations made/agreed at this stage</a:t>
            </a:r>
          </a:p>
          <a:p>
            <a:pPr marL="360000" indent="-360000">
              <a:spcBef>
                <a:spcPts val="600"/>
              </a:spcBef>
              <a:spcAft>
                <a:spcPts val="1200"/>
              </a:spcAft>
            </a:pPr>
            <a:r>
              <a:rPr lang="en-US" dirty="0" smtClean="0">
                <a:latin typeface="Helvetica" pitchFamily="34" charset="0"/>
              </a:rPr>
              <a:t>File all documentation.</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128</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E"/>
              </a:clrFrom>
              <a:clrTo>
                <a:srgbClr val="FCFCFE">
                  <a:alpha val="0"/>
                </a:srgbClr>
              </a:clrTo>
            </a:clrChange>
            <a:extLst>
              <a:ext uri="{28A0092B-C50C-407E-A947-70E740481C1C}">
                <a14:useLocalDpi xmlns:a14="http://schemas.microsoft.com/office/drawing/2010/main"/>
              </a:ext>
            </a:extLst>
          </a:blip>
          <a:srcRect/>
          <a:stretch/>
        </p:blipFill>
        <p:spPr>
          <a:xfrm>
            <a:off x="5364088" y="1976388"/>
            <a:ext cx="1368152" cy="4006733"/>
          </a:xfrm>
          <a:prstGeom prst="rect">
            <a:avLst/>
          </a:prstGeom>
        </p:spPr>
      </p:pic>
    </p:spTree>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a:t>
            </a:r>
            <a:r>
              <a:rPr lang="en-AU" sz="3400" b="1" dirty="0" smtClean="0">
                <a:solidFill>
                  <a:srgbClr val="FF6600"/>
                </a:solidFill>
                <a:latin typeface="Helvetica" pitchFamily="34" charset="0"/>
              </a:rPr>
              <a:t>items supplied by service providers as final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Activities involved in checking:</a:t>
            </a:r>
          </a:p>
          <a:p>
            <a:pPr marL="360000" indent="-360000">
              <a:spcBef>
                <a:spcPts val="600"/>
              </a:spcBef>
              <a:spcAft>
                <a:spcPts val="1200"/>
              </a:spcAft>
            </a:pPr>
            <a:r>
              <a:rPr lang="en-US" sz="2200" dirty="0" smtClean="0">
                <a:latin typeface="Helvetica" pitchFamily="34" charset="0"/>
              </a:rPr>
              <a:t>Use a team</a:t>
            </a:r>
          </a:p>
          <a:p>
            <a:pPr marL="360000" indent="-360000">
              <a:spcBef>
                <a:spcPts val="600"/>
              </a:spcBef>
              <a:spcAft>
                <a:spcPts val="1200"/>
              </a:spcAft>
            </a:pPr>
            <a:r>
              <a:rPr lang="en-US" sz="2200" dirty="0" smtClean="0">
                <a:latin typeface="Helvetica" pitchFamily="34" charset="0"/>
              </a:rPr>
              <a:t>Compare product with specifications: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Quality</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Colour/s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Print</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Finishing</a:t>
            </a:r>
          </a:p>
          <a:p>
            <a:pPr marL="360000" indent="-360000">
              <a:spcBef>
                <a:spcPts val="600"/>
              </a:spcBef>
              <a:spcAft>
                <a:spcPts val="1200"/>
              </a:spcAft>
              <a:buNone/>
            </a:pPr>
            <a:r>
              <a:rPr lang="en-US" sz="15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129</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CFCFC"/>
              </a:clrFrom>
              <a:clrTo>
                <a:srgbClr val="FCFCFC">
                  <a:alpha val="0"/>
                </a:srgbClr>
              </a:clrTo>
            </a:clrChange>
            <a:extLst>
              <a:ext uri="{28A0092B-C50C-407E-A947-70E740481C1C}">
                <a14:useLocalDpi xmlns:a14="http://schemas.microsoft.com/office/drawing/2010/main"/>
              </a:ext>
            </a:extLst>
          </a:blip>
          <a:srcRect/>
          <a:stretch/>
        </p:blipFill>
        <p:spPr>
          <a:xfrm>
            <a:off x="5364088" y="1844823"/>
            <a:ext cx="1273323" cy="4138297"/>
          </a:xfrm>
          <a:prstGeom prst="rect">
            <a:avLst/>
          </a:prstGeom>
        </p:spPr>
      </p:pic>
    </p:spTree>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a:t>
            </a:r>
            <a:r>
              <a:rPr lang="en-AU" sz="3400" b="1" dirty="0" smtClean="0">
                <a:solidFill>
                  <a:srgbClr val="FF6600"/>
                </a:solidFill>
                <a:latin typeface="Helvetica" pitchFamily="34" charset="0"/>
              </a:rPr>
              <a:t>items supplied by service providers as final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360000" indent="-360000">
              <a:spcBef>
                <a:spcPts val="600"/>
              </a:spcBef>
              <a:spcAft>
                <a:spcPts val="1200"/>
              </a:spcAft>
            </a:pPr>
            <a:r>
              <a:rPr lang="en-US" dirty="0" smtClean="0">
                <a:latin typeface="Helvetica" pitchFamily="34" charset="0"/>
              </a:rPr>
              <a:t>Check quantities provided</a:t>
            </a:r>
          </a:p>
          <a:p>
            <a:pPr marL="360000" indent="-360000">
              <a:spcBef>
                <a:spcPts val="600"/>
              </a:spcBef>
              <a:spcAft>
                <a:spcPts val="1200"/>
              </a:spcAft>
            </a:pPr>
            <a:r>
              <a:rPr lang="en-US" dirty="0" smtClean="0">
                <a:latin typeface="Helvetica" pitchFamily="34" charset="0"/>
              </a:rPr>
              <a:t>Confirm paperwork/accompanying documentation</a:t>
            </a:r>
          </a:p>
          <a:p>
            <a:pPr marL="360000" indent="-360000">
              <a:spcBef>
                <a:spcPts val="600"/>
              </a:spcBef>
              <a:spcAft>
                <a:spcPts val="1200"/>
              </a:spcAft>
            </a:pPr>
            <a:r>
              <a:rPr lang="en-US" dirty="0" smtClean="0">
                <a:latin typeface="Helvetica" pitchFamily="34" charset="0"/>
              </a:rPr>
              <a:t>Authorise/arrange (final) payment.</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130</a:t>
            </a:fld>
            <a:endParaRPr lang="en-US" dirty="0">
              <a:latin typeface="Helvetica" pitchFamily="34" charset="0"/>
            </a:endParaRPr>
          </a:p>
        </p:txBody>
      </p:sp>
      <p:pic>
        <p:nvPicPr>
          <p:cNvPr id="6" name="Picture 5"/>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851448" y="1795364"/>
            <a:ext cx="2568240" cy="3240000"/>
          </a:xfrm>
          <a:prstGeom prst="rect">
            <a:avLst/>
          </a:prstGeom>
        </p:spPr>
      </p:pic>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a:t>
            </a:r>
            <a:r>
              <a:rPr lang="en-AU" sz="3400" b="1" dirty="0" smtClean="0">
                <a:solidFill>
                  <a:srgbClr val="FF6600"/>
                </a:solidFill>
                <a:latin typeface="Helvetica" pitchFamily="34" charset="0"/>
              </a:rPr>
              <a:t>items supplied by service providers as final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a:bodyPr>
          <a:lstStyle/>
          <a:p>
            <a:pPr marL="0" indent="0">
              <a:spcBef>
                <a:spcPts val="600"/>
              </a:spcBef>
              <a:spcAft>
                <a:spcPts val="1200"/>
              </a:spcAft>
              <a:buNone/>
            </a:pPr>
            <a:r>
              <a:rPr lang="en-US" sz="2200" dirty="0" smtClean="0">
                <a:latin typeface="Helvetica" pitchFamily="34" charset="0"/>
              </a:rPr>
              <a:t>Where there is an issue/problem with the finished product:</a:t>
            </a:r>
          </a:p>
          <a:p>
            <a:pPr marL="360000" indent="-360000">
              <a:spcBef>
                <a:spcPts val="600"/>
              </a:spcBef>
              <a:spcAft>
                <a:spcPts val="1200"/>
              </a:spcAft>
            </a:pPr>
            <a:r>
              <a:rPr lang="en-US" sz="2200" dirty="0" smtClean="0">
                <a:latin typeface="Helvetica" pitchFamily="34" charset="0"/>
              </a:rPr>
              <a:t>Inform management</a:t>
            </a:r>
          </a:p>
          <a:p>
            <a:pPr marL="360000" indent="-360000">
              <a:spcBef>
                <a:spcPts val="600"/>
              </a:spcBef>
              <a:spcAft>
                <a:spcPts val="1200"/>
              </a:spcAft>
            </a:pPr>
            <a:r>
              <a:rPr lang="en-US" sz="2200" dirty="0" smtClean="0">
                <a:latin typeface="Helvetica" pitchFamily="34" charset="0"/>
              </a:rPr>
              <a:t>Contact and discuss with provider/printer</a:t>
            </a:r>
          </a:p>
          <a:p>
            <a:pPr marL="360000" indent="-360000">
              <a:spcBef>
                <a:spcPts val="600"/>
              </a:spcBef>
              <a:spcAft>
                <a:spcPts val="1200"/>
              </a:spcAft>
            </a:pPr>
            <a:r>
              <a:rPr lang="en-US" sz="2200" dirty="0" smtClean="0">
                <a:latin typeface="Helvetica" pitchFamily="34" charset="0"/>
              </a:rPr>
              <a:t>Refer to file/relevant documents (specifications, quotations, notes relating to negotiations and subsequent changes).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131</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499992" y="1967508"/>
            <a:ext cx="2761192" cy="3834989"/>
          </a:xfrm>
          <a:prstGeom prst="rect">
            <a:avLst/>
          </a:prstGeom>
        </p:spPr>
      </p:pic>
    </p:spTree>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a:t>
            </a:r>
            <a:r>
              <a:rPr lang="en-AU" sz="3400" b="1" dirty="0" smtClean="0">
                <a:solidFill>
                  <a:srgbClr val="FF6600"/>
                </a:solidFill>
                <a:latin typeface="Helvetica" pitchFamily="34" charset="0"/>
              </a:rPr>
              <a:t>items supplied by service providers as final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4032448" cy="4093915"/>
          </a:xfrm>
        </p:spPr>
        <p:txBody>
          <a:bodyPr>
            <a:normAutofit/>
          </a:bodyPr>
          <a:lstStyle/>
          <a:p>
            <a:pPr marL="0" indent="0">
              <a:spcBef>
                <a:spcPts val="600"/>
              </a:spcBef>
              <a:spcAft>
                <a:spcPts val="1200"/>
              </a:spcAft>
              <a:buNone/>
            </a:pPr>
            <a:r>
              <a:rPr lang="en-US" dirty="0" smtClean="0">
                <a:latin typeface="Helvetica" pitchFamily="34" charset="0"/>
              </a:rPr>
              <a:t>Distribution options for materials:</a:t>
            </a:r>
          </a:p>
          <a:p>
            <a:pPr marL="360000" indent="-360000">
              <a:spcBef>
                <a:spcPts val="600"/>
              </a:spcBef>
              <a:spcAft>
                <a:spcPts val="1200"/>
              </a:spcAft>
            </a:pPr>
            <a:r>
              <a:rPr lang="en-US" dirty="0" smtClean="0">
                <a:latin typeface="Helvetica" pitchFamily="34" charset="0"/>
              </a:rPr>
              <a:t>Do it yourself</a:t>
            </a:r>
          </a:p>
          <a:p>
            <a:pPr marL="360000" indent="-360000">
              <a:spcBef>
                <a:spcPts val="600"/>
              </a:spcBef>
              <a:spcAft>
                <a:spcPts val="1200"/>
              </a:spcAft>
            </a:pPr>
            <a:r>
              <a:rPr lang="en-US" dirty="0" smtClean="0">
                <a:latin typeface="Helvetica" pitchFamily="34" charset="0"/>
              </a:rPr>
              <a:t>Pay the printer/producer to </a:t>
            </a:r>
            <a:br>
              <a:rPr lang="en-US" dirty="0" smtClean="0">
                <a:latin typeface="Helvetica" pitchFamily="34" charset="0"/>
              </a:rPr>
            </a:br>
            <a:r>
              <a:rPr lang="en-US" dirty="0" smtClean="0">
                <a:latin typeface="Helvetica" pitchFamily="34" charset="0"/>
              </a:rPr>
              <a:t>do it</a:t>
            </a:r>
          </a:p>
          <a:p>
            <a:pPr marL="360000" indent="-360000">
              <a:spcBef>
                <a:spcPts val="600"/>
              </a:spcBef>
              <a:spcAft>
                <a:spcPts val="1200"/>
              </a:spcAft>
            </a:pPr>
            <a:r>
              <a:rPr lang="en-US" dirty="0" smtClean="0">
                <a:latin typeface="Helvetica" pitchFamily="34" charset="0"/>
              </a:rPr>
              <a:t>Use a professional distribution business.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132</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88024" y="1916832"/>
            <a:ext cx="2297025" cy="3240000"/>
          </a:xfrm>
          <a:prstGeom prst="rect">
            <a:avLst/>
          </a:prstGeom>
        </p:spPr>
      </p:pic>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Check </a:t>
            </a:r>
            <a:r>
              <a:rPr lang="en-AU" sz="3400" b="1" dirty="0" smtClean="0">
                <a:solidFill>
                  <a:srgbClr val="FF6600"/>
                </a:solidFill>
                <a:latin typeface="Helvetica" pitchFamily="34" charset="0"/>
              </a:rPr>
              <a:t>items supplied by service providers as final items</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5112568" cy="4093915"/>
          </a:xfrm>
        </p:spPr>
        <p:txBody>
          <a:bodyPr>
            <a:normAutofit fontScale="92500" lnSpcReduction="20000"/>
          </a:bodyPr>
          <a:lstStyle/>
          <a:p>
            <a:pPr marL="0" indent="0">
              <a:spcBef>
                <a:spcPts val="600"/>
              </a:spcBef>
              <a:spcAft>
                <a:spcPts val="1200"/>
              </a:spcAft>
              <a:buNone/>
            </a:pPr>
            <a:r>
              <a:rPr lang="en-US" sz="2200" dirty="0" smtClean="0">
                <a:latin typeface="Helvetica" pitchFamily="34" charset="0"/>
              </a:rPr>
              <a:t>In regard to ‘distribution’:</a:t>
            </a:r>
          </a:p>
          <a:p>
            <a:pPr marL="360000" indent="-360000">
              <a:spcBef>
                <a:spcPts val="600"/>
              </a:spcBef>
              <a:spcAft>
                <a:spcPts val="1200"/>
              </a:spcAft>
            </a:pPr>
            <a:r>
              <a:rPr lang="en-US" sz="2200" dirty="0" smtClean="0">
                <a:latin typeface="Helvetica" pitchFamily="34" charset="0"/>
              </a:rPr>
              <a:t>Distribution costs are about 1/3 of print/production costs</a:t>
            </a:r>
          </a:p>
          <a:p>
            <a:pPr marL="360000" indent="-360000">
              <a:spcBef>
                <a:spcPts val="600"/>
              </a:spcBef>
              <a:spcAft>
                <a:spcPts val="1200"/>
              </a:spcAft>
            </a:pPr>
            <a:r>
              <a:rPr lang="en-US" sz="2200" dirty="0" smtClean="0">
                <a:latin typeface="Helvetica" pitchFamily="34" charset="0"/>
              </a:rPr>
              <a:t>Attention needs to be paid to:</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Use of direct mail</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Use at exhibitions/events in displays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Placement in Visitor Information racks at selected/targetted venues and sites</a:t>
            </a:r>
          </a:p>
          <a:p>
            <a:pPr marL="720000" indent="-360000">
              <a:spcBef>
                <a:spcPts val="600"/>
              </a:spcBef>
              <a:spcAft>
                <a:spcPts val="1200"/>
              </a:spcAft>
              <a:buClr>
                <a:schemeClr val="accent1">
                  <a:lumMod val="75000"/>
                </a:schemeClr>
              </a:buClr>
              <a:buSzPct val="100000"/>
              <a:buFont typeface="Arial" pitchFamily="34" charset="0"/>
              <a:buChar char="•"/>
            </a:pPr>
            <a:r>
              <a:rPr lang="en-US" sz="2200" dirty="0" smtClean="0">
                <a:latin typeface="Helvetica" pitchFamily="34" charset="0"/>
              </a:rPr>
              <a:t>Provision to overseas offices.</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133</a:t>
            </a:fld>
            <a:endParaRPr lang="en-US" dirty="0">
              <a:latin typeface="Helvetica" pitchFamily="34" charset="0"/>
            </a:endParaRPr>
          </a:p>
        </p:txBody>
      </p:sp>
      <p:pic>
        <p:nvPicPr>
          <p:cNvPr id="5" name="Picture 4"/>
          <p:cNvPicPr>
            <a:picLocks noChangeAspect="1"/>
          </p:cNvPicPr>
          <p:nvPr/>
        </p:nvPicPr>
        <p:blipFill rotWithShape="1">
          <a:blip r:embed="rId3" cstate="print">
            <a:clrChange>
              <a:clrFrom>
                <a:srgbClr val="FDFDFD"/>
              </a:clrFrom>
              <a:clrTo>
                <a:srgbClr val="FDFDFD">
                  <a:alpha val="0"/>
                </a:srgbClr>
              </a:clrTo>
            </a:clrChange>
            <a:extLst>
              <a:ext uri="{28A0092B-C50C-407E-A947-70E740481C1C}">
                <a14:useLocalDpi xmlns:a14="http://schemas.microsoft.com/office/drawing/2010/main"/>
              </a:ext>
            </a:extLst>
          </a:blip>
          <a:srcRect/>
          <a:stretch/>
        </p:blipFill>
        <p:spPr>
          <a:xfrm>
            <a:off x="5724128" y="2415797"/>
            <a:ext cx="1820888" cy="3240000"/>
          </a:xfrm>
          <a:prstGeom prst="rect">
            <a:avLst/>
          </a:prstGeom>
        </p:spPr>
      </p:pic>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fontScale="92500" lnSpcReduction="10000"/>
          </a:bodyPr>
          <a:lstStyle/>
          <a:p>
            <a:pPr marL="0" indent="0">
              <a:spcBef>
                <a:spcPts val="600"/>
              </a:spcBef>
              <a:spcAft>
                <a:spcPts val="1200"/>
              </a:spcAft>
              <a:buNone/>
            </a:pPr>
            <a:r>
              <a:rPr lang="en-US" sz="2200" dirty="0" smtClean="0">
                <a:latin typeface="Helvetica" pitchFamily="34" charset="0"/>
              </a:rPr>
              <a:t>When </a:t>
            </a:r>
            <a:r>
              <a:rPr lang="en-AU" sz="2200" dirty="0" smtClean="0">
                <a:latin typeface="Helvetica" pitchFamily="34" charset="0"/>
              </a:rPr>
              <a:t>administering activities relating to the production of final items</a:t>
            </a:r>
            <a:r>
              <a:rPr lang="en-US" sz="2200" dirty="0" smtClean="0">
                <a:latin typeface="Helvetica" pitchFamily="34" charset="0"/>
              </a:rPr>
              <a:t>:</a:t>
            </a:r>
          </a:p>
          <a:p>
            <a:pPr lvl="0">
              <a:spcBef>
                <a:spcPts val="600"/>
              </a:spcBef>
              <a:spcAft>
                <a:spcPts val="600"/>
              </a:spcAft>
            </a:pPr>
            <a:r>
              <a:rPr lang="en-AU" sz="2200" dirty="0" smtClean="0">
                <a:latin typeface="Helvetica" pitchFamily="34" charset="0"/>
              </a:rPr>
              <a:t>Actively monitor production</a:t>
            </a:r>
          </a:p>
          <a:p>
            <a:pPr lvl="0">
              <a:spcBef>
                <a:spcPts val="600"/>
              </a:spcBef>
              <a:spcAft>
                <a:spcPts val="600"/>
              </a:spcAft>
            </a:pPr>
            <a:r>
              <a:rPr lang="en-AU" sz="2200" dirty="0" smtClean="0">
                <a:latin typeface="Helvetica" pitchFamily="34" charset="0"/>
              </a:rPr>
              <a:t>Be available to the service provider</a:t>
            </a:r>
          </a:p>
          <a:p>
            <a:pPr lvl="0">
              <a:spcBef>
                <a:spcPts val="600"/>
              </a:spcBef>
              <a:spcAft>
                <a:spcPts val="600"/>
              </a:spcAft>
            </a:pPr>
            <a:r>
              <a:rPr lang="en-AU" sz="2200" dirty="0" smtClean="0">
                <a:latin typeface="Helvetica" pitchFamily="34" charset="0"/>
              </a:rPr>
              <a:t>Insist proofs are made available</a:t>
            </a:r>
          </a:p>
          <a:p>
            <a:pPr lvl="0">
              <a:spcBef>
                <a:spcPts val="600"/>
              </a:spcBef>
              <a:spcAft>
                <a:spcPts val="600"/>
              </a:spcAft>
            </a:pPr>
            <a:r>
              <a:rPr lang="en-AU" sz="2200" dirty="0" smtClean="0">
                <a:latin typeface="Helvetica" pitchFamily="34" charset="0"/>
              </a:rPr>
              <a:t>Liaise with the service provider</a:t>
            </a:r>
          </a:p>
          <a:p>
            <a:pPr marL="360000" indent="-360000">
              <a:spcBef>
                <a:spcPts val="600"/>
              </a:spcBef>
              <a:spcAft>
                <a:spcPts val="1200"/>
              </a:spcAft>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134</a:t>
            </a:fld>
            <a:endParaRPr lang="en-US" dirty="0">
              <a:latin typeface="Helvetica" pitchFamily="34" charset="0"/>
            </a:endParaRPr>
          </a:p>
        </p:txBody>
      </p:sp>
      <p:pic>
        <p:nvPicPr>
          <p:cNvPr id="6" name="Picture 5"/>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5652120" y="2415797"/>
            <a:ext cx="1820888" cy="3245451"/>
          </a:xfrm>
          <a:prstGeom prst="rect">
            <a:avLst/>
          </a:prstGeom>
        </p:spPr>
      </p:pic>
    </p:spTree>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888432" cy="4093915"/>
          </a:xfrm>
        </p:spPr>
        <p:txBody>
          <a:bodyPr>
            <a:normAutofit/>
          </a:bodyPr>
          <a:lstStyle/>
          <a:p>
            <a:pPr lvl="0"/>
            <a:r>
              <a:rPr lang="en-AU" dirty="0" smtClean="0">
                <a:latin typeface="Helvetica" pitchFamily="34" charset="0"/>
              </a:rPr>
              <a:t>Address as opposed to ignore problems and production issues</a:t>
            </a:r>
          </a:p>
          <a:p>
            <a:pPr lvl="0"/>
            <a:r>
              <a:rPr lang="en-AU" dirty="0" smtClean="0">
                <a:latin typeface="Helvetica" pitchFamily="34" charset="0"/>
              </a:rPr>
              <a:t>Make sure payment is made as agreed</a:t>
            </a:r>
          </a:p>
          <a:p>
            <a:pPr lvl="0"/>
            <a:r>
              <a:rPr lang="en-AU" dirty="0" smtClean="0">
                <a:latin typeface="Helvetica" pitchFamily="34" charset="0"/>
              </a:rPr>
              <a:t>Have a Plan B</a:t>
            </a:r>
          </a:p>
          <a:p>
            <a:pPr lvl="0"/>
            <a:r>
              <a:rPr lang="en-AU" dirty="0" smtClean="0">
                <a:latin typeface="Helvetica" pitchFamily="34" charset="0"/>
              </a:rPr>
              <a:t>Check proofs using assistance from others </a:t>
            </a:r>
          </a:p>
          <a:p>
            <a:pPr lvl="0">
              <a:buNone/>
            </a:pPr>
            <a:r>
              <a:rPr lang="en-US" sz="1400" dirty="0" smtClean="0">
                <a:latin typeface="Helvetica" pitchFamily="34" charset="0"/>
              </a:rPr>
              <a:t>(Continued)</a:t>
            </a: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135</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644008" y="1844824"/>
            <a:ext cx="2494800" cy="3240000"/>
          </a:xfrm>
          <a:prstGeom prst="rect">
            <a:avLst/>
          </a:prstGeom>
        </p:spPr>
      </p:pic>
    </p:spTree>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2656"/>
            <a:ext cx="7467600" cy="1143000"/>
          </a:xfrm>
        </p:spPr>
        <p:txBody>
          <a:bodyPr>
            <a:normAutofit/>
          </a:bodyPr>
          <a:lstStyle/>
          <a:p>
            <a:r>
              <a:rPr lang="en-US" sz="3400" b="1" dirty="0" smtClean="0">
                <a:solidFill>
                  <a:srgbClr val="FF6600"/>
                </a:solidFill>
                <a:latin typeface="Helvetica" pitchFamily="34" charset="0"/>
              </a:rPr>
              <a:t>Summary – Element 5</a:t>
            </a:r>
            <a:endParaRPr lang="en-US" sz="3400" b="1" dirty="0">
              <a:solidFill>
                <a:srgbClr val="FF6600"/>
              </a:solidFill>
              <a:latin typeface="Helvetica" pitchFamily="34" charset="0"/>
            </a:endParaRPr>
          </a:p>
        </p:txBody>
      </p:sp>
      <p:sp>
        <p:nvSpPr>
          <p:cNvPr id="3" name="Content Placeholder 2"/>
          <p:cNvSpPr>
            <a:spLocks noGrp="1"/>
          </p:cNvSpPr>
          <p:nvPr>
            <p:ph idx="1"/>
          </p:nvPr>
        </p:nvSpPr>
        <p:spPr>
          <a:xfrm>
            <a:off x="611560" y="1988840"/>
            <a:ext cx="3960440" cy="4093915"/>
          </a:xfrm>
        </p:spPr>
        <p:txBody>
          <a:bodyPr>
            <a:normAutofit/>
          </a:bodyPr>
          <a:lstStyle/>
          <a:p>
            <a:pPr lvl="0">
              <a:spcBef>
                <a:spcPts val="600"/>
              </a:spcBef>
              <a:spcAft>
                <a:spcPts val="600"/>
              </a:spcAft>
            </a:pPr>
            <a:r>
              <a:rPr lang="en-AU" dirty="0" smtClean="0">
                <a:latin typeface="Helvetica" pitchFamily="34" charset="0"/>
              </a:rPr>
              <a:t>Revise proofs as/if needed</a:t>
            </a:r>
          </a:p>
          <a:p>
            <a:pPr lvl="0">
              <a:spcBef>
                <a:spcPts val="600"/>
              </a:spcBef>
              <a:spcAft>
                <a:spcPts val="600"/>
              </a:spcAft>
            </a:pPr>
            <a:r>
              <a:rPr lang="en-AU" dirty="0" smtClean="0">
                <a:latin typeface="Helvetica" pitchFamily="34" charset="0"/>
              </a:rPr>
              <a:t>Check the finished products for quality and quantity</a:t>
            </a:r>
          </a:p>
          <a:p>
            <a:pPr lvl="0">
              <a:spcBef>
                <a:spcPts val="600"/>
              </a:spcBef>
              <a:spcAft>
                <a:spcPts val="600"/>
              </a:spcAft>
            </a:pPr>
            <a:r>
              <a:rPr lang="en-AU" dirty="0" smtClean="0">
                <a:latin typeface="Helvetica" pitchFamily="34" charset="0"/>
              </a:rPr>
              <a:t>Decide on distribution options.</a:t>
            </a:r>
            <a:endParaRPr lang="en-US" dirty="0" smtClean="0">
              <a:latin typeface="Helvetica" pitchFamily="34" charset="0"/>
            </a:endParaRPr>
          </a:p>
          <a:p>
            <a:pPr marL="360000" indent="-360000">
              <a:spcBef>
                <a:spcPts val="600"/>
              </a:spcBef>
              <a:spcAft>
                <a:spcPts val="1200"/>
              </a:spcAft>
              <a:buNone/>
            </a:pPr>
            <a:endParaRPr lang="en-US" sz="2200" dirty="0" smtClean="0">
              <a:latin typeface="Helvetica" pitchFamily="34" charset="0"/>
            </a:endParaRPr>
          </a:p>
        </p:txBody>
      </p:sp>
      <p:sp>
        <p:nvSpPr>
          <p:cNvPr id="4" name="Slide Number Placeholder 3"/>
          <p:cNvSpPr>
            <a:spLocks noGrp="1"/>
          </p:cNvSpPr>
          <p:nvPr>
            <p:ph type="sldNum" sz="quarter" idx="12"/>
          </p:nvPr>
        </p:nvSpPr>
        <p:spPr/>
        <p:txBody>
          <a:bodyPr/>
          <a:lstStyle/>
          <a:p>
            <a:r>
              <a:rPr lang="en-US" dirty="0" smtClean="0"/>
              <a:t> </a:t>
            </a:r>
            <a:r>
              <a:rPr lang="en-US" dirty="0" smtClean="0">
                <a:latin typeface="Helvetica" pitchFamily="34" charset="0"/>
              </a:rPr>
              <a:t>Slide </a:t>
            </a:r>
            <a:fld id="{90BDF71C-F485-43AE-8825-5070AF1EA8C9}" type="slidenum">
              <a:rPr lang="en-US" smtClean="0">
                <a:latin typeface="Helvetica" pitchFamily="34" charset="0"/>
              </a:rPr>
              <a:pPr/>
              <a:t>136</a:t>
            </a:fld>
            <a:endParaRPr lang="en-US" dirty="0">
              <a:latin typeface="Helvetica" pitchFamily="34" charset="0"/>
            </a:endParaRPr>
          </a:p>
        </p:txBody>
      </p:sp>
      <p:pic>
        <p:nvPicPr>
          <p:cNvPr id="5" name="Picture 4"/>
          <p:cNvPicPr>
            <a:picLocks noChangeAspect="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a:ext>
            </a:extLst>
          </a:blip>
          <a:stretch>
            <a:fillRect/>
          </a:stretch>
        </p:blipFill>
        <p:spPr>
          <a:xfrm>
            <a:off x="4716016" y="1772816"/>
            <a:ext cx="2589408" cy="3240000"/>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PPT_Tour_operation_&amp;_travel_agencies_template_130214">
  <a:themeElements>
    <a:clrScheme name="Metro">
      <a:dk1>
        <a:sysClr val="windowText" lastClr="000000"/>
      </a:dk1>
      <a:lt1>
        <a:sysClr val="window" lastClr="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PPT_Tour_operation_&amp;_travel_agencies_template_130214</Template>
  <TotalTime>2808</TotalTime>
  <Words>24802</Words>
  <Application>Microsoft Office PowerPoint</Application>
  <PresentationFormat>On-screen Show (4:3)</PresentationFormat>
  <Paragraphs>2450</Paragraphs>
  <Slides>136</Slides>
  <Notes>136</Notes>
  <HiddenSlides>0</HiddenSlides>
  <MMClips>0</MMClips>
  <ScaleCrop>false</ScaleCrop>
  <HeadingPairs>
    <vt:vector size="4" baseType="variant">
      <vt:variant>
        <vt:lpstr>Theme</vt:lpstr>
      </vt:variant>
      <vt:variant>
        <vt:i4>1</vt:i4>
      </vt:variant>
      <vt:variant>
        <vt:lpstr>Slide Titles</vt:lpstr>
      </vt:variant>
      <vt:variant>
        <vt:i4>136</vt:i4>
      </vt:variant>
    </vt:vector>
  </HeadingPairs>
  <TitlesOfParts>
    <vt:vector size="137" baseType="lpstr">
      <vt:lpstr>PPT_Tour_operation_&amp;_travel_agencies_template_130214</vt:lpstr>
      <vt:lpstr>Coordinate production of brochures and marketing materials</vt:lpstr>
      <vt:lpstr>Coordinate production of brochures and marketing materials</vt:lpstr>
      <vt:lpstr>Assessment</vt:lpstr>
      <vt:lpstr>Element 1 – Identify the context for brochures and marketing materials</vt:lpstr>
      <vt:lpstr>Determine factors that apply to production of brochures and materials</vt:lpstr>
      <vt:lpstr>Determine factors that apply to production of brochures and materials</vt:lpstr>
      <vt:lpstr>Determine factors that apply to production of brochures and materials</vt:lpstr>
      <vt:lpstr>Determine factors that apply to production of brochures and materials</vt:lpstr>
      <vt:lpstr>Determine factors that apply to production of brochures and materials</vt:lpstr>
      <vt:lpstr>Determine factors that apply to production of brochures and materials</vt:lpstr>
      <vt:lpstr>Determine factors that apply to production of brochures and materials</vt:lpstr>
      <vt:lpstr>Determine factors that apply to production of brochures and materials</vt:lpstr>
      <vt:lpstr>Plan the production of items</vt:lpstr>
      <vt:lpstr>Plan the production of items</vt:lpstr>
      <vt:lpstr>Plan the production of items</vt:lpstr>
      <vt:lpstr>Plan the production of items</vt:lpstr>
      <vt:lpstr>Plan the production of items</vt:lpstr>
      <vt:lpstr>Develop action plans for individual brochures and marketing materials</vt:lpstr>
      <vt:lpstr>Develop action plans for individual brochures and marketing materials</vt:lpstr>
      <vt:lpstr>Develop action plans for individual brochures and marketing materials</vt:lpstr>
      <vt:lpstr>Develop action plans for individual brochures and marketing materials</vt:lpstr>
      <vt:lpstr>Summary – Element 1</vt:lpstr>
      <vt:lpstr>Summary – Element 1</vt:lpstr>
      <vt:lpstr>Summary – Element 1</vt:lpstr>
      <vt:lpstr>Element 2 – Manage inclusions for brochures and marketing materials</vt:lpstr>
      <vt:lpstr>Determine the target(s) for the items</vt:lpstr>
      <vt:lpstr>Determine the target(s) for the items</vt:lpstr>
      <vt:lpstr>Determine the target(s) for the items</vt:lpstr>
      <vt:lpstr>Determine the content for the items</vt:lpstr>
      <vt:lpstr>Determine the content for the items</vt:lpstr>
      <vt:lpstr>Determine the content for the items</vt:lpstr>
      <vt:lpstr>Determine the content for the items</vt:lpstr>
      <vt:lpstr>Determine the content for the items</vt:lpstr>
      <vt:lpstr>Determine the content for the items</vt:lpstr>
      <vt:lpstr>Determine format and layout for items</vt:lpstr>
      <vt:lpstr>Determine format and layout for items</vt:lpstr>
      <vt:lpstr>Determine format and layout for items</vt:lpstr>
      <vt:lpstr>Determine format and layout for items</vt:lpstr>
      <vt:lpstr>Determine format and layout for items</vt:lpstr>
      <vt:lpstr>Determine format and layout for items</vt:lpstr>
      <vt:lpstr>Determine format and layout for items</vt:lpstr>
      <vt:lpstr>Determine language for the items</vt:lpstr>
      <vt:lpstr>Determine language for the items</vt:lpstr>
      <vt:lpstr>Determine language for the items</vt:lpstr>
      <vt:lpstr>Determine the prices to be stated in the items</vt:lpstr>
      <vt:lpstr>Determine the prices to be stated in the items</vt:lpstr>
      <vt:lpstr>Determine the prices to be stated in the items</vt:lpstr>
      <vt:lpstr>Determine the prices to be stated in the items</vt:lpstr>
      <vt:lpstr>Determine the copy for the items</vt:lpstr>
      <vt:lpstr>Determine the copy for the items</vt:lpstr>
      <vt:lpstr>Determine the copy for the items</vt:lpstr>
      <vt:lpstr>Determine the copy for the items</vt:lpstr>
      <vt:lpstr>Determine the copy for the items</vt:lpstr>
      <vt:lpstr>Determine the copy for the items</vt:lpstr>
      <vt:lpstr>Determine the copy for the items</vt:lpstr>
      <vt:lpstr>Determine the copy for the items</vt:lpstr>
      <vt:lpstr>Determine the copy for the items</vt:lpstr>
      <vt:lpstr>Determine the copy for the items</vt:lpstr>
      <vt:lpstr>Determine the copy for the items</vt:lpstr>
      <vt:lpstr>Determine the copy for the items</vt:lpstr>
      <vt:lpstr>Summary – Element 2</vt:lpstr>
      <vt:lpstr>Summary – Element 2</vt:lpstr>
      <vt:lpstr>Summary – Element 2</vt:lpstr>
      <vt:lpstr>Element 3 – Administer activities relating to the production of draft items</vt:lpstr>
      <vt:lpstr>Provide resources for the production of draft items</vt:lpstr>
      <vt:lpstr>Provide resources for the production of draft items</vt:lpstr>
      <vt:lpstr>Provide resources for the production of draft items</vt:lpstr>
      <vt:lpstr>Provide resources for the production of draft items</vt:lpstr>
      <vt:lpstr>Proof read material</vt:lpstr>
      <vt:lpstr>Proof read material</vt:lpstr>
      <vt:lpstr>Proof read material</vt:lpstr>
      <vt:lpstr>Proof read material</vt:lpstr>
      <vt:lpstr>Proof read material</vt:lpstr>
      <vt:lpstr>Circulate items for comment and feedback</vt:lpstr>
      <vt:lpstr>Circulate items for comment and feedback</vt:lpstr>
      <vt:lpstr>Circulate items for comment and feedback</vt:lpstr>
      <vt:lpstr>Circulate items for comment and feedback</vt:lpstr>
      <vt:lpstr>Circulate items for comment and feedback</vt:lpstr>
      <vt:lpstr>Revise brochures and marketing materials</vt:lpstr>
      <vt:lpstr>Revise brochures and marketing materials</vt:lpstr>
      <vt:lpstr>Revise brochures and marketing materials</vt:lpstr>
      <vt:lpstr>Revise brochures and marketing materials</vt:lpstr>
      <vt:lpstr>Summary – Element 3</vt:lpstr>
      <vt:lpstr>Summary – Element 3</vt:lpstr>
      <vt:lpstr>Summary – Element 3</vt:lpstr>
      <vt:lpstr>Element 4 – Obtain quotations for production of brochures and marketing materials</vt:lpstr>
      <vt:lpstr>Meet and discuss the proposal with service providers</vt:lpstr>
      <vt:lpstr>Meet and discuss the proposal with service providers</vt:lpstr>
      <vt:lpstr>Meet and discuss the proposal with service providers</vt:lpstr>
      <vt:lpstr>Meet and discuss the proposal with service providers</vt:lpstr>
      <vt:lpstr>Meet and discuss the proposal with service providers</vt:lpstr>
      <vt:lpstr>Meet and discuss the proposal with service providers</vt:lpstr>
      <vt:lpstr>Provide specifications as basis for obtaining a quotation</vt:lpstr>
      <vt:lpstr>Provide specifications as basis for obtaining a quotation</vt:lpstr>
      <vt:lpstr>Provide specifications as basis for obtaining a quotation</vt:lpstr>
      <vt:lpstr>Provide specifications as basis for obtaining a quotation</vt:lpstr>
      <vt:lpstr>Provide specifications as basis for obtaining a quotation</vt:lpstr>
      <vt:lpstr>Obtain quotations from a range of service providers</vt:lpstr>
      <vt:lpstr>Obtain quotations from a range of service providers</vt:lpstr>
      <vt:lpstr>Obtain quotations from a range of service providers</vt:lpstr>
      <vt:lpstr>Obtain quotations from a range of service providers</vt:lpstr>
      <vt:lpstr>Evaluate quotations received to make a purchasing decision</vt:lpstr>
      <vt:lpstr>Evaluate quotations received to make a purchasing decision</vt:lpstr>
      <vt:lpstr>Evaluate quotations received to make a purchasing decision</vt:lpstr>
      <vt:lpstr>Evaluate quotations received to make a purchasing decision</vt:lpstr>
      <vt:lpstr>Select the service provider(s) to supply services and lodge official order</vt:lpstr>
      <vt:lpstr>Select the service provider(s) to supply services and lodge official order</vt:lpstr>
      <vt:lpstr>Select the service provider(s) to supply services and lodge official order</vt:lpstr>
      <vt:lpstr>Select the service provider(s) to supply services and lodge official order</vt:lpstr>
      <vt:lpstr>Select the service provider(s) to supply services and lodge official order</vt:lpstr>
      <vt:lpstr>Select the service provider(s) to supply services and lodge official order</vt:lpstr>
      <vt:lpstr>Summary – Element 4</vt:lpstr>
      <vt:lpstr>Summary – Element 4</vt:lpstr>
      <vt:lpstr>Summary – Element 4</vt:lpstr>
      <vt:lpstr>Element 5 – Administer activities relating to the production of final items</vt:lpstr>
      <vt:lpstr>Monitor production activities undertaken by selected service providers</vt:lpstr>
      <vt:lpstr>Monitor production activities undertaken by selected service providers</vt:lpstr>
      <vt:lpstr>Ensure payment to service providers, as agreed</vt:lpstr>
      <vt:lpstr>Ensure payment to service providers, as agreed</vt:lpstr>
      <vt:lpstr>Ensure payment to service providers, as agreed</vt:lpstr>
      <vt:lpstr>Identify and use alternative suppliers where timelines are not being met</vt:lpstr>
      <vt:lpstr>Identify and use alternative suppliers where timelines are not being met</vt:lpstr>
      <vt:lpstr>Proof read material produced for approval prior to full production</vt:lpstr>
      <vt:lpstr>Proof read material produced for approval prior to full production</vt:lpstr>
      <vt:lpstr>Proof read material produced for approval prior to full production</vt:lpstr>
      <vt:lpstr>Proof read material produced for approval prior to full production</vt:lpstr>
      <vt:lpstr>Authorise production of final items</vt:lpstr>
      <vt:lpstr>Authorise production of final items</vt:lpstr>
      <vt:lpstr>Check items supplied by service providers as final items</vt:lpstr>
      <vt:lpstr>Check items supplied by service providers as final items</vt:lpstr>
      <vt:lpstr>Check items supplied by service providers as final items</vt:lpstr>
      <vt:lpstr>Check items supplied by service providers as final items</vt:lpstr>
      <vt:lpstr>Check items supplied by service providers as final items</vt:lpstr>
      <vt:lpstr>Summary – Element 5</vt:lpstr>
      <vt:lpstr>Summary – Element 5</vt:lpstr>
      <vt:lpstr>Summary – Element 5</vt:lpstr>
    </vt:vector>
  </TitlesOfParts>
  <Company>William Angliss TAFE</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ANALYSE COMPETENCY REQUIREMENTS</dc:title>
  <dc:creator>Daniel James Chee</dc:creator>
  <cp:lastModifiedBy>Daniel James Chee</cp:lastModifiedBy>
  <cp:revision>115</cp:revision>
  <dcterms:created xsi:type="dcterms:W3CDTF">2014-02-17T04:38:06Z</dcterms:created>
  <dcterms:modified xsi:type="dcterms:W3CDTF">2015-01-29T04:01:31Z</dcterms:modified>
</cp:coreProperties>
</file>