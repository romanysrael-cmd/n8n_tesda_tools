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50"/>
  </p:notesMasterIdLst>
  <p:handoutMasterIdLst>
    <p:handoutMasterId r:id="rId151"/>
  </p:handoutMasterIdLst>
  <p:sldIdLst>
    <p:sldId id="256" r:id="rId2"/>
    <p:sldId id="257" r:id="rId3"/>
    <p:sldId id="258" r:id="rId4"/>
    <p:sldId id="259" r:id="rId5"/>
    <p:sldId id="260" r:id="rId6"/>
    <p:sldId id="283" r:id="rId7"/>
    <p:sldId id="284" r:id="rId8"/>
    <p:sldId id="285" r:id="rId9"/>
    <p:sldId id="286" r:id="rId10"/>
    <p:sldId id="288" r:id="rId11"/>
    <p:sldId id="289" r:id="rId12"/>
    <p:sldId id="290" r:id="rId13"/>
    <p:sldId id="291" r:id="rId14"/>
    <p:sldId id="292" r:id="rId15"/>
    <p:sldId id="293" r:id="rId16"/>
    <p:sldId id="294" r:id="rId17"/>
    <p:sldId id="295" r:id="rId18"/>
    <p:sldId id="296" r:id="rId19"/>
    <p:sldId id="297" r:id="rId20"/>
    <p:sldId id="298" r:id="rId21"/>
    <p:sldId id="299" r:id="rId22"/>
    <p:sldId id="300" r:id="rId23"/>
    <p:sldId id="524" r:id="rId24"/>
    <p:sldId id="525" r:id="rId25"/>
    <p:sldId id="526" r:id="rId26"/>
    <p:sldId id="527" r:id="rId27"/>
    <p:sldId id="528" r:id="rId28"/>
    <p:sldId id="339" r:id="rId29"/>
    <p:sldId id="342" r:id="rId30"/>
    <p:sldId id="343" r:id="rId31"/>
    <p:sldId id="325" r:id="rId32"/>
    <p:sldId id="326" r:id="rId33"/>
    <p:sldId id="327" r:id="rId34"/>
    <p:sldId id="328" r:id="rId35"/>
    <p:sldId id="533" r:id="rId36"/>
    <p:sldId id="534" r:id="rId37"/>
    <p:sldId id="352" r:id="rId38"/>
    <p:sldId id="355" r:id="rId39"/>
    <p:sldId id="356" r:id="rId40"/>
    <p:sldId id="357" r:id="rId41"/>
    <p:sldId id="516" r:id="rId42"/>
    <p:sldId id="535" r:id="rId43"/>
    <p:sldId id="517" r:id="rId44"/>
    <p:sldId id="536" r:id="rId45"/>
    <p:sldId id="520" r:id="rId46"/>
    <p:sldId id="521" r:id="rId47"/>
    <p:sldId id="522" r:id="rId48"/>
    <p:sldId id="523" r:id="rId49"/>
    <p:sldId id="454" r:id="rId50"/>
    <p:sldId id="442" r:id="rId51"/>
    <p:sldId id="443" r:id="rId52"/>
    <p:sldId id="445" r:id="rId53"/>
    <p:sldId id="447" r:id="rId54"/>
    <p:sldId id="492" r:id="rId55"/>
    <p:sldId id="493" r:id="rId56"/>
    <p:sldId id="494" r:id="rId57"/>
    <p:sldId id="495" r:id="rId58"/>
    <p:sldId id="537" r:id="rId59"/>
    <p:sldId id="496" r:id="rId60"/>
    <p:sldId id="497" r:id="rId61"/>
    <p:sldId id="498" r:id="rId62"/>
    <p:sldId id="499" r:id="rId63"/>
    <p:sldId id="500" r:id="rId64"/>
    <p:sldId id="501" r:id="rId65"/>
    <p:sldId id="502" r:id="rId66"/>
    <p:sldId id="503" r:id="rId67"/>
    <p:sldId id="504" r:id="rId68"/>
    <p:sldId id="505" r:id="rId69"/>
    <p:sldId id="506" r:id="rId70"/>
    <p:sldId id="507" r:id="rId71"/>
    <p:sldId id="508" r:id="rId72"/>
    <p:sldId id="509" r:id="rId73"/>
    <p:sldId id="510" r:id="rId74"/>
    <p:sldId id="511" r:id="rId75"/>
    <p:sldId id="512" r:id="rId76"/>
    <p:sldId id="513" r:id="rId77"/>
    <p:sldId id="514" r:id="rId78"/>
    <p:sldId id="515" r:id="rId79"/>
    <p:sldId id="459" r:id="rId80"/>
    <p:sldId id="460" r:id="rId81"/>
    <p:sldId id="461" r:id="rId82"/>
    <p:sldId id="538" r:id="rId83"/>
    <p:sldId id="470" r:id="rId84"/>
    <p:sldId id="471" r:id="rId85"/>
    <p:sldId id="473" r:id="rId86"/>
    <p:sldId id="475" r:id="rId87"/>
    <p:sldId id="476" r:id="rId88"/>
    <p:sldId id="477" r:id="rId89"/>
    <p:sldId id="478" r:id="rId90"/>
    <p:sldId id="479" r:id="rId91"/>
    <p:sldId id="266" r:id="rId92"/>
    <p:sldId id="267" r:id="rId93"/>
    <p:sldId id="373" r:id="rId94"/>
    <p:sldId id="374" r:id="rId95"/>
    <p:sldId id="375" r:id="rId96"/>
    <p:sldId id="388" r:id="rId97"/>
    <p:sldId id="541" r:id="rId98"/>
    <p:sldId id="542" r:id="rId99"/>
    <p:sldId id="543" r:id="rId100"/>
    <p:sldId id="544" r:id="rId101"/>
    <p:sldId id="389" r:id="rId102"/>
    <p:sldId id="390" r:id="rId103"/>
    <p:sldId id="545" r:id="rId104"/>
    <p:sldId id="539" r:id="rId105"/>
    <p:sldId id="540" r:id="rId106"/>
    <p:sldId id="271" r:id="rId107"/>
    <p:sldId id="272" r:id="rId108"/>
    <p:sldId id="400" r:id="rId109"/>
    <p:sldId id="546" r:id="rId110"/>
    <p:sldId id="401" r:id="rId111"/>
    <p:sldId id="402" r:id="rId112"/>
    <p:sldId id="403" r:id="rId113"/>
    <p:sldId id="404" r:id="rId114"/>
    <p:sldId id="405" r:id="rId115"/>
    <p:sldId id="406" r:id="rId116"/>
    <p:sldId id="407" r:id="rId117"/>
    <p:sldId id="408" r:id="rId118"/>
    <p:sldId id="409" r:id="rId119"/>
    <p:sldId id="410" r:id="rId120"/>
    <p:sldId id="547" r:id="rId121"/>
    <p:sldId id="548" r:id="rId122"/>
    <p:sldId id="549" r:id="rId123"/>
    <p:sldId id="554" r:id="rId124"/>
    <p:sldId id="550" r:id="rId125"/>
    <p:sldId id="399" r:id="rId126"/>
    <p:sldId id="277" r:id="rId127"/>
    <p:sldId id="278" r:id="rId128"/>
    <p:sldId id="387" r:id="rId129"/>
    <p:sldId id="555" r:id="rId130"/>
    <p:sldId id="556" r:id="rId131"/>
    <p:sldId id="557" r:id="rId132"/>
    <p:sldId id="558" r:id="rId133"/>
    <p:sldId id="559" r:id="rId134"/>
    <p:sldId id="560" r:id="rId135"/>
    <p:sldId id="561" r:id="rId136"/>
    <p:sldId id="529" r:id="rId137"/>
    <p:sldId id="562" r:id="rId138"/>
    <p:sldId id="563" r:id="rId139"/>
    <p:sldId id="483" r:id="rId140"/>
    <p:sldId id="485" r:id="rId141"/>
    <p:sldId id="486" r:id="rId142"/>
    <p:sldId id="487" r:id="rId143"/>
    <p:sldId id="488" r:id="rId144"/>
    <p:sldId id="489" r:id="rId145"/>
    <p:sldId id="490" r:id="rId146"/>
    <p:sldId id="491" r:id="rId147"/>
    <p:sldId id="564" r:id="rId148"/>
    <p:sldId id="565" r:id="rId149"/>
  </p:sldIdLst>
  <p:sldSz cx="9144000" cy="6858000" type="screen4x3"/>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35" autoAdjust="0"/>
    <p:restoredTop sz="88473" autoAdjust="0"/>
  </p:normalViewPr>
  <p:slideViewPr>
    <p:cSldViewPr>
      <p:cViewPr>
        <p:scale>
          <a:sx n="73" d="100"/>
          <a:sy n="73" d="100"/>
        </p:scale>
        <p:origin x="-3258" y="-8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288"/>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notesMaster" Target="notesMasters/notesMaster1.xml"/><Relationship Id="rId155"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5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5659" cy="495927"/>
          </a:xfrm>
          <a:prstGeom prst="rect">
            <a:avLst/>
          </a:prstGeom>
        </p:spPr>
        <p:txBody>
          <a:bodyPr vert="horz" lIns="91423" tIns="45712" rIns="91423" bIns="45712" rtlCol="0"/>
          <a:lstStyle>
            <a:lvl1pPr algn="l">
              <a:defRPr sz="1200"/>
            </a:lvl1pPr>
          </a:lstStyle>
          <a:p>
            <a:endParaRPr lang="en-GB" dirty="0"/>
          </a:p>
        </p:txBody>
      </p:sp>
      <p:sp>
        <p:nvSpPr>
          <p:cNvPr id="3" name="Date Placeholder 2"/>
          <p:cNvSpPr>
            <a:spLocks noGrp="1"/>
          </p:cNvSpPr>
          <p:nvPr>
            <p:ph type="dt" sz="quarter" idx="1"/>
          </p:nvPr>
        </p:nvSpPr>
        <p:spPr>
          <a:xfrm>
            <a:off x="3850444" y="1"/>
            <a:ext cx="2945659" cy="495927"/>
          </a:xfrm>
          <a:prstGeom prst="rect">
            <a:avLst/>
          </a:prstGeom>
        </p:spPr>
        <p:txBody>
          <a:bodyPr vert="horz" lIns="91423" tIns="45712" rIns="91423" bIns="45712" rtlCol="0"/>
          <a:lstStyle>
            <a:lvl1pPr algn="r">
              <a:defRPr sz="1200"/>
            </a:lvl1pPr>
          </a:lstStyle>
          <a:p>
            <a:fld id="{E6916107-BD3A-45E2-B124-A5ED60630F4B}" type="datetimeFigureOut">
              <a:rPr lang="en-US" smtClean="0"/>
              <a:pPr/>
              <a:t>4/27/2015</a:t>
            </a:fld>
            <a:endParaRPr lang="en-GB" dirty="0"/>
          </a:p>
        </p:txBody>
      </p:sp>
      <p:sp>
        <p:nvSpPr>
          <p:cNvPr id="4" name="Footer Placeholder 3"/>
          <p:cNvSpPr>
            <a:spLocks noGrp="1"/>
          </p:cNvSpPr>
          <p:nvPr>
            <p:ph type="ftr" sz="quarter" idx="2"/>
          </p:nvPr>
        </p:nvSpPr>
        <p:spPr>
          <a:xfrm>
            <a:off x="1" y="9429091"/>
            <a:ext cx="2945659" cy="495927"/>
          </a:xfrm>
          <a:prstGeom prst="rect">
            <a:avLst/>
          </a:prstGeom>
        </p:spPr>
        <p:txBody>
          <a:bodyPr vert="horz" lIns="91423" tIns="45712" rIns="91423" bIns="45712" rtlCol="0" anchor="b"/>
          <a:lstStyle>
            <a:lvl1pPr algn="l">
              <a:defRPr sz="1200"/>
            </a:lvl1pPr>
          </a:lstStyle>
          <a:p>
            <a:endParaRPr lang="en-GB" dirty="0"/>
          </a:p>
        </p:txBody>
      </p:sp>
      <p:sp>
        <p:nvSpPr>
          <p:cNvPr id="5" name="Slide Number Placeholder 4"/>
          <p:cNvSpPr>
            <a:spLocks noGrp="1"/>
          </p:cNvSpPr>
          <p:nvPr>
            <p:ph type="sldNum" sz="quarter" idx="3"/>
          </p:nvPr>
        </p:nvSpPr>
        <p:spPr>
          <a:xfrm>
            <a:off x="3850444" y="9429091"/>
            <a:ext cx="2945659" cy="495927"/>
          </a:xfrm>
          <a:prstGeom prst="rect">
            <a:avLst/>
          </a:prstGeom>
        </p:spPr>
        <p:txBody>
          <a:bodyPr vert="horz" lIns="91423" tIns="45712" rIns="91423" bIns="45712"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945659" cy="496331"/>
          </a:xfrm>
          <a:prstGeom prst="rect">
            <a:avLst/>
          </a:prstGeom>
        </p:spPr>
        <p:txBody>
          <a:bodyPr vert="horz" lIns="91423" tIns="45712" rIns="91423" bIns="45712" rtlCol="0"/>
          <a:lstStyle>
            <a:lvl1pPr algn="l">
              <a:defRPr sz="1200"/>
            </a:lvl1pPr>
          </a:lstStyle>
          <a:p>
            <a:endParaRPr lang="en-US" dirty="0"/>
          </a:p>
        </p:txBody>
      </p:sp>
      <p:sp>
        <p:nvSpPr>
          <p:cNvPr id="3" name="Date Placeholder 2"/>
          <p:cNvSpPr>
            <a:spLocks noGrp="1"/>
          </p:cNvSpPr>
          <p:nvPr>
            <p:ph type="dt" idx="1"/>
          </p:nvPr>
        </p:nvSpPr>
        <p:spPr>
          <a:xfrm>
            <a:off x="3850444" y="1"/>
            <a:ext cx="2945659" cy="496331"/>
          </a:xfrm>
          <a:prstGeom prst="rect">
            <a:avLst/>
          </a:prstGeom>
        </p:spPr>
        <p:txBody>
          <a:bodyPr vert="horz" lIns="91423" tIns="45712" rIns="91423" bIns="45712" rtlCol="0"/>
          <a:lstStyle>
            <a:lvl1pPr algn="r">
              <a:defRPr sz="1200"/>
            </a:lvl1pPr>
          </a:lstStyle>
          <a:p>
            <a:fld id="{BC34F173-2430-41D6-9CA5-C9CD3BDF7E96}" type="datetimeFigureOut">
              <a:rPr lang="en-US" smtClean="0"/>
              <a:pPr/>
              <a:t>4/27/2015</a:t>
            </a:fld>
            <a:endParaRPr lang="en-US" dirty="0"/>
          </a:p>
        </p:txBody>
      </p:sp>
      <p:sp>
        <p:nvSpPr>
          <p:cNvPr id="4" name="Slide Image Placeholder 3"/>
          <p:cNvSpPr>
            <a:spLocks noGrp="1" noRot="1" noChangeAspect="1"/>
          </p:cNvSpPr>
          <p:nvPr>
            <p:ph type="sldImg" idx="2"/>
          </p:nvPr>
        </p:nvSpPr>
        <p:spPr>
          <a:xfrm>
            <a:off x="915988" y="742950"/>
            <a:ext cx="4965700" cy="3724275"/>
          </a:xfrm>
          <a:prstGeom prst="rect">
            <a:avLst/>
          </a:prstGeom>
          <a:noFill/>
          <a:ln w="12700">
            <a:solidFill>
              <a:prstClr val="black"/>
            </a:solidFill>
          </a:ln>
        </p:spPr>
        <p:txBody>
          <a:bodyPr vert="horz" lIns="91423" tIns="45712" rIns="91423" bIns="45712" rtlCol="0" anchor="ctr"/>
          <a:lstStyle/>
          <a:p>
            <a:endParaRPr lang="en-US" dirty="0"/>
          </a:p>
        </p:txBody>
      </p:sp>
      <p:sp>
        <p:nvSpPr>
          <p:cNvPr id="5" name="Notes Placeholder 4"/>
          <p:cNvSpPr>
            <a:spLocks noGrp="1"/>
          </p:cNvSpPr>
          <p:nvPr>
            <p:ph type="body" sz="quarter" idx="3"/>
          </p:nvPr>
        </p:nvSpPr>
        <p:spPr>
          <a:xfrm>
            <a:off x="679768" y="4715154"/>
            <a:ext cx="5438140" cy="4466987"/>
          </a:xfrm>
          <a:prstGeom prst="rect">
            <a:avLst/>
          </a:prstGeom>
        </p:spPr>
        <p:txBody>
          <a:bodyPr vert="horz" lIns="91423" tIns="45712" rIns="91423" bIns="45712"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428583"/>
            <a:ext cx="2945659" cy="496331"/>
          </a:xfrm>
          <a:prstGeom prst="rect">
            <a:avLst/>
          </a:prstGeom>
        </p:spPr>
        <p:txBody>
          <a:bodyPr vert="horz" lIns="91423" tIns="45712" rIns="91423" bIns="45712"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50444" y="9428583"/>
            <a:ext cx="2945659" cy="496331"/>
          </a:xfrm>
          <a:prstGeom prst="rect">
            <a:avLst/>
          </a:prstGeom>
        </p:spPr>
        <p:txBody>
          <a:bodyPr vert="horz" lIns="91423" tIns="45712" rIns="91423" bIns="45712"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Trainer advises this Unit comprises four Elements, as listed on the slide explaining:</a:t>
            </a:r>
          </a:p>
          <a:p>
            <a:r>
              <a:rPr lang="en-AU" dirty="0"/>
              <a:t>• Each Element comprises a number of Performance Criteria which will be identified throughout the class and explained in detail</a:t>
            </a:r>
          </a:p>
          <a:p>
            <a:r>
              <a:rPr lang="en-AU" dirty="0"/>
              <a:t>• Trainees can obtain more detail from their Trainee Manual</a:t>
            </a:r>
          </a:p>
          <a:p>
            <a:r>
              <a:rPr lang="en-AU" dirty="0"/>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Trainer advises that assessment for this Unit may take several forms all of which are aimed at verifying they have achieved competency for the Unit as required.</a:t>
            </a:r>
          </a:p>
          <a:p>
            <a:endParaRPr lang="en-AU" dirty="0"/>
          </a:p>
          <a:p>
            <a:r>
              <a:rPr lang="en-AU" dirty="0"/>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Introduce topic.</a:t>
            </a:r>
          </a:p>
          <a:p>
            <a:pPr defTabSz="882213">
              <a:defRPr/>
            </a:pPr>
            <a:endParaRPr lang="en-AU" b="1" dirty="0"/>
          </a:p>
          <a:p>
            <a:pPr defTabSz="882213">
              <a:defRPr/>
            </a:pPr>
            <a:r>
              <a:rPr lang="en-AU" b="1" dirty="0"/>
              <a:t>Class Activity – General Discussion</a:t>
            </a:r>
          </a:p>
          <a:p>
            <a:endParaRPr lang="en-AU" dirty="0"/>
          </a:p>
          <a:p>
            <a:r>
              <a:rPr lang="en-AU" dirty="0"/>
              <a:t>Ask general questions:</a:t>
            </a:r>
          </a:p>
          <a:p>
            <a:pPr>
              <a:buFont typeface="Arial" pitchFamily="34" charset="0"/>
              <a:buChar char="•"/>
            </a:pPr>
            <a:r>
              <a:rPr lang="en-AU" dirty="0"/>
              <a:t>What is </a:t>
            </a:r>
            <a:r>
              <a:rPr lang="en-US" dirty="0"/>
              <a:t>a destination?</a:t>
            </a:r>
          </a:p>
          <a:p>
            <a:pPr>
              <a:buFont typeface="Arial" pitchFamily="34" charset="0"/>
              <a:buChar char="•"/>
            </a:pPr>
            <a:r>
              <a:rPr lang="en-US" dirty="0"/>
              <a:t>What destination information is sought by clients?</a:t>
            </a:r>
            <a:endParaRPr lang="en-AU" dirty="0"/>
          </a:p>
          <a:p>
            <a:endParaRPr lang="en-AU" dirty="0"/>
          </a:p>
          <a:p>
            <a:endParaRPr lang="en-AU" dirty="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dirty="0"/>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Questions</a:t>
            </a:r>
          </a:p>
          <a:p>
            <a:pPr defTabSz="882213">
              <a:defRPr/>
            </a:pPr>
            <a:endParaRPr lang="en-AU" b="1" dirty="0"/>
          </a:p>
          <a:p>
            <a:pPr defTabSz="882213">
              <a:defRPr/>
            </a:pPr>
            <a:r>
              <a:rPr lang="en-AU" dirty="0"/>
              <a:t>Get audience to answer following questions:</a:t>
            </a:r>
          </a:p>
          <a:p>
            <a:pPr marL="220553" indent="-220553" defTabSz="882213">
              <a:buFont typeface="Arial" pitchFamily="34" charset="0"/>
              <a:buChar char="•"/>
              <a:defRPr/>
            </a:pPr>
            <a:r>
              <a:rPr lang="en-AU" dirty="0"/>
              <a:t>What information do you need to know to effectively do your job?</a:t>
            </a:r>
          </a:p>
          <a:p>
            <a:pPr marL="220553" indent="-220553" defTabSz="882213">
              <a:buFont typeface="Arial" pitchFamily="34" charset="0"/>
              <a:buChar char="•"/>
              <a:defRPr/>
            </a:pPr>
            <a:r>
              <a:rPr lang="en-AU" dirty="0"/>
              <a:t>What destination information do you need to know that customers may enquire about?</a:t>
            </a:r>
          </a:p>
          <a:p>
            <a:pPr marL="220553" indent="-220553" defTabSz="882213">
              <a:buFont typeface="Arial" pitchFamily="34" charset="0"/>
              <a:buChar char="•"/>
              <a:defRPr/>
            </a:pPr>
            <a:r>
              <a:rPr lang="en-AU" dirty="0"/>
              <a:t>Where can you get this information?</a:t>
            </a:r>
          </a:p>
          <a:p>
            <a:pPr marL="220553" indent="-220553" defTabSz="882213">
              <a:buFont typeface="Arial" pitchFamily="34" charset="0"/>
              <a:buChar char="•"/>
              <a:defRPr/>
            </a:pPr>
            <a:endParaRPr lang="en-AU" dirty="0"/>
          </a:p>
          <a:p>
            <a:pPr marL="220553" indent="-220553" defTabSz="882213">
              <a:buFont typeface="Arial" pitchFamily="34" charset="0"/>
              <a:buAutoNum type="alphaLcParenR"/>
              <a:defRPr/>
            </a:pPr>
            <a:endParaRPr lang="en-AU" dirty="0"/>
          </a:p>
          <a:p>
            <a:pPr defTabSz="882213">
              <a:defRPr/>
            </a:pPr>
            <a:endParaRPr lang="en-AU" b="1" dirty="0"/>
          </a:p>
          <a:p>
            <a:pPr defTabSz="882213">
              <a:defRPr/>
            </a:pPr>
            <a:endParaRPr lang="en-AU" b="1" dirty="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General Discussion</a:t>
            </a:r>
          </a:p>
          <a:p>
            <a:pPr defTabSz="882213">
              <a:defRPr/>
            </a:pPr>
            <a:endParaRPr lang="en-AU" b="1" dirty="0"/>
          </a:p>
          <a:p>
            <a:pPr marL="220553" indent="-220553" defTabSz="882213">
              <a:buFont typeface="Arial" pitchFamily="34" charset="0"/>
              <a:buChar char="•"/>
              <a:defRPr/>
            </a:pPr>
            <a:r>
              <a:rPr lang="en-AU" dirty="0"/>
              <a:t>Identify the benefits for each point</a:t>
            </a:r>
          </a:p>
          <a:p>
            <a:pPr marL="220553" indent="-220553" defTabSz="882213">
              <a:buFont typeface="Arial" pitchFamily="34" charset="0"/>
              <a:buChar char="•"/>
              <a:defRPr/>
            </a:pPr>
            <a:endParaRPr lang="en-AU" dirty="0"/>
          </a:p>
          <a:p>
            <a:pPr marL="220553" indent="-220553" defTabSz="882213">
              <a:buFont typeface="Arial" pitchFamily="34" charset="0"/>
              <a:buAutoNum type="alphaLcParenR"/>
              <a:defRPr/>
            </a:pPr>
            <a:endParaRPr lang="en-AU" dirty="0"/>
          </a:p>
          <a:p>
            <a:pPr defTabSz="882213">
              <a:defRPr/>
            </a:pPr>
            <a:endParaRPr lang="en-AU" b="1" dirty="0"/>
          </a:p>
          <a:p>
            <a:pPr defTabSz="882213">
              <a:defRPr/>
            </a:pPr>
            <a:endParaRPr lang="en-AU" b="1" dirty="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General Discussion</a:t>
            </a:r>
          </a:p>
          <a:p>
            <a:endParaRPr lang="en-AU" dirty="0"/>
          </a:p>
          <a:p>
            <a:pPr>
              <a:buFont typeface="Arial" pitchFamily="34" charset="0"/>
              <a:buChar char="•"/>
            </a:pPr>
            <a:r>
              <a:rPr lang="en-AU" dirty="0"/>
              <a:t>What are </a:t>
            </a:r>
            <a:r>
              <a:rPr lang="en-AU" dirty="0" smtClean="0"/>
              <a:t>examples of these sources?</a:t>
            </a:r>
            <a:r>
              <a:rPr lang="en-AU" baseline="0" dirty="0" smtClean="0"/>
              <a:t> Trainer can lead with one or two examples and draw more examples one from each student in the class at least.</a:t>
            </a:r>
            <a:endParaRPr lang="en-AU" dirty="0"/>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General Discussion</a:t>
            </a:r>
          </a:p>
          <a:p>
            <a:endParaRPr lang="en-AU" dirty="0"/>
          </a:p>
          <a:p>
            <a:pPr>
              <a:buFont typeface="Arial" pitchFamily="34" charset="0"/>
              <a:buChar char="•"/>
            </a:pPr>
            <a:r>
              <a:rPr lang="en-AU" dirty="0"/>
              <a:t>Discuss question in the slide.</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Identify businesses for each type of business</a:t>
            </a:r>
          </a:p>
          <a:p>
            <a:endParaRPr lang="en-AU" dirty="0"/>
          </a:p>
          <a:p>
            <a:pPr>
              <a:buFont typeface="Arial" pitchFamily="34" charset="0"/>
              <a:buChar char="•"/>
            </a:pPr>
            <a:r>
              <a:rPr lang="en-AU" dirty="0"/>
              <a:t>Identify actual companies for each type of tourism business</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Identify businesses for each type of business</a:t>
            </a:r>
          </a:p>
          <a:p>
            <a:endParaRPr lang="en-AU" dirty="0"/>
          </a:p>
          <a:p>
            <a:pPr>
              <a:buFont typeface="Arial" pitchFamily="34" charset="0"/>
              <a:buChar char="•"/>
            </a:pPr>
            <a:r>
              <a:rPr lang="en-AU" dirty="0"/>
              <a:t>Identify actual companies for each type of tourism business</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Identify businesses for each type of business</a:t>
            </a:r>
          </a:p>
          <a:p>
            <a:endParaRPr lang="en-AU" dirty="0"/>
          </a:p>
          <a:p>
            <a:pPr>
              <a:buFont typeface="Arial" pitchFamily="34" charset="0"/>
              <a:buChar char="•"/>
            </a:pPr>
            <a:r>
              <a:rPr lang="en-AU" dirty="0"/>
              <a:t>Identify actual companies for each type of tourism business</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Identify businesses for each type of business</a:t>
            </a:r>
          </a:p>
          <a:p>
            <a:endParaRPr lang="en-AU" dirty="0"/>
          </a:p>
          <a:p>
            <a:pPr>
              <a:buFont typeface="Arial" pitchFamily="34" charset="0"/>
              <a:buChar char="•"/>
            </a:pPr>
            <a:r>
              <a:rPr lang="en-AU" dirty="0"/>
              <a:t>Identify actual companies for each type of tourism business</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Identify businesses for each type of business</a:t>
            </a:r>
          </a:p>
          <a:p>
            <a:endParaRPr lang="en-AU" dirty="0"/>
          </a:p>
          <a:p>
            <a:pPr>
              <a:buFont typeface="Arial" pitchFamily="34" charset="0"/>
              <a:buChar char="•"/>
            </a:pPr>
            <a:r>
              <a:rPr lang="en-AU" dirty="0"/>
              <a:t>Identify actual companies for each type of tourism business</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Identify businesses for each type of business</a:t>
            </a:r>
          </a:p>
          <a:p>
            <a:endParaRPr lang="en-AU" dirty="0"/>
          </a:p>
          <a:p>
            <a:pPr>
              <a:buFont typeface="Arial" pitchFamily="34" charset="0"/>
              <a:buChar char="•"/>
            </a:pPr>
            <a:r>
              <a:rPr lang="en-AU" dirty="0"/>
              <a:t>Identify actual companies for each type of tourism business</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Identify businesses for each type of business</a:t>
            </a:r>
          </a:p>
          <a:p>
            <a:endParaRPr lang="en-AU" dirty="0"/>
          </a:p>
          <a:p>
            <a:pPr>
              <a:buFont typeface="Arial" pitchFamily="34" charset="0"/>
              <a:buChar char="•"/>
            </a:pPr>
            <a:r>
              <a:rPr lang="en-AU" dirty="0"/>
              <a:t>Identify actual companies for each type of tourism business</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Identify businesses for each type of business</a:t>
            </a:r>
          </a:p>
          <a:p>
            <a:endParaRPr lang="en-AU" dirty="0"/>
          </a:p>
          <a:p>
            <a:pPr>
              <a:buFont typeface="Arial" pitchFamily="34" charset="0"/>
              <a:buChar char="•"/>
            </a:pPr>
            <a:r>
              <a:rPr lang="en-AU" dirty="0"/>
              <a:t>Identify actual companies for each type of tourism business</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Identify businesses for each type of business</a:t>
            </a:r>
          </a:p>
          <a:p>
            <a:endParaRPr lang="en-AU" dirty="0"/>
          </a:p>
          <a:p>
            <a:pPr>
              <a:buFont typeface="Arial" pitchFamily="34" charset="0"/>
              <a:buChar char="•"/>
            </a:pPr>
            <a:r>
              <a:rPr lang="en-AU" dirty="0"/>
              <a:t>Identify actual companies for each type of tourism business</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Identify businesses for each type of business</a:t>
            </a:r>
          </a:p>
          <a:p>
            <a:endParaRPr lang="en-AU" dirty="0"/>
          </a:p>
          <a:p>
            <a:pPr>
              <a:buFont typeface="Arial" pitchFamily="34" charset="0"/>
              <a:buChar char="•"/>
            </a:pPr>
            <a:r>
              <a:rPr lang="en-AU" dirty="0"/>
              <a:t>Identify actual companies for each type of tourism business</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Identify businesses for each type of business</a:t>
            </a:r>
          </a:p>
          <a:p>
            <a:endParaRPr lang="en-AU" dirty="0"/>
          </a:p>
          <a:p>
            <a:pPr>
              <a:buFont typeface="Arial" pitchFamily="34" charset="0"/>
              <a:buChar char="•"/>
            </a:pPr>
            <a:r>
              <a:rPr lang="en-AU" dirty="0"/>
              <a:t>Identify actual companies for each type of tourism business</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Identify businesses for each type of business</a:t>
            </a:r>
          </a:p>
          <a:p>
            <a:endParaRPr lang="en-AU" dirty="0"/>
          </a:p>
          <a:p>
            <a:pPr>
              <a:buFont typeface="Arial" pitchFamily="34" charset="0"/>
              <a:buChar char="•"/>
            </a:pPr>
            <a:r>
              <a:rPr lang="en-AU" dirty="0"/>
              <a:t>Identify actual companies for each type of tourism business</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Identify businesses for each type of business &amp; Activity</a:t>
            </a:r>
          </a:p>
          <a:p>
            <a:endParaRPr lang="en-AU" dirty="0"/>
          </a:p>
          <a:p>
            <a:pPr>
              <a:buFont typeface="Arial" pitchFamily="34" charset="0"/>
              <a:buChar char="•"/>
            </a:pPr>
            <a:r>
              <a:rPr lang="en-AU" dirty="0"/>
              <a:t>Identify actual companies for each type of tourism business</a:t>
            </a:r>
          </a:p>
          <a:p>
            <a:pPr>
              <a:buFont typeface="Arial" pitchFamily="34" charset="0"/>
              <a:buChar char="•"/>
            </a:pPr>
            <a:r>
              <a:rPr lang="en-AU" dirty="0"/>
              <a:t>Complete Activity 1</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Identify formats of information</a:t>
            </a:r>
          </a:p>
          <a:p>
            <a:endParaRPr lang="en-AU" dirty="0"/>
          </a:p>
          <a:p>
            <a:pPr>
              <a:buFont typeface="Arial" pitchFamily="34" charset="0"/>
              <a:buChar char="•"/>
            </a:pPr>
            <a:r>
              <a:rPr lang="en-AU" dirty="0"/>
              <a:t>Trainer to show different formats of information</a:t>
            </a:r>
          </a:p>
          <a:p>
            <a:pPr>
              <a:buFont typeface="Arial" pitchFamily="34" charset="0"/>
              <a:buChar char="•"/>
            </a:pPr>
            <a:r>
              <a:rPr lang="en-AU" dirty="0"/>
              <a:t>What information can be gathered from each format?</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Identify formats of information</a:t>
            </a:r>
          </a:p>
          <a:p>
            <a:endParaRPr lang="en-AU" dirty="0"/>
          </a:p>
          <a:p>
            <a:pPr>
              <a:buFont typeface="Arial" pitchFamily="34" charset="0"/>
              <a:buChar char="•"/>
            </a:pPr>
            <a:r>
              <a:rPr lang="en-AU" dirty="0"/>
              <a:t>Trainer to show different formats of information</a:t>
            </a:r>
          </a:p>
          <a:p>
            <a:pPr>
              <a:buFont typeface="Arial" pitchFamily="34" charset="0"/>
              <a:buChar char="•"/>
            </a:pPr>
            <a:r>
              <a:rPr lang="en-AU" dirty="0"/>
              <a:t>What information can be gathered from each format?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Identify formats of information</a:t>
            </a:r>
          </a:p>
          <a:p>
            <a:endParaRPr lang="en-AU" dirty="0"/>
          </a:p>
          <a:p>
            <a:pPr>
              <a:buFont typeface="Arial" pitchFamily="34" charset="0"/>
              <a:buChar char="•"/>
            </a:pPr>
            <a:r>
              <a:rPr lang="en-AU" dirty="0"/>
              <a:t>Trainer to show different formats of information</a:t>
            </a:r>
          </a:p>
          <a:p>
            <a:pPr>
              <a:buFont typeface="Arial" pitchFamily="34" charset="0"/>
              <a:buChar char="•"/>
            </a:pPr>
            <a:r>
              <a:rPr lang="en-AU" dirty="0"/>
              <a:t>What information can be gathered from each format?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Identify formats of information</a:t>
            </a:r>
          </a:p>
          <a:p>
            <a:endParaRPr lang="en-AU" dirty="0"/>
          </a:p>
          <a:p>
            <a:pPr>
              <a:buFont typeface="Arial" pitchFamily="34" charset="0"/>
              <a:buChar char="•"/>
            </a:pPr>
            <a:r>
              <a:rPr lang="en-AU" dirty="0"/>
              <a:t>Trainer to show different formats of information</a:t>
            </a:r>
          </a:p>
          <a:p>
            <a:pPr>
              <a:buFont typeface="Arial" pitchFamily="34" charset="0"/>
              <a:buChar char="•"/>
            </a:pPr>
            <a:r>
              <a:rPr lang="en-AU" dirty="0"/>
              <a:t>What information can be gathered from each format?</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Identify formats of information</a:t>
            </a:r>
          </a:p>
          <a:p>
            <a:endParaRPr lang="en-AU" dirty="0"/>
          </a:p>
          <a:p>
            <a:pPr>
              <a:buFont typeface="Arial" pitchFamily="34" charset="0"/>
              <a:buChar char="•"/>
            </a:pPr>
            <a:r>
              <a:rPr lang="en-AU" dirty="0"/>
              <a:t>Trainer to show different formats of information</a:t>
            </a:r>
          </a:p>
          <a:p>
            <a:pPr>
              <a:buFont typeface="Arial" pitchFamily="34" charset="0"/>
              <a:buChar char="•"/>
            </a:pPr>
            <a:r>
              <a:rPr lang="en-AU" dirty="0"/>
              <a:t>What information can be gathered from each format?</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Identify importance of </a:t>
            </a:r>
            <a:r>
              <a:rPr lang="en-AU" b="1" dirty="0">
                <a:latin typeface="Helvetica" pitchFamily="34" charset="0"/>
              </a:rPr>
              <a:t>testimonials</a:t>
            </a:r>
            <a:endParaRPr lang="en-US" dirty="0">
              <a:latin typeface="Helvetica" pitchFamily="34" charset="0"/>
            </a:endParaRPr>
          </a:p>
          <a:p>
            <a:endParaRPr lang="en-AU" dirty="0"/>
          </a:p>
          <a:p>
            <a:pPr defTabSz="882213">
              <a:spcBef>
                <a:spcPts val="579"/>
              </a:spcBef>
              <a:spcAft>
                <a:spcPts val="1158"/>
              </a:spcAft>
              <a:buFont typeface="Arial" pitchFamily="34" charset="0"/>
              <a:buChar char="•"/>
              <a:defRPr/>
            </a:pPr>
            <a:r>
              <a:rPr lang="en-US" dirty="0"/>
              <a:t>Why is it important to gather testimonials?</a:t>
            </a:r>
          </a:p>
          <a:p>
            <a:pPr defTabSz="882213">
              <a:spcBef>
                <a:spcPts val="579"/>
              </a:spcBef>
              <a:spcAft>
                <a:spcPts val="1158"/>
              </a:spcAft>
              <a:buFont typeface="Arial" pitchFamily="34" charset="0"/>
              <a:buChar char="•"/>
              <a:defRPr/>
            </a:pPr>
            <a:r>
              <a:rPr lang="en-US" dirty="0"/>
              <a:t>How can they be beneficial?</a:t>
            </a:r>
          </a:p>
          <a:p>
            <a:pPr>
              <a:spcBef>
                <a:spcPts val="579"/>
              </a:spcBef>
              <a:spcAft>
                <a:spcPts val="1158"/>
              </a:spcAft>
            </a:pPr>
            <a:endParaRPr lang="en-AU" dirty="0"/>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Discussion &amp; provide example of a quotation</a:t>
            </a:r>
          </a:p>
          <a:p>
            <a:endParaRPr lang="en-AU" dirty="0"/>
          </a:p>
          <a:p>
            <a:pPr>
              <a:buFont typeface="Arial" pitchFamily="34" charset="0"/>
              <a:buChar char="•"/>
            </a:pPr>
            <a:r>
              <a:rPr lang="en-US" dirty="0"/>
              <a:t>Provide examples of each.</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Discussion &amp; Activity</a:t>
            </a:r>
          </a:p>
          <a:p>
            <a:endParaRPr lang="en-AU" dirty="0"/>
          </a:p>
          <a:p>
            <a:pPr>
              <a:buFont typeface="Arial" pitchFamily="34" charset="0"/>
              <a:buChar char="•"/>
            </a:pPr>
            <a:r>
              <a:rPr lang="en-US" dirty="0"/>
              <a:t>From a personal perspective, explain how personal observations have provided you with critical information.</a:t>
            </a:r>
          </a:p>
          <a:p>
            <a:pPr>
              <a:buFont typeface="Arial" pitchFamily="34" charset="0"/>
              <a:buChar char="•"/>
            </a:pPr>
            <a:r>
              <a:rPr lang="en-US" dirty="0"/>
              <a:t>Complete Activity 2</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General Discussion</a:t>
            </a:r>
          </a:p>
          <a:p>
            <a:pPr defTabSz="882213">
              <a:defRPr/>
            </a:pPr>
            <a:endParaRPr lang="en-AU" b="1" dirty="0"/>
          </a:p>
          <a:p>
            <a:pPr marL="220553" indent="-220553" defTabSz="882213">
              <a:buFont typeface="Arial" pitchFamily="34" charset="0"/>
              <a:buChar char="•"/>
              <a:defRPr/>
            </a:pPr>
            <a:r>
              <a:rPr lang="en-AU" dirty="0"/>
              <a:t>Discuss questions in the slide.</a:t>
            </a:r>
          </a:p>
          <a:p>
            <a:pPr marL="220553" indent="-220553" defTabSz="882213">
              <a:buFont typeface="Arial" pitchFamily="34" charset="0"/>
              <a:buChar char="•"/>
              <a:defRPr/>
            </a:pPr>
            <a:endParaRPr lang="en-AU" dirty="0"/>
          </a:p>
          <a:p>
            <a:pPr marL="220553" indent="-220553" defTabSz="882213">
              <a:buFont typeface="Arial" pitchFamily="34" charset="0"/>
              <a:buAutoNum type="alphaLcParenR"/>
              <a:defRPr/>
            </a:pPr>
            <a:endParaRPr lang="en-AU" dirty="0"/>
          </a:p>
          <a:p>
            <a:pPr defTabSz="882213">
              <a:defRPr/>
            </a:pPr>
            <a:endParaRPr lang="en-AU" b="1" dirty="0"/>
          </a:p>
          <a:p>
            <a:pPr defTabSz="882213">
              <a:defRPr/>
            </a:pPr>
            <a:endParaRPr lang="en-AU" b="1" dirty="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 importance </a:t>
            </a:r>
          </a:p>
          <a:p>
            <a:pPr defTabSz="882213">
              <a:defRPr/>
            </a:pPr>
            <a:endParaRPr lang="en-AU" b="1" dirty="0"/>
          </a:p>
          <a:p>
            <a:pPr defTabSz="882213">
              <a:defRPr/>
            </a:pPr>
            <a:r>
              <a:rPr lang="en-AU" dirty="0"/>
              <a:t>Discuss importance for each of these points</a:t>
            </a:r>
          </a:p>
          <a:p>
            <a:pPr marL="220553" indent="-220553" defTabSz="882213">
              <a:buFont typeface="Arial" pitchFamily="34" charset="0"/>
              <a:buChar char="•"/>
              <a:defRPr/>
            </a:pPr>
            <a:endParaRPr lang="en-AU" dirty="0"/>
          </a:p>
          <a:p>
            <a:pPr marL="220553" indent="-220553" defTabSz="882213">
              <a:buFont typeface="Arial" pitchFamily="34" charset="0"/>
              <a:buAutoNum type="alphaLcParenR"/>
              <a:defRPr/>
            </a:pPr>
            <a:endParaRPr lang="en-AU" dirty="0"/>
          </a:p>
          <a:p>
            <a:pPr defTabSz="882213">
              <a:defRPr/>
            </a:pPr>
            <a:endParaRPr lang="en-AU" b="1" dirty="0"/>
          </a:p>
          <a:p>
            <a:pPr defTabSz="882213">
              <a:defRPr/>
            </a:pPr>
            <a:endParaRPr lang="en-AU" b="1" dirty="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 importance </a:t>
            </a:r>
          </a:p>
          <a:p>
            <a:pPr defTabSz="882213">
              <a:defRPr/>
            </a:pPr>
            <a:endParaRPr lang="en-AU" b="1" dirty="0"/>
          </a:p>
          <a:p>
            <a:pPr defTabSz="882213">
              <a:defRPr/>
            </a:pPr>
            <a:r>
              <a:rPr lang="en-AU" dirty="0"/>
              <a:t>Discuss importance for each of these points</a:t>
            </a:r>
          </a:p>
          <a:p>
            <a:pPr marL="220553" indent="-220553" defTabSz="882213">
              <a:buFont typeface="Arial" pitchFamily="34" charset="0"/>
              <a:buChar char="•"/>
              <a:defRPr/>
            </a:pPr>
            <a:endParaRPr lang="en-AU" dirty="0"/>
          </a:p>
          <a:p>
            <a:pPr marL="220553" indent="-220553" defTabSz="882213">
              <a:buFont typeface="Arial" pitchFamily="34" charset="0"/>
              <a:buAutoNum type="alphaLcParenR"/>
              <a:defRPr/>
            </a:pPr>
            <a:endParaRPr lang="en-AU" dirty="0"/>
          </a:p>
          <a:p>
            <a:pPr defTabSz="882213">
              <a:defRPr/>
            </a:pPr>
            <a:endParaRPr lang="en-AU" b="1" dirty="0"/>
          </a:p>
          <a:p>
            <a:pPr defTabSz="882213">
              <a:defRPr/>
            </a:pPr>
            <a:endParaRPr lang="en-AU" b="1" dirty="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 importance </a:t>
            </a:r>
          </a:p>
          <a:p>
            <a:pPr defTabSz="882213">
              <a:defRPr/>
            </a:pPr>
            <a:endParaRPr lang="en-AU" b="1" dirty="0"/>
          </a:p>
          <a:p>
            <a:pPr defTabSz="882213">
              <a:defRPr/>
            </a:pPr>
            <a:r>
              <a:rPr lang="en-AU" dirty="0"/>
              <a:t>Discuss importance for each of these points</a:t>
            </a:r>
          </a:p>
          <a:p>
            <a:pPr marL="220553" indent="-220553" defTabSz="882213">
              <a:buFont typeface="Arial" pitchFamily="34" charset="0"/>
              <a:buChar char="•"/>
              <a:defRPr/>
            </a:pPr>
            <a:endParaRPr lang="en-AU" dirty="0"/>
          </a:p>
          <a:p>
            <a:pPr marL="220553" indent="-220553" defTabSz="882213">
              <a:buFont typeface="Arial" pitchFamily="34" charset="0"/>
              <a:buAutoNum type="alphaLcParenR"/>
              <a:defRPr/>
            </a:pPr>
            <a:endParaRPr lang="en-AU" dirty="0"/>
          </a:p>
          <a:p>
            <a:pPr defTabSz="882213">
              <a:defRPr/>
            </a:pPr>
            <a:endParaRPr lang="en-AU" b="1" dirty="0"/>
          </a:p>
          <a:p>
            <a:pPr defTabSz="882213">
              <a:defRPr/>
            </a:pPr>
            <a:endParaRPr lang="en-AU" b="1" dirty="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 importance </a:t>
            </a:r>
          </a:p>
          <a:p>
            <a:pPr defTabSz="882213">
              <a:defRPr/>
            </a:pPr>
            <a:endParaRPr lang="en-AU" b="1" dirty="0"/>
          </a:p>
          <a:p>
            <a:pPr defTabSz="882213">
              <a:defRPr/>
            </a:pPr>
            <a:r>
              <a:rPr lang="en-AU" dirty="0"/>
              <a:t>Discuss importance for each of these criteria points</a:t>
            </a:r>
          </a:p>
          <a:p>
            <a:pPr marL="220553" indent="-220553" defTabSz="882213">
              <a:buFont typeface="Arial" pitchFamily="34" charset="0"/>
              <a:buChar char="•"/>
              <a:defRPr/>
            </a:pPr>
            <a:endParaRPr lang="en-AU" dirty="0"/>
          </a:p>
          <a:p>
            <a:pPr marL="220553" indent="-220553" defTabSz="882213">
              <a:buFont typeface="Arial" pitchFamily="34" charset="0"/>
              <a:buAutoNum type="alphaLcParenR"/>
              <a:defRPr/>
            </a:pPr>
            <a:endParaRPr lang="en-AU" dirty="0"/>
          </a:p>
          <a:p>
            <a:pPr defTabSz="882213">
              <a:defRPr/>
            </a:pPr>
            <a:endParaRPr lang="en-AU" b="1" dirty="0"/>
          </a:p>
          <a:p>
            <a:pPr defTabSz="882213">
              <a:defRPr/>
            </a:pPr>
            <a:endParaRPr lang="en-AU" b="1" dirty="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 importance &amp; Activity</a:t>
            </a:r>
          </a:p>
          <a:p>
            <a:pPr defTabSz="882213">
              <a:defRPr/>
            </a:pPr>
            <a:endParaRPr lang="en-AU" b="1" dirty="0"/>
          </a:p>
          <a:p>
            <a:pPr defTabSz="882213">
              <a:defRPr/>
            </a:pPr>
            <a:r>
              <a:rPr lang="en-AU" dirty="0"/>
              <a:t>Discuss importance for each of these criteria points</a:t>
            </a:r>
          </a:p>
          <a:p>
            <a:pPr defTabSz="882213">
              <a:defRPr/>
            </a:pPr>
            <a:r>
              <a:rPr lang="en-AU" dirty="0"/>
              <a:t>Complete Activity 3</a:t>
            </a:r>
          </a:p>
          <a:p>
            <a:pPr marL="220553" indent="-220553" defTabSz="882213">
              <a:buFont typeface="Arial" pitchFamily="34" charset="0"/>
              <a:buChar char="•"/>
              <a:defRPr/>
            </a:pPr>
            <a:endParaRPr lang="en-AU" dirty="0"/>
          </a:p>
          <a:p>
            <a:pPr marL="220553" indent="-220553" defTabSz="882213">
              <a:buFont typeface="Arial" pitchFamily="34" charset="0"/>
              <a:buAutoNum type="alphaLcParenR"/>
              <a:defRPr/>
            </a:pPr>
            <a:endParaRPr lang="en-AU" dirty="0"/>
          </a:p>
          <a:p>
            <a:pPr defTabSz="882213">
              <a:defRPr/>
            </a:pPr>
            <a:endParaRPr lang="en-AU" b="1" dirty="0"/>
          </a:p>
          <a:p>
            <a:pPr defTabSz="882213">
              <a:defRPr/>
            </a:pPr>
            <a:endParaRPr lang="en-AU" b="1" dirty="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a:t>
            </a:r>
          </a:p>
          <a:p>
            <a:endParaRPr lang="en-AU" dirty="0"/>
          </a:p>
          <a:p>
            <a:pPr>
              <a:buFont typeface="Arial" pitchFamily="34" charset="0"/>
              <a:buChar char="•"/>
            </a:pPr>
            <a:r>
              <a:rPr lang="en-US" dirty="0"/>
              <a:t>How can you do this?</a:t>
            </a:r>
            <a:endParaRPr lang="en-US"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a:t>
            </a:r>
          </a:p>
          <a:p>
            <a:endParaRPr lang="en-AU" dirty="0"/>
          </a:p>
          <a:p>
            <a:pPr>
              <a:buFont typeface="Arial" pitchFamily="34" charset="0"/>
              <a:buChar char="•"/>
            </a:pPr>
            <a:r>
              <a:rPr lang="en-US" dirty="0"/>
              <a:t>What activities are associated with interpreting information?</a:t>
            </a:r>
            <a:endParaRPr lang="en-US"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a:t>
            </a:r>
          </a:p>
          <a:p>
            <a:endParaRPr lang="en-AU" dirty="0"/>
          </a:p>
          <a:p>
            <a:pPr>
              <a:buFont typeface="Arial" pitchFamily="34" charset="0"/>
              <a:buChar char="•"/>
            </a:pPr>
            <a:r>
              <a:rPr lang="en-US" dirty="0"/>
              <a:t>Why is this important?</a:t>
            </a:r>
            <a:endParaRPr lang="en-US"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a:t>
            </a:r>
          </a:p>
          <a:p>
            <a:endParaRPr lang="en-AU" dirty="0"/>
          </a:p>
          <a:p>
            <a:pPr>
              <a:buFont typeface="Arial" pitchFamily="34" charset="0"/>
              <a:buChar char="•"/>
            </a:pPr>
            <a:r>
              <a:rPr lang="en-US" dirty="0"/>
              <a:t>Discuss the steps associated with each of these points.</a:t>
            </a:r>
            <a:endParaRPr lang="en-US"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Discussion</a:t>
            </a:r>
          </a:p>
          <a:p>
            <a:endParaRPr lang="en-AU" dirty="0"/>
          </a:p>
          <a:p>
            <a:pPr>
              <a:buFont typeface="Arial" pitchFamily="34" charset="0"/>
              <a:buChar char="•"/>
            </a:pPr>
            <a:r>
              <a:rPr lang="en-AU" dirty="0" smtClean="0"/>
              <a:t>Discuss </a:t>
            </a:r>
            <a:r>
              <a:rPr lang="en-AU" dirty="0"/>
              <a:t>questions in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Discussion</a:t>
            </a:r>
          </a:p>
          <a:p>
            <a:endParaRPr lang="en-AU" dirty="0"/>
          </a:p>
          <a:p>
            <a:r>
              <a:rPr lang="en-AU" dirty="0"/>
              <a:t>Ask general questions:</a:t>
            </a:r>
          </a:p>
          <a:p>
            <a:pPr>
              <a:buFont typeface="Arial" pitchFamily="34" charset="0"/>
              <a:buChar char="•"/>
            </a:pPr>
            <a:r>
              <a:rPr lang="en-AU" dirty="0"/>
              <a:t>How can you accommodate these needs?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Discussion</a:t>
            </a:r>
          </a:p>
          <a:p>
            <a:endParaRPr lang="en-AU" dirty="0"/>
          </a:p>
          <a:p>
            <a:r>
              <a:rPr lang="en-AU" dirty="0"/>
              <a:t>Ask general questions:</a:t>
            </a:r>
          </a:p>
          <a:p>
            <a:pPr>
              <a:buFont typeface="Arial" pitchFamily="34" charset="0"/>
              <a:buChar char="•"/>
            </a:pPr>
            <a:r>
              <a:rPr lang="en-AU" dirty="0"/>
              <a:t>What are examples of requirements for each need?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Discussion &amp; Activity</a:t>
            </a:r>
          </a:p>
          <a:p>
            <a:endParaRPr lang="en-AU" dirty="0"/>
          </a:p>
          <a:p>
            <a:r>
              <a:rPr lang="en-AU" dirty="0"/>
              <a:t>Ask general questions:</a:t>
            </a:r>
          </a:p>
          <a:p>
            <a:pPr>
              <a:buFont typeface="Arial" pitchFamily="34" charset="0"/>
              <a:buChar char="•"/>
            </a:pPr>
            <a:r>
              <a:rPr lang="en-AU" dirty="0"/>
              <a:t>What are examples of requirements for each need?</a:t>
            </a:r>
          </a:p>
          <a:p>
            <a:pPr>
              <a:buFont typeface="Arial" pitchFamily="34" charset="0"/>
              <a:buChar char="•"/>
            </a:pPr>
            <a:r>
              <a:rPr lang="en-AU" dirty="0"/>
              <a:t>Complete Activity 4</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a:t>
            </a:r>
          </a:p>
          <a:p>
            <a:endParaRPr lang="en-AU" dirty="0"/>
          </a:p>
          <a:p>
            <a:pPr>
              <a:buFont typeface="Arial" pitchFamily="34" charset="0"/>
              <a:buChar char="•"/>
            </a:pPr>
            <a:r>
              <a:rPr lang="en-US" dirty="0"/>
              <a:t>Discuss the question in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a:t>
            </a:r>
          </a:p>
          <a:p>
            <a:endParaRPr lang="en-AU" dirty="0"/>
          </a:p>
          <a:p>
            <a:pPr>
              <a:buFont typeface="Arial" pitchFamily="34" charset="0"/>
              <a:buChar char="•"/>
            </a:pPr>
            <a:r>
              <a:rPr lang="en-US" dirty="0"/>
              <a:t>Discuss the importance of each of these sales needs.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a:t>
            </a:r>
          </a:p>
          <a:p>
            <a:endParaRPr lang="en-AU" dirty="0"/>
          </a:p>
          <a:p>
            <a:pPr>
              <a:buFont typeface="Arial" pitchFamily="34" charset="0"/>
              <a:buChar char="•"/>
            </a:pPr>
            <a:r>
              <a:rPr lang="en-US" dirty="0"/>
              <a:t>Discuss the importance of each of these sales needs.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a:t>
            </a:r>
          </a:p>
          <a:p>
            <a:endParaRPr lang="en-AU" dirty="0"/>
          </a:p>
          <a:p>
            <a:pPr>
              <a:buFont typeface="Arial" pitchFamily="34" charset="0"/>
              <a:buChar char="•"/>
            </a:pPr>
            <a:r>
              <a:rPr lang="en-US" dirty="0"/>
              <a:t>Discuss the importance of each of these sales needs.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General Discussion</a:t>
            </a:r>
          </a:p>
          <a:p>
            <a:pPr defTabSz="882213">
              <a:defRPr/>
            </a:pPr>
            <a:endParaRPr lang="en-AU" b="1" dirty="0"/>
          </a:p>
          <a:p>
            <a:pPr marL="220553" indent="-220553" defTabSz="882213">
              <a:buFont typeface="Arial" pitchFamily="34" charset="0"/>
              <a:buChar char="•"/>
              <a:defRPr/>
            </a:pPr>
            <a:r>
              <a:rPr lang="en-AU" dirty="0"/>
              <a:t>Discuss question in the slide</a:t>
            </a:r>
          </a:p>
          <a:p>
            <a:pPr marL="220553" indent="-220553" defTabSz="882213">
              <a:buFont typeface="Arial" pitchFamily="34" charset="0"/>
              <a:buChar char="•"/>
              <a:defRPr/>
            </a:pPr>
            <a:r>
              <a:rPr lang="en-AU" sz="1200" kern="1200" dirty="0" smtClean="0">
                <a:solidFill>
                  <a:schemeClr val="tx1"/>
                </a:solidFill>
                <a:effectLst/>
                <a:latin typeface="+mn-lt"/>
                <a:ea typeface="+mn-ea"/>
                <a:cs typeface="+mn-cs"/>
              </a:rPr>
              <a:t>Refer to Criteria 1.3 Identify client needs relating to destination information that may be required of Trainee Manual for questions that you can ask to determine informational needs.</a:t>
            </a:r>
            <a:endParaRPr lang="en-AU" dirty="0"/>
          </a:p>
          <a:p>
            <a:pPr marL="220553" indent="-220553" defTabSz="882213">
              <a:buFont typeface="Arial" pitchFamily="34" charset="0"/>
              <a:buAutoNum type="alphaLcParenR"/>
              <a:defRPr/>
            </a:pPr>
            <a:endParaRPr lang="en-AU" dirty="0"/>
          </a:p>
          <a:p>
            <a:pPr defTabSz="882213">
              <a:defRPr/>
            </a:pPr>
            <a:endParaRPr lang="en-AU" b="1" dirty="0"/>
          </a:p>
          <a:p>
            <a:pPr defTabSz="882213">
              <a:defRPr/>
            </a:pPr>
            <a:endParaRPr lang="en-AU" b="1" dirty="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Discussion</a:t>
            </a:r>
          </a:p>
          <a:p>
            <a:pPr defTabSz="882213">
              <a:defRPr/>
            </a:pPr>
            <a:endParaRPr lang="en-AU" dirty="0"/>
          </a:p>
          <a:p>
            <a:pPr defTabSz="882213">
              <a:buFont typeface="Arial" pitchFamily="34" charset="0"/>
              <a:buChar char="•"/>
              <a:defRPr/>
            </a:pPr>
            <a:r>
              <a:rPr lang="en-AU" dirty="0"/>
              <a:t>Provide examples of each type of client</a:t>
            </a:r>
          </a:p>
          <a:p>
            <a:pPr defTabSz="882213">
              <a:buFont typeface="Arial" pitchFamily="34" charset="0"/>
              <a:buChar char="•"/>
              <a:defRPr/>
            </a:pPr>
            <a:r>
              <a:rPr lang="en-AU" dirty="0"/>
              <a:t>What are their needs?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Discussion </a:t>
            </a:r>
          </a:p>
          <a:p>
            <a:pPr defTabSz="882213">
              <a:defRPr/>
            </a:pPr>
            <a:endParaRPr lang="en-AU" dirty="0"/>
          </a:p>
          <a:p>
            <a:pPr defTabSz="882213">
              <a:buFont typeface="Arial" pitchFamily="34" charset="0"/>
              <a:buChar char="•"/>
              <a:defRPr/>
            </a:pPr>
            <a:r>
              <a:rPr lang="en-AU" dirty="0">
                <a:latin typeface="Helvetica" pitchFamily="34" charset="0"/>
              </a:rPr>
              <a:t>How can you identifying client requirements?</a:t>
            </a:r>
            <a:endParaRPr lang="en-AU"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Discussion </a:t>
            </a:r>
          </a:p>
          <a:p>
            <a:pPr defTabSz="882213">
              <a:defRPr/>
            </a:pPr>
            <a:endParaRPr lang="en-AU" dirty="0"/>
          </a:p>
          <a:p>
            <a:pPr defTabSz="882213">
              <a:buFont typeface="Arial" pitchFamily="34" charset="0"/>
              <a:buChar char="•"/>
              <a:defRPr/>
            </a:pPr>
            <a:r>
              <a:rPr lang="en-AU" dirty="0"/>
              <a:t>Discuss these needs?</a:t>
            </a:r>
          </a:p>
          <a:p>
            <a:pPr defTabSz="882213">
              <a:buFont typeface="Arial" pitchFamily="34" charset="0"/>
              <a:buChar char="•"/>
              <a:defRPr/>
            </a:pPr>
            <a:r>
              <a:rPr lang="en-AU" dirty="0"/>
              <a:t>How can you cater to these?</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Discussion &amp; Activity</a:t>
            </a:r>
          </a:p>
          <a:p>
            <a:pPr defTabSz="882213">
              <a:defRPr/>
            </a:pPr>
            <a:endParaRPr lang="en-AU" dirty="0"/>
          </a:p>
          <a:p>
            <a:pPr defTabSz="882213">
              <a:buFont typeface="Arial" pitchFamily="34" charset="0"/>
              <a:buChar char="•"/>
              <a:defRPr/>
            </a:pPr>
            <a:r>
              <a:rPr lang="en-AU" dirty="0"/>
              <a:t>What are the needs for each of these customer types?</a:t>
            </a:r>
          </a:p>
          <a:p>
            <a:pPr defTabSz="882213">
              <a:buFont typeface="Arial" pitchFamily="34" charset="0"/>
              <a:buChar char="•"/>
              <a:defRPr/>
            </a:pPr>
            <a:r>
              <a:rPr lang="en-AU" dirty="0"/>
              <a:t>Discuss these needs?</a:t>
            </a:r>
          </a:p>
          <a:p>
            <a:pPr defTabSz="882213">
              <a:buFont typeface="Arial" pitchFamily="34" charset="0"/>
              <a:buChar char="•"/>
              <a:defRPr/>
            </a:pPr>
            <a:r>
              <a:rPr lang="en-AU" dirty="0"/>
              <a:t>How can you cater to these?</a:t>
            </a:r>
          </a:p>
          <a:p>
            <a:pPr defTabSz="882213">
              <a:buFont typeface="Arial" pitchFamily="34" charset="0"/>
              <a:buChar char="•"/>
              <a:defRPr/>
            </a:pPr>
            <a:r>
              <a:rPr lang="en-AU" dirty="0"/>
              <a:t>Complete Activity 5</a:t>
            </a: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spcBef>
                <a:spcPts val="579"/>
              </a:spcBef>
              <a:spcAft>
                <a:spcPts val="1158"/>
              </a:spcAft>
              <a:defRPr/>
            </a:pPr>
            <a:r>
              <a:rPr lang="en-AU" b="1" dirty="0"/>
              <a:t>Class Activity – Question</a:t>
            </a:r>
            <a:endParaRPr lang="en-US" dirty="0">
              <a:latin typeface="Helvetica" pitchFamily="34" charset="0"/>
            </a:endParaRPr>
          </a:p>
          <a:p>
            <a:endParaRPr lang="en-AU" dirty="0"/>
          </a:p>
          <a:p>
            <a:pPr>
              <a:spcBef>
                <a:spcPts val="579"/>
              </a:spcBef>
              <a:spcAft>
                <a:spcPts val="1158"/>
              </a:spcAft>
              <a:buFont typeface="Arial" pitchFamily="34" charset="0"/>
              <a:buChar char="•"/>
            </a:pPr>
            <a:r>
              <a:rPr lang="en-AU" dirty="0"/>
              <a:t>Discuss the question in the slide.</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spcBef>
                <a:spcPts val="579"/>
              </a:spcBef>
              <a:spcAft>
                <a:spcPts val="1158"/>
              </a:spcAft>
              <a:defRPr/>
            </a:pPr>
            <a:r>
              <a:rPr lang="en-AU" b="1" dirty="0"/>
              <a:t>Class Activity – Question</a:t>
            </a:r>
            <a:endParaRPr lang="en-US" dirty="0">
              <a:latin typeface="Helvetica" pitchFamily="34" charset="0"/>
            </a:endParaRPr>
          </a:p>
          <a:p>
            <a:endParaRPr lang="en-AU" dirty="0"/>
          </a:p>
          <a:p>
            <a:pPr>
              <a:spcBef>
                <a:spcPts val="579"/>
              </a:spcBef>
              <a:spcAft>
                <a:spcPts val="1158"/>
              </a:spcAft>
              <a:buFont typeface="Arial" pitchFamily="34" charset="0"/>
              <a:buChar char="•"/>
            </a:pPr>
            <a:r>
              <a:rPr lang="en-AU" dirty="0"/>
              <a:t>Discuss the types of information to be collected under each point?</a:t>
            </a:r>
          </a:p>
          <a:p>
            <a:pPr>
              <a:spcBef>
                <a:spcPts val="579"/>
              </a:spcBef>
              <a:spcAft>
                <a:spcPts val="1158"/>
              </a:spcAft>
              <a:buFont typeface="Arial" pitchFamily="34" charset="0"/>
              <a:buChar char="•"/>
            </a:pPr>
            <a:r>
              <a:rPr lang="en-AU" dirty="0"/>
              <a:t>How can you collect this information?</a:t>
            </a:r>
          </a:p>
          <a:p>
            <a:pPr>
              <a:spcBef>
                <a:spcPts val="579"/>
              </a:spcBef>
              <a:spcAft>
                <a:spcPts val="1158"/>
              </a:spcAft>
              <a:buFont typeface="Arial" pitchFamily="34" charset="0"/>
              <a:buChar char="•"/>
            </a:pPr>
            <a:r>
              <a:rPr lang="en-AU" dirty="0"/>
              <a:t>What format would you like it in?</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spcBef>
                <a:spcPts val="579"/>
              </a:spcBef>
              <a:spcAft>
                <a:spcPts val="1158"/>
              </a:spcAft>
              <a:defRPr/>
            </a:pPr>
            <a:r>
              <a:rPr lang="en-AU" b="1" dirty="0"/>
              <a:t>Class Activity – Question</a:t>
            </a:r>
            <a:endParaRPr lang="en-US" dirty="0">
              <a:latin typeface="Helvetica" pitchFamily="34" charset="0"/>
            </a:endParaRPr>
          </a:p>
          <a:p>
            <a:endParaRPr lang="en-AU" dirty="0"/>
          </a:p>
          <a:p>
            <a:pPr>
              <a:spcBef>
                <a:spcPts val="579"/>
              </a:spcBef>
              <a:spcAft>
                <a:spcPts val="1158"/>
              </a:spcAft>
              <a:buFont typeface="Arial" pitchFamily="34" charset="0"/>
              <a:buChar char="•"/>
            </a:pPr>
            <a:r>
              <a:rPr lang="en-AU" dirty="0"/>
              <a:t>Discuss the types of information to be collected under each point?</a:t>
            </a:r>
          </a:p>
          <a:p>
            <a:pPr>
              <a:spcBef>
                <a:spcPts val="579"/>
              </a:spcBef>
              <a:spcAft>
                <a:spcPts val="1158"/>
              </a:spcAft>
              <a:buFont typeface="Arial" pitchFamily="34" charset="0"/>
              <a:buChar char="•"/>
            </a:pPr>
            <a:r>
              <a:rPr lang="en-AU" dirty="0"/>
              <a:t>How can you collect this information?</a:t>
            </a:r>
          </a:p>
          <a:p>
            <a:pPr>
              <a:spcBef>
                <a:spcPts val="579"/>
              </a:spcBef>
              <a:spcAft>
                <a:spcPts val="1158"/>
              </a:spcAft>
              <a:buFont typeface="Arial" pitchFamily="34" charset="0"/>
              <a:buChar char="•"/>
            </a:pPr>
            <a:r>
              <a:rPr lang="en-AU" dirty="0"/>
              <a:t>What format would you like it in?</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spcBef>
                <a:spcPts val="579"/>
              </a:spcBef>
              <a:spcAft>
                <a:spcPts val="1158"/>
              </a:spcAft>
              <a:defRPr/>
            </a:pPr>
            <a:r>
              <a:rPr lang="en-AU" b="1" dirty="0"/>
              <a:t>Class Activity – Question</a:t>
            </a:r>
            <a:endParaRPr lang="en-US" dirty="0">
              <a:latin typeface="Helvetica" pitchFamily="34" charset="0"/>
            </a:endParaRPr>
          </a:p>
          <a:p>
            <a:endParaRPr lang="en-AU" dirty="0"/>
          </a:p>
          <a:p>
            <a:pPr>
              <a:spcBef>
                <a:spcPts val="579"/>
              </a:spcBef>
              <a:spcAft>
                <a:spcPts val="1158"/>
              </a:spcAft>
              <a:buFont typeface="Arial" pitchFamily="34" charset="0"/>
              <a:buChar char="•"/>
            </a:pPr>
            <a:r>
              <a:rPr lang="en-AU" dirty="0"/>
              <a:t>Discuss the types of information to be collected under each point?</a:t>
            </a:r>
          </a:p>
          <a:p>
            <a:pPr>
              <a:spcBef>
                <a:spcPts val="579"/>
              </a:spcBef>
              <a:spcAft>
                <a:spcPts val="1158"/>
              </a:spcAft>
              <a:buFont typeface="Arial" pitchFamily="34" charset="0"/>
              <a:buChar char="•"/>
            </a:pPr>
            <a:r>
              <a:rPr lang="en-AU" dirty="0"/>
              <a:t>How can you collect this information?</a:t>
            </a:r>
          </a:p>
          <a:p>
            <a:pPr>
              <a:spcBef>
                <a:spcPts val="579"/>
              </a:spcBef>
              <a:spcAft>
                <a:spcPts val="1158"/>
              </a:spcAft>
              <a:buFont typeface="Arial" pitchFamily="34" charset="0"/>
              <a:buChar char="•"/>
            </a:pPr>
            <a:r>
              <a:rPr lang="en-AU" dirty="0"/>
              <a:t>What format would you like it in?</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spcBef>
                <a:spcPts val="579"/>
              </a:spcBef>
              <a:spcAft>
                <a:spcPts val="1158"/>
              </a:spcAft>
              <a:defRPr/>
            </a:pPr>
            <a:r>
              <a:rPr lang="en-AU" b="1" dirty="0"/>
              <a:t>Class Activity – Question</a:t>
            </a:r>
            <a:endParaRPr lang="en-US" dirty="0">
              <a:latin typeface="Helvetica" pitchFamily="34" charset="0"/>
            </a:endParaRPr>
          </a:p>
          <a:p>
            <a:endParaRPr lang="en-AU" dirty="0"/>
          </a:p>
          <a:p>
            <a:pPr>
              <a:spcBef>
                <a:spcPts val="579"/>
              </a:spcBef>
              <a:spcAft>
                <a:spcPts val="1158"/>
              </a:spcAft>
              <a:buFont typeface="Arial" pitchFamily="34" charset="0"/>
              <a:buChar char="•"/>
            </a:pPr>
            <a:r>
              <a:rPr lang="en-AU" dirty="0"/>
              <a:t>Discuss the types of information to be collected under each point?</a:t>
            </a:r>
          </a:p>
          <a:p>
            <a:pPr>
              <a:spcBef>
                <a:spcPts val="579"/>
              </a:spcBef>
              <a:spcAft>
                <a:spcPts val="1158"/>
              </a:spcAft>
              <a:buFont typeface="Arial" pitchFamily="34" charset="0"/>
              <a:buChar char="•"/>
            </a:pPr>
            <a:r>
              <a:rPr lang="en-AU" dirty="0"/>
              <a:t>How can you collect this information?</a:t>
            </a:r>
          </a:p>
          <a:p>
            <a:pPr>
              <a:spcBef>
                <a:spcPts val="579"/>
              </a:spcBef>
              <a:spcAft>
                <a:spcPts val="1158"/>
              </a:spcAft>
              <a:buFont typeface="Arial" pitchFamily="34" charset="0"/>
              <a:buChar char="•"/>
            </a:pPr>
            <a:r>
              <a:rPr lang="en-AU" dirty="0"/>
              <a:t>What format would you like it in?</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spcBef>
                <a:spcPts val="579"/>
              </a:spcBef>
              <a:spcAft>
                <a:spcPts val="1158"/>
              </a:spcAft>
              <a:defRPr/>
            </a:pPr>
            <a:r>
              <a:rPr lang="en-AU" b="1" dirty="0"/>
              <a:t>Class Activity – Question</a:t>
            </a:r>
            <a:endParaRPr lang="en-US" dirty="0">
              <a:latin typeface="Helvetica" pitchFamily="34" charset="0"/>
            </a:endParaRPr>
          </a:p>
          <a:p>
            <a:endParaRPr lang="en-AU" dirty="0"/>
          </a:p>
          <a:p>
            <a:pPr>
              <a:spcBef>
                <a:spcPts val="579"/>
              </a:spcBef>
              <a:spcAft>
                <a:spcPts val="1158"/>
              </a:spcAft>
              <a:buFont typeface="Arial" pitchFamily="34" charset="0"/>
              <a:buChar char="•"/>
            </a:pPr>
            <a:r>
              <a:rPr lang="en-AU" dirty="0"/>
              <a:t>Discuss the questions in the slide.</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spcBef>
                <a:spcPts val="579"/>
              </a:spcBef>
              <a:spcAft>
                <a:spcPts val="1158"/>
              </a:spcAft>
              <a:defRPr/>
            </a:pPr>
            <a:r>
              <a:rPr lang="en-AU" b="1" dirty="0"/>
              <a:t>Class Activity – Question</a:t>
            </a:r>
            <a:endParaRPr lang="en-US" dirty="0">
              <a:latin typeface="Helvetica" pitchFamily="34" charset="0"/>
            </a:endParaRPr>
          </a:p>
          <a:p>
            <a:endParaRPr lang="en-AU" dirty="0"/>
          </a:p>
          <a:p>
            <a:pPr>
              <a:spcBef>
                <a:spcPts val="579"/>
              </a:spcBef>
              <a:spcAft>
                <a:spcPts val="1158"/>
              </a:spcAft>
              <a:buFont typeface="Arial" pitchFamily="34" charset="0"/>
              <a:buChar char="•"/>
            </a:pPr>
            <a:r>
              <a:rPr lang="en-AU" dirty="0"/>
              <a:t>Discuss the types of information to be collected under each point?</a:t>
            </a:r>
          </a:p>
          <a:p>
            <a:pPr>
              <a:spcBef>
                <a:spcPts val="579"/>
              </a:spcBef>
              <a:spcAft>
                <a:spcPts val="1158"/>
              </a:spcAft>
              <a:buFont typeface="Arial" pitchFamily="34" charset="0"/>
              <a:buChar char="•"/>
            </a:pPr>
            <a:r>
              <a:rPr lang="en-AU" dirty="0"/>
              <a:t>How can you collect this information?</a:t>
            </a:r>
          </a:p>
          <a:p>
            <a:pPr>
              <a:spcBef>
                <a:spcPts val="579"/>
              </a:spcBef>
              <a:spcAft>
                <a:spcPts val="1158"/>
              </a:spcAft>
              <a:buFont typeface="Arial" pitchFamily="34" charset="0"/>
              <a:buChar char="•"/>
            </a:pPr>
            <a:r>
              <a:rPr lang="en-AU" dirty="0"/>
              <a:t>What format would you like it in?</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spcBef>
                <a:spcPts val="579"/>
              </a:spcBef>
              <a:spcAft>
                <a:spcPts val="1158"/>
              </a:spcAft>
              <a:defRPr/>
            </a:pPr>
            <a:r>
              <a:rPr lang="en-AU" b="1" dirty="0"/>
              <a:t>Class Activity – Question</a:t>
            </a:r>
            <a:endParaRPr lang="en-US" dirty="0">
              <a:latin typeface="Helvetica" pitchFamily="34" charset="0"/>
            </a:endParaRPr>
          </a:p>
          <a:p>
            <a:endParaRPr lang="en-AU" dirty="0"/>
          </a:p>
          <a:p>
            <a:pPr>
              <a:spcBef>
                <a:spcPts val="579"/>
              </a:spcBef>
              <a:spcAft>
                <a:spcPts val="1158"/>
              </a:spcAft>
              <a:buFont typeface="Arial" pitchFamily="34" charset="0"/>
              <a:buChar char="•"/>
            </a:pPr>
            <a:r>
              <a:rPr lang="en-AU" dirty="0"/>
              <a:t>Discuss the types of information to be collected under each point?</a:t>
            </a:r>
          </a:p>
          <a:p>
            <a:pPr>
              <a:spcBef>
                <a:spcPts val="579"/>
              </a:spcBef>
              <a:spcAft>
                <a:spcPts val="1158"/>
              </a:spcAft>
              <a:buFont typeface="Arial" pitchFamily="34" charset="0"/>
              <a:buChar char="•"/>
            </a:pPr>
            <a:r>
              <a:rPr lang="en-AU" dirty="0"/>
              <a:t>How can you collect this information?</a:t>
            </a:r>
          </a:p>
          <a:p>
            <a:pPr>
              <a:spcBef>
                <a:spcPts val="579"/>
              </a:spcBef>
              <a:spcAft>
                <a:spcPts val="1158"/>
              </a:spcAft>
              <a:buFont typeface="Arial" pitchFamily="34" charset="0"/>
              <a:buChar char="•"/>
            </a:pPr>
            <a:r>
              <a:rPr lang="en-AU" dirty="0"/>
              <a:t>What format would you like it in?</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spcBef>
                <a:spcPts val="579"/>
              </a:spcBef>
              <a:spcAft>
                <a:spcPts val="1158"/>
              </a:spcAft>
              <a:defRPr/>
            </a:pPr>
            <a:r>
              <a:rPr lang="en-AU" b="1" dirty="0"/>
              <a:t>Class Activity – Question</a:t>
            </a:r>
            <a:endParaRPr lang="en-US" dirty="0">
              <a:latin typeface="Helvetica" pitchFamily="34" charset="0"/>
            </a:endParaRPr>
          </a:p>
          <a:p>
            <a:endParaRPr lang="en-AU" dirty="0"/>
          </a:p>
          <a:p>
            <a:pPr>
              <a:spcBef>
                <a:spcPts val="579"/>
              </a:spcBef>
              <a:spcAft>
                <a:spcPts val="1158"/>
              </a:spcAft>
              <a:buFont typeface="Arial" pitchFamily="34" charset="0"/>
              <a:buChar char="•"/>
            </a:pPr>
            <a:r>
              <a:rPr lang="en-AU" dirty="0"/>
              <a:t>Discuss the questions in the slide.</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spcBef>
                <a:spcPts val="579"/>
              </a:spcBef>
              <a:spcAft>
                <a:spcPts val="1158"/>
              </a:spcAft>
              <a:defRPr/>
            </a:pPr>
            <a:r>
              <a:rPr lang="en-AU" b="1" dirty="0"/>
              <a:t>Class Activity – Question</a:t>
            </a:r>
            <a:endParaRPr lang="en-US" dirty="0">
              <a:latin typeface="Helvetica" pitchFamily="34" charset="0"/>
            </a:endParaRPr>
          </a:p>
          <a:p>
            <a:endParaRPr lang="en-AU" dirty="0"/>
          </a:p>
          <a:p>
            <a:pPr>
              <a:spcBef>
                <a:spcPts val="579"/>
              </a:spcBef>
              <a:spcAft>
                <a:spcPts val="1158"/>
              </a:spcAft>
              <a:buFont typeface="Arial" pitchFamily="34" charset="0"/>
              <a:buChar char="•"/>
            </a:pPr>
            <a:r>
              <a:rPr lang="en-AU" dirty="0"/>
              <a:t>Discuss the questions in the slide.</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spcBef>
                <a:spcPts val="579"/>
              </a:spcBef>
              <a:spcAft>
                <a:spcPts val="1158"/>
              </a:spcAft>
              <a:defRPr/>
            </a:pPr>
            <a:r>
              <a:rPr lang="en-AU" b="1" dirty="0"/>
              <a:t>Class Activity – Question</a:t>
            </a:r>
            <a:endParaRPr lang="en-US" dirty="0">
              <a:latin typeface="Helvetica" pitchFamily="34" charset="0"/>
            </a:endParaRPr>
          </a:p>
          <a:p>
            <a:endParaRPr lang="en-AU" dirty="0"/>
          </a:p>
          <a:p>
            <a:pPr>
              <a:spcBef>
                <a:spcPts val="579"/>
              </a:spcBef>
              <a:spcAft>
                <a:spcPts val="1158"/>
              </a:spcAft>
              <a:buFont typeface="Arial" pitchFamily="34" charset="0"/>
              <a:buChar char="•"/>
            </a:pPr>
            <a:r>
              <a:rPr lang="en-AU" dirty="0"/>
              <a:t>Discuss the types of information to be collected under each point?</a:t>
            </a:r>
          </a:p>
          <a:p>
            <a:pPr>
              <a:spcBef>
                <a:spcPts val="579"/>
              </a:spcBef>
              <a:spcAft>
                <a:spcPts val="1158"/>
              </a:spcAft>
              <a:buFont typeface="Arial" pitchFamily="34" charset="0"/>
              <a:buChar char="•"/>
            </a:pPr>
            <a:r>
              <a:rPr lang="en-AU" dirty="0"/>
              <a:t>How can you collect this information?</a:t>
            </a:r>
          </a:p>
          <a:p>
            <a:pPr>
              <a:spcBef>
                <a:spcPts val="579"/>
              </a:spcBef>
              <a:spcAft>
                <a:spcPts val="1158"/>
              </a:spcAft>
              <a:buFont typeface="Arial" pitchFamily="34" charset="0"/>
              <a:buChar char="•"/>
            </a:pPr>
            <a:r>
              <a:rPr lang="en-AU" dirty="0"/>
              <a:t>What format would you like it in?</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spcBef>
                <a:spcPts val="579"/>
              </a:spcBef>
              <a:spcAft>
                <a:spcPts val="1158"/>
              </a:spcAft>
              <a:defRPr/>
            </a:pPr>
            <a:r>
              <a:rPr lang="en-AU" b="1" dirty="0"/>
              <a:t>Class Activity – Question</a:t>
            </a:r>
            <a:endParaRPr lang="en-US" dirty="0">
              <a:latin typeface="Helvetica" pitchFamily="34" charset="0"/>
            </a:endParaRPr>
          </a:p>
          <a:p>
            <a:endParaRPr lang="en-AU" dirty="0"/>
          </a:p>
          <a:p>
            <a:pPr>
              <a:spcBef>
                <a:spcPts val="579"/>
              </a:spcBef>
              <a:spcAft>
                <a:spcPts val="1158"/>
              </a:spcAft>
              <a:buFont typeface="Arial" pitchFamily="34" charset="0"/>
              <a:buChar char="•"/>
            </a:pPr>
            <a:r>
              <a:rPr lang="en-AU" dirty="0"/>
              <a:t>Discuss the questions in the slide.</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spcBef>
                <a:spcPts val="579"/>
              </a:spcBef>
              <a:spcAft>
                <a:spcPts val="1158"/>
              </a:spcAft>
              <a:defRPr/>
            </a:pPr>
            <a:r>
              <a:rPr lang="en-AU" b="1" dirty="0"/>
              <a:t>Class Activity – Question</a:t>
            </a:r>
            <a:endParaRPr lang="en-US" dirty="0">
              <a:latin typeface="Helvetica" pitchFamily="34" charset="0"/>
            </a:endParaRPr>
          </a:p>
          <a:p>
            <a:endParaRPr lang="en-AU" dirty="0"/>
          </a:p>
          <a:p>
            <a:pPr>
              <a:spcBef>
                <a:spcPts val="579"/>
              </a:spcBef>
              <a:spcAft>
                <a:spcPts val="1158"/>
              </a:spcAft>
              <a:buFont typeface="Arial" pitchFamily="34" charset="0"/>
              <a:buChar char="•"/>
            </a:pPr>
            <a:r>
              <a:rPr lang="en-AU" dirty="0"/>
              <a:t>Discuss the questions in the slide.</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spcBef>
                <a:spcPts val="579"/>
              </a:spcBef>
              <a:spcAft>
                <a:spcPts val="1158"/>
              </a:spcAft>
              <a:defRPr/>
            </a:pPr>
            <a:r>
              <a:rPr lang="en-AU" b="1" dirty="0"/>
              <a:t>Class Activity – Question</a:t>
            </a:r>
            <a:endParaRPr lang="en-US" dirty="0">
              <a:latin typeface="Helvetica" pitchFamily="34" charset="0"/>
            </a:endParaRPr>
          </a:p>
          <a:p>
            <a:endParaRPr lang="en-AU" dirty="0"/>
          </a:p>
          <a:p>
            <a:pPr>
              <a:spcBef>
                <a:spcPts val="579"/>
              </a:spcBef>
              <a:spcAft>
                <a:spcPts val="1158"/>
              </a:spcAft>
              <a:buFont typeface="Arial" pitchFamily="34" charset="0"/>
              <a:buChar char="•"/>
            </a:pPr>
            <a:r>
              <a:rPr lang="en-AU" dirty="0"/>
              <a:t>Discuss the types of information to be collected under each point?</a:t>
            </a:r>
          </a:p>
          <a:p>
            <a:pPr>
              <a:spcBef>
                <a:spcPts val="579"/>
              </a:spcBef>
              <a:spcAft>
                <a:spcPts val="1158"/>
              </a:spcAft>
              <a:buFont typeface="Arial" pitchFamily="34" charset="0"/>
              <a:buChar char="•"/>
            </a:pPr>
            <a:r>
              <a:rPr lang="en-AU" dirty="0"/>
              <a:t>How can you collect this information?</a:t>
            </a:r>
          </a:p>
          <a:p>
            <a:pPr>
              <a:spcBef>
                <a:spcPts val="579"/>
              </a:spcBef>
              <a:spcAft>
                <a:spcPts val="1158"/>
              </a:spcAft>
              <a:buFont typeface="Arial" pitchFamily="34" charset="0"/>
              <a:buChar char="•"/>
            </a:pPr>
            <a:r>
              <a:rPr lang="en-AU" dirty="0"/>
              <a:t>What format would you like it in?</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spcBef>
                <a:spcPts val="579"/>
              </a:spcBef>
              <a:spcAft>
                <a:spcPts val="1158"/>
              </a:spcAft>
              <a:defRPr/>
            </a:pPr>
            <a:r>
              <a:rPr lang="en-AU" b="1" dirty="0"/>
              <a:t>Class Activity – Question</a:t>
            </a:r>
            <a:endParaRPr lang="en-US" dirty="0">
              <a:latin typeface="Helvetica" pitchFamily="34" charset="0"/>
            </a:endParaRPr>
          </a:p>
          <a:p>
            <a:endParaRPr lang="en-AU" dirty="0"/>
          </a:p>
          <a:p>
            <a:pPr>
              <a:spcBef>
                <a:spcPts val="579"/>
              </a:spcBef>
              <a:spcAft>
                <a:spcPts val="1158"/>
              </a:spcAft>
              <a:buFont typeface="Arial" pitchFamily="34" charset="0"/>
              <a:buChar char="•"/>
            </a:pPr>
            <a:r>
              <a:rPr lang="en-AU" dirty="0"/>
              <a:t>Discuss the types of information to be collected under each point?</a:t>
            </a:r>
          </a:p>
          <a:p>
            <a:pPr>
              <a:spcBef>
                <a:spcPts val="579"/>
              </a:spcBef>
              <a:spcAft>
                <a:spcPts val="1158"/>
              </a:spcAft>
              <a:buFont typeface="Arial" pitchFamily="34" charset="0"/>
              <a:buChar char="•"/>
            </a:pPr>
            <a:r>
              <a:rPr lang="en-AU" dirty="0"/>
              <a:t>How can you collect this information?</a:t>
            </a:r>
          </a:p>
          <a:p>
            <a:pPr>
              <a:spcBef>
                <a:spcPts val="579"/>
              </a:spcBef>
              <a:spcAft>
                <a:spcPts val="1158"/>
              </a:spcAft>
              <a:buFont typeface="Arial" pitchFamily="34" charset="0"/>
              <a:buChar char="•"/>
            </a:pPr>
            <a:r>
              <a:rPr lang="en-AU" dirty="0"/>
              <a:t>What format would you like it in?</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spcBef>
                <a:spcPts val="579"/>
              </a:spcBef>
              <a:spcAft>
                <a:spcPts val="1158"/>
              </a:spcAft>
              <a:defRPr/>
            </a:pPr>
            <a:r>
              <a:rPr lang="en-AU" b="1" dirty="0"/>
              <a:t>Class Activity – Question</a:t>
            </a:r>
            <a:endParaRPr lang="en-US" dirty="0">
              <a:latin typeface="Helvetica" pitchFamily="34" charset="0"/>
            </a:endParaRPr>
          </a:p>
          <a:p>
            <a:endParaRPr lang="en-AU" dirty="0"/>
          </a:p>
          <a:p>
            <a:pPr>
              <a:spcBef>
                <a:spcPts val="579"/>
              </a:spcBef>
              <a:spcAft>
                <a:spcPts val="1158"/>
              </a:spcAft>
              <a:buFont typeface="Arial" pitchFamily="34" charset="0"/>
              <a:buChar char="•"/>
            </a:pPr>
            <a:r>
              <a:rPr lang="en-AU" dirty="0"/>
              <a:t>Discuss the types of information to be collected under each point?</a:t>
            </a:r>
          </a:p>
          <a:p>
            <a:pPr>
              <a:spcBef>
                <a:spcPts val="579"/>
              </a:spcBef>
              <a:spcAft>
                <a:spcPts val="1158"/>
              </a:spcAft>
              <a:buFont typeface="Arial" pitchFamily="34" charset="0"/>
              <a:buChar char="•"/>
            </a:pPr>
            <a:r>
              <a:rPr lang="en-AU" dirty="0"/>
              <a:t>How can you collect this information?</a:t>
            </a:r>
          </a:p>
          <a:p>
            <a:pPr>
              <a:spcBef>
                <a:spcPts val="579"/>
              </a:spcBef>
              <a:spcAft>
                <a:spcPts val="1158"/>
              </a:spcAft>
              <a:buFont typeface="Arial" pitchFamily="34" charset="0"/>
              <a:buChar char="•"/>
            </a:pPr>
            <a:r>
              <a:rPr lang="en-AU" dirty="0"/>
              <a:t>What format would you like it in?</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spcBef>
                <a:spcPts val="579"/>
              </a:spcBef>
              <a:spcAft>
                <a:spcPts val="1158"/>
              </a:spcAft>
              <a:defRPr/>
            </a:pPr>
            <a:r>
              <a:rPr lang="en-AU" b="1" dirty="0"/>
              <a:t>Class Activity – Question</a:t>
            </a:r>
            <a:endParaRPr lang="en-US" dirty="0">
              <a:latin typeface="Helvetica" pitchFamily="34" charset="0"/>
            </a:endParaRPr>
          </a:p>
          <a:p>
            <a:endParaRPr lang="en-AU" dirty="0"/>
          </a:p>
          <a:p>
            <a:pPr>
              <a:spcBef>
                <a:spcPts val="579"/>
              </a:spcBef>
              <a:spcAft>
                <a:spcPts val="1158"/>
              </a:spcAft>
              <a:buFont typeface="Arial" pitchFamily="34" charset="0"/>
              <a:buChar char="•"/>
            </a:pPr>
            <a:r>
              <a:rPr lang="en-AU" dirty="0"/>
              <a:t>Discuss the types of information to be collected under each point?</a:t>
            </a:r>
          </a:p>
          <a:p>
            <a:pPr>
              <a:spcBef>
                <a:spcPts val="579"/>
              </a:spcBef>
              <a:spcAft>
                <a:spcPts val="1158"/>
              </a:spcAft>
              <a:buFont typeface="Arial" pitchFamily="34" charset="0"/>
              <a:buChar char="•"/>
            </a:pPr>
            <a:r>
              <a:rPr lang="en-AU" dirty="0"/>
              <a:t>How can you collect this information?</a:t>
            </a:r>
          </a:p>
          <a:p>
            <a:pPr>
              <a:spcBef>
                <a:spcPts val="579"/>
              </a:spcBef>
              <a:spcAft>
                <a:spcPts val="1158"/>
              </a:spcAft>
              <a:buFont typeface="Arial" pitchFamily="34" charset="0"/>
              <a:buChar char="•"/>
            </a:pPr>
            <a:r>
              <a:rPr lang="en-AU" dirty="0"/>
              <a:t>What format would you like it in?</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spcBef>
                <a:spcPts val="579"/>
              </a:spcBef>
              <a:spcAft>
                <a:spcPts val="1158"/>
              </a:spcAft>
              <a:defRPr/>
            </a:pPr>
            <a:r>
              <a:rPr lang="en-AU" b="1" dirty="0"/>
              <a:t>Class Activity – Question</a:t>
            </a:r>
            <a:endParaRPr lang="en-US" dirty="0">
              <a:latin typeface="Helvetica" pitchFamily="34" charset="0"/>
            </a:endParaRPr>
          </a:p>
          <a:p>
            <a:endParaRPr lang="en-AU" dirty="0"/>
          </a:p>
          <a:p>
            <a:pPr>
              <a:spcBef>
                <a:spcPts val="579"/>
              </a:spcBef>
              <a:spcAft>
                <a:spcPts val="1158"/>
              </a:spcAft>
              <a:buFont typeface="Arial" pitchFamily="34" charset="0"/>
              <a:buChar char="•"/>
            </a:pPr>
            <a:r>
              <a:rPr lang="en-AU" dirty="0"/>
              <a:t>Discuss the types of information to be collected under each point?</a:t>
            </a:r>
          </a:p>
          <a:p>
            <a:pPr>
              <a:spcBef>
                <a:spcPts val="579"/>
              </a:spcBef>
              <a:spcAft>
                <a:spcPts val="1158"/>
              </a:spcAft>
              <a:buFont typeface="Arial" pitchFamily="34" charset="0"/>
              <a:buChar char="•"/>
            </a:pPr>
            <a:r>
              <a:rPr lang="en-AU" dirty="0"/>
              <a:t>How can you collect this information?</a:t>
            </a:r>
          </a:p>
          <a:p>
            <a:pPr>
              <a:spcBef>
                <a:spcPts val="579"/>
              </a:spcBef>
              <a:spcAft>
                <a:spcPts val="1158"/>
              </a:spcAft>
              <a:buFont typeface="Arial" pitchFamily="34" charset="0"/>
              <a:buChar char="•"/>
            </a:pPr>
            <a:r>
              <a:rPr lang="en-AU" dirty="0"/>
              <a:t>What format would you like it in?</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spcBef>
                <a:spcPts val="579"/>
              </a:spcBef>
              <a:spcAft>
                <a:spcPts val="1158"/>
              </a:spcAft>
              <a:defRPr/>
            </a:pPr>
            <a:r>
              <a:rPr lang="en-AU" b="1" dirty="0"/>
              <a:t>Class Activity – Question</a:t>
            </a:r>
            <a:endParaRPr lang="en-US" dirty="0">
              <a:latin typeface="Helvetica" pitchFamily="34" charset="0"/>
            </a:endParaRPr>
          </a:p>
          <a:p>
            <a:endParaRPr lang="en-AU" dirty="0"/>
          </a:p>
          <a:p>
            <a:pPr>
              <a:spcBef>
                <a:spcPts val="579"/>
              </a:spcBef>
              <a:spcAft>
                <a:spcPts val="1158"/>
              </a:spcAft>
              <a:buFont typeface="Arial" pitchFamily="34" charset="0"/>
              <a:buChar char="•"/>
            </a:pPr>
            <a:r>
              <a:rPr lang="en-AU" dirty="0"/>
              <a:t>Discuss the types of information to be collected under each point?</a:t>
            </a:r>
          </a:p>
          <a:p>
            <a:pPr>
              <a:spcBef>
                <a:spcPts val="579"/>
              </a:spcBef>
              <a:spcAft>
                <a:spcPts val="1158"/>
              </a:spcAft>
              <a:buFont typeface="Arial" pitchFamily="34" charset="0"/>
              <a:buChar char="•"/>
            </a:pPr>
            <a:r>
              <a:rPr lang="en-AU" dirty="0"/>
              <a:t>How can you collect this information?</a:t>
            </a:r>
          </a:p>
          <a:p>
            <a:pPr>
              <a:spcBef>
                <a:spcPts val="579"/>
              </a:spcBef>
              <a:spcAft>
                <a:spcPts val="1158"/>
              </a:spcAft>
              <a:buFont typeface="Arial" pitchFamily="34" charset="0"/>
              <a:buChar char="•"/>
            </a:pPr>
            <a:r>
              <a:rPr lang="en-AU" dirty="0"/>
              <a:t>What format would you like it in?</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spcBef>
                <a:spcPts val="579"/>
              </a:spcBef>
              <a:spcAft>
                <a:spcPts val="1158"/>
              </a:spcAft>
              <a:defRPr/>
            </a:pPr>
            <a:r>
              <a:rPr lang="en-AU" b="1" dirty="0"/>
              <a:t>Class Activity – Question</a:t>
            </a:r>
            <a:endParaRPr lang="en-US" dirty="0">
              <a:latin typeface="Helvetica" pitchFamily="34" charset="0"/>
            </a:endParaRPr>
          </a:p>
          <a:p>
            <a:endParaRPr lang="en-AU" dirty="0"/>
          </a:p>
          <a:p>
            <a:pPr>
              <a:spcBef>
                <a:spcPts val="579"/>
              </a:spcBef>
              <a:spcAft>
                <a:spcPts val="1158"/>
              </a:spcAft>
              <a:buFont typeface="Arial" pitchFamily="34" charset="0"/>
              <a:buChar char="•"/>
            </a:pPr>
            <a:r>
              <a:rPr lang="en-AU" dirty="0"/>
              <a:t>Discuss the types of information to be collected under each point?</a:t>
            </a:r>
          </a:p>
          <a:p>
            <a:pPr>
              <a:spcBef>
                <a:spcPts val="579"/>
              </a:spcBef>
              <a:spcAft>
                <a:spcPts val="1158"/>
              </a:spcAft>
              <a:buFont typeface="Arial" pitchFamily="34" charset="0"/>
              <a:buChar char="•"/>
            </a:pPr>
            <a:r>
              <a:rPr lang="en-AU" dirty="0"/>
              <a:t>How can you collect this information?</a:t>
            </a:r>
          </a:p>
          <a:p>
            <a:pPr>
              <a:spcBef>
                <a:spcPts val="579"/>
              </a:spcBef>
              <a:spcAft>
                <a:spcPts val="1158"/>
              </a:spcAft>
              <a:buFont typeface="Arial" pitchFamily="34" charset="0"/>
              <a:buChar char="•"/>
            </a:pPr>
            <a:r>
              <a:rPr lang="en-AU" dirty="0"/>
              <a:t>What format would you like it in?</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spcBef>
                <a:spcPts val="579"/>
              </a:spcBef>
              <a:spcAft>
                <a:spcPts val="1158"/>
              </a:spcAft>
              <a:defRPr/>
            </a:pPr>
            <a:r>
              <a:rPr lang="en-AU" b="1" dirty="0"/>
              <a:t>Class Activity – Question</a:t>
            </a:r>
            <a:endParaRPr lang="en-US" dirty="0">
              <a:latin typeface="Helvetica" pitchFamily="34" charset="0"/>
            </a:endParaRPr>
          </a:p>
          <a:p>
            <a:endParaRPr lang="en-AU" dirty="0"/>
          </a:p>
          <a:p>
            <a:pPr>
              <a:spcBef>
                <a:spcPts val="579"/>
              </a:spcBef>
              <a:spcAft>
                <a:spcPts val="1158"/>
              </a:spcAft>
              <a:buFont typeface="Arial" pitchFamily="34" charset="0"/>
              <a:buChar char="•"/>
            </a:pPr>
            <a:r>
              <a:rPr lang="en-AU" dirty="0"/>
              <a:t>Discuss the types of information to be collected under each point?</a:t>
            </a:r>
          </a:p>
          <a:p>
            <a:pPr>
              <a:spcBef>
                <a:spcPts val="579"/>
              </a:spcBef>
              <a:spcAft>
                <a:spcPts val="1158"/>
              </a:spcAft>
              <a:buFont typeface="Arial" pitchFamily="34" charset="0"/>
              <a:buChar char="•"/>
            </a:pPr>
            <a:r>
              <a:rPr lang="en-AU" dirty="0"/>
              <a:t>How can you collect this information?</a:t>
            </a:r>
          </a:p>
          <a:p>
            <a:pPr>
              <a:spcBef>
                <a:spcPts val="579"/>
              </a:spcBef>
              <a:spcAft>
                <a:spcPts val="1158"/>
              </a:spcAft>
              <a:buFont typeface="Arial" pitchFamily="34" charset="0"/>
              <a:buChar char="•"/>
            </a:pPr>
            <a:r>
              <a:rPr lang="en-AU" dirty="0"/>
              <a:t>What format would you like it in?</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spcBef>
                <a:spcPts val="579"/>
              </a:spcBef>
              <a:spcAft>
                <a:spcPts val="1158"/>
              </a:spcAft>
              <a:defRPr/>
            </a:pPr>
            <a:r>
              <a:rPr lang="en-AU" b="1" dirty="0"/>
              <a:t>Class Activity – Question</a:t>
            </a:r>
            <a:endParaRPr lang="en-US" dirty="0">
              <a:latin typeface="Helvetica" pitchFamily="34" charset="0"/>
            </a:endParaRPr>
          </a:p>
          <a:p>
            <a:endParaRPr lang="en-AU" dirty="0"/>
          </a:p>
          <a:p>
            <a:pPr>
              <a:spcBef>
                <a:spcPts val="579"/>
              </a:spcBef>
              <a:spcAft>
                <a:spcPts val="1158"/>
              </a:spcAft>
              <a:buFont typeface="Arial" pitchFamily="34" charset="0"/>
              <a:buChar char="•"/>
            </a:pPr>
            <a:r>
              <a:rPr lang="en-AU" dirty="0"/>
              <a:t>Discuss the types of information to be collected under each point?</a:t>
            </a:r>
          </a:p>
          <a:p>
            <a:pPr>
              <a:spcBef>
                <a:spcPts val="579"/>
              </a:spcBef>
              <a:spcAft>
                <a:spcPts val="1158"/>
              </a:spcAft>
              <a:buFont typeface="Arial" pitchFamily="34" charset="0"/>
              <a:buChar char="•"/>
            </a:pPr>
            <a:r>
              <a:rPr lang="en-AU" dirty="0"/>
              <a:t>How can you collect this information?</a:t>
            </a:r>
          </a:p>
          <a:p>
            <a:pPr>
              <a:spcBef>
                <a:spcPts val="579"/>
              </a:spcBef>
              <a:spcAft>
                <a:spcPts val="1158"/>
              </a:spcAft>
              <a:buFont typeface="Arial" pitchFamily="34" charset="0"/>
              <a:buChar char="•"/>
            </a:pPr>
            <a:r>
              <a:rPr lang="en-AU" dirty="0"/>
              <a:t>What format would you like it in?</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spcBef>
                <a:spcPts val="579"/>
              </a:spcBef>
              <a:spcAft>
                <a:spcPts val="1158"/>
              </a:spcAft>
              <a:defRPr/>
            </a:pPr>
            <a:r>
              <a:rPr lang="en-AU" b="1" dirty="0"/>
              <a:t>Class Activity – Question</a:t>
            </a:r>
            <a:endParaRPr lang="en-US" dirty="0">
              <a:latin typeface="Helvetica" pitchFamily="34" charset="0"/>
            </a:endParaRPr>
          </a:p>
          <a:p>
            <a:endParaRPr lang="en-AU" dirty="0"/>
          </a:p>
          <a:p>
            <a:pPr>
              <a:spcBef>
                <a:spcPts val="579"/>
              </a:spcBef>
              <a:spcAft>
                <a:spcPts val="1158"/>
              </a:spcAft>
              <a:buFont typeface="Arial" pitchFamily="34" charset="0"/>
              <a:buChar char="•"/>
            </a:pPr>
            <a:r>
              <a:rPr lang="en-AU" dirty="0"/>
              <a:t>Discuss the types of information to be collected under each point?</a:t>
            </a:r>
          </a:p>
          <a:p>
            <a:pPr>
              <a:spcBef>
                <a:spcPts val="579"/>
              </a:spcBef>
              <a:spcAft>
                <a:spcPts val="1158"/>
              </a:spcAft>
              <a:buFont typeface="Arial" pitchFamily="34" charset="0"/>
              <a:buChar char="•"/>
            </a:pPr>
            <a:r>
              <a:rPr lang="en-AU" dirty="0"/>
              <a:t>How can you collect this information?</a:t>
            </a:r>
          </a:p>
          <a:p>
            <a:pPr>
              <a:spcBef>
                <a:spcPts val="579"/>
              </a:spcBef>
              <a:spcAft>
                <a:spcPts val="1158"/>
              </a:spcAft>
              <a:buFont typeface="Arial" pitchFamily="34" charset="0"/>
              <a:buChar char="•"/>
            </a:pPr>
            <a:r>
              <a:rPr lang="en-AU" dirty="0"/>
              <a:t>What format would you like it in?</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spcBef>
                <a:spcPts val="579"/>
              </a:spcBef>
              <a:spcAft>
                <a:spcPts val="1158"/>
              </a:spcAft>
              <a:defRPr/>
            </a:pPr>
            <a:r>
              <a:rPr lang="en-AU" b="1" dirty="0"/>
              <a:t>Class Activity – Question</a:t>
            </a:r>
            <a:endParaRPr lang="en-US" dirty="0">
              <a:latin typeface="Helvetica" pitchFamily="34" charset="0"/>
            </a:endParaRPr>
          </a:p>
          <a:p>
            <a:endParaRPr lang="en-AU" dirty="0"/>
          </a:p>
          <a:p>
            <a:pPr>
              <a:spcBef>
                <a:spcPts val="579"/>
              </a:spcBef>
              <a:spcAft>
                <a:spcPts val="1158"/>
              </a:spcAft>
              <a:buFont typeface="Arial" pitchFamily="34" charset="0"/>
              <a:buChar char="•"/>
            </a:pPr>
            <a:r>
              <a:rPr lang="en-AU" dirty="0"/>
              <a:t>Discuss the types of information to be collected under each point?</a:t>
            </a:r>
          </a:p>
          <a:p>
            <a:pPr>
              <a:spcBef>
                <a:spcPts val="579"/>
              </a:spcBef>
              <a:spcAft>
                <a:spcPts val="1158"/>
              </a:spcAft>
              <a:buFont typeface="Arial" pitchFamily="34" charset="0"/>
              <a:buChar char="•"/>
            </a:pPr>
            <a:r>
              <a:rPr lang="en-AU" dirty="0"/>
              <a:t>How can you collect this information?</a:t>
            </a:r>
          </a:p>
          <a:p>
            <a:pPr>
              <a:spcBef>
                <a:spcPts val="579"/>
              </a:spcBef>
              <a:spcAft>
                <a:spcPts val="1158"/>
              </a:spcAft>
              <a:buFont typeface="Arial" pitchFamily="34" charset="0"/>
              <a:buChar char="•"/>
            </a:pPr>
            <a:r>
              <a:rPr lang="en-AU" dirty="0"/>
              <a:t>What format would you like it in?</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spcBef>
                <a:spcPts val="579"/>
              </a:spcBef>
              <a:spcAft>
                <a:spcPts val="1158"/>
              </a:spcAft>
              <a:defRPr/>
            </a:pPr>
            <a:r>
              <a:rPr lang="en-AU" b="1" dirty="0"/>
              <a:t>Class Activity – Question &amp; Activity</a:t>
            </a:r>
            <a:endParaRPr lang="en-US" dirty="0">
              <a:latin typeface="Helvetica" pitchFamily="34" charset="0"/>
            </a:endParaRPr>
          </a:p>
          <a:p>
            <a:endParaRPr lang="en-AU" dirty="0"/>
          </a:p>
          <a:p>
            <a:pPr>
              <a:spcBef>
                <a:spcPts val="579"/>
              </a:spcBef>
              <a:spcAft>
                <a:spcPts val="1158"/>
              </a:spcAft>
              <a:buFont typeface="Arial" pitchFamily="34" charset="0"/>
              <a:buChar char="•"/>
            </a:pPr>
            <a:r>
              <a:rPr lang="en-AU" dirty="0"/>
              <a:t>Discuss the types of information to be collected under each point?</a:t>
            </a:r>
          </a:p>
          <a:p>
            <a:pPr>
              <a:spcBef>
                <a:spcPts val="579"/>
              </a:spcBef>
              <a:spcAft>
                <a:spcPts val="1158"/>
              </a:spcAft>
              <a:buFont typeface="Arial" pitchFamily="34" charset="0"/>
              <a:buChar char="•"/>
            </a:pPr>
            <a:r>
              <a:rPr lang="en-AU" dirty="0"/>
              <a:t>How can you collect this information?</a:t>
            </a:r>
          </a:p>
          <a:p>
            <a:pPr>
              <a:spcBef>
                <a:spcPts val="579"/>
              </a:spcBef>
              <a:spcAft>
                <a:spcPts val="1158"/>
              </a:spcAft>
              <a:buFont typeface="Arial" pitchFamily="34" charset="0"/>
              <a:buChar char="•"/>
            </a:pPr>
            <a:r>
              <a:rPr lang="en-AU" dirty="0"/>
              <a:t>What format would you like it in?</a:t>
            </a:r>
          </a:p>
          <a:p>
            <a:pPr>
              <a:spcBef>
                <a:spcPts val="579"/>
              </a:spcBef>
              <a:spcAft>
                <a:spcPts val="1158"/>
              </a:spcAft>
              <a:buFont typeface="Arial" pitchFamily="34" charset="0"/>
              <a:buChar char="•"/>
            </a:pPr>
            <a:r>
              <a:rPr lang="en-AU" dirty="0"/>
              <a:t>Complete Activity 6</a:t>
            </a:r>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a:t>
            </a:r>
          </a:p>
          <a:p>
            <a:endParaRPr lang="en-AU" dirty="0"/>
          </a:p>
          <a:p>
            <a:pPr>
              <a:buFont typeface="Arial" pitchFamily="34" charset="0"/>
              <a:buChar char="•"/>
            </a:pPr>
            <a:r>
              <a:rPr lang="en-US" dirty="0"/>
              <a:t>Describe the process that you have used in the past when conducting research.</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a:t>
            </a:r>
          </a:p>
          <a:p>
            <a:endParaRPr lang="en-AU" dirty="0"/>
          </a:p>
          <a:p>
            <a:pPr>
              <a:buFont typeface="Arial" pitchFamily="34" charset="0"/>
              <a:buChar char="•"/>
            </a:pPr>
            <a:r>
              <a:rPr lang="en-US" dirty="0"/>
              <a:t>What are the activities and benefits for each of these steps?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a:t>
            </a:r>
          </a:p>
          <a:p>
            <a:endParaRPr lang="en-AU" dirty="0"/>
          </a:p>
          <a:p>
            <a:pPr>
              <a:buFont typeface="Arial" pitchFamily="34" charset="0"/>
              <a:buNone/>
            </a:pPr>
            <a:r>
              <a:rPr lang="en-US" dirty="0"/>
              <a:t>What would be research topics you may have?</a:t>
            </a:r>
            <a:endParaRPr lang="en-US" dirty="0">
              <a:latin typeface="Helvetica" pitchFamily="34" charset="0"/>
            </a:endParaRPr>
          </a:p>
          <a:p>
            <a:pPr>
              <a:spcBef>
                <a:spcPts val="579"/>
              </a:spcBef>
              <a:spcAft>
                <a:spcPts val="1158"/>
              </a:spcAft>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a:t>
            </a:r>
          </a:p>
          <a:p>
            <a:endParaRPr lang="en-AU" dirty="0"/>
          </a:p>
          <a:p>
            <a:pPr>
              <a:buFont typeface="Arial" pitchFamily="34" charset="0"/>
              <a:buNone/>
            </a:pPr>
            <a:r>
              <a:rPr lang="en-US" dirty="0"/>
              <a:t>What other techniques can be used?</a:t>
            </a:r>
            <a:endParaRPr lang="en-US" dirty="0">
              <a:latin typeface="Helvetica" pitchFamily="34" charset="0"/>
            </a:endParaRPr>
          </a:p>
          <a:p>
            <a:pPr>
              <a:spcBef>
                <a:spcPts val="579"/>
              </a:spcBef>
              <a:spcAft>
                <a:spcPts val="1158"/>
              </a:spcAft>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a:t>
            </a:r>
          </a:p>
          <a:p>
            <a:endParaRPr lang="en-AU" dirty="0"/>
          </a:p>
          <a:p>
            <a:pPr>
              <a:buFont typeface="Arial" pitchFamily="34" charset="0"/>
              <a:buChar char="•"/>
            </a:pPr>
            <a:r>
              <a:rPr lang="en-US" dirty="0"/>
              <a:t>Why is this source of information often the most effective?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Discussion</a:t>
            </a:r>
          </a:p>
          <a:p>
            <a:endParaRPr lang="en-AU" dirty="0"/>
          </a:p>
          <a:p>
            <a:r>
              <a:rPr lang="en-AU" dirty="0"/>
              <a:t>Ask general questions:</a:t>
            </a:r>
          </a:p>
          <a:p>
            <a:pPr>
              <a:buFont typeface="Arial" pitchFamily="34" charset="0"/>
              <a:buChar char="•"/>
            </a:pPr>
            <a:r>
              <a:rPr lang="en-AU" dirty="0"/>
              <a:t>Discuss the questions in the slide.</a:t>
            </a:r>
          </a:p>
          <a:p>
            <a:pPr>
              <a:buFont typeface="Arial" pitchFamily="34" charset="0"/>
              <a:buNone/>
            </a:pPr>
            <a:endParaRPr lang="en-AU" dirty="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a:t>
            </a:r>
          </a:p>
          <a:p>
            <a:endParaRPr lang="en-AU" dirty="0"/>
          </a:p>
          <a:p>
            <a:pPr>
              <a:buFont typeface="Arial" pitchFamily="34" charset="0"/>
              <a:buChar char="•"/>
            </a:pPr>
            <a:r>
              <a:rPr lang="en-US" dirty="0"/>
              <a:t>What information can come from each of these sources?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Discussion &amp; Activity</a:t>
            </a:r>
          </a:p>
          <a:p>
            <a:endParaRPr lang="en-AU" dirty="0"/>
          </a:p>
          <a:p>
            <a:r>
              <a:rPr lang="en-AU" dirty="0"/>
              <a:t>Ask general questions:</a:t>
            </a:r>
          </a:p>
          <a:p>
            <a:pPr defTabSz="882213">
              <a:buFont typeface="Arial" pitchFamily="34" charset="0"/>
              <a:buChar char="•"/>
              <a:defRPr/>
            </a:pPr>
            <a:r>
              <a:rPr lang="en-AU" dirty="0"/>
              <a:t>Discuss activities associated with these points</a:t>
            </a:r>
          </a:p>
          <a:p>
            <a:pPr defTabSz="882213">
              <a:buFont typeface="Arial" pitchFamily="34" charset="0"/>
              <a:buChar char="•"/>
              <a:defRPr/>
            </a:pPr>
            <a:r>
              <a:rPr lang="en-AU" dirty="0"/>
              <a:t>Complete Activity 7</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a:t>
            </a:r>
          </a:p>
          <a:p>
            <a:endParaRPr lang="en-AU" dirty="0"/>
          </a:p>
          <a:p>
            <a:pPr>
              <a:buFont typeface="Arial" pitchFamily="34" charset="0"/>
              <a:buChar char="•"/>
            </a:pPr>
            <a:r>
              <a:rPr lang="en-AU" dirty="0"/>
              <a:t>What are the benefits of visiting identified sources?</a:t>
            </a:r>
            <a:endParaRPr lang="en-US" dirty="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a:t>
            </a:r>
          </a:p>
          <a:p>
            <a:endParaRPr lang="en-AU" dirty="0"/>
          </a:p>
          <a:p>
            <a:pPr>
              <a:buFont typeface="Arial" pitchFamily="34" charset="0"/>
              <a:buChar char="•"/>
            </a:pPr>
            <a:r>
              <a:rPr lang="en-AU" dirty="0"/>
              <a:t>Discuss these benefits of visiting identified sources</a:t>
            </a:r>
            <a:endParaRPr lang="en-US" dirty="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 &amp; Activity</a:t>
            </a:r>
          </a:p>
          <a:p>
            <a:endParaRPr lang="en-AU" dirty="0"/>
          </a:p>
          <a:p>
            <a:pPr>
              <a:buFont typeface="Arial" pitchFamily="34" charset="0"/>
              <a:buChar char="•"/>
            </a:pPr>
            <a:r>
              <a:rPr lang="en-AU" dirty="0"/>
              <a:t>Discuss these benefits of visiting identified sources</a:t>
            </a:r>
          </a:p>
          <a:p>
            <a:pPr>
              <a:buFont typeface="Arial" pitchFamily="34" charset="0"/>
              <a:buChar char="•"/>
            </a:pPr>
            <a:r>
              <a:rPr lang="en-AU" dirty="0"/>
              <a:t>Complete Activity 8</a:t>
            </a:r>
            <a:endParaRPr lang="en-US" dirty="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 &amp; Activity</a:t>
            </a:r>
          </a:p>
          <a:p>
            <a:endParaRPr lang="en-AU" dirty="0"/>
          </a:p>
          <a:p>
            <a:pPr>
              <a:buFont typeface="Arial" pitchFamily="34" charset="0"/>
              <a:buChar char="•"/>
            </a:pPr>
            <a:r>
              <a:rPr lang="en-AU" dirty="0"/>
              <a:t>Discuss these benefits of setting up networks?</a:t>
            </a:r>
          </a:p>
          <a:p>
            <a:pPr>
              <a:buFont typeface="Arial" pitchFamily="34" charset="0"/>
              <a:buChar char="•"/>
            </a:pPr>
            <a:r>
              <a:rPr lang="en-AU" dirty="0"/>
              <a:t>Who would you have in your network?</a:t>
            </a:r>
            <a:endParaRPr lang="en-US" dirty="0"/>
          </a:p>
          <a:p>
            <a:pPr>
              <a:buFont typeface="Arial" pitchFamily="34" charset="0"/>
              <a:buChar char="•"/>
            </a:pPr>
            <a:r>
              <a:rPr lang="en-AU" dirty="0"/>
              <a:t>Complete Activity 9</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Introduce topic.</a:t>
            </a:r>
          </a:p>
          <a:p>
            <a:pPr defTabSz="882213">
              <a:defRPr/>
            </a:pPr>
            <a:endParaRPr lang="en-AU" b="1" dirty="0"/>
          </a:p>
          <a:p>
            <a:pPr defTabSz="882213">
              <a:defRPr/>
            </a:pPr>
            <a:r>
              <a:rPr lang="en-AU" b="1" dirty="0"/>
              <a:t>Class Activity – General Discussion</a:t>
            </a:r>
          </a:p>
          <a:p>
            <a:endParaRPr lang="en-AU" dirty="0"/>
          </a:p>
          <a:p>
            <a:r>
              <a:rPr lang="en-AU" dirty="0"/>
              <a:t>Ask general questions:</a:t>
            </a:r>
          </a:p>
          <a:p>
            <a:pPr>
              <a:buFont typeface="Arial" pitchFamily="34" charset="0"/>
              <a:buChar char="•"/>
            </a:pPr>
            <a:r>
              <a:rPr lang="en-AU" dirty="0"/>
              <a:t>Why is it important to update knowledge?</a:t>
            </a:r>
          </a:p>
          <a:p>
            <a:pPr>
              <a:buFont typeface="Arial" pitchFamily="34" charset="0"/>
              <a:buChar char="•"/>
            </a:pPr>
            <a:r>
              <a:rPr lang="en-AU" dirty="0"/>
              <a:t>How do you know if your knowledge is up to date?</a:t>
            </a:r>
          </a:p>
          <a:p>
            <a:pPr>
              <a:buFont typeface="Arial" pitchFamily="34" charset="0"/>
              <a:buChar char="•"/>
            </a:pPr>
            <a:r>
              <a:rPr lang="en-AU" dirty="0"/>
              <a:t>How can you update your destination knowledge?</a:t>
            </a:r>
          </a:p>
          <a:p>
            <a:endParaRPr lang="en-AU" dirty="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dirty="0"/>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Discussion</a:t>
            </a:r>
          </a:p>
          <a:p>
            <a:endParaRPr lang="en-AU" dirty="0"/>
          </a:p>
          <a:p>
            <a:r>
              <a:rPr lang="en-AU" dirty="0"/>
              <a:t>Ask general questions:</a:t>
            </a:r>
          </a:p>
          <a:p>
            <a:pPr>
              <a:buFont typeface="Arial" pitchFamily="34" charset="0"/>
              <a:buChar char="•"/>
            </a:pPr>
            <a:r>
              <a:rPr lang="en-AU" dirty="0"/>
              <a:t>What are examples of publications you need to register for?</a:t>
            </a:r>
          </a:p>
          <a:p>
            <a:pPr>
              <a:buFont typeface="Arial" pitchFamily="34" charset="0"/>
              <a:buChar char="•"/>
            </a:pPr>
            <a:r>
              <a:rPr lang="en-AU" dirty="0"/>
              <a:t>How can you register to access information?</a:t>
            </a:r>
          </a:p>
          <a:p>
            <a:pPr>
              <a:buFont typeface="Arial" pitchFamily="34" charset="0"/>
              <a:buNone/>
            </a:pPr>
            <a:endParaRPr lang="en-AU" dirty="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Discussion</a:t>
            </a:r>
          </a:p>
          <a:p>
            <a:endParaRPr lang="en-AU" dirty="0"/>
          </a:p>
          <a:p>
            <a:pPr>
              <a:buFont typeface="Arial" pitchFamily="34" charset="0"/>
              <a:buChar char="•"/>
            </a:pPr>
            <a:r>
              <a:rPr lang="en-AU" dirty="0"/>
              <a:t>Discuss these points</a:t>
            </a:r>
          </a:p>
          <a:p>
            <a:pPr>
              <a:buFont typeface="Arial" pitchFamily="34" charset="0"/>
              <a:buChar char="•"/>
            </a:pPr>
            <a:r>
              <a:rPr lang="en-AU" dirty="0"/>
              <a:t>Provide an example of each.</a:t>
            </a:r>
          </a:p>
          <a:p>
            <a:pPr>
              <a:buFont typeface="Arial" pitchFamily="34" charset="0"/>
              <a:buNone/>
            </a:pPr>
            <a:endParaRPr lang="en-AU" dirty="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Discussion &amp; Activity</a:t>
            </a:r>
          </a:p>
          <a:p>
            <a:endParaRPr lang="en-AU" dirty="0"/>
          </a:p>
          <a:p>
            <a:pPr>
              <a:buFont typeface="Arial" pitchFamily="34" charset="0"/>
              <a:buChar char="•"/>
            </a:pPr>
            <a:r>
              <a:rPr lang="en-AU" dirty="0"/>
              <a:t>Discuss these points</a:t>
            </a:r>
          </a:p>
          <a:p>
            <a:pPr>
              <a:buFont typeface="Arial" pitchFamily="34" charset="0"/>
              <a:buChar char="•"/>
            </a:pPr>
            <a:r>
              <a:rPr lang="en-AU" dirty="0"/>
              <a:t>Provide an example of each.</a:t>
            </a:r>
          </a:p>
          <a:p>
            <a:pPr>
              <a:buFont typeface="Arial" pitchFamily="34" charset="0"/>
              <a:buChar char="•"/>
            </a:pPr>
            <a:r>
              <a:rPr lang="en-AU" dirty="0"/>
              <a:t>Complete Activity 10</a:t>
            </a:r>
          </a:p>
          <a:p>
            <a:pPr>
              <a:buFont typeface="Arial" pitchFamily="34" charset="0"/>
              <a:buNone/>
            </a:pPr>
            <a:endParaRPr lang="en-AU" dirty="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a:t>
            </a:r>
          </a:p>
          <a:p>
            <a:endParaRPr lang="en-AU" dirty="0"/>
          </a:p>
          <a:p>
            <a:pPr defTabSz="882213">
              <a:defRPr/>
            </a:pPr>
            <a:r>
              <a:rPr lang="en-US" dirty="0"/>
              <a:t>Discuss and explain the differences of these points</a:t>
            </a:r>
            <a:endParaRPr lang="en-AU" dirty="0"/>
          </a:p>
          <a:p>
            <a:pPr>
              <a:buFont typeface="Arial" pitchFamily="34" charset="0"/>
              <a:buChar char="•"/>
            </a:pPr>
            <a:r>
              <a:rPr lang="en-US" dirty="0"/>
              <a:t>How can you integrate information to meet the needs of the organisation?</a:t>
            </a:r>
          </a:p>
          <a:p>
            <a:pPr defTabSz="882213">
              <a:buFont typeface="Arial" pitchFamily="34" charset="0"/>
              <a:buChar char="•"/>
              <a:defRPr/>
            </a:pPr>
            <a:r>
              <a:rPr lang="en-US" dirty="0"/>
              <a:t>How can you integrate information to meet the needs of the client?</a:t>
            </a:r>
          </a:p>
          <a:p>
            <a:pPr>
              <a:buFont typeface="Arial" pitchFamily="34" charset="0"/>
              <a:buNone/>
            </a:pPr>
            <a:endParaRPr lang="en-US" dirty="0"/>
          </a:p>
          <a:p>
            <a:pPr>
              <a:buFont typeface="Arial" pitchFamily="34" charset="0"/>
              <a:buChar char="•"/>
            </a:pPr>
            <a:endParaRPr lang="en-US"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a:t>
            </a:r>
          </a:p>
          <a:p>
            <a:endParaRPr lang="en-AU" dirty="0"/>
          </a:p>
          <a:p>
            <a:pPr>
              <a:spcBef>
                <a:spcPts val="579"/>
              </a:spcBef>
              <a:spcAft>
                <a:spcPts val="1158"/>
              </a:spcAft>
              <a:buFont typeface="Arial" pitchFamily="34" charset="0"/>
              <a:buChar char="•"/>
            </a:pPr>
            <a:r>
              <a:rPr lang="en-US" dirty="0"/>
              <a:t>Provide examples of each systems</a:t>
            </a:r>
            <a:endParaRPr lang="en-AU"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Discussion &amp; Activities</a:t>
            </a:r>
          </a:p>
          <a:p>
            <a:endParaRPr lang="en-AU" dirty="0"/>
          </a:p>
          <a:p>
            <a:pPr>
              <a:spcBef>
                <a:spcPts val="579"/>
              </a:spcBef>
              <a:spcAft>
                <a:spcPts val="1158"/>
              </a:spcAft>
              <a:buFont typeface="Arial" pitchFamily="34" charset="0"/>
              <a:buChar char="•"/>
            </a:pPr>
            <a:r>
              <a:rPr lang="en-US" dirty="0"/>
              <a:t>Discuss how these systems can be managed and maintained</a:t>
            </a:r>
          </a:p>
          <a:p>
            <a:pPr>
              <a:spcBef>
                <a:spcPts val="579"/>
              </a:spcBef>
              <a:spcAft>
                <a:spcPts val="1158"/>
              </a:spcAft>
              <a:buFont typeface="Arial" pitchFamily="34" charset="0"/>
              <a:buChar char="•"/>
            </a:pPr>
            <a:r>
              <a:rPr lang="en-US" dirty="0"/>
              <a:t>Complete Activities 11&amp;12</a:t>
            </a:r>
            <a:endParaRPr lang="en-AU"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Discussion</a:t>
            </a:r>
          </a:p>
          <a:p>
            <a:endParaRPr lang="en-AU" dirty="0"/>
          </a:p>
          <a:p>
            <a:pPr>
              <a:spcBef>
                <a:spcPts val="579"/>
              </a:spcBef>
              <a:spcAft>
                <a:spcPts val="1158"/>
              </a:spcAft>
              <a:buFont typeface="Arial" pitchFamily="34" charset="0"/>
              <a:buChar char="•"/>
            </a:pPr>
            <a:r>
              <a:rPr lang="en-US" dirty="0"/>
              <a:t>Discuss question in the slide.</a:t>
            </a:r>
            <a:endParaRPr lang="en-AU"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a:t>
            </a:r>
            <a:r>
              <a:rPr lang="en-US" b="1" dirty="0"/>
              <a:t>Activity</a:t>
            </a:r>
          </a:p>
          <a:p>
            <a:endParaRPr lang="en-AU" dirty="0"/>
          </a:p>
          <a:p>
            <a:pPr>
              <a:spcBef>
                <a:spcPts val="579"/>
              </a:spcBef>
              <a:spcAft>
                <a:spcPts val="1158"/>
              </a:spcAft>
              <a:buFont typeface="Arial" pitchFamily="34" charset="0"/>
              <a:buChar char="•"/>
            </a:pPr>
            <a:r>
              <a:rPr lang="en-US" dirty="0"/>
              <a:t>Complete Activity 13</a:t>
            </a:r>
            <a:endParaRPr lang="en-AU"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a:t>
            </a:r>
          </a:p>
          <a:p>
            <a:endParaRPr lang="en-AU" dirty="0"/>
          </a:p>
          <a:p>
            <a:pPr>
              <a:buFont typeface="Arial" pitchFamily="34" charset="0"/>
              <a:buChar char="•"/>
            </a:pPr>
            <a:r>
              <a:rPr lang="en-US" dirty="0"/>
              <a:t>Discuss importance of these points</a:t>
            </a:r>
          </a:p>
          <a:p>
            <a:pPr>
              <a:buFont typeface="Arial" pitchFamily="34" charset="0"/>
              <a:buChar char="•"/>
            </a:pPr>
            <a:endParaRPr lang="en-US"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a:t>
            </a:r>
          </a:p>
          <a:p>
            <a:endParaRPr lang="en-AU" dirty="0"/>
          </a:p>
          <a:p>
            <a:pPr>
              <a:buFont typeface="Arial" pitchFamily="34" charset="0"/>
              <a:buChar char="•"/>
            </a:pPr>
            <a:r>
              <a:rPr lang="en-US" dirty="0"/>
              <a:t>Discuss importance of these points</a:t>
            </a:r>
          </a:p>
          <a:p>
            <a:pPr>
              <a:buFont typeface="Arial" pitchFamily="34" charset="0"/>
              <a:buChar char="•"/>
            </a:pPr>
            <a:endParaRPr lang="en-US"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a:t>
            </a:r>
          </a:p>
          <a:p>
            <a:endParaRPr lang="en-AU" dirty="0"/>
          </a:p>
          <a:p>
            <a:pPr>
              <a:buFont typeface="Arial" pitchFamily="34" charset="0"/>
              <a:buChar char="•"/>
            </a:pPr>
            <a:r>
              <a:rPr lang="en-US" dirty="0"/>
              <a:t>Discuss importance of these points</a:t>
            </a:r>
          </a:p>
          <a:p>
            <a:pPr>
              <a:buFont typeface="Arial" pitchFamily="34" charset="0"/>
              <a:buChar char="•"/>
            </a:pPr>
            <a:endParaRPr lang="en-US"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Discussion</a:t>
            </a:r>
          </a:p>
          <a:p>
            <a:endParaRPr lang="en-AU" dirty="0"/>
          </a:p>
          <a:p>
            <a:r>
              <a:rPr lang="en-AU" dirty="0"/>
              <a:t>Ask general questions:</a:t>
            </a:r>
          </a:p>
          <a:p>
            <a:pPr>
              <a:buFont typeface="Arial" pitchFamily="34" charset="0"/>
              <a:buChar char="•"/>
            </a:pPr>
            <a:r>
              <a:rPr lang="en-AU" dirty="0"/>
              <a:t>Discuss the question in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Discussion</a:t>
            </a:r>
          </a:p>
          <a:p>
            <a:endParaRPr lang="en-AU" dirty="0"/>
          </a:p>
          <a:p>
            <a:r>
              <a:rPr lang="en-AU" dirty="0"/>
              <a:t>Ask general questions:</a:t>
            </a:r>
          </a:p>
          <a:p>
            <a:pPr>
              <a:buFont typeface="Arial" pitchFamily="34" charset="0"/>
              <a:buChar char="•"/>
            </a:pPr>
            <a:r>
              <a:rPr lang="en-AU" dirty="0"/>
              <a:t>What are the benefits of these methods?</a:t>
            </a:r>
          </a:p>
          <a:p>
            <a:pPr>
              <a:buFont typeface="Arial" pitchFamily="34" charset="0"/>
              <a:buChar char="•"/>
            </a:pPr>
            <a:r>
              <a:rPr lang="en-AU" dirty="0"/>
              <a:t>What other methods can be used?</a:t>
            </a:r>
          </a:p>
          <a:p>
            <a:pPr>
              <a:buFont typeface="Arial" pitchFamily="34" charset="0"/>
              <a:buNone/>
            </a:pPr>
            <a:endParaRPr lang="en-AU" dirty="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Introduce topic.</a:t>
            </a:r>
          </a:p>
          <a:p>
            <a:pPr defTabSz="882213">
              <a:defRPr/>
            </a:pPr>
            <a:endParaRPr lang="en-AU" b="1" dirty="0"/>
          </a:p>
          <a:p>
            <a:pPr defTabSz="882213">
              <a:defRPr/>
            </a:pPr>
            <a:r>
              <a:rPr lang="en-AU" b="1" dirty="0"/>
              <a:t>Class Activity – General Discussion</a:t>
            </a:r>
          </a:p>
          <a:p>
            <a:endParaRPr lang="en-AU" dirty="0"/>
          </a:p>
          <a:p>
            <a:r>
              <a:rPr lang="en-AU" dirty="0"/>
              <a:t>Ask general questions:</a:t>
            </a:r>
          </a:p>
          <a:p>
            <a:pPr>
              <a:buFont typeface="Arial" pitchFamily="34" charset="0"/>
              <a:buChar char="•"/>
            </a:pPr>
            <a:r>
              <a:rPr lang="en-US" dirty="0"/>
              <a:t>How can you share destination information?</a:t>
            </a:r>
            <a:endParaRPr lang="en-AU" dirty="0"/>
          </a:p>
          <a:p>
            <a:endParaRPr lang="en-AU" dirty="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dirty="0"/>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a:t>
            </a:r>
          </a:p>
          <a:p>
            <a:endParaRPr lang="en-AU" dirty="0"/>
          </a:p>
          <a:p>
            <a:pPr>
              <a:buFont typeface="Arial" pitchFamily="34" charset="0"/>
              <a:buChar char="•"/>
            </a:pPr>
            <a:r>
              <a:rPr lang="en-AU" dirty="0"/>
              <a:t>How does the communication of information differ between these stakeholders?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a:t>
            </a:r>
          </a:p>
          <a:p>
            <a:endParaRPr lang="en-AU" dirty="0"/>
          </a:p>
          <a:p>
            <a:pPr>
              <a:buFont typeface="Arial" pitchFamily="34" charset="0"/>
              <a:buChar char="•"/>
            </a:pPr>
            <a:r>
              <a:rPr lang="en-AU" dirty="0"/>
              <a:t>What are the benefits of each method?</a:t>
            </a:r>
          </a:p>
          <a:p>
            <a:pPr>
              <a:buFont typeface="Arial" pitchFamily="34" charset="0"/>
              <a:buChar char="•"/>
            </a:pPr>
            <a:r>
              <a:rPr lang="en-AU" dirty="0"/>
              <a:t>When would you use each of these methods?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 these considerations</a:t>
            </a:r>
          </a:p>
          <a:p>
            <a:endParaRPr lang="en-AU" dirty="0"/>
          </a:p>
          <a:p>
            <a:pPr>
              <a:buFont typeface="Arial" pitchFamily="34" charset="0"/>
              <a:buChar char="•"/>
            </a:pPr>
            <a:r>
              <a:rPr lang="en-AU" dirty="0"/>
              <a:t>How do they impact submission methods?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 submission methods</a:t>
            </a:r>
          </a:p>
          <a:p>
            <a:endParaRPr lang="en-AU" dirty="0"/>
          </a:p>
          <a:p>
            <a:pPr>
              <a:buFont typeface="Arial" pitchFamily="34" charset="0"/>
              <a:buChar char="•"/>
            </a:pPr>
            <a:r>
              <a:rPr lang="en-AU" dirty="0"/>
              <a:t>What are the advantages and disadvantages of using each method?</a:t>
            </a:r>
            <a:endParaRPr lang="en-AU"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a:t>
            </a:r>
          </a:p>
          <a:p>
            <a:endParaRPr lang="en-AU" dirty="0"/>
          </a:p>
          <a:p>
            <a:pPr>
              <a:buFont typeface="Arial" pitchFamily="34" charset="0"/>
              <a:buChar char="•"/>
            </a:pPr>
            <a:r>
              <a:rPr lang="en-US" dirty="0"/>
              <a:t>Discuss these benefits</a:t>
            </a:r>
          </a:p>
          <a:p>
            <a:pPr>
              <a:buFont typeface="Arial" pitchFamily="34" charset="0"/>
              <a:buChar char="•"/>
            </a:pPr>
            <a:endParaRPr lang="en-US"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a:t>
            </a:r>
          </a:p>
          <a:p>
            <a:endParaRPr lang="en-AU" dirty="0"/>
          </a:p>
          <a:p>
            <a:pPr>
              <a:buFont typeface="Arial" pitchFamily="34" charset="0"/>
              <a:buChar char="•"/>
            </a:pPr>
            <a:r>
              <a:rPr lang="en-US" dirty="0"/>
              <a:t>Discuss these benefits</a:t>
            </a:r>
          </a:p>
          <a:p>
            <a:pPr>
              <a:buFont typeface="Arial" pitchFamily="34" charset="0"/>
              <a:buChar char="•"/>
            </a:pPr>
            <a:endParaRPr lang="en-US"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Show examples of </a:t>
            </a:r>
            <a:r>
              <a:rPr lang="en-AU" b="1" dirty="0">
                <a:latin typeface="Helvetica" pitchFamily="34" charset="0"/>
              </a:rPr>
              <a:t>hard copy materials</a:t>
            </a:r>
            <a:endParaRPr lang="en-US" b="1" dirty="0"/>
          </a:p>
          <a:p>
            <a:endParaRPr lang="en-AU" dirty="0"/>
          </a:p>
          <a:p>
            <a:pPr>
              <a:buFont typeface="Arial" pitchFamily="34" charset="0"/>
              <a:buChar char="•"/>
            </a:pPr>
            <a:r>
              <a:rPr lang="en-US" dirty="0"/>
              <a:t>Show examples</a:t>
            </a:r>
          </a:p>
          <a:p>
            <a:pPr>
              <a:buFont typeface="Arial" pitchFamily="34" charset="0"/>
              <a:buChar char="•"/>
            </a:pPr>
            <a:endParaRPr lang="en-US"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Show examples of </a:t>
            </a:r>
            <a:r>
              <a:rPr lang="en-AU" b="1" dirty="0">
                <a:latin typeface="Helvetica" pitchFamily="34" charset="0"/>
              </a:rPr>
              <a:t>hard copy materials</a:t>
            </a:r>
            <a:endParaRPr lang="en-US" b="1" dirty="0"/>
          </a:p>
          <a:p>
            <a:endParaRPr lang="en-AU" dirty="0"/>
          </a:p>
          <a:p>
            <a:pPr>
              <a:buFont typeface="Arial" pitchFamily="34" charset="0"/>
              <a:buChar char="•"/>
            </a:pPr>
            <a:r>
              <a:rPr lang="en-US" dirty="0"/>
              <a:t>Show examples</a:t>
            </a:r>
          </a:p>
          <a:p>
            <a:pPr>
              <a:buFont typeface="Arial" pitchFamily="34" charset="0"/>
              <a:buChar char="•"/>
            </a:pPr>
            <a:endParaRPr lang="en-US"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Show examples of </a:t>
            </a:r>
            <a:r>
              <a:rPr lang="en-AU" b="1" dirty="0">
                <a:latin typeface="Helvetica" pitchFamily="34" charset="0"/>
              </a:rPr>
              <a:t>hard copy materials</a:t>
            </a:r>
            <a:endParaRPr lang="en-US" b="1" dirty="0"/>
          </a:p>
          <a:p>
            <a:endParaRPr lang="en-AU" dirty="0"/>
          </a:p>
          <a:p>
            <a:pPr>
              <a:buFont typeface="Arial" pitchFamily="34" charset="0"/>
              <a:buChar char="•"/>
            </a:pPr>
            <a:r>
              <a:rPr lang="en-US" dirty="0"/>
              <a:t>Show examples</a:t>
            </a:r>
          </a:p>
          <a:p>
            <a:pPr>
              <a:buFont typeface="Arial" pitchFamily="34" charset="0"/>
              <a:buChar char="•"/>
            </a:pPr>
            <a:endParaRPr lang="en-US"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Show examples of </a:t>
            </a:r>
            <a:r>
              <a:rPr lang="en-AU" b="1" dirty="0">
                <a:latin typeface="Helvetica" pitchFamily="34" charset="0"/>
              </a:rPr>
              <a:t>hard copy materials &amp; Activity</a:t>
            </a:r>
            <a:endParaRPr lang="en-US" b="1" dirty="0"/>
          </a:p>
          <a:p>
            <a:endParaRPr lang="en-AU" dirty="0"/>
          </a:p>
          <a:p>
            <a:pPr>
              <a:buFont typeface="Arial" pitchFamily="34" charset="0"/>
              <a:buChar char="•"/>
            </a:pPr>
            <a:r>
              <a:rPr lang="en-US" dirty="0"/>
              <a:t>Show examples</a:t>
            </a:r>
          </a:p>
          <a:p>
            <a:pPr>
              <a:buFont typeface="Arial" pitchFamily="34" charset="0"/>
              <a:buChar char="•"/>
            </a:pPr>
            <a:r>
              <a:rPr lang="en-US" dirty="0"/>
              <a:t>Complete Activity 14</a:t>
            </a:r>
          </a:p>
          <a:p>
            <a:pPr>
              <a:buFont typeface="Arial" pitchFamily="34" charset="0"/>
              <a:buChar char="•"/>
            </a:pPr>
            <a:endParaRPr lang="en-US"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 importance of </a:t>
            </a:r>
            <a:r>
              <a:rPr lang="en-AU" b="1" dirty="0">
                <a:latin typeface="Helvetica" pitchFamily="34" charset="0"/>
              </a:rPr>
              <a:t>customer service basics </a:t>
            </a:r>
            <a:endParaRPr lang="en-AU" b="1" dirty="0"/>
          </a:p>
          <a:p>
            <a:endParaRPr lang="en-AU" dirty="0"/>
          </a:p>
          <a:p>
            <a:pPr>
              <a:buFont typeface="Arial" pitchFamily="34" charset="0"/>
              <a:buChar char="•"/>
            </a:pPr>
            <a:r>
              <a:rPr lang="en-AU" dirty="0"/>
              <a:t>Trainer to discuss importance of these </a:t>
            </a:r>
            <a:r>
              <a:rPr lang="en-AU" dirty="0">
                <a:latin typeface="Helvetica" pitchFamily="34" charset="0"/>
              </a:rPr>
              <a:t>customer service basics points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 importance of </a:t>
            </a:r>
            <a:r>
              <a:rPr lang="en-AU" b="1" dirty="0">
                <a:latin typeface="Helvetica" pitchFamily="34" charset="0"/>
              </a:rPr>
              <a:t>customer service basics </a:t>
            </a:r>
            <a:endParaRPr lang="en-AU" b="1" dirty="0"/>
          </a:p>
          <a:p>
            <a:endParaRPr lang="en-AU" dirty="0"/>
          </a:p>
          <a:p>
            <a:pPr>
              <a:buFont typeface="Arial" pitchFamily="34" charset="0"/>
              <a:buChar char="•"/>
            </a:pPr>
            <a:r>
              <a:rPr lang="en-AU" dirty="0"/>
              <a:t>Trainer to discuss importance of these </a:t>
            </a:r>
            <a:r>
              <a:rPr lang="en-AU" dirty="0">
                <a:latin typeface="Helvetica" pitchFamily="34" charset="0"/>
              </a:rPr>
              <a:t>customer service basics points</a:t>
            </a: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 &amp; Review a quotation</a:t>
            </a:r>
          </a:p>
          <a:p>
            <a:endParaRPr lang="en-AU" dirty="0"/>
          </a:p>
          <a:p>
            <a:pPr>
              <a:buFont typeface="Arial" pitchFamily="34" charset="0"/>
              <a:buChar char="•"/>
            </a:pPr>
            <a:r>
              <a:rPr lang="en-US" dirty="0"/>
              <a:t>Discuss importance of these points</a:t>
            </a:r>
          </a:p>
          <a:p>
            <a:pPr>
              <a:buFont typeface="Arial" pitchFamily="34" charset="0"/>
              <a:buNone/>
            </a:pPr>
            <a:endParaRPr lang="en-US" dirty="0"/>
          </a:p>
          <a:p>
            <a:pPr>
              <a:buFont typeface="Arial" pitchFamily="34" charset="0"/>
              <a:buChar char="•"/>
            </a:pPr>
            <a:endParaRPr lang="en-US"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 destination information to communicate</a:t>
            </a:r>
          </a:p>
          <a:p>
            <a:endParaRPr lang="en-AU" dirty="0"/>
          </a:p>
          <a:p>
            <a:pPr>
              <a:buFont typeface="Arial" pitchFamily="34" charset="0"/>
              <a:buChar char="•"/>
            </a:pPr>
            <a:r>
              <a:rPr lang="en-US" dirty="0"/>
              <a:t>Discuss importance of these points</a:t>
            </a:r>
          </a:p>
          <a:p>
            <a:pPr>
              <a:buFont typeface="Arial" pitchFamily="34" charset="0"/>
              <a:buChar char="•"/>
            </a:pPr>
            <a:r>
              <a:rPr lang="en-US" dirty="0"/>
              <a:t>Provide examples of information shared under each point</a:t>
            </a:r>
          </a:p>
          <a:p>
            <a:pPr>
              <a:buFont typeface="Arial" pitchFamily="34" charset="0"/>
              <a:buChar char="•"/>
            </a:pPr>
            <a:r>
              <a:rPr lang="en-US" dirty="0"/>
              <a:t>Refer to points on TM Pages 77&amp;78</a:t>
            </a:r>
          </a:p>
          <a:p>
            <a:pPr>
              <a:buFont typeface="Arial" pitchFamily="34" charset="0"/>
              <a:buNone/>
            </a:pPr>
            <a:endParaRPr lang="en-US" dirty="0"/>
          </a:p>
          <a:p>
            <a:pPr>
              <a:buFont typeface="Arial" pitchFamily="34" charset="0"/>
              <a:buChar char="•"/>
            </a:pPr>
            <a:endParaRPr lang="en-US"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 destination information to communicate</a:t>
            </a:r>
          </a:p>
          <a:p>
            <a:endParaRPr lang="en-AU" dirty="0"/>
          </a:p>
          <a:p>
            <a:pPr>
              <a:buFont typeface="Arial" pitchFamily="34" charset="0"/>
              <a:buChar char="•"/>
            </a:pPr>
            <a:r>
              <a:rPr lang="en-US" dirty="0"/>
              <a:t>Discuss importance of these points</a:t>
            </a:r>
          </a:p>
          <a:p>
            <a:pPr>
              <a:buFont typeface="Arial" pitchFamily="34" charset="0"/>
              <a:buChar char="•"/>
            </a:pPr>
            <a:r>
              <a:rPr lang="en-US" dirty="0"/>
              <a:t>Provide examples of information shared under each point</a:t>
            </a:r>
          </a:p>
          <a:p>
            <a:pPr>
              <a:buFont typeface="Arial" pitchFamily="34" charset="0"/>
              <a:buNone/>
            </a:pPr>
            <a:endParaRPr lang="en-US" dirty="0"/>
          </a:p>
          <a:p>
            <a:pPr>
              <a:buFont typeface="Arial" pitchFamily="34" charset="0"/>
              <a:buNone/>
            </a:pPr>
            <a:endParaRPr lang="en-US" dirty="0"/>
          </a:p>
          <a:p>
            <a:pPr>
              <a:buFont typeface="Arial" pitchFamily="34" charset="0"/>
              <a:buChar char="•"/>
            </a:pPr>
            <a:endParaRPr lang="en-US"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 destination information to communicate</a:t>
            </a:r>
          </a:p>
          <a:p>
            <a:endParaRPr lang="en-AU" dirty="0"/>
          </a:p>
          <a:p>
            <a:pPr>
              <a:buFont typeface="Arial" pitchFamily="34" charset="0"/>
              <a:buChar char="•"/>
            </a:pPr>
            <a:r>
              <a:rPr lang="en-US" dirty="0"/>
              <a:t>Discuss importance of these points</a:t>
            </a:r>
          </a:p>
          <a:p>
            <a:pPr>
              <a:buFont typeface="Arial" pitchFamily="34" charset="0"/>
              <a:buChar char="•"/>
            </a:pPr>
            <a:r>
              <a:rPr lang="en-US" dirty="0"/>
              <a:t>Provide examples of information shared under each point</a:t>
            </a:r>
          </a:p>
          <a:p>
            <a:pPr defTabSz="882213">
              <a:buFont typeface="Arial" pitchFamily="34" charset="0"/>
              <a:buChar char="•"/>
              <a:defRPr/>
            </a:pPr>
            <a:r>
              <a:rPr lang="en-AU" sz="1200" kern="1200" dirty="0" smtClean="0">
                <a:solidFill>
                  <a:schemeClr val="tx1"/>
                </a:solidFill>
                <a:effectLst/>
                <a:latin typeface="+mn-lt"/>
                <a:ea typeface="+mn-ea"/>
                <a:cs typeface="+mn-cs"/>
              </a:rPr>
              <a:t>Refer to points on Criteria 3.3 (Advise clients in relation to information about specific destinations) of Trainee Manual.</a:t>
            </a:r>
            <a:endParaRPr lang="en-US" dirty="0"/>
          </a:p>
          <a:p>
            <a:pPr>
              <a:buFont typeface="Arial" pitchFamily="34" charset="0"/>
              <a:buNone/>
            </a:pPr>
            <a:endParaRPr lang="en-US" dirty="0"/>
          </a:p>
          <a:p>
            <a:pPr>
              <a:buFont typeface="Arial" pitchFamily="34" charset="0"/>
              <a:buChar char="•"/>
            </a:pPr>
            <a:endParaRPr lang="en-US"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a:t>
            </a:r>
            <a:r>
              <a:rPr lang="en-US" b="1" dirty="0"/>
              <a:t>Discuss destination information to communicate &amp; Activities</a:t>
            </a:r>
          </a:p>
          <a:p>
            <a:endParaRPr lang="en-AU" dirty="0"/>
          </a:p>
          <a:p>
            <a:pPr>
              <a:buFont typeface="Arial" pitchFamily="34" charset="0"/>
              <a:buChar char="•"/>
            </a:pPr>
            <a:r>
              <a:rPr lang="en-US" dirty="0"/>
              <a:t>Discuss importance of these points</a:t>
            </a:r>
          </a:p>
          <a:p>
            <a:pPr>
              <a:buFont typeface="Arial" pitchFamily="34" charset="0"/>
              <a:buChar char="•"/>
            </a:pPr>
            <a:r>
              <a:rPr lang="en-US" dirty="0"/>
              <a:t>Provide examples of information shared under each point</a:t>
            </a:r>
          </a:p>
          <a:p>
            <a:pPr lvl="0"/>
            <a:r>
              <a:rPr lang="en-AU" sz="1200" kern="1200" smtClean="0">
                <a:solidFill>
                  <a:schemeClr val="tx1"/>
                </a:solidFill>
                <a:effectLst/>
                <a:latin typeface="+mn-lt"/>
                <a:ea typeface="+mn-ea"/>
                <a:cs typeface="+mn-cs"/>
              </a:rPr>
              <a:t>Refer to points on Criteria 3.3 (Advise clients in relation to information about specific destinations) of Trainee Manual</a:t>
            </a:r>
          </a:p>
          <a:p>
            <a:pPr defTabSz="882213">
              <a:buFont typeface="Arial" pitchFamily="34" charset="0"/>
              <a:buChar char="•"/>
              <a:defRPr/>
            </a:pPr>
            <a:r>
              <a:rPr lang="en-US" smtClean="0"/>
              <a:t>Complete </a:t>
            </a:r>
            <a:r>
              <a:rPr lang="en-US" dirty="0"/>
              <a:t>Activities 15&amp;16</a:t>
            </a:r>
          </a:p>
          <a:p>
            <a:pPr>
              <a:buFont typeface="Arial" pitchFamily="34" charset="0"/>
              <a:buChar char="•"/>
            </a:pPr>
            <a:endParaRPr lang="en-US" dirty="0"/>
          </a:p>
          <a:p>
            <a:pPr>
              <a:buFont typeface="Arial" pitchFamily="34" charset="0"/>
              <a:buNone/>
            </a:pPr>
            <a:endParaRPr lang="en-US" dirty="0"/>
          </a:p>
          <a:p>
            <a:pPr>
              <a:buFont typeface="Arial" pitchFamily="34" charset="0"/>
              <a:buChar char="•"/>
            </a:pPr>
            <a:endParaRPr lang="en-US" dirty="0">
              <a:latin typeface="Helvetica" pitchFamily="34" charset="0"/>
            </a:endParaRPr>
          </a:p>
          <a:p>
            <a:pPr>
              <a:buFont typeface="Arial" pitchFamily="34" charset="0"/>
              <a:buNone/>
            </a:pPr>
            <a:endParaRPr lang="en-AU" noProof="0" dirty="0" smtClean="0"/>
          </a:p>
          <a:p>
            <a:pPr>
              <a:buFont typeface="Arial" pitchFamily="34" charset="0"/>
              <a:buNone/>
            </a:pPr>
            <a:endParaRPr lang="en-US" dirty="0"/>
          </a:p>
          <a:p>
            <a:pPr>
              <a:buFont typeface="Arial" pitchFamily="34" charset="0"/>
              <a:buChar char="•"/>
            </a:pPr>
            <a:endParaRPr lang="en-US"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0"/>
            <a:r>
              <a:rPr lang="en-AU" b="1" dirty="0"/>
              <a:t>Class Activity – Identify types of hard copy documents &amp; Activity</a:t>
            </a:r>
            <a:endParaRPr lang="en-US" b="1" dirty="0"/>
          </a:p>
          <a:p>
            <a:endParaRPr lang="en-AU" dirty="0"/>
          </a:p>
          <a:p>
            <a:pPr>
              <a:spcBef>
                <a:spcPts val="579"/>
              </a:spcBef>
              <a:spcAft>
                <a:spcPts val="1158"/>
              </a:spcAft>
              <a:buFont typeface="Arial" pitchFamily="34" charset="0"/>
              <a:buChar char="•"/>
            </a:pPr>
            <a:r>
              <a:rPr lang="en-AU" dirty="0"/>
              <a:t>What are examples of each?</a:t>
            </a:r>
          </a:p>
          <a:p>
            <a:pPr>
              <a:spcBef>
                <a:spcPts val="579"/>
              </a:spcBef>
              <a:spcAft>
                <a:spcPts val="1158"/>
              </a:spcAft>
              <a:buFont typeface="Arial" pitchFamily="34" charset="0"/>
              <a:buChar char="•"/>
            </a:pPr>
            <a:r>
              <a:rPr lang="en-AU" dirty="0"/>
              <a:t>Complete Activity 17</a:t>
            </a:r>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dirty="0"/>
              <a:t>Introduce topic.</a:t>
            </a:r>
          </a:p>
          <a:p>
            <a:pPr defTabSz="882213">
              <a:defRPr/>
            </a:pPr>
            <a:endParaRPr lang="en-AU" b="1" dirty="0"/>
          </a:p>
          <a:p>
            <a:pPr defTabSz="882213">
              <a:defRPr/>
            </a:pPr>
            <a:r>
              <a:rPr lang="en-AU" b="1" dirty="0"/>
              <a:t>Class Activity – General Discussion</a:t>
            </a:r>
          </a:p>
          <a:p>
            <a:endParaRPr lang="en-AU" dirty="0"/>
          </a:p>
          <a:p>
            <a:r>
              <a:rPr lang="en-AU" dirty="0"/>
              <a:t>Ask general questions:</a:t>
            </a:r>
          </a:p>
          <a:p>
            <a:pPr>
              <a:buFont typeface="Arial" pitchFamily="34" charset="0"/>
              <a:buChar char="•"/>
            </a:pPr>
            <a:r>
              <a:rPr lang="en-AU" dirty="0"/>
              <a:t>Why is a review important?</a:t>
            </a:r>
          </a:p>
          <a:p>
            <a:pPr>
              <a:buFont typeface="Arial" pitchFamily="34" charset="0"/>
              <a:buChar char="•"/>
            </a:pPr>
            <a:r>
              <a:rPr lang="en-AU" dirty="0"/>
              <a:t>How can you conduct a review?</a:t>
            </a:r>
          </a:p>
          <a:p>
            <a:pPr>
              <a:buFont typeface="Arial" pitchFamily="34" charset="0"/>
              <a:buChar char="•"/>
            </a:pPr>
            <a:r>
              <a:rPr lang="en-AU" dirty="0"/>
              <a:t>What needs to be considered when reviewing?</a:t>
            </a:r>
          </a:p>
          <a:p>
            <a:pPr>
              <a:buFont typeface="Arial" pitchFamily="34" charset="0"/>
              <a:buChar char="•"/>
            </a:pPr>
            <a:r>
              <a:rPr lang="en-AU" dirty="0"/>
              <a:t>What would be the focus of the review?</a:t>
            </a:r>
          </a:p>
          <a:p>
            <a:endParaRPr lang="en-AU" dirty="0"/>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dirty="0"/>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Discussion</a:t>
            </a:r>
          </a:p>
          <a:p>
            <a:endParaRPr lang="en-AU" dirty="0"/>
          </a:p>
          <a:p>
            <a:r>
              <a:rPr lang="en-AU" dirty="0"/>
              <a:t>Ask general questions:</a:t>
            </a:r>
          </a:p>
          <a:p>
            <a:pPr>
              <a:buFont typeface="Arial" pitchFamily="34" charset="0"/>
              <a:buChar char="•"/>
            </a:pPr>
            <a:r>
              <a:rPr lang="en-AU" dirty="0"/>
              <a:t>Explain importance of conducting reviews</a:t>
            </a:r>
          </a:p>
          <a:p>
            <a:pPr>
              <a:buFont typeface="Arial" pitchFamily="34" charset="0"/>
              <a:buNone/>
            </a:pPr>
            <a:endParaRPr lang="en-AU" dirty="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Discussion</a:t>
            </a:r>
          </a:p>
          <a:p>
            <a:endParaRPr lang="en-AU" dirty="0"/>
          </a:p>
          <a:p>
            <a:r>
              <a:rPr lang="en-AU" dirty="0"/>
              <a:t>Ask general questions:</a:t>
            </a:r>
          </a:p>
          <a:p>
            <a:pPr>
              <a:buFont typeface="Arial" pitchFamily="34" charset="0"/>
              <a:buChar char="•"/>
            </a:pPr>
            <a:r>
              <a:rPr lang="en-AU" dirty="0"/>
              <a:t>Explain importance of these points</a:t>
            </a:r>
          </a:p>
          <a:p>
            <a:pPr>
              <a:buFont typeface="Arial" pitchFamily="34" charset="0"/>
              <a:buNone/>
            </a:pPr>
            <a:endParaRPr lang="en-AU" dirty="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Discussion &amp; Activities</a:t>
            </a:r>
          </a:p>
          <a:p>
            <a:endParaRPr lang="en-AU" dirty="0"/>
          </a:p>
          <a:p>
            <a:r>
              <a:rPr lang="en-AU" dirty="0"/>
              <a:t>Ask general questions:</a:t>
            </a:r>
          </a:p>
          <a:p>
            <a:pPr>
              <a:buFont typeface="Arial" pitchFamily="34" charset="0"/>
              <a:buChar char="•"/>
            </a:pPr>
            <a:r>
              <a:rPr lang="en-AU" dirty="0"/>
              <a:t>Explain tasks associated with each of these points</a:t>
            </a:r>
          </a:p>
          <a:p>
            <a:pPr>
              <a:buFont typeface="Arial" pitchFamily="34" charset="0"/>
              <a:buChar char="•"/>
            </a:pPr>
            <a:r>
              <a:rPr lang="en-AU" dirty="0"/>
              <a:t>Complete Activities 18&amp;19</a:t>
            </a:r>
          </a:p>
          <a:p>
            <a:pPr>
              <a:buFont typeface="Arial" pitchFamily="34" charset="0"/>
              <a:buNone/>
            </a:pPr>
            <a:endParaRPr lang="en-AU" dirty="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Discussion &amp; Activity</a:t>
            </a:r>
          </a:p>
          <a:p>
            <a:endParaRPr lang="en-AU" dirty="0"/>
          </a:p>
          <a:p>
            <a:r>
              <a:rPr lang="en-AU" dirty="0"/>
              <a:t>Ask general questions:</a:t>
            </a:r>
          </a:p>
          <a:p>
            <a:pPr>
              <a:buFont typeface="Arial" pitchFamily="34" charset="0"/>
              <a:buChar char="•"/>
            </a:pPr>
            <a:r>
              <a:rPr lang="en-AU" dirty="0"/>
              <a:t>Explain tasks associated with each of these points</a:t>
            </a:r>
          </a:p>
          <a:p>
            <a:pPr>
              <a:buFont typeface="Arial" pitchFamily="34" charset="0"/>
              <a:buChar char="•"/>
            </a:pPr>
            <a:r>
              <a:rPr lang="en-AU" dirty="0"/>
              <a:t>Complete Activity 20</a:t>
            </a:r>
          </a:p>
          <a:p>
            <a:pPr>
              <a:buFont typeface="Arial" pitchFamily="34" charset="0"/>
              <a:buNone/>
            </a:pPr>
            <a:endParaRPr lang="en-AU" dirty="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Discussion</a:t>
            </a:r>
          </a:p>
          <a:p>
            <a:endParaRPr lang="en-AU" dirty="0"/>
          </a:p>
          <a:p>
            <a:r>
              <a:rPr lang="en-AU" dirty="0"/>
              <a:t>Ask general questions:</a:t>
            </a:r>
          </a:p>
          <a:p>
            <a:pPr>
              <a:buFont typeface="Arial" pitchFamily="34" charset="0"/>
              <a:buChar char="•"/>
            </a:pPr>
            <a:r>
              <a:rPr lang="en-AU" dirty="0"/>
              <a:t>Why is this important?</a:t>
            </a:r>
          </a:p>
          <a:p>
            <a:pPr>
              <a:buFont typeface="Arial" pitchFamily="34" charset="0"/>
              <a:buChar char="•"/>
            </a:pPr>
            <a:r>
              <a:rPr lang="en-AU" dirty="0"/>
              <a:t>How will this process differ?</a:t>
            </a:r>
          </a:p>
          <a:p>
            <a:pPr>
              <a:buFont typeface="Arial" pitchFamily="34" charset="0"/>
              <a:buNone/>
            </a:pPr>
            <a:endParaRPr lang="en-AU" dirty="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Discussion</a:t>
            </a:r>
          </a:p>
          <a:p>
            <a:endParaRPr lang="en-AU" dirty="0"/>
          </a:p>
          <a:p>
            <a:r>
              <a:rPr lang="en-AU" dirty="0"/>
              <a:t>Ask general questions:</a:t>
            </a:r>
          </a:p>
          <a:p>
            <a:pPr>
              <a:buFont typeface="Arial" pitchFamily="34" charset="0"/>
              <a:buChar char="•"/>
            </a:pPr>
            <a:r>
              <a:rPr lang="en-AU" dirty="0"/>
              <a:t>What other considerations would you have?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Discussion</a:t>
            </a:r>
          </a:p>
          <a:p>
            <a:endParaRPr lang="en-AU" dirty="0"/>
          </a:p>
          <a:p>
            <a:r>
              <a:rPr lang="en-AU" dirty="0"/>
              <a:t>Ask general questions:</a:t>
            </a:r>
          </a:p>
          <a:p>
            <a:pPr>
              <a:buFont typeface="Arial" pitchFamily="34" charset="0"/>
              <a:buChar char="•"/>
            </a:pPr>
            <a:r>
              <a:rPr lang="en-AU" dirty="0"/>
              <a:t>What information would you wish to gather using each of these methods?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Discussion &amp; Activities</a:t>
            </a:r>
          </a:p>
          <a:p>
            <a:endParaRPr lang="en-AU" dirty="0"/>
          </a:p>
          <a:p>
            <a:r>
              <a:rPr lang="en-AU" dirty="0"/>
              <a:t>Ask general questions:</a:t>
            </a:r>
          </a:p>
          <a:p>
            <a:pPr>
              <a:buFont typeface="Arial" pitchFamily="34" charset="0"/>
              <a:buChar char="•"/>
            </a:pPr>
            <a:r>
              <a:rPr lang="en-AU" dirty="0"/>
              <a:t>What information would you wish to gather using each of these methods?</a:t>
            </a:r>
          </a:p>
          <a:p>
            <a:pPr>
              <a:buFont typeface="Arial" pitchFamily="34" charset="0"/>
              <a:buChar char="•"/>
            </a:pPr>
            <a:r>
              <a:rPr lang="en-AU" dirty="0"/>
              <a:t>Activities 21&amp;22</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Discussion</a:t>
            </a:r>
            <a:endParaRPr lang="en-US" b="1" dirty="0"/>
          </a:p>
          <a:p>
            <a:endParaRPr lang="en-AU" dirty="0"/>
          </a:p>
          <a:p>
            <a:pPr defTabSz="882213">
              <a:spcBef>
                <a:spcPts val="579"/>
              </a:spcBef>
              <a:spcAft>
                <a:spcPts val="1158"/>
              </a:spcAft>
              <a:buFont typeface="Arial" pitchFamily="34" charset="0"/>
              <a:buChar char="•"/>
              <a:defRPr/>
            </a:pPr>
            <a:r>
              <a:rPr lang="en-US" dirty="0"/>
              <a:t>Discuss the importance of these points</a:t>
            </a:r>
          </a:p>
          <a:p>
            <a:pPr>
              <a:spcBef>
                <a:spcPts val="579"/>
              </a:spcBef>
              <a:spcAft>
                <a:spcPts val="1158"/>
              </a:spcAft>
              <a:buFont typeface="Arial" pitchFamily="34" charset="0"/>
              <a:buChar char="•"/>
            </a:pPr>
            <a:endParaRPr lang="en-AU" dirty="0"/>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Discussion</a:t>
            </a:r>
            <a:endParaRPr lang="en-US" b="1" dirty="0"/>
          </a:p>
          <a:p>
            <a:endParaRPr lang="en-AU" dirty="0"/>
          </a:p>
          <a:p>
            <a:pPr defTabSz="882213">
              <a:spcBef>
                <a:spcPts val="579"/>
              </a:spcBef>
              <a:spcAft>
                <a:spcPts val="1158"/>
              </a:spcAft>
              <a:buFont typeface="Arial" pitchFamily="34" charset="0"/>
              <a:buChar char="•"/>
              <a:defRPr/>
            </a:pPr>
            <a:r>
              <a:rPr lang="en-US" dirty="0"/>
              <a:t>Discuss the importance of these points</a:t>
            </a:r>
          </a:p>
          <a:p>
            <a:pPr>
              <a:spcBef>
                <a:spcPts val="579"/>
              </a:spcBef>
              <a:spcAft>
                <a:spcPts val="1158"/>
              </a:spcAft>
              <a:buFont typeface="Arial" pitchFamily="34" charset="0"/>
              <a:buChar char="•"/>
            </a:pPr>
            <a:endParaRPr lang="en-AU" dirty="0"/>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 Discussion</a:t>
            </a:r>
            <a:endParaRPr lang="en-US" b="1" dirty="0"/>
          </a:p>
          <a:p>
            <a:endParaRPr lang="en-AU" dirty="0"/>
          </a:p>
          <a:p>
            <a:pPr defTabSz="882213">
              <a:spcBef>
                <a:spcPts val="579"/>
              </a:spcBef>
              <a:spcAft>
                <a:spcPts val="1158"/>
              </a:spcAft>
              <a:buFont typeface="Arial" pitchFamily="34" charset="0"/>
              <a:buChar char="•"/>
              <a:defRPr/>
            </a:pPr>
            <a:r>
              <a:rPr lang="en-US" dirty="0"/>
              <a:t>Discuss the importance of these points</a:t>
            </a:r>
          </a:p>
          <a:p>
            <a:pPr>
              <a:spcBef>
                <a:spcPts val="579"/>
              </a:spcBef>
              <a:spcAft>
                <a:spcPts val="1158"/>
              </a:spcAft>
              <a:buFont typeface="Arial" pitchFamily="34" charset="0"/>
              <a:buChar char="•"/>
            </a:pPr>
            <a:endParaRPr lang="en-AU" dirty="0"/>
          </a:p>
          <a:p>
            <a:pPr>
              <a:buNone/>
            </a:pPr>
            <a:endParaRPr lang="en-AU" dirty="0"/>
          </a:p>
          <a:p>
            <a:pPr>
              <a:buNone/>
            </a:pP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a:t>
            </a:r>
            <a:r>
              <a:rPr lang="en-US" b="1" dirty="0"/>
              <a:t>Discussion</a:t>
            </a:r>
          </a:p>
          <a:p>
            <a:endParaRPr lang="en-AU" dirty="0"/>
          </a:p>
          <a:p>
            <a:pPr>
              <a:spcBef>
                <a:spcPts val="579"/>
              </a:spcBef>
              <a:spcAft>
                <a:spcPts val="1158"/>
              </a:spcAft>
              <a:buFont typeface="Arial" pitchFamily="34" charset="0"/>
              <a:buChar char="•"/>
            </a:pPr>
            <a:r>
              <a:rPr lang="en-US" dirty="0"/>
              <a:t>What else can you do.</a:t>
            </a:r>
          </a:p>
          <a:p>
            <a:pPr>
              <a:spcBef>
                <a:spcPts val="579"/>
              </a:spcBef>
              <a:spcAft>
                <a:spcPts val="1158"/>
              </a:spcAft>
              <a:buFont typeface="Arial" pitchFamily="34" charset="0"/>
              <a:buChar char="•"/>
            </a:pPr>
            <a:r>
              <a:rPr lang="en-US" dirty="0"/>
              <a:t>Provide examples of these points.</a:t>
            </a:r>
            <a:endParaRPr lang="en-AU"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a:t>
            </a:r>
            <a:r>
              <a:rPr lang="en-US" b="1" dirty="0"/>
              <a:t>Discussion</a:t>
            </a:r>
          </a:p>
          <a:p>
            <a:endParaRPr lang="en-AU" dirty="0"/>
          </a:p>
          <a:p>
            <a:pPr>
              <a:spcBef>
                <a:spcPts val="579"/>
              </a:spcBef>
              <a:spcAft>
                <a:spcPts val="1158"/>
              </a:spcAft>
              <a:buFont typeface="Arial" pitchFamily="34" charset="0"/>
              <a:buChar char="•"/>
            </a:pPr>
            <a:r>
              <a:rPr lang="en-US" dirty="0"/>
              <a:t>Discuss questions in the slide.</a:t>
            </a:r>
            <a:endParaRPr lang="en-AU"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a:t>
            </a:r>
            <a:r>
              <a:rPr lang="en-US" b="1" dirty="0"/>
              <a:t>Discussion</a:t>
            </a:r>
          </a:p>
          <a:p>
            <a:endParaRPr lang="en-AU" dirty="0"/>
          </a:p>
          <a:p>
            <a:pPr>
              <a:spcBef>
                <a:spcPts val="579"/>
              </a:spcBef>
              <a:spcAft>
                <a:spcPts val="1158"/>
              </a:spcAft>
              <a:buFont typeface="Arial" pitchFamily="34" charset="0"/>
              <a:buChar char="•"/>
            </a:pPr>
            <a:r>
              <a:rPr lang="en-US" dirty="0"/>
              <a:t>Discuss questions in the slide.</a:t>
            </a:r>
            <a:endParaRPr lang="en-AU"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a:t>
            </a:r>
            <a:r>
              <a:rPr lang="en-US" b="1" dirty="0"/>
              <a:t>Discussion</a:t>
            </a:r>
          </a:p>
          <a:p>
            <a:endParaRPr lang="en-AU" dirty="0"/>
          </a:p>
          <a:p>
            <a:pPr>
              <a:spcBef>
                <a:spcPts val="579"/>
              </a:spcBef>
              <a:spcAft>
                <a:spcPts val="1158"/>
              </a:spcAft>
              <a:buFont typeface="Arial" pitchFamily="34" charset="0"/>
              <a:buChar char="•"/>
            </a:pPr>
            <a:r>
              <a:rPr lang="en-US" dirty="0"/>
              <a:t>Discuss points in the slide.</a:t>
            </a:r>
            <a:endParaRPr lang="en-AU"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a:t>
            </a:r>
            <a:r>
              <a:rPr lang="en-US" b="1" dirty="0"/>
              <a:t>Discussion</a:t>
            </a:r>
          </a:p>
          <a:p>
            <a:endParaRPr lang="en-AU" dirty="0"/>
          </a:p>
          <a:p>
            <a:pPr>
              <a:spcBef>
                <a:spcPts val="579"/>
              </a:spcBef>
              <a:spcAft>
                <a:spcPts val="1158"/>
              </a:spcAft>
              <a:buFont typeface="Arial" pitchFamily="34" charset="0"/>
              <a:buChar char="•"/>
            </a:pPr>
            <a:r>
              <a:rPr lang="en-US" dirty="0"/>
              <a:t>Why is it important to contact suppliers when removing their brochures?</a:t>
            </a:r>
            <a:endParaRPr lang="en-AU"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a:t>
            </a:r>
            <a:r>
              <a:rPr lang="en-US" b="1" dirty="0"/>
              <a:t>Discussion</a:t>
            </a:r>
          </a:p>
          <a:p>
            <a:endParaRPr lang="en-AU" dirty="0"/>
          </a:p>
          <a:p>
            <a:pPr>
              <a:spcBef>
                <a:spcPts val="579"/>
              </a:spcBef>
              <a:spcAft>
                <a:spcPts val="1158"/>
              </a:spcAft>
              <a:buFont typeface="Arial" pitchFamily="34" charset="0"/>
              <a:buChar char="•"/>
            </a:pPr>
            <a:r>
              <a:rPr lang="en-US" dirty="0"/>
              <a:t>Discuss questions in the slide.</a:t>
            </a:r>
            <a:endParaRPr lang="en-AU"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a:t>
            </a:r>
            <a:r>
              <a:rPr lang="en-US" b="1" dirty="0"/>
              <a:t>Discussion</a:t>
            </a:r>
          </a:p>
          <a:p>
            <a:endParaRPr lang="en-AU" dirty="0"/>
          </a:p>
          <a:p>
            <a:pPr>
              <a:spcBef>
                <a:spcPts val="579"/>
              </a:spcBef>
              <a:spcAft>
                <a:spcPts val="1158"/>
              </a:spcAft>
              <a:buFont typeface="Arial" pitchFamily="34" charset="0"/>
              <a:buChar char="•"/>
            </a:pPr>
            <a:r>
              <a:rPr lang="en-US" dirty="0"/>
              <a:t>What are other reasons?</a:t>
            </a:r>
            <a:endParaRPr lang="en-AU"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a:t>
            </a:r>
            <a:r>
              <a:rPr lang="en-US" b="1" dirty="0"/>
              <a:t>Discussion &amp; Activity</a:t>
            </a:r>
          </a:p>
          <a:p>
            <a:endParaRPr lang="en-AU" dirty="0"/>
          </a:p>
          <a:p>
            <a:pPr>
              <a:spcBef>
                <a:spcPts val="579"/>
              </a:spcBef>
              <a:spcAft>
                <a:spcPts val="1158"/>
              </a:spcAft>
              <a:buFont typeface="Arial" pitchFamily="34" charset="0"/>
              <a:buChar char="•"/>
            </a:pPr>
            <a:r>
              <a:rPr lang="en-US" dirty="0"/>
              <a:t>Complete Activity 23</a:t>
            </a:r>
            <a:endParaRPr lang="en-AU"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a:t>
            </a:r>
            <a:r>
              <a:rPr lang="en-US" b="1" dirty="0"/>
              <a:t>Discussion</a:t>
            </a:r>
          </a:p>
          <a:p>
            <a:endParaRPr lang="en-AU" dirty="0"/>
          </a:p>
          <a:p>
            <a:pPr>
              <a:spcBef>
                <a:spcPts val="579"/>
              </a:spcBef>
              <a:spcAft>
                <a:spcPts val="1158"/>
              </a:spcAft>
              <a:buFont typeface="Arial" pitchFamily="34" charset="0"/>
              <a:buChar char="•"/>
            </a:pPr>
            <a:r>
              <a:rPr lang="en-US" dirty="0"/>
              <a:t>What else can you do to manage hard copy materials?</a:t>
            </a:r>
            <a:endParaRPr lang="en-AU"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82213">
              <a:defRPr/>
            </a:pPr>
            <a:r>
              <a:rPr lang="en-AU" b="1" dirty="0"/>
              <a:t>Class Activity –</a:t>
            </a:r>
            <a:r>
              <a:rPr lang="en-US" b="1" dirty="0"/>
              <a:t>Discussion</a:t>
            </a:r>
          </a:p>
          <a:p>
            <a:endParaRPr lang="en-AU" dirty="0"/>
          </a:p>
          <a:p>
            <a:pPr>
              <a:spcBef>
                <a:spcPts val="579"/>
              </a:spcBef>
              <a:spcAft>
                <a:spcPts val="1158"/>
              </a:spcAft>
              <a:buFont typeface="Arial" pitchFamily="34" charset="0"/>
              <a:buChar char="•"/>
            </a:pPr>
            <a:r>
              <a:rPr lang="en-US" dirty="0"/>
              <a:t>What else can you do to manage electronic information?</a:t>
            </a:r>
            <a:endParaRPr lang="en-AU" dirty="0">
              <a:latin typeface="Helvetica" pitchFamily="34" charset="0"/>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4/27/2015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4/27/2015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4/27/2015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4/27/2015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4/27/2015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4/27/2015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4/27/2015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4/27/2015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4/27/2015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4/27/2015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4/27/2015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4/27/2015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27.xml"/><Relationship Id="rId1" Type="http://schemas.openxmlformats.org/officeDocument/2006/relationships/slideLayout" Target="../slideLayouts/slideLayout2.xml"/><Relationship Id="rId4" Type="http://schemas.openxmlformats.org/officeDocument/2006/relationships/image" Target="../media/image130.jpeg"/></Relationships>
</file>

<file path=ppt/slides/_rels/slide128.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45.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46.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48.jpe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49.jpe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50.jpe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51.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2022" y="404664"/>
            <a:ext cx="7675730" cy="1872208"/>
          </a:xfrm>
        </p:spPr>
        <p:txBody>
          <a:bodyPr>
            <a:noAutofit/>
          </a:bodyPr>
          <a:lstStyle/>
          <a:p>
            <a:r>
              <a:rPr lang="en-AU" sz="3600" dirty="0">
                <a:ln w="5000" cmpd="sng">
                  <a:noFill/>
                  <a:prstDash val="solid"/>
                </a:ln>
                <a:solidFill>
                  <a:srgbClr val="FF6600"/>
                </a:solidFill>
                <a:latin typeface="Helvetica" pitchFamily="34" charset="0"/>
              </a:rPr>
              <a:t>SOURCE AND PROVIDE </a:t>
            </a:r>
            <a:r>
              <a:rPr lang="en-AU" sz="3600" smtClean="0">
                <a:ln w="5000" cmpd="sng">
                  <a:noFill/>
                  <a:prstDash val="solid"/>
                </a:ln>
                <a:solidFill>
                  <a:srgbClr val="FF6600"/>
                </a:solidFill>
                <a:latin typeface="Helvetica" pitchFamily="34" charset="0"/>
              </a:rPr>
              <a:t>DESTINaTION</a:t>
            </a:r>
            <a:r>
              <a:rPr lang="en-AU" sz="3600" dirty="0" smtClean="0">
                <a:ln w="5000" cmpd="sng">
                  <a:noFill/>
                  <a:prstDash val="solid"/>
                </a:ln>
                <a:solidFill>
                  <a:srgbClr val="FF6600"/>
                </a:solidFill>
                <a:latin typeface="Helvetica" pitchFamily="34" charset="0"/>
              </a:rPr>
              <a:t> </a:t>
            </a:r>
            <a:r>
              <a:rPr lang="en-AU" sz="3600" dirty="0">
                <a:ln w="5000" cmpd="sng">
                  <a:noFill/>
                  <a:prstDash val="solid"/>
                </a:ln>
                <a:solidFill>
                  <a:srgbClr val="FF6600"/>
                </a:solidFill>
                <a:latin typeface="Helvetica" pitchFamily="34" charset="0"/>
              </a:rPr>
              <a:t>INFORMATION AND </a:t>
            </a:r>
            <a:r>
              <a:rPr lang="en-AU" sz="3600" dirty="0" smtClean="0">
                <a:ln w="5000" cmpd="sng">
                  <a:noFill/>
                  <a:prstDash val="solid"/>
                </a:ln>
                <a:solidFill>
                  <a:srgbClr val="FF6600"/>
                </a:solidFill>
                <a:latin typeface="Helvetica" pitchFamily="34" charset="0"/>
              </a:rPr>
              <a:t>ADVICE</a:t>
            </a:r>
            <a:endParaRPr lang="en-AU" sz="36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868144" y="2275162"/>
            <a:ext cx="2541268" cy="433758"/>
          </a:xfrm>
        </p:spPr>
        <p:txBody>
          <a:bodyPr>
            <a:normAutofit/>
          </a:bodyPr>
          <a:lstStyle/>
          <a:p>
            <a:r>
              <a:rPr lang="en-AU" b="1" dirty="0" smtClean="0">
                <a:latin typeface="Helvetica" pitchFamily="34" charset="0"/>
              </a:rPr>
              <a:t>D2.TTA.CL2.19</a:t>
            </a:r>
            <a:endParaRPr lang="en-AU" b="1" dirty="0">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20" name="Group 19"/>
          <p:cNvGrpSpPr/>
          <p:nvPr/>
        </p:nvGrpSpPr>
        <p:grpSpPr>
          <a:xfrm>
            <a:off x="806600" y="1740880"/>
            <a:ext cx="5565600" cy="4208400"/>
            <a:chOff x="0" y="0"/>
            <a:chExt cx="7560860" cy="5895832"/>
          </a:xfrm>
        </p:grpSpPr>
        <p:grpSp>
          <p:nvGrpSpPr>
            <p:cNvPr id="21" name="Group 20"/>
            <p:cNvGrpSpPr/>
            <p:nvPr/>
          </p:nvGrpSpPr>
          <p:grpSpPr>
            <a:xfrm>
              <a:off x="5022376" y="0"/>
              <a:ext cx="2538484" cy="5882185"/>
              <a:chOff x="0" y="0"/>
              <a:chExt cx="2538484" cy="5882185"/>
            </a:xfrm>
          </p:grpSpPr>
          <p:pic>
            <p:nvPicPr>
              <p:cNvPr id="28" name="Picture 27"/>
              <p:cNvPicPr>
                <a:picLocks noChangeAspect="1"/>
              </p:cNvPicPr>
              <p:nvPr/>
            </p:nvPicPr>
            <p:blipFill rotWithShape="1">
              <a:blip r:embed="rId3" cstate="print">
                <a:extLst>
                  <a:ext uri="{28A0092B-C50C-407E-A947-70E740481C1C}">
                    <a14:useLocalDpi xmlns:a14="http://schemas.microsoft.com/office/drawing/2010/main" val="0"/>
                  </a:ext>
                </a:extLst>
              </a:blip>
              <a:srcRect t="1805"/>
              <a:stretch/>
            </p:blipFill>
            <p:spPr bwMode="auto">
              <a:xfrm>
                <a:off x="0" y="2142698"/>
                <a:ext cx="2524836" cy="3739487"/>
              </a:xfrm>
              <a:prstGeom prst="rect">
                <a:avLst/>
              </a:prstGeom>
              <a:ln>
                <a:noFill/>
              </a:ln>
              <a:extLst>
                <a:ext uri="{53640926-AAD7-44D8-BBD7-CCE9431645EC}">
                  <a14:shadowObscured xmlns:a14="http://schemas.microsoft.com/office/drawing/2010/main"/>
                </a:ext>
              </a:extLst>
            </p:spPr>
          </p:pic>
          <p:pic>
            <p:nvPicPr>
              <p:cNvPr id="29" name="Picture 28"/>
              <p:cNvPicPr>
                <a:picLocks noChangeAspect="1"/>
              </p:cNvPicPr>
              <p:nvPr/>
            </p:nvPicPr>
            <p:blipFill rotWithShape="1">
              <a:blip r:embed="rId4" cstate="print">
                <a:extLst>
                  <a:ext uri="{28A0092B-C50C-407E-A947-70E740481C1C}">
                    <a14:useLocalDpi xmlns:a14="http://schemas.microsoft.com/office/drawing/2010/main" val="0"/>
                  </a:ext>
                </a:extLst>
              </a:blip>
              <a:srcRect l="26444"/>
              <a:stretch/>
            </p:blipFill>
            <p:spPr bwMode="auto">
              <a:xfrm>
                <a:off x="13648" y="0"/>
                <a:ext cx="2524836" cy="2224585"/>
              </a:xfrm>
              <a:prstGeom prst="rect">
                <a:avLst/>
              </a:prstGeom>
              <a:noFill/>
              <a:ln>
                <a:noFill/>
              </a:ln>
              <a:extLst>
                <a:ext uri="{53640926-AAD7-44D8-BBD7-CCE9431645EC}">
                  <a14:shadowObscured xmlns:a14="http://schemas.microsoft.com/office/drawing/2010/main"/>
                </a:ext>
              </a:extLst>
            </p:spPr>
          </p:pic>
        </p:grpSp>
        <p:grpSp>
          <p:nvGrpSpPr>
            <p:cNvPr id="22" name="Group 21"/>
            <p:cNvGrpSpPr/>
            <p:nvPr/>
          </p:nvGrpSpPr>
          <p:grpSpPr>
            <a:xfrm>
              <a:off x="0" y="0"/>
              <a:ext cx="2696210" cy="5882005"/>
              <a:chOff x="-1" y="-1"/>
              <a:chExt cx="2696712" cy="5882186"/>
            </a:xfrm>
          </p:grpSpPr>
          <p:pic>
            <p:nvPicPr>
              <p:cNvPr id="26" name="Picture 25"/>
              <p:cNvPicPr>
                <a:picLocks noChangeAspect="1"/>
              </p:cNvPicPr>
              <p:nvPr/>
            </p:nvPicPr>
            <p:blipFill rotWithShape="1">
              <a:blip r:embed="rId5" cstate="print">
                <a:extLst>
                  <a:ext uri="{28A0092B-C50C-407E-A947-70E740481C1C}">
                    <a14:useLocalDpi xmlns:a14="http://schemas.microsoft.com/office/drawing/2010/main" val="0"/>
                  </a:ext>
                </a:extLst>
              </a:blip>
              <a:stretch/>
            </p:blipFill>
            <p:spPr bwMode="auto">
              <a:xfrm>
                <a:off x="0" y="2210937"/>
                <a:ext cx="2688609" cy="3671248"/>
              </a:xfrm>
              <a:prstGeom prst="rect">
                <a:avLst/>
              </a:prstGeom>
              <a:noFill/>
              <a:ln>
                <a:noFill/>
              </a:ln>
              <a:extLst>
                <a:ext uri="{53640926-AAD7-44D8-BBD7-CCE9431645EC}">
                  <a14:shadowObscured xmlns:a14="http://schemas.microsoft.com/office/drawing/2010/main"/>
                </a:ext>
              </a:extLst>
            </p:spPr>
          </p:pic>
          <p:pic>
            <p:nvPicPr>
              <p:cNvPr id="27" name="Picture 26"/>
              <p:cNvPicPr>
                <a:picLocks noChangeAspect="1"/>
              </p:cNvPicPr>
              <p:nvPr/>
            </p:nvPicPr>
            <p:blipFill rotWithShape="1">
              <a:blip r:embed="rId6" cstate="print">
                <a:extLst>
                  <a:ext uri="{28A0092B-C50C-407E-A947-70E740481C1C}">
                    <a14:useLocalDpi xmlns:a14="http://schemas.microsoft.com/office/drawing/2010/main" val="0"/>
                  </a:ext>
                </a:extLst>
              </a:blip>
              <a:srcRect l="11848" r="8087"/>
              <a:stretch/>
            </p:blipFill>
            <p:spPr bwMode="auto">
              <a:xfrm>
                <a:off x="-1" y="-1"/>
                <a:ext cx="2696712" cy="2217600"/>
              </a:xfrm>
              <a:prstGeom prst="rect">
                <a:avLst/>
              </a:prstGeom>
              <a:ln>
                <a:noFill/>
              </a:ln>
              <a:extLst>
                <a:ext uri="{53640926-AAD7-44D8-BBD7-CCE9431645EC}">
                  <a14:shadowObscured xmlns:a14="http://schemas.microsoft.com/office/drawing/2010/main"/>
                </a:ext>
              </a:extLst>
            </p:spPr>
          </p:pic>
        </p:grpSp>
        <p:grpSp>
          <p:nvGrpSpPr>
            <p:cNvPr id="23" name="Group 22"/>
            <p:cNvGrpSpPr/>
            <p:nvPr/>
          </p:nvGrpSpPr>
          <p:grpSpPr>
            <a:xfrm>
              <a:off x="2688609" y="0"/>
              <a:ext cx="2456597" cy="5895832"/>
              <a:chOff x="0" y="0"/>
              <a:chExt cx="2456597" cy="5895832"/>
            </a:xfrm>
          </p:grpSpPr>
          <p:pic>
            <p:nvPicPr>
              <p:cNvPr id="24" name="Picture 23"/>
              <p:cNvPicPr>
                <a:picLocks noChangeAspect="1"/>
              </p:cNvPicPr>
              <p:nvPr/>
            </p:nvPicPr>
            <p:blipFill rotWithShape="1">
              <a:blip r:embed="rId7" cstate="print">
                <a:extLst>
                  <a:ext uri="{28A0092B-C50C-407E-A947-70E740481C1C}">
                    <a14:useLocalDpi xmlns:a14="http://schemas.microsoft.com/office/drawing/2010/main" val="0"/>
                  </a:ext>
                </a:extLst>
              </a:blip>
              <a:srcRect l="10270" b="9724"/>
              <a:stretch/>
            </p:blipFill>
            <p:spPr bwMode="auto">
              <a:xfrm>
                <a:off x="0" y="2224585"/>
                <a:ext cx="2456597" cy="3671247"/>
              </a:xfrm>
              <a:prstGeom prst="rect">
                <a:avLst/>
              </a:prstGeom>
              <a:noFill/>
              <a:ln>
                <a:noFill/>
              </a:ln>
              <a:extLst>
                <a:ext uri="{53640926-AAD7-44D8-BBD7-CCE9431645EC}">
                  <a14:shadowObscured xmlns:a14="http://schemas.microsoft.com/office/drawing/2010/main"/>
                </a:ext>
              </a:extLst>
            </p:spPr>
          </p:pic>
          <p:pic>
            <p:nvPicPr>
              <p:cNvPr id="25" name="Picture 24"/>
              <p:cNvPicPr>
                <a:picLocks noChangeAspect="1"/>
              </p:cNvPicPr>
              <p:nvPr/>
            </p:nvPicPr>
            <p:blipFill rotWithShape="1">
              <a:blip r:embed="rId8" cstate="print">
                <a:extLst>
                  <a:ext uri="{28A0092B-C50C-407E-A947-70E740481C1C}">
                    <a14:useLocalDpi xmlns:a14="http://schemas.microsoft.com/office/drawing/2010/main" val="0"/>
                  </a:ext>
                </a:extLst>
              </a:blip>
              <a:srcRect l="519" b="6332"/>
              <a:stretch/>
            </p:blipFill>
            <p:spPr bwMode="auto">
              <a:xfrm>
                <a:off x="0" y="0"/>
                <a:ext cx="2456597" cy="2224585"/>
              </a:xfrm>
              <a:prstGeom prst="rect">
                <a:avLst/>
              </a:prstGeom>
              <a:ln>
                <a:noFill/>
              </a:ln>
              <a:extLst>
                <a:ext uri="{53640926-AAD7-44D8-BBD7-CCE9431645EC}">
                  <a14:shadowObscured xmlns:a14="http://schemas.microsoft.com/office/drawing/2010/main"/>
                </a:ext>
              </a:extLst>
            </p:spPr>
          </p:pic>
        </p:gr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34144"/>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301208"/>
          </a:xfrm>
        </p:spPr>
        <p:txBody>
          <a:bodyPr>
            <a:normAutofit/>
          </a:bodyPr>
          <a:lstStyle/>
          <a:p>
            <a:pPr marL="0" indent="0">
              <a:spcBef>
                <a:spcPts val="600"/>
              </a:spcBef>
              <a:spcAft>
                <a:spcPts val="1200"/>
              </a:spcAft>
              <a:buNone/>
            </a:pPr>
            <a:r>
              <a:rPr lang="en-AU" sz="2200" b="1" dirty="0" smtClean="0">
                <a:latin typeface="Helvetica" pitchFamily="34" charset="0"/>
              </a:rPr>
              <a:t>This unit comprises four Elements: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5" name="Picture 4" descr="Asian girl with world on hand_34766518.jpg"/>
          <p:cNvPicPr>
            <a:picLocks noChangeAspect="1"/>
          </p:cNvPicPr>
          <p:nvPr/>
        </p:nvPicPr>
        <p:blipFill>
          <a:blip r:embed="rId3" cstate="print"/>
          <a:stretch>
            <a:fillRect/>
          </a:stretch>
        </p:blipFill>
        <p:spPr>
          <a:xfrm>
            <a:off x="1042469" y="2623639"/>
            <a:ext cx="1079883" cy="1619015"/>
          </a:xfrm>
          <a:prstGeom prst="ellipse">
            <a:avLst/>
          </a:prstGeom>
        </p:spPr>
      </p:pic>
      <p:grpSp>
        <p:nvGrpSpPr>
          <p:cNvPr id="7" name="Group 6"/>
          <p:cNvGrpSpPr/>
          <p:nvPr/>
        </p:nvGrpSpPr>
        <p:grpSpPr>
          <a:xfrm>
            <a:off x="575519" y="1844824"/>
            <a:ext cx="5364633" cy="3500287"/>
            <a:chOff x="834697" y="2342704"/>
            <a:chExt cx="5364633" cy="3500287"/>
          </a:xfrm>
        </p:grpSpPr>
        <p:sp>
          <p:nvSpPr>
            <p:cNvPr id="8" name="Oval 7"/>
            <p:cNvSpPr/>
            <p:nvPr/>
          </p:nvSpPr>
          <p:spPr>
            <a:xfrm>
              <a:off x="2166046" y="5104937"/>
              <a:ext cx="71767" cy="71767"/>
            </a:xfrm>
            <a:prstGeom prst="ellipse">
              <a:avLst/>
            </a:prstGeom>
          </p:spPr>
          <p:style>
            <a:lnRef idx="2">
              <a:schemeClr val="accent5">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9" name="Oval 8"/>
            <p:cNvSpPr/>
            <p:nvPr/>
          </p:nvSpPr>
          <p:spPr>
            <a:xfrm>
              <a:off x="2006181" y="5177832"/>
              <a:ext cx="71767" cy="71767"/>
            </a:xfrm>
            <a:prstGeom prst="ellipse">
              <a:avLst/>
            </a:prstGeom>
          </p:spPr>
          <p:style>
            <a:lnRef idx="2">
              <a:schemeClr val="accent5">
                <a:hueOff val="-258043"/>
                <a:satOff val="2587"/>
                <a:lumOff val="-1797"/>
                <a:alphaOff val="0"/>
              </a:schemeClr>
            </a:lnRef>
            <a:fillRef idx="1">
              <a:schemeClr val="accent5">
                <a:hueOff val="-258043"/>
                <a:satOff val="2587"/>
                <a:lumOff val="-1797"/>
                <a:alphaOff val="0"/>
              </a:schemeClr>
            </a:fillRef>
            <a:effectRef idx="0">
              <a:schemeClr val="accent5">
                <a:hueOff val="-258043"/>
                <a:satOff val="2587"/>
                <a:lumOff val="-1797"/>
                <a:alphaOff val="0"/>
              </a:schemeClr>
            </a:effectRef>
            <a:fontRef idx="minor">
              <a:schemeClr val="lt1"/>
            </a:fontRef>
          </p:style>
        </p:sp>
        <p:sp>
          <p:nvSpPr>
            <p:cNvPr id="10" name="Oval 9"/>
            <p:cNvSpPr/>
            <p:nvPr/>
          </p:nvSpPr>
          <p:spPr>
            <a:xfrm>
              <a:off x="1841589" y="5237844"/>
              <a:ext cx="71767" cy="71767"/>
            </a:xfrm>
            <a:prstGeom prst="ellipse">
              <a:avLst/>
            </a:prstGeom>
          </p:spPr>
          <p:style>
            <a:lnRef idx="2">
              <a:schemeClr val="accent5">
                <a:hueOff val="-516086"/>
                <a:satOff val="5174"/>
                <a:lumOff val="-3595"/>
                <a:alphaOff val="0"/>
              </a:schemeClr>
            </a:lnRef>
            <a:fillRef idx="1">
              <a:schemeClr val="accent5">
                <a:hueOff val="-516086"/>
                <a:satOff val="5174"/>
                <a:lumOff val="-3595"/>
                <a:alphaOff val="0"/>
              </a:schemeClr>
            </a:fillRef>
            <a:effectRef idx="0">
              <a:schemeClr val="accent5">
                <a:hueOff val="-516086"/>
                <a:satOff val="5174"/>
                <a:lumOff val="-3595"/>
                <a:alphaOff val="0"/>
              </a:schemeClr>
            </a:effectRef>
            <a:fontRef idx="minor">
              <a:schemeClr val="lt1"/>
            </a:fontRef>
          </p:style>
        </p:sp>
        <p:sp>
          <p:nvSpPr>
            <p:cNvPr id="11" name="Oval 10"/>
            <p:cNvSpPr/>
            <p:nvPr/>
          </p:nvSpPr>
          <p:spPr>
            <a:xfrm>
              <a:off x="1672270" y="5284633"/>
              <a:ext cx="71767" cy="71767"/>
            </a:xfrm>
            <a:prstGeom prst="ellipse">
              <a:avLst/>
            </a:prstGeom>
          </p:spPr>
          <p:style>
            <a:lnRef idx="2">
              <a:schemeClr val="accent5">
                <a:hueOff val="-774129"/>
                <a:satOff val="7761"/>
                <a:lumOff val="-5392"/>
                <a:alphaOff val="0"/>
              </a:schemeClr>
            </a:lnRef>
            <a:fillRef idx="1">
              <a:schemeClr val="accent5">
                <a:hueOff val="-774129"/>
                <a:satOff val="7761"/>
                <a:lumOff val="-5392"/>
                <a:alphaOff val="0"/>
              </a:schemeClr>
            </a:fillRef>
            <a:effectRef idx="0">
              <a:schemeClr val="accent5">
                <a:hueOff val="-774129"/>
                <a:satOff val="7761"/>
                <a:lumOff val="-5392"/>
                <a:alphaOff val="0"/>
              </a:schemeClr>
            </a:effectRef>
            <a:fontRef idx="minor">
              <a:schemeClr val="lt1"/>
            </a:fontRef>
          </p:style>
        </p:sp>
        <p:sp>
          <p:nvSpPr>
            <p:cNvPr id="12" name="Oval 11"/>
            <p:cNvSpPr/>
            <p:nvPr/>
          </p:nvSpPr>
          <p:spPr>
            <a:xfrm>
              <a:off x="2913373" y="4496005"/>
              <a:ext cx="71767" cy="71767"/>
            </a:xfrm>
            <a:prstGeom prst="ellipse">
              <a:avLst/>
            </a:prstGeom>
          </p:spPr>
          <p:style>
            <a:lnRef idx="2">
              <a:schemeClr val="accent5">
                <a:hueOff val="-1032172"/>
                <a:satOff val="10348"/>
                <a:lumOff val="-7190"/>
                <a:alphaOff val="0"/>
              </a:schemeClr>
            </a:lnRef>
            <a:fillRef idx="1">
              <a:schemeClr val="accent5">
                <a:hueOff val="-1032172"/>
                <a:satOff val="10348"/>
                <a:lumOff val="-7190"/>
                <a:alphaOff val="0"/>
              </a:schemeClr>
            </a:fillRef>
            <a:effectRef idx="0">
              <a:schemeClr val="accent5">
                <a:hueOff val="-1032172"/>
                <a:satOff val="10348"/>
                <a:lumOff val="-7190"/>
                <a:alphaOff val="0"/>
              </a:schemeClr>
            </a:effectRef>
            <a:fontRef idx="minor">
              <a:schemeClr val="lt1"/>
            </a:fontRef>
          </p:style>
        </p:sp>
        <p:sp>
          <p:nvSpPr>
            <p:cNvPr id="13" name="Oval 12"/>
            <p:cNvSpPr/>
            <p:nvPr/>
          </p:nvSpPr>
          <p:spPr>
            <a:xfrm>
              <a:off x="3339679" y="3602610"/>
              <a:ext cx="71767" cy="71767"/>
            </a:xfrm>
            <a:prstGeom prst="ellipse">
              <a:avLst/>
            </a:prstGeom>
          </p:spPr>
          <p:style>
            <a:lnRef idx="2">
              <a:schemeClr val="accent5">
                <a:hueOff val="-1290215"/>
                <a:satOff val="12935"/>
                <a:lumOff val="-8987"/>
                <a:alphaOff val="0"/>
              </a:schemeClr>
            </a:lnRef>
            <a:fillRef idx="1">
              <a:schemeClr val="accent5">
                <a:hueOff val="-1290215"/>
                <a:satOff val="12935"/>
                <a:lumOff val="-8987"/>
                <a:alphaOff val="0"/>
              </a:schemeClr>
            </a:fillRef>
            <a:effectRef idx="0">
              <a:schemeClr val="accent5">
                <a:hueOff val="-1290215"/>
                <a:satOff val="12935"/>
                <a:lumOff val="-8987"/>
                <a:alphaOff val="0"/>
              </a:schemeClr>
            </a:effectRef>
            <a:fontRef idx="minor">
              <a:schemeClr val="lt1"/>
            </a:fontRef>
          </p:style>
        </p:sp>
        <p:sp>
          <p:nvSpPr>
            <p:cNvPr id="14" name="Oval 13"/>
            <p:cNvSpPr/>
            <p:nvPr/>
          </p:nvSpPr>
          <p:spPr>
            <a:xfrm>
              <a:off x="3224508" y="2487817"/>
              <a:ext cx="71767" cy="71767"/>
            </a:xfrm>
            <a:prstGeom prst="ellipse">
              <a:avLst/>
            </a:prstGeom>
          </p:spPr>
          <p:style>
            <a:lnRef idx="2">
              <a:schemeClr val="accent5">
                <a:hueOff val="-1548258"/>
                <a:satOff val="15522"/>
                <a:lumOff val="-10784"/>
                <a:alphaOff val="0"/>
              </a:schemeClr>
            </a:lnRef>
            <a:fillRef idx="1">
              <a:schemeClr val="accent5">
                <a:hueOff val="-1548258"/>
                <a:satOff val="15522"/>
                <a:lumOff val="-10784"/>
                <a:alphaOff val="0"/>
              </a:schemeClr>
            </a:fillRef>
            <a:effectRef idx="0">
              <a:schemeClr val="accent5">
                <a:hueOff val="-1548258"/>
                <a:satOff val="15522"/>
                <a:lumOff val="-10784"/>
                <a:alphaOff val="0"/>
              </a:schemeClr>
            </a:effectRef>
            <a:fontRef idx="minor">
              <a:schemeClr val="lt1"/>
            </a:fontRef>
          </p:style>
        </p:sp>
        <p:sp>
          <p:nvSpPr>
            <p:cNvPr id="15" name="Oval 14"/>
            <p:cNvSpPr/>
            <p:nvPr/>
          </p:nvSpPr>
          <p:spPr>
            <a:xfrm>
              <a:off x="3326787" y="2415260"/>
              <a:ext cx="71767" cy="71767"/>
            </a:xfrm>
            <a:prstGeom prst="ellipse">
              <a:avLst/>
            </a:prstGeom>
          </p:spPr>
          <p:style>
            <a:lnRef idx="2">
              <a:schemeClr val="accent5">
                <a:hueOff val="-1806301"/>
                <a:satOff val="18109"/>
                <a:lumOff val="-12582"/>
                <a:alphaOff val="0"/>
              </a:schemeClr>
            </a:lnRef>
            <a:fillRef idx="1">
              <a:schemeClr val="accent5">
                <a:hueOff val="-1806301"/>
                <a:satOff val="18109"/>
                <a:lumOff val="-12582"/>
                <a:alphaOff val="0"/>
              </a:schemeClr>
            </a:fillRef>
            <a:effectRef idx="0">
              <a:schemeClr val="accent5">
                <a:hueOff val="-1806301"/>
                <a:satOff val="18109"/>
                <a:lumOff val="-12582"/>
                <a:alphaOff val="0"/>
              </a:schemeClr>
            </a:effectRef>
            <a:fontRef idx="minor">
              <a:schemeClr val="lt1"/>
            </a:fontRef>
          </p:style>
        </p:sp>
        <p:sp>
          <p:nvSpPr>
            <p:cNvPr id="16" name="Oval 15"/>
            <p:cNvSpPr/>
            <p:nvPr/>
          </p:nvSpPr>
          <p:spPr>
            <a:xfrm>
              <a:off x="3429066" y="2342704"/>
              <a:ext cx="71767" cy="71767"/>
            </a:xfrm>
            <a:prstGeom prst="ellipse">
              <a:avLst/>
            </a:prstGeom>
          </p:spPr>
          <p:style>
            <a:lnRef idx="2">
              <a:schemeClr val="accent5">
                <a:hueOff val="-2064345"/>
                <a:satOff val="20696"/>
                <a:lumOff val="-14379"/>
                <a:alphaOff val="0"/>
              </a:schemeClr>
            </a:lnRef>
            <a:fillRef idx="1">
              <a:schemeClr val="accent5">
                <a:hueOff val="-2064345"/>
                <a:satOff val="20696"/>
                <a:lumOff val="-14379"/>
                <a:alphaOff val="0"/>
              </a:schemeClr>
            </a:fillRef>
            <a:effectRef idx="0">
              <a:schemeClr val="accent5">
                <a:hueOff val="-2064345"/>
                <a:satOff val="20696"/>
                <a:lumOff val="-14379"/>
                <a:alphaOff val="0"/>
              </a:schemeClr>
            </a:effectRef>
            <a:fontRef idx="minor">
              <a:schemeClr val="lt1"/>
            </a:fontRef>
          </p:style>
        </p:sp>
        <p:sp>
          <p:nvSpPr>
            <p:cNvPr id="17" name="Oval 16"/>
            <p:cNvSpPr/>
            <p:nvPr/>
          </p:nvSpPr>
          <p:spPr>
            <a:xfrm>
              <a:off x="3531345" y="2415260"/>
              <a:ext cx="71767" cy="71767"/>
            </a:xfrm>
            <a:prstGeom prst="ellipse">
              <a:avLst/>
            </a:prstGeom>
          </p:spPr>
          <p:style>
            <a:lnRef idx="2">
              <a:schemeClr val="accent5">
                <a:hueOff val="-2322388"/>
                <a:satOff val="23283"/>
                <a:lumOff val="-16177"/>
                <a:alphaOff val="0"/>
              </a:schemeClr>
            </a:lnRef>
            <a:fillRef idx="1">
              <a:schemeClr val="accent5">
                <a:hueOff val="-2322388"/>
                <a:satOff val="23283"/>
                <a:lumOff val="-16177"/>
                <a:alphaOff val="0"/>
              </a:schemeClr>
            </a:fillRef>
            <a:effectRef idx="0">
              <a:schemeClr val="accent5">
                <a:hueOff val="-2322388"/>
                <a:satOff val="23283"/>
                <a:lumOff val="-16177"/>
                <a:alphaOff val="0"/>
              </a:schemeClr>
            </a:effectRef>
            <a:fontRef idx="minor">
              <a:schemeClr val="lt1"/>
            </a:fontRef>
          </p:style>
        </p:sp>
        <p:sp>
          <p:nvSpPr>
            <p:cNvPr id="18" name="Oval 17"/>
            <p:cNvSpPr/>
            <p:nvPr/>
          </p:nvSpPr>
          <p:spPr>
            <a:xfrm>
              <a:off x="3634054" y="2487817"/>
              <a:ext cx="71767" cy="71767"/>
            </a:xfrm>
            <a:prstGeom prst="ellipse">
              <a:avLst/>
            </a:prstGeom>
          </p:spPr>
          <p:style>
            <a:lnRef idx="2">
              <a:schemeClr val="accent5">
                <a:hueOff val="-2580431"/>
                <a:satOff val="25870"/>
                <a:lumOff val="-17974"/>
                <a:alphaOff val="0"/>
              </a:schemeClr>
            </a:lnRef>
            <a:fillRef idx="1">
              <a:schemeClr val="accent5">
                <a:hueOff val="-2580431"/>
                <a:satOff val="25870"/>
                <a:lumOff val="-17974"/>
                <a:alphaOff val="0"/>
              </a:schemeClr>
            </a:fillRef>
            <a:effectRef idx="0">
              <a:schemeClr val="accent5">
                <a:hueOff val="-2580431"/>
                <a:satOff val="25870"/>
                <a:lumOff val="-17974"/>
                <a:alphaOff val="0"/>
              </a:schemeClr>
            </a:effectRef>
            <a:fontRef idx="minor">
              <a:schemeClr val="lt1"/>
            </a:fontRef>
          </p:style>
        </p:sp>
        <p:sp>
          <p:nvSpPr>
            <p:cNvPr id="19" name="Oval 18"/>
            <p:cNvSpPr/>
            <p:nvPr/>
          </p:nvSpPr>
          <p:spPr>
            <a:xfrm>
              <a:off x="3429066" y="2495954"/>
              <a:ext cx="71767" cy="71767"/>
            </a:xfrm>
            <a:prstGeom prst="ellipse">
              <a:avLst/>
            </a:prstGeom>
          </p:spPr>
          <p:style>
            <a:lnRef idx="2">
              <a:schemeClr val="accent5">
                <a:hueOff val="-2838474"/>
                <a:satOff val="28457"/>
                <a:lumOff val="-19772"/>
                <a:alphaOff val="0"/>
              </a:schemeClr>
            </a:lnRef>
            <a:fillRef idx="1">
              <a:schemeClr val="accent5">
                <a:hueOff val="-2838474"/>
                <a:satOff val="28457"/>
                <a:lumOff val="-19772"/>
                <a:alphaOff val="0"/>
              </a:schemeClr>
            </a:fillRef>
            <a:effectRef idx="0">
              <a:schemeClr val="accent5">
                <a:hueOff val="-2838474"/>
                <a:satOff val="28457"/>
                <a:lumOff val="-19772"/>
                <a:alphaOff val="0"/>
              </a:schemeClr>
            </a:effectRef>
            <a:fontRef idx="minor">
              <a:schemeClr val="lt1"/>
            </a:fontRef>
          </p:style>
        </p:sp>
        <p:sp>
          <p:nvSpPr>
            <p:cNvPr id="20" name="Oval 19"/>
            <p:cNvSpPr/>
            <p:nvPr/>
          </p:nvSpPr>
          <p:spPr>
            <a:xfrm>
              <a:off x="3429066" y="2649204"/>
              <a:ext cx="71767" cy="71767"/>
            </a:xfrm>
            <a:prstGeom prst="ellipse">
              <a:avLst/>
            </a:prstGeom>
          </p:spPr>
          <p:style>
            <a:lnRef idx="2">
              <a:schemeClr val="accent5">
                <a:hueOff val="-3096517"/>
                <a:satOff val="31044"/>
                <a:lumOff val="-21569"/>
                <a:alphaOff val="0"/>
              </a:schemeClr>
            </a:lnRef>
            <a:fillRef idx="1">
              <a:schemeClr val="accent5">
                <a:hueOff val="-3096517"/>
                <a:satOff val="31044"/>
                <a:lumOff val="-21569"/>
                <a:alphaOff val="0"/>
              </a:schemeClr>
            </a:fillRef>
            <a:effectRef idx="0">
              <a:schemeClr val="accent5">
                <a:hueOff val="-3096517"/>
                <a:satOff val="31044"/>
                <a:lumOff val="-21569"/>
                <a:alphaOff val="0"/>
              </a:schemeClr>
            </a:effectRef>
            <a:fontRef idx="minor">
              <a:schemeClr val="lt1"/>
            </a:fontRef>
          </p:style>
        </p:sp>
        <p:sp>
          <p:nvSpPr>
            <p:cNvPr id="21" name="Freeform 20"/>
            <p:cNvSpPr/>
            <p:nvPr/>
          </p:nvSpPr>
          <p:spPr>
            <a:xfrm>
              <a:off x="1262938" y="5428673"/>
              <a:ext cx="2700000" cy="414318"/>
            </a:xfrm>
            <a:custGeom>
              <a:avLst/>
              <a:gdLst>
                <a:gd name="connsiteX0" fmla="*/ 0 w 1544932"/>
                <a:gd name="connsiteY0" fmla="*/ 69054 h 414318"/>
                <a:gd name="connsiteX1" fmla="*/ 69054 w 1544932"/>
                <a:gd name="connsiteY1" fmla="*/ 0 h 414318"/>
                <a:gd name="connsiteX2" fmla="*/ 1475878 w 1544932"/>
                <a:gd name="connsiteY2" fmla="*/ 0 h 414318"/>
                <a:gd name="connsiteX3" fmla="*/ 1544932 w 1544932"/>
                <a:gd name="connsiteY3" fmla="*/ 69054 h 414318"/>
                <a:gd name="connsiteX4" fmla="*/ 1544932 w 1544932"/>
                <a:gd name="connsiteY4" fmla="*/ 345264 h 414318"/>
                <a:gd name="connsiteX5" fmla="*/ 1475878 w 1544932"/>
                <a:gd name="connsiteY5" fmla="*/ 414318 h 414318"/>
                <a:gd name="connsiteX6" fmla="*/ 69054 w 1544932"/>
                <a:gd name="connsiteY6" fmla="*/ 414318 h 414318"/>
                <a:gd name="connsiteX7" fmla="*/ 0 w 1544932"/>
                <a:gd name="connsiteY7" fmla="*/ 345264 h 414318"/>
                <a:gd name="connsiteX8" fmla="*/ 0 w 1544932"/>
                <a:gd name="connsiteY8" fmla="*/ 69054 h 414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4932" h="414318">
                  <a:moveTo>
                    <a:pt x="0" y="69054"/>
                  </a:moveTo>
                  <a:cubicBezTo>
                    <a:pt x="0" y="30917"/>
                    <a:pt x="30917" y="0"/>
                    <a:pt x="69054" y="0"/>
                  </a:cubicBezTo>
                  <a:lnTo>
                    <a:pt x="1475878" y="0"/>
                  </a:lnTo>
                  <a:cubicBezTo>
                    <a:pt x="1514015" y="0"/>
                    <a:pt x="1544932" y="30917"/>
                    <a:pt x="1544932" y="69054"/>
                  </a:cubicBezTo>
                  <a:lnTo>
                    <a:pt x="1544932" y="345264"/>
                  </a:lnTo>
                  <a:cubicBezTo>
                    <a:pt x="1544932" y="383401"/>
                    <a:pt x="1514015" y="414318"/>
                    <a:pt x="1475878" y="414318"/>
                  </a:cubicBezTo>
                  <a:lnTo>
                    <a:pt x="69054" y="414318"/>
                  </a:lnTo>
                  <a:cubicBezTo>
                    <a:pt x="30917" y="414318"/>
                    <a:pt x="0" y="383401"/>
                    <a:pt x="0" y="345264"/>
                  </a:cubicBezTo>
                  <a:lnTo>
                    <a:pt x="0" y="69054"/>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47236" tIns="54515" rIns="54515" bIns="54515" numCol="1" spcCol="1270" anchor="ctr" anchorCtr="0">
              <a:noAutofit/>
            </a:bodyPr>
            <a:lstStyle/>
            <a:p>
              <a:pPr lvl="0" algn="l" defTabSz="400050">
                <a:lnSpc>
                  <a:spcPct val="90000"/>
                </a:lnSpc>
                <a:spcBef>
                  <a:spcPct val="0"/>
                </a:spcBef>
                <a:spcAft>
                  <a:spcPct val="35000"/>
                </a:spcAft>
              </a:pPr>
              <a:r>
                <a:rPr lang="en-US" sz="1400" b="1" kern="1200" dirty="0" smtClean="0">
                  <a:latin typeface="Helvetica" pitchFamily="34" charset="0"/>
                </a:rPr>
                <a:t>Review provision of destination knowledge</a:t>
              </a:r>
              <a:endParaRPr lang="en-AU" sz="1400" b="1" kern="1200" dirty="0">
                <a:latin typeface="Helvetica" pitchFamily="34" charset="0"/>
              </a:endParaRPr>
            </a:p>
          </p:txBody>
        </p:sp>
        <p:sp>
          <p:nvSpPr>
            <p:cNvPr id="22" name="Oval 21"/>
            <p:cNvSpPr/>
            <p:nvPr/>
          </p:nvSpPr>
          <p:spPr>
            <a:xfrm>
              <a:off x="834697" y="5022323"/>
              <a:ext cx="716384" cy="716410"/>
            </a:xfrm>
            <a:prstGeom prst="ellipse">
              <a:avLst/>
            </a:prstGeom>
          </p:spPr>
          <p:style>
            <a:lnRef idx="2">
              <a:schemeClr val="lt1">
                <a:hueOff val="0"/>
                <a:satOff val="0"/>
                <a:lumOff val="0"/>
                <a:alphaOff val="0"/>
              </a:schemeClr>
            </a:lnRef>
            <a:fillRef idx="1">
              <a:schemeClr val="accent5">
                <a:tint val="50000"/>
                <a:hueOff val="0"/>
                <a:satOff val="0"/>
                <a:lumOff val="0"/>
                <a:alphaOff val="0"/>
              </a:schemeClr>
            </a:fillRef>
            <a:effectRef idx="0">
              <a:schemeClr val="accent5">
                <a:tint val="50000"/>
                <a:hueOff val="0"/>
                <a:satOff val="0"/>
                <a:lumOff val="0"/>
                <a:alphaOff val="0"/>
              </a:schemeClr>
            </a:effectRef>
            <a:fontRef idx="minor">
              <a:schemeClr val="lt1">
                <a:hueOff val="0"/>
                <a:satOff val="0"/>
                <a:lumOff val="0"/>
                <a:alphaOff val="0"/>
              </a:schemeClr>
            </a:fontRef>
          </p:style>
        </p:sp>
        <p:sp>
          <p:nvSpPr>
            <p:cNvPr id="23" name="Freeform 22"/>
            <p:cNvSpPr/>
            <p:nvPr/>
          </p:nvSpPr>
          <p:spPr>
            <a:xfrm>
              <a:off x="2649724" y="4928576"/>
              <a:ext cx="2700000" cy="414318"/>
            </a:xfrm>
            <a:custGeom>
              <a:avLst/>
              <a:gdLst>
                <a:gd name="connsiteX0" fmla="*/ 0 w 1544932"/>
                <a:gd name="connsiteY0" fmla="*/ 69054 h 414318"/>
                <a:gd name="connsiteX1" fmla="*/ 69054 w 1544932"/>
                <a:gd name="connsiteY1" fmla="*/ 0 h 414318"/>
                <a:gd name="connsiteX2" fmla="*/ 1475878 w 1544932"/>
                <a:gd name="connsiteY2" fmla="*/ 0 h 414318"/>
                <a:gd name="connsiteX3" fmla="*/ 1544932 w 1544932"/>
                <a:gd name="connsiteY3" fmla="*/ 69054 h 414318"/>
                <a:gd name="connsiteX4" fmla="*/ 1544932 w 1544932"/>
                <a:gd name="connsiteY4" fmla="*/ 345264 h 414318"/>
                <a:gd name="connsiteX5" fmla="*/ 1475878 w 1544932"/>
                <a:gd name="connsiteY5" fmla="*/ 414318 h 414318"/>
                <a:gd name="connsiteX6" fmla="*/ 69054 w 1544932"/>
                <a:gd name="connsiteY6" fmla="*/ 414318 h 414318"/>
                <a:gd name="connsiteX7" fmla="*/ 0 w 1544932"/>
                <a:gd name="connsiteY7" fmla="*/ 345264 h 414318"/>
                <a:gd name="connsiteX8" fmla="*/ 0 w 1544932"/>
                <a:gd name="connsiteY8" fmla="*/ 69054 h 414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4932" h="414318">
                  <a:moveTo>
                    <a:pt x="0" y="69054"/>
                  </a:moveTo>
                  <a:cubicBezTo>
                    <a:pt x="0" y="30917"/>
                    <a:pt x="30917" y="0"/>
                    <a:pt x="69054" y="0"/>
                  </a:cubicBezTo>
                  <a:lnTo>
                    <a:pt x="1475878" y="0"/>
                  </a:lnTo>
                  <a:cubicBezTo>
                    <a:pt x="1514015" y="0"/>
                    <a:pt x="1544932" y="30917"/>
                    <a:pt x="1544932" y="69054"/>
                  </a:cubicBezTo>
                  <a:lnTo>
                    <a:pt x="1544932" y="345264"/>
                  </a:lnTo>
                  <a:cubicBezTo>
                    <a:pt x="1544932" y="383401"/>
                    <a:pt x="1514015" y="414318"/>
                    <a:pt x="1475878" y="414318"/>
                  </a:cubicBezTo>
                  <a:lnTo>
                    <a:pt x="69054" y="414318"/>
                  </a:lnTo>
                  <a:cubicBezTo>
                    <a:pt x="30917" y="414318"/>
                    <a:pt x="0" y="383401"/>
                    <a:pt x="0" y="345264"/>
                  </a:cubicBezTo>
                  <a:lnTo>
                    <a:pt x="0" y="69054"/>
                  </a:lnTo>
                  <a:close/>
                </a:path>
              </a:pathLst>
            </a:custGeom>
          </p:spPr>
          <p:style>
            <a:lnRef idx="2">
              <a:schemeClr val="lt1">
                <a:hueOff val="0"/>
                <a:satOff val="0"/>
                <a:lumOff val="0"/>
                <a:alphaOff val="0"/>
              </a:schemeClr>
            </a:lnRef>
            <a:fillRef idx="1">
              <a:schemeClr val="accent5">
                <a:hueOff val="-1032172"/>
                <a:satOff val="10348"/>
                <a:lumOff val="-7190"/>
                <a:alphaOff val="0"/>
              </a:schemeClr>
            </a:fillRef>
            <a:effectRef idx="0">
              <a:schemeClr val="accent5">
                <a:hueOff val="-1032172"/>
                <a:satOff val="10348"/>
                <a:lumOff val="-7190"/>
                <a:alphaOff val="0"/>
              </a:schemeClr>
            </a:effectRef>
            <a:fontRef idx="minor">
              <a:schemeClr val="lt1"/>
            </a:fontRef>
          </p:style>
          <p:txBody>
            <a:bodyPr spcFirstLastPara="0" vert="horz" wrap="square" lIns="347236" tIns="54515" rIns="54515" bIns="54515" numCol="1" spcCol="1270" anchor="ctr" anchorCtr="0">
              <a:noAutofit/>
            </a:bodyPr>
            <a:lstStyle/>
            <a:p>
              <a:pPr lvl="0" algn="l" defTabSz="400050">
                <a:lnSpc>
                  <a:spcPct val="90000"/>
                </a:lnSpc>
                <a:spcBef>
                  <a:spcPct val="0"/>
                </a:spcBef>
                <a:spcAft>
                  <a:spcPct val="35000"/>
                </a:spcAft>
              </a:pPr>
              <a:r>
                <a:rPr lang="en-US" sz="1400" b="1" kern="1200" dirty="0" smtClean="0">
                  <a:latin typeface="Helvetica" pitchFamily="34" charset="0"/>
                </a:rPr>
                <a:t>Communicate destination knowledge</a:t>
              </a:r>
              <a:endParaRPr lang="en-AU" sz="1400" b="1" kern="1200" dirty="0">
                <a:latin typeface="Helvetica" pitchFamily="34" charset="0"/>
              </a:endParaRPr>
            </a:p>
          </p:txBody>
        </p:sp>
        <p:sp>
          <p:nvSpPr>
            <p:cNvPr id="24" name="Oval 23"/>
            <p:cNvSpPr/>
            <p:nvPr/>
          </p:nvSpPr>
          <p:spPr>
            <a:xfrm>
              <a:off x="2221483" y="4522225"/>
              <a:ext cx="716384" cy="716410"/>
            </a:xfrm>
            <a:prstGeom prst="ellipse">
              <a:avLst/>
            </a:prstGeom>
          </p:spPr>
          <p:style>
            <a:lnRef idx="2">
              <a:schemeClr val="lt1">
                <a:hueOff val="0"/>
                <a:satOff val="0"/>
                <a:lumOff val="0"/>
                <a:alphaOff val="0"/>
              </a:schemeClr>
            </a:lnRef>
            <a:fillRef idx="1">
              <a:schemeClr val="accent5">
                <a:tint val="50000"/>
                <a:hueOff val="-1199807"/>
                <a:satOff val="-1038"/>
                <a:lumOff val="-1388"/>
                <a:alphaOff val="0"/>
              </a:schemeClr>
            </a:fillRef>
            <a:effectRef idx="0">
              <a:schemeClr val="accent5">
                <a:tint val="50000"/>
                <a:hueOff val="-1199807"/>
                <a:satOff val="-1038"/>
                <a:lumOff val="-1388"/>
                <a:alphaOff val="0"/>
              </a:schemeClr>
            </a:effectRef>
            <a:fontRef idx="minor">
              <a:schemeClr val="lt1">
                <a:hueOff val="0"/>
                <a:satOff val="0"/>
                <a:lumOff val="0"/>
                <a:alphaOff val="0"/>
              </a:schemeClr>
            </a:fontRef>
          </p:style>
        </p:sp>
        <p:sp>
          <p:nvSpPr>
            <p:cNvPr id="25" name="Freeform 24"/>
            <p:cNvSpPr/>
            <p:nvPr/>
          </p:nvSpPr>
          <p:spPr>
            <a:xfrm>
              <a:off x="3240193" y="4139948"/>
              <a:ext cx="2700000" cy="414318"/>
            </a:xfrm>
            <a:custGeom>
              <a:avLst/>
              <a:gdLst>
                <a:gd name="connsiteX0" fmla="*/ 0 w 1544932"/>
                <a:gd name="connsiteY0" fmla="*/ 69054 h 414318"/>
                <a:gd name="connsiteX1" fmla="*/ 69054 w 1544932"/>
                <a:gd name="connsiteY1" fmla="*/ 0 h 414318"/>
                <a:gd name="connsiteX2" fmla="*/ 1475878 w 1544932"/>
                <a:gd name="connsiteY2" fmla="*/ 0 h 414318"/>
                <a:gd name="connsiteX3" fmla="*/ 1544932 w 1544932"/>
                <a:gd name="connsiteY3" fmla="*/ 69054 h 414318"/>
                <a:gd name="connsiteX4" fmla="*/ 1544932 w 1544932"/>
                <a:gd name="connsiteY4" fmla="*/ 345264 h 414318"/>
                <a:gd name="connsiteX5" fmla="*/ 1475878 w 1544932"/>
                <a:gd name="connsiteY5" fmla="*/ 414318 h 414318"/>
                <a:gd name="connsiteX6" fmla="*/ 69054 w 1544932"/>
                <a:gd name="connsiteY6" fmla="*/ 414318 h 414318"/>
                <a:gd name="connsiteX7" fmla="*/ 0 w 1544932"/>
                <a:gd name="connsiteY7" fmla="*/ 345264 h 414318"/>
                <a:gd name="connsiteX8" fmla="*/ 0 w 1544932"/>
                <a:gd name="connsiteY8" fmla="*/ 69054 h 414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4932" h="414318">
                  <a:moveTo>
                    <a:pt x="0" y="69054"/>
                  </a:moveTo>
                  <a:cubicBezTo>
                    <a:pt x="0" y="30917"/>
                    <a:pt x="30917" y="0"/>
                    <a:pt x="69054" y="0"/>
                  </a:cubicBezTo>
                  <a:lnTo>
                    <a:pt x="1475878" y="0"/>
                  </a:lnTo>
                  <a:cubicBezTo>
                    <a:pt x="1514015" y="0"/>
                    <a:pt x="1544932" y="30917"/>
                    <a:pt x="1544932" y="69054"/>
                  </a:cubicBezTo>
                  <a:lnTo>
                    <a:pt x="1544932" y="345264"/>
                  </a:lnTo>
                  <a:cubicBezTo>
                    <a:pt x="1544932" y="383401"/>
                    <a:pt x="1514015" y="414318"/>
                    <a:pt x="1475878" y="414318"/>
                  </a:cubicBezTo>
                  <a:lnTo>
                    <a:pt x="69054" y="414318"/>
                  </a:lnTo>
                  <a:cubicBezTo>
                    <a:pt x="30917" y="414318"/>
                    <a:pt x="0" y="383401"/>
                    <a:pt x="0" y="345264"/>
                  </a:cubicBezTo>
                  <a:lnTo>
                    <a:pt x="0" y="69054"/>
                  </a:lnTo>
                  <a:close/>
                </a:path>
              </a:pathLst>
            </a:custGeom>
          </p:spPr>
          <p:style>
            <a:lnRef idx="2">
              <a:schemeClr val="lt1">
                <a:hueOff val="0"/>
                <a:satOff val="0"/>
                <a:lumOff val="0"/>
                <a:alphaOff val="0"/>
              </a:schemeClr>
            </a:lnRef>
            <a:fillRef idx="1">
              <a:schemeClr val="accent5">
                <a:hueOff val="-2064345"/>
                <a:satOff val="20696"/>
                <a:lumOff val="-14379"/>
                <a:alphaOff val="0"/>
              </a:schemeClr>
            </a:fillRef>
            <a:effectRef idx="0">
              <a:schemeClr val="accent5">
                <a:hueOff val="-2064345"/>
                <a:satOff val="20696"/>
                <a:lumOff val="-14379"/>
                <a:alphaOff val="0"/>
              </a:schemeClr>
            </a:effectRef>
            <a:fontRef idx="minor">
              <a:schemeClr val="lt1"/>
            </a:fontRef>
          </p:style>
          <p:txBody>
            <a:bodyPr spcFirstLastPara="0" vert="horz" wrap="square" lIns="347236" tIns="54515" rIns="54515" bIns="54515" numCol="1" spcCol="1270" anchor="ctr" anchorCtr="0">
              <a:noAutofit/>
            </a:bodyPr>
            <a:lstStyle/>
            <a:p>
              <a:pPr lvl="0" algn="l" defTabSz="400050">
                <a:lnSpc>
                  <a:spcPct val="90000"/>
                </a:lnSpc>
                <a:spcBef>
                  <a:spcPct val="0"/>
                </a:spcBef>
                <a:spcAft>
                  <a:spcPct val="35000"/>
                </a:spcAft>
              </a:pPr>
              <a:r>
                <a:rPr lang="en-US" sz="1400" b="1" kern="1200" dirty="0" smtClean="0">
                  <a:latin typeface="Helvetica" pitchFamily="34" charset="0"/>
                </a:rPr>
                <a:t>Update destination knowledge</a:t>
              </a:r>
              <a:endParaRPr lang="en-AU" sz="1400" b="1" kern="1200" dirty="0">
                <a:latin typeface="Helvetica" pitchFamily="34" charset="0"/>
              </a:endParaRPr>
            </a:p>
          </p:txBody>
        </p:sp>
        <p:sp>
          <p:nvSpPr>
            <p:cNvPr id="26" name="Oval 25"/>
            <p:cNvSpPr/>
            <p:nvPr/>
          </p:nvSpPr>
          <p:spPr>
            <a:xfrm>
              <a:off x="2811953" y="3733597"/>
              <a:ext cx="716384" cy="716410"/>
            </a:xfrm>
            <a:prstGeom prst="ellipse">
              <a:avLst/>
            </a:prstGeom>
          </p:spPr>
          <p:style>
            <a:lnRef idx="2">
              <a:schemeClr val="lt1">
                <a:hueOff val="0"/>
                <a:satOff val="0"/>
                <a:lumOff val="0"/>
                <a:alphaOff val="0"/>
              </a:schemeClr>
            </a:lnRef>
            <a:fillRef idx="1">
              <a:schemeClr val="accent5">
                <a:tint val="50000"/>
                <a:hueOff val="-2399614"/>
                <a:satOff val="-2076"/>
                <a:lumOff val="-2775"/>
                <a:alphaOff val="0"/>
              </a:schemeClr>
            </a:fillRef>
            <a:effectRef idx="0">
              <a:schemeClr val="accent5">
                <a:tint val="50000"/>
                <a:hueOff val="-2399614"/>
                <a:satOff val="-2076"/>
                <a:lumOff val="-2775"/>
                <a:alphaOff val="0"/>
              </a:schemeClr>
            </a:effectRef>
            <a:fontRef idx="minor">
              <a:schemeClr val="lt1">
                <a:hueOff val="0"/>
                <a:satOff val="0"/>
                <a:lumOff val="0"/>
                <a:alphaOff val="0"/>
              </a:schemeClr>
            </a:fontRef>
          </p:style>
        </p:sp>
        <p:sp>
          <p:nvSpPr>
            <p:cNvPr id="27" name="Freeform 26"/>
            <p:cNvSpPr/>
            <p:nvPr/>
          </p:nvSpPr>
          <p:spPr>
            <a:xfrm>
              <a:off x="3499330" y="3200442"/>
              <a:ext cx="2700000" cy="414318"/>
            </a:xfrm>
            <a:custGeom>
              <a:avLst/>
              <a:gdLst>
                <a:gd name="connsiteX0" fmla="*/ 0 w 1544932"/>
                <a:gd name="connsiteY0" fmla="*/ 69054 h 414318"/>
                <a:gd name="connsiteX1" fmla="*/ 69054 w 1544932"/>
                <a:gd name="connsiteY1" fmla="*/ 0 h 414318"/>
                <a:gd name="connsiteX2" fmla="*/ 1475878 w 1544932"/>
                <a:gd name="connsiteY2" fmla="*/ 0 h 414318"/>
                <a:gd name="connsiteX3" fmla="*/ 1544932 w 1544932"/>
                <a:gd name="connsiteY3" fmla="*/ 69054 h 414318"/>
                <a:gd name="connsiteX4" fmla="*/ 1544932 w 1544932"/>
                <a:gd name="connsiteY4" fmla="*/ 345264 h 414318"/>
                <a:gd name="connsiteX5" fmla="*/ 1475878 w 1544932"/>
                <a:gd name="connsiteY5" fmla="*/ 414318 h 414318"/>
                <a:gd name="connsiteX6" fmla="*/ 69054 w 1544932"/>
                <a:gd name="connsiteY6" fmla="*/ 414318 h 414318"/>
                <a:gd name="connsiteX7" fmla="*/ 0 w 1544932"/>
                <a:gd name="connsiteY7" fmla="*/ 345264 h 414318"/>
                <a:gd name="connsiteX8" fmla="*/ 0 w 1544932"/>
                <a:gd name="connsiteY8" fmla="*/ 69054 h 414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44932" h="414318">
                  <a:moveTo>
                    <a:pt x="0" y="69054"/>
                  </a:moveTo>
                  <a:cubicBezTo>
                    <a:pt x="0" y="30917"/>
                    <a:pt x="30917" y="0"/>
                    <a:pt x="69054" y="0"/>
                  </a:cubicBezTo>
                  <a:lnTo>
                    <a:pt x="1475878" y="0"/>
                  </a:lnTo>
                  <a:cubicBezTo>
                    <a:pt x="1514015" y="0"/>
                    <a:pt x="1544932" y="30917"/>
                    <a:pt x="1544932" y="69054"/>
                  </a:cubicBezTo>
                  <a:lnTo>
                    <a:pt x="1544932" y="345264"/>
                  </a:lnTo>
                  <a:cubicBezTo>
                    <a:pt x="1544932" y="383401"/>
                    <a:pt x="1514015" y="414318"/>
                    <a:pt x="1475878" y="414318"/>
                  </a:cubicBezTo>
                  <a:lnTo>
                    <a:pt x="69054" y="414318"/>
                  </a:lnTo>
                  <a:cubicBezTo>
                    <a:pt x="30917" y="414318"/>
                    <a:pt x="0" y="383401"/>
                    <a:pt x="0" y="345264"/>
                  </a:cubicBezTo>
                  <a:lnTo>
                    <a:pt x="0" y="69054"/>
                  </a:lnTo>
                  <a:close/>
                </a:path>
              </a:pathLst>
            </a:custGeom>
          </p:spPr>
          <p:style>
            <a:lnRef idx="2">
              <a:schemeClr val="lt1">
                <a:hueOff val="0"/>
                <a:satOff val="0"/>
                <a:lumOff val="0"/>
                <a:alphaOff val="0"/>
              </a:schemeClr>
            </a:lnRef>
            <a:fillRef idx="1">
              <a:schemeClr val="accent5">
                <a:hueOff val="-3096517"/>
                <a:satOff val="31044"/>
                <a:lumOff val="-21569"/>
                <a:alphaOff val="0"/>
              </a:schemeClr>
            </a:fillRef>
            <a:effectRef idx="0">
              <a:schemeClr val="accent5">
                <a:hueOff val="-3096517"/>
                <a:satOff val="31044"/>
                <a:lumOff val="-21569"/>
                <a:alphaOff val="0"/>
              </a:schemeClr>
            </a:effectRef>
            <a:fontRef idx="minor">
              <a:schemeClr val="lt1"/>
            </a:fontRef>
          </p:style>
          <p:txBody>
            <a:bodyPr spcFirstLastPara="0" vert="horz" wrap="square" lIns="347236" tIns="54515" rIns="54515" bIns="54515" numCol="1" spcCol="1270" anchor="ctr" anchorCtr="0">
              <a:noAutofit/>
            </a:bodyPr>
            <a:lstStyle/>
            <a:p>
              <a:pPr lvl="0" algn="l" defTabSz="400050">
                <a:lnSpc>
                  <a:spcPct val="90000"/>
                </a:lnSpc>
                <a:spcBef>
                  <a:spcPct val="0"/>
                </a:spcBef>
                <a:spcAft>
                  <a:spcPct val="35000"/>
                </a:spcAft>
              </a:pPr>
              <a:r>
                <a:rPr lang="en-US" sz="1400" b="1" kern="1200" dirty="0" smtClean="0">
                  <a:latin typeface="Helvetica" pitchFamily="34" charset="0"/>
                </a:rPr>
                <a:t>Generate initial destination knowledge</a:t>
              </a:r>
              <a:endParaRPr lang="en-AU" sz="1400" b="1" kern="1200" dirty="0">
                <a:latin typeface="Helvetica" pitchFamily="34" charset="0"/>
              </a:endParaRPr>
            </a:p>
          </p:txBody>
        </p:sp>
        <p:sp>
          <p:nvSpPr>
            <p:cNvPr id="28" name="Oval 27"/>
            <p:cNvSpPr/>
            <p:nvPr/>
          </p:nvSpPr>
          <p:spPr>
            <a:xfrm>
              <a:off x="3071089" y="2794092"/>
              <a:ext cx="716384" cy="716410"/>
            </a:xfrm>
            <a:prstGeom prst="ellipse">
              <a:avLst/>
            </a:prstGeom>
          </p:spPr>
          <p:style>
            <a:lnRef idx="2">
              <a:schemeClr val="lt1">
                <a:hueOff val="0"/>
                <a:satOff val="0"/>
                <a:lumOff val="0"/>
                <a:alphaOff val="0"/>
              </a:schemeClr>
            </a:lnRef>
            <a:fillRef idx="1">
              <a:schemeClr val="accent5">
                <a:tint val="50000"/>
                <a:hueOff val="-3599420"/>
                <a:satOff val="-3114"/>
                <a:lumOff val="-4163"/>
                <a:alphaOff val="0"/>
              </a:schemeClr>
            </a:fillRef>
            <a:effectRef idx="0">
              <a:schemeClr val="accent5">
                <a:tint val="50000"/>
                <a:hueOff val="-3599420"/>
                <a:satOff val="-3114"/>
                <a:lumOff val="-4163"/>
                <a:alphaOff val="0"/>
              </a:schemeClr>
            </a:effectRef>
            <a:fontRef idx="minor">
              <a:schemeClr val="lt1">
                <a:hueOff val="0"/>
                <a:satOff val="0"/>
                <a:lumOff val="0"/>
                <a:alphaOff val="0"/>
              </a:schemeClr>
            </a:fontRef>
          </p:style>
        </p:sp>
      </p:grpSp>
      <p:sp>
        <p:nvSpPr>
          <p:cNvPr id="29" name="TextBox 28"/>
          <p:cNvSpPr txBox="1"/>
          <p:nvPr/>
        </p:nvSpPr>
        <p:spPr>
          <a:xfrm>
            <a:off x="2915816" y="2469751"/>
            <a:ext cx="504056" cy="307777"/>
          </a:xfrm>
          <a:prstGeom prst="rect">
            <a:avLst/>
          </a:prstGeom>
          <a:noFill/>
        </p:spPr>
        <p:txBody>
          <a:bodyPr wrap="square" rtlCol="0">
            <a:spAutoFit/>
          </a:bodyPr>
          <a:lstStyle/>
          <a:p>
            <a:pPr algn="ctr"/>
            <a:r>
              <a:rPr lang="en-AU" sz="1400" b="1" dirty="0" smtClean="0">
                <a:latin typeface="Helvetica" pitchFamily="34" charset="0"/>
              </a:rPr>
              <a:t>1</a:t>
            </a:r>
            <a:endParaRPr lang="en-AU" sz="1400" b="1" dirty="0">
              <a:latin typeface="Helvetica" pitchFamily="34" charset="0"/>
            </a:endParaRPr>
          </a:p>
        </p:txBody>
      </p:sp>
      <p:sp>
        <p:nvSpPr>
          <p:cNvPr id="30" name="TextBox 29"/>
          <p:cNvSpPr txBox="1"/>
          <p:nvPr/>
        </p:nvSpPr>
        <p:spPr>
          <a:xfrm>
            <a:off x="2674359" y="3409256"/>
            <a:ext cx="504056" cy="307777"/>
          </a:xfrm>
          <a:prstGeom prst="rect">
            <a:avLst/>
          </a:prstGeom>
          <a:noFill/>
        </p:spPr>
        <p:txBody>
          <a:bodyPr wrap="square" rtlCol="0">
            <a:spAutoFit/>
          </a:bodyPr>
          <a:lstStyle/>
          <a:p>
            <a:pPr algn="ctr"/>
            <a:r>
              <a:rPr lang="en-AU" sz="1400" b="1" dirty="0" smtClean="0">
                <a:latin typeface="Helvetica" pitchFamily="34" charset="0"/>
              </a:rPr>
              <a:t>2</a:t>
            </a:r>
            <a:endParaRPr lang="en-AU" sz="1400" b="1" dirty="0">
              <a:latin typeface="Helvetica" pitchFamily="34" charset="0"/>
            </a:endParaRPr>
          </a:p>
        </p:txBody>
      </p:sp>
      <p:sp>
        <p:nvSpPr>
          <p:cNvPr id="31" name="TextBox 30"/>
          <p:cNvSpPr txBox="1"/>
          <p:nvPr/>
        </p:nvSpPr>
        <p:spPr>
          <a:xfrm>
            <a:off x="2051720" y="4197884"/>
            <a:ext cx="504056" cy="307777"/>
          </a:xfrm>
          <a:prstGeom prst="rect">
            <a:avLst/>
          </a:prstGeom>
          <a:noFill/>
        </p:spPr>
        <p:txBody>
          <a:bodyPr wrap="square" rtlCol="0">
            <a:spAutoFit/>
          </a:bodyPr>
          <a:lstStyle/>
          <a:p>
            <a:pPr algn="ctr"/>
            <a:r>
              <a:rPr lang="en-AU" sz="1400" b="1" dirty="0" smtClean="0">
                <a:latin typeface="Helvetica" pitchFamily="34" charset="0"/>
              </a:rPr>
              <a:t>3</a:t>
            </a:r>
            <a:endParaRPr lang="en-AU" sz="1400" b="1" dirty="0">
              <a:latin typeface="Helvetica" pitchFamily="34" charset="0"/>
            </a:endParaRPr>
          </a:p>
        </p:txBody>
      </p:sp>
      <p:sp>
        <p:nvSpPr>
          <p:cNvPr id="32" name="TextBox 31"/>
          <p:cNvSpPr txBox="1"/>
          <p:nvPr/>
        </p:nvSpPr>
        <p:spPr>
          <a:xfrm>
            <a:off x="681683" y="4715835"/>
            <a:ext cx="504056" cy="307777"/>
          </a:xfrm>
          <a:prstGeom prst="rect">
            <a:avLst/>
          </a:prstGeom>
          <a:noFill/>
        </p:spPr>
        <p:txBody>
          <a:bodyPr wrap="square" rtlCol="0">
            <a:spAutoFit/>
          </a:bodyPr>
          <a:lstStyle/>
          <a:p>
            <a:pPr algn="ctr"/>
            <a:r>
              <a:rPr lang="en-AU" sz="1400" b="1" dirty="0" smtClean="0">
                <a:latin typeface="Helvetica" pitchFamily="34" charset="0"/>
              </a:rPr>
              <a:t>4</a:t>
            </a:r>
            <a:endParaRPr lang="en-AU" sz="1400" b="1" dirty="0">
              <a:latin typeface="Helvetica"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4381947"/>
          </a:xfrm>
        </p:spPr>
        <p:txBody>
          <a:bodyPr>
            <a:normAutofit/>
          </a:bodyPr>
          <a:lstStyle/>
          <a:p>
            <a:pPr marL="0" indent="0">
              <a:spcBef>
                <a:spcPts val="600"/>
              </a:spcBef>
              <a:spcAft>
                <a:spcPts val="1200"/>
              </a:spcAft>
              <a:buNone/>
            </a:pPr>
            <a:r>
              <a:rPr lang="en-AU" sz="2200" dirty="0" smtClean="0">
                <a:latin typeface="Helvetica" pitchFamily="34" charset="0"/>
              </a:rPr>
              <a:t>Assessment for this unit may include:</a:t>
            </a:r>
          </a:p>
          <a:p>
            <a:pPr marL="360000" indent="-360000">
              <a:spcBef>
                <a:spcPts val="600"/>
              </a:spcBef>
              <a:spcAft>
                <a:spcPts val="1200"/>
              </a:spcAft>
            </a:pPr>
            <a:r>
              <a:rPr lang="en-AU" sz="2200" dirty="0" smtClean="0">
                <a:latin typeface="Helvetica" pitchFamily="34" charset="0"/>
              </a:rPr>
              <a:t>Oral questions</a:t>
            </a:r>
          </a:p>
          <a:p>
            <a:pPr marL="360000" indent="-360000">
              <a:spcBef>
                <a:spcPts val="600"/>
              </a:spcBef>
              <a:spcAft>
                <a:spcPts val="1200"/>
              </a:spcAft>
            </a:pPr>
            <a:r>
              <a:rPr lang="en-AU" sz="2200" dirty="0" smtClean="0">
                <a:latin typeface="Helvetica" pitchFamily="34" charset="0"/>
              </a:rPr>
              <a:t>Written questions</a:t>
            </a:r>
          </a:p>
          <a:p>
            <a:pPr marL="360000" indent="-360000">
              <a:spcBef>
                <a:spcPts val="600"/>
              </a:spcBef>
              <a:spcAft>
                <a:spcPts val="1200"/>
              </a:spcAft>
            </a:pPr>
            <a:r>
              <a:rPr lang="en-AU" sz="2200" dirty="0" smtClean="0">
                <a:latin typeface="Helvetica" pitchFamily="34" charset="0"/>
              </a:rPr>
              <a:t>Work projects</a:t>
            </a:r>
          </a:p>
          <a:p>
            <a:pPr marL="360000" indent="-360000">
              <a:spcBef>
                <a:spcPts val="600"/>
              </a:spcBef>
              <a:spcAft>
                <a:spcPts val="1200"/>
              </a:spcAft>
            </a:pPr>
            <a:r>
              <a:rPr lang="en-AU" sz="2200" dirty="0" smtClean="0">
                <a:latin typeface="Helvetica" pitchFamily="34" charset="0"/>
              </a:rPr>
              <a:t>Workplace observation of practical skills</a:t>
            </a:r>
          </a:p>
          <a:p>
            <a:pPr marL="360000" indent="-360000">
              <a:spcBef>
                <a:spcPts val="600"/>
              </a:spcBef>
              <a:spcAft>
                <a:spcPts val="1200"/>
              </a:spcAft>
            </a:pPr>
            <a:r>
              <a:rPr lang="en-AU" sz="2200" dirty="0" smtClean="0">
                <a:latin typeface="Helvetica" pitchFamily="34" charset="0"/>
              </a:rPr>
              <a:t>Practical exercises</a:t>
            </a:r>
          </a:p>
          <a:p>
            <a:pPr marL="360000" indent="-360000">
              <a:spcBef>
                <a:spcPts val="600"/>
              </a:spcBef>
              <a:spcAft>
                <a:spcPts val="1200"/>
              </a:spcAft>
            </a:pPr>
            <a:r>
              <a:rPr lang="en-AU" sz="2200" dirty="0" smtClean="0">
                <a:latin typeface="Helvetica" pitchFamily="34" charset="0"/>
              </a:rPr>
              <a:t>Formal report from supervisor</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a:t>
            </a:fld>
            <a:endParaRPr lang="en-US" dirty="0">
              <a:latin typeface="Helvetica" pitchFamily="34" charset="0"/>
            </a:endParaRPr>
          </a:p>
        </p:txBody>
      </p:sp>
      <p:pic>
        <p:nvPicPr>
          <p:cNvPr id="5" name="Picture 4" descr="shutterstock_80169094.jpg"/>
          <p:cNvPicPr>
            <a:picLocks noChangeAspect="1"/>
          </p:cNvPicPr>
          <p:nvPr/>
        </p:nvPicPr>
        <p:blipFill>
          <a:blip r:embed="rId3" cstate="print"/>
          <a:stretch>
            <a:fillRect/>
          </a:stretch>
        </p:blipFill>
        <p:spPr>
          <a:xfrm>
            <a:off x="5575775" y="1890900"/>
            <a:ext cx="2367976" cy="1584176"/>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268760"/>
            <a:ext cx="7237040" cy="4968552"/>
          </a:xfrm>
        </p:spPr>
        <p:txBody>
          <a:bodyPr>
            <a:normAutofit/>
          </a:bodyPr>
          <a:lstStyle/>
          <a:p>
            <a:pPr marL="0">
              <a:buNone/>
            </a:pPr>
            <a:r>
              <a:rPr lang="en-AU" sz="4000" b="1" dirty="0" smtClean="0">
                <a:solidFill>
                  <a:srgbClr val="FF6600"/>
                </a:solidFill>
                <a:latin typeface="Helvetica" pitchFamily="34" charset="0"/>
              </a:rPr>
              <a:t>Element 1:</a:t>
            </a:r>
          </a:p>
          <a:p>
            <a:pPr marL="0">
              <a:buNone/>
            </a:pPr>
            <a:r>
              <a:rPr lang="en-US" sz="4000" b="1" i="1" dirty="0">
                <a:solidFill>
                  <a:srgbClr val="FF6600"/>
                </a:solidFill>
                <a:latin typeface="Helvetica" pitchFamily="34" charset="0"/>
              </a:rPr>
              <a:t>Generate initial destination knowledge</a:t>
            </a:r>
            <a:endParaRPr lang="en-AU" sz="4000" b="1" i="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5" name="Picture 4" descr="Generic_Globe with lots of faces_110905763.jpg"/>
          <p:cNvPicPr>
            <a:picLocks noChangeAspect="1"/>
          </p:cNvPicPr>
          <p:nvPr/>
        </p:nvPicPr>
        <p:blipFill>
          <a:blip r:embed="rId3" cstate="print"/>
          <a:stretch>
            <a:fillRect/>
          </a:stretch>
        </p:blipFill>
        <p:spPr>
          <a:xfrm>
            <a:off x="2267744" y="3789040"/>
            <a:ext cx="3130783" cy="2016224"/>
          </a:xfrm>
          <a:prstGeom prst="ellipse">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400" b="1" dirty="0" smtClean="0">
                <a:solidFill>
                  <a:srgbClr val="FF6600"/>
                </a:solidFill>
                <a:latin typeface="Helvetica" pitchFamily="34" charset="0"/>
              </a:rPr>
              <a:t>Generate initial destination knowledge</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525963"/>
          </a:xfrm>
        </p:spPr>
        <p:txBody>
          <a:bodyPr>
            <a:normAutofit/>
          </a:bodyPr>
          <a:lstStyle/>
          <a:p>
            <a:pPr marL="0" indent="0">
              <a:spcBef>
                <a:spcPts val="600"/>
              </a:spcBef>
              <a:spcAft>
                <a:spcPts val="1200"/>
              </a:spcAft>
              <a:buNone/>
            </a:pPr>
            <a:r>
              <a:rPr lang="en-AU" sz="2000" dirty="0" smtClean="0">
                <a:latin typeface="Helvetica" pitchFamily="34" charset="0"/>
              </a:rPr>
              <a:t>Performance Criteria for this Element are: </a:t>
            </a:r>
          </a:p>
          <a:p>
            <a:pPr>
              <a:spcBef>
                <a:spcPts val="600"/>
              </a:spcBef>
              <a:spcAft>
                <a:spcPts val="1200"/>
              </a:spcAft>
            </a:pPr>
            <a:r>
              <a:rPr lang="en-US" sz="2000" dirty="0" smtClean="0">
                <a:latin typeface="Helvetica" pitchFamily="34" charset="0"/>
              </a:rPr>
              <a:t>Identify </a:t>
            </a:r>
            <a:r>
              <a:rPr lang="en-AU" sz="2000" dirty="0" smtClean="0">
                <a:latin typeface="Helvetica" pitchFamily="34" charset="0"/>
              </a:rPr>
              <a:t>sources</a:t>
            </a:r>
            <a:r>
              <a:rPr lang="en-US" sz="2000" dirty="0" smtClean="0">
                <a:latin typeface="Helvetica" pitchFamily="34" charset="0"/>
              </a:rPr>
              <a:t> of destination information</a:t>
            </a:r>
          </a:p>
          <a:p>
            <a:pPr>
              <a:spcBef>
                <a:spcPts val="600"/>
              </a:spcBef>
              <a:spcAft>
                <a:spcPts val="1200"/>
              </a:spcAft>
            </a:pPr>
            <a:r>
              <a:rPr lang="en-US" sz="2000" dirty="0" smtClean="0">
                <a:latin typeface="Helvetica" pitchFamily="34" charset="0"/>
              </a:rPr>
              <a:t>Describe </a:t>
            </a:r>
            <a:r>
              <a:rPr lang="en-AU" sz="2000" dirty="0" smtClean="0">
                <a:latin typeface="Helvetica" pitchFamily="34" charset="0"/>
              </a:rPr>
              <a:t>criteria for capturing destination information</a:t>
            </a:r>
            <a:endParaRPr lang="en-US" sz="2000" dirty="0" smtClean="0">
              <a:latin typeface="Helvetica" pitchFamily="34" charset="0"/>
            </a:endParaRPr>
          </a:p>
          <a:p>
            <a:pPr>
              <a:spcBef>
                <a:spcPts val="600"/>
              </a:spcBef>
              <a:spcAft>
                <a:spcPts val="1200"/>
              </a:spcAft>
            </a:pPr>
            <a:r>
              <a:rPr lang="en-AU" sz="2000" dirty="0" smtClean="0">
                <a:latin typeface="Helvetica" pitchFamily="34" charset="0"/>
              </a:rPr>
              <a:t>Identify client needs relating to destination information</a:t>
            </a:r>
            <a:r>
              <a:rPr lang="en-US" sz="2000" dirty="0" smtClean="0">
                <a:latin typeface="Helvetica" pitchFamily="34" charset="0"/>
              </a:rPr>
              <a:t> that may be required</a:t>
            </a:r>
          </a:p>
          <a:p>
            <a:pPr>
              <a:spcBef>
                <a:spcPts val="600"/>
              </a:spcBef>
              <a:spcAft>
                <a:spcPts val="1200"/>
              </a:spcAft>
            </a:pPr>
            <a:r>
              <a:rPr lang="en-AU" sz="2000" dirty="0" smtClean="0">
                <a:latin typeface="Helvetica" pitchFamily="34" charset="0"/>
              </a:rPr>
              <a:t>Research</a:t>
            </a:r>
            <a:r>
              <a:rPr lang="en-US" sz="2000" dirty="0" smtClean="0">
                <a:latin typeface="Helvetica" pitchFamily="34" charset="0"/>
              </a:rPr>
              <a:t> destination information</a:t>
            </a:r>
          </a:p>
          <a:p>
            <a:pPr>
              <a:spcBef>
                <a:spcPts val="600"/>
              </a:spcBef>
              <a:spcAft>
                <a:spcPts val="1200"/>
              </a:spcAft>
            </a:pPr>
            <a:r>
              <a:rPr lang="en-US" sz="2000" dirty="0" smtClean="0">
                <a:latin typeface="Helvetica" pitchFamily="34" charset="0"/>
              </a:rPr>
              <a:t>Capture and </a:t>
            </a:r>
            <a:r>
              <a:rPr lang="en-AU" sz="2000" dirty="0" smtClean="0">
                <a:latin typeface="Helvetica" pitchFamily="34" charset="0"/>
              </a:rPr>
              <a:t>record and classify</a:t>
            </a:r>
            <a:r>
              <a:rPr lang="en-US" sz="2000" dirty="0" smtClean="0">
                <a:latin typeface="Helvetica" pitchFamily="34" charset="0"/>
              </a:rPr>
              <a:t> destination                           and </a:t>
            </a:r>
            <a:r>
              <a:rPr lang="en-AU" sz="2000" dirty="0" smtClean="0">
                <a:latin typeface="Helvetica" pitchFamily="34" charset="0"/>
              </a:rPr>
              <a:t>general product information</a:t>
            </a:r>
            <a:endParaRPr lang="en-US" sz="2000"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5" name="Picture 4" descr="Lady looking at map_148488614.jpg"/>
          <p:cNvPicPr>
            <a:picLocks noChangeAspect="1"/>
          </p:cNvPicPr>
          <p:nvPr/>
        </p:nvPicPr>
        <p:blipFill>
          <a:blip r:embed="rId3" cstate="print"/>
          <a:stretch>
            <a:fillRect/>
          </a:stretch>
        </p:blipFill>
        <p:spPr>
          <a:xfrm>
            <a:off x="6964213" y="3717032"/>
            <a:ext cx="1515231" cy="182558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Importance of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453955"/>
          </a:xfrm>
        </p:spPr>
        <p:txBody>
          <a:bodyPr>
            <a:normAutofit/>
          </a:bodyPr>
          <a:lstStyle/>
          <a:p>
            <a:pPr marL="0">
              <a:spcBef>
                <a:spcPts val="600"/>
              </a:spcBef>
              <a:spcAft>
                <a:spcPts val="1200"/>
              </a:spcAft>
              <a:buNone/>
            </a:pPr>
            <a:r>
              <a:rPr lang="en-AU" sz="2200" dirty="0" smtClean="0">
                <a:latin typeface="Helvetica" pitchFamily="34" charset="0"/>
              </a:rPr>
              <a:t>The tourism industry is one of the largest industries in the world and for many countries is its major economy and employer. </a:t>
            </a:r>
          </a:p>
          <a:p>
            <a:pPr marL="0">
              <a:spcBef>
                <a:spcPts val="600"/>
              </a:spcBef>
              <a:spcAft>
                <a:spcPts val="1200"/>
              </a:spcAft>
              <a:buNone/>
            </a:pPr>
            <a:r>
              <a:rPr lang="en-AU" sz="2200" dirty="0" smtClean="0">
                <a:latin typeface="Helvetica" pitchFamily="34" charset="0"/>
              </a:rPr>
              <a:t>Destination knowledge is a vital pre-requisite </a:t>
            </a:r>
            <a:br>
              <a:rPr lang="en-AU" sz="2200" dirty="0" smtClean="0">
                <a:latin typeface="Helvetica" pitchFamily="34" charset="0"/>
              </a:rPr>
            </a:br>
            <a:r>
              <a:rPr lang="en-AU" sz="2200" dirty="0" smtClean="0">
                <a:latin typeface="Helvetica" pitchFamily="34" charset="0"/>
              </a:rPr>
              <a:t>for effective performance within the industry.</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a:t>
            </a:fld>
            <a:endParaRPr lang="en-US" dirty="0"/>
          </a:p>
        </p:txBody>
      </p:sp>
      <p:pic>
        <p:nvPicPr>
          <p:cNvPr id="7" name="Picture 6" descr="shutterstock_88003519.jpg"/>
          <p:cNvPicPr/>
          <p:nvPr/>
        </p:nvPicPr>
        <p:blipFill>
          <a:blip r:embed="rId3" cstate="print"/>
          <a:stretch>
            <a:fillRect/>
          </a:stretch>
        </p:blipFill>
        <p:spPr>
          <a:xfrm>
            <a:off x="6732240" y="2636912"/>
            <a:ext cx="1531417" cy="216024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1200"/>
              </a:spcAft>
              <a:buNone/>
            </a:pPr>
            <a:r>
              <a:rPr lang="en-AU" sz="2200" dirty="0" smtClean="0">
                <a:latin typeface="Helvetica" pitchFamily="34" charset="0"/>
              </a:rPr>
              <a:t>The idea of obtaining knowledge is so that you can use it for: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Your benefit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 benefit of the venue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 ultimate benefit of the customers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7" name="Picture 6" descr="shutterstock_181388396.jpg"/>
          <p:cNvPicPr>
            <a:picLocks noChangeAspect="1"/>
          </p:cNvPicPr>
          <p:nvPr/>
        </p:nvPicPr>
        <p:blipFill>
          <a:blip r:embed="rId3" cstate="print"/>
          <a:stretch>
            <a:fillRect/>
          </a:stretch>
        </p:blipFill>
        <p:spPr>
          <a:xfrm>
            <a:off x="5899312" y="4077072"/>
            <a:ext cx="2460104" cy="1643349"/>
          </a:xfrm>
          <a:prstGeom prst="rect">
            <a:avLst/>
          </a:prstGeom>
        </p:spPr>
      </p:pic>
      <p:sp>
        <p:nvSpPr>
          <p:cNvPr id="8" name="Title 1"/>
          <p:cNvSpPr>
            <a:spLocks noGrp="1"/>
          </p:cNvSpPr>
          <p:nvPr>
            <p:ph type="title"/>
          </p:nvPr>
        </p:nvSpPr>
        <p:spPr>
          <a:xfrm>
            <a:off x="611560" y="332656"/>
            <a:ext cx="8136904" cy="1143000"/>
          </a:xfrm>
        </p:spPr>
        <p:txBody>
          <a:bodyPr>
            <a:normAutofit/>
          </a:bodyPr>
          <a:lstStyle/>
          <a:p>
            <a:r>
              <a:rPr lang="en-AU" sz="3400" b="1" dirty="0" smtClean="0">
                <a:solidFill>
                  <a:srgbClr val="FF6600"/>
                </a:solidFill>
                <a:latin typeface="Helvetica" pitchFamily="34" charset="0"/>
              </a:rPr>
              <a:t>Importance of destination information</a:t>
            </a:r>
            <a:endParaRPr lang="en-US" sz="3400" b="1" dirty="0">
              <a:solidFill>
                <a:srgbClr val="FF6600"/>
              </a:solidFill>
              <a:latin typeface="Helvetica"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Sources of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US" sz="2200" b="1" dirty="0" smtClean="0">
                <a:latin typeface="Helvetica" pitchFamily="34" charset="0"/>
              </a:rPr>
              <a:t>Identify </a:t>
            </a:r>
            <a:r>
              <a:rPr lang="en-AU" sz="2200" b="1" dirty="0" smtClean="0">
                <a:latin typeface="Helvetica" pitchFamily="34" charset="0"/>
              </a:rPr>
              <a:t>potential sources of destination information</a:t>
            </a:r>
          </a:p>
          <a:p>
            <a:pPr marL="0">
              <a:spcBef>
                <a:spcPts val="600"/>
              </a:spcBef>
              <a:spcAft>
                <a:spcPts val="1200"/>
              </a:spcAft>
              <a:buNone/>
            </a:pPr>
            <a:r>
              <a:rPr lang="en-AU" sz="2200" dirty="0" smtClean="0">
                <a:latin typeface="Helvetica" pitchFamily="34" charset="0"/>
              </a:rPr>
              <a:t>There are endless sources of destination information that can be collected, analysed and used by a travel and tourism organisation for the benefit of the organisation itself or to assist customers with potential travel plans.</a:t>
            </a:r>
            <a:endParaRPr lang="en-US" sz="2200" dirty="0" smtClean="0">
              <a:latin typeface="Helvetica" pitchFamily="34" charset="0"/>
            </a:endParaRPr>
          </a:p>
          <a:p>
            <a:pPr>
              <a:spcBef>
                <a:spcPts val="600"/>
              </a:spcBef>
              <a:spcAft>
                <a:spcPts val="1200"/>
              </a:spcAft>
              <a:buNone/>
            </a:pPr>
            <a:endParaRPr lang="en-AU" sz="2200" dirty="0" smtClean="0">
              <a:latin typeface="Helvetica" pitchFamily="34" charset="0"/>
            </a:endParaRP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7" name="Picture 6" descr="A18 shutterstock_181389116.jpg"/>
          <p:cNvPicPr/>
          <p:nvPr/>
        </p:nvPicPr>
        <p:blipFill>
          <a:blip r:embed="rId3" cstate="print"/>
          <a:stretch>
            <a:fillRect/>
          </a:stretch>
        </p:blipFill>
        <p:spPr>
          <a:xfrm>
            <a:off x="2915816" y="3861048"/>
            <a:ext cx="1860029" cy="2173213"/>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Sources of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US" sz="2000" b="1" dirty="0" smtClean="0">
                <a:latin typeface="Helvetica" pitchFamily="34" charset="0"/>
              </a:rPr>
              <a:t>Identify travel and tourism businesses</a:t>
            </a:r>
            <a:endParaRPr lang="en-AU" sz="2000" dirty="0" smtClean="0">
              <a:latin typeface="Helvetica" pitchFamily="34" charset="0"/>
            </a:endParaRPr>
          </a:p>
          <a:p>
            <a:pPr marL="0">
              <a:spcBef>
                <a:spcPts val="600"/>
              </a:spcBef>
              <a:spcAft>
                <a:spcPts val="1200"/>
              </a:spcAft>
              <a:buNone/>
            </a:pPr>
            <a:r>
              <a:rPr lang="en-AU" sz="2000" dirty="0" smtClean="0">
                <a:latin typeface="Helvetica" pitchFamily="34" charset="0"/>
              </a:rPr>
              <a:t>When compiling destination information for your 'product knowledge' data bases, it is essential to identify the different types of businesses which your potential customers may use.</a:t>
            </a:r>
          </a:p>
          <a:p>
            <a:pPr>
              <a:spcBef>
                <a:spcPts val="600"/>
              </a:spcBef>
              <a:spcAft>
                <a:spcPts val="1200"/>
              </a:spcAft>
            </a:pPr>
            <a:r>
              <a:rPr lang="en-AU" sz="2000" dirty="0" smtClean="0">
                <a:latin typeface="Helvetica" pitchFamily="34" charset="0"/>
              </a:rPr>
              <a:t>What types of businesses do you seek </a:t>
            </a:r>
            <a:br>
              <a:rPr lang="en-AU" sz="2000" dirty="0" smtClean="0">
                <a:latin typeface="Helvetica" pitchFamily="34" charset="0"/>
              </a:rPr>
            </a:br>
            <a:r>
              <a:rPr lang="en-AU" sz="2000" dirty="0" smtClean="0">
                <a:latin typeface="Helvetica" pitchFamily="34" charset="0"/>
              </a:rPr>
              <a:t>product information from?</a:t>
            </a:r>
            <a:endParaRPr lang="en-US" sz="2000" dirty="0" smtClean="0">
              <a:latin typeface="Helvetica" pitchFamily="34" charset="0"/>
            </a:endParaRPr>
          </a:p>
          <a:p>
            <a:pPr>
              <a:buNone/>
            </a:pPr>
            <a:r>
              <a:rPr lang="en-AU" sz="2000" dirty="0" smtClean="0"/>
              <a:t/>
            </a:r>
            <a:br>
              <a:rPr lang="en-AU" sz="2000" dirty="0" smtClean="0"/>
            </a:br>
            <a:r>
              <a:rPr lang="en-AU" sz="2000" b="1" dirty="0" smtClean="0"/>
              <a:t> </a:t>
            </a:r>
            <a:endParaRPr lang="en-AU" sz="2000" dirty="0" smtClean="0"/>
          </a:p>
          <a:p>
            <a:pPr>
              <a:spcBef>
                <a:spcPts val="600"/>
              </a:spcBef>
              <a:spcAft>
                <a:spcPts val="1200"/>
              </a:spcAft>
            </a:pPr>
            <a:endParaRPr lang="en-AU" sz="2000" dirty="0" smtClean="0">
              <a:latin typeface="Helvetica" pitchFamily="34" charset="0"/>
            </a:endParaRPr>
          </a:p>
          <a:p>
            <a:pPr>
              <a:buNone/>
            </a:pPr>
            <a:endParaRPr lang="en-AU"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6" name="Picture 5" descr="Lady_plan_world_train_96530158.jpg"/>
          <p:cNvPicPr/>
          <p:nvPr/>
        </p:nvPicPr>
        <p:blipFill>
          <a:blip r:embed="rId3" cstate="print"/>
          <a:stretch>
            <a:fillRect/>
          </a:stretch>
        </p:blipFill>
        <p:spPr>
          <a:xfrm>
            <a:off x="6084168" y="3645024"/>
            <a:ext cx="2320523" cy="1762299"/>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Sources of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lnSpcReduction="10000"/>
          </a:bodyPr>
          <a:lstStyle/>
          <a:p>
            <a:pPr>
              <a:spcBef>
                <a:spcPts val="600"/>
              </a:spcBef>
              <a:spcAft>
                <a:spcPts val="1200"/>
              </a:spcAft>
              <a:buNone/>
            </a:pPr>
            <a:r>
              <a:rPr lang="en-US" sz="2200" b="1" dirty="0" smtClean="0">
                <a:latin typeface="Helvetica" pitchFamily="34" charset="0"/>
              </a:rPr>
              <a:t>Transportation</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Airlines</a:t>
            </a:r>
          </a:p>
          <a:p>
            <a:pPr lvl="0">
              <a:spcBef>
                <a:spcPts val="600"/>
              </a:spcBef>
              <a:spcAft>
                <a:spcPts val="1200"/>
              </a:spcAft>
            </a:pPr>
            <a:r>
              <a:rPr lang="en-AU" sz="2200" dirty="0" smtClean="0">
                <a:latin typeface="Helvetica" pitchFamily="34" charset="0"/>
              </a:rPr>
              <a:t>Cruise operators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Railway operators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Bus lines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Car rental businesses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Limousine hire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Taxis</a:t>
            </a:r>
            <a:endParaRPr lang="en-US" sz="2200" dirty="0" smtClean="0">
              <a:latin typeface="Helvetica" pitchFamily="34" charset="0"/>
            </a:endParaRPr>
          </a:p>
          <a:p>
            <a:pPr>
              <a:buNone/>
            </a:pPr>
            <a:r>
              <a:rPr lang="en-AU" sz="2400" dirty="0" smtClean="0"/>
              <a:t/>
            </a:r>
            <a:br>
              <a:rPr lang="en-AU" sz="2400" dirty="0" smtClean="0"/>
            </a:br>
            <a:r>
              <a:rPr lang="en-AU" sz="2400" b="1" dirty="0" smtClean="0"/>
              <a:t> </a:t>
            </a:r>
            <a:endParaRPr lang="en-AU" sz="2400" dirty="0" smtClean="0"/>
          </a:p>
          <a:p>
            <a:pPr>
              <a:spcBef>
                <a:spcPts val="600"/>
              </a:spcBef>
              <a:spcAft>
                <a:spcPts val="1200"/>
              </a:spcAft>
            </a:pPr>
            <a:endParaRPr lang="en-AU" sz="2200" dirty="0" smtClean="0">
              <a:latin typeface="Helvetica" pitchFamily="34" charset="0"/>
            </a:endParaRPr>
          </a:p>
          <a:p>
            <a:pPr>
              <a:buNone/>
            </a:pPr>
            <a:endParaRPr lang="en-AU" sz="2400" dirty="0" smtClean="0"/>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7" name="Picture 6" descr="Globe Lugg Plan Boat Bus in red pink colour_85552621.jpg"/>
          <p:cNvPicPr/>
          <p:nvPr/>
        </p:nvPicPr>
        <p:blipFill>
          <a:blip r:embed="rId3" cstate="print"/>
          <a:stretch>
            <a:fillRect/>
          </a:stretch>
        </p:blipFill>
        <p:spPr>
          <a:xfrm>
            <a:off x="4572000" y="2780928"/>
            <a:ext cx="2592288" cy="1656184"/>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Sources of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marL="0">
              <a:spcBef>
                <a:spcPts val="600"/>
              </a:spcBef>
              <a:spcAft>
                <a:spcPts val="1200"/>
              </a:spcAft>
              <a:buNone/>
            </a:pPr>
            <a:r>
              <a:rPr lang="en-AU" sz="2000" b="1" dirty="0" smtClean="0">
                <a:latin typeface="Helvetica" pitchFamily="34" charset="0"/>
              </a:rPr>
              <a:t>Suppliers and providers of support and ancillary services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Travel insurance providers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Finance providers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Currency exchange</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Conference and similar venues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Interpreters</a:t>
            </a:r>
            <a:endParaRPr lang="en-US" sz="2000" dirty="0" smtClean="0">
              <a:latin typeface="Helvetica" pitchFamily="34" charset="0"/>
            </a:endParaRPr>
          </a:p>
          <a:p>
            <a:pPr>
              <a:buNone/>
            </a:pPr>
            <a:r>
              <a:rPr lang="en-AU" sz="2000" dirty="0" smtClean="0"/>
              <a:t/>
            </a:r>
            <a:br>
              <a:rPr lang="en-AU" sz="2000" dirty="0" smtClean="0"/>
            </a:br>
            <a:r>
              <a:rPr lang="en-AU" sz="2000" b="1" dirty="0" smtClean="0"/>
              <a:t> </a:t>
            </a:r>
            <a:endParaRPr lang="en-AU" sz="2000" dirty="0" smtClean="0"/>
          </a:p>
          <a:p>
            <a:pPr>
              <a:spcBef>
                <a:spcPts val="600"/>
              </a:spcBef>
              <a:spcAft>
                <a:spcPts val="1200"/>
              </a:spcAft>
            </a:pPr>
            <a:endParaRPr lang="en-AU" sz="2000" dirty="0" smtClean="0">
              <a:latin typeface="Helvetica" pitchFamily="34" charset="0"/>
            </a:endParaRPr>
          </a:p>
          <a:p>
            <a:pPr>
              <a:buNone/>
            </a:pPr>
            <a:endParaRPr lang="en-AU"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6" name="Picture 5" descr="shutterstock_156185711.jpg"/>
          <p:cNvPicPr/>
          <p:nvPr/>
        </p:nvPicPr>
        <p:blipFill>
          <a:blip r:embed="rId3" cstate="print"/>
          <a:stretch>
            <a:fillRect/>
          </a:stretch>
        </p:blipFill>
        <p:spPr>
          <a:xfrm>
            <a:off x="6041658" y="4149080"/>
            <a:ext cx="2377430" cy="146494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Sources of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84784"/>
            <a:ext cx="7776864" cy="5301208"/>
          </a:xfrm>
        </p:spPr>
        <p:txBody>
          <a:bodyPr>
            <a:normAutofit/>
          </a:bodyPr>
          <a:lstStyle/>
          <a:p>
            <a:pPr>
              <a:spcBef>
                <a:spcPts val="600"/>
              </a:spcBef>
              <a:spcAft>
                <a:spcPts val="1200"/>
              </a:spcAft>
              <a:buNone/>
            </a:pPr>
            <a:r>
              <a:rPr lang="en-AU" sz="2000" b="1" dirty="0" smtClean="0">
                <a:latin typeface="Helvetica" pitchFamily="34" charset="0"/>
              </a:rPr>
              <a:t>Accommodation</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Hotels and motels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Guest houses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Bed and breakfasts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Caravan parks and camping grounds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Resorts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Time share properties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Apartments, villas and cottages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Conference and exhibition centres</a:t>
            </a:r>
          </a:p>
          <a:p>
            <a:pPr>
              <a:buNone/>
            </a:pPr>
            <a:endParaRPr lang="en-AU"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pic>
        <p:nvPicPr>
          <p:cNvPr id="7" name="Picture 6" descr="shutterstock_41664772.jpg"/>
          <p:cNvPicPr/>
          <p:nvPr/>
        </p:nvPicPr>
        <p:blipFill>
          <a:blip r:embed="rId3" cstate="print"/>
          <a:stretch>
            <a:fillRect/>
          </a:stretch>
        </p:blipFill>
        <p:spPr>
          <a:xfrm>
            <a:off x="6156176" y="4077072"/>
            <a:ext cx="2232248" cy="1512168"/>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Sources of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latin typeface="Helvetica" pitchFamily="34" charset="0"/>
              </a:rPr>
              <a:t>Attractions and Theme Parks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Museums and galleries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National parks, wildlife parks and gardens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Theme parks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Heritage sites and centres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Sport and activity centres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Aquarium and zoos</a:t>
            </a:r>
            <a:endParaRPr lang="en-US" sz="2000" dirty="0" smtClean="0">
              <a:latin typeface="Helvetica" pitchFamily="34" charset="0"/>
            </a:endParaRPr>
          </a:p>
          <a:p>
            <a:pPr>
              <a:buNone/>
            </a:pPr>
            <a:endParaRPr lang="en-AU"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6" name="Picture 5" descr="IMG_1808.jpg"/>
          <p:cNvPicPr/>
          <p:nvPr/>
        </p:nvPicPr>
        <p:blipFill>
          <a:blip r:embed="rId3" cstate="print"/>
          <a:stretch>
            <a:fillRect/>
          </a:stretch>
        </p:blipFill>
        <p:spPr>
          <a:xfrm>
            <a:off x="6804248" y="3284984"/>
            <a:ext cx="1656184" cy="2186732"/>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Sources of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latin typeface="Helvetica" pitchFamily="34" charset="0"/>
              </a:rPr>
              <a:t>Tour Operators</a:t>
            </a:r>
            <a:endParaRPr lang="en-US" sz="2000" dirty="0" smtClean="0">
              <a:latin typeface="Helvetica" pitchFamily="34" charset="0"/>
            </a:endParaRPr>
          </a:p>
          <a:p>
            <a:pPr>
              <a:spcBef>
                <a:spcPts val="600"/>
              </a:spcBef>
              <a:spcAft>
                <a:spcPts val="1200"/>
              </a:spcAft>
            </a:pPr>
            <a:r>
              <a:rPr lang="en-AU" sz="2000" dirty="0" smtClean="0">
                <a:latin typeface="Helvetica" pitchFamily="34" charset="0"/>
              </a:rPr>
              <a:t>A tour operator typically organises sightseeing tours and accommodation in a particular destination or region</a:t>
            </a:r>
          </a:p>
          <a:p>
            <a:pPr>
              <a:spcBef>
                <a:spcPts val="600"/>
              </a:spcBef>
              <a:spcAft>
                <a:spcPts val="1200"/>
              </a:spcAft>
            </a:pPr>
            <a:r>
              <a:rPr lang="en-AU" sz="2000" dirty="0" smtClean="0">
                <a:latin typeface="Helvetica" pitchFamily="34" charset="0"/>
              </a:rPr>
              <a:t>They act as a middle person between the Wholesaler and the Principal or Supplier of the product</a:t>
            </a:r>
            <a:endParaRPr lang="en-US" sz="2000" dirty="0" smtClean="0">
              <a:latin typeface="Helvetica" pitchFamily="34" charset="0"/>
            </a:endParaRPr>
          </a:p>
          <a:p>
            <a:pPr>
              <a:buNone/>
            </a:pPr>
            <a:endParaRPr lang="en-AU"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7" name="Picture 6" descr="IMG_2370.jpg"/>
          <p:cNvPicPr/>
          <p:nvPr/>
        </p:nvPicPr>
        <p:blipFill>
          <a:blip r:embed="rId3" cstate="print"/>
          <a:stretch>
            <a:fillRect/>
          </a:stretch>
        </p:blipFill>
        <p:spPr>
          <a:xfrm>
            <a:off x="2915816" y="4077072"/>
            <a:ext cx="2304256" cy="1699816"/>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Sources of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latin typeface="Helvetica" pitchFamily="34" charset="0"/>
              </a:rPr>
              <a:t>Inbound Tour Wholesaler</a:t>
            </a:r>
            <a:endParaRPr lang="en-US" sz="2000" dirty="0" smtClean="0">
              <a:latin typeface="Helvetica" pitchFamily="34" charset="0"/>
            </a:endParaRPr>
          </a:p>
          <a:p>
            <a:pPr>
              <a:spcBef>
                <a:spcPts val="600"/>
              </a:spcBef>
              <a:spcAft>
                <a:spcPts val="1200"/>
              </a:spcAft>
            </a:pPr>
            <a:r>
              <a:rPr lang="en-AU" sz="2000" dirty="0" smtClean="0">
                <a:latin typeface="Helvetica" pitchFamily="34" charset="0"/>
              </a:rPr>
              <a:t>An Inbound Tour Wholesaler packages products to form a trip for an overseas market travelling to a specific country</a:t>
            </a:r>
            <a:endParaRPr lang="en-US" sz="2000" dirty="0" smtClean="0">
              <a:latin typeface="Helvetica" pitchFamily="34" charset="0"/>
            </a:endParaRPr>
          </a:p>
          <a:p>
            <a:pPr>
              <a:spcBef>
                <a:spcPts val="600"/>
              </a:spcBef>
              <a:spcAft>
                <a:spcPts val="1200"/>
              </a:spcAft>
              <a:buNone/>
            </a:pPr>
            <a:r>
              <a:rPr lang="en-AU" sz="2000" b="1" dirty="0" smtClean="0">
                <a:latin typeface="Helvetica" pitchFamily="34" charset="0"/>
              </a:rPr>
              <a:t>Outbound Tour Wholesaler</a:t>
            </a:r>
            <a:endParaRPr lang="en-US" sz="2000" dirty="0" smtClean="0">
              <a:latin typeface="Helvetica" pitchFamily="34" charset="0"/>
            </a:endParaRPr>
          </a:p>
          <a:p>
            <a:pPr>
              <a:spcBef>
                <a:spcPts val="600"/>
              </a:spcBef>
              <a:spcAft>
                <a:spcPts val="1200"/>
              </a:spcAft>
            </a:pPr>
            <a:r>
              <a:rPr lang="en-AU" sz="2000" dirty="0" smtClean="0">
                <a:latin typeface="Helvetica" pitchFamily="34" charset="0"/>
              </a:rPr>
              <a:t>An Outbound Tour Wholesaler negotiates </a:t>
            </a:r>
            <a:br>
              <a:rPr lang="en-AU" sz="2000" dirty="0" smtClean="0">
                <a:latin typeface="Helvetica" pitchFamily="34" charset="0"/>
              </a:rPr>
            </a:br>
            <a:r>
              <a:rPr lang="en-AU" sz="2000" dirty="0" smtClean="0">
                <a:latin typeface="Helvetica" pitchFamily="34" charset="0"/>
              </a:rPr>
              <a:t>product from International Suppliers for clients </a:t>
            </a:r>
            <a:br>
              <a:rPr lang="en-AU" sz="2000" dirty="0" smtClean="0">
                <a:latin typeface="Helvetica" pitchFamily="34" charset="0"/>
              </a:rPr>
            </a:br>
            <a:r>
              <a:rPr lang="en-AU" sz="2000" dirty="0" smtClean="0">
                <a:latin typeface="Helvetica" pitchFamily="34" charset="0"/>
              </a:rPr>
              <a:t>in a specific country travelling to an international </a:t>
            </a:r>
            <a:br>
              <a:rPr lang="en-AU" sz="2000" dirty="0" smtClean="0">
                <a:latin typeface="Helvetica" pitchFamily="34" charset="0"/>
              </a:rPr>
            </a:br>
            <a:r>
              <a:rPr lang="en-AU" sz="2000" dirty="0" smtClean="0">
                <a:latin typeface="Helvetica" pitchFamily="34" charset="0"/>
              </a:rPr>
              <a:t>destination </a:t>
            </a:r>
            <a:endParaRPr lang="en-US" sz="2000" dirty="0" smtClean="0">
              <a:latin typeface="Helvetica" pitchFamily="34" charset="0"/>
            </a:endParaRPr>
          </a:p>
          <a:p>
            <a:pPr>
              <a:buNone/>
            </a:pPr>
            <a:endParaRPr lang="en-AU"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a:t>
            </a:fld>
            <a:endParaRPr lang="en-US" dirty="0"/>
          </a:p>
        </p:txBody>
      </p:sp>
      <p:pic>
        <p:nvPicPr>
          <p:cNvPr id="6" name="Picture 5" descr="shutterstock_27777832.jpg"/>
          <p:cNvPicPr/>
          <p:nvPr/>
        </p:nvPicPr>
        <p:blipFill>
          <a:blip r:embed="rId3" cstate="print"/>
          <a:stretch>
            <a:fillRect/>
          </a:stretch>
        </p:blipFill>
        <p:spPr>
          <a:xfrm>
            <a:off x="6732240" y="2924944"/>
            <a:ext cx="1584176" cy="2088232"/>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Sources of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latin typeface="Helvetica" pitchFamily="34" charset="0"/>
              </a:rPr>
              <a:t>Retail Travel Agents</a:t>
            </a:r>
            <a:endParaRPr lang="en-US" sz="2000" dirty="0" smtClean="0">
              <a:latin typeface="Helvetica" pitchFamily="34" charset="0"/>
            </a:endParaRPr>
          </a:p>
          <a:p>
            <a:pPr>
              <a:spcBef>
                <a:spcPts val="600"/>
              </a:spcBef>
              <a:spcAft>
                <a:spcPts val="1200"/>
              </a:spcAft>
            </a:pPr>
            <a:r>
              <a:rPr lang="en-AU" sz="2000" dirty="0" smtClean="0">
                <a:latin typeface="Helvetica" pitchFamily="34" charset="0"/>
              </a:rPr>
              <a:t>A Retail Travel agent is the go-between between the client and the Wholesaler</a:t>
            </a:r>
          </a:p>
          <a:p>
            <a:pPr>
              <a:spcBef>
                <a:spcPts val="600"/>
              </a:spcBef>
              <a:spcAft>
                <a:spcPts val="1200"/>
              </a:spcAft>
            </a:pPr>
            <a:r>
              <a:rPr lang="en-AU" sz="2000" dirty="0" smtClean="0">
                <a:latin typeface="Helvetica" pitchFamily="34" charset="0"/>
              </a:rPr>
              <a:t>It is the Retail agent who obtains all the relevant details from a client to enable them to make a booking through a Wholesaler</a:t>
            </a:r>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pic>
        <p:nvPicPr>
          <p:cNvPr id="7" name="Picture 6" descr="shutterstock_140073586.jpg"/>
          <p:cNvPicPr/>
          <p:nvPr/>
        </p:nvPicPr>
        <p:blipFill>
          <a:blip r:embed="rId3" cstate="print"/>
          <a:stretch>
            <a:fillRect/>
          </a:stretch>
        </p:blipFill>
        <p:spPr>
          <a:xfrm>
            <a:off x="6156176" y="4115544"/>
            <a:ext cx="2260848" cy="1545704"/>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Sources of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latin typeface="Helvetica" pitchFamily="34" charset="0"/>
              </a:rPr>
              <a:t>Local, regional and national information services</a:t>
            </a:r>
            <a:endParaRPr lang="en-US" sz="2000" dirty="0" smtClean="0">
              <a:latin typeface="Helvetica" pitchFamily="34" charset="0"/>
            </a:endParaRPr>
          </a:p>
          <a:p>
            <a:pPr>
              <a:spcBef>
                <a:spcPts val="600"/>
              </a:spcBef>
              <a:spcAft>
                <a:spcPts val="1200"/>
              </a:spcAft>
            </a:pPr>
            <a:r>
              <a:rPr lang="en-AU" sz="2000" dirty="0" smtClean="0">
                <a:latin typeface="Helvetica" pitchFamily="34" charset="0"/>
              </a:rPr>
              <a:t>These information services exist to assist the public and the travel agents in obtaining information on a particular region from the experts</a:t>
            </a:r>
          </a:p>
          <a:p>
            <a:pPr>
              <a:spcBef>
                <a:spcPts val="600"/>
              </a:spcBef>
              <a:spcAft>
                <a:spcPts val="1200"/>
              </a:spcAft>
            </a:pPr>
            <a:r>
              <a:rPr lang="en-AU" sz="2000" dirty="0" smtClean="0">
                <a:latin typeface="Helvetica" pitchFamily="34" charset="0"/>
              </a:rPr>
              <a:t>This can be at a local, regional or national level</a:t>
            </a:r>
            <a:endParaRPr lang="en-US" sz="2000" dirty="0" smtClean="0">
              <a:latin typeface="Helvetica" pitchFamily="34" charset="0"/>
            </a:endParaRPr>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6" name="Picture 5" descr="W258_info_shutterstock_156516218.jpg"/>
          <p:cNvPicPr/>
          <p:nvPr/>
        </p:nvPicPr>
        <p:blipFill>
          <a:blip r:embed="rId3" cstate="print"/>
          <a:stretch>
            <a:fillRect/>
          </a:stretch>
        </p:blipFill>
        <p:spPr>
          <a:xfrm>
            <a:off x="6804248" y="3933056"/>
            <a:ext cx="1620008" cy="1656184"/>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Sources of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776864" cy="5229200"/>
          </a:xfrm>
        </p:spPr>
        <p:txBody>
          <a:bodyPr>
            <a:normAutofit/>
          </a:bodyPr>
          <a:lstStyle/>
          <a:p>
            <a:pPr>
              <a:spcBef>
                <a:spcPts val="600"/>
              </a:spcBef>
              <a:spcAft>
                <a:spcPts val="1200"/>
              </a:spcAft>
              <a:buNone/>
            </a:pPr>
            <a:r>
              <a:rPr lang="en-US" sz="2200" b="1" dirty="0" smtClean="0">
                <a:latin typeface="Helvetica" pitchFamily="34" charset="0"/>
              </a:rPr>
              <a:t>MICE</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Meetings</a:t>
            </a:r>
          </a:p>
          <a:p>
            <a:pPr>
              <a:spcBef>
                <a:spcPts val="600"/>
              </a:spcBef>
              <a:spcAft>
                <a:spcPts val="1200"/>
              </a:spcAft>
            </a:pPr>
            <a:r>
              <a:rPr lang="en-US" sz="2200" dirty="0" smtClean="0">
                <a:latin typeface="Helvetica" pitchFamily="34" charset="0"/>
              </a:rPr>
              <a:t>Incentives</a:t>
            </a:r>
          </a:p>
          <a:p>
            <a:pPr>
              <a:spcBef>
                <a:spcPts val="600"/>
              </a:spcBef>
              <a:spcAft>
                <a:spcPts val="1200"/>
              </a:spcAft>
            </a:pPr>
            <a:r>
              <a:rPr lang="en-US" sz="2200" dirty="0" smtClean="0">
                <a:latin typeface="Helvetica" pitchFamily="34" charset="0"/>
              </a:rPr>
              <a:t>Conventions</a:t>
            </a:r>
          </a:p>
          <a:p>
            <a:pPr>
              <a:spcBef>
                <a:spcPts val="600"/>
              </a:spcBef>
              <a:spcAft>
                <a:spcPts val="1200"/>
              </a:spcAft>
            </a:pPr>
            <a:r>
              <a:rPr lang="en-US" sz="2200" dirty="0" smtClean="0">
                <a:latin typeface="Helvetica" pitchFamily="34" charset="0"/>
              </a:rPr>
              <a:t>Exhibitions</a:t>
            </a:r>
          </a:p>
          <a:p>
            <a:pPr>
              <a:spcBef>
                <a:spcPts val="600"/>
              </a:spcBef>
              <a:spcAft>
                <a:spcPts val="1200"/>
              </a:spcAft>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pic>
        <p:nvPicPr>
          <p:cNvPr id="7" name="Picture 6" descr="967.jpg"/>
          <p:cNvPicPr/>
          <p:nvPr/>
        </p:nvPicPr>
        <p:blipFill>
          <a:blip r:embed="rId3" cstate="print"/>
          <a:stretch>
            <a:fillRect/>
          </a:stretch>
        </p:blipFill>
        <p:spPr>
          <a:xfrm>
            <a:off x="3779912" y="2420888"/>
            <a:ext cx="2880320" cy="172819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Sources of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latin typeface="Helvetica" pitchFamily="34" charset="0"/>
              </a:rPr>
              <a:t>Ministries of Tourism </a:t>
            </a:r>
            <a:endParaRPr lang="en-US" sz="2000" b="1" dirty="0" smtClean="0">
              <a:latin typeface="Helvetica" pitchFamily="34" charset="0"/>
            </a:endParaRPr>
          </a:p>
          <a:p>
            <a:pPr>
              <a:spcBef>
                <a:spcPts val="600"/>
              </a:spcBef>
              <a:spcAft>
                <a:spcPts val="1200"/>
              </a:spcAft>
            </a:pPr>
            <a:r>
              <a:rPr lang="en-AU" sz="2000" dirty="0" smtClean="0">
                <a:latin typeface="Helvetica" pitchFamily="34" charset="0"/>
              </a:rPr>
              <a:t>Each country within the ASEAN region should have dedicated government ministry specifically focused on the tourism industry</a:t>
            </a:r>
          </a:p>
          <a:p>
            <a:pPr>
              <a:spcBef>
                <a:spcPts val="600"/>
              </a:spcBef>
              <a:spcAft>
                <a:spcPts val="1200"/>
              </a:spcAft>
            </a:pPr>
            <a:r>
              <a:rPr lang="en-AU" sz="2000" dirty="0" smtClean="0">
                <a:latin typeface="Helvetica" pitchFamily="34" charset="0"/>
              </a:rPr>
              <a:t>Their role is to regulate and manage the industry</a:t>
            </a:r>
            <a:endParaRPr lang="en-US" sz="2000" dirty="0" smtClean="0">
              <a:latin typeface="Helvetica" pitchFamily="34" charset="0"/>
            </a:endParaRPr>
          </a:p>
          <a:p>
            <a:pPr>
              <a:spcBef>
                <a:spcPts val="600"/>
              </a:spcBef>
              <a:spcAft>
                <a:spcPts val="1200"/>
              </a:spcAft>
            </a:pPr>
            <a:endParaRPr lang="en-US" sz="2000" dirty="0" smtClean="0">
              <a:latin typeface="Helvetica" pitchFamily="34" charset="0"/>
            </a:endParaRPr>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6" name="Picture 5" descr="shutterstock_136286858.jpg"/>
          <p:cNvPicPr/>
          <p:nvPr/>
        </p:nvPicPr>
        <p:blipFill>
          <a:blip r:embed="rId3" cstate="print"/>
          <a:stretch>
            <a:fillRect/>
          </a:stretch>
        </p:blipFill>
        <p:spPr>
          <a:xfrm>
            <a:off x="6084168" y="4221088"/>
            <a:ext cx="2306821" cy="156019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Sources of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latin typeface="Helvetica" pitchFamily="34" charset="0"/>
              </a:rPr>
              <a:t>Tourism Boards</a:t>
            </a:r>
            <a:endParaRPr lang="en-US" sz="2000" b="1" dirty="0" smtClean="0">
              <a:latin typeface="Helvetica" pitchFamily="34" charset="0"/>
            </a:endParaRPr>
          </a:p>
          <a:p>
            <a:pPr>
              <a:spcBef>
                <a:spcPts val="600"/>
              </a:spcBef>
              <a:spcAft>
                <a:spcPts val="1200"/>
              </a:spcAft>
            </a:pPr>
            <a:r>
              <a:rPr lang="en-AU" sz="2000" dirty="0" smtClean="0">
                <a:latin typeface="Helvetica" pitchFamily="34" charset="0"/>
              </a:rPr>
              <a:t>Coordinate the efforts of hotels, airlines and travel agents to develop the tourism industry of the country</a:t>
            </a:r>
            <a:endParaRPr lang="en-US" sz="2000" dirty="0" smtClean="0">
              <a:latin typeface="Helvetica" pitchFamily="34" charset="0"/>
            </a:endParaRPr>
          </a:p>
          <a:p>
            <a:pPr>
              <a:spcBef>
                <a:spcPts val="600"/>
              </a:spcBef>
              <a:spcAft>
                <a:spcPts val="1200"/>
              </a:spcAft>
            </a:pPr>
            <a:r>
              <a:rPr lang="en-AU" sz="2000" dirty="0" smtClean="0">
                <a:latin typeface="Helvetica" pitchFamily="34" charset="0"/>
              </a:rPr>
              <a:t>Initiate new marketing ideas to promote image aboard</a:t>
            </a:r>
          </a:p>
          <a:p>
            <a:pPr>
              <a:spcBef>
                <a:spcPts val="600"/>
              </a:spcBef>
              <a:spcAft>
                <a:spcPts val="1200"/>
              </a:spcAft>
            </a:pPr>
            <a:r>
              <a:rPr lang="en-AU" sz="2000" dirty="0" smtClean="0">
                <a:latin typeface="Helvetica" pitchFamily="34" charset="0"/>
              </a:rPr>
              <a:t>Provide travel agent licensing and tourist guide training</a:t>
            </a:r>
            <a:endParaRPr lang="en-US" sz="2000" dirty="0" smtClean="0">
              <a:latin typeface="Helvetica" pitchFamily="34" charset="0"/>
            </a:endParaRPr>
          </a:p>
          <a:p>
            <a:pPr>
              <a:spcBef>
                <a:spcPts val="600"/>
              </a:spcBef>
              <a:spcAft>
                <a:spcPts val="1200"/>
              </a:spcAft>
            </a:pPr>
            <a:r>
              <a:rPr lang="en-AU" sz="2000" dirty="0" smtClean="0">
                <a:latin typeface="Helvetica" pitchFamily="34" charset="0"/>
              </a:rPr>
              <a:t>Promote the development of infrastructure and tourist attractions </a:t>
            </a:r>
          </a:p>
          <a:p>
            <a:pPr>
              <a:spcBef>
                <a:spcPts val="600"/>
              </a:spcBef>
              <a:spcAft>
                <a:spcPts val="1200"/>
              </a:spcAft>
            </a:pPr>
            <a:r>
              <a:rPr lang="en-AU" sz="2000" dirty="0" smtClean="0">
                <a:latin typeface="Helvetica" pitchFamily="34" charset="0"/>
              </a:rPr>
              <a:t>Organise events to attract visitors</a:t>
            </a:r>
            <a:endParaRPr lang="en-US" sz="2000" dirty="0" smtClean="0">
              <a:latin typeface="Helvetica" pitchFamily="34" charset="0"/>
            </a:endParaRPr>
          </a:p>
          <a:p>
            <a:pPr>
              <a:spcBef>
                <a:spcPts val="600"/>
              </a:spcBef>
              <a:spcAft>
                <a:spcPts val="1200"/>
              </a:spcAft>
            </a:pPr>
            <a:endParaRPr lang="en-US" sz="2000" dirty="0" smtClean="0">
              <a:latin typeface="Helvetica" pitchFamily="34" charset="0"/>
            </a:endParaRPr>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7" name="Picture 6" descr="shutterstock_117103420.jpg"/>
          <p:cNvPicPr/>
          <p:nvPr/>
        </p:nvPicPr>
        <p:blipFill>
          <a:blip r:embed="rId3" cstate="print"/>
          <a:stretch>
            <a:fillRect/>
          </a:stretch>
        </p:blipFill>
        <p:spPr>
          <a:xfrm>
            <a:off x="6372200" y="4509120"/>
            <a:ext cx="2000250" cy="1333500"/>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Sources of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200" b="1" dirty="0" smtClean="0">
                <a:latin typeface="Helvetica" pitchFamily="34" charset="0"/>
              </a:rPr>
              <a:t>Industry Authorities</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Authorities are established, either by a government or working closely with government to provide services relating to the tourism industry</a:t>
            </a:r>
            <a:endParaRPr lang="en-US" sz="2200" dirty="0" smtClean="0">
              <a:latin typeface="Helvetica" pitchFamily="34" charset="0"/>
            </a:endParaRPr>
          </a:p>
          <a:p>
            <a:pPr>
              <a:spcBef>
                <a:spcPts val="600"/>
              </a:spcBef>
              <a:spcAft>
                <a:spcPts val="1200"/>
              </a:spcAft>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6" name="Picture 5" descr="shutterstock_174310112.jpg"/>
          <p:cNvPicPr>
            <a:picLocks noChangeAspect="1"/>
          </p:cNvPicPr>
          <p:nvPr/>
        </p:nvPicPr>
        <p:blipFill>
          <a:blip r:embed="rId3" cstate="print"/>
          <a:stretch>
            <a:fillRect/>
          </a:stretch>
        </p:blipFill>
        <p:spPr>
          <a:xfrm>
            <a:off x="2571691" y="3558716"/>
            <a:ext cx="2707068" cy="1800200"/>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Sources of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latin typeface="Helvetica" pitchFamily="34" charset="0"/>
              </a:rPr>
              <a:t>Industry Associations</a:t>
            </a:r>
            <a:endParaRPr lang="en-US" sz="2000" b="1" dirty="0" smtClean="0">
              <a:latin typeface="Helvetica" pitchFamily="34" charset="0"/>
            </a:endParaRPr>
          </a:p>
          <a:p>
            <a:pPr marL="0">
              <a:spcBef>
                <a:spcPts val="600"/>
              </a:spcBef>
              <a:spcAft>
                <a:spcPts val="1200"/>
              </a:spcAft>
              <a:buNone/>
            </a:pPr>
            <a:r>
              <a:rPr lang="en-US" sz="2000" dirty="0" smtClean="0">
                <a:latin typeface="Helvetica" pitchFamily="34" charset="0"/>
              </a:rPr>
              <a:t>Industry associations are bodies that all businesses can elect to join that serve specific and over-arching industry sectors: </a:t>
            </a:r>
          </a:p>
          <a:p>
            <a:pPr lvl="0">
              <a:spcBef>
                <a:spcPts val="600"/>
              </a:spcBef>
              <a:spcAft>
                <a:spcPts val="1200"/>
              </a:spcAft>
            </a:pPr>
            <a:r>
              <a:rPr lang="en-US" sz="2000" dirty="0" smtClean="0">
                <a:latin typeface="Helvetica" pitchFamily="34" charset="0"/>
              </a:rPr>
              <a:t>Representing the industry</a:t>
            </a:r>
          </a:p>
          <a:p>
            <a:pPr lvl="0">
              <a:spcBef>
                <a:spcPts val="600"/>
              </a:spcBef>
              <a:spcAft>
                <a:spcPts val="1200"/>
              </a:spcAft>
            </a:pPr>
            <a:r>
              <a:rPr lang="en-US" sz="2000" dirty="0" smtClean="0">
                <a:latin typeface="Helvetica" pitchFamily="34" charset="0"/>
              </a:rPr>
              <a:t>Offer legal advice</a:t>
            </a:r>
          </a:p>
          <a:p>
            <a:pPr lvl="0">
              <a:spcBef>
                <a:spcPts val="600"/>
              </a:spcBef>
              <a:spcAft>
                <a:spcPts val="1200"/>
              </a:spcAft>
            </a:pPr>
            <a:r>
              <a:rPr lang="en-US" sz="2000" dirty="0" smtClean="0">
                <a:latin typeface="Helvetica" pitchFamily="34" charset="0"/>
              </a:rPr>
              <a:t>Provide training </a:t>
            </a:r>
          </a:p>
          <a:p>
            <a:pPr lvl="0">
              <a:spcBef>
                <a:spcPts val="600"/>
              </a:spcBef>
              <a:spcAft>
                <a:spcPts val="1200"/>
              </a:spcAft>
            </a:pPr>
            <a:r>
              <a:rPr lang="en-US" sz="2000" dirty="0" smtClean="0">
                <a:latin typeface="Helvetica" pitchFamily="34" charset="0"/>
              </a:rPr>
              <a:t>Identify c</a:t>
            </a:r>
            <a:r>
              <a:rPr lang="en-AU" sz="2000" dirty="0" smtClean="0">
                <a:latin typeface="Helvetica" pitchFamily="34" charset="0"/>
              </a:rPr>
              <a:t>ost savings </a:t>
            </a:r>
          </a:p>
          <a:p>
            <a:pPr>
              <a:spcBef>
                <a:spcPts val="600"/>
              </a:spcBef>
              <a:spcAft>
                <a:spcPts val="1200"/>
              </a:spcAft>
              <a:buNone/>
            </a:pPr>
            <a:endParaRPr lang="en-AU" sz="2000" dirty="0" smtClean="0">
              <a:solidFill>
                <a:srgbClr val="FF6600"/>
              </a:solidFill>
            </a:endParaRPr>
          </a:p>
          <a:p>
            <a:pPr>
              <a:spcBef>
                <a:spcPts val="600"/>
              </a:spcBef>
              <a:spcAft>
                <a:spcPts val="1200"/>
              </a:spcAft>
              <a:buNone/>
            </a:pPr>
            <a:r>
              <a:rPr lang="en-AU" sz="2000" b="1" i="1" dirty="0" smtClean="0">
                <a:solidFill>
                  <a:srgbClr val="FF6600"/>
                </a:solidFill>
              </a:rPr>
              <a:t>COMPLETE ACTIVITY 1</a:t>
            </a:r>
          </a:p>
          <a:p>
            <a:pPr lvl="0">
              <a:spcBef>
                <a:spcPts val="600"/>
              </a:spcBef>
              <a:spcAft>
                <a:spcPts val="1200"/>
              </a:spcAft>
              <a:buNone/>
            </a:pPr>
            <a:endParaRPr lang="en-US" sz="2000" dirty="0" smtClean="0">
              <a:latin typeface="Helvetica" pitchFamily="34" charset="0"/>
            </a:endParaRPr>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pic>
        <p:nvPicPr>
          <p:cNvPr id="7" name="Picture 6" descr="A5 shutterstock_131103662.jpg"/>
          <p:cNvPicPr/>
          <p:nvPr/>
        </p:nvPicPr>
        <p:blipFill>
          <a:blip r:embed="rId3" cstate="print"/>
          <a:stretch>
            <a:fillRect/>
          </a:stretch>
        </p:blipFill>
        <p:spPr>
          <a:xfrm>
            <a:off x="6346830" y="4149080"/>
            <a:ext cx="2088232" cy="1440160"/>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Formats of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000" b="1" dirty="0" smtClean="0">
                <a:latin typeface="Helvetica" pitchFamily="34" charset="0"/>
              </a:rPr>
              <a:t>Formats of destination information</a:t>
            </a:r>
            <a:endParaRPr lang="en-US" sz="2000" dirty="0" smtClean="0">
              <a:latin typeface="Helvetica" pitchFamily="34" charset="0"/>
            </a:endParaRPr>
          </a:p>
          <a:p>
            <a:pPr marL="0">
              <a:spcBef>
                <a:spcPts val="600"/>
              </a:spcBef>
              <a:spcAft>
                <a:spcPts val="1200"/>
              </a:spcAft>
            </a:pPr>
            <a:r>
              <a:rPr lang="en-AU" sz="2000" dirty="0" smtClean="0">
                <a:latin typeface="Helvetica" pitchFamily="34" charset="0"/>
              </a:rPr>
              <a:t>Brochures/DVDs </a:t>
            </a:r>
          </a:p>
          <a:p>
            <a:pPr>
              <a:spcBef>
                <a:spcPts val="600"/>
              </a:spcBef>
              <a:spcAft>
                <a:spcPts val="1200"/>
              </a:spcAft>
            </a:pPr>
            <a:r>
              <a:rPr lang="en-AU" sz="2000" dirty="0" smtClean="0">
                <a:latin typeface="Helvetica" pitchFamily="34" charset="0"/>
              </a:rPr>
              <a:t>Hotel and accommodation guides and indexes</a:t>
            </a:r>
          </a:p>
          <a:p>
            <a:pPr>
              <a:spcBef>
                <a:spcPts val="600"/>
              </a:spcBef>
              <a:spcAft>
                <a:spcPts val="1200"/>
              </a:spcAft>
            </a:pPr>
            <a:r>
              <a:rPr lang="en-AU" sz="2000" dirty="0" smtClean="0">
                <a:latin typeface="Helvetica" pitchFamily="34" charset="0"/>
              </a:rPr>
              <a:t>Atlases, maps and encyclopedias </a:t>
            </a:r>
          </a:p>
          <a:p>
            <a:pPr>
              <a:spcBef>
                <a:spcPts val="600"/>
              </a:spcBef>
              <a:spcAft>
                <a:spcPts val="1200"/>
              </a:spcAft>
            </a:pPr>
            <a:r>
              <a:rPr lang="en-AU" sz="2000" dirty="0" smtClean="0">
                <a:latin typeface="Helvetica" pitchFamily="34" charset="0"/>
              </a:rPr>
              <a:t>Travel guides </a:t>
            </a:r>
          </a:p>
          <a:p>
            <a:pPr>
              <a:spcBef>
                <a:spcPts val="600"/>
              </a:spcBef>
              <a:spcAft>
                <a:spcPts val="1200"/>
              </a:spcAft>
            </a:pPr>
            <a:r>
              <a:rPr lang="en-AU" sz="2000" dirty="0" smtClean="0">
                <a:latin typeface="Helvetica" pitchFamily="34" charset="0"/>
              </a:rPr>
              <a:t>Individual timetables </a:t>
            </a:r>
          </a:p>
          <a:p>
            <a:pPr>
              <a:spcBef>
                <a:spcPts val="600"/>
              </a:spcBef>
              <a:spcAft>
                <a:spcPts val="1200"/>
              </a:spcAft>
            </a:pPr>
            <a:r>
              <a:rPr lang="en-AU" sz="2000" dirty="0" smtClean="0">
                <a:latin typeface="Helvetica" pitchFamily="34" charset="0"/>
              </a:rPr>
              <a:t>Automated information systems </a:t>
            </a:r>
          </a:p>
          <a:p>
            <a:pPr>
              <a:spcBef>
                <a:spcPts val="600"/>
              </a:spcBef>
              <a:spcAft>
                <a:spcPts val="1200"/>
              </a:spcAft>
            </a:pPr>
            <a:r>
              <a:rPr lang="en-AU" sz="2000" dirty="0" smtClean="0">
                <a:latin typeface="Helvetica" pitchFamily="34" charset="0"/>
              </a:rPr>
              <a:t>Computerised Reservations Systems (CRS)</a:t>
            </a:r>
          </a:p>
          <a:p>
            <a:pPr marL="0">
              <a:spcBef>
                <a:spcPts val="600"/>
              </a:spcBef>
              <a:spcAft>
                <a:spcPts val="600"/>
              </a:spcAft>
              <a:buNone/>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pic>
        <p:nvPicPr>
          <p:cNvPr id="5" name="Picture 4" descr="shutterstock_84545446.jpg"/>
          <p:cNvPicPr>
            <a:picLocks noChangeAspect="1"/>
          </p:cNvPicPr>
          <p:nvPr/>
        </p:nvPicPr>
        <p:blipFill>
          <a:blip r:embed="rId3" cstate="print"/>
          <a:stretch>
            <a:fillRect/>
          </a:stretch>
        </p:blipFill>
        <p:spPr>
          <a:xfrm>
            <a:off x="6330915" y="4077072"/>
            <a:ext cx="2059517" cy="1373698"/>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Formats of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000" b="1" dirty="0" smtClean="0"/>
              <a:t>Formats of destination information</a:t>
            </a:r>
            <a:endParaRPr lang="en-US" sz="2000" dirty="0" smtClean="0"/>
          </a:p>
          <a:p>
            <a:pPr>
              <a:spcBef>
                <a:spcPts val="600"/>
              </a:spcBef>
              <a:spcAft>
                <a:spcPts val="1200"/>
              </a:spcAft>
            </a:pPr>
            <a:r>
              <a:rPr lang="en-AU" sz="2000" dirty="0" smtClean="0"/>
              <a:t>International airline guides </a:t>
            </a:r>
          </a:p>
          <a:p>
            <a:pPr>
              <a:spcBef>
                <a:spcPts val="600"/>
              </a:spcBef>
              <a:spcAft>
                <a:spcPts val="1200"/>
              </a:spcAft>
            </a:pPr>
            <a:r>
              <a:rPr lang="en-AU" sz="2000" dirty="0" smtClean="0"/>
              <a:t>Travel Trade Yearbook </a:t>
            </a:r>
          </a:p>
          <a:p>
            <a:pPr>
              <a:spcBef>
                <a:spcPts val="600"/>
              </a:spcBef>
              <a:spcAft>
                <a:spcPts val="1200"/>
              </a:spcAft>
            </a:pPr>
            <a:r>
              <a:rPr lang="en-AU" sz="2000" dirty="0" smtClean="0"/>
              <a:t>Travel Information Manual (TIM)</a:t>
            </a:r>
          </a:p>
          <a:p>
            <a:pPr>
              <a:spcBef>
                <a:spcPts val="600"/>
              </a:spcBef>
              <a:spcAft>
                <a:spcPts val="1200"/>
              </a:spcAft>
            </a:pPr>
            <a:r>
              <a:rPr lang="en-AU" sz="2000" dirty="0" smtClean="0"/>
              <a:t>Passenger air tariff </a:t>
            </a:r>
          </a:p>
          <a:p>
            <a:pPr>
              <a:spcBef>
                <a:spcPts val="600"/>
              </a:spcBef>
              <a:spcAft>
                <a:spcPts val="1200"/>
              </a:spcAft>
            </a:pPr>
            <a:r>
              <a:rPr lang="en-AU" sz="2000" dirty="0" smtClean="0"/>
              <a:t>Trade press </a:t>
            </a:r>
          </a:p>
          <a:p>
            <a:pPr>
              <a:spcBef>
                <a:spcPts val="600"/>
              </a:spcBef>
              <a:spcAft>
                <a:spcPts val="1200"/>
              </a:spcAft>
            </a:pPr>
            <a:r>
              <a:rPr lang="en-AU" sz="2000" dirty="0" smtClean="0"/>
              <a:t>General print and electronic media, travel magazines and even news bulletins for current issues</a:t>
            </a:r>
          </a:p>
          <a:p>
            <a:pPr marL="0">
              <a:spcBef>
                <a:spcPts val="600"/>
              </a:spcBef>
              <a:spcAft>
                <a:spcPts val="600"/>
              </a:spcAft>
              <a:buNone/>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5" name="Picture 4" descr="shutterstock_99668000.jpg"/>
          <p:cNvPicPr>
            <a:picLocks noChangeAspect="1"/>
          </p:cNvPicPr>
          <p:nvPr/>
        </p:nvPicPr>
        <p:blipFill>
          <a:blip r:embed="rId3" cstate="print"/>
          <a:stretch>
            <a:fillRect/>
          </a:stretch>
        </p:blipFill>
        <p:spPr>
          <a:xfrm>
            <a:off x="5436096" y="2492896"/>
            <a:ext cx="2583301" cy="1723062"/>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Formats of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000" b="1" dirty="0" smtClean="0"/>
              <a:t>Formats of destination information</a:t>
            </a:r>
            <a:endParaRPr lang="en-US" sz="2000" dirty="0" smtClean="0"/>
          </a:p>
          <a:p>
            <a:pPr>
              <a:spcBef>
                <a:spcPts val="600"/>
              </a:spcBef>
              <a:spcAft>
                <a:spcPts val="1200"/>
              </a:spcAft>
            </a:pPr>
            <a:r>
              <a:rPr lang="en-AU" sz="2000" dirty="0" smtClean="0"/>
              <a:t>Educationals</a:t>
            </a:r>
          </a:p>
          <a:p>
            <a:pPr>
              <a:spcBef>
                <a:spcPts val="600"/>
              </a:spcBef>
              <a:spcAft>
                <a:spcPts val="1200"/>
              </a:spcAft>
            </a:pPr>
            <a:r>
              <a:rPr lang="en-AU" sz="2000" dirty="0" smtClean="0"/>
              <a:t>Product familiarisations</a:t>
            </a:r>
          </a:p>
          <a:p>
            <a:pPr>
              <a:spcBef>
                <a:spcPts val="600"/>
              </a:spcBef>
              <a:spcAft>
                <a:spcPts val="1200"/>
              </a:spcAft>
            </a:pPr>
            <a:r>
              <a:rPr lang="en-AU" sz="2000" dirty="0" smtClean="0"/>
              <a:t>Other organisations in the industry</a:t>
            </a:r>
          </a:p>
          <a:p>
            <a:pPr>
              <a:spcBef>
                <a:spcPts val="600"/>
              </a:spcBef>
              <a:spcAft>
                <a:spcPts val="1200"/>
              </a:spcAft>
            </a:pPr>
            <a:r>
              <a:rPr lang="en-AU" sz="2000" dirty="0" smtClean="0"/>
              <a:t>The internet, travel websites, travel advisor, blogs</a:t>
            </a:r>
          </a:p>
          <a:p>
            <a:pPr>
              <a:spcBef>
                <a:spcPts val="600"/>
              </a:spcBef>
              <a:spcAft>
                <a:spcPts val="1200"/>
              </a:spcAft>
            </a:pPr>
            <a:r>
              <a:rPr lang="en-AU" sz="2000" dirty="0" smtClean="0"/>
              <a:t>Travel companies product launches, travel </a:t>
            </a:r>
            <a:br>
              <a:rPr lang="en-AU" sz="2000" dirty="0" smtClean="0"/>
            </a:br>
            <a:r>
              <a:rPr lang="en-AU" sz="2000" dirty="0" smtClean="0"/>
              <a:t>shows and information nights</a:t>
            </a:r>
          </a:p>
          <a:p>
            <a:pPr>
              <a:spcBef>
                <a:spcPts val="600"/>
              </a:spcBef>
              <a:spcAft>
                <a:spcPts val="1200"/>
              </a:spcAft>
            </a:pPr>
            <a:r>
              <a:rPr lang="en-AU" sz="2000" dirty="0" smtClean="0"/>
              <a:t>Government agencies such as national </a:t>
            </a:r>
            <a:br>
              <a:rPr lang="en-AU" sz="2000" dirty="0" smtClean="0"/>
            </a:br>
            <a:r>
              <a:rPr lang="en-AU" sz="2000" dirty="0" smtClean="0"/>
              <a:t>parks and wildlife services or government </a:t>
            </a:r>
            <a:br>
              <a:rPr lang="en-AU" sz="2000" dirty="0" smtClean="0"/>
            </a:br>
            <a:r>
              <a:rPr lang="en-AU" sz="2000" dirty="0" smtClean="0"/>
              <a:t>tourism offices</a:t>
            </a:r>
          </a:p>
          <a:p>
            <a:pPr marL="0">
              <a:spcBef>
                <a:spcPts val="600"/>
              </a:spcBef>
              <a:spcAft>
                <a:spcPts val="600"/>
              </a:spcAft>
              <a:buNone/>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5" name="Picture 4" descr="shutterstock_72434737.jpg"/>
          <p:cNvPicPr>
            <a:picLocks noChangeAspect="1"/>
          </p:cNvPicPr>
          <p:nvPr/>
        </p:nvPicPr>
        <p:blipFill>
          <a:blip r:embed="rId3" cstate="print"/>
          <a:stretch>
            <a:fillRect/>
          </a:stretch>
        </p:blipFill>
        <p:spPr>
          <a:xfrm>
            <a:off x="6300192" y="4221088"/>
            <a:ext cx="2143095" cy="1440160"/>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Formats of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000" b="1" dirty="0" smtClean="0"/>
              <a:t>Formats of destination information</a:t>
            </a:r>
            <a:endParaRPr lang="en-US" sz="2000" dirty="0" smtClean="0"/>
          </a:p>
          <a:p>
            <a:pPr>
              <a:spcBef>
                <a:spcPts val="600"/>
              </a:spcBef>
              <a:spcAft>
                <a:spcPts val="1200"/>
              </a:spcAft>
            </a:pPr>
            <a:r>
              <a:rPr lang="en-AU" sz="2000" dirty="0" smtClean="0"/>
              <a:t>Intranet Websites</a:t>
            </a:r>
          </a:p>
          <a:p>
            <a:pPr lvl="0">
              <a:spcBef>
                <a:spcPts val="600"/>
              </a:spcBef>
              <a:spcAft>
                <a:spcPts val="1200"/>
              </a:spcAft>
            </a:pPr>
            <a:r>
              <a:rPr lang="en-AU" sz="2000" dirty="0" smtClean="0"/>
              <a:t>Internal information databases</a:t>
            </a:r>
          </a:p>
          <a:p>
            <a:pPr lvl="0">
              <a:spcBef>
                <a:spcPts val="600"/>
              </a:spcBef>
              <a:spcAft>
                <a:spcPts val="1200"/>
              </a:spcAft>
            </a:pPr>
            <a:r>
              <a:rPr lang="en-AU" sz="2000" dirty="0" smtClean="0"/>
              <a:t>Product manuals</a:t>
            </a:r>
          </a:p>
          <a:p>
            <a:pPr lvl="0">
              <a:spcBef>
                <a:spcPts val="600"/>
              </a:spcBef>
              <a:spcAft>
                <a:spcPts val="1200"/>
              </a:spcAft>
            </a:pPr>
            <a:r>
              <a:rPr lang="en-AU" sz="2000" dirty="0" smtClean="0"/>
              <a:t>Supplier information and sales kits and </a:t>
            </a:r>
            <a:br>
              <a:rPr lang="en-AU" sz="2000" dirty="0" smtClean="0"/>
            </a:br>
            <a:r>
              <a:rPr lang="en-AU" sz="2000" dirty="0" smtClean="0"/>
              <a:t>their sales representatives</a:t>
            </a:r>
          </a:p>
          <a:p>
            <a:pPr lvl="0">
              <a:spcBef>
                <a:spcPts val="600"/>
              </a:spcBef>
              <a:spcAft>
                <a:spcPts val="1200"/>
              </a:spcAft>
            </a:pPr>
            <a:r>
              <a:rPr lang="en-AU" sz="2000" dirty="0" smtClean="0"/>
              <a:t>Destination and product experts in                                          wholesale reservation call centres</a:t>
            </a:r>
          </a:p>
          <a:p>
            <a:pPr marL="0">
              <a:spcBef>
                <a:spcPts val="600"/>
              </a:spcBef>
              <a:spcAft>
                <a:spcPts val="600"/>
              </a:spcAft>
              <a:buNone/>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5" name="Picture 4" descr="shutterstock_122942875.jpg"/>
          <p:cNvPicPr>
            <a:picLocks noChangeAspect="1"/>
          </p:cNvPicPr>
          <p:nvPr/>
        </p:nvPicPr>
        <p:blipFill>
          <a:blip r:embed="rId3" cstate="print"/>
          <a:stretch>
            <a:fillRect/>
          </a:stretch>
        </p:blipFill>
        <p:spPr>
          <a:xfrm>
            <a:off x="6228184" y="3997764"/>
            <a:ext cx="2232679" cy="1489197"/>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Formats of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824536"/>
          </a:xfrm>
        </p:spPr>
        <p:txBody>
          <a:bodyPr>
            <a:normAutofit/>
          </a:bodyPr>
          <a:lstStyle/>
          <a:p>
            <a:pPr>
              <a:spcBef>
                <a:spcPts val="600"/>
              </a:spcBef>
              <a:spcAft>
                <a:spcPts val="1200"/>
              </a:spcAft>
              <a:buNone/>
            </a:pPr>
            <a:r>
              <a:rPr lang="en-AU" sz="2000" b="1" dirty="0" smtClean="0"/>
              <a:t>Formats of destination information</a:t>
            </a:r>
            <a:endParaRPr lang="en-US" sz="2000" dirty="0" smtClean="0"/>
          </a:p>
          <a:p>
            <a:pPr lvl="0">
              <a:spcBef>
                <a:spcPts val="600"/>
              </a:spcBef>
              <a:spcAft>
                <a:spcPts val="1200"/>
              </a:spcAft>
            </a:pPr>
            <a:r>
              <a:rPr lang="en-AU" sz="2000" dirty="0" smtClean="0"/>
              <a:t>Confidential and general industry tariffs</a:t>
            </a:r>
          </a:p>
          <a:p>
            <a:pPr lvl="0">
              <a:spcBef>
                <a:spcPts val="600"/>
              </a:spcBef>
              <a:spcAft>
                <a:spcPts val="1200"/>
              </a:spcAft>
            </a:pPr>
            <a:r>
              <a:rPr lang="en-AU" sz="2000" dirty="0" smtClean="0"/>
              <a:t>Preferred contracts and/or agreements</a:t>
            </a:r>
          </a:p>
          <a:p>
            <a:pPr lvl="0">
              <a:spcBef>
                <a:spcPts val="600"/>
              </a:spcBef>
              <a:spcAft>
                <a:spcPts val="1200"/>
              </a:spcAft>
            </a:pPr>
            <a:r>
              <a:rPr lang="en-AU" sz="2000" dirty="0" smtClean="0"/>
              <a:t>Official country tourist offices, authorities and bureaus</a:t>
            </a:r>
          </a:p>
          <a:p>
            <a:pPr lvl="0">
              <a:spcBef>
                <a:spcPts val="600"/>
              </a:spcBef>
              <a:spcAft>
                <a:spcPts val="1200"/>
              </a:spcAft>
            </a:pPr>
            <a:r>
              <a:rPr lang="en-AU" sz="2000" dirty="0" smtClean="0"/>
              <a:t>Your own travel experience</a:t>
            </a:r>
          </a:p>
          <a:p>
            <a:pPr lvl="0">
              <a:spcBef>
                <a:spcPts val="600"/>
              </a:spcBef>
              <a:spcAft>
                <a:spcPts val="1200"/>
              </a:spcAft>
            </a:pPr>
            <a:r>
              <a:rPr lang="en-AU" sz="2000" dirty="0" smtClean="0"/>
              <a:t>Colleagues</a:t>
            </a:r>
          </a:p>
          <a:p>
            <a:pPr marL="0">
              <a:spcBef>
                <a:spcPts val="600"/>
              </a:spcBef>
              <a:spcAft>
                <a:spcPts val="600"/>
              </a:spcAft>
              <a:buNone/>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5" name="Picture 4" descr="shutterstock_166468943.jpg"/>
          <p:cNvPicPr>
            <a:picLocks noChangeAspect="1"/>
          </p:cNvPicPr>
          <p:nvPr/>
        </p:nvPicPr>
        <p:blipFill>
          <a:blip r:embed="rId3" cstate="print"/>
          <a:stretch>
            <a:fillRect/>
          </a:stretch>
        </p:blipFill>
        <p:spPr>
          <a:xfrm>
            <a:off x="6228184" y="4077072"/>
            <a:ext cx="2205360" cy="1470456"/>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Formats of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t>Testimonials</a:t>
            </a:r>
            <a:endParaRPr lang="en-US" sz="2000" dirty="0" smtClean="0"/>
          </a:p>
          <a:p>
            <a:pPr>
              <a:spcBef>
                <a:spcPts val="600"/>
              </a:spcBef>
              <a:spcAft>
                <a:spcPts val="1200"/>
              </a:spcAft>
              <a:buNone/>
            </a:pPr>
            <a:r>
              <a:rPr lang="en-AU" sz="2000" dirty="0" smtClean="0"/>
              <a:t>A testimonial can be a formal statement testifying to:</a:t>
            </a:r>
            <a:endParaRPr lang="en-US" sz="2000" dirty="0" smtClean="0"/>
          </a:p>
          <a:p>
            <a:pPr lvl="0">
              <a:spcBef>
                <a:spcPts val="600"/>
              </a:spcBef>
              <a:spcAft>
                <a:spcPts val="1200"/>
              </a:spcAft>
            </a:pPr>
            <a:r>
              <a:rPr lang="en-AU" sz="2000" dirty="0" smtClean="0"/>
              <a:t>Someone's character, performance, professionalism, qualifications, skills or achievements</a:t>
            </a:r>
            <a:endParaRPr lang="en-US" sz="2000" dirty="0" smtClean="0"/>
          </a:p>
          <a:p>
            <a:pPr lvl="0">
              <a:spcBef>
                <a:spcPts val="600"/>
              </a:spcBef>
              <a:spcAft>
                <a:spcPts val="1200"/>
              </a:spcAft>
            </a:pPr>
            <a:r>
              <a:rPr lang="en-AU" sz="2000" dirty="0" smtClean="0"/>
              <a:t>The virtues of a company and the products </a:t>
            </a:r>
            <a:br>
              <a:rPr lang="en-AU" sz="2000" dirty="0" smtClean="0"/>
            </a:br>
            <a:r>
              <a:rPr lang="en-AU" sz="2000" dirty="0" smtClean="0"/>
              <a:t>and services it provides</a:t>
            </a:r>
            <a:endParaRPr lang="en-US" sz="2000" dirty="0" smtClean="0"/>
          </a:p>
          <a:p>
            <a:pPr lvl="0">
              <a:spcBef>
                <a:spcPts val="600"/>
              </a:spcBef>
              <a:spcAft>
                <a:spcPts val="1200"/>
              </a:spcAft>
            </a:pPr>
            <a:r>
              <a:rPr lang="en-AU" sz="2000" dirty="0" smtClean="0"/>
              <a:t>How the experience benefited them on </a:t>
            </a:r>
            <a:br>
              <a:rPr lang="en-AU" sz="2000" dirty="0" smtClean="0"/>
            </a:br>
            <a:r>
              <a:rPr lang="en-AU" sz="2000" dirty="0" smtClean="0"/>
              <a:t>a personal basis</a:t>
            </a:r>
            <a:endParaRPr lang="en-US" sz="2000" dirty="0" smtClean="0"/>
          </a:p>
          <a:p>
            <a:pPr lvl="0">
              <a:spcBef>
                <a:spcPts val="600"/>
              </a:spcBef>
              <a:spcAft>
                <a:spcPts val="1200"/>
              </a:spcAft>
            </a:pPr>
            <a:endParaRPr lang="en-US" sz="2000" dirty="0" smtClean="0"/>
          </a:p>
          <a:p>
            <a:pPr>
              <a:buNone/>
            </a:pPr>
            <a:endParaRPr lang="en-US" sz="2000" dirty="0" smtClean="0"/>
          </a:p>
          <a:p>
            <a:pPr>
              <a:spcBef>
                <a:spcPts val="600"/>
              </a:spcBef>
              <a:spcAft>
                <a:spcPts val="600"/>
              </a:spcAft>
              <a:buNone/>
            </a:pPr>
            <a:endParaRPr lang="en-AU" sz="2000" dirty="0" smtClean="0">
              <a:solidFill>
                <a:srgbClr val="FF6600"/>
              </a:solidFill>
            </a:endParaRPr>
          </a:p>
          <a:p>
            <a:pPr lvl="0">
              <a:spcBef>
                <a:spcPts val="600"/>
              </a:spcBef>
              <a:spcAft>
                <a:spcPts val="600"/>
              </a:spcAft>
            </a:pPr>
            <a:endParaRPr lang="en-US"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28</a:t>
            </a:fld>
            <a:endParaRPr lang="en-US" dirty="0"/>
          </a:p>
        </p:txBody>
      </p:sp>
      <p:pic>
        <p:nvPicPr>
          <p:cNvPr id="6" name="Picture 5" descr="shutterstock_141396034.jpg"/>
          <p:cNvPicPr/>
          <p:nvPr/>
        </p:nvPicPr>
        <p:blipFill rotWithShape="1">
          <a:blip r:embed="rId3" cstate="print"/>
          <a:srcRect l="31123"/>
          <a:stretch/>
        </p:blipFill>
        <p:spPr>
          <a:xfrm>
            <a:off x="6444208" y="3140968"/>
            <a:ext cx="1800200" cy="1800200"/>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Formats of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72608"/>
          </a:xfrm>
        </p:spPr>
        <p:txBody>
          <a:bodyPr>
            <a:normAutofit/>
          </a:bodyPr>
          <a:lstStyle/>
          <a:p>
            <a:pPr>
              <a:spcBef>
                <a:spcPts val="600"/>
              </a:spcBef>
              <a:spcAft>
                <a:spcPts val="1200"/>
              </a:spcAft>
              <a:buNone/>
            </a:pPr>
            <a:r>
              <a:rPr lang="en-AU" sz="2000" b="1" dirty="0" smtClean="0"/>
              <a:t>Quotations</a:t>
            </a:r>
            <a:endParaRPr lang="en-US" sz="2000" dirty="0" smtClean="0"/>
          </a:p>
          <a:p>
            <a:pPr marL="0">
              <a:spcBef>
                <a:spcPts val="600"/>
              </a:spcBef>
              <a:spcAft>
                <a:spcPts val="1200"/>
              </a:spcAft>
              <a:buNone/>
            </a:pPr>
            <a:r>
              <a:rPr lang="en-AU" sz="2000" dirty="0" smtClean="0"/>
              <a:t>Quotations are used by tourism and travel organisations to sell their products and services, through the use of suppliers, summarised in a way that adds value for the customer:</a:t>
            </a:r>
          </a:p>
          <a:p>
            <a:pPr>
              <a:spcBef>
                <a:spcPts val="600"/>
              </a:spcBef>
              <a:spcAft>
                <a:spcPts val="1200"/>
              </a:spcAft>
            </a:pPr>
            <a:r>
              <a:rPr lang="en-AU" sz="2000" dirty="0" smtClean="0"/>
              <a:t>What information is normally included in a quotation?</a:t>
            </a: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7" name="Picture 6" descr="shutterstock_161774252.jpg"/>
          <p:cNvPicPr/>
          <p:nvPr/>
        </p:nvPicPr>
        <p:blipFill>
          <a:blip r:embed="rId3" cstate="print"/>
          <a:stretch>
            <a:fillRect/>
          </a:stretch>
        </p:blipFill>
        <p:spPr>
          <a:xfrm>
            <a:off x="3275856" y="4005064"/>
            <a:ext cx="1368152" cy="1872208"/>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Formats of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000" b="1" dirty="0" smtClean="0"/>
              <a:t>Personal observations</a:t>
            </a:r>
            <a:endParaRPr lang="en-US" sz="2000" dirty="0" smtClean="0"/>
          </a:p>
          <a:p>
            <a:pPr marL="0">
              <a:spcBef>
                <a:spcPts val="600"/>
              </a:spcBef>
              <a:spcAft>
                <a:spcPts val="1200"/>
              </a:spcAft>
              <a:buNone/>
            </a:pPr>
            <a:r>
              <a:rPr lang="en-US" sz="2000" dirty="0" smtClean="0"/>
              <a:t>Naturally one of the best types of information that can be used by an organisation is that which has been personally collected.</a:t>
            </a:r>
          </a:p>
          <a:p>
            <a:pPr lvl="0">
              <a:spcBef>
                <a:spcPts val="600"/>
              </a:spcBef>
              <a:spcAft>
                <a:spcPts val="1200"/>
              </a:spcAft>
            </a:pPr>
            <a:r>
              <a:rPr lang="en-US" sz="2000" dirty="0" smtClean="0"/>
              <a:t>Personal notes</a:t>
            </a:r>
          </a:p>
          <a:p>
            <a:pPr lvl="0">
              <a:spcBef>
                <a:spcPts val="600"/>
              </a:spcBef>
              <a:spcAft>
                <a:spcPts val="1200"/>
              </a:spcAft>
            </a:pPr>
            <a:r>
              <a:rPr lang="en-US" sz="2000" dirty="0" smtClean="0"/>
              <a:t>Report and findings</a:t>
            </a:r>
          </a:p>
          <a:p>
            <a:pPr lvl="0">
              <a:spcBef>
                <a:spcPts val="600"/>
              </a:spcBef>
              <a:spcAft>
                <a:spcPts val="1200"/>
              </a:spcAft>
            </a:pPr>
            <a:r>
              <a:rPr lang="en-US" sz="2000" dirty="0" smtClean="0"/>
              <a:t>Log books</a:t>
            </a:r>
          </a:p>
          <a:p>
            <a:pPr lvl="0">
              <a:spcBef>
                <a:spcPts val="600"/>
              </a:spcBef>
              <a:spcAft>
                <a:spcPts val="1200"/>
              </a:spcAft>
            </a:pPr>
            <a:r>
              <a:rPr lang="en-US" sz="2000" dirty="0" smtClean="0"/>
              <a:t>R</a:t>
            </a:r>
            <a:r>
              <a:rPr lang="en-AU" sz="2000" dirty="0" smtClean="0"/>
              <a:t>ecords of interviews</a:t>
            </a:r>
            <a:endParaRPr lang="en-US" sz="2000" dirty="0" smtClean="0"/>
          </a:p>
          <a:p>
            <a:pPr lvl="0">
              <a:spcBef>
                <a:spcPts val="600"/>
              </a:spcBef>
              <a:spcAft>
                <a:spcPts val="1200"/>
              </a:spcAft>
            </a:pPr>
            <a:r>
              <a:rPr lang="en-AU" sz="2000" dirty="0" smtClean="0"/>
              <a:t>Notes of first-hand meetings</a:t>
            </a:r>
          </a:p>
          <a:p>
            <a:pPr lvl="0">
              <a:spcBef>
                <a:spcPts val="600"/>
              </a:spcBef>
              <a:spcAft>
                <a:spcPts val="1200"/>
              </a:spcAft>
            </a:pPr>
            <a:endParaRPr lang="en-AU" sz="1600" b="1" i="1" dirty="0" smtClean="0">
              <a:solidFill>
                <a:srgbClr val="FF6600"/>
              </a:solidFill>
            </a:endParaRPr>
          </a:p>
          <a:p>
            <a:pPr>
              <a:spcBef>
                <a:spcPts val="600"/>
              </a:spcBef>
              <a:spcAft>
                <a:spcPts val="1200"/>
              </a:spcAft>
              <a:buNone/>
            </a:pPr>
            <a:r>
              <a:rPr lang="en-AU" sz="2000" b="1" i="1" dirty="0" smtClean="0">
                <a:solidFill>
                  <a:srgbClr val="FF6600"/>
                </a:solidFill>
              </a:rPr>
              <a:t>COMPLETE ACTIVITY 2</a:t>
            </a:r>
          </a:p>
          <a:p>
            <a:pPr lvl="0">
              <a:spcBef>
                <a:spcPts val="600"/>
              </a:spcBef>
              <a:spcAft>
                <a:spcPts val="1200"/>
              </a:spcAft>
              <a:buNone/>
            </a:pPr>
            <a:endParaRPr lang="en-US" sz="2000" dirty="0" smtClean="0"/>
          </a:p>
          <a:p>
            <a:endParaRPr lang="en-US" sz="2000" dirty="0" smtClean="0"/>
          </a:p>
          <a:p>
            <a:pPr lvl="0">
              <a:spcBef>
                <a:spcPts val="600"/>
              </a:spcBef>
              <a:spcAft>
                <a:spcPts val="1200"/>
              </a:spcAft>
              <a:buNone/>
            </a:pPr>
            <a:endParaRPr lang="en-AU" sz="2000" dirty="0" smtClean="0">
              <a:solidFill>
                <a:srgbClr val="FF6600"/>
              </a:solidFill>
            </a:endParaRPr>
          </a:p>
          <a:p>
            <a:pPr>
              <a:spcBef>
                <a:spcPts val="600"/>
              </a:spcBef>
              <a:spcAft>
                <a:spcPts val="1200"/>
              </a:spcAft>
            </a:pPr>
            <a:endParaRPr lang="en-AU" sz="2000" dirty="0" smtClean="0"/>
          </a:p>
          <a:p>
            <a:pPr>
              <a:spcBef>
                <a:spcPts val="600"/>
              </a:spcBef>
              <a:spcAft>
                <a:spcPts val="1200"/>
              </a:spcAft>
            </a:pPr>
            <a:endParaRPr lang="en-AU" sz="2000" dirty="0" smtClean="0"/>
          </a:p>
          <a:p>
            <a:endParaRPr lang="en-US" sz="2000" dirty="0" smtClean="0"/>
          </a:p>
          <a:p>
            <a:pPr>
              <a:buNone/>
            </a:pPr>
            <a:endParaRPr lang="en-US" sz="2000" dirty="0" smtClean="0"/>
          </a:p>
          <a:p>
            <a:pPr marL="0">
              <a:spcBef>
                <a:spcPts val="600"/>
              </a:spcBef>
              <a:spcAft>
                <a:spcPts val="600"/>
              </a:spcAft>
              <a:buNone/>
            </a:pPr>
            <a:endParaRPr lang="en-US" sz="2000" dirty="0" smtClean="0"/>
          </a:p>
          <a:p>
            <a:pPr marL="360000" indent="-360000">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6" name="Picture 5" descr="shutterstock_2953316.jpg"/>
          <p:cNvPicPr/>
          <p:nvPr/>
        </p:nvPicPr>
        <p:blipFill>
          <a:blip r:embed="rId3" cstate="print"/>
          <a:stretch>
            <a:fillRect/>
          </a:stretch>
        </p:blipFill>
        <p:spPr>
          <a:xfrm>
            <a:off x="6588224" y="3933056"/>
            <a:ext cx="1800200" cy="1533645"/>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criteria for capturing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11349"/>
            <a:ext cx="7467600" cy="4525963"/>
          </a:xfrm>
        </p:spPr>
        <p:txBody>
          <a:bodyPr>
            <a:normAutofit/>
          </a:bodyPr>
          <a:lstStyle/>
          <a:p>
            <a:pPr marL="0">
              <a:spcBef>
                <a:spcPts val="600"/>
              </a:spcBef>
              <a:spcAft>
                <a:spcPts val="600"/>
              </a:spcAft>
              <a:buNone/>
            </a:pPr>
            <a:r>
              <a:rPr lang="en-AU" sz="2000" b="1" dirty="0" smtClean="0"/>
              <a:t>Importance of having useful and appropriate destination information</a:t>
            </a:r>
            <a:endParaRPr lang="en-US" sz="2000" b="1" dirty="0" smtClean="0"/>
          </a:p>
          <a:p>
            <a:pPr marL="0">
              <a:spcBef>
                <a:spcPts val="600"/>
              </a:spcBef>
              <a:spcAft>
                <a:spcPts val="600"/>
              </a:spcAft>
              <a:buNone/>
            </a:pPr>
            <a:r>
              <a:rPr lang="en-AU" sz="2000" dirty="0" smtClean="0"/>
              <a:t>Whilst there is endless pieces of destination information available, it is essential that you are focused on collecting information that will be useful in relation to providing relevant and tailored advice and services to your customers:</a:t>
            </a:r>
            <a:endParaRPr lang="en-US" sz="2000" dirty="0" smtClean="0"/>
          </a:p>
          <a:p>
            <a:pPr>
              <a:spcBef>
                <a:spcPts val="600"/>
              </a:spcBef>
              <a:spcAft>
                <a:spcPts val="600"/>
              </a:spcAft>
            </a:pPr>
            <a:r>
              <a:rPr lang="en-AU" sz="2000" dirty="0" smtClean="0"/>
              <a:t>How can you determine which sources are </a:t>
            </a:r>
            <a:br>
              <a:rPr lang="en-AU" sz="2000" dirty="0" smtClean="0"/>
            </a:br>
            <a:r>
              <a:rPr lang="en-AU" sz="2000" dirty="0" smtClean="0"/>
              <a:t>appropriate?</a:t>
            </a:r>
          </a:p>
          <a:p>
            <a:pPr>
              <a:spcBef>
                <a:spcPts val="600"/>
              </a:spcBef>
              <a:spcAft>
                <a:spcPts val="600"/>
              </a:spcAft>
            </a:pPr>
            <a:r>
              <a:rPr lang="en-AU" sz="2000" dirty="0" smtClean="0"/>
              <a:t>How can you determine the information from </a:t>
            </a:r>
            <a:br>
              <a:rPr lang="en-AU" sz="2000" dirty="0" smtClean="0"/>
            </a:br>
            <a:r>
              <a:rPr lang="en-AU" sz="2000" dirty="0" smtClean="0"/>
              <a:t>each source is useful?</a:t>
            </a:r>
          </a:p>
          <a:p>
            <a:endParaRPr lang="en-US"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31</a:t>
            </a:fld>
            <a:endParaRPr lang="en-US" dirty="0"/>
          </a:p>
        </p:txBody>
      </p:sp>
      <p:pic>
        <p:nvPicPr>
          <p:cNvPr id="6" name="Picture 5" descr="shutterstock_14099602.jpg"/>
          <p:cNvPicPr/>
          <p:nvPr/>
        </p:nvPicPr>
        <p:blipFill>
          <a:blip r:embed="rId3" cstate="print"/>
          <a:stretch>
            <a:fillRect/>
          </a:stretch>
        </p:blipFill>
        <p:spPr>
          <a:xfrm>
            <a:off x="7020272" y="3645024"/>
            <a:ext cx="1368152" cy="1872208"/>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criteria for capturing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600"/>
              </a:spcAft>
              <a:buNone/>
            </a:pPr>
            <a:r>
              <a:rPr lang="en-AU" sz="2000" b="1" dirty="0" smtClean="0">
                <a:latin typeface="Helvetica" pitchFamily="34" charset="0"/>
              </a:rPr>
              <a:t>Importance of having useful and appropriate destination information</a:t>
            </a:r>
            <a:endParaRPr lang="en-US" sz="2000" b="1" dirty="0" smtClean="0">
              <a:latin typeface="Helvetica" pitchFamily="34" charset="0"/>
            </a:endParaRPr>
          </a:p>
          <a:p>
            <a:pPr lvl="0">
              <a:spcBef>
                <a:spcPts val="600"/>
              </a:spcBef>
              <a:spcAft>
                <a:spcPts val="600"/>
              </a:spcAft>
            </a:pPr>
            <a:r>
              <a:rPr lang="en-AU" sz="2000" dirty="0" smtClean="0">
                <a:latin typeface="Helvetica" pitchFamily="34" charset="0"/>
              </a:rPr>
              <a:t>To demonstrate the professionalism</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To answer routine questions</a:t>
            </a:r>
            <a:endParaRPr lang="en-US" sz="2000" dirty="0" smtClean="0">
              <a:latin typeface="Helvetica" pitchFamily="34" charset="0"/>
            </a:endParaRPr>
          </a:p>
          <a:p>
            <a:pPr lvl="0">
              <a:spcBef>
                <a:spcPts val="600"/>
              </a:spcBef>
              <a:spcAft>
                <a:spcPts val="600"/>
              </a:spcAft>
            </a:pPr>
            <a:r>
              <a:rPr lang="en-US" sz="2000" dirty="0" smtClean="0">
                <a:latin typeface="Helvetica" pitchFamily="34" charset="0"/>
              </a:rPr>
              <a:t>Provide destination information and advice</a:t>
            </a:r>
          </a:p>
          <a:p>
            <a:pPr lvl="0">
              <a:spcBef>
                <a:spcPts val="600"/>
              </a:spcBef>
              <a:spcAft>
                <a:spcPts val="600"/>
              </a:spcAft>
            </a:pPr>
            <a:r>
              <a:rPr lang="en-US" sz="2000" dirty="0" smtClean="0">
                <a:latin typeface="Helvetica" pitchFamily="34" charset="0"/>
              </a:rPr>
              <a:t>Provide specific product advice</a:t>
            </a:r>
          </a:p>
          <a:p>
            <a:pPr lvl="0">
              <a:spcBef>
                <a:spcPts val="600"/>
              </a:spcBef>
              <a:spcAft>
                <a:spcPts val="600"/>
              </a:spcAft>
            </a:pPr>
            <a:r>
              <a:rPr lang="en-AU" sz="2000" dirty="0" smtClean="0">
                <a:latin typeface="Helvetica" pitchFamily="34" charset="0"/>
              </a:rPr>
              <a:t>To provide additional information</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To advise customers of up-coming events</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To make recommendations and suggestions</a:t>
            </a:r>
            <a:endParaRPr lang="en-US"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32</a:t>
            </a:fld>
            <a:endParaRPr lang="en-US" dirty="0"/>
          </a:p>
        </p:txBody>
      </p:sp>
      <p:pic>
        <p:nvPicPr>
          <p:cNvPr id="7" name="Picture 6" descr="shutterstock_141853249.jpg"/>
          <p:cNvPicPr/>
          <p:nvPr/>
        </p:nvPicPr>
        <p:blipFill>
          <a:blip r:embed="rId3" cstate="print"/>
          <a:stretch>
            <a:fillRect/>
          </a:stretch>
        </p:blipFill>
        <p:spPr>
          <a:xfrm>
            <a:off x="6444208" y="4149080"/>
            <a:ext cx="1944216" cy="1368152"/>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criteria for capturing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600"/>
              </a:spcAft>
              <a:buNone/>
            </a:pPr>
            <a:r>
              <a:rPr lang="en-AU" sz="2000" b="1" dirty="0" smtClean="0">
                <a:latin typeface="Helvetica" pitchFamily="34" charset="0"/>
              </a:rPr>
              <a:t>Importance of having useful and appropriate destination information</a:t>
            </a:r>
            <a:endParaRPr lang="en-US" sz="2000" b="1" dirty="0" smtClean="0">
              <a:latin typeface="Helvetica" pitchFamily="34" charset="0"/>
            </a:endParaRPr>
          </a:p>
          <a:p>
            <a:pPr lvl="0">
              <a:spcBef>
                <a:spcPts val="600"/>
              </a:spcBef>
              <a:spcAft>
                <a:spcPts val="1200"/>
              </a:spcAft>
            </a:pPr>
            <a:r>
              <a:rPr lang="en-AU" sz="2000" dirty="0" smtClean="0">
                <a:latin typeface="Helvetica" pitchFamily="34" charset="0"/>
              </a:rPr>
              <a:t>Selling tourism products</a:t>
            </a:r>
            <a:endParaRPr lang="en-US" sz="2000" dirty="0" smtClean="0">
              <a:latin typeface="Helvetica" pitchFamily="34" charset="0"/>
            </a:endParaRPr>
          </a:p>
          <a:p>
            <a:pPr lvl="0">
              <a:spcBef>
                <a:spcPts val="600"/>
              </a:spcBef>
              <a:spcAft>
                <a:spcPts val="1200"/>
              </a:spcAft>
            </a:pPr>
            <a:r>
              <a:rPr lang="en-US" sz="2000" dirty="0" smtClean="0">
                <a:latin typeface="Helvetica" pitchFamily="34" charset="0"/>
              </a:rPr>
              <a:t>Quote specific individual tourism product prices</a:t>
            </a:r>
          </a:p>
          <a:p>
            <a:pPr lvl="0">
              <a:spcBef>
                <a:spcPts val="600"/>
              </a:spcBef>
              <a:spcAft>
                <a:spcPts val="1200"/>
              </a:spcAft>
            </a:pPr>
            <a:r>
              <a:rPr lang="en-AU" sz="2000" dirty="0" smtClean="0">
                <a:latin typeface="Helvetica" pitchFamily="34" charset="0"/>
              </a:rPr>
              <a:t>Booking and coordinating services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Receiving and processing reservations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Processing financial transactions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Issuing customer travel documentation</a:t>
            </a:r>
            <a:endParaRPr lang="en-US"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33</a:t>
            </a:fld>
            <a:endParaRPr lang="en-US" dirty="0"/>
          </a:p>
        </p:txBody>
      </p:sp>
      <p:pic>
        <p:nvPicPr>
          <p:cNvPr id="5" name="Picture 4" descr="shutterstock_129565649.jpg"/>
          <p:cNvPicPr>
            <a:picLocks noChangeAspect="1"/>
          </p:cNvPicPr>
          <p:nvPr/>
        </p:nvPicPr>
        <p:blipFill>
          <a:blip r:embed="rId3" cstate="print"/>
          <a:stretch>
            <a:fillRect/>
          </a:stretch>
        </p:blipFill>
        <p:spPr>
          <a:xfrm>
            <a:off x="6228184" y="4005064"/>
            <a:ext cx="2159160" cy="1440160"/>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criteria for capturing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a:spcBef>
                <a:spcPts val="600"/>
              </a:spcBef>
              <a:spcAft>
                <a:spcPts val="600"/>
              </a:spcAft>
              <a:buNone/>
            </a:pPr>
            <a:r>
              <a:rPr lang="en-AU" sz="2000" b="1" dirty="0" smtClean="0">
                <a:latin typeface="Helvetica" pitchFamily="34" charset="0"/>
              </a:rPr>
              <a:t>Importance of having useful and appropriate destination information</a:t>
            </a:r>
            <a:endParaRPr lang="en-US" sz="2000" b="1" dirty="0" smtClean="0">
              <a:latin typeface="Helvetica" pitchFamily="34" charset="0"/>
            </a:endParaRPr>
          </a:p>
          <a:p>
            <a:pPr lvl="0">
              <a:spcBef>
                <a:spcPts val="600"/>
              </a:spcBef>
              <a:spcAft>
                <a:spcPts val="1200"/>
              </a:spcAft>
            </a:pPr>
            <a:r>
              <a:rPr lang="en-AU" sz="2000" dirty="0" smtClean="0">
                <a:latin typeface="Helvetica" pitchFamily="34" charset="0"/>
              </a:rPr>
              <a:t>Issuing itineraries</a:t>
            </a:r>
            <a:endParaRPr lang="en-US" sz="2000" dirty="0" smtClean="0">
              <a:latin typeface="Helvetica" pitchFamily="34" charset="0"/>
            </a:endParaRPr>
          </a:p>
          <a:p>
            <a:pPr lvl="0">
              <a:spcBef>
                <a:spcPts val="600"/>
              </a:spcBef>
              <a:spcAft>
                <a:spcPts val="1200"/>
              </a:spcAft>
            </a:pPr>
            <a:r>
              <a:rPr lang="en-US" sz="2000" dirty="0" smtClean="0">
                <a:latin typeface="Helvetica" pitchFamily="34" charset="0"/>
              </a:rPr>
              <a:t>Explain the features of the products</a:t>
            </a:r>
          </a:p>
          <a:p>
            <a:pPr lvl="0">
              <a:spcBef>
                <a:spcPts val="600"/>
              </a:spcBef>
              <a:spcAft>
                <a:spcPts val="1200"/>
              </a:spcAft>
            </a:pPr>
            <a:r>
              <a:rPr lang="en-AU" sz="2000" dirty="0" smtClean="0">
                <a:latin typeface="Helvetica" pitchFamily="34" charset="0"/>
              </a:rPr>
              <a:t>To generate repeat business from customers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To generate referral business</a:t>
            </a:r>
            <a:endParaRPr lang="en-US" sz="2000" dirty="0" smtClean="0">
              <a:latin typeface="Helvetica" pitchFamily="34" charset="0"/>
            </a:endParaRPr>
          </a:p>
          <a:p>
            <a:pPr>
              <a:spcBef>
                <a:spcPts val="600"/>
              </a:spcBef>
              <a:spcAft>
                <a:spcPts val="1200"/>
              </a:spcAft>
            </a:pPr>
            <a:r>
              <a:rPr lang="en-AU" sz="2000" dirty="0" smtClean="0">
                <a:latin typeface="Helvetica" pitchFamily="34" charset="0"/>
              </a:rPr>
              <a:t>To comply with general</a:t>
            </a:r>
            <a:br>
              <a:rPr lang="en-AU" sz="2000" dirty="0" smtClean="0">
                <a:latin typeface="Helvetica" pitchFamily="34" charset="0"/>
              </a:rPr>
            </a:br>
            <a:r>
              <a:rPr lang="en-AU" sz="2000" dirty="0" smtClean="0">
                <a:latin typeface="Helvetica" pitchFamily="34" charset="0"/>
              </a:rPr>
              <a:t>operational requirements </a:t>
            </a:r>
            <a:endParaRPr lang="en-US"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34</a:t>
            </a:fld>
            <a:endParaRPr lang="en-US" dirty="0"/>
          </a:p>
        </p:txBody>
      </p:sp>
      <p:pic>
        <p:nvPicPr>
          <p:cNvPr id="5" name="Picture 4" descr="shutterstock_114113611.jpg"/>
          <p:cNvPicPr>
            <a:picLocks noChangeAspect="1"/>
          </p:cNvPicPr>
          <p:nvPr/>
        </p:nvPicPr>
        <p:blipFill>
          <a:blip r:embed="rId3" cstate="print"/>
          <a:stretch>
            <a:fillRect/>
          </a:stretch>
        </p:blipFill>
        <p:spPr>
          <a:xfrm>
            <a:off x="6156176" y="4005064"/>
            <a:ext cx="2267118" cy="1512168"/>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criteria for capturing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000" b="1" dirty="0" smtClean="0">
                <a:latin typeface="Helvetica" pitchFamily="34" charset="0"/>
              </a:rPr>
              <a:t>Criteria for capturing destination information</a:t>
            </a:r>
            <a:endParaRPr lang="en-US" sz="2000" b="1" dirty="0" smtClean="0">
              <a:latin typeface="Helvetica" pitchFamily="34" charset="0"/>
            </a:endParaRPr>
          </a:p>
          <a:p>
            <a:pPr lvl="0">
              <a:spcBef>
                <a:spcPts val="600"/>
              </a:spcBef>
              <a:spcAft>
                <a:spcPts val="1200"/>
              </a:spcAft>
            </a:pPr>
            <a:r>
              <a:rPr lang="en-AU" sz="2000" dirty="0" smtClean="0">
                <a:latin typeface="Helvetica" pitchFamily="34" charset="0"/>
              </a:rPr>
              <a:t>Accuracy</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Currency</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Completeness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Reliability and reputation of source</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Cost</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Ease-of-access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Copyright-free status of information</a:t>
            </a:r>
            <a:endParaRPr lang="en-US"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pic>
        <p:nvPicPr>
          <p:cNvPr id="6" name="Picture 5" descr="A8 shutterstock_149513465.jpg"/>
          <p:cNvPicPr/>
          <p:nvPr/>
        </p:nvPicPr>
        <p:blipFill>
          <a:blip r:embed="rId3" cstate="print"/>
          <a:stretch>
            <a:fillRect/>
          </a:stretch>
        </p:blipFill>
        <p:spPr>
          <a:xfrm>
            <a:off x="6372200" y="4077072"/>
            <a:ext cx="2016224" cy="1440160"/>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Identify criteria for capturing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28192"/>
            <a:ext cx="7467600" cy="5301208"/>
          </a:xfrm>
        </p:spPr>
        <p:txBody>
          <a:bodyPr>
            <a:normAutofit/>
          </a:bodyPr>
          <a:lstStyle/>
          <a:p>
            <a:pPr marL="0">
              <a:spcBef>
                <a:spcPts val="600"/>
              </a:spcBef>
              <a:spcAft>
                <a:spcPts val="600"/>
              </a:spcAft>
              <a:buNone/>
            </a:pPr>
            <a:r>
              <a:rPr lang="en-AU" sz="1800" b="1" dirty="0" smtClean="0"/>
              <a:t>Methods to ensure compliance with information collection criteria</a:t>
            </a:r>
            <a:endParaRPr lang="en-US" sz="1800" dirty="0" smtClean="0"/>
          </a:p>
          <a:p>
            <a:pPr lvl="0">
              <a:spcBef>
                <a:spcPts val="600"/>
              </a:spcBef>
              <a:spcAft>
                <a:spcPts val="600"/>
              </a:spcAft>
            </a:pPr>
            <a:r>
              <a:rPr lang="en-AU" sz="1800" dirty="0" smtClean="0"/>
              <a:t>Use of checklists</a:t>
            </a:r>
            <a:endParaRPr lang="en-US" sz="1800" dirty="0" smtClean="0"/>
          </a:p>
          <a:p>
            <a:pPr lvl="0">
              <a:spcBef>
                <a:spcPts val="600"/>
              </a:spcBef>
              <a:spcAft>
                <a:spcPts val="600"/>
              </a:spcAft>
            </a:pPr>
            <a:r>
              <a:rPr lang="en-AU" sz="1800" dirty="0" smtClean="0"/>
              <a:t>Putting yourself in the eyes of the customer</a:t>
            </a:r>
            <a:endParaRPr lang="en-US" sz="1800" dirty="0" smtClean="0"/>
          </a:p>
          <a:p>
            <a:pPr lvl="0">
              <a:spcBef>
                <a:spcPts val="600"/>
              </a:spcBef>
              <a:spcAft>
                <a:spcPts val="600"/>
              </a:spcAft>
            </a:pPr>
            <a:r>
              <a:rPr lang="en-AU" sz="1800" dirty="0" smtClean="0"/>
              <a:t>Checking to ensure you have all necessary information</a:t>
            </a:r>
            <a:endParaRPr lang="en-US" sz="1800" dirty="0" smtClean="0"/>
          </a:p>
          <a:p>
            <a:pPr lvl="0">
              <a:spcBef>
                <a:spcPts val="600"/>
              </a:spcBef>
              <a:spcAft>
                <a:spcPts val="600"/>
              </a:spcAft>
            </a:pPr>
            <a:r>
              <a:rPr lang="en-AU" sz="1800" dirty="0" smtClean="0"/>
              <a:t>Identify date in which current information was compiled</a:t>
            </a:r>
            <a:endParaRPr lang="en-US" sz="1800" dirty="0" smtClean="0"/>
          </a:p>
          <a:p>
            <a:pPr lvl="0">
              <a:spcBef>
                <a:spcPts val="600"/>
              </a:spcBef>
              <a:spcAft>
                <a:spcPts val="600"/>
              </a:spcAft>
            </a:pPr>
            <a:r>
              <a:rPr lang="en-AU" sz="1800" dirty="0" smtClean="0"/>
              <a:t>Checking version of the brochure or information</a:t>
            </a:r>
            <a:endParaRPr lang="en-US" sz="1800" dirty="0" smtClean="0"/>
          </a:p>
          <a:p>
            <a:pPr lvl="0">
              <a:spcBef>
                <a:spcPts val="600"/>
              </a:spcBef>
              <a:spcAft>
                <a:spcPts val="600"/>
              </a:spcAft>
            </a:pPr>
            <a:r>
              <a:rPr lang="en-AU" sz="1800" dirty="0" smtClean="0"/>
              <a:t>Checking on the website for accurate                                 'real time' information</a:t>
            </a:r>
            <a:endParaRPr lang="en-US" sz="1800" dirty="0" smtClean="0"/>
          </a:p>
          <a:p>
            <a:pPr lvl="0">
              <a:spcBef>
                <a:spcPts val="600"/>
              </a:spcBef>
              <a:spcAft>
                <a:spcPts val="600"/>
              </a:spcAft>
            </a:pPr>
            <a:r>
              <a:rPr lang="en-AU" sz="1800" dirty="0" smtClean="0"/>
              <a:t>Contacting the supplier to verify information</a:t>
            </a:r>
          </a:p>
          <a:p>
            <a:pPr lvl="0">
              <a:spcBef>
                <a:spcPts val="600"/>
              </a:spcBef>
              <a:spcAft>
                <a:spcPts val="600"/>
              </a:spcAft>
            </a:pPr>
            <a:endParaRPr lang="en-AU" sz="1800" dirty="0" smtClean="0"/>
          </a:p>
          <a:p>
            <a:pPr>
              <a:spcBef>
                <a:spcPts val="600"/>
              </a:spcBef>
              <a:spcAft>
                <a:spcPts val="600"/>
              </a:spcAft>
              <a:buNone/>
            </a:pPr>
            <a:r>
              <a:rPr lang="en-AU" sz="1800" b="1" i="1" dirty="0" smtClean="0">
                <a:solidFill>
                  <a:srgbClr val="FF6600"/>
                </a:solidFill>
              </a:rPr>
              <a:t>COMPLETE ACTIVITY 3</a:t>
            </a:r>
          </a:p>
          <a:p>
            <a:pPr lvl="0">
              <a:spcBef>
                <a:spcPts val="600"/>
              </a:spcBef>
              <a:spcAft>
                <a:spcPts val="600"/>
              </a:spcAft>
            </a:pPr>
            <a:endParaRPr lang="en-US" sz="18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36</a:t>
            </a:fld>
            <a:endParaRPr lang="en-US" dirty="0"/>
          </a:p>
        </p:txBody>
      </p:sp>
      <p:pic>
        <p:nvPicPr>
          <p:cNvPr id="7" name="Picture 6" descr="Generic_Assessment_115352104.jpg"/>
          <p:cNvPicPr/>
          <p:nvPr/>
        </p:nvPicPr>
        <p:blipFill>
          <a:blip r:embed="rId3" cstate="print"/>
          <a:stretch>
            <a:fillRect/>
          </a:stretch>
        </p:blipFill>
        <p:spPr>
          <a:xfrm>
            <a:off x="6300192" y="4221088"/>
            <a:ext cx="2072979" cy="1512168"/>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200800" cy="1143000"/>
          </a:xfrm>
        </p:spPr>
        <p:txBody>
          <a:bodyPr>
            <a:normAutofit/>
          </a:bodyPr>
          <a:lstStyle/>
          <a:p>
            <a:r>
              <a:rPr lang="en-AU" sz="3400" b="1" dirty="0" smtClean="0">
                <a:solidFill>
                  <a:srgbClr val="FF6600"/>
                </a:solidFill>
                <a:latin typeface="Helvetica" pitchFamily="34" charset="0"/>
              </a:rPr>
              <a:t>Read and review destination information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560784" y="1728192"/>
            <a:ext cx="7467600" cy="5301208"/>
          </a:xfrm>
        </p:spPr>
        <p:txBody>
          <a:bodyPr>
            <a:normAutofit/>
          </a:bodyPr>
          <a:lstStyle/>
          <a:p>
            <a:pPr>
              <a:spcBef>
                <a:spcPts val="600"/>
              </a:spcBef>
              <a:spcAft>
                <a:spcPts val="1200"/>
              </a:spcAft>
              <a:buNone/>
            </a:pPr>
            <a:r>
              <a:rPr lang="en-US" sz="2000" b="1" dirty="0" smtClean="0"/>
              <a:t>Importance of reviewing information</a:t>
            </a:r>
            <a:endParaRPr lang="en-US" sz="2000" dirty="0" smtClean="0"/>
          </a:p>
          <a:p>
            <a:pPr marL="0">
              <a:spcBef>
                <a:spcPts val="600"/>
              </a:spcBef>
              <a:spcAft>
                <a:spcPts val="1200"/>
              </a:spcAft>
              <a:buNone/>
            </a:pPr>
            <a:r>
              <a:rPr lang="en-AU" sz="2000" dirty="0" smtClean="0"/>
              <a:t>When you capture destination information through the use of various sources it is important to read and review the information and determine its importance, accuracy and relevancy for your organisation and customers:</a:t>
            </a:r>
          </a:p>
          <a:p>
            <a:pPr>
              <a:spcBef>
                <a:spcPts val="600"/>
              </a:spcBef>
              <a:spcAft>
                <a:spcPts val="1200"/>
              </a:spcAft>
            </a:pPr>
            <a:r>
              <a:rPr lang="en-AU" sz="2000" dirty="0" smtClean="0"/>
              <a:t>What are objectives of reading and reviewing captured destination information?</a:t>
            </a:r>
            <a:endParaRPr lang="en-US" sz="2000" dirty="0" smtClean="0"/>
          </a:p>
          <a:p>
            <a:pPr>
              <a:spcBef>
                <a:spcPts val="600"/>
              </a:spcBef>
              <a:spcAft>
                <a:spcPts val="1200"/>
              </a:spcAft>
            </a:pPr>
            <a:endParaRPr lang="en-US" sz="2000" dirty="0" smtClean="0"/>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p>
          <a:p>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pic>
        <p:nvPicPr>
          <p:cNvPr id="6" name="Picture 5" descr="W380_reports_shutterstock_117432517.jpg"/>
          <p:cNvPicPr>
            <a:picLocks noChangeAspect="1"/>
          </p:cNvPicPr>
          <p:nvPr/>
        </p:nvPicPr>
        <p:blipFill>
          <a:blip r:embed="rId3" cstate="print"/>
          <a:stretch>
            <a:fillRect/>
          </a:stretch>
        </p:blipFill>
        <p:spPr>
          <a:xfrm>
            <a:off x="6300192" y="4252613"/>
            <a:ext cx="2111896" cy="1408635"/>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Interpreting destination information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Interpreting information</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The aim of interpreting information is to analyse all the information collected with the hope of providing a summary of key pieces of evidence in which assumptions, conclusions and recommendations be based</a:t>
            </a:r>
            <a:endParaRPr lang="en-US" sz="2200" dirty="0" smtClean="0">
              <a:latin typeface="Helvetica" pitchFamily="34" charset="0"/>
            </a:endParaRP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6" name="Picture 5" descr="shutterstock_148857527.jpg"/>
          <p:cNvPicPr/>
          <p:nvPr/>
        </p:nvPicPr>
        <p:blipFill>
          <a:blip r:embed="rId3" cstate="print"/>
          <a:stretch>
            <a:fillRect/>
          </a:stretch>
        </p:blipFill>
        <p:spPr>
          <a:xfrm>
            <a:off x="6084168" y="4077072"/>
            <a:ext cx="2304256" cy="1512168"/>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Interpreting destination information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Purpose of interpreting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Gaining further understanding of the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Identifying any questions you may have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 the key points in which you may </a:t>
            </a:r>
            <a:br>
              <a:rPr lang="en-AU" sz="2200" dirty="0" smtClean="0">
                <a:latin typeface="Helvetica" pitchFamily="34" charset="0"/>
              </a:rPr>
            </a:br>
            <a:r>
              <a:rPr lang="en-AU" sz="2200" dirty="0" smtClean="0">
                <a:latin typeface="Helvetica" pitchFamily="34" charset="0"/>
              </a:rPr>
              <a:t>convey to stakeholders, colleagues </a:t>
            </a:r>
            <a:br>
              <a:rPr lang="en-AU" sz="2200" dirty="0" smtClean="0">
                <a:latin typeface="Helvetica" pitchFamily="34" charset="0"/>
              </a:rPr>
            </a:br>
            <a:r>
              <a:rPr lang="en-AU" sz="2200" dirty="0" smtClean="0">
                <a:latin typeface="Helvetica" pitchFamily="34" charset="0"/>
              </a:rPr>
              <a:t>or clients</a:t>
            </a:r>
            <a:endParaRPr lang="en-US" sz="2200" dirty="0" smtClean="0">
              <a:latin typeface="Helvetica" pitchFamily="34" charset="0"/>
            </a:endParaRPr>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7" name="Picture 6" descr="shutterstock_91170884.jpg"/>
          <p:cNvPicPr>
            <a:picLocks noChangeAspect="1"/>
          </p:cNvPicPr>
          <p:nvPr/>
        </p:nvPicPr>
        <p:blipFill>
          <a:blip r:embed="rId3" cstate="print"/>
          <a:stretch>
            <a:fillRect/>
          </a:stretch>
        </p:blipFill>
        <p:spPr>
          <a:xfrm>
            <a:off x="6181781" y="2852936"/>
            <a:ext cx="2135469" cy="1800200"/>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Interpreting destination information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Interpreting information</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Analysis and interpreting the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Classifying the information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Preparing summaries with supporting evidence                           of the results of the data analysis</a:t>
            </a:r>
            <a:endParaRPr lang="en-US" sz="2200" dirty="0" smtClean="0">
              <a:latin typeface="Helvetica" pitchFamily="34" charset="0"/>
            </a:endParaRPr>
          </a:p>
          <a:p>
            <a:endParaRPr lang="en-US" sz="2400" b="1" dirty="0" smtClean="0"/>
          </a:p>
          <a:p>
            <a:pPr>
              <a:spcBef>
                <a:spcPts val="600"/>
              </a:spcBef>
              <a:spcAft>
                <a:spcPts val="1200"/>
              </a:spcAft>
              <a:buNone/>
            </a:pPr>
            <a:endParaRPr lang="en-US" sz="2400" dirty="0" smtClean="0"/>
          </a:p>
          <a:p>
            <a:endParaRPr lang="en-AU" sz="2400" b="1" dirty="0" smtClean="0"/>
          </a:p>
          <a:p>
            <a:endParaRPr lang="en-US" sz="2400" dirty="0" smtClean="0"/>
          </a:p>
          <a:p>
            <a:pPr>
              <a:spcBef>
                <a:spcPts val="600"/>
              </a:spcBef>
              <a:spcAft>
                <a:spcPts val="600"/>
              </a:spcAft>
            </a:pPr>
            <a:endParaRPr lang="en-US" sz="2200" b="1" dirty="0" smtClean="0">
              <a:latin typeface="Helvetica" pitchFamily="34" charset="0"/>
            </a:endParaRPr>
          </a:p>
          <a:p>
            <a:endParaRPr lang="en-US" sz="2400" b="1" dirty="0" smtClean="0"/>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7" name="Picture 6" descr="A2 shutterstock_99180761.jpg"/>
          <p:cNvPicPr/>
          <p:nvPr/>
        </p:nvPicPr>
        <p:blipFill>
          <a:blip r:embed="rId3" cstate="print"/>
          <a:stretch>
            <a:fillRect/>
          </a:stretch>
        </p:blipFill>
        <p:spPr>
          <a:xfrm>
            <a:off x="6444208" y="3933056"/>
            <a:ext cx="2016224" cy="1584176"/>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400" b="1" dirty="0" smtClean="0">
                <a:solidFill>
                  <a:srgbClr val="FF6600"/>
                </a:solidFill>
                <a:latin typeface="Helvetica" pitchFamily="34" charset="0"/>
              </a:rPr>
              <a:t>Identify colleague and client needs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b="1" dirty="0" smtClean="0">
                <a:latin typeface="Helvetica" pitchFamily="34" charset="0"/>
              </a:rPr>
              <a:t>Importance of understanding </a:t>
            </a:r>
            <a:r>
              <a:rPr lang="en-US" sz="2200" b="1" dirty="0" smtClean="0">
                <a:latin typeface="Helvetica" pitchFamily="34" charset="0"/>
              </a:rPr>
              <a:t>colleague and client needs</a:t>
            </a:r>
            <a:endParaRPr lang="en-AU" sz="2200" b="1" dirty="0" smtClean="0">
              <a:latin typeface="Helvetica" pitchFamily="34" charset="0"/>
            </a:endParaRPr>
          </a:p>
          <a:p>
            <a:pPr>
              <a:spcBef>
                <a:spcPts val="600"/>
              </a:spcBef>
              <a:spcAft>
                <a:spcPts val="1200"/>
              </a:spcAft>
            </a:pPr>
            <a:r>
              <a:rPr lang="en-US" sz="2200" dirty="0" smtClean="0">
                <a:latin typeface="Helvetica" pitchFamily="34" charset="0"/>
              </a:rPr>
              <a:t>Why is this important?</a:t>
            </a:r>
          </a:p>
          <a:p>
            <a:pPr>
              <a:spcBef>
                <a:spcPts val="600"/>
              </a:spcBef>
              <a:spcAft>
                <a:spcPts val="1200"/>
              </a:spcAft>
            </a:pPr>
            <a:r>
              <a:rPr lang="en-US" sz="2200" dirty="0" smtClean="0">
                <a:latin typeface="Helvetica" pitchFamily="34" charset="0"/>
              </a:rPr>
              <a:t>How can you identify these needs?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5" name="Picture 4" descr="W248_customer_service_1_shutterstock_136084034.jpg"/>
          <p:cNvPicPr/>
          <p:nvPr/>
        </p:nvPicPr>
        <p:blipFill>
          <a:blip r:embed="rId3" cstate="print"/>
          <a:stretch>
            <a:fillRect/>
          </a:stretch>
        </p:blipFill>
        <p:spPr>
          <a:xfrm>
            <a:off x="6228184" y="3789040"/>
            <a:ext cx="2232248" cy="1568370"/>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400" b="1" dirty="0" smtClean="0">
                <a:solidFill>
                  <a:srgbClr val="FF6600"/>
                </a:solidFill>
                <a:latin typeface="Helvetica" pitchFamily="34" charset="0"/>
              </a:rPr>
              <a:t>Identify colleague and client needs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1800" b="1" dirty="0" smtClean="0">
                <a:latin typeface="Helvetica" pitchFamily="34" charset="0"/>
              </a:rPr>
              <a:t>Summary of organisational  and customer needs</a:t>
            </a:r>
            <a:endParaRPr lang="en-US" sz="1800" dirty="0" smtClean="0">
              <a:latin typeface="Helvetica" pitchFamily="34" charset="0"/>
            </a:endParaRPr>
          </a:p>
          <a:p>
            <a:pPr lvl="0">
              <a:spcBef>
                <a:spcPts val="600"/>
              </a:spcBef>
              <a:spcAft>
                <a:spcPts val="1200"/>
              </a:spcAft>
            </a:pPr>
            <a:r>
              <a:rPr lang="en-AU" sz="1800" dirty="0" smtClean="0">
                <a:latin typeface="Helvetica" pitchFamily="34" charset="0"/>
              </a:rPr>
              <a:t>Reference to specific requests or questions that have been made</a:t>
            </a:r>
            <a:endParaRPr lang="en-US" sz="1800" dirty="0" smtClean="0">
              <a:latin typeface="Helvetica" pitchFamily="34" charset="0"/>
            </a:endParaRPr>
          </a:p>
          <a:p>
            <a:pPr lvl="0">
              <a:spcBef>
                <a:spcPts val="600"/>
              </a:spcBef>
              <a:spcAft>
                <a:spcPts val="1200"/>
              </a:spcAft>
            </a:pPr>
            <a:r>
              <a:rPr lang="en-AU" sz="1800" dirty="0" smtClean="0">
                <a:latin typeface="Helvetica" pitchFamily="34" charset="0"/>
              </a:rPr>
              <a:t>Specific data sharing with sales staff and specialist destination colleagues</a:t>
            </a:r>
            <a:endParaRPr lang="en-US" sz="1800" dirty="0" smtClean="0">
              <a:latin typeface="Helvetica" pitchFamily="34" charset="0"/>
            </a:endParaRPr>
          </a:p>
          <a:p>
            <a:pPr lvl="0">
              <a:spcBef>
                <a:spcPts val="600"/>
              </a:spcBef>
              <a:spcAft>
                <a:spcPts val="1200"/>
              </a:spcAft>
            </a:pPr>
            <a:r>
              <a:rPr lang="en-AU" sz="1800" dirty="0" smtClean="0">
                <a:latin typeface="Helvetica" pitchFamily="34" charset="0"/>
              </a:rPr>
              <a:t>Providing detailed information to new employees</a:t>
            </a:r>
            <a:endParaRPr lang="en-US" sz="1800" dirty="0" smtClean="0">
              <a:latin typeface="Helvetica" pitchFamily="34" charset="0"/>
            </a:endParaRPr>
          </a:p>
          <a:p>
            <a:pPr lvl="0">
              <a:spcBef>
                <a:spcPts val="600"/>
              </a:spcBef>
              <a:spcAft>
                <a:spcPts val="1200"/>
              </a:spcAft>
            </a:pPr>
            <a:r>
              <a:rPr lang="en-AU" sz="1800" dirty="0" smtClean="0">
                <a:latin typeface="Helvetica" pitchFamily="34" charset="0"/>
              </a:rPr>
              <a:t>Specific requirements relating to target client groups </a:t>
            </a:r>
            <a:br>
              <a:rPr lang="en-AU" sz="1800" dirty="0" smtClean="0">
                <a:latin typeface="Helvetica" pitchFamily="34" charset="0"/>
              </a:rPr>
            </a:br>
            <a:r>
              <a:rPr lang="en-AU" sz="1800" dirty="0" smtClean="0">
                <a:latin typeface="Helvetica" pitchFamily="34" charset="0"/>
              </a:rPr>
              <a:t>with which nominated colleagues are engaged</a:t>
            </a:r>
            <a:endParaRPr lang="en-US" sz="1800" dirty="0" smtClean="0">
              <a:latin typeface="Helvetica" pitchFamily="34" charset="0"/>
            </a:endParaRPr>
          </a:p>
          <a:p>
            <a:pPr marL="360000" indent="-360000">
              <a:spcBef>
                <a:spcPts val="600"/>
              </a:spcBef>
              <a:spcAft>
                <a:spcPts val="1200"/>
              </a:spcAft>
              <a:buNone/>
            </a:pPr>
            <a:endParaRPr lang="en-US" sz="18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6" name="Picture 5" descr="A5 shutterstock_131103662.jpg"/>
          <p:cNvPicPr/>
          <p:nvPr/>
        </p:nvPicPr>
        <p:blipFill>
          <a:blip r:embed="rId3" cstate="print"/>
          <a:stretch>
            <a:fillRect/>
          </a:stretch>
        </p:blipFill>
        <p:spPr>
          <a:xfrm>
            <a:off x="6516216" y="4077072"/>
            <a:ext cx="1944216" cy="1440160"/>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pPr marL="0"/>
            <a:r>
              <a:rPr lang="en-US" sz="3600" b="1" dirty="0" smtClean="0">
                <a:solidFill>
                  <a:srgbClr val="FF6600"/>
                </a:solidFill>
                <a:latin typeface="Helvetica" pitchFamily="34" charset="0"/>
              </a:rPr>
              <a:t>Identify colleague and client needs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525963"/>
          </a:xfrm>
        </p:spPr>
        <p:txBody>
          <a:bodyPr>
            <a:normAutofit/>
          </a:bodyPr>
          <a:lstStyle/>
          <a:p>
            <a:pPr>
              <a:spcBef>
                <a:spcPts val="600"/>
              </a:spcBef>
              <a:spcAft>
                <a:spcPts val="600"/>
              </a:spcAft>
              <a:buNone/>
            </a:pPr>
            <a:r>
              <a:rPr lang="en-AU" sz="1800" b="1" dirty="0" smtClean="0"/>
              <a:t>Review organisational needs</a:t>
            </a:r>
            <a:endParaRPr lang="en-US" sz="1800" b="1" dirty="0" smtClean="0"/>
          </a:p>
          <a:p>
            <a:pPr lvl="0">
              <a:spcBef>
                <a:spcPts val="600"/>
              </a:spcBef>
              <a:spcAft>
                <a:spcPts val="600"/>
              </a:spcAft>
            </a:pPr>
            <a:r>
              <a:rPr lang="en-US" sz="1800" dirty="0" smtClean="0"/>
              <a:t>Business objectives</a:t>
            </a:r>
          </a:p>
          <a:p>
            <a:pPr lvl="0">
              <a:spcBef>
                <a:spcPts val="600"/>
              </a:spcBef>
              <a:spcAft>
                <a:spcPts val="600"/>
              </a:spcAft>
            </a:pPr>
            <a:r>
              <a:rPr lang="en-US" sz="1800" dirty="0" smtClean="0"/>
              <a:t>Key market segments or clients</a:t>
            </a:r>
          </a:p>
          <a:p>
            <a:pPr lvl="0">
              <a:spcBef>
                <a:spcPts val="600"/>
              </a:spcBef>
              <a:spcAft>
                <a:spcPts val="600"/>
              </a:spcAft>
            </a:pPr>
            <a:r>
              <a:rPr lang="en-US" sz="1800" dirty="0" smtClean="0"/>
              <a:t>Types and style of tourism activities and destinations current offered</a:t>
            </a:r>
          </a:p>
          <a:p>
            <a:pPr lvl="0">
              <a:spcBef>
                <a:spcPts val="600"/>
              </a:spcBef>
              <a:spcAft>
                <a:spcPts val="600"/>
              </a:spcAft>
            </a:pPr>
            <a:r>
              <a:rPr lang="en-US" sz="1800" dirty="0" smtClean="0"/>
              <a:t>Types of destinations or services that could be combined with current activities and services</a:t>
            </a:r>
          </a:p>
          <a:p>
            <a:pPr lvl="0">
              <a:spcBef>
                <a:spcPts val="600"/>
              </a:spcBef>
              <a:spcAft>
                <a:spcPts val="600"/>
              </a:spcAft>
            </a:pPr>
            <a:r>
              <a:rPr lang="en-US" sz="1800" dirty="0" smtClean="0"/>
              <a:t>How the information provided  could be used to improve service</a:t>
            </a:r>
          </a:p>
          <a:p>
            <a:pPr>
              <a:spcBef>
                <a:spcPts val="600"/>
              </a:spcBef>
              <a:spcAft>
                <a:spcPts val="600"/>
              </a:spcAft>
            </a:pPr>
            <a:r>
              <a:rPr lang="en-AU" sz="1800" dirty="0" smtClean="0"/>
              <a:t>Enhancing and expanding destination range </a:t>
            </a:r>
            <a:endParaRPr lang="en-US" sz="18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pic>
        <p:nvPicPr>
          <p:cNvPr id="6" name="Picture 5" descr="shutterstock_141853249.jpg"/>
          <p:cNvPicPr/>
          <p:nvPr/>
        </p:nvPicPr>
        <p:blipFill>
          <a:blip r:embed="rId3" cstate="print"/>
          <a:stretch>
            <a:fillRect/>
          </a:stretch>
        </p:blipFill>
        <p:spPr>
          <a:xfrm>
            <a:off x="6372200" y="4365104"/>
            <a:ext cx="2016224" cy="1415976"/>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pPr marL="0"/>
            <a:r>
              <a:rPr lang="en-US" sz="3600" b="1" dirty="0" smtClean="0">
                <a:solidFill>
                  <a:srgbClr val="FF6600"/>
                </a:solidFill>
                <a:latin typeface="Helvetica" pitchFamily="34" charset="0"/>
              </a:rPr>
              <a:t>Identify colleague and client needs</a:t>
            </a:r>
            <a:endParaRPr lang="en-AU" sz="3600" b="1" dirty="0" smtClean="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040560"/>
          </a:xfrm>
        </p:spPr>
        <p:txBody>
          <a:bodyPr>
            <a:normAutofit/>
          </a:bodyPr>
          <a:lstStyle/>
          <a:p>
            <a:pPr>
              <a:spcBef>
                <a:spcPts val="600"/>
              </a:spcBef>
              <a:spcAft>
                <a:spcPts val="1200"/>
              </a:spcAft>
              <a:buNone/>
            </a:pPr>
            <a:r>
              <a:rPr lang="en-AU" sz="1800" b="1" dirty="0" smtClean="0"/>
              <a:t>Review organisational needs</a:t>
            </a:r>
            <a:endParaRPr lang="en-US" sz="1800" b="1" dirty="0" smtClean="0"/>
          </a:p>
          <a:p>
            <a:pPr lvl="0">
              <a:spcBef>
                <a:spcPts val="600"/>
              </a:spcBef>
              <a:spcAft>
                <a:spcPts val="1200"/>
              </a:spcAft>
            </a:pPr>
            <a:r>
              <a:rPr lang="en-AU" sz="1800" dirty="0" smtClean="0"/>
              <a:t>Movement into new target markets</a:t>
            </a:r>
            <a:endParaRPr lang="en-US" sz="1800" dirty="0" smtClean="0"/>
          </a:p>
          <a:p>
            <a:pPr lvl="0">
              <a:spcBef>
                <a:spcPts val="600"/>
              </a:spcBef>
              <a:spcAft>
                <a:spcPts val="1200"/>
              </a:spcAft>
            </a:pPr>
            <a:r>
              <a:rPr lang="en-AU" sz="1800" dirty="0" smtClean="0"/>
              <a:t>Reputation and image</a:t>
            </a:r>
            <a:endParaRPr lang="en-US" sz="1800" dirty="0" smtClean="0"/>
          </a:p>
          <a:p>
            <a:pPr lvl="0">
              <a:spcBef>
                <a:spcPts val="600"/>
              </a:spcBef>
              <a:spcAft>
                <a:spcPts val="1200"/>
              </a:spcAft>
            </a:pPr>
            <a:r>
              <a:rPr lang="en-AU" sz="1800" dirty="0" smtClean="0"/>
              <a:t>Business agreements, including franchise and other contractual arrangements</a:t>
            </a:r>
            <a:endParaRPr lang="en-US" sz="1800" dirty="0" smtClean="0"/>
          </a:p>
          <a:p>
            <a:pPr lvl="0">
              <a:spcBef>
                <a:spcPts val="600"/>
              </a:spcBef>
              <a:spcAft>
                <a:spcPts val="1200"/>
              </a:spcAft>
            </a:pPr>
            <a:r>
              <a:rPr lang="en-AU" sz="1800" dirty="0" smtClean="0"/>
              <a:t>Meeting competition</a:t>
            </a:r>
            <a:endParaRPr lang="en-US" sz="1800" dirty="0" smtClean="0"/>
          </a:p>
          <a:p>
            <a:pPr lvl="0">
              <a:spcBef>
                <a:spcPts val="600"/>
              </a:spcBef>
              <a:spcAft>
                <a:spcPts val="1200"/>
              </a:spcAft>
            </a:pPr>
            <a:r>
              <a:rPr lang="en-AU" sz="1800" dirty="0" smtClean="0"/>
              <a:t>Involvement of colleagues in determining requirements</a:t>
            </a:r>
            <a:endParaRPr lang="en-US" sz="1800" dirty="0" smtClean="0"/>
          </a:p>
          <a:p>
            <a:pPr lvl="0">
              <a:spcBef>
                <a:spcPts val="600"/>
              </a:spcBef>
              <a:spcAft>
                <a:spcPts val="1200"/>
              </a:spcAft>
            </a:pPr>
            <a:r>
              <a:rPr lang="en-US" sz="1800" dirty="0" smtClean="0"/>
              <a:t>Potential increase in business and profitability</a:t>
            </a:r>
          </a:p>
          <a:p>
            <a:pPr>
              <a:spcBef>
                <a:spcPts val="600"/>
              </a:spcBef>
              <a:spcAft>
                <a:spcPts val="600"/>
              </a:spcAft>
              <a:buNone/>
            </a:pPr>
            <a:endParaRPr lang="en-AU" sz="1800" dirty="0" smtClean="0">
              <a:solidFill>
                <a:srgbClr val="FF6600"/>
              </a:solidFill>
            </a:endParaRPr>
          </a:p>
          <a:p>
            <a:pPr>
              <a:spcBef>
                <a:spcPts val="600"/>
              </a:spcBef>
              <a:spcAft>
                <a:spcPts val="600"/>
              </a:spcAft>
              <a:buNone/>
            </a:pPr>
            <a:r>
              <a:rPr lang="en-AU" sz="1800" b="1" i="1" dirty="0" smtClean="0">
                <a:solidFill>
                  <a:srgbClr val="FF6600"/>
                </a:solidFill>
              </a:rPr>
              <a:t>COMPLETE ACTIVITY 4</a:t>
            </a:r>
          </a:p>
          <a:p>
            <a:pPr lvl="0">
              <a:spcBef>
                <a:spcPts val="600"/>
              </a:spcBef>
              <a:spcAft>
                <a:spcPts val="600"/>
              </a:spcAft>
            </a:pPr>
            <a:endParaRPr lang="en-US" sz="18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6" name="Picture 5" descr="shutterstock_141853249.jpg"/>
          <p:cNvPicPr/>
          <p:nvPr/>
        </p:nvPicPr>
        <p:blipFill>
          <a:blip r:embed="rId3" cstate="print"/>
          <a:stretch>
            <a:fillRect/>
          </a:stretch>
        </p:blipFill>
        <p:spPr>
          <a:xfrm>
            <a:off x="6444208" y="4653136"/>
            <a:ext cx="1944216" cy="1224136"/>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US" sz="3200" b="1" dirty="0" smtClean="0">
                <a:solidFill>
                  <a:srgbClr val="FF6600"/>
                </a:solidFill>
                <a:latin typeface="Helvetica" pitchFamily="34" charset="0"/>
              </a:rPr>
              <a:t>Identify colleague and client needs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000" b="1" dirty="0" smtClean="0"/>
              <a:t>Identify specific sales needs</a:t>
            </a:r>
            <a:endParaRPr lang="en-US" sz="2000" dirty="0" smtClean="0"/>
          </a:p>
          <a:p>
            <a:pPr marL="0">
              <a:spcBef>
                <a:spcPts val="600"/>
              </a:spcBef>
              <a:spcAft>
                <a:spcPts val="1200"/>
              </a:spcAft>
              <a:buNone/>
            </a:pPr>
            <a:r>
              <a:rPr lang="en-AU" sz="2000" dirty="0" smtClean="0"/>
              <a:t>Ultimately the goal </a:t>
            </a:r>
            <a:r>
              <a:rPr lang="en-US" sz="2000" dirty="0" smtClean="0"/>
              <a:t>of collecting destination information </a:t>
            </a:r>
            <a:r>
              <a:rPr lang="en-AU" sz="2000" dirty="0" smtClean="0"/>
              <a:t>is to provide the best possible service and to meet the client’s needs thus enabling you to make the sale and process the booking. </a:t>
            </a:r>
            <a:endParaRPr lang="en-US" sz="2000" dirty="0" smtClean="0"/>
          </a:p>
          <a:p>
            <a:pPr marL="0">
              <a:spcBef>
                <a:spcPts val="600"/>
              </a:spcBef>
              <a:spcAft>
                <a:spcPts val="1200"/>
              </a:spcAft>
              <a:buNone/>
            </a:pPr>
            <a:r>
              <a:rPr lang="en-US" sz="2000" dirty="0" smtClean="0"/>
              <a:t>The first step in collecting information is to identify the needs or reasons why collecting information is essential:</a:t>
            </a:r>
          </a:p>
          <a:p>
            <a:pPr>
              <a:spcBef>
                <a:spcPts val="600"/>
              </a:spcBef>
              <a:spcAft>
                <a:spcPts val="1200"/>
              </a:spcAft>
            </a:pPr>
            <a:r>
              <a:rPr lang="en-AU" sz="2000" dirty="0" smtClean="0"/>
              <a:t>What are examples of sales needs?</a:t>
            </a:r>
            <a:endParaRPr lang="en-US" sz="2000" dirty="0" smtClean="0"/>
          </a:p>
          <a:p>
            <a:pPr lvl="0">
              <a:spcBef>
                <a:spcPts val="600"/>
              </a:spcBef>
              <a:spcAft>
                <a:spcPts val="1200"/>
              </a:spcAft>
              <a:buNone/>
            </a:pPr>
            <a:endParaRPr lang="en-US" sz="2000" dirty="0" smtClean="0"/>
          </a:p>
          <a:p>
            <a:pPr>
              <a:spcBef>
                <a:spcPts val="600"/>
              </a:spcBef>
              <a:spcAft>
                <a:spcPts val="1200"/>
              </a:spcAft>
              <a:buNone/>
            </a:pPr>
            <a:endParaRPr lang="en-US" sz="2000" dirty="0" smtClean="0"/>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p>
          <a:p>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5" name="Picture 4" descr="shutterstock_128200763.jpg"/>
          <p:cNvPicPr/>
          <p:nvPr/>
        </p:nvPicPr>
        <p:blipFill>
          <a:blip r:embed="rId3" cstate="print"/>
          <a:stretch>
            <a:fillRect/>
          </a:stretch>
        </p:blipFill>
        <p:spPr>
          <a:xfrm>
            <a:off x="6228184" y="3933056"/>
            <a:ext cx="2160240" cy="1512168"/>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US" sz="3400" b="1" dirty="0" smtClean="0">
                <a:solidFill>
                  <a:srgbClr val="FF6600"/>
                </a:solidFill>
                <a:latin typeface="Helvetica" pitchFamily="34" charset="0"/>
              </a:rPr>
              <a:t>Identify colleague and client needs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000" b="1" dirty="0" smtClean="0"/>
              <a:t>Identify specific sales needs</a:t>
            </a:r>
            <a:endParaRPr lang="en-US" sz="2000" dirty="0" smtClean="0"/>
          </a:p>
          <a:p>
            <a:pPr lvl="0">
              <a:spcBef>
                <a:spcPts val="600"/>
              </a:spcBef>
              <a:spcAft>
                <a:spcPts val="1200"/>
              </a:spcAft>
            </a:pPr>
            <a:r>
              <a:rPr lang="en-AU" sz="2000" dirty="0" smtClean="0"/>
              <a:t>Consultation with client</a:t>
            </a:r>
            <a:endParaRPr lang="en-US" sz="2000" dirty="0" smtClean="0"/>
          </a:p>
          <a:p>
            <a:pPr lvl="0">
              <a:spcBef>
                <a:spcPts val="600"/>
              </a:spcBef>
              <a:spcAft>
                <a:spcPts val="1200"/>
              </a:spcAft>
            </a:pPr>
            <a:r>
              <a:rPr lang="en-AU" sz="2000" dirty="0" smtClean="0"/>
              <a:t>Non-negotiable client needs, including budget, timing, duration of travel, required destination and activities, health</a:t>
            </a:r>
            <a:endParaRPr lang="en-US" sz="2000" dirty="0" smtClean="0"/>
          </a:p>
          <a:p>
            <a:pPr lvl="0">
              <a:spcBef>
                <a:spcPts val="600"/>
              </a:spcBef>
              <a:spcAft>
                <a:spcPts val="1200"/>
              </a:spcAft>
            </a:pPr>
            <a:r>
              <a:rPr lang="en-AU" sz="2000" dirty="0" smtClean="0"/>
              <a:t>Requests from and preferences of client</a:t>
            </a:r>
            <a:endParaRPr lang="en-US" sz="2000" dirty="0" smtClean="0"/>
          </a:p>
          <a:p>
            <a:pPr lvl="0">
              <a:spcBef>
                <a:spcPts val="600"/>
              </a:spcBef>
              <a:spcAft>
                <a:spcPts val="1200"/>
              </a:spcAft>
            </a:pPr>
            <a:r>
              <a:rPr lang="en-AU" sz="2000" dirty="0" smtClean="0"/>
              <a:t>Source and provide information and advice</a:t>
            </a:r>
            <a:endParaRPr lang="en-US" sz="2000" dirty="0" smtClean="0"/>
          </a:p>
          <a:p>
            <a:pPr lvl="0">
              <a:spcBef>
                <a:spcPts val="600"/>
              </a:spcBef>
              <a:spcAft>
                <a:spcPts val="1200"/>
              </a:spcAft>
            </a:pPr>
            <a:r>
              <a:rPr lang="en-AU" sz="2000" dirty="0" smtClean="0"/>
              <a:t>Make recommendations</a:t>
            </a:r>
            <a:endParaRPr lang="en-US" sz="2000" dirty="0" smtClean="0"/>
          </a:p>
          <a:p>
            <a:pPr lvl="0">
              <a:spcBef>
                <a:spcPts val="600"/>
              </a:spcBef>
              <a:spcAft>
                <a:spcPts val="1200"/>
              </a:spcAft>
              <a:buNone/>
            </a:pPr>
            <a:endParaRPr lang="en-US" sz="2000" dirty="0" smtClean="0"/>
          </a:p>
          <a:p>
            <a:pPr>
              <a:spcBef>
                <a:spcPts val="600"/>
              </a:spcBef>
              <a:spcAft>
                <a:spcPts val="1200"/>
              </a:spcAft>
              <a:buNone/>
            </a:pPr>
            <a:endParaRPr lang="en-US" sz="2000" dirty="0" smtClean="0"/>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p>
          <a:p>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6" name="Picture 5" descr="shutterstock_127213061.jpg"/>
          <p:cNvPicPr/>
          <p:nvPr/>
        </p:nvPicPr>
        <p:blipFill>
          <a:blip r:embed="rId3" cstate="print"/>
          <a:stretch>
            <a:fillRect/>
          </a:stretch>
        </p:blipFill>
        <p:spPr>
          <a:xfrm>
            <a:off x="6300192" y="3861048"/>
            <a:ext cx="2160240" cy="1535807"/>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US" sz="3400" b="1" dirty="0" smtClean="0">
                <a:solidFill>
                  <a:srgbClr val="FF6600"/>
                </a:solidFill>
                <a:latin typeface="Helvetica" pitchFamily="34" charset="0"/>
              </a:rPr>
              <a:t>Identify colleague and client needs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1800" b="1" dirty="0" smtClean="0"/>
              <a:t>Identify specific sales needs</a:t>
            </a:r>
            <a:endParaRPr lang="en-US" sz="1800" dirty="0" smtClean="0"/>
          </a:p>
          <a:p>
            <a:pPr lvl="0">
              <a:spcBef>
                <a:spcPts val="600"/>
              </a:spcBef>
              <a:spcAft>
                <a:spcPts val="1200"/>
              </a:spcAft>
            </a:pPr>
            <a:r>
              <a:rPr lang="en-AU" sz="1800" dirty="0" smtClean="0"/>
              <a:t>Check availability and prices</a:t>
            </a:r>
            <a:endParaRPr lang="en-US" sz="1800" dirty="0" smtClean="0"/>
          </a:p>
          <a:p>
            <a:pPr lvl="0">
              <a:spcBef>
                <a:spcPts val="600"/>
              </a:spcBef>
              <a:spcAft>
                <a:spcPts val="1200"/>
              </a:spcAft>
            </a:pPr>
            <a:r>
              <a:rPr lang="en-AU" sz="1800" dirty="0" smtClean="0"/>
              <a:t>Provide quotation including booking terms and conditions</a:t>
            </a:r>
            <a:endParaRPr lang="en-US" sz="1800" dirty="0" smtClean="0"/>
          </a:p>
          <a:p>
            <a:pPr lvl="0">
              <a:spcBef>
                <a:spcPts val="600"/>
              </a:spcBef>
              <a:spcAft>
                <a:spcPts val="1200"/>
              </a:spcAft>
            </a:pPr>
            <a:r>
              <a:rPr lang="en-AU" sz="1800" dirty="0" smtClean="0"/>
              <a:t>Processing a reservation, including booking and coordinating supplier services and products</a:t>
            </a:r>
            <a:endParaRPr lang="en-US" sz="1800" dirty="0" smtClean="0"/>
          </a:p>
          <a:p>
            <a:pPr lvl="0">
              <a:spcBef>
                <a:spcPts val="600"/>
              </a:spcBef>
              <a:spcAft>
                <a:spcPts val="1200"/>
              </a:spcAft>
            </a:pPr>
            <a:r>
              <a:rPr lang="en-AU" sz="1800" dirty="0" smtClean="0"/>
              <a:t>Collect applicable deposits and provide to </a:t>
            </a:r>
            <a:br>
              <a:rPr lang="en-AU" sz="1800" dirty="0" smtClean="0"/>
            </a:br>
            <a:r>
              <a:rPr lang="en-AU" sz="1800" dirty="0" smtClean="0"/>
              <a:t>applicable parties</a:t>
            </a:r>
            <a:endParaRPr lang="en-US" sz="1800" dirty="0" smtClean="0"/>
          </a:p>
          <a:p>
            <a:pPr lvl="0">
              <a:spcBef>
                <a:spcPts val="600"/>
              </a:spcBef>
              <a:spcAft>
                <a:spcPts val="1200"/>
              </a:spcAft>
            </a:pPr>
            <a:r>
              <a:rPr lang="en-AU" sz="1800" dirty="0" smtClean="0"/>
              <a:t>Provide written confirmation and due dates </a:t>
            </a:r>
            <a:br>
              <a:rPr lang="en-AU" sz="1800" dirty="0" smtClean="0"/>
            </a:br>
            <a:r>
              <a:rPr lang="en-AU" sz="1800" dirty="0" smtClean="0"/>
              <a:t>for final payment</a:t>
            </a:r>
            <a:endParaRPr lang="en-US" sz="1800" dirty="0" smtClean="0"/>
          </a:p>
          <a:p>
            <a:pPr lvl="0">
              <a:spcBef>
                <a:spcPts val="600"/>
              </a:spcBef>
              <a:spcAft>
                <a:spcPts val="1200"/>
              </a:spcAft>
            </a:pPr>
            <a:r>
              <a:rPr lang="en-AU" sz="1800" dirty="0" smtClean="0"/>
              <a:t>Collect final payment and provide to applicable parties</a:t>
            </a:r>
            <a:endParaRPr lang="en-US" sz="1800" dirty="0" smtClean="0"/>
          </a:p>
          <a:p>
            <a:pPr lvl="0">
              <a:spcBef>
                <a:spcPts val="600"/>
              </a:spcBef>
              <a:spcAft>
                <a:spcPts val="1200"/>
              </a:spcAft>
              <a:buNone/>
            </a:pPr>
            <a:endParaRPr lang="en-US" sz="1800" dirty="0" smtClean="0"/>
          </a:p>
          <a:p>
            <a:pPr>
              <a:spcBef>
                <a:spcPts val="600"/>
              </a:spcBef>
              <a:spcAft>
                <a:spcPts val="1200"/>
              </a:spcAft>
              <a:buNone/>
            </a:pPr>
            <a:endParaRPr lang="en-US" sz="1800" dirty="0" smtClean="0"/>
          </a:p>
          <a:p>
            <a:pPr>
              <a:spcBef>
                <a:spcPts val="600"/>
              </a:spcBef>
              <a:spcAft>
                <a:spcPts val="1200"/>
              </a:spcAft>
              <a:buNone/>
            </a:pPr>
            <a:endParaRPr lang="en-US" sz="1800" dirty="0" smtClean="0"/>
          </a:p>
          <a:p>
            <a:endParaRPr lang="en-AU" sz="1800" b="1" dirty="0" smtClean="0"/>
          </a:p>
          <a:p>
            <a:endParaRPr lang="en-US" sz="1800" dirty="0" smtClean="0"/>
          </a:p>
          <a:p>
            <a:pPr>
              <a:spcBef>
                <a:spcPts val="600"/>
              </a:spcBef>
              <a:spcAft>
                <a:spcPts val="600"/>
              </a:spcAft>
            </a:pPr>
            <a:endParaRPr lang="en-US" sz="1800" b="1" dirty="0" smtClean="0"/>
          </a:p>
          <a:p>
            <a:endParaRPr lang="en-US" sz="1800" b="1" dirty="0" smtClean="0"/>
          </a:p>
          <a:p>
            <a:pPr>
              <a:spcBef>
                <a:spcPts val="600"/>
              </a:spcBef>
              <a:spcAft>
                <a:spcPts val="1200"/>
              </a:spcAft>
              <a:buNone/>
            </a:pPr>
            <a:endParaRPr lang="en-US" sz="18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6" name="Picture 5" descr="shutterstock_150882020.jpg"/>
          <p:cNvPicPr>
            <a:picLocks noChangeAspect="1"/>
          </p:cNvPicPr>
          <p:nvPr/>
        </p:nvPicPr>
        <p:blipFill>
          <a:blip r:embed="rId3" cstate="print"/>
          <a:stretch>
            <a:fillRect/>
          </a:stretch>
        </p:blipFill>
        <p:spPr>
          <a:xfrm>
            <a:off x="6156176" y="3501008"/>
            <a:ext cx="1740024" cy="1740024"/>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US" sz="3400" b="1" dirty="0" smtClean="0">
                <a:solidFill>
                  <a:srgbClr val="FF6600"/>
                </a:solidFill>
                <a:latin typeface="Helvetica" pitchFamily="34" charset="0"/>
              </a:rPr>
              <a:t>Identify colleague and client needs</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1800" b="1" dirty="0" smtClean="0"/>
              <a:t>Identify specific sales needs</a:t>
            </a:r>
            <a:endParaRPr lang="en-US" sz="1800" dirty="0" smtClean="0"/>
          </a:p>
          <a:p>
            <a:pPr lvl="0">
              <a:spcBef>
                <a:spcPts val="600"/>
              </a:spcBef>
              <a:spcAft>
                <a:spcPts val="1200"/>
              </a:spcAft>
            </a:pPr>
            <a:r>
              <a:rPr lang="en-AU" sz="1800" dirty="0" smtClean="0"/>
              <a:t>Processing financial transactions, including payment of deposits and full-payment for bookings</a:t>
            </a:r>
            <a:endParaRPr lang="en-US" sz="1800" dirty="0" smtClean="0"/>
          </a:p>
          <a:p>
            <a:pPr lvl="0">
              <a:spcBef>
                <a:spcPts val="600"/>
              </a:spcBef>
              <a:spcAft>
                <a:spcPts val="1200"/>
              </a:spcAft>
            </a:pPr>
            <a:r>
              <a:rPr lang="en-AU" sz="1800" dirty="0" smtClean="0"/>
              <a:t>Issue or secure non-air and air travel documentation and provide to customer </a:t>
            </a:r>
            <a:endParaRPr lang="en-US" sz="1800" dirty="0" smtClean="0"/>
          </a:p>
          <a:p>
            <a:pPr lvl="0">
              <a:spcBef>
                <a:spcPts val="600"/>
              </a:spcBef>
              <a:spcAft>
                <a:spcPts val="1200"/>
              </a:spcAft>
            </a:pPr>
            <a:r>
              <a:rPr lang="en-AU" sz="1800" dirty="0" smtClean="0"/>
              <a:t>Need to amend an existing booking due to unforeseen circumstances</a:t>
            </a:r>
            <a:endParaRPr lang="en-US" sz="1800" dirty="0" smtClean="0"/>
          </a:p>
          <a:p>
            <a:pPr lvl="0">
              <a:spcBef>
                <a:spcPts val="600"/>
              </a:spcBef>
              <a:spcAft>
                <a:spcPts val="1200"/>
              </a:spcAft>
            </a:pPr>
            <a:r>
              <a:rPr lang="en-AU" sz="1800" dirty="0" smtClean="0"/>
              <a:t>Cancellations or alterations made to bookings</a:t>
            </a:r>
            <a:endParaRPr lang="en-US" sz="1800" dirty="0" smtClean="0"/>
          </a:p>
          <a:p>
            <a:pPr lvl="0">
              <a:spcBef>
                <a:spcPts val="600"/>
              </a:spcBef>
              <a:spcAft>
                <a:spcPts val="1200"/>
              </a:spcAft>
              <a:buNone/>
            </a:pPr>
            <a:endParaRPr lang="en-US" sz="1800" dirty="0" smtClean="0"/>
          </a:p>
          <a:p>
            <a:pPr>
              <a:spcBef>
                <a:spcPts val="600"/>
              </a:spcBef>
              <a:spcAft>
                <a:spcPts val="1200"/>
              </a:spcAft>
              <a:buNone/>
            </a:pPr>
            <a:endParaRPr lang="en-US" sz="1800" dirty="0" smtClean="0"/>
          </a:p>
          <a:p>
            <a:pPr>
              <a:spcBef>
                <a:spcPts val="600"/>
              </a:spcBef>
              <a:spcAft>
                <a:spcPts val="1200"/>
              </a:spcAft>
              <a:buNone/>
            </a:pPr>
            <a:endParaRPr lang="en-US" sz="1800" dirty="0" smtClean="0"/>
          </a:p>
          <a:p>
            <a:endParaRPr lang="en-AU" sz="1800" b="1" dirty="0" smtClean="0"/>
          </a:p>
          <a:p>
            <a:endParaRPr lang="en-US" sz="1800" dirty="0" smtClean="0"/>
          </a:p>
          <a:p>
            <a:pPr>
              <a:spcBef>
                <a:spcPts val="600"/>
              </a:spcBef>
              <a:spcAft>
                <a:spcPts val="600"/>
              </a:spcAft>
            </a:pPr>
            <a:endParaRPr lang="en-US" sz="1800" b="1" dirty="0" smtClean="0"/>
          </a:p>
          <a:p>
            <a:endParaRPr lang="en-US" sz="1800" b="1" dirty="0" smtClean="0"/>
          </a:p>
          <a:p>
            <a:pPr>
              <a:spcBef>
                <a:spcPts val="600"/>
              </a:spcBef>
              <a:spcAft>
                <a:spcPts val="1200"/>
              </a:spcAft>
              <a:buNone/>
            </a:pPr>
            <a:endParaRPr lang="en-US" sz="18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pic>
        <p:nvPicPr>
          <p:cNvPr id="5" name="Picture 4" descr="shutterstock_181388756.jpg"/>
          <p:cNvPicPr>
            <a:picLocks noChangeAspect="1"/>
          </p:cNvPicPr>
          <p:nvPr/>
        </p:nvPicPr>
        <p:blipFill>
          <a:blip r:embed="rId3" cstate="print"/>
          <a:stretch>
            <a:fillRect/>
          </a:stretch>
        </p:blipFill>
        <p:spPr>
          <a:xfrm>
            <a:off x="6300192" y="4077072"/>
            <a:ext cx="2100064" cy="1402843"/>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Assessing destination information needs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000" b="1" dirty="0" smtClean="0">
                <a:latin typeface="Helvetica" pitchFamily="34" charset="0"/>
              </a:rPr>
              <a:t>Assessing information needs</a:t>
            </a:r>
            <a:endParaRPr lang="en-US" sz="2000" dirty="0" smtClean="0">
              <a:latin typeface="Helvetica" pitchFamily="34" charset="0"/>
            </a:endParaRPr>
          </a:p>
          <a:p>
            <a:pPr marL="0">
              <a:spcBef>
                <a:spcPts val="600"/>
              </a:spcBef>
              <a:spcAft>
                <a:spcPts val="1200"/>
              </a:spcAft>
              <a:buNone/>
            </a:pPr>
            <a:r>
              <a:rPr lang="en-AU" sz="2000" dirty="0" smtClean="0">
                <a:latin typeface="Helvetica" pitchFamily="34" charset="0"/>
              </a:rPr>
              <a:t>When assessing destination information needs, do not get overwhelmed with too much information. </a:t>
            </a:r>
          </a:p>
          <a:p>
            <a:pPr marL="0">
              <a:spcBef>
                <a:spcPts val="600"/>
              </a:spcBef>
              <a:spcAft>
                <a:spcPts val="1200"/>
              </a:spcAft>
              <a:buNone/>
            </a:pPr>
            <a:r>
              <a:rPr lang="en-AU" sz="2000" dirty="0" smtClean="0">
                <a:latin typeface="Helvetica" pitchFamily="34" charset="0"/>
              </a:rPr>
              <a:t>Only seek out the information that you need</a:t>
            </a:r>
            <a:r>
              <a:rPr lang="en-AU" sz="2000" dirty="0"/>
              <a:t>:</a:t>
            </a:r>
            <a:endParaRPr lang="en-AU" sz="2000" dirty="0" smtClean="0">
              <a:latin typeface="Helvetica" pitchFamily="34" charset="0"/>
            </a:endParaRPr>
          </a:p>
          <a:p>
            <a:pPr>
              <a:spcBef>
                <a:spcPts val="600"/>
              </a:spcBef>
              <a:spcAft>
                <a:spcPts val="1200"/>
              </a:spcAft>
            </a:pPr>
            <a:r>
              <a:rPr lang="en-AU" sz="2000" dirty="0" smtClean="0">
                <a:latin typeface="Helvetica" pitchFamily="34" charset="0"/>
              </a:rPr>
              <a:t>How can you identify what destination information you need for an organisation?</a:t>
            </a:r>
            <a:endParaRPr lang="en-US"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49</a:t>
            </a:fld>
            <a:endParaRPr lang="en-US" dirty="0"/>
          </a:p>
        </p:txBody>
      </p:sp>
      <p:pic>
        <p:nvPicPr>
          <p:cNvPr id="6" name="Picture 5" descr="A6 shutterstock_131673425.jpg"/>
          <p:cNvPicPr/>
          <p:nvPr/>
        </p:nvPicPr>
        <p:blipFill>
          <a:blip r:embed="rId3" cstate="print"/>
          <a:stretch>
            <a:fillRect/>
          </a:stretch>
        </p:blipFill>
        <p:spPr>
          <a:xfrm>
            <a:off x="6300192" y="4077072"/>
            <a:ext cx="2088232" cy="1440160"/>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3400" b="1" dirty="0" smtClean="0">
                <a:solidFill>
                  <a:srgbClr val="FF6600"/>
                </a:solidFill>
                <a:latin typeface="Helvetica" pitchFamily="34" charset="0"/>
              </a:rPr>
              <a:t>Assessing destination information needs</a:t>
            </a:r>
            <a:endParaRPr lang="en-US" sz="3400" dirty="0">
              <a:solidFill>
                <a:srgbClr val="FF6600"/>
              </a:solidFill>
              <a:latin typeface="Helvetica" pitchFamily="34" charset="0"/>
            </a:endParaRPr>
          </a:p>
        </p:txBody>
      </p:sp>
      <p:sp>
        <p:nvSpPr>
          <p:cNvPr id="3" name="Slide Number Placeholder 2"/>
          <p:cNvSpPr>
            <a:spLocks noGrp="1"/>
          </p:cNvSpPr>
          <p:nvPr>
            <p:ph type="sldNum" sz="quarter" idx="12"/>
          </p:nvPr>
        </p:nvSpPr>
        <p:spPr/>
        <p:txBody>
          <a:bodyPr>
            <a:normAutofit/>
          </a:bodyPr>
          <a:lstStyle/>
          <a:p>
            <a:fld id="{A3F7CB7D-F184-43C7-B6FD-03D728E1BBFF}" type="slidenum">
              <a:rPr lang="en-US" smtClean="0">
                <a:solidFill>
                  <a:srgbClr val="FFFFFF"/>
                </a:solidFill>
              </a:rPr>
              <a:pPr/>
              <a:t>50</a:t>
            </a:fld>
            <a:endParaRPr lang="en-US" dirty="0">
              <a:solidFill>
                <a:srgbClr val="FFFFFF"/>
              </a:solidFill>
            </a:endParaRPr>
          </a:p>
        </p:txBody>
      </p:sp>
      <p:sp>
        <p:nvSpPr>
          <p:cNvPr id="4" name="Content Placeholder 3"/>
          <p:cNvSpPr>
            <a:spLocks noGrp="1"/>
          </p:cNvSpPr>
          <p:nvPr>
            <p:ph sz="quarter" idx="4294967295"/>
          </p:nvPr>
        </p:nvSpPr>
        <p:spPr>
          <a:xfrm>
            <a:off x="612648" y="1600200"/>
            <a:ext cx="8153400" cy="4853136"/>
          </a:xfrm>
          <a:prstGeom prst="rect">
            <a:avLst/>
          </a:prstGeom>
        </p:spPr>
        <p:txBody>
          <a:bodyPr>
            <a:normAutofit/>
          </a:bodyPr>
          <a:lstStyle/>
          <a:p>
            <a:pPr>
              <a:spcBef>
                <a:spcPts val="600"/>
              </a:spcBef>
              <a:spcAft>
                <a:spcPts val="1200"/>
              </a:spcAft>
              <a:buNone/>
            </a:pPr>
            <a:r>
              <a:rPr lang="en-US" sz="2000" b="1" dirty="0" smtClean="0">
                <a:latin typeface="Helvetica" pitchFamily="34" charset="0"/>
              </a:rPr>
              <a:t>Identify clients</a:t>
            </a:r>
          </a:p>
          <a:p>
            <a:pPr lvl="0">
              <a:spcBef>
                <a:spcPts val="600"/>
              </a:spcBef>
              <a:spcAft>
                <a:spcPts val="1200"/>
              </a:spcAft>
            </a:pPr>
            <a:r>
              <a:rPr lang="en-AU" sz="2000" dirty="0" smtClean="0">
                <a:latin typeface="Helvetica" pitchFamily="34" charset="0"/>
              </a:rPr>
              <a:t>Domestic and international people </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Males and females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People from different age groups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Special interest groups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Special needs clients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Open groups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Homogenous target market groups as defined by various demographic characteristics</a:t>
            </a:r>
            <a:endParaRPr lang="en-US" sz="2000" dirty="0" smtClean="0">
              <a:latin typeface="Helvetica" pitchFamily="34" charset="0"/>
            </a:endParaRPr>
          </a:p>
          <a:p>
            <a:pPr>
              <a:lnSpc>
                <a:spcPct val="110000"/>
              </a:lnSpc>
              <a:spcBef>
                <a:spcPts val="600"/>
              </a:spcBef>
              <a:spcAft>
                <a:spcPts val="1200"/>
              </a:spcAft>
            </a:pPr>
            <a:endParaRPr lang="en-US" sz="2000" dirty="0" smtClean="0">
              <a:latin typeface="Helvetica" pitchFamily="34" charset="0"/>
            </a:endParaRPr>
          </a:p>
          <a:p>
            <a:pPr>
              <a:lnSpc>
                <a:spcPct val="110000"/>
              </a:lnSpc>
              <a:spcBef>
                <a:spcPts val="600"/>
              </a:spcBef>
              <a:spcAft>
                <a:spcPts val="1200"/>
              </a:spcAft>
            </a:pPr>
            <a:endParaRPr lang="en-US" sz="2000" dirty="0">
              <a:latin typeface="Helvetica" pitchFamily="34" charset="0"/>
            </a:endParaRPr>
          </a:p>
        </p:txBody>
      </p:sp>
      <p:pic>
        <p:nvPicPr>
          <p:cNvPr id="6" name="Picture 5" descr="shutterstock_97356959.jpg"/>
          <p:cNvPicPr/>
          <p:nvPr/>
        </p:nvPicPr>
        <p:blipFill>
          <a:blip r:embed="rId3" cstate="print"/>
          <a:stretch>
            <a:fillRect/>
          </a:stretch>
        </p:blipFill>
        <p:spPr>
          <a:xfrm>
            <a:off x="5402558" y="2996952"/>
            <a:ext cx="2265786" cy="1512168"/>
          </a:xfrm>
          <a:prstGeom prst="rect">
            <a:avLst/>
          </a:prstGeom>
        </p:spPr>
      </p:pic>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3400" b="1" dirty="0" smtClean="0">
                <a:solidFill>
                  <a:srgbClr val="FF6600"/>
                </a:solidFill>
                <a:latin typeface="Helvetica" pitchFamily="34" charset="0"/>
              </a:rPr>
              <a:t>Assessing destination information needs</a:t>
            </a:r>
            <a:endParaRPr lang="en-US" sz="3400" b="1" dirty="0">
              <a:solidFill>
                <a:srgbClr val="FF6600"/>
              </a:solidFill>
              <a:latin typeface="Helvetica" pitchFamily="34" charset="0"/>
            </a:endParaRPr>
          </a:p>
        </p:txBody>
      </p:sp>
      <p:sp>
        <p:nvSpPr>
          <p:cNvPr id="3" name="Slide Number Placeholder 2"/>
          <p:cNvSpPr>
            <a:spLocks noGrp="1"/>
          </p:cNvSpPr>
          <p:nvPr>
            <p:ph type="sldNum" sz="quarter" idx="12"/>
          </p:nvPr>
        </p:nvSpPr>
        <p:spPr/>
        <p:txBody>
          <a:bodyPr>
            <a:normAutofit/>
          </a:bodyPr>
          <a:lstStyle/>
          <a:p>
            <a:fld id="{A3F7CB7D-F184-43C7-B6FD-03D728E1BBFF}" type="slidenum">
              <a:rPr lang="en-US" smtClean="0">
                <a:solidFill>
                  <a:srgbClr val="FFFFFF"/>
                </a:solidFill>
              </a:rPr>
              <a:pPr/>
              <a:t>51</a:t>
            </a:fld>
            <a:endParaRPr lang="en-US" dirty="0">
              <a:solidFill>
                <a:srgbClr val="FFFFFF"/>
              </a:solidFill>
            </a:endParaRPr>
          </a:p>
        </p:txBody>
      </p:sp>
      <p:sp>
        <p:nvSpPr>
          <p:cNvPr id="4" name="Content Placeholder 3"/>
          <p:cNvSpPr>
            <a:spLocks noGrp="1"/>
          </p:cNvSpPr>
          <p:nvPr>
            <p:ph sz="quarter" idx="4294967295"/>
          </p:nvPr>
        </p:nvSpPr>
        <p:spPr>
          <a:xfrm>
            <a:off x="612648" y="1600200"/>
            <a:ext cx="8153400" cy="4495800"/>
          </a:xfrm>
          <a:prstGeom prst="rect">
            <a:avLst/>
          </a:prstGeom>
        </p:spPr>
        <p:txBody>
          <a:bodyPr>
            <a:normAutofit/>
          </a:bodyPr>
          <a:lstStyle/>
          <a:p>
            <a:pPr>
              <a:spcBef>
                <a:spcPts val="600"/>
              </a:spcBef>
              <a:spcAft>
                <a:spcPts val="1200"/>
              </a:spcAft>
              <a:buNone/>
            </a:pPr>
            <a:r>
              <a:rPr lang="en-AU" sz="2000" b="1" dirty="0" smtClean="0"/>
              <a:t>Importance of identifying client needs</a:t>
            </a:r>
          </a:p>
          <a:p>
            <a:pPr>
              <a:spcBef>
                <a:spcPts val="600"/>
              </a:spcBef>
              <a:spcAft>
                <a:spcPts val="1200"/>
              </a:spcAft>
            </a:pPr>
            <a:r>
              <a:rPr lang="en-AU" sz="2000" dirty="0" smtClean="0"/>
              <a:t>Once different types of clients and market segments have been indentified, it is essential to understand what their needs may be, when seeking destination information</a:t>
            </a:r>
            <a:endParaRPr lang="en-US" sz="2000" b="1" dirty="0" smtClean="0"/>
          </a:p>
          <a:p>
            <a:pPr>
              <a:spcBef>
                <a:spcPts val="600"/>
              </a:spcBef>
              <a:spcAft>
                <a:spcPts val="1200"/>
              </a:spcAft>
            </a:pPr>
            <a:r>
              <a:rPr lang="en-AU" sz="2000" dirty="0" smtClean="0"/>
              <a:t>Whilst there will be generic needs that all clients will have, each market segment will also have their own specialised needs that must be addressed</a:t>
            </a:r>
            <a:endParaRPr lang="en-US" sz="2000" dirty="0"/>
          </a:p>
        </p:txBody>
      </p:sp>
      <p:pic>
        <p:nvPicPr>
          <p:cNvPr id="6" name="Picture 5" descr="Assessment_115352104.jpg"/>
          <p:cNvPicPr/>
          <p:nvPr/>
        </p:nvPicPr>
        <p:blipFill>
          <a:blip r:embed="rId3" cstate="print"/>
          <a:stretch>
            <a:fillRect/>
          </a:stretch>
        </p:blipFill>
        <p:spPr>
          <a:xfrm>
            <a:off x="2771800" y="4432150"/>
            <a:ext cx="2160240" cy="1589137"/>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3400" b="1" dirty="0" smtClean="0">
                <a:solidFill>
                  <a:srgbClr val="FF6600"/>
                </a:solidFill>
                <a:latin typeface="Helvetica" pitchFamily="34" charset="0"/>
              </a:rPr>
              <a:t>Assessing destination information needs</a:t>
            </a:r>
            <a:endParaRPr lang="en-US" sz="3400" b="1" dirty="0">
              <a:solidFill>
                <a:srgbClr val="FF6600"/>
              </a:solidFill>
              <a:latin typeface="Helvetica" pitchFamily="34" charset="0"/>
            </a:endParaRPr>
          </a:p>
        </p:txBody>
      </p:sp>
      <p:sp>
        <p:nvSpPr>
          <p:cNvPr id="3" name="Slide Number Placeholder 2"/>
          <p:cNvSpPr>
            <a:spLocks noGrp="1"/>
          </p:cNvSpPr>
          <p:nvPr>
            <p:ph type="sldNum" sz="quarter" idx="12"/>
          </p:nvPr>
        </p:nvSpPr>
        <p:spPr/>
        <p:txBody>
          <a:bodyPr>
            <a:normAutofit/>
          </a:bodyPr>
          <a:lstStyle/>
          <a:p>
            <a:fld id="{A3F7CB7D-F184-43C7-B6FD-03D728E1BBFF}" type="slidenum">
              <a:rPr lang="en-US" smtClean="0">
                <a:solidFill>
                  <a:srgbClr val="FFFFFF"/>
                </a:solidFill>
              </a:rPr>
              <a:pPr/>
              <a:t>52</a:t>
            </a:fld>
            <a:endParaRPr lang="en-US" dirty="0">
              <a:solidFill>
                <a:srgbClr val="FFFFFF"/>
              </a:solidFill>
            </a:endParaRPr>
          </a:p>
        </p:txBody>
      </p:sp>
      <p:sp>
        <p:nvSpPr>
          <p:cNvPr id="4" name="Content Placeholder 3"/>
          <p:cNvSpPr>
            <a:spLocks noGrp="1"/>
          </p:cNvSpPr>
          <p:nvPr>
            <p:ph sz="quarter" idx="4294967295"/>
          </p:nvPr>
        </p:nvSpPr>
        <p:spPr>
          <a:xfrm>
            <a:off x="612648" y="1600200"/>
            <a:ext cx="8153400" cy="5257800"/>
          </a:xfrm>
          <a:prstGeom prst="rect">
            <a:avLst/>
          </a:prstGeom>
        </p:spPr>
        <p:txBody>
          <a:bodyPr>
            <a:normAutofit/>
          </a:bodyPr>
          <a:lstStyle/>
          <a:p>
            <a:pPr marL="432000" lvl="1" indent="-453600">
              <a:lnSpc>
                <a:spcPct val="110000"/>
              </a:lnSpc>
              <a:spcBef>
                <a:spcPts val="600"/>
              </a:spcBef>
              <a:spcAft>
                <a:spcPts val="600"/>
              </a:spcAft>
              <a:buClr>
                <a:srgbClr val="EB7125"/>
              </a:buClr>
              <a:buNone/>
            </a:pPr>
            <a:r>
              <a:rPr lang="en-AU" sz="1800" b="1" dirty="0" smtClean="0"/>
              <a:t>Generic client needs</a:t>
            </a:r>
          </a:p>
          <a:p>
            <a:pPr lvl="0">
              <a:spcBef>
                <a:spcPts val="600"/>
              </a:spcBef>
              <a:spcAft>
                <a:spcPts val="600"/>
              </a:spcAft>
            </a:pPr>
            <a:r>
              <a:rPr lang="en-GB" sz="1800" dirty="0" smtClean="0"/>
              <a:t>Information matches their requests</a:t>
            </a:r>
            <a:endParaRPr lang="en-US" sz="1800" dirty="0" smtClean="0"/>
          </a:p>
          <a:p>
            <a:pPr lvl="0">
              <a:spcBef>
                <a:spcPts val="600"/>
              </a:spcBef>
              <a:spcAft>
                <a:spcPts val="600"/>
              </a:spcAft>
            </a:pPr>
            <a:r>
              <a:rPr lang="en-GB" sz="1800" dirty="0" smtClean="0"/>
              <a:t>Value for money</a:t>
            </a:r>
            <a:endParaRPr lang="en-US" sz="1800" dirty="0" smtClean="0"/>
          </a:p>
          <a:p>
            <a:pPr lvl="0">
              <a:spcBef>
                <a:spcPts val="600"/>
              </a:spcBef>
              <a:spcAft>
                <a:spcPts val="600"/>
              </a:spcAft>
            </a:pPr>
            <a:r>
              <a:rPr lang="en-GB" sz="1800" dirty="0" smtClean="0"/>
              <a:t>‘Offering’ reflecting what was advertised</a:t>
            </a:r>
            <a:endParaRPr lang="en-US" sz="1800" dirty="0" smtClean="0"/>
          </a:p>
          <a:p>
            <a:pPr lvl="0">
              <a:spcBef>
                <a:spcPts val="600"/>
              </a:spcBef>
              <a:spcAft>
                <a:spcPts val="600"/>
              </a:spcAft>
            </a:pPr>
            <a:r>
              <a:rPr lang="en-GB" sz="1800" dirty="0" smtClean="0"/>
              <a:t>Expectations met / exceeded </a:t>
            </a:r>
            <a:endParaRPr lang="en-US" sz="1800" dirty="0" smtClean="0"/>
          </a:p>
          <a:p>
            <a:pPr lvl="0">
              <a:spcBef>
                <a:spcPts val="600"/>
              </a:spcBef>
              <a:spcAft>
                <a:spcPts val="600"/>
              </a:spcAft>
            </a:pPr>
            <a:r>
              <a:rPr lang="en-GB" sz="1800" dirty="0" smtClean="0"/>
              <a:t>To receive friendly service</a:t>
            </a:r>
            <a:endParaRPr lang="en-US" sz="1800" dirty="0" smtClean="0"/>
          </a:p>
          <a:p>
            <a:pPr lvl="0">
              <a:spcBef>
                <a:spcPts val="600"/>
              </a:spcBef>
              <a:spcAft>
                <a:spcPts val="600"/>
              </a:spcAft>
            </a:pPr>
            <a:r>
              <a:rPr lang="en-GB" sz="1800" dirty="0" smtClean="0"/>
              <a:t>To be safe</a:t>
            </a:r>
            <a:endParaRPr lang="en-US" sz="1800" dirty="0" smtClean="0"/>
          </a:p>
          <a:p>
            <a:pPr lvl="0">
              <a:spcBef>
                <a:spcPts val="600"/>
              </a:spcBef>
              <a:spcAft>
                <a:spcPts val="600"/>
              </a:spcAft>
            </a:pPr>
            <a:r>
              <a:rPr lang="en-GB" sz="1800" dirty="0" smtClean="0"/>
              <a:t>To be dealt with in a prompt and courteous manner </a:t>
            </a:r>
            <a:endParaRPr lang="en-US" sz="1800" dirty="0" smtClean="0"/>
          </a:p>
          <a:p>
            <a:pPr lvl="0">
              <a:spcBef>
                <a:spcPts val="600"/>
              </a:spcBef>
              <a:spcAft>
                <a:spcPts val="600"/>
              </a:spcAft>
            </a:pPr>
            <a:r>
              <a:rPr lang="en-GB" sz="1800" dirty="0" smtClean="0"/>
              <a:t>To receive assistance when necessary</a:t>
            </a:r>
            <a:endParaRPr lang="en-US" sz="1800" dirty="0" smtClean="0"/>
          </a:p>
          <a:p>
            <a:pPr lvl="0">
              <a:spcBef>
                <a:spcPts val="600"/>
              </a:spcBef>
              <a:spcAft>
                <a:spcPts val="600"/>
              </a:spcAft>
            </a:pPr>
            <a:r>
              <a:rPr lang="en-GB" sz="1800" dirty="0" smtClean="0"/>
              <a:t>To be in comfortable, clean surroundings </a:t>
            </a:r>
            <a:endParaRPr lang="en-US" sz="1800" dirty="0" smtClean="0"/>
          </a:p>
          <a:p>
            <a:pPr marL="432000" lvl="1" indent="-453600">
              <a:lnSpc>
                <a:spcPct val="110000"/>
              </a:lnSpc>
              <a:spcBef>
                <a:spcPts val="600"/>
              </a:spcBef>
              <a:spcAft>
                <a:spcPts val="1200"/>
              </a:spcAft>
              <a:buClr>
                <a:srgbClr val="EB7125"/>
              </a:buClr>
            </a:pPr>
            <a:endParaRPr lang="en-AU" sz="1800" dirty="0" smtClean="0"/>
          </a:p>
          <a:p>
            <a:pPr>
              <a:lnSpc>
                <a:spcPct val="110000"/>
              </a:lnSpc>
              <a:spcBef>
                <a:spcPts val="600"/>
              </a:spcBef>
              <a:spcAft>
                <a:spcPts val="1200"/>
              </a:spcAft>
            </a:pPr>
            <a:endParaRPr lang="en-US" sz="1800" dirty="0" smtClean="0"/>
          </a:p>
          <a:p>
            <a:pPr>
              <a:lnSpc>
                <a:spcPct val="110000"/>
              </a:lnSpc>
              <a:spcBef>
                <a:spcPts val="600"/>
              </a:spcBef>
              <a:spcAft>
                <a:spcPts val="1200"/>
              </a:spcAft>
            </a:pPr>
            <a:endParaRPr lang="en-US" sz="1800" dirty="0"/>
          </a:p>
        </p:txBody>
      </p:sp>
      <p:pic>
        <p:nvPicPr>
          <p:cNvPr id="6" name="Picture 5" descr="Happy Smile_142334158.jpg"/>
          <p:cNvPicPr/>
          <p:nvPr/>
        </p:nvPicPr>
        <p:blipFill>
          <a:blip r:embed="rId3" cstate="print"/>
          <a:stretch>
            <a:fillRect/>
          </a:stretch>
        </p:blipFill>
        <p:spPr>
          <a:xfrm>
            <a:off x="5724128" y="2420888"/>
            <a:ext cx="2448272" cy="1807768"/>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3400" b="1" dirty="0" smtClean="0">
                <a:solidFill>
                  <a:srgbClr val="FF6600"/>
                </a:solidFill>
                <a:latin typeface="Helvetica" pitchFamily="34" charset="0"/>
              </a:rPr>
              <a:t>Assessing destination information needs</a:t>
            </a:r>
            <a:endParaRPr lang="en-US" sz="3400" b="1" dirty="0">
              <a:solidFill>
                <a:srgbClr val="FF6600"/>
              </a:solidFill>
              <a:latin typeface="Helvetica" pitchFamily="34" charset="0"/>
            </a:endParaRPr>
          </a:p>
        </p:txBody>
      </p:sp>
      <p:sp>
        <p:nvSpPr>
          <p:cNvPr id="3" name="Slide Number Placeholder 2"/>
          <p:cNvSpPr>
            <a:spLocks noGrp="1"/>
          </p:cNvSpPr>
          <p:nvPr>
            <p:ph type="sldNum" sz="quarter" idx="12"/>
          </p:nvPr>
        </p:nvSpPr>
        <p:spPr/>
        <p:txBody>
          <a:bodyPr>
            <a:normAutofit/>
          </a:bodyPr>
          <a:lstStyle/>
          <a:p>
            <a:fld id="{A3F7CB7D-F184-43C7-B6FD-03D728E1BBFF}" type="slidenum">
              <a:rPr lang="en-US" smtClean="0">
                <a:solidFill>
                  <a:srgbClr val="FFFFFF"/>
                </a:solidFill>
              </a:rPr>
              <a:pPr/>
              <a:t>53</a:t>
            </a:fld>
            <a:endParaRPr lang="en-US" dirty="0">
              <a:solidFill>
                <a:srgbClr val="FFFFFF"/>
              </a:solidFill>
            </a:endParaRPr>
          </a:p>
        </p:txBody>
      </p:sp>
      <p:sp>
        <p:nvSpPr>
          <p:cNvPr id="4" name="Content Placeholder 3"/>
          <p:cNvSpPr>
            <a:spLocks noGrp="1"/>
          </p:cNvSpPr>
          <p:nvPr>
            <p:ph sz="quarter" idx="4294967295"/>
          </p:nvPr>
        </p:nvSpPr>
        <p:spPr>
          <a:xfrm>
            <a:off x="612648" y="1600200"/>
            <a:ext cx="8153400" cy="5069160"/>
          </a:xfrm>
          <a:prstGeom prst="rect">
            <a:avLst/>
          </a:prstGeom>
        </p:spPr>
        <p:txBody>
          <a:bodyPr>
            <a:normAutofit lnSpcReduction="10000"/>
          </a:bodyPr>
          <a:lstStyle/>
          <a:p>
            <a:pPr>
              <a:spcBef>
                <a:spcPts val="600"/>
              </a:spcBef>
              <a:spcAft>
                <a:spcPts val="1200"/>
              </a:spcAft>
              <a:buNone/>
            </a:pPr>
            <a:r>
              <a:rPr lang="en-GB" sz="1800" b="1" dirty="0" smtClean="0"/>
              <a:t>Specific target market needs</a:t>
            </a:r>
            <a:endParaRPr lang="en-US" sz="1800" dirty="0" smtClean="0"/>
          </a:p>
          <a:p>
            <a:pPr marL="432000" lvl="1" indent="-453600">
              <a:lnSpc>
                <a:spcPct val="110000"/>
              </a:lnSpc>
              <a:spcBef>
                <a:spcPts val="600"/>
              </a:spcBef>
              <a:spcAft>
                <a:spcPts val="1200"/>
              </a:spcAft>
              <a:buClr>
                <a:srgbClr val="EB7125"/>
              </a:buClr>
              <a:buNone/>
            </a:pPr>
            <a:r>
              <a:rPr lang="en-AU" sz="1800" dirty="0" smtClean="0"/>
              <a:t>What are the specific needs of these market segments?</a:t>
            </a:r>
          </a:p>
          <a:p>
            <a:pPr lvl="0">
              <a:spcBef>
                <a:spcPts val="600"/>
              </a:spcBef>
              <a:spcAft>
                <a:spcPts val="1200"/>
              </a:spcAft>
            </a:pPr>
            <a:r>
              <a:rPr lang="en-AU" sz="1800" dirty="0" smtClean="0"/>
              <a:t>Business</a:t>
            </a:r>
          </a:p>
          <a:p>
            <a:pPr lvl="0">
              <a:spcBef>
                <a:spcPts val="600"/>
              </a:spcBef>
              <a:spcAft>
                <a:spcPts val="1200"/>
              </a:spcAft>
            </a:pPr>
            <a:r>
              <a:rPr lang="en-AU" sz="1800" dirty="0" smtClean="0"/>
              <a:t>Women</a:t>
            </a:r>
          </a:p>
          <a:p>
            <a:pPr lvl="0">
              <a:spcBef>
                <a:spcPts val="600"/>
              </a:spcBef>
              <a:spcAft>
                <a:spcPts val="1200"/>
              </a:spcAft>
            </a:pPr>
            <a:r>
              <a:rPr lang="en-AU" sz="1800" dirty="0" smtClean="0"/>
              <a:t>Family</a:t>
            </a:r>
          </a:p>
          <a:p>
            <a:pPr lvl="0">
              <a:spcBef>
                <a:spcPts val="600"/>
              </a:spcBef>
              <a:spcAft>
                <a:spcPts val="1200"/>
              </a:spcAft>
            </a:pPr>
            <a:r>
              <a:rPr lang="en-AU" sz="1800" dirty="0" smtClean="0"/>
              <a:t>Leisure</a:t>
            </a:r>
          </a:p>
          <a:p>
            <a:pPr lvl="0">
              <a:spcBef>
                <a:spcPts val="600"/>
              </a:spcBef>
              <a:spcAft>
                <a:spcPts val="1200"/>
              </a:spcAft>
            </a:pPr>
            <a:r>
              <a:rPr lang="en-AU" sz="1800" dirty="0" smtClean="0"/>
              <a:t>Elderly</a:t>
            </a:r>
          </a:p>
          <a:p>
            <a:pPr lvl="0">
              <a:spcBef>
                <a:spcPts val="600"/>
              </a:spcBef>
              <a:spcAft>
                <a:spcPts val="1200"/>
              </a:spcAft>
            </a:pPr>
            <a:r>
              <a:rPr lang="en-AU" sz="1800" dirty="0" smtClean="0"/>
              <a:t>Others </a:t>
            </a:r>
          </a:p>
          <a:p>
            <a:pPr lvl="0">
              <a:spcBef>
                <a:spcPts val="600"/>
              </a:spcBef>
              <a:spcAft>
                <a:spcPts val="1200"/>
              </a:spcAft>
            </a:pPr>
            <a:endParaRPr lang="en-AU" sz="1800" dirty="0" smtClean="0"/>
          </a:p>
          <a:p>
            <a:pPr marL="432000" lvl="1" indent="-453600">
              <a:lnSpc>
                <a:spcPct val="110000"/>
              </a:lnSpc>
              <a:spcBef>
                <a:spcPts val="600"/>
              </a:spcBef>
              <a:spcAft>
                <a:spcPts val="1200"/>
              </a:spcAft>
              <a:buClr>
                <a:srgbClr val="EB7125"/>
              </a:buClr>
              <a:buNone/>
            </a:pPr>
            <a:r>
              <a:rPr lang="en-AU" sz="1800" b="1" i="1" dirty="0" smtClean="0">
                <a:solidFill>
                  <a:srgbClr val="FF6600"/>
                </a:solidFill>
              </a:rPr>
              <a:t>COMPLETE ACTIVITY 5</a:t>
            </a:r>
          </a:p>
          <a:p>
            <a:pPr marL="432000" lvl="1" indent="-453600">
              <a:lnSpc>
                <a:spcPct val="110000"/>
              </a:lnSpc>
              <a:spcBef>
                <a:spcPts val="600"/>
              </a:spcBef>
              <a:spcAft>
                <a:spcPts val="1200"/>
              </a:spcAft>
              <a:buClr>
                <a:srgbClr val="EB7125"/>
              </a:buClr>
            </a:pPr>
            <a:endParaRPr lang="en-AU" sz="1800" dirty="0" smtClean="0"/>
          </a:p>
          <a:p>
            <a:pPr>
              <a:lnSpc>
                <a:spcPct val="110000"/>
              </a:lnSpc>
              <a:spcBef>
                <a:spcPts val="600"/>
              </a:spcBef>
              <a:spcAft>
                <a:spcPts val="1200"/>
              </a:spcAft>
            </a:pPr>
            <a:endParaRPr lang="en-US" sz="1800" dirty="0" smtClean="0"/>
          </a:p>
          <a:p>
            <a:pPr>
              <a:lnSpc>
                <a:spcPct val="110000"/>
              </a:lnSpc>
              <a:spcBef>
                <a:spcPts val="600"/>
              </a:spcBef>
              <a:spcAft>
                <a:spcPts val="1200"/>
              </a:spcAft>
            </a:pPr>
            <a:endParaRPr lang="en-US" sz="1800" dirty="0"/>
          </a:p>
        </p:txBody>
      </p:sp>
      <p:pic>
        <p:nvPicPr>
          <p:cNvPr id="6" name="Picture 5" descr="shutterstock_123035896.jpg"/>
          <p:cNvPicPr/>
          <p:nvPr/>
        </p:nvPicPr>
        <p:blipFill>
          <a:blip r:embed="rId3" cstate="print"/>
          <a:stretch>
            <a:fillRect/>
          </a:stretch>
        </p:blipFill>
        <p:spPr>
          <a:xfrm>
            <a:off x="3419872" y="3007804"/>
            <a:ext cx="2664296" cy="1800200"/>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t>Identify destination information to gather</a:t>
            </a:r>
          </a:p>
          <a:p>
            <a:pPr marL="0">
              <a:spcBef>
                <a:spcPts val="600"/>
              </a:spcBef>
              <a:spcAft>
                <a:spcPts val="1200"/>
              </a:spcAft>
              <a:buNone/>
            </a:pPr>
            <a:r>
              <a:rPr lang="en-AU" sz="2000" dirty="0" smtClean="0"/>
              <a:t>It is important to identify the types of destination information that you require from each to help you advise your clients in their future travel needs:</a:t>
            </a:r>
          </a:p>
          <a:p>
            <a:pPr>
              <a:spcBef>
                <a:spcPts val="600"/>
              </a:spcBef>
              <a:spcAft>
                <a:spcPts val="1200"/>
              </a:spcAft>
            </a:pPr>
            <a:r>
              <a:rPr lang="en-AU" sz="2000" dirty="0" smtClean="0"/>
              <a:t>What types of destination information do you want to gather?</a:t>
            </a:r>
          </a:p>
          <a:p>
            <a:pPr>
              <a:spcBef>
                <a:spcPts val="600"/>
              </a:spcBef>
              <a:spcAft>
                <a:spcPts val="1200"/>
              </a:spcAft>
              <a:buNone/>
            </a:pPr>
            <a:endParaRPr lang="en-US" sz="2000" dirty="0" smtClean="0"/>
          </a:p>
          <a:p>
            <a:pPr lvl="0">
              <a:spcBef>
                <a:spcPts val="600"/>
              </a:spcBef>
              <a:spcAft>
                <a:spcPts val="1200"/>
              </a:spcAft>
              <a:buNone/>
            </a:pPr>
            <a:endParaRPr lang="en-US"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54</a:t>
            </a:fld>
            <a:endParaRPr lang="en-US" dirty="0"/>
          </a:p>
        </p:txBody>
      </p:sp>
      <p:pic>
        <p:nvPicPr>
          <p:cNvPr id="8" name="Picture 7" descr="shutterstock_148377275.jpg"/>
          <p:cNvPicPr>
            <a:picLocks noChangeAspect="1"/>
          </p:cNvPicPr>
          <p:nvPr/>
        </p:nvPicPr>
        <p:blipFill>
          <a:blip r:embed="rId3" cstate="print"/>
          <a:stretch>
            <a:fillRect/>
          </a:stretch>
        </p:blipFill>
        <p:spPr>
          <a:xfrm>
            <a:off x="2915816" y="3933056"/>
            <a:ext cx="2375076" cy="1584176"/>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t>General destination information</a:t>
            </a:r>
            <a:endParaRPr lang="en-US" sz="2000" b="1" dirty="0" smtClean="0"/>
          </a:p>
          <a:p>
            <a:pPr lvl="0">
              <a:spcBef>
                <a:spcPts val="600"/>
              </a:spcBef>
              <a:spcAft>
                <a:spcPts val="1200"/>
              </a:spcAft>
            </a:pPr>
            <a:r>
              <a:rPr lang="en-AU" sz="2000" dirty="0" smtClean="0"/>
              <a:t>General destination information</a:t>
            </a:r>
            <a:endParaRPr lang="en-US" sz="2000" dirty="0" smtClean="0"/>
          </a:p>
          <a:p>
            <a:pPr lvl="0">
              <a:spcBef>
                <a:spcPts val="600"/>
              </a:spcBef>
              <a:spcAft>
                <a:spcPts val="1200"/>
              </a:spcAft>
            </a:pPr>
            <a:r>
              <a:rPr lang="en-AU" sz="2000" dirty="0" smtClean="0"/>
              <a:t>Statistical information </a:t>
            </a:r>
            <a:endParaRPr lang="en-US" sz="2000" dirty="0" smtClean="0"/>
          </a:p>
          <a:p>
            <a:pPr lvl="0">
              <a:spcBef>
                <a:spcPts val="600"/>
              </a:spcBef>
              <a:spcAft>
                <a:spcPts val="1200"/>
              </a:spcAft>
            </a:pPr>
            <a:r>
              <a:rPr lang="en-AU" sz="2000" dirty="0" smtClean="0"/>
              <a:t>Currency</a:t>
            </a:r>
            <a:endParaRPr lang="en-US" sz="2000" dirty="0" smtClean="0"/>
          </a:p>
          <a:p>
            <a:pPr lvl="0">
              <a:spcBef>
                <a:spcPts val="600"/>
              </a:spcBef>
              <a:spcAft>
                <a:spcPts val="1200"/>
              </a:spcAft>
            </a:pPr>
            <a:r>
              <a:rPr lang="en-AU" sz="2000" dirty="0" smtClean="0"/>
              <a:t>Maps </a:t>
            </a:r>
            <a:endParaRPr lang="en-US" sz="2000" dirty="0" smtClean="0"/>
          </a:p>
          <a:p>
            <a:pPr lvl="0">
              <a:spcBef>
                <a:spcPts val="600"/>
              </a:spcBef>
              <a:spcAft>
                <a:spcPts val="1200"/>
              </a:spcAft>
            </a:pPr>
            <a:r>
              <a:rPr lang="en-AU" sz="2000" dirty="0" smtClean="0"/>
              <a:t>Travel guides</a:t>
            </a:r>
            <a:endParaRPr lang="en-US" sz="2000" dirty="0" smtClean="0"/>
          </a:p>
          <a:p>
            <a:pPr lvl="0">
              <a:spcBef>
                <a:spcPts val="600"/>
              </a:spcBef>
              <a:spcAft>
                <a:spcPts val="1200"/>
              </a:spcAft>
            </a:pPr>
            <a:r>
              <a:rPr lang="en-AU" sz="2000" dirty="0" smtClean="0"/>
              <a:t>Events</a:t>
            </a:r>
            <a:endParaRPr lang="en-US" sz="2000" dirty="0" smtClean="0"/>
          </a:p>
          <a:p>
            <a:pPr lvl="0">
              <a:spcBef>
                <a:spcPts val="600"/>
              </a:spcBef>
              <a:spcAft>
                <a:spcPts val="600"/>
              </a:spcAft>
              <a:buNone/>
            </a:pPr>
            <a:endParaRPr lang="en-US" sz="2000" dirty="0" smtClean="0"/>
          </a:p>
          <a:p>
            <a:pPr>
              <a:spcBef>
                <a:spcPts val="600"/>
              </a:spcBef>
              <a:spcAft>
                <a:spcPts val="1200"/>
              </a:spcAft>
              <a:buNone/>
            </a:pPr>
            <a:endParaRPr lang="en-US" sz="2000" dirty="0" smtClean="0"/>
          </a:p>
          <a:p>
            <a:pPr lvl="0">
              <a:spcBef>
                <a:spcPts val="600"/>
              </a:spcBef>
              <a:spcAft>
                <a:spcPts val="1200"/>
              </a:spcAft>
              <a:buNone/>
            </a:pPr>
            <a:endParaRPr lang="en-US"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55</a:t>
            </a:fld>
            <a:endParaRPr lang="en-US" dirty="0"/>
          </a:p>
        </p:txBody>
      </p:sp>
      <p:pic>
        <p:nvPicPr>
          <p:cNvPr id="6" name="Picture 5" descr="Asian girl with world on hand_34766518.jpg"/>
          <p:cNvPicPr/>
          <p:nvPr/>
        </p:nvPicPr>
        <p:blipFill>
          <a:blip r:embed="rId3" cstate="print"/>
          <a:stretch>
            <a:fillRect/>
          </a:stretch>
        </p:blipFill>
        <p:spPr>
          <a:xfrm>
            <a:off x="4355976" y="2780928"/>
            <a:ext cx="1872208" cy="2304256"/>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t>General destination information</a:t>
            </a:r>
            <a:endParaRPr lang="en-US" sz="2000" b="1" dirty="0" smtClean="0"/>
          </a:p>
          <a:p>
            <a:pPr lvl="0">
              <a:spcBef>
                <a:spcPts val="600"/>
              </a:spcBef>
              <a:spcAft>
                <a:spcPts val="1200"/>
              </a:spcAft>
            </a:pPr>
            <a:r>
              <a:rPr lang="en-AU" sz="2000" dirty="0" smtClean="0"/>
              <a:t>Languages</a:t>
            </a:r>
            <a:endParaRPr lang="en-US" sz="2000" dirty="0" smtClean="0"/>
          </a:p>
          <a:p>
            <a:pPr lvl="0">
              <a:spcBef>
                <a:spcPts val="600"/>
              </a:spcBef>
              <a:spcAft>
                <a:spcPts val="1200"/>
              </a:spcAft>
            </a:pPr>
            <a:r>
              <a:rPr lang="en-AU" sz="2000" dirty="0" smtClean="0"/>
              <a:t>Safety</a:t>
            </a:r>
            <a:endParaRPr lang="en-US" sz="2000" dirty="0" smtClean="0"/>
          </a:p>
          <a:p>
            <a:pPr lvl="0">
              <a:spcBef>
                <a:spcPts val="600"/>
              </a:spcBef>
              <a:spcAft>
                <a:spcPts val="1200"/>
              </a:spcAft>
            </a:pPr>
            <a:r>
              <a:rPr lang="en-AU" sz="2000" dirty="0" smtClean="0"/>
              <a:t>Government information</a:t>
            </a:r>
            <a:endParaRPr lang="en-US" sz="2000" dirty="0" smtClean="0"/>
          </a:p>
          <a:p>
            <a:pPr lvl="0">
              <a:spcBef>
                <a:spcPts val="600"/>
              </a:spcBef>
              <a:spcAft>
                <a:spcPts val="1200"/>
              </a:spcAft>
            </a:pPr>
            <a:r>
              <a:rPr lang="en-AU" sz="2000" dirty="0" smtClean="0"/>
              <a:t>Time zones</a:t>
            </a:r>
            <a:endParaRPr lang="en-US" sz="2000" dirty="0" smtClean="0"/>
          </a:p>
          <a:p>
            <a:pPr lvl="0">
              <a:spcBef>
                <a:spcPts val="600"/>
              </a:spcBef>
              <a:spcAft>
                <a:spcPts val="1200"/>
              </a:spcAft>
            </a:pPr>
            <a:r>
              <a:rPr lang="en-AU" sz="2000" dirty="0" smtClean="0"/>
              <a:t>Communications</a:t>
            </a:r>
            <a:endParaRPr lang="en-US" sz="2000" dirty="0" smtClean="0"/>
          </a:p>
          <a:p>
            <a:pPr>
              <a:spcBef>
                <a:spcPts val="600"/>
              </a:spcBef>
              <a:spcAft>
                <a:spcPts val="1200"/>
              </a:spcAft>
              <a:buNone/>
            </a:pPr>
            <a:endParaRPr lang="en-US" sz="2000" dirty="0" smtClean="0"/>
          </a:p>
          <a:p>
            <a:pPr lvl="0">
              <a:spcBef>
                <a:spcPts val="600"/>
              </a:spcBef>
              <a:spcAft>
                <a:spcPts val="1200"/>
              </a:spcAft>
              <a:buNone/>
            </a:pPr>
            <a:endParaRPr lang="en-US"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56</a:t>
            </a:fld>
            <a:endParaRPr lang="en-US" dirty="0"/>
          </a:p>
        </p:txBody>
      </p:sp>
      <p:pic>
        <p:nvPicPr>
          <p:cNvPr id="5" name="Picture 4" descr="Looking at map_124805341.jpg"/>
          <p:cNvPicPr>
            <a:picLocks noChangeAspect="1"/>
          </p:cNvPicPr>
          <p:nvPr/>
        </p:nvPicPr>
        <p:blipFill>
          <a:blip r:embed="rId3" cstate="print"/>
          <a:stretch>
            <a:fillRect/>
          </a:stretch>
        </p:blipFill>
        <p:spPr>
          <a:xfrm>
            <a:off x="4555531" y="2450159"/>
            <a:ext cx="2590992" cy="1728192"/>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US" sz="2000" b="1" dirty="0" smtClean="0"/>
              <a:t>Local community information</a:t>
            </a:r>
            <a:endParaRPr lang="en-US" sz="2000" dirty="0" smtClean="0"/>
          </a:p>
          <a:p>
            <a:pPr lvl="0">
              <a:spcBef>
                <a:spcPts val="600"/>
              </a:spcBef>
              <a:spcAft>
                <a:spcPts val="1200"/>
              </a:spcAft>
            </a:pPr>
            <a:r>
              <a:rPr lang="en-AU" sz="2000" dirty="0" smtClean="0"/>
              <a:t>Zoos, animal and wildlife parks</a:t>
            </a:r>
            <a:endParaRPr lang="en-US" sz="2000" dirty="0" smtClean="0"/>
          </a:p>
          <a:p>
            <a:pPr lvl="0">
              <a:spcBef>
                <a:spcPts val="600"/>
              </a:spcBef>
              <a:spcAft>
                <a:spcPts val="1200"/>
              </a:spcAft>
            </a:pPr>
            <a:r>
              <a:rPr lang="en-AU" sz="2000" dirty="0" smtClean="0"/>
              <a:t>Museums</a:t>
            </a:r>
            <a:endParaRPr lang="en-US" sz="2000" dirty="0" smtClean="0"/>
          </a:p>
          <a:p>
            <a:pPr lvl="0">
              <a:spcBef>
                <a:spcPts val="600"/>
              </a:spcBef>
              <a:spcAft>
                <a:spcPts val="1200"/>
              </a:spcAft>
            </a:pPr>
            <a:r>
              <a:rPr lang="en-AU" sz="2000" dirty="0" smtClean="0"/>
              <a:t>Natural attractions – parks, reserves, gardens</a:t>
            </a:r>
            <a:endParaRPr lang="en-US" sz="2000" dirty="0" smtClean="0"/>
          </a:p>
          <a:p>
            <a:pPr lvl="0">
              <a:spcBef>
                <a:spcPts val="600"/>
              </a:spcBef>
              <a:spcAft>
                <a:spcPts val="1200"/>
              </a:spcAft>
            </a:pPr>
            <a:r>
              <a:rPr lang="en-AU" sz="2000" dirty="0" smtClean="0"/>
              <a:t>Built or ‘man-made’ attractions</a:t>
            </a:r>
            <a:endParaRPr lang="en-US" sz="2000" dirty="0" smtClean="0"/>
          </a:p>
          <a:p>
            <a:pPr lvl="0">
              <a:spcBef>
                <a:spcPts val="600"/>
              </a:spcBef>
              <a:spcAft>
                <a:spcPts val="1200"/>
              </a:spcAft>
            </a:pPr>
            <a:r>
              <a:rPr lang="en-AU" sz="2000" dirty="0" smtClean="0"/>
              <a:t>Prominent and historic buildings</a:t>
            </a:r>
            <a:endParaRPr lang="en-US" sz="2000" dirty="0" smtClean="0"/>
          </a:p>
          <a:p>
            <a:pPr lvl="0">
              <a:spcBef>
                <a:spcPts val="600"/>
              </a:spcBef>
              <a:spcAft>
                <a:spcPts val="1200"/>
              </a:spcAft>
            </a:pPr>
            <a:r>
              <a:rPr lang="en-AU" sz="2000" dirty="0" smtClean="0"/>
              <a:t>Amusement parks and theme parks</a:t>
            </a:r>
          </a:p>
          <a:p>
            <a:pPr lvl="0">
              <a:spcBef>
                <a:spcPts val="600"/>
              </a:spcBef>
              <a:spcAft>
                <a:spcPts val="1200"/>
              </a:spcAft>
            </a:pPr>
            <a:r>
              <a:rPr lang="en-AU" sz="2000" dirty="0" smtClean="0"/>
              <a:t>Areas, districts and streets</a:t>
            </a:r>
            <a:endParaRPr lang="en-US" sz="2000" dirty="0" smtClean="0"/>
          </a:p>
          <a:p>
            <a:pPr lvl="0">
              <a:spcBef>
                <a:spcPts val="600"/>
              </a:spcBef>
              <a:spcAft>
                <a:spcPts val="1200"/>
              </a:spcAft>
            </a:pPr>
            <a:r>
              <a:rPr lang="en-AU" sz="2000" dirty="0" smtClean="0"/>
              <a:t>Sporting and recreational facilities</a:t>
            </a:r>
            <a:endParaRPr lang="en-US" sz="2000" dirty="0" smtClean="0"/>
          </a:p>
          <a:p>
            <a:pPr lvl="0">
              <a:spcBef>
                <a:spcPts val="600"/>
              </a:spcBef>
              <a:spcAft>
                <a:spcPts val="1200"/>
              </a:spcAft>
            </a:pPr>
            <a:endParaRPr lang="en-US" sz="2000" dirty="0" smtClean="0"/>
          </a:p>
          <a:p>
            <a:pPr>
              <a:spcBef>
                <a:spcPts val="600"/>
              </a:spcBef>
              <a:spcAft>
                <a:spcPts val="1200"/>
              </a:spcAft>
              <a:buNone/>
            </a:pPr>
            <a:endParaRPr lang="en-US" sz="2000" dirty="0" smtClean="0"/>
          </a:p>
          <a:p>
            <a:pPr lvl="0">
              <a:spcBef>
                <a:spcPts val="600"/>
              </a:spcBef>
              <a:spcAft>
                <a:spcPts val="1200"/>
              </a:spcAft>
              <a:buNone/>
            </a:pPr>
            <a:endParaRPr lang="en-US"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57</a:t>
            </a:fld>
            <a:endParaRPr lang="en-US" dirty="0"/>
          </a:p>
        </p:txBody>
      </p:sp>
      <p:pic>
        <p:nvPicPr>
          <p:cNvPr id="6" name="Picture 5" descr="shutterstock_158753825.jpg"/>
          <p:cNvPicPr/>
          <p:nvPr/>
        </p:nvPicPr>
        <p:blipFill>
          <a:blip r:embed="rId3" cstate="print"/>
          <a:stretch>
            <a:fillRect/>
          </a:stretch>
        </p:blipFill>
        <p:spPr>
          <a:xfrm>
            <a:off x="6155958" y="3789040"/>
            <a:ext cx="2232248" cy="1584176"/>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US" sz="2000" b="1" dirty="0" smtClean="0"/>
              <a:t>Local community information</a:t>
            </a:r>
            <a:endParaRPr lang="en-US" sz="2000" dirty="0" smtClean="0"/>
          </a:p>
          <a:p>
            <a:pPr lvl="0">
              <a:spcBef>
                <a:spcPts val="600"/>
              </a:spcBef>
              <a:spcAft>
                <a:spcPts val="1200"/>
              </a:spcAft>
            </a:pPr>
            <a:r>
              <a:rPr lang="en-AU" sz="2000" dirty="0" smtClean="0"/>
              <a:t>Markets</a:t>
            </a:r>
            <a:endParaRPr lang="en-US" sz="2000" dirty="0" smtClean="0"/>
          </a:p>
          <a:p>
            <a:pPr lvl="0">
              <a:spcBef>
                <a:spcPts val="600"/>
              </a:spcBef>
              <a:spcAft>
                <a:spcPts val="1200"/>
              </a:spcAft>
            </a:pPr>
            <a:r>
              <a:rPr lang="en-AU" sz="2000" dirty="0" smtClean="0"/>
              <a:t>Resorts</a:t>
            </a:r>
            <a:endParaRPr lang="en-US" sz="2000" dirty="0" smtClean="0"/>
          </a:p>
          <a:p>
            <a:pPr lvl="0">
              <a:spcBef>
                <a:spcPts val="600"/>
              </a:spcBef>
              <a:spcAft>
                <a:spcPts val="1200"/>
              </a:spcAft>
            </a:pPr>
            <a:r>
              <a:rPr lang="en-AU" sz="2000" dirty="0" smtClean="0"/>
              <a:t>Casinos</a:t>
            </a:r>
            <a:endParaRPr lang="en-US" sz="2000" dirty="0" smtClean="0"/>
          </a:p>
          <a:p>
            <a:pPr lvl="0">
              <a:spcBef>
                <a:spcPts val="600"/>
              </a:spcBef>
              <a:spcAft>
                <a:spcPts val="1200"/>
              </a:spcAft>
            </a:pPr>
            <a:r>
              <a:rPr lang="en-AU" sz="2000" dirty="0" smtClean="0"/>
              <a:t>Currency exchange</a:t>
            </a:r>
          </a:p>
          <a:p>
            <a:pPr lvl="0">
              <a:spcBef>
                <a:spcPts val="600"/>
              </a:spcBef>
              <a:spcAft>
                <a:spcPts val="1200"/>
              </a:spcAft>
            </a:pPr>
            <a:r>
              <a:rPr lang="en-AU" sz="2000" dirty="0" smtClean="0"/>
              <a:t>Emergency services</a:t>
            </a:r>
            <a:endParaRPr lang="en-US" sz="2000" dirty="0" smtClean="0"/>
          </a:p>
          <a:p>
            <a:pPr lvl="0">
              <a:spcBef>
                <a:spcPts val="600"/>
              </a:spcBef>
              <a:spcAft>
                <a:spcPts val="1200"/>
              </a:spcAft>
            </a:pPr>
            <a:r>
              <a:rPr lang="en-AU" sz="2000" dirty="0" smtClean="0"/>
              <a:t>Churches and places of worship</a:t>
            </a:r>
            <a:endParaRPr lang="en-US" sz="2000" dirty="0" smtClean="0"/>
          </a:p>
          <a:p>
            <a:pPr lvl="0">
              <a:spcBef>
                <a:spcPts val="600"/>
              </a:spcBef>
              <a:spcAft>
                <a:spcPts val="1200"/>
              </a:spcAft>
            </a:pPr>
            <a:r>
              <a:rPr lang="en-AU" sz="2000" dirty="0" smtClean="0"/>
              <a:t>Public and private transport options</a:t>
            </a:r>
            <a:endParaRPr lang="en-US" sz="2000" dirty="0" smtClean="0"/>
          </a:p>
          <a:p>
            <a:pPr lvl="0">
              <a:spcBef>
                <a:spcPts val="600"/>
              </a:spcBef>
              <a:spcAft>
                <a:spcPts val="1200"/>
              </a:spcAft>
            </a:pPr>
            <a:endParaRPr lang="en-US" sz="2000" dirty="0" smtClean="0"/>
          </a:p>
          <a:p>
            <a:pPr>
              <a:spcBef>
                <a:spcPts val="600"/>
              </a:spcBef>
              <a:spcAft>
                <a:spcPts val="1200"/>
              </a:spcAft>
              <a:buNone/>
            </a:pPr>
            <a:endParaRPr lang="en-US" sz="2000" dirty="0" smtClean="0"/>
          </a:p>
          <a:p>
            <a:pPr lvl="0">
              <a:spcBef>
                <a:spcPts val="600"/>
              </a:spcBef>
              <a:spcAft>
                <a:spcPts val="1200"/>
              </a:spcAft>
              <a:buNone/>
            </a:pPr>
            <a:endParaRPr lang="en-US"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58</a:t>
            </a:fld>
            <a:endParaRPr lang="en-US" dirty="0"/>
          </a:p>
        </p:txBody>
      </p:sp>
      <p:pic>
        <p:nvPicPr>
          <p:cNvPr id="7" name="Picture 6" descr="Lady looking at map_148488614.jpg"/>
          <p:cNvPicPr/>
          <p:nvPr/>
        </p:nvPicPr>
        <p:blipFill>
          <a:blip r:embed="rId3" cstate="print"/>
          <a:stretch>
            <a:fillRect/>
          </a:stretch>
        </p:blipFill>
        <p:spPr>
          <a:xfrm>
            <a:off x="5198595" y="2348880"/>
            <a:ext cx="1944216" cy="2088232"/>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t>International destination information</a:t>
            </a:r>
            <a:endParaRPr lang="en-US" sz="2000" b="1" dirty="0" smtClean="0"/>
          </a:p>
          <a:p>
            <a:pPr marL="0">
              <a:spcBef>
                <a:spcPts val="600"/>
              </a:spcBef>
              <a:spcAft>
                <a:spcPts val="1200"/>
              </a:spcAft>
              <a:buNone/>
            </a:pPr>
            <a:r>
              <a:rPr lang="en-AU" sz="2000" dirty="0" smtClean="0"/>
              <a:t>When providing information on international destinations to your customers, you will need to advise them of the government regulations that apply when people wish to leave the country:</a:t>
            </a:r>
          </a:p>
          <a:p>
            <a:pPr>
              <a:spcBef>
                <a:spcPts val="600"/>
              </a:spcBef>
              <a:spcAft>
                <a:spcPts val="1200"/>
              </a:spcAft>
            </a:pPr>
            <a:r>
              <a:rPr lang="en-AU" sz="2000" dirty="0" smtClean="0"/>
              <a:t>What information do you need to gather and explain to clients wishing to travel overseas?</a:t>
            </a:r>
            <a:endParaRPr lang="en-US" sz="2000" dirty="0" smtClean="0"/>
          </a:p>
          <a:p>
            <a:pPr>
              <a:spcBef>
                <a:spcPts val="600"/>
              </a:spcBef>
              <a:spcAft>
                <a:spcPts val="1200"/>
              </a:spcAft>
              <a:buNone/>
            </a:pPr>
            <a:endParaRPr lang="en-US" sz="2000" dirty="0" smtClean="0"/>
          </a:p>
          <a:p>
            <a:pPr lvl="0">
              <a:spcBef>
                <a:spcPts val="600"/>
              </a:spcBef>
              <a:spcAft>
                <a:spcPts val="1200"/>
              </a:spcAft>
              <a:buNone/>
            </a:pPr>
            <a:endParaRPr lang="en-US"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59</a:t>
            </a:fld>
            <a:endParaRPr lang="en-US" dirty="0"/>
          </a:p>
        </p:txBody>
      </p:sp>
      <p:pic>
        <p:nvPicPr>
          <p:cNvPr id="7" name="Picture 6" descr="shutterstock_53668378.jpg"/>
          <p:cNvPicPr/>
          <p:nvPr/>
        </p:nvPicPr>
        <p:blipFill>
          <a:blip r:embed="rId3" cstate="print"/>
          <a:stretch>
            <a:fillRect/>
          </a:stretch>
        </p:blipFill>
        <p:spPr>
          <a:xfrm>
            <a:off x="2931731" y="4221088"/>
            <a:ext cx="2016224" cy="144016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shutterstock_98518646.jpg"/>
          <p:cNvPicPr/>
          <p:nvPr/>
        </p:nvPicPr>
        <p:blipFill>
          <a:blip r:embed="rId3" cstate="print">
            <a:lum bright="70000" contrast="-70000"/>
          </a:blip>
          <a:stretch>
            <a:fillRect/>
          </a:stretch>
        </p:blipFill>
        <p:spPr>
          <a:xfrm>
            <a:off x="323528" y="620688"/>
            <a:ext cx="6840760" cy="4865050"/>
          </a:xfrm>
          <a:prstGeom prst="rect">
            <a:avLst/>
          </a:prstGeom>
        </p:spPr>
      </p:pic>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t>Tours</a:t>
            </a:r>
            <a:endParaRPr lang="en-US" sz="2000" dirty="0" smtClean="0"/>
          </a:p>
          <a:p>
            <a:pPr lvl="0">
              <a:spcBef>
                <a:spcPts val="600"/>
              </a:spcBef>
              <a:spcAft>
                <a:spcPts val="1200"/>
              </a:spcAft>
            </a:pPr>
            <a:r>
              <a:rPr lang="en-AU" sz="2000" dirty="0" smtClean="0"/>
              <a:t>Company name, name of tour and duration</a:t>
            </a:r>
            <a:endParaRPr lang="en-US" sz="2000" dirty="0" smtClean="0"/>
          </a:p>
          <a:p>
            <a:pPr lvl="0">
              <a:spcBef>
                <a:spcPts val="600"/>
              </a:spcBef>
              <a:spcAft>
                <a:spcPts val="1200"/>
              </a:spcAft>
            </a:pPr>
            <a:r>
              <a:rPr lang="en-AU" sz="2000" dirty="0" smtClean="0"/>
              <a:t>Departure date, time and location address</a:t>
            </a:r>
            <a:endParaRPr lang="en-US" sz="2000" dirty="0" smtClean="0"/>
          </a:p>
          <a:p>
            <a:pPr lvl="0">
              <a:spcBef>
                <a:spcPts val="600"/>
              </a:spcBef>
              <a:spcAft>
                <a:spcPts val="1200"/>
              </a:spcAft>
            </a:pPr>
            <a:r>
              <a:rPr lang="en-AU" sz="2000" dirty="0" smtClean="0"/>
              <a:t>End date, time and location address</a:t>
            </a:r>
            <a:endParaRPr lang="en-US" sz="2000" dirty="0" smtClean="0"/>
          </a:p>
          <a:p>
            <a:pPr lvl="0">
              <a:spcBef>
                <a:spcPts val="600"/>
              </a:spcBef>
              <a:spcAft>
                <a:spcPts val="1200"/>
              </a:spcAft>
            </a:pPr>
            <a:r>
              <a:rPr lang="en-AU" sz="2000" dirty="0" smtClean="0"/>
              <a:t>Type of accommodation e.g. single, twin-share</a:t>
            </a:r>
            <a:endParaRPr lang="en-US" sz="2000" dirty="0" smtClean="0"/>
          </a:p>
          <a:p>
            <a:pPr lvl="0">
              <a:spcBef>
                <a:spcPts val="600"/>
              </a:spcBef>
              <a:spcAft>
                <a:spcPts val="1200"/>
              </a:spcAft>
            </a:pPr>
            <a:r>
              <a:rPr lang="en-AU" sz="2000" dirty="0" smtClean="0"/>
              <a:t>Tour company specific baggage labels</a:t>
            </a:r>
            <a:endParaRPr lang="en-US" sz="2000" dirty="0" smtClean="0"/>
          </a:p>
          <a:p>
            <a:pPr lvl="0">
              <a:spcBef>
                <a:spcPts val="600"/>
              </a:spcBef>
              <a:spcAft>
                <a:spcPts val="1200"/>
              </a:spcAft>
            </a:pPr>
            <a:r>
              <a:rPr lang="en-AU" sz="2000" dirty="0" smtClean="0"/>
              <a:t>Hotel list </a:t>
            </a:r>
            <a:endParaRPr lang="en-US" sz="2000" dirty="0" smtClean="0"/>
          </a:p>
          <a:p>
            <a:pPr lvl="0">
              <a:spcBef>
                <a:spcPts val="600"/>
              </a:spcBef>
              <a:spcAft>
                <a:spcPts val="1200"/>
              </a:spcAft>
            </a:pPr>
            <a:r>
              <a:rPr lang="en-AU" sz="2000" dirty="0" smtClean="0"/>
              <a:t>Tour information booklet</a:t>
            </a:r>
            <a:endParaRPr lang="en-US" sz="2000" dirty="0" smtClean="0"/>
          </a:p>
          <a:p>
            <a:pPr lvl="0">
              <a:spcBef>
                <a:spcPts val="600"/>
              </a:spcBef>
              <a:spcAft>
                <a:spcPts val="1200"/>
              </a:spcAft>
            </a:pPr>
            <a:r>
              <a:rPr lang="en-AU" sz="2000" dirty="0" smtClean="0"/>
              <a:t>Included services</a:t>
            </a:r>
            <a:endParaRPr lang="en-US" sz="2000" dirty="0" smtClean="0"/>
          </a:p>
          <a:p>
            <a:pPr>
              <a:spcBef>
                <a:spcPts val="600"/>
              </a:spcBef>
              <a:spcAft>
                <a:spcPts val="1200"/>
              </a:spcAft>
              <a:buNone/>
            </a:pPr>
            <a:endParaRPr lang="en-US" sz="2000" dirty="0" smtClean="0"/>
          </a:p>
          <a:p>
            <a:pPr lvl="0">
              <a:spcBef>
                <a:spcPts val="600"/>
              </a:spcBef>
              <a:spcAft>
                <a:spcPts val="1200"/>
              </a:spcAft>
              <a:buNone/>
            </a:pPr>
            <a:endParaRPr lang="en-US"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60</a:t>
            </a:fld>
            <a:endParaRPr lang="en-US"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t>Attractions</a:t>
            </a:r>
            <a:endParaRPr lang="en-US" sz="2000" b="1" dirty="0" smtClean="0"/>
          </a:p>
          <a:p>
            <a:pPr>
              <a:spcBef>
                <a:spcPts val="600"/>
              </a:spcBef>
              <a:spcAft>
                <a:spcPts val="1200"/>
              </a:spcAft>
              <a:buNone/>
            </a:pPr>
            <a:r>
              <a:rPr lang="en-AU" sz="2000" dirty="0" smtClean="0"/>
              <a:t>Attractions can include:</a:t>
            </a:r>
          </a:p>
          <a:p>
            <a:pPr>
              <a:spcBef>
                <a:spcPts val="600"/>
              </a:spcBef>
              <a:spcAft>
                <a:spcPts val="1200"/>
              </a:spcAft>
            </a:pPr>
            <a:r>
              <a:rPr lang="en-AU" sz="2000" dirty="0" smtClean="0"/>
              <a:t>Historic sites</a:t>
            </a:r>
          </a:p>
          <a:p>
            <a:pPr>
              <a:spcBef>
                <a:spcPts val="600"/>
              </a:spcBef>
              <a:spcAft>
                <a:spcPts val="1200"/>
              </a:spcAft>
            </a:pPr>
            <a:r>
              <a:rPr lang="en-AU" sz="2000" dirty="0" smtClean="0"/>
              <a:t>Scenic location</a:t>
            </a:r>
          </a:p>
          <a:p>
            <a:pPr>
              <a:spcBef>
                <a:spcPts val="600"/>
              </a:spcBef>
              <a:spcAft>
                <a:spcPts val="1200"/>
              </a:spcAft>
            </a:pPr>
            <a:r>
              <a:rPr lang="en-AU" sz="2000" dirty="0" smtClean="0"/>
              <a:t>Special event</a:t>
            </a:r>
            <a:endParaRPr lang="en-US" sz="2000" dirty="0" smtClean="0"/>
          </a:p>
          <a:p>
            <a:pPr>
              <a:spcBef>
                <a:spcPts val="600"/>
              </a:spcBef>
              <a:spcAft>
                <a:spcPts val="1200"/>
              </a:spcAft>
              <a:buNone/>
            </a:pPr>
            <a:r>
              <a:rPr lang="en-AU" sz="2000" dirty="0" smtClean="0"/>
              <a:t>Tourist attractions can be:</a:t>
            </a:r>
            <a:endParaRPr lang="en-US" sz="2000" dirty="0" smtClean="0"/>
          </a:p>
          <a:p>
            <a:pPr lvl="0">
              <a:spcBef>
                <a:spcPts val="600"/>
              </a:spcBef>
              <a:spcAft>
                <a:spcPts val="1200"/>
              </a:spcAft>
            </a:pPr>
            <a:r>
              <a:rPr lang="en-AU" sz="2000" dirty="0" smtClean="0"/>
              <a:t>Natural</a:t>
            </a:r>
            <a:endParaRPr lang="en-US" sz="2000" dirty="0" smtClean="0"/>
          </a:p>
          <a:p>
            <a:pPr lvl="0">
              <a:spcBef>
                <a:spcPts val="600"/>
              </a:spcBef>
              <a:spcAft>
                <a:spcPts val="1200"/>
              </a:spcAft>
            </a:pPr>
            <a:r>
              <a:rPr lang="en-AU" sz="2000" dirty="0" smtClean="0"/>
              <a:t>Man-made</a:t>
            </a:r>
            <a:endParaRPr lang="en-US" sz="2000" dirty="0" smtClean="0"/>
          </a:p>
          <a:p>
            <a:pPr>
              <a:spcBef>
                <a:spcPts val="600"/>
              </a:spcBef>
              <a:spcAft>
                <a:spcPts val="1200"/>
              </a:spcAft>
              <a:buNone/>
            </a:pPr>
            <a:endParaRPr lang="en-US" sz="2000" dirty="0" smtClean="0"/>
          </a:p>
          <a:p>
            <a:pPr lvl="0">
              <a:spcBef>
                <a:spcPts val="600"/>
              </a:spcBef>
              <a:spcAft>
                <a:spcPts val="1200"/>
              </a:spcAft>
              <a:buNone/>
            </a:pPr>
            <a:endParaRPr lang="en-US"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61</a:t>
            </a:fld>
            <a:endParaRPr lang="en-US" dirty="0"/>
          </a:p>
        </p:txBody>
      </p:sp>
      <p:pic>
        <p:nvPicPr>
          <p:cNvPr id="6" name="Picture 5" descr="shutterstock_130548068.jpg"/>
          <p:cNvPicPr/>
          <p:nvPr/>
        </p:nvPicPr>
        <p:blipFill>
          <a:blip r:embed="rId3" cstate="print"/>
          <a:stretch>
            <a:fillRect/>
          </a:stretch>
        </p:blipFill>
        <p:spPr>
          <a:xfrm>
            <a:off x="4355976" y="2636912"/>
            <a:ext cx="2520280" cy="172819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US" sz="2200" b="1" dirty="0" smtClean="0">
                <a:latin typeface="Helvetica" pitchFamily="34" charset="0"/>
              </a:rPr>
              <a:t>Activities</a:t>
            </a:r>
          </a:p>
          <a:p>
            <a:pPr>
              <a:spcBef>
                <a:spcPts val="600"/>
              </a:spcBef>
              <a:spcAft>
                <a:spcPts val="1200"/>
              </a:spcAft>
            </a:pPr>
            <a:r>
              <a:rPr lang="en-US" sz="2200" dirty="0" smtClean="0">
                <a:latin typeface="Helvetica" pitchFamily="34" charset="0"/>
              </a:rPr>
              <a:t>What are examples of tourism related activities?</a:t>
            </a:r>
          </a:p>
          <a:p>
            <a:pPr>
              <a:spcBef>
                <a:spcPts val="600"/>
              </a:spcBef>
              <a:spcAft>
                <a:spcPts val="1200"/>
              </a:spcAft>
              <a:buNone/>
            </a:pP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pPr>
              <a:buNone/>
            </a:pPr>
            <a:endParaRPr lang="en-AU"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62</a:t>
            </a:fld>
            <a:endParaRPr lang="en-US" dirty="0"/>
          </a:p>
        </p:txBody>
      </p:sp>
      <p:pic>
        <p:nvPicPr>
          <p:cNvPr id="7" name="Picture 6" descr="Happy Smile_142334158.jpg"/>
          <p:cNvPicPr/>
          <p:nvPr/>
        </p:nvPicPr>
        <p:blipFill>
          <a:blip r:embed="rId3" cstate="print"/>
          <a:stretch>
            <a:fillRect/>
          </a:stretch>
        </p:blipFill>
        <p:spPr>
          <a:xfrm>
            <a:off x="2483768" y="2924944"/>
            <a:ext cx="2808312" cy="2160240"/>
          </a:xfrm>
          <a:prstGeom prst="ellipse">
            <a:avLst/>
          </a:prstGeom>
          <a:ln>
            <a:noFill/>
          </a:ln>
          <a:effectLst>
            <a:softEdge rad="112500"/>
          </a:effectLst>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t>History</a:t>
            </a:r>
            <a:endParaRPr lang="en-US" sz="2000" b="1" dirty="0" smtClean="0"/>
          </a:p>
          <a:p>
            <a:pPr marL="0">
              <a:spcBef>
                <a:spcPts val="600"/>
              </a:spcBef>
              <a:spcAft>
                <a:spcPts val="1200"/>
              </a:spcAft>
              <a:buNone/>
            </a:pPr>
            <a:r>
              <a:rPr lang="en-AU" sz="2000" dirty="0" smtClean="0"/>
              <a:t>Many people are interested in history, and therefore information on the history of a destination can be important to customers:</a:t>
            </a:r>
          </a:p>
          <a:p>
            <a:pPr>
              <a:spcBef>
                <a:spcPts val="600"/>
              </a:spcBef>
              <a:spcAft>
                <a:spcPts val="1200"/>
              </a:spcAft>
            </a:pPr>
            <a:r>
              <a:rPr lang="en-AU" sz="2000" dirty="0" smtClean="0"/>
              <a:t>What are examples of history that attracts tourism?</a:t>
            </a:r>
            <a:endParaRPr lang="en-US" sz="2000" dirty="0" smtClean="0"/>
          </a:p>
          <a:p>
            <a:pPr lvl="0">
              <a:spcBef>
                <a:spcPts val="600"/>
              </a:spcBef>
              <a:spcAft>
                <a:spcPts val="1200"/>
              </a:spcAft>
              <a:buNone/>
            </a:pPr>
            <a:endParaRPr lang="en-US"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63</a:t>
            </a:fld>
            <a:endParaRPr lang="en-US" dirty="0"/>
          </a:p>
        </p:txBody>
      </p:sp>
      <p:pic>
        <p:nvPicPr>
          <p:cNvPr id="8" name="Picture 7" descr="W125_holiday_icon_egypt_shutterstock_153699923.jpg"/>
          <p:cNvPicPr>
            <a:picLocks noChangeAspect="1"/>
          </p:cNvPicPr>
          <p:nvPr/>
        </p:nvPicPr>
        <p:blipFill>
          <a:blip r:embed="rId3" cstate="print"/>
          <a:stretch>
            <a:fillRect/>
          </a:stretch>
        </p:blipFill>
        <p:spPr>
          <a:xfrm>
            <a:off x="2771800" y="3717032"/>
            <a:ext cx="2698950" cy="18002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1800" b="1" dirty="0" smtClean="0"/>
              <a:t>Geographical features</a:t>
            </a:r>
            <a:endParaRPr lang="en-US" sz="1800" b="1" dirty="0" smtClean="0"/>
          </a:p>
          <a:p>
            <a:pPr lvl="0">
              <a:spcBef>
                <a:spcPts val="600"/>
              </a:spcBef>
              <a:spcAft>
                <a:spcPts val="1200"/>
              </a:spcAft>
            </a:pPr>
            <a:r>
              <a:rPr lang="en-US" sz="1800" dirty="0" smtClean="0"/>
              <a:t>Mountain ranges</a:t>
            </a:r>
          </a:p>
          <a:p>
            <a:pPr lvl="0">
              <a:spcBef>
                <a:spcPts val="600"/>
              </a:spcBef>
              <a:spcAft>
                <a:spcPts val="1200"/>
              </a:spcAft>
            </a:pPr>
            <a:r>
              <a:rPr lang="en-US" sz="1800" dirty="0" smtClean="0"/>
              <a:t>Lakes</a:t>
            </a:r>
          </a:p>
          <a:p>
            <a:pPr lvl="0">
              <a:spcBef>
                <a:spcPts val="600"/>
              </a:spcBef>
              <a:spcAft>
                <a:spcPts val="1200"/>
              </a:spcAft>
            </a:pPr>
            <a:r>
              <a:rPr lang="en-US" sz="1800" dirty="0" smtClean="0"/>
              <a:t>Rivers</a:t>
            </a:r>
          </a:p>
          <a:p>
            <a:pPr lvl="0">
              <a:spcBef>
                <a:spcPts val="600"/>
              </a:spcBef>
              <a:spcAft>
                <a:spcPts val="1200"/>
              </a:spcAft>
            </a:pPr>
            <a:r>
              <a:rPr lang="en-US" sz="1800" dirty="0" smtClean="0"/>
              <a:t>Caves</a:t>
            </a:r>
          </a:p>
          <a:p>
            <a:pPr lvl="0">
              <a:spcBef>
                <a:spcPts val="600"/>
              </a:spcBef>
              <a:spcAft>
                <a:spcPts val="1200"/>
              </a:spcAft>
            </a:pPr>
            <a:r>
              <a:rPr lang="en-US" sz="1800" dirty="0" smtClean="0"/>
              <a:t>Waterfalls</a:t>
            </a:r>
          </a:p>
          <a:p>
            <a:pPr lvl="0">
              <a:spcBef>
                <a:spcPts val="600"/>
              </a:spcBef>
              <a:spcAft>
                <a:spcPts val="1200"/>
              </a:spcAft>
            </a:pPr>
            <a:r>
              <a:rPr lang="en-US" sz="1800" dirty="0" smtClean="0"/>
              <a:t>Rock formations</a:t>
            </a:r>
          </a:p>
          <a:p>
            <a:pPr lvl="0">
              <a:spcBef>
                <a:spcPts val="600"/>
              </a:spcBef>
              <a:spcAft>
                <a:spcPts val="1200"/>
              </a:spcAft>
            </a:pPr>
            <a:r>
              <a:rPr lang="en-US" sz="1800" dirty="0" smtClean="0"/>
              <a:t>Beaches	</a:t>
            </a:r>
          </a:p>
          <a:p>
            <a:pPr lvl="0">
              <a:spcBef>
                <a:spcPts val="600"/>
              </a:spcBef>
              <a:spcAft>
                <a:spcPts val="1200"/>
              </a:spcAft>
            </a:pPr>
            <a:r>
              <a:rPr lang="en-US" sz="1800" dirty="0" smtClean="0"/>
              <a:t>National parks</a:t>
            </a:r>
          </a:p>
          <a:p>
            <a:pPr>
              <a:spcBef>
                <a:spcPts val="600"/>
              </a:spcBef>
              <a:spcAft>
                <a:spcPts val="1200"/>
              </a:spcAft>
              <a:buNone/>
            </a:pPr>
            <a:endParaRPr lang="en-US" sz="1800" dirty="0" smtClean="0"/>
          </a:p>
          <a:p>
            <a:pPr lvl="0">
              <a:spcBef>
                <a:spcPts val="600"/>
              </a:spcBef>
              <a:spcAft>
                <a:spcPts val="1200"/>
              </a:spcAft>
              <a:buNone/>
            </a:pPr>
            <a:endParaRPr lang="en-US" sz="1800" dirty="0" smtClean="0"/>
          </a:p>
          <a:p>
            <a:pPr>
              <a:buNone/>
            </a:pPr>
            <a:endParaRPr lang="en-AU" sz="18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64</a:t>
            </a:fld>
            <a:endParaRPr lang="en-US" dirty="0"/>
          </a:p>
        </p:txBody>
      </p:sp>
      <p:pic>
        <p:nvPicPr>
          <p:cNvPr id="7" name="Picture 6" descr="shutterstock_176408066.jpg"/>
          <p:cNvPicPr/>
          <p:nvPr/>
        </p:nvPicPr>
        <p:blipFill>
          <a:blip r:embed="rId3" cstate="print"/>
          <a:stretch>
            <a:fillRect/>
          </a:stretch>
        </p:blipFill>
        <p:spPr>
          <a:xfrm>
            <a:off x="3995936" y="2708920"/>
            <a:ext cx="2376264" cy="1732079"/>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t>Local customs and culture</a:t>
            </a:r>
            <a:endParaRPr lang="en-US" sz="2000" b="1" dirty="0" smtClean="0"/>
          </a:p>
          <a:p>
            <a:pPr marL="0">
              <a:spcBef>
                <a:spcPts val="600"/>
              </a:spcBef>
              <a:spcAft>
                <a:spcPts val="1200"/>
              </a:spcAft>
              <a:buNone/>
            </a:pPr>
            <a:r>
              <a:rPr lang="en-AU" sz="2000" dirty="0" smtClean="0"/>
              <a:t>Every destination will have customs that are specific to that place and that particular culture. </a:t>
            </a:r>
            <a:endParaRPr lang="en-US" sz="2000" dirty="0" smtClean="0"/>
          </a:p>
          <a:p>
            <a:pPr>
              <a:spcBef>
                <a:spcPts val="600"/>
              </a:spcBef>
              <a:spcAft>
                <a:spcPts val="1200"/>
              </a:spcAft>
              <a:buNone/>
            </a:pPr>
            <a:r>
              <a:rPr lang="en-AU" sz="2000" dirty="0" smtClean="0"/>
              <a:t>What are examples of:</a:t>
            </a:r>
          </a:p>
          <a:p>
            <a:pPr>
              <a:spcBef>
                <a:spcPts val="600"/>
              </a:spcBef>
              <a:spcAft>
                <a:spcPts val="1200"/>
              </a:spcAft>
            </a:pPr>
            <a:r>
              <a:rPr lang="en-AU" sz="2000" dirty="0" smtClean="0"/>
              <a:t>Local customs</a:t>
            </a:r>
          </a:p>
          <a:p>
            <a:pPr>
              <a:spcBef>
                <a:spcPts val="600"/>
              </a:spcBef>
              <a:spcAft>
                <a:spcPts val="1200"/>
              </a:spcAft>
            </a:pPr>
            <a:r>
              <a:rPr lang="en-AU" sz="2000" dirty="0" smtClean="0"/>
              <a:t>Local culture</a:t>
            </a:r>
            <a:endParaRPr lang="en-US" sz="2000" dirty="0" smtClean="0"/>
          </a:p>
          <a:p>
            <a:pPr lvl="0">
              <a:spcBef>
                <a:spcPts val="600"/>
              </a:spcBef>
              <a:spcAft>
                <a:spcPts val="1200"/>
              </a:spcAft>
              <a:buNone/>
            </a:pPr>
            <a:endParaRPr lang="en-US"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65</a:t>
            </a:fld>
            <a:endParaRPr lang="en-US" dirty="0"/>
          </a:p>
        </p:txBody>
      </p:sp>
      <p:pic>
        <p:nvPicPr>
          <p:cNvPr id="6" name="Picture 5" descr="shutterstock_110078846.jpg"/>
          <p:cNvPicPr/>
          <p:nvPr/>
        </p:nvPicPr>
        <p:blipFill>
          <a:blip r:embed="rId3" cstate="print"/>
          <a:stretch>
            <a:fillRect/>
          </a:stretch>
        </p:blipFill>
        <p:spPr>
          <a:xfrm>
            <a:off x="6660232" y="3356992"/>
            <a:ext cx="1800200" cy="2160240"/>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t>Climate</a:t>
            </a:r>
            <a:endParaRPr lang="en-US" sz="2000" b="1" dirty="0" smtClean="0"/>
          </a:p>
          <a:p>
            <a:pPr marL="0">
              <a:spcBef>
                <a:spcPts val="600"/>
              </a:spcBef>
              <a:spcAft>
                <a:spcPts val="1200"/>
              </a:spcAft>
              <a:buNone/>
            </a:pPr>
            <a:r>
              <a:rPr lang="en-AU" sz="2000" dirty="0" smtClean="0"/>
              <a:t>It is important that you understand the weather conditions and patterns of the destination:</a:t>
            </a:r>
          </a:p>
          <a:p>
            <a:pPr>
              <a:spcBef>
                <a:spcPts val="600"/>
              </a:spcBef>
              <a:spcAft>
                <a:spcPts val="1200"/>
              </a:spcAft>
            </a:pPr>
            <a:r>
              <a:rPr lang="en-AU" sz="2000" dirty="0" smtClean="0"/>
              <a:t>Why is this important?</a:t>
            </a:r>
          </a:p>
          <a:p>
            <a:pPr>
              <a:spcBef>
                <a:spcPts val="600"/>
              </a:spcBef>
              <a:spcAft>
                <a:spcPts val="1200"/>
              </a:spcAft>
            </a:pPr>
            <a:r>
              <a:rPr lang="en-AU" sz="2000" dirty="0" smtClean="0"/>
              <a:t>How can you identify climatic conditions?</a:t>
            </a:r>
            <a:endParaRPr lang="en-US" sz="2000" dirty="0" smtClean="0"/>
          </a:p>
          <a:p>
            <a:pPr lvl="0">
              <a:spcBef>
                <a:spcPts val="600"/>
              </a:spcBef>
              <a:spcAft>
                <a:spcPts val="1200"/>
              </a:spcAft>
              <a:buNone/>
            </a:pPr>
            <a:endParaRPr lang="en-US"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66</a:t>
            </a:fld>
            <a:endParaRPr lang="en-US" dirty="0"/>
          </a:p>
        </p:txBody>
      </p:sp>
      <p:pic>
        <p:nvPicPr>
          <p:cNvPr id="7" name="Picture 6" descr="shutterstock_124217227.jpg"/>
          <p:cNvPicPr>
            <a:picLocks noChangeAspect="1"/>
          </p:cNvPicPr>
          <p:nvPr/>
        </p:nvPicPr>
        <p:blipFill>
          <a:blip r:embed="rId3" cstate="print"/>
          <a:stretch>
            <a:fillRect/>
          </a:stretch>
        </p:blipFill>
        <p:spPr>
          <a:xfrm>
            <a:off x="6012160" y="4005064"/>
            <a:ext cx="2375076" cy="1584176"/>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600"/>
              </a:spcAft>
              <a:buNone/>
            </a:pPr>
            <a:r>
              <a:rPr lang="en-AU" sz="2000" b="1" dirty="0" smtClean="0"/>
              <a:t>Accommodation </a:t>
            </a:r>
            <a:endParaRPr lang="en-US" sz="2000" dirty="0" smtClean="0"/>
          </a:p>
          <a:p>
            <a:pPr lvl="0">
              <a:spcBef>
                <a:spcPts val="600"/>
              </a:spcBef>
              <a:spcAft>
                <a:spcPts val="600"/>
              </a:spcAft>
            </a:pPr>
            <a:r>
              <a:rPr lang="en-AU" sz="2000" dirty="0" smtClean="0"/>
              <a:t>Room types</a:t>
            </a:r>
            <a:endParaRPr lang="en-US" sz="2000" dirty="0" smtClean="0"/>
          </a:p>
          <a:p>
            <a:pPr lvl="0">
              <a:spcBef>
                <a:spcPts val="600"/>
              </a:spcBef>
              <a:spcAft>
                <a:spcPts val="600"/>
              </a:spcAft>
            </a:pPr>
            <a:r>
              <a:rPr lang="en-AU" sz="2000" dirty="0" smtClean="0"/>
              <a:t>Tariffs</a:t>
            </a:r>
            <a:endParaRPr lang="en-US" sz="2000" dirty="0" smtClean="0"/>
          </a:p>
          <a:p>
            <a:pPr lvl="0">
              <a:spcBef>
                <a:spcPts val="600"/>
              </a:spcBef>
              <a:spcAft>
                <a:spcPts val="600"/>
              </a:spcAft>
            </a:pPr>
            <a:r>
              <a:rPr lang="en-AU" sz="2000" dirty="0" smtClean="0"/>
              <a:t>Products and services </a:t>
            </a:r>
            <a:endParaRPr lang="en-US" sz="2000" dirty="0" smtClean="0"/>
          </a:p>
          <a:p>
            <a:pPr lvl="0">
              <a:spcBef>
                <a:spcPts val="600"/>
              </a:spcBef>
              <a:spcAft>
                <a:spcPts val="600"/>
              </a:spcAft>
            </a:pPr>
            <a:r>
              <a:rPr lang="en-AU" sz="2000" dirty="0" smtClean="0"/>
              <a:t>Room facilities</a:t>
            </a:r>
            <a:endParaRPr lang="en-US" sz="2000" dirty="0" smtClean="0"/>
          </a:p>
          <a:p>
            <a:pPr lvl="0">
              <a:spcBef>
                <a:spcPts val="600"/>
              </a:spcBef>
              <a:spcAft>
                <a:spcPts val="600"/>
              </a:spcAft>
            </a:pPr>
            <a:r>
              <a:rPr lang="en-AU" sz="2000" dirty="0" smtClean="0"/>
              <a:t>Location and distance to attractions</a:t>
            </a:r>
            <a:endParaRPr lang="en-US" sz="2000" dirty="0" smtClean="0"/>
          </a:p>
          <a:p>
            <a:pPr lvl="0">
              <a:spcBef>
                <a:spcPts val="600"/>
              </a:spcBef>
              <a:spcAft>
                <a:spcPts val="600"/>
              </a:spcAft>
            </a:pPr>
            <a:r>
              <a:rPr lang="en-AU" sz="2000" dirty="0" smtClean="0"/>
              <a:t>Packages</a:t>
            </a:r>
            <a:endParaRPr lang="en-US" sz="2000" dirty="0" smtClean="0"/>
          </a:p>
          <a:p>
            <a:pPr lvl="0">
              <a:spcBef>
                <a:spcPts val="600"/>
              </a:spcBef>
              <a:spcAft>
                <a:spcPts val="600"/>
              </a:spcAft>
            </a:pPr>
            <a:r>
              <a:rPr lang="en-AU" sz="2000" dirty="0" smtClean="0"/>
              <a:t>Blocked dates</a:t>
            </a:r>
            <a:endParaRPr lang="en-US" sz="2000" dirty="0" smtClean="0"/>
          </a:p>
          <a:p>
            <a:pPr lvl="0">
              <a:spcBef>
                <a:spcPts val="600"/>
              </a:spcBef>
              <a:spcAft>
                <a:spcPts val="600"/>
              </a:spcAft>
            </a:pPr>
            <a:r>
              <a:rPr lang="en-AU" sz="2000" dirty="0" smtClean="0"/>
              <a:t>Seasons and times</a:t>
            </a:r>
            <a:endParaRPr lang="en-US" sz="2000" dirty="0" smtClean="0"/>
          </a:p>
          <a:p>
            <a:pPr lvl="0">
              <a:spcBef>
                <a:spcPts val="600"/>
              </a:spcBef>
              <a:spcAft>
                <a:spcPts val="600"/>
              </a:spcAft>
            </a:pPr>
            <a:r>
              <a:rPr lang="en-AU" sz="2000" dirty="0" smtClean="0"/>
              <a:t>Minimum purchase</a:t>
            </a:r>
            <a:endParaRPr lang="en-US" sz="2000" dirty="0" smtClean="0"/>
          </a:p>
          <a:p>
            <a:pPr>
              <a:spcBef>
                <a:spcPts val="600"/>
              </a:spcBef>
              <a:spcAft>
                <a:spcPts val="1200"/>
              </a:spcAft>
              <a:buNone/>
            </a:pPr>
            <a:endParaRPr lang="en-US" sz="2000" dirty="0" smtClean="0"/>
          </a:p>
          <a:p>
            <a:pPr lvl="0">
              <a:spcBef>
                <a:spcPts val="600"/>
              </a:spcBef>
              <a:spcAft>
                <a:spcPts val="1200"/>
              </a:spcAft>
              <a:buNone/>
            </a:pPr>
            <a:endParaRPr lang="en-US"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67</a:t>
            </a:fld>
            <a:endParaRPr lang="en-US" dirty="0"/>
          </a:p>
        </p:txBody>
      </p:sp>
      <p:pic>
        <p:nvPicPr>
          <p:cNvPr id="6" name="Picture 5" descr="shutterstock_114459544.jpg"/>
          <p:cNvPicPr/>
          <p:nvPr/>
        </p:nvPicPr>
        <p:blipFill>
          <a:blip r:embed="rId3" cstate="print"/>
          <a:stretch>
            <a:fillRect/>
          </a:stretch>
        </p:blipFill>
        <p:spPr>
          <a:xfrm>
            <a:off x="6012160" y="4005064"/>
            <a:ext cx="2414389" cy="1588765"/>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600"/>
              </a:spcAft>
              <a:buNone/>
            </a:pPr>
            <a:r>
              <a:rPr lang="en-AU" sz="2000" b="1" dirty="0" smtClean="0"/>
              <a:t>Accommodation </a:t>
            </a:r>
            <a:endParaRPr lang="en-US" sz="2000" dirty="0" smtClean="0"/>
          </a:p>
          <a:p>
            <a:pPr lvl="0">
              <a:spcBef>
                <a:spcPts val="600"/>
              </a:spcBef>
              <a:spcAft>
                <a:spcPts val="600"/>
              </a:spcAft>
            </a:pPr>
            <a:r>
              <a:rPr lang="en-AU" sz="2000" dirty="0" smtClean="0"/>
              <a:t>Booking and stay requirements</a:t>
            </a:r>
            <a:endParaRPr lang="en-US" sz="2000" dirty="0" smtClean="0"/>
          </a:p>
          <a:p>
            <a:pPr lvl="0">
              <a:spcBef>
                <a:spcPts val="600"/>
              </a:spcBef>
              <a:spcAft>
                <a:spcPts val="600"/>
              </a:spcAft>
            </a:pPr>
            <a:r>
              <a:rPr lang="en-AU" sz="2000" dirty="0" smtClean="0"/>
              <a:t>Property name and address</a:t>
            </a:r>
            <a:endParaRPr lang="en-US" sz="2000" dirty="0" smtClean="0"/>
          </a:p>
          <a:p>
            <a:pPr lvl="0">
              <a:spcBef>
                <a:spcPts val="600"/>
              </a:spcBef>
              <a:spcAft>
                <a:spcPts val="600"/>
              </a:spcAft>
            </a:pPr>
            <a:r>
              <a:rPr lang="en-AU" sz="2000" dirty="0" smtClean="0"/>
              <a:t>Room type and category</a:t>
            </a:r>
            <a:endParaRPr lang="en-US" sz="2000" dirty="0" smtClean="0"/>
          </a:p>
          <a:p>
            <a:pPr lvl="0">
              <a:spcBef>
                <a:spcPts val="600"/>
              </a:spcBef>
              <a:spcAft>
                <a:spcPts val="600"/>
              </a:spcAft>
            </a:pPr>
            <a:r>
              <a:rPr lang="en-AU" sz="2000" dirty="0" smtClean="0"/>
              <a:t>Number of nights</a:t>
            </a:r>
            <a:endParaRPr lang="en-US" sz="2000" dirty="0" smtClean="0"/>
          </a:p>
          <a:p>
            <a:pPr lvl="0">
              <a:spcBef>
                <a:spcPts val="600"/>
              </a:spcBef>
              <a:spcAft>
                <a:spcPts val="600"/>
              </a:spcAft>
            </a:pPr>
            <a:r>
              <a:rPr lang="en-AU" sz="2000" dirty="0" smtClean="0"/>
              <a:t>Check-in and check-out dates</a:t>
            </a:r>
            <a:endParaRPr lang="en-US" sz="2000" dirty="0" smtClean="0"/>
          </a:p>
          <a:p>
            <a:pPr lvl="0">
              <a:spcBef>
                <a:spcPts val="600"/>
              </a:spcBef>
              <a:spcAft>
                <a:spcPts val="600"/>
              </a:spcAft>
            </a:pPr>
            <a:r>
              <a:rPr lang="en-AU" sz="2000" dirty="0" smtClean="0"/>
              <a:t>Check-in and check-out times</a:t>
            </a:r>
            <a:endParaRPr lang="en-US" sz="2000" dirty="0" smtClean="0"/>
          </a:p>
          <a:p>
            <a:pPr>
              <a:spcBef>
                <a:spcPts val="600"/>
              </a:spcBef>
              <a:spcAft>
                <a:spcPts val="1200"/>
              </a:spcAft>
              <a:buNone/>
            </a:pPr>
            <a:endParaRPr lang="en-US" sz="2000" dirty="0" smtClean="0"/>
          </a:p>
          <a:p>
            <a:pPr lvl="0">
              <a:spcBef>
                <a:spcPts val="600"/>
              </a:spcBef>
              <a:spcAft>
                <a:spcPts val="1200"/>
              </a:spcAft>
              <a:buNone/>
            </a:pPr>
            <a:endParaRPr lang="en-US"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68</a:t>
            </a:fld>
            <a:endParaRPr lang="en-US" dirty="0"/>
          </a:p>
        </p:txBody>
      </p:sp>
      <p:pic>
        <p:nvPicPr>
          <p:cNvPr id="7" name="Picture 6" descr="shutterstock_35558536.jpg"/>
          <p:cNvPicPr>
            <a:picLocks noChangeAspect="1"/>
          </p:cNvPicPr>
          <p:nvPr/>
        </p:nvPicPr>
        <p:blipFill>
          <a:blip r:embed="rId3" cstate="print"/>
          <a:stretch>
            <a:fillRect/>
          </a:stretch>
        </p:blipFill>
        <p:spPr>
          <a:xfrm>
            <a:off x="6156176" y="3923710"/>
            <a:ext cx="2283120" cy="1515992"/>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600"/>
              </a:spcAft>
              <a:buNone/>
            </a:pPr>
            <a:r>
              <a:rPr lang="en-AU" sz="2000" b="1" dirty="0" smtClean="0"/>
              <a:t>Accommodation </a:t>
            </a:r>
            <a:endParaRPr lang="en-US" sz="2000" dirty="0" smtClean="0"/>
          </a:p>
          <a:p>
            <a:pPr lvl="0">
              <a:spcBef>
                <a:spcPts val="600"/>
              </a:spcBef>
              <a:spcAft>
                <a:spcPts val="600"/>
              </a:spcAft>
            </a:pPr>
            <a:r>
              <a:rPr lang="en-AU" sz="2000" dirty="0" smtClean="0"/>
              <a:t>Day use or late check-out if applicable</a:t>
            </a:r>
            <a:endParaRPr lang="en-US" sz="2000" dirty="0" smtClean="0"/>
          </a:p>
          <a:p>
            <a:pPr lvl="0">
              <a:spcBef>
                <a:spcPts val="600"/>
              </a:spcBef>
              <a:spcAft>
                <a:spcPts val="600"/>
              </a:spcAft>
            </a:pPr>
            <a:r>
              <a:rPr lang="en-AU" sz="2000" dirty="0" smtClean="0"/>
              <a:t>Inclusions</a:t>
            </a:r>
            <a:endParaRPr lang="en-US" sz="2000" dirty="0" smtClean="0"/>
          </a:p>
          <a:p>
            <a:pPr lvl="0">
              <a:spcBef>
                <a:spcPts val="600"/>
              </a:spcBef>
              <a:spcAft>
                <a:spcPts val="600"/>
              </a:spcAft>
            </a:pPr>
            <a:r>
              <a:rPr lang="en-AU" sz="2000" dirty="0" smtClean="0"/>
              <a:t>Extra charges payable direct</a:t>
            </a:r>
            <a:endParaRPr lang="en-US" sz="2000" dirty="0" smtClean="0"/>
          </a:p>
          <a:p>
            <a:pPr lvl="0">
              <a:spcBef>
                <a:spcPts val="600"/>
              </a:spcBef>
              <a:spcAft>
                <a:spcPts val="600"/>
              </a:spcAft>
            </a:pPr>
            <a:r>
              <a:rPr lang="en-AU" sz="2000" dirty="0" smtClean="0"/>
              <a:t>Special requests</a:t>
            </a:r>
            <a:endParaRPr lang="en-US" sz="2000" dirty="0" smtClean="0"/>
          </a:p>
          <a:p>
            <a:pPr lvl="0">
              <a:spcBef>
                <a:spcPts val="600"/>
              </a:spcBef>
              <a:spcAft>
                <a:spcPts val="600"/>
              </a:spcAft>
            </a:pPr>
            <a:r>
              <a:rPr lang="en-AU" sz="2000" dirty="0" smtClean="0"/>
              <a:t>Special promotions</a:t>
            </a:r>
            <a:endParaRPr lang="en-US" sz="2000" dirty="0" smtClean="0"/>
          </a:p>
          <a:p>
            <a:pPr>
              <a:spcBef>
                <a:spcPts val="600"/>
              </a:spcBef>
              <a:spcAft>
                <a:spcPts val="1200"/>
              </a:spcAft>
              <a:buNone/>
            </a:pPr>
            <a:endParaRPr lang="en-US" sz="2000" dirty="0" smtClean="0"/>
          </a:p>
          <a:p>
            <a:pPr lvl="0">
              <a:spcBef>
                <a:spcPts val="600"/>
              </a:spcBef>
              <a:spcAft>
                <a:spcPts val="1200"/>
              </a:spcAft>
              <a:buNone/>
            </a:pPr>
            <a:endParaRPr lang="en-US"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69</a:t>
            </a:fld>
            <a:endParaRPr lang="en-US" dirty="0"/>
          </a:p>
        </p:txBody>
      </p:sp>
      <p:pic>
        <p:nvPicPr>
          <p:cNvPr id="7" name="Picture 6" descr="shutterstock_110073662.jpg"/>
          <p:cNvPicPr>
            <a:picLocks noChangeAspect="1"/>
          </p:cNvPicPr>
          <p:nvPr/>
        </p:nvPicPr>
        <p:blipFill>
          <a:blip r:embed="rId3" cstate="print"/>
          <a:stretch>
            <a:fillRect/>
          </a:stretch>
        </p:blipFill>
        <p:spPr>
          <a:xfrm>
            <a:off x="6012160" y="3933056"/>
            <a:ext cx="2375077" cy="1584176"/>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t>Amenities and services</a:t>
            </a:r>
            <a:endParaRPr lang="en-US" sz="2000" b="1" dirty="0" smtClean="0"/>
          </a:p>
          <a:p>
            <a:pPr marL="0">
              <a:spcBef>
                <a:spcPts val="600"/>
              </a:spcBef>
              <a:spcAft>
                <a:spcPts val="1200"/>
              </a:spcAft>
              <a:buNone/>
            </a:pPr>
            <a:r>
              <a:rPr lang="en-AU" sz="2000" dirty="0" smtClean="0"/>
              <a:t>Amenities and services refer to the provision of basic services for travellers including: </a:t>
            </a:r>
            <a:endParaRPr lang="en-US" sz="2000" dirty="0" smtClean="0"/>
          </a:p>
          <a:p>
            <a:pPr lvl="0">
              <a:spcBef>
                <a:spcPts val="600"/>
              </a:spcBef>
              <a:spcAft>
                <a:spcPts val="1200"/>
              </a:spcAft>
            </a:pPr>
            <a:r>
              <a:rPr lang="en-AU" sz="2000" dirty="0" smtClean="0"/>
              <a:t>Toilet blocks</a:t>
            </a:r>
            <a:endParaRPr lang="en-US" sz="2000" dirty="0" smtClean="0"/>
          </a:p>
          <a:p>
            <a:pPr lvl="0">
              <a:spcBef>
                <a:spcPts val="600"/>
              </a:spcBef>
              <a:spcAft>
                <a:spcPts val="1200"/>
              </a:spcAft>
            </a:pPr>
            <a:r>
              <a:rPr lang="en-AU" sz="2000" dirty="0" smtClean="0"/>
              <a:t>Water</a:t>
            </a:r>
            <a:endParaRPr lang="en-US" sz="2000" dirty="0" smtClean="0"/>
          </a:p>
          <a:p>
            <a:pPr lvl="0">
              <a:spcBef>
                <a:spcPts val="600"/>
              </a:spcBef>
              <a:spcAft>
                <a:spcPts val="1200"/>
              </a:spcAft>
            </a:pPr>
            <a:r>
              <a:rPr lang="en-AU" sz="2000" dirty="0" smtClean="0"/>
              <a:t>Electricity</a:t>
            </a:r>
            <a:endParaRPr lang="en-US" sz="2000" dirty="0" smtClean="0"/>
          </a:p>
          <a:p>
            <a:pPr lvl="0">
              <a:spcBef>
                <a:spcPts val="600"/>
              </a:spcBef>
              <a:spcAft>
                <a:spcPts val="1200"/>
              </a:spcAft>
            </a:pPr>
            <a:r>
              <a:rPr lang="en-AU" sz="2000" dirty="0" smtClean="0"/>
              <a:t>Food and beverage including restaurants,                              cafes, bistros </a:t>
            </a:r>
            <a:endParaRPr lang="en-US" sz="2000" dirty="0" smtClean="0"/>
          </a:p>
          <a:p>
            <a:pPr>
              <a:spcBef>
                <a:spcPts val="600"/>
              </a:spcBef>
              <a:spcAft>
                <a:spcPts val="1200"/>
              </a:spcAft>
            </a:pPr>
            <a:r>
              <a:rPr lang="en-AU" sz="2000" dirty="0" smtClean="0"/>
              <a:t>Medical services</a:t>
            </a:r>
            <a:endParaRPr lang="en-US" sz="2000" dirty="0" smtClean="0"/>
          </a:p>
          <a:p>
            <a:pPr lvl="0">
              <a:spcBef>
                <a:spcPts val="600"/>
              </a:spcBef>
              <a:spcAft>
                <a:spcPts val="1200"/>
              </a:spcAft>
              <a:buNone/>
            </a:pPr>
            <a:endParaRPr lang="en-US"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70</a:t>
            </a:fld>
            <a:endParaRPr lang="en-US" dirty="0"/>
          </a:p>
        </p:txBody>
      </p:sp>
      <p:pic>
        <p:nvPicPr>
          <p:cNvPr id="6" name="Picture 5" descr="shutterstock_61204990.jpg"/>
          <p:cNvPicPr/>
          <p:nvPr/>
        </p:nvPicPr>
        <p:blipFill>
          <a:blip r:embed="rId3" cstate="print"/>
          <a:stretch>
            <a:fillRect/>
          </a:stretch>
        </p:blipFill>
        <p:spPr>
          <a:xfrm>
            <a:off x="6372200" y="4077072"/>
            <a:ext cx="2016224" cy="1440160"/>
          </a:xfrm>
          <a:prstGeom prst="rect">
            <a:avLst/>
          </a:prstGeom>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t>Amenities and services</a:t>
            </a:r>
            <a:endParaRPr lang="en-US" sz="2000" b="1" dirty="0" smtClean="0"/>
          </a:p>
          <a:p>
            <a:pPr lvl="0">
              <a:spcBef>
                <a:spcPts val="600"/>
              </a:spcBef>
              <a:spcAft>
                <a:spcPts val="1200"/>
              </a:spcAft>
            </a:pPr>
            <a:r>
              <a:rPr lang="en-AU" sz="2000" dirty="0" smtClean="0"/>
              <a:t>Banks and post offices</a:t>
            </a:r>
            <a:endParaRPr lang="en-US" sz="2000" dirty="0" smtClean="0"/>
          </a:p>
          <a:p>
            <a:pPr lvl="0">
              <a:spcBef>
                <a:spcPts val="600"/>
              </a:spcBef>
              <a:spcAft>
                <a:spcPts val="1200"/>
              </a:spcAft>
            </a:pPr>
            <a:r>
              <a:rPr lang="en-AU" sz="2000" dirty="0" smtClean="0"/>
              <a:t>General safety facilities including fire, </a:t>
            </a:r>
            <a:br>
              <a:rPr lang="en-AU" sz="2000" dirty="0" smtClean="0"/>
            </a:br>
            <a:r>
              <a:rPr lang="en-AU" sz="2000" dirty="0" smtClean="0"/>
              <a:t>police emergency services</a:t>
            </a:r>
            <a:endParaRPr lang="en-US" sz="2000" dirty="0" smtClean="0"/>
          </a:p>
          <a:p>
            <a:pPr lvl="0">
              <a:spcBef>
                <a:spcPts val="600"/>
              </a:spcBef>
              <a:spcAft>
                <a:spcPts val="1200"/>
              </a:spcAft>
            </a:pPr>
            <a:r>
              <a:rPr lang="en-AU" sz="2000" dirty="0" smtClean="0"/>
              <a:t>Entertainment</a:t>
            </a:r>
            <a:endParaRPr lang="en-US" sz="2000" dirty="0" smtClean="0"/>
          </a:p>
          <a:p>
            <a:pPr lvl="0">
              <a:spcBef>
                <a:spcPts val="600"/>
              </a:spcBef>
              <a:spcAft>
                <a:spcPts val="1200"/>
              </a:spcAft>
            </a:pPr>
            <a:r>
              <a:rPr lang="en-AU" sz="2000" dirty="0" smtClean="0"/>
              <a:t>Sporting</a:t>
            </a:r>
            <a:endParaRPr lang="en-US" sz="2000" dirty="0" smtClean="0"/>
          </a:p>
          <a:p>
            <a:pPr lvl="0">
              <a:spcBef>
                <a:spcPts val="600"/>
              </a:spcBef>
              <a:spcAft>
                <a:spcPts val="1200"/>
              </a:spcAft>
            </a:pPr>
            <a:r>
              <a:rPr lang="en-AU" sz="2000" dirty="0" smtClean="0"/>
              <a:t>Shopping</a:t>
            </a:r>
            <a:endParaRPr lang="en-US" sz="2000" dirty="0" smtClean="0"/>
          </a:p>
          <a:p>
            <a:pPr lvl="0">
              <a:spcBef>
                <a:spcPts val="600"/>
              </a:spcBef>
              <a:spcAft>
                <a:spcPts val="1200"/>
              </a:spcAft>
              <a:buNone/>
            </a:pPr>
            <a:endParaRPr lang="en-US"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71</a:t>
            </a:fld>
            <a:endParaRPr lang="en-US" dirty="0"/>
          </a:p>
        </p:txBody>
      </p:sp>
      <p:pic>
        <p:nvPicPr>
          <p:cNvPr id="7" name="Picture 6" descr="shutterstock_163971791.jpg"/>
          <p:cNvPicPr>
            <a:picLocks noChangeAspect="1"/>
          </p:cNvPicPr>
          <p:nvPr/>
        </p:nvPicPr>
        <p:blipFill>
          <a:blip r:embed="rId3" cstate="print"/>
          <a:stretch>
            <a:fillRect/>
          </a:stretch>
        </p:blipFill>
        <p:spPr>
          <a:xfrm>
            <a:off x="5979569" y="2132856"/>
            <a:ext cx="1976807" cy="2963728"/>
          </a:xfrm>
          <a:prstGeom prst="ellipse">
            <a:avLst/>
          </a:prstGeom>
          <a:ln>
            <a:noFill/>
          </a:ln>
          <a:effectLst>
            <a:softEdge rad="112500"/>
          </a:effectLst>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600"/>
              </a:spcAft>
              <a:buNone/>
            </a:pPr>
            <a:r>
              <a:rPr lang="en-AU" sz="2000" b="1" dirty="0" smtClean="0"/>
              <a:t>Airlines</a:t>
            </a:r>
            <a:endParaRPr lang="en-US" sz="2000" dirty="0" smtClean="0"/>
          </a:p>
          <a:p>
            <a:pPr lvl="0">
              <a:spcBef>
                <a:spcPts val="600"/>
              </a:spcBef>
              <a:spcAft>
                <a:spcPts val="600"/>
              </a:spcAft>
            </a:pPr>
            <a:r>
              <a:rPr lang="en-AU" sz="2000" dirty="0" smtClean="0"/>
              <a:t>Airline or combination of airlines </a:t>
            </a:r>
            <a:endParaRPr lang="en-US" sz="2000" dirty="0" smtClean="0"/>
          </a:p>
          <a:p>
            <a:pPr lvl="0">
              <a:spcBef>
                <a:spcPts val="600"/>
              </a:spcBef>
              <a:spcAft>
                <a:spcPts val="600"/>
              </a:spcAft>
            </a:pPr>
            <a:r>
              <a:rPr lang="en-AU" sz="2000" dirty="0" smtClean="0"/>
              <a:t>Airport codes </a:t>
            </a:r>
            <a:endParaRPr lang="en-US" sz="2000" dirty="0" smtClean="0"/>
          </a:p>
          <a:p>
            <a:pPr lvl="0">
              <a:spcBef>
                <a:spcPts val="600"/>
              </a:spcBef>
              <a:spcAft>
                <a:spcPts val="600"/>
              </a:spcAft>
            </a:pPr>
            <a:r>
              <a:rPr lang="en-AU" sz="2000" dirty="0" smtClean="0"/>
              <a:t>Airline codes</a:t>
            </a:r>
            <a:endParaRPr lang="en-US" sz="2000" dirty="0" smtClean="0"/>
          </a:p>
          <a:p>
            <a:pPr lvl="0">
              <a:spcBef>
                <a:spcPts val="600"/>
              </a:spcBef>
              <a:spcAft>
                <a:spcPts val="600"/>
              </a:spcAft>
            </a:pPr>
            <a:r>
              <a:rPr lang="en-AU" sz="2000" dirty="0" smtClean="0"/>
              <a:t>City codes</a:t>
            </a:r>
            <a:endParaRPr lang="en-US" sz="2000" dirty="0" smtClean="0"/>
          </a:p>
          <a:p>
            <a:pPr lvl="0">
              <a:spcBef>
                <a:spcPts val="600"/>
              </a:spcBef>
              <a:spcAft>
                <a:spcPts val="600"/>
              </a:spcAft>
            </a:pPr>
            <a:r>
              <a:rPr lang="en-AU" sz="2000" dirty="0" smtClean="0"/>
              <a:t>Flight numbers</a:t>
            </a:r>
            <a:endParaRPr lang="en-US" sz="2000" dirty="0" smtClean="0"/>
          </a:p>
          <a:p>
            <a:pPr lvl="0">
              <a:spcBef>
                <a:spcPts val="600"/>
              </a:spcBef>
              <a:spcAft>
                <a:spcPts val="600"/>
              </a:spcAft>
            </a:pPr>
            <a:r>
              <a:rPr lang="en-AU" sz="2000" dirty="0" smtClean="0"/>
              <a:t>Schedules / timetables</a:t>
            </a:r>
            <a:endParaRPr lang="en-US" sz="2000" dirty="0" smtClean="0"/>
          </a:p>
          <a:p>
            <a:pPr lvl="0">
              <a:spcBef>
                <a:spcPts val="600"/>
              </a:spcBef>
              <a:spcAft>
                <a:spcPts val="600"/>
              </a:spcAft>
            </a:pPr>
            <a:r>
              <a:rPr lang="en-AU" sz="2000" dirty="0" smtClean="0"/>
              <a:t>Destinations</a:t>
            </a:r>
            <a:endParaRPr lang="en-US" sz="2000" dirty="0" smtClean="0"/>
          </a:p>
          <a:p>
            <a:pPr lvl="0">
              <a:spcBef>
                <a:spcPts val="600"/>
              </a:spcBef>
              <a:spcAft>
                <a:spcPts val="600"/>
              </a:spcAft>
            </a:pPr>
            <a:r>
              <a:rPr lang="en-AU" sz="2000" dirty="0" smtClean="0"/>
              <a:t>Routing </a:t>
            </a:r>
            <a:endParaRPr lang="en-US" sz="2000" dirty="0" smtClean="0"/>
          </a:p>
          <a:p>
            <a:pPr lvl="0">
              <a:spcBef>
                <a:spcPts val="600"/>
              </a:spcBef>
              <a:spcAft>
                <a:spcPts val="1200"/>
              </a:spcAft>
              <a:buNone/>
            </a:pPr>
            <a:endParaRPr lang="en-US"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72</a:t>
            </a:fld>
            <a:endParaRPr lang="en-US" dirty="0"/>
          </a:p>
        </p:txBody>
      </p:sp>
      <p:pic>
        <p:nvPicPr>
          <p:cNvPr id="6" name="Picture 5" descr="Generic_Plan and boarding.jpg"/>
          <p:cNvPicPr/>
          <p:nvPr/>
        </p:nvPicPr>
        <p:blipFill>
          <a:blip r:embed="rId3" cstate="print"/>
          <a:stretch>
            <a:fillRect/>
          </a:stretch>
        </p:blipFill>
        <p:spPr>
          <a:xfrm>
            <a:off x="6588224" y="3501008"/>
            <a:ext cx="1800200" cy="1944216"/>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600"/>
              </a:spcAft>
              <a:buNone/>
            </a:pPr>
            <a:r>
              <a:rPr lang="en-AU" sz="1800" b="1" dirty="0" smtClean="0"/>
              <a:t>Airlines</a:t>
            </a:r>
            <a:endParaRPr lang="en-US" sz="1800" dirty="0" smtClean="0"/>
          </a:p>
          <a:p>
            <a:pPr lvl="0">
              <a:spcBef>
                <a:spcPts val="600"/>
              </a:spcBef>
              <a:spcAft>
                <a:spcPts val="600"/>
              </a:spcAft>
            </a:pPr>
            <a:r>
              <a:rPr lang="en-AU" sz="1800" dirty="0" smtClean="0"/>
              <a:t>Origin and destination </a:t>
            </a:r>
            <a:endParaRPr lang="en-US" sz="1800" dirty="0" smtClean="0"/>
          </a:p>
          <a:p>
            <a:pPr lvl="0">
              <a:spcBef>
                <a:spcPts val="600"/>
              </a:spcBef>
              <a:spcAft>
                <a:spcPts val="600"/>
              </a:spcAft>
            </a:pPr>
            <a:r>
              <a:rPr lang="en-AU" sz="1800" dirty="0" smtClean="0"/>
              <a:t>Code share flights </a:t>
            </a:r>
            <a:endParaRPr lang="en-US" sz="1800" dirty="0" smtClean="0"/>
          </a:p>
          <a:p>
            <a:pPr lvl="0">
              <a:spcBef>
                <a:spcPts val="600"/>
              </a:spcBef>
              <a:spcAft>
                <a:spcPts val="600"/>
              </a:spcAft>
            </a:pPr>
            <a:r>
              <a:rPr lang="en-AU" sz="1800" dirty="0" smtClean="0"/>
              <a:t>Normal fares</a:t>
            </a:r>
            <a:endParaRPr lang="en-US" sz="1800" dirty="0" smtClean="0"/>
          </a:p>
          <a:p>
            <a:pPr lvl="0">
              <a:spcBef>
                <a:spcPts val="600"/>
              </a:spcBef>
              <a:spcAft>
                <a:spcPts val="600"/>
              </a:spcAft>
            </a:pPr>
            <a:r>
              <a:rPr lang="en-AU" sz="1800" dirty="0" smtClean="0"/>
              <a:t>Discounted fares, including infants, children, students, </a:t>
            </a:r>
            <a:br>
              <a:rPr lang="en-AU" sz="1800" dirty="0" smtClean="0"/>
            </a:br>
            <a:r>
              <a:rPr lang="en-AU" sz="1800" dirty="0" smtClean="0"/>
              <a:t>pensioners and groups</a:t>
            </a:r>
            <a:endParaRPr lang="en-US" sz="1800" dirty="0" smtClean="0"/>
          </a:p>
          <a:p>
            <a:pPr lvl="0">
              <a:spcBef>
                <a:spcPts val="600"/>
              </a:spcBef>
              <a:spcAft>
                <a:spcPts val="600"/>
              </a:spcAft>
            </a:pPr>
            <a:r>
              <a:rPr lang="en-AU" sz="1800" dirty="0" smtClean="0"/>
              <a:t>Fares for unaccompanied children</a:t>
            </a:r>
            <a:endParaRPr lang="en-US" sz="1800" dirty="0" smtClean="0"/>
          </a:p>
          <a:p>
            <a:pPr lvl="0">
              <a:spcBef>
                <a:spcPts val="600"/>
              </a:spcBef>
              <a:spcAft>
                <a:spcPts val="600"/>
              </a:spcAft>
            </a:pPr>
            <a:r>
              <a:rPr lang="en-AU" sz="1800" dirty="0" smtClean="0"/>
              <a:t>Promotional fares and packages</a:t>
            </a:r>
            <a:endParaRPr lang="en-US" sz="1800" dirty="0" smtClean="0"/>
          </a:p>
          <a:p>
            <a:pPr>
              <a:spcBef>
                <a:spcPts val="600"/>
              </a:spcBef>
              <a:spcAft>
                <a:spcPts val="600"/>
              </a:spcAft>
            </a:pPr>
            <a:r>
              <a:rPr lang="en-AU" sz="1800" dirty="0" smtClean="0"/>
              <a:t>Taxes</a:t>
            </a:r>
            <a:endParaRPr lang="en-US" sz="1800" dirty="0" smtClean="0"/>
          </a:p>
          <a:p>
            <a:pPr>
              <a:buNone/>
            </a:pPr>
            <a:endParaRPr lang="en-AU" sz="18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73</a:t>
            </a:fld>
            <a:endParaRPr lang="en-US" dirty="0"/>
          </a:p>
        </p:txBody>
      </p:sp>
      <p:pic>
        <p:nvPicPr>
          <p:cNvPr id="7" name="Picture 6" descr="shutterstock_35770534.jpg"/>
          <p:cNvPicPr>
            <a:picLocks noChangeAspect="1"/>
          </p:cNvPicPr>
          <p:nvPr/>
        </p:nvPicPr>
        <p:blipFill>
          <a:blip r:embed="rId3" cstate="print"/>
          <a:stretch>
            <a:fillRect/>
          </a:stretch>
        </p:blipFill>
        <p:spPr>
          <a:xfrm>
            <a:off x="6228184" y="4005064"/>
            <a:ext cx="2171748" cy="1448556"/>
          </a:xfrm>
          <a:prstGeom prst="rect">
            <a:avLst/>
          </a:prstGeom>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600"/>
              </a:spcAft>
              <a:buNone/>
            </a:pPr>
            <a:r>
              <a:rPr lang="en-AU" sz="2000" b="1" dirty="0" smtClean="0"/>
              <a:t>Airlines</a:t>
            </a:r>
            <a:endParaRPr lang="en-US" sz="2000" dirty="0" smtClean="0"/>
          </a:p>
          <a:p>
            <a:pPr lvl="0">
              <a:spcBef>
                <a:spcPts val="600"/>
              </a:spcBef>
              <a:spcAft>
                <a:spcPts val="600"/>
              </a:spcAft>
            </a:pPr>
            <a:r>
              <a:rPr lang="en-AU" sz="2000" dirty="0" smtClean="0"/>
              <a:t>General air travel rules and restrictions</a:t>
            </a:r>
            <a:endParaRPr lang="en-US" sz="2000" dirty="0" smtClean="0"/>
          </a:p>
          <a:p>
            <a:pPr lvl="0">
              <a:spcBef>
                <a:spcPts val="600"/>
              </a:spcBef>
              <a:spcAft>
                <a:spcPts val="600"/>
              </a:spcAft>
            </a:pPr>
            <a:r>
              <a:rPr lang="en-AU" sz="2000" dirty="0" smtClean="0"/>
              <a:t>Class of travel </a:t>
            </a:r>
            <a:endParaRPr lang="en-US" sz="2000" dirty="0" smtClean="0"/>
          </a:p>
          <a:p>
            <a:pPr lvl="0">
              <a:spcBef>
                <a:spcPts val="600"/>
              </a:spcBef>
              <a:spcAft>
                <a:spcPts val="600"/>
              </a:spcAft>
            </a:pPr>
            <a:r>
              <a:rPr lang="en-AU" sz="2000" dirty="0" smtClean="0"/>
              <a:t>Stopovers </a:t>
            </a:r>
            <a:endParaRPr lang="en-US" sz="2000" dirty="0" smtClean="0"/>
          </a:p>
          <a:p>
            <a:pPr lvl="0">
              <a:spcBef>
                <a:spcPts val="600"/>
              </a:spcBef>
              <a:spcAft>
                <a:spcPts val="600"/>
              </a:spcAft>
            </a:pPr>
            <a:r>
              <a:rPr lang="en-AU" sz="2000" dirty="0" smtClean="0"/>
              <a:t>Mileage restrictions allowed</a:t>
            </a:r>
            <a:endParaRPr lang="en-US" sz="2000" dirty="0" smtClean="0"/>
          </a:p>
          <a:p>
            <a:pPr lvl="0">
              <a:spcBef>
                <a:spcPts val="600"/>
              </a:spcBef>
              <a:spcAft>
                <a:spcPts val="600"/>
              </a:spcAft>
            </a:pPr>
            <a:r>
              <a:rPr lang="en-AU" sz="2000" dirty="0" smtClean="0"/>
              <a:t>Minimum and maximum stays </a:t>
            </a:r>
            <a:endParaRPr lang="en-US" sz="2000" dirty="0" smtClean="0"/>
          </a:p>
          <a:p>
            <a:pPr lvl="0">
              <a:spcBef>
                <a:spcPts val="600"/>
              </a:spcBef>
              <a:spcAft>
                <a:spcPts val="600"/>
              </a:spcAft>
            </a:pPr>
            <a:r>
              <a:rPr lang="en-AU" sz="2000" dirty="0" smtClean="0"/>
              <a:t>Ticketing time limit </a:t>
            </a:r>
            <a:endParaRPr lang="en-US" sz="2000" dirty="0" smtClean="0"/>
          </a:p>
          <a:p>
            <a:pPr lvl="0">
              <a:spcBef>
                <a:spcPts val="600"/>
              </a:spcBef>
              <a:spcAft>
                <a:spcPts val="600"/>
              </a:spcAft>
            </a:pPr>
            <a:r>
              <a:rPr lang="en-AU" sz="2000" dirty="0" smtClean="0"/>
              <a:t>Payment conditions </a:t>
            </a:r>
            <a:endParaRPr lang="en-US"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74</a:t>
            </a:fld>
            <a:endParaRPr lang="en-US" dirty="0"/>
          </a:p>
        </p:txBody>
      </p:sp>
      <p:pic>
        <p:nvPicPr>
          <p:cNvPr id="5" name="Picture 4" descr="Lady_man_at airport_174994439.jpg"/>
          <p:cNvPicPr>
            <a:picLocks noChangeAspect="1"/>
          </p:cNvPicPr>
          <p:nvPr/>
        </p:nvPicPr>
        <p:blipFill>
          <a:blip r:embed="rId3" cstate="print"/>
          <a:stretch>
            <a:fillRect/>
          </a:stretch>
        </p:blipFill>
        <p:spPr>
          <a:xfrm>
            <a:off x="5337911" y="2996952"/>
            <a:ext cx="2402441" cy="1729758"/>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600"/>
              </a:spcAft>
              <a:buNone/>
            </a:pPr>
            <a:r>
              <a:rPr lang="en-AU" sz="2000" b="1" dirty="0" smtClean="0"/>
              <a:t>Car hire</a:t>
            </a:r>
            <a:endParaRPr lang="en-US" sz="2000" dirty="0" smtClean="0"/>
          </a:p>
          <a:p>
            <a:pPr lvl="0">
              <a:spcBef>
                <a:spcPts val="600"/>
              </a:spcBef>
              <a:spcAft>
                <a:spcPts val="600"/>
              </a:spcAft>
            </a:pPr>
            <a:r>
              <a:rPr lang="en-AU" sz="2000" dirty="0" smtClean="0"/>
              <a:t>Company, category, type</a:t>
            </a:r>
            <a:endParaRPr lang="en-US" sz="2000" dirty="0" smtClean="0"/>
          </a:p>
          <a:p>
            <a:pPr lvl="0">
              <a:spcBef>
                <a:spcPts val="600"/>
              </a:spcBef>
              <a:spcAft>
                <a:spcPts val="600"/>
              </a:spcAft>
            </a:pPr>
            <a:r>
              <a:rPr lang="en-AU" sz="2000" dirty="0" smtClean="0"/>
              <a:t>Pick-up and drop-off depots</a:t>
            </a:r>
            <a:endParaRPr lang="en-US" sz="2000" dirty="0" smtClean="0"/>
          </a:p>
          <a:p>
            <a:pPr lvl="0">
              <a:spcBef>
                <a:spcPts val="600"/>
              </a:spcBef>
              <a:spcAft>
                <a:spcPts val="600"/>
              </a:spcAft>
            </a:pPr>
            <a:r>
              <a:rPr lang="en-AU" sz="2000" dirty="0" smtClean="0"/>
              <a:t>Pick-up and drop-off dates and times</a:t>
            </a:r>
            <a:endParaRPr lang="en-US" sz="2000" dirty="0" smtClean="0"/>
          </a:p>
          <a:p>
            <a:pPr lvl="0">
              <a:spcBef>
                <a:spcPts val="600"/>
              </a:spcBef>
              <a:spcAft>
                <a:spcPts val="600"/>
              </a:spcAft>
            </a:pPr>
            <a:r>
              <a:rPr lang="en-AU" sz="2000" dirty="0" smtClean="0"/>
              <a:t>Inclusions and exclusions</a:t>
            </a:r>
            <a:endParaRPr lang="en-US" sz="2000" dirty="0" smtClean="0"/>
          </a:p>
          <a:p>
            <a:pPr lvl="0">
              <a:spcBef>
                <a:spcPts val="600"/>
              </a:spcBef>
              <a:spcAft>
                <a:spcPts val="600"/>
              </a:spcAft>
            </a:pPr>
            <a:r>
              <a:rPr lang="en-AU" sz="2000" dirty="0" smtClean="0"/>
              <a:t>Special requests</a:t>
            </a:r>
            <a:endParaRPr lang="en-US" sz="2000" dirty="0" smtClean="0"/>
          </a:p>
          <a:p>
            <a:pPr lvl="0">
              <a:spcBef>
                <a:spcPts val="600"/>
              </a:spcBef>
              <a:spcAft>
                <a:spcPts val="600"/>
              </a:spcAft>
            </a:pPr>
            <a:r>
              <a:rPr lang="en-AU" sz="2000" dirty="0" smtClean="0"/>
              <a:t>Notes </a:t>
            </a:r>
            <a:endParaRPr lang="en-US" sz="2000" dirty="0" smtClean="0"/>
          </a:p>
          <a:p>
            <a:pPr>
              <a:buNone/>
            </a:pPr>
            <a:endParaRPr lang="en-AU"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75</a:t>
            </a:fld>
            <a:endParaRPr lang="en-US" dirty="0"/>
          </a:p>
        </p:txBody>
      </p:sp>
      <p:pic>
        <p:nvPicPr>
          <p:cNvPr id="6" name="Picture 5" descr="MP900427629.JPG"/>
          <p:cNvPicPr/>
          <p:nvPr/>
        </p:nvPicPr>
        <p:blipFill>
          <a:blip r:embed="rId3" cstate="print"/>
          <a:stretch>
            <a:fillRect/>
          </a:stretch>
        </p:blipFill>
        <p:spPr>
          <a:xfrm>
            <a:off x="6660232" y="3573016"/>
            <a:ext cx="1800200" cy="1728192"/>
          </a:xfrm>
          <a:prstGeom prst="rect">
            <a:avLst/>
          </a:prstGeom>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600"/>
              </a:spcAft>
              <a:buNone/>
            </a:pPr>
            <a:r>
              <a:rPr lang="en-AU" sz="2000" b="1" dirty="0" smtClean="0">
                <a:latin typeface="Helvetica" pitchFamily="34" charset="0"/>
              </a:rPr>
              <a:t>Cruises</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Name of the ship and voyage number</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Embarkation date, time and port address</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Disembarkation date, time and port address</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Grade/category and cabin type and number</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Passenger dining preference</a:t>
            </a:r>
            <a:endParaRPr lang="en-US" sz="2000" dirty="0" smtClean="0">
              <a:latin typeface="Helvetica" pitchFamily="34" charset="0"/>
            </a:endParaRPr>
          </a:p>
          <a:p>
            <a:pPr lvl="0">
              <a:spcBef>
                <a:spcPts val="600"/>
              </a:spcBef>
              <a:spcAft>
                <a:spcPts val="600"/>
              </a:spcAft>
            </a:pPr>
            <a:r>
              <a:rPr lang="en-AU" sz="2000" dirty="0" smtClean="0">
                <a:latin typeface="Helvetica" pitchFamily="34" charset="0"/>
              </a:rPr>
              <a:t>Pre-booked special requirements</a:t>
            </a:r>
            <a:endParaRPr lang="en-AU"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76</a:t>
            </a:fld>
            <a:endParaRPr lang="en-US" dirty="0"/>
          </a:p>
        </p:txBody>
      </p:sp>
      <p:pic>
        <p:nvPicPr>
          <p:cNvPr id="7" name="Picture 6" descr="shutterstock_30589195.jpg"/>
          <p:cNvPicPr/>
          <p:nvPr/>
        </p:nvPicPr>
        <p:blipFill>
          <a:blip r:embed="rId3" cstate="print"/>
          <a:stretch>
            <a:fillRect/>
          </a:stretch>
        </p:blipFill>
        <p:spPr>
          <a:xfrm>
            <a:off x="6418838" y="4140179"/>
            <a:ext cx="2016224" cy="1368152"/>
          </a:xfrm>
          <a:prstGeom prst="rect">
            <a:avLst/>
          </a:prstGeo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a:spcBef>
                <a:spcPts val="600"/>
              </a:spcBef>
              <a:spcAft>
                <a:spcPts val="1200"/>
              </a:spcAft>
              <a:buNone/>
            </a:pPr>
            <a:r>
              <a:rPr lang="en-AU" sz="2000" b="1" dirty="0" smtClean="0">
                <a:latin typeface="Helvetica" pitchFamily="34" charset="0"/>
              </a:rPr>
              <a:t>Transfers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Name of company providing the transfer</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Local address and local telephone contact</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Type of transfer</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Pick-up date, time and location</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Drop-off date, location</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Special instructions in relation to transfer</a:t>
            </a:r>
            <a:endParaRPr lang="en-US"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77</a:t>
            </a:fld>
            <a:endParaRPr lang="en-US" dirty="0"/>
          </a:p>
        </p:txBody>
      </p:sp>
      <p:pic>
        <p:nvPicPr>
          <p:cNvPr id="6" name="Picture 5" descr="shutterstock_35970646.jpg"/>
          <p:cNvPicPr>
            <a:picLocks noChangeAspect="1"/>
          </p:cNvPicPr>
          <p:nvPr/>
        </p:nvPicPr>
        <p:blipFill>
          <a:blip r:embed="rId3" cstate="print"/>
          <a:stretch>
            <a:fillRect/>
          </a:stretch>
        </p:blipFill>
        <p:spPr>
          <a:xfrm>
            <a:off x="6228184" y="4077072"/>
            <a:ext cx="2165654" cy="1440160"/>
          </a:xfrm>
          <a:prstGeom prst="rect">
            <a:avLst/>
          </a:prstGeom>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Identify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84176"/>
            <a:ext cx="7776864" cy="5301208"/>
          </a:xfrm>
        </p:spPr>
        <p:txBody>
          <a:bodyPr>
            <a:normAutofit/>
          </a:bodyPr>
          <a:lstStyle/>
          <a:p>
            <a:pPr>
              <a:spcBef>
                <a:spcPts val="600"/>
              </a:spcBef>
              <a:spcAft>
                <a:spcPts val="1200"/>
              </a:spcAft>
              <a:buNone/>
            </a:pPr>
            <a:r>
              <a:rPr lang="en-AU" sz="2000" b="1" dirty="0" smtClean="0"/>
              <a:t>Rail</a:t>
            </a:r>
            <a:endParaRPr lang="en-US" sz="2000" dirty="0" smtClean="0"/>
          </a:p>
          <a:p>
            <a:pPr lvl="0">
              <a:spcBef>
                <a:spcPts val="600"/>
              </a:spcBef>
              <a:spcAft>
                <a:spcPts val="1200"/>
              </a:spcAft>
            </a:pPr>
            <a:r>
              <a:rPr lang="en-AU" sz="2000" dirty="0" smtClean="0"/>
              <a:t>Name of Pass</a:t>
            </a:r>
            <a:endParaRPr lang="en-US" sz="2000" dirty="0" smtClean="0"/>
          </a:p>
          <a:p>
            <a:pPr lvl="0">
              <a:spcBef>
                <a:spcPts val="600"/>
              </a:spcBef>
              <a:spcAft>
                <a:spcPts val="1200"/>
              </a:spcAft>
            </a:pPr>
            <a:r>
              <a:rPr lang="en-AU" sz="2000" dirty="0" smtClean="0"/>
              <a:t>Duration and type of pass</a:t>
            </a:r>
            <a:endParaRPr lang="en-US" sz="2000" dirty="0" smtClean="0"/>
          </a:p>
          <a:p>
            <a:pPr lvl="0">
              <a:spcBef>
                <a:spcPts val="600"/>
              </a:spcBef>
              <a:spcAft>
                <a:spcPts val="1200"/>
              </a:spcAft>
            </a:pPr>
            <a:r>
              <a:rPr lang="en-AU" sz="2000" dirty="0" smtClean="0"/>
              <a:t>Validity dates</a:t>
            </a:r>
          </a:p>
          <a:p>
            <a:pPr lvl="0">
              <a:spcBef>
                <a:spcPts val="600"/>
              </a:spcBef>
              <a:spcAft>
                <a:spcPts val="1200"/>
              </a:spcAft>
            </a:pPr>
            <a:endParaRPr lang="en-AU" sz="2000" dirty="0" smtClean="0"/>
          </a:p>
          <a:p>
            <a:pPr algn="ctr">
              <a:spcBef>
                <a:spcPts val="600"/>
              </a:spcBef>
              <a:spcAft>
                <a:spcPts val="1200"/>
              </a:spcAft>
              <a:buNone/>
            </a:pPr>
            <a:endParaRPr lang="en-AU" sz="2000" dirty="0"/>
          </a:p>
          <a:p>
            <a:pPr>
              <a:spcBef>
                <a:spcPts val="600"/>
              </a:spcBef>
              <a:spcAft>
                <a:spcPts val="1200"/>
              </a:spcAft>
              <a:buNone/>
            </a:pPr>
            <a:r>
              <a:rPr lang="en-AU" sz="2000" b="1" i="1" dirty="0" smtClean="0">
                <a:solidFill>
                  <a:srgbClr val="FF6600"/>
                </a:solidFill>
              </a:rPr>
              <a:t>			COMPLETE ACTIVITY 6</a:t>
            </a:r>
          </a:p>
          <a:p>
            <a:pPr lvl="0">
              <a:spcBef>
                <a:spcPts val="600"/>
              </a:spcBef>
              <a:spcAft>
                <a:spcPts val="1200"/>
              </a:spcAft>
              <a:buNone/>
            </a:pPr>
            <a:endParaRPr lang="en-AU" sz="2000" dirty="0" smtClean="0"/>
          </a:p>
          <a:p>
            <a:pPr lvl="0">
              <a:spcBef>
                <a:spcPts val="600"/>
              </a:spcBef>
              <a:spcAft>
                <a:spcPts val="1200"/>
              </a:spcAft>
              <a:buNone/>
            </a:pPr>
            <a:endParaRPr lang="en-AU" sz="2000" dirty="0" smtClean="0"/>
          </a:p>
          <a:p>
            <a:pPr lvl="0">
              <a:spcBef>
                <a:spcPts val="600"/>
              </a:spcBef>
              <a:spcAft>
                <a:spcPts val="1200"/>
              </a:spcAft>
              <a:buNone/>
            </a:pPr>
            <a:endParaRPr lang="en-US"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78</a:t>
            </a:fld>
            <a:endParaRPr lang="en-US" dirty="0"/>
          </a:p>
        </p:txBody>
      </p:sp>
      <p:pic>
        <p:nvPicPr>
          <p:cNvPr id="5" name="Picture 4" descr="shutterstock_152766782.jpg"/>
          <p:cNvPicPr/>
          <p:nvPr/>
        </p:nvPicPr>
        <p:blipFill>
          <a:blip r:embed="rId3" cstate="print"/>
          <a:stretch>
            <a:fillRect/>
          </a:stretch>
        </p:blipFill>
        <p:spPr>
          <a:xfrm>
            <a:off x="4825198" y="2142982"/>
            <a:ext cx="2448272" cy="1584176"/>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Research destination information</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000" b="1" dirty="0" smtClean="0"/>
              <a:t>Importance of research</a:t>
            </a:r>
            <a:endParaRPr lang="en-US" sz="2000" dirty="0" smtClean="0"/>
          </a:p>
          <a:p>
            <a:pPr>
              <a:spcBef>
                <a:spcPts val="600"/>
              </a:spcBef>
              <a:spcAft>
                <a:spcPts val="1200"/>
              </a:spcAft>
            </a:pPr>
            <a:r>
              <a:rPr lang="en-AU" sz="2000" dirty="0" smtClean="0"/>
              <a:t>Now that you have identified different types of destination information that may suit the needs of clients, it is now time to start the research process</a:t>
            </a:r>
            <a:endParaRPr lang="en-US" sz="2000" dirty="0" smtClean="0"/>
          </a:p>
          <a:p>
            <a:pPr>
              <a:spcBef>
                <a:spcPts val="600"/>
              </a:spcBef>
              <a:spcAft>
                <a:spcPts val="1200"/>
              </a:spcAft>
            </a:pPr>
            <a:r>
              <a:rPr lang="en-AU" sz="2000" dirty="0" smtClean="0"/>
              <a:t>The aim of the research process is to collect accurate and relevant destination information to meet the needs of the client and any requests they have made</a:t>
            </a:r>
            <a:endParaRPr lang="en-US" sz="2000" dirty="0" smtClean="0"/>
          </a:p>
          <a:p>
            <a:pPr lvl="0">
              <a:spcBef>
                <a:spcPts val="600"/>
              </a:spcBef>
              <a:spcAft>
                <a:spcPts val="1200"/>
              </a:spcAft>
              <a:buNone/>
            </a:pPr>
            <a:endParaRPr lang="en-US" sz="2000" dirty="0" smtClean="0"/>
          </a:p>
          <a:p>
            <a:pPr>
              <a:spcBef>
                <a:spcPts val="600"/>
              </a:spcBef>
              <a:spcAft>
                <a:spcPts val="1200"/>
              </a:spcAft>
              <a:buNone/>
            </a:pPr>
            <a:endParaRPr lang="en-US" sz="2000" dirty="0" smtClean="0"/>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p>
          <a:p>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79</a:t>
            </a:fld>
            <a:endParaRPr lang="en-US" dirty="0">
              <a:latin typeface="Helvetica" pitchFamily="34" charset="0"/>
            </a:endParaRPr>
          </a:p>
        </p:txBody>
      </p:sp>
      <p:pic>
        <p:nvPicPr>
          <p:cNvPr id="5" name="Picture 4" descr="shutterstock_128200763.jpg"/>
          <p:cNvPicPr/>
          <p:nvPr/>
        </p:nvPicPr>
        <p:blipFill>
          <a:blip r:embed="rId3" cstate="print"/>
          <a:stretch>
            <a:fillRect/>
          </a:stretch>
        </p:blipFill>
        <p:spPr>
          <a:xfrm>
            <a:off x="6372200" y="4221088"/>
            <a:ext cx="2016224" cy="1440160"/>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Research destination information</a:t>
            </a:r>
          </a:p>
        </p:txBody>
      </p:sp>
      <p:sp>
        <p:nvSpPr>
          <p:cNvPr id="3" name="Content Placeholder 2"/>
          <p:cNvSpPr>
            <a:spLocks noGrp="1"/>
          </p:cNvSpPr>
          <p:nvPr>
            <p:ph idx="1"/>
          </p:nvPr>
        </p:nvSpPr>
        <p:spPr>
          <a:xfrm>
            <a:off x="611560" y="1556792"/>
            <a:ext cx="7467600" cy="5301208"/>
          </a:xfrm>
        </p:spPr>
        <p:txBody>
          <a:bodyPr>
            <a:normAutofit/>
          </a:bodyPr>
          <a:lstStyle/>
          <a:p>
            <a:pPr>
              <a:spcBef>
                <a:spcPts val="1200"/>
              </a:spcBef>
              <a:spcAft>
                <a:spcPts val="1200"/>
              </a:spcAft>
              <a:buNone/>
            </a:pPr>
            <a:r>
              <a:rPr lang="en-US" sz="1800" b="1" dirty="0" smtClean="0"/>
              <a:t>Steps in researching destination information</a:t>
            </a:r>
            <a:endParaRPr lang="en-US" sz="1800" dirty="0" smtClean="0"/>
          </a:p>
          <a:p>
            <a:pPr lvl="0">
              <a:spcBef>
                <a:spcPts val="600"/>
              </a:spcBef>
              <a:spcAft>
                <a:spcPts val="1200"/>
              </a:spcAft>
            </a:pPr>
            <a:r>
              <a:rPr lang="en-AU" sz="1800" dirty="0" smtClean="0"/>
              <a:t>Identify the research points</a:t>
            </a:r>
            <a:endParaRPr lang="en-US" sz="1800" dirty="0" smtClean="0"/>
          </a:p>
          <a:p>
            <a:pPr lvl="0">
              <a:spcBef>
                <a:spcPts val="600"/>
              </a:spcBef>
              <a:spcAft>
                <a:spcPts val="1200"/>
              </a:spcAft>
            </a:pPr>
            <a:r>
              <a:rPr lang="en-AU" sz="1800" dirty="0" smtClean="0"/>
              <a:t>Identify types of formal and informal research techniques</a:t>
            </a:r>
            <a:endParaRPr lang="en-US" sz="1800" dirty="0" smtClean="0"/>
          </a:p>
          <a:p>
            <a:pPr lvl="0">
              <a:spcBef>
                <a:spcPts val="600"/>
              </a:spcBef>
              <a:spcAft>
                <a:spcPts val="1200"/>
              </a:spcAft>
            </a:pPr>
            <a:r>
              <a:rPr lang="en-AU" sz="1800" dirty="0" smtClean="0"/>
              <a:t>Recollection of personal observations</a:t>
            </a:r>
            <a:endParaRPr lang="en-US" sz="1800" dirty="0" smtClean="0"/>
          </a:p>
          <a:p>
            <a:pPr lvl="0">
              <a:spcBef>
                <a:spcPts val="600"/>
              </a:spcBef>
              <a:spcAft>
                <a:spcPts val="1200"/>
              </a:spcAft>
            </a:pPr>
            <a:r>
              <a:rPr lang="en-AU" sz="1800" dirty="0" smtClean="0"/>
              <a:t>Accessing internal information </a:t>
            </a:r>
            <a:endParaRPr lang="en-US" sz="1800" dirty="0" smtClean="0"/>
          </a:p>
          <a:p>
            <a:pPr lvl="0">
              <a:spcBef>
                <a:spcPts val="600"/>
              </a:spcBef>
              <a:spcAft>
                <a:spcPts val="1200"/>
              </a:spcAft>
            </a:pPr>
            <a:r>
              <a:rPr lang="en-AU" sz="1800" dirty="0" smtClean="0"/>
              <a:t>Accessing external sources of information</a:t>
            </a:r>
            <a:endParaRPr lang="en-US" sz="1800" dirty="0" smtClean="0"/>
          </a:p>
          <a:p>
            <a:pPr lvl="0">
              <a:spcBef>
                <a:spcPts val="600"/>
              </a:spcBef>
              <a:spcAft>
                <a:spcPts val="1200"/>
              </a:spcAft>
            </a:pPr>
            <a:r>
              <a:rPr lang="en-AU" sz="1800" dirty="0" smtClean="0"/>
              <a:t>Visits sources of information</a:t>
            </a:r>
            <a:endParaRPr lang="en-US" sz="1800" dirty="0" smtClean="0"/>
          </a:p>
          <a:p>
            <a:pPr lvl="0">
              <a:spcBef>
                <a:spcPts val="600"/>
              </a:spcBef>
              <a:spcAft>
                <a:spcPts val="1200"/>
              </a:spcAft>
            </a:pPr>
            <a:r>
              <a:rPr lang="en-AU" sz="1800" dirty="0" smtClean="0"/>
              <a:t>Establishing industry networks</a:t>
            </a:r>
            <a:endParaRPr lang="en-US" sz="1800" dirty="0" smtClean="0"/>
          </a:p>
          <a:p>
            <a:pPr lvl="0">
              <a:spcBef>
                <a:spcPts val="600"/>
              </a:spcBef>
              <a:spcAft>
                <a:spcPts val="1200"/>
              </a:spcAft>
              <a:buNone/>
            </a:pPr>
            <a:endParaRPr lang="en-US" sz="1800" dirty="0" smtClean="0"/>
          </a:p>
          <a:p>
            <a:pPr>
              <a:spcBef>
                <a:spcPts val="600"/>
              </a:spcBef>
              <a:spcAft>
                <a:spcPts val="1200"/>
              </a:spcAft>
              <a:buNone/>
            </a:pPr>
            <a:endParaRPr lang="en-US" sz="1800" dirty="0" smtClean="0"/>
          </a:p>
          <a:p>
            <a:pPr>
              <a:spcBef>
                <a:spcPts val="600"/>
              </a:spcBef>
              <a:spcAft>
                <a:spcPts val="1200"/>
              </a:spcAft>
              <a:buNone/>
            </a:pPr>
            <a:endParaRPr lang="en-US" sz="1800" dirty="0" smtClean="0"/>
          </a:p>
          <a:p>
            <a:endParaRPr lang="en-AU" sz="1800" b="1" dirty="0" smtClean="0"/>
          </a:p>
          <a:p>
            <a:endParaRPr lang="en-US" sz="1800" dirty="0" smtClean="0"/>
          </a:p>
          <a:p>
            <a:pPr>
              <a:spcBef>
                <a:spcPts val="600"/>
              </a:spcBef>
              <a:spcAft>
                <a:spcPts val="600"/>
              </a:spcAft>
            </a:pPr>
            <a:endParaRPr lang="en-US" sz="1800" b="1" dirty="0" smtClean="0"/>
          </a:p>
          <a:p>
            <a:endParaRPr lang="en-US" sz="1800" b="1" dirty="0" smtClean="0"/>
          </a:p>
          <a:p>
            <a:pPr>
              <a:spcBef>
                <a:spcPts val="600"/>
              </a:spcBef>
              <a:spcAft>
                <a:spcPts val="1200"/>
              </a:spcAft>
              <a:buNone/>
            </a:pPr>
            <a:endParaRPr lang="en-US" sz="18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pic>
        <p:nvPicPr>
          <p:cNvPr id="6" name="Picture 5" descr="shutterstock_100858450.jpg"/>
          <p:cNvPicPr/>
          <p:nvPr/>
        </p:nvPicPr>
        <p:blipFill>
          <a:blip r:embed="rId3" cstate="print"/>
          <a:stretch>
            <a:fillRect/>
          </a:stretch>
        </p:blipFill>
        <p:spPr>
          <a:xfrm>
            <a:off x="6228184" y="4005064"/>
            <a:ext cx="2160240" cy="1512168"/>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Research destination information</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000" b="1" dirty="0" smtClean="0"/>
              <a:t>Defining the research topic</a:t>
            </a:r>
            <a:endParaRPr lang="en-US" sz="2000" dirty="0" smtClean="0"/>
          </a:p>
          <a:p>
            <a:pPr>
              <a:spcBef>
                <a:spcPts val="600"/>
              </a:spcBef>
              <a:spcAft>
                <a:spcPts val="1200"/>
              </a:spcAft>
            </a:pPr>
            <a:r>
              <a:rPr lang="en-AU" sz="2000" dirty="0" smtClean="0"/>
              <a:t>The first step is to try to identify exactly where the focus of research and information collection should be concentrated on</a:t>
            </a: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81</a:t>
            </a:fld>
            <a:endParaRPr lang="en-US" dirty="0">
              <a:latin typeface="Helvetica" pitchFamily="34" charset="0"/>
            </a:endParaRPr>
          </a:p>
        </p:txBody>
      </p:sp>
      <p:pic>
        <p:nvPicPr>
          <p:cNvPr id="6" name="Picture 5" descr="shutterstock_143143042.jpg"/>
          <p:cNvPicPr/>
          <p:nvPr/>
        </p:nvPicPr>
        <p:blipFill>
          <a:blip r:embed="rId3" cstate="print"/>
          <a:stretch>
            <a:fillRect/>
          </a:stretch>
        </p:blipFill>
        <p:spPr>
          <a:xfrm>
            <a:off x="3131840" y="3284984"/>
            <a:ext cx="1656184" cy="2088232"/>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Research destination information</a:t>
            </a:r>
          </a:p>
        </p:txBody>
      </p:sp>
      <p:sp>
        <p:nvSpPr>
          <p:cNvPr id="3" name="Content Placeholder 2"/>
          <p:cNvSpPr>
            <a:spLocks noGrp="1"/>
          </p:cNvSpPr>
          <p:nvPr>
            <p:ph idx="1"/>
          </p:nvPr>
        </p:nvSpPr>
        <p:spPr>
          <a:xfrm>
            <a:off x="611560" y="1556792"/>
            <a:ext cx="7467600" cy="5301208"/>
          </a:xfrm>
        </p:spPr>
        <p:txBody>
          <a:bodyPr>
            <a:normAutofit/>
          </a:bodyPr>
          <a:lstStyle/>
          <a:p>
            <a:pPr marL="0">
              <a:lnSpc>
                <a:spcPct val="120000"/>
              </a:lnSpc>
              <a:spcBef>
                <a:spcPts val="600"/>
              </a:spcBef>
              <a:spcAft>
                <a:spcPts val="600"/>
              </a:spcAft>
              <a:buNone/>
            </a:pPr>
            <a:r>
              <a:rPr lang="en-AU" sz="1800" b="1" dirty="0" smtClean="0"/>
              <a:t>Identify types of formal and informal research techniques</a:t>
            </a:r>
            <a:endParaRPr lang="en-US" sz="1800" dirty="0" smtClean="0"/>
          </a:p>
          <a:p>
            <a:pPr lvl="0">
              <a:lnSpc>
                <a:spcPct val="120000"/>
              </a:lnSpc>
              <a:spcBef>
                <a:spcPts val="600"/>
              </a:spcBef>
              <a:spcAft>
                <a:spcPts val="600"/>
              </a:spcAft>
            </a:pPr>
            <a:r>
              <a:rPr lang="en-AU" sz="1800" dirty="0" smtClean="0"/>
              <a:t>Informal discussions with colleagues and clients</a:t>
            </a:r>
            <a:endParaRPr lang="en-US" sz="1800" dirty="0" smtClean="0"/>
          </a:p>
          <a:p>
            <a:pPr lvl="0">
              <a:lnSpc>
                <a:spcPct val="120000"/>
              </a:lnSpc>
              <a:spcBef>
                <a:spcPts val="600"/>
              </a:spcBef>
              <a:spcAft>
                <a:spcPts val="600"/>
              </a:spcAft>
            </a:pPr>
            <a:r>
              <a:rPr lang="en-AU" sz="1800" dirty="0" smtClean="0"/>
              <a:t>Formal study</a:t>
            </a:r>
            <a:endParaRPr lang="en-US" sz="1800" dirty="0" smtClean="0"/>
          </a:p>
          <a:p>
            <a:pPr lvl="0">
              <a:lnSpc>
                <a:spcPct val="120000"/>
              </a:lnSpc>
              <a:spcBef>
                <a:spcPts val="600"/>
              </a:spcBef>
              <a:spcAft>
                <a:spcPts val="600"/>
              </a:spcAft>
            </a:pPr>
            <a:r>
              <a:rPr lang="en-AU" sz="1800" dirty="0" smtClean="0"/>
              <a:t>Reading literature</a:t>
            </a:r>
            <a:endParaRPr lang="en-US" sz="1800" dirty="0" smtClean="0"/>
          </a:p>
          <a:p>
            <a:pPr lvl="0">
              <a:lnSpc>
                <a:spcPct val="120000"/>
              </a:lnSpc>
              <a:spcBef>
                <a:spcPts val="600"/>
              </a:spcBef>
              <a:spcAft>
                <a:spcPts val="600"/>
              </a:spcAft>
            </a:pPr>
            <a:r>
              <a:rPr lang="en-AU" sz="1800" dirty="0" smtClean="0"/>
              <a:t>Attending relevant information sessions and events</a:t>
            </a:r>
            <a:endParaRPr lang="en-US" sz="1800" dirty="0" smtClean="0"/>
          </a:p>
          <a:p>
            <a:pPr lvl="0">
              <a:lnSpc>
                <a:spcPct val="120000"/>
              </a:lnSpc>
              <a:spcBef>
                <a:spcPts val="600"/>
              </a:spcBef>
              <a:spcAft>
                <a:spcPts val="600"/>
              </a:spcAft>
            </a:pPr>
            <a:r>
              <a:rPr lang="en-AU" sz="1800" dirty="0" smtClean="0"/>
              <a:t>Visiting destinations</a:t>
            </a:r>
            <a:endParaRPr lang="en-US" sz="1800" dirty="0" smtClean="0"/>
          </a:p>
          <a:p>
            <a:pPr lvl="0">
              <a:lnSpc>
                <a:spcPct val="120000"/>
              </a:lnSpc>
              <a:spcBef>
                <a:spcPts val="600"/>
              </a:spcBef>
              <a:spcAft>
                <a:spcPts val="600"/>
              </a:spcAft>
            </a:pPr>
            <a:r>
              <a:rPr lang="en-AU" sz="1800" dirty="0" smtClean="0"/>
              <a:t>Direct contact with organisations</a:t>
            </a:r>
            <a:endParaRPr lang="en-US" sz="1800" dirty="0" smtClean="0"/>
          </a:p>
          <a:p>
            <a:pPr lvl="0">
              <a:lnSpc>
                <a:spcPct val="120000"/>
              </a:lnSpc>
              <a:spcBef>
                <a:spcPts val="600"/>
              </a:spcBef>
              <a:spcAft>
                <a:spcPts val="600"/>
              </a:spcAft>
            </a:pPr>
            <a:r>
              <a:rPr lang="en-AU" sz="1800" dirty="0" smtClean="0"/>
              <a:t>Accessing the internet and targeted destination websites</a:t>
            </a:r>
            <a:endParaRPr lang="en-US" sz="1800" dirty="0" smtClean="0"/>
          </a:p>
          <a:p>
            <a:pPr lvl="0">
              <a:lnSpc>
                <a:spcPct val="120000"/>
              </a:lnSpc>
              <a:spcBef>
                <a:spcPts val="600"/>
              </a:spcBef>
              <a:spcAft>
                <a:spcPts val="600"/>
              </a:spcAft>
            </a:pPr>
            <a:r>
              <a:rPr lang="en-AU" sz="1800" dirty="0" smtClean="0"/>
              <a:t>Watching videos, television and films</a:t>
            </a:r>
            <a:endParaRPr lang="en-US" sz="1800" dirty="0" smtClean="0"/>
          </a:p>
          <a:p>
            <a:pPr lvl="0">
              <a:spcBef>
                <a:spcPts val="600"/>
              </a:spcBef>
              <a:spcAft>
                <a:spcPts val="1200"/>
              </a:spcAft>
              <a:buNone/>
            </a:pPr>
            <a:endParaRPr lang="en-US" sz="1800" dirty="0" smtClean="0"/>
          </a:p>
          <a:p>
            <a:pPr>
              <a:spcBef>
                <a:spcPts val="600"/>
              </a:spcBef>
              <a:spcAft>
                <a:spcPts val="1200"/>
              </a:spcAft>
              <a:buNone/>
            </a:pPr>
            <a:endParaRPr lang="en-US" sz="1800" dirty="0" smtClean="0"/>
          </a:p>
          <a:p>
            <a:pPr>
              <a:spcBef>
                <a:spcPts val="600"/>
              </a:spcBef>
              <a:spcAft>
                <a:spcPts val="1200"/>
              </a:spcAft>
              <a:buNone/>
            </a:pPr>
            <a:endParaRPr lang="en-US" sz="1800" dirty="0" smtClean="0"/>
          </a:p>
          <a:p>
            <a:endParaRPr lang="en-AU" sz="1800" b="1" dirty="0" smtClean="0"/>
          </a:p>
          <a:p>
            <a:endParaRPr lang="en-US" sz="1800" dirty="0" smtClean="0"/>
          </a:p>
          <a:p>
            <a:pPr>
              <a:spcBef>
                <a:spcPts val="600"/>
              </a:spcBef>
              <a:spcAft>
                <a:spcPts val="600"/>
              </a:spcAft>
            </a:pPr>
            <a:endParaRPr lang="en-US" sz="1800" b="1" dirty="0" smtClean="0"/>
          </a:p>
          <a:p>
            <a:endParaRPr lang="en-US" sz="1800" b="1" dirty="0" smtClean="0"/>
          </a:p>
          <a:p>
            <a:pPr>
              <a:spcBef>
                <a:spcPts val="600"/>
              </a:spcBef>
              <a:spcAft>
                <a:spcPts val="1200"/>
              </a:spcAft>
              <a:buNone/>
            </a:pPr>
            <a:endParaRPr lang="en-US" sz="18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82</a:t>
            </a:fld>
            <a:endParaRPr lang="en-US" dirty="0">
              <a:latin typeface="Helvetica" pitchFamily="34" charset="0"/>
            </a:endParaRPr>
          </a:p>
        </p:txBody>
      </p:sp>
      <p:pic>
        <p:nvPicPr>
          <p:cNvPr id="7" name="Picture 6" descr="shutterstock_155573669.jpg"/>
          <p:cNvPicPr>
            <a:picLocks noChangeAspect="1"/>
          </p:cNvPicPr>
          <p:nvPr/>
        </p:nvPicPr>
        <p:blipFill>
          <a:blip r:embed="rId3" cstate="print"/>
          <a:stretch>
            <a:fillRect/>
          </a:stretch>
        </p:blipFill>
        <p:spPr>
          <a:xfrm>
            <a:off x="6516216" y="2701352"/>
            <a:ext cx="1584176" cy="2002751"/>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Research destination information</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5301208"/>
          </a:xfrm>
        </p:spPr>
        <p:txBody>
          <a:bodyPr>
            <a:normAutofit/>
          </a:bodyPr>
          <a:lstStyle/>
          <a:p>
            <a:pPr marL="0">
              <a:spcBef>
                <a:spcPts val="600"/>
              </a:spcBef>
              <a:spcAft>
                <a:spcPts val="1200"/>
              </a:spcAft>
              <a:buNone/>
            </a:pPr>
            <a:r>
              <a:rPr lang="en-AU" sz="1800" b="1" dirty="0" smtClean="0"/>
              <a:t>Recollection of personal observations and experiences</a:t>
            </a:r>
            <a:endParaRPr lang="en-US" sz="1800" dirty="0" smtClean="0"/>
          </a:p>
          <a:p>
            <a:pPr lvl="0">
              <a:spcBef>
                <a:spcPts val="600"/>
              </a:spcBef>
              <a:spcAft>
                <a:spcPts val="1200"/>
              </a:spcAft>
            </a:pPr>
            <a:r>
              <a:rPr lang="en-US" sz="1800" dirty="0" smtClean="0"/>
              <a:t>Previous bookings</a:t>
            </a:r>
          </a:p>
          <a:p>
            <a:pPr lvl="0">
              <a:spcBef>
                <a:spcPts val="600"/>
              </a:spcBef>
              <a:spcAft>
                <a:spcPts val="1200"/>
              </a:spcAft>
            </a:pPr>
            <a:r>
              <a:rPr lang="en-US" sz="1800" dirty="0" smtClean="0"/>
              <a:t>Discussions had with previous clients</a:t>
            </a:r>
          </a:p>
          <a:p>
            <a:pPr lvl="0">
              <a:spcBef>
                <a:spcPts val="600"/>
              </a:spcBef>
              <a:spcAft>
                <a:spcPts val="1200"/>
              </a:spcAft>
            </a:pPr>
            <a:r>
              <a:rPr lang="en-US" sz="1800" dirty="0" smtClean="0"/>
              <a:t>Familiarisation tours previously conducted</a:t>
            </a:r>
          </a:p>
          <a:p>
            <a:pPr lvl="0">
              <a:spcBef>
                <a:spcPts val="600"/>
              </a:spcBef>
              <a:spcAft>
                <a:spcPts val="1200"/>
              </a:spcAft>
            </a:pPr>
            <a:r>
              <a:rPr lang="en-US" sz="1800" dirty="0" smtClean="0"/>
              <a:t>Personal notes</a:t>
            </a:r>
          </a:p>
          <a:p>
            <a:pPr lvl="0">
              <a:spcBef>
                <a:spcPts val="600"/>
              </a:spcBef>
              <a:spcAft>
                <a:spcPts val="1200"/>
              </a:spcAft>
            </a:pPr>
            <a:r>
              <a:rPr lang="en-US" sz="1800" dirty="0" smtClean="0"/>
              <a:t>Report and findings</a:t>
            </a:r>
          </a:p>
          <a:p>
            <a:pPr lvl="0">
              <a:spcBef>
                <a:spcPts val="600"/>
              </a:spcBef>
              <a:spcAft>
                <a:spcPts val="1200"/>
              </a:spcAft>
            </a:pPr>
            <a:r>
              <a:rPr lang="en-US" sz="1800" dirty="0" smtClean="0"/>
              <a:t>Log books</a:t>
            </a:r>
          </a:p>
          <a:p>
            <a:pPr lvl="0">
              <a:spcBef>
                <a:spcPts val="600"/>
              </a:spcBef>
              <a:spcAft>
                <a:spcPts val="1200"/>
              </a:spcAft>
            </a:pPr>
            <a:r>
              <a:rPr lang="en-US" sz="1800" dirty="0" smtClean="0"/>
              <a:t>R</a:t>
            </a:r>
            <a:r>
              <a:rPr lang="en-AU" sz="1800" dirty="0" smtClean="0"/>
              <a:t>ecords of interviews</a:t>
            </a:r>
            <a:endParaRPr lang="en-US" sz="1800" dirty="0" smtClean="0"/>
          </a:p>
          <a:p>
            <a:pPr lvl="0">
              <a:spcBef>
                <a:spcPts val="600"/>
              </a:spcBef>
              <a:spcAft>
                <a:spcPts val="1200"/>
              </a:spcAft>
            </a:pPr>
            <a:r>
              <a:rPr lang="en-AU" sz="1800" dirty="0" smtClean="0"/>
              <a:t>Notes of first-hand meetings</a:t>
            </a:r>
            <a:endParaRPr lang="en-US" sz="1800" dirty="0" smtClean="0"/>
          </a:p>
          <a:p>
            <a:pPr>
              <a:spcBef>
                <a:spcPts val="600"/>
              </a:spcBef>
              <a:spcAft>
                <a:spcPts val="1200"/>
              </a:spcAft>
              <a:buNone/>
            </a:pPr>
            <a:endParaRPr lang="en-US" sz="1800" dirty="0" smtClean="0"/>
          </a:p>
          <a:p>
            <a:endParaRPr lang="en-AU" sz="1800" b="1" dirty="0" smtClean="0"/>
          </a:p>
          <a:p>
            <a:endParaRPr lang="en-US" sz="1800" dirty="0" smtClean="0"/>
          </a:p>
          <a:p>
            <a:pPr>
              <a:spcBef>
                <a:spcPts val="600"/>
              </a:spcBef>
              <a:spcAft>
                <a:spcPts val="600"/>
              </a:spcAft>
            </a:pPr>
            <a:endParaRPr lang="en-US" sz="1800" b="1" dirty="0" smtClean="0"/>
          </a:p>
          <a:p>
            <a:endParaRPr lang="en-US" sz="1800" b="1" dirty="0" smtClean="0"/>
          </a:p>
          <a:p>
            <a:pPr>
              <a:spcBef>
                <a:spcPts val="600"/>
              </a:spcBef>
              <a:spcAft>
                <a:spcPts val="1200"/>
              </a:spcAft>
              <a:buNone/>
            </a:pPr>
            <a:endParaRPr lang="en-US" sz="18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83</a:t>
            </a:fld>
            <a:endParaRPr lang="en-US" dirty="0">
              <a:latin typeface="Helvetica" pitchFamily="34" charset="0"/>
            </a:endParaRPr>
          </a:p>
        </p:txBody>
      </p:sp>
      <p:pic>
        <p:nvPicPr>
          <p:cNvPr id="7" name="Picture 6" descr="shutterstock_2953316.jpg"/>
          <p:cNvPicPr/>
          <p:nvPr/>
        </p:nvPicPr>
        <p:blipFill>
          <a:blip r:embed="rId3" cstate="print"/>
          <a:stretch>
            <a:fillRect/>
          </a:stretch>
        </p:blipFill>
        <p:spPr>
          <a:xfrm>
            <a:off x="6588223" y="3947516"/>
            <a:ext cx="1818625" cy="1425699"/>
          </a:xfrm>
          <a:prstGeom prst="rect">
            <a:avLst/>
          </a:prstGeom>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marL="0"/>
            <a:r>
              <a:rPr lang="en-AU" sz="3400" b="1" dirty="0" smtClean="0">
                <a:solidFill>
                  <a:srgbClr val="FF6600"/>
                </a:solidFill>
                <a:latin typeface="Helvetica" pitchFamily="34" charset="0"/>
              </a:rPr>
              <a:t>Accessing internal information </a:t>
            </a: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000" b="1" dirty="0" smtClean="0">
                <a:latin typeface="Helvetica" pitchFamily="34" charset="0"/>
              </a:rPr>
              <a:t>Arrange to receive internal information </a:t>
            </a:r>
            <a:endParaRPr lang="en-US" sz="2000" dirty="0" smtClean="0">
              <a:latin typeface="Helvetica" pitchFamily="34" charset="0"/>
            </a:endParaRPr>
          </a:p>
          <a:p>
            <a:pPr>
              <a:spcBef>
                <a:spcPts val="600"/>
              </a:spcBef>
              <a:spcAft>
                <a:spcPts val="1200"/>
              </a:spcAft>
            </a:pPr>
            <a:r>
              <a:rPr lang="en-US" sz="2000" dirty="0" smtClean="0">
                <a:latin typeface="Helvetica" pitchFamily="34" charset="0"/>
              </a:rPr>
              <a:t>Who can you receive information from?</a:t>
            </a:r>
          </a:p>
          <a:p>
            <a:pPr>
              <a:spcBef>
                <a:spcPts val="600"/>
              </a:spcBef>
              <a:spcAft>
                <a:spcPts val="1200"/>
              </a:spcAft>
            </a:pPr>
            <a:r>
              <a:rPr lang="en-US" sz="2000" dirty="0" smtClean="0">
                <a:latin typeface="Helvetica" pitchFamily="34" charset="0"/>
              </a:rPr>
              <a:t>What types of information can you receive?</a:t>
            </a:r>
          </a:p>
          <a:p>
            <a:pPr>
              <a:spcBef>
                <a:spcPts val="600"/>
              </a:spcBef>
              <a:spcAft>
                <a:spcPts val="1200"/>
              </a:spcAft>
            </a:pPr>
            <a:r>
              <a:rPr lang="en-US" sz="2000" dirty="0" smtClean="0">
                <a:latin typeface="Helvetica" pitchFamily="34" charset="0"/>
              </a:rPr>
              <a:t>How can you receive the information?</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84</a:t>
            </a:fld>
            <a:endParaRPr lang="en-US" dirty="0">
              <a:latin typeface="Helvetica" pitchFamily="34" charset="0"/>
            </a:endParaRPr>
          </a:p>
        </p:txBody>
      </p:sp>
      <p:pic>
        <p:nvPicPr>
          <p:cNvPr id="6" name="Picture 5" descr="A15 shutterstock_173608850[1].JPG"/>
          <p:cNvPicPr/>
          <p:nvPr/>
        </p:nvPicPr>
        <p:blipFill>
          <a:blip r:embed="rId3" cstate="print"/>
          <a:stretch>
            <a:fillRect/>
          </a:stretch>
        </p:blipFill>
        <p:spPr>
          <a:xfrm>
            <a:off x="6516216" y="4137235"/>
            <a:ext cx="1913176" cy="1296913"/>
          </a:xfrm>
          <a:prstGeom prst="rect">
            <a:avLst/>
          </a:prstGeom>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Accessing internal information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000" b="1" dirty="0" smtClean="0"/>
              <a:t>Types of internal information sources</a:t>
            </a:r>
            <a:endParaRPr lang="en-US" sz="2000" dirty="0" smtClean="0"/>
          </a:p>
          <a:p>
            <a:pPr lvl="0">
              <a:spcBef>
                <a:spcPts val="600"/>
              </a:spcBef>
              <a:spcAft>
                <a:spcPts val="1200"/>
              </a:spcAft>
            </a:pPr>
            <a:r>
              <a:rPr lang="en-AU" sz="2000" dirty="0" smtClean="0"/>
              <a:t>Destination information previously collected</a:t>
            </a:r>
            <a:endParaRPr lang="en-US" sz="2000" dirty="0" smtClean="0"/>
          </a:p>
          <a:p>
            <a:pPr lvl="0">
              <a:spcBef>
                <a:spcPts val="600"/>
              </a:spcBef>
              <a:spcAft>
                <a:spcPts val="1200"/>
              </a:spcAft>
            </a:pPr>
            <a:r>
              <a:rPr lang="en-AU" sz="2000" dirty="0" smtClean="0"/>
              <a:t>Customer feedback information</a:t>
            </a:r>
            <a:endParaRPr lang="en-US" sz="2000" dirty="0" smtClean="0"/>
          </a:p>
          <a:p>
            <a:pPr lvl="0">
              <a:spcBef>
                <a:spcPts val="600"/>
              </a:spcBef>
              <a:spcAft>
                <a:spcPts val="1200"/>
              </a:spcAft>
            </a:pPr>
            <a:r>
              <a:rPr lang="en-AU" sz="2000" dirty="0" smtClean="0"/>
              <a:t>Automated information systems</a:t>
            </a:r>
            <a:endParaRPr lang="en-US" sz="2000" dirty="0" smtClean="0"/>
          </a:p>
          <a:p>
            <a:pPr lvl="0">
              <a:spcBef>
                <a:spcPts val="600"/>
              </a:spcBef>
              <a:spcAft>
                <a:spcPts val="1200"/>
              </a:spcAft>
            </a:pPr>
            <a:r>
              <a:rPr lang="en-AU" sz="2000" dirty="0" smtClean="0"/>
              <a:t>Computerised reservation systems</a:t>
            </a:r>
            <a:endParaRPr lang="en-US" sz="2000" dirty="0" smtClean="0"/>
          </a:p>
          <a:p>
            <a:pPr lvl="0">
              <a:spcBef>
                <a:spcPts val="600"/>
              </a:spcBef>
              <a:spcAft>
                <a:spcPts val="1200"/>
              </a:spcAft>
            </a:pPr>
            <a:r>
              <a:rPr lang="en-AU" sz="2000" dirty="0" smtClean="0"/>
              <a:t>Destinations and services inventories</a:t>
            </a:r>
            <a:endParaRPr lang="en-US" sz="2000" dirty="0" smtClean="0"/>
          </a:p>
          <a:p>
            <a:pPr>
              <a:spcBef>
                <a:spcPts val="600"/>
              </a:spcBef>
              <a:spcAft>
                <a:spcPts val="1200"/>
              </a:spcAft>
              <a:buNone/>
            </a:pPr>
            <a:endParaRPr lang="en-US" sz="2000" dirty="0" smtClean="0"/>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p>
          <a:p>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85</a:t>
            </a:fld>
            <a:endParaRPr lang="en-US" dirty="0">
              <a:latin typeface="Helvetica" pitchFamily="34" charset="0"/>
            </a:endParaRPr>
          </a:p>
        </p:txBody>
      </p:sp>
      <p:pic>
        <p:nvPicPr>
          <p:cNvPr id="7" name="Picture 6" descr="shutterstock_127785503.jpg"/>
          <p:cNvPicPr>
            <a:picLocks noChangeAspect="1"/>
          </p:cNvPicPr>
          <p:nvPr/>
        </p:nvPicPr>
        <p:blipFill>
          <a:blip r:embed="rId3" cstate="print"/>
          <a:stretch>
            <a:fillRect/>
          </a:stretch>
        </p:blipFill>
        <p:spPr>
          <a:xfrm>
            <a:off x="6444208" y="4077072"/>
            <a:ext cx="1979971" cy="1320113"/>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AU" sz="3400" b="1" dirty="0" smtClean="0">
                <a:solidFill>
                  <a:srgbClr val="FF6600"/>
                </a:solidFill>
                <a:latin typeface="Helvetica" pitchFamily="34" charset="0"/>
              </a:rPr>
              <a:t>Accessing external information </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000" b="1" dirty="0" smtClean="0"/>
              <a:t>Arrange to receive external information </a:t>
            </a:r>
            <a:endParaRPr lang="en-US" sz="2000" dirty="0" smtClean="0"/>
          </a:p>
          <a:p>
            <a:pPr lvl="0">
              <a:spcBef>
                <a:spcPts val="600"/>
              </a:spcBef>
              <a:spcAft>
                <a:spcPts val="1200"/>
              </a:spcAft>
            </a:pPr>
            <a:r>
              <a:rPr lang="en-AU" sz="2000" dirty="0" smtClean="0"/>
              <a:t>Telephoning targeted organisations</a:t>
            </a:r>
            <a:endParaRPr lang="en-US" sz="2000" dirty="0" smtClean="0"/>
          </a:p>
          <a:p>
            <a:pPr lvl="0">
              <a:spcBef>
                <a:spcPts val="600"/>
              </a:spcBef>
              <a:spcAft>
                <a:spcPts val="1200"/>
              </a:spcAft>
            </a:pPr>
            <a:r>
              <a:rPr lang="en-AU" sz="2000" dirty="0" smtClean="0"/>
              <a:t>Making face-to-face requests of staff that visit their office</a:t>
            </a:r>
            <a:endParaRPr lang="en-US" sz="2000" dirty="0" smtClean="0"/>
          </a:p>
          <a:p>
            <a:pPr lvl="0">
              <a:spcBef>
                <a:spcPts val="600"/>
              </a:spcBef>
              <a:spcAft>
                <a:spcPts val="1200"/>
              </a:spcAft>
            </a:pPr>
            <a:r>
              <a:rPr lang="en-AU" sz="2000" dirty="0" smtClean="0"/>
              <a:t>Making e-mail requests</a:t>
            </a:r>
            <a:endParaRPr lang="en-US" sz="2000" dirty="0" smtClean="0"/>
          </a:p>
          <a:p>
            <a:pPr lvl="0">
              <a:spcBef>
                <a:spcPts val="600"/>
              </a:spcBef>
              <a:spcAft>
                <a:spcPts val="1200"/>
              </a:spcAft>
            </a:pPr>
            <a:r>
              <a:rPr lang="en-AU" sz="2000" dirty="0" smtClean="0"/>
              <a:t>Registering to receive information, newsletters and up-dates.</a:t>
            </a:r>
            <a:endParaRPr lang="en-US" sz="2000" dirty="0" smtClean="0"/>
          </a:p>
          <a:p>
            <a:pPr lvl="0">
              <a:spcBef>
                <a:spcPts val="600"/>
              </a:spcBef>
              <a:spcAft>
                <a:spcPts val="1200"/>
              </a:spcAft>
            </a:pPr>
            <a:r>
              <a:rPr lang="en-AU" sz="2000" dirty="0" smtClean="0"/>
              <a:t>Paying to receive material</a:t>
            </a:r>
            <a:endParaRPr lang="en-US" sz="2000" dirty="0" smtClean="0"/>
          </a:p>
          <a:p>
            <a:pPr lvl="0">
              <a:spcBef>
                <a:spcPts val="600"/>
              </a:spcBef>
              <a:spcAft>
                <a:spcPts val="1200"/>
              </a:spcAft>
            </a:pPr>
            <a:r>
              <a:rPr lang="en-AU" sz="2000" dirty="0" smtClean="0"/>
              <a:t>Asking organisations to forward information</a:t>
            </a:r>
          </a:p>
          <a:p>
            <a:pPr lvl="0">
              <a:spcBef>
                <a:spcPts val="600"/>
              </a:spcBef>
              <a:spcAft>
                <a:spcPts val="1200"/>
              </a:spcAft>
            </a:pPr>
            <a:endParaRPr lang="en-AU" sz="2000" dirty="0" smtClean="0">
              <a:solidFill>
                <a:srgbClr val="FF6600"/>
              </a:solidFill>
            </a:endParaRPr>
          </a:p>
          <a:p>
            <a:pPr>
              <a:spcBef>
                <a:spcPts val="600"/>
              </a:spcBef>
              <a:spcAft>
                <a:spcPts val="1200"/>
              </a:spcAft>
              <a:buNone/>
            </a:pPr>
            <a:r>
              <a:rPr lang="en-AU" sz="2000" b="1" i="1" dirty="0" smtClean="0">
                <a:solidFill>
                  <a:srgbClr val="FF6600"/>
                </a:solidFill>
              </a:rPr>
              <a:t>COMPLETE ACTIVITY 7</a:t>
            </a:r>
          </a:p>
          <a:p>
            <a:pPr lvl="0">
              <a:spcBef>
                <a:spcPts val="600"/>
              </a:spcBef>
              <a:spcAft>
                <a:spcPts val="1200"/>
              </a:spcAft>
            </a:pPr>
            <a:endParaRPr lang="en-AU" sz="2000" dirty="0" smtClean="0"/>
          </a:p>
          <a:p>
            <a:pPr lvl="0">
              <a:spcBef>
                <a:spcPts val="600"/>
              </a:spcBef>
              <a:spcAft>
                <a:spcPts val="1200"/>
              </a:spcAft>
              <a:buNone/>
            </a:pPr>
            <a:endParaRPr lang="en-US" sz="2000" dirty="0" smtClean="0"/>
          </a:p>
          <a:p>
            <a:pPr marL="360000" indent="-360000">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86</a:t>
            </a:fld>
            <a:endParaRPr lang="en-US" dirty="0">
              <a:latin typeface="Helvetica" pitchFamily="34" charset="0"/>
            </a:endParaRPr>
          </a:p>
        </p:txBody>
      </p:sp>
      <p:pic>
        <p:nvPicPr>
          <p:cNvPr id="6" name="Picture 5" descr="shutterstock_122825338.jpg"/>
          <p:cNvPicPr/>
          <p:nvPr/>
        </p:nvPicPr>
        <p:blipFill>
          <a:blip r:embed="rId3" cstate="print"/>
          <a:stretch>
            <a:fillRect/>
          </a:stretch>
        </p:blipFill>
        <p:spPr>
          <a:xfrm>
            <a:off x="6588224" y="4437112"/>
            <a:ext cx="1800200" cy="1224136"/>
          </a:xfrm>
          <a:prstGeom prst="rect">
            <a:avLst/>
          </a:prstGeom>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Visit identified sources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pPr>
            <a:r>
              <a:rPr lang="en-AU" sz="2000" dirty="0" smtClean="0"/>
              <a:t>At times you may be required to visit identified sources </a:t>
            </a:r>
            <a:endParaRPr lang="en-US" sz="2000" dirty="0" smtClean="0"/>
          </a:p>
          <a:p>
            <a:pPr>
              <a:spcBef>
                <a:spcPts val="600"/>
              </a:spcBef>
              <a:spcAft>
                <a:spcPts val="1200"/>
              </a:spcAft>
            </a:pPr>
            <a:r>
              <a:rPr lang="en-AU" sz="2000" dirty="0" smtClean="0"/>
              <a:t>This opportunity to gather a first-hand understanding of the source, including key personnel who will be instrumental in sharing information is very beneficial</a:t>
            </a:r>
            <a:endParaRPr lang="en-US" sz="2000" dirty="0" smtClean="0"/>
          </a:p>
          <a:p>
            <a:endParaRPr lang="en-AU" sz="2000" b="1" dirty="0" smtClean="0"/>
          </a:p>
          <a:p>
            <a:endParaRPr lang="en-US" sz="2000" dirty="0" smtClean="0"/>
          </a:p>
          <a:p>
            <a:pPr>
              <a:spcBef>
                <a:spcPts val="600"/>
              </a:spcBef>
              <a:spcAft>
                <a:spcPts val="600"/>
              </a:spcAft>
            </a:pPr>
            <a:endParaRPr lang="en-US" sz="2000" b="1" dirty="0" smtClean="0"/>
          </a:p>
          <a:p>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87</a:t>
            </a:fld>
            <a:endParaRPr lang="en-US" dirty="0">
              <a:latin typeface="Helvetica" pitchFamily="34" charset="0"/>
            </a:endParaRPr>
          </a:p>
        </p:txBody>
      </p:sp>
      <p:pic>
        <p:nvPicPr>
          <p:cNvPr id="7" name="Picture 6" descr="shutterstock_152360924.jpg"/>
          <p:cNvPicPr/>
          <p:nvPr/>
        </p:nvPicPr>
        <p:blipFill>
          <a:blip r:embed="rId3" cstate="print"/>
          <a:stretch>
            <a:fillRect/>
          </a:stretch>
        </p:blipFill>
        <p:spPr>
          <a:xfrm>
            <a:off x="2915816" y="3501008"/>
            <a:ext cx="2160240" cy="1656184"/>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Visit identified sources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1800" b="1" dirty="0" smtClean="0"/>
              <a:t>Benefits of visiting identified sources </a:t>
            </a:r>
            <a:endParaRPr lang="en-US" sz="1800" dirty="0" smtClean="0"/>
          </a:p>
          <a:p>
            <a:pPr lvl="0">
              <a:spcBef>
                <a:spcPts val="600"/>
              </a:spcBef>
              <a:spcAft>
                <a:spcPts val="1200"/>
              </a:spcAft>
            </a:pPr>
            <a:r>
              <a:rPr lang="en-AU" sz="1800" dirty="0" smtClean="0"/>
              <a:t>Meet key personnel</a:t>
            </a:r>
            <a:endParaRPr lang="en-US" sz="1800" dirty="0" smtClean="0"/>
          </a:p>
          <a:p>
            <a:pPr lvl="0">
              <a:spcBef>
                <a:spcPts val="600"/>
              </a:spcBef>
              <a:spcAft>
                <a:spcPts val="1200"/>
              </a:spcAft>
            </a:pPr>
            <a:r>
              <a:rPr lang="en-AU" sz="1800" dirty="0" smtClean="0"/>
              <a:t>Talking with personnel to obtain, clarify, update and identify supplementary relevant information</a:t>
            </a:r>
            <a:endParaRPr lang="en-US" sz="1800" dirty="0" smtClean="0"/>
          </a:p>
          <a:p>
            <a:pPr lvl="0">
              <a:spcBef>
                <a:spcPts val="600"/>
              </a:spcBef>
              <a:spcAft>
                <a:spcPts val="1200"/>
              </a:spcAft>
            </a:pPr>
            <a:r>
              <a:rPr lang="en-AU" sz="1800" dirty="0" smtClean="0"/>
              <a:t>Gain an understanding of the operation</a:t>
            </a:r>
            <a:endParaRPr lang="en-US" sz="1800" dirty="0" smtClean="0"/>
          </a:p>
          <a:p>
            <a:pPr lvl="0">
              <a:spcBef>
                <a:spcPts val="600"/>
              </a:spcBef>
              <a:spcAft>
                <a:spcPts val="1200"/>
              </a:spcAft>
            </a:pPr>
            <a:r>
              <a:rPr lang="en-AU" sz="1800" dirty="0" smtClean="0"/>
              <a:t>Viewing operations and making personal observations</a:t>
            </a:r>
            <a:endParaRPr lang="en-US" sz="1800" dirty="0" smtClean="0"/>
          </a:p>
          <a:p>
            <a:pPr lvl="0">
              <a:spcBef>
                <a:spcPts val="600"/>
              </a:spcBef>
              <a:spcAft>
                <a:spcPts val="1200"/>
              </a:spcAft>
            </a:pPr>
            <a:r>
              <a:rPr lang="en-AU" sz="1800" dirty="0" smtClean="0"/>
              <a:t>Clarify and explain your request for information</a:t>
            </a:r>
            <a:endParaRPr lang="en-US" sz="1800" dirty="0" smtClean="0"/>
          </a:p>
          <a:p>
            <a:pPr lvl="0">
              <a:spcBef>
                <a:spcPts val="600"/>
              </a:spcBef>
              <a:spcAft>
                <a:spcPts val="1200"/>
              </a:spcAft>
            </a:pPr>
            <a:r>
              <a:rPr lang="en-AU" sz="1800" dirty="0" smtClean="0"/>
              <a:t>Receive electronic and hard copy files</a:t>
            </a:r>
            <a:br>
              <a:rPr lang="en-AU" sz="1800" dirty="0" smtClean="0"/>
            </a:br>
            <a:r>
              <a:rPr lang="en-AU" sz="1800" dirty="0" smtClean="0"/>
              <a:t>in a user friendly manner</a:t>
            </a:r>
            <a:endParaRPr lang="en-US" sz="1800" dirty="0" smtClean="0"/>
          </a:p>
          <a:p>
            <a:endParaRPr lang="en-AU" sz="1800" b="1" dirty="0" smtClean="0"/>
          </a:p>
          <a:p>
            <a:endParaRPr lang="en-US" sz="1800" dirty="0" smtClean="0"/>
          </a:p>
          <a:p>
            <a:pPr>
              <a:spcBef>
                <a:spcPts val="600"/>
              </a:spcBef>
              <a:spcAft>
                <a:spcPts val="600"/>
              </a:spcAft>
            </a:pPr>
            <a:endParaRPr lang="en-US" sz="1800" b="1" dirty="0" smtClean="0"/>
          </a:p>
          <a:p>
            <a:endParaRPr lang="en-US" sz="1800" b="1" dirty="0" smtClean="0"/>
          </a:p>
          <a:p>
            <a:pPr>
              <a:spcBef>
                <a:spcPts val="600"/>
              </a:spcBef>
              <a:spcAft>
                <a:spcPts val="1200"/>
              </a:spcAft>
              <a:buNone/>
            </a:pPr>
            <a:endParaRPr lang="en-US" sz="18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88</a:t>
            </a:fld>
            <a:endParaRPr lang="en-US" dirty="0">
              <a:latin typeface="Helvetica" pitchFamily="34" charset="0"/>
            </a:endParaRPr>
          </a:p>
        </p:txBody>
      </p:sp>
      <p:pic>
        <p:nvPicPr>
          <p:cNvPr id="6" name="Picture 5" descr="shutterstock_128200775.jpg"/>
          <p:cNvPicPr>
            <a:picLocks noChangeAspect="1"/>
          </p:cNvPicPr>
          <p:nvPr/>
        </p:nvPicPr>
        <p:blipFill>
          <a:blip r:embed="rId3" cstate="print"/>
          <a:stretch>
            <a:fillRect/>
          </a:stretch>
        </p:blipFill>
        <p:spPr>
          <a:xfrm>
            <a:off x="6300192" y="4365104"/>
            <a:ext cx="2052227" cy="1368152"/>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shutterstock_154527362.jpg"/>
          <p:cNvPicPr>
            <a:picLocks noChangeAspect="1"/>
          </p:cNvPicPr>
          <p:nvPr/>
        </p:nvPicPr>
        <p:blipFill>
          <a:blip r:embed="rId3" cstate="print"/>
          <a:stretch>
            <a:fillRect/>
          </a:stretch>
        </p:blipFill>
        <p:spPr>
          <a:xfrm>
            <a:off x="6049298" y="2780928"/>
            <a:ext cx="2267118" cy="1512168"/>
          </a:xfrm>
          <a:prstGeom prst="rect">
            <a:avLst/>
          </a:prstGeom>
        </p:spPr>
      </p:pic>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Visit identified sources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000" b="1" dirty="0" smtClean="0"/>
              <a:t>Benefits of visiting identified sources </a:t>
            </a:r>
            <a:endParaRPr lang="en-US" sz="2000" dirty="0" smtClean="0"/>
          </a:p>
          <a:p>
            <a:pPr lvl="0">
              <a:spcBef>
                <a:spcPts val="600"/>
              </a:spcBef>
              <a:spcAft>
                <a:spcPts val="1200"/>
              </a:spcAft>
            </a:pPr>
            <a:r>
              <a:rPr lang="en-AU" sz="2000" dirty="0" smtClean="0"/>
              <a:t>Reviewing additional information available at the source</a:t>
            </a:r>
            <a:endParaRPr lang="en-US" sz="2000" dirty="0" smtClean="0"/>
          </a:p>
          <a:p>
            <a:pPr lvl="0">
              <a:spcBef>
                <a:spcPts val="600"/>
              </a:spcBef>
              <a:spcAft>
                <a:spcPts val="1200"/>
              </a:spcAft>
            </a:pPr>
            <a:r>
              <a:rPr lang="en-AU" sz="2000" dirty="0" smtClean="0"/>
              <a:t>Get any questions answered</a:t>
            </a:r>
            <a:endParaRPr lang="en-US" sz="2000" dirty="0" smtClean="0"/>
          </a:p>
          <a:p>
            <a:pPr lvl="0">
              <a:spcBef>
                <a:spcPts val="600"/>
              </a:spcBef>
              <a:spcAft>
                <a:spcPts val="1200"/>
              </a:spcAft>
            </a:pPr>
            <a:r>
              <a:rPr lang="en-AU" sz="2000" dirty="0" smtClean="0"/>
              <a:t>Identify the potential of informational </a:t>
            </a:r>
            <a:br>
              <a:rPr lang="en-AU" sz="2000" dirty="0" smtClean="0"/>
            </a:br>
            <a:r>
              <a:rPr lang="en-AU" sz="2000" dirty="0" smtClean="0"/>
              <a:t>sources that can be utilised at a later date</a:t>
            </a:r>
            <a:endParaRPr lang="en-US" sz="2000" dirty="0" smtClean="0"/>
          </a:p>
          <a:p>
            <a:pPr lvl="0">
              <a:spcBef>
                <a:spcPts val="600"/>
              </a:spcBef>
              <a:spcAft>
                <a:spcPts val="1200"/>
              </a:spcAft>
            </a:pPr>
            <a:r>
              <a:rPr lang="en-AU" sz="2000" dirty="0" smtClean="0"/>
              <a:t>Recording interviews and taking photographs</a:t>
            </a:r>
            <a:br>
              <a:rPr lang="en-AU" sz="2000" dirty="0" smtClean="0"/>
            </a:br>
            <a:r>
              <a:rPr lang="en-AU" sz="2000" dirty="0" smtClean="0"/>
              <a:t>or other recorded images</a:t>
            </a:r>
          </a:p>
          <a:p>
            <a:pPr>
              <a:spcBef>
                <a:spcPts val="600"/>
              </a:spcBef>
              <a:spcAft>
                <a:spcPts val="1200"/>
              </a:spcAft>
              <a:buNone/>
            </a:pPr>
            <a:endParaRPr lang="en-AU" sz="2000" b="1" i="1" dirty="0" smtClean="0">
              <a:solidFill>
                <a:srgbClr val="FF6600"/>
              </a:solidFill>
            </a:endParaRPr>
          </a:p>
          <a:p>
            <a:pPr>
              <a:spcBef>
                <a:spcPts val="600"/>
              </a:spcBef>
              <a:spcAft>
                <a:spcPts val="1200"/>
              </a:spcAft>
              <a:buNone/>
            </a:pPr>
            <a:r>
              <a:rPr lang="en-AU" sz="2000" b="1" i="1" dirty="0" smtClean="0">
                <a:solidFill>
                  <a:srgbClr val="FF6600"/>
                </a:solidFill>
              </a:rPr>
              <a:t>COMPLETE ACTIVITY 8</a:t>
            </a:r>
          </a:p>
          <a:p>
            <a:pPr lvl="0">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p>
          <a:p>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89</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Establishing industry networks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000" b="1" dirty="0" smtClean="0"/>
              <a:t>Benefits of visiting identified sources </a:t>
            </a:r>
            <a:endParaRPr lang="en-US" sz="2000" dirty="0" smtClean="0"/>
          </a:p>
          <a:p>
            <a:pPr>
              <a:spcBef>
                <a:spcPts val="600"/>
              </a:spcBef>
              <a:spcAft>
                <a:spcPts val="1200"/>
              </a:spcAft>
            </a:pPr>
            <a:r>
              <a:rPr lang="en-AU" sz="2000" dirty="0" smtClean="0"/>
              <a:t>Developing your own industry network</a:t>
            </a:r>
            <a:endParaRPr lang="en-US" sz="2000" dirty="0" smtClean="0"/>
          </a:p>
          <a:p>
            <a:pPr>
              <a:spcBef>
                <a:spcPts val="600"/>
              </a:spcBef>
              <a:spcAft>
                <a:spcPts val="1200"/>
              </a:spcAft>
            </a:pPr>
            <a:r>
              <a:rPr lang="en-AU" sz="2000" dirty="0" smtClean="0"/>
              <a:t>Networking with industry colleagues</a:t>
            </a:r>
            <a:endParaRPr lang="en-US" sz="2000" dirty="0" smtClean="0"/>
          </a:p>
          <a:p>
            <a:pPr algn="ctr">
              <a:buNone/>
            </a:pPr>
            <a:endParaRPr lang="en-AU" sz="2000" b="1" dirty="0"/>
          </a:p>
          <a:p>
            <a:pPr>
              <a:buNone/>
            </a:pPr>
            <a:r>
              <a:rPr lang="en-AU" sz="2000" b="1" i="1" dirty="0" smtClean="0">
                <a:solidFill>
                  <a:srgbClr val="FF6600"/>
                </a:solidFill>
              </a:rPr>
              <a:t>			COMPLETE ACTIVITY 9</a:t>
            </a:r>
          </a:p>
          <a:p>
            <a:endParaRPr lang="en-US" sz="2000" dirty="0" smtClean="0"/>
          </a:p>
          <a:p>
            <a:pPr>
              <a:spcBef>
                <a:spcPts val="600"/>
              </a:spcBef>
              <a:spcAft>
                <a:spcPts val="600"/>
              </a:spcAft>
            </a:pPr>
            <a:endParaRPr lang="en-US" sz="2000" b="1" dirty="0" smtClean="0"/>
          </a:p>
          <a:p>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90</a:t>
            </a:fld>
            <a:endParaRPr lang="en-US" dirty="0">
              <a:latin typeface="Helvetica" pitchFamily="34" charset="0"/>
            </a:endParaRPr>
          </a:p>
        </p:txBody>
      </p:sp>
      <p:pic>
        <p:nvPicPr>
          <p:cNvPr id="6" name="Picture 5" descr="shutterstock_142657282.jpg"/>
          <p:cNvPicPr>
            <a:picLocks noChangeAspect="1"/>
          </p:cNvPicPr>
          <p:nvPr/>
        </p:nvPicPr>
        <p:blipFill>
          <a:blip r:embed="rId3" cstate="print"/>
          <a:stretch>
            <a:fillRect/>
          </a:stretch>
        </p:blipFill>
        <p:spPr>
          <a:xfrm>
            <a:off x="2771800" y="4242488"/>
            <a:ext cx="2316088" cy="1544831"/>
          </a:xfrm>
          <a:prstGeom prst="rect">
            <a:avLst/>
          </a:prstGeom>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6369" y="1411409"/>
            <a:ext cx="7848872" cy="4680520"/>
          </a:xfrm>
        </p:spPr>
        <p:txBody>
          <a:bodyPr>
            <a:normAutofit/>
          </a:bodyPr>
          <a:lstStyle/>
          <a:p>
            <a:pPr marL="0">
              <a:buNone/>
            </a:pPr>
            <a:r>
              <a:rPr lang="en-AU" sz="4000" b="1" dirty="0" smtClean="0">
                <a:solidFill>
                  <a:srgbClr val="FF6600"/>
                </a:solidFill>
                <a:latin typeface="Helvetica" pitchFamily="34" charset="0"/>
              </a:rPr>
              <a:t>Element 2:</a:t>
            </a:r>
          </a:p>
          <a:p>
            <a:pPr marL="0">
              <a:buNone/>
            </a:pPr>
            <a:r>
              <a:rPr lang="en-US" sz="4000" b="1" i="1" dirty="0">
                <a:solidFill>
                  <a:srgbClr val="FF6600"/>
                </a:solidFill>
              </a:rPr>
              <a:t>Update destination knowledge</a:t>
            </a:r>
            <a:endParaRPr lang="en-AU" sz="4000" b="1" i="1" dirty="0">
              <a:solidFill>
                <a:srgbClr val="FF6600"/>
              </a:solidFill>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91</a:t>
            </a:fld>
            <a:endParaRPr lang="en-US" dirty="0">
              <a:latin typeface="Helvetica" pitchFamily="34" charset="0"/>
            </a:endParaRPr>
          </a:p>
        </p:txBody>
      </p:sp>
      <p:pic>
        <p:nvPicPr>
          <p:cNvPr id="5" name="Picture 4" descr="Asia globe_100704052.jpg"/>
          <p:cNvPicPr>
            <a:picLocks noChangeAspect="1"/>
          </p:cNvPicPr>
          <p:nvPr/>
        </p:nvPicPr>
        <p:blipFill>
          <a:blip r:embed="rId3" cstate="print"/>
          <a:stretch>
            <a:fillRect/>
          </a:stretch>
        </p:blipFill>
        <p:spPr>
          <a:xfrm>
            <a:off x="2699792" y="3140968"/>
            <a:ext cx="2703003" cy="18002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400" b="1" dirty="0" smtClean="0">
                <a:solidFill>
                  <a:srgbClr val="FF6600"/>
                </a:solidFill>
                <a:latin typeface="Helvetica" pitchFamily="34" charset="0"/>
              </a:rPr>
              <a:t>Update destination knowledge</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525963"/>
          </a:xfrm>
        </p:spPr>
        <p:txBody>
          <a:bodyPr>
            <a:normAutofit/>
          </a:bodyPr>
          <a:lstStyle/>
          <a:p>
            <a:pPr marL="0" indent="0">
              <a:spcBef>
                <a:spcPts val="600"/>
              </a:spcBef>
              <a:spcAft>
                <a:spcPts val="1200"/>
              </a:spcAft>
              <a:buNone/>
            </a:pPr>
            <a:r>
              <a:rPr lang="en-AU" sz="2000" dirty="0" smtClean="0">
                <a:latin typeface="Helvetica" pitchFamily="34" charset="0"/>
              </a:rPr>
              <a:t>Performance Criteria for this Element are: </a:t>
            </a:r>
          </a:p>
          <a:p>
            <a:pPr>
              <a:spcBef>
                <a:spcPts val="600"/>
              </a:spcBef>
              <a:spcAft>
                <a:spcPts val="1200"/>
              </a:spcAft>
            </a:pPr>
            <a:r>
              <a:rPr lang="en-US" sz="2000" dirty="0" smtClean="0">
                <a:latin typeface="Helvetica" pitchFamily="34" charset="0"/>
              </a:rPr>
              <a:t>Register to receive updated destination information</a:t>
            </a:r>
          </a:p>
          <a:p>
            <a:pPr>
              <a:spcBef>
                <a:spcPts val="600"/>
              </a:spcBef>
              <a:spcAft>
                <a:spcPts val="1200"/>
              </a:spcAft>
            </a:pPr>
            <a:r>
              <a:rPr lang="en-US" sz="2000" dirty="0" smtClean="0">
                <a:latin typeface="Helvetica" pitchFamily="34" charset="0"/>
              </a:rPr>
              <a:t>Integrate updated information</a:t>
            </a:r>
            <a:r>
              <a:rPr lang="en-US" sz="2000" b="1" dirty="0" smtClean="0">
                <a:latin typeface="Helvetica" pitchFamily="34" charset="0"/>
              </a:rPr>
              <a:t> </a:t>
            </a:r>
            <a:r>
              <a:rPr lang="en-US" sz="2000" dirty="0" smtClean="0">
                <a:latin typeface="Helvetica" pitchFamily="34" charset="0"/>
              </a:rPr>
              <a:t>into existing destination information</a:t>
            </a:r>
          </a:p>
          <a:p>
            <a:pPr>
              <a:spcBef>
                <a:spcPts val="600"/>
              </a:spcBef>
              <a:spcAft>
                <a:spcPts val="1200"/>
              </a:spcAft>
            </a:pPr>
            <a:r>
              <a:rPr lang="en-US" sz="2000" dirty="0" smtClean="0">
                <a:latin typeface="Helvetica" pitchFamily="34" charset="0"/>
              </a:rPr>
              <a:t>Initiate new files</a:t>
            </a:r>
            <a:r>
              <a:rPr lang="en-US" sz="2000" b="1" dirty="0" smtClean="0">
                <a:latin typeface="Helvetica" pitchFamily="34" charset="0"/>
              </a:rPr>
              <a:t> </a:t>
            </a:r>
            <a:r>
              <a:rPr lang="en-US" sz="2000" dirty="0" smtClean="0">
                <a:latin typeface="Helvetica" pitchFamily="34" charset="0"/>
              </a:rPr>
              <a:t>for new information and/or new destinations</a:t>
            </a: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92</a:t>
            </a:fld>
            <a:endParaRPr lang="en-US" dirty="0">
              <a:latin typeface="Helvetica" pitchFamily="34" charset="0"/>
            </a:endParaRPr>
          </a:p>
        </p:txBody>
      </p:sp>
      <p:pic>
        <p:nvPicPr>
          <p:cNvPr id="5" name="Picture 4" descr="shutterstock_91170884.jpg"/>
          <p:cNvPicPr>
            <a:picLocks noChangeAspect="1"/>
          </p:cNvPicPr>
          <p:nvPr/>
        </p:nvPicPr>
        <p:blipFill>
          <a:blip r:embed="rId3" cstate="print"/>
          <a:stretch>
            <a:fillRect/>
          </a:stretch>
        </p:blipFill>
        <p:spPr>
          <a:xfrm>
            <a:off x="2915816" y="4255004"/>
            <a:ext cx="1910861" cy="1610856"/>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marL="0"/>
            <a:r>
              <a:rPr lang="en-AU" sz="3400" b="1" dirty="0" smtClean="0">
                <a:solidFill>
                  <a:srgbClr val="FF6600"/>
                </a:solidFill>
                <a:latin typeface="Helvetica" pitchFamily="34" charset="0"/>
              </a:rPr>
              <a:t>Register for destination information</a:t>
            </a: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000" b="1" dirty="0" smtClean="0"/>
              <a:t>Registering for information</a:t>
            </a:r>
            <a:endParaRPr lang="en-US" sz="2000" dirty="0" smtClean="0"/>
          </a:p>
          <a:p>
            <a:pPr>
              <a:spcBef>
                <a:spcPts val="600"/>
              </a:spcBef>
              <a:spcAft>
                <a:spcPts val="1200"/>
              </a:spcAft>
            </a:pPr>
            <a:r>
              <a:rPr lang="en-AU" sz="2000" dirty="0" smtClean="0"/>
              <a:t>Quite often you may need to gather more generic information relating to the industry as a whole, including any new laws, regulations, businesses or trends</a:t>
            </a:r>
          </a:p>
          <a:p>
            <a:pPr>
              <a:spcBef>
                <a:spcPts val="600"/>
              </a:spcBef>
              <a:spcAft>
                <a:spcPts val="1200"/>
              </a:spcAft>
            </a:pPr>
            <a:r>
              <a:rPr lang="en-AU" sz="2000" dirty="0" smtClean="0"/>
              <a:t>In order to access this information you will need to register to receive it</a:t>
            </a:r>
            <a:endParaRPr lang="en-US" sz="2000" dirty="0" smtClean="0"/>
          </a:p>
          <a:p>
            <a:endParaRPr lang="en-US" sz="2000"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93</a:t>
            </a:fld>
            <a:endParaRPr lang="en-US" dirty="0">
              <a:latin typeface="Helvetica" pitchFamily="34" charset="0"/>
            </a:endParaRPr>
          </a:p>
        </p:txBody>
      </p:sp>
      <p:pic>
        <p:nvPicPr>
          <p:cNvPr id="6" name="Picture 5" descr="A8 shutterstock_149513465.jpg"/>
          <p:cNvPicPr/>
          <p:nvPr/>
        </p:nvPicPr>
        <p:blipFill>
          <a:blip r:embed="rId3" cstate="print"/>
          <a:stretch>
            <a:fillRect/>
          </a:stretch>
        </p:blipFill>
        <p:spPr>
          <a:xfrm>
            <a:off x="6372200" y="4221088"/>
            <a:ext cx="2016224" cy="1512168"/>
          </a:xfrm>
          <a:prstGeom prst="rect">
            <a:avLst/>
          </a:prstGeom>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marL="0"/>
            <a:r>
              <a:rPr lang="en-AU" sz="3400" b="1" dirty="0" smtClean="0">
                <a:solidFill>
                  <a:srgbClr val="FF6600"/>
                </a:solidFill>
                <a:latin typeface="Helvetica" pitchFamily="34" charset="0"/>
              </a:rPr>
              <a:t>Register for destination information</a:t>
            </a: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000" b="1" dirty="0" smtClean="0"/>
              <a:t>Registering for information</a:t>
            </a:r>
            <a:endParaRPr lang="en-US" sz="2000" dirty="0" smtClean="0"/>
          </a:p>
          <a:p>
            <a:pPr>
              <a:spcBef>
                <a:spcPts val="600"/>
              </a:spcBef>
              <a:spcAft>
                <a:spcPts val="1200"/>
              </a:spcAft>
              <a:buNone/>
            </a:pPr>
            <a:r>
              <a:rPr lang="en-AU" sz="2000" dirty="0" smtClean="0"/>
              <a:t>Registering for industry information may include:</a:t>
            </a:r>
            <a:endParaRPr lang="en-US" sz="2000" dirty="0" smtClean="0"/>
          </a:p>
          <a:p>
            <a:pPr lvl="0">
              <a:spcBef>
                <a:spcPts val="600"/>
              </a:spcBef>
              <a:spcAft>
                <a:spcPts val="1200"/>
              </a:spcAft>
            </a:pPr>
            <a:r>
              <a:rPr lang="en-AU" sz="2000" dirty="0" smtClean="0"/>
              <a:t>Registering on-line </a:t>
            </a:r>
            <a:endParaRPr lang="en-US" sz="2000" dirty="0" smtClean="0"/>
          </a:p>
          <a:p>
            <a:pPr lvl="0">
              <a:spcBef>
                <a:spcPts val="600"/>
              </a:spcBef>
              <a:spcAft>
                <a:spcPts val="1200"/>
              </a:spcAft>
            </a:pPr>
            <a:r>
              <a:rPr lang="en-AU" sz="2000" dirty="0" smtClean="0"/>
              <a:t>Paying a fee </a:t>
            </a:r>
            <a:endParaRPr lang="en-US" sz="2000" dirty="0" smtClean="0"/>
          </a:p>
          <a:p>
            <a:pPr lvl="0">
              <a:spcBef>
                <a:spcPts val="600"/>
              </a:spcBef>
              <a:spcAft>
                <a:spcPts val="1200"/>
              </a:spcAft>
            </a:pPr>
            <a:r>
              <a:rPr lang="en-AU" sz="2000" dirty="0" smtClean="0"/>
              <a:t>Establishing required password and </a:t>
            </a:r>
            <a:br>
              <a:rPr lang="en-AU" sz="2000" dirty="0" smtClean="0"/>
            </a:br>
            <a:r>
              <a:rPr lang="en-AU" sz="2000" dirty="0" smtClean="0"/>
              <a:t>username, if required</a:t>
            </a:r>
            <a:endParaRPr lang="en-US" sz="2000" dirty="0" smtClean="0"/>
          </a:p>
          <a:p>
            <a:pPr lvl="0">
              <a:spcBef>
                <a:spcPts val="600"/>
              </a:spcBef>
              <a:spcAft>
                <a:spcPts val="600"/>
              </a:spcAft>
            </a:pPr>
            <a:endParaRPr lang="en-US" sz="2000" dirty="0" smtClean="0"/>
          </a:p>
          <a:p>
            <a:endParaRPr lang="en-US" sz="2000"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94</a:t>
            </a:fld>
            <a:endParaRPr lang="en-US" dirty="0">
              <a:latin typeface="Helvetica" pitchFamily="34" charset="0"/>
            </a:endParaRPr>
          </a:p>
        </p:txBody>
      </p:sp>
      <p:pic>
        <p:nvPicPr>
          <p:cNvPr id="7" name="Picture 6" descr="shutterstock_197170562.jpg"/>
          <p:cNvPicPr>
            <a:picLocks noChangeAspect="1"/>
          </p:cNvPicPr>
          <p:nvPr/>
        </p:nvPicPr>
        <p:blipFill>
          <a:blip r:embed="rId3" cstate="print"/>
          <a:stretch>
            <a:fillRect/>
          </a:stretch>
        </p:blipFill>
        <p:spPr>
          <a:xfrm>
            <a:off x="6732240" y="4149080"/>
            <a:ext cx="1706885" cy="1479870"/>
          </a:xfrm>
          <a:prstGeom prst="rect">
            <a:avLst/>
          </a:prstGeom>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marL="0"/>
            <a:r>
              <a:rPr lang="en-AU" sz="3400" b="1" dirty="0" smtClean="0">
                <a:solidFill>
                  <a:srgbClr val="FF6600"/>
                </a:solidFill>
                <a:latin typeface="Helvetica" pitchFamily="34" charset="0"/>
              </a:rPr>
              <a:t>Register for destination information</a:t>
            </a: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600"/>
              </a:spcAft>
              <a:buNone/>
            </a:pPr>
            <a:r>
              <a:rPr lang="en-AU" sz="2000" b="1" dirty="0" smtClean="0"/>
              <a:t>Registering for information</a:t>
            </a:r>
            <a:endParaRPr lang="en-US" sz="2000" dirty="0" smtClean="0"/>
          </a:p>
          <a:p>
            <a:pPr lvl="0">
              <a:spcBef>
                <a:spcPts val="600"/>
              </a:spcBef>
              <a:spcAft>
                <a:spcPts val="600"/>
              </a:spcAft>
            </a:pPr>
            <a:r>
              <a:rPr lang="en-AU" sz="2000" dirty="0" smtClean="0"/>
              <a:t>Lodging host enterprise details with product information source</a:t>
            </a:r>
            <a:endParaRPr lang="en-US" sz="2000" dirty="0" smtClean="0"/>
          </a:p>
          <a:p>
            <a:pPr lvl="0">
              <a:spcBef>
                <a:spcPts val="600"/>
              </a:spcBef>
              <a:spcAft>
                <a:spcPts val="600"/>
              </a:spcAft>
            </a:pPr>
            <a:r>
              <a:rPr lang="en-AU" sz="2000" dirty="0" smtClean="0"/>
              <a:t>Establishing the bona fides of the host enterprise</a:t>
            </a:r>
            <a:endParaRPr lang="en-US" sz="2000" dirty="0" smtClean="0"/>
          </a:p>
          <a:p>
            <a:pPr lvl="0">
              <a:spcBef>
                <a:spcPts val="600"/>
              </a:spcBef>
              <a:spcAft>
                <a:spcPts val="600"/>
              </a:spcAft>
            </a:pPr>
            <a:r>
              <a:rPr lang="en-AU" sz="2000" dirty="0" smtClean="0"/>
              <a:t>Joining an association or body in order to enable access</a:t>
            </a:r>
          </a:p>
          <a:p>
            <a:pPr lvl="0">
              <a:spcBef>
                <a:spcPts val="600"/>
              </a:spcBef>
              <a:spcAft>
                <a:spcPts val="600"/>
              </a:spcAft>
            </a:pPr>
            <a:endParaRPr lang="en-AU" sz="2000" dirty="0" smtClean="0"/>
          </a:p>
          <a:p>
            <a:pPr>
              <a:spcBef>
                <a:spcPts val="600"/>
              </a:spcBef>
              <a:spcAft>
                <a:spcPts val="600"/>
              </a:spcAft>
              <a:buNone/>
            </a:pPr>
            <a:r>
              <a:rPr lang="en-AU" sz="2000" dirty="0" smtClean="0">
                <a:solidFill>
                  <a:srgbClr val="FF6600"/>
                </a:solidFill>
              </a:rPr>
              <a:t>			</a:t>
            </a:r>
            <a:r>
              <a:rPr lang="en-AU" sz="2000" b="1" i="1" dirty="0" smtClean="0">
                <a:solidFill>
                  <a:srgbClr val="FF6600"/>
                </a:solidFill>
              </a:rPr>
              <a:t>COMPLETE ACTIVITY 10</a:t>
            </a:r>
          </a:p>
          <a:p>
            <a:pPr lvl="0">
              <a:spcBef>
                <a:spcPts val="600"/>
              </a:spcBef>
              <a:spcAft>
                <a:spcPts val="600"/>
              </a:spcAft>
            </a:pPr>
            <a:endParaRPr lang="en-AU" sz="2000" dirty="0" smtClean="0"/>
          </a:p>
          <a:p>
            <a:pPr lvl="0">
              <a:spcBef>
                <a:spcPts val="600"/>
              </a:spcBef>
              <a:spcAft>
                <a:spcPts val="600"/>
              </a:spcAft>
            </a:pPr>
            <a:endParaRPr lang="en-US" sz="2000" dirty="0" smtClean="0"/>
          </a:p>
          <a:p>
            <a:endParaRPr lang="en-US" sz="2000"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95</a:t>
            </a:fld>
            <a:endParaRPr lang="en-US" dirty="0">
              <a:latin typeface="Helvetica" pitchFamily="34" charset="0"/>
            </a:endParaRPr>
          </a:p>
        </p:txBody>
      </p:sp>
      <p:pic>
        <p:nvPicPr>
          <p:cNvPr id="6" name="Picture 5" descr="A22 shutterstock_182450381.jpg"/>
          <p:cNvPicPr>
            <a:picLocks noChangeAspect="1"/>
          </p:cNvPicPr>
          <p:nvPr/>
        </p:nvPicPr>
        <p:blipFill>
          <a:blip r:embed="rId3" cstate="print"/>
          <a:stretch>
            <a:fillRect/>
          </a:stretch>
        </p:blipFill>
        <p:spPr>
          <a:xfrm>
            <a:off x="2987824" y="4694873"/>
            <a:ext cx="2028056" cy="1354741"/>
          </a:xfrm>
          <a:prstGeom prst="rect">
            <a:avLst/>
          </a:prstGeom>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Capture and integrate destination information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000" b="1" dirty="0" smtClean="0"/>
              <a:t>Capturing and integrating information</a:t>
            </a:r>
            <a:endParaRPr lang="en-US" sz="2000" b="1" dirty="0" smtClean="0"/>
          </a:p>
          <a:p>
            <a:pPr marL="0">
              <a:spcBef>
                <a:spcPts val="600"/>
              </a:spcBef>
              <a:spcAft>
                <a:spcPts val="1200"/>
              </a:spcAft>
              <a:buNone/>
            </a:pPr>
            <a:r>
              <a:rPr lang="en-AU" sz="2000" dirty="0" smtClean="0"/>
              <a:t>Every tourism organisation will have their own method of handling destination information including:  </a:t>
            </a:r>
          </a:p>
          <a:p>
            <a:pPr>
              <a:spcBef>
                <a:spcPts val="600"/>
              </a:spcBef>
              <a:spcAft>
                <a:spcPts val="1200"/>
              </a:spcAft>
            </a:pPr>
            <a:r>
              <a:rPr lang="en-US" sz="2000" dirty="0" smtClean="0"/>
              <a:t>Capturing</a:t>
            </a:r>
          </a:p>
          <a:p>
            <a:pPr>
              <a:spcBef>
                <a:spcPts val="600"/>
              </a:spcBef>
              <a:spcAft>
                <a:spcPts val="1200"/>
              </a:spcAft>
            </a:pPr>
            <a:r>
              <a:rPr lang="en-US" sz="2000" dirty="0" smtClean="0"/>
              <a:t>Recording</a:t>
            </a:r>
          </a:p>
          <a:p>
            <a:pPr>
              <a:spcBef>
                <a:spcPts val="600"/>
              </a:spcBef>
              <a:spcAft>
                <a:spcPts val="1200"/>
              </a:spcAft>
            </a:pPr>
            <a:r>
              <a:rPr lang="en-US" sz="2000" dirty="0" smtClean="0"/>
              <a:t>Classifying</a:t>
            </a:r>
          </a:p>
          <a:p>
            <a:pPr>
              <a:spcBef>
                <a:spcPts val="600"/>
              </a:spcBef>
              <a:spcAft>
                <a:spcPts val="1200"/>
              </a:spcAft>
            </a:pPr>
            <a:r>
              <a:rPr lang="en-US" sz="2000" dirty="0" smtClean="0"/>
              <a:t>Integrating</a:t>
            </a:r>
          </a:p>
          <a:p>
            <a:endParaRPr lang="en-US" sz="2000" b="1" dirty="0" smtClean="0"/>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p>
          <a:p>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96</a:t>
            </a:fld>
            <a:endParaRPr lang="en-US" dirty="0">
              <a:latin typeface="Helvetica" pitchFamily="34" charset="0"/>
            </a:endParaRPr>
          </a:p>
        </p:txBody>
      </p:sp>
      <p:pic>
        <p:nvPicPr>
          <p:cNvPr id="7" name="Picture 6" descr="A15 shutterstock_173608850[1].JPG"/>
          <p:cNvPicPr/>
          <p:nvPr/>
        </p:nvPicPr>
        <p:blipFill>
          <a:blip r:embed="rId3" cstate="print"/>
          <a:stretch>
            <a:fillRect/>
          </a:stretch>
        </p:blipFill>
        <p:spPr>
          <a:xfrm>
            <a:off x="3257046" y="3284984"/>
            <a:ext cx="2160240" cy="1440160"/>
          </a:xfrm>
          <a:prstGeom prst="rect">
            <a:avLst/>
          </a:prstGeo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Capture and integrate destination information</a:t>
            </a: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000" b="1" dirty="0" smtClean="0">
                <a:latin typeface="Helvetica" pitchFamily="34" charset="0"/>
              </a:rPr>
              <a:t>Options for storing destination information</a:t>
            </a:r>
            <a:endParaRPr lang="en-US" sz="2000" dirty="0" smtClean="0">
              <a:latin typeface="Helvetica" pitchFamily="34" charset="0"/>
            </a:endParaRPr>
          </a:p>
          <a:p>
            <a:pPr>
              <a:spcBef>
                <a:spcPts val="600"/>
              </a:spcBef>
              <a:spcAft>
                <a:spcPts val="1200"/>
              </a:spcAft>
              <a:buNone/>
            </a:pPr>
            <a:r>
              <a:rPr lang="en-AU" sz="2000" dirty="0" smtClean="0">
                <a:latin typeface="Helvetica" pitchFamily="34" charset="0"/>
              </a:rPr>
              <a:t>Destination information inventory systems may be:</a:t>
            </a:r>
            <a:endParaRPr lang="en-US" sz="2000" b="1" dirty="0" smtClean="0">
              <a:latin typeface="Helvetica" pitchFamily="34" charset="0"/>
            </a:endParaRPr>
          </a:p>
          <a:p>
            <a:pPr lvl="0">
              <a:spcBef>
                <a:spcPts val="600"/>
              </a:spcBef>
              <a:spcAft>
                <a:spcPts val="1200"/>
              </a:spcAft>
            </a:pPr>
            <a:r>
              <a:rPr lang="en-AU" sz="2000" dirty="0" smtClean="0">
                <a:latin typeface="Helvetica" pitchFamily="34" charset="0"/>
              </a:rPr>
              <a:t>Manual filing systems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Computerised systems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Combination of the above</a:t>
            </a:r>
            <a:endParaRPr lang="en-US" sz="2000" dirty="0" smtClean="0">
              <a:latin typeface="Helvetica" pitchFamily="34" charset="0"/>
            </a:endParaRPr>
          </a:p>
          <a:p>
            <a:pPr>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97</a:t>
            </a:fld>
            <a:endParaRPr lang="en-US" dirty="0">
              <a:latin typeface="Helvetica" pitchFamily="34" charset="0"/>
            </a:endParaRPr>
          </a:p>
        </p:txBody>
      </p:sp>
      <p:pic>
        <p:nvPicPr>
          <p:cNvPr id="7" name="Picture 6" descr="A4 shutterstock_129113624.jpg"/>
          <p:cNvPicPr/>
          <p:nvPr/>
        </p:nvPicPr>
        <p:blipFill>
          <a:blip r:embed="rId3" cstate="print"/>
          <a:stretch>
            <a:fillRect/>
          </a:stretch>
        </p:blipFill>
        <p:spPr>
          <a:xfrm>
            <a:off x="4860032" y="2780928"/>
            <a:ext cx="1944216" cy="1440160"/>
          </a:xfrm>
          <a:prstGeom prst="rect">
            <a:avLst/>
          </a:prstGeom>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Capture and integrate destination information</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1800" b="1" dirty="0" smtClean="0"/>
              <a:t>Manual filing systems</a:t>
            </a:r>
            <a:endParaRPr lang="en-US" sz="1800" dirty="0" smtClean="0"/>
          </a:p>
          <a:p>
            <a:pPr>
              <a:spcBef>
                <a:spcPts val="600"/>
              </a:spcBef>
              <a:spcAft>
                <a:spcPts val="1200"/>
              </a:spcAft>
            </a:pPr>
            <a:r>
              <a:rPr lang="en-AU" sz="1800" dirty="0" smtClean="0"/>
              <a:t>Card reference systems</a:t>
            </a:r>
            <a:endParaRPr lang="en-US" sz="1800" dirty="0" smtClean="0"/>
          </a:p>
          <a:p>
            <a:pPr>
              <a:spcBef>
                <a:spcPts val="600"/>
              </a:spcBef>
              <a:spcAft>
                <a:spcPts val="1200"/>
              </a:spcAft>
            </a:pPr>
            <a:r>
              <a:rPr lang="en-AU" sz="1800" dirty="0" smtClean="0"/>
              <a:t>Files</a:t>
            </a:r>
          </a:p>
          <a:p>
            <a:pPr>
              <a:spcBef>
                <a:spcPts val="600"/>
              </a:spcBef>
              <a:spcAft>
                <a:spcPts val="1200"/>
              </a:spcAft>
            </a:pPr>
            <a:r>
              <a:rPr lang="en-AU" sz="1800" dirty="0" smtClean="0"/>
              <a:t>Public area displays</a:t>
            </a:r>
            <a:endParaRPr lang="en-US" sz="1800" dirty="0" smtClean="0"/>
          </a:p>
          <a:p>
            <a:pPr>
              <a:spcBef>
                <a:spcPts val="600"/>
              </a:spcBef>
              <a:spcAft>
                <a:spcPts val="1200"/>
              </a:spcAft>
            </a:pPr>
            <a:r>
              <a:rPr lang="en-AU" sz="1800" dirty="0" smtClean="0"/>
              <a:t>Back of house storage areas</a:t>
            </a:r>
            <a:endParaRPr lang="en-US" sz="1800" dirty="0" smtClean="0"/>
          </a:p>
          <a:p>
            <a:pPr>
              <a:spcBef>
                <a:spcPts val="600"/>
              </a:spcBef>
              <a:spcAft>
                <a:spcPts val="1200"/>
              </a:spcAft>
            </a:pPr>
            <a:r>
              <a:rPr lang="en-AU" sz="1800" dirty="0" smtClean="0"/>
              <a:t>Filing cabinets</a:t>
            </a:r>
          </a:p>
          <a:p>
            <a:pPr>
              <a:spcBef>
                <a:spcPts val="600"/>
              </a:spcBef>
              <a:spcAft>
                <a:spcPts val="1200"/>
              </a:spcAft>
            </a:pPr>
            <a:r>
              <a:rPr lang="en-AU" sz="1800" dirty="0" smtClean="0"/>
              <a:t>Personal information manual</a:t>
            </a:r>
            <a:endParaRPr lang="en-US" sz="1800" dirty="0" smtClean="0"/>
          </a:p>
          <a:p>
            <a:pPr>
              <a:spcBef>
                <a:spcPts val="600"/>
              </a:spcBef>
              <a:spcAft>
                <a:spcPts val="1200"/>
              </a:spcAft>
            </a:pPr>
            <a:r>
              <a:rPr lang="en-AU" sz="1800" dirty="0" smtClean="0"/>
              <a:t>Contact details of tourism businesses</a:t>
            </a:r>
          </a:p>
          <a:p>
            <a:pPr>
              <a:spcBef>
                <a:spcPts val="600"/>
              </a:spcBef>
              <a:spcAft>
                <a:spcPts val="1200"/>
              </a:spcAft>
            </a:pPr>
            <a:endParaRPr lang="en-AU" sz="800" dirty="0" smtClean="0">
              <a:solidFill>
                <a:srgbClr val="FF6600"/>
              </a:solidFill>
            </a:endParaRPr>
          </a:p>
          <a:p>
            <a:pPr>
              <a:spcBef>
                <a:spcPts val="600"/>
              </a:spcBef>
              <a:spcAft>
                <a:spcPts val="1200"/>
              </a:spcAft>
              <a:buNone/>
            </a:pPr>
            <a:r>
              <a:rPr lang="en-AU" sz="1800" b="1" i="1" dirty="0" smtClean="0">
                <a:solidFill>
                  <a:srgbClr val="FF6600"/>
                </a:solidFill>
              </a:rPr>
              <a:t>COMPLETE ACTIVITIES 11&amp;12</a:t>
            </a:r>
          </a:p>
          <a:p>
            <a:pPr>
              <a:spcBef>
                <a:spcPts val="600"/>
              </a:spcBef>
              <a:spcAft>
                <a:spcPts val="1200"/>
              </a:spcAft>
            </a:pPr>
            <a:endParaRPr lang="en-US" sz="1800" dirty="0" smtClean="0"/>
          </a:p>
          <a:p>
            <a:pPr>
              <a:spcBef>
                <a:spcPts val="600"/>
              </a:spcBef>
              <a:spcAft>
                <a:spcPts val="1200"/>
              </a:spcAft>
              <a:buNone/>
            </a:pPr>
            <a:endParaRPr lang="en-US" sz="1800" dirty="0" smtClean="0"/>
          </a:p>
          <a:p>
            <a:pPr>
              <a:spcBef>
                <a:spcPts val="600"/>
              </a:spcBef>
              <a:spcAft>
                <a:spcPts val="1200"/>
              </a:spcAft>
              <a:buNone/>
            </a:pPr>
            <a:endParaRPr lang="en-US" sz="18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98</a:t>
            </a:fld>
            <a:endParaRPr lang="en-US" dirty="0">
              <a:latin typeface="Helvetica" pitchFamily="34" charset="0"/>
            </a:endParaRPr>
          </a:p>
        </p:txBody>
      </p:sp>
      <p:pic>
        <p:nvPicPr>
          <p:cNvPr id="7" name="Picture 6" descr="shutterstock_100804075.jpg"/>
          <p:cNvPicPr/>
          <p:nvPr/>
        </p:nvPicPr>
        <p:blipFill>
          <a:blip r:embed="rId3" cstate="print"/>
          <a:stretch>
            <a:fillRect/>
          </a:stretch>
        </p:blipFill>
        <p:spPr>
          <a:xfrm>
            <a:off x="5292080" y="2780928"/>
            <a:ext cx="2061519" cy="144016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Capture and integrate destination information</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000" b="1" dirty="0" smtClean="0"/>
              <a:t>Computerised systems</a:t>
            </a:r>
            <a:endParaRPr lang="en-US" sz="2000" dirty="0" smtClean="0"/>
          </a:p>
          <a:p>
            <a:pPr marL="0">
              <a:spcBef>
                <a:spcPts val="600"/>
              </a:spcBef>
              <a:spcAft>
                <a:spcPts val="1200"/>
              </a:spcAft>
              <a:buNone/>
            </a:pPr>
            <a:r>
              <a:rPr lang="en-US" sz="2000" dirty="0" smtClean="0"/>
              <a:t>A Global Distribution System (GDS) is a network operated by a company that enables automated transactions between third parties and booking agents in order to provide travel-related services to the end consumers:</a:t>
            </a:r>
          </a:p>
          <a:p>
            <a:pPr>
              <a:spcBef>
                <a:spcPts val="600"/>
              </a:spcBef>
              <a:spcAft>
                <a:spcPts val="1200"/>
              </a:spcAft>
            </a:pPr>
            <a:r>
              <a:rPr lang="en-US" sz="2000" dirty="0" smtClean="0"/>
              <a:t>What are examples of GDS systems</a:t>
            </a:r>
            <a:endParaRPr lang="en-AU" sz="2000" dirty="0" smtClean="0"/>
          </a:p>
          <a:p>
            <a:pPr>
              <a:spcBef>
                <a:spcPts val="600"/>
              </a:spcBef>
              <a:spcAft>
                <a:spcPts val="1200"/>
              </a:spcAft>
            </a:pPr>
            <a:endParaRPr lang="en-US" sz="2000" dirty="0" smtClean="0"/>
          </a:p>
          <a:p>
            <a:pPr>
              <a:spcBef>
                <a:spcPts val="600"/>
              </a:spcBef>
              <a:spcAft>
                <a:spcPts val="1200"/>
              </a:spcAft>
              <a:buNone/>
            </a:pPr>
            <a:endParaRPr lang="en-US" sz="2000"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99</a:t>
            </a:fld>
            <a:endParaRPr lang="en-US" dirty="0">
              <a:latin typeface="Helvetica" pitchFamily="34" charset="0"/>
            </a:endParaRPr>
          </a:p>
        </p:txBody>
      </p:sp>
      <p:pic>
        <p:nvPicPr>
          <p:cNvPr id="6" name="Picture 5" descr="shutterstock_58679659.jpg"/>
          <p:cNvPicPr/>
          <p:nvPr/>
        </p:nvPicPr>
        <p:blipFill>
          <a:blip r:embed="rId3" cstate="print"/>
          <a:stretch>
            <a:fillRect/>
          </a:stretch>
        </p:blipFill>
        <p:spPr>
          <a:xfrm>
            <a:off x="2370802" y="4221088"/>
            <a:ext cx="2160240" cy="1440160"/>
          </a:xfrm>
          <a:prstGeom prst="rect">
            <a:avLst/>
          </a:prstGeom>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Capture and integrate destination information</a:t>
            </a:r>
          </a:p>
        </p:txBody>
      </p:sp>
      <p:sp>
        <p:nvSpPr>
          <p:cNvPr id="3" name="Content Placeholder 2"/>
          <p:cNvSpPr>
            <a:spLocks noGrp="1"/>
          </p:cNvSpPr>
          <p:nvPr>
            <p:ph idx="1"/>
          </p:nvPr>
        </p:nvSpPr>
        <p:spPr>
          <a:xfrm>
            <a:off x="611560" y="1772816"/>
            <a:ext cx="7467600" cy="5301208"/>
          </a:xfrm>
        </p:spPr>
        <p:txBody>
          <a:bodyPr>
            <a:normAutofit/>
          </a:bodyPr>
          <a:lstStyle/>
          <a:p>
            <a:pPr>
              <a:spcBef>
                <a:spcPts val="600"/>
              </a:spcBef>
              <a:spcAft>
                <a:spcPts val="1200"/>
              </a:spcAft>
              <a:buNone/>
            </a:pPr>
            <a:r>
              <a:rPr lang="en-US" sz="2000" b="1" dirty="0" smtClean="0"/>
              <a:t>Global Distribution Systems</a:t>
            </a:r>
          </a:p>
          <a:p>
            <a:pPr>
              <a:spcBef>
                <a:spcPts val="600"/>
              </a:spcBef>
              <a:spcAft>
                <a:spcPts val="1200"/>
              </a:spcAft>
              <a:buNone/>
            </a:pPr>
            <a:r>
              <a:rPr lang="en-AU" sz="2000" dirty="0" smtClean="0"/>
              <a:t>The major GDS systems include:</a:t>
            </a:r>
            <a:endParaRPr lang="en-US" sz="2000" dirty="0" smtClean="0"/>
          </a:p>
          <a:p>
            <a:pPr lvl="0">
              <a:spcBef>
                <a:spcPts val="600"/>
              </a:spcBef>
              <a:spcAft>
                <a:spcPts val="1200"/>
              </a:spcAft>
            </a:pPr>
            <a:r>
              <a:rPr lang="en-AU" sz="2000" dirty="0" smtClean="0"/>
              <a:t>Travelport (Galileo, &amp; Apollo)</a:t>
            </a:r>
            <a:endParaRPr lang="en-US" sz="2000" dirty="0" smtClean="0"/>
          </a:p>
          <a:p>
            <a:pPr lvl="0">
              <a:spcBef>
                <a:spcPts val="600"/>
              </a:spcBef>
              <a:spcAft>
                <a:spcPts val="1200"/>
              </a:spcAft>
            </a:pPr>
            <a:r>
              <a:rPr lang="en-AU" sz="2000" dirty="0" smtClean="0"/>
              <a:t>Travelport (Worldspan)</a:t>
            </a:r>
          </a:p>
          <a:p>
            <a:pPr lvl="0">
              <a:spcBef>
                <a:spcPts val="600"/>
              </a:spcBef>
              <a:spcAft>
                <a:spcPts val="1200"/>
              </a:spcAft>
            </a:pPr>
            <a:r>
              <a:rPr lang="en-AU" sz="2000" dirty="0" smtClean="0"/>
              <a:t>Amadeus</a:t>
            </a:r>
            <a:endParaRPr lang="en-US" sz="2000" dirty="0" smtClean="0"/>
          </a:p>
          <a:p>
            <a:pPr lvl="0">
              <a:spcBef>
                <a:spcPts val="600"/>
              </a:spcBef>
              <a:spcAft>
                <a:spcPts val="1200"/>
              </a:spcAft>
            </a:pPr>
            <a:r>
              <a:rPr lang="en-AU" sz="2000" dirty="0" smtClean="0"/>
              <a:t>Sabre</a:t>
            </a:r>
          </a:p>
          <a:p>
            <a:pPr lvl="0">
              <a:spcBef>
                <a:spcPts val="600"/>
              </a:spcBef>
              <a:spcAft>
                <a:spcPts val="1200"/>
              </a:spcAft>
            </a:pPr>
            <a:endParaRPr lang="en-AU" sz="2000" dirty="0" smtClean="0"/>
          </a:p>
          <a:p>
            <a:pPr>
              <a:spcBef>
                <a:spcPts val="600"/>
              </a:spcBef>
              <a:spcAft>
                <a:spcPts val="1200"/>
              </a:spcAft>
              <a:buNone/>
            </a:pPr>
            <a:r>
              <a:rPr lang="en-AU" sz="2000" b="1" i="1" dirty="0" smtClean="0">
                <a:solidFill>
                  <a:srgbClr val="FF6600"/>
                </a:solidFill>
              </a:rPr>
              <a:t>COMPLETE ACTIVITY 13</a:t>
            </a:r>
          </a:p>
          <a:p>
            <a:pPr lvl="0">
              <a:spcBef>
                <a:spcPts val="600"/>
              </a:spcBef>
              <a:spcAft>
                <a:spcPts val="1200"/>
              </a:spcAft>
            </a:pPr>
            <a:endParaRPr lang="en-US" sz="2000" dirty="0" smtClean="0"/>
          </a:p>
          <a:p>
            <a:pPr>
              <a:spcBef>
                <a:spcPts val="600"/>
              </a:spcBef>
              <a:spcAft>
                <a:spcPts val="1200"/>
              </a:spcAft>
            </a:pPr>
            <a:endParaRPr lang="en-US" sz="2000" dirty="0" smtClean="0"/>
          </a:p>
          <a:p>
            <a:pPr>
              <a:spcBef>
                <a:spcPts val="600"/>
              </a:spcBef>
              <a:spcAft>
                <a:spcPts val="1200"/>
              </a:spcAft>
              <a:buNone/>
            </a:pPr>
            <a:endParaRPr lang="en-US" sz="2000"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100</a:t>
            </a:fld>
            <a:endParaRPr lang="en-US" dirty="0">
              <a:latin typeface="Helvetica" pitchFamily="34" charset="0"/>
            </a:endParaRPr>
          </a:p>
        </p:txBody>
      </p:sp>
      <p:pic>
        <p:nvPicPr>
          <p:cNvPr id="7" name="Picture 6" descr="shutterstock_148857527.jpg"/>
          <p:cNvPicPr>
            <a:picLocks noChangeAspect="1"/>
          </p:cNvPicPr>
          <p:nvPr/>
        </p:nvPicPr>
        <p:blipFill>
          <a:blip r:embed="rId3" cstate="print"/>
          <a:stretch>
            <a:fillRect/>
          </a:stretch>
        </p:blipFill>
        <p:spPr>
          <a:xfrm>
            <a:off x="5292080" y="2908608"/>
            <a:ext cx="2279706" cy="1520564"/>
          </a:xfrm>
          <a:prstGeom prst="rect">
            <a:avLst/>
          </a:prstGeom>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Integrating and initiate destination information</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000" b="1" dirty="0" smtClean="0"/>
              <a:t>Integrating information</a:t>
            </a:r>
            <a:endParaRPr lang="en-US" sz="2000" b="1" dirty="0" smtClean="0"/>
          </a:p>
          <a:p>
            <a:pPr marL="0">
              <a:spcBef>
                <a:spcPts val="600"/>
              </a:spcBef>
              <a:spcAft>
                <a:spcPts val="1200"/>
              </a:spcAft>
              <a:buNone/>
            </a:pPr>
            <a:r>
              <a:rPr lang="en-AU" sz="2000" dirty="0" smtClean="0"/>
              <a:t>Whilst there may be vast amounts of destination information that may be of benefit, it is time to identify:</a:t>
            </a:r>
            <a:endParaRPr lang="en-US" sz="2000" dirty="0" smtClean="0"/>
          </a:p>
          <a:p>
            <a:pPr lvl="0">
              <a:spcBef>
                <a:spcPts val="600"/>
              </a:spcBef>
              <a:spcAft>
                <a:spcPts val="1200"/>
              </a:spcAft>
            </a:pPr>
            <a:r>
              <a:rPr lang="en-AU" sz="2000" dirty="0" smtClean="0"/>
              <a:t>Which pieces of information do not need to be communicated or not relevant?</a:t>
            </a:r>
            <a:endParaRPr lang="en-US" sz="2000" dirty="0" smtClean="0"/>
          </a:p>
          <a:p>
            <a:pPr lvl="0">
              <a:spcBef>
                <a:spcPts val="600"/>
              </a:spcBef>
              <a:spcAft>
                <a:spcPts val="1200"/>
              </a:spcAft>
            </a:pPr>
            <a:r>
              <a:rPr lang="en-AU" sz="2000" dirty="0" smtClean="0"/>
              <a:t>Which pieces or information are essential?</a:t>
            </a:r>
            <a:endParaRPr lang="en-US" sz="2000" dirty="0" smtClean="0"/>
          </a:p>
          <a:p>
            <a:pPr lvl="0">
              <a:spcBef>
                <a:spcPts val="600"/>
              </a:spcBef>
              <a:spcAft>
                <a:spcPts val="1200"/>
              </a:spcAft>
            </a:pPr>
            <a:r>
              <a:rPr lang="en-AU" sz="2000" dirty="0" smtClean="0"/>
              <a:t>Key points that need to be communicated</a:t>
            </a:r>
            <a:endParaRPr lang="en-US" sz="2000" dirty="0" smtClean="0"/>
          </a:p>
          <a:p>
            <a:pPr lvl="0">
              <a:spcBef>
                <a:spcPts val="600"/>
              </a:spcBef>
              <a:spcAft>
                <a:spcPts val="1200"/>
              </a:spcAft>
            </a:pPr>
            <a:r>
              <a:rPr lang="en-AU" sz="2000" dirty="0" smtClean="0"/>
              <a:t>The order of priority for communicating information</a:t>
            </a:r>
            <a:endParaRPr lang="en-US" sz="2000" dirty="0" smtClean="0"/>
          </a:p>
          <a:p>
            <a:pPr lvl="0">
              <a:spcBef>
                <a:spcPts val="600"/>
              </a:spcBef>
              <a:spcAft>
                <a:spcPts val="1200"/>
              </a:spcAft>
            </a:pPr>
            <a:r>
              <a:rPr lang="en-AU" sz="2000" dirty="0" smtClean="0"/>
              <a:t>How to structure the information</a:t>
            </a:r>
            <a:endParaRPr lang="en-US" sz="2000" dirty="0" smtClean="0"/>
          </a:p>
          <a:p>
            <a:pPr>
              <a:spcBef>
                <a:spcPts val="600"/>
              </a:spcBef>
              <a:spcAft>
                <a:spcPts val="1200"/>
              </a:spcAft>
            </a:pPr>
            <a:endParaRPr lang="en-US" sz="2000" b="1" dirty="0" smtClean="0"/>
          </a:p>
          <a:p>
            <a:pPr>
              <a:spcBef>
                <a:spcPts val="600"/>
              </a:spcBef>
              <a:spcAft>
                <a:spcPts val="1200"/>
              </a:spcAft>
              <a:buNone/>
            </a:pPr>
            <a:endParaRPr lang="en-US" sz="2000" dirty="0" smtClean="0"/>
          </a:p>
          <a:p>
            <a:pPr>
              <a:spcBef>
                <a:spcPts val="600"/>
              </a:spcBef>
              <a:spcAft>
                <a:spcPts val="1200"/>
              </a:spcAft>
            </a:pPr>
            <a:endParaRPr lang="en-AU" sz="2000" b="1" dirty="0" smtClean="0"/>
          </a:p>
          <a:p>
            <a:pPr>
              <a:spcBef>
                <a:spcPts val="600"/>
              </a:spcBef>
              <a:spcAft>
                <a:spcPts val="1200"/>
              </a:spcAft>
            </a:pPr>
            <a:endParaRPr lang="en-US" sz="2000" dirty="0" smtClean="0"/>
          </a:p>
          <a:p>
            <a:pPr>
              <a:spcBef>
                <a:spcPts val="600"/>
              </a:spcBef>
              <a:spcAft>
                <a:spcPts val="1200"/>
              </a:spcAft>
            </a:pPr>
            <a:endParaRPr lang="en-US" sz="2000" b="1" dirty="0" smtClean="0"/>
          </a:p>
          <a:p>
            <a:pPr>
              <a:spcBef>
                <a:spcPts val="600"/>
              </a:spcBef>
              <a:spcAft>
                <a:spcPts val="1200"/>
              </a:spcAft>
            </a:pPr>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101</a:t>
            </a:fld>
            <a:endParaRPr lang="en-US" dirty="0">
              <a:latin typeface="Helvetica" pitchFamily="34" charset="0"/>
            </a:endParaRPr>
          </a:p>
        </p:txBody>
      </p:sp>
      <p:pic>
        <p:nvPicPr>
          <p:cNvPr id="7" name="Picture 6" descr="shutterstock_170984318.jpg"/>
          <p:cNvPicPr/>
          <p:nvPr/>
        </p:nvPicPr>
        <p:blipFill>
          <a:blip r:embed="rId3" cstate="print"/>
          <a:stretch>
            <a:fillRect/>
          </a:stretch>
        </p:blipFill>
        <p:spPr>
          <a:xfrm>
            <a:off x="6732240" y="2852936"/>
            <a:ext cx="1512168" cy="1800200"/>
          </a:xfrm>
          <a:prstGeom prst="rect">
            <a:avLst/>
          </a:prstGeom>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Integrating and initiate destination information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728192"/>
            <a:ext cx="7467600" cy="5301208"/>
          </a:xfrm>
        </p:spPr>
        <p:txBody>
          <a:bodyPr>
            <a:normAutofit/>
          </a:bodyPr>
          <a:lstStyle/>
          <a:p>
            <a:pPr marL="0">
              <a:spcBef>
                <a:spcPts val="600"/>
              </a:spcBef>
              <a:spcAft>
                <a:spcPts val="1200"/>
              </a:spcAft>
              <a:buNone/>
            </a:pPr>
            <a:r>
              <a:rPr lang="en-AU" sz="2000" b="1" dirty="0" smtClean="0"/>
              <a:t>Tasks associated with integrating information into existing destination information </a:t>
            </a:r>
          </a:p>
          <a:p>
            <a:pPr marL="0">
              <a:spcBef>
                <a:spcPts val="600"/>
              </a:spcBef>
              <a:spcAft>
                <a:spcPts val="1200"/>
              </a:spcAft>
            </a:pPr>
            <a:r>
              <a:rPr lang="en-AU" sz="2000" dirty="0" smtClean="0"/>
              <a:t>Deleting dated information</a:t>
            </a:r>
            <a:endParaRPr lang="en-US" sz="2000" dirty="0" smtClean="0"/>
          </a:p>
          <a:p>
            <a:pPr lvl="0">
              <a:spcBef>
                <a:spcPts val="600"/>
              </a:spcBef>
              <a:spcAft>
                <a:spcPts val="1200"/>
              </a:spcAft>
            </a:pPr>
            <a:r>
              <a:rPr lang="en-AU" sz="2000" dirty="0" smtClean="0"/>
              <a:t>Deleting information files and folders no longer required</a:t>
            </a:r>
            <a:endParaRPr lang="en-US" sz="2000" dirty="0" smtClean="0"/>
          </a:p>
          <a:p>
            <a:pPr lvl="0">
              <a:spcBef>
                <a:spcPts val="600"/>
              </a:spcBef>
              <a:spcAft>
                <a:spcPts val="1200"/>
              </a:spcAft>
            </a:pPr>
            <a:r>
              <a:rPr lang="en-AU" sz="2000" dirty="0" smtClean="0"/>
              <a:t>Implementing version control procedures</a:t>
            </a:r>
            <a:endParaRPr lang="en-US" sz="2000" dirty="0" smtClean="0"/>
          </a:p>
          <a:p>
            <a:pPr lvl="0">
              <a:spcBef>
                <a:spcPts val="600"/>
              </a:spcBef>
              <a:spcAft>
                <a:spcPts val="1200"/>
              </a:spcAft>
            </a:pPr>
            <a:r>
              <a:rPr lang="en-AU" sz="2000" dirty="0" smtClean="0"/>
              <a:t>Up-dating relevant control index to reflect                        revised information files and folders</a:t>
            </a:r>
            <a:endParaRPr lang="en-US" sz="2000" dirty="0" smtClean="0"/>
          </a:p>
          <a:p>
            <a:endParaRPr lang="en-AU" sz="2000" b="1" dirty="0" smtClean="0"/>
          </a:p>
          <a:p>
            <a:endParaRPr lang="en-US" sz="2000" dirty="0" smtClean="0"/>
          </a:p>
          <a:p>
            <a:pPr>
              <a:spcBef>
                <a:spcPts val="600"/>
              </a:spcBef>
              <a:spcAft>
                <a:spcPts val="600"/>
              </a:spcAft>
            </a:pPr>
            <a:endParaRPr lang="en-US" sz="2000" b="1" dirty="0" smtClean="0"/>
          </a:p>
          <a:p>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102</a:t>
            </a:fld>
            <a:endParaRPr lang="en-US" dirty="0">
              <a:latin typeface="Helvetica" pitchFamily="34" charset="0"/>
            </a:endParaRPr>
          </a:p>
        </p:txBody>
      </p:sp>
      <p:pic>
        <p:nvPicPr>
          <p:cNvPr id="7" name="Picture 6" descr="shutterstock_118921213.jpg"/>
          <p:cNvPicPr>
            <a:picLocks noChangeAspect="1"/>
          </p:cNvPicPr>
          <p:nvPr/>
        </p:nvPicPr>
        <p:blipFill>
          <a:blip r:embed="rId3" cstate="print"/>
          <a:stretch>
            <a:fillRect/>
          </a:stretch>
        </p:blipFill>
        <p:spPr>
          <a:xfrm>
            <a:off x="6228184" y="4077072"/>
            <a:ext cx="2159161" cy="1440160"/>
          </a:xfrm>
          <a:prstGeom prst="rect">
            <a:avLst/>
          </a:prstGeom>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Integrating and initiate destination information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000" b="1" dirty="0" smtClean="0"/>
              <a:t>Tasks associated with integrating information into existing destination information </a:t>
            </a:r>
          </a:p>
          <a:p>
            <a:pPr lvl="0">
              <a:spcBef>
                <a:spcPts val="600"/>
              </a:spcBef>
              <a:spcAft>
                <a:spcPts val="1200"/>
              </a:spcAft>
            </a:pPr>
            <a:r>
              <a:rPr lang="en-AU" sz="2000" dirty="0" smtClean="0"/>
              <a:t>Adding data to identify date of last update</a:t>
            </a:r>
            <a:endParaRPr lang="en-US" sz="2000" dirty="0" smtClean="0"/>
          </a:p>
          <a:p>
            <a:pPr lvl="0">
              <a:spcBef>
                <a:spcPts val="600"/>
              </a:spcBef>
              <a:spcAft>
                <a:spcPts val="1200"/>
              </a:spcAft>
            </a:pPr>
            <a:r>
              <a:rPr lang="en-AU" sz="2000" dirty="0" smtClean="0"/>
              <a:t>Up-dating relevant control index to reflect new information files and folders</a:t>
            </a:r>
            <a:endParaRPr lang="en-US" sz="2000" dirty="0" smtClean="0"/>
          </a:p>
          <a:p>
            <a:pPr>
              <a:spcBef>
                <a:spcPts val="600"/>
              </a:spcBef>
              <a:spcAft>
                <a:spcPts val="1200"/>
              </a:spcAft>
            </a:pPr>
            <a:r>
              <a:rPr lang="en-AU" sz="2000" dirty="0" smtClean="0"/>
              <a:t>Informing colleagues of the presence of new information</a:t>
            </a:r>
            <a:endParaRPr lang="en-US" sz="2000" dirty="0" smtClean="0"/>
          </a:p>
          <a:p>
            <a:endParaRPr lang="en-AU" sz="2000" b="1" dirty="0" smtClean="0"/>
          </a:p>
          <a:p>
            <a:endParaRPr lang="en-US" sz="2000" dirty="0" smtClean="0"/>
          </a:p>
          <a:p>
            <a:pPr>
              <a:spcBef>
                <a:spcPts val="600"/>
              </a:spcBef>
              <a:spcAft>
                <a:spcPts val="600"/>
              </a:spcAft>
            </a:pPr>
            <a:endParaRPr lang="en-US" sz="2000" b="1" dirty="0" smtClean="0"/>
          </a:p>
          <a:p>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103</a:t>
            </a:fld>
            <a:endParaRPr lang="en-US" dirty="0">
              <a:latin typeface="Helvetica" pitchFamily="34" charset="0"/>
            </a:endParaRPr>
          </a:p>
        </p:txBody>
      </p:sp>
      <p:pic>
        <p:nvPicPr>
          <p:cNvPr id="5" name="Picture 4" descr="shutterstock_151230374.jpg"/>
          <p:cNvPicPr>
            <a:picLocks noChangeAspect="1"/>
          </p:cNvPicPr>
          <p:nvPr/>
        </p:nvPicPr>
        <p:blipFill>
          <a:blip r:embed="rId3" cstate="print"/>
          <a:stretch>
            <a:fillRect/>
          </a:stretch>
        </p:blipFill>
        <p:spPr>
          <a:xfrm>
            <a:off x="2819545" y="4365104"/>
            <a:ext cx="2159160" cy="144016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marL="0"/>
            <a:r>
              <a:rPr lang="en-AU" sz="3400" b="1" dirty="0" smtClean="0">
                <a:solidFill>
                  <a:srgbClr val="FF6600"/>
                </a:solidFill>
                <a:latin typeface="Helvetica" pitchFamily="34" charset="0"/>
              </a:rPr>
              <a:t>Identify destination information</a:t>
            </a: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000" b="1" dirty="0" smtClean="0">
                <a:latin typeface="Helvetica" pitchFamily="34" charset="0"/>
              </a:rPr>
              <a:t>Identify destination information</a:t>
            </a:r>
            <a:endParaRPr lang="en-US" sz="2000" b="1" dirty="0" smtClean="0">
              <a:latin typeface="Helvetica" pitchFamily="34" charset="0"/>
            </a:endParaRPr>
          </a:p>
          <a:p>
            <a:pPr marL="0">
              <a:spcBef>
                <a:spcPts val="600"/>
              </a:spcBef>
              <a:spcAft>
                <a:spcPts val="1200"/>
              </a:spcAft>
              <a:buNone/>
            </a:pPr>
            <a:r>
              <a:rPr lang="en-AU" sz="2000" dirty="0" smtClean="0">
                <a:latin typeface="Helvetica" pitchFamily="34" charset="0"/>
              </a:rPr>
              <a:t>Once you have integrated relevant destination, it is important to 'identify' and 'mark' the information so that is can be easily found for future use:</a:t>
            </a:r>
            <a:endParaRPr lang="en-US" sz="2000" dirty="0" smtClean="0">
              <a:latin typeface="Helvetica" pitchFamily="34" charset="0"/>
            </a:endParaRPr>
          </a:p>
          <a:p>
            <a:pPr>
              <a:spcBef>
                <a:spcPts val="600"/>
              </a:spcBef>
              <a:spcAft>
                <a:spcPts val="1200"/>
              </a:spcAft>
            </a:pPr>
            <a:r>
              <a:rPr lang="en-US" sz="2000" dirty="0" smtClean="0">
                <a:latin typeface="Helvetica" pitchFamily="34" charset="0"/>
              </a:rPr>
              <a:t>How can you ‘identify or mark’ information                            found for later use?</a:t>
            </a: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104</a:t>
            </a:fld>
            <a:endParaRPr lang="en-US" dirty="0">
              <a:latin typeface="Helvetica" pitchFamily="34" charset="0"/>
            </a:endParaRPr>
          </a:p>
        </p:txBody>
      </p:sp>
      <p:pic>
        <p:nvPicPr>
          <p:cNvPr id="7" name="Picture 6" descr="shutterstock_104278490.jpg"/>
          <p:cNvPicPr/>
          <p:nvPr/>
        </p:nvPicPr>
        <p:blipFill>
          <a:blip r:embed="rId3" cstate="print"/>
          <a:stretch>
            <a:fillRect/>
          </a:stretch>
        </p:blipFill>
        <p:spPr>
          <a:xfrm>
            <a:off x="2699792" y="4221088"/>
            <a:ext cx="2052716" cy="1459607"/>
          </a:xfrm>
          <a:prstGeom prst="rect">
            <a:avLst/>
          </a:prstGeom>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marL="0"/>
            <a:r>
              <a:rPr lang="en-AU" sz="3400" b="1" dirty="0" smtClean="0">
                <a:solidFill>
                  <a:srgbClr val="FF6600"/>
                </a:solidFill>
                <a:latin typeface="Helvetica" pitchFamily="34" charset="0"/>
              </a:rPr>
              <a:t>Identify destination information</a:t>
            </a: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000" b="1" dirty="0" smtClean="0">
                <a:latin typeface="Helvetica" pitchFamily="34" charset="0"/>
              </a:rPr>
              <a:t>Identify destination information</a:t>
            </a:r>
            <a:endParaRPr lang="en-US" sz="2000" b="1" dirty="0" smtClean="0">
              <a:latin typeface="Helvetica" pitchFamily="34" charset="0"/>
            </a:endParaRPr>
          </a:p>
          <a:p>
            <a:pPr>
              <a:spcBef>
                <a:spcPts val="600"/>
              </a:spcBef>
              <a:spcAft>
                <a:spcPts val="1200"/>
              </a:spcAft>
              <a:buNone/>
            </a:pPr>
            <a:r>
              <a:rPr lang="en-AU" sz="2000" dirty="0" smtClean="0">
                <a:latin typeface="Helvetica" pitchFamily="34" charset="0"/>
              </a:rPr>
              <a:t>Methods to identify relevant information includes:</a:t>
            </a:r>
            <a:endParaRPr lang="en-US" sz="2000" dirty="0" smtClean="0">
              <a:latin typeface="Helvetica" pitchFamily="34" charset="0"/>
            </a:endParaRPr>
          </a:p>
          <a:p>
            <a:pPr>
              <a:spcBef>
                <a:spcPts val="600"/>
              </a:spcBef>
              <a:spcAft>
                <a:spcPts val="1200"/>
              </a:spcAft>
            </a:pPr>
            <a:r>
              <a:rPr lang="en-AU" sz="2000" dirty="0" smtClean="0">
                <a:latin typeface="Helvetica" pitchFamily="34" charset="0"/>
              </a:rPr>
              <a:t>Book marking websites</a:t>
            </a:r>
            <a:endParaRPr lang="en-US" sz="2000" dirty="0" smtClean="0">
              <a:latin typeface="Helvetica" pitchFamily="34" charset="0"/>
            </a:endParaRPr>
          </a:p>
          <a:p>
            <a:pPr>
              <a:spcBef>
                <a:spcPts val="600"/>
              </a:spcBef>
              <a:spcAft>
                <a:spcPts val="1200"/>
              </a:spcAft>
            </a:pPr>
            <a:r>
              <a:rPr lang="en-AU" sz="2000" dirty="0" smtClean="0">
                <a:latin typeface="Helvetica" pitchFamily="34" charset="0"/>
              </a:rPr>
              <a:t>Recording sources in a project-specific index</a:t>
            </a:r>
            <a:endParaRPr lang="en-US" sz="2000" dirty="0" smtClean="0">
              <a:latin typeface="Helvetica" pitchFamily="34" charset="0"/>
            </a:endParaRPr>
          </a:p>
          <a:p>
            <a:pPr>
              <a:spcBef>
                <a:spcPts val="600"/>
              </a:spcBef>
              <a:spcAft>
                <a:spcPts val="1200"/>
              </a:spcAft>
            </a:pPr>
            <a:r>
              <a:rPr lang="en-AU" sz="2000" dirty="0" smtClean="0">
                <a:latin typeface="Helvetica" pitchFamily="34" charset="0"/>
              </a:rPr>
              <a:t>Copy and pasting key points into separate files</a:t>
            </a:r>
            <a:endParaRPr lang="en-US" sz="2000" dirty="0" smtClean="0">
              <a:latin typeface="Helvetica" pitchFamily="34" charset="0"/>
            </a:endParaRPr>
          </a:p>
          <a:p>
            <a:pPr>
              <a:spcBef>
                <a:spcPts val="600"/>
              </a:spcBef>
              <a:spcAft>
                <a:spcPts val="1200"/>
              </a:spcAft>
            </a:pPr>
            <a:r>
              <a:rPr lang="en-AU" sz="2000" dirty="0" smtClean="0">
                <a:latin typeface="Helvetica" pitchFamily="34" charset="0"/>
              </a:rPr>
              <a:t>Highlighting key information</a:t>
            </a:r>
            <a:endParaRPr lang="en-US" sz="2000" dirty="0" smtClean="0">
              <a:latin typeface="Helvetica" pitchFamily="34" charset="0"/>
            </a:endParaRPr>
          </a:p>
          <a:p>
            <a:pPr>
              <a:spcBef>
                <a:spcPts val="600"/>
              </a:spcBef>
              <a:spcAft>
                <a:spcPts val="1200"/>
              </a:spcAft>
            </a:pPr>
            <a:r>
              <a:rPr lang="en-AU" sz="2000" dirty="0" smtClean="0">
                <a:latin typeface="Helvetica" pitchFamily="34" charset="0"/>
              </a:rPr>
              <a:t>Filing documents in a logical order</a:t>
            </a:r>
          </a:p>
          <a:p>
            <a:pPr>
              <a:spcBef>
                <a:spcPts val="600"/>
              </a:spcBef>
              <a:spcAft>
                <a:spcPts val="1200"/>
              </a:spcAft>
              <a:buNone/>
            </a:pPr>
            <a:endParaRPr lang="en-AU" sz="2000" dirty="0" smtClean="0">
              <a:latin typeface="Helvetica" pitchFamily="34" charset="0"/>
            </a:endParaRPr>
          </a:p>
          <a:p>
            <a:pPr>
              <a:spcBef>
                <a:spcPts val="600"/>
              </a:spcBef>
              <a:spcAft>
                <a:spcPts val="1200"/>
              </a:spcAft>
              <a:buNone/>
            </a:pPr>
            <a:endParaRPr lang="en-US" sz="2000" dirty="0" smtClean="0">
              <a:latin typeface="Helvetica" pitchFamily="34" charset="0"/>
            </a:endParaRP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105</a:t>
            </a:fld>
            <a:endParaRPr lang="en-US" dirty="0">
              <a:latin typeface="Helvetica" pitchFamily="34" charset="0"/>
            </a:endParaRPr>
          </a:p>
        </p:txBody>
      </p:sp>
      <p:pic>
        <p:nvPicPr>
          <p:cNvPr id="5" name="Picture 4" descr="shutterstock_94053853.jpg"/>
          <p:cNvPicPr>
            <a:picLocks noChangeAspect="1"/>
          </p:cNvPicPr>
          <p:nvPr/>
        </p:nvPicPr>
        <p:blipFill>
          <a:blip r:embed="rId3" cstate="print"/>
          <a:stretch>
            <a:fillRect/>
          </a:stretch>
        </p:blipFill>
        <p:spPr>
          <a:xfrm>
            <a:off x="6588224" y="2636912"/>
            <a:ext cx="1584176" cy="2173080"/>
          </a:xfrm>
          <a:prstGeom prst="ellipse">
            <a:avLst/>
          </a:prstGeom>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268760"/>
            <a:ext cx="6840760" cy="4968552"/>
          </a:xfrm>
        </p:spPr>
        <p:txBody>
          <a:bodyPr>
            <a:normAutofit/>
          </a:bodyPr>
          <a:lstStyle/>
          <a:p>
            <a:pPr marL="0">
              <a:buNone/>
            </a:pPr>
            <a:r>
              <a:rPr lang="en-AU" sz="4000" b="1" dirty="0" smtClean="0">
                <a:solidFill>
                  <a:srgbClr val="FF6600"/>
                </a:solidFill>
                <a:latin typeface="Helvetica" pitchFamily="34" charset="0"/>
              </a:rPr>
              <a:t>Element 3:</a:t>
            </a:r>
          </a:p>
          <a:p>
            <a:pPr marL="0">
              <a:buNone/>
            </a:pPr>
            <a:r>
              <a:rPr lang="en-US" sz="4000" b="1" i="1" dirty="0">
                <a:solidFill>
                  <a:srgbClr val="FF6600"/>
                </a:solidFill>
              </a:rPr>
              <a:t>Communicate destination knowledge</a:t>
            </a:r>
            <a:endParaRPr lang="en-AU" sz="4000" b="1" i="1" dirty="0">
              <a:solidFill>
                <a:srgbClr val="FF6600"/>
              </a:solidFill>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106</a:t>
            </a:fld>
            <a:endParaRPr lang="en-US" dirty="0">
              <a:latin typeface="Helvetica" pitchFamily="34" charset="0"/>
            </a:endParaRPr>
          </a:p>
        </p:txBody>
      </p:sp>
      <p:pic>
        <p:nvPicPr>
          <p:cNvPr id="5" name="Picture 4" descr="shutterstock_181388396.jpg"/>
          <p:cNvPicPr>
            <a:picLocks noChangeAspect="1"/>
          </p:cNvPicPr>
          <p:nvPr/>
        </p:nvPicPr>
        <p:blipFill>
          <a:blip r:embed="rId3" cstate="print"/>
          <a:stretch>
            <a:fillRect/>
          </a:stretch>
        </p:blipFill>
        <p:spPr>
          <a:xfrm>
            <a:off x="2627783" y="3573016"/>
            <a:ext cx="2910503" cy="194421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a:r>
              <a:rPr lang="en-US" sz="3400" b="1" dirty="0" smtClean="0">
                <a:solidFill>
                  <a:srgbClr val="FF6600"/>
                </a:solidFill>
                <a:latin typeface="Helvetica" pitchFamily="34" charset="0"/>
              </a:rPr>
              <a:t>Communicate destination knowledge</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525963"/>
          </a:xfrm>
        </p:spPr>
        <p:txBody>
          <a:bodyPr>
            <a:normAutofit/>
          </a:bodyPr>
          <a:lstStyle/>
          <a:p>
            <a:pPr marL="0" indent="0">
              <a:spcBef>
                <a:spcPts val="600"/>
              </a:spcBef>
              <a:spcAft>
                <a:spcPts val="1200"/>
              </a:spcAft>
              <a:buNone/>
            </a:pPr>
            <a:r>
              <a:rPr lang="en-AU" sz="2000" dirty="0" smtClean="0">
                <a:latin typeface="Helvetica" pitchFamily="34" charset="0"/>
              </a:rPr>
              <a:t>Performance Criteria for this Element are: </a:t>
            </a:r>
          </a:p>
          <a:p>
            <a:pPr>
              <a:spcBef>
                <a:spcPts val="600"/>
              </a:spcBef>
              <a:spcAft>
                <a:spcPts val="1200"/>
              </a:spcAft>
            </a:pPr>
            <a:r>
              <a:rPr lang="en-US" sz="2000" dirty="0" smtClean="0">
                <a:latin typeface="Helvetica" pitchFamily="34" charset="0"/>
              </a:rPr>
              <a:t>Identify client and colleague needs relating to destination information that is required</a:t>
            </a:r>
          </a:p>
          <a:p>
            <a:pPr>
              <a:spcBef>
                <a:spcPts val="600"/>
              </a:spcBef>
              <a:spcAft>
                <a:spcPts val="1200"/>
              </a:spcAft>
            </a:pPr>
            <a:r>
              <a:rPr lang="en-US" sz="2000" dirty="0" smtClean="0">
                <a:latin typeface="Helvetica" pitchFamily="34" charset="0"/>
              </a:rPr>
              <a:t>Share destination information</a:t>
            </a:r>
          </a:p>
          <a:p>
            <a:pPr>
              <a:spcBef>
                <a:spcPts val="600"/>
              </a:spcBef>
              <a:spcAft>
                <a:spcPts val="1200"/>
              </a:spcAft>
            </a:pPr>
            <a:r>
              <a:rPr lang="en-US" sz="2000" dirty="0" smtClean="0">
                <a:latin typeface="Helvetica" pitchFamily="34" charset="0"/>
              </a:rPr>
              <a:t>Advise clients in relation to information about specific destinations</a:t>
            </a:r>
          </a:p>
          <a:p>
            <a:pPr>
              <a:spcBef>
                <a:spcPts val="600"/>
              </a:spcBef>
              <a:spcAft>
                <a:spcPts val="1200"/>
              </a:spcAft>
            </a:pPr>
            <a:r>
              <a:rPr lang="en-US" sz="2000" dirty="0" smtClean="0">
                <a:latin typeface="Helvetica" pitchFamily="34" charset="0"/>
              </a:rPr>
              <a:t>Present hard copy information to clients</a:t>
            </a: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107</a:t>
            </a:fld>
            <a:endParaRPr lang="en-US" dirty="0">
              <a:latin typeface="Helvetica" pitchFamily="34" charset="0"/>
            </a:endParaRPr>
          </a:p>
        </p:txBody>
      </p:sp>
      <p:pic>
        <p:nvPicPr>
          <p:cNvPr id="5" name="Picture 4" descr="shutterstock_134583104.jpg"/>
          <p:cNvPicPr>
            <a:picLocks noChangeAspect="1"/>
          </p:cNvPicPr>
          <p:nvPr/>
        </p:nvPicPr>
        <p:blipFill>
          <a:blip r:embed="rId3" cstate="print"/>
          <a:stretch>
            <a:fillRect/>
          </a:stretch>
        </p:blipFill>
        <p:spPr>
          <a:xfrm>
            <a:off x="6228184" y="4077072"/>
            <a:ext cx="2160240" cy="1440160"/>
          </a:xfrm>
          <a:prstGeom prst="rect">
            <a:avLst/>
          </a:prstGeom>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Share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US" sz="2000" b="1" dirty="0" smtClean="0"/>
              <a:t>Sharing destination information</a:t>
            </a:r>
          </a:p>
          <a:p>
            <a:pPr marL="0">
              <a:spcBef>
                <a:spcPts val="600"/>
              </a:spcBef>
              <a:spcAft>
                <a:spcPts val="1200"/>
              </a:spcAft>
              <a:buNone/>
            </a:pPr>
            <a:r>
              <a:rPr lang="en-US" sz="2000" dirty="0" smtClean="0"/>
              <a:t>It is essential that any information that you have collected, is shared with the people who may require that information.</a:t>
            </a:r>
          </a:p>
          <a:p>
            <a:pPr marL="0">
              <a:spcBef>
                <a:spcPts val="600"/>
              </a:spcBef>
              <a:spcAft>
                <a:spcPts val="1200"/>
              </a:spcAft>
              <a:buNone/>
            </a:pPr>
            <a:r>
              <a:rPr lang="en-US" sz="2000" dirty="0" smtClean="0"/>
              <a:t>This includes sharing updated destination information with:</a:t>
            </a:r>
          </a:p>
          <a:p>
            <a:pPr lvl="0">
              <a:spcBef>
                <a:spcPts val="600"/>
              </a:spcBef>
              <a:spcAft>
                <a:spcPts val="1200"/>
              </a:spcAft>
            </a:pPr>
            <a:r>
              <a:rPr lang="en-US" sz="2000" dirty="0" smtClean="0"/>
              <a:t>Colleagues</a:t>
            </a:r>
          </a:p>
          <a:p>
            <a:pPr lvl="0">
              <a:spcBef>
                <a:spcPts val="600"/>
              </a:spcBef>
              <a:spcAft>
                <a:spcPts val="1200"/>
              </a:spcAft>
            </a:pPr>
            <a:r>
              <a:rPr lang="en-US" sz="2000" dirty="0" smtClean="0"/>
              <a:t>Potential customers</a:t>
            </a:r>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108</a:t>
            </a:fld>
            <a:endParaRPr lang="en-US" dirty="0">
              <a:latin typeface="Helvetica" pitchFamily="34" charset="0"/>
            </a:endParaRPr>
          </a:p>
        </p:txBody>
      </p:sp>
      <p:pic>
        <p:nvPicPr>
          <p:cNvPr id="7" name="Picture 6" descr="W208_travelagent_shutterstock.jpg"/>
          <p:cNvPicPr/>
          <p:nvPr/>
        </p:nvPicPr>
        <p:blipFill>
          <a:blip r:embed="rId3" cstate="print"/>
          <a:stretch>
            <a:fillRect/>
          </a:stretch>
        </p:blipFill>
        <p:spPr>
          <a:xfrm>
            <a:off x="6588224" y="3933056"/>
            <a:ext cx="1872208" cy="1488459"/>
          </a:xfrm>
          <a:prstGeom prst="rect">
            <a:avLst/>
          </a:prstGeom>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Share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900"/>
              </a:spcAft>
              <a:buNone/>
            </a:pPr>
            <a:r>
              <a:rPr lang="en-AU" sz="1800" b="1" dirty="0" smtClean="0"/>
              <a:t>Share updated information with colleagues</a:t>
            </a:r>
            <a:endParaRPr lang="en-US" sz="1800" dirty="0" smtClean="0"/>
          </a:p>
          <a:p>
            <a:pPr lvl="0">
              <a:spcBef>
                <a:spcPts val="600"/>
              </a:spcBef>
              <a:spcAft>
                <a:spcPts val="900"/>
              </a:spcAft>
            </a:pPr>
            <a:r>
              <a:rPr lang="en-AU" sz="1800" dirty="0" smtClean="0"/>
              <a:t>On a one to one basis</a:t>
            </a:r>
            <a:endParaRPr lang="en-US" sz="1800" dirty="0" smtClean="0"/>
          </a:p>
          <a:p>
            <a:pPr lvl="0">
              <a:spcBef>
                <a:spcPts val="600"/>
              </a:spcBef>
              <a:spcAft>
                <a:spcPts val="900"/>
              </a:spcAft>
            </a:pPr>
            <a:r>
              <a:rPr lang="en-AU" sz="1800" dirty="0" smtClean="0"/>
              <a:t>At staff briefings</a:t>
            </a:r>
            <a:endParaRPr lang="en-US" sz="1800" dirty="0" smtClean="0"/>
          </a:p>
          <a:p>
            <a:pPr lvl="0">
              <a:spcBef>
                <a:spcPts val="600"/>
              </a:spcBef>
              <a:spcAft>
                <a:spcPts val="900"/>
              </a:spcAft>
            </a:pPr>
            <a:r>
              <a:rPr lang="en-AU" sz="1800" dirty="0" smtClean="0"/>
              <a:t>At staff meetings</a:t>
            </a:r>
            <a:endParaRPr lang="en-US" sz="1800" dirty="0" smtClean="0"/>
          </a:p>
          <a:p>
            <a:pPr lvl="0">
              <a:spcBef>
                <a:spcPts val="600"/>
              </a:spcBef>
              <a:spcAft>
                <a:spcPts val="900"/>
              </a:spcAft>
            </a:pPr>
            <a:r>
              <a:rPr lang="en-AU" sz="1800" dirty="0" smtClean="0"/>
              <a:t>E-mail co-workers</a:t>
            </a:r>
            <a:endParaRPr lang="en-US" sz="1800" dirty="0" smtClean="0"/>
          </a:p>
          <a:p>
            <a:pPr lvl="0">
              <a:spcBef>
                <a:spcPts val="600"/>
              </a:spcBef>
              <a:spcAft>
                <a:spcPts val="900"/>
              </a:spcAft>
            </a:pPr>
            <a:r>
              <a:rPr lang="en-AU" sz="1800" dirty="0" smtClean="0"/>
              <a:t>Update the internal systems</a:t>
            </a:r>
            <a:endParaRPr lang="en-US" sz="1800" dirty="0" smtClean="0"/>
          </a:p>
          <a:p>
            <a:pPr lvl="0">
              <a:spcBef>
                <a:spcPts val="600"/>
              </a:spcBef>
              <a:spcAft>
                <a:spcPts val="900"/>
              </a:spcAft>
            </a:pPr>
            <a:r>
              <a:rPr lang="en-AU" sz="1800" dirty="0" smtClean="0"/>
              <a:t>Replace and replenish internal displays </a:t>
            </a:r>
            <a:br>
              <a:rPr lang="en-AU" sz="1800" dirty="0" smtClean="0"/>
            </a:br>
            <a:r>
              <a:rPr lang="en-AU" sz="1800" dirty="0" smtClean="0"/>
              <a:t>information points</a:t>
            </a:r>
            <a:endParaRPr lang="en-US" sz="1800" dirty="0" smtClean="0"/>
          </a:p>
          <a:p>
            <a:pPr lvl="0">
              <a:spcBef>
                <a:spcPts val="600"/>
              </a:spcBef>
              <a:spcAft>
                <a:spcPts val="900"/>
              </a:spcAft>
            </a:pPr>
            <a:r>
              <a:rPr lang="en-AU" sz="1800" dirty="0" smtClean="0"/>
              <a:t>Arrange for a guest speaker</a:t>
            </a:r>
            <a:endParaRPr lang="en-US" sz="1800" dirty="0" smtClean="0"/>
          </a:p>
          <a:p>
            <a:pPr lvl="0">
              <a:spcBef>
                <a:spcPts val="600"/>
              </a:spcBef>
              <a:spcAft>
                <a:spcPts val="900"/>
              </a:spcAft>
            </a:pPr>
            <a:r>
              <a:rPr lang="en-AU" sz="1800" dirty="0" smtClean="0"/>
              <a:t>Arrange for staff to visit the venue</a:t>
            </a:r>
            <a:endParaRPr lang="en-US" sz="1800" dirty="0" smtClean="0"/>
          </a:p>
          <a:p>
            <a:pPr marL="0">
              <a:spcBef>
                <a:spcPts val="600"/>
              </a:spcBef>
              <a:spcAft>
                <a:spcPts val="1200"/>
              </a:spcAft>
            </a:pPr>
            <a:endParaRPr lang="en-AU" sz="1800" dirty="0" smtClean="0"/>
          </a:p>
          <a:p>
            <a:pPr marL="0">
              <a:spcBef>
                <a:spcPts val="600"/>
              </a:spcBef>
              <a:spcAft>
                <a:spcPts val="1200"/>
              </a:spcAft>
            </a:pPr>
            <a:endParaRPr lang="en-AU" sz="1800" dirty="0" smtClean="0"/>
          </a:p>
          <a:p>
            <a:pPr marL="0">
              <a:spcBef>
                <a:spcPts val="600"/>
              </a:spcBef>
              <a:spcAft>
                <a:spcPts val="1200"/>
              </a:spcAft>
            </a:pPr>
            <a:endParaRPr lang="en-AU" sz="1800" dirty="0" smtClean="0"/>
          </a:p>
          <a:p>
            <a:pPr marL="0">
              <a:spcBef>
                <a:spcPts val="600"/>
              </a:spcBef>
              <a:spcAft>
                <a:spcPts val="1200"/>
              </a:spcAft>
            </a:pPr>
            <a:endParaRPr lang="en-AU" sz="18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109</a:t>
            </a:fld>
            <a:endParaRPr lang="en-US" dirty="0">
              <a:latin typeface="Helvetica" pitchFamily="34" charset="0"/>
            </a:endParaRPr>
          </a:p>
        </p:txBody>
      </p:sp>
      <p:pic>
        <p:nvPicPr>
          <p:cNvPr id="6" name="Picture 5" descr="A17 shutterstock_179513282[1].JPG"/>
          <p:cNvPicPr/>
          <p:nvPr/>
        </p:nvPicPr>
        <p:blipFill>
          <a:blip r:embed="rId3" cstate="print"/>
          <a:stretch>
            <a:fillRect/>
          </a:stretch>
        </p:blipFill>
        <p:spPr>
          <a:xfrm>
            <a:off x="6300192" y="4005064"/>
            <a:ext cx="2177916" cy="1440160"/>
          </a:xfrm>
          <a:prstGeom prst="rect">
            <a:avLst/>
          </a:prstGeom>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Share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marL="0">
              <a:spcBef>
                <a:spcPts val="600"/>
              </a:spcBef>
              <a:spcAft>
                <a:spcPts val="1200"/>
              </a:spcAft>
              <a:buNone/>
            </a:pPr>
            <a:r>
              <a:rPr lang="en-AU" sz="2000" b="1" dirty="0" smtClean="0"/>
              <a:t>Considerations when sharing updated information with </a:t>
            </a:r>
            <a:r>
              <a:rPr lang="en-US" sz="2000" b="1" dirty="0" smtClean="0"/>
              <a:t>potential customers</a:t>
            </a:r>
            <a:endParaRPr lang="en-US" sz="2000" dirty="0" smtClean="0"/>
          </a:p>
          <a:p>
            <a:pPr lvl="0">
              <a:spcBef>
                <a:spcPts val="600"/>
              </a:spcBef>
              <a:spcAft>
                <a:spcPts val="1200"/>
              </a:spcAft>
            </a:pPr>
            <a:r>
              <a:rPr lang="en-AU" sz="2000" dirty="0" smtClean="0"/>
              <a:t>Location of the customer </a:t>
            </a:r>
          </a:p>
          <a:p>
            <a:pPr lvl="0">
              <a:spcBef>
                <a:spcPts val="600"/>
              </a:spcBef>
              <a:spcAft>
                <a:spcPts val="1200"/>
              </a:spcAft>
            </a:pPr>
            <a:r>
              <a:rPr lang="en-AU" sz="2000" dirty="0" smtClean="0"/>
              <a:t>Number of persons to receive quotation</a:t>
            </a:r>
          </a:p>
          <a:p>
            <a:pPr lvl="0">
              <a:spcBef>
                <a:spcPts val="600"/>
              </a:spcBef>
              <a:spcAft>
                <a:spcPts val="1200"/>
              </a:spcAft>
            </a:pPr>
            <a:r>
              <a:rPr lang="en-AU" sz="2000" dirty="0" smtClean="0"/>
              <a:t>Reliability of submission methods </a:t>
            </a:r>
          </a:p>
          <a:p>
            <a:pPr lvl="0">
              <a:spcBef>
                <a:spcPts val="600"/>
              </a:spcBef>
              <a:spcAft>
                <a:spcPts val="1200"/>
              </a:spcAft>
            </a:pPr>
            <a:r>
              <a:rPr lang="en-AU" sz="2000" dirty="0" smtClean="0"/>
              <a:t>Types of documentation required </a:t>
            </a:r>
          </a:p>
          <a:p>
            <a:pPr lvl="0">
              <a:spcBef>
                <a:spcPts val="600"/>
              </a:spcBef>
              <a:spcAft>
                <a:spcPts val="1200"/>
              </a:spcAft>
            </a:pPr>
            <a:r>
              <a:rPr lang="en-AU" sz="2000" dirty="0" smtClean="0"/>
              <a:t>Time frames required </a:t>
            </a:r>
          </a:p>
          <a:p>
            <a:pPr>
              <a:spcBef>
                <a:spcPts val="600"/>
              </a:spcBef>
              <a:spcAft>
                <a:spcPts val="1200"/>
              </a:spcAft>
            </a:pPr>
            <a:r>
              <a:rPr lang="en-AU" sz="2000" dirty="0" smtClean="0"/>
              <a:t>Costs </a:t>
            </a:r>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110</a:t>
            </a:fld>
            <a:endParaRPr lang="en-US" dirty="0">
              <a:latin typeface="Helvetica" pitchFamily="34" charset="0"/>
            </a:endParaRPr>
          </a:p>
        </p:txBody>
      </p:sp>
      <p:pic>
        <p:nvPicPr>
          <p:cNvPr id="5" name="Picture 4" descr="shutterstock_122942875.jpg"/>
          <p:cNvPicPr/>
          <p:nvPr/>
        </p:nvPicPr>
        <p:blipFill>
          <a:blip r:embed="rId3" cstate="print"/>
          <a:stretch>
            <a:fillRect/>
          </a:stretch>
        </p:blipFill>
        <p:spPr>
          <a:xfrm>
            <a:off x="6300192" y="4077072"/>
            <a:ext cx="2088232" cy="1512168"/>
          </a:xfrm>
          <a:prstGeom prst="rect">
            <a:avLst/>
          </a:prstGeom>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Share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000" b="1" dirty="0" smtClean="0">
                <a:latin typeface="Helvetica" pitchFamily="34" charset="0"/>
              </a:rPr>
              <a:t>Destination information submission methods</a:t>
            </a:r>
            <a:endParaRPr lang="en-US" sz="2000" dirty="0" smtClean="0">
              <a:latin typeface="Helvetica" pitchFamily="34" charset="0"/>
            </a:endParaRPr>
          </a:p>
          <a:p>
            <a:pPr marL="0">
              <a:spcBef>
                <a:spcPts val="600"/>
              </a:spcBef>
              <a:spcAft>
                <a:spcPts val="1200"/>
              </a:spcAft>
              <a:buNone/>
            </a:pPr>
            <a:r>
              <a:rPr lang="en-AU" sz="2000" dirty="0" smtClean="0">
                <a:latin typeface="Helvetica" pitchFamily="34" charset="0"/>
              </a:rPr>
              <a:t>Destination information can be provided to customers in one of the following ways: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Verbal explanation</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Provide hard copy materials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Provide electronic materials</a:t>
            </a:r>
            <a:endParaRPr lang="en-US" sz="2000" dirty="0" smtClean="0">
              <a:latin typeface="Helvetica" pitchFamily="34" charset="0"/>
            </a:endParaRPr>
          </a:p>
          <a:p>
            <a:pPr marL="0">
              <a:spcBef>
                <a:spcPts val="600"/>
              </a:spcBef>
              <a:spcAft>
                <a:spcPts val="1200"/>
              </a:spcAft>
            </a:pPr>
            <a:endParaRPr lang="en-AU"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111</a:t>
            </a:fld>
            <a:endParaRPr lang="en-US" dirty="0">
              <a:latin typeface="Helvetica" pitchFamily="34" charset="0"/>
            </a:endParaRPr>
          </a:p>
        </p:txBody>
      </p:sp>
      <p:pic>
        <p:nvPicPr>
          <p:cNvPr id="6" name="Picture 5" descr="W514_lady_sitting_smiling_185647358.jpg"/>
          <p:cNvPicPr>
            <a:picLocks noChangeAspect="1"/>
          </p:cNvPicPr>
          <p:nvPr/>
        </p:nvPicPr>
        <p:blipFill>
          <a:blip r:embed="rId3" cstate="print"/>
          <a:stretch>
            <a:fillRect/>
          </a:stretch>
        </p:blipFill>
        <p:spPr>
          <a:xfrm>
            <a:off x="5908549" y="3933056"/>
            <a:ext cx="2519772" cy="1679848"/>
          </a:xfrm>
          <a:prstGeom prst="rect">
            <a:avLst/>
          </a:prstGeom>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Providing verbal explanation</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000" b="1" dirty="0" smtClean="0"/>
              <a:t>Benefits of providing a verbal explanation</a:t>
            </a:r>
            <a:endParaRPr lang="en-US" sz="2000" dirty="0" smtClean="0"/>
          </a:p>
          <a:p>
            <a:pPr lvl="0">
              <a:spcBef>
                <a:spcPts val="600"/>
              </a:spcBef>
              <a:spcAft>
                <a:spcPts val="1200"/>
              </a:spcAft>
            </a:pPr>
            <a:r>
              <a:rPr lang="en-AU" sz="2000" dirty="0" smtClean="0"/>
              <a:t>Explain in more detail the key pieces of information in them</a:t>
            </a:r>
            <a:endParaRPr lang="en-US" sz="2000" dirty="0" smtClean="0"/>
          </a:p>
          <a:p>
            <a:pPr lvl="0">
              <a:spcBef>
                <a:spcPts val="600"/>
              </a:spcBef>
              <a:spcAft>
                <a:spcPts val="1200"/>
              </a:spcAft>
            </a:pPr>
            <a:r>
              <a:rPr lang="en-AU" sz="2000" dirty="0" smtClean="0"/>
              <a:t>Answer any questions customers may have</a:t>
            </a:r>
            <a:endParaRPr lang="en-US" sz="2000" dirty="0" smtClean="0"/>
          </a:p>
          <a:p>
            <a:pPr lvl="0">
              <a:spcBef>
                <a:spcPts val="600"/>
              </a:spcBef>
              <a:spcAft>
                <a:spcPts val="1200"/>
              </a:spcAft>
            </a:pPr>
            <a:r>
              <a:rPr lang="en-AU" sz="2000" dirty="0" smtClean="0"/>
              <a:t>Provide suggestions and recommendations</a:t>
            </a:r>
            <a:endParaRPr lang="en-US" sz="2000" dirty="0" smtClean="0"/>
          </a:p>
          <a:p>
            <a:pPr lvl="0">
              <a:spcBef>
                <a:spcPts val="600"/>
              </a:spcBef>
              <a:spcAft>
                <a:spcPts val="1200"/>
              </a:spcAft>
            </a:pPr>
            <a:r>
              <a:rPr lang="en-AU" sz="2000" dirty="0" smtClean="0"/>
              <a:t>Outline the processes associated with confirming and organising travel arrangements </a:t>
            </a:r>
            <a:endParaRPr lang="en-US" sz="2000" dirty="0" smtClean="0"/>
          </a:p>
          <a:p>
            <a:pPr lvl="0">
              <a:spcBef>
                <a:spcPts val="600"/>
              </a:spcBef>
              <a:spcAft>
                <a:spcPts val="1200"/>
              </a:spcAft>
            </a:pPr>
            <a:r>
              <a:rPr lang="en-AU" sz="2000" dirty="0" smtClean="0"/>
              <a:t>Guide them through the sales process</a:t>
            </a:r>
            <a:endParaRPr lang="en-US" sz="2000" dirty="0" smtClean="0"/>
          </a:p>
          <a:p>
            <a:pPr>
              <a:buNone/>
            </a:pPr>
            <a:endParaRPr lang="en-US" sz="2000" dirty="0" smtClean="0"/>
          </a:p>
          <a:p>
            <a:endParaRPr lang="en-US" sz="2000" b="1" dirty="0" smtClean="0"/>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p>
          <a:p>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112</a:t>
            </a:fld>
            <a:endParaRPr lang="en-US" dirty="0">
              <a:latin typeface="Helvetica" pitchFamily="34" charset="0"/>
            </a:endParaRPr>
          </a:p>
        </p:txBody>
      </p:sp>
      <p:pic>
        <p:nvPicPr>
          <p:cNvPr id="7" name="Picture 6" descr="shutterstock_141288652.jpg"/>
          <p:cNvPicPr/>
          <p:nvPr/>
        </p:nvPicPr>
        <p:blipFill>
          <a:blip r:embed="rId3" cstate="print"/>
          <a:stretch>
            <a:fillRect/>
          </a:stretch>
        </p:blipFill>
        <p:spPr>
          <a:xfrm>
            <a:off x="6516216" y="4365104"/>
            <a:ext cx="1872208" cy="1296144"/>
          </a:xfrm>
          <a:prstGeom prst="rect">
            <a:avLst/>
          </a:prstGeom>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Providing hard copy materials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600"/>
              </a:spcAft>
              <a:buNone/>
            </a:pPr>
            <a:r>
              <a:rPr lang="en-AU" sz="1800" b="1" dirty="0" smtClean="0"/>
              <a:t>Benefits of providing hard copy materials</a:t>
            </a:r>
            <a:endParaRPr lang="en-US" sz="1800" dirty="0" smtClean="0"/>
          </a:p>
          <a:p>
            <a:pPr lvl="0">
              <a:spcBef>
                <a:spcPts val="600"/>
              </a:spcBef>
              <a:spcAft>
                <a:spcPts val="600"/>
              </a:spcAft>
            </a:pPr>
            <a:r>
              <a:rPr lang="en-AU" sz="1800" dirty="0" smtClean="0"/>
              <a:t>Utilises an additional learning method</a:t>
            </a:r>
            <a:endParaRPr lang="en-US" sz="1800" dirty="0" smtClean="0"/>
          </a:p>
          <a:p>
            <a:pPr lvl="0">
              <a:spcBef>
                <a:spcPts val="600"/>
              </a:spcBef>
              <a:spcAft>
                <a:spcPts val="600"/>
              </a:spcAft>
            </a:pPr>
            <a:r>
              <a:rPr lang="en-AU" sz="1800" dirty="0" smtClean="0"/>
              <a:t>Provides comprehensive information</a:t>
            </a:r>
            <a:endParaRPr lang="en-US" sz="1800" dirty="0" smtClean="0"/>
          </a:p>
          <a:p>
            <a:pPr lvl="0">
              <a:spcBef>
                <a:spcPts val="600"/>
              </a:spcBef>
              <a:spcAft>
                <a:spcPts val="600"/>
              </a:spcAft>
            </a:pPr>
            <a:r>
              <a:rPr lang="en-AU" sz="1800" dirty="0" smtClean="0"/>
              <a:t>Provides appealing images</a:t>
            </a:r>
            <a:endParaRPr lang="en-US" sz="1800" dirty="0" smtClean="0"/>
          </a:p>
          <a:p>
            <a:pPr lvl="0">
              <a:spcBef>
                <a:spcPts val="600"/>
              </a:spcBef>
              <a:spcAft>
                <a:spcPts val="600"/>
              </a:spcAft>
            </a:pPr>
            <a:r>
              <a:rPr lang="en-AU" sz="1800" dirty="0" smtClean="0"/>
              <a:t>Provides information in its intended message</a:t>
            </a:r>
            <a:endParaRPr lang="en-US" sz="1800" dirty="0" smtClean="0"/>
          </a:p>
          <a:p>
            <a:pPr lvl="0">
              <a:spcBef>
                <a:spcPts val="600"/>
              </a:spcBef>
              <a:spcAft>
                <a:spcPts val="600"/>
              </a:spcAft>
            </a:pPr>
            <a:r>
              <a:rPr lang="en-AU" sz="1800" dirty="0" smtClean="0"/>
              <a:t>Enables the audience to review information at their own time and at their own pace</a:t>
            </a:r>
            <a:endParaRPr lang="en-US" sz="1800" dirty="0" smtClean="0"/>
          </a:p>
          <a:p>
            <a:pPr lvl="0">
              <a:spcBef>
                <a:spcPts val="600"/>
              </a:spcBef>
              <a:spcAft>
                <a:spcPts val="600"/>
              </a:spcAft>
            </a:pPr>
            <a:r>
              <a:rPr lang="en-AU" sz="1800" dirty="0" smtClean="0"/>
              <a:t>Enables information to be reviewed on multiple purposes</a:t>
            </a:r>
            <a:endParaRPr lang="en-US" sz="1800" dirty="0" smtClean="0"/>
          </a:p>
          <a:p>
            <a:pPr lvl="0">
              <a:spcBef>
                <a:spcPts val="600"/>
              </a:spcBef>
              <a:spcAft>
                <a:spcPts val="600"/>
              </a:spcAft>
            </a:pPr>
            <a:r>
              <a:rPr lang="en-AU" sz="1800" dirty="0" smtClean="0"/>
              <a:t>Enables the audience to show other people</a:t>
            </a:r>
            <a:br>
              <a:rPr lang="en-AU" sz="1800" dirty="0" smtClean="0"/>
            </a:br>
            <a:r>
              <a:rPr lang="en-AU" sz="1800" dirty="0" smtClean="0"/>
              <a:t>information as well</a:t>
            </a:r>
            <a:endParaRPr lang="en-US" sz="1800" dirty="0" smtClean="0"/>
          </a:p>
          <a:p>
            <a:pPr lvl="0">
              <a:spcBef>
                <a:spcPts val="600"/>
              </a:spcBef>
              <a:spcAft>
                <a:spcPts val="600"/>
              </a:spcAft>
            </a:pPr>
            <a:r>
              <a:rPr lang="en-AU" sz="1800" dirty="0" smtClean="0"/>
              <a:t>Enables audience to become familiar with content</a:t>
            </a:r>
            <a:endParaRPr lang="en-US" sz="1800" dirty="0" smtClean="0"/>
          </a:p>
          <a:p>
            <a:pPr>
              <a:buNone/>
            </a:pPr>
            <a:endParaRPr lang="en-US" sz="1800" dirty="0" smtClean="0"/>
          </a:p>
          <a:p>
            <a:endParaRPr lang="en-US" sz="1800" b="1" dirty="0" smtClean="0"/>
          </a:p>
          <a:p>
            <a:pPr>
              <a:spcBef>
                <a:spcPts val="600"/>
              </a:spcBef>
              <a:spcAft>
                <a:spcPts val="1200"/>
              </a:spcAft>
              <a:buNone/>
            </a:pPr>
            <a:endParaRPr lang="en-US" sz="1800" dirty="0" smtClean="0"/>
          </a:p>
          <a:p>
            <a:endParaRPr lang="en-AU" sz="1800" b="1" dirty="0" smtClean="0"/>
          </a:p>
          <a:p>
            <a:endParaRPr lang="en-US" sz="1800" dirty="0" smtClean="0"/>
          </a:p>
          <a:p>
            <a:pPr>
              <a:spcBef>
                <a:spcPts val="600"/>
              </a:spcBef>
              <a:spcAft>
                <a:spcPts val="600"/>
              </a:spcAft>
            </a:pPr>
            <a:endParaRPr lang="en-US" sz="1800" b="1" dirty="0" smtClean="0"/>
          </a:p>
          <a:p>
            <a:endParaRPr lang="en-US" sz="1800" b="1" dirty="0" smtClean="0"/>
          </a:p>
          <a:p>
            <a:pPr>
              <a:spcBef>
                <a:spcPts val="600"/>
              </a:spcBef>
              <a:spcAft>
                <a:spcPts val="1200"/>
              </a:spcAft>
              <a:buNone/>
            </a:pPr>
            <a:endParaRPr lang="en-US" sz="18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113</a:t>
            </a:fld>
            <a:endParaRPr lang="en-US" dirty="0">
              <a:latin typeface="Helvetica" pitchFamily="34" charset="0"/>
            </a:endParaRPr>
          </a:p>
        </p:txBody>
      </p:sp>
      <p:pic>
        <p:nvPicPr>
          <p:cNvPr id="6" name="Picture 5" descr="shutterstock_57319615.jpg"/>
          <p:cNvPicPr/>
          <p:nvPr/>
        </p:nvPicPr>
        <p:blipFill>
          <a:blip r:embed="rId3" cstate="print"/>
          <a:stretch>
            <a:fillRect/>
          </a:stretch>
        </p:blipFill>
        <p:spPr>
          <a:xfrm>
            <a:off x="5912777" y="1700808"/>
            <a:ext cx="2088232" cy="1512168"/>
          </a:xfrm>
          <a:prstGeom prst="rect">
            <a:avLst/>
          </a:prstGeom>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Providing hard copy materials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1800" b="1" dirty="0" smtClean="0"/>
              <a:t>Types of hard copy materials</a:t>
            </a:r>
            <a:endParaRPr lang="en-US" sz="1800" dirty="0" smtClean="0"/>
          </a:p>
          <a:p>
            <a:pPr lvl="0">
              <a:spcBef>
                <a:spcPts val="600"/>
              </a:spcBef>
              <a:spcAft>
                <a:spcPts val="1200"/>
              </a:spcAft>
            </a:pPr>
            <a:r>
              <a:rPr lang="en-AU" sz="1800" dirty="0" smtClean="0"/>
              <a:t>Reports</a:t>
            </a:r>
            <a:endParaRPr lang="en-US" sz="1800" dirty="0" smtClean="0"/>
          </a:p>
          <a:p>
            <a:pPr lvl="0">
              <a:spcBef>
                <a:spcPts val="600"/>
              </a:spcBef>
              <a:spcAft>
                <a:spcPts val="1200"/>
              </a:spcAft>
            </a:pPr>
            <a:r>
              <a:rPr lang="en-AU" sz="1800" dirty="0" smtClean="0"/>
              <a:t>B</a:t>
            </a:r>
            <a:r>
              <a:rPr lang="en-US" sz="1800" dirty="0" smtClean="0"/>
              <a:t>rochures</a:t>
            </a:r>
          </a:p>
          <a:p>
            <a:pPr lvl="0">
              <a:spcBef>
                <a:spcPts val="600"/>
              </a:spcBef>
              <a:spcAft>
                <a:spcPts val="1200"/>
              </a:spcAft>
            </a:pPr>
            <a:r>
              <a:rPr lang="en-US" sz="1800" dirty="0" smtClean="0"/>
              <a:t>Quotations</a:t>
            </a:r>
          </a:p>
          <a:p>
            <a:pPr lvl="0">
              <a:spcBef>
                <a:spcPts val="600"/>
              </a:spcBef>
              <a:spcAft>
                <a:spcPts val="1200"/>
              </a:spcAft>
            </a:pPr>
            <a:r>
              <a:rPr lang="en-US" sz="1800" dirty="0" smtClean="0"/>
              <a:t>Invitations</a:t>
            </a:r>
          </a:p>
          <a:p>
            <a:pPr lvl="0">
              <a:spcBef>
                <a:spcPts val="600"/>
              </a:spcBef>
              <a:spcAft>
                <a:spcPts val="1200"/>
              </a:spcAft>
            </a:pPr>
            <a:r>
              <a:rPr lang="en-US" sz="1800" dirty="0" smtClean="0"/>
              <a:t>Travel itineraries</a:t>
            </a:r>
          </a:p>
          <a:p>
            <a:pPr lvl="0">
              <a:spcBef>
                <a:spcPts val="600"/>
              </a:spcBef>
              <a:spcAft>
                <a:spcPts val="1200"/>
              </a:spcAft>
            </a:pPr>
            <a:r>
              <a:rPr lang="en-US" sz="1800" dirty="0" smtClean="0"/>
              <a:t>H</a:t>
            </a:r>
            <a:r>
              <a:rPr lang="en-AU" sz="1800" dirty="0" smtClean="0"/>
              <a:t>andouts</a:t>
            </a:r>
            <a:endParaRPr lang="en-US" sz="1800" dirty="0" smtClean="0"/>
          </a:p>
          <a:p>
            <a:pPr lvl="0">
              <a:spcBef>
                <a:spcPts val="600"/>
              </a:spcBef>
              <a:spcAft>
                <a:spcPts val="1200"/>
              </a:spcAft>
            </a:pPr>
            <a:r>
              <a:rPr lang="en-AU" sz="1800" dirty="0" smtClean="0"/>
              <a:t>Fact sheets</a:t>
            </a:r>
            <a:endParaRPr lang="en-US" sz="1800" dirty="0" smtClean="0"/>
          </a:p>
          <a:p>
            <a:pPr lvl="0">
              <a:spcBef>
                <a:spcPts val="600"/>
              </a:spcBef>
              <a:spcAft>
                <a:spcPts val="1200"/>
              </a:spcAft>
            </a:pPr>
            <a:r>
              <a:rPr lang="en-AU" sz="1800" dirty="0" smtClean="0"/>
              <a:t>Notes</a:t>
            </a:r>
            <a:endParaRPr lang="en-US" sz="1800" dirty="0" smtClean="0"/>
          </a:p>
          <a:p>
            <a:pPr>
              <a:buNone/>
            </a:pPr>
            <a:endParaRPr lang="en-US" sz="1800" dirty="0" smtClean="0"/>
          </a:p>
          <a:p>
            <a:endParaRPr lang="en-US" sz="1800" b="1" dirty="0" smtClean="0"/>
          </a:p>
          <a:p>
            <a:pPr>
              <a:spcBef>
                <a:spcPts val="600"/>
              </a:spcBef>
              <a:spcAft>
                <a:spcPts val="1200"/>
              </a:spcAft>
              <a:buNone/>
            </a:pPr>
            <a:endParaRPr lang="en-US" sz="1800" dirty="0" smtClean="0"/>
          </a:p>
          <a:p>
            <a:endParaRPr lang="en-AU" sz="1800" b="1" dirty="0" smtClean="0"/>
          </a:p>
          <a:p>
            <a:endParaRPr lang="en-US" sz="1800" dirty="0" smtClean="0"/>
          </a:p>
          <a:p>
            <a:pPr>
              <a:spcBef>
                <a:spcPts val="600"/>
              </a:spcBef>
              <a:spcAft>
                <a:spcPts val="600"/>
              </a:spcAft>
            </a:pPr>
            <a:endParaRPr lang="en-US" sz="1800" b="1" dirty="0" smtClean="0"/>
          </a:p>
          <a:p>
            <a:endParaRPr lang="en-US" sz="1800" b="1" dirty="0" smtClean="0"/>
          </a:p>
          <a:p>
            <a:pPr>
              <a:spcBef>
                <a:spcPts val="600"/>
              </a:spcBef>
              <a:spcAft>
                <a:spcPts val="1200"/>
              </a:spcAft>
              <a:buNone/>
            </a:pPr>
            <a:endParaRPr lang="en-US" sz="18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114</a:t>
            </a:fld>
            <a:endParaRPr lang="en-US" dirty="0">
              <a:latin typeface="Helvetica" pitchFamily="34" charset="0"/>
            </a:endParaRPr>
          </a:p>
        </p:txBody>
      </p:sp>
      <p:pic>
        <p:nvPicPr>
          <p:cNvPr id="7" name="Picture 6" descr="shutterstock_114659890.jpg"/>
          <p:cNvPicPr/>
          <p:nvPr/>
        </p:nvPicPr>
        <p:blipFill>
          <a:blip r:embed="rId3" cstate="print"/>
          <a:stretch>
            <a:fillRect/>
          </a:stretch>
        </p:blipFill>
        <p:spPr>
          <a:xfrm>
            <a:off x="3995936" y="2708920"/>
            <a:ext cx="2520280" cy="172819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Providing hard copy materials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83568" y="1556792"/>
            <a:ext cx="7467600" cy="5301208"/>
          </a:xfrm>
        </p:spPr>
        <p:txBody>
          <a:bodyPr>
            <a:normAutofit/>
          </a:bodyPr>
          <a:lstStyle/>
          <a:p>
            <a:pPr>
              <a:spcBef>
                <a:spcPts val="600"/>
              </a:spcBef>
              <a:spcAft>
                <a:spcPts val="1200"/>
              </a:spcAft>
              <a:buNone/>
            </a:pPr>
            <a:r>
              <a:rPr lang="en-AU" sz="2000" b="1" dirty="0" smtClean="0"/>
              <a:t>Types of hard copy materials</a:t>
            </a:r>
            <a:endParaRPr lang="en-US" sz="2000" dirty="0" smtClean="0"/>
          </a:p>
          <a:p>
            <a:pPr lvl="0">
              <a:spcBef>
                <a:spcPts val="600"/>
              </a:spcBef>
              <a:spcAft>
                <a:spcPts val="1200"/>
              </a:spcAft>
            </a:pPr>
            <a:r>
              <a:rPr lang="en-AU" sz="2000" dirty="0" smtClean="0"/>
              <a:t>Photocopies from policy manuals</a:t>
            </a:r>
            <a:endParaRPr lang="en-US" sz="2000" dirty="0" smtClean="0"/>
          </a:p>
          <a:p>
            <a:pPr lvl="0">
              <a:spcBef>
                <a:spcPts val="600"/>
              </a:spcBef>
              <a:spcAft>
                <a:spcPts val="1200"/>
              </a:spcAft>
            </a:pPr>
            <a:r>
              <a:rPr lang="en-AU" sz="2000" dirty="0" smtClean="0"/>
              <a:t>Texts</a:t>
            </a:r>
            <a:endParaRPr lang="en-US" sz="2000" dirty="0" smtClean="0"/>
          </a:p>
          <a:p>
            <a:pPr lvl="0">
              <a:spcBef>
                <a:spcPts val="600"/>
              </a:spcBef>
              <a:spcAft>
                <a:spcPts val="1200"/>
              </a:spcAft>
            </a:pPr>
            <a:r>
              <a:rPr lang="en-AU" sz="2000" dirty="0" smtClean="0"/>
              <a:t>Media articles</a:t>
            </a:r>
            <a:endParaRPr lang="en-US" sz="2000" dirty="0" smtClean="0"/>
          </a:p>
          <a:p>
            <a:pPr lvl="0">
              <a:spcBef>
                <a:spcPts val="600"/>
              </a:spcBef>
              <a:spcAft>
                <a:spcPts val="1200"/>
              </a:spcAft>
            </a:pPr>
            <a:r>
              <a:rPr lang="en-AU" sz="2000" dirty="0" smtClean="0"/>
              <a:t>Photographs</a:t>
            </a:r>
            <a:endParaRPr lang="en-US" sz="2000" dirty="0" smtClean="0"/>
          </a:p>
          <a:p>
            <a:pPr lvl="0">
              <a:spcBef>
                <a:spcPts val="600"/>
              </a:spcBef>
              <a:spcAft>
                <a:spcPts val="1200"/>
              </a:spcAft>
            </a:pPr>
            <a:r>
              <a:rPr lang="en-AU" sz="2000" dirty="0" smtClean="0"/>
              <a:t>Posters</a:t>
            </a:r>
            <a:endParaRPr lang="en-US" sz="2000" dirty="0" smtClean="0"/>
          </a:p>
          <a:p>
            <a:pPr lvl="0">
              <a:spcBef>
                <a:spcPts val="600"/>
              </a:spcBef>
              <a:spcAft>
                <a:spcPts val="1200"/>
              </a:spcAft>
            </a:pPr>
            <a:r>
              <a:rPr lang="en-AU" sz="2000" dirty="0" smtClean="0"/>
              <a:t>Flyers</a:t>
            </a:r>
            <a:endParaRPr lang="en-US" sz="2000" dirty="0" smtClean="0"/>
          </a:p>
          <a:p>
            <a:pPr lvl="0">
              <a:spcBef>
                <a:spcPts val="600"/>
              </a:spcBef>
              <a:spcAft>
                <a:spcPts val="1200"/>
              </a:spcAft>
            </a:pPr>
            <a:r>
              <a:rPr lang="en-AU" sz="2000" dirty="0" smtClean="0"/>
              <a:t>Marketing materials</a:t>
            </a:r>
            <a:endParaRPr lang="en-US" sz="2000" dirty="0" smtClean="0"/>
          </a:p>
          <a:p>
            <a:pPr lvl="0">
              <a:spcBef>
                <a:spcPts val="600"/>
              </a:spcBef>
              <a:spcAft>
                <a:spcPts val="1200"/>
              </a:spcAft>
            </a:pPr>
            <a:r>
              <a:rPr lang="en-AU" sz="2000" dirty="0" smtClean="0"/>
              <a:t>Financial statements</a:t>
            </a:r>
            <a:endParaRPr lang="en-US" sz="2000" dirty="0" smtClean="0"/>
          </a:p>
          <a:p>
            <a:pPr>
              <a:buNone/>
            </a:pPr>
            <a:endParaRPr lang="en-US" sz="2000" dirty="0" smtClean="0"/>
          </a:p>
          <a:p>
            <a:endParaRPr lang="en-US" sz="2000" b="1" dirty="0" smtClean="0"/>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p>
          <a:p>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115</a:t>
            </a:fld>
            <a:endParaRPr lang="en-US" dirty="0">
              <a:latin typeface="Helvetica" pitchFamily="34" charset="0"/>
            </a:endParaRPr>
          </a:p>
        </p:txBody>
      </p:sp>
      <p:pic>
        <p:nvPicPr>
          <p:cNvPr id="6" name="Picture 5" descr="shutterstock_147664379.jpg"/>
          <p:cNvPicPr/>
          <p:nvPr/>
        </p:nvPicPr>
        <p:blipFill>
          <a:blip r:embed="rId3" cstate="print"/>
          <a:stretch>
            <a:fillRect/>
          </a:stretch>
        </p:blipFill>
        <p:spPr>
          <a:xfrm>
            <a:off x="4788024" y="3140968"/>
            <a:ext cx="2304256" cy="1656184"/>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Providing electronic materials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1800" b="1" dirty="0" smtClean="0"/>
              <a:t>Benefits of distributing electronic materials</a:t>
            </a:r>
            <a:endParaRPr lang="en-US" sz="1800" dirty="0" smtClean="0"/>
          </a:p>
          <a:p>
            <a:pPr lvl="0">
              <a:spcBef>
                <a:spcPts val="600"/>
              </a:spcBef>
              <a:spcAft>
                <a:spcPts val="1200"/>
              </a:spcAft>
            </a:pPr>
            <a:r>
              <a:rPr lang="en-AU" sz="1800" dirty="0" smtClean="0"/>
              <a:t>Information can be shared instantaneously </a:t>
            </a:r>
            <a:endParaRPr lang="en-US" sz="1800" dirty="0" smtClean="0"/>
          </a:p>
          <a:p>
            <a:pPr lvl="0">
              <a:spcBef>
                <a:spcPts val="600"/>
              </a:spcBef>
              <a:spcAft>
                <a:spcPts val="1200"/>
              </a:spcAft>
            </a:pPr>
            <a:r>
              <a:rPr lang="en-AU" sz="1800" dirty="0" smtClean="0"/>
              <a:t>It guarantees the intended audience receives the information, unlike mail which may go missing</a:t>
            </a:r>
            <a:endParaRPr lang="en-US" sz="1800" dirty="0" smtClean="0"/>
          </a:p>
          <a:p>
            <a:pPr lvl="0">
              <a:spcBef>
                <a:spcPts val="600"/>
              </a:spcBef>
              <a:spcAft>
                <a:spcPts val="1200"/>
              </a:spcAft>
            </a:pPr>
            <a:r>
              <a:rPr lang="en-AU" sz="1800" dirty="0" smtClean="0"/>
              <a:t>It enables the sender to see who has received and read the information</a:t>
            </a:r>
            <a:endParaRPr lang="en-US" sz="1800" dirty="0" smtClean="0"/>
          </a:p>
          <a:p>
            <a:pPr lvl="0">
              <a:spcBef>
                <a:spcPts val="600"/>
              </a:spcBef>
              <a:spcAft>
                <a:spcPts val="1200"/>
              </a:spcAft>
            </a:pPr>
            <a:r>
              <a:rPr lang="en-AU" sz="1800" dirty="0" smtClean="0"/>
              <a:t>Information can be sent to numerous people</a:t>
            </a:r>
            <a:endParaRPr lang="en-US" sz="1800" dirty="0" smtClean="0"/>
          </a:p>
          <a:p>
            <a:pPr lvl="0">
              <a:spcBef>
                <a:spcPts val="600"/>
              </a:spcBef>
              <a:spcAft>
                <a:spcPts val="1200"/>
              </a:spcAft>
            </a:pPr>
            <a:r>
              <a:rPr lang="en-AU" sz="1800" dirty="0" smtClean="0"/>
              <a:t>Information can be sent securely enabling</a:t>
            </a:r>
            <a:br>
              <a:rPr lang="en-AU" sz="1800" dirty="0" smtClean="0"/>
            </a:br>
            <a:r>
              <a:rPr lang="en-AU" sz="1800" dirty="0" smtClean="0"/>
              <a:t>information to remain confidential</a:t>
            </a:r>
            <a:endParaRPr lang="en-US" sz="1800" dirty="0" smtClean="0"/>
          </a:p>
          <a:p>
            <a:pPr>
              <a:buNone/>
            </a:pPr>
            <a:endParaRPr lang="en-US" sz="1800" dirty="0" smtClean="0"/>
          </a:p>
          <a:p>
            <a:endParaRPr lang="en-US" sz="1800" b="1" dirty="0" smtClean="0"/>
          </a:p>
          <a:p>
            <a:pPr>
              <a:spcBef>
                <a:spcPts val="600"/>
              </a:spcBef>
              <a:spcAft>
                <a:spcPts val="1200"/>
              </a:spcAft>
              <a:buNone/>
            </a:pPr>
            <a:endParaRPr lang="en-US" sz="1800" dirty="0" smtClean="0"/>
          </a:p>
          <a:p>
            <a:endParaRPr lang="en-AU" sz="1800" b="1" dirty="0" smtClean="0"/>
          </a:p>
          <a:p>
            <a:endParaRPr lang="en-US" sz="1800" dirty="0" smtClean="0"/>
          </a:p>
          <a:p>
            <a:pPr>
              <a:spcBef>
                <a:spcPts val="600"/>
              </a:spcBef>
              <a:spcAft>
                <a:spcPts val="600"/>
              </a:spcAft>
            </a:pPr>
            <a:endParaRPr lang="en-US" sz="1800" b="1" dirty="0" smtClean="0"/>
          </a:p>
          <a:p>
            <a:endParaRPr lang="en-US" sz="1800" b="1" dirty="0" smtClean="0"/>
          </a:p>
          <a:p>
            <a:pPr>
              <a:spcBef>
                <a:spcPts val="600"/>
              </a:spcBef>
              <a:spcAft>
                <a:spcPts val="1200"/>
              </a:spcAft>
              <a:buNone/>
            </a:pPr>
            <a:endParaRPr lang="en-US" sz="18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116</a:t>
            </a:fld>
            <a:endParaRPr lang="en-US" dirty="0">
              <a:latin typeface="Helvetica" pitchFamily="34" charset="0"/>
            </a:endParaRPr>
          </a:p>
        </p:txBody>
      </p:sp>
      <p:pic>
        <p:nvPicPr>
          <p:cNvPr id="5" name="Picture 4" descr="shutterstock_141853249.jpg"/>
          <p:cNvPicPr>
            <a:picLocks noChangeAspect="1"/>
          </p:cNvPicPr>
          <p:nvPr/>
        </p:nvPicPr>
        <p:blipFill>
          <a:blip r:embed="rId3" cstate="print"/>
          <a:stretch>
            <a:fillRect/>
          </a:stretch>
        </p:blipFill>
        <p:spPr>
          <a:xfrm>
            <a:off x="6156176" y="4005064"/>
            <a:ext cx="2267118" cy="1512168"/>
          </a:xfrm>
          <a:prstGeom prst="rect">
            <a:avLst/>
          </a:prstGeom>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W298_globe_shutterstock_130580267.jpg"/>
          <p:cNvPicPr/>
          <p:nvPr/>
        </p:nvPicPr>
        <p:blipFill>
          <a:blip r:embed="rId3" cstate="print"/>
          <a:stretch>
            <a:fillRect/>
          </a:stretch>
        </p:blipFill>
        <p:spPr>
          <a:xfrm>
            <a:off x="6334699" y="2996952"/>
            <a:ext cx="2088232" cy="1728192"/>
          </a:xfrm>
          <a:prstGeom prst="ellipse">
            <a:avLst/>
          </a:prstGeom>
        </p:spPr>
      </p:pic>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Providing electronic materials</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1800" b="1" dirty="0" smtClean="0"/>
              <a:t>Benefits of distributing electronic materials</a:t>
            </a:r>
            <a:endParaRPr lang="en-US" sz="1800" dirty="0" smtClean="0"/>
          </a:p>
          <a:p>
            <a:pPr lvl="0">
              <a:spcBef>
                <a:spcPts val="600"/>
              </a:spcBef>
              <a:spcAft>
                <a:spcPts val="1200"/>
              </a:spcAft>
            </a:pPr>
            <a:r>
              <a:rPr lang="en-AU" sz="1800" dirty="0" smtClean="0"/>
              <a:t>It can be distributed to people around the world, regardless of location</a:t>
            </a:r>
            <a:endParaRPr lang="en-US" sz="1800" dirty="0" smtClean="0"/>
          </a:p>
          <a:p>
            <a:pPr lvl="0">
              <a:spcBef>
                <a:spcPts val="600"/>
              </a:spcBef>
              <a:spcAft>
                <a:spcPts val="1200"/>
              </a:spcAft>
            </a:pPr>
            <a:r>
              <a:rPr lang="en-AU" sz="1800" dirty="0" smtClean="0"/>
              <a:t>It is a cost effective method of distributing information</a:t>
            </a:r>
            <a:endParaRPr lang="en-US" sz="1800" dirty="0" smtClean="0"/>
          </a:p>
          <a:p>
            <a:pPr lvl="0">
              <a:spcBef>
                <a:spcPts val="600"/>
              </a:spcBef>
              <a:spcAft>
                <a:spcPts val="1200"/>
              </a:spcAft>
            </a:pPr>
            <a:r>
              <a:rPr lang="en-AU" sz="1800" dirty="0" smtClean="0"/>
              <a:t>It reduces storage space required </a:t>
            </a:r>
            <a:br>
              <a:rPr lang="en-AU" sz="1800" dirty="0" smtClean="0"/>
            </a:br>
            <a:r>
              <a:rPr lang="en-AU" sz="1800" dirty="0" smtClean="0"/>
              <a:t>for hard copy documents</a:t>
            </a:r>
            <a:endParaRPr lang="en-US" sz="1800" dirty="0" smtClean="0"/>
          </a:p>
          <a:p>
            <a:pPr lvl="0">
              <a:spcBef>
                <a:spcPts val="600"/>
              </a:spcBef>
              <a:spcAft>
                <a:spcPts val="1200"/>
              </a:spcAft>
            </a:pPr>
            <a:r>
              <a:rPr lang="en-AU" sz="1800" dirty="0" smtClean="0"/>
              <a:t>it can be stored in shared 'cloud' systems </a:t>
            </a:r>
            <a:br>
              <a:rPr lang="en-AU" sz="1800" dirty="0" smtClean="0"/>
            </a:br>
            <a:r>
              <a:rPr lang="en-AU" sz="1800" dirty="0" smtClean="0"/>
              <a:t>for access by many people</a:t>
            </a:r>
            <a:endParaRPr lang="en-US" sz="1800" dirty="0" smtClean="0"/>
          </a:p>
          <a:p>
            <a:pPr lvl="0">
              <a:spcBef>
                <a:spcPts val="600"/>
              </a:spcBef>
              <a:spcAft>
                <a:spcPts val="1200"/>
              </a:spcAft>
            </a:pPr>
            <a:r>
              <a:rPr lang="en-AU" sz="1800" dirty="0" smtClean="0"/>
              <a:t>Information stored in electronic systems can be updated easily</a:t>
            </a:r>
          </a:p>
          <a:p>
            <a:pPr lvl="0">
              <a:spcBef>
                <a:spcPts val="600"/>
              </a:spcBef>
              <a:spcAft>
                <a:spcPts val="1200"/>
              </a:spcAft>
            </a:pPr>
            <a:endParaRPr lang="en-AU" sz="1800" dirty="0" smtClean="0"/>
          </a:p>
          <a:p>
            <a:pPr>
              <a:spcBef>
                <a:spcPts val="600"/>
              </a:spcBef>
              <a:spcAft>
                <a:spcPts val="1200"/>
              </a:spcAft>
              <a:buNone/>
            </a:pPr>
            <a:r>
              <a:rPr lang="en-AU" sz="1800" b="1" i="1" dirty="0" smtClean="0">
                <a:solidFill>
                  <a:srgbClr val="FF6600"/>
                </a:solidFill>
              </a:rPr>
              <a:t>COMPLETE ACTIVITY 14</a:t>
            </a:r>
          </a:p>
          <a:p>
            <a:pPr lvl="0">
              <a:spcBef>
                <a:spcPts val="600"/>
              </a:spcBef>
              <a:spcAft>
                <a:spcPts val="1200"/>
              </a:spcAft>
              <a:buNone/>
            </a:pPr>
            <a:endParaRPr lang="en-US" sz="1800" dirty="0" smtClean="0"/>
          </a:p>
          <a:p>
            <a:pPr>
              <a:buNone/>
            </a:pPr>
            <a:endParaRPr lang="en-US" sz="1800" dirty="0" smtClean="0"/>
          </a:p>
          <a:p>
            <a:endParaRPr lang="en-US" sz="1800" b="1" dirty="0" smtClean="0"/>
          </a:p>
          <a:p>
            <a:pPr>
              <a:spcBef>
                <a:spcPts val="600"/>
              </a:spcBef>
              <a:spcAft>
                <a:spcPts val="1200"/>
              </a:spcAft>
              <a:buNone/>
            </a:pPr>
            <a:endParaRPr lang="en-US" sz="1800" dirty="0" smtClean="0"/>
          </a:p>
          <a:p>
            <a:endParaRPr lang="en-AU" sz="1800" b="1" dirty="0" smtClean="0"/>
          </a:p>
          <a:p>
            <a:endParaRPr lang="en-US" sz="1800" dirty="0" smtClean="0"/>
          </a:p>
          <a:p>
            <a:pPr>
              <a:spcBef>
                <a:spcPts val="600"/>
              </a:spcBef>
              <a:spcAft>
                <a:spcPts val="600"/>
              </a:spcAft>
            </a:pPr>
            <a:endParaRPr lang="en-US" sz="1800" b="1" dirty="0" smtClean="0"/>
          </a:p>
          <a:p>
            <a:endParaRPr lang="en-US" sz="1800" b="1" dirty="0" smtClean="0"/>
          </a:p>
          <a:p>
            <a:pPr>
              <a:spcBef>
                <a:spcPts val="600"/>
              </a:spcBef>
              <a:spcAft>
                <a:spcPts val="1200"/>
              </a:spcAft>
              <a:buNone/>
            </a:pPr>
            <a:endParaRPr lang="en-US" sz="18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117</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Present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000" b="1" dirty="0" smtClean="0"/>
              <a:t>Customer service basics when presenting information</a:t>
            </a:r>
            <a:endParaRPr lang="en-AU" sz="2000" dirty="0" smtClean="0"/>
          </a:p>
          <a:p>
            <a:pPr lvl="0">
              <a:spcBef>
                <a:spcPts val="600"/>
              </a:spcBef>
              <a:spcAft>
                <a:spcPts val="1200"/>
              </a:spcAft>
            </a:pPr>
            <a:r>
              <a:rPr lang="en-AU" sz="2000" dirty="0" smtClean="0"/>
              <a:t>Have comprehensive product knowledge </a:t>
            </a:r>
          </a:p>
          <a:p>
            <a:pPr lvl="0">
              <a:spcBef>
                <a:spcPts val="600"/>
              </a:spcBef>
              <a:spcAft>
                <a:spcPts val="1200"/>
              </a:spcAft>
            </a:pPr>
            <a:r>
              <a:rPr lang="en-AU" sz="2000" dirty="0" smtClean="0"/>
              <a:t>Remember to consider customer needs, wants and preferences </a:t>
            </a:r>
          </a:p>
          <a:p>
            <a:pPr lvl="0">
              <a:spcBef>
                <a:spcPts val="600"/>
              </a:spcBef>
              <a:spcAft>
                <a:spcPts val="1200"/>
              </a:spcAft>
            </a:pPr>
            <a:r>
              <a:rPr lang="en-AU" sz="2000" dirty="0" smtClean="0"/>
              <a:t>Ask questions </a:t>
            </a:r>
          </a:p>
          <a:p>
            <a:pPr lvl="0">
              <a:spcBef>
                <a:spcPts val="600"/>
              </a:spcBef>
              <a:spcAft>
                <a:spcPts val="1200"/>
              </a:spcAft>
            </a:pPr>
            <a:r>
              <a:rPr lang="en-AU" sz="2000" dirty="0" smtClean="0"/>
              <a:t>Be proactive </a:t>
            </a:r>
          </a:p>
          <a:p>
            <a:pPr lvl="0">
              <a:spcBef>
                <a:spcPts val="600"/>
              </a:spcBef>
              <a:spcAft>
                <a:spcPts val="1200"/>
              </a:spcAft>
            </a:pPr>
            <a:r>
              <a:rPr lang="en-AU" sz="2000" dirty="0" smtClean="0"/>
              <a:t>Provide information, recommendations,                            advice and suggestions that aligns with                                  identified customer need </a:t>
            </a:r>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118</a:t>
            </a:fld>
            <a:endParaRPr lang="en-US" dirty="0">
              <a:latin typeface="Helvetica" pitchFamily="34" charset="0"/>
            </a:endParaRPr>
          </a:p>
        </p:txBody>
      </p:sp>
      <p:pic>
        <p:nvPicPr>
          <p:cNvPr id="5" name="Picture 4" descr="shutterstock_128200763.jpg"/>
          <p:cNvPicPr/>
          <p:nvPr/>
        </p:nvPicPr>
        <p:blipFill>
          <a:blip r:embed="rId3" cstate="print"/>
          <a:stretch>
            <a:fillRect/>
          </a:stretch>
        </p:blipFill>
        <p:spPr>
          <a:xfrm>
            <a:off x="6300192" y="4005064"/>
            <a:ext cx="2088232" cy="1512168"/>
          </a:xfrm>
          <a:prstGeom prst="rect">
            <a:avLst/>
          </a:prstGeom>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r>
              <a:rPr lang="en-US" sz="3400" b="1" dirty="0" smtClean="0">
                <a:solidFill>
                  <a:srgbClr val="FF6600"/>
                </a:solidFill>
                <a:latin typeface="Helvetica" pitchFamily="34" charset="0"/>
              </a:rPr>
              <a:t>Present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AU" sz="2000" b="1" dirty="0" smtClean="0"/>
              <a:t>Customer service basics when presenting quotations </a:t>
            </a:r>
            <a:endParaRPr lang="en-AU" sz="2000" dirty="0" smtClean="0"/>
          </a:p>
          <a:p>
            <a:pPr lvl="0">
              <a:spcBef>
                <a:spcPts val="600"/>
              </a:spcBef>
              <a:spcAft>
                <a:spcPts val="1200"/>
              </a:spcAft>
            </a:pPr>
            <a:r>
              <a:rPr lang="en-AU" sz="2000" dirty="0" smtClean="0"/>
              <a:t>Sell the benefits of products and services </a:t>
            </a:r>
          </a:p>
          <a:p>
            <a:pPr lvl="0">
              <a:spcBef>
                <a:spcPts val="600"/>
              </a:spcBef>
              <a:spcAft>
                <a:spcPts val="1200"/>
              </a:spcAft>
            </a:pPr>
            <a:r>
              <a:rPr lang="en-AU" sz="2000" dirty="0" smtClean="0"/>
              <a:t>Overcome objections by customers to making a purchase </a:t>
            </a:r>
          </a:p>
          <a:p>
            <a:pPr>
              <a:spcBef>
                <a:spcPts val="600"/>
              </a:spcBef>
              <a:spcAft>
                <a:spcPts val="1200"/>
              </a:spcAft>
            </a:pPr>
            <a:r>
              <a:rPr lang="en-AU" sz="2000" dirty="0" smtClean="0"/>
              <a:t>Allow customers time and opportunity to consider their purchase</a:t>
            </a:r>
          </a:p>
          <a:p>
            <a:pPr lvl="0">
              <a:spcBef>
                <a:spcPts val="600"/>
              </a:spcBef>
              <a:spcAft>
                <a:spcPts val="1200"/>
              </a:spcAft>
            </a:pPr>
            <a:r>
              <a:rPr lang="en-AU" sz="2000" dirty="0" smtClean="0"/>
              <a:t>Make legitimate all add-on/complementary sales </a:t>
            </a:r>
          </a:p>
          <a:p>
            <a:pPr>
              <a:spcBef>
                <a:spcPts val="600"/>
              </a:spcBef>
              <a:spcAft>
                <a:spcPts val="1200"/>
              </a:spcAft>
            </a:pPr>
            <a:r>
              <a:rPr lang="en-AU" sz="2000" dirty="0" smtClean="0"/>
              <a:t>Close the sale</a:t>
            </a:r>
          </a:p>
          <a:p>
            <a:pPr marL="0">
              <a:spcBef>
                <a:spcPts val="600"/>
              </a:spcBef>
              <a:spcAft>
                <a:spcPts val="1200"/>
              </a:spcAft>
            </a:pPr>
            <a:endParaRPr lang="en-AU" sz="2000" dirty="0" smtClean="0"/>
          </a:p>
          <a:p>
            <a:pPr marL="0">
              <a:spcBef>
                <a:spcPts val="600"/>
              </a:spcBef>
              <a:spcAft>
                <a:spcPts val="1200"/>
              </a:spcAft>
            </a:pPr>
            <a:endParaRPr lang="en-AU" sz="2000" dirty="0" smtClean="0"/>
          </a:p>
          <a:p>
            <a:pPr marL="0">
              <a:spcBef>
                <a:spcPts val="600"/>
              </a:spcBef>
              <a:spcAft>
                <a:spcPts val="1200"/>
              </a:spcAft>
            </a:pPr>
            <a:endParaRPr lang="en-AU"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119</a:t>
            </a:fld>
            <a:endParaRPr lang="en-US" dirty="0">
              <a:latin typeface="Helvetica" pitchFamily="34" charset="0"/>
            </a:endParaRPr>
          </a:p>
        </p:txBody>
      </p:sp>
      <p:pic>
        <p:nvPicPr>
          <p:cNvPr id="6" name="Picture 5" descr="shutterstock_134583104.jpg"/>
          <p:cNvPicPr/>
          <p:nvPr/>
        </p:nvPicPr>
        <p:blipFill>
          <a:blip r:embed="rId3" cstate="print"/>
          <a:stretch>
            <a:fillRect/>
          </a:stretch>
        </p:blipFill>
        <p:spPr>
          <a:xfrm>
            <a:off x="6228184" y="4365104"/>
            <a:ext cx="2088232" cy="1512168"/>
          </a:xfrm>
          <a:prstGeom prst="rect">
            <a:avLst/>
          </a:prstGeom>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Destination information to communicate</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000" b="1" dirty="0" smtClean="0"/>
              <a:t>General information</a:t>
            </a:r>
            <a:endParaRPr lang="en-US" sz="2000" dirty="0" smtClean="0"/>
          </a:p>
          <a:p>
            <a:pPr lvl="0">
              <a:spcBef>
                <a:spcPts val="600"/>
              </a:spcBef>
              <a:spcAft>
                <a:spcPts val="1200"/>
              </a:spcAft>
            </a:pPr>
            <a:r>
              <a:rPr lang="en-AU" sz="2000" dirty="0" smtClean="0"/>
              <a:t>Date of quotation and reference number (if applicable)</a:t>
            </a:r>
            <a:endParaRPr lang="en-US" sz="2000" dirty="0" smtClean="0"/>
          </a:p>
          <a:p>
            <a:pPr lvl="0">
              <a:spcBef>
                <a:spcPts val="600"/>
              </a:spcBef>
              <a:spcAft>
                <a:spcPts val="1200"/>
              </a:spcAft>
            </a:pPr>
            <a:r>
              <a:rPr lang="en-AU" sz="2000" dirty="0" smtClean="0"/>
              <a:t>Clients name</a:t>
            </a:r>
            <a:endParaRPr lang="en-US" sz="2000" dirty="0" smtClean="0"/>
          </a:p>
          <a:p>
            <a:pPr lvl="0">
              <a:spcBef>
                <a:spcPts val="600"/>
              </a:spcBef>
              <a:spcAft>
                <a:spcPts val="1200"/>
              </a:spcAft>
            </a:pPr>
            <a:r>
              <a:rPr lang="en-AU" sz="2000" dirty="0" smtClean="0"/>
              <a:t>Phone contacts </a:t>
            </a:r>
            <a:endParaRPr lang="en-US" sz="2000" dirty="0" smtClean="0"/>
          </a:p>
          <a:p>
            <a:pPr lvl="0">
              <a:spcBef>
                <a:spcPts val="600"/>
              </a:spcBef>
              <a:spcAft>
                <a:spcPts val="1200"/>
              </a:spcAft>
            </a:pPr>
            <a:r>
              <a:rPr lang="en-AU" sz="2000" dirty="0" smtClean="0"/>
              <a:t>Email address</a:t>
            </a:r>
            <a:endParaRPr lang="en-US" sz="2000" dirty="0" smtClean="0"/>
          </a:p>
          <a:p>
            <a:pPr lvl="0">
              <a:spcBef>
                <a:spcPts val="600"/>
              </a:spcBef>
              <a:spcAft>
                <a:spcPts val="1200"/>
              </a:spcAft>
            </a:pPr>
            <a:r>
              <a:rPr lang="en-AU" sz="2000" dirty="0" smtClean="0"/>
              <a:t>Address</a:t>
            </a:r>
            <a:endParaRPr lang="en-US" sz="2000" dirty="0" smtClean="0"/>
          </a:p>
          <a:p>
            <a:pPr lvl="0">
              <a:spcBef>
                <a:spcPts val="600"/>
              </a:spcBef>
              <a:spcAft>
                <a:spcPts val="1200"/>
              </a:spcAft>
            </a:pPr>
            <a:r>
              <a:rPr lang="en-AU" sz="2000" dirty="0" smtClean="0"/>
              <a:t>Dates of travel</a:t>
            </a:r>
            <a:endParaRPr lang="en-US" sz="2000" dirty="0" smtClean="0"/>
          </a:p>
          <a:p>
            <a:pPr lvl="0">
              <a:spcBef>
                <a:spcPts val="600"/>
              </a:spcBef>
              <a:spcAft>
                <a:spcPts val="1200"/>
              </a:spcAft>
            </a:pPr>
            <a:r>
              <a:rPr lang="en-AU" sz="2000" dirty="0" smtClean="0"/>
              <a:t>Length of travel and class of travel</a:t>
            </a:r>
            <a:endParaRPr lang="en-US" sz="2000" dirty="0" smtClean="0"/>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p>
          <a:p>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120</a:t>
            </a:fld>
            <a:endParaRPr lang="en-US" dirty="0">
              <a:latin typeface="Helvetica" pitchFamily="34" charset="0"/>
            </a:endParaRPr>
          </a:p>
        </p:txBody>
      </p:sp>
      <p:pic>
        <p:nvPicPr>
          <p:cNvPr id="6" name="Picture 5" descr="W574_shutterstock_181388474.jpg"/>
          <p:cNvPicPr>
            <a:picLocks noChangeAspect="1"/>
          </p:cNvPicPr>
          <p:nvPr/>
        </p:nvPicPr>
        <p:blipFill>
          <a:blip r:embed="rId3" cstate="print"/>
          <a:stretch>
            <a:fillRect/>
          </a:stretch>
        </p:blipFill>
        <p:spPr>
          <a:xfrm>
            <a:off x="5508104" y="2636912"/>
            <a:ext cx="1583985" cy="237282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Destination information to communicate</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000" b="1" dirty="0" smtClean="0"/>
              <a:t>Travel products and services</a:t>
            </a:r>
            <a:endParaRPr lang="en-US" sz="2000" dirty="0" smtClean="0"/>
          </a:p>
          <a:p>
            <a:pPr>
              <a:spcBef>
                <a:spcPts val="600"/>
              </a:spcBef>
              <a:spcAft>
                <a:spcPts val="1200"/>
              </a:spcAft>
            </a:pPr>
            <a:r>
              <a:rPr lang="en-AU" sz="2000" dirty="0" smtClean="0"/>
              <a:t>Flights</a:t>
            </a:r>
            <a:endParaRPr lang="en-US" sz="2000" dirty="0" smtClean="0"/>
          </a:p>
          <a:p>
            <a:pPr>
              <a:spcBef>
                <a:spcPts val="600"/>
              </a:spcBef>
              <a:spcAft>
                <a:spcPts val="1200"/>
              </a:spcAft>
            </a:pPr>
            <a:r>
              <a:rPr lang="en-AU" sz="2000" dirty="0" smtClean="0"/>
              <a:t>Accommodation</a:t>
            </a:r>
          </a:p>
          <a:p>
            <a:pPr>
              <a:spcBef>
                <a:spcPts val="600"/>
              </a:spcBef>
              <a:spcAft>
                <a:spcPts val="1200"/>
              </a:spcAft>
            </a:pPr>
            <a:r>
              <a:rPr lang="en-AU" sz="2000" dirty="0" smtClean="0"/>
              <a:t>Cruises</a:t>
            </a:r>
            <a:endParaRPr lang="en-US" sz="2000" dirty="0" smtClean="0"/>
          </a:p>
          <a:p>
            <a:pPr>
              <a:spcBef>
                <a:spcPts val="600"/>
              </a:spcBef>
              <a:spcAft>
                <a:spcPts val="1200"/>
              </a:spcAft>
            </a:pPr>
            <a:r>
              <a:rPr lang="en-AU" sz="2000" dirty="0" smtClean="0"/>
              <a:t>Tours</a:t>
            </a:r>
            <a:endParaRPr lang="en-US" sz="2000" dirty="0" smtClean="0"/>
          </a:p>
          <a:p>
            <a:pPr>
              <a:spcBef>
                <a:spcPts val="600"/>
              </a:spcBef>
              <a:spcAft>
                <a:spcPts val="1200"/>
              </a:spcAft>
            </a:pPr>
            <a:r>
              <a:rPr lang="en-AU" sz="2000" dirty="0" smtClean="0"/>
              <a:t>Other travel products and services</a:t>
            </a:r>
            <a:endParaRPr lang="en-US" sz="2000" dirty="0" smtClean="0"/>
          </a:p>
          <a:p>
            <a:pPr>
              <a:spcBef>
                <a:spcPts val="600"/>
              </a:spcBef>
              <a:spcAft>
                <a:spcPts val="1200"/>
              </a:spcAft>
            </a:pPr>
            <a:r>
              <a:rPr lang="en-AU" sz="2000" dirty="0" smtClean="0"/>
              <a:t>Transfers</a:t>
            </a:r>
            <a:endParaRPr lang="en-US" sz="2000" dirty="0" smtClean="0"/>
          </a:p>
          <a:p>
            <a:pPr>
              <a:spcBef>
                <a:spcPts val="600"/>
              </a:spcBef>
              <a:spcAft>
                <a:spcPts val="1200"/>
              </a:spcAft>
            </a:pPr>
            <a:r>
              <a:rPr lang="en-AU" sz="2000" dirty="0" smtClean="0"/>
              <a:t>Car hire/Rentals</a:t>
            </a:r>
            <a:endParaRPr lang="en-US" sz="2000" dirty="0" smtClean="0"/>
          </a:p>
          <a:p>
            <a:pPr>
              <a:spcBef>
                <a:spcPts val="600"/>
              </a:spcBef>
              <a:spcAft>
                <a:spcPts val="1200"/>
              </a:spcAft>
              <a:buNone/>
            </a:pPr>
            <a:endParaRPr lang="en-US" sz="2000" dirty="0" smtClean="0"/>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p>
          <a:p>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121</a:t>
            </a:fld>
            <a:endParaRPr lang="en-US" dirty="0">
              <a:latin typeface="Helvetica" pitchFamily="34" charset="0"/>
            </a:endParaRPr>
          </a:p>
        </p:txBody>
      </p:sp>
      <p:pic>
        <p:nvPicPr>
          <p:cNvPr id="7" name="Picture 6" descr="shutterstock_33145759.jpg"/>
          <p:cNvPicPr/>
          <p:nvPr/>
        </p:nvPicPr>
        <p:blipFill>
          <a:blip r:embed="rId3" cstate="print"/>
          <a:stretch>
            <a:fillRect/>
          </a:stretch>
        </p:blipFill>
        <p:spPr>
          <a:xfrm>
            <a:off x="5508104" y="2348880"/>
            <a:ext cx="2163058" cy="144055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Destination information to communicate</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000" b="1" dirty="0" smtClean="0"/>
              <a:t>Destination information</a:t>
            </a:r>
            <a:endParaRPr lang="en-US" sz="2000" dirty="0" smtClean="0"/>
          </a:p>
          <a:p>
            <a:pPr lvl="0">
              <a:spcBef>
                <a:spcPts val="600"/>
              </a:spcBef>
              <a:spcAft>
                <a:spcPts val="1200"/>
              </a:spcAft>
            </a:pPr>
            <a:r>
              <a:rPr lang="en-AU" sz="2000" dirty="0" smtClean="0"/>
              <a:t>Attractions</a:t>
            </a:r>
            <a:endParaRPr lang="en-US" sz="2000" b="1" dirty="0" smtClean="0"/>
          </a:p>
          <a:p>
            <a:pPr lvl="0">
              <a:spcBef>
                <a:spcPts val="600"/>
              </a:spcBef>
              <a:spcAft>
                <a:spcPts val="1200"/>
              </a:spcAft>
            </a:pPr>
            <a:r>
              <a:rPr lang="en-AU" sz="2000" dirty="0" smtClean="0"/>
              <a:t>Activities</a:t>
            </a:r>
            <a:endParaRPr lang="en-US" sz="2000" b="1" dirty="0" smtClean="0"/>
          </a:p>
          <a:p>
            <a:pPr lvl="0">
              <a:spcBef>
                <a:spcPts val="600"/>
              </a:spcBef>
              <a:spcAft>
                <a:spcPts val="1200"/>
              </a:spcAft>
            </a:pPr>
            <a:r>
              <a:rPr lang="en-AU" sz="2000" dirty="0" smtClean="0"/>
              <a:t>History</a:t>
            </a:r>
            <a:endParaRPr lang="en-US" sz="2000" b="1" dirty="0" smtClean="0"/>
          </a:p>
          <a:p>
            <a:pPr lvl="0">
              <a:spcBef>
                <a:spcPts val="600"/>
              </a:spcBef>
              <a:spcAft>
                <a:spcPts val="1200"/>
              </a:spcAft>
            </a:pPr>
            <a:r>
              <a:rPr lang="en-AU" sz="2000" dirty="0" smtClean="0"/>
              <a:t>Language</a:t>
            </a:r>
            <a:endParaRPr lang="en-US" sz="2000" dirty="0" smtClean="0"/>
          </a:p>
          <a:p>
            <a:pPr lvl="0">
              <a:spcBef>
                <a:spcPts val="600"/>
              </a:spcBef>
              <a:spcAft>
                <a:spcPts val="1200"/>
              </a:spcAft>
            </a:pPr>
            <a:r>
              <a:rPr lang="en-AU" sz="2000" dirty="0" smtClean="0"/>
              <a:t>Population</a:t>
            </a:r>
            <a:endParaRPr lang="en-US" sz="2000" dirty="0" smtClean="0"/>
          </a:p>
          <a:p>
            <a:pPr lvl="0">
              <a:spcBef>
                <a:spcPts val="600"/>
              </a:spcBef>
              <a:spcAft>
                <a:spcPts val="1200"/>
              </a:spcAft>
            </a:pPr>
            <a:r>
              <a:rPr lang="en-AU" sz="2000" dirty="0" smtClean="0"/>
              <a:t>Geographical features</a:t>
            </a:r>
            <a:endParaRPr lang="en-US" sz="2000" b="1" dirty="0" smtClean="0"/>
          </a:p>
          <a:p>
            <a:pPr lvl="0">
              <a:spcBef>
                <a:spcPts val="600"/>
              </a:spcBef>
              <a:spcAft>
                <a:spcPts val="1200"/>
              </a:spcAft>
            </a:pPr>
            <a:r>
              <a:rPr lang="en-AU" sz="2000" dirty="0" smtClean="0"/>
              <a:t>Local customs and culture</a:t>
            </a:r>
            <a:endParaRPr lang="en-US" sz="2000" b="1" dirty="0" smtClean="0"/>
          </a:p>
          <a:p>
            <a:pPr lvl="0">
              <a:spcBef>
                <a:spcPts val="600"/>
              </a:spcBef>
              <a:spcAft>
                <a:spcPts val="1200"/>
              </a:spcAft>
            </a:pPr>
            <a:r>
              <a:rPr lang="en-AU" sz="2000" dirty="0" smtClean="0"/>
              <a:t>Climate</a:t>
            </a:r>
            <a:endParaRPr lang="en-US" sz="2000" b="1" dirty="0" smtClean="0"/>
          </a:p>
          <a:p>
            <a:pPr>
              <a:spcBef>
                <a:spcPts val="600"/>
              </a:spcBef>
              <a:spcAft>
                <a:spcPts val="1200"/>
              </a:spcAft>
            </a:pPr>
            <a:endParaRPr lang="en-US" sz="2000" dirty="0" smtClean="0"/>
          </a:p>
          <a:p>
            <a:pPr>
              <a:spcBef>
                <a:spcPts val="600"/>
              </a:spcBef>
              <a:spcAft>
                <a:spcPts val="1200"/>
              </a:spcAft>
              <a:buNone/>
            </a:pPr>
            <a:endParaRPr lang="en-US" sz="2000" dirty="0" smtClean="0"/>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p>
          <a:p>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122</a:t>
            </a:fld>
            <a:endParaRPr lang="en-US" dirty="0">
              <a:latin typeface="Helvetica" pitchFamily="34" charset="0"/>
            </a:endParaRPr>
          </a:p>
        </p:txBody>
      </p:sp>
      <p:pic>
        <p:nvPicPr>
          <p:cNvPr id="7" name="Picture 6" descr="Happy Smile_142334158.jpg"/>
          <p:cNvPicPr/>
          <p:nvPr/>
        </p:nvPicPr>
        <p:blipFill>
          <a:blip r:embed="rId3" cstate="print"/>
          <a:stretch>
            <a:fillRect/>
          </a:stretch>
        </p:blipFill>
        <p:spPr>
          <a:xfrm>
            <a:off x="5292080" y="2416497"/>
            <a:ext cx="2276267" cy="151655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Destination information to communicate</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000" b="1" dirty="0" smtClean="0"/>
              <a:t>Specialist destination information</a:t>
            </a:r>
            <a:endParaRPr lang="en-US" sz="2000" dirty="0" smtClean="0"/>
          </a:p>
          <a:p>
            <a:pPr lvl="0">
              <a:spcBef>
                <a:spcPts val="600"/>
              </a:spcBef>
              <a:spcAft>
                <a:spcPts val="1200"/>
              </a:spcAft>
            </a:pPr>
            <a:r>
              <a:rPr lang="en-AU" sz="2000" dirty="0" smtClean="0"/>
              <a:t>Seasonality</a:t>
            </a:r>
            <a:endParaRPr lang="en-US" sz="2000" dirty="0" smtClean="0"/>
          </a:p>
          <a:p>
            <a:pPr lvl="0">
              <a:spcBef>
                <a:spcPts val="600"/>
              </a:spcBef>
              <a:spcAft>
                <a:spcPts val="1200"/>
              </a:spcAft>
            </a:pPr>
            <a:r>
              <a:rPr lang="en-AU" sz="2000" dirty="0" smtClean="0"/>
              <a:t>Availability</a:t>
            </a:r>
            <a:endParaRPr lang="en-US" sz="2000" dirty="0" smtClean="0"/>
          </a:p>
          <a:p>
            <a:pPr lvl="0">
              <a:spcBef>
                <a:spcPts val="600"/>
              </a:spcBef>
              <a:spcAft>
                <a:spcPts val="1200"/>
              </a:spcAft>
            </a:pPr>
            <a:r>
              <a:rPr lang="en-AU" sz="2000" dirty="0" smtClean="0"/>
              <a:t>Costing considerations</a:t>
            </a:r>
            <a:endParaRPr lang="en-US" sz="2000" dirty="0" smtClean="0"/>
          </a:p>
          <a:p>
            <a:pPr lvl="0">
              <a:spcBef>
                <a:spcPts val="600"/>
              </a:spcBef>
              <a:spcAft>
                <a:spcPts val="1200"/>
              </a:spcAft>
            </a:pPr>
            <a:r>
              <a:rPr lang="en-AU" sz="2000" dirty="0" smtClean="0"/>
              <a:t>Additional travel costs</a:t>
            </a:r>
            <a:endParaRPr lang="en-US" sz="2000" dirty="0" smtClean="0"/>
          </a:p>
          <a:p>
            <a:pPr lvl="0">
              <a:spcBef>
                <a:spcPts val="600"/>
              </a:spcBef>
              <a:spcAft>
                <a:spcPts val="1200"/>
              </a:spcAft>
            </a:pPr>
            <a:r>
              <a:rPr lang="en-AU" sz="2000" dirty="0" smtClean="0"/>
              <a:t>Product price increases</a:t>
            </a:r>
            <a:endParaRPr lang="en-US" sz="2000" dirty="0" smtClean="0"/>
          </a:p>
          <a:p>
            <a:pPr lvl="0">
              <a:spcBef>
                <a:spcPts val="600"/>
              </a:spcBef>
              <a:spcAft>
                <a:spcPts val="1200"/>
              </a:spcAft>
            </a:pPr>
            <a:r>
              <a:rPr lang="en-AU" sz="2000" dirty="0" smtClean="0"/>
              <a:t>Fluctuations in exchange rates</a:t>
            </a:r>
            <a:endParaRPr lang="en-US" sz="2000" dirty="0" smtClean="0"/>
          </a:p>
          <a:p>
            <a:pPr lvl="0">
              <a:spcBef>
                <a:spcPts val="600"/>
              </a:spcBef>
              <a:spcAft>
                <a:spcPts val="1200"/>
              </a:spcAft>
            </a:pPr>
            <a:r>
              <a:rPr lang="en-AU" sz="2000" dirty="0" smtClean="0"/>
              <a:t>Terms and conditions</a:t>
            </a:r>
            <a:endParaRPr lang="en-US" sz="2000" dirty="0" smtClean="0"/>
          </a:p>
          <a:p>
            <a:pPr>
              <a:spcBef>
                <a:spcPts val="600"/>
              </a:spcBef>
              <a:spcAft>
                <a:spcPts val="1200"/>
              </a:spcAft>
              <a:buNone/>
            </a:pPr>
            <a:endParaRPr lang="en-US" sz="2000" dirty="0" smtClean="0"/>
          </a:p>
          <a:p>
            <a:pPr>
              <a:spcBef>
                <a:spcPts val="600"/>
              </a:spcBef>
              <a:spcAft>
                <a:spcPts val="1200"/>
              </a:spcAft>
              <a:buNone/>
            </a:pPr>
            <a:endParaRPr lang="en-US" sz="2000" dirty="0" smtClean="0"/>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p>
          <a:p>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123</a:t>
            </a:fld>
            <a:endParaRPr lang="en-US" dirty="0">
              <a:latin typeface="Helvetica" pitchFamily="34" charset="0"/>
            </a:endParaRPr>
          </a:p>
        </p:txBody>
      </p:sp>
      <p:pic>
        <p:nvPicPr>
          <p:cNvPr id="6" name="Picture 5" descr="shutterstock_117103420.jpg"/>
          <p:cNvPicPr>
            <a:picLocks noChangeAspect="1"/>
          </p:cNvPicPr>
          <p:nvPr/>
        </p:nvPicPr>
        <p:blipFill>
          <a:blip r:embed="rId3" cstate="print"/>
          <a:stretch>
            <a:fillRect/>
          </a:stretch>
        </p:blipFill>
        <p:spPr>
          <a:xfrm>
            <a:off x="5364088" y="2204864"/>
            <a:ext cx="2267119" cy="151216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AU" sz="3400" b="1" dirty="0" smtClean="0">
                <a:solidFill>
                  <a:srgbClr val="FF6600"/>
                </a:solidFill>
                <a:latin typeface="Helvetica" pitchFamily="34" charset="0"/>
              </a:rPr>
              <a:t>Destination information to communicate</a:t>
            </a:r>
            <a:endParaRPr lang="en-US"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000" b="1" dirty="0" smtClean="0"/>
              <a:t>Specialist destination information</a:t>
            </a:r>
            <a:endParaRPr lang="en-US" sz="2000" dirty="0" smtClean="0"/>
          </a:p>
          <a:p>
            <a:pPr lvl="0">
              <a:spcBef>
                <a:spcPts val="600"/>
              </a:spcBef>
              <a:spcAft>
                <a:spcPts val="1200"/>
              </a:spcAft>
            </a:pPr>
            <a:r>
              <a:rPr lang="en-AU" sz="2000" dirty="0" smtClean="0"/>
              <a:t>Travel insurance</a:t>
            </a:r>
          </a:p>
          <a:p>
            <a:pPr lvl="0">
              <a:spcBef>
                <a:spcPts val="600"/>
              </a:spcBef>
              <a:spcAft>
                <a:spcPts val="1200"/>
              </a:spcAft>
            </a:pPr>
            <a:r>
              <a:rPr lang="en-AU" sz="2000" dirty="0" smtClean="0"/>
              <a:t>Visa / permits</a:t>
            </a:r>
            <a:endParaRPr lang="en-US" sz="2000" dirty="0" smtClean="0"/>
          </a:p>
          <a:p>
            <a:pPr lvl="0">
              <a:spcBef>
                <a:spcPts val="600"/>
              </a:spcBef>
              <a:spcAft>
                <a:spcPts val="1200"/>
              </a:spcAft>
            </a:pPr>
            <a:r>
              <a:rPr lang="en-AU" sz="2000" dirty="0" smtClean="0"/>
              <a:t>Health permits</a:t>
            </a:r>
            <a:endParaRPr lang="en-US" sz="2000" dirty="0" smtClean="0"/>
          </a:p>
          <a:p>
            <a:pPr lvl="0">
              <a:spcBef>
                <a:spcPts val="600"/>
              </a:spcBef>
              <a:spcAft>
                <a:spcPts val="1200"/>
              </a:spcAft>
            </a:pPr>
            <a:r>
              <a:rPr lang="en-AU" sz="2000" dirty="0" smtClean="0"/>
              <a:t>Limitations</a:t>
            </a:r>
            <a:endParaRPr lang="en-US" sz="2000" dirty="0" smtClean="0"/>
          </a:p>
          <a:p>
            <a:pPr lvl="0">
              <a:spcBef>
                <a:spcPts val="600"/>
              </a:spcBef>
              <a:spcAft>
                <a:spcPts val="1200"/>
              </a:spcAft>
            </a:pPr>
            <a:r>
              <a:rPr lang="en-AU" sz="2000" dirty="0" smtClean="0"/>
              <a:t>Safety and risk – adventure products</a:t>
            </a:r>
            <a:endParaRPr lang="en-US" sz="2000" dirty="0" smtClean="0"/>
          </a:p>
          <a:p>
            <a:pPr lvl="0">
              <a:spcBef>
                <a:spcPts val="600"/>
              </a:spcBef>
              <a:spcAft>
                <a:spcPts val="1200"/>
              </a:spcAft>
            </a:pPr>
            <a:r>
              <a:rPr lang="en-AU" sz="2000" dirty="0" smtClean="0"/>
              <a:t>Non operation of the product – tour cancellation</a:t>
            </a:r>
            <a:endParaRPr lang="en-US" sz="2000" dirty="0" smtClean="0"/>
          </a:p>
          <a:p>
            <a:pPr>
              <a:spcBef>
                <a:spcPts val="600"/>
              </a:spcBef>
              <a:spcAft>
                <a:spcPts val="1200"/>
              </a:spcAft>
              <a:buNone/>
            </a:pPr>
            <a:endParaRPr lang="en-AU" sz="2000" dirty="0" smtClean="0">
              <a:solidFill>
                <a:srgbClr val="FF6600"/>
              </a:solidFill>
            </a:endParaRPr>
          </a:p>
          <a:p>
            <a:pPr>
              <a:spcBef>
                <a:spcPts val="600"/>
              </a:spcBef>
              <a:spcAft>
                <a:spcPts val="1200"/>
              </a:spcAft>
              <a:buNone/>
            </a:pPr>
            <a:r>
              <a:rPr lang="en-AU" sz="2000" b="1" i="1" dirty="0" smtClean="0">
                <a:solidFill>
                  <a:srgbClr val="FF6600"/>
                </a:solidFill>
              </a:rPr>
              <a:t>COMPLETE ACTIVITIES 15 &amp; 16</a:t>
            </a:r>
          </a:p>
          <a:p>
            <a:pPr lvl="0">
              <a:spcBef>
                <a:spcPts val="600"/>
              </a:spcBef>
              <a:spcAft>
                <a:spcPts val="1200"/>
              </a:spcAft>
            </a:pPr>
            <a:endParaRPr lang="en-US" sz="2000" dirty="0" smtClean="0"/>
          </a:p>
          <a:p>
            <a:pPr>
              <a:spcBef>
                <a:spcPts val="600"/>
              </a:spcBef>
              <a:spcAft>
                <a:spcPts val="1200"/>
              </a:spcAft>
              <a:buNone/>
            </a:pPr>
            <a:endParaRPr lang="en-US" sz="2000" dirty="0" smtClean="0"/>
          </a:p>
          <a:p>
            <a:pPr>
              <a:spcBef>
                <a:spcPts val="600"/>
              </a:spcBef>
              <a:spcAft>
                <a:spcPts val="1200"/>
              </a:spcAft>
              <a:buNone/>
            </a:pPr>
            <a:endParaRPr lang="en-US" sz="2000" dirty="0" smtClean="0"/>
          </a:p>
          <a:p>
            <a:pPr>
              <a:spcBef>
                <a:spcPts val="600"/>
              </a:spcBef>
              <a:spcAft>
                <a:spcPts val="1200"/>
              </a:spcAft>
              <a:buNone/>
            </a:pPr>
            <a:endParaRPr lang="en-US" sz="2000" dirty="0" smtClean="0"/>
          </a:p>
          <a:p>
            <a:endParaRPr lang="en-AU" sz="2000" b="1" dirty="0" smtClean="0"/>
          </a:p>
          <a:p>
            <a:endParaRPr lang="en-US" sz="2000" dirty="0" smtClean="0"/>
          </a:p>
          <a:p>
            <a:pPr>
              <a:spcBef>
                <a:spcPts val="600"/>
              </a:spcBef>
              <a:spcAft>
                <a:spcPts val="600"/>
              </a:spcAft>
            </a:pPr>
            <a:endParaRPr lang="en-US" sz="2000" b="1" dirty="0" smtClean="0"/>
          </a:p>
          <a:p>
            <a:endParaRPr lang="en-US" sz="2000" b="1" dirty="0" smtClean="0"/>
          </a:p>
          <a:p>
            <a:pPr>
              <a:spcBef>
                <a:spcPts val="600"/>
              </a:spcBef>
              <a:spcAft>
                <a:spcPts val="1200"/>
              </a:spcAft>
              <a:buNone/>
            </a:pPr>
            <a:endParaRPr lang="en-US" sz="20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124</a:t>
            </a:fld>
            <a:endParaRPr lang="en-US" dirty="0">
              <a:latin typeface="Helvetica" pitchFamily="34" charset="0"/>
            </a:endParaRPr>
          </a:p>
        </p:txBody>
      </p:sp>
      <p:pic>
        <p:nvPicPr>
          <p:cNvPr id="5" name="Picture 4" descr="shutterstock_184389518.jpg"/>
          <p:cNvPicPr/>
          <p:nvPr/>
        </p:nvPicPr>
        <p:blipFill>
          <a:blip r:embed="rId3" cstate="print"/>
          <a:stretch>
            <a:fillRect/>
          </a:stretch>
        </p:blipFill>
        <p:spPr>
          <a:xfrm>
            <a:off x="5436096" y="2276872"/>
            <a:ext cx="2160240" cy="1656184"/>
          </a:xfrm>
          <a:prstGeom prst="rect">
            <a:avLst/>
          </a:prstGeom>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Present hard copy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84784"/>
            <a:ext cx="7776864" cy="5301208"/>
          </a:xfrm>
        </p:spPr>
        <p:txBody>
          <a:bodyPr>
            <a:normAutofit/>
          </a:bodyPr>
          <a:lstStyle/>
          <a:p>
            <a:pPr>
              <a:spcBef>
                <a:spcPts val="600"/>
              </a:spcBef>
              <a:spcAft>
                <a:spcPts val="1200"/>
              </a:spcAft>
              <a:buNone/>
            </a:pPr>
            <a:r>
              <a:rPr lang="en-AU" sz="2000" b="1" dirty="0" smtClean="0"/>
              <a:t>Travel Documentation</a:t>
            </a:r>
            <a:endParaRPr lang="en-US" sz="2000" dirty="0" smtClean="0"/>
          </a:p>
          <a:p>
            <a:pPr marL="0">
              <a:spcBef>
                <a:spcPts val="600"/>
              </a:spcBef>
              <a:spcAft>
                <a:spcPts val="1200"/>
              </a:spcAft>
              <a:buNone/>
            </a:pPr>
            <a:r>
              <a:rPr lang="en-AU" sz="2000" dirty="0" smtClean="0"/>
              <a:t>There are a number of types of travel documentation that will be used, either by the organisation or given to customers, as part of providing destination information. </a:t>
            </a:r>
            <a:endParaRPr lang="en-US" sz="2000" dirty="0" smtClean="0"/>
          </a:p>
          <a:p>
            <a:pPr>
              <a:spcBef>
                <a:spcPts val="600"/>
              </a:spcBef>
              <a:spcAft>
                <a:spcPts val="1200"/>
              </a:spcAft>
              <a:buNone/>
            </a:pPr>
            <a:r>
              <a:rPr lang="en-AU" sz="2000" dirty="0" smtClean="0"/>
              <a:t>Travel documentation will related to:</a:t>
            </a:r>
            <a:endParaRPr lang="en-US" sz="2000" dirty="0" smtClean="0"/>
          </a:p>
          <a:p>
            <a:pPr lvl="0">
              <a:spcBef>
                <a:spcPts val="600"/>
              </a:spcBef>
              <a:spcAft>
                <a:spcPts val="1200"/>
              </a:spcAft>
            </a:pPr>
            <a:r>
              <a:rPr lang="en-AU" sz="2000" dirty="0" smtClean="0"/>
              <a:t>General documentation</a:t>
            </a:r>
          </a:p>
          <a:p>
            <a:pPr lvl="0">
              <a:spcBef>
                <a:spcPts val="600"/>
              </a:spcBef>
              <a:spcAft>
                <a:spcPts val="1200"/>
              </a:spcAft>
            </a:pPr>
            <a:r>
              <a:rPr lang="en-AU" sz="2000" dirty="0" smtClean="0"/>
              <a:t>Non-air documentation</a:t>
            </a:r>
            <a:endParaRPr lang="en-US" sz="2000" dirty="0" smtClean="0"/>
          </a:p>
          <a:p>
            <a:pPr lvl="0">
              <a:spcBef>
                <a:spcPts val="600"/>
              </a:spcBef>
              <a:spcAft>
                <a:spcPts val="1200"/>
              </a:spcAft>
            </a:pPr>
            <a:r>
              <a:rPr lang="en-AU" sz="2000" dirty="0" smtClean="0"/>
              <a:t>Air documentation</a:t>
            </a:r>
            <a:endParaRPr lang="en-US" sz="2000" dirty="0" smtClean="0"/>
          </a:p>
          <a:p>
            <a:pPr>
              <a:spcBef>
                <a:spcPts val="600"/>
              </a:spcBef>
              <a:spcAft>
                <a:spcPts val="1200"/>
              </a:spcAft>
              <a:buNone/>
            </a:pPr>
            <a:endParaRPr lang="en-AU" sz="2000" dirty="0" smtClean="0">
              <a:solidFill>
                <a:srgbClr val="FF6600"/>
              </a:solidFill>
            </a:endParaRPr>
          </a:p>
          <a:p>
            <a:pPr>
              <a:spcBef>
                <a:spcPts val="600"/>
              </a:spcBef>
              <a:spcAft>
                <a:spcPts val="1200"/>
              </a:spcAft>
              <a:buNone/>
            </a:pPr>
            <a:r>
              <a:rPr lang="en-AU" sz="2000" b="1" dirty="0" smtClean="0">
                <a:solidFill>
                  <a:srgbClr val="FF6600"/>
                </a:solidFill>
              </a:rPr>
              <a:t>COMPLETE ACTIVITY 17</a:t>
            </a:r>
            <a:endParaRPr lang="en-AU" sz="2000" dirty="0" smtClean="0"/>
          </a:p>
          <a:p>
            <a:pPr lvl="0">
              <a:spcBef>
                <a:spcPts val="600"/>
              </a:spcBef>
              <a:spcAft>
                <a:spcPts val="1200"/>
              </a:spcAft>
              <a:buNone/>
            </a:pPr>
            <a:endParaRPr lang="en-US" sz="20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125</a:t>
            </a:fld>
            <a:endParaRPr lang="en-US" dirty="0"/>
          </a:p>
        </p:txBody>
      </p:sp>
      <p:pic>
        <p:nvPicPr>
          <p:cNvPr id="6" name="Picture 5" descr="W213_travel_shutterstock_151589309.jpg"/>
          <p:cNvPicPr/>
          <p:nvPr/>
        </p:nvPicPr>
        <p:blipFill>
          <a:blip r:embed="rId3" cstate="print"/>
          <a:stretch>
            <a:fillRect/>
          </a:stretch>
        </p:blipFill>
        <p:spPr>
          <a:xfrm>
            <a:off x="5940152" y="4005064"/>
            <a:ext cx="2448272" cy="1762299"/>
          </a:xfrm>
          <a:prstGeom prst="rect">
            <a:avLst/>
          </a:prstGeom>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268760"/>
            <a:ext cx="7237040" cy="4968552"/>
          </a:xfrm>
        </p:spPr>
        <p:txBody>
          <a:bodyPr>
            <a:normAutofit/>
          </a:bodyPr>
          <a:lstStyle/>
          <a:p>
            <a:pPr marL="0">
              <a:buNone/>
            </a:pPr>
            <a:r>
              <a:rPr lang="en-AU" sz="4000" b="1" dirty="0" smtClean="0">
                <a:solidFill>
                  <a:srgbClr val="FF6600"/>
                </a:solidFill>
                <a:latin typeface="Helvetica" pitchFamily="34" charset="0"/>
              </a:rPr>
              <a:t>Element 4:</a:t>
            </a:r>
          </a:p>
          <a:p>
            <a:pPr marL="0">
              <a:buNone/>
            </a:pPr>
            <a:r>
              <a:rPr lang="en-US" sz="4000" b="1" i="1" dirty="0">
                <a:solidFill>
                  <a:srgbClr val="FF6600"/>
                </a:solidFill>
              </a:rPr>
              <a:t>Review provision of destination knowledge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126</a:t>
            </a:fld>
            <a:endParaRPr lang="en-US" dirty="0">
              <a:latin typeface="Helvetica" pitchFamily="34" charset="0"/>
            </a:endParaRPr>
          </a:p>
        </p:txBody>
      </p:sp>
      <p:pic>
        <p:nvPicPr>
          <p:cNvPr id="5" name="Picture 4" descr="A18 shutterstock_181389116.jpg"/>
          <p:cNvPicPr>
            <a:picLocks noChangeAspect="1"/>
          </p:cNvPicPr>
          <p:nvPr/>
        </p:nvPicPr>
        <p:blipFill>
          <a:blip r:embed="rId3" cstate="print"/>
          <a:stretch>
            <a:fillRect/>
          </a:stretch>
        </p:blipFill>
        <p:spPr>
          <a:xfrm>
            <a:off x="6337258" y="1484784"/>
            <a:ext cx="1728192" cy="258711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Review provision of destination knowledge</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525963"/>
          </a:xfrm>
        </p:spPr>
        <p:txBody>
          <a:bodyPr>
            <a:normAutofit/>
          </a:bodyPr>
          <a:lstStyle/>
          <a:p>
            <a:pPr marL="0" indent="0">
              <a:spcBef>
                <a:spcPts val="600"/>
              </a:spcBef>
              <a:spcAft>
                <a:spcPts val="1200"/>
              </a:spcAft>
              <a:buNone/>
            </a:pPr>
            <a:r>
              <a:rPr lang="en-AU" sz="2000" dirty="0" smtClean="0">
                <a:latin typeface="Helvetica" pitchFamily="34" charset="0"/>
              </a:rPr>
              <a:t>Performance Criteria for this Element are: </a:t>
            </a:r>
          </a:p>
          <a:p>
            <a:pPr>
              <a:spcBef>
                <a:spcPts val="600"/>
              </a:spcBef>
              <a:spcAft>
                <a:spcPts val="1200"/>
              </a:spcAft>
            </a:pPr>
            <a:r>
              <a:rPr lang="en-US" sz="2000" dirty="0" smtClean="0">
                <a:latin typeface="Helvetica" pitchFamily="34" charset="0"/>
              </a:rPr>
              <a:t>Evaluate sources of destination information </a:t>
            </a:r>
          </a:p>
          <a:p>
            <a:pPr>
              <a:spcBef>
                <a:spcPts val="600"/>
              </a:spcBef>
              <a:spcAft>
                <a:spcPts val="1200"/>
              </a:spcAft>
            </a:pPr>
            <a:r>
              <a:rPr lang="en-US" sz="2000" dirty="0" smtClean="0">
                <a:latin typeface="Helvetica" pitchFamily="34" charset="0"/>
              </a:rPr>
              <a:t>Evaluate methods of provision of destination </a:t>
            </a:r>
            <a:br>
              <a:rPr lang="en-US" sz="2000" dirty="0" smtClean="0">
                <a:latin typeface="Helvetica" pitchFamily="34" charset="0"/>
              </a:rPr>
            </a:br>
            <a:r>
              <a:rPr lang="en-US" sz="2000" dirty="0" smtClean="0">
                <a:latin typeface="Helvetica" pitchFamily="34" charset="0"/>
              </a:rPr>
              <a:t>information</a:t>
            </a:r>
          </a:p>
          <a:p>
            <a:pPr>
              <a:spcBef>
                <a:spcPts val="600"/>
              </a:spcBef>
              <a:spcAft>
                <a:spcPts val="1200"/>
              </a:spcAft>
            </a:pPr>
            <a:r>
              <a:rPr lang="en-US" sz="2000" dirty="0" smtClean="0">
                <a:latin typeface="Helvetica" pitchFamily="34" charset="0"/>
              </a:rPr>
              <a:t>Evaluate effectiveness of destination                                       information provision</a:t>
            </a:r>
          </a:p>
          <a:p>
            <a:pPr>
              <a:spcBef>
                <a:spcPts val="600"/>
              </a:spcBef>
              <a:spcAft>
                <a:spcPts val="1200"/>
              </a:spcAft>
            </a:pPr>
            <a:r>
              <a:rPr lang="en-US" sz="2000" dirty="0" smtClean="0">
                <a:latin typeface="Helvetica" pitchFamily="34" charset="0"/>
              </a:rPr>
              <a:t>Amend or confirm sources</a:t>
            </a:r>
            <a:r>
              <a:rPr lang="en-US" sz="2000" b="1" dirty="0" smtClean="0">
                <a:latin typeface="Helvetica" pitchFamily="34" charset="0"/>
              </a:rPr>
              <a:t> </a:t>
            </a:r>
            <a:r>
              <a:rPr lang="en-US" sz="2000" dirty="0" smtClean="0">
                <a:latin typeface="Helvetica" pitchFamily="34" charset="0"/>
              </a:rPr>
              <a:t>of</a:t>
            </a:r>
            <a:br>
              <a:rPr lang="en-US" sz="2000" dirty="0" smtClean="0">
                <a:latin typeface="Helvetica" pitchFamily="34" charset="0"/>
              </a:rPr>
            </a:br>
            <a:r>
              <a:rPr lang="en-US" sz="2000" dirty="0" smtClean="0">
                <a:latin typeface="Helvetica" pitchFamily="34" charset="0"/>
              </a:rPr>
              <a:t>destination information</a:t>
            </a:r>
          </a:p>
          <a:p>
            <a:pPr marL="360000" indent="-360000">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127</a:t>
            </a:fld>
            <a:endParaRPr lang="en-US" dirty="0">
              <a:latin typeface="Helvetica" pitchFamily="34" charset="0"/>
            </a:endParaRPr>
          </a:p>
        </p:txBody>
      </p:sp>
      <p:pic>
        <p:nvPicPr>
          <p:cNvPr id="5" name="Picture 4" descr="shutterstock_134127854.jpg"/>
          <p:cNvPicPr>
            <a:picLocks noChangeAspect="1"/>
          </p:cNvPicPr>
          <p:nvPr/>
        </p:nvPicPr>
        <p:blipFill>
          <a:blip r:embed="rId3" cstate="print"/>
          <a:stretch>
            <a:fillRect/>
          </a:stretch>
        </p:blipFill>
        <p:spPr>
          <a:xfrm>
            <a:off x="6372200" y="3413695"/>
            <a:ext cx="1801442" cy="131144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72200" y="1916832"/>
            <a:ext cx="1675041" cy="1373534"/>
          </a:xfrm>
          <a:prstGeom prst="rect">
            <a:avLst/>
          </a:prstGeom>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marL="0"/>
            <a:r>
              <a:rPr lang="en-US" sz="3400" b="1" dirty="0" smtClean="0">
                <a:solidFill>
                  <a:srgbClr val="FF6600"/>
                </a:solidFill>
                <a:latin typeface="Helvetica" pitchFamily="34" charset="0"/>
              </a:rPr>
              <a:t>Evaluate sources of destination information</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5040560"/>
          </a:xfrm>
        </p:spPr>
        <p:txBody>
          <a:bodyPr>
            <a:normAutofit/>
          </a:bodyPr>
          <a:lstStyle/>
          <a:p>
            <a:pPr>
              <a:spcBef>
                <a:spcPts val="600"/>
              </a:spcBef>
              <a:spcAft>
                <a:spcPts val="1200"/>
              </a:spcAft>
              <a:buNone/>
            </a:pPr>
            <a:r>
              <a:rPr lang="en-US" sz="2000" b="1" dirty="0" smtClean="0">
                <a:latin typeface="Helvetica" pitchFamily="34" charset="0"/>
              </a:rPr>
              <a:t>Importance of conducting evaluations</a:t>
            </a:r>
          </a:p>
          <a:p>
            <a:pPr>
              <a:spcBef>
                <a:spcPts val="600"/>
              </a:spcBef>
              <a:spcAft>
                <a:spcPts val="1200"/>
              </a:spcAft>
            </a:pPr>
            <a:r>
              <a:rPr lang="en-AU" sz="2000" dirty="0" smtClean="0">
                <a:latin typeface="Helvetica" pitchFamily="34" charset="0"/>
              </a:rPr>
              <a:t>In any travel and tourism business it is vital to confirm that the sources of information are reliable and that the actual </a:t>
            </a:r>
            <a:r>
              <a:rPr lang="en-US" sz="2000" dirty="0" smtClean="0">
                <a:latin typeface="Helvetica" pitchFamily="34" charset="0"/>
              </a:rPr>
              <a:t>destination </a:t>
            </a:r>
            <a:r>
              <a:rPr lang="en-AU" sz="2000" dirty="0" smtClean="0">
                <a:latin typeface="Helvetica" pitchFamily="34" charset="0"/>
              </a:rPr>
              <a:t>information from each of these sources are accurate and </a:t>
            </a:r>
            <a:r>
              <a:rPr lang="en-US" sz="2000" dirty="0" smtClean="0">
                <a:latin typeface="Helvetica" pitchFamily="34" charset="0"/>
              </a:rPr>
              <a:t>up to date</a:t>
            </a:r>
            <a:endParaRPr lang="en-US"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128</a:t>
            </a:fld>
            <a:endParaRPr lang="en-US" dirty="0">
              <a:latin typeface="Helvetica" pitchFamily="34" charset="0"/>
            </a:endParaRPr>
          </a:p>
        </p:txBody>
      </p:sp>
      <p:pic>
        <p:nvPicPr>
          <p:cNvPr id="6" name="Picture 5" descr="A22 shutterstock_182450381.jpg"/>
          <p:cNvPicPr/>
          <p:nvPr/>
        </p:nvPicPr>
        <p:blipFill>
          <a:blip r:embed="rId3" cstate="print"/>
          <a:stretch>
            <a:fillRect/>
          </a:stretch>
        </p:blipFill>
        <p:spPr>
          <a:xfrm>
            <a:off x="2903685" y="3861048"/>
            <a:ext cx="2376264" cy="158417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marL="0"/>
            <a:r>
              <a:rPr lang="en-US" sz="3400" b="1" dirty="0" smtClean="0">
                <a:solidFill>
                  <a:srgbClr val="FF6600"/>
                </a:solidFill>
                <a:latin typeface="Helvetica" pitchFamily="34" charset="0"/>
              </a:rPr>
              <a:t>Evaluate sources of destination information</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40560"/>
          </a:xfrm>
        </p:spPr>
        <p:txBody>
          <a:bodyPr>
            <a:normAutofit/>
          </a:bodyPr>
          <a:lstStyle/>
          <a:p>
            <a:pPr>
              <a:spcBef>
                <a:spcPts val="600"/>
              </a:spcBef>
              <a:spcAft>
                <a:spcPts val="1200"/>
              </a:spcAft>
              <a:buNone/>
            </a:pPr>
            <a:r>
              <a:rPr lang="en-US" sz="1800" b="1" dirty="0" smtClean="0">
                <a:latin typeface="Helvetica" pitchFamily="34" charset="0"/>
              </a:rPr>
              <a:t>Importance of evaluating sources of information</a:t>
            </a:r>
            <a:endParaRPr lang="en-US" sz="1800" dirty="0" smtClean="0">
              <a:latin typeface="Helvetica" pitchFamily="34" charset="0"/>
            </a:endParaRPr>
          </a:p>
          <a:p>
            <a:pPr lvl="0">
              <a:spcBef>
                <a:spcPts val="600"/>
              </a:spcBef>
              <a:spcAft>
                <a:spcPts val="1200"/>
              </a:spcAft>
            </a:pPr>
            <a:r>
              <a:rPr lang="en-US" sz="1800" dirty="0" smtClean="0">
                <a:latin typeface="Helvetica" pitchFamily="34" charset="0"/>
              </a:rPr>
              <a:t>Promote legitimate destinations, suppliers, products and services</a:t>
            </a:r>
          </a:p>
          <a:p>
            <a:pPr lvl="0">
              <a:spcBef>
                <a:spcPts val="600"/>
              </a:spcBef>
              <a:spcAft>
                <a:spcPts val="1200"/>
              </a:spcAft>
            </a:pPr>
            <a:r>
              <a:rPr lang="en-US" sz="1800" dirty="0" smtClean="0">
                <a:latin typeface="Helvetica" pitchFamily="34" charset="0"/>
              </a:rPr>
              <a:t>Ensure the information provided is a true reflection of what is being promoted</a:t>
            </a:r>
          </a:p>
          <a:p>
            <a:pPr lvl="0">
              <a:spcBef>
                <a:spcPts val="600"/>
              </a:spcBef>
              <a:spcAft>
                <a:spcPts val="1200"/>
              </a:spcAft>
            </a:pPr>
            <a:r>
              <a:rPr lang="en-AU" sz="1800" dirty="0" smtClean="0">
                <a:latin typeface="Helvetica" pitchFamily="34" charset="0"/>
              </a:rPr>
              <a:t>Ensure customers don’t receive </a:t>
            </a:r>
            <a:r>
              <a:rPr lang="en-AU" sz="1800" dirty="0" smtClean="0"/>
              <a:t>offers</a:t>
            </a:r>
            <a:r>
              <a:rPr lang="en-AU" sz="1800" dirty="0" smtClean="0">
                <a:latin typeface="Helvetica" pitchFamily="34" charset="0"/>
              </a:rPr>
              <a:t> no longer available </a:t>
            </a:r>
            <a:endParaRPr lang="en-US" sz="1800" dirty="0" smtClean="0">
              <a:latin typeface="Helvetica" pitchFamily="34" charset="0"/>
            </a:endParaRPr>
          </a:p>
          <a:p>
            <a:pPr lvl="0">
              <a:spcBef>
                <a:spcPts val="600"/>
              </a:spcBef>
              <a:spcAft>
                <a:spcPts val="1200"/>
              </a:spcAft>
            </a:pPr>
            <a:r>
              <a:rPr lang="en-AU" sz="1800" dirty="0" smtClean="0">
                <a:latin typeface="Helvetica" pitchFamily="34" charset="0"/>
              </a:rPr>
              <a:t>Materials show current prices </a:t>
            </a:r>
            <a:endParaRPr lang="en-US" sz="1800" dirty="0" smtClean="0">
              <a:latin typeface="Helvetica" pitchFamily="34" charset="0"/>
            </a:endParaRPr>
          </a:p>
          <a:p>
            <a:pPr lvl="0">
              <a:spcBef>
                <a:spcPts val="600"/>
              </a:spcBef>
              <a:spcAft>
                <a:spcPts val="1200"/>
              </a:spcAft>
            </a:pPr>
            <a:r>
              <a:rPr lang="en-AU" sz="1800" dirty="0" smtClean="0">
                <a:latin typeface="Helvetica" pitchFamily="34" charset="0"/>
              </a:rPr>
              <a:t>Help you refer only to current information </a:t>
            </a:r>
          </a:p>
          <a:p>
            <a:pPr lvl="0">
              <a:spcBef>
                <a:spcPts val="600"/>
              </a:spcBef>
              <a:spcAft>
                <a:spcPts val="1200"/>
              </a:spcAft>
            </a:pPr>
            <a:r>
              <a:rPr lang="en-AU" sz="1800" dirty="0" smtClean="0">
                <a:latin typeface="Helvetica" pitchFamily="34" charset="0"/>
              </a:rPr>
              <a:t>Demonstrates professionalism and attention </a:t>
            </a:r>
            <a:br>
              <a:rPr lang="en-AU" sz="1800" dirty="0" smtClean="0">
                <a:latin typeface="Helvetica" pitchFamily="34" charset="0"/>
              </a:rPr>
            </a:br>
            <a:r>
              <a:rPr lang="en-AU" sz="1800" dirty="0" smtClean="0">
                <a:latin typeface="Helvetica" pitchFamily="34" charset="0"/>
              </a:rPr>
              <a:t>to detail </a:t>
            </a:r>
            <a:endParaRPr lang="en-US" sz="18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129</a:t>
            </a:fld>
            <a:endParaRPr lang="en-US" dirty="0">
              <a:latin typeface="Helvetica" pitchFamily="34" charset="0"/>
            </a:endParaRPr>
          </a:p>
        </p:txBody>
      </p:sp>
      <p:pic>
        <p:nvPicPr>
          <p:cNvPr id="7" name="Picture 6" descr="shutterstock_128200763.jpg"/>
          <p:cNvPicPr/>
          <p:nvPr/>
        </p:nvPicPr>
        <p:blipFill>
          <a:blip r:embed="rId3" cstate="print"/>
          <a:stretch>
            <a:fillRect/>
          </a:stretch>
        </p:blipFill>
        <p:spPr>
          <a:xfrm>
            <a:off x="6228184" y="4077072"/>
            <a:ext cx="2160240" cy="1512168"/>
          </a:xfrm>
          <a:prstGeom prst="rect">
            <a:avLst/>
          </a:prstGeom>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marL="0"/>
            <a:r>
              <a:rPr lang="en-US" sz="3400" b="1" dirty="0" smtClean="0">
                <a:solidFill>
                  <a:srgbClr val="FF6600"/>
                </a:solidFill>
                <a:latin typeface="Helvetica" pitchFamily="34" charset="0"/>
              </a:rPr>
              <a:t>Evaluate sources of destination information</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5040560"/>
          </a:xfrm>
        </p:spPr>
        <p:txBody>
          <a:bodyPr>
            <a:normAutofit/>
          </a:bodyPr>
          <a:lstStyle/>
          <a:p>
            <a:pPr>
              <a:spcBef>
                <a:spcPts val="600"/>
              </a:spcBef>
              <a:spcAft>
                <a:spcPts val="600"/>
              </a:spcAft>
              <a:buNone/>
            </a:pPr>
            <a:r>
              <a:rPr lang="en-US" sz="1800" b="1" dirty="0" smtClean="0"/>
              <a:t>Strategies for evaluating sources of information</a:t>
            </a:r>
            <a:endParaRPr lang="en-US" sz="1800" dirty="0" smtClean="0"/>
          </a:p>
          <a:p>
            <a:pPr>
              <a:spcBef>
                <a:spcPts val="600"/>
              </a:spcBef>
              <a:spcAft>
                <a:spcPts val="600"/>
              </a:spcAft>
            </a:pPr>
            <a:r>
              <a:rPr lang="en-AU" sz="1800" dirty="0" smtClean="0"/>
              <a:t>Seeking feedback from colleagues</a:t>
            </a:r>
          </a:p>
          <a:p>
            <a:pPr>
              <a:spcBef>
                <a:spcPts val="600"/>
              </a:spcBef>
              <a:spcAft>
                <a:spcPts val="600"/>
              </a:spcAft>
            </a:pPr>
            <a:r>
              <a:rPr lang="en-AU" sz="1800" dirty="0" smtClean="0"/>
              <a:t>Seeking feedback from clients on their return from destinations</a:t>
            </a:r>
            <a:endParaRPr lang="en-US" sz="1800" dirty="0" smtClean="0"/>
          </a:p>
          <a:p>
            <a:pPr>
              <a:spcBef>
                <a:spcPts val="600"/>
              </a:spcBef>
              <a:spcAft>
                <a:spcPts val="600"/>
              </a:spcAft>
            </a:pPr>
            <a:r>
              <a:rPr lang="en-AU" sz="1800" dirty="0" smtClean="0"/>
              <a:t>Comparing information from different sources regarding the same destination</a:t>
            </a:r>
            <a:endParaRPr lang="en-US" sz="1800" dirty="0" smtClean="0"/>
          </a:p>
          <a:p>
            <a:pPr>
              <a:spcBef>
                <a:spcPts val="600"/>
              </a:spcBef>
              <a:spcAft>
                <a:spcPts val="600"/>
              </a:spcAft>
            </a:pPr>
            <a:r>
              <a:rPr lang="en-AU" sz="1800" dirty="0" smtClean="0"/>
              <a:t>Relating destination information to personal experience and knowledge</a:t>
            </a:r>
            <a:endParaRPr lang="en-US" sz="1800" dirty="0" smtClean="0"/>
          </a:p>
          <a:p>
            <a:pPr>
              <a:spcBef>
                <a:spcPts val="600"/>
              </a:spcBef>
              <a:spcAft>
                <a:spcPts val="600"/>
              </a:spcAft>
            </a:pPr>
            <a:r>
              <a:rPr lang="en-AU" sz="1800" dirty="0" smtClean="0"/>
              <a:t>Assessing source against criteria for capturing </a:t>
            </a:r>
            <a:br>
              <a:rPr lang="en-AU" sz="1800" dirty="0" smtClean="0"/>
            </a:br>
            <a:r>
              <a:rPr lang="en-AU" sz="1800" dirty="0" smtClean="0"/>
              <a:t>destination information</a:t>
            </a:r>
          </a:p>
          <a:p>
            <a:pPr>
              <a:spcBef>
                <a:spcPts val="600"/>
              </a:spcBef>
              <a:spcAft>
                <a:spcPts val="600"/>
              </a:spcAft>
            </a:pPr>
            <a:r>
              <a:rPr lang="en-AU" sz="1800" dirty="0" smtClean="0"/>
              <a:t>Researching comments on websites</a:t>
            </a:r>
          </a:p>
          <a:p>
            <a:pPr>
              <a:spcBef>
                <a:spcPts val="600"/>
              </a:spcBef>
              <a:spcAft>
                <a:spcPts val="600"/>
              </a:spcAft>
            </a:pPr>
            <a:endParaRPr lang="en-AU" sz="1800" dirty="0" smtClean="0"/>
          </a:p>
          <a:p>
            <a:pPr>
              <a:spcBef>
                <a:spcPts val="600"/>
              </a:spcBef>
              <a:spcAft>
                <a:spcPts val="600"/>
              </a:spcAft>
              <a:buNone/>
            </a:pPr>
            <a:r>
              <a:rPr lang="en-AU" sz="1800" b="1" i="1" dirty="0" smtClean="0">
                <a:solidFill>
                  <a:srgbClr val="FF6600"/>
                </a:solidFill>
              </a:rPr>
              <a:t>COMPLETE ACTIVITIES 18&amp;19</a:t>
            </a:r>
            <a:endParaRPr lang="en-US" sz="1800" b="1" i="1" dirty="0" smtClean="0"/>
          </a:p>
          <a:p>
            <a:endParaRPr lang="en-US" sz="18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130</a:t>
            </a:fld>
            <a:endParaRPr lang="en-US" dirty="0">
              <a:latin typeface="Helvetica" pitchFamily="34" charset="0"/>
            </a:endParaRPr>
          </a:p>
        </p:txBody>
      </p:sp>
      <p:pic>
        <p:nvPicPr>
          <p:cNvPr id="8" name="Picture 7" descr="W565_ladywithfile_shutterstock_143142244.jpg"/>
          <p:cNvPicPr/>
          <p:nvPr/>
        </p:nvPicPr>
        <p:blipFill>
          <a:blip r:embed="rId3" cstate="print"/>
          <a:stretch>
            <a:fillRect/>
          </a:stretch>
        </p:blipFill>
        <p:spPr>
          <a:xfrm>
            <a:off x="6428075" y="4293096"/>
            <a:ext cx="2016224" cy="1440160"/>
          </a:xfrm>
          <a:prstGeom prst="rect">
            <a:avLst/>
          </a:prstGeom>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marL="0"/>
            <a:r>
              <a:rPr lang="en-US" sz="3400" b="1" dirty="0" smtClean="0">
                <a:solidFill>
                  <a:srgbClr val="FF6600"/>
                </a:solidFill>
                <a:latin typeface="Helvetica" pitchFamily="34" charset="0"/>
              </a:rPr>
              <a:t>Evaluate sources of destination information</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1800" b="1" dirty="0" smtClean="0">
                <a:latin typeface="Helvetica" pitchFamily="34" charset="0"/>
              </a:rPr>
              <a:t>Ensure accurate and updated destination information</a:t>
            </a:r>
            <a:endParaRPr lang="en-US" sz="1800" dirty="0" smtClean="0">
              <a:latin typeface="Helvetica" pitchFamily="34" charset="0"/>
            </a:endParaRPr>
          </a:p>
          <a:p>
            <a:pPr>
              <a:spcBef>
                <a:spcPts val="600"/>
              </a:spcBef>
              <a:spcAft>
                <a:spcPts val="1200"/>
              </a:spcAft>
            </a:pPr>
            <a:r>
              <a:rPr lang="en-US" sz="1800" dirty="0" smtClean="0">
                <a:latin typeface="Helvetica" pitchFamily="34" charset="0"/>
              </a:rPr>
              <a:t>Observing expiry dates of information</a:t>
            </a:r>
          </a:p>
          <a:p>
            <a:pPr>
              <a:spcBef>
                <a:spcPts val="600"/>
              </a:spcBef>
              <a:spcAft>
                <a:spcPts val="1200"/>
              </a:spcAft>
            </a:pPr>
            <a:r>
              <a:rPr lang="en-US" sz="1800" dirty="0" smtClean="0">
                <a:latin typeface="Helvetica" pitchFamily="34" charset="0"/>
              </a:rPr>
              <a:t>Looking up updates</a:t>
            </a:r>
          </a:p>
          <a:p>
            <a:pPr>
              <a:spcBef>
                <a:spcPts val="600"/>
              </a:spcBef>
              <a:spcAft>
                <a:spcPts val="1200"/>
              </a:spcAft>
            </a:pPr>
            <a:r>
              <a:rPr lang="en-AU" sz="1800" dirty="0" smtClean="0">
                <a:latin typeface="Helvetica" pitchFamily="34" charset="0"/>
              </a:rPr>
              <a:t>Read briefings of new information</a:t>
            </a:r>
            <a:endParaRPr lang="en-US" sz="1800" dirty="0" smtClean="0">
              <a:latin typeface="Helvetica" pitchFamily="34" charset="0"/>
            </a:endParaRPr>
          </a:p>
          <a:p>
            <a:pPr>
              <a:spcBef>
                <a:spcPts val="600"/>
              </a:spcBef>
              <a:spcAft>
                <a:spcPts val="1200"/>
              </a:spcAft>
            </a:pPr>
            <a:r>
              <a:rPr lang="en-AU" sz="1800" dirty="0" smtClean="0">
                <a:latin typeface="Helvetica" pitchFamily="34" charset="0"/>
              </a:rPr>
              <a:t>Monitoring relevant industry trends and issues</a:t>
            </a:r>
            <a:endParaRPr lang="en-US" sz="1800" dirty="0" smtClean="0">
              <a:latin typeface="Helvetica" pitchFamily="34" charset="0"/>
            </a:endParaRPr>
          </a:p>
          <a:p>
            <a:pPr>
              <a:spcBef>
                <a:spcPts val="600"/>
              </a:spcBef>
              <a:spcAft>
                <a:spcPts val="1200"/>
              </a:spcAft>
            </a:pPr>
            <a:r>
              <a:rPr lang="en-AU" sz="1800" dirty="0" smtClean="0">
                <a:latin typeface="Helvetica" pitchFamily="34" charset="0"/>
              </a:rPr>
              <a:t>Participating in local familiarisation tours </a:t>
            </a:r>
            <a:endParaRPr lang="en-US" sz="1800" dirty="0" smtClean="0">
              <a:latin typeface="Helvetica" pitchFamily="34" charset="0"/>
            </a:endParaRPr>
          </a:p>
          <a:p>
            <a:pPr>
              <a:spcBef>
                <a:spcPts val="600"/>
              </a:spcBef>
              <a:spcAft>
                <a:spcPts val="1200"/>
              </a:spcAft>
            </a:pPr>
            <a:r>
              <a:rPr lang="en-AU" sz="1800" dirty="0" smtClean="0">
                <a:latin typeface="Helvetica" pitchFamily="34" charset="0"/>
              </a:rPr>
              <a:t>Observing media</a:t>
            </a:r>
            <a:endParaRPr lang="en-US" sz="1800" dirty="0" smtClean="0">
              <a:latin typeface="Helvetica" pitchFamily="34" charset="0"/>
            </a:endParaRPr>
          </a:p>
          <a:p>
            <a:pPr>
              <a:spcBef>
                <a:spcPts val="600"/>
              </a:spcBef>
              <a:spcAft>
                <a:spcPts val="1200"/>
              </a:spcAft>
            </a:pPr>
            <a:r>
              <a:rPr lang="en-AU" sz="1800" dirty="0" smtClean="0">
                <a:latin typeface="Helvetica" pitchFamily="34" charset="0"/>
              </a:rPr>
              <a:t>Getting on mailing lists</a:t>
            </a:r>
          </a:p>
          <a:p>
            <a:pPr>
              <a:spcBef>
                <a:spcPts val="600"/>
              </a:spcBef>
              <a:spcAft>
                <a:spcPts val="1200"/>
              </a:spcAft>
            </a:pPr>
            <a:endParaRPr lang="en-US" sz="1800" dirty="0" smtClean="0">
              <a:latin typeface="Helvetica" pitchFamily="34" charset="0"/>
            </a:endParaRPr>
          </a:p>
          <a:p>
            <a:pPr>
              <a:spcBef>
                <a:spcPts val="600"/>
              </a:spcBef>
              <a:spcAft>
                <a:spcPts val="1200"/>
              </a:spcAft>
              <a:buNone/>
            </a:pPr>
            <a:r>
              <a:rPr lang="en-AU" sz="1800" b="1" i="1" dirty="0" smtClean="0">
                <a:solidFill>
                  <a:srgbClr val="FF6600"/>
                </a:solidFill>
                <a:latin typeface="Helvetica" pitchFamily="34" charset="0"/>
              </a:rPr>
              <a:t>COMPLETE ACTIVITY 20</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131</a:t>
            </a:fld>
            <a:endParaRPr lang="en-US" dirty="0">
              <a:latin typeface="Helvetica" pitchFamily="34" charset="0"/>
            </a:endParaRPr>
          </a:p>
        </p:txBody>
      </p:sp>
      <p:pic>
        <p:nvPicPr>
          <p:cNvPr id="7" name="Picture 6" descr="shutterstock_116731201.jpg"/>
          <p:cNvPicPr/>
          <p:nvPr/>
        </p:nvPicPr>
        <p:blipFill>
          <a:blip r:embed="rId3" cstate="print"/>
          <a:stretch>
            <a:fillRect/>
          </a:stretch>
        </p:blipFill>
        <p:spPr>
          <a:xfrm>
            <a:off x="6300192" y="4005064"/>
            <a:ext cx="2088232" cy="1483221"/>
          </a:xfrm>
          <a:prstGeom prst="rect">
            <a:avLst/>
          </a:prstGeom>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marL="0"/>
            <a:r>
              <a:rPr lang="en-US" sz="3400" b="1" dirty="0" smtClean="0">
                <a:solidFill>
                  <a:srgbClr val="FF6600"/>
                </a:solidFill>
                <a:latin typeface="Helvetica" pitchFamily="34" charset="0"/>
              </a:rPr>
              <a:t>Evaluate provision of destination information</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1800" b="1" dirty="0" smtClean="0">
                <a:latin typeface="Helvetica" pitchFamily="34" charset="0"/>
              </a:rPr>
              <a:t>Importance of evaluating provision of information</a:t>
            </a:r>
            <a:endParaRPr lang="en-US" sz="1800" dirty="0" smtClean="0">
              <a:latin typeface="Helvetica" pitchFamily="34" charset="0"/>
            </a:endParaRPr>
          </a:p>
          <a:p>
            <a:pPr>
              <a:spcBef>
                <a:spcPts val="600"/>
              </a:spcBef>
              <a:spcAft>
                <a:spcPts val="1200"/>
              </a:spcAft>
            </a:pPr>
            <a:r>
              <a:rPr lang="en-AU" sz="1800" dirty="0" smtClean="0">
                <a:latin typeface="Helvetica" pitchFamily="34" charset="0"/>
              </a:rPr>
              <a:t>In the previous section we looked at the reliability and accuracy of collecting destination information. Whilst this is vital, it is only one half of the information process</a:t>
            </a:r>
            <a:endParaRPr lang="en-US" sz="1800" dirty="0" smtClean="0">
              <a:latin typeface="Helvetica" pitchFamily="34" charset="0"/>
            </a:endParaRPr>
          </a:p>
          <a:p>
            <a:pPr>
              <a:spcBef>
                <a:spcPts val="600"/>
              </a:spcBef>
              <a:spcAft>
                <a:spcPts val="1200"/>
              </a:spcAft>
            </a:pPr>
            <a:r>
              <a:rPr lang="en-AU" sz="1800" dirty="0" smtClean="0">
                <a:latin typeface="Helvetica" pitchFamily="34" charset="0"/>
              </a:rPr>
              <a:t>It is also important to evaluate the methods that you use to provide information to clients</a:t>
            </a:r>
            <a:endParaRPr lang="en-US" sz="18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132</a:t>
            </a:fld>
            <a:endParaRPr lang="en-US" dirty="0">
              <a:latin typeface="Helvetica" pitchFamily="34" charset="0"/>
            </a:endParaRPr>
          </a:p>
        </p:txBody>
      </p:sp>
      <p:pic>
        <p:nvPicPr>
          <p:cNvPr id="6" name="Picture 5" descr="shutterstock_187520741.jpg"/>
          <p:cNvPicPr>
            <a:picLocks noChangeAspect="1"/>
          </p:cNvPicPr>
          <p:nvPr/>
        </p:nvPicPr>
        <p:blipFill>
          <a:blip r:embed="rId3" cstate="print"/>
          <a:stretch>
            <a:fillRect/>
          </a:stretch>
        </p:blipFill>
        <p:spPr>
          <a:xfrm>
            <a:off x="2987824" y="4077072"/>
            <a:ext cx="2171748" cy="144855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marL="0"/>
            <a:r>
              <a:rPr lang="en-US" sz="3400" b="1" dirty="0" smtClean="0">
                <a:solidFill>
                  <a:srgbClr val="FF6600"/>
                </a:solidFill>
                <a:latin typeface="Helvetica" pitchFamily="34" charset="0"/>
              </a:rPr>
              <a:t>Evaluate provision of destination information</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1800" b="1" dirty="0" smtClean="0">
                <a:latin typeface="Helvetica" pitchFamily="34" charset="0"/>
              </a:rPr>
              <a:t>Review methods of providing destination information</a:t>
            </a:r>
            <a:endParaRPr lang="en-US" sz="1800" dirty="0" smtClean="0">
              <a:latin typeface="Helvetica" pitchFamily="34" charset="0"/>
            </a:endParaRPr>
          </a:p>
          <a:p>
            <a:pPr marL="0">
              <a:spcBef>
                <a:spcPts val="600"/>
              </a:spcBef>
              <a:spcAft>
                <a:spcPts val="1200"/>
              </a:spcAft>
              <a:buNone/>
            </a:pPr>
            <a:r>
              <a:rPr lang="en-AU" sz="1800" dirty="0" smtClean="0">
                <a:latin typeface="Helvetica" pitchFamily="34" charset="0"/>
              </a:rPr>
              <a:t>At times, it is important the review if the methods used to share information are the most appropriate to:</a:t>
            </a:r>
            <a:endParaRPr lang="en-US" sz="1800" dirty="0" smtClean="0">
              <a:latin typeface="Helvetica" pitchFamily="34" charset="0"/>
            </a:endParaRPr>
          </a:p>
          <a:p>
            <a:pPr lvl="0">
              <a:spcBef>
                <a:spcPts val="600"/>
              </a:spcBef>
              <a:spcAft>
                <a:spcPts val="1200"/>
              </a:spcAft>
            </a:pPr>
            <a:r>
              <a:rPr lang="en-AU" sz="1800" dirty="0" smtClean="0">
                <a:latin typeface="Helvetica" pitchFamily="34" charset="0"/>
              </a:rPr>
              <a:t>Pass on destination information</a:t>
            </a:r>
            <a:endParaRPr lang="en-US" sz="1800" dirty="0" smtClean="0">
              <a:latin typeface="Helvetica" pitchFamily="34" charset="0"/>
            </a:endParaRPr>
          </a:p>
          <a:p>
            <a:pPr lvl="0">
              <a:spcBef>
                <a:spcPts val="600"/>
              </a:spcBef>
              <a:spcAft>
                <a:spcPts val="1200"/>
              </a:spcAft>
            </a:pPr>
            <a:r>
              <a:rPr lang="en-AU" sz="1800" dirty="0" smtClean="0">
                <a:latin typeface="Helvetica" pitchFamily="34" charset="0"/>
              </a:rPr>
              <a:t>Ensures sufficient amount of information to make an informed decisions</a:t>
            </a:r>
            <a:endParaRPr lang="en-US" sz="1800" dirty="0" smtClean="0">
              <a:latin typeface="Helvetica" pitchFamily="34" charset="0"/>
            </a:endParaRPr>
          </a:p>
          <a:p>
            <a:pPr lvl="0">
              <a:spcBef>
                <a:spcPts val="600"/>
              </a:spcBef>
              <a:spcAft>
                <a:spcPts val="1200"/>
              </a:spcAft>
            </a:pPr>
            <a:r>
              <a:rPr lang="en-AU" sz="1800" dirty="0" smtClean="0">
                <a:latin typeface="Helvetica" pitchFamily="34" charset="0"/>
              </a:rPr>
              <a:t>In a method or format that is user friendly to them</a:t>
            </a:r>
            <a:endParaRPr lang="en-US" sz="1800" dirty="0" smtClean="0">
              <a:latin typeface="Helvetica" pitchFamily="34" charset="0"/>
            </a:endParaRPr>
          </a:p>
          <a:p>
            <a:pPr lvl="0">
              <a:spcBef>
                <a:spcPts val="600"/>
              </a:spcBef>
              <a:spcAft>
                <a:spcPts val="1200"/>
              </a:spcAft>
            </a:pPr>
            <a:r>
              <a:rPr lang="en-AU" sz="1800" dirty="0" smtClean="0">
                <a:latin typeface="Helvetica" pitchFamily="34" charset="0"/>
              </a:rPr>
              <a:t>Is understandable</a:t>
            </a:r>
            <a:endParaRPr lang="en-US" sz="1800" dirty="0" smtClean="0">
              <a:latin typeface="Helvetica" pitchFamily="34" charset="0"/>
            </a:endParaRPr>
          </a:p>
          <a:p>
            <a:pPr lvl="0">
              <a:spcBef>
                <a:spcPts val="600"/>
              </a:spcBef>
              <a:spcAft>
                <a:spcPts val="1200"/>
              </a:spcAft>
            </a:pPr>
            <a:r>
              <a:rPr lang="en-AU" sz="1800" dirty="0" smtClean="0">
                <a:latin typeface="Helvetica" pitchFamily="34" charset="0"/>
              </a:rPr>
              <a:t>Encourages clients to make a purchase</a:t>
            </a:r>
            <a:endParaRPr lang="en-US" sz="18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133</a:t>
            </a:fld>
            <a:endParaRPr lang="en-US" dirty="0">
              <a:latin typeface="Helvetica" pitchFamily="34" charset="0"/>
            </a:endParaRPr>
          </a:p>
        </p:txBody>
      </p:sp>
      <p:pic>
        <p:nvPicPr>
          <p:cNvPr id="7" name="Picture 6" descr="W208_travelagent_shutterstock.jpg"/>
          <p:cNvPicPr/>
          <p:nvPr/>
        </p:nvPicPr>
        <p:blipFill>
          <a:blip r:embed="rId3" cstate="print"/>
          <a:stretch>
            <a:fillRect/>
          </a:stretch>
        </p:blipFill>
        <p:spPr>
          <a:xfrm>
            <a:off x="6516216" y="4149080"/>
            <a:ext cx="1872208" cy="1512168"/>
          </a:xfrm>
          <a:prstGeom prst="rect">
            <a:avLst/>
          </a:prstGeom>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shutterstock_196601204.jpg"/>
          <p:cNvPicPr>
            <a:picLocks noChangeAspect="1"/>
          </p:cNvPicPr>
          <p:nvPr/>
        </p:nvPicPr>
        <p:blipFill>
          <a:blip r:embed="rId3" cstate="print"/>
          <a:stretch>
            <a:fillRect/>
          </a:stretch>
        </p:blipFill>
        <p:spPr>
          <a:xfrm>
            <a:off x="6435334" y="2276872"/>
            <a:ext cx="1881082" cy="2508109"/>
          </a:xfrm>
          <a:prstGeom prst="rect">
            <a:avLst/>
          </a:prstGeom>
        </p:spPr>
      </p:pic>
      <p:sp>
        <p:nvSpPr>
          <p:cNvPr id="2" name="Title 1"/>
          <p:cNvSpPr>
            <a:spLocks noGrp="1"/>
          </p:cNvSpPr>
          <p:nvPr>
            <p:ph type="title"/>
          </p:nvPr>
        </p:nvSpPr>
        <p:spPr>
          <a:xfrm>
            <a:off x="611560" y="332656"/>
            <a:ext cx="8064896" cy="1143000"/>
          </a:xfrm>
        </p:spPr>
        <p:txBody>
          <a:bodyPr>
            <a:normAutofit/>
          </a:bodyPr>
          <a:lstStyle/>
          <a:p>
            <a:pPr marL="0"/>
            <a:r>
              <a:rPr lang="en-US" sz="3400" b="1" dirty="0" smtClean="0">
                <a:solidFill>
                  <a:srgbClr val="FF6600"/>
                </a:solidFill>
                <a:latin typeface="Helvetica" pitchFamily="34" charset="0"/>
              </a:rPr>
              <a:t>Evaluate provision of destination information</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000" b="1" dirty="0" smtClean="0">
                <a:latin typeface="Helvetica" pitchFamily="34" charset="0"/>
              </a:rPr>
              <a:t>Methods used to evaluate methods and effectiveness of provisions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Seeking feedback from clients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Identifying which methods are preferred </a:t>
            </a:r>
            <a:br>
              <a:rPr lang="en-AU" sz="2000" dirty="0" smtClean="0">
                <a:latin typeface="Helvetica" pitchFamily="34" charset="0"/>
              </a:rPr>
            </a:br>
            <a:r>
              <a:rPr lang="en-AU" sz="2000" dirty="0" smtClean="0">
                <a:latin typeface="Helvetica" pitchFamily="34" charset="0"/>
              </a:rPr>
              <a:t>by existing clients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Identifying deficiencies in information provided</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Appraising new options</a:t>
            </a: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134</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143000"/>
          </a:xfrm>
        </p:spPr>
        <p:txBody>
          <a:bodyPr>
            <a:normAutofit/>
          </a:bodyPr>
          <a:lstStyle/>
          <a:p>
            <a:pPr marL="0"/>
            <a:r>
              <a:rPr lang="en-US" sz="3400" b="1" dirty="0" smtClean="0">
                <a:solidFill>
                  <a:srgbClr val="FF6600"/>
                </a:solidFill>
                <a:latin typeface="Helvetica" pitchFamily="34" charset="0"/>
              </a:rPr>
              <a:t>Evaluate provision of destination information</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656184"/>
            <a:ext cx="7467600" cy="5301208"/>
          </a:xfrm>
        </p:spPr>
        <p:txBody>
          <a:bodyPr>
            <a:normAutofit/>
          </a:bodyPr>
          <a:lstStyle/>
          <a:p>
            <a:pPr marL="0">
              <a:spcBef>
                <a:spcPts val="600"/>
              </a:spcBef>
              <a:spcAft>
                <a:spcPts val="1200"/>
              </a:spcAft>
              <a:buNone/>
            </a:pPr>
            <a:r>
              <a:rPr lang="en-AU" sz="2000" b="1" dirty="0" smtClean="0"/>
              <a:t>Methods used to evaluate methods and effectiveness of provisions</a:t>
            </a:r>
            <a:endParaRPr lang="en-US" sz="2000" dirty="0" smtClean="0"/>
          </a:p>
          <a:p>
            <a:pPr lvl="0">
              <a:spcBef>
                <a:spcPts val="600"/>
              </a:spcBef>
              <a:spcAft>
                <a:spcPts val="1200"/>
              </a:spcAft>
            </a:pPr>
            <a:r>
              <a:rPr lang="en-AU" sz="2000" dirty="0" smtClean="0"/>
              <a:t>Creating new areas for information provision</a:t>
            </a:r>
            <a:endParaRPr lang="en-US" sz="2000" dirty="0" smtClean="0"/>
          </a:p>
          <a:p>
            <a:pPr lvl="0">
              <a:spcBef>
                <a:spcPts val="600"/>
              </a:spcBef>
              <a:spcAft>
                <a:spcPts val="1200"/>
              </a:spcAft>
            </a:pPr>
            <a:r>
              <a:rPr lang="en-AU" sz="2000" dirty="0" smtClean="0"/>
              <a:t>Assessing methods used by the competition</a:t>
            </a:r>
            <a:endParaRPr lang="en-US" sz="2000" dirty="0" smtClean="0"/>
          </a:p>
          <a:p>
            <a:pPr lvl="0">
              <a:spcBef>
                <a:spcPts val="600"/>
              </a:spcBef>
              <a:spcAft>
                <a:spcPts val="1200"/>
              </a:spcAft>
            </a:pPr>
            <a:r>
              <a:rPr lang="en-AU" sz="2000" dirty="0" smtClean="0"/>
              <a:t>Revising current information provision methods                   on the basis of feedback and emerging options</a:t>
            </a:r>
          </a:p>
          <a:p>
            <a:pPr>
              <a:spcBef>
                <a:spcPts val="600"/>
              </a:spcBef>
              <a:spcAft>
                <a:spcPts val="1200"/>
              </a:spcAft>
              <a:buNone/>
            </a:pPr>
            <a:endParaRPr lang="en-AU" sz="2000" dirty="0" smtClean="0">
              <a:solidFill>
                <a:srgbClr val="FF6600"/>
              </a:solidFill>
            </a:endParaRPr>
          </a:p>
          <a:p>
            <a:pPr>
              <a:spcBef>
                <a:spcPts val="600"/>
              </a:spcBef>
              <a:spcAft>
                <a:spcPts val="1200"/>
              </a:spcAft>
              <a:buNone/>
            </a:pPr>
            <a:r>
              <a:rPr lang="en-AU" sz="2000" b="1" i="1" dirty="0" smtClean="0">
                <a:solidFill>
                  <a:srgbClr val="FF6600"/>
                </a:solidFill>
              </a:rPr>
              <a:t>COMPLETE ACTIVITIES 21 &amp; 22</a:t>
            </a:r>
            <a:endParaRPr lang="en-US" sz="2000" b="1" i="1" dirty="0" smtClean="0"/>
          </a:p>
          <a:p>
            <a:pPr lvl="0">
              <a:spcBef>
                <a:spcPts val="600"/>
              </a:spcBef>
              <a:spcAft>
                <a:spcPts val="1200"/>
              </a:spcAft>
            </a:pPr>
            <a:endParaRPr lang="en-AU" sz="2000" dirty="0" smtClean="0"/>
          </a:p>
          <a:p>
            <a:pPr lvl="0">
              <a:spcBef>
                <a:spcPts val="600"/>
              </a:spcBef>
              <a:spcAft>
                <a:spcPts val="1200"/>
              </a:spcAft>
              <a:buNone/>
            </a:pPr>
            <a:endParaRPr lang="en-US"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135</a:t>
            </a:fld>
            <a:endParaRPr lang="en-US" dirty="0">
              <a:latin typeface="Helvetica" pitchFamily="34" charset="0"/>
            </a:endParaRPr>
          </a:p>
        </p:txBody>
      </p:sp>
      <p:pic>
        <p:nvPicPr>
          <p:cNvPr id="7" name="Picture 6" descr="shutterstock_161774252.jpg"/>
          <p:cNvPicPr/>
          <p:nvPr/>
        </p:nvPicPr>
        <p:blipFill>
          <a:blip r:embed="rId3" cstate="print"/>
          <a:stretch>
            <a:fillRect/>
          </a:stretch>
        </p:blipFill>
        <p:spPr>
          <a:xfrm>
            <a:off x="6732240" y="2564904"/>
            <a:ext cx="1440160" cy="1944216"/>
          </a:xfrm>
          <a:prstGeom prst="rect">
            <a:avLst/>
          </a:prstGeom>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Confirm sources of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marL="0">
              <a:spcBef>
                <a:spcPts val="600"/>
              </a:spcBef>
              <a:spcAft>
                <a:spcPts val="1200"/>
              </a:spcAft>
              <a:buNone/>
            </a:pPr>
            <a:r>
              <a:rPr lang="en-AU" sz="2000" b="1" dirty="0" smtClean="0">
                <a:latin typeface="Helvetica" pitchFamily="34" charset="0"/>
              </a:rPr>
              <a:t>Importance of amending or confirming sources of destination information</a:t>
            </a:r>
          </a:p>
          <a:p>
            <a:pPr marL="0">
              <a:spcBef>
                <a:spcPts val="600"/>
              </a:spcBef>
              <a:spcAft>
                <a:spcPts val="1200"/>
              </a:spcAft>
              <a:buNone/>
            </a:pPr>
            <a:r>
              <a:rPr lang="en-AU" sz="2000" dirty="0" smtClean="0">
                <a:latin typeface="Helvetica" pitchFamily="34" charset="0"/>
              </a:rPr>
              <a:t>Whilst it is essential that any information collected and used for analysis be relevant and current, it is also important to ensure:</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Appropriate sources and suppliers of information are used</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Appropriate types of destination information are used</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Information inventories are up-to-date</a:t>
            </a:r>
            <a:endParaRPr lang="en-US"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136</a:t>
            </a:fld>
            <a:endParaRPr lang="en-US" dirty="0"/>
          </a:p>
        </p:txBody>
      </p:sp>
      <p:pic>
        <p:nvPicPr>
          <p:cNvPr id="7" name="Picture 6" descr="shutterstock_181039697.jpg"/>
          <p:cNvPicPr>
            <a:picLocks noChangeAspect="1"/>
          </p:cNvPicPr>
          <p:nvPr/>
        </p:nvPicPr>
        <p:blipFill>
          <a:blip r:embed="rId3" cstate="print"/>
          <a:stretch>
            <a:fillRect/>
          </a:stretch>
        </p:blipFill>
        <p:spPr>
          <a:xfrm>
            <a:off x="6444208" y="4293096"/>
            <a:ext cx="1944216" cy="1296792"/>
          </a:xfrm>
          <a:prstGeom prst="rect">
            <a:avLst/>
          </a:prstGeom>
        </p:spPr>
      </p:pic>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Confirm sources of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76864" cy="5301208"/>
          </a:xfrm>
        </p:spPr>
        <p:txBody>
          <a:bodyPr>
            <a:normAutofit/>
          </a:bodyPr>
          <a:lstStyle/>
          <a:p>
            <a:pPr marL="0">
              <a:spcBef>
                <a:spcPts val="600"/>
              </a:spcBef>
              <a:spcAft>
                <a:spcPts val="1200"/>
              </a:spcAft>
              <a:buNone/>
            </a:pPr>
            <a:r>
              <a:rPr lang="en-AU" sz="1800" b="1" dirty="0" smtClean="0">
                <a:latin typeface="Helvetica" pitchFamily="34" charset="0"/>
              </a:rPr>
              <a:t>Identifying suitable sources and suppliers of destination information</a:t>
            </a:r>
            <a:endParaRPr lang="en-US" sz="1800" dirty="0" smtClean="0">
              <a:latin typeface="Helvetica" pitchFamily="34" charset="0"/>
            </a:endParaRPr>
          </a:p>
          <a:p>
            <a:pPr lvl="0">
              <a:spcBef>
                <a:spcPts val="600"/>
              </a:spcBef>
              <a:spcAft>
                <a:spcPts val="1200"/>
              </a:spcAft>
            </a:pPr>
            <a:r>
              <a:rPr lang="en-AU" sz="1800" dirty="0" smtClean="0">
                <a:latin typeface="Helvetica" pitchFamily="34" charset="0"/>
              </a:rPr>
              <a:t>Identifying client requirements in terms of destination information</a:t>
            </a:r>
            <a:endParaRPr lang="en-US" sz="1800" dirty="0" smtClean="0">
              <a:latin typeface="Helvetica" pitchFamily="34" charset="0"/>
            </a:endParaRPr>
          </a:p>
          <a:p>
            <a:pPr lvl="0">
              <a:spcBef>
                <a:spcPts val="600"/>
              </a:spcBef>
              <a:spcAft>
                <a:spcPts val="1200"/>
              </a:spcAft>
            </a:pPr>
            <a:r>
              <a:rPr lang="en-AU" sz="1800" dirty="0" smtClean="0">
                <a:latin typeface="Helvetica" pitchFamily="34" charset="0"/>
              </a:rPr>
              <a:t>Collecting information as to whom provides </a:t>
            </a:r>
            <a:br>
              <a:rPr lang="en-AU" sz="1800" dirty="0" smtClean="0">
                <a:latin typeface="Helvetica" pitchFamily="34" charset="0"/>
              </a:rPr>
            </a:br>
            <a:r>
              <a:rPr lang="en-AU" sz="1800" dirty="0" smtClean="0">
                <a:latin typeface="Helvetica" pitchFamily="34" charset="0"/>
              </a:rPr>
              <a:t>information relating to these products and services</a:t>
            </a:r>
            <a:endParaRPr lang="en-US" sz="1800" dirty="0" smtClean="0">
              <a:latin typeface="Helvetica" pitchFamily="34" charset="0"/>
            </a:endParaRPr>
          </a:p>
          <a:p>
            <a:pPr lvl="0">
              <a:spcBef>
                <a:spcPts val="600"/>
              </a:spcBef>
              <a:spcAft>
                <a:spcPts val="1200"/>
              </a:spcAft>
            </a:pPr>
            <a:r>
              <a:rPr lang="en-AU" sz="1800" dirty="0" smtClean="0">
                <a:latin typeface="Helvetica" pitchFamily="34" charset="0"/>
              </a:rPr>
              <a:t>Identifying suitable suppliers or sources</a:t>
            </a:r>
            <a:endParaRPr lang="en-US" sz="1800" dirty="0" smtClean="0">
              <a:latin typeface="Helvetica" pitchFamily="34" charset="0"/>
            </a:endParaRPr>
          </a:p>
          <a:p>
            <a:pPr lvl="0">
              <a:spcBef>
                <a:spcPts val="600"/>
              </a:spcBef>
              <a:spcAft>
                <a:spcPts val="1200"/>
              </a:spcAft>
            </a:pPr>
            <a:r>
              <a:rPr lang="en-AU" sz="1800" dirty="0" smtClean="0">
                <a:latin typeface="Helvetica" pitchFamily="34" charset="0"/>
              </a:rPr>
              <a:t>Assessing alternatives against the identified</a:t>
            </a:r>
            <a:br>
              <a:rPr lang="en-AU" sz="1800" dirty="0" smtClean="0">
                <a:latin typeface="Helvetica" pitchFamily="34" charset="0"/>
              </a:rPr>
            </a:br>
            <a:r>
              <a:rPr lang="en-AU" sz="1800" dirty="0" smtClean="0">
                <a:latin typeface="Helvetica" pitchFamily="34" charset="0"/>
              </a:rPr>
              <a:t>client requirements </a:t>
            </a:r>
            <a:endParaRPr lang="en-US" sz="18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137</a:t>
            </a:fld>
            <a:endParaRPr lang="en-US" dirty="0"/>
          </a:p>
        </p:txBody>
      </p:sp>
      <p:pic>
        <p:nvPicPr>
          <p:cNvPr id="6" name="Picture 5" descr="shutterstock_99668000.jpg"/>
          <p:cNvPicPr/>
          <p:nvPr/>
        </p:nvPicPr>
        <p:blipFill>
          <a:blip r:embed="rId3" cstate="print"/>
          <a:stretch>
            <a:fillRect/>
          </a:stretch>
        </p:blipFill>
        <p:spPr>
          <a:xfrm>
            <a:off x="5724128" y="3429000"/>
            <a:ext cx="2304256" cy="1486560"/>
          </a:xfrm>
          <a:prstGeom prst="rect">
            <a:avLst/>
          </a:prstGeom>
        </p:spPr>
      </p:pic>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Best Tour_129392636.jpg"/>
          <p:cNvPicPr/>
          <p:nvPr/>
        </p:nvPicPr>
        <p:blipFill>
          <a:blip r:embed="rId3" cstate="print"/>
          <a:stretch>
            <a:fillRect/>
          </a:stretch>
        </p:blipFill>
        <p:spPr>
          <a:xfrm>
            <a:off x="6228184" y="2636912"/>
            <a:ext cx="2047106" cy="1800200"/>
          </a:xfrm>
          <a:prstGeom prst="rect">
            <a:avLst/>
          </a:prstGeom>
        </p:spPr>
      </p:pic>
      <p:sp>
        <p:nvSpPr>
          <p:cNvPr id="2" name="Title 1"/>
          <p:cNvSpPr>
            <a:spLocks noGrp="1"/>
          </p:cNvSpPr>
          <p:nvPr>
            <p:ph type="title"/>
          </p:nvPr>
        </p:nvSpPr>
        <p:spPr>
          <a:xfrm>
            <a:off x="611560" y="332656"/>
            <a:ext cx="8532440" cy="1143000"/>
          </a:xfrm>
        </p:spPr>
        <p:txBody>
          <a:bodyPr>
            <a:normAutofit/>
          </a:bodyPr>
          <a:lstStyle/>
          <a:p>
            <a:r>
              <a:rPr lang="en-US" sz="3400" b="1" dirty="0" smtClean="0">
                <a:solidFill>
                  <a:srgbClr val="FF6600"/>
                </a:solidFill>
                <a:latin typeface="Helvetica" pitchFamily="34" charset="0"/>
              </a:rPr>
              <a:t>Confirm sources of destination information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28192"/>
            <a:ext cx="7776864" cy="5301208"/>
          </a:xfrm>
        </p:spPr>
        <p:txBody>
          <a:bodyPr>
            <a:normAutofit/>
          </a:bodyPr>
          <a:lstStyle/>
          <a:p>
            <a:pPr marL="0">
              <a:spcBef>
                <a:spcPts val="600"/>
              </a:spcBef>
              <a:spcAft>
                <a:spcPts val="1200"/>
              </a:spcAft>
              <a:buNone/>
            </a:pPr>
            <a:r>
              <a:rPr lang="en-AU" sz="2000" b="1" dirty="0" smtClean="0">
                <a:latin typeface="Helvetica" pitchFamily="34" charset="0"/>
              </a:rPr>
              <a:t>Identifying suitable sources and suppliers of destination information</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Accommodating host enterprise requirements </a:t>
            </a:r>
            <a:br>
              <a:rPr lang="en-AU" sz="2000" dirty="0" smtClean="0">
                <a:latin typeface="Helvetica" pitchFamily="34" charset="0"/>
              </a:rPr>
            </a:br>
            <a:r>
              <a:rPr lang="en-AU" sz="2000" dirty="0" smtClean="0">
                <a:latin typeface="Helvetica" pitchFamily="34" charset="0"/>
              </a:rPr>
              <a:t>in relation to the use of preferred suppliers, </a:t>
            </a:r>
            <a:br>
              <a:rPr lang="en-AU" sz="2000" dirty="0" smtClean="0">
                <a:latin typeface="Helvetica" pitchFamily="34" charset="0"/>
              </a:rPr>
            </a:br>
            <a:r>
              <a:rPr lang="en-AU" sz="2000" dirty="0" smtClean="0">
                <a:latin typeface="Helvetica" pitchFamily="34" charset="0"/>
              </a:rPr>
              <a:t>providers and carriers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Aligning with established client preferences</a:t>
            </a:r>
            <a:endParaRPr lang="en-US" sz="2000" dirty="0" smtClean="0">
              <a:latin typeface="Helvetica" pitchFamily="34" charset="0"/>
            </a:endParaRPr>
          </a:p>
          <a:p>
            <a:pPr lvl="0">
              <a:spcBef>
                <a:spcPts val="600"/>
              </a:spcBef>
              <a:spcAft>
                <a:spcPts val="1200"/>
              </a:spcAft>
            </a:pPr>
            <a:r>
              <a:rPr lang="en-AU" sz="2000" dirty="0" smtClean="0">
                <a:latin typeface="Helvetica" pitchFamily="34" charset="0"/>
              </a:rPr>
              <a:t>Confirm sources / suppliers of destination </a:t>
            </a:r>
            <a:br>
              <a:rPr lang="en-AU" sz="2000" dirty="0" smtClean="0">
                <a:latin typeface="Helvetica" pitchFamily="34" charset="0"/>
              </a:rPr>
            </a:br>
            <a:r>
              <a:rPr lang="en-AU" sz="2000" dirty="0" smtClean="0">
                <a:latin typeface="Helvetica" pitchFamily="34" charset="0"/>
              </a:rPr>
              <a:t>information </a:t>
            </a:r>
            <a:endParaRPr lang="en-US"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138</a:t>
            </a:fld>
            <a:endParaRPr lang="en-US" dirty="0"/>
          </a:p>
        </p:txBody>
      </p:sp>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US" sz="3400" b="1" dirty="0" smtClean="0">
                <a:solidFill>
                  <a:srgbClr val="FF6600"/>
                </a:solidFill>
                <a:latin typeface="Helvetica" pitchFamily="34" charset="0"/>
              </a:rPr>
              <a:t>Monitor destination information inventory</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728192"/>
            <a:ext cx="7467600" cy="5301208"/>
          </a:xfrm>
        </p:spPr>
        <p:txBody>
          <a:bodyPr>
            <a:normAutofit/>
          </a:bodyPr>
          <a:lstStyle/>
          <a:p>
            <a:pPr>
              <a:spcBef>
                <a:spcPts val="600"/>
              </a:spcBef>
              <a:spcAft>
                <a:spcPts val="1200"/>
              </a:spcAft>
              <a:buNone/>
            </a:pPr>
            <a:r>
              <a:rPr lang="en-AU" sz="1800" b="1" dirty="0" smtClean="0"/>
              <a:t>Methods to monitor destination information inventory</a:t>
            </a:r>
            <a:endParaRPr lang="en-US" sz="1800" dirty="0" smtClean="0"/>
          </a:p>
          <a:p>
            <a:pPr lvl="0">
              <a:spcBef>
                <a:spcPts val="600"/>
              </a:spcBef>
              <a:spcAft>
                <a:spcPts val="1200"/>
              </a:spcAft>
            </a:pPr>
            <a:r>
              <a:rPr lang="en-AU" sz="1800" dirty="0" smtClean="0"/>
              <a:t>Assessing completeness, accuracy and currency of the product information</a:t>
            </a:r>
            <a:endParaRPr lang="en-US" sz="1800" dirty="0" smtClean="0"/>
          </a:p>
          <a:p>
            <a:pPr lvl="0">
              <a:spcBef>
                <a:spcPts val="600"/>
              </a:spcBef>
              <a:spcAft>
                <a:spcPts val="1200"/>
              </a:spcAft>
            </a:pPr>
            <a:r>
              <a:rPr lang="en-AU" sz="1800" dirty="0" smtClean="0"/>
              <a:t>Verifying source of information</a:t>
            </a:r>
            <a:endParaRPr lang="en-US" sz="1800" dirty="0" smtClean="0"/>
          </a:p>
          <a:p>
            <a:pPr lvl="0">
              <a:spcBef>
                <a:spcPts val="600"/>
              </a:spcBef>
              <a:spcAft>
                <a:spcPts val="1200"/>
              </a:spcAft>
            </a:pPr>
            <a:r>
              <a:rPr lang="en-AU" sz="1800" dirty="0" smtClean="0"/>
              <a:t>Monitoring bookings, allotments/allocations </a:t>
            </a:r>
            <a:br>
              <a:rPr lang="en-AU" sz="1800" dirty="0" smtClean="0"/>
            </a:br>
            <a:r>
              <a:rPr lang="en-AU" sz="1800" dirty="0" smtClean="0"/>
              <a:t>and requests</a:t>
            </a:r>
            <a:endParaRPr lang="en-US" sz="1800" dirty="0" smtClean="0"/>
          </a:p>
          <a:p>
            <a:pPr lvl="0">
              <a:spcBef>
                <a:spcPts val="600"/>
              </a:spcBef>
              <a:spcAft>
                <a:spcPts val="1200"/>
              </a:spcAft>
            </a:pPr>
            <a:r>
              <a:rPr lang="en-AU" sz="1800" dirty="0" smtClean="0"/>
              <a:t>Ensuring regular up-dates in accordance with </a:t>
            </a:r>
            <a:br>
              <a:rPr lang="en-AU" sz="1800" dirty="0" smtClean="0"/>
            </a:br>
            <a:r>
              <a:rPr lang="en-AU" sz="1800" dirty="0" smtClean="0"/>
              <a:t>supplier schedules and seasonal demands</a:t>
            </a:r>
            <a:endParaRPr lang="en-US" sz="1800" dirty="0" smtClean="0"/>
          </a:p>
          <a:p>
            <a:pPr lvl="0">
              <a:spcBef>
                <a:spcPts val="600"/>
              </a:spcBef>
              <a:spcAft>
                <a:spcPts val="1200"/>
              </a:spcAft>
            </a:pPr>
            <a:r>
              <a:rPr lang="en-AU" sz="1800" dirty="0" smtClean="0"/>
              <a:t>Ensuring all products and services offered are supported by suitable and sufficient product information inventory</a:t>
            </a:r>
            <a:endParaRPr lang="en-US" sz="1800" dirty="0" smtClean="0"/>
          </a:p>
          <a:p>
            <a:pPr>
              <a:spcBef>
                <a:spcPts val="600"/>
              </a:spcBef>
              <a:spcAft>
                <a:spcPts val="1200"/>
              </a:spcAft>
              <a:buNone/>
            </a:pPr>
            <a:endParaRPr lang="en-US" sz="1800" dirty="0" smtClean="0"/>
          </a:p>
          <a:p>
            <a:pPr>
              <a:spcBef>
                <a:spcPts val="600"/>
              </a:spcBef>
              <a:spcAft>
                <a:spcPts val="1200"/>
              </a:spcAft>
              <a:buNone/>
            </a:pPr>
            <a:r>
              <a:rPr lang="en-AU" sz="1800" dirty="0" smtClean="0">
                <a:solidFill>
                  <a:srgbClr val="FF6600"/>
                </a:solidFill>
              </a:rPr>
              <a:t> </a:t>
            </a:r>
          </a:p>
          <a:p>
            <a:pPr>
              <a:spcBef>
                <a:spcPts val="600"/>
              </a:spcBef>
              <a:spcAft>
                <a:spcPts val="1200"/>
              </a:spcAft>
              <a:buNone/>
            </a:pPr>
            <a:endParaRPr lang="en-US" sz="1800" dirty="0" smtClean="0"/>
          </a:p>
          <a:p>
            <a:pPr>
              <a:spcBef>
                <a:spcPts val="600"/>
              </a:spcBef>
              <a:spcAft>
                <a:spcPts val="1200"/>
              </a:spcAft>
              <a:buNone/>
            </a:pPr>
            <a:endParaRPr lang="en-US" sz="18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139</a:t>
            </a:fld>
            <a:endParaRPr lang="en-US" dirty="0">
              <a:latin typeface="Helvetica" pitchFamily="34" charset="0"/>
            </a:endParaRPr>
          </a:p>
        </p:txBody>
      </p:sp>
      <p:pic>
        <p:nvPicPr>
          <p:cNvPr id="6" name="Picture 5" descr="shutterstock_101214511.jpg"/>
          <p:cNvPicPr/>
          <p:nvPr/>
        </p:nvPicPr>
        <p:blipFill>
          <a:blip r:embed="rId3" cstate="print"/>
          <a:stretch>
            <a:fillRect/>
          </a:stretch>
        </p:blipFill>
        <p:spPr>
          <a:xfrm>
            <a:off x="6084168" y="3068960"/>
            <a:ext cx="2088232" cy="1440160"/>
          </a:xfrm>
          <a:prstGeom prst="rect">
            <a:avLst/>
          </a:prstGeom>
        </p:spPr>
      </p:pic>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US" sz="3400" b="1" dirty="0" smtClean="0">
                <a:solidFill>
                  <a:srgbClr val="FF6600"/>
                </a:solidFill>
                <a:latin typeface="Helvetica" pitchFamily="34" charset="0"/>
              </a:rPr>
              <a:t>Monitor destination information inventory</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544616"/>
          </a:xfrm>
        </p:spPr>
        <p:txBody>
          <a:bodyPr>
            <a:normAutofit/>
          </a:bodyPr>
          <a:lstStyle/>
          <a:p>
            <a:pPr>
              <a:spcBef>
                <a:spcPts val="600"/>
              </a:spcBef>
              <a:spcAft>
                <a:spcPts val="1200"/>
              </a:spcAft>
              <a:buNone/>
            </a:pPr>
            <a:r>
              <a:rPr lang="en-AU" sz="2000" b="1" dirty="0" smtClean="0">
                <a:latin typeface="Helvetica" pitchFamily="34" charset="0"/>
              </a:rPr>
              <a:t>Request additional allocations</a:t>
            </a:r>
          </a:p>
          <a:p>
            <a:pPr marL="0">
              <a:spcBef>
                <a:spcPts val="600"/>
              </a:spcBef>
              <a:spcAft>
                <a:spcPts val="1200"/>
              </a:spcAft>
              <a:buNone/>
            </a:pPr>
            <a:r>
              <a:rPr lang="en-AU" sz="2000" dirty="0" smtClean="0">
                <a:latin typeface="Helvetica" pitchFamily="34" charset="0"/>
              </a:rPr>
              <a:t>Whilst you may have a scheduled time in which to replace and update brochures or minimum par level for when brochures need to be replenished, at times you will need to request additional allocations of brochures or other promotional materials:</a:t>
            </a:r>
            <a:endParaRPr lang="en-US" sz="2000" dirty="0" smtClean="0">
              <a:latin typeface="Helvetica" pitchFamily="34" charset="0"/>
            </a:endParaRPr>
          </a:p>
          <a:p>
            <a:pPr>
              <a:spcBef>
                <a:spcPts val="600"/>
              </a:spcBef>
              <a:spcAft>
                <a:spcPts val="1200"/>
              </a:spcAft>
            </a:pPr>
            <a:r>
              <a:rPr lang="en-AU" sz="2000" dirty="0" smtClean="0">
                <a:latin typeface="Helvetica" pitchFamily="34" charset="0"/>
              </a:rPr>
              <a:t>What are reasons for additional allocations?</a:t>
            </a:r>
            <a:endParaRPr lang="en-US" sz="2000" dirty="0" smtClean="0">
              <a:latin typeface="Helvetica" pitchFamily="34" charset="0"/>
            </a:endParaRPr>
          </a:p>
          <a:p>
            <a:pPr>
              <a:spcBef>
                <a:spcPts val="600"/>
              </a:spcBef>
              <a:spcAft>
                <a:spcPts val="1200"/>
              </a:spcAft>
            </a:pPr>
            <a:r>
              <a:rPr lang="en-US" sz="2000" dirty="0" smtClean="0">
                <a:latin typeface="Helvetica" pitchFamily="34" charset="0"/>
              </a:rPr>
              <a:t>What are s</a:t>
            </a:r>
            <a:r>
              <a:rPr lang="en-AU" sz="2000" dirty="0" smtClean="0">
                <a:latin typeface="Helvetica" pitchFamily="34" charset="0"/>
              </a:rPr>
              <a:t>trategies for handling low levels                             of destination information inventory?</a:t>
            </a:r>
            <a:endParaRPr lang="en-US" sz="2000" dirty="0" smtClean="0">
              <a:latin typeface="Helvetica" pitchFamily="34" charset="0"/>
            </a:endParaRPr>
          </a:p>
          <a:p>
            <a:pPr>
              <a:spcBef>
                <a:spcPts val="600"/>
              </a:spcBef>
              <a:spcAft>
                <a:spcPts val="1200"/>
              </a:spcAft>
              <a:buNone/>
            </a:pP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140</a:t>
            </a:fld>
            <a:endParaRPr lang="en-US" dirty="0">
              <a:latin typeface="Helvetica" pitchFamily="34" charset="0"/>
            </a:endParaRPr>
          </a:p>
        </p:txBody>
      </p:sp>
      <p:pic>
        <p:nvPicPr>
          <p:cNvPr id="6" name="Picture 5" descr="shutterstock_104307113.jpg"/>
          <p:cNvPicPr/>
          <p:nvPr/>
        </p:nvPicPr>
        <p:blipFill>
          <a:blip r:embed="rId3" cstate="print"/>
          <a:stretch>
            <a:fillRect/>
          </a:stretch>
        </p:blipFill>
        <p:spPr>
          <a:xfrm>
            <a:off x="6228184" y="4077072"/>
            <a:ext cx="2160240" cy="1440160"/>
          </a:xfrm>
          <a:prstGeom prst="rect">
            <a:avLst/>
          </a:prstGeom>
        </p:spPr>
      </p:pic>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US" sz="3400" b="1" dirty="0" smtClean="0">
                <a:solidFill>
                  <a:srgbClr val="FF6600"/>
                </a:solidFill>
                <a:latin typeface="Helvetica" pitchFamily="34" charset="0"/>
              </a:rPr>
              <a:t>Monitor destination information inventory</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544616"/>
          </a:xfrm>
        </p:spPr>
        <p:txBody>
          <a:bodyPr>
            <a:normAutofit/>
          </a:bodyPr>
          <a:lstStyle/>
          <a:p>
            <a:pPr marL="0">
              <a:spcBef>
                <a:spcPts val="600"/>
              </a:spcBef>
              <a:spcAft>
                <a:spcPts val="1200"/>
              </a:spcAft>
              <a:buNone/>
            </a:pPr>
            <a:r>
              <a:rPr lang="en-AU" sz="2200" b="1" dirty="0" smtClean="0">
                <a:latin typeface="Helvetica" pitchFamily="34" charset="0"/>
              </a:rPr>
              <a:t>Remove information from destination information inventory </a:t>
            </a:r>
          </a:p>
          <a:p>
            <a:pPr marL="0">
              <a:spcBef>
                <a:spcPts val="600"/>
              </a:spcBef>
              <a:spcAft>
                <a:spcPts val="1200"/>
              </a:spcAft>
              <a:buNone/>
            </a:pPr>
            <a:r>
              <a:rPr lang="en-AU" sz="2200" dirty="0" smtClean="0">
                <a:latin typeface="Helvetica" pitchFamily="34" charset="0"/>
              </a:rPr>
              <a:t>As part of destination inventory management, it is essential that any 'outdated' or inaccurate copies of brochures or information be removed immediately:</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How can this be achieved?</a:t>
            </a:r>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141</a:t>
            </a:fld>
            <a:endParaRPr lang="en-US" dirty="0">
              <a:latin typeface="Helvetica" pitchFamily="34" charset="0"/>
            </a:endParaRPr>
          </a:p>
        </p:txBody>
      </p:sp>
      <p:pic>
        <p:nvPicPr>
          <p:cNvPr id="7" name="Picture 6" descr="shutterstock_171947399.jpg"/>
          <p:cNvPicPr/>
          <p:nvPr/>
        </p:nvPicPr>
        <p:blipFill>
          <a:blip r:embed="rId3" cstate="print"/>
          <a:stretch>
            <a:fillRect/>
          </a:stretch>
        </p:blipFill>
        <p:spPr>
          <a:xfrm>
            <a:off x="6516216" y="4221088"/>
            <a:ext cx="1923066" cy="1452736"/>
          </a:xfrm>
          <a:prstGeom prst="rect">
            <a:avLst/>
          </a:prstGeom>
        </p:spPr>
      </p:pic>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US" sz="3400" b="1" dirty="0" smtClean="0">
                <a:solidFill>
                  <a:srgbClr val="FF6600"/>
                </a:solidFill>
                <a:latin typeface="Helvetica" pitchFamily="34" charset="0"/>
              </a:rPr>
              <a:t>Monitor destination information inventory</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5544616"/>
          </a:xfrm>
        </p:spPr>
        <p:txBody>
          <a:bodyPr>
            <a:normAutofit/>
          </a:bodyPr>
          <a:lstStyle/>
          <a:p>
            <a:pPr>
              <a:spcBef>
                <a:spcPts val="600"/>
              </a:spcBef>
              <a:spcAft>
                <a:spcPts val="1200"/>
              </a:spcAft>
              <a:buNone/>
            </a:pPr>
            <a:r>
              <a:rPr lang="en-AU" sz="1800" b="1" dirty="0" smtClean="0">
                <a:latin typeface="Helvetica" pitchFamily="34" charset="0"/>
              </a:rPr>
              <a:t>Methods to remove information</a:t>
            </a:r>
            <a:endParaRPr lang="en-US" sz="1800" dirty="0" smtClean="0">
              <a:latin typeface="Helvetica" pitchFamily="34" charset="0"/>
            </a:endParaRPr>
          </a:p>
          <a:p>
            <a:pPr lvl="0">
              <a:spcBef>
                <a:spcPts val="600"/>
              </a:spcBef>
              <a:spcAft>
                <a:spcPts val="1200"/>
              </a:spcAft>
            </a:pPr>
            <a:r>
              <a:rPr lang="en-AU" sz="1800" dirty="0" smtClean="0">
                <a:latin typeface="Helvetica" pitchFamily="34" charset="0"/>
              </a:rPr>
              <a:t>Deleting information regarding products and services that have been removed from the service menu</a:t>
            </a:r>
            <a:endParaRPr lang="en-US" sz="1800" dirty="0" smtClean="0">
              <a:latin typeface="Helvetica" pitchFamily="34" charset="0"/>
            </a:endParaRPr>
          </a:p>
          <a:p>
            <a:pPr lvl="0">
              <a:spcBef>
                <a:spcPts val="600"/>
              </a:spcBef>
              <a:spcAft>
                <a:spcPts val="1200"/>
              </a:spcAft>
            </a:pPr>
            <a:r>
              <a:rPr lang="en-AU" sz="1800" dirty="0" smtClean="0">
                <a:latin typeface="Helvetica" pitchFamily="34" charset="0"/>
              </a:rPr>
              <a:t>Over-writing dated information with revised information</a:t>
            </a:r>
            <a:endParaRPr lang="en-US" sz="1800" dirty="0" smtClean="0">
              <a:latin typeface="Helvetica" pitchFamily="34" charset="0"/>
            </a:endParaRPr>
          </a:p>
          <a:p>
            <a:pPr lvl="0">
              <a:spcBef>
                <a:spcPts val="600"/>
              </a:spcBef>
              <a:spcAft>
                <a:spcPts val="1200"/>
              </a:spcAft>
            </a:pPr>
            <a:r>
              <a:rPr lang="en-AU" sz="1800" dirty="0" smtClean="0">
                <a:latin typeface="Helvetica" pitchFamily="34" charset="0"/>
              </a:rPr>
              <a:t>Removing out-of-date information</a:t>
            </a:r>
            <a:endParaRPr lang="en-US" sz="1800" dirty="0" smtClean="0">
              <a:latin typeface="Helvetica" pitchFamily="34" charset="0"/>
            </a:endParaRPr>
          </a:p>
          <a:p>
            <a:pPr lvl="0">
              <a:spcBef>
                <a:spcPts val="600"/>
              </a:spcBef>
              <a:spcAft>
                <a:spcPts val="1200"/>
              </a:spcAft>
            </a:pPr>
            <a:r>
              <a:rPr lang="en-AU" sz="1800" dirty="0" smtClean="0">
                <a:latin typeface="Helvetica" pitchFamily="34" charset="0"/>
              </a:rPr>
              <a:t>Complying with designated host enterprise </a:t>
            </a:r>
            <a:br>
              <a:rPr lang="en-AU" sz="1800" dirty="0" smtClean="0">
                <a:latin typeface="Helvetica" pitchFamily="34" charset="0"/>
              </a:rPr>
            </a:br>
            <a:r>
              <a:rPr lang="en-AU" sz="1800" dirty="0" smtClean="0">
                <a:latin typeface="Helvetica" pitchFamily="34" charset="0"/>
              </a:rPr>
              <a:t>guidelines</a:t>
            </a:r>
            <a:endParaRPr lang="en-US" sz="1800" dirty="0" smtClean="0">
              <a:latin typeface="Helvetica" pitchFamily="34" charset="0"/>
            </a:endParaRPr>
          </a:p>
          <a:p>
            <a:pPr>
              <a:spcBef>
                <a:spcPts val="600"/>
              </a:spcBef>
              <a:spcAft>
                <a:spcPts val="1200"/>
              </a:spcAft>
            </a:pPr>
            <a:r>
              <a:rPr lang="en-AU" sz="1800" dirty="0" smtClean="0">
                <a:latin typeface="Helvetica" pitchFamily="34" charset="0"/>
              </a:rPr>
              <a:t>Removing hard copy material that supports </a:t>
            </a:r>
            <a:br>
              <a:rPr lang="en-AU" sz="1800" dirty="0" smtClean="0">
                <a:latin typeface="Helvetica" pitchFamily="34" charset="0"/>
              </a:rPr>
            </a:br>
            <a:r>
              <a:rPr lang="en-AU" sz="1800" dirty="0" smtClean="0">
                <a:latin typeface="Helvetica" pitchFamily="34" charset="0"/>
              </a:rPr>
              <a:t>and reflects product information inventory data</a:t>
            </a:r>
            <a:endParaRPr lang="en-US" sz="18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142</a:t>
            </a:fld>
            <a:endParaRPr lang="en-US" dirty="0">
              <a:latin typeface="Helvetica" pitchFamily="34" charset="0"/>
            </a:endParaRPr>
          </a:p>
        </p:txBody>
      </p:sp>
      <p:pic>
        <p:nvPicPr>
          <p:cNvPr id="6" name="Picture 5" descr="shutterstock_115609774.jpg"/>
          <p:cNvPicPr>
            <a:picLocks noChangeAspect="1"/>
          </p:cNvPicPr>
          <p:nvPr/>
        </p:nvPicPr>
        <p:blipFill>
          <a:blip r:embed="rId3" cstate="print"/>
          <a:stretch>
            <a:fillRect/>
          </a:stretch>
        </p:blipFill>
        <p:spPr>
          <a:xfrm>
            <a:off x="6372200" y="3789040"/>
            <a:ext cx="2016224" cy="1512168"/>
          </a:xfrm>
          <a:prstGeom prst="rect">
            <a:avLst/>
          </a:prstGeom>
        </p:spPr>
      </p:pic>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US" sz="3400" b="1" dirty="0" smtClean="0">
                <a:solidFill>
                  <a:srgbClr val="FF6600"/>
                </a:solidFill>
                <a:latin typeface="Helvetica" pitchFamily="34" charset="0"/>
              </a:rPr>
              <a:t>Monitor destination information inventory</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5544616"/>
          </a:xfrm>
        </p:spPr>
        <p:txBody>
          <a:bodyPr>
            <a:normAutofit/>
          </a:bodyPr>
          <a:lstStyle/>
          <a:p>
            <a:pPr marL="0">
              <a:spcBef>
                <a:spcPts val="600"/>
              </a:spcBef>
              <a:spcAft>
                <a:spcPts val="1200"/>
              </a:spcAft>
              <a:buNone/>
            </a:pPr>
            <a:r>
              <a:rPr lang="en-AU" sz="1800" b="1" dirty="0" smtClean="0">
                <a:latin typeface="Helvetica" pitchFamily="34" charset="0"/>
              </a:rPr>
              <a:t>Meeting needs of product supplier when removing information</a:t>
            </a:r>
            <a:endParaRPr lang="en-US" sz="1800" dirty="0" smtClean="0">
              <a:latin typeface="Helvetica" pitchFamily="34" charset="0"/>
            </a:endParaRPr>
          </a:p>
          <a:p>
            <a:pPr>
              <a:spcBef>
                <a:spcPts val="600"/>
              </a:spcBef>
              <a:spcAft>
                <a:spcPts val="1200"/>
              </a:spcAft>
              <a:buNone/>
            </a:pPr>
            <a:r>
              <a:rPr lang="en-AU" sz="1800" dirty="0" smtClean="0">
                <a:latin typeface="Helvetica" pitchFamily="34" charset="0"/>
              </a:rPr>
              <a:t>Supplier may want outdated copies to be:</a:t>
            </a:r>
            <a:endParaRPr lang="en-US" sz="1800" dirty="0" smtClean="0">
              <a:latin typeface="Helvetica" pitchFamily="34" charset="0"/>
            </a:endParaRPr>
          </a:p>
          <a:p>
            <a:pPr lvl="0">
              <a:spcBef>
                <a:spcPts val="600"/>
              </a:spcBef>
              <a:spcAft>
                <a:spcPts val="1200"/>
              </a:spcAft>
            </a:pPr>
            <a:r>
              <a:rPr lang="en-AU" sz="1800" dirty="0" smtClean="0">
                <a:latin typeface="Helvetica" pitchFamily="34" charset="0"/>
              </a:rPr>
              <a:t>Returned to them</a:t>
            </a:r>
            <a:endParaRPr lang="en-US" sz="1800" dirty="0" smtClean="0">
              <a:latin typeface="Helvetica" pitchFamily="34" charset="0"/>
            </a:endParaRPr>
          </a:p>
          <a:p>
            <a:pPr lvl="0">
              <a:spcBef>
                <a:spcPts val="600"/>
              </a:spcBef>
              <a:spcAft>
                <a:spcPts val="1200"/>
              </a:spcAft>
            </a:pPr>
            <a:r>
              <a:rPr lang="en-AU" sz="1800" dirty="0" smtClean="0">
                <a:latin typeface="Helvetica" pitchFamily="34" charset="0"/>
              </a:rPr>
              <a:t>Shredded or destroyed</a:t>
            </a:r>
            <a:endParaRPr lang="en-US" sz="1800" dirty="0" smtClean="0">
              <a:latin typeface="Helvetica" pitchFamily="34" charset="0"/>
            </a:endParaRPr>
          </a:p>
          <a:p>
            <a:pPr lvl="0">
              <a:spcBef>
                <a:spcPts val="600"/>
              </a:spcBef>
              <a:spcAft>
                <a:spcPts val="1200"/>
              </a:spcAft>
            </a:pPr>
            <a:r>
              <a:rPr lang="en-AU" sz="1800" dirty="0" smtClean="0">
                <a:latin typeface="Helvetica" pitchFamily="34" charset="0"/>
              </a:rPr>
              <a:t>Marked in a manner that identifies them </a:t>
            </a:r>
            <a:br>
              <a:rPr lang="en-AU" sz="1800" dirty="0" smtClean="0">
                <a:latin typeface="Helvetica" pitchFamily="34" charset="0"/>
              </a:rPr>
            </a:br>
            <a:r>
              <a:rPr lang="en-AU" sz="1800" dirty="0" smtClean="0">
                <a:latin typeface="Helvetica" pitchFamily="34" charset="0"/>
              </a:rPr>
              <a:t>as invalid or outdated</a:t>
            </a:r>
            <a:endParaRPr lang="en-US" sz="1800" dirty="0" smtClean="0">
              <a:latin typeface="Helvetica" pitchFamily="34" charset="0"/>
            </a:endParaRPr>
          </a:p>
          <a:p>
            <a:pPr lvl="0">
              <a:spcBef>
                <a:spcPts val="600"/>
              </a:spcBef>
              <a:spcAft>
                <a:spcPts val="1200"/>
              </a:spcAft>
            </a:pPr>
            <a:r>
              <a:rPr lang="en-AU" sz="1800" dirty="0" smtClean="0">
                <a:latin typeface="Helvetica" pitchFamily="34" charset="0"/>
              </a:rPr>
              <a:t>Placed in normal waste</a:t>
            </a:r>
            <a:endParaRPr lang="en-US" sz="1800" dirty="0" smtClean="0">
              <a:latin typeface="Helvetica" pitchFamily="34" charset="0"/>
            </a:endParaRPr>
          </a:p>
          <a:p>
            <a:pPr lvl="0">
              <a:spcBef>
                <a:spcPts val="600"/>
              </a:spcBef>
              <a:spcAft>
                <a:spcPts val="1200"/>
              </a:spcAft>
            </a:pPr>
            <a:r>
              <a:rPr lang="en-AU" sz="1800" dirty="0" smtClean="0">
                <a:latin typeface="Helvetica" pitchFamily="34" charset="0"/>
              </a:rPr>
              <a:t>Recycled in line in with organisational values</a:t>
            </a:r>
            <a:endParaRPr lang="en-US" sz="18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143</a:t>
            </a:fld>
            <a:endParaRPr lang="en-US" dirty="0">
              <a:latin typeface="Helvetica" pitchFamily="34" charset="0"/>
            </a:endParaRPr>
          </a:p>
        </p:txBody>
      </p:sp>
      <p:pic>
        <p:nvPicPr>
          <p:cNvPr id="7" name="Picture 6" descr="W537_cardboard_box_133092458 NH.jpg"/>
          <p:cNvPicPr/>
          <p:nvPr/>
        </p:nvPicPr>
        <p:blipFill>
          <a:blip r:embed="rId3" cstate="print"/>
          <a:stretch>
            <a:fillRect/>
          </a:stretch>
        </p:blipFill>
        <p:spPr>
          <a:xfrm>
            <a:off x="6091518" y="2780928"/>
            <a:ext cx="2016224" cy="1872208"/>
          </a:xfrm>
          <a:prstGeom prst="rect">
            <a:avLst/>
          </a:prstGeom>
        </p:spPr>
      </p:pic>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US" sz="3400" b="1" dirty="0" smtClean="0">
                <a:solidFill>
                  <a:srgbClr val="FF6600"/>
                </a:solidFill>
                <a:latin typeface="Helvetica" pitchFamily="34" charset="0"/>
              </a:rPr>
              <a:t>Monitor destination information inventory</a:t>
            </a:r>
            <a:endParaRPr lang="en-AU" sz="3400" b="1"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544616"/>
          </a:xfrm>
        </p:spPr>
        <p:txBody>
          <a:bodyPr>
            <a:normAutofit/>
          </a:bodyPr>
          <a:lstStyle/>
          <a:p>
            <a:pPr marL="0">
              <a:spcBef>
                <a:spcPts val="600"/>
              </a:spcBef>
              <a:spcAft>
                <a:spcPts val="1200"/>
              </a:spcAft>
              <a:buNone/>
            </a:pPr>
            <a:r>
              <a:rPr lang="en-US" sz="2000" b="1" dirty="0" smtClean="0">
                <a:latin typeface="Helvetica" pitchFamily="34" charset="0"/>
              </a:rPr>
              <a:t>Updating destination information</a:t>
            </a:r>
            <a:endParaRPr lang="en-US" sz="2000" dirty="0" smtClean="0">
              <a:latin typeface="Helvetica" pitchFamily="34" charset="0"/>
            </a:endParaRPr>
          </a:p>
          <a:p>
            <a:pPr marL="0">
              <a:spcBef>
                <a:spcPts val="600"/>
              </a:spcBef>
              <a:spcAft>
                <a:spcPts val="1200"/>
              </a:spcAft>
              <a:buNone/>
            </a:pPr>
            <a:r>
              <a:rPr lang="en-AU" sz="2000" dirty="0" smtClean="0">
                <a:latin typeface="Helvetica" pitchFamily="34" charset="0"/>
              </a:rPr>
              <a:t>In a number of cases whilst the bulk of information in a brochure may be relevant, aspects of them may need to be updated or changed:</a:t>
            </a:r>
          </a:p>
          <a:p>
            <a:pPr>
              <a:spcBef>
                <a:spcPts val="600"/>
              </a:spcBef>
              <a:spcAft>
                <a:spcPts val="1200"/>
              </a:spcAft>
            </a:pPr>
            <a:r>
              <a:rPr lang="en-AU" sz="2000" dirty="0" smtClean="0">
                <a:latin typeface="Helvetica" pitchFamily="34" charset="0"/>
              </a:rPr>
              <a:t>What are reasons for updates and changes?</a:t>
            </a:r>
          </a:p>
          <a:p>
            <a:pPr>
              <a:spcBef>
                <a:spcPts val="600"/>
              </a:spcBef>
              <a:spcAft>
                <a:spcPts val="1200"/>
              </a:spcAft>
            </a:pPr>
            <a:r>
              <a:rPr lang="en-AU" sz="2000" dirty="0" smtClean="0">
                <a:latin typeface="Helvetica" pitchFamily="34" charset="0"/>
              </a:rPr>
              <a:t>How can they be made to existing brochures?</a:t>
            </a:r>
            <a:endParaRPr lang="en-US" sz="20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144</a:t>
            </a:fld>
            <a:endParaRPr lang="en-US" dirty="0">
              <a:latin typeface="Helvetica" pitchFamily="34" charset="0"/>
            </a:endParaRPr>
          </a:p>
        </p:txBody>
      </p:sp>
      <p:pic>
        <p:nvPicPr>
          <p:cNvPr id="6" name="Picture 5" descr="A18 shutterstock_181389116.jpg"/>
          <p:cNvPicPr>
            <a:picLocks noChangeAspect="1"/>
          </p:cNvPicPr>
          <p:nvPr/>
        </p:nvPicPr>
        <p:blipFill>
          <a:blip r:embed="rId3" cstate="print"/>
          <a:stretch>
            <a:fillRect/>
          </a:stretch>
        </p:blipFill>
        <p:spPr>
          <a:xfrm>
            <a:off x="6876256" y="3213407"/>
            <a:ext cx="1498757" cy="2243649"/>
          </a:xfrm>
          <a:prstGeom prst="rect">
            <a:avLst/>
          </a:prstGeom>
        </p:spPr>
      </p:pic>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AU" sz="3400" b="1" dirty="0" smtClean="0">
                <a:solidFill>
                  <a:srgbClr val="FF6600"/>
                </a:solidFill>
                <a:latin typeface="Helvetica" pitchFamily="34" charset="0"/>
              </a:rPr>
              <a:t>Update destination information </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544616"/>
          </a:xfrm>
        </p:spPr>
        <p:txBody>
          <a:bodyPr>
            <a:normAutofit/>
          </a:bodyPr>
          <a:lstStyle/>
          <a:p>
            <a:pPr>
              <a:spcBef>
                <a:spcPts val="600"/>
              </a:spcBef>
              <a:spcAft>
                <a:spcPts val="600"/>
              </a:spcAft>
              <a:buNone/>
            </a:pPr>
            <a:r>
              <a:rPr lang="en-AU" sz="1800" b="1" dirty="0" smtClean="0">
                <a:latin typeface="Helvetica" pitchFamily="34" charset="0"/>
              </a:rPr>
              <a:t>Reasons for updates</a:t>
            </a:r>
            <a:endParaRPr lang="en-US" sz="1800" dirty="0" smtClean="0">
              <a:latin typeface="Helvetica" pitchFamily="34" charset="0"/>
            </a:endParaRPr>
          </a:p>
          <a:p>
            <a:pPr lvl="0">
              <a:spcBef>
                <a:spcPts val="600"/>
              </a:spcBef>
              <a:spcAft>
                <a:spcPts val="600"/>
              </a:spcAft>
            </a:pPr>
            <a:r>
              <a:rPr lang="en-AU" sz="1800" dirty="0" smtClean="0">
                <a:latin typeface="Helvetica" pitchFamily="34" charset="0"/>
              </a:rPr>
              <a:t>Price changes</a:t>
            </a:r>
            <a:endParaRPr lang="en-US" sz="1800" dirty="0" smtClean="0">
              <a:latin typeface="Helvetica" pitchFamily="34" charset="0"/>
            </a:endParaRPr>
          </a:p>
          <a:p>
            <a:pPr lvl="0">
              <a:spcBef>
                <a:spcPts val="600"/>
              </a:spcBef>
              <a:spcAft>
                <a:spcPts val="600"/>
              </a:spcAft>
            </a:pPr>
            <a:r>
              <a:rPr lang="en-AU" sz="1800" dirty="0" smtClean="0">
                <a:latin typeface="Helvetica" pitchFamily="34" charset="0"/>
              </a:rPr>
              <a:t>Changes to products and services</a:t>
            </a:r>
            <a:endParaRPr lang="en-US" sz="1800" dirty="0" smtClean="0">
              <a:latin typeface="Helvetica" pitchFamily="34" charset="0"/>
            </a:endParaRPr>
          </a:p>
          <a:p>
            <a:pPr lvl="0">
              <a:spcBef>
                <a:spcPts val="600"/>
              </a:spcBef>
              <a:spcAft>
                <a:spcPts val="600"/>
              </a:spcAft>
            </a:pPr>
            <a:r>
              <a:rPr lang="en-AU" sz="1800" dirty="0" smtClean="0">
                <a:latin typeface="Helvetica" pitchFamily="34" charset="0"/>
              </a:rPr>
              <a:t>New packages</a:t>
            </a:r>
            <a:endParaRPr lang="en-US" sz="1800" dirty="0" smtClean="0">
              <a:latin typeface="Helvetica" pitchFamily="34" charset="0"/>
            </a:endParaRPr>
          </a:p>
          <a:p>
            <a:pPr lvl="0">
              <a:spcBef>
                <a:spcPts val="600"/>
              </a:spcBef>
              <a:spcAft>
                <a:spcPts val="600"/>
              </a:spcAft>
            </a:pPr>
            <a:r>
              <a:rPr lang="en-AU" sz="1800" dirty="0" smtClean="0">
                <a:latin typeface="Helvetica" pitchFamily="34" charset="0"/>
              </a:rPr>
              <a:t>Updated facilities</a:t>
            </a:r>
            <a:endParaRPr lang="en-US" sz="1800" dirty="0" smtClean="0">
              <a:latin typeface="Helvetica" pitchFamily="34" charset="0"/>
            </a:endParaRPr>
          </a:p>
          <a:p>
            <a:pPr lvl="0">
              <a:spcBef>
                <a:spcPts val="600"/>
              </a:spcBef>
              <a:spcAft>
                <a:spcPts val="600"/>
              </a:spcAft>
            </a:pPr>
            <a:r>
              <a:rPr lang="en-AU" sz="1800" dirty="0" smtClean="0">
                <a:latin typeface="Helvetica" pitchFamily="34" charset="0"/>
              </a:rPr>
              <a:t>New attractions</a:t>
            </a:r>
            <a:endParaRPr lang="en-US" sz="1800" dirty="0" smtClean="0">
              <a:latin typeface="Helvetica" pitchFamily="34" charset="0"/>
            </a:endParaRPr>
          </a:p>
          <a:p>
            <a:pPr lvl="0">
              <a:spcBef>
                <a:spcPts val="600"/>
              </a:spcBef>
              <a:spcAft>
                <a:spcPts val="600"/>
              </a:spcAft>
            </a:pPr>
            <a:r>
              <a:rPr lang="en-AU" sz="1800" dirty="0" smtClean="0">
                <a:latin typeface="Helvetica" pitchFamily="34" charset="0"/>
              </a:rPr>
              <a:t>Changes in visa requirements</a:t>
            </a:r>
            <a:endParaRPr lang="en-US" sz="1800" dirty="0" smtClean="0">
              <a:latin typeface="Helvetica" pitchFamily="34" charset="0"/>
            </a:endParaRPr>
          </a:p>
          <a:p>
            <a:pPr lvl="0">
              <a:spcBef>
                <a:spcPts val="600"/>
              </a:spcBef>
              <a:spcAft>
                <a:spcPts val="600"/>
              </a:spcAft>
            </a:pPr>
            <a:r>
              <a:rPr lang="en-AU" sz="1800" dirty="0" smtClean="0">
                <a:latin typeface="Helvetica" pitchFamily="34" charset="0"/>
              </a:rPr>
              <a:t>New management</a:t>
            </a:r>
            <a:endParaRPr lang="en-US" sz="1800" dirty="0" smtClean="0">
              <a:latin typeface="Helvetica" pitchFamily="34" charset="0"/>
            </a:endParaRPr>
          </a:p>
          <a:p>
            <a:pPr lvl="0">
              <a:spcBef>
                <a:spcPts val="600"/>
              </a:spcBef>
              <a:spcAft>
                <a:spcPts val="600"/>
              </a:spcAft>
            </a:pPr>
            <a:r>
              <a:rPr lang="en-AU" sz="1800" dirty="0" smtClean="0">
                <a:latin typeface="Helvetica" pitchFamily="34" charset="0"/>
              </a:rPr>
              <a:t>New awards</a:t>
            </a:r>
            <a:endParaRPr lang="en-US" sz="1800" dirty="0" smtClean="0">
              <a:latin typeface="Helvetica" pitchFamily="34" charset="0"/>
            </a:endParaRPr>
          </a:p>
          <a:p>
            <a:pPr lvl="0">
              <a:spcBef>
                <a:spcPts val="600"/>
              </a:spcBef>
              <a:spcAft>
                <a:spcPts val="600"/>
              </a:spcAft>
            </a:pPr>
            <a:r>
              <a:rPr lang="en-AU" sz="1800" dirty="0" smtClean="0">
                <a:latin typeface="Helvetica" pitchFamily="34" charset="0"/>
              </a:rPr>
              <a:t>Stories of interest</a:t>
            </a:r>
            <a:endParaRPr lang="en-US" sz="1800" dirty="0" smtClean="0">
              <a:latin typeface="Helvetica" pitchFamily="34" charset="0"/>
            </a:endParaRPr>
          </a:p>
          <a:p>
            <a:pPr lvl="0">
              <a:spcBef>
                <a:spcPts val="600"/>
              </a:spcBef>
              <a:spcAft>
                <a:spcPts val="600"/>
              </a:spcAft>
            </a:pPr>
            <a:r>
              <a:rPr lang="en-AU" sz="1800" dirty="0" smtClean="0">
                <a:latin typeface="Helvetica" pitchFamily="34" charset="0"/>
              </a:rPr>
              <a:t>New agreements with partner organisations</a:t>
            </a:r>
            <a:endParaRPr lang="en-US" sz="18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145</a:t>
            </a:fld>
            <a:endParaRPr lang="en-US" dirty="0">
              <a:latin typeface="Helvetica" pitchFamily="34" charset="0"/>
            </a:endParaRPr>
          </a:p>
        </p:txBody>
      </p:sp>
      <p:pic>
        <p:nvPicPr>
          <p:cNvPr id="7" name="Picture 6" descr="shutterstock_85821547.jpg"/>
          <p:cNvPicPr/>
          <p:nvPr/>
        </p:nvPicPr>
        <p:blipFill>
          <a:blip r:embed="rId3" cstate="print"/>
          <a:stretch>
            <a:fillRect/>
          </a:stretch>
        </p:blipFill>
        <p:spPr>
          <a:xfrm>
            <a:off x="5292080" y="2492896"/>
            <a:ext cx="2376264" cy="165618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pPr marL="0"/>
            <a:r>
              <a:rPr lang="en-AU" sz="3400" b="1" dirty="0" smtClean="0">
                <a:solidFill>
                  <a:srgbClr val="FF6600"/>
                </a:solidFill>
                <a:latin typeface="Helvetica" pitchFamily="34" charset="0"/>
              </a:rPr>
              <a:t>Update destination information </a:t>
            </a:r>
          </a:p>
        </p:txBody>
      </p:sp>
      <p:sp>
        <p:nvSpPr>
          <p:cNvPr id="3" name="Content Placeholder 2"/>
          <p:cNvSpPr>
            <a:spLocks noGrp="1"/>
          </p:cNvSpPr>
          <p:nvPr>
            <p:ph idx="1"/>
          </p:nvPr>
        </p:nvSpPr>
        <p:spPr>
          <a:xfrm>
            <a:off x="611560" y="1556792"/>
            <a:ext cx="7467600" cy="5544616"/>
          </a:xfrm>
        </p:spPr>
        <p:txBody>
          <a:bodyPr>
            <a:normAutofit/>
          </a:bodyPr>
          <a:lstStyle/>
          <a:p>
            <a:pPr>
              <a:spcBef>
                <a:spcPts val="600"/>
              </a:spcBef>
              <a:spcAft>
                <a:spcPts val="1200"/>
              </a:spcAft>
              <a:buNone/>
            </a:pPr>
            <a:r>
              <a:rPr lang="en-AU" sz="1800" b="1" dirty="0" smtClean="0"/>
              <a:t>Input up-dates and other product information</a:t>
            </a:r>
            <a:endParaRPr lang="en-US" sz="1800" dirty="0" smtClean="0"/>
          </a:p>
          <a:p>
            <a:pPr lvl="0">
              <a:spcBef>
                <a:spcPts val="600"/>
              </a:spcBef>
              <a:spcAft>
                <a:spcPts val="1200"/>
              </a:spcAft>
            </a:pPr>
            <a:r>
              <a:rPr lang="en-AU" sz="1800" dirty="0" smtClean="0"/>
              <a:t>Adding new information as soon as possible</a:t>
            </a:r>
            <a:endParaRPr lang="en-US" sz="1800" dirty="0" smtClean="0"/>
          </a:p>
          <a:p>
            <a:pPr lvl="0">
              <a:spcBef>
                <a:spcPts val="600"/>
              </a:spcBef>
              <a:spcAft>
                <a:spcPts val="1200"/>
              </a:spcAft>
            </a:pPr>
            <a:r>
              <a:rPr lang="en-AU" sz="1800" dirty="0" smtClean="0"/>
              <a:t>Ensuring related hard copy material is removed or amended</a:t>
            </a:r>
            <a:endParaRPr lang="en-US" sz="1800" dirty="0" smtClean="0"/>
          </a:p>
          <a:p>
            <a:pPr lvl="0">
              <a:spcBef>
                <a:spcPts val="600"/>
              </a:spcBef>
              <a:spcAft>
                <a:spcPts val="1200"/>
              </a:spcAft>
            </a:pPr>
            <a:r>
              <a:rPr lang="en-AU" sz="1800" dirty="0" smtClean="0"/>
              <a:t>Updated with new promotional information or pages</a:t>
            </a:r>
            <a:endParaRPr lang="en-US" sz="1800" dirty="0" smtClean="0"/>
          </a:p>
          <a:p>
            <a:pPr lvl="0">
              <a:spcBef>
                <a:spcPts val="600"/>
              </a:spcBef>
              <a:spcAft>
                <a:spcPts val="1200"/>
              </a:spcAft>
            </a:pPr>
            <a:r>
              <a:rPr lang="en-AU" sz="1800" dirty="0" smtClean="0"/>
              <a:t>Amended by removing selected pages </a:t>
            </a:r>
            <a:endParaRPr lang="en-US" sz="1800" dirty="0" smtClean="0"/>
          </a:p>
          <a:p>
            <a:pPr lvl="0">
              <a:spcBef>
                <a:spcPts val="600"/>
              </a:spcBef>
              <a:spcAft>
                <a:spcPts val="1200"/>
              </a:spcAft>
            </a:pPr>
            <a:r>
              <a:rPr lang="en-AU" sz="1800" dirty="0" smtClean="0"/>
              <a:t>Ensuring accuracy of data entry</a:t>
            </a:r>
          </a:p>
          <a:p>
            <a:pPr>
              <a:buNone/>
            </a:pPr>
            <a:endParaRPr lang="en-AU" sz="1800" dirty="0" smtClean="0">
              <a:solidFill>
                <a:srgbClr val="FF6600"/>
              </a:solidFill>
            </a:endParaRPr>
          </a:p>
          <a:p>
            <a:pPr>
              <a:buNone/>
            </a:pPr>
            <a:endParaRPr lang="en-AU" sz="1800" dirty="0">
              <a:solidFill>
                <a:srgbClr val="FF6600"/>
              </a:solidFill>
            </a:endParaRPr>
          </a:p>
          <a:p>
            <a:pPr>
              <a:buNone/>
            </a:pPr>
            <a:endParaRPr lang="en-AU" sz="1800" dirty="0" smtClean="0">
              <a:solidFill>
                <a:srgbClr val="FF6600"/>
              </a:solidFill>
            </a:endParaRPr>
          </a:p>
          <a:p>
            <a:pPr>
              <a:buNone/>
            </a:pPr>
            <a:r>
              <a:rPr lang="en-AU" sz="1800" b="1" i="1" dirty="0" smtClean="0">
                <a:solidFill>
                  <a:srgbClr val="FF6600"/>
                </a:solidFill>
              </a:rPr>
              <a:t>COMPLETE ACTIVITY 23</a:t>
            </a:r>
          </a:p>
          <a:p>
            <a:pPr lvl="0"/>
            <a:endParaRPr lang="en-US" sz="18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146</a:t>
            </a:fld>
            <a:endParaRPr lang="en-US" dirty="0">
              <a:latin typeface="Helvetica" pitchFamily="34" charset="0"/>
            </a:endParaRPr>
          </a:p>
        </p:txBody>
      </p:sp>
      <p:pic>
        <p:nvPicPr>
          <p:cNvPr id="7" name="Picture 6" descr="shutterstock_163163246.jpg"/>
          <p:cNvPicPr>
            <a:picLocks noChangeAspect="1"/>
          </p:cNvPicPr>
          <p:nvPr/>
        </p:nvPicPr>
        <p:blipFill>
          <a:blip r:embed="rId3" cstate="print"/>
          <a:stretch>
            <a:fillRect/>
          </a:stretch>
        </p:blipFill>
        <p:spPr>
          <a:xfrm>
            <a:off x="5940152" y="3717032"/>
            <a:ext cx="2490550" cy="1484368"/>
          </a:xfrm>
          <a:prstGeom prst="rect">
            <a:avLst/>
          </a:prstGeom>
        </p:spPr>
      </p:pic>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Review p</a:t>
            </a:r>
            <a:r>
              <a:rPr lang="en-AU" sz="3400" b="1" dirty="0" smtClean="0">
                <a:solidFill>
                  <a:srgbClr val="FF6600"/>
                </a:solidFill>
                <a:latin typeface="Helvetica" pitchFamily="34" charset="0"/>
              </a:rPr>
              <a:t>resentation of destination information inventory</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544616"/>
          </a:xfrm>
        </p:spPr>
        <p:txBody>
          <a:bodyPr>
            <a:noAutofit/>
          </a:bodyPr>
          <a:lstStyle/>
          <a:p>
            <a:pPr>
              <a:spcBef>
                <a:spcPts val="600"/>
              </a:spcBef>
              <a:spcAft>
                <a:spcPts val="1200"/>
              </a:spcAft>
              <a:buNone/>
            </a:pPr>
            <a:r>
              <a:rPr lang="en-US" sz="2000" b="1" dirty="0" smtClean="0"/>
              <a:t>Hard copy information</a:t>
            </a:r>
            <a:endParaRPr lang="en-US" sz="2000" dirty="0" smtClean="0"/>
          </a:p>
          <a:p>
            <a:pPr lvl="0">
              <a:spcBef>
                <a:spcPts val="600"/>
              </a:spcBef>
              <a:spcAft>
                <a:spcPts val="1200"/>
              </a:spcAft>
            </a:pPr>
            <a:r>
              <a:rPr lang="en-AU" sz="2000" dirty="0" smtClean="0"/>
              <a:t>Materials are presented in the order and manner identified as being best for the business and the clients</a:t>
            </a:r>
            <a:endParaRPr lang="en-US" sz="2000" dirty="0" smtClean="0"/>
          </a:p>
          <a:p>
            <a:pPr lvl="0">
              <a:spcBef>
                <a:spcPts val="600"/>
              </a:spcBef>
              <a:spcAft>
                <a:spcPts val="1200"/>
              </a:spcAft>
            </a:pPr>
            <a:r>
              <a:rPr lang="en-AU" sz="2000" dirty="0" smtClean="0"/>
              <a:t>Sufficient quantities of materials are available</a:t>
            </a:r>
            <a:endParaRPr lang="en-US" sz="2000" dirty="0" smtClean="0"/>
          </a:p>
          <a:p>
            <a:pPr lvl="0">
              <a:spcBef>
                <a:spcPts val="600"/>
              </a:spcBef>
              <a:spcAft>
                <a:spcPts val="1200"/>
              </a:spcAft>
            </a:pPr>
            <a:r>
              <a:rPr lang="en-AU" sz="2000" dirty="0" smtClean="0"/>
              <a:t>All materials are current featuring up-to-date schedules and prices</a:t>
            </a:r>
            <a:endParaRPr lang="en-US" sz="2000" dirty="0" smtClean="0"/>
          </a:p>
          <a:p>
            <a:pPr lvl="0">
              <a:spcBef>
                <a:spcPts val="600"/>
              </a:spcBef>
              <a:spcAft>
                <a:spcPts val="1200"/>
              </a:spcAft>
            </a:pPr>
            <a:r>
              <a:rPr lang="en-AU" sz="2000" dirty="0" smtClean="0"/>
              <a:t>All materials are free of errors and there </a:t>
            </a:r>
            <a:br>
              <a:rPr lang="en-AU" sz="2000" dirty="0" smtClean="0"/>
            </a:br>
            <a:r>
              <a:rPr lang="en-AU" sz="2000" dirty="0" smtClean="0"/>
              <a:t>are no omissions</a:t>
            </a:r>
            <a:endParaRPr lang="en-US" sz="2000" dirty="0" smtClean="0"/>
          </a:p>
          <a:p>
            <a:pPr lvl="0"/>
            <a:endParaRPr lang="en-US" sz="20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147</a:t>
            </a:fld>
            <a:endParaRPr lang="en-US" dirty="0">
              <a:latin typeface="Helvetica" pitchFamily="34" charset="0"/>
            </a:endParaRPr>
          </a:p>
        </p:txBody>
      </p:sp>
      <p:pic>
        <p:nvPicPr>
          <p:cNvPr id="6" name="Picture 5" descr="shutterstock_172395437.jpg"/>
          <p:cNvPicPr/>
          <p:nvPr/>
        </p:nvPicPr>
        <p:blipFill>
          <a:blip r:embed="rId3" cstate="print"/>
          <a:stretch>
            <a:fillRect/>
          </a:stretch>
        </p:blipFill>
        <p:spPr>
          <a:xfrm>
            <a:off x="6444208" y="4206734"/>
            <a:ext cx="1944216" cy="1440160"/>
          </a:xfrm>
          <a:prstGeom prst="rect">
            <a:avLst/>
          </a:prstGeom>
        </p:spPr>
      </p:pic>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08912" cy="1143000"/>
          </a:xfrm>
        </p:spPr>
        <p:txBody>
          <a:bodyPr>
            <a:normAutofit/>
          </a:bodyPr>
          <a:lstStyle/>
          <a:p>
            <a:r>
              <a:rPr lang="en-US" sz="3400" b="1" dirty="0" smtClean="0">
                <a:solidFill>
                  <a:srgbClr val="FF6600"/>
                </a:solidFill>
                <a:latin typeface="Helvetica" pitchFamily="34" charset="0"/>
              </a:rPr>
              <a:t>Review p</a:t>
            </a:r>
            <a:r>
              <a:rPr lang="en-AU" sz="3400" b="1" dirty="0" smtClean="0">
                <a:solidFill>
                  <a:srgbClr val="FF6600"/>
                </a:solidFill>
                <a:latin typeface="Helvetica" pitchFamily="34" charset="0"/>
              </a:rPr>
              <a:t>resentation of destination information inventory</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544616"/>
          </a:xfrm>
        </p:spPr>
        <p:txBody>
          <a:bodyPr>
            <a:normAutofit/>
          </a:bodyPr>
          <a:lstStyle/>
          <a:p>
            <a:pPr>
              <a:spcBef>
                <a:spcPts val="600"/>
              </a:spcBef>
              <a:spcAft>
                <a:spcPts val="1200"/>
              </a:spcAft>
              <a:buNone/>
            </a:pPr>
            <a:r>
              <a:rPr lang="en-US" sz="2200" b="1" dirty="0" smtClean="0">
                <a:latin typeface="Helvetica" pitchFamily="34" charset="0"/>
              </a:rPr>
              <a:t>Electronic information</a:t>
            </a:r>
            <a:endParaRPr lang="en-US" sz="2200" dirty="0" smtClean="0">
              <a:latin typeface="Helvetica" pitchFamily="34" charset="0"/>
            </a:endParaRPr>
          </a:p>
          <a:p>
            <a:pPr>
              <a:spcBef>
                <a:spcPts val="600"/>
              </a:spcBef>
              <a:spcAft>
                <a:spcPts val="1200"/>
              </a:spcAft>
              <a:buNone/>
            </a:pPr>
            <a:r>
              <a:rPr lang="en-US" sz="2200" dirty="0" smtClean="0">
                <a:latin typeface="Helvetica" pitchFamily="34" charset="0"/>
              </a:rPr>
              <a:t>This includes the use of:</a:t>
            </a:r>
          </a:p>
          <a:p>
            <a:pPr lvl="0">
              <a:spcBef>
                <a:spcPts val="600"/>
              </a:spcBef>
              <a:spcAft>
                <a:spcPts val="1200"/>
              </a:spcAft>
            </a:pPr>
            <a:r>
              <a:rPr lang="en-US" sz="2200" dirty="0" smtClean="0">
                <a:latin typeface="Helvetica" pitchFamily="34" charset="0"/>
              </a:rPr>
              <a:t>Internet websites</a:t>
            </a:r>
          </a:p>
          <a:p>
            <a:pPr lvl="0">
              <a:spcBef>
                <a:spcPts val="600"/>
              </a:spcBef>
              <a:spcAft>
                <a:spcPts val="1200"/>
              </a:spcAft>
            </a:pPr>
            <a:r>
              <a:rPr lang="en-US" sz="2200" dirty="0" smtClean="0">
                <a:latin typeface="Helvetica" pitchFamily="34" charset="0"/>
              </a:rPr>
              <a:t>Electronic brochures</a:t>
            </a:r>
          </a:p>
          <a:p>
            <a:pPr lvl="0">
              <a:spcBef>
                <a:spcPts val="600"/>
              </a:spcBef>
              <a:spcAft>
                <a:spcPts val="1200"/>
              </a:spcAft>
            </a:pPr>
            <a:r>
              <a:rPr lang="en-US" sz="2200" dirty="0" smtClean="0">
                <a:latin typeface="Helvetica" pitchFamily="34" charset="0"/>
              </a:rPr>
              <a:t>Social media sites</a:t>
            </a:r>
          </a:p>
          <a:p>
            <a:pPr lvl="0">
              <a:spcBef>
                <a:spcPts val="600"/>
              </a:spcBef>
              <a:spcAft>
                <a:spcPts val="1200"/>
              </a:spcAft>
            </a:pPr>
            <a:r>
              <a:rPr lang="en-US" sz="2200" dirty="0" smtClean="0">
                <a:latin typeface="Helvetica" pitchFamily="34" charset="0"/>
              </a:rPr>
              <a:t>Electronic information templates</a:t>
            </a:r>
          </a:p>
          <a:p>
            <a:pPr lvl="0"/>
            <a:endParaRPr lang="en-US"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148</a:t>
            </a:fld>
            <a:endParaRPr lang="en-US" dirty="0">
              <a:latin typeface="Helvetica" pitchFamily="34" charset="0"/>
            </a:endParaRPr>
          </a:p>
        </p:txBody>
      </p:sp>
      <p:pic>
        <p:nvPicPr>
          <p:cNvPr id="7" name="Picture 6" descr="shutterstock_58679659.jpg"/>
          <p:cNvPicPr/>
          <p:nvPr/>
        </p:nvPicPr>
        <p:blipFill>
          <a:blip r:embed="rId3" cstate="print"/>
          <a:stretch>
            <a:fillRect/>
          </a:stretch>
        </p:blipFill>
        <p:spPr>
          <a:xfrm>
            <a:off x="5347175" y="2276872"/>
            <a:ext cx="2232248" cy="158417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PPT_Travel_agencies_template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PPT_Travel_agencies_template_130214</Template>
  <TotalTime>689</TotalTime>
  <Words>8716</Words>
  <Application>Microsoft Office PowerPoint</Application>
  <PresentationFormat>On-screen Show (4:3)</PresentationFormat>
  <Paragraphs>2146</Paragraphs>
  <Slides>148</Slides>
  <Notes>148</Notes>
  <HiddenSlides>0</HiddenSlides>
  <MMClips>0</MMClips>
  <ScaleCrop>false</ScaleCrop>
  <HeadingPairs>
    <vt:vector size="4" baseType="variant">
      <vt:variant>
        <vt:lpstr>Theme</vt:lpstr>
      </vt:variant>
      <vt:variant>
        <vt:i4>1</vt:i4>
      </vt:variant>
      <vt:variant>
        <vt:lpstr>Slide Titles</vt:lpstr>
      </vt:variant>
      <vt:variant>
        <vt:i4>148</vt:i4>
      </vt:variant>
    </vt:vector>
  </HeadingPairs>
  <TitlesOfParts>
    <vt:vector size="149" baseType="lpstr">
      <vt:lpstr>PPT_Travel_agencies_template_130214</vt:lpstr>
      <vt:lpstr>SOURCE AND PROVIDE DESTINaTION INFORMATION AND ADVICE</vt:lpstr>
      <vt:lpstr>Subject elements</vt:lpstr>
      <vt:lpstr>Assessment</vt:lpstr>
      <vt:lpstr>PowerPoint Presentation</vt:lpstr>
      <vt:lpstr>Generate initial destination knowledge</vt:lpstr>
      <vt:lpstr>Importance of destination information</vt:lpstr>
      <vt:lpstr>Importance of destination information</vt:lpstr>
      <vt:lpstr>Sources of destination information</vt:lpstr>
      <vt:lpstr>Sources of destination information</vt:lpstr>
      <vt:lpstr>Sources of destination information</vt:lpstr>
      <vt:lpstr>Sources of destination information</vt:lpstr>
      <vt:lpstr>Sources of destination information</vt:lpstr>
      <vt:lpstr>Sources of destination information</vt:lpstr>
      <vt:lpstr>Sources of destination information</vt:lpstr>
      <vt:lpstr>Sources of destination information</vt:lpstr>
      <vt:lpstr>Sources of destination information</vt:lpstr>
      <vt:lpstr>Sources of destination information</vt:lpstr>
      <vt:lpstr>Sources of destination information</vt:lpstr>
      <vt:lpstr>Sources of destination information</vt:lpstr>
      <vt:lpstr>Sources of destination information</vt:lpstr>
      <vt:lpstr>Sources of destination information</vt:lpstr>
      <vt:lpstr>Sources of destination information</vt:lpstr>
      <vt:lpstr>Formats of destination information</vt:lpstr>
      <vt:lpstr>Formats of destination information</vt:lpstr>
      <vt:lpstr>Formats of destination information</vt:lpstr>
      <vt:lpstr>Formats of destination information</vt:lpstr>
      <vt:lpstr>Formats of destination information</vt:lpstr>
      <vt:lpstr>Formats of destination information</vt:lpstr>
      <vt:lpstr>Formats of destination information</vt:lpstr>
      <vt:lpstr>Formats of destination information</vt:lpstr>
      <vt:lpstr>Identify criteria for capturing destination information</vt:lpstr>
      <vt:lpstr>Identify criteria for capturing destination information</vt:lpstr>
      <vt:lpstr>Identify criteria for capturing destination information</vt:lpstr>
      <vt:lpstr>Identify criteria for capturing destination information</vt:lpstr>
      <vt:lpstr>Identify criteria for capturing destination information</vt:lpstr>
      <vt:lpstr>Identify criteria for capturing destination information</vt:lpstr>
      <vt:lpstr>Read and review destination information</vt:lpstr>
      <vt:lpstr>Interpreting destination information</vt:lpstr>
      <vt:lpstr>Interpreting destination information</vt:lpstr>
      <vt:lpstr>Interpreting destination information</vt:lpstr>
      <vt:lpstr>Identify colleague and client needs</vt:lpstr>
      <vt:lpstr>Identify colleague and client needs</vt:lpstr>
      <vt:lpstr>Identify colleague and client needs</vt:lpstr>
      <vt:lpstr>Identify colleague and client needs</vt:lpstr>
      <vt:lpstr>Identify colleague and client needs</vt:lpstr>
      <vt:lpstr>Identify colleague and client needs</vt:lpstr>
      <vt:lpstr>Identify colleague and client needs</vt:lpstr>
      <vt:lpstr>Identify colleague and client needs</vt:lpstr>
      <vt:lpstr>Assessing destination information needs</vt:lpstr>
      <vt:lpstr>Assessing destination information needs</vt:lpstr>
      <vt:lpstr>Assessing destination information needs</vt:lpstr>
      <vt:lpstr>Assessing destination information needs</vt:lpstr>
      <vt:lpstr>Assessing destination information needs</vt:lpstr>
      <vt:lpstr>Identify destination information</vt:lpstr>
      <vt:lpstr>Identify destination information</vt:lpstr>
      <vt:lpstr>Identify destination information</vt:lpstr>
      <vt:lpstr>Identify destination information</vt:lpstr>
      <vt:lpstr>Identify destination information</vt:lpstr>
      <vt:lpstr>Identify destination information</vt:lpstr>
      <vt:lpstr>Identify destination information</vt:lpstr>
      <vt:lpstr>Identify destination information</vt:lpstr>
      <vt:lpstr>Identify destination information</vt:lpstr>
      <vt:lpstr>Identify destination information</vt:lpstr>
      <vt:lpstr>Identify destination information</vt:lpstr>
      <vt:lpstr>Identify destination information</vt:lpstr>
      <vt:lpstr>Identify destination information</vt:lpstr>
      <vt:lpstr>Identify destination information</vt:lpstr>
      <vt:lpstr>Identify destination information</vt:lpstr>
      <vt:lpstr>Identify destination information</vt:lpstr>
      <vt:lpstr>Identify destination information</vt:lpstr>
      <vt:lpstr>Identify destination information</vt:lpstr>
      <vt:lpstr>Identify destination information</vt:lpstr>
      <vt:lpstr>Identify destination information</vt:lpstr>
      <vt:lpstr>Identify destination information</vt:lpstr>
      <vt:lpstr>Identify destination information</vt:lpstr>
      <vt:lpstr>Identify destination information</vt:lpstr>
      <vt:lpstr>Identify destination information</vt:lpstr>
      <vt:lpstr>Identify destination information</vt:lpstr>
      <vt:lpstr>Research destination information</vt:lpstr>
      <vt:lpstr>Research destination information</vt:lpstr>
      <vt:lpstr>Research destination information</vt:lpstr>
      <vt:lpstr>Research destination information</vt:lpstr>
      <vt:lpstr>Research destination information</vt:lpstr>
      <vt:lpstr>Accessing internal information </vt:lpstr>
      <vt:lpstr>Accessing internal information </vt:lpstr>
      <vt:lpstr>Accessing external information </vt:lpstr>
      <vt:lpstr>Visit identified sources</vt:lpstr>
      <vt:lpstr>Visit identified sources</vt:lpstr>
      <vt:lpstr>Visit identified sources</vt:lpstr>
      <vt:lpstr>Establishing industry networks</vt:lpstr>
      <vt:lpstr>PowerPoint Presentation</vt:lpstr>
      <vt:lpstr>Update destination knowledge</vt:lpstr>
      <vt:lpstr>Register for destination information</vt:lpstr>
      <vt:lpstr>Register for destination information</vt:lpstr>
      <vt:lpstr>Register for destination information</vt:lpstr>
      <vt:lpstr>Capture and integrate destination information</vt:lpstr>
      <vt:lpstr>Capture and integrate destination information</vt:lpstr>
      <vt:lpstr>Capture and integrate destination information</vt:lpstr>
      <vt:lpstr>Capture and integrate destination information</vt:lpstr>
      <vt:lpstr>Capture and integrate destination information</vt:lpstr>
      <vt:lpstr>Integrating and initiate destination information</vt:lpstr>
      <vt:lpstr>Integrating and initiate destination information</vt:lpstr>
      <vt:lpstr>Integrating and initiate destination information</vt:lpstr>
      <vt:lpstr>Identify destination information</vt:lpstr>
      <vt:lpstr>Identify destination information</vt:lpstr>
      <vt:lpstr>PowerPoint Presentation</vt:lpstr>
      <vt:lpstr>Communicate destination knowledge</vt:lpstr>
      <vt:lpstr>Share destination information</vt:lpstr>
      <vt:lpstr>Share destination information</vt:lpstr>
      <vt:lpstr>Share destination information</vt:lpstr>
      <vt:lpstr>Share destination information</vt:lpstr>
      <vt:lpstr>Providing verbal explanation</vt:lpstr>
      <vt:lpstr>Providing hard copy materials</vt:lpstr>
      <vt:lpstr>Providing hard copy materials</vt:lpstr>
      <vt:lpstr>Providing hard copy materials</vt:lpstr>
      <vt:lpstr>Providing electronic materials</vt:lpstr>
      <vt:lpstr>Providing electronic materials</vt:lpstr>
      <vt:lpstr>Present destination information</vt:lpstr>
      <vt:lpstr>Present destination information</vt:lpstr>
      <vt:lpstr>Destination information to communicate</vt:lpstr>
      <vt:lpstr>Destination information to communicate</vt:lpstr>
      <vt:lpstr>Destination information to communicate</vt:lpstr>
      <vt:lpstr>Destination information to communicate</vt:lpstr>
      <vt:lpstr>Destination information to communicate</vt:lpstr>
      <vt:lpstr>Present hard copy information</vt:lpstr>
      <vt:lpstr>PowerPoint Presentation</vt:lpstr>
      <vt:lpstr>Review provision of destination knowledge</vt:lpstr>
      <vt:lpstr>Evaluate sources of destination information</vt:lpstr>
      <vt:lpstr>Evaluate sources of destination information</vt:lpstr>
      <vt:lpstr>Evaluate sources of destination information</vt:lpstr>
      <vt:lpstr>Evaluate sources of destination information</vt:lpstr>
      <vt:lpstr>Evaluate provision of destination information</vt:lpstr>
      <vt:lpstr>Evaluate provision of destination information</vt:lpstr>
      <vt:lpstr>Evaluate provision of destination information</vt:lpstr>
      <vt:lpstr>Evaluate provision of destination information</vt:lpstr>
      <vt:lpstr>Confirm sources of destination information</vt:lpstr>
      <vt:lpstr>Confirm sources of destination information</vt:lpstr>
      <vt:lpstr>Confirm sources of destination information</vt:lpstr>
      <vt:lpstr>Monitor destination information inventory</vt:lpstr>
      <vt:lpstr>Monitor destination information inventory</vt:lpstr>
      <vt:lpstr>Monitor destination information inventory</vt:lpstr>
      <vt:lpstr>Monitor destination information inventory</vt:lpstr>
      <vt:lpstr>Monitor destination information inventory</vt:lpstr>
      <vt:lpstr>Monitor destination information inventory</vt:lpstr>
      <vt:lpstr>Update destination information </vt:lpstr>
      <vt:lpstr>Update destination information </vt:lpstr>
      <vt:lpstr>Review presentation of destination information inventory</vt:lpstr>
      <vt:lpstr>Review presentation of destination information inventory</vt:lpstr>
    </vt:vector>
  </TitlesOfParts>
  <Company>William Angliss TAFE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SOURCE AND PROVIDE DESTINATION INFORMATION AND ADVICE</dc:title>
  <dc:creator>Mai Vu</dc:creator>
  <cp:lastModifiedBy>Mai Vu</cp:lastModifiedBy>
  <cp:revision>125</cp:revision>
  <dcterms:created xsi:type="dcterms:W3CDTF">2014-03-17T03:24:51Z</dcterms:created>
  <dcterms:modified xsi:type="dcterms:W3CDTF">2015-04-27T03:57:51Z</dcterms:modified>
</cp:coreProperties>
</file>