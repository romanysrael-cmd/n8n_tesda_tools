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8" r:id="rId4"/>
    <p:sldId id="259" r:id="rId5"/>
    <p:sldId id="296" r:id="rId6"/>
    <p:sldId id="321" r:id="rId7"/>
    <p:sldId id="322" r:id="rId8"/>
    <p:sldId id="323" r:id="rId9"/>
    <p:sldId id="297" r:id="rId10"/>
    <p:sldId id="298" r:id="rId11"/>
    <p:sldId id="299" r:id="rId12"/>
    <p:sldId id="300" r:id="rId13"/>
    <p:sldId id="301" r:id="rId14"/>
    <p:sldId id="305" r:id="rId15"/>
    <p:sldId id="325" r:id="rId16"/>
    <p:sldId id="306" r:id="rId17"/>
    <p:sldId id="307" r:id="rId18"/>
    <p:sldId id="308" r:id="rId19"/>
    <p:sldId id="309" r:id="rId20"/>
    <p:sldId id="302" r:id="rId21"/>
    <p:sldId id="310" r:id="rId22"/>
    <p:sldId id="311" r:id="rId23"/>
    <p:sldId id="303" r:id="rId24"/>
    <p:sldId id="312" r:id="rId25"/>
    <p:sldId id="313" r:id="rId26"/>
    <p:sldId id="314" r:id="rId27"/>
    <p:sldId id="304" r:id="rId28"/>
    <p:sldId id="326" r:id="rId29"/>
    <p:sldId id="316" r:id="rId30"/>
    <p:sldId id="317" r:id="rId31"/>
    <p:sldId id="318" r:id="rId32"/>
    <p:sldId id="319" r:id="rId3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5" autoAdjust="0"/>
    <p:restoredTop sz="94265" autoAdjust="0"/>
  </p:normalViewPr>
  <p:slideViewPr>
    <p:cSldViewPr>
      <p:cViewPr>
        <p:scale>
          <a:sx n="70" d="100"/>
          <a:sy n="70" d="100"/>
        </p:scale>
        <p:origin x="-151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3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E6916107-BD3A-45E2-B124-A5ED60630F4B}" type="datetimeFigureOut">
              <a:rPr lang="en-US" smtClean="0"/>
              <a:pPr/>
              <a:t>1/18/2013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629"/>
            <a:ext cx="3076363" cy="511313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5905CC0A-F53C-4267-913E-3202B6ED95E3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BC34F173-2430-41D6-9CA5-C9CD3BDF7E96}" type="datetimeFigureOut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0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006CD3C9-0AF2-437D-9D2F-7B6B298CC32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Welcome</a:t>
            </a:r>
            <a:r>
              <a:rPr lang="en-US" baseline="0" dirty="0" smtClean="0"/>
              <a:t> students to the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Trainer to advise: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/>
          </a:p>
          <a:p>
            <a:r>
              <a:rPr lang="en-US" dirty="0" smtClean="0"/>
              <a:t>Trainer</a:t>
            </a:r>
            <a:r>
              <a:rPr lang="en-US" baseline="0" dirty="0" smtClean="0"/>
              <a:t> advises students that assessment for this Unit may take several forms all of which are aimed at verifying they have achieved competency for the Unit as required.</a:t>
            </a:r>
          </a:p>
          <a:p>
            <a:endParaRPr lang="en-US" baseline="0" dirty="0" smtClean="0"/>
          </a:p>
          <a:p>
            <a:r>
              <a:rPr lang="en-US" baseline="0" dirty="0" smtClean="0"/>
              <a:t>Trainer indicates to students the methods of assessment that will be applied to them for this Unit. </a:t>
            </a:r>
            <a:endParaRPr lang="en-US" b="1" dirty="0" smtClean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r>
              <a:rPr lang="en-US" dirty="0" smtClean="0"/>
              <a:t>Trainer advises students this Unit comprises five elements, as listed on the slide explaining: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Each Element comprises a number of Performance Criteria which will be identified throughout the class and explained in detail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Students can obtain more detail from their Trainee Manual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The course presents advice and information but where their workplace requirements differ to what is presented, the workplace practices and standards must be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1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Operate a fast food outlet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Plan for fast food production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 lvl="1" algn="l"/>
            <a:r>
              <a:rPr lang="en-AU" sz="2800" dirty="0" smtClean="0"/>
              <a:t>Identify large and small</a:t>
            </a:r>
            <a:r>
              <a:rPr lang="en-AU" sz="2800" i="1" dirty="0" smtClean="0"/>
              <a:t> equipment</a:t>
            </a:r>
            <a:r>
              <a:rPr lang="en-AU" sz="2800" dirty="0" smtClean="0"/>
              <a:t> requirements for menu and volume </a:t>
            </a:r>
          </a:p>
          <a:p>
            <a:pPr lvl="1" algn="l"/>
            <a:r>
              <a:rPr lang="en-AU" sz="2800" dirty="0" smtClean="0"/>
              <a:t>Identify </a:t>
            </a:r>
            <a:r>
              <a:rPr lang="en-AU" sz="2800" i="1" dirty="0" smtClean="0"/>
              <a:t>staff </a:t>
            </a:r>
            <a:r>
              <a:rPr lang="en-AU" sz="2800" dirty="0" smtClean="0"/>
              <a:t>requirements</a:t>
            </a:r>
          </a:p>
          <a:p>
            <a:pPr lvl="1" algn="l"/>
            <a:r>
              <a:rPr lang="en-AU" sz="2800" dirty="0" smtClean="0"/>
              <a:t>Plan a </a:t>
            </a:r>
            <a:r>
              <a:rPr lang="en-AU" sz="2800" i="1" dirty="0" smtClean="0"/>
              <a:t>menu</a:t>
            </a:r>
            <a:r>
              <a:rPr lang="en-AU" sz="2800" dirty="0" smtClean="0"/>
              <a:t> to meet establishment and client requirements</a:t>
            </a:r>
          </a:p>
          <a:p>
            <a:pPr lvl="1" algn="l"/>
            <a:r>
              <a:rPr lang="en-AU" sz="2800" dirty="0" smtClean="0"/>
              <a:t>Plan workflow and production </a:t>
            </a:r>
            <a:r>
              <a:rPr lang="en-AU" sz="2800" i="1" dirty="0" smtClean="0"/>
              <a:t>schedules</a:t>
            </a:r>
            <a:endParaRPr lang="en-AU" sz="2800" dirty="0" smtClean="0"/>
          </a:p>
          <a:p>
            <a:pPr lvl="1" algn="l"/>
            <a:r>
              <a:rPr lang="en-AU" sz="2800" dirty="0" smtClean="0"/>
              <a:t>Prepare </a:t>
            </a:r>
            <a:r>
              <a:rPr lang="en-AU" sz="2800" i="1" dirty="0" smtClean="0"/>
              <a:t>standard recipes</a:t>
            </a:r>
            <a:r>
              <a:rPr lang="en-AU" sz="2800" dirty="0" smtClean="0"/>
              <a:t> for menu items</a:t>
            </a:r>
          </a:p>
          <a:p>
            <a:pPr>
              <a:buFont typeface="Arial" pitchFamily="34" charset="0"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Equipment will vary slightly as type of food produced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When does a fast food outlet become a café which then becomes a</a:t>
            </a:r>
            <a:r>
              <a:rPr lang="en-US" b="0" baseline="0" dirty="0" smtClean="0"/>
              <a:t> </a:t>
            </a:r>
            <a:r>
              <a:rPr lang="en-US" b="0" dirty="0" smtClean="0"/>
              <a:t>restaurant?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Safe operating of equipment makes working much easie</a:t>
            </a:r>
            <a:r>
              <a:rPr lang="en-US" b="0" baseline="0" dirty="0" smtClean="0"/>
              <a:t>r</a:t>
            </a:r>
          </a:p>
          <a:p>
            <a:pPr>
              <a:buFontTx/>
              <a:buNone/>
            </a:pPr>
            <a:r>
              <a:rPr lang="en-US" b="0" baseline="0" dirty="0" smtClean="0"/>
              <a:t>Staff trained in all aspects</a:t>
            </a: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Exhaust range hood to extract hot air from kitchen</a:t>
            </a:r>
            <a:r>
              <a:rPr lang="en-US" b="0" baseline="0" dirty="0" smtClean="0"/>
              <a:t> is an expensive equipment purchase.</a:t>
            </a:r>
          </a:p>
          <a:p>
            <a:pPr>
              <a:buFontTx/>
              <a:buNone/>
            </a:pPr>
            <a:r>
              <a:rPr lang="en-US" b="0" baseline="0" dirty="0" smtClean="0"/>
              <a:t>Expensive to install and expensive to remove if business does not succeed.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Exhaust hoods are mandatory where gas is used as a fuel for cooking.</a:t>
            </a:r>
          </a:p>
          <a:p>
            <a:pPr>
              <a:buFontTx/>
              <a:buNone/>
            </a:pPr>
            <a:r>
              <a:rPr lang="en-US" b="0" baseline="0" dirty="0" smtClean="0"/>
              <a:t>If flame is extinguished then there is no build up of poisonous gases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Large equipment used to store foods and clean dishes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Small</a:t>
            </a:r>
            <a:r>
              <a:rPr lang="en-US" b="0" baseline="0" dirty="0" smtClean="0"/>
              <a:t> </a:t>
            </a:r>
            <a:r>
              <a:rPr lang="en-US" b="0" dirty="0" smtClean="0"/>
              <a:t>equipment used to process foods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Variety</a:t>
            </a:r>
            <a:r>
              <a:rPr lang="en-US" b="0" baseline="0" dirty="0" smtClean="0"/>
              <a:t> will differ slightly depending on style of food outlet.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Some outlets will purchase all commodities from larger suppliers and assemble as required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This will reduce the amount of infrastructure and equipment required.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Equipment like </a:t>
            </a:r>
          </a:p>
          <a:p>
            <a:pPr>
              <a:buFontTx/>
              <a:buNone/>
            </a:pPr>
            <a:r>
              <a:rPr lang="en-US" b="0" baseline="0" dirty="0" smtClean="0"/>
              <a:t>Storage trays and consumables will always be required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Consumables are items such as </a:t>
            </a:r>
          </a:p>
          <a:p>
            <a:pPr>
              <a:buFontTx/>
              <a:buNone/>
            </a:pPr>
            <a:r>
              <a:rPr lang="en-US" b="0" baseline="0" dirty="0" smtClean="0"/>
              <a:t> paper bags</a:t>
            </a:r>
          </a:p>
          <a:p>
            <a:pPr>
              <a:buFontTx/>
              <a:buNone/>
            </a:pPr>
            <a:r>
              <a:rPr lang="en-US" b="0" baseline="0" dirty="0" smtClean="0"/>
              <a:t>Take away supplies</a:t>
            </a:r>
          </a:p>
          <a:p>
            <a:pPr>
              <a:buFontTx/>
              <a:buNone/>
            </a:pPr>
            <a:r>
              <a:rPr lang="en-US" b="0" baseline="0" dirty="0" smtClean="0"/>
              <a:t>Plastic wrap for covering foods</a:t>
            </a:r>
          </a:p>
          <a:p>
            <a:pPr>
              <a:buFontTx/>
              <a:buNone/>
            </a:pPr>
            <a:r>
              <a:rPr lang="en-US" b="0" baseline="0" dirty="0" smtClean="0"/>
              <a:t>Aluminum foil for covering hot foods</a:t>
            </a:r>
          </a:p>
          <a:p>
            <a:pPr>
              <a:buFontTx/>
              <a:buNone/>
            </a:pP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Trainer to advise: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 smtClean="0"/>
              <a:t>Employing good staff is challenging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 smtClean="0"/>
              <a:t>Staff should present well to customers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 smtClean="0"/>
              <a:t>They</a:t>
            </a:r>
            <a:r>
              <a:rPr lang="en-US" b="0" baseline="0" dirty="0" smtClean="0"/>
              <a:t> should be</a:t>
            </a:r>
            <a:r>
              <a:rPr lang="en-US" b="0" dirty="0" smtClean="0"/>
              <a:t> able to engage with customers and give customers a pleasant experience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 smtClean="0"/>
              <a:t>Staff should have good product knowledge of menu items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 smtClean="0"/>
              <a:t>Staff should have a good work ethic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1" dirty="0" smtClean="0"/>
              <a:t>Planning menu to meet establishment</a:t>
            </a:r>
            <a:r>
              <a:rPr lang="en-US" b="1" baseline="0" dirty="0" smtClean="0"/>
              <a:t> and client requirements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Style of food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When the style of food has been decided then the menu needs to reflect that style.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dirty="0" smtClean="0">
                <a:latin typeface="Helvetica" pitchFamily="34" charset="0"/>
              </a:rPr>
              <a:t>Menu can have slight variations of style but should be true to form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Number of food items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Number of menu items need to be kept to minimum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If pizza is the main style of fast food then </a:t>
            </a:r>
            <a:r>
              <a:rPr lang="en-US" sz="1200" b="1" dirty="0" smtClean="0">
                <a:latin typeface="Helvetica" pitchFamily="34" charset="0"/>
              </a:rPr>
              <a:t>do not </a:t>
            </a:r>
            <a:r>
              <a:rPr lang="en-US" sz="1200" b="0" dirty="0" smtClean="0">
                <a:latin typeface="Helvetica" pitchFamily="34" charset="0"/>
              </a:rPr>
              <a:t>do burgers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10- to 16 pizza is sufficient; meat based and vegetarian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Drinks</a:t>
            </a:r>
            <a:r>
              <a:rPr lang="en-US" sz="1200" b="0" baseline="0" dirty="0" smtClean="0">
                <a:latin typeface="Helvetica" pitchFamily="34" charset="0"/>
              </a:rPr>
              <a:t> also kept to minimum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baseline="0" dirty="0" smtClean="0">
                <a:latin typeface="Helvetica" pitchFamily="34" charset="0"/>
              </a:rPr>
              <a:t>If coffee is offered and you sell espresso then you may need to employ 1 person just to make coffee</a:t>
            </a:r>
            <a:endParaRPr lang="en-US" sz="1200" b="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Client requirements?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What do clients need? If there are 6 businesses selling pizza then the customers do not need another pizza place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u="sng" dirty="0" smtClean="0">
                <a:latin typeface="Helvetica" pitchFamily="34" charset="0"/>
              </a:rPr>
              <a:t>Clients do not need a large choice</a:t>
            </a:r>
            <a:r>
              <a:rPr lang="en-US" sz="1200" b="0" u="sng" baseline="0" dirty="0" smtClean="0">
                <a:latin typeface="Helvetica" pitchFamily="34" charset="0"/>
              </a:rPr>
              <a:t> when ordering fast food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1200" b="0" baseline="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baseline="0" dirty="0" smtClean="0">
                <a:latin typeface="Helvetica" pitchFamily="34" charset="0"/>
              </a:rPr>
              <a:t>Student activity</a:t>
            </a:r>
            <a:r>
              <a:rPr lang="en-US" sz="1200" b="0" baseline="0" dirty="0" smtClean="0">
                <a:latin typeface="Helvetica" pitchFamily="34" charset="0"/>
              </a:rPr>
              <a:t>: Ask students why not? For previous statement.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baseline="0" dirty="0" smtClean="0">
                <a:latin typeface="Helvetica" pitchFamily="34" charset="0"/>
              </a:rPr>
              <a:t>It takes the client longer to order if the menu is too large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If the menu is large then there is more mise en place required in the kitchen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More staff required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possibility</a:t>
            </a:r>
            <a:r>
              <a:rPr lang="en-US" sz="1200" b="0" baseline="0" dirty="0" smtClean="0">
                <a:latin typeface="Helvetica" pitchFamily="34" charset="0"/>
              </a:rPr>
              <a:t> of more waste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baseline="0" dirty="0" smtClean="0">
                <a:latin typeface="Helvetica" pitchFamily="34" charset="0"/>
              </a:rPr>
              <a:t>Slower service</a:t>
            </a:r>
            <a:endParaRPr lang="en-US" sz="1200" b="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Establish requirements?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Quick turnover of clients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Quick sales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Maximum profit from lower costs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1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1" dirty="0" smtClean="0">
                <a:latin typeface="Helvetica" pitchFamily="34" charset="0"/>
              </a:rPr>
              <a:t>Business success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200" b="0" dirty="0" smtClean="0">
                <a:latin typeface="Helvetica" pitchFamily="34" charset="0"/>
              </a:rPr>
              <a:t>All comes from above</a:t>
            </a:r>
          </a:p>
          <a:p>
            <a:pPr>
              <a:buFontTx/>
              <a:buNone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Planning the workflow is about</a:t>
            </a:r>
            <a:r>
              <a:rPr lang="en-US" b="0" baseline="0" dirty="0" smtClean="0"/>
              <a:t> how much has to be done to the commodity after is comes onto the premises</a:t>
            </a:r>
          </a:p>
          <a:p>
            <a:pPr>
              <a:buFontTx/>
              <a:buNone/>
            </a:pPr>
            <a:r>
              <a:rPr lang="en-US" b="0" baseline="0" dirty="0" smtClean="0"/>
              <a:t>How many elements or parts to each dish</a:t>
            </a:r>
          </a:p>
          <a:p>
            <a:pPr>
              <a:buFontTx/>
              <a:buNone/>
            </a:pPr>
            <a:r>
              <a:rPr lang="en-US" b="0" baseline="0" dirty="0" smtClean="0"/>
              <a:t>The more processing required the greater the workflow planning required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Dish or menu item construction will always have to be carried out</a:t>
            </a:r>
          </a:p>
          <a:p>
            <a:pPr>
              <a:buFontTx/>
              <a:buNone/>
            </a:pPr>
            <a:r>
              <a:rPr lang="en-US" b="0" baseline="0" dirty="0" smtClean="0"/>
              <a:t>The number of ingredients that make up the dish will determine the time this steps takes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10 elements take longer than just 4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Service to customers is always the same.</a:t>
            </a:r>
          </a:p>
          <a:p>
            <a:pPr>
              <a:buFontTx/>
              <a:buNone/>
            </a:pPr>
            <a:r>
              <a:rPr lang="en-US" b="0" baseline="0" dirty="0" smtClean="0"/>
              <a:t>It takes as long to conduct the sale of 20 items to a customer as it does to sell one item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Cleaning after end of business will always have to be done.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Standard recipes should always produce the same product anywhere in the world that it is used.</a:t>
            </a:r>
          </a:p>
          <a:p>
            <a:pPr>
              <a:buFontTx/>
              <a:buNone/>
            </a:pPr>
            <a:r>
              <a:rPr lang="en-US" b="0" dirty="0" smtClean="0"/>
              <a:t>There is a famous burger chain that has proved this to be correct.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The more elements</a:t>
            </a:r>
            <a:r>
              <a:rPr lang="en-US" b="0" baseline="0" dirty="0" smtClean="0"/>
              <a:t> the higher the cost of ingredients and higher cost of labour because it takes longer to construct.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This process needs to be implemented for any menu item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1" baseline="0" dirty="0" smtClean="0"/>
              <a:t>Student Activity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The students need to produce a standard recipe for any fast food they can think.</a:t>
            </a:r>
          </a:p>
          <a:p>
            <a:pPr>
              <a:buFontTx/>
              <a:buNone/>
            </a:pPr>
            <a:r>
              <a:rPr lang="en-US" b="0" baseline="0" dirty="0" smtClean="0"/>
              <a:t>List the elements of the purchased product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Pizza?? Dough, sauce, toppings 1 or 5, how much of each, how much cheese</a:t>
            </a:r>
          </a:p>
          <a:p>
            <a:pPr>
              <a:buFontTx/>
              <a:buNone/>
            </a:pPr>
            <a:r>
              <a:rPr lang="en-US" b="0" baseline="0" dirty="0" smtClean="0"/>
              <a:t>Cooking time</a:t>
            </a:r>
          </a:p>
          <a:p>
            <a:pPr>
              <a:buFontTx/>
              <a:buNone/>
            </a:pPr>
            <a:r>
              <a:rPr lang="en-US" b="0" baseline="0" dirty="0" smtClean="0"/>
              <a:t>Packaging requirements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Same process for chicken or curry bar selection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2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Operate a fast food outlet </a:t>
            </a:r>
            <a:r>
              <a:rPr lang="en-US" b="0" baseline="0" dirty="0" smtClean="0"/>
              <a:t>the students must be able to;</a:t>
            </a:r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Prepare cook and hold items for fast food outlet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to:</a:t>
            </a:r>
          </a:p>
          <a:p>
            <a:pPr lvl="1"/>
            <a:r>
              <a:rPr lang="en-AU" sz="2800" dirty="0" smtClean="0"/>
              <a:t>Use appropriate </a:t>
            </a:r>
            <a:r>
              <a:rPr lang="en-AU" sz="2800" i="1" dirty="0" smtClean="0"/>
              <a:t>preparation and cooking methods</a:t>
            </a:r>
            <a:endParaRPr lang="en-AU" sz="2800" dirty="0" smtClean="0"/>
          </a:p>
          <a:p>
            <a:pPr lvl="1"/>
            <a:r>
              <a:rPr lang="en-AU" sz="2800" dirty="0" smtClean="0"/>
              <a:t>Use appropriate equipment</a:t>
            </a:r>
          </a:p>
          <a:p>
            <a:pPr lvl="1"/>
            <a:r>
              <a:rPr lang="en-AU" sz="2800" dirty="0" smtClean="0"/>
              <a:t>Follow </a:t>
            </a:r>
            <a:r>
              <a:rPr lang="en-AU" sz="2800" i="1" dirty="0" smtClean="0"/>
              <a:t>food safety requirements</a:t>
            </a:r>
            <a:endParaRPr lang="en-AU" sz="2800" dirty="0" smtClean="0"/>
          </a:p>
          <a:p>
            <a:pPr lvl="1"/>
            <a:r>
              <a:rPr lang="en-AU" sz="2800" i="1" dirty="0" smtClean="0"/>
              <a:t>Hold menu items</a:t>
            </a:r>
            <a:endParaRPr lang="en-AU" sz="2800" dirty="0" smtClean="0"/>
          </a:p>
          <a:p>
            <a:pPr lvl="1"/>
            <a:r>
              <a:rPr lang="en-AU" sz="2800" i="1" dirty="0" smtClean="0"/>
              <a:t>Reheat menu items</a:t>
            </a:r>
            <a:endParaRPr lang="en-US" b="1" baseline="0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Student </a:t>
            </a:r>
            <a:r>
              <a:rPr lang="en-US" b="1" dirty="0" smtClean="0"/>
              <a:t>Activity 1:</a:t>
            </a:r>
          </a:p>
          <a:p>
            <a:pPr>
              <a:buFontTx/>
              <a:buNone/>
            </a:pPr>
            <a:r>
              <a:rPr lang="en-US" b="0" dirty="0" smtClean="0"/>
              <a:t>Ask how much cooking is required for each shop</a:t>
            </a:r>
          </a:p>
          <a:p>
            <a:pPr>
              <a:buFontTx/>
              <a:buNone/>
            </a:pPr>
            <a:r>
              <a:rPr lang="en-US" b="0" dirty="0" smtClean="0"/>
              <a:t>Ask them</a:t>
            </a:r>
            <a:r>
              <a:rPr lang="en-US" b="0" baseline="0" dirty="0" smtClean="0"/>
              <a:t> to list in order of which place might have the most cooking requirements</a:t>
            </a:r>
            <a:endParaRPr lang="en-US" b="0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1" dirty="0" smtClean="0"/>
              <a:t>Student Activity 2:</a:t>
            </a:r>
          </a:p>
          <a:p>
            <a:pPr>
              <a:buFontTx/>
              <a:buNone/>
            </a:pPr>
            <a:r>
              <a:rPr lang="en-US" b="0" dirty="0" smtClean="0"/>
              <a:t>Ask how much cooking is required for each shop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Sample answer could be this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Burger and fish shop will be equal if just the flesh is to be cooked</a:t>
            </a:r>
          </a:p>
          <a:p>
            <a:pPr>
              <a:buFontTx/>
              <a:buNone/>
            </a:pPr>
            <a:r>
              <a:rPr lang="en-US" b="0" dirty="0" smtClean="0"/>
              <a:t>If </a:t>
            </a:r>
            <a:r>
              <a:rPr lang="en-US" b="1" dirty="0" smtClean="0"/>
              <a:t>fries</a:t>
            </a:r>
            <a:r>
              <a:rPr lang="en-US" b="0" dirty="0" smtClean="0"/>
              <a:t> are to be offered then that business goes</a:t>
            </a:r>
            <a:r>
              <a:rPr lang="en-US" b="0" baseline="0" dirty="0" smtClean="0"/>
              <a:t> to the higher cooking requirements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Curry bar can purchase all curries in and therefore only has to re-heat, no cooking required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baseline="0" dirty="0" smtClean="0"/>
              <a:t>Curries can be reheated in microwave</a:t>
            </a:r>
            <a:endParaRPr lang="en-US" b="0" dirty="0" smtClean="0"/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Salad shop has no cooking requirements; all commodities can be purchased from suppliers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1" dirty="0" smtClean="0"/>
              <a:t>Student Activity: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0" dirty="0" smtClean="0"/>
              <a:t>Each menu item will have specific requirements to be carried out before that menu item is ready for sale</a:t>
            </a:r>
          </a:p>
          <a:p>
            <a:pPr>
              <a:buFontTx/>
              <a:buNone/>
            </a:pPr>
            <a:r>
              <a:rPr lang="en-US" b="0" dirty="0" smtClean="0"/>
              <a:t>A timeline will be need to be developed</a:t>
            </a:r>
            <a:r>
              <a:rPr lang="en-US" b="0" baseline="0" dirty="0" smtClean="0"/>
              <a:t> so decisions can be made as the viability of such menu items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It will vary depending on how enterprise is set up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How the business is set up will determine what equipment is required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Train staff in proper usage of all equipment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Use equipment suitable for the job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If</a:t>
            </a:r>
            <a:r>
              <a:rPr lang="en-US" b="0" baseline="0" dirty="0" smtClean="0"/>
              <a:t> there is going to be lots of deep frying then purchase several large deep fryers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Small ones will not recover heat quick enough to keep up with pace of cooking required</a:t>
            </a:r>
          </a:p>
          <a:p>
            <a:pPr>
              <a:buFontTx/>
              <a:buNone/>
            </a:pPr>
            <a:r>
              <a:rPr lang="en-US" b="0" baseline="0" dirty="0" smtClean="0"/>
              <a:t>One large one is not sufficient because if it fails to operate then there is no backup and then you have no business</a:t>
            </a:r>
            <a:endParaRPr lang="en-US" b="0" dirty="0" smtClean="0"/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Keep equipment clean and well maintained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1" dirty="0" smtClean="0"/>
              <a:t>All business must operate with a</a:t>
            </a:r>
            <a:r>
              <a:rPr lang="en-US" b="1" baseline="0" dirty="0" smtClean="0"/>
              <a:t> food safety plan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Food safety plans outline the steps that are being followed by the business to keep food safe for human consumption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If staff are trained in these requirements and staff follow the required steps then food produced will be safe to eat.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A food safety plan is designed to minimise the possibility of causing any adverse reaction in people who consume the food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It is not a guarantee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 Hold is</a:t>
            </a:r>
            <a:r>
              <a:rPr lang="en-US" b="0" baseline="0" dirty="0" smtClean="0"/>
              <a:t> a term to describe the time between when the food has been cooked until it is delivered to the customer for eating.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In a curry shop the curry is cooked and held hot in a Bain Marie to keep it hot until a customers requests a serve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If it was a salad shop then the salad will have to be kept chilled with no dressing until sold so the leaves remain crisp.</a:t>
            </a:r>
          </a:p>
          <a:p>
            <a:pPr>
              <a:buFontTx/>
              <a:buNone/>
            </a:pPr>
            <a:r>
              <a:rPr lang="en-US" b="0" baseline="0" dirty="0" smtClean="0"/>
              <a:t>The salad has been ‘</a:t>
            </a:r>
            <a:r>
              <a:rPr lang="en-US" b="1" baseline="0" dirty="0" smtClean="0"/>
              <a:t>held” </a:t>
            </a:r>
            <a:r>
              <a:rPr lang="en-US" b="0" baseline="0" dirty="0" smtClean="0"/>
              <a:t>in a suitable state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If food has been precooked as part of the production schedule</a:t>
            </a:r>
            <a:r>
              <a:rPr lang="en-US" b="0" baseline="0" dirty="0" smtClean="0"/>
              <a:t> then it only needs to be reheated for service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Reheat only what is required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Reheat high risk foods to at least 70</a:t>
            </a:r>
            <a:r>
              <a:rPr lang="en-US" b="0" baseline="0" dirty="0" smtClean="0">
                <a:latin typeface="Helvetica"/>
              </a:rPr>
              <a:t>°C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3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Operate a fast food outlet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Provide fast food service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 lvl="1"/>
            <a:r>
              <a:rPr lang="en-AU" sz="2800" i="1" dirty="0" smtClean="0"/>
              <a:t>Serve and present food items</a:t>
            </a:r>
            <a:r>
              <a:rPr lang="en-AU" sz="2800" dirty="0" smtClean="0"/>
              <a:t> in line with customer volume</a:t>
            </a:r>
          </a:p>
          <a:p>
            <a:pPr lvl="1"/>
            <a:endParaRPr lang="en-AU" sz="2800" dirty="0" smtClean="0"/>
          </a:p>
          <a:p>
            <a:pPr lvl="1"/>
            <a:r>
              <a:rPr lang="en-AU" sz="2800" dirty="0" smtClean="0"/>
              <a:t>Maintain a </a:t>
            </a:r>
            <a:r>
              <a:rPr lang="en-AU" sz="2800" i="1" dirty="0" smtClean="0"/>
              <a:t>clean customer service area</a:t>
            </a:r>
            <a:endParaRPr lang="en-AU" sz="2800" dirty="0" smtClean="0"/>
          </a:p>
          <a:p>
            <a:pPr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When serving fast food there is going to be peaks and troughs in customers requiring</a:t>
            </a:r>
            <a:r>
              <a:rPr lang="en-US" b="0" baseline="0" dirty="0" smtClean="0"/>
              <a:t> product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Process can be achieved when there is no pressure</a:t>
            </a:r>
          </a:p>
          <a:p>
            <a:pPr>
              <a:buFontTx/>
              <a:buNone/>
            </a:pPr>
            <a:r>
              <a:rPr lang="en-US" b="0" baseline="0" dirty="0" smtClean="0"/>
              <a:t>But can process quality be maintained when pressure to serve more customers in timely manner still be achieved.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People are not machines. They can only do so much in a certain time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With practice and proper equipment efficiencies can be achieved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Sometimes more staff have to be added</a:t>
            </a:r>
          </a:p>
          <a:p>
            <a:pPr>
              <a:buFontTx/>
              <a:buNone/>
            </a:pPr>
            <a:r>
              <a:rPr lang="en-US" b="0" baseline="0" dirty="0" smtClean="0"/>
              <a:t>Sometime better equipment may be needed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Depending where the weak point in the process is happening</a:t>
            </a:r>
          </a:p>
          <a:p>
            <a:pPr>
              <a:buFontTx/>
              <a:buNone/>
            </a:pPr>
            <a:r>
              <a:rPr lang="en-US" b="0" baseline="0" dirty="0" smtClean="0"/>
              <a:t>Staff may be very good but if equipment is 2</a:t>
            </a:r>
            <a:r>
              <a:rPr lang="en-US" b="0" baseline="30000" dirty="0" smtClean="0"/>
              <a:t>nd</a:t>
            </a:r>
            <a:r>
              <a:rPr lang="en-US" b="0" baseline="0" dirty="0" smtClean="0"/>
              <a:t> rate then service cannot be improved</a:t>
            </a:r>
          </a:p>
          <a:p>
            <a:pPr>
              <a:buFontTx/>
              <a:buNone/>
            </a:pPr>
            <a:r>
              <a:rPr lang="en-US" b="0" baseline="0" dirty="0" smtClean="0"/>
              <a:t>If equipment is the best and staff are struggling then extra staff can make it work better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The customer service area is where the customers interact with the business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What the customers see here is their perception of the enterprise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It does not matter how much money is spent</a:t>
            </a:r>
            <a:r>
              <a:rPr lang="en-US" b="0" baseline="0" dirty="0" smtClean="0"/>
              <a:t> on advertising to say that the stores are cleanest in the city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What the customers see is what they will think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Keep the customer service area clean at all times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Both front of counter and behind counter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Keep all areas of food enterprise clean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1" baseline="0" dirty="0" smtClean="0"/>
              <a:t>Remember</a:t>
            </a:r>
          </a:p>
          <a:p>
            <a:pPr>
              <a:buFontTx/>
              <a:buNone/>
            </a:pPr>
            <a:r>
              <a:rPr lang="en-US" b="0" baseline="0" dirty="0" smtClean="0"/>
              <a:t>The biggest burger chain in the world rates cleaning of premises at the same level as quality of product that it sells.</a:t>
            </a:r>
            <a:endParaRPr lang="en-US" b="0" dirty="0" smtClean="0"/>
          </a:p>
          <a:p>
            <a:pPr>
              <a:buFontTx/>
              <a:buNone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4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Operate a fast food outlet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Maintain fast food outlet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r>
              <a:rPr lang="en-AU" sz="1200" i="1" dirty="0" smtClean="0"/>
              <a:t>Clean </a:t>
            </a:r>
            <a:r>
              <a:rPr lang="en-AU" sz="1200" dirty="0" smtClean="0"/>
              <a:t>fast food area in line with establishment and equipment requirements</a:t>
            </a:r>
          </a:p>
          <a:p>
            <a:r>
              <a:rPr lang="en-AU" sz="1200" dirty="0" smtClean="0"/>
              <a:t>Undertake </a:t>
            </a:r>
            <a:r>
              <a:rPr lang="en-AU" sz="1200" i="1" dirty="0" smtClean="0"/>
              <a:t>stock control </a:t>
            </a:r>
            <a:r>
              <a:rPr lang="en-AU" sz="1200" dirty="0" smtClean="0"/>
              <a:t>and </a:t>
            </a:r>
            <a:r>
              <a:rPr lang="en-AU" sz="1200" i="1" dirty="0" smtClean="0"/>
              <a:t>reordering </a:t>
            </a:r>
            <a:r>
              <a:rPr lang="en-AU" sz="1200" dirty="0" smtClean="0"/>
              <a:t>processes</a:t>
            </a:r>
          </a:p>
          <a:p>
            <a:r>
              <a:rPr lang="en-AU" sz="1200" dirty="0" smtClean="0"/>
              <a:t>Identify and report maintenance issues to </a:t>
            </a:r>
            <a:r>
              <a:rPr lang="en-AU" sz="1200" i="1" dirty="0" smtClean="0"/>
              <a:t>appropriate personnel</a:t>
            </a:r>
            <a:endParaRPr lang="en-AU" sz="1200" dirty="0" smtClean="0"/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Cleaning is integral part of the smooth operation of a fast food outlet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As stated; cleanliness of premises is how customers will rate quality of product</a:t>
            </a:r>
          </a:p>
          <a:p>
            <a:pPr>
              <a:buFontTx/>
              <a:buNone/>
            </a:pPr>
            <a:r>
              <a:rPr lang="en-US" b="0" dirty="0" smtClean="0"/>
              <a:t>Nobody buys from dirty food premises</a:t>
            </a:r>
          </a:p>
          <a:p>
            <a:pPr>
              <a:buFontTx/>
              <a:buNone/>
            </a:pPr>
            <a:r>
              <a:rPr lang="en-US" b="0" dirty="0" smtClean="0"/>
              <a:t>Even their own kitchens may</a:t>
            </a:r>
            <a:r>
              <a:rPr lang="en-US" b="0" baseline="0" dirty="0" smtClean="0"/>
              <a:t> not be as clean, that is why  they come to you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Food safety plan must have a cleaning schedule</a:t>
            </a:r>
          </a:p>
          <a:p>
            <a:pPr>
              <a:buFontTx/>
              <a:buNone/>
            </a:pPr>
            <a:r>
              <a:rPr lang="en-US" b="1" baseline="0" dirty="0" smtClean="0"/>
              <a:t>What</a:t>
            </a:r>
            <a:r>
              <a:rPr lang="en-US" b="0" baseline="0" dirty="0" smtClean="0"/>
              <a:t> is to be cleaned; </a:t>
            </a:r>
            <a:r>
              <a:rPr lang="en-US" b="1" baseline="0" dirty="0" smtClean="0"/>
              <a:t>when</a:t>
            </a:r>
            <a:r>
              <a:rPr lang="en-US" b="0" baseline="0" dirty="0" smtClean="0"/>
              <a:t> it is to be cleaned; </a:t>
            </a:r>
            <a:r>
              <a:rPr lang="en-US" b="1" baseline="0" dirty="0" smtClean="0"/>
              <a:t>who</a:t>
            </a:r>
            <a:r>
              <a:rPr lang="en-US" b="0" baseline="0" dirty="0" smtClean="0"/>
              <a:t> is to clean; </a:t>
            </a:r>
            <a:r>
              <a:rPr lang="en-US" b="1" baseline="0" dirty="0" smtClean="0"/>
              <a:t>with what </a:t>
            </a:r>
            <a:r>
              <a:rPr lang="en-US" b="0" baseline="0" dirty="0" smtClean="0"/>
              <a:t>it is to be cleaned; </a:t>
            </a:r>
            <a:r>
              <a:rPr lang="en-US" b="1" baseline="0" dirty="0" smtClean="0"/>
              <a:t>how often </a:t>
            </a:r>
            <a:r>
              <a:rPr lang="en-US" b="0" baseline="0" dirty="0" smtClean="0"/>
              <a:t>it is to be cleaned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And when it has been cleaned on the hour every hour for the last 6 hours and some body has accident, then it is to be cleaned immediately to the required condition and standard; </a:t>
            </a:r>
            <a:r>
              <a:rPr lang="en-US" b="1" baseline="0" dirty="0" smtClean="0"/>
              <a:t>AS REQUIRED </a:t>
            </a:r>
            <a:r>
              <a:rPr lang="en-US" b="0" baseline="0" dirty="0" smtClean="0"/>
              <a:t>mean just that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Carrying too much stock is a strain on money invested in business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Determine par stock levels</a:t>
            </a:r>
          </a:p>
          <a:p>
            <a:pPr>
              <a:buFontTx/>
              <a:buNone/>
            </a:pPr>
            <a:r>
              <a:rPr lang="en-US" b="0" dirty="0" smtClean="0"/>
              <a:t>This is minimum stock required to match expected sale</a:t>
            </a:r>
            <a:r>
              <a:rPr lang="en-US" b="0" baseline="0" dirty="0" smtClean="0"/>
              <a:t> of product</a:t>
            </a:r>
          </a:p>
          <a:p>
            <a:pPr>
              <a:buFontTx/>
              <a:buNone/>
            </a:pPr>
            <a:r>
              <a:rPr lang="en-US" b="0" baseline="0" dirty="0" smtClean="0"/>
              <a:t>There should always be allowances for </a:t>
            </a:r>
            <a:r>
              <a:rPr lang="en-US" b="1" baseline="0" dirty="0" smtClean="0"/>
              <a:t>extra</a:t>
            </a:r>
            <a:r>
              <a:rPr lang="en-US" b="0" baseline="0" dirty="0" smtClean="0"/>
              <a:t> sales</a:t>
            </a:r>
          </a:p>
          <a:p>
            <a:pPr>
              <a:buFontTx/>
              <a:buNone/>
            </a:pPr>
            <a:r>
              <a:rPr lang="en-US" b="0" baseline="0" dirty="0" smtClean="0"/>
              <a:t>Lost sales is lost revenue and lost growth of business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If you have par stock of 15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Sale average around 12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Sometimes 9; sometimes 14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So the buffer for extra sales is 25% extra stock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If 11 are sold then then 11 are ordered to make back up to 15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When there is a surge in sales and they exceed 15 then next order is for 20</a:t>
            </a:r>
          </a:p>
          <a:p>
            <a:pPr>
              <a:buFontTx/>
              <a:buNone/>
            </a:pPr>
            <a:r>
              <a:rPr lang="en-US" b="0" baseline="0" dirty="0" smtClean="0"/>
              <a:t>If sales drop then less can be ordered next time but if sales increase and stay increased then you have stock to make sales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Defective equipment and</a:t>
            </a:r>
            <a:r>
              <a:rPr lang="en-US" b="0" baseline="0" dirty="0" smtClean="0"/>
              <a:t> amenities area are inefficient and dangerous to the health of the business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Equipment that is not working will slow down working potential of staff and  speed of service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A broken floor tile is dangerous to customers and staff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No staff; no production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Injured customers; no business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Trainer to relate performance criteria to element 5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Performance criteria</a:t>
            </a:r>
            <a:r>
              <a:rPr lang="en-US" b="0" baseline="0" dirty="0" smtClean="0"/>
              <a:t> is the process by which the students training match the learning element</a:t>
            </a:r>
          </a:p>
          <a:p>
            <a:pPr>
              <a:buFontTx/>
              <a:buNone/>
            </a:pPr>
            <a:r>
              <a:rPr lang="en-US" baseline="0" dirty="0" smtClean="0"/>
              <a:t>The element is the skill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To assess competency in the skill; the performance criteria is used to outline activities that can be used to assess competency.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Tx/>
              <a:buNone/>
            </a:pPr>
            <a:r>
              <a:rPr lang="en-US" baseline="0" dirty="0" smtClean="0"/>
              <a:t>The trainer should relate how the performance criteria is related to the element</a:t>
            </a:r>
          </a:p>
          <a:p>
            <a:pPr>
              <a:buFontTx/>
              <a:buNone/>
            </a:pPr>
            <a:endParaRPr lang="en-US" baseline="0" dirty="0" smtClean="0"/>
          </a:p>
          <a:p>
            <a:pPr>
              <a:buFont typeface="Arial" pitchFamily="34" charset="0"/>
              <a:buNone/>
            </a:pPr>
            <a:r>
              <a:rPr lang="en-US" b="0" baseline="0" dirty="0" smtClean="0"/>
              <a:t>To be able to </a:t>
            </a:r>
            <a:r>
              <a:rPr lang="en-US" b="1" baseline="0" dirty="0" smtClean="0"/>
              <a:t>Operate a fast food outlet </a:t>
            </a:r>
            <a:r>
              <a:rPr lang="en-US" b="0" baseline="0" dirty="0" smtClean="0"/>
              <a:t>the students must be able to; </a:t>
            </a:r>
            <a:r>
              <a:rPr lang="en-US" b="1" baseline="0" dirty="0" smtClean="0"/>
              <a:t>Store food items</a:t>
            </a: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 typeface="Arial" pitchFamily="34" charset="0"/>
              <a:buNone/>
            </a:pPr>
            <a:r>
              <a:rPr lang="en-US" b="1" baseline="0" dirty="0" smtClean="0"/>
              <a:t>The student should be able to do</a:t>
            </a:r>
          </a:p>
          <a:p>
            <a:pPr lvl="1"/>
            <a:r>
              <a:rPr lang="en-AU" sz="2400" i="1" dirty="0" smtClean="0"/>
              <a:t>Store</a:t>
            </a:r>
            <a:r>
              <a:rPr lang="en-AU" sz="2400" dirty="0" smtClean="0"/>
              <a:t> fresh and/or vacuum packed items correctly</a:t>
            </a:r>
          </a:p>
          <a:p>
            <a:pPr lvl="1"/>
            <a:r>
              <a:rPr lang="en-AU" sz="2400" dirty="0" smtClean="0"/>
              <a:t>Prepare and maintain correct </a:t>
            </a:r>
            <a:r>
              <a:rPr lang="en-AU" sz="2400" i="1" dirty="0" smtClean="0"/>
              <a:t>thawing</a:t>
            </a:r>
            <a:r>
              <a:rPr lang="en-AU" sz="2400" dirty="0" smtClean="0"/>
              <a:t> of food items</a:t>
            </a:r>
          </a:p>
          <a:p>
            <a:pPr lvl="1"/>
            <a:r>
              <a:rPr lang="en-AU" sz="2400" i="1" dirty="0" smtClean="0"/>
              <a:t>Store </a:t>
            </a:r>
            <a:r>
              <a:rPr lang="en-AU" sz="2400" dirty="0" smtClean="0"/>
              <a:t>fast food products appropriately in correct containers</a:t>
            </a:r>
          </a:p>
          <a:p>
            <a:pPr lvl="1"/>
            <a:r>
              <a:rPr lang="en-AU" sz="2400" i="1" dirty="0" smtClean="0"/>
              <a:t>Label</a:t>
            </a:r>
            <a:r>
              <a:rPr lang="en-AU" sz="2400" dirty="0" smtClean="0"/>
              <a:t> fast food products correctly</a:t>
            </a:r>
          </a:p>
          <a:p>
            <a:pPr lvl="1"/>
            <a:r>
              <a:rPr lang="en-AU" sz="2400" dirty="0" smtClean="0"/>
              <a:t>Ensure </a:t>
            </a:r>
            <a:r>
              <a:rPr lang="en-AU" sz="2400" i="1" dirty="0" smtClean="0"/>
              <a:t>correct conditions</a:t>
            </a:r>
            <a:r>
              <a:rPr lang="en-AU" sz="2400" dirty="0" smtClean="0"/>
              <a:t> are maintained for freshness and quality</a:t>
            </a:r>
            <a:endParaRPr lang="en-US" sz="2400" dirty="0" smtClean="0">
              <a:latin typeface="Helvetica" pitchFamily="34" charset="0"/>
            </a:endParaRPr>
          </a:p>
          <a:p>
            <a:pPr>
              <a:buFont typeface="Arial" pitchFamily="34" charset="0"/>
              <a:buNone/>
            </a:pPr>
            <a:endParaRPr lang="en-US" b="1" baseline="0" dirty="0" smtClean="0"/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Three food storage areas in a food store selling food to customers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The other storage area is for chemical; no food or product</a:t>
            </a:r>
            <a:r>
              <a:rPr lang="en-US" b="0" baseline="0" dirty="0" smtClean="0"/>
              <a:t> used with the food is to be stored in chemical store.</a:t>
            </a:r>
          </a:p>
          <a:p>
            <a:pPr>
              <a:buFontTx/>
              <a:buNone/>
            </a:pPr>
            <a:r>
              <a:rPr lang="en-US" b="0" baseline="0" dirty="0" smtClean="0"/>
              <a:t>Dry store is for food that can stand at room temperature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Fresh product needs to be chilled to lessen potential growth of bacteria and to extend the ‘life’ of the product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Rate of decomposition is less when temperature is reduced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Keep everything covered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Label all products for easy identification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Best place to thaw frozen product is in clean container large enough to hold any liquid that comes out of product when frozen state has ceased.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Coolroom </a:t>
            </a:r>
            <a:r>
              <a:rPr lang="en-US" b="0" baseline="0" dirty="0" smtClean="0"/>
              <a:t> that has temperature of less than 5</a:t>
            </a:r>
            <a:r>
              <a:rPr lang="en-US" b="0" baseline="0" dirty="0" smtClean="0">
                <a:latin typeface="Helvetica"/>
              </a:rPr>
              <a:t>°</a:t>
            </a:r>
            <a:r>
              <a:rPr lang="en-US" b="0" baseline="0" dirty="0" smtClean="0"/>
              <a:t>C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Use product as quickly as possible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Thawed food does not have the same life span as when it was fresh.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r>
              <a:rPr lang="en-US" b="0" dirty="0" smtClean="0"/>
              <a:t>All food needs to be stored in containers suitable for the task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Stainless steel is best but good quality plastic. that is durable</a:t>
            </a:r>
            <a:r>
              <a:rPr lang="en-US" b="0" baseline="0" dirty="0" smtClean="0"/>
              <a:t> able to protect the food and will not contaminate food with compounds from plastic. is acceptable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Always, containers must be clean before using to put other food in.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Containers must be able to be sealed; edges will not cut plastic wrap  when it is used to seal container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1" dirty="0" smtClean="0"/>
          </a:p>
          <a:p>
            <a:pPr>
              <a:buFontTx/>
              <a:buNone/>
            </a:pPr>
            <a:r>
              <a:rPr lang="en-US" b="1" dirty="0" smtClean="0"/>
              <a:t>Food stored in coolroom</a:t>
            </a:r>
          </a:p>
          <a:p>
            <a:pPr>
              <a:buFontTx/>
              <a:buNone/>
            </a:pPr>
            <a:r>
              <a:rPr lang="en-US" b="0" dirty="0" smtClean="0"/>
              <a:t>All foods stored in coolroom need to be labeled correctly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Food de-cantered from tins</a:t>
            </a:r>
            <a:r>
              <a:rPr lang="en-US" b="0" baseline="0" dirty="0" smtClean="0"/>
              <a:t> and boxes and placed into new clean containers needs to be labeled correctly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="1" dirty="0" smtClean="0"/>
              <a:t>Trainer to advise: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To ensure freshness in foods it is good practice to purchase in small amount depending on rate of usage</a:t>
            </a:r>
          </a:p>
          <a:p>
            <a:pPr>
              <a:buFontTx/>
              <a:buNone/>
            </a:pPr>
            <a:endParaRPr lang="en-US" b="0" dirty="0" smtClean="0"/>
          </a:p>
          <a:p>
            <a:pPr>
              <a:buFontTx/>
              <a:buNone/>
            </a:pPr>
            <a:r>
              <a:rPr lang="en-US" b="0" dirty="0" smtClean="0"/>
              <a:t>Keep fresh foods chilled to keep bacterial</a:t>
            </a:r>
            <a:r>
              <a:rPr lang="en-US" b="0" baseline="0" dirty="0" smtClean="0"/>
              <a:t>  growth to minimum and rate of decomposition  to minimum.</a:t>
            </a:r>
          </a:p>
          <a:p>
            <a:pPr>
              <a:buFontTx/>
              <a:buNone/>
            </a:pPr>
            <a:endParaRPr lang="en-US" b="0" baseline="0" dirty="0" smtClean="0"/>
          </a:p>
          <a:p>
            <a:pPr>
              <a:buFontTx/>
              <a:buNone/>
            </a:pPr>
            <a:r>
              <a:rPr lang="en-US" b="0" baseline="0" dirty="0" smtClean="0"/>
              <a:t>Keep covered to keep foods moist.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CD3C9-0AF2-437D-9D2F-7B6B298CC32F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6675B-16CB-449C-AA64-20E2E057E166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223-D3A2-44F5-8051-829B2F23C0D4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FE7D-417D-483E-A327-7AED21196679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8DDC-366E-4D96-B475-59755FBFA064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C968-0B16-4ADF-91B3-C8ECABCFDA29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1DEA-061C-49D7-974B-38721BC66A5F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EFC2B-FC2E-46FA-B53A-48A270754B05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3B9F-1886-41EB-8596-DFD2474565B7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A6D77F6-049E-4E03-BBEC-9C9525B9448E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ABC8-BFBF-4030-9C7D-70F812C9AAE4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46A6-0262-42FF-B093-039AED07B7AD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0B9F9CF-7D2C-460C-8F3E-F6213A54EF65}" type="datetime1">
              <a:rPr lang="en-US" smtClean="0"/>
              <a:pPr/>
              <a:t>1/18/2013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90BDF71C-F485-43AE-8825-5070AF1EA8C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838200"/>
            <a:ext cx="7778152" cy="914400"/>
          </a:xfrm>
        </p:spPr>
        <p:txBody>
          <a:bodyPr>
            <a:normAutofit fontScale="90000"/>
          </a:bodyPr>
          <a:lstStyle/>
          <a:p>
            <a:r>
              <a:rPr lang="en-AU" sz="4000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4000" dirty="0">
              <a:ln w="5000" cmpd="sng">
                <a:noFill/>
                <a:prstDash val="solid"/>
              </a:ln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1600" y="1600200"/>
            <a:ext cx="3155804" cy="700086"/>
          </a:xfrm>
        </p:spPr>
        <p:txBody>
          <a:bodyPr>
            <a:noAutofit/>
          </a:bodyPr>
          <a:lstStyle/>
          <a:p>
            <a:r>
              <a:rPr lang="en-AU" sz="2400" b="1" dirty="0" smtClean="0">
                <a:latin typeface="Helvetica" pitchFamily="34" charset="0"/>
              </a:rPr>
              <a:t>D1.HCA.CL3.05</a:t>
            </a:r>
            <a:endParaRPr lang="en-US" sz="2400" b="1" dirty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Helvetica" pitchFamily="34" charset="0"/>
              </a:rPr>
              <a:t> 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8" name="Picture 7" descr="Fornt Cover - Food Productio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47800" y="2057400"/>
            <a:ext cx="4327250" cy="3558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4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</a:t>
            </a:r>
            <a:r>
              <a:rPr lang="en-AU" sz="34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outlet</a:t>
            </a:r>
            <a:endParaRPr lang="en-AU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Assessment for this Unit may include: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Oral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Written questions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Work projects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Workplace observation of practical skills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Practical exercises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Formal report from employer/supervisor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r>
              <a:rPr lang="en-AU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AU" smtClean="0">
                <a:latin typeface="Helvetica" pitchFamily="34" charset="0"/>
              </a:rPr>
              <a:pPr/>
              <a:t>2</a:t>
            </a:fld>
            <a:endParaRPr lang="en-AU" dirty="0">
              <a:latin typeface="Helvetica" pitchFamily="34" charset="0"/>
            </a:endParaRPr>
          </a:p>
        </p:txBody>
      </p:sp>
      <p:pic>
        <p:nvPicPr>
          <p:cNvPr id="6" name="Picture 5" descr="35031.JPG"/>
          <p:cNvPicPr>
            <a:picLocks noChangeAspect="1"/>
          </p:cNvPicPr>
          <p:nvPr/>
        </p:nvPicPr>
        <p:blipFill>
          <a:blip r:embed="rId3" cstate="print"/>
          <a:srcRect b="18377"/>
          <a:stretch>
            <a:fillRect/>
          </a:stretch>
        </p:blipFill>
        <p:spPr>
          <a:xfrm>
            <a:off x="6477000" y="3124200"/>
            <a:ext cx="1830163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54102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This unit comprises five elements: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</a:t>
            </a:fld>
            <a:endParaRPr lang="en-US" dirty="0">
              <a:latin typeface="Helvetic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96678" y="1905000"/>
            <a:ext cx="8647322" cy="4246563"/>
            <a:chOff x="1752600" y="2057400"/>
            <a:chExt cx="8647322" cy="4246563"/>
          </a:xfrm>
        </p:grpSpPr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1752600" y="2057400"/>
              <a:ext cx="762000" cy="665163"/>
              <a:chOff x="1110" y="2656"/>
              <a:chExt cx="1549" cy="1351"/>
            </a:xfrm>
          </p:grpSpPr>
          <p:sp>
            <p:nvSpPr>
              <p:cNvPr id="39" name="AutoShape 5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0" name="AutoShape 6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1" name="AutoShape 7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362200" y="2667000"/>
              <a:ext cx="48006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590800" y="2133600"/>
              <a:ext cx="4797079" cy="43088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>
                <a:spcBef>
                  <a:spcPts val="600"/>
                </a:spcBef>
                <a:spcAft>
                  <a:spcPts val="1200"/>
                </a:spcAft>
              </a:pPr>
              <a:r>
                <a:rPr lang="en-US" sz="2200" dirty="0" smtClean="0">
                  <a:latin typeface="Helvetica" pitchFamily="34" charset="0"/>
                </a:rPr>
                <a:t>Plan for fast food production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gray">
            <a:xfrm>
              <a:off x="1949450" y="2155825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 dirty="0">
                  <a:solidFill>
                    <a:schemeClr val="bg1"/>
                  </a:solidFill>
                  <a:latin typeface="Helvetica" pitchFamily="34" charset="0"/>
                  <a:cs typeface="Helvetica" pitchFamily="34" charset="0"/>
                </a:rPr>
                <a:t>1</a:t>
              </a:r>
            </a:p>
          </p:txBody>
        </p: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1752600" y="2971800"/>
              <a:ext cx="762000" cy="665163"/>
              <a:chOff x="3174" y="2656"/>
              <a:chExt cx="1549" cy="1351"/>
            </a:xfrm>
          </p:grpSpPr>
          <p:sp>
            <p:nvSpPr>
              <p:cNvPr id="36" name="AutoShape 13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7" name="AutoShape 14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8" name="AutoShape 15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2362200" y="3581400"/>
              <a:ext cx="48006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2590800" y="3048000"/>
              <a:ext cx="7809122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>
                <a:spcBef>
                  <a:spcPts val="600"/>
                </a:spcBef>
                <a:spcAft>
                  <a:spcPts val="1200"/>
                </a:spcAft>
              </a:pPr>
              <a:r>
                <a:rPr lang="en-US" sz="2400" dirty="0" smtClean="0">
                  <a:latin typeface="Helvetica" pitchFamily="34" charset="0"/>
                </a:rPr>
                <a:t>Prepare, cook and hold items for fast food cooking</a:t>
              </a: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gray">
            <a:xfrm>
              <a:off x="1949450" y="3070225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 dirty="0">
                  <a:solidFill>
                    <a:schemeClr val="bg1"/>
                  </a:solidFill>
                  <a:latin typeface="Helvetica" pitchFamily="34" charset="0"/>
                  <a:cs typeface="Helvetica" pitchFamily="34" charset="0"/>
                </a:rPr>
                <a:t>2</a:t>
              </a:r>
            </a:p>
          </p:txBody>
        </p:sp>
        <p:grpSp>
          <p:nvGrpSpPr>
            <p:cNvPr id="14" name="Group 20"/>
            <p:cNvGrpSpPr>
              <a:grpSpLocks/>
            </p:cNvGrpSpPr>
            <p:nvPr/>
          </p:nvGrpSpPr>
          <p:grpSpPr bwMode="auto">
            <a:xfrm>
              <a:off x="1752600" y="3863975"/>
              <a:ext cx="762000" cy="665163"/>
              <a:chOff x="1110" y="2656"/>
              <a:chExt cx="1549" cy="1351"/>
            </a:xfrm>
          </p:grpSpPr>
          <p:sp>
            <p:nvSpPr>
              <p:cNvPr id="33" name="AutoShape 21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4" name="AutoShape 22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5" name="AutoShape 23"/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2362200" y="4473575"/>
              <a:ext cx="48006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16" name="Text Box 25"/>
            <p:cNvSpPr txBox="1">
              <a:spLocks noChangeArrowheads="1"/>
            </p:cNvSpPr>
            <p:nvPr/>
          </p:nvSpPr>
          <p:spPr bwMode="auto">
            <a:xfrm>
              <a:off x="2667000" y="3940175"/>
              <a:ext cx="4241582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>
                <a:spcBef>
                  <a:spcPts val="600"/>
                </a:spcBef>
                <a:spcAft>
                  <a:spcPts val="1200"/>
                </a:spcAft>
              </a:pPr>
              <a:r>
                <a:rPr lang="en-US" sz="2400" dirty="0" smtClean="0">
                  <a:latin typeface="Helvetica" pitchFamily="34" charset="0"/>
                </a:rPr>
                <a:t>Provide fast food service</a:t>
              </a:r>
            </a:p>
          </p:txBody>
        </p:sp>
        <p:sp>
          <p:nvSpPr>
            <p:cNvPr id="17" name="Text Box 26"/>
            <p:cNvSpPr txBox="1">
              <a:spLocks noChangeArrowheads="1"/>
            </p:cNvSpPr>
            <p:nvPr/>
          </p:nvSpPr>
          <p:spPr bwMode="gray">
            <a:xfrm>
              <a:off x="1949450" y="3962400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 dirty="0">
                  <a:solidFill>
                    <a:schemeClr val="bg1"/>
                  </a:solidFill>
                  <a:latin typeface="Helvetica" pitchFamily="34" charset="0"/>
                  <a:cs typeface="Helvetica" pitchFamily="34" charset="0"/>
                </a:rPr>
                <a:t>3</a:t>
              </a:r>
            </a:p>
          </p:txBody>
        </p:sp>
        <p:grpSp>
          <p:nvGrpSpPr>
            <p:cNvPr id="18" name="Group 28"/>
            <p:cNvGrpSpPr>
              <a:grpSpLocks/>
            </p:cNvGrpSpPr>
            <p:nvPr/>
          </p:nvGrpSpPr>
          <p:grpSpPr bwMode="auto">
            <a:xfrm>
              <a:off x="1752600" y="4778375"/>
              <a:ext cx="762000" cy="665163"/>
              <a:chOff x="3174" y="2656"/>
              <a:chExt cx="1549" cy="1351"/>
            </a:xfrm>
          </p:grpSpPr>
          <p:sp>
            <p:nvSpPr>
              <p:cNvPr id="30" name="AutoShape 29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" name="AutoShape 30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2" name="AutoShape 31"/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>
              <a:off x="2362200" y="5387975"/>
              <a:ext cx="4800600" cy="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2667000" y="4854575"/>
              <a:ext cx="4138989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>
                <a:spcBef>
                  <a:spcPts val="600"/>
                </a:spcBef>
                <a:spcAft>
                  <a:spcPts val="1200"/>
                </a:spcAft>
              </a:pPr>
              <a:r>
                <a:rPr lang="en-US" sz="2400" dirty="0" smtClean="0">
                  <a:latin typeface="Helvetica" pitchFamily="34" charset="0"/>
                </a:rPr>
                <a:t>Maintain fast food outlet</a:t>
              </a:r>
            </a:p>
          </p:txBody>
        </p:sp>
        <p:sp>
          <p:nvSpPr>
            <p:cNvPr id="21" name="Text Box 34"/>
            <p:cNvSpPr txBox="1">
              <a:spLocks noChangeArrowheads="1"/>
            </p:cNvSpPr>
            <p:nvPr/>
          </p:nvSpPr>
          <p:spPr bwMode="gray">
            <a:xfrm>
              <a:off x="1949450" y="4876800"/>
              <a:ext cx="354013" cy="45720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AU" sz="2400" b="1" dirty="0">
                  <a:solidFill>
                    <a:schemeClr val="bg1"/>
                  </a:solidFill>
                  <a:latin typeface="Helvetica" pitchFamily="34" charset="0"/>
                  <a:cs typeface="Helvetica" pitchFamily="34" charset="0"/>
                </a:rPr>
                <a:t>4</a:t>
              </a:r>
            </a:p>
          </p:txBody>
        </p:sp>
        <p:sp>
          <p:nvSpPr>
            <p:cNvPr id="22" name="Line 8"/>
            <p:cNvSpPr>
              <a:spLocks noChangeShapeType="1"/>
            </p:cNvSpPr>
            <p:nvPr/>
          </p:nvSpPr>
          <p:spPr bwMode="auto">
            <a:xfrm flipV="1">
              <a:off x="2438400" y="6096000"/>
              <a:ext cx="4761122" cy="1524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prstDash val="sysDot"/>
              <a:round/>
              <a:headEnd/>
              <a:tailEnd type="oval" w="med" len="med"/>
            </a:ln>
          </p:spPr>
          <p:txBody>
            <a:bodyPr wrap="none" anchor="ctr"/>
            <a:lstStyle/>
            <a:p>
              <a:endParaRPr lang="en-AU" dirty="0"/>
            </a:p>
          </p:txBody>
        </p:sp>
        <p:sp>
          <p:nvSpPr>
            <p:cNvPr id="23" name="Text Box 9"/>
            <p:cNvSpPr txBox="1">
              <a:spLocks noChangeArrowheads="1"/>
            </p:cNvSpPr>
            <p:nvPr/>
          </p:nvSpPr>
          <p:spPr bwMode="auto">
            <a:xfrm>
              <a:off x="2667000" y="5715000"/>
              <a:ext cx="311146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457200" indent="-457200">
                <a:spcBef>
                  <a:spcPts val="600"/>
                </a:spcBef>
                <a:spcAft>
                  <a:spcPts val="1200"/>
                </a:spcAft>
              </a:pPr>
              <a:r>
                <a:rPr lang="en-US" sz="2400" dirty="0" smtClean="0">
                  <a:latin typeface="Helvetica" pitchFamily="34" charset="0"/>
                </a:rPr>
                <a:t>Store food items</a:t>
              </a:r>
            </a:p>
          </p:txBody>
        </p:sp>
        <p:grpSp>
          <p:nvGrpSpPr>
            <p:cNvPr id="24" name="Group 39"/>
            <p:cNvGrpSpPr/>
            <p:nvPr/>
          </p:nvGrpSpPr>
          <p:grpSpPr>
            <a:xfrm>
              <a:off x="1752600" y="5638800"/>
              <a:ext cx="762000" cy="665163"/>
              <a:chOff x="1752600" y="5943600"/>
              <a:chExt cx="762000" cy="665163"/>
            </a:xfrm>
          </p:grpSpPr>
          <p:grpSp>
            <p:nvGrpSpPr>
              <p:cNvPr id="25" name="Group 32"/>
              <p:cNvGrpSpPr>
                <a:grpSpLocks/>
              </p:cNvGrpSpPr>
              <p:nvPr/>
            </p:nvGrpSpPr>
            <p:grpSpPr bwMode="auto">
              <a:xfrm>
                <a:off x="1752600" y="5943600"/>
                <a:ext cx="762000" cy="665163"/>
                <a:chOff x="1110" y="2656"/>
                <a:chExt cx="1549" cy="1351"/>
              </a:xfrm>
            </p:grpSpPr>
            <p:sp>
              <p:nvSpPr>
                <p:cNvPr id="27" name="AutoShape 5"/>
                <p:cNvSpPr>
                  <a:spLocks noChangeArrowheads="1"/>
                </p:cNvSpPr>
                <p:nvPr/>
              </p:nvSpPr>
              <p:spPr bwMode="gray">
                <a:xfrm>
                  <a:off x="1123" y="2679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solidFill>
                  <a:srgbClr val="80808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8" name="AutoShape 6"/>
                <p:cNvSpPr>
                  <a:spLocks noChangeArrowheads="1"/>
                </p:cNvSpPr>
                <p:nvPr/>
              </p:nvSpPr>
              <p:spPr bwMode="gray">
                <a:xfrm>
                  <a:off x="1110" y="2656"/>
                  <a:ext cx="1536" cy="1328"/>
                </a:xfrm>
                <a:prstGeom prst="hexagon">
                  <a:avLst>
                    <a:gd name="adj" fmla="val 28916"/>
                    <a:gd name="vf" fmla="val 115470"/>
                  </a:avLst>
                </a:prstGeom>
                <a:gradFill rotWithShape="1">
                  <a:gsLst>
                    <a:gs pos="0">
                      <a:srgbClr val="E6E6E6"/>
                    </a:gs>
                    <a:gs pos="7500">
                      <a:srgbClr val="7D8496"/>
                    </a:gs>
                    <a:gs pos="26500">
                      <a:srgbClr val="E6E6E6"/>
                    </a:gs>
                    <a:gs pos="34000">
                      <a:srgbClr val="7D8496"/>
                    </a:gs>
                    <a:gs pos="46500">
                      <a:srgbClr val="E6E6E6"/>
                    </a:gs>
                    <a:gs pos="50000">
                      <a:srgbClr val="FFFFFF"/>
                    </a:gs>
                    <a:gs pos="53500">
                      <a:srgbClr val="E6E6E6"/>
                    </a:gs>
                    <a:gs pos="66000">
                      <a:srgbClr val="7D8496"/>
                    </a:gs>
                    <a:gs pos="73500">
                      <a:srgbClr val="E6E6E6"/>
                    </a:gs>
                    <a:gs pos="92500">
                      <a:srgbClr val="7D8496"/>
                    </a:gs>
                    <a:gs pos="100000">
                      <a:srgbClr val="E6E6E6"/>
                    </a:gs>
                  </a:gsLst>
                  <a:lin ang="2700000" scaled="1"/>
                </a:gradFill>
                <a:ln w="9525">
                  <a:solidFill>
                    <a:srgbClr val="C0C0C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9" name="AutoShape 7"/>
                <p:cNvSpPr>
                  <a:spLocks noChangeArrowheads="1"/>
                </p:cNvSpPr>
                <p:nvPr/>
              </p:nvSpPr>
              <p:spPr bwMode="gray">
                <a:xfrm>
                  <a:off x="1200" y="2737"/>
                  <a:ext cx="1349" cy="1167"/>
                </a:xfrm>
                <a:prstGeom prst="hexagon">
                  <a:avLst>
                    <a:gd name="adj" fmla="val 28896"/>
                    <a:gd name="vf" fmla="val 115470"/>
                  </a:avLst>
                </a:prstGeom>
                <a:gradFill rotWithShape="1">
                  <a:gsLst>
                    <a:gs pos="0">
                      <a:schemeClr val="hlink">
                        <a:gamma/>
                        <a:shade val="46275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 dirty="0"/>
                </a:p>
              </p:txBody>
            </p:sp>
          </p:grpSp>
          <p:sp>
            <p:nvSpPr>
              <p:cNvPr id="26" name="Text Box 10"/>
              <p:cNvSpPr txBox="1">
                <a:spLocks noChangeArrowheads="1"/>
              </p:cNvSpPr>
              <p:nvPr/>
            </p:nvSpPr>
            <p:spPr bwMode="gray">
              <a:xfrm>
                <a:off x="1980113" y="6019800"/>
                <a:ext cx="356188" cy="461665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AU" sz="2400" b="1" dirty="0" smtClean="0">
                    <a:solidFill>
                      <a:schemeClr val="bg1"/>
                    </a:solidFill>
                    <a:latin typeface="Helvetica" pitchFamily="34" charset="0"/>
                    <a:cs typeface="Helvetica" pitchFamily="34" charset="0"/>
                  </a:rPr>
                  <a:t>5</a:t>
                </a:r>
                <a:endParaRPr lang="en-AU" sz="2400" b="1" dirty="0">
                  <a:solidFill>
                    <a:schemeClr val="bg1"/>
                  </a:solidFill>
                  <a:latin typeface="Helvetica" pitchFamily="34" charset="0"/>
                  <a:cs typeface="Helvetica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2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95400"/>
            <a:ext cx="7467600" cy="47873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  <a:cs typeface="Helvetica" pitchFamily="34" charset="0"/>
              </a:rPr>
              <a:t>Element 1: Plan for fast food production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Identify large and small equipment requirements for menu and volume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Identify staff requirements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Plan a menu to meet establishment and client requirements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Plan workflow and production schedules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Prepare standard recipes for menu items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b="1" dirty="0" smtClean="0">
              <a:latin typeface="Helvetica" pitchFamily="34" charset="0"/>
              <a:cs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P90031432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00800" y="3962400"/>
            <a:ext cx="1981200" cy="1406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Identify equipment requirements for menu and volume</a:t>
            </a:r>
            <a:br>
              <a:rPr lang="en-AU" sz="2200" b="1" dirty="0" smtClean="0">
                <a:latin typeface="Helvetica" pitchFamily="34" charset="0"/>
              </a:rPr>
            </a:br>
            <a:r>
              <a:rPr lang="en-AU" sz="2200" b="1" dirty="0" smtClean="0">
                <a:latin typeface="Helvetica" pitchFamily="34" charset="0"/>
              </a:rPr>
              <a:t> large and small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Type of fast food?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If pizza is not made then no large oven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If no chicken then no deep fryer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i="1" dirty="0" smtClean="0">
                <a:latin typeface="Helvetica" pitchFamily="34" charset="0"/>
              </a:rPr>
              <a:t>Different business means slightly different equipment.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88461_australian_beef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43200" y="4343400"/>
            <a:ext cx="2026091" cy="2054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8103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95400"/>
            <a:ext cx="7694240" cy="53340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equipment requirements for menu and volume</a:t>
            </a:r>
            <a:br>
              <a:rPr lang="en-US" sz="2200" b="1" dirty="0" smtClean="0">
                <a:latin typeface="Helvetica" pitchFamily="34" charset="0"/>
              </a:rPr>
            </a:br>
            <a:r>
              <a:rPr lang="en-US" sz="2200" b="1" dirty="0" smtClean="0">
                <a:latin typeface="Helvetica" pitchFamily="34" charset="0"/>
              </a:rPr>
              <a:t> </a:t>
            </a:r>
            <a:r>
              <a:rPr lang="en-AU" sz="2200" b="1" dirty="0" smtClean="0">
                <a:latin typeface="Helvetica" pitchFamily="34" charset="0"/>
              </a:rPr>
              <a:t>large</a:t>
            </a:r>
            <a:r>
              <a:rPr lang="en-US" sz="2200" b="1" dirty="0" smtClean="0">
                <a:latin typeface="Helvetica" pitchFamily="34" charset="0"/>
              </a:rPr>
              <a:t> and small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Cooking equipment: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Stoves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Microwaves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Grills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Deep-fryers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999882_411829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7400" y="3505200"/>
            <a:ext cx="2504582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43000"/>
            <a:ext cx="7467600" cy="49397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Identify equipment requirements for menu and volume</a:t>
            </a:r>
            <a:br>
              <a:rPr lang="en-AU" sz="2200" b="1" dirty="0" smtClean="0">
                <a:latin typeface="Helvetica" pitchFamily="34" charset="0"/>
              </a:rPr>
            </a:br>
            <a:r>
              <a:rPr lang="en-AU" sz="2200" b="1" dirty="0" smtClean="0">
                <a:latin typeface="Helvetica" pitchFamily="34" charset="0"/>
              </a:rPr>
              <a:t> large and small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Large equipment: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Exhaust range hood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Refrigerator 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Dishwasher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Cold </a:t>
            </a:r>
            <a:r>
              <a:rPr lang="en-AU" sz="2200" dirty="0" smtClean="0">
                <a:latin typeface="Helvetica" pitchFamily="34" charset="0"/>
              </a:rPr>
              <a:t>display cabinet</a:t>
            </a:r>
            <a:endParaRPr lang="en-AU" sz="2200" dirty="0" smtClean="0">
              <a:latin typeface="Helvetica" pitchFamily="34" charset="0"/>
            </a:endParaRP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Hot display </a:t>
            </a:r>
            <a:r>
              <a:rPr lang="en-AU" sz="2200" dirty="0" smtClean="0">
                <a:latin typeface="Helvetica" pitchFamily="34" charset="0"/>
              </a:rPr>
              <a:t>b</a:t>
            </a:r>
            <a:r>
              <a:rPr lang="en-AU" sz="2200" dirty="0" smtClean="0">
                <a:latin typeface="Helvetica" pitchFamily="34" charset="0"/>
              </a:rPr>
              <a:t>ain-marie</a:t>
            </a: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7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etallic banque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3200" y="2438400"/>
            <a:ext cx="1778889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5817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66800"/>
            <a:ext cx="7467600" cy="50159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Identify equipment requirements for menu and volume</a:t>
            </a:r>
            <a:br>
              <a:rPr lang="en-AU" sz="2200" b="1" dirty="0" smtClean="0">
                <a:latin typeface="Helvetica" pitchFamily="34" charset="0"/>
              </a:rPr>
            </a:br>
            <a:r>
              <a:rPr lang="en-AU" sz="2200" b="1" dirty="0" smtClean="0">
                <a:latin typeface="Helvetica" pitchFamily="34" charset="0"/>
              </a:rPr>
              <a:t> large and small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 smtClean="0">
                <a:latin typeface="Helvetica" pitchFamily="34" charset="0"/>
              </a:rPr>
              <a:t>Small equipment: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Food processor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Blender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Knives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Storage trays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Consumables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</a:pP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933091_14198854.jpg"/>
          <p:cNvPicPr>
            <a:picLocks noChangeAspect="1"/>
          </p:cNvPicPr>
          <p:nvPr/>
        </p:nvPicPr>
        <p:blipFill>
          <a:blip r:embed="rId3" cstate="print"/>
          <a:srcRect l="11401" t="2941" r="8795"/>
          <a:stretch>
            <a:fillRect/>
          </a:stretch>
        </p:blipFill>
        <p:spPr>
          <a:xfrm>
            <a:off x="6400800" y="2514600"/>
            <a:ext cx="1600200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Identify staff requirements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Good presentation skills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Good customer skills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Excellent product knowledge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Good hygiene practices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Good work ethic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AU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Grilled Seafoo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1200" y="3352800"/>
            <a:ext cx="2587752" cy="1722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Plan menu to meet establishment and client requirements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Style of food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Number of food items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Client requirements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Establishment requirements</a:t>
            </a:r>
          </a:p>
          <a:p>
            <a:pPr marL="395288" indent="-3952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Business success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10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Fast food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0" y="3200400"/>
            <a:ext cx="3048000" cy="2033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Plan workflow and production schedules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Commodity intake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Ingredient processing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Dish construction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Service to customers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2026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00800" y="2971800"/>
            <a:ext cx="1994916" cy="24973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95400"/>
            <a:ext cx="7467600" cy="51054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Prepare</a:t>
            </a:r>
            <a:r>
              <a:rPr lang="en-US" sz="2200" b="1" dirty="0" smtClean="0">
                <a:latin typeface="Helvetica" pitchFamily="34" charset="0"/>
              </a:rPr>
              <a:t> standard recipes for menu items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How many elements to dish? (Sample for burgers)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  <a:tabLst>
                <a:tab pos="463550" algn="l"/>
              </a:tabLst>
            </a:pPr>
            <a:r>
              <a:rPr lang="en-US" sz="2200" dirty="0" smtClean="0">
                <a:latin typeface="Helvetica" pitchFamily="34" charset="0"/>
              </a:rPr>
              <a:t>Bun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  <a:tabLst>
                <a:tab pos="463550" algn="l"/>
              </a:tabLst>
            </a:pPr>
            <a:r>
              <a:rPr lang="en-US" sz="2200" dirty="0" smtClean="0">
                <a:latin typeface="Helvetica" pitchFamily="34" charset="0"/>
              </a:rPr>
              <a:t>Pattie, meat, fish, chicken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  <a:tabLst>
                <a:tab pos="463550" algn="l"/>
              </a:tabLst>
            </a:pPr>
            <a:r>
              <a:rPr lang="en-US" sz="2200" dirty="0" smtClean="0">
                <a:latin typeface="Helvetica" pitchFamily="34" charset="0"/>
              </a:rPr>
              <a:t>Lettuce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  <a:tabLst>
                <a:tab pos="463550" algn="l"/>
              </a:tabLst>
            </a:pPr>
            <a:r>
              <a:rPr lang="en-US" sz="2200" dirty="0" smtClean="0">
                <a:latin typeface="Helvetica" pitchFamily="34" charset="0"/>
              </a:rPr>
              <a:t>Pickles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  <a:tabLst>
                <a:tab pos="463550" algn="l"/>
              </a:tabLst>
            </a:pPr>
            <a:r>
              <a:rPr lang="en-US" sz="2200" dirty="0" smtClean="0">
                <a:latin typeface="Helvetica" pitchFamily="34" charset="0"/>
              </a:rPr>
              <a:t>Sauce 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  <a:tabLst>
                <a:tab pos="463550" algn="l"/>
              </a:tabLst>
            </a:pPr>
            <a:r>
              <a:rPr lang="en-US" sz="2200" dirty="0" smtClean="0">
                <a:latin typeface="Helvetica" pitchFamily="34" charset="0"/>
              </a:rPr>
              <a:t>Wrapping and packaging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Food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3200" y="2438400"/>
            <a:ext cx="1829714" cy="274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  <a:cs typeface="Helvetica" pitchFamily="34" charset="0"/>
              </a:rPr>
              <a:t>Element 2: </a:t>
            </a:r>
            <a:r>
              <a:rPr lang="en-AU" sz="2200" b="1" dirty="0" smtClean="0">
                <a:latin typeface="Helvetica" pitchFamily="34" charset="0"/>
                <a:cs typeface="Helvetica" pitchFamily="34" charset="0"/>
              </a:rPr>
              <a:t>Prepare</a:t>
            </a:r>
            <a:r>
              <a:rPr lang="en-US" sz="2200" b="1" dirty="0" smtClean="0">
                <a:latin typeface="Helvetica" pitchFamily="34" charset="0"/>
                <a:cs typeface="Helvetica" pitchFamily="34" charset="0"/>
              </a:rPr>
              <a:t>, cook and hold items for fast food outlet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Set appropriate preparation and cooking methods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Use appropriate equipment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Follow food safety requirements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Hold menu items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Reheat menu items</a:t>
            </a:r>
            <a:endParaRPr lang="en-US" sz="2200" dirty="0" smtClean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ommercial kitchen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8800" y="3200400"/>
            <a:ext cx="2819514" cy="1880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43000"/>
            <a:ext cx="7467600" cy="49397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</a:t>
            </a:r>
            <a:r>
              <a:rPr lang="en-AU" sz="2200" b="1" dirty="0" smtClean="0">
                <a:latin typeface="Helvetica" pitchFamily="34" charset="0"/>
              </a:rPr>
              <a:t>appropriate</a:t>
            </a:r>
            <a:r>
              <a:rPr lang="en-US" sz="2200" b="1" dirty="0" smtClean="0">
                <a:latin typeface="Helvetica" pitchFamily="34" charset="0"/>
              </a:rPr>
              <a:t> preparation and cooking methods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Cooking?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u="sng" dirty="0" smtClean="0">
                <a:latin typeface="Helvetica" pitchFamily="34" charset="0"/>
              </a:rPr>
              <a:t>How much is required for each venue?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Curry shop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Burger shop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Fish shop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Salad 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BainMari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05600" y="2971800"/>
            <a:ext cx="1658112" cy="24871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8103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95400"/>
            <a:ext cx="7467600" cy="47873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</a:t>
            </a:r>
            <a:r>
              <a:rPr lang="en-AU" sz="2200" b="1" dirty="0" smtClean="0">
                <a:latin typeface="Helvetica" pitchFamily="34" charset="0"/>
              </a:rPr>
              <a:t>appropriate</a:t>
            </a:r>
            <a:r>
              <a:rPr lang="en-US" sz="2200" b="1" dirty="0" smtClean="0">
                <a:latin typeface="Helvetica" pitchFamily="34" charset="0"/>
              </a:rPr>
              <a:t> preparation and cooking methods</a:t>
            </a:r>
          </a:p>
          <a:p>
            <a:pPr marL="287338" indent="-28733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Salad preparation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How much is required for each venue?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Washing of base salad leaves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Preparation of some vegetables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Preparation of dressings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Assemble base variety for display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026202_georgia_peach_salad_sans_dressing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2200" y="3657600"/>
            <a:ext cx="228600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43000"/>
            <a:ext cx="7467600" cy="49397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Use appropriate equipment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Lots of cooking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Minimal cooking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Stove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Oven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Deep </a:t>
            </a:r>
            <a:r>
              <a:rPr lang="en-US" sz="2200" dirty="0" smtClean="0">
                <a:latin typeface="Helvetica" pitchFamily="34" charset="0"/>
              </a:rPr>
              <a:t>fryers</a:t>
            </a:r>
            <a:endParaRPr lang="en-US" sz="2200" dirty="0" smtClean="0">
              <a:latin typeface="Helvetica" pitchFamily="34" charset="0"/>
            </a:endParaRP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Grillers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ommercial kitchen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7400" y="3479978"/>
            <a:ext cx="2514600" cy="1677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43000"/>
            <a:ext cx="7467600" cy="49397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Follow food safety requirements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</a:rPr>
              <a:t>Food</a:t>
            </a:r>
            <a:r>
              <a:rPr lang="en-US" sz="2200" dirty="0" smtClean="0">
                <a:latin typeface="Helvetica" pitchFamily="34" charset="0"/>
              </a:rPr>
              <a:t> Safety Plan operation requirements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records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Temperature checks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Process flow checks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Train staff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Purchase from Approved Suppliers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17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1131445_red_check_sign_in_3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7000" y="3581400"/>
            <a:ext cx="1790700" cy="1432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5817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43000"/>
            <a:ext cx="7467600" cy="49397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Hold </a:t>
            </a:r>
            <a:r>
              <a:rPr lang="en-AU" sz="2200" b="1" dirty="0" smtClean="0">
                <a:latin typeface="Helvetica" pitchFamily="34" charset="0"/>
              </a:rPr>
              <a:t>menu</a:t>
            </a:r>
            <a:r>
              <a:rPr lang="en-US" sz="2200" b="1" dirty="0" smtClean="0">
                <a:latin typeface="Helvetica" pitchFamily="34" charset="0"/>
              </a:rPr>
              <a:t> items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ClrTx/>
              <a:buSzPct val="9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Keep hot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ClrTx/>
              <a:buSzPct val="9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Keep cold</a:t>
            </a:r>
          </a:p>
          <a:p>
            <a:pPr marL="457200" indent="-457200">
              <a:spcBef>
                <a:spcPts val="600"/>
              </a:spcBef>
              <a:spcAft>
                <a:spcPts val="1200"/>
              </a:spcAft>
              <a:buClrTx/>
              <a:buSzPct val="90000"/>
              <a:buFont typeface="+mj-lt"/>
              <a:buAutoNum type="arabicPeriod"/>
            </a:pPr>
            <a:r>
              <a:rPr lang="en-US" sz="2200" dirty="0" smtClean="0">
                <a:latin typeface="Helvetica" pitchFamily="34" charset="0"/>
              </a:rPr>
              <a:t>Keep at room temperature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alad ba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8800" y="3352876"/>
            <a:ext cx="2819400" cy="1880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Reheat menu items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Re-heat as required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Re-heat to a temperature required quickly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Reheat  high risk foods to temperature stated in Food Safety Plan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70</a:t>
            </a:r>
            <a:r>
              <a:rPr lang="en-US" sz="2200" dirty="0" smtClean="0">
                <a:latin typeface="Helvetica"/>
              </a:rPr>
              <a:t>°C is the recommended temperature</a:t>
            </a:r>
            <a:endParaRPr lang="en-US" sz="2200" dirty="0" smtClean="0">
              <a:latin typeface="Helvetica" pitchFamily="34" charset="0"/>
            </a:endParaRPr>
          </a:p>
          <a:p>
            <a:pPr lvl="1"/>
            <a:endParaRPr lang="en-US" sz="28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19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Commercial kitchen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43600" y="3505200"/>
            <a:ext cx="2476785" cy="1652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  <a:cs typeface="Helvetica" pitchFamily="34" charset="0"/>
              </a:rPr>
              <a:t>Element 3: Provide fast food service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Serve and present food items in line with customer volume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Maintain a clean customer service area</a:t>
            </a:r>
            <a:endParaRPr lang="en-AU" sz="2200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20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P90038300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5000" y="3276600"/>
            <a:ext cx="2697480" cy="1926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Serve and present food items in line with customer volume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Speed of </a:t>
            </a:r>
            <a:r>
              <a:rPr lang="en-AU" sz="2200" dirty="0" smtClean="0">
                <a:latin typeface="Helvetica" pitchFamily="34" charset="0"/>
              </a:rPr>
              <a:t>service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Quality of service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Quantity of serving consistency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Special requests for changes to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standard menu items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Customer satisfaction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P90042224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3200" y="2438400"/>
            <a:ext cx="1773659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95400"/>
            <a:ext cx="7467600" cy="47873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Maintain a clean customer service area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When </a:t>
            </a:r>
            <a:r>
              <a:rPr lang="en-AU" sz="2200" dirty="0" smtClean="0">
                <a:latin typeface="Helvetica" pitchFamily="34" charset="0"/>
              </a:rPr>
              <a:t>customer</a:t>
            </a:r>
            <a:r>
              <a:rPr lang="en-US" sz="2200" dirty="0" smtClean="0">
                <a:latin typeface="Helvetica" pitchFamily="34" charset="0"/>
              </a:rPr>
              <a:t> movement is slow; clean; clean; clean 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If customer service is constant; serve; clean; serve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If customer service is very busy; serve; serve; clean; serve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After customers have gone;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clean; clean; clean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P90040355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1200" y="3657600"/>
            <a:ext cx="2560320" cy="1706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43000"/>
            <a:ext cx="7467600" cy="49397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  <a:cs typeface="Helvetica" pitchFamily="34" charset="0"/>
              </a:rPr>
              <a:t>Element 4: Maintain fast food outlet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Clean fast food area in line with establishment and equipment requirements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Undertake stock control and reordering </a:t>
            </a:r>
            <a:br>
              <a:rPr lang="en-AU" sz="2200" dirty="0" smtClean="0">
                <a:latin typeface="Helvetica" pitchFamily="34" charset="0"/>
                <a:cs typeface="Helvetica" pitchFamily="34" charset="0"/>
              </a:rPr>
            </a:b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processes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Identify and report maintenance issues </a:t>
            </a:r>
            <a:br>
              <a:rPr lang="en-AU" sz="2200" dirty="0" smtClean="0">
                <a:latin typeface="Helvetica" pitchFamily="34" charset="0"/>
                <a:cs typeface="Helvetica" pitchFamily="34" charset="0"/>
              </a:rPr>
            </a:b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to appropriate personnel</a:t>
            </a:r>
            <a:endParaRPr lang="en-AU" sz="2200" dirty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23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iStock_000002364450Medium_mon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05600" y="2667000"/>
            <a:ext cx="1671440" cy="25130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 smtClean="0">
                <a:latin typeface="Helvetica" pitchFamily="34" charset="0"/>
              </a:rPr>
              <a:t>Clean</a:t>
            </a:r>
            <a:r>
              <a:rPr lang="en-US" sz="2200" b="1" dirty="0" smtClean="0">
                <a:latin typeface="Helvetica" pitchFamily="34" charset="0"/>
              </a:rPr>
              <a:t> fast food area in line with establishment and equipment requirements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Food Safety Plan – </a:t>
            </a:r>
            <a:r>
              <a:rPr lang="en-US" sz="2200" dirty="0" smtClean="0">
                <a:latin typeface="Helvetica" pitchFamily="34" charset="0"/>
              </a:rPr>
              <a:t>cleaning </a:t>
            </a:r>
            <a:r>
              <a:rPr lang="en-US" sz="2200" dirty="0" smtClean="0">
                <a:latin typeface="Helvetica" pitchFamily="34" charset="0"/>
              </a:rPr>
              <a:t>s</a:t>
            </a:r>
            <a:r>
              <a:rPr lang="en-US" sz="2200" dirty="0" smtClean="0">
                <a:latin typeface="Helvetica" pitchFamily="34" charset="0"/>
              </a:rPr>
              <a:t>chedule</a:t>
            </a:r>
            <a:r>
              <a:rPr lang="en-US" sz="2200" dirty="0" smtClean="0">
                <a:latin typeface="Helvetica" pitchFamily="34" charset="0"/>
              </a:rPr>
              <a:t>: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Hourly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Twice daily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Daily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Weekly 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i="1" dirty="0" smtClean="0">
                <a:latin typeface="Helvetica" pitchFamily="34" charset="0"/>
              </a:rPr>
              <a:t>As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24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C900332998.WM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7000" y="3352800"/>
            <a:ext cx="1818742" cy="17254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Undertake stock control and reordering processes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Par </a:t>
            </a:r>
            <a:r>
              <a:rPr lang="en-AU" sz="2200" dirty="0" smtClean="0">
                <a:latin typeface="Helvetica" pitchFamily="34" charset="0"/>
              </a:rPr>
              <a:t>stock</a:t>
            </a:r>
            <a:r>
              <a:rPr lang="en-US" sz="2200" dirty="0" smtClean="0">
                <a:latin typeface="Helvetica" pitchFamily="34" charset="0"/>
              </a:rPr>
              <a:t> level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Accounting for all stock purchased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Against goods sold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Number of sales</a:t>
            </a:r>
          </a:p>
          <a:p>
            <a:pPr marL="287338" indent="-28733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Re order to par stock levels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25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iStock_000002455453Medium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7400" y="3454176"/>
            <a:ext cx="2549955" cy="16984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8103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71600"/>
            <a:ext cx="7467600" cy="47111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Identify and report maintenance issues to appropriate personnel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Repair any defect as needed: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Broken microwave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Broken floor tile in bathroom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Broken electrical wiring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26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aitenance 2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3200" y="3352800"/>
            <a:ext cx="1780953" cy="1761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8103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7467600" cy="51816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  <a:cs typeface="Helvetica" pitchFamily="34" charset="0"/>
              </a:rPr>
              <a:t>Element 5: Store food items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Store fresh and or vacuum packed items correctly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Prepare and maintain correct thawing of food items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Store fast food products appropriately in correct containers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Label fast food products correctly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Ensure correct conditions are maintained </a:t>
            </a:r>
            <a:br>
              <a:rPr lang="en-AU" sz="2200" dirty="0" smtClean="0">
                <a:latin typeface="Helvetica" pitchFamily="34" charset="0"/>
                <a:cs typeface="Helvetica" pitchFamily="34" charset="0"/>
              </a:rPr>
            </a:br>
            <a:r>
              <a:rPr lang="en-AU" sz="2200" dirty="0" smtClean="0">
                <a:latin typeface="Helvetica" pitchFamily="34" charset="0"/>
                <a:cs typeface="Helvetica" pitchFamily="34" charset="0"/>
              </a:rPr>
              <a:t>for freshness and quality</a:t>
            </a:r>
            <a:endParaRPr lang="en-US" sz="2200" dirty="0" smtClean="0"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27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6" name="Picture 5" descr="Packaging label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3581400"/>
            <a:ext cx="2209800" cy="1500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7341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69424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Store fresh and or vacuum sealed items correctly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dirty="0" smtClean="0">
                <a:latin typeface="Helvetica" pitchFamily="34" charset="0"/>
              </a:rPr>
              <a:t>Cold storage: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Temperature of </a:t>
            </a:r>
            <a:r>
              <a:rPr lang="en-AU" sz="2200" dirty="0" smtClean="0">
                <a:latin typeface="Helvetica" pitchFamily="34" charset="0"/>
              </a:rPr>
              <a:t>less</a:t>
            </a:r>
            <a:r>
              <a:rPr lang="en-US" sz="2200" dirty="0" smtClean="0">
                <a:latin typeface="Helvetica" pitchFamily="34" charset="0"/>
              </a:rPr>
              <a:t> than 5</a:t>
            </a:r>
            <a:r>
              <a:rPr lang="en-US" sz="2200" dirty="0" smtClean="0">
                <a:latin typeface="Helvetica"/>
              </a:rPr>
              <a:t>°C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/>
              </a:rPr>
              <a:t>Vacuumed sealed products in single layer in separate tray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/>
              </a:rPr>
              <a:t>Keep cooked and uncooked separate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/>
              </a:rPr>
              <a:t>keep all foods covered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/>
              </a:rPr>
              <a:t>Label all product</a:t>
            </a: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28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7" name="Picture 6" descr="Expiry dat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3200" y="3352800"/>
            <a:ext cx="1752600" cy="175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6579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Prepare and maintain correct thawing of food items</a:t>
            </a:r>
          </a:p>
          <a:p>
            <a:pPr marL="627063" indent="-5730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Separate container</a:t>
            </a:r>
          </a:p>
          <a:p>
            <a:pPr marL="627063" indent="-5730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in coolroom until thawed</a:t>
            </a:r>
          </a:p>
          <a:p>
            <a:pPr marL="627063" indent="-573088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Use as soon as thawed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29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shutterstock_9837175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58000" y="3429000"/>
            <a:ext cx="1540764" cy="1791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1143000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556792"/>
            <a:ext cx="74676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Store fast food products appropriately in correct containers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Food </a:t>
            </a:r>
            <a:r>
              <a:rPr lang="en-US" sz="2200" dirty="0" smtClean="0">
                <a:latin typeface="Helvetica" pitchFamily="34" charset="0"/>
              </a:rPr>
              <a:t>grade </a:t>
            </a:r>
            <a:r>
              <a:rPr lang="en-AU" sz="2200" dirty="0" smtClean="0">
                <a:latin typeface="Helvetica" pitchFamily="34" charset="0"/>
              </a:rPr>
              <a:t>containers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Good state of repair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Clean 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Able to seal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30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Plastic container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07204" y="3500628"/>
            <a:ext cx="2522396" cy="15285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5817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066800"/>
            <a:ext cx="7467600" cy="50159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Label fast food products correctly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Name of the product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Date of </a:t>
            </a:r>
            <a:r>
              <a:rPr lang="en-AU" sz="2200" dirty="0" smtClean="0">
                <a:latin typeface="Helvetica" pitchFamily="34" charset="0"/>
              </a:rPr>
              <a:t>manufacture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Use by date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Name of person who produced food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i="1" dirty="0" smtClean="0">
                <a:latin typeface="Helvetica" pitchFamily="34" charset="0"/>
              </a:rPr>
              <a:t>De-cantered food ingredients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200" b="1" dirty="0" smtClean="0">
              <a:latin typeface="Helvetica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31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Best before stamp.jpg"/>
          <p:cNvPicPr>
            <a:picLocks noChangeAspect="1"/>
          </p:cNvPicPr>
          <p:nvPr/>
        </p:nvPicPr>
        <p:blipFill>
          <a:blip r:embed="rId3" cstate="print"/>
          <a:srcRect t="21111" b="25556"/>
          <a:stretch>
            <a:fillRect/>
          </a:stretch>
        </p:blipFill>
        <p:spPr>
          <a:xfrm>
            <a:off x="5638800" y="3352800"/>
            <a:ext cx="2501272" cy="18862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467600" cy="581744"/>
          </a:xfrm>
        </p:spPr>
        <p:txBody>
          <a:bodyPr>
            <a:normAutofit/>
          </a:bodyPr>
          <a:lstStyle/>
          <a:p>
            <a:r>
              <a:rPr lang="en-AU" sz="3200" b="1" dirty="0" smtClean="0">
                <a:ln w="5000" cmpd="sng">
                  <a:noFill/>
                  <a:prstDash val="solid"/>
                </a:ln>
                <a:solidFill>
                  <a:srgbClr val="FF6600"/>
                </a:solidFill>
                <a:latin typeface="Helvetica" pitchFamily="34" charset="0"/>
              </a:rPr>
              <a:t>Operate a fast food outlet</a:t>
            </a:r>
            <a:endParaRPr lang="en-US" sz="3400" b="1" dirty="0">
              <a:solidFill>
                <a:srgbClr val="FF6600"/>
              </a:solidFill>
              <a:latin typeface="Helvetic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219200"/>
            <a:ext cx="7467600" cy="486355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200" b="1" dirty="0" smtClean="0">
                <a:latin typeface="Helvetica" pitchFamily="34" charset="0"/>
              </a:rPr>
              <a:t>Ensure correct conditions are maintained for freshness and quality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Purchase only what is required for purchasing cycle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Buy in small amounts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fresh foods chilled</a:t>
            </a:r>
          </a:p>
          <a:p>
            <a:pPr marL="341313" indent="-341313">
              <a:spcBef>
                <a:spcPts val="600"/>
              </a:spcBef>
              <a:spcAft>
                <a:spcPts val="1200"/>
              </a:spcAft>
            </a:pPr>
            <a:r>
              <a:rPr lang="en-US" sz="2200" dirty="0" smtClean="0">
                <a:latin typeface="Helvetica" pitchFamily="34" charset="0"/>
              </a:rPr>
              <a:t>Keep foods covered with protective </a:t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>covering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Helvetica" pitchFamily="34" charset="0"/>
              </a:rPr>
              <a:t>Slide </a:t>
            </a:r>
            <a:fld id="{90BDF71C-F485-43AE-8825-5070AF1EA8C9}" type="slidenum">
              <a:rPr lang="en-US" smtClean="0">
                <a:latin typeface="Helvetica" pitchFamily="34" charset="0"/>
              </a:rPr>
              <a:pPr/>
              <a:t>32</a:t>
            </a:fld>
            <a:endParaRPr lang="en-US" dirty="0">
              <a:latin typeface="Helvetica" pitchFamily="34" charset="0"/>
            </a:endParaRPr>
          </a:p>
        </p:txBody>
      </p:sp>
      <p:pic>
        <p:nvPicPr>
          <p:cNvPr id="5" name="Picture 4" descr="MC900230698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24600" y="3810000"/>
            <a:ext cx="1971429" cy="14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SEAN PPT Template 010611 MV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ASEAN PPT Template 010611 MV</Template>
  <TotalTime>570</TotalTime>
  <Words>3794</Words>
  <Application>Microsoft Office PowerPoint</Application>
  <PresentationFormat>On-screen Show (4:3)</PresentationFormat>
  <Paragraphs>687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ASEAN PPT Template 010611 MV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  <vt:lpstr>Operate a fast food outlet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OPERATE A FAST FOOD OUTLET</dc:title>
  <dc:creator>fgvghyujil</dc:creator>
  <cp:lastModifiedBy>fgvghyujil</cp:lastModifiedBy>
  <cp:revision>61</cp:revision>
  <dcterms:created xsi:type="dcterms:W3CDTF">2012-04-03T00:20:10Z</dcterms:created>
  <dcterms:modified xsi:type="dcterms:W3CDTF">2013-01-17T19:56:29Z</dcterms:modified>
</cp:coreProperties>
</file>