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slides/slide147.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notesSlides/notesSlide146.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notesSlides/notesSlide13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124.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notesSlides/notesSlide129.xml" ContentType="application/vnd.openxmlformats-officedocument.presentationml.notesSlide+xml"/>
  <Override PartName="/ppt/slides/slide108.xml" ContentType="application/vnd.openxmlformats-officedocument.presentationml.slide+xml"/>
  <Override PartName="/ppt/notesSlides/notesSlide118.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95.xml" ContentType="application/vnd.openxmlformats-officedocument.presentationml.notesSlide+xml"/>
  <Override PartName="/ppt/notesSlides/notesSlide122.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notesSlides/notesSlide37.xml" ContentType="application/vnd.openxmlformats-officedocument.presentationml.notesSlid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slides/slide139.xml" ContentType="application/vnd.openxmlformats-officedocument.presentationml.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149.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notesSlides/notesSlide89.xml" ContentType="application/vnd.openxmlformats-officedocument.presentationml.notesSlide+xml"/>
  <Override PartName="/ppt/notesSlides/notesSlide116.xml" ContentType="application/vnd.openxmlformats-officedocument.presentationml.notesSlide+xml"/>
  <Override PartName="/ppt/notesSlides/notesSlide145.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slides/slide118.xml" ContentType="application/vnd.openxmlformats-officedocument.presentationml.slide+xml"/>
  <Override PartName="/ppt/notesSlides/notesSlide128.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notesSlides/notesSlide42.xml" ContentType="application/vnd.openxmlformats-officedocument.presentationml.notesSlide+xml"/>
  <Override PartName="/ppt/slides/slide148.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notesSlides/notesSlide147.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notesSlides/notesSlide50.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6"/>
  </p:notesMasterIdLst>
  <p:handoutMasterIdLst>
    <p:handoutMasterId r:id="rId157"/>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60" r:id="rId105"/>
    <p:sldId id="361" r:id="rId106"/>
    <p:sldId id="363" r:id="rId107"/>
    <p:sldId id="406" r:id="rId108"/>
    <p:sldId id="365" r:id="rId109"/>
    <p:sldId id="368" r:id="rId110"/>
    <p:sldId id="369" r:id="rId111"/>
    <p:sldId id="407" r:id="rId112"/>
    <p:sldId id="408" r:id="rId113"/>
    <p:sldId id="409" r:id="rId114"/>
    <p:sldId id="410" r:id="rId115"/>
    <p:sldId id="372" r:id="rId116"/>
    <p:sldId id="373" r:id="rId117"/>
    <p:sldId id="376" r:id="rId118"/>
    <p:sldId id="411" r:id="rId119"/>
    <p:sldId id="379" r:id="rId120"/>
    <p:sldId id="377" r:id="rId121"/>
    <p:sldId id="412" r:id="rId122"/>
    <p:sldId id="378" r:id="rId123"/>
    <p:sldId id="413" r:id="rId124"/>
    <p:sldId id="380" r:id="rId125"/>
    <p:sldId id="414" r:id="rId126"/>
    <p:sldId id="381" r:id="rId127"/>
    <p:sldId id="385" r:id="rId128"/>
    <p:sldId id="388" r:id="rId129"/>
    <p:sldId id="415" r:id="rId130"/>
    <p:sldId id="390" r:id="rId131"/>
    <p:sldId id="391" r:id="rId132"/>
    <p:sldId id="416" r:id="rId133"/>
    <p:sldId id="393" r:id="rId134"/>
    <p:sldId id="394" r:id="rId135"/>
    <p:sldId id="396" r:id="rId136"/>
    <p:sldId id="417" r:id="rId137"/>
    <p:sldId id="397" r:id="rId138"/>
    <p:sldId id="418" r:id="rId139"/>
    <p:sldId id="419" r:id="rId140"/>
    <p:sldId id="420" r:id="rId141"/>
    <p:sldId id="421" r:id="rId142"/>
    <p:sldId id="422" r:id="rId143"/>
    <p:sldId id="423" r:id="rId144"/>
    <p:sldId id="424" r:id="rId145"/>
    <p:sldId id="425" r:id="rId146"/>
    <p:sldId id="426" r:id="rId147"/>
    <p:sldId id="427" r:id="rId148"/>
    <p:sldId id="428" r:id="rId149"/>
    <p:sldId id="429" r:id="rId150"/>
    <p:sldId id="430" r:id="rId151"/>
    <p:sldId id="431" r:id="rId152"/>
    <p:sldId id="432" r:id="rId153"/>
    <p:sldId id="433" r:id="rId154"/>
    <p:sldId id="434" r:id="rId155"/>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74" autoAdjust="0"/>
    <p:restoredTop sz="80098" autoAdjust="0"/>
  </p:normalViewPr>
  <p:slideViewPr>
    <p:cSldViewPr>
      <p:cViewPr>
        <p:scale>
          <a:sx n="80" d="100"/>
          <a:sy n="80" d="100"/>
        </p:scale>
        <p:origin x="-1218" y="-2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3/30/2013</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3/30/2013</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a:t>
            </a:r>
            <a:r>
              <a:rPr lang="en-US" baseline="0" dirty="0" smtClean="0"/>
              <a:t> students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this Unit comprises six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dirty="0" smtClean="0">
                <a:solidFill>
                  <a:schemeClr val="tx1"/>
                </a:solidFill>
                <a:latin typeface="+mn-lt"/>
                <a:ea typeface="+mn-ea"/>
                <a:cs typeface="+mn-cs"/>
              </a:rPr>
              <a:t> What is wine?</a:t>
            </a:r>
          </a:p>
          <a:p>
            <a:pPr>
              <a:buFont typeface="Arial" pitchFamily="34" charset="0"/>
              <a:buChar char="•"/>
            </a:pPr>
            <a:r>
              <a:rPr lang="en-AU" sz="1200" kern="1200" dirty="0" smtClean="0">
                <a:solidFill>
                  <a:schemeClr val="tx1"/>
                </a:solidFill>
                <a:latin typeface="+mn-lt"/>
                <a:ea typeface="+mn-ea"/>
                <a:cs typeface="+mn-cs"/>
              </a:rPr>
              <a:t>What wines do</a:t>
            </a:r>
            <a:r>
              <a:rPr lang="en-AU" sz="1200" kern="1200" baseline="0" dirty="0" smtClean="0">
                <a:solidFill>
                  <a:schemeClr val="tx1"/>
                </a:solidFill>
                <a:latin typeface="+mn-lt"/>
                <a:ea typeface="+mn-ea"/>
                <a:cs typeface="+mn-cs"/>
              </a:rPr>
              <a:t> you know?</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different types of </a:t>
            </a:r>
            <a:r>
              <a:rPr lang="en-AU" sz="1200" b="0" kern="1200" baseline="0" dirty="0" smtClean="0">
                <a:solidFill>
                  <a:schemeClr val="tx1"/>
                </a:solidFill>
                <a:latin typeface="Helvetica" pitchFamily="34" charset="0"/>
                <a:ea typeface="+mn-ea"/>
                <a:cs typeface="+mn-cs"/>
              </a:rPr>
              <a:t>wine</a:t>
            </a:r>
            <a:endParaRPr lang="en-AU" sz="1200" b="0" kern="1200" baseline="0" dirty="0" smtClean="0">
              <a:solidFill>
                <a:schemeClr val="tx1"/>
              </a:solidFill>
              <a:latin typeface="Helvetica" pitchFamily="34" charset="0"/>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Helvetica" pitchFamily="34" charset="0"/>
                <a:ea typeface="+mn-ea"/>
                <a:cs typeface="+mn-cs"/>
              </a:rPr>
              <a:t>This is just to get ideas as it will be explained in more detail.</a:t>
            </a:r>
            <a:endParaRPr lang="en-AU" sz="1200" b="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Char char="•"/>
            </a:pPr>
            <a:r>
              <a:rPr lang="en-US" dirty="0" smtClean="0"/>
              <a:t>What is</a:t>
            </a:r>
            <a:r>
              <a:rPr lang="en-US" baseline="0" dirty="0" smtClean="0"/>
              <a:t> the difference between varietal and generic wines?</a:t>
            </a:r>
          </a:p>
          <a:p>
            <a:pPr>
              <a:buFont typeface="Arial" pitchFamily="34" charset="0"/>
              <a:buChar char="•"/>
            </a:pPr>
            <a:r>
              <a:rPr lang="en-US" baseline="0" dirty="0" smtClean="0"/>
              <a:t>What is the difference between these?</a:t>
            </a:r>
            <a:endParaRPr lang="en-US"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pPr>
              <a:buFont typeface="Arial" pitchFamily="34" charset="0"/>
              <a:buChar char="•"/>
            </a:pPr>
            <a:endParaRPr lang="en-AU" dirty="0" smtClean="0"/>
          </a:p>
          <a:p>
            <a:pPr>
              <a:buFont typeface="Arial" pitchFamily="34" charset="0"/>
              <a:buChar char="•"/>
            </a:pPr>
            <a:r>
              <a:rPr lang="en-AU" dirty="0" smtClean="0"/>
              <a:t>What types of varietal wines do you know?</a:t>
            </a:r>
          </a:p>
          <a:p>
            <a:pPr>
              <a:buFont typeface="Arial" pitchFamily="34" charset="0"/>
              <a:buChar char="•"/>
            </a:pPr>
            <a:r>
              <a:rPr lang="en-AU" dirty="0" smtClean="0"/>
              <a:t>Which are white wines?</a:t>
            </a:r>
          </a:p>
          <a:p>
            <a:pPr>
              <a:buFont typeface="Arial" pitchFamily="34" charset="0"/>
              <a:buChar char="•"/>
            </a:pPr>
            <a:r>
              <a:rPr lang="en-AU" dirty="0" smtClean="0"/>
              <a:t>Which are red wines?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pPr>
              <a:buFont typeface="Arial" pitchFamily="34" charset="0"/>
              <a:buChar char="•"/>
            </a:pPr>
            <a:endParaRPr lang="en-AU" dirty="0" smtClean="0"/>
          </a:p>
          <a:p>
            <a:pPr>
              <a:buFont typeface="Arial" pitchFamily="34" charset="0"/>
              <a:buChar char="•"/>
            </a:pPr>
            <a:r>
              <a:rPr lang="en-AU" baseline="0" dirty="0" smtClean="0"/>
              <a:t>Discuss the question in the </a:t>
            </a:r>
            <a:r>
              <a:rPr lang="en-AU" baseline="0" dirty="0" smtClean="0"/>
              <a:t>slide.</a:t>
            </a:r>
            <a:endParaRPr lang="en-AU" sz="120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Discussion</a:t>
            </a:r>
          </a:p>
          <a:p>
            <a:pPr>
              <a:buFont typeface="Arial" pitchFamily="34" charset="0"/>
              <a:buChar char="•"/>
            </a:pPr>
            <a:endParaRPr lang="en-AU" dirty="0" smtClean="0"/>
          </a:p>
          <a:p>
            <a:pPr>
              <a:buFont typeface="Arial" pitchFamily="34" charset="0"/>
              <a:buChar char="•"/>
            </a:pPr>
            <a:r>
              <a:rPr lang="en-AU" dirty="0" smtClean="0"/>
              <a:t>What taste</a:t>
            </a:r>
            <a:r>
              <a:rPr lang="en-AU" baseline="0" dirty="0" smtClean="0"/>
              <a:t> characteristics do each of these generic wines have?</a:t>
            </a:r>
          </a:p>
          <a:p>
            <a:pPr>
              <a:buFont typeface="Arial" pitchFamily="34" charset="0"/>
              <a:buChar char="•"/>
            </a:pPr>
            <a:endParaRPr lang="en-AU" dirty="0" smtClean="0"/>
          </a:p>
          <a:p>
            <a:pPr lvl="0">
              <a:buFont typeface="Arial" pitchFamily="34" charset="0"/>
              <a:buChar char="•"/>
            </a:pPr>
            <a:r>
              <a:rPr lang="en-AU" sz="1200" dirty="0" smtClean="0"/>
              <a:t>Chablis – a very dry, flinty wine</a:t>
            </a:r>
          </a:p>
          <a:p>
            <a:pPr lvl="0">
              <a:buFont typeface="Arial" pitchFamily="34" charset="0"/>
              <a:buChar char="•"/>
            </a:pPr>
            <a:r>
              <a:rPr lang="en-AU" sz="1200" dirty="0" smtClean="0"/>
              <a:t>Hock – a very dry white wine</a:t>
            </a:r>
          </a:p>
          <a:p>
            <a:pPr lvl="0">
              <a:buFont typeface="Arial" pitchFamily="34" charset="0"/>
              <a:buChar char="•"/>
            </a:pPr>
            <a:r>
              <a:rPr lang="en-AU" sz="1200" dirty="0" smtClean="0"/>
              <a:t>Moselle – a popular and pleasantly semi-sweet wine, less sweet than Sauternes</a:t>
            </a:r>
          </a:p>
          <a:p>
            <a:pPr lvl="0">
              <a:buFont typeface="Arial" pitchFamily="34" charset="0"/>
              <a:buChar char="•"/>
            </a:pPr>
            <a:r>
              <a:rPr lang="en-AU" sz="1200" dirty="0" smtClean="0"/>
              <a:t>Riesling – drier than Moselle. Often described as fruity and has its fruitiness confused with sweetness</a:t>
            </a:r>
          </a:p>
          <a:p>
            <a:pPr lvl="0">
              <a:buFont typeface="Arial" pitchFamily="34" charset="0"/>
              <a:buChar char="•"/>
            </a:pPr>
            <a:r>
              <a:rPr lang="en-AU" sz="1200" dirty="0" smtClean="0"/>
              <a:t>Sauternes – produced from fully ripe grapes, a very sweet wine</a:t>
            </a:r>
          </a:p>
          <a:p>
            <a:pPr lvl="0">
              <a:buFont typeface="Arial" pitchFamily="34" charset="0"/>
              <a:buChar char="•"/>
            </a:pPr>
            <a:r>
              <a:rPr lang="en-AU" sz="1200" dirty="0" smtClean="0"/>
              <a:t>White Burgundy – a fairly dry white with full flavour.</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Discussion</a:t>
            </a:r>
          </a:p>
          <a:p>
            <a:pPr>
              <a:buFont typeface="Arial" pitchFamily="34" charset="0"/>
              <a:buChar char="•"/>
            </a:pPr>
            <a:endParaRPr lang="en-AU" dirty="0" smtClean="0"/>
          </a:p>
          <a:p>
            <a:pPr>
              <a:buFont typeface="Arial" pitchFamily="34" charset="0"/>
              <a:buNone/>
            </a:pPr>
            <a:r>
              <a:rPr lang="en-AU" dirty="0" smtClean="0"/>
              <a:t>What taste</a:t>
            </a:r>
            <a:r>
              <a:rPr lang="en-AU" baseline="0" dirty="0" smtClean="0"/>
              <a:t> characteristics do each of these generic wines have?</a:t>
            </a:r>
          </a:p>
          <a:p>
            <a:pPr>
              <a:buFont typeface="Arial" pitchFamily="34" charset="0"/>
              <a:buChar char="•"/>
            </a:pPr>
            <a:endParaRPr lang="en-AU" dirty="0" smtClean="0"/>
          </a:p>
          <a:p>
            <a:pPr lvl="0">
              <a:buFont typeface="Arial" pitchFamily="34" charset="0"/>
              <a:buChar char="•"/>
            </a:pPr>
            <a:r>
              <a:rPr lang="en-AU" sz="1200" dirty="0" smtClean="0"/>
              <a:t>Burgundy – a soft and fruity red wine</a:t>
            </a:r>
          </a:p>
          <a:p>
            <a:pPr lvl="0">
              <a:buFont typeface="Arial" pitchFamily="34" charset="0"/>
              <a:buChar char="•"/>
            </a:pPr>
            <a:r>
              <a:rPr lang="en-AU" sz="1200" dirty="0" smtClean="0"/>
              <a:t>Claret – a dry red with more astringency than </a:t>
            </a:r>
            <a:r>
              <a:rPr lang="en-AU" sz="1200" dirty="0" smtClean="0"/>
              <a:t>burgundy.</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Review menu,</a:t>
            </a:r>
            <a:r>
              <a:rPr lang="en-AU" sz="1200" b="1" baseline="0" dirty="0" smtClean="0"/>
              <a:t> </a:t>
            </a:r>
            <a:r>
              <a:rPr lang="en-AU" sz="1200" b="1" dirty="0" smtClean="0"/>
              <a:t>questions</a:t>
            </a:r>
            <a:r>
              <a:rPr lang="en-AU" sz="1200" b="1" baseline="0" dirty="0" smtClean="0"/>
              <a:t> and wine selection</a:t>
            </a:r>
            <a:endParaRPr lang="en-AU" sz="1200" b="1" dirty="0" smtClean="0"/>
          </a:p>
          <a:p>
            <a:endParaRPr lang="en-AU" sz="1200" dirty="0" smtClean="0"/>
          </a:p>
          <a:p>
            <a:r>
              <a:rPr lang="en-AU" sz="1200" dirty="0" smtClean="0"/>
              <a:t>Audience to review detailed wine menus identifying different types of varietal and generic wines.</a:t>
            </a:r>
          </a:p>
          <a:p>
            <a:pPr>
              <a:buFont typeface="Arial" pitchFamily="34" charset="0"/>
              <a:buChar char="•"/>
            </a:pPr>
            <a:r>
              <a:rPr lang="en-AU" sz="1200" dirty="0" smtClean="0"/>
              <a:t>What</a:t>
            </a:r>
            <a:r>
              <a:rPr lang="en-AU" sz="1200" baseline="0" dirty="0" smtClean="0"/>
              <a:t> wines are house wines and why?</a:t>
            </a:r>
          </a:p>
          <a:p>
            <a:pPr>
              <a:buFont typeface="Arial" pitchFamily="34" charset="0"/>
              <a:buChar char="•"/>
            </a:pPr>
            <a:r>
              <a:rPr lang="en-AU" sz="1200" baseline="0" dirty="0" smtClean="0"/>
              <a:t>If you were preparing a menu based on the food menu what wines would you select and why?</a:t>
            </a:r>
          </a:p>
          <a:p>
            <a:pPr>
              <a:buFont typeface="Arial" pitchFamily="34" charset="0"/>
              <a:buChar char="•"/>
            </a:pPr>
            <a:r>
              <a:rPr lang="en-AU" sz="1200" baseline="0" dirty="0" smtClean="0"/>
              <a:t>What are other characteristics of house wine?</a:t>
            </a: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Discussion</a:t>
            </a:r>
          </a:p>
          <a:p>
            <a:endParaRPr lang="en-AU" sz="1200" dirty="0" smtClean="0"/>
          </a:p>
          <a:p>
            <a:r>
              <a:rPr lang="en-AU" sz="1200" dirty="0" smtClean="0"/>
              <a:t>What other differences</a:t>
            </a:r>
            <a:r>
              <a:rPr lang="en-AU" sz="1200" baseline="0" dirty="0" smtClean="0"/>
              <a:t> exist between these wines? (Production etc)</a:t>
            </a:r>
            <a:endParaRPr lang="en-AU" sz="1200" dirty="0" smtClean="0"/>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 the styles of champagne.</a:t>
            </a:r>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p>
          <a:p>
            <a:pPr>
              <a:buFont typeface="Arial" pitchFamily="34" charset="0"/>
              <a:buChar char="•"/>
            </a:pPr>
            <a:r>
              <a:rPr lang="en-AU" sz="1200" b="0" dirty="0" smtClean="0"/>
              <a:t>What types of fortified</a:t>
            </a:r>
            <a:r>
              <a:rPr lang="en-AU" sz="1200" b="0" baseline="0" dirty="0" smtClean="0"/>
              <a:t> wines are there?</a:t>
            </a:r>
          </a:p>
          <a:p>
            <a:pPr>
              <a:buFont typeface="Arial" pitchFamily="34" charset="0"/>
              <a:buChar char="•"/>
            </a:pPr>
            <a:r>
              <a:rPr lang="en-AU" sz="1200" b="0" baseline="0" dirty="0" smtClean="0"/>
              <a:t>When are they commonly served?</a:t>
            </a:r>
          </a:p>
          <a:p>
            <a:pPr>
              <a:buFont typeface="Arial" pitchFamily="34" charset="0"/>
              <a:buChar char="•"/>
            </a:pPr>
            <a:r>
              <a:rPr lang="en-AU" sz="1200" b="0" baseline="0" dirty="0" smtClean="0"/>
              <a:t>What are they served with?</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p>
          <a:p>
            <a:pPr>
              <a:buFont typeface="Arial" pitchFamily="34" charset="0"/>
              <a:buChar char="•"/>
            </a:pPr>
            <a:r>
              <a:rPr lang="en-AU" sz="1200" b="0" dirty="0" smtClean="0"/>
              <a:t>What is the difference</a:t>
            </a:r>
            <a:r>
              <a:rPr lang="en-AU" sz="1200" b="0" baseline="0" dirty="0" smtClean="0"/>
              <a:t> between these types of </a:t>
            </a:r>
            <a:r>
              <a:rPr lang="en-AU" sz="1200" b="0" dirty="0" smtClean="0"/>
              <a:t>fortified</a:t>
            </a:r>
            <a:r>
              <a:rPr lang="en-AU" sz="1200" b="0" baseline="0" dirty="0" smtClean="0"/>
              <a:t> wines?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p>
          <a:p>
            <a:pPr>
              <a:buFont typeface="Arial" pitchFamily="34" charset="0"/>
              <a:buChar char="•"/>
            </a:pPr>
            <a:r>
              <a:rPr lang="en-AU" sz="1200" b="0" dirty="0" smtClean="0"/>
              <a:t>What types of rice wine exist?</a:t>
            </a:r>
          </a:p>
          <a:p>
            <a:pPr>
              <a:buFont typeface="Arial" pitchFamily="34" charset="0"/>
              <a:buChar char="•"/>
            </a:pPr>
            <a:r>
              <a:rPr lang="en-AU" sz="1200" b="0" baseline="0" dirty="0" smtClean="0"/>
              <a:t>What different types do they have in different countries?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pPr>
              <a:buFont typeface="Arial" pitchFamily="34" charset="0"/>
              <a:buChar char="•"/>
            </a:pPr>
            <a:endParaRPr lang="en-AU" dirty="0" smtClean="0"/>
          </a:p>
          <a:p>
            <a:pPr>
              <a:buFont typeface="Arial" pitchFamily="34" charset="0"/>
              <a:buChar char="•"/>
            </a:pPr>
            <a:r>
              <a:rPr lang="en-AU" dirty="0" smtClean="0"/>
              <a:t>What types of grapes are used?</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pPr>
              <a:buFont typeface="Arial" pitchFamily="34" charset="0"/>
              <a:buChar char="•"/>
            </a:pPr>
            <a:endParaRPr lang="en-AU" dirty="0" smtClean="0"/>
          </a:p>
          <a:p>
            <a:pPr>
              <a:buFont typeface="Arial" pitchFamily="34" charset="0"/>
              <a:buChar char="•"/>
            </a:pPr>
            <a:r>
              <a:rPr lang="en-AU" dirty="0" smtClean="0"/>
              <a:t>How do these components impact a wine?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Discussion</a:t>
            </a:r>
          </a:p>
          <a:p>
            <a:pPr>
              <a:buFont typeface="Arial" pitchFamily="34" charset="0"/>
              <a:buChar char="•"/>
            </a:pPr>
            <a:endParaRPr lang="en-AU" dirty="0" smtClean="0"/>
          </a:p>
          <a:p>
            <a:pPr>
              <a:buFont typeface="Arial" pitchFamily="34" charset="0"/>
              <a:buChar char="•"/>
            </a:pPr>
            <a:r>
              <a:rPr lang="en-AU" dirty="0" smtClean="0"/>
              <a:t>What taste</a:t>
            </a:r>
            <a:r>
              <a:rPr lang="en-AU" baseline="0" dirty="0" smtClean="0"/>
              <a:t> characteristics do each of these varietal wines have?</a:t>
            </a:r>
          </a:p>
          <a:p>
            <a:pPr>
              <a:buFont typeface="Arial" pitchFamily="34" charset="0"/>
              <a:buChar char="•"/>
            </a:pPr>
            <a:endParaRPr lang="en-AU" baseline="0" dirty="0" smtClean="0"/>
          </a:p>
          <a:p>
            <a:pPr lvl="0">
              <a:buFont typeface="Arial" pitchFamily="34" charset="0"/>
              <a:buChar char="•"/>
            </a:pPr>
            <a:r>
              <a:rPr lang="en-AU" sz="1200" dirty="0" smtClean="0"/>
              <a:t>Chardonnay – a full-flavoured dry white wine</a:t>
            </a:r>
          </a:p>
          <a:p>
            <a:pPr lvl="0">
              <a:buFont typeface="Arial" pitchFamily="34" charset="0"/>
              <a:buChar char="•"/>
            </a:pPr>
            <a:r>
              <a:rPr lang="en-AU" sz="1200" dirty="0" smtClean="0"/>
              <a:t>Chenin Blanc – a pleasant fruity ‘drink now’ wine with a refreshing acid finish</a:t>
            </a:r>
          </a:p>
          <a:p>
            <a:pPr lvl="0">
              <a:buFont typeface="Arial" pitchFamily="34" charset="0"/>
              <a:buChar char="•"/>
            </a:pPr>
            <a:r>
              <a:rPr lang="en-AU" sz="1200" dirty="0" smtClean="0"/>
              <a:t>Rhine Riesling – a delicate wine with fruit character and a trace of sugar that varies hugely depending on the region in which it is grown. Common flavour asparagus</a:t>
            </a:r>
          </a:p>
          <a:p>
            <a:pPr lvl="0">
              <a:buFont typeface="Arial" pitchFamily="34" charset="0"/>
              <a:buChar char="•"/>
            </a:pPr>
            <a:r>
              <a:rPr lang="en-AU" sz="1200" dirty="0" smtClean="0"/>
              <a:t>Sauvignon Blanc – a dry white wine with distinct varietal flavour such as melon, pineapple, tropical fruit</a:t>
            </a:r>
          </a:p>
          <a:p>
            <a:pPr lvl="0">
              <a:buFont typeface="Arial" pitchFamily="34" charset="0"/>
              <a:buChar char="•"/>
            </a:pPr>
            <a:r>
              <a:rPr lang="en-AU" sz="1200" dirty="0" smtClean="0"/>
              <a:t>Semillon – a dry, crisp white wine with grassy flavours</a:t>
            </a:r>
          </a:p>
          <a:p>
            <a:pPr lvl="0">
              <a:buFont typeface="Arial" pitchFamily="34" charset="0"/>
              <a:buChar char="•"/>
            </a:pPr>
            <a:r>
              <a:rPr lang="en-AU" sz="1200" dirty="0" smtClean="0"/>
              <a:t>Traminer – a fresh and fruity wine with a spicy smell and taste.</a:t>
            </a:r>
          </a:p>
          <a:p>
            <a:pPr>
              <a:buFont typeface="Arial" pitchFamily="34" charset="0"/>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 &amp; Discussion</a:t>
            </a:r>
          </a:p>
          <a:p>
            <a:pPr>
              <a:buFont typeface="Arial" pitchFamily="34" charset="0"/>
              <a:buChar char="•"/>
            </a:pPr>
            <a:endParaRPr lang="en-AU" dirty="0" smtClean="0"/>
          </a:p>
          <a:p>
            <a:pPr>
              <a:buFont typeface="Arial" pitchFamily="34" charset="0"/>
              <a:buChar char="•"/>
            </a:pPr>
            <a:r>
              <a:rPr lang="en-AU" dirty="0" smtClean="0"/>
              <a:t>What taste</a:t>
            </a:r>
            <a:r>
              <a:rPr lang="en-AU" baseline="0" dirty="0" smtClean="0"/>
              <a:t> characteristics do each of these varietal wines have?</a:t>
            </a:r>
          </a:p>
          <a:p>
            <a:pPr>
              <a:buFont typeface="Arial" pitchFamily="34" charset="0"/>
              <a:buChar char="•"/>
            </a:pPr>
            <a:endParaRPr lang="en-AU" baseline="0" dirty="0" smtClean="0"/>
          </a:p>
          <a:p>
            <a:pPr lvl="0">
              <a:buFont typeface="Arial" pitchFamily="34" charset="0"/>
              <a:buChar char="•"/>
            </a:pPr>
            <a:r>
              <a:rPr lang="en-AU" sz="1200" dirty="0" smtClean="0"/>
              <a:t>Cabernet Sauvignon – an aromatic red with berry, mint, capsicum and blackcurrant highlights</a:t>
            </a:r>
          </a:p>
          <a:p>
            <a:pPr lvl="0">
              <a:buFont typeface="Arial" pitchFamily="34" charset="0"/>
              <a:buChar char="•"/>
            </a:pPr>
            <a:r>
              <a:rPr lang="en-AU" sz="1200" dirty="0" smtClean="0"/>
              <a:t>Malbec – a fruity, soft wine</a:t>
            </a:r>
          </a:p>
          <a:p>
            <a:pPr lvl="0">
              <a:buFont typeface="Arial" pitchFamily="34" charset="0"/>
              <a:buChar char="•"/>
            </a:pPr>
            <a:r>
              <a:rPr lang="en-AU" sz="1200" dirty="0" smtClean="0"/>
              <a:t>Merlot – another fruity and aromatic red reminiscent of plums, pumpkins and fruitcake</a:t>
            </a:r>
          </a:p>
          <a:p>
            <a:pPr lvl="0">
              <a:buFont typeface="Arial" pitchFamily="34" charset="0"/>
              <a:buChar char="•"/>
            </a:pPr>
            <a:r>
              <a:rPr lang="en-AU" sz="1200" dirty="0" smtClean="0"/>
              <a:t>Pinot Noir – a lighter style red, thin in taste and colour, berry flavours</a:t>
            </a:r>
          </a:p>
          <a:p>
            <a:pPr lvl="0">
              <a:buFont typeface="Arial" pitchFamily="34" charset="0"/>
              <a:buChar char="•"/>
            </a:pPr>
            <a:r>
              <a:rPr lang="en-AU" sz="1200" dirty="0" smtClean="0"/>
              <a:t>Shiraz – also called ‘Hermitage’ this grape produces fine full-flavoured reds that vary greatly from region to region. They are often blended and have peppery characteristics</a:t>
            </a:r>
            <a:endParaRPr lang="en-AU" sz="120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p>
          <a:p>
            <a:pPr>
              <a:buFont typeface="Arial" pitchFamily="34" charset="0"/>
              <a:buChar char="•"/>
            </a:pPr>
            <a:r>
              <a:rPr lang="en-AU" sz="1200" b="0" dirty="0" smtClean="0"/>
              <a:t>Answer</a:t>
            </a:r>
            <a:r>
              <a:rPr lang="en-AU" sz="1200" b="0" baseline="0" dirty="0" smtClean="0"/>
              <a:t> the question in the slide to generate discussion.</a:t>
            </a:r>
          </a:p>
          <a:p>
            <a:pPr>
              <a:buFont typeface="Arial" pitchFamily="34" charset="0"/>
              <a:buChar char="•"/>
            </a:pPr>
            <a:r>
              <a:rPr lang="en-AU" sz="1200" b="0" baseline="0" dirty="0" smtClean="0"/>
              <a:t>The wine producing countries and regions will be discussed in more detail.</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latin typeface="Helvetica" pitchFamily="34" charset="0"/>
            </a:endParaRPr>
          </a:p>
          <a:p>
            <a:pPr>
              <a:buFont typeface="Arial" pitchFamily="34" charset="0"/>
              <a:buChar char="•"/>
            </a:pPr>
            <a:r>
              <a:rPr lang="en-AU" sz="1200" dirty="0" smtClean="0">
                <a:latin typeface="Helvetica" pitchFamily="34" charset="0"/>
              </a:rPr>
              <a:t>What characteristics makes these countries suitable to grow grapes for wine production?</a:t>
            </a:r>
          </a:p>
          <a:p>
            <a:pPr>
              <a:buFont typeface="Arial" pitchFamily="34" charset="0"/>
              <a:buChar char="•"/>
            </a:pPr>
            <a:r>
              <a:rPr lang="en-AU" sz="1200" dirty="0" smtClean="0">
                <a:latin typeface="Helvetica" pitchFamily="34" charset="0"/>
              </a:rPr>
              <a:t>What types of varietals come from these countries?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a:t>
            </a:r>
          </a:p>
          <a:p>
            <a:endParaRPr lang="en-AU" sz="1200" b="1" dirty="0" smtClean="0">
              <a:latin typeface="Helvetica" pitchFamily="34" charset="0"/>
            </a:endParaRPr>
          </a:p>
          <a:p>
            <a:pPr>
              <a:buFont typeface="Arial" pitchFamily="34" charset="0"/>
              <a:buChar char="•"/>
            </a:pPr>
            <a:r>
              <a:rPr lang="en-AU" sz="1200" dirty="0" smtClean="0">
                <a:latin typeface="Helvetica" pitchFamily="34" charset="0"/>
              </a:rPr>
              <a:t>What characteristics makes these countries suitable to grow grapes for wine production?</a:t>
            </a:r>
          </a:p>
          <a:p>
            <a:pPr>
              <a:buFont typeface="Arial" pitchFamily="34" charset="0"/>
              <a:buChar char="•"/>
            </a:pPr>
            <a:r>
              <a:rPr lang="en-AU" sz="1200" dirty="0" smtClean="0">
                <a:latin typeface="Helvetica" pitchFamily="34" charset="0"/>
              </a:rPr>
              <a:t>What types of varietals come from these countries?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Questions &amp; Review wine lists</a:t>
            </a:r>
          </a:p>
          <a:p>
            <a:endParaRPr lang="en-AU" sz="1200" b="1" dirty="0" smtClean="0">
              <a:latin typeface="Helvetica" pitchFamily="34" charset="0"/>
            </a:endParaRPr>
          </a:p>
          <a:p>
            <a:pPr>
              <a:buFont typeface="Arial" pitchFamily="34" charset="0"/>
              <a:buChar char="•"/>
            </a:pPr>
            <a:r>
              <a:rPr lang="en-AU" sz="1200" dirty="0" smtClean="0">
                <a:latin typeface="Helvetica" pitchFamily="34" charset="0"/>
              </a:rPr>
              <a:t>What famous wine regions do you know?</a:t>
            </a:r>
          </a:p>
          <a:p>
            <a:pPr>
              <a:buFont typeface="Arial" pitchFamily="34" charset="0"/>
              <a:buChar char="•"/>
            </a:pPr>
            <a:r>
              <a:rPr lang="en-AU" sz="1200" dirty="0" smtClean="0">
                <a:latin typeface="Helvetica" pitchFamily="34" charset="0"/>
              </a:rPr>
              <a:t>What wines are produced in these regions?</a:t>
            </a:r>
          </a:p>
          <a:p>
            <a:pPr>
              <a:buFont typeface="Arial" pitchFamily="34" charset="0"/>
              <a:buNone/>
            </a:pPr>
            <a:r>
              <a:rPr lang="en-AU" sz="1200" dirty="0" smtClean="0">
                <a:latin typeface="Helvetica" pitchFamily="34" charset="0"/>
              </a:rPr>
              <a:t>Trainer to</a:t>
            </a:r>
            <a:r>
              <a:rPr lang="en-AU" sz="1200" baseline="0" dirty="0" smtClean="0">
                <a:latin typeface="Helvetica" pitchFamily="34" charset="0"/>
              </a:rPr>
              <a:t> get a variety of wine lists so that they can identify different countries, regions and varietals of wine, commonly found on international wine lists</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 these regions and wine varietals produced.</a:t>
            </a:r>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 these regions and wine varietals produced.</a:t>
            </a:r>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 these regions and wine varietals produced.</a:t>
            </a:r>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 these regions and wine varietals produced.</a:t>
            </a:r>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 these regions and wine varietals produced.</a:t>
            </a:r>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Ask question in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 the wine making process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 the sparkling wine making process including the difference between these four methods.</a:t>
            </a:r>
            <a:endParaRPr lang="en-AU" sz="1200" b="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ion</a:t>
            </a:r>
          </a:p>
          <a:p>
            <a:endParaRPr lang="en-AU" sz="1200" b="1" baseline="0" dirty="0" smtClean="0"/>
          </a:p>
          <a:p>
            <a:pPr>
              <a:buFont typeface="Arial" pitchFamily="34" charset="0"/>
              <a:buChar char="•"/>
            </a:pPr>
            <a:r>
              <a:rPr lang="en-AU" sz="1200" b="0" baseline="0" dirty="0" smtClean="0"/>
              <a:t>Discuss possible impacts on wine production.</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ion</a:t>
            </a:r>
          </a:p>
          <a:p>
            <a:endParaRPr lang="en-AU" sz="1200" b="1" baseline="0" dirty="0" smtClean="0"/>
          </a:p>
          <a:p>
            <a:pPr>
              <a:buFont typeface="Arial" pitchFamily="34" charset="0"/>
              <a:buChar char="•"/>
            </a:pPr>
            <a:r>
              <a:rPr lang="en-AU" sz="1200" b="0" baseline="0" dirty="0" smtClean="0"/>
              <a:t>Discuss how these impact on wine </a:t>
            </a:r>
            <a:r>
              <a:rPr lang="en-AU" sz="1200" b="0" baseline="0" dirty="0" smtClean="0"/>
              <a:t>production.</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ion</a:t>
            </a:r>
          </a:p>
          <a:p>
            <a:endParaRPr lang="en-AU" sz="1200" b="1" baseline="0" dirty="0" smtClean="0"/>
          </a:p>
          <a:p>
            <a:pPr>
              <a:buFont typeface="Arial" pitchFamily="34" charset="0"/>
              <a:buChar char="•"/>
            </a:pPr>
            <a:r>
              <a:rPr lang="en-AU" sz="1200" b="0" baseline="0" dirty="0" smtClean="0"/>
              <a:t>Discuss how these climatic impacts affect wine </a:t>
            </a:r>
            <a:r>
              <a:rPr lang="en-AU" sz="1200" b="0" baseline="0" dirty="0" smtClean="0"/>
              <a:t>production.</a:t>
            </a:r>
            <a:endParaRPr lang="en-AU" sz="1200"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ion about winemaking influences</a:t>
            </a:r>
          </a:p>
          <a:p>
            <a:endParaRPr lang="en-AU" sz="1200" b="1" baseline="0" dirty="0" smtClean="0"/>
          </a:p>
          <a:p>
            <a:pPr lvl="0">
              <a:buFont typeface="Arial" pitchFamily="34" charset="0"/>
              <a:buChar char="•"/>
            </a:pPr>
            <a:r>
              <a:rPr lang="en-AU" sz="1200" kern="1200" dirty="0" smtClean="0">
                <a:solidFill>
                  <a:schemeClr val="tx1"/>
                </a:solidFill>
                <a:latin typeface="+mn-lt"/>
                <a:ea typeface="+mn-ea"/>
                <a:cs typeface="+mn-cs"/>
              </a:rPr>
              <a:t>Maceration - To macerate is to soften by soaking, and maceration is the process by which the red wine receives its red colour</a:t>
            </a:r>
          </a:p>
          <a:p>
            <a:pPr lvl="0">
              <a:buFont typeface="Arial" pitchFamily="34" charset="0"/>
              <a:buChar char="•"/>
            </a:pPr>
            <a:r>
              <a:rPr lang="en-AU" sz="1200" kern="1200" dirty="0" smtClean="0">
                <a:solidFill>
                  <a:schemeClr val="tx1"/>
                </a:solidFill>
                <a:latin typeface="+mn-lt"/>
                <a:ea typeface="+mn-ea"/>
                <a:cs typeface="+mn-cs"/>
              </a:rPr>
              <a:t>Cold fermentation – used to help control temperatures, especially in hot climates, during the fermentation process</a:t>
            </a:r>
          </a:p>
          <a:p>
            <a:pPr lvl="0">
              <a:buFont typeface="Arial" pitchFamily="34" charset="0"/>
              <a:buChar char="•"/>
            </a:pPr>
            <a:r>
              <a:rPr lang="en-AU" sz="1200" kern="1200" dirty="0" smtClean="0">
                <a:solidFill>
                  <a:schemeClr val="tx1"/>
                </a:solidFill>
                <a:latin typeface="+mn-lt"/>
                <a:ea typeface="+mn-ea"/>
                <a:cs typeface="+mn-cs"/>
              </a:rPr>
              <a:t>Barrel fermentation - Barrel fermentation is the process of letting grape juice sit in a large wooden barrel (usually oak), during which time yeast turns the sugar in the grapes into alcohol and the juice is converted into </a:t>
            </a:r>
            <a:r>
              <a:rPr lang="en-AU" sz="1200" kern="1200" dirty="0" smtClean="0">
                <a:solidFill>
                  <a:schemeClr val="tx1"/>
                </a:solidFill>
                <a:latin typeface="+mn-lt"/>
                <a:ea typeface="+mn-ea"/>
                <a:cs typeface="+mn-cs"/>
              </a:rPr>
              <a:t>wine</a:t>
            </a:r>
            <a:endParaRPr lang="en-AU" sz="1200" kern="1200" dirty="0" smtClean="0">
              <a:solidFill>
                <a:schemeClr val="tx1"/>
              </a:solidFill>
              <a:latin typeface="+mn-lt"/>
              <a:ea typeface="+mn-ea"/>
              <a:cs typeface="+mn-cs"/>
            </a:endParaRPr>
          </a:p>
          <a:p>
            <a:pPr lvl="0">
              <a:buFont typeface="Arial" pitchFamily="34" charset="0"/>
              <a:buChar char="•"/>
            </a:pPr>
            <a:r>
              <a:rPr lang="en-AU" sz="1200" kern="1200" dirty="0" smtClean="0">
                <a:solidFill>
                  <a:schemeClr val="tx1"/>
                </a:solidFill>
                <a:latin typeface="+mn-lt"/>
                <a:ea typeface="+mn-ea"/>
                <a:cs typeface="+mn-cs"/>
              </a:rPr>
              <a:t>Use of oak – adds flavour, smoothness and vanilla, buttery characteristics in wine. This is achieved through contact with oak either in barrels or in ‘chips or shavings’</a:t>
            </a:r>
          </a:p>
          <a:p>
            <a:pPr lvl="0">
              <a:buFont typeface="Arial" pitchFamily="34" charset="0"/>
              <a:buChar char="•"/>
            </a:pPr>
            <a:r>
              <a:rPr lang="en-AU" sz="1200" kern="1200" dirty="0" smtClean="0">
                <a:solidFill>
                  <a:schemeClr val="tx1"/>
                </a:solidFill>
                <a:latin typeface="+mn-lt"/>
                <a:ea typeface="+mn-ea"/>
                <a:cs typeface="+mn-cs"/>
              </a:rPr>
              <a:t>Ageing – wine is left to mature leading to smoother, deeper and more complex </a:t>
            </a:r>
            <a:r>
              <a:rPr lang="en-AU" sz="1200" kern="1200" dirty="0" smtClean="0">
                <a:solidFill>
                  <a:schemeClr val="tx1"/>
                </a:solidFill>
                <a:latin typeface="+mn-lt"/>
                <a:ea typeface="+mn-ea"/>
                <a:cs typeface="+mn-cs"/>
              </a:rPr>
              <a:t>characteristics.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ion about winemaking influences</a:t>
            </a:r>
          </a:p>
          <a:p>
            <a:endParaRPr lang="en-AU" sz="1200" b="1" baseline="0" dirty="0" smtClean="0"/>
          </a:p>
          <a:p>
            <a:pPr lvl="0">
              <a:buFont typeface="Arial" pitchFamily="34" charset="0"/>
              <a:buChar char="•"/>
            </a:pPr>
            <a:r>
              <a:rPr lang="en-AU" sz="1200" kern="1200" dirty="0" smtClean="0">
                <a:solidFill>
                  <a:schemeClr val="tx1"/>
                </a:solidFill>
                <a:latin typeface="+mn-lt"/>
                <a:ea typeface="+mn-ea"/>
                <a:cs typeface="+mn-cs"/>
              </a:rPr>
              <a:t>Malo-lactic fermentation – a process which tends to create a rounder, fuller feel in the mouth when drinking</a:t>
            </a:r>
          </a:p>
          <a:p>
            <a:pPr lvl="0">
              <a:buFont typeface="Arial" pitchFamily="34" charset="0"/>
              <a:buChar char="•"/>
            </a:pPr>
            <a:r>
              <a:rPr lang="en-AU" sz="1200" kern="1200" dirty="0" smtClean="0">
                <a:solidFill>
                  <a:schemeClr val="tx1"/>
                </a:solidFill>
                <a:latin typeface="+mn-lt"/>
                <a:ea typeface="+mn-ea"/>
                <a:cs typeface="+mn-cs"/>
              </a:rPr>
              <a:t>Reduced alcohol wines – an alternative to attract different market segments</a:t>
            </a:r>
          </a:p>
          <a:p>
            <a:pPr lvl="0">
              <a:buFont typeface="Arial" pitchFamily="34" charset="0"/>
              <a:buChar char="•"/>
            </a:pPr>
            <a:r>
              <a:rPr lang="en-AU" sz="1200" kern="1200" dirty="0" smtClean="0">
                <a:solidFill>
                  <a:schemeClr val="tx1"/>
                </a:solidFill>
                <a:latin typeface="+mn-lt"/>
                <a:ea typeface="+mn-ea"/>
                <a:cs typeface="+mn-cs"/>
              </a:rPr>
              <a:t>Various viticulture techniques </a:t>
            </a:r>
          </a:p>
          <a:p>
            <a:pPr lvl="0">
              <a:buFont typeface="Arial" pitchFamily="34" charset="0"/>
              <a:buChar char="•"/>
            </a:pPr>
            <a:r>
              <a:rPr lang="en-AU" sz="1200" kern="1200" dirty="0" smtClean="0">
                <a:solidFill>
                  <a:schemeClr val="tx1"/>
                </a:solidFill>
                <a:latin typeface="+mn-lt"/>
                <a:ea typeface="+mn-ea"/>
                <a:cs typeface="+mn-cs"/>
              </a:rPr>
              <a:t>Alternative methods for the production of sparkling wines, including - Méthode Champenoise, transfer method, bulk method, injection method. These have been mentioned in the previous section.</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Demonstration</a:t>
            </a:r>
          </a:p>
          <a:p>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Trainer</a:t>
            </a:r>
            <a:r>
              <a:rPr lang="en-AU" sz="1200" b="0" kern="1200" baseline="0" dirty="0" smtClean="0">
                <a:solidFill>
                  <a:schemeClr val="tx1"/>
                </a:solidFill>
                <a:latin typeface="+mn-lt"/>
                <a:ea typeface="+mn-ea"/>
                <a:cs typeface="+mn-cs"/>
              </a:rPr>
              <a:t> to hand out bottles to audience and get them to explain what information is contained on the bottle label.</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 information contained on label</a:t>
            </a:r>
            <a:endParaRPr lang="en-AU" sz="1200" b="1" dirty="0" smtClean="0"/>
          </a:p>
          <a:p>
            <a:endParaRPr lang="en-AU" sz="1200" b="1" kern="1200" dirty="0" smtClean="0">
              <a:solidFill>
                <a:schemeClr val="tx1"/>
              </a:solidFill>
              <a:latin typeface="+mn-lt"/>
              <a:ea typeface="+mn-ea"/>
              <a:cs typeface="+mn-cs"/>
            </a:endParaRPr>
          </a:p>
          <a:p>
            <a:pPr lvl="0">
              <a:buFont typeface="Arial" pitchFamily="34" charset="0"/>
              <a:buChar char="•"/>
            </a:pPr>
            <a:r>
              <a:rPr lang="en-AU" sz="1200" dirty="0" smtClean="0"/>
              <a:t>Vineyard – name of the wine producer. This indicates expected wine quality and guarantee of consistency.</a:t>
            </a:r>
          </a:p>
          <a:p>
            <a:pPr lvl="0">
              <a:buFont typeface="Arial" pitchFamily="34" charset="0"/>
              <a:buChar char="•"/>
            </a:pPr>
            <a:r>
              <a:rPr lang="en-AU" sz="1200" dirty="0" smtClean="0"/>
              <a:t>Grape variety - tells you the most about the body and complexity of the wine. For example, Cabernet Sauvignon is full-bodied, intense, and tannic. As mentioned, the characteristics of different grape varieties will be explained later in this manual.</a:t>
            </a:r>
          </a:p>
          <a:p>
            <a:pPr lvl="0">
              <a:buFont typeface="Arial" pitchFamily="34" charset="0"/>
              <a:buChar char="•"/>
            </a:pPr>
            <a:r>
              <a:rPr lang="en-AU" sz="1200" dirty="0" smtClean="0"/>
              <a:t>Region – where the wine was produced. It helps to identify the expected style, intensity, and flavour.</a:t>
            </a:r>
          </a:p>
          <a:p>
            <a:pPr lvl="0">
              <a:buFont typeface="Arial" pitchFamily="34" charset="0"/>
              <a:buChar char="•"/>
            </a:pPr>
            <a:r>
              <a:rPr lang="en-AU" sz="1200" dirty="0" smtClean="0"/>
              <a:t>Country – again, notes where the wine has been produced</a:t>
            </a:r>
          </a:p>
          <a:p>
            <a:pPr lvl="0">
              <a:buFont typeface="Arial" pitchFamily="34" charset="0"/>
              <a:buChar char="•"/>
            </a:pPr>
            <a:r>
              <a:rPr lang="en-AU" sz="1200" dirty="0" smtClean="0"/>
              <a:t>Vintage - or the year the wine is produced. This helps to reveal the best time to drink the wine.</a:t>
            </a:r>
          </a:p>
          <a:p>
            <a:pPr>
              <a:buFont typeface="Arial" pitchFamily="34" charset="0"/>
              <a:buChar char="•"/>
            </a:pPr>
            <a:r>
              <a:rPr lang="en-AU" sz="1200" dirty="0" smtClean="0"/>
              <a:t>Alcohol content </a:t>
            </a:r>
            <a:endParaRPr lang="en-AU" sz="120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baseline="0" dirty="0" smtClean="0">
                <a:solidFill>
                  <a:schemeClr val="tx1"/>
                </a:solidFill>
                <a:latin typeface="+mn-lt"/>
                <a:ea typeface="+mn-ea"/>
                <a:cs typeface="+mn-cs"/>
              </a:rPr>
              <a:t>Where is wine normally stored?</a:t>
            </a:r>
          </a:p>
          <a:p>
            <a:pPr>
              <a:buFont typeface="Arial" pitchFamily="34" charset="0"/>
              <a:buChar char="•"/>
            </a:pPr>
            <a:r>
              <a:rPr lang="en-AU" sz="1200" kern="1200" baseline="0" dirty="0" smtClean="0">
                <a:solidFill>
                  <a:schemeClr val="tx1"/>
                </a:solidFill>
                <a:latin typeface="+mn-lt"/>
                <a:ea typeface="+mn-ea"/>
                <a:cs typeface="+mn-cs"/>
              </a:rPr>
              <a:t>What are considerations when storing wine?</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question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importance of these points when storing </a:t>
            </a:r>
            <a:r>
              <a:rPr lang="en-AU" sz="1200" kern="1200" baseline="0" dirty="0" smtClean="0">
                <a:solidFill>
                  <a:schemeClr val="tx1"/>
                </a:solidFill>
                <a:latin typeface="+mn-lt"/>
                <a:ea typeface="+mn-ea"/>
                <a:cs typeface="+mn-cs"/>
              </a:rPr>
              <a:t>wine.</a:t>
            </a: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importance of these points when developing a wine storage </a:t>
            </a:r>
            <a:r>
              <a:rPr lang="en-AU" sz="1200" kern="1200" baseline="0" dirty="0" smtClean="0">
                <a:solidFill>
                  <a:schemeClr val="tx1"/>
                </a:solidFill>
                <a:latin typeface="+mn-lt"/>
                <a:ea typeface="+mn-ea"/>
                <a:cs typeface="+mn-cs"/>
              </a:rPr>
              <a:t>facility.</a:t>
            </a: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 importance of these points when developing a wine storage </a:t>
            </a:r>
            <a:r>
              <a:rPr lang="en-AU" sz="1200" kern="1200" baseline="0" dirty="0" smtClean="0">
                <a:solidFill>
                  <a:schemeClr val="tx1"/>
                </a:solidFill>
                <a:latin typeface="+mn-lt"/>
                <a:ea typeface="+mn-ea"/>
                <a:cs typeface="+mn-cs"/>
              </a:rPr>
              <a:t>facility.</a:t>
            </a: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you promote wines using these two methods?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are these methods beneficial?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are these methods beneficial?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 &amp; 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is the difference between these types of </a:t>
            </a:r>
            <a:r>
              <a:rPr lang="en-AU" sz="1200" kern="1200" baseline="0" dirty="0" smtClean="0">
                <a:solidFill>
                  <a:schemeClr val="tx1"/>
                </a:solidFill>
                <a:latin typeface="+mn-lt"/>
                <a:ea typeface="+mn-ea"/>
                <a:cs typeface="+mn-cs"/>
              </a:rPr>
              <a:t>selling?</a:t>
            </a: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to get the audience to break up in pairs and role play using each of these selling techniques.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Discuss these wine storage techniques.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What else can you do to monitor wine condition?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Who should be in charge of this?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often should it be done?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Why are these points important?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How can you get wines to these temperatures?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dirty="0" smtClean="0">
                <a:solidFill>
                  <a:schemeClr val="tx1"/>
                </a:solidFill>
                <a:latin typeface="+mn-lt"/>
                <a:ea typeface="+mn-ea"/>
                <a:cs typeface="+mn-cs"/>
              </a:rPr>
              <a:t>What are good</a:t>
            </a:r>
            <a:r>
              <a:rPr lang="en-AU" sz="1200" kern="1200" baseline="0" dirty="0" smtClean="0">
                <a:solidFill>
                  <a:schemeClr val="tx1"/>
                </a:solidFill>
                <a:latin typeface="+mn-lt"/>
                <a:ea typeface="+mn-ea"/>
                <a:cs typeface="+mn-cs"/>
              </a:rPr>
              <a:t> ways to appraise </a:t>
            </a:r>
            <a:r>
              <a:rPr lang="en-AU" sz="1200" kern="1200" baseline="0" dirty="0" smtClean="0">
                <a:solidFill>
                  <a:schemeClr val="tx1"/>
                </a:solidFill>
                <a:latin typeface="+mn-lt"/>
                <a:ea typeface="+mn-ea"/>
                <a:cs typeface="+mn-cs"/>
              </a:rPr>
              <a:t>wines?</a:t>
            </a:r>
            <a:endParaRPr lang="en-AU" sz="1200" kern="1200" baseline="0" dirty="0" smtClean="0">
              <a:solidFill>
                <a:schemeClr val="tx1"/>
              </a:solidFill>
              <a:latin typeface="+mn-lt"/>
              <a:ea typeface="+mn-ea"/>
              <a:cs typeface="+mn-cs"/>
            </a:endParaRPr>
          </a:p>
          <a:p>
            <a:pPr>
              <a:buFont typeface="Arial" pitchFamily="34" charset="0"/>
              <a:buChar char="•"/>
            </a:pPr>
            <a:r>
              <a:rPr lang="en-AU" sz="1200" kern="1200" baseline="0" dirty="0" smtClean="0">
                <a:solidFill>
                  <a:schemeClr val="tx1"/>
                </a:solidFill>
                <a:latin typeface="+mn-lt"/>
                <a:ea typeface="+mn-ea"/>
                <a:cs typeface="+mn-cs"/>
              </a:rPr>
              <a:t>What happens during a wine tasting?</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Have you undertaken a wine tasting before?</a:t>
            </a:r>
          </a:p>
          <a:p>
            <a:pPr>
              <a:buFont typeface="Arial" pitchFamily="34" charset="0"/>
              <a:buChar char="•"/>
            </a:pPr>
            <a:r>
              <a:rPr lang="en-AU" sz="1200" b="0" baseline="0" dirty="0" smtClean="0"/>
              <a:t>Why are they helpful?</a:t>
            </a: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Why do you do this?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baseline="0" dirty="0" smtClean="0"/>
              <a:t>What else can you do to </a:t>
            </a:r>
            <a:r>
              <a:rPr lang="en-AU" sz="1200" b="0" baseline="0" dirty="0" smtClean="0">
                <a:latin typeface="Helvetica" pitchFamily="34" charset="0"/>
              </a:rPr>
              <a:t>c</a:t>
            </a:r>
            <a:r>
              <a:rPr lang="en-AU" sz="1200" b="0" dirty="0" smtClean="0">
                <a:latin typeface="Helvetica" pitchFamily="34" charset="0"/>
              </a:rPr>
              <a:t>reate favourable conditions?</a:t>
            </a:r>
          </a:p>
          <a:p>
            <a:pPr>
              <a:buFont typeface="Arial" pitchFamily="34" charset="0"/>
              <a:buChar char="•"/>
            </a:pP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These are warmer than serving temperatures when customers order a wine. Why?</a:t>
            </a:r>
            <a:endParaRPr lang="en-AU" sz="1200" b="0" dirty="0" smtClean="0">
              <a:latin typeface="Helvetica" pitchFamily="34" charset="0"/>
            </a:endParaRPr>
          </a:p>
          <a:p>
            <a:pPr>
              <a:buFont typeface="Arial" pitchFamily="34" charset="0"/>
              <a:buChar char="•"/>
            </a:pP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Why are these SOPs important?</a:t>
            </a:r>
          </a:p>
          <a:p>
            <a:pPr>
              <a:buFont typeface="Arial" pitchFamily="34" charset="0"/>
              <a:buChar char="•"/>
            </a:pPr>
            <a:r>
              <a:rPr lang="en-AU" sz="1200" b="0" baseline="0" dirty="0" smtClean="0">
                <a:latin typeface="Helvetica" pitchFamily="34" charset="0"/>
              </a:rPr>
              <a:t>What other SOPs may influence wine tastings?</a:t>
            </a:r>
            <a:endParaRPr lang="en-AU" sz="1200" b="0" dirty="0" smtClean="0">
              <a:latin typeface="Helvetica" pitchFamily="34" charset="0"/>
            </a:endParaRPr>
          </a:p>
          <a:p>
            <a:pPr>
              <a:buFont typeface="Arial" pitchFamily="34" charset="0"/>
              <a:buChar char="•"/>
            </a:pP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What is associated in each of these activities?</a:t>
            </a:r>
            <a:endParaRPr lang="en-AU" sz="1200" b="0" dirty="0" smtClean="0">
              <a:latin typeface="Helvetica" pitchFamily="34" charset="0"/>
            </a:endParaRPr>
          </a:p>
          <a:p>
            <a:pPr>
              <a:buFont typeface="Arial" pitchFamily="34" charset="0"/>
              <a:buChar char="•"/>
            </a:pP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What sequence options exist?</a:t>
            </a:r>
            <a:endParaRPr lang="en-AU" sz="1200" b="0" dirty="0" smtClean="0">
              <a:latin typeface="Helvetica" pitchFamily="34" charset="0"/>
            </a:endParaRPr>
          </a:p>
          <a:p>
            <a:pPr>
              <a:buFont typeface="Arial" pitchFamily="34" charset="0"/>
              <a:buChar char="•"/>
            </a:pP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Why should they be done in this order?</a:t>
            </a:r>
            <a:endParaRPr lang="en-AU" sz="1200" b="0" dirty="0" smtClean="0">
              <a:latin typeface="Helvetica" pitchFamily="34" charset="0"/>
            </a:endParaRPr>
          </a:p>
          <a:p>
            <a:pPr>
              <a:buFont typeface="Arial" pitchFamily="34" charset="0"/>
              <a:buChar char="•"/>
            </a:pP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What is the difference between these types of tastings?</a:t>
            </a:r>
            <a:endParaRPr lang="en-AU" sz="1200" b="0" dirty="0" smtClean="0">
              <a:latin typeface="Helvetica" pitchFamily="34" charset="0"/>
            </a:endParaRPr>
          </a:p>
          <a:p>
            <a:pPr>
              <a:buFont typeface="Arial" pitchFamily="34" charset="0"/>
              <a:buChar char="•"/>
            </a:pP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What is the difference?</a:t>
            </a:r>
          </a:p>
          <a:p>
            <a:pPr>
              <a:buFont typeface="Arial" pitchFamily="34" charset="0"/>
              <a:buChar char="•"/>
            </a:pPr>
            <a:r>
              <a:rPr lang="en-AU" sz="1200" b="0" baseline="0" dirty="0" smtClean="0"/>
              <a:t>Why are each important?</a:t>
            </a: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 the wine tasting process and conduct a wine tasting if </a:t>
            </a:r>
            <a:r>
              <a:rPr lang="en-AU" sz="1200" b="1" baseline="0" dirty="0" smtClean="0"/>
              <a:t>possible.</a:t>
            </a:r>
            <a:endParaRPr lang="en-AU" sz="1200" b="1" baseline="0" dirty="0" smtClean="0"/>
          </a:p>
          <a:p>
            <a:endParaRPr lang="en-AU" sz="1200" b="1" baseline="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 the wine tasting process and conduct a wine tasting if </a:t>
            </a:r>
            <a:r>
              <a:rPr lang="en-AU" sz="1200" b="1" baseline="0" dirty="0" smtClean="0"/>
              <a:t>possible.</a:t>
            </a:r>
            <a:endParaRPr lang="en-AU" sz="1200" b="1" baseline="0" dirty="0" smtClean="0"/>
          </a:p>
          <a:p>
            <a:endParaRPr lang="en-AU" sz="1200" b="1" baseline="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 the wine tasting process and conduct a wine tasting if </a:t>
            </a:r>
            <a:r>
              <a:rPr lang="en-AU" sz="1200" b="1" baseline="0" dirty="0" smtClean="0"/>
              <a:t>possible.</a:t>
            </a:r>
            <a:endParaRPr lang="en-AU" sz="1200" b="1" baseline="0" dirty="0" smtClean="0"/>
          </a:p>
          <a:p>
            <a:endParaRPr lang="en-AU" sz="1200" b="1" baseline="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 the wine tasting process and conduct a wine tasting if </a:t>
            </a:r>
            <a:r>
              <a:rPr lang="en-AU" sz="1200" b="1" baseline="0" dirty="0" smtClean="0"/>
              <a:t>possible.</a:t>
            </a:r>
            <a:endParaRPr lang="en-AU" sz="1200" b="1" baseline="0" dirty="0" smtClean="0"/>
          </a:p>
          <a:p>
            <a:endParaRPr lang="en-AU" sz="1200" b="1" baseline="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a:t>
            </a:r>
          </a:p>
          <a:p>
            <a:endParaRPr lang="en-AU" sz="1200" b="1" baseline="0" dirty="0" smtClean="0"/>
          </a:p>
          <a:p>
            <a:pPr lvl="0">
              <a:buFont typeface="Arial" pitchFamily="34" charset="0"/>
              <a:buChar char="•"/>
            </a:pPr>
            <a:r>
              <a:rPr lang="en-AU" sz="1200" kern="1200" dirty="0" smtClean="0">
                <a:solidFill>
                  <a:schemeClr val="tx1"/>
                </a:solidFill>
                <a:latin typeface="+mn-lt"/>
                <a:ea typeface="+mn-ea"/>
                <a:cs typeface="+mn-cs"/>
              </a:rPr>
              <a:t>What are common yet simple terms that can</a:t>
            </a:r>
            <a:r>
              <a:rPr lang="en-AU" sz="1200" kern="1200" baseline="0" dirty="0" smtClean="0">
                <a:solidFill>
                  <a:schemeClr val="tx1"/>
                </a:solidFill>
                <a:latin typeface="+mn-lt"/>
                <a:ea typeface="+mn-ea"/>
                <a:cs typeface="+mn-cs"/>
              </a:rPr>
              <a:t> be used to describe characteristics of wine?</a:t>
            </a: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Hand out and explain wine wheels</a:t>
            </a:r>
          </a:p>
          <a:p>
            <a:endParaRPr lang="en-AU" sz="1200" b="1" baseline="0" dirty="0" smtClean="0"/>
          </a:p>
          <a:p>
            <a:pPr lvl="0">
              <a:buFont typeface="Arial" pitchFamily="34" charset="0"/>
              <a:buChar char="•"/>
            </a:pPr>
            <a:r>
              <a:rPr lang="en-AU" sz="1200" b="0" kern="1200" dirty="0" smtClean="0">
                <a:solidFill>
                  <a:schemeClr val="tx1"/>
                </a:solidFill>
                <a:latin typeface="+mn-lt"/>
                <a:ea typeface="+mn-ea"/>
                <a:cs typeface="+mn-cs"/>
              </a:rPr>
              <a:t>Trainer to</a:t>
            </a:r>
            <a:r>
              <a:rPr lang="en-AU" sz="1200" b="0" kern="1200" baseline="0" dirty="0" smtClean="0">
                <a:solidFill>
                  <a:schemeClr val="tx1"/>
                </a:solidFill>
                <a:latin typeface="+mn-lt"/>
                <a:ea typeface="+mn-ea"/>
                <a:cs typeface="+mn-cs"/>
              </a:rPr>
              <a:t> hand out wine </a:t>
            </a:r>
            <a:r>
              <a:rPr lang="en-AU" sz="1200" b="0" kern="1200" baseline="0" dirty="0" smtClean="0">
                <a:solidFill>
                  <a:schemeClr val="tx1"/>
                </a:solidFill>
                <a:latin typeface="+mn-lt"/>
                <a:ea typeface="+mn-ea"/>
                <a:cs typeface="+mn-cs"/>
              </a:rPr>
              <a:t>wheels</a:t>
            </a:r>
            <a:endParaRPr lang="en-AU" sz="1200" b="0" kern="1200" baseline="0" dirty="0" smtClean="0">
              <a:solidFill>
                <a:schemeClr val="tx1"/>
              </a:solidFill>
              <a:latin typeface="+mn-lt"/>
              <a:ea typeface="+mn-ea"/>
              <a:cs typeface="+mn-cs"/>
            </a:endParaRPr>
          </a:p>
          <a:p>
            <a:pPr lvl="0">
              <a:buFont typeface="Arial" pitchFamily="34" charset="0"/>
              <a:buChar char="•"/>
            </a:pPr>
            <a:r>
              <a:rPr lang="en-AU" sz="1200" b="0" kern="1200" baseline="0" dirty="0" smtClean="0">
                <a:solidFill>
                  <a:schemeClr val="tx1"/>
                </a:solidFill>
                <a:latin typeface="+mn-lt"/>
                <a:ea typeface="+mn-ea"/>
                <a:cs typeface="+mn-cs"/>
              </a:rPr>
              <a:t>These will be used during the wine tasting procedure.</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dirty="0" smtClean="0"/>
              <a:t>Discussion and recap of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t>Discuss</a:t>
            </a:r>
            <a:r>
              <a:rPr lang="en-AU" sz="1200" b="0" baseline="0" dirty="0" smtClean="0"/>
              <a:t> the common flavours of these wines?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baseline="0" dirty="0" smtClean="0"/>
              <a:t>As a recap get the audience to identify food menu items that compliment these wines.</a:t>
            </a:r>
            <a:endParaRPr lang="en-AU" sz="1200" b="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dirty="0" smtClean="0"/>
              <a:t>Discussion and recap of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t>Discuss</a:t>
            </a:r>
            <a:r>
              <a:rPr lang="en-AU" sz="1200" b="0" baseline="0" dirty="0" smtClean="0"/>
              <a:t> the common flavours of these wines?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baseline="0" dirty="0" smtClean="0"/>
              <a:t>As a recap get the audience to identify food menu items that compliment these wines.</a:t>
            </a:r>
            <a:endParaRPr lang="en-AU" sz="1200" b="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dirty="0" smtClean="0"/>
              <a:t>Discussion and recap of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t>Discuss</a:t>
            </a:r>
            <a:r>
              <a:rPr lang="en-AU" sz="1200" b="0" baseline="0" dirty="0" smtClean="0"/>
              <a:t> the common flavours of these wines?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baseline="0" dirty="0" smtClean="0"/>
              <a:t>As a recap get the audience to identify food menu items that compliment these wines.</a:t>
            </a:r>
            <a:endParaRPr lang="en-AU" sz="1200" b="0"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a:buFont typeface="Arial" pitchFamily="34" charset="0"/>
              <a:buChar char="•"/>
            </a:pPr>
            <a:r>
              <a:rPr lang="en-AU" sz="1200" b="0" baseline="0" dirty="0" smtClean="0">
                <a:latin typeface="Helvetica" pitchFamily="34" charset="0"/>
              </a:rPr>
              <a:t>Taste this grape </a:t>
            </a:r>
            <a:r>
              <a:rPr lang="en-AU" sz="1200" b="0" baseline="0" dirty="0" smtClean="0">
                <a:latin typeface="Helvetica" pitchFamily="34" charset="0"/>
              </a:rPr>
              <a:t>varietal</a:t>
            </a:r>
            <a:endParaRPr lang="en-AU" sz="1200" b="0" baseline="0" dirty="0" smtClean="0">
              <a:latin typeface="Helvetica" pitchFamily="34" charset="0"/>
            </a:endParaRPr>
          </a:p>
          <a:p>
            <a:pPr>
              <a:buFont typeface="Arial" pitchFamily="34" charset="0"/>
              <a:buChar char="•"/>
            </a:pPr>
            <a:r>
              <a:rPr lang="en-AU" sz="1200" b="0" baseline="0" dirty="0" smtClean="0">
                <a:latin typeface="Helvetica" pitchFamily="34" charset="0"/>
              </a:rPr>
              <a:t>Identify characteristics.</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a:buFont typeface="Arial" pitchFamily="34" charset="0"/>
              <a:buChar char="•"/>
            </a:pPr>
            <a:r>
              <a:rPr lang="en-AU" sz="1200" b="0" baseline="0" dirty="0" smtClean="0">
                <a:latin typeface="Helvetica" pitchFamily="34" charset="0"/>
              </a:rPr>
              <a:t>Taste this grape </a:t>
            </a:r>
            <a:r>
              <a:rPr lang="en-AU" sz="1200" b="0" baseline="0" dirty="0" smtClean="0">
                <a:latin typeface="Helvetica" pitchFamily="34" charset="0"/>
              </a:rPr>
              <a:t>varietal</a:t>
            </a:r>
            <a:endParaRPr lang="en-AU" sz="1200" b="0" baseline="0" dirty="0" smtClean="0">
              <a:latin typeface="Helvetica" pitchFamily="34" charset="0"/>
            </a:endParaRPr>
          </a:p>
          <a:p>
            <a:pPr>
              <a:buFont typeface="Arial" pitchFamily="34" charset="0"/>
              <a:buChar char="•"/>
            </a:pPr>
            <a:r>
              <a:rPr lang="en-AU" sz="1200" b="0" baseline="0" dirty="0" smtClean="0">
                <a:latin typeface="Helvetica" pitchFamily="34" charset="0"/>
              </a:rPr>
              <a:t>Identify characteristics.</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a:buFont typeface="Arial" pitchFamily="34" charset="0"/>
              <a:buChar char="•"/>
            </a:pPr>
            <a:r>
              <a:rPr lang="en-AU" sz="1200" b="0" baseline="0" dirty="0" smtClean="0">
                <a:latin typeface="Helvetica" pitchFamily="34" charset="0"/>
              </a:rPr>
              <a:t>Taste this grape </a:t>
            </a:r>
            <a:r>
              <a:rPr lang="en-AU" sz="1200" b="0" baseline="0" dirty="0" smtClean="0">
                <a:latin typeface="Helvetica" pitchFamily="34" charset="0"/>
              </a:rPr>
              <a:t>varietal</a:t>
            </a:r>
            <a:endParaRPr lang="en-AU" sz="1200" b="0" baseline="0" dirty="0" smtClean="0">
              <a:latin typeface="Helvetica" pitchFamily="34" charset="0"/>
            </a:endParaRPr>
          </a:p>
          <a:p>
            <a:pPr>
              <a:buFont typeface="Arial" pitchFamily="34" charset="0"/>
              <a:buChar char="•"/>
            </a:pPr>
            <a:r>
              <a:rPr lang="en-AU" sz="1200" b="0" baseline="0" dirty="0" smtClean="0">
                <a:latin typeface="Helvetica" pitchFamily="34" charset="0"/>
              </a:rPr>
              <a:t>Identify characteristics.</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a:buFont typeface="Arial" pitchFamily="34" charset="0"/>
              <a:buChar char="•"/>
            </a:pPr>
            <a:r>
              <a:rPr lang="en-AU" sz="1200" b="0" baseline="0" dirty="0" smtClean="0">
                <a:latin typeface="Helvetica" pitchFamily="34" charset="0"/>
              </a:rPr>
              <a:t>Taste this grape </a:t>
            </a:r>
            <a:r>
              <a:rPr lang="en-AU" sz="1200" b="0" baseline="0" dirty="0" smtClean="0">
                <a:latin typeface="Helvetica" pitchFamily="34" charset="0"/>
              </a:rPr>
              <a:t>varietal</a:t>
            </a:r>
            <a:endParaRPr lang="en-AU" sz="1200" b="0" baseline="0" dirty="0" smtClean="0">
              <a:latin typeface="Helvetica" pitchFamily="34" charset="0"/>
            </a:endParaRPr>
          </a:p>
          <a:p>
            <a:pPr>
              <a:buFont typeface="Arial" pitchFamily="34" charset="0"/>
              <a:buChar char="•"/>
            </a:pPr>
            <a:r>
              <a:rPr lang="en-AU" sz="1200" b="0" baseline="0" dirty="0" smtClean="0">
                <a:latin typeface="Helvetica" pitchFamily="34" charset="0"/>
              </a:rPr>
              <a:t>Identify characteristics.</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a:buFont typeface="Arial" pitchFamily="34" charset="0"/>
              <a:buChar char="•"/>
            </a:pPr>
            <a:r>
              <a:rPr lang="en-AU" sz="1200" b="0" baseline="0" dirty="0" smtClean="0">
                <a:latin typeface="Helvetica" pitchFamily="34" charset="0"/>
              </a:rPr>
              <a:t>Taste this grape </a:t>
            </a:r>
            <a:r>
              <a:rPr lang="en-AU" sz="1200" b="0" baseline="0" dirty="0" smtClean="0">
                <a:latin typeface="Helvetica" pitchFamily="34" charset="0"/>
              </a:rPr>
              <a:t>varietal</a:t>
            </a:r>
            <a:endParaRPr lang="en-AU" sz="1200" b="0" baseline="0" dirty="0" smtClean="0">
              <a:latin typeface="Helvetica" pitchFamily="34" charset="0"/>
            </a:endParaRPr>
          </a:p>
          <a:p>
            <a:pPr>
              <a:buFont typeface="Arial" pitchFamily="34" charset="0"/>
              <a:buChar char="•"/>
            </a:pPr>
            <a:r>
              <a:rPr lang="en-AU" sz="1200" b="0" baseline="0" dirty="0" smtClean="0">
                <a:latin typeface="Helvetica" pitchFamily="34" charset="0"/>
              </a:rPr>
              <a:t>Identify characteristics.</a:t>
            </a:r>
            <a:endParaRPr lang="en-AU" sz="1200" b="0"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Refer to manual </a:t>
            </a:r>
          </a:p>
          <a:p>
            <a:endParaRPr lang="en-AU" sz="1200" b="1" baseline="0" dirty="0" smtClean="0"/>
          </a:p>
          <a:p>
            <a:pPr lvl="0">
              <a:buFont typeface="Arial" pitchFamily="34" charset="0"/>
              <a:buChar char="•"/>
            </a:pPr>
            <a:r>
              <a:rPr lang="en-AU" sz="1200" kern="1200" dirty="0" smtClean="0">
                <a:solidFill>
                  <a:schemeClr val="tx1"/>
                </a:solidFill>
                <a:latin typeface="+mn-lt"/>
                <a:ea typeface="+mn-ea"/>
                <a:cs typeface="+mn-cs"/>
              </a:rPr>
              <a:t>Refer to</a:t>
            </a:r>
            <a:r>
              <a:rPr lang="en-AU" sz="1200" kern="1200" baseline="0" dirty="0" smtClean="0">
                <a:solidFill>
                  <a:schemeClr val="tx1"/>
                </a:solidFill>
                <a:latin typeface="+mn-lt"/>
                <a:ea typeface="+mn-ea"/>
                <a:cs typeface="+mn-cs"/>
              </a:rPr>
              <a:t> the manual and discuss the different description terms identified in the glossary </a:t>
            </a:r>
          </a:p>
          <a:p>
            <a:pPr lvl="0">
              <a:buFont typeface="Arial" pitchFamily="34" charset="0"/>
              <a:buChar char="•"/>
            </a:pPr>
            <a:r>
              <a:rPr lang="en-AU" sz="1200" b="0" kern="1200" baseline="0" dirty="0" smtClean="0">
                <a:solidFill>
                  <a:schemeClr val="tx1"/>
                </a:solidFill>
                <a:latin typeface="+mn-lt"/>
                <a:ea typeface="+mn-ea"/>
                <a:cs typeface="+mn-cs"/>
              </a:rPr>
              <a:t>Get the audience to role play describing wines form a particular wine list, also identifying its region and suitable foods it can be matched with.</a:t>
            </a: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r>
              <a:rPr lang="en-AU" sz="1200" b="0" baseline="0" dirty="0" smtClean="0"/>
              <a:t>Discuss the questions in the slide whilst conducting wine </a:t>
            </a:r>
            <a:r>
              <a:rPr lang="en-AU" sz="1200" b="0" baseline="0" dirty="0" smtClean="0"/>
              <a:t>tasting.</a:t>
            </a:r>
            <a:endParaRPr lang="en-AU" sz="1200" b="0" baseline="0" dirty="0" smtClean="0"/>
          </a:p>
          <a:p>
            <a:endParaRPr lang="en-AU" sz="1200" b="1" baseline="0" dirty="0" smtClean="0"/>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lvl="0">
              <a:buFont typeface="Arial" pitchFamily="34" charset="0"/>
              <a:buChar char="•"/>
            </a:pPr>
            <a:r>
              <a:rPr lang="en-AU" sz="1200" kern="1200" dirty="0" smtClean="0">
                <a:solidFill>
                  <a:schemeClr val="tx1"/>
                </a:solidFill>
                <a:latin typeface="+mn-lt"/>
                <a:ea typeface="+mn-ea"/>
                <a:cs typeface="+mn-cs"/>
              </a:rPr>
              <a:t>Look at different wines and identify the most appropriate</a:t>
            </a:r>
            <a:r>
              <a:rPr lang="en-AU" sz="1200" kern="1200" baseline="0" dirty="0" smtClean="0">
                <a:solidFill>
                  <a:schemeClr val="tx1"/>
                </a:solidFill>
                <a:latin typeface="+mn-lt"/>
                <a:ea typeface="+mn-ea"/>
                <a:cs typeface="+mn-cs"/>
              </a:rPr>
              <a:t> </a:t>
            </a:r>
            <a:r>
              <a:rPr lang="en-AU" sz="1200" kern="1200" baseline="0" dirty="0" smtClean="0">
                <a:solidFill>
                  <a:schemeClr val="tx1"/>
                </a:solidFill>
                <a:latin typeface="+mn-lt"/>
                <a:ea typeface="+mn-ea"/>
                <a:cs typeface="+mn-cs"/>
              </a:rPr>
              <a:t>colour.</a:t>
            </a:r>
            <a:endParaRPr lang="en-AU" sz="1200" b="0" kern="1200" baseline="0" dirty="0" smtClean="0">
              <a:solidFill>
                <a:schemeClr val="tx1"/>
              </a:solidFill>
              <a:latin typeface="+mn-lt"/>
              <a:ea typeface="+mn-ea"/>
              <a:cs typeface="+mn-cs"/>
            </a:endParaRP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lvl="0">
              <a:buFont typeface="Arial" pitchFamily="34" charset="0"/>
              <a:buChar char="•"/>
            </a:pPr>
            <a:r>
              <a:rPr lang="en-AU" sz="1200" kern="1200" dirty="0" smtClean="0">
                <a:solidFill>
                  <a:schemeClr val="tx1"/>
                </a:solidFill>
                <a:latin typeface="+mn-lt"/>
                <a:ea typeface="+mn-ea"/>
                <a:cs typeface="+mn-cs"/>
              </a:rPr>
              <a:t>Look at different wines and identify the most appropriate</a:t>
            </a:r>
            <a:r>
              <a:rPr lang="en-AU" sz="1200" kern="1200" baseline="0" dirty="0" smtClean="0">
                <a:solidFill>
                  <a:schemeClr val="tx1"/>
                </a:solidFill>
                <a:latin typeface="+mn-lt"/>
                <a:ea typeface="+mn-ea"/>
                <a:cs typeface="+mn-cs"/>
              </a:rPr>
              <a:t> </a:t>
            </a:r>
            <a:r>
              <a:rPr lang="en-AU" sz="1200" kern="1200" baseline="0" dirty="0" smtClean="0">
                <a:solidFill>
                  <a:schemeClr val="tx1"/>
                </a:solidFill>
                <a:latin typeface="+mn-lt"/>
                <a:ea typeface="+mn-ea"/>
                <a:cs typeface="+mn-cs"/>
              </a:rPr>
              <a:t>colour.</a:t>
            </a:r>
            <a:endParaRPr lang="en-AU" sz="1200" b="0" kern="1200" baseline="0" dirty="0" smtClean="0">
              <a:solidFill>
                <a:schemeClr val="tx1"/>
              </a:solidFill>
              <a:latin typeface="+mn-lt"/>
              <a:ea typeface="+mn-ea"/>
              <a:cs typeface="+mn-cs"/>
            </a:endParaRP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lvl="0">
              <a:buFont typeface="Arial" pitchFamily="34" charset="0"/>
              <a:buChar char="•"/>
            </a:pPr>
            <a:r>
              <a:rPr lang="en-AU" sz="1200" kern="1200" dirty="0" smtClean="0">
                <a:solidFill>
                  <a:schemeClr val="tx1"/>
                </a:solidFill>
                <a:latin typeface="+mn-lt"/>
                <a:ea typeface="+mn-ea"/>
                <a:cs typeface="+mn-cs"/>
              </a:rPr>
              <a:t>Look at different wines and identify the most appropriate</a:t>
            </a:r>
            <a:r>
              <a:rPr lang="en-AU" sz="1200" kern="1200" baseline="0" dirty="0" smtClean="0">
                <a:solidFill>
                  <a:schemeClr val="tx1"/>
                </a:solidFill>
                <a:latin typeface="+mn-lt"/>
                <a:ea typeface="+mn-ea"/>
                <a:cs typeface="+mn-cs"/>
              </a:rPr>
              <a:t> </a:t>
            </a:r>
            <a:r>
              <a:rPr lang="en-AU" sz="1200" kern="1200" baseline="0" dirty="0" smtClean="0">
                <a:solidFill>
                  <a:schemeClr val="tx1"/>
                </a:solidFill>
                <a:latin typeface="+mn-lt"/>
                <a:ea typeface="+mn-ea"/>
                <a:cs typeface="+mn-cs"/>
              </a:rPr>
              <a:t>colour.</a:t>
            </a:r>
            <a:endParaRPr lang="en-AU" sz="1200" b="0" kern="1200" baseline="0" dirty="0" smtClean="0">
              <a:solidFill>
                <a:schemeClr val="tx1"/>
              </a:solidFill>
              <a:latin typeface="+mn-lt"/>
              <a:ea typeface="+mn-ea"/>
              <a:cs typeface="+mn-cs"/>
            </a:endParaRP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Wine taste</a:t>
            </a:r>
          </a:p>
          <a:p>
            <a:endParaRPr lang="en-AU" sz="1200" b="1" baseline="0" dirty="0" smtClean="0"/>
          </a:p>
          <a:p>
            <a:pPr lvl="0">
              <a:buFont typeface="Arial" pitchFamily="34" charset="0"/>
              <a:buChar char="•"/>
            </a:pPr>
            <a:r>
              <a:rPr lang="en-AU" sz="1200" kern="1200" dirty="0" smtClean="0">
                <a:solidFill>
                  <a:schemeClr val="tx1"/>
                </a:solidFill>
                <a:latin typeface="+mn-lt"/>
                <a:ea typeface="+mn-ea"/>
                <a:cs typeface="+mn-cs"/>
              </a:rPr>
              <a:t>Look at different wines and identify the most appropriate</a:t>
            </a:r>
            <a:r>
              <a:rPr lang="en-AU" sz="1200" kern="1200" baseline="0" dirty="0" smtClean="0">
                <a:solidFill>
                  <a:schemeClr val="tx1"/>
                </a:solidFill>
                <a:latin typeface="+mn-lt"/>
                <a:ea typeface="+mn-ea"/>
                <a:cs typeface="+mn-cs"/>
              </a:rPr>
              <a:t> </a:t>
            </a:r>
            <a:r>
              <a:rPr lang="en-AU" sz="1200" kern="1200" baseline="0" dirty="0" smtClean="0">
                <a:solidFill>
                  <a:schemeClr val="tx1"/>
                </a:solidFill>
                <a:latin typeface="+mn-lt"/>
                <a:ea typeface="+mn-ea"/>
                <a:cs typeface="+mn-cs"/>
              </a:rPr>
              <a:t>colour.</a:t>
            </a:r>
            <a:endParaRPr lang="en-AU" sz="1200" b="0" kern="1200" baseline="0" dirty="0" smtClean="0">
              <a:solidFill>
                <a:schemeClr val="tx1"/>
              </a:solidFill>
              <a:latin typeface="+mn-lt"/>
              <a:ea typeface="+mn-ea"/>
              <a:cs typeface="+mn-cs"/>
            </a:endParaRP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Discussion</a:t>
            </a:r>
          </a:p>
          <a:p>
            <a:endParaRPr lang="en-AU" sz="1200" b="1" kern="1200" baseline="0" dirty="0" smtClean="0">
              <a:solidFill>
                <a:schemeClr val="tx1"/>
              </a:solidFill>
              <a:latin typeface="+mn-lt"/>
              <a:ea typeface="+mn-ea"/>
              <a:cs typeface="+mn-cs"/>
            </a:endParaRPr>
          </a:p>
          <a:p>
            <a:r>
              <a:rPr lang="en-AU" sz="1200" b="0" kern="1200" baseline="0" dirty="0" smtClean="0">
                <a:solidFill>
                  <a:schemeClr val="tx1"/>
                </a:solidFill>
                <a:latin typeface="+mn-lt"/>
                <a:ea typeface="+mn-ea"/>
                <a:cs typeface="+mn-cs"/>
              </a:rPr>
              <a:t>Discuss the questions in the slide.</a:t>
            </a: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can you identify faults?</a:t>
            </a:r>
          </a:p>
          <a:p>
            <a:pPr>
              <a:buFont typeface="Arial" pitchFamily="34" charset="0"/>
              <a:buChar char="•"/>
            </a:pPr>
            <a:r>
              <a:rPr lang="en-AU" sz="1200" b="0" kern="1200" baseline="0" dirty="0" smtClean="0">
                <a:solidFill>
                  <a:schemeClr val="tx1"/>
                </a:solidFill>
                <a:latin typeface="+mn-lt"/>
                <a:ea typeface="+mn-ea"/>
                <a:cs typeface="+mn-cs"/>
              </a:rPr>
              <a:t>What are common faults?</a:t>
            </a:r>
          </a:p>
          <a:p>
            <a:pPr>
              <a:buFont typeface="Arial" pitchFamily="34" charset="0"/>
              <a:buChar char="•"/>
            </a:pPr>
            <a:r>
              <a:rPr lang="en-AU" sz="1200" b="0" kern="1200" baseline="0" dirty="0" smtClean="0">
                <a:solidFill>
                  <a:schemeClr val="tx1"/>
                </a:solidFill>
                <a:latin typeface="+mn-lt"/>
                <a:ea typeface="+mn-ea"/>
                <a:cs typeface="+mn-cs"/>
              </a:rPr>
              <a:t>What is the difference between faults and flaws?</a:t>
            </a: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Which is worst and why?</a:t>
            </a: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is the cause of these wine faults?</a:t>
            </a: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What are you looking for?</a:t>
            </a:r>
          </a:p>
          <a:p>
            <a:pPr>
              <a:buFont typeface="Arial" pitchFamily="34" charset="0"/>
              <a:buChar char="•"/>
            </a:pPr>
            <a:r>
              <a:rPr lang="en-AU" sz="1200" b="0" kern="1200" baseline="0" dirty="0" smtClean="0">
                <a:solidFill>
                  <a:schemeClr val="tx1"/>
                </a:solidFill>
                <a:latin typeface="+mn-lt"/>
                <a:ea typeface="+mn-ea"/>
                <a:cs typeface="+mn-cs"/>
              </a:rPr>
              <a:t>How can you identify the faults?</a:t>
            </a:r>
          </a:p>
          <a:p>
            <a:pPr>
              <a:buFont typeface="Arial" pitchFamily="34" charset="0"/>
              <a:buChar char="•"/>
            </a:pPr>
            <a:r>
              <a:rPr lang="en-AU" sz="1200" b="0" kern="1200" baseline="0" dirty="0" smtClean="0">
                <a:solidFill>
                  <a:schemeClr val="tx1"/>
                </a:solidFill>
                <a:latin typeface="+mn-lt"/>
                <a:ea typeface="+mn-ea"/>
                <a:cs typeface="+mn-cs"/>
              </a:rPr>
              <a:t>What do you do if you identify them?</a:t>
            </a: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Discussion</a:t>
            </a:r>
          </a:p>
          <a:p>
            <a:endParaRPr lang="en-AU" sz="1200" b="1" kern="1200" baseline="0" dirty="0" smtClean="0">
              <a:solidFill>
                <a:schemeClr val="tx1"/>
              </a:solidFill>
              <a:latin typeface="+mn-lt"/>
              <a:ea typeface="+mn-ea"/>
              <a:cs typeface="+mn-cs"/>
            </a:endParaRPr>
          </a:p>
          <a:p>
            <a:pPr>
              <a:buFont typeface="Arial" pitchFamily="34" charset="0"/>
              <a:buChar char="•"/>
            </a:pPr>
            <a:r>
              <a:rPr lang="en-AU" sz="1200" b="0" kern="1200" baseline="0" dirty="0" smtClean="0">
                <a:solidFill>
                  <a:schemeClr val="tx1"/>
                </a:solidFill>
                <a:latin typeface="+mn-lt"/>
                <a:ea typeface="+mn-ea"/>
                <a:cs typeface="+mn-cs"/>
              </a:rPr>
              <a:t>How else can you tell if a problem exists?</a:t>
            </a:r>
          </a:p>
          <a:p>
            <a:pPr lvl="0">
              <a:buFont typeface="Arial" pitchFamily="34" charset="0"/>
              <a:buChar char="•"/>
            </a:pPr>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dirty="0" smtClean="0">
                <a:solidFill>
                  <a:schemeClr val="tx1"/>
                </a:solidFill>
                <a:latin typeface="+mn-lt"/>
                <a:ea typeface="+mn-ea"/>
                <a:cs typeface="+mn-cs"/>
              </a:rPr>
              <a:t>What</a:t>
            </a:r>
            <a:r>
              <a:rPr lang="en-AU" sz="1200" kern="1200" baseline="0" dirty="0" smtClean="0">
                <a:solidFill>
                  <a:schemeClr val="tx1"/>
                </a:solidFill>
                <a:latin typeface="+mn-lt"/>
                <a:ea typeface="+mn-ea"/>
                <a:cs typeface="+mn-cs"/>
              </a:rPr>
              <a:t> advice can you give to patrons in relation to wine?</a:t>
            </a:r>
          </a:p>
          <a:p>
            <a:pPr>
              <a:buFont typeface="Arial" pitchFamily="34" charset="0"/>
              <a:buChar char="•"/>
            </a:pPr>
            <a:r>
              <a:rPr lang="en-AU" sz="1200" kern="1200" baseline="0" dirty="0" smtClean="0">
                <a:solidFill>
                  <a:schemeClr val="tx1"/>
                </a:solidFill>
                <a:latin typeface="+mn-lt"/>
                <a:ea typeface="+mn-ea"/>
                <a:cs typeface="+mn-cs"/>
              </a:rPr>
              <a:t>What recommendations can you make?</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question in the </a:t>
            </a:r>
            <a:r>
              <a:rPr lang="en-AU" sz="1200" b="0" kern="1200" baseline="0" dirty="0" smtClean="0">
                <a:solidFill>
                  <a:schemeClr val="tx1"/>
                </a:solidFill>
                <a:latin typeface="+mn-lt"/>
                <a:ea typeface="+mn-ea"/>
                <a:cs typeface="+mn-cs"/>
              </a:rPr>
              <a:t>slide.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explain wine lists to make it easier for customers?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are other ways you can categorise wines?</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wine knowledge so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gather this knowledge?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dirty="0" smtClean="0"/>
              <a:t>Discuss</a:t>
            </a:r>
            <a:r>
              <a:rPr lang="en-AU" sz="1200" b="1" baseline="0" dirty="0" smtClean="0"/>
              <a:t> the importance of listening and asking questions.</a:t>
            </a:r>
          </a:p>
          <a:p>
            <a:endParaRPr lang="en-AU" sz="1200" b="1" baseline="0" dirty="0" smtClean="0"/>
          </a:p>
          <a:p>
            <a:r>
              <a:rPr lang="en-AU" sz="1200" b="1" baseline="0" dirty="0" smtClean="0"/>
              <a:t>This has been covered in a previous section.</a:t>
            </a:r>
            <a:endParaRPr lang="en-AU" sz="1200" b="1"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What other questions could you ask?</a:t>
            </a: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interpretation do customers require about menu</a:t>
            </a:r>
            <a:r>
              <a:rPr lang="en-AU" baseline="0" dirty="0" smtClean="0"/>
              <a:t> items?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baseline="0" dirty="0" smtClean="0"/>
              <a:t>Questions</a:t>
            </a:r>
          </a:p>
          <a:p>
            <a:endParaRPr lang="en-AU" sz="1200" b="1" baseline="0" dirty="0" smtClean="0"/>
          </a:p>
          <a:p>
            <a:pPr>
              <a:buFont typeface="Arial" pitchFamily="34" charset="0"/>
              <a:buChar char="•"/>
            </a:pPr>
            <a:r>
              <a:rPr lang="en-AU" sz="1200" b="0" baseline="0" dirty="0" smtClean="0"/>
              <a:t>What information can be gained from the wine bottle itself?</a:t>
            </a:r>
          </a:p>
          <a:p>
            <a:pPr>
              <a:buFont typeface="Arial" pitchFamily="34" charset="0"/>
              <a:buChar char="•"/>
            </a:pPr>
            <a:r>
              <a:rPr lang="en-AU" sz="1200" b="0" baseline="0" dirty="0" smtClean="0"/>
              <a:t>Why is this an important informational tool?</a:t>
            </a:r>
            <a:endParaRPr lang="en-AU" sz="1200" b="0" dirty="0" smtClean="0"/>
          </a:p>
          <a:p>
            <a:endParaRPr lang="en-AU" sz="1200" b="1" dirty="0" smtClean="0">
              <a:latin typeface="Helvetica" pitchFamily="34" charset="0"/>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these food and wine combinations</a:t>
            </a:r>
          </a:p>
          <a:p>
            <a:endParaRPr lang="en-AU" dirty="0" smtClean="0"/>
          </a:p>
          <a:p>
            <a:pPr>
              <a:buFont typeface="Arial" pitchFamily="34" charset="0"/>
              <a:buChar char="•"/>
            </a:pPr>
            <a:r>
              <a:rPr lang="en-AU" dirty="0" smtClean="0"/>
              <a:t>Why</a:t>
            </a:r>
            <a:r>
              <a:rPr lang="en-AU" baseline="0" dirty="0" smtClean="0"/>
              <a:t> are these combinations regarded as appropriate?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 these food and wine combinations</a:t>
            </a:r>
          </a:p>
          <a:p>
            <a:endParaRPr lang="en-AU" dirty="0" smtClean="0"/>
          </a:p>
          <a:p>
            <a:pPr>
              <a:buFont typeface="Arial" pitchFamily="34" charset="0"/>
              <a:buChar char="•"/>
            </a:pPr>
            <a:r>
              <a:rPr lang="en-AU" dirty="0" smtClean="0"/>
              <a:t>Why</a:t>
            </a:r>
            <a:r>
              <a:rPr lang="en-AU" baseline="0" dirty="0" smtClean="0"/>
              <a:t> are these combinations regarded as appropriate?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Discuss the questions</a:t>
            </a:r>
            <a:r>
              <a:rPr lang="en-AU" baseline="0" dirty="0" smtClean="0"/>
              <a:t>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What</a:t>
            </a:r>
            <a:r>
              <a:rPr lang="en-AU" baseline="0" dirty="0" smtClean="0"/>
              <a:t> should you do if you don’t know the answer?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b="1" dirty="0" smtClean="0"/>
              <a:t>Questions</a:t>
            </a:r>
          </a:p>
          <a:p>
            <a:pPr>
              <a:buFont typeface="Arial" pitchFamily="34" charset="0"/>
              <a:buNone/>
            </a:pPr>
            <a:endParaRPr lang="en-US" dirty="0" smtClean="0"/>
          </a:p>
          <a:p>
            <a:pPr>
              <a:buFont typeface="Arial" pitchFamily="34" charset="0"/>
              <a:buNone/>
            </a:pPr>
            <a:r>
              <a:rPr lang="en-US" dirty="0" smtClean="0"/>
              <a:t>Discuss</a:t>
            </a:r>
            <a:r>
              <a:rPr lang="en-US" baseline="0" dirty="0" smtClean="0"/>
              <a:t> the question in the </a:t>
            </a:r>
            <a:r>
              <a:rPr lang="en-US" baseline="0" dirty="0" smtClean="0"/>
              <a:t>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Questions</a:t>
            </a: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0" baseline="0" dirty="0" smtClean="0">
                <a:solidFill>
                  <a:srgbClr val="FF6600"/>
                </a:solidFill>
                <a:latin typeface="Helvetica" pitchFamily="34" charset="0"/>
                <a:ea typeface="宋体" pitchFamily="2" charset="-122"/>
              </a:rPr>
              <a:t>Ask the questions in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 these points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lvl="0">
              <a:buFont typeface="Arial" pitchFamily="34" charset="0"/>
              <a:buChar char="•"/>
            </a:pPr>
            <a:r>
              <a:rPr lang="en-AU" sz="1200" kern="1200" dirty="0" smtClean="0">
                <a:solidFill>
                  <a:schemeClr val="tx1"/>
                </a:solidFill>
                <a:latin typeface="+mn-lt"/>
                <a:ea typeface="+mn-ea"/>
                <a:cs typeface="+mn-cs"/>
              </a:rPr>
              <a:t>History of the wine – some basic background information</a:t>
            </a:r>
          </a:p>
          <a:p>
            <a:pPr lvl="0">
              <a:buFont typeface="Arial" pitchFamily="34" charset="0"/>
              <a:buChar char="•"/>
            </a:pPr>
            <a:r>
              <a:rPr lang="en-AU" sz="1200" kern="1200" dirty="0" smtClean="0">
                <a:solidFill>
                  <a:schemeClr val="tx1"/>
                </a:solidFill>
                <a:latin typeface="+mn-lt"/>
                <a:ea typeface="+mn-ea"/>
                <a:cs typeface="+mn-cs"/>
              </a:rPr>
              <a:t>Characteristics of the items – taste, smell etc</a:t>
            </a:r>
          </a:p>
          <a:p>
            <a:pPr lvl="0">
              <a:buFont typeface="Arial" pitchFamily="34" charset="0"/>
              <a:buChar char="•"/>
            </a:pPr>
            <a:r>
              <a:rPr lang="en-AU" sz="1200" kern="1200" dirty="0" smtClean="0">
                <a:solidFill>
                  <a:schemeClr val="tx1"/>
                </a:solidFill>
                <a:latin typeface="+mn-lt"/>
                <a:ea typeface="+mn-ea"/>
                <a:cs typeface="+mn-cs"/>
              </a:rPr>
              <a:t>Regions of origin – where it is produced</a:t>
            </a:r>
          </a:p>
          <a:p>
            <a:pPr lvl="0">
              <a:buFont typeface="Arial" pitchFamily="34" charset="0"/>
              <a:buChar char="•"/>
            </a:pPr>
            <a:r>
              <a:rPr lang="en-AU" sz="1200" kern="1200" dirty="0" smtClean="0">
                <a:solidFill>
                  <a:schemeClr val="tx1"/>
                </a:solidFill>
                <a:latin typeface="+mn-lt"/>
                <a:ea typeface="+mn-ea"/>
                <a:cs typeface="+mn-cs"/>
              </a:rPr>
              <a:t>How it is prepared – an explanation of any preparation activities</a:t>
            </a:r>
          </a:p>
          <a:p>
            <a:pPr lvl="0">
              <a:buFont typeface="Arial" pitchFamily="34" charset="0"/>
              <a:buChar char="•"/>
            </a:pPr>
            <a:r>
              <a:rPr lang="en-AU" sz="1200" kern="1200" dirty="0" smtClean="0">
                <a:solidFill>
                  <a:schemeClr val="tx1"/>
                </a:solidFill>
                <a:latin typeface="+mn-lt"/>
                <a:ea typeface="+mn-ea"/>
                <a:cs typeface="+mn-cs"/>
              </a:rPr>
              <a:t>Any menu accompaniments that are commonly served with the wine</a:t>
            </a:r>
          </a:p>
          <a:p>
            <a:pPr lvl="0">
              <a:buFont typeface="Arial" pitchFamily="34" charset="0"/>
              <a:buChar char="•"/>
            </a:pPr>
            <a:r>
              <a:rPr lang="en-AU" sz="1200" kern="1200" dirty="0" smtClean="0">
                <a:solidFill>
                  <a:schemeClr val="tx1"/>
                </a:solidFill>
                <a:latin typeface="+mn-lt"/>
                <a:ea typeface="+mn-ea"/>
                <a:cs typeface="+mn-cs"/>
              </a:rPr>
              <a:t>Its availability for purchase – most customers will welcome the opportunity to take some samples home to family and friends, whether to enjoy it themselves or as a possible </a:t>
            </a:r>
            <a:r>
              <a:rPr lang="en-AU" sz="1200" kern="1200" dirty="0" smtClean="0">
                <a:solidFill>
                  <a:schemeClr val="tx1"/>
                </a:solidFill>
                <a:latin typeface="+mn-lt"/>
                <a:ea typeface="+mn-ea"/>
                <a:cs typeface="+mn-cs"/>
              </a:rPr>
              <a:t>gift.</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0" dirty="0" smtClean="0">
                <a:solidFill>
                  <a:srgbClr val="FF6600"/>
                </a:solidFill>
                <a:latin typeface="Helvetica" pitchFamily="34" charset="0"/>
                <a:ea typeface="宋体" pitchFamily="2" charset="-122"/>
              </a:rPr>
              <a:t>Discuss the questions in the slide.</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dirty="0" smtClean="0">
                <a:solidFill>
                  <a:srgbClr val="FF6600"/>
                </a:solidFill>
                <a:latin typeface="Helvetica" pitchFamily="34" charset="0"/>
                <a:ea typeface="宋体" pitchFamily="2" charset="-122"/>
              </a:rPr>
              <a:t>What is the difference between</a:t>
            </a:r>
            <a:r>
              <a:rPr lang="en-AU" altLang="zh-CN" sz="1200" b="0" baseline="0" dirty="0" smtClean="0">
                <a:solidFill>
                  <a:srgbClr val="FF6600"/>
                </a:solidFill>
                <a:latin typeface="Helvetica" pitchFamily="34" charset="0"/>
                <a:ea typeface="宋体" pitchFamily="2" charset="-122"/>
              </a:rPr>
              <a:t> these?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Which is more important to you and why?</a:t>
            </a:r>
            <a:endParaRPr lang="en-AU" altLang="zh-CN" sz="1200" b="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dirty="0" smtClean="0">
                <a:solidFill>
                  <a:srgbClr val="FF6600"/>
                </a:solidFill>
                <a:latin typeface="Helvetica" pitchFamily="34" charset="0"/>
                <a:ea typeface="宋体" pitchFamily="2" charset="-122"/>
              </a:rPr>
              <a:t>Discuss</a:t>
            </a:r>
            <a:r>
              <a:rPr lang="en-AU" altLang="zh-CN" sz="1200" b="0" baseline="0" dirty="0" smtClean="0">
                <a:solidFill>
                  <a:srgbClr val="FF6600"/>
                </a:solidFill>
                <a:latin typeface="Helvetica" pitchFamily="34" charset="0"/>
                <a:ea typeface="宋体" pitchFamily="2" charset="-122"/>
              </a:rPr>
              <a:t> these </a:t>
            </a:r>
            <a:r>
              <a:rPr lang="en-AU" altLang="zh-CN" sz="1200" b="0" baseline="0" dirty="0" smtClean="0">
                <a:solidFill>
                  <a:srgbClr val="FF6600"/>
                </a:solidFill>
                <a:latin typeface="Helvetica" pitchFamily="34" charset="0"/>
                <a:ea typeface="宋体" pitchFamily="2" charset="-122"/>
              </a:rPr>
              <a:t>points.</a:t>
            </a:r>
            <a:endParaRPr lang="en-AU" altLang="zh-CN" sz="1200" b="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dirty="0" smtClean="0">
                <a:solidFill>
                  <a:srgbClr val="FF6600"/>
                </a:solidFill>
                <a:latin typeface="Helvetica" pitchFamily="34" charset="0"/>
                <a:ea typeface="宋体" pitchFamily="2" charset="-122"/>
              </a:rPr>
              <a:t>How do wine producers ‘show’ their awards?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dirty="0" smtClean="0">
                <a:solidFill>
                  <a:srgbClr val="FF6600"/>
                </a:solidFill>
                <a:latin typeface="Helvetica" pitchFamily="34" charset="0"/>
                <a:ea typeface="宋体" pitchFamily="2" charset="-122"/>
              </a:rPr>
              <a:t>How can they promote these?</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r>
              <a:rPr lang="en-AU" sz="1200" kern="1200" baseline="0" dirty="0" smtClean="0">
                <a:solidFill>
                  <a:schemeClr val="tx1"/>
                </a:solidFill>
                <a:latin typeface="+mn-lt"/>
                <a:ea typeface="+mn-ea"/>
                <a:cs typeface="+mn-cs"/>
              </a:rPr>
              <a:t>What are all the activities associated with presenting and serving wine?</a:t>
            </a:r>
          </a:p>
          <a:p>
            <a:pPr>
              <a:buFont typeface="Arial" pitchFamily="34" charset="0"/>
              <a:buChar char="•"/>
            </a:pP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questions in the </a:t>
            </a:r>
            <a:r>
              <a:rPr lang="en-AU" sz="1200" b="0" kern="1200" baseline="0" dirty="0" smtClean="0">
                <a:solidFill>
                  <a:schemeClr val="tx1"/>
                </a:solidFill>
                <a:latin typeface="+mn-lt"/>
                <a:ea typeface="+mn-ea"/>
                <a:cs typeface="+mn-cs"/>
              </a:rPr>
              <a:t>slide.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do you prepare glassware?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Show</a:t>
            </a:r>
            <a:r>
              <a:rPr lang="en-AU" sz="1200" baseline="0" dirty="0" smtClean="0"/>
              <a:t> each item and discuss it’s importance and use.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Label – legible and intact</a:t>
            </a:r>
          </a:p>
          <a:p>
            <a:pPr lvl="0">
              <a:buFont typeface="Arial" pitchFamily="34" charset="0"/>
              <a:buChar char="•"/>
            </a:pPr>
            <a:r>
              <a:rPr lang="en-AU" sz="1200" dirty="0" smtClean="0"/>
              <a:t>Top near the cork</a:t>
            </a:r>
            <a:r>
              <a:rPr lang="en-AU" sz="1200" baseline="0" dirty="0" smtClean="0"/>
              <a:t> or screw cap</a:t>
            </a:r>
            <a:r>
              <a:rPr lang="en-AU" sz="1200" dirty="0" smtClean="0"/>
              <a:t> – intact and entire </a:t>
            </a:r>
          </a:p>
          <a:p>
            <a:pPr lvl="0">
              <a:buFont typeface="Arial" pitchFamily="34" charset="0"/>
              <a:buChar char="•"/>
            </a:pPr>
            <a:r>
              <a:rPr lang="en-AU" sz="1200" dirty="0" smtClean="0"/>
              <a:t>Bottle top - clean and not leaking</a:t>
            </a:r>
          </a:p>
          <a:p>
            <a:pPr lvl="0">
              <a:buFont typeface="Arial" pitchFamily="34" charset="0"/>
              <a:buChar char="•"/>
            </a:pPr>
            <a:r>
              <a:rPr lang="en-AU" sz="1200" dirty="0" smtClean="0"/>
              <a:t>Nothing floating in the wine – as best as can be identified</a:t>
            </a:r>
          </a:p>
          <a:p>
            <a:pPr lvl="0">
              <a:buFont typeface="Arial" pitchFamily="34" charset="0"/>
              <a:buChar char="•"/>
            </a:pPr>
            <a:r>
              <a:rPr lang="en-AU" sz="1200" dirty="0" smtClean="0"/>
              <a:t>Overall condition of the glass – not cracked, not </a:t>
            </a:r>
            <a:r>
              <a:rPr lang="en-AU" sz="1200" dirty="0" smtClean="0"/>
              <a:t>leaking.</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Why is it important to serve these wines at these temperatures?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can you get wine to these temperatures?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Why is it important to check the selection</a:t>
            </a:r>
            <a:r>
              <a:rPr lang="en-AU" sz="1200" baseline="0" dirty="0" smtClean="0"/>
              <a:t> with the customer?</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 and demonstration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a:t>
            </a:r>
            <a:r>
              <a:rPr lang="en-AU" sz="1200" baseline="0" dirty="0" smtClean="0"/>
              <a:t> and demonstrate the steps for opening these different types of wine.</a:t>
            </a:r>
            <a:endParaRPr lang="en-AU" sz="120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the questions in the slide.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lvl="0">
              <a:buFont typeface="Arial" pitchFamily="34" charset="0"/>
              <a:buChar char="•"/>
            </a:pPr>
            <a:r>
              <a:rPr lang="en-AU" sz="1200" dirty="0" smtClean="0"/>
              <a:t>Discuss the questions in this slide.</a:t>
            </a: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Questions &amp; Review beverage list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is the difference between these types of wines?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How are they served to the customer?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how this makes complaint handling harder?</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What do you do if you think the complaint is not legitimate?</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Introduce</a:t>
            </a:r>
            <a:r>
              <a:rPr lang="en-AU" sz="1200" kern="1200" baseline="0" dirty="0" smtClean="0">
                <a:solidFill>
                  <a:schemeClr val="tx1"/>
                </a:solidFill>
                <a:latin typeface="+mn-lt"/>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latin typeface="+mn-lt"/>
                <a:ea typeface="+mn-ea"/>
                <a:cs typeface="+mn-cs"/>
              </a:rPr>
              <a:t>Class Activity – General Discussion</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Ask general questions:</a:t>
            </a:r>
          </a:p>
          <a:p>
            <a:pPr>
              <a:buFont typeface="Arial" pitchFamily="34" charset="0"/>
              <a:buChar char="•"/>
            </a:pPr>
            <a:r>
              <a:rPr lang="en-AU" sz="1200" kern="1200" dirty="0" smtClean="0">
                <a:solidFill>
                  <a:schemeClr val="tx1"/>
                </a:solidFill>
                <a:latin typeface="+mn-lt"/>
                <a:ea typeface="+mn-ea"/>
                <a:cs typeface="+mn-cs"/>
              </a:rPr>
              <a:t>What is the importance of maintaining wine knowledge?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importance of these </a:t>
            </a:r>
            <a:r>
              <a:rPr lang="en-AU" sz="1200" b="0" kern="1200" baseline="0" dirty="0" smtClean="0">
                <a:solidFill>
                  <a:schemeClr val="tx1"/>
                </a:solidFill>
                <a:latin typeface="+mn-lt"/>
                <a:ea typeface="+mn-ea"/>
                <a:cs typeface="+mn-cs"/>
              </a:rPr>
              <a:t>points.</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General Discussion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Discuss the questions in the </a:t>
            </a:r>
            <a:r>
              <a:rPr lang="en-AU" sz="1200" b="0" kern="1200" baseline="0" dirty="0" smtClean="0">
                <a:solidFill>
                  <a:schemeClr val="tx1"/>
                </a:solidFill>
                <a:latin typeface="+mn-lt"/>
                <a:ea typeface="+mn-ea"/>
                <a:cs typeface="+mn-cs"/>
              </a:rPr>
              <a:t>slide.</a:t>
            </a:r>
            <a:endParaRPr lang="en-AU" sz="1200" b="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Questions</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solidFill>
                  <a:srgbClr val="FF6600"/>
                </a:solidFill>
                <a:latin typeface="Helvetica" pitchFamily="34" charset="0"/>
              </a:rPr>
              <a:t>What is specific</a:t>
            </a:r>
            <a:r>
              <a:rPr lang="en-AU" sz="1200" b="0" baseline="0" dirty="0" smtClean="0">
                <a:solidFill>
                  <a:srgbClr val="FF6600"/>
                </a:solidFill>
                <a:latin typeface="Helvetica" pitchFamily="34" charset="0"/>
              </a:rPr>
              <a:t> job related information staff must know?</a:t>
            </a:r>
            <a:endParaRPr lang="en-AU" sz="1200" b="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dirty="0" smtClean="0">
                <a:solidFill>
                  <a:srgbClr val="FF6600"/>
                </a:solidFill>
                <a:latin typeface="Helvetica" pitchFamily="34" charset="0"/>
              </a:rPr>
              <a:t>How can these</a:t>
            </a:r>
            <a:r>
              <a:rPr lang="en-AU" sz="1200" b="0" baseline="0" dirty="0" smtClean="0">
                <a:solidFill>
                  <a:srgbClr val="FF6600"/>
                </a:solidFill>
                <a:latin typeface="Helvetica" pitchFamily="34" charset="0"/>
              </a:rPr>
              <a:t> be beneficial?</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Handout wine lists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0" dirty="0" smtClean="0">
                <a:solidFill>
                  <a:srgbClr val="FF6600"/>
                </a:solidFill>
                <a:latin typeface="Helvetica" pitchFamily="34" charset="0"/>
                <a:ea typeface="宋体" pitchFamily="2" charset="-122"/>
              </a:rPr>
              <a:t>Get audience to look</a:t>
            </a:r>
            <a:r>
              <a:rPr lang="en-AU" altLang="zh-CN" sz="1200" b="0" baseline="0" dirty="0" smtClean="0">
                <a:solidFill>
                  <a:srgbClr val="FF6600"/>
                </a:solidFill>
                <a:latin typeface="Helvetica" pitchFamily="34" charset="0"/>
                <a:ea typeface="宋体" pitchFamily="2" charset="-122"/>
              </a:rPr>
              <a:t> up these points.</a:t>
            </a:r>
            <a:endParaRPr lang="en-AU" altLang="zh-CN" sz="1200" b="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Handout wine lists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0" dirty="0" smtClean="0">
                <a:solidFill>
                  <a:srgbClr val="FF6600"/>
                </a:solidFill>
                <a:latin typeface="Helvetica" pitchFamily="34" charset="0"/>
                <a:ea typeface="宋体" pitchFamily="2" charset="-122"/>
              </a:rPr>
              <a:t>Get audience to look</a:t>
            </a:r>
            <a:r>
              <a:rPr lang="en-AU" altLang="zh-CN" sz="1200" b="0" baseline="0" dirty="0" smtClean="0">
                <a:solidFill>
                  <a:srgbClr val="FF6600"/>
                </a:solidFill>
                <a:latin typeface="Helvetica" pitchFamily="34" charset="0"/>
                <a:ea typeface="宋体" pitchFamily="2" charset="-122"/>
              </a:rPr>
              <a:t> up these points.</a:t>
            </a:r>
            <a:endParaRPr lang="en-AU" altLang="zh-CN" sz="1200" b="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a:t>
            </a:r>
            <a:r>
              <a:rPr lang="en-AU" altLang="zh-CN" sz="1200" b="1" baseline="0" dirty="0" smtClean="0">
                <a:solidFill>
                  <a:srgbClr val="FF6600"/>
                </a:solidFill>
                <a:latin typeface="Helvetica" pitchFamily="34" charset="0"/>
                <a:ea typeface="宋体" pitchFamily="2" charset="-122"/>
              </a:rPr>
              <a:t> the organisational sources of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are methods can be used to gather organisational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a:t>
            </a:r>
            <a:r>
              <a:rPr lang="en-AU" altLang="zh-CN" sz="1200" b="1" baseline="0" dirty="0" smtClean="0">
                <a:solidFill>
                  <a:srgbClr val="FF6600"/>
                </a:solidFill>
                <a:latin typeface="Helvetica" pitchFamily="34" charset="0"/>
                <a:ea typeface="宋体" pitchFamily="2" charset="-122"/>
              </a:rPr>
              <a:t> the organisational sources of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are methods can be used to gather organisational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a:t>
            </a:r>
            <a:r>
              <a:rPr lang="en-AU" altLang="zh-CN" sz="1200" b="1" baseline="0" dirty="0" smtClean="0">
                <a:solidFill>
                  <a:srgbClr val="FF6600"/>
                </a:solidFill>
                <a:latin typeface="Helvetica" pitchFamily="34" charset="0"/>
                <a:ea typeface="宋体" pitchFamily="2" charset="-122"/>
              </a:rPr>
              <a:t> the external sources of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are methods can be used to gather organisational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a:t>
            </a:r>
            <a:r>
              <a:rPr lang="en-AU" altLang="zh-CN" sz="1200" b="1" baseline="0" dirty="0" smtClean="0">
                <a:solidFill>
                  <a:srgbClr val="FF6600"/>
                </a:solidFill>
                <a:latin typeface="Helvetica" pitchFamily="34" charset="0"/>
                <a:ea typeface="宋体" pitchFamily="2" charset="-122"/>
              </a:rPr>
              <a:t> the external sources of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are methods can be used to gather organisational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a:t>
            </a:r>
            <a:r>
              <a:rPr lang="en-AU" altLang="zh-CN" sz="1200" b="1" baseline="0" dirty="0" smtClean="0">
                <a:solidFill>
                  <a:srgbClr val="FF6600"/>
                </a:solidFill>
                <a:latin typeface="Helvetica" pitchFamily="34" charset="0"/>
                <a:ea typeface="宋体" pitchFamily="2" charset="-122"/>
              </a:rPr>
              <a:t> the external sources of information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are methods can be used to gather organisational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a:t>
            </a:r>
            <a:r>
              <a:rPr lang="en-AU" altLang="zh-CN" sz="1200" b="1" baseline="0" dirty="0" smtClean="0">
                <a:solidFill>
                  <a:srgbClr val="FF6600"/>
                </a:solidFill>
                <a:latin typeface="Helvetica" pitchFamily="34" charset="0"/>
                <a:ea typeface="宋体" pitchFamily="2" charset="-122"/>
              </a:rPr>
              <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are current wine trends?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How can you keep up to date with wine trends?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Review research</a:t>
            </a:r>
            <a:r>
              <a:rPr lang="en-AU" altLang="zh-CN" sz="1200" b="1" baseline="0" dirty="0" smtClean="0">
                <a:solidFill>
                  <a:srgbClr val="FF6600"/>
                </a:solidFill>
                <a:latin typeface="Helvetica" pitchFamily="34" charset="0"/>
                <a:ea typeface="宋体" pitchFamily="2" charset="-122"/>
              </a:rPr>
              <a:t> tools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information can be gathered from each of these </a:t>
            </a:r>
            <a:r>
              <a:rPr lang="en-AU" altLang="zh-CN" sz="1200" b="0" baseline="0" dirty="0" smtClean="0">
                <a:solidFill>
                  <a:srgbClr val="FF6600"/>
                </a:solidFill>
                <a:latin typeface="Helvetica" pitchFamily="34" charset="0"/>
                <a:ea typeface="宋体" pitchFamily="2" charset="-122"/>
              </a:rPr>
              <a:t>sources?</a:t>
            </a:r>
            <a:endParaRPr lang="en-AU" altLang="zh-CN" sz="1200" b="0"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altLang="zh-CN" sz="1200" b="0" baseline="0" dirty="0" smtClean="0">
                <a:solidFill>
                  <a:srgbClr val="FF6600"/>
                </a:solidFill>
                <a:latin typeface="Helvetica" pitchFamily="34" charset="0"/>
                <a:ea typeface="宋体" pitchFamily="2" charset="-122"/>
              </a:rPr>
              <a:t>Trainer to show audience these research tools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Review research</a:t>
            </a:r>
            <a:r>
              <a:rPr lang="en-AU" altLang="zh-CN" sz="1200" b="1" baseline="0" dirty="0" smtClean="0">
                <a:solidFill>
                  <a:srgbClr val="FF6600"/>
                </a:solidFill>
                <a:latin typeface="Helvetica" pitchFamily="34" charset="0"/>
                <a:ea typeface="宋体" pitchFamily="2" charset="-122"/>
              </a:rPr>
              <a:t> tools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information can be gathered from each of these </a:t>
            </a:r>
            <a:r>
              <a:rPr lang="en-AU" altLang="zh-CN" sz="1200" b="0" baseline="0" dirty="0" smtClean="0">
                <a:solidFill>
                  <a:srgbClr val="FF6600"/>
                </a:solidFill>
                <a:latin typeface="Helvetica" pitchFamily="34" charset="0"/>
                <a:ea typeface="宋体" pitchFamily="2" charset="-122"/>
              </a:rPr>
              <a:t>sources?</a:t>
            </a:r>
            <a:endParaRPr lang="en-AU" altLang="zh-CN" sz="1200" b="0"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altLang="zh-CN" sz="1200" b="0" baseline="0" dirty="0" smtClean="0">
                <a:solidFill>
                  <a:srgbClr val="FF6600"/>
                </a:solidFill>
                <a:latin typeface="Helvetica" pitchFamily="34" charset="0"/>
                <a:ea typeface="宋体" pitchFamily="2" charset="-122"/>
              </a:rPr>
              <a:t>Trainer to show audience these research </a:t>
            </a:r>
            <a:r>
              <a:rPr lang="en-AU" altLang="zh-CN" sz="1200" b="0" baseline="0" dirty="0" smtClean="0">
                <a:solidFill>
                  <a:srgbClr val="FF6600"/>
                </a:solidFill>
                <a:latin typeface="Helvetica" pitchFamily="34" charset="0"/>
                <a:ea typeface="宋体" pitchFamily="2" charset="-122"/>
              </a:rPr>
              <a:t>tools.</a:t>
            </a:r>
            <a:endParaRPr lang="en-AU" altLang="zh-CN" sz="1200" b="0"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Review research</a:t>
            </a:r>
            <a:r>
              <a:rPr lang="en-AU" altLang="zh-CN" sz="1200" b="1" baseline="0" dirty="0" smtClean="0">
                <a:solidFill>
                  <a:srgbClr val="FF6600"/>
                </a:solidFill>
                <a:latin typeface="Helvetica" pitchFamily="34" charset="0"/>
                <a:ea typeface="宋体" pitchFamily="2" charset="-122"/>
              </a:rPr>
              <a:t> tools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information can be gathered from each of these </a:t>
            </a:r>
            <a:r>
              <a:rPr lang="en-AU" altLang="zh-CN" sz="1200" b="0" baseline="0" dirty="0" smtClean="0">
                <a:solidFill>
                  <a:srgbClr val="FF6600"/>
                </a:solidFill>
                <a:latin typeface="Helvetica" pitchFamily="34" charset="0"/>
                <a:ea typeface="宋体" pitchFamily="2" charset="-122"/>
              </a:rPr>
              <a:t>sources?</a:t>
            </a:r>
            <a:endParaRPr lang="en-AU" altLang="zh-CN" sz="1200" b="0"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altLang="zh-CN" sz="1200" b="0" baseline="0" dirty="0" smtClean="0">
                <a:solidFill>
                  <a:srgbClr val="FF6600"/>
                </a:solidFill>
                <a:latin typeface="Helvetica" pitchFamily="34" charset="0"/>
                <a:ea typeface="宋体" pitchFamily="2" charset="-122"/>
              </a:rPr>
              <a:t>Trainer to show audience these research </a:t>
            </a:r>
            <a:r>
              <a:rPr lang="en-AU" altLang="zh-CN" sz="1200" b="0" baseline="0" dirty="0" smtClean="0">
                <a:solidFill>
                  <a:srgbClr val="FF6600"/>
                </a:solidFill>
                <a:latin typeface="Helvetica" pitchFamily="34" charset="0"/>
                <a:ea typeface="宋体" pitchFamily="2" charset="-122"/>
              </a:rPr>
              <a:t>tools.</a:t>
            </a:r>
            <a:endParaRPr lang="en-AU" altLang="zh-CN" sz="1200" b="0"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 these</a:t>
            </a:r>
            <a:r>
              <a:rPr lang="en-AU" altLang="zh-CN" sz="1200" b="1" baseline="0" dirty="0" smtClean="0">
                <a:solidFill>
                  <a:srgbClr val="FF6600"/>
                </a:solidFill>
                <a:latin typeface="Helvetica" pitchFamily="34" charset="0"/>
                <a:ea typeface="宋体" pitchFamily="2" charset="-122"/>
              </a:rPr>
              <a:t> trends.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How will these trends impact on a business?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How can you take advantage of the situation, taking into account these trends?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 these</a:t>
            </a:r>
            <a:r>
              <a:rPr lang="en-AU" altLang="zh-CN" sz="1200" b="1" baseline="0" dirty="0" smtClean="0">
                <a:solidFill>
                  <a:srgbClr val="FF6600"/>
                </a:solidFill>
                <a:latin typeface="Helvetica" pitchFamily="34" charset="0"/>
                <a:ea typeface="宋体" pitchFamily="2" charset="-122"/>
              </a:rPr>
              <a:t> trends.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How will these trends impact on a business?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How can you take advantage of the situation, taking into account these trends?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 these</a:t>
            </a:r>
            <a:r>
              <a:rPr lang="en-AU" altLang="zh-CN" sz="1200" b="1" baseline="0" dirty="0" smtClean="0">
                <a:solidFill>
                  <a:srgbClr val="FF6600"/>
                </a:solidFill>
                <a:latin typeface="Helvetica" pitchFamily="34" charset="0"/>
                <a:ea typeface="宋体" pitchFamily="2" charset="-122"/>
              </a:rPr>
              <a:t> trends.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How will these trends impact on a business?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How can you take advantage of the situation, taking into account these trends?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 the benefits of sharing information</a:t>
            </a:r>
            <a:r>
              <a:rPr lang="en-AU" altLang="zh-CN" sz="1200" b="1" baseline="0" dirty="0" smtClean="0">
                <a:solidFill>
                  <a:srgbClr val="FF6600"/>
                </a:solidFill>
                <a:latin typeface="Helvetica" pitchFamily="34" charset="0"/>
                <a:ea typeface="宋体" pitchFamily="2" charset="-122"/>
              </a:rPr>
              <a:t> with customers</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Why is this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else can you do?</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 the benefits of sharing information</a:t>
            </a:r>
            <a:r>
              <a:rPr lang="en-AU" altLang="zh-CN" sz="1200" b="1" baseline="0" dirty="0" smtClean="0">
                <a:solidFill>
                  <a:srgbClr val="FF6600"/>
                </a:solidFill>
                <a:latin typeface="Helvetica" pitchFamily="34" charset="0"/>
                <a:ea typeface="宋体" pitchFamily="2" charset="-122"/>
              </a:rPr>
              <a:t> with staff</a:t>
            </a: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Why is this important?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altLang="zh-CN" sz="1200" b="0" baseline="0" dirty="0" smtClean="0">
                <a:solidFill>
                  <a:srgbClr val="FF6600"/>
                </a:solidFill>
                <a:latin typeface="Helvetica" pitchFamily="34" charset="0"/>
                <a:ea typeface="宋体" pitchFamily="2" charset="-122"/>
              </a:rPr>
              <a:t>What else can you do?</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 these points and how they can be implemented</a:t>
            </a: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lvl="0">
              <a:buFont typeface="Arial" pitchFamily="34" charset="0"/>
              <a:buChar char="•"/>
            </a:pPr>
            <a:r>
              <a:rPr lang="en-AU" sz="1200" kern="1200" dirty="0" smtClean="0">
                <a:solidFill>
                  <a:schemeClr val="tx1"/>
                </a:solidFill>
                <a:latin typeface="+mn-lt"/>
                <a:ea typeface="+mn-ea"/>
                <a:cs typeface="+mn-cs"/>
              </a:rPr>
              <a:t>Add wines to your wine list – by buying in new stock </a:t>
            </a:r>
          </a:p>
          <a:p>
            <a:pPr lvl="0">
              <a:buFont typeface="Arial" pitchFamily="34" charset="0"/>
              <a:buChar char="•"/>
            </a:pPr>
            <a:r>
              <a:rPr lang="en-AU" sz="1200" kern="1200" dirty="0" smtClean="0">
                <a:solidFill>
                  <a:schemeClr val="tx1"/>
                </a:solidFill>
                <a:latin typeface="+mn-lt"/>
                <a:ea typeface="+mn-ea"/>
                <a:cs typeface="+mn-cs"/>
              </a:rPr>
              <a:t>Remove wines from your wine list – by moving wine to the wine shop for sale; discounting unpopular wines to clear them. Note ‘removing wines’ may also involve reducing the level of stock on hand while still keeping some of the wines available </a:t>
            </a:r>
          </a:p>
          <a:p>
            <a:pPr lvl="0">
              <a:buFont typeface="Arial" pitchFamily="34" charset="0"/>
              <a:buChar char="•"/>
            </a:pPr>
            <a:r>
              <a:rPr lang="en-AU" sz="1200" kern="1200" dirty="0" smtClean="0">
                <a:solidFill>
                  <a:schemeClr val="tx1"/>
                </a:solidFill>
                <a:latin typeface="+mn-lt"/>
                <a:ea typeface="+mn-ea"/>
                <a:cs typeface="+mn-cs"/>
              </a:rPr>
              <a:t>Buy additional stocks of wines that are proving popular – to ensure you do not run out </a:t>
            </a:r>
          </a:p>
          <a:p>
            <a:pPr lvl="0">
              <a:buFont typeface="Arial" pitchFamily="34" charset="0"/>
              <a:buChar char="•"/>
            </a:pPr>
            <a:r>
              <a:rPr lang="en-AU" sz="1200" kern="1200" dirty="0" smtClean="0">
                <a:solidFill>
                  <a:schemeClr val="tx1"/>
                </a:solidFill>
                <a:latin typeface="+mn-lt"/>
                <a:ea typeface="+mn-ea"/>
                <a:cs typeface="+mn-cs"/>
              </a:rPr>
              <a:t>Buy wines and cellar them for later sale – capitalising on the extra money that can be made from ageing the wine yourself, in-house </a:t>
            </a:r>
          </a:p>
          <a:p>
            <a:pPr lvl="0">
              <a:buFont typeface="Arial" pitchFamily="34" charset="0"/>
              <a:buChar char="•"/>
            </a:pPr>
            <a:r>
              <a:rPr lang="en-AU" sz="1200" kern="1200" dirty="0" smtClean="0">
                <a:solidFill>
                  <a:schemeClr val="tx1"/>
                </a:solidFill>
                <a:latin typeface="+mn-lt"/>
                <a:ea typeface="+mn-ea"/>
                <a:cs typeface="+mn-cs"/>
              </a:rPr>
              <a:t>Develop new menu items to accompany the emerging wine </a:t>
            </a:r>
            <a:r>
              <a:rPr lang="en-AU" sz="1200" kern="1200" dirty="0" smtClean="0">
                <a:solidFill>
                  <a:schemeClr val="tx1"/>
                </a:solidFill>
                <a:latin typeface="+mn-lt"/>
                <a:ea typeface="+mn-ea"/>
                <a:cs typeface="+mn-cs"/>
              </a:rPr>
              <a:t>trend.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1" baseline="0" dirty="0" smtClean="0">
              <a:solidFill>
                <a:srgbClr val="FF6600"/>
              </a:solidFill>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dirty="0" smtClean="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altLang="zh-CN" sz="1200" b="1" dirty="0" smtClean="0">
                <a:solidFill>
                  <a:srgbClr val="FF6600"/>
                </a:solidFill>
                <a:latin typeface="Helvetica" pitchFamily="34" charset="0"/>
                <a:ea typeface="宋体" pitchFamily="2" charset="-122"/>
              </a:rPr>
              <a:t>Discuss these points and how they can be implemented</a:t>
            </a:r>
            <a:endParaRPr lang="en-AU" altLang="zh-CN" sz="1200" b="1" baseline="0" dirty="0" smtClean="0">
              <a:solidFill>
                <a:srgbClr val="FF6600"/>
              </a:solidFill>
              <a:latin typeface="Helvetica" pitchFamily="34" charset="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altLang="zh-CN" sz="1200" b="1" baseline="0" dirty="0" smtClean="0">
              <a:solidFill>
                <a:srgbClr val="FF6600"/>
              </a:solidFill>
              <a:latin typeface="Helvetica" pitchFamily="34" charset="0"/>
              <a:ea typeface="宋体" pitchFamily="2" charset="-122"/>
            </a:endParaRPr>
          </a:p>
          <a:p>
            <a:pPr lvl="0">
              <a:buFont typeface="Arial" pitchFamily="34" charset="0"/>
              <a:buChar char="•"/>
            </a:pPr>
            <a:r>
              <a:rPr lang="en-AU" sz="1200" kern="1200" dirty="0" smtClean="0">
                <a:solidFill>
                  <a:schemeClr val="tx1"/>
                </a:solidFill>
                <a:latin typeface="+mn-lt"/>
                <a:ea typeface="+mn-ea"/>
                <a:cs typeface="+mn-cs"/>
              </a:rPr>
              <a:t>Obtain point-of-sale promotional material to assist in optimising sales of new wines. Increasing profit margins – new products, used as alternatives to current products, may be more cost-effective, enabling better returns which can translate into larger portion sizes</a:t>
            </a:r>
          </a:p>
          <a:p>
            <a:pPr lvl="0">
              <a:buFont typeface="Arial" pitchFamily="34" charset="0"/>
              <a:buChar char="•"/>
            </a:pPr>
            <a:r>
              <a:rPr lang="en-AU" sz="1200" kern="1200" dirty="0" smtClean="0">
                <a:solidFill>
                  <a:schemeClr val="tx1"/>
                </a:solidFill>
                <a:latin typeface="+mn-lt"/>
                <a:ea typeface="+mn-ea"/>
                <a:cs typeface="+mn-cs"/>
              </a:rPr>
              <a:t>Reducing selling prices – where the premises is in an extremely competitive environment, the new products may mean you can compete more effectively on the basis of price and be in a position to offer the same portion size or larger at a lower price than the opposition</a:t>
            </a:r>
          </a:p>
          <a:p>
            <a:pPr lvl="0">
              <a:buFont typeface="Arial" pitchFamily="34" charset="0"/>
              <a:buChar char="•"/>
            </a:pPr>
            <a:r>
              <a:rPr lang="en-AU" sz="1200" kern="1200" dirty="0" smtClean="0">
                <a:solidFill>
                  <a:schemeClr val="tx1"/>
                </a:solidFill>
                <a:latin typeface="+mn-lt"/>
                <a:ea typeface="+mn-ea"/>
                <a:cs typeface="+mn-cs"/>
              </a:rPr>
              <a:t>Generating a new target market – the new food item that is now available to you may mean you can now attract a fresh demographic, or rejuvenate an existing one.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latin typeface="+mn-lt"/>
                <a:ea typeface="+mn-ea"/>
                <a:cs typeface="+mn-cs"/>
              </a:rPr>
              <a:t>Class Activity –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latin typeface="+mn-lt"/>
                <a:ea typeface="+mn-ea"/>
                <a:cs typeface="+mn-cs"/>
              </a:rPr>
              <a:t>Explain Revision and </a:t>
            </a:r>
            <a:r>
              <a:rPr lang="en-AU" sz="1200" b="0" kern="1200" baseline="0" dirty="0" smtClean="0">
                <a:solidFill>
                  <a:schemeClr val="tx1"/>
                </a:solidFill>
                <a:latin typeface="+mn-lt"/>
                <a:ea typeface="+mn-ea"/>
                <a:cs typeface="+mn-cs"/>
              </a:rPr>
              <a:t>Assessments.</a:t>
            </a:r>
            <a:endParaRPr lang="en-AU" sz="1200" b="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0" kern="1200" baseline="0" dirty="0" smtClean="0">
                <a:solidFill>
                  <a:schemeClr val="tx1"/>
                </a:solidFill>
                <a:latin typeface="+mn-lt"/>
                <a:ea typeface="+mn-ea"/>
                <a:cs typeface="+mn-cs"/>
              </a:rPr>
              <a:t>Trainer to give audience time to undertake Revision and Assessments.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latin typeface="+mn-lt"/>
              <a:ea typeface="+mn-ea"/>
              <a:cs typeface="+mn-cs"/>
            </a:endParaRPr>
          </a:p>
          <a:p>
            <a:pPr>
              <a:spcBef>
                <a:spcPts val="600"/>
              </a:spcBef>
              <a:spcAft>
                <a:spcPts val="1200"/>
              </a:spcAft>
            </a:pPr>
            <a:endParaRPr lang="en-AU" sz="1200" dirty="0" smtClean="0">
              <a:latin typeface="Helvetica" pitchFamily="34" charset="0"/>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u="none"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latin typeface="+mn-lt"/>
                <a:ea typeface="+mn-ea"/>
                <a:cs typeface="+mn-cs"/>
              </a:rPr>
              <a:t>This</a:t>
            </a:r>
            <a:r>
              <a:rPr lang="en-AU" sz="1200" b="1" kern="1200" baseline="0" dirty="0" smtClean="0">
                <a:solidFill>
                  <a:schemeClr val="tx1"/>
                </a:solidFill>
                <a:latin typeface="+mn-lt"/>
                <a:ea typeface="+mn-ea"/>
                <a:cs typeface="+mn-cs"/>
              </a:rPr>
              <a:t> is the conclusion of the subject.</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Thank the audience and deliver assessments as required.</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latin typeface="Helvetica"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smtClean="0"/>
              <a:t>Click to edit Master subtitle style</a:t>
            </a:r>
            <a:endParaRPr kumimoji="0" lang="en-US" dirty="0"/>
          </a:p>
        </p:txBody>
      </p:sp>
      <p:sp>
        <p:nvSpPr>
          <p:cNvPr id="30" name="Date Placeholder 29"/>
          <p:cNvSpPr>
            <a:spLocks noGrp="1"/>
          </p:cNvSpPr>
          <p:nvPr>
            <p:ph type="dt" sz="half" idx="10"/>
          </p:nvPr>
        </p:nvSpPr>
        <p:spPr/>
        <p:txBody>
          <a:bodyPr/>
          <a:lstStyle>
            <a:lvl1pPr>
              <a:defRPr>
                <a:latin typeface="Helvetica" pitchFamily="34" charset="0"/>
              </a:defRPr>
            </a:lvl1pPr>
          </a:lstStyle>
          <a:p>
            <a:fld id="{3F96675B-16CB-449C-AA64-20E2E057E166}" type="datetime1">
              <a:rPr lang="en-US" smtClean="0"/>
              <a:pPr/>
              <a:t>3/30/2013</a:t>
            </a:fld>
            <a:endParaRPr lang="en-US" dirty="0"/>
          </a:p>
        </p:txBody>
      </p:sp>
      <p:sp>
        <p:nvSpPr>
          <p:cNvPr id="19" name="Footer Placeholder 18"/>
          <p:cNvSpPr>
            <a:spLocks noGrp="1"/>
          </p:cNvSpPr>
          <p:nvPr>
            <p:ph type="ftr" sz="quarter" idx="11"/>
          </p:nvPr>
        </p:nvSpPr>
        <p:spPr/>
        <p:txBody>
          <a:bodyPr/>
          <a:lstStyle>
            <a:lvl1pPr>
              <a:defRPr>
                <a:latin typeface="Helvetica" pitchFamily="34" charset="0"/>
              </a:defRPr>
            </a:lvl1pPr>
          </a:lstStyle>
          <a:p>
            <a:endParaRPr lang="en-US" dirty="0"/>
          </a:p>
        </p:txBody>
      </p:sp>
      <p:sp>
        <p:nvSpPr>
          <p:cNvPr id="27" name="Slide Number Placeholder 26"/>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lvl1pPr>
              <a:defRPr>
                <a:latin typeface="Helvetica" pitchFamily="34" charset="0"/>
              </a:defRPr>
            </a:lvl1pPr>
            <a:lvl2pPr>
              <a:defRPr>
                <a:latin typeface="Helvetica" pitchFamily="34" charset="0"/>
              </a:defRPr>
            </a:lvl2pPr>
            <a:lvl3pPr>
              <a:defRPr>
                <a:latin typeface="Helvetica" pitchFamily="34" charset="0"/>
              </a:defRPr>
            </a:lvl3pPr>
            <a:lvl4pPr>
              <a:defRPr>
                <a:latin typeface="Helvetica" pitchFamily="34" charset="0"/>
              </a:defRPr>
            </a:lvl4pPr>
            <a:lvl5pPr>
              <a:defRPr>
                <a:latin typeface="Helvetica"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lvl1pPr>
              <a:defRPr>
                <a:latin typeface="Helvetica" pitchFamily="34" charset="0"/>
              </a:defRPr>
            </a:lvl1pPr>
          </a:lstStyle>
          <a:p>
            <a:fld id="{0646F223-D3A2-44F5-8051-829B2F23C0D4}" type="datetime1">
              <a:rPr lang="en-US" smtClean="0"/>
              <a:pPr/>
              <a:t>3/30/2013</a:t>
            </a:fld>
            <a:endParaRPr lang="en-US" dirty="0"/>
          </a:p>
        </p:txBody>
      </p:sp>
      <p:sp>
        <p:nvSpPr>
          <p:cNvPr id="5" name="Footer Placeholder 4"/>
          <p:cNvSpPr>
            <a:spLocks noGrp="1"/>
          </p:cNvSpPr>
          <p:nvPr>
            <p:ph type="ftr" sz="quarter" idx="11"/>
          </p:nvPr>
        </p:nvSpPr>
        <p:spPr/>
        <p:txBody>
          <a:bodyPr/>
          <a:lstStyle>
            <a:lvl1pPr>
              <a:defRPr>
                <a:latin typeface="Helvetic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latin typeface="Helvetica" pitchFamily="34" charset="0"/>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smtClean="0"/>
              <a:t>Click to edit Master text styles</a:t>
            </a:r>
          </a:p>
        </p:txBody>
      </p:sp>
      <p:sp>
        <p:nvSpPr>
          <p:cNvPr id="4" name="Date Placeholder 3"/>
          <p:cNvSpPr>
            <a:spLocks noGrp="1"/>
          </p:cNvSpPr>
          <p:nvPr>
            <p:ph type="dt" sz="half" idx="10"/>
          </p:nvPr>
        </p:nvSpPr>
        <p:spPr/>
        <p:txBody>
          <a:bodyPr/>
          <a:lstStyle>
            <a:lvl1pPr>
              <a:defRPr>
                <a:latin typeface="Helvetica" pitchFamily="34" charset="0"/>
              </a:defRPr>
            </a:lvl1pPr>
          </a:lstStyle>
          <a:p>
            <a:fld id="{9A33FE7D-417D-483E-A327-7AED21196679}" type="datetime1">
              <a:rPr lang="en-US" smtClean="0"/>
              <a:pPr/>
              <a:t>3/30/2013</a:t>
            </a:fld>
            <a:endParaRPr lang="en-US" dirty="0"/>
          </a:p>
        </p:txBody>
      </p:sp>
      <p:sp>
        <p:nvSpPr>
          <p:cNvPr id="5" name="Footer Placeholder 4"/>
          <p:cNvSpPr>
            <a:spLocks noGrp="1"/>
          </p:cNvSpPr>
          <p:nvPr>
            <p:ph type="ftr" sz="quarter" idx="11"/>
          </p:nvPr>
        </p:nvSpPr>
        <p:spPr/>
        <p:txBody>
          <a:bodyPr/>
          <a:lstStyle>
            <a:lvl1pPr>
              <a:defRPr>
                <a:latin typeface="Helvetic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atin typeface="Helvetica" pitchFamily="34" charset="0"/>
              </a:defRPr>
            </a:lvl1pPr>
            <a:lvl2pPr>
              <a:defRPr sz="2200">
                <a:latin typeface="Helvetica" pitchFamily="34" charset="0"/>
              </a:defRPr>
            </a:lvl2pPr>
            <a:lvl3pPr>
              <a:defRPr sz="2000">
                <a:latin typeface="Helvetica" pitchFamily="34" charset="0"/>
              </a:defRPr>
            </a:lvl3pPr>
            <a:lvl4pPr>
              <a:defRPr sz="1800">
                <a:latin typeface="Helvetica" pitchFamily="34" charset="0"/>
              </a:defRPr>
            </a:lvl4pPr>
            <a:lvl5pPr>
              <a:defRPr sz="1800">
                <a:latin typeface="Helvetica"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Content Placeholder 3"/>
          <p:cNvSpPr>
            <a:spLocks noGrp="1"/>
          </p:cNvSpPr>
          <p:nvPr>
            <p:ph sz="half" idx="2"/>
          </p:nvPr>
        </p:nvSpPr>
        <p:spPr>
          <a:xfrm>
            <a:off x="4267200" y="1600200"/>
            <a:ext cx="3657600" cy="4525963"/>
          </a:xfrm>
        </p:spPr>
        <p:txBody>
          <a:bodyPr/>
          <a:lstStyle>
            <a:lvl1pPr>
              <a:defRPr sz="2600">
                <a:latin typeface="Helvetica" pitchFamily="34" charset="0"/>
              </a:defRPr>
            </a:lvl1pPr>
            <a:lvl2pPr>
              <a:defRPr sz="2200">
                <a:latin typeface="Helvetica" pitchFamily="34" charset="0"/>
              </a:defRPr>
            </a:lvl2pPr>
            <a:lvl3pPr>
              <a:defRPr sz="2000">
                <a:latin typeface="Helvetica" pitchFamily="34" charset="0"/>
              </a:defRPr>
            </a:lvl3pPr>
            <a:lvl4pPr>
              <a:defRPr sz="1800">
                <a:latin typeface="Helvetica" pitchFamily="34" charset="0"/>
              </a:defRPr>
            </a:lvl4pPr>
            <a:lvl5pPr>
              <a:defRPr sz="1800">
                <a:latin typeface="Helvetica"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5" name="Date Placeholder 4"/>
          <p:cNvSpPr>
            <a:spLocks noGrp="1"/>
          </p:cNvSpPr>
          <p:nvPr>
            <p:ph type="dt" sz="half" idx="10"/>
          </p:nvPr>
        </p:nvSpPr>
        <p:spPr/>
        <p:txBody>
          <a:bodyPr/>
          <a:lstStyle>
            <a:lvl1pPr>
              <a:defRPr>
                <a:latin typeface="Helvetica" pitchFamily="34" charset="0"/>
              </a:defRPr>
            </a:lvl1pPr>
          </a:lstStyle>
          <a:p>
            <a:fld id="{FBBE8DDC-366E-4D96-B475-59755FBFA064}" type="datetime1">
              <a:rPr lang="en-US" smtClean="0"/>
              <a:pPr/>
              <a:t>3/30/2013</a:t>
            </a:fld>
            <a:endParaRPr lang="en-US" dirty="0"/>
          </a:p>
        </p:txBody>
      </p:sp>
      <p:sp>
        <p:nvSpPr>
          <p:cNvPr id="6" name="Footer Placeholder 5"/>
          <p:cNvSpPr>
            <a:spLocks noGrp="1"/>
          </p:cNvSpPr>
          <p:nvPr>
            <p:ph type="ftr" sz="quarter" idx="11"/>
          </p:nvPr>
        </p:nvSpPr>
        <p:spPr/>
        <p:txBody>
          <a:bodyPr/>
          <a:lstStyle>
            <a:lvl1pPr>
              <a:defRPr>
                <a:latin typeface="Helvetica"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latin typeface="Helvetica" pitchFamily="34" charset="0"/>
              </a:defRPr>
            </a:lvl1pPr>
            <a:lvl2pPr>
              <a:buNone/>
              <a:defRPr sz="2000" b="1"/>
            </a:lvl2pPr>
            <a:lvl3pPr>
              <a:buNone/>
              <a:defRPr sz="1800" b="1"/>
            </a:lvl3pPr>
            <a:lvl4pPr>
              <a:buNone/>
              <a:defRPr sz="1600" b="1"/>
            </a:lvl4pPr>
            <a:lvl5pPr>
              <a:buNone/>
              <a:defRPr sz="1600" b="1"/>
            </a:lvl5pPr>
          </a:lstStyle>
          <a:p>
            <a:pPr lvl="0" eaLnBrk="1" latinLnBrk="0" hangingPunct="1"/>
            <a:r>
              <a:rPr kumimoji="0" lang="en-US" dirty="0"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latin typeface="Helvetica" pitchFamily="34" charset="0"/>
              </a:defRPr>
            </a:lvl1pPr>
            <a:lvl2pPr>
              <a:buNone/>
              <a:defRPr sz="2000" b="1"/>
            </a:lvl2pPr>
            <a:lvl3pPr>
              <a:buNone/>
              <a:defRPr sz="1800" b="1"/>
            </a:lvl3pPr>
            <a:lvl4pPr>
              <a:buNone/>
              <a:defRPr sz="1600" b="1"/>
            </a:lvl4pPr>
            <a:lvl5pPr>
              <a:buNone/>
              <a:defRPr sz="1600" b="1"/>
            </a:lvl5pPr>
          </a:lstStyle>
          <a:p>
            <a:pPr lvl="0" eaLnBrk="1" latinLnBrk="0" hangingPunct="1"/>
            <a:r>
              <a:rPr kumimoji="0" lang="en-US" dirty="0"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atin typeface="Helvetica" pitchFamily="34" charset="0"/>
              </a:defRPr>
            </a:lvl1pPr>
            <a:lvl2pPr>
              <a:defRPr sz="2000">
                <a:latin typeface="Helvetica" pitchFamily="34" charset="0"/>
              </a:defRPr>
            </a:lvl2pPr>
            <a:lvl3pPr>
              <a:defRPr sz="1800">
                <a:latin typeface="Helvetica" pitchFamily="34" charset="0"/>
              </a:defRPr>
            </a:lvl3pPr>
            <a:lvl4pPr>
              <a:defRPr sz="1600">
                <a:latin typeface="Helvetica" pitchFamily="34" charset="0"/>
              </a:defRPr>
            </a:lvl4pPr>
            <a:lvl5pPr>
              <a:defRPr sz="1600">
                <a:latin typeface="Helvetica"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6" name="Content Placeholder 5"/>
          <p:cNvSpPr>
            <a:spLocks noGrp="1"/>
          </p:cNvSpPr>
          <p:nvPr>
            <p:ph sz="quarter" idx="4"/>
          </p:nvPr>
        </p:nvSpPr>
        <p:spPr>
          <a:xfrm>
            <a:off x="4645025" y="1516912"/>
            <a:ext cx="4041775" cy="3941763"/>
          </a:xfrm>
        </p:spPr>
        <p:txBody>
          <a:bodyPr/>
          <a:lstStyle>
            <a:lvl1pPr>
              <a:defRPr sz="2400">
                <a:latin typeface="Helvetica" pitchFamily="34" charset="0"/>
              </a:defRPr>
            </a:lvl1pPr>
            <a:lvl2pPr>
              <a:defRPr sz="2000">
                <a:latin typeface="Helvetica" pitchFamily="34" charset="0"/>
              </a:defRPr>
            </a:lvl2pPr>
            <a:lvl3pPr>
              <a:defRPr sz="1800">
                <a:latin typeface="Helvetica" pitchFamily="34" charset="0"/>
              </a:defRPr>
            </a:lvl3pPr>
            <a:lvl4pPr>
              <a:defRPr sz="1600">
                <a:latin typeface="Helvetica" pitchFamily="34" charset="0"/>
              </a:defRPr>
            </a:lvl4pPr>
            <a:lvl5pPr>
              <a:defRPr sz="1600">
                <a:latin typeface="Helvetica"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7" name="Date Placeholder 6"/>
          <p:cNvSpPr>
            <a:spLocks noGrp="1"/>
          </p:cNvSpPr>
          <p:nvPr>
            <p:ph type="dt" sz="half" idx="10"/>
          </p:nvPr>
        </p:nvSpPr>
        <p:spPr/>
        <p:txBody>
          <a:bodyPr/>
          <a:lstStyle>
            <a:lvl1pPr>
              <a:defRPr>
                <a:latin typeface="Helvetica" pitchFamily="34" charset="0"/>
              </a:defRPr>
            </a:lvl1pPr>
          </a:lstStyle>
          <a:p>
            <a:fld id="{AFB5C968-0B16-4ADF-91B3-C8ECABCFDA29}" type="datetime1">
              <a:rPr lang="en-US" smtClean="0"/>
              <a:pPr/>
              <a:t>3/30/2013</a:t>
            </a:fld>
            <a:endParaRPr lang="en-US" dirty="0"/>
          </a:p>
        </p:txBody>
      </p:sp>
      <p:sp>
        <p:nvSpPr>
          <p:cNvPr id="8" name="Footer Placeholder 7"/>
          <p:cNvSpPr>
            <a:spLocks noGrp="1"/>
          </p:cNvSpPr>
          <p:nvPr>
            <p:ph type="ftr" sz="quarter" idx="11"/>
          </p:nvPr>
        </p:nvSpPr>
        <p:spPr/>
        <p:txBody>
          <a:bodyPr/>
          <a:lstStyle>
            <a:lvl1pPr>
              <a:defRPr>
                <a:latin typeface="Helvetica"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lvl1pPr>
              <a:defRPr>
                <a:latin typeface="Helvetica" pitchFamily="34" charset="0"/>
              </a:defRPr>
            </a:lvl1pPr>
          </a:lstStyle>
          <a:p>
            <a:fld id="{F3921DEA-061C-49D7-974B-38721BC66A5F}" type="datetime1">
              <a:rPr lang="en-US" smtClean="0"/>
              <a:pPr/>
              <a:t>3/30/2013</a:t>
            </a:fld>
            <a:endParaRPr lang="en-US" dirty="0"/>
          </a:p>
        </p:txBody>
      </p:sp>
      <p:sp>
        <p:nvSpPr>
          <p:cNvPr id="8" name="Slide Number Placeholder 7"/>
          <p:cNvSpPr>
            <a:spLocks noGrp="1"/>
          </p:cNvSpPr>
          <p:nvPr>
            <p:ph type="sldNum" sz="quarter" idx="11"/>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lvl1pPr>
              <a:defRPr>
                <a:latin typeface="Helvetica" pitchFamily="34" charset="0"/>
              </a:defRPr>
            </a:lvl1p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Helvetica" pitchFamily="34" charset="0"/>
              </a:defRPr>
            </a:lvl1pPr>
          </a:lstStyle>
          <a:p>
            <a:fld id="{187EFC2B-FC2E-46FA-B53A-48A270754B05}" type="datetime1">
              <a:rPr lang="en-US" smtClean="0"/>
              <a:pPr/>
              <a:t>3/30/2013</a:t>
            </a:fld>
            <a:endParaRPr lang="en-US" dirty="0"/>
          </a:p>
        </p:txBody>
      </p:sp>
      <p:sp>
        <p:nvSpPr>
          <p:cNvPr id="3" name="Footer Placeholder 2"/>
          <p:cNvSpPr>
            <a:spLocks noGrp="1"/>
          </p:cNvSpPr>
          <p:nvPr>
            <p:ph type="ftr" sz="quarter" idx="11"/>
          </p:nvPr>
        </p:nvSpPr>
        <p:spPr/>
        <p:txBody>
          <a:bodyPr/>
          <a:lstStyle>
            <a:lvl1pPr>
              <a:defRPr>
                <a:latin typeface="Helvetica"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atin typeface="Helvetica" pitchFamily="34" charset="0"/>
              </a:defRPr>
            </a:lvl1pPr>
            <a:lvl2pPr>
              <a:buNone/>
              <a:defRPr sz="1200"/>
            </a:lvl2pPr>
            <a:lvl3pPr>
              <a:buNone/>
              <a:defRPr sz="1000"/>
            </a:lvl3pPr>
            <a:lvl4pPr>
              <a:buNone/>
              <a:defRPr sz="900"/>
            </a:lvl4pPr>
            <a:lvl5pPr>
              <a:buNone/>
              <a:defRPr sz="900"/>
            </a:lvl5pPr>
          </a:lstStyle>
          <a:p>
            <a:pPr lvl="0" eaLnBrk="1" latinLnBrk="0" hangingPunct="1"/>
            <a:r>
              <a:rPr kumimoji="0" lang="en-US" dirty="0"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atin typeface="Helvetica" pitchFamily="34" charset="0"/>
              </a:defRPr>
            </a:lvl1pPr>
            <a:lvl2pPr>
              <a:defRPr sz="2400">
                <a:latin typeface="Helvetica" pitchFamily="34" charset="0"/>
              </a:defRPr>
            </a:lvl2pPr>
            <a:lvl3pPr>
              <a:defRPr sz="2200">
                <a:latin typeface="Helvetica" pitchFamily="34" charset="0"/>
              </a:defRPr>
            </a:lvl3pPr>
            <a:lvl4pPr>
              <a:defRPr sz="2000">
                <a:latin typeface="Helvetica" pitchFamily="34" charset="0"/>
              </a:defRPr>
            </a:lvl4pPr>
            <a:lvl5pPr>
              <a:defRPr sz="2000">
                <a:latin typeface="Helvetica"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5" name="Date Placeholder 4"/>
          <p:cNvSpPr>
            <a:spLocks noGrp="1"/>
          </p:cNvSpPr>
          <p:nvPr>
            <p:ph type="dt" sz="half" idx="10"/>
          </p:nvPr>
        </p:nvSpPr>
        <p:spPr/>
        <p:txBody>
          <a:bodyPr/>
          <a:lstStyle>
            <a:lvl1pPr>
              <a:defRPr>
                <a:latin typeface="Helvetica" pitchFamily="34" charset="0"/>
              </a:defRPr>
            </a:lvl1pPr>
          </a:lstStyle>
          <a:p>
            <a:fld id="{71873B9F-1886-41EB-8596-DFD2474565B7}" type="datetime1">
              <a:rPr lang="en-US" smtClean="0"/>
              <a:pPr/>
              <a:t>3/30/2013</a:t>
            </a:fld>
            <a:endParaRPr lang="en-US" dirty="0"/>
          </a:p>
        </p:txBody>
      </p:sp>
      <p:sp>
        <p:nvSpPr>
          <p:cNvPr id="6" name="Footer Placeholder 5"/>
          <p:cNvSpPr>
            <a:spLocks noGrp="1"/>
          </p:cNvSpPr>
          <p:nvPr>
            <p:ph type="ftr" sz="quarter" idx="11"/>
          </p:nvPr>
        </p:nvSpPr>
        <p:spPr/>
        <p:txBody>
          <a:bodyPr/>
          <a:lstStyle>
            <a:lvl1pPr>
              <a:defRPr>
                <a:latin typeface="Helvetica" pitchFamily="34" charset="0"/>
              </a:defRPr>
            </a:lvl1p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atin typeface="Helvetica" pitchFamily="34" charset="0"/>
              </a:defRPr>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atin typeface="Helvetica" pitchFamily="34" charset="0"/>
              </a:defRPr>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dirty="0"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lvl1pPr>
              <a:defRPr>
                <a:latin typeface="Helvetica" pitchFamily="34" charset="0"/>
              </a:defRPr>
            </a:lvl1pPr>
          </a:lstStyle>
          <a:p>
            <a:fld id="{5A6D77F6-049E-4E03-BBEC-9C9525B9448E}" type="datetime1">
              <a:rPr lang="en-US" smtClean="0"/>
              <a:pPr/>
              <a:t>3/30/2013</a:t>
            </a:fld>
            <a:endParaRPr lang="en-US" dirty="0"/>
          </a:p>
        </p:txBody>
      </p:sp>
      <p:sp>
        <p:nvSpPr>
          <p:cNvPr id="6" name="Footer Placeholder 5"/>
          <p:cNvSpPr>
            <a:spLocks noGrp="1"/>
          </p:cNvSpPr>
          <p:nvPr>
            <p:ph type="ftr" sz="quarter" idx="11"/>
          </p:nvPr>
        </p:nvSpPr>
        <p:spPr/>
        <p:txBody>
          <a:bodyPr/>
          <a:lstStyle>
            <a:lvl1pPr>
              <a:defRPr>
                <a:latin typeface="Helvetica"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lvl1pPr>
              <a:defRPr>
                <a:latin typeface="Helvetica" pitchFamily="34" charset="0"/>
              </a:defRPr>
            </a:lvl1pPr>
            <a:lvl2pPr>
              <a:defRPr>
                <a:latin typeface="Helvetica" pitchFamily="34" charset="0"/>
              </a:defRPr>
            </a:lvl2pPr>
            <a:lvl3pPr>
              <a:defRPr>
                <a:latin typeface="Helvetica" pitchFamily="34" charset="0"/>
              </a:defRPr>
            </a:lvl3pPr>
            <a:lvl4pPr>
              <a:defRPr>
                <a:latin typeface="Helvetica" pitchFamily="34" charset="0"/>
              </a:defRPr>
            </a:lvl4pPr>
            <a:lvl5pPr>
              <a:defRPr>
                <a:latin typeface="Helvetica"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lvl1pPr>
              <a:defRPr>
                <a:latin typeface="Helvetica" pitchFamily="34" charset="0"/>
              </a:defRPr>
            </a:lvl1pPr>
          </a:lstStyle>
          <a:p>
            <a:fld id="{DC8BABC8-BFBF-4030-9C7D-70F812C9AAE4}" type="datetime1">
              <a:rPr lang="en-US" smtClean="0"/>
              <a:pPr/>
              <a:t>3/30/2013</a:t>
            </a:fld>
            <a:endParaRPr lang="en-US" dirty="0"/>
          </a:p>
        </p:txBody>
      </p:sp>
      <p:sp>
        <p:nvSpPr>
          <p:cNvPr id="5" name="Footer Placeholder 4"/>
          <p:cNvSpPr>
            <a:spLocks noGrp="1"/>
          </p:cNvSpPr>
          <p:nvPr>
            <p:ph type="ftr" sz="quarter" idx="11"/>
          </p:nvPr>
        </p:nvSpPr>
        <p:spPr/>
        <p:txBody>
          <a:bodyPr/>
          <a:lstStyle>
            <a:lvl1pPr>
              <a:defRPr>
                <a:latin typeface="Helvetic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lvl1pPr>
              <a:defRPr>
                <a:latin typeface="Helvetica" pitchFamily="34" charset="0"/>
              </a:defRPr>
            </a:lvl1pPr>
            <a:lvl2pPr>
              <a:defRPr>
                <a:latin typeface="Helvetica" pitchFamily="34" charset="0"/>
              </a:defRPr>
            </a:lvl2pPr>
            <a:lvl3pPr>
              <a:defRPr>
                <a:latin typeface="Helvetica" pitchFamily="34" charset="0"/>
              </a:defRPr>
            </a:lvl3pPr>
            <a:lvl4pPr>
              <a:defRPr>
                <a:latin typeface="Helvetica" pitchFamily="34" charset="0"/>
              </a:defRPr>
            </a:lvl4pPr>
            <a:lvl5pPr>
              <a:defRPr>
                <a:latin typeface="Helvetica"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lvl1pPr>
              <a:defRPr>
                <a:latin typeface="Helvetica" pitchFamily="34" charset="0"/>
              </a:defRPr>
            </a:lvl1pPr>
          </a:lstStyle>
          <a:p>
            <a:fld id="{88CF46A6-0262-42FF-B093-039AED07B7AD}" type="datetime1">
              <a:rPr lang="en-US" smtClean="0"/>
              <a:pPr/>
              <a:t>3/30/2013</a:t>
            </a:fld>
            <a:endParaRPr lang="en-US" dirty="0"/>
          </a:p>
        </p:txBody>
      </p:sp>
      <p:sp>
        <p:nvSpPr>
          <p:cNvPr id="5" name="Footer Placeholder 4"/>
          <p:cNvSpPr>
            <a:spLocks noGrp="1"/>
          </p:cNvSpPr>
          <p:nvPr>
            <p:ph type="ftr" sz="quarter" idx="11"/>
          </p:nvPr>
        </p:nvSpPr>
        <p:spPr/>
        <p:txBody>
          <a:bodyPr/>
          <a:lstStyle>
            <a:lvl1pPr>
              <a:defRPr>
                <a:latin typeface="Helvetica"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Helvetica" pitchFamily="34" charset="0"/>
              </a:defRPr>
            </a:lvl1pPr>
          </a:lstStyle>
          <a:p>
            <a:fld id="{90BDF71C-F485-43AE-8825-5070AF1EA8C9}"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0"/>
            <a:ext cx="8686800" cy="609600"/>
          </a:xfrm>
        </p:spPr>
        <p:txBody>
          <a:bodyPr/>
          <a:lstStyle/>
          <a:p>
            <a:r>
              <a:rPr lang="en-US" smtClean="0"/>
              <a:t>Click to edit Master title style</a:t>
            </a:r>
            <a:endParaRPr lang="en-AU"/>
          </a:p>
        </p:txBody>
      </p:sp>
      <p:sp>
        <p:nvSpPr>
          <p:cNvPr id="3" name="Table Placeholder 2"/>
          <p:cNvSpPr>
            <a:spLocks noGrp="1"/>
          </p:cNvSpPr>
          <p:nvPr>
            <p:ph type="tbl" idx="1"/>
          </p:nvPr>
        </p:nvSpPr>
        <p:spPr>
          <a:xfrm>
            <a:off x="304800" y="1524000"/>
            <a:ext cx="5943600" cy="4114800"/>
          </a:xfrm>
        </p:spPr>
        <p:txBody>
          <a:bodyPr/>
          <a:lstStyle>
            <a:lvl1pPr>
              <a:defRPr>
                <a:latin typeface="Helvetica" pitchFamily="34" charset="0"/>
              </a:defRPr>
            </a:lvl1pPr>
          </a:lstStyle>
          <a:p>
            <a:pPr lvl="0"/>
            <a:endParaRPr lang="en-AU" noProof="0" dirty="0"/>
          </a:p>
        </p:txBody>
      </p:sp>
      <p:sp>
        <p:nvSpPr>
          <p:cNvPr id="4" name="Rectangle 5"/>
          <p:cNvSpPr>
            <a:spLocks noGrp="1" noChangeArrowheads="1"/>
          </p:cNvSpPr>
          <p:nvPr>
            <p:ph type="ftr" sz="quarter" idx="10"/>
          </p:nvPr>
        </p:nvSpPr>
        <p:spPr>
          <a:ln/>
        </p:spPr>
        <p:txBody>
          <a:bodyPr/>
          <a:lstStyle>
            <a:lvl1pPr>
              <a:defRPr>
                <a:latin typeface="Helvetica" pitchFamily="34" charset="0"/>
              </a:defRPr>
            </a:lvl1pPr>
          </a:lstStyle>
          <a:p>
            <a:pPr>
              <a:defRPr/>
            </a:pPr>
            <a:endParaRPr lang="en-US" altLang="zh-CN" dirty="0"/>
          </a:p>
        </p:txBody>
      </p:sp>
      <p:sp>
        <p:nvSpPr>
          <p:cNvPr id="5" name="Rectangle 6"/>
          <p:cNvSpPr>
            <a:spLocks noGrp="1" noChangeArrowheads="1"/>
          </p:cNvSpPr>
          <p:nvPr>
            <p:ph type="sldNum" sz="quarter" idx="11"/>
          </p:nvPr>
        </p:nvSpPr>
        <p:spPr>
          <a:ln/>
        </p:spPr>
        <p:txBody>
          <a:bodyPr/>
          <a:lstStyle>
            <a:lvl1pPr>
              <a:defRPr>
                <a:latin typeface="Helvetica" pitchFamily="34" charset="0"/>
              </a:defRPr>
            </a:lvl1pPr>
          </a:lstStyle>
          <a:p>
            <a:pPr>
              <a:defRPr/>
            </a:pPr>
            <a:fld id="{019AB55E-DF92-4688-B071-34BC6F7DF65C}" type="slidenum">
              <a:rPr lang="en-US" altLang="zh-CN" smtClean="0"/>
              <a:pPr>
                <a:defRPr/>
              </a:pPr>
              <a:t>‹#›</a:t>
            </a:fld>
            <a:endParaRPr lang="en-US" altLang="zh-CN" dirty="0"/>
          </a:p>
        </p:txBody>
      </p:sp>
      <p:sp>
        <p:nvSpPr>
          <p:cNvPr id="6" name="Rectangle 4"/>
          <p:cNvSpPr>
            <a:spLocks noGrp="1" noChangeArrowheads="1"/>
          </p:cNvSpPr>
          <p:nvPr>
            <p:ph type="dt" sz="half" idx="12"/>
          </p:nvPr>
        </p:nvSpPr>
        <p:spPr>
          <a:ln/>
        </p:spPr>
        <p:txBody>
          <a:bodyPr/>
          <a:lstStyle>
            <a:lvl1pPr>
              <a:defRPr>
                <a:latin typeface="Helvetica" pitchFamily="34" charset="0"/>
              </a:defRPr>
            </a:lvl1pPr>
          </a:lstStyle>
          <a:p>
            <a:pPr>
              <a:defRPr/>
            </a:pPr>
            <a:fld id="{B7DBF53E-53DF-4132-9FE5-1789E5151548}" type="slidenum">
              <a:rPr lang="en-US" altLang="zh-CN" smtClean="0"/>
              <a:pPr>
                <a:defRPr/>
              </a:pPr>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3/30/2013</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63.jpeg"/></Relationships>
</file>

<file path=ppt/slides/_rels/slide6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87.jpeg"/></Relationships>
</file>

<file path=ppt/slides/_rels/slide91.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9.xml"/><Relationship Id="rId1" Type="http://schemas.openxmlformats.org/officeDocument/2006/relationships/slideLayout" Target="../slideLayouts/slideLayout2.xml"/><Relationship Id="rId4" Type="http://schemas.openxmlformats.org/officeDocument/2006/relationships/image" Target="../media/image111.jpeg"/></Relationships>
</file>

<file path=ppt/slides/_rels/slide12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0.wmf"/><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9" name="Picture 5" descr="C:\Documents and Settings\danielc\Desktop\Serve a range of wine products images\1245416_wine_glasses.jpg"/>
          <p:cNvPicPr>
            <a:picLocks noChangeAspect="1" noChangeArrowheads="1"/>
          </p:cNvPicPr>
          <p:nvPr/>
        </p:nvPicPr>
        <p:blipFill>
          <a:blip r:embed="rId3" cstate="print"/>
          <a:srcRect/>
          <a:stretch>
            <a:fillRect/>
          </a:stretch>
        </p:blipFill>
        <p:spPr bwMode="auto">
          <a:xfrm>
            <a:off x="3143240" y="2143116"/>
            <a:ext cx="2503496" cy="16689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 name="Title 1"/>
          <p:cNvSpPr>
            <a:spLocks noGrp="1"/>
          </p:cNvSpPr>
          <p:nvPr>
            <p:ph type="ctrTitle"/>
          </p:nvPr>
        </p:nvSpPr>
        <p:spPr>
          <a:xfrm>
            <a:off x="1907704" y="908720"/>
            <a:ext cx="6480048" cy="936104"/>
          </a:xfrm>
        </p:spPr>
        <p:txBody>
          <a:bodyPr>
            <a:normAutofit fontScale="90000"/>
          </a:bodyPr>
          <a:lstStyle/>
          <a:p>
            <a:r>
              <a:rPr lang="en-AU" sz="4000" dirty="0" smtClean="0">
                <a:ln w="5000" cmpd="sng">
                  <a:noFill/>
                  <a:prstDash val="solid"/>
                </a:ln>
                <a:solidFill>
                  <a:srgbClr val="FF6600"/>
                </a:solidFill>
                <a:latin typeface="Helvetica" pitchFamily="34" charset="0"/>
              </a:rPr>
              <a:t>SERVE A RANGE OF WINE PRODUCTS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916832"/>
            <a:ext cx="2541268" cy="433758"/>
          </a:xfrm>
        </p:spPr>
        <p:txBody>
          <a:bodyPr>
            <a:normAutofit/>
          </a:bodyPr>
          <a:lstStyle/>
          <a:p>
            <a:r>
              <a:rPr lang="en-US" b="1" dirty="0" smtClean="0"/>
              <a:t>D1.HBS.CL5.15</a:t>
            </a:r>
            <a:endParaRPr lang="en-US" b="1"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5" name="Picture 2" descr="C:\Documents and Settings\danielc\Desktop\Serve a range of wine products images\507990_bottle_wine.jpg"/>
          <p:cNvPicPr>
            <a:picLocks noChangeAspect="1" noChangeArrowheads="1"/>
          </p:cNvPicPr>
          <p:nvPr/>
        </p:nvPicPr>
        <p:blipFill>
          <a:blip r:embed="rId4" cstate="print">
            <a:lum contrast="30000"/>
          </a:blip>
          <a:srcRect/>
          <a:stretch>
            <a:fillRect/>
          </a:stretch>
        </p:blipFill>
        <p:spPr bwMode="auto">
          <a:xfrm>
            <a:off x="714348" y="2928934"/>
            <a:ext cx="2444125" cy="18606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7" name="Picture 3" descr="C:\Documents and Settings\danielc\Desktop\Serve a range of wine products images\1283145_wine_splash_2.jpg"/>
          <p:cNvPicPr>
            <a:picLocks noChangeAspect="1" noChangeArrowheads="1"/>
          </p:cNvPicPr>
          <p:nvPr/>
        </p:nvPicPr>
        <p:blipFill>
          <a:blip r:embed="rId5" cstate="print"/>
          <a:srcRect/>
          <a:stretch>
            <a:fillRect/>
          </a:stretch>
        </p:blipFill>
        <p:spPr bwMode="auto">
          <a:xfrm>
            <a:off x="5572132" y="2857496"/>
            <a:ext cx="1785950" cy="246905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8" name="Picture 4" descr="C:\Documents and Settings\danielc\Desktop\Serve a range of wine products images\734375_wine.jpg"/>
          <p:cNvPicPr>
            <a:picLocks noChangeAspect="1" noChangeArrowheads="1"/>
          </p:cNvPicPr>
          <p:nvPr/>
        </p:nvPicPr>
        <p:blipFill>
          <a:blip r:embed="rId6" cstate="print">
            <a:lum contrast="30000"/>
          </a:blip>
          <a:srcRect/>
          <a:stretch>
            <a:fillRect/>
          </a:stretch>
        </p:blipFill>
        <p:spPr bwMode="auto">
          <a:xfrm>
            <a:off x="3143240" y="3857628"/>
            <a:ext cx="2523603" cy="17859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indent="0">
              <a:spcBef>
                <a:spcPts val="600"/>
              </a:spcBef>
              <a:spcAft>
                <a:spcPts val="1200"/>
              </a:spcAft>
              <a:buNone/>
            </a:pPr>
            <a:r>
              <a:rPr lang="en-US" sz="2200" dirty="0" smtClean="0"/>
              <a:t>This unit comprises six Elements:</a:t>
            </a:r>
          </a:p>
          <a:p>
            <a:pPr>
              <a:spcBef>
                <a:spcPts val="600"/>
              </a:spcBef>
              <a:spcAft>
                <a:spcPts val="1200"/>
              </a:spcAft>
            </a:pPr>
            <a:r>
              <a:rPr lang="en-AU" sz="2200" dirty="0" smtClean="0"/>
              <a:t>Develop wine knowledge</a:t>
            </a:r>
          </a:p>
          <a:p>
            <a:pPr lvl="0">
              <a:spcBef>
                <a:spcPts val="600"/>
              </a:spcBef>
              <a:spcAft>
                <a:spcPts val="1200"/>
              </a:spcAft>
            </a:pPr>
            <a:r>
              <a:rPr lang="en-AU" sz="2200" dirty="0" smtClean="0"/>
              <a:t>Store and retrieve wines</a:t>
            </a:r>
          </a:p>
          <a:p>
            <a:pPr lvl="0">
              <a:spcBef>
                <a:spcPts val="600"/>
              </a:spcBef>
              <a:spcAft>
                <a:spcPts val="1200"/>
              </a:spcAft>
            </a:pPr>
            <a:r>
              <a:rPr lang="en-AU" sz="2200" dirty="0" smtClean="0"/>
              <a:t>Undertake sensory appraisal of wines</a:t>
            </a:r>
          </a:p>
          <a:p>
            <a:pPr lvl="0">
              <a:spcBef>
                <a:spcPts val="600"/>
              </a:spcBef>
              <a:spcAft>
                <a:spcPts val="1200"/>
              </a:spcAft>
            </a:pPr>
            <a:r>
              <a:rPr lang="en-AU" sz="2200" dirty="0" smtClean="0"/>
              <a:t>Provide advice to patrons</a:t>
            </a:r>
          </a:p>
          <a:p>
            <a:pPr lvl="0">
              <a:spcBef>
                <a:spcPts val="600"/>
              </a:spcBef>
              <a:spcAft>
                <a:spcPts val="1200"/>
              </a:spcAft>
            </a:pPr>
            <a:r>
              <a:rPr lang="en-AU" sz="2200" dirty="0" smtClean="0"/>
              <a:t>Serve wines</a:t>
            </a:r>
          </a:p>
          <a:p>
            <a:pPr lvl="0">
              <a:spcBef>
                <a:spcPts val="600"/>
              </a:spcBef>
              <a:spcAft>
                <a:spcPts val="1200"/>
              </a:spcAft>
            </a:pPr>
            <a:r>
              <a:rPr lang="en-AU" sz="2200" dirty="0" smtClean="0"/>
              <a:t>Maintain wine knowledge</a:t>
            </a: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6" name="Picture 2" descr="C:\Documents and Settings\danielc\Local Settings\Temporary Internet Files\Content.IE5\XF6U4J0T\MC900434929[1].png"/>
          <p:cNvPicPr>
            <a:picLocks noChangeAspect="1" noChangeArrowheads="1"/>
          </p:cNvPicPr>
          <p:nvPr/>
        </p:nvPicPr>
        <p:blipFill>
          <a:blip r:embed="rId3" cstate="print"/>
          <a:srcRect/>
          <a:stretch>
            <a:fillRect/>
          </a:stretch>
        </p:blipFill>
        <p:spPr bwMode="auto">
          <a:xfrm>
            <a:off x="6357950" y="2214554"/>
            <a:ext cx="1685696" cy="1685696"/>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pPr>
            <a:r>
              <a:rPr lang="en-US" sz="2200" dirty="0" smtClean="0"/>
              <a:t>Oral questions</a:t>
            </a:r>
          </a:p>
          <a:p>
            <a:pPr marL="360000" indent="-360000">
              <a:spcBef>
                <a:spcPts val="600"/>
              </a:spcBef>
              <a:spcAft>
                <a:spcPts val="1200"/>
              </a:spcAft>
            </a:pPr>
            <a:r>
              <a:rPr lang="en-US" sz="2200" dirty="0" smtClean="0"/>
              <a:t>Written questions</a:t>
            </a:r>
          </a:p>
          <a:p>
            <a:pPr marL="360000" indent="-360000">
              <a:spcBef>
                <a:spcPts val="600"/>
              </a:spcBef>
              <a:spcAft>
                <a:spcPts val="1200"/>
              </a:spcAft>
            </a:pPr>
            <a:r>
              <a:rPr lang="en-US" sz="2200" dirty="0" smtClean="0"/>
              <a:t>Work projects</a:t>
            </a:r>
          </a:p>
          <a:p>
            <a:pPr marL="360000" indent="-360000">
              <a:spcBef>
                <a:spcPts val="600"/>
              </a:spcBef>
              <a:spcAft>
                <a:spcPts val="1200"/>
              </a:spcAft>
            </a:pPr>
            <a:r>
              <a:rPr lang="en-US" sz="2200" dirty="0" smtClean="0"/>
              <a:t>Workplace observation of practical skills</a:t>
            </a:r>
          </a:p>
          <a:p>
            <a:pPr marL="360000" indent="-360000">
              <a:spcBef>
                <a:spcPts val="600"/>
              </a:spcBef>
              <a:spcAft>
                <a:spcPts val="1200"/>
              </a:spcAft>
            </a:pPr>
            <a:r>
              <a:rPr lang="en-US" sz="2200" dirty="0" smtClean="0"/>
              <a:t>Practical exercises</a:t>
            </a:r>
          </a:p>
          <a:p>
            <a:pPr marL="360000" indent="-360000">
              <a:spcBef>
                <a:spcPts val="600"/>
              </a:spcBef>
              <a:spcAft>
                <a:spcPts val="1200"/>
              </a:spcAft>
            </a:pPr>
            <a:r>
              <a:rPr lang="en-US" sz="2200" dirty="0" smtClean="0"/>
              <a:t>Formal report from supervisor</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7"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786446" y="2000240"/>
            <a:ext cx="2346006" cy="156177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1:</a:t>
            </a:r>
          </a:p>
          <a:p>
            <a:pPr>
              <a:buNone/>
            </a:pPr>
            <a:r>
              <a:rPr lang="en-AU" sz="4000" dirty="0" smtClean="0">
                <a:solidFill>
                  <a:srgbClr val="FF6600"/>
                </a:solidFill>
              </a:rPr>
              <a:t>Develop wine knowledge</a:t>
            </a:r>
          </a:p>
          <a:p>
            <a:pPr>
              <a:spcBef>
                <a:spcPts val="600"/>
              </a:spcBef>
              <a:spcAft>
                <a:spcPts val="1200"/>
              </a:spcAft>
            </a:pPr>
            <a:endParaRPr lang="en-AU" sz="2200" dirty="0" smtClean="0"/>
          </a:p>
          <a:p>
            <a:pPr>
              <a:spcBef>
                <a:spcPts val="600"/>
              </a:spcBef>
              <a:spcAft>
                <a:spcPts val="1200"/>
              </a:spcAft>
              <a:buNone/>
            </a:pPr>
            <a:endParaRPr lang="en-AU" sz="2200" dirty="0" smtClean="0"/>
          </a:p>
          <a:p>
            <a:pPr lvl="0">
              <a:spcBef>
                <a:spcPts val="600"/>
              </a:spcBef>
              <a:spcAft>
                <a:spcPts val="600"/>
              </a:spcAft>
            </a:pPr>
            <a:endParaRPr lang="en-AU" sz="2200" dirty="0" smtClean="0"/>
          </a:p>
          <a:p>
            <a:pPr>
              <a:buNone/>
            </a:pPr>
            <a:endParaRPr lang="en-AU" sz="2400" dirty="0" smtClean="0"/>
          </a:p>
          <a:p>
            <a:pPr lvl="0">
              <a:spcBef>
                <a:spcPts val="600"/>
              </a:spcBef>
              <a:spcAft>
                <a:spcPts val="1200"/>
              </a:spcAft>
            </a:pPr>
            <a:endParaRPr lang="en-AU" sz="2200" dirty="0" smtClean="0"/>
          </a:p>
          <a:p>
            <a:pPr marL="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4" descr="1354570_83682820.jpg"/>
          <p:cNvPicPr>
            <a:picLocks noChangeAspect="1"/>
          </p:cNvPicPr>
          <p:nvPr/>
        </p:nvPicPr>
        <p:blipFill>
          <a:blip r:embed="rId3" cstate="print">
            <a:lum contrast="20000"/>
          </a:blip>
          <a:stretch>
            <a:fillRect/>
          </a:stretch>
        </p:blipFill>
        <p:spPr>
          <a:xfrm>
            <a:off x="3500430" y="3286124"/>
            <a:ext cx="2798492" cy="2555023"/>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Develop wine knowledge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Performance Criteria for this Element are: </a:t>
            </a:r>
          </a:p>
          <a:p>
            <a:pPr>
              <a:spcBef>
                <a:spcPts val="600"/>
              </a:spcBef>
              <a:spcAft>
                <a:spcPts val="1200"/>
              </a:spcAft>
            </a:pPr>
            <a:r>
              <a:rPr lang="en-AU" sz="2200" dirty="0" smtClean="0"/>
              <a:t>Identify and differentiate between wine styles</a:t>
            </a:r>
          </a:p>
          <a:p>
            <a:pPr>
              <a:spcBef>
                <a:spcPts val="600"/>
              </a:spcBef>
              <a:spcAft>
                <a:spcPts val="1200"/>
              </a:spcAft>
            </a:pPr>
            <a:r>
              <a:rPr lang="en-AU" sz="2200" dirty="0" smtClean="0"/>
              <a:t>Identify and differentiate between the major grape varieties used in wine production</a:t>
            </a:r>
          </a:p>
          <a:p>
            <a:pPr>
              <a:spcBef>
                <a:spcPts val="600"/>
              </a:spcBef>
              <a:spcAft>
                <a:spcPts val="1200"/>
              </a:spcAft>
            </a:pPr>
            <a:r>
              <a:rPr lang="en-AU" sz="2200" dirty="0" smtClean="0"/>
              <a:t>Identify major wine producing countries and the wines they produce</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715140" y="2000240"/>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214942" y="307181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786050" y="3929066"/>
            <a:ext cx="399154" cy="527046"/>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Develop wine knowledge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Performance Criteria for this Element are: </a:t>
            </a:r>
          </a:p>
          <a:p>
            <a:pPr>
              <a:spcBef>
                <a:spcPts val="600"/>
              </a:spcBef>
              <a:spcAft>
                <a:spcPts val="1200"/>
              </a:spcAft>
            </a:pPr>
            <a:r>
              <a:rPr lang="en-AU" sz="2200" dirty="0" smtClean="0"/>
              <a:t>Identify the steps in basic wine production</a:t>
            </a:r>
          </a:p>
          <a:p>
            <a:pPr>
              <a:spcBef>
                <a:spcPts val="600"/>
              </a:spcBef>
              <a:spcAft>
                <a:spcPts val="1200"/>
              </a:spcAft>
            </a:pPr>
            <a:r>
              <a:rPr lang="en-AU" sz="2200" dirty="0" smtClean="0"/>
              <a:t>Describe variations in grape growing and wine production techniques</a:t>
            </a:r>
          </a:p>
          <a:p>
            <a:pPr>
              <a:spcBef>
                <a:spcPts val="600"/>
              </a:spcBef>
              <a:spcAft>
                <a:spcPts val="1200"/>
              </a:spcAft>
            </a:pPr>
            <a:r>
              <a:rPr lang="en-AU" sz="2200" dirty="0" smtClean="0"/>
              <a:t>Interpret wine labels to identify and make assessment of wine contained within bottles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5" name="Picture 4" descr="432677_87680338.jpg"/>
          <p:cNvPicPr>
            <a:picLocks noChangeAspect="1"/>
          </p:cNvPicPr>
          <p:nvPr/>
        </p:nvPicPr>
        <p:blipFill>
          <a:blip r:embed="rId3" cstate="print"/>
          <a:stretch>
            <a:fillRect/>
          </a:stretch>
        </p:blipFill>
        <p:spPr>
          <a:xfrm>
            <a:off x="7239000" y="4267200"/>
            <a:ext cx="1540764" cy="205435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Develop wine knowledge</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t>Wine</a:t>
            </a:r>
            <a:endParaRPr lang="en-AU" sz="2200" dirty="0" smtClean="0"/>
          </a:p>
          <a:p>
            <a:pPr>
              <a:spcBef>
                <a:spcPts val="600"/>
              </a:spcBef>
              <a:spcAft>
                <a:spcPts val="1200"/>
              </a:spcAft>
            </a:pPr>
            <a:r>
              <a:rPr lang="en-AU" sz="2200" dirty="0" smtClean="0"/>
              <a:t>Wine is defined as the naturally produced </a:t>
            </a:r>
            <a:br>
              <a:rPr lang="en-AU" sz="2200" dirty="0" smtClean="0"/>
            </a:br>
            <a:r>
              <a:rPr lang="en-AU" sz="2200" dirty="0" smtClean="0"/>
              <a:t>beverage made from the fermented juice of </a:t>
            </a:r>
            <a:br>
              <a:rPr lang="en-AU" sz="2200" dirty="0" smtClean="0"/>
            </a:br>
            <a:r>
              <a:rPr lang="en-AU" sz="2200" dirty="0" smtClean="0"/>
              <a:t>grapes</a:t>
            </a:r>
          </a:p>
          <a:p>
            <a:pPr>
              <a:spcBef>
                <a:spcPts val="600"/>
              </a:spcBef>
              <a:spcAft>
                <a:spcPts val="1200"/>
              </a:spcAft>
            </a:pPr>
            <a:r>
              <a:rPr lang="en-AU" sz="2200" dirty="0" smtClean="0"/>
              <a:t>Wine is a major aspect of beverage service </a:t>
            </a:r>
            <a:br>
              <a:rPr lang="en-AU" sz="2200" dirty="0" smtClean="0"/>
            </a:br>
            <a:r>
              <a:rPr lang="en-AU" sz="2200" dirty="0" smtClean="0"/>
              <a:t>and is routinely served to complement a lunch </a:t>
            </a:r>
            <a:br>
              <a:rPr lang="en-AU" sz="2200" dirty="0" smtClean="0"/>
            </a:br>
            <a:r>
              <a:rPr lang="en-AU" sz="2200" dirty="0" smtClean="0"/>
              <a:t>or evening meal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MP900432952[1].JPG"/>
          <p:cNvPicPr/>
          <p:nvPr/>
        </p:nvPicPr>
        <p:blipFill>
          <a:blip r:embed="rId3" cstate="print"/>
          <a:stretch>
            <a:fillRect/>
          </a:stretch>
        </p:blipFill>
        <p:spPr>
          <a:xfrm>
            <a:off x="7143768" y="2357430"/>
            <a:ext cx="1308078" cy="1643074"/>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Wine styles</a:t>
            </a:r>
            <a:endParaRPr lang="en-AU" sz="2200" dirty="0" smtClean="0"/>
          </a:p>
          <a:p>
            <a:pPr lvl="0">
              <a:spcBef>
                <a:spcPts val="600"/>
              </a:spcBef>
              <a:spcAft>
                <a:spcPts val="1200"/>
              </a:spcAft>
            </a:pPr>
            <a:r>
              <a:rPr lang="en-AU" sz="2200" dirty="0" smtClean="0"/>
              <a:t>Varietal or generic table wines</a:t>
            </a:r>
          </a:p>
          <a:p>
            <a:pPr lvl="0">
              <a:spcBef>
                <a:spcPts val="600"/>
              </a:spcBef>
              <a:spcAft>
                <a:spcPts val="1200"/>
              </a:spcAft>
            </a:pPr>
            <a:r>
              <a:rPr lang="en-AU" sz="2200" dirty="0" smtClean="0"/>
              <a:t>Sparkling wine</a:t>
            </a:r>
          </a:p>
          <a:p>
            <a:pPr lvl="0">
              <a:spcBef>
                <a:spcPts val="600"/>
              </a:spcBef>
              <a:spcAft>
                <a:spcPts val="1200"/>
              </a:spcAft>
            </a:pPr>
            <a:r>
              <a:rPr lang="en-AU" sz="2200" dirty="0" smtClean="0"/>
              <a:t>Fortified wine</a:t>
            </a:r>
          </a:p>
          <a:p>
            <a:pPr>
              <a:spcBef>
                <a:spcPts val="600"/>
              </a:spcBef>
              <a:spcAft>
                <a:spcPts val="1200"/>
              </a:spcAft>
            </a:pPr>
            <a:r>
              <a:rPr lang="en-AU" sz="2200" dirty="0" smtClean="0"/>
              <a:t>Rice wine</a:t>
            </a:r>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Develop wine knowledge</a:t>
            </a:r>
          </a:p>
        </p:txBody>
      </p:sp>
      <p:pic>
        <p:nvPicPr>
          <p:cNvPr id="6" name="Picture 5" descr="6834188792_b0be7e57dc_m.jpg"/>
          <p:cNvPicPr>
            <a:picLocks noChangeAspect="1"/>
          </p:cNvPicPr>
          <p:nvPr/>
        </p:nvPicPr>
        <p:blipFill>
          <a:blip r:embed="rId3" cstate="print"/>
          <a:stretch>
            <a:fillRect/>
          </a:stretch>
        </p:blipFill>
        <p:spPr>
          <a:xfrm>
            <a:off x="5572132" y="2643182"/>
            <a:ext cx="2559170" cy="1695450"/>
          </a:xfrm>
          <a:prstGeom prst="rect">
            <a:avLst/>
          </a:prstGeom>
        </p:spPr>
      </p:pic>
      <p:sp>
        <p:nvSpPr>
          <p:cNvPr id="8"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a:t>
            </a:fld>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pPr>
            <a:r>
              <a:rPr lang="en-AU" sz="2200" dirty="0" smtClean="0"/>
              <a:t>‘Varietal’ wines are wines made from one grape </a:t>
            </a:r>
            <a:br>
              <a:rPr lang="en-AU" sz="2200" dirty="0" smtClean="0"/>
            </a:br>
            <a:r>
              <a:rPr lang="en-AU" sz="2200" dirty="0" smtClean="0"/>
              <a:t>variety </a:t>
            </a:r>
          </a:p>
          <a:p>
            <a:pPr>
              <a:spcBef>
                <a:spcPts val="600"/>
              </a:spcBef>
              <a:spcAft>
                <a:spcPts val="1200"/>
              </a:spcAft>
            </a:pPr>
            <a:r>
              <a:rPr lang="en-AU" sz="2200" dirty="0" smtClean="0"/>
              <a:t>The name of this grape appears on the label of </a:t>
            </a:r>
            <a:br>
              <a:rPr lang="en-AU" sz="2200" dirty="0" smtClean="0"/>
            </a:br>
            <a:r>
              <a:rPr lang="en-AU" sz="2200" dirty="0" smtClean="0"/>
              <a:t>the bottle</a:t>
            </a:r>
          </a:p>
          <a:p>
            <a:pPr>
              <a:spcBef>
                <a:spcPts val="600"/>
              </a:spcBef>
              <a:spcAft>
                <a:spcPts val="1200"/>
              </a:spcAft>
            </a:pPr>
            <a:r>
              <a:rPr lang="en-AU" sz="2200" dirty="0" smtClean="0"/>
              <a:t>The wine must be made from a minimum 85% of </a:t>
            </a:r>
            <a:br>
              <a:rPr lang="en-AU" sz="2200" dirty="0" smtClean="0"/>
            </a:br>
            <a:r>
              <a:rPr lang="en-AU" sz="2200" dirty="0" smtClean="0"/>
              <a:t>that stated variety</a:t>
            </a: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Varietal wines</a:t>
            </a:r>
          </a:p>
        </p:txBody>
      </p:sp>
      <p:pic>
        <p:nvPicPr>
          <p:cNvPr id="8" name="Picture 7" descr="4268972768_4fc2ea9999_m.jpg"/>
          <p:cNvPicPr>
            <a:picLocks noChangeAspect="1"/>
          </p:cNvPicPr>
          <p:nvPr/>
        </p:nvPicPr>
        <p:blipFill>
          <a:blip r:embed="rId3" cstate="print"/>
          <a:stretch>
            <a:fillRect/>
          </a:stretch>
        </p:blipFill>
        <p:spPr>
          <a:xfrm>
            <a:off x="7358082" y="1857364"/>
            <a:ext cx="1133473" cy="170021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0">
              <a:buNone/>
            </a:pPr>
            <a:r>
              <a:rPr lang="en-AU" sz="2200" dirty="0" smtClean="0"/>
              <a:t>‘Generic’ is the term used to describe wines are made to a style, usually naming a European location as its origin.</a:t>
            </a:r>
          </a:p>
          <a:p>
            <a:pPr>
              <a:buNone/>
            </a:pPr>
            <a:endParaRPr lang="en-AU" sz="2200" dirty="0" smtClean="0"/>
          </a:p>
          <a:p>
            <a:r>
              <a:rPr lang="en-AU" sz="2200" dirty="0" smtClean="0"/>
              <a:t>What generic wines do you know?</a:t>
            </a:r>
          </a:p>
          <a:p>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Generic wines</a:t>
            </a:r>
          </a:p>
        </p:txBody>
      </p:sp>
      <p:pic>
        <p:nvPicPr>
          <p:cNvPr id="1026" name="Picture 2" descr="C:\Documents and Settings\danielc\Desktop\Serve a range of wine products images\155295_red_wine_in_bottle_and_glass.jpg"/>
          <p:cNvPicPr>
            <a:picLocks noChangeAspect="1" noChangeArrowheads="1"/>
          </p:cNvPicPr>
          <p:nvPr/>
        </p:nvPicPr>
        <p:blipFill>
          <a:blip r:embed="rId3" cstate="print"/>
          <a:srcRect/>
          <a:stretch>
            <a:fillRect/>
          </a:stretch>
        </p:blipFill>
        <p:spPr bwMode="auto">
          <a:xfrm>
            <a:off x="3633788" y="3429000"/>
            <a:ext cx="1876424" cy="2655317"/>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10</a:t>
            </a:fld>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Generic white wines</a:t>
            </a:r>
            <a:endParaRPr lang="en-AU" sz="2200" dirty="0" smtClean="0"/>
          </a:p>
          <a:p>
            <a:pPr>
              <a:spcBef>
                <a:spcPts val="600"/>
              </a:spcBef>
              <a:spcAft>
                <a:spcPts val="1200"/>
              </a:spcAft>
              <a:buNone/>
            </a:pPr>
            <a:r>
              <a:rPr lang="en-AU" sz="2200" dirty="0" smtClean="0"/>
              <a:t>Generic white wines include:</a:t>
            </a:r>
          </a:p>
          <a:p>
            <a:pPr lvl="0">
              <a:spcBef>
                <a:spcPts val="600"/>
              </a:spcBef>
              <a:spcAft>
                <a:spcPts val="1200"/>
              </a:spcAft>
            </a:pPr>
            <a:r>
              <a:rPr lang="en-AU" sz="2200" dirty="0" smtClean="0"/>
              <a:t>Chablis</a:t>
            </a:r>
          </a:p>
          <a:p>
            <a:pPr lvl="0">
              <a:spcBef>
                <a:spcPts val="600"/>
              </a:spcBef>
              <a:spcAft>
                <a:spcPts val="1200"/>
              </a:spcAft>
            </a:pPr>
            <a:r>
              <a:rPr lang="en-AU" sz="2200" dirty="0" smtClean="0"/>
              <a:t>Hock</a:t>
            </a:r>
          </a:p>
          <a:p>
            <a:pPr lvl="0">
              <a:spcBef>
                <a:spcPts val="600"/>
              </a:spcBef>
              <a:spcAft>
                <a:spcPts val="1200"/>
              </a:spcAft>
            </a:pPr>
            <a:r>
              <a:rPr lang="en-AU" sz="2200" dirty="0" smtClean="0"/>
              <a:t>Moselle</a:t>
            </a:r>
          </a:p>
          <a:p>
            <a:pPr lvl="0">
              <a:spcBef>
                <a:spcPts val="600"/>
              </a:spcBef>
              <a:spcAft>
                <a:spcPts val="1200"/>
              </a:spcAft>
            </a:pPr>
            <a:r>
              <a:rPr lang="en-AU" sz="2200" dirty="0" smtClean="0"/>
              <a:t>Sauternes </a:t>
            </a:r>
          </a:p>
          <a:p>
            <a:pPr lvl="0">
              <a:spcBef>
                <a:spcPts val="600"/>
              </a:spcBef>
              <a:spcAft>
                <a:spcPts val="1200"/>
              </a:spcAft>
            </a:pPr>
            <a:r>
              <a:rPr lang="en-AU" sz="2200" dirty="0" smtClean="0"/>
              <a:t>White Burgundy</a:t>
            </a:r>
          </a:p>
          <a:p>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Generic wines</a:t>
            </a:r>
          </a:p>
        </p:txBody>
      </p:sp>
      <p:pic>
        <p:nvPicPr>
          <p:cNvPr id="2050" name="Picture 2" descr="C:\Documents and Settings\danielc\Desktop\Serve a range of wine products images\1281399_white_wine.jpg"/>
          <p:cNvPicPr>
            <a:picLocks noChangeAspect="1" noChangeArrowheads="1"/>
          </p:cNvPicPr>
          <p:nvPr/>
        </p:nvPicPr>
        <p:blipFill>
          <a:blip r:embed="rId3" cstate="print"/>
          <a:srcRect/>
          <a:stretch>
            <a:fillRect/>
          </a:stretch>
        </p:blipFill>
        <p:spPr bwMode="auto">
          <a:xfrm>
            <a:off x="5143504" y="2428868"/>
            <a:ext cx="857250" cy="2857500"/>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11</a:t>
            </a:fld>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Generic red wines</a:t>
            </a:r>
            <a:endParaRPr lang="en-AU" sz="2200" dirty="0" smtClean="0"/>
          </a:p>
          <a:p>
            <a:pPr>
              <a:spcBef>
                <a:spcPts val="600"/>
              </a:spcBef>
              <a:spcAft>
                <a:spcPts val="1200"/>
              </a:spcAft>
              <a:buNone/>
            </a:pPr>
            <a:r>
              <a:rPr lang="en-AU" sz="2200" dirty="0" smtClean="0"/>
              <a:t>Generic red wines include:</a:t>
            </a:r>
          </a:p>
          <a:p>
            <a:pPr lvl="0">
              <a:spcBef>
                <a:spcPts val="600"/>
              </a:spcBef>
              <a:spcAft>
                <a:spcPts val="1200"/>
              </a:spcAft>
            </a:pPr>
            <a:r>
              <a:rPr lang="en-AU" sz="2200" dirty="0" smtClean="0"/>
              <a:t>Burgundy</a:t>
            </a:r>
          </a:p>
          <a:p>
            <a:pPr lvl="0">
              <a:spcBef>
                <a:spcPts val="600"/>
              </a:spcBef>
              <a:spcAft>
                <a:spcPts val="1200"/>
              </a:spcAft>
            </a:pPr>
            <a:r>
              <a:rPr lang="en-AU" sz="2200" dirty="0" smtClean="0"/>
              <a:t>Claret</a:t>
            </a:r>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Generic wines</a:t>
            </a:r>
          </a:p>
        </p:txBody>
      </p:sp>
      <p:pic>
        <p:nvPicPr>
          <p:cNvPr id="3074" name="Picture 2" descr="C:\Documents and Settings\danielc\Desktop\Serve a range of wine products images\830350_wine_in_the_country_2.jpg"/>
          <p:cNvPicPr>
            <a:picLocks noChangeAspect="1" noChangeArrowheads="1"/>
          </p:cNvPicPr>
          <p:nvPr/>
        </p:nvPicPr>
        <p:blipFill>
          <a:blip r:embed="rId3" cstate="print"/>
          <a:srcRect/>
          <a:stretch>
            <a:fillRect/>
          </a:stretch>
        </p:blipFill>
        <p:spPr bwMode="auto">
          <a:xfrm>
            <a:off x="5357818" y="1785926"/>
            <a:ext cx="1943100" cy="2857500"/>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12</a:t>
            </a:fld>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0">
              <a:spcBef>
                <a:spcPts val="600"/>
              </a:spcBef>
              <a:spcAft>
                <a:spcPts val="1200"/>
              </a:spcAft>
              <a:buNone/>
            </a:pPr>
            <a:r>
              <a:rPr lang="en-AU" sz="2200" dirty="0" smtClean="0"/>
              <a:t>When most wine industries started, most if not all of its wines were generic wines.</a:t>
            </a:r>
          </a:p>
          <a:p>
            <a:pPr>
              <a:spcBef>
                <a:spcPts val="600"/>
              </a:spcBef>
              <a:spcAft>
                <a:spcPts val="1200"/>
              </a:spcAft>
              <a:buNone/>
            </a:pPr>
            <a:r>
              <a:rPr lang="en-AU" sz="2200" dirty="0" smtClean="0"/>
              <a:t>Today there is a tendency for:</a:t>
            </a:r>
          </a:p>
          <a:p>
            <a:pPr>
              <a:spcBef>
                <a:spcPts val="600"/>
              </a:spcBef>
              <a:spcAft>
                <a:spcPts val="1200"/>
              </a:spcAft>
            </a:pPr>
            <a:r>
              <a:rPr lang="en-AU" sz="2200" dirty="0" smtClean="0"/>
              <a:t>Cask or house wines to be generic</a:t>
            </a:r>
          </a:p>
          <a:p>
            <a:pPr>
              <a:spcBef>
                <a:spcPts val="600"/>
              </a:spcBef>
              <a:spcAft>
                <a:spcPts val="1200"/>
              </a:spcAft>
            </a:pPr>
            <a:r>
              <a:rPr lang="en-AU" sz="2200" dirty="0" smtClean="0"/>
              <a:t>Premium bottled wines to be varietal</a:t>
            </a: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Varietal and generic wines</a:t>
            </a:r>
          </a:p>
        </p:txBody>
      </p:sp>
      <p:pic>
        <p:nvPicPr>
          <p:cNvPr id="4098" name="Picture 2" descr="C:\Documents and Settings\danielc\Desktop\Serve a range of wine products images\443066_.jpg"/>
          <p:cNvPicPr>
            <a:picLocks noChangeAspect="1" noChangeArrowheads="1"/>
          </p:cNvPicPr>
          <p:nvPr/>
        </p:nvPicPr>
        <p:blipFill>
          <a:blip r:embed="rId3" cstate="print"/>
          <a:srcRect/>
          <a:stretch>
            <a:fillRect/>
          </a:stretch>
        </p:blipFill>
        <p:spPr bwMode="auto">
          <a:xfrm>
            <a:off x="5929322" y="2500306"/>
            <a:ext cx="2335897" cy="1635128"/>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13</a:t>
            </a:fld>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pPr>
            <a:r>
              <a:rPr lang="en-AU" sz="2200" dirty="0" smtClean="0"/>
              <a:t>The word ‘Champagne’ is now legally reserved for sparkling wine produced from the Champagne region in France</a:t>
            </a:r>
          </a:p>
          <a:p>
            <a:pPr>
              <a:spcBef>
                <a:spcPts val="600"/>
              </a:spcBef>
              <a:spcAft>
                <a:spcPts val="1200"/>
              </a:spcAft>
            </a:pPr>
            <a:r>
              <a:rPr lang="en-AU" sz="2200" dirty="0" smtClean="0"/>
              <a:t>Where produced in other parts of the world, </a:t>
            </a:r>
            <a:br>
              <a:rPr lang="en-AU" sz="2200" dirty="0" smtClean="0"/>
            </a:br>
            <a:r>
              <a:rPr lang="en-AU" sz="2200" dirty="0" smtClean="0"/>
              <a:t>it is correctly now known as ‘sparkling wine’</a:t>
            </a: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Champagne / sparking wines</a:t>
            </a:r>
          </a:p>
        </p:txBody>
      </p:sp>
      <p:pic>
        <p:nvPicPr>
          <p:cNvPr id="6" name="Picture 5" descr="5310472113_05b5a5e36e_m.jpg"/>
          <p:cNvPicPr>
            <a:picLocks noChangeAspect="1"/>
          </p:cNvPicPr>
          <p:nvPr/>
        </p:nvPicPr>
        <p:blipFill>
          <a:blip r:embed="rId3" cstate="print"/>
          <a:stretch>
            <a:fillRect/>
          </a:stretch>
        </p:blipFill>
        <p:spPr>
          <a:xfrm>
            <a:off x="6858016" y="2786058"/>
            <a:ext cx="1549400" cy="232410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a:t>
            </a:fld>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Styles </a:t>
            </a:r>
          </a:p>
          <a:p>
            <a:pPr>
              <a:spcBef>
                <a:spcPts val="600"/>
              </a:spcBef>
              <a:spcAft>
                <a:spcPts val="1200"/>
              </a:spcAft>
            </a:pPr>
            <a:r>
              <a:rPr lang="en-AU" sz="2200" dirty="0" smtClean="0"/>
              <a:t>Non-vintage (N.V.)</a:t>
            </a:r>
          </a:p>
          <a:p>
            <a:pPr>
              <a:spcBef>
                <a:spcPts val="600"/>
              </a:spcBef>
              <a:spcAft>
                <a:spcPts val="1200"/>
              </a:spcAft>
            </a:pPr>
            <a:r>
              <a:rPr lang="en-AU" sz="2200" dirty="0" smtClean="0"/>
              <a:t>Vintage</a:t>
            </a:r>
          </a:p>
          <a:p>
            <a:pPr>
              <a:spcBef>
                <a:spcPts val="600"/>
              </a:spcBef>
              <a:spcAft>
                <a:spcPts val="1200"/>
              </a:spcAft>
            </a:pPr>
            <a:r>
              <a:rPr lang="en-AU" sz="2200" dirty="0" smtClean="0"/>
              <a:t>Rosé</a:t>
            </a:r>
          </a:p>
          <a:p>
            <a:pPr>
              <a:spcBef>
                <a:spcPts val="600"/>
              </a:spcBef>
              <a:spcAft>
                <a:spcPts val="1200"/>
              </a:spcAft>
            </a:pPr>
            <a:r>
              <a:rPr lang="en-AU" sz="2200" dirty="0" smtClean="0"/>
              <a:t>Crémant</a:t>
            </a:r>
          </a:p>
          <a:p>
            <a:pPr>
              <a:spcBef>
                <a:spcPts val="600"/>
              </a:spcBef>
              <a:spcAft>
                <a:spcPts val="1200"/>
              </a:spcAft>
            </a:pPr>
            <a:r>
              <a:rPr lang="en-AU" sz="2200" dirty="0" smtClean="0"/>
              <a:t>Blanc de blancs</a:t>
            </a:r>
          </a:p>
          <a:p>
            <a:pPr>
              <a:spcBef>
                <a:spcPts val="600"/>
              </a:spcBef>
              <a:spcAft>
                <a:spcPts val="1200"/>
              </a:spcAft>
            </a:pPr>
            <a:r>
              <a:rPr lang="en-AU" sz="2200" dirty="0" smtClean="0"/>
              <a:t>Blanc de Noirs</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Champagne / sparking wines</a:t>
            </a:r>
          </a:p>
        </p:txBody>
      </p:sp>
      <p:pic>
        <p:nvPicPr>
          <p:cNvPr id="6" name="Picture 5" descr="6101719678_659d6bc292_m.jpg"/>
          <p:cNvPicPr/>
          <p:nvPr/>
        </p:nvPicPr>
        <p:blipFill>
          <a:blip r:embed="rId3" cstate="print"/>
          <a:stretch>
            <a:fillRect/>
          </a:stretch>
        </p:blipFill>
        <p:spPr>
          <a:xfrm>
            <a:off x="5643570" y="2714620"/>
            <a:ext cx="2368550" cy="1871663"/>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15</a:t>
            </a:fld>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0">
              <a:spcBef>
                <a:spcPts val="600"/>
              </a:spcBef>
              <a:spcAft>
                <a:spcPts val="1200"/>
              </a:spcAft>
              <a:buNone/>
            </a:pPr>
            <a:r>
              <a:rPr lang="en-AU" sz="2200" dirty="0" smtClean="0"/>
              <a:t>Fortified wines are base wines which are strengthened or ‘fortified’ by the addition of grape spirit or brandy.</a:t>
            </a:r>
          </a:p>
          <a:p>
            <a:pPr>
              <a:spcBef>
                <a:spcPts val="600"/>
              </a:spcBef>
              <a:spcAft>
                <a:spcPts val="1200"/>
              </a:spcAft>
              <a:buNone/>
            </a:pPr>
            <a:r>
              <a:rPr lang="en-AU" sz="2200" dirty="0" smtClean="0"/>
              <a:t>The addition of the grape spirit:</a:t>
            </a:r>
          </a:p>
          <a:p>
            <a:pPr>
              <a:spcBef>
                <a:spcPts val="600"/>
              </a:spcBef>
              <a:spcAft>
                <a:spcPts val="1200"/>
              </a:spcAft>
            </a:pPr>
            <a:r>
              <a:rPr lang="en-AU" sz="2200" dirty="0" smtClean="0"/>
              <a:t>Stops fermentation</a:t>
            </a:r>
          </a:p>
          <a:p>
            <a:pPr>
              <a:spcBef>
                <a:spcPts val="600"/>
              </a:spcBef>
              <a:spcAft>
                <a:spcPts val="1200"/>
              </a:spcAft>
            </a:pPr>
            <a:r>
              <a:rPr lang="en-AU" sz="2200" dirty="0" smtClean="0"/>
              <a:t>Increases alcoholic strength </a:t>
            </a:r>
          </a:p>
          <a:p>
            <a:pPr>
              <a:spcBef>
                <a:spcPts val="600"/>
              </a:spcBef>
              <a:spcAft>
                <a:spcPts val="1200"/>
              </a:spcAft>
            </a:pPr>
            <a:r>
              <a:rPr lang="en-AU" sz="2200" dirty="0" smtClean="0"/>
              <a:t>Adds sweetness </a:t>
            </a:r>
          </a:p>
          <a:p>
            <a:pPr>
              <a:spcBef>
                <a:spcPts val="600"/>
              </a:spcBef>
              <a:spcAft>
                <a:spcPts val="1200"/>
              </a:spcAft>
            </a:pPr>
            <a:r>
              <a:rPr lang="en-AU" sz="2200" dirty="0" smtClean="0"/>
              <a:t>Imparts keeping qualities</a:t>
            </a:r>
          </a:p>
          <a:p>
            <a:pPr>
              <a:spcBef>
                <a:spcPts val="600"/>
              </a:spcBef>
              <a:spcAft>
                <a:spcPts val="1200"/>
              </a:spcAft>
            </a:pPr>
            <a:r>
              <a:rPr lang="en-AU" sz="2200" dirty="0" smtClean="0"/>
              <a:t>Provides the brandy character</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Fortified wines</a:t>
            </a:r>
          </a:p>
        </p:txBody>
      </p:sp>
      <p:pic>
        <p:nvPicPr>
          <p:cNvPr id="4" name="Picture 3" descr="Degustation of Spanish sherry by Michal Osmenda"/>
          <p:cNvPicPr/>
          <p:nvPr/>
        </p:nvPicPr>
        <p:blipFill>
          <a:blip r:embed="rId3" cstate="print"/>
          <a:srcRect/>
          <a:stretch>
            <a:fillRect/>
          </a:stretch>
        </p:blipFill>
        <p:spPr bwMode="auto">
          <a:xfrm>
            <a:off x="6072198" y="3214686"/>
            <a:ext cx="2281238" cy="1690688"/>
          </a:xfrm>
          <a:prstGeom prst="rect">
            <a:avLst/>
          </a:prstGeom>
          <a:noFill/>
          <a:ln w="9525">
            <a:noFill/>
            <a:miter lim="800000"/>
            <a:headEnd/>
            <a:tailEnd/>
          </a:ln>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16</a:t>
            </a:fld>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0">
              <a:spcBef>
                <a:spcPts val="600"/>
              </a:spcBef>
              <a:spcAft>
                <a:spcPts val="1200"/>
              </a:spcAft>
              <a:buNone/>
            </a:pPr>
            <a:r>
              <a:rPr lang="en-AU" sz="2200" b="1" dirty="0" smtClean="0"/>
              <a:t>Types of fortified wines</a:t>
            </a:r>
          </a:p>
          <a:p>
            <a:pPr>
              <a:spcBef>
                <a:spcPts val="600"/>
              </a:spcBef>
              <a:spcAft>
                <a:spcPts val="1200"/>
              </a:spcAft>
            </a:pPr>
            <a:r>
              <a:rPr lang="en-AU" sz="2200" dirty="0" smtClean="0"/>
              <a:t>Sherry</a:t>
            </a:r>
          </a:p>
          <a:p>
            <a:pPr>
              <a:spcBef>
                <a:spcPts val="600"/>
              </a:spcBef>
              <a:spcAft>
                <a:spcPts val="1200"/>
              </a:spcAft>
            </a:pPr>
            <a:r>
              <a:rPr lang="en-AU" sz="2200" dirty="0" smtClean="0"/>
              <a:t>Vermouth</a:t>
            </a:r>
          </a:p>
          <a:p>
            <a:pPr>
              <a:spcBef>
                <a:spcPts val="600"/>
              </a:spcBef>
              <a:spcAft>
                <a:spcPts val="1200"/>
              </a:spcAft>
            </a:pPr>
            <a:r>
              <a:rPr lang="en-AU" sz="2200" dirty="0" smtClean="0"/>
              <a:t>Port</a:t>
            </a:r>
          </a:p>
          <a:p>
            <a:pPr>
              <a:spcBef>
                <a:spcPts val="600"/>
              </a:spcBef>
              <a:spcAft>
                <a:spcPts val="1200"/>
              </a:spcAft>
            </a:pPr>
            <a:r>
              <a:rPr lang="en-AU" sz="2200" dirty="0" smtClean="0"/>
              <a:t>Muscat</a:t>
            </a:r>
          </a:p>
          <a:p>
            <a:pPr>
              <a:spcBef>
                <a:spcPts val="600"/>
              </a:spcBef>
              <a:spcAft>
                <a:spcPts val="1200"/>
              </a:spcAft>
            </a:pPr>
            <a:r>
              <a:rPr lang="en-AU" sz="2200" dirty="0" smtClean="0"/>
              <a:t>Tokay</a:t>
            </a:r>
          </a:p>
          <a:p>
            <a:pPr>
              <a:spcBef>
                <a:spcPts val="600"/>
              </a:spcBef>
              <a:spcAft>
                <a:spcPts val="1200"/>
              </a:spcAft>
            </a:pPr>
            <a:r>
              <a:rPr lang="en-AU" sz="2200" dirty="0" smtClean="0"/>
              <a:t>Madeira</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Fortified wines</a:t>
            </a:r>
          </a:p>
        </p:txBody>
      </p:sp>
      <p:pic>
        <p:nvPicPr>
          <p:cNvPr id="5" name="Picture 4" descr="Rob Roy Cocktail by TheCulinaryGeek"/>
          <p:cNvPicPr/>
          <p:nvPr/>
        </p:nvPicPr>
        <p:blipFill>
          <a:blip r:embed="rId3" cstate="print"/>
          <a:srcRect/>
          <a:stretch>
            <a:fillRect/>
          </a:stretch>
        </p:blipFill>
        <p:spPr bwMode="auto">
          <a:xfrm>
            <a:off x="6215074" y="2714620"/>
            <a:ext cx="1590675" cy="1895475"/>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17</a:t>
            </a:fld>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421200">
              <a:spcBef>
                <a:spcPts val="600"/>
              </a:spcBef>
              <a:spcAft>
                <a:spcPts val="1200"/>
              </a:spcAft>
            </a:pPr>
            <a:r>
              <a:rPr lang="en-AU" sz="2200" dirty="0" smtClean="0"/>
              <a:t>Rice wine is an alcoholic beverage made from rice</a:t>
            </a:r>
          </a:p>
          <a:p>
            <a:pPr marL="421200">
              <a:spcBef>
                <a:spcPts val="600"/>
              </a:spcBef>
              <a:spcAft>
                <a:spcPts val="1200"/>
              </a:spcAft>
            </a:pPr>
            <a:r>
              <a:rPr lang="en-AU" sz="2200" dirty="0" smtClean="0"/>
              <a:t>Rice wine typically has a higher alcohol content</a:t>
            </a:r>
          </a:p>
          <a:p>
            <a:pPr marL="421200">
              <a:spcBef>
                <a:spcPts val="600"/>
              </a:spcBef>
              <a:spcAft>
                <a:spcPts val="1200"/>
              </a:spcAft>
            </a:pPr>
            <a:r>
              <a:rPr lang="en-AU" sz="2200" dirty="0" smtClean="0"/>
              <a:t>Rice wine is much used in Chinese cuisine and in other Asian cuisines</a:t>
            </a:r>
          </a:p>
          <a:p>
            <a:pPr marL="0">
              <a:spcBef>
                <a:spcPts val="600"/>
              </a:spcBef>
              <a:spcAft>
                <a:spcPts val="1200"/>
              </a:spcAft>
              <a:buNone/>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Rice wines</a:t>
            </a:r>
          </a:p>
        </p:txBody>
      </p:sp>
      <p:pic>
        <p:nvPicPr>
          <p:cNvPr id="6" name="Picture 5" descr="4094382347_d23d41de15_m.jpg"/>
          <p:cNvPicPr>
            <a:picLocks noChangeAspect="1"/>
          </p:cNvPicPr>
          <p:nvPr/>
        </p:nvPicPr>
        <p:blipFill>
          <a:blip r:embed="rId3" cstate="print">
            <a:lum bright="10000"/>
          </a:blip>
          <a:stretch>
            <a:fillRect/>
          </a:stretch>
        </p:blipFill>
        <p:spPr>
          <a:xfrm>
            <a:off x="2214546" y="3857628"/>
            <a:ext cx="2514600" cy="1885950"/>
          </a:xfrm>
          <a:prstGeom prst="rect">
            <a:avLst/>
          </a:prstGeom>
        </p:spPr>
      </p:pic>
      <p:pic>
        <p:nvPicPr>
          <p:cNvPr id="5" name="Picture 4" descr="C:\Documents and Settings\danielc\Desktop\rice_wine.jpg"/>
          <p:cNvPicPr/>
          <p:nvPr/>
        </p:nvPicPr>
        <p:blipFill>
          <a:blip r:embed="rId4" cstate="print"/>
          <a:srcRect l="34820"/>
          <a:stretch>
            <a:fillRect/>
          </a:stretch>
        </p:blipFill>
        <p:spPr bwMode="auto">
          <a:xfrm>
            <a:off x="5000627" y="3857628"/>
            <a:ext cx="1375017" cy="1857388"/>
          </a:xfrm>
          <a:prstGeom prst="rect">
            <a:avLst/>
          </a:prstGeom>
          <a:noFill/>
          <a:ln w="9525">
            <a:noFill/>
            <a:miter lim="800000"/>
            <a:headEnd/>
            <a:tailEnd/>
          </a:ln>
        </p:spPr>
      </p:pic>
      <p:sp>
        <p:nvSpPr>
          <p:cNvPr id="8"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18</a:t>
            </a:fld>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Grapes</a:t>
            </a:r>
          </a:p>
          <a:p>
            <a:pPr marL="0">
              <a:spcBef>
                <a:spcPts val="600"/>
              </a:spcBef>
              <a:spcAft>
                <a:spcPts val="1200"/>
              </a:spcAft>
              <a:buNone/>
            </a:pPr>
            <a:r>
              <a:rPr lang="en-AU" sz="2200" dirty="0" smtClean="0"/>
              <a:t>The most significant influence on the character of a wine is the actual berry or grape variety used. </a:t>
            </a:r>
          </a:p>
          <a:p>
            <a:pPr>
              <a:spcBef>
                <a:spcPts val="600"/>
              </a:spcBef>
              <a:spcAft>
                <a:spcPts val="1200"/>
              </a:spcAft>
            </a:pPr>
            <a:r>
              <a:rPr lang="en-AU" sz="2200" dirty="0" smtClean="0"/>
              <a:t>Grape variety refers to the type of grape</a:t>
            </a:r>
          </a:p>
          <a:p>
            <a:pPr>
              <a:spcBef>
                <a:spcPts val="600"/>
              </a:spcBef>
              <a:spcAft>
                <a:spcPts val="1200"/>
              </a:spcAft>
            </a:pPr>
            <a:r>
              <a:rPr lang="en-AU" sz="2200" dirty="0" smtClean="0"/>
              <a:t>Varietal refers to the wine made from those grapes</a:t>
            </a:r>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Identify and differentiate between the major grape varieties </a:t>
            </a:r>
          </a:p>
        </p:txBody>
      </p:sp>
      <p:pic>
        <p:nvPicPr>
          <p:cNvPr id="8" name="Picture 7" descr="4268972768_4fc2ea9999_m.jpg"/>
          <p:cNvPicPr>
            <a:picLocks noChangeAspect="1"/>
          </p:cNvPicPr>
          <p:nvPr/>
        </p:nvPicPr>
        <p:blipFill>
          <a:blip r:embed="rId3" cstate="print"/>
          <a:stretch>
            <a:fillRect/>
          </a:stretch>
        </p:blipFill>
        <p:spPr>
          <a:xfrm>
            <a:off x="7572396" y="2857496"/>
            <a:ext cx="1168400" cy="175260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19</a:t>
            </a:fld>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Grapes</a:t>
            </a:r>
          </a:p>
          <a:p>
            <a:pPr marL="0">
              <a:spcBef>
                <a:spcPts val="600"/>
              </a:spcBef>
              <a:spcAft>
                <a:spcPts val="1200"/>
              </a:spcAft>
              <a:buNone/>
            </a:pPr>
            <a:r>
              <a:rPr lang="en-AU" sz="2200" dirty="0" smtClean="0"/>
              <a:t>The structure of the grape berry can be broken down into three major components:</a:t>
            </a:r>
          </a:p>
          <a:p>
            <a:pPr marL="0">
              <a:spcBef>
                <a:spcPts val="600"/>
              </a:spcBef>
              <a:spcAft>
                <a:spcPts val="1200"/>
              </a:spcAft>
            </a:pPr>
            <a:r>
              <a:rPr lang="en-AU" sz="2200" dirty="0" smtClean="0"/>
              <a:t>Flesh containing juice</a:t>
            </a:r>
          </a:p>
          <a:p>
            <a:pPr marL="0">
              <a:spcBef>
                <a:spcPts val="600"/>
              </a:spcBef>
              <a:spcAft>
                <a:spcPts val="1200"/>
              </a:spcAft>
            </a:pPr>
            <a:r>
              <a:rPr lang="en-AU" sz="2200" dirty="0" smtClean="0"/>
              <a:t>Skin</a:t>
            </a:r>
          </a:p>
          <a:p>
            <a:pPr marL="0">
              <a:spcBef>
                <a:spcPts val="600"/>
              </a:spcBef>
              <a:spcAft>
                <a:spcPts val="1200"/>
              </a:spcAft>
            </a:pPr>
            <a:r>
              <a:rPr lang="en-AU" sz="2200" dirty="0" smtClean="0"/>
              <a:t>Seeds</a:t>
            </a:r>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Identify and differentiate between the major grape varieties </a:t>
            </a:r>
          </a:p>
        </p:txBody>
      </p:sp>
      <p:pic>
        <p:nvPicPr>
          <p:cNvPr id="5" name="Picture 4" descr="47660_8347.jpg"/>
          <p:cNvPicPr>
            <a:picLocks noChangeAspect="1"/>
          </p:cNvPicPr>
          <p:nvPr/>
        </p:nvPicPr>
        <p:blipFill>
          <a:blip r:embed="rId3" cstate="print"/>
          <a:stretch>
            <a:fillRect/>
          </a:stretch>
        </p:blipFill>
        <p:spPr>
          <a:xfrm>
            <a:off x="5357818" y="2857496"/>
            <a:ext cx="2438400" cy="18288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20</a:t>
            </a:fld>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Varietal white wines</a:t>
            </a:r>
            <a:endParaRPr lang="en-AU" sz="2200" dirty="0" smtClean="0"/>
          </a:p>
          <a:p>
            <a:pPr>
              <a:spcBef>
                <a:spcPts val="600"/>
              </a:spcBef>
              <a:spcAft>
                <a:spcPts val="1200"/>
              </a:spcAft>
              <a:buNone/>
            </a:pPr>
            <a:r>
              <a:rPr lang="en-AU" sz="2200" dirty="0" smtClean="0"/>
              <a:t>White grape varieties include:</a:t>
            </a:r>
          </a:p>
          <a:p>
            <a:pPr lvl="0">
              <a:spcBef>
                <a:spcPts val="600"/>
              </a:spcBef>
              <a:spcAft>
                <a:spcPts val="1200"/>
              </a:spcAft>
            </a:pPr>
            <a:r>
              <a:rPr lang="en-AU" sz="2200" dirty="0" smtClean="0"/>
              <a:t>Chardonnay</a:t>
            </a:r>
          </a:p>
          <a:p>
            <a:pPr lvl="0">
              <a:spcBef>
                <a:spcPts val="600"/>
              </a:spcBef>
              <a:spcAft>
                <a:spcPts val="1200"/>
              </a:spcAft>
            </a:pPr>
            <a:r>
              <a:rPr lang="en-AU" sz="2200" dirty="0" smtClean="0"/>
              <a:t>Chenin Blanc</a:t>
            </a:r>
          </a:p>
          <a:p>
            <a:pPr lvl="0">
              <a:spcBef>
                <a:spcPts val="600"/>
              </a:spcBef>
              <a:spcAft>
                <a:spcPts val="1200"/>
              </a:spcAft>
            </a:pPr>
            <a:r>
              <a:rPr lang="en-AU" sz="2200" dirty="0" smtClean="0"/>
              <a:t>Riesling</a:t>
            </a:r>
          </a:p>
          <a:p>
            <a:pPr lvl="0">
              <a:spcBef>
                <a:spcPts val="600"/>
              </a:spcBef>
              <a:spcAft>
                <a:spcPts val="1200"/>
              </a:spcAft>
            </a:pPr>
            <a:r>
              <a:rPr lang="en-AU" sz="2200" dirty="0" smtClean="0"/>
              <a:t>Sauvignon Blanc</a:t>
            </a:r>
          </a:p>
          <a:p>
            <a:pPr lvl="0">
              <a:spcBef>
                <a:spcPts val="600"/>
              </a:spcBef>
              <a:spcAft>
                <a:spcPts val="1200"/>
              </a:spcAft>
            </a:pPr>
            <a:r>
              <a:rPr lang="en-AU" sz="2200" dirty="0" smtClean="0"/>
              <a:t>Semillon</a:t>
            </a:r>
          </a:p>
          <a:p>
            <a:pPr lvl="0">
              <a:spcBef>
                <a:spcPts val="600"/>
              </a:spcBef>
              <a:spcAft>
                <a:spcPts val="1200"/>
              </a:spcAft>
            </a:pPr>
            <a:r>
              <a:rPr lang="en-AU" sz="2200" dirty="0" smtClean="0"/>
              <a:t>Traminer</a:t>
            </a: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Varietal wines</a:t>
            </a:r>
          </a:p>
        </p:txBody>
      </p:sp>
      <p:pic>
        <p:nvPicPr>
          <p:cNvPr id="5" name="Picture 4" descr="238123843_5a78e5a5ae_m.jpg"/>
          <p:cNvPicPr>
            <a:picLocks noChangeAspect="1"/>
          </p:cNvPicPr>
          <p:nvPr/>
        </p:nvPicPr>
        <p:blipFill>
          <a:blip r:embed="rId3" cstate="print"/>
          <a:stretch>
            <a:fillRect/>
          </a:stretch>
        </p:blipFill>
        <p:spPr>
          <a:xfrm>
            <a:off x="5500694" y="3000372"/>
            <a:ext cx="2286000" cy="17145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21</a:t>
            </a:fld>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Varietal red wines</a:t>
            </a:r>
            <a:endParaRPr lang="en-AU" sz="2200" dirty="0" smtClean="0"/>
          </a:p>
          <a:p>
            <a:pPr>
              <a:spcBef>
                <a:spcPts val="600"/>
              </a:spcBef>
              <a:spcAft>
                <a:spcPts val="1200"/>
              </a:spcAft>
              <a:buNone/>
            </a:pPr>
            <a:r>
              <a:rPr lang="en-AU" sz="2200" dirty="0" smtClean="0"/>
              <a:t>Red grape varieties include:</a:t>
            </a:r>
          </a:p>
          <a:p>
            <a:pPr lvl="0">
              <a:spcBef>
                <a:spcPts val="600"/>
              </a:spcBef>
              <a:spcAft>
                <a:spcPts val="1200"/>
              </a:spcAft>
            </a:pPr>
            <a:r>
              <a:rPr lang="en-AU" sz="2200" dirty="0" smtClean="0"/>
              <a:t>Cabernet Sauvignon</a:t>
            </a:r>
          </a:p>
          <a:p>
            <a:pPr lvl="0">
              <a:spcBef>
                <a:spcPts val="600"/>
              </a:spcBef>
              <a:spcAft>
                <a:spcPts val="1200"/>
              </a:spcAft>
            </a:pPr>
            <a:r>
              <a:rPr lang="en-AU" sz="2200" dirty="0" smtClean="0"/>
              <a:t>Malbec</a:t>
            </a:r>
          </a:p>
          <a:p>
            <a:pPr lvl="0">
              <a:spcBef>
                <a:spcPts val="600"/>
              </a:spcBef>
              <a:spcAft>
                <a:spcPts val="1200"/>
              </a:spcAft>
            </a:pPr>
            <a:r>
              <a:rPr lang="en-AU" sz="2200" dirty="0" smtClean="0"/>
              <a:t>Merlot</a:t>
            </a:r>
          </a:p>
          <a:p>
            <a:pPr lvl="0">
              <a:spcBef>
                <a:spcPts val="600"/>
              </a:spcBef>
              <a:spcAft>
                <a:spcPts val="1200"/>
              </a:spcAft>
            </a:pPr>
            <a:r>
              <a:rPr lang="en-AU" sz="2200" dirty="0" smtClean="0"/>
              <a:t>Pinot Noir</a:t>
            </a:r>
          </a:p>
          <a:p>
            <a:pPr lvl="0">
              <a:spcBef>
                <a:spcPts val="600"/>
              </a:spcBef>
              <a:spcAft>
                <a:spcPts val="1200"/>
              </a:spcAft>
            </a:pPr>
            <a:r>
              <a:rPr lang="en-AU" sz="2200" dirty="0" smtClean="0"/>
              <a:t>Shiraz</a:t>
            </a: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Varietal wines</a:t>
            </a:r>
          </a:p>
        </p:txBody>
      </p:sp>
      <p:pic>
        <p:nvPicPr>
          <p:cNvPr id="6" name="Picture 5" descr="2491281_b94de94e9d_m.jpg"/>
          <p:cNvPicPr/>
          <p:nvPr/>
        </p:nvPicPr>
        <p:blipFill>
          <a:blip r:embed="rId3" cstate="print"/>
          <a:stretch>
            <a:fillRect/>
          </a:stretch>
        </p:blipFill>
        <p:spPr>
          <a:xfrm>
            <a:off x="4929190" y="3286124"/>
            <a:ext cx="1876425" cy="1681163"/>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22</a:t>
            </a:fld>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0">
              <a:spcBef>
                <a:spcPts val="600"/>
              </a:spcBef>
              <a:spcAft>
                <a:spcPts val="1200"/>
              </a:spcAft>
            </a:pPr>
            <a:r>
              <a:rPr lang="en-AU" sz="2200" dirty="0" smtClean="0"/>
              <a:t>What are famous wine growing countries?</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countries</a:t>
            </a:r>
          </a:p>
        </p:txBody>
      </p:sp>
      <p:pic>
        <p:nvPicPr>
          <p:cNvPr id="6" name="Picture 5" descr="821698627_a0b837b428_m.jpg"/>
          <p:cNvPicPr>
            <a:picLocks noChangeAspect="1"/>
          </p:cNvPicPr>
          <p:nvPr/>
        </p:nvPicPr>
        <p:blipFill>
          <a:blip r:embed="rId3" cstate="print"/>
          <a:stretch>
            <a:fillRect/>
          </a:stretch>
        </p:blipFill>
        <p:spPr>
          <a:xfrm>
            <a:off x="2843808" y="2708920"/>
            <a:ext cx="2194560" cy="164592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23</a:t>
            </a:fld>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0">
              <a:spcBef>
                <a:spcPts val="600"/>
              </a:spcBef>
              <a:spcAft>
                <a:spcPts val="1200"/>
              </a:spcAft>
              <a:buNone/>
            </a:pPr>
            <a:r>
              <a:rPr lang="en-AU" sz="2200" b="1" dirty="0" smtClean="0"/>
              <a:t>Top 10 wine producing countries in 2011</a:t>
            </a:r>
          </a:p>
          <a:p>
            <a:pPr marL="0">
              <a:spcBef>
                <a:spcPts val="600"/>
              </a:spcBef>
              <a:spcAft>
                <a:spcPts val="1200"/>
              </a:spcAft>
              <a:buNone/>
            </a:pPr>
            <a:r>
              <a:rPr lang="en-AU" sz="2200" u="sng" dirty="0" smtClean="0"/>
              <a:t>1-5</a:t>
            </a:r>
          </a:p>
          <a:p>
            <a:pPr>
              <a:spcBef>
                <a:spcPts val="600"/>
              </a:spcBef>
              <a:spcAft>
                <a:spcPts val="1200"/>
              </a:spcAft>
            </a:pPr>
            <a:r>
              <a:rPr lang="en-AU" sz="2200" dirty="0" smtClean="0"/>
              <a:t>France</a:t>
            </a:r>
          </a:p>
          <a:p>
            <a:pPr>
              <a:spcBef>
                <a:spcPts val="600"/>
              </a:spcBef>
              <a:spcAft>
                <a:spcPts val="1200"/>
              </a:spcAft>
            </a:pPr>
            <a:r>
              <a:rPr lang="en-AU" sz="2200" dirty="0" smtClean="0"/>
              <a:t>Italy</a:t>
            </a:r>
          </a:p>
          <a:p>
            <a:pPr>
              <a:spcBef>
                <a:spcPts val="600"/>
              </a:spcBef>
              <a:spcAft>
                <a:spcPts val="1200"/>
              </a:spcAft>
            </a:pPr>
            <a:r>
              <a:rPr lang="en-AU" sz="2200" dirty="0" smtClean="0"/>
              <a:t>Spain</a:t>
            </a:r>
          </a:p>
          <a:p>
            <a:pPr>
              <a:spcBef>
                <a:spcPts val="600"/>
              </a:spcBef>
              <a:spcAft>
                <a:spcPts val="1200"/>
              </a:spcAft>
            </a:pPr>
            <a:r>
              <a:rPr lang="en-AU" sz="2200" dirty="0" smtClean="0"/>
              <a:t>United States</a:t>
            </a:r>
          </a:p>
          <a:p>
            <a:pPr>
              <a:spcBef>
                <a:spcPts val="600"/>
              </a:spcBef>
              <a:spcAft>
                <a:spcPts val="1200"/>
              </a:spcAft>
            </a:pPr>
            <a:r>
              <a:rPr lang="en-AU" sz="2200" dirty="0" smtClean="0"/>
              <a:t>Argentina</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countries</a:t>
            </a:r>
          </a:p>
        </p:txBody>
      </p:sp>
      <p:pic>
        <p:nvPicPr>
          <p:cNvPr id="5" name="Picture 4" descr="1459449853_f44145265a_m.jpg"/>
          <p:cNvPicPr>
            <a:picLocks noChangeAspect="1"/>
          </p:cNvPicPr>
          <p:nvPr/>
        </p:nvPicPr>
        <p:blipFill>
          <a:blip r:embed="rId3" cstate="print"/>
          <a:stretch>
            <a:fillRect/>
          </a:stretch>
        </p:blipFill>
        <p:spPr>
          <a:xfrm>
            <a:off x="5500694" y="2786058"/>
            <a:ext cx="1371600" cy="18288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24</a:t>
            </a:fld>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0">
              <a:spcBef>
                <a:spcPts val="600"/>
              </a:spcBef>
              <a:spcAft>
                <a:spcPts val="1200"/>
              </a:spcAft>
              <a:buNone/>
            </a:pPr>
            <a:r>
              <a:rPr lang="en-AU" sz="2200" b="1" dirty="0" smtClean="0"/>
              <a:t>Top 10 wine producing countries in 2011</a:t>
            </a:r>
          </a:p>
          <a:p>
            <a:pPr marL="0">
              <a:spcBef>
                <a:spcPts val="600"/>
              </a:spcBef>
              <a:spcAft>
                <a:spcPts val="1200"/>
              </a:spcAft>
              <a:buNone/>
            </a:pPr>
            <a:r>
              <a:rPr lang="en-AU" sz="2200" u="sng" dirty="0" smtClean="0"/>
              <a:t>6 - 10</a:t>
            </a:r>
          </a:p>
          <a:p>
            <a:pPr>
              <a:spcBef>
                <a:spcPts val="600"/>
              </a:spcBef>
              <a:spcAft>
                <a:spcPts val="1200"/>
              </a:spcAft>
            </a:pPr>
            <a:r>
              <a:rPr lang="en-AU" sz="2200" dirty="0" smtClean="0"/>
              <a:t>China</a:t>
            </a:r>
          </a:p>
          <a:p>
            <a:pPr>
              <a:spcBef>
                <a:spcPts val="600"/>
              </a:spcBef>
              <a:spcAft>
                <a:spcPts val="1200"/>
              </a:spcAft>
            </a:pPr>
            <a:r>
              <a:rPr lang="en-AU" sz="2200" dirty="0" smtClean="0"/>
              <a:t>Australia</a:t>
            </a:r>
          </a:p>
          <a:p>
            <a:pPr>
              <a:spcBef>
                <a:spcPts val="600"/>
              </a:spcBef>
              <a:spcAft>
                <a:spcPts val="1200"/>
              </a:spcAft>
            </a:pPr>
            <a:r>
              <a:rPr lang="en-AU" sz="2200" dirty="0" smtClean="0"/>
              <a:t>South Africa</a:t>
            </a:r>
          </a:p>
          <a:p>
            <a:pPr>
              <a:spcBef>
                <a:spcPts val="600"/>
              </a:spcBef>
              <a:spcAft>
                <a:spcPts val="1200"/>
              </a:spcAft>
            </a:pPr>
            <a:r>
              <a:rPr lang="en-AU" sz="2200" dirty="0" smtClean="0"/>
              <a:t>Germany</a:t>
            </a:r>
          </a:p>
          <a:p>
            <a:pPr>
              <a:spcBef>
                <a:spcPts val="600"/>
              </a:spcBef>
              <a:spcAft>
                <a:spcPts val="1200"/>
              </a:spcAft>
            </a:pPr>
            <a:r>
              <a:rPr lang="en-AU" sz="2200" dirty="0" smtClean="0"/>
              <a:t>Portugal</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countries</a:t>
            </a:r>
          </a:p>
        </p:txBody>
      </p:sp>
      <p:pic>
        <p:nvPicPr>
          <p:cNvPr id="4" name="Picture 3" descr="5299104982_d64b27e903_m.jpg"/>
          <p:cNvPicPr/>
          <p:nvPr/>
        </p:nvPicPr>
        <p:blipFill>
          <a:blip r:embed="rId3" cstate="print"/>
          <a:stretch>
            <a:fillRect/>
          </a:stretch>
        </p:blipFill>
        <p:spPr>
          <a:xfrm>
            <a:off x="4786314" y="3000372"/>
            <a:ext cx="2084388" cy="1400175"/>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25</a:t>
            </a:fld>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Wine growing regions</a:t>
            </a:r>
            <a:endParaRPr lang="en-AU" sz="2200" dirty="0" smtClean="0"/>
          </a:p>
          <a:p>
            <a:pPr>
              <a:spcBef>
                <a:spcPts val="600"/>
              </a:spcBef>
              <a:spcAft>
                <a:spcPts val="1200"/>
              </a:spcAft>
            </a:pPr>
            <a:r>
              <a:rPr lang="en-AU" sz="2200" dirty="0" smtClean="0"/>
              <a:t>This section will explore some of the most famous regions for producing wine around the world</a:t>
            </a:r>
          </a:p>
          <a:p>
            <a:pPr>
              <a:spcBef>
                <a:spcPts val="600"/>
              </a:spcBef>
              <a:spcAft>
                <a:spcPts val="1200"/>
              </a:spcAft>
            </a:pPr>
            <a:r>
              <a:rPr lang="en-AU" sz="2200" dirty="0" smtClean="0"/>
              <a:t>Given that most wines on an international wine list will feature wines from these regions, having a basic understanding of these is helpful</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regions</a:t>
            </a:r>
          </a:p>
        </p:txBody>
      </p:sp>
      <p:pic>
        <p:nvPicPr>
          <p:cNvPr id="5" name="Picture 4" descr="5669218_c5a3ec628f_m.jpg"/>
          <p:cNvPicPr>
            <a:picLocks noChangeAspect="1"/>
          </p:cNvPicPr>
          <p:nvPr/>
        </p:nvPicPr>
        <p:blipFill>
          <a:blip r:embed="rId3" cstate="print"/>
          <a:stretch>
            <a:fillRect/>
          </a:stretch>
        </p:blipFill>
        <p:spPr>
          <a:xfrm>
            <a:off x="5715008" y="4143380"/>
            <a:ext cx="1371600" cy="18288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26</a:t>
            </a:fld>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France </a:t>
            </a:r>
          </a:p>
          <a:p>
            <a:pPr>
              <a:spcBef>
                <a:spcPts val="600"/>
              </a:spcBef>
              <a:spcAft>
                <a:spcPts val="1200"/>
              </a:spcAft>
            </a:pPr>
            <a:r>
              <a:rPr lang="en-AU" sz="2200" dirty="0" smtClean="0"/>
              <a:t>Champagne </a:t>
            </a:r>
          </a:p>
          <a:p>
            <a:pPr>
              <a:spcBef>
                <a:spcPts val="600"/>
              </a:spcBef>
              <a:spcAft>
                <a:spcPts val="1200"/>
              </a:spcAft>
            </a:pPr>
            <a:r>
              <a:rPr lang="en-AU" sz="2200" dirty="0" smtClean="0"/>
              <a:t>Burgundy (Bourgogne) </a:t>
            </a:r>
          </a:p>
          <a:p>
            <a:pPr>
              <a:spcBef>
                <a:spcPts val="600"/>
              </a:spcBef>
              <a:spcAft>
                <a:spcPts val="1200"/>
              </a:spcAft>
            </a:pPr>
            <a:r>
              <a:rPr lang="en-AU" sz="2200" dirty="0" smtClean="0"/>
              <a:t>Bordeaux </a:t>
            </a:r>
          </a:p>
          <a:p>
            <a:pPr>
              <a:spcBef>
                <a:spcPts val="600"/>
              </a:spcBef>
              <a:spcAft>
                <a:spcPts val="1200"/>
              </a:spcAft>
            </a:pPr>
            <a:r>
              <a:rPr lang="en-AU" sz="2200" dirty="0" smtClean="0"/>
              <a:t>Loire Valley </a:t>
            </a:r>
          </a:p>
          <a:p>
            <a:pPr>
              <a:spcBef>
                <a:spcPts val="600"/>
              </a:spcBef>
              <a:spcAft>
                <a:spcPts val="1200"/>
              </a:spcAft>
            </a:pPr>
            <a:r>
              <a:rPr lang="en-AU" sz="2200" dirty="0" smtClean="0"/>
              <a:t>Alsace </a:t>
            </a:r>
          </a:p>
          <a:p>
            <a:pPr>
              <a:spcBef>
                <a:spcPts val="600"/>
              </a:spcBef>
              <a:spcAft>
                <a:spcPts val="1200"/>
              </a:spcAft>
            </a:pPr>
            <a:endParaRPr lang="en-AU" sz="24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regions</a:t>
            </a:r>
          </a:p>
        </p:txBody>
      </p:sp>
      <p:pic>
        <p:nvPicPr>
          <p:cNvPr id="6" name="Picture 5" descr="5773854178_ca71f454da_m.jpg"/>
          <p:cNvPicPr/>
          <p:nvPr/>
        </p:nvPicPr>
        <p:blipFill>
          <a:blip r:embed="rId3" cstate="print"/>
          <a:stretch>
            <a:fillRect/>
          </a:stretch>
        </p:blipFill>
        <p:spPr>
          <a:xfrm>
            <a:off x="5214942" y="2428868"/>
            <a:ext cx="2286000" cy="167640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27</a:t>
            </a:fld>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Italy </a:t>
            </a:r>
            <a:endParaRPr lang="en-AU" sz="2200" dirty="0" smtClean="0"/>
          </a:p>
          <a:p>
            <a:pPr>
              <a:spcBef>
                <a:spcPts val="600"/>
              </a:spcBef>
              <a:spcAft>
                <a:spcPts val="1200"/>
              </a:spcAft>
            </a:pPr>
            <a:r>
              <a:rPr lang="en-AU" sz="2200" dirty="0" smtClean="0"/>
              <a:t>Tuscany </a:t>
            </a:r>
          </a:p>
          <a:p>
            <a:pPr>
              <a:spcBef>
                <a:spcPts val="600"/>
              </a:spcBef>
              <a:spcAft>
                <a:spcPts val="1200"/>
              </a:spcAft>
            </a:pPr>
            <a:r>
              <a:rPr lang="en-AU" sz="2200" dirty="0" smtClean="0"/>
              <a:t>Veneto</a:t>
            </a:r>
          </a:p>
          <a:p>
            <a:pPr>
              <a:spcBef>
                <a:spcPts val="600"/>
              </a:spcBef>
              <a:spcAft>
                <a:spcPts val="1200"/>
              </a:spcAft>
            </a:pPr>
            <a:r>
              <a:rPr lang="en-AU" sz="2200" dirty="0" smtClean="0"/>
              <a:t>Albana di Romagna </a:t>
            </a:r>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regions</a:t>
            </a:r>
          </a:p>
        </p:txBody>
      </p:sp>
      <p:pic>
        <p:nvPicPr>
          <p:cNvPr id="5" name="Picture 4" descr="10737241_96efcbfbcd_m.jpg"/>
          <p:cNvPicPr/>
          <p:nvPr/>
        </p:nvPicPr>
        <p:blipFill>
          <a:blip r:embed="rId3" cstate="print"/>
          <a:stretch>
            <a:fillRect/>
          </a:stretch>
        </p:blipFill>
        <p:spPr>
          <a:xfrm>
            <a:off x="5429256" y="2071678"/>
            <a:ext cx="1890713" cy="1890713"/>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28</a:t>
            </a:fld>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United States of </a:t>
            </a:r>
            <a:r>
              <a:rPr lang="en-AU" sz="2200" b="1" dirty="0" smtClean="0"/>
              <a:t>America</a:t>
            </a:r>
            <a:endParaRPr lang="en-AU" sz="2200" dirty="0" smtClean="0"/>
          </a:p>
          <a:p>
            <a:pPr>
              <a:spcBef>
                <a:spcPts val="600"/>
              </a:spcBef>
              <a:spcAft>
                <a:spcPts val="1200"/>
              </a:spcAft>
            </a:pPr>
            <a:r>
              <a:rPr lang="en-AU" sz="2200" dirty="0" smtClean="0"/>
              <a:t>Napa Valley</a:t>
            </a:r>
          </a:p>
          <a:p>
            <a:pPr>
              <a:spcBef>
                <a:spcPts val="600"/>
              </a:spcBef>
              <a:spcAft>
                <a:spcPts val="1200"/>
              </a:spcAft>
            </a:pPr>
            <a:r>
              <a:rPr lang="en-AU" sz="2200" dirty="0" smtClean="0"/>
              <a:t>Sonoma</a:t>
            </a:r>
            <a:endParaRPr lang="en-AU" sz="2200" dirty="0" smtClean="0"/>
          </a:p>
          <a:p>
            <a:pPr>
              <a:spcBef>
                <a:spcPts val="600"/>
              </a:spcBef>
              <a:spcAft>
                <a:spcPts val="1200"/>
              </a:spcAft>
            </a:pPr>
            <a:r>
              <a:rPr lang="en-AU" sz="2200" dirty="0" smtClean="0"/>
              <a:t>Washington State</a:t>
            </a:r>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regions</a:t>
            </a:r>
          </a:p>
        </p:txBody>
      </p:sp>
      <p:pic>
        <p:nvPicPr>
          <p:cNvPr id="6" name="Picture 5" descr="5646769396_8f0eb8a1ba_m.jpg"/>
          <p:cNvPicPr/>
          <p:nvPr/>
        </p:nvPicPr>
        <p:blipFill>
          <a:blip r:embed="rId3" cstate="print"/>
          <a:stretch>
            <a:fillRect/>
          </a:stretch>
        </p:blipFill>
        <p:spPr>
          <a:xfrm>
            <a:off x="5072066" y="2143116"/>
            <a:ext cx="2146300" cy="1609725"/>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29</a:t>
            </a:fld>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Australia </a:t>
            </a:r>
          </a:p>
          <a:p>
            <a:pPr>
              <a:spcBef>
                <a:spcPts val="600"/>
              </a:spcBef>
              <a:spcAft>
                <a:spcPts val="1200"/>
              </a:spcAft>
            </a:pPr>
            <a:r>
              <a:rPr lang="en-AU" sz="2200" dirty="0" smtClean="0"/>
              <a:t>Hunter </a:t>
            </a:r>
            <a:r>
              <a:rPr lang="en-AU" sz="2200" dirty="0" smtClean="0"/>
              <a:t>Valley</a:t>
            </a:r>
          </a:p>
          <a:p>
            <a:pPr>
              <a:spcBef>
                <a:spcPts val="600"/>
              </a:spcBef>
              <a:spcAft>
                <a:spcPts val="1200"/>
              </a:spcAft>
            </a:pPr>
            <a:r>
              <a:rPr lang="en-AU" sz="2200" dirty="0" smtClean="0"/>
              <a:t>Barossa Valley</a:t>
            </a:r>
          </a:p>
          <a:p>
            <a:pPr>
              <a:spcBef>
                <a:spcPts val="600"/>
              </a:spcBef>
              <a:spcAft>
                <a:spcPts val="1200"/>
              </a:spcAft>
            </a:pPr>
            <a:r>
              <a:rPr lang="en-AU" sz="2200" dirty="0" smtClean="0"/>
              <a:t>Yarra Valley </a:t>
            </a:r>
          </a:p>
          <a:p>
            <a:pPr>
              <a:spcBef>
                <a:spcPts val="600"/>
              </a:spcBef>
              <a:spcAft>
                <a:spcPts val="1200"/>
              </a:spcAft>
            </a:pPr>
            <a:r>
              <a:rPr lang="en-AU" sz="2200" dirty="0" smtClean="0"/>
              <a:t>Margaret River </a:t>
            </a:r>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regions</a:t>
            </a:r>
          </a:p>
        </p:txBody>
      </p:sp>
      <p:pic>
        <p:nvPicPr>
          <p:cNvPr id="5" name="Picture 4" descr="5299104982_d64b27e903_m.jpg"/>
          <p:cNvPicPr/>
          <p:nvPr/>
        </p:nvPicPr>
        <p:blipFill>
          <a:blip r:embed="rId3" cstate="print"/>
          <a:stretch>
            <a:fillRect/>
          </a:stretch>
        </p:blipFill>
        <p:spPr>
          <a:xfrm>
            <a:off x="4929190" y="2357430"/>
            <a:ext cx="2221511" cy="1500198"/>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30</a:t>
            </a:fld>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Germany </a:t>
            </a:r>
            <a:endParaRPr lang="en-AU" sz="2200" dirty="0" smtClean="0"/>
          </a:p>
          <a:p>
            <a:pPr>
              <a:spcBef>
                <a:spcPts val="600"/>
              </a:spcBef>
              <a:spcAft>
                <a:spcPts val="1200"/>
              </a:spcAft>
            </a:pPr>
            <a:r>
              <a:rPr lang="en-AU" sz="2200" dirty="0" smtClean="0"/>
              <a:t>Rheinhessen </a:t>
            </a:r>
          </a:p>
          <a:p>
            <a:pPr>
              <a:spcBef>
                <a:spcPts val="600"/>
              </a:spcBef>
              <a:spcAft>
                <a:spcPts val="1200"/>
              </a:spcAft>
            </a:pPr>
            <a:r>
              <a:rPr lang="en-AU" sz="2200" dirty="0" smtClean="0"/>
              <a:t>Rheingau</a:t>
            </a:r>
          </a:p>
          <a:p>
            <a:pPr>
              <a:spcBef>
                <a:spcPts val="600"/>
              </a:spcBef>
              <a:spcAft>
                <a:spcPts val="1200"/>
              </a:spcAft>
              <a:buNone/>
            </a:pPr>
            <a:r>
              <a:rPr lang="en-AU" sz="2200" b="1" dirty="0" smtClean="0"/>
              <a:t>South Africa</a:t>
            </a:r>
            <a:endParaRPr lang="en-AU" sz="2200" dirty="0" smtClean="0"/>
          </a:p>
          <a:p>
            <a:pPr>
              <a:spcBef>
                <a:spcPts val="600"/>
              </a:spcBef>
              <a:spcAft>
                <a:spcPts val="1200"/>
              </a:spcAft>
            </a:pPr>
            <a:r>
              <a:rPr lang="en-AU" sz="2200" dirty="0" smtClean="0"/>
              <a:t>Cape Winelands</a:t>
            </a:r>
          </a:p>
          <a:p>
            <a:pPr>
              <a:spcBef>
                <a:spcPts val="600"/>
              </a:spcBef>
              <a:spcAft>
                <a:spcPts val="1200"/>
              </a:spcAft>
              <a:buNone/>
            </a:pPr>
            <a:r>
              <a:rPr lang="en-AU" sz="2200" b="1" dirty="0" smtClean="0"/>
              <a:t>New Zealand</a:t>
            </a:r>
            <a:endParaRPr lang="en-AU" sz="2200" dirty="0" smtClean="0"/>
          </a:p>
          <a:p>
            <a:pPr>
              <a:spcBef>
                <a:spcPts val="600"/>
              </a:spcBef>
              <a:spcAft>
                <a:spcPts val="1200"/>
              </a:spcAft>
            </a:pPr>
            <a:r>
              <a:rPr lang="en-AU" sz="2200" dirty="0" smtClean="0"/>
              <a:t>Marlborough </a:t>
            </a:r>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Wine growing regions</a:t>
            </a:r>
          </a:p>
        </p:txBody>
      </p:sp>
      <p:pic>
        <p:nvPicPr>
          <p:cNvPr id="6" name="Picture 5" descr="2732134175_b74407041e_m.jpg"/>
          <p:cNvPicPr/>
          <p:nvPr/>
        </p:nvPicPr>
        <p:blipFill>
          <a:blip r:embed="rId3" cstate="print"/>
          <a:stretch>
            <a:fillRect/>
          </a:stretch>
        </p:blipFill>
        <p:spPr>
          <a:xfrm>
            <a:off x="5143504" y="2428868"/>
            <a:ext cx="2066925" cy="1376363"/>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31</a:t>
            </a:fld>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Production of wine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Whilst </a:t>
            </a:r>
            <a:r>
              <a:rPr lang="en-AU" sz="2200" dirty="0" smtClean="0"/>
              <a:t>it is not essential it is often worthwhile to understand the wine making process.</a:t>
            </a:r>
          </a:p>
          <a:p>
            <a:pPr>
              <a:spcBef>
                <a:spcPts val="600"/>
              </a:spcBef>
              <a:spcAft>
                <a:spcPts val="1200"/>
              </a:spcAft>
            </a:pPr>
            <a:r>
              <a:rPr lang="en-AU" sz="2200" dirty="0" smtClean="0"/>
              <a:t>How </a:t>
            </a:r>
            <a:r>
              <a:rPr lang="en-AU" sz="2200" dirty="0" smtClean="0"/>
              <a:t>is wine made?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6" name="Picture 5" descr="2856380087_ba1c6ab9d7_m.jpg"/>
          <p:cNvPicPr/>
          <p:nvPr/>
        </p:nvPicPr>
        <p:blipFill>
          <a:blip r:embed="rId3" cstate="print">
            <a:lum contrast="20000"/>
          </a:blip>
          <a:stretch>
            <a:fillRect/>
          </a:stretch>
        </p:blipFill>
        <p:spPr>
          <a:xfrm>
            <a:off x="5364088" y="2636912"/>
            <a:ext cx="2046817" cy="136595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Production of wine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t>Basic wine production process</a:t>
            </a:r>
          </a:p>
          <a:p>
            <a:pPr lvl="0">
              <a:spcBef>
                <a:spcPts val="600"/>
              </a:spcBef>
              <a:spcAft>
                <a:spcPts val="1200"/>
              </a:spcAft>
            </a:pPr>
            <a:r>
              <a:rPr lang="en-AU" sz="2200" dirty="0" smtClean="0"/>
              <a:t>Selecting </a:t>
            </a:r>
            <a:r>
              <a:rPr lang="en-AU" sz="2200" dirty="0" smtClean="0"/>
              <a:t>and collecting grapes</a:t>
            </a:r>
          </a:p>
          <a:p>
            <a:pPr lvl="0">
              <a:spcBef>
                <a:spcPts val="600"/>
              </a:spcBef>
              <a:spcAft>
                <a:spcPts val="1200"/>
              </a:spcAft>
            </a:pPr>
            <a:r>
              <a:rPr lang="en-AU" sz="2200" dirty="0" smtClean="0"/>
              <a:t>Fermentation </a:t>
            </a:r>
          </a:p>
          <a:p>
            <a:pPr lvl="0">
              <a:spcBef>
                <a:spcPts val="600"/>
              </a:spcBef>
              <a:spcAft>
                <a:spcPts val="1200"/>
              </a:spcAft>
            </a:pPr>
            <a:r>
              <a:rPr lang="en-AU" sz="2200" dirty="0" smtClean="0"/>
              <a:t>‘Cleaning’ wine</a:t>
            </a:r>
          </a:p>
          <a:p>
            <a:pPr lvl="0">
              <a:spcBef>
                <a:spcPts val="600"/>
              </a:spcBef>
              <a:spcAft>
                <a:spcPts val="1200"/>
              </a:spcAft>
            </a:pPr>
            <a:r>
              <a:rPr lang="en-AU" sz="2200" dirty="0" smtClean="0"/>
              <a:t>Maturing and Bottling</a:t>
            </a:r>
          </a:p>
          <a:p>
            <a:pPr marL="0" indent="0">
              <a:spcBef>
                <a:spcPts val="600"/>
              </a:spcBef>
              <a:spcAft>
                <a:spcPts val="1200"/>
              </a:spcAft>
              <a:buNone/>
            </a:pPr>
            <a:endParaRPr lang="en-AU" sz="2200" b="1" dirty="0" smtClean="0"/>
          </a:p>
          <a:p>
            <a:pPr marL="0" indent="0">
              <a:spcBef>
                <a:spcPts val="600"/>
              </a:spcBef>
              <a:spcAft>
                <a:spcPts val="1200"/>
              </a:spcAft>
              <a:buNone/>
            </a:pPr>
            <a:endParaRPr lang="en-AU" sz="2200" b="1"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6" name="Picture 5" descr="3407527659_214b13c28f_m.jpg"/>
          <p:cNvPicPr/>
          <p:nvPr/>
        </p:nvPicPr>
        <p:blipFill>
          <a:blip r:embed="rId3" cstate="print"/>
          <a:stretch>
            <a:fillRect/>
          </a:stretch>
        </p:blipFill>
        <p:spPr>
          <a:xfrm>
            <a:off x="5715008" y="2571744"/>
            <a:ext cx="2352675" cy="1552575"/>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Production of sparkling wine</a:t>
            </a:r>
          </a:p>
          <a:p>
            <a:pPr>
              <a:spcBef>
                <a:spcPts val="600"/>
              </a:spcBef>
              <a:spcAft>
                <a:spcPts val="1200"/>
              </a:spcAft>
              <a:buNone/>
            </a:pPr>
            <a:r>
              <a:rPr lang="en-AU" sz="2200" dirty="0" smtClean="0"/>
              <a:t>Sparkling </a:t>
            </a:r>
            <a:r>
              <a:rPr lang="en-AU" sz="2200" dirty="0" smtClean="0"/>
              <a:t>wines may be made using one of four options:</a:t>
            </a:r>
          </a:p>
          <a:p>
            <a:pPr>
              <a:spcBef>
                <a:spcPts val="600"/>
              </a:spcBef>
              <a:spcAft>
                <a:spcPts val="1200"/>
              </a:spcAft>
            </a:pPr>
            <a:r>
              <a:rPr lang="en-AU" sz="2200" dirty="0" smtClean="0"/>
              <a:t>Naturally carbonated wine</a:t>
            </a:r>
          </a:p>
          <a:p>
            <a:pPr>
              <a:spcBef>
                <a:spcPts val="600"/>
              </a:spcBef>
              <a:spcAft>
                <a:spcPts val="1200"/>
              </a:spcAft>
            </a:pPr>
            <a:r>
              <a:rPr lang="en-AU" sz="2200" dirty="0" smtClean="0"/>
              <a:t>Carbonated or Injection method</a:t>
            </a:r>
          </a:p>
          <a:p>
            <a:pPr>
              <a:spcBef>
                <a:spcPts val="600"/>
              </a:spcBef>
              <a:spcAft>
                <a:spcPts val="1200"/>
              </a:spcAft>
            </a:pPr>
            <a:r>
              <a:rPr lang="en-AU" sz="2200" dirty="0" smtClean="0"/>
              <a:t>Cuvee close, Charmat, Bulk or Tank method</a:t>
            </a:r>
          </a:p>
          <a:p>
            <a:pPr>
              <a:spcBef>
                <a:spcPts val="600"/>
              </a:spcBef>
              <a:spcAft>
                <a:spcPts val="1200"/>
              </a:spcAft>
            </a:pPr>
            <a:r>
              <a:rPr lang="en-AU" sz="2200" dirty="0" smtClean="0"/>
              <a:t>Transfer method</a:t>
            </a:r>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Champagne / sparking wines</a:t>
            </a:r>
          </a:p>
        </p:txBody>
      </p:sp>
      <p:pic>
        <p:nvPicPr>
          <p:cNvPr id="5" name="Picture 4" descr="4251657150_f43fe71bf1_m.jpg"/>
          <p:cNvPicPr/>
          <p:nvPr/>
        </p:nvPicPr>
        <p:blipFill>
          <a:blip r:embed="rId3" cstate="print"/>
          <a:stretch>
            <a:fillRect/>
          </a:stretch>
        </p:blipFill>
        <p:spPr>
          <a:xfrm>
            <a:off x="6804248" y="3356992"/>
            <a:ext cx="1900238" cy="1633538"/>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34</a:t>
            </a:fld>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Impacts on wine production</a:t>
            </a:r>
          </a:p>
          <a:p>
            <a:pPr marL="0">
              <a:spcBef>
                <a:spcPts val="600"/>
              </a:spcBef>
              <a:spcAft>
                <a:spcPts val="1200"/>
              </a:spcAft>
              <a:buNone/>
            </a:pPr>
            <a:r>
              <a:rPr lang="en-AU" sz="2200" dirty="0" smtClean="0"/>
              <a:t>Whilst there are quite general styles and varietals of wine, it is not expected that all producers follow the same rules when making them. </a:t>
            </a:r>
          </a:p>
          <a:p>
            <a:pPr>
              <a:spcBef>
                <a:spcPts val="600"/>
              </a:spcBef>
              <a:spcAft>
                <a:spcPts val="1200"/>
              </a:spcAft>
            </a:pPr>
            <a:r>
              <a:rPr lang="en-AU" sz="2200" dirty="0" smtClean="0"/>
              <a:t>What </a:t>
            </a:r>
            <a:r>
              <a:rPr lang="en-AU" sz="2200" dirty="0" smtClean="0"/>
              <a:t>impacts wine production?</a:t>
            </a:r>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Variations in wine production</a:t>
            </a:r>
          </a:p>
        </p:txBody>
      </p:sp>
      <p:pic>
        <p:nvPicPr>
          <p:cNvPr id="8" name="Picture 7" descr="3408332886_23857933e2_m.jpg"/>
          <p:cNvPicPr>
            <a:picLocks noChangeAspect="1"/>
          </p:cNvPicPr>
          <p:nvPr/>
        </p:nvPicPr>
        <p:blipFill>
          <a:blip r:embed="rId3" cstate="print"/>
          <a:stretch>
            <a:fillRect/>
          </a:stretch>
        </p:blipFill>
        <p:spPr>
          <a:xfrm>
            <a:off x="6143636" y="3286124"/>
            <a:ext cx="2336800" cy="175260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35</a:t>
            </a:fld>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marL="0">
              <a:spcBef>
                <a:spcPts val="600"/>
              </a:spcBef>
              <a:spcAft>
                <a:spcPts val="1200"/>
              </a:spcAft>
            </a:pPr>
            <a:r>
              <a:rPr lang="en-AU" sz="2200" dirty="0" smtClean="0"/>
              <a:t>The vine itself</a:t>
            </a:r>
          </a:p>
          <a:p>
            <a:pPr marL="0">
              <a:spcBef>
                <a:spcPts val="600"/>
              </a:spcBef>
              <a:spcAft>
                <a:spcPts val="1200"/>
              </a:spcAft>
            </a:pPr>
            <a:r>
              <a:rPr lang="en-AU" sz="2200" dirty="0" smtClean="0"/>
              <a:t>Climate</a:t>
            </a:r>
          </a:p>
          <a:p>
            <a:pPr marL="0">
              <a:spcBef>
                <a:spcPts val="600"/>
              </a:spcBef>
              <a:spcAft>
                <a:spcPts val="1200"/>
              </a:spcAft>
            </a:pPr>
            <a:r>
              <a:rPr lang="en-AU" sz="2200" dirty="0" smtClean="0"/>
              <a:t>Soil</a:t>
            </a:r>
          </a:p>
          <a:p>
            <a:pPr marL="0">
              <a:spcBef>
                <a:spcPts val="600"/>
              </a:spcBef>
              <a:spcAft>
                <a:spcPts val="1200"/>
              </a:spcAft>
            </a:pPr>
            <a:r>
              <a:rPr lang="en-AU" sz="2200" dirty="0" smtClean="0"/>
              <a:t>Canopy – leaf to fruit ratio</a:t>
            </a:r>
          </a:p>
          <a:p>
            <a:pPr marL="0">
              <a:spcBef>
                <a:spcPts val="600"/>
              </a:spcBef>
              <a:spcAft>
                <a:spcPts val="1200"/>
              </a:spcAft>
            </a:pPr>
            <a:r>
              <a:rPr lang="en-AU" sz="2200" dirty="0" smtClean="0"/>
              <a:t>Growth cycle</a:t>
            </a:r>
          </a:p>
          <a:p>
            <a:pPr marL="0">
              <a:spcBef>
                <a:spcPts val="600"/>
              </a:spcBef>
              <a:spcAft>
                <a:spcPts val="1200"/>
              </a:spcAft>
            </a:pPr>
            <a:r>
              <a:rPr lang="en-AU" sz="2200" dirty="0" smtClean="0"/>
              <a:t>Site selection</a:t>
            </a:r>
          </a:p>
          <a:p>
            <a:pPr marL="0">
              <a:spcBef>
                <a:spcPts val="600"/>
              </a:spcBef>
              <a:spcAft>
                <a:spcPts val="1200"/>
              </a:spcAft>
            </a:pPr>
            <a:r>
              <a:rPr lang="en-AU" sz="2200" dirty="0" smtClean="0"/>
              <a:t>Age of vines and orientation</a:t>
            </a:r>
          </a:p>
          <a:p>
            <a:pPr marL="0">
              <a:spcBef>
                <a:spcPts val="600"/>
              </a:spcBef>
              <a:spcAft>
                <a:spcPts val="1200"/>
              </a:spcAft>
            </a:pPr>
            <a:endParaRPr lang="en-AU" sz="22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Impacts on wine production</a:t>
            </a:r>
          </a:p>
        </p:txBody>
      </p:sp>
      <p:pic>
        <p:nvPicPr>
          <p:cNvPr id="6" name="Picture 5" descr="2410507660_c37b793695_m.jpg"/>
          <p:cNvPicPr>
            <a:picLocks noChangeAspect="1"/>
          </p:cNvPicPr>
          <p:nvPr/>
        </p:nvPicPr>
        <p:blipFill>
          <a:blip r:embed="rId3" cstate="print"/>
          <a:stretch>
            <a:fillRect/>
          </a:stretch>
        </p:blipFill>
        <p:spPr>
          <a:xfrm>
            <a:off x="5429256" y="2714620"/>
            <a:ext cx="2492188" cy="176530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36</a:t>
            </a:fld>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Climate</a:t>
            </a:r>
          </a:p>
          <a:p>
            <a:pPr marL="0">
              <a:spcBef>
                <a:spcPts val="600"/>
              </a:spcBef>
              <a:spcAft>
                <a:spcPts val="1200"/>
              </a:spcAft>
            </a:pPr>
            <a:r>
              <a:rPr lang="en-AU" sz="2200" dirty="0" smtClean="0"/>
              <a:t>Temperature</a:t>
            </a:r>
          </a:p>
          <a:p>
            <a:pPr marL="0">
              <a:spcBef>
                <a:spcPts val="600"/>
              </a:spcBef>
              <a:spcAft>
                <a:spcPts val="1200"/>
              </a:spcAft>
            </a:pPr>
            <a:r>
              <a:rPr lang="en-AU" sz="2200" dirty="0" smtClean="0"/>
              <a:t>Sunshine</a:t>
            </a:r>
          </a:p>
          <a:p>
            <a:pPr marL="0">
              <a:spcBef>
                <a:spcPts val="600"/>
              </a:spcBef>
              <a:spcAft>
                <a:spcPts val="1200"/>
              </a:spcAft>
            </a:pPr>
            <a:r>
              <a:rPr lang="en-AU" sz="2200" dirty="0" smtClean="0"/>
              <a:t>Evaporation</a:t>
            </a:r>
          </a:p>
          <a:p>
            <a:pPr marL="0">
              <a:spcBef>
                <a:spcPts val="600"/>
              </a:spcBef>
              <a:spcAft>
                <a:spcPts val="1200"/>
              </a:spcAft>
            </a:pPr>
            <a:r>
              <a:rPr lang="en-AU" sz="2200" dirty="0" smtClean="0"/>
              <a:t>Rainfall</a:t>
            </a:r>
          </a:p>
          <a:p>
            <a:pPr marL="0">
              <a:spcBef>
                <a:spcPts val="600"/>
              </a:spcBef>
              <a:spcAft>
                <a:spcPts val="1200"/>
              </a:spcAft>
            </a:pPr>
            <a:r>
              <a:rPr lang="en-AU" sz="2200" dirty="0" smtClean="0"/>
              <a:t>Wind</a:t>
            </a:r>
          </a:p>
          <a:p>
            <a:pPr marL="0">
              <a:spcBef>
                <a:spcPts val="600"/>
              </a:spcBef>
              <a:spcAft>
                <a:spcPts val="1200"/>
              </a:spcAft>
            </a:pPr>
            <a:endParaRPr lang="en-AU" sz="22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Impacts on wine production</a:t>
            </a:r>
          </a:p>
        </p:txBody>
      </p:sp>
      <p:pic>
        <p:nvPicPr>
          <p:cNvPr id="6" name="Picture 5" descr="C:\Documents and Settings\danielc\Desktop\478581_new_zealand.jpg"/>
          <p:cNvPicPr/>
          <p:nvPr/>
        </p:nvPicPr>
        <p:blipFill>
          <a:blip r:embed="rId3" cstate="print"/>
          <a:srcRect/>
          <a:stretch>
            <a:fillRect/>
          </a:stretch>
        </p:blipFill>
        <p:spPr bwMode="auto">
          <a:xfrm>
            <a:off x="4357686" y="2428868"/>
            <a:ext cx="2633839" cy="1986845"/>
          </a:xfrm>
          <a:prstGeom prst="rect">
            <a:avLst/>
          </a:prstGeom>
          <a:noFill/>
          <a:ln w="9525">
            <a:noFill/>
            <a:miter lim="800000"/>
            <a:headEnd/>
            <a:tailEnd/>
          </a:ln>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37</a:t>
            </a:fld>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Different wine production methods</a:t>
            </a:r>
          </a:p>
          <a:p>
            <a:pPr lvl="0">
              <a:spcBef>
                <a:spcPts val="600"/>
              </a:spcBef>
              <a:spcAft>
                <a:spcPts val="1200"/>
              </a:spcAft>
            </a:pPr>
            <a:r>
              <a:rPr lang="en-AU" sz="2200" dirty="0" smtClean="0"/>
              <a:t>Maceration </a:t>
            </a:r>
          </a:p>
          <a:p>
            <a:pPr lvl="0">
              <a:spcBef>
                <a:spcPts val="600"/>
              </a:spcBef>
              <a:spcAft>
                <a:spcPts val="1200"/>
              </a:spcAft>
            </a:pPr>
            <a:r>
              <a:rPr lang="en-AU" sz="2200" dirty="0" smtClean="0"/>
              <a:t>Cold fermentation </a:t>
            </a:r>
          </a:p>
          <a:p>
            <a:pPr lvl="0">
              <a:spcBef>
                <a:spcPts val="600"/>
              </a:spcBef>
              <a:spcAft>
                <a:spcPts val="1200"/>
              </a:spcAft>
            </a:pPr>
            <a:r>
              <a:rPr lang="en-AU" sz="2200" dirty="0" smtClean="0"/>
              <a:t>Barrel fermentation</a:t>
            </a:r>
          </a:p>
          <a:p>
            <a:pPr lvl="0">
              <a:spcBef>
                <a:spcPts val="600"/>
              </a:spcBef>
              <a:spcAft>
                <a:spcPts val="1200"/>
              </a:spcAft>
            </a:pPr>
            <a:r>
              <a:rPr lang="en-AU" sz="2200" dirty="0" smtClean="0"/>
              <a:t>Use of oak </a:t>
            </a:r>
          </a:p>
          <a:p>
            <a:pPr lvl="0">
              <a:spcBef>
                <a:spcPts val="600"/>
              </a:spcBef>
              <a:spcAft>
                <a:spcPts val="1200"/>
              </a:spcAft>
            </a:pPr>
            <a:r>
              <a:rPr lang="en-AU" sz="2200" dirty="0" smtClean="0"/>
              <a:t>Ageing </a:t>
            </a:r>
          </a:p>
          <a:p>
            <a:pPr>
              <a:buNone/>
            </a:pPr>
            <a:endParaRPr lang="en-AU" sz="2400" dirty="0" smtClean="0"/>
          </a:p>
          <a:p>
            <a:pPr marL="0">
              <a:spcBef>
                <a:spcPts val="600"/>
              </a:spcBef>
              <a:spcAft>
                <a:spcPts val="1200"/>
              </a:spcAft>
            </a:pPr>
            <a:endParaRPr lang="en-AU" sz="22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Impacts on wine production</a:t>
            </a:r>
          </a:p>
        </p:txBody>
      </p:sp>
      <p:pic>
        <p:nvPicPr>
          <p:cNvPr id="5" name="Picture 4" descr="5679813285_a6557f97ac_m.jpg"/>
          <p:cNvPicPr/>
          <p:nvPr/>
        </p:nvPicPr>
        <p:blipFill>
          <a:blip r:embed="rId3" cstate="print"/>
          <a:stretch>
            <a:fillRect/>
          </a:stretch>
        </p:blipFill>
        <p:spPr>
          <a:xfrm>
            <a:off x="5429256" y="2357430"/>
            <a:ext cx="1493661" cy="1998133"/>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38</a:t>
            </a:fld>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Different wine production methods</a:t>
            </a:r>
          </a:p>
          <a:p>
            <a:pPr lvl="0">
              <a:spcBef>
                <a:spcPts val="600"/>
              </a:spcBef>
              <a:spcAft>
                <a:spcPts val="1200"/>
              </a:spcAft>
            </a:pPr>
            <a:r>
              <a:rPr lang="en-AU" sz="2200" dirty="0" smtClean="0"/>
              <a:t>Malo-lactic fermentation</a:t>
            </a:r>
          </a:p>
          <a:p>
            <a:pPr lvl="0">
              <a:spcBef>
                <a:spcPts val="600"/>
              </a:spcBef>
              <a:spcAft>
                <a:spcPts val="1200"/>
              </a:spcAft>
            </a:pPr>
            <a:r>
              <a:rPr lang="en-AU" sz="2200" dirty="0" smtClean="0"/>
              <a:t>Reduced alcohol wines </a:t>
            </a:r>
          </a:p>
          <a:p>
            <a:pPr lvl="0">
              <a:spcBef>
                <a:spcPts val="600"/>
              </a:spcBef>
              <a:spcAft>
                <a:spcPts val="1200"/>
              </a:spcAft>
            </a:pPr>
            <a:r>
              <a:rPr lang="en-AU" sz="2200" dirty="0" smtClean="0"/>
              <a:t>Various viticulture techniques </a:t>
            </a:r>
          </a:p>
          <a:p>
            <a:pPr lvl="0">
              <a:spcBef>
                <a:spcPts val="600"/>
              </a:spcBef>
              <a:spcAft>
                <a:spcPts val="1200"/>
              </a:spcAft>
            </a:pPr>
            <a:r>
              <a:rPr lang="en-AU" sz="2200" dirty="0" smtClean="0"/>
              <a:t>Alternative methods for the production of sparkling wines</a:t>
            </a:r>
          </a:p>
          <a:p>
            <a:pPr marL="0">
              <a:spcBef>
                <a:spcPts val="600"/>
              </a:spcBef>
              <a:spcAft>
                <a:spcPts val="1200"/>
              </a:spcAft>
            </a:pPr>
            <a:endParaRPr lang="en-AU" sz="22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Impacts on wine production</a:t>
            </a:r>
          </a:p>
        </p:txBody>
      </p:sp>
      <p:pic>
        <p:nvPicPr>
          <p:cNvPr id="6" name="Picture 5" descr="C:\Documents and Settings\danielc\Desktop\Red wine production.jpg"/>
          <p:cNvPicPr/>
          <p:nvPr/>
        </p:nvPicPr>
        <p:blipFill>
          <a:blip r:embed="rId3" cstate="print"/>
          <a:srcRect/>
          <a:stretch>
            <a:fillRect/>
          </a:stretch>
        </p:blipFill>
        <p:spPr bwMode="auto">
          <a:xfrm>
            <a:off x="785786" y="4714884"/>
            <a:ext cx="3074105" cy="1117600"/>
          </a:xfrm>
          <a:prstGeom prst="rect">
            <a:avLst/>
          </a:prstGeom>
          <a:noFill/>
          <a:ln w="9525">
            <a:noFill/>
            <a:miter lim="800000"/>
            <a:headEnd/>
            <a:tailEnd/>
          </a:ln>
        </p:spPr>
      </p:pic>
      <p:pic>
        <p:nvPicPr>
          <p:cNvPr id="8" name="Picture 7" descr="C:\Documents and Settings\danielc\Desktop\white wine production.jpg"/>
          <p:cNvPicPr/>
          <p:nvPr/>
        </p:nvPicPr>
        <p:blipFill>
          <a:blip r:embed="rId4" cstate="print"/>
          <a:srcRect/>
          <a:stretch>
            <a:fillRect/>
          </a:stretch>
        </p:blipFill>
        <p:spPr bwMode="auto">
          <a:xfrm>
            <a:off x="3857620" y="4857760"/>
            <a:ext cx="3051528" cy="1117600"/>
          </a:xfrm>
          <a:prstGeom prst="rect">
            <a:avLst/>
          </a:prstGeom>
          <a:noFill/>
          <a:ln w="9525">
            <a:noFill/>
            <a:miter lim="800000"/>
            <a:headEnd/>
            <a:tailEnd/>
          </a:ln>
        </p:spPr>
      </p:pic>
      <p:sp>
        <p:nvSpPr>
          <p:cNvPr id="9"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39</a:t>
            </a:fld>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Information on labels</a:t>
            </a:r>
            <a:endParaRPr lang="en-AU" sz="2200" dirty="0" smtClean="0"/>
          </a:p>
          <a:p>
            <a:pPr marL="0">
              <a:spcBef>
                <a:spcPts val="600"/>
              </a:spcBef>
              <a:spcAft>
                <a:spcPts val="1200"/>
              </a:spcAft>
              <a:buNone/>
            </a:pPr>
            <a:r>
              <a:rPr lang="en-AU" sz="2200" dirty="0" smtClean="0"/>
              <a:t>The easiest way to gain an immediate understanding about a wine is to simply pick up and look at the bottle.</a:t>
            </a:r>
          </a:p>
          <a:p>
            <a:pPr>
              <a:spcBef>
                <a:spcPts val="600"/>
              </a:spcBef>
              <a:spcAft>
                <a:spcPts val="1200"/>
              </a:spcAft>
            </a:pPr>
            <a:r>
              <a:rPr lang="en-AU" sz="2200" dirty="0" smtClean="0"/>
              <a:t>What information is displayed on a bottle label?</a:t>
            </a:r>
          </a:p>
          <a:p>
            <a:pPr marL="0">
              <a:spcBef>
                <a:spcPts val="600"/>
              </a:spcBef>
              <a:spcAft>
                <a:spcPts val="1200"/>
              </a:spcAft>
            </a:pPr>
            <a:endParaRPr lang="en-AU" sz="22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Interpret wine labels</a:t>
            </a:r>
          </a:p>
        </p:txBody>
      </p:sp>
      <p:pic>
        <p:nvPicPr>
          <p:cNvPr id="6" name="Picture 5" descr="4126563489_28ffdc9847_m.jpg"/>
          <p:cNvPicPr/>
          <p:nvPr/>
        </p:nvPicPr>
        <p:blipFill>
          <a:blip r:embed="rId3" cstate="print"/>
          <a:stretch>
            <a:fillRect/>
          </a:stretch>
        </p:blipFill>
        <p:spPr>
          <a:xfrm>
            <a:off x="3714744" y="3786190"/>
            <a:ext cx="1519239" cy="2214578"/>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40</a:t>
            </a:fld>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p:txBody>
          <a:bodyPr>
            <a:normAutofit/>
          </a:bodyPr>
          <a:lstStyle/>
          <a:p>
            <a:pPr>
              <a:spcBef>
                <a:spcPts val="600"/>
              </a:spcBef>
              <a:spcAft>
                <a:spcPts val="1200"/>
              </a:spcAft>
              <a:buNone/>
            </a:pPr>
            <a:r>
              <a:rPr lang="en-AU" sz="2200" b="1" dirty="0" smtClean="0"/>
              <a:t>Information on labels</a:t>
            </a:r>
            <a:endParaRPr lang="en-AU" sz="2200" dirty="0" smtClean="0"/>
          </a:p>
          <a:p>
            <a:pPr lvl="0">
              <a:spcBef>
                <a:spcPts val="600"/>
              </a:spcBef>
              <a:spcAft>
                <a:spcPts val="1200"/>
              </a:spcAft>
            </a:pPr>
            <a:r>
              <a:rPr lang="en-AU" sz="2200" dirty="0" smtClean="0"/>
              <a:t>Vineyard </a:t>
            </a:r>
          </a:p>
          <a:p>
            <a:pPr lvl="0">
              <a:spcBef>
                <a:spcPts val="600"/>
              </a:spcBef>
              <a:spcAft>
                <a:spcPts val="1200"/>
              </a:spcAft>
            </a:pPr>
            <a:r>
              <a:rPr lang="en-AU" sz="2200" dirty="0" smtClean="0"/>
              <a:t>Grape variety </a:t>
            </a:r>
          </a:p>
          <a:p>
            <a:pPr lvl="0">
              <a:spcBef>
                <a:spcPts val="600"/>
              </a:spcBef>
              <a:spcAft>
                <a:spcPts val="1200"/>
              </a:spcAft>
            </a:pPr>
            <a:r>
              <a:rPr lang="en-AU" sz="2200" dirty="0" smtClean="0"/>
              <a:t>Region </a:t>
            </a:r>
          </a:p>
          <a:p>
            <a:pPr lvl="0">
              <a:spcBef>
                <a:spcPts val="600"/>
              </a:spcBef>
              <a:spcAft>
                <a:spcPts val="1200"/>
              </a:spcAft>
            </a:pPr>
            <a:r>
              <a:rPr lang="en-AU" sz="2200" dirty="0" smtClean="0"/>
              <a:t>Country </a:t>
            </a:r>
          </a:p>
          <a:p>
            <a:pPr lvl="0">
              <a:spcBef>
                <a:spcPts val="600"/>
              </a:spcBef>
              <a:spcAft>
                <a:spcPts val="1200"/>
              </a:spcAft>
            </a:pPr>
            <a:r>
              <a:rPr lang="en-AU" sz="2200" dirty="0" smtClean="0"/>
              <a:t>Vintage </a:t>
            </a:r>
          </a:p>
          <a:p>
            <a:pPr>
              <a:spcBef>
                <a:spcPts val="600"/>
              </a:spcBef>
              <a:spcAft>
                <a:spcPts val="1200"/>
              </a:spcAft>
            </a:pPr>
            <a:r>
              <a:rPr lang="en-AU" sz="2200" dirty="0" smtClean="0"/>
              <a:t>Alcohol content </a:t>
            </a:r>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Interpret wine labels</a:t>
            </a:r>
          </a:p>
        </p:txBody>
      </p:sp>
      <p:pic>
        <p:nvPicPr>
          <p:cNvPr id="5" name="Picture 4" descr="2536799996_ac6493e0ae_m.jpg"/>
          <p:cNvPicPr>
            <a:picLocks noChangeAspect="1"/>
          </p:cNvPicPr>
          <p:nvPr/>
        </p:nvPicPr>
        <p:blipFill>
          <a:blip r:embed="rId3" cstate="print"/>
          <a:stretch>
            <a:fillRect/>
          </a:stretch>
        </p:blipFill>
        <p:spPr>
          <a:xfrm>
            <a:off x="5357818" y="2428868"/>
            <a:ext cx="1585913" cy="28194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2:</a:t>
            </a:r>
          </a:p>
          <a:p>
            <a:pPr marL="0" lvl="0">
              <a:buNone/>
            </a:pPr>
            <a:r>
              <a:rPr lang="en-AU" sz="4000" dirty="0" smtClean="0">
                <a:solidFill>
                  <a:srgbClr val="FF6600"/>
                </a:solidFill>
              </a:rPr>
              <a:t>Store and retrieve wines</a:t>
            </a:r>
          </a:p>
          <a:p>
            <a:pPr>
              <a:spcBef>
                <a:spcPts val="600"/>
              </a:spcBef>
              <a:spcAft>
                <a:spcPts val="1200"/>
              </a:spcAft>
            </a:pPr>
            <a:endParaRPr lang="en-AU" sz="2200" dirty="0" smtClean="0"/>
          </a:p>
          <a:p>
            <a:pPr>
              <a:spcBef>
                <a:spcPts val="600"/>
              </a:spcBef>
              <a:spcAft>
                <a:spcPts val="1200"/>
              </a:spcAft>
              <a:buNone/>
            </a:pPr>
            <a:endParaRPr lang="en-AU" sz="2200" dirty="0" smtClean="0"/>
          </a:p>
          <a:p>
            <a:pPr lvl="0">
              <a:spcBef>
                <a:spcPts val="600"/>
              </a:spcBef>
              <a:spcAft>
                <a:spcPts val="600"/>
              </a:spcAft>
            </a:pPr>
            <a:endParaRPr lang="en-AU" sz="2200" dirty="0" smtClean="0"/>
          </a:p>
          <a:p>
            <a:pPr>
              <a:buNone/>
            </a:pPr>
            <a:endParaRPr lang="en-AU" sz="2400" dirty="0" smtClean="0"/>
          </a:p>
          <a:p>
            <a:pPr lvl="0">
              <a:spcBef>
                <a:spcPts val="600"/>
              </a:spcBef>
              <a:spcAft>
                <a:spcPts val="1200"/>
              </a:spcAft>
            </a:pPr>
            <a:endParaRPr lang="en-AU" sz="2200" dirty="0" smtClean="0"/>
          </a:p>
          <a:p>
            <a:pPr marL="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5" name="Picture 4" descr="214379_9960.jpg"/>
          <p:cNvPicPr/>
          <p:nvPr/>
        </p:nvPicPr>
        <p:blipFill>
          <a:blip r:embed="rId3" cstate="print"/>
          <a:stretch>
            <a:fillRect/>
          </a:stretch>
        </p:blipFill>
        <p:spPr>
          <a:xfrm>
            <a:off x="4214810" y="3143248"/>
            <a:ext cx="2529527" cy="2756351"/>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Store and retrieve wines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Performance Criteria for this Element are: </a:t>
            </a:r>
          </a:p>
          <a:p>
            <a:pPr>
              <a:spcBef>
                <a:spcPts val="600"/>
              </a:spcBef>
              <a:spcAft>
                <a:spcPts val="1200"/>
              </a:spcAft>
            </a:pPr>
            <a:r>
              <a:rPr lang="en-AU" sz="2200" dirty="0" smtClean="0"/>
              <a:t>Develop in-house wine storage facilities</a:t>
            </a:r>
          </a:p>
          <a:p>
            <a:pPr>
              <a:spcBef>
                <a:spcPts val="600"/>
              </a:spcBef>
              <a:spcAft>
                <a:spcPts val="1200"/>
              </a:spcAft>
            </a:pPr>
            <a:r>
              <a:rPr lang="en-AU" sz="2200" dirty="0" smtClean="0"/>
              <a:t>Create floor wine displays and self-service stands</a:t>
            </a:r>
          </a:p>
          <a:p>
            <a:pPr>
              <a:spcBef>
                <a:spcPts val="600"/>
              </a:spcBef>
              <a:spcAft>
                <a:spcPts val="1200"/>
              </a:spcAft>
            </a:pPr>
            <a:r>
              <a:rPr lang="en-AU" sz="2200" dirty="0" smtClean="0"/>
              <a:t>Store wines in established wine storage facilities</a:t>
            </a:r>
          </a:p>
          <a:p>
            <a:pPr>
              <a:spcBef>
                <a:spcPts val="600"/>
              </a:spcBef>
              <a:spcAft>
                <a:spcPts val="1200"/>
              </a:spcAft>
            </a:pPr>
            <a:r>
              <a:rPr lang="en-AU" sz="2200" dirty="0" smtClean="0"/>
              <a:t>Retrieve wines for service/sale</a:t>
            </a:r>
          </a:p>
          <a:p>
            <a:pPr>
              <a:spcBef>
                <a:spcPts val="600"/>
              </a:spcBef>
              <a:spcAft>
                <a:spcPts val="1200"/>
              </a:spcAft>
            </a:pPr>
            <a:endParaRPr lang="en-AU"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072198" y="207167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358082"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143768" y="321468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000628" y="3786190"/>
            <a:ext cx="399154" cy="527046"/>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Arrange wine storage facilities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t>Large quantities of wine in storage</a:t>
            </a:r>
          </a:p>
          <a:p>
            <a:pPr marL="0" indent="0">
              <a:spcBef>
                <a:spcPts val="600"/>
              </a:spcBef>
              <a:spcAft>
                <a:spcPts val="1200"/>
              </a:spcAft>
              <a:buNone/>
            </a:pPr>
            <a:r>
              <a:rPr lang="en-AU" sz="2200" dirty="0" smtClean="0"/>
              <a:t>Many hospitality organisations will carry large quantities of wine at one time as most wines come in boxes containing a dozen bottles. </a:t>
            </a:r>
          </a:p>
          <a:p>
            <a:pPr>
              <a:spcBef>
                <a:spcPts val="600"/>
              </a:spcBef>
              <a:spcAft>
                <a:spcPts val="1200"/>
              </a:spcAft>
            </a:pPr>
            <a:r>
              <a:rPr lang="en-AU" sz="2200" dirty="0" smtClean="0"/>
              <a:t>What </a:t>
            </a:r>
            <a:r>
              <a:rPr lang="en-AU" sz="2200" dirty="0" smtClean="0"/>
              <a:t>are tips for storing wine?</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6" name="Picture 5" descr="2476282913_b07f2f425a_m.jpg"/>
          <p:cNvPicPr>
            <a:picLocks noChangeAspect="1"/>
          </p:cNvPicPr>
          <p:nvPr/>
        </p:nvPicPr>
        <p:blipFill>
          <a:blip r:embed="rId3" cstate="print"/>
          <a:stretch>
            <a:fillRect/>
          </a:stretch>
        </p:blipFill>
        <p:spPr>
          <a:xfrm>
            <a:off x="5786446" y="3357561"/>
            <a:ext cx="2073276" cy="1554957"/>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Arrange wine storage facilities</a:t>
            </a:r>
          </a:p>
        </p:txBody>
      </p:sp>
      <p:sp>
        <p:nvSpPr>
          <p:cNvPr id="3" name="Content Placeholder 2"/>
          <p:cNvSpPr>
            <a:spLocks noGrp="1"/>
          </p:cNvSpPr>
          <p:nvPr>
            <p:ph idx="1"/>
          </p:nvPr>
        </p:nvSpPr>
        <p:spPr>
          <a:xfrm>
            <a:off x="611560" y="1556792"/>
            <a:ext cx="7467600" cy="4996408"/>
          </a:xfrm>
        </p:spPr>
        <p:txBody>
          <a:bodyPr>
            <a:normAutofit lnSpcReduction="10000"/>
          </a:bodyPr>
          <a:lstStyle/>
          <a:p>
            <a:pPr>
              <a:spcBef>
                <a:spcPts val="600"/>
              </a:spcBef>
              <a:spcAft>
                <a:spcPts val="1200"/>
              </a:spcAft>
              <a:buNone/>
            </a:pPr>
            <a:r>
              <a:rPr lang="en-AU" sz="2200" b="1" dirty="0" smtClean="0"/>
              <a:t>Elements of wine storage</a:t>
            </a:r>
            <a:endParaRPr lang="en-AU" sz="2200" dirty="0" smtClean="0"/>
          </a:p>
          <a:p>
            <a:pPr>
              <a:spcBef>
                <a:spcPts val="600"/>
              </a:spcBef>
              <a:spcAft>
                <a:spcPts val="1200"/>
              </a:spcAft>
              <a:buNone/>
            </a:pPr>
            <a:r>
              <a:rPr lang="en-AU" sz="2200" dirty="0" smtClean="0"/>
              <a:t>Quite simply wine storage facilities should include:</a:t>
            </a:r>
          </a:p>
          <a:p>
            <a:pPr lvl="0">
              <a:spcBef>
                <a:spcPts val="600"/>
              </a:spcBef>
              <a:spcAft>
                <a:spcPts val="1200"/>
              </a:spcAft>
            </a:pPr>
            <a:r>
              <a:rPr lang="en-AU" sz="2200" dirty="0" smtClean="0"/>
              <a:t>Storage facilities for red, white, sparkling and fortified wines</a:t>
            </a:r>
          </a:p>
          <a:p>
            <a:pPr lvl="0">
              <a:spcBef>
                <a:spcPts val="600"/>
              </a:spcBef>
              <a:spcAft>
                <a:spcPts val="1200"/>
              </a:spcAft>
            </a:pPr>
            <a:r>
              <a:rPr lang="en-AU" sz="2200" dirty="0" smtClean="0"/>
              <a:t>Create appropriate storage conditions for each wine classification, including suitable space, temperatures and humidity</a:t>
            </a:r>
          </a:p>
          <a:p>
            <a:pPr lvl="0">
              <a:spcBef>
                <a:spcPts val="600"/>
              </a:spcBef>
              <a:spcAft>
                <a:spcPts val="1200"/>
              </a:spcAft>
            </a:pPr>
            <a:r>
              <a:rPr lang="en-AU" sz="2200" dirty="0" smtClean="0"/>
              <a:t>Facilities to allow the cellaring of vintage wines for future use</a:t>
            </a:r>
          </a:p>
          <a:p>
            <a:pPr lvl="0">
              <a:spcBef>
                <a:spcPts val="600"/>
              </a:spcBef>
              <a:spcAft>
                <a:spcPts val="1200"/>
              </a:spcAft>
            </a:pPr>
            <a:r>
              <a:rPr lang="en-AU" sz="2200" dirty="0" smtClean="0"/>
              <a:t>Consideration of a system to store wines according to type, vintage, style, maker or country</a:t>
            </a:r>
          </a:p>
          <a:p>
            <a:pPr>
              <a:spcBef>
                <a:spcPts val="600"/>
              </a:spcBef>
              <a:spcAft>
                <a:spcPts val="1200"/>
              </a:spcAft>
            </a:pPr>
            <a:endParaRPr lang="en-AU"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Arrange wine storage facilities</a:t>
            </a:r>
          </a:p>
        </p:txBody>
      </p:sp>
      <p:sp>
        <p:nvSpPr>
          <p:cNvPr id="3" name="Content Placeholder 2"/>
          <p:cNvSpPr>
            <a:spLocks noGrp="1"/>
          </p:cNvSpPr>
          <p:nvPr>
            <p:ph idx="1"/>
          </p:nvPr>
        </p:nvSpPr>
        <p:spPr>
          <a:xfrm>
            <a:off x="611560" y="1556792"/>
            <a:ext cx="7467600" cy="4996408"/>
          </a:xfrm>
        </p:spPr>
        <p:txBody>
          <a:bodyPr>
            <a:normAutofit/>
          </a:bodyPr>
          <a:lstStyle/>
          <a:p>
            <a:pPr marL="0">
              <a:spcBef>
                <a:spcPts val="600"/>
              </a:spcBef>
              <a:spcAft>
                <a:spcPts val="1200"/>
              </a:spcAft>
              <a:buNone/>
            </a:pPr>
            <a:r>
              <a:rPr lang="en-AU" sz="2200" b="1" dirty="0" smtClean="0"/>
              <a:t>Requirements for establishing optimal storage facilities</a:t>
            </a:r>
            <a:endParaRPr lang="en-AU" sz="2200" dirty="0" smtClean="0"/>
          </a:p>
          <a:p>
            <a:pPr lvl="0">
              <a:spcBef>
                <a:spcPts val="600"/>
              </a:spcBef>
              <a:spcAft>
                <a:spcPts val="1200"/>
              </a:spcAft>
            </a:pPr>
            <a:r>
              <a:rPr lang="en-AU" sz="2200" dirty="0" smtClean="0"/>
              <a:t>Need for dark storage conditions </a:t>
            </a:r>
          </a:p>
          <a:p>
            <a:pPr lvl="0">
              <a:spcBef>
                <a:spcPts val="600"/>
              </a:spcBef>
              <a:spcAft>
                <a:spcPts val="1200"/>
              </a:spcAft>
            </a:pPr>
            <a:r>
              <a:rPr lang="en-AU" sz="2200" dirty="0" smtClean="0"/>
              <a:t>Need for a cool environment </a:t>
            </a:r>
          </a:p>
          <a:p>
            <a:pPr lvl="0">
              <a:spcBef>
                <a:spcPts val="600"/>
              </a:spcBef>
              <a:spcAft>
                <a:spcPts val="1200"/>
              </a:spcAft>
            </a:pPr>
            <a:r>
              <a:rPr lang="en-AU" sz="2200" dirty="0" smtClean="0"/>
              <a:t>Need for a consistent temperature </a:t>
            </a:r>
          </a:p>
          <a:p>
            <a:pPr lvl="0">
              <a:spcBef>
                <a:spcPts val="600"/>
              </a:spcBef>
              <a:spcAft>
                <a:spcPts val="1200"/>
              </a:spcAft>
            </a:pPr>
            <a:r>
              <a:rPr lang="en-AU" sz="2200" dirty="0" smtClean="0"/>
              <a:t>Need for a correct humidity </a:t>
            </a:r>
          </a:p>
          <a:p>
            <a:pPr>
              <a:spcBef>
                <a:spcPts val="600"/>
              </a:spcBef>
              <a:spcAft>
                <a:spcPts val="1200"/>
              </a:spcAft>
              <a:buNone/>
            </a:pPr>
            <a:endParaRPr lang="en-AU"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6" name="Picture 5" descr="6222103882_4481249cbf_m.jpg"/>
          <p:cNvPicPr/>
          <p:nvPr/>
        </p:nvPicPr>
        <p:blipFill>
          <a:blip r:embed="rId3" cstate="print"/>
          <a:stretch>
            <a:fillRect/>
          </a:stretch>
        </p:blipFill>
        <p:spPr>
          <a:xfrm>
            <a:off x="6215074" y="2928934"/>
            <a:ext cx="1995488" cy="1438275"/>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Arrange wine storage facilities</a:t>
            </a:r>
          </a:p>
        </p:txBody>
      </p:sp>
      <p:sp>
        <p:nvSpPr>
          <p:cNvPr id="3" name="Content Placeholder 2"/>
          <p:cNvSpPr>
            <a:spLocks noGrp="1"/>
          </p:cNvSpPr>
          <p:nvPr>
            <p:ph idx="1"/>
          </p:nvPr>
        </p:nvSpPr>
        <p:spPr>
          <a:xfrm>
            <a:off x="611560" y="1556792"/>
            <a:ext cx="7467600" cy="4996408"/>
          </a:xfrm>
        </p:spPr>
        <p:txBody>
          <a:bodyPr>
            <a:normAutofit/>
          </a:bodyPr>
          <a:lstStyle/>
          <a:p>
            <a:pPr marL="0">
              <a:spcBef>
                <a:spcPts val="600"/>
              </a:spcBef>
              <a:spcAft>
                <a:spcPts val="1200"/>
              </a:spcAft>
              <a:buNone/>
            </a:pPr>
            <a:r>
              <a:rPr lang="en-AU" sz="2200" b="1" dirty="0" smtClean="0"/>
              <a:t>Requirements for establishing optimal storage facilities</a:t>
            </a:r>
            <a:endParaRPr lang="en-AU" sz="2200" dirty="0" smtClean="0"/>
          </a:p>
          <a:p>
            <a:pPr>
              <a:spcBef>
                <a:spcPts val="600"/>
              </a:spcBef>
              <a:spcAft>
                <a:spcPts val="1200"/>
              </a:spcAft>
            </a:pPr>
            <a:r>
              <a:rPr lang="en-AU" sz="2200" dirty="0" smtClean="0"/>
              <a:t>Need for sufficient stock </a:t>
            </a:r>
          </a:p>
          <a:p>
            <a:pPr lvl="0">
              <a:spcBef>
                <a:spcPts val="600"/>
              </a:spcBef>
              <a:spcAft>
                <a:spcPts val="1200"/>
              </a:spcAft>
            </a:pPr>
            <a:r>
              <a:rPr lang="en-AU" sz="2200" dirty="0" smtClean="0"/>
              <a:t>Need for easy access </a:t>
            </a:r>
          </a:p>
          <a:p>
            <a:pPr lvl="0">
              <a:spcBef>
                <a:spcPts val="600"/>
              </a:spcBef>
              <a:spcAft>
                <a:spcPts val="1200"/>
              </a:spcAft>
            </a:pPr>
            <a:r>
              <a:rPr lang="en-AU" sz="2200" dirty="0" smtClean="0"/>
              <a:t>Need for easy identification of bottles </a:t>
            </a:r>
          </a:p>
          <a:p>
            <a:pPr>
              <a:spcBef>
                <a:spcPts val="600"/>
              </a:spcBef>
              <a:spcAft>
                <a:spcPts val="1200"/>
              </a:spcAft>
            </a:pPr>
            <a:r>
              <a:rPr lang="en-AU" sz="2200" dirty="0" smtClean="0"/>
              <a:t>Need for security</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7" name="Picture 6" descr="114456018_dcdf3df28b_m.jpg"/>
          <p:cNvPicPr>
            <a:picLocks noChangeAspect="1"/>
          </p:cNvPicPr>
          <p:nvPr/>
        </p:nvPicPr>
        <p:blipFill>
          <a:blip r:embed="rId3" cstate="print"/>
          <a:stretch>
            <a:fillRect/>
          </a:stretch>
        </p:blipFill>
        <p:spPr>
          <a:xfrm>
            <a:off x="6143636" y="2643182"/>
            <a:ext cx="2194560" cy="146304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Promoting wines</a:t>
            </a:r>
          </a:p>
        </p:txBody>
      </p:sp>
      <p:sp>
        <p:nvSpPr>
          <p:cNvPr id="3" name="Content Placeholder 2"/>
          <p:cNvSpPr>
            <a:spLocks noGrp="1"/>
          </p:cNvSpPr>
          <p:nvPr>
            <p:ph idx="1"/>
          </p:nvPr>
        </p:nvSpPr>
        <p:spPr>
          <a:xfrm>
            <a:off x="611560" y="1556792"/>
            <a:ext cx="7467600" cy="4996408"/>
          </a:xfrm>
        </p:spPr>
        <p:txBody>
          <a:bodyPr>
            <a:normAutofit/>
          </a:bodyPr>
          <a:lstStyle/>
          <a:p>
            <a:pPr marL="0">
              <a:spcBef>
                <a:spcPts val="600"/>
              </a:spcBef>
              <a:spcAft>
                <a:spcPts val="1200"/>
              </a:spcAft>
              <a:buNone/>
            </a:pPr>
            <a:r>
              <a:rPr lang="en-AU" sz="2200" dirty="0" smtClean="0"/>
              <a:t>In many cases, customers will not be aware of particular wines which they wish to purchase. </a:t>
            </a:r>
          </a:p>
          <a:p>
            <a:pPr marL="0">
              <a:spcBef>
                <a:spcPts val="600"/>
              </a:spcBef>
              <a:spcAft>
                <a:spcPts val="1200"/>
              </a:spcAft>
              <a:buNone/>
            </a:pPr>
            <a:r>
              <a:rPr lang="en-AU" sz="2200" dirty="0" smtClean="0"/>
              <a:t>In these cases they will rely on a number of factors to help entice them in making a decision including:</a:t>
            </a:r>
          </a:p>
          <a:p>
            <a:pPr lvl="0">
              <a:spcBef>
                <a:spcPts val="600"/>
              </a:spcBef>
              <a:spcAft>
                <a:spcPts val="1200"/>
              </a:spcAft>
            </a:pPr>
            <a:r>
              <a:rPr lang="en-AU" sz="2200" dirty="0" smtClean="0"/>
              <a:t>Sales skills and promotions - provided by staff</a:t>
            </a:r>
          </a:p>
          <a:p>
            <a:pPr lvl="0">
              <a:spcBef>
                <a:spcPts val="600"/>
              </a:spcBef>
              <a:spcAft>
                <a:spcPts val="1200"/>
              </a:spcAft>
            </a:pPr>
            <a:r>
              <a:rPr lang="en-AU" sz="2200" dirty="0" smtClean="0"/>
              <a:t>Promotional displays themselves – provided by visual displays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6" name="Picture 5" descr="149036060_e0f24d2305_m.jpg"/>
          <p:cNvPicPr/>
          <p:nvPr/>
        </p:nvPicPr>
        <p:blipFill>
          <a:blip r:embed="rId3" cstate="print"/>
          <a:stretch>
            <a:fillRect/>
          </a:stretch>
        </p:blipFill>
        <p:spPr>
          <a:xfrm>
            <a:off x="3714744" y="4714884"/>
            <a:ext cx="2095515" cy="1571636"/>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Promoting wines</a:t>
            </a:r>
          </a:p>
        </p:txBody>
      </p:sp>
      <p:sp>
        <p:nvSpPr>
          <p:cNvPr id="3" name="Content Placeholder 2"/>
          <p:cNvSpPr>
            <a:spLocks noGrp="1"/>
          </p:cNvSpPr>
          <p:nvPr>
            <p:ph idx="1"/>
          </p:nvPr>
        </p:nvSpPr>
        <p:spPr>
          <a:xfrm>
            <a:off x="611560" y="1556792"/>
            <a:ext cx="7467600" cy="4996408"/>
          </a:xfrm>
        </p:spPr>
        <p:txBody>
          <a:bodyPr>
            <a:normAutofit/>
          </a:bodyPr>
          <a:lstStyle/>
          <a:p>
            <a:pPr>
              <a:spcBef>
                <a:spcPts val="600"/>
              </a:spcBef>
              <a:spcAft>
                <a:spcPts val="1200"/>
              </a:spcAft>
              <a:buNone/>
            </a:pPr>
            <a:r>
              <a:rPr lang="en-AU" sz="2200" b="1" dirty="0" smtClean="0"/>
              <a:t>General ways to promote wines</a:t>
            </a:r>
          </a:p>
          <a:p>
            <a:pPr>
              <a:spcBef>
                <a:spcPts val="600"/>
              </a:spcBef>
              <a:spcAft>
                <a:spcPts val="1200"/>
              </a:spcAft>
            </a:pPr>
            <a:r>
              <a:rPr lang="en-AU" sz="2200" dirty="0" smtClean="0"/>
              <a:t>Wine displays </a:t>
            </a:r>
          </a:p>
          <a:p>
            <a:pPr>
              <a:spcBef>
                <a:spcPts val="600"/>
              </a:spcBef>
              <a:spcAft>
                <a:spcPts val="1200"/>
              </a:spcAft>
            </a:pPr>
            <a:r>
              <a:rPr lang="en-AU" sz="2200" dirty="0" smtClean="0"/>
              <a:t>High-profile wine stocks </a:t>
            </a:r>
          </a:p>
          <a:p>
            <a:pPr>
              <a:spcBef>
                <a:spcPts val="600"/>
              </a:spcBef>
              <a:spcAft>
                <a:spcPts val="1200"/>
              </a:spcAft>
            </a:pPr>
            <a:r>
              <a:rPr lang="en-AU" sz="2200" dirty="0" smtClean="0"/>
              <a:t>Tent cards </a:t>
            </a:r>
          </a:p>
          <a:p>
            <a:pPr>
              <a:spcBef>
                <a:spcPts val="600"/>
              </a:spcBef>
              <a:spcAft>
                <a:spcPts val="1200"/>
              </a:spcAft>
            </a:pPr>
            <a:r>
              <a:rPr lang="en-AU" sz="2200" dirty="0" smtClean="0"/>
              <a:t>Racks, shelving and bins </a:t>
            </a:r>
          </a:p>
          <a:p>
            <a:pPr>
              <a:spcBef>
                <a:spcPts val="600"/>
              </a:spcBef>
              <a:spcAft>
                <a:spcPts val="1200"/>
              </a:spcAft>
            </a:pPr>
            <a:r>
              <a:rPr lang="en-AU" sz="2200" dirty="0" smtClean="0"/>
              <a:t>Chalk boards </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1026" name="Picture 2" descr="C:\Documents and Settings\danielc\Desktop\Serve a range of wine products images\freeimage-6346172.jpg"/>
          <p:cNvPicPr>
            <a:picLocks noChangeAspect="1" noChangeArrowheads="1"/>
          </p:cNvPicPr>
          <p:nvPr/>
        </p:nvPicPr>
        <p:blipFill>
          <a:blip r:embed="rId3" cstate="print"/>
          <a:srcRect/>
          <a:stretch>
            <a:fillRect/>
          </a:stretch>
        </p:blipFill>
        <p:spPr bwMode="auto">
          <a:xfrm>
            <a:off x="5643570" y="2518165"/>
            <a:ext cx="2380698" cy="1785524"/>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Promoting wines</a:t>
            </a:r>
          </a:p>
        </p:txBody>
      </p:sp>
      <p:sp>
        <p:nvSpPr>
          <p:cNvPr id="3" name="Content Placeholder 2"/>
          <p:cNvSpPr>
            <a:spLocks noGrp="1"/>
          </p:cNvSpPr>
          <p:nvPr>
            <p:ph idx="1"/>
          </p:nvPr>
        </p:nvSpPr>
        <p:spPr>
          <a:xfrm>
            <a:off x="611560" y="1556792"/>
            <a:ext cx="7467600" cy="4996408"/>
          </a:xfrm>
        </p:spPr>
        <p:txBody>
          <a:bodyPr>
            <a:normAutofit/>
          </a:bodyPr>
          <a:lstStyle/>
          <a:p>
            <a:pPr>
              <a:spcBef>
                <a:spcPts val="600"/>
              </a:spcBef>
              <a:spcAft>
                <a:spcPts val="1200"/>
              </a:spcAft>
              <a:buNone/>
            </a:pPr>
            <a:r>
              <a:rPr lang="en-AU" sz="2200" b="1" dirty="0" smtClean="0"/>
              <a:t>General ways to promote wines</a:t>
            </a:r>
          </a:p>
          <a:p>
            <a:pPr>
              <a:spcBef>
                <a:spcPts val="600"/>
              </a:spcBef>
              <a:spcAft>
                <a:spcPts val="1200"/>
              </a:spcAft>
            </a:pPr>
            <a:r>
              <a:rPr lang="en-AU" sz="2200" dirty="0" smtClean="0"/>
              <a:t>Traditional wine lists </a:t>
            </a:r>
          </a:p>
          <a:p>
            <a:pPr>
              <a:spcBef>
                <a:spcPts val="600"/>
              </a:spcBef>
              <a:spcAft>
                <a:spcPts val="1200"/>
              </a:spcAft>
            </a:pPr>
            <a:r>
              <a:rPr lang="en-AU" sz="2200" dirty="0" smtClean="0"/>
              <a:t>Winemaker appearances </a:t>
            </a:r>
          </a:p>
          <a:p>
            <a:pPr>
              <a:spcBef>
                <a:spcPts val="600"/>
              </a:spcBef>
              <a:spcAft>
                <a:spcPts val="1200"/>
              </a:spcAft>
            </a:pPr>
            <a:r>
              <a:rPr lang="en-AU" sz="2200" dirty="0" smtClean="0"/>
              <a:t>Tastings</a:t>
            </a:r>
          </a:p>
          <a:p>
            <a:pPr>
              <a:spcBef>
                <a:spcPts val="600"/>
              </a:spcBef>
              <a:spcAft>
                <a:spcPts val="1200"/>
              </a:spcAft>
            </a:pPr>
            <a:r>
              <a:rPr lang="en-AU" sz="2200" dirty="0" smtClean="0"/>
              <a:t>‘Wine of the Week’ </a:t>
            </a:r>
          </a:p>
          <a:p>
            <a:pPr>
              <a:spcBef>
                <a:spcPts val="600"/>
              </a:spcBef>
              <a:spcAft>
                <a:spcPts val="1200"/>
              </a:spcAft>
            </a:pPr>
            <a:r>
              <a:rPr lang="en-AU" sz="2200" dirty="0" smtClean="0"/>
              <a:t>Personal recommendation</a:t>
            </a:r>
          </a:p>
          <a:p>
            <a:pPr>
              <a:spcBef>
                <a:spcPts val="600"/>
              </a:spcBef>
              <a:spcAft>
                <a:spcPts val="1200"/>
              </a:spcAft>
              <a:buNone/>
            </a:pPr>
            <a:r>
              <a:rPr lang="en-AU" sz="2400" dirty="0" smtClean="0"/>
              <a:t> </a:t>
            </a: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descr="7214028926_dcd84662ce_m.jpg"/>
          <p:cNvPicPr/>
          <p:nvPr/>
        </p:nvPicPr>
        <p:blipFill>
          <a:blip r:embed="rId3" cstate="print">
            <a:lum bright="10000"/>
          </a:blip>
          <a:stretch>
            <a:fillRect/>
          </a:stretch>
        </p:blipFill>
        <p:spPr>
          <a:xfrm>
            <a:off x="5929322" y="2714620"/>
            <a:ext cx="1962150" cy="1533525"/>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Promoting wines</a:t>
            </a:r>
          </a:p>
        </p:txBody>
      </p:sp>
      <p:sp>
        <p:nvSpPr>
          <p:cNvPr id="3" name="Content Placeholder 2"/>
          <p:cNvSpPr>
            <a:spLocks noGrp="1"/>
          </p:cNvSpPr>
          <p:nvPr>
            <p:ph idx="1"/>
          </p:nvPr>
        </p:nvSpPr>
        <p:spPr>
          <a:xfrm>
            <a:off x="611560" y="1556792"/>
            <a:ext cx="7467600" cy="4996408"/>
          </a:xfrm>
        </p:spPr>
        <p:txBody>
          <a:bodyPr>
            <a:normAutofit/>
          </a:bodyPr>
          <a:lstStyle/>
          <a:p>
            <a:pPr>
              <a:spcBef>
                <a:spcPts val="600"/>
              </a:spcBef>
              <a:spcAft>
                <a:spcPts val="1200"/>
              </a:spcAft>
              <a:buNone/>
            </a:pPr>
            <a:r>
              <a:rPr lang="en-AU" sz="2200" b="1" dirty="0" smtClean="0"/>
              <a:t>Types of selling</a:t>
            </a:r>
          </a:p>
          <a:p>
            <a:pPr>
              <a:spcBef>
                <a:spcPts val="600"/>
              </a:spcBef>
              <a:spcAft>
                <a:spcPts val="1200"/>
              </a:spcAft>
            </a:pPr>
            <a:r>
              <a:rPr lang="en-AU" sz="2200" dirty="0" smtClean="0"/>
              <a:t>Suggestive selling </a:t>
            </a:r>
          </a:p>
          <a:p>
            <a:pPr>
              <a:spcBef>
                <a:spcPts val="600"/>
              </a:spcBef>
              <a:spcAft>
                <a:spcPts val="1200"/>
              </a:spcAft>
            </a:pPr>
            <a:r>
              <a:rPr lang="en-AU" sz="2200" dirty="0" smtClean="0"/>
              <a:t>Upselling </a:t>
            </a:r>
          </a:p>
          <a:p>
            <a:pPr>
              <a:spcBef>
                <a:spcPts val="600"/>
              </a:spcBef>
              <a:spcAft>
                <a:spcPts val="1200"/>
              </a:spcAft>
            </a:pPr>
            <a:r>
              <a:rPr lang="en-AU" sz="2200" dirty="0" smtClean="0"/>
              <a:t>Features and benefits selling </a:t>
            </a:r>
          </a:p>
          <a:p>
            <a:pPr>
              <a:spcBef>
                <a:spcPts val="600"/>
              </a:spcBef>
              <a:spcAft>
                <a:spcPts val="1200"/>
              </a:spcAft>
            </a:pPr>
            <a:r>
              <a:rPr lang="en-AU" sz="2200" dirty="0" smtClean="0"/>
              <a:t>Dual positive selling </a:t>
            </a:r>
          </a:p>
          <a:p>
            <a:pPr>
              <a:spcBef>
                <a:spcPts val="600"/>
              </a:spcBef>
              <a:spcAft>
                <a:spcPts val="1200"/>
              </a:spcAft>
              <a:buNone/>
            </a:pPr>
            <a:endParaRPr lang="en-AU" sz="2200" dirty="0" smtClean="0"/>
          </a:p>
          <a:p>
            <a:pPr>
              <a:spcBef>
                <a:spcPts val="600"/>
              </a:spcBef>
              <a:spcAft>
                <a:spcPts val="1200"/>
              </a:spcAft>
              <a:buNone/>
            </a:pPr>
            <a:r>
              <a:rPr lang="en-AU" sz="2400" dirty="0" smtClean="0"/>
              <a:t> </a:t>
            </a: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6" name="Picture 5" descr="shutterstock_83072002.jpg"/>
          <p:cNvPicPr>
            <a:picLocks noChangeAspect="1"/>
          </p:cNvPicPr>
          <p:nvPr/>
        </p:nvPicPr>
        <p:blipFill>
          <a:blip r:embed="rId3" cstate="print"/>
          <a:stretch>
            <a:fillRect/>
          </a:stretch>
        </p:blipFill>
        <p:spPr>
          <a:xfrm>
            <a:off x="6286512" y="2071678"/>
            <a:ext cx="1753210" cy="2624565"/>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Storing wines</a:t>
            </a:r>
          </a:p>
        </p:txBody>
      </p:sp>
      <p:sp>
        <p:nvSpPr>
          <p:cNvPr id="3" name="Content Placeholder 2"/>
          <p:cNvSpPr>
            <a:spLocks noGrp="1"/>
          </p:cNvSpPr>
          <p:nvPr>
            <p:ph idx="1"/>
          </p:nvPr>
        </p:nvSpPr>
        <p:spPr>
          <a:xfrm>
            <a:off x="611560" y="1556792"/>
            <a:ext cx="7467600" cy="4996408"/>
          </a:xfrm>
        </p:spPr>
        <p:txBody>
          <a:bodyPr>
            <a:normAutofit fontScale="92500" lnSpcReduction="10000"/>
          </a:bodyPr>
          <a:lstStyle/>
          <a:p>
            <a:pPr>
              <a:lnSpc>
                <a:spcPct val="120000"/>
              </a:lnSpc>
              <a:spcBef>
                <a:spcPts val="600"/>
              </a:spcBef>
              <a:spcAft>
                <a:spcPts val="1200"/>
              </a:spcAft>
              <a:buNone/>
            </a:pPr>
            <a:r>
              <a:rPr lang="en-AU" sz="2400" b="1" dirty="0" smtClean="0"/>
              <a:t>Wine storage techniques</a:t>
            </a:r>
            <a:endParaRPr lang="en-AU" sz="2400" dirty="0" smtClean="0"/>
          </a:p>
          <a:p>
            <a:pPr>
              <a:lnSpc>
                <a:spcPct val="120000"/>
              </a:lnSpc>
              <a:spcBef>
                <a:spcPts val="600"/>
              </a:spcBef>
              <a:spcAft>
                <a:spcPts val="1200"/>
              </a:spcAft>
            </a:pPr>
            <a:r>
              <a:rPr lang="en-AU" sz="2400" dirty="0" smtClean="0"/>
              <a:t>Completion of necessary in-house documentation to record wine storage</a:t>
            </a:r>
          </a:p>
          <a:p>
            <a:pPr>
              <a:lnSpc>
                <a:spcPct val="120000"/>
              </a:lnSpc>
              <a:spcBef>
                <a:spcPts val="600"/>
              </a:spcBef>
              <a:spcAft>
                <a:spcPts val="1200"/>
              </a:spcAft>
            </a:pPr>
            <a:r>
              <a:rPr lang="en-AU" sz="2400" dirty="0" smtClean="0"/>
              <a:t>Storage of red, white, sparkling and fortified </a:t>
            </a:r>
            <a:br>
              <a:rPr lang="en-AU" sz="2400" dirty="0" smtClean="0"/>
            </a:br>
            <a:r>
              <a:rPr lang="en-AU" sz="2400" dirty="0" smtClean="0"/>
              <a:t>wines under correct storage conditions</a:t>
            </a:r>
          </a:p>
          <a:p>
            <a:pPr>
              <a:lnSpc>
                <a:spcPct val="120000"/>
              </a:lnSpc>
              <a:spcBef>
                <a:spcPts val="600"/>
              </a:spcBef>
              <a:spcAft>
                <a:spcPts val="1200"/>
              </a:spcAft>
            </a:pPr>
            <a:r>
              <a:rPr lang="en-AU" sz="2400" dirty="0" smtClean="0"/>
              <a:t>Ensuring the security and presentation of all </a:t>
            </a:r>
            <a:br>
              <a:rPr lang="en-AU" sz="2400" dirty="0" smtClean="0"/>
            </a:br>
            <a:r>
              <a:rPr lang="en-AU" sz="2400" dirty="0" smtClean="0"/>
              <a:t>products</a:t>
            </a:r>
          </a:p>
          <a:p>
            <a:pPr>
              <a:lnSpc>
                <a:spcPct val="120000"/>
              </a:lnSpc>
              <a:spcBef>
                <a:spcPts val="600"/>
              </a:spcBef>
              <a:spcAft>
                <a:spcPts val="1200"/>
              </a:spcAft>
            </a:pPr>
            <a:r>
              <a:rPr lang="en-AU" sz="2400" dirty="0" smtClean="0"/>
              <a:t>Allow ease of access</a:t>
            </a:r>
          </a:p>
          <a:p>
            <a:pPr>
              <a:lnSpc>
                <a:spcPct val="120000"/>
              </a:lnSpc>
              <a:spcBef>
                <a:spcPts val="600"/>
              </a:spcBef>
              <a:spcAft>
                <a:spcPts val="1200"/>
              </a:spcAft>
            </a:pPr>
            <a:r>
              <a:rPr lang="en-AU" sz="2400" dirty="0" smtClean="0"/>
              <a:t>Monitoring wine and bottle conditions during storage</a:t>
            </a:r>
          </a:p>
          <a:p>
            <a:endParaRPr lang="en-AU" sz="2400" dirty="0" smtClean="0"/>
          </a:p>
          <a:p>
            <a:pPr>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2051" name="Picture 3" descr="C:\Documents and Settings\danielc\Desktop\Serve a range of wine products images\freeimage-17244904.jpg"/>
          <p:cNvPicPr>
            <a:picLocks noChangeAspect="1" noChangeArrowheads="1"/>
          </p:cNvPicPr>
          <p:nvPr/>
        </p:nvPicPr>
        <p:blipFill>
          <a:blip r:embed="rId3" cstate="print">
            <a:lum bright="10000"/>
          </a:blip>
          <a:srcRect/>
          <a:stretch>
            <a:fillRect/>
          </a:stretch>
        </p:blipFill>
        <p:spPr bwMode="auto">
          <a:xfrm>
            <a:off x="6929454" y="3071810"/>
            <a:ext cx="1838918" cy="1379188"/>
          </a:xfrm>
          <a:prstGeom prst="rect">
            <a:avLst/>
          </a:prstGeom>
          <a:noFill/>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Storing wines</a:t>
            </a:r>
          </a:p>
        </p:txBody>
      </p:sp>
      <p:sp>
        <p:nvSpPr>
          <p:cNvPr id="3" name="Content Placeholder 2"/>
          <p:cNvSpPr>
            <a:spLocks noGrp="1"/>
          </p:cNvSpPr>
          <p:nvPr>
            <p:ph idx="1"/>
          </p:nvPr>
        </p:nvSpPr>
        <p:spPr>
          <a:xfrm>
            <a:off x="611560" y="1556792"/>
            <a:ext cx="7467600" cy="4996408"/>
          </a:xfrm>
        </p:spPr>
        <p:txBody>
          <a:bodyPr>
            <a:normAutofit/>
          </a:bodyPr>
          <a:lstStyle/>
          <a:p>
            <a:pPr>
              <a:spcBef>
                <a:spcPts val="600"/>
              </a:spcBef>
              <a:spcAft>
                <a:spcPts val="1200"/>
              </a:spcAft>
              <a:buNone/>
            </a:pPr>
            <a:r>
              <a:rPr lang="en-AU" sz="2200" b="1" dirty="0" smtClean="0"/>
              <a:t>Monitoring wine and bottle conditions during storage</a:t>
            </a:r>
            <a:endParaRPr lang="en-AU" sz="2200" dirty="0" smtClean="0"/>
          </a:p>
          <a:p>
            <a:pPr lvl="0">
              <a:spcBef>
                <a:spcPts val="600"/>
              </a:spcBef>
              <a:spcAft>
                <a:spcPts val="1200"/>
              </a:spcAft>
            </a:pPr>
            <a:r>
              <a:rPr lang="en-AU" sz="2200" dirty="0" smtClean="0"/>
              <a:t>Is out of light</a:t>
            </a:r>
          </a:p>
          <a:p>
            <a:pPr lvl="0">
              <a:spcBef>
                <a:spcPts val="600"/>
              </a:spcBef>
              <a:spcAft>
                <a:spcPts val="1200"/>
              </a:spcAft>
            </a:pPr>
            <a:r>
              <a:rPr lang="en-AU" sz="2200" dirty="0" smtClean="0"/>
              <a:t>Unlikely to be stolen</a:t>
            </a:r>
          </a:p>
          <a:p>
            <a:pPr lvl="0">
              <a:spcBef>
                <a:spcPts val="600"/>
              </a:spcBef>
              <a:spcAft>
                <a:spcPts val="1200"/>
              </a:spcAft>
            </a:pPr>
            <a:r>
              <a:rPr lang="en-AU" sz="2200" dirty="0" smtClean="0"/>
              <a:t>Unlikely to be dropped or broken</a:t>
            </a:r>
          </a:p>
          <a:p>
            <a:pPr lvl="0">
              <a:spcBef>
                <a:spcPts val="600"/>
              </a:spcBef>
              <a:spcAft>
                <a:spcPts val="1200"/>
              </a:spcAft>
            </a:pPr>
            <a:r>
              <a:rPr lang="en-AU" sz="2200" dirty="0" smtClean="0"/>
              <a:t>Has minimal disruption and handling</a:t>
            </a:r>
          </a:p>
          <a:p>
            <a:pPr>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3075" name="Picture 3" descr="C:\Documents and Settings\danielc\Desktop\Serve a range of wine products images\freeimage-2133043.jpg"/>
          <p:cNvPicPr>
            <a:picLocks noChangeAspect="1" noChangeArrowheads="1"/>
          </p:cNvPicPr>
          <p:nvPr/>
        </p:nvPicPr>
        <p:blipFill>
          <a:blip r:embed="rId3" cstate="print">
            <a:lum bright="10000"/>
          </a:blip>
          <a:srcRect/>
          <a:stretch>
            <a:fillRect/>
          </a:stretch>
        </p:blipFill>
        <p:spPr bwMode="auto">
          <a:xfrm>
            <a:off x="6210408" y="2571744"/>
            <a:ext cx="2249184" cy="1500198"/>
          </a:xfrm>
          <a:prstGeom prst="rect">
            <a:avLst/>
          </a:prstGeom>
          <a:noFill/>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Retrieve wines</a:t>
            </a:r>
          </a:p>
        </p:txBody>
      </p:sp>
      <p:sp>
        <p:nvSpPr>
          <p:cNvPr id="3" name="Content Placeholder 2"/>
          <p:cNvSpPr>
            <a:spLocks noGrp="1"/>
          </p:cNvSpPr>
          <p:nvPr>
            <p:ph idx="1"/>
          </p:nvPr>
        </p:nvSpPr>
        <p:spPr>
          <a:xfrm>
            <a:off x="611560" y="1556792"/>
            <a:ext cx="7467600" cy="4996408"/>
          </a:xfrm>
        </p:spPr>
        <p:txBody>
          <a:bodyPr>
            <a:normAutofit/>
          </a:bodyPr>
          <a:lstStyle/>
          <a:p>
            <a:pPr>
              <a:spcBef>
                <a:spcPts val="600"/>
              </a:spcBef>
              <a:spcAft>
                <a:spcPts val="1200"/>
              </a:spcAft>
              <a:buNone/>
            </a:pPr>
            <a:r>
              <a:rPr lang="en-AU" sz="2200" b="1" dirty="0" smtClean="0"/>
              <a:t>Retrieving wines</a:t>
            </a:r>
            <a:endParaRPr lang="en-AU" sz="2200" dirty="0" smtClean="0"/>
          </a:p>
          <a:p>
            <a:pPr>
              <a:spcBef>
                <a:spcPts val="600"/>
              </a:spcBef>
              <a:spcAft>
                <a:spcPts val="1200"/>
              </a:spcAft>
            </a:pPr>
            <a:r>
              <a:rPr lang="en-AU" sz="2200" dirty="0" smtClean="0"/>
              <a:t>Completion of necessary in-house documentation to track stock movement of wine</a:t>
            </a:r>
          </a:p>
          <a:p>
            <a:pPr lvl="0">
              <a:spcBef>
                <a:spcPts val="600"/>
              </a:spcBef>
              <a:spcAft>
                <a:spcPts val="1200"/>
              </a:spcAft>
            </a:pPr>
            <a:r>
              <a:rPr lang="en-AU" sz="2200" dirty="0" smtClean="0"/>
              <a:t>Ensuring bottles are stored in either bin number, wine list order, by region or alphabetically to ensure easier identification</a:t>
            </a:r>
          </a:p>
          <a:p>
            <a:pPr lvl="0">
              <a:spcBef>
                <a:spcPts val="600"/>
              </a:spcBef>
              <a:spcAft>
                <a:spcPts val="1200"/>
              </a:spcAft>
            </a:pPr>
            <a:r>
              <a:rPr lang="en-AU" sz="2200" dirty="0" smtClean="0"/>
              <a:t>Verifying the condition of wines </a:t>
            </a:r>
          </a:p>
          <a:p>
            <a:pPr>
              <a:spcBef>
                <a:spcPts val="600"/>
              </a:spcBef>
              <a:spcAft>
                <a:spcPts val="1200"/>
              </a:spcAft>
            </a:pPr>
            <a:r>
              <a:rPr lang="en-AU" sz="2200" dirty="0" smtClean="0"/>
              <a:t>Minimal movement and handling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6" name="Picture 5" descr="5415989089_700f510288_m.jpg"/>
          <p:cNvPicPr/>
          <p:nvPr/>
        </p:nvPicPr>
        <p:blipFill>
          <a:blip r:embed="rId3" cstate="print"/>
          <a:stretch>
            <a:fillRect/>
          </a:stretch>
        </p:blipFill>
        <p:spPr>
          <a:xfrm>
            <a:off x="5715008" y="4214818"/>
            <a:ext cx="2195513" cy="1643063"/>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Retrieve wines</a:t>
            </a:r>
          </a:p>
        </p:txBody>
      </p:sp>
      <p:sp>
        <p:nvSpPr>
          <p:cNvPr id="3" name="Content Placeholder 2"/>
          <p:cNvSpPr>
            <a:spLocks noGrp="1"/>
          </p:cNvSpPr>
          <p:nvPr>
            <p:ph idx="1"/>
          </p:nvPr>
        </p:nvSpPr>
        <p:spPr>
          <a:xfrm>
            <a:off x="611560" y="1556792"/>
            <a:ext cx="7467600" cy="4996408"/>
          </a:xfrm>
        </p:spPr>
        <p:txBody>
          <a:bodyPr>
            <a:normAutofit/>
          </a:bodyPr>
          <a:lstStyle/>
          <a:p>
            <a:pPr>
              <a:spcBef>
                <a:spcPts val="600"/>
              </a:spcBef>
              <a:spcAft>
                <a:spcPts val="1200"/>
              </a:spcAft>
              <a:buNone/>
            </a:pPr>
            <a:r>
              <a:rPr lang="en-AU" sz="2200" b="1" dirty="0" smtClean="0"/>
              <a:t>Correct serving temperatures of wine</a:t>
            </a:r>
          </a:p>
          <a:p>
            <a:pPr>
              <a:spcBef>
                <a:spcPts val="600"/>
              </a:spcBef>
              <a:spcAft>
                <a:spcPts val="1200"/>
              </a:spcAft>
            </a:pPr>
            <a:r>
              <a:rPr lang="en-AU" sz="2200" dirty="0" smtClean="0"/>
              <a:t>Blush, rose and dry white wines - 8 to14</a:t>
            </a:r>
            <a:r>
              <a:rPr lang="en-AU" sz="2400" dirty="0" smtClean="0"/>
              <a:t>ºC</a:t>
            </a:r>
            <a:endParaRPr lang="en-AU" sz="2200" dirty="0" smtClean="0"/>
          </a:p>
          <a:p>
            <a:pPr>
              <a:spcBef>
                <a:spcPts val="600"/>
              </a:spcBef>
              <a:spcAft>
                <a:spcPts val="1200"/>
              </a:spcAft>
            </a:pPr>
            <a:r>
              <a:rPr lang="en-AU" sz="2200" dirty="0" smtClean="0"/>
              <a:t>Sparkling wines and champagne - 6 to 8</a:t>
            </a:r>
            <a:r>
              <a:rPr lang="en-AU" sz="2400" dirty="0" smtClean="0"/>
              <a:t>ºC</a:t>
            </a:r>
            <a:endParaRPr lang="en-AU" sz="2200" dirty="0" smtClean="0"/>
          </a:p>
          <a:p>
            <a:pPr>
              <a:spcBef>
                <a:spcPts val="600"/>
              </a:spcBef>
              <a:spcAft>
                <a:spcPts val="1200"/>
              </a:spcAft>
            </a:pPr>
            <a:r>
              <a:rPr lang="en-AU" sz="2200" dirty="0" smtClean="0"/>
              <a:t>Light red wine - 13</a:t>
            </a:r>
            <a:r>
              <a:rPr lang="en-AU" sz="2400" dirty="0" smtClean="0"/>
              <a:t>ºC</a:t>
            </a:r>
            <a:endParaRPr lang="en-AU" sz="2200" dirty="0" smtClean="0"/>
          </a:p>
          <a:p>
            <a:pPr>
              <a:spcBef>
                <a:spcPts val="600"/>
              </a:spcBef>
              <a:spcAft>
                <a:spcPts val="1200"/>
              </a:spcAft>
            </a:pPr>
            <a:r>
              <a:rPr lang="en-AU" sz="2200" dirty="0" smtClean="0"/>
              <a:t>Deep red wines - 15-19</a:t>
            </a:r>
            <a:r>
              <a:rPr lang="en-AU" sz="2400" dirty="0" smtClean="0"/>
              <a:t>ºC</a:t>
            </a:r>
            <a:endParaRPr lang="en-AU" sz="2200" dirty="0" smtClean="0"/>
          </a:p>
          <a:p>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5" descr="3344236923_481b2a5435_m.jpg"/>
          <p:cNvPicPr/>
          <p:nvPr/>
        </p:nvPicPr>
        <p:blipFill>
          <a:blip r:embed="rId3" cstate="print">
            <a:lum contrast="20000"/>
          </a:blip>
          <a:stretch>
            <a:fillRect/>
          </a:stretch>
        </p:blipFill>
        <p:spPr>
          <a:xfrm>
            <a:off x="5429256" y="3429000"/>
            <a:ext cx="1992608" cy="1857388"/>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3:</a:t>
            </a:r>
          </a:p>
          <a:p>
            <a:pPr marL="0" lvl="0">
              <a:buNone/>
            </a:pPr>
            <a:r>
              <a:rPr lang="en-AU" sz="4000" dirty="0" smtClean="0">
                <a:solidFill>
                  <a:srgbClr val="FF6600"/>
                </a:solidFill>
              </a:rPr>
              <a:t>Undertake sensory appraisal of wines</a:t>
            </a:r>
          </a:p>
          <a:p>
            <a:pPr>
              <a:spcBef>
                <a:spcPts val="600"/>
              </a:spcBef>
              <a:spcAft>
                <a:spcPts val="1200"/>
              </a:spcAft>
            </a:pPr>
            <a:endParaRPr lang="en-AU" sz="2200" dirty="0" smtClean="0"/>
          </a:p>
          <a:p>
            <a:pPr>
              <a:spcBef>
                <a:spcPts val="600"/>
              </a:spcBef>
              <a:spcAft>
                <a:spcPts val="1200"/>
              </a:spcAft>
              <a:buNone/>
            </a:pPr>
            <a:endParaRPr lang="en-AU" sz="2200" dirty="0" smtClean="0"/>
          </a:p>
          <a:p>
            <a:pPr lvl="0">
              <a:spcBef>
                <a:spcPts val="600"/>
              </a:spcBef>
              <a:spcAft>
                <a:spcPts val="600"/>
              </a:spcAft>
            </a:pPr>
            <a:endParaRPr lang="en-AU" sz="2200" dirty="0" smtClean="0"/>
          </a:p>
          <a:p>
            <a:pPr>
              <a:buNone/>
            </a:pPr>
            <a:endParaRPr lang="en-AU" sz="2400" dirty="0" smtClean="0"/>
          </a:p>
          <a:p>
            <a:pPr lvl="0">
              <a:spcBef>
                <a:spcPts val="600"/>
              </a:spcBef>
              <a:spcAft>
                <a:spcPts val="1200"/>
              </a:spcAft>
            </a:pPr>
            <a:endParaRPr lang="en-AU" sz="2200" dirty="0" smtClean="0"/>
          </a:p>
          <a:p>
            <a:pPr marL="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6" name="Picture 5" descr="Wine Tasting.jpg"/>
          <p:cNvPicPr/>
          <p:nvPr/>
        </p:nvPicPr>
        <p:blipFill>
          <a:blip r:embed="rId3" cstate="print">
            <a:lum bright="10000"/>
          </a:blip>
          <a:stretch>
            <a:fillRect/>
          </a:stretch>
        </p:blipFill>
        <p:spPr>
          <a:xfrm>
            <a:off x="2428860" y="3357562"/>
            <a:ext cx="3429024" cy="2306947"/>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Undertake sensory appraisal of wines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Performance Criteria for this Element are: </a:t>
            </a:r>
          </a:p>
          <a:p>
            <a:pPr>
              <a:spcBef>
                <a:spcPts val="600"/>
              </a:spcBef>
              <a:spcAft>
                <a:spcPts val="1200"/>
              </a:spcAft>
            </a:pPr>
            <a:r>
              <a:rPr lang="en-AU" sz="2200" dirty="0" smtClean="0"/>
              <a:t>Create the conditions for wine tasting and appraisal</a:t>
            </a:r>
          </a:p>
          <a:p>
            <a:pPr>
              <a:spcBef>
                <a:spcPts val="600"/>
              </a:spcBef>
              <a:spcAft>
                <a:spcPts val="1200"/>
              </a:spcAft>
            </a:pPr>
            <a:r>
              <a:rPr lang="en-AU" sz="2200" dirty="0" smtClean="0"/>
              <a:t>Evaluate wines by sight, taste and smell</a:t>
            </a:r>
          </a:p>
          <a:p>
            <a:pPr>
              <a:spcBef>
                <a:spcPts val="600"/>
              </a:spcBef>
              <a:spcAft>
                <a:spcPts val="1200"/>
              </a:spcAft>
            </a:pPr>
            <a:r>
              <a:rPr lang="en-AU" sz="2200" dirty="0" smtClean="0"/>
              <a:t>Identify wines by style and grape variety</a:t>
            </a:r>
          </a:p>
          <a:p>
            <a:pPr>
              <a:spcBef>
                <a:spcPts val="600"/>
              </a:spcBef>
              <a:spcAft>
                <a:spcPts val="1200"/>
              </a:spcAft>
            </a:pPr>
            <a:r>
              <a:rPr lang="en-AU" sz="2200" dirty="0" smtClean="0"/>
              <a:t>Determine wine quality and characteristics</a:t>
            </a:r>
          </a:p>
          <a:p>
            <a:pPr>
              <a:spcBef>
                <a:spcPts val="600"/>
              </a:spcBef>
              <a:spcAft>
                <a:spcPts val="1200"/>
              </a:spcAft>
            </a:pPr>
            <a:r>
              <a:rPr lang="en-AU" sz="2200" dirty="0" smtClean="0"/>
              <a:t>Identify wine faults</a:t>
            </a: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500430" y="4357694"/>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00826" y="3786190"/>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143636" y="321468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143636" y="2643182"/>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7500958" y="2071678"/>
            <a:ext cx="399154" cy="527046"/>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marL="0">
              <a:spcBef>
                <a:spcPts val="600"/>
              </a:spcBef>
              <a:spcAft>
                <a:spcPts val="1200"/>
              </a:spcAft>
              <a:buNone/>
            </a:pPr>
            <a:r>
              <a:rPr lang="en-AU" sz="2200" b="1" dirty="0" smtClean="0"/>
              <a:t>Undertake wine tasting</a:t>
            </a:r>
          </a:p>
          <a:p>
            <a:pPr marL="0">
              <a:spcBef>
                <a:spcPts val="600"/>
              </a:spcBef>
              <a:spcAft>
                <a:spcPts val="1200"/>
              </a:spcAft>
              <a:buNone/>
            </a:pPr>
            <a:r>
              <a:rPr lang="en-AU" sz="2200" dirty="0" smtClean="0"/>
              <a:t>One of the best ways to be able to get a first hand understanding of wine is to undertake a wine tasting activity.</a:t>
            </a:r>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400" b="1" dirty="0" smtClean="0">
                <a:solidFill>
                  <a:srgbClr val="FF6600"/>
                </a:solidFill>
                <a:latin typeface="Helvetica" pitchFamily="34" charset="0"/>
              </a:rPr>
              <a:t>Create the conditions for wine tasting </a:t>
            </a:r>
          </a:p>
        </p:txBody>
      </p:sp>
      <p:pic>
        <p:nvPicPr>
          <p:cNvPr id="4098" name="Picture 2" descr="C:\Documents and Settings\danielc\Local Settings\Temporary Internet Files\Content.IE5\112MAXTI\MC900149685[1].wmf"/>
          <p:cNvPicPr>
            <a:picLocks noChangeAspect="1" noChangeArrowheads="1"/>
          </p:cNvPicPr>
          <p:nvPr/>
        </p:nvPicPr>
        <p:blipFill>
          <a:blip r:embed="rId3" cstate="print"/>
          <a:srcRect/>
          <a:stretch>
            <a:fillRect/>
          </a:stretch>
        </p:blipFill>
        <p:spPr bwMode="auto">
          <a:xfrm>
            <a:off x="5143504" y="3143248"/>
            <a:ext cx="1830309" cy="2212063"/>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58</a:t>
            </a:fld>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Creating </a:t>
            </a:r>
            <a:r>
              <a:rPr lang="en-AU" sz="2200" b="1" dirty="0" smtClean="0"/>
              <a:t>favourable conditions </a:t>
            </a:r>
          </a:p>
          <a:p>
            <a:pPr lvl="0">
              <a:spcBef>
                <a:spcPts val="600"/>
              </a:spcBef>
              <a:spcAft>
                <a:spcPts val="1200"/>
              </a:spcAft>
            </a:pPr>
            <a:r>
              <a:rPr lang="en-AU" sz="2200" dirty="0" smtClean="0"/>
              <a:t>Use same location </a:t>
            </a:r>
          </a:p>
          <a:p>
            <a:pPr>
              <a:spcBef>
                <a:spcPts val="600"/>
              </a:spcBef>
              <a:spcAft>
                <a:spcPts val="1200"/>
              </a:spcAft>
            </a:pPr>
            <a:r>
              <a:rPr lang="en-AU" sz="2200" dirty="0" smtClean="0"/>
              <a:t>Same time of day </a:t>
            </a:r>
          </a:p>
          <a:p>
            <a:pPr>
              <a:spcBef>
                <a:spcPts val="600"/>
              </a:spcBef>
              <a:spcAft>
                <a:spcPts val="1200"/>
              </a:spcAft>
            </a:pPr>
            <a:r>
              <a:rPr lang="en-AU" sz="2200" dirty="0" smtClean="0"/>
              <a:t>Use same glasses as used by customers  </a:t>
            </a:r>
          </a:p>
          <a:p>
            <a:pPr>
              <a:spcBef>
                <a:spcPts val="600"/>
              </a:spcBef>
              <a:spcAft>
                <a:spcPts val="1200"/>
              </a:spcAft>
            </a:pPr>
            <a:r>
              <a:rPr lang="en-AU" sz="2200" dirty="0" smtClean="0"/>
              <a:t>Follow SOPs</a:t>
            </a:r>
          </a:p>
          <a:p>
            <a:pPr>
              <a:buNone/>
            </a:pPr>
            <a:r>
              <a:rPr lang="en-AU" sz="2400" b="1" dirty="0" smtClean="0"/>
              <a:t> </a:t>
            </a:r>
          </a:p>
          <a:p>
            <a:pPr>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400" b="1" dirty="0" smtClean="0">
                <a:solidFill>
                  <a:srgbClr val="FF6600"/>
                </a:solidFill>
                <a:latin typeface="Helvetica" pitchFamily="34" charset="0"/>
              </a:rPr>
              <a:t>Create the conditions for wine tasting </a:t>
            </a:r>
          </a:p>
        </p:txBody>
      </p:sp>
      <p:pic>
        <p:nvPicPr>
          <p:cNvPr id="5" name="Picture 3" descr="C:\Documents and Settings\danielc\Local Settings\Temporary Internet Files\Content.IE5\SIQ5KRQ3\MC900198688[1].wmf"/>
          <p:cNvPicPr>
            <a:picLocks noChangeAspect="1" noChangeArrowheads="1"/>
          </p:cNvPicPr>
          <p:nvPr/>
        </p:nvPicPr>
        <p:blipFill>
          <a:blip r:embed="rId3" cstate="print"/>
          <a:srcRect/>
          <a:stretch>
            <a:fillRect/>
          </a:stretch>
        </p:blipFill>
        <p:spPr bwMode="auto">
          <a:xfrm>
            <a:off x="6300192" y="1988840"/>
            <a:ext cx="1895192" cy="2257331"/>
          </a:xfrm>
          <a:prstGeom prst="rect">
            <a:avLst/>
          </a:prstGeom>
          <a:noFill/>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59</a:t>
            </a:fld>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Get wines to correct tasting temperatures</a:t>
            </a:r>
          </a:p>
          <a:p>
            <a:pPr>
              <a:spcBef>
                <a:spcPts val="600"/>
              </a:spcBef>
              <a:spcAft>
                <a:spcPts val="1200"/>
              </a:spcAft>
              <a:buNone/>
            </a:pPr>
            <a:r>
              <a:rPr lang="en-AU" sz="2200" dirty="0" smtClean="0"/>
              <a:t> </a:t>
            </a:r>
            <a:r>
              <a:rPr lang="en-AU" sz="2200" dirty="0" smtClean="0"/>
              <a:t>‘Optimal’ temperatures for the evaluation of wines: </a:t>
            </a:r>
          </a:p>
          <a:p>
            <a:pPr lvl="0">
              <a:spcBef>
                <a:spcPts val="600"/>
              </a:spcBef>
              <a:spcAft>
                <a:spcPts val="1200"/>
              </a:spcAft>
            </a:pPr>
            <a:r>
              <a:rPr lang="en-AU" sz="2200" dirty="0" smtClean="0"/>
              <a:t>Whites – 10ºC - 12ºC </a:t>
            </a:r>
          </a:p>
          <a:p>
            <a:pPr lvl="0">
              <a:spcBef>
                <a:spcPts val="600"/>
              </a:spcBef>
              <a:spcAft>
                <a:spcPts val="1200"/>
              </a:spcAft>
            </a:pPr>
            <a:r>
              <a:rPr lang="en-AU" sz="2200" dirty="0" smtClean="0"/>
              <a:t>Reds – around 16ºC </a:t>
            </a:r>
          </a:p>
          <a:p>
            <a:pPr>
              <a:spcBef>
                <a:spcPts val="600"/>
              </a:spcBef>
              <a:spcAft>
                <a:spcPts val="1200"/>
              </a:spcAft>
            </a:pPr>
            <a:r>
              <a:rPr lang="en-AU" sz="2200" dirty="0" smtClean="0"/>
              <a:t>Fortified wines – 14ºC - 18ºC</a:t>
            </a:r>
            <a:r>
              <a:rPr lang="en-AU" sz="2200" b="1" dirty="0" smtClean="0"/>
              <a:t> </a:t>
            </a:r>
          </a:p>
          <a:p>
            <a:pPr>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400" b="1" dirty="0" smtClean="0">
                <a:solidFill>
                  <a:srgbClr val="FF6600"/>
                </a:solidFill>
                <a:latin typeface="Helvetica" pitchFamily="34" charset="0"/>
              </a:rPr>
              <a:t>Create the conditions for wine tasting </a:t>
            </a:r>
          </a:p>
        </p:txBody>
      </p:sp>
      <p:pic>
        <p:nvPicPr>
          <p:cNvPr id="5" name="Picture 4" descr="2924350548_63cb13ecbf_m.jpg"/>
          <p:cNvPicPr/>
          <p:nvPr/>
        </p:nvPicPr>
        <p:blipFill>
          <a:blip r:embed="rId3" cstate="print"/>
          <a:stretch>
            <a:fillRect/>
          </a:stretch>
        </p:blipFill>
        <p:spPr>
          <a:xfrm>
            <a:off x="5724128" y="3501008"/>
            <a:ext cx="2143125" cy="1476375"/>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60</a:t>
            </a:fld>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Aft>
                <a:spcPts val="600"/>
              </a:spcAft>
              <a:buNone/>
            </a:pPr>
            <a:r>
              <a:rPr lang="en-AU" sz="2200" b="1" dirty="0" smtClean="0"/>
              <a:t>Standard Operating Procedures </a:t>
            </a:r>
            <a:endParaRPr lang="en-AU" sz="2200" dirty="0" smtClean="0"/>
          </a:p>
          <a:p>
            <a:pPr lvl="0">
              <a:spcBef>
                <a:spcPts val="600"/>
              </a:spcBef>
              <a:spcAft>
                <a:spcPts val="1200"/>
              </a:spcAft>
            </a:pPr>
            <a:r>
              <a:rPr lang="en-AU" sz="2200" dirty="0" smtClean="0"/>
              <a:t>Persons involved</a:t>
            </a:r>
          </a:p>
          <a:p>
            <a:pPr lvl="0">
              <a:spcBef>
                <a:spcPts val="600"/>
              </a:spcBef>
              <a:spcAft>
                <a:spcPts val="1200"/>
              </a:spcAft>
            </a:pPr>
            <a:r>
              <a:rPr lang="en-AU" sz="2200" dirty="0" smtClean="0"/>
              <a:t>Where and when</a:t>
            </a:r>
          </a:p>
          <a:p>
            <a:pPr lvl="0">
              <a:spcBef>
                <a:spcPts val="600"/>
              </a:spcBef>
              <a:spcAft>
                <a:spcPts val="1200"/>
              </a:spcAft>
            </a:pPr>
            <a:r>
              <a:rPr lang="en-AU" sz="2200" dirty="0" smtClean="0"/>
              <a:t>Which wines</a:t>
            </a:r>
          </a:p>
          <a:p>
            <a:pPr lvl="0">
              <a:spcBef>
                <a:spcPts val="600"/>
              </a:spcBef>
              <a:spcAft>
                <a:spcPts val="1200"/>
              </a:spcAft>
            </a:pPr>
            <a:r>
              <a:rPr lang="en-AU" sz="2200" dirty="0" smtClean="0"/>
              <a:t>Specifications</a:t>
            </a:r>
          </a:p>
          <a:p>
            <a:pPr lvl="0">
              <a:spcBef>
                <a:spcPts val="600"/>
              </a:spcBef>
              <a:spcAft>
                <a:spcPts val="1200"/>
              </a:spcAft>
            </a:pPr>
            <a:r>
              <a:rPr lang="en-AU" sz="2200" dirty="0" smtClean="0"/>
              <a:t>Age of tasters </a:t>
            </a:r>
          </a:p>
          <a:p>
            <a:pPr lvl="0">
              <a:spcBef>
                <a:spcPts val="600"/>
              </a:spcBef>
              <a:spcAft>
                <a:spcPts val="1200"/>
              </a:spcAft>
            </a:pPr>
            <a:r>
              <a:rPr lang="en-AU" sz="2200" dirty="0" smtClean="0"/>
              <a:t>Taking of tasting notes </a:t>
            </a:r>
          </a:p>
          <a:p>
            <a:pPr lvl="0">
              <a:spcBef>
                <a:spcPts val="600"/>
              </a:spcBef>
              <a:spcAft>
                <a:spcPts val="1200"/>
              </a:spcAft>
            </a:pPr>
            <a:r>
              <a:rPr lang="en-AU" sz="2200" dirty="0" smtClean="0"/>
              <a:t>Instructions and directions from designated personnel </a:t>
            </a:r>
          </a:p>
          <a:p>
            <a:pPr lvl="0">
              <a:spcBef>
                <a:spcPts val="600"/>
              </a:spcBef>
              <a:spcAft>
                <a:spcPts val="1200"/>
              </a:spcAft>
            </a:pPr>
            <a:endParaRPr lang="en-AU" sz="2200" b="1" dirty="0" smtClean="0"/>
          </a:p>
          <a:p>
            <a:pPr>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400" b="1" dirty="0" smtClean="0">
                <a:solidFill>
                  <a:srgbClr val="FF6600"/>
                </a:solidFill>
                <a:latin typeface="Helvetica" pitchFamily="34" charset="0"/>
              </a:rPr>
              <a:t>Create the conditions for wine tasting </a:t>
            </a:r>
          </a:p>
        </p:txBody>
      </p:sp>
      <p:pic>
        <p:nvPicPr>
          <p:cNvPr id="5122" name="Picture 2" descr="C:\Documents and Settings\danielc\Local Settings\Temporary Internet Files\Content.IE5\UMECW9PM\MP900289878[1].jpg"/>
          <p:cNvPicPr>
            <a:picLocks noChangeAspect="1" noChangeArrowheads="1"/>
          </p:cNvPicPr>
          <p:nvPr/>
        </p:nvPicPr>
        <p:blipFill>
          <a:blip r:embed="rId3" cstate="print"/>
          <a:srcRect/>
          <a:stretch>
            <a:fillRect/>
          </a:stretch>
        </p:blipFill>
        <p:spPr bwMode="auto">
          <a:xfrm>
            <a:off x="5429256" y="2714620"/>
            <a:ext cx="2762856" cy="1901766"/>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61</a:t>
            </a:fld>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Prepare tasting area and equipment </a:t>
            </a:r>
          </a:p>
          <a:p>
            <a:pPr lvl="0">
              <a:spcBef>
                <a:spcPts val="600"/>
              </a:spcBef>
              <a:spcAft>
                <a:spcPts val="1200"/>
              </a:spcAft>
            </a:pPr>
            <a:r>
              <a:rPr lang="en-AU" sz="2200" dirty="0" smtClean="0"/>
              <a:t>Notify participants</a:t>
            </a:r>
          </a:p>
          <a:p>
            <a:pPr lvl="0">
              <a:spcBef>
                <a:spcPts val="600"/>
              </a:spcBef>
              <a:spcAft>
                <a:spcPts val="1200"/>
              </a:spcAft>
            </a:pPr>
            <a:r>
              <a:rPr lang="en-AU" sz="2200" dirty="0" smtClean="0"/>
              <a:t>Ensure availability of wine</a:t>
            </a:r>
          </a:p>
          <a:p>
            <a:pPr lvl="0">
              <a:spcBef>
                <a:spcPts val="600"/>
              </a:spcBef>
              <a:spcAft>
                <a:spcPts val="1200"/>
              </a:spcAft>
            </a:pPr>
            <a:r>
              <a:rPr lang="en-AU" sz="2200" dirty="0" smtClean="0"/>
              <a:t>Prepare wines</a:t>
            </a:r>
          </a:p>
          <a:p>
            <a:pPr lvl="0">
              <a:spcBef>
                <a:spcPts val="600"/>
              </a:spcBef>
              <a:spcAft>
                <a:spcPts val="1200"/>
              </a:spcAft>
            </a:pPr>
            <a:r>
              <a:rPr lang="en-AU" sz="2200" dirty="0" smtClean="0"/>
              <a:t>Ensure clean equipment</a:t>
            </a:r>
          </a:p>
          <a:p>
            <a:pPr lvl="0">
              <a:spcBef>
                <a:spcPts val="600"/>
              </a:spcBef>
              <a:spcAft>
                <a:spcPts val="1200"/>
              </a:spcAft>
            </a:pPr>
            <a:r>
              <a:rPr lang="en-AU" sz="2200" dirty="0" smtClean="0"/>
              <a:t>Eliminate distractions </a:t>
            </a:r>
          </a:p>
          <a:p>
            <a:pPr lvl="0">
              <a:spcBef>
                <a:spcPts val="600"/>
              </a:spcBef>
              <a:spcAft>
                <a:spcPts val="1200"/>
              </a:spcAft>
            </a:pPr>
            <a:r>
              <a:rPr lang="en-AU" sz="2200" dirty="0" smtClean="0"/>
              <a:t>Provide water and crackers</a:t>
            </a:r>
          </a:p>
          <a:p>
            <a:pPr lvl="0">
              <a:spcBef>
                <a:spcPts val="600"/>
              </a:spcBef>
              <a:spcAft>
                <a:spcPts val="1200"/>
              </a:spcAft>
            </a:pPr>
            <a:r>
              <a:rPr lang="en-AU" sz="2200" dirty="0" smtClean="0"/>
              <a:t>Prepare tasting notes</a:t>
            </a:r>
          </a:p>
          <a:p>
            <a:pPr lvl="0">
              <a:spcBef>
                <a:spcPts val="600"/>
              </a:spcBef>
              <a:spcAft>
                <a:spcPts val="1200"/>
              </a:spcAft>
            </a:pPr>
            <a:endParaRPr lang="en-AU" sz="2200" b="1" dirty="0" smtClean="0"/>
          </a:p>
          <a:p>
            <a:pPr lvl="0">
              <a:spcBef>
                <a:spcPts val="600"/>
              </a:spcBef>
              <a:spcAft>
                <a:spcPts val="1200"/>
              </a:spcAft>
            </a:pPr>
            <a:endParaRPr lang="en-AU" sz="2200" b="1" dirty="0" smtClean="0"/>
          </a:p>
          <a:p>
            <a:pPr>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400" b="1" dirty="0" smtClean="0">
                <a:solidFill>
                  <a:srgbClr val="FF6600"/>
                </a:solidFill>
                <a:latin typeface="Helvetica" pitchFamily="34" charset="0"/>
              </a:rPr>
              <a:t>Create the conditions for wine tasting </a:t>
            </a:r>
          </a:p>
        </p:txBody>
      </p:sp>
      <p:pic>
        <p:nvPicPr>
          <p:cNvPr id="5" name="Picture 4" descr="3133205107_73d402b82a_m.jpg"/>
          <p:cNvPicPr/>
          <p:nvPr/>
        </p:nvPicPr>
        <p:blipFill>
          <a:blip r:embed="rId3" cstate="print"/>
          <a:stretch>
            <a:fillRect/>
          </a:stretch>
        </p:blipFill>
        <p:spPr>
          <a:xfrm>
            <a:off x="5572132" y="1643050"/>
            <a:ext cx="2355852" cy="1745209"/>
          </a:xfrm>
          <a:prstGeom prst="rect">
            <a:avLst/>
          </a:prstGeom>
        </p:spPr>
      </p:pic>
      <p:pic>
        <p:nvPicPr>
          <p:cNvPr id="6146" name="Picture 2" descr="C:\Documents and Settings\danielc\Local Settings\Temporary Internet Files\Content.IE5\112MAXTI\MP900179005[1].jpg"/>
          <p:cNvPicPr>
            <a:picLocks noChangeAspect="1" noChangeArrowheads="1"/>
          </p:cNvPicPr>
          <p:nvPr/>
        </p:nvPicPr>
        <p:blipFill>
          <a:blip r:embed="rId4" cstate="print">
            <a:duotone>
              <a:prstClr val="black"/>
              <a:srgbClr val="D9C3A5">
                <a:tint val="50000"/>
                <a:satMod val="180000"/>
              </a:srgbClr>
            </a:duotone>
            <a:lum bright="10000"/>
          </a:blip>
          <a:srcRect/>
          <a:stretch>
            <a:fillRect/>
          </a:stretch>
        </p:blipFill>
        <p:spPr bwMode="auto">
          <a:xfrm>
            <a:off x="4929190" y="3143248"/>
            <a:ext cx="1730006" cy="2614618"/>
          </a:xfrm>
          <a:prstGeom prst="rect">
            <a:avLst/>
          </a:prstGeom>
          <a:noFill/>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62</a:t>
            </a:fld>
            <a:endParaRPr lang="en-US"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Evaluate wines by sight, taste and smell</a:t>
            </a:r>
            <a:endParaRPr lang="en-AU" sz="2200" dirty="0" smtClean="0"/>
          </a:p>
          <a:p>
            <a:pPr>
              <a:spcBef>
                <a:spcPts val="600"/>
              </a:spcBef>
              <a:spcAft>
                <a:spcPts val="1200"/>
              </a:spcAft>
            </a:pPr>
            <a:r>
              <a:rPr lang="en-AU" sz="2200" dirty="0" smtClean="0"/>
              <a:t>Now that the wine tasting area has been set up, it is now time to evaluate the wines that make up the wine tasting</a:t>
            </a:r>
          </a:p>
          <a:p>
            <a:pPr>
              <a:spcBef>
                <a:spcPts val="600"/>
              </a:spcBef>
              <a:spcAft>
                <a:spcPts val="1200"/>
              </a:spcAft>
            </a:pPr>
            <a:r>
              <a:rPr lang="en-AU" sz="2200" dirty="0" smtClean="0"/>
              <a:t>The sequence in which wines are tasted can impact on how they are evaluated</a:t>
            </a:r>
          </a:p>
          <a:p>
            <a:pPr lvl="0">
              <a:spcBef>
                <a:spcPts val="600"/>
              </a:spcBef>
              <a:spcAft>
                <a:spcPts val="1200"/>
              </a:spcAft>
            </a:pPr>
            <a:endParaRPr lang="en-AU" sz="2200" b="1" dirty="0" smtClean="0"/>
          </a:p>
          <a:p>
            <a:pPr lvl="0">
              <a:spcBef>
                <a:spcPts val="600"/>
              </a:spcBef>
              <a:spcAft>
                <a:spcPts val="1200"/>
              </a:spcAft>
            </a:pPr>
            <a:endParaRPr lang="en-AU" sz="2200" b="1" dirty="0" smtClean="0"/>
          </a:p>
          <a:p>
            <a:pPr>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400" b="1" dirty="0" smtClean="0">
                <a:solidFill>
                  <a:srgbClr val="FF6600"/>
                </a:solidFill>
                <a:latin typeface="Helvetica" pitchFamily="34" charset="0"/>
              </a:rPr>
              <a:t>Evaluating wine</a:t>
            </a:r>
          </a:p>
        </p:txBody>
      </p:sp>
      <p:pic>
        <p:nvPicPr>
          <p:cNvPr id="6" name="Picture 5" descr="3133206799_2a4ea7b7c4_m.jpg"/>
          <p:cNvPicPr/>
          <p:nvPr/>
        </p:nvPicPr>
        <p:blipFill>
          <a:blip r:embed="rId3" cstate="print"/>
          <a:stretch>
            <a:fillRect/>
          </a:stretch>
        </p:blipFill>
        <p:spPr>
          <a:xfrm>
            <a:off x="3786182" y="4357694"/>
            <a:ext cx="1962150" cy="1852613"/>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63</a:t>
            </a:fld>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Appropriate order of tasting</a:t>
            </a:r>
            <a:endParaRPr lang="en-AU" sz="2200" dirty="0" smtClean="0"/>
          </a:p>
          <a:p>
            <a:pPr lvl="0">
              <a:spcBef>
                <a:spcPts val="600"/>
              </a:spcBef>
              <a:spcAft>
                <a:spcPts val="1200"/>
              </a:spcAft>
            </a:pPr>
            <a:r>
              <a:rPr lang="en-AU" sz="2200" dirty="0" smtClean="0"/>
              <a:t>Taste younger wines before older wines </a:t>
            </a:r>
          </a:p>
          <a:p>
            <a:pPr lvl="0">
              <a:spcBef>
                <a:spcPts val="600"/>
              </a:spcBef>
              <a:spcAft>
                <a:spcPts val="1200"/>
              </a:spcAft>
            </a:pPr>
            <a:r>
              <a:rPr lang="en-AU" sz="2200" dirty="0" smtClean="0"/>
              <a:t>Taste lighter styles before the more full-bodied ones </a:t>
            </a:r>
          </a:p>
          <a:p>
            <a:pPr lvl="0">
              <a:spcBef>
                <a:spcPts val="600"/>
              </a:spcBef>
              <a:spcAft>
                <a:spcPts val="1200"/>
              </a:spcAft>
            </a:pPr>
            <a:r>
              <a:rPr lang="en-AU" sz="2200" dirty="0" smtClean="0"/>
              <a:t>Taste wines with lower alcohol content before </a:t>
            </a:r>
            <a:br>
              <a:rPr lang="en-AU" sz="2200" dirty="0" smtClean="0"/>
            </a:br>
            <a:r>
              <a:rPr lang="en-AU" sz="2200" dirty="0" smtClean="0"/>
              <a:t>those with a higher alcohol content </a:t>
            </a:r>
          </a:p>
          <a:p>
            <a:pPr lvl="0">
              <a:spcBef>
                <a:spcPts val="600"/>
              </a:spcBef>
              <a:spcAft>
                <a:spcPts val="1200"/>
              </a:spcAft>
            </a:pPr>
            <a:r>
              <a:rPr lang="en-AU" sz="2200" dirty="0" smtClean="0"/>
              <a:t>Taste still wines before sparkling wines </a:t>
            </a:r>
          </a:p>
          <a:p>
            <a:pPr lvl="0">
              <a:spcBef>
                <a:spcPts val="600"/>
              </a:spcBef>
              <a:spcAft>
                <a:spcPts val="1200"/>
              </a:spcAft>
            </a:pPr>
            <a:r>
              <a:rPr lang="en-AU" sz="2200" dirty="0" smtClean="0"/>
              <a:t>Taste white wines before red wines </a:t>
            </a:r>
          </a:p>
          <a:p>
            <a:pPr lvl="0">
              <a:spcBef>
                <a:spcPts val="600"/>
              </a:spcBef>
              <a:spcAft>
                <a:spcPts val="1200"/>
              </a:spcAft>
            </a:pPr>
            <a:r>
              <a:rPr lang="en-AU" sz="2200" dirty="0" smtClean="0"/>
              <a:t>Taste dry wines before sweet wines</a:t>
            </a:r>
          </a:p>
          <a:p>
            <a:pPr lvl="0">
              <a:spcBef>
                <a:spcPts val="600"/>
              </a:spcBef>
              <a:spcAft>
                <a:spcPts val="1200"/>
              </a:spcAft>
            </a:pPr>
            <a:endParaRPr lang="en-AU" sz="2200" b="1" dirty="0" smtClean="0"/>
          </a:p>
          <a:p>
            <a:pPr lvl="0">
              <a:spcBef>
                <a:spcPts val="600"/>
              </a:spcBef>
              <a:spcAft>
                <a:spcPts val="1200"/>
              </a:spcAft>
            </a:pPr>
            <a:endParaRPr lang="en-AU" sz="2200" b="1" dirty="0" smtClean="0"/>
          </a:p>
          <a:p>
            <a:pPr>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400" b="1" dirty="0" smtClean="0">
                <a:solidFill>
                  <a:srgbClr val="FF6600"/>
                </a:solidFill>
                <a:latin typeface="Helvetica" pitchFamily="34" charset="0"/>
              </a:rPr>
              <a:t>Evaluating wine</a:t>
            </a:r>
          </a:p>
        </p:txBody>
      </p:sp>
      <p:pic>
        <p:nvPicPr>
          <p:cNvPr id="7170" name="Picture 2" descr="C:\Documents and Settings\danielc\Desktop\Serve a range of wine products images\freeimage-6338230.jpg"/>
          <p:cNvPicPr>
            <a:picLocks noChangeAspect="1" noChangeArrowheads="1"/>
          </p:cNvPicPr>
          <p:nvPr/>
        </p:nvPicPr>
        <p:blipFill>
          <a:blip r:embed="rId3" cstate="print"/>
          <a:srcRect/>
          <a:stretch>
            <a:fillRect/>
          </a:stretch>
        </p:blipFill>
        <p:spPr bwMode="auto">
          <a:xfrm>
            <a:off x="6929454" y="3429000"/>
            <a:ext cx="1349654" cy="2024482"/>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64</a:t>
            </a:fld>
            <a:endParaRPr 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Types of tastings</a:t>
            </a:r>
          </a:p>
          <a:p>
            <a:pPr>
              <a:spcBef>
                <a:spcPts val="600"/>
              </a:spcBef>
              <a:spcAft>
                <a:spcPts val="1200"/>
              </a:spcAft>
            </a:pPr>
            <a:r>
              <a:rPr lang="en-AU" sz="2200" dirty="0" smtClean="0"/>
              <a:t>Vertical </a:t>
            </a:r>
            <a:r>
              <a:rPr lang="en-AU" sz="2200" dirty="0" smtClean="0"/>
              <a:t>tastings </a:t>
            </a:r>
          </a:p>
          <a:p>
            <a:pPr>
              <a:spcBef>
                <a:spcPts val="600"/>
              </a:spcBef>
              <a:spcAft>
                <a:spcPts val="1200"/>
              </a:spcAft>
            </a:pPr>
            <a:r>
              <a:rPr lang="en-AU" sz="2200" dirty="0" smtClean="0"/>
              <a:t>Horizontal tastings </a:t>
            </a:r>
          </a:p>
          <a:p>
            <a:pPr>
              <a:spcBef>
                <a:spcPts val="600"/>
              </a:spcBef>
              <a:spcAft>
                <a:spcPts val="1200"/>
              </a:spcAft>
            </a:pPr>
            <a:r>
              <a:rPr lang="en-AU" sz="2200" dirty="0" smtClean="0"/>
              <a:t>Blind tastings </a:t>
            </a:r>
          </a:p>
          <a:p>
            <a:pPr>
              <a:spcBef>
                <a:spcPts val="600"/>
              </a:spcBef>
              <a:spcAft>
                <a:spcPts val="1200"/>
              </a:spcAft>
              <a:buNone/>
            </a:pPr>
            <a:endParaRPr lang="en-AU" sz="2200" dirty="0" smtClean="0"/>
          </a:p>
          <a:p>
            <a:pPr lvl="0">
              <a:spcBef>
                <a:spcPts val="600"/>
              </a:spcBef>
              <a:spcAft>
                <a:spcPts val="1200"/>
              </a:spcAft>
            </a:pPr>
            <a:endParaRPr lang="en-AU" sz="2200" b="1" dirty="0" smtClean="0"/>
          </a:p>
          <a:p>
            <a:pPr lvl="0">
              <a:spcBef>
                <a:spcPts val="600"/>
              </a:spcBef>
              <a:spcAft>
                <a:spcPts val="1200"/>
              </a:spcAft>
            </a:pPr>
            <a:endParaRPr lang="en-AU" sz="2200" b="1" dirty="0" smtClean="0"/>
          </a:p>
          <a:p>
            <a:pPr>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400" b="1" dirty="0" smtClean="0">
                <a:solidFill>
                  <a:srgbClr val="FF6600"/>
                </a:solidFill>
                <a:latin typeface="Helvetica" pitchFamily="34" charset="0"/>
              </a:rPr>
              <a:t>Evaluating wine</a:t>
            </a:r>
          </a:p>
        </p:txBody>
      </p:sp>
      <p:pic>
        <p:nvPicPr>
          <p:cNvPr id="8194" name="Picture 2" descr="C:\Documents and Settings\danielc\Desktop\Serve a range of wine products images\freeimage-4757897.jpg"/>
          <p:cNvPicPr>
            <a:picLocks noChangeAspect="1" noChangeArrowheads="1"/>
          </p:cNvPicPr>
          <p:nvPr/>
        </p:nvPicPr>
        <p:blipFill>
          <a:blip r:embed="rId3" cstate="print"/>
          <a:srcRect/>
          <a:stretch>
            <a:fillRect/>
          </a:stretch>
        </p:blipFill>
        <p:spPr bwMode="auto">
          <a:xfrm>
            <a:off x="5004048" y="2132856"/>
            <a:ext cx="2834608" cy="1889739"/>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65</a:t>
            </a:fld>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marL="0">
              <a:spcBef>
                <a:spcPts val="600"/>
              </a:spcBef>
              <a:spcAft>
                <a:spcPts val="1200"/>
              </a:spcAft>
              <a:buNone/>
            </a:pPr>
            <a:r>
              <a:rPr lang="en-AU" sz="2200" b="1" dirty="0" smtClean="0"/>
              <a:t>Undertake wine tasting</a:t>
            </a:r>
          </a:p>
          <a:p>
            <a:pPr marL="0">
              <a:spcBef>
                <a:spcPts val="600"/>
              </a:spcBef>
              <a:spcAft>
                <a:spcPts val="1200"/>
              </a:spcAft>
              <a:buNone/>
            </a:pPr>
            <a:r>
              <a:rPr lang="en-AU" sz="2200" dirty="0" smtClean="0"/>
              <a:t>The </a:t>
            </a:r>
            <a:r>
              <a:rPr lang="en-AU" sz="2200" dirty="0" smtClean="0"/>
              <a:t>appreciation of wine can be broken down into three different senses:</a:t>
            </a:r>
          </a:p>
          <a:p>
            <a:pPr lvl="0">
              <a:spcBef>
                <a:spcPts val="600"/>
              </a:spcBef>
              <a:spcAft>
                <a:spcPts val="1200"/>
              </a:spcAft>
            </a:pPr>
            <a:r>
              <a:rPr lang="en-AU" sz="2200" dirty="0" smtClean="0"/>
              <a:t>Sight</a:t>
            </a:r>
          </a:p>
          <a:p>
            <a:pPr lvl="0">
              <a:spcBef>
                <a:spcPts val="600"/>
              </a:spcBef>
              <a:spcAft>
                <a:spcPts val="1200"/>
              </a:spcAft>
            </a:pPr>
            <a:r>
              <a:rPr lang="en-AU" sz="2200" dirty="0" smtClean="0"/>
              <a:t>Smell </a:t>
            </a:r>
          </a:p>
          <a:p>
            <a:pPr lvl="0">
              <a:spcBef>
                <a:spcPts val="600"/>
              </a:spcBef>
              <a:spcAft>
                <a:spcPts val="1200"/>
              </a:spcAft>
            </a:pPr>
            <a:r>
              <a:rPr lang="en-AU" sz="2200" dirty="0" smtClean="0"/>
              <a:t>Taste</a:t>
            </a:r>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Evaluating wine</a:t>
            </a:r>
          </a:p>
        </p:txBody>
      </p:sp>
      <p:pic>
        <p:nvPicPr>
          <p:cNvPr id="6" name="Picture 5" descr="388520774_8653ebf484_m.jpg"/>
          <p:cNvPicPr/>
          <p:nvPr/>
        </p:nvPicPr>
        <p:blipFill>
          <a:blip r:embed="rId3" cstate="print">
            <a:lum bright="10000"/>
          </a:blip>
          <a:stretch>
            <a:fillRect/>
          </a:stretch>
        </p:blipFill>
        <p:spPr>
          <a:xfrm>
            <a:off x="5724128" y="2852936"/>
            <a:ext cx="1766888" cy="184785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66</a:t>
            </a:fld>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Sight</a:t>
            </a:r>
          </a:p>
          <a:p>
            <a:pPr>
              <a:spcBef>
                <a:spcPts val="600"/>
              </a:spcBef>
              <a:spcAft>
                <a:spcPts val="1200"/>
              </a:spcAft>
              <a:buNone/>
            </a:pPr>
            <a:r>
              <a:rPr lang="en-AU" sz="2200" dirty="0" smtClean="0"/>
              <a:t>The eyes are used to determine: </a:t>
            </a:r>
          </a:p>
          <a:p>
            <a:pPr lvl="0">
              <a:spcBef>
                <a:spcPts val="600"/>
              </a:spcBef>
              <a:spcAft>
                <a:spcPts val="1200"/>
              </a:spcAft>
            </a:pPr>
            <a:r>
              <a:rPr lang="en-AU" sz="2200" dirty="0" smtClean="0"/>
              <a:t>Intensity </a:t>
            </a:r>
            <a:r>
              <a:rPr lang="en-AU" sz="2200" dirty="0" smtClean="0"/>
              <a:t>and type of colour of the wine </a:t>
            </a:r>
          </a:p>
          <a:p>
            <a:pPr lvl="0">
              <a:spcBef>
                <a:spcPts val="600"/>
              </a:spcBef>
              <a:spcAft>
                <a:spcPts val="1200"/>
              </a:spcAft>
            </a:pPr>
            <a:r>
              <a:rPr lang="en-AU" sz="2200" dirty="0" smtClean="0"/>
              <a:t>Clarity of the wine</a:t>
            </a:r>
          </a:p>
          <a:p>
            <a:pPr>
              <a:spcBef>
                <a:spcPts val="600"/>
              </a:spcBef>
              <a:spcAft>
                <a:spcPts val="1200"/>
              </a:spcAft>
            </a:pPr>
            <a:r>
              <a:rPr lang="en-AU" sz="2200" dirty="0" smtClean="0"/>
              <a:t>The ‘legs’ of the wine </a:t>
            </a:r>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Evaluating wine</a:t>
            </a:r>
          </a:p>
        </p:txBody>
      </p:sp>
      <p:pic>
        <p:nvPicPr>
          <p:cNvPr id="4" name="Picture 3" descr="2491281_b94de94e9d_m.jpg"/>
          <p:cNvPicPr/>
          <p:nvPr/>
        </p:nvPicPr>
        <p:blipFill>
          <a:blip r:embed="rId3" cstate="print"/>
          <a:stretch>
            <a:fillRect/>
          </a:stretch>
        </p:blipFill>
        <p:spPr>
          <a:xfrm>
            <a:off x="6215074" y="3143248"/>
            <a:ext cx="1664018" cy="161925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67</a:t>
            </a:fld>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Smell </a:t>
            </a:r>
            <a:endParaRPr lang="en-AU" sz="2200" dirty="0" smtClean="0"/>
          </a:p>
          <a:p>
            <a:pPr marL="0">
              <a:spcBef>
                <a:spcPts val="600"/>
              </a:spcBef>
              <a:spcAft>
                <a:spcPts val="1200"/>
              </a:spcAft>
              <a:buNone/>
            </a:pPr>
            <a:r>
              <a:rPr lang="en-AU" sz="2200" dirty="0" smtClean="0"/>
              <a:t>Your sense of smell should be used in wine evaluation to look for: </a:t>
            </a:r>
          </a:p>
          <a:p>
            <a:pPr lvl="0">
              <a:spcBef>
                <a:spcPts val="600"/>
              </a:spcBef>
              <a:spcAft>
                <a:spcPts val="1200"/>
              </a:spcAft>
            </a:pPr>
            <a:r>
              <a:rPr lang="en-AU" sz="2200" dirty="0" smtClean="0"/>
              <a:t>Aroma </a:t>
            </a:r>
          </a:p>
          <a:p>
            <a:pPr lvl="0">
              <a:spcBef>
                <a:spcPts val="600"/>
              </a:spcBef>
              <a:spcAft>
                <a:spcPts val="1200"/>
              </a:spcAft>
            </a:pPr>
            <a:r>
              <a:rPr lang="en-AU" sz="2200" dirty="0" smtClean="0"/>
              <a:t>Bouquet </a:t>
            </a:r>
          </a:p>
          <a:p>
            <a:pPr>
              <a:spcBef>
                <a:spcPts val="600"/>
              </a:spcBef>
              <a:spcAft>
                <a:spcPts val="1200"/>
              </a:spcAft>
            </a:pPr>
            <a:r>
              <a:rPr lang="en-AU" sz="2200" dirty="0" smtClean="0"/>
              <a:t>‘Off’ odours </a:t>
            </a: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Evaluating wine</a:t>
            </a:r>
          </a:p>
        </p:txBody>
      </p:sp>
      <p:pic>
        <p:nvPicPr>
          <p:cNvPr id="5" name="Picture 4" descr="5424211656_2408a07b42_m.jpg"/>
          <p:cNvPicPr/>
          <p:nvPr/>
        </p:nvPicPr>
        <p:blipFill>
          <a:blip r:embed="rId3" cstate="print"/>
          <a:stretch>
            <a:fillRect/>
          </a:stretch>
        </p:blipFill>
        <p:spPr>
          <a:xfrm>
            <a:off x="5214942" y="2928934"/>
            <a:ext cx="2352675" cy="16383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68</a:t>
            </a:fld>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285860"/>
            <a:ext cx="7829576" cy="4953000"/>
          </a:xfrm>
        </p:spPr>
        <p:txBody>
          <a:bodyPr>
            <a:normAutofit/>
          </a:bodyPr>
          <a:lstStyle/>
          <a:p>
            <a:pPr>
              <a:spcBef>
                <a:spcPts val="600"/>
              </a:spcBef>
              <a:spcAft>
                <a:spcPts val="1200"/>
              </a:spcAft>
              <a:buNone/>
            </a:pPr>
            <a:r>
              <a:rPr lang="en-AU" sz="2200" b="1" dirty="0" smtClean="0"/>
              <a:t>Taste</a:t>
            </a:r>
          </a:p>
          <a:p>
            <a:pPr lvl="0">
              <a:spcBef>
                <a:spcPts val="600"/>
              </a:spcBef>
              <a:spcAft>
                <a:spcPts val="1200"/>
              </a:spcAft>
            </a:pPr>
            <a:r>
              <a:rPr lang="en-AU" sz="2200" dirty="0" smtClean="0"/>
              <a:t>The flavours of the wine and their intensity, harmony and balance </a:t>
            </a:r>
          </a:p>
          <a:p>
            <a:pPr lvl="0">
              <a:spcBef>
                <a:spcPts val="600"/>
              </a:spcBef>
              <a:spcAft>
                <a:spcPts val="1200"/>
              </a:spcAft>
            </a:pPr>
            <a:r>
              <a:rPr lang="en-AU" sz="2200" dirty="0" smtClean="0"/>
              <a:t>Acidity and sweetness </a:t>
            </a:r>
          </a:p>
          <a:p>
            <a:pPr lvl="0">
              <a:spcBef>
                <a:spcPts val="600"/>
              </a:spcBef>
              <a:spcAft>
                <a:spcPts val="1200"/>
              </a:spcAft>
            </a:pPr>
            <a:r>
              <a:rPr lang="en-AU" sz="2200" dirty="0" smtClean="0"/>
              <a:t>The in-mouth feel or body of the wine </a:t>
            </a:r>
          </a:p>
          <a:p>
            <a:pPr lvl="0">
              <a:spcBef>
                <a:spcPts val="600"/>
              </a:spcBef>
              <a:spcAft>
                <a:spcPts val="1200"/>
              </a:spcAft>
            </a:pPr>
            <a:r>
              <a:rPr lang="en-AU" sz="2200" dirty="0" smtClean="0"/>
              <a:t>The level and balance of fruit, wood, alcohol, tannin and other characteristics </a:t>
            </a:r>
          </a:p>
          <a:p>
            <a:pPr lvl="0">
              <a:spcBef>
                <a:spcPts val="600"/>
              </a:spcBef>
              <a:spcAft>
                <a:spcPts val="1200"/>
              </a:spcAft>
            </a:pPr>
            <a:r>
              <a:rPr lang="en-AU" sz="2200" dirty="0" smtClean="0"/>
              <a:t>How the wine feels in the mouth, tongue and back of the throat </a:t>
            </a:r>
          </a:p>
          <a:p>
            <a:pPr lvl="0">
              <a:spcBef>
                <a:spcPts val="600"/>
              </a:spcBef>
              <a:spcAft>
                <a:spcPts val="1200"/>
              </a:spcAft>
            </a:pPr>
            <a:r>
              <a:rPr lang="en-AU" sz="2200" dirty="0" smtClean="0"/>
              <a:t>Length, finish and aftertaste of the wine</a:t>
            </a: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Evaluating wine</a:t>
            </a:r>
          </a:p>
        </p:txBody>
      </p:sp>
      <p:pic>
        <p:nvPicPr>
          <p:cNvPr id="6" name="Picture 5" descr="2481406439_51d13faea5_m.jpg"/>
          <p:cNvPicPr/>
          <p:nvPr/>
        </p:nvPicPr>
        <p:blipFill>
          <a:blip r:embed="rId3" cstate="print"/>
          <a:stretch>
            <a:fillRect/>
          </a:stretch>
        </p:blipFill>
        <p:spPr>
          <a:xfrm>
            <a:off x="6929454" y="2428868"/>
            <a:ext cx="1294595" cy="1349342"/>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69</a:t>
            </a:fld>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Tasting procedures</a:t>
            </a:r>
          </a:p>
          <a:p>
            <a:pPr>
              <a:spcBef>
                <a:spcPts val="600"/>
              </a:spcBef>
              <a:spcAft>
                <a:spcPts val="1200"/>
              </a:spcAft>
            </a:pPr>
            <a:r>
              <a:rPr lang="en-AU" sz="2200" dirty="0" smtClean="0"/>
              <a:t>Looking </a:t>
            </a:r>
            <a:r>
              <a:rPr lang="en-AU" sz="2200" dirty="0" smtClean="0"/>
              <a:t>at the wine </a:t>
            </a:r>
          </a:p>
          <a:p>
            <a:pPr>
              <a:spcBef>
                <a:spcPts val="600"/>
              </a:spcBef>
              <a:spcAft>
                <a:spcPts val="1200"/>
              </a:spcAft>
            </a:pPr>
            <a:r>
              <a:rPr lang="en-AU" sz="2200" dirty="0" smtClean="0"/>
              <a:t>Nosing the wine </a:t>
            </a:r>
          </a:p>
          <a:p>
            <a:pPr>
              <a:spcBef>
                <a:spcPts val="600"/>
              </a:spcBef>
              <a:spcAft>
                <a:spcPts val="1200"/>
              </a:spcAft>
            </a:pPr>
            <a:r>
              <a:rPr lang="en-AU" sz="2200" dirty="0" smtClean="0"/>
              <a:t>Tasting the wine </a:t>
            </a:r>
          </a:p>
          <a:p>
            <a:pPr>
              <a:spcBef>
                <a:spcPts val="600"/>
              </a:spcBef>
              <a:spcAft>
                <a:spcPts val="1200"/>
              </a:spcAft>
            </a:pPr>
            <a:r>
              <a:rPr lang="en-AU" sz="2200" dirty="0" smtClean="0"/>
              <a:t>Recording impressions </a:t>
            </a:r>
          </a:p>
          <a:p>
            <a:pPr>
              <a:spcBef>
                <a:spcPts val="600"/>
              </a:spcBef>
              <a:spcAft>
                <a:spcPts val="1200"/>
              </a:spcAft>
            </a:pPr>
            <a:r>
              <a:rPr lang="en-AU" sz="2200" dirty="0" smtClean="0"/>
              <a:t>Refreshing the palate </a:t>
            </a:r>
          </a:p>
          <a:p>
            <a:endParaRPr lang="en-AU" sz="24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Evaluating wine</a:t>
            </a:r>
          </a:p>
        </p:txBody>
      </p:sp>
      <p:pic>
        <p:nvPicPr>
          <p:cNvPr id="5" name="Picture 4" descr="83931029_2c77291cc2_m.jpg"/>
          <p:cNvPicPr/>
          <p:nvPr/>
        </p:nvPicPr>
        <p:blipFill>
          <a:blip r:embed="rId3" cstate="print">
            <a:lum contrast="10000"/>
          </a:blip>
          <a:stretch>
            <a:fillRect/>
          </a:stretch>
        </p:blipFill>
        <p:spPr>
          <a:xfrm>
            <a:off x="5429256" y="2571744"/>
            <a:ext cx="2286000" cy="15621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70</a:t>
            </a:fld>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US" sz="2200" b="1" dirty="0" smtClean="0"/>
              <a:t>Wine Descriptions</a:t>
            </a:r>
            <a:endParaRPr lang="en-AU" sz="2200" b="1" dirty="0" smtClean="0"/>
          </a:p>
          <a:p>
            <a:pPr>
              <a:spcBef>
                <a:spcPts val="600"/>
              </a:spcBef>
              <a:spcAft>
                <a:spcPts val="1200"/>
              </a:spcAft>
            </a:pPr>
            <a:r>
              <a:rPr lang="en-US" sz="2200" dirty="0" smtClean="0"/>
              <a:t>Most people do not have the good fortune to be </a:t>
            </a:r>
            <a:br>
              <a:rPr lang="en-US" sz="2200" dirty="0" smtClean="0"/>
            </a:br>
            <a:r>
              <a:rPr lang="en-US" sz="2200" dirty="0" smtClean="0"/>
              <a:t>able to try the wines before they are purchased </a:t>
            </a:r>
            <a:br>
              <a:rPr lang="en-US" sz="2200" dirty="0" smtClean="0"/>
            </a:br>
            <a:r>
              <a:rPr lang="en-US" sz="2200" dirty="0" smtClean="0"/>
              <a:t>and therefore they will be guided by the advice </a:t>
            </a:r>
            <a:br>
              <a:rPr lang="en-US" sz="2200" dirty="0" smtClean="0"/>
            </a:br>
            <a:r>
              <a:rPr lang="en-US" sz="2200" dirty="0" smtClean="0"/>
              <a:t>and descriptions provided by the staff</a:t>
            </a:r>
            <a:endParaRPr lang="en-AU" sz="2200" dirty="0" smtClean="0"/>
          </a:p>
          <a:p>
            <a:pPr>
              <a:spcBef>
                <a:spcPts val="600"/>
              </a:spcBef>
              <a:spcAft>
                <a:spcPts val="1200"/>
              </a:spcAft>
            </a:pPr>
            <a:r>
              <a:rPr lang="en-US" sz="2200" dirty="0" smtClean="0"/>
              <a:t>It is essential that staff are able to provide terms </a:t>
            </a:r>
            <a:br>
              <a:rPr lang="en-US" sz="2200" dirty="0" smtClean="0"/>
            </a:br>
            <a:r>
              <a:rPr lang="en-US" sz="2200" dirty="0" smtClean="0"/>
              <a:t>that help customers understand the different characteristics in reference to a wine</a:t>
            </a: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Discuss wine characteristics</a:t>
            </a:r>
          </a:p>
        </p:txBody>
      </p:sp>
      <p:pic>
        <p:nvPicPr>
          <p:cNvPr id="9219" name="Picture 3" descr="C:\Documents and Settings\danielc\Desktop\Serve a range of wine products images\476209_ros.jpg"/>
          <p:cNvPicPr>
            <a:picLocks noChangeAspect="1" noChangeArrowheads="1"/>
          </p:cNvPicPr>
          <p:nvPr/>
        </p:nvPicPr>
        <p:blipFill>
          <a:blip r:embed="rId3" cstate="print"/>
          <a:srcRect/>
          <a:stretch>
            <a:fillRect/>
          </a:stretch>
        </p:blipFill>
        <p:spPr bwMode="auto">
          <a:xfrm>
            <a:off x="7286644" y="2428868"/>
            <a:ext cx="1285871" cy="1928806"/>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71</a:t>
            </a:fld>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Use of wine wheels </a:t>
            </a:r>
            <a:endParaRPr lang="en-AU" sz="2200" dirty="0" smtClean="0"/>
          </a:p>
          <a:p>
            <a:pPr marL="0">
              <a:spcBef>
                <a:spcPts val="600"/>
              </a:spcBef>
              <a:spcAft>
                <a:spcPts val="1200"/>
              </a:spcAft>
              <a:buNone/>
            </a:pPr>
            <a:r>
              <a:rPr lang="en-AU" sz="2200" dirty="0" smtClean="0"/>
              <a:t>Assists tasters to describe the wines they are drinking and tasting. </a:t>
            </a:r>
          </a:p>
          <a:p>
            <a:pPr lvl="0">
              <a:spcBef>
                <a:spcPts val="600"/>
              </a:spcBef>
              <a:spcAft>
                <a:spcPts val="1200"/>
              </a:spcAft>
            </a:pPr>
            <a:r>
              <a:rPr lang="en-AU" sz="2200" dirty="0" smtClean="0"/>
              <a:t>Colour wheels </a:t>
            </a:r>
          </a:p>
          <a:p>
            <a:pPr lvl="0">
              <a:spcBef>
                <a:spcPts val="600"/>
              </a:spcBef>
              <a:spcAft>
                <a:spcPts val="1200"/>
              </a:spcAft>
            </a:pPr>
            <a:r>
              <a:rPr lang="en-AU" sz="2200" dirty="0" smtClean="0"/>
              <a:t>Flavour wheels </a:t>
            </a:r>
          </a:p>
          <a:p>
            <a:pPr lvl="0">
              <a:spcBef>
                <a:spcPts val="600"/>
              </a:spcBef>
              <a:spcAft>
                <a:spcPts val="1200"/>
              </a:spcAft>
            </a:pPr>
            <a:r>
              <a:rPr lang="en-AU" sz="2200" dirty="0" smtClean="0"/>
              <a:t>Aroma wheels </a:t>
            </a:r>
          </a:p>
          <a:p>
            <a:pPr lvl="0">
              <a:spcBef>
                <a:spcPts val="600"/>
              </a:spcBef>
              <a:spcAft>
                <a:spcPts val="1200"/>
              </a:spcAft>
            </a:pPr>
            <a:r>
              <a:rPr lang="en-AU" sz="2200" dirty="0" smtClean="0"/>
              <a:t>Mouth-feel wheels </a:t>
            </a:r>
          </a:p>
          <a:p>
            <a:pPr>
              <a:spcBef>
                <a:spcPts val="600"/>
              </a:spcBef>
              <a:spcAft>
                <a:spcPts val="1200"/>
              </a:spcAft>
            </a:pPr>
            <a:r>
              <a:rPr lang="en-AU" sz="2200" dirty="0" smtClean="0"/>
              <a:t>Food and wine matches</a:t>
            </a: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Discuss wine characteristics</a:t>
            </a:r>
          </a:p>
        </p:txBody>
      </p:sp>
      <p:pic>
        <p:nvPicPr>
          <p:cNvPr id="5" name="Picture 4" descr="6071101063_de94e8a686_m.jpg"/>
          <p:cNvPicPr/>
          <p:nvPr/>
        </p:nvPicPr>
        <p:blipFill>
          <a:blip r:embed="rId3" cstate="print">
            <a:lum bright="10000" contrast="40000"/>
          </a:blip>
          <a:srcRect t="26950" b="13126"/>
          <a:stretch>
            <a:fillRect/>
          </a:stretch>
        </p:blipFill>
        <p:spPr>
          <a:xfrm>
            <a:off x="5929322" y="3357562"/>
            <a:ext cx="1671108" cy="1512711"/>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72</a:t>
            </a:fld>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332" name="Group 36"/>
          <p:cNvGraphicFramePr>
            <a:graphicFrameLocks noGrp="1"/>
          </p:cNvGraphicFramePr>
          <p:nvPr>
            <p:ph idx="1"/>
          </p:nvPr>
        </p:nvGraphicFramePr>
        <p:xfrm>
          <a:off x="714348" y="1928802"/>
          <a:ext cx="7215238" cy="3929066"/>
        </p:xfrm>
        <a:graphic>
          <a:graphicData uri="http://schemas.openxmlformats.org/drawingml/2006/table">
            <a:tbl>
              <a:tblPr/>
              <a:tblGrid>
                <a:gridCol w="3590921"/>
                <a:gridCol w="3624317"/>
              </a:tblGrid>
              <a:tr h="500066">
                <a:tc>
                  <a:txBody>
                    <a:bodyPr/>
                    <a:lstStyle/>
                    <a:p>
                      <a:pPr marL="0" marR="0" lvl="0" indent="0" algn="l" defTabSz="914400" rtl="0" eaLnBrk="0" fontAlgn="base" latinLnBrk="0" hangingPunct="0">
                        <a:lnSpc>
                          <a:spcPct val="100000"/>
                        </a:lnSpc>
                        <a:spcBef>
                          <a:spcPct val="20000"/>
                        </a:spcBef>
                        <a:spcAft>
                          <a:spcPts val="60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GRAPE VARIETY</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0" fontAlgn="base" latinLnBrk="0" hangingPunct="0">
                        <a:lnSpc>
                          <a:spcPct val="100000"/>
                        </a:lnSpc>
                        <a:spcBef>
                          <a:spcPct val="20000"/>
                        </a:spcBef>
                        <a:spcAft>
                          <a:spcPts val="60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CHARACTERISTICS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685800">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Riesling</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Pineapple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Sauvignon Blanc</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Asparagus</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Semillon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Grass</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Chardonnay</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Cucumber</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Sweet/ dessert wines </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ts val="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Honey</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Discuss wine characteristics</a:t>
            </a:r>
          </a:p>
        </p:txBody>
      </p:sp>
      <p:sp>
        <p:nvSpPr>
          <p:cNvPr id="4" name="Rectangle 3"/>
          <p:cNvSpPr txBox="1">
            <a:spLocks noChangeArrowheads="1"/>
          </p:cNvSpPr>
          <p:nvPr/>
        </p:nvSpPr>
        <p:spPr>
          <a:xfrm>
            <a:off x="676300" y="1285860"/>
            <a:ext cx="7467600" cy="4953000"/>
          </a:xfrm>
          <a:prstGeom prst="rect">
            <a:avLst/>
          </a:prstGeom>
        </p:spPr>
        <p:txBody>
          <a:bodyPr vert="horz">
            <a:normAutofit/>
          </a:bodyPr>
          <a:lstStyle/>
          <a:p>
            <a:pPr marR="0" lvl="0" indent="-384048" algn="l" defTabSz="914400" rtl="0" eaLnBrk="1" fontAlgn="auto" latinLnBrk="0" hangingPunct="1">
              <a:lnSpc>
                <a:spcPct val="100000"/>
              </a:lnSpc>
              <a:spcBef>
                <a:spcPts val="600"/>
              </a:spcBef>
              <a:spcAft>
                <a:spcPts val="1200"/>
              </a:spcAft>
              <a:buClr>
                <a:schemeClr val="accent1"/>
              </a:buClr>
              <a:buSzPct val="80000"/>
              <a:buFont typeface="Wingdings 2"/>
              <a:buNone/>
              <a:tabLst/>
              <a:defRPr/>
            </a:pPr>
            <a:r>
              <a:rPr lang="en-US" sz="2200" b="1" dirty="0" smtClean="0">
                <a:latin typeface="Helvetica" pitchFamily="34" charset="0"/>
              </a:rPr>
              <a:t>F</a:t>
            </a:r>
            <a:r>
              <a:rPr kumimoji="0" lang="en-US" sz="2200" b="1" i="0" u="none" strike="noStrike" kern="1200" cap="none" spc="0" normalizeH="0" noProof="0" dirty="0" smtClean="0">
                <a:ln>
                  <a:noFill/>
                </a:ln>
                <a:solidFill>
                  <a:schemeClr val="tx1"/>
                </a:solidFill>
                <a:effectLst/>
                <a:uLnTx/>
                <a:uFillTx/>
                <a:latin typeface="Helvetica" pitchFamily="34" charset="0"/>
                <a:ea typeface="+mn-ea"/>
                <a:cs typeface="+mn-cs"/>
              </a:rPr>
              <a:t>ruit flavours – White wine</a:t>
            </a:r>
          </a:p>
          <a:p>
            <a:pPr marR="0" lvl="0" indent="-384048" algn="l" defTabSz="914400" rtl="0" eaLnBrk="1" fontAlgn="auto" latinLnBrk="0" hangingPunct="1">
              <a:lnSpc>
                <a:spcPct val="100000"/>
              </a:lnSpc>
              <a:spcBef>
                <a:spcPts val="600"/>
              </a:spcBef>
              <a:spcAft>
                <a:spcPts val="1200"/>
              </a:spcAft>
              <a:buClr>
                <a:schemeClr val="accent1"/>
              </a:buClr>
              <a:buSzPct val="80000"/>
              <a:buFont typeface="Wingdings 2"/>
              <a:buNone/>
              <a:tabLst/>
              <a:defRPr/>
            </a:pPr>
            <a:endParaRPr kumimoji="0" lang="en-AU"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73</a:t>
            </a:fld>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94" name="Group 26"/>
          <p:cNvGraphicFramePr>
            <a:graphicFrameLocks noGrp="1"/>
          </p:cNvGraphicFramePr>
          <p:nvPr>
            <p:ph idx="1"/>
          </p:nvPr>
        </p:nvGraphicFramePr>
        <p:xfrm>
          <a:off x="785786" y="2214554"/>
          <a:ext cx="7000924" cy="3243266"/>
        </p:xfrm>
        <a:graphic>
          <a:graphicData uri="http://schemas.openxmlformats.org/drawingml/2006/table">
            <a:tbl>
              <a:tblPr/>
              <a:tblGrid>
                <a:gridCol w="3484260"/>
                <a:gridCol w="3516664"/>
              </a:tblGrid>
              <a:tr h="500066">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GRAPE VARIETY</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CHARACTERISTICS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Pinot Noir </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Strawberry</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Merlot </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Cherry</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Cabernet Sauvignon </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Olive</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Shiraz </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Pepper</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Title 1"/>
          <p:cNvSpPr txBox="1">
            <a:spLocks/>
          </p:cNvSpPr>
          <p:nvPr/>
        </p:nvSpPr>
        <p:spPr>
          <a:xfrm>
            <a:off x="611560" y="332656"/>
            <a:ext cx="7467600" cy="1143000"/>
          </a:xfrm>
          <a:prstGeom prst="rect">
            <a:avLst/>
          </a:prstGeom>
        </p:spPr>
        <p:txBody>
          <a:bodyPr vert="horz" lIns="45720" rIns="45720" anchor="ctr">
            <a:normAutofit/>
          </a:bodyPr>
          <a:lstStyle/>
          <a:p>
            <a:pPr lvl="0">
              <a:spcBef>
                <a:spcPct val="0"/>
              </a:spcBef>
              <a:defRPr/>
            </a:pPr>
            <a:r>
              <a:rPr lang="en-AU" sz="3400" b="1" dirty="0" smtClean="0">
                <a:solidFill>
                  <a:srgbClr val="FF6600"/>
                </a:solidFill>
                <a:latin typeface="Helvetica" pitchFamily="34" charset="0"/>
              </a:rPr>
              <a:t>Discuss wine characteristics</a:t>
            </a:r>
            <a:endParaRPr kumimoji="0" lang="en-AU" sz="3400" b="1" i="0" u="none" strike="noStrike" kern="1200" cap="none" spc="0" normalizeH="0" baseline="0" noProof="0" dirty="0" smtClean="0">
              <a:ln>
                <a:noFill/>
              </a:ln>
              <a:solidFill>
                <a:srgbClr val="FF6600"/>
              </a:solidFill>
              <a:effectLst/>
              <a:uLnTx/>
              <a:uFillTx/>
              <a:latin typeface="Helvetica" pitchFamily="34" charset="0"/>
              <a:ea typeface="+mj-ea"/>
              <a:cs typeface="+mj-cs"/>
            </a:endParaRPr>
          </a:p>
        </p:txBody>
      </p:sp>
      <p:sp>
        <p:nvSpPr>
          <p:cNvPr id="5" name="Rectangle 3"/>
          <p:cNvSpPr txBox="1">
            <a:spLocks noChangeArrowheads="1"/>
          </p:cNvSpPr>
          <p:nvPr/>
        </p:nvSpPr>
        <p:spPr>
          <a:xfrm>
            <a:off x="642910" y="1571612"/>
            <a:ext cx="7467600" cy="4953000"/>
          </a:xfrm>
          <a:prstGeom prst="rect">
            <a:avLst/>
          </a:prstGeom>
        </p:spPr>
        <p:txBody>
          <a:bodyPr vert="horz">
            <a:normAutofit/>
          </a:bodyPr>
          <a:lstStyle/>
          <a:p>
            <a:pPr marL="420624" marR="0" lvl="0" indent="-384048" algn="l" defTabSz="914400" rtl="0" eaLnBrk="1" fontAlgn="auto" latinLnBrk="0" hangingPunct="1">
              <a:lnSpc>
                <a:spcPct val="100000"/>
              </a:lnSpc>
              <a:spcBef>
                <a:spcPts val="600"/>
              </a:spcBef>
              <a:spcAft>
                <a:spcPts val="1200"/>
              </a:spcAft>
              <a:buClr>
                <a:schemeClr val="accent1"/>
              </a:buClr>
              <a:buSzPct val="80000"/>
              <a:buFont typeface="Wingdings 2"/>
              <a:buNone/>
              <a:tabLst/>
              <a:defRPr/>
            </a:pPr>
            <a:r>
              <a:rPr lang="en-US" sz="2200" b="1" dirty="0" smtClean="0">
                <a:latin typeface="Helvetica" pitchFamily="34" charset="0"/>
              </a:rPr>
              <a:t>F</a:t>
            </a:r>
            <a:r>
              <a:rPr kumimoji="0" lang="en-US" sz="2200" b="1" i="0" u="none" strike="noStrike" kern="1200" cap="none" spc="0" normalizeH="0" noProof="0" dirty="0" smtClean="0">
                <a:ln>
                  <a:noFill/>
                </a:ln>
                <a:solidFill>
                  <a:schemeClr val="tx1"/>
                </a:solidFill>
                <a:effectLst/>
                <a:uLnTx/>
                <a:uFillTx/>
                <a:latin typeface="Helvetica" pitchFamily="34" charset="0"/>
                <a:ea typeface="+mn-ea"/>
                <a:cs typeface="+mn-cs"/>
              </a:rPr>
              <a:t>ruit flavours – Red wine</a:t>
            </a:r>
            <a:endParaRPr kumimoji="0" lang="en-AU"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74</a:t>
            </a:fld>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415" name="Group 23"/>
          <p:cNvGraphicFramePr>
            <a:graphicFrameLocks noGrp="1"/>
          </p:cNvGraphicFramePr>
          <p:nvPr>
            <p:ph idx="1"/>
          </p:nvPr>
        </p:nvGraphicFramePr>
        <p:xfrm>
          <a:off x="785786" y="2285992"/>
          <a:ext cx="7286676" cy="1943104"/>
        </p:xfrm>
        <a:graphic>
          <a:graphicData uri="http://schemas.openxmlformats.org/drawingml/2006/table">
            <a:tbl>
              <a:tblPr/>
              <a:tblGrid>
                <a:gridCol w="3626475"/>
                <a:gridCol w="3660201"/>
              </a:tblGrid>
              <a:tr h="571504">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GRAPE VARIETY</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1" i="0" u="none" strike="noStrike" cap="none" normalizeH="0" baseline="0" dirty="0" smtClean="0">
                          <a:ln>
                            <a:noFill/>
                          </a:ln>
                          <a:solidFill>
                            <a:schemeClr val="bg1"/>
                          </a:solidFill>
                          <a:effectLst/>
                          <a:latin typeface="Helvetica" pitchFamily="34" charset="0"/>
                          <a:ea typeface="MS PGothic" pitchFamily="34" charset="-128"/>
                        </a:rPr>
                        <a:t>CHARACTERISTICS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Sparkling Wine </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200" b="0" i="0" u="none" strike="noStrike" cap="none" normalizeH="0" baseline="0" dirty="0" smtClean="0">
                          <a:ln>
                            <a:noFill/>
                          </a:ln>
                          <a:solidFill>
                            <a:schemeClr val="tx1"/>
                          </a:solidFill>
                          <a:effectLst/>
                          <a:latin typeface="Helvetica" pitchFamily="34" charset="0"/>
                          <a:ea typeface="MS PGothic" pitchFamily="34" charset="-128"/>
                        </a:rPr>
                        <a:t>Apple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Champagne </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altLang="zh-CN" sz="2200" b="0" i="0" u="none" strike="noStrike" cap="none" normalizeH="0" baseline="0" dirty="0" smtClean="0">
                          <a:ln>
                            <a:noFill/>
                          </a:ln>
                          <a:solidFill>
                            <a:schemeClr val="tx1"/>
                          </a:solidFill>
                          <a:effectLst/>
                          <a:latin typeface="Helvetica" pitchFamily="34" charset="0"/>
                          <a:ea typeface="MS PGothic" pitchFamily="34" charset="-128"/>
                        </a:rPr>
                        <a:t>Yeast</a:t>
                      </a:r>
                      <a:endParaRPr kumimoji="0" lang="en-AU" sz="2200" b="0" i="0" u="none" strike="noStrike" cap="none" normalizeH="0" baseline="0" dirty="0" smtClean="0">
                        <a:ln>
                          <a:noFill/>
                        </a:ln>
                        <a:solidFill>
                          <a:schemeClr val="tx1"/>
                        </a:solidFill>
                        <a:effectLst/>
                        <a:latin typeface="Helvetica" pitchFamily="34" charset="0"/>
                        <a:ea typeface="MS PGothic" pitchFamily="34" charset="-128"/>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Title 1"/>
          <p:cNvSpPr txBox="1">
            <a:spLocks/>
          </p:cNvSpPr>
          <p:nvPr/>
        </p:nvSpPr>
        <p:spPr>
          <a:xfrm>
            <a:off x="611560" y="332656"/>
            <a:ext cx="7467600" cy="1143000"/>
          </a:xfrm>
          <a:prstGeom prst="rect">
            <a:avLst/>
          </a:prstGeom>
        </p:spPr>
        <p:txBody>
          <a:bodyPr vert="horz" lIns="45720" rIns="45720" anchor="ctr">
            <a:normAutofit/>
          </a:bodyPr>
          <a:lstStyle/>
          <a:p>
            <a:pPr lvl="0">
              <a:spcBef>
                <a:spcPct val="0"/>
              </a:spcBef>
              <a:defRPr/>
            </a:pPr>
            <a:r>
              <a:rPr lang="en-AU" sz="3400" b="1" dirty="0" smtClean="0">
                <a:solidFill>
                  <a:srgbClr val="FF6600"/>
                </a:solidFill>
                <a:latin typeface="Helvetica" pitchFamily="34" charset="0"/>
              </a:rPr>
              <a:t>Discuss wine characteristics</a:t>
            </a:r>
            <a:endParaRPr kumimoji="0" lang="en-AU" sz="3400" b="1" i="0" u="none" strike="noStrike" kern="1200" cap="none" spc="0" normalizeH="0" baseline="0" noProof="0" dirty="0" smtClean="0">
              <a:ln>
                <a:noFill/>
              </a:ln>
              <a:solidFill>
                <a:srgbClr val="FF6600"/>
              </a:solidFill>
              <a:effectLst/>
              <a:uLnTx/>
              <a:uFillTx/>
              <a:latin typeface="Helvetica" pitchFamily="34" charset="0"/>
              <a:ea typeface="+mj-ea"/>
              <a:cs typeface="+mj-cs"/>
            </a:endParaRPr>
          </a:p>
        </p:txBody>
      </p:sp>
      <p:sp>
        <p:nvSpPr>
          <p:cNvPr id="5" name="Rectangle 3"/>
          <p:cNvSpPr txBox="1">
            <a:spLocks noChangeArrowheads="1"/>
          </p:cNvSpPr>
          <p:nvPr/>
        </p:nvSpPr>
        <p:spPr>
          <a:xfrm>
            <a:off x="642910" y="1571612"/>
            <a:ext cx="7467600" cy="4953000"/>
          </a:xfrm>
          <a:prstGeom prst="rect">
            <a:avLst/>
          </a:prstGeom>
        </p:spPr>
        <p:txBody>
          <a:bodyPr vert="horz">
            <a:normAutofit/>
          </a:bodyPr>
          <a:lstStyle/>
          <a:p>
            <a:pPr marL="420624" marR="0" lvl="0" indent="-384048" algn="l" defTabSz="914400" rtl="0" eaLnBrk="1" fontAlgn="auto" latinLnBrk="0" hangingPunct="1">
              <a:lnSpc>
                <a:spcPct val="100000"/>
              </a:lnSpc>
              <a:spcBef>
                <a:spcPts val="600"/>
              </a:spcBef>
              <a:spcAft>
                <a:spcPts val="1200"/>
              </a:spcAft>
              <a:buClr>
                <a:schemeClr val="accent1"/>
              </a:buClr>
              <a:buSzPct val="80000"/>
              <a:buFont typeface="Wingdings 2"/>
              <a:buNone/>
              <a:tabLst/>
              <a:defRPr/>
            </a:pPr>
            <a:r>
              <a:rPr lang="en-US" sz="2200" b="1" dirty="0" smtClean="0">
                <a:latin typeface="Helvetica" pitchFamily="34" charset="0"/>
              </a:rPr>
              <a:t>F</a:t>
            </a:r>
            <a:r>
              <a:rPr kumimoji="0" lang="en-US" sz="2200" b="1" i="0" u="none" strike="noStrike" kern="1200" cap="none" spc="0" normalizeH="0" noProof="0" dirty="0" smtClean="0">
                <a:ln>
                  <a:noFill/>
                </a:ln>
                <a:solidFill>
                  <a:schemeClr val="tx1"/>
                </a:solidFill>
                <a:effectLst/>
                <a:uLnTx/>
                <a:uFillTx/>
                <a:latin typeface="Helvetica" pitchFamily="34" charset="0"/>
                <a:ea typeface="+mn-ea"/>
                <a:cs typeface="+mn-cs"/>
              </a:rPr>
              <a:t>ruit flavours – Sparkling wine / champagne</a:t>
            </a:r>
            <a:endParaRPr kumimoji="0" lang="en-AU"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75</a:t>
            </a:fld>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lvl="0">
              <a:spcBef>
                <a:spcPts val="600"/>
              </a:spcBef>
              <a:spcAft>
                <a:spcPts val="600"/>
              </a:spcAft>
              <a:buNone/>
            </a:pPr>
            <a:r>
              <a:rPr lang="en-AU" sz="2200" b="1" dirty="0" smtClean="0"/>
              <a:t>Riesling</a:t>
            </a:r>
          </a:p>
          <a:p>
            <a:pPr>
              <a:spcBef>
                <a:spcPts val="600"/>
              </a:spcBef>
              <a:spcAft>
                <a:spcPts val="600"/>
              </a:spcAft>
            </a:pPr>
            <a:r>
              <a:rPr lang="en-AU" sz="2200" dirty="0" smtClean="0"/>
              <a:t>Floral</a:t>
            </a:r>
          </a:p>
          <a:p>
            <a:pPr>
              <a:spcBef>
                <a:spcPts val="600"/>
              </a:spcBef>
              <a:spcAft>
                <a:spcPts val="600"/>
              </a:spcAft>
            </a:pPr>
            <a:r>
              <a:rPr lang="en-AU" sz="2200" dirty="0" smtClean="0"/>
              <a:t>Rose petal</a:t>
            </a:r>
          </a:p>
          <a:p>
            <a:pPr>
              <a:spcBef>
                <a:spcPts val="600"/>
              </a:spcBef>
              <a:spcAft>
                <a:spcPts val="600"/>
              </a:spcAft>
            </a:pPr>
            <a:r>
              <a:rPr lang="en-AU" sz="2200" dirty="0" smtClean="0"/>
              <a:t>Citrus</a:t>
            </a:r>
          </a:p>
          <a:p>
            <a:pPr>
              <a:spcBef>
                <a:spcPts val="600"/>
              </a:spcBef>
              <a:spcAft>
                <a:spcPts val="600"/>
              </a:spcAft>
            </a:pPr>
            <a:r>
              <a:rPr lang="en-AU" sz="2200" dirty="0" smtClean="0"/>
              <a:t>Lime</a:t>
            </a:r>
          </a:p>
          <a:p>
            <a:pPr>
              <a:spcBef>
                <a:spcPts val="600"/>
              </a:spcBef>
              <a:spcAft>
                <a:spcPts val="600"/>
              </a:spcAft>
            </a:pPr>
            <a:r>
              <a:rPr lang="en-AU" sz="2200" dirty="0" smtClean="0"/>
              <a:t>Passionfruit</a:t>
            </a:r>
          </a:p>
          <a:p>
            <a:pPr>
              <a:spcBef>
                <a:spcPts val="600"/>
              </a:spcBef>
              <a:spcAft>
                <a:spcPts val="600"/>
              </a:spcAft>
            </a:pPr>
            <a:r>
              <a:rPr lang="en-AU" sz="2200" dirty="0" smtClean="0"/>
              <a:t>Tropical fruit </a:t>
            </a:r>
          </a:p>
          <a:p>
            <a:pPr>
              <a:spcBef>
                <a:spcPts val="600"/>
              </a:spcBef>
              <a:spcAft>
                <a:spcPts val="600"/>
              </a:spcAft>
            </a:pPr>
            <a:r>
              <a:rPr lang="en-AU" sz="2200" dirty="0" smtClean="0"/>
              <a:t>Aged - Toast and honey </a:t>
            </a: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Wine characteristics</a:t>
            </a:r>
          </a:p>
        </p:txBody>
      </p:sp>
      <p:pic>
        <p:nvPicPr>
          <p:cNvPr id="11266" name="Picture 2" descr="C:\Documents and Settings\danielc\Desktop\Serve a range of wine products images\freeimage-5341773.jpg"/>
          <p:cNvPicPr>
            <a:picLocks noChangeAspect="1" noChangeArrowheads="1"/>
          </p:cNvPicPr>
          <p:nvPr/>
        </p:nvPicPr>
        <p:blipFill>
          <a:blip r:embed="rId3" cstate="print">
            <a:lum bright="10000" contrast="20000"/>
          </a:blip>
          <a:srcRect/>
          <a:stretch>
            <a:fillRect/>
          </a:stretch>
        </p:blipFill>
        <p:spPr bwMode="auto">
          <a:xfrm>
            <a:off x="5715008" y="2143116"/>
            <a:ext cx="1762137" cy="2643206"/>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76</a:t>
            </a:fld>
            <a:endParaRPr lang="en-US"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71472" y="1357298"/>
            <a:ext cx="7467600" cy="4953000"/>
          </a:xfrm>
        </p:spPr>
        <p:txBody>
          <a:bodyPr>
            <a:normAutofit lnSpcReduction="10000"/>
          </a:bodyPr>
          <a:lstStyle/>
          <a:p>
            <a:pPr lvl="0">
              <a:lnSpc>
                <a:spcPct val="110000"/>
              </a:lnSpc>
              <a:spcAft>
                <a:spcPts val="600"/>
              </a:spcAft>
              <a:buNone/>
            </a:pPr>
            <a:r>
              <a:rPr lang="en-AU" sz="2200" b="1" dirty="0" smtClean="0"/>
              <a:t>Chardonnay</a:t>
            </a:r>
          </a:p>
          <a:p>
            <a:pPr lvl="0">
              <a:spcBef>
                <a:spcPts val="500"/>
              </a:spcBef>
              <a:spcAft>
                <a:spcPts val="600"/>
              </a:spcAft>
            </a:pPr>
            <a:r>
              <a:rPr lang="en-AU" sz="2200" dirty="0" smtClean="0"/>
              <a:t>Cucumber</a:t>
            </a:r>
          </a:p>
          <a:p>
            <a:pPr lvl="0">
              <a:spcBef>
                <a:spcPts val="500"/>
              </a:spcBef>
              <a:spcAft>
                <a:spcPts val="600"/>
              </a:spcAft>
            </a:pPr>
            <a:r>
              <a:rPr lang="en-AU" sz="2200" dirty="0" smtClean="0"/>
              <a:t>Tobacco</a:t>
            </a:r>
          </a:p>
          <a:p>
            <a:pPr lvl="0">
              <a:spcBef>
                <a:spcPts val="500"/>
              </a:spcBef>
              <a:spcAft>
                <a:spcPts val="600"/>
              </a:spcAft>
            </a:pPr>
            <a:r>
              <a:rPr lang="en-AU" sz="2200" dirty="0" smtClean="0"/>
              <a:t>Grapefruit</a:t>
            </a:r>
          </a:p>
          <a:p>
            <a:pPr lvl="0">
              <a:spcBef>
                <a:spcPts val="500"/>
              </a:spcBef>
              <a:spcAft>
                <a:spcPts val="600"/>
              </a:spcAft>
            </a:pPr>
            <a:r>
              <a:rPr lang="en-AU" sz="2200" dirty="0" smtClean="0"/>
              <a:t>Gooseberry</a:t>
            </a:r>
          </a:p>
          <a:p>
            <a:pPr lvl="0">
              <a:spcBef>
                <a:spcPts val="500"/>
              </a:spcBef>
              <a:spcAft>
                <a:spcPts val="600"/>
              </a:spcAft>
            </a:pPr>
            <a:r>
              <a:rPr lang="en-AU" sz="2200" dirty="0" smtClean="0"/>
              <a:t>Melon</a:t>
            </a:r>
          </a:p>
          <a:p>
            <a:pPr lvl="0">
              <a:spcBef>
                <a:spcPts val="500"/>
              </a:spcBef>
              <a:spcAft>
                <a:spcPts val="600"/>
              </a:spcAft>
            </a:pPr>
            <a:r>
              <a:rPr lang="en-AU" sz="2200" dirty="0" smtClean="0"/>
              <a:t>Lime</a:t>
            </a:r>
          </a:p>
          <a:p>
            <a:pPr lvl="0">
              <a:spcBef>
                <a:spcPts val="500"/>
              </a:spcBef>
              <a:spcAft>
                <a:spcPts val="600"/>
              </a:spcAft>
            </a:pPr>
            <a:r>
              <a:rPr lang="en-AU" sz="2200" dirty="0" smtClean="0"/>
              <a:t>Peach</a:t>
            </a:r>
          </a:p>
          <a:p>
            <a:pPr lvl="0">
              <a:spcBef>
                <a:spcPts val="500"/>
              </a:spcBef>
              <a:spcAft>
                <a:spcPts val="600"/>
              </a:spcAft>
            </a:pPr>
            <a:r>
              <a:rPr lang="en-AU" sz="2200" dirty="0" smtClean="0"/>
              <a:t>Rockmelon</a:t>
            </a:r>
          </a:p>
          <a:p>
            <a:pPr lvl="0">
              <a:spcBef>
                <a:spcPts val="500"/>
              </a:spcBef>
              <a:spcAft>
                <a:spcPts val="600"/>
              </a:spcAft>
            </a:pPr>
            <a:r>
              <a:rPr lang="en-AU" sz="2200" dirty="0" smtClean="0"/>
              <a:t>Fruit salad, fig, tropical fruit</a:t>
            </a:r>
          </a:p>
          <a:p>
            <a:pPr lvl="0">
              <a:spcBef>
                <a:spcPts val="500"/>
              </a:spcBef>
              <a:spcAft>
                <a:spcPts val="600"/>
              </a:spcAft>
            </a:pPr>
            <a:r>
              <a:rPr lang="en-AU" sz="2200" dirty="0" smtClean="0"/>
              <a:t>Aged - toast, honey, cashew, almond and vanilla</a:t>
            </a:r>
          </a:p>
          <a:p>
            <a:pPr lvl="0"/>
            <a:endParaRPr lang="en-AU" sz="24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Wine characteristics</a:t>
            </a:r>
          </a:p>
        </p:txBody>
      </p:sp>
      <p:pic>
        <p:nvPicPr>
          <p:cNvPr id="10242" name="Picture 2" descr="C:\Documents and Settings\danielc\Desktop\Serve a range of wine products images\freeimage-4873537.jpg"/>
          <p:cNvPicPr>
            <a:picLocks noChangeAspect="1" noChangeArrowheads="1"/>
          </p:cNvPicPr>
          <p:nvPr/>
        </p:nvPicPr>
        <p:blipFill>
          <a:blip r:embed="rId3" cstate="print"/>
          <a:srcRect/>
          <a:stretch>
            <a:fillRect/>
          </a:stretch>
        </p:blipFill>
        <p:spPr bwMode="auto">
          <a:xfrm>
            <a:off x="5429256" y="1928802"/>
            <a:ext cx="1962148" cy="2943221"/>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77</a:t>
            </a:fld>
            <a:endParaRPr lang="en-US"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lvl="0">
              <a:spcBef>
                <a:spcPts val="600"/>
              </a:spcBef>
              <a:spcAft>
                <a:spcPts val="600"/>
              </a:spcAft>
              <a:buNone/>
            </a:pPr>
            <a:r>
              <a:rPr lang="en-AU" sz="2200" b="1" dirty="0" smtClean="0"/>
              <a:t>Pinot noir</a:t>
            </a:r>
          </a:p>
          <a:p>
            <a:pPr>
              <a:spcBef>
                <a:spcPts val="600"/>
              </a:spcBef>
              <a:spcAft>
                <a:spcPts val="600"/>
              </a:spcAft>
            </a:pPr>
            <a:r>
              <a:rPr lang="en-AU" sz="2200" dirty="0" smtClean="0"/>
              <a:t>Truffle</a:t>
            </a:r>
          </a:p>
          <a:p>
            <a:pPr>
              <a:spcBef>
                <a:spcPts val="600"/>
              </a:spcBef>
              <a:spcAft>
                <a:spcPts val="600"/>
              </a:spcAft>
            </a:pPr>
            <a:r>
              <a:rPr lang="en-AU" sz="2200" dirty="0" smtClean="0"/>
              <a:t>Cherry</a:t>
            </a:r>
          </a:p>
          <a:p>
            <a:pPr>
              <a:spcBef>
                <a:spcPts val="600"/>
              </a:spcBef>
              <a:spcAft>
                <a:spcPts val="600"/>
              </a:spcAft>
            </a:pPr>
            <a:r>
              <a:rPr lang="en-AU" sz="2200" dirty="0" smtClean="0"/>
              <a:t>Blackcurrant</a:t>
            </a:r>
          </a:p>
          <a:p>
            <a:pPr>
              <a:spcBef>
                <a:spcPts val="600"/>
              </a:spcBef>
              <a:spcAft>
                <a:spcPts val="600"/>
              </a:spcAft>
            </a:pPr>
            <a:r>
              <a:rPr lang="en-AU" sz="2200" dirty="0" smtClean="0"/>
              <a:t>Violets</a:t>
            </a:r>
          </a:p>
          <a:p>
            <a:pPr>
              <a:spcBef>
                <a:spcPts val="600"/>
              </a:spcBef>
              <a:spcAft>
                <a:spcPts val="600"/>
              </a:spcAft>
            </a:pPr>
            <a:r>
              <a:rPr lang="en-AU" sz="2200" dirty="0" smtClean="0"/>
              <a:t>Raspberry</a:t>
            </a:r>
          </a:p>
          <a:p>
            <a:pPr>
              <a:spcBef>
                <a:spcPts val="600"/>
              </a:spcBef>
              <a:spcAft>
                <a:spcPts val="600"/>
              </a:spcAft>
            </a:pPr>
            <a:r>
              <a:rPr lang="en-AU" sz="2200" dirty="0" smtClean="0"/>
              <a:t>Plum</a:t>
            </a:r>
          </a:p>
          <a:p>
            <a:pPr>
              <a:spcBef>
                <a:spcPts val="600"/>
              </a:spcBef>
              <a:spcAft>
                <a:spcPts val="600"/>
              </a:spcAft>
            </a:pPr>
            <a:r>
              <a:rPr lang="en-AU" sz="2200" dirty="0" smtClean="0"/>
              <a:t>Beetroot</a:t>
            </a:r>
          </a:p>
          <a:p>
            <a:pPr>
              <a:spcBef>
                <a:spcPts val="600"/>
              </a:spcBef>
              <a:spcAft>
                <a:spcPts val="600"/>
              </a:spcAft>
            </a:pPr>
            <a:r>
              <a:rPr lang="en-AU" sz="2200" dirty="0" smtClean="0"/>
              <a:t>Rhubarb </a:t>
            </a:r>
          </a:p>
          <a:p>
            <a:pPr>
              <a:spcBef>
                <a:spcPts val="600"/>
              </a:spcBef>
              <a:spcAft>
                <a:spcPts val="600"/>
              </a:spcAft>
            </a:pPr>
            <a:r>
              <a:rPr lang="en-AU" sz="2200" dirty="0" smtClean="0"/>
              <a:t>Aged - earthy, leather, gamey</a:t>
            </a:r>
          </a:p>
          <a:p>
            <a:pPr lvl="0"/>
            <a:endParaRPr lang="en-AU" sz="24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Wine characteristics</a:t>
            </a:r>
          </a:p>
        </p:txBody>
      </p:sp>
      <p:pic>
        <p:nvPicPr>
          <p:cNvPr id="12290" name="Picture 2" descr="C:\Documents and Settings\danielc\Desktop\Serve a range of wine products images\1335583_red_red_wine.jpg"/>
          <p:cNvPicPr>
            <a:picLocks noChangeAspect="1" noChangeArrowheads="1"/>
          </p:cNvPicPr>
          <p:nvPr/>
        </p:nvPicPr>
        <p:blipFill>
          <a:blip r:embed="rId3" cstate="print"/>
          <a:srcRect l="37500" r="12499"/>
          <a:stretch>
            <a:fillRect/>
          </a:stretch>
        </p:blipFill>
        <p:spPr bwMode="auto">
          <a:xfrm>
            <a:off x="5715008" y="2214554"/>
            <a:ext cx="1400051" cy="1857388"/>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78</a:t>
            </a:fld>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04862" y="1285860"/>
            <a:ext cx="7467600" cy="4953000"/>
          </a:xfrm>
        </p:spPr>
        <p:txBody>
          <a:bodyPr>
            <a:normAutofit lnSpcReduction="10000"/>
          </a:bodyPr>
          <a:lstStyle/>
          <a:p>
            <a:pPr lvl="0">
              <a:spcBef>
                <a:spcPts val="600"/>
              </a:spcBef>
              <a:spcAft>
                <a:spcPts val="600"/>
              </a:spcAft>
              <a:buNone/>
            </a:pPr>
            <a:r>
              <a:rPr lang="en-AU" sz="2200" b="1" dirty="0" smtClean="0"/>
              <a:t>Merlot</a:t>
            </a:r>
          </a:p>
          <a:p>
            <a:pPr>
              <a:spcBef>
                <a:spcPts val="600"/>
              </a:spcBef>
              <a:spcAft>
                <a:spcPts val="600"/>
              </a:spcAft>
            </a:pPr>
            <a:r>
              <a:rPr lang="en-AU" sz="2200" dirty="0" smtClean="0"/>
              <a:t>Herbaceous</a:t>
            </a:r>
          </a:p>
          <a:p>
            <a:pPr>
              <a:spcBef>
                <a:spcPts val="600"/>
              </a:spcBef>
              <a:spcAft>
                <a:spcPts val="600"/>
              </a:spcAft>
            </a:pPr>
            <a:r>
              <a:rPr lang="en-AU" sz="2200" dirty="0" smtClean="0"/>
              <a:t>Earthy</a:t>
            </a:r>
          </a:p>
          <a:p>
            <a:pPr>
              <a:spcBef>
                <a:spcPts val="600"/>
              </a:spcBef>
              <a:spcAft>
                <a:spcPts val="600"/>
              </a:spcAft>
            </a:pPr>
            <a:r>
              <a:rPr lang="en-AU" sz="2200" dirty="0" smtClean="0"/>
              <a:t>Leafy</a:t>
            </a:r>
          </a:p>
          <a:p>
            <a:pPr>
              <a:spcBef>
                <a:spcPts val="600"/>
              </a:spcBef>
              <a:spcAft>
                <a:spcPts val="600"/>
              </a:spcAft>
            </a:pPr>
            <a:r>
              <a:rPr lang="en-AU" sz="2200" dirty="0" smtClean="0"/>
              <a:t>Violets</a:t>
            </a:r>
          </a:p>
          <a:p>
            <a:pPr>
              <a:spcBef>
                <a:spcPts val="600"/>
              </a:spcBef>
              <a:spcAft>
                <a:spcPts val="600"/>
              </a:spcAft>
            </a:pPr>
            <a:r>
              <a:rPr lang="en-AU" sz="2200" dirty="0" smtClean="0"/>
              <a:t>Cherry</a:t>
            </a:r>
          </a:p>
          <a:p>
            <a:pPr>
              <a:spcBef>
                <a:spcPts val="600"/>
              </a:spcBef>
              <a:spcAft>
                <a:spcPts val="600"/>
              </a:spcAft>
            </a:pPr>
            <a:r>
              <a:rPr lang="en-AU" sz="2200" dirty="0" smtClean="0"/>
              <a:t>Raspberry</a:t>
            </a:r>
          </a:p>
          <a:p>
            <a:pPr>
              <a:spcBef>
                <a:spcPts val="600"/>
              </a:spcBef>
              <a:spcAft>
                <a:spcPts val="600"/>
              </a:spcAft>
            </a:pPr>
            <a:r>
              <a:rPr lang="en-AU" sz="2200" dirty="0" smtClean="0"/>
              <a:t>Plum</a:t>
            </a:r>
          </a:p>
          <a:p>
            <a:pPr>
              <a:spcBef>
                <a:spcPts val="600"/>
              </a:spcBef>
              <a:spcAft>
                <a:spcPts val="600"/>
              </a:spcAft>
            </a:pPr>
            <a:r>
              <a:rPr lang="en-AU" sz="2200" dirty="0" smtClean="0"/>
              <a:t>Fruit cake</a:t>
            </a:r>
          </a:p>
          <a:p>
            <a:pPr>
              <a:spcBef>
                <a:spcPts val="600"/>
              </a:spcBef>
              <a:spcAft>
                <a:spcPts val="600"/>
              </a:spcAft>
            </a:pPr>
            <a:r>
              <a:rPr lang="en-AU" sz="2200" dirty="0" smtClean="0"/>
              <a:t>Coffee</a:t>
            </a:r>
          </a:p>
          <a:p>
            <a:pPr>
              <a:spcBef>
                <a:spcPts val="600"/>
              </a:spcBef>
              <a:spcAft>
                <a:spcPts val="600"/>
              </a:spcAft>
            </a:pPr>
            <a:r>
              <a:rPr lang="en-AU" sz="2200" dirty="0" smtClean="0"/>
              <a:t>Chocolate</a:t>
            </a:r>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Wine characteristics</a:t>
            </a:r>
          </a:p>
        </p:txBody>
      </p:sp>
      <p:pic>
        <p:nvPicPr>
          <p:cNvPr id="13314" name="Picture 2" descr="C:\Documents and Settings\danielc\Desktop\Serve a range of wine products images\296142_chilled_to_perfection.jpg"/>
          <p:cNvPicPr>
            <a:picLocks noChangeAspect="1" noChangeArrowheads="1"/>
          </p:cNvPicPr>
          <p:nvPr/>
        </p:nvPicPr>
        <p:blipFill>
          <a:blip r:embed="rId3" cstate="print"/>
          <a:srcRect/>
          <a:stretch>
            <a:fillRect/>
          </a:stretch>
        </p:blipFill>
        <p:spPr bwMode="auto">
          <a:xfrm>
            <a:off x="4857752" y="2714620"/>
            <a:ext cx="2143120" cy="1607340"/>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79</a:t>
            </a:fld>
            <a:endParaRPr lang="en-US"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71472" y="1357298"/>
            <a:ext cx="7467600" cy="4953000"/>
          </a:xfrm>
        </p:spPr>
        <p:txBody>
          <a:bodyPr>
            <a:normAutofit lnSpcReduction="10000"/>
          </a:bodyPr>
          <a:lstStyle/>
          <a:p>
            <a:pPr lvl="0">
              <a:spcBef>
                <a:spcPts val="600"/>
              </a:spcBef>
              <a:spcAft>
                <a:spcPts val="600"/>
              </a:spcAft>
              <a:buNone/>
            </a:pPr>
            <a:r>
              <a:rPr lang="en-AU" sz="2200" b="1" dirty="0" smtClean="0"/>
              <a:t>Shiraz</a:t>
            </a:r>
          </a:p>
          <a:p>
            <a:pPr lvl="0">
              <a:spcBef>
                <a:spcPts val="600"/>
              </a:spcBef>
              <a:spcAft>
                <a:spcPts val="600"/>
              </a:spcAft>
            </a:pPr>
            <a:r>
              <a:rPr lang="en-AU" sz="2200" dirty="0" smtClean="0"/>
              <a:t>Herbs</a:t>
            </a:r>
          </a:p>
          <a:p>
            <a:pPr lvl="0">
              <a:spcBef>
                <a:spcPts val="600"/>
              </a:spcBef>
              <a:spcAft>
                <a:spcPts val="600"/>
              </a:spcAft>
            </a:pPr>
            <a:r>
              <a:rPr lang="en-AU" sz="2200" dirty="0" smtClean="0"/>
              <a:t>Tea leaf</a:t>
            </a:r>
          </a:p>
          <a:p>
            <a:pPr lvl="0">
              <a:spcBef>
                <a:spcPts val="600"/>
              </a:spcBef>
              <a:spcAft>
                <a:spcPts val="600"/>
              </a:spcAft>
            </a:pPr>
            <a:r>
              <a:rPr lang="en-AU" sz="2200" dirty="0" smtClean="0"/>
              <a:t>Mint</a:t>
            </a:r>
          </a:p>
          <a:p>
            <a:pPr lvl="0">
              <a:spcBef>
                <a:spcPts val="600"/>
              </a:spcBef>
              <a:spcAft>
                <a:spcPts val="600"/>
              </a:spcAft>
            </a:pPr>
            <a:r>
              <a:rPr lang="en-AU" sz="2200" dirty="0" smtClean="0"/>
              <a:t>Black pepper</a:t>
            </a:r>
          </a:p>
          <a:p>
            <a:pPr lvl="0">
              <a:spcBef>
                <a:spcPts val="600"/>
              </a:spcBef>
              <a:spcAft>
                <a:spcPts val="600"/>
              </a:spcAft>
            </a:pPr>
            <a:r>
              <a:rPr lang="en-AU" sz="2200" dirty="0" smtClean="0"/>
              <a:t>Blackberry</a:t>
            </a:r>
          </a:p>
          <a:p>
            <a:pPr lvl="0">
              <a:spcBef>
                <a:spcPts val="600"/>
              </a:spcBef>
              <a:spcAft>
                <a:spcPts val="600"/>
              </a:spcAft>
            </a:pPr>
            <a:r>
              <a:rPr lang="en-AU" sz="2200" dirty="0" smtClean="0"/>
              <a:t>Raspberry</a:t>
            </a:r>
          </a:p>
          <a:p>
            <a:pPr lvl="0">
              <a:spcBef>
                <a:spcPts val="600"/>
              </a:spcBef>
              <a:spcAft>
                <a:spcPts val="600"/>
              </a:spcAft>
            </a:pPr>
            <a:r>
              <a:rPr lang="en-AU" sz="2200" dirty="0" smtClean="0"/>
              <a:t>Coffee</a:t>
            </a:r>
          </a:p>
          <a:p>
            <a:pPr lvl="0">
              <a:spcBef>
                <a:spcPts val="600"/>
              </a:spcBef>
              <a:spcAft>
                <a:spcPts val="600"/>
              </a:spcAft>
            </a:pPr>
            <a:r>
              <a:rPr lang="en-AU" sz="2200" dirty="0" smtClean="0"/>
              <a:t>Chocolate</a:t>
            </a:r>
          </a:p>
          <a:p>
            <a:pPr lvl="0">
              <a:spcBef>
                <a:spcPts val="600"/>
              </a:spcBef>
              <a:spcAft>
                <a:spcPts val="600"/>
              </a:spcAft>
            </a:pPr>
            <a:r>
              <a:rPr lang="en-AU" sz="2200" dirty="0" smtClean="0"/>
              <a:t>Jammy</a:t>
            </a:r>
          </a:p>
          <a:p>
            <a:pPr lvl="0">
              <a:spcBef>
                <a:spcPts val="600"/>
              </a:spcBef>
              <a:spcAft>
                <a:spcPts val="600"/>
              </a:spcAft>
            </a:pPr>
            <a:r>
              <a:rPr lang="en-AU" sz="2200" dirty="0" smtClean="0"/>
              <a:t>Aged - prune, beefy/gamey, cigar box, leather</a:t>
            </a:r>
            <a:endParaRPr lang="en-AU" sz="2200" dirty="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Wine characteristics</a:t>
            </a:r>
          </a:p>
        </p:txBody>
      </p:sp>
      <p:pic>
        <p:nvPicPr>
          <p:cNvPr id="4" name="Picture 3" descr="MP900438569.JPG"/>
          <p:cNvPicPr/>
          <p:nvPr/>
        </p:nvPicPr>
        <p:blipFill>
          <a:blip r:embed="rId3" cstate="print"/>
          <a:stretch>
            <a:fillRect/>
          </a:stretch>
        </p:blipFill>
        <p:spPr>
          <a:xfrm>
            <a:off x="6143636" y="2428868"/>
            <a:ext cx="1543050" cy="217170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80</a:t>
            </a:fld>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US" sz="2200" b="1" dirty="0" smtClean="0"/>
              <a:t>Wine Descriptions </a:t>
            </a:r>
          </a:p>
          <a:p>
            <a:pPr>
              <a:spcBef>
                <a:spcPts val="600"/>
              </a:spcBef>
              <a:spcAft>
                <a:spcPts val="1200"/>
              </a:spcAft>
            </a:pPr>
            <a:r>
              <a:rPr lang="en-US" sz="2200" dirty="0" smtClean="0"/>
              <a:t>What other words can be used to describe wine to a customer?</a:t>
            </a:r>
          </a:p>
          <a:p>
            <a:pPr>
              <a:spcBef>
                <a:spcPts val="600"/>
              </a:spcBef>
              <a:spcAft>
                <a:spcPts val="1200"/>
              </a:spcAft>
            </a:pPr>
            <a:r>
              <a:rPr lang="en-US" sz="2200" dirty="0" smtClean="0"/>
              <a:t>Please refer to the extensive glossary of different terms in the Manual</a:t>
            </a:r>
          </a:p>
          <a:p>
            <a:pPr>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pPr marL="0" lvl="0"/>
            <a:r>
              <a:rPr lang="en-AU" sz="3200" b="1" dirty="0" smtClean="0">
                <a:solidFill>
                  <a:srgbClr val="FF6600"/>
                </a:solidFill>
                <a:latin typeface="Helvetica" pitchFamily="34" charset="0"/>
              </a:rPr>
              <a:t>Discuss wine characteristics</a:t>
            </a:r>
          </a:p>
        </p:txBody>
      </p:sp>
      <p:pic>
        <p:nvPicPr>
          <p:cNvPr id="5" name="Picture 4" descr="MP900442876[1].JPG"/>
          <p:cNvPicPr>
            <a:picLocks noChangeAspect="1"/>
          </p:cNvPicPr>
          <p:nvPr/>
        </p:nvPicPr>
        <p:blipFill>
          <a:blip r:embed="rId3" cstate="print"/>
          <a:stretch>
            <a:fillRect/>
          </a:stretch>
        </p:blipFill>
        <p:spPr>
          <a:xfrm>
            <a:off x="4000496" y="4000504"/>
            <a:ext cx="1311811" cy="1993392"/>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81</a:t>
            </a:fld>
            <a:endParaRPr lang="en-US"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marL="0">
              <a:spcBef>
                <a:spcPts val="600"/>
              </a:spcBef>
              <a:spcAft>
                <a:spcPts val="1200"/>
              </a:spcAft>
              <a:buNone/>
            </a:pPr>
            <a:r>
              <a:rPr lang="en-AU" sz="2200" dirty="0" smtClean="0"/>
              <a:t>Appearance of a wine relates to hue, clarity and depth of colour. </a:t>
            </a:r>
          </a:p>
          <a:p>
            <a:pPr marL="421200">
              <a:spcBef>
                <a:spcPts val="600"/>
              </a:spcBef>
              <a:spcAft>
                <a:spcPts val="1200"/>
              </a:spcAft>
            </a:pPr>
            <a:r>
              <a:rPr lang="en-AU" sz="2200" dirty="0" smtClean="0"/>
              <a:t>What different colours do you expect to see when looking at wines?</a:t>
            </a:r>
          </a:p>
          <a:p>
            <a:pPr marL="421200">
              <a:spcBef>
                <a:spcPts val="600"/>
              </a:spcBef>
              <a:spcAft>
                <a:spcPts val="1200"/>
              </a:spcAft>
            </a:pPr>
            <a:r>
              <a:rPr lang="en-AU" sz="2200" dirty="0" smtClean="0"/>
              <a:t>What else should you look for?</a:t>
            </a:r>
          </a:p>
          <a:p>
            <a:pPr marL="0">
              <a:spcBef>
                <a:spcPts val="600"/>
              </a:spcBef>
              <a:spcAft>
                <a:spcPts val="1200"/>
              </a:spcAft>
              <a:buNone/>
            </a:pPr>
            <a:endParaRPr lang="en-AU" sz="2200" dirty="0" smtClean="0"/>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Appearance descriptors </a:t>
            </a:r>
            <a:endParaRPr lang="en-AU" sz="3400" dirty="0">
              <a:solidFill>
                <a:srgbClr val="FF6600"/>
              </a:solidFill>
              <a:latin typeface="Helvetica" pitchFamily="34" charset="0"/>
            </a:endParaRPr>
          </a:p>
        </p:txBody>
      </p:sp>
      <p:pic>
        <p:nvPicPr>
          <p:cNvPr id="14338" name="Picture 2" descr="C:\Documents and Settings\danielc\Desktop\Serve a range of wine products images\freeimage-7710361.jpg"/>
          <p:cNvPicPr>
            <a:picLocks noChangeAspect="1" noChangeArrowheads="1"/>
          </p:cNvPicPr>
          <p:nvPr/>
        </p:nvPicPr>
        <p:blipFill>
          <a:blip r:embed="rId3" cstate="print"/>
          <a:srcRect/>
          <a:stretch>
            <a:fillRect/>
          </a:stretch>
        </p:blipFill>
        <p:spPr bwMode="auto">
          <a:xfrm>
            <a:off x="5929322" y="3143248"/>
            <a:ext cx="2390744" cy="1950554"/>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82</a:t>
            </a:fld>
            <a:endParaRPr lang="en-US"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71472" y="1428736"/>
            <a:ext cx="7467600" cy="4953000"/>
          </a:xfrm>
        </p:spPr>
        <p:txBody>
          <a:bodyPr>
            <a:normAutofit/>
          </a:bodyPr>
          <a:lstStyle/>
          <a:p>
            <a:pPr marL="0">
              <a:spcBef>
                <a:spcPts val="600"/>
              </a:spcBef>
              <a:spcAft>
                <a:spcPts val="1200"/>
              </a:spcAft>
              <a:buNone/>
            </a:pPr>
            <a:r>
              <a:rPr lang="en-AU" sz="2200" b="1" dirty="0" smtClean="0"/>
              <a:t>White wines </a:t>
            </a:r>
            <a:endParaRPr lang="en-AU" sz="2200" dirty="0" smtClean="0"/>
          </a:p>
          <a:p>
            <a:pPr marL="0">
              <a:spcBef>
                <a:spcPts val="600"/>
              </a:spcBef>
              <a:spcAft>
                <a:spcPts val="1200"/>
              </a:spcAft>
              <a:buNone/>
            </a:pPr>
            <a:r>
              <a:rPr lang="en-AU" sz="2200" dirty="0" smtClean="0"/>
              <a:t>White wines should be assessed against the following descriptors: </a:t>
            </a:r>
          </a:p>
          <a:p>
            <a:pPr lvl="0">
              <a:spcBef>
                <a:spcPts val="600"/>
              </a:spcBef>
              <a:spcAft>
                <a:spcPts val="1200"/>
              </a:spcAft>
            </a:pPr>
            <a:r>
              <a:rPr lang="en-AU" sz="2200" dirty="0" smtClean="0"/>
              <a:t>Pale straw </a:t>
            </a:r>
          </a:p>
          <a:p>
            <a:pPr lvl="0">
              <a:spcBef>
                <a:spcPts val="600"/>
              </a:spcBef>
              <a:spcAft>
                <a:spcPts val="1200"/>
              </a:spcAft>
            </a:pPr>
            <a:r>
              <a:rPr lang="en-AU" sz="2200" dirty="0" smtClean="0"/>
              <a:t>Straw </a:t>
            </a:r>
          </a:p>
          <a:p>
            <a:pPr lvl="0">
              <a:spcBef>
                <a:spcPts val="600"/>
              </a:spcBef>
              <a:spcAft>
                <a:spcPts val="1200"/>
              </a:spcAft>
            </a:pPr>
            <a:r>
              <a:rPr lang="en-AU" sz="2200" dirty="0" smtClean="0"/>
              <a:t>Deep straw </a:t>
            </a:r>
          </a:p>
          <a:p>
            <a:pPr lvl="0">
              <a:spcBef>
                <a:spcPts val="600"/>
              </a:spcBef>
              <a:spcAft>
                <a:spcPts val="1200"/>
              </a:spcAft>
            </a:pPr>
            <a:r>
              <a:rPr lang="en-AU" sz="2200" dirty="0" smtClean="0"/>
              <a:t>Yellow </a:t>
            </a:r>
          </a:p>
          <a:p>
            <a:pPr lvl="0">
              <a:spcBef>
                <a:spcPts val="600"/>
              </a:spcBef>
              <a:spcAft>
                <a:spcPts val="1200"/>
              </a:spcAft>
            </a:pPr>
            <a:r>
              <a:rPr lang="en-AU" sz="2200" dirty="0" smtClean="0"/>
              <a:t>Gold </a:t>
            </a:r>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Appearance descriptors </a:t>
            </a:r>
            <a:endParaRPr lang="en-AU" sz="3400" dirty="0">
              <a:solidFill>
                <a:srgbClr val="FF6600"/>
              </a:solidFill>
              <a:latin typeface="Helvetica" pitchFamily="34" charset="0"/>
            </a:endParaRPr>
          </a:p>
        </p:txBody>
      </p:sp>
      <p:pic>
        <p:nvPicPr>
          <p:cNvPr id="5" name="Picture 4" descr="4645061663_b03826a655_m.jpg"/>
          <p:cNvPicPr>
            <a:picLocks noChangeAspect="1"/>
          </p:cNvPicPr>
          <p:nvPr/>
        </p:nvPicPr>
        <p:blipFill>
          <a:blip r:embed="rId3" cstate="print"/>
          <a:stretch>
            <a:fillRect/>
          </a:stretch>
        </p:blipFill>
        <p:spPr>
          <a:xfrm>
            <a:off x="4643438" y="3071810"/>
            <a:ext cx="2857500" cy="1905000"/>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83</a:t>
            </a:fld>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42910" y="1428736"/>
            <a:ext cx="7467600" cy="4953000"/>
          </a:xfrm>
        </p:spPr>
        <p:txBody>
          <a:bodyPr>
            <a:normAutofit/>
          </a:bodyPr>
          <a:lstStyle/>
          <a:p>
            <a:pPr>
              <a:spcBef>
                <a:spcPts val="600"/>
              </a:spcBef>
              <a:spcAft>
                <a:spcPts val="1200"/>
              </a:spcAft>
              <a:buNone/>
            </a:pPr>
            <a:r>
              <a:rPr lang="en-AU" sz="2200" b="1" dirty="0" smtClean="0"/>
              <a:t>White wines </a:t>
            </a:r>
            <a:endParaRPr lang="en-AU" sz="2200" dirty="0" smtClean="0"/>
          </a:p>
          <a:p>
            <a:pPr marL="0">
              <a:spcBef>
                <a:spcPts val="600"/>
              </a:spcBef>
              <a:spcAft>
                <a:spcPts val="1200"/>
              </a:spcAft>
              <a:buNone/>
            </a:pPr>
            <a:r>
              <a:rPr lang="en-AU" sz="2200" dirty="0" smtClean="0"/>
              <a:t>The appearance should also be examined to identify if it is: </a:t>
            </a:r>
          </a:p>
          <a:p>
            <a:pPr lvl="0">
              <a:spcBef>
                <a:spcPts val="600"/>
              </a:spcBef>
              <a:spcAft>
                <a:spcPts val="1200"/>
              </a:spcAft>
            </a:pPr>
            <a:r>
              <a:rPr lang="en-AU" sz="2200" dirty="0" smtClean="0"/>
              <a:t>Brilliant </a:t>
            </a:r>
            <a:endParaRPr lang="en-AU" sz="2200" dirty="0" smtClean="0"/>
          </a:p>
          <a:p>
            <a:pPr lvl="0">
              <a:spcBef>
                <a:spcPts val="600"/>
              </a:spcBef>
              <a:spcAft>
                <a:spcPts val="1200"/>
              </a:spcAft>
            </a:pPr>
            <a:r>
              <a:rPr lang="en-AU" sz="2200" dirty="0" smtClean="0"/>
              <a:t>Clear </a:t>
            </a:r>
          </a:p>
          <a:p>
            <a:pPr lvl="0">
              <a:spcBef>
                <a:spcPts val="600"/>
              </a:spcBef>
              <a:spcAft>
                <a:spcPts val="1200"/>
              </a:spcAft>
            </a:pPr>
            <a:r>
              <a:rPr lang="en-AU" sz="2200" dirty="0" smtClean="0"/>
              <a:t>Opaque</a:t>
            </a:r>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Appearance descriptors </a:t>
            </a:r>
            <a:endParaRPr lang="en-AU" sz="3400" dirty="0">
              <a:solidFill>
                <a:srgbClr val="FF6600"/>
              </a:solidFill>
              <a:latin typeface="Helvetica" pitchFamily="34" charset="0"/>
            </a:endParaRPr>
          </a:p>
        </p:txBody>
      </p:sp>
      <p:pic>
        <p:nvPicPr>
          <p:cNvPr id="5" name="Picture 4" descr="4902478709_d98222ec32_m.jpg"/>
          <p:cNvPicPr>
            <a:picLocks noChangeAspect="1"/>
          </p:cNvPicPr>
          <p:nvPr/>
        </p:nvPicPr>
        <p:blipFill>
          <a:blip r:embed="rId3" cstate="print"/>
          <a:stretch>
            <a:fillRect/>
          </a:stretch>
        </p:blipFill>
        <p:spPr>
          <a:xfrm>
            <a:off x="6357950" y="2714620"/>
            <a:ext cx="1571636" cy="2357454"/>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84</a:t>
            </a:fld>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00034" y="1357298"/>
            <a:ext cx="7467600" cy="4953000"/>
          </a:xfrm>
        </p:spPr>
        <p:txBody>
          <a:bodyPr>
            <a:normAutofit/>
          </a:bodyPr>
          <a:lstStyle/>
          <a:p>
            <a:pPr>
              <a:spcBef>
                <a:spcPts val="600"/>
              </a:spcBef>
              <a:spcAft>
                <a:spcPts val="1200"/>
              </a:spcAft>
              <a:buNone/>
            </a:pPr>
            <a:r>
              <a:rPr lang="en-AU" sz="2200" b="1" dirty="0" smtClean="0"/>
              <a:t>Red wines </a:t>
            </a:r>
            <a:endParaRPr lang="en-AU" sz="2200" dirty="0" smtClean="0"/>
          </a:p>
          <a:p>
            <a:pPr marL="0">
              <a:spcBef>
                <a:spcPts val="600"/>
              </a:spcBef>
              <a:spcAft>
                <a:spcPts val="1200"/>
              </a:spcAft>
              <a:buNone/>
            </a:pPr>
            <a:r>
              <a:rPr lang="en-AU" sz="2200" dirty="0" smtClean="0"/>
              <a:t>Appearance of red wines relates to the hue and depth of colour and is rated against the following descriptive words: </a:t>
            </a:r>
          </a:p>
          <a:p>
            <a:pPr lvl="0">
              <a:spcBef>
                <a:spcPts val="600"/>
              </a:spcBef>
              <a:spcAft>
                <a:spcPts val="1200"/>
              </a:spcAft>
            </a:pPr>
            <a:r>
              <a:rPr lang="en-AU" sz="2200" dirty="0" smtClean="0"/>
              <a:t>Purple </a:t>
            </a:r>
          </a:p>
          <a:p>
            <a:pPr lvl="0">
              <a:spcBef>
                <a:spcPts val="600"/>
              </a:spcBef>
              <a:spcAft>
                <a:spcPts val="1200"/>
              </a:spcAft>
            </a:pPr>
            <a:r>
              <a:rPr lang="en-AU" sz="2200" dirty="0" smtClean="0"/>
              <a:t>Crimson </a:t>
            </a:r>
          </a:p>
          <a:p>
            <a:pPr lvl="0">
              <a:spcBef>
                <a:spcPts val="600"/>
              </a:spcBef>
              <a:spcAft>
                <a:spcPts val="1200"/>
              </a:spcAft>
            </a:pPr>
            <a:r>
              <a:rPr lang="en-AU" sz="2200" dirty="0" smtClean="0"/>
              <a:t>Brick red </a:t>
            </a:r>
          </a:p>
          <a:p>
            <a:pPr lvl="0">
              <a:spcBef>
                <a:spcPts val="600"/>
              </a:spcBef>
              <a:spcAft>
                <a:spcPts val="1200"/>
              </a:spcAft>
            </a:pPr>
            <a:r>
              <a:rPr lang="en-AU" sz="2200" dirty="0" smtClean="0"/>
              <a:t>Tawny </a:t>
            </a:r>
          </a:p>
          <a:p>
            <a:pPr lvl="0">
              <a:spcBef>
                <a:spcPts val="600"/>
              </a:spcBef>
              <a:spcAft>
                <a:spcPts val="1200"/>
              </a:spcAft>
            </a:pPr>
            <a:r>
              <a:rPr lang="en-AU" sz="2200" dirty="0" smtClean="0"/>
              <a:t>Brown </a:t>
            </a:r>
          </a:p>
          <a:p>
            <a:pPr lvl="0">
              <a:spcBef>
                <a:spcPts val="600"/>
              </a:spcBef>
              <a:spcAft>
                <a:spcPts val="1200"/>
              </a:spcAft>
            </a:pPr>
            <a:r>
              <a:rPr lang="en-AU" sz="2200" dirty="0" smtClean="0"/>
              <a:t>Other</a:t>
            </a:r>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Appearance descriptors </a:t>
            </a:r>
            <a:endParaRPr lang="en-AU" sz="3400" dirty="0">
              <a:solidFill>
                <a:srgbClr val="FF6600"/>
              </a:solidFill>
              <a:latin typeface="Helvetica" pitchFamily="34" charset="0"/>
            </a:endParaRPr>
          </a:p>
        </p:txBody>
      </p:sp>
      <p:pic>
        <p:nvPicPr>
          <p:cNvPr id="15362" name="Picture 2" descr="C:\Documents and Settings\danielc\Desktop\Serve a range of wine products images\freeimage-4441570.jpg"/>
          <p:cNvPicPr>
            <a:picLocks noChangeAspect="1" noChangeArrowheads="1"/>
          </p:cNvPicPr>
          <p:nvPr/>
        </p:nvPicPr>
        <p:blipFill>
          <a:blip r:embed="rId3" cstate="print"/>
          <a:srcRect/>
          <a:stretch>
            <a:fillRect/>
          </a:stretch>
        </p:blipFill>
        <p:spPr bwMode="auto">
          <a:xfrm>
            <a:off x="4286248" y="2928934"/>
            <a:ext cx="3414912" cy="2286016"/>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85</a:t>
            </a:fld>
            <a:endParaRPr lang="en-US"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00034" y="1500174"/>
            <a:ext cx="7467600" cy="4953000"/>
          </a:xfrm>
        </p:spPr>
        <p:txBody>
          <a:bodyPr>
            <a:normAutofit/>
          </a:bodyPr>
          <a:lstStyle/>
          <a:p>
            <a:pPr>
              <a:spcBef>
                <a:spcPts val="600"/>
              </a:spcBef>
              <a:spcAft>
                <a:spcPts val="1200"/>
              </a:spcAft>
              <a:buNone/>
            </a:pPr>
            <a:r>
              <a:rPr lang="en-AU" sz="2200" b="1" dirty="0" smtClean="0"/>
              <a:t>Red wines </a:t>
            </a:r>
            <a:endParaRPr lang="en-AU" sz="2200" dirty="0" smtClean="0"/>
          </a:p>
          <a:p>
            <a:pPr marL="0">
              <a:spcBef>
                <a:spcPts val="600"/>
              </a:spcBef>
              <a:spcAft>
                <a:spcPts val="1200"/>
              </a:spcAft>
              <a:buNone/>
            </a:pPr>
            <a:r>
              <a:rPr lang="en-AU" sz="2200" dirty="0" smtClean="0"/>
              <a:t>The appearance should also be examined to identify if it is: </a:t>
            </a:r>
          </a:p>
          <a:p>
            <a:pPr lvl="0">
              <a:spcBef>
                <a:spcPts val="600"/>
              </a:spcBef>
              <a:spcAft>
                <a:spcPts val="1200"/>
              </a:spcAft>
            </a:pPr>
            <a:r>
              <a:rPr lang="en-AU" sz="2200" dirty="0" smtClean="0"/>
              <a:t>Opaque </a:t>
            </a:r>
          </a:p>
          <a:p>
            <a:pPr lvl="0">
              <a:spcBef>
                <a:spcPts val="600"/>
              </a:spcBef>
              <a:spcAft>
                <a:spcPts val="1200"/>
              </a:spcAft>
            </a:pPr>
            <a:r>
              <a:rPr lang="en-AU" sz="2200" dirty="0" smtClean="0"/>
              <a:t>Deep </a:t>
            </a:r>
          </a:p>
          <a:p>
            <a:pPr lvl="0">
              <a:spcBef>
                <a:spcPts val="600"/>
              </a:spcBef>
              <a:spcAft>
                <a:spcPts val="1200"/>
              </a:spcAft>
            </a:pPr>
            <a:r>
              <a:rPr lang="en-AU" sz="2200" dirty="0" smtClean="0"/>
              <a:t>Mid </a:t>
            </a:r>
          </a:p>
          <a:p>
            <a:pPr lvl="0">
              <a:spcBef>
                <a:spcPts val="600"/>
              </a:spcBef>
              <a:spcAft>
                <a:spcPts val="1200"/>
              </a:spcAft>
            </a:pPr>
            <a:r>
              <a:rPr lang="en-AU" sz="2200" dirty="0" smtClean="0"/>
              <a:t>Pale</a:t>
            </a:r>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Appearance descriptors </a:t>
            </a:r>
            <a:endParaRPr lang="en-AU" sz="3400" dirty="0">
              <a:solidFill>
                <a:srgbClr val="FF6600"/>
              </a:solidFill>
              <a:latin typeface="Helvetica" pitchFamily="34" charset="0"/>
            </a:endParaRPr>
          </a:p>
        </p:txBody>
      </p:sp>
      <p:pic>
        <p:nvPicPr>
          <p:cNvPr id="4" name="Picture 3" descr="MP900314312.JPG"/>
          <p:cNvPicPr>
            <a:picLocks noChangeAspect="1"/>
          </p:cNvPicPr>
          <p:nvPr/>
        </p:nvPicPr>
        <p:blipFill>
          <a:blip r:embed="rId3" cstate="print"/>
          <a:stretch>
            <a:fillRect/>
          </a:stretch>
        </p:blipFill>
        <p:spPr>
          <a:xfrm>
            <a:off x="6858016" y="2714620"/>
            <a:ext cx="1363990" cy="2286016"/>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86</a:t>
            </a:fld>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71472" y="1428736"/>
            <a:ext cx="7467600" cy="4953000"/>
          </a:xfrm>
        </p:spPr>
        <p:txBody>
          <a:bodyPr>
            <a:normAutofit/>
          </a:bodyPr>
          <a:lstStyle/>
          <a:p>
            <a:pPr>
              <a:spcBef>
                <a:spcPts val="600"/>
              </a:spcBef>
              <a:spcAft>
                <a:spcPts val="1200"/>
              </a:spcAft>
              <a:buNone/>
            </a:pPr>
            <a:r>
              <a:rPr lang="en-AU" sz="2200" b="1" dirty="0" smtClean="0"/>
              <a:t>Determining quality of wine</a:t>
            </a:r>
          </a:p>
          <a:p>
            <a:pPr>
              <a:spcBef>
                <a:spcPts val="600"/>
              </a:spcBef>
              <a:spcAft>
                <a:spcPts val="1200"/>
              </a:spcAft>
            </a:pPr>
            <a:r>
              <a:rPr lang="en-AU" sz="2200" dirty="0" smtClean="0"/>
              <a:t>How </a:t>
            </a:r>
            <a:r>
              <a:rPr lang="en-AU" sz="2200" dirty="0" smtClean="0"/>
              <a:t>do you determine wine quality?</a:t>
            </a:r>
          </a:p>
          <a:p>
            <a:pPr>
              <a:spcBef>
                <a:spcPts val="600"/>
              </a:spcBef>
              <a:spcAft>
                <a:spcPts val="1200"/>
              </a:spcAft>
            </a:pPr>
            <a:r>
              <a:rPr lang="en-AU" sz="2200" dirty="0" smtClean="0"/>
              <a:t>Who decides it?</a:t>
            </a:r>
          </a:p>
          <a:p>
            <a:pPr>
              <a:spcBef>
                <a:spcPts val="600"/>
              </a:spcBef>
              <a:spcAft>
                <a:spcPts val="1200"/>
              </a:spcAft>
            </a:pPr>
            <a:r>
              <a:rPr lang="en-AU" sz="2200" dirty="0" smtClean="0"/>
              <a:t>What criteria can be used to help determine quality?</a:t>
            </a:r>
          </a:p>
          <a:p>
            <a:pPr>
              <a:spcBef>
                <a:spcPts val="600"/>
              </a:spcBef>
              <a:spcAft>
                <a:spcPts val="1200"/>
              </a:spcAft>
            </a:pPr>
            <a:r>
              <a:rPr lang="en-AU" sz="2200" dirty="0" smtClean="0"/>
              <a:t>Is quality in the ‘eye of the beholder’?</a:t>
            </a:r>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Determine wine quality</a:t>
            </a:r>
            <a:endParaRPr lang="en-AU" sz="3400" dirty="0">
              <a:solidFill>
                <a:srgbClr val="FF6600"/>
              </a:solidFill>
              <a:latin typeface="Helvetica" pitchFamily="34" charset="0"/>
            </a:endParaRPr>
          </a:p>
        </p:txBody>
      </p:sp>
      <p:pic>
        <p:nvPicPr>
          <p:cNvPr id="16386" name="Picture 2" descr="C:\Documents and Settings\danielc\Desktop\Serve a range of wine products images\freeimage-6424637.jpg"/>
          <p:cNvPicPr>
            <a:picLocks noChangeAspect="1" noChangeArrowheads="1"/>
          </p:cNvPicPr>
          <p:nvPr/>
        </p:nvPicPr>
        <p:blipFill>
          <a:blip r:embed="rId3" cstate="print"/>
          <a:srcRect/>
          <a:stretch>
            <a:fillRect/>
          </a:stretch>
        </p:blipFill>
        <p:spPr bwMode="auto">
          <a:xfrm>
            <a:off x="5905510" y="500042"/>
            <a:ext cx="1666888" cy="2500330"/>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87</a:t>
            </a:fld>
            <a:endParaRPr lang="en-US"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Faults and flaws</a:t>
            </a:r>
          </a:p>
          <a:p>
            <a:pPr>
              <a:spcBef>
                <a:spcPts val="600"/>
              </a:spcBef>
              <a:spcAft>
                <a:spcPts val="1200"/>
              </a:spcAft>
            </a:pPr>
            <a:r>
              <a:rPr lang="en-AU" sz="2200" dirty="0" smtClean="0"/>
              <a:t>Not all wines are perfect</a:t>
            </a:r>
          </a:p>
          <a:p>
            <a:pPr>
              <a:spcBef>
                <a:spcPts val="600"/>
              </a:spcBef>
              <a:spcAft>
                <a:spcPts val="1200"/>
              </a:spcAft>
            </a:pPr>
            <a:r>
              <a:rPr lang="en-AU" sz="2200" dirty="0" smtClean="0"/>
              <a:t>Some are slightly flawed or ‘less than perfect’ while others have problems which make them undrinkable</a:t>
            </a:r>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Identifying wine faults</a:t>
            </a:r>
            <a:endParaRPr lang="en-AU" sz="3400" dirty="0">
              <a:solidFill>
                <a:srgbClr val="FF6600"/>
              </a:solidFill>
              <a:latin typeface="Helvetica" pitchFamily="34" charset="0"/>
            </a:endParaRPr>
          </a:p>
        </p:txBody>
      </p:sp>
      <p:pic>
        <p:nvPicPr>
          <p:cNvPr id="6" name="Picture 5" descr="2481406439_51d13faea5_m.jpg"/>
          <p:cNvPicPr>
            <a:picLocks noChangeAspect="1"/>
          </p:cNvPicPr>
          <p:nvPr/>
        </p:nvPicPr>
        <p:blipFill>
          <a:blip r:embed="rId3" cstate="print"/>
          <a:stretch>
            <a:fillRect/>
          </a:stretch>
        </p:blipFill>
        <p:spPr>
          <a:xfrm>
            <a:off x="3428992" y="3786190"/>
            <a:ext cx="1676400" cy="223520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88</a:t>
            </a:fld>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Fault</a:t>
            </a:r>
          </a:p>
          <a:p>
            <a:pPr>
              <a:spcBef>
                <a:spcPts val="600"/>
              </a:spcBef>
              <a:spcAft>
                <a:spcPts val="1200"/>
              </a:spcAft>
            </a:pPr>
            <a:r>
              <a:rPr lang="en-AU" sz="2200" dirty="0" smtClean="0"/>
              <a:t>A major problem with a wine that makes it undrinkable </a:t>
            </a:r>
          </a:p>
          <a:p>
            <a:pPr>
              <a:spcBef>
                <a:spcPts val="600"/>
              </a:spcBef>
              <a:spcAft>
                <a:spcPts val="1200"/>
              </a:spcAft>
              <a:buNone/>
            </a:pPr>
            <a:r>
              <a:rPr lang="en-AU" sz="2200" b="1" dirty="0" smtClean="0"/>
              <a:t>Flaw</a:t>
            </a:r>
          </a:p>
          <a:p>
            <a:pPr>
              <a:spcBef>
                <a:spcPts val="600"/>
              </a:spcBef>
              <a:spcAft>
                <a:spcPts val="1200"/>
              </a:spcAft>
            </a:pPr>
            <a:r>
              <a:rPr lang="en-AU" sz="2200" dirty="0" smtClean="0"/>
              <a:t>A minor problem that decreases the pleasure of drinking the wine </a:t>
            </a:r>
          </a:p>
          <a:p>
            <a:pPr>
              <a:spcBef>
                <a:spcPts val="600"/>
              </a:spcBef>
              <a:spcAft>
                <a:spcPts val="1200"/>
              </a:spcAft>
              <a:buNone/>
            </a:pPr>
            <a:endParaRPr lang="en-AU" sz="2200" dirty="0" smtClean="0"/>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Identifying wine faults</a:t>
            </a:r>
            <a:endParaRPr lang="en-AU" sz="3400" dirty="0">
              <a:solidFill>
                <a:srgbClr val="FF6600"/>
              </a:solidFill>
              <a:latin typeface="Helvetica" pitchFamily="34" charset="0"/>
            </a:endParaRPr>
          </a:p>
        </p:txBody>
      </p:sp>
      <p:pic>
        <p:nvPicPr>
          <p:cNvPr id="4" name="Picture 3" descr="148138443_4e3998a4cd_m.jpg"/>
          <p:cNvPicPr>
            <a:picLocks noChangeAspect="1"/>
          </p:cNvPicPr>
          <p:nvPr/>
        </p:nvPicPr>
        <p:blipFill>
          <a:blip r:embed="rId3" cstate="print"/>
          <a:stretch>
            <a:fillRect/>
          </a:stretch>
        </p:blipFill>
        <p:spPr>
          <a:xfrm>
            <a:off x="3643306" y="4429132"/>
            <a:ext cx="1981200" cy="1329055"/>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89</a:t>
            </a:fld>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Types of wine faults </a:t>
            </a:r>
            <a:endParaRPr lang="en-AU" sz="2200" dirty="0" smtClean="0"/>
          </a:p>
          <a:p>
            <a:pPr>
              <a:spcBef>
                <a:spcPts val="600"/>
              </a:spcBef>
              <a:spcAft>
                <a:spcPts val="1200"/>
              </a:spcAft>
            </a:pPr>
            <a:r>
              <a:rPr lang="en-AU" sz="2200" dirty="0" smtClean="0"/>
              <a:t>Oxidation </a:t>
            </a:r>
          </a:p>
          <a:p>
            <a:pPr>
              <a:spcBef>
                <a:spcPts val="600"/>
              </a:spcBef>
              <a:spcAft>
                <a:spcPts val="1200"/>
              </a:spcAft>
            </a:pPr>
            <a:r>
              <a:rPr lang="en-AU" sz="2200" dirty="0" smtClean="0"/>
              <a:t>Tartrates </a:t>
            </a:r>
          </a:p>
          <a:p>
            <a:pPr>
              <a:spcBef>
                <a:spcPts val="600"/>
              </a:spcBef>
              <a:spcAft>
                <a:spcPts val="1200"/>
              </a:spcAft>
            </a:pPr>
            <a:r>
              <a:rPr lang="en-AU" sz="2200" dirty="0" smtClean="0"/>
              <a:t>Cloudiness </a:t>
            </a:r>
          </a:p>
          <a:p>
            <a:pPr>
              <a:spcBef>
                <a:spcPts val="600"/>
              </a:spcBef>
              <a:spcAft>
                <a:spcPts val="1200"/>
              </a:spcAft>
            </a:pPr>
            <a:r>
              <a:rPr lang="en-AU" sz="2200" dirty="0" smtClean="0"/>
              <a:t>Corked wine </a:t>
            </a:r>
          </a:p>
          <a:p>
            <a:pPr>
              <a:spcBef>
                <a:spcPts val="600"/>
              </a:spcBef>
              <a:spcAft>
                <a:spcPts val="1200"/>
              </a:spcAft>
            </a:pPr>
            <a:r>
              <a:rPr lang="en-AU" sz="2200" dirty="0" smtClean="0"/>
              <a:t>Excessive sulphur </a:t>
            </a:r>
          </a:p>
          <a:p>
            <a:pPr>
              <a:spcBef>
                <a:spcPts val="600"/>
              </a:spcBef>
              <a:spcAft>
                <a:spcPts val="1200"/>
              </a:spcAft>
            </a:pPr>
            <a:r>
              <a:rPr lang="en-AU" sz="2200" dirty="0" smtClean="0"/>
              <a:t>Hydrogen sulphide </a:t>
            </a:r>
          </a:p>
          <a:p>
            <a:pPr>
              <a:spcBef>
                <a:spcPts val="600"/>
              </a:spcBef>
              <a:spcAft>
                <a:spcPts val="1200"/>
              </a:spcAft>
              <a:buNone/>
            </a:pPr>
            <a:endParaRPr lang="en-AU" sz="2200" dirty="0" smtClean="0"/>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Identifying wine faults</a:t>
            </a:r>
            <a:endParaRPr lang="en-AU" sz="3400" dirty="0">
              <a:solidFill>
                <a:srgbClr val="FF6600"/>
              </a:solidFill>
              <a:latin typeface="Helvetica" pitchFamily="34" charset="0"/>
            </a:endParaRPr>
          </a:p>
        </p:txBody>
      </p:sp>
      <p:pic>
        <p:nvPicPr>
          <p:cNvPr id="4" name="Picture 3" descr="4320482469_0fcb53249f_m.jpg"/>
          <p:cNvPicPr>
            <a:picLocks noChangeAspect="1"/>
          </p:cNvPicPr>
          <p:nvPr/>
        </p:nvPicPr>
        <p:blipFill>
          <a:blip r:embed="rId3" cstate="print"/>
          <a:stretch>
            <a:fillRect/>
          </a:stretch>
        </p:blipFill>
        <p:spPr>
          <a:xfrm>
            <a:off x="5715009" y="1726352"/>
            <a:ext cx="1785950" cy="1209492"/>
          </a:xfrm>
          <a:prstGeom prst="rect">
            <a:avLst/>
          </a:prstGeom>
        </p:spPr>
      </p:pic>
      <p:pic>
        <p:nvPicPr>
          <p:cNvPr id="5" name="Picture 4" descr="C:\Documents and Settings\danielc\Desktop\Serve a range of wine products images\cloudy wine.jpg"/>
          <p:cNvPicPr/>
          <p:nvPr/>
        </p:nvPicPr>
        <p:blipFill>
          <a:blip r:embed="rId4" cstate="print"/>
          <a:srcRect/>
          <a:stretch>
            <a:fillRect/>
          </a:stretch>
        </p:blipFill>
        <p:spPr bwMode="auto">
          <a:xfrm>
            <a:off x="5733965" y="3012236"/>
            <a:ext cx="1766993" cy="2274152"/>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90</a:t>
            </a:fld>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Monitoring wine prior to service </a:t>
            </a:r>
          </a:p>
          <a:p>
            <a:pPr lvl="0">
              <a:spcBef>
                <a:spcPts val="600"/>
              </a:spcBef>
              <a:spcAft>
                <a:spcPts val="1200"/>
              </a:spcAft>
            </a:pPr>
            <a:r>
              <a:rPr lang="en-AU" sz="2200" dirty="0" smtClean="0"/>
              <a:t>Visually </a:t>
            </a:r>
            <a:r>
              <a:rPr lang="en-AU" sz="2200" dirty="0" smtClean="0"/>
              <a:t>inspect the bottle and cap or cork</a:t>
            </a:r>
          </a:p>
          <a:p>
            <a:pPr lvl="0">
              <a:spcBef>
                <a:spcPts val="600"/>
              </a:spcBef>
              <a:spcAft>
                <a:spcPts val="1200"/>
              </a:spcAft>
            </a:pPr>
            <a:r>
              <a:rPr lang="en-AU" sz="2200" dirty="0" smtClean="0"/>
              <a:t>Visually inspect wines that are opened </a:t>
            </a:r>
          </a:p>
          <a:p>
            <a:pPr lvl="0">
              <a:spcBef>
                <a:spcPts val="600"/>
              </a:spcBef>
              <a:spcAft>
                <a:spcPts val="1200"/>
              </a:spcAft>
            </a:pPr>
            <a:r>
              <a:rPr lang="en-AU" sz="2200" dirty="0" smtClean="0"/>
              <a:t>Check the temperature of the wine </a:t>
            </a:r>
          </a:p>
          <a:p>
            <a:pPr>
              <a:spcBef>
                <a:spcPts val="600"/>
              </a:spcBef>
              <a:spcAft>
                <a:spcPts val="1200"/>
              </a:spcAft>
            </a:pPr>
            <a:r>
              <a:rPr lang="en-AU" sz="2200" dirty="0" smtClean="0"/>
              <a:t>Be alert to ‘off’ smells </a:t>
            </a:r>
          </a:p>
          <a:p>
            <a:pPr>
              <a:spcBef>
                <a:spcPts val="600"/>
              </a:spcBef>
              <a:spcAft>
                <a:spcPts val="1200"/>
              </a:spcAft>
              <a:buNone/>
            </a:pPr>
            <a:endParaRPr lang="en-AU" sz="24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Monitor wine quality and recognise faults</a:t>
            </a:r>
            <a:endParaRPr lang="en-AU" sz="3400" dirty="0">
              <a:solidFill>
                <a:srgbClr val="FF6600"/>
              </a:solidFill>
              <a:latin typeface="Helvetica" pitchFamily="34" charset="0"/>
            </a:endParaRPr>
          </a:p>
        </p:txBody>
      </p:sp>
      <p:pic>
        <p:nvPicPr>
          <p:cNvPr id="17410" name="Picture 2" descr="C:\Documents and Settings\danielc\Desktop\Serve a range of wine products images\freeimage-3207795.jpg"/>
          <p:cNvPicPr>
            <a:picLocks noChangeAspect="1" noChangeArrowheads="1"/>
          </p:cNvPicPr>
          <p:nvPr/>
        </p:nvPicPr>
        <p:blipFill>
          <a:blip r:embed="rId3" cstate="print"/>
          <a:srcRect/>
          <a:stretch>
            <a:fillRect/>
          </a:stretch>
        </p:blipFill>
        <p:spPr bwMode="auto">
          <a:xfrm>
            <a:off x="6286512" y="2143116"/>
            <a:ext cx="1928323" cy="2155805"/>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91</a:t>
            </a:fld>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457200" y="1600200"/>
            <a:ext cx="7467600" cy="4953000"/>
          </a:xfrm>
        </p:spPr>
        <p:txBody>
          <a:bodyPr>
            <a:normAutofit/>
          </a:bodyPr>
          <a:lstStyle/>
          <a:p>
            <a:pPr>
              <a:spcBef>
                <a:spcPts val="600"/>
              </a:spcBef>
              <a:spcAft>
                <a:spcPts val="1200"/>
              </a:spcAft>
              <a:buNone/>
            </a:pPr>
            <a:r>
              <a:rPr lang="en-AU" sz="2200" b="1" dirty="0" smtClean="0"/>
              <a:t>Monitoring the room </a:t>
            </a:r>
            <a:endParaRPr lang="en-AU" sz="2200" dirty="0" smtClean="0"/>
          </a:p>
          <a:p>
            <a:pPr lvl="0">
              <a:spcBef>
                <a:spcPts val="600"/>
              </a:spcBef>
              <a:spcAft>
                <a:spcPts val="1200"/>
              </a:spcAft>
            </a:pPr>
            <a:r>
              <a:rPr lang="en-AU" sz="2200" dirty="0" smtClean="0"/>
              <a:t>Watching for body language that indicates there is an issue </a:t>
            </a:r>
          </a:p>
          <a:p>
            <a:pPr lvl="0">
              <a:spcBef>
                <a:spcPts val="600"/>
              </a:spcBef>
              <a:spcAft>
                <a:spcPts val="1200"/>
              </a:spcAft>
            </a:pPr>
            <a:r>
              <a:rPr lang="en-AU" sz="2200" dirty="0" smtClean="0"/>
              <a:t>Asking the customers if they are satisfied </a:t>
            </a:r>
            <a:br>
              <a:rPr lang="en-AU" sz="2200" dirty="0" smtClean="0"/>
            </a:br>
            <a:r>
              <a:rPr lang="en-AU" sz="2200" dirty="0" smtClean="0"/>
              <a:t>with their wine </a:t>
            </a:r>
          </a:p>
          <a:p>
            <a:pPr>
              <a:spcBef>
                <a:spcPts val="600"/>
              </a:spcBef>
              <a:spcAft>
                <a:spcPts val="1200"/>
              </a:spcAft>
            </a:pPr>
            <a:r>
              <a:rPr lang="en-AU" sz="2200" dirty="0" smtClean="0"/>
              <a:t>Monitoring how much wine is left in glasses </a:t>
            </a:r>
            <a:br>
              <a:rPr lang="en-AU" sz="2200" dirty="0" smtClean="0"/>
            </a:br>
            <a:r>
              <a:rPr lang="en-AU" sz="2200" dirty="0" smtClean="0"/>
              <a:t>or the bottle </a:t>
            </a:r>
            <a:endParaRPr lang="en-AU" sz="2200" b="1" dirty="0" smtClean="0"/>
          </a:p>
        </p:txBody>
      </p:sp>
      <p:sp>
        <p:nvSpPr>
          <p:cNvPr id="7" name="Title 1"/>
          <p:cNvSpPr>
            <a:spLocks noGrp="1"/>
          </p:cNvSpPr>
          <p:nvPr>
            <p:ph type="title"/>
          </p:nvPr>
        </p:nvSpPr>
        <p:spPr>
          <a:xfrm>
            <a:off x="611560" y="332656"/>
            <a:ext cx="7467600" cy="1143000"/>
          </a:xfrm>
        </p:spPr>
        <p:txBody>
          <a:bodyPr>
            <a:noAutofit/>
          </a:bodyPr>
          <a:lstStyle/>
          <a:p>
            <a:r>
              <a:rPr lang="en-AU" sz="3400" b="1" dirty="0" smtClean="0">
                <a:solidFill>
                  <a:srgbClr val="FF6600"/>
                </a:solidFill>
                <a:latin typeface="Helvetica" pitchFamily="34" charset="0"/>
              </a:rPr>
              <a:t>Monitor wine quality and recognise faults</a:t>
            </a:r>
            <a:endParaRPr lang="en-AU" sz="3400" dirty="0">
              <a:solidFill>
                <a:srgbClr val="FF6600"/>
              </a:solidFill>
              <a:latin typeface="Helvetica" pitchFamily="34" charset="0"/>
            </a:endParaRPr>
          </a:p>
        </p:txBody>
      </p:sp>
      <p:pic>
        <p:nvPicPr>
          <p:cNvPr id="5" name="Picture 4" descr="C:\Documents and Settings\danielc\Desktop\Serve a range of wine products images\457176_woman_drinking_white_wine.jpg"/>
          <p:cNvPicPr/>
          <p:nvPr/>
        </p:nvPicPr>
        <p:blipFill>
          <a:blip r:embed="rId3" cstate="print"/>
          <a:srcRect/>
          <a:stretch>
            <a:fillRect/>
          </a:stretch>
        </p:blipFill>
        <p:spPr bwMode="auto">
          <a:xfrm>
            <a:off x="6715140" y="2857496"/>
            <a:ext cx="1507751" cy="2130737"/>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92</a:t>
            </a:fld>
            <a:endParaRPr 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4:</a:t>
            </a:r>
          </a:p>
          <a:p>
            <a:pPr marL="0" lvl="0">
              <a:buNone/>
            </a:pPr>
            <a:r>
              <a:rPr lang="en-AU" sz="4000" dirty="0" smtClean="0">
                <a:solidFill>
                  <a:srgbClr val="FF6600"/>
                </a:solidFill>
              </a:rPr>
              <a:t>Provide advice to patrons</a:t>
            </a:r>
          </a:p>
          <a:p>
            <a:pPr>
              <a:spcBef>
                <a:spcPts val="600"/>
              </a:spcBef>
              <a:spcAft>
                <a:spcPts val="1200"/>
              </a:spcAft>
            </a:pPr>
            <a:endParaRPr lang="en-AU" sz="2200" dirty="0" smtClean="0"/>
          </a:p>
          <a:p>
            <a:pPr>
              <a:spcBef>
                <a:spcPts val="600"/>
              </a:spcBef>
              <a:spcAft>
                <a:spcPts val="1200"/>
              </a:spcAft>
              <a:buNone/>
            </a:pPr>
            <a:endParaRPr lang="en-AU" sz="2200" dirty="0" smtClean="0"/>
          </a:p>
          <a:p>
            <a:pPr lvl="0">
              <a:spcBef>
                <a:spcPts val="600"/>
              </a:spcBef>
              <a:spcAft>
                <a:spcPts val="600"/>
              </a:spcAft>
            </a:pPr>
            <a:endParaRPr lang="en-AU" sz="2200" dirty="0" smtClean="0"/>
          </a:p>
          <a:p>
            <a:pPr>
              <a:buNone/>
            </a:pPr>
            <a:endParaRPr lang="en-AU" sz="2400" dirty="0" smtClean="0"/>
          </a:p>
          <a:p>
            <a:pPr lvl="0">
              <a:spcBef>
                <a:spcPts val="600"/>
              </a:spcBef>
              <a:spcAft>
                <a:spcPts val="1200"/>
              </a:spcAft>
            </a:pPr>
            <a:endParaRPr lang="en-AU" sz="2200" dirty="0" smtClean="0"/>
          </a:p>
          <a:p>
            <a:pPr marL="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6" name="Picture 5" descr="I:\Overseas Projects\PHOTOS\Accommodation 2009\Angliss RestaurantV2[1].19.jpg"/>
          <p:cNvPicPr/>
          <p:nvPr/>
        </p:nvPicPr>
        <p:blipFill>
          <a:blip r:embed="rId3" cstate="print">
            <a:lum contrast="10000"/>
          </a:blip>
          <a:srcRect/>
          <a:stretch>
            <a:fillRect/>
          </a:stretch>
        </p:blipFill>
        <p:spPr bwMode="auto">
          <a:xfrm>
            <a:off x="3143240" y="3214686"/>
            <a:ext cx="3233814" cy="21431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Provide advice to patrons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Performance Criteria for this Element are: </a:t>
            </a:r>
          </a:p>
          <a:p>
            <a:pPr>
              <a:spcBef>
                <a:spcPts val="600"/>
              </a:spcBef>
              <a:spcAft>
                <a:spcPts val="1200"/>
              </a:spcAft>
            </a:pPr>
            <a:r>
              <a:rPr lang="en-AU" sz="2200" dirty="0" smtClean="0"/>
              <a:t>Present wine list/lists to patrons</a:t>
            </a:r>
          </a:p>
          <a:p>
            <a:pPr>
              <a:spcBef>
                <a:spcPts val="600"/>
              </a:spcBef>
              <a:spcAft>
                <a:spcPts val="1200"/>
              </a:spcAft>
            </a:pPr>
            <a:r>
              <a:rPr lang="en-AU" sz="2200" dirty="0" smtClean="0"/>
              <a:t>Identify patron preferences and food that has been ordered</a:t>
            </a:r>
          </a:p>
          <a:p>
            <a:pPr>
              <a:spcBef>
                <a:spcPts val="600"/>
              </a:spcBef>
              <a:spcAft>
                <a:spcPts val="1200"/>
              </a:spcAft>
            </a:pPr>
            <a:r>
              <a:rPr lang="en-AU" sz="2200" dirty="0" smtClean="0"/>
              <a:t>Recommend suitable wine and food combinations to meet identified needs and preferences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143504" y="2071678"/>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214546" y="3044830"/>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929322" y="3929066"/>
            <a:ext cx="399154" cy="527046"/>
          </a:xfrm>
          <a:prstGeom prst="rect">
            <a:avLst/>
          </a:prstGeom>
          <a:noFill/>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Provide advice to patrons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Performance Criteria for this Element are: </a:t>
            </a:r>
          </a:p>
          <a:p>
            <a:pPr>
              <a:spcBef>
                <a:spcPts val="600"/>
              </a:spcBef>
              <a:spcAft>
                <a:spcPts val="1200"/>
              </a:spcAft>
            </a:pPr>
            <a:r>
              <a:rPr lang="en-AU" sz="2200" dirty="0" smtClean="0"/>
              <a:t>Explain choice of recommended wine and food combinations</a:t>
            </a:r>
          </a:p>
          <a:p>
            <a:pPr>
              <a:spcBef>
                <a:spcPts val="600"/>
              </a:spcBef>
              <a:spcAft>
                <a:spcPts val="1200"/>
              </a:spcAft>
            </a:pPr>
            <a:r>
              <a:rPr lang="en-AU" sz="2200" dirty="0" smtClean="0"/>
              <a:t>Inform patrons of relevant wine production countries, grape varieties, wine production techniques and associated wine industry information, trends and details</a:t>
            </a:r>
          </a:p>
          <a:p>
            <a:pPr>
              <a:spcBef>
                <a:spcPts val="600"/>
              </a:spcBef>
              <a:spcAft>
                <a:spcPts val="1200"/>
              </a:spcAft>
            </a:pPr>
            <a:r>
              <a:rPr lang="en-AU" sz="2200" dirty="0" smtClean="0"/>
              <a:t>Interpret wine medals and wine judging                            methodologies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815524" y="2473326"/>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2000232" y="407194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000364" y="4929198"/>
            <a:ext cx="399154" cy="527046"/>
          </a:xfrm>
          <a:prstGeom prst="rect">
            <a:avLst/>
          </a:prstGeom>
          <a:noFill/>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Present wine lists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Present wine lists</a:t>
            </a:r>
          </a:p>
          <a:p>
            <a:pPr marL="0">
              <a:spcBef>
                <a:spcPts val="600"/>
              </a:spcBef>
              <a:spcAft>
                <a:spcPts val="1200"/>
              </a:spcAft>
              <a:buNone/>
            </a:pPr>
            <a:r>
              <a:rPr lang="en-AU" sz="2200" dirty="0" smtClean="0"/>
              <a:t>Once guests have been seated it is now time to present menus and drink lists to customers.</a:t>
            </a:r>
          </a:p>
          <a:p>
            <a:pPr>
              <a:spcBef>
                <a:spcPts val="600"/>
              </a:spcBef>
              <a:spcAft>
                <a:spcPts val="1200"/>
              </a:spcAft>
            </a:pPr>
            <a:r>
              <a:rPr lang="en-AU" sz="2200" dirty="0" smtClean="0"/>
              <a:t>What activities are associated with presenting wine lists?</a:t>
            </a:r>
          </a:p>
          <a:p>
            <a:pPr lvl="0">
              <a:spcBef>
                <a:spcPts val="600"/>
              </a:spcBef>
              <a:spcAft>
                <a:spcPts val="1200"/>
              </a:spcAft>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7" name="Picture 6" descr="MP900409393[1].JPG"/>
          <p:cNvPicPr/>
          <p:nvPr/>
        </p:nvPicPr>
        <p:blipFill>
          <a:blip r:embed="rId3" cstate="print">
            <a:grayscl/>
          </a:blip>
          <a:stretch>
            <a:fillRect/>
          </a:stretch>
        </p:blipFill>
        <p:spPr>
          <a:xfrm>
            <a:off x="3714744" y="3714752"/>
            <a:ext cx="1531162" cy="2214578"/>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Present wine lists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428736"/>
            <a:ext cx="7467600" cy="5301208"/>
          </a:xfrm>
        </p:spPr>
        <p:txBody>
          <a:bodyPr>
            <a:normAutofit/>
          </a:bodyPr>
          <a:lstStyle/>
          <a:p>
            <a:pPr>
              <a:spcBef>
                <a:spcPts val="600"/>
              </a:spcBef>
              <a:spcAft>
                <a:spcPts val="1200"/>
              </a:spcAft>
              <a:buNone/>
            </a:pPr>
            <a:r>
              <a:rPr lang="en-AU" sz="2200" b="1" dirty="0" smtClean="0"/>
              <a:t>Explaining wine lists</a:t>
            </a:r>
          </a:p>
          <a:p>
            <a:pPr marL="0">
              <a:spcBef>
                <a:spcPts val="600"/>
              </a:spcBef>
              <a:spcAft>
                <a:spcPts val="1200"/>
              </a:spcAft>
              <a:buNone/>
            </a:pPr>
            <a:r>
              <a:rPr lang="en-AU" sz="2200" dirty="0" smtClean="0"/>
              <a:t>Many wine lists can be quite complex leaving customers unsure where to start looking.</a:t>
            </a:r>
          </a:p>
          <a:p>
            <a:pPr marL="0">
              <a:spcBef>
                <a:spcPts val="600"/>
              </a:spcBef>
              <a:spcAft>
                <a:spcPts val="1200"/>
              </a:spcAft>
              <a:buNone/>
            </a:pPr>
            <a:r>
              <a:rPr lang="en-AU" sz="2200" dirty="0" smtClean="0"/>
              <a:t>It is the role of the beverage server to help identify and explain important aspects of the wine list.</a:t>
            </a:r>
          </a:p>
          <a:p>
            <a:pPr>
              <a:spcBef>
                <a:spcPts val="600"/>
              </a:spcBef>
              <a:spcAft>
                <a:spcPts val="1200"/>
              </a:spcAft>
            </a:pPr>
            <a:r>
              <a:rPr lang="en-AU" sz="2200" dirty="0" smtClean="0"/>
              <a:t>What categories can be used in wine lists to make it easier for customers to read?</a:t>
            </a:r>
          </a:p>
          <a:p>
            <a:pPr lvl="0">
              <a:spcBef>
                <a:spcPts val="600"/>
              </a:spcBef>
              <a:spcAft>
                <a:spcPts val="1200"/>
              </a:spcAft>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7" name="Picture 6" descr="6032650172_18ea350d7d_m.jpg"/>
          <p:cNvPicPr/>
          <p:nvPr/>
        </p:nvPicPr>
        <p:blipFill>
          <a:blip r:embed="rId3" cstate="print">
            <a:grayscl/>
            <a:lum bright="20000"/>
          </a:blip>
          <a:stretch>
            <a:fillRect/>
          </a:stretch>
        </p:blipFill>
        <p:spPr>
          <a:xfrm>
            <a:off x="3857620" y="4714884"/>
            <a:ext cx="1369483" cy="1828800"/>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Present wine lists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357298"/>
            <a:ext cx="7467600" cy="5301208"/>
          </a:xfrm>
        </p:spPr>
        <p:txBody>
          <a:bodyPr>
            <a:normAutofit/>
          </a:bodyPr>
          <a:lstStyle/>
          <a:p>
            <a:pPr>
              <a:spcBef>
                <a:spcPts val="600"/>
              </a:spcBef>
              <a:spcAft>
                <a:spcPts val="1200"/>
              </a:spcAft>
              <a:buNone/>
            </a:pPr>
            <a:r>
              <a:rPr lang="en-AU" sz="2200" b="1" dirty="0" smtClean="0"/>
              <a:t>Wine list categories</a:t>
            </a:r>
            <a:endParaRPr lang="en-AU" sz="2200" dirty="0" smtClean="0"/>
          </a:p>
          <a:p>
            <a:pPr marL="0">
              <a:spcBef>
                <a:spcPts val="600"/>
              </a:spcBef>
              <a:spcAft>
                <a:spcPts val="1200"/>
              </a:spcAft>
              <a:buNone/>
            </a:pPr>
            <a:r>
              <a:rPr lang="en-AU" sz="2200" dirty="0" smtClean="0"/>
              <a:t>Most restaurants wine lists break down into the following categories: </a:t>
            </a:r>
          </a:p>
          <a:p>
            <a:pPr lvl="0">
              <a:spcBef>
                <a:spcPts val="600"/>
              </a:spcBef>
              <a:spcAft>
                <a:spcPts val="1200"/>
              </a:spcAft>
            </a:pPr>
            <a:r>
              <a:rPr lang="en-AU" sz="2200" dirty="0" smtClean="0"/>
              <a:t>Champagne and Sparkling Wines </a:t>
            </a:r>
          </a:p>
          <a:p>
            <a:pPr lvl="0">
              <a:spcBef>
                <a:spcPts val="600"/>
              </a:spcBef>
              <a:spcAft>
                <a:spcPts val="1200"/>
              </a:spcAft>
            </a:pPr>
            <a:r>
              <a:rPr lang="en-AU" sz="2200" dirty="0" smtClean="0"/>
              <a:t>White Wines </a:t>
            </a:r>
          </a:p>
          <a:p>
            <a:pPr lvl="0">
              <a:spcBef>
                <a:spcPts val="600"/>
              </a:spcBef>
              <a:spcAft>
                <a:spcPts val="1200"/>
              </a:spcAft>
            </a:pPr>
            <a:r>
              <a:rPr lang="en-AU" sz="2200" dirty="0" smtClean="0"/>
              <a:t>Red Wines </a:t>
            </a:r>
          </a:p>
          <a:p>
            <a:pPr lvl="0">
              <a:spcBef>
                <a:spcPts val="600"/>
              </a:spcBef>
              <a:spcAft>
                <a:spcPts val="1200"/>
              </a:spcAft>
            </a:pPr>
            <a:r>
              <a:rPr lang="en-AU" sz="2200" dirty="0" smtClean="0"/>
              <a:t>Sweet and Fortified Wines </a:t>
            </a:r>
          </a:p>
          <a:p>
            <a:pPr lvl="0">
              <a:spcBef>
                <a:spcPts val="600"/>
              </a:spcBef>
              <a:spcAft>
                <a:spcPts val="1200"/>
              </a:spcAft>
            </a:pPr>
            <a:r>
              <a:rPr lang="en-AU" sz="2200" dirty="0" smtClean="0"/>
              <a:t>Digestifs (after dinner drinks) </a:t>
            </a:r>
          </a:p>
          <a:p>
            <a:pPr lvl="0">
              <a:spcBef>
                <a:spcPts val="600"/>
              </a:spcBef>
              <a:spcAft>
                <a:spcPts val="1200"/>
              </a:spcAft>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7" name="Picture 6" descr="7136909881_726b7e6035_m.jpg"/>
          <p:cNvPicPr/>
          <p:nvPr/>
        </p:nvPicPr>
        <p:blipFill>
          <a:blip r:embed="rId3" cstate="print">
            <a:grayscl/>
          </a:blip>
          <a:srcRect t="2963"/>
          <a:stretch>
            <a:fillRect/>
          </a:stretch>
        </p:blipFill>
        <p:spPr>
          <a:xfrm>
            <a:off x="6286512" y="2857496"/>
            <a:ext cx="1643074" cy="2339060"/>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Provide wine advice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This section will explore the different elements of wine service that can be provided to a customer to help them make an informed decision in regards to selecting a wine, either to:</a:t>
            </a:r>
          </a:p>
          <a:p>
            <a:pPr lvl="0">
              <a:spcBef>
                <a:spcPts val="600"/>
              </a:spcBef>
              <a:spcAft>
                <a:spcPts val="1200"/>
              </a:spcAft>
            </a:pPr>
            <a:r>
              <a:rPr lang="en-AU" sz="2200" dirty="0" smtClean="0"/>
              <a:t>Compliment a meal</a:t>
            </a:r>
          </a:p>
          <a:p>
            <a:pPr lvl="0">
              <a:spcBef>
                <a:spcPts val="600"/>
              </a:spcBef>
              <a:spcAft>
                <a:spcPts val="1200"/>
              </a:spcAft>
            </a:pPr>
            <a:r>
              <a:rPr lang="en-AU" sz="2200" dirty="0" smtClean="0"/>
              <a:t>To be enjoyed on its own</a:t>
            </a: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18434" name="Picture 2" descr="C:\Documents and Settings\danielc\Desktop\Serve a range of wine products images\1158401_still_life___.jpg"/>
          <p:cNvPicPr>
            <a:picLocks noChangeAspect="1" noChangeArrowheads="1"/>
          </p:cNvPicPr>
          <p:nvPr/>
        </p:nvPicPr>
        <p:blipFill>
          <a:blip r:embed="rId3" cstate="print"/>
          <a:srcRect/>
          <a:stretch>
            <a:fillRect/>
          </a:stretch>
        </p:blipFill>
        <p:spPr bwMode="auto">
          <a:xfrm>
            <a:off x="6000760" y="3000372"/>
            <a:ext cx="1757265" cy="2252904"/>
          </a:xfrm>
          <a:prstGeom prst="rect">
            <a:avLst/>
          </a:prstGeom>
          <a:noFill/>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604862" y="1500174"/>
            <a:ext cx="7467600" cy="4525963"/>
          </a:xfrm>
        </p:spPr>
        <p:txBody>
          <a:bodyPr>
            <a:normAutofit/>
          </a:bodyPr>
          <a:lstStyle/>
          <a:p>
            <a:pPr marL="0">
              <a:spcBef>
                <a:spcPts val="600"/>
              </a:spcBef>
              <a:spcAft>
                <a:spcPts val="1200"/>
              </a:spcAft>
              <a:buNone/>
            </a:pPr>
            <a:r>
              <a:rPr lang="en-AU" sz="2200" dirty="0" smtClean="0"/>
              <a:t>A fundamental requirement when assisting customers to buy a product is to:</a:t>
            </a:r>
          </a:p>
          <a:p>
            <a:pPr>
              <a:spcBef>
                <a:spcPts val="600"/>
              </a:spcBef>
              <a:spcAft>
                <a:spcPts val="1200"/>
              </a:spcAft>
            </a:pPr>
            <a:r>
              <a:rPr lang="en-AU" sz="2200" dirty="0" smtClean="0"/>
              <a:t>Determine their needs, wants and preferences </a:t>
            </a:r>
          </a:p>
          <a:p>
            <a:pPr>
              <a:spcBef>
                <a:spcPts val="600"/>
              </a:spcBef>
              <a:spcAft>
                <a:spcPts val="1200"/>
              </a:spcAft>
            </a:pPr>
            <a:r>
              <a:rPr lang="en-AU" sz="2200" dirty="0" smtClean="0"/>
              <a:t>Attempt to match what you have to these identified factors</a:t>
            </a:r>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Provide wine advice</a:t>
            </a:r>
          </a:p>
        </p:txBody>
      </p:sp>
      <p:pic>
        <p:nvPicPr>
          <p:cNvPr id="6" name="Picture 5" descr="C:\Documents and Settings\danielc\Local Settings\Temporary Internet Files\Content.IE5\V9A2RTT8\MP900400233[1].jpg"/>
          <p:cNvPicPr/>
          <p:nvPr/>
        </p:nvPicPr>
        <p:blipFill>
          <a:blip r:embed="rId3" cstate="print">
            <a:lum contrast="30000"/>
          </a:blip>
          <a:srcRect/>
          <a:stretch>
            <a:fillRect/>
          </a:stretch>
        </p:blipFill>
        <p:spPr bwMode="auto">
          <a:xfrm>
            <a:off x="3286116" y="4143380"/>
            <a:ext cx="2391692" cy="1919111"/>
          </a:xfrm>
          <a:prstGeom prst="rect">
            <a:avLst/>
          </a:prstGeom>
          <a:noFill/>
          <a:ln w="9525">
            <a:noFill/>
            <a:miter lim="800000"/>
            <a:headEnd/>
            <a:tailEnd/>
          </a:ln>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100</a:t>
            </a:fld>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33424" y="1357298"/>
            <a:ext cx="7467600" cy="4953000"/>
          </a:xfrm>
        </p:spPr>
        <p:txBody>
          <a:bodyPr>
            <a:normAutofit fontScale="92500"/>
          </a:bodyPr>
          <a:lstStyle/>
          <a:p>
            <a:pPr marL="0">
              <a:spcBef>
                <a:spcPts val="600"/>
              </a:spcBef>
              <a:spcAft>
                <a:spcPts val="600"/>
              </a:spcAft>
              <a:buNone/>
            </a:pPr>
            <a:r>
              <a:rPr lang="en-AU" sz="2400" b="1" dirty="0" smtClean="0"/>
              <a:t>Asking questions</a:t>
            </a:r>
          </a:p>
          <a:p>
            <a:pPr lvl="0">
              <a:spcBef>
                <a:spcPts val="600"/>
              </a:spcBef>
              <a:spcAft>
                <a:spcPts val="600"/>
              </a:spcAft>
            </a:pPr>
            <a:r>
              <a:rPr lang="en-AU" sz="2400" dirty="0" smtClean="0"/>
              <a:t>Do they prefer, or are they looking for, a red or a white? </a:t>
            </a:r>
          </a:p>
          <a:p>
            <a:pPr lvl="0">
              <a:spcBef>
                <a:spcPts val="600"/>
              </a:spcBef>
              <a:spcAft>
                <a:spcPts val="600"/>
              </a:spcAft>
            </a:pPr>
            <a:r>
              <a:rPr lang="en-AU" sz="2400" dirty="0" smtClean="0"/>
              <a:t>Do they want a wine from a selected country? </a:t>
            </a:r>
          </a:p>
          <a:p>
            <a:pPr lvl="0">
              <a:spcBef>
                <a:spcPts val="600"/>
              </a:spcBef>
              <a:spcAft>
                <a:spcPts val="600"/>
              </a:spcAft>
            </a:pPr>
            <a:r>
              <a:rPr lang="en-AU" sz="2400" dirty="0" smtClean="0"/>
              <a:t>If they are looking for a white wine, do they prefer or want a sweet or dry one? </a:t>
            </a:r>
          </a:p>
          <a:p>
            <a:pPr lvl="0">
              <a:spcBef>
                <a:spcPts val="600"/>
              </a:spcBef>
              <a:spcAft>
                <a:spcPts val="600"/>
              </a:spcAft>
            </a:pPr>
            <a:r>
              <a:rPr lang="en-AU" sz="2400" dirty="0" smtClean="0"/>
              <a:t>If they are after a red wine, do they want a full- or light-bodied one? </a:t>
            </a:r>
          </a:p>
          <a:p>
            <a:pPr lvl="0">
              <a:spcBef>
                <a:spcPts val="600"/>
              </a:spcBef>
              <a:spcAft>
                <a:spcPts val="600"/>
              </a:spcAft>
            </a:pPr>
            <a:r>
              <a:rPr lang="en-AU" sz="2400" dirty="0" smtClean="0"/>
              <a:t>Do they have a preference for a particular grape variety, growing region, or winery? </a:t>
            </a:r>
          </a:p>
          <a:p>
            <a:pPr lvl="0">
              <a:spcBef>
                <a:spcPts val="600"/>
              </a:spcBef>
              <a:spcAft>
                <a:spcPts val="600"/>
              </a:spcAft>
            </a:pPr>
            <a:r>
              <a:rPr lang="en-AU" sz="2400" dirty="0" smtClean="0"/>
              <a:t>How much do they wish to spend? </a:t>
            </a:r>
          </a:p>
          <a:p>
            <a:pPr lvl="0">
              <a:spcBef>
                <a:spcPts val="600"/>
              </a:spcBef>
              <a:spcAft>
                <a:spcPts val="600"/>
              </a:spcAft>
            </a:pPr>
            <a:r>
              <a:rPr lang="en-AU" sz="2400" dirty="0" smtClean="0"/>
              <a:t>What is the wine to be consumed with? </a:t>
            </a:r>
          </a:p>
          <a:p>
            <a:pPr marL="0">
              <a:spcBef>
                <a:spcPts val="600"/>
              </a:spcBef>
              <a:spcAft>
                <a:spcPts val="1200"/>
              </a:spcAft>
              <a:buNone/>
            </a:pPr>
            <a:endParaRPr lang="en-AU" sz="2200" dirty="0" smtClean="0"/>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Provide wine advice</a:t>
            </a:r>
          </a:p>
        </p:txBody>
      </p:sp>
      <p:pic>
        <p:nvPicPr>
          <p:cNvPr id="19458" name="Picture 2" descr="C:\Documents and Settings\danielc\Desktop\Serve a range of wine products images\freeimage-2326289.jpg"/>
          <p:cNvPicPr>
            <a:picLocks noChangeAspect="1" noChangeArrowheads="1"/>
          </p:cNvPicPr>
          <p:nvPr/>
        </p:nvPicPr>
        <p:blipFill>
          <a:blip r:embed="rId3" cstate="print"/>
          <a:srcRect/>
          <a:stretch>
            <a:fillRect/>
          </a:stretch>
        </p:blipFill>
        <p:spPr bwMode="auto">
          <a:xfrm>
            <a:off x="7215206" y="4286256"/>
            <a:ext cx="1410048" cy="2115074"/>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101</a:t>
            </a:fld>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Provide wine advice</a:t>
            </a:r>
          </a:p>
        </p:txBody>
      </p:sp>
      <p:sp>
        <p:nvSpPr>
          <p:cNvPr id="3" name="Content Placeholder 2"/>
          <p:cNvSpPr>
            <a:spLocks noGrp="1"/>
          </p:cNvSpPr>
          <p:nvPr>
            <p:ph idx="1"/>
          </p:nvPr>
        </p:nvSpPr>
        <p:spPr>
          <a:xfrm>
            <a:off x="611560" y="1556792"/>
            <a:ext cx="7467600" cy="4767808"/>
          </a:xfrm>
        </p:spPr>
        <p:txBody>
          <a:bodyPr>
            <a:normAutofit/>
          </a:bodyPr>
          <a:lstStyle/>
          <a:p>
            <a:pPr>
              <a:spcBef>
                <a:spcPts val="600"/>
              </a:spcBef>
              <a:spcAft>
                <a:spcPts val="1200"/>
              </a:spcAft>
              <a:buNone/>
            </a:pPr>
            <a:r>
              <a:rPr lang="en-AU" sz="2200" b="1" dirty="0" smtClean="0"/>
              <a:t>Giving general assistance</a:t>
            </a:r>
            <a:endParaRPr lang="en-AU" sz="2200" dirty="0" smtClean="0"/>
          </a:p>
          <a:p>
            <a:pPr marL="0">
              <a:spcBef>
                <a:spcPts val="600"/>
              </a:spcBef>
              <a:spcAft>
                <a:spcPts val="1200"/>
              </a:spcAft>
              <a:buNone/>
            </a:pPr>
            <a:r>
              <a:rPr lang="en-AU" sz="2200" dirty="0" smtClean="0"/>
              <a:t>The most common form of assistance to be provided will evolve around helping to clarify:</a:t>
            </a:r>
          </a:p>
          <a:p>
            <a:pPr lvl="0">
              <a:spcBef>
                <a:spcPts val="600"/>
              </a:spcBef>
              <a:spcAft>
                <a:spcPts val="1200"/>
              </a:spcAft>
            </a:pPr>
            <a:r>
              <a:rPr lang="en-AU" sz="2200" dirty="0" smtClean="0"/>
              <a:t>Compatibility </a:t>
            </a:r>
            <a:r>
              <a:rPr lang="en-AU" sz="2200" dirty="0" smtClean="0"/>
              <a:t>of food and wine choices</a:t>
            </a:r>
          </a:p>
          <a:p>
            <a:pPr lvl="0">
              <a:spcBef>
                <a:spcPts val="600"/>
              </a:spcBef>
              <a:spcAft>
                <a:spcPts val="1200"/>
              </a:spcAft>
            </a:pPr>
            <a:r>
              <a:rPr lang="en-AU" sz="2200" dirty="0" smtClean="0"/>
              <a:t>Interpretation of wines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7" name="Picture 6" descr="MP900410119[1].JPG"/>
          <p:cNvPicPr/>
          <p:nvPr/>
        </p:nvPicPr>
        <p:blipFill>
          <a:blip r:embed="rId3" cstate="print">
            <a:grayscl/>
          </a:blip>
          <a:stretch>
            <a:fillRect/>
          </a:stretch>
        </p:blipFill>
        <p:spPr>
          <a:xfrm>
            <a:off x="6143636" y="3000372"/>
            <a:ext cx="2133600" cy="1509713"/>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528638" y="1476396"/>
            <a:ext cx="7758138" cy="4953000"/>
          </a:xfrm>
        </p:spPr>
        <p:txBody>
          <a:bodyPr>
            <a:normAutofit/>
          </a:bodyPr>
          <a:lstStyle/>
          <a:p>
            <a:pPr marL="0">
              <a:spcBef>
                <a:spcPts val="600"/>
              </a:spcBef>
              <a:spcAft>
                <a:spcPts val="600"/>
              </a:spcAft>
              <a:buNone/>
            </a:pPr>
            <a:r>
              <a:rPr lang="en-AU" sz="2200" b="1" dirty="0" smtClean="0"/>
              <a:t>Advise customers on appropriate wine and food choices </a:t>
            </a:r>
            <a:endParaRPr lang="en-AU" sz="2200" dirty="0" smtClean="0"/>
          </a:p>
          <a:p>
            <a:pPr marL="0">
              <a:spcBef>
                <a:spcPts val="600"/>
              </a:spcBef>
              <a:spcAft>
                <a:spcPts val="600"/>
              </a:spcAft>
              <a:buNone/>
            </a:pPr>
            <a:r>
              <a:rPr lang="en-AU" sz="2200" dirty="0" smtClean="0"/>
              <a:t>Information can be gained from:</a:t>
            </a:r>
          </a:p>
          <a:p>
            <a:pPr>
              <a:spcBef>
                <a:spcPts val="600"/>
              </a:spcBef>
              <a:spcAft>
                <a:spcPts val="600"/>
              </a:spcAft>
            </a:pPr>
            <a:r>
              <a:rPr lang="en-AU" sz="2200" dirty="0" smtClean="0"/>
              <a:t>Winemakers </a:t>
            </a:r>
          </a:p>
          <a:p>
            <a:pPr>
              <a:spcBef>
                <a:spcPts val="600"/>
              </a:spcBef>
              <a:spcAft>
                <a:spcPts val="600"/>
              </a:spcAft>
            </a:pPr>
            <a:r>
              <a:rPr lang="en-AU" sz="2200" dirty="0" smtClean="0"/>
              <a:t>Reading wine labels </a:t>
            </a:r>
          </a:p>
          <a:p>
            <a:pPr marL="0">
              <a:spcBef>
                <a:spcPts val="600"/>
              </a:spcBef>
              <a:spcAft>
                <a:spcPts val="600"/>
              </a:spcAft>
            </a:pPr>
            <a:r>
              <a:rPr lang="en-AU" sz="2200" dirty="0" smtClean="0"/>
              <a:t>Wine literature </a:t>
            </a:r>
          </a:p>
          <a:p>
            <a:pPr marL="0">
              <a:spcBef>
                <a:spcPts val="600"/>
              </a:spcBef>
              <a:spcAft>
                <a:spcPts val="600"/>
              </a:spcAft>
            </a:pPr>
            <a:r>
              <a:rPr lang="en-AU" sz="2200" dirty="0" smtClean="0"/>
              <a:t>Asking others </a:t>
            </a:r>
          </a:p>
          <a:p>
            <a:pPr marL="0">
              <a:spcBef>
                <a:spcPts val="600"/>
              </a:spcBef>
              <a:spcAft>
                <a:spcPts val="600"/>
              </a:spcAft>
            </a:pPr>
            <a:r>
              <a:rPr lang="en-AU" sz="2200" dirty="0" smtClean="0"/>
              <a:t>Conducting research</a:t>
            </a:r>
          </a:p>
          <a:p>
            <a:pPr marL="0">
              <a:spcBef>
                <a:spcPts val="600"/>
              </a:spcBef>
              <a:spcAft>
                <a:spcPts val="600"/>
              </a:spcAft>
            </a:pPr>
            <a:r>
              <a:rPr lang="en-AU" sz="2200" dirty="0" smtClean="0"/>
              <a:t>Conducting wine tastings</a:t>
            </a:r>
          </a:p>
          <a:p>
            <a:pPr>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200" dirty="0"/>
          </a:p>
        </p:txBody>
      </p:sp>
      <p:sp>
        <p:nvSpPr>
          <p:cNvPr id="7"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Provide wine advice</a:t>
            </a:r>
          </a:p>
        </p:txBody>
      </p:sp>
      <p:pic>
        <p:nvPicPr>
          <p:cNvPr id="20483" name="Picture 3" descr="C:\Documents and Settings\danielc\Desktop\Serve a range of wine products images\483607_wine.jpg"/>
          <p:cNvPicPr>
            <a:picLocks noChangeAspect="1" noChangeArrowheads="1"/>
          </p:cNvPicPr>
          <p:nvPr/>
        </p:nvPicPr>
        <p:blipFill>
          <a:blip r:embed="rId3" cstate="print"/>
          <a:srcRect/>
          <a:stretch>
            <a:fillRect/>
          </a:stretch>
        </p:blipFill>
        <p:spPr bwMode="auto">
          <a:xfrm rot="16200000">
            <a:off x="5723940" y="3062878"/>
            <a:ext cx="2214561" cy="1660921"/>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103</a:t>
            </a:fld>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48" name="Group 36"/>
          <p:cNvGraphicFramePr>
            <a:graphicFrameLocks noGrp="1"/>
          </p:cNvGraphicFramePr>
          <p:nvPr>
            <p:ph idx="1"/>
          </p:nvPr>
        </p:nvGraphicFramePr>
        <p:xfrm>
          <a:off x="642910" y="1500174"/>
          <a:ext cx="7553348" cy="3609023"/>
        </p:xfrm>
        <a:graphic>
          <a:graphicData uri="http://schemas.openxmlformats.org/drawingml/2006/table">
            <a:tbl>
              <a:tblPr/>
              <a:tblGrid>
                <a:gridCol w="3429024"/>
                <a:gridCol w="4124324"/>
              </a:tblGrid>
              <a:tr h="4238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1" i="0" u="none" strike="noStrike" cap="none" normalizeH="0" baseline="0" dirty="0" smtClean="0">
                          <a:ln>
                            <a:noFill/>
                          </a:ln>
                          <a:solidFill>
                            <a:schemeClr val="bg1"/>
                          </a:solidFill>
                          <a:effectLst/>
                          <a:latin typeface="Helvetica" pitchFamily="34" charset="0"/>
                          <a:ea typeface="MS PGothic" pitchFamily="34" charset="-128"/>
                        </a:rPr>
                        <a:t>WINE TYPES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1" i="0" u="none" strike="noStrike" cap="none" normalizeH="0" baseline="0" dirty="0" smtClean="0">
                          <a:ln>
                            <a:noFill/>
                          </a:ln>
                          <a:solidFill>
                            <a:schemeClr val="bg1"/>
                          </a:solidFill>
                          <a:effectLst/>
                          <a:latin typeface="Helvetica" pitchFamily="34" charset="0"/>
                          <a:ea typeface="MS PGothic" pitchFamily="34" charset="-128"/>
                        </a:rPr>
                        <a:t>FOOD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White Wine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White Meat: Chicken</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Seafood: Fish, Salmon</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Spicy Food</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Pasta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Red Wine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Red Meat: Beef, Lamb, </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Dark White Meat: Duck, Turkey</a:t>
                      </a:r>
                    </a:p>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Pasta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85800">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Sparkling Wine / Champagne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1900" b="0" i="0" u="none" strike="noStrike" cap="none" normalizeH="0" baseline="0" dirty="0" smtClean="0">
                          <a:ln>
                            <a:noFill/>
                          </a:ln>
                          <a:solidFill>
                            <a:schemeClr val="tx1"/>
                          </a:solidFill>
                          <a:effectLst/>
                          <a:latin typeface="Helvetica" pitchFamily="34" charset="0"/>
                          <a:ea typeface="MS PGothic" pitchFamily="34" charset="-128"/>
                        </a:rPr>
                        <a:t>Strawberries, Seafood, Fruit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Title 1"/>
          <p:cNvSpPr txBox="1">
            <a:spLocks/>
          </p:cNvSpPr>
          <p:nvPr/>
        </p:nvSpPr>
        <p:spPr>
          <a:xfrm>
            <a:off x="611560" y="332656"/>
            <a:ext cx="7999040" cy="1143000"/>
          </a:xfrm>
          <a:prstGeom prst="rect">
            <a:avLst/>
          </a:prstGeom>
        </p:spPr>
        <p:txBody>
          <a:bodyPr vert="horz" lIns="45720" rIns="4572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AU" sz="3400" b="1" dirty="0" smtClean="0">
                <a:solidFill>
                  <a:srgbClr val="FF6600"/>
                </a:solidFill>
                <a:latin typeface="Helvetica" pitchFamily="34" charset="0"/>
                <a:ea typeface="+mj-ea"/>
                <a:cs typeface="+mj-cs"/>
              </a:rPr>
              <a:t>Food and wine combinations</a:t>
            </a:r>
            <a:endParaRPr kumimoji="0" lang="en-AU" sz="3400" b="1" i="0" u="none" strike="noStrike" kern="1200" cap="none" spc="0" normalizeH="0" baseline="0" noProof="0" dirty="0" smtClean="0">
              <a:ln>
                <a:noFill/>
              </a:ln>
              <a:solidFill>
                <a:srgbClr val="FF6600"/>
              </a:solidFill>
              <a:effectLst/>
              <a:uLnTx/>
              <a:uFillTx/>
              <a:latin typeface="Helvetica" pitchFamily="34" charset="0"/>
              <a:ea typeface="+mj-ea"/>
              <a:cs typeface="+mj-cs"/>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104</a:t>
            </a:fld>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4548" name="Group 36"/>
          <p:cNvGraphicFramePr>
            <a:graphicFrameLocks noGrp="1"/>
          </p:cNvGraphicFramePr>
          <p:nvPr>
            <p:ph idx="1"/>
          </p:nvPr>
        </p:nvGraphicFramePr>
        <p:xfrm>
          <a:off x="642910" y="1500174"/>
          <a:ext cx="7786742" cy="4788599"/>
        </p:xfrm>
        <a:graphic>
          <a:graphicData uri="http://schemas.openxmlformats.org/drawingml/2006/table">
            <a:tbl>
              <a:tblPr/>
              <a:tblGrid>
                <a:gridCol w="5835045"/>
                <a:gridCol w="1951697"/>
              </a:tblGrid>
              <a:tr h="423863">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000" b="1" i="0" u="none" strike="noStrike" cap="none" normalizeH="0" baseline="0" dirty="0" smtClean="0">
                          <a:ln>
                            <a:noFill/>
                          </a:ln>
                          <a:solidFill>
                            <a:schemeClr val="bg1"/>
                          </a:solidFill>
                          <a:effectLst/>
                          <a:latin typeface="Helvetica" pitchFamily="34" charset="0"/>
                          <a:ea typeface="MS PGothic" pitchFamily="34" charset="-128"/>
                        </a:rPr>
                        <a:t>WINE TYPES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AU" sz="2000" b="1" i="0" u="none" strike="noStrike" cap="none" normalizeH="0" baseline="0" dirty="0" smtClean="0">
                          <a:ln>
                            <a:noFill/>
                          </a:ln>
                          <a:solidFill>
                            <a:schemeClr val="bg1"/>
                          </a:solidFill>
                          <a:effectLst/>
                          <a:latin typeface="Helvetica" pitchFamily="34" charset="0"/>
                          <a:ea typeface="MS PGothic" pitchFamily="34" charset="-128"/>
                        </a:rPr>
                        <a:t>FOOD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6600"/>
                    </a:solidFill>
                  </a:tcPr>
                </a:tc>
              </a:tr>
              <a:tr h="498348">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Chenin </a:t>
                      </a:r>
                      <a:r>
                        <a:rPr lang="en-AU" sz="1900" dirty="0" smtClean="0">
                          <a:latin typeface="Helvetica" pitchFamily="34" charset="0"/>
                          <a:ea typeface="Times New Roman"/>
                          <a:cs typeface="HelveticaNeueLTStd-Lt"/>
                        </a:rPr>
                        <a:t>Blanc</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Verdelho, </a:t>
                      </a:r>
                      <a:r>
                        <a:rPr lang="en-AU" sz="1900" dirty="0">
                          <a:latin typeface="Helvetica" pitchFamily="34" charset="0"/>
                          <a:ea typeface="Times New Roman"/>
                          <a:cs typeface="HelveticaNeueLTStd-Lt"/>
                        </a:rPr>
                        <a:t>C</a:t>
                      </a:r>
                      <a:r>
                        <a:rPr lang="en-AU" sz="1900" dirty="0" smtClean="0">
                          <a:latin typeface="Helvetica" pitchFamily="34" charset="0"/>
                          <a:ea typeface="Times New Roman"/>
                          <a:cs typeface="HelveticaNeueLTStd-Lt"/>
                        </a:rPr>
                        <a:t>hardonnay</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Riesling</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Salads</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Chardonnay, </a:t>
                      </a:r>
                      <a:r>
                        <a:rPr lang="en-AU" sz="1900" dirty="0" smtClean="0">
                          <a:latin typeface="Helvetica" pitchFamily="34" charset="0"/>
                          <a:ea typeface="Times New Roman"/>
                          <a:cs typeface="HelveticaNeueLTStd-Lt"/>
                        </a:rPr>
                        <a:t>Rosé</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Antipasto</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Semillon, </a:t>
                      </a:r>
                      <a:r>
                        <a:rPr lang="en-AU" sz="1900" dirty="0" smtClean="0">
                          <a:latin typeface="Helvetica" pitchFamily="34" charset="0"/>
                          <a:ea typeface="Times New Roman"/>
                          <a:cs typeface="HelveticaNeueLTStd-Lt"/>
                        </a:rPr>
                        <a:t>Sauvignon </a:t>
                      </a:r>
                      <a:r>
                        <a:rPr lang="en-AU" sz="1900" dirty="0">
                          <a:latin typeface="Helvetica" pitchFamily="34" charset="0"/>
                          <a:ea typeface="Times New Roman"/>
                          <a:cs typeface="HelveticaNeueLTStd-Lt"/>
                        </a:rPr>
                        <a:t>B</a:t>
                      </a:r>
                      <a:r>
                        <a:rPr lang="en-AU" sz="1900" dirty="0" smtClean="0">
                          <a:latin typeface="Helvetica" pitchFamily="34" charset="0"/>
                          <a:ea typeface="Times New Roman"/>
                          <a:cs typeface="HelveticaNeueLTStd-Lt"/>
                        </a:rPr>
                        <a:t>lanc</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Riesling</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Seafood</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Cabernet </a:t>
                      </a:r>
                      <a:r>
                        <a:rPr lang="en-AU" sz="1900" dirty="0" smtClean="0">
                          <a:latin typeface="Helvetica" pitchFamily="34" charset="0"/>
                          <a:ea typeface="Times New Roman"/>
                          <a:cs typeface="HelveticaNeueLTStd-Lt"/>
                        </a:rPr>
                        <a:t>Sauvignon</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Shiraz</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Chardonnay</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Semillon</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Game</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Cabernet </a:t>
                      </a:r>
                      <a:r>
                        <a:rPr lang="en-AU" sz="1900" dirty="0" smtClean="0">
                          <a:latin typeface="Helvetica" pitchFamily="34" charset="0"/>
                          <a:ea typeface="Times New Roman"/>
                          <a:cs typeface="HelveticaNeueLTStd-Lt"/>
                        </a:rPr>
                        <a:t>Merlot</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Cabernet </a:t>
                      </a:r>
                      <a:r>
                        <a:rPr lang="en-AU" sz="1900" dirty="0">
                          <a:latin typeface="Helvetica" pitchFamily="34" charset="0"/>
                          <a:ea typeface="Times New Roman"/>
                          <a:cs typeface="HelveticaNeueLTStd-Lt"/>
                        </a:rPr>
                        <a:t>S</a:t>
                      </a:r>
                      <a:r>
                        <a:rPr lang="en-AU" sz="1900" dirty="0" smtClean="0">
                          <a:latin typeface="Helvetica" pitchFamily="34" charset="0"/>
                          <a:ea typeface="Times New Roman"/>
                          <a:cs typeface="HelveticaNeueLTStd-Lt"/>
                        </a:rPr>
                        <a:t>auvignon</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Shiraz</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Malbec</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Red meat</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Chardonnay, </a:t>
                      </a:r>
                      <a:r>
                        <a:rPr lang="en-AU" sz="1900" dirty="0" smtClean="0">
                          <a:latin typeface="Helvetica" pitchFamily="34" charset="0"/>
                          <a:ea typeface="Times New Roman"/>
                          <a:cs typeface="HelveticaNeueLTStd-Lt"/>
                        </a:rPr>
                        <a:t>Chenin </a:t>
                      </a:r>
                      <a:r>
                        <a:rPr lang="en-AU" sz="1900" dirty="0">
                          <a:latin typeface="Helvetica" pitchFamily="34" charset="0"/>
                          <a:ea typeface="Times New Roman"/>
                          <a:cs typeface="HelveticaNeueLTStd-Lt"/>
                        </a:rPr>
                        <a:t>B</a:t>
                      </a:r>
                      <a:r>
                        <a:rPr lang="en-AU" sz="1900" dirty="0" smtClean="0">
                          <a:latin typeface="Helvetica" pitchFamily="34" charset="0"/>
                          <a:ea typeface="Times New Roman"/>
                          <a:cs typeface="HelveticaNeueLTStd-Lt"/>
                        </a:rPr>
                        <a:t>lanc</a:t>
                      </a:r>
                      <a:r>
                        <a:rPr lang="en-AU" sz="1900" dirty="0">
                          <a:latin typeface="Helvetica" pitchFamily="34" charset="0"/>
                          <a:ea typeface="Times New Roman"/>
                          <a:cs typeface="HelveticaNeueLTStd-Lt"/>
                        </a:rPr>
                        <a:t>, </a:t>
                      </a:r>
                      <a:r>
                        <a:rPr lang="en-AU" sz="1900" dirty="0" smtClean="0">
                          <a:latin typeface="Helvetica" pitchFamily="34" charset="0"/>
                          <a:ea typeface="Times New Roman"/>
                          <a:cs typeface="HelveticaNeueLTStd-Lt"/>
                        </a:rPr>
                        <a:t>Verdelho</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Poultry</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Chardonnay, </a:t>
                      </a:r>
                      <a:r>
                        <a:rPr lang="en-AU" sz="1900" dirty="0" smtClean="0">
                          <a:latin typeface="Helvetica" pitchFamily="34" charset="0"/>
                          <a:ea typeface="Times New Roman"/>
                          <a:cs typeface="HelveticaNeueLTStd-Lt"/>
                        </a:rPr>
                        <a:t>Riesling, </a:t>
                      </a:r>
                      <a:r>
                        <a:rPr lang="en-AU" sz="1900" dirty="0">
                          <a:latin typeface="Helvetica" pitchFamily="34" charset="0"/>
                          <a:ea typeface="Times New Roman"/>
                          <a:cs typeface="HelveticaNeueLTStd-Lt"/>
                        </a:rPr>
                        <a:t>S</a:t>
                      </a:r>
                      <a:r>
                        <a:rPr lang="en-AU" sz="1900" dirty="0" smtClean="0">
                          <a:latin typeface="Helvetica" pitchFamily="34" charset="0"/>
                          <a:ea typeface="Times New Roman"/>
                          <a:cs typeface="HelveticaNeueLTStd-Lt"/>
                        </a:rPr>
                        <a:t>hiraz</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Pasta</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Cabernet </a:t>
                      </a:r>
                      <a:r>
                        <a:rPr lang="en-AU" sz="1900" dirty="0" smtClean="0">
                          <a:latin typeface="Helvetica" pitchFamily="34" charset="0"/>
                          <a:ea typeface="Times New Roman"/>
                          <a:cs typeface="HelveticaNeueLTStd-Lt"/>
                        </a:rPr>
                        <a:t>Merlot</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Cheese platters</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1000">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Dessert wines</a:t>
                      </a:r>
                      <a:endParaRPr lang="en-AU" sz="1900" dirty="0">
                        <a:latin typeface="Helvetica" pitchFamily="34" charset="0"/>
                        <a:ea typeface="Times New Roman"/>
                        <a:cs typeface="Times New Roman"/>
                      </a:endParaRPr>
                    </a:p>
                  </a:txBody>
                  <a:tcPr marL="68580" marR="68580" marT="0" marB="0">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a:lnSpc>
                          <a:spcPct val="115000"/>
                        </a:lnSpc>
                        <a:spcBef>
                          <a:spcPts val="400"/>
                        </a:spcBef>
                        <a:spcAft>
                          <a:spcPts val="600"/>
                        </a:spcAft>
                      </a:pPr>
                      <a:r>
                        <a:rPr lang="en-AU" sz="1900" dirty="0">
                          <a:latin typeface="Helvetica" pitchFamily="34" charset="0"/>
                          <a:ea typeface="Times New Roman"/>
                          <a:cs typeface="HelveticaNeueLTStd-Lt"/>
                        </a:rPr>
                        <a:t>Desserts</a:t>
                      </a:r>
                      <a:endParaRPr lang="en-AU" sz="1900" dirty="0">
                        <a:latin typeface="Helvetica" pitchFamily="34" charset="0"/>
                        <a:ea typeface="Times New Roman"/>
                        <a:cs typeface="Times New Roman"/>
                      </a:endParaRPr>
                    </a:p>
                  </a:txBody>
                  <a:tcPr marL="68580" marR="68580" marT="0" marB="0">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Title 1"/>
          <p:cNvSpPr txBox="1">
            <a:spLocks/>
          </p:cNvSpPr>
          <p:nvPr/>
        </p:nvSpPr>
        <p:spPr>
          <a:xfrm>
            <a:off x="611560" y="332656"/>
            <a:ext cx="7999040" cy="1143000"/>
          </a:xfrm>
          <a:prstGeom prst="rect">
            <a:avLst/>
          </a:prstGeom>
        </p:spPr>
        <p:txBody>
          <a:bodyPr vert="horz" lIns="45720" rIns="4572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AU" sz="3400" b="1" dirty="0" smtClean="0">
                <a:solidFill>
                  <a:srgbClr val="FF6600"/>
                </a:solidFill>
                <a:latin typeface="Helvetica" pitchFamily="34" charset="0"/>
                <a:ea typeface="+mj-ea"/>
                <a:cs typeface="+mj-cs"/>
              </a:rPr>
              <a:t>Food and wine combinations</a:t>
            </a:r>
            <a:endParaRPr kumimoji="0" lang="en-AU" sz="3400" b="1" i="0" u="none" strike="noStrike" kern="1200" cap="none" spc="0" normalizeH="0" baseline="0" noProof="0" dirty="0" smtClean="0">
              <a:ln>
                <a:noFill/>
              </a:ln>
              <a:solidFill>
                <a:srgbClr val="FF6600"/>
              </a:solidFill>
              <a:effectLst/>
              <a:uLnTx/>
              <a:uFillTx/>
              <a:latin typeface="Helvetica" pitchFamily="34" charset="0"/>
              <a:ea typeface="+mj-ea"/>
              <a:cs typeface="+mj-cs"/>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105</a:t>
            </a:fld>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Answering customer questions</a:t>
            </a:r>
          </a:p>
        </p:txBody>
      </p:sp>
      <p:sp>
        <p:nvSpPr>
          <p:cNvPr id="3" name="Content Placeholder 2"/>
          <p:cNvSpPr>
            <a:spLocks noGrp="1"/>
          </p:cNvSpPr>
          <p:nvPr>
            <p:ph idx="1"/>
          </p:nvPr>
        </p:nvSpPr>
        <p:spPr>
          <a:xfrm>
            <a:off x="611560" y="1556792"/>
            <a:ext cx="7467600" cy="4767808"/>
          </a:xfrm>
        </p:spPr>
        <p:txBody>
          <a:bodyPr>
            <a:normAutofit/>
          </a:bodyPr>
          <a:lstStyle/>
          <a:p>
            <a:pPr>
              <a:spcBef>
                <a:spcPts val="600"/>
              </a:spcBef>
              <a:spcAft>
                <a:spcPts val="1200"/>
              </a:spcAft>
              <a:buNone/>
            </a:pPr>
            <a:r>
              <a:rPr lang="en-AU" sz="2200" b="1" dirty="0" smtClean="0"/>
              <a:t>Handling common wine related requests </a:t>
            </a:r>
          </a:p>
          <a:p>
            <a:pPr lvl="0">
              <a:spcBef>
                <a:spcPts val="600"/>
              </a:spcBef>
              <a:spcAft>
                <a:spcPts val="1200"/>
              </a:spcAft>
            </a:pPr>
            <a:r>
              <a:rPr lang="en-AU" sz="2200" dirty="0" smtClean="0"/>
              <a:t>What </a:t>
            </a:r>
            <a:r>
              <a:rPr lang="en-AU" sz="2200" dirty="0" smtClean="0"/>
              <a:t>are common wine related questions customers may have?</a:t>
            </a:r>
          </a:p>
          <a:p>
            <a:pPr lvl="0">
              <a:spcBef>
                <a:spcPts val="600"/>
              </a:spcBef>
              <a:spcAft>
                <a:spcPts val="1200"/>
              </a:spcAft>
            </a:pPr>
            <a:r>
              <a:rPr lang="en-AU" sz="2200" dirty="0" smtClean="0"/>
              <a:t>How should you handle the requests?</a:t>
            </a:r>
          </a:p>
          <a:p>
            <a:pPr>
              <a:spcBef>
                <a:spcPts val="600"/>
              </a:spcBef>
              <a:spcAft>
                <a:spcPts val="1200"/>
              </a:spcAft>
            </a:pPr>
            <a:r>
              <a:rPr lang="en-AU" sz="2200" dirty="0" smtClean="0"/>
              <a:t>How can you anticipate these requests?</a:t>
            </a:r>
          </a:p>
          <a:p>
            <a:pPr lvl="0">
              <a:spcBef>
                <a:spcPts val="600"/>
              </a:spcBef>
              <a:spcAft>
                <a:spcPts val="1200"/>
              </a:spcAft>
            </a:pPr>
            <a:endParaRPr lang="en-AU" sz="2200" b="1" dirty="0" smtClean="0"/>
          </a:p>
          <a:p>
            <a:pPr lvl="0">
              <a:spcBef>
                <a:spcPts val="600"/>
              </a:spcBef>
              <a:spcAft>
                <a:spcPts val="1200"/>
              </a:spcAft>
            </a:pPr>
            <a:endParaRPr lang="en-AU" sz="22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19458" name="Picture 2" descr="I:\Overseas Projects\PHOTOS\2012\Office\CUMULUS-045.jpg"/>
          <p:cNvPicPr>
            <a:picLocks noChangeAspect="1" noChangeArrowheads="1"/>
          </p:cNvPicPr>
          <p:nvPr/>
        </p:nvPicPr>
        <p:blipFill>
          <a:blip r:embed="rId3" cstate="print"/>
          <a:srcRect/>
          <a:stretch>
            <a:fillRect/>
          </a:stretch>
        </p:blipFill>
        <p:spPr bwMode="auto">
          <a:xfrm>
            <a:off x="6336218" y="2924944"/>
            <a:ext cx="1934839" cy="1289623"/>
          </a:xfrm>
          <a:prstGeom prst="rect">
            <a:avLst/>
          </a:prstGeom>
          <a:noFill/>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Answering customer questions</a:t>
            </a:r>
          </a:p>
        </p:txBody>
      </p:sp>
      <p:sp>
        <p:nvSpPr>
          <p:cNvPr id="3" name="Content Placeholder 2"/>
          <p:cNvSpPr>
            <a:spLocks noGrp="1"/>
          </p:cNvSpPr>
          <p:nvPr>
            <p:ph idx="1"/>
          </p:nvPr>
        </p:nvSpPr>
        <p:spPr>
          <a:xfrm>
            <a:off x="611560" y="1556792"/>
            <a:ext cx="7467600" cy="4767808"/>
          </a:xfrm>
        </p:spPr>
        <p:txBody>
          <a:bodyPr>
            <a:normAutofit lnSpcReduction="10000"/>
          </a:bodyPr>
          <a:lstStyle/>
          <a:p>
            <a:pPr>
              <a:spcBef>
                <a:spcPts val="600"/>
              </a:spcBef>
              <a:spcAft>
                <a:spcPts val="600"/>
              </a:spcAft>
              <a:buNone/>
            </a:pPr>
            <a:r>
              <a:rPr lang="en-AU" sz="2200" b="1" dirty="0" smtClean="0"/>
              <a:t>Guidelines for answering questions </a:t>
            </a:r>
          </a:p>
          <a:p>
            <a:pPr lvl="0">
              <a:spcBef>
                <a:spcPts val="600"/>
              </a:spcBef>
              <a:spcAft>
                <a:spcPts val="600"/>
              </a:spcAft>
            </a:pPr>
            <a:r>
              <a:rPr lang="en-AU" sz="2200" dirty="0" smtClean="0"/>
              <a:t>Be honest in your responses </a:t>
            </a:r>
          </a:p>
          <a:p>
            <a:pPr lvl="0">
              <a:spcBef>
                <a:spcPts val="600"/>
              </a:spcBef>
              <a:spcAft>
                <a:spcPts val="600"/>
              </a:spcAft>
            </a:pPr>
            <a:r>
              <a:rPr lang="en-AU" sz="2200" dirty="0" smtClean="0"/>
              <a:t>Use terms and descriptions that match the customer level of wine knowledge </a:t>
            </a:r>
          </a:p>
          <a:p>
            <a:pPr lvl="0">
              <a:spcBef>
                <a:spcPts val="600"/>
              </a:spcBef>
              <a:spcAft>
                <a:spcPts val="600"/>
              </a:spcAft>
            </a:pPr>
            <a:r>
              <a:rPr lang="en-AU" sz="2200" dirty="0" smtClean="0"/>
              <a:t>Accompany your responses with additional </a:t>
            </a:r>
            <a:br>
              <a:rPr lang="en-AU" sz="2200" dirty="0" smtClean="0"/>
            </a:br>
            <a:r>
              <a:rPr lang="en-AU" sz="2200" dirty="0" smtClean="0"/>
              <a:t>information </a:t>
            </a:r>
          </a:p>
          <a:p>
            <a:pPr lvl="0">
              <a:spcBef>
                <a:spcPts val="600"/>
              </a:spcBef>
              <a:spcAft>
                <a:spcPts val="600"/>
              </a:spcAft>
            </a:pPr>
            <a:r>
              <a:rPr lang="en-AU" sz="2200" dirty="0" smtClean="0"/>
              <a:t>Don’t rush the answer </a:t>
            </a:r>
          </a:p>
          <a:p>
            <a:pPr lvl="0">
              <a:spcBef>
                <a:spcPts val="600"/>
              </a:spcBef>
              <a:spcAft>
                <a:spcPts val="600"/>
              </a:spcAft>
            </a:pPr>
            <a:r>
              <a:rPr lang="en-AU" sz="2200" dirty="0" smtClean="0"/>
              <a:t>Smile </a:t>
            </a:r>
          </a:p>
          <a:p>
            <a:pPr lvl="0">
              <a:spcBef>
                <a:spcPts val="600"/>
              </a:spcBef>
              <a:spcAft>
                <a:spcPts val="600"/>
              </a:spcAft>
            </a:pPr>
            <a:r>
              <a:rPr lang="en-AU" sz="2200" dirty="0" smtClean="0"/>
              <a:t>Provide ‘sufficient’ information </a:t>
            </a:r>
          </a:p>
          <a:p>
            <a:pPr>
              <a:spcBef>
                <a:spcPts val="600"/>
              </a:spcBef>
              <a:spcAft>
                <a:spcPts val="600"/>
              </a:spcAft>
            </a:pPr>
            <a:r>
              <a:rPr lang="en-AU" sz="2200" dirty="0" smtClean="0"/>
              <a:t>Acknowledge when you don’t know the                             answer to a question </a:t>
            </a:r>
            <a:endParaRPr lang="en-AU" sz="2200" b="1" dirty="0" smtClean="0"/>
          </a:p>
          <a:p>
            <a:pPr lvl="0">
              <a:spcBef>
                <a:spcPts val="600"/>
              </a:spcBef>
              <a:spcAft>
                <a:spcPts val="1200"/>
              </a:spcAft>
            </a:pPr>
            <a:endParaRPr lang="en-AU" sz="22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7" name="Picture 6" descr="4.jpg"/>
          <p:cNvPicPr/>
          <p:nvPr/>
        </p:nvPicPr>
        <p:blipFill>
          <a:blip r:embed="rId3" cstate="print">
            <a:grayscl/>
          </a:blip>
          <a:stretch>
            <a:fillRect/>
          </a:stretch>
        </p:blipFill>
        <p:spPr>
          <a:xfrm>
            <a:off x="7072330" y="3214686"/>
            <a:ext cx="1292724" cy="1928826"/>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Answering customer questions</a:t>
            </a:r>
          </a:p>
        </p:txBody>
      </p:sp>
      <p:sp>
        <p:nvSpPr>
          <p:cNvPr id="3" name="Content Placeholder 2"/>
          <p:cNvSpPr>
            <a:spLocks noGrp="1"/>
          </p:cNvSpPr>
          <p:nvPr>
            <p:ph idx="1"/>
          </p:nvPr>
        </p:nvSpPr>
        <p:spPr>
          <a:xfrm>
            <a:off x="611560" y="1556792"/>
            <a:ext cx="7467600" cy="4767808"/>
          </a:xfrm>
        </p:spPr>
        <p:txBody>
          <a:bodyPr>
            <a:normAutofit/>
          </a:bodyPr>
          <a:lstStyle/>
          <a:p>
            <a:pPr>
              <a:spcBef>
                <a:spcPts val="600"/>
              </a:spcBef>
              <a:spcAft>
                <a:spcPts val="1200"/>
              </a:spcAft>
              <a:buNone/>
            </a:pPr>
            <a:r>
              <a:rPr lang="en-AU" sz="2200" b="1" dirty="0" smtClean="0"/>
              <a:t>Being proactive to guest requests</a:t>
            </a:r>
          </a:p>
          <a:p>
            <a:pPr marL="0">
              <a:spcBef>
                <a:spcPts val="600"/>
              </a:spcBef>
              <a:spcAft>
                <a:spcPts val="1200"/>
              </a:spcAft>
              <a:buNone/>
            </a:pPr>
            <a:r>
              <a:rPr lang="en-AU" sz="2200" dirty="0" smtClean="0"/>
              <a:t>Being </a:t>
            </a:r>
            <a:r>
              <a:rPr lang="en-AU" sz="2200" dirty="0" smtClean="0"/>
              <a:t>proactive is the best way to convey a willingness, both verbally and non-verbally, to assist any customers you believe have a request.</a:t>
            </a:r>
          </a:p>
          <a:p>
            <a:pPr>
              <a:spcBef>
                <a:spcPts val="600"/>
              </a:spcBef>
              <a:spcAft>
                <a:spcPts val="1200"/>
              </a:spcAft>
            </a:pPr>
            <a:r>
              <a:rPr lang="en-AU" sz="2200" dirty="0" smtClean="0"/>
              <a:t>How can you be proactive?</a:t>
            </a:r>
          </a:p>
          <a:p>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6" name="Picture 5" descr="1.jpg"/>
          <p:cNvPicPr/>
          <p:nvPr/>
        </p:nvPicPr>
        <p:blipFill>
          <a:blip r:embed="rId3" cstate="print"/>
          <a:stretch>
            <a:fillRect/>
          </a:stretch>
        </p:blipFill>
        <p:spPr>
          <a:xfrm>
            <a:off x="5436096" y="3284984"/>
            <a:ext cx="2124447" cy="1485131"/>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Explain special features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Understanding special items</a:t>
            </a:r>
          </a:p>
          <a:p>
            <a:pPr marL="0">
              <a:spcBef>
                <a:spcPts val="600"/>
              </a:spcBef>
              <a:spcAft>
                <a:spcPts val="1200"/>
              </a:spcAft>
              <a:buNone/>
            </a:pPr>
            <a:r>
              <a:rPr lang="en-AU" sz="2200" dirty="0" smtClean="0"/>
              <a:t>Given that some wine and accompanying food will come from a specific region, it will be the first time the customer will try it. </a:t>
            </a:r>
            <a:endParaRPr lang="en-AU" altLang="zh-CN" sz="2200" dirty="0" smtClean="0">
              <a:ea typeface="宋体" pitchFamily="2" charset="-122"/>
            </a:endParaRPr>
          </a:p>
          <a:p>
            <a:pPr>
              <a:spcBef>
                <a:spcPts val="600"/>
              </a:spcBef>
              <a:spcAft>
                <a:spcPts val="1200"/>
              </a:spcAft>
            </a:pPr>
            <a:r>
              <a:rPr lang="en-AU" altLang="zh-CN" sz="2200" dirty="0" smtClean="0">
                <a:ea typeface="宋体" pitchFamily="2" charset="-122"/>
              </a:rPr>
              <a:t>What do you need to know about these </a:t>
            </a:r>
            <a:br>
              <a:rPr lang="en-AU" altLang="zh-CN" sz="2200" dirty="0" smtClean="0">
                <a:ea typeface="宋体" pitchFamily="2" charset="-122"/>
              </a:rPr>
            </a:br>
            <a:r>
              <a:rPr lang="en-AU" altLang="zh-CN" sz="2200" dirty="0" smtClean="0">
                <a:ea typeface="宋体" pitchFamily="2" charset="-122"/>
              </a:rPr>
              <a:t>products?</a:t>
            </a:r>
          </a:p>
          <a:p>
            <a:pPr>
              <a:spcBef>
                <a:spcPts val="600"/>
              </a:spcBef>
              <a:spcAft>
                <a:spcPts val="1200"/>
              </a:spcAft>
            </a:pPr>
            <a:r>
              <a:rPr lang="en-AU" altLang="zh-CN" sz="2200" dirty="0" smtClean="0">
                <a:ea typeface="宋体" pitchFamily="2" charset="-122"/>
              </a:rPr>
              <a:t>Why is it important to know it?</a:t>
            </a:r>
          </a:p>
          <a:p>
            <a:pPr>
              <a:spcBef>
                <a:spcPts val="600"/>
              </a:spcBef>
              <a:spcAft>
                <a:spcPts val="1200"/>
              </a:spcAft>
            </a:pPr>
            <a:r>
              <a:rPr lang="en-AU" altLang="zh-CN" sz="2200" dirty="0" smtClean="0">
                <a:ea typeface="宋体" pitchFamily="2" charset="-122"/>
              </a:rPr>
              <a:t>How can the information help customers?</a:t>
            </a:r>
            <a:endParaRPr lang="en-US" altLang="zh-CN" sz="2200"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18435" name="Picture 3" descr="C:\Documents and Settings\danielc\Desktop\Serve a range of wine products images\549886_wine_barrels.jpg"/>
          <p:cNvPicPr>
            <a:picLocks noChangeAspect="1" noChangeArrowheads="1"/>
          </p:cNvPicPr>
          <p:nvPr/>
        </p:nvPicPr>
        <p:blipFill>
          <a:blip r:embed="rId3" cstate="print">
            <a:lum bright="10000" contrast="20000"/>
          </a:blip>
          <a:srcRect/>
          <a:stretch>
            <a:fillRect/>
          </a:stretch>
        </p:blipFill>
        <p:spPr bwMode="auto">
          <a:xfrm>
            <a:off x="6516216" y="3645024"/>
            <a:ext cx="1809753" cy="1357315"/>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109</a:t>
            </a:fld>
            <a:endParaRPr lang="en-US" dirty="0"/>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Explain special features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Understanding special item features</a:t>
            </a:r>
          </a:p>
          <a:p>
            <a:pPr lvl="0">
              <a:spcBef>
                <a:spcPts val="600"/>
              </a:spcBef>
              <a:spcAft>
                <a:spcPts val="1200"/>
              </a:spcAft>
            </a:pPr>
            <a:r>
              <a:rPr lang="en-AU" sz="2200" dirty="0" smtClean="0"/>
              <a:t>History of the wine</a:t>
            </a:r>
          </a:p>
          <a:p>
            <a:pPr lvl="0">
              <a:spcBef>
                <a:spcPts val="600"/>
              </a:spcBef>
              <a:spcAft>
                <a:spcPts val="1200"/>
              </a:spcAft>
            </a:pPr>
            <a:r>
              <a:rPr lang="en-AU" sz="2200" dirty="0" smtClean="0"/>
              <a:t>Characteristics of the items </a:t>
            </a:r>
          </a:p>
          <a:p>
            <a:pPr lvl="0">
              <a:spcBef>
                <a:spcPts val="600"/>
              </a:spcBef>
              <a:spcAft>
                <a:spcPts val="1200"/>
              </a:spcAft>
            </a:pPr>
            <a:r>
              <a:rPr lang="en-AU" sz="2200" dirty="0" smtClean="0"/>
              <a:t>Region of origin </a:t>
            </a:r>
          </a:p>
          <a:p>
            <a:pPr lvl="0">
              <a:spcBef>
                <a:spcPts val="600"/>
              </a:spcBef>
              <a:spcAft>
                <a:spcPts val="1200"/>
              </a:spcAft>
            </a:pPr>
            <a:r>
              <a:rPr lang="en-AU" sz="2200" dirty="0" smtClean="0"/>
              <a:t>How it is made </a:t>
            </a:r>
          </a:p>
          <a:p>
            <a:pPr lvl="0">
              <a:spcBef>
                <a:spcPts val="600"/>
              </a:spcBef>
              <a:spcAft>
                <a:spcPts val="1200"/>
              </a:spcAft>
            </a:pPr>
            <a:r>
              <a:rPr lang="en-AU" sz="2200" dirty="0" smtClean="0"/>
              <a:t>Any menu accompaniments that </a:t>
            </a:r>
            <a:r>
              <a:rPr lang="en-AU" sz="2200" dirty="0" smtClean="0"/>
              <a:t> are </a:t>
            </a:r>
            <a:r>
              <a:rPr lang="en-AU" sz="2200" dirty="0" smtClean="0"/>
              <a:t>commonly served with the wine</a:t>
            </a:r>
          </a:p>
          <a:p>
            <a:pPr lvl="0">
              <a:spcBef>
                <a:spcPts val="600"/>
              </a:spcBef>
              <a:spcAft>
                <a:spcPts val="1200"/>
              </a:spcAft>
            </a:pPr>
            <a:r>
              <a:rPr lang="en-AU" sz="2200" dirty="0" smtClean="0"/>
              <a:t>Its availability for purchase </a:t>
            </a: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4101357926_9727806675_m.jpg"/>
          <p:cNvPicPr/>
          <p:nvPr/>
        </p:nvPicPr>
        <p:blipFill>
          <a:blip r:embed="rId3" cstate="print"/>
          <a:stretch>
            <a:fillRect/>
          </a:stretch>
        </p:blipFill>
        <p:spPr>
          <a:xfrm>
            <a:off x="6516216" y="2276872"/>
            <a:ext cx="1467908" cy="1964266"/>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110</a:t>
            </a:fld>
            <a:endParaRPr 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Interpret wine medals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marL="0">
              <a:spcBef>
                <a:spcPts val="600"/>
              </a:spcBef>
              <a:spcAft>
                <a:spcPts val="1200"/>
              </a:spcAft>
              <a:buNone/>
            </a:pPr>
            <a:r>
              <a:rPr lang="en-AU" sz="2200" dirty="0" smtClean="0"/>
              <a:t>One very influential factor that impacts a customer’s perception of a wine is through the awards and medals that they have won. </a:t>
            </a:r>
          </a:p>
          <a:p>
            <a:pPr lvl="0">
              <a:spcBef>
                <a:spcPts val="600"/>
              </a:spcBef>
              <a:spcAft>
                <a:spcPts val="1200"/>
              </a:spcAft>
            </a:pPr>
            <a:r>
              <a:rPr lang="en-AU" sz="2200" dirty="0" smtClean="0"/>
              <a:t>What awards are given to wines?</a:t>
            </a:r>
          </a:p>
          <a:p>
            <a:pPr lvl="0">
              <a:spcBef>
                <a:spcPts val="600"/>
              </a:spcBef>
              <a:spcAft>
                <a:spcPts val="1200"/>
              </a:spcAft>
            </a:pPr>
            <a:r>
              <a:rPr lang="en-AU" altLang="zh-CN" sz="2200" dirty="0" smtClean="0"/>
              <a:t>How are they judged?</a:t>
            </a:r>
          </a:p>
          <a:p>
            <a:pPr lvl="0">
              <a:spcBef>
                <a:spcPts val="600"/>
              </a:spcBef>
              <a:spcAft>
                <a:spcPts val="1200"/>
              </a:spcAft>
            </a:pPr>
            <a:r>
              <a:rPr lang="en-AU" altLang="zh-CN" sz="2200" dirty="0" smtClean="0"/>
              <a:t>What separates a good wine from a bad wine,                            in terms of quality?</a:t>
            </a:r>
            <a:endParaRPr lang="en-AU" altLang="zh-CN" sz="2200" dirty="0" smtClean="0">
              <a:solidFill>
                <a:srgbClr val="FF6600"/>
              </a:solidFill>
              <a:ea typeface="宋体" pitchFamily="2" charset="-122"/>
            </a:endParaRPr>
          </a:p>
          <a:p>
            <a:pPr>
              <a:spcBef>
                <a:spcPts val="600"/>
              </a:spcBef>
              <a:spcAft>
                <a:spcPts val="1200"/>
              </a:spcAft>
              <a:buNone/>
            </a:pPr>
            <a:endParaRPr lang="en-US" altLang="zh-CN" u="sng" dirty="0" smtClean="0">
              <a:ea typeface="宋体" pitchFamily="2" charset="-122"/>
            </a:endParaRPr>
          </a:p>
          <a:p>
            <a:endParaRPr lang="zh-CN" altLang="en-US" dirty="0" smtClean="0">
              <a:ea typeface="宋体" pitchFamily="2" charset="-122"/>
            </a:endParaRPr>
          </a:p>
        </p:txBody>
      </p:sp>
      <p:pic>
        <p:nvPicPr>
          <p:cNvPr id="6" name="Picture 2" descr="C:\Documents and Settings\danielc\Desktop\Serve a range of wine products images\IWSC-09-Bronze-Medal.jpg"/>
          <p:cNvPicPr>
            <a:picLocks noChangeAspect="1" noChangeArrowheads="1"/>
          </p:cNvPicPr>
          <p:nvPr/>
        </p:nvPicPr>
        <p:blipFill>
          <a:blip r:embed="rId3" cstate="print"/>
          <a:srcRect/>
          <a:stretch>
            <a:fillRect/>
          </a:stretch>
        </p:blipFill>
        <p:spPr bwMode="auto">
          <a:xfrm>
            <a:off x="7000892" y="3143248"/>
            <a:ext cx="1265226" cy="1265226"/>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111</a:t>
            </a:fld>
            <a:endParaRPr lang="en-US" dirty="0"/>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Interpret wine medals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marL="0">
              <a:spcBef>
                <a:spcPts val="600"/>
              </a:spcBef>
              <a:spcAft>
                <a:spcPts val="1200"/>
              </a:spcAft>
              <a:buNone/>
            </a:pPr>
            <a:r>
              <a:rPr lang="en-AU" sz="2200" b="1" dirty="0" smtClean="0"/>
              <a:t>Wine show medals </a:t>
            </a:r>
            <a:endParaRPr lang="en-AU" sz="2200" dirty="0" smtClean="0"/>
          </a:p>
          <a:p>
            <a:pPr marL="0">
              <a:spcBef>
                <a:spcPts val="600"/>
              </a:spcBef>
              <a:spcAft>
                <a:spcPts val="1200"/>
              </a:spcAft>
              <a:buNone/>
            </a:pPr>
            <a:r>
              <a:rPr lang="en-AU" sz="2200" dirty="0" smtClean="0"/>
              <a:t>When wines are exhibited at a wine show they are judged for: </a:t>
            </a:r>
          </a:p>
          <a:p>
            <a:pPr lvl="0">
              <a:spcBef>
                <a:spcPts val="600"/>
              </a:spcBef>
              <a:spcAft>
                <a:spcPts val="1200"/>
              </a:spcAft>
            </a:pPr>
            <a:r>
              <a:rPr lang="en-AU" sz="2200" dirty="0" smtClean="0"/>
              <a:t>Colour and clarity </a:t>
            </a:r>
          </a:p>
          <a:p>
            <a:pPr lvl="0">
              <a:spcBef>
                <a:spcPts val="600"/>
              </a:spcBef>
              <a:spcAft>
                <a:spcPts val="1200"/>
              </a:spcAft>
            </a:pPr>
            <a:r>
              <a:rPr lang="en-AU" sz="2200" dirty="0" smtClean="0"/>
              <a:t>Bouquet and aroma</a:t>
            </a:r>
          </a:p>
          <a:p>
            <a:pPr lvl="0">
              <a:spcBef>
                <a:spcPts val="600"/>
              </a:spcBef>
              <a:spcAft>
                <a:spcPts val="1200"/>
              </a:spcAft>
            </a:pPr>
            <a:r>
              <a:rPr lang="en-AU" sz="2200" dirty="0" smtClean="0"/>
              <a:t>Palate and overall quality</a:t>
            </a:r>
          </a:p>
          <a:p>
            <a:pPr>
              <a:spcBef>
                <a:spcPts val="600"/>
              </a:spcBef>
              <a:spcAft>
                <a:spcPts val="1200"/>
              </a:spcAft>
              <a:buNone/>
            </a:pPr>
            <a:endParaRPr lang="en-US" altLang="zh-CN" u="sng" dirty="0" smtClean="0">
              <a:ea typeface="宋体" pitchFamily="2" charset="-122"/>
            </a:endParaRPr>
          </a:p>
          <a:p>
            <a:endParaRPr lang="zh-CN" altLang="en-US" dirty="0" smtClean="0">
              <a:ea typeface="宋体" pitchFamily="2" charset="-122"/>
            </a:endParaRPr>
          </a:p>
        </p:txBody>
      </p:sp>
      <p:pic>
        <p:nvPicPr>
          <p:cNvPr id="17411" name="Picture 3" descr="C:\Documents and Settings\danielc\Desktop\Serve a range of wine products images\457176_woman_drinking_white_wine.jpg"/>
          <p:cNvPicPr>
            <a:picLocks noChangeAspect="1" noChangeArrowheads="1"/>
          </p:cNvPicPr>
          <p:nvPr/>
        </p:nvPicPr>
        <p:blipFill>
          <a:blip r:embed="rId3" cstate="print"/>
          <a:srcRect/>
          <a:stretch>
            <a:fillRect/>
          </a:stretch>
        </p:blipFill>
        <p:spPr bwMode="auto">
          <a:xfrm>
            <a:off x="5929322" y="2857496"/>
            <a:ext cx="1728785" cy="2368199"/>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112</a:t>
            </a:fld>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Interpret wine medals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Award criteria</a:t>
            </a:r>
            <a:endParaRPr lang="en-AU" sz="2200" dirty="0" smtClean="0"/>
          </a:p>
          <a:p>
            <a:pPr>
              <a:spcBef>
                <a:spcPts val="600"/>
              </a:spcBef>
              <a:spcAft>
                <a:spcPts val="1200"/>
              </a:spcAft>
              <a:buNone/>
            </a:pPr>
            <a:r>
              <a:rPr lang="en-AU" sz="2200" dirty="0" smtClean="0"/>
              <a:t>Each wine is judged out of 20 points: </a:t>
            </a:r>
          </a:p>
          <a:p>
            <a:pPr lvl="0">
              <a:spcBef>
                <a:spcPts val="600"/>
              </a:spcBef>
              <a:spcAft>
                <a:spcPts val="1200"/>
              </a:spcAft>
            </a:pPr>
            <a:r>
              <a:rPr lang="en-AU" sz="2200" dirty="0" smtClean="0"/>
              <a:t>Colour and clarity – 3 points</a:t>
            </a:r>
          </a:p>
          <a:p>
            <a:pPr lvl="0">
              <a:spcBef>
                <a:spcPts val="600"/>
              </a:spcBef>
              <a:spcAft>
                <a:spcPts val="1200"/>
              </a:spcAft>
            </a:pPr>
            <a:r>
              <a:rPr lang="en-AU" sz="2200" dirty="0" smtClean="0"/>
              <a:t>Bouquet and aroma – 7 points</a:t>
            </a:r>
          </a:p>
          <a:p>
            <a:pPr lvl="0">
              <a:spcBef>
                <a:spcPts val="600"/>
              </a:spcBef>
              <a:spcAft>
                <a:spcPts val="1200"/>
              </a:spcAft>
            </a:pPr>
            <a:r>
              <a:rPr lang="en-AU" sz="2200" dirty="0" smtClean="0"/>
              <a:t>Palate and overall quality – 10 points</a:t>
            </a:r>
          </a:p>
          <a:p>
            <a:pPr>
              <a:spcBef>
                <a:spcPts val="600"/>
              </a:spcBef>
              <a:spcAft>
                <a:spcPts val="1200"/>
              </a:spcAft>
              <a:buNone/>
            </a:pPr>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3654647302_5c4501dd3e_m.jpg"/>
          <p:cNvPicPr/>
          <p:nvPr/>
        </p:nvPicPr>
        <p:blipFill>
          <a:blip r:embed="rId3" cstate="print"/>
          <a:stretch>
            <a:fillRect/>
          </a:stretch>
        </p:blipFill>
        <p:spPr>
          <a:xfrm>
            <a:off x="6572264" y="2214554"/>
            <a:ext cx="1497707" cy="2179315"/>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113</a:t>
            </a:fld>
            <a:endParaRPr lang="en-US" dirty="0"/>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Interpret wine medals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Medals</a:t>
            </a:r>
          </a:p>
          <a:p>
            <a:pPr>
              <a:spcBef>
                <a:spcPts val="600"/>
              </a:spcBef>
              <a:spcAft>
                <a:spcPts val="1200"/>
              </a:spcAft>
              <a:buNone/>
            </a:pPr>
            <a:r>
              <a:rPr lang="en-AU" sz="2200" dirty="0" smtClean="0"/>
              <a:t>Medals are awarded as follows: </a:t>
            </a:r>
          </a:p>
          <a:p>
            <a:pPr lvl="0">
              <a:spcBef>
                <a:spcPts val="600"/>
              </a:spcBef>
              <a:spcAft>
                <a:spcPts val="1200"/>
              </a:spcAft>
            </a:pPr>
            <a:r>
              <a:rPr lang="en-AU" sz="2200" dirty="0" smtClean="0"/>
              <a:t>Gold medal - 18.5 points and above </a:t>
            </a:r>
          </a:p>
          <a:p>
            <a:pPr lvl="0">
              <a:spcBef>
                <a:spcPts val="600"/>
              </a:spcBef>
              <a:spcAft>
                <a:spcPts val="1200"/>
              </a:spcAft>
            </a:pPr>
            <a:r>
              <a:rPr lang="en-AU" sz="2200" dirty="0" smtClean="0"/>
              <a:t>Silver medal - 17.0 points to 18.4 points</a:t>
            </a:r>
          </a:p>
          <a:p>
            <a:pPr lvl="0">
              <a:spcBef>
                <a:spcPts val="600"/>
              </a:spcBef>
              <a:spcAft>
                <a:spcPts val="1200"/>
              </a:spcAft>
            </a:pPr>
            <a:r>
              <a:rPr lang="en-AU" sz="2200" dirty="0" smtClean="0"/>
              <a:t>Bronze medal - 15.5 to 16.9 points </a:t>
            </a:r>
          </a:p>
          <a:p>
            <a:pPr>
              <a:spcBef>
                <a:spcPts val="600"/>
              </a:spcBef>
              <a:spcAft>
                <a:spcPts val="1200"/>
              </a:spcAft>
              <a:buNone/>
            </a:pPr>
            <a:endParaRPr lang="en-US" altLang="zh-CN" u="sng" dirty="0" smtClean="0">
              <a:ea typeface="宋体" pitchFamily="2" charset="-122"/>
            </a:endParaRPr>
          </a:p>
          <a:p>
            <a:endParaRPr lang="zh-CN" altLang="en-US" dirty="0" smtClean="0">
              <a:ea typeface="宋体" pitchFamily="2" charset="-122"/>
            </a:endParaRPr>
          </a:p>
        </p:txBody>
      </p:sp>
      <p:pic>
        <p:nvPicPr>
          <p:cNvPr id="6" name="Picture 5" descr="3317055568_b1d05b296a_m.jpg"/>
          <p:cNvPicPr/>
          <p:nvPr/>
        </p:nvPicPr>
        <p:blipFill>
          <a:blip r:embed="rId3" cstate="print">
            <a:lum bright="10000"/>
          </a:blip>
          <a:stretch>
            <a:fillRect/>
          </a:stretch>
        </p:blipFill>
        <p:spPr>
          <a:xfrm>
            <a:off x="6215074" y="2214554"/>
            <a:ext cx="1926886" cy="1392020"/>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114</a:t>
            </a:fld>
            <a:endParaRPr lang="en-US" dirty="0"/>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5:</a:t>
            </a:r>
          </a:p>
          <a:p>
            <a:pPr marL="0" lvl="0">
              <a:buNone/>
            </a:pPr>
            <a:r>
              <a:rPr lang="en-AU" sz="4000" dirty="0" smtClean="0">
                <a:solidFill>
                  <a:srgbClr val="FF6600"/>
                </a:solidFill>
              </a:rPr>
              <a:t>Serve wines</a:t>
            </a:r>
          </a:p>
          <a:p>
            <a:pPr>
              <a:spcBef>
                <a:spcPts val="600"/>
              </a:spcBef>
              <a:spcAft>
                <a:spcPts val="1200"/>
              </a:spcAft>
            </a:pPr>
            <a:endParaRPr lang="en-AU" sz="2200" dirty="0" smtClean="0"/>
          </a:p>
          <a:p>
            <a:pPr>
              <a:spcBef>
                <a:spcPts val="600"/>
              </a:spcBef>
              <a:spcAft>
                <a:spcPts val="1200"/>
              </a:spcAft>
              <a:buNone/>
            </a:pPr>
            <a:endParaRPr lang="en-AU" sz="2200" dirty="0" smtClean="0"/>
          </a:p>
          <a:p>
            <a:pPr lvl="0">
              <a:spcBef>
                <a:spcPts val="600"/>
              </a:spcBef>
              <a:spcAft>
                <a:spcPts val="600"/>
              </a:spcAft>
            </a:pPr>
            <a:endParaRPr lang="en-AU" sz="2200" dirty="0" smtClean="0"/>
          </a:p>
          <a:p>
            <a:pPr>
              <a:buNone/>
            </a:pPr>
            <a:endParaRPr lang="en-AU" sz="2400" dirty="0" smtClean="0"/>
          </a:p>
          <a:p>
            <a:pPr lvl="0">
              <a:spcBef>
                <a:spcPts val="600"/>
              </a:spcBef>
              <a:spcAft>
                <a:spcPts val="1200"/>
              </a:spcAft>
            </a:pPr>
            <a:endParaRPr lang="en-AU" sz="2200" dirty="0" smtClean="0"/>
          </a:p>
          <a:p>
            <a:pPr marL="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16386" name="Picture 2" descr="C:\Documents and Settings\danielc\Desktop\Serve a range of wine products images\554190_opening_a_bottle_of_wine.jpg"/>
          <p:cNvPicPr>
            <a:picLocks noChangeAspect="1" noChangeArrowheads="1"/>
          </p:cNvPicPr>
          <p:nvPr/>
        </p:nvPicPr>
        <p:blipFill>
          <a:blip r:embed="rId3" cstate="print"/>
          <a:srcRect/>
          <a:stretch>
            <a:fillRect/>
          </a:stretch>
        </p:blipFill>
        <p:spPr bwMode="auto">
          <a:xfrm>
            <a:off x="3571868" y="3000372"/>
            <a:ext cx="2571768" cy="2511760"/>
          </a:xfrm>
          <a:prstGeom prst="rect">
            <a:avLst/>
          </a:prstGeom>
          <a:noFill/>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Serve wines</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Performance Criteria for this Element are: </a:t>
            </a:r>
          </a:p>
          <a:p>
            <a:pPr>
              <a:spcBef>
                <a:spcPts val="600"/>
              </a:spcBef>
              <a:spcAft>
                <a:spcPts val="1200"/>
              </a:spcAft>
            </a:pPr>
            <a:r>
              <a:rPr lang="en-AU" sz="2200" dirty="0" smtClean="0"/>
              <a:t>Present and serve red table wines</a:t>
            </a:r>
          </a:p>
          <a:p>
            <a:pPr>
              <a:spcBef>
                <a:spcPts val="600"/>
              </a:spcBef>
              <a:spcAft>
                <a:spcPts val="1200"/>
              </a:spcAft>
            </a:pPr>
            <a:r>
              <a:rPr lang="en-AU" sz="2200" dirty="0" smtClean="0"/>
              <a:t>Present and serve white table wines</a:t>
            </a:r>
          </a:p>
          <a:p>
            <a:pPr>
              <a:spcBef>
                <a:spcPts val="600"/>
              </a:spcBef>
              <a:spcAft>
                <a:spcPts val="1200"/>
              </a:spcAft>
            </a:pPr>
            <a:r>
              <a:rPr lang="en-AU" sz="2200" dirty="0" smtClean="0"/>
              <a:t>Present and serve sparkling wines</a:t>
            </a:r>
          </a:p>
          <a:p>
            <a:pPr>
              <a:spcBef>
                <a:spcPts val="600"/>
              </a:spcBef>
              <a:spcAft>
                <a:spcPts val="1200"/>
              </a:spcAft>
            </a:pPr>
            <a:r>
              <a:rPr lang="en-AU" sz="2200" dirty="0" smtClean="0"/>
              <a:t>Present and serve fortified wine </a:t>
            </a:r>
          </a:p>
          <a:p>
            <a:pPr>
              <a:spcBef>
                <a:spcPts val="600"/>
              </a:spcBef>
              <a:spcAft>
                <a:spcPts val="1200"/>
              </a:spcAft>
            </a:pPr>
            <a:r>
              <a:rPr lang="en-AU" sz="2200" dirty="0" smtClean="0"/>
              <a:t>Serve house wines</a:t>
            </a:r>
          </a:p>
          <a:p>
            <a:pPr>
              <a:spcBef>
                <a:spcPts val="600"/>
              </a:spcBef>
              <a:spcAft>
                <a:spcPts val="1200"/>
              </a:spcAft>
            </a:pPr>
            <a:r>
              <a:rPr lang="en-AU" sz="2200" dirty="0" smtClean="0"/>
              <a:t>Respond to patron complaints about wine</a:t>
            </a:r>
          </a:p>
          <a:p>
            <a:pPr>
              <a:spcBef>
                <a:spcPts val="600"/>
              </a:spcBef>
              <a:spcAft>
                <a:spcPts val="1200"/>
              </a:spcAft>
            </a:pPr>
            <a:endParaRPr lang="en-AU"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387292" y="2071678"/>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643570" y="2643182"/>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429256" y="3214686"/>
            <a:ext cx="399154" cy="527046"/>
          </a:xfrm>
          <a:prstGeom prst="rect">
            <a:avLst/>
          </a:prstGeom>
          <a:noFill/>
        </p:spPr>
      </p:pic>
      <p:pic>
        <p:nvPicPr>
          <p:cNvPr id="9"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072066" y="3786190"/>
            <a:ext cx="399154" cy="527046"/>
          </a:xfrm>
          <a:prstGeom prst="rect">
            <a:avLst/>
          </a:prstGeom>
          <a:noFill/>
        </p:spPr>
      </p:pic>
      <p:pic>
        <p:nvPicPr>
          <p:cNvPr id="10"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500430" y="4357694"/>
            <a:ext cx="399154" cy="527046"/>
          </a:xfrm>
          <a:prstGeom prst="rect">
            <a:avLst/>
          </a:prstGeom>
          <a:noFill/>
        </p:spPr>
      </p:pic>
      <p:pic>
        <p:nvPicPr>
          <p:cNvPr id="11"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286512" y="4929198"/>
            <a:ext cx="399154" cy="527046"/>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Serving wine </a:t>
            </a:r>
          </a:p>
        </p:txBody>
      </p:sp>
      <p:sp>
        <p:nvSpPr>
          <p:cNvPr id="3" name="Content Placeholder 2"/>
          <p:cNvSpPr>
            <a:spLocks noGrp="1"/>
          </p:cNvSpPr>
          <p:nvPr>
            <p:ph idx="1"/>
          </p:nvPr>
        </p:nvSpPr>
        <p:spPr>
          <a:xfrm>
            <a:off x="611560" y="1428736"/>
            <a:ext cx="7467600" cy="5301208"/>
          </a:xfrm>
        </p:spPr>
        <p:txBody>
          <a:bodyPr>
            <a:normAutofit/>
          </a:bodyPr>
          <a:lstStyle/>
          <a:p>
            <a:pPr marL="342900" indent="-342900">
              <a:spcBef>
                <a:spcPts val="600"/>
              </a:spcBef>
              <a:spcAft>
                <a:spcPts val="1200"/>
              </a:spcAft>
              <a:buNone/>
            </a:pPr>
            <a:r>
              <a:rPr lang="en-US" altLang="zh-CN" sz="2200" b="1" dirty="0" smtClean="0">
                <a:ea typeface="宋体" pitchFamily="2" charset="-122"/>
              </a:rPr>
              <a:t>Serving wine</a:t>
            </a:r>
          </a:p>
          <a:p>
            <a:pPr marL="0">
              <a:spcBef>
                <a:spcPts val="600"/>
              </a:spcBef>
              <a:spcAft>
                <a:spcPts val="1200"/>
              </a:spcAft>
              <a:buNone/>
            </a:pPr>
            <a:r>
              <a:rPr lang="en-AU" sz="2200" dirty="0" smtClean="0"/>
              <a:t>Besides the service of pre-dinner drinks, common drinks often served to accompany a meal include sparkling and table wine.</a:t>
            </a:r>
          </a:p>
          <a:p>
            <a:pPr marL="342900" indent="-342900">
              <a:spcBef>
                <a:spcPts val="600"/>
              </a:spcBef>
              <a:spcAft>
                <a:spcPts val="1200"/>
              </a:spcAft>
            </a:pPr>
            <a:r>
              <a:rPr lang="en-AU" sz="2200" dirty="0" smtClean="0"/>
              <a:t>What is the difference between these?</a:t>
            </a:r>
          </a:p>
          <a:p>
            <a:pPr marL="342900" indent="-342900">
              <a:spcBef>
                <a:spcPts val="600"/>
              </a:spcBef>
              <a:spcAft>
                <a:spcPts val="1200"/>
              </a:spcAft>
            </a:pPr>
            <a:r>
              <a:rPr lang="en-AU" sz="2200" dirty="0" smtClean="0"/>
              <a:t>What are examples of table wine?</a:t>
            </a:r>
          </a:p>
          <a:p>
            <a:pPr marL="342900" indent="-342900">
              <a:spcBef>
                <a:spcPts val="600"/>
              </a:spcBef>
              <a:spcAft>
                <a:spcPts val="1200"/>
              </a:spcAft>
            </a:pPr>
            <a:r>
              <a:rPr lang="en-AU" sz="2200" dirty="0" smtClean="0"/>
              <a:t>How is white table wine served?</a:t>
            </a:r>
          </a:p>
          <a:p>
            <a:pPr marL="342900" indent="-342900">
              <a:spcBef>
                <a:spcPts val="600"/>
              </a:spcBef>
              <a:spcAft>
                <a:spcPts val="1200"/>
              </a:spcAft>
            </a:pPr>
            <a:r>
              <a:rPr lang="en-AU" sz="2200" dirty="0" smtClean="0"/>
              <a:t>How is red table wine served?</a:t>
            </a:r>
          </a:p>
          <a:p>
            <a:pPr marL="342900" indent="-342900">
              <a:spcBef>
                <a:spcPts val="600"/>
              </a:spcBef>
              <a:spcAft>
                <a:spcPts val="1200"/>
              </a:spcAft>
            </a:pPr>
            <a:r>
              <a:rPr lang="en-AU" sz="2200" dirty="0" smtClean="0"/>
              <a:t>How is sparkling wine served?</a:t>
            </a: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5" name="Picture 4" descr="726285_24196540.jpg"/>
          <p:cNvPicPr>
            <a:picLocks noChangeAspect="1"/>
          </p:cNvPicPr>
          <p:nvPr/>
        </p:nvPicPr>
        <p:blipFill>
          <a:blip r:embed="rId3" cstate="print">
            <a:lum bright="10000"/>
          </a:blip>
          <a:stretch>
            <a:fillRect/>
          </a:stretch>
        </p:blipFill>
        <p:spPr>
          <a:xfrm>
            <a:off x="6143636" y="3643314"/>
            <a:ext cx="2131740" cy="1427033"/>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Select glassware </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t>Types of glassware</a:t>
            </a:r>
          </a:p>
          <a:p>
            <a:pPr lvl="0">
              <a:spcBef>
                <a:spcPts val="600"/>
              </a:spcBef>
              <a:spcAft>
                <a:spcPts val="1200"/>
              </a:spcAft>
            </a:pPr>
            <a:r>
              <a:rPr lang="en-AU" sz="2200" dirty="0" smtClean="0"/>
              <a:t>White wine glass</a:t>
            </a:r>
          </a:p>
          <a:p>
            <a:pPr lvl="0">
              <a:spcBef>
                <a:spcPts val="600"/>
              </a:spcBef>
              <a:spcAft>
                <a:spcPts val="1200"/>
              </a:spcAft>
            </a:pPr>
            <a:r>
              <a:rPr lang="en-AU" sz="2200" dirty="0" smtClean="0"/>
              <a:t>Red wine glass</a:t>
            </a:r>
          </a:p>
          <a:p>
            <a:pPr lvl="0">
              <a:spcBef>
                <a:spcPts val="600"/>
              </a:spcBef>
              <a:spcAft>
                <a:spcPts val="1200"/>
              </a:spcAft>
            </a:pPr>
            <a:r>
              <a:rPr lang="en-AU" sz="2200" dirty="0" smtClean="0"/>
              <a:t>Water glass </a:t>
            </a:r>
          </a:p>
          <a:p>
            <a:pPr lvl="0">
              <a:spcBef>
                <a:spcPts val="600"/>
              </a:spcBef>
              <a:spcAft>
                <a:spcPts val="1200"/>
              </a:spcAft>
            </a:pPr>
            <a:r>
              <a:rPr lang="en-AU" sz="2200" dirty="0" smtClean="0"/>
              <a:t>Champagne glass  </a:t>
            </a:r>
          </a:p>
          <a:p>
            <a:pPr lvl="0">
              <a:spcBef>
                <a:spcPts val="600"/>
              </a:spcBef>
              <a:spcAft>
                <a:spcPts val="1200"/>
              </a:spcAft>
            </a:pPr>
            <a:r>
              <a:rPr lang="en-AU" sz="2200" dirty="0" smtClean="0"/>
              <a:t>Smaller glass - to accommodate sherry, port, sweet wines and digestifs</a:t>
            </a:r>
          </a:p>
          <a:p>
            <a:pPr marL="342900" indent="-342900">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15362" name="Picture 2" descr="C:\Documents and Settings\danielc\Desktop\Serve a range of wine products images\973420_glass_3.jpg"/>
          <p:cNvPicPr>
            <a:picLocks noChangeAspect="1" noChangeArrowheads="1"/>
          </p:cNvPicPr>
          <p:nvPr/>
        </p:nvPicPr>
        <p:blipFill>
          <a:blip r:embed="rId3" cstate="print">
            <a:lum bright="10000"/>
          </a:blip>
          <a:srcRect/>
          <a:stretch>
            <a:fillRect/>
          </a:stretch>
        </p:blipFill>
        <p:spPr bwMode="auto">
          <a:xfrm>
            <a:off x="6289370" y="1785926"/>
            <a:ext cx="1440177" cy="2285996"/>
          </a:xfrm>
          <a:prstGeom prst="rect">
            <a:avLst/>
          </a:prstGeom>
          <a:noFill/>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Select equipment</a:t>
            </a:r>
          </a:p>
        </p:txBody>
      </p:sp>
      <p:sp>
        <p:nvSpPr>
          <p:cNvPr id="3" name="Content Placeholder 2"/>
          <p:cNvSpPr>
            <a:spLocks noGrp="1"/>
          </p:cNvSpPr>
          <p:nvPr>
            <p:ph idx="1"/>
          </p:nvPr>
        </p:nvSpPr>
        <p:spPr>
          <a:xfrm>
            <a:off x="611560" y="1556792"/>
            <a:ext cx="7467600" cy="5301208"/>
          </a:xfrm>
        </p:spPr>
        <p:txBody>
          <a:bodyPr>
            <a:normAutofit lnSpcReduction="10000"/>
          </a:bodyPr>
          <a:lstStyle/>
          <a:p>
            <a:pPr>
              <a:spcBef>
                <a:spcPts val="600"/>
              </a:spcBef>
              <a:spcAft>
                <a:spcPts val="1200"/>
              </a:spcAft>
              <a:buNone/>
            </a:pPr>
            <a:r>
              <a:rPr lang="en-AU" sz="2200" b="1" dirty="0" smtClean="0"/>
              <a:t>Select appropriate glassware and equipment </a:t>
            </a:r>
          </a:p>
          <a:p>
            <a:pPr>
              <a:spcBef>
                <a:spcPts val="600"/>
              </a:spcBef>
              <a:spcAft>
                <a:spcPts val="1200"/>
              </a:spcAft>
            </a:pPr>
            <a:r>
              <a:rPr lang="en-AU" sz="2200" dirty="0" smtClean="0"/>
              <a:t>Wines and glasses</a:t>
            </a:r>
          </a:p>
          <a:p>
            <a:pPr>
              <a:spcBef>
                <a:spcPts val="600"/>
              </a:spcBef>
              <a:spcAft>
                <a:spcPts val="1200"/>
              </a:spcAft>
            </a:pPr>
            <a:r>
              <a:rPr lang="en-AU" sz="2200" dirty="0" smtClean="0"/>
              <a:t>Drink trays </a:t>
            </a:r>
          </a:p>
          <a:p>
            <a:pPr>
              <a:spcBef>
                <a:spcPts val="600"/>
              </a:spcBef>
              <a:spcAft>
                <a:spcPts val="1200"/>
              </a:spcAft>
            </a:pPr>
            <a:r>
              <a:rPr lang="en-AU" sz="2200" dirty="0" smtClean="0"/>
              <a:t>Waiter’s friend</a:t>
            </a:r>
          </a:p>
          <a:p>
            <a:pPr>
              <a:spcBef>
                <a:spcPts val="600"/>
              </a:spcBef>
              <a:spcAft>
                <a:spcPts val="1200"/>
              </a:spcAft>
            </a:pPr>
            <a:r>
              <a:rPr lang="en-AU" sz="2200" dirty="0" smtClean="0"/>
              <a:t>Ice bucket</a:t>
            </a:r>
          </a:p>
          <a:p>
            <a:pPr>
              <a:spcBef>
                <a:spcPts val="600"/>
              </a:spcBef>
              <a:spcAft>
                <a:spcPts val="1200"/>
              </a:spcAft>
            </a:pPr>
            <a:r>
              <a:rPr lang="en-AU" sz="2200" dirty="0" smtClean="0"/>
              <a:t>Service cloth</a:t>
            </a:r>
          </a:p>
          <a:p>
            <a:pPr>
              <a:spcBef>
                <a:spcPts val="600"/>
              </a:spcBef>
              <a:spcAft>
                <a:spcPts val="1200"/>
              </a:spcAft>
            </a:pPr>
            <a:r>
              <a:rPr lang="en-AU" sz="2200" dirty="0" smtClean="0"/>
              <a:t>Carafes</a:t>
            </a:r>
          </a:p>
          <a:p>
            <a:pPr>
              <a:spcBef>
                <a:spcPts val="600"/>
              </a:spcBef>
              <a:spcAft>
                <a:spcPts val="1200"/>
              </a:spcAft>
            </a:pPr>
            <a:r>
              <a:rPr lang="en-AU" sz="2200" dirty="0" smtClean="0"/>
              <a:t>Decanting equipment</a:t>
            </a:r>
          </a:p>
          <a:p>
            <a:pPr>
              <a:spcBef>
                <a:spcPts val="600"/>
              </a:spcBef>
              <a:spcAft>
                <a:spcPts val="1200"/>
              </a:spcAft>
            </a:pPr>
            <a:r>
              <a:rPr lang="en-AU" sz="2200" dirty="0" smtClean="0"/>
              <a:t>Wine baskets</a:t>
            </a: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6" name="Picture 5" descr="157966_waiter.jpg"/>
          <p:cNvPicPr/>
          <p:nvPr/>
        </p:nvPicPr>
        <p:blipFill>
          <a:blip r:embed="rId3" cstate="print"/>
          <a:stretch>
            <a:fillRect/>
          </a:stretch>
        </p:blipFill>
        <p:spPr>
          <a:xfrm>
            <a:off x="6072198" y="2071678"/>
            <a:ext cx="1640417" cy="1241778"/>
          </a:xfrm>
          <a:prstGeom prst="rect">
            <a:avLst/>
          </a:prstGeom>
        </p:spPr>
      </p:pic>
      <p:pic>
        <p:nvPicPr>
          <p:cNvPr id="9" name="Picture 8" descr="C:\Documents and Settings\danielc\Desktop\Serve a range of wine products images\waiters-cloth.jpg"/>
          <p:cNvPicPr/>
          <p:nvPr/>
        </p:nvPicPr>
        <p:blipFill>
          <a:blip r:embed="rId4" cstate="print">
            <a:lum bright="10000"/>
          </a:blip>
          <a:srcRect l="32973" t="26453" r="32285" b="40478"/>
          <a:stretch>
            <a:fillRect/>
          </a:stretch>
        </p:blipFill>
        <p:spPr bwMode="auto">
          <a:xfrm>
            <a:off x="6072198" y="3430233"/>
            <a:ext cx="1643074" cy="15704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Check bottle condition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Check bottle condition</a:t>
            </a:r>
            <a:endParaRPr lang="en-AU" sz="2200" dirty="0" smtClean="0"/>
          </a:p>
          <a:p>
            <a:pPr lvl="0">
              <a:spcBef>
                <a:spcPts val="600"/>
              </a:spcBef>
              <a:spcAft>
                <a:spcPts val="1200"/>
              </a:spcAft>
            </a:pPr>
            <a:r>
              <a:rPr lang="en-AU" sz="2200" dirty="0" smtClean="0"/>
              <a:t>Label </a:t>
            </a:r>
          </a:p>
          <a:p>
            <a:pPr lvl="0">
              <a:spcBef>
                <a:spcPts val="600"/>
              </a:spcBef>
              <a:spcAft>
                <a:spcPts val="1200"/>
              </a:spcAft>
            </a:pPr>
            <a:r>
              <a:rPr lang="en-AU" sz="2200" dirty="0" smtClean="0"/>
              <a:t>Top near the cork or screw cap  </a:t>
            </a:r>
          </a:p>
          <a:p>
            <a:pPr lvl="0">
              <a:spcBef>
                <a:spcPts val="600"/>
              </a:spcBef>
              <a:spcAft>
                <a:spcPts val="1200"/>
              </a:spcAft>
            </a:pPr>
            <a:r>
              <a:rPr lang="en-AU" sz="2200" dirty="0" smtClean="0"/>
              <a:t>Bottle top </a:t>
            </a:r>
          </a:p>
          <a:p>
            <a:pPr lvl="0">
              <a:spcBef>
                <a:spcPts val="600"/>
              </a:spcBef>
              <a:spcAft>
                <a:spcPts val="1200"/>
              </a:spcAft>
            </a:pPr>
            <a:r>
              <a:rPr lang="en-AU" sz="2200" dirty="0" smtClean="0"/>
              <a:t>Nothing floating in the wine </a:t>
            </a:r>
          </a:p>
          <a:p>
            <a:pPr lvl="0">
              <a:spcBef>
                <a:spcPts val="600"/>
              </a:spcBef>
              <a:spcAft>
                <a:spcPts val="1200"/>
              </a:spcAft>
            </a:pPr>
            <a:r>
              <a:rPr lang="en-AU" sz="2200" dirty="0" smtClean="0"/>
              <a:t>Overall condition of the bottle </a:t>
            </a:r>
          </a:p>
          <a:p>
            <a:pPr marL="342900" indent="-342900">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5" name="Picture 4" descr="4126563489_28ffdc9847_m.jpg"/>
          <p:cNvPicPr>
            <a:picLocks noChangeAspect="1"/>
          </p:cNvPicPr>
          <p:nvPr/>
        </p:nvPicPr>
        <p:blipFill>
          <a:blip r:embed="rId3" cstate="print"/>
          <a:stretch>
            <a:fillRect/>
          </a:stretch>
        </p:blipFill>
        <p:spPr>
          <a:xfrm>
            <a:off x="6500826" y="2071678"/>
            <a:ext cx="1524000" cy="2286000"/>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Check wine temperature</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Correct serving temperatures</a:t>
            </a:r>
            <a:endParaRPr lang="en-AU" sz="2200" dirty="0" smtClean="0"/>
          </a:p>
          <a:p>
            <a:pPr lvl="0">
              <a:spcBef>
                <a:spcPts val="600"/>
              </a:spcBef>
              <a:spcAft>
                <a:spcPts val="1200"/>
              </a:spcAft>
            </a:pPr>
            <a:r>
              <a:rPr lang="en-AU" sz="2200" dirty="0" smtClean="0"/>
              <a:t>Red wine: 16ºC</a:t>
            </a:r>
          </a:p>
          <a:p>
            <a:pPr lvl="0">
              <a:spcBef>
                <a:spcPts val="600"/>
              </a:spcBef>
              <a:spcAft>
                <a:spcPts val="1200"/>
              </a:spcAft>
            </a:pPr>
            <a:r>
              <a:rPr lang="en-AU" sz="2200" dirty="0" smtClean="0"/>
              <a:t>White wine: 2ºC – 5ºC</a:t>
            </a:r>
          </a:p>
          <a:p>
            <a:pPr lvl="0">
              <a:spcBef>
                <a:spcPts val="600"/>
              </a:spcBef>
              <a:spcAft>
                <a:spcPts val="1200"/>
              </a:spcAft>
            </a:pPr>
            <a:r>
              <a:rPr lang="en-AU" sz="2200" dirty="0" smtClean="0"/>
              <a:t>Sparkling wine: 2ºC – 5ºC</a:t>
            </a:r>
          </a:p>
          <a:p>
            <a:pPr lvl="0">
              <a:spcBef>
                <a:spcPts val="600"/>
              </a:spcBef>
              <a:spcAft>
                <a:spcPts val="1200"/>
              </a:spcAft>
            </a:pPr>
            <a:r>
              <a:rPr lang="en-AU" sz="2200" dirty="0" smtClean="0"/>
              <a:t> Fortified wines: room temperature</a:t>
            </a: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14338" name="Picture 2" descr="C:\Documents and Settings\danielc\Local Settings\Temporary Internet Files\Content.IE5\3Y3SDCJX\MP900400987[1].jpg"/>
          <p:cNvPicPr>
            <a:picLocks noChangeAspect="1" noChangeArrowheads="1"/>
          </p:cNvPicPr>
          <p:nvPr/>
        </p:nvPicPr>
        <p:blipFill>
          <a:blip r:embed="rId3" cstate="print"/>
          <a:srcRect/>
          <a:stretch>
            <a:fillRect/>
          </a:stretch>
        </p:blipFill>
        <p:spPr bwMode="auto">
          <a:xfrm>
            <a:off x="6215074" y="1928802"/>
            <a:ext cx="1753538" cy="2192458"/>
          </a:xfrm>
          <a:prstGeom prst="rect">
            <a:avLst/>
          </a:prstGeom>
          <a:noFill/>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Presenting the wine</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Checking the selection with customer</a:t>
            </a:r>
            <a:endParaRPr lang="en-AU" sz="2200" dirty="0" smtClean="0"/>
          </a:p>
          <a:p>
            <a:pPr lvl="0">
              <a:spcBef>
                <a:spcPts val="600"/>
              </a:spcBef>
              <a:spcAft>
                <a:spcPts val="1200"/>
              </a:spcAft>
            </a:pPr>
            <a:r>
              <a:rPr lang="en-AU" sz="2200" dirty="0" smtClean="0"/>
              <a:t>Present the wine to the person who ordered the bottle</a:t>
            </a:r>
          </a:p>
          <a:p>
            <a:pPr lvl="0">
              <a:spcBef>
                <a:spcPts val="600"/>
              </a:spcBef>
              <a:spcAft>
                <a:spcPts val="1200"/>
              </a:spcAft>
            </a:pPr>
            <a:r>
              <a:rPr lang="en-AU" sz="2200" dirty="0" smtClean="0"/>
              <a:t>Announce the brand name, style and vintage</a:t>
            </a:r>
          </a:p>
          <a:p>
            <a:pPr lvl="0">
              <a:spcBef>
                <a:spcPts val="600"/>
              </a:spcBef>
              <a:spcAft>
                <a:spcPts val="1200"/>
              </a:spcAft>
            </a:pPr>
            <a:r>
              <a:rPr lang="en-AU" sz="2200" dirty="0" smtClean="0"/>
              <a:t>Wait for the customer to confirm it is the right product</a:t>
            </a:r>
          </a:p>
          <a:p>
            <a:pPr marL="342900" indent="-342900">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13314" name="Picture 2" descr="I:\Overseas Projects\PHOTOS\2012\F &amp; B 2012\Orderpad.jpg"/>
          <p:cNvPicPr>
            <a:picLocks noChangeAspect="1" noChangeArrowheads="1"/>
          </p:cNvPicPr>
          <p:nvPr/>
        </p:nvPicPr>
        <p:blipFill>
          <a:blip r:embed="rId3" cstate="print"/>
          <a:srcRect/>
          <a:stretch>
            <a:fillRect/>
          </a:stretch>
        </p:blipFill>
        <p:spPr bwMode="auto">
          <a:xfrm>
            <a:off x="3357554" y="4071942"/>
            <a:ext cx="2477932" cy="1644666"/>
          </a:xfrm>
          <a:prstGeom prst="rect">
            <a:avLst/>
          </a:prstGeom>
          <a:noFill/>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Decant wine</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t>Decanting wines</a:t>
            </a:r>
          </a:p>
          <a:p>
            <a:pPr marL="0">
              <a:spcBef>
                <a:spcPts val="600"/>
              </a:spcBef>
              <a:spcAft>
                <a:spcPts val="1200"/>
              </a:spcAft>
              <a:buNone/>
            </a:pPr>
            <a:r>
              <a:rPr lang="en-AU" sz="2200" dirty="0" smtClean="0"/>
              <a:t>You should always decant a wine where experience has shown you that wine has sediment. </a:t>
            </a:r>
          </a:p>
          <a:p>
            <a:pPr>
              <a:spcBef>
                <a:spcPts val="600"/>
              </a:spcBef>
              <a:spcAft>
                <a:spcPts val="1200"/>
              </a:spcAft>
            </a:pPr>
            <a:r>
              <a:rPr lang="en-AU" sz="2200" dirty="0" smtClean="0"/>
              <a:t>What is sediment?</a:t>
            </a:r>
          </a:p>
          <a:p>
            <a:pPr>
              <a:spcBef>
                <a:spcPts val="600"/>
              </a:spcBef>
              <a:spcAft>
                <a:spcPts val="1200"/>
              </a:spcAft>
            </a:pPr>
            <a:r>
              <a:rPr lang="en-AU" sz="2200" dirty="0" smtClean="0"/>
              <a:t>Why should it be removed?</a:t>
            </a:r>
          </a:p>
          <a:p>
            <a:pPr>
              <a:spcBef>
                <a:spcPts val="600"/>
              </a:spcBef>
              <a:spcAft>
                <a:spcPts val="1200"/>
              </a:spcAft>
            </a:pPr>
            <a:r>
              <a:rPr lang="en-AU" sz="2200" dirty="0" smtClean="0"/>
              <a:t>What types of wine are normally decanted?</a:t>
            </a:r>
          </a:p>
          <a:p>
            <a:pPr>
              <a:spcBef>
                <a:spcPts val="600"/>
              </a:spcBef>
              <a:spcAft>
                <a:spcPts val="1200"/>
              </a:spcAft>
            </a:pPr>
            <a:r>
              <a:rPr lang="en-AU" sz="2200" dirty="0" smtClean="0"/>
              <a:t>What is the procedure for decanting wines?</a:t>
            </a:r>
          </a:p>
          <a:p>
            <a:pPr marL="342900" indent="-342900">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6" name="Picture 5" descr="6812033373_36690ec4f8_m.jpg"/>
          <p:cNvPicPr/>
          <p:nvPr/>
        </p:nvPicPr>
        <p:blipFill>
          <a:blip r:embed="rId3" cstate="print"/>
          <a:stretch>
            <a:fillRect/>
          </a:stretch>
        </p:blipFill>
        <p:spPr>
          <a:xfrm>
            <a:off x="6429388" y="2714620"/>
            <a:ext cx="1896175" cy="1357322"/>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Open and pour wine</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t>Open and serve wine correctly, safely and without spillage </a:t>
            </a:r>
            <a:endParaRPr lang="en-AU" sz="2200" dirty="0" smtClean="0"/>
          </a:p>
          <a:p>
            <a:pPr>
              <a:spcBef>
                <a:spcPts val="600"/>
              </a:spcBef>
              <a:spcAft>
                <a:spcPts val="1200"/>
              </a:spcAft>
              <a:buNone/>
            </a:pPr>
            <a:r>
              <a:rPr lang="en-AU" sz="2200" dirty="0" smtClean="0"/>
              <a:t>Discuss procedures for opening and pouring:</a:t>
            </a:r>
          </a:p>
          <a:p>
            <a:pPr>
              <a:spcBef>
                <a:spcPts val="600"/>
              </a:spcBef>
              <a:spcAft>
                <a:spcPts val="1200"/>
              </a:spcAft>
            </a:pPr>
            <a:r>
              <a:rPr lang="en-AU" sz="2200" dirty="0" smtClean="0"/>
              <a:t>White table wine</a:t>
            </a:r>
          </a:p>
          <a:p>
            <a:pPr>
              <a:spcBef>
                <a:spcPts val="600"/>
              </a:spcBef>
              <a:spcAft>
                <a:spcPts val="1200"/>
              </a:spcAft>
            </a:pPr>
            <a:r>
              <a:rPr lang="en-AU" sz="2200" dirty="0" smtClean="0"/>
              <a:t>Red table wine</a:t>
            </a:r>
          </a:p>
          <a:p>
            <a:pPr>
              <a:spcBef>
                <a:spcPts val="600"/>
              </a:spcBef>
              <a:spcAft>
                <a:spcPts val="1200"/>
              </a:spcAft>
            </a:pPr>
            <a:r>
              <a:rPr lang="en-AU" sz="2200" dirty="0" smtClean="0"/>
              <a:t>Sparkling wine</a:t>
            </a:r>
          </a:p>
          <a:p>
            <a:pPr>
              <a:spcBef>
                <a:spcPts val="600"/>
              </a:spcBef>
              <a:spcAft>
                <a:spcPts val="1200"/>
              </a:spcAft>
            </a:pPr>
            <a:r>
              <a:rPr lang="en-AU" sz="2200" dirty="0" smtClean="0"/>
              <a:t>Fortified wines</a:t>
            </a:r>
          </a:p>
          <a:p>
            <a:pPr>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5" name="Picture 4" descr="shutterstock_55059526.jpg"/>
          <p:cNvPicPr/>
          <p:nvPr/>
        </p:nvPicPr>
        <p:blipFill>
          <a:blip r:embed="rId3" cstate="print"/>
          <a:stretch>
            <a:fillRect/>
          </a:stretch>
        </p:blipFill>
        <p:spPr>
          <a:xfrm>
            <a:off x="5487541" y="3214686"/>
            <a:ext cx="2571933" cy="1571636"/>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Refill glasses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200" b="1" dirty="0" smtClean="0"/>
              <a:t>Refilling glasses</a:t>
            </a:r>
            <a:endParaRPr lang="en-AU" sz="2200" dirty="0" smtClean="0"/>
          </a:p>
          <a:p>
            <a:pPr>
              <a:spcBef>
                <a:spcPts val="600"/>
              </a:spcBef>
              <a:spcAft>
                <a:spcPts val="1200"/>
              </a:spcAft>
              <a:buNone/>
            </a:pPr>
            <a:r>
              <a:rPr lang="en-AU" sz="2200" dirty="0" smtClean="0"/>
              <a:t>Discuss procedures for opening and pouring:</a:t>
            </a:r>
          </a:p>
          <a:p>
            <a:pPr>
              <a:spcBef>
                <a:spcPts val="600"/>
              </a:spcBef>
              <a:spcAft>
                <a:spcPts val="1200"/>
              </a:spcAft>
            </a:pPr>
            <a:r>
              <a:rPr lang="en-AU" sz="2200" dirty="0" smtClean="0"/>
              <a:t>What is the purpose of refilling?</a:t>
            </a:r>
          </a:p>
          <a:p>
            <a:pPr>
              <a:spcBef>
                <a:spcPts val="600"/>
              </a:spcBef>
              <a:spcAft>
                <a:spcPts val="1200"/>
              </a:spcAft>
            </a:pPr>
            <a:r>
              <a:rPr lang="en-AU" sz="2200" dirty="0" smtClean="0"/>
              <a:t>When should glasses be refilled?</a:t>
            </a:r>
          </a:p>
          <a:p>
            <a:pPr>
              <a:spcBef>
                <a:spcPts val="600"/>
              </a:spcBef>
              <a:spcAft>
                <a:spcPts val="1200"/>
              </a:spcAft>
            </a:pPr>
            <a:r>
              <a:rPr lang="en-AU" sz="2200" dirty="0" smtClean="0"/>
              <a:t>What are the steps for refilling glasses?</a:t>
            </a:r>
          </a:p>
          <a:p>
            <a:pPr>
              <a:spcBef>
                <a:spcPts val="600"/>
              </a:spcBef>
              <a:spcAft>
                <a:spcPts val="1200"/>
              </a:spcAft>
              <a:buNone/>
            </a:pPr>
            <a:r>
              <a:rPr lang="en-AU" sz="2400" dirty="0" smtClean="0"/>
              <a:t/>
            </a:r>
            <a:br>
              <a:rPr lang="en-AU" sz="2400" dirty="0" smtClean="0"/>
            </a:br>
            <a:r>
              <a:rPr lang="en-AU" sz="2400" dirty="0" smtClean="0"/>
              <a:t> </a:t>
            </a: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6" name="Picture 5" descr="MP900438569.JPG"/>
          <p:cNvPicPr/>
          <p:nvPr/>
        </p:nvPicPr>
        <p:blipFill>
          <a:blip r:embed="rId3" cstate="print"/>
          <a:stretch>
            <a:fillRect/>
          </a:stretch>
        </p:blipFill>
        <p:spPr>
          <a:xfrm>
            <a:off x="6572264" y="2500306"/>
            <a:ext cx="1784970" cy="2502198"/>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Clear wine glasses and bottles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Autofit/>
          </a:bodyPr>
          <a:lstStyle/>
          <a:p>
            <a:pPr marL="0">
              <a:spcBef>
                <a:spcPts val="600"/>
              </a:spcBef>
              <a:spcAft>
                <a:spcPts val="1200"/>
              </a:spcAft>
              <a:buNone/>
            </a:pPr>
            <a:r>
              <a:rPr lang="en-AU" sz="2200" dirty="0" smtClean="0"/>
              <a:t>The timely clearance of both used and unused glasses is important</a:t>
            </a:r>
          </a:p>
          <a:p>
            <a:pPr>
              <a:spcBef>
                <a:spcPts val="600"/>
              </a:spcBef>
              <a:spcAft>
                <a:spcPts val="1200"/>
              </a:spcAft>
            </a:pPr>
            <a:r>
              <a:rPr lang="en-AU" sz="2200" dirty="0" smtClean="0"/>
              <a:t>When </a:t>
            </a:r>
            <a:r>
              <a:rPr lang="en-AU" sz="2200" dirty="0" smtClean="0"/>
              <a:t>should used glasses be cleared?</a:t>
            </a:r>
          </a:p>
          <a:p>
            <a:pPr>
              <a:spcBef>
                <a:spcPts val="600"/>
              </a:spcBef>
              <a:spcAft>
                <a:spcPts val="1200"/>
              </a:spcAft>
            </a:pPr>
            <a:r>
              <a:rPr lang="en-AU" sz="2200" dirty="0" smtClean="0"/>
              <a:t>When should unused glasses be cleared?</a:t>
            </a:r>
          </a:p>
          <a:p>
            <a:pPr>
              <a:spcBef>
                <a:spcPts val="600"/>
              </a:spcBef>
              <a:spcAft>
                <a:spcPts val="1200"/>
              </a:spcAft>
            </a:pPr>
            <a:r>
              <a:rPr lang="en-AU" sz="2200" dirty="0" smtClean="0"/>
              <a:t>What else should be cleared?</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6" name="Picture 5" descr="C:\Documents and Settings\danielc\Desktop\Provide F&amp;B services images\851612_dining.jpg"/>
          <p:cNvPicPr/>
          <p:nvPr/>
        </p:nvPicPr>
        <p:blipFill>
          <a:blip r:embed="rId3" cstate="print"/>
          <a:srcRect/>
          <a:stretch>
            <a:fillRect/>
          </a:stretch>
        </p:blipFill>
        <p:spPr bwMode="auto">
          <a:xfrm>
            <a:off x="6660232" y="2420888"/>
            <a:ext cx="1800200" cy="14276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Serve after meal drinks</a:t>
            </a:r>
            <a:endParaRPr lang="en-AU"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200" b="1" dirty="0" smtClean="0"/>
              <a:t>Fortified wines</a:t>
            </a:r>
          </a:p>
          <a:p>
            <a:pPr marL="0">
              <a:spcBef>
                <a:spcPts val="600"/>
              </a:spcBef>
              <a:spcAft>
                <a:spcPts val="1200"/>
              </a:spcAft>
              <a:buNone/>
            </a:pPr>
            <a:r>
              <a:rPr lang="en-AU" sz="2200" dirty="0" smtClean="0"/>
              <a:t>In some cases customers may wish to have a fortified wine at the end of a meal or to accompany a dessert. </a:t>
            </a:r>
          </a:p>
          <a:p>
            <a:pPr marL="0">
              <a:spcBef>
                <a:spcPts val="600"/>
              </a:spcBef>
              <a:spcAft>
                <a:spcPts val="1200"/>
              </a:spcAft>
              <a:buNone/>
            </a:pPr>
            <a:r>
              <a:rPr lang="en-AU" sz="2200" dirty="0" smtClean="0"/>
              <a:t>These normally consist of:</a:t>
            </a:r>
          </a:p>
          <a:p>
            <a:pPr lvl="0">
              <a:spcBef>
                <a:spcPts val="600"/>
              </a:spcBef>
              <a:spcAft>
                <a:spcPts val="1200"/>
              </a:spcAft>
            </a:pPr>
            <a:r>
              <a:rPr lang="en-AU" sz="2200" dirty="0" smtClean="0"/>
              <a:t>Port</a:t>
            </a:r>
          </a:p>
          <a:p>
            <a:pPr lvl="0">
              <a:spcBef>
                <a:spcPts val="600"/>
              </a:spcBef>
              <a:spcAft>
                <a:spcPts val="1200"/>
              </a:spcAft>
            </a:pPr>
            <a:r>
              <a:rPr lang="en-AU" sz="2200" dirty="0" smtClean="0"/>
              <a:t>Muscat</a:t>
            </a:r>
          </a:p>
          <a:p>
            <a:pPr lvl="0">
              <a:spcBef>
                <a:spcPts val="600"/>
              </a:spcBef>
              <a:spcAft>
                <a:spcPts val="1200"/>
              </a:spcAft>
            </a:pPr>
            <a:r>
              <a:rPr lang="en-AU" sz="2200" dirty="0" smtClean="0"/>
              <a:t>Tokay</a:t>
            </a:r>
          </a:p>
          <a:p>
            <a:pPr>
              <a:spcBef>
                <a:spcPts val="600"/>
              </a:spcBef>
              <a:spcAft>
                <a:spcPts val="1200"/>
              </a:spcAft>
              <a:buNone/>
            </a:pP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7" name="Picture 6" descr="5076313963_d52ee6147e_m.jpg"/>
          <p:cNvPicPr>
            <a:picLocks noChangeAspect="1"/>
          </p:cNvPicPr>
          <p:nvPr/>
        </p:nvPicPr>
        <p:blipFill>
          <a:blip r:embed="rId3" cstate="print"/>
          <a:stretch>
            <a:fillRect/>
          </a:stretch>
        </p:blipFill>
        <p:spPr>
          <a:xfrm>
            <a:off x="6786578" y="2928934"/>
            <a:ext cx="1400043" cy="2100064"/>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Responding to complaints</a:t>
            </a:r>
          </a:p>
        </p:txBody>
      </p:sp>
      <p:sp>
        <p:nvSpPr>
          <p:cNvPr id="3" name="Content Placeholder 2"/>
          <p:cNvSpPr>
            <a:spLocks noGrp="1"/>
          </p:cNvSpPr>
          <p:nvPr>
            <p:ph idx="1"/>
          </p:nvPr>
        </p:nvSpPr>
        <p:spPr>
          <a:xfrm>
            <a:off x="611560" y="1556792"/>
            <a:ext cx="7467600" cy="5301208"/>
          </a:xfrm>
        </p:spPr>
        <p:txBody>
          <a:bodyPr>
            <a:normAutofit/>
          </a:bodyPr>
          <a:lstStyle/>
          <a:p>
            <a:pPr marL="0" indent="-342900">
              <a:spcBef>
                <a:spcPts val="600"/>
              </a:spcBef>
              <a:spcAft>
                <a:spcPts val="1200"/>
              </a:spcAft>
              <a:buNone/>
            </a:pPr>
            <a:r>
              <a:rPr lang="en-AU" sz="2200" b="1" dirty="0" smtClean="0"/>
              <a:t>Respond to patron complaints about wine</a:t>
            </a:r>
          </a:p>
          <a:p>
            <a:pPr marL="421200" indent="-342900">
              <a:spcBef>
                <a:spcPts val="600"/>
              </a:spcBef>
              <a:spcAft>
                <a:spcPts val="1200"/>
              </a:spcAft>
            </a:pPr>
            <a:r>
              <a:rPr lang="en-AU" sz="2200" dirty="0" smtClean="0"/>
              <a:t>Due to the very nature of wine, at times wine will not be to the expected standard</a:t>
            </a:r>
          </a:p>
          <a:p>
            <a:pPr marL="421200" indent="-342900">
              <a:spcBef>
                <a:spcPts val="600"/>
              </a:spcBef>
              <a:spcAft>
                <a:spcPts val="1200"/>
              </a:spcAft>
            </a:pPr>
            <a:r>
              <a:rPr lang="en-AU" sz="2200" dirty="0" smtClean="0"/>
              <a:t>Given the appreciation of wine is very much a personal thing, it is always possible that what one person sees as grounds for a complaint, is really not a wine fault, but simply a difference of opinions </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12290" name="Picture 2" descr="I:\Overseas Projects\PHOTOS\2012\Office\complaints.png"/>
          <p:cNvPicPr>
            <a:picLocks noChangeAspect="1" noChangeArrowheads="1"/>
          </p:cNvPicPr>
          <p:nvPr/>
        </p:nvPicPr>
        <p:blipFill>
          <a:blip r:embed="rId3" cstate="print"/>
          <a:srcRect/>
          <a:stretch>
            <a:fillRect/>
          </a:stretch>
        </p:blipFill>
        <p:spPr bwMode="auto">
          <a:xfrm>
            <a:off x="6215074" y="4500570"/>
            <a:ext cx="1831351" cy="1498592"/>
          </a:xfrm>
          <a:prstGeom prst="rect">
            <a:avLst/>
          </a:prstGeom>
          <a:noFill/>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pPr>
              <a:spcAft>
                <a:spcPts val="600"/>
              </a:spcAft>
            </a:pPr>
            <a:r>
              <a:rPr lang="en-AU" sz="3400" b="1" dirty="0" smtClean="0">
                <a:solidFill>
                  <a:srgbClr val="FF6600"/>
                </a:solidFill>
                <a:latin typeface="Helvetica" pitchFamily="34" charset="0"/>
              </a:rPr>
              <a:t>Responding to complaints</a:t>
            </a:r>
          </a:p>
        </p:txBody>
      </p:sp>
      <p:sp>
        <p:nvSpPr>
          <p:cNvPr id="3" name="Content Placeholder 2"/>
          <p:cNvSpPr>
            <a:spLocks noGrp="1"/>
          </p:cNvSpPr>
          <p:nvPr>
            <p:ph idx="1"/>
          </p:nvPr>
        </p:nvSpPr>
        <p:spPr>
          <a:xfrm>
            <a:off x="611560" y="1556792"/>
            <a:ext cx="7467600" cy="5301208"/>
          </a:xfrm>
        </p:spPr>
        <p:txBody>
          <a:bodyPr>
            <a:normAutofit/>
          </a:bodyPr>
          <a:lstStyle/>
          <a:p>
            <a:pPr marL="0" indent="-342900">
              <a:spcBef>
                <a:spcPts val="600"/>
              </a:spcBef>
              <a:spcAft>
                <a:spcPts val="1200"/>
              </a:spcAft>
              <a:buNone/>
            </a:pPr>
            <a:r>
              <a:rPr lang="en-AU" sz="2200" b="1" dirty="0" smtClean="0"/>
              <a:t>Standard procedures</a:t>
            </a:r>
          </a:p>
          <a:p>
            <a:pPr marL="0">
              <a:spcBef>
                <a:spcPts val="600"/>
              </a:spcBef>
              <a:spcAft>
                <a:spcPts val="1200"/>
              </a:spcAft>
              <a:buNone/>
            </a:pPr>
            <a:r>
              <a:rPr lang="en-AU" sz="2200" dirty="0" smtClean="0"/>
              <a:t>Where obvious </a:t>
            </a:r>
            <a:r>
              <a:rPr lang="en-AU" sz="2200" u="sng" dirty="0" smtClean="0"/>
              <a:t>legitimate</a:t>
            </a:r>
            <a:r>
              <a:rPr lang="en-AU" sz="2200" dirty="0" smtClean="0"/>
              <a:t> complaints are identified, the standard procedure is to: </a:t>
            </a:r>
          </a:p>
          <a:p>
            <a:pPr lvl="0">
              <a:spcBef>
                <a:spcPts val="600"/>
              </a:spcBef>
              <a:spcAft>
                <a:spcPts val="1200"/>
              </a:spcAft>
            </a:pPr>
            <a:r>
              <a:rPr lang="en-AU" sz="2200" dirty="0" smtClean="0"/>
              <a:t>Apologise </a:t>
            </a:r>
          </a:p>
          <a:p>
            <a:pPr lvl="0">
              <a:spcBef>
                <a:spcPts val="600"/>
              </a:spcBef>
              <a:spcAft>
                <a:spcPts val="1200"/>
              </a:spcAft>
            </a:pPr>
            <a:r>
              <a:rPr lang="en-AU" sz="2200" dirty="0" smtClean="0"/>
              <a:t>Replace the wine – if that is what the </a:t>
            </a:r>
            <a:br>
              <a:rPr lang="en-AU" sz="2200" dirty="0" smtClean="0"/>
            </a:br>
            <a:r>
              <a:rPr lang="en-AU" sz="2200" dirty="0" smtClean="0"/>
              <a:t>customer wants, or </a:t>
            </a:r>
          </a:p>
          <a:p>
            <a:pPr lvl="0">
              <a:spcBef>
                <a:spcPts val="600"/>
              </a:spcBef>
              <a:spcAft>
                <a:spcPts val="1200"/>
              </a:spcAft>
            </a:pPr>
            <a:r>
              <a:rPr lang="en-AU" sz="2200" dirty="0" smtClean="0"/>
              <a:t>Refund the purchase price</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11267" name="Picture 3" descr="C:\Documents and Settings\danielc\Local Settings\Temporary Internet Files\Content.IE5\SIQ5KRQ3\MC900312424[1].wmf"/>
          <p:cNvPicPr>
            <a:picLocks noChangeAspect="1" noChangeArrowheads="1"/>
          </p:cNvPicPr>
          <p:nvPr/>
        </p:nvPicPr>
        <p:blipFill>
          <a:blip r:embed="rId3" cstate="print"/>
          <a:srcRect/>
          <a:stretch>
            <a:fillRect/>
          </a:stretch>
        </p:blipFill>
        <p:spPr bwMode="auto">
          <a:xfrm>
            <a:off x="6357950" y="2857496"/>
            <a:ext cx="1107338" cy="1813255"/>
          </a:xfrm>
          <a:prstGeom prst="rect">
            <a:avLst/>
          </a:prstGeom>
          <a:noFill/>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Element 6:</a:t>
            </a:r>
          </a:p>
          <a:p>
            <a:pPr marL="0" lvl="0">
              <a:buNone/>
            </a:pPr>
            <a:r>
              <a:rPr lang="en-AU" sz="4000" dirty="0" smtClean="0">
                <a:solidFill>
                  <a:srgbClr val="FF6600"/>
                </a:solidFill>
              </a:rPr>
              <a:t>Maintain wine knowledge</a:t>
            </a:r>
          </a:p>
          <a:p>
            <a:pPr>
              <a:spcBef>
                <a:spcPts val="600"/>
              </a:spcBef>
              <a:spcAft>
                <a:spcPts val="1200"/>
              </a:spcAft>
            </a:pPr>
            <a:endParaRPr lang="en-AU" sz="2200" dirty="0" smtClean="0"/>
          </a:p>
          <a:p>
            <a:pPr>
              <a:spcBef>
                <a:spcPts val="600"/>
              </a:spcBef>
              <a:spcAft>
                <a:spcPts val="1200"/>
              </a:spcAft>
              <a:buNone/>
            </a:pPr>
            <a:endParaRPr lang="en-AU" sz="2200" dirty="0" smtClean="0"/>
          </a:p>
          <a:p>
            <a:pPr lvl="0">
              <a:spcBef>
                <a:spcPts val="600"/>
              </a:spcBef>
              <a:spcAft>
                <a:spcPts val="600"/>
              </a:spcAft>
            </a:pPr>
            <a:endParaRPr lang="en-AU" sz="2200" dirty="0" smtClean="0"/>
          </a:p>
          <a:p>
            <a:pPr>
              <a:buNone/>
            </a:pPr>
            <a:endParaRPr lang="en-AU" sz="2400" dirty="0" smtClean="0"/>
          </a:p>
          <a:p>
            <a:pPr lvl="0">
              <a:spcBef>
                <a:spcPts val="600"/>
              </a:spcBef>
              <a:spcAft>
                <a:spcPts val="1200"/>
              </a:spcAft>
            </a:pPr>
            <a:endParaRPr lang="en-AU" sz="2200" dirty="0" smtClean="0"/>
          </a:p>
          <a:p>
            <a:pPr marL="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10242" name="Picture 2" descr="C:\Program Files\Microsoft Office\MEDIA\CAGCAT10\j0299125.wmf"/>
          <p:cNvPicPr>
            <a:picLocks noChangeAspect="1" noChangeArrowheads="1"/>
          </p:cNvPicPr>
          <p:nvPr/>
        </p:nvPicPr>
        <p:blipFill>
          <a:blip r:embed="rId3" cstate="print"/>
          <a:srcRect/>
          <a:stretch>
            <a:fillRect/>
          </a:stretch>
        </p:blipFill>
        <p:spPr bwMode="auto">
          <a:xfrm>
            <a:off x="4143372" y="3143248"/>
            <a:ext cx="1721886" cy="2825441"/>
          </a:xfrm>
          <a:prstGeom prst="rect">
            <a:avLst/>
          </a:prstGeom>
          <a:noFill/>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Maintain wine knowledge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t>Performance Criteria for this Element are: </a:t>
            </a:r>
          </a:p>
          <a:p>
            <a:pPr>
              <a:spcBef>
                <a:spcPts val="600"/>
              </a:spcBef>
              <a:spcAft>
                <a:spcPts val="1200"/>
              </a:spcAft>
            </a:pPr>
            <a:r>
              <a:rPr lang="en-AU" sz="2200" dirty="0" smtClean="0"/>
              <a:t>Implement formal and informal research to update knowledge about wine</a:t>
            </a:r>
          </a:p>
          <a:p>
            <a:pPr>
              <a:spcBef>
                <a:spcPts val="600"/>
              </a:spcBef>
              <a:spcAft>
                <a:spcPts val="1200"/>
              </a:spcAft>
            </a:pPr>
            <a:r>
              <a:rPr lang="en-AU" sz="2200" dirty="0" smtClean="0"/>
              <a:t>Identify emerging trends in the consumption of wine and changes in patron preferences</a:t>
            </a:r>
          </a:p>
          <a:p>
            <a:pPr>
              <a:spcBef>
                <a:spcPts val="600"/>
              </a:spcBef>
              <a:spcAft>
                <a:spcPts val="1200"/>
              </a:spcAft>
            </a:pPr>
            <a:r>
              <a:rPr lang="en-AU" sz="2200" dirty="0" smtClean="0"/>
              <a:t>Share updated wine knowledge with others</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6"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3929058" y="2473326"/>
            <a:ext cx="399154" cy="527046"/>
          </a:xfrm>
          <a:prstGeom prst="rect">
            <a:avLst/>
          </a:prstGeom>
          <a:noFill/>
        </p:spPr>
      </p:pic>
      <p:pic>
        <p:nvPicPr>
          <p:cNvPr id="7"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5500694" y="3402020"/>
            <a:ext cx="399154" cy="527046"/>
          </a:xfrm>
          <a:prstGeom prst="rect">
            <a:avLst/>
          </a:prstGeom>
          <a:noFill/>
        </p:spPr>
      </p:pic>
      <p:pic>
        <p:nvPicPr>
          <p:cNvPr id="8" name="Picture 3" descr="C:\Documents and Settings\Godaishu\Local Settings\Temporary Internet Files\Content.IE5\KLU3SPUN\MC900434663[1].wmf"/>
          <p:cNvPicPr>
            <a:picLocks noChangeAspect="1" noChangeArrowheads="1"/>
          </p:cNvPicPr>
          <p:nvPr/>
        </p:nvPicPr>
        <p:blipFill>
          <a:blip r:embed="rId3" cstate="print"/>
          <a:srcRect/>
          <a:stretch>
            <a:fillRect/>
          </a:stretch>
        </p:blipFill>
        <p:spPr bwMode="auto">
          <a:xfrm>
            <a:off x="6500826" y="3929066"/>
            <a:ext cx="399154" cy="527046"/>
          </a:xfrm>
          <a:prstGeom prst="rect">
            <a:avLst/>
          </a:prstGeom>
          <a:noFill/>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r>
              <a:rPr lang="en-AU" sz="3400" b="1" dirty="0" smtClean="0">
                <a:solidFill>
                  <a:srgbClr val="FF6600"/>
                </a:solidFill>
                <a:latin typeface="Helvetica" pitchFamily="34" charset="0"/>
              </a:rPr>
              <a:t>Maintain wine knowledge</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The wine industry is having an ever growing presence in food and beverage outlets.</a:t>
            </a:r>
          </a:p>
          <a:p>
            <a:pPr marL="0" indent="0">
              <a:spcBef>
                <a:spcPts val="600"/>
              </a:spcBef>
              <a:spcAft>
                <a:spcPts val="1200"/>
              </a:spcAft>
              <a:buNone/>
            </a:pPr>
            <a:r>
              <a:rPr lang="en-AU" sz="2200" dirty="0" smtClean="0"/>
              <a:t>It is important staff can:</a:t>
            </a:r>
          </a:p>
          <a:p>
            <a:pPr>
              <a:spcBef>
                <a:spcPts val="600"/>
              </a:spcBef>
              <a:spcAft>
                <a:spcPts val="1200"/>
              </a:spcAft>
            </a:pPr>
            <a:r>
              <a:rPr lang="en-AU" sz="2200" dirty="0" smtClean="0"/>
              <a:t>Identify different wine regions, styles </a:t>
            </a:r>
            <a:br>
              <a:rPr lang="en-AU" sz="2200" dirty="0" smtClean="0"/>
            </a:br>
            <a:r>
              <a:rPr lang="en-AU" sz="2200" dirty="0" smtClean="0"/>
              <a:t>and varietals</a:t>
            </a:r>
          </a:p>
          <a:p>
            <a:pPr>
              <a:spcBef>
                <a:spcPts val="600"/>
              </a:spcBef>
              <a:spcAft>
                <a:spcPts val="1200"/>
              </a:spcAft>
            </a:pPr>
            <a:r>
              <a:rPr lang="en-AU" sz="2200" dirty="0" smtClean="0"/>
              <a:t>Explain it in detail to customers  </a:t>
            </a:r>
          </a:p>
          <a:p>
            <a:pPr>
              <a:spcBef>
                <a:spcPts val="600"/>
              </a:spcBef>
              <a:spcAft>
                <a:spcPts val="1200"/>
              </a:spcAft>
            </a:pPr>
            <a:r>
              <a:rPr lang="en-AU" sz="2200" dirty="0" smtClean="0"/>
              <a:t>Provide advice and suggestions </a:t>
            </a:r>
          </a:p>
          <a:p>
            <a:pPr marL="0" indent="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9218" name="Picture 2" descr="C:\Documents and Settings\danielc\Desktop\Serve a range of wine products images\734375_wine.jpg"/>
          <p:cNvPicPr>
            <a:picLocks noChangeAspect="1" noChangeArrowheads="1"/>
          </p:cNvPicPr>
          <p:nvPr/>
        </p:nvPicPr>
        <p:blipFill>
          <a:blip r:embed="rId3" cstate="print"/>
          <a:srcRect/>
          <a:stretch>
            <a:fillRect/>
          </a:stretch>
        </p:blipFill>
        <p:spPr bwMode="auto">
          <a:xfrm>
            <a:off x="5929322" y="3143248"/>
            <a:ext cx="2357454" cy="1571636"/>
          </a:xfrm>
          <a:prstGeom prst="rect">
            <a:avLst/>
          </a:prstGeom>
          <a:noFill/>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lvl="0"/>
            <a:r>
              <a:rPr lang="en-AU" sz="3400" b="1" dirty="0" smtClean="0">
                <a:solidFill>
                  <a:srgbClr val="FF6600"/>
                </a:solidFill>
                <a:latin typeface="Helvetica" pitchFamily="34" charset="0"/>
              </a:rPr>
              <a:t>Maintain wine knowledge</a:t>
            </a: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t>‘Product knowledge’ is at the heart of providing information on food and beverages to customers</a:t>
            </a:r>
          </a:p>
          <a:p>
            <a:pPr>
              <a:spcBef>
                <a:spcPts val="600"/>
              </a:spcBef>
              <a:spcAft>
                <a:spcPts val="1200"/>
              </a:spcAft>
            </a:pPr>
            <a:r>
              <a:rPr lang="en-AU" sz="2200" dirty="0" smtClean="0"/>
              <a:t>What product knowledge do you need to </a:t>
            </a:r>
            <a:br>
              <a:rPr lang="en-AU" sz="2200" dirty="0" smtClean="0"/>
            </a:br>
            <a:r>
              <a:rPr lang="en-AU" sz="2200" dirty="0" smtClean="0"/>
              <a:t>know?</a:t>
            </a:r>
          </a:p>
          <a:p>
            <a:pPr>
              <a:spcBef>
                <a:spcPts val="600"/>
              </a:spcBef>
              <a:spcAft>
                <a:spcPts val="1200"/>
              </a:spcAft>
            </a:pPr>
            <a:r>
              <a:rPr lang="en-AU" sz="2200" dirty="0" smtClean="0"/>
              <a:t>Where can you find this information?</a:t>
            </a:r>
          </a:p>
          <a:p>
            <a:pPr marL="0" indent="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8194" name="Picture 2" descr="C:\Documents and Settings\danielc\Desktop\Serve a range of wine products images\1013123_learn_2.jpg"/>
          <p:cNvPicPr>
            <a:picLocks noChangeAspect="1" noChangeArrowheads="1"/>
          </p:cNvPicPr>
          <p:nvPr/>
        </p:nvPicPr>
        <p:blipFill>
          <a:blip r:embed="rId3" cstate="print">
            <a:grayscl/>
          </a:blip>
          <a:srcRect/>
          <a:stretch>
            <a:fillRect/>
          </a:stretch>
        </p:blipFill>
        <p:spPr bwMode="auto">
          <a:xfrm>
            <a:off x="6211538" y="2357430"/>
            <a:ext cx="2084767" cy="1785950"/>
          </a:xfrm>
          <a:prstGeom prst="rect">
            <a:avLst/>
          </a:prstGeom>
          <a:noFill/>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Maintain wine knowledge</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lnSpcReduction="10000"/>
          </a:bodyPr>
          <a:lstStyle/>
          <a:p>
            <a:pPr lvl="0">
              <a:spcBef>
                <a:spcPts val="600"/>
              </a:spcBef>
              <a:spcAft>
                <a:spcPts val="1200"/>
              </a:spcAft>
              <a:buNone/>
            </a:pPr>
            <a:r>
              <a:rPr lang="en-AU" sz="2200" b="1" dirty="0" smtClean="0"/>
              <a:t>Benefits of job specific knowledge</a:t>
            </a:r>
          </a:p>
          <a:p>
            <a:pPr lvl="0">
              <a:spcBef>
                <a:spcPts val="600"/>
              </a:spcBef>
              <a:spcAft>
                <a:spcPts val="1200"/>
              </a:spcAft>
            </a:pPr>
            <a:r>
              <a:rPr lang="en-AU" sz="2200" dirty="0" smtClean="0"/>
              <a:t>Demonstrate professionalism</a:t>
            </a:r>
          </a:p>
          <a:p>
            <a:pPr lvl="0">
              <a:spcBef>
                <a:spcPts val="600"/>
              </a:spcBef>
              <a:spcAft>
                <a:spcPts val="1200"/>
              </a:spcAft>
            </a:pPr>
            <a:r>
              <a:rPr lang="en-AU" sz="2200" dirty="0" smtClean="0"/>
              <a:t>Inform the customer of the various wines </a:t>
            </a:r>
            <a:br>
              <a:rPr lang="en-AU" sz="2200" dirty="0" smtClean="0"/>
            </a:br>
            <a:r>
              <a:rPr lang="en-AU" sz="2200" dirty="0" smtClean="0"/>
              <a:t>offered in your establishment</a:t>
            </a:r>
          </a:p>
          <a:p>
            <a:pPr lvl="0">
              <a:spcBef>
                <a:spcPts val="600"/>
              </a:spcBef>
              <a:spcAft>
                <a:spcPts val="1200"/>
              </a:spcAft>
            </a:pPr>
            <a:r>
              <a:rPr lang="en-AU" sz="2200" dirty="0" smtClean="0"/>
              <a:t>Explain wine styles, varietals and characteristics</a:t>
            </a:r>
          </a:p>
          <a:p>
            <a:pPr lvl="0">
              <a:spcBef>
                <a:spcPts val="600"/>
              </a:spcBef>
              <a:spcAft>
                <a:spcPts val="1200"/>
              </a:spcAft>
            </a:pPr>
            <a:r>
              <a:rPr lang="en-AU" sz="2200" dirty="0" smtClean="0"/>
              <a:t>Provide background information about wines</a:t>
            </a:r>
          </a:p>
          <a:p>
            <a:pPr lvl="0">
              <a:spcBef>
                <a:spcPts val="600"/>
              </a:spcBef>
              <a:spcAft>
                <a:spcPts val="1200"/>
              </a:spcAft>
            </a:pPr>
            <a:r>
              <a:rPr lang="en-AU" sz="2200" dirty="0" smtClean="0"/>
              <a:t>Promote wines</a:t>
            </a:r>
          </a:p>
          <a:p>
            <a:pPr lvl="0">
              <a:spcBef>
                <a:spcPts val="600"/>
              </a:spcBef>
              <a:spcAft>
                <a:spcPts val="1200"/>
              </a:spcAft>
            </a:pPr>
            <a:r>
              <a:rPr lang="en-AU" sz="2200" dirty="0" smtClean="0"/>
              <a:t>Recommend food items to match wines</a:t>
            </a:r>
          </a:p>
          <a:p>
            <a:pPr lvl="0">
              <a:spcBef>
                <a:spcPts val="600"/>
              </a:spcBef>
              <a:spcAft>
                <a:spcPts val="1200"/>
              </a:spcAft>
            </a:pPr>
            <a:r>
              <a:rPr lang="en-AU" sz="2200" dirty="0" smtClean="0"/>
              <a:t>Generally assist customers with any enquiries                           in which they may have</a:t>
            </a:r>
          </a:p>
          <a:p>
            <a:pPr>
              <a:spcBef>
                <a:spcPts val="600"/>
              </a:spcBef>
              <a:spcAft>
                <a:spcPts val="1200"/>
              </a:spcAft>
              <a:buNone/>
            </a:pPr>
            <a:endParaRPr lang="en-US" altLang="zh-CN" sz="2200" dirty="0" smtClean="0">
              <a:ea typeface="宋体" pitchFamily="2" charset="-122"/>
            </a:endParaRPr>
          </a:p>
          <a:p>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I:\Overseas Projects\PHOTOS\2012\Office\ZOO_004.jpg"/>
          <p:cNvPicPr/>
          <p:nvPr/>
        </p:nvPicPr>
        <p:blipFill>
          <a:blip r:embed="rId3" cstate="print">
            <a:grayscl/>
          </a:blip>
          <a:srcRect/>
          <a:stretch>
            <a:fillRect/>
          </a:stretch>
        </p:blipFill>
        <p:spPr bwMode="auto">
          <a:xfrm>
            <a:off x="6500826" y="1357298"/>
            <a:ext cx="1357322" cy="2020448"/>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134</a:t>
            </a:fld>
            <a:endParaRPr lang="en-US"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Maintain wine knowledge</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Improve general knowledge</a:t>
            </a:r>
          </a:p>
          <a:p>
            <a:pPr marL="0">
              <a:spcBef>
                <a:spcPts val="600"/>
              </a:spcBef>
              <a:spcAft>
                <a:spcPts val="1200"/>
              </a:spcAft>
              <a:buNone/>
            </a:pPr>
            <a:r>
              <a:rPr lang="en-AU" sz="2200" dirty="0" smtClean="0"/>
              <a:t>At a minimum, wine servers should be a sound understanding of:</a:t>
            </a:r>
          </a:p>
          <a:p>
            <a:pPr lvl="0">
              <a:spcBef>
                <a:spcPts val="600"/>
              </a:spcBef>
              <a:spcAft>
                <a:spcPts val="1200"/>
              </a:spcAft>
            </a:pPr>
            <a:r>
              <a:rPr lang="en-AU" sz="2200" dirty="0" smtClean="0"/>
              <a:t>The wines that are available from the bar </a:t>
            </a:r>
          </a:p>
          <a:p>
            <a:pPr lvl="0">
              <a:spcBef>
                <a:spcPts val="600"/>
              </a:spcBef>
              <a:spcAft>
                <a:spcPts val="1200"/>
              </a:spcAft>
            </a:pPr>
            <a:r>
              <a:rPr lang="en-AU" sz="2200" dirty="0" smtClean="0"/>
              <a:t>The ways they can be served – by the bottle, glass, carafe ...</a:t>
            </a:r>
          </a:p>
          <a:p>
            <a:pPr lvl="0">
              <a:spcBef>
                <a:spcPts val="600"/>
              </a:spcBef>
              <a:spcAft>
                <a:spcPts val="1200"/>
              </a:spcAft>
            </a:pPr>
            <a:r>
              <a:rPr lang="en-AU" sz="2200" dirty="0" smtClean="0"/>
              <a:t>The brand names and types of table wines,                sparkling wines and fortified wines available</a:t>
            </a:r>
          </a:p>
          <a:p>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MP900432952[1].JPG"/>
          <p:cNvPicPr>
            <a:picLocks noChangeAspect="1"/>
          </p:cNvPicPr>
          <p:nvPr/>
        </p:nvPicPr>
        <p:blipFill>
          <a:blip r:embed="rId3" cstate="print"/>
          <a:stretch>
            <a:fillRect/>
          </a:stretch>
        </p:blipFill>
        <p:spPr>
          <a:xfrm>
            <a:off x="6929454" y="1857364"/>
            <a:ext cx="1166631" cy="1650893"/>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135</a:t>
            </a:fld>
            <a:endParaRPr lang="en-US" dirty="0"/>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Maintain wine knowledge</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Improve general knowledge</a:t>
            </a:r>
          </a:p>
          <a:p>
            <a:pPr lvl="0">
              <a:spcBef>
                <a:spcPts val="600"/>
              </a:spcBef>
              <a:spcAft>
                <a:spcPts val="1200"/>
              </a:spcAft>
            </a:pPr>
            <a:r>
              <a:rPr lang="en-AU" sz="2200" dirty="0" smtClean="0"/>
              <a:t>Information </a:t>
            </a:r>
            <a:r>
              <a:rPr lang="en-AU" sz="2200" dirty="0" smtClean="0"/>
              <a:t>about individual wines</a:t>
            </a:r>
          </a:p>
          <a:p>
            <a:pPr lvl="0">
              <a:spcBef>
                <a:spcPts val="600"/>
              </a:spcBef>
              <a:spcAft>
                <a:spcPts val="1200"/>
              </a:spcAft>
            </a:pPr>
            <a:r>
              <a:rPr lang="en-AU" sz="2200" dirty="0" smtClean="0"/>
              <a:t>Prices</a:t>
            </a:r>
          </a:p>
          <a:p>
            <a:pPr lvl="0">
              <a:spcBef>
                <a:spcPts val="600"/>
              </a:spcBef>
              <a:spcAft>
                <a:spcPts val="1200"/>
              </a:spcAft>
            </a:pPr>
            <a:r>
              <a:rPr lang="en-AU" sz="2200" dirty="0" smtClean="0"/>
              <a:t>Knowledge about matching wine to menu items</a:t>
            </a:r>
          </a:p>
          <a:p>
            <a:pPr lvl="0">
              <a:spcBef>
                <a:spcPts val="600"/>
              </a:spcBef>
              <a:spcAft>
                <a:spcPts val="1200"/>
              </a:spcAft>
            </a:pPr>
            <a:r>
              <a:rPr lang="en-AU" sz="2200" dirty="0" smtClean="0"/>
              <a:t>Glassware for the service of all drinks</a:t>
            </a:r>
          </a:p>
          <a:p>
            <a:pPr>
              <a:spcBef>
                <a:spcPts val="600"/>
              </a:spcBef>
              <a:spcAft>
                <a:spcPts val="1200"/>
              </a:spcAft>
            </a:pPr>
            <a:r>
              <a:rPr lang="en-AU" sz="2200" dirty="0" smtClean="0"/>
              <a:t>How to present and pour wine</a:t>
            </a:r>
            <a:endParaRPr lang="en-US" altLang="zh-CN" sz="2200" dirty="0" smtClean="0">
              <a:ea typeface="宋体" pitchFamily="2" charset="-122"/>
            </a:endParaRPr>
          </a:p>
          <a:p>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7170" name="Picture 2" descr="C:\Documents and Settings\danielc\Desktop\Serve a range of wine products images\1176923_books_2.jpg"/>
          <p:cNvPicPr>
            <a:picLocks noChangeAspect="1" noChangeArrowheads="1"/>
          </p:cNvPicPr>
          <p:nvPr/>
        </p:nvPicPr>
        <p:blipFill>
          <a:blip r:embed="rId3" cstate="print">
            <a:grayscl/>
            <a:lum contrast="20000"/>
          </a:blip>
          <a:srcRect/>
          <a:stretch>
            <a:fillRect/>
          </a:stretch>
        </p:blipFill>
        <p:spPr bwMode="auto">
          <a:xfrm>
            <a:off x="6000760" y="1643050"/>
            <a:ext cx="1896505" cy="1416057"/>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136</a:t>
            </a:fld>
            <a:endParaRPr lang="en-US" dirty="0"/>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US" altLang="zh-CN" sz="3400" b="1" dirty="0" smtClean="0">
                <a:solidFill>
                  <a:srgbClr val="FF6600"/>
                </a:solidFill>
                <a:latin typeface="Helvetica" pitchFamily="34" charset="0"/>
                <a:ea typeface="宋体" pitchFamily="2" charset="-122"/>
              </a:rPr>
              <a:t>Sources of wine information</a:t>
            </a: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Organisational sources</a:t>
            </a:r>
            <a:endParaRPr lang="en-AU" sz="2200" dirty="0" smtClean="0"/>
          </a:p>
          <a:p>
            <a:pPr lvl="0">
              <a:spcBef>
                <a:spcPts val="600"/>
              </a:spcBef>
              <a:spcAft>
                <a:spcPts val="1200"/>
              </a:spcAft>
            </a:pPr>
            <a:r>
              <a:rPr lang="en-AU" sz="2200" dirty="0" smtClean="0"/>
              <a:t>Wine lists </a:t>
            </a:r>
          </a:p>
          <a:p>
            <a:pPr lvl="0">
              <a:spcBef>
                <a:spcPts val="600"/>
              </a:spcBef>
              <a:spcAft>
                <a:spcPts val="1200"/>
              </a:spcAft>
            </a:pPr>
            <a:r>
              <a:rPr lang="en-AU" sz="2200" dirty="0" smtClean="0"/>
              <a:t>Taste the products </a:t>
            </a:r>
          </a:p>
          <a:p>
            <a:pPr lvl="0">
              <a:spcBef>
                <a:spcPts val="600"/>
              </a:spcBef>
              <a:spcAft>
                <a:spcPts val="1200"/>
              </a:spcAft>
            </a:pPr>
            <a:r>
              <a:rPr lang="en-AU" sz="2200" dirty="0" smtClean="0"/>
              <a:t>Experienced staff </a:t>
            </a:r>
          </a:p>
          <a:p>
            <a:pPr lvl="0">
              <a:spcBef>
                <a:spcPts val="600"/>
              </a:spcBef>
              <a:spcAft>
                <a:spcPts val="1200"/>
              </a:spcAft>
            </a:pPr>
            <a:r>
              <a:rPr lang="en-AU" sz="2200" dirty="0" smtClean="0"/>
              <a:t>Operational manuals </a:t>
            </a:r>
          </a:p>
          <a:p>
            <a:pPr lvl="0">
              <a:spcBef>
                <a:spcPts val="600"/>
              </a:spcBef>
              <a:spcAft>
                <a:spcPts val="1200"/>
              </a:spcAft>
            </a:pPr>
            <a:r>
              <a:rPr lang="en-AU" sz="2200" dirty="0" smtClean="0"/>
              <a:t>Policies and procedures manuals</a:t>
            </a:r>
          </a:p>
          <a:p>
            <a:pPr>
              <a:spcBef>
                <a:spcPts val="600"/>
              </a:spcBef>
              <a:spcAft>
                <a:spcPts val="1200"/>
              </a:spcAft>
              <a:buNone/>
            </a:pPr>
            <a:endParaRPr lang="en-US" altLang="zh-CN" sz="2200" dirty="0" smtClean="0">
              <a:ea typeface="宋体" pitchFamily="2" charset="-122"/>
            </a:endParaRPr>
          </a:p>
          <a:p>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2720539525_8e5b48728b_m.jpg"/>
          <p:cNvPicPr/>
          <p:nvPr/>
        </p:nvPicPr>
        <p:blipFill>
          <a:blip r:embed="rId3" cstate="print"/>
          <a:stretch>
            <a:fillRect/>
          </a:stretch>
        </p:blipFill>
        <p:spPr>
          <a:xfrm>
            <a:off x="6000760" y="2571744"/>
            <a:ext cx="1537320" cy="1905744"/>
          </a:xfrm>
          <a:prstGeom prst="ellipse">
            <a:avLst/>
          </a:prstGeom>
          <a:ln>
            <a:noFill/>
          </a:ln>
          <a:effectLst>
            <a:softEdge rad="112500"/>
          </a:effec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137</a:t>
            </a:fld>
            <a:endParaRPr lang="en-US" dirty="0"/>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US" altLang="zh-CN" sz="3400" b="1" dirty="0" smtClean="0">
                <a:solidFill>
                  <a:srgbClr val="FF6600"/>
                </a:solidFill>
                <a:latin typeface="Helvetica" pitchFamily="34" charset="0"/>
                <a:ea typeface="宋体" pitchFamily="2" charset="-122"/>
              </a:rPr>
              <a:t>Sources of wine information</a:t>
            </a: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Organisational sources</a:t>
            </a:r>
          </a:p>
          <a:p>
            <a:pPr lvl="0">
              <a:spcBef>
                <a:spcPts val="600"/>
              </a:spcBef>
              <a:spcAft>
                <a:spcPts val="1200"/>
              </a:spcAft>
            </a:pPr>
            <a:r>
              <a:rPr lang="en-AU" sz="2200" dirty="0" smtClean="0"/>
              <a:t>Information </a:t>
            </a:r>
            <a:r>
              <a:rPr lang="en-AU" sz="2200" dirty="0" smtClean="0"/>
              <a:t>found on the bottle itself </a:t>
            </a:r>
          </a:p>
          <a:p>
            <a:pPr lvl="0">
              <a:spcBef>
                <a:spcPts val="600"/>
              </a:spcBef>
              <a:spcAft>
                <a:spcPts val="1200"/>
              </a:spcAft>
            </a:pPr>
            <a:r>
              <a:rPr lang="en-AU" sz="2200" dirty="0" smtClean="0"/>
              <a:t>Doing a tour of the wine storage area or </a:t>
            </a:r>
            <a:br>
              <a:rPr lang="en-AU" sz="2200" dirty="0" smtClean="0"/>
            </a:br>
            <a:r>
              <a:rPr lang="en-AU" sz="2200" dirty="0" smtClean="0"/>
              <a:t>a wine shop</a:t>
            </a:r>
          </a:p>
          <a:p>
            <a:pPr lvl="0">
              <a:spcBef>
                <a:spcPts val="600"/>
              </a:spcBef>
              <a:spcAft>
                <a:spcPts val="1200"/>
              </a:spcAft>
            </a:pPr>
            <a:r>
              <a:rPr lang="en-AU" sz="2200" dirty="0" smtClean="0"/>
              <a:t>Workplace observations </a:t>
            </a:r>
          </a:p>
          <a:p>
            <a:pPr lvl="0">
              <a:spcBef>
                <a:spcPts val="600"/>
              </a:spcBef>
              <a:spcAft>
                <a:spcPts val="1200"/>
              </a:spcAft>
            </a:pPr>
            <a:r>
              <a:rPr lang="en-AU" sz="2200" dirty="0" smtClean="0"/>
              <a:t>Own experiences </a:t>
            </a:r>
          </a:p>
          <a:p>
            <a:pPr>
              <a:spcBef>
                <a:spcPts val="600"/>
              </a:spcBef>
              <a:spcAft>
                <a:spcPts val="1200"/>
              </a:spcAft>
              <a:buNone/>
            </a:pPr>
            <a:endParaRPr lang="en-US" altLang="zh-CN" sz="2200" dirty="0" smtClean="0">
              <a:ea typeface="宋体" pitchFamily="2" charset="-122"/>
            </a:endParaRPr>
          </a:p>
          <a:p>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6146" name="Picture 2" descr="C:\Documents and Settings\danielc\Desktop\Serve a range of wine products images\155295_red_wine_in_bottle_and_glass.jpg"/>
          <p:cNvPicPr>
            <a:picLocks noChangeAspect="1" noChangeArrowheads="1"/>
          </p:cNvPicPr>
          <p:nvPr/>
        </p:nvPicPr>
        <p:blipFill>
          <a:blip r:embed="rId3" cstate="print"/>
          <a:srcRect/>
          <a:stretch>
            <a:fillRect/>
          </a:stretch>
        </p:blipFill>
        <p:spPr bwMode="auto">
          <a:xfrm>
            <a:off x="6357950" y="2143116"/>
            <a:ext cx="1766886" cy="2500310"/>
          </a:xfrm>
          <a:prstGeom prst="rect">
            <a:avLst/>
          </a:prstGeom>
          <a:noFill/>
        </p:spPr>
      </p:pic>
      <p:sp>
        <p:nvSpPr>
          <p:cNvPr id="7" name="TextBox 6"/>
          <p:cNvSpPr txBox="1"/>
          <p:nvPr/>
        </p:nvSpPr>
        <p:spPr>
          <a:xfrm>
            <a:off x="6572264" y="3500438"/>
            <a:ext cx="571504" cy="230832"/>
          </a:xfrm>
          <a:prstGeom prst="rect">
            <a:avLst/>
          </a:prstGeom>
          <a:noFill/>
        </p:spPr>
        <p:txBody>
          <a:bodyPr wrap="square" rtlCol="0">
            <a:spAutoFit/>
          </a:bodyPr>
          <a:lstStyle/>
          <a:p>
            <a:r>
              <a:rPr lang="en-AU" sz="900" dirty="0" smtClean="0"/>
              <a:t>LABEL</a:t>
            </a:r>
            <a:endParaRPr lang="en-AU" sz="900" dirty="0"/>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138</a:t>
            </a:fld>
            <a:endParaRPr lang="en-US"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US" altLang="zh-CN" sz="3400" b="1" dirty="0" smtClean="0">
                <a:solidFill>
                  <a:srgbClr val="FF6600"/>
                </a:solidFill>
                <a:latin typeface="Helvetica" pitchFamily="34" charset="0"/>
                <a:ea typeface="宋体" pitchFamily="2" charset="-122"/>
              </a:rPr>
              <a:t>Sources of wine information</a:t>
            </a: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External sources</a:t>
            </a:r>
            <a:endParaRPr lang="en-AU" sz="2200" dirty="0" smtClean="0"/>
          </a:p>
          <a:p>
            <a:pPr lvl="0">
              <a:spcBef>
                <a:spcPts val="600"/>
              </a:spcBef>
              <a:spcAft>
                <a:spcPts val="1200"/>
              </a:spcAft>
            </a:pPr>
            <a:r>
              <a:rPr lang="en-AU" sz="2200" dirty="0" smtClean="0"/>
              <a:t>Trade magazines </a:t>
            </a:r>
          </a:p>
          <a:p>
            <a:pPr lvl="0">
              <a:spcBef>
                <a:spcPts val="600"/>
              </a:spcBef>
              <a:spcAft>
                <a:spcPts val="1200"/>
              </a:spcAft>
            </a:pPr>
            <a:r>
              <a:rPr lang="en-AU" sz="2200" dirty="0" smtClean="0"/>
              <a:t>Feature newspaper articles </a:t>
            </a:r>
          </a:p>
          <a:p>
            <a:pPr lvl="0">
              <a:spcBef>
                <a:spcPts val="600"/>
              </a:spcBef>
              <a:spcAft>
                <a:spcPts val="1200"/>
              </a:spcAft>
            </a:pPr>
            <a:r>
              <a:rPr lang="en-AU" sz="2200" dirty="0" smtClean="0"/>
              <a:t>Television programs </a:t>
            </a:r>
          </a:p>
          <a:p>
            <a:pPr lvl="0">
              <a:spcBef>
                <a:spcPts val="600"/>
              </a:spcBef>
              <a:spcAft>
                <a:spcPts val="1200"/>
              </a:spcAft>
            </a:pPr>
            <a:r>
              <a:rPr lang="en-AU" sz="2200" dirty="0" smtClean="0"/>
              <a:t>Food and beverage reference books </a:t>
            </a:r>
          </a:p>
          <a:p>
            <a:pPr lvl="0">
              <a:spcBef>
                <a:spcPts val="600"/>
              </a:spcBef>
              <a:spcAft>
                <a:spcPts val="1200"/>
              </a:spcAft>
            </a:pPr>
            <a:r>
              <a:rPr lang="en-AU" sz="2200" dirty="0" smtClean="0"/>
              <a:t>Internet</a:t>
            </a:r>
          </a:p>
          <a:p>
            <a:pPr lvl="0">
              <a:spcBef>
                <a:spcPts val="600"/>
              </a:spcBef>
              <a:spcAft>
                <a:spcPts val="1200"/>
              </a:spcAft>
            </a:pPr>
            <a:r>
              <a:rPr lang="en-AU" sz="2200" dirty="0" smtClean="0"/>
              <a:t>Wine and food tasting events </a:t>
            </a:r>
            <a:endParaRPr lang="en-US" altLang="zh-CN" sz="2200" dirty="0" smtClean="0">
              <a:ea typeface="宋体" pitchFamily="2" charset="-122"/>
            </a:endParaRPr>
          </a:p>
          <a:p>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149036060_e0f24d2305_m.jpg"/>
          <p:cNvPicPr/>
          <p:nvPr/>
        </p:nvPicPr>
        <p:blipFill>
          <a:blip r:embed="rId3" cstate="print"/>
          <a:stretch>
            <a:fillRect/>
          </a:stretch>
        </p:blipFill>
        <p:spPr>
          <a:xfrm>
            <a:off x="6215074" y="2786058"/>
            <a:ext cx="1856978" cy="1464742"/>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139</a:t>
            </a:fld>
            <a:endParaRPr lang="en-US" dirty="0"/>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US" altLang="zh-CN" sz="3400" b="1" dirty="0" smtClean="0">
                <a:solidFill>
                  <a:srgbClr val="FF6600"/>
                </a:solidFill>
                <a:latin typeface="Helvetica" pitchFamily="34" charset="0"/>
                <a:ea typeface="宋体" pitchFamily="2" charset="-122"/>
              </a:rPr>
              <a:t>Sources of wine information</a:t>
            </a: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External sources</a:t>
            </a:r>
          </a:p>
          <a:p>
            <a:pPr lvl="0">
              <a:spcBef>
                <a:spcPts val="600"/>
              </a:spcBef>
              <a:spcAft>
                <a:spcPts val="1200"/>
              </a:spcAft>
            </a:pPr>
            <a:r>
              <a:rPr lang="en-AU" sz="2200" dirty="0" smtClean="0"/>
              <a:t>Trade </a:t>
            </a:r>
            <a:r>
              <a:rPr lang="en-AU" sz="2200" dirty="0" smtClean="0"/>
              <a:t>shows</a:t>
            </a:r>
          </a:p>
          <a:p>
            <a:pPr lvl="0">
              <a:spcBef>
                <a:spcPts val="600"/>
              </a:spcBef>
              <a:spcAft>
                <a:spcPts val="1200"/>
              </a:spcAft>
            </a:pPr>
            <a:r>
              <a:rPr lang="en-AU" sz="2200" dirty="0" smtClean="0"/>
              <a:t>Exhibitions</a:t>
            </a:r>
          </a:p>
          <a:p>
            <a:pPr lvl="0">
              <a:spcBef>
                <a:spcPts val="600"/>
              </a:spcBef>
              <a:spcAft>
                <a:spcPts val="1200"/>
              </a:spcAft>
            </a:pPr>
            <a:r>
              <a:rPr lang="en-AU" sz="2200" dirty="0" smtClean="0"/>
              <a:t>Food and beverage festivals </a:t>
            </a:r>
          </a:p>
          <a:p>
            <a:pPr lvl="0">
              <a:spcBef>
                <a:spcPts val="600"/>
              </a:spcBef>
              <a:spcAft>
                <a:spcPts val="1200"/>
              </a:spcAft>
            </a:pPr>
            <a:r>
              <a:rPr lang="en-AU" sz="2200" dirty="0" smtClean="0"/>
              <a:t>Winemakers </a:t>
            </a:r>
          </a:p>
          <a:p>
            <a:pPr lvl="0">
              <a:spcBef>
                <a:spcPts val="600"/>
              </a:spcBef>
              <a:spcAft>
                <a:spcPts val="1200"/>
              </a:spcAft>
            </a:pPr>
            <a:r>
              <a:rPr lang="en-AU" sz="2200" dirty="0" smtClean="0"/>
              <a:t>Visit wineries </a:t>
            </a:r>
          </a:p>
          <a:p>
            <a:pPr lvl="0">
              <a:spcBef>
                <a:spcPts val="600"/>
              </a:spcBef>
              <a:spcAft>
                <a:spcPts val="1200"/>
              </a:spcAft>
            </a:pPr>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6" name="Picture 5" descr="774816_60474641.jpg"/>
          <p:cNvPicPr/>
          <p:nvPr/>
        </p:nvPicPr>
        <p:blipFill>
          <a:blip r:embed="rId3" cstate="print"/>
          <a:stretch>
            <a:fillRect/>
          </a:stretch>
        </p:blipFill>
        <p:spPr>
          <a:xfrm>
            <a:off x="6143636" y="2285992"/>
            <a:ext cx="1641460" cy="2158727"/>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140</a:t>
            </a:fld>
            <a:endParaRPr lang="en-US" dirty="0"/>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US" altLang="zh-CN" sz="3400" b="1" dirty="0" smtClean="0">
                <a:solidFill>
                  <a:srgbClr val="FF6600"/>
                </a:solidFill>
                <a:latin typeface="Helvetica" pitchFamily="34" charset="0"/>
                <a:ea typeface="宋体" pitchFamily="2" charset="-122"/>
              </a:rPr>
              <a:t>Sources of wine information</a:t>
            </a: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External sources</a:t>
            </a:r>
            <a:endParaRPr lang="en-AU" sz="2200" dirty="0" smtClean="0"/>
          </a:p>
          <a:p>
            <a:pPr lvl="0">
              <a:spcBef>
                <a:spcPts val="600"/>
              </a:spcBef>
              <a:spcAft>
                <a:spcPts val="1200"/>
              </a:spcAft>
            </a:pPr>
            <a:r>
              <a:rPr lang="en-AU" sz="2200" dirty="0" smtClean="0"/>
              <a:t>Tasting notes written by others </a:t>
            </a:r>
          </a:p>
          <a:p>
            <a:pPr lvl="0">
              <a:spcBef>
                <a:spcPts val="600"/>
              </a:spcBef>
              <a:spcAft>
                <a:spcPts val="1200"/>
              </a:spcAft>
            </a:pPr>
            <a:r>
              <a:rPr lang="en-AU" sz="2200" dirty="0" smtClean="0"/>
              <a:t>Sales representatives </a:t>
            </a:r>
          </a:p>
          <a:p>
            <a:pPr lvl="0">
              <a:spcBef>
                <a:spcPts val="600"/>
              </a:spcBef>
              <a:spcAft>
                <a:spcPts val="1200"/>
              </a:spcAft>
            </a:pPr>
            <a:r>
              <a:rPr lang="en-AU" sz="2200" dirty="0" smtClean="0"/>
              <a:t>DVDs</a:t>
            </a:r>
          </a:p>
          <a:p>
            <a:pPr lvl="0">
              <a:spcBef>
                <a:spcPts val="600"/>
              </a:spcBef>
              <a:spcAft>
                <a:spcPts val="1200"/>
              </a:spcAft>
            </a:pPr>
            <a:r>
              <a:rPr lang="en-AU" sz="2200" dirty="0" smtClean="0"/>
              <a:t>Belonging to wine clubs </a:t>
            </a:r>
          </a:p>
          <a:p>
            <a:pPr lvl="0">
              <a:spcBef>
                <a:spcPts val="600"/>
              </a:spcBef>
              <a:spcAft>
                <a:spcPts val="1200"/>
              </a:spcAft>
            </a:pPr>
            <a:r>
              <a:rPr lang="en-AU" sz="2200" dirty="0" smtClean="0"/>
              <a:t>Customer opinion and feedback </a:t>
            </a:r>
          </a:p>
          <a:p>
            <a:pPr lvl="0">
              <a:spcBef>
                <a:spcPts val="600"/>
              </a:spcBef>
              <a:spcAft>
                <a:spcPts val="1200"/>
              </a:spcAft>
            </a:pPr>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C:\Documents and Settings\danielc\Desktop\1010496_info_icon_4.jpg"/>
          <p:cNvPicPr/>
          <p:nvPr/>
        </p:nvPicPr>
        <p:blipFill>
          <a:blip r:embed="rId3" cstate="print"/>
          <a:srcRect/>
          <a:stretch>
            <a:fillRect/>
          </a:stretch>
        </p:blipFill>
        <p:spPr bwMode="auto">
          <a:xfrm>
            <a:off x="5572132" y="2428868"/>
            <a:ext cx="1696861" cy="1693333"/>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141</a:t>
            </a:fld>
            <a:endParaRPr lang="en-US" dirty="0"/>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Identify emerging wine trends </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marL="0">
              <a:spcBef>
                <a:spcPts val="600"/>
              </a:spcBef>
              <a:spcAft>
                <a:spcPts val="1200"/>
              </a:spcAft>
              <a:buNone/>
            </a:pPr>
            <a:r>
              <a:rPr lang="en-AU" sz="2200" b="1" dirty="0" smtClean="0"/>
              <a:t>Ever changing trends</a:t>
            </a:r>
          </a:p>
          <a:p>
            <a:pPr marL="0">
              <a:spcBef>
                <a:spcPts val="600"/>
              </a:spcBef>
              <a:spcAft>
                <a:spcPts val="1200"/>
              </a:spcAft>
              <a:buNone/>
            </a:pPr>
            <a:r>
              <a:rPr lang="en-AU" sz="2200" dirty="0" smtClean="0"/>
              <a:t>As a professional in the wine business you must realise the industry is a constantly changing one and there is a need for you to stay up-to-date with what is happening in it. </a:t>
            </a:r>
          </a:p>
          <a:p>
            <a:pPr lvl="0">
              <a:spcBef>
                <a:spcPts val="600"/>
              </a:spcBef>
              <a:spcAft>
                <a:spcPts val="1200"/>
              </a:spcAft>
            </a:pPr>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shutterstock_72818872.jpg"/>
          <p:cNvPicPr/>
          <p:nvPr/>
        </p:nvPicPr>
        <p:blipFill>
          <a:blip r:embed="rId3" cstate="print"/>
          <a:stretch>
            <a:fillRect/>
          </a:stretch>
        </p:blipFill>
        <p:spPr>
          <a:xfrm>
            <a:off x="3643306" y="3643314"/>
            <a:ext cx="1886441" cy="2073573"/>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142</a:t>
            </a:fld>
            <a:endParaRPr lang="en-US" dirty="0"/>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Identify emerging wine trends </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Ways to research general wine trends</a:t>
            </a:r>
          </a:p>
          <a:p>
            <a:pPr lvl="0">
              <a:spcBef>
                <a:spcPts val="600"/>
              </a:spcBef>
              <a:spcAft>
                <a:spcPts val="1200"/>
              </a:spcAft>
            </a:pPr>
            <a:r>
              <a:rPr lang="en-AU" sz="2200" dirty="0" smtClean="0"/>
              <a:t>Doing a wine course </a:t>
            </a:r>
          </a:p>
          <a:p>
            <a:pPr lvl="0">
              <a:spcBef>
                <a:spcPts val="600"/>
              </a:spcBef>
              <a:spcAft>
                <a:spcPts val="1200"/>
              </a:spcAft>
            </a:pPr>
            <a:r>
              <a:rPr lang="en-AU" sz="2200" dirty="0" smtClean="0"/>
              <a:t>Subscribing to wine magazines </a:t>
            </a:r>
          </a:p>
          <a:p>
            <a:pPr lvl="0">
              <a:spcBef>
                <a:spcPts val="600"/>
              </a:spcBef>
              <a:spcAft>
                <a:spcPts val="1200"/>
              </a:spcAft>
            </a:pPr>
            <a:r>
              <a:rPr lang="en-AU" sz="2200" dirty="0" smtClean="0"/>
              <a:t>Reading the wine pages of industry journals and the general media </a:t>
            </a:r>
          </a:p>
          <a:p>
            <a:pPr lvl="0">
              <a:spcBef>
                <a:spcPts val="600"/>
              </a:spcBef>
              <a:spcAft>
                <a:spcPts val="1200"/>
              </a:spcAft>
            </a:pPr>
            <a:r>
              <a:rPr lang="en-AU" sz="2200" dirty="0" smtClean="0"/>
              <a:t>Visiting wineries </a:t>
            </a:r>
          </a:p>
          <a:p>
            <a:pPr lvl="0">
              <a:spcBef>
                <a:spcPts val="600"/>
              </a:spcBef>
              <a:spcAft>
                <a:spcPts val="1200"/>
              </a:spcAft>
            </a:pPr>
            <a:r>
              <a:rPr lang="en-AU" sz="2200" dirty="0" smtClean="0"/>
              <a:t>Visiting the web sites of wineries and wine merchants </a:t>
            </a:r>
          </a:p>
          <a:p>
            <a:pPr lvl="0">
              <a:spcBef>
                <a:spcPts val="600"/>
              </a:spcBef>
              <a:spcAft>
                <a:spcPts val="1200"/>
              </a:spcAft>
            </a:pPr>
            <a:r>
              <a:rPr lang="en-AU" sz="2200" dirty="0" smtClean="0"/>
              <a:t>Attend wine shows and exhibitions </a:t>
            </a:r>
          </a:p>
          <a:p>
            <a:pPr lvl="0">
              <a:spcBef>
                <a:spcPts val="600"/>
              </a:spcBef>
              <a:spcAft>
                <a:spcPts val="1200"/>
              </a:spcAft>
            </a:pPr>
            <a:r>
              <a:rPr lang="en-AU" sz="2200" dirty="0" smtClean="0"/>
              <a:t>Read wine books, guides and reference material </a:t>
            </a:r>
          </a:p>
          <a:p>
            <a:pPr>
              <a:buNone/>
            </a:pPr>
            <a:endParaRPr lang="en-AU" sz="2400" dirty="0" smtClean="0"/>
          </a:p>
          <a:p>
            <a:pPr lvl="0">
              <a:spcBef>
                <a:spcPts val="600"/>
              </a:spcBef>
              <a:spcAft>
                <a:spcPts val="1200"/>
              </a:spcAft>
            </a:pPr>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C:\Documents and Settings\danielc\Desktop\260306_paper_reading.jpg"/>
          <p:cNvPicPr/>
          <p:nvPr/>
        </p:nvPicPr>
        <p:blipFill>
          <a:blip r:embed="rId3" cstate="print">
            <a:lum contrast="10000"/>
          </a:blip>
          <a:srcRect/>
          <a:stretch>
            <a:fillRect/>
          </a:stretch>
        </p:blipFill>
        <p:spPr bwMode="auto">
          <a:xfrm>
            <a:off x="6143636" y="1714488"/>
            <a:ext cx="1857388" cy="1500198"/>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143</a:t>
            </a:fld>
            <a:endParaRPr lang="en-US" dirty="0"/>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Identify emerging wine trends </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Ways to research general wine trends</a:t>
            </a:r>
          </a:p>
          <a:p>
            <a:pPr lvl="0">
              <a:spcBef>
                <a:spcPts val="600"/>
              </a:spcBef>
              <a:spcAft>
                <a:spcPts val="1200"/>
              </a:spcAft>
            </a:pPr>
            <a:r>
              <a:rPr lang="en-AU" sz="2200" dirty="0" smtClean="0"/>
              <a:t>Read the tasting notes and wine labels </a:t>
            </a:r>
          </a:p>
          <a:p>
            <a:pPr lvl="0">
              <a:spcBef>
                <a:spcPts val="600"/>
              </a:spcBef>
              <a:spcAft>
                <a:spcPts val="1200"/>
              </a:spcAft>
            </a:pPr>
            <a:r>
              <a:rPr lang="en-AU" sz="2200" dirty="0" smtClean="0"/>
              <a:t>Talk to others who are interested in wine </a:t>
            </a:r>
            <a:br>
              <a:rPr lang="en-AU" sz="2200" dirty="0" smtClean="0"/>
            </a:br>
            <a:r>
              <a:rPr lang="en-AU" sz="2200" dirty="0" smtClean="0"/>
              <a:t>and get their opinions </a:t>
            </a:r>
          </a:p>
          <a:p>
            <a:pPr lvl="0">
              <a:spcBef>
                <a:spcPts val="600"/>
              </a:spcBef>
              <a:spcAft>
                <a:spcPts val="1200"/>
              </a:spcAft>
            </a:pPr>
            <a:r>
              <a:rPr lang="en-AU" sz="2200" dirty="0" smtClean="0"/>
              <a:t>Visiting the opposition to see what is </a:t>
            </a:r>
            <a:br>
              <a:rPr lang="en-AU" sz="2200" dirty="0" smtClean="0"/>
            </a:br>
            <a:r>
              <a:rPr lang="en-AU" sz="2200" dirty="0" smtClean="0"/>
              <a:t>happening there </a:t>
            </a:r>
          </a:p>
          <a:p>
            <a:pPr lvl="0">
              <a:spcBef>
                <a:spcPts val="600"/>
              </a:spcBef>
              <a:spcAft>
                <a:spcPts val="1200"/>
              </a:spcAft>
            </a:pPr>
            <a:r>
              <a:rPr lang="en-AU" sz="2200" dirty="0" smtClean="0"/>
              <a:t>Tasting new wines and making your own tasting notes </a:t>
            </a:r>
          </a:p>
          <a:p>
            <a:pPr>
              <a:spcBef>
                <a:spcPts val="600"/>
              </a:spcBef>
              <a:spcAft>
                <a:spcPts val="1200"/>
              </a:spcAft>
            </a:pPr>
            <a:r>
              <a:rPr lang="en-AU" sz="2200" dirty="0" smtClean="0"/>
              <a:t>Listen to customer feedback</a:t>
            </a:r>
          </a:p>
          <a:p>
            <a:pPr lvl="0">
              <a:spcBef>
                <a:spcPts val="600"/>
              </a:spcBef>
              <a:spcAft>
                <a:spcPts val="1200"/>
              </a:spcAft>
            </a:pPr>
            <a:endParaRPr lang="en-US" altLang="zh-CN"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7214028926_dcd84662ce_m.jpg"/>
          <p:cNvPicPr>
            <a:picLocks noChangeAspect="1"/>
          </p:cNvPicPr>
          <p:nvPr/>
        </p:nvPicPr>
        <p:blipFill>
          <a:blip r:embed="rId3" cstate="print"/>
          <a:stretch>
            <a:fillRect/>
          </a:stretch>
        </p:blipFill>
        <p:spPr>
          <a:xfrm>
            <a:off x="6396070" y="2571744"/>
            <a:ext cx="1875248" cy="1500198"/>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144</a:t>
            </a:fld>
            <a:endParaRPr lang="en-US" dirty="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Identify customer wine trends </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Ways to identify ‘your customer’ </a:t>
            </a:r>
            <a:r>
              <a:rPr lang="en-AU" sz="2200" b="1" dirty="0" smtClean="0"/>
              <a:t>trends</a:t>
            </a:r>
            <a:endParaRPr lang="en-AU" sz="2200" dirty="0" smtClean="0"/>
          </a:p>
          <a:p>
            <a:pPr lvl="0">
              <a:spcBef>
                <a:spcPts val="600"/>
              </a:spcBef>
              <a:spcAft>
                <a:spcPts val="1200"/>
              </a:spcAft>
            </a:pPr>
            <a:r>
              <a:rPr lang="en-AU" sz="2200" dirty="0" smtClean="0"/>
              <a:t>Talk to your customers </a:t>
            </a:r>
          </a:p>
          <a:p>
            <a:pPr lvl="0">
              <a:spcBef>
                <a:spcPts val="600"/>
              </a:spcBef>
              <a:spcAft>
                <a:spcPts val="1200"/>
              </a:spcAft>
            </a:pPr>
            <a:r>
              <a:rPr lang="en-AU" sz="2200" dirty="0" smtClean="0"/>
              <a:t>Monitor </a:t>
            </a:r>
            <a:r>
              <a:rPr lang="en-AU" sz="2200" dirty="0" smtClean="0"/>
              <a:t>your wine sales statistics </a:t>
            </a:r>
          </a:p>
          <a:p>
            <a:pPr lvl="0">
              <a:spcBef>
                <a:spcPts val="600"/>
              </a:spcBef>
              <a:spcAft>
                <a:spcPts val="1200"/>
              </a:spcAft>
            </a:pPr>
            <a:r>
              <a:rPr lang="en-AU" sz="2200" dirty="0" smtClean="0"/>
              <a:t>Talk to the staff </a:t>
            </a:r>
            <a:endParaRPr lang="en-US" altLang="zh-CN" sz="2200" dirty="0" smtClean="0">
              <a:ea typeface="宋体" pitchFamily="2" charset="-122"/>
            </a:endParaRPr>
          </a:p>
          <a:p>
            <a:endParaRPr lang="en-US" altLang="zh-CN" u="sng" dirty="0" smtClean="0">
              <a:ea typeface="宋体" pitchFamily="2" charset="-122"/>
            </a:endParaRPr>
          </a:p>
          <a:p>
            <a:endParaRPr lang="zh-CN" altLang="en-US" dirty="0" smtClean="0">
              <a:ea typeface="宋体" pitchFamily="2" charset="-122"/>
            </a:endParaRPr>
          </a:p>
        </p:txBody>
      </p:sp>
      <p:pic>
        <p:nvPicPr>
          <p:cNvPr id="5" name="Picture 4" descr="MP900410119[1].JPG"/>
          <p:cNvPicPr/>
          <p:nvPr/>
        </p:nvPicPr>
        <p:blipFill>
          <a:blip r:embed="rId3" cstate="print">
            <a:lum contrast="20000"/>
          </a:blip>
          <a:stretch>
            <a:fillRect/>
          </a:stretch>
        </p:blipFill>
        <p:spPr>
          <a:xfrm>
            <a:off x="5929322" y="2357430"/>
            <a:ext cx="2046817" cy="1388533"/>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145</a:t>
            </a:fld>
            <a:endParaRPr lang="en-US" dirty="0"/>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Types of wine trends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lvl="0">
              <a:spcBef>
                <a:spcPts val="600"/>
              </a:spcBef>
              <a:spcAft>
                <a:spcPts val="1200"/>
              </a:spcAft>
            </a:pPr>
            <a:r>
              <a:rPr lang="en-AU" sz="2200" dirty="0" smtClean="0"/>
              <a:t>The consumption of wine is increasing worldwide </a:t>
            </a:r>
          </a:p>
          <a:p>
            <a:pPr lvl="0">
              <a:spcBef>
                <a:spcPts val="600"/>
              </a:spcBef>
              <a:spcAft>
                <a:spcPts val="1200"/>
              </a:spcAft>
            </a:pPr>
            <a:r>
              <a:rPr lang="en-AU" sz="2200" dirty="0" smtClean="0"/>
              <a:t>The production of wine is increasing </a:t>
            </a:r>
            <a:br>
              <a:rPr lang="en-AU" sz="2200" dirty="0" smtClean="0"/>
            </a:br>
            <a:r>
              <a:rPr lang="en-AU" sz="2200" dirty="0" smtClean="0"/>
              <a:t>worldwide </a:t>
            </a:r>
          </a:p>
          <a:p>
            <a:pPr lvl="0">
              <a:spcBef>
                <a:spcPts val="600"/>
              </a:spcBef>
              <a:spcAft>
                <a:spcPts val="1200"/>
              </a:spcAft>
            </a:pPr>
            <a:r>
              <a:rPr lang="en-AU" sz="2200" dirty="0" smtClean="0"/>
              <a:t>There is a glut of wine in Europe </a:t>
            </a:r>
          </a:p>
          <a:p>
            <a:pPr lvl="0">
              <a:spcBef>
                <a:spcPts val="600"/>
              </a:spcBef>
              <a:spcAft>
                <a:spcPts val="1200"/>
              </a:spcAft>
            </a:pPr>
            <a:r>
              <a:rPr lang="en-AU" sz="2200" dirty="0" smtClean="0"/>
              <a:t>Producers are seeking alternatives to </a:t>
            </a:r>
            <a:br>
              <a:rPr lang="en-AU" sz="2200" dirty="0" smtClean="0"/>
            </a:br>
            <a:r>
              <a:rPr lang="en-AU" sz="2200" dirty="0" smtClean="0"/>
              <a:t>the traditional wines </a:t>
            </a:r>
          </a:p>
          <a:p>
            <a:pPr lvl="0">
              <a:spcBef>
                <a:spcPts val="600"/>
              </a:spcBef>
              <a:spcAft>
                <a:spcPts val="1200"/>
              </a:spcAft>
            </a:pPr>
            <a:r>
              <a:rPr lang="en-AU" sz="2200" dirty="0" smtClean="0"/>
              <a:t>More countries are importing wine today </a:t>
            </a:r>
            <a:br>
              <a:rPr lang="en-AU" sz="2200" dirty="0" smtClean="0"/>
            </a:br>
            <a:r>
              <a:rPr lang="en-AU" sz="2200" dirty="0" smtClean="0"/>
              <a:t>than ever before </a:t>
            </a:r>
          </a:p>
          <a:p>
            <a:endParaRPr lang="en-US" altLang="zh-CN" u="sng" dirty="0" smtClean="0">
              <a:ea typeface="宋体" pitchFamily="2" charset="-122"/>
            </a:endParaRPr>
          </a:p>
          <a:p>
            <a:endParaRPr lang="zh-CN" altLang="en-US" dirty="0" smtClean="0">
              <a:ea typeface="宋体" pitchFamily="2" charset="-122"/>
            </a:endParaRPr>
          </a:p>
        </p:txBody>
      </p:sp>
      <p:pic>
        <p:nvPicPr>
          <p:cNvPr id="4099" name="Picture 3" descr="C:\Documents and Settings\danielc\Desktop\Serve a range of wine products images\476209_ros.jpg"/>
          <p:cNvPicPr>
            <a:picLocks noChangeAspect="1" noChangeArrowheads="1"/>
          </p:cNvPicPr>
          <p:nvPr/>
        </p:nvPicPr>
        <p:blipFill>
          <a:blip r:embed="rId3" cstate="print">
            <a:lum contrast="10000"/>
          </a:blip>
          <a:srcRect/>
          <a:stretch>
            <a:fillRect/>
          </a:stretch>
        </p:blipFill>
        <p:spPr bwMode="auto">
          <a:xfrm>
            <a:off x="6786578" y="2428868"/>
            <a:ext cx="1476372" cy="2214558"/>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146</a:t>
            </a:fld>
            <a:endParaRPr lang="en-US" dirty="0"/>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Types of wine trends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lvl="0">
              <a:spcBef>
                <a:spcPts val="600"/>
              </a:spcBef>
              <a:spcAft>
                <a:spcPts val="1200"/>
              </a:spcAft>
            </a:pPr>
            <a:r>
              <a:rPr lang="en-AU" sz="2200" dirty="0" smtClean="0"/>
              <a:t>There is a growing demand for truth-in-labelling </a:t>
            </a:r>
          </a:p>
          <a:p>
            <a:pPr lvl="0">
              <a:spcBef>
                <a:spcPts val="600"/>
              </a:spcBef>
              <a:spcAft>
                <a:spcPts val="1200"/>
              </a:spcAft>
            </a:pPr>
            <a:r>
              <a:rPr lang="en-AU" sz="2200" dirty="0" smtClean="0"/>
              <a:t>There is a growing popularity in wines from boutique wineries </a:t>
            </a:r>
          </a:p>
          <a:p>
            <a:pPr lvl="0">
              <a:spcBef>
                <a:spcPts val="600"/>
              </a:spcBef>
              <a:spcAft>
                <a:spcPts val="1200"/>
              </a:spcAft>
            </a:pPr>
            <a:r>
              <a:rPr lang="en-AU" sz="2200" dirty="0" smtClean="0"/>
              <a:t>Customers are eager to try wine made from </a:t>
            </a:r>
            <a:br>
              <a:rPr lang="en-AU" sz="2200" dirty="0" smtClean="0"/>
            </a:br>
            <a:r>
              <a:rPr lang="en-AU" sz="2200" dirty="0" smtClean="0"/>
              <a:t>new grape varieties </a:t>
            </a:r>
          </a:p>
          <a:p>
            <a:pPr lvl="0">
              <a:spcBef>
                <a:spcPts val="600"/>
              </a:spcBef>
              <a:spcAft>
                <a:spcPts val="1200"/>
              </a:spcAft>
            </a:pPr>
            <a:r>
              <a:rPr lang="en-AU" sz="2200" dirty="0" smtClean="0"/>
              <a:t>Wine consumers are becoming more </a:t>
            </a:r>
            <a:br>
              <a:rPr lang="en-AU" sz="2200" dirty="0" smtClean="0"/>
            </a:br>
            <a:r>
              <a:rPr lang="en-AU" sz="2200" dirty="0" smtClean="0"/>
              <a:t>knowledgeable about wine and more </a:t>
            </a:r>
            <a:br>
              <a:rPr lang="en-AU" sz="2200" dirty="0" smtClean="0"/>
            </a:br>
            <a:r>
              <a:rPr lang="en-AU" sz="2200" dirty="0" smtClean="0"/>
              <a:t>sophisticated in their wine choices</a:t>
            </a:r>
          </a:p>
          <a:p>
            <a:pPr>
              <a:spcBef>
                <a:spcPts val="600"/>
              </a:spcBef>
              <a:spcAft>
                <a:spcPts val="1200"/>
              </a:spcAft>
            </a:pPr>
            <a:r>
              <a:rPr lang="en-AU" sz="2200" dirty="0" smtClean="0"/>
              <a:t>Increase in wine offered by the glass</a:t>
            </a:r>
            <a:endParaRPr lang="en-US" altLang="zh-CN" sz="2200" u="sng" dirty="0" smtClean="0">
              <a:ea typeface="宋体" pitchFamily="2" charset="-122"/>
            </a:endParaRPr>
          </a:p>
          <a:p>
            <a:endParaRPr lang="zh-CN" altLang="en-US" dirty="0" smtClean="0">
              <a:ea typeface="宋体" pitchFamily="2" charset="-122"/>
            </a:endParaRPr>
          </a:p>
        </p:txBody>
      </p:sp>
      <p:pic>
        <p:nvPicPr>
          <p:cNvPr id="5" name="Picture 4" descr="C:\Documents and Settings\danielc\Desktop\Serve a range of wine products images\626451_canilla_libre.jpg"/>
          <p:cNvPicPr/>
          <p:nvPr/>
        </p:nvPicPr>
        <p:blipFill>
          <a:blip r:embed="rId3" cstate="print">
            <a:grayscl/>
            <a:lum bright="10000"/>
          </a:blip>
          <a:srcRect/>
          <a:stretch>
            <a:fillRect/>
          </a:stretch>
        </p:blipFill>
        <p:spPr bwMode="auto">
          <a:xfrm>
            <a:off x="6786578" y="3000372"/>
            <a:ext cx="1538789" cy="2071057"/>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147</a:t>
            </a:fld>
            <a:endParaRPr lang="en-US" dirty="0"/>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Types of wine trends</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lvl="0">
              <a:spcBef>
                <a:spcPts val="600"/>
              </a:spcBef>
              <a:spcAft>
                <a:spcPts val="1200"/>
              </a:spcAft>
            </a:pPr>
            <a:r>
              <a:rPr lang="en-AU" sz="2200" dirty="0" smtClean="0"/>
              <a:t>Increase popularity of rose wines</a:t>
            </a:r>
          </a:p>
          <a:p>
            <a:pPr lvl="0">
              <a:spcBef>
                <a:spcPts val="600"/>
              </a:spcBef>
              <a:spcAft>
                <a:spcPts val="1200"/>
              </a:spcAft>
            </a:pPr>
            <a:r>
              <a:rPr lang="en-AU" sz="2200" dirty="0" smtClean="0"/>
              <a:t>Increased popularity for unoaked chardonnay </a:t>
            </a:r>
            <a:br>
              <a:rPr lang="en-AU" sz="2200" dirty="0" smtClean="0"/>
            </a:br>
            <a:r>
              <a:rPr lang="en-AU" sz="2200" dirty="0" smtClean="0"/>
              <a:t>instead of the oaked variety</a:t>
            </a:r>
          </a:p>
          <a:p>
            <a:pPr lvl="0">
              <a:spcBef>
                <a:spcPts val="600"/>
              </a:spcBef>
              <a:spcAft>
                <a:spcPts val="1200"/>
              </a:spcAft>
            </a:pPr>
            <a:r>
              <a:rPr lang="en-AU" sz="2200" dirty="0" smtClean="0"/>
              <a:t>Wine and chocolate pairings</a:t>
            </a:r>
          </a:p>
          <a:p>
            <a:pPr lvl="0">
              <a:spcBef>
                <a:spcPts val="600"/>
              </a:spcBef>
              <a:spcAft>
                <a:spcPts val="1200"/>
              </a:spcAft>
            </a:pPr>
            <a:r>
              <a:rPr lang="en-AU" sz="2200" dirty="0" smtClean="0"/>
              <a:t>Exploring new and interesting varietals</a:t>
            </a:r>
          </a:p>
          <a:p>
            <a:pPr lvl="0">
              <a:spcBef>
                <a:spcPts val="600"/>
              </a:spcBef>
              <a:spcAft>
                <a:spcPts val="1200"/>
              </a:spcAft>
            </a:pPr>
            <a:r>
              <a:rPr lang="en-AU" sz="2200" dirty="0" smtClean="0"/>
              <a:t>People may drink less but are willing to pay more</a:t>
            </a:r>
          </a:p>
          <a:p>
            <a:endParaRPr lang="zh-CN" altLang="en-US" dirty="0" smtClean="0">
              <a:ea typeface="宋体" pitchFamily="2" charset="-122"/>
            </a:endParaRPr>
          </a:p>
        </p:txBody>
      </p:sp>
      <p:pic>
        <p:nvPicPr>
          <p:cNvPr id="3074" name="Picture 2" descr="C:\Documents and Settings\danielc\Desktop\Serve a range of wine products images\1187307_summer_wine.jpg"/>
          <p:cNvPicPr>
            <a:picLocks noChangeAspect="1" noChangeArrowheads="1"/>
          </p:cNvPicPr>
          <p:nvPr/>
        </p:nvPicPr>
        <p:blipFill>
          <a:blip r:embed="rId3" cstate="print"/>
          <a:srcRect/>
          <a:stretch>
            <a:fillRect/>
          </a:stretch>
        </p:blipFill>
        <p:spPr bwMode="auto">
          <a:xfrm>
            <a:off x="6858016" y="2214554"/>
            <a:ext cx="1446620" cy="1928826"/>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148</a:t>
            </a:fld>
            <a:endParaRPr lang="en-US" dirty="0"/>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Share wine information</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28596" y="1428736"/>
            <a:ext cx="7467600" cy="5029200"/>
          </a:xfrm>
        </p:spPr>
        <p:txBody>
          <a:bodyPr>
            <a:normAutofit/>
          </a:bodyPr>
          <a:lstStyle/>
          <a:p>
            <a:pPr>
              <a:spcBef>
                <a:spcPts val="600"/>
              </a:spcBef>
              <a:spcAft>
                <a:spcPts val="1200"/>
              </a:spcAft>
              <a:buNone/>
            </a:pPr>
            <a:r>
              <a:rPr lang="en-AU" sz="2200" b="1" dirty="0" smtClean="0"/>
              <a:t>Sharing knowledge with customers</a:t>
            </a:r>
            <a:endParaRPr lang="en-AU" sz="2200" dirty="0" smtClean="0"/>
          </a:p>
          <a:p>
            <a:pPr lvl="0">
              <a:spcBef>
                <a:spcPts val="600"/>
              </a:spcBef>
              <a:spcAft>
                <a:spcPts val="1200"/>
              </a:spcAft>
            </a:pPr>
            <a:r>
              <a:rPr lang="en-AU" sz="2200" dirty="0" smtClean="0"/>
              <a:t>Tell them verbally of the information you have found </a:t>
            </a:r>
          </a:p>
          <a:p>
            <a:pPr lvl="0">
              <a:spcBef>
                <a:spcPts val="600"/>
              </a:spcBef>
              <a:spcAft>
                <a:spcPts val="1200"/>
              </a:spcAft>
            </a:pPr>
            <a:r>
              <a:rPr lang="en-AU" sz="2200" dirty="0" smtClean="0"/>
              <a:t>Give them a copy of the relevant information – tasting sheets, product information, winemakers notes </a:t>
            </a:r>
          </a:p>
          <a:p>
            <a:pPr lvl="0">
              <a:spcBef>
                <a:spcPts val="600"/>
              </a:spcBef>
              <a:spcAft>
                <a:spcPts val="1200"/>
              </a:spcAft>
            </a:pPr>
            <a:r>
              <a:rPr lang="en-AU" sz="2200" dirty="0" smtClean="0"/>
              <a:t>Direct them to additional information – a website, a magazine, the winery, a tasting</a:t>
            </a:r>
          </a:p>
          <a:p>
            <a:endParaRPr lang="zh-CN" altLang="en-US" dirty="0" smtClean="0">
              <a:ea typeface="宋体" pitchFamily="2" charset="-122"/>
            </a:endParaRPr>
          </a:p>
        </p:txBody>
      </p:sp>
      <p:pic>
        <p:nvPicPr>
          <p:cNvPr id="5" name="Picture 4" descr="I:\Overseas Projects\PHOTOS\Accommodation 2009\W_A 6_4_04 -167_RT8.jpg"/>
          <p:cNvPicPr/>
          <p:nvPr/>
        </p:nvPicPr>
        <p:blipFill>
          <a:blip r:embed="rId3" cstate="print">
            <a:lum contrast="20000"/>
          </a:blip>
          <a:srcRect/>
          <a:stretch>
            <a:fillRect/>
          </a:stretch>
        </p:blipFill>
        <p:spPr bwMode="auto">
          <a:xfrm>
            <a:off x="3643306" y="4572008"/>
            <a:ext cx="2045919" cy="1357322"/>
          </a:xfrm>
          <a:prstGeom prst="rect">
            <a:avLst/>
          </a:prstGeom>
          <a:ln>
            <a:noFill/>
          </a:ln>
          <a:effectLst>
            <a:outerShdw blurRad="190500" algn="tl" rotWithShape="0">
              <a:srgbClr val="000000">
                <a:alpha val="70000"/>
              </a:srgbClr>
            </a:outerShdw>
          </a:effectLst>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149</a:t>
            </a:fld>
            <a:endParaRPr lang="en-US"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Share wine information</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412776"/>
            <a:ext cx="7467600" cy="5029200"/>
          </a:xfrm>
        </p:spPr>
        <p:txBody>
          <a:bodyPr>
            <a:normAutofit/>
          </a:bodyPr>
          <a:lstStyle/>
          <a:p>
            <a:pPr>
              <a:spcBef>
                <a:spcPts val="600"/>
              </a:spcBef>
              <a:spcAft>
                <a:spcPts val="1200"/>
              </a:spcAft>
              <a:buNone/>
            </a:pPr>
            <a:r>
              <a:rPr lang="en-AU" sz="2200" b="1" dirty="0" smtClean="0"/>
              <a:t>Sharing knowledge with staff</a:t>
            </a:r>
            <a:endParaRPr lang="en-AU" sz="2200" dirty="0" smtClean="0"/>
          </a:p>
          <a:p>
            <a:pPr lvl="0">
              <a:spcBef>
                <a:spcPts val="600"/>
              </a:spcBef>
              <a:spcAft>
                <a:spcPts val="1200"/>
              </a:spcAft>
            </a:pPr>
            <a:r>
              <a:rPr lang="en-AU" sz="2200" dirty="0" smtClean="0"/>
              <a:t>Discussions in any sort of staff meetings</a:t>
            </a:r>
          </a:p>
          <a:p>
            <a:pPr lvl="0">
              <a:spcBef>
                <a:spcPts val="600"/>
              </a:spcBef>
              <a:spcAft>
                <a:spcPts val="1200"/>
              </a:spcAft>
            </a:pPr>
            <a:r>
              <a:rPr lang="en-AU" sz="2200" dirty="0" smtClean="0"/>
              <a:t>Before or after service </a:t>
            </a:r>
          </a:p>
          <a:p>
            <a:pPr lvl="0">
              <a:spcBef>
                <a:spcPts val="600"/>
              </a:spcBef>
              <a:spcAft>
                <a:spcPts val="1200"/>
              </a:spcAft>
            </a:pPr>
            <a:r>
              <a:rPr lang="en-AU" sz="2200" dirty="0" smtClean="0"/>
              <a:t>During breaks</a:t>
            </a:r>
          </a:p>
          <a:p>
            <a:pPr lvl="0" fontAlgn="ctr">
              <a:spcBef>
                <a:spcPts val="600"/>
              </a:spcBef>
              <a:spcAft>
                <a:spcPts val="1200"/>
              </a:spcAft>
            </a:pPr>
            <a:r>
              <a:rPr lang="en-US" sz="2200" dirty="0" smtClean="0"/>
              <a:t>E-mail co-workers with the information you have discovered</a:t>
            </a:r>
            <a:endParaRPr lang="en-AU" sz="2200" dirty="0" smtClean="0"/>
          </a:p>
          <a:p>
            <a:pPr lvl="0" fontAlgn="ctr">
              <a:spcBef>
                <a:spcPts val="600"/>
              </a:spcBef>
              <a:spcAft>
                <a:spcPts val="1200"/>
              </a:spcAft>
            </a:pPr>
            <a:r>
              <a:rPr lang="en-US" sz="2200" dirty="0" smtClean="0"/>
              <a:t>Prepare a short handout </a:t>
            </a:r>
            <a:endParaRPr lang="en-AU" sz="2200" dirty="0" smtClean="0"/>
          </a:p>
          <a:p>
            <a:pPr lvl="0" fontAlgn="ctr">
              <a:spcBef>
                <a:spcPts val="600"/>
              </a:spcBef>
              <a:spcAft>
                <a:spcPts val="1200"/>
              </a:spcAft>
            </a:pPr>
            <a:r>
              <a:rPr lang="en-US" sz="2200" dirty="0" smtClean="0"/>
              <a:t>Present it is meetings</a:t>
            </a:r>
            <a:endParaRPr lang="en-AU" sz="2200" dirty="0" smtClean="0"/>
          </a:p>
          <a:p>
            <a:endParaRPr lang="zh-CN" altLang="en-US" dirty="0" smtClean="0">
              <a:ea typeface="宋体" pitchFamily="2" charset="-122"/>
            </a:endParaRPr>
          </a:p>
        </p:txBody>
      </p:sp>
      <p:pic>
        <p:nvPicPr>
          <p:cNvPr id="6" name="Picture 5" descr="I:\Overseas Projects\PHOTOS\Accommodation 2009\Angliss RestaurantV2Low Res[1].18.jpg"/>
          <p:cNvPicPr/>
          <p:nvPr/>
        </p:nvPicPr>
        <p:blipFill>
          <a:blip r:embed="rId3" cstate="print"/>
          <a:srcRect/>
          <a:stretch>
            <a:fillRect/>
          </a:stretch>
        </p:blipFill>
        <p:spPr bwMode="auto">
          <a:xfrm>
            <a:off x="6215074" y="2348880"/>
            <a:ext cx="1888772" cy="1264356"/>
          </a:xfrm>
          <a:prstGeom prst="rect">
            <a:avLst/>
          </a:prstGeom>
          <a:ln>
            <a:noFill/>
          </a:ln>
          <a:effectLst>
            <a:outerShdw blurRad="190500" algn="tl" rotWithShape="0">
              <a:srgbClr val="000000">
                <a:alpha val="70000"/>
              </a:srgbClr>
            </a:outerShdw>
          </a:effectLst>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150</a:t>
            </a:fld>
            <a:endParaRPr lang="en-US" dirty="0"/>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Using wine information</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28596" y="1600200"/>
            <a:ext cx="7467600" cy="5029200"/>
          </a:xfrm>
        </p:spPr>
        <p:txBody>
          <a:bodyPr>
            <a:normAutofit/>
          </a:bodyPr>
          <a:lstStyle/>
          <a:p>
            <a:pPr>
              <a:spcBef>
                <a:spcPts val="600"/>
              </a:spcBef>
              <a:spcAft>
                <a:spcPts val="1200"/>
              </a:spcAft>
              <a:buNone/>
            </a:pPr>
            <a:r>
              <a:rPr lang="en-AU" sz="2200" b="1" dirty="0" smtClean="0"/>
              <a:t>Making practical use of the knowledge gained</a:t>
            </a:r>
          </a:p>
          <a:p>
            <a:pPr lvl="0">
              <a:spcBef>
                <a:spcPts val="600"/>
              </a:spcBef>
              <a:spcAft>
                <a:spcPts val="1200"/>
              </a:spcAft>
            </a:pPr>
            <a:r>
              <a:rPr lang="en-AU" sz="2200" b="1" dirty="0" smtClean="0"/>
              <a:t> </a:t>
            </a:r>
            <a:r>
              <a:rPr lang="en-AU" sz="2200" dirty="0" smtClean="0"/>
              <a:t>Add wines to your wine list </a:t>
            </a:r>
          </a:p>
          <a:p>
            <a:pPr lvl="0">
              <a:spcBef>
                <a:spcPts val="600"/>
              </a:spcBef>
              <a:spcAft>
                <a:spcPts val="1200"/>
              </a:spcAft>
            </a:pPr>
            <a:r>
              <a:rPr lang="en-AU" sz="2200" dirty="0" smtClean="0"/>
              <a:t>Remove wines from your wine list </a:t>
            </a:r>
          </a:p>
          <a:p>
            <a:pPr lvl="0">
              <a:spcBef>
                <a:spcPts val="600"/>
              </a:spcBef>
              <a:spcAft>
                <a:spcPts val="1200"/>
              </a:spcAft>
            </a:pPr>
            <a:r>
              <a:rPr lang="en-AU" sz="2200" dirty="0" smtClean="0"/>
              <a:t>Buy additional stocks of wines that are proving </a:t>
            </a:r>
            <a:br>
              <a:rPr lang="en-AU" sz="2200" dirty="0" smtClean="0"/>
            </a:br>
            <a:r>
              <a:rPr lang="en-AU" sz="2200" dirty="0" smtClean="0"/>
              <a:t>popular </a:t>
            </a:r>
          </a:p>
          <a:p>
            <a:pPr lvl="0">
              <a:spcBef>
                <a:spcPts val="600"/>
              </a:spcBef>
              <a:spcAft>
                <a:spcPts val="1200"/>
              </a:spcAft>
            </a:pPr>
            <a:r>
              <a:rPr lang="en-AU" sz="2200" dirty="0" smtClean="0"/>
              <a:t>Buy wines and cellar them for later sale </a:t>
            </a:r>
          </a:p>
          <a:p>
            <a:pPr lvl="0">
              <a:spcBef>
                <a:spcPts val="600"/>
              </a:spcBef>
              <a:spcAft>
                <a:spcPts val="1200"/>
              </a:spcAft>
            </a:pPr>
            <a:r>
              <a:rPr lang="en-AU" sz="2200" dirty="0" smtClean="0"/>
              <a:t>Develop new menu items to </a:t>
            </a:r>
            <a:r>
              <a:rPr lang="en-AU" sz="2200" dirty="0" smtClean="0"/>
              <a:t>accompany the </a:t>
            </a:r>
            <a:r>
              <a:rPr lang="en-AU" sz="2200" dirty="0" smtClean="0"/>
              <a:t>emerging wine trend </a:t>
            </a:r>
          </a:p>
          <a:p>
            <a:pPr>
              <a:buNone/>
            </a:pPr>
            <a:endParaRPr lang="en-AU" sz="2400" dirty="0" smtClean="0"/>
          </a:p>
          <a:p>
            <a:endParaRPr lang="zh-CN" altLang="en-US" dirty="0" smtClean="0">
              <a:ea typeface="宋体" pitchFamily="2" charset="-122"/>
            </a:endParaRPr>
          </a:p>
        </p:txBody>
      </p:sp>
      <p:pic>
        <p:nvPicPr>
          <p:cNvPr id="6" name="Picture 5" descr="3605469130_d24e25f04f_m.jpg"/>
          <p:cNvPicPr>
            <a:picLocks noChangeAspect="1"/>
          </p:cNvPicPr>
          <p:nvPr/>
        </p:nvPicPr>
        <p:blipFill>
          <a:blip r:embed="rId3" cstate="print"/>
          <a:stretch>
            <a:fillRect/>
          </a:stretch>
        </p:blipFill>
        <p:spPr>
          <a:xfrm>
            <a:off x="7072330" y="2276872"/>
            <a:ext cx="1217290" cy="2164071"/>
          </a:xfrm>
          <a:prstGeom prst="rect">
            <a:avLst/>
          </a:prstGeom>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151</a:t>
            </a:fld>
            <a:endParaRPr lang="en-US"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noFill/>
          <a:ln/>
        </p:spPr>
        <p:txBody>
          <a:bodyPr>
            <a:normAutofit/>
          </a:bodyPr>
          <a:lstStyle/>
          <a:p>
            <a:r>
              <a:rPr lang="en-AU" sz="3400" b="1" dirty="0" smtClean="0">
                <a:solidFill>
                  <a:srgbClr val="FF6600"/>
                </a:solidFill>
                <a:latin typeface="Helvetica" pitchFamily="34" charset="0"/>
              </a:rPr>
              <a:t>Using wine information</a:t>
            </a:r>
            <a:endParaRPr lang="en-US" altLang="zh-CN" sz="3400" b="1" dirty="0" smtClean="0">
              <a:solidFill>
                <a:srgbClr val="FF6600"/>
              </a:solidFill>
              <a:latin typeface="Helvetica" pitchFamily="34" charset="0"/>
              <a:ea typeface="宋体" pitchFamily="2" charset="-122"/>
            </a:endParaRPr>
          </a:p>
        </p:txBody>
      </p:sp>
      <p:sp>
        <p:nvSpPr>
          <p:cNvPr id="93187" name="Rectangle 3"/>
          <p:cNvSpPr>
            <a:spLocks noGrp="1" noChangeArrowheads="1"/>
          </p:cNvSpPr>
          <p:nvPr>
            <p:ph type="body" idx="1"/>
          </p:nvPr>
        </p:nvSpPr>
        <p:spPr>
          <a:xfrm>
            <a:off x="457200" y="1600200"/>
            <a:ext cx="7467600" cy="5029200"/>
          </a:xfrm>
        </p:spPr>
        <p:txBody>
          <a:bodyPr>
            <a:normAutofit/>
          </a:bodyPr>
          <a:lstStyle/>
          <a:p>
            <a:pPr>
              <a:spcBef>
                <a:spcPts val="600"/>
              </a:spcBef>
              <a:spcAft>
                <a:spcPts val="1200"/>
              </a:spcAft>
              <a:buNone/>
            </a:pPr>
            <a:r>
              <a:rPr lang="en-AU" sz="2200" b="1" dirty="0" smtClean="0"/>
              <a:t>Making practical use of the knowledge gained</a:t>
            </a:r>
          </a:p>
          <a:p>
            <a:pPr lvl="0">
              <a:spcBef>
                <a:spcPts val="600"/>
              </a:spcBef>
              <a:spcAft>
                <a:spcPts val="1200"/>
              </a:spcAft>
            </a:pPr>
            <a:r>
              <a:rPr lang="en-AU" sz="2200" dirty="0" smtClean="0"/>
              <a:t>Obtain point-of-sale promotional material to assist in optimising sales of new wines</a:t>
            </a:r>
          </a:p>
          <a:p>
            <a:pPr lvl="0">
              <a:spcBef>
                <a:spcPts val="600"/>
              </a:spcBef>
              <a:spcAft>
                <a:spcPts val="1200"/>
              </a:spcAft>
            </a:pPr>
            <a:r>
              <a:rPr lang="en-AU" sz="2200" dirty="0" smtClean="0"/>
              <a:t>Reducing selling prices </a:t>
            </a:r>
          </a:p>
          <a:p>
            <a:pPr lvl="0">
              <a:spcBef>
                <a:spcPts val="600"/>
              </a:spcBef>
              <a:spcAft>
                <a:spcPts val="1200"/>
              </a:spcAft>
            </a:pPr>
            <a:r>
              <a:rPr lang="en-AU" sz="2200" dirty="0" smtClean="0"/>
              <a:t>Generating a new target market </a:t>
            </a:r>
            <a:endParaRPr lang="en-AU" sz="2400" dirty="0" smtClean="0"/>
          </a:p>
          <a:p>
            <a:endParaRPr lang="zh-CN" altLang="en-US" dirty="0" smtClean="0">
              <a:ea typeface="宋体" pitchFamily="2" charset="-122"/>
            </a:endParaRPr>
          </a:p>
        </p:txBody>
      </p:sp>
      <p:pic>
        <p:nvPicPr>
          <p:cNvPr id="5122" name="Picture 2" descr="C:\Documents and Settings\danielc\Local Settings\Temporary Internet Files\Content.IE5\SIQ5KRQ3\MP900431283[1].jpg"/>
          <p:cNvPicPr>
            <a:picLocks noChangeAspect="1" noChangeArrowheads="1"/>
          </p:cNvPicPr>
          <p:nvPr/>
        </p:nvPicPr>
        <p:blipFill>
          <a:blip r:embed="rId3" cstate="print"/>
          <a:srcRect/>
          <a:stretch>
            <a:fillRect/>
          </a:stretch>
        </p:blipFill>
        <p:spPr bwMode="auto">
          <a:xfrm>
            <a:off x="5580112" y="2780928"/>
            <a:ext cx="2643174" cy="1763493"/>
          </a:xfrm>
          <a:prstGeom prst="rect">
            <a:avLst/>
          </a:prstGeom>
          <a:noFill/>
        </p:spPr>
      </p:pic>
      <p:sp>
        <p:nvSpPr>
          <p:cNvPr id="5"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152</a:t>
            </a:fld>
            <a:endParaRPr lang="en-US" dirty="0"/>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lvl="0">
              <a:spcBef>
                <a:spcPts val="600"/>
              </a:spcBef>
              <a:spcAft>
                <a:spcPts val="1200"/>
              </a:spcAft>
            </a:pPr>
            <a:r>
              <a:rPr lang="en-AU" sz="3400" b="1" dirty="0" smtClean="0">
                <a:solidFill>
                  <a:srgbClr val="FF6600"/>
                </a:solidFill>
                <a:latin typeface="Helvetica" pitchFamily="34" charset="0"/>
              </a:rPr>
              <a:t>Revision and Assessments</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AU" sz="2200" b="1" dirty="0" smtClean="0"/>
              <a:t>It is now time to complete any:</a:t>
            </a:r>
          </a:p>
          <a:p>
            <a:pPr>
              <a:spcBef>
                <a:spcPts val="600"/>
              </a:spcBef>
              <a:spcAft>
                <a:spcPts val="600"/>
              </a:spcAft>
            </a:pPr>
            <a:r>
              <a:rPr lang="en-AU" sz="2200" dirty="0" smtClean="0"/>
              <a:t>Revision</a:t>
            </a:r>
            <a:endParaRPr lang="en-AU" sz="2200" dirty="0" smtClean="0"/>
          </a:p>
          <a:p>
            <a:pPr>
              <a:spcBef>
                <a:spcPts val="600"/>
              </a:spcBef>
              <a:spcAft>
                <a:spcPts val="600"/>
              </a:spcAft>
            </a:pPr>
            <a:r>
              <a:rPr lang="en-AU" sz="2200" dirty="0" smtClean="0"/>
              <a:t>Activities</a:t>
            </a:r>
          </a:p>
          <a:p>
            <a:pPr>
              <a:spcBef>
                <a:spcPts val="600"/>
              </a:spcBef>
              <a:spcAft>
                <a:spcPts val="600"/>
              </a:spcAft>
            </a:pPr>
            <a:r>
              <a:rPr lang="en-AU" sz="2200" dirty="0" smtClean="0"/>
              <a:t>Assessments</a:t>
            </a:r>
            <a:endParaRPr lang="en-AU" sz="22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6" name="Picture 5" descr="63118519_bbcf63d198_m.jpg"/>
          <p:cNvPicPr>
            <a:picLocks noChangeAspect="1"/>
          </p:cNvPicPr>
          <p:nvPr/>
        </p:nvPicPr>
        <p:blipFill>
          <a:blip r:embed="rId3" cstate="print"/>
          <a:stretch>
            <a:fillRect/>
          </a:stretch>
        </p:blipFill>
        <p:spPr>
          <a:xfrm>
            <a:off x="5286380" y="2000240"/>
            <a:ext cx="2279915" cy="170993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632848" cy="4680520"/>
          </a:xfrm>
        </p:spPr>
        <p:txBody>
          <a:bodyPr>
            <a:normAutofit/>
          </a:bodyPr>
          <a:lstStyle/>
          <a:p>
            <a:pPr>
              <a:buNone/>
            </a:pPr>
            <a:r>
              <a:rPr lang="en-AU" sz="4000" b="1" dirty="0" smtClean="0">
                <a:solidFill>
                  <a:srgbClr val="FF6600"/>
                </a:solidFill>
              </a:rPr>
              <a:t>Finish:</a:t>
            </a:r>
          </a:p>
          <a:p>
            <a:pPr>
              <a:buNone/>
            </a:pPr>
            <a:r>
              <a:rPr lang="en-AU" sz="4000" dirty="0" smtClean="0">
                <a:solidFill>
                  <a:srgbClr val="FF6600"/>
                </a:solidFill>
              </a:rPr>
              <a:t>Thank you!</a:t>
            </a:r>
          </a:p>
          <a:p>
            <a:pPr>
              <a:spcBef>
                <a:spcPts val="600"/>
              </a:spcBef>
              <a:spcAft>
                <a:spcPts val="1200"/>
              </a:spcAft>
            </a:pPr>
            <a:endParaRPr lang="en-AU" sz="2200" dirty="0" smtClean="0"/>
          </a:p>
          <a:p>
            <a:pPr>
              <a:spcBef>
                <a:spcPts val="600"/>
              </a:spcBef>
              <a:spcAft>
                <a:spcPts val="1200"/>
              </a:spcAft>
              <a:buNone/>
            </a:pPr>
            <a:endParaRPr lang="en-AU" sz="2200" dirty="0" smtClean="0"/>
          </a:p>
          <a:p>
            <a:pPr lvl="0">
              <a:spcBef>
                <a:spcPts val="600"/>
              </a:spcBef>
              <a:spcAft>
                <a:spcPts val="600"/>
              </a:spcAft>
            </a:pPr>
            <a:endParaRPr lang="en-AU" sz="2200" dirty="0" smtClean="0"/>
          </a:p>
          <a:p>
            <a:pPr>
              <a:buNone/>
            </a:pPr>
            <a:endParaRPr lang="en-AU" sz="2400" dirty="0" smtClean="0"/>
          </a:p>
          <a:p>
            <a:pPr lvl="0">
              <a:spcBef>
                <a:spcPts val="600"/>
              </a:spcBef>
              <a:spcAft>
                <a:spcPts val="1200"/>
              </a:spcAft>
            </a:pPr>
            <a:endParaRPr lang="en-AU" sz="2200" dirty="0" smtClean="0"/>
          </a:p>
          <a:p>
            <a:pPr marL="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2050" name="Picture 2" descr="C:\Documents and Settings\danielc\Desktop\Serve a range of wine products images\champagnepour2.jpg"/>
          <p:cNvPicPr>
            <a:picLocks noChangeAspect="1" noChangeArrowheads="1"/>
          </p:cNvPicPr>
          <p:nvPr/>
        </p:nvPicPr>
        <p:blipFill>
          <a:blip r:embed="rId3" cstate="print">
            <a:lum bright="10000" contrast="10000"/>
          </a:blip>
          <a:srcRect/>
          <a:stretch>
            <a:fillRect/>
          </a:stretch>
        </p:blipFill>
        <p:spPr bwMode="auto">
          <a:xfrm>
            <a:off x="4071934" y="2428869"/>
            <a:ext cx="2431626" cy="2286016"/>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874</TotalTime>
  <Words>8477</Words>
  <Application>Microsoft Office PowerPoint</Application>
  <PresentationFormat>On-screen Show (4:3)</PresentationFormat>
  <Paragraphs>1972</Paragraphs>
  <Slides>154</Slides>
  <Notes>154</Notes>
  <HiddenSlides>0</HiddenSlides>
  <MMClips>0</MMClips>
  <ScaleCrop>false</ScaleCrop>
  <HeadingPairs>
    <vt:vector size="4" baseType="variant">
      <vt:variant>
        <vt:lpstr>Theme</vt:lpstr>
      </vt:variant>
      <vt:variant>
        <vt:i4>1</vt:i4>
      </vt:variant>
      <vt:variant>
        <vt:lpstr>Slide Titles</vt:lpstr>
      </vt:variant>
      <vt:variant>
        <vt:i4>154</vt:i4>
      </vt:variant>
    </vt:vector>
  </HeadingPairs>
  <TitlesOfParts>
    <vt:vector size="155" baseType="lpstr">
      <vt:lpstr>PPT_Food_&amp;_Bev_template_250612</vt:lpstr>
      <vt:lpstr>SERVE A RANGE OF WINE PRODUCTS</vt:lpstr>
      <vt:lpstr>Subject Elements</vt:lpstr>
      <vt:lpstr>Assessment</vt:lpstr>
      <vt:lpstr>Slide 4</vt:lpstr>
      <vt:lpstr>Develop wine knowledge</vt:lpstr>
      <vt:lpstr>Develop wine knowledge</vt:lpstr>
      <vt:lpstr>Develop wine knowledge</vt:lpstr>
      <vt:lpstr>Develop wine knowledge</vt:lpstr>
      <vt:lpstr>Varietal wines</vt:lpstr>
      <vt:lpstr>Generic wines</vt:lpstr>
      <vt:lpstr>Generic wines</vt:lpstr>
      <vt:lpstr>Generic wines</vt:lpstr>
      <vt:lpstr>Varietal and generic wines</vt:lpstr>
      <vt:lpstr>Champagne / sparking wines</vt:lpstr>
      <vt:lpstr>Champagne / sparking wines</vt:lpstr>
      <vt:lpstr>Fortified wines</vt:lpstr>
      <vt:lpstr>Fortified wines</vt:lpstr>
      <vt:lpstr>Rice wines</vt:lpstr>
      <vt:lpstr>Identify and differentiate between the major grape varieties </vt:lpstr>
      <vt:lpstr>Identify and differentiate between the major grape varieties </vt:lpstr>
      <vt:lpstr>Varietal wines</vt:lpstr>
      <vt:lpstr>Varietal wines</vt:lpstr>
      <vt:lpstr>Wine growing countries</vt:lpstr>
      <vt:lpstr>Wine growing countries</vt:lpstr>
      <vt:lpstr>Wine growing countries</vt:lpstr>
      <vt:lpstr>Wine growing regions</vt:lpstr>
      <vt:lpstr>Wine growing regions</vt:lpstr>
      <vt:lpstr>Wine growing regions</vt:lpstr>
      <vt:lpstr>Wine growing regions</vt:lpstr>
      <vt:lpstr>Wine growing regions</vt:lpstr>
      <vt:lpstr>Wine growing regions</vt:lpstr>
      <vt:lpstr>Production of wine</vt:lpstr>
      <vt:lpstr>Production of wine</vt:lpstr>
      <vt:lpstr>Champagne / sparking wines</vt:lpstr>
      <vt:lpstr>Variations in wine production</vt:lpstr>
      <vt:lpstr>Impacts on wine production</vt:lpstr>
      <vt:lpstr>Impacts on wine production</vt:lpstr>
      <vt:lpstr>Impacts on wine production</vt:lpstr>
      <vt:lpstr>Impacts on wine production</vt:lpstr>
      <vt:lpstr>Interpret wine labels</vt:lpstr>
      <vt:lpstr>Interpret wine labels</vt:lpstr>
      <vt:lpstr>Slide 42</vt:lpstr>
      <vt:lpstr>Store and retrieve wines</vt:lpstr>
      <vt:lpstr>Arrange wine storage facilities</vt:lpstr>
      <vt:lpstr>Arrange wine storage facilities</vt:lpstr>
      <vt:lpstr>Arrange wine storage facilities</vt:lpstr>
      <vt:lpstr>Arrange wine storage facilities</vt:lpstr>
      <vt:lpstr>Promoting wines</vt:lpstr>
      <vt:lpstr>Promoting wines</vt:lpstr>
      <vt:lpstr>Promoting wines</vt:lpstr>
      <vt:lpstr>Promoting wines</vt:lpstr>
      <vt:lpstr>Storing wines</vt:lpstr>
      <vt:lpstr>Storing wines</vt:lpstr>
      <vt:lpstr>Retrieve wines</vt:lpstr>
      <vt:lpstr>Retrieve wines</vt:lpstr>
      <vt:lpstr>Slide 56</vt:lpstr>
      <vt:lpstr>Undertake sensory appraisal of wines</vt:lpstr>
      <vt:lpstr>Create the conditions for wine tasting </vt:lpstr>
      <vt:lpstr>Create the conditions for wine tasting </vt:lpstr>
      <vt:lpstr>Create the conditions for wine tasting </vt:lpstr>
      <vt:lpstr>Create the conditions for wine tasting </vt:lpstr>
      <vt:lpstr>Create the conditions for wine tasting </vt:lpstr>
      <vt:lpstr>Evaluating wine</vt:lpstr>
      <vt:lpstr>Evaluating wine</vt:lpstr>
      <vt:lpstr>Evaluating wine</vt:lpstr>
      <vt:lpstr>Evaluating wine</vt:lpstr>
      <vt:lpstr>Evaluating wine</vt:lpstr>
      <vt:lpstr>Evaluating wine</vt:lpstr>
      <vt:lpstr>Evaluating wine</vt:lpstr>
      <vt:lpstr>Evaluating wine</vt:lpstr>
      <vt:lpstr>Discuss wine characteristics</vt:lpstr>
      <vt:lpstr>Discuss wine characteristics</vt:lpstr>
      <vt:lpstr>Discuss wine characteristics</vt:lpstr>
      <vt:lpstr>Slide 74</vt:lpstr>
      <vt:lpstr>Slide 75</vt:lpstr>
      <vt:lpstr>Wine characteristics</vt:lpstr>
      <vt:lpstr>Wine characteristics</vt:lpstr>
      <vt:lpstr>Wine characteristics</vt:lpstr>
      <vt:lpstr>Wine characteristics</vt:lpstr>
      <vt:lpstr>Wine characteristics</vt:lpstr>
      <vt:lpstr>Discuss wine characteristics</vt:lpstr>
      <vt:lpstr>Appearance descriptors </vt:lpstr>
      <vt:lpstr>Appearance descriptors </vt:lpstr>
      <vt:lpstr>Appearance descriptors </vt:lpstr>
      <vt:lpstr>Appearance descriptors </vt:lpstr>
      <vt:lpstr>Appearance descriptors </vt:lpstr>
      <vt:lpstr>Determine wine quality</vt:lpstr>
      <vt:lpstr>Identifying wine faults</vt:lpstr>
      <vt:lpstr>Identifying wine faults</vt:lpstr>
      <vt:lpstr>Identifying wine faults</vt:lpstr>
      <vt:lpstr>Monitor wine quality and recognise faults</vt:lpstr>
      <vt:lpstr>Monitor wine quality and recognise faults</vt:lpstr>
      <vt:lpstr>Slide 93</vt:lpstr>
      <vt:lpstr>Provide advice to patrons</vt:lpstr>
      <vt:lpstr>Provide advice to patrons</vt:lpstr>
      <vt:lpstr>Present wine lists</vt:lpstr>
      <vt:lpstr>Present wine lists</vt:lpstr>
      <vt:lpstr>Present wine lists</vt:lpstr>
      <vt:lpstr>Provide wine advice</vt:lpstr>
      <vt:lpstr>Provide wine advice</vt:lpstr>
      <vt:lpstr>Provide wine advice</vt:lpstr>
      <vt:lpstr>Provide wine advice</vt:lpstr>
      <vt:lpstr>Provide wine advice</vt:lpstr>
      <vt:lpstr>Slide 104</vt:lpstr>
      <vt:lpstr>Slide 105</vt:lpstr>
      <vt:lpstr>Answering customer questions</vt:lpstr>
      <vt:lpstr>Answering customer questions</vt:lpstr>
      <vt:lpstr>Answering customer questions</vt:lpstr>
      <vt:lpstr>Explain special features</vt:lpstr>
      <vt:lpstr>Explain special features</vt:lpstr>
      <vt:lpstr>Interpret wine medals</vt:lpstr>
      <vt:lpstr>Interpret wine medals</vt:lpstr>
      <vt:lpstr>Interpret wine medals</vt:lpstr>
      <vt:lpstr>Interpret wine medals</vt:lpstr>
      <vt:lpstr>Slide 115</vt:lpstr>
      <vt:lpstr>Serve wines</vt:lpstr>
      <vt:lpstr>Serving wine </vt:lpstr>
      <vt:lpstr>Select glassware </vt:lpstr>
      <vt:lpstr>Select equipment</vt:lpstr>
      <vt:lpstr>Check bottle condition</vt:lpstr>
      <vt:lpstr>Check wine temperature</vt:lpstr>
      <vt:lpstr>Presenting the wine</vt:lpstr>
      <vt:lpstr>Decant wine</vt:lpstr>
      <vt:lpstr>Open and pour wine</vt:lpstr>
      <vt:lpstr>Refill glasses</vt:lpstr>
      <vt:lpstr>Clear wine glasses and bottles</vt:lpstr>
      <vt:lpstr>Serve after meal drinks</vt:lpstr>
      <vt:lpstr>Responding to complaints</vt:lpstr>
      <vt:lpstr>Responding to complaints</vt:lpstr>
      <vt:lpstr>Slide 130</vt:lpstr>
      <vt:lpstr>Maintain wine knowledge</vt:lpstr>
      <vt:lpstr>Maintain wine knowledge</vt:lpstr>
      <vt:lpstr>Maintain wine knowledge</vt:lpstr>
      <vt:lpstr>Maintain wine knowledge</vt:lpstr>
      <vt:lpstr>Maintain wine knowledge</vt:lpstr>
      <vt:lpstr>Maintain wine knowledge</vt:lpstr>
      <vt:lpstr>Sources of wine information</vt:lpstr>
      <vt:lpstr>Sources of wine information</vt:lpstr>
      <vt:lpstr>Sources of wine information</vt:lpstr>
      <vt:lpstr>Sources of wine information</vt:lpstr>
      <vt:lpstr>Sources of wine information</vt:lpstr>
      <vt:lpstr>Identify emerging wine trends </vt:lpstr>
      <vt:lpstr>Identify emerging wine trends </vt:lpstr>
      <vt:lpstr>Identify emerging wine trends </vt:lpstr>
      <vt:lpstr>Identify customer wine trends </vt:lpstr>
      <vt:lpstr>Types of wine trends</vt:lpstr>
      <vt:lpstr>Types of wine trends</vt:lpstr>
      <vt:lpstr>Types of wine trends</vt:lpstr>
      <vt:lpstr>Share wine information</vt:lpstr>
      <vt:lpstr>Share wine information</vt:lpstr>
      <vt:lpstr>Using wine information</vt:lpstr>
      <vt:lpstr>Using wine information</vt:lpstr>
      <vt:lpstr>Revision and Assessments</vt:lpstr>
      <vt:lpstr>Slide 154</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 A RANGE OF WINE PRODUCTS</dc:title>
  <dc:creator>Daniel James Chee</dc:creator>
  <cp:lastModifiedBy>Daniel James Chee</cp:lastModifiedBy>
  <cp:revision>106</cp:revision>
  <dcterms:created xsi:type="dcterms:W3CDTF">2012-12-19T23:35:43Z</dcterms:created>
  <dcterms:modified xsi:type="dcterms:W3CDTF">2013-03-30T11:11:35Z</dcterms:modified>
</cp:coreProperties>
</file>