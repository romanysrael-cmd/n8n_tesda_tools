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2"/>
  </p:notesMasterIdLst>
  <p:handoutMasterIdLst>
    <p:handoutMasterId r:id="rId43"/>
  </p:handoutMasterIdLst>
  <p:sldIdLst>
    <p:sldId id="256" r:id="rId2"/>
    <p:sldId id="257" r:id="rId3"/>
    <p:sldId id="258" r:id="rId4"/>
    <p:sldId id="260" r:id="rId5"/>
    <p:sldId id="281" r:id="rId6"/>
    <p:sldId id="261" r:id="rId7"/>
    <p:sldId id="298" r:id="rId8"/>
    <p:sldId id="283" r:id="rId9"/>
    <p:sldId id="284" r:id="rId10"/>
    <p:sldId id="262" r:id="rId11"/>
    <p:sldId id="285" r:id="rId12"/>
    <p:sldId id="292" r:id="rId13"/>
    <p:sldId id="297" r:id="rId14"/>
    <p:sldId id="263" r:id="rId15"/>
    <p:sldId id="287" r:id="rId16"/>
    <p:sldId id="264" r:id="rId17"/>
    <p:sldId id="265" r:id="rId18"/>
    <p:sldId id="266" r:id="rId19"/>
    <p:sldId id="267" r:id="rId20"/>
    <p:sldId id="268" r:id="rId21"/>
    <p:sldId id="269" r:id="rId22"/>
    <p:sldId id="289" r:id="rId23"/>
    <p:sldId id="270" r:id="rId24"/>
    <p:sldId id="299" r:id="rId25"/>
    <p:sldId id="290" r:id="rId26"/>
    <p:sldId id="271" r:id="rId27"/>
    <p:sldId id="273" r:id="rId28"/>
    <p:sldId id="282" r:id="rId29"/>
    <p:sldId id="274" r:id="rId30"/>
    <p:sldId id="293" r:id="rId31"/>
    <p:sldId id="291" r:id="rId32"/>
    <p:sldId id="275" r:id="rId33"/>
    <p:sldId id="276" r:id="rId34"/>
    <p:sldId id="294" r:id="rId35"/>
    <p:sldId id="277" r:id="rId36"/>
    <p:sldId id="295" r:id="rId37"/>
    <p:sldId id="278" r:id="rId38"/>
    <p:sldId id="279" r:id="rId39"/>
    <p:sldId id="280" r:id="rId40"/>
    <p:sldId id="296" r:id="rId4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35" autoAdjust="0"/>
    <p:restoredTop sz="92025" autoAdjust="0"/>
  </p:normalViewPr>
  <p:slideViewPr>
    <p:cSldViewPr>
      <p:cViewPr>
        <p:scale>
          <a:sx n="80" d="100"/>
          <a:sy n="80" d="100"/>
        </p:scale>
        <p:origin x="-29" y="34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1/14/2015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1/14/2015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smtClean="0">
                <a:solidFill>
                  <a:schemeClr val="tx1"/>
                </a:solidFill>
                <a:effectLst/>
                <a:latin typeface="+mn-lt"/>
                <a:ea typeface="+mn-ea"/>
                <a:cs typeface="+mn-cs"/>
              </a:rPr>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13200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two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710282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975527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989286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834405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Brainstorm each point within</a:t>
            </a:r>
            <a:r>
              <a:rPr lang="en-AU" baseline="0" noProof="0" dirty="0" smtClean="0"/>
              <a:t> small groups providing 1-2 examples or brainstorm as a class incorporating personal experience or knowledge of similar situations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4026220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Brainstorm each point within</a:t>
            </a:r>
            <a:r>
              <a:rPr lang="en-AU" baseline="0" noProof="0" dirty="0" smtClean="0"/>
              <a:t> small groups providing 1-2 examples or brainstorm as a class incorporating personal experience or knowledge of similar situations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3271113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Brainstorm this to encourage participation and engagement in the topic. Emphasise the importance of arriving prepared.</a:t>
            </a:r>
          </a:p>
          <a:p>
            <a:r>
              <a:rPr lang="en-AU" dirty="0" smtClean="0"/>
              <a:t>Answers on next slide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165550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Check for any other good suggestions by learners.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819782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 what needs to be</a:t>
            </a:r>
            <a:r>
              <a:rPr lang="en-AU" baseline="0" noProof="0" dirty="0" smtClean="0"/>
              <a:t> talked through for each of these points.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545287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why each of these points is important. (Continue on next slide as well)</a:t>
            </a:r>
          </a:p>
          <a:p>
            <a:r>
              <a:rPr lang="en-AU" dirty="0" smtClean="0"/>
              <a:t>Discuss</a:t>
            </a:r>
            <a:r>
              <a:rPr lang="en-AU" baseline="0" dirty="0" smtClean="0"/>
              <a:t> and brainstorm in further detail what details can be raised with bullet points 2-4</a:t>
            </a:r>
          </a:p>
          <a:p>
            <a:pPr marL="360000" lvl="0" indent="-360000" fontAlgn="base">
              <a:spcBef>
                <a:spcPts val="600"/>
              </a:spcBef>
              <a:spcAft>
                <a:spcPts val="1200"/>
              </a:spcAft>
            </a:pPr>
            <a:r>
              <a:rPr lang="en-AU" sz="1200" dirty="0" smtClean="0">
                <a:latin typeface="Helvetica" pitchFamily="34" charset="0"/>
              </a:rPr>
              <a:t>Your name – your full name, present business card,</a:t>
            </a:r>
            <a:r>
              <a:rPr lang="en-AU" sz="1200" baseline="0" dirty="0" smtClean="0">
                <a:latin typeface="Helvetica" pitchFamily="34" charset="0"/>
              </a:rPr>
              <a:t> inform of abbreviated or other name you may prefer to be known as</a:t>
            </a:r>
            <a:endParaRPr lang="en-AU" sz="1200" dirty="0" smtClean="0">
              <a:latin typeface="Helvetica" pitchFamily="34" charset="0"/>
            </a:endParaRPr>
          </a:p>
          <a:p>
            <a:pPr marL="360000" lvl="0" indent="-360000" fontAlgn="base">
              <a:spcBef>
                <a:spcPts val="600"/>
              </a:spcBef>
              <a:spcAft>
                <a:spcPts val="1200"/>
              </a:spcAft>
            </a:pPr>
            <a:r>
              <a:rPr lang="en-AU" sz="1200" dirty="0" smtClean="0">
                <a:latin typeface="Helvetica" pitchFamily="34" charset="0"/>
              </a:rPr>
              <a:t>Profile of visitors – who</a:t>
            </a:r>
            <a:r>
              <a:rPr lang="en-AU" sz="1200" baseline="0" dirty="0" smtClean="0">
                <a:latin typeface="Helvetica" pitchFamily="34" charset="0"/>
              </a:rPr>
              <a:t> the travellers are today, ethnicity, age group, destination preferences, length of stay…..</a:t>
            </a:r>
            <a:endParaRPr lang="en-AU" sz="1200" dirty="0" smtClean="0">
              <a:latin typeface="Helvetica" pitchFamily="34" charset="0"/>
            </a:endParaRPr>
          </a:p>
          <a:p>
            <a:pPr marL="360000" lvl="0" indent="-360000" fontAlgn="base">
              <a:spcBef>
                <a:spcPts val="600"/>
              </a:spcBef>
              <a:spcAft>
                <a:spcPts val="1200"/>
              </a:spcAft>
            </a:pPr>
            <a:r>
              <a:rPr lang="en-AU" sz="1200" dirty="0" smtClean="0">
                <a:latin typeface="Helvetica" pitchFamily="34" charset="0"/>
              </a:rPr>
              <a:t>Arrival information – arrival, confirm accommodation location</a:t>
            </a:r>
          </a:p>
          <a:p>
            <a:pPr marL="360000" lvl="0" indent="-360000" fontAlgn="base">
              <a:spcBef>
                <a:spcPts val="600"/>
              </a:spcBef>
              <a:spcAft>
                <a:spcPts val="1200"/>
              </a:spcAft>
            </a:pPr>
            <a:r>
              <a:rPr lang="en-AU" sz="1200" dirty="0" smtClean="0">
                <a:latin typeface="Helvetica" pitchFamily="34" charset="0"/>
              </a:rPr>
              <a:t>Tour route and destination</a:t>
            </a:r>
            <a:r>
              <a:rPr lang="en-AU" sz="1200" baseline="0" dirty="0" smtClean="0">
                <a:latin typeface="Helvetica" pitchFamily="34" charset="0"/>
              </a:rPr>
              <a:t> – confirming best route for travel and both be agreeable on this.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473149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why each of these points is important.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10096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why this point is important.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098790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 the importance of this</a:t>
            </a:r>
            <a:r>
              <a:rPr lang="en-AU" baseline="0" noProof="0" dirty="0" smtClean="0"/>
              <a:t> and the impact the greeting may have on the overall mind set of customers.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latin typeface="+mn-lt"/>
              </a:rPr>
              <a:t>Use the acronym ‘GST’  (greet, smile, thank)as a memory training tool </a:t>
            </a:r>
          </a:p>
          <a:p>
            <a:pPr>
              <a:buFont typeface="Arial" pitchFamily="34" charset="0"/>
              <a:buNone/>
            </a:pPr>
            <a:r>
              <a:rPr lang="en-AU" baseline="0" noProof="0" dirty="0" smtClean="0"/>
              <a:t>Ensure trainees understand ‘rapport’ and ‘interpersonal’ skills</a:t>
            </a:r>
          </a:p>
          <a:p>
            <a:pPr>
              <a:buFont typeface="Arial" pitchFamily="34" charset="0"/>
              <a:buNone/>
            </a:pPr>
            <a:r>
              <a:rPr lang="en-AU" baseline="0" noProof="0" dirty="0" smtClean="0"/>
              <a:t>Discuss grooming and dress – what is appropriate (may have already covered this several times in other units) </a:t>
            </a:r>
          </a:p>
          <a:p>
            <a:pPr>
              <a:buFont typeface="Arial" pitchFamily="34" charset="0"/>
              <a:buNone/>
            </a:pPr>
            <a:r>
              <a:rPr lang="en-AU" baseline="0" noProof="0" dirty="0" smtClean="0"/>
              <a:t>Discuss body language and voice control</a:t>
            </a:r>
          </a:p>
          <a:p>
            <a:pPr>
              <a:buFont typeface="Arial" pitchFamily="34" charset="0"/>
              <a:buNone/>
            </a:pPr>
            <a:r>
              <a:rPr lang="en-AU" baseline="0" noProof="0" dirty="0" smtClean="0"/>
              <a:t>Indicate to learners that they will now be asked to demonstrate how they will greet their passengers</a:t>
            </a:r>
          </a:p>
          <a:p>
            <a:pPr>
              <a:buFont typeface="Arial" pitchFamily="34" charset="0"/>
              <a:buNone/>
            </a:pPr>
            <a:r>
              <a:rPr lang="en-AU" b="1" baseline="0" noProof="0" dirty="0" smtClean="0"/>
              <a:t>Activity – Greet Passengers </a:t>
            </a:r>
            <a:r>
              <a:rPr lang="en-AU" b="0" baseline="0" noProof="0" dirty="0" smtClean="0"/>
              <a:t>allow 15-30 depending how in-depth. Could be done within groups, or to the class</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785142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The</a:t>
            </a:r>
            <a:r>
              <a:rPr lang="en-AU" baseline="0" dirty="0" smtClean="0"/>
              <a:t> Trainee manual reflects some key points for discussion upon first meeting visitors.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1" u="none" strike="noStrike" kern="1200" cap="none" spc="0" normalizeH="0" baseline="0" noProof="0" dirty="0" smtClean="0">
                <a:ln>
                  <a:noFill/>
                </a:ln>
                <a:solidFill>
                  <a:prstClr val="black"/>
                </a:solidFill>
                <a:effectLst/>
                <a:uLnTx/>
                <a:uFillTx/>
                <a:latin typeface="+mn-lt"/>
              </a:rPr>
              <a:t>There is animation on bullet points.  Answers will ‘fade in’ </a:t>
            </a:r>
          </a:p>
          <a:p>
            <a:r>
              <a:rPr lang="en-AU" dirty="0" smtClean="0"/>
              <a:t>Brainstorm or small groups to provide suggestions before revealing answers.</a:t>
            </a:r>
          </a:p>
          <a:p>
            <a:r>
              <a:rPr lang="en-AU" dirty="0" smtClean="0"/>
              <a:t>Discuss trainee</a:t>
            </a:r>
            <a:r>
              <a:rPr lang="en-AU" baseline="0" dirty="0" smtClean="0"/>
              <a:t> answers further as needed.</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001850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i="1" noProof="0" dirty="0" smtClean="0"/>
              <a:t>There</a:t>
            </a:r>
            <a:r>
              <a:rPr lang="en-AU" i="1" baseline="0" noProof="0" dirty="0" smtClean="0"/>
              <a:t> is a</a:t>
            </a:r>
            <a:r>
              <a:rPr lang="en-AU" i="1" noProof="0" dirty="0" smtClean="0"/>
              <a:t>nimation on bullet points. Answers will</a:t>
            </a:r>
            <a:r>
              <a:rPr lang="en-AU" i="1" baseline="0" noProof="0" dirty="0" smtClean="0"/>
              <a:t> </a:t>
            </a:r>
            <a:r>
              <a:rPr lang="en-AU" i="1" noProof="0" dirty="0" smtClean="0"/>
              <a:t>‘fade</a:t>
            </a:r>
            <a:r>
              <a:rPr lang="en-AU" i="1" baseline="0" noProof="0" dirty="0" smtClean="0"/>
              <a:t> </a:t>
            </a:r>
            <a:r>
              <a:rPr lang="en-AU" i="1" noProof="0" dirty="0" smtClean="0"/>
              <a:t>in’</a:t>
            </a:r>
            <a:r>
              <a:rPr lang="en-AU" i="1" baseline="0" noProof="0" dirty="0" smtClean="0"/>
              <a:t>.</a:t>
            </a:r>
            <a:endParaRPr lang="en-AU" i="1" noProof="0" dirty="0" smtClean="0"/>
          </a:p>
          <a:p>
            <a:pPr>
              <a:buFont typeface="Arial" pitchFamily="34" charset="0"/>
              <a:buNone/>
            </a:pPr>
            <a:endParaRPr lang="en-AU" noProof="0" dirty="0" smtClean="0"/>
          </a:p>
          <a:p>
            <a:pPr>
              <a:buFont typeface="Arial" pitchFamily="34" charset="0"/>
              <a:buNone/>
            </a:pPr>
            <a:r>
              <a:rPr lang="en-AU" noProof="0" dirty="0" smtClean="0"/>
              <a:t>In small groups use flip charts to create a list. Each group to</a:t>
            </a:r>
            <a:r>
              <a:rPr lang="en-AU" baseline="0" noProof="0" dirty="0" smtClean="0"/>
              <a:t> present their thoughts. Discuss and review as needed.</a:t>
            </a:r>
          </a:p>
          <a:p>
            <a:pPr>
              <a:buFont typeface="Arial" pitchFamily="34" charset="0"/>
              <a:buNone/>
            </a:pPr>
            <a:endParaRPr lang="en-AU" baseline="0" noProof="0" dirty="0" smtClean="0"/>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982889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 learners understanding of each type of accommodation</a:t>
            </a:r>
            <a:r>
              <a:rPr lang="en-AU" baseline="0" noProof="0" dirty="0" smtClean="0"/>
              <a:t> before referring to notes. Not all accommodation is popular or available in Asia.</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4326441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1" u="none" strike="noStrike" kern="1200" cap="none" spc="0" normalizeH="0" baseline="0" noProof="0" dirty="0" smtClean="0">
                <a:ln>
                  <a:noFill/>
                </a:ln>
                <a:solidFill>
                  <a:prstClr val="black"/>
                </a:solidFill>
                <a:effectLst/>
                <a:uLnTx/>
                <a:uFillTx/>
                <a:latin typeface="+mn-lt"/>
              </a:rPr>
              <a:t>There is animation on bullet points. Answers will ‘fade in’.</a:t>
            </a:r>
          </a:p>
          <a:p>
            <a:pPr>
              <a:buFont typeface="Arial" pitchFamily="34" charset="0"/>
              <a:buNone/>
            </a:pPr>
            <a:r>
              <a:rPr lang="en-AU" noProof="0" dirty="0" smtClean="0"/>
              <a:t>Based on location</a:t>
            </a:r>
            <a:r>
              <a:rPr lang="en-AU" baseline="0" noProof="0" dirty="0" smtClean="0"/>
              <a:t> for training learners may have quite varied experience with each point. Discuss this and the size of the transport terminal they are familiar with. I.e. Capital city, major town or village. Perhaps discuss some of the busiest transport terminals in the world </a:t>
            </a:r>
          </a:p>
          <a:p>
            <a:pPr>
              <a:buFont typeface="Arial" pitchFamily="34" charset="0"/>
              <a:buNone/>
            </a:pPr>
            <a:r>
              <a:rPr lang="en-AU" b="1" u="sng" baseline="0" noProof="0" dirty="0" smtClean="0"/>
              <a:t>Airports</a:t>
            </a:r>
            <a:r>
              <a:rPr lang="en-AU" baseline="0" noProof="0" dirty="0" smtClean="0"/>
              <a:t>-JFK, Heathrow</a:t>
            </a:r>
          </a:p>
          <a:p>
            <a:pPr>
              <a:buFont typeface="Arial" pitchFamily="34" charset="0"/>
              <a:buNone/>
            </a:pPr>
            <a:r>
              <a:rPr lang="en-AU" b="1" u="sng" baseline="0" noProof="0" dirty="0" smtClean="0"/>
              <a:t>Cruise ports</a:t>
            </a:r>
            <a:r>
              <a:rPr lang="en-AU" baseline="0" noProof="0" dirty="0" smtClean="0"/>
              <a:t>-Spain, Italy, Florida-USA, Caribbean, Mexico, Singapore</a:t>
            </a:r>
          </a:p>
          <a:p>
            <a:pPr>
              <a:buFont typeface="Arial" pitchFamily="34" charset="0"/>
              <a:buNone/>
            </a:pPr>
            <a:r>
              <a:rPr lang="en-AU" b="1" u="sng" baseline="0" noProof="0" dirty="0" smtClean="0"/>
              <a:t>Train stations</a:t>
            </a:r>
            <a:r>
              <a:rPr lang="en-AU" baseline="0" noProof="0" dirty="0" smtClean="0"/>
              <a:t> – All major Stations in </a:t>
            </a:r>
            <a:r>
              <a:rPr lang="en-AU" b="1" baseline="0" noProof="0" dirty="0" smtClean="0"/>
              <a:t>Japan</a:t>
            </a:r>
            <a:r>
              <a:rPr lang="en-AU" baseline="0" noProof="0" dirty="0" smtClean="0"/>
              <a:t>, Gare du Nord, </a:t>
            </a:r>
            <a:r>
              <a:rPr lang="en-AU" b="1" baseline="0" noProof="0" dirty="0" smtClean="0"/>
              <a:t>France</a:t>
            </a:r>
            <a:r>
              <a:rPr lang="en-AU" baseline="0" noProof="0" dirty="0" smtClean="0"/>
              <a:t>, Penn Station New Jersey, </a:t>
            </a:r>
            <a:r>
              <a:rPr lang="en-AU" b="1" baseline="0" noProof="0" dirty="0" smtClean="0"/>
              <a:t>USA, </a:t>
            </a:r>
            <a:r>
              <a:rPr lang="en-AU" baseline="0" noProof="0" dirty="0" smtClean="0"/>
              <a:t>Zurich Station </a:t>
            </a:r>
            <a:r>
              <a:rPr lang="en-AU" b="1" baseline="0" noProof="0" dirty="0" smtClean="0"/>
              <a:t>Switzerland</a:t>
            </a:r>
            <a:r>
              <a:rPr lang="en-AU" baseline="0" noProof="0" dirty="0" smtClean="0"/>
              <a:t>, Union Station </a:t>
            </a:r>
            <a:r>
              <a:rPr lang="en-AU" b="1" baseline="0" noProof="0" dirty="0" smtClean="0"/>
              <a:t>Canada</a:t>
            </a:r>
          </a:p>
          <a:p>
            <a:pPr>
              <a:buFont typeface="Arial" pitchFamily="34" charset="0"/>
              <a:buNone/>
            </a:pPr>
            <a:r>
              <a:rPr lang="en-AU" b="1" u="sng" baseline="0" noProof="0" dirty="0" smtClean="0"/>
              <a:t>Bus Stations </a:t>
            </a:r>
            <a:r>
              <a:rPr lang="en-AU" b="0" baseline="0" noProof="0" dirty="0" smtClean="0"/>
              <a:t>–see website  </a:t>
            </a:r>
            <a:r>
              <a:rPr lang="en-AU" sz="800" b="0" baseline="0" noProof="0" dirty="0" smtClean="0"/>
              <a:t>http://nobert-bermosa.blogspot.com.au/2011/08/world-record-holders-most-remarkable.html</a:t>
            </a:r>
          </a:p>
          <a:p>
            <a:pPr>
              <a:buFont typeface="Arial" pitchFamily="34" charset="0"/>
              <a:buNone/>
            </a:pPr>
            <a:endParaRPr lang="en-AU" sz="800" b="0" baseline="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475105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 and confirm understanding of each point.</a:t>
            </a:r>
          </a:p>
          <a:p>
            <a:pPr>
              <a:buFont typeface="Arial" pitchFamily="34" charset="0"/>
              <a:buNone/>
            </a:pPr>
            <a:r>
              <a:rPr lang="en-AU" noProof="0" dirty="0" smtClean="0"/>
              <a:t>If</a:t>
            </a:r>
            <a:r>
              <a:rPr lang="en-AU" baseline="0" noProof="0" dirty="0" smtClean="0"/>
              <a:t> possible allow trainees to experience speaking into a microphone or megaphone.</a:t>
            </a:r>
          </a:p>
          <a:p>
            <a:pPr>
              <a:buFont typeface="Arial" pitchFamily="34" charset="0"/>
              <a:buNone/>
            </a:pPr>
            <a:r>
              <a:rPr lang="en-AU" baseline="0" noProof="0" dirty="0" smtClean="0"/>
              <a:t>Alternatively discuss do’s and don’ts when the voice is amplified.</a:t>
            </a:r>
          </a:p>
          <a:p>
            <a:pPr>
              <a:buFont typeface="Arial" pitchFamily="34" charset="0"/>
              <a:buNone/>
            </a:pPr>
            <a:r>
              <a:rPr lang="en-AU" baseline="0" noProof="0" dirty="0" smtClean="0"/>
              <a:t>Discuss each point based on knowledge and experience. Seek input from learners on previous experience.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1505652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 as needed</a:t>
            </a:r>
            <a:r>
              <a:rPr lang="en-AU" baseline="0" noProof="0" dirty="0" smtClean="0"/>
              <a:t> identifying key points and their importance.</a:t>
            </a:r>
            <a:endParaRPr lang="en-AU" noProof="0" dirty="0" smtClean="0"/>
          </a:p>
          <a:p>
            <a:pPr>
              <a:buFont typeface="Arial" pitchFamily="34" charset="0"/>
              <a:buNone/>
            </a:pPr>
            <a:r>
              <a:rPr lang="en-AU" noProof="0" dirty="0" smtClean="0"/>
              <a:t>Where possible have a sample of an Arrivals List for viewing.</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671211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 each point and its importance</a:t>
            </a:r>
            <a:r>
              <a:rPr lang="en-AU" baseline="0" noProof="0" dirty="0" smtClean="0"/>
              <a:t> or </a:t>
            </a:r>
            <a:r>
              <a:rPr lang="en-AU" noProof="0" dirty="0" smtClean="0"/>
              <a:t>relevance. Link back to the Arrivals list where the pieces of luggage are listed as well.</a:t>
            </a:r>
          </a:p>
          <a:p>
            <a:pPr>
              <a:spcBef>
                <a:spcPts val="400"/>
              </a:spcBef>
              <a:spcAft>
                <a:spcPts val="800"/>
              </a:spcAft>
            </a:pPr>
            <a:r>
              <a:rPr lang="en-AU" sz="1200" dirty="0" smtClean="0">
                <a:effectLst/>
                <a:latin typeface="Helvetica"/>
                <a:ea typeface="Calibri"/>
                <a:cs typeface="Calibri"/>
              </a:rPr>
              <a:t>Information on a luggage tag: (if possible have luggage tag samples available)</a:t>
            </a:r>
          </a:p>
          <a:p>
            <a:pPr marL="342900" lvl="0" indent="-342900" fontAlgn="base">
              <a:spcBef>
                <a:spcPts val="300"/>
              </a:spcBef>
              <a:spcAft>
                <a:spcPts val="600"/>
              </a:spcAft>
              <a:buFont typeface="Arial" panose="020B0604020202020204" pitchFamily="34" charset="0"/>
              <a:buChar char="•"/>
            </a:pPr>
            <a:r>
              <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rPr>
              <a:t>Agency name and contact details</a:t>
            </a:r>
          </a:p>
          <a:p>
            <a:pPr marL="342900" lvl="0" indent="-342900" fontAlgn="base">
              <a:spcBef>
                <a:spcPts val="300"/>
              </a:spcBef>
              <a:spcAft>
                <a:spcPts val="600"/>
              </a:spcAft>
              <a:buFont typeface="Arial" panose="020B0604020202020204" pitchFamily="34" charset="0"/>
              <a:buChar char="•"/>
            </a:pPr>
            <a:r>
              <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rPr>
              <a:t>Colour codes for specific purposed(these may vary depending on tour operator)</a:t>
            </a:r>
          </a:p>
          <a:p>
            <a:pPr marL="342900" lvl="0" indent="-342900" fontAlgn="base">
              <a:spcBef>
                <a:spcPts val="300"/>
              </a:spcBef>
              <a:spcAft>
                <a:spcPts val="600"/>
              </a:spcAft>
              <a:buFont typeface="Arial" panose="020B0604020202020204" pitchFamily="34" charset="0"/>
              <a:buChar char="•"/>
            </a:pPr>
            <a:r>
              <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rPr>
              <a:t>Name of visitor</a:t>
            </a:r>
          </a:p>
          <a:p>
            <a:pPr marL="342900" lvl="0" indent="-342900" fontAlgn="base">
              <a:spcBef>
                <a:spcPts val="300"/>
              </a:spcBef>
              <a:spcAft>
                <a:spcPts val="600"/>
              </a:spcAft>
              <a:buFont typeface="Arial" panose="020B0604020202020204" pitchFamily="34" charset="0"/>
              <a:buChar char="•"/>
            </a:pPr>
            <a:r>
              <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rPr>
              <a:t>Destination for luggage to be transported to</a:t>
            </a:r>
          </a:p>
          <a:p>
            <a:pPr marL="342900" lvl="0" indent="-342900" fontAlgn="base">
              <a:spcBef>
                <a:spcPts val="300"/>
              </a:spcBef>
              <a:spcAft>
                <a:spcPts val="600"/>
              </a:spcAft>
              <a:buFont typeface="Arial" panose="020B0604020202020204" pitchFamily="34" charset="0"/>
              <a:buChar char="•"/>
            </a:pPr>
            <a:r>
              <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rPr>
              <a:t>Special requirements such as ‘Fragile – Handle me with care’, ‘Heavy’ notifications.</a:t>
            </a:r>
          </a:p>
          <a:p>
            <a:pPr marL="342900" lvl="0" indent="-342900" fontAlgn="base">
              <a:spcBef>
                <a:spcPts val="300"/>
              </a:spcBef>
              <a:spcAft>
                <a:spcPts val="600"/>
              </a:spcAft>
              <a:buFont typeface="Wingdings"/>
              <a:buChar char=""/>
            </a:pPr>
            <a:endPar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endParaRPr>
          </a:p>
          <a:p>
            <a:pPr marL="0" lvl="0" indent="0" fontAlgn="base">
              <a:spcBef>
                <a:spcPts val="300"/>
              </a:spcBef>
              <a:spcAft>
                <a:spcPts val="600"/>
              </a:spcAft>
              <a:buFont typeface="Wingdings"/>
              <a:buNone/>
            </a:pPr>
            <a:r>
              <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rPr>
              <a:t>For</a:t>
            </a:r>
            <a:r>
              <a:rPr lang="en-AU" sz="1200" u="none" strike="noStrike" kern="0" spc="0" baseline="0" dirty="0" smtClean="0">
                <a:ln>
                  <a:noFill/>
                </a:ln>
                <a:effectLst>
                  <a:glow>
                    <a:srgbClr val="000000"/>
                  </a:glow>
                  <a:outerShdw sx="0" sy="0">
                    <a:srgbClr val="000000"/>
                  </a:outerShdw>
                  <a:reflection stA="0" endPos="0" fadeDir="0" sx="0" sy="0"/>
                </a:effectLst>
                <a:latin typeface="Helvetica"/>
                <a:ea typeface="Calibri"/>
                <a:cs typeface="Times New Roman"/>
              </a:rPr>
              <a:t> b</a:t>
            </a:r>
            <a:r>
              <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rPr>
              <a:t>ullet</a:t>
            </a:r>
            <a:r>
              <a:rPr lang="en-AU" sz="1200" u="none" strike="noStrike" kern="0" spc="0" baseline="0" dirty="0" smtClean="0">
                <a:ln>
                  <a:noFill/>
                </a:ln>
                <a:effectLst>
                  <a:glow>
                    <a:srgbClr val="000000"/>
                  </a:glow>
                  <a:outerShdw sx="0" sy="0">
                    <a:srgbClr val="000000"/>
                  </a:outerShdw>
                  <a:reflection stA="0" endPos="0" fadeDir="0" sx="0" sy="0"/>
                </a:effectLst>
                <a:latin typeface="Helvetica"/>
                <a:ea typeface="Calibri"/>
                <a:cs typeface="Times New Roman"/>
              </a:rPr>
              <a:t> point </a:t>
            </a:r>
            <a:r>
              <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rPr>
              <a:t>#2 ensure an understanding of carry-on luggage allowances and why they are limited. Importance of declaring fragile items and what would</a:t>
            </a:r>
            <a:r>
              <a:rPr lang="en-AU" sz="1200" u="none" strike="noStrike" kern="0" spc="0" baseline="0" dirty="0" smtClean="0">
                <a:ln>
                  <a:noFill/>
                </a:ln>
                <a:effectLst>
                  <a:glow>
                    <a:srgbClr val="000000"/>
                  </a:glow>
                  <a:outerShdw sx="0" sy="0">
                    <a:srgbClr val="000000"/>
                  </a:outerShdw>
                  <a:reflection stA="0" endPos="0" fadeDir="0" sx="0" sy="0"/>
                </a:effectLst>
                <a:latin typeface="Helvetica"/>
                <a:ea typeface="Calibri"/>
                <a:cs typeface="Times New Roman"/>
              </a:rPr>
              <a:t> come under</a:t>
            </a:r>
            <a:r>
              <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rPr>
              <a:t> miscellaneous fees.</a:t>
            </a:r>
          </a:p>
          <a:p>
            <a:pPr marL="0" lvl="0" indent="0" fontAlgn="base">
              <a:spcBef>
                <a:spcPts val="300"/>
              </a:spcBef>
              <a:spcAft>
                <a:spcPts val="600"/>
              </a:spcAft>
              <a:buFont typeface="Wingdings"/>
              <a:buNone/>
            </a:pPr>
            <a:endParaRPr lang="en-AU" sz="1200" u="none" strike="noStrike" kern="0" spc="0" dirty="0" smtClean="0">
              <a:ln>
                <a:noFill/>
              </a:ln>
              <a:effectLst>
                <a:glow>
                  <a:srgbClr val="000000"/>
                </a:glow>
                <a:outerShdw sx="0" sy="0">
                  <a:srgbClr val="000000"/>
                </a:outerShdw>
                <a:reflection stA="0" endPos="0" fadeDir="0" sx="0" sy="0"/>
              </a:effectLst>
              <a:latin typeface="Helvetica"/>
              <a:ea typeface="Calibri"/>
              <a:cs typeface="Times New Roman"/>
            </a:endParaRP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3839351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AU" dirty="0" smtClean="0"/>
              <a:t>Discuss each as needed.</a:t>
            </a:r>
          </a:p>
          <a:p>
            <a:pPr marL="171450" indent="-171450">
              <a:buFont typeface="Arial" panose="020B0604020202020204" pitchFamily="34" charset="0"/>
              <a:buChar char="•"/>
            </a:pPr>
            <a:r>
              <a:rPr lang="en-AU" dirty="0" smtClean="0"/>
              <a:t>Luggage tracking – computerised methods available today utilizing</a:t>
            </a:r>
            <a:r>
              <a:rPr lang="en-AU" baseline="0" dirty="0" smtClean="0"/>
              <a:t> barcodes. Reminder that it is the Tour Guide’s responsibility  to double check all luggage is accounted for before the transport driver departs or the Bell Attendant transfers to rooms.</a:t>
            </a:r>
            <a:endParaRPr lang="en-AU" dirty="0" smtClean="0"/>
          </a:p>
          <a:p>
            <a:pPr marL="171450" indent="-171450">
              <a:buFont typeface="Arial" panose="020B0604020202020204" pitchFamily="34" charset="0"/>
              <a:buChar char="•"/>
            </a:pPr>
            <a:r>
              <a:rPr lang="en-AU" dirty="0" smtClean="0"/>
              <a:t>Have a sample ‘indemnity form’ for viewing. Discuss and identify its</a:t>
            </a:r>
            <a:r>
              <a:rPr lang="en-AU" baseline="0" dirty="0" smtClean="0"/>
              <a:t> importance</a:t>
            </a: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69858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a:t>
            </a:r>
            <a:r>
              <a:rPr lang="en-AU" baseline="0" noProof="0" dirty="0" smtClean="0"/>
              <a:t>: there are many points that may need to be covered  with the passenger depending on your company policy so it is important to be familiar with it.</a:t>
            </a:r>
          </a:p>
          <a:p>
            <a:pPr>
              <a:buFont typeface="Arial" pitchFamily="34" charset="0"/>
              <a:buNone/>
            </a:pPr>
            <a:r>
              <a:rPr lang="en-AU" baseline="0" noProof="0" dirty="0" smtClean="0"/>
              <a:t>Is there any experience in the room regarding lost luggage? Was it found? How were you looked after?</a:t>
            </a:r>
          </a:p>
          <a:p>
            <a:pPr>
              <a:buFont typeface="Arial" pitchFamily="34" charset="0"/>
              <a:buNone/>
            </a:pPr>
            <a:r>
              <a:rPr lang="en-AU" noProof="0" dirty="0" smtClean="0"/>
              <a:t>Indicate that we will now look</a:t>
            </a:r>
            <a:r>
              <a:rPr lang="en-AU" baseline="0" noProof="0" dirty="0" smtClean="0"/>
              <a:t> at a few points in more detail. Trainer to decide on which points and how many based on time allowance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1740486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a:t>
            </a:r>
            <a:r>
              <a:rPr lang="en-AU" baseline="0" noProof="0" dirty="0" smtClean="0"/>
              <a:t>: there are many points that may need to be covered  with the passenger depending on your company policy so it is important to be familiar with it.</a:t>
            </a:r>
          </a:p>
          <a:p>
            <a:pPr>
              <a:buFont typeface="Arial" pitchFamily="34" charset="0"/>
              <a:buNone/>
            </a:pPr>
            <a:r>
              <a:rPr lang="en-AU" baseline="0" noProof="0" dirty="0" smtClean="0"/>
              <a:t>Is there any experience in the room regarding lost luggage? Was it found? How were you looked after?</a:t>
            </a:r>
          </a:p>
          <a:p>
            <a:pPr>
              <a:buFont typeface="Arial" pitchFamily="34" charset="0"/>
              <a:buNone/>
            </a:pPr>
            <a:r>
              <a:rPr lang="en-AU" noProof="0" dirty="0" smtClean="0"/>
              <a:t>Indicate that we will now look</a:t>
            </a:r>
            <a:r>
              <a:rPr lang="en-AU" baseline="0" noProof="0" dirty="0" smtClean="0"/>
              <a:t> at a few points in more detail. Trainer to decide on which points and how many based on time allowance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9136635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What is the</a:t>
            </a:r>
            <a:r>
              <a:rPr lang="en-AU" baseline="0" dirty="0" smtClean="0"/>
              <a:t> role of a</a:t>
            </a:r>
            <a:r>
              <a:rPr lang="en-AU" dirty="0" smtClean="0"/>
              <a:t> Handling</a:t>
            </a:r>
            <a:r>
              <a:rPr lang="en-AU" baseline="0" dirty="0" smtClean="0"/>
              <a:t> Agent</a:t>
            </a:r>
          </a:p>
          <a:p>
            <a:r>
              <a:rPr lang="en-AU" baseline="0" dirty="0" smtClean="0"/>
              <a:t>Review samples of Lost luggage procedure from Changi airport in Trainee manual</a:t>
            </a:r>
          </a:p>
          <a:p>
            <a:r>
              <a:rPr lang="en-AU" baseline="0" dirty="0" smtClean="0"/>
              <a:t>Identify limitations for passengers regarding baggage liability in manual</a:t>
            </a:r>
          </a:p>
          <a:p>
            <a:r>
              <a:rPr lang="en-AU" baseline="0" dirty="0" smtClean="0"/>
              <a:t>Discuss what may be involved in a search and the importance of taking notes and names of staff in order to complete an investigation and incident report.</a:t>
            </a:r>
          </a:p>
          <a:p>
            <a:r>
              <a:rPr lang="en-AU" baseline="0" dirty="0" smtClean="0"/>
              <a:t>If possible have a sample of ‘Incident Report’ for viewing. This could be made an activity where small groups need to role play the situation.</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1635012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 types of businesses this would involve</a:t>
            </a:r>
            <a:r>
              <a:rPr lang="en-AU" baseline="0" noProof="0" dirty="0" smtClean="0"/>
              <a:t> and the different details they may require to provide the product or service ordered.</a:t>
            </a:r>
          </a:p>
          <a:p>
            <a:pPr>
              <a:buFont typeface="Arial" pitchFamily="34" charset="0"/>
              <a:buNone/>
            </a:pPr>
            <a:r>
              <a:rPr lang="en-AU" baseline="0" noProof="0" dirty="0" smtClean="0"/>
              <a:t>This could be made an activity where small groups need to identify an arrival situation (elderly tour group, private family group, business group or other) and detail their communications and present to the class. Emphasise this type of presentation assists with gaining experience in announcing or providing information in a group situation.</a:t>
            </a:r>
          </a:p>
          <a:p>
            <a:pPr>
              <a:buFont typeface="Arial" pitchFamily="34" charset="0"/>
              <a:buNone/>
            </a:pPr>
            <a:endParaRPr lang="en-AU" baseline="0" noProof="0" dirty="0" smtClean="0"/>
          </a:p>
          <a:p>
            <a:pPr>
              <a:buFont typeface="Arial" pitchFamily="34" charset="0"/>
              <a:buNone/>
            </a:pPr>
            <a:r>
              <a:rPr lang="en-AU" baseline="0" noProof="0" dirty="0" smtClean="0"/>
              <a:t>Complete </a:t>
            </a:r>
            <a:r>
              <a:rPr lang="en-AU" b="1" baseline="0" noProof="0" dirty="0" smtClean="0"/>
              <a:t>Work Projects </a:t>
            </a:r>
            <a:r>
              <a:rPr lang="en-AU" baseline="0" noProof="0" dirty="0" smtClean="0"/>
              <a:t>for this Element from Trainee Manual as time allows either individually or in work groups. If no time then direct learners to complete as homework.</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4186785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5512104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6494051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 points (continued on next slide) as time allows. This could be done as an activity. Divide</a:t>
            </a:r>
            <a:r>
              <a:rPr lang="en-AU" baseline="0" noProof="0" dirty="0" smtClean="0"/>
              <a:t> class into small groups. Each group to work through bullet points providing information, samples, options as required  for each point. The purpose is to have scenarios where changes need to or must be changed and learners are to provide solutions.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40817820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Work through each of these points to</a:t>
            </a:r>
            <a:r>
              <a:rPr lang="en-AU" baseline="0" noProof="0" dirty="0" smtClean="0"/>
              <a:t> confirm participant comprehension</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25842153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sz="1000" dirty="0" smtClean="0"/>
              <a:t>Discuss what would be checked and confirmed before meeting departing visitors.</a:t>
            </a:r>
          </a:p>
          <a:p>
            <a:endParaRPr lang="en-US" sz="1000" u="sng" dirty="0" smtClean="0">
              <a:effectLst/>
              <a:latin typeface="Helvetica"/>
              <a:ea typeface="MS Mincho"/>
              <a:cs typeface="Helvetica"/>
            </a:endParaRPr>
          </a:p>
          <a:p>
            <a:r>
              <a:rPr lang="en-US" sz="1000" b="1" u="sng" dirty="0" smtClean="0">
                <a:effectLst/>
                <a:latin typeface="Helvetica"/>
                <a:ea typeface="MS Mincho"/>
                <a:cs typeface="Helvetica"/>
              </a:rPr>
              <a:t>Case Scenario:</a:t>
            </a:r>
            <a:r>
              <a:rPr lang="en-US" sz="1000" b="1" dirty="0" smtClean="0">
                <a:effectLst/>
                <a:latin typeface="Helvetica"/>
                <a:ea typeface="MS Mincho"/>
                <a:cs typeface="Helvetica"/>
              </a:rPr>
              <a:t> </a:t>
            </a:r>
            <a:endParaRPr lang="en-AU" sz="1000" b="0" dirty="0" smtClean="0">
              <a:effectLst/>
              <a:latin typeface="+mn-lt"/>
              <a:ea typeface="MS Mincho"/>
              <a:cs typeface="Times New Roman"/>
            </a:endParaRPr>
          </a:p>
          <a:p>
            <a:r>
              <a:rPr lang="en-US" sz="1000" b="1" dirty="0" smtClean="0">
                <a:effectLst/>
                <a:latin typeface="Helvetica"/>
                <a:ea typeface="MS Mincho"/>
                <a:cs typeface="Helvetica"/>
              </a:rPr>
              <a:t>A group of 28 pax from ABC Travel are spending their last two nights at Furama Riverfront Hotel. Michael Yeo is the tour agent representing the agency and he has been with the visitors for the past three days. They are now on their last two nights; Michael has to check and prepare several arrangements</a:t>
            </a:r>
            <a:r>
              <a:rPr lang="en-US" sz="1000" b="1" baseline="0" dirty="0" smtClean="0">
                <a:effectLst/>
                <a:latin typeface="Helvetica"/>
                <a:ea typeface="MS Mincho"/>
                <a:cs typeface="Helvetica"/>
              </a:rPr>
              <a:t> </a:t>
            </a:r>
            <a:r>
              <a:rPr lang="en-US" sz="1000" b="1" dirty="0" smtClean="0">
                <a:effectLst/>
                <a:latin typeface="Helvetica"/>
                <a:ea typeface="MS Mincho"/>
                <a:cs typeface="Helvetica"/>
              </a:rPr>
              <a:t>before the departure.</a:t>
            </a:r>
            <a:endParaRPr lang="en-AU" sz="1000" b="0" dirty="0" smtClean="0">
              <a:effectLst/>
              <a:latin typeface="+mn-lt"/>
              <a:ea typeface="MS Mincho"/>
              <a:cs typeface="Times New Roman"/>
            </a:endParaRPr>
          </a:p>
          <a:p>
            <a:r>
              <a:rPr lang="en-US" sz="1000" b="1" dirty="0" smtClean="0">
                <a:effectLst/>
                <a:latin typeface="Helvetica"/>
                <a:ea typeface="MS Mincho"/>
                <a:cs typeface="Helvetica"/>
              </a:rPr>
              <a:t>Based on this scenario, you are to answer all of the following questions.</a:t>
            </a:r>
            <a:endParaRPr lang="en-AU" sz="1000" dirty="0" smtClean="0">
              <a:effectLst/>
              <a:latin typeface="+mn-lt"/>
              <a:ea typeface="MS Mincho"/>
              <a:cs typeface="Times New Roman"/>
            </a:endParaRPr>
          </a:p>
          <a:p>
            <a:pPr>
              <a:lnSpc>
                <a:spcPct val="115000"/>
              </a:lnSpc>
              <a:spcAft>
                <a:spcPts val="1000"/>
              </a:spcAft>
            </a:pPr>
            <a:r>
              <a:rPr lang="en-US" sz="1000" dirty="0" smtClean="0">
                <a:effectLst/>
                <a:latin typeface="Helvetica"/>
                <a:ea typeface="MS Mincho"/>
                <a:cs typeface="Helvetica"/>
              </a:rPr>
              <a:t> </a:t>
            </a:r>
            <a:endParaRPr lang="en-AU" sz="1000" dirty="0" smtClean="0">
              <a:effectLst/>
              <a:latin typeface="+mn-lt"/>
              <a:ea typeface="MS Mincho"/>
              <a:cs typeface="Times New Roman"/>
            </a:endParaRPr>
          </a:p>
          <a:p>
            <a:pPr marL="1371600" indent="-1371600" algn="just">
              <a:lnSpc>
                <a:spcPct val="115000"/>
              </a:lnSpc>
              <a:spcAft>
                <a:spcPts val="1000"/>
              </a:spcAft>
            </a:pPr>
            <a:r>
              <a:rPr lang="en-US" sz="1000" dirty="0" smtClean="0">
                <a:effectLst/>
                <a:latin typeface="Helvetica"/>
                <a:ea typeface="MS Mincho"/>
                <a:cs typeface="Helvetica"/>
              </a:rPr>
              <a:t>Question 1:	Design a flow chart for all procedures required when preparing for departure of visitors. </a:t>
            </a:r>
            <a:endParaRPr lang="en-AU" sz="1000" dirty="0" smtClean="0">
              <a:effectLst/>
              <a:latin typeface="+mn-lt"/>
              <a:ea typeface="MS Mincho"/>
              <a:cs typeface="Times New Roman"/>
            </a:endParaRPr>
          </a:p>
          <a:p>
            <a:pPr algn="just">
              <a:lnSpc>
                <a:spcPct val="115000"/>
              </a:lnSpc>
              <a:spcAft>
                <a:spcPts val="1000"/>
              </a:spcAft>
            </a:pPr>
            <a:r>
              <a:rPr lang="en-US" sz="1000" dirty="0" smtClean="0">
                <a:effectLst/>
                <a:latin typeface="Helvetica"/>
                <a:ea typeface="MS Mincho"/>
                <a:cs typeface="Helvetica"/>
              </a:rPr>
              <a:t> </a:t>
            </a:r>
            <a:endParaRPr lang="en-AU" sz="1000" dirty="0" smtClean="0">
              <a:effectLst/>
              <a:latin typeface="+mn-lt"/>
              <a:ea typeface="MS Mincho"/>
              <a:cs typeface="Times New Roman"/>
            </a:endParaRPr>
          </a:p>
          <a:p>
            <a:pPr marL="1371600" indent="-1371600" algn="just">
              <a:lnSpc>
                <a:spcPct val="115000"/>
              </a:lnSpc>
              <a:spcAft>
                <a:spcPts val="1000"/>
              </a:spcAft>
            </a:pPr>
            <a:r>
              <a:rPr lang="en-US" sz="1000" dirty="0" smtClean="0">
                <a:effectLst/>
                <a:latin typeface="Helvetica"/>
                <a:ea typeface="MS Mincho"/>
                <a:cs typeface="Helvetica"/>
              </a:rPr>
              <a:t>Question 2:	Explain the importance of such preparation and list the personnel to collaborate with. </a:t>
            </a:r>
            <a:endParaRPr lang="en-AU" sz="1000" dirty="0" smtClean="0">
              <a:effectLst/>
              <a:latin typeface="+mn-lt"/>
              <a:ea typeface="MS Mincho"/>
              <a:cs typeface="Times New Roman"/>
            </a:endParaRPr>
          </a:p>
          <a:p>
            <a:pPr algn="just">
              <a:lnSpc>
                <a:spcPct val="115000"/>
              </a:lnSpc>
              <a:spcAft>
                <a:spcPts val="1000"/>
              </a:spcAft>
            </a:pPr>
            <a:r>
              <a:rPr lang="en-US" sz="1000" dirty="0" smtClean="0">
                <a:effectLst/>
                <a:latin typeface="Helvetica"/>
                <a:ea typeface="MS Mincho"/>
                <a:cs typeface="Helvetica"/>
              </a:rPr>
              <a:t> </a:t>
            </a:r>
            <a:endParaRPr lang="en-AU" sz="1000" dirty="0" smtClean="0">
              <a:effectLst/>
              <a:latin typeface="+mn-lt"/>
              <a:ea typeface="MS Mincho"/>
              <a:cs typeface="Times New Roman"/>
            </a:endParaRPr>
          </a:p>
          <a:p>
            <a:pPr marL="1371600" indent="-1371600" algn="just">
              <a:lnSpc>
                <a:spcPct val="115000"/>
              </a:lnSpc>
              <a:spcAft>
                <a:spcPts val="1000"/>
              </a:spcAft>
            </a:pPr>
            <a:r>
              <a:rPr lang="en-US" sz="1000" dirty="0" smtClean="0">
                <a:effectLst/>
                <a:latin typeface="Helvetica"/>
                <a:ea typeface="MS Mincho"/>
                <a:cs typeface="Helvetica"/>
              </a:rPr>
              <a:t>Question 3:	List three possible issues faced while preparing for departure of visitors. </a:t>
            </a:r>
            <a:endParaRPr lang="en-AU" sz="1000" dirty="0" smtClean="0">
              <a:effectLst/>
              <a:latin typeface="+mn-lt"/>
              <a:ea typeface="MS Mincho"/>
              <a:cs typeface="Times New Roman"/>
            </a:endParaRPr>
          </a:p>
          <a:p>
            <a:pPr>
              <a:spcAft>
                <a:spcPts val="0"/>
              </a:spcAft>
            </a:pPr>
            <a:endParaRPr lang="en-GB" sz="1000" i="1" dirty="0" smtClean="0">
              <a:effectLst/>
              <a:latin typeface="Helvetica"/>
              <a:ea typeface="MS Mincho"/>
              <a:cs typeface="Times New Roman"/>
            </a:endParaRPr>
          </a:p>
          <a:p>
            <a:pPr>
              <a:spcAft>
                <a:spcPts val="0"/>
              </a:spcAft>
            </a:pPr>
            <a:r>
              <a:rPr lang="en-GB" sz="1000" i="1" dirty="0" smtClean="0">
                <a:effectLst/>
                <a:latin typeface="Helvetica"/>
                <a:ea typeface="MS Mincho"/>
                <a:cs typeface="Times New Roman"/>
              </a:rPr>
              <a:t>Possible</a:t>
            </a:r>
            <a:r>
              <a:rPr lang="en-GB" sz="1000" i="1" baseline="0" dirty="0" smtClean="0">
                <a:effectLst/>
                <a:latin typeface="Helvetica"/>
                <a:ea typeface="MS Mincho"/>
                <a:cs typeface="Times New Roman"/>
              </a:rPr>
              <a:t> answer Q2;</a:t>
            </a:r>
          </a:p>
          <a:p>
            <a:pPr marL="171450" indent="-171450">
              <a:spcAft>
                <a:spcPts val="0"/>
              </a:spcAft>
              <a:buFont typeface="Arial" panose="020B0604020202020204" pitchFamily="34" charset="0"/>
              <a:buChar char="•"/>
            </a:pPr>
            <a:r>
              <a:rPr lang="en-GB" sz="1000" i="1" dirty="0" smtClean="0">
                <a:effectLst/>
                <a:latin typeface="Helvetica"/>
                <a:ea typeface="MS Mincho"/>
                <a:cs typeface="Times New Roman"/>
              </a:rPr>
              <a:t>Being prepared or preparation plan before executing, will benefit your professionalism and company brand. “Good Customer Service” principle is the first and last impression last.</a:t>
            </a:r>
          </a:p>
          <a:p>
            <a:pPr>
              <a:spcAft>
                <a:spcPts val="0"/>
              </a:spcAft>
            </a:pPr>
            <a:r>
              <a:rPr lang="en-GB" sz="1000" i="1" dirty="0" smtClean="0">
                <a:effectLst/>
                <a:latin typeface="Helvetica"/>
                <a:ea typeface="MS Mincho"/>
                <a:cs typeface="Times New Roman"/>
              </a:rPr>
              <a:t>Possible</a:t>
            </a:r>
            <a:r>
              <a:rPr lang="en-GB" sz="1000" i="1" baseline="0" dirty="0" smtClean="0">
                <a:effectLst/>
                <a:latin typeface="Helvetica"/>
                <a:ea typeface="MS Mincho"/>
                <a:cs typeface="Times New Roman"/>
              </a:rPr>
              <a:t> answer Q3;</a:t>
            </a:r>
          </a:p>
          <a:p>
            <a:pPr marL="171450" lvl="0" indent="-171450">
              <a:spcAft>
                <a:spcPts val="0"/>
              </a:spcAft>
              <a:buFont typeface="Arial" panose="020B0604020202020204" pitchFamily="34" charset="0"/>
              <a:buChar char="•"/>
            </a:pPr>
            <a:r>
              <a:rPr lang="en-GB" sz="1000" i="1" dirty="0" smtClean="0">
                <a:effectLst/>
                <a:latin typeface="Helvetica"/>
                <a:ea typeface="MS Mincho"/>
                <a:cs typeface="Times New Roman"/>
              </a:rPr>
              <a:t>Flight delay due to unforeseen circumstances and Visitors will be stranded in Airport</a:t>
            </a:r>
            <a:endParaRPr lang="en-AU" sz="1000" dirty="0" smtClean="0">
              <a:effectLst/>
              <a:latin typeface="+mn-lt"/>
              <a:ea typeface="MS Mincho"/>
              <a:cs typeface="Times New Roman"/>
            </a:endParaRPr>
          </a:p>
          <a:p>
            <a:pPr marL="171450" indent="-171450">
              <a:spcAft>
                <a:spcPts val="0"/>
              </a:spcAft>
              <a:buFont typeface="Arial" panose="020B0604020202020204" pitchFamily="34" charset="0"/>
              <a:buChar char="•"/>
            </a:pPr>
            <a:r>
              <a:rPr lang="en-GB" sz="1000" i="1" dirty="0" smtClean="0">
                <a:effectLst/>
                <a:latin typeface="Helvetica"/>
                <a:ea typeface="MS Mincho"/>
                <a:cs typeface="Times New Roman"/>
              </a:rPr>
              <a:t>No Transportation available due to festive seasons</a:t>
            </a:r>
          </a:p>
          <a:p>
            <a:pPr marL="171450" indent="-171450">
              <a:spcAft>
                <a:spcPts val="0"/>
              </a:spcAft>
              <a:buFont typeface="Arial" panose="020B0604020202020204" pitchFamily="34" charset="0"/>
              <a:buChar char="•"/>
            </a:pPr>
            <a:r>
              <a:rPr lang="en-GB" sz="1000" i="1" dirty="0" smtClean="0">
                <a:effectLst/>
                <a:latin typeface="Helvetica"/>
                <a:ea typeface="MS Mincho"/>
                <a:cs typeface="Times New Roman"/>
              </a:rPr>
              <a:t>High volume turnover at the Hotel where they could not accommodate late check-out.</a:t>
            </a:r>
            <a:endParaRPr lang="en-AU" sz="1000" dirty="0" smtClean="0">
              <a:effectLst/>
              <a:latin typeface="+mn-lt"/>
              <a:ea typeface="MS Mincho"/>
              <a:cs typeface="Times New Roman"/>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1137763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endParaRPr lang="en-AU" noProof="0" dirty="0" smtClean="0"/>
          </a:p>
          <a:p>
            <a:pPr>
              <a:buFont typeface="Arial" pitchFamily="34" charset="0"/>
              <a:buNone/>
            </a:pPr>
            <a:r>
              <a:rPr lang="en-AU" noProof="0" dirty="0" smtClean="0"/>
              <a:t>Activity : Learners are to arrange a checklist of details simulating organising passenger departure.</a:t>
            </a:r>
          </a:p>
          <a:p>
            <a:pPr>
              <a:buFont typeface="Arial" pitchFamily="34" charset="0"/>
              <a:buNone/>
            </a:pPr>
            <a:r>
              <a:rPr lang="en-AU" noProof="0" dirty="0" smtClean="0"/>
              <a:t>Trainer to indicate the following details specific to the country location you are in</a:t>
            </a:r>
          </a:p>
          <a:p>
            <a:pPr marL="171450" indent="-171450">
              <a:buFont typeface="Arial" pitchFamily="34" charset="0"/>
              <a:buChar char="•"/>
            </a:pPr>
            <a:r>
              <a:rPr lang="en-AU" noProof="0" dirty="0" smtClean="0"/>
              <a:t>A</a:t>
            </a:r>
            <a:r>
              <a:rPr lang="en-AU" baseline="0" noProof="0" dirty="0" smtClean="0"/>
              <a:t> flight and destination. Day and date</a:t>
            </a:r>
          </a:p>
          <a:p>
            <a:pPr marL="171450" indent="-171450">
              <a:buFont typeface="Arial" pitchFamily="34" charset="0"/>
              <a:buChar char="•"/>
            </a:pPr>
            <a:r>
              <a:rPr lang="en-AU" baseline="0" noProof="0" dirty="0" smtClean="0"/>
              <a:t>Number of passengers (pax)</a:t>
            </a:r>
          </a:p>
          <a:p>
            <a:pPr marL="171450" indent="-171450">
              <a:buFont typeface="Arial" pitchFamily="34" charset="0"/>
              <a:buChar char="•"/>
            </a:pPr>
            <a:r>
              <a:rPr lang="en-AU" baseline="0" noProof="0" dirty="0" smtClean="0"/>
              <a:t>A hotel</a:t>
            </a:r>
          </a:p>
          <a:p>
            <a:pPr marL="171450" indent="-171450">
              <a:buFont typeface="Arial" pitchFamily="34" charset="0"/>
              <a:buChar char="•"/>
            </a:pPr>
            <a:r>
              <a:rPr lang="en-AU" baseline="0" noProof="0" dirty="0" smtClean="0"/>
              <a:t>Briefing notes for passengers on transfer details (utilise trainee manual notes)</a:t>
            </a:r>
          </a:p>
          <a:p>
            <a:pPr marL="171450" indent="-171450">
              <a:buFont typeface="Arial" pitchFamily="34" charset="0"/>
              <a:buChar char="•"/>
            </a:pPr>
            <a:r>
              <a:rPr lang="en-AU" baseline="0" noProof="0" dirty="0" smtClean="0"/>
              <a:t>Trainees are to present to the class/remainder of their work group</a:t>
            </a:r>
          </a:p>
          <a:p>
            <a:pPr marL="0" indent="0">
              <a:buFontTx/>
              <a:buNone/>
            </a:pPr>
            <a:r>
              <a:rPr lang="en-AU" i="1" baseline="0" noProof="0" dirty="0" smtClean="0"/>
              <a:t>Trainer may choose to make this simple or more detailed depending on group size and time available. This activity  can be combined with Trainee Manual role play for this Performance Criteria.</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870072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The organising</a:t>
            </a:r>
            <a:r>
              <a:rPr lang="en-AU" baseline="0" noProof="0" dirty="0" smtClean="0"/>
              <a:t> of the guest has been completed now the Departures List needs to be verified.</a:t>
            </a:r>
          </a:p>
          <a:p>
            <a:pPr marL="171450" indent="-171450">
              <a:lnSpc>
                <a:spcPct val="115000"/>
              </a:lnSpc>
              <a:spcAft>
                <a:spcPts val="1000"/>
              </a:spcAft>
              <a:buFont typeface="Arial" panose="020B0604020202020204" pitchFamily="34" charset="0"/>
              <a:buChar char="•"/>
            </a:pPr>
            <a:r>
              <a:rPr lang="en-AU" sz="1000" b="0" baseline="0" dirty="0" smtClean="0">
                <a:effectLst/>
                <a:latin typeface="+mn-lt"/>
                <a:ea typeface="Times New Roman"/>
                <a:cs typeface="Times New Roman"/>
              </a:rPr>
              <a:t>Departure list </a:t>
            </a:r>
          </a:p>
          <a:p>
            <a:pPr marL="171450" indent="-171450">
              <a:lnSpc>
                <a:spcPct val="115000"/>
              </a:lnSpc>
              <a:spcAft>
                <a:spcPts val="1000"/>
              </a:spcAft>
              <a:buFont typeface="Arial" panose="020B0604020202020204" pitchFamily="34" charset="0"/>
              <a:buChar char="•"/>
            </a:pPr>
            <a:r>
              <a:rPr lang="en-AU" sz="1000" b="0" baseline="0" dirty="0" smtClean="0">
                <a:effectLst/>
                <a:latin typeface="+mn-lt"/>
                <a:ea typeface="Times New Roman"/>
                <a:cs typeface="Times New Roman"/>
              </a:rPr>
              <a:t>Identity, documents and luggage</a:t>
            </a:r>
          </a:p>
          <a:p>
            <a:pPr marL="171450" indent="-171450">
              <a:lnSpc>
                <a:spcPct val="115000"/>
              </a:lnSpc>
              <a:spcAft>
                <a:spcPts val="1000"/>
              </a:spcAft>
              <a:buFont typeface="Arial" panose="020B0604020202020204" pitchFamily="34" charset="0"/>
              <a:buChar char="•"/>
            </a:pPr>
            <a:r>
              <a:rPr lang="en-AU" sz="1000" b="0" baseline="0" dirty="0" smtClean="0">
                <a:effectLst/>
                <a:latin typeface="+mn-lt"/>
                <a:ea typeface="Times New Roman"/>
                <a:cs typeface="Times New Roman"/>
              </a:rPr>
              <a:t>Conduct a manual head count </a:t>
            </a:r>
          </a:p>
          <a:p>
            <a:pPr marL="171450" indent="-171450">
              <a:lnSpc>
                <a:spcPct val="115000"/>
              </a:lnSpc>
              <a:spcAft>
                <a:spcPts val="1000"/>
              </a:spcAft>
              <a:buFont typeface="Arial" panose="020B0604020202020204" pitchFamily="34" charset="0"/>
              <a:buChar char="•"/>
            </a:pPr>
            <a:r>
              <a:rPr lang="en-AU" sz="1000" b="0" baseline="0" dirty="0" smtClean="0">
                <a:effectLst/>
                <a:latin typeface="+mn-lt"/>
                <a:ea typeface="Times New Roman"/>
                <a:cs typeface="Helvetica"/>
              </a:rPr>
              <a:t>Itinerary update</a:t>
            </a:r>
            <a:endParaRPr lang="en-AU" baseline="0" noProof="0" dirty="0" smtClean="0"/>
          </a:p>
          <a:p>
            <a:pPr>
              <a:buFont typeface="Arial" pitchFamily="34" charset="0"/>
              <a:buNone/>
            </a:pPr>
            <a:endParaRPr lang="en-AU" baseline="0" noProof="0" dirty="0" smtClean="0"/>
          </a:p>
          <a:p>
            <a:pPr>
              <a:buFont typeface="Arial" pitchFamily="34" charset="0"/>
              <a:buNone/>
            </a:pPr>
            <a:r>
              <a:rPr lang="en-AU" sz="1200" b="1" dirty="0" smtClean="0">
                <a:effectLst/>
                <a:latin typeface="+mn-lt"/>
                <a:ea typeface="Times New Roman"/>
                <a:cs typeface="Times New Roman"/>
              </a:rPr>
              <a:t>Activity - GROUP DISCUSSION (from Trainee Manual)</a:t>
            </a:r>
            <a:endParaRPr lang="en-AU" sz="1200" b="1" dirty="0" smtClean="0">
              <a:effectLst/>
              <a:latin typeface="Helvetica"/>
              <a:ea typeface="Calibri"/>
              <a:cs typeface="Calibri"/>
            </a:endParaRPr>
          </a:p>
          <a:p>
            <a:pPr marL="990600" indent="-990600">
              <a:spcBef>
                <a:spcPts val="400"/>
              </a:spcBef>
              <a:spcAft>
                <a:spcPts val="800"/>
              </a:spcAft>
            </a:pPr>
            <a:r>
              <a:rPr lang="en-AU" sz="1200" b="1" dirty="0" smtClean="0">
                <a:effectLst/>
                <a:latin typeface="Helvetica"/>
                <a:ea typeface="Calibri"/>
                <a:cs typeface="Calibri"/>
              </a:rPr>
              <a:t>Instructions:</a:t>
            </a:r>
            <a:r>
              <a:rPr lang="en-AU" sz="1200" dirty="0" smtClean="0">
                <a:effectLst/>
                <a:latin typeface="Helvetica"/>
                <a:ea typeface="Calibri"/>
                <a:cs typeface="Calibri"/>
              </a:rPr>
              <a:t>	Ask learners to divide into 2-3 groups of 6-10. Work onto a flip chart or whiteboard so everyone is involved</a:t>
            </a:r>
          </a:p>
          <a:p>
            <a:pPr marL="990600" indent="-990600">
              <a:spcBef>
                <a:spcPts val="400"/>
              </a:spcBef>
              <a:spcAft>
                <a:spcPts val="800"/>
              </a:spcAft>
            </a:pPr>
            <a:r>
              <a:rPr lang="en-AU" sz="1200" b="1" dirty="0" smtClean="0">
                <a:effectLst/>
                <a:latin typeface="Helvetica"/>
                <a:ea typeface="Calibri"/>
                <a:cs typeface="Calibri"/>
              </a:rPr>
              <a:t>Question:</a:t>
            </a:r>
            <a:r>
              <a:rPr lang="en-AU" sz="1200" dirty="0" smtClean="0">
                <a:effectLst/>
                <a:latin typeface="Helvetica"/>
                <a:ea typeface="Calibri"/>
                <a:cs typeface="Calibri"/>
              </a:rPr>
              <a:t>	What questions, concerns or issues might be faced by the visitors and the tour operators when verifying departing passengers? Identify 4 and their solutions.</a:t>
            </a:r>
          </a:p>
          <a:p>
            <a:pPr marL="990600" indent="-990600">
              <a:spcBef>
                <a:spcPts val="400"/>
              </a:spcBef>
              <a:spcAft>
                <a:spcPts val="800"/>
              </a:spcAft>
            </a:pPr>
            <a:r>
              <a:rPr lang="en-AU" sz="1200" b="1" dirty="0" smtClean="0">
                <a:effectLst/>
                <a:latin typeface="Helvetica"/>
                <a:ea typeface="Calibri"/>
                <a:cs typeface="Calibri"/>
              </a:rPr>
              <a:t>Purpose:</a:t>
            </a:r>
            <a:r>
              <a:rPr lang="en-AU" sz="1200" dirty="0" smtClean="0">
                <a:effectLst/>
                <a:latin typeface="Helvetica"/>
                <a:ea typeface="Calibri"/>
                <a:cs typeface="Calibri"/>
              </a:rPr>
              <a:t>	To encourage learners to exercise their on–the-spot problem solving skills.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6999657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The organising</a:t>
            </a:r>
            <a:r>
              <a:rPr lang="en-AU" baseline="0" noProof="0" dirty="0" smtClean="0"/>
              <a:t> of the guest has been completed now the Departures List needs to be verified.</a:t>
            </a:r>
          </a:p>
          <a:p>
            <a:pPr marL="171450" indent="-171450">
              <a:lnSpc>
                <a:spcPct val="115000"/>
              </a:lnSpc>
              <a:spcAft>
                <a:spcPts val="1000"/>
              </a:spcAft>
              <a:buFont typeface="Arial" panose="020B0604020202020204" pitchFamily="34" charset="0"/>
              <a:buChar char="•"/>
            </a:pPr>
            <a:r>
              <a:rPr lang="en-AU" sz="1000" b="0" baseline="0" dirty="0" smtClean="0">
                <a:effectLst/>
                <a:latin typeface="+mn-lt"/>
                <a:ea typeface="Times New Roman"/>
                <a:cs typeface="Times New Roman"/>
              </a:rPr>
              <a:t>Departure list </a:t>
            </a:r>
          </a:p>
          <a:p>
            <a:pPr marL="171450" indent="-171450">
              <a:lnSpc>
                <a:spcPct val="115000"/>
              </a:lnSpc>
              <a:spcAft>
                <a:spcPts val="1000"/>
              </a:spcAft>
              <a:buFont typeface="Arial" panose="020B0604020202020204" pitchFamily="34" charset="0"/>
              <a:buChar char="•"/>
            </a:pPr>
            <a:r>
              <a:rPr lang="en-AU" sz="1000" b="0" baseline="0" dirty="0" smtClean="0">
                <a:effectLst/>
                <a:latin typeface="+mn-lt"/>
                <a:ea typeface="Times New Roman"/>
                <a:cs typeface="Times New Roman"/>
              </a:rPr>
              <a:t>Identity, documents and luggage</a:t>
            </a:r>
          </a:p>
          <a:p>
            <a:pPr marL="171450" indent="-171450">
              <a:lnSpc>
                <a:spcPct val="115000"/>
              </a:lnSpc>
              <a:spcAft>
                <a:spcPts val="1000"/>
              </a:spcAft>
              <a:buFont typeface="Arial" panose="020B0604020202020204" pitchFamily="34" charset="0"/>
              <a:buChar char="•"/>
            </a:pPr>
            <a:r>
              <a:rPr lang="en-AU" sz="1000" b="0" baseline="0" dirty="0" smtClean="0">
                <a:effectLst/>
                <a:latin typeface="+mn-lt"/>
                <a:ea typeface="Times New Roman"/>
                <a:cs typeface="Times New Roman"/>
              </a:rPr>
              <a:t>Conduct a manual head count </a:t>
            </a:r>
          </a:p>
          <a:p>
            <a:pPr marL="171450" indent="-171450">
              <a:lnSpc>
                <a:spcPct val="115000"/>
              </a:lnSpc>
              <a:spcAft>
                <a:spcPts val="1000"/>
              </a:spcAft>
              <a:buFont typeface="Arial" panose="020B0604020202020204" pitchFamily="34" charset="0"/>
              <a:buChar char="•"/>
            </a:pPr>
            <a:r>
              <a:rPr lang="en-AU" sz="1000" b="0" baseline="0" dirty="0" smtClean="0">
                <a:effectLst/>
                <a:latin typeface="+mn-lt"/>
                <a:ea typeface="Times New Roman"/>
                <a:cs typeface="Helvetica"/>
              </a:rPr>
              <a:t>Itinerary update</a:t>
            </a:r>
            <a:endParaRPr lang="en-AU" baseline="0" noProof="0" dirty="0" smtClean="0"/>
          </a:p>
          <a:p>
            <a:pPr>
              <a:buFont typeface="Arial" pitchFamily="34" charset="0"/>
              <a:buNone/>
            </a:pPr>
            <a:endParaRPr lang="en-AU" baseline="0" noProof="0" dirty="0" smtClean="0"/>
          </a:p>
          <a:p>
            <a:pPr>
              <a:buFont typeface="Arial" pitchFamily="34" charset="0"/>
              <a:buNone/>
            </a:pPr>
            <a:r>
              <a:rPr lang="en-AU" sz="1200" b="1" dirty="0" smtClean="0">
                <a:effectLst/>
                <a:latin typeface="+mn-lt"/>
                <a:ea typeface="Times New Roman"/>
                <a:cs typeface="Times New Roman"/>
              </a:rPr>
              <a:t>Activity - GROUP DISCUSSION (from Trainee Manual)</a:t>
            </a:r>
            <a:endParaRPr lang="en-AU" sz="1200" b="1" dirty="0" smtClean="0">
              <a:effectLst/>
              <a:latin typeface="Helvetica"/>
              <a:ea typeface="Calibri"/>
              <a:cs typeface="Calibri"/>
            </a:endParaRPr>
          </a:p>
          <a:p>
            <a:pPr marL="990600" indent="-990600">
              <a:spcBef>
                <a:spcPts val="400"/>
              </a:spcBef>
              <a:spcAft>
                <a:spcPts val="800"/>
              </a:spcAft>
            </a:pPr>
            <a:r>
              <a:rPr lang="en-AU" sz="1200" b="1" dirty="0" smtClean="0">
                <a:effectLst/>
                <a:latin typeface="Helvetica"/>
                <a:ea typeface="Calibri"/>
                <a:cs typeface="Calibri"/>
              </a:rPr>
              <a:t>Instructions:</a:t>
            </a:r>
            <a:r>
              <a:rPr lang="en-AU" sz="1200" dirty="0" smtClean="0">
                <a:effectLst/>
                <a:latin typeface="Helvetica"/>
                <a:ea typeface="Calibri"/>
                <a:cs typeface="Calibri"/>
              </a:rPr>
              <a:t>	Ask learners to divide into 2-3 groups of 6-10. Work onto a flip chart or whiteboard so everyone is involved</a:t>
            </a:r>
          </a:p>
          <a:p>
            <a:pPr marL="990600" indent="-990600">
              <a:spcBef>
                <a:spcPts val="400"/>
              </a:spcBef>
              <a:spcAft>
                <a:spcPts val="800"/>
              </a:spcAft>
            </a:pPr>
            <a:r>
              <a:rPr lang="en-AU" sz="1200" b="1" dirty="0" smtClean="0">
                <a:effectLst/>
                <a:latin typeface="Helvetica"/>
                <a:ea typeface="Calibri"/>
                <a:cs typeface="Calibri"/>
              </a:rPr>
              <a:t>Question:</a:t>
            </a:r>
            <a:r>
              <a:rPr lang="en-AU" sz="1200" dirty="0" smtClean="0">
                <a:effectLst/>
                <a:latin typeface="Helvetica"/>
                <a:ea typeface="Calibri"/>
                <a:cs typeface="Calibri"/>
              </a:rPr>
              <a:t>	What questions, concerns or issues might be faced by the visitors and the tour operators when verifying departing passengers? Identify 4 and their solutions.</a:t>
            </a:r>
          </a:p>
          <a:p>
            <a:pPr marL="990600" indent="-990600">
              <a:spcBef>
                <a:spcPts val="400"/>
              </a:spcBef>
              <a:spcAft>
                <a:spcPts val="800"/>
              </a:spcAft>
            </a:pPr>
            <a:r>
              <a:rPr lang="en-AU" sz="1200" b="1" dirty="0" smtClean="0">
                <a:effectLst/>
                <a:latin typeface="Helvetica"/>
                <a:ea typeface="Calibri"/>
                <a:cs typeface="Calibri"/>
              </a:rPr>
              <a:t>Purpose:</a:t>
            </a:r>
            <a:r>
              <a:rPr lang="en-AU" sz="1200" dirty="0" smtClean="0">
                <a:effectLst/>
                <a:latin typeface="Helvetica"/>
                <a:ea typeface="Calibri"/>
                <a:cs typeface="Calibri"/>
              </a:rPr>
              <a:t>	To encourage learners to exercise their on–the-spot problem solving skills.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7009834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aseline="0" noProof="0" dirty="0" smtClean="0"/>
              <a:t>What details do you need to have considered for baggage transfer?</a:t>
            </a:r>
          </a:p>
          <a:p>
            <a:pPr>
              <a:buFont typeface="Arial" pitchFamily="34" charset="0"/>
              <a:buNone/>
            </a:pPr>
            <a:r>
              <a:rPr lang="en-AU" baseline="0" noProof="0" dirty="0" smtClean="0"/>
              <a:t>Ask trainees to close their manuals and ask a volunteer from each group to write one detail on the whiteboard that requires confirming with the baggage carrier. Go around the room adding one at a time. Watch the list grow on the board.</a:t>
            </a:r>
          </a:p>
          <a:p>
            <a:pPr>
              <a:buFont typeface="Arial" pitchFamily="34" charset="0"/>
              <a:buNone/>
            </a:pPr>
            <a:r>
              <a:rPr lang="en-AU" baseline="0" noProof="0" dirty="0" smtClean="0"/>
              <a:t>Discuss other points from power point as needed and time allows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5118075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aseline="0" noProof="0" dirty="0" smtClean="0"/>
              <a:t>What details do you need to have considered for baggage transfer?</a:t>
            </a:r>
          </a:p>
          <a:p>
            <a:pPr>
              <a:buFont typeface="Arial" pitchFamily="34" charset="0"/>
              <a:buNone/>
            </a:pPr>
            <a:r>
              <a:rPr lang="en-AU" baseline="0" noProof="0" dirty="0" smtClean="0"/>
              <a:t>Ask trainees to close their manuals and ask a volunteer from each group to write one detail on the whiteboard that requires confirming with the baggage carrier. Go around the room adding one at a time. Watch the list grow on the board.</a:t>
            </a:r>
          </a:p>
          <a:p>
            <a:pPr>
              <a:buFont typeface="Arial" pitchFamily="34" charset="0"/>
              <a:buNone/>
            </a:pPr>
            <a:r>
              <a:rPr lang="en-AU" baseline="0" noProof="0" dirty="0" smtClean="0"/>
              <a:t>Discuss other points from power point as needed and time allows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28948178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Allocate one of the following to each group and ask them to search what applies</a:t>
            </a:r>
            <a:r>
              <a:rPr lang="en-AU" baseline="0" noProof="0" dirty="0" smtClean="0"/>
              <a:t> to your country or location. Perhaps they can search using their phones or library computers. This could be compared against what applies in a neighbouring country.</a:t>
            </a:r>
            <a:endParaRPr lang="en-AU" noProof="0" dirty="0" smtClean="0"/>
          </a:p>
          <a:p>
            <a:pPr marL="171450" indent="-171450">
              <a:buFont typeface="Arial" pitchFamily="34" charset="0"/>
              <a:buChar char="•"/>
            </a:pPr>
            <a:r>
              <a:rPr lang="en-AU" noProof="0" dirty="0" smtClean="0"/>
              <a:t>Which document must be completed</a:t>
            </a:r>
          </a:p>
          <a:p>
            <a:pPr marL="171450" indent="-171450">
              <a:buFont typeface="Arial" pitchFamily="34" charset="0"/>
              <a:buChar char="•"/>
            </a:pPr>
            <a:r>
              <a:rPr lang="en-AU" noProof="0" dirty="0" smtClean="0"/>
              <a:t>How to claim taxes</a:t>
            </a:r>
          </a:p>
          <a:p>
            <a:pPr marL="171450" indent="-171450">
              <a:buFont typeface="Arial" pitchFamily="34" charset="0"/>
              <a:buChar char="•"/>
            </a:pPr>
            <a:r>
              <a:rPr lang="en-AU" noProof="0" dirty="0" smtClean="0"/>
              <a:t>Restricted items</a:t>
            </a:r>
          </a:p>
          <a:p>
            <a:pPr marL="171450" indent="-171450">
              <a:buFont typeface="Arial" pitchFamily="34" charset="0"/>
              <a:buChar char="•"/>
            </a:pPr>
            <a:endParaRPr lang="en-AU" noProof="0" dirty="0" smtClean="0"/>
          </a:p>
          <a:p>
            <a:pPr marL="0" indent="0">
              <a:buFont typeface="Arial" pitchFamily="34" charset="0"/>
              <a:buNone/>
            </a:pPr>
            <a:r>
              <a:rPr lang="en-AU" noProof="0" dirty="0" smtClean="0"/>
              <a:t>Discuss the findings so learners have knowledge of each.</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3550891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a:t>
            </a:r>
            <a:r>
              <a:rPr lang="en-AU" baseline="0" noProof="0" dirty="0" smtClean="0"/>
              <a:t> the first two points and note down what we can learn</a:t>
            </a:r>
          </a:p>
          <a:p>
            <a:pPr>
              <a:buFont typeface="Arial" pitchFamily="34" charset="0"/>
              <a:buNone/>
            </a:pPr>
            <a:r>
              <a:rPr lang="en-AU" baseline="0" noProof="0" dirty="0" smtClean="0"/>
              <a:t>Check understanding of Formal and Informal feedback and the effectiveness of each</a:t>
            </a:r>
          </a:p>
          <a:p>
            <a:pPr>
              <a:buFont typeface="Arial" pitchFamily="34" charset="0"/>
              <a:buNone/>
            </a:pPr>
            <a:r>
              <a:rPr lang="en-AU" baseline="0" noProof="0" dirty="0" smtClean="0"/>
              <a:t>Discuss positives and negatives of types of feedback.</a:t>
            </a:r>
          </a:p>
          <a:p>
            <a:pPr>
              <a:buFont typeface="Arial" pitchFamily="34" charset="0"/>
              <a:buNone/>
            </a:pPr>
            <a:endParaRPr lang="en-AU" baseline="0" noProof="0" dirty="0" smtClean="0"/>
          </a:p>
          <a:p>
            <a:pPr>
              <a:buFont typeface="Arial" pitchFamily="34" charset="0"/>
              <a:buNone/>
            </a:pPr>
            <a:r>
              <a:rPr lang="en-AU" baseline="0" noProof="0" dirty="0" smtClean="0"/>
              <a:t>Practically everyone has been asked to provide feedback on a product or service at some stage. Learners to share any personal experiences that may be relevant.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9791063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sz="1000" baseline="0" noProof="0" dirty="0" smtClean="0"/>
              <a:t>Discuss each point relating to your current country or location.</a:t>
            </a:r>
          </a:p>
          <a:p>
            <a:pPr>
              <a:buFont typeface="Arial" pitchFamily="34" charset="0"/>
              <a:buNone/>
            </a:pPr>
            <a:r>
              <a:rPr lang="en-AU" sz="1000" baseline="0" noProof="0" dirty="0" smtClean="0"/>
              <a:t>Inexperienced travellers may need deeper clarification of this process.</a:t>
            </a:r>
          </a:p>
          <a:p>
            <a:pPr>
              <a:buFont typeface="Arial" pitchFamily="34" charset="0"/>
              <a:buNone/>
            </a:pPr>
            <a:r>
              <a:rPr lang="en-AU" sz="1000" baseline="0" noProof="0" dirty="0" smtClean="0"/>
              <a:t>Complete the activity below</a:t>
            </a:r>
            <a:endParaRPr lang="en-AU" sz="1000" baseline="0" noProof="0" dirty="0" smtClean="0">
              <a:effectLst/>
              <a:latin typeface="+mn-lt"/>
              <a:cs typeface="Times New Roman"/>
            </a:endParaRPr>
          </a:p>
          <a:p>
            <a:pPr>
              <a:buFont typeface="Arial" pitchFamily="34" charset="0"/>
              <a:buNone/>
            </a:pPr>
            <a:endParaRPr lang="en-AU" sz="1000" b="1" baseline="0" noProof="0" dirty="0" smtClean="0">
              <a:effectLst/>
              <a:latin typeface="+mn-lt"/>
              <a:ea typeface="Times New Roman"/>
              <a:cs typeface="Times New Roman"/>
            </a:endParaRPr>
          </a:p>
          <a:p>
            <a:pPr>
              <a:buFont typeface="Arial" pitchFamily="34" charset="0"/>
              <a:buNone/>
            </a:pPr>
            <a:r>
              <a:rPr lang="en-AU" sz="1000" b="1" dirty="0" smtClean="0">
                <a:effectLst/>
                <a:latin typeface="+mn-lt"/>
                <a:ea typeface="Times New Roman"/>
                <a:cs typeface="Times New Roman"/>
              </a:rPr>
              <a:t>Activity - GROUP DISCUSSION (from Trainee Manual)</a:t>
            </a:r>
            <a:endParaRPr lang="en-AU" sz="1000" b="1" dirty="0" smtClean="0">
              <a:effectLst/>
              <a:latin typeface="Helvetica"/>
              <a:ea typeface="Calibri"/>
              <a:cs typeface="Calibri"/>
            </a:endParaRPr>
          </a:p>
          <a:p>
            <a:pPr marL="990600" indent="-990600">
              <a:spcBef>
                <a:spcPts val="400"/>
              </a:spcBef>
              <a:spcAft>
                <a:spcPts val="800"/>
              </a:spcAft>
            </a:pPr>
            <a:r>
              <a:rPr lang="en-AU" sz="1000" b="1" baseline="0" dirty="0" smtClean="0">
                <a:effectLst/>
                <a:latin typeface="Helvetica"/>
                <a:ea typeface="Calibri"/>
                <a:cs typeface="Calibri"/>
              </a:rPr>
              <a:t>Instructions:	</a:t>
            </a:r>
            <a:r>
              <a:rPr lang="en-AU" sz="1000" baseline="0" dirty="0" smtClean="0">
                <a:effectLst/>
                <a:latin typeface="Helvetica"/>
                <a:ea typeface="Calibri"/>
                <a:cs typeface="Calibri"/>
              </a:rPr>
              <a:t>Ask learners to divide into 2-3 groups of 6-10. Work onto a flip chart or whiteboard so everyone is involved and develop a checklist of steps and processes required for checking in visitors at the transport terminal (note; this could be air, sea, rail, coach). Scenario begins at the point of the transfer transport arriving at the departing terminal.</a:t>
            </a:r>
          </a:p>
          <a:p>
            <a:pPr marL="990600" indent="-990600">
              <a:spcBef>
                <a:spcPts val="400"/>
              </a:spcBef>
              <a:spcAft>
                <a:spcPts val="800"/>
              </a:spcAft>
            </a:pPr>
            <a:r>
              <a:rPr lang="en-AU" sz="1000" baseline="0" dirty="0" smtClean="0">
                <a:effectLst/>
                <a:latin typeface="Helvetica"/>
                <a:ea typeface="Calibri"/>
                <a:cs typeface="Calibri"/>
              </a:rPr>
              <a:t>	Could allocate a different scenario for each work group. Private family tour 2 adults 2 kids travelling to New Zealand, Guided tour group of 20 European business visitors returning to their home countries of France, Germany, Italy. A tour group of 36 elderly Americans returning home to Florida, Family group  consisting of 3 families. 6 adults 9 kids ages 3-15 travelling to Mexico.</a:t>
            </a:r>
          </a:p>
          <a:p>
            <a:pPr marL="990600" indent="-990600">
              <a:spcBef>
                <a:spcPts val="400"/>
              </a:spcBef>
              <a:spcAft>
                <a:spcPts val="800"/>
              </a:spcAft>
            </a:pPr>
            <a:r>
              <a:rPr lang="en-AU" sz="1000" b="1" baseline="0" dirty="0" smtClean="0">
                <a:effectLst/>
                <a:latin typeface="Helvetica"/>
                <a:ea typeface="Calibri"/>
                <a:cs typeface="Calibri"/>
              </a:rPr>
              <a:t>Purpose:</a:t>
            </a:r>
            <a:r>
              <a:rPr lang="en-AU" sz="1000" baseline="0" dirty="0" smtClean="0">
                <a:effectLst/>
                <a:latin typeface="Helvetica"/>
                <a:ea typeface="Calibri"/>
                <a:cs typeface="Calibri"/>
              </a:rPr>
              <a:t>	To establish learners’ current knowledge of practices at their workplace and tie in with the PC 2.7</a:t>
            </a:r>
          </a:p>
          <a:p>
            <a:pPr marL="990600" indent="-990600">
              <a:spcBef>
                <a:spcPts val="400"/>
              </a:spcBef>
              <a:spcAft>
                <a:spcPts val="800"/>
              </a:spcAft>
            </a:pPr>
            <a:r>
              <a:rPr lang="en-AU" sz="1000" b="1" baseline="0" dirty="0" smtClean="0">
                <a:effectLst/>
                <a:latin typeface="Helvetica"/>
                <a:ea typeface="Calibri"/>
                <a:cs typeface="Calibri"/>
              </a:rPr>
              <a:t>Duration:</a:t>
            </a:r>
            <a:r>
              <a:rPr lang="en-AU" sz="1000" baseline="0" dirty="0" smtClean="0">
                <a:effectLst/>
                <a:latin typeface="Helvetica"/>
                <a:ea typeface="Calibri"/>
                <a:cs typeface="Calibri"/>
              </a:rPr>
              <a:t>	15 mins to discuss and present for each group.</a:t>
            </a:r>
          </a:p>
          <a:p>
            <a:pPr>
              <a:spcBef>
                <a:spcPts val="400"/>
              </a:spcBef>
              <a:spcAft>
                <a:spcPts val="800"/>
              </a:spcAft>
            </a:pPr>
            <a:r>
              <a:rPr lang="en-AU" sz="1000" baseline="0" dirty="0" smtClean="0">
                <a:effectLst/>
                <a:latin typeface="Helvetica"/>
                <a:ea typeface="Calibri"/>
                <a:cs typeface="Calibri"/>
              </a:rPr>
              <a:t>Now that all of the visitors are being transported to the transport terminal, you are now to check them in at the respective counter.  Before proceeding, do one last headcount to ensure all are there with their personal belongings.</a:t>
            </a:r>
          </a:p>
          <a:p>
            <a:pPr>
              <a:spcBef>
                <a:spcPts val="400"/>
              </a:spcBef>
              <a:spcAft>
                <a:spcPts val="800"/>
              </a:spcAft>
            </a:pPr>
            <a:endParaRPr lang="en-AU" sz="1000" baseline="0" dirty="0" smtClean="0">
              <a:effectLst/>
              <a:latin typeface="Helvetica"/>
              <a:ea typeface="Calibri"/>
              <a:cs typeface="Calibri"/>
            </a:endParaRPr>
          </a:p>
          <a:p>
            <a:pPr marL="0" marR="0" indent="0" algn="l" defTabSz="914400" rtl="0" eaLnBrk="1" fontAlgn="auto" latinLnBrk="0" hangingPunct="1">
              <a:lnSpc>
                <a:spcPct val="100000"/>
              </a:lnSpc>
              <a:spcBef>
                <a:spcPts val="400"/>
              </a:spcBef>
              <a:spcAft>
                <a:spcPts val="800"/>
              </a:spcAft>
              <a:buClrTx/>
              <a:buSzTx/>
              <a:buFontTx/>
              <a:buNone/>
              <a:tabLst/>
              <a:defRPr/>
            </a:pPr>
            <a:r>
              <a:rPr lang="en-AU" sz="1000" baseline="0" noProof="0" dirty="0" smtClean="0"/>
              <a:t>Complete </a:t>
            </a:r>
            <a:r>
              <a:rPr lang="en-AU" sz="1000" b="1" baseline="0" noProof="0" dirty="0" smtClean="0"/>
              <a:t>Work Projects </a:t>
            </a:r>
            <a:r>
              <a:rPr lang="en-AU" sz="1000" baseline="0" noProof="0" dirty="0" smtClean="0"/>
              <a:t>for this Element from Trainee Manual as time allows either individually or in work groups. If no time then direct learners to complete as homework.</a:t>
            </a:r>
            <a:endParaRPr lang="en-AU" sz="1000" noProof="0" dirty="0" smtClean="0"/>
          </a:p>
          <a:p>
            <a:pPr>
              <a:spcBef>
                <a:spcPts val="400"/>
              </a:spcBef>
              <a:spcAft>
                <a:spcPts val="800"/>
              </a:spcAft>
            </a:pPr>
            <a:endParaRPr lang="en-AU" sz="1000" baseline="0" dirty="0" smtClean="0">
              <a:effectLst/>
              <a:latin typeface="Helvetica"/>
              <a:ea typeface="Calibri"/>
              <a:cs typeface="Calibri"/>
            </a:endParaRPr>
          </a:p>
          <a:p>
            <a:pPr>
              <a:spcBef>
                <a:spcPts val="400"/>
              </a:spcBef>
              <a:spcAft>
                <a:spcPts val="800"/>
              </a:spcAft>
            </a:pPr>
            <a:endParaRPr lang="en-AU" sz="1000" baseline="0" dirty="0" smtClean="0">
              <a:effectLst/>
              <a:latin typeface="Helvetica"/>
              <a:ea typeface="Calibri"/>
              <a:cs typeface="Calibri"/>
            </a:endParaRPr>
          </a:p>
          <a:p>
            <a:pPr>
              <a:spcBef>
                <a:spcPts val="400"/>
              </a:spcBef>
              <a:spcAft>
                <a:spcPts val="800"/>
              </a:spcAft>
            </a:pPr>
            <a:endParaRPr lang="en-AU" sz="1000" baseline="0" dirty="0" smtClean="0">
              <a:effectLst/>
              <a:latin typeface="Helvetica"/>
              <a:ea typeface="Calibri"/>
              <a:cs typeface="Calibri"/>
            </a:endParaRPr>
          </a:p>
          <a:p>
            <a:pPr>
              <a:buFont typeface="Arial" pitchFamily="34" charset="0"/>
              <a:buNone/>
            </a:pPr>
            <a:endParaRPr lang="en-AU" sz="1000" baseline="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5239169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sz="1000" baseline="0" noProof="0" dirty="0" smtClean="0"/>
              <a:t>Discuss each point relating to your current country or location.</a:t>
            </a:r>
          </a:p>
          <a:p>
            <a:pPr>
              <a:buFont typeface="Arial" pitchFamily="34" charset="0"/>
              <a:buNone/>
            </a:pPr>
            <a:r>
              <a:rPr lang="en-AU" sz="1000" baseline="0" noProof="0" dirty="0" smtClean="0"/>
              <a:t>Inexperienced travellers may need deeper clarification of this process.</a:t>
            </a:r>
          </a:p>
          <a:p>
            <a:pPr>
              <a:buFont typeface="Arial" pitchFamily="34" charset="0"/>
              <a:buNone/>
            </a:pPr>
            <a:r>
              <a:rPr lang="en-AU" sz="1000" baseline="0" noProof="0" dirty="0" smtClean="0"/>
              <a:t>Complete the activity below</a:t>
            </a:r>
          </a:p>
          <a:p>
            <a:pPr>
              <a:buFont typeface="Arial" pitchFamily="34" charset="0"/>
              <a:buNone/>
            </a:pPr>
            <a:endParaRPr lang="en-AU" sz="1000" baseline="0" noProof="0" dirty="0" smtClean="0"/>
          </a:p>
          <a:p>
            <a:pPr>
              <a:lnSpc>
                <a:spcPct val="115000"/>
              </a:lnSpc>
              <a:spcAft>
                <a:spcPts val="1000"/>
              </a:spcAft>
            </a:pPr>
            <a:r>
              <a:rPr lang="en-AU" sz="1000" baseline="0" dirty="0" smtClean="0">
                <a:effectLst/>
                <a:latin typeface="+mn-lt"/>
                <a:ea typeface="Times New Roman"/>
                <a:cs typeface="Times New Roman"/>
              </a:rPr>
              <a:t> </a:t>
            </a:r>
          </a:p>
          <a:p>
            <a:pPr marL="990600" indent="-990600">
              <a:spcBef>
                <a:spcPts val="400"/>
              </a:spcBef>
              <a:spcAft>
                <a:spcPts val="800"/>
              </a:spcAft>
            </a:pPr>
            <a:r>
              <a:rPr lang="en-AU" sz="1000" b="1" baseline="0" dirty="0" smtClean="0">
                <a:effectLst/>
                <a:latin typeface="Helvetica"/>
                <a:ea typeface="Calibri"/>
                <a:cs typeface="Calibri"/>
              </a:rPr>
              <a:t>Instructions:	</a:t>
            </a:r>
            <a:r>
              <a:rPr lang="en-AU" sz="1000" baseline="0" dirty="0" smtClean="0">
                <a:effectLst/>
                <a:latin typeface="Helvetica"/>
                <a:ea typeface="Calibri"/>
                <a:cs typeface="Calibri"/>
              </a:rPr>
              <a:t>Ask learners to divide into 2-3 groups of 6-10. Work onto a flip chart or whiteboard so everyone is involved and develop a checklist of steps and processes required for checking in visitors at the transport terminal (note; this could be air, sea, rail, coach). Scenario begins at the point of the transfer transport arriving at the departing terminal.</a:t>
            </a:r>
          </a:p>
          <a:p>
            <a:pPr marL="990600" indent="-990600">
              <a:spcBef>
                <a:spcPts val="400"/>
              </a:spcBef>
              <a:spcAft>
                <a:spcPts val="800"/>
              </a:spcAft>
            </a:pPr>
            <a:r>
              <a:rPr lang="en-AU" sz="1000" baseline="0" dirty="0" smtClean="0">
                <a:effectLst/>
                <a:latin typeface="Helvetica"/>
                <a:ea typeface="Calibri"/>
                <a:cs typeface="Calibri"/>
              </a:rPr>
              <a:t>	Could allocate a different scenario for each work group. Private family tour 2 adults 2 kids travelling to New Zealand, Guided tour group of 20 European business visitors returning to their home countries of France, Germany, Italy. A tour group of 36 elderly Americans returning home to Florida, Family group  consisting of 3 families. 6 adults 9 kids ages 3-15 travelling to Mexico.</a:t>
            </a:r>
          </a:p>
          <a:p>
            <a:pPr marL="990600" indent="-990600">
              <a:spcBef>
                <a:spcPts val="400"/>
              </a:spcBef>
              <a:spcAft>
                <a:spcPts val="800"/>
              </a:spcAft>
            </a:pPr>
            <a:r>
              <a:rPr lang="en-AU" sz="1000" b="1" baseline="0" dirty="0" smtClean="0">
                <a:effectLst/>
                <a:latin typeface="Helvetica"/>
                <a:ea typeface="Calibri"/>
                <a:cs typeface="Calibri"/>
              </a:rPr>
              <a:t>Purpose:</a:t>
            </a:r>
            <a:r>
              <a:rPr lang="en-AU" sz="1000" baseline="0" dirty="0" smtClean="0">
                <a:effectLst/>
                <a:latin typeface="Helvetica"/>
                <a:ea typeface="Calibri"/>
                <a:cs typeface="Calibri"/>
              </a:rPr>
              <a:t>	To establish learners’ current knowledge of practices at their workplace and tie in with the PC 2.7</a:t>
            </a:r>
          </a:p>
          <a:p>
            <a:pPr marL="990600" indent="-990600">
              <a:spcBef>
                <a:spcPts val="400"/>
              </a:spcBef>
              <a:spcAft>
                <a:spcPts val="800"/>
              </a:spcAft>
            </a:pPr>
            <a:r>
              <a:rPr lang="en-AU" sz="1000" b="1" baseline="0" dirty="0" smtClean="0">
                <a:effectLst/>
                <a:latin typeface="Helvetica"/>
                <a:ea typeface="Calibri"/>
                <a:cs typeface="Calibri"/>
              </a:rPr>
              <a:t>Duration:</a:t>
            </a:r>
            <a:r>
              <a:rPr lang="en-AU" sz="1000" baseline="0" dirty="0" smtClean="0">
                <a:effectLst/>
                <a:latin typeface="Helvetica"/>
                <a:ea typeface="Calibri"/>
                <a:cs typeface="Calibri"/>
              </a:rPr>
              <a:t>	15 mins to discuss and present for each group.</a:t>
            </a:r>
          </a:p>
          <a:p>
            <a:pPr>
              <a:spcBef>
                <a:spcPts val="400"/>
              </a:spcBef>
              <a:spcAft>
                <a:spcPts val="800"/>
              </a:spcAft>
            </a:pPr>
            <a:r>
              <a:rPr lang="en-AU" sz="1000" baseline="0" dirty="0" smtClean="0">
                <a:effectLst/>
                <a:latin typeface="Helvetica"/>
                <a:ea typeface="Calibri"/>
                <a:cs typeface="Calibri"/>
              </a:rPr>
              <a:t>Now that all of the visitors are being transported to the transport terminal, you are now to check them in at the respective counter.  Before proceeding, do one last headcount to ensure all are there with their personal belongings.</a:t>
            </a:r>
          </a:p>
          <a:p>
            <a:pPr marL="0" marR="0" indent="0" algn="l" defTabSz="914400" rtl="0" eaLnBrk="1" fontAlgn="auto" latinLnBrk="0" hangingPunct="1">
              <a:lnSpc>
                <a:spcPct val="100000"/>
              </a:lnSpc>
              <a:spcBef>
                <a:spcPts val="400"/>
              </a:spcBef>
              <a:spcAft>
                <a:spcPts val="800"/>
              </a:spcAft>
              <a:buClrTx/>
              <a:buSzTx/>
              <a:buFontTx/>
              <a:buNone/>
              <a:tabLst/>
              <a:defRPr/>
            </a:pPr>
            <a:endParaRPr lang="en-AU" sz="1000" baseline="0" noProof="0" dirty="0" smtClean="0"/>
          </a:p>
          <a:p>
            <a:pPr marL="0" marR="0" indent="0" algn="l" defTabSz="914400" rtl="0" eaLnBrk="1" fontAlgn="auto" latinLnBrk="0" hangingPunct="1">
              <a:lnSpc>
                <a:spcPct val="100000"/>
              </a:lnSpc>
              <a:spcBef>
                <a:spcPts val="400"/>
              </a:spcBef>
              <a:spcAft>
                <a:spcPts val="800"/>
              </a:spcAft>
              <a:buClrTx/>
              <a:buSzTx/>
              <a:buFontTx/>
              <a:buNone/>
              <a:tabLst/>
              <a:defRPr/>
            </a:pPr>
            <a:r>
              <a:rPr lang="en-AU" sz="1000" baseline="0" noProof="0" dirty="0" smtClean="0"/>
              <a:t>Complete </a:t>
            </a:r>
            <a:r>
              <a:rPr lang="en-AU" sz="1000" b="1" baseline="0" noProof="0" dirty="0" smtClean="0"/>
              <a:t>Work Projects </a:t>
            </a:r>
            <a:r>
              <a:rPr lang="en-AU" sz="1000" baseline="0" noProof="0" dirty="0" smtClean="0"/>
              <a:t>for this Element from Trainee Manual as time allows either individually or in work groups. If no time then direct learners to complete as homework.</a:t>
            </a:r>
            <a:endParaRPr lang="en-AU" sz="1000" noProof="0" dirty="0" smtClean="0"/>
          </a:p>
          <a:p>
            <a:pPr>
              <a:spcBef>
                <a:spcPts val="400"/>
              </a:spcBef>
              <a:spcAft>
                <a:spcPts val="800"/>
              </a:spcAft>
            </a:pPr>
            <a:endParaRPr lang="en-AU" sz="1000" baseline="0" dirty="0" smtClean="0">
              <a:effectLst/>
              <a:latin typeface="Helvetica"/>
              <a:ea typeface="Calibri"/>
              <a:cs typeface="Calibri"/>
            </a:endParaRPr>
          </a:p>
          <a:p>
            <a:pPr>
              <a:buFont typeface="Arial" pitchFamily="34" charset="0"/>
              <a:buNone/>
            </a:pPr>
            <a:endParaRPr lang="en-AU" sz="1000" baseline="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953863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1/14/2015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1/14/2015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1/14/2015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1/14/2015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1/14/2015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1/14/2015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1/14/2015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1/14/2015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1/14/2015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1/14/2015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1/14/2015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1/14/2015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548680"/>
            <a:ext cx="7704184" cy="936104"/>
          </a:xfrm>
        </p:spPr>
        <p:txBody>
          <a:bodyPr>
            <a:normAutofit fontScale="90000"/>
          </a:bodyPr>
          <a:lstStyle/>
          <a:p>
            <a:r>
              <a:rPr lang="en-AU" sz="4000" dirty="0">
                <a:ln w="5000" cmpd="sng">
                  <a:noFill/>
                  <a:prstDash val="solid"/>
                </a:ln>
                <a:solidFill>
                  <a:srgbClr val="FF6600"/>
                </a:solidFill>
                <a:latin typeface="Helvetica" pitchFamily="34" charset="0"/>
              </a:rPr>
              <a:t>PROVIDE ARRIVAL AND DEPARTURE </a:t>
            </a:r>
            <a:r>
              <a:rPr lang="en-AU" sz="4000" dirty="0" smtClean="0">
                <a:ln w="5000" cmpd="sng">
                  <a:noFill/>
                  <a:prstDash val="solid"/>
                </a:ln>
                <a:solidFill>
                  <a:srgbClr val="FF6600"/>
                </a:solidFill>
                <a:latin typeface="Helvetica" pitchFamily="34" charset="0"/>
              </a:rPr>
              <a:t>ASSISTANCE</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771106"/>
            <a:ext cx="2541268" cy="433758"/>
          </a:xfrm>
        </p:spPr>
        <p:txBody>
          <a:bodyPr>
            <a:normAutofit/>
          </a:bodyPr>
          <a:lstStyle/>
          <a:p>
            <a:r>
              <a:rPr lang="en-AU" b="1" dirty="0" smtClean="0">
                <a:latin typeface="Helvetica" pitchFamily="34" charset="0"/>
              </a:rPr>
              <a:t>D2.TTG.CL3.17</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733490" y="1850603"/>
            <a:ext cx="5566702" cy="4207470"/>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400" dirty="0" smtClean="0">
                <a:latin typeface="Helvetica" pitchFamily="34" charset="0"/>
              </a:rPr>
              <a:t>This unit comprises two Elements:</a:t>
            </a:r>
          </a:p>
          <a:p>
            <a:pPr marL="493776" indent="-457200">
              <a:spcBef>
                <a:spcPts val="600"/>
              </a:spcBef>
              <a:spcAft>
                <a:spcPts val="1200"/>
              </a:spcAft>
              <a:buFont typeface="+mj-lt"/>
              <a:buAutoNum type="arabicPeriod"/>
            </a:pPr>
            <a:r>
              <a:rPr lang="en-AU" sz="2400" dirty="0" smtClean="0">
                <a:latin typeface="Helvetica" pitchFamily="34" charset="0"/>
              </a:rPr>
              <a:t>Provide assistance for arrival passengers</a:t>
            </a:r>
          </a:p>
          <a:p>
            <a:pPr marL="493776" indent="-457200">
              <a:spcBef>
                <a:spcPts val="600"/>
              </a:spcBef>
              <a:spcAft>
                <a:spcPts val="1200"/>
              </a:spcAft>
              <a:buFont typeface="+mj-lt"/>
              <a:buAutoNum type="arabicPeriod"/>
            </a:pPr>
            <a:r>
              <a:rPr lang="en-AU" sz="2400" dirty="0" smtClean="0">
                <a:latin typeface="Helvetica" pitchFamily="34" charset="0"/>
              </a:rPr>
              <a:t>Provide assistance for departure customers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3768" y="3284984"/>
            <a:ext cx="3048000" cy="25085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a:t>
            </a:r>
            <a:br>
              <a:rPr lang="en-AU" sz="2200" dirty="0" smtClean="0">
                <a:latin typeface="Helvetica" pitchFamily="34" charset="0"/>
              </a:rPr>
            </a:br>
            <a:r>
              <a:rPr lang="en-AU" sz="2200" dirty="0" smtClean="0">
                <a:latin typeface="Helvetica" pitchFamily="34" charset="0"/>
              </a:rPr>
              <a:t>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2119049"/>
            <a:ext cx="3048000" cy="24993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2656"/>
            <a:ext cx="8964488" cy="1152128"/>
          </a:xfrm>
        </p:spPr>
        <p:txBody>
          <a:bodyPr>
            <a:noAutofit/>
          </a:bodyPr>
          <a:lstStyle/>
          <a:p>
            <a:pPr marL="2327275" indent="-2327275">
              <a:spcBef>
                <a:spcPts val="600"/>
              </a:spcBef>
              <a:spcAft>
                <a:spcPts val="1200"/>
              </a:spcAft>
            </a:pPr>
            <a:r>
              <a:rPr lang="en-AU" sz="3400" b="1" dirty="0" smtClean="0">
                <a:solidFill>
                  <a:srgbClr val="FF6600"/>
                </a:solidFill>
                <a:latin typeface="Helvetica" pitchFamily="34" charset="0"/>
              </a:rPr>
              <a:t>Element 1: Provide assistance for arrival passengers</a:t>
            </a:r>
          </a:p>
        </p:txBody>
      </p:sp>
      <p:sp>
        <p:nvSpPr>
          <p:cNvPr id="3" name="Content Placeholder 2"/>
          <p:cNvSpPr>
            <a:spLocks noGrp="1"/>
          </p:cNvSpPr>
          <p:nvPr>
            <p:ph idx="1"/>
          </p:nvPr>
        </p:nvSpPr>
        <p:spPr>
          <a:xfrm>
            <a:off x="611560" y="1412776"/>
            <a:ext cx="7992888" cy="5445224"/>
          </a:xfrm>
        </p:spPr>
        <p:txBody>
          <a:bodyPr>
            <a:noAutofit/>
          </a:bodyPr>
          <a:lstStyle/>
          <a:p>
            <a:pPr marL="0" indent="0">
              <a:spcBef>
                <a:spcPts val="600"/>
              </a:spcBef>
              <a:spcAft>
                <a:spcPts val="1200"/>
              </a:spcAft>
              <a:buNone/>
            </a:pPr>
            <a:r>
              <a:rPr lang="en-AU" sz="2000" dirty="0" smtClean="0">
                <a:latin typeface="Helvetica" pitchFamily="34" charset="0"/>
              </a:rPr>
              <a:t>Performance Criteria for this Element are: </a:t>
            </a:r>
          </a:p>
          <a:p>
            <a:pPr marL="712788" indent="-676275">
              <a:spcBef>
                <a:spcPts val="600"/>
              </a:spcBef>
              <a:spcAft>
                <a:spcPts val="1200"/>
              </a:spcAft>
              <a:buNone/>
              <a:tabLst>
                <a:tab pos="985838" algn="l"/>
              </a:tabLst>
            </a:pPr>
            <a:r>
              <a:rPr lang="en-AU" sz="2000" dirty="0" smtClean="0">
                <a:latin typeface="Helvetica" pitchFamily="34" charset="0"/>
              </a:rPr>
              <a:t>1.1	Check itinerary of arriving passengers to identify and action alterations as required</a:t>
            </a:r>
          </a:p>
          <a:p>
            <a:pPr marL="712788" indent="-676275">
              <a:spcBef>
                <a:spcPts val="600"/>
              </a:spcBef>
              <a:spcAft>
                <a:spcPts val="1200"/>
              </a:spcAft>
              <a:buNone/>
            </a:pPr>
            <a:r>
              <a:rPr lang="en-AU" sz="2000" dirty="0" smtClean="0">
                <a:latin typeface="Helvetica" pitchFamily="34" charset="0"/>
              </a:rPr>
              <a:t>1.2	Confirm transport arrangements, </a:t>
            </a:r>
            <a:br>
              <a:rPr lang="en-AU" sz="2000" dirty="0" smtClean="0">
                <a:latin typeface="Helvetica" pitchFamily="34" charset="0"/>
              </a:rPr>
            </a:br>
            <a:r>
              <a:rPr lang="en-AU" sz="2000" dirty="0" smtClean="0">
                <a:latin typeface="Helvetica" pitchFamily="34" charset="0"/>
              </a:rPr>
              <a:t>where applicable</a:t>
            </a:r>
          </a:p>
          <a:p>
            <a:pPr marL="712788" indent="-676275">
              <a:spcBef>
                <a:spcPts val="600"/>
              </a:spcBef>
              <a:spcAft>
                <a:spcPts val="1200"/>
              </a:spcAft>
              <a:buNone/>
            </a:pPr>
            <a:r>
              <a:rPr lang="en-AU" sz="2000" dirty="0" smtClean="0">
                <a:latin typeface="Helvetica" pitchFamily="34" charset="0"/>
              </a:rPr>
              <a:t>1.3	Greet passengers</a:t>
            </a:r>
          </a:p>
          <a:p>
            <a:pPr marL="712788" indent="-676275">
              <a:spcBef>
                <a:spcPts val="600"/>
              </a:spcBef>
              <a:spcAft>
                <a:spcPts val="1200"/>
              </a:spcAft>
              <a:buNone/>
            </a:pPr>
            <a:r>
              <a:rPr lang="en-AU" sz="2000" dirty="0" smtClean="0">
                <a:latin typeface="Helvetica" pitchFamily="34" charset="0"/>
              </a:rPr>
              <a:t>1.4	Provide local information to passengers</a:t>
            </a:r>
          </a:p>
          <a:p>
            <a:pPr marL="712788" indent="-676275">
              <a:spcBef>
                <a:spcPts val="600"/>
              </a:spcBef>
              <a:spcAft>
                <a:spcPts val="1200"/>
              </a:spcAft>
              <a:buNone/>
            </a:pPr>
            <a:r>
              <a:rPr lang="en-AU" sz="2000" dirty="0" smtClean="0">
                <a:latin typeface="Helvetica" pitchFamily="34" charset="0"/>
              </a:rPr>
              <a:t>1.5	Advise passengers regarding check-in procedures at accommodation venues, where appropriate</a:t>
            </a:r>
          </a:p>
          <a:p>
            <a:pPr marL="712788" indent="-676275">
              <a:spcBef>
                <a:spcPts val="600"/>
              </a:spcBef>
              <a:spcAft>
                <a:spcPts val="1200"/>
              </a:spcAft>
              <a:buNone/>
            </a:pPr>
            <a:r>
              <a:rPr lang="en-AU" sz="2000" dirty="0" smtClean="0">
                <a:latin typeface="Helvetica" pitchFamily="34" charset="0"/>
              </a:rPr>
              <a:t>1.6	Direct passengers to appropriate transport location for transfer</a:t>
            </a:r>
          </a:p>
          <a:p>
            <a:pPr marL="36576" indent="0">
              <a:spcBef>
                <a:spcPts val="600"/>
              </a:spcBef>
              <a:spcAft>
                <a:spcPts val="1200"/>
              </a:spcAft>
              <a:buNone/>
            </a:pPr>
            <a:r>
              <a:rPr lang="en-AU" sz="2000" i="1" dirty="0" smtClean="0">
                <a:latin typeface="Helvetica" pitchFamily="34" charset="0"/>
              </a:rPr>
              <a:t>      (continue)</a:t>
            </a:r>
            <a:endParaRPr lang="en-AU" sz="2000" i="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2564904"/>
            <a:ext cx="2401222" cy="16040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484784"/>
            <a:ext cx="7846640" cy="5256584"/>
          </a:xfrm>
        </p:spPr>
        <p:txBody>
          <a:bodyPr>
            <a:normAutofit/>
          </a:bodyPr>
          <a:lstStyle/>
          <a:p>
            <a:pPr marL="0" indent="0">
              <a:spcBef>
                <a:spcPts val="600"/>
              </a:spcBef>
              <a:spcAft>
                <a:spcPts val="1200"/>
              </a:spcAft>
              <a:buNone/>
            </a:pPr>
            <a:r>
              <a:rPr lang="en-AU" sz="2000" dirty="0" smtClean="0">
                <a:latin typeface="Helvetica" pitchFamily="34" charset="0"/>
              </a:rPr>
              <a:t>Performance Criteria for this Element are: </a:t>
            </a:r>
          </a:p>
          <a:p>
            <a:pPr marL="712788" indent="-676275">
              <a:spcBef>
                <a:spcPts val="600"/>
              </a:spcBef>
              <a:spcAft>
                <a:spcPts val="1200"/>
              </a:spcAft>
              <a:buNone/>
            </a:pPr>
            <a:r>
              <a:rPr lang="en-AU" sz="2000" dirty="0" smtClean="0">
                <a:latin typeface="Helvetica" pitchFamily="34" charset="0"/>
              </a:rPr>
              <a:t>1.7	Use terminal facilities to assist in meeting arriving passengers</a:t>
            </a:r>
          </a:p>
          <a:p>
            <a:pPr marL="712788" indent="-676275">
              <a:spcBef>
                <a:spcPts val="600"/>
              </a:spcBef>
              <a:spcAft>
                <a:spcPts val="1200"/>
              </a:spcAft>
              <a:buNone/>
            </a:pPr>
            <a:r>
              <a:rPr lang="en-AU" sz="2000" dirty="0" smtClean="0">
                <a:latin typeface="Helvetica" pitchFamily="34" charset="0"/>
              </a:rPr>
              <a:t>1.8	Record passenger arrivals and other comments</a:t>
            </a:r>
          </a:p>
          <a:p>
            <a:pPr marL="712788" indent="-676275">
              <a:spcBef>
                <a:spcPts val="600"/>
              </a:spcBef>
              <a:spcAft>
                <a:spcPts val="1200"/>
              </a:spcAft>
              <a:buNone/>
            </a:pPr>
            <a:r>
              <a:rPr lang="en-AU" sz="2000" dirty="0" smtClean="0">
                <a:latin typeface="Helvetica" pitchFamily="34" charset="0"/>
              </a:rPr>
              <a:t>1.9	Facilitate movement of baggage from terminal to meet passenger needs</a:t>
            </a:r>
          </a:p>
          <a:p>
            <a:pPr marL="712788" indent="-676275">
              <a:spcBef>
                <a:spcPts val="600"/>
              </a:spcBef>
              <a:spcAft>
                <a:spcPts val="1200"/>
              </a:spcAft>
              <a:buNone/>
            </a:pPr>
            <a:r>
              <a:rPr lang="en-AU" sz="2000" dirty="0" smtClean="0">
                <a:latin typeface="Helvetica" pitchFamily="34" charset="0"/>
              </a:rPr>
              <a:t>1.10	Follow lost baggage procedures, where required</a:t>
            </a:r>
          </a:p>
          <a:p>
            <a:pPr marL="712788" indent="-676275">
              <a:spcBef>
                <a:spcPts val="600"/>
              </a:spcBef>
              <a:spcAft>
                <a:spcPts val="1200"/>
              </a:spcAft>
              <a:buNone/>
            </a:pPr>
            <a:r>
              <a:rPr lang="en-AU" sz="2000" dirty="0" smtClean="0">
                <a:latin typeface="Helvetica" pitchFamily="34" charset="0"/>
              </a:rPr>
              <a:t>1.11	Liaise with staff from other businesses to </a:t>
            </a:r>
            <a:br>
              <a:rPr lang="en-AU" sz="2000" dirty="0" smtClean="0">
                <a:latin typeface="Helvetica" pitchFamily="34" charset="0"/>
              </a:rPr>
            </a:br>
            <a:r>
              <a:rPr lang="en-AU" sz="2000" dirty="0" smtClean="0">
                <a:latin typeface="Helvetica" pitchFamily="34" charset="0"/>
              </a:rPr>
              <a:t>facilitate passenger arrival at, and use of, </a:t>
            </a:r>
            <a:br>
              <a:rPr lang="en-AU" sz="2000" dirty="0" smtClean="0">
                <a:latin typeface="Helvetica" pitchFamily="34" charset="0"/>
              </a:rPr>
            </a:br>
            <a:r>
              <a:rPr lang="en-AU" sz="2000" dirty="0" smtClean="0">
                <a:latin typeface="Helvetica" pitchFamily="34" charset="0"/>
              </a:rPr>
              <a:t>their products and services</a:t>
            </a: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sp>
        <p:nvSpPr>
          <p:cNvPr id="6" name="Title 1"/>
          <p:cNvSpPr>
            <a:spLocks noGrp="1"/>
          </p:cNvSpPr>
          <p:nvPr>
            <p:ph type="title"/>
          </p:nvPr>
        </p:nvSpPr>
        <p:spPr>
          <a:xfrm>
            <a:off x="179512" y="332656"/>
            <a:ext cx="8964488" cy="1152128"/>
          </a:xfrm>
        </p:spPr>
        <p:txBody>
          <a:bodyPr>
            <a:noAutofit/>
          </a:bodyPr>
          <a:lstStyle/>
          <a:p>
            <a:pPr marL="2327275" indent="-2327275">
              <a:spcBef>
                <a:spcPts val="600"/>
              </a:spcBef>
              <a:spcAft>
                <a:spcPts val="1200"/>
              </a:spcAft>
            </a:pPr>
            <a:r>
              <a:rPr lang="en-AU" sz="3400" b="1" dirty="0" smtClean="0">
                <a:solidFill>
                  <a:srgbClr val="FF6600"/>
                </a:solidFill>
                <a:latin typeface="Helvetica" pitchFamily="34" charset="0"/>
              </a:rPr>
              <a:t>Element 1: Provide assistance for arrival passengers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4365104"/>
            <a:ext cx="2592288" cy="17290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08912" cy="1143000"/>
          </a:xfrm>
        </p:spPr>
        <p:txBody>
          <a:bodyPr>
            <a:normAutofit fontScale="90000"/>
          </a:bodyPr>
          <a:lstStyle/>
          <a:p>
            <a:pPr marL="712788" lvl="0" indent="-676275">
              <a:spcBef>
                <a:spcPts val="600"/>
              </a:spcBef>
              <a:spcAft>
                <a:spcPts val="1200"/>
              </a:spcAft>
            </a:pPr>
            <a:r>
              <a:rPr lang="en-US" sz="3400" b="1" dirty="0" smtClean="0">
                <a:solidFill>
                  <a:srgbClr val="FF6600"/>
                </a:solidFill>
                <a:latin typeface="Helvetica" pitchFamily="34" charset="0"/>
              </a:rPr>
              <a:t>1.1	</a:t>
            </a:r>
            <a:r>
              <a:rPr lang="en-AU" sz="3100" b="1" dirty="0" smtClean="0">
                <a:solidFill>
                  <a:srgbClr val="FF6600"/>
                </a:solidFill>
                <a:latin typeface="Helvetica" pitchFamily="34" charset="0"/>
              </a:rPr>
              <a:t>Check </a:t>
            </a:r>
            <a:r>
              <a:rPr lang="en-AU" sz="3100" b="1" dirty="0">
                <a:solidFill>
                  <a:srgbClr val="FF6600"/>
                </a:solidFill>
                <a:latin typeface="Helvetica" pitchFamily="34" charset="0"/>
              </a:rPr>
              <a:t>itinerary of arriving passengers to identify and action alterations as </a:t>
            </a:r>
            <a:r>
              <a:rPr lang="en-AU" sz="3100" b="1" dirty="0" smtClean="0">
                <a:solidFill>
                  <a:srgbClr val="FF6600"/>
                </a:solidFill>
                <a:latin typeface="Helvetica" pitchFamily="34" charset="0"/>
              </a:rPr>
              <a:t>required</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sp>
        <p:nvSpPr>
          <p:cNvPr id="5" name="Rectangle 4"/>
          <p:cNvSpPr/>
          <p:nvPr/>
        </p:nvSpPr>
        <p:spPr>
          <a:xfrm>
            <a:off x="674354" y="1764333"/>
            <a:ext cx="7570053" cy="4421210"/>
          </a:xfrm>
          <a:prstGeom prst="rect">
            <a:avLst/>
          </a:prstGeom>
        </p:spPr>
        <p:txBody>
          <a:bodyPr wrap="square">
            <a:spAutoFit/>
          </a:bodyPr>
          <a:lstStyle/>
          <a:p>
            <a:pPr>
              <a:lnSpc>
                <a:spcPct val="115000"/>
              </a:lnSpc>
              <a:spcBef>
                <a:spcPts val="1200"/>
              </a:spcBef>
              <a:spcAft>
                <a:spcPts val="1200"/>
              </a:spcAft>
            </a:pPr>
            <a:r>
              <a:rPr lang="en-AU" sz="2200" dirty="0" smtClean="0">
                <a:latin typeface="Helvetica"/>
                <a:ea typeface="Times New Roman"/>
                <a:cs typeface="Arial"/>
              </a:rPr>
              <a:t>Check </a:t>
            </a:r>
            <a:r>
              <a:rPr lang="en-AU" sz="2200" dirty="0">
                <a:latin typeface="Helvetica"/>
                <a:ea typeface="Times New Roman"/>
                <a:cs typeface="Arial"/>
              </a:rPr>
              <a:t>itinerary of arriving passengers may be related to</a:t>
            </a:r>
            <a:r>
              <a:rPr lang="en-AU" sz="2200" dirty="0" smtClean="0">
                <a:latin typeface="Helvetica"/>
                <a:ea typeface="Times New Roman"/>
                <a:cs typeface="Arial"/>
              </a:rPr>
              <a:t>:</a:t>
            </a:r>
          </a:p>
          <a:p>
            <a:pPr marL="420624" lvl="0" indent="-384048">
              <a:spcBef>
                <a:spcPts val="1200"/>
              </a:spcBef>
              <a:spcAft>
                <a:spcPts val="1200"/>
              </a:spcAft>
              <a:buClr>
                <a:srgbClr val="7FD13B"/>
              </a:buClr>
              <a:buSzPct val="80000"/>
              <a:buFont typeface="Wingdings 2"/>
              <a:buChar char=""/>
            </a:pPr>
            <a:r>
              <a:rPr lang="en-AU" sz="2200" kern="0" dirty="0" smtClean="0">
                <a:effectLst>
                  <a:glow>
                    <a:srgbClr val="000000"/>
                  </a:glow>
                  <a:outerShdw sx="0" sy="0">
                    <a:srgbClr val="000000"/>
                  </a:outerShdw>
                  <a:reflection stA="0" endPos="0" fadeDir="0" sx="0" sy="0"/>
                </a:effectLst>
                <a:latin typeface="Helvetica"/>
                <a:ea typeface="Calibri"/>
                <a:cs typeface="Times New Roman"/>
              </a:rPr>
              <a:t>Identifying </a:t>
            </a:r>
            <a:r>
              <a:rPr lang="en-AU" sz="2200" kern="0" dirty="0">
                <a:effectLst>
                  <a:glow>
                    <a:srgbClr val="000000"/>
                  </a:glow>
                  <a:outerShdw sx="0" sy="0">
                    <a:srgbClr val="000000"/>
                  </a:outerShdw>
                  <a:reflection stA="0" endPos="0" fadeDir="0" sx="0" sy="0"/>
                </a:effectLst>
                <a:latin typeface="Helvetica"/>
                <a:ea typeface="Calibri"/>
                <a:cs typeface="Times New Roman"/>
              </a:rPr>
              <a:t>names and carriers of incoming </a:t>
            </a:r>
            <a:r>
              <a:rPr lang="en-AU" sz="2200" kern="0" dirty="0" smtClean="0">
                <a:effectLst>
                  <a:glow>
                    <a:srgbClr val="000000"/>
                  </a:glow>
                  <a:outerShdw sx="0" sy="0">
                    <a:srgbClr val="000000"/>
                  </a:outerShdw>
                  <a:reflection stA="0" endPos="0" fadeDir="0" sx="0" sy="0"/>
                </a:effectLst>
                <a:latin typeface="Helvetica"/>
                <a:ea typeface="Calibri"/>
                <a:cs typeface="Times New Roman"/>
              </a:rPr>
              <a:t>passengers</a:t>
            </a:r>
          </a:p>
          <a:p>
            <a:pPr marL="420624" lvl="0" indent="-384048">
              <a:spcBef>
                <a:spcPts val="1200"/>
              </a:spcBef>
              <a:spcAft>
                <a:spcPts val="1200"/>
              </a:spcAft>
              <a:buClr>
                <a:srgbClr val="7FD13B"/>
              </a:buClr>
              <a:buSzPct val="80000"/>
              <a:buFont typeface="Wingdings 2"/>
              <a:buChar char=""/>
            </a:pPr>
            <a:r>
              <a:rPr lang="en-AU" sz="2200" kern="0" dirty="0" smtClean="0">
                <a:effectLst>
                  <a:glow>
                    <a:srgbClr val="000000"/>
                  </a:glow>
                  <a:outerShdw sx="0" sy="0">
                    <a:srgbClr val="000000"/>
                  </a:outerShdw>
                  <a:reflection stA="0" endPos="0" fadeDir="0" sx="0" sy="0"/>
                </a:effectLst>
                <a:latin typeface="Helvetica"/>
                <a:ea typeface="Calibri"/>
                <a:cs typeface="Times New Roman"/>
              </a:rPr>
              <a:t>Comparing </a:t>
            </a:r>
            <a:r>
              <a:rPr lang="en-AU" sz="2200" kern="0" dirty="0">
                <a:effectLst>
                  <a:glow>
                    <a:srgbClr val="000000"/>
                  </a:glow>
                  <a:outerShdw sx="0" sy="0">
                    <a:srgbClr val="000000"/>
                  </a:outerShdw>
                  <a:reflection stA="0" endPos="0" fadeDir="0" sx="0" sy="0"/>
                </a:effectLst>
                <a:latin typeface="Helvetica"/>
                <a:ea typeface="Calibri"/>
                <a:cs typeface="Times New Roman"/>
              </a:rPr>
              <a:t>known itinerary against </a:t>
            </a:r>
            <a:r>
              <a:rPr lang="en-AU" sz="2200" kern="0" dirty="0" smtClean="0">
                <a:effectLst>
                  <a:glow>
                    <a:srgbClr val="000000"/>
                  </a:glow>
                  <a:outerShdw sx="0" sy="0">
                    <a:srgbClr val="000000"/>
                  </a:outerShdw>
                  <a:reflection stA="0" endPos="0" fadeDir="0" sx="0" sy="0"/>
                </a:effectLst>
                <a:latin typeface="Helvetica"/>
                <a:ea typeface="Calibri"/>
                <a:cs typeface="Times New Roman"/>
              </a:rPr>
              <a:t/>
            </a:r>
            <a:br>
              <a:rPr lang="en-AU" sz="2200" kern="0" dirty="0" smtClean="0">
                <a:effectLst>
                  <a:glow>
                    <a:srgbClr val="000000"/>
                  </a:glow>
                  <a:outerShdw sx="0" sy="0">
                    <a:srgbClr val="000000"/>
                  </a:outerShdw>
                  <a:reflection stA="0" endPos="0" fadeDir="0" sx="0" sy="0"/>
                </a:effectLst>
                <a:latin typeface="Helvetica"/>
                <a:ea typeface="Calibri"/>
                <a:cs typeface="Times New Roman"/>
              </a:rPr>
            </a:br>
            <a:r>
              <a:rPr lang="en-AU" sz="2200" kern="0" dirty="0" smtClean="0">
                <a:effectLst>
                  <a:glow>
                    <a:srgbClr val="000000"/>
                  </a:glow>
                  <a:outerShdw sx="0" sy="0">
                    <a:srgbClr val="000000"/>
                  </a:outerShdw>
                  <a:reflection stA="0" endPos="0" fadeDir="0" sx="0" sy="0"/>
                </a:effectLst>
                <a:latin typeface="Helvetica"/>
                <a:ea typeface="Calibri"/>
                <a:cs typeface="Times New Roman"/>
              </a:rPr>
              <a:t>known changes </a:t>
            </a:r>
            <a:r>
              <a:rPr lang="en-AU" sz="2200" kern="0" dirty="0">
                <a:effectLst>
                  <a:glow>
                    <a:srgbClr val="000000"/>
                  </a:glow>
                  <a:outerShdw sx="0" sy="0">
                    <a:srgbClr val="000000"/>
                  </a:outerShdw>
                  <a:reflection stA="0" endPos="0" fadeDir="0" sx="0" sy="0"/>
                </a:effectLst>
                <a:latin typeface="Helvetica"/>
                <a:ea typeface="Calibri"/>
                <a:cs typeface="Times New Roman"/>
              </a:rPr>
              <a:t>to scheduled </a:t>
            </a:r>
            <a:r>
              <a:rPr lang="en-AU" sz="2200" kern="0" dirty="0" smtClean="0">
                <a:effectLst>
                  <a:glow>
                    <a:srgbClr val="000000"/>
                  </a:glow>
                  <a:outerShdw sx="0" sy="0">
                    <a:srgbClr val="000000"/>
                  </a:outerShdw>
                  <a:reflection stA="0" endPos="0" fadeDir="0" sx="0" sy="0"/>
                </a:effectLst>
                <a:latin typeface="Helvetica"/>
                <a:ea typeface="Calibri"/>
                <a:cs typeface="Times New Roman"/>
              </a:rPr>
              <a:t/>
            </a:r>
            <a:br>
              <a:rPr lang="en-AU" sz="2200" kern="0" dirty="0" smtClean="0">
                <a:effectLst>
                  <a:glow>
                    <a:srgbClr val="000000"/>
                  </a:glow>
                  <a:outerShdw sx="0" sy="0">
                    <a:srgbClr val="000000"/>
                  </a:outerShdw>
                  <a:reflection stA="0" endPos="0" fadeDir="0" sx="0" sy="0"/>
                </a:effectLst>
                <a:latin typeface="Helvetica"/>
                <a:ea typeface="Calibri"/>
                <a:cs typeface="Times New Roman"/>
              </a:rPr>
            </a:br>
            <a:r>
              <a:rPr lang="en-AU" sz="2200" kern="0" dirty="0" smtClean="0">
                <a:effectLst>
                  <a:glow>
                    <a:srgbClr val="000000"/>
                  </a:glow>
                  <a:outerShdw sx="0" sy="0">
                    <a:srgbClr val="000000"/>
                  </a:outerShdw>
                  <a:reflection stA="0" endPos="0" fadeDir="0" sx="0" sy="0"/>
                </a:effectLst>
                <a:latin typeface="Helvetica"/>
                <a:ea typeface="Calibri"/>
                <a:cs typeface="Times New Roman"/>
              </a:rPr>
              <a:t>transportation</a:t>
            </a:r>
            <a:r>
              <a:rPr lang="en-AU" sz="2200" kern="0" dirty="0">
                <a:effectLst>
                  <a:glow>
                    <a:srgbClr val="000000"/>
                  </a:glow>
                  <a:outerShdw sx="0" sy="0">
                    <a:srgbClr val="000000"/>
                  </a:outerShdw>
                  <a:reflection stA="0" endPos="0" fadeDir="0" sx="0" sy="0"/>
                </a:effectLst>
                <a:latin typeface="Helvetica"/>
                <a:ea typeface="Calibri"/>
                <a:cs typeface="Times New Roman"/>
              </a:rPr>
              <a:t>, </a:t>
            </a:r>
            <a:r>
              <a:rPr lang="en-AU" sz="2200" kern="0" dirty="0" smtClean="0">
                <a:effectLst>
                  <a:glow>
                    <a:srgbClr val="000000"/>
                  </a:glow>
                  <a:outerShdw sx="0" sy="0">
                    <a:srgbClr val="000000"/>
                  </a:outerShdw>
                  <a:reflection stA="0" endPos="0" fadeDir="0" sx="0" sy="0"/>
                </a:effectLst>
                <a:latin typeface="Helvetica"/>
                <a:ea typeface="Calibri"/>
                <a:cs typeface="Times New Roman"/>
              </a:rPr>
              <a:t>such </a:t>
            </a:r>
            <a:r>
              <a:rPr lang="en-AU" sz="2200" kern="0" dirty="0">
                <a:effectLst>
                  <a:glow>
                    <a:srgbClr val="000000"/>
                  </a:glow>
                  <a:outerShdw sx="0" sy="0">
                    <a:srgbClr val="000000"/>
                  </a:outerShdw>
                  <a:reflection stA="0" endPos="0" fadeDir="0" sx="0" sy="0"/>
                </a:effectLst>
                <a:latin typeface="Helvetica"/>
                <a:ea typeface="Calibri"/>
                <a:cs typeface="Times New Roman"/>
              </a:rPr>
              <a:t>as delays, </a:t>
            </a:r>
            <a:r>
              <a:rPr lang="en-AU" sz="2200" kern="0" dirty="0" smtClean="0">
                <a:effectLst>
                  <a:glow>
                    <a:srgbClr val="000000"/>
                  </a:glow>
                  <a:outerShdw sx="0" sy="0">
                    <a:srgbClr val="000000"/>
                  </a:outerShdw>
                  <a:reflection stA="0" endPos="0" fadeDir="0" sx="0" sy="0"/>
                </a:effectLst>
                <a:latin typeface="Helvetica"/>
                <a:ea typeface="Calibri"/>
                <a:cs typeface="Times New Roman"/>
              </a:rPr>
              <a:t/>
            </a:r>
            <a:br>
              <a:rPr lang="en-AU" sz="2200" kern="0" dirty="0" smtClean="0">
                <a:effectLst>
                  <a:glow>
                    <a:srgbClr val="000000"/>
                  </a:glow>
                  <a:outerShdw sx="0" sy="0">
                    <a:srgbClr val="000000"/>
                  </a:outerShdw>
                  <a:reflection stA="0" endPos="0" fadeDir="0" sx="0" sy="0"/>
                </a:effectLst>
                <a:latin typeface="Helvetica"/>
                <a:ea typeface="Calibri"/>
                <a:cs typeface="Times New Roman"/>
              </a:rPr>
            </a:br>
            <a:r>
              <a:rPr lang="en-AU" sz="2200" kern="0" dirty="0" smtClean="0">
                <a:effectLst>
                  <a:glow>
                    <a:srgbClr val="000000"/>
                  </a:glow>
                  <a:outerShdw sx="0" sy="0">
                    <a:srgbClr val="000000"/>
                  </a:outerShdw>
                  <a:reflection stA="0" endPos="0" fadeDir="0" sx="0" sy="0"/>
                </a:effectLst>
                <a:latin typeface="Helvetica"/>
                <a:ea typeface="Calibri"/>
                <a:cs typeface="Times New Roman"/>
              </a:rPr>
              <a:t>cancellations </a:t>
            </a:r>
            <a:r>
              <a:rPr lang="en-AU" sz="2200" kern="0" dirty="0">
                <a:effectLst>
                  <a:glow>
                    <a:srgbClr val="000000"/>
                  </a:glow>
                  <a:outerShdw sx="0" sy="0">
                    <a:srgbClr val="000000"/>
                  </a:outerShdw>
                  <a:reflection stA="0" endPos="0" fadeDir="0" sx="0" sy="0"/>
                </a:effectLst>
                <a:latin typeface="Helvetica"/>
                <a:ea typeface="Calibri"/>
                <a:cs typeface="Times New Roman"/>
              </a:rPr>
              <a:t>and </a:t>
            </a:r>
            <a:r>
              <a:rPr lang="en-AU" sz="2200" kern="0" dirty="0" smtClean="0">
                <a:effectLst>
                  <a:glow>
                    <a:srgbClr val="000000"/>
                  </a:glow>
                  <a:outerShdw sx="0" sy="0">
                    <a:srgbClr val="000000"/>
                  </a:outerShdw>
                  <a:reflection stA="0" endPos="0" fadeDir="0" sx="0" sy="0"/>
                </a:effectLst>
                <a:latin typeface="Helvetica"/>
                <a:ea typeface="Calibri"/>
                <a:cs typeface="Times New Roman"/>
              </a:rPr>
              <a:t>re-routing</a:t>
            </a:r>
          </a:p>
          <a:p>
            <a:pPr marL="420624" lvl="0" indent="-384048">
              <a:spcBef>
                <a:spcPts val="1200"/>
              </a:spcBef>
              <a:spcAft>
                <a:spcPts val="1200"/>
              </a:spcAft>
              <a:buClr>
                <a:srgbClr val="7FD13B"/>
              </a:buClr>
              <a:buSzPct val="80000"/>
              <a:buFont typeface="Wingdings 2"/>
              <a:buChar char=""/>
            </a:pPr>
            <a:r>
              <a:rPr lang="en-AU" sz="2200" kern="0" dirty="0" smtClean="0">
                <a:effectLst>
                  <a:glow>
                    <a:srgbClr val="000000"/>
                  </a:glow>
                  <a:outerShdw sx="0" sy="0">
                    <a:srgbClr val="000000"/>
                  </a:outerShdw>
                  <a:reflection stA="0" endPos="0" fadeDir="0" sx="0" sy="0"/>
                </a:effectLst>
                <a:latin typeface="Helvetica"/>
                <a:ea typeface="Calibri"/>
                <a:cs typeface="Times New Roman"/>
              </a:rPr>
              <a:t>Determining </a:t>
            </a:r>
            <a:r>
              <a:rPr lang="en-AU" sz="2200" kern="0" dirty="0">
                <a:effectLst>
                  <a:glow>
                    <a:srgbClr val="000000"/>
                  </a:glow>
                  <a:outerShdw sx="0" sy="0">
                    <a:srgbClr val="000000"/>
                  </a:outerShdw>
                  <a:reflection stA="0" endPos="0" fadeDir="0" sx="0" sy="0"/>
                </a:effectLst>
                <a:latin typeface="Helvetica"/>
                <a:ea typeface="Calibri"/>
                <a:cs typeface="Times New Roman"/>
              </a:rPr>
              <a:t>whether or not changes </a:t>
            </a:r>
            <a:r>
              <a:rPr lang="en-AU" sz="2200" kern="0" dirty="0" smtClean="0">
                <a:effectLst>
                  <a:glow>
                    <a:srgbClr val="000000"/>
                  </a:glow>
                  <a:outerShdw sx="0" sy="0">
                    <a:srgbClr val="000000"/>
                  </a:outerShdw>
                  <a:reflection stA="0" endPos="0" fadeDir="0" sx="0" sy="0"/>
                </a:effectLst>
                <a:latin typeface="Helvetica"/>
                <a:ea typeface="Calibri"/>
                <a:cs typeface="Times New Roman"/>
              </a:rPr>
              <a:t/>
            </a:r>
            <a:br>
              <a:rPr lang="en-AU" sz="2200" kern="0" dirty="0" smtClean="0">
                <a:effectLst>
                  <a:glow>
                    <a:srgbClr val="000000"/>
                  </a:glow>
                  <a:outerShdw sx="0" sy="0">
                    <a:srgbClr val="000000"/>
                  </a:outerShdw>
                  <a:reflection stA="0" endPos="0" fadeDir="0" sx="0" sy="0"/>
                </a:effectLst>
                <a:latin typeface="Helvetica"/>
                <a:ea typeface="Calibri"/>
                <a:cs typeface="Times New Roman"/>
              </a:rPr>
            </a:br>
            <a:r>
              <a:rPr lang="en-AU" sz="2200" kern="0" dirty="0" smtClean="0">
                <a:effectLst>
                  <a:glow>
                    <a:srgbClr val="000000"/>
                  </a:glow>
                  <a:outerShdw sx="0" sy="0">
                    <a:srgbClr val="000000"/>
                  </a:outerShdw>
                  <a:reflection stA="0" endPos="0" fadeDir="0" sx="0" sy="0"/>
                </a:effectLst>
                <a:latin typeface="Helvetica"/>
                <a:ea typeface="Calibri"/>
                <a:cs typeface="Times New Roman"/>
              </a:rPr>
              <a:t>need </a:t>
            </a:r>
            <a:r>
              <a:rPr lang="en-AU" sz="2200" kern="0" dirty="0">
                <a:effectLst>
                  <a:glow>
                    <a:srgbClr val="000000"/>
                  </a:glow>
                  <a:outerShdw sx="0" sy="0">
                    <a:srgbClr val="000000"/>
                  </a:outerShdw>
                  <a:reflection stA="0" endPos="0" fadeDir="0" sx="0" sy="0"/>
                </a:effectLst>
                <a:latin typeface="Helvetica"/>
                <a:ea typeface="Calibri"/>
                <a:cs typeface="Times New Roman"/>
              </a:rPr>
              <a:t>to be made to scheduled </a:t>
            </a:r>
            <a:r>
              <a:rPr lang="en-AU" sz="2200" kern="0" dirty="0" smtClean="0">
                <a:effectLst>
                  <a:glow>
                    <a:srgbClr val="000000"/>
                  </a:glow>
                  <a:outerShdw sx="0" sy="0">
                    <a:srgbClr val="000000"/>
                  </a:outerShdw>
                  <a:reflection stA="0" endPos="0" fadeDir="0" sx="0" sy="0"/>
                </a:effectLst>
                <a:latin typeface="Helvetica"/>
                <a:ea typeface="Calibri"/>
                <a:cs typeface="Times New Roman"/>
              </a:rPr>
              <a:t>transportation</a:t>
            </a:r>
          </a:p>
          <a:p>
            <a:pPr marL="420624" lvl="0" indent="-384048">
              <a:spcBef>
                <a:spcPts val="1200"/>
              </a:spcBef>
              <a:spcAft>
                <a:spcPts val="1200"/>
              </a:spcAft>
              <a:buClr>
                <a:srgbClr val="7FD13B"/>
              </a:buClr>
              <a:buSzPct val="80000"/>
              <a:buFont typeface="Wingdings 2"/>
              <a:buChar char=""/>
            </a:pPr>
            <a:endParaRPr lang="en-AU" sz="2200" kern="0" dirty="0" smtClean="0">
              <a:effectLst>
                <a:glow>
                  <a:srgbClr val="000000"/>
                </a:glow>
                <a:outerShdw sx="0" sy="0">
                  <a:srgbClr val="000000"/>
                </a:outerShdw>
                <a:reflection stA="0" endPos="0" fadeDir="0" sx="0" sy="0"/>
              </a:effectLst>
              <a:latin typeface="Helvetica"/>
              <a:ea typeface="Calibri"/>
              <a:cs typeface="Times New Roman"/>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19" y="2895660"/>
            <a:ext cx="2859387" cy="19014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08912" cy="1143000"/>
          </a:xfrm>
        </p:spPr>
        <p:txBody>
          <a:bodyPr>
            <a:normAutofit fontScale="90000"/>
          </a:bodyPr>
          <a:lstStyle/>
          <a:p>
            <a:pPr marL="712788" lvl="0" indent="-676275">
              <a:spcBef>
                <a:spcPts val="600"/>
              </a:spcBef>
              <a:spcAft>
                <a:spcPts val="1200"/>
              </a:spcAft>
            </a:pPr>
            <a:r>
              <a:rPr lang="en-US" sz="3400" b="1" dirty="0" smtClean="0">
                <a:solidFill>
                  <a:srgbClr val="FF6600"/>
                </a:solidFill>
                <a:latin typeface="Helvetica" pitchFamily="34" charset="0"/>
              </a:rPr>
              <a:t>1.1	</a:t>
            </a:r>
            <a:r>
              <a:rPr lang="en-AU" sz="3100" b="1" dirty="0" smtClean="0">
                <a:solidFill>
                  <a:srgbClr val="FF6600"/>
                </a:solidFill>
                <a:latin typeface="Helvetica" pitchFamily="34" charset="0"/>
              </a:rPr>
              <a:t>Check </a:t>
            </a:r>
            <a:r>
              <a:rPr lang="en-AU" sz="3100" b="1" dirty="0">
                <a:solidFill>
                  <a:srgbClr val="FF6600"/>
                </a:solidFill>
                <a:latin typeface="Helvetica" pitchFamily="34" charset="0"/>
              </a:rPr>
              <a:t>itinerary of arriving passengers to identify and action alterations as </a:t>
            </a:r>
            <a:r>
              <a:rPr lang="en-AU" sz="3100" b="1" dirty="0" smtClean="0">
                <a:solidFill>
                  <a:srgbClr val="FF6600"/>
                </a:solidFill>
                <a:latin typeface="Helvetica" pitchFamily="34" charset="0"/>
              </a:rPr>
              <a:t>required</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sp>
        <p:nvSpPr>
          <p:cNvPr id="5" name="Rectangle 4"/>
          <p:cNvSpPr/>
          <p:nvPr/>
        </p:nvSpPr>
        <p:spPr>
          <a:xfrm>
            <a:off x="674355" y="1772816"/>
            <a:ext cx="7920880" cy="3133165"/>
          </a:xfrm>
          <a:prstGeom prst="rect">
            <a:avLst/>
          </a:prstGeom>
        </p:spPr>
        <p:txBody>
          <a:bodyPr wrap="square">
            <a:spAutoFit/>
          </a:bodyPr>
          <a:lstStyle/>
          <a:p>
            <a:pPr>
              <a:lnSpc>
                <a:spcPct val="115000"/>
              </a:lnSpc>
              <a:spcBef>
                <a:spcPts val="1200"/>
              </a:spcBef>
              <a:spcAft>
                <a:spcPts val="1800"/>
              </a:spcAft>
            </a:pPr>
            <a:r>
              <a:rPr lang="en-AU" sz="2400" dirty="0" smtClean="0">
                <a:latin typeface="Helvetica"/>
                <a:ea typeface="Times New Roman"/>
                <a:cs typeface="Arial"/>
              </a:rPr>
              <a:t>Check </a:t>
            </a:r>
            <a:r>
              <a:rPr lang="en-AU" sz="2400" dirty="0">
                <a:latin typeface="Helvetica"/>
                <a:ea typeface="Times New Roman"/>
                <a:cs typeface="Arial"/>
              </a:rPr>
              <a:t>itinerary of arriving passengers may be related to</a:t>
            </a:r>
            <a:r>
              <a:rPr lang="en-AU" sz="2400" dirty="0" smtClean="0">
                <a:latin typeface="Helvetica"/>
                <a:ea typeface="Times New Roman"/>
                <a:cs typeface="Arial"/>
              </a:rPr>
              <a:t>:</a:t>
            </a:r>
          </a:p>
          <a:p>
            <a:pPr marL="420624" lvl="0" indent="-384048">
              <a:spcBef>
                <a:spcPts val="1200"/>
              </a:spcBef>
              <a:spcAft>
                <a:spcPts val="1800"/>
              </a:spcAft>
              <a:buClr>
                <a:srgbClr val="7FD13B"/>
              </a:buClr>
              <a:buSzPct val="80000"/>
              <a:buFont typeface="Wingdings 2"/>
              <a:buChar char=""/>
            </a:pPr>
            <a:r>
              <a:rPr lang="en-AU" sz="2400" kern="0" dirty="0" smtClean="0">
                <a:effectLst>
                  <a:glow>
                    <a:srgbClr val="000000"/>
                  </a:glow>
                  <a:outerShdw sx="0" sy="0">
                    <a:srgbClr val="000000"/>
                  </a:outerShdw>
                  <a:reflection stA="0" endPos="0" fadeDir="0" sx="0" sy="0"/>
                </a:effectLst>
                <a:latin typeface="Helvetica"/>
                <a:ea typeface="Calibri"/>
                <a:cs typeface="Times New Roman"/>
              </a:rPr>
              <a:t>Contacting </a:t>
            </a:r>
            <a:r>
              <a:rPr lang="en-AU" sz="2400" kern="0" dirty="0">
                <a:effectLst>
                  <a:glow>
                    <a:srgbClr val="000000"/>
                  </a:glow>
                  <a:outerShdw sx="0" sy="0">
                    <a:srgbClr val="000000"/>
                  </a:outerShdw>
                  <a:reflection stA="0" endPos="0" fadeDir="0" sx="0" sy="0"/>
                </a:effectLst>
                <a:latin typeface="Helvetica"/>
                <a:ea typeface="Calibri"/>
                <a:cs typeface="Times New Roman"/>
              </a:rPr>
              <a:t>carriers to make appropriate </a:t>
            </a:r>
            <a:r>
              <a:rPr lang="en-AU" sz="2400" kern="0" dirty="0" smtClean="0">
                <a:effectLst>
                  <a:glow>
                    <a:srgbClr val="000000"/>
                  </a:glow>
                  <a:outerShdw sx="0" sy="0">
                    <a:srgbClr val="000000"/>
                  </a:outerShdw>
                  <a:reflection stA="0" endPos="0" fadeDir="0" sx="0" sy="0"/>
                </a:effectLst>
                <a:latin typeface="Helvetica"/>
                <a:ea typeface="Calibri"/>
                <a:cs typeface="Times New Roman"/>
              </a:rPr>
              <a:t/>
            </a:r>
            <a:br>
              <a:rPr lang="en-AU" sz="2400" kern="0" dirty="0" smtClean="0">
                <a:effectLst>
                  <a:glow>
                    <a:srgbClr val="000000"/>
                  </a:glow>
                  <a:outerShdw sx="0" sy="0">
                    <a:srgbClr val="000000"/>
                  </a:outerShdw>
                  <a:reflection stA="0" endPos="0" fadeDir="0" sx="0" sy="0"/>
                </a:effectLst>
                <a:latin typeface="Helvetica"/>
                <a:ea typeface="Calibri"/>
                <a:cs typeface="Times New Roman"/>
              </a:rPr>
            </a:br>
            <a:r>
              <a:rPr lang="en-AU" sz="2400" kern="0" dirty="0" smtClean="0">
                <a:effectLst>
                  <a:glow>
                    <a:srgbClr val="000000"/>
                  </a:glow>
                  <a:outerShdw sx="0" sy="0">
                    <a:srgbClr val="000000"/>
                  </a:outerShdw>
                  <a:reflection stA="0" endPos="0" fadeDir="0" sx="0" sy="0"/>
                </a:effectLst>
                <a:latin typeface="Helvetica"/>
                <a:ea typeface="Calibri"/>
                <a:cs typeface="Times New Roman"/>
              </a:rPr>
              <a:t>changes </a:t>
            </a:r>
            <a:r>
              <a:rPr lang="en-AU" sz="2400" kern="0" dirty="0">
                <a:effectLst>
                  <a:glow>
                    <a:srgbClr val="000000"/>
                  </a:glow>
                  <a:outerShdw sx="0" sy="0">
                    <a:srgbClr val="000000"/>
                  </a:outerShdw>
                  <a:reflection stA="0" endPos="0" fadeDir="0" sx="0" sy="0"/>
                </a:effectLst>
                <a:latin typeface="Helvetica"/>
                <a:ea typeface="Calibri"/>
                <a:cs typeface="Times New Roman"/>
              </a:rPr>
              <a:t>on behalf of the </a:t>
            </a:r>
            <a:r>
              <a:rPr lang="en-AU" sz="2400" kern="0" dirty="0" smtClean="0">
                <a:effectLst>
                  <a:glow>
                    <a:srgbClr val="000000"/>
                  </a:glow>
                  <a:outerShdw sx="0" sy="0">
                    <a:srgbClr val="000000"/>
                  </a:outerShdw>
                  <a:reflection stA="0" endPos="0" fadeDir="0" sx="0" sy="0"/>
                </a:effectLst>
                <a:latin typeface="Helvetica"/>
                <a:ea typeface="Calibri"/>
                <a:cs typeface="Times New Roman"/>
              </a:rPr>
              <a:t>passenger</a:t>
            </a:r>
          </a:p>
          <a:p>
            <a:pPr marL="420624" lvl="0" indent="-384048">
              <a:spcBef>
                <a:spcPts val="1200"/>
              </a:spcBef>
              <a:spcAft>
                <a:spcPts val="1800"/>
              </a:spcAft>
              <a:buClr>
                <a:srgbClr val="7FD13B"/>
              </a:buClr>
              <a:buSzPct val="80000"/>
              <a:buFont typeface="Wingdings 2"/>
              <a:buChar char=""/>
            </a:pPr>
            <a:r>
              <a:rPr lang="en-AU" sz="2400" kern="0" dirty="0" smtClean="0">
                <a:effectLst>
                  <a:glow>
                    <a:srgbClr val="000000"/>
                  </a:glow>
                  <a:outerShdw sx="0" sy="0">
                    <a:srgbClr val="000000"/>
                  </a:outerShdw>
                  <a:reflection stA="0" endPos="0" fadeDir="0" sx="0" sy="0"/>
                </a:effectLst>
                <a:latin typeface="Helvetica"/>
                <a:ea typeface="Calibri"/>
                <a:cs typeface="Times New Roman"/>
              </a:rPr>
              <a:t>Noting </a:t>
            </a:r>
            <a:r>
              <a:rPr lang="en-AU" sz="2400" kern="0" dirty="0">
                <a:effectLst>
                  <a:glow>
                    <a:srgbClr val="000000"/>
                  </a:glow>
                  <a:outerShdw sx="0" sy="0">
                    <a:srgbClr val="000000"/>
                  </a:outerShdw>
                  <a:reflection stA="0" endPos="0" fadeDir="0" sx="0" sy="0"/>
                </a:effectLst>
                <a:latin typeface="Helvetica"/>
                <a:ea typeface="Calibri"/>
                <a:cs typeface="Times New Roman"/>
              </a:rPr>
              <a:t>possible options for changes to </a:t>
            </a:r>
            <a:r>
              <a:rPr lang="en-AU" sz="2400" kern="0" dirty="0" smtClean="0">
                <a:effectLst>
                  <a:glow>
                    <a:srgbClr val="000000"/>
                  </a:glow>
                  <a:outerShdw sx="0" sy="0">
                    <a:srgbClr val="000000"/>
                  </a:outerShdw>
                  <a:reflection stA="0" endPos="0" fadeDir="0" sx="0" sy="0"/>
                </a:effectLst>
                <a:latin typeface="Helvetica"/>
                <a:ea typeface="Calibri"/>
                <a:cs typeface="Times New Roman"/>
              </a:rPr>
              <a:t/>
            </a:r>
            <a:br>
              <a:rPr lang="en-AU" sz="2400" kern="0" dirty="0" smtClean="0">
                <a:effectLst>
                  <a:glow>
                    <a:srgbClr val="000000"/>
                  </a:glow>
                  <a:outerShdw sx="0" sy="0">
                    <a:srgbClr val="000000"/>
                  </a:outerShdw>
                  <a:reflection stA="0" endPos="0" fadeDir="0" sx="0" sy="0"/>
                </a:effectLst>
                <a:latin typeface="Helvetica"/>
                <a:ea typeface="Calibri"/>
                <a:cs typeface="Times New Roman"/>
              </a:rPr>
            </a:br>
            <a:r>
              <a:rPr lang="en-AU" sz="2400" kern="0" dirty="0" smtClean="0">
                <a:effectLst>
                  <a:glow>
                    <a:srgbClr val="000000"/>
                  </a:glow>
                  <a:outerShdw sx="0" sy="0">
                    <a:srgbClr val="000000"/>
                  </a:outerShdw>
                  <a:reflection stA="0" endPos="0" fadeDir="0" sx="0" sy="0"/>
                </a:effectLst>
                <a:latin typeface="Helvetica"/>
                <a:ea typeface="Calibri"/>
                <a:cs typeface="Times New Roman"/>
              </a:rPr>
              <a:t>scheduled </a:t>
            </a:r>
            <a:r>
              <a:rPr lang="en-AU" sz="2400" kern="0" dirty="0">
                <a:effectLst>
                  <a:glow>
                    <a:srgbClr val="000000"/>
                  </a:glow>
                  <a:outerShdw sx="0" sy="0">
                    <a:srgbClr val="000000"/>
                  </a:outerShdw>
                  <a:reflection stA="0" endPos="0" fadeDir="0" sx="0" sy="0"/>
                </a:effectLst>
                <a:latin typeface="Helvetica"/>
                <a:ea typeface="Calibri"/>
                <a:cs typeface="Times New Roman"/>
              </a:rPr>
              <a:t>transportation to present to </a:t>
            </a:r>
            <a:r>
              <a:rPr lang="en-AU" sz="2400" kern="0" dirty="0" smtClean="0">
                <a:effectLst>
                  <a:glow>
                    <a:srgbClr val="000000"/>
                  </a:glow>
                  <a:outerShdw sx="0" sy="0">
                    <a:srgbClr val="000000"/>
                  </a:outerShdw>
                  <a:reflection stA="0" endPos="0" fadeDir="0" sx="0" sy="0"/>
                </a:effectLst>
                <a:latin typeface="Helvetica"/>
                <a:ea typeface="Calibri"/>
                <a:cs typeface="Times New Roman"/>
              </a:rPr>
              <a:t/>
            </a:r>
            <a:br>
              <a:rPr lang="en-AU" sz="2400" kern="0" dirty="0" smtClean="0">
                <a:effectLst>
                  <a:glow>
                    <a:srgbClr val="000000"/>
                  </a:glow>
                  <a:outerShdw sx="0" sy="0">
                    <a:srgbClr val="000000"/>
                  </a:outerShdw>
                  <a:reflection stA="0" endPos="0" fadeDir="0" sx="0" sy="0"/>
                </a:effectLst>
                <a:latin typeface="Helvetica"/>
                <a:ea typeface="Calibri"/>
                <a:cs typeface="Times New Roman"/>
              </a:rPr>
            </a:br>
            <a:r>
              <a:rPr lang="en-AU" sz="2400" kern="0" dirty="0" smtClean="0">
                <a:effectLst>
                  <a:glow>
                    <a:srgbClr val="000000"/>
                  </a:glow>
                  <a:outerShdw sx="0" sy="0">
                    <a:srgbClr val="000000"/>
                  </a:outerShdw>
                  <a:reflection stA="0" endPos="0" fadeDir="0" sx="0" sy="0"/>
                </a:effectLst>
                <a:latin typeface="Helvetica"/>
                <a:ea typeface="Calibri"/>
                <a:cs typeface="Times New Roman"/>
              </a:rPr>
              <a:t>passenger</a:t>
            </a:r>
            <a:endParaRPr lang="en-AU" sz="2400" u="none" strike="noStrike" kern="0" spc="0" dirty="0">
              <a:ln>
                <a:noFill/>
              </a:ln>
              <a:effectLst>
                <a:glow>
                  <a:srgbClr val="000000"/>
                </a:glow>
                <a:outerShdw sx="0" sy="0">
                  <a:srgbClr val="000000"/>
                </a:outerShdw>
                <a:reflection stA="0" endPos="0" fadeDir="0" sx="0" sy="0"/>
              </a:effectLst>
              <a:latin typeface="Helvetica"/>
              <a:ea typeface="Calibri"/>
              <a:cs typeface="Times New Roman"/>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0231" y="2708920"/>
            <a:ext cx="1790987" cy="2683318"/>
          </a:xfrm>
          <a:prstGeom prst="rect">
            <a:avLst/>
          </a:prstGeom>
        </p:spPr>
      </p:pic>
    </p:spTree>
    <p:extLst>
      <p:ext uri="{BB962C8B-B14F-4D97-AF65-F5344CB8AC3E}">
        <p14:creationId xmlns:p14="http://schemas.microsoft.com/office/powerpoint/2010/main" val="103365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38970"/>
            <a:ext cx="7467600" cy="4458382"/>
          </a:xfrm>
        </p:spPr>
        <p:txBody>
          <a:bodyPr/>
          <a:lstStyle/>
          <a:p>
            <a:pPr marL="36576" indent="0">
              <a:buNone/>
            </a:pPr>
            <a:endParaRPr lang="en-AU" b="1" dirty="0" smtClean="0"/>
          </a:p>
          <a:p>
            <a:pPr>
              <a:lnSpc>
                <a:spcPct val="150000"/>
              </a:lnSpc>
            </a:pPr>
            <a:r>
              <a:rPr lang="en-AU" sz="3200" b="1" dirty="0" smtClean="0">
                <a:latin typeface="Helvetica" pitchFamily="34" charset="0"/>
              </a:rPr>
              <a:t>STOP</a:t>
            </a:r>
            <a:r>
              <a:rPr lang="en-AU" sz="3200" dirty="0">
                <a:latin typeface="Helvetica" pitchFamily="34" charset="0"/>
              </a:rPr>
              <a:t>! </a:t>
            </a:r>
            <a:r>
              <a:rPr lang="en-AU" sz="3200" dirty="0" smtClean="0">
                <a:latin typeface="Helvetica" pitchFamily="34" charset="0"/>
              </a:rPr>
              <a:t>              </a:t>
            </a:r>
            <a:r>
              <a:rPr lang="en-AU" sz="2400" dirty="0" smtClean="0">
                <a:latin typeface="Helvetica" pitchFamily="34" charset="0"/>
              </a:rPr>
              <a:t>Do </a:t>
            </a:r>
            <a:r>
              <a:rPr lang="en-AU" sz="2400" dirty="0">
                <a:latin typeface="Helvetica" pitchFamily="34" charset="0"/>
              </a:rPr>
              <a:t>you have all the details to receive your visitors at the transport terminal</a:t>
            </a:r>
            <a:r>
              <a:rPr lang="en-AU" sz="2400" dirty="0" smtClean="0">
                <a:latin typeface="Helvetica" pitchFamily="34" charset="0"/>
              </a:rPr>
              <a:t>?</a:t>
            </a:r>
          </a:p>
          <a:p>
            <a:pPr>
              <a:lnSpc>
                <a:spcPct val="150000"/>
              </a:lnSpc>
            </a:pPr>
            <a:r>
              <a:rPr lang="en-AU" sz="2400" dirty="0" smtClean="0">
                <a:latin typeface="Helvetica" pitchFamily="34" charset="0"/>
              </a:rPr>
              <a:t>What do you need to know?</a:t>
            </a:r>
            <a:endParaRPr lang="en-AU" sz="2400" dirty="0">
              <a:latin typeface="Helvetica" pitchFamily="34" charset="0"/>
            </a:endParaRPr>
          </a:p>
          <a:p>
            <a:endParaRPr lang="en-AU" sz="2400"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8</a:t>
            </a:fld>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9392" y="1772816"/>
            <a:ext cx="1652528" cy="1596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467544" y="332656"/>
            <a:ext cx="8208912" cy="1143000"/>
          </a:xfrm>
        </p:spPr>
        <p:txBody>
          <a:bodyPr>
            <a:normAutofit fontScale="90000"/>
          </a:bodyPr>
          <a:lstStyle/>
          <a:p>
            <a:pPr marL="712788" lvl="0" indent="-676275">
              <a:spcBef>
                <a:spcPts val="600"/>
              </a:spcBef>
              <a:spcAft>
                <a:spcPts val="1200"/>
              </a:spcAft>
            </a:pPr>
            <a:r>
              <a:rPr lang="en-US" sz="3400" b="1" dirty="0" smtClean="0">
                <a:solidFill>
                  <a:srgbClr val="FF6600"/>
                </a:solidFill>
                <a:latin typeface="Helvetica" pitchFamily="34" charset="0"/>
              </a:rPr>
              <a:t>1.1	</a:t>
            </a:r>
            <a:r>
              <a:rPr lang="en-AU" sz="3100" b="1" dirty="0" smtClean="0">
                <a:solidFill>
                  <a:srgbClr val="FF6600"/>
                </a:solidFill>
                <a:latin typeface="Helvetica" pitchFamily="34" charset="0"/>
              </a:rPr>
              <a:t>Check </a:t>
            </a:r>
            <a:r>
              <a:rPr lang="en-AU" sz="3100" b="1" dirty="0">
                <a:solidFill>
                  <a:srgbClr val="FF6600"/>
                </a:solidFill>
                <a:latin typeface="Helvetica" pitchFamily="34" charset="0"/>
              </a:rPr>
              <a:t>itinerary of arriving passengers to identify and action alterations as </a:t>
            </a:r>
            <a:r>
              <a:rPr lang="en-AU" sz="3100" b="1" dirty="0" smtClean="0">
                <a:solidFill>
                  <a:srgbClr val="FF6600"/>
                </a:solidFill>
                <a:latin typeface="Helvetica" pitchFamily="34" charset="0"/>
              </a:rPr>
              <a:t>required</a:t>
            </a:r>
            <a:endParaRPr lang="en-US" sz="3100" b="1" dirty="0">
              <a:solidFill>
                <a:srgbClr val="FF6600"/>
              </a:solidFill>
              <a:latin typeface="Helvetica" pitchFamily="34" charset="0"/>
            </a:endParaRPr>
          </a:p>
        </p:txBody>
      </p:sp>
    </p:spTree>
    <p:extLst>
      <p:ext uri="{BB962C8B-B14F-4D97-AF65-F5344CB8AC3E}">
        <p14:creationId xmlns:p14="http://schemas.microsoft.com/office/powerpoint/2010/main" val="225956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56792"/>
            <a:ext cx="7467600" cy="5357192"/>
          </a:xfrm>
        </p:spPr>
        <p:txBody>
          <a:bodyPr>
            <a:noAutofit/>
          </a:bodyPr>
          <a:lstStyle/>
          <a:p>
            <a:pPr>
              <a:lnSpc>
                <a:spcPct val="115000"/>
              </a:lnSpc>
              <a:spcAft>
                <a:spcPts val="1000"/>
              </a:spcAft>
            </a:pPr>
            <a:r>
              <a:rPr lang="en-AU" sz="2000" dirty="0">
                <a:latin typeface="Helvetica" panose="000B0500000000000000" pitchFamily="34" charset="0"/>
                <a:ea typeface="Times New Roman"/>
                <a:cs typeface="Times New Roman"/>
              </a:rPr>
              <a:t>Visitors’ name list </a:t>
            </a:r>
          </a:p>
          <a:p>
            <a:pPr>
              <a:spcBef>
                <a:spcPts val="400"/>
              </a:spcBef>
              <a:spcAft>
                <a:spcPts val="800"/>
              </a:spcAft>
            </a:pPr>
            <a:r>
              <a:rPr lang="en-AU" sz="2000" dirty="0">
                <a:latin typeface="Helvetica" panose="000B0500000000000000" pitchFamily="34" charset="0"/>
                <a:ea typeface="Times New Roman"/>
                <a:cs typeface="Times New Roman"/>
              </a:rPr>
              <a:t>Arrival time, delays and cancellations</a:t>
            </a:r>
          </a:p>
          <a:p>
            <a:pPr>
              <a:spcBef>
                <a:spcPts val="400"/>
              </a:spcBef>
              <a:spcAft>
                <a:spcPts val="800"/>
              </a:spcAft>
            </a:pPr>
            <a:r>
              <a:rPr lang="en-AU" sz="2000" dirty="0">
                <a:latin typeface="Helvetica" panose="000B0500000000000000" pitchFamily="34" charset="0"/>
                <a:ea typeface="Times New Roman"/>
                <a:cs typeface="Times New Roman"/>
              </a:rPr>
              <a:t>Terminal and Gate number</a:t>
            </a:r>
          </a:p>
          <a:p>
            <a:pPr>
              <a:spcBef>
                <a:spcPts val="400"/>
              </a:spcBef>
              <a:spcAft>
                <a:spcPts val="800"/>
              </a:spcAft>
            </a:pPr>
            <a:r>
              <a:rPr lang="en-AU" sz="2000" dirty="0">
                <a:latin typeface="Helvetica" panose="000B0500000000000000" pitchFamily="34" charset="0"/>
                <a:ea typeface="Times New Roman"/>
                <a:cs typeface="Times New Roman"/>
              </a:rPr>
              <a:t>Baggage Claim Belt Numbers</a:t>
            </a:r>
          </a:p>
          <a:p>
            <a:pPr>
              <a:lnSpc>
                <a:spcPct val="115000"/>
              </a:lnSpc>
              <a:spcAft>
                <a:spcPts val="1000"/>
              </a:spcAft>
            </a:pPr>
            <a:r>
              <a:rPr lang="en-AU" sz="2000" dirty="0">
                <a:latin typeface="Helvetica" panose="000B0500000000000000" pitchFamily="34" charset="0"/>
                <a:ea typeface="Times New Roman"/>
                <a:cs typeface="Times New Roman"/>
              </a:rPr>
              <a:t>Type of </a:t>
            </a:r>
            <a:r>
              <a:rPr lang="en-AU" sz="2000" dirty="0" smtClean="0">
                <a:latin typeface="Helvetica" panose="000B0500000000000000" pitchFamily="34" charset="0"/>
                <a:ea typeface="Times New Roman"/>
                <a:cs typeface="Times New Roman"/>
              </a:rPr>
              <a:t>Tour:</a:t>
            </a:r>
            <a:endParaRPr lang="en-AU" sz="2000" dirty="0">
              <a:latin typeface="Helvetica" panose="000B0500000000000000" pitchFamily="34" charset="0"/>
              <a:ea typeface="Times New Roman"/>
              <a:cs typeface="Times New Roman"/>
            </a:endParaRPr>
          </a:p>
          <a:p>
            <a:pPr lvl="1">
              <a:lnSpc>
                <a:spcPct val="115000"/>
              </a:lnSpc>
              <a:spcAft>
                <a:spcPts val="1000"/>
              </a:spcAft>
            </a:pPr>
            <a:r>
              <a:rPr lang="en-AU" sz="2000" dirty="0">
                <a:latin typeface="Helvetica" panose="000B0500000000000000" pitchFamily="34" charset="0"/>
                <a:ea typeface="Times New Roman"/>
                <a:cs typeface="Times New Roman"/>
              </a:rPr>
              <a:t>Independent Vacation </a:t>
            </a:r>
          </a:p>
          <a:p>
            <a:pPr lvl="1">
              <a:lnSpc>
                <a:spcPct val="115000"/>
              </a:lnSpc>
              <a:spcAft>
                <a:spcPts val="1000"/>
              </a:spcAft>
            </a:pPr>
            <a:r>
              <a:rPr lang="en-AU" sz="2000" dirty="0">
                <a:latin typeface="Helvetica" panose="000B0500000000000000" pitchFamily="34" charset="0"/>
                <a:ea typeface="Times New Roman"/>
                <a:cs typeface="Times New Roman"/>
              </a:rPr>
              <a:t>Guided/Hosted Tour </a:t>
            </a:r>
          </a:p>
          <a:p>
            <a:pPr>
              <a:lnSpc>
                <a:spcPct val="115000"/>
              </a:lnSpc>
              <a:spcAft>
                <a:spcPts val="1000"/>
              </a:spcAft>
            </a:pPr>
            <a:r>
              <a:rPr lang="en-AU" sz="2000" dirty="0">
                <a:latin typeface="Helvetica" panose="020B0604020202020204" pitchFamily="34" charset="0"/>
                <a:ea typeface="Times New Roman"/>
                <a:cs typeface="Helvetica" panose="020B0604020202020204" pitchFamily="34" charset="0"/>
              </a:rPr>
              <a:t>Length of Tour</a:t>
            </a:r>
          </a:p>
          <a:p>
            <a:pPr>
              <a:lnSpc>
                <a:spcPct val="115000"/>
              </a:lnSpc>
              <a:spcAft>
                <a:spcPts val="1000"/>
              </a:spcAft>
            </a:pPr>
            <a:r>
              <a:rPr lang="en-AU" sz="2000" dirty="0">
                <a:latin typeface="Helvetica" panose="020B0604020202020204" pitchFamily="34" charset="0"/>
                <a:ea typeface="Times New Roman"/>
                <a:cs typeface="Helvetica" panose="020B0604020202020204" pitchFamily="34" charset="0"/>
              </a:rPr>
              <a:t>Time </a:t>
            </a:r>
            <a:r>
              <a:rPr lang="en-AU" sz="2000" dirty="0" smtClean="0">
                <a:latin typeface="Helvetica" panose="020B0604020202020204" pitchFamily="34" charset="0"/>
                <a:ea typeface="Times New Roman"/>
                <a:cs typeface="Helvetica" panose="020B0604020202020204" pitchFamily="34" charset="0"/>
              </a:rPr>
              <a:t>Schedule</a:t>
            </a:r>
          </a:p>
          <a:p>
            <a:pPr>
              <a:lnSpc>
                <a:spcPct val="115000"/>
              </a:lnSpc>
              <a:spcAft>
                <a:spcPts val="1000"/>
              </a:spcAft>
            </a:pPr>
            <a:r>
              <a:rPr lang="en-AU" sz="2000" dirty="0" smtClean="0">
                <a:latin typeface="Helvetica" panose="020B0604020202020204" pitchFamily="34" charset="0"/>
                <a:ea typeface="Times New Roman"/>
                <a:cs typeface="Helvetica" panose="020B0604020202020204" pitchFamily="34" charset="0"/>
              </a:rPr>
              <a:t>Anything else?</a:t>
            </a:r>
            <a:endParaRPr lang="en-AU" sz="2000" dirty="0">
              <a:latin typeface="Helvetica" panose="020B0604020202020204" pitchFamily="34" charset="0"/>
              <a:ea typeface="Times New Roman"/>
              <a:cs typeface="Helvetica" panose="020B0604020202020204" pitchFamily="34" charset="0"/>
            </a:endParaRPr>
          </a:p>
          <a:p>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9</a:t>
            </a:fld>
            <a:endParaRPr lang="en-US" dirty="0"/>
          </a:p>
        </p:txBody>
      </p:sp>
      <p:sp>
        <p:nvSpPr>
          <p:cNvPr id="6" name="Title 1"/>
          <p:cNvSpPr>
            <a:spLocks noGrp="1"/>
          </p:cNvSpPr>
          <p:nvPr>
            <p:ph type="title"/>
          </p:nvPr>
        </p:nvSpPr>
        <p:spPr>
          <a:xfrm>
            <a:off x="467544" y="332656"/>
            <a:ext cx="8208912" cy="1143000"/>
          </a:xfrm>
        </p:spPr>
        <p:txBody>
          <a:bodyPr>
            <a:normAutofit fontScale="90000"/>
          </a:bodyPr>
          <a:lstStyle/>
          <a:p>
            <a:pPr marL="712788" lvl="0" indent="-676275">
              <a:spcBef>
                <a:spcPts val="600"/>
              </a:spcBef>
              <a:spcAft>
                <a:spcPts val="1200"/>
              </a:spcAft>
            </a:pPr>
            <a:r>
              <a:rPr lang="en-US" sz="3400" b="1" dirty="0" smtClean="0">
                <a:solidFill>
                  <a:srgbClr val="FF6600"/>
                </a:solidFill>
                <a:latin typeface="Helvetica" pitchFamily="34" charset="0"/>
              </a:rPr>
              <a:t>1.1	</a:t>
            </a:r>
            <a:r>
              <a:rPr lang="en-AU" sz="3100" b="1" dirty="0" smtClean="0">
                <a:solidFill>
                  <a:srgbClr val="FF6600"/>
                </a:solidFill>
                <a:latin typeface="Helvetica" pitchFamily="34" charset="0"/>
              </a:rPr>
              <a:t>Check </a:t>
            </a:r>
            <a:r>
              <a:rPr lang="en-AU" sz="3100" b="1" dirty="0">
                <a:solidFill>
                  <a:srgbClr val="FF6600"/>
                </a:solidFill>
                <a:latin typeface="Helvetica" pitchFamily="34" charset="0"/>
              </a:rPr>
              <a:t>itinerary of arriving passengers to identify and action alterations as </a:t>
            </a:r>
            <a:r>
              <a:rPr lang="en-AU" sz="3100" b="1" dirty="0" smtClean="0">
                <a:solidFill>
                  <a:srgbClr val="FF6600"/>
                </a:solidFill>
                <a:latin typeface="Helvetica" pitchFamily="34" charset="0"/>
              </a:rPr>
              <a:t>required</a:t>
            </a:r>
            <a:endParaRPr lang="en-US" sz="31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1828688"/>
            <a:ext cx="2232248" cy="3336693"/>
          </a:xfrm>
          <a:prstGeom prst="rect">
            <a:avLst/>
          </a:prstGeom>
        </p:spPr>
      </p:pic>
    </p:spTree>
    <p:extLst>
      <p:ext uri="{BB962C8B-B14F-4D97-AF65-F5344CB8AC3E}">
        <p14:creationId xmlns:p14="http://schemas.microsoft.com/office/powerpoint/2010/main" val="406620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lvl="0" indent="-676275">
              <a:spcBef>
                <a:spcPts val="600"/>
              </a:spcBef>
              <a:spcAft>
                <a:spcPts val="1200"/>
              </a:spcAft>
            </a:pPr>
            <a:r>
              <a:rPr lang="en-US" sz="2800" b="1" dirty="0" smtClean="0">
                <a:solidFill>
                  <a:srgbClr val="FF6600"/>
                </a:solidFill>
                <a:latin typeface="Helvetica" pitchFamily="34" charset="0"/>
              </a:rPr>
              <a:t>1.2	</a:t>
            </a:r>
            <a:r>
              <a:rPr lang="en-AU" sz="2800" b="1" dirty="0" smtClean="0">
                <a:solidFill>
                  <a:srgbClr val="FF6600"/>
                </a:solidFill>
                <a:latin typeface="Helvetica" pitchFamily="34" charset="0"/>
              </a:rPr>
              <a:t>Confirm </a:t>
            </a:r>
            <a:r>
              <a:rPr lang="en-AU" sz="2800" b="1" dirty="0">
                <a:solidFill>
                  <a:srgbClr val="FF6600"/>
                </a:solidFill>
                <a:latin typeface="Helvetica" pitchFamily="34" charset="0"/>
              </a:rPr>
              <a:t>transport arrangements, where </a:t>
            </a:r>
            <a:r>
              <a:rPr lang="en-AU" sz="2800" b="1" dirty="0" smtClean="0">
                <a:solidFill>
                  <a:srgbClr val="FF6600"/>
                </a:solidFill>
                <a:latin typeface="Helvetica" pitchFamily="34" charset="0"/>
              </a:rPr>
              <a:t>applicable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lvl="0" indent="0">
              <a:spcBef>
                <a:spcPts val="400"/>
              </a:spcBef>
              <a:spcAft>
                <a:spcPts val="800"/>
              </a:spcAft>
              <a:buClrTx/>
              <a:buSzTx/>
              <a:buNone/>
            </a:pPr>
            <a:r>
              <a:rPr lang="en-AU" sz="2400" dirty="0" smtClean="0">
                <a:solidFill>
                  <a:prstClr val="black"/>
                </a:solidFill>
                <a:latin typeface="Helvetica"/>
                <a:ea typeface="Calibri"/>
                <a:cs typeface="Calibri"/>
              </a:rPr>
              <a:t>Confirming </a:t>
            </a:r>
            <a:r>
              <a:rPr lang="en-AU" sz="2400" dirty="0">
                <a:solidFill>
                  <a:prstClr val="black"/>
                </a:solidFill>
                <a:latin typeface="Helvetica"/>
                <a:ea typeface="Calibri"/>
                <a:cs typeface="Calibri"/>
              </a:rPr>
              <a:t>transport arrangements will include</a:t>
            </a:r>
            <a:r>
              <a:rPr lang="en-AU" sz="2400" dirty="0" smtClean="0">
                <a:solidFill>
                  <a:prstClr val="black"/>
                </a:solidFill>
                <a:latin typeface="Helvetica"/>
                <a:ea typeface="Calibri"/>
                <a:cs typeface="Calibri"/>
              </a:rPr>
              <a:t>:</a:t>
            </a:r>
          </a:p>
          <a:p>
            <a:pPr lvl="0">
              <a:spcBef>
                <a:spcPts val="600"/>
              </a:spcBef>
              <a:spcAft>
                <a:spcPts val="1200"/>
              </a:spcAft>
              <a:buClr>
                <a:srgbClr val="7FD13B"/>
              </a:buClr>
            </a:pPr>
            <a:r>
              <a:rPr lang="en-AU" sz="2400" kern="0" dirty="0" smtClean="0">
                <a:solidFill>
                  <a:prstClr val="black"/>
                </a:solidFill>
                <a:effectLst>
                  <a:glow>
                    <a:srgbClr val="000000"/>
                  </a:glow>
                  <a:outerShdw sx="0" sy="0">
                    <a:srgbClr val="000000"/>
                  </a:outerShdw>
                  <a:reflection stA="0" endPos="0" fadeDir="0" sx="0" sy="0"/>
                </a:effectLst>
                <a:latin typeface="Helvetica"/>
                <a:ea typeface="Calibri"/>
                <a:cs typeface="Times New Roman"/>
              </a:rPr>
              <a:t>Contacting carrier</a:t>
            </a:r>
          </a:p>
          <a:p>
            <a:pPr lvl="0">
              <a:spcBef>
                <a:spcPts val="600"/>
              </a:spcBef>
              <a:spcAft>
                <a:spcPts val="1200"/>
              </a:spcAft>
              <a:buClr>
                <a:srgbClr val="7FD13B"/>
              </a:buClr>
            </a:pPr>
            <a:r>
              <a:rPr lang="en-AU" sz="2400" kern="0" dirty="0" smtClean="0">
                <a:solidFill>
                  <a:prstClr val="black"/>
                </a:solidFill>
                <a:effectLst>
                  <a:glow>
                    <a:srgbClr val="000000"/>
                  </a:glow>
                  <a:outerShdw sx="0" sy="0">
                    <a:srgbClr val="000000"/>
                  </a:outerShdw>
                  <a:reflection stA="0" endPos="0" fadeDir="0" sx="0" sy="0"/>
                </a:effectLst>
                <a:latin typeface="Helvetica"/>
                <a:ea typeface="Calibri"/>
                <a:cs typeface="Times New Roman"/>
              </a:rPr>
              <a:t>Verifying </a:t>
            </a:r>
            <a:r>
              <a:rPr lang="en-AU" sz="2400" kern="0" dirty="0">
                <a:solidFill>
                  <a:prstClr val="black"/>
                </a:solidFill>
                <a:effectLst>
                  <a:glow>
                    <a:srgbClr val="000000"/>
                  </a:glow>
                  <a:outerShdw sx="0" sy="0">
                    <a:srgbClr val="000000"/>
                  </a:outerShdw>
                  <a:reflection stA="0" endPos="0" fadeDir="0" sx="0" sy="0"/>
                </a:effectLst>
                <a:latin typeface="Helvetica"/>
                <a:ea typeface="Calibri"/>
                <a:cs typeface="Times New Roman"/>
              </a:rPr>
              <a:t>that scheduled transportation is confirmed by date, time and departure </a:t>
            </a:r>
            <a:r>
              <a:rPr lang="en-AU" sz="2400" kern="0" dirty="0" smtClean="0">
                <a:solidFill>
                  <a:prstClr val="black"/>
                </a:solidFill>
                <a:effectLst>
                  <a:glow>
                    <a:srgbClr val="000000"/>
                  </a:glow>
                  <a:outerShdw sx="0" sy="0">
                    <a:srgbClr val="000000"/>
                  </a:outerShdw>
                  <a:reflection stA="0" endPos="0" fadeDir="0" sx="0" sy="0"/>
                </a:effectLst>
                <a:latin typeface="Helvetica"/>
                <a:ea typeface="Calibri"/>
                <a:cs typeface="Times New Roman"/>
              </a:rPr>
              <a:t/>
            </a:r>
            <a:br>
              <a:rPr lang="en-AU" sz="2400" kern="0" dirty="0" smtClean="0">
                <a:solidFill>
                  <a:prstClr val="black"/>
                </a:solidFill>
                <a:effectLst>
                  <a:glow>
                    <a:srgbClr val="000000"/>
                  </a:glow>
                  <a:outerShdw sx="0" sy="0">
                    <a:srgbClr val="000000"/>
                  </a:outerShdw>
                  <a:reflection stA="0" endPos="0" fadeDir="0" sx="0" sy="0"/>
                </a:effectLst>
                <a:latin typeface="Helvetica"/>
                <a:ea typeface="Calibri"/>
                <a:cs typeface="Times New Roman"/>
              </a:rPr>
            </a:br>
            <a:r>
              <a:rPr lang="en-AU" sz="2400" kern="0" dirty="0" smtClean="0">
                <a:solidFill>
                  <a:prstClr val="black"/>
                </a:solidFill>
                <a:effectLst>
                  <a:glow>
                    <a:srgbClr val="000000"/>
                  </a:glow>
                  <a:outerShdw sx="0" sy="0">
                    <a:srgbClr val="000000"/>
                  </a:outerShdw>
                  <a:reflection stA="0" endPos="0" fadeDir="0" sx="0" sy="0"/>
                </a:effectLst>
                <a:latin typeface="Helvetica"/>
                <a:ea typeface="Calibri"/>
                <a:cs typeface="Times New Roman"/>
              </a:rPr>
              <a:t>destination</a:t>
            </a:r>
            <a:endParaRPr lang="en-AU" sz="2400" kern="0" dirty="0">
              <a:solidFill>
                <a:prstClr val="black"/>
              </a:solidFill>
              <a:effectLst>
                <a:glow>
                  <a:srgbClr val="000000"/>
                </a:glow>
                <a:outerShdw sx="0" sy="0">
                  <a:srgbClr val="000000"/>
                </a:outerShdw>
                <a:reflection stA="0" endPos="0" fadeDir="0" sx="0" sy="0"/>
              </a:effectLst>
              <a:latin typeface="Helvetica"/>
              <a:ea typeface="Calibri"/>
              <a:cs typeface="Times New Roman"/>
            </a:endParaRPr>
          </a:p>
          <a:p>
            <a:pPr marL="0" indent="0">
              <a:spcBef>
                <a:spcPts val="600"/>
              </a:spcBef>
              <a:spcAft>
                <a:spcPts val="1200"/>
              </a:spcAft>
              <a:buNone/>
            </a:pPr>
            <a:endParaRPr lang="en-AU" sz="2400" dirty="0" smtClean="0">
              <a:latin typeface="Helvetica" pitchFamily="34" charset="0"/>
            </a:endParaRPr>
          </a:p>
          <a:p>
            <a:pPr marL="360000" indent="-360000">
              <a:spcBef>
                <a:spcPts val="600"/>
              </a:spcBef>
              <a:spcAft>
                <a:spcPts val="1200"/>
              </a:spcAft>
              <a:buNone/>
            </a:pPr>
            <a:endParaRPr lang="en-US"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20207" y="3933056"/>
            <a:ext cx="3048000" cy="228600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46010" y="2389826"/>
            <a:ext cx="1642966" cy="1347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spcBef>
                <a:spcPts val="600"/>
              </a:spcBef>
              <a:spcAft>
                <a:spcPts val="1200"/>
              </a:spcAft>
              <a:buNone/>
            </a:pPr>
            <a:r>
              <a:rPr lang="en-AU" sz="2200" dirty="0">
                <a:latin typeface="Helvetica" pitchFamily="34" charset="0"/>
              </a:rPr>
              <a:t>When aiming to build rapport and friendship with the transport representative especially the drivers, you are required to contact and brief them on the arrangements for the arrival of visitors.  Information required is:</a:t>
            </a:r>
          </a:p>
          <a:p>
            <a:pPr marL="360000" lvl="0" indent="-360000" fontAlgn="base">
              <a:spcBef>
                <a:spcPts val="600"/>
              </a:spcBef>
              <a:spcAft>
                <a:spcPts val="1200"/>
              </a:spcAft>
            </a:pPr>
            <a:r>
              <a:rPr lang="en-AU" sz="2200" dirty="0">
                <a:latin typeface="Helvetica" pitchFamily="34" charset="0"/>
              </a:rPr>
              <a:t>Your name</a:t>
            </a:r>
          </a:p>
          <a:p>
            <a:pPr marL="360000" lvl="0" indent="-360000" fontAlgn="base">
              <a:spcBef>
                <a:spcPts val="600"/>
              </a:spcBef>
              <a:spcAft>
                <a:spcPts val="1200"/>
              </a:spcAft>
            </a:pPr>
            <a:r>
              <a:rPr lang="en-AU" sz="2200" dirty="0">
                <a:latin typeface="Helvetica" pitchFamily="34" charset="0"/>
              </a:rPr>
              <a:t>Profile of visitors</a:t>
            </a:r>
          </a:p>
          <a:p>
            <a:pPr marL="360000" lvl="0" indent="-360000" fontAlgn="base">
              <a:spcBef>
                <a:spcPts val="600"/>
              </a:spcBef>
              <a:spcAft>
                <a:spcPts val="1200"/>
              </a:spcAft>
            </a:pPr>
            <a:r>
              <a:rPr lang="en-AU" sz="2200" dirty="0">
                <a:latin typeface="Helvetica" pitchFamily="34" charset="0"/>
              </a:rPr>
              <a:t>Arrival information</a:t>
            </a:r>
          </a:p>
          <a:p>
            <a:pPr marL="360000" lvl="0" indent="-360000" fontAlgn="base">
              <a:spcBef>
                <a:spcPts val="600"/>
              </a:spcBef>
              <a:spcAft>
                <a:spcPts val="1200"/>
              </a:spcAft>
            </a:pPr>
            <a:r>
              <a:rPr lang="en-AU" sz="2200" dirty="0">
                <a:latin typeface="Helvetica" pitchFamily="34" charset="0"/>
              </a:rPr>
              <a:t>Tour route and </a:t>
            </a:r>
            <a:r>
              <a:rPr lang="en-AU" sz="2200" dirty="0" smtClean="0">
                <a:latin typeface="Helvetica" pitchFamily="34" charset="0"/>
              </a:rPr>
              <a:t>destination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11</a:t>
            </a:fld>
            <a:endParaRPr lang="en-US" dirty="0"/>
          </a:p>
        </p:txBody>
      </p:sp>
      <p:sp>
        <p:nvSpPr>
          <p:cNvPr id="6" name="Title 1"/>
          <p:cNvSpPr txBox="1">
            <a:spLocks/>
          </p:cNvSpPr>
          <p:nvPr/>
        </p:nvSpPr>
        <p:spPr>
          <a:xfrm>
            <a:off x="611560" y="332656"/>
            <a:ext cx="7467600" cy="1143000"/>
          </a:xfrm>
          <a:prstGeom prst="rect">
            <a:avLst/>
          </a:prstGeom>
        </p:spPr>
        <p:txBody>
          <a:bodyPr vert="horz" lIns="45720" rIns="45720" anchor="ctr">
            <a:normAutofit/>
          </a:bodyPr>
          <a:lstStyle>
            <a:lvl1pPr algn="l" rtl="0" eaLnBrk="1" latinLnBrk="0" hangingPunct="1">
              <a:spcBef>
                <a:spcPct val="0"/>
              </a:spcBef>
              <a:buNone/>
              <a:defRPr kumimoji="0" sz="4600" kern="1200">
                <a:solidFill>
                  <a:schemeClr val="tx1"/>
                </a:solidFill>
                <a:latin typeface="+mj-lt"/>
                <a:ea typeface="+mj-ea"/>
                <a:cs typeface="+mj-cs"/>
              </a:defRPr>
            </a:lvl1pPr>
          </a:lstStyle>
          <a:p>
            <a:pPr marL="712788" indent="-676275">
              <a:spcBef>
                <a:spcPts val="600"/>
              </a:spcBef>
              <a:spcAft>
                <a:spcPts val="1200"/>
              </a:spcAft>
            </a:pPr>
            <a:r>
              <a:rPr lang="en-US" sz="2800" b="1" dirty="0" smtClean="0">
                <a:solidFill>
                  <a:srgbClr val="FF6600"/>
                </a:solidFill>
                <a:latin typeface="Helvetica" pitchFamily="34" charset="0"/>
              </a:rPr>
              <a:t>1.2	</a:t>
            </a:r>
            <a:r>
              <a:rPr lang="en-AU" sz="2800" b="1" dirty="0" smtClean="0">
                <a:solidFill>
                  <a:srgbClr val="FF6600"/>
                </a:solidFill>
                <a:latin typeface="Helvetica" pitchFamily="34" charset="0"/>
              </a:rPr>
              <a:t>Confirm transport arrangements, where applicable</a:t>
            </a:r>
            <a:endParaRPr lang="en-US" sz="28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3905" y="3261510"/>
            <a:ext cx="3048000" cy="2033016"/>
          </a:xfrm>
          <a:prstGeom prst="rect">
            <a:avLst/>
          </a:prstGeom>
        </p:spPr>
      </p:pic>
    </p:spTree>
    <p:extLst>
      <p:ext uri="{BB962C8B-B14F-4D97-AF65-F5344CB8AC3E}">
        <p14:creationId xmlns:p14="http://schemas.microsoft.com/office/powerpoint/2010/main" val="2090103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spcBef>
                <a:spcPts val="1200"/>
              </a:spcBef>
              <a:spcAft>
                <a:spcPts val="1200"/>
              </a:spcAft>
            </a:pPr>
            <a:r>
              <a:rPr lang="en-AU" sz="2400" dirty="0">
                <a:latin typeface="Helvetica" pitchFamily="34" charset="0"/>
              </a:rPr>
              <a:t>How are we going to ensure that all visitors’ luggage is collected and safely placed in the </a:t>
            </a:r>
            <a:r>
              <a:rPr lang="en-AU" sz="2400" dirty="0" smtClean="0">
                <a:latin typeface="Helvetica" pitchFamily="34" charset="0"/>
              </a:rPr>
              <a:t>transport vehicle</a:t>
            </a:r>
            <a:r>
              <a:rPr lang="en-AU" sz="2400" dirty="0">
                <a:latin typeface="Helvetica" pitchFamily="34" charset="0"/>
              </a:rPr>
              <a:t>?</a:t>
            </a:r>
          </a:p>
          <a:p>
            <a:pPr lvl="0">
              <a:spcBef>
                <a:spcPts val="1200"/>
              </a:spcBef>
              <a:spcAft>
                <a:spcPts val="1200"/>
              </a:spcAft>
            </a:pPr>
            <a:r>
              <a:rPr lang="en-AU" sz="2400" dirty="0">
                <a:latin typeface="Helvetica" pitchFamily="34" charset="0"/>
              </a:rPr>
              <a:t>Confirming with the driver if there are any known delays or detours to tour routes </a:t>
            </a:r>
            <a:endParaRPr lang="en-AU" sz="2400" dirty="0" smtClean="0">
              <a:latin typeface="Helvetica" pitchFamily="34" charset="0"/>
            </a:endParaRPr>
          </a:p>
          <a:p>
            <a:pPr marL="36576" lvl="0" indent="0">
              <a:spcBef>
                <a:spcPts val="1200"/>
              </a:spcBef>
              <a:spcAft>
                <a:spcPts val="1200"/>
              </a:spcAft>
              <a:buNone/>
            </a:pPr>
            <a:r>
              <a:rPr lang="en-AU" sz="24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fld id="{90BDF71C-F485-43AE-8825-5070AF1EA8C9}" type="slidenum">
              <a:rPr lang="en-US" smtClean="0"/>
              <a:pPr/>
              <a:t>12</a:t>
            </a:fld>
            <a:endParaRPr lang="en-US" dirty="0"/>
          </a:p>
        </p:txBody>
      </p:sp>
      <p:sp>
        <p:nvSpPr>
          <p:cNvPr id="6" name="Title 1"/>
          <p:cNvSpPr txBox="1">
            <a:spLocks/>
          </p:cNvSpPr>
          <p:nvPr/>
        </p:nvSpPr>
        <p:spPr>
          <a:xfrm>
            <a:off x="611560" y="332656"/>
            <a:ext cx="7467600" cy="1143000"/>
          </a:xfrm>
          <a:prstGeom prst="rect">
            <a:avLst/>
          </a:prstGeom>
        </p:spPr>
        <p:txBody>
          <a:bodyPr vert="horz" lIns="45720" rIns="45720" anchor="ctr">
            <a:normAutofit/>
          </a:bodyPr>
          <a:lstStyle>
            <a:lvl1pPr algn="l" rtl="0" eaLnBrk="1" latinLnBrk="0" hangingPunct="1">
              <a:spcBef>
                <a:spcPct val="0"/>
              </a:spcBef>
              <a:buNone/>
              <a:defRPr kumimoji="0" sz="4600" kern="1200">
                <a:solidFill>
                  <a:schemeClr val="tx1"/>
                </a:solidFill>
                <a:latin typeface="+mj-lt"/>
                <a:ea typeface="+mj-ea"/>
                <a:cs typeface="+mj-cs"/>
              </a:defRPr>
            </a:lvl1pPr>
          </a:lstStyle>
          <a:p>
            <a:pPr marL="712788" indent="-676275">
              <a:spcBef>
                <a:spcPts val="600"/>
              </a:spcBef>
              <a:spcAft>
                <a:spcPts val="1200"/>
              </a:spcAft>
            </a:pPr>
            <a:r>
              <a:rPr lang="en-US" sz="2800" b="1" dirty="0" smtClean="0">
                <a:solidFill>
                  <a:srgbClr val="FF6600"/>
                </a:solidFill>
                <a:latin typeface="Helvetica" pitchFamily="34" charset="0"/>
              </a:rPr>
              <a:t>1.2	</a:t>
            </a:r>
            <a:r>
              <a:rPr lang="en-AU" sz="2800" b="1" dirty="0" smtClean="0">
                <a:solidFill>
                  <a:srgbClr val="FF6600"/>
                </a:solidFill>
                <a:latin typeface="Helvetica" pitchFamily="34" charset="0"/>
              </a:rPr>
              <a:t>Confirm transport arrangements, where applicable</a:t>
            </a:r>
            <a:endParaRPr lang="en-US" sz="28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55776" y="4005064"/>
            <a:ext cx="3048000" cy="2033016"/>
          </a:xfrm>
          <a:prstGeom prst="rect">
            <a:avLst/>
          </a:prstGeom>
        </p:spPr>
      </p:pic>
    </p:spTree>
    <p:extLst>
      <p:ext uri="{BB962C8B-B14F-4D97-AF65-F5344CB8AC3E}">
        <p14:creationId xmlns:p14="http://schemas.microsoft.com/office/powerpoint/2010/main" val="128280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4784"/>
            <a:ext cx="7715200" cy="4525963"/>
          </a:xfrm>
        </p:spPr>
        <p:txBody>
          <a:bodyPr>
            <a:normAutofit/>
          </a:bodyPr>
          <a:lstStyle/>
          <a:p>
            <a:pPr lvl="0">
              <a:lnSpc>
                <a:spcPct val="150000"/>
              </a:lnSpc>
            </a:pPr>
            <a:r>
              <a:rPr lang="en-AU" sz="2200" dirty="0" smtClean="0">
                <a:latin typeface="Helvetica" pitchFamily="34" charset="0"/>
              </a:rPr>
              <a:t>The </a:t>
            </a:r>
            <a:r>
              <a:rPr lang="en-AU" sz="2200" dirty="0">
                <a:latin typeface="Helvetica" pitchFamily="34" charset="0"/>
              </a:rPr>
              <a:t>driver should have </a:t>
            </a:r>
            <a:r>
              <a:rPr lang="en-AU" sz="2200" dirty="0" smtClean="0">
                <a:latin typeface="Helvetica" pitchFamily="34" charset="0"/>
              </a:rPr>
              <a:t>a printed detailed attendance </a:t>
            </a:r>
            <a:r>
              <a:rPr lang="en-AU" sz="2200" dirty="0">
                <a:latin typeface="Helvetica" pitchFamily="34" charset="0"/>
              </a:rPr>
              <a:t>list </a:t>
            </a:r>
            <a:r>
              <a:rPr lang="en-AU" sz="2200" dirty="0" smtClean="0">
                <a:latin typeface="Helvetica" pitchFamily="34" charset="0"/>
              </a:rPr>
              <a:t>so at </a:t>
            </a:r>
            <a:r>
              <a:rPr lang="en-AU" sz="2200" dirty="0">
                <a:latin typeface="Helvetica" pitchFamily="34" charset="0"/>
              </a:rPr>
              <a:t>every stop </a:t>
            </a:r>
            <a:r>
              <a:rPr lang="en-AU" sz="2200" dirty="0" smtClean="0">
                <a:latin typeface="Helvetica" pitchFamily="34" charset="0"/>
              </a:rPr>
              <a:t>whether </a:t>
            </a:r>
            <a:r>
              <a:rPr lang="en-AU" sz="2200" dirty="0">
                <a:latin typeface="Helvetica" pitchFamily="34" charset="0"/>
              </a:rPr>
              <a:t>it is for a toilet break, custom </a:t>
            </a:r>
            <a:r>
              <a:rPr lang="en-AU" sz="2200" dirty="0" smtClean="0">
                <a:latin typeface="Helvetica" pitchFamily="34" charset="0"/>
              </a:rPr>
              <a:t>checkpoint, emergency </a:t>
            </a:r>
            <a:r>
              <a:rPr lang="en-AU" sz="2200" dirty="0">
                <a:latin typeface="Helvetica" pitchFamily="34" charset="0"/>
              </a:rPr>
              <a:t>or any other reason, all visitors’ attendance is </a:t>
            </a:r>
            <a:r>
              <a:rPr lang="en-AU" sz="2200" dirty="0" smtClean="0">
                <a:latin typeface="Helvetica" pitchFamily="34" charset="0"/>
              </a:rPr>
              <a:t>checked </a:t>
            </a:r>
            <a:r>
              <a:rPr lang="en-AU" sz="2200" dirty="0">
                <a:latin typeface="Helvetica" pitchFamily="34" charset="0"/>
              </a:rPr>
              <a:t>and reported back to the travel </a:t>
            </a:r>
            <a:r>
              <a:rPr lang="en-AU" sz="2200" dirty="0" smtClean="0">
                <a:latin typeface="Helvetica" pitchFamily="34" charset="0"/>
              </a:rPr>
              <a:t>agency for visitor safety</a:t>
            </a:r>
          </a:p>
          <a:p>
            <a:pPr lvl="0">
              <a:lnSpc>
                <a:spcPct val="150000"/>
              </a:lnSpc>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13</a:t>
            </a:fld>
            <a:endParaRPr lang="en-US" dirty="0"/>
          </a:p>
        </p:txBody>
      </p:sp>
      <p:sp>
        <p:nvSpPr>
          <p:cNvPr id="6" name="Title 1"/>
          <p:cNvSpPr txBox="1">
            <a:spLocks/>
          </p:cNvSpPr>
          <p:nvPr/>
        </p:nvSpPr>
        <p:spPr>
          <a:xfrm>
            <a:off x="611560" y="332656"/>
            <a:ext cx="7467600" cy="1143000"/>
          </a:xfrm>
          <a:prstGeom prst="rect">
            <a:avLst/>
          </a:prstGeom>
        </p:spPr>
        <p:txBody>
          <a:bodyPr vert="horz" lIns="45720" rIns="45720" anchor="ctr">
            <a:normAutofit/>
          </a:bodyPr>
          <a:lstStyle>
            <a:lvl1pPr algn="l" rtl="0" eaLnBrk="1" latinLnBrk="0" hangingPunct="1">
              <a:spcBef>
                <a:spcPct val="0"/>
              </a:spcBef>
              <a:buNone/>
              <a:defRPr kumimoji="0" sz="4600" kern="1200">
                <a:solidFill>
                  <a:schemeClr val="tx1"/>
                </a:solidFill>
                <a:latin typeface="+mj-lt"/>
                <a:ea typeface="+mj-ea"/>
                <a:cs typeface="+mj-cs"/>
              </a:defRPr>
            </a:lvl1pPr>
          </a:lstStyle>
          <a:p>
            <a:pPr marL="712788" indent="-676275">
              <a:spcBef>
                <a:spcPts val="600"/>
              </a:spcBef>
              <a:spcAft>
                <a:spcPts val="1200"/>
              </a:spcAft>
            </a:pPr>
            <a:r>
              <a:rPr lang="en-US" sz="2800" b="1" dirty="0" smtClean="0">
                <a:solidFill>
                  <a:srgbClr val="FF6600"/>
                </a:solidFill>
                <a:latin typeface="Helvetica" pitchFamily="34" charset="0"/>
              </a:rPr>
              <a:t>1.2	</a:t>
            </a:r>
            <a:r>
              <a:rPr lang="en-AU" sz="2800" b="1" dirty="0" smtClean="0">
                <a:solidFill>
                  <a:srgbClr val="FF6600"/>
                </a:solidFill>
                <a:latin typeface="Helvetica" pitchFamily="34" charset="0"/>
              </a:rPr>
              <a:t>Confirm transport arrangements, where applicable</a:t>
            </a:r>
            <a:endParaRPr lang="en-US" sz="2800" b="1" dirty="0">
              <a:solidFill>
                <a:srgbClr val="FF6600"/>
              </a:solidFill>
              <a:latin typeface="Helvetica" pitchFamily="34" charset="0"/>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3688" y="4077072"/>
            <a:ext cx="2808312" cy="2142742"/>
          </a:xfrm>
          <a:prstGeom prst="rect">
            <a:avLst/>
          </a:prstGeom>
        </p:spPr>
      </p:pic>
    </p:spTree>
    <p:extLst>
      <p:ext uri="{BB962C8B-B14F-4D97-AF65-F5344CB8AC3E}">
        <p14:creationId xmlns:p14="http://schemas.microsoft.com/office/powerpoint/2010/main" val="337757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lvl="0" indent="-676275">
              <a:spcBef>
                <a:spcPts val="600"/>
              </a:spcBef>
              <a:spcAft>
                <a:spcPts val="1200"/>
              </a:spcAft>
            </a:pPr>
            <a:r>
              <a:rPr lang="en-US" sz="2800" b="1" dirty="0" smtClean="0">
                <a:solidFill>
                  <a:srgbClr val="FF6600"/>
                </a:solidFill>
                <a:latin typeface="Helvetica" pitchFamily="34" charset="0"/>
              </a:rPr>
              <a:t>1.3	</a:t>
            </a:r>
            <a:r>
              <a:rPr lang="en-AU" sz="2800" b="1" dirty="0" smtClean="0">
                <a:solidFill>
                  <a:srgbClr val="FF6600"/>
                </a:solidFill>
                <a:latin typeface="Helvetica" pitchFamily="34" charset="0"/>
              </a:rPr>
              <a:t>Greet passengers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467544" y="1340768"/>
            <a:ext cx="8352928" cy="4525963"/>
          </a:xfrm>
        </p:spPr>
        <p:txBody>
          <a:bodyPr>
            <a:normAutofit/>
          </a:bodyPr>
          <a:lstStyle/>
          <a:p>
            <a:pPr marL="36576" indent="0">
              <a:lnSpc>
                <a:spcPct val="150000"/>
              </a:lnSpc>
              <a:spcBef>
                <a:spcPts val="400"/>
              </a:spcBef>
              <a:spcAft>
                <a:spcPts val="800"/>
              </a:spcAft>
              <a:buNone/>
            </a:pPr>
            <a:r>
              <a:rPr lang="en-AU" sz="2200" dirty="0" smtClean="0">
                <a:latin typeface="Helvetica" panose="000B0500000000000000" pitchFamily="34" charset="0"/>
                <a:ea typeface="Calibri"/>
                <a:cs typeface="Calibri"/>
              </a:rPr>
              <a:t>Greet </a:t>
            </a:r>
            <a:r>
              <a:rPr lang="en-AU" sz="2200" dirty="0">
                <a:latin typeface="Helvetica" panose="000B0500000000000000" pitchFamily="34" charset="0"/>
                <a:ea typeface="Calibri"/>
                <a:cs typeface="Calibri"/>
              </a:rPr>
              <a:t>passengers may include</a:t>
            </a:r>
            <a:r>
              <a:rPr lang="en-AU" sz="2200" dirty="0" smtClean="0">
                <a:latin typeface="Helvetica" panose="000B0500000000000000" pitchFamily="34" charset="0"/>
                <a:ea typeface="Calibri"/>
                <a:cs typeface="Calibri"/>
              </a:rPr>
              <a:t>:</a:t>
            </a:r>
            <a:endParaRPr lang="en-AU" sz="2200" dirty="0">
              <a:latin typeface="Helvetica" panose="000B0500000000000000" pitchFamily="34" charset="0"/>
              <a:ea typeface="Calibri"/>
              <a:cs typeface="Calibri"/>
            </a:endParaRPr>
          </a:p>
          <a:p>
            <a:pPr lvl="0" fontAlgn="base">
              <a:lnSpc>
                <a:spcPct val="150000"/>
              </a:lnSpc>
            </a:pPr>
            <a:r>
              <a:rPr lang="en-AU" sz="2200" dirty="0" smtClean="0">
                <a:effectLst>
                  <a:glow>
                    <a:srgbClr val="000000"/>
                  </a:glow>
                  <a:outerShdw sx="0" sy="0">
                    <a:srgbClr val="000000"/>
                  </a:outerShdw>
                  <a:reflection stA="0" endPos="0" fadeDir="0" sx="0" sy="0"/>
                </a:effectLst>
                <a:latin typeface="Helvetica" panose="000B0500000000000000" pitchFamily="34" charset="0"/>
              </a:rPr>
              <a:t>Welcoming </a:t>
            </a:r>
            <a:r>
              <a:rPr lang="en-AU" sz="2200" dirty="0">
                <a:effectLst>
                  <a:glow>
                    <a:srgbClr val="000000"/>
                  </a:glow>
                  <a:outerShdw sx="0" sy="0">
                    <a:srgbClr val="000000"/>
                  </a:outerShdw>
                  <a:reflection stA="0" endPos="0" fadeDir="0" sx="0" sy="0"/>
                </a:effectLst>
                <a:latin typeface="Helvetica" panose="000B0500000000000000" pitchFamily="34" charset="0"/>
              </a:rPr>
              <a:t>passengers</a:t>
            </a:r>
          </a:p>
          <a:p>
            <a:pPr lvl="0" fontAlgn="base">
              <a:lnSpc>
                <a:spcPct val="150000"/>
              </a:lnSpc>
            </a:pPr>
            <a:r>
              <a:rPr lang="en-AU" sz="2200" dirty="0">
                <a:effectLst>
                  <a:glow>
                    <a:srgbClr val="000000"/>
                  </a:glow>
                  <a:outerShdw sx="0" sy="0">
                    <a:srgbClr val="000000"/>
                  </a:outerShdw>
                  <a:reflection stA="0" endPos="0" fadeDir="0" sx="0" sy="0"/>
                </a:effectLst>
                <a:latin typeface="Helvetica" panose="000B0500000000000000" pitchFamily="34" charset="0"/>
              </a:rPr>
              <a:t>Encouraging feelings of goodwill</a:t>
            </a:r>
          </a:p>
          <a:p>
            <a:pPr lvl="0" fontAlgn="base">
              <a:lnSpc>
                <a:spcPct val="150000"/>
              </a:lnSpc>
            </a:pPr>
            <a:r>
              <a:rPr lang="en-AU" sz="2200" dirty="0">
                <a:effectLst>
                  <a:glow>
                    <a:srgbClr val="000000"/>
                  </a:glow>
                  <a:outerShdw sx="0" sy="0">
                    <a:srgbClr val="000000"/>
                  </a:outerShdw>
                  <a:reflection stA="0" endPos="0" fadeDir="0" sx="0" sy="0"/>
                </a:effectLst>
                <a:latin typeface="Helvetica" panose="000B0500000000000000" pitchFamily="34" charset="0"/>
              </a:rPr>
              <a:t>Building rapport with the passengers</a:t>
            </a:r>
          </a:p>
          <a:p>
            <a:pPr lvl="0" fontAlgn="base">
              <a:lnSpc>
                <a:spcPct val="150000"/>
              </a:lnSpc>
            </a:pPr>
            <a:r>
              <a:rPr lang="en-AU" sz="2200" dirty="0">
                <a:effectLst>
                  <a:glow>
                    <a:srgbClr val="000000"/>
                  </a:glow>
                  <a:outerShdw sx="0" sy="0">
                    <a:srgbClr val="000000"/>
                  </a:outerShdw>
                  <a:reflection stA="0" endPos="0" fadeDir="0" sx="0" sy="0"/>
                </a:effectLst>
                <a:latin typeface="Helvetica" panose="000B0500000000000000" pitchFamily="34" charset="0"/>
              </a:rPr>
              <a:t>Employing appropriate interpersonal </a:t>
            </a:r>
            <a:r>
              <a:rPr lang="en-AU" sz="2200" dirty="0" smtClean="0">
                <a:effectLst>
                  <a:glow>
                    <a:srgbClr val="000000"/>
                  </a:glow>
                  <a:outerShdw sx="0" sy="0">
                    <a:srgbClr val="000000"/>
                  </a:outerShdw>
                  <a:reflection stA="0" endPos="0" fadeDir="0" sx="0" sy="0"/>
                </a:effectLst>
                <a:latin typeface="Helvetica" panose="000B0500000000000000" pitchFamily="34" charset="0"/>
              </a:rPr>
              <a:t>skills</a:t>
            </a:r>
            <a:endParaRPr lang="en-AU" sz="2200" dirty="0">
              <a:effectLst>
                <a:glow>
                  <a:srgbClr val="000000"/>
                </a:glow>
                <a:outerShdw sx="0" sy="0">
                  <a:srgbClr val="000000"/>
                </a:outerShdw>
                <a:reflection stA="0" endPos="0" fadeDir="0" sx="0" sy="0"/>
              </a:effectLst>
              <a:latin typeface="Helvetica" panose="000B0500000000000000"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5407" y="2325216"/>
            <a:ext cx="2129075" cy="31920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712788" indent="-712788"/>
            <a:r>
              <a:rPr lang="en-US" sz="2800" b="1" dirty="0">
                <a:solidFill>
                  <a:srgbClr val="FF6600"/>
                </a:solidFill>
                <a:latin typeface="Helvetica" pitchFamily="34" charset="0"/>
              </a:rPr>
              <a:t>1.4	</a:t>
            </a:r>
            <a:r>
              <a:rPr lang="en-AU" sz="2800" b="1" dirty="0">
                <a:solidFill>
                  <a:srgbClr val="FF6600"/>
                </a:solidFill>
                <a:latin typeface="Helvetica" pitchFamily="34" charset="0"/>
              </a:rPr>
              <a:t>Provide local information to passengers</a:t>
            </a:r>
            <a:endParaRPr lang="en-AU" sz="2800" dirty="0">
              <a:latin typeface="Helvetica" pitchFamily="34" charset="0"/>
            </a:endParaRPr>
          </a:p>
        </p:txBody>
      </p:sp>
      <p:sp>
        <p:nvSpPr>
          <p:cNvPr id="3" name="Content Placeholder 2"/>
          <p:cNvSpPr>
            <a:spLocks noGrp="1"/>
          </p:cNvSpPr>
          <p:nvPr>
            <p:ph idx="1"/>
          </p:nvPr>
        </p:nvSpPr>
        <p:spPr>
          <a:xfrm>
            <a:off x="467544" y="1484784"/>
            <a:ext cx="8208912" cy="5184576"/>
          </a:xfrm>
        </p:spPr>
        <p:txBody>
          <a:bodyPr>
            <a:normAutofit/>
          </a:bodyPr>
          <a:lstStyle/>
          <a:p>
            <a:pPr marL="0" lvl="0" indent="0">
              <a:spcBef>
                <a:spcPts val="600"/>
              </a:spcBef>
              <a:spcAft>
                <a:spcPts val="1200"/>
              </a:spcAft>
              <a:buClr>
                <a:srgbClr val="7FD13B"/>
              </a:buClr>
              <a:buNone/>
            </a:pPr>
            <a:r>
              <a:rPr lang="en-AU" sz="2400" dirty="0" smtClean="0">
                <a:solidFill>
                  <a:prstClr val="black"/>
                </a:solidFill>
                <a:latin typeface="Helvetica" pitchFamily="34" charset="0"/>
              </a:rPr>
              <a:t>What </a:t>
            </a:r>
            <a:r>
              <a:rPr lang="en-AU" sz="2400" dirty="0">
                <a:solidFill>
                  <a:prstClr val="black"/>
                </a:solidFill>
                <a:latin typeface="Helvetica" pitchFamily="34" charset="0"/>
              </a:rPr>
              <a:t>would you consider local </a:t>
            </a:r>
            <a:r>
              <a:rPr lang="en-AU" sz="2400" dirty="0" smtClean="0">
                <a:solidFill>
                  <a:prstClr val="black"/>
                </a:solidFill>
                <a:latin typeface="Helvetica" pitchFamily="34" charset="0"/>
              </a:rPr>
              <a:t>information upon arrival?</a:t>
            </a:r>
          </a:p>
          <a:p>
            <a:pPr>
              <a:lnSpc>
                <a:spcPct val="115000"/>
              </a:lnSpc>
              <a:spcAft>
                <a:spcPts val="1000"/>
              </a:spcAft>
            </a:pPr>
            <a:r>
              <a:rPr lang="en-AU" sz="2400" dirty="0">
                <a:latin typeface="Helvetica" pitchFamily="34" charset="0"/>
                <a:ea typeface="Times New Roman"/>
                <a:cs typeface="Times New Roman"/>
              </a:rPr>
              <a:t>Terminal </a:t>
            </a:r>
            <a:r>
              <a:rPr lang="en-AU" sz="2400" dirty="0" smtClean="0">
                <a:latin typeface="Helvetica" pitchFamily="34" charset="0"/>
                <a:ea typeface="Times New Roman"/>
                <a:cs typeface="Times New Roman"/>
              </a:rPr>
              <a:t>Transfer</a:t>
            </a:r>
            <a:endParaRPr lang="en-AU" sz="2400" dirty="0">
              <a:latin typeface="Helvetica" pitchFamily="34" charset="0"/>
              <a:ea typeface="Times New Roman"/>
              <a:cs typeface="Times New Roman"/>
            </a:endParaRPr>
          </a:p>
          <a:p>
            <a:pPr>
              <a:lnSpc>
                <a:spcPct val="115000"/>
              </a:lnSpc>
              <a:spcAft>
                <a:spcPts val="1000"/>
              </a:spcAft>
            </a:pPr>
            <a:r>
              <a:rPr lang="en-AU" sz="2400" dirty="0">
                <a:latin typeface="Helvetica" pitchFamily="34" charset="0"/>
                <a:ea typeface="Times New Roman"/>
                <a:cs typeface="Times New Roman"/>
              </a:rPr>
              <a:t>Location of </a:t>
            </a:r>
            <a:r>
              <a:rPr lang="en-AU" sz="2400" dirty="0" smtClean="0">
                <a:latin typeface="Helvetica" pitchFamily="34" charset="0"/>
                <a:ea typeface="Times New Roman"/>
                <a:cs typeface="Times New Roman"/>
              </a:rPr>
              <a:t>washrooms </a:t>
            </a:r>
            <a:endParaRPr lang="en-AU" sz="2400" dirty="0">
              <a:latin typeface="Helvetica" pitchFamily="34" charset="0"/>
              <a:ea typeface="Times New Roman"/>
              <a:cs typeface="Times New Roman"/>
            </a:endParaRPr>
          </a:p>
          <a:p>
            <a:pPr>
              <a:lnSpc>
                <a:spcPct val="115000"/>
              </a:lnSpc>
              <a:spcAft>
                <a:spcPts val="1000"/>
              </a:spcAft>
            </a:pPr>
            <a:r>
              <a:rPr lang="en-AU" sz="2400" dirty="0">
                <a:latin typeface="Helvetica" pitchFamily="34" charset="0"/>
                <a:ea typeface="Times New Roman"/>
                <a:cs typeface="Times New Roman"/>
              </a:rPr>
              <a:t>Documentation required </a:t>
            </a:r>
            <a:r>
              <a:rPr lang="en-AU" sz="2400" dirty="0" smtClean="0">
                <a:latin typeface="Helvetica" pitchFamily="34" charset="0"/>
                <a:ea typeface="Times New Roman"/>
                <a:cs typeface="Times New Roman"/>
              </a:rPr>
              <a:t/>
            </a:r>
            <a:br>
              <a:rPr lang="en-AU" sz="2400" dirty="0" smtClean="0">
                <a:latin typeface="Helvetica" pitchFamily="34" charset="0"/>
                <a:ea typeface="Times New Roman"/>
                <a:cs typeface="Times New Roman"/>
              </a:rPr>
            </a:br>
            <a:r>
              <a:rPr lang="en-AU" sz="2400" dirty="0" smtClean="0">
                <a:latin typeface="Helvetica" pitchFamily="34" charset="0"/>
                <a:ea typeface="Times New Roman"/>
                <a:cs typeface="Times New Roman"/>
              </a:rPr>
              <a:t>upon arrival </a:t>
            </a:r>
            <a:endParaRPr lang="en-AU" sz="2400" dirty="0">
              <a:latin typeface="Helvetica" pitchFamily="34" charset="0"/>
              <a:ea typeface="Times New Roman"/>
              <a:cs typeface="Times New Roman"/>
            </a:endParaRPr>
          </a:p>
          <a:p>
            <a:pPr>
              <a:lnSpc>
                <a:spcPct val="115000"/>
              </a:lnSpc>
              <a:spcAft>
                <a:spcPts val="1000"/>
              </a:spcAft>
            </a:pPr>
            <a:r>
              <a:rPr lang="en-AU" sz="2400" dirty="0">
                <a:latin typeface="Helvetica" pitchFamily="34" charset="0"/>
                <a:ea typeface="Times New Roman"/>
                <a:cs typeface="Times New Roman"/>
              </a:rPr>
              <a:t>Meeting points to prepare for boarding coach/car</a:t>
            </a:r>
          </a:p>
          <a:p>
            <a:pPr>
              <a:lnSpc>
                <a:spcPct val="115000"/>
              </a:lnSpc>
              <a:spcAft>
                <a:spcPts val="1000"/>
              </a:spcAft>
            </a:pPr>
            <a:r>
              <a:rPr lang="en-AU" sz="2400" dirty="0">
                <a:latin typeface="Helvetica" pitchFamily="34" charset="0"/>
                <a:ea typeface="Times New Roman"/>
                <a:cs typeface="Times New Roman"/>
              </a:rPr>
              <a:t>Check of personal belongings and luggage to ensure that all items are accountable </a:t>
            </a:r>
            <a:r>
              <a:rPr lang="en-AU" sz="2400" dirty="0" smtClean="0">
                <a:latin typeface="Helvetica" pitchFamily="34" charset="0"/>
                <a:ea typeface="Times New Roman"/>
                <a:cs typeface="Times New Roman"/>
              </a:rPr>
              <a:t>for</a:t>
            </a:r>
            <a:endParaRPr lang="en-AU" sz="2400" dirty="0">
              <a:latin typeface="Helvetica" pitchFamily="34" charset="0"/>
              <a:ea typeface="Times New Roman"/>
              <a:cs typeface="Times New Roman"/>
            </a:endParaRPr>
          </a:p>
          <a:p>
            <a:pPr marL="0" lvl="0" indent="0">
              <a:spcBef>
                <a:spcPts val="600"/>
              </a:spcBef>
              <a:spcAft>
                <a:spcPts val="1200"/>
              </a:spcAft>
              <a:buClr>
                <a:srgbClr val="7FD13B"/>
              </a:buClr>
              <a:buNone/>
            </a:pPr>
            <a:endParaRPr lang="en-AU" sz="2400" dirty="0">
              <a:solidFill>
                <a:prstClr val="black"/>
              </a:solidFill>
              <a:latin typeface="Helvetica" pitchFamily="34" charset="0"/>
            </a:endParaRPr>
          </a:p>
          <a:p>
            <a:endParaRPr lang="en-AU" sz="2400"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15</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2164757"/>
            <a:ext cx="3048000" cy="2026920"/>
          </a:xfrm>
          <a:prstGeom prst="rect">
            <a:avLst/>
          </a:prstGeom>
        </p:spPr>
      </p:pic>
    </p:spTree>
    <p:extLst>
      <p:ext uri="{BB962C8B-B14F-4D97-AF65-F5344CB8AC3E}">
        <p14:creationId xmlns:p14="http://schemas.microsoft.com/office/powerpoint/2010/main" val="1501390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5040560"/>
          </a:xfrm>
        </p:spPr>
        <p:txBody>
          <a:bodyPr>
            <a:normAutofit/>
          </a:bodyPr>
          <a:lstStyle/>
          <a:p>
            <a:pPr marL="0" indent="0">
              <a:spcBef>
                <a:spcPts val="600"/>
              </a:spcBef>
              <a:spcAft>
                <a:spcPts val="1200"/>
              </a:spcAft>
              <a:buNone/>
            </a:pPr>
            <a:r>
              <a:rPr lang="en-AU" sz="2000" dirty="0" smtClean="0">
                <a:latin typeface="Helvetica" pitchFamily="34" charset="0"/>
              </a:rPr>
              <a:t>What would you consider local information?</a:t>
            </a:r>
          </a:p>
          <a:p>
            <a:pPr>
              <a:lnSpc>
                <a:spcPct val="115000"/>
              </a:lnSpc>
              <a:spcAft>
                <a:spcPts val="1000"/>
              </a:spcAft>
            </a:pPr>
            <a:r>
              <a:rPr lang="en-AU" sz="2000" dirty="0">
                <a:latin typeface="Helvetica" panose="000B0500000000000000" pitchFamily="34" charset="0"/>
                <a:ea typeface="Times New Roman"/>
                <a:cs typeface="Times New Roman"/>
              </a:rPr>
              <a:t>Local map and tourism brochures </a:t>
            </a:r>
          </a:p>
          <a:p>
            <a:pPr>
              <a:lnSpc>
                <a:spcPct val="115000"/>
              </a:lnSpc>
              <a:spcAft>
                <a:spcPts val="1000"/>
              </a:spcAft>
            </a:pPr>
            <a:r>
              <a:rPr lang="en-AU" sz="2000" dirty="0">
                <a:latin typeface="Helvetica" panose="000B0500000000000000" pitchFamily="34" charset="0"/>
                <a:ea typeface="Times New Roman"/>
                <a:cs typeface="Times New Roman"/>
              </a:rPr>
              <a:t>Time </a:t>
            </a:r>
            <a:r>
              <a:rPr lang="en-AU" sz="2000" dirty="0" smtClean="0">
                <a:latin typeface="Helvetica" panose="000B0500000000000000" pitchFamily="34" charset="0"/>
                <a:ea typeface="Times New Roman"/>
                <a:cs typeface="Times New Roman"/>
              </a:rPr>
              <a:t>and </a:t>
            </a:r>
            <a:r>
              <a:rPr lang="en-AU" sz="2000" dirty="0">
                <a:latin typeface="Helvetica" panose="000B0500000000000000" pitchFamily="34" charset="0"/>
                <a:ea typeface="Times New Roman"/>
                <a:cs typeface="Times New Roman"/>
              </a:rPr>
              <a:t>Date </a:t>
            </a:r>
            <a:r>
              <a:rPr lang="en-AU" sz="2000" dirty="0" smtClean="0">
                <a:latin typeface="Helvetica" panose="000B0500000000000000" pitchFamily="34" charset="0"/>
                <a:ea typeface="Times New Roman"/>
                <a:cs typeface="Times New Roman"/>
              </a:rPr>
              <a:t>, </a:t>
            </a:r>
            <a:r>
              <a:rPr lang="en-AU" sz="2000" dirty="0" smtClean="0">
                <a:latin typeface="Helvetica" panose="000B0500000000000000" pitchFamily="34" charset="0"/>
                <a:ea typeface="Calibri"/>
                <a:cs typeface="Calibri"/>
              </a:rPr>
              <a:t>Climate</a:t>
            </a:r>
            <a:r>
              <a:rPr lang="en-AU" sz="2000" dirty="0">
                <a:latin typeface="Helvetica" panose="000B0500000000000000" pitchFamily="34" charset="0"/>
                <a:ea typeface="Calibri"/>
                <a:cs typeface="Calibri"/>
              </a:rPr>
              <a:t>, </a:t>
            </a:r>
            <a:r>
              <a:rPr lang="en-AU" sz="2000" dirty="0" smtClean="0">
                <a:latin typeface="Helvetica" panose="000B0500000000000000" pitchFamily="34" charset="0"/>
                <a:ea typeface="Calibri"/>
                <a:cs typeface="Calibri"/>
              </a:rPr>
              <a:t/>
            </a:r>
            <a:br>
              <a:rPr lang="en-AU" sz="2000" dirty="0" smtClean="0">
                <a:latin typeface="Helvetica" panose="000B0500000000000000" pitchFamily="34" charset="0"/>
                <a:ea typeface="Calibri"/>
                <a:cs typeface="Calibri"/>
              </a:rPr>
            </a:br>
            <a:r>
              <a:rPr lang="en-AU" sz="2000" dirty="0" smtClean="0">
                <a:latin typeface="Helvetica" panose="000B0500000000000000" pitchFamily="34" charset="0"/>
                <a:ea typeface="Calibri"/>
                <a:cs typeface="Calibri"/>
              </a:rPr>
              <a:t>weather </a:t>
            </a:r>
            <a:r>
              <a:rPr lang="en-AU" sz="2000" dirty="0">
                <a:latin typeface="Helvetica" panose="000B0500000000000000" pitchFamily="34" charset="0"/>
                <a:ea typeface="Calibri"/>
                <a:cs typeface="Calibri"/>
              </a:rPr>
              <a:t>forecast</a:t>
            </a:r>
          </a:p>
          <a:p>
            <a:pPr>
              <a:spcBef>
                <a:spcPts val="400"/>
              </a:spcBef>
              <a:spcAft>
                <a:spcPts val="800"/>
              </a:spcAft>
            </a:pPr>
            <a:r>
              <a:rPr lang="en-AU" sz="2000" dirty="0" smtClean="0">
                <a:latin typeface="Helvetica" panose="000B0500000000000000" pitchFamily="34" charset="0"/>
                <a:ea typeface="Calibri"/>
                <a:cs typeface="Calibri"/>
              </a:rPr>
              <a:t>Geography, Government, Economy</a:t>
            </a:r>
            <a:endParaRPr lang="en-AU" sz="2000" dirty="0">
              <a:latin typeface="Helvetica" panose="000B0500000000000000" pitchFamily="34" charset="0"/>
              <a:ea typeface="Calibri"/>
              <a:cs typeface="Calibri"/>
            </a:endParaRPr>
          </a:p>
          <a:p>
            <a:pPr>
              <a:spcBef>
                <a:spcPts val="400"/>
              </a:spcBef>
              <a:spcAft>
                <a:spcPts val="800"/>
              </a:spcAft>
            </a:pPr>
            <a:r>
              <a:rPr lang="en-AU" sz="2000" dirty="0" smtClean="0">
                <a:latin typeface="Helvetica" panose="000B0500000000000000" pitchFamily="34" charset="0"/>
                <a:ea typeface="Calibri"/>
                <a:cs typeface="Calibri"/>
              </a:rPr>
              <a:t>History, Culture, Heritage</a:t>
            </a:r>
            <a:endParaRPr lang="en-AU" sz="2000" dirty="0">
              <a:latin typeface="Helvetica" panose="000B0500000000000000" pitchFamily="34" charset="0"/>
              <a:ea typeface="Calibri"/>
              <a:cs typeface="Calibri"/>
            </a:endParaRPr>
          </a:p>
          <a:p>
            <a:pPr lvl="0">
              <a:spcBef>
                <a:spcPts val="400"/>
              </a:spcBef>
              <a:spcAft>
                <a:spcPts val="800"/>
              </a:spcAft>
              <a:buClr>
                <a:srgbClr val="7FD13B"/>
              </a:buClr>
            </a:pPr>
            <a:r>
              <a:rPr lang="en-AU" sz="2000" dirty="0" smtClean="0">
                <a:latin typeface="Helvetica" panose="000B0500000000000000" pitchFamily="34" charset="0"/>
                <a:ea typeface="Calibri"/>
                <a:cs typeface="Calibri"/>
              </a:rPr>
              <a:t>Food, </a:t>
            </a:r>
            <a:r>
              <a:rPr lang="en-AU" sz="2000" dirty="0" smtClean="0">
                <a:solidFill>
                  <a:prstClr val="black"/>
                </a:solidFill>
                <a:latin typeface="Helvetica" panose="000B0500000000000000" pitchFamily="34" charset="0"/>
                <a:ea typeface="Calibri"/>
                <a:cs typeface="Calibri"/>
              </a:rPr>
              <a:t>Shopping, </a:t>
            </a:r>
            <a:r>
              <a:rPr lang="en-AU" sz="2000" dirty="0" smtClean="0">
                <a:latin typeface="Helvetica" panose="000B0500000000000000" pitchFamily="34" charset="0"/>
                <a:ea typeface="Times New Roman"/>
                <a:cs typeface="Times New Roman"/>
              </a:rPr>
              <a:t>Currency </a:t>
            </a:r>
            <a:r>
              <a:rPr lang="en-AU" sz="2000" dirty="0">
                <a:latin typeface="Helvetica" panose="000B0500000000000000" pitchFamily="34" charset="0"/>
                <a:ea typeface="Times New Roman"/>
                <a:cs typeface="Times New Roman"/>
              </a:rPr>
              <a:t>Exchanges Rates </a:t>
            </a:r>
          </a:p>
          <a:p>
            <a:pPr>
              <a:lnSpc>
                <a:spcPct val="115000"/>
              </a:lnSpc>
              <a:spcAft>
                <a:spcPts val="1000"/>
              </a:spcAft>
            </a:pPr>
            <a:r>
              <a:rPr lang="en-AU" sz="2000" dirty="0">
                <a:latin typeface="Helvetica" panose="000B0500000000000000" pitchFamily="34" charset="0"/>
                <a:ea typeface="Times New Roman"/>
                <a:cs typeface="Times New Roman"/>
              </a:rPr>
              <a:t>Transportation </a:t>
            </a:r>
            <a:r>
              <a:rPr lang="en-AU" sz="2000" dirty="0" smtClean="0">
                <a:latin typeface="Helvetica" panose="000B0500000000000000" pitchFamily="34" charset="0"/>
                <a:ea typeface="Times New Roman"/>
                <a:cs typeface="Times New Roman"/>
              </a:rPr>
              <a:t>and </a:t>
            </a:r>
            <a:r>
              <a:rPr lang="en-AU" sz="2000" dirty="0">
                <a:latin typeface="Helvetica" panose="000B0500000000000000" pitchFamily="34" charset="0"/>
                <a:ea typeface="Times New Roman"/>
                <a:cs typeface="Times New Roman"/>
              </a:rPr>
              <a:t>Fares </a:t>
            </a:r>
          </a:p>
          <a:p>
            <a:pPr>
              <a:lnSpc>
                <a:spcPct val="115000"/>
              </a:lnSpc>
              <a:spcAft>
                <a:spcPts val="1000"/>
              </a:spcAft>
            </a:pPr>
            <a:r>
              <a:rPr lang="en-AU" sz="2000" dirty="0">
                <a:latin typeface="Helvetica" panose="000B0500000000000000" pitchFamily="34" charset="0"/>
                <a:ea typeface="Times New Roman"/>
                <a:cs typeface="Times New Roman"/>
              </a:rPr>
              <a:t>Name </a:t>
            </a:r>
            <a:r>
              <a:rPr lang="en-AU" sz="2000" dirty="0" smtClean="0">
                <a:latin typeface="Helvetica" panose="000B0500000000000000" pitchFamily="34" charset="0"/>
                <a:ea typeface="Times New Roman"/>
                <a:cs typeface="Times New Roman"/>
              </a:rPr>
              <a:t>and </a:t>
            </a:r>
            <a:r>
              <a:rPr lang="en-AU" sz="2000" dirty="0">
                <a:latin typeface="Helvetica" panose="000B0500000000000000" pitchFamily="34" charset="0"/>
                <a:ea typeface="Times New Roman"/>
                <a:cs typeface="Times New Roman"/>
              </a:rPr>
              <a:t>Location of </a:t>
            </a:r>
            <a:r>
              <a:rPr lang="en-AU" sz="2000" dirty="0" smtClean="0">
                <a:latin typeface="Helvetica" panose="000B0500000000000000" pitchFamily="34" charset="0"/>
                <a:ea typeface="Times New Roman"/>
                <a:cs typeface="Times New Roman"/>
              </a:rPr>
              <a:t>Hotel, Hotel </a:t>
            </a:r>
            <a:r>
              <a:rPr lang="en-AU" sz="2000" dirty="0">
                <a:latin typeface="Helvetica" panose="000B0500000000000000" pitchFamily="34" charset="0"/>
                <a:ea typeface="Times New Roman"/>
                <a:cs typeface="Times New Roman"/>
              </a:rPr>
              <a:t>Facilities </a:t>
            </a:r>
            <a:r>
              <a:rPr lang="en-AU" sz="2000" dirty="0" smtClean="0">
                <a:latin typeface="Helvetica" panose="000B0500000000000000" pitchFamily="34" charset="0"/>
                <a:ea typeface="Times New Roman"/>
                <a:cs typeface="Times New Roman"/>
              </a:rPr>
              <a:t>and </a:t>
            </a:r>
            <a:r>
              <a:rPr lang="en-AU" sz="2000" dirty="0">
                <a:latin typeface="Helvetica" panose="000B0500000000000000" pitchFamily="34" charset="0"/>
                <a:ea typeface="Times New Roman"/>
                <a:cs typeface="Times New Roman"/>
              </a:rPr>
              <a:t>Amenities </a:t>
            </a:r>
          </a:p>
          <a:p>
            <a:pPr>
              <a:lnSpc>
                <a:spcPct val="115000"/>
              </a:lnSpc>
              <a:spcAft>
                <a:spcPts val="1000"/>
              </a:spcAft>
            </a:pPr>
            <a:r>
              <a:rPr lang="en-AU" sz="2000" dirty="0">
                <a:latin typeface="Helvetica" panose="000B0500000000000000" pitchFamily="34" charset="0"/>
                <a:ea typeface="Times New Roman"/>
                <a:cs typeface="Times New Roman"/>
              </a:rPr>
              <a:t>Tipping custom </a:t>
            </a:r>
            <a:endParaRPr lang="en-AU" sz="2000" dirty="0">
              <a:effectLst/>
              <a:latin typeface="Helvetica" panose="000B0500000000000000" pitchFamily="34" charset="0"/>
              <a:ea typeface="Times New Roman"/>
              <a:cs typeface="Times New Roman"/>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sp>
        <p:nvSpPr>
          <p:cNvPr id="6" name="Title 1"/>
          <p:cNvSpPr>
            <a:spLocks noGrp="1"/>
          </p:cNvSpPr>
          <p:nvPr>
            <p:ph type="title"/>
          </p:nvPr>
        </p:nvSpPr>
        <p:spPr>
          <a:xfrm>
            <a:off x="457200" y="274638"/>
            <a:ext cx="7467600" cy="1143000"/>
          </a:xfrm>
        </p:spPr>
        <p:txBody>
          <a:bodyPr>
            <a:normAutofit/>
          </a:bodyPr>
          <a:lstStyle/>
          <a:p>
            <a:pPr marL="712788" indent="-712788"/>
            <a:r>
              <a:rPr lang="en-US" sz="2800" b="1" dirty="0">
                <a:solidFill>
                  <a:srgbClr val="FF6600"/>
                </a:solidFill>
                <a:latin typeface="Helvetica" pitchFamily="34" charset="0"/>
              </a:rPr>
              <a:t>1.4	</a:t>
            </a:r>
            <a:r>
              <a:rPr lang="en-AU" sz="2800" b="1" dirty="0">
                <a:solidFill>
                  <a:srgbClr val="FF6600"/>
                </a:solidFill>
                <a:latin typeface="Helvetica" pitchFamily="34" charset="0"/>
              </a:rPr>
              <a:t>Provide local information to passengers</a:t>
            </a:r>
            <a:endParaRPr lang="en-AU" sz="2800" dirty="0">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2141762"/>
            <a:ext cx="3048000" cy="20330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064896" cy="1143000"/>
          </a:xfrm>
        </p:spPr>
        <p:txBody>
          <a:bodyPr>
            <a:noAutofit/>
          </a:bodyPr>
          <a:lstStyle/>
          <a:p>
            <a:pPr marL="712788" lvl="0" indent="-676275">
              <a:spcBef>
                <a:spcPts val="600"/>
              </a:spcBef>
              <a:spcAft>
                <a:spcPts val="1200"/>
              </a:spcAft>
            </a:pPr>
            <a:r>
              <a:rPr lang="en-US" sz="2800" b="1" dirty="0" smtClean="0">
                <a:solidFill>
                  <a:srgbClr val="FF6600"/>
                </a:solidFill>
                <a:latin typeface="Helvetica" pitchFamily="34" charset="0"/>
              </a:rPr>
              <a:t>1.5	</a:t>
            </a:r>
            <a:r>
              <a:rPr lang="en-AU" sz="2800" b="1" dirty="0" smtClean="0">
                <a:solidFill>
                  <a:srgbClr val="FF6600"/>
                </a:solidFill>
                <a:latin typeface="Helvetica" pitchFamily="34" charset="0"/>
              </a:rPr>
              <a:t>Advise </a:t>
            </a:r>
            <a:r>
              <a:rPr lang="en-AU" sz="2800" b="1" dirty="0">
                <a:solidFill>
                  <a:srgbClr val="FF6600"/>
                </a:solidFill>
                <a:latin typeface="Helvetica" pitchFamily="34" charset="0"/>
              </a:rPr>
              <a:t>passengers regarding check-in procedures at accommodation venues, where </a:t>
            </a:r>
            <a:r>
              <a:rPr lang="en-AU" sz="2800" b="1" dirty="0" smtClean="0">
                <a:solidFill>
                  <a:srgbClr val="FF6600"/>
                </a:solidFill>
                <a:latin typeface="Helvetica" pitchFamily="34" charset="0"/>
              </a:rPr>
              <a:t>appropriate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4680520" cy="4525963"/>
          </a:xfrm>
        </p:spPr>
        <p:txBody>
          <a:bodyPr>
            <a:normAutofit/>
          </a:bodyPr>
          <a:lstStyle/>
          <a:p>
            <a:pPr marL="36576" indent="0">
              <a:lnSpc>
                <a:spcPct val="150000"/>
              </a:lnSpc>
              <a:spcBef>
                <a:spcPts val="400"/>
              </a:spcBef>
              <a:spcAft>
                <a:spcPts val="800"/>
              </a:spcAft>
              <a:buNone/>
            </a:pPr>
            <a:r>
              <a:rPr lang="en-AU" sz="2300" dirty="0" smtClean="0">
                <a:latin typeface="Helvetica" pitchFamily="34" charset="0"/>
                <a:ea typeface="Calibri"/>
                <a:cs typeface="Calibri"/>
              </a:rPr>
              <a:t>Accommodation </a:t>
            </a:r>
            <a:r>
              <a:rPr lang="en-AU" sz="2300" dirty="0">
                <a:latin typeface="Helvetica" pitchFamily="34" charset="0"/>
                <a:ea typeface="Calibri"/>
                <a:cs typeface="Calibri"/>
              </a:rPr>
              <a:t>may include</a:t>
            </a:r>
            <a:r>
              <a:rPr lang="en-AU" sz="2300" dirty="0" smtClean="0">
                <a:latin typeface="Helvetica" pitchFamily="34" charset="0"/>
                <a:ea typeface="Calibri"/>
                <a:cs typeface="Calibri"/>
              </a:rPr>
              <a:t>:</a:t>
            </a:r>
            <a:endParaRPr lang="en-AU" sz="2300" dirty="0">
              <a:latin typeface="Helvetica" pitchFamily="34" charset="0"/>
              <a:ea typeface="Calibri"/>
              <a:cs typeface="Calibri"/>
            </a:endParaRPr>
          </a:p>
          <a:p>
            <a:pPr lvl="0" fontAlgn="base">
              <a:lnSpc>
                <a:spcPct val="150000"/>
              </a:lnSpc>
            </a:pPr>
            <a:r>
              <a:rPr lang="en-AU" sz="2300" dirty="0" smtClean="0">
                <a:effectLst>
                  <a:glow>
                    <a:srgbClr val="000000"/>
                  </a:glow>
                  <a:outerShdw sx="0" sy="0">
                    <a:srgbClr val="000000"/>
                  </a:outerShdw>
                  <a:reflection stA="0" endPos="0" fadeDir="0" sx="0" sy="0"/>
                </a:effectLst>
                <a:latin typeface="Helvetica" pitchFamily="34" charset="0"/>
              </a:rPr>
              <a:t>Hotels</a:t>
            </a:r>
            <a:r>
              <a:rPr lang="en-AU" sz="2300" dirty="0">
                <a:effectLst>
                  <a:glow>
                    <a:srgbClr val="000000"/>
                  </a:glow>
                  <a:outerShdw sx="0" sy="0">
                    <a:srgbClr val="000000"/>
                  </a:outerShdw>
                  <a:reflection stA="0" endPos="0" fadeDir="0" sx="0" sy="0"/>
                </a:effectLst>
                <a:latin typeface="Helvetica" pitchFamily="34" charset="0"/>
              </a:rPr>
              <a:t>, motels and guest houses</a:t>
            </a:r>
          </a:p>
          <a:p>
            <a:pPr lvl="0" fontAlgn="base">
              <a:lnSpc>
                <a:spcPct val="150000"/>
              </a:lnSpc>
            </a:pPr>
            <a:r>
              <a:rPr lang="en-AU" sz="2300" dirty="0">
                <a:effectLst>
                  <a:glow>
                    <a:srgbClr val="000000"/>
                  </a:glow>
                  <a:outerShdw sx="0" sy="0">
                    <a:srgbClr val="000000"/>
                  </a:outerShdw>
                  <a:reflection stA="0" endPos="0" fadeDir="0" sx="0" sy="0"/>
                </a:effectLst>
                <a:latin typeface="Helvetica" pitchFamily="34" charset="0"/>
              </a:rPr>
              <a:t>Resorts and bed and breakfast providers</a:t>
            </a:r>
          </a:p>
          <a:p>
            <a:pPr lvl="0" fontAlgn="base">
              <a:lnSpc>
                <a:spcPct val="150000"/>
              </a:lnSpc>
            </a:pPr>
            <a:r>
              <a:rPr lang="en-AU" sz="2300" dirty="0">
                <a:effectLst>
                  <a:glow>
                    <a:srgbClr val="000000"/>
                  </a:glow>
                  <a:outerShdw sx="0" sy="0">
                    <a:srgbClr val="000000"/>
                  </a:outerShdw>
                  <a:reflection stA="0" endPos="0" fadeDir="0" sx="0" sy="0"/>
                </a:effectLst>
                <a:latin typeface="Helvetica" pitchFamily="34" charset="0"/>
              </a:rPr>
              <a:t>Caravan parks and camping </a:t>
            </a:r>
            <a:r>
              <a:rPr lang="en-AU" sz="2300" dirty="0" smtClean="0">
                <a:effectLst>
                  <a:glow>
                    <a:srgbClr val="000000"/>
                  </a:glow>
                  <a:outerShdw sx="0" sy="0">
                    <a:srgbClr val="000000"/>
                  </a:outerShdw>
                  <a:reflection stA="0" endPos="0" fadeDir="0" sx="0" sy="0"/>
                </a:effectLst>
                <a:latin typeface="Helvetica" pitchFamily="34" charset="0"/>
              </a:rPr>
              <a:t>grounds</a:t>
            </a:r>
            <a:endParaRPr lang="en-AU" sz="2300" dirty="0">
              <a:effectLst>
                <a:glow>
                  <a:srgbClr val="000000"/>
                </a:glow>
                <a:outerShdw sx="0" sy="0">
                  <a:srgbClr val="000000"/>
                </a:outerShdw>
                <a:reflection stA="0" endPos="0" fadeDir="0" sx="0" sy="0"/>
              </a:effectLst>
              <a:latin typeface="Helvetica" pitchFamily="34" charset="0"/>
            </a:endParaRPr>
          </a:p>
          <a:p>
            <a:pPr marL="0" indent="0">
              <a:spcBef>
                <a:spcPts val="600"/>
              </a:spcBef>
              <a:spcAft>
                <a:spcPts val="1200"/>
              </a:spcAft>
              <a:buNone/>
            </a:pPr>
            <a:endParaRPr lang="en-AU" sz="2300" dirty="0" smtClean="0">
              <a:latin typeface="Helvetica" pitchFamily="34" charset="0"/>
            </a:endParaRPr>
          </a:p>
          <a:p>
            <a:pPr marL="360000" indent="-360000">
              <a:spcBef>
                <a:spcPts val="600"/>
              </a:spcBef>
              <a:spcAft>
                <a:spcPts val="1200"/>
              </a:spcAft>
              <a:buNone/>
            </a:pPr>
            <a:endParaRPr lang="en-US" sz="23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grpSp>
        <p:nvGrpSpPr>
          <p:cNvPr id="8" name="Group 7"/>
          <p:cNvGrpSpPr/>
          <p:nvPr/>
        </p:nvGrpSpPr>
        <p:grpSpPr>
          <a:xfrm>
            <a:off x="5423194" y="1916832"/>
            <a:ext cx="3048000" cy="4053606"/>
            <a:chOff x="5459760" y="1268760"/>
            <a:chExt cx="3048000" cy="4053606"/>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59760" y="1268760"/>
              <a:ext cx="3048000" cy="2023872"/>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9760" y="3289350"/>
              <a:ext cx="3048000" cy="2033016"/>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lvl="0" indent="-676275">
              <a:spcBef>
                <a:spcPts val="600"/>
              </a:spcBef>
              <a:spcAft>
                <a:spcPts val="1200"/>
              </a:spcAft>
            </a:pPr>
            <a:r>
              <a:rPr lang="en-US" sz="2800" b="1" dirty="0" smtClean="0">
                <a:solidFill>
                  <a:srgbClr val="FF6600"/>
                </a:solidFill>
                <a:latin typeface="Helvetica" pitchFamily="34" charset="0"/>
              </a:rPr>
              <a:t>1.6	</a:t>
            </a:r>
            <a:r>
              <a:rPr lang="en-AU" sz="2800" b="1" dirty="0" smtClean="0">
                <a:solidFill>
                  <a:srgbClr val="FF6600"/>
                </a:solidFill>
                <a:latin typeface="Helvetica" pitchFamily="34" charset="0"/>
              </a:rPr>
              <a:t>Direct </a:t>
            </a:r>
            <a:r>
              <a:rPr lang="en-AU" sz="2800" b="1" dirty="0">
                <a:solidFill>
                  <a:srgbClr val="FF6600"/>
                </a:solidFill>
                <a:latin typeface="Helvetica" pitchFamily="34" charset="0"/>
              </a:rPr>
              <a:t>passengers to appropriate transport location for </a:t>
            </a:r>
            <a:r>
              <a:rPr lang="en-AU" sz="2800" b="1" dirty="0" smtClean="0">
                <a:solidFill>
                  <a:srgbClr val="FF6600"/>
                </a:solidFill>
                <a:latin typeface="Helvetica" pitchFamily="34" charset="0"/>
              </a:rPr>
              <a:t>transfer</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040560" cy="4991686"/>
          </a:xfrm>
        </p:spPr>
        <p:txBody>
          <a:bodyPr>
            <a:normAutofit/>
          </a:bodyPr>
          <a:lstStyle/>
          <a:p>
            <a:pPr marL="0" indent="0">
              <a:spcBef>
                <a:spcPts val="600"/>
              </a:spcBef>
              <a:spcAft>
                <a:spcPts val="1200"/>
              </a:spcAft>
              <a:buNone/>
            </a:pPr>
            <a:r>
              <a:rPr lang="en-AU" sz="2400" dirty="0">
                <a:latin typeface="Helvetica" panose="000B0500000000000000" pitchFamily="34" charset="0"/>
              </a:rPr>
              <a:t> </a:t>
            </a:r>
            <a:r>
              <a:rPr lang="en-AU" sz="2400" dirty="0" smtClean="0">
                <a:latin typeface="Helvetica" pitchFamily="34" charset="0"/>
              </a:rPr>
              <a:t>What comes to mind when we refer to ‘transport’?</a:t>
            </a:r>
          </a:p>
          <a:p>
            <a:pPr>
              <a:lnSpc>
                <a:spcPct val="115000"/>
              </a:lnSpc>
              <a:spcAft>
                <a:spcPts val="1000"/>
              </a:spcAft>
            </a:pPr>
            <a:r>
              <a:rPr lang="en-AU" sz="2400" dirty="0">
                <a:latin typeface="Helvetica" panose="000B0500000000000000" pitchFamily="34" charset="0"/>
                <a:ea typeface="Times New Roman"/>
                <a:cs typeface="Times New Roman"/>
              </a:rPr>
              <a:t>Airports</a:t>
            </a:r>
          </a:p>
          <a:p>
            <a:pPr>
              <a:lnSpc>
                <a:spcPct val="115000"/>
              </a:lnSpc>
              <a:spcAft>
                <a:spcPts val="1000"/>
              </a:spcAft>
            </a:pPr>
            <a:r>
              <a:rPr lang="en-AU" sz="2400" dirty="0">
                <a:latin typeface="Helvetica" panose="000B0500000000000000" pitchFamily="34" charset="0"/>
                <a:ea typeface="Times New Roman"/>
                <a:cs typeface="Times New Roman"/>
              </a:rPr>
              <a:t>Bus and Coach terminals </a:t>
            </a:r>
          </a:p>
          <a:p>
            <a:pPr>
              <a:lnSpc>
                <a:spcPct val="115000"/>
              </a:lnSpc>
              <a:spcAft>
                <a:spcPts val="1000"/>
              </a:spcAft>
            </a:pPr>
            <a:r>
              <a:rPr lang="en-AU" sz="2400" dirty="0">
                <a:latin typeface="Helvetica" panose="000B0500000000000000" pitchFamily="34" charset="0"/>
                <a:ea typeface="Times New Roman"/>
                <a:cs typeface="Times New Roman"/>
              </a:rPr>
              <a:t>Train stations </a:t>
            </a:r>
          </a:p>
          <a:p>
            <a:pPr>
              <a:lnSpc>
                <a:spcPct val="115000"/>
              </a:lnSpc>
              <a:spcAft>
                <a:spcPts val="1000"/>
              </a:spcAft>
            </a:pPr>
            <a:r>
              <a:rPr lang="en-AU" sz="2400" dirty="0">
                <a:latin typeface="Helvetica" panose="000B0500000000000000" pitchFamily="34" charset="0"/>
                <a:ea typeface="Times New Roman"/>
                <a:cs typeface="Times New Roman"/>
              </a:rPr>
              <a:t>Shipping ports </a:t>
            </a:r>
          </a:p>
          <a:p>
            <a:pPr marL="0" indent="0">
              <a:spcBef>
                <a:spcPts val="600"/>
              </a:spcBef>
              <a:spcAft>
                <a:spcPts val="1200"/>
              </a:spcAft>
              <a:buNone/>
            </a:pPr>
            <a:endParaRPr lang="en-AU" sz="2400" dirty="0" smtClean="0">
              <a:latin typeface="Helvetica" pitchFamily="34" charset="0"/>
            </a:endParaRPr>
          </a:p>
          <a:p>
            <a:pPr marL="360000" indent="-360000">
              <a:spcBef>
                <a:spcPts val="600"/>
              </a:spcBef>
              <a:spcAft>
                <a:spcPts val="1200"/>
              </a:spcAft>
              <a:buNone/>
            </a:pPr>
            <a:endParaRPr lang="en-US"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grpSp>
        <p:nvGrpSpPr>
          <p:cNvPr id="10" name="Group 9"/>
          <p:cNvGrpSpPr/>
          <p:nvPr/>
        </p:nvGrpSpPr>
        <p:grpSpPr>
          <a:xfrm>
            <a:off x="5742670" y="1453062"/>
            <a:ext cx="2210480" cy="5095416"/>
            <a:chOff x="5789104" y="1412776"/>
            <a:chExt cx="2210480" cy="5095416"/>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89104" y="2663085"/>
              <a:ext cx="2189199" cy="1341979"/>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96136" y="5085184"/>
              <a:ext cx="2196000" cy="1423008"/>
            </a:xfrm>
            <a:prstGeom prst="rect">
              <a:avLst/>
            </a:prstGeom>
          </p:spPr>
        </p:pic>
        <p:pic>
          <p:nvPicPr>
            <p:cNvPr id="6" name="Picture 5"/>
            <p:cNvPicPr>
              <a:picLocks noChangeAspect="1"/>
            </p:cNvPicPr>
            <p:nvPr/>
          </p:nvPicPr>
          <p:blipFill rotWithShape="1">
            <a:blip r:embed="rId5" cstate="print">
              <a:extLst>
                <a:ext uri="{28A0092B-C50C-407E-A947-70E740481C1C}">
                  <a14:useLocalDpi xmlns:a14="http://schemas.microsoft.com/office/drawing/2010/main" val="0"/>
                </a:ext>
              </a:extLst>
            </a:blip>
            <a:srcRect b="15043"/>
            <a:stretch/>
          </p:blipFill>
          <p:spPr>
            <a:xfrm>
              <a:off x="5796136" y="3956190"/>
              <a:ext cx="2196000" cy="1244400"/>
            </a:xfrm>
            <a:prstGeom prst="rect">
              <a:avLst/>
            </a:prstGeom>
          </p:spPr>
        </p:pic>
        <p:pic>
          <p:nvPicPr>
            <p:cNvPr id="8" name="Picture 7"/>
            <p:cNvPicPr>
              <a:picLocks noChangeAspect="1"/>
            </p:cNvPicPr>
            <p:nvPr/>
          </p:nvPicPr>
          <p:blipFill rotWithShape="1">
            <a:blip r:embed="rId6" cstate="print">
              <a:extLst>
                <a:ext uri="{28A0092B-C50C-407E-A947-70E740481C1C}">
                  <a14:useLocalDpi xmlns:a14="http://schemas.microsoft.com/office/drawing/2010/main" val="0"/>
                </a:ext>
              </a:extLst>
            </a:blip>
            <a:srcRect b="14312"/>
            <a:stretch/>
          </p:blipFill>
          <p:spPr>
            <a:xfrm>
              <a:off x="5803584" y="1412776"/>
              <a:ext cx="2196000" cy="1255103"/>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lvl="0" indent="-676275">
              <a:spcBef>
                <a:spcPts val="600"/>
              </a:spcBef>
              <a:spcAft>
                <a:spcPts val="1200"/>
              </a:spcAft>
            </a:pPr>
            <a:r>
              <a:rPr lang="en-US" sz="2800" b="1" dirty="0" smtClean="0">
                <a:solidFill>
                  <a:srgbClr val="FF6600"/>
                </a:solidFill>
                <a:latin typeface="Helvetica" pitchFamily="34" charset="0"/>
              </a:rPr>
              <a:t>1.7</a:t>
            </a:r>
            <a:r>
              <a:rPr lang="en-AU" sz="2800" b="1" dirty="0">
                <a:solidFill>
                  <a:srgbClr val="FF6600"/>
                </a:solidFill>
                <a:latin typeface="Helvetica" pitchFamily="34" charset="0"/>
              </a:rPr>
              <a:t>	</a:t>
            </a:r>
            <a:r>
              <a:rPr lang="en-AU" sz="2800" b="1" dirty="0" smtClean="0">
                <a:solidFill>
                  <a:srgbClr val="FF6600"/>
                </a:solidFill>
                <a:latin typeface="Helvetica" pitchFamily="34" charset="0"/>
              </a:rPr>
              <a:t>Use </a:t>
            </a:r>
            <a:r>
              <a:rPr lang="en-AU" sz="2800" b="1" dirty="0">
                <a:solidFill>
                  <a:srgbClr val="FF6600"/>
                </a:solidFill>
                <a:latin typeface="Helvetica" pitchFamily="34" charset="0"/>
              </a:rPr>
              <a:t>terminal facilities to assist in meeting arriving </a:t>
            </a:r>
            <a:r>
              <a:rPr lang="en-AU" sz="2800" b="1" dirty="0" smtClean="0">
                <a:solidFill>
                  <a:srgbClr val="FF6600"/>
                </a:solidFill>
                <a:latin typeface="Helvetica" pitchFamily="34" charset="0"/>
              </a:rPr>
              <a:t>passengers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824536"/>
          </a:xfrm>
        </p:spPr>
        <p:txBody>
          <a:bodyPr>
            <a:normAutofit/>
          </a:bodyPr>
          <a:lstStyle/>
          <a:p>
            <a:pPr marL="0" indent="0">
              <a:spcBef>
                <a:spcPts val="600"/>
              </a:spcBef>
              <a:spcAft>
                <a:spcPts val="1200"/>
              </a:spcAft>
              <a:buNone/>
            </a:pPr>
            <a:r>
              <a:rPr lang="en-AU" sz="2400" dirty="0" smtClean="0">
                <a:latin typeface="Helvetica" pitchFamily="34" charset="0"/>
              </a:rPr>
              <a:t>Terminal facilities may include:</a:t>
            </a:r>
          </a:p>
          <a:p>
            <a:pPr lvl="0" fontAlgn="base">
              <a:lnSpc>
                <a:spcPct val="150000"/>
              </a:lnSpc>
            </a:pPr>
            <a:r>
              <a:rPr lang="en-AU" sz="2400" dirty="0" smtClean="0">
                <a:effectLst>
                  <a:glow>
                    <a:srgbClr val="000000"/>
                  </a:glow>
                  <a:outerShdw sx="0" sy="0">
                    <a:srgbClr val="000000"/>
                  </a:outerShdw>
                  <a:reflection stA="0" endPos="0" fadeDir="0" sx="0" sy="0"/>
                </a:effectLst>
                <a:latin typeface="Helvetica" pitchFamily="34" charset="0"/>
              </a:rPr>
              <a:t>Public </a:t>
            </a:r>
            <a:r>
              <a:rPr lang="en-AU" sz="2400" dirty="0">
                <a:effectLst>
                  <a:glow>
                    <a:srgbClr val="000000"/>
                  </a:glow>
                  <a:outerShdw sx="0" sy="0">
                    <a:srgbClr val="000000"/>
                  </a:outerShdw>
                  <a:reflection stA="0" endPos="0" fadeDir="0" sx="0" sy="0"/>
                </a:effectLst>
                <a:latin typeface="Helvetica" pitchFamily="34" charset="0"/>
              </a:rPr>
              <a:t>address systems</a:t>
            </a:r>
          </a:p>
          <a:p>
            <a:pPr lvl="0" fontAlgn="base">
              <a:lnSpc>
                <a:spcPct val="150000"/>
              </a:lnSpc>
            </a:pPr>
            <a:r>
              <a:rPr lang="en-AU" sz="2400" dirty="0">
                <a:effectLst>
                  <a:glow>
                    <a:srgbClr val="000000"/>
                  </a:glow>
                  <a:outerShdw sx="0" sy="0">
                    <a:srgbClr val="000000"/>
                  </a:outerShdw>
                  <a:reflection stA="0" endPos="0" fadeDir="0" sx="0" sy="0"/>
                </a:effectLst>
                <a:latin typeface="Helvetica" pitchFamily="34" charset="0"/>
              </a:rPr>
              <a:t>Airside access</a:t>
            </a:r>
          </a:p>
          <a:p>
            <a:pPr lvl="0" fontAlgn="base">
              <a:lnSpc>
                <a:spcPct val="150000"/>
              </a:lnSpc>
            </a:pPr>
            <a:r>
              <a:rPr lang="en-AU" sz="2400" dirty="0">
                <a:effectLst>
                  <a:glow>
                    <a:srgbClr val="000000"/>
                  </a:glow>
                  <a:outerShdw sx="0" sy="0">
                    <a:srgbClr val="000000"/>
                  </a:outerShdw>
                  <a:reflection stA="0" endPos="0" fadeDir="0" sx="0" sy="0"/>
                </a:effectLst>
                <a:latin typeface="Helvetica" pitchFamily="34" charset="0"/>
              </a:rPr>
              <a:t>Designated group meeting </a:t>
            </a:r>
            <a:r>
              <a:rPr lang="en-AU" sz="2400" dirty="0" smtClean="0">
                <a:effectLst>
                  <a:glow>
                    <a:srgbClr val="000000"/>
                  </a:glow>
                  <a:outerShdw sx="0" sy="0">
                    <a:srgbClr val="000000"/>
                  </a:outerShdw>
                  <a:reflection stA="0" endPos="0" fadeDir="0" sx="0" sy="0"/>
                </a:effectLst>
                <a:latin typeface="Helvetica" pitchFamily="34" charset="0"/>
              </a:rPr>
              <a:t/>
            </a:r>
            <a:br>
              <a:rPr lang="en-AU" sz="2400" dirty="0" smtClean="0">
                <a:effectLst>
                  <a:glow>
                    <a:srgbClr val="000000"/>
                  </a:glow>
                  <a:outerShdw sx="0" sy="0">
                    <a:srgbClr val="000000"/>
                  </a:outerShdw>
                  <a:reflection stA="0" endPos="0" fadeDir="0" sx="0" sy="0"/>
                </a:effectLst>
                <a:latin typeface="Helvetica" pitchFamily="34" charset="0"/>
              </a:rPr>
            </a:br>
            <a:r>
              <a:rPr lang="en-AU" sz="2400" dirty="0" smtClean="0">
                <a:effectLst>
                  <a:glow>
                    <a:srgbClr val="000000"/>
                  </a:glow>
                  <a:outerShdw sx="0" sy="0">
                    <a:srgbClr val="000000"/>
                  </a:outerShdw>
                  <a:reflection stA="0" endPos="0" fadeDir="0" sx="0" sy="0"/>
                </a:effectLst>
                <a:latin typeface="Helvetica" pitchFamily="34" charset="0"/>
              </a:rPr>
              <a:t>areas</a:t>
            </a:r>
            <a:endParaRPr lang="en-AU" sz="2400" dirty="0">
              <a:effectLst>
                <a:glow>
                  <a:srgbClr val="000000"/>
                </a:glow>
                <a:outerShdw sx="0" sy="0">
                  <a:srgbClr val="000000"/>
                </a:outerShdw>
                <a:reflection stA="0" endPos="0" fadeDir="0" sx="0" sy="0"/>
              </a:effectLst>
              <a:latin typeface="Helvetica" pitchFamily="34" charset="0"/>
            </a:endParaRPr>
          </a:p>
          <a:p>
            <a:pPr lvl="0" fontAlgn="base">
              <a:lnSpc>
                <a:spcPct val="150000"/>
              </a:lnSpc>
            </a:pPr>
            <a:r>
              <a:rPr lang="en-AU" sz="2400" dirty="0">
                <a:effectLst>
                  <a:glow>
                    <a:srgbClr val="000000"/>
                  </a:glow>
                  <a:outerShdw sx="0" sy="0">
                    <a:srgbClr val="000000"/>
                  </a:outerShdw>
                  <a:reflection stA="0" endPos="0" fadeDir="0" sx="0" sy="0"/>
                </a:effectLst>
                <a:latin typeface="Helvetica" pitchFamily="34" charset="0"/>
              </a:rPr>
              <a:t>Internal communication </a:t>
            </a:r>
            <a:r>
              <a:rPr lang="en-AU" sz="2400" dirty="0" smtClean="0">
                <a:effectLst>
                  <a:glow>
                    <a:srgbClr val="000000"/>
                  </a:glow>
                  <a:outerShdw sx="0" sy="0">
                    <a:srgbClr val="000000"/>
                  </a:outerShdw>
                  <a:reflection stA="0" endPos="0" fadeDir="0" sx="0" sy="0"/>
                </a:effectLst>
                <a:latin typeface="Helvetica" pitchFamily="34" charset="0"/>
              </a:rPr>
              <a:t/>
            </a:r>
            <a:br>
              <a:rPr lang="en-AU" sz="2400" dirty="0" smtClean="0">
                <a:effectLst>
                  <a:glow>
                    <a:srgbClr val="000000"/>
                  </a:glow>
                  <a:outerShdw sx="0" sy="0">
                    <a:srgbClr val="000000"/>
                  </a:outerShdw>
                  <a:reflection stA="0" endPos="0" fadeDir="0" sx="0" sy="0"/>
                </a:effectLst>
                <a:latin typeface="Helvetica" pitchFamily="34" charset="0"/>
              </a:rPr>
            </a:br>
            <a:r>
              <a:rPr lang="en-AU" sz="2400" dirty="0" smtClean="0">
                <a:effectLst>
                  <a:glow>
                    <a:srgbClr val="000000"/>
                  </a:glow>
                  <a:outerShdw sx="0" sy="0">
                    <a:srgbClr val="000000"/>
                  </a:outerShdw>
                  <a:reflection stA="0" endPos="0" fadeDir="0" sx="0" sy="0"/>
                </a:effectLst>
                <a:latin typeface="Helvetica" pitchFamily="34" charset="0"/>
              </a:rPr>
              <a:t>systems </a:t>
            </a:r>
            <a:br>
              <a:rPr lang="en-AU" sz="2400" dirty="0" smtClean="0">
                <a:effectLst>
                  <a:glow>
                    <a:srgbClr val="000000"/>
                  </a:glow>
                  <a:outerShdw sx="0" sy="0">
                    <a:srgbClr val="000000"/>
                  </a:outerShdw>
                  <a:reflection stA="0" endPos="0" fadeDir="0" sx="0" sy="0"/>
                </a:effectLst>
                <a:latin typeface="Helvetica" pitchFamily="34" charset="0"/>
              </a:rPr>
            </a:br>
            <a:r>
              <a:rPr lang="en-AU" sz="2400" dirty="0" smtClean="0">
                <a:effectLst>
                  <a:glow>
                    <a:srgbClr val="000000"/>
                  </a:glow>
                  <a:outerShdw sx="0" sy="0">
                    <a:srgbClr val="000000"/>
                  </a:outerShdw>
                  <a:reflection stA="0" endPos="0" fadeDir="0" sx="0" sy="0"/>
                </a:effectLst>
                <a:latin typeface="Helvetica" pitchFamily="34" charset="0"/>
              </a:rPr>
              <a:t>between </a:t>
            </a:r>
            <a:r>
              <a:rPr lang="en-AU" sz="2400" dirty="0">
                <a:effectLst>
                  <a:glow>
                    <a:srgbClr val="000000"/>
                  </a:glow>
                  <a:outerShdw sx="0" sy="0">
                    <a:srgbClr val="000000"/>
                  </a:outerShdw>
                  <a:reflection stA="0" endPos="0" fadeDir="0" sx="0" sy="0"/>
                </a:effectLst>
                <a:latin typeface="Helvetica" pitchFamily="34" charset="0"/>
              </a:rPr>
              <a:t>terminal and parking </a:t>
            </a:r>
            <a:r>
              <a:rPr lang="en-AU" sz="2400" dirty="0" smtClean="0">
                <a:effectLst>
                  <a:glow>
                    <a:srgbClr val="000000"/>
                  </a:glow>
                  <a:outerShdw sx="0" sy="0">
                    <a:srgbClr val="000000"/>
                  </a:outerShdw>
                  <a:reflection stA="0" endPos="0" fadeDir="0" sx="0" sy="0"/>
                </a:effectLst>
                <a:latin typeface="Helvetica" pitchFamily="34" charset="0"/>
              </a:rPr>
              <a:t>facilities</a:t>
            </a:r>
            <a:endParaRPr lang="en-AU" sz="2400" dirty="0">
              <a:effectLst>
                <a:glow>
                  <a:srgbClr val="000000"/>
                </a:glow>
                <a:outerShdw sx="0" sy="0">
                  <a:srgbClr val="000000"/>
                </a:outerShdw>
                <a:reflection stA="0" endPos="0" fadeDir="0" sx="0" sy="0"/>
              </a:effectLst>
              <a:latin typeface="Helvetica" pitchFamily="34" charset="0"/>
            </a:endParaRPr>
          </a:p>
          <a:p>
            <a:pPr>
              <a:spcBef>
                <a:spcPts val="400"/>
              </a:spcBef>
              <a:spcAft>
                <a:spcPts val="800"/>
              </a:spcAft>
            </a:pPr>
            <a:endParaRPr lang="en-AU" sz="2400" b="1" dirty="0">
              <a:latin typeface="Helvetica" pitchFamily="34" charset="0"/>
              <a:ea typeface="Calibri"/>
              <a:cs typeface="Calibri"/>
            </a:endParaRPr>
          </a:p>
          <a:p>
            <a:pPr marL="0" indent="0">
              <a:spcBef>
                <a:spcPts val="600"/>
              </a:spcBef>
              <a:spcAft>
                <a:spcPts val="1200"/>
              </a:spcAft>
              <a:buNone/>
            </a:pPr>
            <a:endParaRPr lang="en-AU" sz="2400" dirty="0" smtClean="0">
              <a:latin typeface="Helvetica" pitchFamily="34" charset="0"/>
            </a:endParaRPr>
          </a:p>
          <a:p>
            <a:pPr marL="360000" indent="-360000">
              <a:spcBef>
                <a:spcPts val="600"/>
              </a:spcBef>
              <a:spcAft>
                <a:spcPts val="1200"/>
              </a:spcAft>
              <a:buNone/>
            </a:pPr>
            <a:endParaRPr lang="en-US"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2564904"/>
            <a:ext cx="3584523" cy="239087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5292080" y="2204864"/>
            <a:ext cx="2790387" cy="2352296"/>
          </a:xfrm>
          <a:prstGeom prst="rect">
            <a:avLst/>
          </a:prstGeom>
        </p:spPr>
      </p:pic>
      <p:sp>
        <p:nvSpPr>
          <p:cNvPr id="2" name="Title 1"/>
          <p:cNvSpPr>
            <a:spLocks noGrp="1"/>
          </p:cNvSpPr>
          <p:nvPr>
            <p:ph type="title"/>
          </p:nvPr>
        </p:nvSpPr>
        <p:spPr>
          <a:xfrm>
            <a:off x="611560" y="332656"/>
            <a:ext cx="7467600" cy="1143000"/>
          </a:xfrm>
        </p:spPr>
        <p:txBody>
          <a:bodyPr>
            <a:normAutofit/>
          </a:bodyPr>
          <a:lstStyle/>
          <a:p>
            <a:pPr marL="712788" lvl="0" indent="-676275">
              <a:spcBef>
                <a:spcPts val="600"/>
              </a:spcBef>
              <a:spcAft>
                <a:spcPts val="1200"/>
              </a:spcAft>
            </a:pPr>
            <a:r>
              <a:rPr lang="en-US" sz="2800" b="1" dirty="0" smtClean="0">
                <a:solidFill>
                  <a:srgbClr val="FF6600"/>
                </a:solidFill>
                <a:latin typeface="Helvetica" pitchFamily="34" charset="0"/>
              </a:rPr>
              <a:t>1.8</a:t>
            </a:r>
            <a:r>
              <a:rPr lang="en-AU" sz="2800" b="1" dirty="0">
                <a:solidFill>
                  <a:srgbClr val="FF6600"/>
                </a:solidFill>
                <a:latin typeface="Helvetica" pitchFamily="34" charset="0"/>
              </a:rPr>
              <a:t>	</a:t>
            </a:r>
            <a:r>
              <a:rPr lang="en-AU" sz="2800" b="1" dirty="0" smtClean="0">
                <a:solidFill>
                  <a:srgbClr val="FF6600"/>
                </a:solidFill>
                <a:latin typeface="Helvetica" pitchFamily="34" charset="0"/>
              </a:rPr>
              <a:t>Record </a:t>
            </a:r>
            <a:r>
              <a:rPr lang="en-AU" sz="2800" b="1" dirty="0">
                <a:solidFill>
                  <a:srgbClr val="FF6600"/>
                </a:solidFill>
                <a:latin typeface="Helvetica" pitchFamily="34" charset="0"/>
              </a:rPr>
              <a:t>passenger arrivals and other </a:t>
            </a:r>
            <a:r>
              <a:rPr lang="en-AU" sz="2800" b="1" dirty="0" smtClean="0">
                <a:solidFill>
                  <a:srgbClr val="FF6600"/>
                </a:solidFill>
                <a:latin typeface="Helvetica" pitchFamily="34" charset="0"/>
              </a:rPr>
              <a:t>comments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525963"/>
          </a:xfrm>
        </p:spPr>
        <p:txBody>
          <a:bodyPr>
            <a:normAutofit lnSpcReduction="10000"/>
          </a:bodyPr>
          <a:lstStyle/>
          <a:p>
            <a:pPr marL="36576" indent="0">
              <a:buNone/>
            </a:pPr>
            <a:r>
              <a:rPr lang="en-AU" sz="2000" dirty="0" smtClean="0">
                <a:latin typeface="Helvetica" pitchFamily="34" charset="0"/>
              </a:rPr>
              <a:t>Record </a:t>
            </a:r>
            <a:r>
              <a:rPr lang="en-AU" sz="2000" dirty="0">
                <a:latin typeface="Helvetica" pitchFamily="34" charset="0"/>
              </a:rPr>
              <a:t>passenger arrivals may include:</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Using internally generated </a:t>
            </a:r>
            <a:r>
              <a:rPr lang="en-AU" sz="2000" dirty="0" smtClean="0">
                <a:effectLst>
                  <a:glow>
                    <a:srgbClr val="000000"/>
                  </a:glow>
                  <a:outerShdw sx="0" sy="0">
                    <a:srgbClr val="000000"/>
                  </a:outerShdw>
                  <a:reflection stA="0" endPos="0" fadeDir="0" sx="0" sy="0"/>
                </a:effectLst>
                <a:latin typeface="Helvetica" pitchFamily="34" charset="0"/>
              </a:rPr>
              <a:t/>
            </a:r>
            <a:br>
              <a:rPr lang="en-AU" sz="2000" dirty="0" smtClean="0">
                <a:effectLst>
                  <a:glow>
                    <a:srgbClr val="000000"/>
                  </a:glow>
                  <a:outerShdw sx="0" sy="0">
                    <a:srgbClr val="000000"/>
                  </a:outerShdw>
                  <a:reflection stA="0" endPos="0" fadeDir="0" sx="0" sy="0"/>
                </a:effectLst>
                <a:latin typeface="Helvetica" pitchFamily="34" charset="0"/>
              </a:rPr>
            </a:br>
            <a:r>
              <a:rPr lang="en-AU" sz="2000" dirty="0" smtClean="0">
                <a:effectLst>
                  <a:glow>
                    <a:srgbClr val="000000"/>
                  </a:glow>
                  <a:outerShdw sx="0" sy="0">
                    <a:srgbClr val="000000"/>
                  </a:outerShdw>
                  <a:reflection stA="0" endPos="0" fadeDir="0" sx="0" sy="0"/>
                </a:effectLst>
                <a:latin typeface="Helvetica" pitchFamily="34" charset="0"/>
              </a:rPr>
              <a:t>documentation</a:t>
            </a:r>
            <a:r>
              <a:rPr lang="en-AU" sz="2000" dirty="0">
                <a:effectLst>
                  <a:glow>
                    <a:srgbClr val="000000"/>
                  </a:glow>
                  <a:outerShdw sx="0" sy="0">
                    <a:srgbClr val="000000"/>
                  </a:outerShdw>
                  <a:reflection stA="0" endPos="0" fadeDir="0" sx="0" sy="0"/>
                </a:effectLst>
                <a:latin typeface="Helvetica" pitchFamily="34" charset="0"/>
              </a:rPr>
              <a:t>, such as an </a:t>
            </a:r>
            <a:r>
              <a:rPr lang="en-AU" sz="2000" dirty="0" smtClean="0">
                <a:effectLst>
                  <a:glow>
                    <a:srgbClr val="000000"/>
                  </a:glow>
                  <a:outerShdw sx="0" sy="0">
                    <a:srgbClr val="000000"/>
                  </a:outerShdw>
                  <a:reflection stA="0" endPos="0" fadeDir="0" sx="0" sy="0"/>
                </a:effectLst>
                <a:latin typeface="Helvetica" pitchFamily="34" charset="0"/>
              </a:rPr>
              <a:t>Arrivals </a:t>
            </a:r>
            <a:br>
              <a:rPr lang="en-AU" sz="2000" dirty="0" smtClean="0">
                <a:effectLst>
                  <a:glow>
                    <a:srgbClr val="000000"/>
                  </a:glow>
                  <a:outerShdw sx="0" sy="0">
                    <a:srgbClr val="000000"/>
                  </a:outerShdw>
                  <a:reflection stA="0" endPos="0" fadeDir="0" sx="0" sy="0"/>
                </a:effectLst>
                <a:latin typeface="Helvetica" pitchFamily="34" charset="0"/>
              </a:rPr>
            </a:br>
            <a:r>
              <a:rPr lang="en-AU" sz="2000" dirty="0" smtClean="0">
                <a:effectLst>
                  <a:glow>
                    <a:srgbClr val="000000"/>
                  </a:glow>
                  <a:outerShdw sx="0" sy="0">
                    <a:srgbClr val="000000"/>
                  </a:outerShdw>
                  <a:reflection stA="0" endPos="0" fadeDir="0" sx="0" sy="0"/>
                </a:effectLst>
                <a:latin typeface="Helvetica" pitchFamily="34" charset="0"/>
              </a:rPr>
              <a:t>List</a:t>
            </a:r>
            <a:r>
              <a:rPr lang="en-AU" sz="2000" dirty="0">
                <a:effectLst>
                  <a:glow>
                    <a:srgbClr val="000000"/>
                  </a:glow>
                  <a:outerShdw sx="0" sy="0">
                    <a:srgbClr val="000000"/>
                  </a:outerShdw>
                  <a:reflection stA="0" endPos="0" fadeDir="0" sx="0" sy="0"/>
                </a:effectLst>
                <a:latin typeface="Helvetica" pitchFamily="34" charset="0"/>
              </a:rPr>
              <a:t>, to verify actual arrival of passenger</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Noting time of arrival, where required</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Recording passengers who do </a:t>
            </a:r>
            <a:r>
              <a:rPr lang="en-AU" sz="2000" dirty="0" smtClean="0">
                <a:effectLst>
                  <a:glow>
                    <a:srgbClr val="000000"/>
                  </a:glow>
                  <a:outerShdw sx="0" sy="0">
                    <a:srgbClr val="000000"/>
                  </a:outerShdw>
                  <a:reflection stA="0" endPos="0" fadeDir="0" sx="0" sy="0"/>
                </a:effectLst>
                <a:latin typeface="Helvetica" pitchFamily="34" charset="0"/>
              </a:rPr>
              <a:t/>
            </a:r>
            <a:br>
              <a:rPr lang="en-AU" sz="2000" dirty="0" smtClean="0">
                <a:effectLst>
                  <a:glow>
                    <a:srgbClr val="000000"/>
                  </a:glow>
                  <a:outerShdw sx="0" sy="0">
                    <a:srgbClr val="000000"/>
                  </a:outerShdw>
                  <a:reflection stA="0" endPos="0" fadeDir="0" sx="0" sy="0"/>
                </a:effectLst>
                <a:latin typeface="Helvetica" pitchFamily="34" charset="0"/>
              </a:rPr>
            </a:br>
            <a:r>
              <a:rPr lang="en-AU" sz="2000" dirty="0" smtClean="0">
                <a:effectLst>
                  <a:glow>
                    <a:srgbClr val="000000"/>
                  </a:glow>
                  <a:outerShdw sx="0" sy="0">
                    <a:srgbClr val="000000"/>
                  </a:outerShdw>
                  <a:reflection stA="0" endPos="0" fadeDir="0" sx="0" sy="0"/>
                </a:effectLst>
                <a:latin typeface="Helvetica" pitchFamily="34" charset="0"/>
              </a:rPr>
              <a:t>not </a:t>
            </a:r>
            <a:r>
              <a:rPr lang="en-AU" sz="2000" dirty="0">
                <a:effectLst>
                  <a:glow>
                    <a:srgbClr val="000000"/>
                  </a:glow>
                  <a:outerShdw sx="0" sy="0">
                    <a:srgbClr val="000000"/>
                  </a:outerShdw>
                  <a:reflection stA="0" endPos="0" fadeDir="0" sx="0" sy="0"/>
                </a:effectLst>
                <a:latin typeface="Helvetica" pitchFamily="34" charset="0"/>
              </a:rPr>
              <a:t>arrive as a </a:t>
            </a:r>
            <a:r>
              <a:rPr lang="en-AU" sz="2000" dirty="0" smtClean="0">
                <a:effectLst>
                  <a:glow>
                    <a:srgbClr val="000000"/>
                  </a:glow>
                  <a:outerShdw sx="0" sy="0">
                    <a:srgbClr val="000000"/>
                  </a:outerShdw>
                  <a:reflection stA="0" endPos="0" fadeDir="0" sx="0" sy="0"/>
                </a:effectLst>
                <a:latin typeface="Helvetica" pitchFamily="34" charset="0"/>
              </a:rPr>
              <a:t>‘No Show’</a:t>
            </a:r>
            <a:endParaRPr lang="en-AU" sz="2000" dirty="0">
              <a:effectLst>
                <a:glow>
                  <a:srgbClr val="000000"/>
                </a:glow>
                <a:outerShdw sx="0" sy="0">
                  <a:srgbClr val="000000"/>
                </a:outerShdw>
                <a:reflection stA="0" endPos="0" fadeDir="0" sx="0" sy="0"/>
              </a:effectLst>
              <a:latin typeface="Helvetica" pitchFamily="34" charset="0"/>
            </a:endParaRP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Including details of reason for No Show, where known</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Noting accompanying baggage for each passenger, where </a:t>
            </a:r>
            <a:r>
              <a:rPr lang="en-AU" sz="2000" dirty="0" smtClean="0">
                <a:effectLst>
                  <a:glow>
                    <a:srgbClr val="000000"/>
                  </a:glow>
                  <a:outerShdw sx="0" sy="0">
                    <a:srgbClr val="000000"/>
                  </a:outerShdw>
                  <a:reflection stA="0" endPos="0" fadeDir="0" sx="0" sy="0"/>
                </a:effectLst>
                <a:latin typeface="Helvetica" pitchFamily="34" charset="0"/>
              </a:rPr>
              <a:t>required</a:t>
            </a:r>
            <a:endParaRPr lang="en-AU" sz="2000" dirty="0">
              <a:effectLst>
                <a:glow>
                  <a:srgbClr val="000000"/>
                </a:glow>
                <a:outerShdw sx="0" sy="0">
                  <a:srgbClr val="000000"/>
                </a:outerShdw>
                <a:reflection stA="0" endPos="0" fadeDir="0" sx="0" sy="0"/>
              </a:effectLst>
              <a:latin typeface="Helvetica" pitchFamily="34" charset="0"/>
            </a:endParaRPr>
          </a:p>
          <a:p>
            <a:pPr marL="0" indent="0">
              <a:spcBef>
                <a:spcPts val="600"/>
              </a:spcBef>
              <a:spcAft>
                <a:spcPts val="1200"/>
              </a:spcAft>
              <a:buNone/>
            </a:pPr>
            <a:endParaRPr lang="en-AU"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8136904" cy="1143000"/>
          </a:xfrm>
        </p:spPr>
        <p:txBody>
          <a:bodyPr>
            <a:normAutofit/>
          </a:bodyPr>
          <a:lstStyle/>
          <a:p>
            <a:pPr marL="712788" lvl="0" indent="-676275">
              <a:spcBef>
                <a:spcPts val="600"/>
              </a:spcBef>
              <a:spcAft>
                <a:spcPts val="1200"/>
              </a:spcAft>
            </a:pPr>
            <a:r>
              <a:rPr lang="en-US" sz="2800" b="1" dirty="0" smtClean="0">
                <a:solidFill>
                  <a:srgbClr val="FF6600"/>
                </a:solidFill>
                <a:latin typeface="Helvetica" pitchFamily="34" charset="0"/>
              </a:rPr>
              <a:t>1.9</a:t>
            </a:r>
            <a:r>
              <a:rPr lang="en-AU" sz="2800" dirty="0">
                <a:solidFill>
                  <a:prstClr val="black"/>
                </a:solidFill>
                <a:latin typeface="Helvetica" pitchFamily="34" charset="0"/>
              </a:rPr>
              <a:t>	</a:t>
            </a:r>
            <a:r>
              <a:rPr lang="en-AU" sz="2800" b="1" dirty="0" smtClean="0">
                <a:solidFill>
                  <a:srgbClr val="FF6600"/>
                </a:solidFill>
                <a:latin typeface="Helvetica" pitchFamily="34" charset="0"/>
              </a:rPr>
              <a:t>Facilitate </a:t>
            </a:r>
            <a:r>
              <a:rPr lang="en-AU" sz="2800" b="1" dirty="0">
                <a:solidFill>
                  <a:srgbClr val="FF6600"/>
                </a:solidFill>
                <a:latin typeface="Helvetica" pitchFamily="34" charset="0"/>
              </a:rPr>
              <a:t>movement of baggage from terminal to meet passenger </a:t>
            </a:r>
            <a:r>
              <a:rPr lang="en-AU" sz="2800" b="1" dirty="0" smtClean="0">
                <a:solidFill>
                  <a:srgbClr val="FF6600"/>
                </a:solidFill>
                <a:latin typeface="Helvetica" pitchFamily="34" charset="0"/>
              </a:rPr>
              <a:t>needs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lvl="0" fontAlgn="base">
              <a:spcBef>
                <a:spcPts val="1200"/>
              </a:spcBef>
              <a:spcAft>
                <a:spcPts val="1200"/>
              </a:spcAft>
            </a:pPr>
            <a:r>
              <a:rPr lang="en-AU" sz="2200" dirty="0" smtClean="0">
                <a:effectLst>
                  <a:glow>
                    <a:srgbClr val="000000"/>
                  </a:glow>
                  <a:outerShdw sx="0" sy="0">
                    <a:srgbClr val="000000"/>
                  </a:outerShdw>
                  <a:reflection stA="0" endPos="0" fadeDir="0" sx="0" sy="0"/>
                </a:effectLst>
                <a:latin typeface="Helvetica" pitchFamily="34" charset="0"/>
              </a:rPr>
              <a:t>Establishing </a:t>
            </a:r>
            <a:r>
              <a:rPr lang="en-AU" sz="2200" dirty="0">
                <a:effectLst>
                  <a:glow>
                    <a:srgbClr val="000000"/>
                  </a:glow>
                  <a:outerShdw sx="0" sy="0">
                    <a:srgbClr val="000000"/>
                  </a:outerShdw>
                  <a:reflection stA="0" endPos="0" fadeDir="0" sx="0" sy="0"/>
                </a:effectLst>
                <a:latin typeface="Helvetica" pitchFamily="34" charset="0"/>
              </a:rPr>
              <a:t>transport arrangements for baggage</a:t>
            </a:r>
          </a:p>
          <a:p>
            <a:pPr lvl="0" fontAlgn="base">
              <a:spcBef>
                <a:spcPts val="1200"/>
              </a:spcBef>
              <a:spcAft>
                <a:spcPts val="1200"/>
              </a:spcAft>
            </a:pPr>
            <a:r>
              <a:rPr lang="en-AU" sz="2200" dirty="0" smtClean="0">
                <a:effectLst>
                  <a:glow>
                    <a:srgbClr val="000000"/>
                  </a:glow>
                  <a:outerShdw sx="0" sy="0">
                    <a:srgbClr val="000000"/>
                  </a:outerShdw>
                  <a:reflection stA="0" endPos="0" fadeDir="0" sx="0" sy="0"/>
                </a:effectLst>
                <a:latin typeface="Helvetica" pitchFamily="34" charset="0"/>
              </a:rPr>
              <a:t>Transporting luggage</a:t>
            </a:r>
            <a:endParaRPr lang="en-AU" sz="2200" dirty="0">
              <a:effectLst>
                <a:glow>
                  <a:srgbClr val="000000"/>
                </a:glow>
                <a:outerShdw sx="0" sy="0">
                  <a:srgbClr val="000000"/>
                </a:outerShdw>
                <a:reflection stA="0" endPos="0" fadeDir="0" sx="0" sy="0"/>
              </a:effectLst>
              <a:latin typeface="Helvetica" pitchFamily="34" charset="0"/>
            </a:endParaRP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itchFamily="34" charset="0"/>
              </a:rPr>
              <a:t>Matching movement of baggage to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locations </a:t>
            </a:r>
            <a:r>
              <a:rPr lang="en-AU" sz="2200" dirty="0">
                <a:effectLst>
                  <a:glow>
                    <a:srgbClr val="000000"/>
                  </a:glow>
                  <a:outerShdw sx="0" sy="0">
                    <a:srgbClr val="000000"/>
                  </a:outerShdw>
                  <a:reflection stA="0" endPos="0" fadeDir="0" sx="0" sy="0"/>
                </a:effectLst>
                <a:latin typeface="Helvetica" pitchFamily="34" charset="0"/>
              </a:rPr>
              <a:t>in accordance with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schedules/passenger </a:t>
            </a:r>
            <a:r>
              <a:rPr lang="en-AU" sz="2200" dirty="0">
                <a:effectLst>
                  <a:glow>
                    <a:srgbClr val="000000"/>
                  </a:glow>
                  <a:outerShdw sx="0" sy="0">
                    <a:srgbClr val="000000"/>
                  </a:outerShdw>
                  <a:reflection stA="0" endPos="0" fadeDir="0" sx="0" sy="0"/>
                </a:effectLst>
                <a:latin typeface="Helvetica" pitchFamily="34" charset="0"/>
              </a:rPr>
              <a:t>movement</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itchFamily="34" charset="0"/>
              </a:rPr>
              <a:t>Using checking procedures to ensure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the </a:t>
            </a:r>
            <a:r>
              <a:rPr lang="en-AU" sz="2200" dirty="0">
                <a:effectLst>
                  <a:glow>
                    <a:srgbClr val="000000"/>
                  </a:glow>
                  <a:outerShdw sx="0" sy="0">
                    <a:srgbClr val="000000"/>
                  </a:outerShdw>
                  <a:reflection stA="0" endPos="0" fadeDir="0" sx="0" sy="0"/>
                </a:effectLst>
                <a:latin typeface="Helvetica" pitchFamily="34" charset="0"/>
              </a:rPr>
              <a:t>correct baggage is transported for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the </a:t>
            </a:r>
            <a:r>
              <a:rPr lang="en-AU" sz="2200" dirty="0">
                <a:effectLst>
                  <a:glow>
                    <a:srgbClr val="000000"/>
                  </a:glow>
                  <a:outerShdw sx="0" sy="0">
                    <a:srgbClr val="000000"/>
                  </a:outerShdw>
                  <a:reflection stA="0" endPos="0" fadeDir="0" sx="0" sy="0"/>
                </a:effectLst>
                <a:latin typeface="Helvetica" pitchFamily="34" charset="0"/>
              </a:rPr>
              <a:t>appropriate passenger, including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baggage </a:t>
            </a:r>
            <a:r>
              <a:rPr lang="en-AU" sz="2200" dirty="0">
                <a:effectLst>
                  <a:glow>
                    <a:srgbClr val="000000"/>
                  </a:glow>
                  <a:outerShdw sx="0" sy="0">
                    <a:srgbClr val="000000"/>
                  </a:outerShdw>
                  <a:reflection stA="0" endPos="0" fadeDir="0" sx="0" sy="0"/>
                </a:effectLst>
                <a:latin typeface="Helvetica" pitchFamily="34" charset="0"/>
              </a:rPr>
              <a:t>tagging and </a:t>
            </a:r>
            <a:r>
              <a:rPr lang="en-AU" sz="2200" dirty="0" smtClean="0">
                <a:effectLst>
                  <a:glow>
                    <a:srgbClr val="000000"/>
                  </a:glow>
                  <a:outerShdw sx="0" sy="0">
                    <a:srgbClr val="000000"/>
                  </a:outerShdw>
                  <a:reflection stA="0" endPos="0" fadeDir="0" sx="0" sy="0"/>
                </a:effectLst>
                <a:latin typeface="Helvetica" pitchFamily="34" charset="0"/>
              </a:rPr>
              <a:t>recording</a:t>
            </a:r>
            <a:endParaRPr lang="en-AU" sz="2200" dirty="0">
              <a:effectLst>
                <a:glow>
                  <a:srgbClr val="000000"/>
                </a:glow>
                <a:outerShdw sx="0" sy="0">
                  <a:srgbClr val="000000"/>
                </a:outerShdw>
                <a:reflection stA="0" endPos="0" fadeDir="0" sx="0" sy="0"/>
              </a:effectLst>
              <a:latin typeface="Helvetica" pitchFamily="34" charset="0"/>
            </a:endParaRPr>
          </a:p>
          <a:p>
            <a:pPr marL="0" indent="0">
              <a:spcBef>
                <a:spcPts val="1200"/>
              </a:spcBef>
              <a:spcAft>
                <a:spcPts val="1200"/>
              </a:spcAft>
              <a:buNone/>
            </a:pPr>
            <a:endParaRPr lang="en-AU"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5887" y="2055076"/>
            <a:ext cx="2033016" cy="304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47248" cy="1143000"/>
          </a:xfrm>
        </p:spPr>
        <p:txBody>
          <a:bodyPr>
            <a:normAutofit/>
          </a:bodyPr>
          <a:lstStyle/>
          <a:p>
            <a:pPr marL="712788" indent="-712788"/>
            <a:r>
              <a:rPr lang="en-US" sz="2800" b="1" dirty="0">
                <a:solidFill>
                  <a:srgbClr val="FF6600"/>
                </a:solidFill>
                <a:latin typeface="Helvetica" pitchFamily="34" charset="0"/>
              </a:rPr>
              <a:t>1.9</a:t>
            </a:r>
            <a:r>
              <a:rPr lang="en-AU" sz="2800" dirty="0">
                <a:solidFill>
                  <a:prstClr val="black"/>
                </a:solidFill>
                <a:latin typeface="Helvetica" pitchFamily="34" charset="0"/>
              </a:rPr>
              <a:t>	</a:t>
            </a:r>
            <a:r>
              <a:rPr lang="en-AU" sz="2800" b="1" dirty="0">
                <a:solidFill>
                  <a:srgbClr val="FF6600"/>
                </a:solidFill>
                <a:latin typeface="Helvetica" pitchFamily="34" charset="0"/>
              </a:rPr>
              <a:t>Facilitate movement of baggage from terminal to meet passenger needs</a:t>
            </a:r>
            <a:endParaRPr lang="en-AU" sz="2800" dirty="0">
              <a:latin typeface="Helvetica" pitchFamily="34" charset="0"/>
            </a:endParaRPr>
          </a:p>
        </p:txBody>
      </p:sp>
      <p:sp>
        <p:nvSpPr>
          <p:cNvPr id="3" name="Content Placeholder 2"/>
          <p:cNvSpPr>
            <a:spLocks noGrp="1"/>
          </p:cNvSpPr>
          <p:nvPr>
            <p:ph idx="1"/>
          </p:nvPr>
        </p:nvSpPr>
        <p:spPr>
          <a:xfrm>
            <a:off x="457200" y="1600200"/>
            <a:ext cx="8219256" cy="4525963"/>
          </a:xfrm>
        </p:spPr>
        <p:txBody>
          <a:bodyPr>
            <a:normAutofit/>
          </a:bodyPr>
          <a:lstStyle/>
          <a:p>
            <a:pPr>
              <a:lnSpc>
                <a:spcPct val="150000"/>
              </a:lnSpc>
              <a:spcBef>
                <a:spcPts val="400"/>
              </a:spcBef>
              <a:spcAft>
                <a:spcPts val="800"/>
              </a:spcAft>
            </a:pPr>
            <a:r>
              <a:rPr lang="en-AU" sz="2400" dirty="0">
                <a:latin typeface="Helvetica" pitchFamily="34" charset="0"/>
                <a:ea typeface="Times New Roman"/>
                <a:cs typeface="Times New Roman"/>
              </a:rPr>
              <a:t>Supervising movement of baggage</a:t>
            </a:r>
          </a:p>
          <a:p>
            <a:pPr>
              <a:lnSpc>
                <a:spcPct val="150000"/>
              </a:lnSpc>
              <a:spcBef>
                <a:spcPts val="400"/>
              </a:spcBef>
              <a:spcAft>
                <a:spcPts val="800"/>
              </a:spcAft>
            </a:pPr>
            <a:r>
              <a:rPr lang="en-AU" sz="2400" dirty="0">
                <a:latin typeface="Helvetica" pitchFamily="34" charset="0"/>
                <a:ea typeface="Times New Roman"/>
                <a:cs typeface="Times New Roman"/>
              </a:rPr>
              <a:t>Check luggage storage compartment</a:t>
            </a:r>
          </a:p>
          <a:p>
            <a:pPr>
              <a:lnSpc>
                <a:spcPct val="150000"/>
              </a:lnSpc>
              <a:spcBef>
                <a:spcPts val="400"/>
              </a:spcBef>
              <a:spcAft>
                <a:spcPts val="800"/>
              </a:spcAft>
            </a:pPr>
            <a:r>
              <a:rPr lang="en-AU" sz="2400" dirty="0">
                <a:latin typeface="Helvetica" pitchFamily="34" charset="0"/>
                <a:ea typeface="Times New Roman"/>
                <a:cs typeface="Times New Roman"/>
              </a:rPr>
              <a:t>Ensure that all visitors’ luggage is </a:t>
            </a:r>
            <a:r>
              <a:rPr lang="en-AU" sz="2400" dirty="0" smtClean="0">
                <a:latin typeface="Helvetica" pitchFamily="34" charset="0"/>
                <a:ea typeface="Times New Roman"/>
                <a:cs typeface="Times New Roman"/>
              </a:rPr>
              <a:t>being </a:t>
            </a:r>
            <a:r>
              <a:rPr lang="en-AU" sz="2400" dirty="0">
                <a:latin typeface="Helvetica" pitchFamily="34" charset="0"/>
                <a:ea typeface="Times New Roman"/>
                <a:cs typeface="Times New Roman"/>
              </a:rPr>
              <a:t>tracked and handled correctly</a:t>
            </a:r>
          </a:p>
          <a:p>
            <a:pPr>
              <a:lnSpc>
                <a:spcPct val="150000"/>
              </a:lnSpc>
              <a:spcBef>
                <a:spcPts val="400"/>
              </a:spcBef>
              <a:spcAft>
                <a:spcPts val="800"/>
              </a:spcAft>
            </a:pPr>
            <a:r>
              <a:rPr lang="en-AU" sz="2400" dirty="0">
                <a:latin typeface="Helvetica" pitchFamily="34" charset="0"/>
                <a:ea typeface="Times New Roman"/>
                <a:cs typeface="Times New Roman"/>
              </a:rPr>
              <a:t>Indemnity form</a:t>
            </a:r>
          </a:p>
          <a:p>
            <a:endParaRPr lang="en-AU" sz="2400"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22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5896" y="3645024"/>
            <a:ext cx="3048000" cy="2090928"/>
          </a:xfrm>
          <a:prstGeom prst="rect">
            <a:avLst/>
          </a:prstGeom>
        </p:spPr>
      </p:pic>
    </p:spTree>
    <p:extLst>
      <p:ext uri="{BB962C8B-B14F-4D97-AF65-F5344CB8AC3E}">
        <p14:creationId xmlns:p14="http://schemas.microsoft.com/office/powerpoint/2010/main" val="205012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1340768"/>
            <a:ext cx="2126176" cy="2687960"/>
          </a:xfrm>
          <a:prstGeom prst="rect">
            <a:avLst/>
          </a:prstGeom>
        </p:spPr>
      </p:pic>
      <p:sp>
        <p:nvSpPr>
          <p:cNvPr id="2" name="Title 1"/>
          <p:cNvSpPr>
            <a:spLocks noGrp="1"/>
          </p:cNvSpPr>
          <p:nvPr>
            <p:ph type="title"/>
          </p:nvPr>
        </p:nvSpPr>
        <p:spPr>
          <a:xfrm>
            <a:off x="611560" y="188640"/>
            <a:ext cx="7920880" cy="1143000"/>
          </a:xfrm>
        </p:spPr>
        <p:txBody>
          <a:bodyPr>
            <a:normAutofit/>
          </a:bodyPr>
          <a:lstStyle/>
          <a:p>
            <a:pPr marL="808038" lvl="0" indent="-771525">
              <a:spcBef>
                <a:spcPts val="600"/>
              </a:spcBef>
              <a:spcAft>
                <a:spcPts val="1200"/>
              </a:spcAft>
            </a:pPr>
            <a:r>
              <a:rPr lang="en-US" sz="2800" b="1" dirty="0" smtClean="0">
                <a:solidFill>
                  <a:srgbClr val="FF6600"/>
                </a:solidFill>
                <a:latin typeface="Helvetica" pitchFamily="34" charset="0"/>
              </a:rPr>
              <a:t>1.10	</a:t>
            </a:r>
            <a:r>
              <a:rPr lang="en-AU" sz="2800" b="1" dirty="0" smtClean="0">
                <a:solidFill>
                  <a:srgbClr val="FF6600"/>
                </a:solidFill>
                <a:latin typeface="Helvetica" pitchFamily="34" charset="0"/>
              </a:rPr>
              <a:t>Follow </a:t>
            </a:r>
            <a:r>
              <a:rPr lang="en-AU" sz="2800" b="1" dirty="0">
                <a:solidFill>
                  <a:srgbClr val="FF6600"/>
                </a:solidFill>
                <a:latin typeface="Helvetica" pitchFamily="34" charset="0"/>
              </a:rPr>
              <a:t>lost baggage procedures, where </a:t>
            </a:r>
            <a:r>
              <a:rPr lang="en-AU" sz="2800" b="1" dirty="0" smtClean="0">
                <a:solidFill>
                  <a:srgbClr val="FF6600"/>
                </a:solidFill>
                <a:latin typeface="Helvetica" pitchFamily="34" charset="0"/>
              </a:rPr>
              <a:t>required</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992888" cy="5301208"/>
          </a:xfrm>
        </p:spPr>
        <p:txBody>
          <a:bodyPr>
            <a:noAutofit/>
          </a:bodyPr>
          <a:lstStyle/>
          <a:p>
            <a:pPr marL="36576" indent="0">
              <a:lnSpc>
                <a:spcPct val="150000"/>
              </a:lnSpc>
              <a:buNone/>
            </a:pPr>
            <a:r>
              <a:rPr lang="en-AU" sz="2000" dirty="0" smtClean="0">
                <a:latin typeface="Helvetica" pitchFamily="34" charset="0"/>
              </a:rPr>
              <a:t>Follow </a:t>
            </a:r>
            <a:r>
              <a:rPr lang="en-AU" sz="2000" dirty="0">
                <a:latin typeface="Helvetica" pitchFamily="34" charset="0"/>
              </a:rPr>
              <a:t>lost baggage procedures may include:</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Recording details and description of </a:t>
            </a:r>
            <a:r>
              <a:rPr lang="en-AU" sz="2000" dirty="0" smtClean="0">
                <a:effectLst>
                  <a:glow>
                    <a:srgbClr val="000000"/>
                  </a:glow>
                  <a:outerShdw sx="0" sy="0">
                    <a:srgbClr val="000000"/>
                  </a:outerShdw>
                  <a:reflection stA="0" endPos="0" fadeDir="0" sx="0" sy="0"/>
                </a:effectLst>
                <a:latin typeface="Helvetica" pitchFamily="34" charset="0"/>
              </a:rPr>
              <a:t/>
            </a:r>
            <a:br>
              <a:rPr lang="en-AU" sz="2000" dirty="0" smtClean="0">
                <a:effectLst>
                  <a:glow>
                    <a:srgbClr val="000000"/>
                  </a:glow>
                  <a:outerShdw sx="0" sy="0">
                    <a:srgbClr val="000000"/>
                  </a:outerShdw>
                  <a:reflection stA="0" endPos="0" fadeDir="0" sx="0" sy="0"/>
                </a:effectLst>
                <a:latin typeface="Helvetica" pitchFamily="34" charset="0"/>
              </a:rPr>
            </a:br>
            <a:r>
              <a:rPr lang="en-AU" sz="2000" dirty="0" smtClean="0">
                <a:effectLst>
                  <a:glow>
                    <a:srgbClr val="000000"/>
                  </a:glow>
                  <a:outerShdw sx="0" sy="0">
                    <a:srgbClr val="000000"/>
                  </a:outerShdw>
                  <a:reflection stA="0" endPos="0" fadeDir="0" sx="0" sy="0"/>
                </a:effectLst>
                <a:latin typeface="Helvetica" pitchFamily="34" charset="0"/>
              </a:rPr>
              <a:t>baggage claimed </a:t>
            </a:r>
            <a:r>
              <a:rPr lang="en-AU" sz="2000" dirty="0">
                <a:effectLst>
                  <a:glow>
                    <a:srgbClr val="000000"/>
                  </a:glow>
                  <a:outerShdw sx="0" sy="0">
                    <a:srgbClr val="000000"/>
                  </a:outerShdw>
                  <a:reflection stA="0" endPos="0" fadeDir="0" sx="0" sy="0"/>
                </a:effectLst>
                <a:latin typeface="Helvetica" pitchFamily="34" charset="0"/>
              </a:rPr>
              <a:t>to have been lost</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Capturing details of the passenger, </a:t>
            </a:r>
            <a:r>
              <a:rPr lang="en-AU" sz="2000" dirty="0" smtClean="0">
                <a:effectLst>
                  <a:glow>
                    <a:srgbClr val="000000"/>
                  </a:glow>
                  <a:outerShdw sx="0" sy="0">
                    <a:srgbClr val="000000"/>
                  </a:outerShdw>
                  <a:reflection stA="0" endPos="0" fadeDir="0" sx="0" sy="0"/>
                </a:effectLst>
                <a:latin typeface="Helvetica" pitchFamily="34" charset="0"/>
              </a:rPr>
              <a:t/>
            </a:r>
            <a:br>
              <a:rPr lang="en-AU" sz="2000" dirty="0" smtClean="0">
                <a:effectLst>
                  <a:glow>
                    <a:srgbClr val="000000"/>
                  </a:glow>
                  <a:outerShdw sx="0" sy="0">
                    <a:srgbClr val="000000"/>
                  </a:outerShdw>
                  <a:reflection stA="0" endPos="0" fadeDir="0" sx="0" sy="0"/>
                </a:effectLst>
                <a:latin typeface="Helvetica" pitchFamily="34" charset="0"/>
              </a:rPr>
            </a:br>
            <a:r>
              <a:rPr lang="en-AU" sz="2000" dirty="0" smtClean="0">
                <a:effectLst>
                  <a:glow>
                    <a:srgbClr val="000000"/>
                  </a:glow>
                  <a:outerShdw sx="0" sy="0">
                    <a:srgbClr val="000000"/>
                  </a:outerShdw>
                  <a:reflection stA="0" endPos="0" fadeDir="0" sx="0" sy="0"/>
                </a:effectLst>
                <a:latin typeface="Helvetica" pitchFamily="34" charset="0"/>
              </a:rPr>
              <a:t>including </a:t>
            </a:r>
            <a:r>
              <a:rPr lang="en-AU" sz="2000" dirty="0">
                <a:effectLst>
                  <a:glow>
                    <a:srgbClr val="000000"/>
                  </a:glow>
                  <a:outerShdw sx="0" sy="0">
                    <a:srgbClr val="000000"/>
                  </a:outerShdw>
                  <a:reflection stA="0" endPos="0" fadeDir="0" sx="0" sy="0"/>
                </a:effectLst>
                <a:latin typeface="Helvetica" pitchFamily="34" charset="0"/>
              </a:rPr>
              <a:t>their next destination, duration at </a:t>
            </a:r>
            <a:r>
              <a:rPr lang="en-AU" sz="2000" dirty="0" smtClean="0">
                <a:effectLst>
                  <a:glow>
                    <a:srgbClr val="000000"/>
                  </a:glow>
                  <a:outerShdw sx="0" sy="0">
                    <a:srgbClr val="000000"/>
                  </a:outerShdw>
                  <a:reflection stA="0" endPos="0" fadeDir="0" sx="0" sy="0"/>
                </a:effectLst>
                <a:latin typeface="Helvetica" pitchFamily="34" charset="0"/>
              </a:rPr>
              <a:t/>
            </a:r>
            <a:br>
              <a:rPr lang="en-AU" sz="2000" dirty="0" smtClean="0">
                <a:effectLst>
                  <a:glow>
                    <a:srgbClr val="000000"/>
                  </a:glow>
                  <a:outerShdw sx="0" sy="0">
                    <a:srgbClr val="000000"/>
                  </a:outerShdw>
                  <a:reflection stA="0" endPos="0" fadeDir="0" sx="0" sy="0"/>
                </a:effectLst>
                <a:latin typeface="Helvetica" pitchFamily="34" charset="0"/>
              </a:rPr>
            </a:br>
            <a:r>
              <a:rPr lang="en-AU" sz="2000" dirty="0" smtClean="0">
                <a:effectLst>
                  <a:glow>
                    <a:srgbClr val="000000"/>
                  </a:glow>
                  <a:outerShdw sx="0" sy="0">
                    <a:srgbClr val="000000"/>
                  </a:outerShdw>
                  <a:reflection stA="0" endPos="0" fadeDir="0" sx="0" sy="0"/>
                </a:effectLst>
                <a:latin typeface="Helvetica" pitchFamily="34" charset="0"/>
              </a:rPr>
              <a:t>that </a:t>
            </a:r>
            <a:r>
              <a:rPr lang="en-AU" sz="2000" dirty="0">
                <a:effectLst>
                  <a:glow>
                    <a:srgbClr val="000000"/>
                  </a:glow>
                  <a:outerShdw sx="0" sy="0">
                    <a:srgbClr val="000000"/>
                  </a:outerShdw>
                  <a:reflection stA="0" endPos="0" fadeDir="0" sx="0" sy="0"/>
                </a:effectLst>
                <a:latin typeface="Helvetica" pitchFamily="34" charset="0"/>
              </a:rPr>
              <a:t>location and immediate ongoing itinerary</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Conducting immediate search for the baggage</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Notifying other staff to involve them in the baggage search</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Apologising to </a:t>
            </a:r>
            <a:r>
              <a:rPr lang="en-AU" sz="2000" dirty="0" smtClean="0">
                <a:effectLst>
                  <a:glow>
                    <a:srgbClr val="000000"/>
                  </a:glow>
                  <a:outerShdw sx="0" sy="0">
                    <a:srgbClr val="000000"/>
                  </a:outerShdw>
                  <a:reflection stA="0" endPos="0" fadeDir="0" sx="0" sy="0"/>
                </a:effectLst>
                <a:latin typeface="Helvetica" pitchFamily="34" charset="0"/>
              </a:rPr>
              <a:t>passenger</a:t>
            </a:r>
          </a:p>
          <a:p>
            <a:pPr marL="36576" lvl="0" indent="0" fontAlgn="base">
              <a:lnSpc>
                <a:spcPct val="150000"/>
              </a:lnSpc>
              <a:buNone/>
            </a:pPr>
            <a:r>
              <a:rPr lang="en-AU" sz="2000" i="1" dirty="0" smtClean="0">
                <a:effectLst>
                  <a:glow>
                    <a:srgbClr val="000000"/>
                  </a:glow>
                  <a:outerShdw sx="0" sy="0">
                    <a:srgbClr val="000000"/>
                  </a:outerShdw>
                  <a:reflection stA="0" endPos="0" fadeDir="0" sx="0" sy="0"/>
                </a:effectLst>
                <a:latin typeface="Helvetica" pitchFamily="34" charset="0"/>
              </a:rPr>
              <a:t>(Continued)</a:t>
            </a:r>
            <a:endParaRPr lang="en-AU" sz="2000" i="1"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992888" cy="4824536"/>
          </a:xfrm>
        </p:spPr>
        <p:txBody>
          <a:bodyPr>
            <a:normAutofit/>
          </a:bodyPr>
          <a:lstStyle/>
          <a:p>
            <a:pPr marL="36576" indent="0">
              <a:lnSpc>
                <a:spcPct val="150000"/>
              </a:lnSpc>
              <a:buNone/>
            </a:pPr>
            <a:r>
              <a:rPr lang="en-AU" sz="2000" dirty="0" smtClean="0">
                <a:latin typeface="Helvetica" pitchFamily="34" charset="0"/>
              </a:rPr>
              <a:t>Follow </a:t>
            </a:r>
            <a:r>
              <a:rPr lang="en-AU" sz="2000" dirty="0">
                <a:latin typeface="Helvetica" pitchFamily="34" charset="0"/>
              </a:rPr>
              <a:t>lost baggage procedures may include:</a:t>
            </a:r>
          </a:p>
          <a:p>
            <a:pPr lvl="0" fontAlgn="base">
              <a:lnSpc>
                <a:spcPct val="150000"/>
              </a:lnSpc>
            </a:pPr>
            <a:r>
              <a:rPr lang="en-AU" sz="2000" dirty="0" smtClean="0">
                <a:effectLst>
                  <a:glow>
                    <a:srgbClr val="000000"/>
                  </a:glow>
                  <a:outerShdw sx="0" sy="0">
                    <a:srgbClr val="000000"/>
                  </a:outerShdw>
                  <a:reflection stA="0" endPos="0" fadeDir="0" sx="0" sy="0"/>
                </a:effectLst>
                <a:latin typeface="Helvetica" pitchFamily="34" charset="0"/>
              </a:rPr>
              <a:t>Providing </a:t>
            </a:r>
            <a:r>
              <a:rPr lang="en-AU" sz="2000" dirty="0">
                <a:effectLst>
                  <a:glow>
                    <a:srgbClr val="000000"/>
                  </a:glow>
                  <a:outerShdw sx="0" sy="0">
                    <a:srgbClr val="000000"/>
                  </a:outerShdw>
                  <a:reflection stA="0" endPos="0" fadeDir="0" sx="0" sy="0"/>
                </a:effectLst>
                <a:latin typeface="Helvetica" pitchFamily="34" charset="0"/>
              </a:rPr>
              <a:t>passenger with host enterprise on-the-spot compensation, where applicable</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Advising passenger regarding claims </a:t>
            </a:r>
            <a:r>
              <a:rPr lang="en-AU" sz="2000" dirty="0" smtClean="0">
                <a:effectLst>
                  <a:glow>
                    <a:srgbClr val="000000"/>
                  </a:glow>
                  <a:outerShdw sx="0" sy="0">
                    <a:srgbClr val="000000"/>
                  </a:outerShdw>
                  <a:reflection stA="0" endPos="0" fadeDir="0" sx="0" sy="0"/>
                </a:effectLst>
                <a:latin typeface="Helvetica" pitchFamily="34" charset="0"/>
              </a:rPr>
              <a:t/>
            </a:r>
            <a:br>
              <a:rPr lang="en-AU" sz="2000" dirty="0" smtClean="0">
                <a:effectLst>
                  <a:glow>
                    <a:srgbClr val="000000"/>
                  </a:glow>
                  <a:outerShdw sx="0" sy="0">
                    <a:srgbClr val="000000"/>
                  </a:outerShdw>
                  <a:reflection stA="0" endPos="0" fadeDir="0" sx="0" sy="0"/>
                </a:effectLst>
                <a:latin typeface="Helvetica" pitchFamily="34" charset="0"/>
              </a:rPr>
            </a:br>
            <a:r>
              <a:rPr lang="en-AU" sz="2000" dirty="0" smtClean="0">
                <a:effectLst>
                  <a:glow>
                    <a:srgbClr val="000000"/>
                  </a:glow>
                  <a:outerShdw sx="0" sy="0">
                    <a:srgbClr val="000000"/>
                  </a:outerShdw>
                  <a:reflection stA="0" endPos="0" fadeDir="0" sx="0" sy="0"/>
                </a:effectLst>
                <a:latin typeface="Helvetica" pitchFamily="34" charset="0"/>
              </a:rPr>
              <a:t>procedure </a:t>
            </a:r>
            <a:r>
              <a:rPr lang="en-AU" sz="2000" dirty="0">
                <a:effectLst>
                  <a:glow>
                    <a:srgbClr val="000000"/>
                  </a:glow>
                  <a:outerShdw sx="0" sy="0">
                    <a:srgbClr val="000000"/>
                  </a:outerShdw>
                  <a:reflection stA="0" endPos="0" fadeDir="0" sx="0" sy="0"/>
                </a:effectLst>
                <a:latin typeface="Helvetica" pitchFamily="34" charset="0"/>
              </a:rPr>
              <a:t>against the company</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Advising passenger regarding </a:t>
            </a:r>
            <a:r>
              <a:rPr lang="en-AU" sz="2000" dirty="0" smtClean="0">
                <a:effectLst>
                  <a:glow>
                    <a:srgbClr val="000000"/>
                  </a:glow>
                  <a:outerShdw sx="0" sy="0">
                    <a:srgbClr val="000000"/>
                  </a:outerShdw>
                  <a:reflection stA="0" endPos="0" fadeDir="0" sx="0" sy="0"/>
                </a:effectLst>
                <a:latin typeface="Helvetica" pitchFamily="34" charset="0"/>
              </a:rPr>
              <a:t/>
            </a:r>
            <a:br>
              <a:rPr lang="en-AU" sz="2000" dirty="0" smtClean="0">
                <a:effectLst>
                  <a:glow>
                    <a:srgbClr val="000000"/>
                  </a:glow>
                  <a:outerShdw sx="0" sy="0">
                    <a:srgbClr val="000000"/>
                  </a:outerShdw>
                  <a:reflection stA="0" endPos="0" fadeDir="0" sx="0" sy="0"/>
                </a:effectLst>
                <a:latin typeface="Helvetica" pitchFamily="34" charset="0"/>
              </a:rPr>
            </a:br>
            <a:r>
              <a:rPr lang="en-AU" sz="2000" dirty="0" smtClean="0">
                <a:effectLst>
                  <a:glow>
                    <a:srgbClr val="000000"/>
                  </a:glow>
                  <a:outerShdw sx="0" sy="0">
                    <a:srgbClr val="000000"/>
                  </a:outerShdw>
                  <a:reflection stA="0" endPos="0" fadeDir="0" sx="0" sy="0"/>
                </a:effectLst>
                <a:latin typeface="Helvetica" pitchFamily="34" charset="0"/>
              </a:rPr>
              <a:t>insurance claims</a:t>
            </a:r>
            <a:r>
              <a:rPr lang="en-AU" sz="2000" dirty="0">
                <a:effectLst>
                  <a:glow>
                    <a:srgbClr val="000000"/>
                  </a:glow>
                  <a:outerShdw sx="0" sy="0">
                    <a:srgbClr val="000000"/>
                  </a:outerShdw>
                  <a:reflection stA="0" endPos="0" fadeDir="0" sx="0" sy="0"/>
                </a:effectLst>
                <a:latin typeface="Helvetica" pitchFamily="34" charset="0"/>
              </a:rPr>
              <a:t>, where applicable</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Advising passenger regarding applicable terms and conditions</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Comforting </a:t>
            </a:r>
            <a:r>
              <a:rPr lang="en-AU" sz="2000" dirty="0" smtClean="0">
                <a:effectLst>
                  <a:glow>
                    <a:srgbClr val="000000"/>
                  </a:glow>
                  <a:outerShdw sx="0" sy="0">
                    <a:srgbClr val="000000"/>
                  </a:outerShdw>
                  <a:reflection stA="0" endPos="0" fadeDir="0" sx="0" sy="0"/>
                </a:effectLst>
                <a:latin typeface="Helvetica" pitchFamily="34" charset="0"/>
              </a:rPr>
              <a:t>passenger</a:t>
            </a:r>
            <a:endParaRPr lang="en-AU" sz="2000" dirty="0">
              <a:effectLst>
                <a:glow>
                  <a:srgbClr val="000000"/>
                </a:glow>
                <a:outerShdw sx="0" sy="0">
                  <a:srgbClr val="000000"/>
                </a:outerShdw>
                <a:reflection stA="0" endPos="0" fadeDir="0" sx="0" sy="0"/>
              </a:effectLst>
              <a:latin typeface="Helvetica" pitchFamily="34" charset="0"/>
            </a:endParaRPr>
          </a:p>
          <a:p>
            <a:pPr marL="0" indent="0">
              <a:spcBef>
                <a:spcPts val="600"/>
              </a:spcBef>
              <a:spcAft>
                <a:spcPts val="1200"/>
              </a:spcAft>
              <a:buNone/>
            </a:pPr>
            <a:endParaRPr lang="en-AU"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sp>
        <p:nvSpPr>
          <p:cNvPr id="6" name="Title 1"/>
          <p:cNvSpPr>
            <a:spLocks noGrp="1"/>
          </p:cNvSpPr>
          <p:nvPr>
            <p:ph type="title"/>
          </p:nvPr>
        </p:nvSpPr>
        <p:spPr>
          <a:xfrm>
            <a:off x="611560" y="188640"/>
            <a:ext cx="7920880" cy="1143000"/>
          </a:xfrm>
        </p:spPr>
        <p:txBody>
          <a:bodyPr>
            <a:normAutofit/>
          </a:bodyPr>
          <a:lstStyle/>
          <a:p>
            <a:pPr marL="808038" lvl="0" indent="-771525">
              <a:spcBef>
                <a:spcPts val="600"/>
              </a:spcBef>
              <a:spcAft>
                <a:spcPts val="1200"/>
              </a:spcAft>
            </a:pPr>
            <a:r>
              <a:rPr lang="en-US" sz="2800" b="1" dirty="0" smtClean="0">
                <a:solidFill>
                  <a:srgbClr val="FF6600"/>
                </a:solidFill>
                <a:latin typeface="Helvetica" pitchFamily="34" charset="0"/>
              </a:rPr>
              <a:t>1.10	</a:t>
            </a:r>
            <a:r>
              <a:rPr lang="en-AU" sz="2800" b="1" dirty="0" smtClean="0">
                <a:solidFill>
                  <a:srgbClr val="FF6600"/>
                </a:solidFill>
                <a:latin typeface="Helvetica" pitchFamily="34" charset="0"/>
              </a:rPr>
              <a:t>Follow </a:t>
            </a:r>
            <a:r>
              <a:rPr lang="en-AU" sz="2800" b="1" dirty="0">
                <a:solidFill>
                  <a:srgbClr val="FF6600"/>
                </a:solidFill>
                <a:latin typeface="Helvetica" pitchFamily="34" charset="0"/>
              </a:rPr>
              <a:t>lost baggage procedures, where </a:t>
            </a:r>
            <a:r>
              <a:rPr lang="en-AU" sz="2800" b="1" dirty="0" smtClean="0">
                <a:solidFill>
                  <a:srgbClr val="FF6600"/>
                </a:solidFill>
                <a:latin typeface="Helvetica" pitchFamily="34" charset="0"/>
              </a:rPr>
              <a:t>required</a:t>
            </a:r>
            <a:endParaRPr lang="en-US" sz="28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2744879"/>
            <a:ext cx="3285268" cy="2191273"/>
          </a:xfrm>
          <a:prstGeom prst="rect">
            <a:avLst/>
          </a:prstGeom>
        </p:spPr>
      </p:pic>
    </p:spTree>
    <p:extLst>
      <p:ext uri="{BB962C8B-B14F-4D97-AF65-F5344CB8AC3E}">
        <p14:creationId xmlns:p14="http://schemas.microsoft.com/office/powerpoint/2010/main" val="49753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19256" cy="4525963"/>
          </a:xfrm>
        </p:spPr>
        <p:txBody>
          <a:bodyPr>
            <a:normAutofit/>
          </a:bodyPr>
          <a:lstStyle/>
          <a:p>
            <a:pPr>
              <a:spcBef>
                <a:spcPts val="400"/>
              </a:spcBef>
              <a:spcAft>
                <a:spcPts val="800"/>
              </a:spcAft>
            </a:pPr>
            <a:r>
              <a:rPr lang="en-AU" sz="2200" dirty="0">
                <a:latin typeface="Helvetica" pitchFamily="34" charset="0"/>
                <a:ea typeface="MS Mincho"/>
                <a:cs typeface="Times New Roman"/>
              </a:rPr>
              <a:t>Identify the arriving terminal and its handling agent</a:t>
            </a:r>
            <a:endParaRPr lang="en-AU" sz="2200" dirty="0">
              <a:latin typeface="Helvetica" pitchFamily="34" charset="0"/>
              <a:ea typeface="Times New Roman"/>
              <a:cs typeface="Times New Roman"/>
            </a:endParaRPr>
          </a:p>
          <a:p>
            <a:pPr>
              <a:spcBef>
                <a:spcPts val="400"/>
              </a:spcBef>
              <a:spcAft>
                <a:spcPts val="800"/>
              </a:spcAft>
            </a:pPr>
            <a:r>
              <a:rPr lang="en-AU" sz="2200" dirty="0">
                <a:latin typeface="Helvetica" pitchFamily="34" charset="0"/>
                <a:ea typeface="MS Mincho"/>
                <a:cs typeface="Times New Roman"/>
              </a:rPr>
              <a:t>Transport Terminal Air: Lost </a:t>
            </a:r>
            <a:r>
              <a:rPr lang="en-AU" sz="2200" dirty="0" smtClean="0">
                <a:latin typeface="Helvetica" pitchFamily="34" charset="0"/>
                <a:ea typeface="MS Mincho"/>
                <a:cs typeface="Times New Roman"/>
              </a:rPr>
              <a:t>and </a:t>
            </a:r>
            <a:r>
              <a:rPr lang="en-AU" sz="2200" dirty="0">
                <a:latin typeface="Helvetica" pitchFamily="34" charset="0"/>
                <a:ea typeface="MS Mincho"/>
                <a:cs typeface="Times New Roman"/>
              </a:rPr>
              <a:t>Damaged Luggage </a:t>
            </a:r>
            <a:r>
              <a:rPr lang="en-AU" sz="2200" dirty="0" smtClean="0">
                <a:latin typeface="Helvetica" pitchFamily="34" charset="0"/>
                <a:ea typeface="MS Mincho"/>
                <a:cs typeface="Times New Roman"/>
              </a:rPr>
              <a:t>Procedures</a:t>
            </a:r>
          </a:p>
          <a:p>
            <a:pPr>
              <a:spcBef>
                <a:spcPts val="1200"/>
              </a:spcBef>
              <a:spcAft>
                <a:spcPts val="800"/>
              </a:spcAft>
            </a:pPr>
            <a:r>
              <a:rPr lang="en-AU" sz="2200" dirty="0">
                <a:latin typeface="Helvetica" pitchFamily="34" charset="0"/>
                <a:ea typeface="Times New Roman"/>
                <a:cs typeface="Times New Roman"/>
              </a:rPr>
              <a:t>Conduct immediate search with agency and other staff</a:t>
            </a:r>
          </a:p>
          <a:p>
            <a:pPr>
              <a:spcBef>
                <a:spcPts val="400"/>
              </a:spcBef>
              <a:spcAft>
                <a:spcPts val="800"/>
              </a:spcAft>
            </a:pPr>
            <a:r>
              <a:rPr lang="en-AU" sz="2200" dirty="0">
                <a:latin typeface="Helvetica" pitchFamily="34" charset="0"/>
                <a:ea typeface="Times New Roman"/>
                <a:cs typeface="Times New Roman"/>
              </a:rPr>
              <a:t>Conduct an </a:t>
            </a:r>
            <a:r>
              <a:rPr lang="en-AU" sz="2200" dirty="0" smtClean="0">
                <a:latin typeface="Helvetica" pitchFamily="34" charset="0"/>
                <a:ea typeface="Times New Roman"/>
                <a:cs typeface="Times New Roman"/>
              </a:rPr>
              <a:t>investigation</a:t>
            </a:r>
          </a:p>
          <a:p>
            <a:pPr>
              <a:spcBef>
                <a:spcPts val="400"/>
              </a:spcBef>
              <a:spcAft>
                <a:spcPts val="800"/>
              </a:spcAft>
            </a:pPr>
            <a:r>
              <a:rPr lang="en-AU" sz="2200" dirty="0">
                <a:latin typeface="Helvetica" pitchFamily="34" charset="0"/>
                <a:ea typeface="Times New Roman"/>
                <a:cs typeface="Times New Roman"/>
              </a:rPr>
              <a:t>Assist with insurance claim</a:t>
            </a:r>
          </a:p>
          <a:p>
            <a:pPr>
              <a:spcBef>
                <a:spcPts val="400"/>
              </a:spcBef>
              <a:spcAft>
                <a:spcPts val="800"/>
              </a:spcAft>
            </a:pPr>
            <a:r>
              <a:rPr lang="en-AU" sz="2200" dirty="0">
                <a:latin typeface="Helvetica" pitchFamily="34" charset="0"/>
                <a:ea typeface="Times New Roman"/>
                <a:cs typeface="Times New Roman"/>
              </a:rPr>
              <a:t>Complete an incident report</a:t>
            </a:r>
          </a:p>
          <a:p>
            <a:pPr>
              <a:spcBef>
                <a:spcPts val="400"/>
              </a:spcBef>
              <a:spcAft>
                <a:spcPts val="800"/>
              </a:spcAft>
            </a:pPr>
            <a:endParaRPr lang="en-AU" sz="2200" b="1" i="1" dirty="0">
              <a:latin typeface="Helvetica" pitchFamily="34" charset="0"/>
              <a:ea typeface="Times New Roman"/>
              <a:cs typeface="Times New Roman"/>
            </a:endParaRPr>
          </a:p>
          <a:p>
            <a:pPr>
              <a:spcBef>
                <a:spcPts val="400"/>
              </a:spcBef>
              <a:spcAft>
                <a:spcPts val="800"/>
              </a:spcAft>
            </a:pPr>
            <a:endParaRPr lang="en-AU" sz="2200" b="1" i="1" dirty="0">
              <a:latin typeface="Helvetica" pitchFamily="34" charset="0"/>
              <a:ea typeface="Times New Roman"/>
              <a:cs typeface="Times New Roman"/>
            </a:endParaRP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25</a:t>
            </a:fld>
            <a:endParaRPr lang="en-US" dirty="0"/>
          </a:p>
        </p:txBody>
      </p:sp>
      <p:sp>
        <p:nvSpPr>
          <p:cNvPr id="6" name="Title 1"/>
          <p:cNvSpPr>
            <a:spLocks noGrp="1"/>
          </p:cNvSpPr>
          <p:nvPr>
            <p:ph type="title"/>
          </p:nvPr>
        </p:nvSpPr>
        <p:spPr>
          <a:xfrm>
            <a:off x="611560" y="188640"/>
            <a:ext cx="7920880" cy="1143000"/>
          </a:xfrm>
        </p:spPr>
        <p:txBody>
          <a:bodyPr>
            <a:normAutofit/>
          </a:bodyPr>
          <a:lstStyle/>
          <a:p>
            <a:pPr marL="808038" lvl="0" indent="-771525">
              <a:spcBef>
                <a:spcPts val="600"/>
              </a:spcBef>
              <a:spcAft>
                <a:spcPts val="1200"/>
              </a:spcAft>
            </a:pPr>
            <a:r>
              <a:rPr lang="en-US" sz="2800" b="1" dirty="0" smtClean="0">
                <a:solidFill>
                  <a:srgbClr val="FF6600"/>
                </a:solidFill>
                <a:latin typeface="Helvetica" pitchFamily="34" charset="0"/>
              </a:rPr>
              <a:t>1.10	</a:t>
            </a:r>
            <a:r>
              <a:rPr lang="en-AU" sz="2800" b="1" dirty="0" smtClean="0">
                <a:solidFill>
                  <a:srgbClr val="FF6600"/>
                </a:solidFill>
                <a:latin typeface="Helvetica" pitchFamily="34" charset="0"/>
              </a:rPr>
              <a:t>Follow </a:t>
            </a:r>
            <a:r>
              <a:rPr lang="en-AU" sz="2800" b="1" dirty="0">
                <a:solidFill>
                  <a:srgbClr val="FF6600"/>
                </a:solidFill>
                <a:latin typeface="Helvetica" pitchFamily="34" charset="0"/>
              </a:rPr>
              <a:t>lost baggage procedures, where </a:t>
            </a:r>
            <a:r>
              <a:rPr lang="en-AU" sz="2800" b="1" dirty="0" smtClean="0">
                <a:solidFill>
                  <a:srgbClr val="FF6600"/>
                </a:solidFill>
                <a:latin typeface="Helvetica" pitchFamily="34" charset="0"/>
              </a:rPr>
              <a:t>required</a:t>
            </a:r>
            <a:endParaRPr lang="en-US" sz="28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8" y="3573014"/>
            <a:ext cx="3816424" cy="2545555"/>
          </a:xfrm>
          <a:prstGeom prst="rect">
            <a:avLst/>
          </a:prstGeom>
        </p:spPr>
      </p:pic>
    </p:spTree>
    <p:extLst>
      <p:ext uri="{BB962C8B-B14F-4D97-AF65-F5344CB8AC3E}">
        <p14:creationId xmlns:p14="http://schemas.microsoft.com/office/powerpoint/2010/main" val="192595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08912" cy="1368152"/>
          </a:xfrm>
        </p:spPr>
        <p:txBody>
          <a:bodyPr>
            <a:normAutofit fontScale="90000"/>
          </a:bodyPr>
          <a:lstStyle/>
          <a:p>
            <a:pPr marL="903288" lvl="0" indent="-866775">
              <a:spcBef>
                <a:spcPts val="600"/>
              </a:spcBef>
              <a:spcAft>
                <a:spcPts val="1200"/>
              </a:spcAft>
            </a:pPr>
            <a:r>
              <a:rPr lang="en-US" sz="3400" b="1" dirty="0" smtClean="0">
                <a:solidFill>
                  <a:srgbClr val="FF6600"/>
                </a:solidFill>
                <a:latin typeface="Helvetica" pitchFamily="34" charset="0"/>
              </a:rPr>
              <a:t>1.11	</a:t>
            </a:r>
            <a:r>
              <a:rPr lang="en-AU" sz="3100" b="1" dirty="0" smtClean="0">
                <a:solidFill>
                  <a:srgbClr val="FF6600"/>
                </a:solidFill>
                <a:latin typeface="Helvetica" pitchFamily="34" charset="0"/>
              </a:rPr>
              <a:t>Liaise </a:t>
            </a:r>
            <a:r>
              <a:rPr lang="en-AU" sz="3100" b="1" dirty="0">
                <a:solidFill>
                  <a:srgbClr val="FF6600"/>
                </a:solidFill>
                <a:latin typeface="Helvetica" pitchFamily="34" charset="0"/>
              </a:rPr>
              <a:t>with staff from other businesses to facilitate passenger arrival at, and use of, their products and </a:t>
            </a:r>
            <a:r>
              <a:rPr lang="en-AU" sz="3100" b="1" dirty="0" smtClean="0">
                <a:solidFill>
                  <a:srgbClr val="FF6600"/>
                </a:solidFill>
                <a:latin typeface="Helvetica" pitchFamily="34" charset="0"/>
              </a:rPr>
              <a:t>services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824536"/>
          </a:xfrm>
        </p:spPr>
        <p:txBody>
          <a:bodyPr>
            <a:normAutofit/>
          </a:bodyPr>
          <a:lstStyle/>
          <a:p>
            <a:pPr marL="36576" indent="0">
              <a:lnSpc>
                <a:spcPct val="150000"/>
              </a:lnSpc>
              <a:spcBef>
                <a:spcPts val="400"/>
              </a:spcBef>
              <a:spcAft>
                <a:spcPts val="800"/>
              </a:spcAft>
              <a:buNone/>
            </a:pPr>
            <a:r>
              <a:rPr lang="en-AU" sz="2000" dirty="0">
                <a:latin typeface="Helvetica" pitchFamily="34" charset="0"/>
                <a:ea typeface="Times New Roman"/>
                <a:cs typeface="Times New Roman"/>
              </a:rPr>
              <a:t>Liaise with staff from other </a:t>
            </a:r>
            <a:r>
              <a:rPr lang="en-AU" sz="2000" dirty="0" smtClean="0">
                <a:latin typeface="Helvetica" pitchFamily="34" charset="0"/>
                <a:ea typeface="Times New Roman"/>
                <a:cs typeface="Times New Roman"/>
              </a:rPr>
              <a:t>businesses:</a:t>
            </a:r>
          </a:p>
          <a:p>
            <a:pPr lvl="0" fontAlgn="base">
              <a:lnSpc>
                <a:spcPct val="150000"/>
              </a:lnSpc>
            </a:pPr>
            <a:r>
              <a:rPr lang="en-AU" sz="2000" dirty="0">
                <a:effectLst>
                  <a:glow>
                    <a:srgbClr val="000000"/>
                  </a:glow>
                  <a:outerShdw sx="0" sy="0">
                    <a:srgbClr val="000000"/>
                  </a:outerShdw>
                  <a:reflection stA="0" endPos="0" fadeDir="0" sx="0" sy="0"/>
                </a:effectLst>
                <a:latin typeface="Helvetica" pitchFamily="34" charset="0"/>
              </a:rPr>
              <a:t>Notifying other businesses that </a:t>
            </a:r>
            <a:r>
              <a:rPr lang="en-AU" sz="2000" dirty="0" smtClean="0">
                <a:effectLst>
                  <a:glow>
                    <a:srgbClr val="000000"/>
                  </a:glow>
                  <a:outerShdw sx="0" sy="0">
                    <a:srgbClr val="000000"/>
                  </a:outerShdw>
                  <a:reflection stA="0" endPos="0" fadeDir="0" sx="0" sy="0"/>
                </a:effectLst>
                <a:latin typeface="Helvetica" pitchFamily="34" charset="0"/>
              </a:rPr>
              <a:t/>
            </a:r>
            <a:br>
              <a:rPr lang="en-AU" sz="2000" dirty="0" smtClean="0">
                <a:effectLst>
                  <a:glow>
                    <a:srgbClr val="000000"/>
                  </a:glow>
                  <a:outerShdw sx="0" sy="0">
                    <a:srgbClr val="000000"/>
                  </a:outerShdw>
                  <a:reflection stA="0" endPos="0" fadeDir="0" sx="0" sy="0"/>
                </a:effectLst>
                <a:latin typeface="Helvetica" pitchFamily="34" charset="0"/>
              </a:rPr>
            </a:br>
            <a:r>
              <a:rPr lang="en-AU" sz="2000" dirty="0" smtClean="0">
                <a:effectLst>
                  <a:glow>
                    <a:srgbClr val="000000"/>
                  </a:glow>
                  <a:outerShdw sx="0" sy="0">
                    <a:srgbClr val="000000"/>
                  </a:outerShdw>
                  <a:reflection stA="0" endPos="0" fadeDir="0" sx="0" sy="0"/>
                </a:effectLst>
                <a:latin typeface="Helvetica" pitchFamily="34" charset="0"/>
              </a:rPr>
              <a:t>passengers have </a:t>
            </a:r>
            <a:r>
              <a:rPr lang="en-AU" sz="2000" dirty="0">
                <a:effectLst>
                  <a:glow>
                    <a:srgbClr val="000000"/>
                  </a:glow>
                  <a:outerShdw sx="0" sy="0">
                    <a:srgbClr val="000000"/>
                  </a:outerShdw>
                  <a:reflection stA="0" endPos="0" fadeDir="0" sx="0" sy="0"/>
                </a:effectLst>
                <a:latin typeface="Helvetica" pitchFamily="34" charset="0"/>
              </a:rPr>
              <a:t>arrived at the terminal </a:t>
            </a:r>
            <a:endParaRPr lang="en-AU" sz="2000" dirty="0" smtClean="0">
              <a:effectLst>
                <a:glow>
                  <a:srgbClr val="000000"/>
                </a:glow>
                <a:outerShdw sx="0" sy="0">
                  <a:srgbClr val="000000"/>
                </a:outerShdw>
                <a:reflection stA="0" endPos="0" fadeDir="0" sx="0" sy="0"/>
              </a:effectLst>
              <a:latin typeface="Helvetica" pitchFamily="34" charset="0"/>
            </a:endParaRPr>
          </a:p>
          <a:p>
            <a:pPr lvl="0" fontAlgn="base">
              <a:lnSpc>
                <a:spcPct val="150000"/>
              </a:lnSpc>
            </a:pPr>
            <a:r>
              <a:rPr lang="en-AU" sz="2000" dirty="0" smtClean="0">
                <a:effectLst>
                  <a:glow>
                    <a:srgbClr val="000000"/>
                  </a:glow>
                  <a:outerShdw sx="0" sy="0">
                    <a:srgbClr val="000000"/>
                  </a:outerShdw>
                  <a:reflection stA="0" endPos="0" fadeDir="0" sx="0" sy="0"/>
                </a:effectLst>
                <a:latin typeface="Helvetica" pitchFamily="34" charset="0"/>
              </a:rPr>
              <a:t>Providing </a:t>
            </a:r>
            <a:r>
              <a:rPr lang="en-AU" sz="2000" dirty="0">
                <a:effectLst>
                  <a:glow>
                    <a:srgbClr val="000000"/>
                  </a:glow>
                  <a:outerShdw sx="0" sy="0">
                    <a:srgbClr val="000000"/>
                  </a:outerShdw>
                  <a:reflection stA="0" endPos="0" fadeDir="0" sx="0" sy="0"/>
                </a:effectLst>
                <a:latin typeface="Helvetica" pitchFamily="34" charset="0"/>
              </a:rPr>
              <a:t>group details as appropriate </a:t>
            </a:r>
            <a:endParaRPr lang="en-AU" sz="2000" dirty="0" smtClean="0">
              <a:effectLst>
                <a:glow>
                  <a:srgbClr val="000000"/>
                </a:glow>
                <a:outerShdw sx="0" sy="0">
                  <a:srgbClr val="000000"/>
                </a:outerShdw>
                <a:reflection stA="0" endPos="0" fadeDir="0" sx="0" sy="0"/>
              </a:effectLst>
              <a:latin typeface="Helvetica" pitchFamily="34" charset="0"/>
            </a:endParaRPr>
          </a:p>
          <a:p>
            <a:pPr lvl="0" fontAlgn="base">
              <a:lnSpc>
                <a:spcPct val="150000"/>
              </a:lnSpc>
            </a:pPr>
            <a:r>
              <a:rPr lang="en-AU" sz="2000" dirty="0" smtClean="0">
                <a:latin typeface="Helvetica" pitchFamily="34" charset="0"/>
              </a:rPr>
              <a:t>In </a:t>
            </a:r>
            <a:r>
              <a:rPr lang="en-AU" sz="2000" dirty="0">
                <a:latin typeface="Helvetica" pitchFamily="34" charset="0"/>
              </a:rPr>
              <a:t>order for visitor’s travel arrangements </a:t>
            </a:r>
            <a:r>
              <a:rPr lang="en-AU" sz="2000" dirty="0" smtClean="0">
                <a:latin typeface="Helvetica" pitchFamily="34" charset="0"/>
              </a:rPr>
              <a:t/>
            </a:r>
            <a:br>
              <a:rPr lang="en-AU" sz="2000" dirty="0" smtClean="0">
                <a:latin typeface="Helvetica" pitchFamily="34" charset="0"/>
              </a:rPr>
            </a:br>
            <a:r>
              <a:rPr lang="en-AU" sz="2000" dirty="0" smtClean="0">
                <a:latin typeface="Helvetica" pitchFamily="34" charset="0"/>
              </a:rPr>
              <a:t>to </a:t>
            </a:r>
            <a:r>
              <a:rPr lang="en-AU" sz="2000" dirty="0">
                <a:latin typeface="Helvetica" pitchFamily="34" charset="0"/>
              </a:rPr>
              <a:t>run smoothly it is vital clear </a:t>
            </a:r>
            <a:r>
              <a:rPr lang="en-AU" sz="2000" dirty="0" smtClean="0">
                <a:latin typeface="Helvetica" pitchFamily="34" charset="0"/>
              </a:rPr>
              <a:t/>
            </a:r>
            <a:br>
              <a:rPr lang="en-AU" sz="2000" dirty="0" smtClean="0">
                <a:latin typeface="Helvetica" pitchFamily="34" charset="0"/>
              </a:rPr>
            </a:br>
            <a:r>
              <a:rPr lang="en-AU" sz="2000" dirty="0" smtClean="0">
                <a:latin typeface="Helvetica" pitchFamily="34" charset="0"/>
              </a:rPr>
              <a:t>communication </a:t>
            </a:r>
            <a:r>
              <a:rPr lang="en-AU" sz="2000" dirty="0">
                <a:latin typeface="Helvetica" pitchFamily="34" charset="0"/>
              </a:rPr>
              <a:t>be maintained between the parties </a:t>
            </a:r>
            <a:r>
              <a:rPr lang="en-AU" sz="2000" dirty="0" smtClean="0">
                <a:latin typeface="Helvetica" pitchFamily="34" charset="0"/>
              </a:rPr>
              <a:t>concerned:</a:t>
            </a:r>
          </a:p>
          <a:p>
            <a:pPr lvl="1" fontAlgn="base">
              <a:lnSpc>
                <a:spcPct val="150000"/>
              </a:lnSpc>
            </a:pPr>
            <a:r>
              <a:rPr lang="en-AU" sz="2000" dirty="0" smtClean="0">
                <a:latin typeface="Helvetica" pitchFamily="34" charset="0"/>
              </a:rPr>
              <a:t>How will you do this?</a:t>
            </a:r>
          </a:p>
          <a:p>
            <a:pPr marL="342900" indent="-342900" fontAlgn="base">
              <a:spcBef>
                <a:spcPts val="300"/>
              </a:spcBef>
              <a:spcAft>
                <a:spcPts val="600"/>
              </a:spcAft>
              <a:buFont typeface="Wingdings"/>
              <a:buChar char=""/>
            </a:pPr>
            <a:endParaRPr lang="en-AU"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3665" y="2348880"/>
            <a:ext cx="3155958" cy="21050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936104"/>
          </a:xfrm>
        </p:spPr>
        <p:txBody>
          <a:bodyPr>
            <a:noAutofit/>
          </a:bodyPr>
          <a:lstStyle/>
          <a:p>
            <a:pPr marL="1971675" indent="-1971675">
              <a:spcBef>
                <a:spcPts val="600"/>
              </a:spcBef>
              <a:spcAft>
                <a:spcPts val="1200"/>
              </a:spcAft>
            </a:pPr>
            <a:r>
              <a:rPr lang="en-AU" sz="2800" b="1" dirty="0">
                <a:solidFill>
                  <a:srgbClr val="FF6600"/>
                </a:solidFill>
                <a:latin typeface="Helvetica" pitchFamily="34" charset="0"/>
              </a:rPr>
              <a:t>Element </a:t>
            </a:r>
            <a:r>
              <a:rPr lang="en-AU" sz="2800" b="1" dirty="0" smtClean="0">
                <a:solidFill>
                  <a:srgbClr val="FF6600"/>
                </a:solidFill>
                <a:latin typeface="Helvetica" pitchFamily="34" charset="0"/>
              </a:rPr>
              <a:t>2:	Provide assistance for departure customers</a:t>
            </a:r>
            <a:endParaRPr lang="en-AU" sz="2800" b="1" i="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184576"/>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marL="712788" indent="-676275">
              <a:spcBef>
                <a:spcPts val="600"/>
              </a:spcBef>
              <a:spcAft>
                <a:spcPts val="1200"/>
              </a:spcAft>
              <a:buNone/>
            </a:pPr>
            <a:r>
              <a:rPr lang="en-AU" sz="2200" dirty="0" smtClean="0">
                <a:latin typeface="Helvetica" pitchFamily="34" charset="0"/>
              </a:rPr>
              <a:t>2.1	Check itinerary of departing passengers to identify and action alterations as required</a:t>
            </a:r>
          </a:p>
          <a:p>
            <a:pPr marL="712788" indent="-676275">
              <a:spcBef>
                <a:spcPts val="600"/>
              </a:spcBef>
              <a:spcAft>
                <a:spcPts val="1200"/>
              </a:spcAft>
              <a:buNone/>
            </a:pPr>
            <a:r>
              <a:rPr lang="en-AU" sz="2200" dirty="0" smtClean="0">
                <a:latin typeface="Helvetica" pitchFamily="34" charset="0"/>
              </a:rPr>
              <a:t>2.2 	Organise the departure of passengers</a:t>
            </a:r>
            <a:br>
              <a:rPr lang="en-AU" sz="2200" dirty="0" smtClean="0">
                <a:latin typeface="Helvetica" pitchFamily="34" charset="0"/>
              </a:rPr>
            </a:br>
            <a:r>
              <a:rPr lang="en-AU" sz="2200" dirty="0" smtClean="0">
                <a:latin typeface="Helvetica" pitchFamily="34" charset="0"/>
              </a:rPr>
              <a:t> from their location</a:t>
            </a:r>
          </a:p>
          <a:p>
            <a:pPr marL="712788" indent="-676275">
              <a:spcBef>
                <a:spcPts val="600"/>
              </a:spcBef>
              <a:spcAft>
                <a:spcPts val="1200"/>
              </a:spcAft>
              <a:buNone/>
            </a:pPr>
            <a:r>
              <a:rPr lang="en-AU" sz="2200" dirty="0" smtClean="0">
                <a:latin typeface="Helvetica" pitchFamily="34" charset="0"/>
              </a:rPr>
              <a:t>2.3 	Verify departing passengers using </a:t>
            </a:r>
            <a:br>
              <a:rPr lang="en-AU" sz="2200" dirty="0" smtClean="0">
                <a:latin typeface="Helvetica" pitchFamily="34" charset="0"/>
              </a:rPr>
            </a:br>
            <a:r>
              <a:rPr lang="en-AU" sz="2200" dirty="0" smtClean="0">
                <a:latin typeface="Helvetica" pitchFamily="34" charset="0"/>
              </a:rPr>
              <a:t>a departures list</a:t>
            </a:r>
          </a:p>
          <a:p>
            <a:pPr marL="712788" indent="-676275">
              <a:spcBef>
                <a:spcPts val="600"/>
              </a:spcBef>
              <a:spcAft>
                <a:spcPts val="1200"/>
              </a:spcAft>
              <a:buNone/>
            </a:pPr>
            <a:r>
              <a:rPr lang="en-AU" sz="2200" dirty="0" smtClean="0">
                <a:latin typeface="Helvetica" pitchFamily="34" charset="0"/>
              </a:rPr>
              <a:t>2.4 	Facilitate movement of baggage from departing passenger location to terminal</a:t>
            </a:r>
          </a:p>
          <a:p>
            <a:pPr>
              <a:spcBef>
                <a:spcPts val="600"/>
              </a:spcBef>
              <a:spcAft>
                <a:spcPts val="1200"/>
              </a:spcAft>
            </a:pPr>
            <a:endParaRPr lang="en-AU" sz="2200" dirty="0" smtClean="0">
              <a:latin typeface="Helvetica" pitchFamily="34" charset="0"/>
            </a:endParaRPr>
          </a:p>
          <a:p>
            <a:pPr marL="36576" indent="0">
              <a:spcBef>
                <a:spcPts val="600"/>
              </a:spcBef>
              <a:spcAft>
                <a:spcPts val="1200"/>
              </a:spcAft>
              <a:buNone/>
            </a:pPr>
            <a:r>
              <a:rPr lang="en-AU" sz="2200" i="1" dirty="0" smtClean="0">
                <a:latin typeface="Helvetica" pitchFamily="34" charset="0"/>
              </a:rPr>
              <a:t>(Continued)</a:t>
            </a:r>
            <a:endParaRPr lang="en-AU" sz="2200" i="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2" y="2420888"/>
            <a:ext cx="2071093" cy="20962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marL="628650" indent="-592138">
              <a:spcBef>
                <a:spcPts val="600"/>
              </a:spcBef>
              <a:spcAft>
                <a:spcPts val="1200"/>
              </a:spcAft>
              <a:buNone/>
            </a:pPr>
            <a:r>
              <a:rPr lang="en-AU" sz="2200" dirty="0" smtClean="0">
                <a:latin typeface="Helvetica" pitchFamily="34" charset="0"/>
              </a:rPr>
              <a:t>2.5	 Advise departing passengers regarding legal and other procedures applying to their departure</a:t>
            </a:r>
          </a:p>
          <a:p>
            <a:pPr marL="628650" indent="-592138">
              <a:spcBef>
                <a:spcPts val="600"/>
              </a:spcBef>
              <a:spcAft>
                <a:spcPts val="1200"/>
              </a:spcAft>
              <a:buNone/>
            </a:pPr>
            <a:r>
              <a:rPr lang="en-AU" sz="2200" dirty="0" smtClean="0">
                <a:latin typeface="Helvetica" pitchFamily="34" charset="0"/>
              </a:rPr>
              <a:t>2.6 	Solicit feedback from departing </a:t>
            </a:r>
            <a:br>
              <a:rPr lang="en-AU" sz="2200" dirty="0" smtClean="0">
                <a:latin typeface="Helvetica" pitchFamily="34" charset="0"/>
              </a:rPr>
            </a:br>
            <a:r>
              <a:rPr lang="en-AU" sz="2200" dirty="0" smtClean="0">
                <a:latin typeface="Helvetica" pitchFamily="34" charset="0"/>
              </a:rPr>
              <a:t>guests on products and services</a:t>
            </a:r>
          </a:p>
          <a:p>
            <a:pPr marL="628650" indent="-592138">
              <a:spcBef>
                <a:spcPts val="600"/>
              </a:spcBef>
              <a:spcAft>
                <a:spcPts val="1200"/>
              </a:spcAft>
              <a:buNone/>
            </a:pPr>
            <a:r>
              <a:rPr lang="en-AU" sz="2200" dirty="0" smtClean="0">
                <a:latin typeface="Helvetica" pitchFamily="34" charset="0"/>
              </a:rPr>
              <a:t>2.7 	Facilitate check-in of departing </a:t>
            </a:r>
            <a:br>
              <a:rPr lang="en-AU" sz="2200" dirty="0" smtClean="0">
                <a:latin typeface="Helvetica" pitchFamily="34" charset="0"/>
              </a:rPr>
            </a:br>
            <a:r>
              <a:rPr lang="en-AU" sz="2200" dirty="0" smtClean="0">
                <a:latin typeface="Helvetica" pitchFamily="34" charset="0"/>
              </a:rPr>
              <a:t>passengers at the terminal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sp>
        <p:nvSpPr>
          <p:cNvPr id="6" name="Title 1"/>
          <p:cNvSpPr>
            <a:spLocks noGrp="1"/>
          </p:cNvSpPr>
          <p:nvPr>
            <p:ph type="title"/>
          </p:nvPr>
        </p:nvSpPr>
        <p:spPr>
          <a:xfrm>
            <a:off x="611560" y="332656"/>
            <a:ext cx="8532440" cy="936104"/>
          </a:xfrm>
        </p:spPr>
        <p:txBody>
          <a:bodyPr>
            <a:noAutofit/>
          </a:bodyPr>
          <a:lstStyle/>
          <a:p>
            <a:pPr marL="1971675" indent="-1971675">
              <a:spcBef>
                <a:spcPts val="600"/>
              </a:spcBef>
              <a:spcAft>
                <a:spcPts val="1200"/>
              </a:spcAft>
            </a:pPr>
            <a:r>
              <a:rPr lang="en-AU" sz="2800" b="1" dirty="0">
                <a:solidFill>
                  <a:srgbClr val="FF6600"/>
                </a:solidFill>
                <a:latin typeface="Helvetica" pitchFamily="34" charset="0"/>
              </a:rPr>
              <a:t>Element </a:t>
            </a:r>
            <a:r>
              <a:rPr lang="en-AU" sz="2800" b="1" dirty="0" smtClean="0">
                <a:solidFill>
                  <a:srgbClr val="FF6600"/>
                </a:solidFill>
                <a:latin typeface="Helvetica" pitchFamily="34" charset="0"/>
              </a:rPr>
              <a:t>2:	Provide assistance for departure customers</a:t>
            </a:r>
            <a:endParaRPr lang="en-AU" sz="2800" b="1" i="1" dirty="0" smtClean="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2810819"/>
            <a:ext cx="2399928" cy="22847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2132856"/>
            <a:ext cx="2089998" cy="2831976"/>
          </a:xfrm>
          <a:prstGeom prst="rect">
            <a:avLst/>
          </a:prstGeom>
        </p:spPr>
      </p:pic>
      <p:sp>
        <p:nvSpPr>
          <p:cNvPr id="2" name="Title 1"/>
          <p:cNvSpPr>
            <a:spLocks noGrp="1"/>
          </p:cNvSpPr>
          <p:nvPr>
            <p:ph type="title"/>
          </p:nvPr>
        </p:nvSpPr>
        <p:spPr>
          <a:xfrm>
            <a:off x="467544" y="332656"/>
            <a:ext cx="8136904" cy="1224136"/>
          </a:xfrm>
        </p:spPr>
        <p:txBody>
          <a:bodyPr>
            <a:normAutofit fontScale="90000"/>
          </a:bodyPr>
          <a:lstStyle/>
          <a:p>
            <a:pPr marL="808038" lvl="0" indent="-771525">
              <a:spcBef>
                <a:spcPts val="600"/>
              </a:spcBef>
              <a:spcAft>
                <a:spcPts val="1200"/>
              </a:spcAft>
            </a:pPr>
            <a:r>
              <a:rPr lang="en-US" sz="2800" b="1" dirty="0" smtClean="0">
                <a:solidFill>
                  <a:srgbClr val="FF6600"/>
                </a:solidFill>
                <a:latin typeface="Helvetica" pitchFamily="34" charset="0"/>
              </a:rPr>
              <a:t>2.1	</a:t>
            </a:r>
            <a:r>
              <a:rPr lang="en-AU" sz="2800" b="1" dirty="0" smtClean="0">
                <a:solidFill>
                  <a:srgbClr val="FF6600"/>
                </a:solidFill>
                <a:latin typeface="Helvetica" pitchFamily="34" charset="0"/>
              </a:rPr>
              <a:t>Check </a:t>
            </a:r>
            <a:r>
              <a:rPr lang="en-AU" sz="2800" b="1" dirty="0">
                <a:solidFill>
                  <a:srgbClr val="FF6600"/>
                </a:solidFill>
                <a:latin typeface="Helvetica" pitchFamily="34" charset="0"/>
              </a:rPr>
              <a:t>itinerary of departing passengers to identify and action alterations as </a:t>
            </a:r>
            <a:r>
              <a:rPr lang="en-AU" sz="2800" b="1" dirty="0" smtClean="0">
                <a:solidFill>
                  <a:srgbClr val="FF6600"/>
                </a:solidFill>
                <a:latin typeface="Helvetica" pitchFamily="34" charset="0"/>
              </a:rPr>
              <a:t>required</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395536" y="1628800"/>
            <a:ext cx="8010064" cy="4896544"/>
          </a:xfrm>
        </p:spPr>
        <p:txBody>
          <a:bodyPr>
            <a:normAutofit/>
          </a:bodyPr>
          <a:lstStyle/>
          <a:p>
            <a:pPr marL="36576" indent="0">
              <a:spcBef>
                <a:spcPts val="1200"/>
              </a:spcBef>
              <a:spcAft>
                <a:spcPts val="1200"/>
              </a:spcAft>
              <a:buNone/>
            </a:pPr>
            <a:r>
              <a:rPr lang="en-AU" sz="2200" dirty="0" smtClean="0">
                <a:latin typeface="Helvetica" pitchFamily="34" charset="0"/>
              </a:rPr>
              <a:t>Check </a:t>
            </a:r>
            <a:r>
              <a:rPr lang="en-AU" sz="2200" dirty="0">
                <a:latin typeface="Helvetica" pitchFamily="34" charset="0"/>
              </a:rPr>
              <a:t>itinerary of departing passengers may include:</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itchFamily="34" charset="0"/>
              </a:rPr>
              <a:t>Identifying names of departing passengers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and </a:t>
            </a:r>
            <a:r>
              <a:rPr lang="en-AU" sz="2200" dirty="0">
                <a:effectLst>
                  <a:glow>
                    <a:srgbClr val="000000"/>
                  </a:glow>
                  <a:outerShdw sx="0" sy="0">
                    <a:srgbClr val="000000"/>
                  </a:outerShdw>
                  <a:reflection stA="0" endPos="0" fadeDir="0" sx="0" sy="0"/>
                </a:effectLst>
                <a:latin typeface="Helvetica" pitchFamily="34" charset="0"/>
              </a:rPr>
              <a:t>carriers</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itchFamily="34" charset="0"/>
              </a:rPr>
              <a:t>Comparing known itinerary against known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changes </a:t>
            </a:r>
            <a:r>
              <a:rPr lang="en-AU" sz="2200" dirty="0">
                <a:effectLst>
                  <a:glow>
                    <a:srgbClr val="000000"/>
                  </a:glow>
                  <a:outerShdw sx="0" sy="0">
                    <a:srgbClr val="000000"/>
                  </a:outerShdw>
                  <a:reflection stA="0" endPos="0" fadeDir="0" sx="0" sy="0"/>
                </a:effectLst>
                <a:latin typeface="Helvetica" pitchFamily="34" charset="0"/>
              </a:rPr>
              <a:t>to scheduled transportation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arrangements</a:t>
            </a:r>
            <a:r>
              <a:rPr lang="en-AU" sz="2200" dirty="0">
                <a:effectLst>
                  <a:glow>
                    <a:srgbClr val="000000"/>
                  </a:glow>
                  <a:outerShdw sx="0" sy="0">
                    <a:srgbClr val="000000"/>
                  </a:outerShdw>
                  <a:reflection stA="0" endPos="0" fadeDir="0" sx="0" sy="0"/>
                </a:effectLst>
                <a:latin typeface="Helvetica" pitchFamily="34" charset="0"/>
              </a:rPr>
              <a:t>, such as delays,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cancellations</a:t>
            </a:r>
            <a:r>
              <a:rPr lang="en-AU" sz="2200" dirty="0">
                <a:effectLst>
                  <a:glow>
                    <a:srgbClr val="000000"/>
                  </a:glow>
                  <a:outerShdw sx="0" sy="0">
                    <a:srgbClr val="000000"/>
                  </a:outerShdw>
                  <a:reflection stA="0" endPos="0" fadeDir="0" sx="0" sy="0"/>
                </a:effectLst>
                <a:latin typeface="Helvetica" pitchFamily="34" charset="0"/>
              </a:rPr>
              <a:t>, re-routing</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itchFamily="34" charset="0"/>
              </a:rPr>
              <a:t>Determining whether or not changes need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to </a:t>
            </a:r>
            <a:r>
              <a:rPr lang="en-AU" sz="2200" dirty="0">
                <a:effectLst>
                  <a:glow>
                    <a:srgbClr val="000000"/>
                  </a:glow>
                  <a:outerShdw sx="0" sy="0">
                    <a:srgbClr val="000000"/>
                  </a:outerShdw>
                  <a:reflection stA="0" endPos="0" fadeDir="0" sx="0" sy="0"/>
                </a:effectLst>
                <a:latin typeface="Helvetica" pitchFamily="34" charset="0"/>
              </a:rPr>
              <a:t>be made to scheduled </a:t>
            </a:r>
            <a:r>
              <a:rPr lang="en-AU" sz="2200" dirty="0" smtClean="0">
                <a:effectLst>
                  <a:glow>
                    <a:srgbClr val="000000"/>
                  </a:glow>
                  <a:outerShdw sx="0" sy="0">
                    <a:srgbClr val="000000"/>
                  </a:outerShdw>
                  <a:reflection stA="0" endPos="0" fadeDir="0" sx="0" sy="0"/>
                </a:effectLst>
                <a:latin typeface="Helvetica" pitchFamily="34" charset="0"/>
              </a:rPr>
              <a:t>transportation</a:t>
            </a:r>
          </a:p>
          <a:p>
            <a:pPr marL="36576" lvl="0" indent="0" fontAlgn="base">
              <a:spcBef>
                <a:spcPts val="1200"/>
              </a:spcBef>
              <a:spcAft>
                <a:spcPts val="1200"/>
              </a:spcAft>
              <a:buNone/>
            </a:pPr>
            <a:r>
              <a:rPr lang="en-AU" sz="2200" i="1" dirty="0" smtClean="0">
                <a:effectLst>
                  <a:glow>
                    <a:srgbClr val="000000"/>
                  </a:glow>
                  <a:outerShdw sx="0" sy="0">
                    <a:srgbClr val="000000"/>
                  </a:outerShdw>
                  <a:reflection stA="0" endPos="0" fadeDir="0" sx="0" sy="0"/>
                </a:effectLst>
                <a:latin typeface="Helvetica" pitchFamily="34" charset="0"/>
              </a:rPr>
              <a:t>(Continued)</a:t>
            </a:r>
            <a:endParaRPr lang="en-AU" sz="2200" i="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13214" r="8473"/>
          <a:stretch/>
        </p:blipFill>
        <p:spPr>
          <a:xfrm>
            <a:off x="5613913" y="2780928"/>
            <a:ext cx="2628740" cy="2232248"/>
          </a:xfrm>
          <a:prstGeom prst="rect">
            <a:avLst/>
          </a:prstGeom>
        </p:spPr>
      </p:pic>
      <p:sp>
        <p:nvSpPr>
          <p:cNvPr id="3" name="Content Placeholder 2"/>
          <p:cNvSpPr>
            <a:spLocks noGrp="1"/>
          </p:cNvSpPr>
          <p:nvPr>
            <p:ph idx="1"/>
          </p:nvPr>
        </p:nvSpPr>
        <p:spPr>
          <a:xfrm>
            <a:off x="395536" y="1556792"/>
            <a:ext cx="8424936" cy="4824536"/>
          </a:xfrm>
        </p:spPr>
        <p:txBody>
          <a:bodyPr>
            <a:normAutofit/>
          </a:bodyPr>
          <a:lstStyle/>
          <a:p>
            <a:pPr marL="36576" indent="0">
              <a:spcBef>
                <a:spcPts val="1200"/>
              </a:spcBef>
              <a:spcAft>
                <a:spcPts val="1200"/>
              </a:spcAft>
              <a:buNone/>
            </a:pPr>
            <a:r>
              <a:rPr lang="en-AU" sz="2200" dirty="0" smtClean="0">
                <a:latin typeface="Helvetica" pitchFamily="34" charset="0"/>
              </a:rPr>
              <a:t>Check </a:t>
            </a:r>
            <a:r>
              <a:rPr lang="en-AU" sz="2200" dirty="0">
                <a:latin typeface="Helvetica" pitchFamily="34" charset="0"/>
              </a:rPr>
              <a:t>itinerary of departing passengers may include:</a:t>
            </a:r>
          </a:p>
          <a:p>
            <a:pPr lvl="0" fontAlgn="base">
              <a:spcBef>
                <a:spcPts val="1200"/>
              </a:spcBef>
              <a:spcAft>
                <a:spcPts val="1200"/>
              </a:spcAft>
            </a:pPr>
            <a:r>
              <a:rPr lang="en-AU" sz="2200" dirty="0" smtClean="0">
                <a:effectLst>
                  <a:glow>
                    <a:srgbClr val="000000"/>
                  </a:glow>
                  <a:outerShdw sx="0" sy="0">
                    <a:srgbClr val="000000"/>
                  </a:outerShdw>
                  <a:reflection stA="0" endPos="0" fadeDir="0" sx="0" sy="0"/>
                </a:effectLst>
                <a:latin typeface="Helvetica" pitchFamily="34" charset="0"/>
              </a:rPr>
              <a:t>Contacting </a:t>
            </a:r>
            <a:r>
              <a:rPr lang="en-AU" sz="2200" dirty="0">
                <a:effectLst>
                  <a:glow>
                    <a:srgbClr val="000000"/>
                  </a:glow>
                  <a:outerShdw sx="0" sy="0">
                    <a:srgbClr val="000000"/>
                  </a:outerShdw>
                  <a:reflection stA="0" endPos="0" fadeDir="0" sx="0" sy="0"/>
                </a:effectLst>
                <a:latin typeface="Helvetica" pitchFamily="34" charset="0"/>
              </a:rPr>
              <a:t>carriers to make appropriate changes on behalf of the passenger</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itchFamily="34" charset="0"/>
              </a:rPr>
              <a:t>Noting possible options for changes to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scheduled </a:t>
            </a:r>
            <a:r>
              <a:rPr lang="en-AU" sz="2200" dirty="0">
                <a:effectLst>
                  <a:glow>
                    <a:srgbClr val="000000"/>
                  </a:glow>
                  <a:outerShdw sx="0" sy="0">
                    <a:srgbClr val="000000"/>
                  </a:outerShdw>
                  <a:reflection stA="0" endPos="0" fadeDir="0" sx="0" sy="0"/>
                </a:effectLst>
                <a:latin typeface="Helvetica" pitchFamily="34" charset="0"/>
              </a:rPr>
              <a:t>transportation to </a:t>
            </a:r>
            <a:r>
              <a:rPr lang="en-AU" sz="2200" dirty="0" smtClean="0">
                <a:effectLst>
                  <a:glow>
                    <a:srgbClr val="000000"/>
                  </a:glow>
                  <a:outerShdw sx="0" sy="0">
                    <a:srgbClr val="000000"/>
                  </a:outerShdw>
                  <a:reflection stA="0" endPos="0" fadeDir="0" sx="0" sy="0"/>
                </a:effectLst>
                <a:latin typeface="Helvetica" pitchFamily="34" charset="0"/>
              </a:rPr>
              <a:t>present</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 </a:t>
            </a:r>
            <a:r>
              <a:rPr lang="en-AU" sz="2200" dirty="0">
                <a:effectLst>
                  <a:glow>
                    <a:srgbClr val="000000"/>
                  </a:glow>
                  <a:outerShdw sx="0" sy="0">
                    <a:srgbClr val="000000"/>
                  </a:outerShdw>
                  <a:reflection stA="0" endPos="0" fadeDir="0" sx="0" sy="0"/>
                </a:effectLst>
                <a:latin typeface="Helvetica" pitchFamily="34" charset="0"/>
              </a:rPr>
              <a:t>to passenger</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itchFamily="34" charset="0"/>
              </a:rPr>
              <a:t>Confirming with carriers that scheduled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transportation </a:t>
            </a:r>
            <a:r>
              <a:rPr lang="en-AU" sz="2200" dirty="0">
                <a:effectLst>
                  <a:glow>
                    <a:srgbClr val="000000"/>
                  </a:glow>
                  <a:outerShdw sx="0" sy="0">
                    <a:srgbClr val="000000"/>
                  </a:outerShdw>
                  <a:reflection stA="0" endPos="0" fadeDir="0" sx="0" sy="0"/>
                </a:effectLst>
                <a:latin typeface="Helvetica" pitchFamily="34" charset="0"/>
              </a:rPr>
              <a:t>arrangements still apply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and </a:t>
            </a:r>
            <a:r>
              <a:rPr lang="en-AU" sz="2200" dirty="0">
                <a:effectLst>
                  <a:glow>
                    <a:srgbClr val="000000"/>
                  </a:glow>
                  <a:outerShdw sx="0" sy="0">
                    <a:srgbClr val="000000"/>
                  </a:outerShdw>
                  <a:reflection stA="0" endPos="0" fadeDir="0" sx="0" sy="0"/>
                </a:effectLst>
                <a:latin typeface="Helvetica" pitchFamily="34" charset="0"/>
              </a:rPr>
              <a:t>are ‘good to go</a:t>
            </a:r>
            <a:r>
              <a:rPr lang="en-AU" sz="2200" dirty="0" smtClean="0">
                <a:effectLst>
                  <a:glow>
                    <a:srgbClr val="000000"/>
                  </a:glow>
                  <a:outerShdw sx="0" sy="0">
                    <a:srgbClr val="000000"/>
                  </a:outerShdw>
                  <a:reflection stA="0" endPos="0" fadeDir="0" sx="0" sy="0"/>
                </a:effectLst>
                <a:latin typeface="Helvetica" pitchFamily="34" charset="0"/>
              </a:rPr>
              <a:t>’</a:t>
            </a:r>
            <a:endParaRPr lang="en-AU" sz="2200" dirty="0">
              <a:effectLst>
                <a:glow>
                  <a:srgbClr val="000000"/>
                </a:glow>
                <a:outerShdw sx="0" sy="0">
                  <a:srgbClr val="000000"/>
                </a:outerShdw>
                <a:reflection stA="0" endPos="0" fadeDir="0" sx="0" sy="0"/>
              </a:effectLst>
              <a:latin typeface="Helvetica" pitchFamily="34" charset="0"/>
            </a:endParaRPr>
          </a:p>
          <a:p>
            <a:pPr marL="0" indent="0">
              <a:spcBef>
                <a:spcPts val="1200"/>
              </a:spcBef>
              <a:spcAft>
                <a:spcPts val="1200"/>
              </a:spcAft>
              <a:buNone/>
            </a:pPr>
            <a:endParaRPr lang="en-AU"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sp>
        <p:nvSpPr>
          <p:cNvPr id="6" name="Title 1"/>
          <p:cNvSpPr>
            <a:spLocks noGrp="1"/>
          </p:cNvSpPr>
          <p:nvPr>
            <p:ph type="title"/>
          </p:nvPr>
        </p:nvSpPr>
        <p:spPr>
          <a:xfrm>
            <a:off x="467544" y="332656"/>
            <a:ext cx="8136904" cy="1224136"/>
          </a:xfrm>
        </p:spPr>
        <p:txBody>
          <a:bodyPr>
            <a:normAutofit fontScale="90000"/>
          </a:bodyPr>
          <a:lstStyle/>
          <a:p>
            <a:pPr marL="808038" lvl="0" indent="-771525">
              <a:spcBef>
                <a:spcPts val="600"/>
              </a:spcBef>
              <a:spcAft>
                <a:spcPts val="1200"/>
              </a:spcAft>
            </a:pPr>
            <a:r>
              <a:rPr lang="en-US" sz="2800" b="1" dirty="0" smtClean="0">
                <a:solidFill>
                  <a:srgbClr val="FF6600"/>
                </a:solidFill>
                <a:latin typeface="Helvetica" pitchFamily="34" charset="0"/>
              </a:rPr>
              <a:t>2.1	</a:t>
            </a:r>
            <a:r>
              <a:rPr lang="en-AU" sz="2800" b="1" dirty="0" smtClean="0">
                <a:solidFill>
                  <a:srgbClr val="FF6600"/>
                </a:solidFill>
                <a:latin typeface="Helvetica" pitchFamily="34" charset="0"/>
              </a:rPr>
              <a:t>Check </a:t>
            </a:r>
            <a:r>
              <a:rPr lang="en-AU" sz="2800" b="1" dirty="0">
                <a:solidFill>
                  <a:srgbClr val="FF6600"/>
                </a:solidFill>
                <a:latin typeface="Helvetica" pitchFamily="34" charset="0"/>
              </a:rPr>
              <a:t>itinerary of departing passengers to identify and action alterations as </a:t>
            </a:r>
            <a:r>
              <a:rPr lang="en-AU" sz="2800" b="1" dirty="0" smtClean="0">
                <a:solidFill>
                  <a:srgbClr val="FF6600"/>
                </a:solidFill>
                <a:latin typeface="Helvetica" pitchFamily="34" charset="0"/>
              </a:rPr>
              <a:t>required</a:t>
            </a:r>
            <a:endParaRPr lang="en-US" sz="2800" b="1" dirty="0">
              <a:solidFill>
                <a:srgbClr val="FF6600"/>
              </a:solidFill>
              <a:latin typeface="Helvetica" pitchFamily="34" charset="0"/>
            </a:endParaRPr>
          </a:p>
        </p:txBody>
      </p:sp>
    </p:spTree>
    <p:extLst>
      <p:ext uri="{BB962C8B-B14F-4D97-AF65-F5344CB8AC3E}">
        <p14:creationId xmlns:p14="http://schemas.microsoft.com/office/powerpoint/2010/main" val="116337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147248" cy="4525963"/>
          </a:xfrm>
        </p:spPr>
        <p:txBody>
          <a:bodyPr>
            <a:normAutofit/>
          </a:bodyPr>
          <a:lstStyle/>
          <a:p>
            <a:pPr>
              <a:lnSpc>
                <a:spcPct val="150000"/>
              </a:lnSpc>
              <a:spcBef>
                <a:spcPts val="400"/>
              </a:spcBef>
              <a:spcAft>
                <a:spcPts val="800"/>
              </a:spcAft>
            </a:pPr>
            <a:r>
              <a:rPr lang="en-AU" sz="2400" dirty="0">
                <a:latin typeface="Helvetica" pitchFamily="34" charset="0"/>
                <a:ea typeface="Times New Roman"/>
                <a:cs typeface="Times New Roman"/>
              </a:rPr>
              <a:t>Departure list</a:t>
            </a:r>
          </a:p>
          <a:p>
            <a:pPr>
              <a:lnSpc>
                <a:spcPct val="150000"/>
              </a:lnSpc>
              <a:spcBef>
                <a:spcPts val="400"/>
              </a:spcBef>
              <a:spcAft>
                <a:spcPts val="800"/>
              </a:spcAft>
            </a:pPr>
            <a:r>
              <a:rPr lang="en-AU" sz="2400" dirty="0">
                <a:latin typeface="Helvetica" pitchFamily="34" charset="0"/>
                <a:ea typeface="Times New Roman"/>
                <a:cs typeface="Times New Roman"/>
              </a:rPr>
              <a:t>Passenger and baggage </a:t>
            </a:r>
            <a:r>
              <a:rPr lang="en-AU" sz="2400" dirty="0" smtClean="0">
                <a:latin typeface="Helvetica" pitchFamily="34" charset="0"/>
                <a:ea typeface="Times New Roman"/>
                <a:cs typeface="Times New Roman"/>
              </a:rPr>
              <a:t/>
            </a:r>
            <a:br>
              <a:rPr lang="en-AU" sz="2400" dirty="0" smtClean="0">
                <a:latin typeface="Helvetica" pitchFamily="34" charset="0"/>
                <a:ea typeface="Times New Roman"/>
                <a:cs typeface="Times New Roman"/>
              </a:rPr>
            </a:br>
            <a:r>
              <a:rPr lang="en-AU" sz="2400" dirty="0" smtClean="0">
                <a:latin typeface="Helvetica" pitchFamily="34" charset="0"/>
                <a:ea typeface="Times New Roman"/>
                <a:cs typeface="Times New Roman"/>
              </a:rPr>
              <a:t>check-in</a:t>
            </a:r>
            <a:endParaRPr lang="en-AU" sz="2400" dirty="0">
              <a:latin typeface="Helvetica" pitchFamily="34" charset="0"/>
              <a:ea typeface="Times New Roman"/>
              <a:cs typeface="Times New Roman"/>
            </a:endParaRPr>
          </a:p>
          <a:p>
            <a:pPr>
              <a:lnSpc>
                <a:spcPct val="150000"/>
              </a:lnSpc>
              <a:spcBef>
                <a:spcPts val="400"/>
              </a:spcBef>
              <a:spcAft>
                <a:spcPts val="800"/>
              </a:spcAft>
            </a:pPr>
            <a:r>
              <a:rPr lang="en-AU" sz="2400" dirty="0">
                <a:latin typeface="Helvetica" pitchFamily="34" charset="0"/>
                <a:ea typeface="Times New Roman"/>
                <a:cs typeface="Times New Roman"/>
              </a:rPr>
              <a:t>Terminal and Gate number</a:t>
            </a:r>
          </a:p>
          <a:p>
            <a:pPr>
              <a:lnSpc>
                <a:spcPct val="150000"/>
              </a:lnSpc>
              <a:spcBef>
                <a:spcPts val="400"/>
              </a:spcBef>
              <a:spcAft>
                <a:spcPts val="800"/>
              </a:spcAft>
            </a:pPr>
            <a:r>
              <a:rPr lang="en-AU" sz="2400" dirty="0">
                <a:latin typeface="Helvetica" pitchFamily="34" charset="0"/>
                <a:ea typeface="MS Gothic"/>
                <a:cs typeface="Times New Roman"/>
              </a:rPr>
              <a:t>Departure time, delays and cancellations</a:t>
            </a:r>
            <a:endParaRPr lang="en-AU" sz="2400" dirty="0">
              <a:latin typeface="Helvetica" pitchFamily="34" charset="0"/>
              <a:ea typeface="Times New Roman"/>
              <a:cs typeface="Times New Roman"/>
            </a:endParaRPr>
          </a:p>
          <a:p>
            <a:endParaRPr lang="en-AU" sz="2400"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31</a:t>
            </a:fld>
            <a:endParaRPr lang="en-US" dirty="0"/>
          </a:p>
        </p:txBody>
      </p:sp>
      <p:sp>
        <p:nvSpPr>
          <p:cNvPr id="6" name="Title 1"/>
          <p:cNvSpPr>
            <a:spLocks noGrp="1"/>
          </p:cNvSpPr>
          <p:nvPr>
            <p:ph type="title"/>
          </p:nvPr>
        </p:nvSpPr>
        <p:spPr>
          <a:xfrm>
            <a:off x="467544" y="332656"/>
            <a:ext cx="8136904" cy="1224136"/>
          </a:xfrm>
        </p:spPr>
        <p:txBody>
          <a:bodyPr>
            <a:normAutofit fontScale="90000"/>
          </a:bodyPr>
          <a:lstStyle/>
          <a:p>
            <a:pPr marL="808038" lvl="0" indent="-771525">
              <a:spcBef>
                <a:spcPts val="600"/>
              </a:spcBef>
              <a:spcAft>
                <a:spcPts val="1200"/>
              </a:spcAft>
            </a:pPr>
            <a:r>
              <a:rPr lang="en-US" sz="2800" b="1" dirty="0" smtClean="0">
                <a:solidFill>
                  <a:srgbClr val="FF6600"/>
                </a:solidFill>
                <a:latin typeface="Helvetica" pitchFamily="34" charset="0"/>
              </a:rPr>
              <a:t>2.1	</a:t>
            </a:r>
            <a:r>
              <a:rPr lang="en-AU" sz="2800" b="1" dirty="0" smtClean="0">
                <a:solidFill>
                  <a:srgbClr val="FF6600"/>
                </a:solidFill>
                <a:latin typeface="Helvetica" pitchFamily="34" charset="0"/>
              </a:rPr>
              <a:t>Check </a:t>
            </a:r>
            <a:r>
              <a:rPr lang="en-AU" sz="2800" b="1" dirty="0">
                <a:solidFill>
                  <a:srgbClr val="FF6600"/>
                </a:solidFill>
                <a:latin typeface="Helvetica" pitchFamily="34" charset="0"/>
              </a:rPr>
              <a:t>itinerary of departing passengers to identify and action alterations as </a:t>
            </a:r>
            <a:r>
              <a:rPr lang="en-AU" sz="2800" b="1" dirty="0" smtClean="0">
                <a:solidFill>
                  <a:srgbClr val="FF6600"/>
                </a:solidFill>
                <a:latin typeface="Helvetica" pitchFamily="34" charset="0"/>
              </a:rPr>
              <a:t>required</a:t>
            </a:r>
            <a:endParaRPr lang="en-US" sz="28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74324" y="2348880"/>
            <a:ext cx="3312368" cy="1778742"/>
          </a:xfrm>
          <a:prstGeom prst="rect">
            <a:avLst/>
          </a:prstGeom>
        </p:spPr>
      </p:pic>
    </p:spTree>
    <p:extLst>
      <p:ext uri="{BB962C8B-B14F-4D97-AF65-F5344CB8AC3E}">
        <p14:creationId xmlns:p14="http://schemas.microsoft.com/office/powerpoint/2010/main" val="1406993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pPr marL="903288" lvl="0" indent="-866775">
              <a:spcBef>
                <a:spcPts val="600"/>
              </a:spcBef>
              <a:spcAft>
                <a:spcPts val="1200"/>
              </a:spcAft>
            </a:pPr>
            <a:r>
              <a:rPr lang="en-US" sz="2800" b="1" dirty="0" smtClean="0">
                <a:solidFill>
                  <a:srgbClr val="FF6600"/>
                </a:solidFill>
                <a:latin typeface="Helvetica" pitchFamily="34" charset="0"/>
              </a:rPr>
              <a:t>2.2</a:t>
            </a:r>
            <a:r>
              <a:rPr lang="en-AU" sz="2800" dirty="0">
                <a:solidFill>
                  <a:prstClr val="black"/>
                </a:solidFill>
                <a:latin typeface="Helvetica" pitchFamily="34" charset="0"/>
              </a:rPr>
              <a:t>	</a:t>
            </a:r>
            <a:r>
              <a:rPr lang="en-AU" sz="2800" b="1" dirty="0" smtClean="0">
                <a:solidFill>
                  <a:srgbClr val="FF6600"/>
                </a:solidFill>
                <a:latin typeface="Helvetica" pitchFamily="34" charset="0"/>
              </a:rPr>
              <a:t>Organise </a:t>
            </a:r>
            <a:r>
              <a:rPr lang="en-AU" sz="2800" b="1" dirty="0">
                <a:solidFill>
                  <a:srgbClr val="FF6600"/>
                </a:solidFill>
                <a:latin typeface="Helvetica" pitchFamily="34" charset="0"/>
              </a:rPr>
              <a:t>the departure of passengers from their </a:t>
            </a:r>
            <a:r>
              <a:rPr lang="en-AU" sz="2800" b="1" dirty="0" smtClean="0">
                <a:solidFill>
                  <a:srgbClr val="FF6600"/>
                </a:solidFill>
                <a:latin typeface="Helvetica" pitchFamily="34" charset="0"/>
              </a:rPr>
              <a:t>location</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400" dirty="0" smtClean="0">
                <a:latin typeface="Helvetica" pitchFamily="34" charset="0"/>
              </a:rPr>
              <a:t>Consider the details that need to be organised and confirmed in order to assist visitors depart efficiently.</a:t>
            </a:r>
          </a:p>
          <a:p>
            <a:pPr marL="0" indent="0">
              <a:spcBef>
                <a:spcPts val="600"/>
              </a:spcBef>
              <a:spcAft>
                <a:spcPts val="1200"/>
              </a:spcAft>
              <a:buNone/>
            </a:pPr>
            <a:r>
              <a:rPr lang="en-AU" sz="2400" dirty="0" smtClean="0">
                <a:latin typeface="Helvetica" pitchFamily="34" charset="0"/>
              </a:rPr>
              <a:t>As a group or at you table discuss what might be the first points on your checklist.</a:t>
            </a:r>
            <a:endParaRPr lang="en-US"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7784" y="3573016"/>
            <a:ext cx="3048000" cy="2033016"/>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3288" lvl="0" indent="-866775">
              <a:spcBef>
                <a:spcPts val="600"/>
              </a:spcBef>
              <a:spcAft>
                <a:spcPts val="1200"/>
              </a:spcAft>
            </a:pPr>
            <a:r>
              <a:rPr lang="en-US" sz="2800" b="1" dirty="0" smtClean="0">
                <a:solidFill>
                  <a:srgbClr val="FF6600"/>
                </a:solidFill>
                <a:latin typeface="Helvetica" pitchFamily="34" charset="0"/>
              </a:rPr>
              <a:t>2.3	</a:t>
            </a:r>
            <a:r>
              <a:rPr lang="en-AU" sz="2800" b="1" dirty="0" smtClean="0">
                <a:solidFill>
                  <a:srgbClr val="FF6600"/>
                </a:solidFill>
                <a:latin typeface="Helvetica" pitchFamily="34" charset="0"/>
              </a:rPr>
              <a:t>Verify </a:t>
            </a:r>
            <a:r>
              <a:rPr lang="en-AU" sz="2800" b="1" dirty="0">
                <a:solidFill>
                  <a:srgbClr val="FF6600"/>
                </a:solidFill>
                <a:latin typeface="Helvetica" pitchFamily="34" charset="0"/>
              </a:rPr>
              <a:t>departing passengers using a departures </a:t>
            </a:r>
            <a:r>
              <a:rPr lang="en-AU" sz="2800" b="1" dirty="0" smtClean="0">
                <a:solidFill>
                  <a:srgbClr val="FF6600"/>
                </a:solidFill>
                <a:latin typeface="Helvetica" pitchFamily="34" charset="0"/>
              </a:rPr>
              <a:t>list</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36576" indent="0">
              <a:spcBef>
                <a:spcPts val="1200"/>
              </a:spcBef>
              <a:spcAft>
                <a:spcPts val="1200"/>
              </a:spcAft>
              <a:buNone/>
            </a:pPr>
            <a:r>
              <a:rPr lang="en-AU" sz="2400" dirty="0" smtClean="0">
                <a:latin typeface="Helvetica" pitchFamily="34" charset="0"/>
              </a:rPr>
              <a:t>Verify </a:t>
            </a:r>
            <a:r>
              <a:rPr lang="en-AU" sz="2400" dirty="0">
                <a:latin typeface="Helvetica" pitchFamily="34" charset="0"/>
              </a:rPr>
              <a:t>departing passengers may include</a:t>
            </a:r>
            <a:r>
              <a:rPr lang="en-AU" sz="2400" dirty="0" smtClean="0">
                <a:latin typeface="Helvetica" pitchFamily="34" charset="0"/>
              </a:rPr>
              <a:t>:</a:t>
            </a:r>
          </a:p>
          <a:p>
            <a:pPr lvl="0" fontAlgn="base">
              <a:spcBef>
                <a:spcPts val="1200"/>
              </a:spcBef>
              <a:spcAft>
                <a:spcPts val="1200"/>
              </a:spcAft>
            </a:pPr>
            <a:r>
              <a:rPr lang="en-AU" sz="2400" dirty="0" smtClean="0">
                <a:effectLst>
                  <a:glow>
                    <a:srgbClr val="000000"/>
                  </a:glow>
                  <a:outerShdw sx="0" sy="0">
                    <a:srgbClr val="000000"/>
                  </a:outerShdw>
                  <a:reflection stA="0" endPos="0" fadeDir="0" sx="0" sy="0"/>
                </a:effectLst>
                <a:latin typeface="Helvetica" pitchFamily="34" charset="0"/>
              </a:rPr>
              <a:t>Checking </a:t>
            </a:r>
            <a:r>
              <a:rPr lang="en-AU" sz="2400" dirty="0">
                <a:effectLst>
                  <a:glow>
                    <a:srgbClr val="000000"/>
                  </a:glow>
                  <a:outerShdw sx="0" sy="0">
                    <a:srgbClr val="000000"/>
                  </a:outerShdw>
                  <a:reflection stA="0" endPos="0" fadeDir="0" sx="0" sy="0"/>
                </a:effectLst>
                <a:latin typeface="Helvetica" pitchFamily="34" charset="0"/>
              </a:rPr>
              <a:t>departing passengers </a:t>
            </a:r>
            <a:r>
              <a:rPr lang="en-AU" sz="2400" dirty="0" smtClean="0">
                <a:effectLst>
                  <a:glow>
                    <a:srgbClr val="000000"/>
                  </a:glow>
                  <a:outerShdw sx="0" sy="0">
                    <a:srgbClr val="000000"/>
                  </a:outerShdw>
                  <a:reflection stA="0" endPos="0" fadeDir="0" sx="0" sy="0"/>
                </a:effectLst>
                <a:latin typeface="Helvetica" pitchFamily="34" charset="0"/>
              </a:rPr>
              <a:t/>
            </a:r>
            <a:br>
              <a:rPr lang="en-AU" sz="2400" dirty="0" smtClean="0">
                <a:effectLst>
                  <a:glow>
                    <a:srgbClr val="000000"/>
                  </a:glow>
                  <a:outerShdw sx="0" sy="0">
                    <a:srgbClr val="000000"/>
                  </a:outerShdw>
                  <a:reflection stA="0" endPos="0" fadeDir="0" sx="0" sy="0"/>
                </a:effectLst>
                <a:latin typeface="Helvetica" pitchFamily="34" charset="0"/>
              </a:rPr>
            </a:br>
            <a:r>
              <a:rPr lang="en-AU" sz="2400" dirty="0" smtClean="0">
                <a:effectLst>
                  <a:glow>
                    <a:srgbClr val="000000"/>
                  </a:glow>
                  <a:outerShdw sx="0" sy="0">
                    <a:srgbClr val="000000"/>
                  </a:outerShdw>
                  <a:reflection stA="0" endPos="0" fadeDir="0" sx="0" sy="0"/>
                </a:effectLst>
                <a:latin typeface="Helvetica" pitchFamily="34" charset="0"/>
              </a:rPr>
              <a:t>against </a:t>
            </a:r>
            <a:r>
              <a:rPr lang="en-AU" sz="2400" dirty="0">
                <a:effectLst>
                  <a:glow>
                    <a:srgbClr val="000000"/>
                  </a:glow>
                  <a:outerShdw sx="0" sy="0">
                    <a:srgbClr val="000000"/>
                  </a:outerShdw>
                  <a:reflection stA="0" endPos="0" fadeDir="0" sx="0" sy="0"/>
                </a:effectLst>
                <a:latin typeface="Helvetica" pitchFamily="34" charset="0"/>
              </a:rPr>
              <a:t>documentation, such as </a:t>
            </a:r>
            <a:r>
              <a:rPr lang="en-AU" sz="2400" dirty="0" smtClean="0">
                <a:effectLst>
                  <a:glow>
                    <a:srgbClr val="000000"/>
                  </a:glow>
                  <a:outerShdw sx="0" sy="0">
                    <a:srgbClr val="000000"/>
                  </a:outerShdw>
                  <a:reflection stA="0" endPos="0" fadeDir="0" sx="0" sy="0"/>
                </a:effectLst>
                <a:latin typeface="Helvetica" pitchFamily="34" charset="0"/>
              </a:rPr>
              <a:t/>
            </a:r>
            <a:br>
              <a:rPr lang="en-AU" sz="2400" dirty="0" smtClean="0">
                <a:effectLst>
                  <a:glow>
                    <a:srgbClr val="000000"/>
                  </a:glow>
                  <a:outerShdw sx="0" sy="0">
                    <a:srgbClr val="000000"/>
                  </a:outerShdw>
                  <a:reflection stA="0" endPos="0" fadeDir="0" sx="0" sy="0"/>
                </a:effectLst>
                <a:latin typeface="Helvetica" pitchFamily="34" charset="0"/>
              </a:rPr>
            </a:br>
            <a:r>
              <a:rPr lang="en-AU" sz="2400" dirty="0" smtClean="0">
                <a:effectLst>
                  <a:glow>
                    <a:srgbClr val="000000"/>
                  </a:glow>
                  <a:outerShdw sx="0" sy="0">
                    <a:srgbClr val="000000"/>
                  </a:outerShdw>
                  <a:reflection stA="0" endPos="0" fadeDir="0" sx="0" sy="0"/>
                </a:effectLst>
                <a:latin typeface="Helvetica" pitchFamily="34" charset="0"/>
              </a:rPr>
              <a:t>a </a:t>
            </a:r>
            <a:r>
              <a:rPr lang="en-AU" sz="2400" dirty="0">
                <a:effectLst>
                  <a:glow>
                    <a:srgbClr val="000000"/>
                  </a:glow>
                  <a:outerShdw sx="0" sy="0">
                    <a:srgbClr val="000000"/>
                  </a:outerShdw>
                  <a:reflection stA="0" endPos="0" fadeDir="0" sx="0" sy="0"/>
                </a:effectLst>
                <a:latin typeface="Helvetica" pitchFamily="34" charset="0"/>
              </a:rPr>
              <a:t>Departures List and/or </a:t>
            </a:r>
            <a:r>
              <a:rPr lang="en-AU" sz="2400" dirty="0" smtClean="0">
                <a:effectLst>
                  <a:glow>
                    <a:srgbClr val="000000"/>
                  </a:glow>
                  <a:outerShdw sx="0" sy="0">
                    <a:srgbClr val="000000"/>
                  </a:outerShdw>
                  <a:reflection stA="0" endPos="0" fadeDir="0" sx="0" sy="0"/>
                </a:effectLst>
                <a:latin typeface="Helvetica" pitchFamily="34" charset="0"/>
              </a:rPr>
              <a:t/>
            </a:r>
            <a:br>
              <a:rPr lang="en-AU" sz="2400" dirty="0" smtClean="0">
                <a:effectLst>
                  <a:glow>
                    <a:srgbClr val="000000"/>
                  </a:glow>
                  <a:outerShdw sx="0" sy="0">
                    <a:srgbClr val="000000"/>
                  </a:outerShdw>
                  <a:reflection stA="0" endPos="0" fadeDir="0" sx="0" sy="0"/>
                </a:effectLst>
                <a:latin typeface="Helvetica" pitchFamily="34" charset="0"/>
              </a:rPr>
            </a:br>
            <a:r>
              <a:rPr lang="en-AU" sz="2400" dirty="0" smtClean="0">
                <a:effectLst>
                  <a:glow>
                    <a:srgbClr val="000000"/>
                  </a:glow>
                  <a:outerShdw sx="0" sy="0">
                    <a:srgbClr val="000000"/>
                  </a:outerShdw>
                  <a:reflection stA="0" endPos="0" fadeDir="0" sx="0" sy="0"/>
                </a:effectLst>
                <a:latin typeface="Helvetica" pitchFamily="34" charset="0"/>
              </a:rPr>
              <a:t>Passenger </a:t>
            </a:r>
            <a:r>
              <a:rPr lang="en-AU" sz="2400" dirty="0">
                <a:effectLst>
                  <a:glow>
                    <a:srgbClr val="000000"/>
                  </a:glow>
                  <a:outerShdw sx="0" sy="0">
                    <a:srgbClr val="000000"/>
                  </a:outerShdw>
                  <a:reflection stA="0" endPos="0" fadeDir="0" sx="0" sy="0"/>
                </a:effectLst>
                <a:latin typeface="Helvetica" pitchFamily="34" charset="0"/>
              </a:rPr>
              <a:t>Manifests</a:t>
            </a:r>
          </a:p>
          <a:p>
            <a:pPr lvl="0" fontAlgn="base">
              <a:spcBef>
                <a:spcPts val="1200"/>
              </a:spcBef>
              <a:spcAft>
                <a:spcPts val="1200"/>
              </a:spcAft>
            </a:pPr>
            <a:r>
              <a:rPr lang="en-AU" sz="2400" dirty="0">
                <a:effectLst>
                  <a:glow>
                    <a:srgbClr val="000000"/>
                  </a:glow>
                  <a:outerShdw sx="0" sy="0">
                    <a:srgbClr val="000000"/>
                  </a:outerShdw>
                  <a:reflection stA="0" endPos="0" fadeDir="0" sx="0" sy="0"/>
                </a:effectLst>
                <a:latin typeface="Helvetica" pitchFamily="34" charset="0"/>
              </a:rPr>
              <a:t>Confirming the identity of departing passengers</a:t>
            </a:r>
          </a:p>
          <a:p>
            <a:pPr lvl="0" fontAlgn="base">
              <a:spcBef>
                <a:spcPts val="1200"/>
              </a:spcBef>
              <a:spcAft>
                <a:spcPts val="1200"/>
              </a:spcAft>
            </a:pPr>
            <a:r>
              <a:rPr lang="en-AU" sz="2400" dirty="0" smtClean="0">
                <a:effectLst>
                  <a:glow>
                    <a:srgbClr val="000000"/>
                  </a:glow>
                  <a:outerShdw sx="0" sy="0">
                    <a:srgbClr val="000000"/>
                  </a:outerShdw>
                  <a:reflection stA="0" endPos="0" fadeDir="0" sx="0" sy="0"/>
                </a:effectLst>
                <a:latin typeface="Helvetica" pitchFamily="34" charset="0"/>
              </a:rPr>
              <a:t>Checking the documentation of departing passengers</a:t>
            </a:r>
          </a:p>
          <a:p>
            <a:pPr marL="36576" lvl="0" indent="0" fontAlgn="base">
              <a:spcBef>
                <a:spcPts val="1200"/>
              </a:spcBef>
              <a:spcAft>
                <a:spcPts val="1200"/>
              </a:spcAft>
              <a:buNone/>
            </a:pPr>
            <a:r>
              <a:rPr lang="en-AU" sz="2400" i="1" dirty="0" smtClean="0">
                <a:effectLst>
                  <a:glow>
                    <a:srgbClr val="000000"/>
                  </a:glow>
                  <a:outerShdw sx="0" sy="0">
                    <a:srgbClr val="000000"/>
                  </a:outerShdw>
                  <a:reflection stA="0" endPos="0" fadeDir="0" sx="0" sy="0"/>
                </a:effectLst>
                <a:latin typeface="Helvetica" pitchFamily="34" charset="0"/>
              </a:rPr>
              <a:t>(Continued)</a:t>
            </a:r>
          </a:p>
          <a:p>
            <a:pPr marL="0" indent="0">
              <a:spcBef>
                <a:spcPts val="1200"/>
              </a:spcBef>
              <a:spcAft>
                <a:spcPts val="1200"/>
              </a:spcAft>
              <a:buNone/>
            </a:pPr>
            <a:endParaRPr lang="en-AU" sz="2400" dirty="0" smtClean="0">
              <a:latin typeface="Helvetica" pitchFamily="34" charset="0"/>
            </a:endParaRPr>
          </a:p>
          <a:p>
            <a:pPr marL="360000" indent="-360000">
              <a:spcBef>
                <a:spcPts val="1200"/>
              </a:spcBef>
              <a:spcAft>
                <a:spcPts val="1200"/>
              </a:spcAft>
              <a:buNone/>
            </a:pPr>
            <a:endParaRPr lang="en-US"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1988840"/>
            <a:ext cx="1904530" cy="20391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08038" lvl="0" indent="-771525">
              <a:spcBef>
                <a:spcPts val="600"/>
              </a:spcBef>
              <a:spcAft>
                <a:spcPts val="1200"/>
              </a:spcAft>
            </a:pPr>
            <a:r>
              <a:rPr lang="en-US" sz="3400" b="1" dirty="0" smtClean="0">
                <a:solidFill>
                  <a:srgbClr val="FF6600"/>
                </a:solidFill>
                <a:latin typeface="Helvetica" pitchFamily="34" charset="0"/>
              </a:rPr>
              <a:t>2.3	</a:t>
            </a:r>
            <a:r>
              <a:rPr lang="en-AU" sz="2800" b="1" dirty="0" smtClean="0">
                <a:solidFill>
                  <a:srgbClr val="FF6600"/>
                </a:solidFill>
                <a:latin typeface="Helvetica" pitchFamily="34" charset="0"/>
              </a:rPr>
              <a:t>Verify</a:t>
            </a:r>
            <a:r>
              <a:rPr lang="en-AU" sz="3400" b="1" dirty="0" smtClean="0">
                <a:solidFill>
                  <a:srgbClr val="FF6600"/>
                </a:solidFill>
                <a:latin typeface="Helvetica" pitchFamily="34" charset="0"/>
              </a:rPr>
              <a:t> </a:t>
            </a:r>
            <a:r>
              <a:rPr lang="en-AU" sz="3400" b="1" dirty="0">
                <a:solidFill>
                  <a:srgbClr val="FF6600"/>
                </a:solidFill>
                <a:latin typeface="Helvetica" pitchFamily="34" charset="0"/>
              </a:rPr>
              <a:t>departing passengers using a departures </a:t>
            </a:r>
            <a:r>
              <a:rPr lang="en-AU" sz="3400" b="1" dirty="0" smtClean="0">
                <a:solidFill>
                  <a:srgbClr val="FF6600"/>
                </a:solidFill>
                <a:latin typeface="Helvetica" pitchFamily="34" charset="0"/>
              </a:rPr>
              <a:t>list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904656" cy="4680520"/>
          </a:xfrm>
        </p:spPr>
        <p:txBody>
          <a:bodyPr>
            <a:normAutofit/>
          </a:bodyPr>
          <a:lstStyle/>
          <a:p>
            <a:pPr marL="36576" indent="0">
              <a:spcBef>
                <a:spcPts val="1200"/>
              </a:spcBef>
              <a:spcAft>
                <a:spcPts val="1200"/>
              </a:spcAft>
              <a:buNone/>
            </a:pPr>
            <a:r>
              <a:rPr lang="en-AU" sz="2200" dirty="0" smtClean="0">
                <a:latin typeface="Helvetica" pitchFamily="34" charset="0"/>
              </a:rPr>
              <a:t>Verify </a:t>
            </a:r>
            <a:r>
              <a:rPr lang="en-AU" sz="2200" dirty="0">
                <a:latin typeface="Helvetica" pitchFamily="34" charset="0"/>
              </a:rPr>
              <a:t>departing passengers may include</a:t>
            </a:r>
            <a:r>
              <a:rPr lang="en-AU" sz="2200" dirty="0" smtClean="0">
                <a:latin typeface="Helvetica" pitchFamily="34" charset="0"/>
              </a:rPr>
              <a:t>:</a:t>
            </a:r>
            <a:endParaRPr lang="en-AU" sz="2200" dirty="0">
              <a:latin typeface="Helvetica" pitchFamily="34" charset="0"/>
            </a:endParaRPr>
          </a:p>
          <a:p>
            <a:pPr lvl="0" fontAlgn="base">
              <a:spcBef>
                <a:spcPts val="1200"/>
              </a:spcBef>
              <a:spcAft>
                <a:spcPts val="1200"/>
              </a:spcAft>
            </a:pPr>
            <a:r>
              <a:rPr lang="en-AU" sz="2200" dirty="0" smtClean="0">
                <a:effectLst>
                  <a:glow>
                    <a:srgbClr val="000000"/>
                  </a:glow>
                  <a:outerShdw sx="0" sy="0">
                    <a:srgbClr val="000000"/>
                  </a:outerShdw>
                  <a:reflection stA="0" endPos="0" fadeDir="0" sx="0" sy="0"/>
                </a:effectLst>
                <a:latin typeface="Helvetica" pitchFamily="34" charset="0"/>
              </a:rPr>
              <a:t>Passing </a:t>
            </a:r>
            <a:r>
              <a:rPr lang="en-AU" sz="2200" dirty="0">
                <a:effectLst>
                  <a:glow>
                    <a:srgbClr val="000000"/>
                  </a:glow>
                  <a:outerShdw sx="0" sy="0">
                    <a:srgbClr val="000000"/>
                  </a:outerShdw>
                  <a:reflection stA="0" endPos="0" fadeDir="0" sx="0" sy="0"/>
                </a:effectLst>
                <a:latin typeface="Helvetica" pitchFamily="34" charset="0"/>
              </a:rPr>
              <a:t>on information regarding </a:t>
            </a:r>
            <a:r>
              <a:rPr lang="en-AU" sz="2200" dirty="0" smtClean="0">
                <a:effectLst>
                  <a:glow>
                    <a:srgbClr val="000000"/>
                  </a:glow>
                  <a:outerShdw sx="0" sy="0">
                    <a:srgbClr val="000000"/>
                  </a:outerShdw>
                  <a:reflection stA="0" endPos="0" fadeDir="0" sx="0" sy="0"/>
                </a:effectLst>
                <a:latin typeface="Helvetica" pitchFamily="34" charset="0"/>
              </a:rPr>
              <a:t/>
            </a:r>
            <a:br>
              <a:rPr lang="en-AU" sz="2200" dirty="0" smtClean="0">
                <a:effectLst>
                  <a:glow>
                    <a:srgbClr val="000000"/>
                  </a:glow>
                  <a:outerShdw sx="0" sy="0">
                    <a:srgbClr val="000000"/>
                  </a:outerShdw>
                  <a:reflection stA="0" endPos="0" fadeDir="0" sx="0" sy="0"/>
                </a:effectLst>
                <a:latin typeface="Helvetica" pitchFamily="34" charset="0"/>
              </a:rPr>
            </a:br>
            <a:r>
              <a:rPr lang="en-AU" sz="2200" dirty="0" smtClean="0">
                <a:effectLst>
                  <a:glow>
                    <a:srgbClr val="000000"/>
                  </a:glow>
                  <a:outerShdw sx="0" sy="0">
                    <a:srgbClr val="000000"/>
                  </a:outerShdw>
                  <a:reflection stA="0" endPos="0" fadeDir="0" sx="0" sy="0"/>
                </a:effectLst>
                <a:latin typeface="Helvetica" pitchFamily="34" charset="0"/>
              </a:rPr>
              <a:t>changes </a:t>
            </a:r>
            <a:r>
              <a:rPr lang="en-AU" sz="2200" dirty="0">
                <a:effectLst>
                  <a:glow>
                    <a:srgbClr val="000000"/>
                  </a:glow>
                  <a:outerShdw sx="0" sy="0">
                    <a:srgbClr val="000000"/>
                  </a:outerShdw>
                  <a:reflection stA="0" endPos="0" fadeDir="0" sx="0" sy="0"/>
                </a:effectLst>
                <a:latin typeface="Helvetica" pitchFamily="34" charset="0"/>
              </a:rPr>
              <a:t>made to scheduled itinerary, including the reasons for those changes and the knock-on impacts, if any, those changes will have to other itinerary arrangements</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itchFamily="34" charset="0"/>
              </a:rPr>
              <a:t>Confirming baggage </a:t>
            </a:r>
            <a:r>
              <a:rPr lang="en-AU" sz="2200" dirty="0" smtClean="0">
                <a:effectLst>
                  <a:glow>
                    <a:srgbClr val="000000"/>
                  </a:glow>
                  <a:outerShdw sx="0" sy="0">
                    <a:srgbClr val="000000"/>
                  </a:outerShdw>
                  <a:reflection stA="0" endPos="0" fadeDir="0" sx="0" sy="0"/>
                </a:effectLst>
                <a:latin typeface="Helvetica" pitchFamily="34" charset="0"/>
              </a:rPr>
              <a:t>details</a:t>
            </a:r>
            <a:endParaRPr lang="en-AU" sz="2200" dirty="0">
              <a:effectLst>
                <a:glow>
                  <a:srgbClr val="000000"/>
                </a:glow>
                <a:outerShdw sx="0" sy="0">
                  <a:srgbClr val="000000"/>
                </a:outerShdw>
                <a:reflection stA="0" endPos="0" fadeDir="0" sx="0" sy="0"/>
              </a:effectLst>
              <a:latin typeface="Helvetica" pitchFamily="34" charset="0"/>
            </a:endParaRPr>
          </a:p>
          <a:p>
            <a:pPr marL="0" indent="0">
              <a:spcBef>
                <a:spcPts val="1200"/>
              </a:spcBef>
              <a:spcAft>
                <a:spcPts val="1200"/>
              </a:spcAft>
              <a:buNone/>
            </a:pPr>
            <a:endParaRPr lang="en-AU"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132856"/>
            <a:ext cx="1832619" cy="2759968"/>
          </a:xfrm>
          <a:prstGeom prst="rect">
            <a:avLst/>
          </a:prstGeom>
        </p:spPr>
      </p:pic>
    </p:spTree>
    <p:extLst>
      <p:ext uri="{BB962C8B-B14F-4D97-AF65-F5344CB8AC3E}">
        <p14:creationId xmlns:p14="http://schemas.microsoft.com/office/powerpoint/2010/main" val="85708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1316" y="2708920"/>
            <a:ext cx="2567947" cy="1925960"/>
          </a:xfrm>
          <a:prstGeom prst="rect">
            <a:avLst/>
          </a:prstGeom>
        </p:spPr>
      </p:pic>
      <p:sp>
        <p:nvSpPr>
          <p:cNvPr id="2" name="Title 1"/>
          <p:cNvSpPr>
            <a:spLocks noGrp="1"/>
          </p:cNvSpPr>
          <p:nvPr>
            <p:ph type="title"/>
          </p:nvPr>
        </p:nvSpPr>
        <p:spPr>
          <a:xfrm>
            <a:off x="611560" y="332656"/>
            <a:ext cx="7704856" cy="1224136"/>
          </a:xfrm>
        </p:spPr>
        <p:txBody>
          <a:bodyPr>
            <a:normAutofit fontScale="90000"/>
          </a:bodyPr>
          <a:lstStyle/>
          <a:p>
            <a:pPr marL="808038" lvl="0" indent="-771525">
              <a:spcBef>
                <a:spcPts val="600"/>
              </a:spcBef>
              <a:spcAft>
                <a:spcPts val="1200"/>
              </a:spcAft>
            </a:pPr>
            <a:r>
              <a:rPr lang="en-US" sz="2800" b="1" dirty="0" smtClean="0">
                <a:solidFill>
                  <a:srgbClr val="FF6600"/>
                </a:solidFill>
                <a:latin typeface="Helvetica" pitchFamily="34" charset="0"/>
              </a:rPr>
              <a:t>2.4	</a:t>
            </a:r>
            <a:r>
              <a:rPr lang="en-AU" sz="2800" b="1" dirty="0" smtClean="0">
                <a:solidFill>
                  <a:srgbClr val="FF6600"/>
                </a:solidFill>
                <a:latin typeface="Helvetica" pitchFamily="34" charset="0"/>
              </a:rPr>
              <a:t>Facilitate </a:t>
            </a:r>
            <a:r>
              <a:rPr lang="en-AU" sz="2800" b="1" dirty="0">
                <a:solidFill>
                  <a:srgbClr val="FF6600"/>
                </a:solidFill>
                <a:latin typeface="Helvetica" pitchFamily="34" charset="0"/>
              </a:rPr>
              <a:t>movement of baggage from departing passenger location to </a:t>
            </a:r>
            <a:r>
              <a:rPr lang="en-AU" sz="2800" b="1" dirty="0" smtClean="0">
                <a:solidFill>
                  <a:srgbClr val="FF6600"/>
                </a:solidFill>
                <a:latin typeface="Helvetica" pitchFamily="34" charset="0"/>
              </a:rPr>
              <a:t>terminal</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525963"/>
          </a:xfrm>
        </p:spPr>
        <p:txBody>
          <a:bodyPr>
            <a:normAutofit fontScale="92500" lnSpcReduction="10000"/>
          </a:bodyPr>
          <a:lstStyle/>
          <a:p>
            <a:pPr marL="36576" indent="0">
              <a:lnSpc>
                <a:spcPct val="115000"/>
              </a:lnSpc>
              <a:spcBef>
                <a:spcPts val="1200"/>
              </a:spcBef>
              <a:spcAft>
                <a:spcPts val="1200"/>
              </a:spcAft>
              <a:buNone/>
            </a:pPr>
            <a:r>
              <a:rPr lang="en-AU" sz="2200" dirty="0" smtClean="0">
                <a:latin typeface="Helvetica" panose="000B0500000000000000" pitchFamily="34" charset="0"/>
                <a:ea typeface="Times New Roman"/>
                <a:cs typeface="Arial"/>
              </a:rPr>
              <a:t>Facilitate </a:t>
            </a:r>
            <a:r>
              <a:rPr lang="en-AU" sz="2200" dirty="0">
                <a:latin typeface="Helvetica" panose="000B0500000000000000" pitchFamily="34" charset="0"/>
                <a:ea typeface="Times New Roman"/>
                <a:cs typeface="Arial"/>
              </a:rPr>
              <a:t>movement of baggage from departing passenger location to terminal may include:</a:t>
            </a:r>
            <a:endParaRPr lang="en-AU" sz="2200" dirty="0">
              <a:latin typeface="Helvetica" panose="000B0500000000000000" pitchFamily="34" charset="0"/>
              <a:ea typeface="Times New Roman"/>
              <a:cs typeface="Times New Roman"/>
            </a:endParaRPr>
          </a:p>
          <a:p>
            <a:pPr lvl="0" fontAlgn="base">
              <a:spcBef>
                <a:spcPts val="1200"/>
              </a:spcBef>
              <a:spcAft>
                <a:spcPts val="1200"/>
              </a:spcAft>
            </a:pPr>
            <a:r>
              <a:rPr lang="en-AU" sz="2200" dirty="0" smtClean="0">
                <a:effectLst>
                  <a:glow>
                    <a:srgbClr val="000000"/>
                  </a:glow>
                  <a:outerShdw sx="0" sy="0">
                    <a:srgbClr val="000000"/>
                  </a:outerShdw>
                  <a:reflection stA="0" endPos="0" fadeDir="0" sx="0" sy="0"/>
                </a:effectLst>
                <a:latin typeface="Helvetica" panose="000B0500000000000000" pitchFamily="34" charset="0"/>
              </a:rPr>
              <a:t>Advising </a:t>
            </a:r>
            <a:r>
              <a:rPr lang="en-AU" sz="2200" dirty="0">
                <a:effectLst>
                  <a:glow>
                    <a:srgbClr val="000000"/>
                  </a:glow>
                  <a:outerShdw sx="0" sy="0">
                    <a:srgbClr val="000000"/>
                  </a:outerShdw>
                  <a:reflection stA="0" endPos="0" fadeDir="0" sx="0" sy="0"/>
                </a:effectLst>
                <a:latin typeface="Helvetica" panose="000B0500000000000000" pitchFamily="34" charset="0"/>
              </a:rPr>
              <a:t>passengers of details in relation </a:t>
            </a:r>
            <a:r>
              <a:rPr lang="en-AU" sz="2200" dirty="0" smtClean="0">
                <a:effectLst>
                  <a:glow>
                    <a:srgbClr val="000000"/>
                  </a:glow>
                  <a:outerShdw sx="0" sy="0">
                    <a:srgbClr val="000000"/>
                  </a:outerShdw>
                  <a:reflection stA="0" endPos="0" fadeDir="0" sx="0" sy="0"/>
                </a:effectLst>
                <a:latin typeface="Helvetica" panose="000B0500000000000000" pitchFamily="34" charset="0"/>
              </a:rPr>
              <a:t/>
            </a:r>
            <a:br>
              <a:rPr lang="en-AU" sz="2200" dirty="0" smtClean="0">
                <a:effectLst>
                  <a:glow>
                    <a:srgbClr val="000000"/>
                  </a:glow>
                  <a:outerShdw sx="0" sy="0">
                    <a:srgbClr val="000000"/>
                  </a:outerShdw>
                  <a:reflection stA="0" endPos="0" fadeDir="0" sx="0" sy="0"/>
                </a:effectLst>
                <a:latin typeface="Helvetica" panose="000B0500000000000000" pitchFamily="34" charset="0"/>
              </a:rPr>
            </a:br>
            <a:r>
              <a:rPr lang="en-AU" sz="2200" dirty="0" smtClean="0">
                <a:effectLst>
                  <a:glow>
                    <a:srgbClr val="000000"/>
                  </a:glow>
                  <a:outerShdw sx="0" sy="0">
                    <a:srgbClr val="000000"/>
                  </a:outerShdw>
                  <a:reflection stA="0" endPos="0" fadeDir="0" sx="0" sy="0"/>
                </a:effectLst>
                <a:latin typeface="Helvetica" panose="000B0500000000000000" pitchFamily="34" charset="0"/>
              </a:rPr>
              <a:t>to </a:t>
            </a:r>
            <a:r>
              <a:rPr lang="en-AU" sz="2200" dirty="0">
                <a:effectLst>
                  <a:glow>
                    <a:srgbClr val="000000"/>
                  </a:glow>
                  <a:outerShdw sx="0" sy="0">
                    <a:srgbClr val="000000"/>
                  </a:outerShdw>
                  <a:reflection stA="0" endPos="0" fadeDir="0" sx="0" sy="0"/>
                </a:effectLst>
                <a:latin typeface="Helvetica" panose="000B0500000000000000" pitchFamily="34" charset="0"/>
              </a:rPr>
              <a:t>their baggage for transportation/transfer, </a:t>
            </a:r>
            <a:r>
              <a:rPr lang="en-AU" sz="2200" dirty="0" smtClean="0">
                <a:effectLst>
                  <a:glow>
                    <a:srgbClr val="000000"/>
                  </a:glow>
                  <a:outerShdw sx="0" sy="0">
                    <a:srgbClr val="000000"/>
                  </a:outerShdw>
                  <a:reflection stA="0" endPos="0" fadeDir="0" sx="0" sy="0"/>
                </a:effectLst>
                <a:latin typeface="Helvetica" panose="000B0500000000000000" pitchFamily="34" charset="0"/>
              </a:rPr>
              <a:t/>
            </a:r>
            <a:br>
              <a:rPr lang="en-AU" sz="2200" dirty="0" smtClean="0">
                <a:effectLst>
                  <a:glow>
                    <a:srgbClr val="000000"/>
                  </a:glow>
                  <a:outerShdw sx="0" sy="0">
                    <a:srgbClr val="000000"/>
                  </a:outerShdw>
                  <a:reflection stA="0" endPos="0" fadeDir="0" sx="0" sy="0"/>
                </a:effectLst>
                <a:latin typeface="Helvetica" panose="000B0500000000000000" pitchFamily="34" charset="0"/>
              </a:rPr>
            </a:br>
            <a:r>
              <a:rPr lang="en-AU" sz="2200" dirty="0" smtClean="0">
                <a:effectLst>
                  <a:glow>
                    <a:srgbClr val="000000"/>
                  </a:glow>
                  <a:outerShdw sx="0" sy="0">
                    <a:srgbClr val="000000"/>
                  </a:outerShdw>
                  <a:reflection stA="0" endPos="0" fadeDir="0" sx="0" sy="0"/>
                </a:effectLst>
                <a:latin typeface="Helvetica" panose="000B0500000000000000" pitchFamily="34" charset="0"/>
              </a:rPr>
              <a:t>including </a:t>
            </a:r>
            <a:r>
              <a:rPr lang="en-AU" sz="2200" dirty="0">
                <a:effectLst>
                  <a:glow>
                    <a:srgbClr val="000000"/>
                  </a:glow>
                  <a:outerShdw sx="0" sy="0">
                    <a:srgbClr val="000000"/>
                  </a:outerShdw>
                  <a:reflection stA="0" endPos="0" fadeDir="0" sx="0" sy="0"/>
                </a:effectLst>
                <a:latin typeface="Helvetica" panose="000B0500000000000000" pitchFamily="34" charset="0"/>
              </a:rPr>
              <a:t>identification, security, maximum </a:t>
            </a:r>
            <a:r>
              <a:rPr lang="en-AU" sz="2200" dirty="0" smtClean="0">
                <a:effectLst>
                  <a:glow>
                    <a:srgbClr val="000000"/>
                  </a:glow>
                  <a:outerShdw sx="0" sy="0">
                    <a:srgbClr val="000000"/>
                  </a:outerShdw>
                  <a:reflection stA="0" endPos="0" fadeDir="0" sx="0" sy="0"/>
                </a:effectLst>
                <a:latin typeface="Helvetica" panose="000B0500000000000000" pitchFamily="34" charset="0"/>
              </a:rPr>
              <a:t/>
            </a:r>
            <a:br>
              <a:rPr lang="en-AU" sz="2200" dirty="0" smtClean="0">
                <a:effectLst>
                  <a:glow>
                    <a:srgbClr val="000000"/>
                  </a:glow>
                  <a:outerShdw sx="0" sy="0">
                    <a:srgbClr val="000000"/>
                  </a:outerShdw>
                  <a:reflection stA="0" endPos="0" fadeDir="0" sx="0" sy="0"/>
                </a:effectLst>
                <a:latin typeface="Helvetica" panose="000B0500000000000000" pitchFamily="34" charset="0"/>
              </a:rPr>
            </a:br>
            <a:r>
              <a:rPr lang="en-AU" sz="2200" dirty="0" smtClean="0">
                <a:effectLst>
                  <a:glow>
                    <a:srgbClr val="000000"/>
                  </a:glow>
                  <a:outerShdw sx="0" sy="0">
                    <a:srgbClr val="000000"/>
                  </a:outerShdw>
                  <a:reflection stA="0" endPos="0" fadeDir="0" sx="0" sy="0"/>
                </a:effectLst>
                <a:latin typeface="Helvetica" panose="000B0500000000000000" pitchFamily="34" charset="0"/>
              </a:rPr>
              <a:t>allowable </a:t>
            </a:r>
            <a:r>
              <a:rPr lang="en-AU" sz="2200" dirty="0">
                <a:effectLst>
                  <a:glow>
                    <a:srgbClr val="000000"/>
                  </a:glow>
                  <a:outerShdw sx="0" sy="0">
                    <a:srgbClr val="000000"/>
                  </a:outerShdw>
                  <a:reflection stA="0" endPos="0" fadeDir="0" sx="0" sy="0"/>
                </a:effectLst>
                <a:latin typeface="Helvetica" panose="000B0500000000000000" pitchFamily="34" charset="0"/>
              </a:rPr>
              <a:t>and weight limitations</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anose="000B0500000000000000" pitchFamily="34" charset="0"/>
              </a:rPr>
              <a:t>Identifying the location where baggage </a:t>
            </a:r>
            <a:r>
              <a:rPr lang="en-AU" sz="2200" dirty="0" smtClean="0">
                <a:effectLst>
                  <a:glow>
                    <a:srgbClr val="000000"/>
                  </a:glow>
                  <a:outerShdw sx="0" sy="0">
                    <a:srgbClr val="000000"/>
                  </a:outerShdw>
                  <a:reflection stA="0" endPos="0" fadeDir="0" sx="0" sy="0"/>
                </a:effectLst>
                <a:latin typeface="Helvetica" panose="000B0500000000000000" pitchFamily="34" charset="0"/>
              </a:rPr>
              <a:t/>
            </a:r>
            <a:br>
              <a:rPr lang="en-AU" sz="2200" dirty="0" smtClean="0">
                <a:effectLst>
                  <a:glow>
                    <a:srgbClr val="000000"/>
                  </a:glow>
                  <a:outerShdw sx="0" sy="0">
                    <a:srgbClr val="000000"/>
                  </a:outerShdw>
                  <a:reflection stA="0" endPos="0" fadeDir="0" sx="0" sy="0"/>
                </a:effectLst>
                <a:latin typeface="Helvetica" panose="000B0500000000000000" pitchFamily="34" charset="0"/>
              </a:rPr>
            </a:br>
            <a:r>
              <a:rPr lang="en-AU" sz="2200" dirty="0" smtClean="0">
                <a:effectLst>
                  <a:glow>
                    <a:srgbClr val="000000"/>
                  </a:glow>
                  <a:outerShdw sx="0" sy="0">
                    <a:srgbClr val="000000"/>
                  </a:outerShdw>
                  <a:reflection stA="0" endPos="0" fadeDir="0" sx="0" sy="0"/>
                </a:effectLst>
                <a:latin typeface="Helvetica" panose="000B0500000000000000" pitchFamily="34" charset="0"/>
              </a:rPr>
              <a:t>is </a:t>
            </a:r>
            <a:r>
              <a:rPr lang="en-AU" sz="2200" dirty="0">
                <a:effectLst>
                  <a:glow>
                    <a:srgbClr val="000000"/>
                  </a:glow>
                  <a:outerShdw sx="0" sy="0">
                    <a:srgbClr val="000000"/>
                  </a:outerShdw>
                  <a:reflection stA="0" endPos="0" fadeDir="0" sx="0" sy="0"/>
                </a:effectLst>
                <a:latin typeface="Helvetica" panose="000B0500000000000000" pitchFamily="34" charset="0"/>
              </a:rPr>
              <a:t>to be placed for pick-up</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anose="000B0500000000000000" pitchFamily="34" charset="0"/>
              </a:rPr>
              <a:t>Making arrangements with baggage </a:t>
            </a:r>
            <a:r>
              <a:rPr lang="en-AU" sz="2200" dirty="0" smtClean="0">
                <a:effectLst>
                  <a:glow>
                    <a:srgbClr val="000000"/>
                  </a:glow>
                  <a:outerShdw sx="0" sy="0">
                    <a:srgbClr val="000000"/>
                  </a:outerShdw>
                  <a:reflection stA="0" endPos="0" fadeDir="0" sx="0" sy="0"/>
                </a:effectLst>
                <a:latin typeface="Helvetica" panose="000B0500000000000000" pitchFamily="34" charset="0"/>
              </a:rPr>
              <a:t>carriers</a:t>
            </a:r>
          </a:p>
          <a:p>
            <a:pPr marL="36576" lvl="0" indent="0" fontAlgn="base">
              <a:spcBef>
                <a:spcPts val="1200"/>
              </a:spcBef>
              <a:spcAft>
                <a:spcPts val="1200"/>
              </a:spcAft>
              <a:buNone/>
            </a:pPr>
            <a:r>
              <a:rPr lang="en-AU" sz="2200" i="1" dirty="0" smtClean="0">
                <a:effectLst>
                  <a:glow>
                    <a:srgbClr val="000000"/>
                  </a:glow>
                  <a:outerShdw sx="0" sy="0">
                    <a:srgbClr val="000000"/>
                  </a:outerShdw>
                  <a:reflection stA="0" endPos="0" fadeDir="0" sx="0" sy="0"/>
                </a:effectLst>
                <a:latin typeface="Helvetica" panose="000B0500000000000000" pitchFamily="34" charset="0"/>
              </a:rPr>
              <a:t>(Continued)</a:t>
            </a:r>
            <a:endParaRPr lang="en-AU" sz="2200" i="1" dirty="0">
              <a:effectLst>
                <a:glow>
                  <a:srgbClr val="000000"/>
                </a:glow>
                <a:outerShdw sx="0" sy="0">
                  <a:srgbClr val="000000"/>
                </a:outerShdw>
                <a:reflection stA="0" endPos="0" fadeDir="0" sx="0" sy="0"/>
              </a:effectLst>
              <a:latin typeface="Helvetica" panose="000B0500000000000000" pitchFamily="34" charset="0"/>
            </a:endParaRPr>
          </a:p>
          <a:p>
            <a:pPr marL="0" indent="0">
              <a:spcBef>
                <a:spcPts val="1200"/>
              </a:spcBef>
              <a:spcAft>
                <a:spcPts val="1200"/>
              </a:spcAft>
              <a:buNone/>
            </a:pPr>
            <a:endParaRPr lang="en-AU"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224136"/>
          </a:xfrm>
        </p:spPr>
        <p:txBody>
          <a:bodyPr>
            <a:normAutofit/>
          </a:bodyPr>
          <a:lstStyle/>
          <a:p>
            <a:pPr marL="808038" lvl="0" indent="-771525">
              <a:spcBef>
                <a:spcPts val="600"/>
              </a:spcBef>
              <a:spcAft>
                <a:spcPts val="1200"/>
              </a:spcAft>
            </a:pPr>
            <a:r>
              <a:rPr lang="en-US" sz="2800" b="1" dirty="0" smtClean="0">
                <a:solidFill>
                  <a:srgbClr val="FF6600"/>
                </a:solidFill>
                <a:latin typeface="Helvetica" pitchFamily="34" charset="0"/>
              </a:rPr>
              <a:t>2.4	</a:t>
            </a:r>
            <a:r>
              <a:rPr lang="en-AU" sz="2800" b="1" dirty="0" smtClean="0">
                <a:solidFill>
                  <a:srgbClr val="FF6600"/>
                </a:solidFill>
                <a:latin typeface="Helvetica" pitchFamily="34" charset="0"/>
              </a:rPr>
              <a:t>Facilitate </a:t>
            </a:r>
            <a:r>
              <a:rPr lang="en-AU" sz="2800" b="1" dirty="0">
                <a:solidFill>
                  <a:srgbClr val="FF6600"/>
                </a:solidFill>
                <a:latin typeface="Helvetica" pitchFamily="34" charset="0"/>
              </a:rPr>
              <a:t>movement of baggage from departing passenger location to </a:t>
            </a:r>
            <a:r>
              <a:rPr lang="en-AU" sz="2800" b="1" dirty="0" smtClean="0">
                <a:solidFill>
                  <a:srgbClr val="FF6600"/>
                </a:solidFill>
                <a:latin typeface="Helvetica" pitchFamily="34" charset="0"/>
              </a:rPr>
              <a:t>terminal</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525963"/>
          </a:xfrm>
        </p:spPr>
        <p:txBody>
          <a:bodyPr>
            <a:normAutofit/>
          </a:bodyPr>
          <a:lstStyle/>
          <a:p>
            <a:pPr marL="36576" indent="0">
              <a:lnSpc>
                <a:spcPct val="115000"/>
              </a:lnSpc>
              <a:spcBef>
                <a:spcPts val="1200"/>
              </a:spcBef>
              <a:spcAft>
                <a:spcPts val="1200"/>
              </a:spcAft>
              <a:buNone/>
            </a:pPr>
            <a:r>
              <a:rPr lang="en-AU" sz="2200" dirty="0" smtClean="0">
                <a:latin typeface="Helvetica" panose="000B0500000000000000" pitchFamily="34" charset="0"/>
                <a:ea typeface="Times New Roman"/>
                <a:cs typeface="Arial"/>
              </a:rPr>
              <a:t>Facilitate </a:t>
            </a:r>
            <a:r>
              <a:rPr lang="en-AU" sz="2200" dirty="0">
                <a:latin typeface="Helvetica" panose="000B0500000000000000" pitchFamily="34" charset="0"/>
                <a:ea typeface="Times New Roman"/>
                <a:cs typeface="Arial"/>
              </a:rPr>
              <a:t>movement of baggage from departing passenger location to terminal may include:</a:t>
            </a:r>
            <a:endParaRPr lang="en-AU" sz="2200" dirty="0">
              <a:latin typeface="Helvetica" panose="000B0500000000000000" pitchFamily="34" charset="0"/>
              <a:ea typeface="Times New Roman"/>
              <a:cs typeface="Times New Roman"/>
            </a:endParaRPr>
          </a:p>
          <a:p>
            <a:pPr lvl="0" fontAlgn="base">
              <a:spcBef>
                <a:spcPts val="1200"/>
              </a:spcBef>
              <a:spcAft>
                <a:spcPts val="1200"/>
              </a:spcAft>
            </a:pPr>
            <a:r>
              <a:rPr lang="en-AU" sz="2200" dirty="0" smtClean="0">
                <a:effectLst>
                  <a:glow>
                    <a:srgbClr val="000000"/>
                  </a:glow>
                  <a:outerShdw sx="0" sy="0">
                    <a:srgbClr val="000000"/>
                  </a:outerShdw>
                  <a:reflection stA="0" endPos="0" fadeDir="0" sx="0" sy="0"/>
                </a:effectLst>
                <a:latin typeface="Helvetica" panose="000B0500000000000000" pitchFamily="34" charset="0"/>
              </a:rPr>
              <a:t>Making </a:t>
            </a:r>
            <a:r>
              <a:rPr lang="en-AU" sz="2200" dirty="0">
                <a:effectLst>
                  <a:glow>
                    <a:srgbClr val="000000"/>
                  </a:glow>
                  <a:outerShdw sx="0" sy="0">
                    <a:srgbClr val="000000"/>
                  </a:outerShdw>
                  <a:reflection stA="0" endPos="0" fadeDir="0" sx="0" sy="0"/>
                </a:effectLst>
                <a:latin typeface="Helvetica" panose="000B0500000000000000" pitchFamily="34" charset="0"/>
              </a:rPr>
              <a:t>payments, as applicable</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anose="000B0500000000000000" pitchFamily="34" charset="0"/>
              </a:rPr>
              <a:t>Encouraging passengers to check </a:t>
            </a:r>
            <a:r>
              <a:rPr lang="en-AU" sz="2200" dirty="0" smtClean="0">
                <a:effectLst>
                  <a:glow>
                    <a:srgbClr val="000000"/>
                  </a:glow>
                  <a:outerShdw sx="0" sy="0">
                    <a:srgbClr val="000000"/>
                  </a:outerShdw>
                  <a:reflection stA="0" endPos="0" fadeDir="0" sx="0" sy="0"/>
                </a:effectLst>
                <a:latin typeface="Helvetica" panose="000B0500000000000000" pitchFamily="34" charset="0"/>
              </a:rPr>
              <a:t/>
            </a:r>
            <a:br>
              <a:rPr lang="en-AU" sz="2200" dirty="0" smtClean="0">
                <a:effectLst>
                  <a:glow>
                    <a:srgbClr val="000000"/>
                  </a:glow>
                  <a:outerShdw sx="0" sy="0">
                    <a:srgbClr val="000000"/>
                  </a:outerShdw>
                  <a:reflection stA="0" endPos="0" fadeDir="0" sx="0" sy="0"/>
                </a:effectLst>
                <a:latin typeface="Helvetica" panose="000B0500000000000000" pitchFamily="34" charset="0"/>
              </a:rPr>
            </a:br>
            <a:r>
              <a:rPr lang="en-AU" sz="2200" dirty="0" smtClean="0">
                <a:effectLst>
                  <a:glow>
                    <a:srgbClr val="000000"/>
                  </a:glow>
                  <a:outerShdw sx="0" sy="0">
                    <a:srgbClr val="000000"/>
                  </a:outerShdw>
                  <a:reflection stA="0" endPos="0" fadeDir="0" sx="0" sy="0"/>
                </a:effectLst>
                <a:latin typeface="Helvetica" panose="000B0500000000000000" pitchFamily="34" charset="0"/>
              </a:rPr>
              <a:t>rooms </a:t>
            </a:r>
            <a:r>
              <a:rPr lang="en-AU" sz="2200" dirty="0">
                <a:effectLst>
                  <a:glow>
                    <a:srgbClr val="000000"/>
                  </a:glow>
                  <a:outerShdw sx="0" sy="0">
                    <a:srgbClr val="000000"/>
                  </a:outerShdw>
                  <a:reflection stA="0" endPos="0" fadeDir="0" sx="0" sy="0"/>
                </a:effectLst>
                <a:latin typeface="Helvetica" panose="000B0500000000000000" pitchFamily="34" charset="0"/>
              </a:rPr>
              <a:t>to ensure no baggage is </a:t>
            </a:r>
            <a:r>
              <a:rPr lang="en-AU" sz="2200" dirty="0" smtClean="0">
                <a:effectLst>
                  <a:glow>
                    <a:srgbClr val="000000"/>
                  </a:glow>
                  <a:outerShdw sx="0" sy="0">
                    <a:srgbClr val="000000"/>
                  </a:outerShdw>
                  <a:reflection stA="0" endPos="0" fadeDir="0" sx="0" sy="0"/>
                </a:effectLst>
                <a:latin typeface="Helvetica" panose="000B0500000000000000" pitchFamily="34" charset="0"/>
              </a:rPr>
              <a:t/>
            </a:r>
            <a:br>
              <a:rPr lang="en-AU" sz="2200" dirty="0" smtClean="0">
                <a:effectLst>
                  <a:glow>
                    <a:srgbClr val="000000"/>
                  </a:glow>
                  <a:outerShdw sx="0" sy="0">
                    <a:srgbClr val="000000"/>
                  </a:outerShdw>
                  <a:reflection stA="0" endPos="0" fadeDir="0" sx="0" sy="0"/>
                </a:effectLst>
                <a:latin typeface="Helvetica" panose="000B0500000000000000" pitchFamily="34" charset="0"/>
              </a:rPr>
            </a:br>
            <a:r>
              <a:rPr lang="en-AU" sz="2200" dirty="0" smtClean="0">
                <a:effectLst>
                  <a:glow>
                    <a:srgbClr val="000000"/>
                  </a:glow>
                  <a:outerShdw sx="0" sy="0">
                    <a:srgbClr val="000000"/>
                  </a:outerShdw>
                  <a:reflection stA="0" endPos="0" fadeDir="0" sx="0" sy="0"/>
                </a:effectLst>
                <a:latin typeface="Helvetica" panose="000B0500000000000000" pitchFamily="34" charset="0"/>
              </a:rPr>
              <a:t>left </a:t>
            </a:r>
            <a:r>
              <a:rPr lang="en-AU" sz="2200" dirty="0">
                <a:effectLst>
                  <a:glow>
                    <a:srgbClr val="000000"/>
                  </a:glow>
                  <a:outerShdw sx="0" sy="0">
                    <a:srgbClr val="000000"/>
                  </a:outerShdw>
                  <a:reflection stA="0" endPos="0" fadeDir="0" sx="0" sy="0"/>
                </a:effectLst>
                <a:latin typeface="Helvetica" panose="000B0500000000000000" pitchFamily="34" charset="0"/>
              </a:rPr>
              <a:t>behind</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anose="000B0500000000000000" pitchFamily="34" charset="0"/>
              </a:rPr>
              <a:t>Making physical inspections of sites to check for baggage</a:t>
            </a:r>
          </a:p>
          <a:p>
            <a:pPr lvl="0" fontAlgn="base">
              <a:spcBef>
                <a:spcPts val="1200"/>
              </a:spcBef>
              <a:spcAft>
                <a:spcPts val="1200"/>
              </a:spcAft>
            </a:pPr>
            <a:r>
              <a:rPr lang="en-AU" sz="2200" dirty="0">
                <a:effectLst>
                  <a:glow>
                    <a:srgbClr val="000000"/>
                  </a:glow>
                  <a:outerShdw sx="0" sy="0">
                    <a:srgbClr val="000000"/>
                  </a:outerShdw>
                  <a:reflection stA="0" endPos="0" fadeDir="0" sx="0" sy="0"/>
                </a:effectLst>
                <a:latin typeface="Helvetica" panose="000B0500000000000000" pitchFamily="34" charset="0"/>
              </a:rPr>
              <a:t>Using bag tags to identify baggage by </a:t>
            </a:r>
            <a:r>
              <a:rPr lang="en-AU" sz="2200" dirty="0" smtClean="0">
                <a:effectLst>
                  <a:glow>
                    <a:srgbClr val="000000"/>
                  </a:glow>
                  <a:outerShdw sx="0" sy="0">
                    <a:srgbClr val="000000"/>
                  </a:outerShdw>
                  <a:reflection stA="0" endPos="0" fadeDir="0" sx="0" sy="0"/>
                </a:effectLst>
                <a:latin typeface="Helvetica" panose="000B0500000000000000" pitchFamily="34" charset="0"/>
              </a:rPr>
              <a:t>passenger</a:t>
            </a:r>
            <a:endParaRPr lang="en-AU" sz="2200" dirty="0">
              <a:effectLst>
                <a:glow>
                  <a:srgbClr val="000000"/>
                </a:glow>
                <a:outerShdw sx="0" sy="0">
                  <a:srgbClr val="000000"/>
                </a:outerShdw>
                <a:reflection stA="0" endPos="0" fadeDir="0" sx="0" sy="0"/>
              </a:effectLst>
              <a:latin typeface="Helvetica" panose="000B0500000000000000" pitchFamily="34" charset="0"/>
            </a:endParaRPr>
          </a:p>
          <a:p>
            <a:pPr marL="0" indent="0">
              <a:spcBef>
                <a:spcPts val="1200"/>
              </a:spcBef>
              <a:spcAft>
                <a:spcPts val="1200"/>
              </a:spcAft>
              <a:buNone/>
            </a:pPr>
            <a:endParaRPr lang="en-AU"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58778" y="2297654"/>
            <a:ext cx="2759968" cy="1840899"/>
          </a:xfrm>
          <a:prstGeom prst="rect">
            <a:avLst/>
          </a:prstGeom>
        </p:spPr>
      </p:pic>
    </p:spTree>
    <p:extLst>
      <p:ext uri="{BB962C8B-B14F-4D97-AF65-F5344CB8AC3E}">
        <p14:creationId xmlns:p14="http://schemas.microsoft.com/office/powerpoint/2010/main" val="410809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80920" cy="1296144"/>
          </a:xfrm>
        </p:spPr>
        <p:txBody>
          <a:bodyPr>
            <a:noAutofit/>
          </a:bodyPr>
          <a:lstStyle/>
          <a:p>
            <a:pPr marL="808038" lvl="0" indent="-771525">
              <a:spcBef>
                <a:spcPts val="600"/>
              </a:spcBef>
              <a:spcAft>
                <a:spcPts val="1200"/>
              </a:spcAft>
            </a:pPr>
            <a:r>
              <a:rPr lang="en-US" sz="2800" b="1" dirty="0" smtClean="0">
                <a:solidFill>
                  <a:srgbClr val="FF6600"/>
                </a:solidFill>
                <a:latin typeface="Helvetica" pitchFamily="34" charset="0"/>
              </a:rPr>
              <a:t>2.5	</a:t>
            </a:r>
            <a:r>
              <a:rPr lang="en-AU" sz="2800" b="1" dirty="0" smtClean="0">
                <a:solidFill>
                  <a:srgbClr val="FF6600"/>
                </a:solidFill>
                <a:latin typeface="Helvetica" pitchFamily="34" charset="0"/>
              </a:rPr>
              <a:t>Advise </a:t>
            </a:r>
            <a:r>
              <a:rPr lang="en-AU" sz="2800" b="1" dirty="0">
                <a:solidFill>
                  <a:srgbClr val="FF6600"/>
                </a:solidFill>
                <a:latin typeface="Helvetica" pitchFamily="34" charset="0"/>
              </a:rPr>
              <a:t>departing passengers regarding legal and other procedures applying to their </a:t>
            </a:r>
            <a:r>
              <a:rPr lang="en-AU" sz="2800" b="1" dirty="0" smtClean="0">
                <a:solidFill>
                  <a:srgbClr val="FF6600"/>
                </a:solidFill>
                <a:latin typeface="Helvetica" pitchFamily="34" charset="0"/>
              </a:rPr>
              <a:t>departure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680520"/>
          </a:xfrm>
        </p:spPr>
        <p:txBody>
          <a:bodyPr>
            <a:noAutofit/>
          </a:bodyPr>
          <a:lstStyle/>
          <a:p>
            <a:pPr marL="36576" indent="0">
              <a:lnSpc>
                <a:spcPct val="150000"/>
              </a:lnSpc>
              <a:spcBef>
                <a:spcPts val="400"/>
              </a:spcBef>
              <a:spcAft>
                <a:spcPts val="800"/>
              </a:spcAft>
              <a:buNone/>
            </a:pPr>
            <a:r>
              <a:rPr lang="en-AU" sz="2400" dirty="0" smtClean="0">
                <a:latin typeface="Helvetica" pitchFamily="34" charset="0"/>
                <a:ea typeface="Times New Roman"/>
                <a:cs typeface="Times New Roman"/>
              </a:rPr>
              <a:t>Advise </a:t>
            </a:r>
            <a:r>
              <a:rPr lang="en-AU" sz="2400" dirty="0">
                <a:latin typeface="Helvetica" pitchFamily="34" charset="0"/>
                <a:ea typeface="Times New Roman"/>
                <a:cs typeface="Times New Roman"/>
              </a:rPr>
              <a:t>departing passengers</a:t>
            </a:r>
          </a:p>
          <a:p>
            <a:pPr>
              <a:lnSpc>
                <a:spcPct val="150000"/>
              </a:lnSpc>
              <a:spcBef>
                <a:spcPts val="400"/>
              </a:spcBef>
              <a:spcAft>
                <a:spcPts val="800"/>
              </a:spcAft>
            </a:pPr>
            <a:r>
              <a:rPr lang="en-AU" sz="2400" dirty="0">
                <a:latin typeface="Helvetica" pitchFamily="34" charset="0"/>
                <a:ea typeface="MS Mincho"/>
                <a:cs typeface="Times New Roman"/>
              </a:rPr>
              <a:t>H</a:t>
            </a:r>
            <a:r>
              <a:rPr lang="en-AU" sz="2400" dirty="0">
                <a:latin typeface="Helvetica" pitchFamily="34" charset="0"/>
                <a:ea typeface="Times New Roman"/>
                <a:cs typeface="Times New Roman"/>
              </a:rPr>
              <a:t>ow to claim </a:t>
            </a:r>
            <a:r>
              <a:rPr lang="en-AU" sz="2400" dirty="0" smtClean="0">
                <a:latin typeface="Helvetica" pitchFamily="34" charset="0"/>
                <a:ea typeface="Times New Roman"/>
                <a:cs typeface="Times New Roman"/>
              </a:rPr>
              <a:t>taxes</a:t>
            </a:r>
          </a:p>
          <a:p>
            <a:pPr>
              <a:lnSpc>
                <a:spcPct val="150000"/>
              </a:lnSpc>
              <a:spcBef>
                <a:spcPts val="400"/>
              </a:spcBef>
              <a:spcAft>
                <a:spcPts val="800"/>
              </a:spcAft>
            </a:pPr>
            <a:r>
              <a:rPr lang="en-AU" sz="2400" dirty="0" smtClean="0">
                <a:latin typeface="Helvetica" pitchFamily="34" charset="0"/>
                <a:ea typeface="MS Mincho"/>
                <a:cs typeface="Times New Roman"/>
              </a:rPr>
              <a:t>How </a:t>
            </a:r>
            <a:r>
              <a:rPr lang="en-AU" sz="2400" dirty="0">
                <a:latin typeface="Helvetica" pitchFamily="34" charset="0"/>
                <a:ea typeface="MS Mincho"/>
                <a:cs typeface="Times New Roman"/>
              </a:rPr>
              <a:t>to declare duty-free </a:t>
            </a:r>
            <a:r>
              <a:rPr lang="en-AU" sz="2400" dirty="0" smtClean="0">
                <a:latin typeface="Helvetica" pitchFamily="34" charset="0"/>
                <a:ea typeface="MS Mincho"/>
                <a:cs typeface="Times New Roman"/>
              </a:rPr>
              <a:t>items </a:t>
            </a:r>
          </a:p>
          <a:p>
            <a:pPr>
              <a:lnSpc>
                <a:spcPct val="150000"/>
              </a:lnSpc>
              <a:spcBef>
                <a:spcPts val="400"/>
              </a:spcBef>
              <a:spcAft>
                <a:spcPts val="800"/>
              </a:spcAft>
            </a:pPr>
            <a:r>
              <a:rPr lang="en-AU" sz="2400" dirty="0">
                <a:latin typeface="Helvetica" pitchFamily="34" charset="0"/>
                <a:ea typeface="Times New Roman"/>
                <a:cs typeface="Times New Roman"/>
              </a:rPr>
              <a:t>Completing documents</a:t>
            </a:r>
          </a:p>
          <a:p>
            <a:pPr>
              <a:lnSpc>
                <a:spcPct val="150000"/>
              </a:lnSpc>
              <a:spcBef>
                <a:spcPts val="400"/>
              </a:spcBef>
              <a:spcAft>
                <a:spcPts val="800"/>
              </a:spcAft>
            </a:pPr>
            <a:r>
              <a:rPr lang="en-AU" sz="2400" dirty="0">
                <a:latin typeface="Helvetica" pitchFamily="34" charset="0"/>
                <a:ea typeface="Times New Roman"/>
                <a:cs typeface="Times New Roman"/>
              </a:rPr>
              <a:t>Next destination</a:t>
            </a:r>
          </a:p>
          <a:p>
            <a:pPr>
              <a:lnSpc>
                <a:spcPct val="150000"/>
              </a:lnSpc>
              <a:spcBef>
                <a:spcPts val="400"/>
              </a:spcBef>
              <a:spcAft>
                <a:spcPts val="800"/>
              </a:spcAft>
            </a:pPr>
            <a:r>
              <a:rPr lang="en-AU" sz="2400" dirty="0">
                <a:latin typeface="Helvetica" pitchFamily="34" charset="0"/>
                <a:ea typeface="Times New Roman"/>
                <a:cs typeface="Times New Roman"/>
              </a:rPr>
              <a:t>Restricted items</a:t>
            </a:r>
          </a:p>
          <a:p>
            <a:pPr>
              <a:spcBef>
                <a:spcPts val="400"/>
              </a:spcBef>
              <a:spcAft>
                <a:spcPts val="800"/>
              </a:spcAft>
            </a:pPr>
            <a:endParaRPr lang="en-AU" sz="2400" b="1" i="1" dirty="0">
              <a:latin typeface="Helvetica" pitchFamily="34" charset="0"/>
              <a:ea typeface="Times New Roman"/>
              <a:cs typeface="Times New Roman"/>
            </a:endParaRPr>
          </a:p>
          <a:p>
            <a:pPr marL="0" indent="0">
              <a:spcBef>
                <a:spcPts val="600"/>
              </a:spcBef>
              <a:spcAft>
                <a:spcPts val="1200"/>
              </a:spcAft>
              <a:buNone/>
            </a:pPr>
            <a:endParaRPr lang="en-AU" sz="2400" dirty="0" smtClean="0">
              <a:latin typeface="Helvetica" pitchFamily="34" charset="0"/>
            </a:endParaRPr>
          </a:p>
          <a:p>
            <a:pPr marL="360000" indent="-360000">
              <a:spcBef>
                <a:spcPts val="600"/>
              </a:spcBef>
              <a:spcAft>
                <a:spcPts val="1200"/>
              </a:spcAft>
              <a:buNone/>
            </a:pPr>
            <a:endParaRPr lang="en-US"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2855559"/>
            <a:ext cx="2903984" cy="19369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808038" lvl="0" indent="-771525">
              <a:spcBef>
                <a:spcPts val="600"/>
              </a:spcBef>
              <a:spcAft>
                <a:spcPts val="1200"/>
              </a:spcAft>
            </a:pPr>
            <a:r>
              <a:rPr lang="en-US" sz="2800" b="1" dirty="0" smtClean="0">
                <a:solidFill>
                  <a:srgbClr val="FF6600"/>
                </a:solidFill>
                <a:latin typeface="Helvetica" pitchFamily="34" charset="0"/>
              </a:rPr>
              <a:t>2.6	</a:t>
            </a:r>
            <a:r>
              <a:rPr lang="en-AU" sz="2800" b="1" dirty="0" smtClean="0">
                <a:solidFill>
                  <a:srgbClr val="FF6600"/>
                </a:solidFill>
                <a:latin typeface="Helvetica" pitchFamily="34" charset="0"/>
              </a:rPr>
              <a:t>Solicit </a:t>
            </a:r>
            <a:r>
              <a:rPr lang="en-AU" sz="2800" b="1" dirty="0">
                <a:solidFill>
                  <a:srgbClr val="FF6600"/>
                </a:solidFill>
                <a:latin typeface="Helvetica" pitchFamily="34" charset="0"/>
              </a:rPr>
              <a:t>feedback from departing guests on products and </a:t>
            </a:r>
            <a:r>
              <a:rPr lang="en-AU" sz="2800" b="1" dirty="0" smtClean="0">
                <a:solidFill>
                  <a:srgbClr val="FF6600"/>
                </a:solidFill>
                <a:latin typeface="Helvetica" pitchFamily="34" charset="0"/>
              </a:rPr>
              <a:t>services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1200"/>
              </a:spcBef>
              <a:spcAft>
                <a:spcPts val="1200"/>
              </a:spcAft>
              <a:buClr>
                <a:srgbClr val="7FD13B"/>
              </a:buClr>
            </a:pPr>
            <a:r>
              <a:rPr lang="en-AU" sz="2400" dirty="0" smtClean="0">
                <a:latin typeface="Helvetica" pitchFamily="34" charset="0"/>
              </a:rPr>
              <a:t>Why do solicit feedback?</a:t>
            </a:r>
          </a:p>
          <a:p>
            <a:pPr lvl="0">
              <a:spcBef>
                <a:spcPts val="1200"/>
              </a:spcBef>
              <a:spcAft>
                <a:spcPts val="1200"/>
              </a:spcAft>
              <a:buClr>
                <a:srgbClr val="7FD13B"/>
              </a:buClr>
            </a:pPr>
            <a:r>
              <a:rPr lang="en-AU" sz="2400" dirty="0" smtClean="0">
                <a:latin typeface="Helvetica" pitchFamily="34" charset="0"/>
              </a:rPr>
              <a:t>What can we learn from it?</a:t>
            </a:r>
          </a:p>
          <a:p>
            <a:pPr lvl="0">
              <a:spcBef>
                <a:spcPts val="1200"/>
              </a:spcBef>
              <a:spcAft>
                <a:spcPts val="1200"/>
              </a:spcAft>
              <a:buClr>
                <a:srgbClr val="7FD13B"/>
              </a:buClr>
            </a:pPr>
            <a:r>
              <a:rPr lang="en-AU" sz="2400" dirty="0" smtClean="0">
                <a:latin typeface="Helvetica" pitchFamily="34" charset="0"/>
              </a:rPr>
              <a:t>Informal and Formal feedback</a:t>
            </a:r>
          </a:p>
          <a:p>
            <a:pPr lvl="0">
              <a:spcBef>
                <a:spcPts val="1200"/>
              </a:spcBef>
              <a:spcAft>
                <a:spcPts val="1200"/>
              </a:spcAft>
              <a:buClr>
                <a:srgbClr val="7FD13B"/>
              </a:buClr>
            </a:pPr>
            <a:r>
              <a:rPr lang="en-AU" sz="2400" dirty="0" smtClean="0">
                <a:latin typeface="Helvetica" pitchFamily="34" charset="0"/>
              </a:rPr>
              <a:t>Types of feedback</a:t>
            </a:r>
          </a:p>
          <a:p>
            <a:pPr marL="0" indent="0">
              <a:spcBef>
                <a:spcPts val="1200"/>
              </a:spcBef>
              <a:spcAft>
                <a:spcPts val="1200"/>
              </a:spcAft>
              <a:buNone/>
            </a:pPr>
            <a:endParaRPr lang="en-AU" sz="2400" b="1" dirty="0" smtClean="0">
              <a:latin typeface="Helvetica" pitchFamily="34" charset="0"/>
            </a:endParaRPr>
          </a:p>
          <a:p>
            <a:pPr marL="0" indent="0">
              <a:spcBef>
                <a:spcPts val="1200"/>
              </a:spcBef>
              <a:spcAft>
                <a:spcPts val="1200"/>
              </a:spcAft>
              <a:buNone/>
            </a:pPr>
            <a:endParaRPr lang="en-AU" sz="2400" dirty="0" smtClean="0">
              <a:latin typeface="Helvetica" pitchFamily="34" charset="0"/>
            </a:endParaRPr>
          </a:p>
          <a:p>
            <a:pPr marL="360000" indent="-360000">
              <a:spcBef>
                <a:spcPts val="1200"/>
              </a:spcBef>
              <a:spcAft>
                <a:spcPts val="1200"/>
              </a:spcAft>
              <a:buNone/>
            </a:pPr>
            <a:endParaRPr lang="en-US"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6096" y="1916832"/>
            <a:ext cx="2399928" cy="22847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1143000"/>
          </a:xfrm>
        </p:spPr>
        <p:txBody>
          <a:bodyPr>
            <a:normAutofit/>
          </a:bodyPr>
          <a:lstStyle/>
          <a:p>
            <a:pPr marL="808038" lvl="0" indent="-771525">
              <a:spcBef>
                <a:spcPts val="600"/>
              </a:spcBef>
              <a:spcAft>
                <a:spcPts val="1200"/>
              </a:spcAft>
            </a:pPr>
            <a:r>
              <a:rPr lang="en-US" sz="2800" b="1" dirty="0" smtClean="0">
                <a:solidFill>
                  <a:srgbClr val="FF6600"/>
                </a:solidFill>
                <a:latin typeface="Helvetica" pitchFamily="34" charset="0"/>
              </a:rPr>
              <a:t>2.7</a:t>
            </a:r>
            <a:r>
              <a:rPr lang="en-AU" sz="2800" dirty="0">
                <a:solidFill>
                  <a:prstClr val="black"/>
                </a:solidFill>
                <a:latin typeface="Helvetica" pitchFamily="34" charset="0"/>
              </a:rPr>
              <a:t>	</a:t>
            </a:r>
            <a:r>
              <a:rPr lang="en-AU" sz="2800" b="1" dirty="0" smtClean="0">
                <a:solidFill>
                  <a:srgbClr val="FF6600"/>
                </a:solidFill>
                <a:latin typeface="Helvetica" pitchFamily="34" charset="0"/>
              </a:rPr>
              <a:t>Facilitate </a:t>
            </a:r>
            <a:r>
              <a:rPr lang="en-AU" sz="2800" b="1" dirty="0">
                <a:solidFill>
                  <a:srgbClr val="FF6600"/>
                </a:solidFill>
                <a:latin typeface="Helvetica" pitchFamily="34" charset="0"/>
              </a:rPr>
              <a:t>check-in of departing passengers at the </a:t>
            </a:r>
            <a:r>
              <a:rPr lang="en-AU" sz="2800" b="1" dirty="0" smtClean="0">
                <a:solidFill>
                  <a:srgbClr val="FF6600"/>
                </a:solidFill>
                <a:latin typeface="Helvetica" pitchFamily="34" charset="0"/>
              </a:rPr>
              <a:t>terminal</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5301208"/>
          </a:xfrm>
        </p:spPr>
        <p:txBody>
          <a:bodyPr>
            <a:normAutofit/>
          </a:bodyPr>
          <a:lstStyle/>
          <a:p>
            <a:pPr marL="36576" indent="0">
              <a:lnSpc>
                <a:spcPct val="150000"/>
              </a:lnSpc>
              <a:spcBef>
                <a:spcPts val="1200"/>
              </a:spcBef>
              <a:spcAft>
                <a:spcPts val="1200"/>
              </a:spcAft>
              <a:buNone/>
            </a:pPr>
            <a:r>
              <a:rPr lang="en-AU" sz="2000" dirty="0" smtClean="0">
                <a:latin typeface="Helvetica" pitchFamily="34" charset="0"/>
                <a:ea typeface="Calibri"/>
                <a:cs typeface="Calibri"/>
              </a:rPr>
              <a:t>Facilitate </a:t>
            </a:r>
            <a:r>
              <a:rPr lang="en-AU" sz="2000" dirty="0">
                <a:latin typeface="Helvetica" pitchFamily="34" charset="0"/>
                <a:ea typeface="Calibri"/>
                <a:cs typeface="Calibri"/>
              </a:rPr>
              <a:t>check-in of departing passengers may </a:t>
            </a:r>
            <a:r>
              <a:rPr lang="en-AU" sz="2000" dirty="0" smtClean="0">
                <a:latin typeface="Helvetica" pitchFamily="34" charset="0"/>
                <a:ea typeface="Calibri"/>
                <a:cs typeface="Calibri"/>
              </a:rPr>
              <a:t>include:</a:t>
            </a:r>
          </a:p>
          <a:p>
            <a:pPr>
              <a:lnSpc>
                <a:spcPct val="150000"/>
              </a:lnSpc>
              <a:spcBef>
                <a:spcPts val="1200"/>
              </a:spcBef>
              <a:spcAft>
                <a:spcPts val="1200"/>
              </a:spcAft>
            </a:pPr>
            <a: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t>Organising terminal facilities to support </a:t>
            </a:r>
            <a:b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br>
            <a: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t>efficient group departure, including </a:t>
            </a:r>
            <a:b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br>
            <a: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t>arranging for extra staff such as </a:t>
            </a:r>
            <a:b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br>
            <a: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t>interpreters, sufficient trolleys, putting </a:t>
            </a:r>
            <a:b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br>
            <a: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t>barriers and tapes in place to create </a:t>
            </a:r>
            <a:b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br>
            <a:r>
              <a:rPr lang="en-AU" sz="2000" kern="0" dirty="0" smtClean="0">
                <a:effectLst>
                  <a:glow>
                    <a:srgbClr val="000000"/>
                  </a:glow>
                  <a:outerShdw sx="0" sy="0">
                    <a:srgbClr val="000000"/>
                  </a:outerShdw>
                  <a:reflection stA="0" endPos="0" fadeDir="0" sx="0" sy="0"/>
                </a:effectLst>
                <a:latin typeface="Helvetica" pitchFamily="34" charset="0"/>
                <a:ea typeface="Calibri"/>
                <a:cs typeface="Times New Roman"/>
              </a:rPr>
              <a:t>appropriate lane marking and meeting spaces/areas for incoming group transfers for check-in prior to departure</a:t>
            </a:r>
          </a:p>
          <a:p>
            <a:pPr marL="0" indent="0">
              <a:lnSpc>
                <a:spcPct val="150000"/>
              </a:lnSpc>
              <a:spcBef>
                <a:spcPts val="1200"/>
              </a:spcBef>
              <a:spcAft>
                <a:spcPts val="1200"/>
              </a:spcAft>
              <a:buNone/>
            </a:pPr>
            <a:r>
              <a:rPr lang="en-AU" sz="2000" i="1" dirty="0" smtClean="0">
                <a:latin typeface="Helvetica" pitchFamily="34" charset="0"/>
              </a:rPr>
              <a:t>(Continued)</a:t>
            </a:r>
          </a:p>
          <a:p>
            <a:pPr marL="360000" indent="-360000">
              <a:lnSpc>
                <a:spcPct val="150000"/>
              </a:lnSpc>
              <a:spcBef>
                <a:spcPts val="12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2492896"/>
            <a:ext cx="3048000" cy="20330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1143000"/>
          </a:xfrm>
        </p:spPr>
        <p:txBody>
          <a:bodyPr>
            <a:normAutofit fontScale="90000"/>
          </a:bodyPr>
          <a:lstStyle/>
          <a:p>
            <a:pPr marL="420624" lvl="0" indent="-384048" algn="ctr">
              <a:spcBef>
                <a:spcPts val="600"/>
              </a:spcBef>
              <a:spcAft>
                <a:spcPts val="1200"/>
              </a:spcAft>
            </a:pPr>
            <a:r>
              <a:rPr lang="en-US" sz="3400" b="1" dirty="0" smtClean="0">
                <a:solidFill>
                  <a:srgbClr val="FF6600"/>
                </a:solidFill>
                <a:latin typeface="Helvetica" pitchFamily="34" charset="0"/>
              </a:rPr>
              <a:t>2.7</a:t>
            </a:r>
            <a:r>
              <a:rPr lang="en-AU" sz="2200" dirty="0">
                <a:solidFill>
                  <a:prstClr val="black"/>
                </a:solidFill>
                <a:latin typeface="Helvetica" pitchFamily="34" charset="0"/>
              </a:rPr>
              <a:t>	</a:t>
            </a:r>
            <a:r>
              <a:rPr lang="en-AU" sz="3800" b="1" dirty="0" smtClean="0">
                <a:solidFill>
                  <a:srgbClr val="FF6600"/>
                </a:solidFill>
                <a:latin typeface="Helvetica" pitchFamily="34" charset="0"/>
              </a:rPr>
              <a:t>Facilitate </a:t>
            </a:r>
            <a:r>
              <a:rPr lang="en-AU" sz="3800" b="1" dirty="0">
                <a:solidFill>
                  <a:srgbClr val="FF6600"/>
                </a:solidFill>
                <a:latin typeface="Helvetica" pitchFamily="34" charset="0"/>
              </a:rPr>
              <a:t>check-in of departing passengers at the </a:t>
            </a:r>
            <a:r>
              <a:rPr lang="en-AU" sz="3800" b="1" dirty="0" smtClean="0">
                <a:solidFill>
                  <a:srgbClr val="FF6600"/>
                </a:solidFill>
                <a:latin typeface="Helvetica" pitchFamily="34" charset="0"/>
              </a:rPr>
              <a:t>terminal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8064896" cy="4752528"/>
          </a:xfrm>
        </p:spPr>
        <p:txBody>
          <a:bodyPr>
            <a:normAutofit/>
          </a:bodyPr>
          <a:lstStyle/>
          <a:p>
            <a:pPr marL="36576" indent="0">
              <a:spcBef>
                <a:spcPts val="1200"/>
              </a:spcBef>
              <a:spcAft>
                <a:spcPts val="1200"/>
              </a:spcAft>
              <a:buNone/>
            </a:pPr>
            <a:r>
              <a:rPr lang="en-AU" sz="2400" dirty="0" smtClean="0">
                <a:latin typeface="Helvetica"/>
                <a:ea typeface="Calibri"/>
                <a:cs typeface="Calibri"/>
              </a:rPr>
              <a:t>Facilitate </a:t>
            </a:r>
            <a:r>
              <a:rPr lang="en-AU" sz="2400" dirty="0">
                <a:latin typeface="Helvetica"/>
                <a:ea typeface="Calibri"/>
                <a:cs typeface="Calibri"/>
              </a:rPr>
              <a:t>check-in of departing passengers may </a:t>
            </a:r>
            <a:r>
              <a:rPr lang="en-AU" sz="2400" dirty="0" smtClean="0">
                <a:latin typeface="Helvetica"/>
                <a:ea typeface="Calibri"/>
                <a:cs typeface="Calibri"/>
              </a:rPr>
              <a:t>include:</a:t>
            </a:r>
          </a:p>
          <a:p>
            <a:pPr>
              <a:spcBef>
                <a:spcPts val="400"/>
              </a:spcBef>
              <a:spcAft>
                <a:spcPts val="800"/>
              </a:spcAft>
            </a:pPr>
            <a:r>
              <a:rPr lang="en-AU" sz="2400" kern="0" dirty="0" smtClean="0">
                <a:effectLst>
                  <a:glow>
                    <a:srgbClr val="000000"/>
                  </a:glow>
                  <a:outerShdw sx="0" sy="0">
                    <a:srgbClr val="000000"/>
                  </a:outerShdw>
                  <a:reflection stA="0" endPos="0" fadeDir="0" sx="0" sy="0"/>
                </a:effectLst>
                <a:latin typeface="Helvetica"/>
                <a:ea typeface="Calibri"/>
                <a:cs typeface="Times New Roman"/>
              </a:rPr>
              <a:t>Verifying with passengers that they have completed the required documentation to facilitate their departure</a:t>
            </a:r>
          </a:p>
          <a:p>
            <a:pPr>
              <a:spcBef>
                <a:spcPts val="400"/>
              </a:spcBef>
              <a:spcAft>
                <a:spcPts val="800"/>
              </a:spcAft>
            </a:pPr>
            <a:r>
              <a:rPr lang="en-AU" sz="2400" kern="0" dirty="0" smtClean="0">
                <a:effectLst>
                  <a:glow>
                    <a:srgbClr val="000000"/>
                  </a:glow>
                  <a:outerShdw sx="0" sy="0">
                    <a:srgbClr val="000000"/>
                  </a:outerShdw>
                  <a:reflection stA="0" endPos="0" fadeDir="0" sx="0" sy="0"/>
                </a:effectLst>
                <a:latin typeface="Helvetica"/>
                <a:ea typeface="Calibri"/>
                <a:cs typeface="Times New Roman"/>
              </a:rPr>
              <a:t>Verifying and assisting passengers in complying with host country or carrier departure requirements</a:t>
            </a:r>
          </a:p>
          <a:p>
            <a:pPr>
              <a:spcBef>
                <a:spcPts val="400"/>
              </a:spcBef>
              <a:spcAft>
                <a:spcPts val="800"/>
              </a:spcAft>
            </a:pPr>
            <a:endParaRPr lang="en-AU" sz="2400" kern="0" dirty="0" smtClean="0">
              <a:effectLst>
                <a:glow>
                  <a:srgbClr val="000000"/>
                </a:glow>
                <a:outerShdw sx="0" sy="0">
                  <a:srgbClr val="000000"/>
                </a:outerShdw>
                <a:reflection stA="0" endPos="0" fadeDir="0" sx="0" sy="0"/>
              </a:effectLst>
              <a:latin typeface="Helvetica"/>
              <a:ea typeface="Calibri"/>
              <a:cs typeface="Times New Roman"/>
            </a:endParaRPr>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07704" y="4119023"/>
            <a:ext cx="3048000" cy="2033016"/>
          </a:xfrm>
          <a:prstGeom prst="rect">
            <a:avLst/>
          </a:prstGeom>
        </p:spPr>
      </p:pic>
    </p:spTree>
    <p:extLst>
      <p:ext uri="{BB962C8B-B14F-4D97-AF65-F5344CB8AC3E}">
        <p14:creationId xmlns:p14="http://schemas.microsoft.com/office/powerpoint/2010/main" val="4104615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2146</TotalTime>
  <Words>2979</Words>
  <Application>Microsoft Office PowerPoint</Application>
  <PresentationFormat>On-screen Show (4:3)</PresentationFormat>
  <Paragraphs>488</Paragraphs>
  <Slides>40</Slides>
  <Notes>40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PPT_Tour_operation_templates_130214</vt:lpstr>
      <vt:lpstr>PROVIDE ARRIVAL AND DEPARTURE ASSISTANCE</vt:lpstr>
      <vt:lpstr>Subject elements</vt:lpstr>
      <vt:lpstr>Assessment</vt:lpstr>
      <vt:lpstr>Element 1: Provide assistance for arrival passengers</vt:lpstr>
      <vt:lpstr>Element 1: Provide assistance for arrival passengers</vt:lpstr>
      <vt:lpstr>1.1 Check itinerary of arriving passengers to identify and action alterations as required</vt:lpstr>
      <vt:lpstr>1.1 Check itinerary of arriving passengers to identify and action alterations as required</vt:lpstr>
      <vt:lpstr>1.1 Check itinerary of arriving passengers to identify and action alterations as required</vt:lpstr>
      <vt:lpstr>1.1 Check itinerary of arriving passengers to identify and action alterations as required</vt:lpstr>
      <vt:lpstr>1.2 Confirm transport arrangements, where applicable</vt:lpstr>
      <vt:lpstr>PowerPoint Presentation</vt:lpstr>
      <vt:lpstr>PowerPoint Presentation</vt:lpstr>
      <vt:lpstr>PowerPoint Presentation</vt:lpstr>
      <vt:lpstr>1.3 Greet passengers</vt:lpstr>
      <vt:lpstr>1.4 Provide local information to passengers</vt:lpstr>
      <vt:lpstr>1.4 Provide local information to passengers</vt:lpstr>
      <vt:lpstr>1.5 Advise passengers regarding check-in procedures at accommodation venues, where appropriate</vt:lpstr>
      <vt:lpstr>1.6 Direct passengers to appropriate transport location for transfer</vt:lpstr>
      <vt:lpstr>1.7 Use terminal facilities to assist in meeting arriving passengers</vt:lpstr>
      <vt:lpstr>1.8 Record passenger arrivals and other comments</vt:lpstr>
      <vt:lpstr>1.9 Facilitate movement of baggage from terminal to meet passenger needs</vt:lpstr>
      <vt:lpstr>1.9 Facilitate movement of baggage from terminal to meet passenger needs</vt:lpstr>
      <vt:lpstr>1.10 Follow lost baggage procedures, where required</vt:lpstr>
      <vt:lpstr>1.10 Follow lost baggage procedures, where required</vt:lpstr>
      <vt:lpstr>1.10 Follow lost baggage procedures, where required</vt:lpstr>
      <vt:lpstr>1.11 Liaise with staff from other businesses to facilitate passenger arrival at, and use of, their products and services</vt:lpstr>
      <vt:lpstr>Element 2: Provide assistance for departure customers</vt:lpstr>
      <vt:lpstr>Element 2: Provide assistance for departure customers</vt:lpstr>
      <vt:lpstr>2.1 Check itinerary of departing passengers to identify and action alterations as required</vt:lpstr>
      <vt:lpstr>2.1 Check itinerary of departing passengers to identify and action alterations as required</vt:lpstr>
      <vt:lpstr>2.1 Check itinerary of departing passengers to identify and action alterations as required</vt:lpstr>
      <vt:lpstr>2.2 Organise the departure of passengers from their location</vt:lpstr>
      <vt:lpstr>2.3 Verify departing passengers using a departures list</vt:lpstr>
      <vt:lpstr>2.3 Verify departing passengers using a departures list</vt:lpstr>
      <vt:lpstr>2.4 Facilitate movement of baggage from departing passenger location to terminal</vt:lpstr>
      <vt:lpstr>2.4 Facilitate movement of baggage from departing passenger location to terminal</vt:lpstr>
      <vt:lpstr>2.5 Advise departing passengers regarding legal and other procedures applying to their departure</vt:lpstr>
      <vt:lpstr>2.6 Solicit feedback from departing guests on products and services</vt:lpstr>
      <vt:lpstr>2.7 Facilitate check-in of departing passengers at the terminal</vt:lpstr>
      <vt:lpstr>2.7 Facilitate check-in of departing passengers at the terminal</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PROVIDE ARRIVAL AND DEPARTURE ASSISTANCE</dc:title>
  <dc:creator>Mai Vu</dc:creator>
  <cp:lastModifiedBy>Mai</cp:lastModifiedBy>
  <cp:revision>89</cp:revision>
  <dcterms:created xsi:type="dcterms:W3CDTF">2014-03-14T06:46:56Z</dcterms:created>
  <dcterms:modified xsi:type="dcterms:W3CDTF">2015-01-14T07:42:20Z</dcterms:modified>
</cp:coreProperties>
</file>