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7"/>
  </p:notesMasterIdLst>
  <p:handoutMasterIdLst>
    <p:handoutMasterId r:id="rId28"/>
  </p:handoutMasterIdLst>
  <p:sldIdLst>
    <p:sldId id="256" r:id="rId2"/>
    <p:sldId id="257" r:id="rId3"/>
    <p:sldId id="258" r:id="rId4"/>
    <p:sldId id="297" r:id="rId5"/>
    <p:sldId id="298" r:id="rId6"/>
    <p:sldId id="299" r:id="rId7"/>
    <p:sldId id="300" r:id="rId8"/>
    <p:sldId id="320" r:id="rId9"/>
    <p:sldId id="301" r:id="rId10"/>
    <p:sldId id="310" r:id="rId11"/>
    <p:sldId id="302" r:id="rId12"/>
    <p:sldId id="311" r:id="rId13"/>
    <p:sldId id="312" r:id="rId14"/>
    <p:sldId id="313" r:id="rId15"/>
    <p:sldId id="303" r:id="rId16"/>
    <p:sldId id="317" r:id="rId17"/>
    <p:sldId id="304" r:id="rId18"/>
    <p:sldId id="314" r:id="rId19"/>
    <p:sldId id="315" r:id="rId20"/>
    <p:sldId id="305" r:id="rId21"/>
    <p:sldId id="306" r:id="rId22"/>
    <p:sldId id="308" r:id="rId23"/>
    <p:sldId id="318" r:id="rId24"/>
    <p:sldId id="319" r:id="rId25"/>
    <p:sldId id="309" r:id="rId2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68742" autoAdjust="0"/>
  </p:normalViewPr>
  <p:slideViewPr>
    <p:cSldViewPr>
      <p:cViewPr varScale="1">
        <p:scale>
          <a:sx n="63" d="100"/>
          <a:sy n="63" d="100"/>
        </p:scale>
        <p:origin x="201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3/31/2015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39645870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3/31/2015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996696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w</a:t>
            </a:r>
            <a:r>
              <a:rPr lang="en-US" dirty="0" smtClean="0"/>
              <a:t>elcomes students to the class and informs them they are learning how to plan and manage menu based catering.</a:t>
            </a: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4147085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r>
              <a:rPr lang="en-US" dirty="0" smtClean="0"/>
              <a:t>Trainer</a:t>
            </a:r>
            <a:r>
              <a:rPr lang="en-US" baseline="0" dirty="0" smtClean="0"/>
              <a:t> advises students that assessment for this Unit may take several forms all of which are aimed at verifying they have achieved competency for the Unit as required.</a:t>
            </a:r>
          </a:p>
          <a:p>
            <a:endParaRPr lang="en-US" baseline="0" dirty="0" smtClean="0"/>
          </a:p>
          <a:p>
            <a:r>
              <a:rPr lang="en-US" baseline="0" dirty="0" smtClean="0"/>
              <a:t>Trainer indicates to students the methods of assessment that will be applied to them for this Unit. </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267972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students this Unit comprises two elements, as listed on the slide explaining:</a:t>
            </a:r>
          </a:p>
          <a:p>
            <a:endParaRPr lang="en-US" dirty="0" smtClean="0"/>
          </a:p>
          <a:p>
            <a:pPr>
              <a:buFont typeface="Arial" pitchFamily="34" charset="0"/>
              <a:buChar char="•"/>
            </a:pPr>
            <a:r>
              <a:rPr lang="en-US" dirty="0" smtClean="0"/>
              <a:t> Each Element comprises a number of Performance Criteria which will be identified throughout the class and explained in detail</a:t>
            </a:r>
          </a:p>
          <a:p>
            <a:pPr>
              <a:buFont typeface="Arial" pitchFamily="34" charset="0"/>
              <a:buChar char="•"/>
            </a:pPr>
            <a:endParaRPr lang="en-US" dirty="0" smtClean="0"/>
          </a:p>
          <a:p>
            <a:pPr>
              <a:buFont typeface="Arial" pitchFamily="34" charset="0"/>
              <a:buChar char="•"/>
            </a:pPr>
            <a:r>
              <a:rPr lang="en-US" dirty="0" smtClean="0"/>
              <a:t> Students can obtain more detail from their Trainee Manual</a:t>
            </a:r>
          </a:p>
          <a:p>
            <a:pPr>
              <a:buFont typeface="Arial" pitchFamily="34" charset="0"/>
              <a:buChar char="•"/>
            </a:pPr>
            <a:endParaRPr lang="en-US" dirty="0" smtClean="0"/>
          </a:p>
          <a:p>
            <a:pPr>
              <a:buFont typeface="Arial" pitchFamily="34" charset="0"/>
              <a:buChar char="•"/>
            </a:pPr>
            <a:r>
              <a:rPr lang="en-US" dirty="0" smtClean="0"/>
              <a:t> The course presents advice and information but where their workplace requirements differ to what is presented, the workplace practices and standards must be observed.</a:t>
            </a:r>
          </a:p>
          <a:p>
            <a:pPr>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995086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Trainer to relate performance criteria to element 1</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Plan and manage menu based catering </a:t>
            </a:r>
            <a:r>
              <a:rPr lang="en-US" b="0" baseline="0" dirty="0" smtClean="0"/>
              <a:t>the students must be able to; </a:t>
            </a:r>
            <a:endParaRPr lang="en-US" b="1" baseline="0" dirty="0" smtClean="0"/>
          </a:p>
          <a:p>
            <a:pPr>
              <a:buFont typeface="Arial" pitchFamily="34" charset="0"/>
              <a:buNone/>
            </a:pPr>
            <a:endParaRPr lang="en-US" b="1" baseline="0" dirty="0" smtClean="0"/>
          </a:p>
          <a:p>
            <a:pPr>
              <a:buFont typeface="Arial" pitchFamily="34" charset="0"/>
              <a:buNone/>
            </a:pPr>
            <a:r>
              <a:rPr lang="en-US" b="1" baseline="0" dirty="0" smtClean="0"/>
              <a:t>Plan and write menus</a:t>
            </a:r>
          </a:p>
          <a:p>
            <a:pPr>
              <a:buFont typeface="Arial" pitchFamily="34" charset="0"/>
              <a:buNone/>
            </a:pPr>
            <a:endParaRPr lang="en-US" b="1" baseline="0" dirty="0" smtClean="0"/>
          </a:p>
          <a:p>
            <a:pPr>
              <a:buFont typeface="Arial" pitchFamily="34" charset="0"/>
              <a:buNone/>
            </a:pPr>
            <a:r>
              <a:rPr lang="en-US" b="1" baseline="0" dirty="0" smtClean="0"/>
              <a:t>The student should be able to </a:t>
            </a:r>
          </a:p>
          <a:p>
            <a:pPr lvl="1"/>
            <a:r>
              <a:rPr lang="en-AU" sz="1200" kern="1200" dirty="0" smtClean="0">
                <a:solidFill>
                  <a:schemeClr val="tx1"/>
                </a:solidFill>
                <a:ea typeface="+mn-ea"/>
                <a:cs typeface="+mn-cs"/>
              </a:rPr>
              <a:t>Establish the enterprise and/or clients </a:t>
            </a:r>
            <a:r>
              <a:rPr lang="en-AU" sz="1200" i="1" kern="1200" dirty="0" smtClean="0">
                <a:solidFill>
                  <a:schemeClr val="tx1"/>
                </a:solidFill>
                <a:ea typeface="+mn-ea"/>
                <a:cs typeface="+mn-cs"/>
              </a:rPr>
              <a:t>requirements </a:t>
            </a:r>
            <a:r>
              <a:rPr lang="en-AU" sz="1200" kern="1200" dirty="0" smtClean="0">
                <a:solidFill>
                  <a:schemeClr val="tx1"/>
                </a:solidFill>
                <a:ea typeface="+mn-ea"/>
                <a:cs typeface="+mn-cs"/>
              </a:rPr>
              <a:t>for</a:t>
            </a:r>
            <a:r>
              <a:rPr lang="en-AU" sz="1200" i="1" kern="1200" dirty="0" smtClean="0">
                <a:solidFill>
                  <a:schemeClr val="tx1"/>
                </a:solidFill>
                <a:ea typeface="+mn-ea"/>
                <a:cs typeface="+mn-cs"/>
              </a:rPr>
              <a:t> menu/s</a:t>
            </a:r>
            <a:r>
              <a:rPr lang="en-AU" sz="1200" kern="1200" dirty="0" smtClean="0">
                <a:solidFill>
                  <a:schemeClr val="tx1"/>
                </a:solidFill>
                <a:ea typeface="+mn-ea"/>
                <a:cs typeface="+mn-cs"/>
              </a:rPr>
              <a:t> </a:t>
            </a:r>
          </a:p>
          <a:p>
            <a:pPr lvl="1"/>
            <a:r>
              <a:rPr lang="en-AU" sz="1200" kern="1200" dirty="0" smtClean="0">
                <a:solidFill>
                  <a:schemeClr val="tx1"/>
                </a:solidFill>
                <a:ea typeface="+mn-ea"/>
                <a:cs typeface="+mn-cs"/>
              </a:rPr>
              <a:t>Write menus for </a:t>
            </a:r>
            <a:r>
              <a:rPr lang="en-AU" sz="1200" i="1" kern="1200" dirty="0" smtClean="0">
                <a:solidFill>
                  <a:schemeClr val="tx1"/>
                </a:solidFill>
                <a:ea typeface="+mn-ea"/>
                <a:cs typeface="+mn-cs"/>
              </a:rPr>
              <a:t>enterprise operations </a:t>
            </a:r>
            <a:endParaRPr lang="en-AU" sz="1200" kern="1200" dirty="0" smtClean="0">
              <a:solidFill>
                <a:schemeClr val="tx1"/>
              </a:solidFill>
              <a:ea typeface="+mn-ea"/>
              <a:cs typeface="+mn-cs"/>
            </a:endParaRPr>
          </a:p>
          <a:p>
            <a:pPr lvl="1"/>
            <a:r>
              <a:rPr lang="en-AU" sz="1200" kern="1200" dirty="0" smtClean="0">
                <a:solidFill>
                  <a:schemeClr val="tx1"/>
                </a:solidFill>
                <a:ea typeface="+mn-ea"/>
                <a:cs typeface="+mn-cs"/>
              </a:rPr>
              <a:t>Write menu ensuring </a:t>
            </a:r>
            <a:r>
              <a:rPr lang="en-AU" sz="1200" i="1" kern="1200" dirty="0" smtClean="0">
                <a:solidFill>
                  <a:schemeClr val="tx1"/>
                </a:solidFill>
                <a:ea typeface="+mn-ea"/>
                <a:cs typeface="+mn-cs"/>
              </a:rPr>
              <a:t>menu balance</a:t>
            </a:r>
            <a:r>
              <a:rPr lang="en-AU" sz="1200" b="1" kern="1200" dirty="0" smtClean="0">
                <a:solidFill>
                  <a:schemeClr val="tx1"/>
                </a:solidFill>
                <a:ea typeface="+mn-ea"/>
                <a:cs typeface="+mn-cs"/>
              </a:rPr>
              <a:t> </a:t>
            </a:r>
            <a:endParaRPr lang="en-AU" sz="1200" kern="1200" dirty="0" smtClean="0">
              <a:solidFill>
                <a:schemeClr val="tx1"/>
              </a:solidFill>
              <a:ea typeface="+mn-ea"/>
              <a:cs typeface="+mn-cs"/>
            </a:endParaRPr>
          </a:p>
          <a:p>
            <a:pPr lvl="1"/>
            <a:r>
              <a:rPr lang="en-AU" sz="1200" kern="1200" dirty="0" smtClean="0">
                <a:solidFill>
                  <a:schemeClr val="tx1"/>
                </a:solidFill>
                <a:ea typeface="+mn-ea"/>
                <a:cs typeface="+mn-cs"/>
              </a:rPr>
              <a:t>Prepare </a:t>
            </a:r>
            <a:r>
              <a:rPr lang="en-AU" sz="1200" i="1" kern="1200" dirty="0" smtClean="0">
                <a:solidFill>
                  <a:schemeClr val="tx1"/>
                </a:solidFill>
                <a:ea typeface="+mn-ea"/>
                <a:cs typeface="+mn-cs"/>
              </a:rPr>
              <a:t>menu costing</a:t>
            </a:r>
            <a:endParaRPr lang="en-AU" sz="1200" kern="1200" dirty="0" smtClean="0">
              <a:solidFill>
                <a:schemeClr val="tx1"/>
              </a:solidFill>
              <a:ea typeface="+mn-ea"/>
              <a:cs typeface="+mn-cs"/>
            </a:endParaRPr>
          </a:p>
          <a:p>
            <a:pPr lvl="1"/>
            <a:r>
              <a:rPr lang="en-AU" sz="1200" kern="1200" dirty="0" smtClean="0">
                <a:solidFill>
                  <a:schemeClr val="tx1"/>
                </a:solidFill>
                <a:ea typeface="+mn-ea"/>
                <a:cs typeface="+mn-cs"/>
              </a:rPr>
              <a:t>Produce </a:t>
            </a:r>
            <a:r>
              <a:rPr lang="en-AU" sz="1200" i="1" kern="1200" dirty="0" smtClean="0">
                <a:solidFill>
                  <a:schemeClr val="tx1"/>
                </a:solidFill>
                <a:ea typeface="+mn-ea"/>
                <a:cs typeface="+mn-cs"/>
              </a:rPr>
              <a:t>finished/final menu</a:t>
            </a:r>
            <a:r>
              <a:rPr lang="en-AU" sz="1200" kern="1200" dirty="0" smtClean="0">
                <a:solidFill>
                  <a:schemeClr val="tx1"/>
                </a:solidFill>
                <a:ea typeface="+mn-ea"/>
                <a:cs typeface="+mn-cs"/>
              </a:rPr>
              <a:t> </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073601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AU" sz="1200" kern="1200" dirty="0" smtClean="0">
                <a:solidFill>
                  <a:schemeClr val="tx1"/>
                </a:solidFill>
                <a:ea typeface="+mn-ea"/>
                <a:cs typeface="+mn-cs"/>
              </a:rPr>
              <a:t>What is the type of catering supplied and variety of menu required for each</a:t>
            </a:r>
          </a:p>
          <a:p>
            <a:pPr>
              <a:buFontTx/>
              <a:buNone/>
            </a:pPr>
            <a:endParaRPr lang="en-AU" sz="1200" kern="1200" dirty="0" smtClean="0">
              <a:solidFill>
                <a:schemeClr val="tx1"/>
              </a:solidFill>
              <a:ea typeface="+mn-ea"/>
              <a:cs typeface="+mn-cs"/>
            </a:endParaRPr>
          </a:p>
          <a:p>
            <a:pPr>
              <a:buFontTx/>
              <a:buNone/>
            </a:pPr>
            <a:r>
              <a:rPr lang="en-AU" sz="1200" kern="1200" dirty="0" smtClean="0">
                <a:solidFill>
                  <a:schemeClr val="tx1"/>
                </a:solidFill>
                <a:ea typeface="+mn-ea"/>
                <a:cs typeface="+mn-cs"/>
              </a:rPr>
              <a:t>Café:	All day Menu;	Breakfast;</a:t>
            </a:r>
            <a:r>
              <a:rPr lang="en-AU" sz="1200" kern="1200" baseline="0" dirty="0" smtClean="0">
                <a:solidFill>
                  <a:schemeClr val="tx1"/>
                </a:solidFill>
                <a:ea typeface="+mn-ea"/>
                <a:cs typeface="+mn-cs"/>
              </a:rPr>
              <a:t> Lunch; Dinner; Morning Tea; Afternoon Tea; High tea</a:t>
            </a:r>
            <a:endParaRPr lang="en-AU" sz="1200" kern="1200" dirty="0" smtClean="0">
              <a:solidFill>
                <a:schemeClr val="tx1"/>
              </a:solidFill>
              <a:ea typeface="+mn-ea"/>
              <a:cs typeface="+mn-cs"/>
            </a:endParaRPr>
          </a:p>
          <a:p>
            <a:pPr>
              <a:buFontTx/>
              <a:buNone/>
            </a:pPr>
            <a:endParaRPr lang="en-AU" sz="1200" kern="1200" dirty="0" smtClean="0">
              <a:solidFill>
                <a:schemeClr val="tx1"/>
              </a:solidFill>
              <a:ea typeface="+mn-ea"/>
              <a:cs typeface="+mn-cs"/>
            </a:endParaRPr>
          </a:p>
          <a:p>
            <a:pPr>
              <a:buFontTx/>
              <a:buNone/>
            </a:pPr>
            <a:r>
              <a:rPr lang="en-AU" sz="1200" kern="1200" dirty="0" smtClean="0">
                <a:solidFill>
                  <a:schemeClr val="tx1"/>
                </a:solidFill>
                <a:ea typeface="+mn-ea"/>
                <a:cs typeface="+mn-cs"/>
              </a:rPr>
              <a:t>Function</a:t>
            </a:r>
            <a:r>
              <a:rPr lang="en-AU" sz="1200" kern="1200" baseline="0" dirty="0" smtClean="0">
                <a:solidFill>
                  <a:schemeClr val="tx1"/>
                </a:solidFill>
                <a:ea typeface="+mn-ea"/>
                <a:cs typeface="+mn-cs"/>
              </a:rPr>
              <a:t> Menus: Weddings;	Birthday Celebrations; 	Business Functions; 	Football Club; 	Ladies Card playing club</a:t>
            </a:r>
          </a:p>
          <a:p>
            <a:pPr>
              <a:buFontTx/>
              <a:buNone/>
            </a:pPr>
            <a:endParaRPr lang="en-AU" sz="1200" kern="1200" baseline="0" dirty="0" smtClean="0">
              <a:solidFill>
                <a:schemeClr val="tx1"/>
              </a:solidFill>
              <a:ea typeface="+mn-ea"/>
              <a:cs typeface="+mn-cs"/>
            </a:endParaRP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Luxury Hotel: Fine Dining Restaurant;	Café Menu; 	Function Menus; 	Poolside Kiosk Menu; 	Bar Menu in Tapas Bar</a:t>
            </a:r>
            <a:endParaRPr lang="en-AU" sz="1200" kern="1200" dirty="0" smtClean="0">
              <a:solidFill>
                <a:schemeClr val="tx1"/>
              </a:solidFill>
              <a:ea typeface="+mn-ea"/>
              <a:cs typeface="+mn-cs"/>
            </a:endParaRPr>
          </a:p>
          <a:p>
            <a:pPr>
              <a:buFontTx/>
              <a:buNone/>
            </a:pPr>
            <a:endParaRPr lang="en-AU" sz="1200" kern="1200" dirty="0" smtClean="0">
              <a:solidFill>
                <a:schemeClr val="tx1"/>
              </a:solidFill>
              <a:ea typeface="+mn-ea"/>
              <a:cs typeface="+mn-cs"/>
            </a:endParaRPr>
          </a:p>
          <a:p>
            <a:pPr>
              <a:buFontTx/>
              <a:buNone/>
            </a:pPr>
            <a:r>
              <a:rPr lang="en-AU" sz="1200" kern="1200" dirty="0" smtClean="0">
                <a:solidFill>
                  <a:schemeClr val="tx1"/>
                </a:solidFill>
                <a:ea typeface="+mn-ea"/>
                <a:cs typeface="+mn-cs"/>
              </a:rPr>
              <a:t>When the type of catering</a:t>
            </a:r>
            <a:r>
              <a:rPr lang="en-AU" sz="1200" kern="1200" baseline="0" dirty="0" smtClean="0">
                <a:solidFill>
                  <a:schemeClr val="tx1"/>
                </a:solidFill>
                <a:ea typeface="+mn-ea"/>
                <a:cs typeface="+mn-cs"/>
              </a:rPr>
              <a:t> venue has been established then the menu  or menus need to be established that will reflect the values of the establishment.</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A luxury 5 star venue will have different values to a street café. This does not demean the quality served by the street café it just means that plastic cutlery is used and people sit on older chairs and tables than they might get when they go to a 5 star establishment.</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Customers do not expect to receive the same level of service when purchasing from a street café because they know they will not paying the same price.</a:t>
            </a:r>
          </a:p>
          <a:p>
            <a:pPr>
              <a:buFontTx/>
              <a:buNone/>
            </a:pPr>
            <a:endParaRPr lang="en-AU" sz="1200" kern="1200" baseline="0" dirty="0" smtClean="0">
              <a:solidFill>
                <a:schemeClr val="tx1"/>
              </a:solidFill>
              <a:ea typeface="+mn-ea"/>
              <a:cs typeface="+mn-cs"/>
            </a:endParaRPr>
          </a:p>
          <a:p>
            <a:pPr>
              <a:buFontTx/>
              <a:buNone/>
            </a:pPr>
            <a:endParaRPr lang="en-AU" sz="1200" kern="1200" baseline="0" dirty="0" smtClean="0">
              <a:solidFill>
                <a:schemeClr val="tx1"/>
              </a:solidFill>
              <a:ea typeface="+mn-ea"/>
              <a:cs typeface="+mn-cs"/>
            </a:endParaRPr>
          </a:p>
          <a:p>
            <a:pPr>
              <a:buFontTx/>
              <a:buNone/>
            </a:pPr>
            <a:endParaRPr lang="en-AU" sz="1200" kern="1200" baseline="0" dirty="0" smtClean="0">
              <a:solidFill>
                <a:schemeClr val="tx1"/>
              </a:solidFill>
              <a:ea typeface="+mn-ea"/>
              <a:cs typeface="+mn-cs"/>
            </a:endParaRPr>
          </a:p>
          <a:p>
            <a:pPr>
              <a:buFontTx/>
              <a:buNone/>
            </a:pPr>
            <a:endParaRPr lang="en-AU" sz="1200" kern="1200" baseline="0" dirty="0" smtClean="0">
              <a:solidFill>
                <a:schemeClr val="tx1"/>
              </a:solidFill>
              <a:ea typeface="+mn-ea"/>
              <a:cs typeface="+mn-cs"/>
            </a:endParaRPr>
          </a:p>
          <a:p>
            <a:pPr>
              <a:buFontTx/>
              <a:buNone/>
            </a:pPr>
            <a:endParaRPr lang="en-AU" sz="1200" kern="1200" dirty="0" smtClean="0">
              <a:solidFill>
                <a:schemeClr val="tx1"/>
              </a:solidFill>
              <a:ea typeface="+mn-ea"/>
              <a:cs typeface="+mn-cs"/>
            </a:endParaRPr>
          </a:p>
          <a:p>
            <a:pPr>
              <a:buFontTx/>
              <a:buNone/>
            </a:pPr>
            <a:endParaRPr lang="en-AU" sz="1200" kern="1200" dirty="0" smtClean="0">
              <a:solidFill>
                <a:schemeClr val="tx1"/>
              </a:solidFill>
              <a:ea typeface="+mn-ea"/>
              <a:cs typeface="+mn-cs"/>
            </a:endParaRPr>
          </a:p>
          <a:p>
            <a:pPr>
              <a:buFontTx/>
              <a:buNone/>
            </a:pPr>
            <a:endParaRPr lang="en-AU" sz="1200" kern="1200" dirty="0" smtClean="0">
              <a:solidFill>
                <a:schemeClr val="tx1"/>
              </a:solidFill>
              <a:ea typeface="+mn-ea"/>
              <a:cs typeface="+mn-cs"/>
            </a:endParaRPr>
          </a:p>
          <a:p>
            <a:pPr>
              <a:buFontTx/>
              <a:buNone/>
            </a:pPr>
            <a:endParaRPr lang="en-AU" sz="1200" kern="1200" dirty="0" smtClean="0">
              <a:solidFill>
                <a:schemeClr val="tx1"/>
              </a:solidFill>
              <a:ea typeface="+mn-ea"/>
              <a:cs typeface="+mn-cs"/>
            </a:endParaRPr>
          </a:p>
          <a:p>
            <a:pPr>
              <a:buFontTx/>
              <a:buNone/>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487885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Tx/>
              <a:buNone/>
            </a:pPr>
            <a:r>
              <a:rPr lang="en-US" b="1" dirty="0" smtClean="0"/>
              <a:t>Trainer to advise:</a:t>
            </a:r>
          </a:p>
          <a:p>
            <a:pPr>
              <a:buFontTx/>
              <a:buNone/>
            </a:pPr>
            <a:endParaRPr lang="en-US" b="0" dirty="0" smtClean="0"/>
          </a:p>
          <a:p>
            <a:pPr>
              <a:buFontTx/>
              <a:buNone/>
            </a:pPr>
            <a:r>
              <a:rPr lang="en-US" b="0" dirty="0" smtClean="0"/>
              <a:t>Cafes will normally have the same menu everyday and never change</a:t>
            </a:r>
          </a:p>
          <a:p>
            <a:pPr>
              <a:buFontTx/>
              <a:buNone/>
            </a:pPr>
            <a:r>
              <a:rPr lang="en-US" b="0" dirty="0" smtClean="0"/>
              <a:t>Some will offer specials on a daily basis</a:t>
            </a:r>
          </a:p>
          <a:p>
            <a:pPr>
              <a:buFontTx/>
              <a:buNone/>
            </a:pPr>
            <a:r>
              <a:rPr lang="en-US" b="0" dirty="0" smtClean="0"/>
              <a:t>Menus for cafes</a:t>
            </a:r>
            <a:r>
              <a:rPr lang="en-US" b="0" baseline="0" dirty="0" smtClean="0"/>
              <a:t> will have light meals at the start then several larger meals to fulfill needs for all potential customers.</a:t>
            </a:r>
          </a:p>
          <a:p>
            <a:pPr>
              <a:buFontTx/>
              <a:buNone/>
            </a:pPr>
            <a:endParaRPr lang="en-US" b="0" baseline="0" dirty="0" smtClean="0"/>
          </a:p>
          <a:p>
            <a:pPr>
              <a:buFontTx/>
              <a:buNone/>
            </a:pPr>
            <a:r>
              <a:rPr lang="en-US" b="0" baseline="0" dirty="0" smtClean="0"/>
              <a:t>Menu items needs to be quick to prepare and serve as staffing levels in café’s will be less than fine dining restaurants.</a:t>
            </a:r>
          </a:p>
          <a:p>
            <a:pPr>
              <a:buFontTx/>
              <a:buNone/>
            </a:pPr>
            <a:endParaRPr lang="en-US" b="0" baseline="0" dirty="0" smtClean="0"/>
          </a:p>
          <a:p>
            <a:pPr>
              <a:buFontTx/>
              <a:buNone/>
            </a:pPr>
            <a:r>
              <a:rPr lang="en-US" b="1" baseline="0" dirty="0" smtClean="0"/>
              <a:t>A la carte menus </a:t>
            </a:r>
            <a:r>
              <a:rPr lang="en-US" b="0" baseline="0" dirty="0" smtClean="0"/>
              <a:t>will start with entrée’s followed by main courses then desserts.</a:t>
            </a:r>
          </a:p>
          <a:p>
            <a:pPr>
              <a:buFontTx/>
              <a:buNone/>
            </a:pPr>
            <a:endParaRPr lang="en-US" b="0" baseline="0" dirty="0" smtClean="0"/>
          </a:p>
          <a:p>
            <a:pPr>
              <a:buFontTx/>
              <a:buNone/>
            </a:pPr>
            <a:r>
              <a:rPr lang="en-US" b="0" baseline="0" dirty="0" smtClean="0"/>
              <a:t>Some special cuisines like Italian might have a ‘pasta’ section that is served between entrée and mains.</a:t>
            </a:r>
          </a:p>
          <a:p>
            <a:pPr>
              <a:buFontTx/>
              <a:buNone/>
            </a:pPr>
            <a:endParaRPr lang="en-US" b="0" baseline="0" dirty="0" smtClean="0"/>
          </a:p>
          <a:p>
            <a:pPr>
              <a:buFontTx/>
              <a:buNone/>
            </a:pPr>
            <a:r>
              <a:rPr lang="en-US" b="0" baseline="0" dirty="0" smtClean="0"/>
              <a:t>Other names for entrée may be starters; these might be smaller in size</a:t>
            </a:r>
          </a:p>
          <a:p>
            <a:pPr>
              <a:buFontTx/>
              <a:buNone/>
            </a:pPr>
            <a:endParaRPr lang="en-US" b="0" baseline="0" dirty="0" smtClean="0"/>
          </a:p>
          <a:p>
            <a:pPr>
              <a:buFontTx/>
              <a:buNone/>
            </a:pPr>
            <a:r>
              <a:rPr lang="en-US" b="1" baseline="0" dirty="0" smtClean="0"/>
              <a:t>Set Menus;</a:t>
            </a:r>
          </a:p>
          <a:p>
            <a:pPr>
              <a:buFontTx/>
              <a:buNone/>
            </a:pPr>
            <a:r>
              <a:rPr lang="en-US" b="0" baseline="0" dirty="0" smtClean="0"/>
              <a:t>Set menus will be used in many places. All the term means is that the number of persons that the menu will serve is known before the function starts </a:t>
            </a:r>
          </a:p>
          <a:p>
            <a:pPr>
              <a:buFontTx/>
              <a:buNone/>
            </a:pPr>
            <a:endParaRPr lang="en-US" b="0" baseline="0" dirty="0" smtClean="0"/>
          </a:p>
          <a:p>
            <a:pPr>
              <a:buFontTx/>
              <a:buNone/>
            </a:pPr>
            <a:r>
              <a:rPr lang="en-US" b="0" baseline="0" dirty="0" smtClean="0"/>
              <a:t>The customer chooses from a </a:t>
            </a:r>
            <a:r>
              <a:rPr lang="en-US" b="0" baseline="0" dirty="0" err="1" smtClean="0"/>
              <a:t>a</a:t>
            </a:r>
            <a:r>
              <a:rPr lang="en-US" b="0" baseline="0" dirty="0" smtClean="0"/>
              <a:t> menu where there may be 8 entrees, 8 main courses, 6 desserts, cheese course, coffee and tea selection, options for </a:t>
            </a:r>
            <a:r>
              <a:rPr lang="en-US" b="0" baseline="0" dirty="0" err="1" smtClean="0"/>
              <a:t>friandises</a:t>
            </a:r>
            <a:endParaRPr lang="en-US" b="0" baseline="0" dirty="0" smtClean="0"/>
          </a:p>
          <a:p>
            <a:pPr>
              <a:buFontTx/>
              <a:buNone/>
            </a:pPr>
            <a:endParaRPr lang="en-US" b="0" baseline="0" dirty="0" smtClean="0"/>
          </a:p>
          <a:p>
            <a:pPr>
              <a:buFontTx/>
              <a:buNone/>
            </a:pPr>
            <a:r>
              <a:rPr lang="en-US" b="0" baseline="0" dirty="0" smtClean="0"/>
              <a:t>The customers only gets to choose 2 from each section  and the customers may change when the food is served at the table.</a:t>
            </a:r>
          </a:p>
          <a:p>
            <a:pPr>
              <a:buFontTx/>
              <a:buNone/>
            </a:pPr>
            <a:endParaRPr lang="en-US" b="0" baseline="0" dirty="0" smtClean="0"/>
          </a:p>
          <a:p>
            <a:pPr>
              <a:buFontTx/>
              <a:buNone/>
            </a:pPr>
            <a:r>
              <a:rPr lang="en-US" b="0" dirty="0" smtClean="0"/>
              <a:t>100 people for the service</a:t>
            </a:r>
          </a:p>
          <a:p>
            <a:pPr>
              <a:buFontTx/>
              <a:buNone/>
            </a:pPr>
            <a:r>
              <a:rPr lang="en-US" b="0" dirty="0" smtClean="0"/>
              <a:t>50 of each dish is required maybe 10% more to allow for breakages and spillages during service.</a:t>
            </a:r>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152181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r>
              <a:rPr lang="en-US" b="0" dirty="0" smtClean="0"/>
              <a:t>Menu writing is an skill</a:t>
            </a:r>
            <a:r>
              <a:rPr lang="en-US" b="0" baseline="0" dirty="0" smtClean="0"/>
              <a:t> that requires thought and knowledge of ingredient availability and customers requirement</a:t>
            </a:r>
          </a:p>
          <a:p>
            <a:pPr>
              <a:buFontTx/>
              <a:buNone/>
            </a:pPr>
            <a:endParaRPr lang="en-US" b="0" baseline="0" dirty="0" smtClean="0"/>
          </a:p>
          <a:p>
            <a:pPr>
              <a:buFontTx/>
              <a:buNone/>
            </a:pPr>
            <a:r>
              <a:rPr lang="en-US" b="0" baseline="0" dirty="0" smtClean="0"/>
              <a:t>The average restaurant or café will be quite predictable.</a:t>
            </a:r>
          </a:p>
          <a:p>
            <a:pPr>
              <a:buFontTx/>
              <a:buNone/>
            </a:pPr>
            <a:endParaRPr lang="en-US" b="0" baseline="0" dirty="0" smtClean="0"/>
          </a:p>
          <a:p>
            <a:pPr>
              <a:buFontTx/>
              <a:buNone/>
            </a:pPr>
            <a:r>
              <a:rPr lang="en-US" b="0" baseline="0" dirty="0" smtClean="0"/>
              <a:t>Occasionally one get a menu that is different and the chef is testing new flavour combinations.</a:t>
            </a:r>
          </a:p>
          <a:p>
            <a:pPr>
              <a:buFontTx/>
              <a:buNone/>
            </a:pPr>
            <a:endParaRPr lang="en-US" b="0" baseline="0" dirty="0" smtClean="0"/>
          </a:p>
          <a:p>
            <a:pPr>
              <a:buFontTx/>
              <a:buNone/>
            </a:pPr>
            <a:r>
              <a:rPr lang="en-US" b="0" baseline="0" dirty="0" smtClean="0"/>
              <a:t>Writing the menu</a:t>
            </a:r>
          </a:p>
          <a:p>
            <a:pPr>
              <a:buFontTx/>
              <a:buNone/>
            </a:pPr>
            <a:endParaRPr lang="en-US" b="0" baseline="0" dirty="0" smtClean="0"/>
          </a:p>
          <a:p>
            <a:pPr>
              <a:buFontTx/>
              <a:buNone/>
            </a:pPr>
            <a:r>
              <a:rPr lang="en-US" b="0" baseline="0" dirty="0" smtClean="0"/>
              <a:t>What are the market requirements. The ‘market’ is a term used to describe the potential customers.</a:t>
            </a:r>
          </a:p>
          <a:p>
            <a:pPr>
              <a:buFontTx/>
              <a:buNone/>
            </a:pPr>
            <a:endParaRPr lang="en-US" b="0" baseline="0" dirty="0" smtClean="0"/>
          </a:p>
          <a:p>
            <a:pPr>
              <a:buFontTx/>
              <a:buNone/>
            </a:pPr>
            <a:r>
              <a:rPr lang="en-US" b="0" baseline="0" dirty="0" smtClean="0"/>
              <a:t>There will be a blend of meat, fish and poultry dishes. There should be some vegetarian as well.</a:t>
            </a:r>
          </a:p>
          <a:p>
            <a:pPr>
              <a:buFontTx/>
              <a:buNone/>
            </a:pPr>
            <a:r>
              <a:rPr lang="en-US" b="0" baseline="0" dirty="0" smtClean="0"/>
              <a:t>Cold served dishes as well as hot served dishes.</a:t>
            </a:r>
          </a:p>
          <a:p>
            <a:pPr>
              <a:buFontTx/>
              <a:buNone/>
            </a:pPr>
            <a:r>
              <a:rPr lang="en-US" b="0" baseline="0" dirty="0" smtClean="0"/>
              <a:t>Small serves as well as larger more complete meals.</a:t>
            </a:r>
          </a:p>
          <a:p>
            <a:pPr>
              <a:buFontTx/>
              <a:buNone/>
            </a:pPr>
            <a:r>
              <a:rPr lang="en-US" b="0" baseline="0" dirty="0" smtClean="0"/>
              <a:t>Desserts may also be offered, but these maybe just be something sweet like cake or pastries.</a:t>
            </a:r>
          </a:p>
          <a:p>
            <a:pPr>
              <a:buFontTx/>
              <a:buNone/>
            </a:pPr>
            <a:endParaRPr lang="en-US" b="0" baseline="0" dirty="0" smtClean="0"/>
          </a:p>
          <a:p>
            <a:pPr>
              <a:buFontTx/>
              <a:buNone/>
            </a:pPr>
            <a:r>
              <a:rPr lang="en-US" b="0" baseline="0" dirty="0" smtClean="0"/>
              <a:t>Is it formal dining or casual. Is the menu traditional or contemporary. Contemporary being a modern twist to a traditional  menu item.</a:t>
            </a:r>
          </a:p>
          <a:p>
            <a:pPr>
              <a:buFontTx/>
              <a:buNone/>
            </a:pPr>
            <a:endParaRPr lang="en-US" b="0" baseline="0" dirty="0" smtClean="0"/>
          </a:p>
          <a:p>
            <a:pPr>
              <a:buFontTx/>
              <a:buNone/>
            </a:pPr>
            <a:endParaRPr lang="en-US" b="0" baseline="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248379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r>
              <a:rPr lang="en-US" b="0" dirty="0" smtClean="0"/>
              <a:t>Menu writing is an skill</a:t>
            </a:r>
            <a:r>
              <a:rPr lang="en-US" b="0" baseline="0" dirty="0" smtClean="0"/>
              <a:t> that requires thought and knowledge of ingredient availability and customers requirement</a:t>
            </a:r>
          </a:p>
          <a:p>
            <a:pPr>
              <a:buFontTx/>
              <a:buNone/>
            </a:pPr>
            <a:endParaRPr lang="en-US" b="0" baseline="0" dirty="0" smtClean="0"/>
          </a:p>
          <a:p>
            <a:pPr>
              <a:buFontTx/>
              <a:buNone/>
            </a:pPr>
            <a:r>
              <a:rPr lang="en-US" b="0" baseline="0" dirty="0" smtClean="0"/>
              <a:t>The average restaurant or café will be quite predictable.</a:t>
            </a:r>
          </a:p>
          <a:p>
            <a:pPr>
              <a:buFontTx/>
              <a:buNone/>
            </a:pPr>
            <a:endParaRPr lang="en-US" b="0" baseline="0" dirty="0" smtClean="0"/>
          </a:p>
          <a:p>
            <a:pPr>
              <a:buFontTx/>
              <a:buNone/>
            </a:pPr>
            <a:r>
              <a:rPr lang="en-US" b="0" baseline="0" dirty="0" smtClean="0"/>
              <a:t>Entrees may be hot or cold</a:t>
            </a:r>
          </a:p>
          <a:p>
            <a:pPr>
              <a:buFontTx/>
              <a:buNone/>
            </a:pPr>
            <a:endParaRPr lang="en-US" b="0" baseline="0" dirty="0" smtClean="0"/>
          </a:p>
          <a:p>
            <a:pPr>
              <a:buFontTx/>
              <a:buNone/>
            </a:pPr>
            <a:r>
              <a:rPr lang="en-US" b="0" baseline="0" dirty="0" smtClean="0"/>
              <a:t>Most of main courses will he served hot</a:t>
            </a:r>
          </a:p>
          <a:p>
            <a:pPr>
              <a:buFontTx/>
              <a:buNone/>
            </a:pPr>
            <a:endParaRPr lang="en-US" b="0" baseline="0" dirty="0" smtClean="0"/>
          </a:p>
          <a:p>
            <a:pPr>
              <a:buFontTx/>
              <a:buNone/>
            </a:pPr>
            <a:r>
              <a:rPr lang="en-US" b="0" baseline="0" dirty="0" smtClean="0"/>
              <a:t>Students may work in pairs or by themselves</a:t>
            </a:r>
          </a:p>
          <a:p>
            <a:pPr>
              <a:buFontTx/>
              <a:buNone/>
            </a:pPr>
            <a:endParaRPr lang="en-US" b="0" baseline="0" dirty="0" smtClean="0"/>
          </a:p>
          <a:p>
            <a:pPr>
              <a:buFontTx/>
              <a:buNone/>
            </a:pPr>
            <a:endParaRPr lang="en-US" b="0" baseline="0" dirty="0" smtClean="0"/>
          </a:p>
          <a:p>
            <a:pPr>
              <a:buFontTx/>
              <a:buNone/>
            </a:pPr>
            <a:endParaRPr lang="en-US" b="0" baseline="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79445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AU" sz="1200" kern="1200" dirty="0" smtClean="0">
                <a:solidFill>
                  <a:schemeClr val="tx1"/>
                </a:solidFill>
                <a:ea typeface="+mn-ea"/>
                <a:cs typeface="+mn-cs"/>
              </a:rPr>
              <a:t> When preparing menu</a:t>
            </a:r>
            <a:r>
              <a:rPr lang="en-AU" sz="1200" kern="1200" baseline="0" dirty="0" smtClean="0">
                <a:solidFill>
                  <a:schemeClr val="tx1"/>
                </a:solidFill>
                <a:ea typeface="+mn-ea"/>
                <a:cs typeface="+mn-cs"/>
              </a:rPr>
              <a:t> costing all things need to be considered</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Initially it is the ingredients for a dish</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The time taken to produce a dish</a:t>
            </a:r>
          </a:p>
          <a:p>
            <a:pPr>
              <a:buFontTx/>
              <a:buNone/>
            </a:pPr>
            <a:r>
              <a:rPr lang="en-AU" sz="1200" kern="1200" baseline="0" dirty="0" smtClean="0">
                <a:solidFill>
                  <a:schemeClr val="tx1"/>
                </a:solidFill>
                <a:ea typeface="+mn-ea"/>
                <a:cs typeface="+mn-cs"/>
              </a:rPr>
              <a:t>Number of elements required</a:t>
            </a:r>
          </a:p>
          <a:p>
            <a:pPr>
              <a:buFontTx/>
              <a:buNone/>
            </a:pPr>
            <a:r>
              <a:rPr lang="en-AU" sz="1200" kern="1200" baseline="0" dirty="0" smtClean="0">
                <a:solidFill>
                  <a:schemeClr val="tx1"/>
                </a:solidFill>
                <a:ea typeface="+mn-ea"/>
                <a:cs typeface="+mn-cs"/>
              </a:rPr>
              <a:t>Complexities of producing each element</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How long does it take to produce the dish can be effected by the level of equipment used</a:t>
            </a:r>
          </a:p>
          <a:p>
            <a:pPr>
              <a:buFontTx/>
              <a:buNone/>
            </a:pPr>
            <a:endParaRPr lang="en-AU" sz="1200" kern="1200" baseline="0" dirty="0" smtClean="0">
              <a:solidFill>
                <a:schemeClr val="tx1"/>
              </a:solidFill>
              <a:ea typeface="+mn-ea"/>
              <a:cs typeface="+mn-cs"/>
            </a:endParaRP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When all cost is identified then you have a true cost of production.</a:t>
            </a:r>
          </a:p>
          <a:p>
            <a:pPr>
              <a:buFontTx/>
              <a:buNone/>
            </a:pPr>
            <a:endParaRPr lang="en-AU" sz="1200" kern="1200" baseline="0" dirty="0" smtClean="0">
              <a:solidFill>
                <a:schemeClr val="tx1"/>
              </a:solidFill>
              <a:ea typeface="+mn-ea"/>
              <a:cs typeface="+mn-cs"/>
            </a:endParaRPr>
          </a:p>
          <a:p>
            <a:pPr>
              <a:buFontTx/>
              <a:buNone/>
            </a:pPr>
            <a:endParaRPr lang="en-AU" sz="1200" kern="1200" baseline="0" dirty="0" smtClean="0">
              <a:solidFill>
                <a:schemeClr val="tx1"/>
              </a:solidFill>
              <a:ea typeface="+mn-ea"/>
              <a:cs typeface="+mn-cs"/>
            </a:endParaRPr>
          </a:p>
          <a:p>
            <a:pPr>
              <a:buFontTx/>
              <a:buNone/>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4273862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AU" sz="1200" kern="1200" dirty="0" smtClean="0">
                <a:solidFill>
                  <a:schemeClr val="tx1"/>
                </a:solidFill>
                <a:ea typeface="+mn-ea"/>
                <a:cs typeface="+mn-cs"/>
              </a:rPr>
              <a:t> Several ways to cost</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Basic costing is to decide </a:t>
            </a:r>
          </a:p>
          <a:p>
            <a:pPr>
              <a:buFont typeface="Arial" pitchFamily="34" charset="0"/>
              <a:buChar char="•"/>
            </a:pPr>
            <a:r>
              <a:rPr lang="en-AU" sz="1200" kern="1200" baseline="0" dirty="0" smtClean="0">
                <a:solidFill>
                  <a:schemeClr val="tx1"/>
                </a:solidFill>
                <a:ea typeface="+mn-ea"/>
                <a:cs typeface="+mn-cs"/>
              </a:rPr>
              <a:t>What is in the dish?	Recipe</a:t>
            </a:r>
          </a:p>
          <a:p>
            <a:pPr>
              <a:buFont typeface="Arial" pitchFamily="34" charset="0"/>
              <a:buChar char="•"/>
            </a:pPr>
            <a:r>
              <a:rPr lang="en-AU" sz="1200" kern="1200" baseline="0" dirty="0" smtClean="0">
                <a:solidFill>
                  <a:schemeClr val="tx1"/>
                </a:solidFill>
                <a:ea typeface="+mn-ea"/>
                <a:cs typeface="+mn-cs"/>
              </a:rPr>
              <a:t>How much will make a serving?	Chef and Enterprise manager to decide</a:t>
            </a:r>
          </a:p>
          <a:p>
            <a:pPr>
              <a:buFont typeface="Arial" pitchFamily="34" charset="0"/>
              <a:buChar char="•"/>
            </a:pPr>
            <a:r>
              <a:rPr lang="en-AU" sz="1200" kern="1200" baseline="0" dirty="0" smtClean="0">
                <a:solidFill>
                  <a:schemeClr val="tx1"/>
                </a:solidFill>
                <a:ea typeface="+mn-ea"/>
                <a:cs typeface="+mn-cs"/>
              </a:rPr>
              <a:t>Will base recipe serve 10 people	</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10 is used because it is easier to multiply base figure: 25 becomes 2.5 times the recipe</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Develop recipe for 10 people</a:t>
            </a:r>
          </a:p>
          <a:p>
            <a:pPr>
              <a:buFontTx/>
              <a:buNone/>
            </a:pPr>
            <a:r>
              <a:rPr lang="en-AU" sz="1200" kern="1200" baseline="0" dirty="0" smtClean="0">
                <a:solidFill>
                  <a:schemeClr val="tx1"/>
                </a:solidFill>
                <a:ea typeface="+mn-ea"/>
                <a:cs typeface="+mn-cs"/>
              </a:rPr>
              <a:t>Price ingredients against  cost of purchasing. Most things are priced by the kilo.</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$10.00 per kilo; 385grams is 10 multiply by .385; this equals $3.85</a:t>
            </a:r>
          </a:p>
          <a:p>
            <a:pPr>
              <a:buFontTx/>
              <a:buNone/>
            </a:pPr>
            <a:r>
              <a:rPr lang="en-AU" sz="1200" kern="1200" baseline="0" dirty="0" smtClean="0">
                <a:solidFill>
                  <a:schemeClr val="tx1"/>
                </a:solidFill>
                <a:ea typeface="+mn-ea"/>
                <a:cs typeface="+mn-cs"/>
              </a:rPr>
              <a:t>$13.45 per kilo: 385grams is 13.35 multiply by .385; this equal $5.18</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After ingredients cost then labour cost needs to be identified but this is priced in the cost of manufacturing.</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It should be noted that some dishes take longer to prepare than others.</a:t>
            </a:r>
          </a:p>
          <a:p>
            <a:pPr>
              <a:buFontTx/>
              <a:buNone/>
            </a:pPr>
            <a:endParaRPr lang="en-AU" sz="1200" kern="1200" baseline="0" dirty="0" smtClean="0">
              <a:solidFill>
                <a:schemeClr val="tx1"/>
              </a:solidFill>
              <a:ea typeface="+mn-ea"/>
              <a:cs typeface="+mn-cs"/>
            </a:endParaRPr>
          </a:p>
          <a:p>
            <a:pPr>
              <a:buFontTx/>
              <a:buNone/>
            </a:pPr>
            <a:r>
              <a:rPr lang="en-AU" sz="1200" kern="1200" baseline="0" dirty="0" smtClean="0">
                <a:solidFill>
                  <a:schemeClr val="tx1"/>
                </a:solidFill>
                <a:ea typeface="+mn-ea"/>
                <a:cs typeface="+mn-cs"/>
              </a:rPr>
              <a:t>This is allowed for in averaging</a:t>
            </a:r>
          </a:p>
          <a:p>
            <a:pPr>
              <a:buFontTx/>
              <a:buNone/>
            </a:pPr>
            <a:endParaRPr lang="en-AU" sz="1200" kern="1200" baseline="0" dirty="0" smtClean="0">
              <a:solidFill>
                <a:schemeClr val="tx1"/>
              </a:solidFill>
              <a:ea typeface="+mn-ea"/>
              <a:cs typeface="+mn-cs"/>
            </a:endParaRPr>
          </a:p>
          <a:p>
            <a:pPr>
              <a:buFontTx/>
              <a:buNone/>
            </a:pPr>
            <a:endParaRPr lang="en-AU" sz="1200" kern="1200" baseline="0" dirty="0" smtClean="0">
              <a:solidFill>
                <a:schemeClr val="tx1"/>
              </a:solidFill>
              <a:ea typeface="+mn-ea"/>
              <a:cs typeface="+mn-cs"/>
            </a:endParaRPr>
          </a:p>
          <a:p>
            <a:pPr>
              <a:buFontTx/>
              <a:buNone/>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991727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endParaRPr lang="en-US" b="0" dirty="0" smtClean="0"/>
          </a:p>
          <a:p>
            <a:pPr>
              <a:buFontTx/>
              <a:buNone/>
            </a:pPr>
            <a:r>
              <a:rPr lang="en-US" b="0" dirty="0" smtClean="0"/>
              <a:t>Student will need to write</a:t>
            </a:r>
            <a:r>
              <a:rPr lang="en-US" b="0" baseline="0" dirty="0" smtClean="0"/>
              <a:t> a contemporary menu with entrée, main course and desserts items.</a:t>
            </a:r>
          </a:p>
          <a:p>
            <a:pPr>
              <a:buFontTx/>
              <a:buNone/>
            </a:pPr>
            <a:endParaRPr lang="en-US" b="0" baseline="0" dirty="0" smtClean="0"/>
          </a:p>
          <a:p>
            <a:pPr>
              <a:buFontTx/>
              <a:buNone/>
            </a:pPr>
            <a:r>
              <a:rPr lang="en-US" b="0" baseline="0" dirty="0" smtClean="0"/>
              <a:t>Working under direction of  their Trainer the student will have to construct a menu to fit the needs of the enterprise in which they are working.</a:t>
            </a:r>
          </a:p>
          <a:p>
            <a:pPr>
              <a:buFontTx/>
              <a:buNone/>
            </a:pPr>
            <a:endParaRPr lang="en-US" b="0" baseline="0" dirty="0" smtClean="0"/>
          </a:p>
          <a:p>
            <a:pPr>
              <a:buFontTx/>
              <a:buNone/>
            </a:pPr>
            <a:r>
              <a:rPr lang="en-US" b="0" dirty="0" smtClean="0"/>
              <a:t>Develop a theme</a:t>
            </a:r>
          </a:p>
          <a:p>
            <a:pPr>
              <a:buFontTx/>
              <a:buNone/>
            </a:pPr>
            <a:endParaRPr lang="en-US" b="0" dirty="0" smtClean="0"/>
          </a:p>
          <a:p>
            <a:pPr>
              <a:buFontTx/>
              <a:buNone/>
            </a:pPr>
            <a:r>
              <a:rPr lang="en-US" b="1" dirty="0" smtClean="0"/>
              <a:t>Customer base </a:t>
            </a:r>
            <a:r>
              <a:rPr lang="en-US" b="0" dirty="0" smtClean="0"/>
              <a:t>are</a:t>
            </a:r>
            <a:r>
              <a:rPr lang="en-US" b="0" baseline="0" dirty="0" smtClean="0"/>
              <a:t> meat eaters, vegetarians, seafood eaters, rice eaters, </a:t>
            </a:r>
          </a:p>
          <a:p>
            <a:pPr>
              <a:buFontTx/>
              <a:buNone/>
            </a:pPr>
            <a:r>
              <a:rPr lang="en-US" b="0" baseline="0" dirty="0" smtClean="0"/>
              <a:t>People with preference for fast service and budget prices</a:t>
            </a:r>
          </a:p>
          <a:p>
            <a:pPr>
              <a:buFontTx/>
              <a:buNone/>
            </a:pPr>
            <a:r>
              <a:rPr lang="en-US" b="0" baseline="0" dirty="0" smtClean="0"/>
              <a:t>People with the money to spend and an expectation of quality </a:t>
            </a:r>
          </a:p>
          <a:p>
            <a:pPr>
              <a:buFontTx/>
              <a:buNone/>
            </a:pPr>
            <a:endParaRPr lang="en-US" b="0" dirty="0" smtClean="0"/>
          </a:p>
          <a:p>
            <a:pPr>
              <a:buFontTx/>
              <a:buNone/>
            </a:pPr>
            <a:r>
              <a:rPr lang="en-US" b="0" dirty="0" smtClean="0"/>
              <a:t>What is your menu going to reflect?</a:t>
            </a:r>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16548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endParaRPr lang="en-US" b="0" dirty="0" smtClean="0"/>
          </a:p>
          <a:p>
            <a:pPr>
              <a:buFontTx/>
              <a:buNone/>
            </a:pPr>
            <a:r>
              <a:rPr lang="en-US" b="0" dirty="0" smtClean="0"/>
              <a:t>Student will need to write</a:t>
            </a:r>
            <a:r>
              <a:rPr lang="en-US" b="0" baseline="0" dirty="0" smtClean="0"/>
              <a:t> a contemporary menu with entrée, main course and desserts items.</a:t>
            </a:r>
          </a:p>
          <a:p>
            <a:pPr>
              <a:buFontTx/>
              <a:buNone/>
            </a:pPr>
            <a:endParaRPr lang="en-US" b="0" baseline="0" dirty="0" smtClean="0"/>
          </a:p>
          <a:p>
            <a:pPr>
              <a:buFontTx/>
              <a:buNone/>
            </a:pPr>
            <a:r>
              <a:rPr lang="en-US" b="0" baseline="0" dirty="0" smtClean="0"/>
              <a:t>Working under direction of  their Trainer the student will have to construct a menu to fit the needs of the enterprise in which they are working.</a:t>
            </a:r>
          </a:p>
          <a:p>
            <a:pPr>
              <a:buFontTx/>
              <a:buNone/>
            </a:pPr>
            <a:endParaRPr lang="en-US" b="0" baseline="0" dirty="0" smtClean="0"/>
          </a:p>
          <a:p>
            <a:pPr>
              <a:buFontTx/>
              <a:buNone/>
            </a:pPr>
            <a:r>
              <a:rPr lang="en-US" b="0" baseline="0" dirty="0" smtClean="0"/>
              <a:t>Many restaurants have menus online so students can access this rich resource for inspiration.</a:t>
            </a:r>
          </a:p>
          <a:p>
            <a:pPr>
              <a:buFontTx/>
              <a:buNone/>
            </a:pPr>
            <a:endParaRPr lang="en-US" b="0" baseline="0" dirty="0" smtClean="0"/>
          </a:p>
          <a:p>
            <a:pPr>
              <a:buFontTx/>
              <a:buNone/>
            </a:pPr>
            <a:r>
              <a:rPr lang="en-US" b="1" baseline="0" dirty="0" smtClean="0"/>
              <a:t>Remember: </a:t>
            </a:r>
          </a:p>
          <a:p>
            <a:pPr>
              <a:buFontTx/>
              <a:buNone/>
            </a:pPr>
            <a:r>
              <a:rPr lang="en-US" b="0" baseline="0" dirty="0" smtClean="0"/>
              <a:t>what sells well in one area may not sell well in another.</a:t>
            </a:r>
          </a:p>
          <a:p>
            <a:pPr>
              <a:buFontTx/>
              <a:buNone/>
            </a:pPr>
            <a:endParaRPr lang="en-US" b="0" baseline="0" dirty="0" smtClean="0"/>
          </a:p>
          <a:p>
            <a:pPr>
              <a:buFontTx/>
              <a:buNone/>
            </a:pPr>
            <a:r>
              <a:rPr lang="en-US" b="0" dirty="0" smtClean="0"/>
              <a:t>Entrees:</a:t>
            </a:r>
          </a:p>
          <a:p>
            <a:pPr>
              <a:buFontTx/>
              <a:buNone/>
            </a:pPr>
            <a:r>
              <a:rPr lang="en-US" b="0" dirty="0" smtClean="0"/>
              <a:t>Light, not too heavy</a:t>
            </a:r>
          </a:p>
          <a:p>
            <a:pPr>
              <a:buFontTx/>
              <a:buNone/>
            </a:pPr>
            <a:r>
              <a:rPr lang="en-US" b="0" dirty="0" smtClean="0"/>
              <a:t>Allow for all types of diners</a:t>
            </a:r>
          </a:p>
          <a:p>
            <a:pPr>
              <a:buFontTx/>
              <a:buNone/>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938191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endParaRPr lang="en-US" b="0" dirty="0" smtClean="0"/>
          </a:p>
          <a:p>
            <a:pPr>
              <a:buFontTx/>
              <a:buNone/>
            </a:pPr>
            <a:r>
              <a:rPr lang="en-US" b="0" dirty="0" smtClean="0"/>
              <a:t>Student will need to write</a:t>
            </a:r>
            <a:r>
              <a:rPr lang="en-US" b="0" baseline="0" dirty="0" smtClean="0"/>
              <a:t> a contemporary menu with entrée, main course and desserts items.</a:t>
            </a:r>
          </a:p>
          <a:p>
            <a:pPr>
              <a:buFontTx/>
              <a:buNone/>
            </a:pPr>
            <a:endParaRPr lang="en-US" b="0" baseline="0" dirty="0" smtClean="0"/>
          </a:p>
          <a:p>
            <a:pPr>
              <a:buFontTx/>
              <a:buNone/>
            </a:pPr>
            <a:r>
              <a:rPr lang="en-US" b="0" baseline="0" dirty="0" smtClean="0"/>
              <a:t>Working under direction of  their Trainer the student will have to construct a menu to fit the needs of the enterprise in which they are working.</a:t>
            </a:r>
          </a:p>
          <a:p>
            <a:pPr>
              <a:buFontTx/>
              <a:buNone/>
            </a:pPr>
            <a:endParaRPr lang="en-US" b="0" baseline="0" dirty="0" smtClean="0"/>
          </a:p>
          <a:p>
            <a:pPr>
              <a:buFontTx/>
              <a:buNone/>
            </a:pPr>
            <a:r>
              <a:rPr lang="en-US" b="0" baseline="0" dirty="0" smtClean="0"/>
              <a:t>Mains:</a:t>
            </a:r>
          </a:p>
          <a:p>
            <a:pPr>
              <a:buFontTx/>
              <a:buNone/>
            </a:pPr>
            <a:r>
              <a:rPr lang="en-US" b="0" baseline="0" dirty="0" smtClean="0"/>
              <a:t>Most customers will have a main course</a:t>
            </a:r>
          </a:p>
          <a:p>
            <a:pPr>
              <a:buFontTx/>
              <a:buNone/>
            </a:pPr>
            <a:endParaRPr lang="en-US" b="0" baseline="0" dirty="0" smtClean="0"/>
          </a:p>
          <a:p>
            <a:pPr>
              <a:buFontTx/>
              <a:buNone/>
            </a:pPr>
            <a:r>
              <a:rPr lang="en-US" b="0" baseline="0" dirty="0" smtClean="0"/>
              <a:t>Not all will have an entrée</a:t>
            </a:r>
          </a:p>
          <a:p>
            <a:pPr>
              <a:buFontTx/>
              <a:buNone/>
            </a:pPr>
            <a:r>
              <a:rPr lang="en-US" b="0" baseline="0" dirty="0" smtClean="0"/>
              <a:t>Not all will have a dessert</a:t>
            </a:r>
          </a:p>
          <a:p>
            <a:pPr>
              <a:buFontTx/>
              <a:buNone/>
            </a:pPr>
            <a:r>
              <a:rPr lang="en-US" b="0" baseline="0" dirty="0" smtClean="0"/>
              <a:t>This is where 80% of your extra sales will be from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634912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endParaRPr lang="en-US" b="0" dirty="0" smtClean="0"/>
          </a:p>
          <a:p>
            <a:pPr>
              <a:buFontTx/>
              <a:buNone/>
            </a:pPr>
            <a:r>
              <a:rPr lang="en-US" b="0" dirty="0" smtClean="0"/>
              <a:t>Student will need to write</a:t>
            </a:r>
            <a:r>
              <a:rPr lang="en-US" b="0" baseline="0" dirty="0" smtClean="0"/>
              <a:t> a contemporary menu with entrée, main course and desserts items.</a:t>
            </a:r>
          </a:p>
          <a:p>
            <a:pPr>
              <a:buFontTx/>
              <a:buNone/>
            </a:pPr>
            <a:endParaRPr lang="en-US" b="0" baseline="0" dirty="0" smtClean="0"/>
          </a:p>
          <a:p>
            <a:pPr>
              <a:buFontTx/>
              <a:buNone/>
            </a:pPr>
            <a:r>
              <a:rPr lang="en-US" b="0" baseline="0" dirty="0" smtClean="0"/>
              <a:t>Working under direction of  their Trainer the student will have to construct a menu to fit the needs of the enterprise in which they are working.</a:t>
            </a:r>
          </a:p>
          <a:p>
            <a:pPr>
              <a:buFontTx/>
              <a:buNone/>
            </a:pPr>
            <a:endParaRPr lang="en-US" b="0" baseline="0" dirty="0" smtClean="0"/>
          </a:p>
          <a:p>
            <a:pPr>
              <a:buFontTx/>
              <a:buNone/>
            </a:pPr>
            <a:r>
              <a:rPr lang="en-US" b="0" baseline="0" dirty="0" smtClean="0"/>
              <a:t>Not all are going to have desserts</a:t>
            </a:r>
          </a:p>
          <a:p>
            <a:pPr>
              <a:buFontTx/>
              <a:buNone/>
            </a:pPr>
            <a:endParaRPr lang="en-US" b="0" baseline="0" dirty="0" smtClean="0"/>
          </a:p>
          <a:p>
            <a:pPr>
              <a:buFontTx/>
              <a:buNone/>
            </a:pPr>
            <a:r>
              <a:rPr lang="en-US" b="0" baseline="0" dirty="0" smtClean="0"/>
              <a:t>Selling a dessert as well as entrée and main course will be the most profitable dish.</a:t>
            </a:r>
          </a:p>
          <a:p>
            <a:pPr>
              <a:buFontTx/>
              <a:buNone/>
            </a:pPr>
            <a:endParaRPr lang="en-US" b="0" baseline="0" dirty="0" smtClean="0"/>
          </a:p>
          <a:p>
            <a:pPr>
              <a:buFontTx/>
              <a:buNone/>
            </a:pPr>
            <a:r>
              <a:rPr lang="en-US" b="0" baseline="0" dirty="0" smtClean="0"/>
              <a:t>What is this so?</a:t>
            </a:r>
          </a:p>
          <a:p>
            <a:pPr>
              <a:buFontTx/>
              <a:buNone/>
            </a:pPr>
            <a:endParaRPr lang="en-US" b="0" baseline="0" dirty="0" smtClean="0"/>
          </a:p>
          <a:p>
            <a:pPr>
              <a:buFontTx/>
              <a:buNone/>
            </a:pPr>
            <a:r>
              <a:rPr lang="en-US" b="0" baseline="0" dirty="0" smtClean="0"/>
              <a:t>When customers sit at a table in a restaurant then they have used the tablecloth and has to be changed when they leave</a:t>
            </a:r>
          </a:p>
          <a:p>
            <a:pPr>
              <a:buFontTx/>
              <a:buNone/>
            </a:pPr>
            <a:r>
              <a:rPr lang="en-US" b="0" baseline="0" dirty="0" smtClean="0"/>
              <a:t>The more that is served to them the lesser the cost of the table per course</a:t>
            </a:r>
          </a:p>
          <a:p>
            <a:pPr>
              <a:buFontTx/>
              <a:buNone/>
            </a:pPr>
            <a:r>
              <a:rPr lang="en-US" b="0" baseline="0" dirty="0" smtClean="0"/>
              <a:t>If they purchase 3 courses then more money has been made from that one sitting than if they have just an entrée then leave.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639700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Trainer to relate performance criteria to element 2</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Plan and manage menu based catering </a:t>
            </a:r>
            <a:r>
              <a:rPr lang="en-US" b="0" baseline="0" dirty="0" smtClean="0"/>
              <a:t>the students must be able to; </a:t>
            </a:r>
            <a:endParaRPr lang="en-US" b="1" baseline="0" dirty="0" smtClean="0"/>
          </a:p>
          <a:p>
            <a:pPr>
              <a:buFont typeface="Arial" pitchFamily="34" charset="0"/>
              <a:buNone/>
            </a:pPr>
            <a:endParaRPr lang="en-US" b="1" baseline="0" dirty="0" smtClean="0"/>
          </a:p>
          <a:p>
            <a:pPr>
              <a:buFont typeface="Arial" pitchFamily="34" charset="0"/>
              <a:buNone/>
            </a:pPr>
            <a:r>
              <a:rPr lang="en-US" b="1" baseline="0" dirty="0" smtClean="0"/>
              <a:t>Manage menu based catering</a:t>
            </a:r>
          </a:p>
          <a:p>
            <a:pPr>
              <a:buFont typeface="Arial" pitchFamily="34" charset="0"/>
              <a:buNone/>
            </a:pPr>
            <a:endParaRPr lang="en-US" b="1" baseline="0" dirty="0" smtClean="0"/>
          </a:p>
          <a:p>
            <a:pPr>
              <a:buFont typeface="Arial" pitchFamily="34" charset="0"/>
              <a:buNone/>
            </a:pPr>
            <a:r>
              <a:rPr lang="en-US" b="1" baseline="0" dirty="0" smtClean="0"/>
              <a:t>The student should be able to </a:t>
            </a:r>
          </a:p>
          <a:p>
            <a:pPr lvl="1"/>
            <a:r>
              <a:rPr lang="en-AU" sz="1200" dirty="0" smtClean="0"/>
              <a:t>Select and use appropriate catering control</a:t>
            </a:r>
          </a:p>
          <a:p>
            <a:pPr lvl="1"/>
            <a:r>
              <a:rPr lang="en-AU" sz="1200" dirty="0" smtClean="0"/>
              <a:t>Control </a:t>
            </a:r>
            <a:r>
              <a:rPr lang="en-AU" sz="1200" i="1" dirty="0" smtClean="0"/>
              <a:t>labour costs</a:t>
            </a:r>
            <a:endParaRPr lang="en-AU" sz="1200" dirty="0" smtClean="0"/>
          </a:p>
          <a:p>
            <a:pPr lvl="1"/>
            <a:r>
              <a:rPr lang="en-AU" sz="1200" dirty="0" smtClean="0"/>
              <a:t>Optimise </a:t>
            </a:r>
            <a:r>
              <a:rPr lang="en-AU" sz="1200" i="1" dirty="0" smtClean="0"/>
              <a:t>product usage</a:t>
            </a:r>
            <a:endParaRPr lang="en-AU" sz="1200" dirty="0" smtClean="0"/>
          </a:p>
          <a:p>
            <a:pPr lvl="1"/>
            <a:r>
              <a:rPr lang="en-AU" sz="1200" dirty="0" smtClean="0"/>
              <a:t>Apply </a:t>
            </a:r>
            <a:r>
              <a:rPr lang="en-AU" sz="1200" i="1" dirty="0" smtClean="0"/>
              <a:t>stock control measures</a:t>
            </a:r>
            <a:endParaRPr lang="en-AU" sz="1200" dirty="0" smtClean="0"/>
          </a:p>
          <a:p>
            <a:pPr lvl="1"/>
            <a:r>
              <a:rPr lang="en-AU" sz="1200" dirty="0" smtClean="0"/>
              <a:t>Plan production </a:t>
            </a:r>
            <a:r>
              <a:rPr lang="en-AU" sz="1200" i="1" dirty="0" smtClean="0"/>
              <a:t>schedules</a:t>
            </a:r>
            <a:endParaRPr lang="en-US"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4052183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AU" b="0" dirty="0" smtClean="0"/>
              <a:t>Control is about Knowledge</a:t>
            </a:r>
          </a:p>
          <a:p>
            <a:pPr>
              <a:buFontTx/>
              <a:buNone/>
            </a:pPr>
            <a:endParaRPr lang="en-AU" b="0" dirty="0" smtClean="0"/>
          </a:p>
          <a:p>
            <a:pPr>
              <a:buFontTx/>
              <a:buNone/>
            </a:pPr>
            <a:r>
              <a:rPr lang="en-AU" b="1" dirty="0" smtClean="0"/>
              <a:t>What are the costs?</a:t>
            </a:r>
          </a:p>
          <a:p>
            <a:pPr>
              <a:buFontTx/>
              <a:buNone/>
            </a:pPr>
            <a:r>
              <a:rPr lang="en-AU" b="0" dirty="0" smtClean="0"/>
              <a:t>All costs need to be understood if the correct charges are to be applied. </a:t>
            </a:r>
          </a:p>
          <a:p>
            <a:pPr>
              <a:buFontTx/>
              <a:buNone/>
            </a:pPr>
            <a:r>
              <a:rPr lang="en-AU" b="0" dirty="0" smtClean="0"/>
              <a:t>A menu dish may be popular but is the return to the enterprise sufficient</a:t>
            </a:r>
            <a:r>
              <a:rPr lang="en-AU" b="0" baseline="0" dirty="0" smtClean="0"/>
              <a:t> to cover the true cost of manufacturing</a:t>
            </a:r>
          </a:p>
          <a:p>
            <a:pPr>
              <a:buFontTx/>
              <a:buNone/>
            </a:pPr>
            <a:endParaRPr lang="en-AU" b="0" baseline="0" dirty="0" smtClean="0"/>
          </a:p>
          <a:p>
            <a:pPr>
              <a:buFontTx/>
              <a:buNone/>
            </a:pPr>
            <a:endParaRPr lang="en-AU" b="0" dirty="0" smtClean="0"/>
          </a:p>
          <a:p>
            <a:pPr>
              <a:buFontTx/>
              <a:buNone/>
            </a:pPr>
            <a:r>
              <a:rPr lang="en-AU" b="1" dirty="0" smtClean="0"/>
              <a:t>Where can they be controlled?</a:t>
            </a:r>
          </a:p>
          <a:p>
            <a:pPr>
              <a:buFontTx/>
              <a:buNone/>
            </a:pPr>
            <a:r>
              <a:rPr lang="en-AU" b="0" dirty="0" smtClean="0"/>
              <a:t>Accurate control of menu production is required.</a:t>
            </a:r>
          </a:p>
          <a:p>
            <a:pPr>
              <a:buFontTx/>
              <a:buNone/>
            </a:pPr>
            <a:r>
              <a:rPr lang="en-AU" b="0" dirty="0" smtClean="0"/>
              <a:t>Are staff all working to same formula? Are some staff using more to produce same quantities.</a:t>
            </a:r>
          </a:p>
          <a:p>
            <a:pPr>
              <a:buFontTx/>
              <a:buNone/>
            </a:pPr>
            <a:r>
              <a:rPr lang="en-AU" b="0" dirty="0" smtClean="0"/>
              <a:t>Serving</a:t>
            </a:r>
            <a:r>
              <a:rPr lang="en-AU" b="0" baseline="0" dirty="0" smtClean="0"/>
              <a:t> sizes are all the same: These can be averaged but average serving sizes</a:t>
            </a:r>
            <a:endParaRPr lang="en-AU" b="0" dirty="0" smtClean="0"/>
          </a:p>
          <a:p>
            <a:pPr>
              <a:buFontTx/>
              <a:buNone/>
            </a:pPr>
            <a:endParaRPr lang="en-AU" b="0" dirty="0" smtClean="0"/>
          </a:p>
          <a:p>
            <a:pPr>
              <a:buFontTx/>
              <a:buNone/>
            </a:pPr>
            <a:endParaRPr lang="en-AU" b="0" dirty="0" smtClean="0"/>
          </a:p>
          <a:p>
            <a:pPr>
              <a:buFontTx/>
              <a:buNone/>
            </a:pPr>
            <a:r>
              <a:rPr lang="en-AU" b="1" dirty="0" smtClean="0"/>
              <a:t>How</a:t>
            </a:r>
            <a:r>
              <a:rPr lang="en-AU" b="1" baseline="0" dirty="0" smtClean="0"/>
              <a:t> can they be controlled?</a:t>
            </a:r>
          </a:p>
          <a:p>
            <a:pPr>
              <a:buFontTx/>
              <a:buNone/>
            </a:pPr>
            <a:r>
              <a:rPr lang="en-AU" b="0" baseline="0" dirty="0" smtClean="0"/>
              <a:t>Working to standard recipes</a:t>
            </a:r>
          </a:p>
          <a:p>
            <a:pPr>
              <a:buFontTx/>
              <a:buNone/>
            </a:pPr>
            <a:r>
              <a:rPr lang="en-AU" b="0" baseline="0" dirty="0" smtClean="0"/>
              <a:t>Training of staff</a:t>
            </a:r>
          </a:p>
          <a:p>
            <a:pPr>
              <a:buFontTx/>
              <a:buNone/>
            </a:pPr>
            <a:r>
              <a:rPr lang="en-AU" b="0" baseline="0" dirty="0" smtClean="0"/>
              <a:t>Auditing of processes</a:t>
            </a:r>
          </a:p>
          <a:p>
            <a:pPr>
              <a:buFontTx/>
              <a:buNone/>
            </a:pPr>
            <a:r>
              <a:rPr lang="en-AU" b="0" baseline="0" dirty="0" smtClean="0"/>
              <a:t>Mentoring of staff development</a:t>
            </a:r>
          </a:p>
          <a:p>
            <a:pPr>
              <a:buFontTx/>
              <a:buNone/>
            </a:pPr>
            <a:r>
              <a:rPr lang="en-AU" b="0" baseline="0" dirty="0" smtClean="0"/>
              <a:t>Utilising  leftover trimmings in other dishes</a:t>
            </a:r>
            <a:endParaRPr lang="en-AU" b="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3826107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r>
              <a:rPr lang="en-US" b="0" dirty="0" smtClean="0"/>
              <a:t>System of food ordering  and purchasing agreement for specific time periods</a:t>
            </a:r>
          </a:p>
          <a:p>
            <a:pPr>
              <a:buFontTx/>
              <a:buNone/>
            </a:pPr>
            <a:endParaRPr lang="en-US" b="0" dirty="0" smtClean="0"/>
          </a:p>
          <a:p>
            <a:pPr>
              <a:buFontTx/>
              <a:buNone/>
            </a:pPr>
            <a:r>
              <a:rPr lang="en-US" b="0" dirty="0" smtClean="0"/>
              <a:t>Modern methods of computerised ordering makes  ordering much simpler.</a:t>
            </a:r>
          </a:p>
          <a:p>
            <a:pPr>
              <a:buFontTx/>
              <a:buNone/>
            </a:pPr>
            <a:endParaRPr lang="en-US" b="0" dirty="0" smtClean="0"/>
          </a:p>
          <a:p>
            <a:pPr>
              <a:buFontTx/>
              <a:buNone/>
            </a:pPr>
            <a:r>
              <a:rPr lang="en-US" b="0" dirty="0" smtClean="0"/>
              <a:t>Smaller premises may have to order by handwritten documents so it is important to keep records</a:t>
            </a:r>
            <a:r>
              <a:rPr lang="en-US" b="0" baseline="0" dirty="0" smtClean="0"/>
              <a:t> of what is ordered.</a:t>
            </a:r>
          </a:p>
          <a:p>
            <a:pPr>
              <a:buFontTx/>
              <a:buNone/>
            </a:pPr>
            <a:endParaRPr lang="en-US" b="0" baseline="0" dirty="0" smtClean="0"/>
          </a:p>
          <a:p>
            <a:pPr>
              <a:buFontTx/>
              <a:buNone/>
            </a:pPr>
            <a:r>
              <a:rPr lang="en-US" b="0" baseline="0" dirty="0" smtClean="0"/>
              <a:t>Ledger books with pre ruled lines are fine examples that can be adapted for hand written document</a:t>
            </a:r>
          </a:p>
          <a:p>
            <a:pPr>
              <a:buFontTx/>
              <a:buNone/>
            </a:pPr>
            <a:endParaRPr lang="en-US" b="0" baseline="0" dirty="0" smtClean="0"/>
          </a:p>
          <a:p>
            <a:pPr>
              <a:buFontTx/>
              <a:buNone/>
            </a:pPr>
            <a:r>
              <a:rPr lang="en-US" b="0" baseline="0" dirty="0" smtClean="0"/>
              <a:t>Students are encouraged to adopt modern methods of computerised ordering.</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478656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Tx/>
              <a:buNone/>
            </a:pPr>
            <a:r>
              <a:rPr lang="en-US" b="1" dirty="0" smtClean="0"/>
              <a:t>Trainer to advise:</a:t>
            </a:r>
          </a:p>
          <a:p>
            <a:pPr>
              <a:buFontTx/>
              <a:buNone/>
            </a:pPr>
            <a:endParaRPr lang="en-US" b="0" dirty="0" smtClean="0"/>
          </a:p>
          <a:p>
            <a:pPr>
              <a:buFontTx/>
              <a:buNone/>
            </a:pPr>
            <a:r>
              <a:rPr lang="en-US" b="0" dirty="0" smtClean="0"/>
              <a:t>Skill level of the staff will be paramount when deciding on the theme of</a:t>
            </a:r>
            <a:r>
              <a:rPr lang="en-US" b="0" baseline="0" dirty="0" smtClean="0"/>
              <a:t> the enterprise.</a:t>
            </a:r>
          </a:p>
          <a:p>
            <a:pPr>
              <a:buFontTx/>
              <a:buNone/>
            </a:pPr>
            <a:endParaRPr lang="en-US" b="0" baseline="0" dirty="0" smtClean="0"/>
          </a:p>
          <a:p>
            <a:pPr>
              <a:buFontTx/>
              <a:buNone/>
            </a:pPr>
            <a:r>
              <a:rPr lang="en-US" b="0" baseline="0" dirty="0" smtClean="0"/>
              <a:t>Are they prepared to cook food different to what they know?</a:t>
            </a:r>
          </a:p>
          <a:p>
            <a:pPr>
              <a:buFontTx/>
              <a:buNone/>
            </a:pPr>
            <a:endParaRPr lang="en-US" b="0" baseline="0" dirty="0" smtClean="0"/>
          </a:p>
          <a:p>
            <a:pPr>
              <a:buFontTx/>
              <a:buNone/>
            </a:pPr>
            <a:r>
              <a:rPr lang="en-US" b="0" baseline="0" dirty="0" smtClean="0"/>
              <a:t>Do they understand the different techniques required?</a:t>
            </a:r>
          </a:p>
          <a:p>
            <a:pPr>
              <a:buFontTx/>
              <a:buNone/>
            </a:pPr>
            <a:endParaRPr lang="en-US" b="0" baseline="0" dirty="0" smtClean="0"/>
          </a:p>
          <a:p>
            <a:pPr>
              <a:buFontTx/>
              <a:buNone/>
            </a:pPr>
            <a:r>
              <a:rPr lang="en-US" b="0" baseline="0" dirty="0" smtClean="0"/>
              <a:t>Conduct an audit of staff skill levels; do not assume they know</a:t>
            </a:r>
          </a:p>
          <a:p>
            <a:pPr>
              <a:buFontTx/>
              <a:buNone/>
            </a:pPr>
            <a:r>
              <a:rPr lang="en-US" b="0" baseline="0" dirty="0" smtClean="0"/>
              <a:t>What training has been done by the enterprise?</a:t>
            </a:r>
          </a:p>
          <a:p>
            <a:pPr>
              <a:buFontTx/>
              <a:buNone/>
            </a:pPr>
            <a:r>
              <a:rPr lang="en-US" b="0" baseline="0" dirty="0" smtClean="0"/>
              <a:t>Do all staff know what to do in event of fire in kitchen</a:t>
            </a:r>
          </a:p>
          <a:p>
            <a:pPr>
              <a:buFontTx/>
              <a:buNone/>
            </a:pPr>
            <a:endParaRPr lang="en-US" b="0" baseline="0" dirty="0" smtClean="0"/>
          </a:p>
          <a:p>
            <a:pPr>
              <a:buFontTx/>
              <a:buNone/>
            </a:pPr>
            <a:r>
              <a:rPr lang="en-US" b="0" baseline="0" dirty="0" smtClean="0"/>
              <a:t>Where are extinguishers</a:t>
            </a:r>
          </a:p>
          <a:p>
            <a:pPr>
              <a:buFontTx/>
              <a:buNone/>
            </a:pPr>
            <a:r>
              <a:rPr lang="en-US" b="0" baseline="0" dirty="0" smtClean="0"/>
              <a:t>What type of extinguishers are available; foam, powder???????</a:t>
            </a:r>
          </a:p>
          <a:p>
            <a:pPr>
              <a:buFontTx/>
              <a:buNone/>
            </a:pPr>
            <a:r>
              <a:rPr lang="en-US" b="0" baseline="0" dirty="0" smtClean="0"/>
              <a:t>Where is gas shut off valve</a:t>
            </a:r>
          </a:p>
          <a:p>
            <a:pPr>
              <a:buFontTx/>
              <a:buNone/>
            </a:pPr>
            <a:endParaRPr lang="en-US" b="0" baseline="0" dirty="0" smtClean="0"/>
          </a:p>
          <a:p>
            <a:pPr>
              <a:buFontTx/>
              <a:buNone/>
            </a:pPr>
            <a:r>
              <a:rPr lang="en-US" b="0" baseline="0" dirty="0" smtClean="0"/>
              <a:t>Do staff know how to stop bleeding resulting from cuts with sharp objects?</a:t>
            </a:r>
          </a:p>
          <a:p>
            <a:pPr>
              <a:buFontTx/>
              <a:buNone/>
            </a:pPr>
            <a:r>
              <a:rPr lang="en-US" b="0" baseline="0" dirty="0" smtClean="0"/>
              <a:t>Can they all apply bandages for simple first aid until medical specialists can be summoned?</a:t>
            </a:r>
          </a:p>
          <a:p>
            <a:pPr>
              <a:buFontTx/>
              <a:buNone/>
            </a:pPr>
            <a:endParaRPr lang="en-US" b="0" baseline="0" dirty="0" smtClean="0"/>
          </a:p>
          <a:p>
            <a:pPr>
              <a:buFontTx/>
              <a:buNone/>
            </a:pPr>
            <a:r>
              <a:rPr lang="en-US" b="0" baseline="0" dirty="0" smtClean="0"/>
              <a:t>Skills is not always about the cooking</a:t>
            </a:r>
          </a:p>
          <a:p>
            <a:pPr>
              <a:buFontTx/>
              <a:buNone/>
            </a:pPr>
            <a:endParaRPr lang="en-US" b="0" baseline="0" dirty="0" smtClean="0"/>
          </a:p>
          <a:p>
            <a:pPr>
              <a:buFontTx/>
              <a:buNone/>
            </a:pPr>
            <a:r>
              <a:rPr lang="en-US" b="0" baseline="0" dirty="0" smtClean="0"/>
              <a:t>Cooking skills mean versatility. The more they can do the more flexible they are to the kitchen work. </a:t>
            </a:r>
          </a:p>
          <a:p>
            <a:pPr>
              <a:buFontTx/>
              <a:buNone/>
            </a:pPr>
            <a:endParaRPr lang="en-US" b="0" baseline="0" dirty="0" smtClean="0"/>
          </a:p>
          <a:p>
            <a:pPr>
              <a:buFontTx/>
              <a:buNone/>
            </a:pPr>
            <a:r>
              <a:rPr lang="en-US" b="0" baseline="0" dirty="0" smtClean="0"/>
              <a:t>Training of staff is ongoing and continual</a:t>
            </a: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4260995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r>
              <a:rPr lang="en-US" b="0" dirty="0" smtClean="0"/>
              <a:t>All staff need to be cooking product the same way</a:t>
            </a:r>
          </a:p>
          <a:p>
            <a:pPr>
              <a:buFontTx/>
              <a:buNone/>
            </a:pPr>
            <a:endParaRPr lang="en-US" b="0" dirty="0" smtClean="0"/>
          </a:p>
          <a:p>
            <a:pPr>
              <a:buFontTx/>
              <a:buNone/>
            </a:pPr>
            <a:r>
              <a:rPr lang="en-US" b="0" dirty="0" smtClean="0"/>
              <a:t>Working to same recipe and method of production</a:t>
            </a:r>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9179375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err="1" smtClean="0"/>
              <a:t>Labour</a:t>
            </a:r>
            <a:r>
              <a:rPr lang="en-US" b="0" dirty="0" smtClean="0"/>
              <a:t> is a big cost in any kitchen. It is not just the cost</a:t>
            </a:r>
            <a:r>
              <a:rPr lang="en-US" b="0" baseline="0" dirty="0" smtClean="0"/>
              <a:t> of how much per hour staff are paid but also the on cost.</a:t>
            </a:r>
          </a:p>
          <a:p>
            <a:pPr>
              <a:buFontTx/>
              <a:buNone/>
            </a:pPr>
            <a:endParaRPr lang="en-US" b="0" baseline="0" dirty="0" smtClean="0"/>
          </a:p>
          <a:p>
            <a:pPr>
              <a:buFontTx/>
              <a:buNone/>
            </a:pPr>
            <a:r>
              <a:rPr lang="en-US" b="0" baseline="0" dirty="0" smtClean="0"/>
              <a:t>Are they supplied lunch, tea and coffee facilities, laundry allowances, medical insurance and benefits.</a:t>
            </a:r>
          </a:p>
          <a:p>
            <a:pPr>
              <a:buFontTx/>
              <a:buNone/>
            </a:pPr>
            <a:endParaRPr lang="en-US" b="0" baseline="0" dirty="0" smtClean="0"/>
          </a:p>
          <a:p>
            <a:pPr>
              <a:buFontTx/>
              <a:buNone/>
            </a:pPr>
            <a:r>
              <a:rPr lang="en-US" b="0" baseline="0" dirty="0" smtClean="0"/>
              <a:t>These may not all be  required in your kitchen but all needs to be looked at if you are in charge of paying staff all correct allowances.</a:t>
            </a:r>
          </a:p>
          <a:p>
            <a:pPr>
              <a:buFontTx/>
              <a:buNone/>
            </a:pPr>
            <a:endParaRPr lang="en-US" b="0" baseline="0" dirty="0" smtClean="0"/>
          </a:p>
          <a:p>
            <a:pPr>
              <a:buFontTx/>
              <a:buNone/>
            </a:pPr>
            <a:r>
              <a:rPr lang="en-US" b="0" baseline="0" dirty="0" smtClean="0"/>
              <a:t>Having staff that are not needed is an expensive error.</a:t>
            </a:r>
          </a:p>
          <a:p>
            <a:pPr>
              <a:buFontTx/>
              <a:buNone/>
            </a:pPr>
            <a:r>
              <a:rPr lang="en-US" b="0" baseline="0" dirty="0" smtClean="0"/>
              <a:t>Not having enough staff can be expensive if customers walk out because they have not been served quick enough.</a:t>
            </a:r>
          </a:p>
          <a:p>
            <a:pPr>
              <a:buFontTx/>
              <a:buNone/>
            </a:pPr>
            <a:endParaRPr lang="en-US" b="0" baseline="0" dirty="0" smtClean="0"/>
          </a:p>
          <a:p>
            <a:pPr>
              <a:buFontTx/>
              <a:buNone/>
            </a:pPr>
            <a:endParaRPr lang="en-US" b="0" baseline="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836144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0" dirty="0" smtClean="0"/>
          </a:p>
          <a:p>
            <a:pPr>
              <a:buFontTx/>
              <a:buNone/>
            </a:pPr>
            <a:r>
              <a:rPr lang="en-US" b="0" dirty="0" smtClean="0"/>
              <a:t>Purchasing for a la carte is very difficult as exact numbers that may be required is the great unknown.</a:t>
            </a:r>
          </a:p>
          <a:p>
            <a:pPr>
              <a:buFontTx/>
              <a:buNone/>
            </a:pPr>
            <a:endParaRPr lang="en-US" b="0" dirty="0" smtClean="0"/>
          </a:p>
          <a:p>
            <a:pPr>
              <a:buFontTx/>
              <a:buNone/>
            </a:pPr>
            <a:r>
              <a:rPr lang="en-US" b="0" dirty="0" smtClean="0"/>
              <a:t>Averaging of purchasing and record keeping are the best ways of controlling build up of excess</a:t>
            </a:r>
            <a:r>
              <a:rPr lang="en-US" b="0" baseline="0" dirty="0" smtClean="0"/>
              <a:t> stock</a:t>
            </a:r>
          </a:p>
          <a:p>
            <a:pPr>
              <a:buFontTx/>
              <a:buNone/>
            </a:pPr>
            <a:endParaRPr lang="en-US" b="0" baseline="0" dirty="0" smtClean="0"/>
          </a:p>
          <a:p>
            <a:pPr>
              <a:buFontTx/>
              <a:buNone/>
            </a:pPr>
            <a:r>
              <a:rPr lang="en-US" b="0" baseline="0" dirty="0" smtClean="0"/>
              <a:t>When a kilo of onions are peeled; how much usable flesh is available</a:t>
            </a:r>
          </a:p>
          <a:p>
            <a:pPr>
              <a:buFontTx/>
              <a:buNone/>
            </a:pPr>
            <a:r>
              <a:rPr lang="en-US" b="0" baseline="0" dirty="0" smtClean="0"/>
              <a:t>When a kilo of peeled onions are sliced; how much sliced onion is achieved</a:t>
            </a:r>
          </a:p>
          <a:p>
            <a:pPr>
              <a:buFontTx/>
              <a:buNone/>
            </a:pPr>
            <a:r>
              <a:rPr lang="en-US" b="0" baseline="0" dirty="0" smtClean="0"/>
              <a:t>When a kilo of onions are diced; how much usable product is achieved</a:t>
            </a:r>
          </a:p>
          <a:p>
            <a:pPr>
              <a:buFontTx/>
              <a:buNone/>
            </a:pPr>
            <a:endParaRPr lang="en-US" b="0" baseline="0" dirty="0" smtClean="0"/>
          </a:p>
          <a:p>
            <a:pPr>
              <a:buFontTx/>
              <a:buNone/>
            </a:pPr>
            <a:endParaRPr lang="en-US" b="0" baseline="0" dirty="0" smtClean="0"/>
          </a:p>
          <a:p>
            <a:pPr>
              <a:buFontTx/>
              <a:buNone/>
            </a:pPr>
            <a:r>
              <a:rPr lang="en-US" b="0" baseline="0" dirty="0" smtClean="0"/>
              <a:t>When the lamb casserole is finally cooked; </a:t>
            </a:r>
          </a:p>
          <a:p>
            <a:pPr lvl="1">
              <a:buFont typeface="Arial" pitchFamily="34" charset="0"/>
              <a:buChar char="•"/>
            </a:pPr>
            <a:r>
              <a:rPr lang="en-US" b="0" baseline="0" dirty="0" smtClean="0"/>
              <a:t>how many serves are actually available for service?</a:t>
            </a:r>
          </a:p>
          <a:p>
            <a:pPr lvl="1">
              <a:buFont typeface="Arial" pitchFamily="34" charset="0"/>
              <a:buChar char="•"/>
            </a:pPr>
            <a:r>
              <a:rPr lang="en-US" b="0" baseline="0" dirty="0" smtClean="0"/>
              <a:t>what is the average size of the serving?</a:t>
            </a:r>
          </a:p>
          <a:p>
            <a:pPr>
              <a:buFontTx/>
              <a:buNone/>
            </a:pPr>
            <a:endParaRPr lang="en-US" b="0" dirty="0" smtClean="0"/>
          </a:p>
          <a:p>
            <a:pPr>
              <a:buFontTx/>
              <a:buNone/>
            </a:pPr>
            <a:r>
              <a:rPr lang="en-US" b="0" dirty="0" smtClean="0"/>
              <a:t>Nothing is ever going to be set;</a:t>
            </a:r>
            <a:r>
              <a:rPr lang="en-US" b="0" baseline="0" dirty="0" smtClean="0"/>
              <a:t> averaging will always have to be used.</a:t>
            </a:r>
          </a:p>
          <a:p>
            <a:pPr>
              <a:buFontTx/>
              <a:buNone/>
            </a:pPr>
            <a:r>
              <a:rPr lang="en-US" b="0" baseline="0" dirty="0" smtClean="0"/>
              <a:t>Some things can be controlled more than others</a:t>
            </a:r>
          </a:p>
          <a:p>
            <a:pPr>
              <a:buFontTx/>
              <a:buNone/>
            </a:pPr>
            <a:endParaRPr lang="en-US" b="0" baseline="0" dirty="0" smtClean="0"/>
          </a:p>
          <a:p>
            <a:pPr>
              <a:buFontTx/>
              <a:buNone/>
            </a:pPr>
            <a:r>
              <a:rPr lang="en-US" b="0" baseline="0" dirty="0" smtClean="0"/>
              <a:t>There must be control so it is important to understand where they can be controlled and when is the best time to put these controls in place.</a:t>
            </a: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40587688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When receiving the stock that has been ordered it is important to check that it is what was ordered.</a:t>
            </a:r>
          </a:p>
          <a:p>
            <a:pPr>
              <a:buFontTx/>
              <a:buNone/>
            </a:pPr>
            <a:endParaRPr lang="en-US" b="0" dirty="0" smtClean="0"/>
          </a:p>
          <a:p>
            <a:pPr>
              <a:buFontTx/>
              <a:buNone/>
            </a:pPr>
            <a:r>
              <a:rPr lang="en-US" b="0" dirty="0" smtClean="0"/>
              <a:t>If this is not started here then control has been lost and people will be trying</a:t>
            </a:r>
            <a:r>
              <a:rPr lang="en-US" b="0" baseline="0" dirty="0" smtClean="0"/>
              <a:t> to  present a menu items with ingredients that may not be of the same quality standard previously used.</a:t>
            </a:r>
          </a:p>
          <a:p>
            <a:pPr>
              <a:buFontTx/>
              <a:buNone/>
            </a:pPr>
            <a:endParaRPr lang="en-US" b="0" baseline="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8236334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baseline="0" dirty="0" smtClean="0"/>
              <a:t>Larger establishments will have more control measures in place than smaller premises.</a:t>
            </a:r>
          </a:p>
          <a:p>
            <a:pPr>
              <a:buFontTx/>
              <a:buNone/>
            </a:pPr>
            <a:endParaRPr lang="en-US" b="0" baseline="0" dirty="0" smtClean="0"/>
          </a:p>
          <a:p>
            <a:pPr>
              <a:buFontTx/>
              <a:buNone/>
            </a:pPr>
            <a:r>
              <a:rPr lang="en-US" b="0" baseline="0" dirty="0" smtClean="0"/>
              <a:t>Larger establishments will have a greater risk of theft and pilfering than smaller places</a:t>
            </a:r>
          </a:p>
          <a:p>
            <a:pPr>
              <a:buFontTx/>
              <a:buNone/>
            </a:pPr>
            <a:r>
              <a:rPr lang="en-US" b="0" baseline="0" dirty="0" smtClean="0"/>
              <a:t>Where larger quantities are stored there will be more temptation to take just one and not think it will be missed than in smaller establishments.</a:t>
            </a:r>
          </a:p>
          <a:p>
            <a:pPr>
              <a:buFontTx/>
              <a:buNone/>
            </a:pPr>
            <a:endParaRPr lang="en-US" b="0" baseline="0" dirty="0" smtClean="0"/>
          </a:p>
          <a:p>
            <a:pPr>
              <a:buFontTx/>
              <a:buNone/>
            </a:pPr>
            <a:r>
              <a:rPr lang="en-US" b="0" baseline="0" dirty="0" smtClean="0"/>
              <a:t>Stock control measure will be in place in larger establishments that have multiple kitchens. </a:t>
            </a:r>
          </a:p>
          <a:p>
            <a:pPr>
              <a:buFontTx/>
              <a:buNone/>
            </a:pPr>
            <a:r>
              <a:rPr lang="en-US" b="0" baseline="0" dirty="0" smtClean="0"/>
              <a:t>Internal dockets of stock transfers with  delivery dockets and stock being signed and accepted</a:t>
            </a:r>
          </a:p>
          <a:p>
            <a:pPr>
              <a:buFontTx/>
              <a:buNone/>
            </a:pPr>
            <a:endParaRPr lang="en-US" b="0" baseline="0" dirty="0" smtClean="0"/>
          </a:p>
          <a:p>
            <a:pPr>
              <a:buFontTx/>
              <a:buNone/>
            </a:pPr>
            <a:endParaRPr lang="en-US" b="0" baseline="0" dirty="0" smtClean="0"/>
          </a:p>
          <a:p>
            <a:pPr>
              <a:buFontTx/>
              <a:buNone/>
            </a:pPr>
            <a:endParaRPr lang="en-US" b="0" baseline="0" dirty="0" smtClean="0"/>
          </a:p>
          <a:p>
            <a:pPr>
              <a:buFontTx/>
              <a:buNone/>
            </a:pPr>
            <a:endParaRPr lang="en-US" b="0" baseline="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4789029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baseline="0" dirty="0" smtClean="0"/>
              <a:t>As stock is dispersed around the establishment there needs to be a check on stock usage.</a:t>
            </a:r>
          </a:p>
          <a:p>
            <a:pPr>
              <a:buFontTx/>
              <a:buNone/>
            </a:pPr>
            <a:endParaRPr lang="en-US" b="0" baseline="0" dirty="0" smtClean="0"/>
          </a:p>
          <a:p>
            <a:pPr>
              <a:buFontTx/>
              <a:buNone/>
            </a:pPr>
            <a:r>
              <a:rPr lang="en-US" b="0" baseline="0" dirty="0" smtClean="0"/>
              <a:t>In a perfect world it would all match</a:t>
            </a:r>
          </a:p>
          <a:p>
            <a:pPr>
              <a:buFontTx/>
              <a:buNone/>
            </a:pPr>
            <a:endParaRPr lang="en-US" b="0" baseline="0" dirty="0" smtClean="0"/>
          </a:p>
          <a:p>
            <a:pPr>
              <a:buFontTx/>
              <a:buNone/>
            </a:pPr>
            <a:r>
              <a:rPr lang="en-US" b="0" baseline="0" dirty="0" smtClean="0"/>
              <a:t>Food for 50 serves in: 50 serves out: 50 sales; maximum profit</a:t>
            </a:r>
          </a:p>
          <a:p>
            <a:pPr>
              <a:buFontTx/>
              <a:buNone/>
            </a:pPr>
            <a:endParaRPr lang="en-US" b="0" baseline="0" dirty="0" smtClean="0"/>
          </a:p>
          <a:p>
            <a:pPr>
              <a:buFontTx/>
              <a:buNone/>
            </a:pPr>
            <a:r>
              <a:rPr lang="en-US" b="0" baseline="0" dirty="0" smtClean="0"/>
              <a:t>Where people are involved there will be accidents</a:t>
            </a:r>
          </a:p>
          <a:p>
            <a:pPr>
              <a:buFontTx/>
              <a:buNone/>
            </a:pPr>
            <a:r>
              <a:rPr lang="en-US" b="0" baseline="0" dirty="0" smtClean="0"/>
              <a:t>Where people are involved in portioning there will be less correct serves</a:t>
            </a:r>
          </a:p>
          <a:p>
            <a:pPr>
              <a:buFontTx/>
              <a:buNone/>
            </a:pPr>
            <a:endParaRPr lang="en-US" b="0" baseline="0" dirty="0" smtClean="0"/>
          </a:p>
          <a:p>
            <a:pPr>
              <a:buFontTx/>
              <a:buNone/>
            </a:pPr>
            <a:r>
              <a:rPr lang="en-US" b="0" baseline="0" dirty="0" smtClean="0"/>
              <a:t>20 mils of sauce per person from 1 liter of sauce= 50 serves</a:t>
            </a:r>
          </a:p>
          <a:p>
            <a:pPr>
              <a:buFontTx/>
              <a:buNone/>
            </a:pPr>
            <a:endParaRPr lang="en-US" b="0" baseline="0" dirty="0" smtClean="0"/>
          </a:p>
          <a:p>
            <a:pPr>
              <a:buFontTx/>
              <a:buNone/>
            </a:pPr>
            <a:r>
              <a:rPr lang="en-US" b="0" baseline="0" dirty="0" smtClean="0"/>
              <a:t>Actual number of serves may be as low as 40, average 45 serves would be considered acceptable.</a:t>
            </a:r>
          </a:p>
          <a:p>
            <a:pPr>
              <a:buFontTx/>
              <a:buNone/>
            </a:pPr>
            <a:endParaRPr lang="en-US" b="0" baseline="0" dirty="0" smtClean="0"/>
          </a:p>
          <a:p>
            <a:pPr>
              <a:buFontTx/>
              <a:buNone/>
            </a:pPr>
            <a:r>
              <a:rPr lang="en-US" b="0" baseline="0" dirty="0" smtClean="0"/>
              <a:t>Allow for contingencies  but what is acceptable??</a:t>
            </a:r>
          </a:p>
          <a:p>
            <a:pPr>
              <a:buFontTx/>
              <a:buNone/>
            </a:pPr>
            <a:endParaRPr lang="en-US" b="0" baseline="0" dirty="0" smtClean="0"/>
          </a:p>
          <a:p>
            <a:pPr>
              <a:buFontTx/>
              <a:buNone/>
            </a:pPr>
            <a:r>
              <a:rPr lang="en-US" b="0" baseline="0" dirty="0" smtClean="0"/>
              <a:t>Good management of ordering more than what is required always to allow for extras allows for possibility of excess stock building up.</a:t>
            </a:r>
          </a:p>
          <a:p>
            <a:pPr>
              <a:buFontTx/>
              <a:buNone/>
            </a:pPr>
            <a:endParaRPr lang="en-US" b="0" baseline="0" dirty="0" smtClean="0"/>
          </a:p>
          <a:p>
            <a:pPr>
              <a:buFontTx/>
              <a:buNone/>
            </a:pPr>
            <a:r>
              <a:rPr lang="en-US" b="0" baseline="0" dirty="0" smtClean="0"/>
              <a:t>Small satellite kitchens needs to be cleaned out of all excess stock and sent to area for stock to be used. </a:t>
            </a:r>
          </a:p>
          <a:p>
            <a:pPr>
              <a:buFontTx/>
              <a:buNone/>
            </a:pPr>
            <a:r>
              <a:rPr lang="en-US" b="0" baseline="0" dirty="0" smtClean="0"/>
              <a:t>Normally staff meals section</a:t>
            </a:r>
          </a:p>
          <a:p>
            <a:pPr>
              <a:buFontTx/>
              <a:buNone/>
            </a:pPr>
            <a:endParaRPr lang="en-US" b="0" baseline="0" dirty="0" smtClean="0"/>
          </a:p>
          <a:p>
            <a:pPr>
              <a:buFontTx/>
              <a:buNone/>
            </a:pPr>
            <a:r>
              <a:rPr lang="en-US" b="0" baseline="0" dirty="0" smtClean="0"/>
              <a:t>Breakages and accidents will happen. </a:t>
            </a:r>
          </a:p>
          <a:p>
            <a:pPr>
              <a:buFontTx/>
              <a:buNone/>
            </a:pPr>
            <a:r>
              <a:rPr lang="en-US" b="0" baseline="0" dirty="0" smtClean="0"/>
              <a:t>Sometimes human failings, sometime mechanical failings. </a:t>
            </a:r>
          </a:p>
          <a:p>
            <a:pPr>
              <a:buFontTx/>
              <a:buNone/>
            </a:pPr>
            <a:endParaRPr lang="en-US" b="0" baseline="0" dirty="0" smtClean="0"/>
          </a:p>
          <a:p>
            <a:pPr>
              <a:buFontTx/>
              <a:buNone/>
            </a:pPr>
            <a:endParaRPr lang="en-US" b="0" baseline="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953826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b="1" dirty="0" smtClean="0"/>
          </a:p>
          <a:p>
            <a:pPr>
              <a:buFontTx/>
              <a:buNone/>
            </a:pPr>
            <a:r>
              <a:rPr lang="en-US" b="0" dirty="0" smtClean="0"/>
              <a:t>Production schedules are based around</a:t>
            </a:r>
            <a:r>
              <a:rPr lang="en-US" b="0" baseline="0" dirty="0" smtClean="0"/>
              <a:t> how food needs to be produced to match expected number of sales.</a:t>
            </a:r>
          </a:p>
          <a:p>
            <a:pPr>
              <a:buFontTx/>
              <a:buNone/>
            </a:pPr>
            <a:endParaRPr lang="en-US" b="0" baseline="0" dirty="0" smtClean="0"/>
          </a:p>
          <a:p>
            <a:pPr>
              <a:buFontTx/>
              <a:buNone/>
            </a:pPr>
            <a:r>
              <a:rPr lang="en-US" b="0" baseline="0" dirty="0" smtClean="0"/>
              <a:t>Food production needs time to be allocated depending on the type of food being produced and the processing required to produce said food.</a:t>
            </a:r>
          </a:p>
          <a:p>
            <a:pPr>
              <a:buFontTx/>
              <a:buNone/>
            </a:pPr>
            <a:endParaRPr lang="en-US" b="0" baseline="0" dirty="0" smtClean="0"/>
          </a:p>
          <a:p>
            <a:pPr>
              <a:buFontTx/>
              <a:buNone/>
            </a:pPr>
            <a:r>
              <a:rPr lang="en-US" b="0" baseline="0" dirty="0" smtClean="0"/>
              <a:t>Acquisition of the required stock</a:t>
            </a:r>
          </a:p>
          <a:p>
            <a:pPr>
              <a:buFontTx/>
              <a:buNone/>
            </a:pPr>
            <a:r>
              <a:rPr lang="en-US" b="0" baseline="0" dirty="0" smtClean="0"/>
              <a:t>Preparation of each ingredient; time required for each step in the process</a:t>
            </a:r>
          </a:p>
          <a:p>
            <a:pPr>
              <a:buFontTx/>
              <a:buNone/>
            </a:pPr>
            <a:endParaRPr lang="en-US" b="0" baseline="0" dirty="0" smtClean="0"/>
          </a:p>
          <a:p>
            <a:pPr>
              <a:buFontTx/>
              <a:buNone/>
            </a:pPr>
            <a:r>
              <a:rPr lang="en-US" b="0" baseline="0" dirty="0" smtClean="0"/>
              <a:t>Special equipment that may be required.</a:t>
            </a:r>
          </a:p>
          <a:p>
            <a:pPr>
              <a:buFontTx/>
              <a:buNone/>
            </a:pPr>
            <a:endParaRPr lang="en-US" b="0" baseline="0" dirty="0" smtClean="0"/>
          </a:p>
          <a:p>
            <a:pPr>
              <a:buFontTx/>
              <a:buNone/>
            </a:pPr>
            <a:r>
              <a:rPr lang="en-US" b="0" baseline="0" dirty="0" smtClean="0"/>
              <a:t>Planning production schedules is complex and allowances must be made for when staff do not turn up to work at required time.</a:t>
            </a:r>
          </a:p>
          <a:p>
            <a:pPr>
              <a:buFontTx/>
              <a:buNone/>
            </a:pPr>
            <a:endParaRPr lang="en-US" b="0" baseline="0" dirty="0" smtClean="0"/>
          </a:p>
          <a:p>
            <a:pPr>
              <a:buFontTx/>
              <a:buNone/>
            </a:pPr>
            <a:endParaRPr lang="en-US" b="0" baseline="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64291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3/31/2015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702956"/>
            <a:ext cx="7632176" cy="1285884"/>
          </a:xfrm>
        </p:spPr>
        <p:txBody>
          <a:bodyPr>
            <a:noAutofit/>
          </a:bodyPr>
          <a:lstStyle/>
          <a:p>
            <a:r>
              <a:rPr lang="en-AU" sz="4000" dirty="0" smtClean="0">
                <a:ln w="5000" cmpd="sng">
                  <a:noFill/>
                  <a:prstDash val="solid"/>
                </a:ln>
                <a:solidFill>
                  <a:srgbClr val="FF6600"/>
                </a:solidFill>
                <a:latin typeface="Helvetica" pitchFamily="34" charset="0"/>
              </a:rPr>
              <a:t>PLAN AND MANAGE MENU-BASED CATERING</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220072" y="2276872"/>
            <a:ext cx="3117332" cy="427488"/>
          </a:xfrm>
        </p:spPr>
        <p:txBody>
          <a:bodyPr>
            <a:noAutofit/>
          </a:bodyPr>
          <a:lstStyle/>
          <a:p>
            <a:r>
              <a:rPr lang="en-AU" sz="2400" b="1" dirty="0" smtClean="0">
                <a:latin typeface="Helvetica" pitchFamily="34" charset="0"/>
              </a:rPr>
              <a:t>D1.HCC.CL2.06</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7" name="Picture 6" descr="C:\Documents and Settings\danielc\Local Settings\Temporary Internet Files\Content.IE5\UMECW9PM\MP900431830[1].jpg"/>
          <p:cNvPicPr/>
          <p:nvPr/>
        </p:nvPicPr>
        <p:blipFill>
          <a:blip r:embed="rId3" cstate="print"/>
          <a:srcRect/>
          <a:stretch>
            <a:fillRect/>
          </a:stretch>
        </p:blipFill>
        <p:spPr bwMode="auto">
          <a:xfrm>
            <a:off x="1643042" y="3000372"/>
            <a:ext cx="5214974" cy="30003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Assessment for this Unit may include:</a:t>
            </a:r>
          </a:p>
          <a:p>
            <a:pPr>
              <a:spcBef>
                <a:spcPts val="600"/>
              </a:spcBef>
              <a:spcAft>
                <a:spcPts val="1200"/>
              </a:spcAft>
            </a:pPr>
            <a:r>
              <a:rPr lang="en-US" sz="2200" dirty="0" smtClean="0">
                <a:latin typeface="Helvetica" pitchFamily="34" charset="0"/>
              </a:rPr>
              <a:t>Oral questions</a:t>
            </a:r>
          </a:p>
          <a:p>
            <a:pPr>
              <a:spcBef>
                <a:spcPts val="600"/>
              </a:spcBef>
              <a:spcAft>
                <a:spcPts val="1200"/>
              </a:spcAft>
            </a:pPr>
            <a:r>
              <a:rPr lang="en-US" sz="2200" dirty="0" smtClean="0">
                <a:latin typeface="Helvetica" pitchFamily="34" charset="0"/>
              </a:rPr>
              <a:t>Written questions</a:t>
            </a:r>
          </a:p>
          <a:p>
            <a:pPr>
              <a:spcBef>
                <a:spcPts val="600"/>
              </a:spcBef>
              <a:spcAft>
                <a:spcPts val="1200"/>
              </a:spcAft>
            </a:pPr>
            <a:r>
              <a:rPr lang="en-US" sz="2200" dirty="0" smtClean="0">
                <a:latin typeface="Helvetica" pitchFamily="34" charset="0"/>
              </a:rPr>
              <a:t>Work projects</a:t>
            </a:r>
          </a:p>
          <a:p>
            <a:pPr>
              <a:spcBef>
                <a:spcPts val="600"/>
              </a:spcBef>
              <a:spcAft>
                <a:spcPts val="1200"/>
              </a:spcAft>
            </a:pPr>
            <a:r>
              <a:rPr lang="en-US" sz="2200" dirty="0" smtClean="0">
                <a:latin typeface="Helvetica" pitchFamily="34" charset="0"/>
              </a:rPr>
              <a:t>Workplace observation of practical skills</a:t>
            </a:r>
          </a:p>
          <a:p>
            <a:pPr>
              <a:spcBef>
                <a:spcPts val="600"/>
              </a:spcBef>
              <a:spcAft>
                <a:spcPts val="1200"/>
              </a:spcAft>
            </a:pPr>
            <a:r>
              <a:rPr lang="en-US" sz="2200" dirty="0" smtClean="0">
                <a:latin typeface="Helvetica" pitchFamily="34" charset="0"/>
              </a:rPr>
              <a:t>Practical exercises</a:t>
            </a:r>
          </a:p>
          <a:p>
            <a:pPr>
              <a:spcBef>
                <a:spcPts val="600"/>
              </a:spcBef>
              <a:spcAft>
                <a:spcPts val="1200"/>
              </a:spcAft>
            </a:pPr>
            <a:r>
              <a:rPr lang="en-US" sz="2200" dirty="0" smtClean="0">
                <a:latin typeface="Helvetica" pitchFamily="34" charset="0"/>
              </a:rPr>
              <a:t>Formal report from employer/supervisor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6" name="Picture 2" descr="C:\Documents and Settings\PhongLan\Local Settings\Temporary Internet Files\Content.IE5\D4C0BBXF\MP900431095[1].jpg"/>
          <p:cNvPicPr>
            <a:picLocks noChangeAspect="1" noChangeArrowheads="1"/>
          </p:cNvPicPr>
          <p:nvPr/>
        </p:nvPicPr>
        <p:blipFill>
          <a:blip r:embed="rId3" cstate="print"/>
          <a:srcRect/>
          <a:stretch>
            <a:fillRect/>
          </a:stretch>
        </p:blipFill>
        <p:spPr bwMode="auto">
          <a:xfrm>
            <a:off x="6500826" y="2357430"/>
            <a:ext cx="1615308" cy="24288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This unit comprises two elements:</a:t>
            </a:r>
          </a:p>
          <a:p>
            <a:pPr marL="457200" indent="-457200">
              <a:spcBef>
                <a:spcPts val="600"/>
              </a:spcBef>
              <a:spcAft>
                <a:spcPts val="1200"/>
              </a:spcAft>
              <a:buFont typeface="+mj-lt"/>
              <a:buAutoNum type="arabicPeriod"/>
            </a:pPr>
            <a:r>
              <a:rPr lang="en-US" sz="2200" dirty="0" smtClean="0">
                <a:latin typeface="Helvetica" pitchFamily="34" charset="0"/>
              </a:rPr>
              <a:t>Plan and write menus</a:t>
            </a:r>
          </a:p>
          <a:p>
            <a:pPr marL="457200" indent="-457200">
              <a:spcBef>
                <a:spcPts val="600"/>
              </a:spcBef>
              <a:spcAft>
                <a:spcPts val="1200"/>
              </a:spcAft>
              <a:buFont typeface="+mj-lt"/>
              <a:buAutoNum type="arabicPeriod"/>
            </a:pPr>
            <a:r>
              <a:rPr lang="en-US" sz="2200" dirty="0" smtClean="0">
                <a:latin typeface="Helvetica" pitchFamily="34" charset="0"/>
              </a:rPr>
              <a:t>Manage menu based catering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2" descr="C:\Documents and Settings\Godaishu\Desktop\PHOTOS\2012\review.jpg"/>
          <p:cNvPicPr>
            <a:picLocks noChangeAspect="1" noChangeArrowheads="1"/>
          </p:cNvPicPr>
          <p:nvPr/>
        </p:nvPicPr>
        <p:blipFill>
          <a:blip r:embed="rId3" cstate="print"/>
          <a:srcRect/>
          <a:stretch>
            <a:fillRect/>
          </a:stretch>
        </p:blipFill>
        <p:spPr bwMode="auto">
          <a:xfrm>
            <a:off x="6172199" y="2133600"/>
            <a:ext cx="1757665" cy="17526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Element 1: Plan and write menus</a:t>
            </a:r>
          </a:p>
          <a:p>
            <a:pPr marL="420624" lvl="1" indent="-384048">
              <a:spcBef>
                <a:spcPts val="600"/>
              </a:spcBef>
              <a:spcAft>
                <a:spcPts val="1200"/>
              </a:spcAft>
              <a:buSzPct val="80000"/>
              <a:buFont typeface="Wingdings 2"/>
              <a:buChar char=""/>
            </a:pPr>
            <a:r>
              <a:rPr lang="en-AU" sz="2200" dirty="0" smtClean="0"/>
              <a:t>Establish the enterprise and/or clients requirements for menu/s </a:t>
            </a:r>
          </a:p>
          <a:p>
            <a:pPr marL="420624" lvl="1" indent="-384048">
              <a:spcBef>
                <a:spcPts val="600"/>
              </a:spcBef>
              <a:spcAft>
                <a:spcPts val="1200"/>
              </a:spcAft>
              <a:buSzPct val="80000"/>
              <a:buFont typeface="Wingdings 2"/>
              <a:buChar char=""/>
            </a:pPr>
            <a:r>
              <a:rPr lang="en-AU" sz="2200" dirty="0" smtClean="0"/>
              <a:t>Write menus for enterprise operations </a:t>
            </a:r>
          </a:p>
          <a:p>
            <a:pPr marL="420624" lvl="1" indent="-384048">
              <a:spcBef>
                <a:spcPts val="600"/>
              </a:spcBef>
              <a:spcAft>
                <a:spcPts val="1200"/>
              </a:spcAft>
              <a:buSzPct val="80000"/>
              <a:buFont typeface="Wingdings 2"/>
              <a:buChar char=""/>
            </a:pPr>
            <a:r>
              <a:rPr lang="en-AU" sz="2200" dirty="0" smtClean="0"/>
              <a:t>Write menu ensuring menu balance </a:t>
            </a:r>
          </a:p>
          <a:p>
            <a:pPr marL="420624" lvl="1" indent="-384048">
              <a:spcBef>
                <a:spcPts val="600"/>
              </a:spcBef>
              <a:spcAft>
                <a:spcPts val="1200"/>
              </a:spcAft>
              <a:buSzPct val="80000"/>
              <a:buFont typeface="Wingdings 2"/>
              <a:buChar char=""/>
            </a:pPr>
            <a:r>
              <a:rPr lang="en-AU" sz="2200" dirty="0" smtClean="0"/>
              <a:t>Prepare menu costing</a:t>
            </a:r>
          </a:p>
          <a:p>
            <a:pPr marL="420624" lvl="1" indent="-384048">
              <a:spcBef>
                <a:spcPts val="600"/>
              </a:spcBef>
              <a:spcAft>
                <a:spcPts val="1200"/>
              </a:spcAft>
              <a:buSzPct val="80000"/>
              <a:buFont typeface="Wingdings 2"/>
              <a:buChar char=""/>
            </a:pPr>
            <a:r>
              <a:rPr lang="en-AU" sz="2200" dirty="0" smtClean="0"/>
              <a:t>Produce finished/final menu </a:t>
            </a: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071670" y="2500306"/>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857884" y="300037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643570" y="3571876"/>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929058" y="414338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643438" y="4714884"/>
            <a:ext cx="399154" cy="527046"/>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Establish the enterprise and/or the clients requirements for menus:</a:t>
            </a:r>
          </a:p>
          <a:p>
            <a:pPr marL="420624" lvl="1" indent="-384048">
              <a:spcBef>
                <a:spcPts val="600"/>
              </a:spcBef>
              <a:spcAft>
                <a:spcPts val="1200"/>
              </a:spcAft>
              <a:buSzPct val="80000"/>
              <a:buFont typeface="Wingdings 2"/>
              <a:buChar char=""/>
            </a:pPr>
            <a:r>
              <a:rPr lang="en-US" sz="2200" dirty="0" smtClean="0"/>
              <a:t>Fine Dining: A la Carte</a:t>
            </a:r>
          </a:p>
          <a:p>
            <a:pPr marL="420624" lvl="1" indent="-384048">
              <a:spcBef>
                <a:spcPts val="600"/>
              </a:spcBef>
              <a:spcAft>
                <a:spcPts val="1200"/>
              </a:spcAft>
              <a:buSzPct val="80000"/>
              <a:buFont typeface="Wingdings 2"/>
              <a:buChar char=""/>
            </a:pPr>
            <a:r>
              <a:rPr lang="en-US" sz="2200" dirty="0" smtClean="0"/>
              <a:t>Function house</a:t>
            </a:r>
          </a:p>
          <a:p>
            <a:pPr marL="420624" lvl="1" indent="-384048">
              <a:spcBef>
                <a:spcPts val="600"/>
              </a:spcBef>
              <a:spcAft>
                <a:spcPts val="1200"/>
              </a:spcAft>
              <a:buSzPct val="80000"/>
              <a:buFont typeface="Wingdings 2"/>
              <a:buChar char=""/>
            </a:pPr>
            <a:r>
              <a:rPr lang="en-US" sz="2200" dirty="0" smtClean="0"/>
              <a:t>Street cafe</a:t>
            </a:r>
          </a:p>
          <a:p>
            <a:pPr marL="420624" lvl="1" indent="-384048">
              <a:spcBef>
                <a:spcPts val="600"/>
              </a:spcBef>
              <a:spcAft>
                <a:spcPts val="1200"/>
              </a:spcAft>
              <a:buSzPct val="80000"/>
              <a:buFont typeface="Wingdings 2"/>
              <a:buChar char=""/>
            </a:pPr>
            <a:r>
              <a:rPr lang="en-US" sz="2200" dirty="0" smtClean="0"/>
              <a:t>Child care centre</a:t>
            </a:r>
          </a:p>
          <a:p>
            <a:pPr marL="420624" lvl="1" indent="-384048">
              <a:spcBef>
                <a:spcPts val="600"/>
              </a:spcBef>
              <a:spcAft>
                <a:spcPts val="1200"/>
              </a:spcAft>
              <a:buSzPct val="80000"/>
              <a:buFont typeface="Wingdings 2"/>
              <a:buChar char=""/>
            </a:pPr>
            <a:r>
              <a:rPr lang="en-US" sz="2200" dirty="0" smtClean="0"/>
              <a:t>Hospital Catering</a:t>
            </a: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C:\Documents and Settings\danielc\Desktop\12205_PlanningMenu_.jpg"/>
          <p:cNvPicPr/>
          <p:nvPr/>
        </p:nvPicPr>
        <p:blipFill>
          <a:blip r:embed="rId3" cstate="print">
            <a:duotone>
              <a:schemeClr val="accent4">
                <a:shade val="45000"/>
                <a:satMod val="135000"/>
              </a:schemeClr>
              <a:prstClr val="white"/>
            </a:duotone>
          </a:blip>
          <a:srcRect l="24493" r="24940"/>
          <a:stretch>
            <a:fillRect/>
          </a:stretch>
        </p:blipFill>
        <p:spPr bwMode="auto">
          <a:xfrm>
            <a:off x="5286380" y="2357430"/>
            <a:ext cx="1962150" cy="2826327"/>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Write menus for enterprise operations</a:t>
            </a:r>
          </a:p>
          <a:p>
            <a:pPr marL="420624" lvl="1" indent="-384048">
              <a:spcBef>
                <a:spcPts val="600"/>
              </a:spcBef>
              <a:spcAft>
                <a:spcPts val="1200"/>
              </a:spcAft>
              <a:buSzPct val="80000"/>
              <a:buFont typeface="Wingdings 2"/>
              <a:buChar char=""/>
            </a:pPr>
            <a:r>
              <a:rPr lang="en-US" sz="2200" dirty="0" smtClean="0"/>
              <a:t>Café - all day menu</a:t>
            </a:r>
          </a:p>
          <a:p>
            <a:pPr marL="420624" lvl="1" indent="-384048">
              <a:spcBef>
                <a:spcPts val="600"/>
              </a:spcBef>
              <a:spcAft>
                <a:spcPts val="1200"/>
              </a:spcAft>
              <a:buSzPct val="80000"/>
              <a:buFont typeface="Wingdings 2"/>
              <a:buChar char=""/>
            </a:pPr>
            <a:r>
              <a:rPr lang="en-US" sz="2200" dirty="0" smtClean="0"/>
              <a:t>A la carte -	fine dining</a:t>
            </a:r>
          </a:p>
          <a:p>
            <a:pPr marL="420624" lvl="1" indent="-384048">
              <a:spcBef>
                <a:spcPts val="600"/>
              </a:spcBef>
              <a:spcAft>
                <a:spcPts val="1200"/>
              </a:spcAft>
              <a:buSzPct val="80000"/>
              <a:buFont typeface="Wingdings 2"/>
              <a:buChar char=""/>
            </a:pPr>
            <a:r>
              <a:rPr lang="en-US" sz="2200" dirty="0" smtClean="0"/>
              <a:t>Set menu	</a:t>
            </a:r>
          </a:p>
          <a:p>
            <a:pPr marL="420624" lvl="1" indent="-384048">
              <a:spcBef>
                <a:spcPts val="600"/>
              </a:spcBef>
              <a:spcAft>
                <a:spcPts val="1200"/>
              </a:spcAft>
              <a:buSzPct val="80000"/>
              <a:buFont typeface="Wingdings 2"/>
              <a:buChar char=""/>
            </a:pPr>
            <a:r>
              <a:rPr lang="en-US" sz="2200" dirty="0" smtClean="0"/>
              <a:t>Function menu</a:t>
            </a:r>
          </a:p>
          <a:p>
            <a:pPr marL="457200" indent="-45720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None/>
            </a:pPr>
            <a:endParaRPr lang="en-US" sz="2200" b="1" dirty="0" smtClean="0">
              <a:latin typeface="Helvetica" pitchFamily="34" charset="0"/>
            </a:endParaRPr>
          </a:p>
          <a:p>
            <a:pPr marL="457200" indent="-4572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C:\Documents and Settings\Godaishu\Desktop\Thurs-3-Course-Set-Menu.jpg"/>
          <p:cNvPicPr/>
          <p:nvPr/>
        </p:nvPicPr>
        <p:blipFill>
          <a:blip r:embed="rId3" cstate="print">
            <a:grayscl/>
          </a:blip>
          <a:srcRect l="13365" t="15385" r="10987" b="11312"/>
          <a:stretch>
            <a:fillRect/>
          </a:stretch>
        </p:blipFill>
        <p:spPr bwMode="auto">
          <a:xfrm>
            <a:off x="5929322" y="2143116"/>
            <a:ext cx="1586306" cy="214314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Write menu ensuring menu balance</a:t>
            </a:r>
          </a:p>
          <a:p>
            <a:pPr marL="420624" lvl="1" indent="-384048">
              <a:spcBef>
                <a:spcPts val="600"/>
              </a:spcBef>
              <a:spcAft>
                <a:spcPts val="1200"/>
              </a:spcAft>
              <a:buSzPct val="80000"/>
              <a:buFont typeface="Wingdings 2"/>
              <a:buChar char=""/>
            </a:pPr>
            <a:r>
              <a:rPr lang="en-US" sz="2200" dirty="0" smtClean="0"/>
              <a:t>Choice of ingredients</a:t>
            </a:r>
          </a:p>
          <a:p>
            <a:pPr marL="420624" lvl="1" indent="-384048">
              <a:spcBef>
                <a:spcPts val="600"/>
              </a:spcBef>
              <a:spcAft>
                <a:spcPts val="1200"/>
              </a:spcAft>
              <a:buSzPct val="80000"/>
              <a:buFont typeface="Wingdings 2"/>
              <a:buChar char=""/>
            </a:pPr>
            <a:r>
              <a:rPr lang="en-US" sz="2200" dirty="0" smtClean="0"/>
              <a:t>Balance of styles</a:t>
            </a:r>
          </a:p>
          <a:p>
            <a:pPr marL="420624" lvl="1" indent="-384048">
              <a:spcBef>
                <a:spcPts val="600"/>
              </a:spcBef>
              <a:spcAft>
                <a:spcPts val="1200"/>
              </a:spcAft>
              <a:buSzPct val="80000"/>
              <a:buFont typeface="Wingdings 2"/>
              <a:buChar char=""/>
            </a:pPr>
            <a:r>
              <a:rPr lang="en-US" sz="2200" dirty="0" smtClean="0"/>
              <a:t>Traditional styles</a:t>
            </a:r>
          </a:p>
          <a:p>
            <a:pPr marL="420624" lvl="1" indent="-384048">
              <a:spcBef>
                <a:spcPts val="600"/>
              </a:spcBef>
              <a:spcAft>
                <a:spcPts val="1200"/>
              </a:spcAft>
              <a:buSzPct val="80000"/>
              <a:buFont typeface="Wingdings 2"/>
              <a:buChar char=""/>
            </a:pPr>
            <a:r>
              <a:rPr lang="en-US" sz="2200" dirty="0" smtClean="0"/>
              <a:t>Contemporary</a:t>
            </a:r>
          </a:p>
          <a:p>
            <a:pPr marL="420624" lvl="1" indent="-384048">
              <a:spcBef>
                <a:spcPts val="600"/>
              </a:spcBef>
              <a:spcAft>
                <a:spcPts val="1200"/>
              </a:spcAft>
              <a:buSzPct val="80000"/>
              <a:buFont typeface="Wingdings 2"/>
              <a:buChar char=""/>
            </a:pPr>
            <a:r>
              <a:rPr lang="en-US" sz="2200" dirty="0" smtClean="0"/>
              <a:t>Variety of taste</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C:\Documents and Settings\Godaishu\Desktop\PHOTOS\Culinary 2012\Present food2.jpg"/>
          <p:cNvPicPr/>
          <p:nvPr/>
        </p:nvPicPr>
        <p:blipFill>
          <a:blip r:embed="rId3" cstate="print"/>
          <a:srcRect/>
          <a:stretch>
            <a:fillRect/>
          </a:stretch>
        </p:blipFill>
        <p:spPr bwMode="auto">
          <a:xfrm>
            <a:off x="5580077" y="2214554"/>
            <a:ext cx="1697465" cy="2428892"/>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Write menu ensuring menu balance</a:t>
            </a:r>
          </a:p>
          <a:p>
            <a:pPr marL="0" indent="0">
              <a:spcBef>
                <a:spcPts val="600"/>
              </a:spcBef>
              <a:spcAft>
                <a:spcPts val="1200"/>
              </a:spcAft>
              <a:buNone/>
            </a:pPr>
            <a:r>
              <a:rPr lang="en-US" sz="2200" dirty="0" smtClean="0">
                <a:latin typeface="Helvetica" pitchFamily="34" charset="0"/>
              </a:rPr>
              <a:t>Student Activity: Students are to write a menu</a:t>
            </a:r>
          </a:p>
          <a:p>
            <a:pPr marL="420624" lvl="1" indent="-384048">
              <a:spcBef>
                <a:spcPts val="600"/>
              </a:spcBef>
              <a:spcAft>
                <a:spcPts val="1200"/>
              </a:spcAft>
              <a:buSzPct val="80000"/>
              <a:buFont typeface="Wingdings 2"/>
              <a:buChar char=""/>
            </a:pPr>
            <a:r>
              <a:rPr lang="en-US" sz="2200" dirty="0" smtClean="0"/>
              <a:t>3 entrées</a:t>
            </a:r>
          </a:p>
          <a:p>
            <a:pPr marL="420624" lvl="1" indent="-384048">
              <a:spcBef>
                <a:spcPts val="600"/>
              </a:spcBef>
              <a:spcAft>
                <a:spcPts val="1200"/>
              </a:spcAft>
              <a:buSzPct val="80000"/>
              <a:buFont typeface="Wingdings 2"/>
              <a:buChar char=""/>
            </a:pPr>
            <a:r>
              <a:rPr lang="en-US" sz="2200" dirty="0" smtClean="0"/>
              <a:t>4 main courses</a:t>
            </a:r>
          </a:p>
          <a:p>
            <a:pPr lvl="1">
              <a:spcBef>
                <a:spcPts val="600"/>
              </a:spcBef>
              <a:spcAft>
                <a:spcPts val="1200"/>
              </a:spcAft>
              <a:buSzPct val="100000"/>
              <a:buFont typeface="Arial" pitchFamily="34" charset="0"/>
              <a:buChar char="•"/>
            </a:pPr>
            <a:r>
              <a:rPr lang="en-US" sz="2200" dirty="0" smtClean="0"/>
              <a:t>1 vegetarian; 1 red meat;1 poultry;1 seafood</a:t>
            </a:r>
          </a:p>
          <a:p>
            <a:pPr marL="420624" lvl="1" indent="-384048">
              <a:spcBef>
                <a:spcPts val="600"/>
              </a:spcBef>
              <a:spcAft>
                <a:spcPts val="1200"/>
              </a:spcAft>
              <a:buSzPct val="80000"/>
              <a:buFont typeface="Wingdings 2"/>
              <a:buChar char=""/>
            </a:pPr>
            <a:r>
              <a:rPr lang="en-US" sz="2200" dirty="0" smtClean="0"/>
              <a:t>3 desserts</a:t>
            </a:r>
          </a:p>
          <a:p>
            <a:pPr marL="0" indent="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1026" name="Picture 2" descr="C:\Documents and Settings\Godaishu\Desktop\PHOTOS\2012\Culinary 2012\Learning training.jpg"/>
          <p:cNvPicPr>
            <a:picLocks noChangeAspect="1" noChangeArrowheads="1"/>
          </p:cNvPicPr>
          <p:nvPr/>
        </p:nvPicPr>
        <p:blipFill>
          <a:blip r:embed="rId3" cstate="print"/>
          <a:srcRect t="8318" b="8503"/>
          <a:stretch>
            <a:fillRect/>
          </a:stretch>
        </p:blipFill>
        <p:spPr bwMode="auto">
          <a:xfrm>
            <a:off x="6143636" y="2428868"/>
            <a:ext cx="2260420" cy="142876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Prepare menu costing</a:t>
            </a:r>
          </a:p>
          <a:p>
            <a:pPr marL="420624" lvl="1" indent="-384048">
              <a:spcBef>
                <a:spcPts val="600"/>
              </a:spcBef>
              <a:spcAft>
                <a:spcPts val="1200"/>
              </a:spcAft>
              <a:buSzPct val="80000"/>
              <a:buFont typeface="Wingdings 2"/>
              <a:buChar char=""/>
            </a:pPr>
            <a:r>
              <a:rPr lang="en-US" sz="2200" dirty="0" smtClean="0"/>
              <a:t>Ingredient cost</a:t>
            </a:r>
          </a:p>
          <a:p>
            <a:pPr marL="420624" lvl="1" indent="-384048">
              <a:spcBef>
                <a:spcPts val="600"/>
              </a:spcBef>
              <a:spcAft>
                <a:spcPts val="1200"/>
              </a:spcAft>
              <a:buSzPct val="80000"/>
              <a:buFont typeface="Wingdings 2"/>
              <a:buChar char=""/>
            </a:pPr>
            <a:r>
              <a:rPr lang="en-US" sz="2200" dirty="0" err="1" smtClean="0"/>
              <a:t>Labour</a:t>
            </a:r>
            <a:r>
              <a:rPr lang="en-US" sz="2200" dirty="0" smtClean="0"/>
              <a:t> Cost: how long does it take to produce the menu elements</a:t>
            </a:r>
          </a:p>
          <a:p>
            <a:pPr marL="420624" lvl="1" indent="-384048">
              <a:spcBef>
                <a:spcPts val="600"/>
              </a:spcBef>
              <a:spcAft>
                <a:spcPts val="1200"/>
              </a:spcAft>
              <a:buSzPct val="80000"/>
              <a:buFont typeface="Wingdings 2"/>
              <a:buChar char=""/>
            </a:pPr>
            <a:r>
              <a:rPr lang="en-US" sz="2200" dirty="0" smtClean="0"/>
              <a:t>Profit Margins</a:t>
            </a:r>
          </a:p>
          <a:p>
            <a:pPr marL="420624" lvl="1" indent="-384048">
              <a:spcBef>
                <a:spcPts val="600"/>
              </a:spcBef>
              <a:spcAft>
                <a:spcPts val="1200"/>
              </a:spcAft>
              <a:buSzPct val="80000"/>
              <a:buFont typeface="Wingdings 2"/>
              <a:buChar char=""/>
            </a:pPr>
            <a:r>
              <a:rPr lang="en-US" sz="2200" dirty="0" smtClean="0"/>
              <a:t>Capital Equipment cost</a:t>
            </a: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2050" name="Picture 2" descr="C:\Documents and Settings\Godaishu\Desktop\PHOTOS\2012\Culinary 2012\shutterstock_91951028.jpg"/>
          <p:cNvPicPr>
            <a:picLocks noChangeAspect="1" noChangeArrowheads="1"/>
          </p:cNvPicPr>
          <p:nvPr/>
        </p:nvPicPr>
        <p:blipFill>
          <a:blip r:embed="rId3" cstate="print"/>
          <a:srcRect/>
          <a:stretch>
            <a:fillRect/>
          </a:stretch>
        </p:blipFill>
        <p:spPr bwMode="auto">
          <a:xfrm>
            <a:off x="5548298" y="3341773"/>
            <a:ext cx="2095536" cy="1398114"/>
          </a:xfrm>
          <a:prstGeom prst="rect">
            <a:avLst/>
          </a:prstGeom>
          <a:noFill/>
        </p:spPr>
      </p:pic>
      <p:pic>
        <p:nvPicPr>
          <p:cNvPr id="2051" name="Picture 3" descr="C:\Documents and Settings\Godaishu\Local Settings\Temporary Internet Files\Content.IE5\AIDHLZ6J\MP900430811[1].jpg"/>
          <p:cNvPicPr>
            <a:picLocks noChangeAspect="1" noChangeArrowheads="1"/>
          </p:cNvPicPr>
          <p:nvPr/>
        </p:nvPicPr>
        <p:blipFill>
          <a:blip r:embed="rId4" cstate="print"/>
          <a:srcRect l="38049" t="44792" r="5384" b="8333"/>
          <a:stretch>
            <a:fillRect/>
          </a:stretch>
        </p:blipFill>
        <p:spPr bwMode="auto">
          <a:xfrm>
            <a:off x="4214810" y="4714884"/>
            <a:ext cx="1805000" cy="1144014"/>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Ingredient cost: Garlic Prawns for 10 persons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457200" indent="-457200">
              <a:spcBef>
                <a:spcPts val="600"/>
              </a:spcBef>
              <a:spcAft>
                <a:spcPts val="1200"/>
              </a:spcAft>
              <a:buFont typeface="+mj-lt"/>
              <a:buAutoNum type="arabicPeriod"/>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graphicFrame>
        <p:nvGraphicFramePr>
          <p:cNvPr id="5" name="Table 4"/>
          <p:cNvGraphicFramePr>
            <a:graphicFrameLocks noGrp="1"/>
          </p:cNvGraphicFramePr>
          <p:nvPr/>
        </p:nvGraphicFramePr>
        <p:xfrm>
          <a:off x="827584" y="2060848"/>
          <a:ext cx="6912767" cy="3114040"/>
        </p:xfrm>
        <a:graphic>
          <a:graphicData uri="http://schemas.openxmlformats.org/drawingml/2006/table">
            <a:tbl>
              <a:tblPr firstRow="1" bandRow="1">
                <a:tableStyleId>{5C22544A-7EE6-4342-B048-85BDC9FD1C3A}</a:tableStyleId>
              </a:tblPr>
              <a:tblGrid>
                <a:gridCol w="2939614"/>
                <a:gridCol w="1469806"/>
                <a:gridCol w="1102356"/>
                <a:gridCol w="1400991"/>
              </a:tblGrid>
              <a:tr h="370840">
                <a:tc>
                  <a:txBody>
                    <a:bodyPr/>
                    <a:lstStyle/>
                    <a:p>
                      <a:r>
                        <a:rPr lang="en-AU" sz="1400" dirty="0" smtClean="0">
                          <a:latin typeface="Helvetica" pitchFamily="34" charset="0"/>
                        </a:rPr>
                        <a:t>Ingredient</a:t>
                      </a:r>
                      <a:endParaRPr lang="en-AU" sz="1400" dirty="0">
                        <a:latin typeface="Helvetica" pitchFamily="34" charset="0"/>
                      </a:endParaRPr>
                    </a:p>
                  </a:txBody>
                  <a:tcPr/>
                </a:tc>
                <a:tc>
                  <a:txBody>
                    <a:bodyPr/>
                    <a:lstStyle/>
                    <a:p>
                      <a:r>
                        <a:rPr lang="en-AU" sz="1400" dirty="0" smtClean="0">
                          <a:latin typeface="Helvetica" pitchFamily="34" charset="0"/>
                        </a:rPr>
                        <a:t>Weight</a:t>
                      </a:r>
                      <a:endParaRPr lang="en-AU" sz="1400" dirty="0">
                        <a:latin typeface="Helvetica" pitchFamily="34" charset="0"/>
                      </a:endParaRPr>
                    </a:p>
                  </a:txBody>
                  <a:tcPr/>
                </a:tc>
                <a:tc>
                  <a:txBody>
                    <a:bodyPr/>
                    <a:lstStyle/>
                    <a:p>
                      <a:r>
                        <a:rPr lang="en-AU" sz="1400" dirty="0" smtClean="0">
                          <a:latin typeface="Helvetica" pitchFamily="34" charset="0"/>
                        </a:rPr>
                        <a:t>Cost</a:t>
                      </a:r>
                      <a:br>
                        <a:rPr lang="en-AU" sz="1400" dirty="0" smtClean="0">
                          <a:latin typeface="Helvetica" pitchFamily="34" charset="0"/>
                        </a:rPr>
                      </a:br>
                      <a:r>
                        <a:rPr lang="en-AU" sz="1400" dirty="0" smtClean="0">
                          <a:latin typeface="Helvetica" pitchFamily="34" charset="0"/>
                        </a:rPr>
                        <a:t>unit</a:t>
                      </a:r>
                      <a:endParaRPr lang="en-AU" sz="1400" dirty="0">
                        <a:latin typeface="Helvetica" pitchFamily="34" charset="0"/>
                      </a:endParaRPr>
                    </a:p>
                  </a:txBody>
                  <a:tcPr/>
                </a:tc>
                <a:tc>
                  <a:txBody>
                    <a:bodyPr/>
                    <a:lstStyle/>
                    <a:p>
                      <a:r>
                        <a:rPr lang="en-AU" sz="1400" dirty="0" smtClean="0">
                          <a:latin typeface="Helvetica" pitchFamily="34" charset="0"/>
                        </a:rPr>
                        <a:t>Cost </a:t>
                      </a:r>
                      <a:br>
                        <a:rPr lang="en-AU" sz="1400" dirty="0" smtClean="0">
                          <a:latin typeface="Helvetica" pitchFamily="34" charset="0"/>
                        </a:rPr>
                      </a:br>
                      <a:r>
                        <a:rPr lang="en-AU" sz="1400" dirty="0" smtClean="0">
                          <a:latin typeface="Helvetica" pitchFamily="34" charset="0"/>
                        </a:rPr>
                        <a:t>Amount</a:t>
                      </a:r>
                      <a:r>
                        <a:rPr lang="en-AU" sz="1400" baseline="0" dirty="0" smtClean="0">
                          <a:latin typeface="Helvetica" pitchFamily="34" charset="0"/>
                        </a:rPr>
                        <a:t> Used</a:t>
                      </a:r>
                      <a:endParaRPr lang="en-AU" sz="1400" dirty="0">
                        <a:latin typeface="Helvetica" pitchFamily="34" charset="0"/>
                      </a:endParaRPr>
                    </a:p>
                  </a:txBody>
                  <a:tcPr/>
                </a:tc>
              </a:tr>
              <a:tr h="370840">
                <a:tc>
                  <a:txBody>
                    <a:bodyPr/>
                    <a:lstStyle/>
                    <a:p>
                      <a:r>
                        <a:rPr lang="en-AU" sz="1400" dirty="0" smtClean="0">
                          <a:latin typeface="Helvetica" pitchFamily="34" charset="0"/>
                        </a:rPr>
                        <a:t>Prawn</a:t>
                      </a:r>
                      <a:endParaRPr lang="en-AU" sz="1400" dirty="0">
                        <a:latin typeface="Helvetica" pitchFamily="34" charset="0"/>
                      </a:endParaRPr>
                    </a:p>
                  </a:txBody>
                  <a:tcPr/>
                </a:tc>
                <a:tc>
                  <a:txBody>
                    <a:bodyPr/>
                    <a:lstStyle/>
                    <a:p>
                      <a:r>
                        <a:rPr lang="en-AU" sz="1400" dirty="0" smtClean="0">
                          <a:latin typeface="Helvetica" pitchFamily="34" charset="0"/>
                        </a:rPr>
                        <a:t>800gm</a:t>
                      </a:r>
                      <a:endParaRPr lang="en-AU" sz="1400" dirty="0">
                        <a:latin typeface="Helvetica" pitchFamily="34" charset="0"/>
                      </a:endParaRPr>
                    </a:p>
                  </a:txBody>
                  <a:tcPr/>
                </a:tc>
                <a:tc>
                  <a:txBody>
                    <a:bodyPr/>
                    <a:lstStyle/>
                    <a:p>
                      <a:r>
                        <a:rPr lang="en-AU" sz="1400" dirty="0" smtClean="0">
                          <a:latin typeface="Helvetica" pitchFamily="34" charset="0"/>
                        </a:rPr>
                        <a:t>$25 kg</a:t>
                      </a:r>
                      <a:endParaRPr lang="en-AU" sz="1400" dirty="0">
                        <a:latin typeface="Helvetica" pitchFamily="34" charset="0"/>
                      </a:endParaRPr>
                    </a:p>
                  </a:txBody>
                  <a:tcPr/>
                </a:tc>
                <a:tc>
                  <a:txBody>
                    <a:bodyPr/>
                    <a:lstStyle/>
                    <a:p>
                      <a:r>
                        <a:rPr lang="en-AU" sz="1400" dirty="0" smtClean="0">
                          <a:latin typeface="Helvetica" pitchFamily="34" charset="0"/>
                        </a:rPr>
                        <a:t>$20.00</a:t>
                      </a:r>
                      <a:endParaRPr lang="en-AU" sz="1400" dirty="0">
                        <a:latin typeface="Helvetica" pitchFamily="34" charset="0"/>
                      </a:endParaRPr>
                    </a:p>
                  </a:txBody>
                  <a:tcPr/>
                </a:tc>
              </a:tr>
              <a:tr h="370840">
                <a:tc>
                  <a:txBody>
                    <a:bodyPr/>
                    <a:lstStyle/>
                    <a:p>
                      <a:r>
                        <a:rPr lang="en-AU" sz="1400" dirty="0" smtClean="0">
                          <a:latin typeface="Helvetica" pitchFamily="34" charset="0"/>
                        </a:rPr>
                        <a:t>Butter</a:t>
                      </a:r>
                      <a:endParaRPr lang="en-AU" sz="1400" dirty="0">
                        <a:latin typeface="Helvetica" pitchFamily="34" charset="0"/>
                      </a:endParaRPr>
                    </a:p>
                  </a:txBody>
                  <a:tcPr/>
                </a:tc>
                <a:tc>
                  <a:txBody>
                    <a:bodyPr/>
                    <a:lstStyle/>
                    <a:p>
                      <a:r>
                        <a:rPr lang="en-AU" sz="1400" dirty="0" smtClean="0">
                          <a:latin typeface="Helvetica" pitchFamily="34" charset="0"/>
                        </a:rPr>
                        <a:t>100gm</a:t>
                      </a:r>
                      <a:endParaRPr lang="en-AU" sz="1400" dirty="0">
                        <a:latin typeface="Helvetica" pitchFamily="34" charset="0"/>
                      </a:endParaRPr>
                    </a:p>
                  </a:txBody>
                  <a:tcPr/>
                </a:tc>
                <a:tc>
                  <a:txBody>
                    <a:bodyPr/>
                    <a:lstStyle/>
                    <a:p>
                      <a:r>
                        <a:rPr lang="en-AU" sz="1400" dirty="0" smtClean="0">
                          <a:latin typeface="Helvetica" pitchFamily="34" charset="0"/>
                        </a:rPr>
                        <a:t>$3.85kg</a:t>
                      </a:r>
                      <a:endParaRPr lang="en-AU" sz="1400" dirty="0">
                        <a:latin typeface="Helvetica" pitchFamily="34" charset="0"/>
                      </a:endParaRPr>
                    </a:p>
                  </a:txBody>
                  <a:tcPr/>
                </a:tc>
                <a:tc>
                  <a:txBody>
                    <a:bodyPr/>
                    <a:lstStyle/>
                    <a:p>
                      <a:r>
                        <a:rPr lang="en-AU" sz="1400" dirty="0" smtClean="0">
                          <a:latin typeface="Helvetica" pitchFamily="34" charset="0"/>
                        </a:rPr>
                        <a:t>$0.39</a:t>
                      </a:r>
                      <a:endParaRPr lang="en-AU" sz="1400" dirty="0">
                        <a:latin typeface="Helvetica" pitchFamily="34" charset="0"/>
                      </a:endParaRPr>
                    </a:p>
                  </a:txBody>
                  <a:tcPr/>
                </a:tc>
              </a:tr>
              <a:tr h="370840">
                <a:tc>
                  <a:txBody>
                    <a:bodyPr/>
                    <a:lstStyle/>
                    <a:p>
                      <a:r>
                        <a:rPr lang="en-AU" sz="1400" dirty="0" smtClean="0">
                          <a:latin typeface="Helvetica" pitchFamily="34" charset="0"/>
                        </a:rPr>
                        <a:t>Garlic</a:t>
                      </a:r>
                      <a:endParaRPr lang="en-AU" sz="1400" dirty="0">
                        <a:latin typeface="Helvetica" pitchFamily="34" charset="0"/>
                      </a:endParaRPr>
                    </a:p>
                  </a:txBody>
                  <a:tcPr/>
                </a:tc>
                <a:tc>
                  <a:txBody>
                    <a:bodyPr/>
                    <a:lstStyle/>
                    <a:p>
                      <a:r>
                        <a:rPr lang="en-AU" sz="1400" dirty="0" smtClean="0">
                          <a:latin typeface="Helvetica" pitchFamily="34" charset="0"/>
                        </a:rPr>
                        <a:t>80gm</a:t>
                      </a:r>
                      <a:endParaRPr lang="en-AU" sz="1400" dirty="0">
                        <a:latin typeface="Helvetica" pitchFamily="34" charset="0"/>
                      </a:endParaRPr>
                    </a:p>
                  </a:txBody>
                  <a:tcPr/>
                </a:tc>
                <a:tc>
                  <a:txBody>
                    <a:bodyPr/>
                    <a:lstStyle/>
                    <a:p>
                      <a:r>
                        <a:rPr lang="en-AU" sz="1400" dirty="0" smtClean="0">
                          <a:latin typeface="Helvetica" pitchFamily="34" charset="0"/>
                        </a:rPr>
                        <a:t>$16.50kg</a:t>
                      </a:r>
                      <a:endParaRPr lang="en-AU" sz="1400" dirty="0">
                        <a:latin typeface="Helvetica" pitchFamily="34" charset="0"/>
                      </a:endParaRPr>
                    </a:p>
                  </a:txBody>
                  <a:tcPr/>
                </a:tc>
                <a:tc>
                  <a:txBody>
                    <a:bodyPr/>
                    <a:lstStyle/>
                    <a:p>
                      <a:r>
                        <a:rPr lang="en-AU" sz="1400" dirty="0" smtClean="0">
                          <a:latin typeface="Helvetica" pitchFamily="34" charset="0"/>
                        </a:rPr>
                        <a:t>$1.32</a:t>
                      </a:r>
                      <a:endParaRPr lang="en-AU" sz="1400" dirty="0">
                        <a:latin typeface="Helvetica" pitchFamily="34" charset="0"/>
                      </a:endParaRPr>
                    </a:p>
                  </a:txBody>
                  <a:tcPr/>
                </a:tc>
              </a:tr>
              <a:tr h="370840">
                <a:tc>
                  <a:txBody>
                    <a:bodyPr/>
                    <a:lstStyle/>
                    <a:p>
                      <a:r>
                        <a:rPr lang="en-AU" sz="1400" dirty="0" smtClean="0">
                          <a:latin typeface="Helvetica" pitchFamily="34" charset="0"/>
                        </a:rPr>
                        <a:t>Parsley</a:t>
                      </a:r>
                      <a:endParaRPr lang="en-AU" sz="1400" dirty="0">
                        <a:latin typeface="Helvetica" pitchFamily="34" charset="0"/>
                      </a:endParaRPr>
                    </a:p>
                  </a:txBody>
                  <a:tcPr/>
                </a:tc>
                <a:tc>
                  <a:txBody>
                    <a:bodyPr/>
                    <a:lstStyle/>
                    <a:p>
                      <a:r>
                        <a:rPr lang="en-AU" sz="1400" dirty="0" smtClean="0">
                          <a:latin typeface="Helvetica" pitchFamily="34" charset="0"/>
                        </a:rPr>
                        <a:t>¼ Bunch</a:t>
                      </a:r>
                      <a:endParaRPr lang="en-AU" sz="1400" dirty="0">
                        <a:latin typeface="Helvetica" pitchFamily="34" charset="0"/>
                      </a:endParaRPr>
                    </a:p>
                  </a:txBody>
                  <a:tcPr/>
                </a:tc>
                <a:tc>
                  <a:txBody>
                    <a:bodyPr/>
                    <a:lstStyle/>
                    <a:p>
                      <a:r>
                        <a:rPr lang="en-AU" sz="1400" dirty="0" smtClean="0">
                          <a:latin typeface="Helvetica" pitchFamily="34" charset="0"/>
                        </a:rPr>
                        <a:t>$2.00 bch</a:t>
                      </a:r>
                      <a:endParaRPr lang="en-AU" sz="1400" dirty="0">
                        <a:latin typeface="Helvetica" pitchFamily="34" charset="0"/>
                      </a:endParaRPr>
                    </a:p>
                  </a:txBody>
                  <a:tcPr/>
                </a:tc>
                <a:tc>
                  <a:txBody>
                    <a:bodyPr/>
                    <a:lstStyle/>
                    <a:p>
                      <a:r>
                        <a:rPr lang="en-AU" sz="1400" dirty="0" smtClean="0">
                          <a:latin typeface="Helvetica" pitchFamily="34" charset="0"/>
                        </a:rPr>
                        <a:t>$0.50</a:t>
                      </a:r>
                      <a:endParaRPr lang="en-AU" sz="1400" dirty="0">
                        <a:latin typeface="Helvetica" pitchFamily="34" charset="0"/>
                      </a:endParaRPr>
                    </a:p>
                  </a:txBody>
                  <a:tcPr/>
                </a:tc>
              </a:tr>
              <a:tr h="370840">
                <a:tc>
                  <a:txBody>
                    <a:bodyPr/>
                    <a:lstStyle/>
                    <a:p>
                      <a:r>
                        <a:rPr lang="en-AU" sz="1400" dirty="0" smtClean="0">
                          <a:latin typeface="Helvetica" pitchFamily="34" charset="0"/>
                        </a:rPr>
                        <a:t>Lemon</a:t>
                      </a:r>
                      <a:endParaRPr lang="en-AU" sz="1400" dirty="0">
                        <a:latin typeface="Helvetica" pitchFamily="34" charset="0"/>
                      </a:endParaRPr>
                    </a:p>
                  </a:txBody>
                  <a:tcPr/>
                </a:tc>
                <a:tc>
                  <a:txBody>
                    <a:bodyPr/>
                    <a:lstStyle/>
                    <a:p>
                      <a:r>
                        <a:rPr lang="en-AU" sz="1400" dirty="0" smtClean="0">
                          <a:latin typeface="Helvetica" pitchFamily="34" charset="0"/>
                        </a:rPr>
                        <a:t>3</a:t>
                      </a:r>
                      <a:endParaRPr lang="en-AU" sz="1400" dirty="0">
                        <a:latin typeface="Helvetica" pitchFamily="34" charset="0"/>
                      </a:endParaRPr>
                    </a:p>
                  </a:txBody>
                  <a:tcPr/>
                </a:tc>
                <a:tc>
                  <a:txBody>
                    <a:bodyPr/>
                    <a:lstStyle/>
                    <a:p>
                      <a:r>
                        <a:rPr lang="en-AU" sz="1400" dirty="0" smtClean="0">
                          <a:latin typeface="Helvetica" pitchFamily="34" charset="0"/>
                        </a:rPr>
                        <a:t>$0.50 ea</a:t>
                      </a:r>
                      <a:endParaRPr lang="en-AU" sz="1400" dirty="0">
                        <a:latin typeface="Helvetica" pitchFamily="34" charset="0"/>
                      </a:endParaRPr>
                    </a:p>
                  </a:txBody>
                  <a:tcPr/>
                </a:tc>
                <a:tc>
                  <a:txBody>
                    <a:bodyPr/>
                    <a:lstStyle/>
                    <a:p>
                      <a:r>
                        <a:rPr lang="en-AU" sz="1400" dirty="0" smtClean="0">
                          <a:latin typeface="Helvetica" pitchFamily="34" charset="0"/>
                        </a:rPr>
                        <a:t>$1.50</a:t>
                      </a:r>
                      <a:endParaRPr lang="en-AU" sz="1400" dirty="0">
                        <a:latin typeface="Helvetica" pitchFamily="34" charset="0"/>
                      </a:endParaRPr>
                    </a:p>
                  </a:txBody>
                  <a:tcPr/>
                </a:tc>
              </a:tr>
              <a:tr h="370840">
                <a:tc gridSpan="3">
                  <a:txBody>
                    <a:bodyPr/>
                    <a:lstStyle/>
                    <a:p>
                      <a:pPr algn="r"/>
                      <a:r>
                        <a:rPr lang="en-AU" sz="1400" b="1" dirty="0" smtClean="0">
                          <a:latin typeface="Helvetica" pitchFamily="34" charset="0"/>
                        </a:rPr>
                        <a:t>Total</a:t>
                      </a:r>
                      <a:r>
                        <a:rPr lang="en-AU" sz="1400" b="1" baseline="0" dirty="0" smtClean="0">
                          <a:latin typeface="Helvetica" pitchFamily="34" charset="0"/>
                        </a:rPr>
                        <a:t> Cost of Dish</a:t>
                      </a:r>
                      <a:endParaRPr lang="en-AU" sz="1400" b="1" dirty="0">
                        <a:latin typeface="Helvetica" pitchFamily="34" charset="0"/>
                      </a:endParaRPr>
                    </a:p>
                  </a:txBody>
                  <a:tcPr/>
                </a:tc>
                <a:tc hMerge="1">
                  <a:txBody>
                    <a:bodyPr/>
                    <a:lstStyle/>
                    <a:p>
                      <a:endParaRPr lang="en-AU" sz="1400" dirty="0"/>
                    </a:p>
                  </a:txBody>
                  <a:tcPr/>
                </a:tc>
                <a:tc hMerge="1">
                  <a:txBody>
                    <a:bodyPr/>
                    <a:lstStyle/>
                    <a:p>
                      <a:endParaRPr lang="en-AU" sz="1400" dirty="0"/>
                    </a:p>
                  </a:txBody>
                  <a:tcPr/>
                </a:tc>
                <a:tc>
                  <a:txBody>
                    <a:bodyPr/>
                    <a:lstStyle/>
                    <a:p>
                      <a:r>
                        <a:rPr lang="en-AU" sz="1400" b="1" dirty="0" smtClean="0">
                          <a:latin typeface="Helvetica" pitchFamily="34" charset="0"/>
                        </a:rPr>
                        <a:t>$23.68</a:t>
                      </a:r>
                      <a:endParaRPr lang="en-AU" sz="1400" b="1" dirty="0">
                        <a:latin typeface="Helvetica" pitchFamily="34" charset="0"/>
                      </a:endParaRPr>
                    </a:p>
                  </a:txBody>
                  <a:tcPr/>
                </a:tc>
              </a:tr>
              <a:tr h="370840">
                <a:tc gridSpan="3">
                  <a:txBody>
                    <a:bodyPr/>
                    <a:lstStyle/>
                    <a:p>
                      <a:pPr algn="r"/>
                      <a:r>
                        <a:rPr lang="en-AU" sz="1400" b="1" dirty="0" smtClean="0">
                          <a:latin typeface="Helvetica" pitchFamily="34" charset="0"/>
                        </a:rPr>
                        <a:t>Cost per dish ÷10</a:t>
                      </a:r>
                      <a:endParaRPr lang="en-AU" sz="1400" b="1" dirty="0">
                        <a:latin typeface="Helvetica" pitchFamily="34" charset="0"/>
                      </a:endParaRPr>
                    </a:p>
                  </a:txBody>
                  <a:tcPr/>
                </a:tc>
                <a:tc hMerge="1">
                  <a:txBody>
                    <a:bodyPr/>
                    <a:lstStyle/>
                    <a:p>
                      <a:endParaRPr lang="en-AU"/>
                    </a:p>
                  </a:txBody>
                  <a:tcPr/>
                </a:tc>
                <a:tc hMerge="1">
                  <a:txBody>
                    <a:bodyPr/>
                    <a:lstStyle/>
                    <a:p>
                      <a:endParaRPr lang="en-AU"/>
                    </a:p>
                  </a:txBody>
                  <a:tcPr/>
                </a:tc>
                <a:tc>
                  <a:txBody>
                    <a:bodyPr/>
                    <a:lstStyle/>
                    <a:p>
                      <a:r>
                        <a:rPr lang="en-AU" sz="1400" b="1" dirty="0" smtClean="0">
                          <a:latin typeface="Helvetica" pitchFamily="34" charset="0"/>
                        </a:rPr>
                        <a:t>$2.37</a:t>
                      </a:r>
                      <a:endParaRPr lang="en-AU" sz="1400" b="1" dirty="0">
                        <a:latin typeface="Helvetica" pitchFamily="34" charset="0"/>
                      </a:endParaRP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Produce finished or final menu</a:t>
            </a:r>
          </a:p>
          <a:p>
            <a:pPr marL="420624" lvl="1" indent="-384048">
              <a:spcBef>
                <a:spcPts val="600"/>
              </a:spcBef>
              <a:spcAft>
                <a:spcPts val="1200"/>
              </a:spcAft>
              <a:buSzPct val="80000"/>
              <a:buFont typeface="Wingdings 2"/>
              <a:buChar char=""/>
            </a:pPr>
            <a:r>
              <a:rPr lang="en-US" sz="2200" dirty="0" smtClean="0"/>
              <a:t>What is the enterprise theme?</a:t>
            </a:r>
          </a:p>
          <a:p>
            <a:pPr marL="420624" lvl="1" indent="-384048">
              <a:spcBef>
                <a:spcPts val="600"/>
              </a:spcBef>
              <a:spcAft>
                <a:spcPts val="1200"/>
              </a:spcAft>
              <a:buSzPct val="80000"/>
              <a:buFont typeface="Wingdings 2"/>
              <a:buChar char=""/>
            </a:pPr>
            <a:r>
              <a:rPr lang="en-US" sz="2200" dirty="0" smtClean="0"/>
              <a:t>Meet needs of broad customer base</a:t>
            </a:r>
          </a:p>
          <a:p>
            <a:pPr marL="420624" lvl="1" indent="-384048">
              <a:spcBef>
                <a:spcPts val="600"/>
              </a:spcBef>
              <a:spcAft>
                <a:spcPts val="1200"/>
              </a:spcAft>
              <a:buSzPct val="80000"/>
              <a:buFont typeface="Wingdings 2"/>
              <a:buChar char=""/>
            </a:pPr>
            <a:r>
              <a:rPr lang="en-US" sz="2200" dirty="0" smtClean="0"/>
              <a:t>Menu needs to meet cost structure of </a:t>
            </a:r>
            <a:br>
              <a:rPr lang="en-US" sz="2200" dirty="0" smtClean="0"/>
            </a:br>
            <a:r>
              <a:rPr lang="en-US" sz="2200" dirty="0" smtClean="0"/>
              <a:t>establishment</a:t>
            </a:r>
          </a:p>
          <a:p>
            <a:pPr marL="457200" indent="-4572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descr="C:\Documents and Settings\Godaishu\Desktop\PHOTOS\Culinary 2012\Prepare cooking.jpg"/>
          <p:cNvPicPr/>
          <p:nvPr/>
        </p:nvPicPr>
        <p:blipFill>
          <a:blip r:embed="rId3" cstate="print"/>
          <a:srcRect/>
          <a:stretch>
            <a:fillRect/>
          </a:stretch>
        </p:blipFill>
        <p:spPr bwMode="auto">
          <a:xfrm>
            <a:off x="6143636" y="1857364"/>
            <a:ext cx="2041762" cy="3057098"/>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Produce finished or final menu</a:t>
            </a:r>
          </a:p>
          <a:p>
            <a:pPr marL="457200" indent="-457200">
              <a:spcBef>
                <a:spcPts val="600"/>
              </a:spcBef>
              <a:spcAft>
                <a:spcPts val="1200"/>
              </a:spcAft>
              <a:buNone/>
            </a:pPr>
            <a:r>
              <a:rPr lang="en-US" sz="2200" dirty="0" smtClean="0">
                <a:latin typeface="Helvetica" pitchFamily="34" charset="0"/>
              </a:rPr>
              <a:t>Entrée</a:t>
            </a:r>
          </a:p>
          <a:p>
            <a:pPr marL="457200" indent="-457200">
              <a:spcBef>
                <a:spcPts val="600"/>
              </a:spcBef>
              <a:spcAft>
                <a:spcPts val="1200"/>
              </a:spcAft>
              <a:buNone/>
            </a:pPr>
            <a:r>
              <a:rPr lang="en-US" sz="1600" dirty="0" smtClean="0">
                <a:latin typeface="Helvetica" pitchFamily="34" charset="0"/>
              </a:rPr>
              <a:t>Potato and leek Soup with buttered leek and crab cakes	$7.00</a:t>
            </a:r>
          </a:p>
          <a:p>
            <a:pPr marL="457200" indent="-457200">
              <a:spcBef>
                <a:spcPts val="600"/>
              </a:spcBef>
              <a:spcAft>
                <a:spcPts val="1200"/>
              </a:spcAft>
              <a:buNone/>
            </a:pPr>
            <a:r>
              <a:rPr lang="en-US" sz="1600" dirty="0" smtClean="0">
                <a:latin typeface="Helvetica" pitchFamily="34" charset="0"/>
              </a:rPr>
              <a:t>Baked Field Mushrooms with mixed salad leaves		$8.50</a:t>
            </a:r>
          </a:p>
          <a:p>
            <a:pPr marL="457200" indent="-457200">
              <a:spcBef>
                <a:spcPts val="600"/>
              </a:spcBef>
              <a:spcAft>
                <a:spcPts val="1200"/>
              </a:spcAft>
              <a:buNone/>
            </a:pPr>
            <a:r>
              <a:rPr lang="en-US" sz="1600" dirty="0" smtClean="0">
                <a:latin typeface="Helvetica" pitchFamily="34" charset="0"/>
              </a:rPr>
              <a:t>Charcuterie Plate					$9.00</a:t>
            </a:r>
          </a:p>
          <a:p>
            <a:pPr marL="457200" indent="-457200">
              <a:spcBef>
                <a:spcPts val="600"/>
              </a:spcBef>
              <a:spcAft>
                <a:spcPts val="1200"/>
              </a:spcAft>
              <a:buNone/>
            </a:pPr>
            <a:r>
              <a:rPr lang="en-US" sz="1600" dirty="0" smtClean="0">
                <a:latin typeface="Helvetica" pitchFamily="34" charset="0"/>
              </a:rPr>
              <a:t>Soup of the day					$ 6.50</a:t>
            </a:r>
          </a:p>
          <a:p>
            <a:pPr marL="457200" indent="-457200">
              <a:spcBef>
                <a:spcPts val="600"/>
              </a:spcBef>
              <a:spcAft>
                <a:spcPts val="1200"/>
              </a:spcAft>
              <a:buNone/>
            </a:pPr>
            <a:endParaRPr lang="en-US" sz="9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3074" name="Picture 2" descr="C:\Documents and Settings\Godaishu\Local Settings\Temporary Internet Files\Content.IE5\AIDHLZ6J\MP900309062[1].jpg"/>
          <p:cNvPicPr>
            <a:picLocks noChangeAspect="1" noChangeArrowheads="1"/>
          </p:cNvPicPr>
          <p:nvPr/>
        </p:nvPicPr>
        <p:blipFill>
          <a:blip r:embed="rId3"/>
          <a:srcRect/>
          <a:stretch>
            <a:fillRect/>
          </a:stretch>
        </p:blipFill>
        <p:spPr bwMode="auto">
          <a:xfrm>
            <a:off x="1953206" y="4857760"/>
            <a:ext cx="2261604" cy="1500198"/>
          </a:xfrm>
          <a:prstGeom prst="rect">
            <a:avLst/>
          </a:prstGeom>
          <a:noFill/>
        </p:spPr>
      </p:pic>
      <p:pic>
        <p:nvPicPr>
          <p:cNvPr id="3076" name="Picture 4" descr="C:\Documents and Settings\Godaishu\Local Settings\Temporary Internet Files\Content.IE5\AIDHLZ6J\MP900443890[1].jpg"/>
          <p:cNvPicPr>
            <a:picLocks noChangeAspect="1" noChangeArrowheads="1"/>
          </p:cNvPicPr>
          <p:nvPr/>
        </p:nvPicPr>
        <p:blipFill>
          <a:blip r:embed="rId4" cstate="print"/>
          <a:srcRect/>
          <a:stretch>
            <a:fillRect/>
          </a:stretch>
        </p:blipFill>
        <p:spPr bwMode="auto">
          <a:xfrm>
            <a:off x="4568243" y="4857760"/>
            <a:ext cx="2146897" cy="1500198"/>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525963"/>
          </a:xfrm>
        </p:spPr>
        <p:txBody>
          <a:bodyPr>
            <a:normAutofit/>
          </a:bodyPr>
          <a:lstStyle/>
          <a:p>
            <a:pPr marL="0" indent="0">
              <a:spcBef>
                <a:spcPts val="600"/>
              </a:spcBef>
              <a:spcAft>
                <a:spcPts val="1200"/>
              </a:spcAft>
              <a:buNone/>
            </a:pPr>
            <a:r>
              <a:rPr lang="en-US" sz="2200" b="1" dirty="0" smtClean="0">
                <a:latin typeface="Helvetica" pitchFamily="34" charset="0"/>
              </a:rPr>
              <a:t>Produce finished or final menu</a:t>
            </a:r>
          </a:p>
          <a:p>
            <a:pPr marL="457200" indent="-457200">
              <a:spcBef>
                <a:spcPts val="600"/>
              </a:spcBef>
              <a:spcAft>
                <a:spcPts val="1200"/>
              </a:spcAft>
              <a:buNone/>
            </a:pPr>
            <a:r>
              <a:rPr lang="en-US" sz="2200" dirty="0" smtClean="0">
                <a:latin typeface="Helvetica" pitchFamily="34" charset="0"/>
              </a:rPr>
              <a:t>Mains</a:t>
            </a:r>
          </a:p>
          <a:p>
            <a:pPr marL="457200" indent="-457200">
              <a:spcBef>
                <a:spcPts val="600"/>
              </a:spcBef>
              <a:spcAft>
                <a:spcPts val="1200"/>
              </a:spcAft>
              <a:buNone/>
            </a:pPr>
            <a:r>
              <a:rPr lang="en-US" sz="1600" dirty="0" smtClean="0">
                <a:latin typeface="Helvetica" pitchFamily="34" charset="0"/>
              </a:rPr>
              <a:t>Chermoula crusted fish with pan fried lentils and potato chips	$15.00</a:t>
            </a:r>
          </a:p>
          <a:p>
            <a:pPr marL="457200" indent="-457200">
              <a:spcBef>
                <a:spcPts val="600"/>
              </a:spcBef>
              <a:spcAft>
                <a:spcPts val="1200"/>
              </a:spcAft>
              <a:buNone/>
            </a:pPr>
            <a:r>
              <a:rPr lang="en-US" sz="1600" dirty="0" smtClean="0">
                <a:latin typeface="Helvetica" pitchFamily="34" charset="0"/>
              </a:rPr>
              <a:t>Veal Involtini with salsa verde on polenta  and Roasted Vegetables	$18.50</a:t>
            </a:r>
          </a:p>
          <a:p>
            <a:pPr marL="457200" indent="-457200">
              <a:spcBef>
                <a:spcPts val="600"/>
              </a:spcBef>
              <a:spcAft>
                <a:spcPts val="1200"/>
              </a:spcAft>
              <a:buNone/>
            </a:pPr>
            <a:r>
              <a:rPr lang="en-US" sz="1600" dirty="0" smtClean="0">
                <a:latin typeface="Helvetica" pitchFamily="34" charset="0"/>
              </a:rPr>
              <a:t>Slow cooked Thai flavoured lamb shanks on pumpkin puree		$21.50</a:t>
            </a:r>
          </a:p>
          <a:p>
            <a:pPr marL="457200" indent="-457200">
              <a:spcBef>
                <a:spcPts val="600"/>
              </a:spcBef>
              <a:spcAft>
                <a:spcPts val="1200"/>
              </a:spcAft>
              <a:buNone/>
            </a:pPr>
            <a:r>
              <a:rPr lang="en-US" sz="1600" dirty="0" smtClean="0">
                <a:latin typeface="Helvetica" pitchFamily="34" charset="0"/>
              </a:rPr>
              <a:t>Kangaroo Burger with oven roasted beetroot and pineapple		$18.00</a:t>
            </a:r>
          </a:p>
          <a:p>
            <a:pPr marL="457200" indent="-457200">
              <a:spcBef>
                <a:spcPts val="600"/>
              </a:spcBef>
              <a:spcAft>
                <a:spcPts val="1200"/>
              </a:spcAft>
              <a:buNone/>
            </a:pPr>
            <a:r>
              <a:rPr lang="en-US" sz="1600" dirty="0" smtClean="0">
                <a:latin typeface="Helvetica" pitchFamily="34" charset="0"/>
              </a:rPr>
              <a:t>Chicken and Pesto Sandwich toasted served with Vietnamese salad	$ 19.50	</a:t>
            </a:r>
          </a:p>
          <a:p>
            <a:pPr marL="457200" indent="-457200">
              <a:spcBef>
                <a:spcPts val="600"/>
              </a:spcBef>
              <a:spcAft>
                <a:spcPts val="1200"/>
              </a:spcAft>
              <a:buNone/>
            </a:pPr>
            <a:endParaRPr lang="en-US" sz="9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4098" name="Picture 2" descr="C:\Documents and Settings\Godaishu\Local Settings\Temporary Internet Files\Content.IE5\QYNVKJ9D\MP900438450[1].jpg"/>
          <p:cNvPicPr>
            <a:picLocks noChangeAspect="1" noChangeArrowheads="1"/>
          </p:cNvPicPr>
          <p:nvPr/>
        </p:nvPicPr>
        <p:blipFill>
          <a:blip r:embed="rId3" cstate="print"/>
          <a:srcRect/>
          <a:stretch>
            <a:fillRect/>
          </a:stretch>
        </p:blipFill>
        <p:spPr bwMode="auto">
          <a:xfrm>
            <a:off x="3228988" y="5150820"/>
            <a:ext cx="2343144" cy="1564328"/>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525963"/>
          </a:xfrm>
        </p:spPr>
        <p:txBody>
          <a:bodyPr>
            <a:normAutofit/>
          </a:bodyPr>
          <a:lstStyle/>
          <a:p>
            <a:pPr marL="0" indent="0">
              <a:spcBef>
                <a:spcPts val="600"/>
              </a:spcBef>
              <a:spcAft>
                <a:spcPts val="1200"/>
              </a:spcAft>
              <a:buNone/>
            </a:pPr>
            <a:r>
              <a:rPr lang="en-US" sz="2200" b="1" dirty="0" smtClean="0">
                <a:latin typeface="Helvetica" pitchFamily="34" charset="0"/>
              </a:rPr>
              <a:t>Produce finished or final menu</a:t>
            </a:r>
          </a:p>
          <a:p>
            <a:pPr marL="457200" indent="-457200">
              <a:spcBef>
                <a:spcPts val="600"/>
              </a:spcBef>
              <a:spcAft>
                <a:spcPts val="1200"/>
              </a:spcAft>
              <a:buNone/>
            </a:pPr>
            <a:r>
              <a:rPr lang="en-US" sz="2200" dirty="0" smtClean="0">
                <a:latin typeface="Helvetica" pitchFamily="34" charset="0"/>
              </a:rPr>
              <a:t>Desserts</a:t>
            </a:r>
          </a:p>
          <a:p>
            <a:pPr marL="457200" indent="-457200">
              <a:spcBef>
                <a:spcPts val="600"/>
              </a:spcBef>
              <a:spcAft>
                <a:spcPts val="1200"/>
              </a:spcAft>
              <a:buNone/>
            </a:pPr>
            <a:r>
              <a:rPr lang="en-US" sz="1600" dirty="0" smtClean="0">
                <a:latin typeface="Helvetica" pitchFamily="34" charset="0"/>
              </a:rPr>
              <a:t>Coffee pannacotta with almond tuilles			$9.00</a:t>
            </a:r>
          </a:p>
          <a:p>
            <a:pPr marL="457200" indent="-457200">
              <a:spcBef>
                <a:spcPts val="600"/>
              </a:spcBef>
              <a:spcAft>
                <a:spcPts val="1200"/>
              </a:spcAft>
              <a:buNone/>
            </a:pPr>
            <a:r>
              <a:rPr lang="en-US" sz="1600" dirty="0" smtClean="0">
                <a:latin typeface="Helvetica" pitchFamily="34" charset="0"/>
              </a:rPr>
              <a:t>Flourless Chocolate cake served with oven roasted pear 	$8.50</a:t>
            </a:r>
          </a:p>
          <a:p>
            <a:pPr marL="457200" indent="-457200">
              <a:spcBef>
                <a:spcPts val="600"/>
              </a:spcBef>
              <a:spcAft>
                <a:spcPts val="1200"/>
              </a:spcAft>
              <a:buNone/>
            </a:pPr>
            <a:r>
              <a:rPr lang="en-US" sz="1600" dirty="0" smtClean="0">
                <a:latin typeface="Helvetica" pitchFamily="34" charset="0"/>
              </a:rPr>
              <a:t>Lemon Delicious Pudding				$7.00</a:t>
            </a:r>
          </a:p>
          <a:p>
            <a:pPr marL="457200" indent="-457200">
              <a:spcBef>
                <a:spcPts val="600"/>
              </a:spcBef>
              <a:spcAft>
                <a:spcPts val="1200"/>
              </a:spcAft>
              <a:buNone/>
            </a:pPr>
            <a:r>
              <a:rPr lang="en-US" sz="1600" dirty="0" smtClean="0">
                <a:latin typeface="Helvetica" pitchFamily="34" charset="0"/>
              </a:rPr>
              <a:t>Apple and Rhubarb Grunt served with clotted cream	$8.00	</a:t>
            </a:r>
          </a:p>
          <a:p>
            <a:pPr marL="457200" indent="-457200">
              <a:spcBef>
                <a:spcPts val="600"/>
              </a:spcBef>
              <a:spcAft>
                <a:spcPts val="1200"/>
              </a:spcAft>
              <a:buNone/>
            </a:pPr>
            <a:endParaRPr lang="en-US" sz="9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122" name="Picture 2" descr="C:\Documents and Settings\Godaishu\Local Settings\Temporary Internet Files\Content.IE5\KPAZS1QF\MP910218823[1].jpg"/>
          <p:cNvPicPr>
            <a:picLocks noChangeAspect="1" noChangeArrowheads="1"/>
          </p:cNvPicPr>
          <p:nvPr/>
        </p:nvPicPr>
        <p:blipFill>
          <a:blip r:embed="rId3" cstate="print"/>
          <a:srcRect l="36607" b="32703"/>
          <a:stretch>
            <a:fillRect/>
          </a:stretch>
        </p:blipFill>
        <p:spPr bwMode="auto">
          <a:xfrm>
            <a:off x="3428992" y="4857760"/>
            <a:ext cx="2128830" cy="1749839"/>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Element 2: Manage menu based catering</a:t>
            </a:r>
          </a:p>
          <a:p>
            <a:pPr marL="420624" lvl="1" indent="-384048">
              <a:spcBef>
                <a:spcPts val="600"/>
              </a:spcBef>
              <a:spcAft>
                <a:spcPts val="1200"/>
              </a:spcAft>
              <a:buSzPct val="80000"/>
              <a:buFont typeface="Wingdings 2"/>
              <a:buChar char=""/>
            </a:pPr>
            <a:r>
              <a:rPr lang="en-AU" sz="2200" dirty="0" smtClean="0"/>
              <a:t>Select and use appropriate catering control</a:t>
            </a:r>
          </a:p>
          <a:p>
            <a:pPr marL="420624" lvl="1" indent="-384048">
              <a:spcBef>
                <a:spcPts val="600"/>
              </a:spcBef>
              <a:spcAft>
                <a:spcPts val="1200"/>
              </a:spcAft>
              <a:buSzPct val="80000"/>
              <a:buFont typeface="Wingdings 2"/>
              <a:buChar char=""/>
            </a:pPr>
            <a:r>
              <a:rPr lang="en-AU" sz="2200" dirty="0" smtClean="0"/>
              <a:t>Control labour costs</a:t>
            </a:r>
          </a:p>
          <a:p>
            <a:pPr marL="420624" lvl="1" indent="-384048">
              <a:spcBef>
                <a:spcPts val="600"/>
              </a:spcBef>
              <a:spcAft>
                <a:spcPts val="1200"/>
              </a:spcAft>
              <a:buSzPct val="80000"/>
              <a:buFont typeface="Wingdings 2"/>
              <a:buChar char=""/>
            </a:pPr>
            <a:r>
              <a:rPr lang="en-AU" sz="2200" dirty="0" smtClean="0"/>
              <a:t>Optimise product usage</a:t>
            </a:r>
          </a:p>
          <a:p>
            <a:pPr marL="420624" lvl="1" indent="-384048">
              <a:spcBef>
                <a:spcPts val="600"/>
              </a:spcBef>
              <a:spcAft>
                <a:spcPts val="1200"/>
              </a:spcAft>
              <a:buSzPct val="80000"/>
              <a:buFont typeface="Wingdings 2"/>
              <a:buChar char=""/>
            </a:pPr>
            <a:r>
              <a:rPr lang="en-AU" sz="2200" dirty="0" smtClean="0"/>
              <a:t>Apply stock control measures</a:t>
            </a:r>
          </a:p>
          <a:p>
            <a:pPr marL="420624" lvl="1" indent="-384048">
              <a:spcBef>
                <a:spcPts val="600"/>
              </a:spcBef>
              <a:spcAft>
                <a:spcPts val="1200"/>
              </a:spcAft>
              <a:buSzPct val="80000"/>
              <a:buFont typeface="Wingdings 2"/>
              <a:buChar char=""/>
            </a:pPr>
            <a:r>
              <a:rPr lang="en-AU" sz="2200" dirty="0" smtClean="0"/>
              <a:t>Plan production schedules</a:t>
            </a:r>
            <a:endParaRPr lang="en-US" sz="22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500826" y="207167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714744" y="2571744"/>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214810" y="3143248"/>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857752" y="3714752"/>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572000" y="4357694"/>
            <a:ext cx="399154" cy="527046"/>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Appropriate Control</a:t>
            </a:r>
          </a:p>
          <a:p>
            <a:pPr marL="420624" lvl="1" indent="-384048">
              <a:spcBef>
                <a:spcPts val="600"/>
              </a:spcBef>
              <a:spcAft>
                <a:spcPts val="1200"/>
              </a:spcAft>
              <a:buSzPct val="80000"/>
              <a:buFont typeface="Wingdings 2"/>
              <a:buChar char=""/>
            </a:pPr>
            <a:r>
              <a:rPr lang="en-AU" sz="2200" dirty="0" smtClean="0"/>
              <a:t>Control of cost</a:t>
            </a:r>
          </a:p>
          <a:p>
            <a:pPr marL="420624" lvl="1" indent="-384048">
              <a:spcBef>
                <a:spcPts val="600"/>
              </a:spcBef>
              <a:spcAft>
                <a:spcPts val="1200"/>
              </a:spcAft>
              <a:buSzPct val="80000"/>
              <a:buFont typeface="Wingdings 2"/>
              <a:buChar char=""/>
            </a:pPr>
            <a:r>
              <a:rPr lang="en-AU" sz="2200" dirty="0" smtClean="0"/>
              <a:t>Control of labour skill levels</a:t>
            </a:r>
          </a:p>
          <a:p>
            <a:pPr marL="420624" lvl="1" indent="-384048">
              <a:spcBef>
                <a:spcPts val="600"/>
              </a:spcBef>
              <a:spcAft>
                <a:spcPts val="1200"/>
              </a:spcAft>
              <a:buSzPct val="80000"/>
              <a:buFont typeface="Wingdings 2"/>
              <a:buChar char=""/>
            </a:pPr>
            <a:r>
              <a:rPr lang="en-AU" sz="2200" dirty="0" smtClean="0"/>
              <a:t>Control of food cost</a:t>
            </a:r>
          </a:p>
          <a:p>
            <a:pPr marL="420624" lvl="1" indent="-384048">
              <a:spcBef>
                <a:spcPts val="600"/>
              </a:spcBef>
              <a:spcAft>
                <a:spcPts val="1200"/>
              </a:spcAft>
              <a:buSzPct val="80000"/>
              <a:buFont typeface="Wingdings 2"/>
              <a:buChar char=""/>
            </a:pPr>
            <a:r>
              <a:rPr lang="en-AU" sz="2200" dirty="0" smtClean="0"/>
              <a:t>Control of equipment cost</a:t>
            </a:r>
          </a:p>
          <a:p>
            <a:pPr marL="420624" lvl="1" indent="-384048">
              <a:spcBef>
                <a:spcPts val="600"/>
              </a:spcBef>
              <a:spcAft>
                <a:spcPts val="1200"/>
              </a:spcAft>
              <a:buSzPct val="80000"/>
              <a:buFont typeface="Wingdings 2"/>
              <a:buChar char=""/>
            </a:pPr>
            <a:r>
              <a:rPr lang="en-US" sz="2200" dirty="0" smtClean="0"/>
              <a:t>Adapting to market changes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C:\Documents and Settings\Godaishu\Desktop\PHOTOS\2012\Culinary 2012\Foods.jpg"/>
          <p:cNvPicPr/>
          <p:nvPr/>
        </p:nvPicPr>
        <p:blipFill>
          <a:blip r:embed="rId3" cstate="print"/>
          <a:srcRect/>
          <a:stretch>
            <a:fillRect/>
          </a:stretch>
        </p:blipFill>
        <p:spPr bwMode="auto">
          <a:xfrm>
            <a:off x="5643570" y="2571744"/>
            <a:ext cx="1714215" cy="1719618"/>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Select and use appropriate catering control</a:t>
            </a:r>
          </a:p>
          <a:p>
            <a:pPr marL="360000" indent="-360000">
              <a:spcBef>
                <a:spcPts val="600"/>
              </a:spcBef>
              <a:spcAft>
                <a:spcPts val="1200"/>
              </a:spcAft>
              <a:buNone/>
            </a:pPr>
            <a:r>
              <a:rPr lang="en-US" sz="2200" dirty="0" smtClean="0">
                <a:latin typeface="Helvetica" pitchFamily="34" charset="0"/>
              </a:rPr>
              <a:t>Food ordering system</a:t>
            </a:r>
          </a:p>
          <a:p>
            <a:pPr marL="420624" lvl="1" indent="-384048">
              <a:spcBef>
                <a:spcPts val="600"/>
              </a:spcBef>
              <a:spcAft>
                <a:spcPts val="1200"/>
              </a:spcAft>
              <a:buSzPct val="80000"/>
              <a:buFont typeface="Wingdings 2"/>
              <a:buChar char=""/>
            </a:pPr>
            <a:r>
              <a:rPr lang="en-US" sz="2200" dirty="0" smtClean="0"/>
              <a:t>Handwritten documents</a:t>
            </a:r>
          </a:p>
          <a:p>
            <a:pPr marL="420624" lvl="1" indent="-384048">
              <a:spcBef>
                <a:spcPts val="600"/>
              </a:spcBef>
              <a:spcAft>
                <a:spcPts val="1200"/>
              </a:spcAft>
              <a:buSzPct val="80000"/>
              <a:buFont typeface="Wingdings 2"/>
              <a:buChar char=""/>
            </a:pPr>
            <a:r>
              <a:rPr lang="en-US" sz="2200" dirty="0" smtClean="0"/>
              <a:t>Computerised system</a:t>
            </a:r>
          </a:p>
          <a:p>
            <a:pPr marL="661752" lvl="1" indent="-360000">
              <a:spcBef>
                <a:spcPts val="600"/>
              </a:spcBef>
              <a:spcAft>
                <a:spcPts val="1200"/>
              </a:spcAft>
            </a:pPr>
            <a:r>
              <a:rPr lang="en-US" sz="2200" dirty="0" smtClean="0">
                <a:latin typeface="Helvetica" pitchFamily="34" charset="0"/>
              </a:rPr>
              <a:t>Easy to keep track of incoming stock</a:t>
            </a:r>
          </a:p>
          <a:p>
            <a:pPr marL="661752" lvl="1" indent="-360000">
              <a:spcBef>
                <a:spcPts val="600"/>
              </a:spcBef>
              <a:spcAft>
                <a:spcPts val="1200"/>
              </a:spcAft>
            </a:pPr>
            <a:r>
              <a:rPr lang="en-US" sz="2200" dirty="0" smtClean="0"/>
              <a:t>Easier to keep costs under control</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6146" name="Picture 2" descr="C:\Documents and Settings\Godaishu\Local Settings\Temporary Internet Files\Content.IE5\QYNVKJ9D\MC900034414[1].wmf"/>
          <p:cNvPicPr>
            <a:picLocks noChangeAspect="1" noChangeArrowheads="1"/>
          </p:cNvPicPr>
          <p:nvPr/>
        </p:nvPicPr>
        <p:blipFill>
          <a:blip r:embed="rId3"/>
          <a:srcRect/>
          <a:stretch>
            <a:fillRect/>
          </a:stretch>
        </p:blipFill>
        <p:spPr bwMode="auto">
          <a:xfrm>
            <a:off x="6215074" y="2214554"/>
            <a:ext cx="1799376" cy="1734493"/>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Select and use appropriate catering control</a:t>
            </a:r>
          </a:p>
          <a:p>
            <a:pPr marL="420624" lvl="1" indent="-384048">
              <a:spcBef>
                <a:spcPts val="600"/>
              </a:spcBef>
              <a:spcAft>
                <a:spcPts val="1200"/>
              </a:spcAft>
              <a:buSzPct val="80000"/>
              <a:buFont typeface="Wingdings 2"/>
              <a:buChar char=""/>
            </a:pPr>
            <a:r>
              <a:rPr lang="en-US" sz="2200" dirty="0" smtClean="0"/>
              <a:t>Skill level of staff</a:t>
            </a:r>
          </a:p>
          <a:p>
            <a:pPr marL="420624" lvl="1" indent="-384048">
              <a:spcBef>
                <a:spcPts val="600"/>
              </a:spcBef>
              <a:spcAft>
                <a:spcPts val="1200"/>
              </a:spcAft>
              <a:buSzPct val="80000"/>
              <a:buFont typeface="Wingdings 2"/>
              <a:buChar char=""/>
            </a:pPr>
            <a:r>
              <a:rPr lang="en-US" sz="2200" dirty="0" smtClean="0"/>
              <a:t>Training</a:t>
            </a:r>
          </a:p>
          <a:p>
            <a:pPr marL="420624" lvl="1" indent="-384048">
              <a:spcBef>
                <a:spcPts val="600"/>
              </a:spcBef>
              <a:spcAft>
                <a:spcPts val="1200"/>
              </a:spcAft>
              <a:buSzPct val="80000"/>
              <a:buFont typeface="Wingdings 2"/>
              <a:buChar char=""/>
            </a:pPr>
            <a:r>
              <a:rPr lang="en-US" sz="2200" dirty="0" smtClean="0"/>
              <a:t>Versatility of staff</a:t>
            </a:r>
          </a:p>
          <a:p>
            <a:pPr marL="420624" lvl="1" indent="-384048">
              <a:spcBef>
                <a:spcPts val="600"/>
              </a:spcBef>
              <a:spcAft>
                <a:spcPts val="1200"/>
              </a:spcAft>
              <a:buSzPct val="80000"/>
              <a:buFont typeface="Wingdings 2"/>
              <a:buChar char=""/>
            </a:pPr>
            <a:r>
              <a:rPr lang="en-US" sz="2200" dirty="0" smtClean="0"/>
              <a:t>Auditing of skill levels</a:t>
            </a:r>
          </a:p>
          <a:p>
            <a:pPr marL="420624" lvl="1" indent="-384048">
              <a:spcBef>
                <a:spcPts val="600"/>
              </a:spcBef>
              <a:spcAft>
                <a:spcPts val="1200"/>
              </a:spcAft>
              <a:buSzPct val="80000"/>
              <a:buFont typeface="Wingdings 2"/>
              <a:buChar char=""/>
            </a:pPr>
            <a:r>
              <a:rPr lang="en-US" sz="2200" dirty="0" smtClean="0"/>
              <a:t>Continual improvement of skill levels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7170" name="Picture 2" descr="C:\Documents and Settings\Godaishu\Local Settings\Temporary Internet Files\Content.IE5\AIDHLZ6J\MC900044831[1].wmf"/>
          <p:cNvPicPr>
            <a:picLocks noChangeAspect="1" noChangeArrowheads="1"/>
          </p:cNvPicPr>
          <p:nvPr/>
        </p:nvPicPr>
        <p:blipFill>
          <a:blip r:embed="rId3"/>
          <a:srcRect/>
          <a:stretch>
            <a:fillRect/>
          </a:stretch>
        </p:blipFill>
        <p:spPr bwMode="auto">
          <a:xfrm>
            <a:off x="6357950" y="2000240"/>
            <a:ext cx="1668780" cy="1773022"/>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b="1" dirty="0" smtClean="0">
                <a:latin typeface="Helvetica" pitchFamily="34" charset="0"/>
              </a:rPr>
              <a:t>Select and use appropriate catering control</a:t>
            </a:r>
          </a:p>
          <a:p>
            <a:pPr marL="360000" indent="-360000">
              <a:spcBef>
                <a:spcPts val="600"/>
              </a:spcBef>
              <a:spcAft>
                <a:spcPts val="1200"/>
              </a:spcAft>
              <a:buNone/>
            </a:pPr>
            <a:r>
              <a:rPr lang="en-US" sz="2200" dirty="0" smtClean="0">
                <a:latin typeface="Helvetica" pitchFamily="34" charset="0"/>
              </a:rPr>
              <a:t>Cooking System</a:t>
            </a:r>
          </a:p>
          <a:p>
            <a:pPr marL="420624" lvl="1" indent="-384048">
              <a:spcBef>
                <a:spcPts val="600"/>
              </a:spcBef>
              <a:spcAft>
                <a:spcPts val="1200"/>
              </a:spcAft>
              <a:buSzPct val="80000"/>
              <a:buFont typeface="Wingdings 2"/>
              <a:buChar char=""/>
            </a:pPr>
            <a:r>
              <a:rPr lang="en-US" sz="2200" dirty="0" smtClean="0"/>
              <a:t>Cooking to standard recipe</a:t>
            </a:r>
          </a:p>
          <a:p>
            <a:pPr marL="420624" lvl="1" indent="-384048">
              <a:spcBef>
                <a:spcPts val="600"/>
              </a:spcBef>
              <a:spcAft>
                <a:spcPts val="1200"/>
              </a:spcAft>
              <a:buSzPct val="80000"/>
              <a:buFont typeface="Wingdings 2"/>
              <a:buChar char=""/>
            </a:pPr>
            <a:r>
              <a:rPr lang="en-US" sz="2200" dirty="0" smtClean="0"/>
              <a:t>Costing to standard recipes</a:t>
            </a:r>
          </a:p>
          <a:p>
            <a:pPr marL="360000" indent="-360000">
              <a:spcBef>
                <a:spcPts val="600"/>
              </a:spcBef>
              <a:spcAft>
                <a:spcPts val="1200"/>
              </a:spcAft>
              <a:buNone/>
            </a:pPr>
            <a:r>
              <a:rPr lang="en-US" sz="2200" dirty="0" smtClean="0">
                <a:latin typeface="Helvetica" pitchFamily="34" charset="0"/>
              </a:rPr>
              <a:t>Control of costs</a:t>
            </a:r>
          </a:p>
          <a:p>
            <a:pPr marL="420624" lvl="1" indent="-384048">
              <a:spcBef>
                <a:spcPts val="600"/>
              </a:spcBef>
              <a:spcAft>
                <a:spcPts val="1200"/>
              </a:spcAft>
              <a:buSzPct val="80000"/>
              <a:buFont typeface="Wingdings 2"/>
              <a:buChar char=""/>
            </a:pPr>
            <a:r>
              <a:rPr lang="en-US" sz="2200" dirty="0" smtClean="0"/>
              <a:t>Dealing with suppliers</a:t>
            </a:r>
          </a:p>
          <a:p>
            <a:pPr marL="420624" lvl="1" indent="-384048">
              <a:spcBef>
                <a:spcPts val="600"/>
              </a:spcBef>
              <a:spcAft>
                <a:spcPts val="1200"/>
              </a:spcAft>
              <a:buSzPct val="80000"/>
              <a:buFont typeface="Wingdings 2"/>
              <a:buChar char=""/>
            </a:pPr>
            <a:r>
              <a:rPr lang="en-US" sz="2200" dirty="0" smtClean="0"/>
              <a:t>Portion control</a:t>
            </a:r>
          </a:p>
          <a:p>
            <a:pPr marL="420624" lvl="1" indent="-384048">
              <a:spcBef>
                <a:spcPts val="600"/>
              </a:spcBef>
              <a:spcAft>
                <a:spcPts val="1200"/>
              </a:spcAft>
              <a:buSzPct val="80000"/>
              <a:buFont typeface="Wingdings 2"/>
              <a:buChar char=""/>
            </a:pPr>
            <a:r>
              <a:rPr lang="en-US" sz="2200" dirty="0" smtClean="0"/>
              <a:t>Process control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C:\Documents and Settings\Godaishu\Desktop\PHOTOS\2012\Culinary 2012\wai_a_getty_cookingguy_rgb.JPG"/>
          <p:cNvPicPr/>
          <p:nvPr/>
        </p:nvPicPr>
        <p:blipFill>
          <a:blip r:embed="rId3"/>
          <a:srcRect/>
          <a:stretch>
            <a:fillRect/>
          </a:stretch>
        </p:blipFill>
        <p:spPr bwMode="auto">
          <a:xfrm>
            <a:off x="5500694" y="2857496"/>
            <a:ext cx="2385304" cy="1714512"/>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Control labour costs</a:t>
            </a:r>
          </a:p>
          <a:p>
            <a:pPr marL="420624" lvl="1" indent="-384048">
              <a:spcBef>
                <a:spcPts val="600"/>
              </a:spcBef>
              <a:spcAft>
                <a:spcPts val="1200"/>
              </a:spcAft>
              <a:buSzPct val="80000"/>
              <a:buFont typeface="Wingdings 2"/>
              <a:buChar char=""/>
            </a:pPr>
            <a:r>
              <a:rPr lang="en-US" sz="2200" dirty="0" smtClean="0"/>
              <a:t>How many staff are required to produce required menu items?</a:t>
            </a:r>
          </a:p>
          <a:p>
            <a:pPr marL="420624" lvl="1" indent="-384048">
              <a:spcBef>
                <a:spcPts val="600"/>
              </a:spcBef>
              <a:spcAft>
                <a:spcPts val="1200"/>
              </a:spcAft>
              <a:buSzPct val="80000"/>
              <a:buFont typeface="Wingdings 2"/>
              <a:buChar char=""/>
            </a:pPr>
            <a:r>
              <a:rPr lang="en-US" sz="2200" dirty="0" smtClean="0"/>
              <a:t>How much are they paid per hour?</a:t>
            </a:r>
          </a:p>
          <a:p>
            <a:pPr marL="420624" lvl="1" indent="-384048">
              <a:spcBef>
                <a:spcPts val="600"/>
              </a:spcBef>
              <a:spcAft>
                <a:spcPts val="1200"/>
              </a:spcAft>
              <a:buSzPct val="80000"/>
              <a:buFont typeface="Wingdings 2"/>
              <a:buChar char=""/>
            </a:pPr>
            <a:r>
              <a:rPr lang="en-US" sz="2200" dirty="0" smtClean="0"/>
              <a:t>What other benefits do they have?</a:t>
            </a:r>
          </a:p>
          <a:p>
            <a:pPr marL="420624" lvl="1" indent="-384048">
              <a:spcBef>
                <a:spcPts val="600"/>
              </a:spcBef>
              <a:spcAft>
                <a:spcPts val="1200"/>
              </a:spcAft>
              <a:buSzPct val="80000"/>
              <a:buFont typeface="Wingdings 2"/>
              <a:buChar char=""/>
            </a:pPr>
            <a:r>
              <a:rPr lang="en-US" sz="2200" dirty="0" smtClean="0"/>
              <a:t>Are they productive all the time?</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8194" name="Picture 2" descr="C:\Documents and Settings\Godaishu\Local Settings\Temporary Internet Files\Content.IE5\VL0QK7PC\MP900442235[1].jpg"/>
          <p:cNvPicPr>
            <a:picLocks noChangeAspect="1" noChangeArrowheads="1"/>
          </p:cNvPicPr>
          <p:nvPr/>
        </p:nvPicPr>
        <p:blipFill>
          <a:blip r:embed="rId3" cstate="print"/>
          <a:srcRect t="21875" r="4166" b="11458"/>
          <a:stretch>
            <a:fillRect/>
          </a:stretch>
        </p:blipFill>
        <p:spPr bwMode="auto">
          <a:xfrm>
            <a:off x="5214942" y="4286256"/>
            <a:ext cx="1540382" cy="1428760"/>
          </a:xfrm>
          <a:prstGeom prst="rect">
            <a:avLst/>
          </a:prstGeom>
          <a:noFill/>
        </p:spPr>
      </p:pic>
      <p:pic>
        <p:nvPicPr>
          <p:cNvPr id="5" name="Picture 4" descr="C:\Documents and Settings\Godaishu\Desktop\PHOTOS\2012\MC900360958.WMF"/>
          <p:cNvPicPr/>
          <p:nvPr/>
        </p:nvPicPr>
        <p:blipFill>
          <a:blip r:embed="rId4"/>
          <a:srcRect/>
          <a:stretch>
            <a:fillRect/>
          </a:stretch>
        </p:blipFill>
        <p:spPr bwMode="auto">
          <a:xfrm>
            <a:off x="6715140" y="2714620"/>
            <a:ext cx="1250192" cy="201986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Optimise product usage</a:t>
            </a:r>
          </a:p>
          <a:p>
            <a:pPr marL="420624" lvl="1" indent="-384048">
              <a:spcBef>
                <a:spcPts val="600"/>
              </a:spcBef>
              <a:spcAft>
                <a:spcPts val="1200"/>
              </a:spcAft>
              <a:buSzPct val="80000"/>
              <a:buFont typeface="Wingdings 2"/>
              <a:buChar char=""/>
            </a:pPr>
            <a:r>
              <a:rPr lang="en-US" sz="2200" dirty="0" smtClean="0"/>
              <a:t>Purchasing what is required</a:t>
            </a:r>
          </a:p>
          <a:p>
            <a:pPr marL="420624" lvl="1" indent="-384048">
              <a:spcBef>
                <a:spcPts val="600"/>
              </a:spcBef>
              <a:spcAft>
                <a:spcPts val="1200"/>
              </a:spcAft>
              <a:buSzPct val="80000"/>
              <a:buFont typeface="Wingdings 2"/>
              <a:buChar char=""/>
            </a:pPr>
            <a:r>
              <a:rPr lang="en-US" sz="2200" dirty="0" smtClean="0"/>
              <a:t>Yield testing of ingredients</a:t>
            </a:r>
          </a:p>
          <a:p>
            <a:pPr marL="420624" lvl="1" indent="-384048">
              <a:spcBef>
                <a:spcPts val="600"/>
              </a:spcBef>
              <a:spcAft>
                <a:spcPts val="1200"/>
              </a:spcAft>
              <a:buSzPct val="80000"/>
              <a:buFont typeface="Wingdings 2"/>
              <a:buChar char=""/>
            </a:pPr>
            <a:r>
              <a:rPr lang="en-US" sz="2200" dirty="0" smtClean="0"/>
              <a:t>Yield testing of recipes</a:t>
            </a:r>
          </a:p>
          <a:p>
            <a:pPr marL="420624" lvl="1" indent="-384048">
              <a:spcBef>
                <a:spcPts val="600"/>
              </a:spcBef>
              <a:spcAft>
                <a:spcPts val="1200"/>
              </a:spcAft>
              <a:buSzPct val="80000"/>
              <a:buFont typeface="Wingdings 2"/>
              <a:buChar char=""/>
            </a:pPr>
            <a:r>
              <a:rPr lang="en-US" sz="2200" dirty="0" smtClean="0"/>
              <a:t>Utilising excess stock</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9218" name="Picture 2" descr="C:\Documents and Settings\Godaishu\Desktop\PHOTOS\2012\Culinary 2012\Fruit and vegeble\MP900409624.JPG"/>
          <p:cNvPicPr>
            <a:picLocks noChangeAspect="1" noChangeArrowheads="1"/>
          </p:cNvPicPr>
          <p:nvPr/>
        </p:nvPicPr>
        <p:blipFill>
          <a:blip r:embed="rId3" cstate="print">
            <a:lum contrast="30000"/>
          </a:blip>
          <a:srcRect/>
          <a:stretch>
            <a:fillRect/>
          </a:stretch>
        </p:blipFill>
        <p:spPr bwMode="auto">
          <a:xfrm>
            <a:off x="5357818" y="1857364"/>
            <a:ext cx="2214578" cy="2214578"/>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Apply stock control measures</a:t>
            </a:r>
          </a:p>
          <a:p>
            <a:pPr marL="0" indent="0">
              <a:spcBef>
                <a:spcPts val="600"/>
              </a:spcBef>
              <a:spcAft>
                <a:spcPts val="1200"/>
              </a:spcAft>
              <a:buNone/>
            </a:pPr>
            <a:r>
              <a:rPr lang="en-US" sz="2200" dirty="0" smtClean="0">
                <a:latin typeface="Helvetica" pitchFamily="34" charset="0"/>
              </a:rPr>
              <a:t>Control from the beginning:</a:t>
            </a:r>
          </a:p>
          <a:p>
            <a:pPr marL="420624" lvl="1" indent="-384048">
              <a:spcBef>
                <a:spcPts val="600"/>
              </a:spcBef>
              <a:spcAft>
                <a:spcPts val="1200"/>
              </a:spcAft>
              <a:buSzPct val="80000"/>
              <a:buFont typeface="Wingdings 2"/>
              <a:buChar char=""/>
            </a:pPr>
            <a:r>
              <a:rPr lang="en-US" sz="2200" dirty="0" smtClean="0"/>
              <a:t>Has this product been ordered?</a:t>
            </a:r>
          </a:p>
          <a:p>
            <a:pPr marL="420624" lvl="1" indent="-384048">
              <a:spcBef>
                <a:spcPts val="600"/>
              </a:spcBef>
              <a:spcAft>
                <a:spcPts val="1200"/>
              </a:spcAft>
              <a:buSzPct val="80000"/>
              <a:buFont typeface="Wingdings 2"/>
              <a:buChar char=""/>
            </a:pPr>
            <a:r>
              <a:rPr lang="en-US" sz="2200" dirty="0" smtClean="0"/>
              <a:t>Is Quantity correct?</a:t>
            </a:r>
          </a:p>
          <a:p>
            <a:pPr marL="420624" lvl="1" indent="-384048">
              <a:spcBef>
                <a:spcPts val="600"/>
              </a:spcBef>
              <a:spcAft>
                <a:spcPts val="1200"/>
              </a:spcAft>
              <a:buSzPct val="80000"/>
              <a:buFont typeface="Wingdings 2"/>
              <a:buChar char=""/>
            </a:pPr>
            <a:r>
              <a:rPr lang="en-US" sz="2200" dirty="0" smtClean="0"/>
              <a:t>Is Quality correct?</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descr="C:\Documents and Settings\Godaishu\Desktop\PHOTOS\2012\Culinary 2012\Others\DSC_0078.jpg"/>
          <p:cNvPicPr/>
          <p:nvPr/>
        </p:nvPicPr>
        <p:blipFill>
          <a:blip r:embed="rId3">
            <a:lum contrast="10000"/>
          </a:blip>
          <a:srcRect/>
          <a:stretch>
            <a:fillRect/>
          </a:stretch>
        </p:blipFill>
        <p:spPr bwMode="auto">
          <a:xfrm flipH="1">
            <a:off x="5500694" y="2357430"/>
            <a:ext cx="2765093" cy="18288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Apply stock control measures</a:t>
            </a:r>
          </a:p>
          <a:p>
            <a:pPr marL="420624" lvl="1" indent="-384048">
              <a:spcBef>
                <a:spcPts val="600"/>
              </a:spcBef>
              <a:spcAft>
                <a:spcPts val="1200"/>
              </a:spcAft>
              <a:buSzPct val="80000"/>
              <a:buFont typeface="Wingdings 2"/>
              <a:buChar char=""/>
            </a:pPr>
            <a:r>
              <a:rPr lang="en-US" sz="2200" dirty="0" smtClean="0"/>
              <a:t>Who is taking stock from store room?</a:t>
            </a:r>
          </a:p>
          <a:p>
            <a:pPr marL="420624" lvl="1" indent="-384048">
              <a:spcBef>
                <a:spcPts val="600"/>
              </a:spcBef>
              <a:spcAft>
                <a:spcPts val="1200"/>
              </a:spcAft>
              <a:buSzPct val="80000"/>
              <a:buFont typeface="Wingdings 2"/>
              <a:buChar char=""/>
            </a:pPr>
            <a:r>
              <a:rPr lang="en-US" sz="2200" dirty="0" smtClean="0"/>
              <a:t>To where is it being taken?</a:t>
            </a:r>
          </a:p>
          <a:p>
            <a:pPr marL="420624" lvl="1" indent="-384048">
              <a:spcBef>
                <a:spcPts val="600"/>
              </a:spcBef>
              <a:spcAft>
                <a:spcPts val="1200"/>
              </a:spcAft>
              <a:buSzPct val="80000"/>
              <a:buFont typeface="Wingdings 2"/>
              <a:buChar char=""/>
            </a:pPr>
            <a:r>
              <a:rPr lang="en-US" sz="2200" dirty="0" smtClean="0"/>
              <a:t>Does that stock arrive at the correct destination?</a:t>
            </a:r>
          </a:p>
          <a:p>
            <a:pPr marL="420624" lvl="1" indent="-384048">
              <a:spcBef>
                <a:spcPts val="600"/>
              </a:spcBef>
              <a:spcAft>
                <a:spcPts val="1200"/>
              </a:spcAft>
              <a:buSzPct val="80000"/>
              <a:buFont typeface="Wingdings 2"/>
              <a:buChar char=""/>
            </a:pPr>
            <a:r>
              <a:rPr lang="en-US" sz="2200" dirty="0" smtClean="0"/>
              <a:t>Implement usage of documentation for stock control</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descr="C:\Documents and Settings\Godaishu\Desktop\PHOTOS\2012\Culinary 2012\Others\Delivery man.jpg"/>
          <p:cNvPicPr/>
          <p:nvPr/>
        </p:nvPicPr>
        <p:blipFill>
          <a:blip r:embed="rId3" cstate="print"/>
          <a:srcRect/>
          <a:stretch>
            <a:fillRect/>
          </a:stretch>
        </p:blipFill>
        <p:spPr bwMode="auto">
          <a:xfrm>
            <a:off x="6572264" y="1357298"/>
            <a:ext cx="1313350" cy="1746913"/>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Apply stock control measures</a:t>
            </a:r>
          </a:p>
          <a:p>
            <a:pPr marL="420624" lvl="1" indent="-384048">
              <a:spcBef>
                <a:spcPts val="600"/>
              </a:spcBef>
              <a:spcAft>
                <a:spcPts val="1200"/>
              </a:spcAft>
              <a:buSzPct val="80000"/>
              <a:buFont typeface="Wingdings 2"/>
              <a:buChar char=""/>
            </a:pPr>
            <a:r>
              <a:rPr lang="en-US" sz="2200" dirty="0" smtClean="0"/>
              <a:t>Amount of stock received</a:t>
            </a:r>
          </a:p>
          <a:p>
            <a:pPr marL="420624" lvl="1" indent="-384048">
              <a:spcBef>
                <a:spcPts val="600"/>
              </a:spcBef>
              <a:spcAft>
                <a:spcPts val="1200"/>
              </a:spcAft>
              <a:buSzPct val="80000"/>
              <a:buFont typeface="Wingdings 2"/>
              <a:buChar char=""/>
            </a:pPr>
            <a:r>
              <a:rPr lang="en-US" sz="2200" dirty="0" smtClean="0"/>
              <a:t>Number of serving of each menu item sold</a:t>
            </a:r>
          </a:p>
          <a:p>
            <a:pPr marL="420624" lvl="1" indent="-384048">
              <a:spcBef>
                <a:spcPts val="600"/>
              </a:spcBef>
              <a:spcAft>
                <a:spcPts val="1200"/>
              </a:spcAft>
              <a:buSzPct val="80000"/>
              <a:buFont typeface="Wingdings 2"/>
              <a:buChar char=""/>
            </a:pPr>
            <a:r>
              <a:rPr lang="en-US" sz="2200" dirty="0" smtClean="0"/>
              <a:t>Amount of waste from each section</a:t>
            </a:r>
          </a:p>
          <a:p>
            <a:pPr marL="420624" lvl="1" indent="-384048">
              <a:spcBef>
                <a:spcPts val="600"/>
              </a:spcBef>
              <a:spcAft>
                <a:spcPts val="1200"/>
              </a:spcAft>
              <a:buSzPct val="80000"/>
              <a:buFont typeface="Wingdings 2"/>
              <a:buChar char=""/>
            </a:pPr>
            <a:r>
              <a:rPr lang="en-US" sz="2200" dirty="0" smtClean="0"/>
              <a:t>Old stock</a:t>
            </a:r>
          </a:p>
          <a:p>
            <a:pPr marL="420624" lvl="1" indent="-384048">
              <a:spcBef>
                <a:spcPts val="600"/>
              </a:spcBef>
              <a:spcAft>
                <a:spcPts val="1200"/>
              </a:spcAft>
              <a:buSzPct val="80000"/>
              <a:buFont typeface="Wingdings 2"/>
              <a:buChar char=""/>
            </a:pPr>
            <a:r>
              <a:rPr lang="en-US" sz="2200" dirty="0" smtClean="0"/>
              <a:t>Breakages and accidents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descr="C:\Documents and Settings\Godaishu\Desktop\PHOTOS\2012\refridgerator.jpg"/>
          <p:cNvPicPr/>
          <p:nvPr/>
        </p:nvPicPr>
        <p:blipFill>
          <a:blip r:embed="rId3"/>
          <a:srcRect/>
          <a:stretch>
            <a:fillRect/>
          </a:stretch>
        </p:blipFill>
        <p:spPr bwMode="auto">
          <a:xfrm>
            <a:off x="6572264" y="1428736"/>
            <a:ext cx="1571636" cy="1942410"/>
          </a:xfrm>
          <a:prstGeom prst="rect">
            <a:avLst/>
          </a:prstGeom>
          <a:noFill/>
          <a:ln w="9525">
            <a:noFill/>
            <a:miter lim="800000"/>
            <a:headEnd/>
            <a:tailEnd/>
          </a:ln>
        </p:spPr>
      </p:pic>
      <p:pic>
        <p:nvPicPr>
          <p:cNvPr id="6" name="Picture 5" descr="C:\Documents and Settings\Godaishu\Local Settings\Temporary Internet Files\Content.IE5\AIDHLZ6J\MP900309038[1].jpg"/>
          <p:cNvPicPr/>
          <p:nvPr/>
        </p:nvPicPr>
        <p:blipFill>
          <a:blip r:embed="rId4"/>
          <a:srcRect t="19259"/>
          <a:stretch>
            <a:fillRect/>
          </a:stretch>
        </p:blipFill>
        <p:spPr bwMode="auto">
          <a:xfrm>
            <a:off x="6572264" y="3571876"/>
            <a:ext cx="1599318" cy="195163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Plan and manage menu based catering</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525963"/>
          </a:xfrm>
        </p:spPr>
        <p:txBody>
          <a:bodyPr>
            <a:normAutofit/>
          </a:bodyPr>
          <a:lstStyle/>
          <a:p>
            <a:pPr marL="0" indent="0">
              <a:spcBef>
                <a:spcPts val="600"/>
              </a:spcBef>
              <a:spcAft>
                <a:spcPts val="1200"/>
              </a:spcAft>
              <a:buNone/>
            </a:pPr>
            <a:r>
              <a:rPr lang="en-US" sz="2200" b="1" dirty="0" smtClean="0">
                <a:latin typeface="Helvetica" pitchFamily="34" charset="0"/>
              </a:rPr>
              <a:t>Plan production schedules</a:t>
            </a:r>
          </a:p>
          <a:p>
            <a:pPr marL="420624" lvl="1" indent="-384048">
              <a:spcBef>
                <a:spcPts val="600"/>
              </a:spcBef>
              <a:spcAft>
                <a:spcPts val="1200"/>
              </a:spcAft>
              <a:buSzPct val="80000"/>
              <a:buFont typeface="Wingdings 2"/>
              <a:buChar char=""/>
            </a:pPr>
            <a:r>
              <a:rPr lang="en-US" sz="2200" dirty="0" smtClean="0"/>
              <a:t>How much needs to be produced?</a:t>
            </a:r>
          </a:p>
          <a:p>
            <a:pPr marL="420624" lvl="1" indent="-384048">
              <a:spcBef>
                <a:spcPts val="600"/>
              </a:spcBef>
              <a:spcAft>
                <a:spcPts val="1200"/>
              </a:spcAft>
              <a:buSzPct val="80000"/>
              <a:buFont typeface="Wingdings 2"/>
              <a:buChar char=""/>
            </a:pPr>
            <a:r>
              <a:rPr lang="en-US" sz="2200" dirty="0" smtClean="0"/>
              <a:t>Production capabilities of the equipment</a:t>
            </a:r>
          </a:p>
          <a:p>
            <a:pPr marL="420624" lvl="1" indent="-384048">
              <a:spcBef>
                <a:spcPts val="600"/>
              </a:spcBef>
              <a:spcAft>
                <a:spcPts val="1200"/>
              </a:spcAft>
              <a:buSzPct val="80000"/>
              <a:buFont typeface="Wingdings 2"/>
              <a:buChar char=""/>
            </a:pPr>
            <a:r>
              <a:rPr lang="en-US" sz="2200" dirty="0" smtClean="0"/>
              <a:t>Skill level of the staff</a:t>
            </a:r>
          </a:p>
          <a:p>
            <a:pPr marL="420624" lvl="1" indent="-384048">
              <a:spcBef>
                <a:spcPts val="600"/>
              </a:spcBef>
              <a:spcAft>
                <a:spcPts val="1200"/>
              </a:spcAft>
              <a:buSzPct val="80000"/>
              <a:buFont typeface="Wingdings 2"/>
              <a:buChar char=""/>
            </a:pPr>
            <a:r>
              <a:rPr lang="en-US" sz="2200" dirty="0" smtClean="0"/>
              <a:t>Storage facilities of the kitchen</a:t>
            </a:r>
          </a:p>
          <a:p>
            <a:pPr marL="420624" lvl="1" indent="-384048">
              <a:spcBef>
                <a:spcPts val="600"/>
              </a:spcBef>
              <a:spcAft>
                <a:spcPts val="1200"/>
              </a:spcAft>
              <a:buSzPct val="80000"/>
              <a:buFont typeface="Wingdings 2"/>
              <a:buChar char=""/>
            </a:pPr>
            <a:r>
              <a:rPr lang="en-US" sz="2200" dirty="0" smtClean="0"/>
              <a:t>How many staff will be required to meet demand?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descr="C:\Documents and Settings\Godaishu\Desktop\PHOTOS\Accommodation 2009\W_A 6_4_04 -144_RT8.jpg"/>
          <p:cNvPicPr/>
          <p:nvPr/>
        </p:nvPicPr>
        <p:blipFill>
          <a:blip r:embed="rId3"/>
          <a:srcRect/>
          <a:stretch>
            <a:fillRect/>
          </a:stretch>
        </p:blipFill>
        <p:spPr bwMode="auto">
          <a:xfrm>
            <a:off x="6572264" y="1500174"/>
            <a:ext cx="1727228" cy="1160059"/>
          </a:xfrm>
          <a:prstGeom prst="rect">
            <a:avLst/>
          </a:prstGeom>
          <a:noFill/>
          <a:ln w="9525">
            <a:noFill/>
            <a:miter lim="800000"/>
            <a:headEnd/>
            <a:tailEnd/>
          </a:ln>
        </p:spPr>
      </p:pic>
      <p:pic>
        <p:nvPicPr>
          <p:cNvPr id="6" name="Picture 5" descr="C:\Documents and Settings\Godaishu\Desktop\PHOTOS\Accommodation 2009\W_A 6_4_04 -247_RT8.jpg"/>
          <p:cNvPicPr/>
          <p:nvPr/>
        </p:nvPicPr>
        <p:blipFill>
          <a:blip r:embed="rId4"/>
          <a:srcRect/>
          <a:stretch>
            <a:fillRect/>
          </a:stretch>
        </p:blipFill>
        <p:spPr bwMode="auto">
          <a:xfrm>
            <a:off x="6572264" y="3000372"/>
            <a:ext cx="1768806" cy="1296537"/>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673</TotalTime>
  <Words>3236</Words>
  <Application>Microsoft Office PowerPoint</Application>
  <PresentationFormat>On-screen Show (4:3)</PresentationFormat>
  <Paragraphs>674</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Helvetica</vt:lpstr>
      <vt:lpstr>Wingdings 2</vt:lpstr>
      <vt:lpstr>ASEAN PPT Template 010611 MV</vt:lpstr>
      <vt:lpstr>PLAN AND MANAGE MENU-BASED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lpstr>Plan and manage menu based catering</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ORGANISE FOOD SERVICE OPERATIONS</dc:title>
  <dc:creator>Administrator</dc:creator>
  <cp:lastModifiedBy>Ma. Christina Aquino</cp:lastModifiedBy>
  <cp:revision>82</cp:revision>
  <dcterms:created xsi:type="dcterms:W3CDTF">2012-03-27T05:41:30Z</dcterms:created>
  <dcterms:modified xsi:type="dcterms:W3CDTF">2015-03-31T03:32:53Z</dcterms:modified>
</cp:coreProperties>
</file>